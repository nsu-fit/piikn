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1"/>
  </p:notesMasterIdLst>
  <p:sldIdLst>
    <p:sldId id="256" r:id="rId2"/>
    <p:sldId id="300" r:id="rId3"/>
    <p:sldId id="278" r:id="rId4"/>
    <p:sldId id="303" r:id="rId5"/>
    <p:sldId id="273" r:id="rId6"/>
    <p:sldId id="304" r:id="rId7"/>
    <p:sldId id="305" r:id="rId8"/>
    <p:sldId id="306" r:id="rId9"/>
    <p:sldId id="332" r:id="rId10"/>
    <p:sldId id="333" r:id="rId11"/>
    <p:sldId id="308" r:id="rId12"/>
    <p:sldId id="311" r:id="rId13"/>
    <p:sldId id="312" r:id="rId14"/>
    <p:sldId id="321" r:id="rId15"/>
    <p:sldId id="322" r:id="rId16"/>
    <p:sldId id="314" r:id="rId17"/>
    <p:sldId id="313" r:id="rId18"/>
    <p:sldId id="315" r:id="rId19"/>
    <p:sldId id="316" r:id="rId20"/>
    <p:sldId id="317" r:id="rId21"/>
    <p:sldId id="318" r:id="rId22"/>
    <p:sldId id="319" r:id="rId23"/>
    <p:sldId id="323" r:id="rId24"/>
    <p:sldId id="320" r:id="rId25"/>
    <p:sldId id="324" r:id="rId26"/>
    <p:sldId id="325" r:id="rId27"/>
    <p:sldId id="326" r:id="rId28"/>
    <p:sldId id="327" r:id="rId29"/>
    <p:sldId id="328" r:id="rId30"/>
    <p:sldId id="329" r:id="rId31"/>
    <p:sldId id="330" r:id="rId32"/>
    <p:sldId id="331" r:id="rId33"/>
    <p:sldId id="334" r:id="rId34"/>
    <p:sldId id="335" r:id="rId35"/>
    <p:sldId id="336" r:id="rId36"/>
    <p:sldId id="337" r:id="rId37"/>
    <p:sldId id="338" r:id="rId38"/>
    <p:sldId id="339" r:id="rId39"/>
    <p:sldId id="340" r:id="rId40"/>
  </p:sldIdLst>
  <p:sldSz cx="9144000" cy="6858000" type="screen4x3"/>
  <p:notesSz cx="6858000" cy="9144000"/>
  <p:defaultTextStyle>
    <a:defPPr>
      <a:defRPr lang="ru-RU"/>
    </a:defPPr>
    <a:lvl1pPr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lnSpc>
        <a:spcPct val="90000"/>
      </a:lnSpc>
      <a:spcBef>
        <a:spcPct val="20000"/>
      </a:spcBef>
      <a:spcAft>
        <a:spcPct val="0"/>
      </a:spcAft>
      <a:buClr>
        <a:schemeClr val="bg2"/>
      </a:buClr>
      <a:buSzPct val="75000"/>
      <a:buFont typeface="Wingdings" pitchFamily="2" charset="2"/>
      <a:defRPr sz="28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4110"/>
    <a:srgbClr val="008000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Средний стиль 2 -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78598" autoAdjust="0"/>
  </p:normalViewPr>
  <p:slideViewPr>
    <p:cSldViewPr snapToGrid="0" showGuides="1">
      <p:cViewPr varScale="1">
        <p:scale>
          <a:sx n="85" d="100"/>
          <a:sy n="85" d="100"/>
        </p:scale>
        <p:origin x="60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45005" cy="45005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AD195D6C-8515-4AD4-ACD0-9A86638E16B3}" type="datetimeFigureOut">
              <a:rPr lang="ru-RU"/>
              <a:pPr>
                <a:defRPr/>
              </a:pPr>
              <a:t>10.05.2022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ru-RU" noProof="0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noProof="0"/>
              <a:t>Образец текста</a:t>
            </a:r>
          </a:p>
          <a:p>
            <a:pPr lvl="1"/>
            <a:r>
              <a:rPr lang="ru-RU" noProof="0"/>
              <a:t>Второй уровень</a:t>
            </a:r>
          </a:p>
          <a:p>
            <a:pPr lvl="2"/>
            <a:r>
              <a:rPr lang="ru-RU" noProof="0"/>
              <a:t>Третий уровень</a:t>
            </a:r>
          </a:p>
          <a:p>
            <a:pPr lvl="3"/>
            <a:r>
              <a:rPr lang="ru-RU" noProof="0"/>
              <a:t>Четвертый уровень</a:t>
            </a:r>
          </a:p>
          <a:p>
            <a:pPr lvl="4"/>
            <a:r>
              <a:rPr lang="ru-RU" noProof="0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DDF6F30-BE18-42A7-8693-14D70F9A854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2383078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</a:t>
            </a:fld>
            <a:endParaRPr lang="ru-RU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13316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6607AF46-0A1A-4860-B217-2FFB225E3B59}" type="slidenum">
              <a:rPr lang="ru-RU" smtClean="0"/>
              <a:pPr/>
              <a:t>3</a:t>
            </a:fld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Образ слайда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Заметки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ru-RU" dirty="0"/>
          </a:p>
        </p:txBody>
      </p:sp>
      <p:sp>
        <p:nvSpPr>
          <p:cNvPr id="12292" name="Номер слайда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fld id="{89DCC797-B0A0-45EB-914B-B5FC2139F045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Описывались варианты включения группы АБД в общую </a:t>
            </a:r>
            <a:r>
              <a:rPr lang="ru-RU" dirty="0" err="1"/>
              <a:t>оргструктуру</a:t>
            </a:r>
            <a:r>
              <a:rPr lang="ru-RU" dirty="0"/>
              <a:t> предприятия, причем, </a:t>
            </a:r>
            <a:r>
              <a:rPr lang="ru-RU" b="1" dirty="0"/>
              <a:t>рекомендовалось определять уровень АБД не ниже, чем непосредственно подчиненный руководителю высокого ранга, отвечающему за обработку данных на предприятии в целом. 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11</a:t>
            </a:fld>
            <a:endParaRPr lang="ru-RU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DDF6F30-BE18-42A7-8693-14D70F9A8541}" type="slidenum">
              <a:rPr lang="ru-RU" smtClean="0"/>
              <a:pPr>
                <a:defRPr/>
              </a:pPr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62933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6" name="Rectangle 4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grpSp>
          <p:nvGrpSpPr>
            <p:cNvPr id="7" name="Group 5"/>
            <p:cNvGrpSpPr>
              <a:grpSpLocks/>
            </p:cNvGrpSpPr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6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9" name="Rectangle 7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0" name="Rectangle 8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1" name="Rectangle 9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2" name="Rectangle 10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3" name="Rectangle 11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4" name="Rectangle 12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5" name="Rectangle 13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6" name="Rectangle 14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  <p:sp>
            <p:nvSpPr>
              <p:cNvPr id="17" name="Rectangle 15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ru-RU" sz="2400" dirty="0">
                  <a:latin typeface="Times New Roman" pitchFamily="18" charset="0"/>
                </a:endParaRPr>
              </a:p>
            </p:txBody>
          </p:sp>
        </p:grpSp>
      </p:grpSp>
      <p:sp>
        <p:nvSpPr>
          <p:cNvPr id="5139" name="Rectangle 19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5000">
                <a:solidFill>
                  <a:srgbClr val="FFFFFF"/>
                </a:solidFill>
              </a:defRPr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5140" name="Rectangle 20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400"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18" name="Rectangle 1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19" name="Rectangle 1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20" name="Rectangle 1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BBF1D1-2711-4C80-94E9-219138BD1D16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9F688F-E6B0-4FD2-A40D-BE0C1EDDAA0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8E019D-5F85-4D8F-BF7A-168D41BDB76C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655EDA0-98DC-4413-988B-11537E048CF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8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8FE011-F693-4457-94DD-D56638FAEBA5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9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DE2CE7-7B03-4EE5-BB5A-EC4A6DF2630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5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D642F1-B3DF-4261-9749-15A733FD3BCB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4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25268D-0FE8-4ABA-BDB0-8213701DC69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ru-RU" noProof="0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FAC00-5A93-4F29-8B8C-043C501DBFF1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326052-DDA3-49DA-BAE8-4652EFC91788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4102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41020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D1FE25-230F-4EA2-BC86-4E1C45F25FDA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Заголовок и таблиц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аблица 2"/>
          <p:cNvSpPr>
            <a:spLocks noGrp="1"/>
          </p:cNvSpPr>
          <p:nvPr>
            <p:ph type="tbl" idx="1"/>
          </p:nvPr>
        </p:nvSpPr>
        <p:spPr>
          <a:xfrm>
            <a:off x="457200" y="1981200"/>
            <a:ext cx="8229600" cy="3886200"/>
          </a:xfrm>
        </p:spPr>
        <p:txBody>
          <a:bodyPr/>
          <a:lstStyle/>
          <a:p>
            <a:pPr lvl="0"/>
            <a:endParaRPr lang="ru-RU" noProof="0" dirty="0"/>
          </a:p>
        </p:txBody>
      </p:sp>
      <p:sp>
        <p:nvSpPr>
          <p:cNvPr id="4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E8FF21-CD04-44DD-8081-9BF91E63D773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6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371600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4038600" cy="3886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Rectangle 2"/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6" name="Rectangle 3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27A4B4-4934-4B9B-9557-A52EE1E6841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sp>
        <p:nvSpPr>
          <p:cNvPr id="7" name="Rectangle 16"/>
          <p:cNvSpPr>
            <a:spLocks noGrp="1" noChangeArrowheads="1"/>
          </p:cNvSpPr>
          <p:nvPr>
            <p:ph type="dt" sz="half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ru-RU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>
                <a:latin typeface="Arial Black" pitchFamily="34" charset="0"/>
              </a:defRPr>
            </a:lvl1pPr>
          </a:lstStyle>
          <a:p>
            <a:pPr>
              <a:defRPr/>
            </a:pPr>
            <a:fld id="{94E9485A-49C4-487C-8E4F-F1D0F490B652}" type="slidenum">
              <a:rPr lang="ru-RU"/>
              <a:pPr>
                <a:defRPr/>
              </a:pPr>
              <a:t>‹#›</a:t>
            </a:fld>
            <a:endParaRPr lang="ru-RU" dirty="0"/>
          </a:p>
        </p:txBody>
      </p:sp>
      <p:grpSp>
        <p:nvGrpSpPr>
          <p:cNvPr id="1028" name="Group 4"/>
          <p:cNvGrpSpPr>
            <a:grpSpLocks/>
          </p:cNvGrpSpPr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2400" dirty="0">
                <a:latin typeface="Times New Roman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ru-RU" sz="1800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заголовка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981200"/>
            <a:ext cx="82296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112" name="Rectangle 1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  <a:defRPr sz="1200"/>
            </a:lvl1pPr>
          </a:lstStyle>
          <a:p>
            <a:pPr>
              <a:defRPr/>
            </a:pPr>
            <a:endParaRPr lang="ru-RU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67" r:id="rId1"/>
    <p:sldLayoutId id="2147483855" r:id="rId2"/>
    <p:sldLayoutId id="2147483856" r:id="rId3"/>
    <p:sldLayoutId id="2147483857" r:id="rId4"/>
    <p:sldLayoutId id="2147483858" r:id="rId5"/>
    <p:sldLayoutId id="2147483859" r:id="rId6"/>
    <p:sldLayoutId id="2147483860" r:id="rId7"/>
    <p:sldLayoutId id="2147483861" r:id="rId8"/>
    <p:sldLayoutId id="2147483862" r:id="rId9"/>
    <p:sldLayoutId id="2147483863" r:id="rId10"/>
    <p:sldLayoutId id="2147483864" r:id="rId11"/>
    <p:sldLayoutId id="2147483865" r:id="rId12"/>
    <p:sldLayoutId id="2147483866" r:id="rId13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75000"/>
        <a:buFont typeface="Wingdings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¨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65000"/>
        <a:buFont typeface="Wingdings" pitchFamily="2" charset="2"/>
        <a:buChar char="n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¨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gi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411288" y="1844675"/>
            <a:ext cx="7732712" cy="2305050"/>
          </a:xfrm>
        </p:spPr>
        <p:txBody>
          <a:bodyPr/>
          <a:lstStyle/>
          <a:p>
            <a:pPr algn="ctr" eaLnBrk="1" hangingPunct="1">
              <a:spcAft>
                <a:spcPct val="150000"/>
              </a:spcAft>
            </a:pPr>
            <a:r>
              <a:rPr lang="ru-RU" dirty="0"/>
              <a:t>Администрирование </a:t>
            </a:r>
            <a:br>
              <a:rPr lang="ru-RU" dirty="0"/>
            </a:br>
            <a:r>
              <a:rPr lang="ru-RU" dirty="0"/>
              <a:t>баз данных</a:t>
            </a:r>
            <a:endParaRPr lang="ru-RU" sz="4000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318052" y="4293704"/>
            <a:ext cx="8825947" cy="2166732"/>
          </a:xfrm>
        </p:spPr>
        <p:txBody>
          <a:bodyPr>
            <a:normAutofit fontScale="77500" lnSpcReduction="20000"/>
          </a:bodyPr>
          <a:lstStyle/>
          <a:p>
            <a:r>
              <a:rPr lang="ru-RU" sz="2800" dirty="0"/>
              <a:t>Е.З. </a:t>
            </a:r>
            <a:r>
              <a:rPr lang="ru-RU" sz="2800" dirty="0" err="1"/>
              <a:t>Зиндер</a:t>
            </a:r>
            <a:endParaRPr lang="ru-RU" sz="2800" dirty="0"/>
          </a:p>
          <a:p>
            <a:r>
              <a:rPr lang="ru-RU" sz="2800" b="1" dirty="0"/>
              <a:t>Администратор базы данных - кто он? </a:t>
            </a:r>
          </a:p>
          <a:p>
            <a:r>
              <a:rPr lang="ru-RU" sz="2800" b="1" dirty="0"/>
              <a:t>				</a:t>
            </a:r>
            <a:r>
              <a:rPr lang="ru-RU" sz="2800" dirty="0"/>
              <a:t>СУБД №2, 1995</a:t>
            </a:r>
          </a:p>
          <a:p>
            <a:pPr>
              <a:defRPr/>
            </a:pPr>
            <a:r>
              <a:rPr lang="ru-RU" sz="2800" dirty="0"/>
              <a:t>Дэн </a:t>
            </a:r>
            <a:r>
              <a:rPr lang="ru-RU" sz="2800" dirty="0" err="1"/>
              <a:t>Хотка</a:t>
            </a:r>
            <a:r>
              <a:rPr lang="ru-RU" sz="2800" dirty="0"/>
              <a:t> </a:t>
            </a:r>
          </a:p>
          <a:p>
            <a:pPr eaLnBrk="1" hangingPunct="1">
              <a:defRPr/>
            </a:pPr>
            <a:r>
              <a:rPr lang="ru-RU" sz="3100" b="1" dirty="0"/>
              <a:t>Роль администратора базы данных (АБД) </a:t>
            </a:r>
            <a:r>
              <a:rPr lang="ru-RU" sz="2400" b="1" dirty="0"/>
              <a:t>. </a:t>
            </a:r>
          </a:p>
          <a:p>
            <a:pPr eaLnBrk="1" hangingPunct="1">
              <a:defRPr/>
            </a:pPr>
            <a:r>
              <a:rPr lang="ru-RU" sz="2400" b="1" dirty="0"/>
              <a:t>				</a:t>
            </a:r>
            <a:r>
              <a:rPr lang="en-US" sz="2800" dirty="0"/>
              <a:t>Oracle Magazine RE - </a:t>
            </a:r>
            <a:r>
              <a:rPr lang="ru-RU" sz="2800" dirty="0"/>
              <a:t>Июнь</a:t>
            </a:r>
            <a:r>
              <a:rPr lang="en-US" sz="2800" dirty="0"/>
              <a:t> 2002</a:t>
            </a:r>
            <a:endParaRPr lang="ru-RU" sz="2800" dirty="0"/>
          </a:p>
          <a:p>
            <a:pPr eaLnBrk="1" hangingPunct="1">
              <a:defRPr/>
            </a:pPr>
            <a:endParaRPr lang="ru-RU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7800" y="0"/>
            <a:ext cx="8788400" cy="757237"/>
          </a:xfrm>
        </p:spPr>
        <p:txBody>
          <a:bodyPr lIns="36000" tIns="36000" rIns="36000" bIns="36000"/>
          <a:lstStyle/>
          <a:p>
            <a:pPr algn="ctr"/>
            <a:r>
              <a:rPr lang="ru-RU" sz="3200" b="1" dirty="0">
                <a:solidFill>
                  <a:schemeClr val="bg2"/>
                </a:solidFill>
              </a:rPr>
              <a:t>План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278295" y="645809"/>
            <a:ext cx="8607288" cy="5973651"/>
          </a:xfrm>
        </p:spPr>
        <p:txBody>
          <a:bodyPr>
            <a:normAutofit/>
          </a:bodyPr>
          <a:lstStyle/>
          <a:p>
            <a:pPr lvl="0">
              <a:lnSpc>
                <a:spcPct val="110000"/>
              </a:lnSpc>
            </a:pPr>
            <a:r>
              <a:rPr lang="ru-RU" sz="2800" dirty="0"/>
              <a:t>Кто такой Администратор Базы Данных (АБД) - классические подходы и практические коллизии</a:t>
            </a:r>
          </a:p>
          <a:p>
            <a:pPr lvl="0">
              <a:lnSpc>
                <a:spcPct val="150000"/>
              </a:lnSpc>
            </a:pPr>
            <a:r>
              <a:rPr lang="ru-RU" sz="2800" dirty="0"/>
              <a:t>Кто такой АБД в современных условиях</a:t>
            </a:r>
          </a:p>
          <a:p>
            <a:pPr lvl="0"/>
            <a:r>
              <a:rPr lang="ru-RU" sz="2800" dirty="0"/>
              <a:t>Виды и роли АБД в зависимости от политики автоматизации предприятия</a:t>
            </a:r>
          </a:p>
          <a:p>
            <a:pPr lvl="0"/>
            <a:r>
              <a:rPr lang="ru-RU" sz="2800" dirty="0"/>
              <a:t>Определение места Группы АБД в организационной структуре предприятия</a:t>
            </a:r>
          </a:p>
          <a:p>
            <a:pPr lvl="0">
              <a:lnSpc>
                <a:spcPct val="150000"/>
              </a:lnSpc>
            </a:pPr>
            <a:r>
              <a:rPr lang="ru-RU" sz="2800" dirty="0"/>
              <a:t>Группа АБД и ее возможный состав</a:t>
            </a:r>
          </a:p>
          <a:p>
            <a:pPr lvl="0">
              <a:lnSpc>
                <a:spcPct val="150000"/>
              </a:lnSpc>
            </a:pPr>
            <a:r>
              <a:rPr lang="ru-RU" sz="2800" dirty="0"/>
              <a:t>Функции Группы АБД</a:t>
            </a: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0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196850" y="214313"/>
            <a:ext cx="8750300" cy="828675"/>
          </a:xfrm>
          <a:noFill/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Роль персонала </a:t>
            </a:r>
          </a:p>
        </p:txBody>
      </p:sp>
      <p:sp>
        <p:nvSpPr>
          <p:cNvPr id="5123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4956A2D-15F4-46D2-8176-B70B57CC9E9B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5124" name="Нижний колонтитул 4"/>
          <p:cNvSpPr>
            <a:spLocks noGrp="1"/>
          </p:cNvSpPr>
          <p:nvPr>
            <p:ph type="ftr" sz="quarter" idx="10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5125" name="Содержимое 26"/>
          <p:cNvSpPr>
            <a:spLocks noGrp="1"/>
          </p:cNvSpPr>
          <p:nvPr>
            <p:ph idx="1"/>
          </p:nvPr>
        </p:nvSpPr>
        <p:spPr>
          <a:xfrm>
            <a:off x="220134" y="965200"/>
            <a:ext cx="8923866" cy="5520267"/>
          </a:xfrm>
        </p:spPr>
        <p:txBody>
          <a:bodyPr lIns="36000" tIns="36000" rIns="36000" bIns="36000">
            <a:normAutofit fontScale="85000" lnSpcReduction="10000"/>
          </a:bodyPr>
          <a:lstStyle/>
          <a:p>
            <a:pPr>
              <a:lnSpc>
                <a:spcPct val="110000"/>
              </a:lnSpc>
            </a:pPr>
            <a:r>
              <a:rPr lang="ru-RU" sz="3300" dirty="0"/>
              <a:t>В задачи современных руководителей входит формирование основ надежного информационного обеспечения предприятия </a:t>
            </a:r>
          </a:p>
          <a:p>
            <a:pPr>
              <a:lnSpc>
                <a:spcPct val="110000"/>
              </a:lnSpc>
            </a:pPr>
            <a:r>
              <a:rPr lang="ru-RU" sz="3300" dirty="0"/>
              <a:t>В качестве базовой технологии часто используются базы данных и современные СУБД </a:t>
            </a:r>
          </a:p>
          <a:p>
            <a:pPr>
              <a:lnSpc>
                <a:spcPct val="110000"/>
              </a:lnSpc>
            </a:pPr>
            <a:r>
              <a:rPr lang="ru-RU" sz="3300" dirty="0"/>
              <a:t>Решающий фактор успеха – выбор  специалистов, использующих указанные сложные технологии, и правильная организация их деятельности </a:t>
            </a:r>
          </a:p>
          <a:p>
            <a:pPr>
              <a:lnSpc>
                <a:spcPct val="110000"/>
              </a:lnSpc>
            </a:pPr>
            <a:r>
              <a:rPr lang="ru-RU" sz="3300" dirty="0"/>
              <a:t>Одной из ключевых фигур является Администратор Базы Данных - АБД (или Группа АБД).</a:t>
            </a:r>
            <a:r>
              <a:rPr lang="en-US" sz="3300" dirty="0"/>
              <a:t> </a:t>
            </a:r>
            <a:endParaRPr lang="ru-RU" sz="3300" dirty="0"/>
          </a:p>
          <a:p>
            <a:pPr>
              <a:lnSpc>
                <a:spcPct val="110000"/>
              </a:lnSpc>
            </a:pPr>
            <a:endParaRPr lang="ru-RU" dirty="0"/>
          </a:p>
          <a:p>
            <a:pPr>
              <a:lnSpc>
                <a:spcPct val="110000"/>
              </a:lnSpc>
            </a:pPr>
            <a:endParaRPr lang="ru-RU" dirty="0"/>
          </a:p>
          <a:p>
            <a:pPr>
              <a:lnSpc>
                <a:spcPct val="110000"/>
              </a:lnSpc>
            </a:pPr>
            <a:endParaRPr lang="en-US" dirty="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ru-RU" dirty="0"/>
          </a:p>
          <a:p>
            <a:pPr>
              <a:lnSpc>
                <a:spcPct val="110000"/>
              </a:lnSpc>
              <a:buFont typeface="Wingdings" pitchFamily="2" charset="2"/>
              <a:buNone/>
            </a:pPr>
            <a:endParaRPr lang="ru-RU" sz="4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1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51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51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51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Заголовок 1"/>
          <p:cNvSpPr>
            <a:spLocks noGrp="1"/>
          </p:cNvSpPr>
          <p:nvPr>
            <p:ph type="title"/>
          </p:nvPr>
        </p:nvSpPr>
        <p:spPr>
          <a:xfrm>
            <a:off x="177800" y="214313"/>
            <a:ext cx="8788400" cy="757237"/>
          </a:xfrm>
        </p:spPr>
        <p:txBody>
          <a:bodyPr lIns="36000" tIns="36000" rIns="36000" bIns="36000"/>
          <a:lstStyle/>
          <a:p>
            <a:pPr algn="ctr"/>
            <a:r>
              <a:rPr lang="ru-RU" sz="3200" b="1" dirty="0">
                <a:solidFill>
                  <a:schemeClr val="bg2"/>
                </a:solidFill>
              </a:rPr>
              <a:t>Кто такой Администратор Баз Данных?</a:t>
            </a:r>
            <a:endParaRPr lang="en-US" sz="3200" dirty="0">
              <a:solidFill>
                <a:schemeClr val="bg2"/>
              </a:solidFill>
            </a:endParaRPr>
          </a:p>
        </p:txBody>
      </p:sp>
      <p:sp>
        <p:nvSpPr>
          <p:cNvPr id="4099" name="Содержимое 2"/>
          <p:cNvSpPr>
            <a:spLocks noGrp="1"/>
          </p:cNvSpPr>
          <p:nvPr>
            <p:ph idx="1"/>
          </p:nvPr>
        </p:nvSpPr>
        <p:spPr>
          <a:xfrm>
            <a:off x="278295" y="953690"/>
            <a:ext cx="8587409" cy="5566380"/>
          </a:xfrm>
        </p:spPr>
        <p:txBody>
          <a:bodyPr>
            <a:noAutofit/>
          </a:bodyPr>
          <a:lstStyle/>
          <a:p>
            <a:pPr algn="just">
              <a:spcBef>
                <a:spcPts val="1200"/>
              </a:spcBef>
            </a:pPr>
            <a:r>
              <a:rPr lang="ru-RU" sz="2800" dirty="0"/>
              <a:t>Технический эксперт, почти не выходящий из своего кабинета, </a:t>
            </a:r>
            <a:r>
              <a:rPr lang="ru-RU" sz="2800" b="1" dirty="0"/>
              <a:t>говорящий</a:t>
            </a:r>
            <a:r>
              <a:rPr lang="ru-RU" sz="2800" dirty="0"/>
              <a:t> с другими работниками предприятия </a:t>
            </a:r>
            <a:r>
              <a:rPr lang="ru-RU" sz="2800" b="1" dirty="0"/>
              <a:t>редко, неохотно и на непонятном языке</a:t>
            </a:r>
            <a:r>
              <a:rPr lang="ru-RU" sz="2800" dirty="0"/>
              <a:t>? </a:t>
            </a:r>
          </a:p>
          <a:p>
            <a:pPr algn="just">
              <a:spcBef>
                <a:spcPts val="1200"/>
              </a:spcBef>
            </a:pPr>
            <a:r>
              <a:rPr lang="ru-RU" sz="2800" dirty="0"/>
              <a:t>Главный </a:t>
            </a:r>
            <a:r>
              <a:rPr lang="ru-RU" sz="2800" b="1" dirty="0"/>
              <a:t>хозяин всех данных </a:t>
            </a:r>
            <a:r>
              <a:rPr lang="ru-RU" sz="2800" dirty="0"/>
              <a:t>в компьютерах предприятия? </a:t>
            </a:r>
          </a:p>
          <a:p>
            <a:pPr algn="just">
              <a:spcBef>
                <a:spcPts val="1200"/>
              </a:spcBef>
            </a:pPr>
            <a:r>
              <a:rPr lang="ru-RU" sz="2800" dirty="0"/>
              <a:t>Или "просто" </a:t>
            </a:r>
            <a:r>
              <a:rPr lang="ru-RU" sz="2800" b="1" dirty="0"/>
              <a:t>системный программист специфического профиля</a:t>
            </a:r>
            <a:r>
              <a:rPr lang="ru-RU" sz="2800" dirty="0"/>
              <a:t>, находящийся под началом руководителя группы системных программистов отдела эксплуатации ВЦ предприятия? </a:t>
            </a:r>
          </a:p>
        </p:txBody>
      </p:sp>
      <p:sp>
        <p:nvSpPr>
          <p:cNvPr id="4100" name="Номер слайда 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FFF23E21-5538-41BD-A3D5-78865E07F970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0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262835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Кто такой Администратор Баз Данных?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99068"/>
            <a:ext cx="9144000" cy="556075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ru-RU" dirty="0"/>
              <a:t>Функция «администрирования данных» стала активно рассматриваться и определяться как вполне самостоятельная с конца 60-х годов 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Служба резервирования железнодорожных билетов на базе системы «Экспресс»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Система учета и планирования производства на заводе АВТОВАЗ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Функция "администрирования данных" в целом приписывалась достаточно крупному подразделению, например, Вычислительному Центру (ВЦ) предприятия</a:t>
            </a:r>
            <a:endParaRPr lang="ru-RU" b="1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5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262835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Кто такой Администратор Баз Данных?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99068"/>
            <a:ext cx="9144000" cy="5560758"/>
          </a:xfrm>
        </p:spPr>
        <p:txBody>
          <a:bodyPr>
            <a:normAutofit fontScale="92500"/>
          </a:bodyPr>
          <a:lstStyle/>
          <a:p>
            <a:pPr>
              <a:lnSpc>
                <a:spcPct val="110000"/>
              </a:lnSpc>
              <a:defRPr/>
            </a:pPr>
            <a:r>
              <a:rPr lang="ru-RU" dirty="0"/>
              <a:t>Исторически первой была тенденция считать, что хороший специалист может все: </a:t>
            </a:r>
          </a:p>
          <a:p>
            <a:pPr lvl="1">
              <a:lnSpc>
                <a:spcPct val="110000"/>
              </a:lnSpc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ru-RU" dirty="0"/>
              <a:t>написать и отладить программу, </a:t>
            </a:r>
          </a:p>
          <a:p>
            <a:pPr lvl="1">
              <a:lnSpc>
                <a:spcPct val="110000"/>
              </a:lnSpc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ru-RU" dirty="0"/>
              <a:t>эксплуатировать ее, </a:t>
            </a:r>
          </a:p>
          <a:p>
            <a:pPr lvl="1">
              <a:lnSpc>
                <a:spcPct val="110000"/>
              </a:lnSpc>
              <a:buClr>
                <a:srgbClr val="FF0000"/>
              </a:buClr>
              <a:buFont typeface="Wingdings" pitchFamily="2" charset="2"/>
              <a:buChar char="ü"/>
              <a:defRPr/>
            </a:pPr>
            <a:r>
              <a:rPr lang="ru-RU" dirty="0"/>
              <a:t>при необходимости починить ЭВМ.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Качественные изменения стали происходить с включением в использование так называемых </a:t>
            </a:r>
            <a:r>
              <a:rPr lang="ru-RU" b="1" dirty="0"/>
              <a:t>интегрированных баз данных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Сформировалось </a:t>
            </a:r>
            <a:r>
              <a:rPr lang="ru-RU" b="1" dirty="0"/>
              <a:t>определение БД как общего информационного ресурса </a:t>
            </a:r>
            <a:r>
              <a:rPr lang="ru-RU" dirty="0"/>
              <a:t>предприятия 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6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262835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Кто такой Администратор Баз Данных?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99068"/>
            <a:ext cx="9144000" cy="5560758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БД стала требовать отдельного управления, причем: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БД требует управления для обеспечения ее повседневной эксплуатации,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БД развивается, отвечая изменениям в потребностях предприятия, и требуется управление ее развитием,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БД и технология ее разработки и развития являются объектами высокой сложности, требующим специальных знаний, высокого уровня квалификации и строгой дисциплины разработки и эксплуатации.</a:t>
            </a:r>
          </a:p>
          <a:p>
            <a:pPr>
              <a:lnSpc>
                <a:spcPct val="120000"/>
              </a:lnSpc>
            </a:pPr>
            <a:r>
              <a:rPr lang="ru-RU" dirty="0"/>
              <a:t>Функция управления БД получила название "администрирование базы данных".</a:t>
            </a:r>
          </a:p>
          <a:p>
            <a:pPr>
              <a:lnSpc>
                <a:spcPct val="120000"/>
              </a:lnSpc>
            </a:pPr>
            <a:r>
              <a:rPr lang="ru-RU" dirty="0"/>
              <a:t>Естественно, </a:t>
            </a:r>
            <a:r>
              <a:rPr lang="ru-RU" b="1" dirty="0"/>
              <a:t>лицо, ответственное за администрирование БД, получило название "Администратор базы данных", или АБД.</a:t>
            </a: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7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304801" y="214708"/>
            <a:ext cx="8630652" cy="747819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Классические подходы и </a:t>
            </a:r>
            <a:br>
              <a:rPr lang="ru-RU" sz="3200" dirty="0">
                <a:solidFill>
                  <a:schemeClr val="bg2"/>
                </a:solidFill>
              </a:rPr>
            </a:br>
            <a:r>
              <a:rPr lang="ru-RU" sz="3200" dirty="0">
                <a:solidFill>
                  <a:schemeClr val="bg2"/>
                </a:solidFill>
              </a:rPr>
              <a:t>практические коллизии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1224704"/>
            <a:ext cx="9144000" cy="5633296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0000"/>
              </a:lnSpc>
            </a:pPr>
            <a:r>
              <a:rPr lang="ru-RU" sz="2400" dirty="0"/>
              <a:t>Рабочий отчет группы по базам данных Американского Национального Института Стандартов ANSI/X3/SPARC в 1975 г.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Трехуровневая архитектура СУБД 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/>
              <a:t>уровень внешних схем данных (</a:t>
            </a:r>
            <a:r>
              <a:rPr lang="ru-RU" sz="2400" i="1" dirty="0">
                <a:solidFill>
                  <a:srgbClr val="7030A0"/>
                </a:solidFill>
              </a:rPr>
              <a:t>администратор</a:t>
            </a:r>
            <a:r>
              <a:rPr lang="ru-RU" sz="2400" dirty="0"/>
              <a:t>)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/>
              <a:t>уровень концептуальной схемы данных (</a:t>
            </a:r>
            <a:r>
              <a:rPr lang="ru-RU" sz="2400" i="1" dirty="0">
                <a:solidFill>
                  <a:srgbClr val="7030A0"/>
                </a:solidFill>
              </a:rPr>
              <a:t>администратор</a:t>
            </a:r>
            <a:r>
              <a:rPr lang="ru-RU" sz="2400" dirty="0"/>
              <a:t>)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/>
              <a:t>уровень схемы физического хранения данных (</a:t>
            </a:r>
            <a:r>
              <a:rPr lang="ru-RU" sz="2400" i="1" dirty="0">
                <a:solidFill>
                  <a:srgbClr val="7030A0"/>
                </a:solidFill>
              </a:rPr>
              <a:t>администратор</a:t>
            </a:r>
            <a:r>
              <a:rPr lang="ru-RU" sz="2400" dirty="0"/>
              <a:t>)</a:t>
            </a:r>
          </a:p>
          <a:p>
            <a:pPr>
              <a:lnSpc>
                <a:spcPct val="120000"/>
              </a:lnSpc>
            </a:pPr>
            <a:r>
              <a:rPr lang="ru-RU" sz="2400" dirty="0"/>
              <a:t>В 1980 - 1981 г. в американской литературе стало принятым включать в функции АБД: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/>
              <a:t>организационное и техническое планирование БД,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/>
              <a:t>проектирование БД,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/>
              <a:t>обеспечение поддержки разработок прикладных программ,</a:t>
            </a:r>
          </a:p>
          <a:p>
            <a:pPr lvl="1">
              <a:lnSpc>
                <a:spcPct val="120000"/>
              </a:lnSpc>
              <a:buClr>
                <a:schemeClr val="bg2"/>
              </a:buClr>
              <a:buFont typeface="Wingdings" pitchFamily="2" charset="2"/>
              <a:buChar char="v"/>
            </a:pPr>
            <a:r>
              <a:rPr lang="ru-RU" sz="2400" dirty="0"/>
              <a:t>управление эксплуатацией БД.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262835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Классические подходы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99068"/>
            <a:ext cx="9144000" cy="5560758"/>
          </a:xfrm>
        </p:spPr>
        <p:txBody>
          <a:bodyPr>
            <a:normAutofit/>
          </a:bodyPr>
          <a:lstStyle/>
          <a:p>
            <a:r>
              <a:rPr lang="ru-RU" dirty="0"/>
              <a:t>. </a:t>
            </a:r>
            <a:r>
              <a:rPr lang="ru-RU" sz="2400" dirty="0"/>
              <a:t>Дж.-Л. </a:t>
            </a:r>
            <a:r>
              <a:rPr lang="ru-RU" sz="2400" dirty="0" err="1"/>
              <a:t>Уэлдон</a:t>
            </a:r>
            <a:r>
              <a:rPr lang="ru-RU" sz="2400" dirty="0"/>
              <a:t> "Администрирование баз данных", Москва, "Финансы и статистика", 1984. Три рисунка, показывающие рекомендуемый тогда состав Группы АБД</a:t>
            </a:r>
          </a:p>
          <a:p>
            <a:pPr>
              <a:buNone/>
            </a:pPr>
            <a:endParaRPr lang="ru-RU" dirty="0"/>
          </a:p>
          <a:p>
            <a:pPr>
              <a:buNone/>
            </a:pP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04461" y="5963478"/>
            <a:ext cx="733507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Начало 80-х: неструктурированная Группа АБД,</a:t>
            </a:r>
          </a:p>
          <a:p>
            <a:r>
              <a:rPr lang="ru-RU" sz="2000" dirty="0"/>
              <a:t>	     </a:t>
            </a:r>
            <a:r>
              <a:rPr lang="ru-RU" sz="2000" b="1" dirty="0">
                <a:solidFill>
                  <a:srgbClr val="7030A0"/>
                </a:solidFill>
              </a:rPr>
              <a:t>специализирующаяся на проектировании</a:t>
            </a:r>
          </a:p>
        </p:txBody>
      </p:sp>
      <p:grpSp>
        <p:nvGrpSpPr>
          <p:cNvPr id="19" name="Группа 18"/>
          <p:cNvGrpSpPr/>
          <p:nvPr/>
        </p:nvGrpSpPr>
        <p:grpSpPr>
          <a:xfrm>
            <a:off x="1093694" y="2545976"/>
            <a:ext cx="7853998" cy="3067708"/>
            <a:chOff x="1093694" y="2545976"/>
            <a:chExt cx="7853998" cy="3067708"/>
          </a:xfrm>
        </p:grpSpPr>
        <p:sp>
          <p:nvSpPr>
            <p:cNvPr id="8" name="TextBox 7"/>
            <p:cNvSpPr txBox="1"/>
            <p:nvPr/>
          </p:nvSpPr>
          <p:spPr>
            <a:xfrm>
              <a:off x="1093694" y="2545976"/>
              <a:ext cx="2510118" cy="34163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800" b="1" dirty="0"/>
                <a:t>Руководитель АБД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20000" y="3442446"/>
              <a:ext cx="579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/>
                <a:t>2 проектировщика логической БД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20000" y="4061011"/>
              <a:ext cx="579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/>
                <a:t>1 проектировщик физической БД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20000" y="4643718"/>
              <a:ext cx="4652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/>
                <a:t>1специалист по словарю данных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20000" y="5244352"/>
              <a:ext cx="6427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/>
                <a:t>1 системный аналитик (стандарты и процедуры)</a:t>
              </a:r>
            </a:p>
          </p:txBody>
        </p:sp>
        <p:cxnSp>
          <p:nvCxnSpPr>
            <p:cNvPr id="14" name="Соединительная линия уступом 13"/>
            <p:cNvCxnSpPr>
              <a:endCxn id="9" idx="1"/>
            </p:cNvCxnSpPr>
            <p:nvPr/>
          </p:nvCxnSpPr>
          <p:spPr>
            <a:xfrm>
              <a:off x="1810871" y="2922494"/>
              <a:ext cx="709129" cy="704618"/>
            </a:xfrm>
            <a:prstGeom prst="bentConnector3">
              <a:avLst>
                <a:gd name="adj1" fmla="val -56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Соединительная линия уступом 15"/>
            <p:cNvCxnSpPr/>
            <p:nvPr/>
          </p:nvCxnSpPr>
          <p:spPr>
            <a:xfrm>
              <a:off x="1801906" y="3558988"/>
              <a:ext cx="709129" cy="704618"/>
            </a:xfrm>
            <a:prstGeom prst="bentConnector3">
              <a:avLst>
                <a:gd name="adj1" fmla="val -56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Соединительная линия уступом 16"/>
            <p:cNvCxnSpPr/>
            <p:nvPr/>
          </p:nvCxnSpPr>
          <p:spPr>
            <a:xfrm>
              <a:off x="1801906" y="4132729"/>
              <a:ext cx="709129" cy="704618"/>
            </a:xfrm>
            <a:prstGeom prst="bentConnector3">
              <a:avLst>
                <a:gd name="adj1" fmla="val -56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Соединительная линия уступом 17"/>
            <p:cNvCxnSpPr/>
            <p:nvPr/>
          </p:nvCxnSpPr>
          <p:spPr>
            <a:xfrm>
              <a:off x="1801906" y="4706471"/>
              <a:ext cx="709129" cy="704618"/>
            </a:xfrm>
            <a:prstGeom prst="bentConnector3">
              <a:avLst>
                <a:gd name="adj1" fmla="val -56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262835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Классические подходы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786063"/>
            <a:ext cx="9144000" cy="5773763"/>
          </a:xfrm>
        </p:spPr>
        <p:txBody>
          <a:bodyPr>
            <a:normAutofit/>
          </a:bodyPr>
          <a:lstStyle/>
          <a:p>
            <a:r>
              <a:rPr lang="ru-RU" dirty="0"/>
              <a:t>. </a:t>
            </a:r>
            <a:r>
              <a:rPr lang="ru-RU" sz="2400" dirty="0"/>
              <a:t>Дж.-Л. </a:t>
            </a:r>
            <a:r>
              <a:rPr lang="ru-RU" sz="2400" dirty="0" err="1"/>
              <a:t>Уэлдон</a:t>
            </a:r>
            <a:r>
              <a:rPr lang="ru-RU" sz="2400" dirty="0"/>
              <a:t> "Администрирование баз данных", Москва, "Финансы и статистика", 1984. </a:t>
            </a:r>
          </a:p>
          <a:p>
            <a:pPr indent="0" algn="ctr">
              <a:buNone/>
            </a:pPr>
            <a:r>
              <a:rPr lang="ru-RU" sz="2400" dirty="0"/>
              <a:t>Группа АБД, </a:t>
            </a:r>
            <a:br>
              <a:rPr lang="ru-RU" sz="2400" dirty="0"/>
            </a:br>
            <a:r>
              <a:rPr lang="ru-RU" sz="2400" dirty="0"/>
              <a:t>специализирующаяся  </a:t>
            </a:r>
            <a:r>
              <a:rPr lang="ru-RU" sz="2400" dirty="0">
                <a:solidFill>
                  <a:srgbClr val="7030A0"/>
                </a:solidFill>
              </a:rPr>
              <a:t>на эксплуатации базы данных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10</a:t>
            </a:fld>
            <a:endParaRPr lang="ru-RU"/>
          </a:p>
        </p:txBody>
      </p:sp>
      <p:grpSp>
        <p:nvGrpSpPr>
          <p:cNvPr id="7" name="Группа 6"/>
          <p:cNvGrpSpPr/>
          <p:nvPr/>
        </p:nvGrpSpPr>
        <p:grpSpPr>
          <a:xfrm>
            <a:off x="753043" y="2814911"/>
            <a:ext cx="7853998" cy="3067708"/>
            <a:chOff x="1093694" y="2545976"/>
            <a:chExt cx="7853998" cy="3067708"/>
          </a:xfrm>
        </p:grpSpPr>
        <p:sp>
          <p:nvSpPr>
            <p:cNvPr id="8" name="TextBox 7"/>
            <p:cNvSpPr txBox="1"/>
            <p:nvPr/>
          </p:nvSpPr>
          <p:spPr>
            <a:xfrm>
              <a:off x="1093694" y="2545976"/>
              <a:ext cx="2510118" cy="341632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ru-RU" sz="1800" b="1" dirty="0"/>
                <a:t>Руководитель АБД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20000" y="3442446"/>
              <a:ext cx="579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/>
                <a:t>2 специалиста БД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520000" y="4061011"/>
              <a:ext cx="5791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/>
                <a:t>2 специалиста по словарю данных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520000" y="4643718"/>
              <a:ext cx="46526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/>
                <a:t>1специалист по передаче данных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520000" y="5244352"/>
              <a:ext cx="64276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b="1" dirty="0"/>
                <a:t>1 техник</a:t>
              </a:r>
            </a:p>
          </p:txBody>
        </p:sp>
        <p:cxnSp>
          <p:nvCxnSpPr>
            <p:cNvPr id="13" name="Соединительная линия уступом 12"/>
            <p:cNvCxnSpPr>
              <a:endCxn id="9" idx="1"/>
            </p:cNvCxnSpPr>
            <p:nvPr/>
          </p:nvCxnSpPr>
          <p:spPr>
            <a:xfrm>
              <a:off x="1810871" y="2922494"/>
              <a:ext cx="709129" cy="704618"/>
            </a:xfrm>
            <a:prstGeom prst="bentConnector3">
              <a:avLst>
                <a:gd name="adj1" fmla="val -56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Соединительная линия уступом 13"/>
            <p:cNvCxnSpPr/>
            <p:nvPr/>
          </p:nvCxnSpPr>
          <p:spPr>
            <a:xfrm>
              <a:off x="1801906" y="3558988"/>
              <a:ext cx="709129" cy="704618"/>
            </a:xfrm>
            <a:prstGeom prst="bentConnector3">
              <a:avLst>
                <a:gd name="adj1" fmla="val -56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Соединительная линия уступом 14"/>
            <p:cNvCxnSpPr/>
            <p:nvPr/>
          </p:nvCxnSpPr>
          <p:spPr>
            <a:xfrm>
              <a:off x="1801906" y="4132729"/>
              <a:ext cx="709129" cy="704618"/>
            </a:xfrm>
            <a:prstGeom prst="bentConnector3">
              <a:avLst>
                <a:gd name="adj1" fmla="val -56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Соединительная линия уступом 15"/>
            <p:cNvCxnSpPr/>
            <p:nvPr/>
          </p:nvCxnSpPr>
          <p:spPr>
            <a:xfrm>
              <a:off x="1801906" y="4706471"/>
              <a:ext cx="709129" cy="704618"/>
            </a:xfrm>
            <a:prstGeom prst="bentConnector3">
              <a:avLst>
                <a:gd name="adj1" fmla="val -567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596831" y="0"/>
            <a:ext cx="7950338" cy="671444"/>
          </a:xfrm>
        </p:spPr>
        <p:txBody>
          <a:bodyPr/>
          <a:lstStyle/>
          <a:p>
            <a:pPr algn="ctr"/>
            <a:r>
              <a:rPr lang="ru-RU" sz="3200" dirty="0">
                <a:solidFill>
                  <a:schemeClr val="bg2"/>
                </a:solidFill>
              </a:rPr>
              <a:t>Классические подходы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655983"/>
            <a:ext cx="9144000" cy="5903843"/>
          </a:xfrm>
        </p:spPr>
        <p:txBody>
          <a:bodyPr>
            <a:normAutofit/>
          </a:bodyPr>
          <a:lstStyle/>
          <a:p>
            <a:r>
              <a:rPr lang="ru-RU" dirty="0"/>
              <a:t>. </a:t>
            </a:r>
            <a:r>
              <a:rPr lang="ru-RU" sz="2400" dirty="0"/>
              <a:t>Дж.-Л. </a:t>
            </a:r>
            <a:r>
              <a:rPr lang="ru-RU" sz="2400" dirty="0" err="1"/>
              <a:t>Уэлдон</a:t>
            </a:r>
            <a:r>
              <a:rPr lang="ru-RU" sz="2400" dirty="0"/>
              <a:t> "Администрирование баз данных", Москва, "Финансы и статистика", 1984. 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7" name="Рисунок 6" descr="Picture 3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15009" y="1789042"/>
            <a:ext cx="7792278" cy="4035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Прямоугольник 7"/>
          <p:cNvSpPr/>
          <p:nvPr/>
        </p:nvSpPr>
        <p:spPr>
          <a:xfrm>
            <a:off x="606286" y="5890334"/>
            <a:ext cx="79314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Начало 80-х: Организованная по функциональному признаку</a:t>
            </a:r>
          </a:p>
          <a:p>
            <a:r>
              <a:rPr lang="ru-RU" sz="2000" dirty="0"/>
              <a:t>	 Группа АБД, обеспечивающая сопровождение СУБД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2800" b="1" dirty="0">
                <a:solidFill>
                  <a:schemeClr val="bg2"/>
                </a:solidFill>
              </a:rPr>
              <a:t>Современные условия работы АБД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1033670"/>
            <a:ext cx="9144000" cy="5565913"/>
          </a:xfrm>
        </p:spPr>
        <p:txBody>
          <a:bodyPr>
            <a:normAutofit/>
          </a:bodyPr>
          <a:lstStyle/>
          <a:p>
            <a:r>
              <a:rPr lang="ru-RU" dirty="0"/>
              <a:t>Объем функций АБД стал более четко определен и, в частности, отделен от так называемого стратегического планирования, концептуального и, чаще всего логического проектирования базы данных:</a:t>
            </a:r>
          </a:p>
          <a:p>
            <a:r>
              <a:rPr lang="ru-RU" dirty="0"/>
              <a:t>Стадии жизненного цикла проекта,</a:t>
            </a:r>
          </a:p>
          <a:p>
            <a:r>
              <a:rPr lang="ru-RU" dirty="0"/>
              <a:t>Сквозной инструмент проектирования - комплекс класса CASE (</a:t>
            </a:r>
            <a:r>
              <a:rPr lang="ru-RU" dirty="0" err="1"/>
              <a:t>Computer</a:t>
            </a:r>
            <a:r>
              <a:rPr lang="ru-RU" dirty="0"/>
              <a:t> </a:t>
            </a:r>
            <a:r>
              <a:rPr lang="ru-RU" dirty="0" err="1"/>
              <a:t>Aided</a:t>
            </a:r>
            <a:r>
              <a:rPr lang="ru-RU" dirty="0"/>
              <a:t> </a:t>
            </a:r>
            <a:r>
              <a:rPr lang="ru-RU" dirty="0" err="1"/>
              <a:t>System</a:t>
            </a:r>
            <a:r>
              <a:rPr lang="ru-RU" dirty="0"/>
              <a:t>/</a:t>
            </a:r>
            <a:r>
              <a:rPr lang="ru-RU" dirty="0" err="1"/>
              <a:t>Software</a:t>
            </a:r>
            <a:r>
              <a:rPr lang="ru-RU" dirty="0"/>
              <a:t> </a:t>
            </a:r>
            <a:r>
              <a:rPr lang="ru-RU" dirty="0" err="1"/>
              <a:t>Engeneering</a:t>
            </a:r>
            <a:r>
              <a:rPr lang="ru-RU" dirty="0"/>
              <a:t>) 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12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2800" b="1" dirty="0">
                <a:solidFill>
                  <a:schemeClr val="bg2"/>
                </a:solidFill>
              </a:rPr>
              <a:t>Современные условия работы АБД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54157"/>
            <a:ext cx="9144000" cy="5565913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Группа проектирования </a:t>
            </a:r>
            <a:r>
              <a:rPr lang="ru-RU" dirty="0"/>
              <a:t>Автоматизированной Системы (АС).</a:t>
            </a:r>
          </a:p>
          <a:p>
            <a:pPr lvl="1">
              <a:lnSpc>
                <a:spcPct val="8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 стратегическое планирование развития АС,</a:t>
            </a:r>
          </a:p>
          <a:p>
            <a:pPr lvl="1">
              <a:lnSpc>
                <a:spcPct val="8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детальный анализ функциональных и информационных потребностей,</a:t>
            </a:r>
          </a:p>
          <a:p>
            <a:pPr lvl="1">
              <a:lnSpc>
                <a:spcPct val="8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проектирование таблиц БД, прототипов экранных форм, печатных отчетов и др.</a:t>
            </a:r>
          </a:p>
          <a:p>
            <a:r>
              <a:rPr lang="ru-RU" dirty="0"/>
              <a:t>Работы такой группы и ее подгрупп </a:t>
            </a:r>
          </a:p>
          <a:p>
            <a:pPr lvl="1">
              <a:lnSpc>
                <a:spcPct val="8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изучение целей специалистов на предприятии и предприятия в целом, </a:t>
            </a:r>
          </a:p>
          <a:p>
            <a:pPr lvl="1">
              <a:lnSpc>
                <a:spcPct val="8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ключевых факторов, влияющих на достижение этих целей и связанных с информационным обеспечением людей и процессов, </a:t>
            </a:r>
          </a:p>
          <a:p>
            <a:pPr lvl="1">
              <a:lnSpc>
                <a:spcPct val="8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изучение как функций обработки информации, так и информационных элементов и их комплексов, обрабатываемых этими функциями, </a:t>
            </a:r>
          </a:p>
          <a:p>
            <a:pPr lvl="1">
              <a:lnSpc>
                <a:spcPct val="80000"/>
              </a:lnSpc>
              <a:buClr>
                <a:schemeClr val="bg2"/>
              </a:buClr>
              <a:buFont typeface="Wingdings" pitchFamily="2" charset="2"/>
              <a:buChar char="Ø"/>
            </a:pPr>
            <a:r>
              <a:rPr lang="ru-RU" dirty="0"/>
              <a:t>установление отношений между элементами и их комплексами, которые определяют </a:t>
            </a:r>
            <a:r>
              <a:rPr lang="ru-RU" dirty="0" err="1"/>
              <a:t>безызбыточную</a:t>
            </a:r>
            <a:r>
              <a:rPr lang="ru-RU" dirty="0"/>
              <a:t> (логически) структуру будущей БД.</a:t>
            </a:r>
          </a:p>
          <a:p>
            <a:pPr marL="342900" lvl="1" indent="-342900">
              <a:buClr>
                <a:schemeClr val="bg2"/>
              </a:buClr>
              <a:buSzPct val="75000"/>
              <a:buFont typeface="Wingdings" pitchFamily="2" charset="2"/>
              <a:buChar char="n"/>
            </a:pPr>
            <a:r>
              <a:rPr lang="ru-RU" sz="3200" b="1" dirty="0">
                <a:ea typeface="+mn-ea"/>
              </a:rPr>
              <a:t>Прикладные аналитики </a:t>
            </a:r>
            <a:r>
              <a:rPr lang="ru-RU" sz="3200" dirty="0">
                <a:ea typeface="+mn-ea"/>
              </a:rPr>
              <a:t>(</a:t>
            </a:r>
            <a:r>
              <a:rPr lang="ru-RU" sz="3200" dirty="0" err="1">
                <a:ea typeface="+mn-ea"/>
              </a:rPr>
              <a:t>business</a:t>
            </a:r>
            <a:r>
              <a:rPr lang="ru-RU" sz="3200" dirty="0">
                <a:ea typeface="+mn-ea"/>
              </a:rPr>
              <a:t> </a:t>
            </a:r>
            <a:r>
              <a:rPr lang="ru-RU" sz="3200" dirty="0" err="1">
                <a:ea typeface="+mn-ea"/>
              </a:rPr>
              <a:t>analysts</a:t>
            </a:r>
            <a:r>
              <a:rPr lang="ru-RU" sz="3200" dirty="0">
                <a:ea typeface="+mn-ea"/>
              </a:rPr>
              <a:t>) и </a:t>
            </a:r>
            <a:r>
              <a:rPr lang="ru-RU" sz="3200" b="1" dirty="0">
                <a:ea typeface="+mn-ea"/>
              </a:rPr>
              <a:t>системные аналитики </a:t>
            </a:r>
            <a:r>
              <a:rPr lang="ru-RU" sz="3200" dirty="0">
                <a:ea typeface="+mn-ea"/>
              </a:rPr>
              <a:t>(</a:t>
            </a:r>
            <a:r>
              <a:rPr lang="ru-RU" sz="3200" dirty="0" err="1">
                <a:ea typeface="+mn-ea"/>
              </a:rPr>
              <a:t>system</a:t>
            </a:r>
            <a:r>
              <a:rPr lang="ru-RU" sz="3200" dirty="0">
                <a:ea typeface="+mn-ea"/>
              </a:rPr>
              <a:t> </a:t>
            </a:r>
            <a:r>
              <a:rPr lang="ru-RU" sz="3200" dirty="0" err="1">
                <a:ea typeface="+mn-ea"/>
              </a:rPr>
              <a:t>analysts</a:t>
            </a:r>
            <a:r>
              <a:rPr lang="ru-RU" sz="3200" dirty="0">
                <a:ea typeface="+mn-ea"/>
              </a:rPr>
              <a:t>),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13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2800" b="1" dirty="0">
                <a:solidFill>
                  <a:schemeClr val="bg2"/>
                </a:solidFill>
              </a:rPr>
              <a:t>Современные условия работы АБД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777695"/>
            <a:ext cx="9144000" cy="6136454"/>
          </a:xfrm>
        </p:spPr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ru-RU" dirty="0"/>
              <a:t>Обеспечение надежной и эффективной работы пользователей и программ с БД, поддержка разработчиков в их доступе к БД и средствам разработки реализует </a:t>
            </a:r>
            <a:r>
              <a:rPr lang="ru-RU" b="1" dirty="0"/>
              <a:t>группа АБД.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ru-RU" dirty="0"/>
              <a:t>Достаточно </a:t>
            </a:r>
            <a:r>
              <a:rPr lang="ru-RU" b="1" dirty="0"/>
              <a:t>полный набор функций АБД </a:t>
            </a:r>
            <a:r>
              <a:rPr lang="ru-RU" dirty="0"/>
              <a:t>содержит</a:t>
            </a:r>
          </a:p>
          <a:p>
            <a:pPr>
              <a:lnSpc>
                <a:spcPct val="120000"/>
              </a:lnSpc>
            </a:pPr>
            <a:r>
              <a:rPr lang="ru-RU" b="1" dirty="0"/>
              <a:t>наиболее важные </a:t>
            </a:r>
            <a:r>
              <a:rPr lang="ru-RU" dirty="0"/>
              <a:t>- </a:t>
            </a:r>
            <a:r>
              <a:rPr lang="ru-RU" b="1" dirty="0"/>
              <a:t>резервное копирование и восстановление </a:t>
            </a:r>
            <a:r>
              <a:rPr lang="ru-RU" dirty="0"/>
              <a:t>информации, </a:t>
            </a:r>
            <a:r>
              <a:rPr lang="ru-RU" b="1" dirty="0"/>
              <a:t>составление процедур </a:t>
            </a:r>
            <a:r>
              <a:rPr lang="ru-RU" dirty="0"/>
              <a:t>использования штатных средств СУБД (программ-утилит и др.) для начальной загрузки данных, копирования и восстановления БД, реорганизации размещения данных и т.п.; передача этих процедур эксплуатационному персоналу</a:t>
            </a:r>
          </a:p>
          <a:p>
            <a:pPr>
              <a:lnSpc>
                <a:spcPct val="120000"/>
              </a:lnSpc>
            </a:pPr>
            <a:r>
              <a:rPr lang="ru-RU" b="1" dirty="0"/>
              <a:t>консультирование аналитиков и программистов </a:t>
            </a:r>
            <a:r>
              <a:rPr lang="ru-RU" dirty="0"/>
              <a:t>по особенностям используемой версии СУБД и инструментов разработки, участие - совместно с аналитиками по проектированию баз данных - в логическом проектировании БД в тех случаях, когда полезно учитывать специфические для СУБД или режимов обработки данных рекомендации по проектированию БД,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14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2800" b="1" dirty="0">
                <a:solidFill>
                  <a:schemeClr val="bg2"/>
                </a:solidFill>
              </a:rPr>
              <a:t>Современные условия работы АБД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1307086"/>
            <a:ext cx="8903368" cy="4949336"/>
          </a:xfrm>
        </p:spPr>
        <p:txBody>
          <a:bodyPr>
            <a:normAutofit fontScale="92500"/>
          </a:bodyPr>
          <a:lstStyle/>
          <a:p>
            <a:r>
              <a:rPr lang="ru-RU" sz="2400" b="1" dirty="0"/>
              <a:t>установка </a:t>
            </a:r>
            <a:r>
              <a:rPr lang="ru-RU" sz="2400" dirty="0"/>
              <a:t>СУБД, программных инструментов разработки АС (языков программирования экранных приложений, генераторов отчетов, CASE-систем и др.) и инструментов пользователей для прямой работы с БД (средства запросов к БД, офисные системы, системы планирования производства и т.п.),</a:t>
            </a:r>
          </a:p>
          <a:p>
            <a:r>
              <a:rPr lang="ru-RU" sz="2400" b="1" dirty="0"/>
              <a:t>планирование</a:t>
            </a:r>
            <a:r>
              <a:rPr lang="ru-RU" sz="2400" dirty="0"/>
              <a:t> использования запоминающих устройств компьютера (дисков, основной памяти, лент), участие - совместно с проектировщиками БД - в физическом проектировании таблиц БД,</a:t>
            </a:r>
          </a:p>
          <a:p>
            <a:pPr>
              <a:lnSpc>
                <a:spcPct val="110000"/>
              </a:lnSpc>
            </a:pPr>
            <a:r>
              <a:rPr lang="ru-RU" sz="2400" b="1" dirty="0"/>
              <a:t>организация работы с БД, находящейся на удаленном компьютере</a:t>
            </a:r>
            <a:r>
              <a:rPr lang="ru-RU" sz="2400" dirty="0"/>
              <a:t>, работы с распределенной БД, т.е. размещенной на нескольких компьютерных центрах (узлах),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15</a:t>
            </a:fld>
            <a:endParaRPr lang="ru-RU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2800" b="1" dirty="0">
                <a:solidFill>
                  <a:schemeClr val="bg2"/>
                </a:solidFill>
              </a:rPr>
              <a:t>Современные условия работы АБД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54157"/>
            <a:ext cx="9144000" cy="5903843"/>
          </a:xfrm>
        </p:spPr>
        <p:txBody>
          <a:bodyPr>
            <a:normAutofit/>
          </a:bodyPr>
          <a:lstStyle/>
          <a:p>
            <a:r>
              <a:rPr lang="ru-RU" sz="2200" b="1" dirty="0"/>
              <a:t>сбор статистики </a:t>
            </a:r>
            <a:r>
              <a:rPr lang="ru-RU" sz="2200" dirty="0"/>
              <a:t>о работе СУБД, ее настройка и настройка АС в целом для эффективной обработки данных и обслуживания пользователей,</a:t>
            </a:r>
          </a:p>
          <a:p>
            <a:r>
              <a:rPr lang="ru-RU" sz="2200" b="1" dirty="0"/>
              <a:t>участие в планировании </a:t>
            </a:r>
            <a:r>
              <a:rPr lang="ru-RU" sz="2200" dirty="0"/>
              <a:t>развития аппаратных и системных программных средств предприятия в связи с качественным и количественным ростом требований к АС,</a:t>
            </a:r>
          </a:p>
          <a:p>
            <a:r>
              <a:rPr lang="ru-RU" sz="2200" b="1" dirty="0"/>
              <a:t>подключение новых разработчиков и пользователей</a:t>
            </a:r>
            <a:r>
              <a:rPr lang="ru-RU" sz="2200" dirty="0"/>
              <a:t>, приписывание им паролей, привилегий доступа к конкретным данным и др.,</a:t>
            </a:r>
          </a:p>
          <a:p>
            <a:r>
              <a:rPr lang="ru-RU" sz="2200" b="1" dirty="0"/>
              <a:t>участие в анализе</a:t>
            </a:r>
            <a:r>
              <a:rPr lang="ru-RU" sz="2200" dirty="0"/>
              <a:t> попыток несанкционированного доступа к БД.</a:t>
            </a:r>
          </a:p>
          <a:p>
            <a:pPr>
              <a:buNone/>
            </a:pPr>
            <a:r>
              <a:rPr lang="ru-RU" sz="2200" dirty="0"/>
              <a:t>(В каждую функцию входит экспресс-обучение эксплуатационного персонала, пользователей инструментов разработки и конечных пользователей применению тех программ и процедур, которые установлены или составлены АБД.)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16</a:t>
            </a:fld>
            <a:endParaRPr lang="ru-RU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2800" b="1" dirty="0">
                <a:solidFill>
                  <a:schemeClr val="bg2"/>
                </a:solidFill>
              </a:rPr>
              <a:t>Современные условия работы АБД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1130622"/>
            <a:ext cx="9144000" cy="543059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ru-RU" dirty="0"/>
              <a:t>Администратор  должен</a:t>
            </a:r>
          </a:p>
          <a:p>
            <a:pPr>
              <a:buNone/>
            </a:pPr>
            <a:r>
              <a:rPr lang="ru-RU" dirty="0"/>
              <a:t> </a:t>
            </a:r>
          </a:p>
          <a:p>
            <a:r>
              <a:rPr lang="ru-RU" dirty="0"/>
              <a:t>уметь </a:t>
            </a:r>
            <a:r>
              <a:rPr lang="ru-RU" b="1" dirty="0"/>
              <a:t>определять узкие места системы</a:t>
            </a:r>
            <a:r>
              <a:rPr lang="ru-RU" dirty="0"/>
              <a:t>, ограничивающие ее производительность, </a:t>
            </a:r>
          </a:p>
          <a:p>
            <a:r>
              <a:rPr lang="ru-RU" b="1" dirty="0"/>
              <a:t>настраивать SQL и программное обеспечение СУРБД </a:t>
            </a:r>
            <a:r>
              <a:rPr lang="ru-RU" dirty="0"/>
              <a:t>,</a:t>
            </a:r>
          </a:p>
          <a:p>
            <a:r>
              <a:rPr lang="ru-RU" dirty="0"/>
              <a:t>обладать знаниями, необходимыми для решения вопросов оптимизации быстродействия БД</a:t>
            </a:r>
          </a:p>
          <a:p>
            <a:r>
              <a:rPr lang="ru-RU" b="1" dirty="0"/>
              <a:t>контролировать</a:t>
            </a:r>
            <a:r>
              <a:rPr lang="ru-RU" dirty="0"/>
              <a:t> </a:t>
            </a:r>
            <a:r>
              <a:rPr lang="ru-RU" b="1" dirty="0"/>
              <a:t>рост БД, </a:t>
            </a:r>
            <a:r>
              <a:rPr lang="ru-RU" dirty="0"/>
              <a:t>требуется </a:t>
            </a:r>
            <a:r>
              <a:rPr lang="ru-RU" b="1" dirty="0"/>
              <a:t>держать руководство в курсе </a:t>
            </a:r>
            <a:r>
              <a:rPr lang="ru-RU" dirty="0"/>
              <a:t>относительно предполагаемого роста БД, с тем чтобы иметь возможность своевременно заказать любое необходимое оборудование</a:t>
            </a:r>
          </a:p>
          <a:p>
            <a:pPr marL="0" indent="342900">
              <a:buNone/>
            </a:pPr>
            <a:r>
              <a:rPr lang="ru-RU" b="1" dirty="0"/>
              <a:t>Настройка СУБД </a:t>
            </a:r>
            <a:r>
              <a:rPr lang="ru-RU" dirty="0"/>
              <a:t>также является одной из основных зон ответственности администратора БД.</a:t>
            </a:r>
          </a:p>
          <a:p>
            <a:pPr marL="0" indent="342900">
              <a:buNone/>
            </a:pPr>
            <a:r>
              <a:rPr lang="ru-RU" dirty="0"/>
              <a:t>Важно провести </a:t>
            </a:r>
            <a:r>
              <a:rPr lang="ru-RU" b="1" dirty="0"/>
              <a:t>первичную настройку аппаратного обеспечения и программной среды </a:t>
            </a:r>
            <a:r>
              <a:rPr lang="ru-RU" dirty="0"/>
              <a:t>СУБД, что станет фундаментом для последующей разработки приложений и выявлению скрытых ошибок SQL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17</a:t>
            </a:fld>
            <a:endParaRPr lang="ru-RU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2800" b="1" dirty="0">
                <a:solidFill>
                  <a:schemeClr val="bg2"/>
                </a:solidFill>
              </a:rPr>
              <a:t>Современные условия работы АБД</a:t>
            </a:r>
            <a:endParaRPr lang="ru-RU" sz="28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22073"/>
            <a:ext cx="9144000" cy="5903843"/>
          </a:xfrm>
        </p:spPr>
        <p:txBody>
          <a:bodyPr>
            <a:normAutofit fontScale="77500" lnSpcReduction="20000"/>
          </a:bodyPr>
          <a:lstStyle/>
          <a:p>
            <a:r>
              <a:rPr lang="ru-RU" sz="2400" dirty="0"/>
              <a:t>Администратор БД отвечает за </a:t>
            </a:r>
            <a:r>
              <a:rPr lang="ru-RU" sz="2400" b="1" dirty="0"/>
              <a:t>целостность информационных ресурсов </a:t>
            </a:r>
            <a:r>
              <a:rPr lang="ru-RU" sz="2400" dirty="0"/>
              <a:t>компании</a:t>
            </a:r>
          </a:p>
          <a:p>
            <a:r>
              <a:rPr lang="ru-RU" sz="2400" dirty="0"/>
              <a:t>Но АБД: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Ø"/>
            </a:pPr>
            <a:r>
              <a:rPr lang="ru-RU" sz="2000" dirty="0"/>
              <a:t>управляющий данными, а не их хозяин;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Ø"/>
            </a:pPr>
            <a:r>
              <a:rPr lang="ru-RU" sz="2000" dirty="0"/>
              <a:t>системный программист определенного профиля, а также эксперт высшего уровня, обеспечивающий службу эксплуатации решениями по процедурам и регламентам работы;</a:t>
            </a:r>
          </a:p>
          <a:p>
            <a:pPr lvl="1">
              <a:buClr>
                <a:schemeClr val="bg2"/>
              </a:buClr>
              <a:buFont typeface="Wingdings" pitchFamily="2" charset="2"/>
              <a:buChar char="Ø"/>
            </a:pPr>
            <a:r>
              <a:rPr lang="ru-RU" sz="2000" dirty="0"/>
              <a:t>лицо, принимающее окончательные решения в своей области, и человек, обладающий способностями к общению, совместному планированию и компромиссам.</a:t>
            </a:r>
          </a:p>
          <a:p>
            <a:r>
              <a:rPr lang="ru-RU" sz="2400" b="1" dirty="0"/>
              <a:t>Надежность и достоверность </a:t>
            </a:r>
            <a:r>
              <a:rPr lang="ru-RU" sz="2400" dirty="0"/>
              <a:t>- ключевые понятия в деятельности АБД. Он должен </a:t>
            </a:r>
            <a:r>
              <a:rPr lang="ru-RU" sz="2400" b="1" dirty="0"/>
              <a:t>уметь (лучше - и любить</a:t>
            </a:r>
            <a:r>
              <a:rPr lang="ru-RU" sz="2400" dirty="0"/>
              <a:t>!) вести </a:t>
            </a:r>
            <a:r>
              <a:rPr lang="ru-RU" sz="2400" b="1" dirty="0"/>
              <a:t>тщательное документирование всех действий </a:t>
            </a:r>
            <a:r>
              <a:rPr lang="ru-RU" sz="2400" dirty="0"/>
              <a:t>по управлению базой данных.</a:t>
            </a:r>
          </a:p>
          <a:p>
            <a:r>
              <a:rPr lang="ru-RU" sz="2400" dirty="0"/>
              <a:t>Большое значение имеют </a:t>
            </a:r>
            <a:r>
              <a:rPr lang="ru-RU" sz="2400" b="1" dirty="0"/>
              <a:t>личностные данные АБД</a:t>
            </a:r>
            <a:r>
              <a:rPr lang="ru-RU" sz="2400" dirty="0"/>
              <a:t>: как руководителя, так и других специалистов Группы. </a:t>
            </a:r>
            <a:br>
              <a:rPr lang="en-US" sz="2400" dirty="0"/>
            </a:br>
            <a:r>
              <a:rPr lang="ru-RU" sz="2400" dirty="0"/>
              <a:t>Например, в понятной и доказательной форме они должны уметь проконсультировать как старшее руководство предприятия, так и разработчиков АС, пользователей и службу эксплуатации, понимать их нужды, принимать их справедливые требования. </a:t>
            </a:r>
          </a:p>
          <a:p>
            <a:r>
              <a:rPr lang="ru-RU" sz="2400" dirty="0"/>
              <a:t>Не годится на роль АБД специалист, который - пусть и на основе специальных знаний - </a:t>
            </a:r>
            <a:r>
              <a:rPr lang="ru-RU" sz="2400" b="1" dirty="0"/>
              <a:t>без согласования с хозяевами информации </a:t>
            </a:r>
            <a:r>
              <a:rPr lang="ru-RU" sz="2400" dirty="0"/>
              <a:t>(руководством предприятия, пользователями или др.) </a:t>
            </a:r>
            <a:r>
              <a:rPr lang="ru-RU" sz="2400" b="1" dirty="0"/>
              <a:t>будет вносить изменения в содержание БД </a:t>
            </a:r>
            <a:r>
              <a:rPr lang="ru-RU" sz="2400" dirty="0"/>
              <a:t>или в нарушение установленных регламентов </a:t>
            </a:r>
            <a:r>
              <a:rPr lang="ru-RU" sz="2400" b="1" dirty="0"/>
              <a:t>станет менять режимы доступности данных</a:t>
            </a:r>
            <a:r>
              <a:rPr lang="ru-RU" sz="2400" dirty="0"/>
              <a:t>.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18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1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61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Виды и роли АБД 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1158868"/>
            <a:ext cx="9144000" cy="504942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10000"/>
              </a:lnSpc>
            </a:pPr>
            <a:r>
              <a:rPr lang="ru-RU" sz="2800" b="1" dirty="0"/>
              <a:t>Три варианта политики автоматизации</a:t>
            </a:r>
            <a:endParaRPr lang="ru-RU" sz="2800" dirty="0"/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"</a:t>
            </a:r>
            <a:r>
              <a:rPr lang="ru-RU" b="1" dirty="0"/>
              <a:t>САМООБЕСПЕЧЕНИЕ</a:t>
            </a:r>
            <a:r>
              <a:rPr lang="ru-RU" dirty="0"/>
              <a:t>": предприятие полностью самостоятельно ведет разработку АС </a:t>
            </a: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"</a:t>
            </a:r>
            <a:r>
              <a:rPr lang="ru-RU" b="1" dirty="0"/>
              <a:t>ЗАКАЗЫ</a:t>
            </a:r>
            <a:r>
              <a:rPr lang="ru-RU" dirty="0"/>
              <a:t>": предприятие закупает полностью готовый проект АС и его дальнейшую адаптацию для себя, включая проект БД, процедуры ее сопровождения и дальнейшего развития</a:t>
            </a:r>
          </a:p>
          <a:p>
            <a:pPr lvl="1">
              <a:lnSpc>
                <a:spcPct val="120000"/>
              </a:lnSpc>
              <a:spcBef>
                <a:spcPts val="1200"/>
              </a:spcBef>
              <a:buClr>
                <a:schemeClr val="bg2"/>
              </a:buClr>
              <a:buFont typeface="Wingdings" pitchFamily="2" charset="2"/>
              <a:buChar char="v"/>
            </a:pPr>
            <a:r>
              <a:rPr lang="ru-RU" dirty="0"/>
              <a:t>"</a:t>
            </a:r>
            <a:r>
              <a:rPr lang="ru-RU" b="1" dirty="0"/>
              <a:t>СМЕШАННЫЙ</a:t>
            </a:r>
            <a:r>
              <a:rPr lang="ru-RU" dirty="0"/>
              <a:t>", при котором начальная версия системы с ее настройкой на предприятие закупается, а дальнейшее, относительно небольшое развитие и приспособление делается на предприятии при поддержке разработчиков</a:t>
            </a: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19</a:t>
            </a:fld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61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1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Виды и роли АБД 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Autofit/>
          </a:bodyPr>
          <a:lstStyle/>
          <a:p>
            <a:pPr lvl="1">
              <a:buClr>
                <a:schemeClr val="bg2"/>
              </a:buClr>
              <a:buNone/>
            </a:pPr>
            <a:r>
              <a:rPr lang="ru-RU" dirty="0" err="1"/>
              <a:t>Оргструктура</a:t>
            </a:r>
            <a:r>
              <a:rPr lang="ru-RU" dirty="0"/>
              <a:t> "</a:t>
            </a:r>
            <a:r>
              <a:rPr lang="ru-RU" b="1" dirty="0"/>
              <a:t>САМООБЕСПЕЧЕНИЕ»</a:t>
            </a: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20</a:t>
            </a:fld>
            <a:endParaRPr lang="ru-RU"/>
          </a:p>
        </p:txBody>
      </p:sp>
      <p:pic>
        <p:nvPicPr>
          <p:cNvPr id="5" name="Рисунок 4" descr="Picture 4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7078" y="2069432"/>
            <a:ext cx="8229599" cy="43114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Виды и роли АБД 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Autofit/>
          </a:bodyPr>
          <a:lstStyle/>
          <a:p>
            <a:pPr lvl="1">
              <a:buClr>
                <a:schemeClr val="bg2"/>
              </a:buClr>
              <a:buNone/>
            </a:pPr>
            <a:r>
              <a:rPr lang="ru-RU" dirty="0" err="1"/>
              <a:t>Оргструктура</a:t>
            </a:r>
            <a:r>
              <a:rPr lang="ru-RU" dirty="0"/>
              <a:t> «</a:t>
            </a:r>
            <a:r>
              <a:rPr lang="ru-RU" b="1" dirty="0"/>
              <a:t>Заказы»</a:t>
            </a:r>
            <a:endParaRPr lang="ru-RU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6" name="Рисунок 5" descr="Picture 5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6713" y="1941096"/>
            <a:ext cx="8070573" cy="39463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795130" y="262835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Функции группы АБД 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381175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400" b="1" dirty="0"/>
              <a:t>   Политика автоматизации  «САМООБЕСПЕЧЕНИЕ»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5" name="Рисунок 4" descr="Picture 6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4035" y="1331844"/>
            <a:ext cx="7613374" cy="51991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844826" y="32084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Вариант Заказы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23</a:t>
            </a:fld>
            <a:endParaRPr lang="ru-RU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42900" y="4242169"/>
            <a:ext cx="84582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В этом случае АБД как минимум выполняет следующие функции: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сбор статистики о работе СУБД, ее настройка и настройка АС в целом для эффективной обработки данных и обслуживания пользователей,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участие в планировании развития аппаратных и системных программных средств предприятия в связи с качественным и количественным ростом требований к АС,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подключение новых разработчиков (в данном случае - сторонних) и пользователей, приписывание им паролей, привилегий доступа к конкретным данным и др.,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участие в анализе попыток несанкционированного доступа к БД (если эта функция предусматривается в системе).</a:t>
            </a:r>
            <a:endParaRPr kumimoji="0" 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</p:txBody>
      </p:sp>
      <p:pic>
        <p:nvPicPr>
          <p:cNvPr id="1025" name="Рисунок 9" descr="Picture 7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4871" y="779055"/>
            <a:ext cx="6336666" cy="346509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844826" y="0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Вариант Заказы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312516" y="771847"/>
            <a:ext cx="8526684" cy="572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Кроме того, АБД </a:t>
            </a:r>
            <a:r>
              <a:rPr kumimoji="0" lang="ru-RU" sz="2400" b="0" i="0" u="sng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принимает участие 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в приемке готовой АС и в рамках этой работы, в объеме, соответствующем приемке, выполняет функции: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установка 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СУБД, программных инструментов разработки АС и инструментов пользователей для прямой работы с БД,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планирование использования 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запоминающих устройств компьютера (дисков, основной памяти, лент),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организация работы 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с БД, находящейся на удаленном компьютере, работы с распределенной БД,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  <a:cs typeface="Arial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ru-RU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составление процедур 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ea typeface="Times New Roman" pitchFamily="18" charset="0"/>
                <a:cs typeface="Times New Roman" pitchFamily="18" charset="0"/>
              </a:rPr>
              <a:t>для начальной загрузки данных, копирования и восстановления БД и т.п.; передача этих процедур эксплуатационному персоналу</a:t>
            </a:r>
            <a:r>
              <a:rPr kumimoji="0" lang="ru-RU" sz="2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,</a:t>
            </a:r>
            <a:endParaRPr kumimoji="0" lang="ru-RU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844826" y="0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Классификация АБД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290946" y="771847"/>
            <a:ext cx="8548254" cy="5163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ru-RU" i="1" dirty="0"/>
              <a:t>Оперативные (</a:t>
            </a:r>
            <a:r>
              <a:rPr lang="ru-RU" i="1" dirty="0" err="1"/>
              <a:t>operational</a:t>
            </a:r>
            <a:r>
              <a:rPr lang="ru-RU" i="1" dirty="0"/>
              <a:t>) АБД:</a:t>
            </a:r>
            <a:r>
              <a:rPr lang="ru-RU" dirty="0"/>
              <a:t>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манипулируют дисковым пространством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наблюдают за текущей производительностью системы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реагируют на возникающие неисправности БД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обновляют системное ПО и ПО базы данных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контролируют структурные изменения БД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запускают процедуры резервного копирования данных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выполняют восстановление данных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создают и управляют тестовыми конфигурациями БД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844826" y="0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Классификация АБД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78295" y="645809"/>
            <a:ext cx="8607288" cy="5973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ru-RU" i="1" dirty="0"/>
              <a:t>Тактические (</a:t>
            </a:r>
            <a:r>
              <a:rPr lang="ru-RU" i="1" dirty="0" err="1"/>
              <a:t>tactical</a:t>
            </a:r>
            <a:r>
              <a:rPr lang="ru-RU" i="1" dirty="0"/>
              <a:t>) АБД:</a:t>
            </a:r>
            <a:r>
              <a:rPr lang="ru-RU" dirty="0"/>
              <a:t>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реализуют схемы размещения информации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утверждают процедуры резервного копирования и восстановления данных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разрабатывают и внедряют структурные элементы БД: таблицы, столбцы, размеры объектов, индексацию и т.п.; сценарии(</a:t>
            </a:r>
            <a:r>
              <a:rPr lang="ru-RU" dirty="0" err="1"/>
              <a:t>scripts</a:t>
            </a:r>
            <a:r>
              <a:rPr lang="ru-RU" dirty="0"/>
              <a:t>) изменения схемы БД; конфигурационные параметры БД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утверждают план действий в случае аварийной ситуации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844826" y="0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Классификация АБД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27</a:t>
            </a:fld>
            <a:endParaRPr lang="ru-RU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78295" y="645809"/>
            <a:ext cx="8607288" cy="5973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ru-RU" i="1" dirty="0"/>
              <a:t>Стратегические (</a:t>
            </a:r>
            <a:r>
              <a:rPr lang="ru-RU" i="1" dirty="0" err="1"/>
              <a:t>strategic</a:t>
            </a:r>
            <a:r>
              <a:rPr lang="ru-RU" i="1" dirty="0"/>
              <a:t>) АБД:</a:t>
            </a:r>
            <a:r>
              <a:rPr lang="ru-RU" dirty="0"/>
              <a:t>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выбирают поставщика БД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устанавливают корпоративные стандарты данных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внедряют методы обмена данных в рамках предприятия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определяют корпоративную стратегию резервирования и восстановления данных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устанавливают корпоративный подход к ликвидации последствий аварии и обеспечению доступности данных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844826" y="0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Классификация АБД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28</a:t>
            </a:fld>
            <a:endParaRPr lang="ru-RU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78295" y="645809"/>
            <a:ext cx="8607288" cy="5973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lvl="0"/>
            <a:r>
              <a:rPr lang="ru-RU" i="1" dirty="0"/>
              <a:t>Старшие (</a:t>
            </a:r>
            <a:r>
              <a:rPr lang="ru-RU" i="1" dirty="0" err="1"/>
              <a:t>senior</a:t>
            </a:r>
            <a:r>
              <a:rPr lang="ru-RU" i="1" dirty="0"/>
              <a:t>) АБД:</a:t>
            </a:r>
            <a:r>
              <a:rPr lang="ru-RU" dirty="0"/>
              <a:t>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досконально знают свой персонал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пользуются высоким спросом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могут написать </a:t>
            </a:r>
            <a:r>
              <a:rPr lang="ru-RU" dirty="0" err="1"/>
              <a:t>скрипт</a:t>
            </a:r>
            <a:r>
              <a:rPr lang="ru-RU" dirty="0"/>
              <a:t>, который освободит их из запертого сундука, брошенного в океан, и чрезвычайно гордятся своими произведениями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тратят уйму времени на подготовку младших АБД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очень ценятся руководством и получают бешеные деньги </a:t>
            </a:r>
          </a:p>
          <a:p>
            <a:pPr lvl="0"/>
            <a:r>
              <a:rPr lang="ru-RU" dirty="0"/>
              <a:t> </a:t>
            </a:r>
            <a:r>
              <a:rPr lang="ru-RU" i="1" dirty="0"/>
              <a:t>Младшие (</a:t>
            </a:r>
            <a:r>
              <a:rPr lang="ru-RU" i="1" dirty="0" err="1"/>
              <a:t>junior</a:t>
            </a:r>
            <a:r>
              <a:rPr lang="ru-RU" i="1" dirty="0"/>
              <a:t>) АБД:</a:t>
            </a:r>
            <a:r>
              <a:rPr lang="ru-RU" dirty="0"/>
              <a:t>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мечтают стать старшим АБД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не слишком сильны в написании </a:t>
            </a:r>
            <a:r>
              <a:rPr lang="ru-RU" dirty="0" err="1"/>
              <a:t>скриптов</a:t>
            </a:r>
            <a:r>
              <a:rPr lang="ru-RU" dirty="0"/>
              <a:t>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имеют большую склонность к использованию средств управления БД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dirty="0"/>
              <a:t>тоже неплохо получают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dirty="0"/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844826" y="0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Классификация АБД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29</a:t>
            </a:fld>
            <a:endParaRPr lang="ru-RU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78295" y="645809"/>
            <a:ext cx="8607288" cy="5973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lvl="0"/>
            <a:r>
              <a:rPr lang="ru-RU" i="1" dirty="0"/>
              <a:t>Прикладные (</a:t>
            </a:r>
            <a:r>
              <a:rPr lang="ru-RU" i="1" dirty="0" err="1"/>
              <a:t>application</a:t>
            </a:r>
            <a:r>
              <a:rPr lang="ru-RU" i="1" dirty="0"/>
              <a:t>) АБД:</a:t>
            </a:r>
            <a:r>
              <a:rPr lang="ru-RU" dirty="0"/>
              <a:t>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в курсе информационных нужд компании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помогают в разработке прикладных задач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отвечают за разработку схемы и ее изменения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вместе с системным АБД обеспечивают должный уровень резервирования/ восстановления данных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занимаются построением тестовых БД </a:t>
            </a:r>
          </a:p>
          <a:p>
            <a:pPr lvl="0"/>
            <a:r>
              <a:rPr lang="ru-RU" i="1" dirty="0"/>
              <a:t>Системные (</a:t>
            </a:r>
            <a:r>
              <a:rPr lang="ru-RU" i="1" dirty="0" err="1"/>
              <a:t>system</a:t>
            </a:r>
            <a:r>
              <a:rPr lang="ru-RU" i="1" dirty="0"/>
              <a:t>) АБД:</a:t>
            </a:r>
            <a:r>
              <a:rPr lang="ru-RU" dirty="0"/>
              <a:t>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отвечают за все необходимое для резервирования и восстановления данных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контролируют производительность системы в целом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осуществляют поиск и устранение неисправностей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в курсе нынешних и будущих потребностей БД в плане емкости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в курсе текущего состояния и нужд БД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dirty="0"/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dirty="0"/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844826" y="0"/>
            <a:ext cx="7454348" cy="671444"/>
          </a:xfrm>
        </p:spPr>
        <p:txBody>
          <a:bodyPr/>
          <a:lstStyle/>
          <a:p>
            <a:pPr algn="ctr"/>
            <a:r>
              <a:rPr lang="ru-RU" sz="3600" dirty="0">
                <a:solidFill>
                  <a:schemeClr val="bg2"/>
                </a:solidFill>
              </a:rPr>
              <a:t>Классификация АБД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30</a:t>
            </a:fld>
            <a:endParaRPr lang="ru-RU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78295" y="645809"/>
            <a:ext cx="8607288" cy="59736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lvl="0"/>
            <a:r>
              <a:rPr lang="ru-RU" i="1" dirty="0"/>
              <a:t>Наемные (</a:t>
            </a:r>
            <a:r>
              <a:rPr lang="ru-RU" i="1" dirty="0" err="1"/>
              <a:t>contract</a:t>
            </a:r>
            <a:r>
              <a:rPr lang="ru-RU" i="1" dirty="0"/>
              <a:t>) АБД : </a:t>
            </a:r>
            <a:endParaRPr lang="ru-RU" dirty="0"/>
          </a:p>
          <a:p>
            <a:pPr lvl="1"/>
            <a:r>
              <a:rPr lang="ru-RU" dirty="0"/>
              <a:t>приглашаются под конкретную задачу или в качестве консультантов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передают персоналу необходимые знания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фиксируют свои действия!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должны прекрасно разбираться в соответствующей области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хороши в качестве временного персонала, для оценки проекта или системы </a:t>
            </a:r>
          </a:p>
          <a:p>
            <a:pPr lvl="0"/>
            <a:r>
              <a:rPr lang="ru-RU" i="1" dirty="0"/>
              <a:t>Администраторы-руководители :</a:t>
            </a:r>
            <a:r>
              <a:rPr lang="ru-RU" dirty="0"/>
              <a:t>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проводят еженедельные совещания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определяют перечень первоочередных задач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устанавливают и оглашают официальный курс и стратегию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утверждают и корректируют должностные инструкции и список обязанностей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r>
              <a:rPr lang="ru-RU" sz="2700" dirty="0"/>
              <a:t>следят за наличием соответствующей документации </a:t>
            </a:r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sz="2700" dirty="0"/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dirty="0"/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dirty="0"/>
          </a:p>
          <a:p>
            <a:pPr lvl="1" indent="-457200">
              <a:buSzPct val="120000"/>
              <a:buFont typeface="Wingdings" pitchFamily="2" charset="2"/>
              <a:buChar char="§"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248652" y="192505"/>
            <a:ext cx="8646695" cy="671444"/>
          </a:xfrm>
        </p:spPr>
        <p:txBody>
          <a:bodyPr/>
          <a:lstStyle/>
          <a:p>
            <a:r>
              <a:rPr lang="ru-RU" sz="3600" dirty="0">
                <a:solidFill>
                  <a:schemeClr val="bg2"/>
                </a:solidFill>
              </a:rPr>
              <a:t>В чем нуждается администратор БД?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31</a:t>
            </a:fld>
            <a:endParaRPr lang="ru-RU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68356" y="1058779"/>
            <a:ext cx="8607288" cy="55986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 fontScale="62500" lnSpcReduction="20000"/>
          </a:bodyPr>
          <a:lstStyle/>
          <a:p>
            <a:pPr lvl="0">
              <a:lnSpc>
                <a:spcPct val="120000"/>
              </a:lnSpc>
            </a:pPr>
            <a:r>
              <a:rPr lang="ru-RU" b="1" dirty="0"/>
              <a:t>Профилактический монитор</a:t>
            </a:r>
            <a:r>
              <a:rPr lang="ru-RU" i="1" dirty="0"/>
              <a:t>:</a:t>
            </a:r>
            <a:r>
              <a:rPr lang="ru-RU" dirty="0"/>
              <a:t>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r>
              <a:rPr lang="ru-RU" sz="2700" dirty="0"/>
              <a:t>избавляет администратора от экстренных мер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r>
              <a:rPr lang="ru-RU" sz="2700" dirty="0"/>
              <a:t>разгружает администратора по вечерам и выходным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r>
              <a:rPr lang="ru-RU" sz="2700" dirty="0"/>
              <a:t>ускоряет приобретение опыта </a:t>
            </a:r>
          </a:p>
          <a:p>
            <a:pPr lvl="0">
              <a:lnSpc>
                <a:spcPct val="120000"/>
              </a:lnSpc>
            </a:pPr>
            <a:r>
              <a:rPr lang="ru-RU" b="1" dirty="0"/>
              <a:t>Средства диагностики</a:t>
            </a:r>
            <a:r>
              <a:rPr lang="ru-RU" i="1" dirty="0"/>
              <a:t>:</a:t>
            </a:r>
            <a:r>
              <a:rPr lang="ru-RU" dirty="0"/>
              <a:t>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r>
              <a:rPr lang="ru-RU" sz="2700" dirty="0"/>
              <a:t>превращают младшего АБД в старшего, позволяя последнему сконцентрироваться на других задачах </a:t>
            </a:r>
          </a:p>
          <a:p>
            <a:pPr lvl="0">
              <a:lnSpc>
                <a:spcPct val="120000"/>
              </a:lnSpc>
            </a:pPr>
            <a:r>
              <a:rPr lang="ru-RU" b="1" dirty="0"/>
              <a:t>Средства анализа</a:t>
            </a:r>
            <a:r>
              <a:rPr lang="ru-RU" i="1" dirty="0"/>
              <a:t>:</a:t>
            </a:r>
            <a:r>
              <a:rPr lang="ru-RU" dirty="0"/>
              <a:t>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r>
              <a:rPr lang="ru-RU" sz="2700" dirty="0"/>
              <a:t>помогают при планировании роста БД и будущих затрат </a:t>
            </a:r>
          </a:p>
          <a:p>
            <a:pPr lvl="0">
              <a:lnSpc>
                <a:spcPct val="120000"/>
              </a:lnSpc>
            </a:pPr>
            <a:r>
              <a:rPr lang="ru-RU" b="1" dirty="0"/>
              <a:t>Средства технического обслуживания</a:t>
            </a:r>
            <a:r>
              <a:rPr lang="ru-RU" i="1" dirty="0"/>
              <a:t>:</a:t>
            </a:r>
            <a:r>
              <a:rPr lang="ru-RU" dirty="0"/>
              <a:t>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r>
              <a:rPr lang="ru-RU" sz="2700" dirty="0"/>
              <a:t>помогают при резервном копировании и восстановлении данных, сокращая время операции и уменьшая число ошибок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r>
              <a:rPr lang="ru-RU" sz="2700" dirty="0"/>
              <a:t>помогают при реорганизациях, экономя время, уменьшая количество ошибок и длительность профилактических окон (</a:t>
            </a:r>
            <a:r>
              <a:rPr lang="ru-RU" sz="2700" dirty="0" err="1"/>
              <a:t>maintenance</a:t>
            </a:r>
            <a:r>
              <a:rPr lang="ru-RU" sz="2700" dirty="0"/>
              <a:t> </a:t>
            </a:r>
            <a:r>
              <a:rPr lang="ru-RU" sz="2700" dirty="0" err="1"/>
              <a:t>window</a:t>
            </a:r>
            <a:r>
              <a:rPr lang="ru-RU" sz="2700" dirty="0"/>
              <a:t>)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r>
              <a:rPr lang="ru-RU" sz="2700" dirty="0"/>
              <a:t>способствуют высокой доступности данных, создавая “ незаметные ” с точки зрения системы профилактические окна и помогая при резервировании / восстановлении системы.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endParaRPr lang="ru-RU" sz="2700" dirty="0"/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endParaRPr lang="ru-RU" dirty="0"/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endParaRPr lang="ru-RU" dirty="0"/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248652" y="208548"/>
            <a:ext cx="8646695" cy="671444"/>
          </a:xfrm>
        </p:spPr>
        <p:txBody>
          <a:bodyPr/>
          <a:lstStyle/>
          <a:p>
            <a:r>
              <a:rPr lang="ru-RU" sz="3600" dirty="0">
                <a:solidFill>
                  <a:schemeClr val="bg2"/>
                </a:solidFill>
              </a:rPr>
              <a:t>Сколько нужно администраторов БД?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6" name="Содержимое 2"/>
          <p:cNvSpPr txBox="1">
            <a:spLocks/>
          </p:cNvSpPr>
          <p:nvPr/>
        </p:nvSpPr>
        <p:spPr bwMode="auto">
          <a:xfrm>
            <a:off x="268356" y="902483"/>
            <a:ext cx="8607288" cy="548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ru-RU" sz="2400" dirty="0"/>
              <a:t>Не существует двух контор с абсолютно одинаковыми запросами, тем не менее </a:t>
            </a:r>
            <a:r>
              <a:rPr lang="ru-RU" sz="2400" dirty="0" err="1">
                <a:solidFill>
                  <a:schemeClr val="bg2"/>
                </a:solidFill>
              </a:rPr>
              <a:t>Gartner</a:t>
            </a:r>
            <a:r>
              <a:rPr lang="ru-RU" sz="2400" dirty="0">
                <a:solidFill>
                  <a:schemeClr val="bg2"/>
                </a:solidFill>
              </a:rPr>
              <a:t> </a:t>
            </a:r>
            <a:r>
              <a:rPr lang="ru-RU" sz="2400" dirty="0"/>
              <a:t>предлагает по этому поводу несколько рекомендаций: </a:t>
            </a:r>
          </a:p>
          <a:p>
            <a:pPr lvl="1" indent="-457200">
              <a:lnSpc>
                <a:spcPct val="110000"/>
              </a:lnSpc>
              <a:buSzPct val="120000"/>
              <a:buFont typeface="Wingdings" pitchFamily="2" charset="2"/>
              <a:buChar char="§"/>
            </a:pPr>
            <a:r>
              <a:rPr lang="ru-RU" sz="2400" dirty="0"/>
              <a:t>оцените сложность и изменчивость БД по </a:t>
            </a:r>
            <a:r>
              <a:rPr lang="ru-RU" sz="2400" dirty="0" err="1"/>
              <a:t>пятибальной</a:t>
            </a:r>
            <a:r>
              <a:rPr lang="ru-RU" sz="2400" dirty="0"/>
              <a:t> шкале </a:t>
            </a:r>
          </a:p>
          <a:p>
            <a:pPr lvl="1" indent="-457200">
              <a:lnSpc>
                <a:spcPct val="110000"/>
              </a:lnSpc>
              <a:buSzPct val="120000"/>
              <a:buFont typeface="Wingdings" pitchFamily="2" charset="2"/>
              <a:buChar char="§"/>
            </a:pPr>
            <a:r>
              <a:rPr lang="ru-RU" sz="2400" dirty="0"/>
              <a:t>добавьте по два очка за каждую дополнительную БД </a:t>
            </a:r>
          </a:p>
          <a:p>
            <a:pPr lvl="1" indent="-457200">
              <a:lnSpc>
                <a:spcPct val="110000"/>
              </a:lnSpc>
              <a:buSzPct val="120000"/>
              <a:buFont typeface="Wingdings" pitchFamily="2" charset="2"/>
              <a:buChar char="§"/>
            </a:pPr>
            <a:r>
              <a:rPr lang="ru-RU" sz="2400" dirty="0"/>
              <a:t>учтите доходность системы </a:t>
            </a:r>
          </a:p>
          <a:p>
            <a:pPr lvl="1" indent="-457200">
              <a:lnSpc>
                <a:spcPct val="110000"/>
              </a:lnSpc>
              <a:buSzPct val="120000"/>
              <a:buFont typeface="Wingdings" pitchFamily="2" charset="2"/>
              <a:buChar char="§"/>
            </a:pPr>
            <a:r>
              <a:rPr lang="ru-RU" sz="2400" dirty="0"/>
              <a:t>расставьте приоритеты на основе следующей таблицы: </a:t>
            </a:r>
          </a:p>
          <a:p>
            <a:r>
              <a:rPr lang="ru-RU" sz="2400" dirty="0">
                <a:solidFill>
                  <a:schemeClr val="bg2"/>
                </a:solidFill>
              </a:rPr>
              <a:t>всего</a:t>
            </a:r>
            <a:r>
              <a:rPr lang="ru-RU" sz="2400" dirty="0"/>
              <a:t>      </a:t>
            </a:r>
            <a:r>
              <a:rPr lang="ru-RU" sz="2400" dirty="0">
                <a:solidFill>
                  <a:schemeClr val="bg2"/>
                </a:solidFill>
              </a:rPr>
              <a:t>занятость администратора </a:t>
            </a:r>
          </a:p>
          <a:p>
            <a:r>
              <a:rPr lang="ru-RU" sz="2400" dirty="0"/>
              <a:t>   &lt; 5                     20% </a:t>
            </a:r>
          </a:p>
          <a:p>
            <a:r>
              <a:rPr lang="ru-RU" sz="2400" dirty="0"/>
              <a:t> 5 или 6                25% </a:t>
            </a:r>
          </a:p>
          <a:p>
            <a:r>
              <a:rPr lang="ru-RU" sz="2400" dirty="0"/>
              <a:t> 7 или 8                50% </a:t>
            </a:r>
          </a:p>
          <a:p>
            <a:r>
              <a:rPr lang="ru-RU" sz="2400" dirty="0"/>
              <a:t>   &gt; 8                  полная </a:t>
            </a:r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endParaRPr lang="ru-RU" sz="2700" dirty="0"/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endParaRPr lang="ru-RU" dirty="0"/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endParaRPr lang="ru-RU" dirty="0"/>
          </a:p>
          <a:p>
            <a:pPr lvl="1" indent="-457200">
              <a:lnSpc>
                <a:spcPct val="120000"/>
              </a:lnSpc>
              <a:buSzPct val="120000"/>
              <a:buFont typeface="Wingdings" pitchFamily="2" charset="2"/>
              <a:buChar char="§"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248652" y="208548"/>
            <a:ext cx="8646695" cy="671444"/>
          </a:xfrm>
        </p:spPr>
        <p:txBody>
          <a:bodyPr/>
          <a:lstStyle/>
          <a:p>
            <a:pPr lvl="0" algn="ctr"/>
            <a:r>
              <a:rPr lang="ru-RU" altLang="ru-RU" sz="1600" b="1" dirty="0">
                <a:solidFill>
                  <a:srgbClr val="000000"/>
                </a:solidFill>
                <a:latin typeface="Verdana" panose="020B0604030504040204" pitchFamily="34" charset="0"/>
              </a:rPr>
              <a:t>Программа курса "Администрирование баз данных </a:t>
            </a:r>
            <a:r>
              <a:rPr lang="ru-RU" altLang="ru-RU" sz="16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Oracle</a:t>
            </a:r>
            <a:r>
              <a:rPr lang="ru-RU" altLang="ru-RU" sz="1600" b="1" dirty="0">
                <a:solidFill>
                  <a:srgbClr val="000000"/>
                </a:solidFill>
                <a:latin typeface="Verdana" panose="020B0604030504040204" pitchFamily="34" charset="0"/>
              </a:rPr>
              <a:t>"</a:t>
            </a: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33</a:t>
            </a:fld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17F26-7D75-4858-9549-AE58E237F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558" y="879992"/>
            <a:ext cx="8646695" cy="560183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25392" numCol="1" anchor="ctr" anchorCtr="0" compatLnSpc="1">
            <a:prstTxWarp prst="textNoShape">
              <a:avLst/>
            </a:prstTxWarp>
            <a:normAutofit fontScale="925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1. Общая информация о СУБД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Введение в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Версии и разновидности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Расширения базовой поставки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Общая архитектура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Основные элементы архитектуры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Разновидности рабочих конфигураций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Задачи администрирования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Ресурсы знаний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2. Установка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Местонахождение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в операционной и файловой системе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Рекомендуемая структура каталогов для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Общая схема установки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Основные этапы установки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Установка ПО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Формирование характеристик БД и СУБД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Заведение инфраструктуры для размещения планируемой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Порождение сценария заведения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Номинальное создание БД: предложение CREATE DATABASE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Заведение словаря-справочника для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Создание дополнительных элементов и структур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Указание свойств местности для БД и работающих с ней программ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Выбор кодировки БД и приложения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Выбор языка сообщений, форматов выдачи и прочего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Где выполняются установки свойств местности, и где наблюдаются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Замена и правка свойств существующих языковых установок БД и создание новых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Запуск и останов СУБД и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Службы ОС в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Windows</a:t>
            </a:r>
            <a:endParaRPr kumimoji="0" lang="ru-RU" altLang="ru-RU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Запуск и останов СУБД и БД вручную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Действия по убиранию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с компьютера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Убирание БД из компьютера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Убирание программных компонент с помощью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Universal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Installer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«Чистое» убирание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69330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248652" y="208548"/>
            <a:ext cx="8646695" cy="671444"/>
          </a:xfrm>
        </p:spPr>
        <p:txBody>
          <a:bodyPr/>
          <a:lstStyle/>
          <a:p>
            <a:r>
              <a:rPr lang="ru-RU" altLang="ru-RU" sz="1800" b="1" dirty="0">
                <a:solidFill>
                  <a:srgbClr val="000000"/>
                </a:solidFill>
                <a:latin typeface="Verdana" panose="020B0604030504040204" pitchFamily="34" charset="0"/>
              </a:rPr>
              <a:t>Программа курса "Администрирование баз данных </a:t>
            </a:r>
            <a:r>
              <a:rPr lang="ru-RU" altLang="ru-RU" sz="18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Oracle</a:t>
            </a:r>
            <a:r>
              <a:rPr lang="ru-RU" altLang="ru-RU" sz="1800" b="1" dirty="0">
                <a:solidFill>
                  <a:srgbClr val="000000"/>
                </a:solidFill>
                <a:latin typeface="Verdana" panose="020B0604030504040204" pitchFamily="34" charset="0"/>
              </a:rPr>
              <a:t>"</a:t>
            </a:r>
            <a:endParaRPr lang="ru-RU" sz="18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17F26-7D75-4858-9549-AE58E237F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435" y="934278"/>
            <a:ext cx="8044406" cy="53141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5392" rIns="91440" bIns="25392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3. Использование SQL*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Plus</a:t>
            </a: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в администрировании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Вызов SQL*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Plus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Наиболее популярные установки параметров и режимов SQL*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Plus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Наиболее популярные команды SQL*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Plus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Файлы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glogin.sql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login.sql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Использование SQL*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Plus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для форматированной выдачи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Совместное использование команд SPOOL, SAVE и START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4. Средства слежения за работой </a:t>
            </a:r>
            <a:r>
              <a:rPr kumimoji="0" lang="ru-RU" altLang="ru-RU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Использование базовых и виртуальных таблиц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Статические таблицы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Динамические таблицы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Сценарии на SQL и PL/SQL, поставляемые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utlbstat.sql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и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utlestat.sql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(все версии)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STATSPACK (версия 8.1.6 и выше)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AWR (версия 10 и выше)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Активное отслеживание событий (версия 10 и выше)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Прочие полезные сценарии на SQL и PL/SQL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Примеры запросов для слежения за использованием ресурсов БД и СУБД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Специальные программные продукты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Enterprise</a:t>
            </a: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Manager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Собственные возможности наблюдения OEM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3281456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248652" y="208548"/>
            <a:ext cx="8646695" cy="671444"/>
          </a:xfrm>
        </p:spPr>
        <p:txBody>
          <a:bodyPr/>
          <a:lstStyle/>
          <a:p>
            <a:pPr algn="ctr"/>
            <a:r>
              <a:rPr lang="ru-RU" altLang="ru-RU" sz="1600" b="1" dirty="0">
                <a:solidFill>
                  <a:srgbClr val="000000"/>
                </a:solidFill>
                <a:latin typeface="Verdana" panose="020B0604030504040204" pitchFamily="34" charset="0"/>
              </a:rPr>
              <a:t>Программа курса "Администрирование баз данных </a:t>
            </a:r>
            <a:r>
              <a:rPr lang="ru-RU" altLang="ru-RU" sz="16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Oracle</a:t>
            </a:r>
            <a:r>
              <a:rPr lang="ru-RU" altLang="ru-RU" sz="1600" b="1" dirty="0">
                <a:solidFill>
                  <a:srgbClr val="000000"/>
                </a:solidFill>
                <a:latin typeface="Verdana" panose="020B0604030504040204" pitchFamily="34" charset="0"/>
              </a:rPr>
              <a:t>"</a:t>
            </a:r>
            <a:endParaRPr lang="ru-RU" sz="16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17F26-7D75-4858-9549-AE58E237F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199" y="689658"/>
            <a:ext cx="8229599" cy="578734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25392" numCol="1" anchor="ctr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5. Конфигурирование, настройка и поддержка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Процессы конфигурирования и настройки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Объекты конфигурирования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Объекты настройки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и настройка операционной среды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и настройка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Windows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и настройка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Unix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/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Linux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составных частей БД и СУБД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контрольного файла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сегментов отката/сегментов отмены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табличных пространств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табличных пространств для временных данных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файлов табличного пространства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журнальных файлов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хранимых объектов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таблиц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индексов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Некоторые специальные случаи конфигурирования хранения и использования таблиц и индексов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6. Администрирование доступа в </a:t>
            </a:r>
            <a:r>
              <a:rPr kumimoji="0" lang="ru-RU" altLang="ru-RU" sz="1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Политика безопасности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Основные средства администрирования доступа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Пользователи и схемы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Привилегии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Роли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Опосредованный доступ к данным в таблицах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Ограничение доступа к отдельным частям таблицы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Защита сведений в БД внешними средствами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Шифрование данных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«Шифрование» исходных текстов программных элементов в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Подключение к СУБД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Пример внешней (EXTERNAL) аутентификации в ОС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Windows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Профили пользователей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Ограничения расходования ресурсов СУБД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Контроль за использованием паролей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Включение контроля ресурсов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Динамическое регулирование выделяемых сеансам ресурсов СУБД и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Рекомендации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для администраторов</a:t>
            </a:r>
          </a:p>
        </p:txBody>
      </p:sp>
    </p:spTree>
    <p:extLst>
      <p:ext uri="{BB962C8B-B14F-4D97-AF65-F5344CB8AC3E}">
        <p14:creationId xmlns:p14="http://schemas.microsoft.com/office/powerpoint/2010/main" val="5305447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17F26-7D75-4858-9549-AE58E237F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368" y="1076446"/>
            <a:ext cx="8397432" cy="532435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25392" numCol="1" anchor="ctr" anchorCtr="0" compatLnSpc="1">
            <a:prstTxWarp prst="textNoShape">
              <a:avLst/>
            </a:prstTxWarp>
            <a:normAutofit fontScale="92500" lnSpcReduction="10000"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7. Аудит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Виды действий для отслеживания системным аудитом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Общее разрешение на сбор СУБД информации о действиях пользователей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Примеры конкретной выдачи заданий на аудит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Таблицы с протоколом аудита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Пример рекомендаций по осуществлению политики аудита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Примеры оформления рутинных действий с таблицей аудита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Создание таблицы для сбора обобщенной ежедневной статистики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Сбор обобщенной ежедневной статистики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Чистка журнала аудита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Выборочный аудит доступа к таблицам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Аудит с помощью триггерных процедур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Отслеживание изменений отдельных строк таблиц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Отслеживание изменений строк с точностью до столбцов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Отслеживание прочих действий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Отслеживание истории изменений в БД по журналу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8. Администрирование работы в сети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Общая архитектура сетевой поддержки в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Дополнительные возможности и средства SQL*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/Net8/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для среды клиент/сервер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Конфигурируемые компоненты SQL*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/Net8/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Способы адресации нужной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с помощью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Manager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Конфигурирование вручную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Наладка и контроль соединения по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Использование программы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lsnrctl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Проверка соединения по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Настройка соединений по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r>
              <a:rPr kumimoji="0" lang="ru-RU" altLang="ru-RU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  <a:r>
              <a:rPr kumimoji="0" lang="ru-RU" altLang="ru-RU" sz="1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Net</a:t>
            </a: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2FE6147-EC4B-4B8D-B2F9-403890E9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619246"/>
          </a:xfrm>
        </p:spPr>
        <p:txBody>
          <a:bodyPr/>
          <a:lstStyle/>
          <a:p>
            <a:r>
              <a:rPr lang="ru-RU" altLang="ru-RU" sz="1600" b="1" dirty="0">
                <a:solidFill>
                  <a:srgbClr val="000000"/>
                </a:solidFill>
                <a:latin typeface="Verdana" panose="020B0604030504040204" pitchFamily="34" charset="0"/>
              </a:rPr>
              <a:t>Программа курса "Администрирование баз данных </a:t>
            </a:r>
            <a:r>
              <a:rPr lang="ru-RU" altLang="ru-RU" sz="16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Oracle</a:t>
            </a:r>
            <a:r>
              <a:rPr lang="ru-RU" altLang="ru-RU" sz="1600" b="1" dirty="0">
                <a:solidFill>
                  <a:srgbClr val="000000"/>
                </a:solidFill>
                <a:latin typeface="Verdana" panose="020B0604030504040204" pitchFamily="34" charset="0"/>
              </a:rPr>
              <a:t>"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575493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248652" y="208548"/>
            <a:ext cx="8646695" cy="671444"/>
          </a:xfrm>
        </p:spPr>
        <p:txBody>
          <a:bodyPr/>
          <a:lstStyle/>
          <a:p>
            <a:pPr algn="ctr"/>
            <a:r>
              <a:rPr lang="ru-RU" altLang="ru-RU" sz="1600" b="1" dirty="0">
                <a:solidFill>
                  <a:srgbClr val="000000"/>
                </a:solidFill>
                <a:latin typeface="Verdana" panose="020B0604030504040204" pitchFamily="34" charset="0"/>
              </a:rPr>
              <a:t>Программа курса "Администрирование баз данных </a:t>
            </a:r>
            <a:r>
              <a:rPr lang="ru-RU" altLang="ru-RU" sz="16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Oracle</a:t>
            </a:r>
            <a:r>
              <a:rPr lang="ru-RU" altLang="ru-RU" sz="1600" b="1" dirty="0">
                <a:solidFill>
                  <a:srgbClr val="000000"/>
                </a:solidFill>
                <a:latin typeface="Verdana" panose="020B0604030504040204" pitchFamily="34" charset="0"/>
              </a:rPr>
              <a:t>"</a:t>
            </a:r>
            <a:endParaRPr lang="ru-RU" sz="1600" dirty="0">
              <a:solidFill>
                <a:schemeClr val="bg2"/>
              </a:solidFill>
            </a:endParaRPr>
          </a:p>
        </p:txBody>
      </p:sp>
      <p:sp>
        <p:nvSpPr>
          <p:cNvPr id="6147" name="Объект 2"/>
          <p:cNvSpPr>
            <a:spLocks noGrp="1"/>
          </p:cNvSpPr>
          <p:nvPr>
            <p:ph idx="1"/>
          </p:nvPr>
        </p:nvSpPr>
        <p:spPr>
          <a:xfrm>
            <a:off x="0" y="934278"/>
            <a:ext cx="9144000" cy="417443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400" b="1" dirty="0"/>
              <a:t>   </a:t>
            </a:r>
            <a:endParaRPr lang="ru-RU" sz="2400" dirty="0"/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17F26-7D75-4858-9549-AE58E237F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763929"/>
            <a:ext cx="8038618" cy="568317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25392" rIns="91440" bIns="25392" numCol="1" anchor="ctr" anchorCtr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9. Экземпляр СУБД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Составные части экземпляра СУБД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Процессы СУБД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Стандартные фоновые процессы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Дополнительные фоновые процессы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Серверные процессы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Просмотр имеющихся в составе СУБД процессов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10. Настройка экземпляра СУБД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11. Организация хранения данных в </a:t>
            </a:r>
            <a:r>
              <a:rPr kumimoji="0" lang="ru-RU" altLang="ru-RU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Oracle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Хранение объектов БД на диске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Внутренняя организация хранения данных в табличных пространствах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Управление памятью в табличных пространствах для нужд сегментов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Управление памятью в сегментах для нужд размещаемых данных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Управление памятью в блоках с данными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12. Настройки операций ввода/вывода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Ручная настройка для всех версий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Выбор варианта RAID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Автонастройка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и управление в версиях 10+</a:t>
            </a:r>
          </a:p>
        </p:txBody>
      </p:sp>
    </p:spTree>
    <p:extLst>
      <p:ext uri="{BB962C8B-B14F-4D97-AF65-F5344CB8AC3E}">
        <p14:creationId xmlns:p14="http://schemas.microsoft.com/office/powerpoint/2010/main" val="3907110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build="p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Заголовок 1"/>
          <p:cNvSpPr>
            <a:spLocks noGrp="1"/>
          </p:cNvSpPr>
          <p:nvPr>
            <p:ph type="title"/>
          </p:nvPr>
        </p:nvSpPr>
        <p:spPr>
          <a:xfrm>
            <a:off x="248652" y="208548"/>
            <a:ext cx="8646695" cy="671444"/>
          </a:xfrm>
        </p:spPr>
        <p:txBody>
          <a:bodyPr/>
          <a:lstStyle/>
          <a:p>
            <a:pPr algn="ctr"/>
            <a:r>
              <a:rPr lang="ru-RU" altLang="ru-RU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Программа курса "Администрирование баз данных </a:t>
            </a:r>
            <a:r>
              <a:rPr lang="ru-RU" altLang="ru-RU" sz="1400" b="1" dirty="0" err="1">
                <a:solidFill>
                  <a:srgbClr val="000000"/>
                </a:solidFill>
                <a:latin typeface="Verdana" panose="020B0604030504040204" pitchFamily="34" charset="0"/>
              </a:rPr>
              <a:t>Oracle</a:t>
            </a:r>
            <a:r>
              <a:rPr lang="ru-RU" altLang="ru-RU" sz="1400" b="1" dirty="0">
                <a:solidFill>
                  <a:srgbClr val="000000"/>
                </a:solidFill>
                <a:latin typeface="Verdana" panose="020B0604030504040204" pitchFamily="34" charset="0"/>
              </a:rPr>
              <a:t>"</a:t>
            </a:r>
            <a:endParaRPr lang="ru-RU" sz="1400" dirty="0">
              <a:solidFill>
                <a:schemeClr val="bg2"/>
              </a:solidFill>
            </a:endParaRPr>
          </a:p>
        </p:txBody>
      </p:sp>
      <p:sp>
        <p:nvSpPr>
          <p:cNvPr id="6148" name="Номер слайда 13"/>
          <p:cNvSpPr>
            <a:spLocks noGrp="1"/>
          </p:cNvSpPr>
          <p:nvPr>
            <p:ph type="sldNum" sz="quarter" idx="11"/>
          </p:nvPr>
        </p:nvSpPr>
        <p:spPr>
          <a:noFill/>
          <a:ln>
            <a:miter lim="800000"/>
            <a:headEnd/>
            <a:tailEnd/>
          </a:ln>
        </p:spPr>
        <p:txBody>
          <a:bodyPr/>
          <a:lstStyle/>
          <a:p>
            <a:fld id="{9C7C7959-7F65-4F01-9D82-EDC21A55D3B9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C417F26-7D75-4858-9549-AE58E237FC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106" y="846224"/>
            <a:ext cx="8744894" cy="571436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25392" rIns="9144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13. Резервное копирование и восстановление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Виды резервного копирования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Физическое резервирование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Логическое резервирование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Резервирование изменений (частичное)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Холодное/горячее резервирование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Режим ARCHIVELOG работы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Основные сценарии физического резервирования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Холодное резервирование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Пример автоматизации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Включение режима архивирования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Горячее резервирование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Резервирование журнальных файлов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Основные сценарии восстановления на физическом уровне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Восстановление по полной холодной копии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Общая схема восстановления с использованием архивных копий журналов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Восстановление всей БД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Восстановление данных табличного пространства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Пробное восстановление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Режим </a:t>
            </a:r>
            <a:r>
              <a:rPr kumimoji="0" lang="ru-RU" altLang="ru-RU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автовосстановления</a:t>
            </a:r>
            <a:endParaRPr kumimoji="0" lang="ru-RU" altLang="ru-RU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Физическое копирование и восстановление с помощью RMAN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Пример копирования и восстановления базы данных</a:t>
            </a:r>
          </a:p>
          <a:p>
            <a:pPr marL="742950" lvl="1" indent="-285750" eaLnBrk="0" hangingPunct="0">
              <a:lnSpc>
                <a:spcPct val="10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v"/>
            </a:pPr>
            <a:r>
              <a:rPr kumimoji="0" lang="ru-RU" altLang="ru-RU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Другие примеры</a:t>
            </a:r>
          </a:p>
        </p:txBody>
      </p:sp>
    </p:spTree>
    <p:extLst>
      <p:ext uri="{BB962C8B-B14F-4D97-AF65-F5344CB8AC3E}">
        <p14:creationId xmlns:p14="http://schemas.microsoft.com/office/powerpoint/2010/main" val="40711711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Shape 1"/>
          <p:cNvSpPr txBox="1"/>
          <p:nvPr/>
        </p:nvSpPr>
        <p:spPr>
          <a:xfrm>
            <a:off x="248760" y="208440"/>
            <a:ext cx="8646480" cy="671040"/>
          </a:xfrm>
          <a:prstGeom prst="rect">
            <a:avLst/>
          </a:prstGeom>
          <a:noFill/>
          <a:ln w="9360">
            <a:noFill/>
          </a:ln>
        </p:spPr>
        <p:txBody>
          <a:bodyPr anchor="ctr"/>
          <a:lstStyle/>
          <a:p>
            <a:pPr algn="ctr">
              <a:lnSpc>
                <a:spcPct val="100000"/>
              </a:lnSpc>
            </a:pPr>
            <a:r>
              <a:rPr lang="ru-RU" sz="1600" b="1" strike="noStrike" dirty="0">
                <a:solidFill>
                  <a:srgbClr val="000000"/>
                </a:solidFill>
                <a:latin typeface="Verdana"/>
              </a:rPr>
              <a:t>Программа курса "DBA1 - Администрирование </a:t>
            </a:r>
            <a:r>
              <a:rPr lang="ru-RU" sz="1600" b="1" strike="noStrike" dirty="0" err="1">
                <a:solidFill>
                  <a:srgbClr val="000000"/>
                </a:solidFill>
                <a:latin typeface="Verdana"/>
              </a:rPr>
              <a:t>PostgreSQL</a:t>
            </a:r>
            <a:r>
              <a:rPr lang="ru-RU" sz="1600" b="1" strike="noStrike" dirty="0">
                <a:solidFill>
                  <a:srgbClr val="000000"/>
                </a:solidFill>
                <a:latin typeface="Verdana"/>
              </a:rPr>
              <a:t>. 
Базовый курс (</a:t>
            </a:r>
            <a:r>
              <a:rPr lang="ru-RU" sz="1600" b="1" strike="noStrike" dirty="0" err="1">
                <a:solidFill>
                  <a:srgbClr val="000000"/>
                </a:solidFill>
                <a:latin typeface="Verdana"/>
              </a:rPr>
              <a:t>Postgres</a:t>
            </a:r>
            <a:r>
              <a:rPr lang="ru-RU" sz="1600" b="1" strike="noStrike" dirty="0">
                <a:solidFill>
                  <a:srgbClr val="000000"/>
                </a:solidFill>
                <a:latin typeface="Verdana"/>
              </a:rPr>
              <a:t> </a:t>
            </a:r>
            <a:r>
              <a:rPr lang="ru-RU" sz="1600" b="1" strike="noStrike" dirty="0" err="1">
                <a:solidFill>
                  <a:srgbClr val="000000"/>
                </a:solidFill>
                <a:latin typeface="Verdana"/>
              </a:rPr>
              <a:t>Professional</a:t>
            </a:r>
            <a:r>
              <a:rPr lang="ru-RU" sz="1600" b="1" strike="noStrike" dirty="0">
                <a:solidFill>
                  <a:srgbClr val="000000"/>
                </a:solidFill>
                <a:latin typeface="Verdana"/>
              </a:rPr>
              <a:t>)" </a:t>
            </a:r>
            <a:r>
              <a:rPr lang="ru-RU" sz="1400" strike="noStrike" dirty="0">
                <a:solidFill>
                  <a:srgbClr val="000000"/>
                </a:solidFill>
                <a:latin typeface="Arial"/>
              </a:rPr>
              <a:t>https://www.specialist.ru/course/dba1 </a:t>
            </a:r>
            <a:endParaRPr dirty="0"/>
          </a:p>
        </p:txBody>
      </p:sp>
      <p:sp>
        <p:nvSpPr>
          <p:cNvPr id="249" name="TextShape 2"/>
          <p:cNvSpPr txBox="1"/>
          <p:nvPr/>
        </p:nvSpPr>
        <p:spPr>
          <a:xfrm>
            <a:off x="914400" y="2585544"/>
            <a:ext cx="9474715" cy="2468135"/>
          </a:xfrm>
          <a:prstGeom prst="rect">
            <a:avLst/>
          </a:prstGeom>
          <a:noFill/>
          <a:ln w="9360">
            <a:noFill/>
          </a:ln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400" b="1" strike="noStrike">
                <a:solidFill>
                  <a:srgbClr val="000000"/>
                </a:solidFill>
                <a:latin typeface="Arial"/>
              </a:rPr>
              <a:t>   </a:t>
            </a:r>
            <a:endParaRPr/>
          </a:p>
        </p:txBody>
      </p:sp>
      <p:sp>
        <p:nvSpPr>
          <p:cNvPr id="250" name="TextShape 3"/>
          <p:cNvSpPr txBox="1"/>
          <p:nvPr/>
        </p:nvSpPr>
        <p:spPr>
          <a:xfrm>
            <a:off x="8161866" y="6248520"/>
            <a:ext cx="524573" cy="456840"/>
          </a:xfrm>
          <a:prstGeom prst="rect">
            <a:avLst/>
          </a:prstGeom>
          <a:noFill/>
          <a:ln>
            <a:noFill/>
          </a:ln>
        </p:spPr>
        <p:txBody>
          <a:bodyPr anchor="b"/>
          <a:lstStyle/>
          <a:p>
            <a:pPr>
              <a:lnSpc>
                <a:spcPct val="100000"/>
              </a:lnSpc>
            </a:pPr>
            <a:fld id="{074A4F2B-4489-4525-898A-450E774482BB}" type="slidenum">
              <a:rPr lang="ru-RU" sz="1200" strike="noStrike">
                <a:solidFill>
                  <a:srgbClr val="000000"/>
                </a:solidFill>
                <a:latin typeface="Arial Black"/>
              </a:rPr>
              <a:t>39</a:t>
            </a:fld>
            <a:endParaRPr/>
          </a:p>
        </p:txBody>
      </p:sp>
      <p:sp>
        <p:nvSpPr>
          <p:cNvPr id="251" name="CustomShape 4"/>
          <p:cNvSpPr/>
          <p:nvPr/>
        </p:nvSpPr>
        <p:spPr>
          <a:xfrm>
            <a:off x="124380" y="879480"/>
            <a:ext cx="8895240" cy="560177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5560" bIns="25560" anchor="ctr">
            <a:normAutofit/>
          </a:bodyPr>
          <a:lstStyle/>
          <a:p>
            <a:pPr>
              <a:lnSpc>
                <a:spcPct val="120000"/>
              </a:lnSpc>
            </a:pPr>
            <a:r>
              <a:rPr lang="ru-RU" sz="1200" dirty="0"/>
              <a:t>Предварительная подготовка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Требуемая подготовка: Успешное окончание курса Основы программирования и баз данных или эквивалентная подготовка. Успешное окончание курса </a:t>
            </a:r>
            <a:r>
              <a:rPr lang="ru-RU" sz="1200" dirty="0" err="1"/>
              <a:t>Linux</a:t>
            </a:r>
            <a:r>
              <a:rPr lang="ru-RU" sz="1200" dirty="0"/>
              <a:t>. Уровень 1. Основы администрирования систем </a:t>
            </a:r>
            <a:r>
              <a:rPr lang="ru-RU" sz="1200" dirty="0" err="1"/>
              <a:t>Debian</a:t>
            </a:r>
            <a:r>
              <a:rPr lang="ru-RU" sz="1200" dirty="0"/>
              <a:t>, </a:t>
            </a:r>
            <a:r>
              <a:rPr lang="ru-RU" sz="1200" dirty="0" err="1"/>
              <a:t>Ubuntu</a:t>
            </a:r>
            <a:r>
              <a:rPr lang="ru-RU" sz="1200" dirty="0"/>
              <a:t>, </a:t>
            </a:r>
            <a:r>
              <a:rPr lang="ru-RU" sz="1200" dirty="0" err="1"/>
              <a:t>CentOS</a:t>
            </a:r>
            <a:r>
              <a:rPr lang="ru-RU" sz="1200" dirty="0"/>
              <a:t> или эквивалентная подготовка.</a:t>
            </a:r>
          </a:p>
          <a:p>
            <a:pPr>
              <a:lnSpc>
                <a:spcPct val="120000"/>
              </a:lnSpc>
            </a:pPr>
            <a:r>
              <a:rPr lang="ru-RU" sz="1200"/>
              <a:t>Программа </a:t>
            </a:r>
            <a:r>
              <a:rPr lang="ru-RU" sz="1200" dirty="0"/>
              <a:t>курса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1. Введение  (2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2. Базовый инструментарий  (2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3. Архитектура  (4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4. Организация данных  (4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5. Задачи администрирования  (4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6. Управление доступом  (4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7. Резервное копирование  (2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Модуль 8. Репликация  (2 </a:t>
            </a:r>
            <a:r>
              <a:rPr lang="ru-RU" sz="1200" dirty="0" err="1"/>
              <a:t>ак</a:t>
            </a:r>
            <a:r>
              <a:rPr lang="ru-RU" sz="1200" dirty="0"/>
              <a:t>. ч.)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Аудиторная нагрузка в классе с преподавателем: 24 </a:t>
            </a:r>
            <a:r>
              <a:rPr lang="ru-RU" sz="1200" dirty="0" err="1"/>
              <a:t>ак</a:t>
            </a:r>
            <a:r>
              <a:rPr lang="ru-RU" sz="1200" dirty="0"/>
              <a:t>. ч. + 12 </a:t>
            </a:r>
            <a:r>
              <a:rPr lang="ru-RU" sz="1200" dirty="0" err="1"/>
              <a:t>ак</a:t>
            </a:r>
            <a:r>
              <a:rPr lang="ru-RU" sz="1200" dirty="0"/>
              <a:t>. ч. бесплатно*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* По данному курсу бесплатно предоставляются дополнительные часы для самостоятельной работы в компьютерных классах Центра, где проводятся занятия. Вы можете закрепить полученные знания, выполнить домашние задания, проконсультироваться у специалистов Центра. Дополнительные часы предоставляются в дни занятий по предварительному согласованию с администратором комплекса.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    утренним группам с 9:00 до 10:00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    дневным группам - по 1 </a:t>
            </a:r>
            <a:r>
              <a:rPr lang="ru-RU" sz="1200" dirty="0" err="1"/>
              <a:t>ак.ч</a:t>
            </a:r>
            <a:r>
              <a:rPr lang="ru-RU" sz="1200" dirty="0"/>
              <a:t>. до и после занятий (13.15-14.00, 17.10-17.55)</a:t>
            </a:r>
          </a:p>
          <a:p>
            <a:pPr>
              <a:lnSpc>
                <a:spcPct val="120000"/>
              </a:lnSpc>
            </a:pPr>
            <a:r>
              <a:rPr lang="ru-RU" sz="1200" dirty="0"/>
              <a:t>По окончании обучения на курсе проводится итоговая аттестация. Аттестация проводится в виде теста на последнем занятии или на основании оценок практических работ, выполняемых во время обучения на курсе.</a:t>
            </a:r>
          </a:p>
        </p:txBody>
      </p:sp>
    </p:spTree>
    <p:extLst>
      <p:ext uri="{BB962C8B-B14F-4D97-AF65-F5344CB8AC3E}">
        <p14:creationId xmlns:p14="http://schemas.microsoft.com/office/powerpoint/2010/main" val="982885773"/>
      </p:ext>
    </p:extLst>
  </p:cSld>
  <p:clrMapOvr>
    <a:masterClrMapping/>
  </p:clrMapOvr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out" filter="wipe(down)">
                                      <p:cBhvr additive="repl">
                                        <p:cTn id="7" dur="500"/>
                                        <p:tgtEl>
                                          <p:spTgt spid="2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Пиксел">
  <a:themeElements>
    <a:clrScheme name="Пиксел 12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Пиксел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Пиксел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Пиксел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Пиксел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Pixel</Template>
  <TotalTime>3058</TotalTime>
  <Words>3506</Words>
  <Application>Microsoft Office PowerPoint</Application>
  <PresentationFormat>Экран (4:3)</PresentationFormat>
  <Paragraphs>484</Paragraphs>
  <Slides>39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39</vt:i4>
      </vt:variant>
    </vt:vector>
  </HeadingPairs>
  <TitlesOfParts>
    <vt:vector size="46" baseType="lpstr">
      <vt:lpstr>Arial</vt:lpstr>
      <vt:lpstr>Arial Black</vt:lpstr>
      <vt:lpstr>Calibri</vt:lpstr>
      <vt:lpstr>Times New Roman</vt:lpstr>
      <vt:lpstr>Verdana</vt:lpstr>
      <vt:lpstr>Wingdings</vt:lpstr>
      <vt:lpstr>Пиксел</vt:lpstr>
      <vt:lpstr>Администрирование  баз данных</vt:lpstr>
      <vt:lpstr>План</vt:lpstr>
      <vt:lpstr>Роль персонала </vt:lpstr>
      <vt:lpstr>Кто такой Администратор Баз Данных?</vt:lpstr>
      <vt:lpstr>Кто такой Администратор Баз Данных?</vt:lpstr>
      <vt:lpstr>Кто такой Администратор Баз Данных?</vt:lpstr>
      <vt:lpstr>Кто такой Администратор Баз Данных?</vt:lpstr>
      <vt:lpstr>Классические подходы и  практические коллизии</vt:lpstr>
      <vt:lpstr>Классические подходы</vt:lpstr>
      <vt:lpstr>Классические подходы</vt:lpstr>
      <vt:lpstr>Классические подходы</vt:lpstr>
      <vt:lpstr>Современные условия работы АБД</vt:lpstr>
      <vt:lpstr>Современные условия работы АБД</vt:lpstr>
      <vt:lpstr>Современные условия работы АБД</vt:lpstr>
      <vt:lpstr>Современные условия работы АБД</vt:lpstr>
      <vt:lpstr>Современные условия работы АБД</vt:lpstr>
      <vt:lpstr>Современные условия работы АБД</vt:lpstr>
      <vt:lpstr>Современные условия работы АБД</vt:lpstr>
      <vt:lpstr>Виды и роли АБД </vt:lpstr>
      <vt:lpstr>Виды и роли АБД </vt:lpstr>
      <vt:lpstr>Виды и роли АБД </vt:lpstr>
      <vt:lpstr>Функции группы АБД </vt:lpstr>
      <vt:lpstr>Вариант Заказы</vt:lpstr>
      <vt:lpstr>Вариант Заказы</vt:lpstr>
      <vt:lpstr>Классификация АБД</vt:lpstr>
      <vt:lpstr>Классификация АБД</vt:lpstr>
      <vt:lpstr>Классификация АБД</vt:lpstr>
      <vt:lpstr>Классификация АБД</vt:lpstr>
      <vt:lpstr>Классификация АБД</vt:lpstr>
      <vt:lpstr>Классификация АБД</vt:lpstr>
      <vt:lpstr>В чем нуждается администратор БД?</vt:lpstr>
      <vt:lpstr>Сколько нужно администраторов БД?</vt:lpstr>
      <vt:lpstr>Программа курса "Администрирование баз данных Oracle"</vt:lpstr>
      <vt:lpstr>Программа курса "Администрирование баз данных Oracle"</vt:lpstr>
      <vt:lpstr>Программа курса "Администрирование баз данных Oracle"</vt:lpstr>
      <vt:lpstr>Программа курса "Администрирование баз данных Oracle"</vt:lpstr>
      <vt:lpstr>Программа курса "Администрирование баз данных Oracle"</vt:lpstr>
      <vt:lpstr>Программа курса "Администрирование баз данных Oracle"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Реляционная модель</dc:title>
  <dc:creator>Борис</dc:creator>
  <cp:lastModifiedBy>Борис Николаевич Пищик</cp:lastModifiedBy>
  <cp:revision>270</cp:revision>
  <dcterms:created xsi:type="dcterms:W3CDTF">2012-10-04T16:47:37Z</dcterms:created>
  <dcterms:modified xsi:type="dcterms:W3CDTF">2022-05-10T05:34:50Z</dcterms:modified>
</cp:coreProperties>
</file>