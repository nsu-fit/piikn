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8.xml" ContentType="application/vnd.openxmlformats-officedocument.presentationml.tags+xml"/>
  <Override PartName="/ppt/notesSlides/notesSlide1.xml" ContentType="application/vnd.openxmlformats-officedocument.presentationml.notesSlide+xml"/>
  <Override PartName="/ppt/tags/tag39.xml" ContentType="application/vnd.openxmlformats-officedocument.presentationml.tags+xml"/>
  <Override PartName="/ppt/notesSlides/notesSlide2.xml" ContentType="application/vnd.openxmlformats-officedocument.presentationml.notesSlide+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notesSlides/notesSlide7.xml" ContentType="application/vnd.openxmlformats-officedocument.presentationml.notesSlide+xml"/>
  <Override PartName="/ppt/tags/tag47.xml" ContentType="application/vnd.openxmlformats-officedocument.presentationml.tags+xml"/>
  <Override PartName="/ppt/notesSlides/notesSlide8.xml" ContentType="application/vnd.openxmlformats-officedocument.presentationml.notesSlide+xml"/>
  <Override PartName="/ppt/tags/tag48.xml" ContentType="application/vnd.openxmlformats-officedocument.presentationml.tags+xml"/>
  <Override PartName="/ppt/notesSlides/notesSlide9.xml" ContentType="application/vnd.openxmlformats-officedocument.presentationml.notesSlide+xml"/>
  <Override PartName="/ppt/tags/tag49.xml" ContentType="application/vnd.openxmlformats-officedocument.presentationml.tags+xml"/>
  <Override PartName="/ppt/notesSlides/notesSlide10.xml" ContentType="application/vnd.openxmlformats-officedocument.presentationml.notesSlide+xml"/>
  <Override PartName="/ppt/tags/tag50.xml" ContentType="application/vnd.openxmlformats-officedocument.presentationml.tags+xml"/>
  <Override PartName="/ppt/notesSlides/notesSlide11.xml" ContentType="application/vnd.openxmlformats-officedocument.presentationml.notesSlide+xml"/>
  <Override PartName="/ppt/tags/tag51.xml" ContentType="application/vnd.openxmlformats-officedocument.presentationml.tags+xml"/>
  <Override PartName="/ppt/notesSlides/notesSlide12.xml" ContentType="application/vnd.openxmlformats-officedocument.presentationml.notesSlide+xml"/>
  <Override PartName="/ppt/tags/tag52.xml" ContentType="application/vnd.openxmlformats-officedocument.presentationml.tags+xml"/>
  <Override PartName="/ppt/notesSlides/notesSlide13.xml" ContentType="application/vnd.openxmlformats-officedocument.presentationml.notesSlide+xml"/>
  <Override PartName="/ppt/tags/tag53.xml" ContentType="application/vnd.openxmlformats-officedocument.presentationml.tags+xml"/>
  <Override PartName="/ppt/notesSlides/notesSlide14.xml" ContentType="application/vnd.openxmlformats-officedocument.presentationml.notesSlide+xml"/>
  <Override PartName="/ppt/tags/tag54.xml" ContentType="application/vnd.openxmlformats-officedocument.presentationml.tags+xml"/>
  <Override PartName="/ppt/notesSlides/notesSlide15.xml" ContentType="application/vnd.openxmlformats-officedocument.presentationml.notesSlide+xml"/>
  <Override PartName="/ppt/tags/tag55.xml" ContentType="application/vnd.openxmlformats-officedocument.presentationml.tags+xml"/>
  <Override PartName="/ppt/notesSlides/notesSlide16.xml" ContentType="application/vnd.openxmlformats-officedocument.presentationml.notesSlide+xml"/>
  <Override PartName="/ppt/tags/tag56.xml" ContentType="application/vnd.openxmlformats-officedocument.presentationml.tags+xml"/>
  <Override PartName="/ppt/notesSlides/notesSlide17.xml" ContentType="application/vnd.openxmlformats-officedocument.presentationml.notesSlide+xml"/>
  <Override PartName="/ppt/tags/tag57.xml" ContentType="application/vnd.openxmlformats-officedocument.presentationml.tags+xml"/>
  <Override PartName="/ppt/notesSlides/notesSlide18.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9.xml" ContentType="application/vnd.openxmlformats-officedocument.presentationml.notesSlide+xml"/>
  <Override PartName="/ppt/tags/tag73.xml" ContentType="application/vnd.openxmlformats-officedocument.presentationml.tags+xml"/>
  <Override PartName="/ppt/notesSlides/notesSlide20.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21.xml" ContentType="application/vnd.openxmlformats-officedocument.presentationml.notesSlide+xml"/>
  <Override PartName="/ppt/tags/tag80.xml" ContentType="application/vnd.openxmlformats-officedocument.presentationml.tags+xml"/>
  <Override PartName="/ppt/notesSlides/notesSlide22.xml" ContentType="application/vnd.openxmlformats-officedocument.presentationml.notesSlide+xml"/>
  <Override PartName="/ppt/tags/tag81.xml" ContentType="application/vnd.openxmlformats-officedocument.presentationml.tags+xml"/>
  <Override PartName="/ppt/notesSlides/notesSlide23.xml" ContentType="application/vnd.openxmlformats-officedocument.presentationml.notesSlide+xml"/>
  <Override PartName="/ppt/tags/tag82.xml" ContentType="application/vnd.openxmlformats-officedocument.presentationml.tags+xml"/>
  <Override PartName="/ppt/notesSlides/notesSlide24.xml" ContentType="application/vnd.openxmlformats-officedocument.presentationml.notesSlide+xml"/>
  <Override PartName="/ppt/tags/tag83.xml" ContentType="application/vnd.openxmlformats-officedocument.presentationml.tags+xml"/>
  <Override PartName="/ppt/notesSlides/notesSlide25.xml" ContentType="application/vnd.openxmlformats-officedocument.presentationml.notesSlide+xml"/>
  <Override PartName="/ppt/tags/tag84.xml" ContentType="application/vnd.openxmlformats-officedocument.presentationml.tags+xml"/>
  <Override PartName="/ppt/notesSlides/notesSlide26.xml" ContentType="application/vnd.openxmlformats-officedocument.presentationml.notesSlide+xml"/>
  <Override PartName="/ppt/tags/tag85.xml" ContentType="application/vnd.openxmlformats-officedocument.presentationml.tags+xml"/>
  <Override PartName="/ppt/notesSlides/notesSlide27.xml" ContentType="application/vnd.openxmlformats-officedocument.presentationml.notesSlide+xml"/>
  <Override PartName="/ppt/tags/tag86.xml" ContentType="application/vnd.openxmlformats-officedocument.presentationml.tags+xml"/>
  <Override PartName="/ppt/notesSlides/notesSlide28.xml" ContentType="application/vnd.openxmlformats-officedocument.presentationml.notesSlide+xml"/>
  <Override PartName="/ppt/tags/tag87.xml" ContentType="application/vnd.openxmlformats-officedocument.presentationml.tags+xml"/>
  <Override PartName="/ppt/notesSlides/notesSlide29.xml" ContentType="application/vnd.openxmlformats-officedocument.presentationml.notesSlide+xml"/>
  <Override PartName="/ppt/tags/tag88.xml" ContentType="application/vnd.openxmlformats-officedocument.presentationml.tags+xml"/>
  <Override PartName="/ppt/notesSlides/notesSlide30.xml" ContentType="application/vnd.openxmlformats-officedocument.presentationml.notesSlide+xml"/>
  <Override PartName="/ppt/tags/tag89.xml" ContentType="application/vnd.openxmlformats-officedocument.presentationml.tags+xml"/>
  <Override PartName="/ppt/notesSlides/notesSlide31.xml" ContentType="application/vnd.openxmlformats-officedocument.presentationml.notesSlide+xml"/>
  <Override PartName="/ppt/tags/tag90.xml" ContentType="application/vnd.openxmlformats-officedocument.presentationml.tags+xml"/>
  <Override PartName="/ppt/notesSlides/notesSlide32.xml" ContentType="application/vnd.openxmlformats-officedocument.presentationml.notesSlide+xml"/>
  <Override PartName="/ppt/tags/tag91.xml" ContentType="application/vnd.openxmlformats-officedocument.presentationml.tags+xml"/>
  <Override PartName="/ppt/notesSlides/notesSlide33.xml" ContentType="application/vnd.openxmlformats-officedocument.presentationml.notesSlide+xml"/>
  <Override PartName="/ppt/tags/tag92.xml" ContentType="application/vnd.openxmlformats-officedocument.presentationml.tags+xml"/>
  <Override PartName="/ppt/notesSlides/notesSlide34.xml" ContentType="application/vnd.openxmlformats-officedocument.presentationml.notesSlide+xml"/>
  <Override PartName="/ppt/tags/tag93.xml" ContentType="application/vnd.openxmlformats-officedocument.presentationml.tags+xml"/>
  <Override PartName="/ppt/notesSlides/notesSlide35.xml" ContentType="application/vnd.openxmlformats-officedocument.presentationml.notesSlide+xml"/>
  <Override PartName="/ppt/tags/tag94.xml" ContentType="application/vnd.openxmlformats-officedocument.presentationml.tags+xml"/>
  <Override PartName="/ppt/notesSlides/notesSlide36.xml" ContentType="application/vnd.openxmlformats-officedocument.presentationml.notesSlide+xml"/>
  <Override PartName="/ppt/tags/tag95.xml" ContentType="application/vnd.openxmlformats-officedocument.presentationml.tags+xml"/>
  <Override PartName="/ppt/notesSlides/notesSlide37.xml" ContentType="application/vnd.openxmlformats-officedocument.presentationml.notesSlide+xml"/>
  <Override PartName="/ppt/tags/tag96.xml" ContentType="application/vnd.openxmlformats-officedocument.presentationml.tags+xml"/>
  <Override PartName="/ppt/notesSlides/notesSlide38.xml" ContentType="application/vnd.openxmlformats-officedocument.presentationml.notesSlide+xml"/>
  <Override PartName="/ppt/tags/tag97.xml" ContentType="application/vnd.openxmlformats-officedocument.presentationml.tags+xml"/>
  <Override PartName="/ppt/notesSlides/notesSlide39.xml" ContentType="application/vnd.openxmlformats-officedocument.presentationml.notesSlide+xml"/>
  <Override PartName="/ppt/tags/tag98.xml" ContentType="application/vnd.openxmlformats-officedocument.presentationml.tags+xml"/>
  <Override PartName="/ppt/notesSlides/notesSlide40.xml" ContentType="application/vnd.openxmlformats-officedocument.presentationml.notesSlide+xml"/>
  <Override PartName="/ppt/tags/tag99.xml" ContentType="application/vnd.openxmlformats-officedocument.presentationml.tags+xml"/>
  <Override PartName="/ppt/notesSlides/notesSlide41.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notesSlides/notesSlide42.xml" ContentType="application/vnd.openxmlformats-officedocument.presentationml.notesSlide+xml"/>
  <Override PartName="/ppt/tags/tag127.xml" ContentType="application/vnd.openxmlformats-officedocument.presentationml.tags+xml"/>
  <Override PartName="/ppt/notesSlides/notesSlide43.xml" ContentType="application/vnd.openxmlformats-officedocument.presentationml.notesSlide+xml"/>
  <Override PartName="/ppt/tags/tag128.xml" ContentType="application/vnd.openxmlformats-officedocument.presentationml.tags+xml"/>
  <Override PartName="/ppt/notesSlides/notesSlide44.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45.xml" ContentType="application/vnd.openxmlformats-officedocument.presentationml.notesSlide+xml"/>
  <Override PartName="/ppt/tags/tag133.xml" ContentType="application/vnd.openxmlformats-officedocument.presentationml.tags+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 id="2147483776" r:id="rId2"/>
  </p:sldMasterIdLst>
  <p:notesMasterIdLst>
    <p:notesMasterId r:id="rId49"/>
  </p:notesMasterIdLst>
  <p:handoutMasterIdLst>
    <p:handoutMasterId r:id="rId50"/>
  </p:handoutMasterIdLst>
  <p:sldIdLst>
    <p:sldId id="403" r:id="rId3"/>
    <p:sldId id="404" r:id="rId4"/>
    <p:sldId id="391" r:id="rId5"/>
    <p:sldId id="392" r:id="rId6"/>
    <p:sldId id="313" r:id="rId7"/>
    <p:sldId id="314" r:id="rId8"/>
    <p:sldId id="330" r:id="rId9"/>
    <p:sldId id="334" r:id="rId10"/>
    <p:sldId id="336" r:id="rId11"/>
    <p:sldId id="337" r:id="rId12"/>
    <p:sldId id="338" r:id="rId13"/>
    <p:sldId id="339" r:id="rId14"/>
    <p:sldId id="340" r:id="rId15"/>
    <p:sldId id="341" r:id="rId16"/>
    <p:sldId id="399" r:id="rId17"/>
    <p:sldId id="400" r:id="rId18"/>
    <p:sldId id="398" r:id="rId19"/>
    <p:sldId id="397" r:id="rId20"/>
    <p:sldId id="342" r:id="rId21"/>
    <p:sldId id="344" r:id="rId22"/>
    <p:sldId id="402" r:id="rId23"/>
    <p:sldId id="346" r:id="rId24"/>
    <p:sldId id="319" r:id="rId25"/>
    <p:sldId id="359" r:id="rId26"/>
    <p:sldId id="351" r:id="rId27"/>
    <p:sldId id="353" r:id="rId28"/>
    <p:sldId id="354" r:id="rId29"/>
    <p:sldId id="361" r:id="rId30"/>
    <p:sldId id="362" r:id="rId31"/>
    <p:sldId id="363" r:id="rId32"/>
    <p:sldId id="364" r:id="rId33"/>
    <p:sldId id="365" r:id="rId34"/>
    <p:sldId id="366" r:id="rId35"/>
    <p:sldId id="367" r:id="rId36"/>
    <p:sldId id="368" r:id="rId37"/>
    <p:sldId id="371" r:id="rId38"/>
    <p:sldId id="373" r:id="rId39"/>
    <p:sldId id="381" r:id="rId40"/>
    <p:sldId id="382" r:id="rId41"/>
    <p:sldId id="375" r:id="rId42"/>
    <p:sldId id="374" r:id="rId43"/>
    <p:sldId id="393" r:id="rId44"/>
    <p:sldId id="358" r:id="rId45"/>
    <p:sldId id="405" r:id="rId46"/>
    <p:sldId id="408" r:id="rId47"/>
    <p:sldId id="407" r:id="rId48"/>
  </p:sldIdLst>
  <p:sldSz cx="9144000" cy="5143500" type="screen16x9"/>
  <p:notesSz cx="6858000" cy="9144000"/>
  <p:custDataLst>
    <p:tags r:id="rId5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A80B836-2ACD-46B5-8224-084E4DD43563}">
          <p14:sldIdLst>
            <p14:sldId id="403"/>
            <p14:sldId id="404"/>
            <p14:sldId id="391"/>
            <p14:sldId id="392"/>
            <p14:sldId id="313"/>
            <p14:sldId id="314"/>
            <p14:sldId id="330"/>
            <p14:sldId id="334"/>
            <p14:sldId id="336"/>
            <p14:sldId id="337"/>
            <p14:sldId id="338"/>
            <p14:sldId id="339"/>
            <p14:sldId id="340"/>
            <p14:sldId id="341"/>
            <p14:sldId id="399"/>
            <p14:sldId id="400"/>
            <p14:sldId id="398"/>
            <p14:sldId id="397"/>
            <p14:sldId id="342"/>
            <p14:sldId id="344"/>
            <p14:sldId id="402"/>
            <p14:sldId id="346"/>
            <p14:sldId id="319"/>
            <p14:sldId id="359"/>
            <p14:sldId id="351"/>
            <p14:sldId id="353"/>
            <p14:sldId id="354"/>
            <p14:sldId id="361"/>
            <p14:sldId id="362"/>
            <p14:sldId id="363"/>
            <p14:sldId id="364"/>
            <p14:sldId id="365"/>
            <p14:sldId id="366"/>
            <p14:sldId id="367"/>
            <p14:sldId id="368"/>
            <p14:sldId id="371"/>
            <p14:sldId id="373"/>
            <p14:sldId id="381"/>
            <p14:sldId id="382"/>
            <p14:sldId id="375"/>
            <p14:sldId id="374"/>
            <p14:sldId id="393"/>
            <p14:sldId id="358"/>
            <p14:sldId id="405"/>
            <p14:sldId id="408"/>
            <p14:sldId id="407"/>
          </p14:sldIdLst>
        </p14:section>
      </p14:sectionLst>
    </p:ext>
    <p:ext uri="{EFAFB233-063F-42B5-8137-9DF3F51BA10A}">
      <p15:sldGuideLst xmlns:p15="http://schemas.microsoft.com/office/powerpoint/2012/main">
        <p15:guide id="1" orient="horz" pos="3156">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MC" initials="E"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5B5E61"/>
    <a:srgbClr val="717074"/>
    <a:srgbClr val="CDDDF2"/>
    <a:srgbClr val="E8EFF9"/>
    <a:srgbClr val="339933"/>
    <a:srgbClr val="BA3030"/>
    <a:srgbClr val="8E908F"/>
    <a:srgbClr val="9D9FA2"/>
    <a:srgbClr val="828381"/>
    <a:srgbClr val="A5A6A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18" autoAdjust="0"/>
    <p:restoredTop sz="65052" autoAdjust="0"/>
  </p:normalViewPr>
  <p:slideViewPr>
    <p:cSldViewPr showGuides="1">
      <p:cViewPr varScale="1">
        <p:scale>
          <a:sx n="68" d="100"/>
          <a:sy n="68" d="100"/>
        </p:scale>
        <p:origin x="840" y="66"/>
      </p:cViewPr>
      <p:guideLst>
        <p:guide orient="horz" pos="3156"/>
        <p:guide orient="horz" pos="229"/>
        <p:guide pos="2879"/>
      </p:guideLst>
    </p:cSldViewPr>
  </p:slideViewPr>
  <p:outlineViewPr>
    <p:cViewPr>
      <p:scale>
        <a:sx n="33" d="100"/>
        <a:sy n="33" d="100"/>
      </p:scale>
      <p:origin x="0" y="648"/>
    </p:cViewPr>
  </p:outlineViewPr>
  <p:notesTextViewPr>
    <p:cViewPr>
      <p:scale>
        <a:sx n="100" d="100"/>
        <a:sy n="100" d="100"/>
      </p:scale>
      <p:origin x="0" y="0"/>
    </p:cViewPr>
  </p:notesTextViewPr>
  <p:sorterViewPr>
    <p:cViewPr>
      <p:scale>
        <a:sx n="158" d="100"/>
        <a:sy n="158" d="100"/>
      </p:scale>
      <p:origin x="0" y="17706"/>
    </p:cViewPr>
  </p:sorterViewPr>
  <p:notesViewPr>
    <p:cSldViewPr snapToObjects="1" showGuides="1">
      <p:cViewPr varScale="1">
        <p:scale>
          <a:sx n="80" d="100"/>
          <a:sy n="80" d="100"/>
        </p:scale>
        <p:origin x="-1962" y="-96"/>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tags" Target="tags/tag1.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dirty="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dirty="0">
                <a:solidFill>
                  <a:srgbClr val="000000"/>
                </a:solidFill>
              </a:rPr>
              <a:t>TITLE</a:t>
            </a: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609600" y="3886200"/>
            <a:ext cx="5943600" cy="48006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p:cNvSpPr txBox="1"/>
          <p:nvPr/>
        </p:nvSpPr>
        <p:spPr>
          <a:xfrm>
            <a:off x="6446051" y="8915400"/>
            <a:ext cx="309700"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ru-RU" sz="800" smtClean="0">
                <a:latin typeface="Arial"/>
              </a:rPr>
              <a:pPr marL="0" marR="0" indent="0" algn="ctr" defTabSz="457200" rtl="0" eaLnBrk="1" fontAlgn="auto" latinLnBrk="0" hangingPunct="1">
                <a:lnSpc>
                  <a:spcPct val="100000"/>
                </a:lnSpc>
                <a:spcBef>
                  <a:spcPts val="0"/>
                </a:spcBef>
                <a:spcAft>
                  <a:spcPts val="0"/>
                </a:spcAft>
                <a:buClrTx/>
                <a:buSzTx/>
                <a:buFontTx/>
                <a:buNone/>
                <a:tabLst/>
                <a:defRPr/>
              </a:pPr>
              <a:t>‹#›</a:t>
            </a:fld>
            <a:endParaRPr lang="ru-RU" sz="800" dirty="0">
              <a:latin typeface="Arial"/>
            </a:endParaRPr>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a:solidFill>
                  <a:srgbClr val="717073"/>
                </a:solidFill>
              </a:rPr>
              <a:t> </a:t>
            </a:r>
            <a:r>
              <a:rPr lang="ru-RU" sz="600" b="0" i="0" dirty="0">
                <a:solidFill>
                  <a:srgbClr val="717073"/>
                </a:solidFill>
                <a:latin typeface="Arial"/>
              </a:rPr>
              <a:t>Корпорация</a:t>
            </a:r>
            <a:r>
              <a:rPr lang="ru-RU" sz="600" b="0" i="0" dirty="0">
                <a:solidFill>
                  <a:srgbClr val="717073"/>
                </a:solidFill>
              </a:rPr>
              <a:t> EMC, 2015 </a:t>
            </a:r>
            <a:r>
              <a:rPr lang="ru-RU" sz="600" b="0" i="0" dirty="0">
                <a:solidFill>
                  <a:srgbClr val="717073"/>
                </a:solidFill>
                <a:latin typeface="Arial"/>
              </a:rPr>
              <a:t>г</a:t>
            </a:r>
            <a:r>
              <a:rPr lang="ru-RU" sz="600" b="0" i="0" dirty="0">
                <a:solidFill>
                  <a:srgbClr val="717073"/>
                </a:solidFill>
              </a:rPr>
              <a:t>. </a:t>
            </a:r>
            <a:r>
              <a:rPr lang="ru-RU" sz="600" b="0" i="0" dirty="0">
                <a:solidFill>
                  <a:srgbClr val="717073"/>
                </a:solidFill>
                <a:latin typeface="Arial"/>
              </a:rPr>
              <a:t>Все</a:t>
            </a:r>
            <a:r>
              <a:rPr lang="ru-RU" sz="600" b="0" i="0" dirty="0">
                <a:solidFill>
                  <a:srgbClr val="717073"/>
                </a:solidFill>
              </a:rPr>
              <a:t> </a:t>
            </a:r>
            <a:r>
              <a:rPr lang="ru-RU" sz="600" b="0" i="0" dirty="0">
                <a:solidFill>
                  <a:srgbClr val="717073"/>
                </a:solidFill>
                <a:latin typeface="Arial"/>
              </a:rPr>
              <a:t>права</a:t>
            </a:r>
            <a:r>
              <a:rPr lang="ru-RU" sz="600" b="0" i="0" dirty="0">
                <a:solidFill>
                  <a:srgbClr val="717073"/>
                </a:solidFill>
              </a:rPr>
              <a:t> </a:t>
            </a:r>
            <a:r>
              <a:rPr lang="ru-RU" sz="600" b="0" i="0" dirty="0">
                <a:solidFill>
                  <a:srgbClr val="717073"/>
                </a:solidFill>
                <a:latin typeface="Arial"/>
              </a:rPr>
              <a:t>защищены</a:t>
            </a:r>
            <a:r>
              <a:rPr lang="ru-RU" sz="600" b="0" i="0" dirty="0">
                <a:solidFill>
                  <a:srgbClr val="717073"/>
                </a:solidFill>
              </a:rPr>
              <a:t>.</a:t>
            </a:r>
          </a:p>
        </p:txBody>
      </p:sp>
      <p:sp>
        <p:nvSpPr>
          <p:cNvPr id="6" name="Slide Image Placeholder 5"/>
          <p:cNvSpPr>
            <a:spLocks noGrp="1" noRot="1" noChangeAspect="1"/>
          </p:cNvSpPr>
          <p:nvPr>
            <p:ph type="sldImg" idx="2"/>
          </p:nvPr>
        </p:nvSpPr>
        <p:spPr>
          <a:xfrm>
            <a:off x="609600" y="381001"/>
            <a:ext cx="5943600" cy="3343275"/>
          </a:xfrm>
          <a:prstGeom prst="rect">
            <a:avLst/>
          </a:prstGeom>
          <a:noFill/>
          <a:ln w="12700">
            <a:solidFill>
              <a:prstClr val="black"/>
            </a:solidFill>
          </a:ln>
        </p:spPr>
        <p:txBody>
          <a:bodyPr vert="horz" lIns="91440" tIns="45720" rIns="91440" bIns="45720" rtlCol="0" anchor="ctr"/>
          <a:lstStyle/>
          <a:p>
            <a:endParaRPr lang="en-US"/>
          </a:p>
        </p:txBody>
      </p:sp>
      <p:sp>
        <p:nvSpPr>
          <p:cNvPr id="7" name="Rectangle 6"/>
          <p:cNvSpPr/>
          <p:nvPr/>
        </p:nvSpPr>
        <p:spPr>
          <a:xfrm>
            <a:off x="3074162" y="8920225"/>
            <a:ext cx="3338513" cy="215444"/>
          </a:xfrm>
          <a:prstGeom prst="rect">
            <a:avLst/>
          </a:prstGeom>
        </p:spPr>
        <p:txBody>
          <a:bodyPr wrap="square">
            <a:spAutoFit/>
          </a:bodyPr>
          <a:lstStyle/>
          <a:p>
            <a:pPr algn="r" rtl="0"/>
            <a:r>
              <a:rPr lang="ru-RU" sz="800" kern="1200" baseline="0" dirty="0">
                <a:solidFill>
                  <a:schemeClr val="tx1"/>
                </a:solidFill>
                <a:latin typeface="Arial" pitchFamily="34" charset="0"/>
                <a:ea typeface="+mn-ea"/>
                <a:cs typeface="Arial" pitchFamily="34" charset="0"/>
              </a:rPr>
              <a:t>ISM v3 модуль 4: интеллектуальные системы хранения</a:t>
            </a:r>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fontAlgn="base"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fontAlgn="base" latinLnBrk="0" hangingPunct="1">
      <a:spcBef>
        <a:spcPts val="6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fontAlgn="base" latinLnBrk="0" hangingPunct="1">
      <a:spcBef>
        <a:spcPts val="6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fontAlgn="base" latinLnBrk="0" hangingPunct="1">
      <a:spcBef>
        <a:spcPts val="6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fontAlgn="base" latinLnBrk="0" hangingPunct="1">
      <a:spcBef>
        <a:spcPts val="6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spcBef>
                <a:spcPts val="600"/>
              </a:spcBef>
            </a:pPr>
            <a:r>
              <a:rPr lang="ru-RU" b="0" i="0" dirty="0">
                <a:solidFill>
                  <a:srgbClr val="000000"/>
                </a:solidFill>
                <a:latin typeface="Arial" pitchFamily="34" charset="0"/>
                <a:cs typeface="Arial" pitchFamily="34" charset="0"/>
              </a:rPr>
              <a:t>Добро пожаловать в системы интеллектуального хранения! </a:t>
            </a:r>
          </a:p>
          <a:p>
            <a:pPr marL="0" marR="0" lvl="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Перейдите на вкладку «Ресурсы», чтобы загрузить версию данного электронного курса в формате PDF.</a:t>
            </a:r>
          </a:p>
          <a:p>
            <a:pPr lvl="0">
              <a:spcBef>
                <a:spcPts val="600"/>
              </a:spcBef>
            </a:pPr>
            <a:r>
              <a:rPr lang="ru-RU" b="0" i="0" dirty="0">
                <a:solidFill>
                  <a:srgbClr val="000000"/>
                </a:solidFill>
                <a:latin typeface="Arial" pitchFamily="34" charset="0"/>
                <a:cs typeface="Arial" pitchFamily="34" charset="0"/>
              </a:rPr>
              <a:t>Этот модуль — часть курса ISM v3, состоящего из 16 модулей. </a:t>
            </a:r>
          </a:p>
          <a:p>
            <a:pPr lvl="0">
              <a:spcBef>
                <a:spcPts val="600"/>
              </a:spcBef>
            </a:pPr>
            <a:r>
              <a:rPr lang="ru-RU" b="0" i="0" dirty="0">
                <a:solidFill>
                  <a:srgbClr val="000000"/>
                </a:solidFill>
                <a:latin typeface="Arial" pitchFamily="34" charset="0"/>
                <a:cs typeface="Arial" pitchFamily="34" charset="0"/>
              </a:rPr>
              <a:t>© Корпорация EMC, 2015 г. Все права защищены. Опубликовано в России. По сведениям ЕМС информация, содержащаяся в данной публикации, является правильной на дату публикации. Данная информация может измениться без уведомления. </a:t>
            </a:r>
          </a:p>
          <a:p>
            <a:pPr lvl="0">
              <a:spcBef>
                <a:spcPts val="600"/>
              </a:spcBef>
            </a:pPr>
            <a:r>
              <a:rPr lang="ru-RU" b="0" i="0" dirty="0">
                <a:solidFill>
                  <a:srgbClr val="000000"/>
                </a:solidFill>
                <a:latin typeface="Arial" pitchFamily="34" charset="0"/>
                <a:cs typeface="Arial" pitchFamily="34" charset="0"/>
              </a:rPr>
              <a:t>ИНФОРМАЦИЯ В ДАННОЙ ПУБЛИКАЦИИ ПРИВОДИТСЯ «КАК ЕСТЬ». КОРПОРАЦИЯ EMC НЕ ПРЕДОСТАВЛЯЕТ НИКАКИХ УСЛОВИЙ ИЛИ ГАРАНТИЙ В ОТНОШЕНИИ УКАЗАННОЙ ИНФОРМАЦИИ И ОТКАЗЫВАЕТСЯ ОТ ПОДРАЗУМЕВАЕМЫХ ГАРАНТИЙ КОММЕРЧЕСКОЙ ЦЕННОСТИ И ПРИГОДНОСТИ ДЛЯ ОПРЕДЕЛЕННОЙ ЦЕЛИ.</a:t>
            </a:r>
          </a:p>
          <a:p>
            <a:pPr lvl="0">
              <a:spcBef>
                <a:spcPts val="600"/>
              </a:spcBef>
            </a:pPr>
            <a:r>
              <a:rPr lang="ru-RU" b="0" i="0" dirty="0">
                <a:solidFill>
                  <a:srgbClr val="000000"/>
                </a:solidFill>
                <a:latin typeface="Arial" pitchFamily="34" charset="0"/>
                <a:cs typeface="Arial" pitchFamily="34" charset="0"/>
              </a:rPr>
              <a:t>Использование, копирование и распространение любого произведенного корпорацией ЕМС программного обеспечения, упомянутого в данной публикации, требует соответствующей лицензии. Товарные знаки, логотипы и сервисные знаки (совокупно «Товарные знаки»), упоминаемые в настоящей публикации, являются собственностью корпорации EMC и других лиц. Никакие положения в этой публикации не должны рассматриваться как предоставление каких-либо лицензий или прав на использование любого товарного знака без предварительного письменного разрешения стороны, которой принадлежит этот товарный знак.</a:t>
            </a:r>
          </a:p>
          <a:p>
            <a:pPr lvl="0">
              <a:spcBef>
                <a:spcPts val="600"/>
              </a:spcBef>
            </a:pPr>
            <a:r>
              <a:rPr lang="ru-RU" b="0" i="0" dirty="0">
                <a:solidFill>
                  <a:srgbClr val="000000"/>
                </a:solidFill>
                <a:latin typeface="Arial" pitchFamily="34" charset="0"/>
                <a:cs typeface="Arial" pitchFamily="34" charset="0"/>
              </a:rPr>
              <a:t>EMC, EMC² AccessAnywhere Access Logix, AdvantEdge, AlphaStor, AppSync ApplicationXtender, ArchiveXtender, Atmos, Authentica, Authentic Problems, Automated Resource Manager, AutoStart, AutoSwap, AVALONidm, Avamar, Bus-Tech, Captiva, Catalog Solution, C-Clip, Celerra, Celerra Replicator, Centera, CenterStage, CentraStar, EMC CertTracker. CIO Connect, ClaimPack, ClaimsEditor, Claralert,</a:t>
            </a:r>
            <a:r>
              <a:rPr lang="ru-RU" b="0" i="0" dirty="0">
                <a:solidFill>
                  <a:srgbClr val="494848"/>
                </a:solidFill>
                <a:latin typeface="Arial" pitchFamily="34" charset="0"/>
                <a:cs typeface="Arial" pitchFamily="34" charset="0"/>
              </a:rPr>
              <a:t>c</a:t>
            </a:r>
            <a:r>
              <a:rPr lang="ru-RU" b="0" i="0" dirty="0">
                <a:solidFill>
                  <a:srgbClr val="000000"/>
                </a:solidFill>
                <a:latin typeface="Arial" pitchFamily="34" charset="0"/>
                <a:cs typeface="Arial" pitchFamily="34" charset="0"/>
              </a:rPr>
              <a:t>LARiiON, ClientPak, CloudArray, Codebook Correlation Technology, Common Information Model, Compuset, Compute Anywhere, Configuration Intelligence, Configuresoft, Connectrix, Constellation Computing, EMC ControlCenter, CopyCross, CopyPoint, CX, DataBridge, Data Protection Suite. Data Protection Advisor, DBClassify, DD Boost, Dantz, DatabaseXtender, Data Domain, Direct Matrix Architecture, DiskXtender, DiskXtender 2000, DLS ECO, Document Sciences, Documentum, DR Anywhere, ECS, elnput, E-Lab, Elastic Cloud Storage, EmailXaminer, EmailXtender, EMC Centera, EMC ControlCenter, EMC LifeLine, EMCTV, Enginuity, EPFM. eRoom, Event Explorer, FAST, FarPoint, FirstPass, FLARE, FormWare, Geosynchrony, Global File Virtualization, Graphic Visualization, Greenplum, HighRoad, HomeBase, Illuminator, InfoArchive, InfoMover, Infoscape, Infra, Input</a:t>
            </a:r>
            <a:r>
              <a:rPr lang="ru-RU" b="0" i="1" dirty="0">
                <a:solidFill>
                  <a:srgbClr val="000000"/>
                </a:solidFill>
                <a:latin typeface="Arial" pitchFamily="34" charset="0"/>
                <a:cs typeface="Arial" pitchFamily="34" charset="0"/>
              </a:rPr>
              <a:t>Accel</a:t>
            </a:r>
            <a:r>
              <a:rPr lang="ru-RU" b="0" i="0" dirty="0">
                <a:solidFill>
                  <a:srgbClr val="000000"/>
                </a:solidFill>
                <a:latin typeface="Arial" pitchFamily="34" charset="0"/>
                <a:cs typeface="Arial" pitchFamily="34" charset="0"/>
              </a:rPr>
              <a:t>, Input</a:t>
            </a:r>
            <a:r>
              <a:rPr lang="ru-RU" b="0" i="1" dirty="0">
                <a:solidFill>
                  <a:srgbClr val="000000"/>
                </a:solidFill>
                <a:latin typeface="Arial" pitchFamily="34" charset="0"/>
                <a:cs typeface="Arial" pitchFamily="34" charset="0"/>
              </a:rPr>
              <a:t>Accel</a:t>
            </a:r>
            <a:r>
              <a:rPr lang="ru-RU" b="0" i="0" dirty="0">
                <a:solidFill>
                  <a:srgbClr val="000000"/>
                </a:solidFill>
                <a:latin typeface="Arial" pitchFamily="34" charset="0"/>
                <a:cs typeface="Arial" pitchFamily="34" charset="0"/>
              </a:rPr>
              <a:t> Express, Invista, Ionix, ISIS,Kazeon, EMC LifeLine, Mainframe Appliance for Storage, Mainframe Data Library, Max Retriever, MCx, MediaStor, Metro, MetroPoint, MirrorView, Multi-Band Deduplication,Navisphere, Netstorage, NetWorker, nLayers, EMC OnCourse, OnAlert, OpenScale, Petrocloud, PixTools, Powerlink, PowerPath, PowerSnap, ProSphere, ProtectEverywhere, ProtectPoint, EMC Proven, EMC Proven Professional, QuickScan, RAPIDPath, EMC RecoverPoint, Rainfinity, RepliCare, RepliStor, ResourcePak, Retrospect, RSA, логотип RSA, SafeLine, SAN Advisor, SAN Copy, SAN Manager, ScaleIO Smarts, EMC Snap, SnapImage, SnapSure, SnapView, SourceOne, SRDF, EMC Storage Administrator, StorageScope, SupportMate, SymmAPI, SymmEnabler, Symmetrix, Symmetrix DMX, Symmetrix VMAX, TimeFinder, TwinStrata, UltraFlex, UltraPoint, UltraScale, Unisphere, Universal Data Consistency, Vblock, Velocity, Viewlets, ViPR, Virtual Matrix, Virtual Matrix Architecture, Virtual Provisioning, Virtualize Everything, Compromise Nothing, Virtuent, VMAX, VMAXe, VNX, VNXe, Voyence, VPLEX, VSAM-Assist, VSAM I/O PLUS, VSET, VSPEX, Watch4net, WebXtender, xPression, xPresso, Xtrem, XtremCache, XtremSF, XtremSW, XtremIO, YottaYotta, Zero-Friction Enterprise Storage.</a:t>
            </a:r>
          </a:p>
          <a:p>
            <a:pPr lvl="0">
              <a:spcBef>
                <a:spcPts val="600"/>
              </a:spcBef>
            </a:pPr>
            <a:r>
              <a:rPr lang="ru-RU" b="0" i="0" dirty="0">
                <a:solidFill>
                  <a:srgbClr val="000000"/>
                </a:solidFill>
                <a:latin typeface="Arial" pitchFamily="34" charset="0"/>
                <a:cs typeface="Arial" pitchFamily="34" charset="0"/>
              </a:rPr>
              <a:t>Дата выпуска: Август 2015 г.</a:t>
            </a:r>
          </a:p>
          <a:p>
            <a:pPr lvl="0">
              <a:spcBef>
                <a:spcPts val="600"/>
              </a:spcBef>
            </a:pPr>
            <a:r>
              <a:rPr lang="ru-RU" b="0" i="0" dirty="0">
                <a:solidFill>
                  <a:srgbClr val="000000"/>
                </a:solidFill>
                <a:latin typeface="Arial" pitchFamily="34" charset="0"/>
                <a:cs typeface="Arial" pitchFamily="34" charset="0"/>
              </a:rPr>
              <a:t>Номер выпуска: MR-1WP-ISMv3ISS</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3693696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модуле рассматриваются ключевые компоненты интеллектуальной системы хранения. Кроме того, здесь рассматриваются подсистемы хранения, а также параметры компонентов, адресации и производительности жесткого диска и твердотельного диска (SSD). Массивы RAID, различные реализации, методы и часто используемые уровни RAID также описаны в ходе модуля. Дополнительно здесь рассматривается воздействие массивов RAID на производительность, а также сравниваются часто используемые уровни RAID. Наконец, в этом модуле описаны типы интеллектуальных систем хранения и их архитектуры.</a:t>
            </a: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511676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На этом слайде показан список ключевых требований к эффективной структуре хранения. </a:t>
            </a:r>
          </a:p>
        </p:txBody>
      </p:sp>
    </p:spTree>
    <p:extLst>
      <p:ext uri="{BB962C8B-B14F-4D97-AF65-F5344CB8AC3E}">
        <p14:creationId xmlns:p14="http://schemas.microsoft.com/office/powerpoint/2010/main" val="1765184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На слайде перечислены технологические решения, которые могут соответствовать требованиям третьей платформы. </a:t>
            </a:r>
          </a:p>
        </p:txBody>
      </p:sp>
    </p:spTree>
    <p:extLst>
      <p:ext uri="{BB962C8B-B14F-4D97-AF65-F5344CB8AC3E}">
        <p14:creationId xmlns:p14="http://schemas.microsoft.com/office/powerpoint/2010/main" val="3675474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рассматриваются компоненты интеллектуальной системы хранения. Кроме того, здесь рассматриваются компоненты, адресация и производительность жестких дисков. </a:t>
            </a: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5"/>
          <p:cNvSpPr>
            <a:spLocks noGrp="1" noRot="1" noChangeAspect="1"/>
          </p:cNvSpPr>
          <p:nvPr>
            <p:ph type="sldImg"/>
          </p:nvPr>
        </p:nvSpPr>
        <p:spPr>
          <a:xfrm>
            <a:off x="609600" y="381000"/>
            <a:ext cx="5943600" cy="3343275"/>
          </a:xfrm>
        </p:spPr>
      </p:sp>
      <p:sp>
        <p:nvSpPr>
          <p:cNvPr id="7" name="Notes Placeholder 6"/>
          <p:cNvSpPr>
            <a:spLocks noGrp="1"/>
          </p:cNvSpPr>
          <p:nvPr>
            <p:ph type="body" idx="1"/>
          </p:nvPr>
        </p:nvSpPr>
        <p:spPr/>
        <p:txBody>
          <a:bodyPr/>
          <a:lstStyle/>
          <a:p>
            <a:pPr>
              <a:spcBef>
                <a:spcPts val="634"/>
              </a:spcBef>
            </a:pPr>
            <a:r>
              <a:rPr lang="ru-RU" b="0" i="0" u="none" dirty="0">
                <a:solidFill>
                  <a:srgbClr val="000000"/>
                </a:solidFill>
                <a:latin typeface="Arial" pitchFamily="34" charset="0"/>
                <a:cs typeface="Arial" pitchFamily="34" charset="0"/>
              </a:rPr>
              <a:t>Интеллектуальные системы хранения — это многофункциональные массивы RAID, которые предоставляют </a:t>
            </a:r>
            <a:r>
              <a:rPr lang="ru-RU" b="0" i="0" u="none" dirty="0" err="1">
                <a:solidFill>
                  <a:srgbClr val="000000"/>
                </a:solidFill>
                <a:latin typeface="Arial" pitchFamily="34" charset="0"/>
                <a:cs typeface="Arial" pitchFamily="34" charset="0"/>
              </a:rPr>
              <a:t>высокооптимизированную</a:t>
            </a:r>
            <a:r>
              <a:rPr lang="ru-RU" b="0" i="0" u="none" dirty="0">
                <a:solidFill>
                  <a:srgbClr val="000000"/>
                </a:solidFill>
                <a:latin typeface="Arial" pitchFamily="34" charset="0"/>
                <a:cs typeface="Arial" pitchFamily="34" charset="0"/>
              </a:rPr>
              <a:t> функциональность обработки операций ввода-вывода.</a:t>
            </a:r>
            <a:endParaRPr lang="en-US" b="0" i="0" u="none" dirty="0">
              <a:solidFill>
                <a:srgbClr val="000000"/>
              </a:solidFill>
              <a:latin typeface="Arial" pitchFamily="34" charset="0"/>
              <a:cs typeface="Arial" pitchFamily="34" charset="0"/>
            </a:endParaRPr>
          </a:p>
          <a:p>
            <a:pPr>
              <a:spcBef>
                <a:spcPts val="634"/>
              </a:spcBef>
            </a:pPr>
            <a:r>
              <a:rPr lang="ru-RU" b="0" i="1" u="sng" dirty="0">
                <a:solidFill>
                  <a:srgbClr val="000000"/>
                </a:solidFill>
                <a:latin typeface="Arial" pitchFamily="34" charset="0"/>
                <a:cs typeface="Arial" pitchFamily="34" charset="0"/>
              </a:rPr>
              <a:t>Эти интеллектуальные системы хранения </a:t>
            </a:r>
            <a:r>
              <a:rPr lang="ru-RU" b="1" i="0" dirty="0">
                <a:solidFill>
                  <a:srgbClr val="000000"/>
                </a:solidFill>
                <a:latin typeface="Arial" pitchFamily="34" charset="0"/>
                <a:cs typeface="Arial" pitchFamily="34" charset="0"/>
              </a:rPr>
              <a:t>могут соответствовать требованиям современных приложений </a:t>
            </a:r>
            <a:r>
              <a:rPr lang="ru-RU" b="0" i="0" dirty="0">
                <a:solidFill>
                  <a:srgbClr val="000000"/>
                </a:solidFill>
                <a:latin typeface="Arial" pitchFamily="34" charset="0"/>
                <a:cs typeface="Arial" pitchFamily="34" charset="0"/>
              </a:rPr>
              <a:t>третьей платформы с </a:t>
            </a:r>
            <a:r>
              <a:rPr lang="ru-RU" b="1" i="0" dirty="0">
                <a:solidFill>
                  <a:srgbClr val="000000"/>
                </a:solidFill>
                <a:latin typeface="Arial" pitchFamily="34" charset="0"/>
                <a:cs typeface="Arial" pitchFamily="34" charset="0"/>
              </a:rPr>
              <a:t>высокой интенсивностью операций ввода-вывода</a:t>
            </a:r>
            <a:r>
              <a:rPr lang="ru-RU" b="0" i="0" dirty="0">
                <a:solidFill>
                  <a:srgbClr val="000000"/>
                </a:solidFill>
                <a:latin typeface="Arial" pitchFamily="34" charset="0"/>
                <a:cs typeface="Arial" pitchFamily="34" charset="0"/>
              </a:rPr>
              <a:t>. </a:t>
            </a:r>
            <a:endParaRPr lang="en-US" b="0" i="0" dirty="0">
              <a:solidFill>
                <a:srgbClr val="000000"/>
              </a:solidFill>
              <a:latin typeface="Arial" pitchFamily="34" charset="0"/>
              <a:cs typeface="Arial" pitchFamily="34" charset="0"/>
            </a:endParaRPr>
          </a:p>
          <a:p>
            <a:pPr>
              <a:spcBef>
                <a:spcPts val="634"/>
              </a:spcBef>
            </a:pPr>
            <a:r>
              <a:rPr lang="ru-RU" b="0" i="0" dirty="0">
                <a:solidFill>
                  <a:srgbClr val="000000"/>
                </a:solidFill>
                <a:latin typeface="Arial" pitchFamily="34" charset="0"/>
                <a:cs typeface="Arial" pitchFamily="34" charset="0"/>
              </a:rPr>
              <a:t>Этим приложениям требуются </a:t>
            </a:r>
            <a:endParaRPr lang="en-US" b="0" i="0" dirty="0">
              <a:solidFill>
                <a:srgbClr val="000000"/>
              </a:solidFill>
              <a:latin typeface="Arial" pitchFamily="34" charset="0"/>
              <a:cs typeface="Arial" pitchFamily="34" charset="0"/>
            </a:endParaRPr>
          </a:p>
          <a:p>
            <a:pPr lvl="3">
              <a:spcBef>
                <a:spcPts val="634"/>
              </a:spcBef>
              <a:buFontTx/>
              <a:buChar char="-"/>
            </a:pPr>
            <a:r>
              <a:rPr lang="ru-RU" b="0" i="0" dirty="0">
                <a:solidFill>
                  <a:srgbClr val="000000"/>
                </a:solidFill>
                <a:latin typeface="Arial" pitchFamily="34" charset="0"/>
                <a:cs typeface="Arial" pitchFamily="34" charset="0"/>
              </a:rPr>
              <a:t>высокие уровни производительности, </a:t>
            </a:r>
            <a:endParaRPr lang="en-US" b="0" i="0" dirty="0">
              <a:solidFill>
                <a:srgbClr val="000000"/>
              </a:solidFill>
              <a:latin typeface="Arial" pitchFamily="34" charset="0"/>
              <a:cs typeface="Arial" pitchFamily="34" charset="0"/>
            </a:endParaRPr>
          </a:p>
          <a:p>
            <a:pPr lvl="3">
              <a:spcBef>
                <a:spcPts val="634"/>
              </a:spcBef>
              <a:buFontTx/>
              <a:buChar char="-"/>
            </a:pPr>
            <a:r>
              <a:rPr lang="ru-RU" b="0" i="0" dirty="0">
                <a:solidFill>
                  <a:srgbClr val="000000"/>
                </a:solidFill>
                <a:latin typeface="Arial" pitchFamily="34" charset="0"/>
                <a:cs typeface="Arial" pitchFamily="34" charset="0"/>
              </a:rPr>
              <a:t>доступности, </a:t>
            </a:r>
            <a:endParaRPr lang="en-US" b="0" i="0" dirty="0">
              <a:solidFill>
                <a:srgbClr val="000000"/>
              </a:solidFill>
              <a:latin typeface="Arial" pitchFamily="34" charset="0"/>
              <a:cs typeface="Arial" pitchFamily="34" charset="0"/>
            </a:endParaRPr>
          </a:p>
          <a:p>
            <a:pPr lvl="3">
              <a:spcBef>
                <a:spcPts val="634"/>
              </a:spcBef>
              <a:buFontTx/>
              <a:buChar char="-"/>
            </a:pPr>
            <a:r>
              <a:rPr lang="ru-RU" b="0" i="0" dirty="0">
                <a:solidFill>
                  <a:srgbClr val="000000"/>
                </a:solidFill>
                <a:latin typeface="Arial" pitchFamily="34" charset="0"/>
                <a:cs typeface="Arial" pitchFamily="34" charset="0"/>
              </a:rPr>
              <a:t>безопасности и</a:t>
            </a:r>
            <a:endParaRPr lang="en-US" b="0" i="0" dirty="0">
              <a:solidFill>
                <a:srgbClr val="000000"/>
              </a:solidFill>
              <a:latin typeface="Arial" pitchFamily="34" charset="0"/>
              <a:cs typeface="Arial" pitchFamily="34" charset="0"/>
            </a:endParaRPr>
          </a:p>
          <a:p>
            <a:pPr lvl="3">
              <a:spcBef>
                <a:spcPts val="634"/>
              </a:spcBef>
              <a:buFontTx/>
              <a:buChar char="-"/>
            </a:pPr>
            <a:r>
              <a:rPr lang="ru-RU" b="0" i="0" dirty="0">
                <a:solidFill>
                  <a:srgbClr val="000000"/>
                </a:solidFill>
                <a:latin typeface="Arial" pitchFamily="34" charset="0"/>
                <a:cs typeface="Arial" pitchFamily="34" charset="0"/>
              </a:rPr>
              <a:t> масштабируемости. </a:t>
            </a:r>
            <a:endParaRPr lang="en-US" b="0" i="0" dirty="0">
              <a:solidFill>
                <a:srgbClr val="000000"/>
              </a:solidFill>
              <a:latin typeface="Arial" pitchFamily="34" charset="0"/>
              <a:cs typeface="Arial" pitchFamily="34" charset="0"/>
            </a:endParaRPr>
          </a:p>
          <a:p>
            <a:pPr>
              <a:spcBef>
                <a:spcPts val="634"/>
              </a:spcBef>
              <a:buFontTx/>
              <a:buNone/>
            </a:pPr>
            <a:r>
              <a:rPr lang="ru-RU" b="0" i="0" dirty="0">
                <a:solidFill>
                  <a:srgbClr val="000000"/>
                </a:solidFill>
                <a:latin typeface="Arial" pitchFamily="34" charset="0"/>
                <a:cs typeface="Arial" pitchFamily="34" charset="0"/>
              </a:rPr>
              <a:t>Поэтому для соответствия требованиям приложений </a:t>
            </a:r>
            <a:r>
              <a:rPr lang="ru-RU" b="1" i="0" dirty="0">
                <a:solidFill>
                  <a:srgbClr val="000000"/>
                </a:solidFill>
                <a:latin typeface="Arial" pitchFamily="34" charset="0"/>
                <a:cs typeface="Arial" pitchFamily="34" charset="0"/>
              </a:rPr>
              <a:t>многие поставщики интеллектуальных систем хранения </a:t>
            </a:r>
            <a:r>
              <a:rPr lang="ru-RU" b="0" i="0" dirty="0">
                <a:solidFill>
                  <a:srgbClr val="000000"/>
                </a:solidFill>
                <a:latin typeface="Arial" pitchFamily="34" charset="0"/>
                <a:cs typeface="Arial" pitchFamily="34" charset="0"/>
              </a:rPr>
              <a:t>поддерживают:</a:t>
            </a:r>
            <a:endParaRPr lang="en-US" b="0" i="0" dirty="0">
              <a:solidFill>
                <a:srgbClr val="000000"/>
              </a:solidFill>
              <a:latin typeface="Arial" pitchFamily="34" charset="0"/>
              <a:cs typeface="Arial" pitchFamily="34" charset="0"/>
            </a:endParaRPr>
          </a:p>
          <a:p>
            <a:pPr lvl="3">
              <a:spcBef>
                <a:spcPts val="634"/>
              </a:spcBef>
              <a:buFontTx/>
              <a:buChar char="-"/>
            </a:pPr>
            <a:r>
              <a:rPr lang="ru-RU" b="0" i="0" dirty="0">
                <a:solidFill>
                  <a:srgbClr val="000000"/>
                </a:solidFill>
                <a:latin typeface="Arial" pitchFamily="34" charset="0"/>
                <a:cs typeface="Arial" pitchFamily="34" charset="0"/>
              </a:rPr>
              <a:t>твердотельные диски, </a:t>
            </a:r>
          </a:p>
          <a:p>
            <a:pPr lvl="3">
              <a:spcBef>
                <a:spcPts val="634"/>
              </a:spcBef>
              <a:buFontTx/>
              <a:buChar char="-"/>
            </a:pPr>
            <a:r>
              <a:rPr lang="ru-RU" b="0" i="0" dirty="0">
                <a:solidFill>
                  <a:srgbClr val="000000"/>
                </a:solidFill>
                <a:latin typeface="Arial" pitchFamily="34" charset="0"/>
                <a:cs typeface="Arial" pitchFamily="34" charset="0"/>
              </a:rPr>
              <a:t>шифрование, </a:t>
            </a:r>
          </a:p>
          <a:p>
            <a:pPr lvl="3">
              <a:spcBef>
                <a:spcPts val="634"/>
              </a:spcBef>
              <a:buFontTx/>
              <a:buChar char="-"/>
            </a:pPr>
            <a:r>
              <a:rPr lang="ru-RU" b="0" i="0" dirty="0">
                <a:solidFill>
                  <a:srgbClr val="000000"/>
                </a:solidFill>
                <a:latin typeface="Arial" pitchFamily="34" charset="0"/>
                <a:cs typeface="Arial" pitchFamily="34" charset="0"/>
              </a:rPr>
              <a:t>сжатие, </a:t>
            </a:r>
          </a:p>
          <a:p>
            <a:pPr lvl="3">
              <a:spcBef>
                <a:spcPts val="634"/>
              </a:spcBef>
              <a:buFontTx/>
              <a:buChar char="-"/>
            </a:pPr>
            <a:r>
              <a:rPr lang="ru-RU" b="0" i="0" dirty="0" err="1">
                <a:solidFill>
                  <a:srgbClr val="000000"/>
                </a:solidFill>
                <a:latin typeface="Arial" pitchFamily="34" charset="0"/>
                <a:cs typeface="Arial" pitchFamily="34" charset="0"/>
              </a:rPr>
              <a:t>дедупликацию</a:t>
            </a:r>
            <a:r>
              <a:rPr lang="ru-RU" b="0" i="0" dirty="0">
                <a:solidFill>
                  <a:srgbClr val="000000"/>
                </a:solidFill>
                <a:latin typeface="Arial" pitchFamily="34" charset="0"/>
                <a:cs typeface="Arial" pitchFamily="34" charset="0"/>
              </a:rPr>
              <a:t> и </a:t>
            </a:r>
          </a:p>
          <a:p>
            <a:pPr lvl="3">
              <a:spcBef>
                <a:spcPts val="634"/>
              </a:spcBef>
              <a:buFontTx/>
              <a:buChar char="-"/>
            </a:pPr>
            <a:r>
              <a:rPr lang="ru-RU" b="0" i="0" dirty="0">
                <a:solidFill>
                  <a:srgbClr val="000000"/>
                </a:solidFill>
                <a:latin typeface="Arial" pitchFamily="34" charset="0"/>
                <a:cs typeface="Arial" pitchFamily="34" charset="0"/>
              </a:rPr>
              <a:t>горизонтально масштабируемую архитектуру. </a:t>
            </a:r>
          </a:p>
          <a:p>
            <a:pPr>
              <a:spcBef>
                <a:spcPts val="634"/>
              </a:spcBef>
              <a:buFontTx/>
              <a:buNone/>
            </a:pPr>
            <a:r>
              <a:rPr lang="ru-RU" b="0" i="0" dirty="0">
                <a:solidFill>
                  <a:srgbClr val="000000"/>
                </a:solidFill>
                <a:latin typeface="Arial" pitchFamily="34" charset="0"/>
                <a:cs typeface="Arial" pitchFamily="34" charset="0"/>
              </a:rPr>
              <a:t>Использование твердотельных дисков и горизонтально масштабируемой архитектуры позволяет обслуживать большое количество IOPS. Эти системы хранения также поддерживают возможность подключения к гетерогенным вычислительным системам. </a:t>
            </a:r>
          </a:p>
          <a:p>
            <a:pPr>
              <a:spcBef>
                <a:spcPts val="634"/>
              </a:spcBef>
            </a:pPr>
            <a:r>
              <a:rPr lang="ru-RU" b="0" i="0" dirty="0">
                <a:solidFill>
                  <a:srgbClr val="000000"/>
                </a:solidFill>
                <a:latin typeface="Arial" pitchFamily="34" charset="0"/>
                <a:cs typeface="Arial" pitchFamily="34" charset="0"/>
              </a:rPr>
              <a:t>Системы хранения имеют операционную среду, которая </a:t>
            </a:r>
            <a:r>
              <a:rPr lang="ru-RU" b="1" i="0" dirty="0">
                <a:solidFill>
                  <a:srgbClr val="000000"/>
                </a:solidFill>
                <a:latin typeface="Arial" pitchFamily="34" charset="0"/>
                <a:cs typeface="Arial" pitchFamily="34" charset="0"/>
              </a:rPr>
              <a:t>интеллектуально и оптимально обрабатывает </a:t>
            </a:r>
            <a:r>
              <a:rPr lang="ru-RU" b="0" i="0" dirty="0">
                <a:solidFill>
                  <a:srgbClr val="000000"/>
                </a:solidFill>
                <a:latin typeface="Arial" pitchFamily="34" charset="0"/>
                <a:cs typeface="Arial" pitchFamily="34" charset="0"/>
              </a:rPr>
              <a:t>операции управления, выделения и использования ресурсов хранения. </a:t>
            </a:r>
          </a:p>
          <a:p>
            <a:pPr>
              <a:spcBef>
                <a:spcPts val="634"/>
              </a:spcBef>
            </a:pPr>
            <a:r>
              <a:rPr lang="ru-RU" b="0" i="0" dirty="0">
                <a:solidFill>
                  <a:srgbClr val="000000"/>
                </a:solidFill>
                <a:latin typeface="Arial" pitchFamily="34" charset="0"/>
                <a:cs typeface="Arial" pitchFamily="34" charset="0"/>
              </a:rPr>
              <a:t>Они оснащены большими объемами памяти (именуемой </a:t>
            </a:r>
            <a:r>
              <a:rPr lang="ru-RU" b="0" i="1" dirty="0">
                <a:solidFill>
                  <a:srgbClr val="000000"/>
                </a:solidFill>
                <a:latin typeface="Arial" pitchFamily="34" charset="0"/>
                <a:cs typeface="Arial" pitchFamily="34" charset="0"/>
              </a:rPr>
              <a:t>кэш-память)</a:t>
            </a:r>
            <a:r>
              <a:rPr lang="ru-RU" b="0" i="0" dirty="0">
                <a:solidFill>
                  <a:srgbClr val="000000"/>
                </a:solidFill>
                <a:latin typeface="Arial" pitchFamily="34" charset="0"/>
                <a:cs typeface="Arial" pitchFamily="34" charset="0"/>
              </a:rPr>
              <a:t>.</a:t>
            </a:r>
            <a:r>
              <a:rPr lang="ru-RU" b="0" i="1" dirty="0">
                <a:solidFill>
                  <a:srgbClr val="000000"/>
                </a:solidFill>
                <a:latin typeface="Arial" pitchFamily="34" charset="0"/>
                <a:cs typeface="Arial" pitchFamily="34" charset="0"/>
              </a:rPr>
              <a:t> </a:t>
            </a:r>
          </a:p>
          <a:p>
            <a:pPr>
              <a:spcBef>
                <a:spcPts val="634"/>
              </a:spcBef>
            </a:pPr>
            <a:r>
              <a:rPr lang="ru-RU" b="0" i="0" dirty="0">
                <a:solidFill>
                  <a:srgbClr val="000000"/>
                </a:solidFill>
                <a:latin typeface="Arial" pitchFamily="34" charset="0"/>
                <a:cs typeface="Arial" pitchFamily="34" charset="0"/>
              </a:rPr>
              <a:t>В них используется несколько путей ввода-вывода, а также сложные алгоритмы для удовлетворения запросов приложений с высокими требованиями к производительности. </a:t>
            </a:r>
          </a:p>
          <a:p>
            <a:pPr>
              <a:spcBef>
                <a:spcPts val="634"/>
              </a:spcBef>
            </a:pPr>
            <a:r>
              <a:rPr lang="ru-RU" b="0" i="0" dirty="0">
                <a:solidFill>
                  <a:srgbClr val="000000"/>
                </a:solidFill>
                <a:latin typeface="Arial" pitchFamily="34" charset="0"/>
                <a:cs typeface="Arial" pitchFamily="34" charset="0"/>
              </a:rPr>
              <a:t>Системы хранения также поддерживают различные технологии, такие как </a:t>
            </a:r>
            <a:r>
              <a:rPr lang="ru-RU" b="0" i="0" dirty="0" err="1">
                <a:solidFill>
                  <a:srgbClr val="000000"/>
                </a:solidFill>
                <a:latin typeface="Arial" pitchFamily="34" charset="0"/>
                <a:cs typeface="Arial" pitchFamily="34" charset="0"/>
              </a:rPr>
              <a:t>дедупликация</a:t>
            </a:r>
            <a:r>
              <a:rPr lang="ru-RU" b="0" i="0" dirty="0">
                <a:solidFill>
                  <a:srgbClr val="000000"/>
                </a:solidFill>
                <a:latin typeface="Arial" pitchFamily="34" charset="0"/>
                <a:cs typeface="Arial" pitchFamily="34" charset="0"/>
              </a:rPr>
              <a:t>, сжатие, шифрование, автоматизированное многоуровневое хранение данных и виртуальное выделение ресурсов хранения. </a:t>
            </a:r>
          </a:p>
          <a:p>
            <a:pPr>
              <a:spcBef>
                <a:spcPts val="634"/>
              </a:spcBef>
            </a:pPr>
            <a:r>
              <a:rPr lang="ru-RU" b="0" i="0" dirty="0">
                <a:solidFill>
                  <a:srgbClr val="000000"/>
                </a:solidFill>
                <a:latin typeface="Arial" pitchFamily="34" charset="0"/>
                <a:cs typeface="Arial" pitchFamily="34" charset="0"/>
              </a:rPr>
              <a:t>Эти возможности добавили новое измерение в производительность, </a:t>
            </a:r>
            <a:r>
              <a:rPr lang="ru-RU" b="0" i="0" dirty="0" err="1">
                <a:solidFill>
                  <a:srgbClr val="000000"/>
                </a:solidFill>
                <a:latin typeface="Arial" pitchFamily="34" charset="0"/>
                <a:cs typeface="Arial" pitchFamily="34" charset="0"/>
              </a:rPr>
              <a:t>масштабируемость</a:t>
            </a:r>
            <a:r>
              <a:rPr lang="ru-RU" b="0" i="0" dirty="0">
                <a:solidFill>
                  <a:srgbClr val="000000"/>
                </a:solidFill>
                <a:latin typeface="Arial" pitchFamily="34" charset="0"/>
                <a:cs typeface="Arial" pitchFamily="34" charset="0"/>
              </a:rPr>
              <a:t> и доступность систем хранения. </a:t>
            </a:r>
          </a:p>
          <a:p>
            <a:pPr>
              <a:spcBef>
                <a:spcPts val="634"/>
              </a:spcBef>
            </a:pPr>
            <a:r>
              <a:rPr lang="ru-RU" b="0" i="0" dirty="0">
                <a:solidFill>
                  <a:srgbClr val="000000"/>
                </a:solidFill>
                <a:latin typeface="Arial" pitchFamily="34" charset="0"/>
                <a:cs typeface="Arial" pitchFamily="34" charset="0"/>
              </a:rPr>
              <a:t>Кроме того</a:t>
            </a:r>
            <a:r>
              <a:rPr lang="ru-RU" b="0" i="1" u="sng" dirty="0">
                <a:solidFill>
                  <a:srgbClr val="000000"/>
                </a:solidFill>
                <a:latin typeface="Arial" pitchFamily="34" charset="0"/>
                <a:cs typeface="Arial" pitchFamily="34" charset="0"/>
              </a:rPr>
              <a:t>, интеллектуальные системы хранения </a:t>
            </a:r>
            <a:r>
              <a:rPr lang="ru-RU" b="0" i="0" dirty="0">
                <a:solidFill>
                  <a:srgbClr val="000000"/>
                </a:solidFill>
                <a:latin typeface="Arial" pitchFamily="34" charset="0"/>
                <a:cs typeface="Arial" pitchFamily="34" charset="0"/>
              </a:rPr>
              <a:t>поддерживают </a:t>
            </a:r>
            <a:r>
              <a:rPr lang="ru-RU" b="1" i="0" dirty="0">
                <a:solidFill>
                  <a:srgbClr val="000000"/>
                </a:solidFill>
                <a:latin typeface="Arial" pitchFamily="34" charset="0"/>
                <a:cs typeface="Arial" pitchFamily="34" charset="0"/>
              </a:rPr>
              <a:t>API для интеграции с программно-определяемым </a:t>
            </a:r>
            <a:r>
              <a:rPr lang="ru-RU" b="0" i="0" dirty="0">
                <a:solidFill>
                  <a:srgbClr val="000000"/>
                </a:solidFill>
                <a:latin typeface="Arial" pitchFamily="34" charset="0"/>
                <a:cs typeface="Arial" pitchFamily="34" charset="0"/>
              </a:rPr>
              <a:t>центром обработки данных (SDDC) и облачными средами. </a:t>
            </a:r>
            <a:endParaRPr lang="ru-RU" b="0" i="0">
              <a:solidFill>
                <a:srgbClr val="000000"/>
              </a:solidFill>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1614877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Интеллектуальная система хранения состоит из двух ключевых компонентов: контроллера и системы хранения. Контроллер — это вычислительная система, которая запускает специально созданную ОС, ответственную за выполнение ряда ключевых функций для системы хранения. Примеры таких функций: обслуживание операций ввода-вывода с серверов приложений, управление хранением, защита RAID, локальная и удаленная репликация, выделение ресурсов хранения, автоматизированное многоуровневое хранение, сжатие, шифрование данных и интеллектуальное управление кэш-памятью. </a:t>
            </a:r>
          </a:p>
          <a:p>
            <a:pPr>
              <a:spcBef>
                <a:spcPts val="600"/>
              </a:spcBef>
            </a:pPr>
            <a:r>
              <a:rPr lang="ru-RU" b="0" i="0" dirty="0">
                <a:solidFill>
                  <a:srgbClr val="000000"/>
                </a:solidFill>
                <a:latin typeface="Arial" pitchFamily="34" charset="0"/>
                <a:cs typeface="Arial" pitchFamily="34" charset="0"/>
              </a:rPr>
              <a:t>Интеллектуальная система хранения обычно имеет несколько контроллеров для резервирования. Каждый контроллер состоит из одного или нескольких процессоров и определенного объема кэш-памяти для обработки большого количества запросов ввода-вывода. Эти контроллеры подключены к вычислительной системе напрямую или через сеть хранения. Контроллеры получают запросы ввода-вывода от вычислительных систем, которые контроллер читает или записывает в систему хранения. В зависимости от типа метода доступа к данным (рассматривается далее в этом модуле), который используется для системы хранения, контроллер может классифицироваться как блочный, файловый, объектный или унифицированный. </a:t>
            </a:r>
          </a:p>
          <a:p>
            <a:pPr>
              <a:spcBef>
                <a:spcPts val="600"/>
              </a:spcBef>
            </a:pPr>
            <a:r>
              <a:rPr lang="ru-RU" b="0" i="0" dirty="0">
                <a:solidFill>
                  <a:srgbClr val="000000"/>
                </a:solidFill>
                <a:latin typeface="Arial" pitchFamily="34" charset="0"/>
                <a:cs typeface="Arial" pitchFamily="34" charset="0"/>
              </a:rPr>
              <a:t>Интеллектуальная система хранения может состоять только из жестких дисков, только из твердотельных дисков, либо сочетать эти диски.</a:t>
            </a:r>
          </a:p>
        </p:txBody>
      </p:sp>
    </p:spTree>
    <p:extLst>
      <p:ext uri="{BB962C8B-B14F-4D97-AF65-F5344CB8AC3E}">
        <p14:creationId xmlns:p14="http://schemas.microsoft.com/office/powerpoint/2010/main" val="2508991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Жесткий диск — это постоянное устройство хранения, где данные хранятся и извлекаются с помощью быстро вращающихся дисков (пластин), покрытых магнитным материалом. Ключевые компоненты жесткого диска (HDD) — это пластина, шпиндель, головка чтения и записи, блок приводного рычага и плата контроллера. Операции ввода-вывода на жестком диске выполняются путем быстрого перемещения рычага между вращающимися плоскими пластинами, покрытыми магнитным материалом. Данные передаются между дисковым контроллером и магнитными пластинами через головку чтения и записи, подключенную к рычагу. Данные могут быть записаны и стерты с магнитных пластин любое количество раз. </a:t>
            </a:r>
          </a:p>
          <a:p>
            <a:pPr marL="181240" indent="-181240">
              <a:spcBef>
                <a:spcPts val="600"/>
              </a:spcBef>
              <a:buFont typeface="Arial" panose="020B0604020202020204" pitchFamily="34" charset="0"/>
              <a:buChar char="•"/>
            </a:pPr>
            <a:r>
              <a:rPr lang="ru-RU" b="1" i="0" dirty="0">
                <a:solidFill>
                  <a:srgbClr val="000000"/>
                </a:solidFill>
                <a:latin typeface="Arial" pitchFamily="34" charset="0"/>
                <a:cs typeface="Arial" pitchFamily="34" charset="0"/>
              </a:rPr>
              <a:t>Пластина. </a:t>
            </a:r>
            <a:r>
              <a:rPr lang="ru-RU" b="0" i="0" dirty="0">
                <a:solidFill>
                  <a:srgbClr val="000000"/>
                </a:solidFill>
                <a:latin typeface="Arial" pitchFamily="34" charset="0"/>
                <a:cs typeface="Arial" pitchFamily="34" charset="0"/>
              </a:rPr>
              <a:t>Обычный жесткий диск состоит из одного или нескольких плоских круглых дисков, именуемых пластинами. Данные записываются на эти пластины в виде бинарных кодов (ноли и единицы). Набор вращающихся пластин запаян в корпус, который называется блок дисков с головками (HDA). Пластина — это жесткий круглый диск, покрытый магнитным материалом с обеих сторон (внешней и внутренней). Данные шифруются путем поляризации магнитной области или секторов поверхности диска. Данные можно записывать и считывать с обеих поверхностей пластины. Количество пластин и емкость хранения каждой пластины определяют общую емкость диска.</a:t>
            </a:r>
          </a:p>
          <a:p>
            <a:pPr marL="181240" indent="-181240">
              <a:spcBef>
                <a:spcPts val="600"/>
              </a:spcBef>
              <a:buFont typeface="Arial" panose="020B0604020202020204" pitchFamily="34" charset="0"/>
              <a:buChar char="•"/>
            </a:pPr>
            <a:r>
              <a:rPr lang="ru-RU" b="1" i="0" dirty="0">
                <a:solidFill>
                  <a:srgbClr val="000000"/>
                </a:solidFill>
                <a:latin typeface="Arial" pitchFamily="34" charset="0"/>
                <a:cs typeface="Arial" pitchFamily="34" charset="0"/>
              </a:rPr>
              <a:t>Шпиндель. </a:t>
            </a:r>
            <a:r>
              <a:rPr lang="ru-RU" b="0" i="0" dirty="0">
                <a:solidFill>
                  <a:srgbClr val="000000"/>
                </a:solidFill>
                <a:latin typeface="Arial" pitchFamily="34" charset="0"/>
                <a:cs typeface="Arial" pitchFamily="34" charset="0"/>
              </a:rPr>
              <a:t>Шпиндель соединяет все пластины и подключается к приводу. Привод шпинделя вращается с постоянной скоростью. Пластина диска вращается со скоростью несколько тысяч оборотов в минуту (об/мин). Шпиндель может вращаться со скоростью 5400 об/мин, 7200 об/мин, 10 000 об/мин и 15 000 об/мин. Скорость пластины увеличивается с усовершенствованием технологии, хотя улучшение имеет свои границы.</a:t>
            </a:r>
            <a:endParaRPr lang="en-US" b="0" i="0" dirty="0">
              <a:solidFill>
                <a:srgbClr val="000000"/>
              </a:solidFill>
              <a:latin typeface="Arial" pitchFamily="34" charset="0"/>
              <a:cs typeface="Arial" pitchFamily="34" charset="0"/>
            </a:endParaRPr>
          </a:p>
          <a:p>
            <a:pPr marL="181240" indent="-181240">
              <a:spcBef>
                <a:spcPts val="600"/>
              </a:spcBef>
              <a:buFont typeface="Arial" panose="020B0604020202020204" pitchFamily="34" charset="0"/>
              <a:buChar char="•"/>
            </a:pPr>
            <a:r>
              <a:rPr lang="ru-RU" b="1" dirty="0">
                <a:solidFill>
                  <a:srgbClr val="000000"/>
                </a:solidFill>
              </a:rPr>
              <a:t>Головка чтения/записи: </a:t>
            </a:r>
            <a:r>
              <a:rPr lang="ru-RU" dirty="0">
                <a:solidFill>
                  <a:srgbClr val="000000"/>
                </a:solidFill>
              </a:rPr>
              <a:t>Головки чтения/записи, чтение и запись данных с/на пластины. Дисководы оснащены двумя головками чтения/записи на каждой пластине, по одной с каждой стороны пластины. Головка чтения/записи изменяет магнитную поляризацию на поверхности пластины во время записи данных. Во время чтения данных головка определяет магнитную поляризацию на поверхности пластины. При чтении и записи головка чтения/записи распознает магнитную поляризацию и никогда не касается поверхности пластины. Во время вращения шпинделя между головками чтения/записи и пластинами появляется микроскопический воздушный промежуток, известный как высота зависания головки. Воздушный промежуток исчезает когда шпиндель перестает вращаться, а головка чтения/записи находится в состоянии покоя в специальной зоне на пластине около шпинделя. Эта зона называется зоной парковки. Зона парковки покрыта смазкой для уменьшения трения между головкой и пластиной. Логика дискового накопителя обеспечивает перемещение головок в зону парковки до того, как они коснутся поверхности. Если диск неисправен и головка чтения/записи случайно касается поверхности пластины за пределами зоны парковки, происходит разрушение головки. В случае разрушения головки магнитное покрытие пластины царапается и может повредить головку чтения/записи. Обычно разрушение головки приводит к потере данных.</a:t>
            </a:r>
          </a:p>
          <a:p>
            <a:pPr marL="181240" indent="-181240">
              <a:spcBef>
                <a:spcPts val="600"/>
              </a:spcBef>
              <a:buFont typeface="Arial" panose="020B0604020202020204" pitchFamily="34" charset="0"/>
              <a:buChar char="•"/>
            </a:pPr>
            <a:r>
              <a:rPr lang="ru-RU" b="1" dirty="0">
                <a:solidFill>
                  <a:srgbClr val="000000"/>
                </a:solidFill>
              </a:rPr>
              <a:t>Блок приводного рычага. </a:t>
            </a:r>
            <a:r>
              <a:rPr lang="ru-RU" dirty="0">
                <a:solidFill>
                  <a:srgbClr val="000000"/>
                </a:solidFill>
              </a:rPr>
              <a:t>Головки чтения/записи монтируются на блок приводного рычага, который позиционирует головку чтения/записи на пластине в том месте, где нужно записать или прочитать данные. Головки чтения/записи для всех пластин дисковода подключены к одному блоку приводного рычага и перемещаются между пластинами одновременно. </a:t>
            </a:r>
          </a:p>
          <a:p>
            <a:pPr marL="181240" indent="-181240">
              <a:spcBef>
                <a:spcPts val="600"/>
              </a:spcBef>
              <a:buFont typeface="Arial" panose="020B0604020202020204" pitchFamily="34" charset="0"/>
              <a:buChar char="•"/>
            </a:pPr>
            <a:r>
              <a:rPr lang="ru-RU" b="1" dirty="0">
                <a:solidFill>
                  <a:srgbClr val="000000"/>
                </a:solidFill>
              </a:rPr>
              <a:t>Плата контроллера диска. </a:t>
            </a:r>
            <a:r>
              <a:rPr lang="ru-RU" dirty="0">
                <a:solidFill>
                  <a:srgbClr val="000000"/>
                </a:solidFill>
              </a:rPr>
              <a:t>Контроллер — это печатная плата, смонтированная в нижней части дискового накопителя. Он состоит из микропроцессора, внутренней памяти, микросхем и встроенного ПО. Встроенное ПО контролирует питание, которое подается на привод шпинделя, а также контролирует скорость двигателя. Контроллер управляет связью между диском и вычислительной системой. Кроме того, он контролирует операции чтения/записи, перемещая приводной рычаг и переключая головки чтения/записи, а также оптимизирует доступ к данным.</a:t>
            </a:r>
          </a:p>
          <a:p>
            <a:pPr marL="181240" indent="-181240">
              <a:spcBef>
                <a:spcPts val="600"/>
              </a:spcBef>
              <a:buFont typeface="Arial" panose="020B0604020202020204" pitchFamily="34" charset="0"/>
              <a:buChar char="•"/>
            </a:pPr>
            <a:endParaRPr lang="ru-RU"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2280883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Данные записываются на диск в виде </a:t>
            </a:r>
            <a:r>
              <a:rPr lang="ru-RU" b="0" i="1" dirty="0">
                <a:solidFill>
                  <a:srgbClr val="000000"/>
                </a:solidFill>
                <a:latin typeface="Arial" pitchFamily="34" charset="0"/>
                <a:cs typeface="Arial" pitchFamily="34" charset="0"/>
              </a:rPr>
              <a:t>дорожек</a:t>
            </a:r>
            <a:r>
              <a:rPr lang="ru-RU" b="0" i="0" dirty="0">
                <a:solidFill>
                  <a:srgbClr val="000000"/>
                </a:solidFill>
                <a:latin typeface="Arial" pitchFamily="34" charset="0"/>
                <a:cs typeface="Arial" pitchFamily="34" charset="0"/>
              </a:rPr>
              <a:t> — концентрических колец на пластине вокруг шпинделя. Дорожки пронумерованы с наружного края пластины (начиная с нуля). Количество </a:t>
            </a:r>
            <a:r>
              <a:rPr lang="ru-RU" b="0" i="1" dirty="0">
                <a:solidFill>
                  <a:srgbClr val="000000"/>
                </a:solidFill>
                <a:latin typeface="Arial" pitchFamily="34" charset="0"/>
                <a:cs typeface="Arial" pitchFamily="34" charset="0"/>
              </a:rPr>
              <a:t>дорожек на дюйм </a:t>
            </a:r>
            <a:r>
              <a:rPr lang="ru-RU" b="0" i="0" dirty="0">
                <a:solidFill>
                  <a:srgbClr val="000000"/>
                </a:solidFill>
                <a:latin typeface="Arial" pitchFamily="34" charset="0"/>
                <a:cs typeface="Arial" pitchFamily="34" charset="0"/>
              </a:rPr>
              <a:t>(TPI) пластины (или </a:t>
            </a:r>
            <a:r>
              <a:rPr lang="ru-RU" b="0" i="1" dirty="0">
                <a:solidFill>
                  <a:srgbClr val="000000"/>
                </a:solidFill>
                <a:latin typeface="Arial" pitchFamily="34" charset="0"/>
                <a:cs typeface="Arial" pitchFamily="34" charset="0"/>
              </a:rPr>
              <a:t>плотность дорожек</a:t>
            </a:r>
            <a:r>
              <a:rPr lang="ru-RU" b="0" i="0" dirty="0">
                <a:solidFill>
                  <a:srgbClr val="000000"/>
                </a:solidFill>
                <a:latin typeface="Arial" pitchFamily="34" charset="0"/>
                <a:cs typeface="Arial" pitchFamily="34" charset="0"/>
              </a:rPr>
              <a:t>) измеряет, насколько плотно дорожки расположены на пластине.</a:t>
            </a:r>
          </a:p>
          <a:p>
            <a:pPr>
              <a:spcBef>
                <a:spcPts val="600"/>
              </a:spcBef>
            </a:pPr>
            <a:r>
              <a:rPr lang="ru-RU" b="0" i="0" dirty="0">
                <a:solidFill>
                  <a:srgbClr val="000000"/>
                </a:solidFill>
                <a:latin typeface="Arial" pitchFamily="34" charset="0"/>
                <a:cs typeface="Arial" pitchFamily="34" charset="0"/>
              </a:rPr>
              <a:t>Каждая дорожка разделена на более мелкие единицы — </a:t>
            </a:r>
            <a:r>
              <a:rPr lang="ru-RU" b="0" i="1" dirty="0">
                <a:solidFill>
                  <a:srgbClr val="000000"/>
                </a:solidFill>
                <a:latin typeface="Arial" pitchFamily="34" charset="0"/>
                <a:cs typeface="Arial" pitchFamily="34" charset="0"/>
              </a:rPr>
              <a:t>сектора</a:t>
            </a:r>
            <a:r>
              <a:rPr lang="ru-RU" b="0" i="0" dirty="0">
                <a:solidFill>
                  <a:srgbClr val="000000"/>
                </a:solidFill>
                <a:latin typeface="Arial" pitchFamily="34" charset="0"/>
                <a:cs typeface="Arial" pitchFamily="34" charset="0"/>
              </a:rPr>
              <a:t>. Сектор — это наименьшая единица системы хранения с индивидуальной адресацией. Структура дорожки и сектора записывается на пластину производителем диска с использованием операции форматирования низкого уровня. Количество секторов на дорожке может быть разным в зависимости от типа диска. В зависимости от физических размеров и плотности записи, на пластине могут быть тысячи дорожек.</a:t>
            </a:r>
          </a:p>
          <a:p>
            <a:pPr>
              <a:spcBef>
                <a:spcPts val="600"/>
              </a:spcBef>
            </a:pPr>
            <a:r>
              <a:rPr lang="ru-RU" b="0" i="0" dirty="0">
                <a:solidFill>
                  <a:srgbClr val="000000"/>
                </a:solidFill>
                <a:latin typeface="Arial" pitchFamily="34" charset="0"/>
                <a:cs typeface="Arial" pitchFamily="34" charset="0"/>
              </a:rPr>
              <a:t>Обычно сектор содержит 512 байт пользовательских данных, хотя некоторые диски могут быть отформатированы с большими размерами сектора. Помимо пользовательских данных в секторе также хранится другая информация: номер сектора, номер головки или пластины, а также номер дорожки. С помощью этой информации контроллер размещает данные на диске.</a:t>
            </a:r>
          </a:p>
          <a:p>
            <a:pPr>
              <a:spcBef>
                <a:spcPts val="600"/>
              </a:spcBef>
            </a:pPr>
            <a:r>
              <a:rPr lang="ru-RU" b="0" i="0" dirty="0">
                <a:solidFill>
                  <a:srgbClr val="000000"/>
                </a:solidFill>
                <a:latin typeface="Arial" pitchFamily="34" charset="0"/>
                <a:cs typeface="Arial" pitchFamily="34" charset="0"/>
              </a:rPr>
              <a:t>Цилиндр — это набор идентичных дорожек на обеих поверхностях каждой пластины диска. Размещение головок чтения/записи указывается в номере цилиндра, а не дорожки.</a:t>
            </a:r>
          </a:p>
        </p:txBody>
      </p:sp>
    </p:spTree>
    <p:extLst>
      <p:ext uri="{BB962C8B-B14F-4D97-AF65-F5344CB8AC3E}">
        <p14:creationId xmlns:p14="http://schemas.microsoft.com/office/powerpoint/2010/main" val="2306323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Раньше диски использовали физические адреса, состоящие из номера </a:t>
            </a:r>
            <a:r>
              <a:rPr lang="ru-RU" b="0" i="1" dirty="0">
                <a:solidFill>
                  <a:srgbClr val="000000"/>
                </a:solidFill>
                <a:latin typeface="Arial" pitchFamily="34" charset="0"/>
                <a:cs typeface="Arial" pitchFamily="34" charset="0"/>
              </a:rPr>
              <a:t>цилиндра, головки и сектора (CH</a:t>
            </a:r>
            <a:r>
              <a:rPr lang="ru-RU" b="0" i="0" dirty="0">
                <a:solidFill>
                  <a:srgbClr val="000000"/>
                </a:solidFill>
                <a:latin typeface="Arial" pitchFamily="34" charset="0"/>
                <a:cs typeface="Arial" pitchFamily="34" charset="0"/>
              </a:rPr>
              <a:t>S</a:t>
            </a:r>
            <a:r>
              <a:rPr lang="ru-RU" b="0" i="1"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для ссылки на конкретные местоположения на диске, а ОС нужно было уведомлять о геометрии каждого используемого диска. </a:t>
            </a:r>
            <a:r>
              <a:rPr lang="ru-RU" b="0" i="1" dirty="0">
                <a:solidFill>
                  <a:srgbClr val="000000"/>
                </a:solidFill>
                <a:latin typeface="Arial" pitchFamily="34" charset="0"/>
                <a:cs typeface="Arial" pitchFamily="34" charset="0"/>
              </a:rPr>
              <a:t>Адресация логического блока </a:t>
            </a:r>
            <a:r>
              <a:rPr lang="ru-RU" b="0" i="0" dirty="0">
                <a:solidFill>
                  <a:srgbClr val="000000"/>
                </a:solidFill>
                <a:latin typeface="Arial" pitchFamily="34" charset="0"/>
                <a:cs typeface="Arial" pitchFamily="34" charset="0"/>
              </a:rPr>
              <a:t>(LBA) упростила адресацию использованием линейного адреса для доступа к физическим блокам данных. Дисковый контроллер переводит адрес LBA в адрес CHS, а вычислительной системе нужно знать только размер дискового накопителя относительно количества блоков. Установлено соответствие логических блоков с физическими секторами в отношении 1:1.</a:t>
            </a:r>
          </a:p>
          <a:p>
            <a:pPr>
              <a:spcBef>
                <a:spcPts val="600"/>
              </a:spcBef>
            </a:pPr>
            <a:r>
              <a:rPr lang="ru-RU" b="0" i="0" dirty="0">
                <a:solidFill>
                  <a:srgbClr val="000000"/>
                </a:solidFill>
                <a:latin typeface="Arial" pitchFamily="34" charset="0"/>
                <a:cs typeface="Arial" pitchFamily="34" charset="0"/>
              </a:rPr>
              <a:t>На этом слайде диск имеет восемь секторов на каждой дорожке, шесть головок и четыре цилиндра. Таким образом, общее количество блоков: 8 × 6 × 4 = 192, а номер блока от 0 до 191. Каждый блок имеет свой уникальный адрес. </a:t>
            </a:r>
          </a:p>
          <a:p>
            <a:pPr>
              <a:spcBef>
                <a:spcPts val="600"/>
              </a:spcBef>
            </a:pPr>
            <a:r>
              <a:rPr lang="ru-RU" b="0" i="0" dirty="0">
                <a:solidFill>
                  <a:srgbClr val="000000"/>
                </a:solidFill>
                <a:latin typeface="Arial" pitchFamily="34" charset="0"/>
                <a:cs typeface="Arial" pitchFamily="34" charset="0"/>
              </a:rPr>
              <a:t>При условии, что сектор содержит 512 байт, диск на 500 Гбайт с форматированной емкостью 465,7 Гбайт имеет 976 000 000 избыточных блоков.</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168469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Дисковый накопитель — это электромеханическое устройство, которое определяет общую производительность среды системы хранения. Различные факторы, которые воздействуют на производительность дисковых накопителей:</a:t>
            </a:r>
          </a:p>
          <a:p>
            <a:pPr marL="181240" indent="-18124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время поиска;</a:t>
            </a:r>
          </a:p>
          <a:p>
            <a:pPr marL="181240" indent="-18124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задержка из-за вращения диска;</a:t>
            </a:r>
          </a:p>
          <a:p>
            <a:pPr marL="181240" indent="-181240">
              <a:spcBef>
                <a:spcPts val="600"/>
              </a:spcBef>
              <a:buFont typeface="Arial" panose="020B0604020202020204" pitchFamily="34" charset="0"/>
              <a:buChar char="•"/>
            </a:pPr>
            <a:r>
              <a:rPr lang="ru-RU" b="0" i="0" dirty="0">
                <a:solidFill>
                  <a:srgbClr val="000000"/>
                </a:solidFill>
                <a:latin typeface="Arial" pitchFamily="34" charset="0"/>
                <a:cs typeface="Arial" pitchFamily="34" charset="0"/>
              </a:rPr>
              <a:t>скорость передачи данных;</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1819083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Время поиска</a:t>
            </a:r>
            <a:r>
              <a:rPr lang="ru-RU" b="0" i="0" dirty="0">
                <a:solidFill>
                  <a:srgbClr val="000000"/>
                </a:solidFill>
                <a:latin typeface="Arial" pitchFamily="34" charset="0"/>
                <a:cs typeface="Arial" pitchFamily="34" charset="0"/>
              </a:rPr>
              <a:t> (также именуемое </a:t>
            </a:r>
            <a:r>
              <a:rPr lang="ru-RU" b="0" i="1" dirty="0">
                <a:solidFill>
                  <a:srgbClr val="000000"/>
                </a:solidFill>
                <a:latin typeface="Arial" pitchFamily="34" charset="0"/>
                <a:cs typeface="Arial" pitchFamily="34" charset="0"/>
              </a:rPr>
              <a:t>время доступа</a:t>
            </a:r>
            <a:r>
              <a:rPr lang="ru-RU" b="0" i="0" dirty="0">
                <a:solidFill>
                  <a:srgbClr val="000000"/>
                </a:solidFill>
                <a:latin typeface="Arial" pitchFamily="34" charset="0"/>
                <a:cs typeface="Arial" pitchFamily="34" charset="0"/>
              </a:rPr>
              <a:t>) описывает время, необходимое для позиционирования головок чтения/записи на пластине с радиальным движением (перемещение по радиусу пластины). Другими словами, это время, необходимое для позиционирования и установки рычага и головки на правильной дорожке. Таким образом, чем меньше времени занимает поиск, тем быстрей проходит операция ввода-вывода. Производители дисков указывают такие характеристики времени поиска:</a:t>
            </a:r>
          </a:p>
          <a:p>
            <a:pPr marL="181240" indent="-181240">
              <a:spcBef>
                <a:spcPts val="600"/>
              </a:spcBef>
              <a:buFont typeface="Arial" panose="020B0604020202020204" pitchFamily="34" charset="0"/>
              <a:buChar char="•"/>
            </a:pPr>
            <a:r>
              <a:rPr lang="ru-RU" b="1" i="0" dirty="0">
                <a:solidFill>
                  <a:srgbClr val="000000"/>
                </a:solidFill>
                <a:latin typeface="Arial" pitchFamily="34" charset="0"/>
                <a:cs typeface="Arial" pitchFamily="34" charset="0"/>
              </a:rPr>
              <a:t>Полный оборот.</a:t>
            </a:r>
            <a:r>
              <a:rPr lang="ru-RU" b="0" i="0" dirty="0">
                <a:solidFill>
                  <a:srgbClr val="000000"/>
                </a:solidFill>
                <a:latin typeface="Arial" pitchFamily="34" charset="0"/>
                <a:cs typeface="Arial" pitchFamily="34" charset="0"/>
              </a:rPr>
              <a:t> Это время, необходимое для перемещения головки чтения/записи по всей ширине диска, от внутренней дорожки до внешней.</a:t>
            </a:r>
          </a:p>
          <a:p>
            <a:pPr marL="181240" indent="-181240">
              <a:spcBef>
                <a:spcPts val="600"/>
              </a:spcBef>
              <a:buFont typeface="Arial" panose="020B0604020202020204" pitchFamily="34" charset="0"/>
              <a:buChar char="•"/>
            </a:pPr>
            <a:r>
              <a:rPr lang="ru-RU" b="1" i="0" dirty="0">
                <a:solidFill>
                  <a:srgbClr val="000000"/>
                </a:solidFill>
                <a:latin typeface="Arial" pitchFamily="34" charset="0"/>
                <a:cs typeface="Arial" pitchFamily="34" charset="0"/>
              </a:rPr>
              <a:t>Среднее время поиска.</a:t>
            </a:r>
            <a:r>
              <a:rPr lang="ru-RU" b="0" i="0" dirty="0">
                <a:solidFill>
                  <a:srgbClr val="000000"/>
                </a:solidFill>
                <a:latin typeface="Arial" pitchFamily="34" charset="0"/>
                <a:cs typeface="Arial" pitchFamily="34" charset="0"/>
              </a:rPr>
              <a:t> Это среднее время, необходимое головке чтения/записи для перемещения с одной произвольной дорожки на другую. Обычно оно указывается как время для совершения трети полного оборота.</a:t>
            </a:r>
          </a:p>
          <a:p>
            <a:pPr marL="181240" indent="-181240">
              <a:spcBef>
                <a:spcPts val="600"/>
              </a:spcBef>
              <a:buFont typeface="Arial" panose="020B0604020202020204" pitchFamily="34" charset="0"/>
              <a:buChar char="•"/>
            </a:pPr>
            <a:r>
              <a:rPr lang="ru-RU" b="1" i="0" dirty="0">
                <a:solidFill>
                  <a:srgbClr val="000000"/>
                </a:solidFill>
                <a:latin typeface="Arial" pitchFamily="34" charset="0"/>
                <a:cs typeface="Arial" pitchFamily="34" charset="0"/>
              </a:rPr>
              <a:t>Переход с дорожки на дорожку.</a:t>
            </a:r>
            <a:r>
              <a:rPr lang="ru-RU" b="0" i="0" dirty="0">
                <a:solidFill>
                  <a:srgbClr val="000000"/>
                </a:solidFill>
                <a:latin typeface="Arial" pitchFamily="34" charset="0"/>
                <a:cs typeface="Arial" pitchFamily="34" charset="0"/>
              </a:rPr>
              <a:t> Это время, необходимое головке чтения/записи для перемещения между соседними дорожками.</a:t>
            </a:r>
          </a:p>
          <a:p>
            <a:pPr>
              <a:spcBef>
                <a:spcPts val="600"/>
              </a:spcBef>
            </a:pPr>
            <a:r>
              <a:rPr lang="ru-RU" b="0" i="0" dirty="0">
                <a:solidFill>
                  <a:srgbClr val="000000"/>
                </a:solidFill>
                <a:latin typeface="Arial" pitchFamily="34" charset="0"/>
                <a:cs typeface="Arial" pitchFamily="34" charset="0"/>
              </a:rPr>
              <a:t>Каждая из этих характеристик измеряется в миллисекундах (мс). Время поиска диска обычно указывается его производителем. Среднее время поиска для современного диска обычно составляет от 3 до 15 мс. Время поиска влияет на операции ввода-вывода произвольных дорожек больше, чем соседних дорожек. Чтобы сократить время поиска, данные можно записывать только в подраздел доступных цилиндров. В результате полезная емкость будет меньше фактической емкости диска. Например, дисковый накопитель на 500 Гбайт установлен на использование только первых 40 процентов цилиндров и в результате рассматривается как диск на 200 Гбайт. Это известно как </a:t>
            </a:r>
            <a:r>
              <a:rPr lang="ru-RU" b="0" i="1" dirty="0">
                <a:solidFill>
                  <a:srgbClr val="000000"/>
                </a:solidFill>
                <a:latin typeface="Arial" pitchFamily="34" charset="0"/>
                <a:cs typeface="Arial" pitchFamily="34" charset="0"/>
              </a:rPr>
              <a:t>«короткий ход»</a:t>
            </a:r>
            <a:r>
              <a:rPr lang="ru-RU" b="0" i="0" dirty="0">
                <a:solidFill>
                  <a:srgbClr val="000000"/>
                </a:solidFill>
                <a:latin typeface="Arial" pitchFamily="34" charset="0"/>
                <a:cs typeface="Arial" pitchFamily="34" charset="0"/>
              </a:rPr>
              <a:t> диска.</a:t>
            </a:r>
          </a:p>
          <a:p>
            <a:pPr>
              <a:spcBef>
                <a:spcPts val="600"/>
              </a:spcBef>
            </a:pPr>
            <a:endParaRPr lang="ru-RU" b="1" dirty="0">
              <a:latin typeface="Arial" pitchFamily="34" charset="0"/>
              <a:cs typeface="Arial" pitchFamily="34" charset="0"/>
            </a:endParaRPr>
          </a:p>
        </p:txBody>
      </p:sp>
    </p:spTree>
    <p:extLst>
      <p:ext uri="{BB962C8B-B14F-4D97-AF65-F5344CB8AC3E}">
        <p14:creationId xmlns:p14="http://schemas.microsoft.com/office/powerpoint/2010/main" val="1772802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Для доступа к данным</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приводной рычаг перемещает головку чтения/записи над пластиной к конкретной дорожке, в то время как пластина вращается для позиционирования необходимого сектора под головкой чтения/записи. Время, необходимое пластине для вращения и позиционирования данных в головке чтения/записи, называется </a:t>
            </a:r>
            <a:r>
              <a:rPr lang="ru-RU" b="0" i="1" dirty="0">
                <a:solidFill>
                  <a:srgbClr val="000000"/>
                </a:solidFill>
                <a:latin typeface="Arial" pitchFamily="34" charset="0"/>
                <a:cs typeface="Arial" pitchFamily="34" charset="0"/>
              </a:rPr>
              <a:t>задержка из-за вращения диска</a:t>
            </a:r>
            <a:r>
              <a:rPr lang="ru-RU" b="0" i="0" dirty="0">
                <a:solidFill>
                  <a:srgbClr val="000000"/>
                </a:solidFill>
                <a:latin typeface="Arial" pitchFamily="34" charset="0"/>
                <a:cs typeface="Arial" pitchFamily="34" charset="0"/>
              </a:rPr>
              <a:t>. Эта задержка зависит от скорости вращения шпинделя и измеряется в миллисекундах. Средняя задержка из-за вращения диска равна половине времени, необходимого для полного вращения. Аналогично времени поиска, задержка из-за вращения диска больше влияет на чтение/запись произвольных секторов диска, а не тех же операций в соседних секторах.</a:t>
            </a:r>
          </a:p>
          <a:p>
            <a:pPr>
              <a:spcBef>
                <a:spcPts val="600"/>
              </a:spcBef>
            </a:pPr>
            <a:r>
              <a:rPr lang="ru-RU" b="0" i="0" dirty="0">
                <a:solidFill>
                  <a:srgbClr val="000000"/>
                </a:solidFill>
                <a:latin typeface="Arial" pitchFamily="34" charset="0"/>
                <a:cs typeface="Arial" pitchFamily="34" charset="0"/>
              </a:rPr>
              <a:t>Средняя задержка из-за вращения диска приблизительно составляет 5,5 мс для диска на 5400 об/мин и около 2 мс для диска на 15 000 об/мин, как показано ниже.</a:t>
            </a:r>
          </a:p>
          <a:p>
            <a:pPr>
              <a:spcBef>
                <a:spcPts val="600"/>
              </a:spcBef>
            </a:pPr>
            <a:r>
              <a:rPr lang="ru-RU" b="0" i="0" dirty="0">
                <a:solidFill>
                  <a:srgbClr val="000000"/>
                </a:solidFill>
                <a:latin typeface="Arial" pitchFamily="34" charset="0"/>
                <a:cs typeface="Arial" pitchFamily="34" charset="0"/>
              </a:rPr>
              <a:t>Средняя задержка из-за вращения диска для диска на 15 000 об/мин (30 0000/15 000) = 2 30 000/15 000 = 2 мс</a:t>
            </a:r>
          </a:p>
        </p:txBody>
      </p:sp>
    </p:spTree>
    <p:extLst>
      <p:ext uri="{BB962C8B-B14F-4D97-AF65-F5344CB8AC3E}">
        <p14:creationId xmlns:p14="http://schemas.microsoft.com/office/powerpoint/2010/main" val="1961170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Скорость передачи данных</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(также именуемая </a:t>
            </a:r>
            <a:r>
              <a:rPr lang="ru-RU" b="0" i="1" dirty="0">
                <a:solidFill>
                  <a:srgbClr val="000000"/>
                </a:solidFill>
                <a:latin typeface="Arial" pitchFamily="34" charset="0"/>
                <a:cs typeface="Arial" pitchFamily="34" charset="0"/>
              </a:rPr>
              <a:t>скорость передачи</a:t>
            </a:r>
            <a:r>
              <a:rPr lang="ru-RU" b="0" i="0" dirty="0">
                <a:solidFill>
                  <a:srgbClr val="000000"/>
                </a:solidFill>
                <a:latin typeface="Arial" pitchFamily="34" charset="0"/>
                <a:cs typeface="Arial" pitchFamily="34" charset="0"/>
              </a:rPr>
              <a:t>) — это среднее количество данных, которое диск может доставить HBA-адаптеру за единицу времени. Во время </a:t>
            </a:r>
            <a:r>
              <a:rPr lang="ru-RU" b="0" i="1" dirty="0">
                <a:solidFill>
                  <a:srgbClr val="000000"/>
                </a:solidFill>
                <a:latin typeface="Arial" pitchFamily="34" charset="0"/>
                <a:cs typeface="Arial" pitchFamily="34" charset="0"/>
              </a:rPr>
              <a:t>операции чтения</a:t>
            </a:r>
            <a:r>
              <a:rPr lang="ru-RU" b="0" i="0" dirty="0">
                <a:solidFill>
                  <a:srgbClr val="000000"/>
                </a:solidFill>
                <a:latin typeface="Arial" pitchFamily="34" charset="0"/>
                <a:cs typeface="Arial" pitchFamily="34" charset="0"/>
              </a:rPr>
              <a:t> данные сначала перемещаются с пластин диска на головки чтения/записи. После этого они перемещаются во внутренний </a:t>
            </a:r>
            <a:r>
              <a:rPr lang="ru-RU" b="0" i="1" dirty="0">
                <a:solidFill>
                  <a:srgbClr val="000000"/>
                </a:solidFill>
                <a:latin typeface="Arial" pitchFamily="34" charset="0"/>
                <a:cs typeface="Arial" pitchFamily="34" charset="0"/>
              </a:rPr>
              <a:t>буфер</a:t>
            </a:r>
            <a:r>
              <a:rPr lang="ru-RU" b="0" i="0" dirty="0">
                <a:solidFill>
                  <a:srgbClr val="000000"/>
                </a:solidFill>
                <a:latin typeface="Arial" pitchFamily="34" charset="0"/>
                <a:cs typeface="Arial" pitchFamily="34" charset="0"/>
              </a:rPr>
              <a:t> диска. Наконец, данные перемещаются с буфера через интерфейс в HBA-адаптер вычислительной системы. Во время </a:t>
            </a:r>
            <a:r>
              <a:rPr lang="ru-RU" b="0" i="1" dirty="0">
                <a:solidFill>
                  <a:srgbClr val="000000"/>
                </a:solidFill>
                <a:latin typeface="Arial" pitchFamily="34" charset="0"/>
                <a:cs typeface="Arial" pitchFamily="34" charset="0"/>
              </a:rPr>
              <a:t>операции чтения</a:t>
            </a:r>
            <a:r>
              <a:rPr lang="ru-RU" b="0" i="0" dirty="0">
                <a:solidFill>
                  <a:srgbClr val="000000"/>
                </a:solidFill>
                <a:latin typeface="Arial" pitchFamily="34" charset="0"/>
                <a:cs typeface="Arial" pitchFamily="34" charset="0"/>
              </a:rPr>
              <a:t> данные перемещаются из HBA-адаптера во внутренний буфер дискового накопителя через интерфейс диска. После этого данные перемещаются из буфера в головки чтения/записи. Наконец, они перемещаются с головок чтения/записи на пластины. Скорость передачи данных во время операций чтения/записи измеряется в отношении скорости внутренней и внешней передачи, как показано на слайде.</a:t>
            </a:r>
          </a:p>
          <a:p>
            <a:pPr>
              <a:spcBef>
                <a:spcPts val="600"/>
              </a:spcBef>
            </a:pPr>
            <a:r>
              <a:rPr lang="ru-RU" b="0" i="1" dirty="0">
                <a:solidFill>
                  <a:srgbClr val="000000"/>
                </a:solidFill>
                <a:latin typeface="Arial" pitchFamily="34" charset="0"/>
                <a:cs typeface="Arial" pitchFamily="34" charset="0"/>
              </a:rPr>
              <a:t>Скорость внутренней передачи</a:t>
            </a:r>
            <a:r>
              <a:rPr lang="ru-RU" b="0" i="0" dirty="0">
                <a:solidFill>
                  <a:srgbClr val="000000"/>
                </a:solidFill>
                <a:latin typeface="Arial" pitchFamily="34" charset="0"/>
                <a:cs typeface="Arial" pitchFamily="34" charset="0"/>
              </a:rPr>
              <a:t> — это скорость, с которой данные перемещаются с поверхности пластины во внутренний буфер (кэш-память) диска. Скорость внутренней передачи учитывает такие факторы, как время поиска и задержка из-за вращения диска.</a:t>
            </a:r>
            <a:r>
              <a:rPr lang="ru-RU" b="1" i="0" dirty="0">
                <a:solidFill>
                  <a:srgbClr val="000000"/>
                </a:solidFill>
                <a:latin typeface="Arial" pitchFamily="34" charset="0"/>
                <a:cs typeface="Arial" pitchFamily="34" charset="0"/>
              </a:rPr>
              <a:t> </a:t>
            </a:r>
            <a:r>
              <a:rPr lang="ru-RU" b="0" i="1" dirty="0">
                <a:solidFill>
                  <a:srgbClr val="000000"/>
                </a:solidFill>
                <a:latin typeface="Arial" pitchFamily="34" charset="0"/>
                <a:cs typeface="Arial" pitchFamily="34" charset="0"/>
              </a:rPr>
              <a:t>Скорость внешней передачи</a:t>
            </a:r>
            <a:r>
              <a:rPr lang="ru-RU" b="0" i="0" dirty="0">
                <a:solidFill>
                  <a:srgbClr val="000000"/>
                </a:solidFill>
                <a:latin typeface="Arial" pitchFamily="34" charset="0"/>
                <a:cs typeface="Arial" pitchFamily="34" charset="0"/>
              </a:rPr>
              <a:t> — это скорость, с которой данные могут перемещаться через интерфейс в HBA-адаптер. В общем, скорость внешней передачи — это заявленная скорость интерфейса, например, 133 Мбайт/с для ATA. </a:t>
            </a:r>
          </a:p>
        </p:txBody>
      </p:sp>
    </p:spTree>
    <p:extLst>
      <p:ext uri="{BB962C8B-B14F-4D97-AF65-F5344CB8AC3E}">
        <p14:creationId xmlns:p14="http://schemas.microsoft.com/office/powerpoint/2010/main" val="2912770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Использование контроллера ввода-вывода диска имеет значительное воздействие на время отклика ввода-вывода. Можно представить, что диск состоит из двух элементов: очереди и контроллера ввода-вывода диска. </a:t>
            </a:r>
            <a:r>
              <a:rPr lang="ru-RU" b="0" i="1" dirty="0">
                <a:solidFill>
                  <a:srgbClr val="000000"/>
                </a:solidFill>
                <a:latin typeface="Arial" pitchFamily="34" charset="0"/>
                <a:cs typeface="Arial" pitchFamily="34" charset="0"/>
              </a:rPr>
              <a:t>Очередь</a:t>
            </a:r>
            <a:r>
              <a:rPr lang="ru-RU" b="0" i="0" dirty="0">
                <a:solidFill>
                  <a:srgbClr val="000000"/>
                </a:solidFill>
                <a:latin typeface="Arial" pitchFamily="34" charset="0"/>
                <a:cs typeface="Arial" pitchFamily="34" charset="0"/>
              </a:rPr>
              <a:t> — это место, где запрос ввода-вывода ожидает обработки контроллером ввода-вывода, после чего </a:t>
            </a:r>
            <a:r>
              <a:rPr lang="ru-RU" b="0" i="1" dirty="0">
                <a:solidFill>
                  <a:srgbClr val="000000"/>
                </a:solidFill>
                <a:latin typeface="Arial" pitchFamily="34" charset="0"/>
                <a:cs typeface="Arial" pitchFamily="34" charset="0"/>
              </a:rPr>
              <a:t>контроллер ввода-вывода диска</a:t>
            </a:r>
            <a:r>
              <a:rPr lang="ru-RU" b="0" i="0" dirty="0">
                <a:solidFill>
                  <a:srgbClr val="000000"/>
                </a:solidFill>
                <a:latin typeface="Arial" pitchFamily="34" charset="0"/>
                <a:cs typeface="Arial" pitchFamily="34" charset="0"/>
              </a:rPr>
              <a:t> по порядку обработает операции ввода-вывода, ожидающие в очереди. </a:t>
            </a:r>
          </a:p>
          <a:p>
            <a:pPr>
              <a:spcBef>
                <a:spcPts val="600"/>
              </a:spcBef>
            </a:pPr>
            <a:r>
              <a:rPr lang="ru-RU" b="0" i="0" dirty="0">
                <a:solidFill>
                  <a:srgbClr val="000000"/>
                </a:solidFill>
                <a:latin typeface="Arial" pitchFamily="34" charset="0"/>
                <a:cs typeface="Arial" pitchFamily="34" charset="0"/>
              </a:rPr>
              <a:t>Запросы ввода-вывода поступают на контроллер со скоростью, определяемой приложением. Скорость поступления операций ввода-вывода, длина очереди и время, необходимое контроллеру для обработки каждого запроса, определяют время отклика ввода-вывода. Если контроллер занят или сильно загружен, размер очереди будет большой, а время отклика длительное. Основываясь на ключевых правилах производительности дискового накопителя, отношение между использованием контроллера и средним временем отклика выглядит следующим образом:</a:t>
            </a:r>
          </a:p>
          <a:p>
            <a:pPr>
              <a:spcBef>
                <a:spcPts val="600"/>
              </a:spcBef>
            </a:pPr>
            <a:r>
              <a:rPr lang="ru-RU" b="0" i="1" dirty="0">
                <a:solidFill>
                  <a:srgbClr val="000000"/>
                </a:solidFill>
                <a:latin typeface="Arial" pitchFamily="34" charset="0"/>
                <a:cs typeface="Arial" pitchFamily="34" charset="0"/>
              </a:rPr>
              <a:t>Среднее время отклика = время обработки/(1 – использование) </a:t>
            </a:r>
          </a:p>
          <a:p>
            <a:pPr>
              <a:spcBef>
                <a:spcPts val="600"/>
              </a:spcBef>
            </a:pPr>
            <a:r>
              <a:rPr lang="ru-RU" b="0" i="0" dirty="0">
                <a:solidFill>
                  <a:srgbClr val="000000"/>
                </a:solidFill>
                <a:latin typeface="Arial" pitchFamily="34" charset="0"/>
                <a:cs typeface="Arial" pitchFamily="34" charset="0"/>
              </a:rPr>
              <a:t>где время обработки — это время, необходимое контроллеру для обслуживания операций ввода-вывода.</a:t>
            </a:r>
          </a:p>
          <a:p>
            <a:pPr>
              <a:spcBef>
                <a:spcPts val="600"/>
              </a:spcBef>
            </a:pPr>
            <a:r>
              <a:rPr lang="ru-RU" b="0" i="0" dirty="0">
                <a:solidFill>
                  <a:srgbClr val="000000"/>
                </a:solidFill>
                <a:latin typeface="Arial" pitchFamily="34" charset="0"/>
                <a:cs typeface="Arial" pitchFamily="34" charset="0"/>
              </a:rPr>
              <a:t>Когда использование достигает 100 процентов, т. е. когда контроллер ввода-вывода использует все ресурсы, время отклика приближается к бесконечности. По существу, полностью используемый компонент или узкое место запускает сериализацию запросов ввода-вывода. Это означает, что каждый запрос ввода-вывода должен ожидать завершения предыдущих запросов ввода-вывода. На рисунке этого слайда показан график соотношения между использованием и временем отклика. На графике указано, что с увеличением использования время отклика изменяется нелинейно. Когда очередь имеет небольшой размер, время отклика остается коротким. Время отклика увеличивается медленно при добавлении нагрузки в очередь и увеличивается в геометрической прогрессии, когда использование превышает 70 процентов. Таким образом, для приложений с высокими требованиями к производительности следует нагружать диски не более чем на 70% их возможностей обработки операций ввода-вывода.</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16835360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Определение требований к системе хранения для приложения начинается с определения необходимой емкости хранения и производительности операций ввода-вывода. Емкость можно легко вычислить по размеру и количеству файловых систем и компонентов базы данных, используемых приложениями. Другие факторы, влияющие на производительность, время отклика ввода-вывода и конфигурацию системы хранения — это размер блока ввода-вывода, характеристики ввода-вывода и количество операций ввода-вывода, генерируемых приложением при максимальной рабочей нагрузке. </a:t>
            </a:r>
          </a:p>
          <a:p>
            <a:pPr>
              <a:spcBef>
                <a:spcPts val="600"/>
              </a:spcBef>
            </a:pPr>
            <a:r>
              <a:rPr lang="ru-RU" b="0" i="0" dirty="0">
                <a:solidFill>
                  <a:srgbClr val="000000"/>
                </a:solidFill>
                <a:latin typeface="Arial" pitchFamily="34" charset="0"/>
                <a:cs typeface="Arial" pitchFamily="34" charset="0"/>
              </a:rPr>
              <a:t>Время обработки диска (T</a:t>
            </a:r>
            <a:r>
              <a:rPr lang="ru-RU" b="0" i="0" baseline="-25000" dirty="0">
                <a:solidFill>
                  <a:srgbClr val="000000"/>
                </a:solidFill>
                <a:latin typeface="Arial" pitchFamily="34" charset="0"/>
                <a:cs typeface="Arial" pitchFamily="34" charset="0"/>
              </a:rPr>
              <a:t>S</a:t>
            </a:r>
            <a:r>
              <a:rPr lang="ru-RU" b="0" i="0" dirty="0">
                <a:solidFill>
                  <a:srgbClr val="000000"/>
                </a:solidFill>
                <a:latin typeface="Arial" pitchFamily="34" charset="0"/>
                <a:cs typeface="Arial" pitchFamily="34" charset="0"/>
              </a:rPr>
              <a:t>) для операций ввода-вывода — ключевой показатель производительности диска. T</a:t>
            </a:r>
            <a:r>
              <a:rPr lang="ru-RU" b="0" i="0" baseline="-25000" dirty="0">
                <a:solidFill>
                  <a:srgbClr val="000000"/>
                </a:solidFill>
                <a:latin typeface="Arial" pitchFamily="34" charset="0"/>
                <a:cs typeface="Arial" pitchFamily="34" charset="0"/>
              </a:rPr>
              <a:t>S</a:t>
            </a:r>
            <a:r>
              <a:rPr lang="ru-RU" b="0" i="0" dirty="0">
                <a:solidFill>
                  <a:srgbClr val="000000"/>
                </a:solidFill>
                <a:latin typeface="Arial" pitchFamily="34" charset="0"/>
                <a:cs typeface="Arial" pitchFamily="34" charset="0"/>
              </a:rPr>
              <a:t> наряду с коэффициентом полезной емкости диска (U) определяет время отклика ввода-вывода для приложения. Как описано ранее, общее время обработки диска — это сумма времени поиска, задержки из-за вращения диска и времени передачи. </a:t>
            </a:r>
          </a:p>
          <a:p>
            <a:pPr lvl="0">
              <a:spcBef>
                <a:spcPts val="600"/>
              </a:spcBef>
            </a:pPr>
            <a:r>
              <a:rPr lang="ru-RU" b="0" i="0" dirty="0">
                <a:solidFill>
                  <a:srgbClr val="000000"/>
                </a:solidFill>
                <a:latin typeface="Arial" pitchFamily="34" charset="0"/>
                <a:cs typeface="Arial" pitchFamily="34" charset="0"/>
              </a:rPr>
              <a:t>Обратите внимание, что время передачи высчитывается, основываясь на размере блока ввода-вывода и заявленной скорости передачи данных на дисковом накопителе. Например, для блока ввода-вывода размером 32 Кбайт и заявленной скорости передачи данных на диске 40 Мбайт/с, время передачи будет 32 Кбайт/40 Мбайт.</a:t>
            </a:r>
          </a:p>
          <a:p>
            <a:pPr>
              <a:spcBef>
                <a:spcPts val="600"/>
              </a:spcBef>
            </a:pPr>
            <a:r>
              <a:rPr lang="ru-RU" b="0" i="0" dirty="0">
                <a:solidFill>
                  <a:srgbClr val="000000"/>
                </a:solidFill>
                <a:latin typeface="Arial" pitchFamily="34" charset="0"/>
                <a:cs typeface="Arial" pitchFamily="34" charset="0"/>
              </a:rPr>
              <a:t>T</a:t>
            </a:r>
            <a:r>
              <a:rPr lang="ru-RU" b="0" i="0" baseline="-25000" dirty="0">
                <a:solidFill>
                  <a:srgbClr val="000000"/>
                </a:solidFill>
                <a:latin typeface="Arial" pitchFamily="34" charset="0"/>
                <a:cs typeface="Arial" pitchFamily="34" charset="0"/>
              </a:rPr>
              <a:t>S </a:t>
            </a:r>
            <a:r>
              <a:rPr lang="ru-RU" b="0" i="0" dirty="0">
                <a:solidFill>
                  <a:srgbClr val="000000"/>
                </a:solidFill>
                <a:latin typeface="Arial" pitchFamily="34" charset="0"/>
                <a:cs typeface="Arial" pitchFamily="34" charset="0"/>
              </a:rPr>
              <a:t>определяет время, необходимое для контроллера ввода-вывода, чтобы обрабатывать операции ввода-вывода. Таким образом, максимальное количество операций ввода-вывода, обрабатываемых за секунду или IOPS — (1/T</a:t>
            </a:r>
            <a:r>
              <a:rPr lang="ru-RU" b="0" i="0" baseline="-25000" dirty="0">
                <a:solidFill>
                  <a:srgbClr val="000000"/>
                </a:solidFill>
                <a:latin typeface="Arial" pitchFamily="34" charset="0"/>
                <a:cs typeface="Arial" pitchFamily="34" charset="0"/>
              </a:rPr>
              <a:t>S</a:t>
            </a:r>
            <a:r>
              <a:rPr lang="ru-RU" b="0" i="0" dirty="0">
                <a:solidFill>
                  <a:srgbClr val="000000"/>
                </a:solidFill>
                <a:latin typeface="Arial" pitchFamily="34" charset="0"/>
                <a:cs typeface="Arial" pitchFamily="34" charset="0"/>
              </a:rPr>
              <a:t>).</a:t>
            </a:r>
          </a:p>
          <a:p>
            <a:pPr>
              <a:spcBef>
                <a:spcPts val="600"/>
              </a:spcBef>
            </a:pPr>
            <a:r>
              <a:rPr lang="ru-RU" b="0" i="0" dirty="0">
                <a:solidFill>
                  <a:srgbClr val="000000"/>
                </a:solidFill>
                <a:latin typeface="Arial" pitchFamily="34" charset="0"/>
                <a:cs typeface="Arial" pitchFamily="34" charset="0"/>
              </a:rPr>
              <a:t>Вычисленное выше значение представляет операции IOPS, которых можно достичь при потенциально высоких уровнях использования контроллера ввода-вывода (почти 100 процентов). Если приложению необходимо меньшее время отклика, следует задействовать диски менее, чем на 70 процентов.</a:t>
            </a:r>
          </a:p>
          <a:p>
            <a:pPr>
              <a:spcBef>
                <a:spcPts val="600"/>
              </a:spcBef>
            </a:pPr>
            <a:r>
              <a:rPr lang="ru-RU" b="0" i="0" dirty="0">
                <a:solidFill>
                  <a:srgbClr val="000000"/>
                </a:solidFill>
                <a:latin typeface="Arial" pitchFamily="34" charset="0"/>
                <a:cs typeface="Arial" pitchFamily="34" charset="0"/>
              </a:rPr>
              <a:t>Основываясь на этих данных, общее количество необходимых приложению дисков рассчитывается следующим образом. Макс. (необходимые диски согласно требованиям емкости, необходимые диски согласно требованиям производительности)</a:t>
            </a:r>
            <a:endParaRPr lang="en-US" dirty="0">
              <a:latin typeface="Arial" pitchFamily="34" charset="0"/>
              <a:cs typeface="Arial" pitchFamily="34" charset="0"/>
            </a:endParaRPr>
          </a:p>
          <a:p>
            <a:pPr>
              <a:spcBef>
                <a:spcPts val="600"/>
              </a:spcBef>
            </a:pPr>
            <a:r>
              <a:rPr lang="ru-RU" dirty="0">
                <a:solidFill>
                  <a:srgbClr val="000000"/>
                </a:solidFill>
              </a:rPr>
              <a:t>Рассмотрим пример, где необходимая емкость для приложения составляет 1,46 Тбайт. Количество IOPS, генерируемых приложением при максимальной рабочей нагрузке, равняется 9000 IOPS. Поставщик указывает, что диск на 146 Гбайт и 15 000 об/мин может выполнить максимум 180 IOPS.</a:t>
            </a:r>
          </a:p>
          <a:p>
            <a:pPr>
              <a:spcBef>
                <a:spcPts val="600"/>
              </a:spcBef>
            </a:pPr>
            <a:r>
              <a:rPr lang="ru-RU" dirty="0">
                <a:solidFill>
                  <a:srgbClr val="000000"/>
                </a:solidFill>
              </a:rPr>
              <a:t>В этом примере количество дисков, необходимых согласно требованиям емкости, будет 1,46 Тбайт/146 Гбайт = 10 дисков. </a:t>
            </a:r>
          </a:p>
          <a:p>
            <a:pPr>
              <a:spcBef>
                <a:spcPts val="600"/>
              </a:spcBef>
            </a:pPr>
            <a:r>
              <a:rPr lang="ru-RU" dirty="0">
                <a:solidFill>
                  <a:srgbClr val="000000"/>
                </a:solidFill>
              </a:rPr>
              <a:t>Для соответствия требованиям IOPS приложения, необходимое количество дисков — 9000/180 = 50. Однако, если приложение чувствительно ко времени отклика, количество IOPS, которые может обрабатывать диск, нужно вычислять на основе 70 процентов использования диска. Учитывая это, количество IOPS, которые может обрабатывать диск при 70 процентах использования — 180 x 0,7 = 126 IOPS. Таким образом, для соответствия требованиям IOPS приложения, необходимое количество дисков — 9000/126 = 72.</a:t>
            </a:r>
          </a:p>
          <a:p>
            <a:pPr>
              <a:spcBef>
                <a:spcPts val="600"/>
              </a:spcBef>
            </a:pPr>
            <a:r>
              <a:rPr lang="ru-RU" dirty="0">
                <a:solidFill>
                  <a:srgbClr val="000000"/>
                </a:solidFill>
              </a:rPr>
              <a:t>В результате количество дисков, необходимых согласно требованиям приложения, будет Макс. (10, 72) = 72 диска.</a:t>
            </a:r>
          </a:p>
          <a:p>
            <a:pPr>
              <a:spcBef>
                <a:spcPts val="600"/>
              </a:spcBef>
            </a:pPr>
            <a:r>
              <a:rPr lang="ru-RU" dirty="0">
                <a:solidFill>
                  <a:srgbClr val="000000"/>
                </a:solidFill>
              </a:rPr>
              <a:t>Предыдущий пример показывает, что с точки зрения емкости 10 дисков достаточно. Тем не менее, количество дисков, необходимых согласно требованию производительности приложения — 72. Чтобы оптимизировать требования диска с точки зрения производительности, в реальном времени развертываются различные решения. Примеры таких решений — встроенная очередь команд диска, использование флэш-дисков, массивов RAID и кэш-памяти. Массивы RAID и кэш-память описываются более подробно в модуле 5 «Блочная система хранения». </a:t>
            </a:r>
          </a:p>
          <a:p>
            <a:pPr>
              <a:spcBef>
                <a:spcPts val="600"/>
              </a:spcBef>
            </a:pPr>
            <a:endParaRPr lang="en-US" dirty="0"/>
          </a:p>
          <a:p>
            <a:pPr>
              <a:spcBef>
                <a:spcPts val="600"/>
              </a:spcBef>
            </a:pPr>
            <a:endParaRPr lang="ru-RU"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42150933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рассматриваются компоненты интеллектуальной системы хранения. Кроме того, здесь рассматриваются компоненты, адресация и производительность жестких дисков.</a:t>
            </a:r>
          </a:p>
          <a:p>
            <a:pPr>
              <a:spcBef>
                <a:spcPts val="600"/>
              </a:spcBef>
            </a:pPr>
            <a:endParaRPr lang="ru-RU" dirty="0">
              <a:latin typeface="Arial" pitchFamily="34" charset="0"/>
              <a:cs typeface="Arial" pitchFamily="34" charset="0"/>
            </a:endParaRP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рассматриваются компоненты, адресация и производительность твердотельных дисков. </a:t>
            </a: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Твердотельные диски — это устройства хранения данных, содержащие энергонезависимую флэш-память. Твердотельные диски превосходят механические жесткие диски с точки зрения производительности, энергопотребления и доступности. Эти диски особенно хорошо подходят для приложений с малой задержкой, требующих стабильного, быстрого (менее 1 мс) времени отклика при чтении/записи. При использовании жестких дисков произвольные рабочие нагрузки малых блоков с высокой степенью параллелизма приводят к значительной задержке вращения и поиска, что существенно снижает пропускную способность. </a:t>
            </a:r>
          </a:p>
          <a:p>
            <a:pPr>
              <a:spcBef>
                <a:spcPts val="600"/>
              </a:spcBef>
            </a:pPr>
            <a:r>
              <a:rPr lang="ru-RU" b="0" i="0" u="none" dirty="0">
                <a:solidFill>
                  <a:srgbClr val="000000"/>
                </a:solidFill>
                <a:latin typeface="Arial" pitchFamily="34" charset="0"/>
                <a:cs typeface="Arial" pitchFamily="34" charset="0"/>
              </a:rPr>
              <a:t>Внешне твердотельные диски имеют такой же физический формат и соединители, как и механические жесткие диски. Таким образом поддерживается совместимость с механическими жесткими дисками по форме и формату и появляется возможность легко заменять механический диск твердотельным диском. Внутренняя архитектура аппаратного обеспечения твердотельного диска состоит из интерфейса ввода-вывода, контроллера и накопителя.</a:t>
            </a:r>
          </a:p>
          <a:p>
            <a:pPr>
              <a:spcBef>
                <a:spcPts val="600"/>
              </a:spcBef>
            </a:pPr>
            <a:r>
              <a:rPr lang="ru-RU" b="0" i="0" u="none" dirty="0">
                <a:solidFill>
                  <a:srgbClr val="000000"/>
                </a:solidFill>
                <a:latin typeface="Arial" pitchFamily="34" charset="0"/>
                <a:cs typeface="Arial" pitchFamily="34" charset="0"/>
              </a:rPr>
              <a:t>Интерфейс ввода-вывода позволяет подключить разъемы для питания и линии передачи данных к твердотельным дискам. Твердотельные диски обычно поддерживают стандартные разъемы, такие как SATA, SAS или FC.</a:t>
            </a:r>
          </a:p>
          <a:p>
            <a:pPr>
              <a:spcBef>
                <a:spcPts val="600"/>
              </a:spcBef>
            </a:pPr>
            <a:r>
              <a:rPr lang="ru-RU" b="0" i="0" dirty="0">
                <a:solidFill>
                  <a:srgbClr val="000000"/>
                </a:solidFill>
                <a:latin typeface="Arial" pitchFamily="34" charset="0"/>
                <a:cs typeface="Arial" pitchFamily="34" charset="0"/>
              </a:rPr>
              <a:t>Контроллер включает в себя контроллер дисков, ОЗУ и энергонезависимую память (NVRAM). Контроллер дисков управляет всеми функциями диска. Твердотельные диски поддерживают множество функций, таких как шифрование и объединение операций записи. Энергонезависимая память (NVRAM) используется для хранения оперативного ПО и данных твердотельного диска. Не во всех твердотельных дисках есть отдельная память NVRAM. В некоторых моделях программы и данные хранятся в общей емкости накопителя. ОЗУ используется для управления считываемыми и записываемыми данными на твердотельном диске как кэш-памяти и для операционных программ и данных твердотельного диска. Часть ОЗУ диска, используемая для кэш-памяти контроллера улучшает общую производительность твердотельного диска. Накопитель, состоящий из наборов флэш-памяти, выполняет операции чтения быстрее, чем операции записи. ОЗУ диска используется для уменьшения количества операций записи и улучшения времени отклика диска.</a:t>
            </a:r>
            <a:endParaRPr lang="en-US" b="0" i="0" dirty="0">
              <a:solidFill>
                <a:srgbClr val="000000"/>
              </a:solidFill>
              <a:latin typeface="Arial" pitchFamily="34" charset="0"/>
              <a:cs typeface="Arial" pitchFamily="34" charset="0"/>
            </a:endParaRPr>
          </a:p>
          <a:p>
            <a:pPr>
              <a:spcBef>
                <a:spcPts val="600"/>
              </a:spcBef>
            </a:pPr>
            <a:r>
              <a:rPr lang="ru-RU" dirty="0">
                <a:solidFill>
                  <a:srgbClr val="000000"/>
                </a:solidFill>
              </a:rPr>
              <a:t>Объединение операций записи — одна из используемых в ОЗУ технологий. Это — процесс группировки операций ввода-вывода при записи и их запись за одну внутреннюю операцию в отношении многих операций записи меньшего размера. Помимо кэширования ОЗУ содержит оперативное ПО и таблицы сопоставления контроллера дисков. В таблицах сопоставлены внутренняя структура данных твердотельного диска и данные файловой системы вычислительной системы. </a:t>
            </a:r>
          </a:p>
          <a:p>
            <a:pPr>
              <a:spcBef>
                <a:spcPts val="600"/>
              </a:spcBef>
            </a:pPr>
            <a:r>
              <a:rPr lang="ru-RU" dirty="0">
                <a:solidFill>
                  <a:srgbClr val="000000"/>
                </a:solidFill>
              </a:rPr>
              <a:t>Накопитель — это массив микросхем энергонезависимой памяти. Они сохраняют содержимое при отключенном питании. Эти микросхемы обычно</a:t>
            </a:r>
            <a:r>
              <a:rPr lang="ru-RU" b="1" dirty="0">
                <a:solidFill>
                  <a:srgbClr val="000000"/>
                </a:solidFill>
              </a:rPr>
              <a:t> </a:t>
            </a:r>
            <a:r>
              <a:rPr lang="ru-RU" dirty="0">
                <a:solidFill>
                  <a:srgbClr val="000000"/>
                </a:solidFill>
              </a:rPr>
              <a:t>называют </a:t>
            </a:r>
            <a:r>
              <a:rPr lang="ru-RU" i="1" dirty="0">
                <a:solidFill>
                  <a:srgbClr val="000000"/>
                </a:solidFill>
              </a:rPr>
              <a:t>флэш-память</a:t>
            </a:r>
            <a:r>
              <a:rPr lang="ru-RU" dirty="0">
                <a:solidFill>
                  <a:srgbClr val="000000"/>
                </a:solidFill>
              </a:rPr>
              <a:t>. Количество и емкость отдельных микросхем изменяется прямо пропорционально относительно емкости твердотельного диска. Чем больше емкость твердотельного диска, тем больше емкость и количество микросхем флэш-памяти. </a:t>
            </a:r>
          </a:p>
          <a:p>
            <a:pPr>
              <a:spcBef>
                <a:spcPts val="600"/>
              </a:spcBef>
            </a:pPr>
            <a:r>
              <a:rPr lang="ru-RU" dirty="0">
                <a:solidFill>
                  <a:srgbClr val="000000"/>
                </a:solidFill>
              </a:rPr>
              <a:t>Схемы флэш-памяти, составляющие накопитель, поступают от многочисленных производителей. Два типа микросхем флэш-памяти, используемых в коммерчески-доступных твердотельных дисках: одноуровневые ячейки (SLC) и многоуровневые ячейки (MLC). Флэш-память типа SLC обычно используется в твердотельных дисках корпоративного класса благодаря повышенной скорости работы и долговечности. MLC работает более медленно, но выгодно отличается большей емкостью каждой микросхемы. Хотя флэш-память SLC отличается меньшей плотностью, она обеспечивает более высокую производительность операций чтения и записи. Кроме того, флэш-память SLC более надежная. Поскольку флэш-память SLC сохраняет только один бит данных в каждой ячейке, снижается вероятность возникновения ошибки. SLC обеспечивает более высокую износостойкость циклов записи/удаления. По этим причинам флэш-память SLC предпочтительно используется приложениями, требующими большей надежности и большего срока службы и долговечности в течение многолетнего жизненного цикла продукта. </a:t>
            </a:r>
          </a:p>
          <a:p>
            <a:pPr>
              <a:spcBef>
                <a:spcPts val="600"/>
              </a:spcBef>
            </a:pPr>
            <a:r>
              <a:rPr lang="ru-RU" dirty="0">
                <a:solidFill>
                  <a:srgbClr val="000000"/>
                </a:solidFill>
              </a:rPr>
              <a:t>Твердотельные диски потребляют меньше энергии по сравнению с жесткими дисками. Поскольку твердотельные диски не содержат движущиеся детали, они выделяют меньше тепла по сравнению с жесткими дисками. Следовательно, в дальнейшем это снизит необходимость охлаждения на полке и уменьшит энергопотребление всей системы.</a:t>
            </a:r>
          </a:p>
          <a:p>
            <a:pPr>
              <a:spcBef>
                <a:spcPts val="600"/>
              </a:spcBef>
            </a:pPr>
            <a:r>
              <a:rPr lang="ru-RU" dirty="0">
                <a:solidFill>
                  <a:srgbClr val="000000"/>
                </a:solidFill>
              </a:rPr>
              <a:t>Твердотельные диски содержат несколько параллельных каналов ввода-вывода из контроллера диска в микросхемы хранения флэш-памяти. В общем, чем больше микросхем флэш-памяти в диске, тем больше каналов. Чем больше каналов, тем больше внутренняя пропускная способность твердотельного диска. Контроллер диска использует встроенную очередь команд для эффективного распределения операций чтения и записи по всем доступным каналам. Производительность полосы пропускания увеличивается при параллельном использовании всех доступных каналов. Обратите внимание, что диски с одинаковой емкостью, но изготовленные разными производителями, могут содержать разное количество каналов. Эти диски будут иметь разные уровни производительности. Диск с большим количеством каналов будет превосходить по производительности диск с меньшим количеством каналов при определенных условиях.</a:t>
            </a:r>
          </a:p>
          <a:p>
            <a:pPr>
              <a:spcBef>
                <a:spcPts val="600"/>
              </a:spcBef>
            </a:pPr>
            <a:endParaRPr lang="en-US" dirty="0"/>
          </a:p>
          <a:p>
            <a:pPr>
              <a:spcBef>
                <a:spcPts val="600"/>
              </a:spcBef>
            </a:pPr>
            <a:endParaRPr lang="ru-RU"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207846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u="none" dirty="0">
                <a:solidFill>
                  <a:srgbClr val="000000"/>
                </a:solidFill>
                <a:latin typeface="Arial" pitchFamily="34" charset="0"/>
                <a:cs typeface="Arial" pitchFamily="34" charset="0"/>
              </a:rPr>
              <a:t>Микросхемы твердотельной памяти могут иметь разную емкость, например, 32 или 4 Гбайт в каждой микросхеме. Однако все микросхемы памяти располагаются в одной и той же логической структуре — страницы и блоки. </a:t>
            </a:r>
          </a:p>
          <a:p>
            <a:pPr>
              <a:spcBef>
                <a:spcPts val="600"/>
              </a:spcBef>
            </a:pPr>
            <a:r>
              <a:rPr lang="ru-RU" b="0" i="0" dirty="0">
                <a:solidFill>
                  <a:srgbClr val="000000"/>
                </a:solidFill>
                <a:latin typeface="Arial" pitchFamily="34" charset="0"/>
                <a:cs typeface="Arial" pitchFamily="34" charset="0"/>
              </a:rPr>
              <a:t>На самом низком уровне твердотельный диск сохраняет биты. Восемь бит составляют байт. В то время, как обычные для механического жесткого диска 512 байт составляют сектор, твердотельные диски не имеют секторов. Твердотельные диски имеют подобный физический объект данных под названием страница. Как и в секторе механического жесткого диска, страница — наименьший объект, который можно прочитать или записать на твердотельный диск. В отличии от механических жестких дисков, у страниц нет стандартной емкости. Емкость страницы зависит от архитектуры микросхемы твердотельной памяти. Типичные значения емкости страницы — 4 Кбайт, 8 Кбайт и 16 Кбайт. </a:t>
            </a:r>
          </a:p>
          <a:p>
            <a:pPr>
              <a:spcBef>
                <a:spcPts val="600"/>
              </a:spcBef>
            </a:pPr>
            <a:r>
              <a:rPr lang="ru-RU" b="0" i="0" u="none" dirty="0">
                <a:solidFill>
                  <a:srgbClr val="000000"/>
                </a:solidFill>
                <a:latin typeface="Arial" pitchFamily="34" charset="0"/>
                <a:cs typeface="Arial" pitchFamily="34" charset="0"/>
              </a:rPr>
              <a:t>Блок </a:t>
            </a:r>
            <a:r>
              <a:rPr lang="ru-RU" b="0" i="0" dirty="0">
                <a:solidFill>
                  <a:srgbClr val="000000"/>
                </a:solidFill>
                <a:latin typeface="Arial" pitchFamily="34" charset="0"/>
                <a:cs typeface="Arial" pitchFamily="34" charset="0"/>
              </a:rPr>
              <a:t>твердотельного диска</a:t>
            </a:r>
            <a:r>
              <a:rPr lang="ru-RU" b="0" i="0" u="none" dirty="0">
                <a:solidFill>
                  <a:srgbClr val="000000"/>
                </a:solidFill>
                <a:latin typeface="Arial" pitchFamily="34" charset="0"/>
                <a:cs typeface="Arial" pitchFamily="34" charset="0"/>
              </a:rPr>
              <a:t> состоит из страниц. Один блок может содержать 32, 64 или 128 страниц. Стандартный размер блока — 32 страницы. Общая емкость блока зависит от размера страницы микросхемы </a:t>
            </a:r>
            <a:r>
              <a:rPr lang="ru-RU" b="0" i="0" dirty="0">
                <a:solidFill>
                  <a:srgbClr val="000000"/>
                </a:solidFill>
                <a:latin typeface="Arial" pitchFamily="34" charset="0"/>
                <a:cs typeface="Arial" pitchFamily="34" charset="0"/>
              </a:rPr>
              <a:t>твердотельного диска</a:t>
            </a:r>
            <a:r>
              <a:rPr lang="ru-RU" b="0" i="0" u="none" dirty="0">
                <a:solidFill>
                  <a:srgbClr val="000000"/>
                </a:solidFill>
                <a:latin typeface="Arial" pitchFamily="34" charset="0"/>
                <a:cs typeface="Arial" pitchFamily="34" charset="0"/>
              </a:rPr>
              <a:t>. Только целые блоки можно записать или стереть в микросхеме </a:t>
            </a:r>
            <a:r>
              <a:rPr lang="ru-RU" b="0" i="0" dirty="0">
                <a:solidFill>
                  <a:srgbClr val="000000"/>
                </a:solidFill>
                <a:latin typeface="Arial" pitchFamily="34" charset="0"/>
                <a:cs typeface="Arial" pitchFamily="34" charset="0"/>
              </a:rPr>
              <a:t>твердотельной памяти</a:t>
            </a:r>
            <a:r>
              <a:rPr lang="ru-RU" b="0" i="0" u="none" dirty="0">
                <a:solidFill>
                  <a:srgbClr val="000000"/>
                </a:solidFill>
                <a:latin typeface="Arial" pitchFamily="34" charset="0"/>
                <a:cs typeface="Arial" pitchFamily="34" charset="0"/>
              </a:rPr>
              <a:t>. Отдельные страницы могут быть читаемыми или недействительными</a:t>
            </a:r>
            <a:r>
              <a:rPr lang="ru-RU" b="0" i="1" u="none" dirty="0">
                <a:solidFill>
                  <a:srgbClr val="000000"/>
                </a:solidFill>
                <a:latin typeface="Arial" pitchFamily="34" charset="0"/>
                <a:cs typeface="Arial" pitchFamily="34" charset="0"/>
              </a:rPr>
              <a:t> </a:t>
            </a:r>
            <a:r>
              <a:rPr lang="ru-RU" b="0" i="0" u="none" dirty="0">
                <a:solidFill>
                  <a:srgbClr val="000000"/>
                </a:solidFill>
                <a:latin typeface="Arial" pitchFamily="34" charset="0"/>
                <a:cs typeface="Arial" pitchFamily="34" charset="0"/>
              </a:rPr>
              <a:t>(логическая функция). Для записи блока страницы собираются в полные блоки в кэш-памяти </a:t>
            </a:r>
            <a:r>
              <a:rPr lang="ru-RU" b="0" i="0" dirty="0">
                <a:solidFill>
                  <a:srgbClr val="000000"/>
                </a:solidFill>
                <a:latin typeface="Arial" pitchFamily="34" charset="0"/>
                <a:cs typeface="Arial" pitchFamily="34" charset="0"/>
              </a:rPr>
              <a:t>твердотельного диска</a:t>
            </a:r>
            <a:r>
              <a:rPr lang="ru-RU" b="0" i="0" u="none" dirty="0">
                <a:solidFill>
                  <a:srgbClr val="000000"/>
                </a:solidFill>
                <a:latin typeface="Arial" pitchFamily="34" charset="0"/>
                <a:cs typeface="Arial" pitchFamily="34" charset="0"/>
              </a:rPr>
              <a:t>, после чего записываются в объект блочной системы хранения.</a:t>
            </a:r>
          </a:p>
        </p:txBody>
      </p:sp>
    </p:spTree>
    <p:extLst>
      <p:ext uri="{BB962C8B-B14F-4D97-AF65-F5344CB8AC3E}">
        <p14:creationId xmlns:p14="http://schemas.microsoft.com/office/powerpoint/2010/main" val="110853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u="none" dirty="0">
                <a:solidFill>
                  <a:srgbClr val="000000"/>
                </a:solidFill>
                <a:latin typeface="Arial" pitchFamily="34" charset="0"/>
                <a:cs typeface="Arial" pitchFamily="34" charset="0"/>
              </a:rPr>
              <a:t>Страница может находиться в одном из трех состояний: стертая (пустая), действительная и недействительная. Чтобы записать данные на страницу, необходимо электрически стереть местоположение блока, в котором она размещена в микросхеме флэш-памяти. Эту функцию выполняет оборудование твердотельного диска. После того, как страница будет стерта, на нее можно записывать новые данные. Например, если 4 Кбайт данных записано на страницу емкостью 4 Кбайт, состояние этой страницы изменится на «действительная», поскольку </a:t>
            </a:r>
            <a:r>
              <a:rPr lang="ru-RU" b="0" i="0" dirty="0">
                <a:solidFill>
                  <a:srgbClr val="000000"/>
                </a:solidFill>
                <a:latin typeface="Arial" pitchFamily="34" charset="0"/>
                <a:cs typeface="Arial" pitchFamily="34" charset="0"/>
              </a:rPr>
              <a:t>она </a:t>
            </a:r>
            <a:r>
              <a:rPr lang="ru-RU" b="0" i="0" u="none" dirty="0">
                <a:solidFill>
                  <a:srgbClr val="000000"/>
                </a:solidFill>
                <a:latin typeface="Arial" pitchFamily="34" charset="0"/>
                <a:cs typeface="Arial" pitchFamily="34" charset="0"/>
              </a:rPr>
              <a:t>содержит действительные данные. Действительные данные на странице можно читать неограниченное количество раз. Если диск получает запрос на запись на действительную страницу, она будет отмечена как «недействительная» и эта запись будет сделана на другой странице. </a:t>
            </a:r>
            <a:r>
              <a:rPr lang="ru-RU" b="0" i="0" dirty="0">
                <a:solidFill>
                  <a:srgbClr val="000000"/>
                </a:solidFill>
                <a:latin typeface="Arial" pitchFamily="34" charset="0"/>
                <a:cs typeface="Arial" pitchFamily="34" charset="0"/>
              </a:rPr>
              <a:t>Это связано с тем, что стирание блоков отнимает много времени и может увеличить время отклика. </a:t>
            </a:r>
            <a:r>
              <a:rPr lang="ru-RU" b="0" i="0" u="none" dirty="0">
                <a:solidFill>
                  <a:srgbClr val="000000"/>
                </a:solidFill>
                <a:latin typeface="Arial" pitchFamily="34" charset="0"/>
                <a:cs typeface="Arial" pitchFamily="34" charset="0"/>
              </a:rPr>
              <a:t>Как только страница будет отмечена как «недействительная», размещенные на ней данные больше невозможно будет прочитать. Недействительную страницу нужно стереть, чтобы туда снова можно было записывать новые данные. Этот процесс обрабатывается с помощью сборки ненужных файлов. Сборка ненужных файлов</a:t>
            </a:r>
            <a:r>
              <a:rPr lang="ru-RU" b="0" i="0" dirty="0">
                <a:solidFill>
                  <a:srgbClr val="000000"/>
                </a:solidFill>
                <a:latin typeface="Arial" pitchFamily="34" charset="0"/>
                <a:cs typeface="Arial" pitchFamily="34" charset="0"/>
              </a:rPr>
              <a:t> — это процесс предоставления новых стертых блоков. </a:t>
            </a:r>
          </a:p>
          <a:p>
            <a:pPr>
              <a:spcBef>
                <a:spcPts val="600"/>
              </a:spcBef>
            </a:pPr>
            <a:r>
              <a:rPr lang="ru-RU" b="0" i="0" u="none" dirty="0">
                <a:solidFill>
                  <a:srgbClr val="000000"/>
                </a:solidFill>
                <a:latin typeface="Arial" pitchFamily="34" charset="0"/>
                <a:cs typeface="Arial" pitchFamily="34" charset="0"/>
              </a:rPr>
              <a:t>Блок может находиться в одном из трех состояний: стертый (пустой), новый и использованный</a:t>
            </a:r>
            <a:r>
              <a:rPr lang="ru-RU" b="0" i="1" u="none" dirty="0">
                <a:solidFill>
                  <a:srgbClr val="000000"/>
                </a:solidFill>
                <a:latin typeface="Arial" pitchFamily="34" charset="0"/>
                <a:cs typeface="Arial" pitchFamily="34" charset="0"/>
              </a:rPr>
              <a:t>. </a:t>
            </a:r>
            <a:r>
              <a:rPr lang="ru-RU" b="0" i="0" u="none" dirty="0">
                <a:solidFill>
                  <a:srgbClr val="000000"/>
                </a:solidFill>
                <a:latin typeface="Arial" pitchFamily="34" charset="0"/>
                <a:cs typeface="Arial" pitchFamily="34" charset="0"/>
              </a:rPr>
              <a:t>После стирания блока в него можно записать страницы блока, собранные в ОЗУ твердотельного диска. Например, </a:t>
            </a:r>
            <a:r>
              <a:rPr lang="ru-RU" b="0" i="0" dirty="0">
                <a:solidFill>
                  <a:srgbClr val="000000"/>
                </a:solidFill>
                <a:latin typeface="Arial" pitchFamily="34" charset="0"/>
                <a:cs typeface="Arial" pitchFamily="34" charset="0"/>
              </a:rPr>
              <a:t>тридцать две</a:t>
            </a:r>
            <a:r>
              <a:rPr lang="ru-RU" b="0" i="0" u="none" dirty="0">
                <a:solidFill>
                  <a:srgbClr val="000000"/>
                </a:solidFill>
                <a:latin typeface="Arial" pitchFamily="34" charset="0"/>
                <a:cs typeface="Arial" pitchFamily="34" charset="0"/>
              </a:rPr>
              <a:t> страницы емкостью 4 Кбайт можно собрать в блок и записать в стертый блок. Таким образом для блока будет установлено состояние «новый», т. е. содержащий страницы с действительными данными. Действительные страницы блока можно читать неограниченное количество раз. Существует два механизма объявления страницы недействительной: запись и удаление. Если диск получает запрос на запись на действительную страницу блока, ее необходимо изменить. Текущая страница, в которую назначена запись, будет отмечена как «недействительная». Состояние блока изменится на «использованный», поскольку он содержит недействительные страницы. Эти записи будут выполнены на другой странице стертого блока. Удаление объявляет страницу недействительной без выполнения последующей записи.</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33360974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Твердотельные диски — это полупроводниковые устройства с произвольным доступом. Они имеют очень короткое время отклика по сравнению с жесткими дисками. В сочетании с несколькими параллельными каналами ввода-вывода во внутреннем хранилище, это обеспечивает твердотельным дискам лучшие характеристики производительности, чем у жестких дисков. </a:t>
            </a:r>
          </a:p>
          <a:p>
            <a:pPr>
              <a:spcBef>
                <a:spcPts val="600"/>
              </a:spcBef>
            </a:pPr>
            <a:endParaRPr lang="ru-RU" b="0" i="0" dirty="0">
              <a:solidFill>
                <a:srgbClr val="000000"/>
              </a:solidFill>
              <a:latin typeface="Arial" pitchFamily="34" charset="0"/>
              <a:cs typeface="Arial" pitchFamily="34" charset="0"/>
            </a:endParaRPr>
          </a:p>
          <a:p>
            <a:pPr>
              <a:spcBef>
                <a:spcPts val="600"/>
              </a:spcBef>
            </a:pPr>
            <a:r>
              <a:rPr lang="ru-RU" b="0" i="0" dirty="0">
                <a:solidFill>
                  <a:srgbClr val="000000"/>
                </a:solidFill>
                <a:latin typeface="Arial" pitchFamily="34" charset="0"/>
                <a:cs typeface="Arial" pitchFamily="34" charset="0"/>
              </a:rPr>
              <a:t>Производительность твердотельного диска зависит от типа доступа, состояния диска и продолжительности рабочей нагрузки. Твердотельный диск лучше всего выполняет произвольные операции чтения. Благодаря тщательно настроенным многопоточным произвольным рабочим нагрузкам ввода-вывода в средах хранения данных небольшими блоками твердотельные диски могут доставить данные за меньшее время с большей пропускной способностью, чем жесткие диски. Это связано с тем, что операции ввода-вывода при произвольном чтении обычно не могут обслуживаться алгоритмами упреждающего чтения на жестком диске или кэш-памятью чтения в системе хранения. Задержка при произвольном чтении напрямую связана с временем поиска жесткого диска. Для жестких дисков это — физическое перемещение головки чтения/записи диска для доступа к необходимой зоне. Поскольку твердотельные диски — устройства с произвольным доступом, они не обращают внимание на извлечение операций ввода-вывода, которые находятся в нескольких местах. В результате их время отклика на порядок меньше, чем время отклика жестких дисков. </a:t>
            </a:r>
          </a:p>
          <a:p>
            <a:pPr>
              <a:spcBef>
                <a:spcPts val="600"/>
              </a:spcBef>
            </a:pPr>
            <a:r>
              <a:rPr lang="ru-RU" b="0" i="0" dirty="0">
                <a:solidFill>
                  <a:srgbClr val="000000"/>
                </a:solidFill>
                <a:latin typeface="Arial" pitchFamily="34" charset="0"/>
                <a:cs typeface="Arial" pitchFamily="34" charset="0"/>
              </a:rPr>
              <a:t>Для операций ввода-вывода в больших блоках твердотельные диски используют все внутренние каналы ввода-вывода параллельно. Поскольку единичные последовательные потоки ввода-вывода на жестких дисках FC не сталкиваются с задержками при поиске и вращении (благодаря кэш-памяти системы хранения), единичные последовательные потоки ввода-вывода в больших блоках не демонстрируют значительных улучшений производительности в твердотельных дисках по сравнению с жесткими дисками FC. Однако в связи с повышенной параллельной работой приложения (поскольку добавляется больше потоков), нагрузка начинает напоминать рабочую нагрузку произвольных операций с большими блоками. В данном случае появляются задержки поиска и вращения, снижающие эффективность работы жесткого диска FC, но не влияющие на эффективность работы твердотельного диска. </a:t>
            </a:r>
          </a:p>
          <a:p>
            <a:pPr>
              <a:spcBef>
                <a:spcPts val="600"/>
              </a:spcBef>
            </a:pPr>
            <a:r>
              <a:rPr lang="ru-RU" b="0" i="0" dirty="0">
                <a:solidFill>
                  <a:srgbClr val="000000"/>
                </a:solidFill>
                <a:latin typeface="Arial" pitchFamily="34" charset="0"/>
                <a:cs typeface="Arial" pitchFamily="34" charset="0"/>
              </a:rPr>
              <a:t>Новый твердотельный диск или твердотельный диск с большим объемом неиспользованного пространства имеет лучшую производительность. Переполненным дискам понадобится больше времени для выполнения цикла чтение-изменение-запись. </a:t>
            </a:r>
            <a:r>
              <a:rPr lang="ru-RU" b="0" i="0" u="none" dirty="0">
                <a:solidFill>
                  <a:srgbClr val="000000"/>
                </a:solidFill>
                <a:latin typeface="Arial" pitchFamily="34" charset="0"/>
                <a:cs typeface="Arial" pitchFamily="34" charset="0"/>
              </a:rPr>
              <a:t>Твердотельные диски лучше всего подходят для рабочих нагрузок с кратковременными всплесками активности.</a:t>
            </a:r>
          </a:p>
        </p:txBody>
      </p:sp>
    </p:spTree>
    <p:extLst>
      <p:ext uri="{BB962C8B-B14F-4D97-AF65-F5344CB8AC3E}">
        <p14:creationId xmlns:p14="http://schemas.microsoft.com/office/powerpoint/2010/main" val="38167007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рассматриваются компоненты, адресация и производительность твердотельных дисков. </a:t>
            </a:r>
          </a:p>
          <a:p>
            <a:pPr>
              <a:spcBef>
                <a:spcPts val="600"/>
              </a:spcBef>
            </a:pPr>
            <a:endParaRPr lang="ru-RU" dirty="0">
              <a:latin typeface="Arial" pitchFamily="34" charset="0"/>
              <a:cs typeface="Arial" pitchFamily="34" charset="0"/>
            </a:endParaRP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рассматриваются массивы RAID и их использование для улучшения производительности и защиты данных. Различные часто используемые реализации, методы и уровни RAID также описаны здесь. Кроме того, в этом уроке рассматривается воздействие массивов RAID на производительность, а также сравниваются часто используемые уровни RAID.</a:t>
            </a:r>
          </a:p>
          <a:p>
            <a:pPr>
              <a:spcBef>
                <a:spcPts val="600"/>
              </a:spcBef>
            </a:pPr>
            <a:endParaRPr lang="ru-RU">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RAID — это метод, в котором несколько дисковых накопителей соединяются в логический элемент или набор RAID, а данные записываются в блоки на дисках в наборе RAID. Массивы RAID защищают от потери данных в случае выхода из строя диска путем использования резервных дисков и контроля четности. Массивы RAID также помогают улучшать производительность системы хранения, поскольку операции чтения и записи обрабатываются одновременно из нескольких дисковых накопителей. </a:t>
            </a:r>
          </a:p>
          <a:p>
            <a:pPr>
              <a:spcBef>
                <a:spcPts val="600"/>
              </a:spcBef>
            </a:pPr>
            <a:r>
              <a:rPr lang="ru-RU" b="0" i="0" dirty="0">
                <a:solidFill>
                  <a:srgbClr val="000000"/>
                </a:solidFill>
                <a:latin typeface="Arial" pitchFamily="34" charset="0"/>
                <a:cs typeface="Arial" pitchFamily="34" charset="0"/>
              </a:rPr>
              <a:t>Массивы RAID обычно внедряются путем использования специального контроллера оборудования, находящегося в вычислительной системе или в системе хранения. Ключевые функции контроллера RAID — управление и контроль агрегирований дисков, перевод запросов ввода-вывода между логическими и физическими дисками и восстановление данных в случае сбоя диска.</a:t>
            </a:r>
            <a:endParaRPr lang="en-US" b="0" i="0" dirty="0">
              <a:solidFill>
                <a:srgbClr val="000000"/>
              </a:solidFill>
              <a:latin typeface="Arial" pitchFamily="34" charset="0"/>
              <a:cs typeface="Arial" pitchFamily="34" charset="0"/>
            </a:endParaRPr>
          </a:p>
          <a:p>
            <a:pPr>
              <a:spcBef>
                <a:spcPts val="600"/>
              </a:spcBef>
            </a:pPr>
            <a:r>
              <a:rPr lang="ru-RU" dirty="0">
                <a:solidFill>
                  <a:srgbClr val="000000"/>
                </a:solidFill>
              </a:rPr>
              <a:t>Существует два метода реализации массивов RAID: аппаратный и программный. Оба метода имеют свои преимущества и недостатки. </a:t>
            </a:r>
          </a:p>
          <a:p>
            <a:pPr>
              <a:spcBef>
                <a:spcPts val="600"/>
              </a:spcBef>
            </a:pPr>
            <a:r>
              <a:rPr lang="ru-RU" i="1" dirty="0">
                <a:solidFill>
                  <a:srgbClr val="000000"/>
                </a:solidFill>
              </a:rPr>
              <a:t>Программные RAID</a:t>
            </a:r>
            <a:r>
              <a:rPr lang="ru-RU" dirty="0">
                <a:solidFill>
                  <a:srgbClr val="000000"/>
                </a:solidFill>
              </a:rPr>
              <a:t> используют ПО на базе вычислительной системы для предоставления RAID функций и внедряются на уровне ОС. Программные реализации RAID</a:t>
            </a:r>
            <a:r>
              <a:rPr lang="ru-RU" b="1" dirty="0">
                <a:solidFill>
                  <a:srgbClr val="000000"/>
                </a:solidFill>
              </a:rPr>
              <a:t> </a:t>
            </a:r>
            <a:r>
              <a:rPr lang="ru-RU" dirty="0">
                <a:solidFill>
                  <a:srgbClr val="000000"/>
                </a:solidFill>
              </a:rPr>
              <a:t>имеют преимущества в цене и простоте использования по сравнению с аппаратными RAID. Тем не менее, они имеют следующие ограничения:</a:t>
            </a:r>
          </a:p>
          <a:p>
            <a:pPr marL="247688" indent="-247688">
              <a:spcBef>
                <a:spcPts val="600"/>
              </a:spcBef>
              <a:buFont typeface="Arial" pitchFamily="34" charset="0"/>
              <a:buChar char="•"/>
            </a:pPr>
            <a:r>
              <a:rPr lang="ru-RU" b="1" dirty="0">
                <a:solidFill>
                  <a:srgbClr val="000000"/>
                </a:solidFill>
              </a:rPr>
              <a:t>Производительность. </a:t>
            </a:r>
            <a:r>
              <a:rPr lang="ru-RU" dirty="0">
                <a:solidFill>
                  <a:srgbClr val="000000"/>
                </a:solidFill>
              </a:rPr>
              <a:t>Программные RAID оказывают воздействие на производительность всей системы. Это связано с дополнительными циклами ЦП, которые необходимы для выполнения вычислений RAID.</a:t>
            </a:r>
          </a:p>
          <a:p>
            <a:pPr marL="247688" indent="-247688">
              <a:spcBef>
                <a:spcPts val="600"/>
              </a:spcBef>
              <a:buFont typeface="Arial" pitchFamily="34" charset="0"/>
              <a:buChar char="•"/>
            </a:pPr>
            <a:r>
              <a:rPr lang="ru-RU" b="1" dirty="0">
                <a:solidFill>
                  <a:srgbClr val="000000"/>
                </a:solidFill>
              </a:rPr>
              <a:t>Поддерживаемая функциональность. </a:t>
            </a:r>
            <a:r>
              <a:rPr lang="ru-RU" dirty="0">
                <a:solidFill>
                  <a:srgbClr val="000000"/>
                </a:solidFill>
              </a:rPr>
              <a:t>Программные RAID не поддерживают все уровни RAID.</a:t>
            </a:r>
          </a:p>
          <a:p>
            <a:pPr marL="247688" indent="-247688">
              <a:spcBef>
                <a:spcPts val="600"/>
              </a:spcBef>
              <a:buFont typeface="Arial" pitchFamily="34" charset="0"/>
              <a:buChar char="•"/>
            </a:pPr>
            <a:r>
              <a:rPr lang="ru-RU" b="1" dirty="0">
                <a:solidFill>
                  <a:srgbClr val="000000"/>
                </a:solidFill>
              </a:rPr>
              <a:t>Совместимость с ОС. </a:t>
            </a:r>
            <a:r>
              <a:rPr lang="ru-RU" dirty="0">
                <a:solidFill>
                  <a:srgbClr val="000000"/>
                </a:solidFill>
              </a:rPr>
              <a:t>Программные RAID привязаны к ОС. Таким образом, обновления программных RAID или ОС необходимо проверять на совместимость. Это приводит к недостаточной гибкости в среде обработки данных. </a:t>
            </a:r>
          </a:p>
          <a:p>
            <a:pPr>
              <a:spcBef>
                <a:spcPts val="600"/>
              </a:spcBef>
            </a:pPr>
            <a:r>
              <a:rPr lang="ru-RU" dirty="0">
                <a:solidFill>
                  <a:srgbClr val="000000"/>
                </a:solidFill>
              </a:rPr>
              <a:t>Аппаратные реализации RAID обычно внедряются путем использования специального контроллера оборудования, находящегося в вычислительной системе или в системе хранения. Контроллерная карта RAID — это аппаратная реализация RAID на базе вычислительной системы, где в вычислительной системе устанавливается специальный контроллер RAID, а к нему подключаются диски. Производители также интегрируют контроллеры RAID в материнские платы. Контроллер RAID на базе вычислительной системы — неэффективное решение для среды центра обработки данных с большим количеством вычислительных систем. Внешний контроллер RAID — это оборудование RAID на базе системы хранения. Он работает как интерфейс между вычислительной системой и дисками. Он представляет тома хранения данных вычислительной системе, а вычислительная система управляет этими томами как физическими дисками. Ключевые функции контроллеров RAID: </a:t>
            </a:r>
          </a:p>
          <a:p>
            <a:pPr marL="171450" indent="-171450">
              <a:spcBef>
                <a:spcPts val="600"/>
              </a:spcBef>
              <a:buFont typeface="Arial" pitchFamily="34" charset="0"/>
              <a:buChar char="•"/>
            </a:pPr>
            <a:r>
              <a:rPr lang="ru-RU" dirty="0">
                <a:solidFill>
                  <a:srgbClr val="000000"/>
                </a:solidFill>
              </a:rPr>
              <a:t>управление и контроль агрегирования дисков;</a:t>
            </a:r>
          </a:p>
          <a:p>
            <a:pPr marL="171450" indent="-171450">
              <a:spcBef>
                <a:spcPts val="600"/>
              </a:spcBef>
              <a:buFont typeface="Arial" pitchFamily="34" charset="0"/>
              <a:buChar char="•"/>
            </a:pPr>
            <a:r>
              <a:rPr lang="ru-RU" dirty="0">
                <a:solidFill>
                  <a:srgbClr val="000000"/>
                </a:solidFill>
              </a:rPr>
              <a:t>перевод запросов ввода-вывода между логическими дисками и физическими дисками;</a:t>
            </a:r>
          </a:p>
          <a:p>
            <a:pPr marL="171450" indent="-171450">
              <a:spcBef>
                <a:spcPts val="600"/>
              </a:spcBef>
              <a:buFont typeface="Arial" pitchFamily="34" charset="0"/>
              <a:buChar char="•"/>
            </a:pPr>
            <a:r>
              <a:rPr lang="ru-RU" dirty="0">
                <a:solidFill>
                  <a:srgbClr val="000000"/>
                </a:solidFill>
              </a:rPr>
              <a:t>восстановление данных в случае сбоя диска.</a:t>
            </a:r>
          </a:p>
          <a:p>
            <a:pPr>
              <a:spcBef>
                <a:spcPts val="600"/>
              </a:spcBef>
            </a:pPr>
            <a:endParaRPr lang="en-US" dirty="0"/>
          </a:p>
          <a:p>
            <a:pPr>
              <a:spcBef>
                <a:spcPts val="600"/>
              </a:spcBef>
            </a:pPr>
            <a:endParaRPr lang="ru-RU"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26771350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1" dirty="0">
                <a:solidFill>
                  <a:srgbClr val="000000"/>
                </a:solidFill>
                <a:latin typeface="Arial" pitchFamily="34" charset="0"/>
                <a:cs typeface="Arial" pitchFamily="34" charset="0"/>
              </a:rPr>
              <a:t>Массив RAID</a:t>
            </a:r>
            <a:r>
              <a:rPr lang="ru-RU" b="0" i="0" dirty="0">
                <a:solidFill>
                  <a:srgbClr val="000000"/>
                </a:solidFill>
                <a:latin typeface="Arial" pitchFamily="34" charset="0"/>
                <a:cs typeface="Arial" pitchFamily="34" charset="0"/>
              </a:rPr>
              <a:t> — это полка, которая содержит определенное количество дисков и сопутствующее оборудование для внедрения RAID. Наборы дисков в массиве RAID могут быть сгруппированы для формирования логических связей, именуемых логические</a:t>
            </a:r>
            <a:r>
              <a:rPr lang="ru-RU" b="0" i="1"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массивы, также известных как </a:t>
            </a:r>
            <a:r>
              <a:rPr lang="ru-RU" b="0" i="1" dirty="0">
                <a:solidFill>
                  <a:srgbClr val="000000"/>
                </a:solidFill>
                <a:latin typeface="Arial" pitchFamily="34" charset="0"/>
                <a:cs typeface="Arial" pitchFamily="34" charset="0"/>
              </a:rPr>
              <a:t>набор RAID</a:t>
            </a:r>
            <a:r>
              <a:rPr lang="ru-RU" b="0" i="0" dirty="0">
                <a:solidFill>
                  <a:srgbClr val="000000"/>
                </a:solidFill>
                <a:latin typeface="Arial" pitchFamily="34" charset="0"/>
                <a:cs typeface="Arial" pitchFamily="34" charset="0"/>
              </a:rPr>
              <a:t> или </a:t>
            </a:r>
            <a:r>
              <a:rPr lang="ru-RU" b="0" i="1" dirty="0">
                <a:solidFill>
                  <a:srgbClr val="000000"/>
                </a:solidFill>
                <a:latin typeface="Arial" pitchFamily="34" charset="0"/>
                <a:cs typeface="Arial" pitchFamily="34" charset="0"/>
              </a:rPr>
              <a:t>группа RAID</a:t>
            </a:r>
            <a:r>
              <a:rPr lang="ru-RU" b="0" i="0" dirty="0">
                <a:solidFill>
                  <a:srgbClr val="000000"/>
                </a:solidFill>
                <a:latin typeface="Arial" pitchFamily="34" charset="0"/>
                <a:cs typeface="Arial" pitchFamily="34" charset="0"/>
              </a:rPr>
              <a:t>.</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34086137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Три разных метода RAID, формирующие основу для определения различных уровней RAID — это распределение, зеркалирование и контроль четности. Эти методы определяют доступность данных и производительность набора RAID, а также относительную стоимость развертывания уровня RAID. </a:t>
            </a:r>
          </a:p>
          <a:p>
            <a:pPr>
              <a:spcBef>
                <a:spcPts val="600"/>
              </a:spcBef>
            </a:pPr>
            <a:r>
              <a:rPr lang="ru-RU" b="0" i="0" dirty="0">
                <a:solidFill>
                  <a:srgbClr val="000000"/>
                </a:solidFill>
                <a:latin typeface="Arial" pitchFamily="34" charset="0"/>
                <a:cs typeface="Arial" pitchFamily="34" charset="0"/>
              </a:rPr>
              <a:t>Распределение — это метод распространения данных между несколькими дисками (более одного) для их параллельного использования. Все головки чтения/записи работают одновременно, позволяя обрабатывать большее количество данных за меньший промежуток времени и увеличивая производительность по сравнению с чтением и записью с одного диска. </a:t>
            </a:r>
          </a:p>
          <a:p>
            <a:pPr>
              <a:spcBef>
                <a:spcPts val="600"/>
              </a:spcBef>
            </a:pPr>
            <a:r>
              <a:rPr lang="ru-RU" b="0" i="0" dirty="0">
                <a:solidFill>
                  <a:srgbClr val="000000"/>
                </a:solidFill>
                <a:latin typeface="Arial" pitchFamily="34" charset="0"/>
                <a:cs typeface="Arial" pitchFamily="34" charset="0"/>
              </a:rPr>
              <a:t>В каждом диске из набора RAID определенное количество блоков дисков с непрерывной адресацией определяются как элемент распределения. </a:t>
            </a:r>
          </a:p>
          <a:p>
            <a:pPr>
              <a:spcBef>
                <a:spcPts val="600"/>
              </a:spcBef>
            </a:pPr>
            <a:r>
              <a:rPr lang="ru-RU" b="0" i="0" dirty="0">
                <a:solidFill>
                  <a:srgbClr val="000000"/>
                </a:solidFill>
                <a:latin typeface="Arial" pitchFamily="34" charset="0"/>
                <a:cs typeface="Arial" pitchFamily="34" charset="0"/>
              </a:rPr>
              <a:t>Набор элементов распределения, расположенных на одной линии, который охватывает все диски в наборе RAID, называется полосой. </a:t>
            </a:r>
            <a:endParaRPr lang="ru-RU" b="0" i="0">
              <a:solidFill>
                <a:srgbClr val="000000"/>
              </a:solidFill>
              <a:latin typeface="Arial" pitchFamily="34" charset="0"/>
              <a:cs typeface="Arial" pitchFamily="34" charset="0"/>
            </a:endParaRPr>
          </a:p>
          <a:p>
            <a:pPr>
              <a:spcBef>
                <a:spcPts val="600"/>
              </a:spcBef>
            </a:pPr>
            <a:r>
              <a:rPr lang="ru-RU" b="0" i="0">
                <a:solidFill>
                  <a:srgbClr val="000000"/>
                </a:solidFill>
                <a:latin typeface="Arial" pitchFamily="34" charset="0"/>
                <a:cs typeface="Arial" pitchFamily="34" charset="0"/>
              </a:rPr>
              <a:t>На </a:t>
            </a:r>
            <a:r>
              <a:rPr lang="ru-RU" b="0" i="0" dirty="0">
                <a:solidFill>
                  <a:srgbClr val="000000"/>
                </a:solidFill>
                <a:latin typeface="Arial" pitchFamily="34" charset="0"/>
                <a:cs typeface="Arial" pitchFamily="34" charset="0"/>
              </a:rPr>
              <a:t>рисунке 1 слайда показаны примеры распределенного набора RAID. </a:t>
            </a:r>
          </a:p>
          <a:p>
            <a:pPr>
              <a:spcBef>
                <a:spcPts val="600"/>
              </a:spcBef>
            </a:pPr>
            <a:r>
              <a:rPr lang="ru-RU" b="0" i="1" dirty="0">
                <a:solidFill>
                  <a:srgbClr val="000000"/>
                </a:solidFill>
                <a:latin typeface="Arial" pitchFamily="34" charset="0"/>
                <a:cs typeface="Arial" pitchFamily="34" charset="0"/>
              </a:rPr>
              <a:t>Размер элемента распределения</a:t>
            </a:r>
            <a:r>
              <a:rPr lang="ru-RU" b="0" i="0" dirty="0">
                <a:solidFill>
                  <a:srgbClr val="000000"/>
                </a:solidFill>
                <a:latin typeface="Arial" pitchFamily="34" charset="0"/>
                <a:cs typeface="Arial" pitchFamily="34" charset="0"/>
              </a:rPr>
              <a:t> (также именуемый </a:t>
            </a:r>
            <a:r>
              <a:rPr lang="ru-RU" b="0" i="1" dirty="0">
                <a:solidFill>
                  <a:srgbClr val="000000"/>
                </a:solidFill>
                <a:latin typeface="Arial" pitchFamily="34" charset="0"/>
                <a:cs typeface="Arial" pitchFamily="34" charset="0"/>
              </a:rPr>
              <a:t>глубина полосы</a:t>
            </a:r>
            <a:r>
              <a:rPr lang="ru-RU" b="0" i="0" dirty="0">
                <a:solidFill>
                  <a:srgbClr val="000000"/>
                </a:solidFill>
                <a:latin typeface="Arial" pitchFamily="34" charset="0"/>
                <a:cs typeface="Arial" pitchFamily="34" charset="0"/>
              </a:rPr>
              <a:t>) описывает количество блоков в </a:t>
            </a:r>
            <a:r>
              <a:rPr lang="ru-RU" b="0" i="1" dirty="0">
                <a:solidFill>
                  <a:srgbClr val="000000"/>
                </a:solidFill>
                <a:latin typeface="Arial" pitchFamily="34" charset="0"/>
                <a:cs typeface="Arial" pitchFamily="34" charset="0"/>
              </a:rPr>
              <a:t>элементе распределения </a:t>
            </a:r>
            <a:r>
              <a:rPr lang="ru-RU" b="0" i="0" dirty="0">
                <a:solidFill>
                  <a:srgbClr val="000000"/>
                </a:solidFill>
                <a:latin typeface="Arial" pitchFamily="34" charset="0"/>
                <a:cs typeface="Arial" pitchFamily="34" charset="0"/>
              </a:rPr>
              <a:t>(представлены как «A1, A2, A3 и A4»). </a:t>
            </a:r>
          </a:p>
          <a:p>
            <a:pPr>
              <a:spcBef>
                <a:spcPts val="600"/>
              </a:spcBef>
            </a:pPr>
            <a:r>
              <a:rPr lang="ru-RU" b="0" i="0" dirty="0">
                <a:solidFill>
                  <a:srgbClr val="000000"/>
                </a:solidFill>
                <a:latin typeface="Arial" pitchFamily="34" charset="0"/>
                <a:cs typeface="Arial" pitchFamily="34" charset="0"/>
              </a:rPr>
              <a:t>Это — максимальное количество данных, которые можно записать или прочитать с одного диска из набора при условии, что используемые данные начинаются в начале элемента распределения. Все элементы распределения в полосе имеют одинаковое количество блоков. Наличие элемента распределения меньшего размера означает, что данные разбиваются на более мелкие части при распределении по дискам. Размер полосы (представлен как А) — это величина, кратная размеру элемента распределения по количеству дисков данных в наборе RAID. Например, в распределенном наборе RAID из четырех дисков с размером элемента распределения 64 Кбайт, размер полосы будет 256 Кбайт</a:t>
            </a:r>
            <a:r>
              <a:rPr lang="ru-RU" b="1" i="0"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(64 Кбайт x 4). Другими словами, A = A1 +A2 + A3 + A4. </a:t>
            </a:r>
            <a:r>
              <a:rPr lang="ru-RU" b="0" i="1" dirty="0">
                <a:solidFill>
                  <a:srgbClr val="000000"/>
                </a:solidFill>
                <a:latin typeface="Arial" pitchFamily="34" charset="0"/>
                <a:cs typeface="Arial" pitchFamily="34" charset="0"/>
              </a:rPr>
              <a:t>Ширина полосы</a:t>
            </a:r>
            <a:r>
              <a:rPr lang="ru-RU" b="0" i="0" dirty="0">
                <a:solidFill>
                  <a:srgbClr val="000000"/>
                </a:solidFill>
                <a:latin typeface="Arial" pitchFamily="34" charset="0"/>
                <a:cs typeface="Arial" pitchFamily="34" charset="0"/>
              </a:rPr>
              <a:t> обозначает количество элементов распределения данных в полосе. Распределенный RAID не предоставляет защиту данных, если не используется контроль четности или зеркалирование.</a:t>
            </a:r>
            <a:endParaRPr lang="en-US" b="0" i="0" dirty="0">
              <a:solidFill>
                <a:srgbClr val="000000"/>
              </a:solidFill>
              <a:latin typeface="Arial" pitchFamily="34" charset="0"/>
              <a:cs typeface="Arial" pitchFamily="34" charset="0"/>
            </a:endParaRPr>
          </a:p>
          <a:p>
            <a:pPr>
              <a:spcBef>
                <a:spcPts val="600"/>
              </a:spcBef>
            </a:pPr>
            <a:r>
              <a:rPr lang="ru-RU" dirty="0">
                <a:solidFill>
                  <a:srgbClr val="000000"/>
                </a:solidFill>
              </a:rPr>
              <a:t>Зеркалирование — это метод, в котором те же данные хранятся на двух разных дисках, предоставляя две копии данных. В случае сбоя одного диска данные остаются на другом уцелевшем диске, а контроллер продолжит обслуживать запросы данных вычислительной системы с уцелевшего диска зеркалированной пары. При замене сбойного диска новым контроллер копирует данные из уцелевшего диска зеркалируемой пары. Этот процесс происходит незаметно для вычислительной системы. Помимо предоставления полного резервирования данных, зеркалирование позволяет выполнить быстрое восстановление после сбоя дисков. Тем не менее, зеркалирование дисков предоставляет только защиту данных, но не может заменить резервное копирование данных. Зеркалирование постоянно отслеживает изменения в данных, в то время как резервное копирование отслеживает образы данных на определенный момент времени. Зеркалирование выполняет дублирование данных — необходимый объем емкости хранения равняется количеству сохраняемых данных, умноженному на два. Таким образом, зеркалирование считается дорогим и обычно используется в критически важных приложениях, где ни в коем случае нельзя допустить риск потери данных. Зеркалирование улучшает производительность чтения, поскольку запросы чтения могут обслуживаться обоими дисками. Тем не менее, производительность записи немного ниже, чем для одного диска, поскольку каждый запрос записи оформляется как две записи на дисковые накопители. Зеркалирование не может обеспечить такой же уровень производительности записи, как распределенный RAID.</a:t>
            </a:r>
          </a:p>
          <a:p>
            <a:pPr>
              <a:spcBef>
                <a:spcPts val="600"/>
              </a:spcBef>
            </a:pPr>
            <a:r>
              <a:rPr lang="ru-RU" i="1" dirty="0">
                <a:solidFill>
                  <a:srgbClr val="000000"/>
                </a:solidFill>
              </a:rPr>
              <a:t>Контроль четности</a:t>
            </a:r>
            <a:r>
              <a:rPr lang="ru-RU" dirty="0">
                <a:solidFill>
                  <a:srgbClr val="000000"/>
                </a:solidFill>
              </a:rPr>
              <a:t> — это метод защиты распределенных данных от сбоя дискового накопителя без затрат на зеркалирование. Для сохранения четности (математической конструкции, позволяющей повторно создавать недостающие данные) добавляется дополнительный диск. Контроль четности — это метод резервирования, обеспечивающий защиту данных без сохранения целого набора продублированных данных. Вычисление четности — это функция контроллера RAID. Контрольная информация может храниться на отдельных выделенных дисках, либо распределяться по всем дискам в наборе RAID. Первые три диска на рисунке, отмеченные как </a:t>
            </a:r>
            <a:r>
              <a:rPr lang="ru-RU" i="1" dirty="0">
                <a:solidFill>
                  <a:srgbClr val="000000"/>
                </a:solidFill>
              </a:rPr>
              <a:t>D</a:t>
            </a:r>
            <a:r>
              <a:rPr lang="ru-RU" i="1" baseline="-25000" dirty="0">
                <a:solidFill>
                  <a:srgbClr val="000000"/>
                </a:solidFill>
              </a:rPr>
              <a:t>1 </a:t>
            </a:r>
            <a:r>
              <a:rPr lang="ru-RU" i="1" dirty="0">
                <a:solidFill>
                  <a:srgbClr val="000000"/>
                </a:solidFill>
              </a:rPr>
              <a:t>— D</a:t>
            </a:r>
            <a:r>
              <a:rPr lang="ru-RU" i="1" baseline="-25000" dirty="0">
                <a:solidFill>
                  <a:srgbClr val="000000"/>
                </a:solidFill>
              </a:rPr>
              <a:t>3</a:t>
            </a:r>
            <a:r>
              <a:rPr lang="ru-RU" i="1" dirty="0">
                <a:solidFill>
                  <a:srgbClr val="000000"/>
                </a:solidFill>
              </a:rPr>
              <a:t>,</a:t>
            </a:r>
            <a:r>
              <a:rPr lang="ru-RU" dirty="0">
                <a:solidFill>
                  <a:srgbClr val="000000"/>
                </a:solidFill>
              </a:rPr>
              <a:t> содержат данные. На четвертом диске, отмеченном как </a:t>
            </a:r>
            <a:r>
              <a:rPr lang="ru-RU" i="1" dirty="0">
                <a:solidFill>
                  <a:srgbClr val="000000"/>
                </a:solidFill>
              </a:rPr>
              <a:t>P</a:t>
            </a:r>
            <a:r>
              <a:rPr lang="ru-RU" dirty="0">
                <a:solidFill>
                  <a:srgbClr val="000000"/>
                </a:solidFill>
              </a:rPr>
              <a:t>, хранится контрольная информация, в данном случае — сумма элементов в каждой строке. Если происходит сбой данных на дисках, недостающее значение можно вычислить путем вычитания суммы остальных элементов из значения четности. Для большей простоты, вычисление четности представлено как арифметическая сумма данных. Однако вычисление четности — это </a:t>
            </a:r>
            <a:r>
              <a:rPr lang="ru-RU" i="1" dirty="0">
                <a:solidFill>
                  <a:srgbClr val="000000"/>
                </a:solidFill>
              </a:rPr>
              <a:t>побитовая операция XOR</a:t>
            </a:r>
            <a:r>
              <a:rPr lang="ru-RU" dirty="0">
                <a:solidFill>
                  <a:srgbClr val="000000"/>
                </a:solidFill>
              </a:rPr>
              <a:t>. </a:t>
            </a:r>
          </a:p>
          <a:p>
            <a:pPr>
              <a:spcBef>
                <a:spcPts val="600"/>
              </a:spcBef>
            </a:pPr>
            <a:r>
              <a:rPr lang="ru-RU" dirty="0">
                <a:solidFill>
                  <a:srgbClr val="000000"/>
                </a:solidFill>
              </a:rPr>
              <a:t>По сравнению с зеркалированием, внедрение четности значительно уменьшает затраты, связанные с защитой данных. Рассмотрим пример настройки контроля четности RAID с четырьмя дисками, где три диска содержат данные, а в четвертом находится контрольная информация. В этом примере контроля четности требуется только 33 процента дополнительного места на диске, в то время как для зеркалирования нужно 100 процентов дополнительного места. Однако есть некоторые недостатки использования контроля четности. Контрольная информация генерируется из данных на диске данных. Таким образом, четность повторно вычисляется каждый раз при внесении изменений в данные. Это повторное вычисление отнимает много времени и снижает производительность массива RAID. </a:t>
            </a:r>
          </a:p>
          <a:p>
            <a:pPr>
              <a:spcBef>
                <a:spcPts val="600"/>
              </a:spcBef>
            </a:pPr>
            <a:r>
              <a:rPr lang="ru-RU" dirty="0">
                <a:solidFill>
                  <a:srgbClr val="000000"/>
                </a:solidFill>
              </a:rPr>
              <a:t>В массивах RAID с контролем четности вычисление размера полосы не включает в себя элемент распределения четности. Например, в наборе RAID с контролем четности из четырех дисков с размером элемента распределения 64 Кбайт размер полосы будет 192 Кбайт (64 Кбайт x 3).</a:t>
            </a:r>
          </a:p>
          <a:p>
            <a:pPr>
              <a:spcBef>
                <a:spcPts val="600"/>
              </a:spcBef>
            </a:pPr>
            <a:endParaRPr lang="ru-RU" b="0" i="0" dirty="0">
              <a:solidFill>
                <a:srgbClr val="000000"/>
              </a:solidFill>
              <a:latin typeface="Arial" pitchFamily="34" charset="0"/>
              <a:cs typeface="Arial" pitchFamily="34" charset="0"/>
            </a:endParaRPr>
          </a:p>
        </p:txBody>
      </p:sp>
    </p:spTree>
    <p:extLst>
      <p:ext uri="{BB962C8B-B14F-4D97-AF65-F5344CB8AC3E}">
        <p14:creationId xmlns:p14="http://schemas.microsoft.com/office/powerpoint/2010/main" val="33166075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Выбор уровня RAID зависит от таких параметров, как производительность приложения, требования к доступности данных и стоимость. Эти уровни RAID определяются на основе методов распределения, зеркалирования и контроля четности. Некоторые уровни RAID используют один метод, в то время как другие уровни используют сочетание нескольких методов. На слайде перечислены часто используемые уровни RAID.</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11272098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Конфигурация RAID 0 использует методы</a:t>
            </a:r>
            <a:r>
              <a:rPr lang="ru-RU" b="0" i="1"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распределения данных, где данные распределяются между всеми дисками в наборе RAID. Таким образом используется вся емкость хранения набора RAID. Для чтения данных контроллер собирает все элементы распределения. При увеличении количества дисков в наборе RAID улучшается производительность, поскольку одновременно можно записать или прочитать больше данных. RAID 0 — это хороший вариант для приложений, которым необходима большая пропускная способность операций ввода-вывода. Однако если этим приложениям необходима высокая доступность во время сбоев дисков, RAID 0 не сможет предоставить защиту и доступность данных.</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35813657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RAID 1 основывается на методе зеркалирования. В этой конфигурации RAID данные зеркалируются, чтобы обеспечить отказоустойчивость. Набор RAID 1 состоит из двух дисковых накопителей. Каждая запись выполняется на оба диска. Зеркалирование происходит незаметно для вычислительной системы. При сбое дисков воздействие на восстановление данных в RAID 1 самое малое среди всех реализаций RAID. Это связано с тем, что контроллер RAID использует зеркальный диск для восстановления данных. RAID 1 подходит для приложений, где требуется высокая доступность, а стоимость не ограничена.</a:t>
            </a:r>
          </a:p>
        </p:txBody>
      </p:sp>
    </p:spTree>
    <p:extLst>
      <p:ext uri="{BB962C8B-B14F-4D97-AF65-F5344CB8AC3E}">
        <p14:creationId xmlns:p14="http://schemas.microsoft.com/office/powerpoint/2010/main" val="26070647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Большинству центров обработки данных требуются резервирование данных и производительность массивов RAID. RAID 1+0 сочетает преимущества производительности RAID 0 и резервирования RAID 1. Здесь используются методы зеркалирования и распределения и сочетаются их преимущества. Для этого типа массивов RAID требуется четное количество дисков (максимум 4).</a:t>
            </a:r>
          </a:p>
          <a:p>
            <a:pPr>
              <a:spcBef>
                <a:spcPts val="600"/>
              </a:spcBef>
            </a:pPr>
            <a:r>
              <a:rPr lang="ru-RU" b="0" i="0" dirty="0">
                <a:solidFill>
                  <a:srgbClr val="000000"/>
                </a:solidFill>
                <a:latin typeface="Arial" pitchFamily="34" charset="0"/>
                <a:cs typeface="Arial" pitchFamily="34" charset="0"/>
              </a:rPr>
              <a:t>RAID 1+0 также известен как RAID 10 (десять) или RAID 1/0. RAID 1+0 еще называют распределенным зеркалом. Основной элемент RAID 1+0 — это зеркалированная пара. Это означает, что данные сначала зеркалируются, а после обе копии данных распределяются по нескольким парам дисков в наборе RAID. При замене сбойного диска восстанавливается только зеркало. Иными словами, контроллер системы хранения использует уцелевший диск в зеркалированной паре для восстановления данных и непрерывной работы. Данные из уцелевшего диска копируются на диск для замены. </a:t>
            </a:r>
          </a:p>
          <a:p>
            <a:pPr>
              <a:spcBef>
                <a:spcPts val="600"/>
              </a:spcBef>
            </a:pPr>
            <a:endParaRPr lang="ru-RU">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9925891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defTabSz="990752">
              <a:spcBef>
                <a:spcPts val="600"/>
              </a:spcBef>
              <a:defRPr/>
            </a:pPr>
            <a:r>
              <a:rPr lang="ru-RU" b="0" i="0" dirty="0">
                <a:solidFill>
                  <a:srgbClr val="000000"/>
                </a:solidFill>
                <a:latin typeface="Arial" pitchFamily="34" charset="0"/>
                <a:cs typeface="Arial" pitchFamily="34" charset="0"/>
              </a:rPr>
              <a:t>RAID 3 распределяет данные для производительности и использует контроль четности для отказоустойчивости. Контрольная информация хранится на выделенном диске, чтобы данные можно было воссоздать в случае сбоя диска в наборе RAID. Например, в наборе из пяти дисков четыре используются для данных и один для контроля четности. Таким образом, необходимая общая емкость диска в 1,25 раз больше размера дисков данных. RAID 3</a:t>
            </a:r>
            <a:r>
              <a:rPr lang="ru-RU" b="0" i="1"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всегда</a:t>
            </a:r>
            <a:r>
              <a:rPr lang="ru-RU" b="0" i="1" dirty="0">
                <a:solidFill>
                  <a:srgbClr val="000000"/>
                </a:solidFill>
                <a:latin typeface="Arial" pitchFamily="34" charset="0"/>
                <a:cs typeface="Arial" pitchFamily="34" charset="0"/>
              </a:rPr>
              <a:t> </a:t>
            </a:r>
            <a:r>
              <a:rPr lang="ru-RU" b="0" i="0" dirty="0">
                <a:solidFill>
                  <a:srgbClr val="000000"/>
                </a:solidFill>
                <a:latin typeface="Arial" pitchFamily="34" charset="0"/>
                <a:cs typeface="Arial" pitchFamily="34" charset="0"/>
              </a:rPr>
              <a:t>читает и записывает целые полосы данных на все диски, поскольку диски работают параллельно. Выполнять запись частично, обновляя один из многих элементов в полосе, невозможно.</a:t>
            </a:r>
          </a:p>
        </p:txBody>
      </p:sp>
    </p:spTree>
    <p:extLst>
      <p:ext uri="{BB962C8B-B14F-4D97-AF65-F5344CB8AC3E}">
        <p14:creationId xmlns:p14="http://schemas.microsoft.com/office/powerpoint/2010/main" val="14504233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RAID 5 — это универсальная реализация RAID. Она похожа на RAID 4, поскольку использует распределение. Диски (элементы распределения) также доступны по отдельности. Разница между RAID 4 и RAID 5 состоит в расположении четности. В RAID 4 контроль четности записывается на выделенный диск, создавая узкое место при записи на диск четности. В RAID 5 контроль четности распределяется по всем дискам во избежание возникновения узкого места при записи выделенного диска четности. </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13106296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RAID 6 работает таким же образом, как и RAID 5, за исключением того, что RAID 6 содержит второй элемент четности для сохранения данных в случае сбоя обоих дисков в наборе RAID. Таким образом, для реализации RAID 6 требуется как минимум четыре диска. RAID 6 распределяет контроль четности по всем дискам. Издержка записи (рассматривается далее в этом модуле) в RAID 6 больше, чем в RAID 5. Следовательно, выполнение записи в RAID 5 происходит лучше, чем в RAID 6. Операция восстановления в RAID 6 может занять больше времени, чем в RAID 5 в связи с наличием двух наборов четности.</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10543843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При выборе типа массивов RAID важно учесть воздействие на производительность диска и IOPS приложения. В зеркалированной и в четной конфигурации RAID каждая операция записи приводит к большему количеству служебных данных, возникающих при выполнении операций ввода-вывода для дисков. Это явление называется </a:t>
            </a:r>
            <a:r>
              <a:rPr lang="ru-RU" b="0" i="1" dirty="0">
                <a:solidFill>
                  <a:srgbClr val="000000"/>
                </a:solidFill>
                <a:latin typeface="Arial" pitchFamily="34" charset="0"/>
                <a:cs typeface="Arial" pitchFamily="34" charset="0"/>
              </a:rPr>
              <a:t>издержки записи</a:t>
            </a:r>
            <a:r>
              <a:rPr lang="ru-RU" b="0" i="0" dirty="0">
                <a:solidFill>
                  <a:srgbClr val="000000"/>
                </a:solidFill>
                <a:latin typeface="Arial" pitchFamily="34" charset="0"/>
                <a:cs typeface="Arial" pitchFamily="34" charset="0"/>
              </a:rPr>
              <a:t>. В реализации RAID 1 каждая операция записи должна выполняться на двух дисках, сконфигурированных как зеркалированная пара. В то же время в реализации RAID 5 операция записи может оформляться как четыре операции ввода-вывода. При выполнении операций ввода-вывода на диск, сконфигурированный с RAID 5, контроллеру необходимо читать, повторно вычислять и записывать сегмент четности для каждой операции записи данных.</a:t>
            </a:r>
          </a:p>
          <a:p>
            <a:pPr>
              <a:spcBef>
                <a:spcPts val="600"/>
              </a:spcBef>
            </a:pPr>
            <a:r>
              <a:rPr lang="ru-RU" b="0" i="0" dirty="0">
                <a:solidFill>
                  <a:srgbClr val="000000"/>
                </a:solidFill>
                <a:latin typeface="Arial" pitchFamily="34" charset="0"/>
                <a:cs typeface="Arial" pitchFamily="34" charset="0"/>
              </a:rPr>
              <a:t>На этом слайде показана одна операция записи на RAID 5, где содержится группа из пяти дисков. Четность (P) на контроллере вычисляется следующим образом:</a:t>
            </a:r>
          </a:p>
          <a:p>
            <a:pPr>
              <a:spcBef>
                <a:spcPts val="600"/>
              </a:spcBef>
            </a:pPr>
            <a:r>
              <a:rPr lang="ru-RU" b="1" i="0" dirty="0">
                <a:solidFill>
                  <a:srgbClr val="000000"/>
                </a:solidFill>
                <a:latin typeface="Arial" pitchFamily="34" charset="0"/>
                <a:cs typeface="Arial" pitchFamily="34" charset="0"/>
              </a:rPr>
              <a:t>C</a:t>
            </a:r>
            <a:r>
              <a:rPr lang="ru-RU" b="1" i="0" baseline="-25000" dirty="0">
                <a:solidFill>
                  <a:srgbClr val="000000"/>
                </a:solidFill>
                <a:latin typeface="Arial" pitchFamily="34" charset="0"/>
                <a:cs typeface="Arial" pitchFamily="34" charset="0"/>
              </a:rPr>
              <a:t>p</a:t>
            </a:r>
            <a:r>
              <a:rPr lang="ru-RU" b="1" i="0" dirty="0">
                <a:solidFill>
                  <a:srgbClr val="000000"/>
                </a:solidFill>
                <a:latin typeface="Arial" pitchFamily="34" charset="0"/>
                <a:cs typeface="Arial" pitchFamily="34" charset="0"/>
              </a:rPr>
              <a:t> = C</a:t>
            </a:r>
            <a:r>
              <a:rPr lang="ru-RU" b="1" i="0" baseline="-25000" dirty="0">
                <a:solidFill>
                  <a:srgbClr val="000000"/>
                </a:solidFill>
                <a:latin typeface="Arial" pitchFamily="34" charset="0"/>
                <a:cs typeface="Arial" pitchFamily="34" charset="0"/>
              </a:rPr>
              <a:t>1</a:t>
            </a:r>
            <a:r>
              <a:rPr lang="ru-RU" b="1" i="0" dirty="0">
                <a:solidFill>
                  <a:srgbClr val="000000"/>
                </a:solidFill>
                <a:latin typeface="Arial" pitchFamily="34" charset="0"/>
                <a:cs typeface="Arial" pitchFamily="34" charset="0"/>
              </a:rPr>
              <a:t> + C</a:t>
            </a:r>
            <a:r>
              <a:rPr lang="ru-RU" b="1" i="0" baseline="-25000" dirty="0">
                <a:solidFill>
                  <a:srgbClr val="000000"/>
                </a:solidFill>
                <a:latin typeface="Arial" pitchFamily="34" charset="0"/>
                <a:cs typeface="Arial" pitchFamily="34" charset="0"/>
              </a:rPr>
              <a:t>2</a:t>
            </a:r>
            <a:r>
              <a:rPr lang="ru-RU" b="1" i="0" dirty="0">
                <a:solidFill>
                  <a:srgbClr val="000000"/>
                </a:solidFill>
                <a:latin typeface="Arial" pitchFamily="34" charset="0"/>
                <a:cs typeface="Arial" pitchFamily="34" charset="0"/>
              </a:rPr>
              <a:t> + C</a:t>
            </a:r>
            <a:r>
              <a:rPr lang="ru-RU" b="1" i="0" baseline="-25000" dirty="0">
                <a:solidFill>
                  <a:srgbClr val="000000"/>
                </a:solidFill>
                <a:latin typeface="Arial" pitchFamily="34" charset="0"/>
                <a:cs typeface="Arial" pitchFamily="34" charset="0"/>
              </a:rPr>
              <a:t>3</a:t>
            </a:r>
            <a:r>
              <a:rPr lang="ru-RU" b="1" i="0" dirty="0">
                <a:solidFill>
                  <a:srgbClr val="000000"/>
                </a:solidFill>
                <a:latin typeface="Arial" pitchFamily="34" charset="0"/>
                <a:cs typeface="Arial" pitchFamily="34" charset="0"/>
              </a:rPr>
              <a:t> + C</a:t>
            </a:r>
            <a:r>
              <a:rPr lang="ru-RU" b="1" i="0" baseline="-25000" dirty="0">
                <a:solidFill>
                  <a:srgbClr val="000000"/>
                </a:solidFill>
                <a:latin typeface="Arial" pitchFamily="34" charset="0"/>
                <a:cs typeface="Arial" pitchFamily="34" charset="0"/>
              </a:rPr>
              <a:t>4</a:t>
            </a:r>
            <a:r>
              <a:rPr lang="ru-RU" b="1" i="0" dirty="0">
                <a:solidFill>
                  <a:srgbClr val="000000"/>
                </a:solidFill>
                <a:latin typeface="Arial" pitchFamily="34" charset="0"/>
                <a:cs typeface="Arial" pitchFamily="34" charset="0"/>
              </a:rPr>
              <a:t> (операции XOR)</a:t>
            </a:r>
          </a:p>
          <a:p>
            <a:pPr>
              <a:spcBef>
                <a:spcPts val="600"/>
              </a:spcBef>
            </a:pPr>
            <a:r>
              <a:rPr lang="ru-RU" b="0" i="0" dirty="0">
                <a:solidFill>
                  <a:srgbClr val="000000"/>
                </a:solidFill>
                <a:latin typeface="Arial" pitchFamily="34" charset="0"/>
                <a:cs typeface="Arial" pitchFamily="34" charset="0"/>
              </a:rPr>
              <a:t>Каждый раз при выполнении контроллером записи операции ввода-вывода необходимо вычислить контроль четности путем чтения старого контроля четности (C</a:t>
            </a:r>
            <a:r>
              <a:rPr lang="ru-RU" b="0" i="0" baseline="-25000" dirty="0">
                <a:solidFill>
                  <a:srgbClr val="000000"/>
                </a:solidFill>
                <a:latin typeface="Arial" pitchFamily="34" charset="0"/>
                <a:cs typeface="Arial" pitchFamily="34" charset="0"/>
              </a:rPr>
              <a:t>p</a:t>
            </a:r>
            <a:r>
              <a:rPr lang="ru-RU" b="0" i="0" dirty="0">
                <a:solidFill>
                  <a:srgbClr val="000000"/>
                </a:solidFill>
                <a:latin typeface="Arial" pitchFamily="34" charset="0"/>
                <a:cs typeface="Arial" pitchFamily="34" charset="0"/>
              </a:rPr>
              <a:t> старый) и старых данных (C</a:t>
            </a:r>
            <a:r>
              <a:rPr lang="ru-RU" b="0" i="0" baseline="-25000" dirty="0">
                <a:solidFill>
                  <a:srgbClr val="000000"/>
                </a:solidFill>
                <a:latin typeface="Arial" pitchFamily="34" charset="0"/>
                <a:cs typeface="Arial" pitchFamily="34" charset="0"/>
              </a:rPr>
              <a:t>4 старый</a:t>
            </a:r>
            <a:r>
              <a:rPr lang="ru-RU" b="0" i="0" dirty="0">
                <a:solidFill>
                  <a:srgbClr val="000000"/>
                </a:solidFill>
                <a:latin typeface="Arial" pitchFamily="34" charset="0"/>
                <a:cs typeface="Arial" pitchFamily="34" charset="0"/>
              </a:rPr>
              <a:t>) с диска, что означает две операции ввода-вывода при чтении. После этого новый контроль четности (C</a:t>
            </a:r>
            <a:r>
              <a:rPr lang="ru-RU" b="0" i="0" baseline="-25000" dirty="0">
                <a:solidFill>
                  <a:srgbClr val="000000"/>
                </a:solidFill>
                <a:latin typeface="Arial" pitchFamily="34" charset="0"/>
                <a:cs typeface="Arial" pitchFamily="34" charset="0"/>
              </a:rPr>
              <a:t>p</a:t>
            </a:r>
            <a:r>
              <a:rPr lang="ru-RU" b="0" i="0" dirty="0">
                <a:solidFill>
                  <a:srgbClr val="000000"/>
                </a:solidFill>
                <a:latin typeface="Arial" pitchFamily="34" charset="0"/>
                <a:cs typeface="Arial" pitchFamily="34" charset="0"/>
              </a:rPr>
              <a:t> новый) вычисляется следующим образом:</a:t>
            </a:r>
          </a:p>
          <a:p>
            <a:pPr>
              <a:spcBef>
                <a:spcPts val="600"/>
              </a:spcBef>
            </a:pPr>
            <a:r>
              <a:rPr lang="ru-RU" b="1" i="0" dirty="0">
                <a:solidFill>
                  <a:srgbClr val="000000"/>
                </a:solidFill>
                <a:latin typeface="Arial" pitchFamily="34" charset="0"/>
                <a:cs typeface="Arial" pitchFamily="34" charset="0"/>
              </a:rPr>
              <a:t>C</a:t>
            </a:r>
            <a:r>
              <a:rPr lang="ru-RU" b="1" i="0" baseline="-25000" dirty="0">
                <a:solidFill>
                  <a:srgbClr val="000000"/>
                </a:solidFill>
                <a:latin typeface="Arial" pitchFamily="34" charset="0"/>
                <a:cs typeface="Arial" pitchFamily="34" charset="0"/>
              </a:rPr>
              <a:t>p новый</a:t>
            </a:r>
            <a:r>
              <a:rPr lang="ru-RU" b="1" i="0" dirty="0">
                <a:solidFill>
                  <a:srgbClr val="000000"/>
                </a:solidFill>
                <a:latin typeface="Arial" pitchFamily="34" charset="0"/>
                <a:cs typeface="Arial" pitchFamily="34" charset="0"/>
              </a:rPr>
              <a:t> = C</a:t>
            </a:r>
            <a:r>
              <a:rPr lang="ru-RU" b="1" i="0" baseline="-25000" dirty="0">
                <a:solidFill>
                  <a:srgbClr val="000000"/>
                </a:solidFill>
                <a:latin typeface="Arial" pitchFamily="34" charset="0"/>
                <a:cs typeface="Arial" pitchFamily="34" charset="0"/>
              </a:rPr>
              <a:t>p старый</a:t>
            </a:r>
            <a:r>
              <a:rPr lang="ru-RU" b="1" i="0" dirty="0">
                <a:solidFill>
                  <a:srgbClr val="000000"/>
                </a:solidFill>
                <a:latin typeface="Arial" pitchFamily="34" charset="0"/>
                <a:cs typeface="Arial" pitchFamily="34" charset="0"/>
              </a:rPr>
              <a:t> – C</a:t>
            </a:r>
            <a:r>
              <a:rPr lang="ru-RU" b="1" i="0" baseline="-25000" dirty="0">
                <a:solidFill>
                  <a:srgbClr val="000000"/>
                </a:solidFill>
                <a:latin typeface="Arial" pitchFamily="34" charset="0"/>
                <a:cs typeface="Arial" pitchFamily="34" charset="0"/>
              </a:rPr>
              <a:t>4 старый</a:t>
            </a:r>
            <a:r>
              <a:rPr lang="ru-RU" b="1" i="0" dirty="0">
                <a:solidFill>
                  <a:srgbClr val="000000"/>
                </a:solidFill>
                <a:latin typeface="Arial" pitchFamily="34" charset="0"/>
                <a:cs typeface="Arial" pitchFamily="34" charset="0"/>
              </a:rPr>
              <a:t> + C</a:t>
            </a:r>
            <a:r>
              <a:rPr lang="ru-RU" b="1" i="0" baseline="-25000" dirty="0">
                <a:solidFill>
                  <a:srgbClr val="000000"/>
                </a:solidFill>
                <a:latin typeface="Arial" pitchFamily="34" charset="0"/>
                <a:cs typeface="Arial" pitchFamily="34" charset="0"/>
              </a:rPr>
              <a:t>4 новый</a:t>
            </a:r>
            <a:r>
              <a:rPr lang="ru-RU" b="1" i="0" dirty="0">
                <a:solidFill>
                  <a:srgbClr val="000000"/>
                </a:solidFill>
                <a:latin typeface="Arial" pitchFamily="34" charset="0"/>
                <a:cs typeface="Arial" pitchFamily="34" charset="0"/>
              </a:rPr>
              <a:t> (операции XOR)</a:t>
            </a:r>
          </a:p>
          <a:p>
            <a:pPr>
              <a:spcBef>
                <a:spcPts val="600"/>
              </a:spcBef>
            </a:pPr>
            <a:r>
              <a:rPr lang="ru-RU" b="0" i="0" dirty="0">
                <a:solidFill>
                  <a:srgbClr val="000000"/>
                </a:solidFill>
                <a:latin typeface="Arial" pitchFamily="34" charset="0"/>
                <a:cs typeface="Arial" pitchFamily="34" charset="0"/>
              </a:rPr>
              <a:t>После вычисления нового контроля четности контроллер завершает операции ввода-вывода при чтении путем записи новых данных и нового контроля четности на диски, что составляет две операции ввода-вывода при записи. Таким образом, контроллер выполняет две операции чтения диска и две операции записи диска для каждой операции записи, а издержки записи равны 4.</a:t>
            </a:r>
          </a:p>
          <a:p>
            <a:pPr>
              <a:spcBef>
                <a:spcPts val="600"/>
              </a:spcBef>
            </a:pPr>
            <a:r>
              <a:rPr lang="ru-RU" b="0" i="0" dirty="0">
                <a:solidFill>
                  <a:srgbClr val="000000"/>
                </a:solidFill>
                <a:latin typeface="Arial" pitchFamily="34" charset="0"/>
                <a:cs typeface="Arial" pitchFamily="34" charset="0"/>
              </a:rPr>
              <a:t>В RAID 6 с двойным контролем четности для записи диска необходимо выполнить три операции чтения: две для контроля четности и одну для данных. После вычисления обоих новых процессов контроля четности контроллер выполняет три операции записи: две для контроля четности и одну для операций ввода-вывода. Следовательно, при реализации RAID 6 контроллер выполняет шесть операций ввода-вывода для каждого ввода-вывода при записи, а издержки записи равны 6.</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38082369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На таблице слайда сравниваются разные уровни RAID 6.</a:t>
            </a:r>
          </a:p>
          <a:p>
            <a:pPr>
              <a:spcBef>
                <a:spcPts val="600"/>
              </a:spcBef>
            </a:pPr>
            <a:endParaRPr lang="ru-RU">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29832890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1" dirty="0">
                <a:solidFill>
                  <a:srgbClr val="000000"/>
                </a:solidFill>
                <a:latin typeface="Arial" pitchFamily="34" charset="0"/>
                <a:cs typeface="Arial" pitchFamily="34" charset="0"/>
              </a:rPr>
              <a:t>«Горячее» резервирование</a:t>
            </a:r>
            <a:r>
              <a:rPr lang="ru-RU" b="0" i="0" dirty="0">
                <a:solidFill>
                  <a:srgbClr val="000000"/>
                </a:solidFill>
                <a:latin typeface="Arial" pitchFamily="34" charset="0"/>
                <a:cs typeface="Arial" pitchFamily="34" charset="0"/>
              </a:rPr>
              <a:t> означает процесс временной замены сбойного диска резервным диском в массиве RAID путем получения идентификатора сбойного диска. При использовании диска «горячего» резерва используется один из следующих методов восстановления данных, в зависимости от реализации RAID: </a:t>
            </a:r>
          </a:p>
          <a:p>
            <a:pPr marL="171450" indent="-171450">
              <a:spcBef>
                <a:spcPts val="600"/>
              </a:spcBef>
              <a:buFont typeface="Arial" pitchFamily="34" charset="0"/>
              <a:buChar char="•"/>
            </a:pPr>
            <a:r>
              <a:rPr lang="ru-RU" b="0" i="0" dirty="0">
                <a:solidFill>
                  <a:srgbClr val="000000"/>
                </a:solidFill>
                <a:latin typeface="Arial" pitchFamily="34" charset="0"/>
                <a:cs typeface="Arial" pitchFamily="34" charset="0"/>
              </a:rPr>
              <a:t>если используется RAID контроля четности, данные восстанавливаются на диск «горячего» резерва из контроля четности и данных на уцелевших дисковых накопителях в наборе RAID;</a:t>
            </a:r>
          </a:p>
          <a:p>
            <a:pPr marL="171450" indent="-171450">
              <a:spcBef>
                <a:spcPts val="600"/>
              </a:spcBef>
              <a:buFont typeface="Arial" pitchFamily="34" charset="0"/>
              <a:buChar char="•"/>
            </a:pPr>
            <a:r>
              <a:rPr lang="ru-RU" b="0" i="0" dirty="0">
                <a:solidFill>
                  <a:srgbClr val="000000"/>
                </a:solidFill>
                <a:latin typeface="Arial" pitchFamily="34" charset="0"/>
                <a:cs typeface="Arial" pitchFamily="34" charset="0"/>
              </a:rPr>
              <a:t>если используется зеркалирование, данные из уцелевшего зеркала используются для копирования данных на диск «горячего» резерва.</a:t>
            </a:r>
          </a:p>
          <a:p>
            <a:pPr lvl="0">
              <a:spcBef>
                <a:spcPts val="600"/>
              </a:spcBef>
            </a:pPr>
            <a:r>
              <a:rPr lang="ru-RU" b="0" i="0" dirty="0">
                <a:solidFill>
                  <a:srgbClr val="000000"/>
                </a:solidFill>
                <a:latin typeface="Arial" pitchFamily="34" charset="0"/>
                <a:cs typeface="Arial" pitchFamily="34" charset="0"/>
              </a:rPr>
              <a:t>При добавлении нового диска в систему, на него копируются данные с диска «горячего» резерва. Диск «горячего» резерва возвращается в состояние бездействия и может заменять следующий сбойный диск. Кроме того, диск «горячего» резерва может заменять сбойный диск на постоянной основе. Это означает, что он перестает быть диском «горячего» резерва и нужно сконфигурировать новый диск «горячего» резерва в системе хранения.</a:t>
            </a:r>
          </a:p>
          <a:p>
            <a:pPr>
              <a:spcBef>
                <a:spcPts val="600"/>
              </a:spcBef>
            </a:pPr>
            <a:r>
              <a:rPr lang="ru-RU" b="0" i="0" dirty="0">
                <a:solidFill>
                  <a:srgbClr val="000000"/>
                </a:solidFill>
                <a:latin typeface="Arial" pitchFamily="34" charset="0"/>
                <a:cs typeface="Arial" pitchFamily="34" charset="0"/>
              </a:rPr>
              <a:t>Диск «горячего» резерва должен быть достаточно большим для размещения данных со сбойного диска. Некоторые системы внедряют несколько дисков «горячего» резерва, чтобы улучшить доступность данных.</a:t>
            </a:r>
          </a:p>
          <a:p>
            <a:pPr>
              <a:spcBef>
                <a:spcPts val="600"/>
              </a:spcBef>
            </a:pPr>
            <a:r>
              <a:rPr lang="ru-RU" b="0" i="0" dirty="0">
                <a:solidFill>
                  <a:srgbClr val="000000"/>
                </a:solidFill>
                <a:latin typeface="Arial" pitchFamily="34" charset="0"/>
                <a:cs typeface="Arial" pitchFamily="34" charset="0"/>
              </a:rPr>
              <a:t>Диск «горячего» резерва можно сконфигурировать для автоматической или инициируемой пользователем работы</a:t>
            </a:r>
            <a:r>
              <a:rPr lang="ru-RU" b="0" i="1" dirty="0">
                <a:solidFill>
                  <a:srgbClr val="000000"/>
                </a:solidFill>
                <a:latin typeface="Arial" pitchFamily="34" charset="0"/>
                <a:cs typeface="Arial" pitchFamily="34" charset="0"/>
              </a:rPr>
              <a:t>,</a:t>
            </a:r>
            <a:r>
              <a:rPr lang="ru-RU" b="0" i="0" dirty="0">
                <a:solidFill>
                  <a:srgbClr val="000000"/>
                </a:solidFill>
                <a:latin typeface="Arial" pitchFamily="34" charset="0"/>
                <a:cs typeface="Arial" pitchFamily="34" charset="0"/>
              </a:rPr>
              <a:t> где указывается, как он будет использоваться в случае сбоя диска. При автоматической конфигурации, когда восстанавливаемая ошибка на диске превышает заданное пороговое значение, дисковая подсистема пытается скопировать данные со сбойного диска на диск «горячего» резервирования автоматически. Если эта задача будет выполнена до сбоя поврежденного диска, подсистема переключится на диск «горячего» резерва и отметит сбойный диск как «непригодный к использованию». В противном случае для восстановления данных будет использован диск четности или зеркалированный диск. При инициируемой пользователем конфигурации администратор может управлять процессом восстановления. Например, восстановление может выполняться в ночное время во избежание снижения производительности системы. Однако система находится под угрозой потери данных в случае возникновения другого сбоя диска. </a:t>
            </a:r>
          </a:p>
          <a:p>
            <a:pPr>
              <a:spcBef>
                <a:spcPts val="600"/>
              </a:spcBef>
            </a:pPr>
            <a:endParaRPr lang="ru-RU" dirty="0">
              <a:latin typeface="Arial" pitchFamily="34" charset="0"/>
              <a:cs typeface="Arial" pitchFamily="34" charset="0"/>
            </a:endParaRPr>
          </a:p>
        </p:txBody>
      </p:sp>
    </p:spTree>
    <p:extLst>
      <p:ext uri="{BB962C8B-B14F-4D97-AF65-F5344CB8AC3E}">
        <p14:creationId xmlns:p14="http://schemas.microsoft.com/office/powerpoint/2010/main" val="35788086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indent="0" defTabSz="457200" rtl="0" eaLnBrk="1" fontAlgn="auto" latinLnBrk="0" hangingPunct="1">
              <a:spcBef>
                <a:spcPts val="600"/>
              </a:spcBef>
              <a:buClrTx/>
              <a:buSzTx/>
              <a:buFontTx/>
              <a:buNone/>
              <a:tabLst/>
              <a:defRPr/>
            </a:pPr>
            <a:r>
              <a:rPr lang="ru-RU" b="0" i="0" dirty="0">
                <a:solidFill>
                  <a:srgbClr val="000000"/>
                </a:solidFill>
                <a:latin typeface="Arial" pitchFamily="34" charset="0"/>
                <a:cs typeface="Arial" pitchFamily="34" charset="0"/>
              </a:rPr>
              <a:t>В этом уроке рассматриваются массивы RAID и их использование для улучшения производительности и защиты данных. Различные часто используемые реализации, методы и уровни RAID также описаны здесь. Кроме того, в этом уроке рассматривается воздействие массивов RAID на производительность, а также сравниваются часто используемые уровни RAID.</a:t>
            </a:r>
          </a:p>
          <a:p>
            <a:pPr>
              <a:spcBef>
                <a:spcPts val="600"/>
              </a:spcBef>
            </a:pPr>
            <a:endParaRPr lang="ru-RU" dirty="0">
              <a:latin typeface="Arial" pitchFamily="34" charset="0"/>
              <a:cs typeface="Arial" pitchFamily="34" charset="0"/>
            </a:endParaRP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рассматриваются разные типы методов доступа к данным. Типы интеллектуальных систем хранения также описаны здесь. Кроме того, в этом уроке рассматриваются архитектуры вертикальной и горизонтальной масштабируемости. </a:t>
            </a: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75455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sz="900" b="0" i="0" dirty="0">
                <a:solidFill>
                  <a:srgbClr val="000000"/>
                </a:solidFill>
                <a:latin typeface="Arial" pitchFamily="34" charset="0"/>
                <a:cs typeface="Arial" pitchFamily="34" charset="0"/>
              </a:rPr>
              <a:t>Доступ и хранение данных выполняется приложениями с использованием базовой инфраструктуры. Ключевые компоненты этой инфраструктуры — это ОС (или файловая система), возможность подключения и система хранения. Контроллерная карта вычислительной системы получает доступ к устройствам хранения данных, используя стандартные протоколы (например, IDE/ATA, SCSI или Fibre Channel (FC)). IDE/ATA и SCSI часто используются в небольших и персональных вычислительных средах для доступа к внутренней системе хранения. Протоколы FC и iSCSI используются для доступа к данным из внешних устройств хранения данных (или подсистем). Внешние устройства хранения можно подключить к вычислительной системе напрямую или через сеть хранения. При подключении системы хранения напрямую к вычислительной системе, получается система хранения данных, подсоединенная непосредственно к серверу (DAS). </a:t>
            </a:r>
          </a:p>
          <a:p>
            <a:pPr marL="0" marR="0" indent="0" defTabSz="457200" rtl="0" eaLnBrk="1" fontAlgn="auto" latinLnBrk="0" hangingPunct="1">
              <a:spcBef>
                <a:spcPts val="600"/>
              </a:spcBef>
              <a:buClrTx/>
              <a:buSzTx/>
              <a:buFontTx/>
              <a:buNone/>
              <a:tabLst/>
              <a:defRPr/>
            </a:pPr>
            <a:r>
              <a:rPr lang="ru-RU" sz="900" b="0" i="0" dirty="0">
                <a:solidFill>
                  <a:srgbClr val="000000"/>
                </a:solidFill>
                <a:latin typeface="Arial" pitchFamily="34" charset="0"/>
                <a:cs typeface="Arial" pitchFamily="34" charset="0"/>
              </a:rPr>
              <a:t>Можно получать доступ к данным через сеть одним из следующих способов: на уровне блоков, на уровне файлов или на уровне объектов. Обычно приложение запрашивает данные из файловой системы (или ОС), указывая имя и местоположение файла. Файловая система имеет два компонента: пользовательский компонент и компонент хранения данных. Пользовательский компонент файловой системы выполняет такие функции, как управление иерархией, присвоение имен и контроль доступа пользователей. Компонент хранения данных устанавливает соответствия файлов к физическому расположению на устройстве хранения данных. Файловая система устанавливает соответствия для атрибутов файлов к адресу LBA данных и отправляет запрос устройству хранения данных. Устройство хранения данных конвертирует адрес LBA в адрес CHS и выбирает данные.</a:t>
            </a:r>
          </a:p>
          <a:p>
            <a:pPr>
              <a:spcBef>
                <a:spcPts val="600"/>
              </a:spcBef>
            </a:pPr>
            <a:r>
              <a:rPr lang="ru-RU" sz="900" b="0" i="0" dirty="0">
                <a:solidFill>
                  <a:srgbClr val="000000"/>
                </a:solidFill>
                <a:latin typeface="Arial" pitchFamily="34" charset="0"/>
                <a:cs typeface="Arial" pitchFamily="34" charset="0"/>
              </a:rPr>
              <a:t>При доступе на уровне блоков файловая система создается на базе вычислительных систем, а доступ к данным осуществляется через сеть на уровне блоков. В этом случае для вычислительной системы назначаются необработанные диски или логические тома, чтобы создать файловую систему. </a:t>
            </a:r>
          </a:p>
          <a:p>
            <a:pPr>
              <a:spcBef>
                <a:spcPts val="600"/>
              </a:spcBef>
            </a:pPr>
            <a:r>
              <a:rPr lang="ru-RU" sz="900" b="0" i="0" dirty="0">
                <a:solidFill>
                  <a:srgbClr val="000000"/>
                </a:solidFill>
                <a:latin typeface="Arial" pitchFamily="34" charset="0"/>
                <a:cs typeface="Arial" pitchFamily="34" charset="0"/>
              </a:rPr>
              <a:t>При доступе на уровне файлов файловая система создается на отдельном файловом сервере или на стороне СХД, а запрос на уровне файлов отправляется через сеть. Поскольку доступ к данным происходит на уровне файлов, этот метод имеет большие издержки по сравнению с доступом к данным на уровне блоков. </a:t>
            </a:r>
          </a:p>
          <a:p>
            <a:pPr>
              <a:spcBef>
                <a:spcPts val="600"/>
              </a:spcBef>
            </a:pPr>
            <a:r>
              <a:rPr lang="ru-RU" sz="900" b="0" i="0" dirty="0">
                <a:solidFill>
                  <a:srgbClr val="000000"/>
                </a:solidFill>
                <a:latin typeface="Arial" pitchFamily="34" charset="0"/>
                <a:cs typeface="Arial" pitchFamily="34" charset="0"/>
              </a:rPr>
              <a:t>Доступ на уровне объектов — это интеллектуальная эволюция, где доступ к данным происходит через сеть с помощью автономных объектов с уникальными идентификаторами. При этом типе доступа пользовательский компонент файловой системы находится в вычислительной системе, а компонент хранения данных — в системе хранения.</a:t>
            </a:r>
          </a:p>
          <a:p>
            <a:pPr>
              <a:spcBef>
                <a:spcPts val="600"/>
              </a:spcBef>
            </a:pPr>
            <a:endParaRPr lang="ru-RU" sz="900" dirty="0">
              <a:latin typeface="Arial" pitchFamily="34" charset="0"/>
              <a:cs typeface="Arial" pitchFamily="34" charset="0"/>
            </a:endParaRPr>
          </a:p>
        </p:txBody>
      </p:sp>
    </p:spTree>
    <p:extLst>
      <p:ext uri="{BB962C8B-B14F-4D97-AF65-F5344CB8AC3E}">
        <p14:creationId xmlns:p14="http://schemas.microsoft.com/office/powerpoint/2010/main" val="12612969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На основе типа доступа к данным система хранения может классифицироваться как блочная система хранения, файловая система хранения, объектная система хранения и унифицированная система хранения. Унифицированная система хранения предоставляет доступ к данным на основе блоков, файлов и объектов в одной системе. </a:t>
            </a:r>
          </a:p>
          <a:p>
            <a:pPr>
              <a:spcBef>
                <a:spcPts val="600"/>
              </a:spcBef>
            </a:pPr>
            <a:r>
              <a:rPr lang="ru-RU" b="0" i="0" dirty="0">
                <a:solidFill>
                  <a:srgbClr val="000000"/>
                </a:solidFill>
                <a:latin typeface="Arial" pitchFamily="34" charset="0"/>
                <a:cs typeface="Arial" pitchFamily="34" charset="0"/>
              </a:rPr>
              <a:t>Системы хранения на основе блоков, файлов, объектов и унифицированные системы хранения описаны более подробно в следующих модулях.</a:t>
            </a:r>
          </a:p>
        </p:txBody>
      </p:sp>
    </p:spTree>
    <p:extLst>
      <p:ext uri="{BB962C8B-B14F-4D97-AF65-F5344CB8AC3E}">
        <p14:creationId xmlns:p14="http://schemas.microsoft.com/office/powerpoint/2010/main" val="23252353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Интеллектуальная система хранения может создаваться на основе вертикально или горизонтально масштабируемой архитектуры. </a:t>
            </a:r>
          </a:p>
          <a:p>
            <a:pPr>
              <a:spcBef>
                <a:spcPts val="600"/>
              </a:spcBef>
            </a:pPr>
            <a:r>
              <a:rPr lang="ru-RU" b="0" i="0" dirty="0">
                <a:solidFill>
                  <a:srgbClr val="000000"/>
                </a:solidFill>
                <a:latin typeface="Arial" pitchFamily="34" charset="0"/>
                <a:cs typeface="Arial" pitchFamily="34" charset="0"/>
              </a:rPr>
              <a:t>Вертикально масштабируемая архитектура хранения предоставляет возможность масштабировать емкость и производительность одной системы хранения на основе требований. Вертикальное масштабирование системы хранения предполагает обновление или добавление контроллеров и системы хранения. Эти системы имеют фиксированную емкость, что ограничивает их масштабируемость, а производительность также начинает снижаться при достижении предела емкости. </a:t>
            </a:r>
          </a:p>
          <a:p>
            <a:pPr>
              <a:spcBef>
                <a:spcPts val="600"/>
              </a:spcBef>
            </a:pPr>
            <a:r>
              <a:rPr lang="ru-RU" b="0" i="0" dirty="0">
                <a:solidFill>
                  <a:srgbClr val="000000"/>
                </a:solidFill>
                <a:latin typeface="Arial" pitchFamily="34" charset="0"/>
                <a:cs typeface="Arial" pitchFamily="34" charset="0"/>
              </a:rPr>
              <a:t>Горизонтально масштабируемая архитектура предоставляет возможность увеличения емкости путем простого добавления узлов в кластер. Узлы можно быстро добавлять в кластер, если необходимо получить большую производительность и емкость, при этом не вызывая простой. Это предоставляет гибкие возможности по использованию множества узлов со средней производительностью и доступностью для создания системы с улучшенными совокупными показателями производительности и доступности. Горизонтально масштабируемая архитектура объединяет ресурсы в кластер и распределяет рабочую нагрузку между всеми узлами. Таким образом обеспечивается линейное улучшение производительности, поскольку в кластер добавляется больше узлов. </a:t>
            </a:r>
          </a:p>
        </p:txBody>
      </p:sp>
    </p:spTree>
    <p:extLst>
      <p:ext uri="{BB962C8B-B14F-4D97-AF65-F5344CB8AC3E}">
        <p14:creationId xmlns:p14="http://schemas.microsoft.com/office/powerpoint/2010/main" val="6049034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уроке рассматриваются разные типы методов доступа к данным. Кроме того, здесь рассматриваются типы интеллектуальной системы хранения. В этом уроке также рассматриваются архитектуры вертикальной и горизонтальной масштабируемости. </a:t>
            </a:r>
          </a:p>
          <a:p>
            <a:pPr>
              <a:spcBef>
                <a:spcPts val="600"/>
              </a:spcBef>
            </a:pPr>
            <a:endParaRPr lang="ru-RU">
              <a:latin typeface="Arial" pitchFamily="34" charset="0"/>
              <a:cs typeface="Arial" pitchFamily="34" charset="0"/>
            </a:endParaRPr>
          </a:p>
          <a:p>
            <a:pPr>
              <a:spcBef>
                <a:spcPts val="600"/>
              </a:spcBef>
            </a:pPr>
            <a:endParaRPr lang="ru-RU" dirty="0">
              <a:latin typeface="Arial" pitchFamily="34" charset="0"/>
              <a:cs typeface="Arial" pitchFamily="34" charset="0"/>
            </a:endParaRPr>
          </a:p>
        </p:txBody>
      </p:sp>
      <p:sp>
        <p:nvSpPr>
          <p:cNvPr id="6" name="Slide Image Placeholder 5"/>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2715913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r>
              <a:rPr lang="ru-RU" b="0" i="0" dirty="0">
                <a:solidFill>
                  <a:srgbClr val="000000"/>
                </a:solidFill>
                <a:latin typeface="Arial" pitchFamily="34" charset="0"/>
                <a:cs typeface="Arial" pitchFamily="34" charset="0"/>
              </a:rPr>
              <a:t>В этом модуле рассматриваются ключевые компоненты интеллектуальной системы хранения данных. Кроме того, здесь рассматриваются подсистемы хранения и их компоненты, а также параметры адресации и производительности жесткого диска и твердотельного диска (SSD). Массивы RAID, реализации, методы и часто используемые уровни RAID также описаны в ходе модуля. Дополнительно здесь рассматривается воздействие массивов RAID на производительность, а также сравниваются часто используемые уровни RAID. Наконец, в этом модуле описаны типы интеллектуальных систем хранения и их архитектуры.</a:t>
            </a:r>
          </a:p>
          <a:p>
            <a:pPr>
              <a:spcBef>
                <a:spcPts val="600"/>
              </a:spcBef>
            </a:pPr>
            <a:r>
              <a:rPr lang="ru-RU" b="0" i="0" dirty="0">
                <a:solidFill>
                  <a:srgbClr val="000000"/>
                </a:solidFill>
                <a:latin typeface="Arial" pitchFamily="34" charset="0"/>
                <a:cs typeface="Arial" pitchFamily="34" charset="0"/>
              </a:rPr>
              <a:t>Курс завершен.</a:t>
            </a:r>
          </a:p>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37037498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09600" y="381000"/>
            <a:ext cx="5943600" cy="3343275"/>
          </a:xfrm>
        </p:spPr>
      </p:sp>
      <p:sp>
        <p:nvSpPr>
          <p:cNvPr id="3" name="Notes Placeholder 2"/>
          <p:cNvSpPr>
            <a:spLocks noGrp="1"/>
          </p:cNvSpPr>
          <p:nvPr>
            <p:ph type="body" idx="1"/>
          </p:nvPr>
        </p:nvSpPr>
        <p:spPr/>
        <p:txBody>
          <a:bodyPr>
            <a:normAutofit/>
          </a:bodyPr>
          <a:lstStyle/>
          <a:p>
            <a:endParaRPr lang="en-US">
              <a:latin typeface="Arial" pitchFamily="34" charset="0"/>
              <a:cs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a:spcBef>
                <a:spcPts val="600"/>
              </a:spcBef>
            </a:pPr>
            <a:endParaRPr lang="ru-RU" dirty="0">
              <a:latin typeface="Arial" pitchFamily="34" charset="0"/>
              <a:cs typeface="Arial" pitchFamily="34" charset="0"/>
            </a:endParaRPr>
          </a:p>
        </p:txBody>
      </p:sp>
      <p:sp>
        <p:nvSpPr>
          <p:cNvPr id="7" name="Slide Image Placeholder 6"/>
          <p:cNvSpPr>
            <a:spLocks noGrp="1" noRot="1" noChangeAspect="1"/>
          </p:cNvSpPr>
          <p:nvPr>
            <p:ph type="sldImg"/>
          </p:nvPr>
        </p:nvSpPr>
        <p:spPr>
          <a:xfrm>
            <a:off x="609600" y="381000"/>
            <a:ext cx="5943600" cy="3343275"/>
          </a:xfrm>
        </p:spPr>
      </p:sp>
    </p:spTree>
    <p:extLst>
      <p:ext uri="{BB962C8B-B14F-4D97-AF65-F5344CB8AC3E}">
        <p14:creationId xmlns:p14="http://schemas.microsoft.com/office/powerpoint/2010/main" val="18972343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35.xml"/><Relationship Id="rId4" Type="http://schemas.openxmlformats.org/officeDocument/2006/relationships/image" Target="../media/image1.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6.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5" y="1809750"/>
            <a:ext cx="6743596" cy="1194689"/>
          </a:xfrm>
          <a:prstGeom prst="rect">
            <a:avLst/>
          </a:prstGeom>
        </p:spPr>
        <p:txBody>
          <a:bodyPr lIns="0" tIns="0" rIns="0" bIns="0" anchor="b" anchorCtr="0"/>
          <a:lstStyle>
            <a:lvl1pPr algn="ctr">
              <a:lnSpc>
                <a:spcPct val="90000"/>
              </a:lnSpc>
              <a:defRPr sz="2800">
                <a:solidFill>
                  <a:schemeClr val="tx2"/>
                </a:solidFill>
                <a:latin typeface="Arial" pitchFamily="34" charset="0"/>
                <a:cs typeface="Arial"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28807" y="3105151"/>
            <a:ext cx="6743595" cy="816769"/>
          </a:xfrm>
          <a:prstGeom prst="rect">
            <a:avLst/>
          </a:prstGeom>
        </p:spPr>
        <p:txBody>
          <a:bodyPr lIns="0" tIns="0" rIns="0" bIns="0"/>
          <a:lstStyle>
            <a:lvl1pPr marL="0" indent="0" algn="ctr">
              <a:buNone/>
              <a:defRPr sz="24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Box 78"/>
          <p:cNvSpPr txBox="1">
            <a:spLocks noChangeArrowheads="1"/>
          </p:cNvSpPr>
          <p:nvPr userDrawn="1"/>
        </p:nvSpPr>
        <p:spPr bwMode="auto">
          <a:xfrm>
            <a:off x="3962400" y="4933950"/>
            <a:ext cx="3733802" cy="153988"/>
          </a:xfrm>
          <a:prstGeom prst="rect">
            <a:avLst/>
          </a:prstGeom>
          <a:noFill/>
          <a:ln w="9525">
            <a:noFill/>
            <a:miter lim="800000"/>
            <a:headEnd/>
            <a:tailEnd/>
          </a:ln>
        </p:spPr>
        <p:txBody>
          <a:bodyPr wrap="square" lIns="0" tIns="0" rIns="0" bIns="0">
            <a:spAutoFit/>
          </a:bodyPr>
          <a:lstStyle/>
          <a:p>
            <a:pPr algn="r">
              <a:spcBef>
                <a:spcPts val="600"/>
              </a:spcBef>
            </a:pPr>
            <a:r>
              <a:rPr lang="ru-RU" sz="1000" b="0" i="0" dirty="0">
                <a:solidFill>
                  <a:srgbClr val="10100F"/>
                </a:solidFill>
                <a:latin typeface="Arial" pitchFamily="34" charset="0"/>
                <a:cs typeface="Arial" pitchFamily="34" charset="0"/>
              </a:rPr>
              <a:t>Контактное лицо по поддержке: </a:t>
            </a:r>
            <a:r>
              <a:rPr lang="ru-RU" sz="1000" b="0" i="0" dirty="0">
                <a:solidFill>
                  <a:srgbClr val="000000"/>
                </a:solidFill>
                <a:latin typeface="Arial" pitchFamily="34" charset="0"/>
                <a:cs typeface="Arial" pitchFamily="34" charset="0"/>
                <a:hlinkClick r:id="rId3"/>
              </a:rPr>
              <a:t>EMC Education Services</a:t>
            </a:r>
          </a:p>
        </p:txBody>
      </p: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949913" y="4100959"/>
            <a:ext cx="813087" cy="106159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391378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3"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2"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325232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3"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2"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289513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TextBox 4"/>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146621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TextBox 5"/>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383549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TextBox 7"/>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416414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
        <p:nvSpPr>
          <p:cNvPr id="5" name="TextBox 4"/>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53950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5"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0999"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TextBox 6"/>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61586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0999"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4"/>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Box 8"/>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27853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141824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6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240576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1"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3625608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9"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9" y="1011767"/>
            <a:ext cx="4038601"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100">
                <a:solidFill>
                  <a:schemeClr val="tx1"/>
                </a:solidFill>
              </a:defRPr>
            </a:lvl4pPr>
            <a:lvl5pPr marL="1201738" indent="-168275">
              <a:spcBef>
                <a:spcPts val="300"/>
              </a:spcBef>
              <a:buClr>
                <a:schemeClr val="tx2"/>
              </a:buClr>
              <a:buFont typeface="Arial"/>
              <a:buChar char="–"/>
              <a:defRPr sz="105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6" y="1011767"/>
            <a:ext cx="4038601"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100">
                <a:solidFill>
                  <a:schemeClr val="tx1"/>
                </a:solidFill>
              </a:defRPr>
            </a:lvl4pPr>
            <a:lvl5pPr marL="1201738" indent="-168275">
              <a:spcBef>
                <a:spcPts val="300"/>
              </a:spcBef>
              <a:buClr>
                <a:schemeClr val="tx2"/>
              </a:buClr>
              <a:buFont typeface="Arial"/>
              <a:buChar char="–"/>
              <a:defRPr sz="105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46245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Exercise">
    <p:spTree>
      <p:nvGrpSpPr>
        <p:cNvPr id="1" name=""/>
        <p:cNvGrpSpPr/>
        <p:nvPr/>
      </p:nvGrpSpPr>
      <p:grpSpPr>
        <a:xfrm>
          <a:off x="0" y="0"/>
          <a:ext cx="0" cy="0"/>
          <a:chOff x="0" y="0"/>
          <a:chExt cx="0" cy="0"/>
        </a:xfrm>
      </p:grpSpPr>
      <p:sp>
        <p:nvSpPr>
          <p:cNvPr id="2" name="Title 1"/>
          <p:cNvSpPr>
            <a:spLocks noGrp="1"/>
          </p:cNvSpPr>
          <p:nvPr>
            <p:ph type="ctrTitle"/>
          </p:nvPr>
        </p:nvSpPr>
        <p:spPr>
          <a:xfrm>
            <a:off x="379414"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4"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Box 6"/>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27500844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left blank">
    <p:spTree>
      <p:nvGrpSpPr>
        <p:cNvPr id="1" name=""/>
        <p:cNvGrpSpPr/>
        <p:nvPr/>
      </p:nvGrpSpPr>
      <p:grpSpPr>
        <a:xfrm>
          <a:off x="0" y="0"/>
          <a:ext cx="0" cy="0"/>
          <a:chOff x="0" y="0"/>
          <a:chExt cx="0" cy="0"/>
        </a:xfrm>
      </p:grpSpPr>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ru-RU" sz="1800" b="0" i="0" dirty="0">
                <a:solidFill>
                  <a:srgbClr val="000000"/>
                </a:solidFill>
              </a:rPr>
              <a:t>Этот слайд намеренно оставлен пустым.</a:t>
            </a:r>
          </a:p>
        </p:txBody>
      </p:sp>
      <p:sp>
        <p:nvSpPr>
          <p:cNvPr id="5" name="TextBox 4"/>
          <p:cNvSpPr txBox="1"/>
          <p:nvPr userDrawn="1"/>
        </p:nvSpPr>
        <p:spPr bwMode="gray">
          <a:xfrm>
            <a:off x="6172200"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2419931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8"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Arial" pitchFamily="34" charset="0"/>
                <a:cs typeface="Arial"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Text Box 78"/>
          <p:cNvSpPr txBox="1">
            <a:spLocks noChangeArrowheads="1"/>
          </p:cNvSpPr>
          <p:nvPr userDrawn="1"/>
        </p:nvSpPr>
        <p:spPr bwMode="auto">
          <a:xfrm>
            <a:off x="3505200" y="4933950"/>
            <a:ext cx="4114800" cy="153988"/>
          </a:xfrm>
          <a:prstGeom prst="rect">
            <a:avLst/>
          </a:prstGeom>
          <a:noFill/>
          <a:ln w="9525">
            <a:noFill/>
            <a:miter lim="800000"/>
            <a:headEnd/>
            <a:tailEnd/>
          </a:ln>
        </p:spPr>
        <p:txBody>
          <a:bodyPr wrap="square" lIns="0" tIns="0" rIns="0" bIns="0">
            <a:spAutoFit/>
          </a:bodyPr>
          <a:lstStyle/>
          <a:p>
            <a:pPr algn="r">
              <a:spcBef>
                <a:spcPts val="600"/>
              </a:spcBef>
            </a:pPr>
            <a:r>
              <a:rPr lang="ru-RU" sz="1000" b="0" i="0" dirty="0">
                <a:solidFill>
                  <a:srgbClr val="10100F"/>
                </a:solidFill>
                <a:latin typeface="Arial" pitchFamily="34" charset="0"/>
                <a:cs typeface="Arial" pitchFamily="34" charset="0"/>
              </a:rPr>
              <a:t>Контактное лицо по поддержке: </a:t>
            </a:r>
            <a:r>
              <a:rPr lang="ru-RU" sz="1000" b="0" i="0" dirty="0">
                <a:solidFill>
                  <a:srgbClr val="000000"/>
                </a:solidFill>
                <a:latin typeface="Arial" pitchFamily="34" charset="0"/>
                <a:cs typeface="Arial" pitchFamily="34" charset="0"/>
                <a:hlinkClick r:id="rId3"/>
              </a:rPr>
              <a:t>EMC Education Services</a:t>
            </a:r>
          </a:p>
        </p:txBody>
      </p:sp>
      <p:sp>
        <p:nvSpPr>
          <p:cNvPr id="5" name="Slide Number Placeholder 4"/>
          <p:cNvSpPr>
            <a:spLocks noGrp="1"/>
          </p:cNvSpPr>
          <p:nvPr>
            <p:ph type="sldNum" sz="quarter" idx="11"/>
          </p:nvPr>
        </p:nvSpPr>
        <p:spPr/>
        <p:txBody>
          <a:bodyPr/>
          <a:lstStyle>
            <a:lvl1pPr>
              <a:defRPr>
                <a:latin typeface="Arial" pitchFamily="34" charset="0"/>
                <a:cs typeface="Arial" pitchFamily="34" charset="0"/>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96200" y="4086561"/>
            <a:ext cx="923925" cy="1080641"/>
          </a:xfrm>
          <a:prstGeom prst="rect">
            <a:avLst/>
          </a:prstGeom>
        </p:spPr>
      </p:pic>
    </p:spTree>
    <p:custDataLst>
      <p:tags r:id="rId1"/>
    </p:custDataLst>
    <p:extLst>
      <p:ext uri="{BB962C8B-B14F-4D97-AF65-F5344CB8AC3E}">
        <p14:creationId xmlns:p14="http://schemas.microsoft.com/office/powerpoint/2010/main" val="2976859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41602255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1007698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5967169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3" name="Slide Number Placeholder 2"/>
          <p:cNvSpPr>
            <a:spLocks noGrp="1"/>
          </p:cNvSpPr>
          <p:nvPr>
            <p:ph type="sldNum" sz="quarter" idx="10"/>
          </p:nvPr>
        </p:nvSpPr>
        <p:spPr>
          <a:xfrm>
            <a:off x="8610600" y="4887913"/>
            <a:ext cx="381000" cy="274637"/>
          </a:xfrm>
        </p:spPr>
        <p:txBody>
          <a:body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extBox 5"/>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3237669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7" name="TextBox 6"/>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318692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26282176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dirty="0"/>
              <a:t> Click icon to add table</a:t>
            </a:r>
          </a:p>
          <a:p>
            <a:pPr lvl="0"/>
            <a:endParaRPr lang="en-US" noProof="0" dirty="0"/>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24230080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3002423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1599532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9" name="TextBox 8"/>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19744686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endParaRPr lang="en-US" dirty="0"/>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8245828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endParaRPr lang="en-US" dirty="0"/>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9" name="TextBox 8"/>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26308407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600">
                <a:solidFill>
                  <a:schemeClr val="tx1"/>
                </a:solidFill>
              </a:defRPr>
            </a:lvl3pPr>
            <a:lvl4pPr marL="855663" indent="-169863">
              <a:spcBef>
                <a:spcPts val="300"/>
              </a:spcBef>
              <a:buClr>
                <a:schemeClr val="tx2"/>
              </a:buClr>
              <a:buFont typeface="Arial"/>
              <a:buChar char="•"/>
              <a:defRPr sz="1400">
                <a:solidFill>
                  <a:schemeClr val="tx1"/>
                </a:solidFill>
              </a:defRPr>
            </a:lvl4pPr>
            <a:lvl5pPr marL="1201738" indent="-168275">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600">
                <a:solidFill>
                  <a:schemeClr val="tx1"/>
                </a:solidFill>
              </a:defRPr>
            </a:lvl3pPr>
            <a:lvl4pPr marL="855663" indent="-169863">
              <a:spcBef>
                <a:spcPts val="300"/>
              </a:spcBef>
              <a:buClr>
                <a:schemeClr val="tx2"/>
              </a:buClr>
              <a:buFont typeface="Arial"/>
              <a:buChar char="•"/>
              <a:defRPr sz="1400">
                <a:solidFill>
                  <a:schemeClr val="tx1"/>
                </a:solidFill>
              </a:defRPr>
            </a:lvl4pPr>
            <a:lvl5pPr marL="1201738" indent="-168275">
              <a:spcBef>
                <a:spcPts val="300"/>
              </a:spcBef>
              <a:buClr>
                <a:schemeClr val="tx2"/>
              </a:buClr>
              <a:buFont typeface="Arial"/>
              <a:buChar cha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8" name="TextBox 7"/>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25946611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eedback  ">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endParaRPr lang="en-US" dirty="0"/>
          </a:p>
        </p:txBody>
      </p:sp>
      <p:pic>
        <p:nvPicPr>
          <p:cNvPr id="6" name="Picture 10"/>
          <p:cNvPicPr>
            <a:picLocks noChangeAspect="1" noChangeArrowheads="1"/>
          </p:cNvPicPr>
          <p:nvPr userDrawn="1"/>
        </p:nvPicPr>
        <p:blipFill>
          <a:blip r:embed="rId3" cstate="print">
            <a:lum bright="70000" contrast="-70000"/>
          </a:blip>
          <a:srcRect/>
          <a:stretch>
            <a:fillRect/>
          </a:stretch>
        </p:blipFill>
        <p:spPr bwMode="auto">
          <a:xfrm>
            <a:off x="1828800" y="1123950"/>
            <a:ext cx="3754579" cy="2514600"/>
          </a:xfrm>
          <a:prstGeom prst="rect">
            <a:avLst/>
          </a:prstGeom>
          <a:noFill/>
          <a:ln w="28575" algn="ctr">
            <a:noFill/>
            <a:miter lim="800000"/>
            <a:headEnd/>
            <a:tailEnd/>
          </a:ln>
        </p:spPr>
      </p:pic>
      <p:sp>
        <p:nvSpPr>
          <p:cNvPr id="8" name="Rounded Rectangle 7"/>
          <p:cNvSpPr/>
          <p:nvPr userDrawn="1"/>
        </p:nvSpPr>
        <p:spPr bwMode="auto">
          <a:xfrm>
            <a:off x="4876800" y="3257550"/>
            <a:ext cx="2386013" cy="367904"/>
          </a:xfrm>
          <a:prstGeom prst="roundRect">
            <a:avLst/>
          </a:prstGeom>
          <a:solidFill>
            <a:schemeClr val="tx1">
              <a:lumMod val="65000"/>
              <a:lumOff val="35000"/>
            </a:schemeClr>
          </a:solidFill>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a:defRPr/>
            </a:pPr>
            <a:r>
              <a:rPr lang="ru-RU" b="0" i="0" dirty="0">
                <a:solidFill>
                  <a:srgbClr val="FFFFFF"/>
                </a:solidFill>
                <a:latin typeface="Arial" pitchFamily="18" charset="0"/>
              </a:rPr>
              <a:t>Отправить отзыв</a:t>
            </a:r>
          </a:p>
        </p:txBody>
      </p:sp>
      <p:sp>
        <p:nvSpPr>
          <p:cNvPr id="9" name="Slide Number Placeholder 3"/>
          <p:cNvSpPr>
            <a:spLocks noGrp="1"/>
          </p:cNvSpPr>
          <p:nvPr>
            <p:ph type="sldNum" sz="quarter" idx="4"/>
          </p:nvPr>
        </p:nvSpPr>
        <p:spPr>
          <a:xfrm>
            <a:off x="8610600" y="4887913"/>
            <a:ext cx="381000" cy="274637"/>
          </a:xfrm>
          <a:prstGeom prst="rect">
            <a:avLst/>
          </a:prstGeom>
        </p:spPr>
        <p:txBody>
          <a:bodyPr vert="horz" lIns="91440" tIns="45720" rIns="91440" bIns="45720" rtlCol="0" anchor="ctr"/>
          <a:lstStyle>
            <a:lvl1pPr algn="r">
              <a:defRPr sz="600">
                <a:solidFill>
                  <a:schemeClr val="tx1">
                    <a:tint val="75000"/>
                  </a:schemeClr>
                </a:solidFill>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10" name="TextBox 9"/>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10139194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1835008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75"/>
            <a:ext cx="8229600" cy="857250"/>
          </a:xfrm>
          <a:prstGeom prst="rect">
            <a:avLst/>
          </a:prstGeom>
        </p:spPr>
        <p:txBody>
          <a:bodyPr/>
          <a:lstStyle>
            <a:lvl1pPr>
              <a:defRPr>
                <a:latin typeface="Arial" pitchFamily="34" charset="0"/>
                <a:cs typeface="Arial" pitchFamily="34" charset="0"/>
              </a:defRPr>
            </a:lvl1pPr>
          </a:lstStyle>
          <a:p>
            <a:r>
              <a:rPr lang="en-US"/>
              <a:t>Click to edit Master title style</a:t>
            </a:r>
          </a:p>
        </p:txBody>
      </p:sp>
      <p:sp>
        <p:nvSpPr>
          <p:cNvPr id="3" name="Slide Number Placeholder 2"/>
          <p:cNvSpPr>
            <a:spLocks noGrp="1"/>
          </p:cNvSpPr>
          <p:nvPr>
            <p:ph type="sldNum" sz="quarter" idx="10"/>
          </p:nvPr>
        </p:nvSpPr>
        <p:spPr/>
        <p:txBody>
          <a:bodyPr/>
          <a:lstStyle>
            <a:lvl1pPr>
              <a:defRPr>
                <a:latin typeface="Arial" pitchFamily="34" charset="0"/>
                <a:cs typeface="Arial" pitchFamily="34" charset="0"/>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sp>
        <p:nvSpPr>
          <p:cNvPr id="5" name="TextBox 4"/>
          <p:cNvSpPr txBox="1"/>
          <p:nvPr userDrawn="1"/>
        </p:nvSpPr>
        <p:spPr bwMode="gray">
          <a:xfrm>
            <a:off x="6005261" y="5006717"/>
            <a:ext cx="1995739" cy="92333"/>
          </a:xfrm>
          <a:prstGeom prst="rect">
            <a:avLst/>
          </a:prstGeom>
          <a:noFill/>
        </p:spPr>
        <p:txBody>
          <a:bodyPr wrap="none" lIns="0" tIns="0" rIns="0" bIns="0" rtlCol="0">
            <a:spAutoFit/>
          </a:bodyPr>
          <a:lstStyle/>
          <a:p>
            <a:pPr rtl="0"/>
            <a:r>
              <a:rPr lang="ru-RU" sz="600" kern="1200" baseline="0" dirty="0">
                <a:solidFill>
                  <a:srgbClr val="5B5E61"/>
                </a:solidFill>
                <a:latin typeface="Arial" pitchFamily="34" charset="0"/>
                <a:ea typeface="+mn-ea"/>
                <a:cs typeface="Arial" pitchFamily="34" charset="0"/>
              </a:rPr>
              <a:t>ISM v3 модуль 4: интеллектуальные системы хранения</a:t>
            </a:r>
          </a:p>
        </p:txBody>
      </p:sp>
    </p:spTree>
    <p:custDataLst>
      <p:tags r:id="rId1"/>
    </p:custDataLst>
    <p:extLst>
      <p:ext uri="{BB962C8B-B14F-4D97-AF65-F5344CB8AC3E}">
        <p14:creationId xmlns:p14="http://schemas.microsoft.com/office/powerpoint/2010/main" val="9108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ags" Target="../tags/tag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16"/>
          <p:cNvSpPr txBox="1"/>
          <p:nvPr/>
        </p:nvSpPr>
        <p:spPr bwMode="gray">
          <a:xfrm>
            <a:off x="366714" y="5033045"/>
            <a:ext cx="1748877"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a:solidFill>
                  <a:srgbClr val="717073"/>
                </a:solidFill>
                <a:latin typeface="Arial" pitchFamily="34" charset="0"/>
                <a:cs typeface="Arial" pitchFamily="34" charset="0"/>
              </a:rPr>
              <a:t> Корпорация EMC, 2015 г. Все права защищены.</a:t>
            </a:r>
          </a:p>
        </p:txBody>
      </p:sp>
      <p:pic>
        <p:nvPicPr>
          <p:cNvPr id="9" name="Picture 8"/>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229162" y="4448396"/>
            <a:ext cx="533838" cy="709502"/>
          </a:xfrm>
          <a:prstGeom prst="rect">
            <a:avLst/>
          </a:prstGeom>
        </p:spPr>
      </p:pic>
    </p:spTree>
    <p:custDataLst>
      <p:tags r:id="rId19"/>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5" r:id="rId15"/>
    <p:sldLayoutId id="2147483771" r:id="rId16"/>
    <p:sldLayoutId id="2147483768" r:id="rId17"/>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16"/>
          <p:cNvSpPr txBox="1"/>
          <p:nvPr/>
        </p:nvSpPr>
        <p:spPr bwMode="gray">
          <a:xfrm>
            <a:off x="366714" y="5033041"/>
            <a:ext cx="1748877"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600" b="0" i="0" dirty="0">
                <a:solidFill>
                  <a:srgbClr val="717073"/>
                </a:solidFill>
                <a:latin typeface="Arial" pitchFamily="34" charset="0"/>
                <a:cs typeface="Arial" pitchFamily="34" charset="0"/>
              </a:rPr>
              <a:t> Корпорация EMC, 2015 г. Все права защищены.</a:t>
            </a:r>
          </a:p>
        </p:txBody>
      </p:sp>
      <p:sp>
        <p:nvSpPr>
          <p:cNvPr id="4" name="Slide Number Placeholder 3"/>
          <p:cNvSpPr>
            <a:spLocks noGrp="1"/>
          </p:cNvSpPr>
          <p:nvPr>
            <p:ph type="sldNum" sz="quarter" idx="4"/>
          </p:nvPr>
        </p:nvSpPr>
        <p:spPr>
          <a:xfrm>
            <a:off x="8686800" y="4887913"/>
            <a:ext cx="381000" cy="274637"/>
          </a:xfrm>
          <a:prstGeom prst="rect">
            <a:avLst/>
          </a:prstGeom>
        </p:spPr>
        <p:txBody>
          <a:bodyPr vert="horz" lIns="91440" tIns="45720" rIns="91440" bIns="45720" rtlCol="0" anchor="ctr"/>
          <a:lstStyle>
            <a:lvl1pPr algn="r">
              <a:defRPr sz="600">
                <a:solidFill>
                  <a:schemeClr val="tx1">
                    <a:tint val="75000"/>
                  </a:schemeClr>
                </a:solidFill>
                <a:latin typeface="Arial" pitchFamily="34" charset="0"/>
                <a:cs typeface="Arial" pitchFamily="34" charset="0"/>
              </a:defRPr>
            </a:lvl1pPr>
          </a:lstStyle>
          <a:p>
            <a:fld id="{B7FCCBDA-9680-4DD4-B999-2854C48CD6AB}" type="slidenum">
              <a:rPr lang="en-US" smtClean="0">
                <a:solidFill>
                  <a:srgbClr val="000000">
                    <a:tint val="75000"/>
                  </a:srgbClr>
                </a:solidFill>
              </a:rPr>
              <a:pPr/>
              <a:t>‹#›</a:t>
            </a:fld>
            <a:endParaRPr lang="en-US" dirty="0">
              <a:solidFill>
                <a:srgbClr val="000000">
                  <a:tint val="75000"/>
                </a:srgbClr>
              </a:solidFill>
            </a:endParaRPr>
          </a:p>
        </p:txBody>
      </p:sp>
    </p:spTree>
    <p:custDataLst>
      <p:tags r:id="rId19"/>
    </p:custDataLst>
    <p:extLst>
      <p:ext uri="{BB962C8B-B14F-4D97-AF65-F5344CB8AC3E}">
        <p14:creationId xmlns:p14="http://schemas.microsoft.com/office/powerpoint/2010/main" val="3674068827"/>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42.xml"/></Relationships>
</file>

<file path=ppt/slides/_rels/slide6.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4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4.png"/><Relationship Id="rId3" Type="http://schemas.openxmlformats.org/officeDocument/2006/relationships/notesSlide" Target="../notesSlides/notesSlide9.xml"/><Relationship Id="rId21" Type="http://schemas.openxmlformats.org/officeDocument/2006/relationships/image" Target="../media/image26.png"/><Relationship Id="rId34" Type="http://schemas.openxmlformats.org/officeDocument/2006/relationships/image" Target="../media/image39.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2" Type="http://schemas.openxmlformats.org/officeDocument/2006/relationships/slideLayout" Target="../slideLayouts/slideLayout2.xml"/><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png"/><Relationship Id="rId1" Type="http://schemas.openxmlformats.org/officeDocument/2006/relationships/tags" Target="../tags/tag48.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10" Type="http://schemas.openxmlformats.org/officeDocument/2006/relationships/image" Target="../media/image15.png"/><Relationship Id="rId19" Type="http://schemas.openxmlformats.org/officeDocument/2006/relationships/image" Target="../media/image24.png"/><Relationship Id="rId31" Type="http://schemas.openxmlformats.org/officeDocument/2006/relationships/image" Target="../media/image36.png"/><Relationship Id="rId4" Type="http://schemas.openxmlformats.org/officeDocument/2006/relationships/image" Target="../media/image9.emf"/><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26" Type="http://schemas.openxmlformats.org/officeDocument/2006/relationships/image" Target="../media/image32.png"/><Relationship Id="rId3" Type="http://schemas.openxmlformats.org/officeDocument/2006/relationships/notesSlide" Target="../notesSlides/notesSlide10.xml"/><Relationship Id="rId21" Type="http://schemas.openxmlformats.org/officeDocument/2006/relationships/image" Target="../media/image27.png"/><Relationship Id="rId34" Type="http://schemas.openxmlformats.org/officeDocument/2006/relationships/image" Target="../media/image40.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33" Type="http://schemas.openxmlformats.org/officeDocument/2006/relationships/image" Target="../media/image39.png"/><Relationship Id="rId38" Type="http://schemas.openxmlformats.org/officeDocument/2006/relationships/image" Target="../media/image44.png"/><Relationship Id="rId2" Type="http://schemas.openxmlformats.org/officeDocument/2006/relationships/slideLayout" Target="../slideLayouts/slideLayout2.xml"/><Relationship Id="rId16" Type="http://schemas.openxmlformats.org/officeDocument/2006/relationships/image" Target="../media/image22.png"/><Relationship Id="rId20" Type="http://schemas.openxmlformats.org/officeDocument/2006/relationships/image" Target="../media/image26.png"/><Relationship Id="rId29" Type="http://schemas.openxmlformats.org/officeDocument/2006/relationships/image" Target="../media/image35.png"/><Relationship Id="rId1" Type="http://schemas.openxmlformats.org/officeDocument/2006/relationships/tags" Target="../tags/tag49.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32" Type="http://schemas.openxmlformats.org/officeDocument/2006/relationships/image" Target="../media/image38.png"/><Relationship Id="rId37" Type="http://schemas.openxmlformats.org/officeDocument/2006/relationships/image" Target="../media/image43.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28" Type="http://schemas.openxmlformats.org/officeDocument/2006/relationships/image" Target="../media/image34.png"/><Relationship Id="rId36" Type="http://schemas.openxmlformats.org/officeDocument/2006/relationships/image" Target="../media/image42.png"/><Relationship Id="rId10" Type="http://schemas.openxmlformats.org/officeDocument/2006/relationships/image" Target="../media/image16.png"/><Relationship Id="rId19" Type="http://schemas.openxmlformats.org/officeDocument/2006/relationships/image" Target="../media/image25.png"/><Relationship Id="rId31" Type="http://schemas.openxmlformats.org/officeDocument/2006/relationships/image" Target="../media/image37.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png"/><Relationship Id="rId30" Type="http://schemas.openxmlformats.org/officeDocument/2006/relationships/image" Target="../media/image36.png"/><Relationship Id="rId35"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51.xml"/><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52.xml"/><Relationship Id="rId5" Type="http://schemas.openxmlformats.org/officeDocument/2006/relationships/image" Target="../media/image47.pn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54.xml"/><Relationship Id="rId5" Type="http://schemas.openxmlformats.org/officeDocument/2006/relationships/image" Target="../media/image49.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53.png"/><Relationship Id="rId2" Type="http://schemas.openxmlformats.org/officeDocument/2006/relationships/slideLayout" Target="../slideLayouts/slideLayout2.xml"/><Relationship Id="rId1" Type="http://schemas.openxmlformats.org/officeDocument/2006/relationships/tags" Target="../tags/tag55.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19.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17" Type="http://schemas.openxmlformats.org/officeDocument/2006/relationships/notesSlide" Target="../notesSlides/notesSlide19.xml"/><Relationship Id="rId2" Type="http://schemas.openxmlformats.org/officeDocument/2006/relationships/tags" Target="../tags/tag59.xml"/><Relationship Id="rId16" Type="http://schemas.openxmlformats.org/officeDocument/2006/relationships/slideLayout" Target="../slideLayouts/slideLayout7.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tags" Target="../tags/tag72.xml"/><Relationship Id="rId10" Type="http://schemas.openxmlformats.org/officeDocument/2006/relationships/tags" Target="../tags/tag67.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tags" Target="../tags/tag7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3" Type="http://schemas.openxmlformats.org/officeDocument/2006/relationships/tags" Target="../tags/tag76.xml"/><Relationship Id="rId7"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8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8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84.xml"/><Relationship Id="rId5" Type="http://schemas.openxmlformats.org/officeDocument/2006/relationships/image" Target="../media/image55.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85.xml"/><Relationship Id="rId5" Type="http://schemas.openxmlformats.org/officeDocument/2006/relationships/image" Target="../media/image5.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87.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88.xml"/><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89.xml"/><Relationship Id="rId4" Type="http://schemas.openxmlformats.org/officeDocument/2006/relationships/image" Target="../media/image58.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90.xml"/><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91.xml"/><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92.xml"/><Relationship Id="rId4" Type="http://schemas.openxmlformats.org/officeDocument/2006/relationships/image" Target="../media/image6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93.xml"/><Relationship Id="rId4" Type="http://schemas.openxmlformats.org/officeDocument/2006/relationships/image" Target="../media/image6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95.xml"/><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9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97.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98.xml"/><Relationship Id="rId4" Type="http://schemas.openxmlformats.org/officeDocument/2006/relationships/image" Target="../media/image6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42.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tags" Target="../tags/tag112.xml"/><Relationship Id="rId18" Type="http://schemas.openxmlformats.org/officeDocument/2006/relationships/tags" Target="../tags/tag117.xml"/><Relationship Id="rId26" Type="http://schemas.openxmlformats.org/officeDocument/2006/relationships/tags" Target="../tags/tag125.xml"/><Relationship Id="rId3" Type="http://schemas.openxmlformats.org/officeDocument/2006/relationships/tags" Target="../tags/tag102.xml"/><Relationship Id="rId21" Type="http://schemas.openxmlformats.org/officeDocument/2006/relationships/tags" Target="../tags/tag120.xml"/><Relationship Id="rId7" Type="http://schemas.openxmlformats.org/officeDocument/2006/relationships/tags" Target="../tags/tag106.xml"/><Relationship Id="rId12" Type="http://schemas.openxmlformats.org/officeDocument/2006/relationships/tags" Target="../tags/tag111.xml"/><Relationship Id="rId17" Type="http://schemas.openxmlformats.org/officeDocument/2006/relationships/tags" Target="../tags/tag116.xml"/><Relationship Id="rId25" Type="http://schemas.openxmlformats.org/officeDocument/2006/relationships/tags" Target="../tags/tag124.xml"/><Relationship Id="rId2" Type="http://schemas.openxmlformats.org/officeDocument/2006/relationships/tags" Target="../tags/tag101.xml"/><Relationship Id="rId16" Type="http://schemas.openxmlformats.org/officeDocument/2006/relationships/tags" Target="../tags/tag115.xml"/><Relationship Id="rId20" Type="http://schemas.openxmlformats.org/officeDocument/2006/relationships/tags" Target="../tags/tag119.xml"/><Relationship Id="rId29" Type="http://schemas.openxmlformats.org/officeDocument/2006/relationships/notesSlide" Target="../notesSlides/notesSlide42.xml"/><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tags" Target="../tags/tag110.xml"/><Relationship Id="rId24" Type="http://schemas.openxmlformats.org/officeDocument/2006/relationships/tags" Target="../tags/tag123.xml"/><Relationship Id="rId5" Type="http://schemas.openxmlformats.org/officeDocument/2006/relationships/tags" Target="../tags/tag104.xml"/><Relationship Id="rId15" Type="http://schemas.openxmlformats.org/officeDocument/2006/relationships/tags" Target="../tags/tag114.xml"/><Relationship Id="rId23" Type="http://schemas.openxmlformats.org/officeDocument/2006/relationships/tags" Target="../tags/tag122.xml"/><Relationship Id="rId28" Type="http://schemas.openxmlformats.org/officeDocument/2006/relationships/slideLayout" Target="../slideLayouts/slideLayout2.xml"/><Relationship Id="rId10" Type="http://schemas.openxmlformats.org/officeDocument/2006/relationships/tags" Target="../tags/tag109.xml"/><Relationship Id="rId19" Type="http://schemas.openxmlformats.org/officeDocument/2006/relationships/tags" Target="../tags/tag118.xml"/><Relationship Id="rId31" Type="http://schemas.openxmlformats.org/officeDocument/2006/relationships/image" Target="../media/image65.png"/><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tags" Target="../tags/tag113.xml"/><Relationship Id="rId22" Type="http://schemas.openxmlformats.org/officeDocument/2006/relationships/tags" Target="../tags/tag121.xml"/><Relationship Id="rId27" Type="http://schemas.openxmlformats.org/officeDocument/2006/relationships/tags" Target="../tags/tag126.xml"/><Relationship Id="rId30"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127.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45.xml.rels><?xml version="1.0" encoding="UTF-8" standalone="yes"?>
<Relationships xmlns="http://schemas.openxmlformats.org/package/2006/relationships"><Relationship Id="rId8" Type="http://schemas.openxmlformats.org/officeDocument/2006/relationships/image" Target="../media/image67.emf"/><Relationship Id="rId3" Type="http://schemas.openxmlformats.org/officeDocument/2006/relationships/tags" Target="../tags/tag131.xml"/><Relationship Id="rId7" Type="http://schemas.openxmlformats.org/officeDocument/2006/relationships/image" Target="../media/image66.png"/><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notesSlide" Target="../notesSlides/notesSlide45.xml"/><Relationship Id="rId5" Type="http://schemas.openxmlformats.org/officeDocument/2006/relationships/slideLayout" Target="../slideLayouts/slideLayout34.xml"/><Relationship Id="rId10" Type="http://schemas.openxmlformats.org/officeDocument/2006/relationships/image" Target="../media/image69.png"/><Relationship Id="rId4" Type="http://schemas.openxmlformats.org/officeDocument/2006/relationships/tags" Target="../tags/tag132.xml"/><Relationship Id="rId9" Type="http://schemas.openxmlformats.org/officeDocument/2006/relationships/image" Target="../media/image68.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9.xml"/><Relationship Id="rId1" Type="http://schemas.openxmlformats.org/officeDocument/2006/relationships/tags" Target="../tags/tag133.xml"/><Relationship Id="rId5" Type="http://schemas.openxmlformats.org/officeDocument/2006/relationships/hyperlink" Target="https://secure.testcraft.com/emc/assess.aspx?aid=MR-1SP-ISMV3ISS&amp;apass=PASSWORD"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rPr>
              <a:t>ISM v3 </a:t>
            </a:r>
            <a:r>
              <a:rPr lang="ru-RU" sz="2800" b="0" i="0" dirty="0">
                <a:solidFill>
                  <a:srgbClr val="2C95DD"/>
                </a:solidFill>
                <a:latin typeface="Arial"/>
              </a:rPr>
              <a:t>модуль</a:t>
            </a:r>
            <a:r>
              <a:rPr lang="ru-RU" sz="2800" b="0" i="0" dirty="0">
                <a:solidFill>
                  <a:srgbClr val="2C95DD"/>
                </a:solidFill>
              </a:rPr>
              <a:t> 4: </a:t>
            </a:r>
            <a:r>
              <a:rPr lang="ru-RU" sz="2800" b="0" i="0" dirty="0">
                <a:solidFill>
                  <a:srgbClr val="2C95DD"/>
                </a:solidFill>
                <a:latin typeface="Arial"/>
              </a:rPr>
              <a:t>интеллектуальные</a:t>
            </a:r>
            <a:r>
              <a:rPr lang="ru-RU" sz="2800" b="0" i="0" dirty="0">
                <a:solidFill>
                  <a:srgbClr val="2C95DD"/>
                </a:solidFill>
              </a:rPr>
              <a:t> </a:t>
            </a:r>
            <a:r>
              <a:rPr lang="ru-RU" sz="2800" b="0" i="0" dirty="0">
                <a:solidFill>
                  <a:srgbClr val="2C95DD"/>
                </a:solidFill>
                <a:latin typeface="Arial"/>
              </a:rPr>
              <a:t>системы</a:t>
            </a:r>
            <a:r>
              <a:rPr lang="ru-RU" sz="2800" b="0" i="0" dirty="0">
                <a:solidFill>
                  <a:srgbClr val="2C95DD"/>
                </a:solidFill>
              </a:rPr>
              <a:t> </a:t>
            </a:r>
            <a:r>
              <a:rPr lang="ru-RU" sz="2800" b="0" i="0" dirty="0">
                <a:solidFill>
                  <a:srgbClr val="2C95DD"/>
                </a:solidFill>
                <a:latin typeface="Arial"/>
              </a:rPr>
              <a:t>хранения</a:t>
            </a:r>
          </a:p>
        </p:txBody>
      </p:sp>
      <p:sp>
        <p:nvSpPr>
          <p:cNvPr id="3" name="TextBox 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5854466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ru-RU" sz="2800" b="0" i="0" dirty="0">
                <a:solidFill>
                  <a:srgbClr val="2C95DD"/>
                </a:solidFill>
                <a:latin typeface="Arial" pitchFamily="34" charset="0"/>
                <a:cs typeface="Arial" pitchFamily="34" charset="0"/>
              </a:rPr>
              <a:t>Обзор модуля</a:t>
            </a:r>
          </a:p>
        </p:txBody>
      </p:sp>
      <p:graphicFrame>
        <p:nvGraphicFramePr>
          <p:cNvPr id="8" name="Content Placeholder 7"/>
          <p:cNvGraphicFramePr>
            <a:graphicFrameLocks noGrp="1"/>
          </p:cNvGraphicFramePr>
          <p:nvPr>
            <p:ph sz="quarter" idx="10"/>
            <p:extLst>
              <p:ext uri="{D42A27DB-BD31-4B8C-83A1-F6EECF244321}">
                <p14:modId xmlns:p14="http://schemas.microsoft.com/office/powerpoint/2010/main" val="3299327210"/>
              </p:ext>
            </p:extLst>
          </p:nvPr>
        </p:nvGraphicFramePr>
        <p:xfrm>
          <a:off x="379413" y="990600"/>
          <a:ext cx="8458200" cy="2931160"/>
        </p:xfrm>
        <a:graphic>
          <a:graphicData uri="http://schemas.openxmlformats.org/drawingml/2006/table">
            <a:tbl>
              <a:tblPr firstCol="1" bandRow="1">
                <a:tableStyleId>{5C22544A-7EE6-4342-B048-85BDC9FD1C3A}</a:tableStyleId>
              </a:tblPr>
              <a:tblGrid>
                <a:gridCol w="1373187">
                  <a:extLst>
                    <a:ext uri="{9D8B030D-6E8A-4147-A177-3AD203B41FA5}">
                      <a16:colId xmlns:a16="http://schemas.microsoft.com/office/drawing/2014/main" val="20000"/>
                    </a:ext>
                  </a:extLst>
                </a:gridCol>
                <a:gridCol w="7085013">
                  <a:extLst>
                    <a:ext uri="{9D8B030D-6E8A-4147-A177-3AD203B41FA5}">
                      <a16:colId xmlns:a16="http://schemas.microsoft.com/office/drawing/2014/main" val="20001"/>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kern="1200" dirty="0">
                        <a:latin typeface="Arial" pitchFamily="34" charset="0"/>
                        <a:cs typeface="Arial"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ru-RU" sz="1400" b="1" i="0" dirty="0">
                          <a:solidFill>
                            <a:srgbClr val="FFFFFF"/>
                          </a:solidFill>
                          <a:latin typeface="Arial" pitchFamily="34" charset="0"/>
                          <a:cs typeface="Arial" pitchFamily="34" charset="0"/>
                        </a:rPr>
                        <a:t>Описание</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Arial" pitchFamily="34" charset="0"/>
                        <a:ea typeface="+mn-ea"/>
                        <a:cs typeface="Arial" pitchFamily="34" charset="0"/>
                      </a:endParaRPr>
                    </a:p>
                  </a:txBody>
                  <a:tcPr anchor="ctr">
                    <a:gradFill>
                      <a:gsLst>
                        <a:gs pos="0">
                          <a:schemeClr val="tx2">
                            <a:lumMod val="75000"/>
                          </a:schemeClr>
                        </a:gs>
                        <a:gs pos="100000">
                          <a:schemeClr val="tx2"/>
                        </a:gs>
                      </a:gsLst>
                      <a:lin ang="2700000" scaled="1"/>
                    </a:gradFill>
                  </a:tcPr>
                </a:tc>
                <a:tc>
                  <a:txBody>
                    <a:bodyPr/>
                    <a:lstStyle/>
                    <a:p>
                      <a:pPr marL="171450" marR="0" lvl="0" indent="0" algn="l" defTabSz="457200" rtl="0" eaLnBrk="1" fontAlgn="auto" latinLnBrk="0" hangingPunct="1">
                        <a:lnSpc>
                          <a:spcPct val="100000"/>
                        </a:lnSpc>
                        <a:spcBef>
                          <a:spcPts val="0"/>
                        </a:spcBef>
                        <a:spcAft>
                          <a:spcPts val="0"/>
                        </a:spcAft>
                        <a:buClrTx/>
                        <a:buSzTx/>
                        <a:buFontTx/>
                        <a:buNone/>
                        <a:tabLst/>
                        <a:defRPr/>
                      </a:pPr>
                      <a:r>
                        <a:rPr lang="ru-RU" sz="1200" b="0" i="0" dirty="0">
                          <a:solidFill>
                            <a:srgbClr val="000000"/>
                          </a:solidFill>
                          <a:latin typeface="Arial" pitchFamily="34" charset="0"/>
                          <a:cs typeface="Arial" pitchFamily="34" charset="0"/>
                        </a:rPr>
                        <a:t>Этот модуль поможет слушателю в освоении интеллектуальной системы хранения. В этом модуле рассматриваются ключевые компоненты интеллектуальной системы хранения. Кроме того, здесь рассматриваются подсистемы хранения, а также параметры компонентов, адресации и производительности жесткого диска и твердотельного диска (SSD). Массивы RAID, реализации, методы и часто используемые уровни RAID также описаны в ходе модуля. Кроме того, в нем представлен обзор типов интеллектуальных систем хранения и их архитектуры.</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0"/>
                  </a:ext>
                </a:extLst>
              </a:tr>
              <a:tr h="370840">
                <a:tc>
                  <a:txBody>
                    <a:bodyPr/>
                    <a:lstStyle/>
                    <a:p>
                      <a:pPr algn="l"/>
                      <a:r>
                        <a:rPr lang="ru-RU" sz="1400" b="1" i="0" dirty="0">
                          <a:solidFill>
                            <a:srgbClr val="FFFFFF"/>
                          </a:solidFill>
                          <a:latin typeface="Arial" pitchFamily="34" charset="0"/>
                          <a:cs typeface="Arial" pitchFamily="34" charset="0"/>
                        </a:rPr>
                        <a:t>Аудитория</a:t>
                      </a:r>
                    </a:p>
                  </a:txBody>
                  <a:tcPr anchor="ctr">
                    <a:gradFill>
                      <a:gsLst>
                        <a:gs pos="0">
                          <a:schemeClr val="tx2">
                            <a:lumMod val="75000"/>
                          </a:schemeClr>
                        </a:gs>
                        <a:gs pos="100000">
                          <a:schemeClr val="tx2"/>
                        </a:gs>
                      </a:gsLst>
                      <a:lin ang="2700000" scaled="1"/>
                    </a:gradFill>
                  </a:tcPr>
                </a:tc>
                <a:tc>
                  <a:txBody>
                    <a:bodyPr/>
                    <a:lstStyle/>
                    <a:p>
                      <a:pPr marL="114300" marR="251460" lvl="0" indent="44450" algn="l" defTabSz="914400" rtl="0" eaLnBrk="1" fontAlgn="auto" latinLnBrk="0" hangingPunct="1">
                        <a:lnSpc>
                          <a:spcPct val="115000"/>
                        </a:lnSpc>
                        <a:spcBef>
                          <a:spcPts val="0"/>
                        </a:spcBef>
                        <a:spcAft>
                          <a:spcPts val="1000"/>
                        </a:spcAft>
                        <a:buClrTx/>
                        <a:buSzTx/>
                        <a:buFontTx/>
                        <a:buNone/>
                        <a:tabLst>
                          <a:tab pos="2743200" algn="ctr"/>
                          <a:tab pos="5486400" algn="r"/>
                        </a:tabLst>
                        <a:defRPr/>
                      </a:pPr>
                      <a:r>
                        <a:rPr lang="ru-RU" sz="1200" b="0" i="0" u="none" dirty="0">
                          <a:solidFill>
                            <a:srgbClr val="000000"/>
                          </a:solidFill>
                          <a:latin typeface="Arial" pitchFamily="34" charset="0"/>
                          <a:cs typeface="Arial" pitchFamily="34" charset="0"/>
                        </a:rPr>
                        <a:t>Заказчики, партнеры, сотрудники EMC и отраслевые специалисты (включая студентов)</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ru-RU" sz="1400" b="1" i="0" dirty="0">
                          <a:solidFill>
                            <a:srgbClr val="FFFFFF"/>
                          </a:solidFill>
                          <a:latin typeface="Arial" pitchFamily="34" charset="0"/>
                          <a:cs typeface="Arial" pitchFamily="34" charset="0"/>
                        </a:rPr>
                        <a:t>Цели</a:t>
                      </a:r>
                    </a:p>
                  </a:txBody>
                  <a:tcPr anchor="ctr">
                    <a:gradFill>
                      <a:gsLst>
                        <a:gs pos="0">
                          <a:schemeClr val="tx2">
                            <a:lumMod val="75000"/>
                          </a:schemeClr>
                        </a:gs>
                        <a:gs pos="100000">
                          <a:schemeClr val="tx2"/>
                        </a:gs>
                      </a:gsLst>
                      <a:lin ang="2700000" scaled="1"/>
                    </a:gradFill>
                  </a:tcPr>
                </a:tc>
                <a:tc>
                  <a:txBody>
                    <a:bodyPr/>
                    <a:lstStyle/>
                    <a:p>
                      <a:pPr marL="342900" marR="0" lvl="0" indent="-171450" algn="l" defTabSz="914400" rtl="0" eaLnBrk="1" fontAlgn="base" latinLnBrk="0" hangingPunct="1">
                        <a:lnSpc>
                          <a:spcPct val="100000"/>
                        </a:lnSpc>
                        <a:spcBef>
                          <a:spcPct val="0"/>
                        </a:spcBef>
                        <a:spcAft>
                          <a:spcPct val="0"/>
                        </a:spcAft>
                        <a:buClrTx/>
                        <a:buSzTx/>
                        <a:buFontTx/>
                        <a:buNone/>
                        <a:tabLst/>
                        <a:defRPr/>
                      </a:pPr>
                      <a:r>
                        <a:rPr lang="ru-RU" sz="1200" b="0" i="0" u="none" dirty="0">
                          <a:solidFill>
                            <a:srgbClr val="000000"/>
                          </a:solidFill>
                          <a:latin typeface="Arial" pitchFamily="34" charset="0"/>
                          <a:cs typeface="Arial" pitchFamily="34" charset="0"/>
                        </a:rPr>
                        <a:t>По окончании этого модуля вы должны уметь:</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ключевые компоненты интеллектуальной системы хранения;</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компоненты, адресацию и производительность жестких и твердотельных дисков (HDD и SSD);</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описывать массивы RAID, методы и уровни RAID;</a:t>
                      </a:r>
                    </a:p>
                    <a:p>
                      <a:pPr marL="34290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ru-RU" sz="1200" b="0" i="0" u="none" dirty="0">
                          <a:solidFill>
                            <a:srgbClr val="000000"/>
                          </a:solidFill>
                          <a:latin typeface="Arial" pitchFamily="34" charset="0"/>
                          <a:cs typeface="Arial" pitchFamily="34" charset="0"/>
                        </a:rPr>
                        <a:t>обсуждать типы интеллектуальных систем хранения.</a:t>
                      </a:r>
                    </a:p>
                  </a:txBody>
                  <a:tcPr anchor="ctr">
                    <a:gradFill flip="none" rotWithShape="1">
                      <a:gsLst>
                        <a:gs pos="0">
                          <a:schemeClr val="bg2">
                            <a:lumMod val="20000"/>
                            <a:lumOff val="80000"/>
                          </a:schemeClr>
                        </a:gs>
                        <a:gs pos="100000">
                          <a:schemeClr val="bg1"/>
                        </a:gs>
                      </a:gsLst>
                      <a:lin ang="18900000" scaled="1"/>
                      <a:tileRect/>
                    </a:gradFill>
                  </a:tcPr>
                </a:tc>
                <a:extLst>
                  <a:ext uri="{0D108BD9-81ED-4DB2-BD59-A6C34878D82A}">
                    <a16:rowId xmlns:a16="http://schemas.microsoft.com/office/drawing/2014/main" val="10002"/>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817621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ru-RU" sz="2600" b="0" i="0" dirty="0">
                <a:solidFill>
                  <a:srgbClr val="2C95DD"/>
                </a:solidFill>
                <a:latin typeface="Arial" pitchFamily="34" charset="0"/>
                <a:cs typeface="Arial" pitchFamily="34" charset="0"/>
              </a:rPr>
              <a:t>Требования третьей платформы для системы хранения</a:t>
            </a:r>
          </a:p>
        </p:txBody>
      </p:sp>
      <p:sp>
        <p:nvSpPr>
          <p:cNvPr id="6" name="Content Placeholder 5"/>
          <p:cNvSpPr>
            <a:spLocks noGrp="1"/>
          </p:cNvSpPr>
          <p:nvPr>
            <p:ph sz="quarter" idx="10"/>
          </p:nvPr>
        </p:nvSpPr>
        <p:spPr>
          <a:xfrm>
            <a:off x="379414" y="1276350"/>
            <a:ext cx="8458200" cy="3429000"/>
          </a:xfrm>
        </p:spPr>
        <p:txBody>
          <a:bodyPr/>
          <a:lstStyle/>
          <a:p>
            <a:r>
              <a:rPr lang="ru-RU" sz="1800" b="0" i="0" dirty="0">
                <a:solidFill>
                  <a:srgbClr val="000000"/>
                </a:solidFill>
                <a:latin typeface="Arial" pitchFamily="34" charset="0"/>
                <a:cs typeface="Arial" pitchFamily="34" charset="0"/>
              </a:rPr>
              <a:t>Обработка большого объема операций ввода-вывода в секунду (IOPS)</a:t>
            </a:r>
          </a:p>
          <a:p>
            <a:r>
              <a:rPr lang="ru-RU" sz="1800" b="0" i="0" dirty="0">
                <a:solidFill>
                  <a:srgbClr val="000000"/>
                </a:solidFill>
                <a:latin typeface="Arial" pitchFamily="34" charset="0"/>
                <a:cs typeface="Arial" pitchFamily="34" charset="0"/>
              </a:rPr>
              <a:t>Гибкое и бесперебойное горизонтальное масштабирование ресурсов</a:t>
            </a:r>
          </a:p>
          <a:p>
            <a:r>
              <a:rPr lang="ru-RU" sz="1800" b="0" i="0" dirty="0">
                <a:solidFill>
                  <a:srgbClr val="000000"/>
                </a:solidFill>
                <a:latin typeface="Arial" pitchFamily="34" charset="0"/>
                <a:cs typeface="Arial" pitchFamily="34" charset="0"/>
              </a:rPr>
              <a:t>Интеллектуальное управление ресурсами</a:t>
            </a:r>
          </a:p>
          <a:p>
            <a:r>
              <a:rPr lang="ru-RU" sz="1800" b="0" i="0" dirty="0">
                <a:solidFill>
                  <a:srgbClr val="000000"/>
                </a:solidFill>
                <a:latin typeface="Arial" pitchFamily="34" charset="0"/>
                <a:cs typeface="Arial" pitchFamily="34" charset="0"/>
              </a:rPr>
              <a:t>Автоматизированная и управляемая на основе политик конфигурация</a:t>
            </a:r>
          </a:p>
          <a:p>
            <a:r>
              <a:rPr lang="ru-RU" sz="1800" b="0" i="0" dirty="0">
                <a:solidFill>
                  <a:srgbClr val="000000"/>
                </a:solidFill>
                <a:latin typeface="Arial" pitchFamily="34" charset="0"/>
                <a:cs typeface="Arial" pitchFamily="34" charset="0"/>
              </a:rPr>
              <a:t>Поддержка нескольких протоколов для доступа к данным</a:t>
            </a:r>
          </a:p>
          <a:p>
            <a:r>
              <a:rPr lang="ru-RU" sz="1800" b="0" i="0" dirty="0">
                <a:solidFill>
                  <a:srgbClr val="000000"/>
                </a:solidFill>
                <a:latin typeface="Arial" pitchFamily="34" charset="0"/>
                <a:cs typeface="Arial" pitchFamily="34" charset="0"/>
              </a:rPr>
              <a:t>Поддерживает API для программно-определяемой интеграции и интеграции с облаком</a:t>
            </a:r>
          </a:p>
          <a:p>
            <a:pPr marL="228600" lvl="1" indent="-228600">
              <a:spcBef>
                <a:spcPts val="1200"/>
              </a:spcBef>
              <a:buFont typeface="Arial"/>
              <a:buChar char="•"/>
            </a:pPr>
            <a:r>
              <a:rPr lang="ru-RU" b="0" i="0" dirty="0">
                <a:solidFill>
                  <a:srgbClr val="000000"/>
                </a:solidFill>
                <a:latin typeface="Arial" pitchFamily="34" charset="0"/>
                <a:cs typeface="Arial" pitchFamily="34" charset="0"/>
              </a:rPr>
              <a:t>Централизованное управление и распределение расходов между подразделениями в многопользовательской среде</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428076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Технологическое решение</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Интеллектуальная система хранения</a:t>
            </a:r>
          </a:p>
          <a:p>
            <a:pPr lvl="1"/>
            <a:r>
              <a:rPr lang="ru-RU" sz="1800" b="0" i="0" dirty="0">
                <a:solidFill>
                  <a:srgbClr val="000000"/>
                </a:solidFill>
                <a:latin typeface="Arial" pitchFamily="34" charset="0"/>
                <a:cs typeface="Arial" pitchFamily="34" charset="0"/>
              </a:rPr>
              <a:t>блочная система хранения;</a:t>
            </a:r>
          </a:p>
          <a:p>
            <a:pPr lvl="1"/>
            <a:r>
              <a:rPr lang="ru-RU" sz="1800" b="0" i="0" dirty="0">
                <a:solidFill>
                  <a:srgbClr val="000000"/>
                </a:solidFill>
                <a:latin typeface="Arial" pitchFamily="34" charset="0"/>
                <a:cs typeface="Arial" pitchFamily="34" charset="0"/>
              </a:rPr>
              <a:t>файловая система хранения;</a:t>
            </a:r>
          </a:p>
          <a:p>
            <a:pPr lvl="1"/>
            <a:r>
              <a:rPr lang="ru-RU" sz="1800" b="0" i="0" dirty="0">
                <a:solidFill>
                  <a:srgbClr val="000000"/>
                </a:solidFill>
                <a:latin typeface="Arial" pitchFamily="34" charset="0"/>
                <a:cs typeface="Arial" pitchFamily="34" charset="0"/>
              </a:rPr>
              <a:t>объектно-ориентированная система хранения;</a:t>
            </a:r>
          </a:p>
          <a:p>
            <a:pPr lvl="1"/>
            <a:r>
              <a:rPr lang="ru-RU" sz="1800" b="0" i="0" dirty="0">
                <a:solidFill>
                  <a:srgbClr val="000000"/>
                </a:solidFill>
                <a:latin typeface="Arial" pitchFamily="34" charset="0"/>
                <a:cs typeface="Arial" pitchFamily="34" charset="0"/>
              </a:rPr>
              <a:t>унифицированная система хранения.</a:t>
            </a:r>
          </a:p>
          <a:p>
            <a:r>
              <a:rPr lang="ru-RU" sz="2000" b="0" i="0" dirty="0">
                <a:solidFill>
                  <a:srgbClr val="000000"/>
                </a:solidFill>
                <a:latin typeface="Arial" pitchFamily="34" charset="0"/>
                <a:cs typeface="Arial" pitchFamily="34" charset="0"/>
              </a:rPr>
              <a:t>Виртуализация хранилища</a:t>
            </a:r>
          </a:p>
          <a:p>
            <a:r>
              <a:rPr lang="ru-RU" sz="2000" b="0" i="0" dirty="0">
                <a:solidFill>
                  <a:srgbClr val="000000"/>
                </a:solidFill>
                <a:latin typeface="Arial" pitchFamily="34" charset="0"/>
                <a:cs typeface="Arial" pitchFamily="34" charset="0"/>
              </a:rPr>
              <a:t>Программно-определяемая система хранения</a:t>
            </a: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631730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1. Компоненты интеллектуальной системы хранения — I. </a:t>
            </a:r>
          </a:p>
        </p:txBody>
      </p:sp>
      <p:sp>
        <p:nvSpPr>
          <p:cNvPr id="5" name="Content Placeholder 4"/>
          <p:cNvSpPr>
            <a:spLocks noGrp="1"/>
          </p:cNvSpPr>
          <p:nvPr>
            <p:ph sz="quarter" idx="10"/>
          </p:nvPr>
        </p:nvSpPr>
        <p:spPr>
          <a:xfrm>
            <a:off x="533402" y="1426464"/>
            <a:ext cx="8077200" cy="2971800"/>
          </a:xfrm>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компоненты интеллектуальной системы хранения;</a:t>
            </a:r>
          </a:p>
          <a:p>
            <a:pPr>
              <a:defRPr/>
            </a:pPr>
            <a:r>
              <a:rPr lang="ru-RU" sz="2000" b="0" i="0" dirty="0">
                <a:solidFill>
                  <a:srgbClr val="000000"/>
                </a:solidFill>
                <a:latin typeface="Arial" pitchFamily="34" charset="0"/>
                <a:cs typeface="Arial" pitchFamily="34" charset="0"/>
              </a:rPr>
              <a:t>компоненты, адресация и производительность жестких дисков (HDD).</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755615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Что такое интеллектуальная система хранения?</a:t>
            </a:r>
          </a:p>
        </p:txBody>
      </p:sp>
      <p:sp>
        <p:nvSpPr>
          <p:cNvPr id="5" name="Content Placeholder 4"/>
          <p:cNvSpPr>
            <a:spLocks noGrp="1"/>
          </p:cNvSpPr>
          <p:nvPr>
            <p:ph sz="quarter" idx="10"/>
          </p:nvPr>
        </p:nvSpPr>
        <p:spPr>
          <a:xfrm>
            <a:off x="228600" y="1885950"/>
            <a:ext cx="3953686" cy="2533650"/>
          </a:xfrm>
        </p:spPr>
        <p:txBody>
          <a:bodyPr/>
          <a:lstStyle/>
          <a:p>
            <a:r>
              <a:rPr lang="ru-RU" sz="1600" b="0" i="0" dirty="0">
                <a:solidFill>
                  <a:srgbClr val="000000"/>
                </a:solidFill>
                <a:latin typeface="Arial" pitchFamily="34" charset="0"/>
                <a:cs typeface="Arial" pitchFamily="34" charset="0"/>
              </a:rPr>
              <a:t>Имеет специально разработанную операционную среду </a:t>
            </a:r>
          </a:p>
          <a:p>
            <a:pPr lvl="1"/>
            <a:r>
              <a:rPr lang="ru-RU" sz="1400" b="0" i="0" dirty="0">
                <a:solidFill>
                  <a:srgbClr val="000000"/>
                </a:solidFill>
                <a:latin typeface="Arial" pitchFamily="34" charset="0"/>
                <a:cs typeface="Arial" pitchFamily="34" charset="0"/>
              </a:rPr>
              <a:t>Обеспечивает функцию интеллектуального управления ресурсами </a:t>
            </a:r>
          </a:p>
          <a:p>
            <a:r>
              <a:rPr lang="ru-RU" sz="1600" b="0" i="0" dirty="0">
                <a:solidFill>
                  <a:srgbClr val="000000"/>
                </a:solidFill>
                <a:latin typeface="Arial" pitchFamily="34" charset="0"/>
                <a:cs typeface="Arial" pitchFamily="34" charset="0"/>
              </a:rPr>
              <a:t>Предоставляет большой объем кэш-памяти</a:t>
            </a:r>
          </a:p>
          <a:p>
            <a:r>
              <a:rPr lang="ru-RU" sz="1600" b="0" i="0" dirty="0">
                <a:solidFill>
                  <a:srgbClr val="000000"/>
                </a:solidFill>
                <a:latin typeface="Arial" pitchFamily="34" charset="0"/>
                <a:cs typeface="Arial" pitchFamily="34" charset="0"/>
              </a:rPr>
              <a:t>Предоставляет несколько путей ввода-вывода</a:t>
            </a:r>
          </a:p>
        </p:txBody>
      </p:sp>
      <p:grpSp>
        <p:nvGrpSpPr>
          <p:cNvPr id="6" name="Group 5"/>
          <p:cNvGrpSpPr/>
          <p:nvPr/>
        </p:nvGrpSpPr>
        <p:grpSpPr>
          <a:xfrm>
            <a:off x="278861" y="787916"/>
            <a:ext cx="8545183" cy="1011561"/>
            <a:chOff x="125970" y="798190"/>
            <a:chExt cx="8545183" cy="1011561"/>
          </a:xfrm>
        </p:grpSpPr>
        <p:sp>
          <p:nvSpPr>
            <p:cNvPr id="7" name="Rectangle 6"/>
            <p:cNvSpPr/>
            <p:nvPr/>
          </p:nvSpPr>
          <p:spPr>
            <a:xfrm>
              <a:off x="125970"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endParaRPr lang="en-US">
                <a:latin typeface="Arial" pitchFamily="34" charset="0"/>
                <a:cs typeface="Arial" pitchFamily="34" charset="0"/>
              </a:endParaRPr>
            </a:p>
          </p:txBody>
        </p:sp>
        <p:sp>
          <p:nvSpPr>
            <p:cNvPr id="8" name="Rectangle 7"/>
            <p:cNvSpPr/>
            <p:nvPr/>
          </p:nvSpPr>
          <p:spPr>
            <a:xfrm>
              <a:off x="441553" y="996921"/>
              <a:ext cx="8229600" cy="81283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400" b="0" i="0" dirty="0">
                  <a:solidFill>
                    <a:srgbClr val="000000"/>
                  </a:solidFill>
                  <a:latin typeface="Arial" pitchFamily="34" charset="0"/>
                  <a:cs typeface="Arial" pitchFamily="34" charset="0"/>
                </a:rPr>
                <a:t>Многофункциональные массивы RAID, которые предоставляют высокооптимизированную функциональность обработки операций ввода-вывода.</a:t>
              </a:r>
            </a:p>
          </p:txBody>
        </p:sp>
        <p:sp>
          <p:nvSpPr>
            <p:cNvPr id="9" name="Rectangle 8"/>
            <p:cNvSpPr/>
            <p:nvPr/>
          </p:nvSpPr>
          <p:spPr>
            <a:xfrm>
              <a:off x="175740"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400" b="1" i="0" dirty="0">
                  <a:solidFill>
                    <a:srgbClr val="FFFFFF"/>
                  </a:solidFill>
                  <a:latin typeface="Arial" pitchFamily="34" charset="0"/>
                  <a:cs typeface="Arial" pitchFamily="34" charset="0"/>
                </a:rPr>
                <a:t>Интеллектуальная система хранения</a:t>
              </a:r>
            </a:p>
          </p:txBody>
        </p:sp>
      </p:grpSp>
      <p:grpSp>
        <p:nvGrpSpPr>
          <p:cNvPr id="11" name="Group 10"/>
          <p:cNvGrpSpPr/>
          <p:nvPr/>
        </p:nvGrpSpPr>
        <p:grpSpPr>
          <a:xfrm>
            <a:off x="4305300" y="1809750"/>
            <a:ext cx="4648200" cy="2514600"/>
            <a:chOff x="4556844" y="1859292"/>
            <a:chExt cx="4648200" cy="2514600"/>
          </a:xfrm>
        </p:grpSpPr>
        <p:sp>
          <p:nvSpPr>
            <p:cNvPr id="4" name="Rounded Rectangle 3"/>
            <p:cNvSpPr/>
            <p:nvPr>
              <p:custDataLst>
                <p:tags r:id="rId2"/>
              </p:custDataLst>
            </p:nvPr>
          </p:nvSpPr>
          <p:spPr>
            <a:xfrm>
              <a:off x="4556844" y="2038350"/>
              <a:ext cx="4648200" cy="2335542"/>
            </a:xfrm>
            <a:prstGeom prst="roundRect">
              <a:avLst/>
            </a:prstGeom>
            <a:ln/>
          </p:spPr>
          <p:style>
            <a:lnRef idx="2">
              <a:schemeClr val="accent4"/>
            </a:lnRef>
            <a:fillRef idx="1">
              <a:schemeClr val="lt1"/>
            </a:fillRef>
            <a:effectRef idx="0">
              <a:schemeClr val="accent4"/>
            </a:effectRef>
            <a:fontRef idx="minor">
              <a:schemeClr val="dk1"/>
            </a:fontRef>
          </p:style>
          <p:txBody>
            <a:bodyPr rtlCol="0" anchor="t"/>
            <a:lstStyle/>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Поддержка сочетания жестких и твердотельных дисков</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Обслуживание большого количества IOPS</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Горизонтально масштабируемая архитектура</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Дедупликация, сжатие и шифрование</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Автоматизированное многоуровневое хранение данных</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Выделение виртуальных ресурсов хранения</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Многопользовательская функциональность</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Поддержка API для интеграции с программно-определяемым центром обработки данных и облаком</a:t>
              </a:r>
            </a:p>
            <a:p>
              <a:pPr marL="285750" indent="-285750">
                <a:buFont typeface="Arial" panose="020B0604020202020204" pitchFamily="34" charset="0"/>
                <a:buChar char="•"/>
              </a:pPr>
              <a:r>
                <a:rPr lang="ru-RU" sz="1200" b="0" i="0" dirty="0">
                  <a:solidFill>
                    <a:srgbClr val="000000"/>
                  </a:solidFill>
                  <a:latin typeface="Arial" pitchFamily="34" charset="0"/>
                  <a:cs typeface="Arial" pitchFamily="34" charset="0"/>
                </a:rPr>
                <a:t>Защита данных</a:t>
              </a:r>
            </a:p>
          </p:txBody>
        </p:sp>
        <p:sp>
          <p:nvSpPr>
            <p:cNvPr id="10" name="TextBox 9"/>
            <p:cNvSpPr txBox="1"/>
            <p:nvPr>
              <p:custDataLst>
                <p:tags r:id="rId3"/>
              </p:custDataLst>
            </p:nvPr>
          </p:nvSpPr>
          <p:spPr>
            <a:xfrm>
              <a:off x="5919693" y="1859292"/>
              <a:ext cx="1913537" cy="307777"/>
            </a:xfrm>
            <a:prstGeom prst="rect">
              <a:avLst/>
            </a:prstGeom>
            <a:solidFill>
              <a:schemeClr val="bg1"/>
            </a:solidFill>
          </p:spPr>
          <p:txBody>
            <a:bodyPr wrap="none" rtlCol="0">
              <a:spAutoFit/>
            </a:bodyPr>
            <a:lstStyle/>
            <a:p>
              <a:r>
                <a:rPr lang="ru-RU" sz="1400" b="1" i="0" dirty="0">
                  <a:solidFill>
                    <a:srgbClr val="000000"/>
                  </a:solidFill>
                  <a:latin typeface="Arial" pitchFamily="34" charset="0"/>
                  <a:cs typeface="Arial" pitchFamily="34" charset="0"/>
                </a:rPr>
                <a:t>Функциональность</a:t>
              </a:r>
            </a:p>
          </p:txBody>
        </p:sp>
      </p:grpSp>
      <p:sp>
        <p:nvSpPr>
          <p:cNvPr id="12" name="TextBox 11"/>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693646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Компоненты интеллектуальной системы хранения</a:t>
            </a:r>
          </a:p>
        </p:txBody>
      </p:sp>
      <p:sp>
        <p:nvSpPr>
          <p:cNvPr id="3" name="Content Placeholder 2"/>
          <p:cNvSpPr>
            <a:spLocks noGrp="1"/>
          </p:cNvSpPr>
          <p:nvPr>
            <p:ph sz="quarter" idx="10"/>
          </p:nvPr>
        </p:nvSpPr>
        <p:spPr>
          <a:xfrm>
            <a:off x="379414" y="990600"/>
            <a:ext cx="4497386" cy="3429000"/>
          </a:xfrm>
        </p:spPr>
        <p:txBody>
          <a:bodyPr/>
          <a:lstStyle/>
          <a:p>
            <a:r>
              <a:rPr lang="ru-RU" sz="2000" b="0" i="0" dirty="0">
                <a:solidFill>
                  <a:srgbClr val="000000"/>
                </a:solidFill>
                <a:latin typeface="Arial" pitchFamily="34" charset="0"/>
                <a:cs typeface="Arial" pitchFamily="34" charset="0"/>
              </a:rPr>
              <a:t>Два ключевых компонента интеллектуальной системы хранения (ISS)</a:t>
            </a:r>
          </a:p>
          <a:p>
            <a:pPr lvl="1"/>
            <a:r>
              <a:rPr lang="ru-RU" sz="1800" b="0" i="0" dirty="0">
                <a:solidFill>
                  <a:srgbClr val="000000"/>
                </a:solidFill>
                <a:latin typeface="Arial" pitchFamily="34" charset="0"/>
                <a:cs typeface="Arial" pitchFamily="34" charset="0"/>
              </a:rPr>
              <a:t>Контроллер</a:t>
            </a:r>
          </a:p>
          <a:p>
            <a:pPr lvl="2"/>
            <a:r>
              <a:rPr lang="ru-RU" sz="1600" b="0" i="0" dirty="0">
                <a:solidFill>
                  <a:srgbClr val="000000"/>
                </a:solidFill>
                <a:latin typeface="Arial" pitchFamily="34" charset="0"/>
                <a:cs typeface="Arial" pitchFamily="34" charset="0"/>
              </a:rPr>
              <a:t>блочный; </a:t>
            </a:r>
          </a:p>
          <a:p>
            <a:pPr lvl="2"/>
            <a:r>
              <a:rPr lang="ru-RU" sz="1600" b="0" i="0" dirty="0">
                <a:solidFill>
                  <a:srgbClr val="000000"/>
                </a:solidFill>
                <a:latin typeface="Arial" pitchFamily="34" charset="0"/>
                <a:cs typeface="Arial" pitchFamily="34" charset="0"/>
              </a:rPr>
              <a:t>файловый;</a:t>
            </a:r>
          </a:p>
          <a:p>
            <a:pPr lvl="2"/>
            <a:r>
              <a:rPr lang="ru-RU" sz="1600" b="0" i="0" dirty="0">
                <a:solidFill>
                  <a:srgbClr val="000000"/>
                </a:solidFill>
                <a:latin typeface="Arial" pitchFamily="34" charset="0"/>
                <a:cs typeface="Arial" pitchFamily="34" charset="0"/>
              </a:rPr>
              <a:t>объектно-ориентированный;</a:t>
            </a:r>
          </a:p>
          <a:p>
            <a:pPr lvl="2"/>
            <a:r>
              <a:rPr lang="ru-RU" sz="1600" b="0" i="0" dirty="0">
                <a:solidFill>
                  <a:srgbClr val="000000"/>
                </a:solidFill>
                <a:latin typeface="Arial" pitchFamily="34" charset="0"/>
                <a:cs typeface="Arial" pitchFamily="34" charset="0"/>
              </a:rPr>
              <a:t>унифицированный.</a:t>
            </a:r>
          </a:p>
          <a:p>
            <a:pPr lvl="1"/>
            <a:r>
              <a:rPr lang="ru-RU" sz="1800" b="0" i="0" dirty="0">
                <a:solidFill>
                  <a:srgbClr val="000000"/>
                </a:solidFill>
                <a:latin typeface="Arial" pitchFamily="34" charset="0"/>
                <a:cs typeface="Arial" pitchFamily="34" charset="0"/>
              </a:rPr>
              <a:t>СХД</a:t>
            </a:r>
          </a:p>
          <a:p>
            <a:pPr lvl="2"/>
            <a:r>
              <a:rPr lang="ru-RU" sz="1600" b="0" i="0" dirty="0">
                <a:solidFill>
                  <a:srgbClr val="000000"/>
                </a:solidFill>
                <a:latin typeface="Arial" pitchFamily="34" charset="0"/>
                <a:cs typeface="Arial" pitchFamily="34" charset="0"/>
              </a:rPr>
              <a:t>все жесткие диски (HDD);</a:t>
            </a:r>
          </a:p>
          <a:p>
            <a:pPr lvl="2"/>
            <a:r>
              <a:rPr lang="ru-RU" sz="1600" b="0" i="0" dirty="0">
                <a:solidFill>
                  <a:srgbClr val="000000"/>
                </a:solidFill>
                <a:latin typeface="Arial" pitchFamily="34" charset="0"/>
                <a:cs typeface="Arial" pitchFamily="34" charset="0"/>
              </a:rPr>
              <a:t>все твердотельные диски (SSD);</a:t>
            </a:r>
          </a:p>
          <a:p>
            <a:pPr lvl="2"/>
            <a:r>
              <a:rPr lang="ru-RU" sz="1600" b="0" i="0" dirty="0">
                <a:solidFill>
                  <a:srgbClr val="000000"/>
                </a:solidFill>
                <a:latin typeface="Arial" pitchFamily="34" charset="0"/>
                <a:cs typeface="Arial" pitchFamily="34" charset="0"/>
              </a:rPr>
              <a:t>их сочетание.</a:t>
            </a:r>
          </a:p>
          <a:p>
            <a:pPr lvl="2"/>
            <a:endParaRPr lang="en-US" dirty="0">
              <a:latin typeface="Arial" pitchFamily="34" charset="0"/>
              <a:cs typeface="Arial" pitchFamily="34" charset="0"/>
            </a:endParaRPr>
          </a:p>
        </p:txBody>
      </p:sp>
      <p:sp>
        <p:nvSpPr>
          <p:cNvPr id="125" name="Rectangle 124"/>
          <p:cNvSpPr/>
          <p:nvPr/>
        </p:nvSpPr>
        <p:spPr>
          <a:xfrm>
            <a:off x="6019800" y="3755090"/>
            <a:ext cx="1828800" cy="6096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ru-RU" sz="1800" b="0" i="0" dirty="0">
                <a:solidFill>
                  <a:srgbClr val="000000"/>
                </a:solidFill>
                <a:latin typeface="Arial" pitchFamily="34" charset="0"/>
                <a:cs typeface="Arial" pitchFamily="34" charset="0"/>
              </a:rPr>
              <a:t>Контроллеры</a:t>
            </a:r>
          </a:p>
        </p:txBody>
      </p:sp>
      <p:sp>
        <p:nvSpPr>
          <p:cNvPr id="127" name="Rectangle 126"/>
          <p:cNvSpPr/>
          <p:nvPr/>
        </p:nvSpPr>
        <p:spPr>
          <a:xfrm>
            <a:off x="6019800" y="971550"/>
            <a:ext cx="1828800" cy="278802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ru-RU" sz="1400" b="0" i="0" dirty="0">
                <a:solidFill>
                  <a:srgbClr val="000000"/>
                </a:solidFill>
                <a:latin typeface="Arial" pitchFamily="34" charset="0"/>
                <a:cs typeface="Arial" pitchFamily="34" charset="0"/>
              </a:rPr>
              <a:t>СХД</a:t>
            </a: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p:txBody>
      </p:sp>
      <p:pic>
        <p:nvPicPr>
          <p:cNvPr id="128"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27548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7800" y="327548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9600" y="327548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327548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87655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7800" y="287655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9600" y="287655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287655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48210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7800" y="248210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9600" y="248210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248210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08317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7800" y="208317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9600" y="208317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208317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67976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7800" y="167976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9600" y="167976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167976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28083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7800" y="128083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9600" y="128083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11" descr="C:\Users\patils1\Desktop\2013 Projects\CIS v2\CIS Slide Deck_Based on Book\Colored Graphics\Disk Driv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1280835"/>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52" name="TextBox 151"/>
          <p:cNvSpPr txBox="1"/>
          <p:nvPr/>
        </p:nvSpPr>
        <p:spPr>
          <a:xfrm>
            <a:off x="6168631" y="4418480"/>
            <a:ext cx="1518044" cy="461665"/>
          </a:xfrm>
          <a:prstGeom prst="rect">
            <a:avLst/>
          </a:prstGeom>
          <a:noFill/>
        </p:spPr>
        <p:txBody>
          <a:bodyPr wrap="none" rtlCol="0">
            <a:spAutoFit/>
          </a:bodyPr>
          <a:lstStyle/>
          <a:p>
            <a:pPr algn="ctr"/>
            <a:r>
              <a:rPr lang="ru-RU" sz="1200" b="0" i="0" dirty="0">
                <a:solidFill>
                  <a:srgbClr val="000000"/>
                </a:solidFill>
                <a:latin typeface="Arial" pitchFamily="34" charset="0"/>
                <a:cs typeface="Arial" pitchFamily="34" charset="0"/>
              </a:rPr>
              <a:t>Интеллектуальная</a:t>
            </a:r>
            <a:br>
              <a:rPr lang="en-US" sz="1200" b="0" i="0" dirty="0">
                <a:solidFill>
                  <a:srgbClr val="FF00FF"/>
                </a:solidFill>
                <a:latin typeface="Arial" pitchFamily="34" charset="0"/>
                <a:cs typeface="Arial" pitchFamily="34" charset="0"/>
              </a:rPr>
            </a:br>
            <a:r>
              <a:rPr lang="ru-RU" sz="1200" b="0" i="0" dirty="0">
                <a:solidFill>
                  <a:srgbClr val="000000"/>
                </a:solidFill>
                <a:latin typeface="Arial" pitchFamily="34" charset="0"/>
                <a:cs typeface="Arial" pitchFamily="34" charset="0"/>
              </a:rPr>
              <a:t>система хранения</a:t>
            </a:r>
          </a:p>
        </p:txBody>
      </p:sp>
      <p:sp>
        <p:nvSpPr>
          <p:cNvPr id="31" name="TextBox 3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437108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СХД — жесткие диски</a:t>
            </a:r>
          </a:p>
        </p:txBody>
      </p:sp>
      <p:sp>
        <p:nvSpPr>
          <p:cNvPr id="3" name="Subtitle 2"/>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Компоненты жестких дисков</a:t>
            </a:r>
          </a:p>
        </p:txBody>
      </p:sp>
      <p:grpSp>
        <p:nvGrpSpPr>
          <p:cNvPr id="6" name="Group 5"/>
          <p:cNvGrpSpPr/>
          <p:nvPr/>
        </p:nvGrpSpPr>
        <p:grpSpPr>
          <a:xfrm>
            <a:off x="1303610" y="1123950"/>
            <a:ext cx="6984542" cy="3657600"/>
            <a:chOff x="317202" y="1235112"/>
            <a:chExt cx="8322548" cy="4869427"/>
          </a:xfrm>
        </p:grpSpPr>
        <p:pic>
          <p:nvPicPr>
            <p:cNvPr id="7" name="Picture 60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9210" y="3581571"/>
              <a:ext cx="3348380" cy="187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09"/>
            <p:cNvSpPr>
              <a:spLocks noChangeArrowheads="1"/>
            </p:cNvSpPr>
            <p:nvPr/>
          </p:nvSpPr>
          <p:spPr bwMode="auto">
            <a:xfrm>
              <a:off x="7208022" y="5257798"/>
              <a:ext cx="1027091" cy="245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54013" indent="-354013" algn="ctr" defTabSz="941388"/>
              <a:r>
                <a:rPr lang="ru-RU" sz="1200" b="1" i="0" dirty="0">
                  <a:solidFill>
                    <a:srgbClr val="000000"/>
                  </a:solidFill>
                  <a:latin typeface="Arial" pitchFamily="34" charset="0"/>
                  <a:cs typeface="Arial" pitchFamily="34" charset="0"/>
                </a:rPr>
                <a:t>Интерфейс</a:t>
              </a:r>
            </a:p>
          </p:txBody>
        </p:sp>
        <p:sp>
          <p:nvSpPr>
            <p:cNvPr id="9" name="Freeform 610"/>
            <p:cNvSpPr>
              <a:spLocks/>
            </p:cNvSpPr>
            <p:nvPr/>
          </p:nvSpPr>
          <p:spPr bwMode="auto">
            <a:xfrm>
              <a:off x="6570729" y="3726133"/>
              <a:ext cx="809819" cy="206670"/>
            </a:xfrm>
            <a:custGeom>
              <a:avLst/>
              <a:gdLst>
                <a:gd name="T0" fmla="*/ 0 w 2582"/>
                <a:gd name="T1" fmla="*/ 581 h 581"/>
                <a:gd name="T2" fmla="*/ 833 w 2582"/>
                <a:gd name="T3" fmla="*/ 0 h 581"/>
                <a:gd name="T4" fmla="*/ 2582 w 2582"/>
                <a:gd name="T5" fmla="*/ 0 h 581"/>
              </a:gdLst>
              <a:ahLst/>
              <a:cxnLst>
                <a:cxn ang="0">
                  <a:pos x="T0" y="T1"/>
                </a:cxn>
                <a:cxn ang="0">
                  <a:pos x="T2" y="T3"/>
                </a:cxn>
                <a:cxn ang="0">
                  <a:pos x="T4" y="T5"/>
                </a:cxn>
              </a:cxnLst>
              <a:rect l="0" t="0" r="r" b="b"/>
              <a:pathLst>
                <a:path w="2582" h="581">
                  <a:moveTo>
                    <a:pt x="0" y="581"/>
                  </a:moveTo>
                  <a:lnTo>
                    <a:pt x="833" y="0"/>
                  </a:lnTo>
                  <a:lnTo>
                    <a:pt x="2582" y="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400">
                <a:latin typeface="Arial" pitchFamily="34" charset="0"/>
                <a:cs typeface="Arial" pitchFamily="34" charset="0"/>
              </a:endParaRPr>
            </a:p>
          </p:txBody>
        </p:sp>
        <p:sp>
          <p:nvSpPr>
            <p:cNvPr id="10" name="Freeform 611"/>
            <p:cNvSpPr>
              <a:spLocks/>
            </p:cNvSpPr>
            <p:nvPr/>
          </p:nvSpPr>
          <p:spPr bwMode="auto">
            <a:xfrm>
              <a:off x="6511474" y="3854632"/>
              <a:ext cx="125094" cy="124216"/>
            </a:xfrm>
            <a:custGeom>
              <a:avLst/>
              <a:gdLst>
                <a:gd name="T0" fmla="*/ 243 w 399"/>
                <a:gd name="T1" fmla="*/ 180 h 348"/>
                <a:gd name="T2" fmla="*/ 399 w 399"/>
                <a:gd name="T3" fmla="*/ 270 h 348"/>
                <a:gd name="T4" fmla="*/ 0 w 399"/>
                <a:gd name="T5" fmla="*/ 348 h 348"/>
                <a:gd name="T6" fmla="*/ 210 w 399"/>
                <a:gd name="T7" fmla="*/ 0 h 348"/>
                <a:gd name="T8" fmla="*/ 243 w 399"/>
                <a:gd name="T9" fmla="*/ 180 h 348"/>
              </a:gdLst>
              <a:ahLst/>
              <a:cxnLst>
                <a:cxn ang="0">
                  <a:pos x="T0" y="T1"/>
                </a:cxn>
                <a:cxn ang="0">
                  <a:pos x="T2" y="T3"/>
                </a:cxn>
                <a:cxn ang="0">
                  <a:pos x="T4" y="T5"/>
                </a:cxn>
                <a:cxn ang="0">
                  <a:pos x="T6" y="T7"/>
                </a:cxn>
                <a:cxn ang="0">
                  <a:pos x="T8" y="T9"/>
                </a:cxn>
              </a:cxnLst>
              <a:rect l="0" t="0" r="r" b="b"/>
              <a:pathLst>
                <a:path w="399" h="348">
                  <a:moveTo>
                    <a:pt x="243" y="180"/>
                  </a:moveTo>
                  <a:lnTo>
                    <a:pt x="399" y="270"/>
                  </a:lnTo>
                  <a:lnTo>
                    <a:pt x="0" y="348"/>
                  </a:lnTo>
                  <a:lnTo>
                    <a:pt x="210" y="0"/>
                  </a:lnTo>
                  <a:lnTo>
                    <a:pt x="243"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400">
                <a:latin typeface="Arial" pitchFamily="34" charset="0"/>
                <a:cs typeface="Arial" pitchFamily="34" charset="0"/>
              </a:endParaRPr>
            </a:p>
          </p:txBody>
        </p:sp>
        <p:sp>
          <p:nvSpPr>
            <p:cNvPr id="11" name="Rectangle 612"/>
            <p:cNvSpPr>
              <a:spLocks noChangeArrowheads="1"/>
            </p:cNvSpPr>
            <p:nvPr/>
          </p:nvSpPr>
          <p:spPr bwMode="auto">
            <a:xfrm>
              <a:off x="7026426" y="3530337"/>
              <a:ext cx="1613324" cy="49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r" defTabSz="941388"/>
              <a:r>
                <a:rPr lang="ru-RU" sz="1200" b="1" i="0" dirty="0">
                  <a:solidFill>
                    <a:srgbClr val="000000"/>
                  </a:solidFill>
                  <a:latin typeface="Arial" pitchFamily="34" charset="0"/>
                  <a:cs typeface="Arial" pitchFamily="34" charset="0"/>
                </a:rPr>
                <a:t>Плата контроллера</a:t>
              </a:r>
            </a:p>
          </p:txBody>
        </p:sp>
        <p:sp>
          <p:nvSpPr>
            <p:cNvPr id="12" name="Line 613"/>
            <p:cNvSpPr>
              <a:spLocks noChangeShapeType="1"/>
            </p:cNvSpPr>
            <p:nvPr/>
          </p:nvSpPr>
          <p:spPr bwMode="auto">
            <a:xfrm>
              <a:off x="6430586" y="4984355"/>
              <a:ext cx="0" cy="6039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400">
                <a:latin typeface="Arial" pitchFamily="34" charset="0"/>
                <a:cs typeface="Arial" pitchFamily="34" charset="0"/>
              </a:endParaRPr>
            </a:p>
          </p:txBody>
        </p:sp>
        <p:sp>
          <p:nvSpPr>
            <p:cNvPr id="13" name="Freeform 614"/>
            <p:cNvSpPr>
              <a:spLocks/>
            </p:cNvSpPr>
            <p:nvPr/>
          </p:nvSpPr>
          <p:spPr bwMode="auto">
            <a:xfrm>
              <a:off x="6379796" y="4915822"/>
              <a:ext cx="102521" cy="131712"/>
            </a:xfrm>
            <a:custGeom>
              <a:avLst/>
              <a:gdLst>
                <a:gd name="T0" fmla="*/ 165 w 328"/>
                <a:gd name="T1" fmla="*/ 294 h 369"/>
                <a:gd name="T2" fmla="*/ 328 w 328"/>
                <a:gd name="T3" fmla="*/ 368 h 369"/>
                <a:gd name="T4" fmla="*/ 164 w 328"/>
                <a:gd name="T5" fmla="*/ 0 h 369"/>
                <a:gd name="T6" fmla="*/ 0 w 328"/>
                <a:gd name="T7" fmla="*/ 369 h 369"/>
                <a:gd name="T8" fmla="*/ 165 w 328"/>
                <a:gd name="T9" fmla="*/ 294 h 369"/>
              </a:gdLst>
              <a:ahLst/>
              <a:cxnLst>
                <a:cxn ang="0">
                  <a:pos x="T0" y="T1"/>
                </a:cxn>
                <a:cxn ang="0">
                  <a:pos x="T2" y="T3"/>
                </a:cxn>
                <a:cxn ang="0">
                  <a:pos x="T4" y="T5"/>
                </a:cxn>
                <a:cxn ang="0">
                  <a:pos x="T6" y="T7"/>
                </a:cxn>
                <a:cxn ang="0">
                  <a:pos x="T8" y="T9"/>
                </a:cxn>
              </a:cxnLst>
              <a:rect l="0" t="0" r="r" b="b"/>
              <a:pathLst>
                <a:path w="328" h="369">
                  <a:moveTo>
                    <a:pt x="165" y="294"/>
                  </a:moveTo>
                  <a:lnTo>
                    <a:pt x="328" y="368"/>
                  </a:lnTo>
                  <a:lnTo>
                    <a:pt x="164" y="0"/>
                  </a:lnTo>
                  <a:lnTo>
                    <a:pt x="0" y="369"/>
                  </a:lnTo>
                  <a:lnTo>
                    <a:pt x="165" y="2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400">
                <a:latin typeface="Arial" pitchFamily="34" charset="0"/>
                <a:cs typeface="Arial" pitchFamily="34" charset="0"/>
              </a:endParaRPr>
            </a:p>
          </p:txBody>
        </p:sp>
        <p:sp>
          <p:nvSpPr>
            <p:cNvPr id="14" name="Line 615"/>
            <p:cNvSpPr>
              <a:spLocks noChangeShapeType="1"/>
            </p:cNvSpPr>
            <p:nvPr/>
          </p:nvSpPr>
          <p:spPr bwMode="auto">
            <a:xfrm flipH="1">
              <a:off x="5115688" y="4513191"/>
              <a:ext cx="39503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400">
                <a:latin typeface="Arial" pitchFamily="34" charset="0"/>
                <a:cs typeface="Arial" pitchFamily="34" charset="0"/>
              </a:endParaRPr>
            </a:p>
          </p:txBody>
        </p:sp>
        <p:sp>
          <p:nvSpPr>
            <p:cNvPr id="15" name="Freeform 616"/>
            <p:cNvSpPr>
              <a:spLocks/>
            </p:cNvSpPr>
            <p:nvPr/>
          </p:nvSpPr>
          <p:spPr bwMode="auto">
            <a:xfrm>
              <a:off x="5447705" y="4455366"/>
              <a:ext cx="116629" cy="116720"/>
            </a:xfrm>
            <a:custGeom>
              <a:avLst/>
              <a:gdLst>
                <a:gd name="T0" fmla="*/ 76 w 370"/>
                <a:gd name="T1" fmla="*/ 165 h 328"/>
                <a:gd name="T2" fmla="*/ 1 w 370"/>
                <a:gd name="T3" fmla="*/ 328 h 328"/>
                <a:gd name="T4" fmla="*/ 370 w 370"/>
                <a:gd name="T5" fmla="*/ 164 h 328"/>
                <a:gd name="T6" fmla="*/ 0 w 370"/>
                <a:gd name="T7" fmla="*/ 0 h 328"/>
                <a:gd name="T8" fmla="*/ 76 w 370"/>
                <a:gd name="T9" fmla="*/ 165 h 328"/>
              </a:gdLst>
              <a:ahLst/>
              <a:cxnLst>
                <a:cxn ang="0">
                  <a:pos x="T0" y="T1"/>
                </a:cxn>
                <a:cxn ang="0">
                  <a:pos x="T2" y="T3"/>
                </a:cxn>
                <a:cxn ang="0">
                  <a:pos x="T4" y="T5"/>
                </a:cxn>
                <a:cxn ang="0">
                  <a:pos x="T6" y="T7"/>
                </a:cxn>
                <a:cxn ang="0">
                  <a:pos x="T8" y="T9"/>
                </a:cxn>
              </a:cxnLst>
              <a:rect l="0" t="0" r="r" b="b"/>
              <a:pathLst>
                <a:path w="370" h="328">
                  <a:moveTo>
                    <a:pt x="76" y="165"/>
                  </a:moveTo>
                  <a:lnTo>
                    <a:pt x="1" y="328"/>
                  </a:lnTo>
                  <a:lnTo>
                    <a:pt x="370" y="164"/>
                  </a:lnTo>
                  <a:lnTo>
                    <a:pt x="0" y="0"/>
                  </a:lnTo>
                  <a:lnTo>
                    <a:pt x="76" y="1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400">
                <a:latin typeface="Arial" pitchFamily="34" charset="0"/>
                <a:cs typeface="Arial" pitchFamily="34" charset="0"/>
              </a:endParaRPr>
            </a:p>
          </p:txBody>
        </p:sp>
        <p:sp>
          <p:nvSpPr>
            <p:cNvPr id="16" name="Rectangle 617"/>
            <p:cNvSpPr>
              <a:spLocks noChangeArrowheads="1"/>
            </p:cNvSpPr>
            <p:nvPr/>
          </p:nvSpPr>
          <p:spPr bwMode="auto">
            <a:xfrm>
              <a:off x="5539620" y="5612841"/>
              <a:ext cx="1817652" cy="49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200" b="1" i="0" dirty="0">
                  <a:solidFill>
                    <a:srgbClr val="000000"/>
                  </a:solidFill>
                  <a:latin typeface="Arial" pitchFamily="34" charset="0"/>
                  <a:cs typeface="Arial" pitchFamily="34" charset="0"/>
                </a:rPr>
                <a:t>Разъемы для питания</a:t>
              </a:r>
              <a:r>
                <a:rPr lang="ru-RU" sz="1000" b="1" i="0" dirty="0">
                  <a:solidFill>
                    <a:srgbClr val="000000"/>
                  </a:solidFill>
                  <a:latin typeface="Arial" pitchFamily="34" charset="0"/>
                  <a:cs typeface="Arial" pitchFamily="34" charset="0"/>
                </a:rPr>
                <a:t> </a:t>
              </a:r>
            </a:p>
          </p:txBody>
        </p:sp>
        <p:sp>
          <p:nvSpPr>
            <p:cNvPr id="17" name="Rectangle 619"/>
            <p:cNvSpPr>
              <a:spLocks noChangeArrowheads="1"/>
            </p:cNvSpPr>
            <p:nvPr/>
          </p:nvSpPr>
          <p:spPr bwMode="auto">
            <a:xfrm>
              <a:off x="4665695" y="4379950"/>
              <a:ext cx="395388" cy="245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354013" indent="-354013" defTabSz="941388"/>
              <a:r>
                <a:rPr lang="ru-RU" sz="1200" b="1" i="0" dirty="0">
                  <a:solidFill>
                    <a:srgbClr val="000000"/>
                  </a:solidFill>
                  <a:latin typeface="Arial" pitchFamily="34" charset="0"/>
                  <a:cs typeface="Arial" pitchFamily="34" charset="0"/>
                </a:rPr>
                <a:t>HDA</a:t>
              </a:r>
            </a:p>
          </p:txBody>
        </p:sp>
        <p:sp>
          <p:nvSpPr>
            <p:cNvPr id="18" name="Line 613"/>
            <p:cNvSpPr>
              <a:spLocks noChangeShapeType="1"/>
            </p:cNvSpPr>
            <p:nvPr/>
          </p:nvSpPr>
          <p:spPr bwMode="auto">
            <a:xfrm>
              <a:off x="7720669" y="4670223"/>
              <a:ext cx="0" cy="6039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400">
                <a:latin typeface="Arial" pitchFamily="34" charset="0"/>
                <a:cs typeface="Arial" pitchFamily="34" charset="0"/>
              </a:endParaRPr>
            </a:p>
          </p:txBody>
        </p:sp>
        <p:sp>
          <p:nvSpPr>
            <p:cNvPr id="19" name="Freeform 614"/>
            <p:cNvSpPr>
              <a:spLocks/>
            </p:cNvSpPr>
            <p:nvPr/>
          </p:nvSpPr>
          <p:spPr bwMode="auto">
            <a:xfrm>
              <a:off x="7669879" y="4601690"/>
              <a:ext cx="102521" cy="131712"/>
            </a:xfrm>
            <a:custGeom>
              <a:avLst/>
              <a:gdLst>
                <a:gd name="T0" fmla="*/ 165 w 328"/>
                <a:gd name="T1" fmla="*/ 294 h 369"/>
                <a:gd name="T2" fmla="*/ 328 w 328"/>
                <a:gd name="T3" fmla="*/ 368 h 369"/>
                <a:gd name="T4" fmla="*/ 164 w 328"/>
                <a:gd name="T5" fmla="*/ 0 h 369"/>
                <a:gd name="T6" fmla="*/ 0 w 328"/>
                <a:gd name="T7" fmla="*/ 369 h 369"/>
                <a:gd name="T8" fmla="*/ 165 w 328"/>
                <a:gd name="T9" fmla="*/ 294 h 369"/>
              </a:gdLst>
              <a:ahLst/>
              <a:cxnLst>
                <a:cxn ang="0">
                  <a:pos x="T0" y="T1"/>
                </a:cxn>
                <a:cxn ang="0">
                  <a:pos x="T2" y="T3"/>
                </a:cxn>
                <a:cxn ang="0">
                  <a:pos x="T4" y="T5"/>
                </a:cxn>
                <a:cxn ang="0">
                  <a:pos x="T6" y="T7"/>
                </a:cxn>
                <a:cxn ang="0">
                  <a:pos x="T8" y="T9"/>
                </a:cxn>
              </a:cxnLst>
              <a:rect l="0" t="0" r="r" b="b"/>
              <a:pathLst>
                <a:path w="328" h="369">
                  <a:moveTo>
                    <a:pt x="165" y="294"/>
                  </a:moveTo>
                  <a:lnTo>
                    <a:pt x="328" y="368"/>
                  </a:lnTo>
                  <a:lnTo>
                    <a:pt x="164" y="0"/>
                  </a:lnTo>
                  <a:lnTo>
                    <a:pt x="0" y="369"/>
                  </a:lnTo>
                  <a:lnTo>
                    <a:pt x="165" y="2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400">
                <a:latin typeface="Arial" pitchFamily="34" charset="0"/>
                <a:cs typeface="Arial" pitchFamily="34" charset="0"/>
              </a:endParaRPr>
            </a:p>
          </p:txBody>
        </p:sp>
        <p:cxnSp>
          <p:nvCxnSpPr>
            <p:cNvPr id="20" name="Straight Arrow Connector 19"/>
            <p:cNvCxnSpPr/>
            <p:nvPr/>
          </p:nvCxnSpPr>
          <p:spPr>
            <a:xfrm>
              <a:off x="4206415" y="3860498"/>
              <a:ext cx="0" cy="1321102"/>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sp>
          <p:nvSpPr>
            <p:cNvPr id="21" name="Freeform 614"/>
            <p:cNvSpPr>
              <a:spLocks/>
            </p:cNvSpPr>
            <p:nvPr/>
          </p:nvSpPr>
          <p:spPr bwMode="auto">
            <a:xfrm>
              <a:off x="4164679" y="3804986"/>
              <a:ext cx="102521" cy="131712"/>
            </a:xfrm>
            <a:custGeom>
              <a:avLst/>
              <a:gdLst>
                <a:gd name="T0" fmla="*/ 165 w 328"/>
                <a:gd name="T1" fmla="*/ 294 h 369"/>
                <a:gd name="T2" fmla="*/ 328 w 328"/>
                <a:gd name="T3" fmla="*/ 368 h 369"/>
                <a:gd name="T4" fmla="*/ 164 w 328"/>
                <a:gd name="T5" fmla="*/ 0 h 369"/>
                <a:gd name="T6" fmla="*/ 0 w 328"/>
                <a:gd name="T7" fmla="*/ 369 h 369"/>
                <a:gd name="T8" fmla="*/ 165 w 328"/>
                <a:gd name="T9" fmla="*/ 294 h 369"/>
              </a:gdLst>
              <a:ahLst/>
              <a:cxnLst>
                <a:cxn ang="0">
                  <a:pos x="T0" y="T1"/>
                </a:cxn>
                <a:cxn ang="0">
                  <a:pos x="T2" y="T3"/>
                </a:cxn>
                <a:cxn ang="0">
                  <a:pos x="T4" y="T5"/>
                </a:cxn>
                <a:cxn ang="0">
                  <a:pos x="T6" y="T7"/>
                </a:cxn>
                <a:cxn ang="0">
                  <a:pos x="T8" y="T9"/>
                </a:cxn>
              </a:cxnLst>
              <a:rect l="0" t="0" r="r" b="b"/>
              <a:pathLst>
                <a:path w="328" h="369">
                  <a:moveTo>
                    <a:pt x="165" y="294"/>
                  </a:moveTo>
                  <a:lnTo>
                    <a:pt x="328" y="368"/>
                  </a:lnTo>
                  <a:lnTo>
                    <a:pt x="164" y="0"/>
                  </a:lnTo>
                  <a:lnTo>
                    <a:pt x="0" y="369"/>
                  </a:lnTo>
                  <a:lnTo>
                    <a:pt x="165" y="2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400">
                <a:latin typeface="Arial" pitchFamily="34" charset="0"/>
                <a:cs typeface="Arial" pitchFamily="34" charset="0"/>
              </a:endParaRPr>
            </a:p>
          </p:txBody>
        </p:sp>
        <p:sp>
          <p:nvSpPr>
            <p:cNvPr id="22" name="Rectangle 619"/>
            <p:cNvSpPr>
              <a:spLocks noChangeArrowheads="1"/>
            </p:cNvSpPr>
            <p:nvPr/>
          </p:nvSpPr>
          <p:spPr bwMode="auto">
            <a:xfrm>
              <a:off x="3235635" y="5191521"/>
              <a:ext cx="1978659" cy="491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defTabSz="941388"/>
              <a:r>
                <a:rPr lang="ru-RU" sz="1200" b="1" i="0" dirty="0">
                  <a:solidFill>
                    <a:srgbClr val="000000"/>
                  </a:solidFill>
                  <a:latin typeface="Arial" pitchFamily="34" charset="0"/>
                  <a:cs typeface="Arial" pitchFamily="34" charset="0"/>
                </a:rPr>
                <a:t>Пластина и головка чтения/записи</a:t>
              </a:r>
            </a:p>
          </p:txBody>
        </p:sp>
        <p:grpSp>
          <p:nvGrpSpPr>
            <p:cNvPr id="23" name="Group 3"/>
            <p:cNvGrpSpPr>
              <a:grpSpLocks/>
            </p:cNvGrpSpPr>
            <p:nvPr/>
          </p:nvGrpSpPr>
          <p:grpSpPr bwMode="auto">
            <a:xfrm>
              <a:off x="317202" y="1235112"/>
              <a:ext cx="4953000" cy="3620422"/>
              <a:chOff x="887" y="700"/>
              <a:chExt cx="4350" cy="3380"/>
            </a:xfrm>
          </p:grpSpPr>
          <p:pic>
            <p:nvPicPr>
              <p:cNvPr id="24" name="Picture 4" descr="inside_dis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7" y="700"/>
                <a:ext cx="2870" cy="3380"/>
              </a:xfrm>
              <a:prstGeom prst="rect">
                <a:avLst/>
              </a:prstGeom>
              <a:noFill/>
              <a:extLst>
                <a:ext uri="{909E8E84-426E-40DD-AFC4-6F175D3DCCD1}">
                  <a14:hiddenFill xmlns:a14="http://schemas.microsoft.com/office/drawing/2010/main">
                    <a:solidFill>
                      <a:srgbClr val="FFFFFF"/>
                    </a:solidFill>
                  </a14:hiddenFill>
                </a:ext>
              </a:extLst>
            </p:spPr>
          </p:pic>
          <p:sp>
            <p:nvSpPr>
              <p:cNvPr id="25" name="Freeform 5"/>
              <p:cNvSpPr>
                <a:spLocks/>
              </p:cNvSpPr>
              <p:nvPr/>
            </p:nvSpPr>
            <p:spPr bwMode="auto">
              <a:xfrm>
                <a:off x="2538" y="1266"/>
                <a:ext cx="1566" cy="1776"/>
              </a:xfrm>
              <a:custGeom>
                <a:avLst/>
                <a:gdLst>
                  <a:gd name="T0" fmla="*/ 0 w 1566"/>
                  <a:gd name="T1" fmla="*/ 978 h 1776"/>
                  <a:gd name="T2" fmla="*/ 1212 w 1566"/>
                  <a:gd name="T3" fmla="*/ 0 h 1776"/>
                  <a:gd name="T4" fmla="*/ 1566 w 1566"/>
                  <a:gd name="T5" fmla="*/ 1776 h 1776"/>
                  <a:gd name="T6" fmla="*/ 36 w 1566"/>
                  <a:gd name="T7" fmla="*/ 1146 h 1776"/>
                  <a:gd name="T8" fmla="*/ 0 w 1566"/>
                  <a:gd name="T9" fmla="*/ 978 h 1776"/>
                </a:gdLst>
                <a:ahLst/>
                <a:cxnLst>
                  <a:cxn ang="0">
                    <a:pos x="T0" y="T1"/>
                  </a:cxn>
                  <a:cxn ang="0">
                    <a:pos x="T2" y="T3"/>
                  </a:cxn>
                  <a:cxn ang="0">
                    <a:pos x="T4" y="T5"/>
                  </a:cxn>
                  <a:cxn ang="0">
                    <a:pos x="T6" y="T7"/>
                  </a:cxn>
                  <a:cxn ang="0">
                    <a:pos x="T8" y="T9"/>
                  </a:cxn>
                </a:cxnLst>
                <a:rect l="0" t="0" r="r" b="b"/>
                <a:pathLst>
                  <a:path w="1566" h="1776">
                    <a:moveTo>
                      <a:pt x="0" y="978"/>
                    </a:moveTo>
                    <a:lnTo>
                      <a:pt x="1212" y="0"/>
                    </a:lnTo>
                    <a:lnTo>
                      <a:pt x="1566" y="1776"/>
                    </a:lnTo>
                    <a:lnTo>
                      <a:pt x="36" y="1146"/>
                    </a:lnTo>
                    <a:lnTo>
                      <a:pt x="0" y="978"/>
                    </a:lnTo>
                    <a:close/>
                  </a:path>
                </a:pathLst>
              </a:custGeom>
              <a:solidFill>
                <a:srgbClr val="6F9995">
                  <a:alpha val="25000"/>
                </a:srgbClr>
              </a:solidFill>
              <a:ln w="6350" cap="flat" cmpd="sng">
                <a:solidFill>
                  <a:srgbClr val="6F9995"/>
                </a:solidFill>
                <a:prstDash val="dash"/>
                <a:round/>
                <a:headEnd type="none" w="med" len="me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US" sz="1400">
                  <a:latin typeface="Arial" pitchFamily="34" charset="0"/>
                  <a:cs typeface="Arial" pitchFamily="34" charset="0"/>
                </a:endParaRPr>
              </a:p>
            </p:txBody>
          </p:sp>
          <p:pic>
            <p:nvPicPr>
              <p:cNvPr id="26" name="Picture 6" descr="close_upreadwrit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21600000">
                <a:off x="3323" y="1130"/>
                <a:ext cx="1914" cy="1914"/>
              </a:xfrm>
              <a:prstGeom prst="rect">
                <a:avLst/>
              </a:prstGeom>
              <a:noFill/>
              <a:extLst>
                <a:ext uri="{909E8E84-426E-40DD-AFC4-6F175D3DCCD1}">
                  <a14:hiddenFill xmlns:a14="http://schemas.microsoft.com/office/drawing/2010/main">
                    <a:solidFill>
                      <a:srgbClr val="FFFFFF"/>
                    </a:solidFill>
                  </a14:hiddenFill>
                </a:ext>
              </a:extLst>
            </p:spPr>
          </p:pic>
          <p:sp>
            <p:nvSpPr>
              <p:cNvPr id="27" name="Oval 7"/>
              <p:cNvSpPr>
                <a:spLocks noChangeArrowheads="1"/>
              </p:cNvSpPr>
              <p:nvPr/>
            </p:nvSpPr>
            <p:spPr bwMode="auto">
              <a:xfrm>
                <a:off x="2520" y="2202"/>
                <a:ext cx="222" cy="222"/>
              </a:xfrm>
              <a:prstGeom prst="ellipse">
                <a:avLst/>
              </a:prstGeom>
              <a:noFill/>
              <a:ln w="25400" algn="ctr">
                <a:solidFill>
                  <a:srgbClr val="000610"/>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US" sz="1400">
                  <a:latin typeface="Arial" pitchFamily="34" charset="0"/>
                  <a:cs typeface="Arial" pitchFamily="34" charset="0"/>
                </a:endParaRPr>
              </a:p>
            </p:txBody>
          </p:sp>
          <p:sp>
            <p:nvSpPr>
              <p:cNvPr id="28" name="Oval 8"/>
              <p:cNvSpPr>
                <a:spLocks noChangeArrowheads="1"/>
              </p:cNvSpPr>
              <p:nvPr/>
            </p:nvSpPr>
            <p:spPr bwMode="auto">
              <a:xfrm rot="-21600000">
                <a:off x="3322" y="1129"/>
                <a:ext cx="1914" cy="1914"/>
              </a:xfrm>
              <a:prstGeom prst="ellipse">
                <a:avLst/>
              </a:prstGeom>
              <a:noFill/>
              <a:ln w="38100" algn="ctr">
                <a:solidFill>
                  <a:srgbClr val="080808"/>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US" sz="1400">
                  <a:latin typeface="Arial" pitchFamily="34" charset="0"/>
                  <a:cs typeface="Arial" pitchFamily="34" charset="0"/>
                </a:endParaRPr>
              </a:p>
            </p:txBody>
          </p:sp>
        </p:grpSp>
      </p:grpSp>
      <p:sp>
        <p:nvSpPr>
          <p:cNvPr id="29" name="TextBox 2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898716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Структура физического диска</a:t>
            </a:r>
          </a:p>
        </p:txBody>
      </p:sp>
      <p:grpSp>
        <p:nvGrpSpPr>
          <p:cNvPr id="6" name="Group 5"/>
          <p:cNvGrpSpPr/>
          <p:nvPr/>
        </p:nvGrpSpPr>
        <p:grpSpPr>
          <a:xfrm>
            <a:off x="1143000" y="695326"/>
            <a:ext cx="6934200" cy="4314824"/>
            <a:chOff x="-24199" y="1000125"/>
            <a:chExt cx="8757573" cy="5019675"/>
          </a:xfrm>
        </p:grpSpPr>
        <p:pic>
          <p:nvPicPr>
            <p:cNvPr id="7" name="Picture 12" descr="platter"/>
            <p:cNvPicPr preferRelativeResize="0">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8400" y="2027238"/>
              <a:ext cx="3138488" cy="2814637"/>
            </a:xfrm>
            <a:prstGeom prst="rect">
              <a:avLst/>
            </a:prstGeom>
            <a:noFill/>
            <a:extLst>
              <a:ext uri="{909E8E84-426E-40DD-AFC4-6F175D3DCCD1}">
                <a14:hiddenFill xmlns:a14="http://schemas.microsoft.com/office/drawing/2010/main">
                  <a:solidFill>
                    <a:srgbClr val="FFFFFF"/>
                  </a:solidFill>
                </a14:hiddenFill>
              </a:ext>
            </a:extLst>
          </p:spPr>
        </p:pic>
        <p:sp>
          <p:nvSpPr>
            <p:cNvPr id="8" name="Line 13"/>
            <p:cNvSpPr>
              <a:spLocks noChangeShapeType="1"/>
            </p:cNvSpPr>
            <p:nvPr/>
          </p:nvSpPr>
          <p:spPr bwMode="auto">
            <a:xfrm flipH="1">
              <a:off x="7177088" y="1862138"/>
              <a:ext cx="323850" cy="403225"/>
            </a:xfrm>
            <a:prstGeom prst="line">
              <a:avLst/>
            </a:prstGeom>
            <a:noFill/>
            <a:ln w="9525">
              <a:solidFill>
                <a:srgbClr val="080808"/>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9" name="Line 14"/>
            <p:cNvSpPr>
              <a:spLocks noChangeShapeType="1"/>
            </p:cNvSpPr>
            <p:nvPr/>
          </p:nvSpPr>
          <p:spPr bwMode="auto">
            <a:xfrm>
              <a:off x="7497763" y="1862138"/>
              <a:ext cx="390525" cy="1587"/>
            </a:xfrm>
            <a:prstGeom prst="line">
              <a:avLst/>
            </a:prstGeom>
            <a:noFill/>
            <a:ln w="9525">
              <a:solidFill>
                <a:srgbClr val="080808"/>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10" name="Text Box 15"/>
            <p:cNvSpPr txBox="1">
              <a:spLocks noChangeArrowheads="1"/>
            </p:cNvSpPr>
            <p:nvPr/>
          </p:nvSpPr>
          <p:spPr bwMode="auto">
            <a:xfrm>
              <a:off x="7942262" y="1725613"/>
              <a:ext cx="79111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100" b="1" i="0" dirty="0">
                  <a:solidFill>
                    <a:srgbClr val="080808"/>
                  </a:solidFill>
                  <a:latin typeface="Arial" pitchFamily="34" charset="0"/>
                  <a:cs typeface="Arial" pitchFamily="34" charset="0"/>
                </a:rPr>
                <a:t>Сектор</a:t>
              </a:r>
            </a:p>
          </p:txBody>
        </p:sp>
        <p:sp>
          <p:nvSpPr>
            <p:cNvPr id="11" name="Text Box 16"/>
            <p:cNvSpPr txBox="1">
              <a:spLocks noChangeArrowheads="1"/>
            </p:cNvSpPr>
            <p:nvPr/>
          </p:nvSpPr>
          <p:spPr bwMode="auto">
            <a:xfrm>
              <a:off x="7720013" y="4838527"/>
              <a:ext cx="917124"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100" b="1" i="0" dirty="0">
                  <a:solidFill>
                    <a:srgbClr val="080808"/>
                  </a:solidFill>
                  <a:latin typeface="Arial" pitchFamily="34" charset="0"/>
                  <a:cs typeface="Arial" pitchFamily="34" charset="0"/>
                </a:rPr>
                <a:t>Дорожка</a:t>
              </a:r>
            </a:p>
          </p:txBody>
        </p:sp>
        <p:sp>
          <p:nvSpPr>
            <p:cNvPr id="12" name="Line 17"/>
            <p:cNvSpPr>
              <a:spLocks noChangeShapeType="1"/>
            </p:cNvSpPr>
            <p:nvPr/>
          </p:nvSpPr>
          <p:spPr bwMode="auto">
            <a:xfrm flipH="1" flipV="1">
              <a:off x="7102475" y="4210050"/>
              <a:ext cx="617538" cy="617538"/>
            </a:xfrm>
            <a:prstGeom prst="line">
              <a:avLst/>
            </a:prstGeom>
            <a:noFill/>
            <a:ln w="9525">
              <a:solidFill>
                <a:srgbClr val="080808"/>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13" name="Text Box 19"/>
            <p:cNvSpPr txBox="1">
              <a:spLocks noChangeArrowheads="1"/>
            </p:cNvSpPr>
            <p:nvPr/>
          </p:nvSpPr>
          <p:spPr bwMode="auto">
            <a:xfrm>
              <a:off x="6050766" y="5345144"/>
              <a:ext cx="1009651"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1100" b="1" i="0" dirty="0">
                  <a:solidFill>
                    <a:srgbClr val="000000"/>
                  </a:solidFill>
                  <a:latin typeface="Arial" pitchFamily="34" charset="0"/>
                  <a:cs typeface="Arial" pitchFamily="34" charset="0"/>
                </a:rPr>
                <a:t>Пластина</a:t>
              </a:r>
            </a:p>
          </p:txBody>
        </p:sp>
        <p:sp>
          <p:nvSpPr>
            <p:cNvPr id="14" name="AutoShape 537"/>
            <p:cNvSpPr>
              <a:spLocks noChangeAspect="1" noChangeArrowheads="1" noTextEdit="1"/>
            </p:cNvSpPr>
            <p:nvPr/>
          </p:nvSpPr>
          <p:spPr bwMode="auto">
            <a:xfrm>
              <a:off x="1522413" y="1000125"/>
              <a:ext cx="2154237"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200">
                <a:latin typeface="Arial" pitchFamily="34" charset="0"/>
                <a:cs typeface="Arial" pitchFamily="34" charset="0"/>
              </a:endParaRPr>
            </a:p>
          </p:txBody>
        </p:sp>
        <p:pic>
          <p:nvPicPr>
            <p:cNvPr id="15" name="Picture 56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27175" y="4337050"/>
              <a:ext cx="21463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Freeform 567"/>
            <p:cNvSpPr>
              <a:spLocks/>
            </p:cNvSpPr>
            <p:nvPr/>
          </p:nvSpPr>
          <p:spPr bwMode="auto">
            <a:xfrm>
              <a:off x="1533525" y="4356100"/>
              <a:ext cx="2135188" cy="1036638"/>
            </a:xfrm>
            <a:custGeom>
              <a:avLst/>
              <a:gdLst>
                <a:gd name="T0" fmla="*/ 778 w 779"/>
                <a:gd name="T1" fmla="*/ 161 h 380"/>
                <a:gd name="T2" fmla="*/ 388 w 779"/>
                <a:gd name="T3" fmla="*/ 0 h 380"/>
                <a:gd name="T4" fmla="*/ 0 w 779"/>
                <a:gd name="T5" fmla="*/ 176 h 380"/>
                <a:gd name="T6" fmla="*/ 0 w 779"/>
                <a:gd name="T7" fmla="*/ 187 h 380"/>
                <a:gd name="T8" fmla="*/ 386 w 779"/>
                <a:gd name="T9" fmla="*/ 379 h 380"/>
                <a:gd name="T10" fmla="*/ 779 w 779"/>
                <a:gd name="T11" fmla="*/ 183 h 380"/>
                <a:gd name="T12" fmla="*/ 778 w 779"/>
                <a:gd name="T13" fmla="*/ 161 h 380"/>
              </a:gdLst>
              <a:ahLst/>
              <a:cxnLst>
                <a:cxn ang="0">
                  <a:pos x="T0" y="T1"/>
                </a:cxn>
                <a:cxn ang="0">
                  <a:pos x="T2" y="T3"/>
                </a:cxn>
                <a:cxn ang="0">
                  <a:pos x="T4" y="T5"/>
                </a:cxn>
                <a:cxn ang="0">
                  <a:pos x="T6" y="T7"/>
                </a:cxn>
                <a:cxn ang="0">
                  <a:pos x="T8" y="T9"/>
                </a:cxn>
                <a:cxn ang="0">
                  <a:pos x="T10" y="T11"/>
                </a:cxn>
                <a:cxn ang="0">
                  <a:pos x="T12" y="T13"/>
                </a:cxn>
              </a:cxnLst>
              <a:rect l="0" t="0" r="r" b="b"/>
              <a:pathLst>
                <a:path w="779" h="380">
                  <a:moveTo>
                    <a:pt x="778" y="161"/>
                  </a:moveTo>
                  <a:cubicBezTo>
                    <a:pt x="778" y="64"/>
                    <a:pt x="602" y="0"/>
                    <a:pt x="388" y="0"/>
                  </a:cubicBezTo>
                  <a:cubicBezTo>
                    <a:pt x="174" y="0"/>
                    <a:pt x="0" y="79"/>
                    <a:pt x="0" y="176"/>
                  </a:cubicBezTo>
                  <a:cubicBezTo>
                    <a:pt x="0" y="183"/>
                    <a:pt x="0" y="184"/>
                    <a:pt x="0" y="187"/>
                  </a:cubicBezTo>
                  <a:cubicBezTo>
                    <a:pt x="4" y="265"/>
                    <a:pt x="148" y="380"/>
                    <a:pt x="386" y="379"/>
                  </a:cubicBezTo>
                  <a:cubicBezTo>
                    <a:pt x="658" y="378"/>
                    <a:pt x="777" y="252"/>
                    <a:pt x="779" y="183"/>
                  </a:cubicBezTo>
                  <a:cubicBezTo>
                    <a:pt x="779" y="183"/>
                    <a:pt x="778" y="165"/>
                    <a:pt x="778" y="161"/>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7" name="Picture 56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27175" y="4241800"/>
              <a:ext cx="214630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Oval 569"/>
            <p:cNvSpPr>
              <a:spLocks noChangeArrowheads="1"/>
            </p:cNvSpPr>
            <p:nvPr/>
          </p:nvSpPr>
          <p:spPr bwMode="auto">
            <a:xfrm>
              <a:off x="1536700" y="4262438"/>
              <a:ext cx="2120900" cy="109220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9" name="Picture 57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57350" y="4313238"/>
              <a:ext cx="1884363"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Oval 571"/>
            <p:cNvSpPr>
              <a:spLocks noChangeArrowheads="1"/>
            </p:cNvSpPr>
            <p:nvPr/>
          </p:nvSpPr>
          <p:spPr bwMode="auto">
            <a:xfrm>
              <a:off x="1676400" y="4330700"/>
              <a:ext cx="1844675" cy="93980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21" name="Oval 572"/>
            <p:cNvSpPr>
              <a:spLocks noChangeArrowheads="1"/>
            </p:cNvSpPr>
            <p:nvPr/>
          </p:nvSpPr>
          <p:spPr bwMode="auto">
            <a:xfrm>
              <a:off x="1816100" y="4398963"/>
              <a:ext cx="1565275" cy="781050"/>
            </a:xfrm>
            <a:prstGeom prst="ellipse">
              <a:avLst/>
            </a:prstGeom>
            <a:solidFill>
              <a:srgbClr val="FFFFFF"/>
            </a:solidFill>
            <a:ln w="11113">
              <a:solidFill>
                <a:srgbClr val="000000"/>
              </a:solidFill>
              <a:miter lim="800000"/>
              <a:headEnd/>
              <a:tailEnd/>
            </a:ln>
          </p:spPr>
          <p:txBody>
            <a:bodyPr/>
            <a:lstStyle/>
            <a:p>
              <a:endParaRPr lang="en-US" sz="1200">
                <a:latin typeface="Arial" pitchFamily="34" charset="0"/>
                <a:cs typeface="Arial" pitchFamily="34" charset="0"/>
              </a:endParaRPr>
            </a:p>
          </p:txBody>
        </p:sp>
        <p:pic>
          <p:nvPicPr>
            <p:cNvPr id="22" name="Picture 57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55800" y="4462463"/>
              <a:ext cx="12827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Oval 574"/>
            <p:cNvSpPr>
              <a:spLocks noChangeArrowheads="1"/>
            </p:cNvSpPr>
            <p:nvPr/>
          </p:nvSpPr>
          <p:spPr bwMode="auto">
            <a:xfrm>
              <a:off x="1971675" y="4478338"/>
              <a:ext cx="1252538" cy="62230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24" name="Picture 57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127250" y="4549775"/>
              <a:ext cx="94456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Oval 576"/>
            <p:cNvSpPr>
              <a:spLocks noChangeArrowheads="1"/>
            </p:cNvSpPr>
            <p:nvPr/>
          </p:nvSpPr>
          <p:spPr bwMode="auto">
            <a:xfrm>
              <a:off x="2141538" y="4564063"/>
              <a:ext cx="909637" cy="452437"/>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26" name="Picture 577"/>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574925" y="5002213"/>
              <a:ext cx="412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Line 578"/>
            <p:cNvSpPr>
              <a:spLocks noChangeShapeType="1"/>
            </p:cNvSpPr>
            <p:nvPr/>
          </p:nvSpPr>
          <p:spPr bwMode="auto">
            <a:xfrm flipH="1">
              <a:off x="2590800" y="5016500"/>
              <a:ext cx="7938" cy="33813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28" name="Picture 579"/>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571750" y="4244975"/>
              <a:ext cx="3333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Line 580"/>
            <p:cNvSpPr>
              <a:spLocks noChangeShapeType="1"/>
            </p:cNvSpPr>
            <p:nvPr/>
          </p:nvSpPr>
          <p:spPr bwMode="auto">
            <a:xfrm>
              <a:off x="2589213" y="4262438"/>
              <a:ext cx="0" cy="30162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30" name="Picture 581"/>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041650" y="4773613"/>
              <a:ext cx="631825" cy="3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Line 582"/>
            <p:cNvSpPr>
              <a:spLocks noChangeShapeType="1"/>
            </p:cNvSpPr>
            <p:nvPr/>
          </p:nvSpPr>
          <p:spPr bwMode="auto">
            <a:xfrm>
              <a:off x="3057525" y="4789488"/>
              <a:ext cx="60801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32" name="Picture 58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527175" y="4772025"/>
              <a:ext cx="633413" cy="3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Line 584"/>
            <p:cNvSpPr>
              <a:spLocks noChangeShapeType="1"/>
            </p:cNvSpPr>
            <p:nvPr/>
          </p:nvSpPr>
          <p:spPr bwMode="auto">
            <a:xfrm>
              <a:off x="1533525" y="4789488"/>
              <a:ext cx="60801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34" name="Line 585"/>
            <p:cNvSpPr>
              <a:spLocks noChangeShapeType="1"/>
            </p:cNvSpPr>
            <p:nvPr/>
          </p:nvSpPr>
          <p:spPr bwMode="auto">
            <a:xfrm flipH="1">
              <a:off x="1835150" y="4959350"/>
              <a:ext cx="454025" cy="2317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35" name="Picture 586"/>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913063" y="4410075"/>
              <a:ext cx="460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Line 587"/>
            <p:cNvSpPr>
              <a:spLocks noChangeShapeType="1"/>
            </p:cNvSpPr>
            <p:nvPr/>
          </p:nvSpPr>
          <p:spPr bwMode="auto">
            <a:xfrm flipH="1">
              <a:off x="2930525" y="4424363"/>
              <a:ext cx="430213" cy="21590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37" name="Picture 588"/>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846263" y="4395788"/>
              <a:ext cx="4603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Line 589"/>
            <p:cNvSpPr>
              <a:spLocks noChangeShapeType="1"/>
            </p:cNvSpPr>
            <p:nvPr/>
          </p:nvSpPr>
          <p:spPr bwMode="auto">
            <a:xfrm flipH="1" flipV="1">
              <a:off x="1862138" y="4410075"/>
              <a:ext cx="430212" cy="21590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39" name="Line 590"/>
            <p:cNvSpPr>
              <a:spLocks noChangeShapeType="1"/>
            </p:cNvSpPr>
            <p:nvPr/>
          </p:nvSpPr>
          <p:spPr bwMode="auto">
            <a:xfrm>
              <a:off x="2936875" y="4943475"/>
              <a:ext cx="454025" cy="22542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40" name="Freeform 591"/>
            <p:cNvSpPr>
              <a:spLocks/>
            </p:cNvSpPr>
            <p:nvPr/>
          </p:nvSpPr>
          <p:spPr bwMode="auto">
            <a:xfrm>
              <a:off x="2593975" y="4262438"/>
              <a:ext cx="758825" cy="204787"/>
            </a:xfrm>
            <a:custGeom>
              <a:avLst/>
              <a:gdLst>
                <a:gd name="T0" fmla="*/ 0 w 277"/>
                <a:gd name="T1" fmla="*/ 0 h 75"/>
                <a:gd name="T2" fmla="*/ 1 w 277"/>
                <a:gd name="T3" fmla="*/ 23 h 75"/>
                <a:gd name="T4" fmla="*/ 246 w 277"/>
                <a:gd name="T5" fmla="*/ 75 h 75"/>
                <a:gd name="T6" fmla="*/ 277 w 277"/>
                <a:gd name="T7" fmla="*/ 58 h 75"/>
                <a:gd name="T8" fmla="*/ 0 w 277"/>
                <a:gd name="T9" fmla="*/ 0 h 75"/>
              </a:gdLst>
              <a:ahLst/>
              <a:cxnLst>
                <a:cxn ang="0">
                  <a:pos x="T0" y="T1"/>
                </a:cxn>
                <a:cxn ang="0">
                  <a:pos x="T2" y="T3"/>
                </a:cxn>
                <a:cxn ang="0">
                  <a:pos x="T4" y="T5"/>
                </a:cxn>
                <a:cxn ang="0">
                  <a:pos x="T6" y="T7"/>
                </a:cxn>
                <a:cxn ang="0">
                  <a:pos x="T8" y="T9"/>
                </a:cxn>
              </a:cxnLst>
              <a:rect l="0" t="0" r="r" b="b"/>
              <a:pathLst>
                <a:path w="277" h="75">
                  <a:moveTo>
                    <a:pt x="0" y="0"/>
                  </a:moveTo>
                  <a:cubicBezTo>
                    <a:pt x="0" y="0"/>
                    <a:pt x="1" y="15"/>
                    <a:pt x="1" y="23"/>
                  </a:cubicBezTo>
                  <a:cubicBezTo>
                    <a:pt x="44" y="23"/>
                    <a:pt x="149" y="27"/>
                    <a:pt x="246" y="75"/>
                  </a:cubicBezTo>
                  <a:cubicBezTo>
                    <a:pt x="260" y="67"/>
                    <a:pt x="277" y="58"/>
                    <a:pt x="277" y="58"/>
                  </a:cubicBezTo>
                  <a:cubicBezTo>
                    <a:pt x="277" y="58"/>
                    <a:pt x="174"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pic>
          <p:nvPicPr>
            <p:cNvPr id="41" name="Picture 592"/>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439988" y="4022725"/>
              <a:ext cx="32067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Freeform 593"/>
            <p:cNvSpPr>
              <a:spLocks/>
            </p:cNvSpPr>
            <p:nvPr/>
          </p:nvSpPr>
          <p:spPr bwMode="auto">
            <a:xfrm>
              <a:off x="2457450" y="4037013"/>
              <a:ext cx="287338" cy="828675"/>
            </a:xfrm>
            <a:custGeom>
              <a:avLst/>
              <a:gdLst>
                <a:gd name="T0" fmla="*/ 104 w 105"/>
                <a:gd name="T1" fmla="*/ 264 h 304"/>
                <a:gd name="T2" fmla="*/ 104 w 105"/>
                <a:gd name="T3" fmla="*/ 0 h 304"/>
                <a:gd name="T4" fmla="*/ 0 w 105"/>
                <a:gd name="T5" fmla="*/ 0 h 304"/>
                <a:gd name="T6" fmla="*/ 0 w 105"/>
                <a:gd name="T7" fmla="*/ 274 h 304"/>
                <a:gd name="T8" fmla="*/ 0 w 105"/>
                <a:gd name="T9" fmla="*/ 274 h 304"/>
                <a:gd name="T10" fmla="*/ 52 w 105"/>
                <a:gd name="T11" fmla="*/ 304 h 304"/>
                <a:gd name="T12" fmla="*/ 105 w 105"/>
                <a:gd name="T13" fmla="*/ 270 h 304"/>
                <a:gd name="T14" fmla="*/ 104 w 105"/>
                <a:gd name="T15" fmla="*/ 264 h 3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04">
                  <a:moveTo>
                    <a:pt x="104" y="264"/>
                  </a:moveTo>
                  <a:cubicBezTo>
                    <a:pt x="104" y="0"/>
                    <a:pt x="104" y="0"/>
                    <a:pt x="104" y="0"/>
                  </a:cubicBezTo>
                  <a:cubicBezTo>
                    <a:pt x="0" y="0"/>
                    <a:pt x="0" y="0"/>
                    <a:pt x="0" y="0"/>
                  </a:cubicBezTo>
                  <a:cubicBezTo>
                    <a:pt x="0" y="274"/>
                    <a:pt x="0" y="274"/>
                    <a:pt x="0" y="274"/>
                  </a:cubicBezTo>
                  <a:cubicBezTo>
                    <a:pt x="0" y="274"/>
                    <a:pt x="0" y="274"/>
                    <a:pt x="0" y="274"/>
                  </a:cubicBezTo>
                  <a:cubicBezTo>
                    <a:pt x="3" y="291"/>
                    <a:pt x="25" y="304"/>
                    <a:pt x="52" y="304"/>
                  </a:cubicBezTo>
                  <a:cubicBezTo>
                    <a:pt x="81" y="304"/>
                    <a:pt x="105" y="289"/>
                    <a:pt x="105" y="270"/>
                  </a:cubicBezTo>
                  <a:cubicBezTo>
                    <a:pt x="105" y="268"/>
                    <a:pt x="104" y="266"/>
                    <a:pt x="104" y="264"/>
                  </a:cubicBezTo>
                  <a:close/>
                </a:path>
              </a:pathLst>
            </a:custGeom>
            <a:noFill/>
            <a:ln w="11113" cap="flat">
              <a:solidFill>
                <a:srgbClr val="A0BAB8"/>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43" name="Picture 594"/>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527175" y="3141663"/>
              <a:ext cx="21463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Freeform 595"/>
            <p:cNvSpPr>
              <a:spLocks/>
            </p:cNvSpPr>
            <p:nvPr/>
          </p:nvSpPr>
          <p:spPr bwMode="auto">
            <a:xfrm>
              <a:off x="1533525" y="3160713"/>
              <a:ext cx="2135188" cy="1036637"/>
            </a:xfrm>
            <a:custGeom>
              <a:avLst/>
              <a:gdLst>
                <a:gd name="T0" fmla="*/ 778 w 779"/>
                <a:gd name="T1" fmla="*/ 161 h 380"/>
                <a:gd name="T2" fmla="*/ 388 w 779"/>
                <a:gd name="T3" fmla="*/ 0 h 380"/>
                <a:gd name="T4" fmla="*/ 0 w 779"/>
                <a:gd name="T5" fmla="*/ 176 h 380"/>
                <a:gd name="T6" fmla="*/ 0 w 779"/>
                <a:gd name="T7" fmla="*/ 187 h 380"/>
                <a:gd name="T8" fmla="*/ 386 w 779"/>
                <a:gd name="T9" fmla="*/ 379 h 380"/>
                <a:gd name="T10" fmla="*/ 779 w 779"/>
                <a:gd name="T11" fmla="*/ 183 h 380"/>
                <a:gd name="T12" fmla="*/ 778 w 779"/>
                <a:gd name="T13" fmla="*/ 161 h 380"/>
              </a:gdLst>
              <a:ahLst/>
              <a:cxnLst>
                <a:cxn ang="0">
                  <a:pos x="T0" y="T1"/>
                </a:cxn>
                <a:cxn ang="0">
                  <a:pos x="T2" y="T3"/>
                </a:cxn>
                <a:cxn ang="0">
                  <a:pos x="T4" y="T5"/>
                </a:cxn>
                <a:cxn ang="0">
                  <a:pos x="T6" y="T7"/>
                </a:cxn>
                <a:cxn ang="0">
                  <a:pos x="T8" y="T9"/>
                </a:cxn>
                <a:cxn ang="0">
                  <a:pos x="T10" y="T11"/>
                </a:cxn>
                <a:cxn ang="0">
                  <a:pos x="T12" y="T13"/>
                </a:cxn>
              </a:cxnLst>
              <a:rect l="0" t="0" r="r" b="b"/>
              <a:pathLst>
                <a:path w="779" h="380">
                  <a:moveTo>
                    <a:pt x="778" y="161"/>
                  </a:moveTo>
                  <a:cubicBezTo>
                    <a:pt x="778" y="64"/>
                    <a:pt x="602" y="0"/>
                    <a:pt x="388" y="0"/>
                  </a:cubicBezTo>
                  <a:cubicBezTo>
                    <a:pt x="174" y="0"/>
                    <a:pt x="0" y="79"/>
                    <a:pt x="0" y="176"/>
                  </a:cubicBezTo>
                  <a:cubicBezTo>
                    <a:pt x="0" y="183"/>
                    <a:pt x="0" y="184"/>
                    <a:pt x="0" y="187"/>
                  </a:cubicBezTo>
                  <a:cubicBezTo>
                    <a:pt x="4" y="265"/>
                    <a:pt x="148" y="380"/>
                    <a:pt x="386" y="379"/>
                  </a:cubicBezTo>
                  <a:cubicBezTo>
                    <a:pt x="658" y="378"/>
                    <a:pt x="777" y="252"/>
                    <a:pt x="779" y="183"/>
                  </a:cubicBezTo>
                  <a:cubicBezTo>
                    <a:pt x="779" y="183"/>
                    <a:pt x="778" y="165"/>
                    <a:pt x="778" y="161"/>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45" name="Picture 596"/>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1527175" y="3046413"/>
              <a:ext cx="214630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Oval 597"/>
            <p:cNvSpPr>
              <a:spLocks noChangeArrowheads="1"/>
            </p:cNvSpPr>
            <p:nvPr/>
          </p:nvSpPr>
          <p:spPr bwMode="auto">
            <a:xfrm>
              <a:off x="1536700" y="3067050"/>
              <a:ext cx="2120900" cy="109220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47" name="Picture 598"/>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1657350" y="3117850"/>
              <a:ext cx="1884363"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Oval 599"/>
            <p:cNvSpPr>
              <a:spLocks noChangeArrowheads="1"/>
            </p:cNvSpPr>
            <p:nvPr/>
          </p:nvSpPr>
          <p:spPr bwMode="auto">
            <a:xfrm>
              <a:off x="1676400" y="3135313"/>
              <a:ext cx="1844675" cy="93980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49" name="Oval 600"/>
            <p:cNvSpPr>
              <a:spLocks noChangeArrowheads="1"/>
            </p:cNvSpPr>
            <p:nvPr/>
          </p:nvSpPr>
          <p:spPr bwMode="auto">
            <a:xfrm>
              <a:off x="1816100" y="3203575"/>
              <a:ext cx="1565275" cy="781050"/>
            </a:xfrm>
            <a:prstGeom prst="ellipse">
              <a:avLst/>
            </a:prstGeom>
            <a:solidFill>
              <a:srgbClr val="FFFFFF"/>
            </a:solidFill>
            <a:ln w="11113">
              <a:solidFill>
                <a:srgbClr val="000000"/>
              </a:solidFill>
              <a:miter lim="800000"/>
              <a:headEnd/>
              <a:tailEnd/>
            </a:ln>
          </p:spPr>
          <p:txBody>
            <a:bodyPr/>
            <a:lstStyle/>
            <a:p>
              <a:endParaRPr lang="en-US" sz="1200">
                <a:latin typeface="Arial" pitchFamily="34" charset="0"/>
                <a:cs typeface="Arial" pitchFamily="34" charset="0"/>
              </a:endParaRPr>
            </a:p>
          </p:txBody>
        </p:sp>
        <p:pic>
          <p:nvPicPr>
            <p:cNvPr id="50" name="Picture 601"/>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955800" y="3267075"/>
              <a:ext cx="128270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Oval 602"/>
            <p:cNvSpPr>
              <a:spLocks noChangeArrowheads="1"/>
            </p:cNvSpPr>
            <p:nvPr/>
          </p:nvSpPr>
          <p:spPr bwMode="auto">
            <a:xfrm>
              <a:off x="1971675" y="3282950"/>
              <a:ext cx="1252538" cy="62230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52" name="Picture 603"/>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2127250" y="3354388"/>
              <a:ext cx="944563"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Oval 604"/>
            <p:cNvSpPr>
              <a:spLocks noChangeArrowheads="1"/>
            </p:cNvSpPr>
            <p:nvPr/>
          </p:nvSpPr>
          <p:spPr bwMode="auto">
            <a:xfrm>
              <a:off x="2141538" y="3367088"/>
              <a:ext cx="909637" cy="454025"/>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54" name="Picture 60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574925" y="3806825"/>
              <a:ext cx="41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Line 606"/>
            <p:cNvSpPr>
              <a:spLocks noChangeShapeType="1"/>
            </p:cNvSpPr>
            <p:nvPr/>
          </p:nvSpPr>
          <p:spPr bwMode="auto">
            <a:xfrm flipH="1">
              <a:off x="2590800" y="3821113"/>
              <a:ext cx="7938" cy="3381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56" name="Picture 607"/>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571750" y="3048000"/>
              <a:ext cx="333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Line 608"/>
            <p:cNvSpPr>
              <a:spLocks noChangeShapeType="1"/>
            </p:cNvSpPr>
            <p:nvPr/>
          </p:nvSpPr>
          <p:spPr bwMode="auto">
            <a:xfrm>
              <a:off x="2589213" y="3067050"/>
              <a:ext cx="0" cy="30003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58" name="Picture 609"/>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041650" y="3578225"/>
              <a:ext cx="631825" cy="3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Line 610"/>
            <p:cNvSpPr>
              <a:spLocks noChangeShapeType="1"/>
            </p:cNvSpPr>
            <p:nvPr/>
          </p:nvSpPr>
          <p:spPr bwMode="auto">
            <a:xfrm>
              <a:off x="3057525" y="3594100"/>
              <a:ext cx="60801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60" name="Picture 611"/>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527175" y="3576638"/>
              <a:ext cx="633413" cy="3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Line 612"/>
            <p:cNvSpPr>
              <a:spLocks noChangeShapeType="1"/>
            </p:cNvSpPr>
            <p:nvPr/>
          </p:nvSpPr>
          <p:spPr bwMode="auto">
            <a:xfrm>
              <a:off x="1533525" y="3594100"/>
              <a:ext cx="60801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62" name="Line 613"/>
            <p:cNvSpPr>
              <a:spLocks noChangeShapeType="1"/>
            </p:cNvSpPr>
            <p:nvPr/>
          </p:nvSpPr>
          <p:spPr bwMode="auto">
            <a:xfrm flipH="1">
              <a:off x="1835150" y="3763963"/>
              <a:ext cx="454025" cy="2317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63" name="Picture 614"/>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13063" y="3214688"/>
              <a:ext cx="460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Line 615"/>
            <p:cNvSpPr>
              <a:spLocks noChangeShapeType="1"/>
            </p:cNvSpPr>
            <p:nvPr/>
          </p:nvSpPr>
          <p:spPr bwMode="auto">
            <a:xfrm flipH="1">
              <a:off x="2930525" y="3228975"/>
              <a:ext cx="430213" cy="21590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65" name="Picture 616"/>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1846263" y="3200400"/>
              <a:ext cx="460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Line 617"/>
            <p:cNvSpPr>
              <a:spLocks noChangeShapeType="1"/>
            </p:cNvSpPr>
            <p:nvPr/>
          </p:nvSpPr>
          <p:spPr bwMode="auto">
            <a:xfrm flipH="1" flipV="1">
              <a:off x="1862138" y="3214688"/>
              <a:ext cx="430212" cy="21590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67" name="Line 618"/>
            <p:cNvSpPr>
              <a:spLocks noChangeShapeType="1"/>
            </p:cNvSpPr>
            <p:nvPr/>
          </p:nvSpPr>
          <p:spPr bwMode="auto">
            <a:xfrm>
              <a:off x="2936875" y="3746500"/>
              <a:ext cx="454025" cy="22701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68" name="Freeform 619"/>
            <p:cNvSpPr>
              <a:spLocks/>
            </p:cNvSpPr>
            <p:nvPr/>
          </p:nvSpPr>
          <p:spPr bwMode="auto">
            <a:xfrm>
              <a:off x="2593975" y="3067050"/>
              <a:ext cx="758825" cy="204788"/>
            </a:xfrm>
            <a:custGeom>
              <a:avLst/>
              <a:gdLst>
                <a:gd name="T0" fmla="*/ 0 w 277"/>
                <a:gd name="T1" fmla="*/ 0 h 75"/>
                <a:gd name="T2" fmla="*/ 1 w 277"/>
                <a:gd name="T3" fmla="*/ 23 h 75"/>
                <a:gd name="T4" fmla="*/ 246 w 277"/>
                <a:gd name="T5" fmla="*/ 75 h 75"/>
                <a:gd name="T6" fmla="*/ 277 w 277"/>
                <a:gd name="T7" fmla="*/ 58 h 75"/>
                <a:gd name="T8" fmla="*/ 0 w 277"/>
                <a:gd name="T9" fmla="*/ 0 h 75"/>
              </a:gdLst>
              <a:ahLst/>
              <a:cxnLst>
                <a:cxn ang="0">
                  <a:pos x="T0" y="T1"/>
                </a:cxn>
                <a:cxn ang="0">
                  <a:pos x="T2" y="T3"/>
                </a:cxn>
                <a:cxn ang="0">
                  <a:pos x="T4" y="T5"/>
                </a:cxn>
                <a:cxn ang="0">
                  <a:pos x="T6" y="T7"/>
                </a:cxn>
                <a:cxn ang="0">
                  <a:pos x="T8" y="T9"/>
                </a:cxn>
              </a:cxnLst>
              <a:rect l="0" t="0" r="r" b="b"/>
              <a:pathLst>
                <a:path w="277" h="75">
                  <a:moveTo>
                    <a:pt x="0" y="0"/>
                  </a:moveTo>
                  <a:cubicBezTo>
                    <a:pt x="0" y="0"/>
                    <a:pt x="1" y="15"/>
                    <a:pt x="1" y="23"/>
                  </a:cubicBezTo>
                  <a:cubicBezTo>
                    <a:pt x="44" y="23"/>
                    <a:pt x="149" y="27"/>
                    <a:pt x="246" y="75"/>
                  </a:cubicBezTo>
                  <a:cubicBezTo>
                    <a:pt x="260" y="67"/>
                    <a:pt x="277" y="58"/>
                    <a:pt x="277" y="58"/>
                  </a:cubicBezTo>
                  <a:cubicBezTo>
                    <a:pt x="277" y="58"/>
                    <a:pt x="174"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pic>
          <p:nvPicPr>
            <p:cNvPr id="69" name="Picture 620"/>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2439988" y="2824163"/>
              <a:ext cx="32067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 name="Freeform 621"/>
            <p:cNvSpPr>
              <a:spLocks/>
            </p:cNvSpPr>
            <p:nvPr/>
          </p:nvSpPr>
          <p:spPr bwMode="auto">
            <a:xfrm>
              <a:off x="2457450" y="2838450"/>
              <a:ext cx="287338" cy="830263"/>
            </a:xfrm>
            <a:custGeom>
              <a:avLst/>
              <a:gdLst>
                <a:gd name="T0" fmla="*/ 104 w 105"/>
                <a:gd name="T1" fmla="*/ 264 h 304"/>
                <a:gd name="T2" fmla="*/ 104 w 105"/>
                <a:gd name="T3" fmla="*/ 0 h 304"/>
                <a:gd name="T4" fmla="*/ 0 w 105"/>
                <a:gd name="T5" fmla="*/ 0 h 304"/>
                <a:gd name="T6" fmla="*/ 0 w 105"/>
                <a:gd name="T7" fmla="*/ 274 h 304"/>
                <a:gd name="T8" fmla="*/ 0 w 105"/>
                <a:gd name="T9" fmla="*/ 274 h 304"/>
                <a:gd name="T10" fmla="*/ 52 w 105"/>
                <a:gd name="T11" fmla="*/ 304 h 304"/>
                <a:gd name="T12" fmla="*/ 105 w 105"/>
                <a:gd name="T13" fmla="*/ 270 h 304"/>
                <a:gd name="T14" fmla="*/ 104 w 105"/>
                <a:gd name="T15" fmla="*/ 264 h 3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04">
                  <a:moveTo>
                    <a:pt x="104" y="264"/>
                  </a:moveTo>
                  <a:cubicBezTo>
                    <a:pt x="104" y="0"/>
                    <a:pt x="104" y="0"/>
                    <a:pt x="104" y="0"/>
                  </a:cubicBezTo>
                  <a:cubicBezTo>
                    <a:pt x="0" y="0"/>
                    <a:pt x="0" y="0"/>
                    <a:pt x="0" y="0"/>
                  </a:cubicBezTo>
                  <a:cubicBezTo>
                    <a:pt x="0" y="274"/>
                    <a:pt x="0" y="274"/>
                    <a:pt x="0" y="274"/>
                  </a:cubicBezTo>
                  <a:cubicBezTo>
                    <a:pt x="0" y="274"/>
                    <a:pt x="0" y="274"/>
                    <a:pt x="0" y="274"/>
                  </a:cubicBezTo>
                  <a:cubicBezTo>
                    <a:pt x="3" y="291"/>
                    <a:pt x="25" y="304"/>
                    <a:pt x="52" y="304"/>
                  </a:cubicBezTo>
                  <a:cubicBezTo>
                    <a:pt x="81" y="304"/>
                    <a:pt x="105" y="289"/>
                    <a:pt x="105" y="270"/>
                  </a:cubicBezTo>
                  <a:cubicBezTo>
                    <a:pt x="105" y="268"/>
                    <a:pt x="104" y="266"/>
                    <a:pt x="104" y="264"/>
                  </a:cubicBezTo>
                  <a:close/>
                </a:path>
              </a:pathLst>
            </a:custGeom>
            <a:noFill/>
            <a:ln w="11113" cap="flat">
              <a:solidFill>
                <a:srgbClr val="A0BAB8"/>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71" name="Picture 622"/>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1527175" y="1936750"/>
              <a:ext cx="21463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Freeform 623"/>
            <p:cNvSpPr>
              <a:spLocks/>
            </p:cNvSpPr>
            <p:nvPr/>
          </p:nvSpPr>
          <p:spPr bwMode="auto">
            <a:xfrm>
              <a:off x="1533525" y="1955800"/>
              <a:ext cx="2135188" cy="1038225"/>
            </a:xfrm>
            <a:custGeom>
              <a:avLst/>
              <a:gdLst>
                <a:gd name="T0" fmla="*/ 778 w 779"/>
                <a:gd name="T1" fmla="*/ 161 h 380"/>
                <a:gd name="T2" fmla="*/ 388 w 779"/>
                <a:gd name="T3" fmla="*/ 0 h 380"/>
                <a:gd name="T4" fmla="*/ 0 w 779"/>
                <a:gd name="T5" fmla="*/ 176 h 380"/>
                <a:gd name="T6" fmla="*/ 0 w 779"/>
                <a:gd name="T7" fmla="*/ 187 h 380"/>
                <a:gd name="T8" fmla="*/ 386 w 779"/>
                <a:gd name="T9" fmla="*/ 379 h 380"/>
                <a:gd name="T10" fmla="*/ 779 w 779"/>
                <a:gd name="T11" fmla="*/ 183 h 380"/>
                <a:gd name="T12" fmla="*/ 778 w 779"/>
                <a:gd name="T13" fmla="*/ 161 h 380"/>
              </a:gdLst>
              <a:ahLst/>
              <a:cxnLst>
                <a:cxn ang="0">
                  <a:pos x="T0" y="T1"/>
                </a:cxn>
                <a:cxn ang="0">
                  <a:pos x="T2" y="T3"/>
                </a:cxn>
                <a:cxn ang="0">
                  <a:pos x="T4" y="T5"/>
                </a:cxn>
                <a:cxn ang="0">
                  <a:pos x="T6" y="T7"/>
                </a:cxn>
                <a:cxn ang="0">
                  <a:pos x="T8" y="T9"/>
                </a:cxn>
                <a:cxn ang="0">
                  <a:pos x="T10" y="T11"/>
                </a:cxn>
                <a:cxn ang="0">
                  <a:pos x="T12" y="T13"/>
                </a:cxn>
              </a:cxnLst>
              <a:rect l="0" t="0" r="r" b="b"/>
              <a:pathLst>
                <a:path w="779" h="380">
                  <a:moveTo>
                    <a:pt x="778" y="161"/>
                  </a:moveTo>
                  <a:cubicBezTo>
                    <a:pt x="778" y="64"/>
                    <a:pt x="602" y="0"/>
                    <a:pt x="388" y="0"/>
                  </a:cubicBezTo>
                  <a:cubicBezTo>
                    <a:pt x="174" y="0"/>
                    <a:pt x="0" y="79"/>
                    <a:pt x="0" y="176"/>
                  </a:cubicBezTo>
                  <a:cubicBezTo>
                    <a:pt x="0" y="183"/>
                    <a:pt x="0" y="183"/>
                    <a:pt x="0" y="187"/>
                  </a:cubicBezTo>
                  <a:cubicBezTo>
                    <a:pt x="4" y="265"/>
                    <a:pt x="148" y="380"/>
                    <a:pt x="386" y="379"/>
                  </a:cubicBezTo>
                  <a:cubicBezTo>
                    <a:pt x="658" y="378"/>
                    <a:pt x="777" y="252"/>
                    <a:pt x="779" y="183"/>
                  </a:cubicBezTo>
                  <a:cubicBezTo>
                    <a:pt x="779" y="182"/>
                    <a:pt x="778" y="165"/>
                    <a:pt x="778" y="161"/>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73" name="Picture 624"/>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1527175" y="1843088"/>
              <a:ext cx="2146300"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Oval 625"/>
            <p:cNvSpPr>
              <a:spLocks noChangeArrowheads="1"/>
            </p:cNvSpPr>
            <p:nvPr/>
          </p:nvSpPr>
          <p:spPr bwMode="auto">
            <a:xfrm>
              <a:off x="1536700" y="1863725"/>
              <a:ext cx="2120900" cy="109220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75" name="Picture 626"/>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1657350" y="1912938"/>
              <a:ext cx="1884363"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Oval 627"/>
            <p:cNvSpPr>
              <a:spLocks noChangeArrowheads="1"/>
            </p:cNvSpPr>
            <p:nvPr/>
          </p:nvSpPr>
          <p:spPr bwMode="auto">
            <a:xfrm>
              <a:off x="1676400" y="1931988"/>
              <a:ext cx="1844675" cy="938212"/>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77" name="Oval 628"/>
            <p:cNvSpPr>
              <a:spLocks noChangeArrowheads="1"/>
            </p:cNvSpPr>
            <p:nvPr/>
          </p:nvSpPr>
          <p:spPr bwMode="auto">
            <a:xfrm>
              <a:off x="1816100" y="2000250"/>
              <a:ext cx="1565275" cy="781050"/>
            </a:xfrm>
            <a:prstGeom prst="ellipse">
              <a:avLst/>
            </a:prstGeom>
            <a:solidFill>
              <a:srgbClr val="FFFFFF"/>
            </a:solidFill>
            <a:ln w="11113">
              <a:solidFill>
                <a:srgbClr val="000000"/>
              </a:solidFill>
              <a:miter lim="800000"/>
              <a:headEnd/>
              <a:tailEnd/>
            </a:ln>
          </p:spPr>
          <p:txBody>
            <a:bodyPr/>
            <a:lstStyle/>
            <a:p>
              <a:endParaRPr lang="en-US" sz="1200">
                <a:latin typeface="Arial" pitchFamily="34" charset="0"/>
                <a:cs typeface="Arial" pitchFamily="34" charset="0"/>
              </a:endParaRPr>
            </a:p>
          </p:txBody>
        </p:sp>
        <p:pic>
          <p:nvPicPr>
            <p:cNvPr id="78" name="Picture 629"/>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1955800" y="2062163"/>
              <a:ext cx="12827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Oval 630"/>
            <p:cNvSpPr>
              <a:spLocks noChangeArrowheads="1"/>
            </p:cNvSpPr>
            <p:nvPr/>
          </p:nvSpPr>
          <p:spPr bwMode="auto">
            <a:xfrm>
              <a:off x="1971675" y="2079625"/>
              <a:ext cx="1252538" cy="62230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80" name="Picture 631"/>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2127250" y="2149475"/>
              <a:ext cx="944563"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Oval 632"/>
            <p:cNvSpPr>
              <a:spLocks noChangeArrowheads="1"/>
            </p:cNvSpPr>
            <p:nvPr/>
          </p:nvSpPr>
          <p:spPr bwMode="auto">
            <a:xfrm>
              <a:off x="2141538" y="2163763"/>
              <a:ext cx="909637" cy="454025"/>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82" name="Picture 633"/>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2574925" y="2603500"/>
              <a:ext cx="41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Line 634"/>
            <p:cNvSpPr>
              <a:spLocks noChangeShapeType="1"/>
            </p:cNvSpPr>
            <p:nvPr/>
          </p:nvSpPr>
          <p:spPr bwMode="auto">
            <a:xfrm flipH="1">
              <a:off x="2590800" y="2617788"/>
              <a:ext cx="7938" cy="3381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84" name="Picture 635"/>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2571750" y="1844675"/>
              <a:ext cx="3333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Line 636"/>
            <p:cNvSpPr>
              <a:spLocks noChangeShapeType="1"/>
            </p:cNvSpPr>
            <p:nvPr/>
          </p:nvSpPr>
          <p:spPr bwMode="auto">
            <a:xfrm>
              <a:off x="2589213" y="1863725"/>
              <a:ext cx="0" cy="30003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86" name="Picture 637"/>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3041650" y="2373313"/>
              <a:ext cx="631825" cy="3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Line 638"/>
            <p:cNvSpPr>
              <a:spLocks noChangeShapeType="1"/>
            </p:cNvSpPr>
            <p:nvPr/>
          </p:nvSpPr>
          <p:spPr bwMode="auto">
            <a:xfrm>
              <a:off x="3057525" y="2390775"/>
              <a:ext cx="60801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88" name="Picture 639"/>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1527175" y="2373313"/>
              <a:ext cx="633413" cy="3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Line 640"/>
            <p:cNvSpPr>
              <a:spLocks noChangeShapeType="1"/>
            </p:cNvSpPr>
            <p:nvPr/>
          </p:nvSpPr>
          <p:spPr bwMode="auto">
            <a:xfrm>
              <a:off x="1533525" y="2387600"/>
              <a:ext cx="60801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90" name="Line 641"/>
            <p:cNvSpPr>
              <a:spLocks noChangeShapeType="1"/>
            </p:cNvSpPr>
            <p:nvPr/>
          </p:nvSpPr>
          <p:spPr bwMode="auto">
            <a:xfrm flipH="1">
              <a:off x="1835150" y="2559050"/>
              <a:ext cx="454025" cy="23336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91" name="Picture 642"/>
            <p:cNvPicPr>
              <a:picLocks noChangeAspect="1" noChangeArrowheads="1"/>
            </p:cNvPicPr>
            <p:nvPr/>
          </p:nvPicPr>
          <p:blipFill>
            <a:blip r:embed="rId34" cstate="print">
              <a:extLst>
                <a:ext uri="{28A0092B-C50C-407E-A947-70E740481C1C}">
                  <a14:useLocalDpi xmlns:a14="http://schemas.microsoft.com/office/drawing/2010/main" val="0"/>
                </a:ext>
              </a:extLst>
            </a:blip>
            <a:srcRect/>
            <a:stretch>
              <a:fillRect/>
            </a:stretch>
          </p:blipFill>
          <p:spPr bwMode="auto">
            <a:xfrm>
              <a:off x="2913063" y="2009775"/>
              <a:ext cx="4603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 name="Line 643"/>
            <p:cNvSpPr>
              <a:spLocks noChangeShapeType="1"/>
            </p:cNvSpPr>
            <p:nvPr/>
          </p:nvSpPr>
          <p:spPr bwMode="auto">
            <a:xfrm flipH="1">
              <a:off x="2930525" y="2024063"/>
              <a:ext cx="430213" cy="21431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93" name="Picture 644"/>
            <p:cNvPicPr>
              <a:picLocks noChangeAspect="1" noChangeArrowheads="1"/>
            </p:cNvPicPr>
            <p:nvPr/>
          </p:nvPicPr>
          <p:blipFill>
            <a:blip r:embed="rId35" cstate="print">
              <a:extLst>
                <a:ext uri="{28A0092B-C50C-407E-A947-70E740481C1C}">
                  <a14:useLocalDpi xmlns:a14="http://schemas.microsoft.com/office/drawing/2010/main" val="0"/>
                </a:ext>
              </a:extLst>
            </a:blip>
            <a:srcRect/>
            <a:stretch>
              <a:fillRect/>
            </a:stretch>
          </p:blipFill>
          <p:spPr bwMode="auto">
            <a:xfrm>
              <a:off x="1846263" y="1995488"/>
              <a:ext cx="4603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Line 645"/>
            <p:cNvSpPr>
              <a:spLocks noChangeShapeType="1"/>
            </p:cNvSpPr>
            <p:nvPr/>
          </p:nvSpPr>
          <p:spPr bwMode="auto">
            <a:xfrm flipH="1" flipV="1">
              <a:off x="1862138" y="2011363"/>
              <a:ext cx="430212" cy="21272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95" name="Line 646"/>
            <p:cNvSpPr>
              <a:spLocks noChangeShapeType="1"/>
            </p:cNvSpPr>
            <p:nvPr/>
          </p:nvSpPr>
          <p:spPr bwMode="auto">
            <a:xfrm>
              <a:off x="2936875" y="2543175"/>
              <a:ext cx="454025" cy="22701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96" name="Freeform 647"/>
            <p:cNvSpPr>
              <a:spLocks/>
            </p:cNvSpPr>
            <p:nvPr/>
          </p:nvSpPr>
          <p:spPr bwMode="auto">
            <a:xfrm>
              <a:off x="2593975" y="1863725"/>
              <a:ext cx="758825" cy="204788"/>
            </a:xfrm>
            <a:custGeom>
              <a:avLst/>
              <a:gdLst>
                <a:gd name="T0" fmla="*/ 0 w 277"/>
                <a:gd name="T1" fmla="*/ 0 h 75"/>
                <a:gd name="T2" fmla="*/ 1 w 277"/>
                <a:gd name="T3" fmla="*/ 23 h 75"/>
                <a:gd name="T4" fmla="*/ 246 w 277"/>
                <a:gd name="T5" fmla="*/ 75 h 75"/>
                <a:gd name="T6" fmla="*/ 277 w 277"/>
                <a:gd name="T7" fmla="*/ 58 h 75"/>
                <a:gd name="T8" fmla="*/ 0 w 277"/>
                <a:gd name="T9" fmla="*/ 0 h 75"/>
              </a:gdLst>
              <a:ahLst/>
              <a:cxnLst>
                <a:cxn ang="0">
                  <a:pos x="T0" y="T1"/>
                </a:cxn>
                <a:cxn ang="0">
                  <a:pos x="T2" y="T3"/>
                </a:cxn>
                <a:cxn ang="0">
                  <a:pos x="T4" y="T5"/>
                </a:cxn>
                <a:cxn ang="0">
                  <a:pos x="T6" y="T7"/>
                </a:cxn>
                <a:cxn ang="0">
                  <a:pos x="T8" y="T9"/>
                </a:cxn>
              </a:cxnLst>
              <a:rect l="0" t="0" r="r" b="b"/>
              <a:pathLst>
                <a:path w="277" h="75">
                  <a:moveTo>
                    <a:pt x="0" y="0"/>
                  </a:moveTo>
                  <a:cubicBezTo>
                    <a:pt x="0" y="0"/>
                    <a:pt x="1" y="15"/>
                    <a:pt x="1" y="23"/>
                  </a:cubicBezTo>
                  <a:cubicBezTo>
                    <a:pt x="44" y="23"/>
                    <a:pt x="149" y="27"/>
                    <a:pt x="246" y="75"/>
                  </a:cubicBezTo>
                  <a:cubicBezTo>
                    <a:pt x="260" y="67"/>
                    <a:pt x="277" y="58"/>
                    <a:pt x="277" y="58"/>
                  </a:cubicBezTo>
                  <a:cubicBezTo>
                    <a:pt x="277" y="58"/>
                    <a:pt x="174"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pic>
          <p:nvPicPr>
            <p:cNvPr id="97" name="Picture 648"/>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2439988" y="1651000"/>
              <a:ext cx="32067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 name="Freeform 649"/>
            <p:cNvSpPr>
              <a:spLocks/>
            </p:cNvSpPr>
            <p:nvPr/>
          </p:nvSpPr>
          <p:spPr bwMode="auto">
            <a:xfrm>
              <a:off x="2457450" y="1663700"/>
              <a:ext cx="287338" cy="838200"/>
            </a:xfrm>
            <a:custGeom>
              <a:avLst/>
              <a:gdLst>
                <a:gd name="T0" fmla="*/ 104 w 105"/>
                <a:gd name="T1" fmla="*/ 269 h 307"/>
                <a:gd name="T2" fmla="*/ 104 w 105"/>
                <a:gd name="T3" fmla="*/ 0 h 307"/>
                <a:gd name="T4" fmla="*/ 0 w 105"/>
                <a:gd name="T5" fmla="*/ 0 h 307"/>
                <a:gd name="T6" fmla="*/ 0 w 105"/>
                <a:gd name="T7" fmla="*/ 269 h 307"/>
                <a:gd name="T8" fmla="*/ 0 w 105"/>
                <a:gd name="T9" fmla="*/ 273 h 307"/>
                <a:gd name="T10" fmla="*/ 52 w 105"/>
                <a:gd name="T11" fmla="*/ 307 h 307"/>
                <a:gd name="T12" fmla="*/ 105 w 105"/>
                <a:gd name="T13" fmla="*/ 273 h 307"/>
                <a:gd name="T14" fmla="*/ 104 w 105"/>
                <a:gd name="T15" fmla="*/ 269 h 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07">
                  <a:moveTo>
                    <a:pt x="104" y="269"/>
                  </a:moveTo>
                  <a:cubicBezTo>
                    <a:pt x="104" y="0"/>
                    <a:pt x="104" y="0"/>
                    <a:pt x="104" y="0"/>
                  </a:cubicBezTo>
                  <a:cubicBezTo>
                    <a:pt x="0" y="0"/>
                    <a:pt x="0" y="0"/>
                    <a:pt x="0" y="0"/>
                  </a:cubicBezTo>
                  <a:cubicBezTo>
                    <a:pt x="0" y="269"/>
                    <a:pt x="0" y="269"/>
                    <a:pt x="0" y="269"/>
                  </a:cubicBezTo>
                  <a:cubicBezTo>
                    <a:pt x="0" y="271"/>
                    <a:pt x="0" y="272"/>
                    <a:pt x="0" y="273"/>
                  </a:cubicBezTo>
                  <a:cubicBezTo>
                    <a:pt x="0" y="292"/>
                    <a:pt x="23" y="307"/>
                    <a:pt x="52" y="307"/>
                  </a:cubicBezTo>
                  <a:cubicBezTo>
                    <a:pt x="81" y="307"/>
                    <a:pt x="105" y="292"/>
                    <a:pt x="105" y="273"/>
                  </a:cubicBezTo>
                  <a:cubicBezTo>
                    <a:pt x="105" y="272"/>
                    <a:pt x="105" y="271"/>
                    <a:pt x="104" y="269"/>
                  </a:cubicBezTo>
                  <a:close/>
                </a:path>
              </a:pathLst>
            </a:custGeom>
            <a:noFill/>
            <a:ln w="11113" cap="flat">
              <a:solidFill>
                <a:srgbClr val="A0BAB8"/>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99" name="Freeform 650"/>
            <p:cNvSpPr>
              <a:spLocks/>
            </p:cNvSpPr>
            <p:nvPr/>
          </p:nvSpPr>
          <p:spPr bwMode="auto">
            <a:xfrm>
              <a:off x="2328863" y="1590675"/>
              <a:ext cx="550862" cy="284163"/>
            </a:xfrm>
            <a:custGeom>
              <a:avLst/>
              <a:gdLst>
                <a:gd name="T0" fmla="*/ 199 w 201"/>
                <a:gd name="T1" fmla="*/ 55 h 104"/>
                <a:gd name="T2" fmla="*/ 94 w 201"/>
                <a:gd name="T3" fmla="*/ 104 h 104"/>
                <a:gd name="T4" fmla="*/ 0 w 201"/>
                <a:gd name="T5" fmla="*/ 52 h 104"/>
                <a:gd name="T6" fmla="*/ 94 w 201"/>
                <a:gd name="T7" fmla="*/ 0 h 104"/>
                <a:gd name="T8" fmla="*/ 199 w 201"/>
                <a:gd name="T9" fmla="*/ 55 h 104"/>
              </a:gdLst>
              <a:ahLst/>
              <a:cxnLst>
                <a:cxn ang="0">
                  <a:pos x="T0" y="T1"/>
                </a:cxn>
                <a:cxn ang="0">
                  <a:pos x="T2" y="T3"/>
                </a:cxn>
                <a:cxn ang="0">
                  <a:pos x="T4" y="T5"/>
                </a:cxn>
                <a:cxn ang="0">
                  <a:pos x="T6" y="T7"/>
                </a:cxn>
                <a:cxn ang="0">
                  <a:pos x="T8" y="T9"/>
                </a:cxn>
              </a:cxnLst>
              <a:rect l="0" t="0" r="r" b="b"/>
              <a:pathLst>
                <a:path w="201" h="104">
                  <a:moveTo>
                    <a:pt x="199" y="55"/>
                  </a:moveTo>
                  <a:cubicBezTo>
                    <a:pt x="201" y="95"/>
                    <a:pt x="146" y="104"/>
                    <a:pt x="94" y="104"/>
                  </a:cubicBezTo>
                  <a:cubicBezTo>
                    <a:pt x="42" y="104"/>
                    <a:pt x="0" y="81"/>
                    <a:pt x="0" y="52"/>
                  </a:cubicBezTo>
                  <a:cubicBezTo>
                    <a:pt x="0" y="23"/>
                    <a:pt x="42" y="0"/>
                    <a:pt x="94" y="0"/>
                  </a:cubicBezTo>
                  <a:cubicBezTo>
                    <a:pt x="146" y="0"/>
                    <a:pt x="198" y="26"/>
                    <a:pt x="199" y="55"/>
                  </a:cubicBezTo>
                  <a:close/>
                </a:path>
              </a:pathLst>
            </a:custGeom>
            <a:solidFill>
              <a:srgbClr val="000000"/>
            </a:solidFill>
            <a:ln w="11113" cap="flat">
              <a:solidFill>
                <a:srgbClr val="000000"/>
              </a:solidFill>
              <a:prstDash val="solid"/>
              <a:miter lim="800000"/>
              <a:headEnd/>
              <a:tailEnd/>
            </a:ln>
          </p:spPr>
          <p:txBody>
            <a:bodyPr/>
            <a:lstStyle/>
            <a:p>
              <a:endParaRPr lang="en-US" sz="1200">
                <a:latin typeface="Arial" pitchFamily="34" charset="0"/>
                <a:cs typeface="Arial" pitchFamily="34" charset="0"/>
              </a:endParaRPr>
            </a:p>
          </p:txBody>
        </p:sp>
        <p:pic>
          <p:nvPicPr>
            <p:cNvPr id="100" name="Picture 651"/>
            <p:cNvPicPr>
              <a:picLocks noChangeAspect="1" noChangeArrowheads="1"/>
            </p:cNvPicPr>
            <p:nvPr/>
          </p:nvPicPr>
          <p:blipFill>
            <a:blip r:embed="rId37" cstate="print">
              <a:extLst>
                <a:ext uri="{28A0092B-C50C-407E-A947-70E740481C1C}">
                  <a14:useLocalDpi xmlns:a14="http://schemas.microsoft.com/office/drawing/2010/main" val="0"/>
                </a:ext>
              </a:extLst>
            </a:blip>
            <a:srcRect/>
            <a:stretch>
              <a:fillRect/>
            </a:stretch>
          </p:blipFill>
          <p:spPr bwMode="auto">
            <a:xfrm>
              <a:off x="2309813" y="1574800"/>
              <a:ext cx="58420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 name="Freeform 652"/>
            <p:cNvSpPr>
              <a:spLocks/>
            </p:cNvSpPr>
            <p:nvPr/>
          </p:nvSpPr>
          <p:spPr bwMode="auto">
            <a:xfrm>
              <a:off x="2325688" y="1579563"/>
              <a:ext cx="550862" cy="280987"/>
            </a:xfrm>
            <a:custGeom>
              <a:avLst/>
              <a:gdLst>
                <a:gd name="T0" fmla="*/ 199 w 201"/>
                <a:gd name="T1" fmla="*/ 54 h 103"/>
                <a:gd name="T2" fmla="*/ 94 w 201"/>
                <a:gd name="T3" fmla="*/ 103 h 103"/>
                <a:gd name="T4" fmla="*/ 0 w 201"/>
                <a:gd name="T5" fmla="*/ 51 h 103"/>
                <a:gd name="T6" fmla="*/ 94 w 201"/>
                <a:gd name="T7" fmla="*/ 0 h 103"/>
                <a:gd name="T8" fmla="*/ 199 w 201"/>
                <a:gd name="T9" fmla="*/ 54 h 103"/>
              </a:gdLst>
              <a:ahLst/>
              <a:cxnLst>
                <a:cxn ang="0">
                  <a:pos x="T0" y="T1"/>
                </a:cxn>
                <a:cxn ang="0">
                  <a:pos x="T2" y="T3"/>
                </a:cxn>
                <a:cxn ang="0">
                  <a:pos x="T4" y="T5"/>
                </a:cxn>
                <a:cxn ang="0">
                  <a:pos x="T6" y="T7"/>
                </a:cxn>
                <a:cxn ang="0">
                  <a:pos x="T8" y="T9"/>
                </a:cxn>
              </a:cxnLst>
              <a:rect l="0" t="0" r="r" b="b"/>
              <a:pathLst>
                <a:path w="201" h="103">
                  <a:moveTo>
                    <a:pt x="199" y="54"/>
                  </a:moveTo>
                  <a:cubicBezTo>
                    <a:pt x="201" y="94"/>
                    <a:pt x="146" y="103"/>
                    <a:pt x="94" y="103"/>
                  </a:cubicBezTo>
                  <a:cubicBezTo>
                    <a:pt x="42" y="103"/>
                    <a:pt x="0" y="80"/>
                    <a:pt x="0" y="51"/>
                  </a:cubicBezTo>
                  <a:cubicBezTo>
                    <a:pt x="0" y="23"/>
                    <a:pt x="42" y="0"/>
                    <a:pt x="94" y="0"/>
                  </a:cubicBezTo>
                  <a:cubicBezTo>
                    <a:pt x="146" y="0"/>
                    <a:pt x="198" y="26"/>
                    <a:pt x="199" y="54"/>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02" name="Picture 653"/>
            <p:cNvPicPr>
              <a:picLocks noChangeAspect="1" noChangeArrowheads="1"/>
            </p:cNvPicPr>
            <p:nvPr/>
          </p:nvPicPr>
          <p:blipFill>
            <a:blip r:embed="rId38" cstate="print">
              <a:extLst>
                <a:ext uri="{28A0092B-C50C-407E-A947-70E740481C1C}">
                  <a14:useLocalDpi xmlns:a14="http://schemas.microsoft.com/office/drawing/2010/main" val="0"/>
                </a:ext>
              </a:extLst>
            </a:blip>
            <a:srcRect/>
            <a:stretch>
              <a:fillRect/>
            </a:stretch>
          </p:blipFill>
          <p:spPr bwMode="auto">
            <a:xfrm>
              <a:off x="2425700" y="1570038"/>
              <a:ext cx="336550" cy="16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654"/>
            <p:cNvSpPr>
              <a:spLocks/>
            </p:cNvSpPr>
            <p:nvPr/>
          </p:nvSpPr>
          <p:spPr bwMode="auto">
            <a:xfrm>
              <a:off x="2439988" y="1585913"/>
              <a:ext cx="301625" cy="130175"/>
            </a:xfrm>
            <a:custGeom>
              <a:avLst/>
              <a:gdLst>
                <a:gd name="T0" fmla="*/ 110 w 110"/>
                <a:gd name="T1" fmla="*/ 25 h 48"/>
                <a:gd name="T2" fmla="*/ 55 w 110"/>
                <a:gd name="T3" fmla="*/ 48 h 48"/>
                <a:gd name="T4" fmla="*/ 0 w 110"/>
                <a:gd name="T5" fmla="*/ 25 h 48"/>
                <a:gd name="T6" fmla="*/ 55 w 110"/>
                <a:gd name="T7" fmla="*/ 0 h 48"/>
                <a:gd name="T8" fmla="*/ 110 w 110"/>
                <a:gd name="T9" fmla="*/ 25 h 48"/>
              </a:gdLst>
              <a:ahLst/>
              <a:cxnLst>
                <a:cxn ang="0">
                  <a:pos x="T0" y="T1"/>
                </a:cxn>
                <a:cxn ang="0">
                  <a:pos x="T2" y="T3"/>
                </a:cxn>
                <a:cxn ang="0">
                  <a:pos x="T4" y="T5"/>
                </a:cxn>
                <a:cxn ang="0">
                  <a:pos x="T6" y="T7"/>
                </a:cxn>
                <a:cxn ang="0">
                  <a:pos x="T8" y="T9"/>
                </a:cxn>
              </a:cxnLst>
              <a:rect l="0" t="0" r="r" b="b"/>
              <a:pathLst>
                <a:path w="110" h="48">
                  <a:moveTo>
                    <a:pt x="110" y="25"/>
                  </a:moveTo>
                  <a:cubicBezTo>
                    <a:pt x="110" y="38"/>
                    <a:pt x="86" y="48"/>
                    <a:pt x="55" y="48"/>
                  </a:cubicBezTo>
                  <a:cubicBezTo>
                    <a:pt x="25" y="48"/>
                    <a:pt x="0" y="38"/>
                    <a:pt x="0" y="25"/>
                  </a:cubicBezTo>
                  <a:cubicBezTo>
                    <a:pt x="0" y="12"/>
                    <a:pt x="24" y="0"/>
                    <a:pt x="55" y="0"/>
                  </a:cubicBezTo>
                  <a:cubicBezTo>
                    <a:pt x="85" y="0"/>
                    <a:pt x="110" y="12"/>
                    <a:pt x="110" y="25"/>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04" name="Picture 655"/>
            <p:cNvPicPr>
              <a:picLocks noChangeAspect="1" noChangeArrowheads="1"/>
            </p:cNvPicPr>
            <p:nvPr/>
          </p:nvPicPr>
          <p:blipFill>
            <a:blip r:embed="rId39" cstate="print">
              <a:extLst>
                <a:ext uri="{28A0092B-C50C-407E-A947-70E740481C1C}">
                  <a14:useLocalDpi xmlns:a14="http://schemas.microsoft.com/office/drawing/2010/main" val="0"/>
                </a:ext>
              </a:extLst>
            </a:blip>
            <a:srcRect/>
            <a:stretch>
              <a:fillRect/>
            </a:stretch>
          </p:blipFill>
          <p:spPr bwMode="auto">
            <a:xfrm>
              <a:off x="2514600" y="1593850"/>
              <a:ext cx="155575" cy="9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Oval 656"/>
            <p:cNvSpPr>
              <a:spLocks noChangeArrowheads="1"/>
            </p:cNvSpPr>
            <p:nvPr/>
          </p:nvSpPr>
          <p:spPr bwMode="auto">
            <a:xfrm>
              <a:off x="2530475" y="1609725"/>
              <a:ext cx="123825" cy="65088"/>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106" name="Line 657"/>
            <p:cNvSpPr>
              <a:spLocks noChangeShapeType="1"/>
            </p:cNvSpPr>
            <p:nvPr/>
          </p:nvSpPr>
          <p:spPr bwMode="auto">
            <a:xfrm flipV="1">
              <a:off x="1816101" y="2400300"/>
              <a:ext cx="12700" cy="2388394"/>
            </a:xfrm>
            <a:prstGeom prst="line">
              <a:avLst/>
            </a:prstGeom>
            <a:noFill/>
            <a:ln w="127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200">
                <a:latin typeface="Arial" pitchFamily="34" charset="0"/>
                <a:cs typeface="Arial" pitchFamily="34" charset="0"/>
              </a:endParaRPr>
            </a:p>
          </p:txBody>
        </p:sp>
        <p:sp>
          <p:nvSpPr>
            <p:cNvPr id="107" name="Line 658"/>
            <p:cNvSpPr>
              <a:spLocks noChangeShapeType="1"/>
            </p:cNvSpPr>
            <p:nvPr/>
          </p:nvSpPr>
          <p:spPr bwMode="auto">
            <a:xfrm flipV="1">
              <a:off x="1979613" y="2400299"/>
              <a:ext cx="0" cy="2390775"/>
            </a:xfrm>
            <a:prstGeom prst="line">
              <a:avLst/>
            </a:prstGeom>
            <a:noFill/>
            <a:ln w="127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200">
                <a:latin typeface="Arial" pitchFamily="34" charset="0"/>
                <a:cs typeface="Arial" pitchFamily="34" charset="0"/>
              </a:endParaRPr>
            </a:p>
          </p:txBody>
        </p:sp>
        <p:sp>
          <p:nvSpPr>
            <p:cNvPr id="108" name="Line 659"/>
            <p:cNvSpPr>
              <a:spLocks noChangeShapeType="1"/>
            </p:cNvSpPr>
            <p:nvPr/>
          </p:nvSpPr>
          <p:spPr bwMode="auto">
            <a:xfrm flipH="1" flipV="1">
              <a:off x="3214715" y="2400299"/>
              <a:ext cx="9498" cy="2390775"/>
            </a:xfrm>
            <a:prstGeom prst="line">
              <a:avLst/>
            </a:prstGeom>
            <a:noFill/>
            <a:ln w="127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200">
                <a:latin typeface="Arial" pitchFamily="34" charset="0"/>
                <a:cs typeface="Arial" pitchFamily="34" charset="0"/>
              </a:endParaRPr>
            </a:p>
          </p:txBody>
        </p:sp>
        <p:sp>
          <p:nvSpPr>
            <p:cNvPr id="109" name="Line 660"/>
            <p:cNvSpPr>
              <a:spLocks noChangeShapeType="1"/>
            </p:cNvSpPr>
            <p:nvPr/>
          </p:nvSpPr>
          <p:spPr bwMode="auto">
            <a:xfrm flipV="1">
              <a:off x="3369482" y="2400300"/>
              <a:ext cx="7171" cy="2408238"/>
            </a:xfrm>
            <a:prstGeom prst="line">
              <a:avLst/>
            </a:prstGeom>
            <a:noFill/>
            <a:ln w="127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200">
                <a:latin typeface="Arial" pitchFamily="34" charset="0"/>
                <a:cs typeface="Arial" pitchFamily="34" charset="0"/>
              </a:endParaRPr>
            </a:p>
          </p:txBody>
        </p:sp>
        <p:sp>
          <p:nvSpPr>
            <p:cNvPr id="110" name="Line 661"/>
            <p:cNvSpPr>
              <a:spLocks noChangeShapeType="1"/>
            </p:cNvSpPr>
            <p:nvPr/>
          </p:nvSpPr>
          <p:spPr bwMode="auto">
            <a:xfrm flipH="1">
              <a:off x="3541713" y="1984375"/>
              <a:ext cx="315913" cy="330200"/>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111" name="Rectangle 662"/>
            <p:cNvSpPr>
              <a:spLocks noChangeArrowheads="1"/>
            </p:cNvSpPr>
            <p:nvPr/>
          </p:nvSpPr>
          <p:spPr bwMode="auto">
            <a:xfrm>
              <a:off x="3923275" y="1682202"/>
              <a:ext cx="830079" cy="196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Сектор</a:t>
              </a:r>
            </a:p>
          </p:txBody>
        </p:sp>
        <p:sp>
          <p:nvSpPr>
            <p:cNvPr id="112" name="Line 663"/>
            <p:cNvSpPr>
              <a:spLocks noChangeShapeType="1"/>
            </p:cNvSpPr>
            <p:nvPr/>
          </p:nvSpPr>
          <p:spPr bwMode="auto">
            <a:xfrm>
              <a:off x="1330963" y="2264725"/>
              <a:ext cx="631825" cy="0"/>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113" name="Rectangle 664"/>
            <p:cNvSpPr>
              <a:spLocks noChangeArrowheads="1"/>
            </p:cNvSpPr>
            <p:nvPr/>
          </p:nvSpPr>
          <p:spPr bwMode="auto">
            <a:xfrm>
              <a:off x="360749" y="2119301"/>
              <a:ext cx="852245" cy="196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Дорожка</a:t>
              </a:r>
            </a:p>
          </p:txBody>
        </p:sp>
        <p:sp>
          <p:nvSpPr>
            <p:cNvPr id="114" name="Line 665"/>
            <p:cNvSpPr>
              <a:spLocks noChangeShapeType="1"/>
            </p:cNvSpPr>
            <p:nvPr/>
          </p:nvSpPr>
          <p:spPr bwMode="auto">
            <a:xfrm>
              <a:off x="912813" y="4305300"/>
              <a:ext cx="842962" cy="0"/>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115" name="Rectangle 666"/>
            <p:cNvSpPr>
              <a:spLocks noChangeArrowheads="1"/>
            </p:cNvSpPr>
            <p:nvPr/>
          </p:nvSpPr>
          <p:spPr bwMode="auto">
            <a:xfrm>
              <a:off x="-24199" y="4168730"/>
              <a:ext cx="962371" cy="196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Цилиндр</a:t>
              </a:r>
            </a:p>
          </p:txBody>
        </p:sp>
        <p:sp>
          <p:nvSpPr>
            <p:cNvPr id="116" name="Rectangle 667"/>
            <p:cNvSpPr>
              <a:spLocks noChangeArrowheads="1"/>
            </p:cNvSpPr>
            <p:nvPr/>
          </p:nvSpPr>
          <p:spPr bwMode="auto">
            <a:xfrm>
              <a:off x="72038" y="1638733"/>
              <a:ext cx="1258925" cy="196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Шпиндель</a:t>
              </a:r>
            </a:p>
          </p:txBody>
        </p:sp>
        <p:sp>
          <p:nvSpPr>
            <p:cNvPr id="117" name="Line 668"/>
            <p:cNvSpPr>
              <a:spLocks noChangeShapeType="1"/>
            </p:cNvSpPr>
            <p:nvPr/>
          </p:nvSpPr>
          <p:spPr bwMode="auto">
            <a:xfrm>
              <a:off x="1334295" y="1778000"/>
              <a:ext cx="1166018" cy="0"/>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grpSp>
      <p:sp>
        <p:nvSpPr>
          <p:cNvPr id="118" name="TextBox 11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623988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Адресация логического блока</a:t>
            </a:r>
          </a:p>
        </p:txBody>
      </p:sp>
      <p:sp>
        <p:nvSpPr>
          <p:cNvPr id="16" name="AutoShape 1294"/>
          <p:cNvSpPr>
            <a:spLocks noChangeAspect="1" noChangeArrowheads="1" noTextEdit="1"/>
          </p:cNvSpPr>
          <p:nvPr/>
        </p:nvSpPr>
        <p:spPr bwMode="auto">
          <a:xfrm>
            <a:off x="2160488" y="772532"/>
            <a:ext cx="1771094" cy="4126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cs typeface="Arial" pitchFamily="34" charset="0"/>
            </a:endParaRPr>
          </a:p>
        </p:txBody>
      </p:sp>
      <p:grpSp>
        <p:nvGrpSpPr>
          <p:cNvPr id="3" name="Group 2"/>
          <p:cNvGrpSpPr/>
          <p:nvPr/>
        </p:nvGrpSpPr>
        <p:grpSpPr>
          <a:xfrm>
            <a:off x="1049272" y="824739"/>
            <a:ext cx="6914161" cy="4126896"/>
            <a:chOff x="1049272" y="824739"/>
            <a:chExt cx="6914161" cy="4126896"/>
          </a:xfrm>
        </p:grpSpPr>
        <p:sp>
          <p:nvSpPr>
            <p:cNvPr id="7" name="Freeform 696"/>
            <p:cNvSpPr>
              <a:spLocks/>
            </p:cNvSpPr>
            <p:nvPr/>
          </p:nvSpPr>
          <p:spPr bwMode="auto">
            <a:xfrm>
              <a:off x="2481556" y="2777197"/>
              <a:ext cx="1305" cy="0"/>
            </a:xfrm>
            <a:custGeom>
              <a:avLst/>
              <a:gdLst>
                <a:gd name="T0" fmla="*/ 4 w 4"/>
                <a:gd name="T1" fmla="*/ 1 h 1"/>
                <a:gd name="T2" fmla="*/ 1 w 4"/>
                <a:gd name="T3" fmla="*/ 0 h 1"/>
                <a:gd name="T4" fmla="*/ 0 w 4"/>
                <a:gd name="T5" fmla="*/ 1 h 1"/>
                <a:gd name="T6" fmla="*/ 4 w 4"/>
                <a:gd name="T7" fmla="*/ 1 h 1"/>
              </a:gdLst>
              <a:ahLst/>
              <a:cxnLst>
                <a:cxn ang="0">
                  <a:pos x="T0" y="T1"/>
                </a:cxn>
                <a:cxn ang="0">
                  <a:pos x="T2" y="T3"/>
                </a:cxn>
                <a:cxn ang="0">
                  <a:pos x="T4" y="T5"/>
                </a:cxn>
                <a:cxn ang="0">
                  <a:pos x="T6" y="T7"/>
                </a:cxn>
              </a:cxnLst>
              <a:rect l="0" t="0" r="r" b="b"/>
              <a:pathLst>
                <a:path w="4" h="1">
                  <a:moveTo>
                    <a:pt x="4" y="1"/>
                  </a:moveTo>
                  <a:lnTo>
                    <a:pt x="1" y="0"/>
                  </a:lnTo>
                  <a:lnTo>
                    <a:pt x="0" y="1"/>
                  </a:lnTo>
                  <a:lnTo>
                    <a:pt x="4"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sp>
          <p:nvSpPr>
            <p:cNvPr id="8" name="Freeform 697"/>
            <p:cNvSpPr>
              <a:spLocks/>
            </p:cNvSpPr>
            <p:nvPr/>
          </p:nvSpPr>
          <p:spPr bwMode="auto">
            <a:xfrm>
              <a:off x="2563780" y="2751094"/>
              <a:ext cx="1306" cy="1305"/>
            </a:xfrm>
            <a:custGeom>
              <a:avLst/>
              <a:gdLst>
                <a:gd name="T0" fmla="*/ 1 w 4"/>
                <a:gd name="T1" fmla="*/ 3 h 3"/>
                <a:gd name="T2" fmla="*/ 4 w 4"/>
                <a:gd name="T3" fmla="*/ 2 h 3"/>
                <a:gd name="T4" fmla="*/ 0 w 4"/>
                <a:gd name="T5" fmla="*/ 0 h 3"/>
                <a:gd name="T6" fmla="*/ 1 w 4"/>
                <a:gd name="T7" fmla="*/ 3 h 3"/>
              </a:gdLst>
              <a:ahLst/>
              <a:cxnLst>
                <a:cxn ang="0">
                  <a:pos x="T0" y="T1"/>
                </a:cxn>
                <a:cxn ang="0">
                  <a:pos x="T2" y="T3"/>
                </a:cxn>
                <a:cxn ang="0">
                  <a:pos x="T4" y="T5"/>
                </a:cxn>
                <a:cxn ang="0">
                  <a:pos x="T6" y="T7"/>
                </a:cxn>
              </a:cxnLst>
              <a:rect l="0" t="0" r="r" b="b"/>
              <a:pathLst>
                <a:path w="4" h="3">
                  <a:moveTo>
                    <a:pt x="1" y="3"/>
                  </a:moveTo>
                  <a:lnTo>
                    <a:pt x="4" y="2"/>
                  </a:lnTo>
                  <a:lnTo>
                    <a:pt x="0" y="0"/>
                  </a:lnTo>
                  <a:lnTo>
                    <a:pt x="1" y="3"/>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sp>
          <p:nvSpPr>
            <p:cNvPr id="9" name="Freeform 698"/>
            <p:cNvSpPr>
              <a:spLocks/>
            </p:cNvSpPr>
            <p:nvPr/>
          </p:nvSpPr>
          <p:spPr bwMode="auto">
            <a:xfrm>
              <a:off x="3139353" y="2396092"/>
              <a:ext cx="5221" cy="1305"/>
            </a:xfrm>
            <a:custGeom>
              <a:avLst/>
              <a:gdLst>
                <a:gd name="T0" fmla="*/ 12 w 12"/>
                <a:gd name="T1" fmla="*/ 4 h 4"/>
                <a:gd name="T2" fmla="*/ 0 w 12"/>
                <a:gd name="T3" fmla="*/ 0 h 4"/>
                <a:gd name="T4" fmla="*/ 11 w 12"/>
                <a:gd name="T5" fmla="*/ 4 h 4"/>
                <a:gd name="T6" fmla="*/ 12 w 12"/>
                <a:gd name="T7" fmla="*/ 4 h 4"/>
              </a:gdLst>
              <a:ahLst/>
              <a:cxnLst>
                <a:cxn ang="0">
                  <a:pos x="T0" y="T1"/>
                </a:cxn>
                <a:cxn ang="0">
                  <a:pos x="T2" y="T3"/>
                </a:cxn>
                <a:cxn ang="0">
                  <a:pos x="T4" y="T5"/>
                </a:cxn>
                <a:cxn ang="0">
                  <a:pos x="T6" y="T7"/>
                </a:cxn>
              </a:cxnLst>
              <a:rect l="0" t="0" r="r" b="b"/>
              <a:pathLst>
                <a:path w="12" h="4">
                  <a:moveTo>
                    <a:pt x="12" y="4"/>
                  </a:moveTo>
                  <a:lnTo>
                    <a:pt x="0" y="0"/>
                  </a:lnTo>
                  <a:lnTo>
                    <a:pt x="11" y="4"/>
                  </a:lnTo>
                  <a:lnTo>
                    <a:pt x="12" y="4"/>
                  </a:lnTo>
                  <a:close/>
                </a:path>
              </a:pathLst>
            </a:custGeom>
            <a:solidFill>
              <a:srgbClr val="D0D0D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sp>
          <p:nvSpPr>
            <p:cNvPr id="10" name="Freeform 699"/>
            <p:cNvSpPr>
              <a:spLocks/>
            </p:cNvSpPr>
            <p:nvPr/>
          </p:nvSpPr>
          <p:spPr bwMode="auto">
            <a:xfrm>
              <a:off x="3144574" y="2397397"/>
              <a:ext cx="0" cy="1306"/>
            </a:xfrm>
            <a:custGeom>
              <a:avLst/>
              <a:gdLst>
                <a:gd name="T0" fmla="*/ 1 w 2"/>
                <a:gd name="T1" fmla="*/ 0 h 2"/>
                <a:gd name="T2" fmla="*/ 0 w 2"/>
                <a:gd name="T3" fmla="*/ 0 h 2"/>
                <a:gd name="T4" fmla="*/ 2 w 2"/>
                <a:gd name="T5" fmla="*/ 2 h 2"/>
                <a:gd name="T6" fmla="*/ 2 w 2"/>
                <a:gd name="T7" fmla="*/ 0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lnTo>
                    <a:pt x="0" y="0"/>
                  </a:lnTo>
                  <a:lnTo>
                    <a:pt x="2" y="2"/>
                  </a:lnTo>
                  <a:lnTo>
                    <a:pt x="2" y="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sp>
          <p:nvSpPr>
            <p:cNvPr id="11" name="Freeform 700"/>
            <p:cNvSpPr>
              <a:spLocks/>
            </p:cNvSpPr>
            <p:nvPr/>
          </p:nvSpPr>
          <p:spPr bwMode="auto">
            <a:xfrm>
              <a:off x="3084537" y="2431331"/>
              <a:ext cx="1305" cy="0"/>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lnTo>
                    <a:pt x="0" y="1"/>
                  </a:lnTo>
                  <a:lnTo>
                    <a:pt x="1" y="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sp>
          <p:nvSpPr>
            <p:cNvPr id="12" name="Freeform 701"/>
            <p:cNvSpPr>
              <a:spLocks/>
            </p:cNvSpPr>
            <p:nvPr/>
          </p:nvSpPr>
          <p:spPr bwMode="auto">
            <a:xfrm>
              <a:off x="3102809" y="2777197"/>
              <a:ext cx="0" cy="1305"/>
            </a:xfrm>
            <a:custGeom>
              <a:avLst/>
              <a:gdLst>
                <a:gd name="T0" fmla="*/ 2 w 2"/>
                <a:gd name="T1" fmla="*/ 4 h 4"/>
                <a:gd name="T2" fmla="*/ 2 w 2"/>
                <a:gd name="T3" fmla="*/ 0 h 4"/>
                <a:gd name="T4" fmla="*/ 0 w 2"/>
                <a:gd name="T5" fmla="*/ 2 h 4"/>
                <a:gd name="T6" fmla="*/ 2 w 2"/>
                <a:gd name="T7" fmla="*/ 4 h 4"/>
              </a:gdLst>
              <a:ahLst/>
              <a:cxnLst>
                <a:cxn ang="0">
                  <a:pos x="T0" y="T1"/>
                </a:cxn>
                <a:cxn ang="0">
                  <a:pos x="T2" y="T3"/>
                </a:cxn>
                <a:cxn ang="0">
                  <a:pos x="T4" y="T5"/>
                </a:cxn>
                <a:cxn ang="0">
                  <a:pos x="T6" y="T7"/>
                </a:cxn>
              </a:cxnLst>
              <a:rect l="0" t="0" r="r" b="b"/>
              <a:pathLst>
                <a:path w="2" h="4">
                  <a:moveTo>
                    <a:pt x="2" y="4"/>
                  </a:moveTo>
                  <a:lnTo>
                    <a:pt x="2" y="0"/>
                  </a:lnTo>
                  <a:lnTo>
                    <a:pt x="0" y="2"/>
                  </a:lnTo>
                  <a:lnTo>
                    <a:pt x="2"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sp>
          <p:nvSpPr>
            <p:cNvPr id="13" name="Freeform 702"/>
            <p:cNvSpPr>
              <a:spLocks/>
            </p:cNvSpPr>
            <p:nvPr/>
          </p:nvSpPr>
          <p:spPr bwMode="auto">
            <a:xfrm>
              <a:off x="3102809" y="2777197"/>
              <a:ext cx="2610" cy="0"/>
            </a:xfrm>
            <a:custGeom>
              <a:avLst/>
              <a:gdLst>
                <a:gd name="T0" fmla="*/ 2 w 4"/>
                <a:gd name="T1" fmla="*/ 0 h 1"/>
                <a:gd name="T2" fmla="*/ 0 w 4"/>
                <a:gd name="T3" fmla="*/ 1 h 1"/>
                <a:gd name="T4" fmla="*/ 4 w 4"/>
                <a:gd name="T5" fmla="*/ 1 h 1"/>
                <a:gd name="T6" fmla="*/ 2 w 4"/>
                <a:gd name="T7" fmla="*/ 0 h 1"/>
              </a:gdLst>
              <a:ahLst/>
              <a:cxnLst>
                <a:cxn ang="0">
                  <a:pos x="T0" y="T1"/>
                </a:cxn>
                <a:cxn ang="0">
                  <a:pos x="T2" y="T3"/>
                </a:cxn>
                <a:cxn ang="0">
                  <a:pos x="T4" y="T5"/>
                </a:cxn>
                <a:cxn ang="0">
                  <a:pos x="T6" y="T7"/>
                </a:cxn>
              </a:cxnLst>
              <a:rect l="0" t="0" r="r" b="b"/>
              <a:pathLst>
                <a:path w="4" h="1">
                  <a:moveTo>
                    <a:pt x="2" y="0"/>
                  </a:moveTo>
                  <a:lnTo>
                    <a:pt x="0" y="1"/>
                  </a:lnTo>
                  <a:lnTo>
                    <a:pt x="4" y="1"/>
                  </a:lnTo>
                  <a:lnTo>
                    <a:pt x="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sp>
          <p:nvSpPr>
            <p:cNvPr id="14" name="Freeform 703"/>
            <p:cNvSpPr>
              <a:spLocks/>
            </p:cNvSpPr>
            <p:nvPr/>
          </p:nvSpPr>
          <p:spPr bwMode="auto">
            <a:xfrm>
              <a:off x="2794792" y="2623189"/>
              <a:ext cx="1305" cy="0"/>
            </a:xfrm>
            <a:custGeom>
              <a:avLst/>
              <a:gdLst>
                <a:gd name="T0" fmla="*/ 0 w 3"/>
                <a:gd name="T1" fmla="*/ 1 h 1"/>
                <a:gd name="T2" fmla="*/ 3 w 3"/>
                <a:gd name="T3" fmla="*/ 1 h 1"/>
                <a:gd name="T4" fmla="*/ 0 w 3"/>
                <a:gd name="T5" fmla="*/ 0 h 1"/>
                <a:gd name="T6" fmla="*/ 0 w 3"/>
                <a:gd name="T7" fmla="*/ 1 h 1"/>
              </a:gdLst>
              <a:ahLst/>
              <a:cxnLst>
                <a:cxn ang="0">
                  <a:pos x="T0" y="T1"/>
                </a:cxn>
                <a:cxn ang="0">
                  <a:pos x="T2" y="T3"/>
                </a:cxn>
                <a:cxn ang="0">
                  <a:pos x="T4" y="T5"/>
                </a:cxn>
                <a:cxn ang="0">
                  <a:pos x="T6" y="T7"/>
                </a:cxn>
              </a:cxnLst>
              <a:rect l="0" t="0" r="r" b="b"/>
              <a:pathLst>
                <a:path w="3" h="1">
                  <a:moveTo>
                    <a:pt x="0" y="1"/>
                  </a:moveTo>
                  <a:lnTo>
                    <a:pt x="3" y="1"/>
                  </a:lnTo>
                  <a:lnTo>
                    <a:pt x="0" y="0"/>
                  </a:lnTo>
                  <a:lnTo>
                    <a:pt x="0" y="1"/>
                  </a:lnTo>
                  <a:close/>
                </a:path>
              </a:pathLst>
            </a:custGeom>
            <a:solidFill>
              <a:srgbClr val="E6E6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sp>
          <p:nvSpPr>
            <p:cNvPr id="15" name="Rectangle 1293"/>
            <p:cNvSpPr>
              <a:spLocks noChangeArrowheads="1"/>
            </p:cNvSpPr>
            <p:nvPr/>
          </p:nvSpPr>
          <p:spPr bwMode="auto">
            <a:xfrm>
              <a:off x="2117497" y="4400550"/>
              <a:ext cx="192949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Физический адрес = CHS</a:t>
              </a:r>
            </a:p>
          </p:txBody>
        </p:sp>
        <p:pic>
          <p:nvPicPr>
            <p:cNvPr id="17" name="Picture 13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2253" y="3316225"/>
              <a:ext cx="1764568" cy="882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Freeform 1324"/>
            <p:cNvSpPr>
              <a:spLocks/>
            </p:cNvSpPr>
            <p:nvPr/>
          </p:nvSpPr>
          <p:spPr bwMode="auto">
            <a:xfrm>
              <a:off x="2207473" y="3331887"/>
              <a:ext cx="1755431" cy="852266"/>
            </a:xfrm>
            <a:custGeom>
              <a:avLst/>
              <a:gdLst>
                <a:gd name="T0" fmla="*/ 778 w 779"/>
                <a:gd name="T1" fmla="*/ 161 h 380"/>
                <a:gd name="T2" fmla="*/ 388 w 779"/>
                <a:gd name="T3" fmla="*/ 0 h 380"/>
                <a:gd name="T4" fmla="*/ 0 w 779"/>
                <a:gd name="T5" fmla="*/ 176 h 380"/>
                <a:gd name="T6" fmla="*/ 0 w 779"/>
                <a:gd name="T7" fmla="*/ 187 h 380"/>
                <a:gd name="T8" fmla="*/ 386 w 779"/>
                <a:gd name="T9" fmla="*/ 379 h 380"/>
                <a:gd name="T10" fmla="*/ 779 w 779"/>
                <a:gd name="T11" fmla="*/ 183 h 380"/>
                <a:gd name="T12" fmla="*/ 778 w 779"/>
                <a:gd name="T13" fmla="*/ 161 h 380"/>
              </a:gdLst>
              <a:ahLst/>
              <a:cxnLst>
                <a:cxn ang="0">
                  <a:pos x="T0" y="T1"/>
                </a:cxn>
                <a:cxn ang="0">
                  <a:pos x="T2" y="T3"/>
                </a:cxn>
                <a:cxn ang="0">
                  <a:pos x="T4" y="T5"/>
                </a:cxn>
                <a:cxn ang="0">
                  <a:pos x="T6" y="T7"/>
                </a:cxn>
                <a:cxn ang="0">
                  <a:pos x="T8" y="T9"/>
                </a:cxn>
                <a:cxn ang="0">
                  <a:pos x="T10" y="T11"/>
                </a:cxn>
                <a:cxn ang="0">
                  <a:pos x="T12" y="T13"/>
                </a:cxn>
              </a:cxnLst>
              <a:rect l="0" t="0" r="r" b="b"/>
              <a:pathLst>
                <a:path w="779" h="380">
                  <a:moveTo>
                    <a:pt x="778" y="161"/>
                  </a:moveTo>
                  <a:cubicBezTo>
                    <a:pt x="778" y="64"/>
                    <a:pt x="602" y="0"/>
                    <a:pt x="388" y="0"/>
                  </a:cubicBezTo>
                  <a:cubicBezTo>
                    <a:pt x="174" y="0"/>
                    <a:pt x="0" y="79"/>
                    <a:pt x="0" y="176"/>
                  </a:cubicBezTo>
                  <a:cubicBezTo>
                    <a:pt x="0" y="183"/>
                    <a:pt x="0" y="184"/>
                    <a:pt x="0" y="187"/>
                  </a:cubicBezTo>
                  <a:cubicBezTo>
                    <a:pt x="4" y="265"/>
                    <a:pt x="148" y="380"/>
                    <a:pt x="386" y="379"/>
                  </a:cubicBezTo>
                  <a:cubicBezTo>
                    <a:pt x="658" y="378"/>
                    <a:pt x="777" y="252"/>
                    <a:pt x="779" y="183"/>
                  </a:cubicBezTo>
                  <a:cubicBezTo>
                    <a:pt x="779" y="183"/>
                    <a:pt x="778" y="165"/>
                    <a:pt x="778" y="161"/>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9" name="Picture 132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02253" y="3237916"/>
              <a:ext cx="1764568" cy="92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Oval 1326"/>
            <p:cNvSpPr>
              <a:spLocks noChangeArrowheads="1"/>
            </p:cNvSpPr>
            <p:nvPr/>
          </p:nvSpPr>
          <p:spPr bwMode="auto">
            <a:xfrm>
              <a:off x="2210084" y="3254883"/>
              <a:ext cx="1743685" cy="897946"/>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21" name="Picture 132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09275" y="3296648"/>
              <a:ext cx="1549217" cy="80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Oval 1328"/>
            <p:cNvSpPr>
              <a:spLocks noChangeArrowheads="1"/>
            </p:cNvSpPr>
            <p:nvPr/>
          </p:nvSpPr>
          <p:spPr bwMode="auto">
            <a:xfrm>
              <a:off x="2324937" y="3311005"/>
              <a:ext cx="1516589" cy="772651"/>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23" name="Oval 1329"/>
            <p:cNvSpPr>
              <a:spLocks noChangeArrowheads="1"/>
            </p:cNvSpPr>
            <p:nvPr/>
          </p:nvSpPr>
          <p:spPr bwMode="auto">
            <a:xfrm>
              <a:off x="2439791" y="3367127"/>
              <a:ext cx="1286882" cy="642136"/>
            </a:xfrm>
            <a:prstGeom prst="ellipse">
              <a:avLst/>
            </a:prstGeom>
            <a:solidFill>
              <a:srgbClr val="FFFFFF"/>
            </a:solidFill>
            <a:ln w="11113">
              <a:solidFill>
                <a:srgbClr val="000000"/>
              </a:solidFill>
              <a:miter lim="800000"/>
              <a:headEnd/>
              <a:tailEnd/>
            </a:ln>
          </p:spPr>
          <p:txBody>
            <a:bodyPr/>
            <a:lstStyle/>
            <a:p>
              <a:endParaRPr lang="en-US" sz="1200">
                <a:latin typeface="Arial" pitchFamily="34" charset="0"/>
                <a:cs typeface="Arial" pitchFamily="34" charset="0"/>
              </a:endParaRPr>
            </a:p>
          </p:txBody>
        </p:sp>
        <p:pic>
          <p:nvPicPr>
            <p:cNvPr id="24" name="Picture 133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54644" y="3419333"/>
              <a:ext cx="1054564" cy="539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Oval 1331"/>
            <p:cNvSpPr>
              <a:spLocks noChangeArrowheads="1"/>
            </p:cNvSpPr>
            <p:nvPr/>
          </p:nvSpPr>
          <p:spPr bwMode="auto">
            <a:xfrm>
              <a:off x="2567696" y="3432384"/>
              <a:ext cx="1029766" cy="51162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26" name="Picture 133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695601" y="3491116"/>
              <a:ext cx="776566" cy="39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Oval 1333"/>
            <p:cNvSpPr>
              <a:spLocks noChangeArrowheads="1"/>
            </p:cNvSpPr>
            <p:nvPr/>
          </p:nvSpPr>
          <p:spPr bwMode="auto">
            <a:xfrm>
              <a:off x="2707347" y="3502863"/>
              <a:ext cx="747854" cy="371968"/>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28" name="Picture 133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063654" y="3863085"/>
              <a:ext cx="33934" cy="30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Line 1335"/>
            <p:cNvSpPr>
              <a:spLocks noChangeShapeType="1"/>
            </p:cNvSpPr>
            <p:nvPr/>
          </p:nvSpPr>
          <p:spPr bwMode="auto">
            <a:xfrm flipH="1">
              <a:off x="3076706" y="3874831"/>
              <a:ext cx="6525" cy="27799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30" name="Picture 1336"/>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061044" y="3240526"/>
              <a:ext cx="27408" cy="27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Line 1337"/>
            <p:cNvSpPr>
              <a:spLocks noChangeShapeType="1"/>
            </p:cNvSpPr>
            <p:nvPr/>
          </p:nvSpPr>
          <p:spPr bwMode="auto">
            <a:xfrm>
              <a:off x="3075400" y="3254883"/>
              <a:ext cx="0" cy="247979"/>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32" name="Picture 1338"/>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447369" y="3675143"/>
              <a:ext cx="519451" cy="2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Line 1339"/>
            <p:cNvSpPr>
              <a:spLocks noChangeShapeType="1"/>
            </p:cNvSpPr>
            <p:nvPr/>
          </p:nvSpPr>
          <p:spPr bwMode="auto">
            <a:xfrm>
              <a:off x="3460421" y="3688194"/>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34" name="Picture 1340"/>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202253" y="3673837"/>
              <a:ext cx="520756" cy="2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Line 1341"/>
            <p:cNvSpPr>
              <a:spLocks noChangeShapeType="1"/>
            </p:cNvSpPr>
            <p:nvPr/>
          </p:nvSpPr>
          <p:spPr bwMode="auto">
            <a:xfrm>
              <a:off x="2207473" y="3688194"/>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36" name="Line 1342"/>
            <p:cNvSpPr>
              <a:spLocks noChangeShapeType="1"/>
            </p:cNvSpPr>
            <p:nvPr/>
          </p:nvSpPr>
          <p:spPr bwMode="auto">
            <a:xfrm flipH="1">
              <a:off x="2455452" y="3827845"/>
              <a:ext cx="373274" cy="19055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37" name="Picture 134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341652" y="3376262"/>
              <a:ext cx="378495" cy="200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Line 1344"/>
            <p:cNvSpPr>
              <a:spLocks noChangeShapeType="1"/>
            </p:cNvSpPr>
            <p:nvPr/>
          </p:nvSpPr>
          <p:spPr bwMode="auto">
            <a:xfrm flipH="1">
              <a:off x="3356009" y="3388009"/>
              <a:ext cx="353696" cy="17750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39" name="Picture 1345"/>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464588" y="3364516"/>
              <a:ext cx="378495" cy="20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Line 1346"/>
            <p:cNvSpPr>
              <a:spLocks noChangeShapeType="1"/>
            </p:cNvSpPr>
            <p:nvPr/>
          </p:nvSpPr>
          <p:spPr bwMode="auto">
            <a:xfrm flipH="1" flipV="1">
              <a:off x="2477640" y="3376262"/>
              <a:ext cx="353697" cy="17750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41" name="Line 1347"/>
            <p:cNvSpPr>
              <a:spLocks noChangeShapeType="1"/>
            </p:cNvSpPr>
            <p:nvPr/>
          </p:nvSpPr>
          <p:spPr bwMode="auto">
            <a:xfrm>
              <a:off x="3361229" y="3814794"/>
              <a:ext cx="373274" cy="18533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42" name="Freeform 1348"/>
            <p:cNvSpPr>
              <a:spLocks/>
            </p:cNvSpPr>
            <p:nvPr/>
          </p:nvSpPr>
          <p:spPr bwMode="auto">
            <a:xfrm>
              <a:off x="3079316" y="3254883"/>
              <a:ext cx="623864" cy="168364"/>
            </a:xfrm>
            <a:custGeom>
              <a:avLst/>
              <a:gdLst>
                <a:gd name="T0" fmla="*/ 0 w 277"/>
                <a:gd name="T1" fmla="*/ 0 h 75"/>
                <a:gd name="T2" fmla="*/ 1 w 277"/>
                <a:gd name="T3" fmla="*/ 23 h 75"/>
                <a:gd name="T4" fmla="*/ 246 w 277"/>
                <a:gd name="T5" fmla="*/ 75 h 75"/>
                <a:gd name="T6" fmla="*/ 277 w 277"/>
                <a:gd name="T7" fmla="*/ 58 h 75"/>
                <a:gd name="T8" fmla="*/ 0 w 277"/>
                <a:gd name="T9" fmla="*/ 0 h 75"/>
              </a:gdLst>
              <a:ahLst/>
              <a:cxnLst>
                <a:cxn ang="0">
                  <a:pos x="T0" y="T1"/>
                </a:cxn>
                <a:cxn ang="0">
                  <a:pos x="T2" y="T3"/>
                </a:cxn>
                <a:cxn ang="0">
                  <a:pos x="T4" y="T5"/>
                </a:cxn>
                <a:cxn ang="0">
                  <a:pos x="T6" y="T7"/>
                </a:cxn>
                <a:cxn ang="0">
                  <a:pos x="T8" y="T9"/>
                </a:cxn>
              </a:cxnLst>
              <a:rect l="0" t="0" r="r" b="b"/>
              <a:pathLst>
                <a:path w="277" h="75">
                  <a:moveTo>
                    <a:pt x="0" y="0"/>
                  </a:moveTo>
                  <a:cubicBezTo>
                    <a:pt x="0" y="0"/>
                    <a:pt x="1" y="15"/>
                    <a:pt x="1" y="23"/>
                  </a:cubicBezTo>
                  <a:cubicBezTo>
                    <a:pt x="44" y="23"/>
                    <a:pt x="149" y="27"/>
                    <a:pt x="246" y="75"/>
                  </a:cubicBezTo>
                  <a:cubicBezTo>
                    <a:pt x="260" y="67"/>
                    <a:pt x="277" y="58"/>
                    <a:pt x="277" y="58"/>
                  </a:cubicBezTo>
                  <a:cubicBezTo>
                    <a:pt x="277" y="58"/>
                    <a:pt x="174"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pic>
          <p:nvPicPr>
            <p:cNvPr id="43" name="Picture 1349"/>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952716" y="3057805"/>
              <a:ext cx="263641" cy="70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Freeform 1350"/>
            <p:cNvSpPr>
              <a:spLocks/>
            </p:cNvSpPr>
            <p:nvPr/>
          </p:nvSpPr>
          <p:spPr bwMode="auto">
            <a:xfrm>
              <a:off x="2967073" y="3069552"/>
              <a:ext cx="236232" cy="681290"/>
            </a:xfrm>
            <a:custGeom>
              <a:avLst/>
              <a:gdLst>
                <a:gd name="T0" fmla="*/ 104 w 105"/>
                <a:gd name="T1" fmla="*/ 264 h 304"/>
                <a:gd name="T2" fmla="*/ 104 w 105"/>
                <a:gd name="T3" fmla="*/ 0 h 304"/>
                <a:gd name="T4" fmla="*/ 0 w 105"/>
                <a:gd name="T5" fmla="*/ 0 h 304"/>
                <a:gd name="T6" fmla="*/ 0 w 105"/>
                <a:gd name="T7" fmla="*/ 274 h 304"/>
                <a:gd name="T8" fmla="*/ 0 w 105"/>
                <a:gd name="T9" fmla="*/ 274 h 304"/>
                <a:gd name="T10" fmla="*/ 52 w 105"/>
                <a:gd name="T11" fmla="*/ 304 h 304"/>
                <a:gd name="T12" fmla="*/ 105 w 105"/>
                <a:gd name="T13" fmla="*/ 270 h 304"/>
                <a:gd name="T14" fmla="*/ 104 w 105"/>
                <a:gd name="T15" fmla="*/ 264 h 3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04">
                  <a:moveTo>
                    <a:pt x="104" y="264"/>
                  </a:moveTo>
                  <a:cubicBezTo>
                    <a:pt x="104" y="0"/>
                    <a:pt x="104" y="0"/>
                    <a:pt x="104" y="0"/>
                  </a:cubicBezTo>
                  <a:cubicBezTo>
                    <a:pt x="0" y="0"/>
                    <a:pt x="0" y="0"/>
                    <a:pt x="0" y="0"/>
                  </a:cubicBezTo>
                  <a:cubicBezTo>
                    <a:pt x="0" y="274"/>
                    <a:pt x="0" y="274"/>
                    <a:pt x="0" y="274"/>
                  </a:cubicBezTo>
                  <a:cubicBezTo>
                    <a:pt x="0" y="274"/>
                    <a:pt x="0" y="274"/>
                    <a:pt x="0" y="274"/>
                  </a:cubicBezTo>
                  <a:cubicBezTo>
                    <a:pt x="3" y="291"/>
                    <a:pt x="25" y="304"/>
                    <a:pt x="52" y="304"/>
                  </a:cubicBezTo>
                  <a:cubicBezTo>
                    <a:pt x="81" y="304"/>
                    <a:pt x="105" y="289"/>
                    <a:pt x="105" y="270"/>
                  </a:cubicBezTo>
                  <a:cubicBezTo>
                    <a:pt x="105" y="268"/>
                    <a:pt x="104" y="266"/>
                    <a:pt x="104" y="264"/>
                  </a:cubicBezTo>
                  <a:close/>
                </a:path>
              </a:pathLst>
            </a:custGeom>
            <a:noFill/>
            <a:ln w="11113" cap="flat">
              <a:solidFill>
                <a:srgbClr val="A0BAB8"/>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45" name="Picture 1351"/>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202253" y="2333445"/>
              <a:ext cx="1764568" cy="882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Freeform 1352"/>
            <p:cNvSpPr>
              <a:spLocks/>
            </p:cNvSpPr>
            <p:nvPr/>
          </p:nvSpPr>
          <p:spPr bwMode="auto">
            <a:xfrm>
              <a:off x="2207473" y="2349107"/>
              <a:ext cx="1755431" cy="852265"/>
            </a:xfrm>
            <a:custGeom>
              <a:avLst/>
              <a:gdLst>
                <a:gd name="T0" fmla="*/ 778 w 779"/>
                <a:gd name="T1" fmla="*/ 161 h 380"/>
                <a:gd name="T2" fmla="*/ 388 w 779"/>
                <a:gd name="T3" fmla="*/ 0 h 380"/>
                <a:gd name="T4" fmla="*/ 0 w 779"/>
                <a:gd name="T5" fmla="*/ 176 h 380"/>
                <a:gd name="T6" fmla="*/ 0 w 779"/>
                <a:gd name="T7" fmla="*/ 187 h 380"/>
                <a:gd name="T8" fmla="*/ 386 w 779"/>
                <a:gd name="T9" fmla="*/ 379 h 380"/>
                <a:gd name="T10" fmla="*/ 779 w 779"/>
                <a:gd name="T11" fmla="*/ 183 h 380"/>
                <a:gd name="T12" fmla="*/ 778 w 779"/>
                <a:gd name="T13" fmla="*/ 161 h 380"/>
              </a:gdLst>
              <a:ahLst/>
              <a:cxnLst>
                <a:cxn ang="0">
                  <a:pos x="T0" y="T1"/>
                </a:cxn>
                <a:cxn ang="0">
                  <a:pos x="T2" y="T3"/>
                </a:cxn>
                <a:cxn ang="0">
                  <a:pos x="T4" y="T5"/>
                </a:cxn>
                <a:cxn ang="0">
                  <a:pos x="T6" y="T7"/>
                </a:cxn>
                <a:cxn ang="0">
                  <a:pos x="T8" y="T9"/>
                </a:cxn>
                <a:cxn ang="0">
                  <a:pos x="T10" y="T11"/>
                </a:cxn>
                <a:cxn ang="0">
                  <a:pos x="T12" y="T13"/>
                </a:cxn>
              </a:cxnLst>
              <a:rect l="0" t="0" r="r" b="b"/>
              <a:pathLst>
                <a:path w="779" h="380">
                  <a:moveTo>
                    <a:pt x="778" y="161"/>
                  </a:moveTo>
                  <a:cubicBezTo>
                    <a:pt x="778" y="64"/>
                    <a:pt x="602" y="0"/>
                    <a:pt x="388" y="0"/>
                  </a:cubicBezTo>
                  <a:cubicBezTo>
                    <a:pt x="174" y="0"/>
                    <a:pt x="0" y="79"/>
                    <a:pt x="0" y="176"/>
                  </a:cubicBezTo>
                  <a:cubicBezTo>
                    <a:pt x="0" y="183"/>
                    <a:pt x="0" y="184"/>
                    <a:pt x="0" y="187"/>
                  </a:cubicBezTo>
                  <a:cubicBezTo>
                    <a:pt x="4" y="265"/>
                    <a:pt x="148" y="380"/>
                    <a:pt x="386" y="379"/>
                  </a:cubicBezTo>
                  <a:cubicBezTo>
                    <a:pt x="658" y="378"/>
                    <a:pt x="777" y="252"/>
                    <a:pt x="779" y="183"/>
                  </a:cubicBezTo>
                  <a:cubicBezTo>
                    <a:pt x="779" y="183"/>
                    <a:pt x="778" y="165"/>
                    <a:pt x="778" y="161"/>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47" name="Picture 1353"/>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202253" y="2255136"/>
              <a:ext cx="1764568" cy="92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Oval 1354"/>
            <p:cNvSpPr>
              <a:spLocks noChangeArrowheads="1"/>
            </p:cNvSpPr>
            <p:nvPr/>
          </p:nvSpPr>
          <p:spPr bwMode="auto">
            <a:xfrm>
              <a:off x="2210084" y="2272102"/>
              <a:ext cx="1743685" cy="897946"/>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49" name="Picture 1355"/>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309275" y="2313867"/>
              <a:ext cx="1549217" cy="80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Oval 1356"/>
            <p:cNvSpPr>
              <a:spLocks noChangeArrowheads="1"/>
            </p:cNvSpPr>
            <p:nvPr/>
          </p:nvSpPr>
          <p:spPr bwMode="auto">
            <a:xfrm>
              <a:off x="2324937" y="2328224"/>
              <a:ext cx="1516589" cy="772651"/>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51" name="Oval 1357"/>
            <p:cNvSpPr>
              <a:spLocks noChangeArrowheads="1"/>
            </p:cNvSpPr>
            <p:nvPr/>
          </p:nvSpPr>
          <p:spPr bwMode="auto">
            <a:xfrm>
              <a:off x="2439791" y="2384345"/>
              <a:ext cx="1286882" cy="642136"/>
            </a:xfrm>
            <a:prstGeom prst="ellipse">
              <a:avLst/>
            </a:prstGeom>
            <a:solidFill>
              <a:srgbClr val="FFFFFF"/>
            </a:solidFill>
            <a:ln w="11113">
              <a:solidFill>
                <a:srgbClr val="000000"/>
              </a:solidFill>
              <a:miter lim="800000"/>
              <a:headEnd/>
              <a:tailEnd/>
            </a:ln>
          </p:spPr>
          <p:txBody>
            <a:bodyPr/>
            <a:lstStyle/>
            <a:p>
              <a:endParaRPr lang="en-US" sz="1200">
                <a:latin typeface="Arial" pitchFamily="34" charset="0"/>
                <a:cs typeface="Arial" pitchFamily="34" charset="0"/>
              </a:endParaRPr>
            </a:p>
          </p:txBody>
        </p:sp>
        <p:pic>
          <p:nvPicPr>
            <p:cNvPr id="52" name="Picture 1358"/>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2554644" y="2436552"/>
              <a:ext cx="1054564" cy="53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Oval 1359"/>
            <p:cNvSpPr>
              <a:spLocks noChangeArrowheads="1"/>
            </p:cNvSpPr>
            <p:nvPr/>
          </p:nvSpPr>
          <p:spPr bwMode="auto">
            <a:xfrm>
              <a:off x="2567696" y="2449603"/>
              <a:ext cx="1029766" cy="51162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54" name="Picture 1360"/>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2695601" y="2508335"/>
              <a:ext cx="776566" cy="39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Oval 1361"/>
            <p:cNvSpPr>
              <a:spLocks noChangeArrowheads="1"/>
            </p:cNvSpPr>
            <p:nvPr/>
          </p:nvSpPr>
          <p:spPr bwMode="auto">
            <a:xfrm>
              <a:off x="2707347" y="2518777"/>
              <a:ext cx="747854" cy="373274"/>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56" name="Picture 136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063654" y="2880304"/>
              <a:ext cx="33934" cy="302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Line 1363"/>
            <p:cNvSpPr>
              <a:spLocks noChangeShapeType="1"/>
            </p:cNvSpPr>
            <p:nvPr/>
          </p:nvSpPr>
          <p:spPr bwMode="auto">
            <a:xfrm flipH="1">
              <a:off x="3076706" y="2892051"/>
              <a:ext cx="6525" cy="27799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58" name="Picture 136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061044" y="2256440"/>
              <a:ext cx="27408" cy="276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Line 1365"/>
            <p:cNvSpPr>
              <a:spLocks noChangeShapeType="1"/>
            </p:cNvSpPr>
            <p:nvPr/>
          </p:nvSpPr>
          <p:spPr bwMode="auto">
            <a:xfrm>
              <a:off x="3075400" y="2272102"/>
              <a:ext cx="0" cy="24667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60" name="Picture 136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447369" y="2692362"/>
              <a:ext cx="519451" cy="2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Line 1367"/>
            <p:cNvSpPr>
              <a:spLocks noChangeShapeType="1"/>
            </p:cNvSpPr>
            <p:nvPr/>
          </p:nvSpPr>
          <p:spPr bwMode="auto">
            <a:xfrm>
              <a:off x="3460421" y="2705413"/>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62" name="Picture 1368"/>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202253" y="2691057"/>
              <a:ext cx="520756" cy="2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 name="Line 1369"/>
            <p:cNvSpPr>
              <a:spLocks noChangeShapeType="1"/>
            </p:cNvSpPr>
            <p:nvPr/>
          </p:nvSpPr>
          <p:spPr bwMode="auto">
            <a:xfrm>
              <a:off x="2207473" y="2705413"/>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64" name="Line 1370"/>
            <p:cNvSpPr>
              <a:spLocks noChangeShapeType="1"/>
            </p:cNvSpPr>
            <p:nvPr/>
          </p:nvSpPr>
          <p:spPr bwMode="auto">
            <a:xfrm flipH="1">
              <a:off x="2455452" y="2845065"/>
              <a:ext cx="373274" cy="19055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65" name="Picture 1371"/>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3341652" y="2393482"/>
              <a:ext cx="378495" cy="200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Line 1372"/>
            <p:cNvSpPr>
              <a:spLocks noChangeShapeType="1"/>
            </p:cNvSpPr>
            <p:nvPr/>
          </p:nvSpPr>
          <p:spPr bwMode="auto">
            <a:xfrm flipH="1">
              <a:off x="3356009" y="2405228"/>
              <a:ext cx="353696" cy="17750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67" name="Picture 1373"/>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464588" y="2381735"/>
              <a:ext cx="378495" cy="200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Line 1374"/>
            <p:cNvSpPr>
              <a:spLocks noChangeShapeType="1"/>
            </p:cNvSpPr>
            <p:nvPr/>
          </p:nvSpPr>
          <p:spPr bwMode="auto">
            <a:xfrm flipH="1" flipV="1">
              <a:off x="2477640" y="2393482"/>
              <a:ext cx="353697" cy="17750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69" name="Line 1375"/>
            <p:cNvSpPr>
              <a:spLocks noChangeShapeType="1"/>
            </p:cNvSpPr>
            <p:nvPr/>
          </p:nvSpPr>
          <p:spPr bwMode="auto">
            <a:xfrm>
              <a:off x="3361229" y="2830708"/>
              <a:ext cx="373274" cy="1866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70" name="Freeform 1376"/>
            <p:cNvSpPr>
              <a:spLocks/>
            </p:cNvSpPr>
            <p:nvPr/>
          </p:nvSpPr>
          <p:spPr bwMode="auto">
            <a:xfrm>
              <a:off x="3079316" y="2272102"/>
              <a:ext cx="623864" cy="168365"/>
            </a:xfrm>
            <a:custGeom>
              <a:avLst/>
              <a:gdLst>
                <a:gd name="T0" fmla="*/ 0 w 277"/>
                <a:gd name="T1" fmla="*/ 0 h 75"/>
                <a:gd name="T2" fmla="*/ 1 w 277"/>
                <a:gd name="T3" fmla="*/ 23 h 75"/>
                <a:gd name="T4" fmla="*/ 246 w 277"/>
                <a:gd name="T5" fmla="*/ 75 h 75"/>
                <a:gd name="T6" fmla="*/ 277 w 277"/>
                <a:gd name="T7" fmla="*/ 58 h 75"/>
                <a:gd name="T8" fmla="*/ 0 w 277"/>
                <a:gd name="T9" fmla="*/ 0 h 75"/>
              </a:gdLst>
              <a:ahLst/>
              <a:cxnLst>
                <a:cxn ang="0">
                  <a:pos x="T0" y="T1"/>
                </a:cxn>
                <a:cxn ang="0">
                  <a:pos x="T2" y="T3"/>
                </a:cxn>
                <a:cxn ang="0">
                  <a:pos x="T4" y="T5"/>
                </a:cxn>
                <a:cxn ang="0">
                  <a:pos x="T6" y="T7"/>
                </a:cxn>
                <a:cxn ang="0">
                  <a:pos x="T8" y="T9"/>
                </a:cxn>
              </a:cxnLst>
              <a:rect l="0" t="0" r="r" b="b"/>
              <a:pathLst>
                <a:path w="277" h="75">
                  <a:moveTo>
                    <a:pt x="0" y="0"/>
                  </a:moveTo>
                  <a:cubicBezTo>
                    <a:pt x="0" y="0"/>
                    <a:pt x="1" y="15"/>
                    <a:pt x="1" y="23"/>
                  </a:cubicBezTo>
                  <a:cubicBezTo>
                    <a:pt x="44" y="23"/>
                    <a:pt x="149" y="27"/>
                    <a:pt x="246" y="75"/>
                  </a:cubicBezTo>
                  <a:cubicBezTo>
                    <a:pt x="260" y="67"/>
                    <a:pt x="277" y="58"/>
                    <a:pt x="277" y="58"/>
                  </a:cubicBezTo>
                  <a:cubicBezTo>
                    <a:pt x="277" y="58"/>
                    <a:pt x="174"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pic>
          <p:nvPicPr>
            <p:cNvPr id="71" name="Picture 1377"/>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2952716" y="2072414"/>
              <a:ext cx="263641" cy="70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Freeform 1378"/>
            <p:cNvSpPr>
              <a:spLocks/>
            </p:cNvSpPr>
            <p:nvPr/>
          </p:nvSpPr>
          <p:spPr bwMode="auto">
            <a:xfrm>
              <a:off x="2967073" y="2084160"/>
              <a:ext cx="236232" cy="682596"/>
            </a:xfrm>
            <a:custGeom>
              <a:avLst/>
              <a:gdLst>
                <a:gd name="T0" fmla="*/ 104 w 105"/>
                <a:gd name="T1" fmla="*/ 264 h 304"/>
                <a:gd name="T2" fmla="*/ 104 w 105"/>
                <a:gd name="T3" fmla="*/ 0 h 304"/>
                <a:gd name="T4" fmla="*/ 0 w 105"/>
                <a:gd name="T5" fmla="*/ 0 h 304"/>
                <a:gd name="T6" fmla="*/ 0 w 105"/>
                <a:gd name="T7" fmla="*/ 274 h 304"/>
                <a:gd name="T8" fmla="*/ 0 w 105"/>
                <a:gd name="T9" fmla="*/ 274 h 304"/>
                <a:gd name="T10" fmla="*/ 52 w 105"/>
                <a:gd name="T11" fmla="*/ 304 h 304"/>
                <a:gd name="T12" fmla="*/ 105 w 105"/>
                <a:gd name="T13" fmla="*/ 270 h 304"/>
                <a:gd name="T14" fmla="*/ 104 w 105"/>
                <a:gd name="T15" fmla="*/ 264 h 3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04">
                  <a:moveTo>
                    <a:pt x="104" y="264"/>
                  </a:moveTo>
                  <a:cubicBezTo>
                    <a:pt x="104" y="0"/>
                    <a:pt x="104" y="0"/>
                    <a:pt x="104" y="0"/>
                  </a:cubicBezTo>
                  <a:cubicBezTo>
                    <a:pt x="0" y="0"/>
                    <a:pt x="0" y="0"/>
                    <a:pt x="0" y="0"/>
                  </a:cubicBezTo>
                  <a:cubicBezTo>
                    <a:pt x="0" y="274"/>
                    <a:pt x="0" y="274"/>
                    <a:pt x="0" y="274"/>
                  </a:cubicBezTo>
                  <a:cubicBezTo>
                    <a:pt x="0" y="274"/>
                    <a:pt x="0" y="274"/>
                    <a:pt x="0" y="274"/>
                  </a:cubicBezTo>
                  <a:cubicBezTo>
                    <a:pt x="3" y="291"/>
                    <a:pt x="25" y="304"/>
                    <a:pt x="52" y="304"/>
                  </a:cubicBezTo>
                  <a:cubicBezTo>
                    <a:pt x="81" y="304"/>
                    <a:pt x="105" y="289"/>
                    <a:pt x="105" y="270"/>
                  </a:cubicBezTo>
                  <a:cubicBezTo>
                    <a:pt x="105" y="268"/>
                    <a:pt x="104" y="266"/>
                    <a:pt x="104" y="264"/>
                  </a:cubicBezTo>
                  <a:close/>
                </a:path>
              </a:pathLst>
            </a:custGeom>
            <a:noFill/>
            <a:ln w="11113" cap="flat">
              <a:solidFill>
                <a:srgbClr val="A0BAB8"/>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73" name="Picture 1379"/>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2202253" y="1342833"/>
              <a:ext cx="1764568" cy="882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Freeform 1380"/>
            <p:cNvSpPr>
              <a:spLocks/>
            </p:cNvSpPr>
            <p:nvPr/>
          </p:nvSpPr>
          <p:spPr bwMode="auto">
            <a:xfrm>
              <a:off x="2207473" y="1358495"/>
              <a:ext cx="1755431" cy="853571"/>
            </a:xfrm>
            <a:custGeom>
              <a:avLst/>
              <a:gdLst>
                <a:gd name="T0" fmla="*/ 778 w 779"/>
                <a:gd name="T1" fmla="*/ 161 h 380"/>
                <a:gd name="T2" fmla="*/ 388 w 779"/>
                <a:gd name="T3" fmla="*/ 0 h 380"/>
                <a:gd name="T4" fmla="*/ 0 w 779"/>
                <a:gd name="T5" fmla="*/ 176 h 380"/>
                <a:gd name="T6" fmla="*/ 0 w 779"/>
                <a:gd name="T7" fmla="*/ 187 h 380"/>
                <a:gd name="T8" fmla="*/ 386 w 779"/>
                <a:gd name="T9" fmla="*/ 379 h 380"/>
                <a:gd name="T10" fmla="*/ 779 w 779"/>
                <a:gd name="T11" fmla="*/ 183 h 380"/>
                <a:gd name="T12" fmla="*/ 778 w 779"/>
                <a:gd name="T13" fmla="*/ 161 h 380"/>
              </a:gdLst>
              <a:ahLst/>
              <a:cxnLst>
                <a:cxn ang="0">
                  <a:pos x="T0" y="T1"/>
                </a:cxn>
                <a:cxn ang="0">
                  <a:pos x="T2" y="T3"/>
                </a:cxn>
                <a:cxn ang="0">
                  <a:pos x="T4" y="T5"/>
                </a:cxn>
                <a:cxn ang="0">
                  <a:pos x="T6" y="T7"/>
                </a:cxn>
                <a:cxn ang="0">
                  <a:pos x="T8" y="T9"/>
                </a:cxn>
                <a:cxn ang="0">
                  <a:pos x="T10" y="T11"/>
                </a:cxn>
                <a:cxn ang="0">
                  <a:pos x="T12" y="T13"/>
                </a:cxn>
              </a:cxnLst>
              <a:rect l="0" t="0" r="r" b="b"/>
              <a:pathLst>
                <a:path w="779" h="380">
                  <a:moveTo>
                    <a:pt x="778" y="161"/>
                  </a:moveTo>
                  <a:cubicBezTo>
                    <a:pt x="778" y="64"/>
                    <a:pt x="602" y="0"/>
                    <a:pt x="388" y="0"/>
                  </a:cubicBezTo>
                  <a:cubicBezTo>
                    <a:pt x="174" y="0"/>
                    <a:pt x="0" y="79"/>
                    <a:pt x="0" y="176"/>
                  </a:cubicBezTo>
                  <a:cubicBezTo>
                    <a:pt x="0" y="183"/>
                    <a:pt x="0" y="183"/>
                    <a:pt x="0" y="187"/>
                  </a:cubicBezTo>
                  <a:cubicBezTo>
                    <a:pt x="4" y="265"/>
                    <a:pt x="148" y="380"/>
                    <a:pt x="386" y="379"/>
                  </a:cubicBezTo>
                  <a:cubicBezTo>
                    <a:pt x="658" y="378"/>
                    <a:pt x="777" y="252"/>
                    <a:pt x="779" y="183"/>
                  </a:cubicBezTo>
                  <a:cubicBezTo>
                    <a:pt x="779" y="182"/>
                    <a:pt x="778" y="165"/>
                    <a:pt x="778" y="161"/>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75" name="Picture 1381"/>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2202253" y="1265829"/>
              <a:ext cx="1764568" cy="927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Oval 1382"/>
            <p:cNvSpPr>
              <a:spLocks noChangeArrowheads="1"/>
            </p:cNvSpPr>
            <p:nvPr/>
          </p:nvSpPr>
          <p:spPr bwMode="auto">
            <a:xfrm>
              <a:off x="2210084" y="1282796"/>
              <a:ext cx="1743685" cy="897946"/>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77" name="Picture 1383"/>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2309275" y="1323256"/>
              <a:ext cx="1549217" cy="80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Oval 1384"/>
            <p:cNvSpPr>
              <a:spLocks noChangeArrowheads="1"/>
            </p:cNvSpPr>
            <p:nvPr/>
          </p:nvSpPr>
          <p:spPr bwMode="auto">
            <a:xfrm>
              <a:off x="2324937" y="1338918"/>
              <a:ext cx="1516589" cy="771345"/>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79" name="Oval 1385"/>
            <p:cNvSpPr>
              <a:spLocks noChangeArrowheads="1"/>
            </p:cNvSpPr>
            <p:nvPr/>
          </p:nvSpPr>
          <p:spPr bwMode="auto">
            <a:xfrm>
              <a:off x="2439791" y="1395039"/>
              <a:ext cx="1286882" cy="642136"/>
            </a:xfrm>
            <a:prstGeom prst="ellipse">
              <a:avLst/>
            </a:prstGeom>
            <a:solidFill>
              <a:srgbClr val="FFFFFF"/>
            </a:solidFill>
            <a:ln w="11113">
              <a:solidFill>
                <a:srgbClr val="000000"/>
              </a:solidFill>
              <a:miter lim="800000"/>
              <a:headEnd/>
              <a:tailEnd/>
            </a:ln>
          </p:spPr>
          <p:txBody>
            <a:bodyPr/>
            <a:lstStyle/>
            <a:p>
              <a:endParaRPr lang="en-US" sz="1200">
                <a:latin typeface="Arial" pitchFamily="34" charset="0"/>
                <a:cs typeface="Arial" pitchFamily="34" charset="0"/>
              </a:endParaRPr>
            </a:p>
          </p:txBody>
        </p:sp>
        <p:pic>
          <p:nvPicPr>
            <p:cNvPr id="80" name="Picture 1386"/>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2554644" y="1445940"/>
              <a:ext cx="1054564" cy="539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Oval 1387"/>
            <p:cNvSpPr>
              <a:spLocks noChangeArrowheads="1"/>
            </p:cNvSpPr>
            <p:nvPr/>
          </p:nvSpPr>
          <p:spPr bwMode="auto">
            <a:xfrm>
              <a:off x="2567696" y="1460297"/>
              <a:ext cx="1029766" cy="51162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82" name="Picture 1388"/>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2695601" y="1517723"/>
              <a:ext cx="776566" cy="39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Oval 1389"/>
            <p:cNvSpPr>
              <a:spLocks noChangeArrowheads="1"/>
            </p:cNvSpPr>
            <p:nvPr/>
          </p:nvSpPr>
          <p:spPr bwMode="auto">
            <a:xfrm>
              <a:off x="2707347" y="1529470"/>
              <a:ext cx="747854" cy="373274"/>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84" name="Picture 1390"/>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3063654" y="1890997"/>
              <a:ext cx="33934" cy="302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Line 1391"/>
            <p:cNvSpPr>
              <a:spLocks noChangeShapeType="1"/>
            </p:cNvSpPr>
            <p:nvPr/>
          </p:nvSpPr>
          <p:spPr bwMode="auto">
            <a:xfrm flipH="1">
              <a:off x="3076706" y="1902744"/>
              <a:ext cx="6525" cy="27799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86" name="Picture 1392"/>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3061044" y="1267134"/>
              <a:ext cx="27408" cy="27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Line 1393"/>
            <p:cNvSpPr>
              <a:spLocks noChangeShapeType="1"/>
            </p:cNvSpPr>
            <p:nvPr/>
          </p:nvSpPr>
          <p:spPr bwMode="auto">
            <a:xfrm>
              <a:off x="3075400" y="1282796"/>
              <a:ext cx="0" cy="24667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88" name="Picture 1394"/>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3447369" y="1701750"/>
              <a:ext cx="519451" cy="27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Line 1395"/>
            <p:cNvSpPr>
              <a:spLocks noChangeShapeType="1"/>
            </p:cNvSpPr>
            <p:nvPr/>
          </p:nvSpPr>
          <p:spPr bwMode="auto">
            <a:xfrm>
              <a:off x="3460421" y="1716107"/>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90" name="Picture 1396"/>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2202253" y="1701750"/>
              <a:ext cx="520756" cy="2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Line 1397"/>
            <p:cNvSpPr>
              <a:spLocks noChangeShapeType="1"/>
            </p:cNvSpPr>
            <p:nvPr/>
          </p:nvSpPr>
          <p:spPr bwMode="auto">
            <a:xfrm>
              <a:off x="2207473" y="1713496"/>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92" name="Line 1398"/>
            <p:cNvSpPr>
              <a:spLocks noChangeShapeType="1"/>
            </p:cNvSpPr>
            <p:nvPr/>
          </p:nvSpPr>
          <p:spPr bwMode="auto">
            <a:xfrm flipH="1">
              <a:off x="2455452" y="1854453"/>
              <a:ext cx="373274" cy="19185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93" name="Picture 1399"/>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3341652" y="1402870"/>
              <a:ext cx="378495" cy="202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 name="Line 1400"/>
            <p:cNvSpPr>
              <a:spLocks noChangeShapeType="1"/>
            </p:cNvSpPr>
            <p:nvPr/>
          </p:nvSpPr>
          <p:spPr bwMode="auto">
            <a:xfrm flipH="1">
              <a:off x="3356009" y="1414617"/>
              <a:ext cx="353696" cy="17619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95" name="Picture 1401"/>
            <p:cNvPicPr>
              <a:picLocks noChangeAspect="1" noChangeArrowheads="1"/>
            </p:cNvPicPr>
            <p:nvPr/>
          </p:nvPicPr>
          <p:blipFill>
            <a:blip r:embed="rId34" cstate="print">
              <a:extLst>
                <a:ext uri="{28A0092B-C50C-407E-A947-70E740481C1C}">
                  <a14:useLocalDpi xmlns:a14="http://schemas.microsoft.com/office/drawing/2010/main" val="0"/>
                </a:ext>
              </a:extLst>
            </a:blip>
            <a:srcRect/>
            <a:stretch>
              <a:fillRect/>
            </a:stretch>
          </p:blipFill>
          <p:spPr bwMode="auto">
            <a:xfrm>
              <a:off x="2464588" y="1391124"/>
              <a:ext cx="378495" cy="20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Line 1402"/>
            <p:cNvSpPr>
              <a:spLocks noChangeShapeType="1"/>
            </p:cNvSpPr>
            <p:nvPr/>
          </p:nvSpPr>
          <p:spPr bwMode="auto">
            <a:xfrm flipH="1" flipV="1">
              <a:off x="2477640" y="1404175"/>
              <a:ext cx="353697" cy="17489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97" name="Line 1403"/>
            <p:cNvSpPr>
              <a:spLocks noChangeShapeType="1"/>
            </p:cNvSpPr>
            <p:nvPr/>
          </p:nvSpPr>
          <p:spPr bwMode="auto">
            <a:xfrm>
              <a:off x="3361229" y="1841402"/>
              <a:ext cx="373274" cy="1866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98" name="Freeform 1404"/>
            <p:cNvSpPr>
              <a:spLocks/>
            </p:cNvSpPr>
            <p:nvPr/>
          </p:nvSpPr>
          <p:spPr bwMode="auto">
            <a:xfrm>
              <a:off x="3079316" y="1282796"/>
              <a:ext cx="623864" cy="168365"/>
            </a:xfrm>
            <a:custGeom>
              <a:avLst/>
              <a:gdLst>
                <a:gd name="T0" fmla="*/ 0 w 277"/>
                <a:gd name="T1" fmla="*/ 0 h 75"/>
                <a:gd name="T2" fmla="*/ 1 w 277"/>
                <a:gd name="T3" fmla="*/ 23 h 75"/>
                <a:gd name="T4" fmla="*/ 246 w 277"/>
                <a:gd name="T5" fmla="*/ 75 h 75"/>
                <a:gd name="T6" fmla="*/ 277 w 277"/>
                <a:gd name="T7" fmla="*/ 58 h 75"/>
                <a:gd name="T8" fmla="*/ 0 w 277"/>
                <a:gd name="T9" fmla="*/ 0 h 75"/>
              </a:gdLst>
              <a:ahLst/>
              <a:cxnLst>
                <a:cxn ang="0">
                  <a:pos x="T0" y="T1"/>
                </a:cxn>
                <a:cxn ang="0">
                  <a:pos x="T2" y="T3"/>
                </a:cxn>
                <a:cxn ang="0">
                  <a:pos x="T4" y="T5"/>
                </a:cxn>
                <a:cxn ang="0">
                  <a:pos x="T6" y="T7"/>
                </a:cxn>
                <a:cxn ang="0">
                  <a:pos x="T8" y="T9"/>
                </a:cxn>
              </a:cxnLst>
              <a:rect l="0" t="0" r="r" b="b"/>
              <a:pathLst>
                <a:path w="277" h="75">
                  <a:moveTo>
                    <a:pt x="0" y="0"/>
                  </a:moveTo>
                  <a:cubicBezTo>
                    <a:pt x="0" y="0"/>
                    <a:pt x="1" y="15"/>
                    <a:pt x="1" y="23"/>
                  </a:cubicBezTo>
                  <a:cubicBezTo>
                    <a:pt x="44" y="23"/>
                    <a:pt x="149" y="27"/>
                    <a:pt x="246" y="75"/>
                  </a:cubicBezTo>
                  <a:cubicBezTo>
                    <a:pt x="260" y="67"/>
                    <a:pt x="277" y="58"/>
                    <a:pt x="277" y="58"/>
                  </a:cubicBezTo>
                  <a:cubicBezTo>
                    <a:pt x="277" y="58"/>
                    <a:pt x="174"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pic>
          <p:nvPicPr>
            <p:cNvPr id="99" name="Picture 1405"/>
            <p:cNvPicPr>
              <a:picLocks noChangeAspect="1" noChangeArrowheads="1"/>
            </p:cNvPicPr>
            <p:nvPr/>
          </p:nvPicPr>
          <p:blipFill>
            <a:blip r:embed="rId35" cstate="print">
              <a:extLst>
                <a:ext uri="{28A0092B-C50C-407E-A947-70E740481C1C}">
                  <a14:useLocalDpi xmlns:a14="http://schemas.microsoft.com/office/drawing/2010/main" val="0"/>
                </a:ext>
              </a:extLst>
            </a:blip>
            <a:srcRect/>
            <a:stretch>
              <a:fillRect/>
            </a:stretch>
          </p:blipFill>
          <p:spPr bwMode="auto">
            <a:xfrm>
              <a:off x="2952716" y="1107905"/>
              <a:ext cx="263641" cy="71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 name="Freeform 1406"/>
            <p:cNvSpPr>
              <a:spLocks/>
            </p:cNvSpPr>
            <p:nvPr/>
          </p:nvSpPr>
          <p:spPr bwMode="auto">
            <a:xfrm>
              <a:off x="2967073" y="1118346"/>
              <a:ext cx="236232" cy="689121"/>
            </a:xfrm>
            <a:custGeom>
              <a:avLst/>
              <a:gdLst>
                <a:gd name="T0" fmla="*/ 104 w 105"/>
                <a:gd name="T1" fmla="*/ 269 h 307"/>
                <a:gd name="T2" fmla="*/ 104 w 105"/>
                <a:gd name="T3" fmla="*/ 0 h 307"/>
                <a:gd name="T4" fmla="*/ 0 w 105"/>
                <a:gd name="T5" fmla="*/ 0 h 307"/>
                <a:gd name="T6" fmla="*/ 0 w 105"/>
                <a:gd name="T7" fmla="*/ 269 h 307"/>
                <a:gd name="T8" fmla="*/ 0 w 105"/>
                <a:gd name="T9" fmla="*/ 273 h 307"/>
                <a:gd name="T10" fmla="*/ 52 w 105"/>
                <a:gd name="T11" fmla="*/ 307 h 307"/>
                <a:gd name="T12" fmla="*/ 105 w 105"/>
                <a:gd name="T13" fmla="*/ 273 h 307"/>
                <a:gd name="T14" fmla="*/ 104 w 105"/>
                <a:gd name="T15" fmla="*/ 269 h 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07">
                  <a:moveTo>
                    <a:pt x="104" y="269"/>
                  </a:moveTo>
                  <a:cubicBezTo>
                    <a:pt x="104" y="0"/>
                    <a:pt x="104" y="0"/>
                    <a:pt x="104" y="0"/>
                  </a:cubicBezTo>
                  <a:cubicBezTo>
                    <a:pt x="0" y="0"/>
                    <a:pt x="0" y="0"/>
                    <a:pt x="0" y="0"/>
                  </a:cubicBezTo>
                  <a:cubicBezTo>
                    <a:pt x="0" y="269"/>
                    <a:pt x="0" y="269"/>
                    <a:pt x="0" y="269"/>
                  </a:cubicBezTo>
                  <a:cubicBezTo>
                    <a:pt x="0" y="271"/>
                    <a:pt x="0" y="272"/>
                    <a:pt x="0" y="273"/>
                  </a:cubicBezTo>
                  <a:cubicBezTo>
                    <a:pt x="0" y="292"/>
                    <a:pt x="23" y="307"/>
                    <a:pt x="52" y="307"/>
                  </a:cubicBezTo>
                  <a:cubicBezTo>
                    <a:pt x="81" y="307"/>
                    <a:pt x="105" y="292"/>
                    <a:pt x="105" y="273"/>
                  </a:cubicBezTo>
                  <a:cubicBezTo>
                    <a:pt x="105" y="272"/>
                    <a:pt x="105" y="271"/>
                    <a:pt x="104" y="269"/>
                  </a:cubicBezTo>
                  <a:close/>
                </a:path>
              </a:pathLst>
            </a:custGeom>
            <a:noFill/>
            <a:ln w="11113" cap="flat">
              <a:solidFill>
                <a:srgbClr val="A0BAB8"/>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101" name="Freeform 1407"/>
            <p:cNvSpPr>
              <a:spLocks/>
            </p:cNvSpPr>
            <p:nvPr/>
          </p:nvSpPr>
          <p:spPr bwMode="auto">
            <a:xfrm>
              <a:off x="2861355" y="1058309"/>
              <a:ext cx="452889" cy="233623"/>
            </a:xfrm>
            <a:custGeom>
              <a:avLst/>
              <a:gdLst>
                <a:gd name="T0" fmla="*/ 199 w 201"/>
                <a:gd name="T1" fmla="*/ 55 h 104"/>
                <a:gd name="T2" fmla="*/ 94 w 201"/>
                <a:gd name="T3" fmla="*/ 104 h 104"/>
                <a:gd name="T4" fmla="*/ 0 w 201"/>
                <a:gd name="T5" fmla="*/ 52 h 104"/>
                <a:gd name="T6" fmla="*/ 94 w 201"/>
                <a:gd name="T7" fmla="*/ 0 h 104"/>
                <a:gd name="T8" fmla="*/ 199 w 201"/>
                <a:gd name="T9" fmla="*/ 55 h 104"/>
              </a:gdLst>
              <a:ahLst/>
              <a:cxnLst>
                <a:cxn ang="0">
                  <a:pos x="T0" y="T1"/>
                </a:cxn>
                <a:cxn ang="0">
                  <a:pos x="T2" y="T3"/>
                </a:cxn>
                <a:cxn ang="0">
                  <a:pos x="T4" y="T5"/>
                </a:cxn>
                <a:cxn ang="0">
                  <a:pos x="T6" y="T7"/>
                </a:cxn>
                <a:cxn ang="0">
                  <a:pos x="T8" y="T9"/>
                </a:cxn>
              </a:cxnLst>
              <a:rect l="0" t="0" r="r" b="b"/>
              <a:pathLst>
                <a:path w="201" h="104">
                  <a:moveTo>
                    <a:pt x="199" y="55"/>
                  </a:moveTo>
                  <a:cubicBezTo>
                    <a:pt x="201" y="95"/>
                    <a:pt x="146" y="104"/>
                    <a:pt x="94" y="104"/>
                  </a:cubicBezTo>
                  <a:cubicBezTo>
                    <a:pt x="42" y="104"/>
                    <a:pt x="0" y="81"/>
                    <a:pt x="0" y="52"/>
                  </a:cubicBezTo>
                  <a:cubicBezTo>
                    <a:pt x="0" y="23"/>
                    <a:pt x="42" y="0"/>
                    <a:pt x="94" y="0"/>
                  </a:cubicBezTo>
                  <a:cubicBezTo>
                    <a:pt x="146" y="0"/>
                    <a:pt x="198" y="26"/>
                    <a:pt x="199" y="55"/>
                  </a:cubicBezTo>
                  <a:close/>
                </a:path>
              </a:pathLst>
            </a:custGeom>
            <a:solidFill>
              <a:srgbClr val="000000"/>
            </a:solidFill>
            <a:ln w="11113" cap="flat">
              <a:solidFill>
                <a:srgbClr val="000000"/>
              </a:solidFill>
              <a:prstDash val="solid"/>
              <a:miter lim="800000"/>
              <a:headEnd/>
              <a:tailEnd/>
            </a:ln>
          </p:spPr>
          <p:txBody>
            <a:bodyPr/>
            <a:lstStyle/>
            <a:p>
              <a:endParaRPr lang="en-US" sz="1200">
                <a:latin typeface="Arial" pitchFamily="34" charset="0"/>
                <a:cs typeface="Arial" pitchFamily="34" charset="0"/>
              </a:endParaRPr>
            </a:p>
          </p:txBody>
        </p:sp>
        <p:pic>
          <p:nvPicPr>
            <p:cNvPr id="102" name="Picture 1408"/>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2845693" y="1045258"/>
              <a:ext cx="480297" cy="24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1409"/>
            <p:cNvSpPr>
              <a:spLocks/>
            </p:cNvSpPr>
            <p:nvPr/>
          </p:nvSpPr>
          <p:spPr bwMode="auto">
            <a:xfrm>
              <a:off x="2858745" y="1049174"/>
              <a:ext cx="452889" cy="231012"/>
            </a:xfrm>
            <a:custGeom>
              <a:avLst/>
              <a:gdLst>
                <a:gd name="T0" fmla="*/ 199 w 201"/>
                <a:gd name="T1" fmla="*/ 54 h 103"/>
                <a:gd name="T2" fmla="*/ 94 w 201"/>
                <a:gd name="T3" fmla="*/ 103 h 103"/>
                <a:gd name="T4" fmla="*/ 0 w 201"/>
                <a:gd name="T5" fmla="*/ 51 h 103"/>
                <a:gd name="T6" fmla="*/ 94 w 201"/>
                <a:gd name="T7" fmla="*/ 0 h 103"/>
                <a:gd name="T8" fmla="*/ 199 w 201"/>
                <a:gd name="T9" fmla="*/ 54 h 103"/>
              </a:gdLst>
              <a:ahLst/>
              <a:cxnLst>
                <a:cxn ang="0">
                  <a:pos x="T0" y="T1"/>
                </a:cxn>
                <a:cxn ang="0">
                  <a:pos x="T2" y="T3"/>
                </a:cxn>
                <a:cxn ang="0">
                  <a:pos x="T4" y="T5"/>
                </a:cxn>
                <a:cxn ang="0">
                  <a:pos x="T6" y="T7"/>
                </a:cxn>
                <a:cxn ang="0">
                  <a:pos x="T8" y="T9"/>
                </a:cxn>
              </a:cxnLst>
              <a:rect l="0" t="0" r="r" b="b"/>
              <a:pathLst>
                <a:path w="201" h="103">
                  <a:moveTo>
                    <a:pt x="199" y="54"/>
                  </a:moveTo>
                  <a:cubicBezTo>
                    <a:pt x="201" y="94"/>
                    <a:pt x="146" y="103"/>
                    <a:pt x="94" y="103"/>
                  </a:cubicBezTo>
                  <a:cubicBezTo>
                    <a:pt x="42" y="103"/>
                    <a:pt x="0" y="80"/>
                    <a:pt x="0" y="51"/>
                  </a:cubicBezTo>
                  <a:cubicBezTo>
                    <a:pt x="0" y="23"/>
                    <a:pt x="42" y="0"/>
                    <a:pt x="94" y="0"/>
                  </a:cubicBezTo>
                  <a:cubicBezTo>
                    <a:pt x="146" y="0"/>
                    <a:pt x="198" y="26"/>
                    <a:pt x="199" y="54"/>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04" name="Picture 1410"/>
            <p:cNvPicPr>
              <a:picLocks noChangeAspect="1" noChangeArrowheads="1"/>
            </p:cNvPicPr>
            <p:nvPr/>
          </p:nvPicPr>
          <p:blipFill>
            <a:blip r:embed="rId37" cstate="print">
              <a:extLst>
                <a:ext uri="{28A0092B-C50C-407E-A947-70E740481C1C}">
                  <a14:useLocalDpi xmlns:a14="http://schemas.microsoft.com/office/drawing/2010/main" val="0"/>
                </a:ext>
              </a:extLst>
            </a:blip>
            <a:srcRect/>
            <a:stretch>
              <a:fillRect/>
            </a:stretch>
          </p:blipFill>
          <p:spPr bwMode="auto">
            <a:xfrm>
              <a:off x="2940970" y="1041343"/>
              <a:ext cx="276693" cy="134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Freeform 1411"/>
            <p:cNvSpPr>
              <a:spLocks/>
            </p:cNvSpPr>
            <p:nvPr/>
          </p:nvSpPr>
          <p:spPr bwMode="auto">
            <a:xfrm>
              <a:off x="2952716" y="1054394"/>
              <a:ext cx="247979" cy="107023"/>
            </a:xfrm>
            <a:custGeom>
              <a:avLst/>
              <a:gdLst>
                <a:gd name="T0" fmla="*/ 110 w 110"/>
                <a:gd name="T1" fmla="*/ 25 h 48"/>
                <a:gd name="T2" fmla="*/ 55 w 110"/>
                <a:gd name="T3" fmla="*/ 48 h 48"/>
                <a:gd name="T4" fmla="*/ 0 w 110"/>
                <a:gd name="T5" fmla="*/ 25 h 48"/>
                <a:gd name="T6" fmla="*/ 55 w 110"/>
                <a:gd name="T7" fmla="*/ 0 h 48"/>
                <a:gd name="T8" fmla="*/ 110 w 110"/>
                <a:gd name="T9" fmla="*/ 25 h 48"/>
              </a:gdLst>
              <a:ahLst/>
              <a:cxnLst>
                <a:cxn ang="0">
                  <a:pos x="T0" y="T1"/>
                </a:cxn>
                <a:cxn ang="0">
                  <a:pos x="T2" y="T3"/>
                </a:cxn>
                <a:cxn ang="0">
                  <a:pos x="T4" y="T5"/>
                </a:cxn>
                <a:cxn ang="0">
                  <a:pos x="T6" y="T7"/>
                </a:cxn>
                <a:cxn ang="0">
                  <a:pos x="T8" y="T9"/>
                </a:cxn>
              </a:cxnLst>
              <a:rect l="0" t="0" r="r" b="b"/>
              <a:pathLst>
                <a:path w="110" h="48">
                  <a:moveTo>
                    <a:pt x="110" y="25"/>
                  </a:moveTo>
                  <a:cubicBezTo>
                    <a:pt x="110" y="38"/>
                    <a:pt x="86" y="48"/>
                    <a:pt x="55" y="48"/>
                  </a:cubicBezTo>
                  <a:cubicBezTo>
                    <a:pt x="25" y="48"/>
                    <a:pt x="0" y="38"/>
                    <a:pt x="0" y="25"/>
                  </a:cubicBezTo>
                  <a:cubicBezTo>
                    <a:pt x="0" y="12"/>
                    <a:pt x="24" y="0"/>
                    <a:pt x="55" y="0"/>
                  </a:cubicBezTo>
                  <a:cubicBezTo>
                    <a:pt x="85" y="0"/>
                    <a:pt x="110" y="12"/>
                    <a:pt x="110" y="25"/>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06" name="Picture 1412"/>
            <p:cNvPicPr>
              <a:picLocks noChangeAspect="1" noChangeArrowheads="1"/>
            </p:cNvPicPr>
            <p:nvPr/>
          </p:nvPicPr>
          <p:blipFill>
            <a:blip r:embed="rId38" cstate="print">
              <a:extLst>
                <a:ext uri="{28A0092B-C50C-407E-A947-70E740481C1C}">
                  <a14:useLocalDpi xmlns:a14="http://schemas.microsoft.com/office/drawing/2010/main" val="0"/>
                </a:ext>
              </a:extLst>
            </a:blip>
            <a:srcRect/>
            <a:stretch>
              <a:fillRect/>
            </a:stretch>
          </p:blipFill>
          <p:spPr bwMode="auto">
            <a:xfrm>
              <a:off x="3014058" y="1060920"/>
              <a:ext cx="127905" cy="8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Oval 1413"/>
            <p:cNvSpPr>
              <a:spLocks noChangeArrowheads="1"/>
            </p:cNvSpPr>
            <p:nvPr/>
          </p:nvSpPr>
          <p:spPr bwMode="auto">
            <a:xfrm>
              <a:off x="3027110" y="1073971"/>
              <a:ext cx="101802" cy="53512"/>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108" name="Line 1414"/>
            <p:cNvSpPr>
              <a:spLocks noChangeShapeType="1"/>
            </p:cNvSpPr>
            <p:nvPr/>
          </p:nvSpPr>
          <p:spPr bwMode="auto">
            <a:xfrm flipV="1">
              <a:off x="2448926" y="1723938"/>
              <a:ext cx="1306" cy="1979919"/>
            </a:xfrm>
            <a:prstGeom prst="line">
              <a:avLst/>
            </a:prstGeom>
            <a:noFill/>
            <a:ln w="127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200">
                <a:latin typeface="Arial" pitchFamily="34" charset="0"/>
                <a:cs typeface="Arial" pitchFamily="34" charset="0"/>
              </a:endParaRPr>
            </a:p>
          </p:txBody>
        </p:sp>
        <p:sp>
          <p:nvSpPr>
            <p:cNvPr id="109" name="Line 1415"/>
            <p:cNvSpPr>
              <a:spLocks noChangeShapeType="1"/>
            </p:cNvSpPr>
            <p:nvPr/>
          </p:nvSpPr>
          <p:spPr bwMode="auto">
            <a:xfrm flipV="1">
              <a:off x="2574221" y="1723938"/>
              <a:ext cx="0" cy="1973392"/>
            </a:xfrm>
            <a:prstGeom prst="line">
              <a:avLst/>
            </a:prstGeom>
            <a:noFill/>
            <a:ln w="127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200">
                <a:latin typeface="Arial" pitchFamily="34" charset="0"/>
                <a:cs typeface="Arial" pitchFamily="34" charset="0"/>
              </a:endParaRPr>
            </a:p>
          </p:txBody>
        </p:sp>
        <p:sp>
          <p:nvSpPr>
            <p:cNvPr id="110" name="Line 1416"/>
            <p:cNvSpPr>
              <a:spLocks noChangeShapeType="1"/>
            </p:cNvSpPr>
            <p:nvPr/>
          </p:nvSpPr>
          <p:spPr bwMode="auto">
            <a:xfrm flipH="1" flipV="1">
              <a:off x="3592241" y="1713496"/>
              <a:ext cx="5221" cy="1961645"/>
            </a:xfrm>
            <a:prstGeom prst="line">
              <a:avLst/>
            </a:prstGeom>
            <a:noFill/>
            <a:ln w="127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200">
                <a:latin typeface="Arial" pitchFamily="34" charset="0"/>
                <a:cs typeface="Arial" pitchFamily="34" charset="0"/>
              </a:endParaRPr>
            </a:p>
          </p:txBody>
        </p:sp>
        <p:sp>
          <p:nvSpPr>
            <p:cNvPr id="111" name="Line 1417"/>
            <p:cNvSpPr>
              <a:spLocks noChangeShapeType="1"/>
            </p:cNvSpPr>
            <p:nvPr/>
          </p:nvSpPr>
          <p:spPr bwMode="auto">
            <a:xfrm flipV="1">
              <a:off x="3720144" y="1708929"/>
              <a:ext cx="6527" cy="1980570"/>
            </a:xfrm>
            <a:prstGeom prst="line">
              <a:avLst/>
            </a:prstGeom>
            <a:noFill/>
            <a:ln w="127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1200">
                <a:latin typeface="Arial" pitchFamily="34" charset="0"/>
                <a:cs typeface="Arial" pitchFamily="34" charset="0"/>
              </a:endParaRPr>
            </a:p>
          </p:txBody>
        </p:sp>
        <p:sp>
          <p:nvSpPr>
            <p:cNvPr id="112" name="Line 1418"/>
            <p:cNvSpPr>
              <a:spLocks noChangeShapeType="1"/>
            </p:cNvSpPr>
            <p:nvPr/>
          </p:nvSpPr>
          <p:spPr bwMode="auto">
            <a:xfrm>
              <a:off x="1947747" y="1723938"/>
              <a:ext cx="501179" cy="0"/>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113" name="Rectangle 1419"/>
            <p:cNvSpPr>
              <a:spLocks noChangeArrowheads="1"/>
            </p:cNvSpPr>
            <p:nvPr/>
          </p:nvSpPr>
          <p:spPr bwMode="auto">
            <a:xfrm>
              <a:off x="1049272" y="2162687"/>
              <a:ext cx="85572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Цилиндр 1</a:t>
              </a:r>
            </a:p>
          </p:txBody>
        </p:sp>
        <p:sp>
          <p:nvSpPr>
            <p:cNvPr id="114" name="Oval 1420"/>
            <p:cNvSpPr>
              <a:spLocks noChangeArrowheads="1"/>
            </p:cNvSpPr>
            <p:nvPr/>
          </p:nvSpPr>
          <p:spPr bwMode="auto">
            <a:xfrm>
              <a:off x="2448926" y="1661290"/>
              <a:ext cx="125295" cy="125295"/>
            </a:xfrm>
            <a:prstGeom prst="ellipse">
              <a:avLst/>
            </a:prstGeom>
            <a:solidFill>
              <a:srgbClr val="000000"/>
            </a:solidFill>
            <a:ln w="15875" cap="rnd" algn="ctr">
              <a:solidFill>
                <a:schemeClr val="tx1"/>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Arial" pitchFamily="34" charset="0"/>
                <a:cs typeface="Arial" pitchFamily="34" charset="0"/>
              </a:endParaRPr>
            </a:p>
          </p:txBody>
        </p:sp>
        <p:sp>
          <p:nvSpPr>
            <p:cNvPr id="115" name="Oval 1421"/>
            <p:cNvSpPr>
              <a:spLocks noChangeArrowheads="1"/>
            </p:cNvSpPr>
            <p:nvPr/>
          </p:nvSpPr>
          <p:spPr bwMode="auto">
            <a:xfrm>
              <a:off x="2448926" y="2601001"/>
              <a:ext cx="125295" cy="125295"/>
            </a:xfrm>
            <a:prstGeom prst="ellipse">
              <a:avLst/>
            </a:prstGeom>
            <a:solidFill>
              <a:srgbClr val="000000"/>
            </a:solidFill>
            <a:ln w="15875" cap="rnd" algn="ctr">
              <a:solidFill>
                <a:schemeClr val="tx1"/>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Arial" pitchFamily="34" charset="0"/>
                <a:cs typeface="Arial" pitchFamily="34" charset="0"/>
              </a:endParaRPr>
            </a:p>
          </p:txBody>
        </p:sp>
        <p:sp>
          <p:nvSpPr>
            <p:cNvPr id="116" name="Line 1422"/>
            <p:cNvSpPr>
              <a:spLocks noChangeShapeType="1"/>
            </p:cNvSpPr>
            <p:nvPr/>
          </p:nvSpPr>
          <p:spPr bwMode="auto">
            <a:xfrm flipH="1">
              <a:off x="2343209" y="1701750"/>
              <a:ext cx="8353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117" name="Rectangle 1423"/>
            <p:cNvSpPr>
              <a:spLocks noChangeArrowheads="1"/>
            </p:cNvSpPr>
            <p:nvPr/>
          </p:nvSpPr>
          <p:spPr bwMode="auto">
            <a:xfrm>
              <a:off x="1066801" y="1597670"/>
              <a:ext cx="83820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Головка 0</a:t>
              </a:r>
            </a:p>
          </p:txBody>
        </p:sp>
        <p:sp>
          <p:nvSpPr>
            <p:cNvPr id="118" name="Oval 1424"/>
            <p:cNvSpPr>
              <a:spLocks noChangeArrowheads="1"/>
            </p:cNvSpPr>
            <p:nvPr/>
          </p:nvSpPr>
          <p:spPr bwMode="auto">
            <a:xfrm>
              <a:off x="2448926" y="3603359"/>
              <a:ext cx="125295" cy="125295"/>
            </a:xfrm>
            <a:prstGeom prst="ellipse">
              <a:avLst/>
            </a:prstGeom>
            <a:solidFill>
              <a:srgbClr val="000000"/>
            </a:solidFill>
            <a:ln w="15875" cap="rnd" algn="ctr">
              <a:solidFill>
                <a:schemeClr val="tx1"/>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200">
                <a:latin typeface="Arial" pitchFamily="34" charset="0"/>
                <a:cs typeface="Arial" pitchFamily="34" charset="0"/>
              </a:endParaRPr>
            </a:p>
          </p:txBody>
        </p:sp>
        <p:sp>
          <p:nvSpPr>
            <p:cNvPr id="119" name="Line 1426"/>
            <p:cNvSpPr>
              <a:spLocks noChangeShapeType="1"/>
            </p:cNvSpPr>
            <p:nvPr/>
          </p:nvSpPr>
          <p:spPr bwMode="auto">
            <a:xfrm>
              <a:off x="1947747" y="2287764"/>
              <a:ext cx="501179" cy="0"/>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120" name="Line 1427"/>
            <p:cNvSpPr>
              <a:spLocks noChangeShapeType="1"/>
            </p:cNvSpPr>
            <p:nvPr/>
          </p:nvSpPr>
          <p:spPr bwMode="auto">
            <a:xfrm flipH="1">
              <a:off x="3388637" y="1034817"/>
              <a:ext cx="187942" cy="438532"/>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121" name="Line 1428"/>
            <p:cNvSpPr>
              <a:spLocks noChangeShapeType="1"/>
            </p:cNvSpPr>
            <p:nvPr/>
          </p:nvSpPr>
          <p:spPr bwMode="auto">
            <a:xfrm flipH="1">
              <a:off x="3576579" y="1034817"/>
              <a:ext cx="313237" cy="0"/>
            </a:xfrm>
            <a:prstGeom prst="line">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122" name="Rectangle 1429"/>
            <p:cNvSpPr>
              <a:spLocks noChangeArrowheads="1"/>
            </p:cNvSpPr>
            <p:nvPr/>
          </p:nvSpPr>
          <p:spPr bwMode="auto">
            <a:xfrm>
              <a:off x="3943244" y="913456"/>
              <a:ext cx="846433"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Сектор 8</a:t>
              </a:r>
            </a:p>
          </p:txBody>
        </p:sp>
        <p:sp>
          <p:nvSpPr>
            <p:cNvPr id="123" name="AutoShape 1432"/>
            <p:cNvSpPr>
              <a:spLocks noChangeAspect="1" noChangeArrowheads="1" noTextEdit="1"/>
            </p:cNvSpPr>
            <p:nvPr/>
          </p:nvSpPr>
          <p:spPr bwMode="auto">
            <a:xfrm>
              <a:off x="5700066" y="824739"/>
              <a:ext cx="1771094" cy="4126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200">
                <a:latin typeface="Arial" pitchFamily="34" charset="0"/>
                <a:cs typeface="Arial" pitchFamily="34" charset="0"/>
              </a:endParaRPr>
            </a:p>
          </p:txBody>
        </p:sp>
        <p:pic>
          <p:nvPicPr>
            <p:cNvPr id="124" name="Picture 146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41830" y="3368432"/>
              <a:ext cx="1764568" cy="882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 name="Freeform 1462"/>
            <p:cNvSpPr>
              <a:spLocks/>
            </p:cNvSpPr>
            <p:nvPr/>
          </p:nvSpPr>
          <p:spPr bwMode="auto">
            <a:xfrm>
              <a:off x="5747050" y="3384094"/>
              <a:ext cx="1755432" cy="852266"/>
            </a:xfrm>
            <a:custGeom>
              <a:avLst/>
              <a:gdLst>
                <a:gd name="T0" fmla="*/ 778 w 779"/>
                <a:gd name="T1" fmla="*/ 161 h 380"/>
                <a:gd name="T2" fmla="*/ 388 w 779"/>
                <a:gd name="T3" fmla="*/ 0 h 380"/>
                <a:gd name="T4" fmla="*/ 0 w 779"/>
                <a:gd name="T5" fmla="*/ 176 h 380"/>
                <a:gd name="T6" fmla="*/ 0 w 779"/>
                <a:gd name="T7" fmla="*/ 187 h 380"/>
                <a:gd name="T8" fmla="*/ 386 w 779"/>
                <a:gd name="T9" fmla="*/ 379 h 380"/>
                <a:gd name="T10" fmla="*/ 779 w 779"/>
                <a:gd name="T11" fmla="*/ 183 h 380"/>
                <a:gd name="T12" fmla="*/ 778 w 779"/>
                <a:gd name="T13" fmla="*/ 161 h 380"/>
              </a:gdLst>
              <a:ahLst/>
              <a:cxnLst>
                <a:cxn ang="0">
                  <a:pos x="T0" y="T1"/>
                </a:cxn>
                <a:cxn ang="0">
                  <a:pos x="T2" y="T3"/>
                </a:cxn>
                <a:cxn ang="0">
                  <a:pos x="T4" y="T5"/>
                </a:cxn>
                <a:cxn ang="0">
                  <a:pos x="T6" y="T7"/>
                </a:cxn>
                <a:cxn ang="0">
                  <a:pos x="T8" y="T9"/>
                </a:cxn>
                <a:cxn ang="0">
                  <a:pos x="T10" y="T11"/>
                </a:cxn>
                <a:cxn ang="0">
                  <a:pos x="T12" y="T13"/>
                </a:cxn>
              </a:cxnLst>
              <a:rect l="0" t="0" r="r" b="b"/>
              <a:pathLst>
                <a:path w="779" h="380">
                  <a:moveTo>
                    <a:pt x="778" y="161"/>
                  </a:moveTo>
                  <a:cubicBezTo>
                    <a:pt x="778" y="64"/>
                    <a:pt x="602" y="0"/>
                    <a:pt x="388" y="0"/>
                  </a:cubicBezTo>
                  <a:cubicBezTo>
                    <a:pt x="174" y="0"/>
                    <a:pt x="0" y="79"/>
                    <a:pt x="0" y="176"/>
                  </a:cubicBezTo>
                  <a:cubicBezTo>
                    <a:pt x="0" y="183"/>
                    <a:pt x="0" y="184"/>
                    <a:pt x="0" y="187"/>
                  </a:cubicBezTo>
                  <a:cubicBezTo>
                    <a:pt x="4" y="265"/>
                    <a:pt x="148" y="380"/>
                    <a:pt x="386" y="379"/>
                  </a:cubicBezTo>
                  <a:cubicBezTo>
                    <a:pt x="658" y="378"/>
                    <a:pt x="777" y="252"/>
                    <a:pt x="779" y="183"/>
                  </a:cubicBezTo>
                  <a:cubicBezTo>
                    <a:pt x="779" y="183"/>
                    <a:pt x="778" y="165"/>
                    <a:pt x="778" y="161"/>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26" name="Picture 146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41830" y="3290123"/>
              <a:ext cx="1764568" cy="92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 name="Oval 1464"/>
            <p:cNvSpPr>
              <a:spLocks noChangeArrowheads="1"/>
            </p:cNvSpPr>
            <p:nvPr/>
          </p:nvSpPr>
          <p:spPr bwMode="auto">
            <a:xfrm>
              <a:off x="5749661" y="3307090"/>
              <a:ext cx="1743685" cy="897946"/>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28" name="Picture 146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848852" y="3348854"/>
              <a:ext cx="1549218" cy="80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 name="Oval 1466"/>
            <p:cNvSpPr>
              <a:spLocks noChangeArrowheads="1"/>
            </p:cNvSpPr>
            <p:nvPr/>
          </p:nvSpPr>
          <p:spPr bwMode="auto">
            <a:xfrm>
              <a:off x="5864514" y="3363212"/>
              <a:ext cx="1516589" cy="772651"/>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130" name="Oval 1467"/>
            <p:cNvSpPr>
              <a:spLocks noChangeArrowheads="1"/>
            </p:cNvSpPr>
            <p:nvPr/>
          </p:nvSpPr>
          <p:spPr bwMode="auto">
            <a:xfrm>
              <a:off x="5979368" y="3419333"/>
              <a:ext cx="1286882" cy="642136"/>
            </a:xfrm>
            <a:prstGeom prst="ellipse">
              <a:avLst/>
            </a:prstGeom>
            <a:solidFill>
              <a:srgbClr val="FFFFFF"/>
            </a:solidFill>
            <a:ln w="11113">
              <a:solidFill>
                <a:srgbClr val="000000"/>
              </a:solidFill>
              <a:miter lim="800000"/>
              <a:headEnd/>
              <a:tailEnd/>
            </a:ln>
          </p:spPr>
          <p:txBody>
            <a:bodyPr/>
            <a:lstStyle/>
            <a:p>
              <a:endParaRPr lang="en-US" sz="1200">
                <a:latin typeface="Arial" pitchFamily="34" charset="0"/>
                <a:cs typeface="Arial" pitchFamily="34" charset="0"/>
              </a:endParaRPr>
            </a:p>
          </p:txBody>
        </p:sp>
        <p:pic>
          <p:nvPicPr>
            <p:cNvPr id="131" name="Picture 146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94221" y="3471539"/>
              <a:ext cx="1054564" cy="53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 name="Oval 1469"/>
            <p:cNvSpPr>
              <a:spLocks noChangeArrowheads="1"/>
            </p:cNvSpPr>
            <p:nvPr/>
          </p:nvSpPr>
          <p:spPr bwMode="auto">
            <a:xfrm>
              <a:off x="6107273" y="3484590"/>
              <a:ext cx="1029767" cy="51162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33" name="Picture 147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35178" y="3543323"/>
              <a:ext cx="776567" cy="39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 name="Oval 1471"/>
            <p:cNvSpPr>
              <a:spLocks noChangeArrowheads="1"/>
            </p:cNvSpPr>
            <p:nvPr/>
          </p:nvSpPr>
          <p:spPr bwMode="auto">
            <a:xfrm>
              <a:off x="6246925" y="3555069"/>
              <a:ext cx="747854" cy="371969"/>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35" name="Picture 147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603231" y="3915291"/>
              <a:ext cx="33934" cy="304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 name="Line 1473"/>
            <p:cNvSpPr>
              <a:spLocks noChangeShapeType="1"/>
            </p:cNvSpPr>
            <p:nvPr/>
          </p:nvSpPr>
          <p:spPr bwMode="auto">
            <a:xfrm flipH="1">
              <a:off x="6616283" y="3927038"/>
              <a:ext cx="6526" cy="27799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37" name="Picture 147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600621" y="3292733"/>
              <a:ext cx="27409" cy="27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 name="Line 1475"/>
            <p:cNvSpPr>
              <a:spLocks noChangeShapeType="1"/>
            </p:cNvSpPr>
            <p:nvPr/>
          </p:nvSpPr>
          <p:spPr bwMode="auto">
            <a:xfrm>
              <a:off x="6614978" y="3307090"/>
              <a:ext cx="0" cy="247979"/>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39" name="Picture 147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986947" y="3727349"/>
              <a:ext cx="519451" cy="2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 name="Line 1477"/>
            <p:cNvSpPr>
              <a:spLocks noChangeShapeType="1"/>
            </p:cNvSpPr>
            <p:nvPr/>
          </p:nvSpPr>
          <p:spPr bwMode="auto">
            <a:xfrm>
              <a:off x="6999998" y="3740401"/>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41" name="Picture 1478"/>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741830" y="3726044"/>
              <a:ext cx="520757" cy="2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 name="Line 1479"/>
            <p:cNvSpPr>
              <a:spLocks noChangeShapeType="1"/>
            </p:cNvSpPr>
            <p:nvPr/>
          </p:nvSpPr>
          <p:spPr bwMode="auto">
            <a:xfrm>
              <a:off x="5747050" y="3740401"/>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143" name="Line 1480"/>
            <p:cNvSpPr>
              <a:spLocks noChangeShapeType="1"/>
            </p:cNvSpPr>
            <p:nvPr/>
          </p:nvSpPr>
          <p:spPr bwMode="auto">
            <a:xfrm flipH="1">
              <a:off x="5995030" y="3880052"/>
              <a:ext cx="373274" cy="19055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44" name="Picture 1481"/>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881230" y="3428469"/>
              <a:ext cx="378495" cy="200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 name="Line 1482"/>
            <p:cNvSpPr>
              <a:spLocks noChangeShapeType="1"/>
            </p:cNvSpPr>
            <p:nvPr/>
          </p:nvSpPr>
          <p:spPr bwMode="auto">
            <a:xfrm flipH="1">
              <a:off x="6895586" y="3440215"/>
              <a:ext cx="353697" cy="17750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46" name="Picture 148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004166" y="3416722"/>
              <a:ext cx="378495" cy="202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 name="Line 1484"/>
            <p:cNvSpPr>
              <a:spLocks noChangeShapeType="1"/>
            </p:cNvSpPr>
            <p:nvPr/>
          </p:nvSpPr>
          <p:spPr bwMode="auto">
            <a:xfrm flipH="1" flipV="1">
              <a:off x="6017218" y="3428469"/>
              <a:ext cx="353697" cy="17750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148" name="Line 1485"/>
            <p:cNvSpPr>
              <a:spLocks noChangeShapeType="1"/>
            </p:cNvSpPr>
            <p:nvPr/>
          </p:nvSpPr>
          <p:spPr bwMode="auto">
            <a:xfrm>
              <a:off x="6900806" y="3867001"/>
              <a:ext cx="373274" cy="18533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149" name="Freeform 1486"/>
            <p:cNvSpPr>
              <a:spLocks/>
            </p:cNvSpPr>
            <p:nvPr/>
          </p:nvSpPr>
          <p:spPr bwMode="auto">
            <a:xfrm>
              <a:off x="6618893" y="3307090"/>
              <a:ext cx="623864" cy="168365"/>
            </a:xfrm>
            <a:custGeom>
              <a:avLst/>
              <a:gdLst>
                <a:gd name="T0" fmla="*/ 0 w 277"/>
                <a:gd name="T1" fmla="*/ 0 h 75"/>
                <a:gd name="T2" fmla="*/ 1 w 277"/>
                <a:gd name="T3" fmla="*/ 23 h 75"/>
                <a:gd name="T4" fmla="*/ 246 w 277"/>
                <a:gd name="T5" fmla="*/ 75 h 75"/>
                <a:gd name="T6" fmla="*/ 277 w 277"/>
                <a:gd name="T7" fmla="*/ 58 h 75"/>
                <a:gd name="T8" fmla="*/ 0 w 277"/>
                <a:gd name="T9" fmla="*/ 0 h 75"/>
              </a:gdLst>
              <a:ahLst/>
              <a:cxnLst>
                <a:cxn ang="0">
                  <a:pos x="T0" y="T1"/>
                </a:cxn>
                <a:cxn ang="0">
                  <a:pos x="T2" y="T3"/>
                </a:cxn>
                <a:cxn ang="0">
                  <a:pos x="T4" y="T5"/>
                </a:cxn>
                <a:cxn ang="0">
                  <a:pos x="T6" y="T7"/>
                </a:cxn>
                <a:cxn ang="0">
                  <a:pos x="T8" y="T9"/>
                </a:cxn>
              </a:cxnLst>
              <a:rect l="0" t="0" r="r" b="b"/>
              <a:pathLst>
                <a:path w="277" h="75">
                  <a:moveTo>
                    <a:pt x="0" y="0"/>
                  </a:moveTo>
                  <a:cubicBezTo>
                    <a:pt x="0" y="0"/>
                    <a:pt x="1" y="15"/>
                    <a:pt x="1" y="23"/>
                  </a:cubicBezTo>
                  <a:cubicBezTo>
                    <a:pt x="44" y="23"/>
                    <a:pt x="149" y="27"/>
                    <a:pt x="246" y="75"/>
                  </a:cubicBezTo>
                  <a:cubicBezTo>
                    <a:pt x="260" y="67"/>
                    <a:pt x="277" y="58"/>
                    <a:pt x="277" y="58"/>
                  </a:cubicBezTo>
                  <a:cubicBezTo>
                    <a:pt x="277" y="58"/>
                    <a:pt x="174"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pic>
          <p:nvPicPr>
            <p:cNvPr id="150" name="Picture 1487"/>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492294" y="3110012"/>
              <a:ext cx="263641" cy="70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Freeform 1488"/>
            <p:cNvSpPr>
              <a:spLocks/>
            </p:cNvSpPr>
            <p:nvPr/>
          </p:nvSpPr>
          <p:spPr bwMode="auto">
            <a:xfrm>
              <a:off x="6506650" y="3121758"/>
              <a:ext cx="236233" cy="681290"/>
            </a:xfrm>
            <a:custGeom>
              <a:avLst/>
              <a:gdLst>
                <a:gd name="T0" fmla="*/ 104 w 105"/>
                <a:gd name="T1" fmla="*/ 264 h 304"/>
                <a:gd name="T2" fmla="*/ 104 w 105"/>
                <a:gd name="T3" fmla="*/ 0 h 304"/>
                <a:gd name="T4" fmla="*/ 0 w 105"/>
                <a:gd name="T5" fmla="*/ 0 h 304"/>
                <a:gd name="T6" fmla="*/ 0 w 105"/>
                <a:gd name="T7" fmla="*/ 274 h 304"/>
                <a:gd name="T8" fmla="*/ 0 w 105"/>
                <a:gd name="T9" fmla="*/ 274 h 304"/>
                <a:gd name="T10" fmla="*/ 52 w 105"/>
                <a:gd name="T11" fmla="*/ 304 h 304"/>
                <a:gd name="T12" fmla="*/ 105 w 105"/>
                <a:gd name="T13" fmla="*/ 270 h 304"/>
                <a:gd name="T14" fmla="*/ 104 w 105"/>
                <a:gd name="T15" fmla="*/ 264 h 3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04">
                  <a:moveTo>
                    <a:pt x="104" y="264"/>
                  </a:moveTo>
                  <a:cubicBezTo>
                    <a:pt x="104" y="0"/>
                    <a:pt x="104" y="0"/>
                    <a:pt x="104" y="0"/>
                  </a:cubicBezTo>
                  <a:cubicBezTo>
                    <a:pt x="0" y="0"/>
                    <a:pt x="0" y="0"/>
                    <a:pt x="0" y="0"/>
                  </a:cubicBezTo>
                  <a:cubicBezTo>
                    <a:pt x="0" y="274"/>
                    <a:pt x="0" y="274"/>
                    <a:pt x="0" y="274"/>
                  </a:cubicBezTo>
                  <a:cubicBezTo>
                    <a:pt x="0" y="274"/>
                    <a:pt x="0" y="274"/>
                    <a:pt x="0" y="274"/>
                  </a:cubicBezTo>
                  <a:cubicBezTo>
                    <a:pt x="3" y="291"/>
                    <a:pt x="25" y="304"/>
                    <a:pt x="52" y="304"/>
                  </a:cubicBezTo>
                  <a:cubicBezTo>
                    <a:pt x="81" y="304"/>
                    <a:pt x="105" y="289"/>
                    <a:pt x="105" y="270"/>
                  </a:cubicBezTo>
                  <a:cubicBezTo>
                    <a:pt x="105" y="268"/>
                    <a:pt x="104" y="266"/>
                    <a:pt x="104" y="264"/>
                  </a:cubicBezTo>
                  <a:close/>
                </a:path>
              </a:pathLst>
            </a:custGeom>
            <a:noFill/>
            <a:ln w="11113" cap="flat">
              <a:solidFill>
                <a:srgbClr val="A0BAB8"/>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52" name="Picture 1489"/>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741830" y="2385651"/>
              <a:ext cx="1764568" cy="882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Freeform 1490"/>
            <p:cNvSpPr>
              <a:spLocks/>
            </p:cNvSpPr>
            <p:nvPr/>
          </p:nvSpPr>
          <p:spPr bwMode="auto">
            <a:xfrm>
              <a:off x="5747050" y="2401313"/>
              <a:ext cx="1755432" cy="852266"/>
            </a:xfrm>
            <a:custGeom>
              <a:avLst/>
              <a:gdLst>
                <a:gd name="T0" fmla="*/ 778 w 779"/>
                <a:gd name="T1" fmla="*/ 161 h 380"/>
                <a:gd name="T2" fmla="*/ 388 w 779"/>
                <a:gd name="T3" fmla="*/ 0 h 380"/>
                <a:gd name="T4" fmla="*/ 0 w 779"/>
                <a:gd name="T5" fmla="*/ 176 h 380"/>
                <a:gd name="T6" fmla="*/ 0 w 779"/>
                <a:gd name="T7" fmla="*/ 187 h 380"/>
                <a:gd name="T8" fmla="*/ 386 w 779"/>
                <a:gd name="T9" fmla="*/ 379 h 380"/>
                <a:gd name="T10" fmla="*/ 779 w 779"/>
                <a:gd name="T11" fmla="*/ 183 h 380"/>
                <a:gd name="T12" fmla="*/ 778 w 779"/>
                <a:gd name="T13" fmla="*/ 161 h 380"/>
              </a:gdLst>
              <a:ahLst/>
              <a:cxnLst>
                <a:cxn ang="0">
                  <a:pos x="T0" y="T1"/>
                </a:cxn>
                <a:cxn ang="0">
                  <a:pos x="T2" y="T3"/>
                </a:cxn>
                <a:cxn ang="0">
                  <a:pos x="T4" y="T5"/>
                </a:cxn>
                <a:cxn ang="0">
                  <a:pos x="T6" y="T7"/>
                </a:cxn>
                <a:cxn ang="0">
                  <a:pos x="T8" y="T9"/>
                </a:cxn>
                <a:cxn ang="0">
                  <a:pos x="T10" y="T11"/>
                </a:cxn>
                <a:cxn ang="0">
                  <a:pos x="T12" y="T13"/>
                </a:cxn>
              </a:cxnLst>
              <a:rect l="0" t="0" r="r" b="b"/>
              <a:pathLst>
                <a:path w="779" h="380">
                  <a:moveTo>
                    <a:pt x="778" y="161"/>
                  </a:moveTo>
                  <a:cubicBezTo>
                    <a:pt x="778" y="64"/>
                    <a:pt x="602" y="0"/>
                    <a:pt x="388" y="0"/>
                  </a:cubicBezTo>
                  <a:cubicBezTo>
                    <a:pt x="174" y="0"/>
                    <a:pt x="0" y="79"/>
                    <a:pt x="0" y="176"/>
                  </a:cubicBezTo>
                  <a:cubicBezTo>
                    <a:pt x="0" y="183"/>
                    <a:pt x="0" y="184"/>
                    <a:pt x="0" y="187"/>
                  </a:cubicBezTo>
                  <a:cubicBezTo>
                    <a:pt x="4" y="265"/>
                    <a:pt x="148" y="380"/>
                    <a:pt x="386" y="379"/>
                  </a:cubicBezTo>
                  <a:cubicBezTo>
                    <a:pt x="658" y="378"/>
                    <a:pt x="777" y="252"/>
                    <a:pt x="779" y="183"/>
                  </a:cubicBezTo>
                  <a:cubicBezTo>
                    <a:pt x="779" y="183"/>
                    <a:pt x="778" y="165"/>
                    <a:pt x="778" y="161"/>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54" name="Picture 1491"/>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5741830" y="2307342"/>
              <a:ext cx="1764568" cy="92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 name="Oval 1492"/>
            <p:cNvSpPr>
              <a:spLocks noChangeArrowheads="1"/>
            </p:cNvSpPr>
            <p:nvPr/>
          </p:nvSpPr>
          <p:spPr bwMode="auto">
            <a:xfrm>
              <a:off x="5749661" y="2324309"/>
              <a:ext cx="1743685" cy="897946"/>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56" name="Picture 1493"/>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5848852" y="2366074"/>
              <a:ext cx="1549218" cy="80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 name="Oval 1494"/>
            <p:cNvSpPr>
              <a:spLocks noChangeArrowheads="1"/>
            </p:cNvSpPr>
            <p:nvPr/>
          </p:nvSpPr>
          <p:spPr bwMode="auto">
            <a:xfrm>
              <a:off x="5864514" y="2380430"/>
              <a:ext cx="1516589" cy="772651"/>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158" name="Oval 1495"/>
            <p:cNvSpPr>
              <a:spLocks noChangeArrowheads="1"/>
            </p:cNvSpPr>
            <p:nvPr/>
          </p:nvSpPr>
          <p:spPr bwMode="auto">
            <a:xfrm>
              <a:off x="5979368" y="2436552"/>
              <a:ext cx="1286882" cy="642136"/>
            </a:xfrm>
            <a:prstGeom prst="ellipse">
              <a:avLst/>
            </a:prstGeom>
            <a:solidFill>
              <a:srgbClr val="FFFFFF"/>
            </a:solidFill>
            <a:ln w="11113">
              <a:solidFill>
                <a:srgbClr val="000000"/>
              </a:solidFill>
              <a:miter lim="800000"/>
              <a:headEnd/>
              <a:tailEnd/>
            </a:ln>
          </p:spPr>
          <p:txBody>
            <a:bodyPr/>
            <a:lstStyle/>
            <a:p>
              <a:endParaRPr lang="en-US" sz="1200">
                <a:latin typeface="Arial" pitchFamily="34" charset="0"/>
                <a:cs typeface="Arial" pitchFamily="34" charset="0"/>
              </a:endParaRPr>
            </a:p>
          </p:txBody>
        </p:sp>
        <p:pic>
          <p:nvPicPr>
            <p:cNvPr id="159" name="Picture 1496"/>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6094221" y="2488759"/>
              <a:ext cx="1054564" cy="53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 name="Oval 1497"/>
            <p:cNvSpPr>
              <a:spLocks noChangeArrowheads="1"/>
            </p:cNvSpPr>
            <p:nvPr/>
          </p:nvSpPr>
          <p:spPr bwMode="auto">
            <a:xfrm>
              <a:off x="6107273" y="2501810"/>
              <a:ext cx="1029767" cy="51162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61" name="Picture 1498"/>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6235178" y="2560542"/>
              <a:ext cx="776567" cy="39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 name="Oval 1499"/>
            <p:cNvSpPr>
              <a:spLocks noChangeArrowheads="1"/>
            </p:cNvSpPr>
            <p:nvPr/>
          </p:nvSpPr>
          <p:spPr bwMode="auto">
            <a:xfrm>
              <a:off x="6246925" y="2570983"/>
              <a:ext cx="747854" cy="373274"/>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63" name="Picture 150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603231" y="2932511"/>
              <a:ext cx="33934" cy="302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 name="Line 1501"/>
            <p:cNvSpPr>
              <a:spLocks noChangeShapeType="1"/>
            </p:cNvSpPr>
            <p:nvPr/>
          </p:nvSpPr>
          <p:spPr bwMode="auto">
            <a:xfrm flipH="1">
              <a:off x="6616283" y="2944257"/>
              <a:ext cx="6526" cy="27799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65" name="Picture 150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600621" y="2308647"/>
              <a:ext cx="27409" cy="276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 name="Line 1503"/>
            <p:cNvSpPr>
              <a:spLocks noChangeShapeType="1"/>
            </p:cNvSpPr>
            <p:nvPr/>
          </p:nvSpPr>
          <p:spPr bwMode="auto">
            <a:xfrm>
              <a:off x="6614978" y="2324309"/>
              <a:ext cx="0" cy="24667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67" name="Picture 1504"/>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986947" y="2744569"/>
              <a:ext cx="519451" cy="2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 name="Line 1505"/>
            <p:cNvSpPr>
              <a:spLocks noChangeShapeType="1"/>
            </p:cNvSpPr>
            <p:nvPr/>
          </p:nvSpPr>
          <p:spPr bwMode="auto">
            <a:xfrm>
              <a:off x="6999998" y="2757620"/>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69" name="Picture 1506"/>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741830" y="2743263"/>
              <a:ext cx="520757" cy="2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0" name="Line 1507"/>
            <p:cNvSpPr>
              <a:spLocks noChangeShapeType="1"/>
            </p:cNvSpPr>
            <p:nvPr/>
          </p:nvSpPr>
          <p:spPr bwMode="auto">
            <a:xfrm>
              <a:off x="5747050" y="2757620"/>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171" name="Line 1508"/>
            <p:cNvSpPr>
              <a:spLocks noChangeShapeType="1"/>
            </p:cNvSpPr>
            <p:nvPr/>
          </p:nvSpPr>
          <p:spPr bwMode="auto">
            <a:xfrm flipH="1">
              <a:off x="5995030" y="2897271"/>
              <a:ext cx="373274" cy="19055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72" name="Picture 1509"/>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6881230" y="2445688"/>
              <a:ext cx="378495" cy="200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 name="Line 1510"/>
            <p:cNvSpPr>
              <a:spLocks noChangeShapeType="1"/>
            </p:cNvSpPr>
            <p:nvPr/>
          </p:nvSpPr>
          <p:spPr bwMode="auto">
            <a:xfrm flipH="1">
              <a:off x="6895586" y="2457435"/>
              <a:ext cx="353697" cy="17750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74" name="Picture 1511"/>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6004166" y="2433942"/>
              <a:ext cx="378495" cy="200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 name="Line 1512"/>
            <p:cNvSpPr>
              <a:spLocks noChangeShapeType="1"/>
            </p:cNvSpPr>
            <p:nvPr/>
          </p:nvSpPr>
          <p:spPr bwMode="auto">
            <a:xfrm flipH="1" flipV="1">
              <a:off x="6017218" y="2445688"/>
              <a:ext cx="353697" cy="17750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176" name="Line 1513"/>
            <p:cNvSpPr>
              <a:spLocks noChangeShapeType="1"/>
            </p:cNvSpPr>
            <p:nvPr/>
          </p:nvSpPr>
          <p:spPr bwMode="auto">
            <a:xfrm>
              <a:off x="6900806" y="2882915"/>
              <a:ext cx="373274" cy="1866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177" name="Freeform 1514"/>
            <p:cNvSpPr>
              <a:spLocks/>
            </p:cNvSpPr>
            <p:nvPr/>
          </p:nvSpPr>
          <p:spPr bwMode="auto">
            <a:xfrm>
              <a:off x="6618893" y="2324309"/>
              <a:ext cx="623864" cy="168365"/>
            </a:xfrm>
            <a:custGeom>
              <a:avLst/>
              <a:gdLst>
                <a:gd name="T0" fmla="*/ 0 w 277"/>
                <a:gd name="T1" fmla="*/ 0 h 75"/>
                <a:gd name="T2" fmla="*/ 1 w 277"/>
                <a:gd name="T3" fmla="*/ 23 h 75"/>
                <a:gd name="T4" fmla="*/ 246 w 277"/>
                <a:gd name="T5" fmla="*/ 75 h 75"/>
                <a:gd name="T6" fmla="*/ 277 w 277"/>
                <a:gd name="T7" fmla="*/ 58 h 75"/>
                <a:gd name="T8" fmla="*/ 0 w 277"/>
                <a:gd name="T9" fmla="*/ 0 h 75"/>
              </a:gdLst>
              <a:ahLst/>
              <a:cxnLst>
                <a:cxn ang="0">
                  <a:pos x="T0" y="T1"/>
                </a:cxn>
                <a:cxn ang="0">
                  <a:pos x="T2" y="T3"/>
                </a:cxn>
                <a:cxn ang="0">
                  <a:pos x="T4" y="T5"/>
                </a:cxn>
                <a:cxn ang="0">
                  <a:pos x="T6" y="T7"/>
                </a:cxn>
                <a:cxn ang="0">
                  <a:pos x="T8" y="T9"/>
                </a:cxn>
              </a:cxnLst>
              <a:rect l="0" t="0" r="r" b="b"/>
              <a:pathLst>
                <a:path w="277" h="75">
                  <a:moveTo>
                    <a:pt x="0" y="0"/>
                  </a:moveTo>
                  <a:cubicBezTo>
                    <a:pt x="0" y="0"/>
                    <a:pt x="1" y="15"/>
                    <a:pt x="1" y="23"/>
                  </a:cubicBezTo>
                  <a:cubicBezTo>
                    <a:pt x="44" y="23"/>
                    <a:pt x="149" y="27"/>
                    <a:pt x="246" y="75"/>
                  </a:cubicBezTo>
                  <a:cubicBezTo>
                    <a:pt x="260" y="67"/>
                    <a:pt x="277" y="58"/>
                    <a:pt x="277" y="58"/>
                  </a:cubicBezTo>
                  <a:cubicBezTo>
                    <a:pt x="277" y="58"/>
                    <a:pt x="174"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pic>
          <p:nvPicPr>
            <p:cNvPr id="178" name="Picture 1515"/>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6492294" y="2124620"/>
              <a:ext cx="263641" cy="707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9" name="Freeform 1516"/>
            <p:cNvSpPr>
              <a:spLocks/>
            </p:cNvSpPr>
            <p:nvPr/>
          </p:nvSpPr>
          <p:spPr bwMode="auto">
            <a:xfrm>
              <a:off x="6506650" y="2136367"/>
              <a:ext cx="236233" cy="682596"/>
            </a:xfrm>
            <a:custGeom>
              <a:avLst/>
              <a:gdLst>
                <a:gd name="T0" fmla="*/ 104 w 105"/>
                <a:gd name="T1" fmla="*/ 264 h 304"/>
                <a:gd name="T2" fmla="*/ 104 w 105"/>
                <a:gd name="T3" fmla="*/ 0 h 304"/>
                <a:gd name="T4" fmla="*/ 0 w 105"/>
                <a:gd name="T5" fmla="*/ 0 h 304"/>
                <a:gd name="T6" fmla="*/ 0 w 105"/>
                <a:gd name="T7" fmla="*/ 274 h 304"/>
                <a:gd name="T8" fmla="*/ 0 w 105"/>
                <a:gd name="T9" fmla="*/ 274 h 304"/>
                <a:gd name="T10" fmla="*/ 52 w 105"/>
                <a:gd name="T11" fmla="*/ 304 h 304"/>
                <a:gd name="T12" fmla="*/ 105 w 105"/>
                <a:gd name="T13" fmla="*/ 270 h 304"/>
                <a:gd name="T14" fmla="*/ 104 w 105"/>
                <a:gd name="T15" fmla="*/ 264 h 3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04">
                  <a:moveTo>
                    <a:pt x="104" y="264"/>
                  </a:moveTo>
                  <a:cubicBezTo>
                    <a:pt x="104" y="0"/>
                    <a:pt x="104" y="0"/>
                    <a:pt x="104" y="0"/>
                  </a:cubicBezTo>
                  <a:cubicBezTo>
                    <a:pt x="0" y="0"/>
                    <a:pt x="0" y="0"/>
                    <a:pt x="0" y="0"/>
                  </a:cubicBezTo>
                  <a:cubicBezTo>
                    <a:pt x="0" y="274"/>
                    <a:pt x="0" y="274"/>
                    <a:pt x="0" y="274"/>
                  </a:cubicBezTo>
                  <a:cubicBezTo>
                    <a:pt x="0" y="274"/>
                    <a:pt x="0" y="274"/>
                    <a:pt x="0" y="274"/>
                  </a:cubicBezTo>
                  <a:cubicBezTo>
                    <a:pt x="3" y="291"/>
                    <a:pt x="25" y="304"/>
                    <a:pt x="52" y="304"/>
                  </a:cubicBezTo>
                  <a:cubicBezTo>
                    <a:pt x="81" y="304"/>
                    <a:pt x="105" y="289"/>
                    <a:pt x="105" y="270"/>
                  </a:cubicBezTo>
                  <a:cubicBezTo>
                    <a:pt x="105" y="268"/>
                    <a:pt x="104" y="266"/>
                    <a:pt x="104" y="264"/>
                  </a:cubicBezTo>
                  <a:close/>
                </a:path>
              </a:pathLst>
            </a:custGeom>
            <a:noFill/>
            <a:ln w="11113" cap="flat">
              <a:solidFill>
                <a:srgbClr val="A0BAB8"/>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80" name="Picture 1517"/>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5741830" y="1395040"/>
              <a:ext cx="1764568" cy="882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 name="Freeform 1518"/>
            <p:cNvSpPr>
              <a:spLocks/>
            </p:cNvSpPr>
            <p:nvPr/>
          </p:nvSpPr>
          <p:spPr bwMode="auto">
            <a:xfrm>
              <a:off x="5747050" y="1410702"/>
              <a:ext cx="1755432" cy="853571"/>
            </a:xfrm>
            <a:custGeom>
              <a:avLst/>
              <a:gdLst>
                <a:gd name="T0" fmla="*/ 778 w 779"/>
                <a:gd name="T1" fmla="*/ 161 h 380"/>
                <a:gd name="T2" fmla="*/ 388 w 779"/>
                <a:gd name="T3" fmla="*/ 0 h 380"/>
                <a:gd name="T4" fmla="*/ 0 w 779"/>
                <a:gd name="T5" fmla="*/ 176 h 380"/>
                <a:gd name="T6" fmla="*/ 0 w 779"/>
                <a:gd name="T7" fmla="*/ 187 h 380"/>
                <a:gd name="T8" fmla="*/ 386 w 779"/>
                <a:gd name="T9" fmla="*/ 379 h 380"/>
                <a:gd name="T10" fmla="*/ 779 w 779"/>
                <a:gd name="T11" fmla="*/ 183 h 380"/>
                <a:gd name="T12" fmla="*/ 778 w 779"/>
                <a:gd name="T13" fmla="*/ 161 h 380"/>
              </a:gdLst>
              <a:ahLst/>
              <a:cxnLst>
                <a:cxn ang="0">
                  <a:pos x="T0" y="T1"/>
                </a:cxn>
                <a:cxn ang="0">
                  <a:pos x="T2" y="T3"/>
                </a:cxn>
                <a:cxn ang="0">
                  <a:pos x="T4" y="T5"/>
                </a:cxn>
                <a:cxn ang="0">
                  <a:pos x="T6" y="T7"/>
                </a:cxn>
                <a:cxn ang="0">
                  <a:pos x="T8" y="T9"/>
                </a:cxn>
                <a:cxn ang="0">
                  <a:pos x="T10" y="T11"/>
                </a:cxn>
                <a:cxn ang="0">
                  <a:pos x="T12" y="T13"/>
                </a:cxn>
              </a:cxnLst>
              <a:rect l="0" t="0" r="r" b="b"/>
              <a:pathLst>
                <a:path w="779" h="380">
                  <a:moveTo>
                    <a:pt x="778" y="161"/>
                  </a:moveTo>
                  <a:cubicBezTo>
                    <a:pt x="778" y="64"/>
                    <a:pt x="602" y="0"/>
                    <a:pt x="388" y="0"/>
                  </a:cubicBezTo>
                  <a:cubicBezTo>
                    <a:pt x="174" y="0"/>
                    <a:pt x="0" y="79"/>
                    <a:pt x="0" y="176"/>
                  </a:cubicBezTo>
                  <a:cubicBezTo>
                    <a:pt x="0" y="183"/>
                    <a:pt x="0" y="183"/>
                    <a:pt x="0" y="187"/>
                  </a:cubicBezTo>
                  <a:cubicBezTo>
                    <a:pt x="4" y="265"/>
                    <a:pt x="148" y="380"/>
                    <a:pt x="386" y="379"/>
                  </a:cubicBezTo>
                  <a:cubicBezTo>
                    <a:pt x="658" y="378"/>
                    <a:pt x="777" y="252"/>
                    <a:pt x="779" y="183"/>
                  </a:cubicBezTo>
                  <a:cubicBezTo>
                    <a:pt x="779" y="182"/>
                    <a:pt x="778" y="165"/>
                    <a:pt x="778" y="161"/>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82" name="Picture 1519"/>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41830" y="1318035"/>
              <a:ext cx="1764568" cy="927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 name="Oval 1520"/>
            <p:cNvSpPr>
              <a:spLocks noChangeArrowheads="1"/>
            </p:cNvSpPr>
            <p:nvPr/>
          </p:nvSpPr>
          <p:spPr bwMode="auto">
            <a:xfrm>
              <a:off x="5749661" y="1335003"/>
              <a:ext cx="1743685" cy="897946"/>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84" name="Picture 1521"/>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5848852" y="1375462"/>
              <a:ext cx="1549218" cy="80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 name="Oval 1522"/>
            <p:cNvSpPr>
              <a:spLocks noChangeArrowheads="1"/>
            </p:cNvSpPr>
            <p:nvPr/>
          </p:nvSpPr>
          <p:spPr bwMode="auto">
            <a:xfrm>
              <a:off x="5864514" y="1391124"/>
              <a:ext cx="1516589" cy="771346"/>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186" name="Oval 1523"/>
            <p:cNvSpPr>
              <a:spLocks noChangeArrowheads="1"/>
            </p:cNvSpPr>
            <p:nvPr/>
          </p:nvSpPr>
          <p:spPr bwMode="auto">
            <a:xfrm>
              <a:off x="5979368" y="1447246"/>
              <a:ext cx="1286882" cy="642136"/>
            </a:xfrm>
            <a:prstGeom prst="ellipse">
              <a:avLst/>
            </a:prstGeom>
            <a:solidFill>
              <a:srgbClr val="FFFFFF"/>
            </a:solidFill>
            <a:ln w="11113">
              <a:solidFill>
                <a:srgbClr val="000000"/>
              </a:solidFill>
              <a:miter lim="800000"/>
              <a:headEnd/>
              <a:tailEnd/>
            </a:ln>
          </p:spPr>
          <p:txBody>
            <a:bodyPr/>
            <a:lstStyle/>
            <a:p>
              <a:endParaRPr lang="en-US" sz="1200">
                <a:latin typeface="Arial" pitchFamily="34" charset="0"/>
                <a:cs typeface="Arial" pitchFamily="34" charset="0"/>
              </a:endParaRPr>
            </a:p>
          </p:txBody>
        </p:sp>
        <p:pic>
          <p:nvPicPr>
            <p:cNvPr id="187" name="Picture 1524"/>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6094221" y="1498146"/>
              <a:ext cx="1054564" cy="53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Oval 1525"/>
            <p:cNvSpPr>
              <a:spLocks noChangeArrowheads="1"/>
            </p:cNvSpPr>
            <p:nvPr/>
          </p:nvSpPr>
          <p:spPr bwMode="auto">
            <a:xfrm>
              <a:off x="6107273" y="1512504"/>
              <a:ext cx="1029767" cy="511620"/>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89" name="Picture 1526"/>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6235178" y="1569930"/>
              <a:ext cx="776567" cy="39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 name="Oval 1527"/>
            <p:cNvSpPr>
              <a:spLocks noChangeArrowheads="1"/>
            </p:cNvSpPr>
            <p:nvPr/>
          </p:nvSpPr>
          <p:spPr bwMode="auto">
            <a:xfrm>
              <a:off x="6246925" y="1581676"/>
              <a:ext cx="747854" cy="373274"/>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191" name="Picture 1528"/>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6603231" y="1943204"/>
              <a:ext cx="33934" cy="302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 name="Line 1529"/>
            <p:cNvSpPr>
              <a:spLocks noChangeShapeType="1"/>
            </p:cNvSpPr>
            <p:nvPr/>
          </p:nvSpPr>
          <p:spPr bwMode="auto">
            <a:xfrm flipH="1">
              <a:off x="6616283" y="1954950"/>
              <a:ext cx="6526" cy="27799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93" name="Picture 1530"/>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6600621" y="1319341"/>
              <a:ext cx="27409" cy="27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 name="Line 1531"/>
            <p:cNvSpPr>
              <a:spLocks noChangeShapeType="1"/>
            </p:cNvSpPr>
            <p:nvPr/>
          </p:nvSpPr>
          <p:spPr bwMode="auto">
            <a:xfrm>
              <a:off x="6614978" y="1335003"/>
              <a:ext cx="0" cy="24667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95" name="Picture 1532"/>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6986947" y="1753957"/>
              <a:ext cx="519451" cy="2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6" name="Line 1533"/>
            <p:cNvSpPr>
              <a:spLocks noChangeShapeType="1"/>
            </p:cNvSpPr>
            <p:nvPr/>
          </p:nvSpPr>
          <p:spPr bwMode="auto">
            <a:xfrm>
              <a:off x="6999998" y="1768314"/>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197" name="Picture 1534"/>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5741830" y="1753957"/>
              <a:ext cx="520757" cy="2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 name="Line 1535"/>
            <p:cNvSpPr>
              <a:spLocks noChangeShapeType="1"/>
            </p:cNvSpPr>
            <p:nvPr/>
          </p:nvSpPr>
          <p:spPr bwMode="auto">
            <a:xfrm>
              <a:off x="5747050" y="1765703"/>
              <a:ext cx="499874"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199" name="Line 1536"/>
            <p:cNvSpPr>
              <a:spLocks noChangeShapeType="1"/>
            </p:cNvSpPr>
            <p:nvPr/>
          </p:nvSpPr>
          <p:spPr bwMode="auto">
            <a:xfrm flipH="1">
              <a:off x="5995030" y="1906660"/>
              <a:ext cx="373274" cy="19185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200" name="Picture 1537"/>
            <p:cNvPicPr>
              <a:picLocks noChangeAspect="1" noChangeArrowheads="1"/>
            </p:cNvPicPr>
            <p:nvPr/>
          </p:nvPicPr>
          <p:blipFill>
            <a:blip r:embed="rId33" cstate="print">
              <a:extLst>
                <a:ext uri="{28A0092B-C50C-407E-A947-70E740481C1C}">
                  <a14:useLocalDpi xmlns:a14="http://schemas.microsoft.com/office/drawing/2010/main" val="0"/>
                </a:ext>
              </a:extLst>
            </a:blip>
            <a:srcRect/>
            <a:stretch>
              <a:fillRect/>
            </a:stretch>
          </p:blipFill>
          <p:spPr bwMode="auto">
            <a:xfrm>
              <a:off x="6881230" y="1455077"/>
              <a:ext cx="378495" cy="202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 name="Line 1538"/>
            <p:cNvSpPr>
              <a:spLocks noChangeShapeType="1"/>
            </p:cNvSpPr>
            <p:nvPr/>
          </p:nvSpPr>
          <p:spPr bwMode="auto">
            <a:xfrm flipH="1">
              <a:off x="6895586" y="1466823"/>
              <a:ext cx="353697" cy="176196"/>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pic>
          <p:nvPicPr>
            <p:cNvPr id="202" name="Picture 1539"/>
            <p:cNvPicPr>
              <a:picLocks noChangeAspect="1" noChangeArrowheads="1"/>
            </p:cNvPicPr>
            <p:nvPr/>
          </p:nvPicPr>
          <p:blipFill>
            <a:blip r:embed="rId34" cstate="print">
              <a:extLst>
                <a:ext uri="{28A0092B-C50C-407E-A947-70E740481C1C}">
                  <a14:useLocalDpi xmlns:a14="http://schemas.microsoft.com/office/drawing/2010/main" val="0"/>
                </a:ext>
              </a:extLst>
            </a:blip>
            <a:srcRect/>
            <a:stretch>
              <a:fillRect/>
            </a:stretch>
          </p:blipFill>
          <p:spPr bwMode="auto">
            <a:xfrm>
              <a:off x="6004166" y="1443330"/>
              <a:ext cx="378495" cy="202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Line 1540"/>
            <p:cNvSpPr>
              <a:spLocks noChangeShapeType="1"/>
            </p:cNvSpPr>
            <p:nvPr/>
          </p:nvSpPr>
          <p:spPr bwMode="auto">
            <a:xfrm flipH="1" flipV="1">
              <a:off x="6017218" y="1456382"/>
              <a:ext cx="353697" cy="17489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204" name="Line 1541"/>
            <p:cNvSpPr>
              <a:spLocks noChangeShapeType="1"/>
            </p:cNvSpPr>
            <p:nvPr/>
          </p:nvSpPr>
          <p:spPr bwMode="auto">
            <a:xfrm>
              <a:off x="6900806" y="1893608"/>
              <a:ext cx="373274" cy="1866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sz="1200">
                <a:latin typeface="Arial" pitchFamily="34" charset="0"/>
                <a:cs typeface="Arial" pitchFamily="34" charset="0"/>
              </a:endParaRPr>
            </a:p>
          </p:txBody>
        </p:sp>
        <p:sp>
          <p:nvSpPr>
            <p:cNvPr id="205" name="Freeform 1542"/>
            <p:cNvSpPr>
              <a:spLocks/>
            </p:cNvSpPr>
            <p:nvPr/>
          </p:nvSpPr>
          <p:spPr bwMode="auto">
            <a:xfrm>
              <a:off x="6618893" y="1335003"/>
              <a:ext cx="623864" cy="168365"/>
            </a:xfrm>
            <a:custGeom>
              <a:avLst/>
              <a:gdLst>
                <a:gd name="T0" fmla="*/ 0 w 277"/>
                <a:gd name="T1" fmla="*/ 0 h 75"/>
                <a:gd name="T2" fmla="*/ 1 w 277"/>
                <a:gd name="T3" fmla="*/ 23 h 75"/>
                <a:gd name="T4" fmla="*/ 246 w 277"/>
                <a:gd name="T5" fmla="*/ 75 h 75"/>
                <a:gd name="T6" fmla="*/ 277 w 277"/>
                <a:gd name="T7" fmla="*/ 58 h 75"/>
                <a:gd name="T8" fmla="*/ 0 w 277"/>
                <a:gd name="T9" fmla="*/ 0 h 75"/>
              </a:gdLst>
              <a:ahLst/>
              <a:cxnLst>
                <a:cxn ang="0">
                  <a:pos x="T0" y="T1"/>
                </a:cxn>
                <a:cxn ang="0">
                  <a:pos x="T2" y="T3"/>
                </a:cxn>
                <a:cxn ang="0">
                  <a:pos x="T4" y="T5"/>
                </a:cxn>
                <a:cxn ang="0">
                  <a:pos x="T6" y="T7"/>
                </a:cxn>
                <a:cxn ang="0">
                  <a:pos x="T8" y="T9"/>
                </a:cxn>
              </a:cxnLst>
              <a:rect l="0" t="0" r="r" b="b"/>
              <a:pathLst>
                <a:path w="277" h="75">
                  <a:moveTo>
                    <a:pt x="0" y="0"/>
                  </a:moveTo>
                  <a:cubicBezTo>
                    <a:pt x="0" y="0"/>
                    <a:pt x="1" y="15"/>
                    <a:pt x="1" y="23"/>
                  </a:cubicBezTo>
                  <a:cubicBezTo>
                    <a:pt x="44" y="23"/>
                    <a:pt x="149" y="27"/>
                    <a:pt x="246" y="75"/>
                  </a:cubicBezTo>
                  <a:cubicBezTo>
                    <a:pt x="260" y="67"/>
                    <a:pt x="277" y="58"/>
                    <a:pt x="277" y="58"/>
                  </a:cubicBezTo>
                  <a:cubicBezTo>
                    <a:pt x="277" y="58"/>
                    <a:pt x="174"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200">
                <a:latin typeface="Arial" pitchFamily="34" charset="0"/>
                <a:cs typeface="Arial" pitchFamily="34" charset="0"/>
              </a:endParaRPr>
            </a:p>
          </p:txBody>
        </p:sp>
        <p:pic>
          <p:nvPicPr>
            <p:cNvPr id="206" name="Picture 1543"/>
            <p:cNvPicPr>
              <a:picLocks noChangeAspect="1" noChangeArrowheads="1"/>
            </p:cNvPicPr>
            <p:nvPr/>
          </p:nvPicPr>
          <p:blipFill>
            <a:blip r:embed="rId35" cstate="print">
              <a:extLst>
                <a:ext uri="{28A0092B-C50C-407E-A947-70E740481C1C}">
                  <a14:useLocalDpi xmlns:a14="http://schemas.microsoft.com/office/drawing/2010/main" val="0"/>
                </a:ext>
              </a:extLst>
            </a:blip>
            <a:srcRect/>
            <a:stretch>
              <a:fillRect/>
            </a:stretch>
          </p:blipFill>
          <p:spPr bwMode="auto">
            <a:xfrm>
              <a:off x="6492294" y="1160112"/>
              <a:ext cx="263641" cy="713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 name="Freeform 1544"/>
            <p:cNvSpPr>
              <a:spLocks/>
            </p:cNvSpPr>
            <p:nvPr/>
          </p:nvSpPr>
          <p:spPr bwMode="auto">
            <a:xfrm>
              <a:off x="6506650" y="1170553"/>
              <a:ext cx="236233" cy="689121"/>
            </a:xfrm>
            <a:custGeom>
              <a:avLst/>
              <a:gdLst>
                <a:gd name="T0" fmla="*/ 104 w 105"/>
                <a:gd name="T1" fmla="*/ 269 h 307"/>
                <a:gd name="T2" fmla="*/ 104 w 105"/>
                <a:gd name="T3" fmla="*/ 0 h 307"/>
                <a:gd name="T4" fmla="*/ 0 w 105"/>
                <a:gd name="T5" fmla="*/ 0 h 307"/>
                <a:gd name="T6" fmla="*/ 0 w 105"/>
                <a:gd name="T7" fmla="*/ 269 h 307"/>
                <a:gd name="T8" fmla="*/ 0 w 105"/>
                <a:gd name="T9" fmla="*/ 273 h 307"/>
                <a:gd name="T10" fmla="*/ 52 w 105"/>
                <a:gd name="T11" fmla="*/ 307 h 307"/>
                <a:gd name="T12" fmla="*/ 105 w 105"/>
                <a:gd name="T13" fmla="*/ 273 h 307"/>
                <a:gd name="T14" fmla="*/ 104 w 105"/>
                <a:gd name="T15" fmla="*/ 269 h 3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07">
                  <a:moveTo>
                    <a:pt x="104" y="269"/>
                  </a:moveTo>
                  <a:cubicBezTo>
                    <a:pt x="104" y="0"/>
                    <a:pt x="104" y="0"/>
                    <a:pt x="104" y="0"/>
                  </a:cubicBezTo>
                  <a:cubicBezTo>
                    <a:pt x="0" y="0"/>
                    <a:pt x="0" y="0"/>
                    <a:pt x="0" y="0"/>
                  </a:cubicBezTo>
                  <a:cubicBezTo>
                    <a:pt x="0" y="269"/>
                    <a:pt x="0" y="269"/>
                    <a:pt x="0" y="269"/>
                  </a:cubicBezTo>
                  <a:cubicBezTo>
                    <a:pt x="0" y="271"/>
                    <a:pt x="0" y="272"/>
                    <a:pt x="0" y="273"/>
                  </a:cubicBezTo>
                  <a:cubicBezTo>
                    <a:pt x="0" y="292"/>
                    <a:pt x="23" y="307"/>
                    <a:pt x="52" y="307"/>
                  </a:cubicBezTo>
                  <a:cubicBezTo>
                    <a:pt x="81" y="307"/>
                    <a:pt x="105" y="292"/>
                    <a:pt x="105" y="273"/>
                  </a:cubicBezTo>
                  <a:cubicBezTo>
                    <a:pt x="105" y="272"/>
                    <a:pt x="105" y="271"/>
                    <a:pt x="104" y="269"/>
                  </a:cubicBezTo>
                  <a:close/>
                </a:path>
              </a:pathLst>
            </a:custGeom>
            <a:noFill/>
            <a:ln w="11113" cap="flat">
              <a:solidFill>
                <a:srgbClr val="A0BAB8"/>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208" name="Freeform 1545"/>
            <p:cNvSpPr>
              <a:spLocks/>
            </p:cNvSpPr>
            <p:nvPr/>
          </p:nvSpPr>
          <p:spPr bwMode="auto">
            <a:xfrm>
              <a:off x="6400933" y="1110516"/>
              <a:ext cx="452889" cy="233623"/>
            </a:xfrm>
            <a:custGeom>
              <a:avLst/>
              <a:gdLst>
                <a:gd name="T0" fmla="*/ 199 w 201"/>
                <a:gd name="T1" fmla="*/ 55 h 104"/>
                <a:gd name="T2" fmla="*/ 94 w 201"/>
                <a:gd name="T3" fmla="*/ 104 h 104"/>
                <a:gd name="T4" fmla="*/ 0 w 201"/>
                <a:gd name="T5" fmla="*/ 52 h 104"/>
                <a:gd name="T6" fmla="*/ 94 w 201"/>
                <a:gd name="T7" fmla="*/ 0 h 104"/>
                <a:gd name="T8" fmla="*/ 199 w 201"/>
                <a:gd name="T9" fmla="*/ 55 h 104"/>
              </a:gdLst>
              <a:ahLst/>
              <a:cxnLst>
                <a:cxn ang="0">
                  <a:pos x="T0" y="T1"/>
                </a:cxn>
                <a:cxn ang="0">
                  <a:pos x="T2" y="T3"/>
                </a:cxn>
                <a:cxn ang="0">
                  <a:pos x="T4" y="T5"/>
                </a:cxn>
                <a:cxn ang="0">
                  <a:pos x="T6" y="T7"/>
                </a:cxn>
                <a:cxn ang="0">
                  <a:pos x="T8" y="T9"/>
                </a:cxn>
              </a:cxnLst>
              <a:rect l="0" t="0" r="r" b="b"/>
              <a:pathLst>
                <a:path w="201" h="104">
                  <a:moveTo>
                    <a:pt x="199" y="55"/>
                  </a:moveTo>
                  <a:cubicBezTo>
                    <a:pt x="201" y="95"/>
                    <a:pt x="146" y="104"/>
                    <a:pt x="94" y="104"/>
                  </a:cubicBezTo>
                  <a:cubicBezTo>
                    <a:pt x="42" y="104"/>
                    <a:pt x="0" y="81"/>
                    <a:pt x="0" y="52"/>
                  </a:cubicBezTo>
                  <a:cubicBezTo>
                    <a:pt x="0" y="23"/>
                    <a:pt x="42" y="0"/>
                    <a:pt x="94" y="0"/>
                  </a:cubicBezTo>
                  <a:cubicBezTo>
                    <a:pt x="146" y="0"/>
                    <a:pt x="198" y="26"/>
                    <a:pt x="199" y="55"/>
                  </a:cubicBezTo>
                  <a:close/>
                </a:path>
              </a:pathLst>
            </a:custGeom>
            <a:solidFill>
              <a:srgbClr val="000000"/>
            </a:solidFill>
            <a:ln w="11113" cap="flat">
              <a:solidFill>
                <a:srgbClr val="000000"/>
              </a:solidFill>
              <a:prstDash val="solid"/>
              <a:miter lim="800000"/>
              <a:headEnd/>
              <a:tailEnd/>
            </a:ln>
          </p:spPr>
          <p:txBody>
            <a:bodyPr/>
            <a:lstStyle/>
            <a:p>
              <a:endParaRPr lang="en-US" sz="1200">
                <a:latin typeface="Arial" pitchFamily="34" charset="0"/>
                <a:cs typeface="Arial" pitchFamily="34" charset="0"/>
              </a:endParaRPr>
            </a:p>
          </p:txBody>
        </p:sp>
        <p:pic>
          <p:nvPicPr>
            <p:cNvPr id="209" name="Picture 1546"/>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6385271" y="1097465"/>
              <a:ext cx="480297" cy="24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 name="Freeform 1547"/>
            <p:cNvSpPr>
              <a:spLocks/>
            </p:cNvSpPr>
            <p:nvPr/>
          </p:nvSpPr>
          <p:spPr bwMode="auto">
            <a:xfrm>
              <a:off x="6398323" y="1101380"/>
              <a:ext cx="452889" cy="231013"/>
            </a:xfrm>
            <a:custGeom>
              <a:avLst/>
              <a:gdLst>
                <a:gd name="T0" fmla="*/ 199 w 201"/>
                <a:gd name="T1" fmla="*/ 54 h 103"/>
                <a:gd name="T2" fmla="*/ 94 w 201"/>
                <a:gd name="T3" fmla="*/ 103 h 103"/>
                <a:gd name="T4" fmla="*/ 0 w 201"/>
                <a:gd name="T5" fmla="*/ 51 h 103"/>
                <a:gd name="T6" fmla="*/ 94 w 201"/>
                <a:gd name="T7" fmla="*/ 0 h 103"/>
                <a:gd name="T8" fmla="*/ 199 w 201"/>
                <a:gd name="T9" fmla="*/ 54 h 103"/>
              </a:gdLst>
              <a:ahLst/>
              <a:cxnLst>
                <a:cxn ang="0">
                  <a:pos x="T0" y="T1"/>
                </a:cxn>
                <a:cxn ang="0">
                  <a:pos x="T2" y="T3"/>
                </a:cxn>
                <a:cxn ang="0">
                  <a:pos x="T4" y="T5"/>
                </a:cxn>
                <a:cxn ang="0">
                  <a:pos x="T6" y="T7"/>
                </a:cxn>
                <a:cxn ang="0">
                  <a:pos x="T8" y="T9"/>
                </a:cxn>
              </a:cxnLst>
              <a:rect l="0" t="0" r="r" b="b"/>
              <a:pathLst>
                <a:path w="201" h="103">
                  <a:moveTo>
                    <a:pt x="199" y="54"/>
                  </a:moveTo>
                  <a:cubicBezTo>
                    <a:pt x="201" y="94"/>
                    <a:pt x="146" y="103"/>
                    <a:pt x="94" y="103"/>
                  </a:cubicBezTo>
                  <a:cubicBezTo>
                    <a:pt x="42" y="103"/>
                    <a:pt x="0" y="80"/>
                    <a:pt x="0" y="51"/>
                  </a:cubicBezTo>
                  <a:cubicBezTo>
                    <a:pt x="0" y="23"/>
                    <a:pt x="42" y="0"/>
                    <a:pt x="94" y="0"/>
                  </a:cubicBezTo>
                  <a:cubicBezTo>
                    <a:pt x="146" y="0"/>
                    <a:pt x="198" y="26"/>
                    <a:pt x="199" y="54"/>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211" name="Picture 1548"/>
            <p:cNvPicPr>
              <a:picLocks noChangeAspect="1" noChangeArrowheads="1"/>
            </p:cNvPicPr>
            <p:nvPr/>
          </p:nvPicPr>
          <p:blipFill>
            <a:blip r:embed="rId37" cstate="print">
              <a:extLst>
                <a:ext uri="{28A0092B-C50C-407E-A947-70E740481C1C}">
                  <a14:useLocalDpi xmlns:a14="http://schemas.microsoft.com/office/drawing/2010/main" val="0"/>
                </a:ext>
              </a:extLst>
            </a:blip>
            <a:srcRect/>
            <a:stretch>
              <a:fillRect/>
            </a:stretch>
          </p:blipFill>
          <p:spPr bwMode="auto">
            <a:xfrm>
              <a:off x="6480547" y="1093549"/>
              <a:ext cx="276693" cy="134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2" name="Freeform 1549"/>
            <p:cNvSpPr>
              <a:spLocks/>
            </p:cNvSpPr>
            <p:nvPr/>
          </p:nvSpPr>
          <p:spPr bwMode="auto">
            <a:xfrm>
              <a:off x="6492294" y="1106600"/>
              <a:ext cx="247979" cy="107023"/>
            </a:xfrm>
            <a:custGeom>
              <a:avLst/>
              <a:gdLst>
                <a:gd name="T0" fmla="*/ 110 w 110"/>
                <a:gd name="T1" fmla="*/ 25 h 48"/>
                <a:gd name="T2" fmla="*/ 55 w 110"/>
                <a:gd name="T3" fmla="*/ 48 h 48"/>
                <a:gd name="T4" fmla="*/ 0 w 110"/>
                <a:gd name="T5" fmla="*/ 25 h 48"/>
                <a:gd name="T6" fmla="*/ 55 w 110"/>
                <a:gd name="T7" fmla="*/ 0 h 48"/>
                <a:gd name="T8" fmla="*/ 110 w 110"/>
                <a:gd name="T9" fmla="*/ 25 h 48"/>
              </a:gdLst>
              <a:ahLst/>
              <a:cxnLst>
                <a:cxn ang="0">
                  <a:pos x="T0" y="T1"/>
                </a:cxn>
                <a:cxn ang="0">
                  <a:pos x="T2" y="T3"/>
                </a:cxn>
                <a:cxn ang="0">
                  <a:pos x="T4" y="T5"/>
                </a:cxn>
                <a:cxn ang="0">
                  <a:pos x="T6" y="T7"/>
                </a:cxn>
                <a:cxn ang="0">
                  <a:pos x="T8" y="T9"/>
                </a:cxn>
              </a:cxnLst>
              <a:rect l="0" t="0" r="r" b="b"/>
              <a:pathLst>
                <a:path w="110" h="48">
                  <a:moveTo>
                    <a:pt x="110" y="25"/>
                  </a:moveTo>
                  <a:cubicBezTo>
                    <a:pt x="110" y="38"/>
                    <a:pt x="86" y="48"/>
                    <a:pt x="55" y="48"/>
                  </a:cubicBezTo>
                  <a:cubicBezTo>
                    <a:pt x="25" y="48"/>
                    <a:pt x="0" y="38"/>
                    <a:pt x="0" y="25"/>
                  </a:cubicBezTo>
                  <a:cubicBezTo>
                    <a:pt x="0" y="12"/>
                    <a:pt x="24" y="0"/>
                    <a:pt x="55" y="0"/>
                  </a:cubicBezTo>
                  <a:cubicBezTo>
                    <a:pt x="85" y="0"/>
                    <a:pt x="110" y="12"/>
                    <a:pt x="110" y="25"/>
                  </a:cubicBezTo>
                  <a:close/>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pic>
          <p:nvPicPr>
            <p:cNvPr id="213" name="Picture 1550"/>
            <p:cNvPicPr>
              <a:picLocks noChangeAspect="1" noChangeArrowheads="1"/>
            </p:cNvPicPr>
            <p:nvPr/>
          </p:nvPicPr>
          <p:blipFill>
            <a:blip r:embed="rId38" cstate="print">
              <a:extLst>
                <a:ext uri="{28A0092B-C50C-407E-A947-70E740481C1C}">
                  <a14:useLocalDpi xmlns:a14="http://schemas.microsoft.com/office/drawing/2010/main" val="0"/>
                </a:ext>
              </a:extLst>
            </a:blip>
            <a:srcRect/>
            <a:stretch>
              <a:fillRect/>
            </a:stretch>
          </p:blipFill>
          <p:spPr bwMode="auto">
            <a:xfrm>
              <a:off x="6553635" y="1113127"/>
              <a:ext cx="127905" cy="8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 name="Oval 1551"/>
            <p:cNvSpPr>
              <a:spLocks noChangeArrowheads="1"/>
            </p:cNvSpPr>
            <p:nvPr/>
          </p:nvSpPr>
          <p:spPr bwMode="auto">
            <a:xfrm>
              <a:off x="6566687" y="1126178"/>
              <a:ext cx="101802" cy="53512"/>
            </a:xfrm>
            <a:prstGeom prst="ellipse">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200">
                <a:latin typeface="Arial" pitchFamily="34" charset="0"/>
                <a:cs typeface="Arial" pitchFamily="34" charset="0"/>
              </a:endParaRPr>
            </a:p>
          </p:txBody>
        </p:sp>
        <p:sp>
          <p:nvSpPr>
            <p:cNvPr id="215" name="Line 1552"/>
            <p:cNvSpPr>
              <a:spLocks noChangeShapeType="1"/>
            </p:cNvSpPr>
            <p:nvPr/>
          </p:nvSpPr>
          <p:spPr bwMode="auto">
            <a:xfrm>
              <a:off x="5518585" y="1780591"/>
              <a:ext cx="313237" cy="125295"/>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216" name="Line 1556"/>
            <p:cNvSpPr>
              <a:spLocks noChangeShapeType="1"/>
            </p:cNvSpPr>
            <p:nvPr/>
          </p:nvSpPr>
          <p:spPr bwMode="auto">
            <a:xfrm>
              <a:off x="5299383" y="2791554"/>
              <a:ext cx="501179" cy="0"/>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217" name="Rectangle 1557"/>
            <p:cNvSpPr>
              <a:spLocks noChangeArrowheads="1"/>
            </p:cNvSpPr>
            <p:nvPr/>
          </p:nvSpPr>
          <p:spPr bwMode="auto">
            <a:xfrm>
              <a:off x="4503155" y="2662597"/>
              <a:ext cx="714693"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Блок 64</a:t>
              </a:r>
            </a:p>
          </p:txBody>
        </p:sp>
        <p:sp>
          <p:nvSpPr>
            <p:cNvPr id="227" name="Line 1559"/>
            <p:cNvSpPr>
              <a:spLocks noChangeShapeType="1"/>
            </p:cNvSpPr>
            <p:nvPr/>
          </p:nvSpPr>
          <p:spPr bwMode="auto">
            <a:xfrm>
              <a:off x="5299389" y="3793926"/>
              <a:ext cx="501180" cy="0"/>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100">
                <a:latin typeface="Arial" pitchFamily="34" charset="0"/>
                <a:cs typeface="Arial" pitchFamily="34" charset="0"/>
              </a:endParaRPr>
            </a:p>
          </p:txBody>
        </p:sp>
        <p:sp>
          <p:nvSpPr>
            <p:cNvPr id="228" name="Rectangle 1560"/>
            <p:cNvSpPr>
              <a:spLocks noChangeArrowheads="1"/>
            </p:cNvSpPr>
            <p:nvPr/>
          </p:nvSpPr>
          <p:spPr bwMode="auto">
            <a:xfrm>
              <a:off x="4343400" y="3667528"/>
              <a:ext cx="87444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Блок 128</a:t>
              </a:r>
            </a:p>
          </p:txBody>
        </p:sp>
        <p:sp>
          <p:nvSpPr>
            <p:cNvPr id="219" name="Rectangle 1561"/>
            <p:cNvSpPr>
              <a:spLocks noChangeArrowheads="1"/>
            </p:cNvSpPr>
            <p:nvPr/>
          </p:nvSpPr>
          <p:spPr bwMode="auto">
            <a:xfrm>
              <a:off x="5284959" y="4442571"/>
              <a:ext cx="267847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Адрес логического блока = Блок #</a:t>
              </a:r>
            </a:p>
          </p:txBody>
        </p:sp>
        <p:sp>
          <p:nvSpPr>
            <p:cNvPr id="220" name="Rectangle 1562"/>
            <p:cNvSpPr>
              <a:spLocks noChangeArrowheads="1"/>
            </p:cNvSpPr>
            <p:nvPr/>
          </p:nvSpPr>
          <p:spPr bwMode="auto">
            <a:xfrm>
              <a:off x="4599039" y="1657350"/>
              <a:ext cx="650069"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Блок 0</a:t>
              </a:r>
            </a:p>
          </p:txBody>
        </p:sp>
        <p:sp>
          <p:nvSpPr>
            <p:cNvPr id="221" name="Line 1563"/>
            <p:cNvSpPr>
              <a:spLocks noChangeShapeType="1"/>
            </p:cNvSpPr>
            <p:nvPr/>
          </p:nvSpPr>
          <p:spPr bwMode="auto">
            <a:xfrm flipV="1">
              <a:off x="5487325" y="2026734"/>
              <a:ext cx="375884" cy="187942"/>
            </a:xfrm>
            <a:prstGeom prst="line">
              <a:avLst/>
            </a:prstGeom>
            <a:noFill/>
            <a:ln w="25400">
              <a:solidFill>
                <a:srgbClr val="0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222" name="Line 1564"/>
            <p:cNvSpPr>
              <a:spLocks noChangeShapeType="1"/>
            </p:cNvSpPr>
            <p:nvPr/>
          </p:nvSpPr>
          <p:spPr bwMode="auto">
            <a:xfrm flipV="1">
              <a:off x="5205348" y="1780591"/>
              <a:ext cx="313237" cy="0"/>
            </a:xfrm>
            <a:prstGeom prst="line">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223" name="Line 1565"/>
            <p:cNvSpPr>
              <a:spLocks noChangeShapeType="1"/>
            </p:cNvSpPr>
            <p:nvPr/>
          </p:nvSpPr>
          <p:spPr bwMode="auto">
            <a:xfrm flipV="1">
              <a:off x="5174088" y="2214676"/>
              <a:ext cx="313237" cy="0"/>
            </a:xfrm>
            <a:prstGeom prst="line">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sz="1200">
                <a:latin typeface="Arial" pitchFamily="34" charset="0"/>
                <a:cs typeface="Arial" pitchFamily="34" charset="0"/>
              </a:endParaRPr>
            </a:p>
          </p:txBody>
        </p:sp>
        <p:sp>
          <p:nvSpPr>
            <p:cNvPr id="224" name="Rectangle 1566"/>
            <p:cNvSpPr>
              <a:spLocks noChangeArrowheads="1"/>
            </p:cNvSpPr>
            <p:nvPr/>
          </p:nvSpPr>
          <p:spPr bwMode="auto">
            <a:xfrm>
              <a:off x="4493481" y="2093499"/>
              <a:ext cx="724367"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1" i="0" dirty="0">
                  <a:solidFill>
                    <a:srgbClr val="000000"/>
                  </a:solidFill>
                  <a:latin typeface="Arial" pitchFamily="34" charset="0"/>
                  <a:cs typeface="Arial" pitchFamily="34" charset="0"/>
                </a:rPr>
                <a:t>Блок 32</a:t>
              </a:r>
            </a:p>
          </p:txBody>
        </p:sp>
        <p:sp>
          <p:nvSpPr>
            <p:cNvPr id="225" name="Rectangle 1567"/>
            <p:cNvSpPr>
              <a:spLocks noChangeArrowheads="1"/>
            </p:cNvSpPr>
            <p:nvPr/>
          </p:nvSpPr>
          <p:spPr bwMode="auto">
            <a:xfrm>
              <a:off x="4147195" y="1428750"/>
              <a:ext cx="155828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0" i="0" dirty="0">
                  <a:solidFill>
                    <a:srgbClr val="000000"/>
                  </a:solidFill>
                  <a:latin typeface="Arial" pitchFamily="34" charset="0"/>
                  <a:cs typeface="Arial" pitchFamily="34" charset="0"/>
                </a:rPr>
                <a:t>(верхняя поверхность)</a:t>
              </a:r>
            </a:p>
          </p:txBody>
        </p:sp>
        <p:sp>
          <p:nvSpPr>
            <p:cNvPr id="226" name="Rectangle 1568"/>
            <p:cNvSpPr>
              <a:spLocks noChangeArrowheads="1"/>
            </p:cNvSpPr>
            <p:nvPr/>
          </p:nvSpPr>
          <p:spPr bwMode="auto">
            <a:xfrm>
              <a:off x="4019550" y="2303427"/>
              <a:ext cx="1676400"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54013" indent="-354013" algn="ctr" defTabSz="941388"/>
              <a:r>
                <a:rPr lang="ru-RU" sz="1100" b="0" i="0" dirty="0">
                  <a:solidFill>
                    <a:srgbClr val="000000"/>
                  </a:solidFill>
                  <a:latin typeface="Arial" pitchFamily="34" charset="0"/>
                  <a:cs typeface="Arial" pitchFamily="34" charset="0"/>
                </a:rPr>
                <a:t>(нижняя поверхность)</a:t>
              </a:r>
            </a:p>
          </p:txBody>
        </p:sp>
      </p:grpSp>
      <p:sp>
        <p:nvSpPr>
          <p:cNvPr id="229" name="TextBox 22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056359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Производительность жесткого диска</a:t>
            </a:r>
          </a:p>
        </p:txBody>
      </p:sp>
      <p:sp>
        <p:nvSpPr>
          <p:cNvPr id="3" name="Content Placeholder 2"/>
          <p:cNvSpPr>
            <a:spLocks noGrp="1"/>
          </p:cNvSpPr>
          <p:nvPr>
            <p:ph sz="quarter" idx="10"/>
          </p:nvPr>
        </p:nvSpPr>
        <p:spPr>
          <a:xfrm>
            <a:off x="379414" y="971550"/>
            <a:ext cx="8458200" cy="3429000"/>
          </a:xfrm>
        </p:spPr>
        <p:txBody>
          <a:bodyPr/>
          <a:lstStyle/>
          <a:p>
            <a:r>
              <a:rPr lang="ru-RU" sz="1800" b="0" i="0" dirty="0">
                <a:solidFill>
                  <a:srgbClr val="000000"/>
                </a:solidFill>
                <a:latin typeface="Arial" pitchFamily="34" charset="0"/>
                <a:cs typeface="Arial" pitchFamily="34" charset="0"/>
              </a:rPr>
              <a:t>Электромеханическое устройство</a:t>
            </a:r>
          </a:p>
          <a:p>
            <a:pPr lvl="1"/>
            <a:r>
              <a:rPr lang="ru-RU" sz="1600" b="0" i="0" dirty="0">
                <a:solidFill>
                  <a:srgbClr val="000000"/>
                </a:solidFill>
                <a:latin typeface="Arial" pitchFamily="34" charset="0"/>
                <a:cs typeface="Arial" pitchFamily="34" charset="0"/>
              </a:rPr>
              <a:t>оказывает воздействие на общую производительность системы хранения</a:t>
            </a:r>
          </a:p>
          <a:p>
            <a:r>
              <a:rPr lang="ru-RU" sz="1800" b="0" i="0" dirty="0">
                <a:solidFill>
                  <a:srgbClr val="000000"/>
                </a:solidFill>
                <a:latin typeface="Arial" pitchFamily="34" charset="0"/>
                <a:cs typeface="Arial" pitchFamily="34" charset="0"/>
              </a:rPr>
              <a:t>Время отклика диска</a:t>
            </a:r>
          </a:p>
          <a:p>
            <a:pPr lvl="1"/>
            <a:r>
              <a:rPr lang="ru-RU" sz="1600" b="0" i="0" dirty="0">
                <a:solidFill>
                  <a:srgbClr val="000000"/>
                </a:solidFill>
                <a:latin typeface="Arial" pitchFamily="34" charset="0"/>
                <a:cs typeface="Arial" pitchFamily="34" charset="0"/>
              </a:rPr>
              <a:t>время, необходимое диску для выполнения запроса ввода-вывода, зависит от:</a:t>
            </a:r>
          </a:p>
          <a:p>
            <a:pPr lvl="2"/>
            <a:r>
              <a:rPr lang="ru-RU" sz="1400" b="0" i="0" dirty="0">
                <a:solidFill>
                  <a:srgbClr val="000000"/>
                </a:solidFill>
                <a:latin typeface="Arial" pitchFamily="34" charset="0"/>
                <a:cs typeface="Arial" pitchFamily="34" charset="0"/>
              </a:rPr>
              <a:t>времени поиска;</a:t>
            </a:r>
          </a:p>
          <a:p>
            <a:pPr lvl="2"/>
            <a:r>
              <a:rPr lang="ru-RU" sz="1400" b="0" i="0" dirty="0">
                <a:solidFill>
                  <a:srgbClr val="000000"/>
                </a:solidFill>
                <a:latin typeface="Arial" pitchFamily="34" charset="0"/>
                <a:cs typeface="Arial" pitchFamily="34" charset="0"/>
              </a:rPr>
              <a:t>задержки из-за вращения диска; </a:t>
            </a:r>
          </a:p>
          <a:p>
            <a:pPr lvl="2"/>
            <a:r>
              <a:rPr lang="ru-RU" sz="1400" b="0" i="0" dirty="0">
                <a:solidFill>
                  <a:srgbClr val="000000"/>
                </a:solidFill>
                <a:latin typeface="Arial" pitchFamily="34" charset="0"/>
                <a:cs typeface="Arial" pitchFamily="34" charset="0"/>
              </a:rPr>
              <a:t>скорости передачи данных.</a:t>
            </a:r>
          </a:p>
          <a:p>
            <a:endParaRPr lang="en-US" dirty="0">
              <a:latin typeface="Arial" pitchFamily="34" charset="0"/>
              <a:cs typeface="Arial" pitchFamily="34" charset="0"/>
            </a:endParaRPr>
          </a:p>
        </p:txBody>
      </p:sp>
      <p:sp>
        <p:nvSpPr>
          <p:cNvPr id="5" name="Rectangle 4"/>
          <p:cNvSpPr/>
          <p:nvPr/>
        </p:nvSpPr>
        <p:spPr>
          <a:xfrm>
            <a:off x="161925" y="3248025"/>
            <a:ext cx="8839200"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ru-RU" sz="1400" b="0" i="0" dirty="0">
                <a:solidFill>
                  <a:srgbClr val="000000"/>
                </a:solidFill>
                <a:latin typeface="Arial" pitchFamily="34" charset="0"/>
                <a:cs typeface="Arial" pitchFamily="34" charset="0"/>
              </a:rPr>
              <a:t>Время обработки диска = время поиска + задержка из-за вращения диска + время передачи данных</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950350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Время поиска</a:t>
            </a:r>
          </a:p>
        </p:txBody>
      </p:sp>
      <p:sp>
        <p:nvSpPr>
          <p:cNvPr id="3" name="Content Placeholder 2"/>
          <p:cNvSpPr>
            <a:spLocks noGrp="1"/>
          </p:cNvSpPr>
          <p:nvPr>
            <p:ph sz="quarter" idx="10"/>
          </p:nvPr>
        </p:nvSpPr>
        <p:spPr>
          <a:xfrm>
            <a:off x="379414" y="990600"/>
            <a:ext cx="5416723" cy="3429000"/>
          </a:xfrm>
        </p:spPr>
        <p:txBody>
          <a:bodyPr/>
          <a:lstStyle/>
          <a:p>
            <a:r>
              <a:rPr lang="ru-RU" sz="1800" b="0" i="0" dirty="0">
                <a:solidFill>
                  <a:srgbClr val="000000"/>
                </a:solidFill>
                <a:latin typeface="Arial" pitchFamily="34" charset="0"/>
                <a:cs typeface="Arial" pitchFamily="34" charset="0"/>
              </a:rPr>
              <a:t>Время, необходимое для позиционирования головки чтения/записи </a:t>
            </a:r>
          </a:p>
          <a:p>
            <a:r>
              <a:rPr lang="ru-RU" sz="1800" b="0" i="0" dirty="0">
                <a:solidFill>
                  <a:srgbClr val="000000"/>
                </a:solidFill>
                <a:latin typeface="Arial" pitchFamily="34" charset="0"/>
                <a:cs typeface="Arial" pitchFamily="34" charset="0"/>
              </a:rPr>
              <a:t>Чем меньше времени занимает поиск, тем быстрей проходят операции ввода-вывода</a:t>
            </a:r>
          </a:p>
          <a:p>
            <a:r>
              <a:rPr lang="ru-RU" sz="1800" b="0" i="0" dirty="0">
                <a:solidFill>
                  <a:srgbClr val="000000"/>
                </a:solidFill>
                <a:latin typeface="Arial" pitchFamily="34" charset="0"/>
                <a:cs typeface="Arial" pitchFamily="34" charset="0"/>
              </a:rPr>
              <a:t>Характеристики </a:t>
            </a:r>
            <a:br>
              <a:rPr lang="en" sz="1800" dirty="0">
                <a:solidFill>
                  <a:srgbClr val="FF00FF"/>
                </a:solidFill>
                <a:latin typeface="Arial" pitchFamily="34" charset="0"/>
                <a:cs typeface="Arial" pitchFamily="34" charset="0"/>
              </a:rPr>
            </a:br>
            <a:r>
              <a:rPr lang="ru-RU" sz="1800" b="0" i="0" dirty="0">
                <a:solidFill>
                  <a:srgbClr val="000000"/>
                </a:solidFill>
                <a:latin typeface="Arial" pitchFamily="34" charset="0"/>
                <a:cs typeface="Arial" pitchFamily="34" charset="0"/>
              </a:rPr>
              <a:t>времени поиска:</a:t>
            </a:r>
          </a:p>
          <a:p>
            <a:pPr lvl="1"/>
            <a:r>
              <a:rPr lang="ru-RU" sz="1600" b="0" i="0" dirty="0">
                <a:solidFill>
                  <a:srgbClr val="000000"/>
                </a:solidFill>
                <a:latin typeface="Arial" pitchFamily="34" charset="0"/>
                <a:cs typeface="Arial" pitchFamily="34" charset="0"/>
              </a:rPr>
              <a:t>время для полного оборота;</a:t>
            </a:r>
          </a:p>
          <a:p>
            <a:pPr lvl="1"/>
            <a:r>
              <a:rPr lang="ru-RU" sz="1600" b="0" i="0" dirty="0">
                <a:solidFill>
                  <a:srgbClr val="000000"/>
                </a:solidFill>
                <a:latin typeface="Arial" pitchFamily="34" charset="0"/>
                <a:cs typeface="Arial" pitchFamily="34" charset="0"/>
              </a:rPr>
              <a:t>среднее время поиска;</a:t>
            </a:r>
          </a:p>
          <a:p>
            <a:pPr lvl="1"/>
            <a:r>
              <a:rPr lang="ru-RU" sz="1600" b="0" i="0" dirty="0">
                <a:solidFill>
                  <a:srgbClr val="000000"/>
                </a:solidFill>
                <a:latin typeface="Arial" pitchFamily="34" charset="0"/>
                <a:cs typeface="Arial" pitchFamily="34" charset="0"/>
              </a:rPr>
              <a:t>время для перехода с дорожки на дорожку.</a:t>
            </a:r>
          </a:p>
          <a:p>
            <a:r>
              <a:rPr lang="ru-RU" sz="1800" b="0" i="0" dirty="0">
                <a:solidFill>
                  <a:srgbClr val="000000"/>
                </a:solidFill>
                <a:latin typeface="Arial" pitchFamily="34" charset="0"/>
                <a:cs typeface="Arial" pitchFamily="34" charset="0"/>
              </a:rPr>
              <a:t>Время поиска диска указывается его производителем</a:t>
            </a:r>
          </a:p>
          <a:p>
            <a:endParaRPr lang="en-US" dirty="0">
              <a:latin typeface="Arial" pitchFamily="34" charset="0"/>
              <a:cs typeface="Arial" pitchFamily="34" charset="0"/>
            </a:endParaRP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797042" y="990600"/>
            <a:ext cx="3049448" cy="34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6"/>
          <p:cNvSpPr txBox="1"/>
          <p:nvPr/>
        </p:nvSpPr>
        <p:spPr>
          <a:xfrm>
            <a:off x="7848600" y="2571750"/>
            <a:ext cx="838200"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700" b="0" i="0" dirty="0">
                <a:solidFill>
                  <a:srgbClr val="2C95DD"/>
                </a:solidFill>
                <a:latin typeface="Arial" pitchFamily="34" charset="0"/>
                <a:cs typeface="Arial" pitchFamily="34" charset="0"/>
              </a:rPr>
              <a:t>Радиальное движение</a:t>
            </a:r>
          </a:p>
        </p:txBody>
      </p:sp>
      <p:sp>
        <p:nvSpPr>
          <p:cNvPr id="7" name="TextBox 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025926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Задержка из-за вращения диска</a:t>
            </a:r>
          </a:p>
        </p:txBody>
      </p:sp>
      <p:sp>
        <p:nvSpPr>
          <p:cNvPr id="3" name="Content Placeholder 2"/>
          <p:cNvSpPr>
            <a:spLocks noGrp="1"/>
          </p:cNvSpPr>
          <p:nvPr>
            <p:ph sz="quarter" idx="10"/>
          </p:nvPr>
        </p:nvSpPr>
        <p:spPr>
          <a:xfrm>
            <a:off x="379414" y="990600"/>
            <a:ext cx="5792786" cy="3429000"/>
          </a:xfrm>
        </p:spPr>
        <p:txBody>
          <a:bodyPr/>
          <a:lstStyle/>
          <a:p>
            <a:r>
              <a:rPr lang="ru-RU" sz="1800" b="0" i="0" dirty="0">
                <a:solidFill>
                  <a:srgbClr val="000000"/>
                </a:solidFill>
                <a:latin typeface="Arial" pitchFamily="34" charset="0"/>
                <a:cs typeface="Arial" pitchFamily="34" charset="0"/>
              </a:rPr>
              <a:t>Время, необходимое пластине для вращения и позиционирования данных в головке чтения/записи</a:t>
            </a:r>
          </a:p>
          <a:p>
            <a:r>
              <a:rPr lang="ru-RU" sz="1800" b="0" i="0" dirty="0">
                <a:solidFill>
                  <a:srgbClr val="000000"/>
                </a:solidFill>
                <a:latin typeface="Arial" pitchFamily="34" charset="0"/>
                <a:cs typeface="Arial" pitchFamily="34" charset="0"/>
              </a:rPr>
              <a:t>Зависит от скорости вращения шпинделя</a:t>
            </a:r>
          </a:p>
          <a:p>
            <a:r>
              <a:rPr lang="ru-RU" sz="1800" b="0" i="0" dirty="0">
                <a:solidFill>
                  <a:srgbClr val="000000"/>
                </a:solidFill>
                <a:latin typeface="Arial" pitchFamily="34" charset="0"/>
                <a:cs typeface="Arial" pitchFamily="34" charset="0"/>
              </a:rPr>
              <a:t>Средняя задержка из-за вращения диска </a:t>
            </a:r>
          </a:p>
          <a:p>
            <a:pPr lvl="1"/>
            <a:r>
              <a:rPr lang="ru-RU" sz="1600" b="0" i="0" dirty="0">
                <a:solidFill>
                  <a:srgbClr val="000000"/>
                </a:solidFill>
                <a:latin typeface="Arial" pitchFamily="34" charset="0"/>
                <a:cs typeface="Arial" pitchFamily="34" charset="0"/>
              </a:rPr>
              <a:t>Половина времени, необходимого для полного оборота</a:t>
            </a:r>
          </a:p>
          <a:p>
            <a:pPr lvl="1"/>
            <a:r>
              <a:rPr lang="ru-RU" sz="1600" b="0" i="0" dirty="0">
                <a:solidFill>
                  <a:srgbClr val="000000"/>
                </a:solidFill>
                <a:latin typeface="Arial" pitchFamily="34" charset="0"/>
                <a:cs typeface="Arial" pitchFamily="34" charset="0"/>
              </a:rPr>
              <a:t>Для «</a:t>
            </a:r>
            <a:r>
              <a:rPr lang="ru-RU" sz="1600" b="0" i="1" dirty="0">
                <a:solidFill>
                  <a:srgbClr val="000000"/>
                </a:solidFill>
                <a:latin typeface="Arial" pitchFamily="34" charset="0"/>
                <a:cs typeface="Arial" pitchFamily="34" charset="0"/>
              </a:rPr>
              <a:t>X</a:t>
            </a:r>
            <a:r>
              <a:rPr lang="ru-RU" sz="1600" b="0" i="0" dirty="0">
                <a:solidFill>
                  <a:srgbClr val="000000"/>
                </a:solidFill>
                <a:latin typeface="Arial" pitchFamily="34" charset="0"/>
                <a:cs typeface="Arial" pitchFamily="34" charset="0"/>
              </a:rPr>
              <a:t>» об/мин задержка диска вычисляется в миллисекундах по формуле:</a:t>
            </a:r>
          </a:p>
          <a:p>
            <a:endParaRPr lang="en-US" dirty="0">
              <a:latin typeface="Arial" pitchFamily="34" charset="0"/>
              <a:cs typeface="Arial" pitchFamily="34" charset="0"/>
            </a:endParaRP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2714" y="990600"/>
            <a:ext cx="3051261" cy="342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27302" y="3562350"/>
            <a:ext cx="3344698" cy="846914"/>
          </a:xfrm>
          <a:prstGeom prst="rect">
            <a:avLst/>
          </a:prstGeom>
        </p:spPr>
      </p:pic>
      <p:sp>
        <p:nvSpPr>
          <p:cNvPr id="7" name="TextBox 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437676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Скорость передачи данных</a:t>
            </a:r>
          </a:p>
        </p:txBody>
      </p:sp>
      <p:sp>
        <p:nvSpPr>
          <p:cNvPr id="3" name="Content Placeholder 2"/>
          <p:cNvSpPr>
            <a:spLocks noGrp="1"/>
          </p:cNvSpPr>
          <p:nvPr>
            <p:ph sz="quarter" idx="10"/>
          </p:nvPr>
        </p:nvSpPr>
        <p:spPr>
          <a:xfrm>
            <a:off x="379414" y="990600"/>
            <a:ext cx="8458200" cy="1885950"/>
          </a:xfrm>
        </p:spPr>
        <p:txBody>
          <a:bodyPr/>
          <a:lstStyle/>
          <a:p>
            <a:r>
              <a:rPr lang="ru-RU" sz="1800" b="0" i="0" dirty="0">
                <a:solidFill>
                  <a:srgbClr val="000000"/>
                </a:solidFill>
                <a:latin typeface="Arial" pitchFamily="34" charset="0"/>
                <a:cs typeface="Arial" pitchFamily="34" charset="0"/>
              </a:rPr>
              <a:t>Среднее количество данных, которое диск может доставить в HBA-адаптер за единицу времени</a:t>
            </a:r>
          </a:p>
          <a:p>
            <a:pPr lvl="1"/>
            <a:r>
              <a:rPr lang="ru-RU" sz="1600" b="0" i="0" dirty="0">
                <a:solidFill>
                  <a:srgbClr val="000000"/>
                </a:solidFill>
                <a:latin typeface="Arial" pitchFamily="34" charset="0"/>
                <a:cs typeface="Arial" pitchFamily="34" charset="0"/>
              </a:rPr>
              <a:t>Скорость внутренней передачи: скорость, с которой данные перемещаются с поверхности пластины во внутренний буфер диска </a:t>
            </a:r>
          </a:p>
          <a:p>
            <a:pPr lvl="1"/>
            <a:r>
              <a:rPr lang="ru-RU" sz="1600" b="0" i="0" dirty="0">
                <a:solidFill>
                  <a:srgbClr val="000000"/>
                </a:solidFill>
                <a:latin typeface="Arial" pitchFamily="34" charset="0"/>
                <a:cs typeface="Arial" pitchFamily="34" charset="0"/>
              </a:rPr>
              <a:t>Скорость внешней передачи: скорость, с которой данные перемещаются через интерфейс в HBA-адаптер</a:t>
            </a:r>
          </a:p>
        </p:txBody>
      </p:sp>
      <p:grpSp>
        <p:nvGrpSpPr>
          <p:cNvPr id="110" name="Group 109"/>
          <p:cNvGrpSpPr/>
          <p:nvPr/>
        </p:nvGrpSpPr>
        <p:grpSpPr>
          <a:xfrm>
            <a:off x="762000" y="2838597"/>
            <a:ext cx="7502524" cy="1685064"/>
            <a:chOff x="762000" y="2838597"/>
            <a:chExt cx="7502524" cy="1685064"/>
          </a:xfrm>
        </p:grpSpPr>
        <p:sp>
          <p:nvSpPr>
            <p:cNvPr id="102" name="Rectangle 6"/>
            <p:cNvSpPr>
              <a:spLocks noChangeArrowheads="1"/>
            </p:cNvSpPr>
            <p:nvPr/>
          </p:nvSpPr>
          <p:spPr bwMode="auto">
            <a:xfrm>
              <a:off x="2970212" y="3216194"/>
              <a:ext cx="1014412" cy="890587"/>
            </a:xfrm>
            <a:prstGeom prst="rect">
              <a:avLst/>
            </a:prstGeom>
            <a:ln>
              <a:headEnd/>
              <a:tailEnd type="none" w="lg" len="med"/>
            </a:ln>
          </p:spPr>
          <p:style>
            <a:lnRef idx="0">
              <a:schemeClr val="accent5"/>
            </a:lnRef>
            <a:fillRef idx="3">
              <a:schemeClr val="accent5"/>
            </a:fillRef>
            <a:effectRef idx="3">
              <a:schemeClr val="accent5"/>
            </a:effectRef>
            <a:fontRef idx="minor">
              <a:schemeClr val="lt1"/>
            </a:fontRef>
          </p:style>
          <p:txBody>
            <a:bodyPr wrap="none" lIns="0" tIns="0" rIns="0" bIns="0" anchor="ctr"/>
            <a:lstStyle/>
            <a:p>
              <a:pPr algn="ctr"/>
              <a:r>
                <a:rPr lang="ru-RU" sz="1300" b="0" i="0" dirty="0">
                  <a:solidFill>
                    <a:srgbClr val="000000"/>
                  </a:solidFill>
                  <a:latin typeface="Arial" pitchFamily="34" charset="0"/>
                  <a:cs typeface="Arial" pitchFamily="34" charset="0"/>
                </a:rPr>
                <a:t>Интерфейс</a:t>
              </a:r>
            </a:p>
          </p:txBody>
        </p:sp>
        <p:sp>
          <p:nvSpPr>
            <p:cNvPr id="25" name="Rectangle 117"/>
            <p:cNvSpPr>
              <a:spLocks noChangeArrowheads="1"/>
            </p:cNvSpPr>
            <p:nvPr/>
          </p:nvSpPr>
          <p:spPr bwMode="auto">
            <a:xfrm>
              <a:off x="762000" y="3178094"/>
              <a:ext cx="1090612" cy="890587"/>
            </a:xfrm>
            <a:prstGeom prst="rect">
              <a:avLst/>
            </a:prstGeom>
            <a:ln>
              <a:headEnd/>
              <a:tailEnd type="none" w="lg" len="med"/>
            </a:ln>
          </p:spPr>
          <p:style>
            <a:lnRef idx="0">
              <a:schemeClr val="accent5"/>
            </a:lnRef>
            <a:fillRef idx="3">
              <a:schemeClr val="accent5"/>
            </a:fillRef>
            <a:effectRef idx="3">
              <a:schemeClr val="accent5"/>
            </a:effectRef>
            <a:fontRef idx="minor">
              <a:schemeClr val="lt1"/>
            </a:fontRef>
          </p:style>
          <p:txBody>
            <a:bodyPr wrap="none" lIns="0" tIns="0" rIns="0" bIns="0" anchor="ctr"/>
            <a:lstStyle/>
            <a:p>
              <a:pPr algn="ctr"/>
              <a:r>
                <a:rPr lang="ru-RU" sz="1300" b="0" i="0" dirty="0">
                  <a:solidFill>
                    <a:srgbClr val="000000"/>
                  </a:solidFill>
                  <a:latin typeface="Arial" pitchFamily="34" charset="0"/>
                  <a:cs typeface="Arial" pitchFamily="34" charset="0"/>
                </a:rPr>
                <a:t>HBA-адаптер</a:t>
              </a:r>
            </a:p>
          </p:txBody>
        </p:sp>
        <p:sp>
          <p:nvSpPr>
            <p:cNvPr id="8" name="Line 34"/>
            <p:cNvSpPr>
              <a:spLocks noChangeShapeType="1"/>
            </p:cNvSpPr>
            <p:nvPr/>
          </p:nvSpPr>
          <p:spPr bwMode="auto">
            <a:xfrm flipH="1" flipV="1">
              <a:off x="1900236" y="3698794"/>
              <a:ext cx="1020762" cy="0"/>
            </a:xfrm>
            <a:prstGeom prst="line">
              <a:avLst/>
            </a:prstGeom>
            <a:noFill/>
            <a:ln w="9525">
              <a:solidFill>
                <a:srgbClr val="717074"/>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a:latin typeface="Arial" pitchFamily="34" charset="0"/>
                <a:cs typeface="Arial" pitchFamily="34" charset="0"/>
              </a:endParaRPr>
            </a:p>
          </p:txBody>
        </p:sp>
        <p:sp>
          <p:nvSpPr>
            <p:cNvPr id="9" name="Line 35"/>
            <p:cNvSpPr>
              <a:spLocks noChangeShapeType="1"/>
            </p:cNvSpPr>
            <p:nvPr/>
          </p:nvSpPr>
          <p:spPr bwMode="auto">
            <a:xfrm flipH="1" flipV="1">
              <a:off x="4021608" y="3721019"/>
              <a:ext cx="990600" cy="0"/>
            </a:xfrm>
            <a:prstGeom prst="line">
              <a:avLst/>
            </a:prstGeom>
            <a:noFill/>
            <a:ln w="9525">
              <a:solidFill>
                <a:srgbClr val="717074"/>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a:latin typeface="Arial" pitchFamily="34" charset="0"/>
                <a:cs typeface="Arial" pitchFamily="34" charset="0"/>
              </a:endParaRPr>
            </a:p>
          </p:txBody>
        </p:sp>
        <p:sp>
          <p:nvSpPr>
            <p:cNvPr id="10" name="Line 36"/>
            <p:cNvSpPr>
              <a:spLocks noChangeShapeType="1"/>
            </p:cNvSpPr>
            <p:nvPr/>
          </p:nvSpPr>
          <p:spPr bwMode="auto">
            <a:xfrm flipH="1" flipV="1">
              <a:off x="6088062" y="3733719"/>
              <a:ext cx="930275" cy="0"/>
            </a:xfrm>
            <a:prstGeom prst="line">
              <a:avLst/>
            </a:prstGeom>
            <a:noFill/>
            <a:ln w="9525">
              <a:solidFill>
                <a:srgbClr val="717074"/>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a:latin typeface="Arial" pitchFamily="34" charset="0"/>
                <a:cs typeface="Arial" pitchFamily="34" charset="0"/>
              </a:endParaRPr>
            </a:p>
          </p:txBody>
        </p:sp>
        <p:sp>
          <p:nvSpPr>
            <p:cNvPr id="12" name="Line 38"/>
            <p:cNvSpPr>
              <a:spLocks noChangeShapeType="1"/>
            </p:cNvSpPr>
            <p:nvPr/>
          </p:nvSpPr>
          <p:spPr bwMode="auto">
            <a:xfrm flipV="1">
              <a:off x="4021609" y="3444794"/>
              <a:ext cx="990600" cy="0"/>
            </a:xfrm>
            <a:prstGeom prst="line">
              <a:avLst/>
            </a:prstGeom>
            <a:noFill/>
            <a:ln w="9525">
              <a:solidFill>
                <a:srgbClr val="717074"/>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a:latin typeface="Arial" pitchFamily="34" charset="0"/>
                <a:cs typeface="Arial" pitchFamily="34" charset="0"/>
              </a:endParaRPr>
            </a:p>
          </p:txBody>
        </p:sp>
        <p:sp>
          <p:nvSpPr>
            <p:cNvPr id="13" name="Line 39"/>
            <p:cNvSpPr>
              <a:spLocks noChangeShapeType="1"/>
            </p:cNvSpPr>
            <p:nvPr/>
          </p:nvSpPr>
          <p:spPr bwMode="auto">
            <a:xfrm flipV="1">
              <a:off x="6100762" y="3444794"/>
              <a:ext cx="930275" cy="0"/>
            </a:xfrm>
            <a:prstGeom prst="line">
              <a:avLst/>
            </a:prstGeom>
            <a:noFill/>
            <a:ln w="9525">
              <a:solidFill>
                <a:srgbClr val="717074"/>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a:latin typeface="Arial" pitchFamily="34" charset="0"/>
                <a:cs typeface="Arial" pitchFamily="34" charset="0"/>
              </a:endParaRPr>
            </a:p>
          </p:txBody>
        </p:sp>
        <p:grpSp>
          <p:nvGrpSpPr>
            <p:cNvPr id="28" name="Group 41"/>
            <p:cNvGrpSpPr>
              <a:grpSpLocks/>
            </p:cNvGrpSpPr>
            <p:nvPr/>
          </p:nvGrpSpPr>
          <p:grpSpPr bwMode="auto">
            <a:xfrm>
              <a:off x="5045246" y="3089207"/>
              <a:ext cx="1028700" cy="1028704"/>
              <a:chOff x="2922" y="2088"/>
              <a:chExt cx="648" cy="648"/>
            </a:xfrm>
          </p:grpSpPr>
          <p:grpSp>
            <p:nvGrpSpPr>
              <p:cNvPr id="30" name="Group 42"/>
              <p:cNvGrpSpPr>
                <a:grpSpLocks/>
              </p:cNvGrpSpPr>
              <p:nvPr/>
            </p:nvGrpSpPr>
            <p:grpSpPr bwMode="auto">
              <a:xfrm>
                <a:off x="2922" y="2088"/>
                <a:ext cx="648" cy="81"/>
                <a:chOff x="2922" y="2088"/>
                <a:chExt cx="648" cy="81"/>
              </a:xfrm>
            </p:grpSpPr>
            <p:sp>
              <p:nvSpPr>
                <p:cNvPr id="94" name="Rectangle 43"/>
                <p:cNvSpPr>
                  <a:spLocks noChangeArrowheads="1"/>
                </p:cNvSpPr>
                <p:nvPr/>
              </p:nvSpPr>
              <p:spPr bwMode="auto">
                <a:xfrm>
                  <a:off x="2922"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95" name="Rectangle 44"/>
                <p:cNvSpPr>
                  <a:spLocks noChangeArrowheads="1"/>
                </p:cNvSpPr>
                <p:nvPr/>
              </p:nvSpPr>
              <p:spPr bwMode="auto">
                <a:xfrm>
                  <a:off x="3003"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96" name="Rectangle 45"/>
                <p:cNvSpPr>
                  <a:spLocks noChangeArrowheads="1"/>
                </p:cNvSpPr>
                <p:nvPr/>
              </p:nvSpPr>
              <p:spPr bwMode="auto">
                <a:xfrm>
                  <a:off x="3084"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97" name="Rectangle 46"/>
                <p:cNvSpPr>
                  <a:spLocks noChangeArrowheads="1"/>
                </p:cNvSpPr>
                <p:nvPr/>
              </p:nvSpPr>
              <p:spPr bwMode="auto">
                <a:xfrm>
                  <a:off x="3165"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98" name="Rectangle 47"/>
                <p:cNvSpPr>
                  <a:spLocks noChangeArrowheads="1"/>
                </p:cNvSpPr>
                <p:nvPr/>
              </p:nvSpPr>
              <p:spPr bwMode="auto">
                <a:xfrm>
                  <a:off x="3246"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99" name="Rectangle 48"/>
                <p:cNvSpPr>
                  <a:spLocks noChangeArrowheads="1"/>
                </p:cNvSpPr>
                <p:nvPr/>
              </p:nvSpPr>
              <p:spPr bwMode="auto">
                <a:xfrm>
                  <a:off x="3327"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100" name="Rectangle 49"/>
                <p:cNvSpPr>
                  <a:spLocks noChangeArrowheads="1"/>
                </p:cNvSpPr>
                <p:nvPr/>
              </p:nvSpPr>
              <p:spPr bwMode="auto">
                <a:xfrm>
                  <a:off x="3408"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101" name="Rectangle 50"/>
                <p:cNvSpPr>
                  <a:spLocks noChangeArrowheads="1"/>
                </p:cNvSpPr>
                <p:nvPr/>
              </p:nvSpPr>
              <p:spPr bwMode="auto">
                <a:xfrm>
                  <a:off x="3489"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grpSp>
          <p:grpSp>
            <p:nvGrpSpPr>
              <p:cNvPr id="31" name="Group 51"/>
              <p:cNvGrpSpPr>
                <a:grpSpLocks/>
              </p:cNvGrpSpPr>
              <p:nvPr/>
            </p:nvGrpSpPr>
            <p:grpSpPr bwMode="auto">
              <a:xfrm>
                <a:off x="2922" y="2169"/>
                <a:ext cx="648" cy="81"/>
                <a:chOff x="2922" y="2088"/>
                <a:chExt cx="648" cy="81"/>
              </a:xfrm>
            </p:grpSpPr>
            <p:sp>
              <p:nvSpPr>
                <p:cNvPr id="86" name="Rectangle 52"/>
                <p:cNvSpPr>
                  <a:spLocks noChangeArrowheads="1"/>
                </p:cNvSpPr>
                <p:nvPr/>
              </p:nvSpPr>
              <p:spPr bwMode="auto">
                <a:xfrm>
                  <a:off x="2922"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87" name="Rectangle 53"/>
                <p:cNvSpPr>
                  <a:spLocks noChangeArrowheads="1"/>
                </p:cNvSpPr>
                <p:nvPr/>
              </p:nvSpPr>
              <p:spPr bwMode="auto">
                <a:xfrm>
                  <a:off x="3003"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88" name="Rectangle 54"/>
                <p:cNvSpPr>
                  <a:spLocks noChangeArrowheads="1"/>
                </p:cNvSpPr>
                <p:nvPr/>
              </p:nvSpPr>
              <p:spPr bwMode="auto">
                <a:xfrm>
                  <a:off x="3084"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89" name="Rectangle 55"/>
                <p:cNvSpPr>
                  <a:spLocks noChangeArrowheads="1"/>
                </p:cNvSpPr>
                <p:nvPr/>
              </p:nvSpPr>
              <p:spPr bwMode="auto">
                <a:xfrm>
                  <a:off x="3165"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90" name="Rectangle 56"/>
                <p:cNvSpPr>
                  <a:spLocks noChangeArrowheads="1"/>
                </p:cNvSpPr>
                <p:nvPr/>
              </p:nvSpPr>
              <p:spPr bwMode="auto">
                <a:xfrm>
                  <a:off x="3246"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91" name="Rectangle 57"/>
                <p:cNvSpPr>
                  <a:spLocks noChangeArrowheads="1"/>
                </p:cNvSpPr>
                <p:nvPr/>
              </p:nvSpPr>
              <p:spPr bwMode="auto">
                <a:xfrm>
                  <a:off x="3327"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92" name="Rectangle 58"/>
                <p:cNvSpPr>
                  <a:spLocks noChangeArrowheads="1"/>
                </p:cNvSpPr>
                <p:nvPr/>
              </p:nvSpPr>
              <p:spPr bwMode="auto">
                <a:xfrm>
                  <a:off x="3408"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93" name="Rectangle 59"/>
                <p:cNvSpPr>
                  <a:spLocks noChangeArrowheads="1"/>
                </p:cNvSpPr>
                <p:nvPr/>
              </p:nvSpPr>
              <p:spPr bwMode="auto">
                <a:xfrm>
                  <a:off x="3489"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grpSp>
          <p:grpSp>
            <p:nvGrpSpPr>
              <p:cNvPr id="32" name="Group 60"/>
              <p:cNvGrpSpPr>
                <a:grpSpLocks/>
              </p:cNvGrpSpPr>
              <p:nvPr/>
            </p:nvGrpSpPr>
            <p:grpSpPr bwMode="auto">
              <a:xfrm>
                <a:off x="2922" y="2250"/>
                <a:ext cx="648" cy="81"/>
                <a:chOff x="2922" y="2088"/>
                <a:chExt cx="648" cy="81"/>
              </a:xfrm>
            </p:grpSpPr>
            <p:sp>
              <p:nvSpPr>
                <p:cNvPr id="78" name="Rectangle 61"/>
                <p:cNvSpPr>
                  <a:spLocks noChangeArrowheads="1"/>
                </p:cNvSpPr>
                <p:nvPr/>
              </p:nvSpPr>
              <p:spPr bwMode="auto">
                <a:xfrm>
                  <a:off x="2922"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79" name="Rectangle 62"/>
                <p:cNvSpPr>
                  <a:spLocks noChangeArrowheads="1"/>
                </p:cNvSpPr>
                <p:nvPr/>
              </p:nvSpPr>
              <p:spPr bwMode="auto">
                <a:xfrm>
                  <a:off x="3003"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80" name="Rectangle 63"/>
                <p:cNvSpPr>
                  <a:spLocks noChangeArrowheads="1"/>
                </p:cNvSpPr>
                <p:nvPr/>
              </p:nvSpPr>
              <p:spPr bwMode="auto">
                <a:xfrm>
                  <a:off x="3084"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81" name="Rectangle 64"/>
                <p:cNvSpPr>
                  <a:spLocks noChangeArrowheads="1"/>
                </p:cNvSpPr>
                <p:nvPr/>
              </p:nvSpPr>
              <p:spPr bwMode="auto">
                <a:xfrm>
                  <a:off x="3165"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82" name="Rectangle 65"/>
                <p:cNvSpPr>
                  <a:spLocks noChangeArrowheads="1"/>
                </p:cNvSpPr>
                <p:nvPr/>
              </p:nvSpPr>
              <p:spPr bwMode="auto">
                <a:xfrm>
                  <a:off x="3246"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83" name="Rectangle 66"/>
                <p:cNvSpPr>
                  <a:spLocks noChangeArrowheads="1"/>
                </p:cNvSpPr>
                <p:nvPr/>
              </p:nvSpPr>
              <p:spPr bwMode="auto">
                <a:xfrm>
                  <a:off x="3327"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84" name="Rectangle 67"/>
                <p:cNvSpPr>
                  <a:spLocks noChangeArrowheads="1"/>
                </p:cNvSpPr>
                <p:nvPr/>
              </p:nvSpPr>
              <p:spPr bwMode="auto">
                <a:xfrm>
                  <a:off x="3408"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85" name="Rectangle 68"/>
                <p:cNvSpPr>
                  <a:spLocks noChangeArrowheads="1"/>
                </p:cNvSpPr>
                <p:nvPr/>
              </p:nvSpPr>
              <p:spPr bwMode="auto">
                <a:xfrm>
                  <a:off x="3489"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grpSp>
          <p:grpSp>
            <p:nvGrpSpPr>
              <p:cNvPr id="33" name="Group 69"/>
              <p:cNvGrpSpPr>
                <a:grpSpLocks/>
              </p:cNvGrpSpPr>
              <p:nvPr/>
            </p:nvGrpSpPr>
            <p:grpSpPr bwMode="auto">
              <a:xfrm>
                <a:off x="2922" y="2331"/>
                <a:ext cx="648" cy="81"/>
                <a:chOff x="2922" y="2088"/>
                <a:chExt cx="648" cy="81"/>
              </a:xfrm>
            </p:grpSpPr>
            <p:sp>
              <p:nvSpPr>
                <p:cNvPr id="70" name="Rectangle 70"/>
                <p:cNvSpPr>
                  <a:spLocks noChangeArrowheads="1"/>
                </p:cNvSpPr>
                <p:nvPr/>
              </p:nvSpPr>
              <p:spPr bwMode="auto">
                <a:xfrm>
                  <a:off x="2922"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71" name="Rectangle 71"/>
                <p:cNvSpPr>
                  <a:spLocks noChangeArrowheads="1"/>
                </p:cNvSpPr>
                <p:nvPr/>
              </p:nvSpPr>
              <p:spPr bwMode="auto">
                <a:xfrm>
                  <a:off x="3003"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72" name="Rectangle 72"/>
                <p:cNvSpPr>
                  <a:spLocks noChangeArrowheads="1"/>
                </p:cNvSpPr>
                <p:nvPr/>
              </p:nvSpPr>
              <p:spPr bwMode="auto">
                <a:xfrm>
                  <a:off x="3084"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73" name="Rectangle 73"/>
                <p:cNvSpPr>
                  <a:spLocks noChangeArrowheads="1"/>
                </p:cNvSpPr>
                <p:nvPr/>
              </p:nvSpPr>
              <p:spPr bwMode="auto">
                <a:xfrm>
                  <a:off x="3165"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74" name="Rectangle 74"/>
                <p:cNvSpPr>
                  <a:spLocks noChangeArrowheads="1"/>
                </p:cNvSpPr>
                <p:nvPr/>
              </p:nvSpPr>
              <p:spPr bwMode="auto">
                <a:xfrm>
                  <a:off x="3246"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75" name="Rectangle 75"/>
                <p:cNvSpPr>
                  <a:spLocks noChangeArrowheads="1"/>
                </p:cNvSpPr>
                <p:nvPr/>
              </p:nvSpPr>
              <p:spPr bwMode="auto">
                <a:xfrm>
                  <a:off x="3327"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76" name="Rectangle 76"/>
                <p:cNvSpPr>
                  <a:spLocks noChangeArrowheads="1"/>
                </p:cNvSpPr>
                <p:nvPr/>
              </p:nvSpPr>
              <p:spPr bwMode="auto">
                <a:xfrm>
                  <a:off x="3408"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77" name="Rectangle 77"/>
                <p:cNvSpPr>
                  <a:spLocks noChangeArrowheads="1"/>
                </p:cNvSpPr>
                <p:nvPr/>
              </p:nvSpPr>
              <p:spPr bwMode="auto">
                <a:xfrm>
                  <a:off x="3489"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grpSp>
          <p:grpSp>
            <p:nvGrpSpPr>
              <p:cNvPr id="34" name="Group 78"/>
              <p:cNvGrpSpPr>
                <a:grpSpLocks/>
              </p:cNvGrpSpPr>
              <p:nvPr/>
            </p:nvGrpSpPr>
            <p:grpSpPr bwMode="auto">
              <a:xfrm>
                <a:off x="2922" y="2412"/>
                <a:ext cx="648" cy="81"/>
                <a:chOff x="2922" y="2088"/>
                <a:chExt cx="648" cy="81"/>
              </a:xfrm>
            </p:grpSpPr>
            <p:sp>
              <p:nvSpPr>
                <p:cNvPr id="62" name="Rectangle 79"/>
                <p:cNvSpPr>
                  <a:spLocks noChangeArrowheads="1"/>
                </p:cNvSpPr>
                <p:nvPr/>
              </p:nvSpPr>
              <p:spPr bwMode="auto">
                <a:xfrm>
                  <a:off x="2922"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63" name="Rectangle 80"/>
                <p:cNvSpPr>
                  <a:spLocks noChangeArrowheads="1"/>
                </p:cNvSpPr>
                <p:nvPr/>
              </p:nvSpPr>
              <p:spPr bwMode="auto">
                <a:xfrm>
                  <a:off x="3003"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64" name="Rectangle 81"/>
                <p:cNvSpPr>
                  <a:spLocks noChangeArrowheads="1"/>
                </p:cNvSpPr>
                <p:nvPr/>
              </p:nvSpPr>
              <p:spPr bwMode="auto">
                <a:xfrm>
                  <a:off x="3084"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65" name="Rectangle 82"/>
                <p:cNvSpPr>
                  <a:spLocks noChangeArrowheads="1"/>
                </p:cNvSpPr>
                <p:nvPr/>
              </p:nvSpPr>
              <p:spPr bwMode="auto">
                <a:xfrm>
                  <a:off x="3165"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66" name="Rectangle 83"/>
                <p:cNvSpPr>
                  <a:spLocks noChangeArrowheads="1"/>
                </p:cNvSpPr>
                <p:nvPr/>
              </p:nvSpPr>
              <p:spPr bwMode="auto">
                <a:xfrm>
                  <a:off x="3246"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67" name="Rectangle 84"/>
                <p:cNvSpPr>
                  <a:spLocks noChangeArrowheads="1"/>
                </p:cNvSpPr>
                <p:nvPr/>
              </p:nvSpPr>
              <p:spPr bwMode="auto">
                <a:xfrm>
                  <a:off x="3327"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68" name="Rectangle 85"/>
                <p:cNvSpPr>
                  <a:spLocks noChangeArrowheads="1"/>
                </p:cNvSpPr>
                <p:nvPr/>
              </p:nvSpPr>
              <p:spPr bwMode="auto">
                <a:xfrm>
                  <a:off x="3408"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69" name="Rectangle 86"/>
                <p:cNvSpPr>
                  <a:spLocks noChangeArrowheads="1"/>
                </p:cNvSpPr>
                <p:nvPr/>
              </p:nvSpPr>
              <p:spPr bwMode="auto">
                <a:xfrm>
                  <a:off x="3489"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grpSp>
          <p:grpSp>
            <p:nvGrpSpPr>
              <p:cNvPr id="35" name="Group 87"/>
              <p:cNvGrpSpPr>
                <a:grpSpLocks/>
              </p:cNvGrpSpPr>
              <p:nvPr/>
            </p:nvGrpSpPr>
            <p:grpSpPr bwMode="auto">
              <a:xfrm>
                <a:off x="2922" y="2493"/>
                <a:ext cx="648" cy="81"/>
                <a:chOff x="2922" y="2088"/>
                <a:chExt cx="648" cy="81"/>
              </a:xfrm>
            </p:grpSpPr>
            <p:sp>
              <p:nvSpPr>
                <p:cNvPr id="54" name="Rectangle 88"/>
                <p:cNvSpPr>
                  <a:spLocks noChangeArrowheads="1"/>
                </p:cNvSpPr>
                <p:nvPr/>
              </p:nvSpPr>
              <p:spPr bwMode="auto">
                <a:xfrm>
                  <a:off x="2922"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55" name="Rectangle 89"/>
                <p:cNvSpPr>
                  <a:spLocks noChangeArrowheads="1"/>
                </p:cNvSpPr>
                <p:nvPr/>
              </p:nvSpPr>
              <p:spPr bwMode="auto">
                <a:xfrm>
                  <a:off x="3003"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56" name="Rectangle 90"/>
                <p:cNvSpPr>
                  <a:spLocks noChangeArrowheads="1"/>
                </p:cNvSpPr>
                <p:nvPr/>
              </p:nvSpPr>
              <p:spPr bwMode="auto">
                <a:xfrm>
                  <a:off x="3084"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57" name="Rectangle 91"/>
                <p:cNvSpPr>
                  <a:spLocks noChangeArrowheads="1"/>
                </p:cNvSpPr>
                <p:nvPr/>
              </p:nvSpPr>
              <p:spPr bwMode="auto">
                <a:xfrm>
                  <a:off x="3165"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58" name="Rectangle 92"/>
                <p:cNvSpPr>
                  <a:spLocks noChangeArrowheads="1"/>
                </p:cNvSpPr>
                <p:nvPr/>
              </p:nvSpPr>
              <p:spPr bwMode="auto">
                <a:xfrm>
                  <a:off x="3246"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59" name="Rectangle 93"/>
                <p:cNvSpPr>
                  <a:spLocks noChangeArrowheads="1"/>
                </p:cNvSpPr>
                <p:nvPr/>
              </p:nvSpPr>
              <p:spPr bwMode="auto">
                <a:xfrm>
                  <a:off x="3327"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60" name="Rectangle 94"/>
                <p:cNvSpPr>
                  <a:spLocks noChangeArrowheads="1"/>
                </p:cNvSpPr>
                <p:nvPr/>
              </p:nvSpPr>
              <p:spPr bwMode="auto">
                <a:xfrm>
                  <a:off x="3408"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61" name="Rectangle 95"/>
                <p:cNvSpPr>
                  <a:spLocks noChangeArrowheads="1"/>
                </p:cNvSpPr>
                <p:nvPr/>
              </p:nvSpPr>
              <p:spPr bwMode="auto">
                <a:xfrm>
                  <a:off x="3489"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grpSp>
          <p:grpSp>
            <p:nvGrpSpPr>
              <p:cNvPr id="36" name="Group 96"/>
              <p:cNvGrpSpPr>
                <a:grpSpLocks/>
              </p:cNvGrpSpPr>
              <p:nvPr/>
            </p:nvGrpSpPr>
            <p:grpSpPr bwMode="auto">
              <a:xfrm>
                <a:off x="2922" y="2574"/>
                <a:ext cx="648" cy="81"/>
                <a:chOff x="2922" y="2088"/>
                <a:chExt cx="648" cy="81"/>
              </a:xfrm>
            </p:grpSpPr>
            <p:sp>
              <p:nvSpPr>
                <p:cNvPr id="46" name="Rectangle 97"/>
                <p:cNvSpPr>
                  <a:spLocks noChangeArrowheads="1"/>
                </p:cNvSpPr>
                <p:nvPr/>
              </p:nvSpPr>
              <p:spPr bwMode="auto">
                <a:xfrm>
                  <a:off x="2922"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47" name="Rectangle 98"/>
                <p:cNvSpPr>
                  <a:spLocks noChangeArrowheads="1"/>
                </p:cNvSpPr>
                <p:nvPr/>
              </p:nvSpPr>
              <p:spPr bwMode="auto">
                <a:xfrm>
                  <a:off x="3003"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48" name="Rectangle 99"/>
                <p:cNvSpPr>
                  <a:spLocks noChangeArrowheads="1"/>
                </p:cNvSpPr>
                <p:nvPr/>
              </p:nvSpPr>
              <p:spPr bwMode="auto">
                <a:xfrm>
                  <a:off x="3084"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49" name="Rectangle 100"/>
                <p:cNvSpPr>
                  <a:spLocks noChangeArrowheads="1"/>
                </p:cNvSpPr>
                <p:nvPr/>
              </p:nvSpPr>
              <p:spPr bwMode="auto">
                <a:xfrm>
                  <a:off x="3165"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50" name="Rectangle 101"/>
                <p:cNvSpPr>
                  <a:spLocks noChangeArrowheads="1"/>
                </p:cNvSpPr>
                <p:nvPr/>
              </p:nvSpPr>
              <p:spPr bwMode="auto">
                <a:xfrm>
                  <a:off x="3246"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51" name="Rectangle 102"/>
                <p:cNvSpPr>
                  <a:spLocks noChangeArrowheads="1"/>
                </p:cNvSpPr>
                <p:nvPr/>
              </p:nvSpPr>
              <p:spPr bwMode="auto">
                <a:xfrm>
                  <a:off x="3327"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52" name="Rectangle 103"/>
                <p:cNvSpPr>
                  <a:spLocks noChangeArrowheads="1"/>
                </p:cNvSpPr>
                <p:nvPr/>
              </p:nvSpPr>
              <p:spPr bwMode="auto">
                <a:xfrm>
                  <a:off x="3408"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53" name="Rectangle 104"/>
                <p:cNvSpPr>
                  <a:spLocks noChangeArrowheads="1"/>
                </p:cNvSpPr>
                <p:nvPr/>
              </p:nvSpPr>
              <p:spPr bwMode="auto">
                <a:xfrm>
                  <a:off x="3489"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grpSp>
          <p:grpSp>
            <p:nvGrpSpPr>
              <p:cNvPr id="37" name="Group 105"/>
              <p:cNvGrpSpPr>
                <a:grpSpLocks/>
              </p:cNvGrpSpPr>
              <p:nvPr/>
            </p:nvGrpSpPr>
            <p:grpSpPr bwMode="auto">
              <a:xfrm>
                <a:off x="2922" y="2655"/>
                <a:ext cx="648" cy="81"/>
                <a:chOff x="2922" y="2088"/>
                <a:chExt cx="648" cy="81"/>
              </a:xfrm>
            </p:grpSpPr>
            <p:sp>
              <p:nvSpPr>
                <p:cNvPr id="38" name="Rectangle 106"/>
                <p:cNvSpPr>
                  <a:spLocks noChangeArrowheads="1"/>
                </p:cNvSpPr>
                <p:nvPr/>
              </p:nvSpPr>
              <p:spPr bwMode="auto">
                <a:xfrm>
                  <a:off x="2922"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39" name="Rectangle 107"/>
                <p:cNvSpPr>
                  <a:spLocks noChangeArrowheads="1"/>
                </p:cNvSpPr>
                <p:nvPr/>
              </p:nvSpPr>
              <p:spPr bwMode="auto">
                <a:xfrm>
                  <a:off x="3003"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40" name="Rectangle 108"/>
                <p:cNvSpPr>
                  <a:spLocks noChangeArrowheads="1"/>
                </p:cNvSpPr>
                <p:nvPr/>
              </p:nvSpPr>
              <p:spPr bwMode="auto">
                <a:xfrm>
                  <a:off x="3084"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41" name="Rectangle 109"/>
                <p:cNvSpPr>
                  <a:spLocks noChangeArrowheads="1"/>
                </p:cNvSpPr>
                <p:nvPr/>
              </p:nvSpPr>
              <p:spPr bwMode="auto">
                <a:xfrm>
                  <a:off x="3165"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42" name="Rectangle 110"/>
                <p:cNvSpPr>
                  <a:spLocks noChangeArrowheads="1"/>
                </p:cNvSpPr>
                <p:nvPr/>
              </p:nvSpPr>
              <p:spPr bwMode="auto">
                <a:xfrm>
                  <a:off x="3246"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43" name="Rectangle 111"/>
                <p:cNvSpPr>
                  <a:spLocks noChangeArrowheads="1"/>
                </p:cNvSpPr>
                <p:nvPr/>
              </p:nvSpPr>
              <p:spPr bwMode="auto">
                <a:xfrm>
                  <a:off x="3327"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44" name="Rectangle 112"/>
                <p:cNvSpPr>
                  <a:spLocks noChangeArrowheads="1"/>
                </p:cNvSpPr>
                <p:nvPr/>
              </p:nvSpPr>
              <p:spPr bwMode="auto">
                <a:xfrm>
                  <a:off x="3408"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sp>
              <p:nvSpPr>
                <p:cNvPr id="45" name="Rectangle 113"/>
                <p:cNvSpPr>
                  <a:spLocks noChangeArrowheads="1"/>
                </p:cNvSpPr>
                <p:nvPr/>
              </p:nvSpPr>
              <p:spPr bwMode="auto">
                <a:xfrm>
                  <a:off x="3489" y="2088"/>
                  <a:ext cx="81" cy="81"/>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lIns="0" tIns="0" rIns="0" bIns="0" anchor="ctr"/>
                <a:lstStyle/>
                <a:p>
                  <a:endParaRPr lang="en-US">
                    <a:ln>
                      <a:solidFill>
                        <a:schemeClr val="tx1"/>
                      </a:solidFill>
                    </a:ln>
                    <a:latin typeface="Arial" pitchFamily="34" charset="0"/>
                    <a:cs typeface="Arial" pitchFamily="34" charset="0"/>
                  </a:endParaRPr>
                </a:p>
              </p:txBody>
            </p:sp>
          </p:grpSp>
        </p:grpSp>
        <p:sp>
          <p:nvSpPr>
            <p:cNvPr id="16" name="AutoShape 120"/>
            <p:cNvSpPr>
              <a:spLocks noChangeArrowheads="1"/>
            </p:cNvSpPr>
            <p:nvPr/>
          </p:nvSpPr>
          <p:spPr bwMode="auto">
            <a:xfrm>
              <a:off x="2836861" y="2946319"/>
              <a:ext cx="5427663" cy="1285875"/>
            </a:xfrm>
            <a:prstGeom prst="roundRect">
              <a:avLst>
                <a:gd name="adj" fmla="val 16667"/>
              </a:avLst>
            </a:prstGeom>
            <a:noFill/>
            <a:ln w="25400" algn="ctr">
              <a:solidFill>
                <a:srgbClr val="000610"/>
              </a:solidFill>
              <a:prstDash val="dash"/>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US">
                <a:latin typeface="Arial" pitchFamily="34" charset="0"/>
                <a:cs typeface="Arial" pitchFamily="34" charset="0"/>
              </a:endParaRPr>
            </a:p>
          </p:txBody>
        </p:sp>
        <p:sp>
          <p:nvSpPr>
            <p:cNvPr id="17" name="Text Box 122"/>
            <p:cNvSpPr txBox="1">
              <a:spLocks noChangeArrowheads="1"/>
            </p:cNvSpPr>
            <p:nvPr/>
          </p:nvSpPr>
          <p:spPr bwMode="auto">
            <a:xfrm>
              <a:off x="5210982" y="4400550"/>
              <a:ext cx="2962102"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61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en-US"/>
              </a:defPPr>
              <a:lvl1pPr marL="354013" indent="-354013" defTabSz="941388">
                <a:spcBef>
                  <a:spcPct val="50000"/>
                </a:spcBef>
                <a:defRPr sz="1200" b="1">
                  <a:solidFill>
                    <a:srgbClr val="000610"/>
                  </a:solidFill>
                  <a:latin typeface="Calibri" pitchFamily="34" charset="0"/>
                  <a:cs typeface="Calibri" pitchFamily="34" charset="0"/>
                </a:defRPr>
              </a:lvl1pPr>
              <a:lvl2pPr defTabSz="941388">
                <a:spcBef>
                  <a:spcPct val="0"/>
                </a:spcBef>
                <a:defRPr>
                  <a:latin typeface="Arial" charset="0"/>
                  <a:cs typeface="Arial" charset="0"/>
                </a:defRPr>
              </a:lvl2pPr>
              <a:lvl3pPr defTabSz="941388">
                <a:spcBef>
                  <a:spcPct val="0"/>
                </a:spcBef>
                <a:defRPr>
                  <a:latin typeface="Arial" charset="0"/>
                  <a:cs typeface="Arial" charset="0"/>
                </a:defRPr>
              </a:lvl3pPr>
              <a:lvl4pPr defTabSz="941388">
                <a:spcBef>
                  <a:spcPct val="0"/>
                </a:spcBef>
                <a:defRPr>
                  <a:latin typeface="Arial" charset="0"/>
                  <a:cs typeface="Arial" charset="0"/>
                </a:defRPr>
              </a:lvl4pPr>
              <a:lvl5pPr defTabSz="941388">
                <a:spcBef>
                  <a:spcPct val="0"/>
                </a:spcBef>
                <a:defRPr>
                  <a:latin typeface="Arial" charset="0"/>
                  <a:cs typeface="Arial" charset="0"/>
                </a:defRPr>
              </a:lvl5pPr>
              <a:lvl6pPr defTabSz="941388" fontAlgn="base">
                <a:spcBef>
                  <a:spcPct val="0"/>
                </a:spcBef>
                <a:spcAft>
                  <a:spcPct val="0"/>
                </a:spcAft>
                <a:defRPr>
                  <a:latin typeface="Arial" charset="0"/>
                  <a:cs typeface="Arial" charset="0"/>
                </a:defRPr>
              </a:lvl6pPr>
              <a:lvl7pPr defTabSz="941388" fontAlgn="base">
                <a:spcBef>
                  <a:spcPct val="0"/>
                </a:spcBef>
                <a:spcAft>
                  <a:spcPct val="0"/>
                </a:spcAft>
                <a:defRPr>
                  <a:latin typeface="Arial" charset="0"/>
                  <a:cs typeface="Arial" charset="0"/>
                </a:defRPr>
              </a:lvl7pPr>
              <a:lvl8pPr defTabSz="941388" fontAlgn="base">
                <a:spcBef>
                  <a:spcPct val="0"/>
                </a:spcBef>
                <a:spcAft>
                  <a:spcPct val="0"/>
                </a:spcAft>
                <a:defRPr>
                  <a:latin typeface="Arial" charset="0"/>
                  <a:cs typeface="Arial" charset="0"/>
                </a:defRPr>
              </a:lvl8pPr>
              <a:lvl9pPr defTabSz="941388" fontAlgn="base">
                <a:spcBef>
                  <a:spcPct val="0"/>
                </a:spcBef>
                <a:spcAft>
                  <a:spcPct val="0"/>
                </a:spcAft>
                <a:defRPr>
                  <a:latin typeface="Arial" charset="0"/>
                  <a:cs typeface="Arial" charset="0"/>
                </a:defRPr>
              </a:lvl9pPr>
            </a:lstStyle>
            <a:p>
              <a:pPr algn="ctr"/>
              <a:r>
                <a:rPr lang="ru-RU" sz="800" i="0" dirty="0">
                  <a:solidFill>
                    <a:srgbClr val="000610"/>
                  </a:solidFill>
                  <a:latin typeface="Arial" pitchFamily="34" charset="0"/>
                  <a:cs typeface="Arial" pitchFamily="34" charset="0"/>
                </a:rPr>
                <a:t> Здесь измеряется скорость внутренней передачи</a:t>
              </a:r>
            </a:p>
          </p:txBody>
        </p:sp>
        <p:sp>
          <p:nvSpPr>
            <p:cNvPr id="18" name="Text Box 123"/>
            <p:cNvSpPr txBox="1">
              <a:spLocks noChangeArrowheads="1"/>
            </p:cNvSpPr>
            <p:nvPr/>
          </p:nvSpPr>
          <p:spPr bwMode="auto">
            <a:xfrm>
              <a:off x="810768" y="4400550"/>
              <a:ext cx="3126904" cy="123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00061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ct val="50000"/>
                </a:spcBef>
              </a:pPr>
              <a:r>
                <a:rPr lang="ru-RU" sz="800" b="1" i="0" dirty="0">
                  <a:solidFill>
                    <a:srgbClr val="000610"/>
                  </a:solidFill>
                  <a:latin typeface="Arial" pitchFamily="34" charset="0"/>
                  <a:cs typeface="Arial" pitchFamily="34" charset="0"/>
                </a:rPr>
                <a:t>Здесь измеряется скорость внешней передачи</a:t>
              </a:r>
            </a:p>
          </p:txBody>
        </p:sp>
        <p:sp>
          <p:nvSpPr>
            <p:cNvPr id="19" name="Line 124"/>
            <p:cNvSpPr>
              <a:spLocks noChangeShapeType="1"/>
            </p:cNvSpPr>
            <p:nvPr/>
          </p:nvSpPr>
          <p:spPr bwMode="auto">
            <a:xfrm flipV="1">
              <a:off x="6684962" y="3766381"/>
              <a:ext cx="0" cy="634169"/>
            </a:xfrm>
            <a:prstGeom prst="line">
              <a:avLst/>
            </a:prstGeom>
            <a:noFill/>
            <a:ln w="25400">
              <a:solidFill>
                <a:srgbClr val="00061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US">
                <a:latin typeface="Arial" pitchFamily="34" charset="0"/>
                <a:cs typeface="Arial" pitchFamily="34" charset="0"/>
              </a:endParaRPr>
            </a:p>
          </p:txBody>
        </p:sp>
        <p:sp>
          <p:nvSpPr>
            <p:cNvPr id="20" name="Line 125"/>
            <p:cNvSpPr>
              <a:spLocks noChangeShapeType="1"/>
            </p:cNvSpPr>
            <p:nvPr/>
          </p:nvSpPr>
          <p:spPr bwMode="auto">
            <a:xfrm flipV="1">
              <a:off x="2368549" y="3753038"/>
              <a:ext cx="0" cy="629406"/>
            </a:xfrm>
            <a:prstGeom prst="line">
              <a:avLst/>
            </a:prstGeom>
            <a:noFill/>
            <a:ln w="25400">
              <a:solidFill>
                <a:srgbClr val="00061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US">
                <a:latin typeface="Arial" pitchFamily="34" charset="0"/>
                <a:cs typeface="Arial" pitchFamily="34" charset="0"/>
              </a:endParaRPr>
            </a:p>
          </p:txBody>
        </p:sp>
        <p:sp>
          <p:nvSpPr>
            <p:cNvPr id="21" name="Rectangle 130"/>
            <p:cNvSpPr>
              <a:spLocks noChangeArrowheads="1"/>
            </p:cNvSpPr>
            <p:nvPr/>
          </p:nvSpPr>
          <p:spPr bwMode="auto">
            <a:xfrm>
              <a:off x="7062787" y="3109831"/>
              <a:ext cx="1014413" cy="890588"/>
            </a:xfrm>
            <a:prstGeom prst="rect">
              <a:avLst/>
            </a:prstGeom>
            <a:ln>
              <a:headEnd/>
              <a:tailEnd type="none" w="lg" len="med"/>
            </a:ln>
          </p:spPr>
          <p:style>
            <a:lnRef idx="0">
              <a:schemeClr val="accent5"/>
            </a:lnRef>
            <a:fillRef idx="3">
              <a:schemeClr val="accent5"/>
            </a:fillRef>
            <a:effectRef idx="3">
              <a:schemeClr val="accent5"/>
            </a:effectRef>
            <a:fontRef idx="minor">
              <a:schemeClr val="lt1"/>
            </a:fontRef>
          </p:style>
          <p:txBody>
            <a:bodyPr wrap="none" lIns="0" tIns="0" rIns="0" bIns="0" anchor="ctr"/>
            <a:lstStyle/>
            <a:p>
              <a:pPr algn="ctr"/>
              <a:r>
                <a:rPr lang="ru-RU" sz="1100" b="0" i="0" dirty="0">
                  <a:solidFill>
                    <a:srgbClr val="000000"/>
                  </a:solidFill>
                  <a:latin typeface="Arial" pitchFamily="34" charset="0"/>
                  <a:cs typeface="Arial" pitchFamily="34" charset="0"/>
                </a:rPr>
                <a:t>Блок дисков</a:t>
              </a:r>
              <a:br>
                <a:rPr lang="en-US" sz="1100" b="0" i="0" dirty="0">
                  <a:solidFill>
                    <a:srgbClr val="FF00FF"/>
                  </a:solidFill>
                  <a:latin typeface="Arial" pitchFamily="34" charset="0"/>
                  <a:cs typeface="Arial" pitchFamily="34" charset="0"/>
                </a:rPr>
              </a:br>
              <a:r>
                <a:rPr lang="ru-RU" sz="1100" b="0" i="0" dirty="0">
                  <a:solidFill>
                    <a:srgbClr val="000000"/>
                  </a:solidFill>
                  <a:latin typeface="Arial" pitchFamily="34" charset="0"/>
                  <a:cs typeface="Arial" pitchFamily="34" charset="0"/>
                </a:rPr>
                <a:t>с головками</a:t>
              </a:r>
            </a:p>
          </p:txBody>
        </p:sp>
        <p:sp>
          <p:nvSpPr>
            <p:cNvPr id="24" name="Rectangle 121"/>
            <p:cNvSpPr>
              <a:spLocks noChangeArrowheads="1"/>
            </p:cNvSpPr>
            <p:nvPr/>
          </p:nvSpPr>
          <p:spPr bwMode="auto">
            <a:xfrm>
              <a:off x="4732021" y="2838597"/>
              <a:ext cx="1676399" cy="153888"/>
            </a:xfrm>
            <a:prstGeom prst="rect">
              <a:avLst/>
            </a:prstGeom>
            <a:solidFill>
              <a:schemeClr val="bg1"/>
            </a:solidFill>
            <a:ln>
              <a:noFill/>
            </a:ln>
            <a:effectLst/>
          </p:spPr>
          <p:txBody>
            <a:bodyPr wrap="square" lIns="0" tIns="0" rIns="0" bIns="0">
              <a:spAutoFit/>
            </a:bodyPr>
            <a:lstStyle/>
            <a:p>
              <a:pPr marL="354013" indent="-354013" algn="ctr" defTabSz="941388">
                <a:spcBef>
                  <a:spcPct val="50000"/>
                </a:spcBef>
              </a:pPr>
              <a:r>
                <a:rPr lang="ru-RU" sz="1000" b="1" i="0" dirty="0">
                  <a:solidFill>
                    <a:srgbClr val="000610"/>
                  </a:solidFill>
                  <a:latin typeface="Arial" pitchFamily="34" charset="0"/>
                  <a:cs typeface="Arial" pitchFamily="34" charset="0"/>
                </a:rPr>
                <a:t>Дисковый накопитель</a:t>
              </a:r>
            </a:p>
          </p:txBody>
        </p:sp>
        <p:sp>
          <p:nvSpPr>
            <p:cNvPr id="109" name="TextBox 108"/>
            <p:cNvSpPr txBox="1"/>
            <p:nvPr/>
          </p:nvSpPr>
          <p:spPr>
            <a:xfrm>
              <a:off x="5218925" y="3446526"/>
              <a:ext cx="695319" cy="292388"/>
            </a:xfrm>
            <a:prstGeom prst="rect">
              <a:avLst/>
            </a:prstGeom>
            <a:noFill/>
          </p:spPr>
          <p:txBody>
            <a:bodyPr wrap="none" rtlCol="0">
              <a:spAutoFit/>
            </a:bodyPr>
            <a:lstStyle/>
            <a:p>
              <a:pPr algn="ctr"/>
              <a:r>
                <a:rPr lang="ru-RU" sz="1300" b="0" i="0" dirty="0">
                  <a:solidFill>
                    <a:srgbClr val="000000"/>
                  </a:solidFill>
                  <a:latin typeface="Arial" pitchFamily="34" charset="0"/>
                  <a:cs typeface="Arial" pitchFamily="34" charset="0"/>
                </a:rPr>
                <a:t>Буфер</a:t>
              </a:r>
            </a:p>
          </p:txBody>
        </p:sp>
        <p:sp>
          <p:nvSpPr>
            <p:cNvPr id="11" name="Line 37"/>
            <p:cNvSpPr>
              <a:spLocks noChangeShapeType="1"/>
            </p:cNvSpPr>
            <p:nvPr/>
          </p:nvSpPr>
          <p:spPr bwMode="auto">
            <a:xfrm>
              <a:off x="1892299" y="3444794"/>
              <a:ext cx="1028699" cy="0"/>
            </a:xfrm>
            <a:prstGeom prst="line">
              <a:avLst/>
            </a:prstGeom>
            <a:noFill/>
            <a:ln w="9525">
              <a:solidFill>
                <a:srgbClr val="717074"/>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US">
                <a:latin typeface="Arial" pitchFamily="34" charset="0"/>
                <a:cs typeface="Arial" pitchFamily="34" charset="0"/>
              </a:endParaRPr>
            </a:p>
          </p:txBody>
        </p:sp>
      </p:grpSp>
      <p:sp>
        <p:nvSpPr>
          <p:cNvPr id="103" name="TextBox 10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089854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Сравнение использования контроллера ввода-вывода и времени отклика</a:t>
            </a:r>
          </a:p>
        </p:txBody>
      </p:sp>
      <p:sp>
        <p:nvSpPr>
          <p:cNvPr id="3" name="Content Placeholder 2"/>
          <p:cNvSpPr>
            <a:spLocks noGrp="1"/>
          </p:cNvSpPr>
          <p:nvPr>
            <p:ph sz="quarter" idx="10"/>
          </p:nvPr>
        </p:nvSpPr>
        <p:spPr/>
        <p:txBody>
          <a:bodyPr/>
          <a:lstStyle/>
          <a:p>
            <a:r>
              <a:rPr lang="ru-RU" sz="1800" b="0" i="0" dirty="0">
                <a:solidFill>
                  <a:srgbClr val="000000"/>
                </a:solidFill>
                <a:latin typeface="Arial" pitchFamily="34" charset="0"/>
                <a:cs typeface="Arial" pitchFamily="34" charset="0"/>
              </a:rPr>
              <a:t>На базе основополагающих правил производительности жестких дисков:</a:t>
            </a:r>
          </a:p>
          <a:p>
            <a:pPr marL="0" indent="0">
              <a:buNone/>
            </a:pPr>
            <a:endParaRPr lang="en-US" sz="1600" i="1" dirty="0">
              <a:latin typeface="Arial" pitchFamily="34" charset="0"/>
              <a:cs typeface="Arial" pitchFamily="34" charset="0"/>
            </a:endParaRPr>
          </a:p>
          <a:p>
            <a:pPr lvl="1"/>
            <a:r>
              <a:rPr lang="ru-RU" sz="1600" b="0" i="0" dirty="0">
                <a:solidFill>
                  <a:srgbClr val="000000"/>
                </a:solidFill>
                <a:latin typeface="Arial" pitchFamily="34" charset="0"/>
                <a:cs typeface="Arial" pitchFamily="34" charset="0"/>
              </a:rPr>
              <a:t>Время, необходимое контроллеру для обработки операций ввода-вывода</a:t>
            </a:r>
          </a:p>
          <a:p>
            <a:r>
              <a:rPr lang="ru-RU" sz="1800" b="0" i="0" dirty="0">
                <a:solidFill>
                  <a:srgbClr val="000000"/>
                </a:solidFill>
                <a:latin typeface="Arial" pitchFamily="34" charset="0"/>
                <a:cs typeface="Arial" pitchFamily="34" charset="0"/>
              </a:rPr>
              <a:t>Для приложений с высокими требованиями к производительности дисками обычно используется меньше 70% производительности обслуживания операций ввода-вывода</a:t>
            </a:r>
          </a:p>
          <a:p>
            <a:endParaRPr lang="en-US" sz="1800" dirty="0">
              <a:latin typeface="Arial" pitchFamily="34" charset="0"/>
              <a:cs typeface="Arial" pitchFamily="34" charset="0"/>
            </a:endParaRPr>
          </a:p>
        </p:txBody>
      </p:sp>
      <p:pic>
        <p:nvPicPr>
          <p:cNvPr id="5" name="Picture 2"/>
          <p:cNvPicPr>
            <a:picLocks noChangeAspect="1" noChangeArrowheads="1"/>
          </p:cNvPicPr>
          <p:nvPr/>
        </p:nvPicPr>
        <p:blipFill>
          <a:blip r:embed="rId4"/>
          <a:stretch>
            <a:fillRect/>
          </a:stretch>
        </p:blipFill>
        <p:spPr bwMode="auto">
          <a:xfrm>
            <a:off x="1847229" y="2877750"/>
            <a:ext cx="5449542"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2398776" y="3810600"/>
            <a:ext cx="2286000"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800" b="1" i="0" dirty="0">
                <a:solidFill>
                  <a:srgbClr val="000000"/>
                </a:solidFill>
                <a:latin typeface="Arial" pitchFamily="34" charset="0"/>
                <a:cs typeface="Arial" pitchFamily="34" charset="0"/>
              </a:rPr>
              <a:t>Маленький размер очереди</a:t>
            </a:r>
          </a:p>
        </p:txBody>
      </p:sp>
      <p:sp>
        <p:nvSpPr>
          <p:cNvPr id="7" name="TextBox 6"/>
          <p:cNvSpPr txBox="1"/>
          <p:nvPr/>
        </p:nvSpPr>
        <p:spPr>
          <a:xfrm>
            <a:off x="4782312" y="2997053"/>
            <a:ext cx="1752600"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800" b="1" i="0" dirty="0">
                <a:solidFill>
                  <a:srgbClr val="000000"/>
                </a:solidFill>
                <a:latin typeface="Arial" pitchFamily="34" charset="0"/>
                <a:cs typeface="Arial" pitchFamily="34" charset="0"/>
              </a:rPr>
              <a:t>Изгиб кривой: диски при использовании приблизительно на 70%</a:t>
            </a:r>
          </a:p>
        </p:txBody>
      </p:sp>
      <p:sp>
        <p:nvSpPr>
          <p:cNvPr id="8" name="TextBox 7"/>
          <p:cNvSpPr txBox="1"/>
          <p:nvPr/>
        </p:nvSpPr>
        <p:spPr>
          <a:xfrm>
            <a:off x="4083865" y="4581653"/>
            <a:ext cx="2286000"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800" b="1" i="0" dirty="0">
                <a:solidFill>
                  <a:srgbClr val="000000"/>
                </a:solidFill>
                <a:latin typeface="Arial" pitchFamily="34" charset="0"/>
                <a:cs typeface="Arial" pitchFamily="34" charset="0"/>
              </a:rPr>
              <a:t>Использование</a:t>
            </a:r>
          </a:p>
        </p:txBody>
      </p:sp>
      <p:sp>
        <p:nvSpPr>
          <p:cNvPr id="9" name="TextBox 8"/>
          <p:cNvSpPr txBox="1"/>
          <p:nvPr/>
        </p:nvSpPr>
        <p:spPr>
          <a:xfrm rot="16200000">
            <a:off x="761228" y="3162657"/>
            <a:ext cx="2286000"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800" b="1" i="0" dirty="0">
                <a:solidFill>
                  <a:srgbClr val="000000"/>
                </a:solidFill>
                <a:latin typeface="Arial" pitchFamily="34" charset="0"/>
                <a:cs typeface="Arial" pitchFamily="34" charset="0"/>
              </a:rPr>
              <a:t>Время отклика (мс)</a:t>
            </a:r>
          </a:p>
        </p:txBody>
      </p:sp>
      <p:pic>
        <p:nvPicPr>
          <p:cNvPr id="10" name="Picture 9"/>
          <p:cNvPicPr>
            <a:picLocks noChangeAspect="1"/>
          </p:cNvPicPr>
          <p:nvPr/>
        </p:nvPicPr>
        <p:blipFill>
          <a:blip r:embed="rId5"/>
          <a:stretch>
            <a:fillRect/>
          </a:stretch>
        </p:blipFill>
        <p:spPr>
          <a:xfrm>
            <a:off x="2365248" y="1245415"/>
            <a:ext cx="3571960" cy="451067"/>
          </a:xfrm>
          <a:prstGeom prst="rect">
            <a:avLst/>
          </a:prstGeom>
        </p:spPr>
      </p:pic>
      <p:sp>
        <p:nvSpPr>
          <p:cNvPr id="11" name="TextBox 1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58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400" b="0" i="0" dirty="0">
                <a:solidFill>
                  <a:srgbClr val="2C95DD"/>
                </a:solidFill>
                <a:latin typeface="Arial" pitchFamily="34" charset="0"/>
                <a:cs typeface="Arial" pitchFamily="34" charset="0"/>
              </a:rPr>
              <a:t>Конструкция системы хранения на основе требований приложений и производительности жестких дисков</a:t>
            </a:r>
          </a:p>
        </p:txBody>
      </p:sp>
      <p:sp>
        <p:nvSpPr>
          <p:cNvPr id="5" name="Rectangle 4"/>
          <p:cNvSpPr/>
          <p:nvPr/>
        </p:nvSpPr>
        <p:spPr>
          <a:xfrm>
            <a:off x="2001416" y="4155926"/>
            <a:ext cx="5141168" cy="38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r>
              <a:rPr lang="ru-RU" sz="1400" b="0" i="0" dirty="0">
                <a:solidFill>
                  <a:srgbClr val="000000"/>
                </a:solidFill>
                <a:latin typeface="Arial" pitchFamily="34" charset="0"/>
                <a:cs typeface="Arial" pitchFamily="34" charset="0"/>
              </a:rPr>
              <a:t>Необходимый для приложения диск = Макс. (DC, DP)</a:t>
            </a:r>
          </a:p>
        </p:txBody>
      </p:sp>
      <p:pic>
        <p:nvPicPr>
          <p:cNvPr id="6" name="Picture 5"/>
          <p:cNvPicPr>
            <a:picLocks noChangeAspect="1"/>
          </p:cNvPicPr>
          <p:nvPr/>
        </p:nvPicPr>
        <p:blipFill>
          <a:blip r:embed="rId4"/>
          <a:stretch>
            <a:fillRect/>
          </a:stretch>
        </p:blipFill>
        <p:spPr>
          <a:xfrm>
            <a:off x="2895600" y="1237113"/>
            <a:ext cx="3273332" cy="413354"/>
          </a:xfrm>
          <a:prstGeom prst="rect">
            <a:avLst/>
          </a:prstGeom>
        </p:spPr>
      </p:pic>
      <p:pic>
        <p:nvPicPr>
          <p:cNvPr id="7" name="Picture 6"/>
          <p:cNvPicPr>
            <a:picLocks noChangeAspect="1"/>
          </p:cNvPicPr>
          <p:nvPr/>
        </p:nvPicPr>
        <p:blipFill>
          <a:blip r:embed="rId5"/>
          <a:stretch>
            <a:fillRect/>
          </a:stretch>
        </p:blipFill>
        <p:spPr>
          <a:xfrm>
            <a:off x="1922872" y="1956483"/>
            <a:ext cx="9735728" cy="399164"/>
          </a:xfrm>
          <a:prstGeom prst="rect">
            <a:avLst/>
          </a:prstGeom>
        </p:spPr>
      </p:pic>
      <p:pic>
        <p:nvPicPr>
          <p:cNvPr id="8" name="Picture 7"/>
          <p:cNvPicPr>
            <a:picLocks noChangeAspect="1"/>
          </p:cNvPicPr>
          <p:nvPr/>
        </p:nvPicPr>
        <p:blipFill>
          <a:blip r:embed="rId6"/>
          <a:stretch>
            <a:fillRect/>
          </a:stretch>
        </p:blipFill>
        <p:spPr>
          <a:xfrm>
            <a:off x="1600200" y="2590799"/>
            <a:ext cx="10196956" cy="509850"/>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6000" y="3538709"/>
            <a:ext cx="672972" cy="336486"/>
          </a:xfrm>
          <a:prstGeom prst="rect">
            <a:avLst/>
          </a:prstGeom>
        </p:spPr>
      </p:pic>
      <p:sp>
        <p:nvSpPr>
          <p:cNvPr id="10" name="TextBox 9"/>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16</a:t>
            </a:fld>
            <a:endParaRPr lang="ru-RU" dirty="0">
              <a:solidFill>
                <a:schemeClr val="bg2"/>
              </a:solidFill>
              <a:latin typeface="Arial"/>
            </a:endParaRPr>
          </a:p>
        </p:txBody>
      </p:sp>
      <p:sp>
        <p:nvSpPr>
          <p:cNvPr id="12" name="TextBox 11"/>
          <p:cNvSpPr txBox="1"/>
          <p:nvPr/>
        </p:nvSpPr>
        <p:spPr>
          <a:xfrm>
            <a:off x="482600" y="933450"/>
            <a:ext cx="8382000" cy="307777"/>
          </a:xfrm>
          <a:prstGeom prst="rect">
            <a:avLst/>
          </a:prstGeom>
          <a:noFill/>
        </p:spPr>
        <p:txBody>
          <a:bodyPr wrap="square" rtlCol="0">
            <a:spAutoFit/>
          </a:bodyPr>
          <a:lstStyle/>
          <a:p>
            <a:pPr>
              <a:buClr>
                <a:schemeClr val="tx2"/>
              </a:buClr>
              <a:buFont typeface="Arial" pitchFamily="34" charset="0"/>
              <a:buChar char="•"/>
            </a:pP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Количество</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дисков, необходимое</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для</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удовлетворения</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потребности</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приложения</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в</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емкости</a:t>
            </a:r>
            <a:r>
              <a:rPr lang="zh-CN" altLang="en-US" sz="1400" dirty="0">
                <a:latin typeface="Arial" pitchFamily="34" charset="0"/>
                <a:cs typeface="Arial" pitchFamily="34" charset="0"/>
              </a:rPr>
              <a:t> </a:t>
            </a:r>
            <a:r>
              <a:rPr lang="en-US" altLang="zh-CN" sz="1400" dirty="0">
                <a:latin typeface="Arial" pitchFamily="34" charset="0"/>
                <a:cs typeface="Arial" pitchFamily="34" charset="0"/>
              </a:rPr>
              <a:t>(DC):</a:t>
            </a:r>
            <a:endParaRPr lang="zh-CN" altLang="en-US" sz="1400" dirty="0">
              <a:latin typeface="Arial" pitchFamily="34" charset="0"/>
              <a:cs typeface="Arial" pitchFamily="34" charset="0"/>
            </a:endParaRPr>
          </a:p>
        </p:txBody>
      </p:sp>
      <p:sp>
        <p:nvSpPr>
          <p:cNvPr id="13" name="TextBox 12"/>
          <p:cNvSpPr txBox="1"/>
          <p:nvPr/>
        </p:nvSpPr>
        <p:spPr>
          <a:xfrm>
            <a:off x="457200" y="1543050"/>
            <a:ext cx="8382000" cy="523220"/>
          </a:xfrm>
          <a:prstGeom prst="rect">
            <a:avLst/>
          </a:prstGeom>
          <a:noFill/>
        </p:spPr>
        <p:txBody>
          <a:bodyPr wrap="square" rtlCol="0">
            <a:spAutoFit/>
          </a:bodyPr>
          <a:lstStyle/>
          <a:p>
            <a:pPr>
              <a:buClr>
                <a:schemeClr val="tx2"/>
              </a:buClr>
              <a:buFont typeface="Arial" pitchFamily="34" charset="0"/>
              <a:buChar char="•"/>
            </a:pP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Количество</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дисков, необходимое</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для</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удовлетворения</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потребности</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приложения</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в</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производительности</a:t>
            </a:r>
            <a:r>
              <a:rPr lang="zh-CN" altLang="en-US" sz="1400" dirty="0">
                <a:latin typeface="Arial" pitchFamily="34" charset="0"/>
                <a:cs typeface="Arial" pitchFamily="34" charset="0"/>
              </a:rPr>
              <a:t> </a:t>
            </a:r>
            <a:r>
              <a:rPr lang="en-US" altLang="zh-CN" sz="1400" dirty="0">
                <a:latin typeface="Arial" pitchFamily="34" charset="0"/>
                <a:cs typeface="Arial" pitchFamily="34" charset="0"/>
              </a:rPr>
              <a:t>(DP):</a:t>
            </a:r>
            <a:endParaRPr lang="zh-CN" altLang="en-US" sz="1400" dirty="0">
              <a:latin typeface="Arial" pitchFamily="34" charset="0"/>
              <a:cs typeface="Arial" pitchFamily="34" charset="0"/>
            </a:endParaRPr>
          </a:p>
        </p:txBody>
      </p:sp>
      <p:sp>
        <p:nvSpPr>
          <p:cNvPr id="14" name="TextBox 13"/>
          <p:cNvSpPr txBox="1"/>
          <p:nvPr/>
        </p:nvSpPr>
        <p:spPr>
          <a:xfrm>
            <a:off x="457200" y="2292350"/>
            <a:ext cx="8382000" cy="523220"/>
          </a:xfrm>
          <a:prstGeom prst="rect">
            <a:avLst/>
          </a:prstGeom>
          <a:noFill/>
        </p:spPr>
        <p:txBody>
          <a:bodyPr wrap="square" rtlCol="0">
            <a:spAutoFit/>
          </a:bodyPr>
          <a:lstStyle/>
          <a:p>
            <a:pPr>
              <a:buClr>
                <a:schemeClr val="tx2"/>
              </a:buClr>
              <a:buFont typeface="Arial" pitchFamily="34" charset="0"/>
              <a:buChar char="•"/>
            </a:pP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Количество</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операций</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ввода-вывода</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в</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секунду</a:t>
            </a:r>
            <a:r>
              <a:rPr lang="zh-CN" altLang="en-US" sz="1400" dirty="0">
                <a:latin typeface="Arial" pitchFamily="34" charset="0"/>
                <a:cs typeface="Arial" pitchFamily="34" charset="0"/>
              </a:rPr>
              <a:t> </a:t>
            </a:r>
            <a:r>
              <a:rPr lang="en-US" altLang="zh-CN" sz="1400" dirty="0">
                <a:latin typeface="Arial" pitchFamily="34" charset="0"/>
                <a:cs typeface="Arial" pitchFamily="34" charset="0"/>
              </a:rPr>
              <a:t>(S), </a:t>
            </a:r>
            <a:r>
              <a:rPr lang="az-Cyrl-AZ" altLang="zh-CN" sz="1400" dirty="0">
                <a:latin typeface="Arial" pitchFamily="34" charset="0"/>
                <a:cs typeface="Arial" pitchFamily="34" charset="0"/>
              </a:rPr>
              <a:t>обслуживаемых</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диском, зависит</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от</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времени</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обслуживания</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диска</a:t>
            </a:r>
            <a:r>
              <a:rPr lang="zh-CN" altLang="en-US" sz="1400" dirty="0">
                <a:latin typeface="Arial" pitchFamily="34" charset="0"/>
                <a:cs typeface="Arial" pitchFamily="34" charset="0"/>
              </a:rPr>
              <a:t> </a:t>
            </a:r>
            <a:r>
              <a:rPr lang="en-US" altLang="zh-CN" sz="1400" dirty="0">
                <a:latin typeface="Arial" pitchFamily="34" charset="0"/>
                <a:cs typeface="Arial" pitchFamily="34" charset="0"/>
              </a:rPr>
              <a:t>(T</a:t>
            </a:r>
            <a:r>
              <a:rPr lang="en-US" altLang="zh-CN" sz="1400" baseline="-25000" dirty="0">
                <a:latin typeface="Arial" pitchFamily="34" charset="0"/>
                <a:cs typeface="Arial" pitchFamily="34" charset="0"/>
              </a:rPr>
              <a:t>S</a:t>
            </a:r>
            <a:r>
              <a:rPr lang="en-US" altLang="zh-CN" sz="1400" dirty="0">
                <a:latin typeface="Arial" pitchFamily="34" charset="0"/>
                <a:cs typeface="Arial" pitchFamily="34" charset="0"/>
              </a:rPr>
              <a:t>):</a:t>
            </a:r>
            <a:endParaRPr lang="zh-CN" altLang="en-US" sz="1400" dirty="0">
              <a:latin typeface="Arial" pitchFamily="34" charset="0"/>
              <a:cs typeface="Arial" pitchFamily="34" charset="0"/>
            </a:endParaRPr>
          </a:p>
        </p:txBody>
      </p:sp>
      <p:sp>
        <p:nvSpPr>
          <p:cNvPr id="15" name="TextBox 14"/>
          <p:cNvSpPr txBox="1"/>
          <p:nvPr/>
        </p:nvSpPr>
        <p:spPr>
          <a:xfrm>
            <a:off x="457200" y="3039586"/>
            <a:ext cx="8229600" cy="738664"/>
          </a:xfrm>
          <a:prstGeom prst="rect">
            <a:avLst/>
          </a:prstGeom>
          <a:noFill/>
        </p:spPr>
        <p:txBody>
          <a:bodyPr wrap="square" rtlCol="0">
            <a:spAutoFit/>
          </a:bodyPr>
          <a:lstStyle/>
          <a:p>
            <a:pPr>
              <a:buClr>
                <a:schemeClr val="tx2"/>
              </a:buClr>
              <a:buFont typeface="Arial" pitchFamily="34" charset="0"/>
              <a:buChar char="•"/>
            </a:pPr>
            <a:r>
              <a:rPr lang="zh-CN" altLang="en-US" sz="1400" dirty="0">
                <a:latin typeface="Arial" pitchFamily="34" charset="0"/>
                <a:cs typeface="Arial" pitchFamily="34" charset="0"/>
              </a:rPr>
              <a:t>  </a:t>
            </a:r>
            <a:r>
              <a:rPr lang="en-US" altLang="zh-CN" sz="1400" dirty="0">
                <a:latin typeface="Arial" pitchFamily="34" charset="0"/>
                <a:cs typeface="Arial" pitchFamily="34" charset="0"/>
              </a:rPr>
              <a:t>T</a:t>
            </a:r>
            <a:r>
              <a:rPr lang="en-US" altLang="zh-CN" sz="1400" baseline="-25000" dirty="0">
                <a:latin typeface="Arial" pitchFamily="34" charset="0"/>
                <a:cs typeface="Arial" pitchFamily="34" charset="0"/>
              </a:rPr>
              <a:t>S</a:t>
            </a:r>
            <a:r>
              <a:rPr lang="en-US" altLang="zh-CN" sz="1400" dirty="0">
                <a:latin typeface="Arial" pitchFamily="34" charset="0"/>
                <a:cs typeface="Arial" pitchFamily="34" charset="0"/>
              </a:rPr>
              <a:t> —</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это</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время</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на</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завершение</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операции</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ввода-вывода, поэтому</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количество</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операций</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ввода-вывода</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в</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секунду</a:t>
            </a:r>
            <a:r>
              <a:rPr lang="zh-CN" altLang="en-US" sz="1400" dirty="0">
                <a:latin typeface="Arial" pitchFamily="34" charset="0"/>
                <a:cs typeface="Arial" pitchFamily="34" charset="0"/>
              </a:rPr>
              <a:t> </a:t>
            </a:r>
            <a:r>
              <a:rPr lang="en-US" altLang="zh-CN" sz="1400" dirty="0">
                <a:latin typeface="Arial" pitchFamily="34" charset="0"/>
                <a:cs typeface="Arial" pitchFamily="34" charset="0"/>
              </a:rPr>
              <a:t>(S), </a:t>
            </a:r>
            <a:r>
              <a:rPr lang="az-Cyrl-AZ" altLang="zh-CN" sz="1400" dirty="0">
                <a:latin typeface="Arial" pitchFamily="34" charset="0"/>
                <a:cs typeface="Arial" pitchFamily="34" charset="0"/>
              </a:rPr>
              <a:t>обслуживаемых</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диском, равняется</a:t>
            </a:r>
            <a:r>
              <a:rPr lang="zh-CN" altLang="en-US" sz="1400" dirty="0">
                <a:latin typeface="Arial" pitchFamily="34" charset="0"/>
                <a:cs typeface="Arial" pitchFamily="34" charset="0"/>
              </a:rPr>
              <a:t> </a:t>
            </a:r>
            <a:r>
              <a:rPr lang="en-US" altLang="zh-CN" sz="1400" dirty="0">
                <a:latin typeface="Arial" pitchFamily="34" charset="0"/>
                <a:cs typeface="Arial" pitchFamily="34" charset="0"/>
              </a:rPr>
              <a:t>(1/T</a:t>
            </a:r>
            <a:r>
              <a:rPr lang="en-US" altLang="zh-CN" sz="1400" baseline="-25000" dirty="0">
                <a:latin typeface="Arial" pitchFamily="34" charset="0"/>
                <a:cs typeface="Arial" pitchFamily="34" charset="0"/>
              </a:rPr>
              <a:t>S</a:t>
            </a:r>
            <a:r>
              <a:rPr lang="en-US" altLang="zh-CN" sz="1400" dirty="0">
                <a:latin typeface="Arial" pitchFamily="34" charset="0"/>
                <a:cs typeface="Arial" pitchFamily="34" charset="0"/>
              </a:rPr>
              <a:t>)</a:t>
            </a:r>
            <a:endParaRPr lang="zh-CN" altLang="en-US" sz="1400" dirty="0">
              <a:latin typeface="Arial" pitchFamily="34" charset="0"/>
              <a:cs typeface="Arial" pitchFamily="34" charset="0"/>
            </a:endParaRPr>
          </a:p>
          <a:p>
            <a:endParaRPr lang="en-US" sz="1400" dirty="0" err="1">
              <a:solidFill>
                <a:schemeClr val="bg2"/>
              </a:solidFill>
              <a:latin typeface="Arial" pitchFamily="34" charset="0"/>
              <a:cs typeface="Arial" pitchFamily="34" charset="0"/>
            </a:endParaRPr>
          </a:p>
        </p:txBody>
      </p:sp>
      <p:sp>
        <p:nvSpPr>
          <p:cNvPr id="16" name="TextBox 15"/>
          <p:cNvSpPr txBox="1"/>
          <p:nvPr/>
        </p:nvSpPr>
        <p:spPr>
          <a:xfrm>
            <a:off x="533400" y="3524250"/>
            <a:ext cx="5943600" cy="307777"/>
          </a:xfrm>
          <a:prstGeom prst="rect">
            <a:avLst/>
          </a:prstGeom>
          <a:noFill/>
        </p:spPr>
        <p:txBody>
          <a:bodyPr wrap="square" rtlCol="0">
            <a:spAutoFit/>
          </a:bodyPr>
          <a:lstStyle/>
          <a:p>
            <a:r>
              <a:rPr lang="zh-CN" altLang="en-US" sz="1400" dirty="0">
                <a:solidFill>
                  <a:schemeClr val="tx2"/>
                </a:solidFill>
                <a:latin typeface="Arial" pitchFamily="34" charset="0"/>
                <a:cs typeface="Arial" pitchFamily="34" charset="0"/>
              </a:rPr>
              <a:t>   </a:t>
            </a:r>
            <a:r>
              <a:rPr lang="en-US" altLang="zh-CN" sz="1400" dirty="0">
                <a:solidFill>
                  <a:schemeClr val="tx2"/>
                </a:solidFill>
                <a:latin typeface="Arial" pitchFamily="34" charset="0"/>
                <a:cs typeface="Arial" pitchFamily="34" charset="0"/>
              </a:rPr>
              <a:t>-</a:t>
            </a:r>
            <a:r>
              <a:rPr lang="zh-CN" altLang="en-US" sz="1400" dirty="0">
                <a:solidFill>
                  <a:schemeClr val="tx2"/>
                </a:solidFill>
                <a:latin typeface="Arial" pitchFamily="34" charset="0"/>
                <a:cs typeface="Arial" pitchFamily="34" charset="0"/>
              </a:rPr>
              <a:t>  </a:t>
            </a:r>
            <a:r>
              <a:rPr lang="az-Cyrl-AZ" altLang="ko-KR" sz="1400" dirty="0">
                <a:latin typeface="Arial" pitchFamily="34" charset="0"/>
                <a:cs typeface="Arial" pitchFamily="34" charset="0"/>
              </a:rPr>
              <a:t>Для</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приложений, требовательных</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к</a:t>
            </a:r>
            <a:r>
              <a:rPr lang="zh-CN" altLang="en-US" sz="1400" dirty="0">
                <a:latin typeface="Arial" pitchFamily="34" charset="0"/>
                <a:cs typeface="Arial" pitchFamily="34" charset="0"/>
              </a:rPr>
              <a:t> </a:t>
            </a:r>
            <a:r>
              <a:rPr lang="az-Cyrl-AZ" altLang="zh-CN" sz="1400" dirty="0">
                <a:latin typeface="Arial" pitchFamily="34" charset="0"/>
                <a:cs typeface="Arial" pitchFamily="34" charset="0"/>
              </a:rPr>
              <a:t>производительности</a:t>
            </a:r>
            <a:r>
              <a:rPr lang="zh-CN" altLang="en-US" sz="1400" dirty="0">
                <a:latin typeface="Arial" pitchFamily="34" charset="0"/>
                <a:cs typeface="Arial" pitchFamily="34" charset="0"/>
              </a:rPr>
              <a:t> </a:t>
            </a:r>
            <a:r>
              <a:rPr lang="en-US" altLang="zh-CN" sz="1400" dirty="0">
                <a:latin typeface="Arial" pitchFamily="34" charset="0"/>
                <a:cs typeface="Arial" pitchFamily="34" charset="0"/>
              </a:rPr>
              <a:t>(S)=</a:t>
            </a:r>
            <a:endParaRPr lang="en-US" sz="1400" dirty="0">
              <a:solidFill>
                <a:schemeClr val="bg2"/>
              </a:solidFill>
              <a:latin typeface="Arial" pitchFamily="34" charset="0"/>
              <a:cs typeface="Arial" pitchFamily="34" charset="0"/>
            </a:endParaRPr>
          </a:p>
        </p:txBody>
      </p:sp>
    </p:spTree>
    <p:custDataLst>
      <p:tags r:id="rId1"/>
    </p:custDataLst>
    <p:extLst>
      <p:ext uri="{BB962C8B-B14F-4D97-AF65-F5344CB8AC3E}">
        <p14:creationId xmlns:p14="http://schemas.microsoft.com/office/powerpoint/2010/main" val="2559402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1.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r>
              <a:rPr lang="ru-RU" sz="2000" b="0" i="0" dirty="0">
                <a:solidFill>
                  <a:srgbClr val="000000"/>
                </a:solidFill>
                <a:latin typeface="Arial" pitchFamily="34" charset="0"/>
                <a:cs typeface="Arial" pitchFamily="34" charset="0"/>
              </a:rPr>
              <a:t>компоненты интеллектуальной системы хранения;</a:t>
            </a:r>
          </a:p>
          <a:p>
            <a:r>
              <a:rPr lang="ru-RU" sz="2000" b="0" i="0" dirty="0">
                <a:solidFill>
                  <a:srgbClr val="000000"/>
                </a:solidFill>
                <a:latin typeface="Arial" pitchFamily="34" charset="0"/>
                <a:cs typeface="Arial" pitchFamily="34" charset="0"/>
              </a:rPr>
              <a:t>компоненты, адресация и производительность жестких дисков (HDD).</a:t>
            </a: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922529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2. Компоненты интеллектуальной системы хранения — II. </a:t>
            </a:r>
          </a:p>
        </p:txBody>
      </p:sp>
      <p:sp>
        <p:nvSpPr>
          <p:cNvPr id="5" name="Content Placeholder 4"/>
          <p:cNvSpPr>
            <a:spLocks noGrp="1"/>
          </p:cNvSpPr>
          <p:nvPr>
            <p:ph sz="quarter" idx="10"/>
          </p:nvPr>
        </p:nvSpPr>
        <p:spPr>
          <a:xfrm>
            <a:off x="533402" y="1426464"/>
            <a:ext cx="8077200" cy="2971800"/>
          </a:xfrm>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компоненты, адресация и производительность твердотельных дисков (SSD).</a:t>
            </a:r>
          </a:p>
          <a:p>
            <a:pPr>
              <a:defRPr/>
            </a:pPr>
            <a:endParaRPr lang="en-US" dirty="0">
              <a:solidFill>
                <a:schemeClr val="tx1"/>
              </a:solidFill>
              <a:latin typeface="Arial" pitchFamily="34" charset="0"/>
              <a:cs typeface="Arial" pitchFamily="34" charset="0"/>
            </a:endParaRP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974630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Система хранения — твердотельные диски (SSD)</a:t>
            </a:r>
          </a:p>
        </p:txBody>
      </p:sp>
      <p:sp>
        <p:nvSpPr>
          <p:cNvPr id="6" name="Subtitle 5"/>
          <p:cNvSpPr>
            <a:spLocks noGrp="1"/>
          </p:cNvSpPr>
          <p:nvPr>
            <p:ph type="subTitle" idx="1"/>
          </p:nvPr>
        </p:nvSpPr>
        <p:spPr/>
        <p:txBody>
          <a:bodyPr/>
          <a:lstStyle/>
          <a:p>
            <a:r>
              <a:rPr lang="ru-RU" sz="2000" b="0" i="0" dirty="0">
                <a:solidFill>
                  <a:srgbClr val="000000"/>
                </a:solidFill>
                <a:latin typeface="Arial" pitchFamily="34" charset="0"/>
                <a:cs typeface="Arial" pitchFamily="34" charset="0"/>
              </a:rPr>
              <a:t>Компоненты твердотельных дисков</a:t>
            </a:r>
          </a:p>
        </p:txBody>
      </p:sp>
      <p:grpSp>
        <p:nvGrpSpPr>
          <p:cNvPr id="26" name="Group 25"/>
          <p:cNvGrpSpPr/>
          <p:nvPr/>
        </p:nvGrpSpPr>
        <p:grpSpPr>
          <a:xfrm>
            <a:off x="1828800" y="1116935"/>
            <a:ext cx="6172199" cy="3664615"/>
            <a:chOff x="1828800" y="1116935"/>
            <a:chExt cx="6172199" cy="3664615"/>
          </a:xfrm>
        </p:grpSpPr>
        <p:sp>
          <p:nvSpPr>
            <p:cNvPr id="25" name="Rounded Rectangle 24"/>
            <p:cNvSpPr/>
            <p:nvPr/>
          </p:nvSpPr>
          <p:spPr>
            <a:xfrm>
              <a:off x="1828800" y="1276350"/>
              <a:ext cx="6096000" cy="3505200"/>
            </a:xfrm>
            <a:prstGeom prst="roundRect">
              <a:avLst>
                <a:gd name="adj" fmla="val 4495"/>
              </a:avLst>
            </a:prstGeom>
            <a:solidFill>
              <a:schemeClr val="bg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algn="ctr"/>
              <a:endParaRPr lang="en-US" sz="1400" dirty="0">
                <a:latin typeface="Arial" pitchFamily="34" charset="0"/>
                <a:cs typeface="Arial" pitchFamily="34" charset="0"/>
              </a:endParaRPr>
            </a:p>
          </p:txBody>
        </p:sp>
        <p:sp>
          <p:nvSpPr>
            <p:cNvPr id="24" name="Rounded Rectangle 23"/>
            <p:cNvSpPr/>
            <p:nvPr/>
          </p:nvSpPr>
          <p:spPr>
            <a:xfrm>
              <a:off x="3967356" y="1407248"/>
              <a:ext cx="3746892" cy="3208643"/>
            </a:xfrm>
            <a:prstGeom prst="roundRect">
              <a:avLst>
                <a:gd name="adj" fmla="val 4348"/>
              </a:avLst>
            </a:prstGeom>
            <a:solidFill>
              <a:schemeClr val="bg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algn="ctr"/>
              <a:endParaRPr lang="en-US" sz="1400" dirty="0">
                <a:latin typeface="Arial" pitchFamily="34" charset="0"/>
                <a:cs typeface="Arial" pitchFamily="34" charset="0"/>
              </a:endParaRPr>
            </a:p>
          </p:txBody>
        </p:sp>
        <p:sp>
          <p:nvSpPr>
            <p:cNvPr id="23" name="Rounded Rectangle 22"/>
            <p:cNvSpPr/>
            <p:nvPr/>
          </p:nvSpPr>
          <p:spPr>
            <a:xfrm>
              <a:off x="2522254" y="1407249"/>
              <a:ext cx="1363946" cy="3221901"/>
            </a:xfrm>
            <a:prstGeom prst="roundRect">
              <a:avLst>
                <a:gd name="adj" fmla="val 10963"/>
              </a:avLst>
            </a:prstGeom>
            <a:solidFill>
              <a:schemeClr val="bg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algn="ctr"/>
              <a:endParaRPr lang="en-US" sz="1400" dirty="0">
                <a:latin typeface="Arial" pitchFamily="34" charset="0"/>
                <a:cs typeface="Arial" pitchFamily="34" charset="0"/>
              </a:endParaRPr>
            </a:p>
          </p:txBody>
        </p:sp>
        <p:sp>
          <p:nvSpPr>
            <p:cNvPr id="3" name="Rounded Rectangle 2"/>
            <p:cNvSpPr/>
            <p:nvPr>
              <p:custDataLst>
                <p:tags r:id="rId2"/>
              </p:custDataLst>
            </p:nvPr>
          </p:nvSpPr>
          <p:spPr>
            <a:xfrm>
              <a:off x="1987456" y="1410462"/>
              <a:ext cx="464694" cy="3205429"/>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algn="ctr"/>
              <a:r>
                <a:rPr lang="ru-RU" sz="1300" b="0" i="0" dirty="0">
                  <a:solidFill>
                    <a:srgbClr val="FFFFFF"/>
                  </a:solidFill>
                  <a:latin typeface="Arial" pitchFamily="34" charset="0"/>
                  <a:cs typeface="Arial" pitchFamily="34" charset="0"/>
                </a:rPr>
                <a:t>Интерфейс ввода-вывода</a:t>
              </a:r>
            </a:p>
          </p:txBody>
        </p:sp>
        <p:sp>
          <p:nvSpPr>
            <p:cNvPr id="7" name="Rounded Rectangle 6"/>
            <p:cNvSpPr/>
            <p:nvPr>
              <p:custDataLst>
                <p:tags r:id="rId3"/>
              </p:custDataLst>
            </p:nvPr>
          </p:nvSpPr>
          <p:spPr>
            <a:xfrm>
              <a:off x="2642139" y="1504950"/>
              <a:ext cx="990600" cy="9144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1300" b="0" i="0" dirty="0">
                  <a:solidFill>
                    <a:srgbClr val="FFFFFF"/>
                  </a:solidFill>
                  <a:latin typeface="Arial" pitchFamily="34" charset="0"/>
                  <a:cs typeface="Arial" pitchFamily="34" charset="0"/>
                </a:rPr>
                <a:t>Кэш-память</a:t>
              </a:r>
            </a:p>
          </p:txBody>
        </p:sp>
        <p:sp>
          <p:nvSpPr>
            <p:cNvPr id="8" name="Rounded Rectangle 7"/>
            <p:cNvSpPr/>
            <p:nvPr/>
          </p:nvSpPr>
          <p:spPr>
            <a:xfrm>
              <a:off x="2652133" y="2509575"/>
              <a:ext cx="990600" cy="9144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800" dirty="0">
                <a:latin typeface="Arial" pitchFamily="34" charset="0"/>
                <a:cs typeface="Arial" pitchFamily="34" charset="0"/>
              </a:endParaRPr>
            </a:p>
          </p:txBody>
        </p:sp>
        <p:sp>
          <p:nvSpPr>
            <p:cNvPr id="9" name="Rounded Rectangle 8"/>
            <p:cNvSpPr/>
            <p:nvPr/>
          </p:nvSpPr>
          <p:spPr>
            <a:xfrm>
              <a:off x="2642139" y="3514200"/>
              <a:ext cx="990600" cy="9144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10" name="Rounded Rectangle 9"/>
            <p:cNvSpPr/>
            <p:nvPr>
              <p:custDataLst>
                <p:tags r:id="rId4"/>
              </p:custDataLst>
            </p:nvPr>
          </p:nvSpPr>
          <p:spPr>
            <a:xfrm>
              <a:off x="4082858" y="1716374"/>
              <a:ext cx="609600" cy="3810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700" b="0" i="0" dirty="0">
                  <a:solidFill>
                    <a:srgbClr val="FFFFFF"/>
                  </a:solidFill>
                  <a:latin typeface="Arial" pitchFamily="34" charset="0"/>
                  <a:cs typeface="Arial" pitchFamily="34" charset="0"/>
                </a:rPr>
                <a:t>Флэш-память</a:t>
              </a:r>
            </a:p>
          </p:txBody>
        </p:sp>
        <p:sp>
          <p:nvSpPr>
            <p:cNvPr id="11" name="Rounded Rectangle 10"/>
            <p:cNvSpPr/>
            <p:nvPr>
              <p:custDataLst>
                <p:tags r:id="rId5"/>
              </p:custDataLst>
            </p:nvPr>
          </p:nvSpPr>
          <p:spPr>
            <a:xfrm>
              <a:off x="4773678" y="1716374"/>
              <a:ext cx="609600" cy="3810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700" b="0" i="0" dirty="0">
                  <a:solidFill>
                    <a:srgbClr val="FFFFFF"/>
                  </a:solidFill>
                  <a:latin typeface="Arial" pitchFamily="34" charset="0"/>
                  <a:cs typeface="Arial" pitchFamily="34" charset="0"/>
                </a:rPr>
                <a:t>Флэш-память</a:t>
              </a:r>
            </a:p>
          </p:txBody>
        </p:sp>
        <p:sp>
          <p:nvSpPr>
            <p:cNvPr id="12" name="Rounded Rectangle 11"/>
            <p:cNvSpPr/>
            <p:nvPr>
              <p:custDataLst>
                <p:tags r:id="rId6"/>
              </p:custDataLst>
            </p:nvPr>
          </p:nvSpPr>
          <p:spPr>
            <a:xfrm>
              <a:off x="6980298" y="1716374"/>
              <a:ext cx="609600" cy="3810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700" b="0" i="0" dirty="0">
                  <a:solidFill>
                    <a:srgbClr val="FFFFFF"/>
                  </a:solidFill>
                  <a:latin typeface="Arial" pitchFamily="34" charset="0"/>
                  <a:cs typeface="Arial" pitchFamily="34" charset="0"/>
                </a:rPr>
                <a:t>Флэш-память</a:t>
              </a:r>
            </a:p>
          </p:txBody>
        </p:sp>
        <p:sp>
          <p:nvSpPr>
            <p:cNvPr id="13" name="Rounded Rectangle 12"/>
            <p:cNvSpPr/>
            <p:nvPr>
              <p:custDataLst>
                <p:tags r:id="rId7"/>
              </p:custDataLst>
            </p:nvPr>
          </p:nvSpPr>
          <p:spPr>
            <a:xfrm>
              <a:off x="6980298" y="3983958"/>
              <a:ext cx="609600" cy="3810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700" b="0" i="0" dirty="0">
                  <a:solidFill>
                    <a:srgbClr val="FFFFFF"/>
                  </a:solidFill>
                  <a:latin typeface="Arial" pitchFamily="34" charset="0"/>
                  <a:cs typeface="Arial" pitchFamily="34" charset="0"/>
                </a:rPr>
                <a:t>Флэш-память</a:t>
              </a:r>
            </a:p>
          </p:txBody>
        </p:sp>
        <p:sp>
          <p:nvSpPr>
            <p:cNvPr id="14" name="Rounded Rectangle 13"/>
            <p:cNvSpPr/>
            <p:nvPr>
              <p:custDataLst>
                <p:tags r:id="rId8"/>
              </p:custDataLst>
            </p:nvPr>
          </p:nvSpPr>
          <p:spPr>
            <a:xfrm>
              <a:off x="4082858" y="3997108"/>
              <a:ext cx="609600" cy="3810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700" b="0" i="0" dirty="0">
                  <a:solidFill>
                    <a:srgbClr val="FFFFFF"/>
                  </a:solidFill>
                  <a:latin typeface="Arial" pitchFamily="34" charset="0"/>
                  <a:cs typeface="Arial" pitchFamily="34" charset="0"/>
                </a:rPr>
                <a:t>Флэш-память</a:t>
              </a:r>
            </a:p>
          </p:txBody>
        </p:sp>
        <p:sp>
          <p:nvSpPr>
            <p:cNvPr id="15" name="Rounded Rectangle 14"/>
            <p:cNvSpPr/>
            <p:nvPr>
              <p:custDataLst>
                <p:tags r:id="rId9"/>
              </p:custDataLst>
            </p:nvPr>
          </p:nvSpPr>
          <p:spPr>
            <a:xfrm>
              <a:off x="4082858" y="2333100"/>
              <a:ext cx="609600" cy="3810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700" b="0" i="0" dirty="0">
                  <a:solidFill>
                    <a:srgbClr val="FFFFFF"/>
                  </a:solidFill>
                  <a:latin typeface="Arial" pitchFamily="34" charset="0"/>
                  <a:cs typeface="Arial" pitchFamily="34" charset="0"/>
                </a:rPr>
                <a:t>Флэш-память</a:t>
              </a:r>
            </a:p>
          </p:txBody>
        </p:sp>
        <p:sp>
          <p:nvSpPr>
            <p:cNvPr id="5" name="TextBox 4"/>
            <p:cNvSpPr txBox="1"/>
            <p:nvPr>
              <p:custDataLst>
                <p:tags r:id="rId10"/>
              </p:custDataLst>
            </p:nvPr>
          </p:nvSpPr>
          <p:spPr>
            <a:xfrm>
              <a:off x="5297198" y="4481597"/>
              <a:ext cx="1030731" cy="276999"/>
            </a:xfrm>
            <a:prstGeom prst="rect">
              <a:avLst/>
            </a:prstGeom>
            <a:solidFill>
              <a:schemeClr val="bg1"/>
            </a:solidFill>
          </p:spPr>
          <p:txBody>
            <a:bodyPr wrap="none" rtlCol="0">
              <a:spAutoFit/>
            </a:bodyPr>
            <a:lstStyle/>
            <a:p>
              <a:r>
                <a:rPr lang="ru-RU" sz="1200" b="0" i="0" dirty="0">
                  <a:solidFill>
                    <a:srgbClr val="000000"/>
                  </a:solidFill>
                  <a:latin typeface="Arial" pitchFamily="34" charset="0"/>
                  <a:cs typeface="Arial" pitchFamily="34" charset="0"/>
                </a:rPr>
                <a:t>Накопитель</a:t>
              </a:r>
            </a:p>
          </p:txBody>
        </p:sp>
        <p:sp>
          <p:nvSpPr>
            <p:cNvPr id="18" name="TextBox 17"/>
            <p:cNvSpPr txBox="1"/>
            <p:nvPr/>
          </p:nvSpPr>
          <p:spPr>
            <a:xfrm>
              <a:off x="4632156" y="3409950"/>
              <a:ext cx="1890261" cy="1015663"/>
            </a:xfrm>
            <a:prstGeom prst="rect">
              <a:avLst/>
            </a:prstGeom>
            <a:noFill/>
          </p:spPr>
          <p:txBody>
            <a:bodyPr wrap="none" rtlCol="0">
              <a:spAutoFit/>
            </a:bodyPr>
            <a:lstStyle/>
            <a:p>
              <a:r>
                <a:rPr lang="en-US" sz="6000" dirty="0">
                  <a:latin typeface="Arial" pitchFamily="34" charset="0"/>
                  <a:cs typeface="Arial" pitchFamily="34" charset="0"/>
                </a:rPr>
                <a:t>........</a:t>
              </a:r>
            </a:p>
          </p:txBody>
        </p:sp>
        <p:sp>
          <p:nvSpPr>
            <p:cNvPr id="19" name="TextBox 18"/>
            <p:cNvSpPr txBox="1"/>
            <p:nvPr>
              <p:custDataLst>
                <p:tags r:id="rId11"/>
              </p:custDataLst>
            </p:nvPr>
          </p:nvSpPr>
          <p:spPr>
            <a:xfrm rot="5400000">
              <a:off x="6761237" y="2529382"/>
              <a:ext cx="1463862" cy="1015663"/>
            </a:xfrm>
            <a:prstGeom prst="rect">
              <a:avLst/>
            </a:prstGeom>
            <a:noFill/>
          </p:spPr>
          <p:txBody>
            <a:bodyPr wrap="none" rtlCol="0">
              <a:spAutoFit/>
            </a:bodyPr>
            <a:lstStyle/>
            <a:p>
              <a:r>
                <a:rPr lang="en-US" sz="6000" dirty="0">
                  <a:latin typeface="Arial" pitchFamily="34" charset="0"/>
                  <a:cs typeface="Arial" pitchFamily="34" charset="0"/>
                </a:rPr>
                <a:t>......</a:t>
              </a:r>
            </a:p>
          </p:txBody>
        </p:sp>
        <p:sp>
          <p:nvSpPr>
            <p:cNvPr id="20" name="TextBox 19"/>
            <p:cNvSpPr txBox="1"/>
            <p:nvPr>
              <p:custDataLst>
                <p:tags r:id="rId12"/>
              </p:custDataLst>
            </p:nvPr>
          </p:nvSpPr>
          <p:spPr>
            <a:xfrm rot="5400000">
              <a:off x="4096885" y="2858334"/>
              <a:ext cx="1037463" cy="1015663"/>
            </a:xfrm>
            <a:prstGeom prst="rect">
              <a:avLst/>
            </a:prstGeom>
            <a:noFill/>
          </p:spPr>
          <p:txBody>
            <a:bodyPr wrap="none" rtlCol="0">
              <a:spAutoFit/>
            </a:bodyPr>
            <a:lstStyle/>
            <a:p>
              <a:r>
                <a:rPr lang="en-US" sz="6000" dirty="0">
                  <a:latin typeface="Arial" pitchFamily="34" charset="0"/>
                  <a:cs typeface="Arial" pitchFamily="34" charset="0"/>
                </a:rPr>
                <a:t>....</a:t>
              </a:r>
            </a:p>
          </p:txBody>
        </p:sp>
        <p:sp>
          <p:nvSpPr>
            <p:cNvPr id="17" name="TextBox 16"/>
            <p:cNvSpPr txBox="1"/>
            <p:nvPr>
              <p:custDataLst>
                <p:tags r:id="rId13"/>
              </p:custDataLst>
            </p:nvPr>
          </p:nvSpPr>
          <p:spPr>
            <a:xfrm>
              <a:off x="2578131" y="2700617"/>
              <a:ext cx="1143000" cy="492443"/>
            </a:xfrm>
            <a:prstGeom prst="rect">
              <a:avLst/>
            </a:prstGeom>
            <a:noFill/>
          </p:spPr>
          <p:txBody>
            <a:bodyPr wrap="square" rtlCol="0">
              <a:spAutoFit/>
            </a:bodyPr>
            <a:lstStyle/>
            <a:p>
              <a:pPr algn="ctr"/>
              <a:r>
                <a:rPr lang="ru-RU" sz="1300" b="0" i="0" dirty="0">
                  <a:solidFill>
                    <a:srgbClr val="FFFFFF"/>
                  </a:solidFill>
                  <a:latin typeface="Arial" pitchFamily="34" charset="0"/>
                  <a:cs typeface="Arial" pitchFamily="34" charset="0"/>
                </a:rPr>
                <a:t>Контроллер дисков</a:t>
              </a:r>
            </a:p>
          </p:txBody>
        </p:sp>
        <p:sp>
          <p:nvSpPr>
            <p:cNvPr id="22" name="TextBox 21"/>
            <p:cNvSpPr txBox="1"/>
            <p:nvPr>
              <p:custDataLst>
                <p:tags r:id="rId14"/>
              </p:custDataLst>
            </p:nvPr>
          </p:nvSpPr>
          <p:spPr>
            <a:xfrm>
              <a:off x="2565939" y="3636645"/>
              <a:ext cx="1143000" cy="692497"/>
            </a:xfrm>
            <a:prstGeom prst="rect">
              <a:avLst/>
            </a:prstGeom>
            <a:noFill/>
          </p:spPr>
          <p:txBody>
            <a:bodyPr wrap="square" rtlCol="0">
              <a:spAutoFit/>
            </a:bodyPr>
            <a:lstStyle/>
            <a:p>
              <a:pPr algn="ctr"/>
              <a:r>
                <a:rPr lang="ru-RU" sz="1300" b="0" i="0" dirty="0">
                  <a:solidFill>
                    <a:srgbClr val="FFFFFF"/>
                  </a:solidFill>
                  <a:latin typeface="Arial" pitchFamily="34" charset="0"/>
                  <a:cs typeface="Arial" pitchFamily="34" charset="0"/>
                </a:rPr>
                <a:t>Энергонезависимая память</a:t>
              </a:r>
            </a:p>
          </p:txBody>
        </p:sp>
        <p:sp>
          <p:nvSpPr>
            <p:cNvPr id="16" name="TextBox 15"/>
            <p:cNvSpPr txBox="1"/>
            <p:nvPr/>
          </p:nvSpPr>
          <p:spPr>
            <a:xfrm>
              <a:off x="5392036" y="1116935"/>
              <a:ext cx="1250663" cy="1015663"/>
            </a:xfrm>
            <a:prstGeom prst="rect">
              <a:avLst/>
            </a:prstGeom>
            <a:noFill/>
          </p:spPr>
          <p:txBody>
            <a:bodyPr wrap="none" rtlCol="0">
              <a:spAutoFit/>
            </a:bodyPr>
            <a:lstStyle/>
            <a:p>
              <a:r>
                <a:rPr lang="en-US" sz="6000" dirty="0">
                  <a:latin typeface="Arial" pitchFamily="34" charset="0"/>
                  <a:cs typeface="Arial" pitchFamily="34" charset="0"/>
                </a:rPr>
                <a:t>.....</a:t>
              </a:r>
            </a:p>
          </p:txBody>
        </p:sp>
        <p:sp>
          <p:nvSpPr>
            <p:cNvPr id="21" name="Rectangle 20"/>
            <p:cNvSpPr/>
            <p:nvPr>
              <p:custDataLst>
                <p:tags r:id="rId15"/>
              </p:custDataLst>
            </p:nvPr>
          </p:nvSpPr>
          <p:spPr>
            <a:xfrm>
              <a:off x="2676525" y="4477392"/>
              <a:ext cx="1042080" cy="276999"/>
            </a:xfrm>
            <a:prstGeom prst="rect">
              <a:avLst/>
            </a:prstGeom>
            <a:solidFill>
              <a:schemeClr val="bg1"/>
            </a:solidFill>
          </p:spPr>
          <p:txBody>
            <a:bodyPr wrap="none">
              <a:spAutoFit/>
            </a:bodyPr>
            <a:lstStyle/>
            <a:p>
              <a:pPr algn="ctr"/>
              <a:r>
                <a:rPr lang="ru-RU" sz="1200" b="0" i="0" dirty="0">
                  <a:solidFill>
                    <a:srgbClr val="000000"/>
                  </a:solidFill>
                  <a:latin typeface="Arial" pitchFamily="34" charset="0"/>
                  <a:cs typeface="Arial" pitchFamily="34" charset="0"/>
                </a:rPr>
                <a:t>Контроллер</a:t>
              </a:r>
            </a:p>
          </p:txBody>
        </p:sp>
      </p:grpSp>
      <p:sp>
        <p:nvSpPr>
          <p:cNvPr id="27" name="TextBox 26"/>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19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228303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Адресация твердотельных дисков (SSD)</a:t>
            </a:r>
          </a:p>
        </p:txBody>
      </p:sp>
      <p:sp>
        <p:nvSpPr>
          <p:cNvPr id="5" name="Rounded Rectangle 4"/>
          <p:cNvSpPr/>
          <p:nvPr/>
        </p:nvSpPr>
        <p:spPr>
          <a:xfrm>
            <a:off x="838200" y="1504950"/>
            <a:ext cx="533400" cy="4572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7" name="Rounded Rectangle 6"/>
          <p:cNvSpPr/>
          <p:nvPr/>
        </p:nvSpPr>
        <p:spPr>
          <a:xfrm>
            <a:off x="2196220" y="1504950"/>
            <a:ext cx="533400" cy="4572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6" name="Right Arrow 5"/>
          <p:cNvSpPr/>
          <p:nvPr/>
        </p:nvSpPr>
        <p:spPr>
          <a:xfrm>
            <a:off x="1524000" y="1619250"/>
            <a:ext cx="533400" cy="228600"/>
          </a:xfrm>
          <a:prstGeom prst="rightArrow">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Arial" pitchFamily="34" charset="0"/>
              <a:cs typeface="Arial" pitchFamily="34" charset="0"/>
            </a:endParaRPr>
          </a:p>
        </p:txBody>
      </p:sp>
      <p:sp>
        <p:nvSpPr>
          <p:cNvPr id="10" name="TextBox 9"/>
          <p:cNvSpPr txBox="1"/>
          <p:nvPr/>
        </p:nvSpPr>
        <p:spPr>
          <a:xfrm>
            <a:off x="285751" y="1038697"/>
            <a:ext cx="1676399" cy="461665"/>
          </a:xfrm>
          <a:prstGeom prst="rect">
            <a:avLst/>
          </a:prstGeom>
          <a:noFill/>
        </p:spPr>
        <p:txBody>
          <a:bodyPr wrap="square" rtlCol="0">
            <a:spAutoFit/>
          </a:bodyPr>
          <a:lstStyle/>
          <a:p>
            <a:pPr algn="ctr"/>
            <a:r>
              <a:rPr lang="ru-RU" sz="1200" b="0" i="0" dirty="0">
                <a:solidFill>
                  <a:srgbClr val="000000"/>
                </a:solidFill>
                <a:latin typeface="Arial" pitchFamily="34" charset="0"/>
                <a:cs typeface="Arial" pitchFamily="34" charset="0"/>
              </a:rPr>
              <a:t>Запись 8 Кбайт на твердотельный диск</a:t>
            </a:r>
          </a:p>
        </p:txBody>
      </p:sp>
      <p:graphicFrame>
        <p:nvGraphicFramePr>
          <p:cNvPr id="11" name="Table 10"/>
          <p:cNvGraphicFramePr>
            <a:graphicFrameLocks noGrp="1"/>
          </p:cNvGraphicFramePr>
          <p:nvPr>
            <p:extLst>
              <p:ext uri="{D42A27DB-BD31-4B8C-83A1-F6EECF244321}">
                <p14:modId xmlns:p14="http://schemas.microsoft.com/office/powerpoint/2010/main" val="3641100415"/>
              </p:ext>
            </p:extLst>
          </p:nvPr>
        </p:nvGraphicFramePr>
        <p:xfrm>
          <a:off x="4343400" y="1108710"/>
          <a:ext cx="1600200" cy="2926080"/>
        </p:xfrm>
        <a:graphic>
          <a:graphicData uri="http://schemas.openxmlformats.org/drawingml/2006/table">
            <a:tbl>
              <a:tblPr firstRow="1" bandRow="1">
                <a:tableStyleId>{5940675A-B579-460E-94D1-54222C63F5DA}</a:tableStyleId>
              </a:tblPr>
              <a:tblGrid>
                <a:gridCol w="400050">
                  <a:extLst>
                    <a:ext uri="{9D8B030D-6E8A-4147-A177-3AD203B41FA5}">
                      <a16:colId xmlns:a16="http://schemas.microsoft.com/office/drawing/2014/main" val="20000"/>
                    </a:ext>
                  </a:extLst>
                </a:gridCol>
                <a:gridCol w="400050">
                  <a:extLst>
                    <a:ext uri="{9D8B030D-6E8A-4147-A177-3AD203B41FA5}">
                      <a16:colId xmlns:a16="http://schemas.microsoft.com/office/drawing/2014/main" val="20001"/>
                    </a:ext>
                  </a:extLst>
                </a:gridCol>
                <a:gridCol w="400050">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tblGrid>
              <a:tr h="177800">
                <a:tc>
                  <a:txBody>
                    <a:bodyPr/>
                    <a:lstStyle/>
                    <a:p>
                      <a:endParaRPr lang="en-US" dirty="0"/>
                    </a:p>
                  </a:txBody>
                  <a:tcPr>
                    <a:solidFill>
                      <a:schemeClr val="tx2"/>
                    </a:solidFill>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0"/>
                  </a:ext>
                </a:extLst>
              </a:tr>
              <a:tr h="17780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177800">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0002"/>
                  </a:ext>
                </a:extLst>
              </a:tr>
              <a:tr h="177800">
                <a:tc>
                  <a:txBody>
                    <a:bodyPr/>
                    <a:lstStyle/>
                    <a:p>
                      <a:endParaRPr lang="en-US"/>
                    </a:p>
                  </a:txBody>
                  <a:tcPr/>
                </a:tc>
                <a:tc>
                  <a:txBody>
                    <a:bodyPr/>
                    <a:lstStyle/>
                    <a:p>
                      <a:endParaRPr lang="en-US"/>
                    </a:p>
                  </a:txBody>
                  <a:tcPr/>
                </a:tc>
                <a:tc>
                  <a:txBody>
                    <a:bodyPr/>
                    <a:lstStyle/>
                    <a:p>
                      <a:endParaRPr lang="en-US" dirty="0"/>
                    </a:p>
                  </a:txBody>
                  <a:tcPr>
                    <a:solidFill>
                      <a:schemeClr val="tx2"/>
                    </a:solidFill>
                  </a:tcPr>
                </a:tc>
                <a:tc>
                  <a:txBody>
                    <a:bodyPr/>
                    <a:lstStyle/>
                    <a:p>
                      <a:endParaRPr lang="en-US"/>
                    </a:p>
                  </a:txBody>
                  <a:tcPr/>
                </a:tc>
                <a:extLst>
                  <a:ext uri="{0D108BD9-81ED-4DB2-BD59-A6C34878D82A}">
                    <a16:rowId xmlns:a16="http://schemas.microsoft.com/office/drawing/2014/main" val="10003"/>
                  </a:ext>
                </a:extLst>
              </a:tr>
              <a:tr h="17780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4"/>
                  </a:ext>
                </a:extLst>
              </a:tr>
              <a:tr h="17780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r h="17780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6"/>
                  </a:ext>
                </a:extLst>
              </a:tr>
              <a:tr h="17780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7"/>
                  </a:ext>
                </a:extLst>
              </a:tr>
            </a:tbl>
          </a:graphicData>
        </a:graphic>
      </p:graphicFrame>
      <p:cxnSp>
        <p:nvCxnSpPr>
          <p:cNvPr id="13" name="Straight Arrow Connector 12"/>
          <p:cNvCxnSpPr/>
          <p:nvPr/>
        </p:nvCxnSpPr>
        <p:spPr>
          <a:xfrm flipH="1" flipV="1">
            <a:off x="5771961" y="3867150"/>
            <a:ext cx="457200" cy="304800"/>
          </a:xfrm>
          <a:prstGeom prst="straightConnector1">
            <a:avLst/>
          </a:prstGeom>
          <a:ln w="12700" cmpd="sng">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205727" y="4114800"/>
            <a:ext cx="1680973" cy="307777"/>
          </a:xfrm>
          <a:prstGeom prst="rect">
            <a:avLst/>
          </a:prstGeom>
          <a:noFill/>
        </p:spPr>
        <p:txBody>
          <a:bodyPr wrap="none" rtlCol="0">
            <a:spAutoFit/>
          </a:bodyPr>
          <a:lstStyle/>
          <a:p>
            <a:r>
              <a:rPr lang="ru-RU" sz="1400" b="0" i="0" dirty="0">
                <a:solidFill>
                  <a:srgbClr val="000000"/>
                </a:solidFill>
                <a:latin typeface="Arial" pitchFamily="34" charset="0"/>
                <a:cs typeface="Arial" pitchFamily="34" charset="0"/>
              </a:rPr>
              <a:t>Страница 4 Кбайт</a:t>
            </a:r>
          </a:p>
        </p:txBody>
      </p:sp>
      <p:sp>
        <p:nvSpPr>
          <p:cNvPr id="17" name="TextBox 16"/>
          <p:cNvSpPr txBox="1"/>
          <p:nvPr/>
        </p:nvSpPr>
        <p:spPr>
          <a:xfrm>
            <a:off x="3981450" y="4095750"/>
            <a:ext cx="2324100" cy="523220"/>
          </a:xfrm>
          <a:prstGeom prst="rect">
            <a:avLst/>
          </a:prstGeom>
          <a:noFill/>
        </p:spPr>
        <p:txBody>
          <a:bodyPr wrap="square" rtlCol="0">
            <a:spAutoFit/>
          </a:bodyPr>
          <a:lstStyle/>
          <a:p>
            <a:pPr algn="ctr"/>
            <a:r>
              <a:rPr lang="ru-RU" sz="1400" b="0" i="0" dirty="0">
                <a:solidFill>
                  <a:srgbClr val="000000"/>
                </a:solidFill>
                <a:latin typeface="Arial" pitchFamily="34" charset="0"/>
                <a:cs typeface="Arial" pitchFamily="34" charset="0"/>
              </a:rPr>
              <a:t>Блок 128 Кбайт</a:t>
            </a:r>
            <a:br>
              <a:rPr lang="en-US" sz="1400" b="0" i="0" dirty="0">
                <a:solidFill>
                  <a:srgbClr val="FF00FF"/>
                </a:solidFill>
                <a:latin typeface="Arial" pitchFamily="34" charset="0"/>
                <a:cs typeface="Arial" pitchFamily="34" charset="0"/>
              </a:rPr>
            </a:br>
            <a:r>
              <a:rPr lang="ru-RU" sz="1400" b="0" i="0" dirty="0">
                <a:solidFill>
                  <a:srgbClr val="000000"/>
                </a:solidFill>
                <a:latin typeface="Arial" pitchFamily="34" charset="0"/>
                <a:cs typeface="Arial" pitchFamily="34" charset="0"/>
              </a:rPr>
              <a:t>(32 страницы по 4 Кбайт)</a:t>
            </a:r>
          </a:p>
        </p:txBody>
      </p:sp>
      <p:sp>
        <p:nvSpPr>
          <p:cNvPr id="18" name="Right Arrow 17"/>
          <p:cNvSpPr/>
          <p:nvPr/>
        </p:nvSpPr>
        <p:spPr>
          <a:xfrm>
            <a:off x="3581400" y="1619250"/>
            <a:ext cx="533400" cy="228600"/>
          </a:xfrm>
          <a:prstGeom prst="rightArrow">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Arial" pitchFamily="34" charset="0"/>
              <a:cs typeface="Arial" pitchFamily="34" charset="0"/>
            </a:endParaRPr>
          </a:p>
        </p:txBody>
      </p:sp>
      <p:sp>
        <p:nvSpPr>
          <p:cNvPr id="19" name="TextBox 18"/>
          <p:cNvSpPr txBox="1"/>
          <p:nvPr/>
        </p:nvSpPr>
        <p:spPr>
          <a:xfrm>
            <a:off x="1887838" y="1043285"/>
            <a:ext cx="1865012" cy="461665"/>
          </a:xfrm>
          <a:prstGeom prst="rect">
            <a:avLst/>
          </a:prstGeom>
          <a:noFill/>
        </p:spPr>
        <p:txBody>
          <a:bodyPr wrap="square" rtlCol="0">
            <a:spAutoFit/>
          </a:bodyPr>
          <a:lstStyle/>
          <a:p>
            <a:pPr algn="ctr"/>
            <a:r>
              <a:rPr lang="ru-RU" sz="1200" b="0" i="0" dirty="0">
                <a:solidFill>
                  <a:srgbClr val="000000"/>
                </a:solidFill>
                <a:latin typeface="Arial" pitchFamily="34" charset="0"/>
                <a:cs typeface="Arial" pitchFamily="34" charset="0"/>
              </a:rPr>
              <a:t>Сохранено как две страницы по 4 Кбайт</a:t>
            </a:r>
          </a:p>
        </p:txBody>
      </p:sp>
      <p:cxnSp>
        <p:nvCxnSpPr>
          <p:cNvPr id="20" name="Straight Arrow Connector 19"/>
          <p:cNvCxnSpPr/>
          <p:nvPr/>
        </p:nvCxnSpPr>
        <p:spPr>
          <a:xfrm flipH="1" flipV="1">
            <a:off x="4610100" y="1274622"/>
            <a:ext cx="2933700" cy="344628"/>
          </a:xfrm>
          <a:prstGeom prst="straightConnector1">
            <a:avLst/>
          </a:prstGeom>
          <a:ln w="12700" cmpd="sng">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a:off x="5372100" y="1918960"/>
            <a:ext cx="2171700" cy="500390"/>
          </a:xfrm>
          <a:prstGeom prst="straightConnector1">
            <a:avLst/>
          </a:prstGeom>
          <a:ln w="12700" cmpd="sng">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43600" y="742950"/>
            <a:ext cx="3124200" cy="461665"/>
          </a:xfrm>
          <a:prstGeom prst="rect">
            <a:avLst/>
          </a:prstGeom>
          <a:noFill/>
        </p:spPr>
        <p:txBody>
          <a:bodyPr wrap="square" rtlCol="0">
            <a:spAutoFit/>
          </a:bodyPr>
          <a:lstStyle/>
          <a:p>
            <a:pPr algn="ctr"/>
            <a:r>
              <a:rPr lang="ru-RU" sz="1200" b="0" i="0" dirty="0">
                <a:solidFill>
                  <a:srgbClr val="000000"/>
                </a:solidFill>
                <a:latin typeface="Arial" pitchFamily="34" charset="0"/>
                <a:cs typeface="Arial" pitchFamily="34" charset="0"/>
              </a:rPr>
              <a:t>Логически сопоставлено со страницами (метаданные</a:t>
            </a:r>
            <a:r>
              <a:rPr lang="en-US" sz="1200" b="0" i="0" dirty="0">
                <a:solidFill>
                  <a:srgbClr val="000000"/>
                </a:solidFill>
                <a:latin typeface="Arial" pitchFamily="34" charset="0"/>
                <a:cs typeface="Arial" pitchFamily="34" charset="0"/>
              </a:rPr>
              <a:t> </a:t>
            </a:r>
            <a:r>
              <a:rPr lang="ru-RU" sz="1200" b="0" i="0" dirty="0">
                <a:solidFill>
                  <a:srgbClr val="000000"/>
                </a:solidFill>
                <a:latin typeface="Arial" pitchFamily="34" charset="0"/>
                <a:cs typeface="Arial" pitchFamily="34" charset="0"/>
              </a:rPr>
              <a:t>твердотельного диска)</a:t>
            </a:r>
          </a:p>
        </p:txBody>
      </p:sp>
      <p:sp>
        <p:nvSpPr>
          <p:cNvPr id="25" name="Rounded Rectangle 24"/>
          <p:cNvSpPr/>
          <p:nvPr/>
        </p:nvSpPr>
        <p:spPr>
          <a:xfrm>
            <a:off x="2895600" y="1504950"/>
            <a:ext cx="533400" cy="457200"/>
          </a:xfrm>
          <a:prstGeom prst="roundRect">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29" name="TextBox 28"/>
          <p:cNvSpPr txBox="1"/>
          <p:nvPr/>
        </p:nvSpPr>
        <p:spPr>
          <a:xfrm>
            <a:off x="7774288" y="1297658"/>
            <a:ext cx="1277914" cy="246221"/>
          </a:xfrm>
          <a:prstGeom prst="rect">
            <a:avLst/>
          </a:prstGeom>
          <a:noFill/>
        </p:spPr>
        <p:txBody>
          <a:bodyPr wrap="none" rtlCol="0">
            <a:spAutoFit/>
          </a:bodyPr>
          <a:lstStyle/>
          <a:p>
            <a:r>
              <a:rPr lang="ru-RU" sz="1000" b="0" i="0" dirty="0">
                <a:solidFill>
                  <a:srgbClr val="000000"/>
                </a:solidFill>
                <a:latin typeface="Arial" pitchFamily="34" charset="0"/>
                <a:cs typeface="Arial" pitchFamily="34" charset="0"/>
              </a:rPr>
              <a:t>Адрес LBA 0x2000</a:t>
            </a:r>
          </a:p>
        </p:txBody>
      </p:sp>
      <p:sp>
        <p:nvSpPr>
          <p:cNvPr id="30" name="TextBox 29"/>
          <p:cNvSpPr txBox="1"/>
          <p:nvPr/>
        </p:nvSpPr>
        <p:spPr>
          <a:xfrm>
            <a:off x="7774288" y="1684509"/>
            <a:ext cx="1277914" cy="246221"/>
          </a:xfrm>
          <a:prstGeom prst="rect">
            <a:avLst/>
          </a:prstGeom>
          <a:noFill/>
        </p:spPr>
        <p:txBody>
          <a:bodyPr wrap="none" rtlCol="0">
            <a:spAutoFit/>
          </a:bodyPr>
          <a:lstStyle/>
          <a:p>
            <a:r>
              <a:rPr lang="ru-RU" sz="1000" b="0" i="0" dirty="0">
                <a:solidFill>
                  <a:srgbClr val="000000"/>
                </a:solidFill>
                <a:latin typeface="Arial" pitchFamily="34" charset="0"/>
                <a:cs typeface="Arial" pitchFamily="34" charset="0"/>
              </a:rPr>
              <a:t>Адрес LBA 0x3000</a:t>
            </a:r>
          </a:p>
        </p:txBody>
      </p:sp>
      <p:graphicFrame>
        <p:nvGraphicFramePr>
          <p:cNvPr id="27" name="Table 26"/>
          <p:cNvGraphicFramePr>
            <a:graphicFrameLocks noGrp="1"/>
          </p:cNvGraphicFramePr>
          <p:nvPr>
            <p:extLst>
              <p:ext uri="{D42A27DB-BD31-4B8C-83A1-F6EECF244321}">
                <p14:modId xmlns:p14="http://schemas.microsoft.com/office/powerpoint/2010/main" val="3421395486"/>
              </p:ext>
            </p:extLst>
          </p:nvPr>
        </p:nvGraphicFramePr>
        <p:xfrm>
          <a:off x="7367606" y="1383030"/>
          <a:ext cx="444782" cy="731520"/>
        </p:xfrm>
        <a:graphic>
          <a:graphicData uri="http://schemas.openxmlformats.org/drawingml/2006/table">
            <a:tbl>
              <a:tblPr firstRow="1" bandRow="1">
                <a:tableStyleId>{5940675A-B579-460E-94D1-54222C63F5DA}</a:tableStyleId>
              </a:tblPr>
              <a:tblGrid>
                <a:gridCol w="444782">
                  <a:extLst>
                    <a:ext uri="{9D8B030D-6E8A-4147-A177-3AD203B41FA5}">
                      <a16:colId xmlns:a16="http://schemas.microsoft.com/office/drawing/2014/main" val="20000"/>
                    </a:ext>
                  </a:extLst>
                </a:gridCol>
              </a:tblGrid>
              <a:tr h="359833">
                <a:tc>
                  <a:txBody>
                    <a:bodyPr/>
                    <a:lstStyle/>
                    <a:p>
                      <a:endParaRPr lang="en-US" dirty="0"/>
                    </a:p>
                  </a:txBody>
                  <a:tcPr/>
                </a:tc>
                <a:extLst>
                  <a:ext uri="{0D108BD9-81ED-4DB2-BD59-A6C34878D82A}">
                    <a16:rowId xmlns:a16="http://schemas.microsoft.com/office/drawing/2014/main" val="10000"/>
                  </a:ext>
                </a:extLst>
              </a:tr>
              <a:tr h="359833">
                <a:tc>
                  <a:txBody>
                    <a:bodyPr/>
                    <a:lstStyle/>
                    <a:p>
                      <a:endParaRPr lang="en-US" dirty="0"/>
                    </a:p>
                  </a:txBody>
                  <a:tcPr/>
                </a:tc>
                <a:extLst>
                  <a:ext uri="{0D108BD9-81ED-4DB2-BD59-A6C34878D82A}">
                    <a16:rowId xmlns:a16="http://schemas.microsoft.com/office/drawing/2014/main" val="10001"/>
                  </a:ext>
                </a:extLst>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2919121202"/>
              </p:ext>
            </p:extLst>
          </p:nvPr>
        </p:nvGraphicFramePr>
        <p:xfrm>
          <a:off x="7367606" y="3059430"/>
          <a:ext cx="444782" cy="731520"/>
        </p:xfrm>
        <a:graphic>
          <a:graphicData uri="http://schemas.openxmlformats.org/drawingml/2006/table">
            <a:tbl>
              <a:tblPr firstRow="1" bandRow="1">
                <a:tableStyleId>{5940675A-B579-460E-94D1-54222C63F5DA}</a:tableStyleId>
              </a:tblPr>
              <a:tblGrid>
                <a:gridCol w="444782">
                  <a:extLst>
                    <a:ext uri="{9D8B030D-6E8A-4147-A177-3AD203B41FA5}">
                      <a16:colId xmlns:a16="http://schemas.microsoft.com/office/drawing/2014/main" val="20000"/>
                    </a:ext>
                  </a:extLst>
                </a:gridCol>
              </a:tblGrid>
              <a:tr h="359833">
                <a:tc>
                  <a:txBody>
                    <a:bodyPr/>
                    <a:lstStyle/>
                    <a:p>
                      <a:endParaRPr lang="en-US" dirty="0"/>
                    </a:p>
                  </a:txBody>
                  <a:tcPr/>
                </a:tc>
                <a:extLst>
                  <a:ext uri="{0D108BD9-81ED-4DB2-BD59-A6C34878D82A}">
                    <a16:rowId xmlns:a16="http://schemas.microsoft.com/office/drawing/2014/main" val="10000"/>
                  </a:ext>
                </a:extLst>
              </a:tr>
              <a:tr h="359833">
                <a:tc>
                  <a:txBody>
                    <a:bodyPr/>
                    <a:lstStyle/>
                    <a:p>
                      <a:endParaRPr lang="en-US" dirty="0"/>
                    </a:p>
                  </a:txBody>
                  <a:tcPr/>
                </a:tc>
                <a:extLst>
                  <a:ext uri="{0D108BD9-81ED-4DB2-BD59-A6C34878D82A}">
                    <a16:rowId xmlns:a16="http://schemas.microsoft.com/office/drawing/2014/main" val="10001"/>
                  </a:ext>
                </a:extLst>
              </a:tr>
            </a:tbl>
          </a:graphicData>
        </a:graphic>
      </p:graphicFrame>
      <p:sp>
        <p:nvSpPr>
          <p:cNvPr id="1027" name="TextBox 1026"/>
          <p:cNvSpPr txBox="1"/>
          <p:nvPr/>
        </p:nvSpPr>
        <p:spPr>
          <a:xfrm rot="5400000">
            <a:off x="7103036" y="2184537"/>
            <a:ext cx="1313180" cy="769441"/>
          </a:xfrm>
          <a:prstGeom prst="rect">
            <a:avLst/>
          </a:prstGeom>
          <a:noFill/>
        </p:spPr>
        <p:txBody>
          <a:bodyPr wrap="none" rtlCol="0">
            <a:spAutoFit/>
          </a:bodyPr>
          <a:lstStyle/>
          <a:p>
            <a:r>
              <a:rPr lang="ru-RU" sz="4400" dirty="0">
                <a:latin typeface="Arial" pitchFamily="34" charset="0"/>
                <a:cs typeface="Arial" pitchFamily="34" charset="0"/>
              </a:rPr>
              <a:t>……</a:t>
            </a:r>
          </a:p>
        </p:txBody>
      </p:sp>
      <p:sp>
        <p:nvSpPr>
          <p:cNvPr id="23" name="TextBox 2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478821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Состояние страницы и блока</a:t>
            </a:r>
          </a:p>
        </p:txBody>
      </p:sp>
      <p:graphicFrame>
        <p:nvGraphicFramePr>
          <p:cNvPr id="5" name="Table 4"/>
          <p:cNvGraphicFramePr>
            <a:graphicFrameLocks noGrp="1"/>
          </p:cNvGraphicFramePr>
          <p:nvPr>
            <p:extLst>
              <p:ext uri="{D42A27DB-BD31-4B8C-83A1-F6EECF244321}">
                <p14:modId xmlns:p14="http://schemas.microsoft.com/office/powerpoint/2010/main" val="1867657171"/>
              </p:ext>
            </p:extLst>
          </p:nvPr>
        </p:nvGraphicFramePr>
        <p:xfrm>
          <a:off x="6488661" y="2754630"/>
          <a:ext cx="1233220" cy="1341120"/>
        </p:xfrm>
        <a:graphic>
          <a:graphicData uri="http://schemas.openxmlformats.org/drawingml/2006/table">
            <a:tbl>
              <a:tblPr firstRow="1" bandRow="1">
                <a:tableStyleId>{5940675A-B579-460E-94D1-54222C63F5DA}</a:tableStyleId>
              </a:tblPr>
              <a:tblGrid>
                <a:gridCol w="308305">
                  <a:extLst>
                    <a:ext uri="{9D8B030D-6E8A-4147-A177-3AD203B41FA5}">
                      <a16:colId xmlns:a16="http://schemas.microsoft.com/office/drawing/2014/main" val="20000"/>
                    </a:ext>
                  </a:extLst>
                </a:gridCol>
                <a:gridCol w="308305">
                  <a:extLst>
                    <a:ext uri="{9D8B030D-6E8A-4147-A177-3AD203B41FA5}">
                      <a16:colId xmlns:a16="http://schemas.microsoft.com/office/drawing/2014/main" val="20001"/>
                    </a:ext>
                  </a:extLst>
                </a:gridCol>
                <a:gridCol w="308305">
                  <a:extLst>
                    <a:ext uri="{9D8B030D-6E8A-4147-A177-3AD203B41FA5}">
                      <a16:colId xmlns:a16="http://schemas.microsoft.com/office/drawing/2014/main" val="20002"/>
                    </a:ext>
                  </a:extLst>
                </a:gridCol>
                <a:gridCol w="308305">
                  <a:extLst>
                    <a:ext uri="{9D8B030D-6E8A-4147-A177-3AD203B41FA5}">
                      <a16:colId xmlns:a16="http://schemas.microsoft.com/office/drawing/2014/main" val="20003"/>
                    </a:ext>
                  </a:extLst>
                </a:gridCol>
              </a:tblGrid>
              <a:tr h="0">
                <a:tc>
                  <a:txBody>
                    <a:bodyPr/>
                    <a:lstStyle/>
                    <a:p>
                      <a:endParaRPr lang="en-US" sz="500" dirty="0"/>
                    </a:p>
                  </a:txBody>
                  <a:tcPr>
                    <a:solidFill>
                      <a:schemeClr val="accent1"/>
                    </a:solidFill>
                  </a:tcPr>
                </a:tc>
                <a:tc>
                  <a:txBody>
                    <a:bodyPr/>
                    <a:lstStyle/>
                    <a:p>
                      <a:endParaRPr lang="en-US" sz="500" dirty="0"/>
                    </a:p>
                  </a:txBody>
                  <a:tcPr>
                    <a:solidFill>
                      <a:schemeClr val="accent1"/>
                    </a:solidFill>
                  </a:tcPr>
                </a:tc>
                <a:tc>
                  <a:txBody>
                    <a:bodyPr/>
                    <a:lstStyle/>
                    <a:p>
                      <a:endParaRPr lang="en-US" sz="500" dirty="0"/>
                    </a:p>
                  </a:txBody>
                  <a:tcPr>
                    <a:solidFill>
                      <a:schemeClr val="accent1"/>
                    </a:solidFill>
                  </a:tcPr>
                </a:tc>
                <a:tc>
                  <a:txBody>
                    <a:bodyPr/>
                    <a:lstStyle/>
                    <a:p>
                      <a:endParaRPr lang="en-US" sz="500"/>
                    </a:p>
                  </a:txBody>
                  <a:tcPr>
                    <a:solidFill>
                      <a:schemeClr val="accent1"/>
                    </a:solidFill>
                  </a:tcPr>
                </a:tc>
                <a:extLst>
                  <a:ext uri="{0D108BD9-81ED-4DB2-BD59-A6C34878D82A}">
                    <a16:rowId xmlns:a16="http://schemas.microsoft.com/office/drawing/2014/main" val="10000"/>
                  </a:ext>
                </a:extLst>
              </a:tr>
              <a:tr h="0">
                <a:tc>
                  <a:txBody>
                    <a:bodyPr/>
                    <a:lstStyle/>
                    <a:p>
                      <a:endParaRPr lang="en-US" sz="500" dirty="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1"/>
                  </a:ext>
                </a:extLst>
              </a:tr>
              <a:tr h="0">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2"/>
                  </a:ext>
                </a:extLst>
              </a:tr>
              <a:tr h="0">
                <a:tc>
                  <a:txBody>
                    <a:bodyPr/>
                    <a:lstStyle/>
                    <a:p>
                      <a:endParaRPr lang="en-US" sz="500" dirty="0"/>
                    </a:p>
                  </a:txBody>
                  <a:tcPr>
                    <a:solidFill>
                      <a:schemeClr val="bg2"/>
                    </a:solidFill>
                  </a:tcPr>
                </a:tc>
                <a:tc>
                  <a:txBody>
                    <a:bodyPr/>
                    <a:lstStyle/>
                    <a:p>
                      <a:endParaRPr lang="en-US" sz="500" dirty="0"/>
                    </a:p>
                  </a:txBody>
                  <a:tcPr>
                    <a:solidFill>
                      <a:schemeClr val="bg2"/>
                    </a:solidFill>
                  </a:tcPr>
                </a:tc>
                <a:tc>
                  <a:txBody>
                    <a:bodyPr/>
                    <a:lstStyle/>
                    <a:p>
                      <a:endParaRPr lang="en-US" sz="500" dirty="0"/>
                    </a:p>
                  </a:txBody>
                  <a:tcPr>
                    <a:solidFill>
                      <a:schemeClr val="bg2"/>
                    </a:solidFill>
                  </a:tcPr>
                </a:tc>
                <a:tc>
                  <a:txBody>
                    <a:bodyPr/>
                    <a:lstStyle/>
                    <a:p>
                      <a:endParaRPr lang="en-US" sz="500" dirty="0"/>
                    </a:p>
                  </a:txBody>
                  <a:tcPr>
                    <a:solidFill>
                      <a:schemeClr val="bg2"/>
                    </a:solidFill>
                  </a:tcPr>
                </a:tc>
                <a:extLst>
                  <a:ext uri="{0D108BD9-81ED-4DB2-BD59-A6C34878D82A}">
                    <a16:rowId xmlns:a16="http://schemas.microsoft.com/office/drawing/2014/main" val="10003"/>
                  </a:ext>
                </a:extLst>
              </a:tr>
              <a:tr h="0">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bg2"/>
                    </a:solidFill>
                  </a:tcPr>
                </a:tc>
                <a:extLst>
                  <a:ext uri="{0D108BD9-81ED-4DB2-BD59-A6C34878D82A}">
                    <a16:rowId xmlns:a16="http://schemas.microsoft.com/office/drawing/2014/main" val="10004"/>
                  </a:ext>
                </a:extLst>
              </a:tr>
              <a:tr h="0">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bg2"/>
                    </a:solidFill>
                  </a:tcPr>
                </a:tc>
                <a:tc>
                  <a:txBody>
                    <a:bodyPr/>
                    <a:lstStyle/>
                    <a:p>
                      <a:endParaRPr lang="en-US" sz="500" dirty="0"/>
                    </a:p>
                  </a:txBody>
                  <a:tcPr>
                    <a:solidFill>
                      <a:schemeClr val="accent1"/>
                    </a:solidFill>
                  </a:tcPr>
                </a:tc>
                <a:extLst>
                  <a:ext uri="{0D108BD9-81ED-4DB2-BD59-A6C34878D82A}">
                    <a16:rowId xmlns:a16="http://schemas.microsoft.com/office/drawing/2014/main" val="10005"/>
                  </a:ext>
                </a:extLst>
              </a:tr>
              <a:tr h="0">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6"/>
                  </a:ext>
                </a:extLst>
              </a:tr>
              <a:tr h="0">
                <a:tc>
                  <a:txBody>
                    <a:bodyPr/>
                    <a:lstStyle/>
                    <a:p>
                      <a:endParaRPr lang="en-US" sz="500" dirty="0"/>
                    </a:p>
                  </a:txBody>
                  <a:tcPr>
                    <a:solidFill>
                      <a:schemeClr val="bg2"/>
                    </a:solidFill>
                  </a:tcPr>
                </a:tc>
                <a:tc>
                  <a:txBody>
                    <a:bodyPr/>
                    <a:lstStyle/>
                    <a:p>
                      <a:endParaRPr lang="en-US" sz="500" dirty="0"/>
                    </a:p>
                  </a:txBody>
                  <a:tcPr>
                    <a:solidFill>
                      <a:schemeClr val="accent1"/>
                    </a:solidFill>
                  </a:tcPr>
                </a:tc>
                <a:tc>
                  <a:txBody>
                    <a:bodyPr/>
                    <a:lstStyle/>
                    <a:p>
                      <a:endParaRPr lang="en-US" sz="500" dirty="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7"/>
                  </a:ext>
                </a:extLst>
              </a:tr>
            </a:tbl>
          </a:graphicData>
        </a:graphic>
      </p:graphicFrame>
      <p:cxnSp>
        <p:nvCxnSpPr>
          <p:cNvPr id="6" name="Straight Arrow Connector 5"/>
          <p:cNvCxnSpPr/>
          <p:nvPr/>
        </p:nvCxnSpPr>
        <p:spPr>
          <a:xfrm flipV="1">
            <a:off x="2514600" y="2357939"/>
            <a:ext cx="768350" cy="1"/>
          </a:xfrm>
          <a:prstGeom prst="straightConnector1">
            <a:avLst/>
          </a:prstGeom>
          <a:ln w="12700" cmpd="sng">
            <a:solidFill>
              <a:schemeClr val="bg2"/>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7" name="Group 6"/>
          <p:cNvGrpSpPr/>
          <p:nvPr/>
        </p:nvGrpSpPr>
        <p:grpSpPr>
          <a:xfrm>
            <a:off x="546536" y="2190750"/>
            <a:ext cx="718402" cy="304800"/>
            <a:chOff x="546536" y="2190750"/>
            <a:chExt cx="718402" cy="304800"/>
          </a:xfrm>
        </p:grpSpPr>
        <p:sp>
          <p:nvSpPr>
            <p:cNvPr id="8" name="Flowchart: Terminator 7"/>
            <p:cNvSpPr/>
            <p:nvPr/>
          </p:nvSpPr>
          <p:spPr>
            <a:xfrm>
              <a:off x="552450" y="2190750"/>
              <a:ext cx="685800" cy="304800"/>
            </a:xfrm>
            <a:prstGeom prst="flowChartTerminator">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latin typeface="Arial" pitchFamily="34" charset="0"/>
                <a:cs typeface="Arial" pitchFamily="34" charset="0"/>
              </a:endParaRPr>
            </a:p>
          </p:txBody>
        </p:sp>
        <p:sp>
          <p:nvSpPr>
            <p:cNvPr id="9" name="TextBox 8"/>
            <p:cNvSpPr txBox="1"/>
            <p:nvPr>
              <p:custDataLst>
                <p:tags r:id="rId6"/>
              </p:custDataLst>
            </p:nvPr>
          </p:nvSpPr>
          <p:spPr>
            <a:xfrm>
              <a:off x="546536" y="2209026"/>
              <a:ext cx="718402" cy="276999"/>
            </a:xfrm>
            <a:prstGeom prst="rect">
              <a:avLst/>
            </a:prstGeom>
            <a:noFill/>
          </p:spPr>
          <p:txBody>
            <a:bodyPr wrap="none" rtlCol="0">
              <a:spAutoFit/>
            </a:bodyPr>
            <a:lstStyle/>
            <a:p>
              <a:r>
                <a:rPr lang="ru-RU" sz="1200" b="0" i="0" dirty="0">
                  <a:solidFill>
                    <a:srgbClr val="FFFFFF"/>
                  </a:solidFill>
                  <a:latin typeface="Arial" pitchFamily="34" charset="0"/>
                  <a:cs typeface="Arial" pitchFamily="34" charset="0"/>
                </a:rPr>
                <a:t>Начало</a:t>
              </a:r>
            </a:p>
          </p:txBody>
        </p:sp>
      </p:grpSp>
      <p:sp>
        <p:nvSpPr>
          <p:cNvPr id="10" name="Rectangle 9"/>
          <p:cNvSpPr/>
          <p:nvPr/>
        </p:nvSpPr>
        <p:spPr>
          <a:xfrm>
            <a:off x="5629656" y="4168973"/>
            <a:ext cx="2554995" cy="307777"/>
          </a:xfrm>
          <a:prstGeom prst="rect">
            <a:avLst/>
          </a:prstGeom>
        </p:spPr>
        <p:txBody>
          <a:bodyPr wrap="none">
            <a:spAutoFit/>
          </a:bodyPr>
          <a:lstStyle/>
          <a:p>
            <a:r>
              <a:rPr lang="ru-RU" sz="1400" b="0" i="0" dirty="0">
                <a:solidFill>
                  <a:srgbClr val="000000"/>
                </a:solidFill>
                <a:latin typeface="Arial" pitchFamily="34" charset="0"/>
                <a:cs typeface="Arial" pitchFamily="34" charset="0"/>
              </a:rPr>
              <a:t>Диаграмма состояния блока</a:t>
            </a:r>
          </a:p>
        </p:txBody>
      </p:sp>
      <p:sp>
        <p:nvSpPr>
          <p:cNvPr id="11" name="Rectangle 10"/>
          <p:cNvSpPr/>
          <p:nvPr/>
        </p:nvSpPr>
        <p:spPr>
          <a:xfrm>
            <a:off x="773091" y="4138196"/>
            <a:ext cx="3125023" cy="307777"/>
          </a:xfrm>
          <a:prstGeom prst="rect">
            <a:avLst/>
          </a:prstGeom>
        </p:spPr>
        <p:txBody>
          <a:bodyPr wrap="none">
            <a:spAutoFit/>
          </a:bodyPr>
          <a:lstStyle/>
          <a:p>
            <a:r>
              <a:rPr lang="ru-RU" sz="1400" b="0" i="0" dirty="0">
                <a:solidFill>
                  <a:srgbClr val="000000"/>
                </a:solidFill>
                <a:latin typeface="Arial" pitchFamily="34" charset="0"/>
                <a:cs typeface="Arial" pitchFamily="34" charset="0"/>
              </a:rPr>
              <a:t>Состояния страницы флэш-памяти</a:t>
            </a:r>
          </a:p>
        </p:txBody>
      </p:sp>
      <p:cxnSp>
        <p:nvCxnSpPr>
          <p:cNvPr id="12" name="Straight Connector 11"/>
          <p:cNvCxnSpPr/>
          <p:nvPr/>
        </p:nvCxnSpPr>
        <p:spPr>
          <a:xfrm flipH="1">
            <a:off x="4599310" y="895350"/>
            <a:ext cx="1" cy="3578190"/>
          </a:xfrm>
          <a:prstGeom prst="line">
            <a:avLst/>
          </a:prstGeom>
          <a:ln/>
        </p:spPr>
        <p:style>
          <a:lnRef idx="2">
            <a:schemeClr val="accent4"/>
          </a:lnRef>
          <a:fillRef idx="0">
            <a:schemeClr val="accent4"/>
          </a:fillRef>
          <a:effectRef idx="1">
            <a:schemeClr val="accent4"/>
          </a:effectRef>
          <a:fontRef idx="minor">
            <a:schemeClr val="tx1"/>
          </a:fontRef>
        </p:style>
      </p:cxnSp>
      <p:sp>
        <p:nvSpPr>
          <p:cNvPr id="13" name="TextBox 12"/>
          <p:cNvSpPr txBox="1"/>
          <p:nvPr/>
        </p:nvSpPr>
        <p:spPr>
          <a:xfrm>
            <a:off x="2707036" y="2157884"/>
            <a:ext cx="437940" cy="184666"/>
          </a:xfrm>
          <a:prstGeom prst="rect">
            <a:avLst/>
          </a:prstGeom>
          <a:noFill/>
        </p:spPr>
        <p:txBody>
          <a:bodyPr wrap="none" rtlCol="0">
            <a:spAutoFit/>
          </a:bodyPr>
          <a:lstStyle/>
          <a:p>
            <a:r>
              <a:rPr lang="ru-RU" sz="600" b="0" i="0" dirty="0">
                <a:solidFill>
                  <a:srgbClr val="000000"/>
                </a:solidFill>
                <a:latin typeface="Arial" pitchFamily="34" charset="0"/>
                <a:cs typeface="Arial" pitchFamily="34" charset="0"/>
              </a:rPr>
              <a:t>Запись</a:t>
            </a:r>
          </a:p>
        </p:txBody>
      </p:sp>
      <p:sp>
        <p:nvSpPr>
          <p:cNvPr id="14" name="TextBox 13"/>
          <p:cNvSpPr txBox="1"/>
          <p:nvPr/>
        </p:nvSpPr>
        <p:spPr>
          <a:xfrm>
            <a:off x="3451594" y="2783185"/>
            <a:ext cx="891806" cy="307777"/>
          </a:xfrm>
          <a:prstGeom prst="rect">
            <a:avLst/>
          </a:prstGeom>
          <a:noFill/>
        </p:spPr>
        <p:txBody>
          <a:bodyPr wrap="square" rtlCol="0">
            <a:spAutoFit/>
          </a:bodyPr>
          <a:lstStyle/>
          <a:p>
            <a:pPr algn="ctr"/>
            <a:r>
              <a:rPr lang="ru-RU" sz="700" b="0" i="0" dirty="0">
                <a:solidFill>
                  <a:srgbClr val="000000"/>
                </a:solidFill>
                <a:latin typeface="Arial" pitchFamily="34" charset="0"/>
                <a:cs typeface="Arial" pitchFamily="34" charset="0"/>
              </a:rPr>
              <a:t>(пере)запись или удаление</a:t>
            </a:r>
          </a:p>
        </p:txBody>
      </p:sp>
      <p:grpSp>
        <p:nvGrpSpPr>
          <p:cNvPr id="15" name="Group 14"/>
          <p:cNvGrpSpPr/>
          <p:nvPr/>
        </p:nvGrpSpPr>
        <p:grpSpPr>
          <a:xfrm>
            <a:off x="2221992" y="3333750"/>
            <a:ext cx="1442383" cy="457200"/>
            <a:chOff x="2551176" y="3092450"/>
            <a:chExt cx="1442383" cy="457200"/>
          </a:xfrm>
        </p:grpSpPr>
        <p:sp>
          <p:nvSpPr>
            <p:cNvPr id="16" name="Flowchart: Process 15"/>
            <p:cNvSpPr/>
            <p:nvPr/>
          </p:nvSpPr>
          <p:spPr>
            <a:xfrm>
              <a:off x="2597150" y="3092450"/>
              <a:ext cx="1365250" cy="457200"/>
            </a:xfrm>
            <a:prstGeom prst="flowChartProcess">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17" name="TextBox 16"/>
            <p:cNvSpPr txBox="1"/>
            <p:nvPr>
              <p:custDataLst>
                <p:tags r:id="rId5"/>
              </p:custDataLst>
            </p:nvPr>
          </p:nvSpPr>
          <p:spPr>
            <a:xfrm>
              <a:off x="2551176" y="3162528"/>
              <a:ext cx="1442383" cy="276999"/>
            </a:xfrm>
            <a:prstGeom prst="rect">
              <a:avLst/>
            </a:prstGeom>
            <a:noFill/>
          </p:spPr>
          <p:txBody>
            <a:bodyPr wrap="none" rtlCol="0">
              <a:spAutoFit/>
            </a:bodyPr>
            <a:lstStyle/>
            <a:p>
              <a:r>
                <a:rPr lang="ru-RU" sz="1200" b="0" i="0" dirty="0">
                  <a:solidFill>
                    <a:srgbClr val="FFFFFF"/>
                  </a:solidFill>
                  <a:latin typeface="Arial" pitchFamily="34" charset="0"/>
                  <a:cs typeface="Arial" pitchFamily="34" charset="0"/>
                </a:rPr>
                <a:t>Недействительно</a:t>
              </a:r>
            </a:p>
          </p:txBody>
        </p:sp>
      </p:grpSp>
      <p:grpSp>
        <p:nvGrpSpPr>
          <p:cNvPr id="18" name="Group 17"/>
          <p:cNvGrpSpPr/>
          <p:nvPr/>
        </p:nvGrpSpPr>
        <p:grpSpPr>
          <a:xfrm>
            <a:off x="1867707" y="2120900"/>
            <a:ext cx="789768" cy="457200"/>
            <a:chOff x="1867707" y="2120900"/>
            <a:chExt cx="789768" cy="457200"/>
          </a:xfrm>
        </p:grpSpPr>
        <p:sp>
          <p:nvSpPr>
            <p:cNvPr id="19" name="Flowchart: Process 18"/>
            <p:cNvSpPr/>
            <p:nvPr/>
          </p:nvSpPr>
          <p:spPr>
            <a:xfrm>
              <a:off x="1898650" y="2120900"/>
              <a:ext cx="685800" cy="457200"/>
            </a:xfrm>
            <a:prstGeom prst="flowChartProcess">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100" dirty="0">
                <a:latin typeface="Arial" pitchFamily="34" charset="0"/>
                <a:cs typeface="Arial" pitchFamily="34" charset="0"/>
              </a:endParaRPr>
            </a:p>
          </p:txBody>
        </p:sp>
        <p:sp>
          <p:nvSpPr>
            <p:cNvPr id="20" name="TextBox 19"/>
            <p:cNvSpPr txBox="1"/>
            <p:nvPr>
              <p:custDataLst>
                <p:tags r:id="rId4"/>
              </p:custDataLst>
            </p:nvPr>
          </p:nvSpPr>
          <p:spPr>
            <a:xfrm>
              <a:off x="1867707" y="2202448"/>
              <a:ext cx="789768" cy="276999"/>
            </a:xfrm>
            <a:prstGeom prst="rect">
              <a:avLst/>
            </a:prstGeom>
            <a:noFill/>
          </p:spPr>
          <p:txBody>
            <a:bodyPr wrap="none" rtlCol="0">
              <a:spAutoFit/>
            </a:bodyPr>
            <a:lstStyle/>
            <a:p>
              <a:pPr algn="ctr"/>
              <a:r>
                <a:rPr lang="ru-RU" sz="1200" b="0" i="0" dirty="0">
                  <a:solidFill>
                    <a:srgbClr val="FFFFFF"/>
                  </a:solidFill>
                  <a:latin typeface="Arial" pitchFamily="34" charset="0"/>
                  <a:cs typeface="Arial" pitchFamily="34" charset="0"/>
                </a:rPr>
                <a:t>Удалено</a:t>
              </a:r>
            </a:p>
          </p:txBody>
        </p:sp>
      </p:grpSp>
      <p:grpSp>
        <p:nvGrpSpPr>
          <p:cNvPr id="21" name="Group 20"/>
          <p:cNvGrpSpPr/>
          <p:nvPr/>
        </p:nvGrpSpPr>
        <p:grpSpPr>
          <a:xfrm>
            <a:off x="3270170" y="2120900"/>
            <a:ext cx="1264642" cy="457200"/>
            <a:chOff x="3270170" y="2120900"/>
            <a:chExt cx="1264642" cy="457200"/>
          </a:xfrm>
        </p:grpSpPr>
        <p:sp>
          <p:nvSpPr>
            <p:cNvPr id="22" name="Flowchart: Process 21"/>
            <p:cNvSpPr/>
            <p:nvPr/>
          </p:nvSpPr>
          <p:spPr>
            <a:xfrm>
              <a:off x="3295650" y="2120900"/>
              <a:ext cx="1200150" cy="457200"/>
            </a:xfrm>
            <a:prstGeom prst="flowChartProcess">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23" name="TextBox 22"/>
            <p:cNvSpPr txBox="1"/>
            <p:nvPr>
              <p:custDataLst>
                <p:tags r:id="rId3"/>
              </p:custDataLst>
            </p:nvPr>
          </p:nvSpPr>
          <p:spPr>
            <a:xfrm>
              <a:off x="3270170" y="2189748"/>
              <a:ext cx="1264642" cy="276999"/>
            </a:xfrm>
            <a:prstGeom prst="rect">
              <a:avLst/>
            </a:prstGeom>
            <a:noFill/>
          </p:spPr>
          <p:txBody>
            <a:bodyPr wrap="none" rtlCol="0">
              <a:spAutoFit/>
            </a:bodyPr>
            <a:lstStyle/>
            <a:p>
              <a:pPr algn="ctr"/>
              <a:r>
                <a:rPr lang="ru-RU" sz="1200" b="0" i="0" dirty="0">
                  <a:solidFill>
                    <a:srgbClr val="FFFFFF"/>
                  </a:solidFill>
                  <a:latin typeface="Arial" pitchFamily="34" charset="0"/>
                  <a:cs typeface="Arial" pitchFamily="34" charset="0"/>
                </a:rPr>
                <a:t>Действительно</a:t>
              </a:r>
            </a:p>
          </p:txBody>
        </p:sp>
      </p:grpSp>
      <p:cxnSp>
        <p:nvCxnSpPr>
          <p:cNvPr id="24" name="Straight Arrow Connector 23"/>
          <p:cNvCxnSpPr/>
          <p:nvPr/>
        </p:nvCxnSpPr>
        <p:spPr>
          <a:xfrm flipH="1">
            <a:off x="3318200" y="2628770"/>
            <a:ext cx="339805" cy="628780"/>
          </a:xfrm>
          <a:prstGeom prst="straightConnector1">
            <a:avLst/>
          </a:prstGeom>
          <a:ln w="12700" cmpd="sng">
            <a:solidFill>
              <a:schemeClr val="bg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flipV="1">
            <a:off x="2229255" y="2623630"/>
            <a:ext cx="317770" cy="666345"/>
          </a:xfrm>
          <a:prstGeom prst="straightConnector1">
            <a:avLst/>
          </a:prstGeom>
          <a:ln w="12700" cmpd="sng">
            <a:solidFill>
              <a:schemeClr val="bg2"/>
            </a:solidFill>
            <a:tailEnd type="arrow"/>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524001" y="2859385"/>
            <a:ext cx="762000" cy="307777"/>
          </a:xfrm>
          <a:prstGeom prst="rect">
            <a:avLst/>
          </a:prstGeom>
          <a:noFill/>
        </p:spPr>
        <p:txBody>
          <a:bodyPr wrap="square" rtlCol="0">
            <a:spAutoFit/>
          </a:bodyPr>
          <a:lstStyle/>
          <a:p>
            <a:pPr algn="ctr"/>
            <a:r>
              <a:rPr lang="ru-RU" sz="700" b="0" i="0" dirty="0">
                <a:solidFill>
                  <a:srgbClr val="000000"/>
                </a:solidFill>
                <a:latin typeface="Arial" pitchFamily="34" charset="0"/>
                <a:cs typeface="Arial" pitchFamily="34" charset="0"/>
              </a:rPr>
              <a:t>Удаление (электр)</a:t>
            </a:r>
          </a:p>
        </p:txBody>
      </p:sp>
      <p:graphicFrame>
        <p:nvGraphicFramePr>
          <p:cNvPr id="27" name="Table 26"/>
          <p:cNvGraphicFramePr>
            <a:graphicFrameLocks noGrp="1"/>
          </p:cNvGraphicFramePr>
          <p:nvPr>
            <p:extLst>
              <p:ext uri="{D42A27DB-BD31-4B8C-83A1-F6EECF244321}">
                <p14:modId xmlns:p14="http://schemas.microsoft.com/office/powerpoint/2010/main" val="3136319547"/>
              </p:ext>
            </p:extLst>
          </p:nvPr>
        </p:nvGraphicFramePr>
        <p:xfrm>
          <a:off x="5957826" y="1082388"/>
          <a:ext cx="833120" cy="134112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tblGrid>
              <a:tr h="0">
                <a:tc>
                  <a:txBody>
                    <a:bodyPr/>
                    <a:lstStyle/>
                    <a:p>
                      <a:endParaRPr lang="en-US" sz="500" dirty="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0"/>
                  </a:ext>
                </a:extLst>
              </a:tr>
              <a:tr h="0">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1"/>
                  </a:ext>
                </a:extLst>
              </a:tr>
              <a:tr h="0">
                <a:tc>
                  <a:txBody>
                    <a:bodyPr/>
                    <a:lstStyle/>
                    <a:p>
                      <a:endParaRPr lang="en-US" sz="500"/>
                    </a:p>
                  </a:txBody>
                  <a:tcPr/>
                </a:tc>
                <a:tc>
                  <a:txBody>
                    <a:bodyPr/>
                    <a:lstStyle/>
                    <a:p>
                      <a:endParaRPr lang="en-US" sz="500" dirty="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2"/>
                  </a:ext>
                </a:extLst>
              </a:tr>
              <a:tr h="0">
                <a:tc>
                  <a:txBody>
                    <a:bodyPr/>
                    <a:lstStyle/>
                    <a:p>
                      <a:endParaRPr lang="en-US" sz="500" dirty="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3"/>
                  </a:ext>
                </a:extLst>
              </a:tr>
              <a:tr h="0">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4"/>
                  </a:ext>
                </a:extLst>
              </a:tr>
              <a:tr h="0">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5"/>
                  </a:ext>
                </a:extLst>
              </a:tr>
              <a:tr h="0">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a:p>
                  </a:txBody>
                  <a:tcPr/>
                </a:tc>
                <a:extLst>
                  <a:ext uri="{0D108BD9-81ED-4DB2-BD59-A6C34878D82A}">
                    <a16:rowId xmlns:a16="http://schemas.microsoft.com/office/drawing/2014/main" val="10006"/>
                  </a:ext>
                </a:extLst>
              </a:tr>
              <a:tr h="0">
                <a:tc>
                  <a:txBody>
                    <a:bodyPr/>
                    <a:lstStyle/>
                    <a:p>
                      <a:endParaRPr lang="en-US" sz="500"/>
                    </a:p>
                  </a:txBody>
                  <a:tcPr/>
                </a:tc>
                <a:tc>
                  <a:txBody>
                    <a:bodyPr/>
                    <a:lstStyle/>
                    <a:p>
                      <a:endParaRPr lang="en-US" sz="500"/>
                    </a:p>
                  </a:txBody>
                  <a:tcPr/>
                </a:tc>
                <a:tc>
                  <a:txBody>
                    <a:bodyPr/>
                    <a:lstStyle/>
                    <a:p>
                      <a:endParaRPr lang="en-US" sz="500"/>
                    </a:p>
                  </a:txBody>
                  <a:tcPr/>
                </a:tc>
                <a:tc>
                  <a:txBody>
                    <a:bodyPr/>
                    <a:lstStyle/>
                    <a:p>
                      <a:endParaRPr lang="en-US" sz="500" dirty="0"/>
                    </a:p>
                  </a:txBody>
                  <a:tcPr/>
                </a:tc>
                <a:extLst>
                  <a:ext uri="{0D108BD9-81ED-4DB2-BD59-A6C34878D82A}">
                    <a16:rowId xmlns:a16="http://schemas.microsoft.com/office/drawing/2014/main" val="10007"/>
                  </a:ext>
                </a:extLst>
              </a:tr>
            </a:tbl>
          </a:graphicData>
        </a:graphic>
      </p:graphicFrame>
      <p:sp>
        <p:nvSpPr>
          <p:cNvPr id="28" name="TextBox 27"/>
          <p:cNvSpPr txBox="1"/>
          <p:nvPr/>
        </p:nvSpPr>
        <p:spPr>
          <a:xfrm>
            <a:off x="6898065" y="1537504"/>
            <a:ext cx="437940" cy="184666"/>
          </a:xfrm>
          <a:prstGeom prst="rect">
            <a:avLst/>
          </a:prstGeom>
          <a:noFill/>
        </p:spPr>
        <p:txBody>
          <a:bodyPr wrap="none" rtlCol="0">
            <a:spAutoFit/>
          </a:bodyPr>
          <a:lstStyle/>
          <a:p>
            <a:r>
              <a:rPr lang="ru-RU" sz="600" b="0" i="0" dirty="0">
                <a:solidFill>
                  <a:srgbClr val="000000"/>
                </a:solidFill>
                <a:latin typeface="Arial" pitchFamily="34" charset="0"/>
                <a:cs typeface="Arial" pitchFamily="34" charset="0"/>
              </a:rPr>
              <a:t>Запись</a:t>
            </a:r>
            <a:endParaRPr lang="ru-RU" sz="800" b="0" i="0" dirty="0">
              <a:solidFill>
                <a:srgbClr val="000000"/>
              </a:solidFill>
              <a:latin typeface="Arial" pitchFamily="34" charset="0"/>
              <a:cs typeface="Arial" pitchFamily="34" charset="0"/>
            </a:endParaRPr>
          </a:p>
        </p:txBody>
      </p:sp>
      <p:sp>
        <p:nvSpPr>
          <p:cNvPr id="29" name="TextBox 28"/>
          <p:cNvSpPr txBox="1"/>
          <p:nvPr/>
        </p:nvSpPr>
        <p:spPr>
          <a:xfrm>
            <a:off x="5906493" y="1582827"/>
            <a:ext cx="959685" cy="276999"/>
          </a:xfrm>
          <a:prstGeom prst="rect">
            <a:avLst/>
          </a:prstGeom>
          <a:noFill/>
        </p:spPr>
        <p:txBody>
          <a:bodyPr wrap="none" rtlCol="0">
            <a:spAutoFit/>
          </a:bodyPr>
          <a:lstStyle/>
          <a:p>
            <a:pPr algn="ctr"/>
            <a:r>
              <a:rPr lang="ru-RU" sz="1200" b="0" i="0" dirty="0">
                <a:solidFill>
                  <a:srgbClr val="FF0000"/>
                </a:solidFill>
                <a:latin typeface="Arial" pitchFamily="34" charset="0"/>
                <a:cs typeface="Arial" pitchFamily="34" charset="0"/>
              </a:rPr>
              <a:t>Удаленное</a:t>
            </a:r>
          </a:p>
        </p:txBody>
      </p:sp>
      <p:cxnSp>
        <p:nvCxnSpPr>
          <p:cNvPr id="30" name="Straight Arrow Connector 29"/>
          <p:cNvCxnSpPr/>
          <p:nvPr/>
        </p:nvCxnSpPr>
        <p:spPr>
          <a:xfrm>
            <a:off x="5461348" y="1759907"/>
            <a:ext cx="482252" cy="0"/>
          </a:xfrm>
          <a:prstGeom prst="straightConnector1">
            <a:avLst/>
          </a:prstGeom>
          <a:ln w="12700" cmpd="sng">
            <a:solidFill>
              <a:schemeClr val="bg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6811749" y="1759907"/>
            <a:ext cx="592392" cy="0"/>
          </a:xfrm>
          <a:prstGeom prst="straightConnector1">
            <a:avLst/>
          </a:prstGeom>
          <a:ln w="12700" cmpd="sng">
            <a:solidFill>
              <a:schemeClr val="bg2"/>
            </a:solidFill>
            <a:tailEnd type="arrow"/>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696200" y="2887978"/>
            <a:ext cx="826795" cy="307777"/>
          </a:xfrm>
          <a:prstGeom prst="rect">
            <a:avLst/>
          </a:prstGeom>
          <a:noFill/>
        </p:spPr>
        <p:txBody>
          <a:bodyPr wrap="square" rtlCol="0">
            <a:spAutoFit/>
          </a:bodyPr>
          <a:lstStyle/>
          <a:p>
            <a:pPr algn="ctr"/>
            <a:r>
              <a:rPr lang="ru-RU" sz="700" b="0" i="0" dirty="0">
                <a:solidFill>
                  <a:srgbClr val="000000"/>
                </a:solidFill>
                <a:latin typeface="Arial" pitchFamily="34" charset="0"/>
                <a:cs typeface="Arial" pitchFamily="34" charset="0"/>
              </a:rPr>
              <a:t>Запись или удаление</a:t>
            </a:r>
          </a:p>
        </p:txBody>
      </p:sp>
      <p:cxnSp>
        <p:nvCxnSpPr>
          <p:cNvPr id="33" name="Straight Arrow Connector 32"/>
          <p:cNvCxnSpPr/>
          <p:nvPr/>
        </p:nvCxnSpPr>
        <p:spPr>
          <a:xfrm flipH="1">
            <a:off x="7795615" y="2514600"/>
            <a:ext cx="129185" cy="438150"/>
          </a:xfrm>
          <a:prstGeom prst="straightConnector1">
            <a:avLst/>
          </a:prstGeom>
          <a:ln w="12700" cmpd="sng">
            <a:solidFill>
              <a:schemeClr val="bg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1268680" y="2347717"/>
            <a:ext cx="592392" cy="0"/>
          </a:xfrm>
          <a:prstGeom prst="straightConnector1">
            <a:avLst/>
          </a:prstGeom>
          <a:ln w="12700" cmpd="sng">
            <a:solidFill>
              <a:schemeClr val="bg2"/>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35" name="Group 34"/>
          <p:cNvGrpSpPr/>
          <p:nvPr/>
        </p:nvGrpSpPr>
        <p:grpSpPr>
          <a:xfrm>
            <a:off x="4800600" y="1600548"/>
            <a:ext cx="718402" cy="304800"/>
            <a:chOff x="546536" y="2190750"/>
            <a:chExt cx="718402" cy="304800"/>
          </a:xfrm>
        </p:grpSpPr>
        <p:sp>
          <p:nvSpPr>
            <p:cNvPr id="36" name="Flowchart: Terminator 35"/>
            <p:cNvSpPr/>
            <p:nvPr/>
          </p:nvSpPr>
          <p:spPr>
            <a:xfrm>
              <a:off x="552450" y="2190750"/>
              <a:ext cx="685800" cy="304800"/>
            </a:xfrm>
            <a:prstGeom prst="flowChartTerminator">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latin typeface="Arial" pitchFamily="34" charset="0"/>
                <a:cs typeface="Arial" pitchFamily="34" charset="0"/>
              </a:endParaRPr>
            </a:p>
          </p:txBody>
        </p:sp>
        <p:sp>
          <p:nvSpPr>
            <p:cNvPr id="37" name="TextBox 36"/>
            <p:cNvSpPr txBox="1"/>
            <p:nvPr>
              <p:custDataLst>
                <p:tags r:id="rId2"/>
              </p:custDataLst>
            </p:nvPr>
          </p:nvSpPr>
          <p:spPr>
            <a:xfrm>
              <a:off x="546536" y="2201305"/>
              <a:ext cx="718402" cy="276999"/>
            </a:xfrm>
            <a:prstGeom prst="rect">
              <a:avLst/>
            </a:prstGeom>
            <a:noFill/>
          </p:spPr>
          <p:txBody>
            <a:bodyPr wrap="none" rtlCol="0">
              <a:spAutoFit/>
            </a:bodyPr>
            <a:lstStyle/>
            <a:p>
              <a:r>
                <a:rPr lang="ru-RU" sz="1200" b="0" i="0" dirty="0">
                  <a:solidFill>
                    <a:srgbClr val="FFFFFF"/>
                  </a:solidFill>
                  <a:latin typeface="Arial" pitchFamily="34" charset="0"/>
                  <a:cs typeface="Arial" pitchFamily="34" charset="0"/>
                </a:rPr>
                <a:t>Начало</a:t>
              </a:r>
              <a:endParaRPr lang="ru-RU" sz="1600" b="0" i="0" dirty="0">
                <a:solidFill>
                  <a:srgbClr val="FFFFFF"/>
                </a:solidFill>
                <a:latin typeface="Arial" pitchFamily="34" charset="0"/>
                <a:cs typeface="Arial" pitchFamily="34" charset="0"/>
              </a:endParaRPr>
            </a:p>
          </p:txBody>
        </p:sp>
      </p:grpSp>
      <p:graphicFrame>
        <p:nvGraphicFramePr>
          <p:cNvPr id="38" name="Table 37"/>
          <p:cNvGraphicFramePr>
            <a:graphicFrameLocks noGrp="1"/>
          </p:cNvGraphicFramePr>
          <p:nvPr>
            <p:extLst>
              <p:ext uri="{D42A27DB-BD31-4B8C-83A1-F6EECF244321}">
                <p14:modId xmlns:p14="http://schemas.microsoft.com/office/powerpoint/2010/main" val="231112695"/>
              </p:ext>
            </p:extLst>
          </p:nvPr>
        </p:nvGraphicFramePr>
        <p:xfrm>
          <a:off x="7439546" y="1089347"/>
          <a:ext cx="833120" cy="134112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tblGrid>
              <a:tr h="0">
                <a:tc>
                  <a:txBody>
                    <a:bodyPr/>
                    <a:lstStyle/>
                    <a:p>
                      <a:endParaRPr lang="en-US" sz="500" dirty="0"/>
                    </a:p>
                  </a:txBody>
                  <a:tcPr>
                    <a:solidFill>
                      <a:schemeClr val="accent1"/>
                    </a:solidFill>
                  </a:tcPr>
                </a:tc>
                <a:tc>
                  <a:txBody>
                    <a:bodyPr/>
                    <a:lstStyle/>
                    <a:p>
                      <a:endParaRPr lang="en-US" sz="500" dirty="0"/>
                    </a:p>
                  </a:txBody>
                  <a:tcPr>
                    <a:solidFill>
                      <a:schemeClr val="accent1"/>
                    </a:solidFill>
                  </a:tcPr>
                </a:tc>
                <a:tc>
                  <a:txBody>
                    <a:bodyPr/>
                    <a:lstStyle/>
                    <a:p>
                      <a:endParaRPr lang="en-US" sz="500" dirty="0"/>
                    </a:p>
                  </a:txBody>
                  <a:tcPr>
                    <a:solidFill>
                      <a:schemeClr val="accent1"/>
                    </a:solidFill>
                  </a:tcPr>
                </a:tc>
                <a:tc>
                  <a:txBody>
                    <a:bodyPr/>
                    <a:lstStyle/>
                    <a:p>
                      <a:endParaRPr lang="en-US" sz="500"/>
                    </a:p>
                  </a:txBody>
                  <a:tcPr>
                    <a:solidFill>
                      <a:schemeClr val="accent1"/>
                    </a:solidFill>
                  </a:tcPr>
                </a:tc>
                <a:extLst>
                  <a:ext uri="{0D108BD9-81ED-4DB2-BD59-A6C34878D82A}">
                    <a16:rowId xmlns:a16="http://schemas.microsoft.com/office/drawing/2014/main" val="10000"/>
                  </a:ext>
                </a:extLst>
              </a:tr>
              <a:tr h="0">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1"/>
                  </a:ext>
                </a:extLst>
              </a:tr>
              <a:tr h="0">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2"/>
                  </a:ext>
                </a:extLst>
              </a:tr>
              <a:tr h="0">
                <a:tc>
                  <a:txBody>
                    <a:bodyPr/>
                    <a:lstStyle/>
                    <a:p>
                      <a:endParaRPr lang="en-US" sz="500" dirty="0"/>
                    </a:p>
                  </a:txBody>
                  <a:tcPr>
                    <a:solidFill>
                      <a:schemeClr val="accent1"/>
                    </a:solidFill>
                  </a:tcPr>
                </a:tc>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3"/>
                  </a:ext>
                </a:extLst>
              </a:tr>
              <a:tr h="0">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4"/>
                  </a:ext>
                </a:extLst>
              </a:tr>
              <a:tr h="0">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5"/>
                  </a:ext>
                </a:extLst>
              </a:tr>
              <a:tr h="0">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6"/>
                  </a:ext>
                </a:extLst>
              </a:tr>
              <a:tr h="0">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a:p>
                  </a:txBody>
                  <a:tcPr>
                    <a:solidFill>
                      <a:schemeClr val="accent1"/>
                    </a:solidFill>
                  </a:tcPr>
                </a:tc>
                <a:tc>
                  <a:txBody>
                    <a:bodyPr/>
                    <a:lstStyle/>
                    <a:p>
                      <a:endParaRPr lang="en-US" sz="500" dirty="0"/>
                    </a:p>
                  </a:txBody>
                  <a:tcPr>
                    <a:solidFill>
                      <a:schemeClr val="accent1"/>
                    </a:solidFill>
                  </a:tcPr>
                </a:tc>
                <a:extLst>
                  <a:ext uri="{0D108BD9-81ED-4DB2-BD59-A6C34878D82A}">
                    <a16:rowId xmlns:a16="http://schemas.microsoft.com/office/drawing/2014/main" val="10007"/>
                  </a:ext>
                </a:extLst>
              </a:tr>
            </a:tbl>
          </a:graphicData>
        </a:graphic>
      </p:graphicFrame>
      <p:sp>
        <p:nvSpPr>
          <p:cNvPr id="39" name="TextBox 38"/>
          <p:cNvSpPr txBox="1"/>
          <p:nvPr/>
        </p:nvSpPr>
        <p:spPr>
          <a:xfrm>
            <a:off x="7552413" y="1589786"/>
            <a:ext cx="630173" cy="276999"/>
          </a:xfrm>
          <a:prstGeom prst="rect">
            <a:avLst/>
          </a:prstGeom>
          <a:noFill/>
        </p:spPr>
        <p:txBody>
          <a:bodyPr wrap="none" rtlCol="0">
            <a:spAutoFit/>
          </a:bodyPr>
          <a:lstStyle/>
          <a:p>
            <a:pPr algn="ctr"/>
            <a:r>
              <a:rPr lang="ru-RU" sz="1200" b="0" i="0" dirty="0">
                <a:solidFill>
                  <a:srgbClr val="FF0000"/>
                </a:solidFill>
                <a:latin typeface="Arial" pitchFamily="34" charset="0"/>
                <a:cs typeface="Arial" pitchFamily="34" charset="0"/>
              </a:rPr>
              <a:t>Новое</a:t>
            </a:r>
          </a:p>
        </p:txBody>
      </p:sp>
      <p:sp>
        <p:nvSpPr>
          <p:cNvPr id="40" name="TextBox 39"/>
          <p:cNvSpPr txBox="1"/>
          <p:nvPr/>
        </p:nvSpPr>
        <p:spPr>
          <a:xfrm>
            <a:off x="6430749" y="3255069"/>
            <a:ext cx="1365630" cy="276999"/>
          </a:xfrm>
          <a:prstGeom prst="rect">
            <a:avLst/>
          </a:prstGeom>
          <a:noFill/>
        </p:spPr>
        <p:txBody>
          <a:bodyPr wrap="none" rtlCol="0">
            <a:spAutoFit/>
          </a:bodyPr>
          <a:lstStyle/>
          <a:p>
            <a:pPr algn="ctr"/>
            <a:r>
              <a:rPr lang="ru-RU" sz="1200" b="0" i="0" dirty="0">
                <a:solidFill>
                  <a:srgbClr val="FF0000"/>
                </a:solidFill>
                <a:latin typeface="Arial" pitchFamily="34" charset="0"/>
                <a:cs typeface="Arial" pitchFamily="34" charset="0"/>
              </a:rPr>
              <a:t>Использованное</a:t>
            </a:r>
          </a:p>
        </p:txBody>
      </p:sp>
      <p:sp>
        <p:nvSpPr>
          <p:cNvPr id="41" name="TextBox 40"/>
          <p:cNvSpPr txBox="1"/>
          <p:nvPr/>
        </p:nvSpPr>
        <p:spPr>
          <a:xfrm>
            <a:off x="5699472" y="2923173"/>
            <a:ext cx="777528" cy="307777"/>
          </a:xfrm>
          <a:prstGeom prst="rect">
            <a:avLst/>
          </a:prstGeom>
          <a:noFill/>
        </p:spPr>
        <p:txBody>
          <a:bodyPr wrap="square" rtlCol="0">
            <a:spAutoFit/>
          </a:bodyPr>
          <a:lstStyle/>
          <a:p>
            <a:pPr algn="ctr"/>
            <a:r>
              <a:rPr lang="ru-RU" sz="700" b="0" i="0" dirty="0">
                <a:solidFill>
                  <a:srgbClr val="000000"/>
                </a:solidFill>
                <a:latin typeface="Arial" pitchFamily="34" charset="0"/>
                <a:cs typeface="Arial" pitchFamily="34" charset="0"/>
              </a:rPr>
              <a:t>Удаление (электр)</a:t>
            </a:r>
          </a:p>
        </p:txBody>
      </p:sp>
      <p:cxnSp>
        <p:nvCxnSpPr>
          <p:cNvPr id="42" name="Straight Arrow Connector 41"/>
          <p:cNvCxnSpPr/>
          <p:nvPr/>
        </p:nvCxnSpPr>
        <p:spPr>
          <a:xfrm flipH="1" flipV="1">
            <a:off x="6248400" y="2512428"/>
            <a:ext cx="148091" cy="580022"/>
          </a:xfrm>
          <a:prstGeom prst="straightConnector1">
            <a:avLst/>
          </a:prstGeom>
          <a:ln w="12700" cmpd="sng">
            <a:solidFill>
              <a:schemeClr val="bg2"/>
            </a:solidFill>
            <a:tailEnd type="arrow"/>
          </a:ln>
          <a:effectLst/>
        </p:spPr>
        <p:style>
          <a:lnRef idx="2">
            <a:schemeClr val="accent1"/>
          </a:lnRef>
          <a:fillRef idx="0">
            <a:schemeClr val="accent1"/>
          </a:fillRef>
          <a:effectRef idx="1">
            <a:schemeClr val="accent1"/>
          </a:effectRef>
          <a:fontRef idx="minor">
            <a:schemeClr val="tx1"/>
          </a:fontRef>
        </p:style>
      </p:cxnSp>
      <p:sp>
        <p:nvSpPr>
          <p:cNvPr id="43" name="Freeform 42"/>
          <p:cNvSpPr/>
          <p:nvPr/>
        </p:nvSpPr>
        <p:spPr>
          <a:xfrm>
            <a:off x="7651665" y="3464308"/>
            <a:ext cx="303615" cy="402841"/>
          </a:xfrm>
          <a:custGeom>
            <a:avLst/>
            <a:gdLst>
              <a:gd name="connsiteX0" fmla="*/ 0 w 204866"/>
              <a:gd name="connsiteY0" fmla="*/ 0 h 277900"/>
              <a:gd name="connsiteX1" fmla="*/ 116682 w 204866"/>
              <a:gd name="connsiteY1" fmla="*/ 61913 h 277900"/>
              <a:gd name="connsiteX2" fmla="*/ 185738 w 204866"/>
              <a:gd name="connsiteY2" fmla="*/ 140494 h 277900"/>
              <a:gd name="connsiteX3" fmla="*/ 204788 w 204866"/>
              <a:gd name="connsiteY3" fmla="*/ 200025 h 277900"/>
              <a:gd name="connsiteX4" fmla="*/ 180975 w 204866"/>
              <a:gd name="connsiteY4" fmla="*/ 276225 h 277900"/>
              <a:gd name="connsiteX5" fmla="*/ 76200 w 204866"/>
              <a:gd name="connsiteY5" fmla="*/ 245269 h 27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866" h="277900">
                <a:moveTo>
                  <a:pt x="0" y="0"/>
                </a:moveTo>
                <a:cubicBezTo>
                  <a:pt x="42863" y="19248"/>
                  <a:pt x="85726" y="38497"/>
                  <a:pt x="116682" y="61913"/>
                </a:cubicBezTo>
                <a:cubicBezTo>
                  <a:pt x="147638" y="85329"/>
                  <a:pt x="171054" y="117475"/>
                  <a:pt x="185738" y="140494"/>
                </a:cubicBezTo>
                <a:cubicBezTo>
                  <a:pt x="200422" y="163513"/>
                  <a:pt x="205582" y="177403"/>
                  <a:pt x="204788" y="200025"/>
                </a:cubicBezTo>
                <a:cubicBezTo>
                  <a:pt x="203994" y="222647"/>
                  <a:pt x="202406" y="268684"/>
                  <a:pt x="180975" y="276225"/>
                </a:cubicBezTo>
                <a:cubicBezTo>
                  <a:pt x="159544" y="283766"/>
                  <a:pt x="117872" y="264517"/>
                  <a:pt x="76200" y="245269"/>
                </a:cubicBezTo>
              </a:path>
            </a:pathLst>
          </a:custGeom>
          <a:noFill/>
          <a:ln w="12700" cmpd="sng">
            <a:solidFill>
              <a:schemeClr val="bg2"/>
            </a:solidFill>
            <a:tailEnd type="stealth" w="lg" len="lg"/>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44" name="TextBox 43"/>
          <p:cNvSpPr txBox="1"/>
          <p:nvPr/>
        </p:nvSpPr>
        <p:spPr>
          <a:xfrm>
            <a:off x="7812024" y="3501082"/>
            <a:ext cx="1295400" cy="523220"/>
          </a:xfrm>
          <a:prstGeom prst="rect">
            <a:avLst/>
          </a:prstGeom>
          <a:noFill/>
        </p:spPr>
        <p:txBody>
          <a:bodyPr wrap="square" rtlCol="0">
            <a:spAutoFit/>
          </a:bodyPr>
          <a:lstStyle/>
          <a:p>
            <a:pPr algn="ctr"/>
            <a:r>
              <a:rPr lang="ru-RU" sz="700" b="0" i="0" dirty="0">
                <a:solidFill>
                  <a:srgbClr val="000000"/>
                </a:solidFill>
                <a:latin typeface="Arial" pitchFamily="34" charset="0"/>
                <a:cs typeface="Arial" pitchFamily="34" charset="0"/>
              </a:rPr>
              <a:t>(пере)запись или удаление (объявление страницы недействительной)</a:t>
            </a:r>
          </a:p>
        </p:txBody>
      </p:sp>
      <p:sp>
        <p:nvSpPr>
          <p:cNvPr id="45" name="TextBox 4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847717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Производительность твердотельного диска</a:t>
            </a:r>
          </a:p>
        </p:txBody>
      </p:sp>
      <p:sp>
        <p:nvSpPr>
          <p:cNvPr id="3" name="Content Placeholder 2"/>
          <p:cNvSpPr>
            <a:spLocks noGrp="1"/>
          </p:cNvSpPr>
          <p:nvPr>
            <p:ph sz="quarter" idx="10"/>
          </p:nvPr>
        </p:nvSpPr>
        <p:spPr/>
        <p:txBody>
          <a:bodyPr/>
          <a:lstStyle/>
          <a:p>
            <a:r>
              <a:rPr lang="ru-RU" sz="1800" b="0" i="0" dirty="0">
                <a:solidFill>
                  <a:srgbClr val="000000"/>
                </a:solidFill>
                <a:latin typeface="Arial" pitchFamily="34" charset="0"/>
                <a:cs typeface="Arial" pitchFamily="34" charset="0"/>
              </a:rPr>
              <a:t>Тип доступа</a:t>
            </a:r>
          </a:p>
          <a:p>
            <a:pPr lvl="1"/>
            <a:r>
              <a:rPr lang="ru-RU" sz="1600" b="0" i="0" dirty="0">
                <a:solidFill>
                  <a:srgbClr val="000000"/>
                </a:solidFill>
                <a:latin typeface="Arial" pitchFamily="34" charset="0"/>
                <a:cs typeface="Arial" pitchFamily="34" charset="0"/>
              </a:rPr>
              <a:t>твердотельный диск лучше всего выполняет произвольные операции чтения</a:t>
            </a:r>
          </a:p>
          <a:p>
            <a:pPr lvl="1"/>
            <a:r>
              <a:rPr lang="ru-RU" sz="1600" b="0" i="0" dirty="0">
                <a:solidFill>
                  <a:srgbClr val="000000"/>
                </a:solidFill>
                <a:latin typeface="Arial" pitchFamily="34" charset="0"/>
                <a:cs typeface="Arial" pitchFamily="34" charset="0"/>
              </a:rPr>
              <a:t>твердотельные диски используют все внутренние каналы ввода-вывода параллельно для многопоточных больших блочных операций ввода-вывода</a:t>
            </a:r>
          </a:p>
          <a:p>
            <a:r>
              <a:rPr lang="ru-RU" sz="1800" b="0" i="0" dirty="0">
                <a:solidFill>
                  <a:srgbClr val="000000"/>
                </a:solidFill>
                <a:latin typeface="Arial" pitchFamily="34" charset="0"/>
                <a:cs typeface="Arial" pitchFamily="34" charset="0"/>
              </a:rPr>
              <a:t>Состояние диска</a:t>
            </a:r>
          </a:p>
          <a:p>
            <a:pPr lvl="1"/>
            <a:r>
              <a:rPr lang="ru-RU" sz="1600" b="0" i="0" dirty="0">
                <a:solidFill>
                  <a:srgbClr val="000000"/>
                </a:solidFill>
                <a:latin typeface="Arial" pitchFamily="34" charset="0"/>
                <a:cs typeface="Arial" pitchFamily="34" charset="0"/>
              </a:rPr>
              <a:t>новый твердотельный диск или твердотельный диск с большим объемом неиспользованного пространства имеет лучшую производительность</a:t>
            </a:r>
          </a:p>
          <a:p>
            <a:r>
              <a:rPr lang="ru-RU" sz="1800" b="0" i="0" dirty="0">
                <a:solidFill>
                  <a:srgbClr val="000000"/>
                </a:solidFill>
                <a:latin typeface="Arial" pitchFamily="34" charset="0"/>
                <a:cs typeface="Arial" pitchFamily="34" charset="0"/>
              </a:rPr>
              <a:t>Продолжительность рабочей нагрузки</a:t>
            </a:r>
          </a:p>
          <a:p>
            <a:pPr lvl="1"/>
            <a:r>
              <a:rPr lang="ru-RU" sz="1600" b="0" i="0" dirty="0">
                <a:solidFill>
                  <a:srgbClr val="000000"/>
                </a:solidFill>
                <a:latin typeface="Arial" pitchFamily="34" charset="0"/>
                <a:cs typeface="Arial" pitchFamily="34" charset="0"/>
              </a:rPr>
              <a:t>твердотельные диски лучше всего подходят для рабочих нагрузок с кратковременными всплесками активности</a:t>
            </a:r>
          </a:p>
          <a:p>
            <a:pPr lvl="1"/>
            <a:endParaRPr lang="en-US" dirty="0">
              <a:latin typeface="Arial" pitchFamily="34" charset="0"/>
              <a:cs typeface="Arial" pitchFamily="34" charset="0"/>
            </a:endParaRP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019168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2.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r>
              <a:rPr lang="ru-RU" sz="2000" b="0" i="0" dirty="0">
                <a:solidFill>
                  <a:srgbClr val="000000"/>
                </a:solidFill>
                <a:latin typeface="Arial" pitchFamily="34" charset="0"/>
                <a:cs typeface="Arial" pitchFamily="34" charset="0"/>
              </a:rPr>
              <a:t>компоненты твердотельных дисков;</a:t>
            </a:r>
          </a:p>
          <a:p>
            <a:r>
              <a:rPr lang="ru-RU" sz="2000" b="0" i="0" dirty="0">
                <a:solidFill>
                  <a:srgbClr val="000000"/>
                </a:solidFill>
                <a:latin typeface="Arial" pitchFamily="34" charset="0"/>
                <a:cs typeface="Arial" pitchFamily="34" charset="0"/>
              </a:rPr>
              <a:t>адресация твердотельных дисков;</a:t>
            </a:r>
          </a:p>
          <a:p>
            <a:r>
              <a:rPr lang="ru-RU" sz="2000" b="0" i="0" dirty="0">
                <a:solidFill>
                  <a:srgbClr val="000000"/>
                </a:solidFill>
                <a:latin typeface="Arial" pitchFamily="34" charset="0"/>
                <a:cs typeface="Arial" pitchFamily="34" charset="0"/>
              </a:rPr>
              <a:t>производительность твердотельных дисков.</a:t>
            </a: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659658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3. RAID</a:t>
            </a:r>
          </a:p>
        </p:txBody>
      </p:sp>
      <p:sp>
        <p:nvSpPr>
          <p:cNvPr id="5" name="Content Placeholder 4"/>
          <p:cNvSpPr>
            <a:spLocks noGrp="1"/>
          </p:cNvSpPr>
          <p:nvPr>
            <p:ph sz="quarter" idx="10"/>
          </p:nvPr>
        </p:nvSpPr>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описание методов реализации массивов RAID; </a:t>
            </a:r>
          </a:p>
          <a:p>
            <a:pPr>
              <a:defRPr/>
            </a:pPr>
            <a:r>
              <a:rPr lang="ru-RU" sz="2000" b="0" i="0" dirty="0">
                <a:solidFill>
                  <a:srgbClr val="000000"/>
                </a:solidFill>
                <a:latin typeface="Arial" pitchFamily="34" charset="0"/>
                <a:cs typeface="Arial" pitchFamily="34" charset="0"/>
              </a:rPr>
              <a:t>описание трех методов RAID;</a:t>
            </a:r>
          </a:p>
          <a:p>
            <a:pPr>
              <a:defRPr/>
            </a:pPr>
            <a:r>
              <a:rPr lang="ru-RU" sz="2000" b="0" i="0" dirty="0">
                <a:solidFill>
                  <a:srgbClr val="000000"/>
                </a:solidFill>
                <a:latin typeface="Arial" pitchFamily="34" charset="0"/>
                <a:cs typeface="Arial" pitchFamily="34" charset="0"/>
              </a:rPr>
              <a:t>описание часто используемых уровней RAID;</a:t>
            </a:r>
          </a:p>
          <a:p>
            <a:pPr>
              <a:defRPr/>
            </a:pPr>
            <a:r>
              <a:rPr lang="ru-RU" sz="2000" b="0" i="0" dirty="0">
                <a:solidFill>
                  <a:srgbClr val="000000"/>
                </a:solidFill>
                <a:latin typeface="Arial" pitchFamily="34" charset="0"/>
                <a:cs typeface="Arial" pitchFamily="34" charset="0"/>
              </a:rPr>
              <a:t>описание воздействия массивов RAID на производительность;</a:t>
            </a:r>
          </a:p>
          <a:p>
            <a:pPr>
              <a:defRPr/>
            </a:pPr>
            <a:r>
              <a:rPr lang="ru-RU" sz="2000" b="0" i="0" dirty="0">
                <a:solidFill>
                  <a:srgbClr val="000000"/>
                </a:solidFill>
                <a:latin typeface="Arial" pitchFamily="34" charset="0"/>
                <a:cs typeface="Arial" pitchFamily="34" charset="0"/>
              </a:rPr>
              <a:t>сравнение уровней RAID исходя из их стоимости, производительности и защиты.</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651297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Преимущества массивов RAID</a:t>
            </a:r>
          </a:p>
        </p:txBody>
      </p:sp>
      <p:sp>
        <p:nvSpPr>
          <p:cNvPr id="3" name="Content Placeholder 2"/>
          <p:cNvSpPr>
            <a:spLocks noGrp="1"/>
          </p:cNvSpPr>
          <p:nvPr>
            <p:ph sz="quarter" idx="10"/>
          </p:nvPr>
        </p:nvSpPr>
        <p:spPr>
          <a:xfrm>
            <a:off x="379414" y="2209800"/>
            <a:ext cx="8458200" cy="2305050"/>
          </a:xfrm>
        </p:spPr>
        <p:txBody>
          <a:bodyPr/>
          <a:lstStyle/>
          <a:p>
            <a:r>
              <a:rPr lang="ru-RU" sz="1800" b="0" i="0" dirty="0">
                <a:solidFill>
                  <a:srgbClr val="000000"/>
                </a:solidFill>
                <a:latin typeface="Arial" pitchFamily="34" charset="0"/>
                <a:cs typeface="Arial" pitchFamily="34" charset="0"/>
              </a:rPr>
              <a:t>Обеспечивает защиту данных от сбоев дисков</a:t>
            </a:r>
          </a:p>
          <a:p>
            <a:r>
              <a:rPr lang="ru-RU" sz="1800" b="0" i="0" dirty="0">
                <a:solidFill>
                  <a:srgbClr val="000000"/>
                </a:solidFill>
                <a:latin typeface="Arial" pitchFamily="34" charset="0"/>
                <a:cs typeface="Arial" pitchFamily="34" charset="0"/>
              </a:rPr>
              <a:t>Улучшает производительность системы хранения, обслуживая операции ввода-вывода с нескольких дисков одновременно</a:t>
            </a:r>
          </a:p>
          <a:p>
            <a:r>
              <a:rPr lang="ru-RU" sz="1800" b="0" i="0" dirty="0">
                <a:solidFill>
                  <a:srgbClr val="000000"/>
                </a:solidFill>
                <a:latin typeface="Arial" pitchFamily="34" charset="0"/>
                <a:cs typeface="Arial" pitchFamily="34" charset="0"/>
              </a:rPr>
              <a:t>Два метода реализации</a:t>
            </a:r>
          </a:p>
          <a:p>
            <a:pPr lvl="1"/>
            <a:r>
              <a:rPr lang="ru-RU" sz="1400" b="0" i="0" dirty="0">
                <a:solidFill>
                  <a:srgbClr val="000000"/>
                </a:solidFill>
                <a:latin typeface="Arial" pitchFamily="34" charset="0"/>
                <a:cs typeface="Arial" pitchFamily="34" charset="0"/>
              </a:rPr>
              <a:t>программная реализация RAID;</a:t>
            </a:r>
          </a:p>
          <a:p>
            <a:pPr lvl="1"/>
            <a:r>
              <a:rPr lang="ru-RU" sz="1400" b="0" i="0" dirty="0">
                <a:solidFill>
                  <a:srgbClr val="000000"/>
                </a:solidFill>
                <a:latin typeface="Arial" pitchFamily="34" charset="0"/>
                <a:cs typeface="Arial" pitchFamily="34" charset="0"/>
              </a:rPr>
              <a:t>аппаратная реализация RAID.</a:t>
            </a:r>
          </a:p>
        </p:txBody>
      </p:sp>
      <p:grpSp>
        <p:nvGrpSpPr>
          <p:cNvPr id="5" name="Group 4"/>
          <p:cNvGrpSpPr/>
          <p:nvPr/>
        </p:nvGrpSpPr>
        <p:grpSpPr>
          <a:xfrm>
            <a:off x="269913" y="798190"/>
            <a:ext cx="8545183" cy="1240160"/>
            <a:chOff x="125970" y="798190"/>
            <a:chExt cx="8545183" cy="1240160"/>
          </a:xfrm>
        </p:grpSpPr>
        <p:sp>
          <p:nvSpPr>
            <p:cNvPr id="6" name="Rectangle 5"/>
            <p:cNvSpPr/>
            <p:nvPr/>
          </p:nvSpPr>
          <p:spPr>
            <a:xfrm>
              <a:off x="125970" y="92820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endParaRPr lang="en-US">
                <a:latin typeface="Arial" pitchFamily="34" charset="0"/>
                <a:cs typeface="Arial" pitchFamily="34" charset="0"/>
              </a:endParaRPr>
            </a:p>
          </p:txBody>
        </p:sp>
        <p:sp>
          <p:nvSpPr>
            <p:cNvPr id="7" name="Rectangle 6"/>
            <p:cNvSpPr/>
            <p:nvPr/>
          </p:nvSpPr>
          <p:spPr>
            <a:xfrm>
              <a:off x="441553" y="996920"/>
              <a:ext cx="8229600" cy="104143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ru-RU" sz="1600" b="0" i="0" dirty="0">
                  <a:solidFill>
                    <a:srgbClr val="000000"/>
                  </a:solidFill>
                  <a:latin typeface="Arial" pitchFamily="34" charset="0"/>
                  <a:cs typeface="Arial" pitchFamily="34" charset="0"/>
                </a:rPr>
                <a:t>Методика, в которой несколько дисков соединяются в логическую единицу (набор RAID) и обеспечивается их защита, производительность или оба компонента одновременно.</a:t>
              </a:r>
            </a:p>
          </p:txBody>
        </p:sp>
        <p:sp>
          <p:nvSpPr>
            <p:cNvPr id="8" name="Rectangle 7"/>
            <p:cNvSpPr/>
            <p:nvPr/>
          </p:nvSpPr>
          <p:spPr>
            <a:xfrm>
              <a:off x="175740" y="798190"/>
              <a:ext cx="4343400" cy="397459"/>
            </a:xfrm>
            <a:prstGeom prst="rect">
              <a:avLst/>
            </a:prstGeom>
            <a:solidFill>
              <a:srgbClr val="2C95D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sz="1600" b="1" i="0" dirty="0">
                  <a:solidFill>
                    <a:srgbClr val="FFFFFF"/>
                  </a:solidFill>
                  <a:latin typeface="Arial" pitchFamily="34" charset="0"/>
                  <a:cs typeface="Arial" pitchFamily="34" charset="0"/>
                </a:rPr>
                <a:t>RAID</a:t>
              </a:r>
            </a:p>
          </p:txBody>
        </p:sp>
      </p:gr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790583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Компоненты массива RAID</a:t>
            </a:r>
          </a:p>
        </p:txBody>
      </p:sp>
      <p:grpSp>
        <p:nvGrpSpPr>
          <p:cNvPr id="3" name="Group 2"/>
          <p:cNvGrpSpPr/>
          <p:nvPr/>
        </p:nvGrpSpPr>
        <p:grpSpPr>
          <a:xfrm>
            <a:off x="346633" y="1094243"/>
            <a:ext cx="8439429" cy="3199329"/>
            <a:chOff x="346633" y="1094243"/>
            <a:chExt cx="8439429" cy="3199329"/>
          </a:xfrm>
        </p:grpSpPr>
        <p:sp>
          <p:nvSpPr>
            <p:cNvPr id="6" name="AutoShape 2"/>
            <p:cNvSpPr>
              <a:spLocks noChangeArrowheads="1"/>
            </p:cNvSpPr>
            <p:nvPr/>
          </p:nvSpPr>
          <p:spPr bwMode="auto">
            <a:xfrm>
              <a:off x="2946078" y="1094243"/>
              <a:ext cx="4287838" cy="2933700"/>
            </a:xfrm>
            <a:prstGeom prst="roundRect">
              <a:avLst/>
            </a:prstGeom>
            <a:ln>
              <a:headEnd/>
              <a:tailEnd type="none" w="lg" len="med"/>
            </a:ln>
          </p:spPr>
          <p:style>
            <a:lnRef idx="1">
              <a:schemeClr val="dk1"/>
            </a:lnRef>
            <a:fillRef idx="2">
              <a:schemeClr val="dk1"/>
            </a:fillRef>
            <a:effectRef idx="1">
              <a:schemeClr val="dk1"/>
            </a:effectRef>
            <a:fontRef idx="minor">
              <a:schemeClr val="dk1"/>
            </a:fontRef>
          </p:style>
          <p:txBody>
            <a:bodyPr wrap="none" lIns="0" tIns="0" rIns="0" bIns="0" anchor="ctr"/>
            <a:lstStyle/>
            <a:p>
              <a:pPr algn="ctr"/>
              <a:endParaRPr lang="en-US">
                <a:latin typeface="Arial" pitchFamily="34" charset="0"/>
                <a:ea typeface="Verdana" panose="020B0604030504040204" pitchFamily="34" charset="0"/>
                <a:cs typeface="Arial" pitchFamily="34" charset="0"/>
              </a:endParaRPr>
            </a:p>
          </p:txBody>
        </p:sp>
        <p:sp>
          <p:nvSpPr>
            <p:cNvPr id="7" name="AutoShape 3"/>
            <p:cNvSpPr>
              <a:spLocks noChangeArrowheads="1"/>
            </p:cNvSpPr>
            <p:nvPr/>
          </p:nvSpPr>
          <p:spPr bwMode="auto">
            <a:xfrm>
              <a:off x="4863778" y="1351418"/>
              <a:ext cx="1876425" cy="2346325"/>
            </a:xfrm>
            <a:prstGeom prst="roundRect">
              <a:avLst>
                <a:gd name="adj" fmla="val 11657"/>
              </a:avLst>
            </a:prstGeom>
            <a:ln>
              <a:solidFill>
                <a:schemeClr val="tx1"/>
              </a:solidFill>
              <a:headEnd/>
              <a:tailEnd type="none" w="lg" len="med"/>
            </a:ln>
          </p:spPr>
          <p:style>
            <a:lnRef idx="1">
              <a:schemeClr val="accent6"/>
            </a:lnRef>
            <a:fillRef idx="2">
              <a:schemeClr val="accent6"/>
            </a:fillRef>
            <a:effectRef idx="1">
              <a:schemeClr val="accent6"/>
            </a:effectRef>
            <a:fontRef idx="minor">
              <a:schemeClr val="dk1"/>
            </a:fontRef>
          </p:style>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8" name="AutoShape 4"/>
            <p:cNvSpPr>
              <a:spLocks noChangeArrowheads="1"/>
            </p:cNvSpPr>
            <p:nvPr/>
          </p:nvSpPr>
          <p:spPr bwMode="auto">
            <a:xfrm>
              <a:off x="4997128" y="2456318"/>
              <a:ext cx="1590675" cy="1146175"/>
            </a:xfrm>
            <a:prstGeom prst="roundRect">
              <a:avLst>
                <a:gd name="adj" fmla="val 11657"/>
              </a:avLst>
            </a:prstGeom>
            <a:noFill/>
            <a:ln w="6350" algn="ctr">
              <a:solidFill>
                <a:schemeClr val="tx1"/>
              </a:solidFill>
              <a:prstDash val="dash"/>
              <a:round/>
              <a:headEnd/>
              <a:tailEnd type="none" w="lg" len="med"/>
            </a:ln>
            <a:effectLst/>
          </p:spPr>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9" name="AutoShape 5"/>
            <p:cNvSpPr>
              <a:spLocks noChangeArrowheads="1"/>
            </p:cNvSpPr>
            <p:nvPr/>
          </p:nvSpPr>
          <p:spPr bwMode="auto">
            <a:xfrm>
              <a:off x="5016178" y="1459368"/>
              <a:ext cx="1590675" cy="917575"/>
            </a:xfrm>
            <a:prstGeom prst="roundRect">
              <a:avLst>
                <a:gd name="adj" fmla="val 11657"/>
              </a:avLst>
            </a:prstGeom>
            <a:noFill/>
            <a:ln w="6350" algn="ctr">
              <a:solidFill>
                <a:schemeClr val="tx1"/>
              </a:solidFill>
              <a:prstDash val="dash"/>
              <a:round/>
              <a:headEnd/>
              <a:tailEnd type="none" w="lg" len="med"/>
            </a:ln>
            <a:effectLst/>
          </p:spPr>
          <p:txBody>
            <a:bodyPr wrap="none" lIns="0" tIns="0" rIns="0" bIns="0" anchor="ctr"/>
            <a:lstStyle/>
            <a:p>
              <a:endParaRPr lang="en-US">
                <a:latin typeface="Arial" pitchFamily="34" charset="0"/>
                <a:ea typeface="Verdana" panose="020B0604030504040204" pitchFamily="34" charset="0"/>
                <a:cs typeface="Arial" pitchFamily="34" charset="0"/>
              </a:endParaRPr>
            </a:p>
          </p:txBody>
        </p:sp>
        <p:sp>
          <p:nvSpPr>
            <p:cNvPr id="10" name="Line 8"/>
            <p:cNvSpPr>
              <a:spLocks noChangeShapeType="1"/>
            </p:cNvSpPr>
            <p:nvPr/>
          </p:nvSpPr>
          <p:spPr bwMode="auto">
            <a:xfrm>
              <a:off x="1045841" y="2538868"/>
              <a:ext cx="2295525" cy="0"/>
            </a:xfrm>
            <a:prstGeom prst="line">
              <a:avLst/>
            </a:prstGeom>
            <a:noFill/>
            <a:ln w="25400">
              <a:solidFill>
                <a:srgbClr val="000000"/>
              </a:solidFill>
              <a:round/>
              <a:headEnd/>
              <a:tailEnd/>
            </a:ln>
            <a:effectLst/>
          </p:spPr>
          <p:txBody>
            <a:bodyPr lIns="0" tIns="0" rIns="0" bIns="0" anchor="ctr">
              <a:spAutoFit/>
            </a:bodyPr>
            <a:lstStyle/>
            <a:p>
              <a:endParaRPr lang="en-US">
                <a:latin typeface="Arial" pitchFamily="34" charset="0"/>
                <a:ea typeface="Verdana" panose="020B0604030504040204" pitchFamily="34" charset="0"/>
                <a:cs typeface="Arial" pitchFamily="34" charset="0"/>
              </a:endParaRPr>
            </a:p>
          </p:txBody>
        </p:sp>
        <p:sp>
          <p:nvSpPr>
            <p:cNvPr id="11" name="Rectangle 9"/>
            <p:cNvSpPr>
              <a:spLocks noChangeArrowheads="1"/>
            </p:cNvSpPr>
            <p:nvPr/>
          </p:nvSpPr>
          <p:spPr bwMode="auto">
            <a:xfrm>
              <a:off x="3201666" y="2167393"/>
              <a:ext cx="1358900" cy="720725"/>
            </a:xfrm>
            <a:prstGeom prst="roundRect">
              <a:avLst/>
            </a:prstGeom>
            <a:ln>
              <a:headEnd/>
              <a:tailEnd type="none" w="lg" len="med"/>
            </a:ln>
          </p:spPr>
          <p:style>
            <a:lnRef idx="1">
              <a:schemeClr val="accent1"/>
            </a:lnRef>
            <a:fillRef idx="2">
              <a:schemeClr val="accent1"/>
            </a:fillRef>
            <a:effectRef idx="1">
              <a:schemeClr val="accent1"/>
            </a:effectRef>
            <a:fontRef idx="minor">
              <a:schemeClr val="dk1"/>
            </a:fontRef>
          </p:style>
          <p:txBody>
            <a:bodyPr wrap="none" lIns="0" tIns="0" rIns="0" bIns="0" anchor="ctr"/>
            <a:lstStyle/>
            <a:p>
              <a:pPr algn="ctr"/>
              <a:r>
                <a:rPr lang="ru-RU" sz="1800" b="0" i="0" dirty="0">
                  <a:solidFill>
                    <a:srgbClr val="000000"/>
                  </a:solidFill>
                  <a:latin typeface="Arial" pitchFamily="34" charset="0"/>
                  <a:cs typeface="Arial" pitchFamily="34" charset="0"/>
                </a:rPr>
                <a:t>Контроллер</a:t>
              </a:r>
              <a:br>
                <a:rPr lang="en-US" sz="1800" b="0" i="0" dirty="0">
                  <a:solidFill>
                    <a:srgbClr val="FF00FF"/>
                  </a:solidFill>
                  <a:latin typeface="Arial" pitchFamily="34" charset="0"/>
                  <a:cs typeface="Arial" pitchFamily="34" charset="0"/>
                </a:rPr>
              </a:br>
              <a:r>
                <a:rPr lang="ru-RU" sz="1800" b="0" i="0" dirty="0">
                  <a:solidFill>
                    <a:srgbClr val="000000"/>
                  </a:solidFill>
                  <a:latin typeface="Arial" pitchFamily="34" charset="0"/>
                  <a:cs typeface="Arial" pitchFamily="34" charset="0"/>
                </a:rPr>
                <a:t>RAID</a:t>
              </a:r>
            </a:p>
          </p:txBody>
        </p:sp>
        <p:sp>
          <p:nvSpPr>
            <p:cNvPr id="12" name="Text Box 12"/>
            <p:cNvSpPr txBox="1">
              <a:spLocks noChangeArrowheads="1"/>
            </p:cNvSpPr>
            <p:nvPr/>
          </p:nvSpPr>
          <p:spPr bwMode="auto">
            <a:xfrm>
              <a:off x="7556178" y="3139559"/>
              <a:ext cx="1149350" cy="184666"/>
            </a:xfrm>
            <a:prstGeom prst="rect">
              <a:avLst/>
            </a:prstGeom>
            <a:noFill/>
            <a:ln w="25400" algn="ctr">
              <a:noFill/>
              <a:miter lim="800000"/>
              <a:headEnd/>
              <a:tailEnd type="none" w="lg" len="med"/>
            </a:ln>
            <a:effectLst/>
          </p:spPr>
          <p:txBody>
            <a:bodyPr wrap="square" lIns="0" tIns="0" rIns="0" bIns="0">
              <a:spAutoFit/>
            </a:bodyPr>
            <a:lstStyle/>
            <a:p>
              <a:pPr algn="l" defTabSz="941388"/>
              <a:r>
                <a:rPr lang="ru-RU" sz="1200" b="0" i="0" dirty="0">
                  <a:solidFill>
                    <a:srgbClr val="000610"/>
                  </a:solidFill>
                  <a:latin typeface="Arial" pitchFamily="34" charset="0"/>
                  <a:cs typeface="Arial" pitchFamily="34" charset="0"/>
                </a:rPr>
                <a:t>Жесткие диски</a:t>
              </a:r>
            </a:p>
          </p:txBody>
        </p:sp>
        <p:sp>
          <p:nvSpPr>
            <p:cNvPr id="13" name="Line 13"/>
            <p:cNvSpPr>
              <a:spLocks noChangeShapeType="1"/>
            </p:cNvSpPr>
            <p:nvPr/>
          </p:nvSpPr>
          <p:spPr bwMode="auto">
            <a:xfrm flipH="1">
              <a:off x="6594904" y="1693523"/>
              <a:ext cx="1217066" cy="0"/>
            </a:xfrm>
            <a:prstGeom prst="line">
              <a:avLst/>
            </a:prstGeom>
            <a:noFill/>
            <a:ln w="25400">
              <a:solidFill>
                <a:srgbClr val="000610"/>
              </a:solidFill>
              <a:round/>
              <a:headEnd/>
              <a:tailEnd type="triangle" w="lg" len="med"/>
            </a:ln>
            <a:effectLst/>
          </p:spPr>
          <p:txBody>
            <a:bodyPr lIns="0" tIns="0" rIns="0" bIns="0"/>
            <a:lstStyle/>
            <a:p>
              <a:endParaRPr lang="en-US">
                <a:latin typeface="Arial" pitchFamily="34" charset="0"/>
                <a:ea typeface="Verdana" panose="020B0604030504040204" pitchFamily="34" charset="0"/>
                <a:cs typeface="Arial" pitchFamily="34" charset="0"/>
              </a:endParaRPr>
            </a:p>
          </p:txBody>
        </p:sp>
        <p:sp>
          <p:nvSpPr>
            <p:cNvPr id="14" name="Text Box 14"/>
            <p:cNvSpPr txBox="1">
              <a:spLocks noChangeArrowheads="1"/>
            </p:cNvSpPr>
            <p:nvPr/>
          </p:nvSpPr>
          <p:spPr bwMode="auto">
            <a:xfrm>
              <a:off x="6848475" y="1973818"/>
              <a:ext cx="1937587" cy="553998"/>
            </a:xfrm>
            <a:prstGeom prst="rect">
              <a:avLst/>
            </a:prstGeom>
            <a:noFill/>
            <a:ln w="25400" algn="ctr">
              <a:noFill/>
              <a:miter lim="800000"/>
              <a:headEnd/>
              <a:tailEnd type="none" w="lg" len="med"/>
            </a:ln>
            <a:effectLst/>
          </p:spPr>
          <p:txBody>
            <a:bodyPr wrap="square" lIns="0" tIns="0" rIns="0" bIns="0">
              <a:spAutoFit/>
            </a:bodyPr>
            <a:lstStyle/>
            <a:p>
              <a:pPr algn="ctr" defTabSz="941388"/>
              <a:r>
                <a:rPr lang="ru-RU" sz="1200" b="0" i="0" dirty="0">
                  <a:solidFill>
                    <a:srgbClr val="000610"/>
                  </a:solidFill>
                  <a:latin typeface="Arial" pitchFamily="34" charset="0"/>
                  <a:cs typeface="Arial" pitchFamily="34" charset="0"/>
                </a:rPr>
                <a:t>Логический</a:t>
              </a:r>
              <a:br>
                <a:rPr lang="en-US" sz="1200" b="0" i="0" dirty="0">
                  <a:solidFill>
                    <a:srgbClr val="FF00FF"/>
                  </a:solidFill>
                  <a:latin typeface="Arial" pitchFamily="34" charset="0"/>
                  <a:cs typeface="Arial" pitchFamily="34" charset="0"/>
                </a:rPr>
              </a:br>
              <a:r>
                <a:rPr lang="ru-RU" sz="1200" b="0" i="0" dirty="0">
                  <a:solidFill>
                    <a:srgbClr val="000610"/>
                  </a:solidFill>
                  <a:latin typeface="Arial" pitchFamily="34" charset="0"/>
                  <a:cs typeface="Arial" pitchFamily="34" charset="0"/>
                </a:rPr>
                <a:t>массив</a:t>
              </a:r>
              <a:br>
                <a:rPr lang="en-US" sz="1200" b="0" i="0" dirty="0">
                  <a:solidFill>
                    <a:srgbClr val="FF00FF"/>
                  </a:solidFill>
                  <a:latin typeface="Arial" pitchFamily="34" charset="0"/>
                  <a:cs typeface="Arial" pitchFamily="34" charset="0"/>
                </a:rPr>
              </a:br>
              <a:r>
                <a:rPr lang="ru-RU" sz="1200" b="0" i="0" dirty="0">
                  <a:solidFill>
                    <a:srgbClr val="000610"/>
                  </a:solidFill>
                  <a:latin typeface="Arial" pitchFamily="34" charset="0"/>
                  <a:cs typeface="Arial" pitchFamily="34" charset="0"/>
                </a:rPr>
                <a:t>(наборы RAID)</a:t>
              </a:r>
            </a:p>
          </p:txBody>
        </p:sp>
        <p:sp>
          <p:nvSpPr>
            <p:cNvPr id="15" name="Text Box 18"/>
            <p:cNvSpPr txBox="1">
              <a:spLocks noChangeArrowheads="1"/>
            </p:cNvSpPr>
            <p:nvPr/>
          </p:nvSpPr>
          <p:spPr bwMode="auto">
            <a:xfrm>
              <a:off x="4653198" y="4108906"/>
              <a:ext cx="947502" cy="184666"/>
            </a:xfrm>
            <a:prstGeom prst="rect">
              <a:avLst/>
            </a:prstGeom>
            <a:noFill/>
            <a:ln w="25400" algn="ctr">
              <a:noFill/>
              <a:miter lim="800000"/>
              <a:headEnd/>
              <a:tailEnd type="none" w="lg" len="med"/>
            </a:ln>
            <a:effectLst/>
          </p:spPr>
          <p:txBody>
            <a:bodyPr wrap="none" lIns="0" tIns="0" rIns="0" bIns="0">
              <a:spAutoFit/>
            </a:bodyPr>
            <a:lstStyle/>
            <a:p>
              <a:pPr marL="354013" indent="-354013" algn="ctr" defTabSz="941388"/>
              <a:r>
                <a:rPr lang="ru-RU" sz="1200" b="0" i="0" dirty="0">
                  <a:solidFill>
                    <a:srgbClr val="000610"/>
                  </a:solidFill>
                  <a:latin typeface="Arial" pitchFamily="34" charset="0"/>
                  <a:cs typeface="Arial" pitchFamily="34" charset="0"/>
                </a:rPr>
                <a:t>Массив RAID</a:t>
              </a:r>
            </a:p>
          </p:txBody>
        </p:sp>
        <p:sp>
          <p:nvSpPr>
            <p:cNvPr id="16" name="Text Box 27"/>
            <p:cNvSpPr txBox="1">
              <a:spLocks noChangeArrowheads="1"/>
            </p:cNvSpPr>
            <p:nvPr/>
          </p:nvSpPr>
          <p:spPr bwMode="auto">
            <a:xfrm>
              <a:off x="385258" y="3439422"/>
              <a:ext cx="1938842" cy="184666"/>
            </a:xfrm>
            <a:prstGeom prst="rect">
              <a:avLst/>
            </a:prstGeom>
            <a:noFill/>
            <a:ln w="25400" algn="ctr">
              <a:noFill/>
              <a:miter lim="800000"/>
              <a:headEnd/>
              <a:tailEnd type="none" w="lg" len="med"/>
            </a:ln>
            <a:effectLst/>
          </p:spPr>
          <p:txBody>
            <a:bodyPr wrap="square" lIns="0" tIns="0" rIns="0" bIns="0">
              <a:spAutoFit/>
            </a:bodyPr>
            <a:lstStyle/>
            <a:p>
              <a:pPr marL="354013" indent="-354013" algn="ctr" defTabSz="941388"/>
              <a:r>
                <a:rPr lang="ru-RU" sz="1000" b="0" i="0" dirty="0">
                  <a:solidFill>
                    <a:srgbClr val="000610"/>
                  </a:solidFill>
                  <a:latin typeface="Arial" pitchFamily="34" charset="0"/>
                  <a:cs typeface="Arial" pitchFamily="34" charset="0"/>
                </a:rPr>
                <a:t>Вычислительная</a:t>
              </a:r>
              <a:r>
                <a:rPr lang="ru-RU" sz="1200" b="0" i="0" dirty="0">
                  <a:solidFill>
                    <a:srgbClr val="000610"/>
                  </a:solidFill>
                  <a:latin typeface="Arial" pitchFamily="34" charset="0"/>
                  <a:cs typeface="Arial" pitchFamily="34" charset="0"/>
                </a:rPr>
                <a:t> система</a:t>
              </a:r>
            </a:p>
          </p:txBody>
        </p:sp>
        <p:sp>
          <p:nvSpPr>
            <p:cNvPr id="17" name="Line 29"/>
            <p:cNvSpPr>
              <a:spLocks noChangeShapeType="1"/>
            </p:cNvSpPr>
            <p:nvPr/>
          </p:nvSpPr>
          <p:spPr bwMode="auto">
            <a:xfrm>
              <a:off x="4551041" y="2570618"/>
              <a:ext cx="304800" cy="0"/>
            </a:xfrm>
            <a:prstGeom prst="line">
              <a:avLst/>
            </a:prstGeom>
            <a:noFill/>
            <a:ln w="25400">
              <a:solidFill>
                <a:srgbClr val="000000"/>
              </a:solidFill>
              <a:round/>
              <a:headEnd/>
              <a:tailEnd/>
            </a:ln>
            <a:effectLst/>
          </p:spPr>
          <p:txBody>
            <a:bodyPr lIns="0" tIns="0" rIns="0" bIns="0" anchor="ctr">
              <a:spAutoFit/>
            </a:bodyPr>
            <a:lstStyle/>
            <a:p>
              <a:endParaRPr lang="en-US">
                <a:latin typeface="Arial" pitchFamily="34" charset="0"/>
                <a:ea typeface="Verdana" panose="020B0604030504040204" pitchFamily="34" charset="0"/>
                <a:cs typeface="Arial" pitchFamily="34" charset="0"/>
              </a:endParaRPr>
            </a:p>
          </p:txBody>
        </p:sp>
        <p:cxnSp>
          <p:nvCxnSpPr>
            <p:cNvPr id="18" name="Straight Connector 17"/>
            <p:cNvCxnSpPr/>
            <p:nvPr/>
          </p:nvCxnSpPr>
          <p:spPr>
            <a:xfrm>
              <a:off x="7803827" y="1681618"/>
              <a:ext cx="0" cy="279400"/>
            </a:xfrm>
            <a:prstGeom prst="line">
              <a:avLst/>
            </a:prstGeom>
            <a:noFill/>
            <a:ln w="25400">
              <a:solidFill>
                <a:srgbClr val="000610"/>
              </a:solidFill>
              <a:round/>
              <a:headEnd/>
              <a:tailEnd type="none" w="lg" len="med"/>
            </a:ln>
            <a:effectLst/>
          </p:spPr>
        </p:cxnSp>
        <p:cxnSp>
          <p:nvCxnSpPr>
            <p:cNvPr id="19" name="Straight Connector 18"/>
            <p:cNvCxnSpPr/>
            <p:nvPr/>
          </p:nvCxnSpPr>
          <p:spPr>
            <a:xfrm>
              <a:off x="7803827" y="2563507"/>
              <a:ext cx="0" cy="279400"/>
            </a:xfrm>
            <a:prstGeom prst="line">
              <a:avLst/>
            </a:prstGeom>
            <a:noFill/>
            <a:ln w="25400">
              <a:solidFill>
                <a:srgbClr val="000610"/>
              </a:solidFill>
              <a:round/>
              <a:headEnd/>
              <a:tailEnd type="none" w="lg" len="med"/>
            </a:ln>
            <a:effectLst/>
          </p:spPr>
        </p:cxnSp>
        <p:sp>
          <p:nvSpPr>
            <p:cNvPr id="20" name="Line 13"/>
            <p:cNvSpPr>
              <a:spLocks noChangeShapeType="1"/>
            </p:cNvSpPr>
            <p:nvPr/>
          </p:nvSpPr>
          <p:spPr bwMode="auto">
            <a:xfrm flipH="1">
              <a:off x="6595498" y="2831791"/>
              <a:ext cx="1217066" cy="0"/>
            </a:xfrm>
            <a:prstGeom prst="line">
              <a:avLst/>
            </a:prstGeom>
            <a:noFill/>
            <a:ln w="25400">
              <a:solidFill>
                <a:srgbClr val="000610"/>
              </a:solidFill>
              <a:round/>
              <a:headEnd/>
              <a:tailEnd type="triangle" w="lg" len="med"/>
            </a:ln>
            <a:effectLst/>
          </p:spPr>
          <p:txBody>
            <a:bodyPr lIns="0" tIns="0" rIns="0" bIns="0"/>
            <a:lstStyle/>
            <a:p>
              <a:endParaRPr lang="en-US">
                <a:latin typeface="Arial" pitchFamily="34" charset="0"/>
                <a:ea typeface="Verdana" panose="020B0604030504040204" pitchFamily="34" charset="0"/>
                <a:cs typeface="Arial" pitchFamily="34" charset="0"/>
              </a:endParaRPr>
            </a:p>
          </p:txBody>
        </p:sp>
        <p:pic>
          <p:nvPicPr>
            <p:cNvPr id="21" name="Picture 5" descr="C:\Documents and Settings\patils1\Local Settings\Temp\colored Icons\Standard disk.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69775" y="1490957"/>
              <a:ext cx="646940" cy="64694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5" descr="C:\Documents and Settings\patils1\Local Settings\Temp\colored Icons\Standard disk.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10663" y="1682685"/>
              <a:ext cx="646940" cy="64694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5" descr="C:\Documents and Settings\patils1\Local Settings\Temp\colored Icons\Standard disk.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3136" y="2526672"/>
              <a:ext cx="646940" cy="64694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5" descr="C:\Documents and Settings\patils1\Local Settings\Temp\colored Icons\Standard disk.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74024" y="2718400"/>
              <a:ext cx="646940" cy="64694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5" descr="C:\Documents and Settings\patils1\Local Settings\Temp\colored Icons\Standard disk.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41484" y="2905111"/>
              <a:ext cx="646940" cy="646940"/>
            </a:xfrm>
            <a:prstGeom prst="rect">
              <a:avLst/>
            </a:prstGeom>
            <a:noFill/>
            <a:extLst>
              <a:ext uri="{909E8E84-426E-40DD-AFC4-6F175D3DCCD1}">
                <a14:hiddenFill xmlns:a14="http://schemas.microsoft.com/office/drawing/2010/main">
                  <a:solidFill>
                    <a:srgbClr val="FFFFFF"/>
                  </a:solidFill>
                </a14:hiddenFill>
              </a:ext>
            </a:extLst>
          </p:spPr>
        </p:pic>
        <p:sp>
          <p:nvSpPr>
            <p:cNvPr id="26" name="Line 11"/>
            <p:cNvSpPr>
              <a:spLocks noChangeShapeType="1"/>
            </p:cNvSpPr>
            <p:nvPr/>
          </p:nvSpPr>
          <p:spPr bwMode="auto">
            <a:xfrm flipH="1">
              <a:off x="6371903" y="3244335"/>
              <a:ext cx="1145005" cy="0"/>
            </a:xfrm>
            <a:prstGeom prst="line">
              <a:avLst/>
            </a:prstGeom>
            <a:noFill/>
            <a:ln w="25400">
              <a:solidFill>
                <a:srgbClr val="000610"/>
              </a:solidFill>
              <a:round/>
              <a:headEnd/>
              <a:tailEnd type="triangle" w="lg" len="med"/>
            </a:ln>
            <a:effectLst/>
          </p:spPr>
          <p:txBody>
            <a:bodyPr lIns="0" tIns="0" rIns="0" bIns="0"/>
            <a:lstStyle/>
            <a:p>
              <a:endParaRPr lang="en-US">
                <a:latin typeface="Arial" pitchFamily="34" charset="0"/>
                <a:ea typeface="Verdana" panose="020B0604030504040204" pitchFamily="34" charset="0"/>
                <a:cs typeface="Arial" pitchFamily="34" charset="0"/>
              </a:endParaRPr>
            </a:p>
          </p:txBody>
        </p:sp>
        <p:pic>
          <p:nvPicPr>
            <p:cNvPr id="28" name="Picture 28"/>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346633" y="1459368"/>
              <a:ext cx="2011117" cy="1956763"/>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Box 4"/>
          <p:cNvSpPr txBox="1"/>
          <p:nvPr/>
        </p:nvSpPr>
        <p:spPr>
          <a:xfrm>
            <a:off x="247650" y="2500239"/>
            <a:ext cx="2209800"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b="1" i="0" dirty="0">
                <a:solidFill>
                  <a:srgbClr val="000000"/>
                </a:solidFill>
                <a:latin typeface="Arial" pitchFamily="34" charset="0"/>
                <a:cs typeface="Arial" pitchFamily="34" charset="0"/>
              </a:rPr>
              <a:t>Гипервизор</a:t>
            </a:r>
            <a:endParaRPr lang="ru-RU" sz="2000" b="1" i="0" dirty="0">
              <a:solidFill>
                <a:srgbClr val="000000"/>
              </a:solidFill>
              <a:latin typeface="Arial" pitchFamily="34" charset="0"/>
              <a:cs typeface="Arial" pitchFamily="34" charset="0"/>
            </a:endParaRPr>
          </a:p>
        </p:txBody>
      </p:sp>
      <p:sp>
        <p:nvSpPr>
          <p:cNvPr id="29" name="TextBox 2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811411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Методы RAID</a:t>
            </a:r>
          </a:p>
        </p:txBody>
      </p:sp>
      <p:grpSp>
        <p:nvGrpSpPr>
          <p:cNvPr id="186" name="Group 185"/>
          <p:cNvGrpSpPr/>
          <p:nvPr/>
        </p:nvGrpSpPr>
        <p:grpSpPr>
          <a:xfrm>
            <a:off x="304800" y="600075"/>
            <a:ext cx="8534400" cy="3999253"/>
            <a:chOff x="304800" y="600075"/>
            <a:chExt cx="8534400" cy="3999253"/>
          </a:xfrm>
        </p:grpSpPr>
        <p:sp>
          <p:nvSpPr>
            <p:cNvPr id="118" name="TextBox 117"/>
            <p:cNvSpPr txBox="1"/>
            <p:nvPr/>
          </p:nvSpPr>
          <p:spPr>
            <a:xfrm>
              <a:off x="1188893" y="4368496"/>
              <a:ext cx="925484" cy="230832"/>
            </a:xfrm>
            <a:prstGeom prst="rect">
              <a:avLst/>
            </a:prstGeom>
            <a:noFill/>
          </p:spPr>
          <p:txBody>
            <a:bodyPr wrap="square" rtlCol="0">
              <a:spAutoFit/>
            </a:bodyPr>
            <a:lstStyle/>
            <a:p>
              <a:pPr algn="ctr"/>
              <a:r>
                <a:rPr lang="ru-RU" sz="900" b="0" i="0" dirty="0">
                  <a:solidFill>
                    <a:srgbClr val="000000"/>
                  </a:solidFill>
                  <a:latin typeface="Arial" pitchFamily="34" charset="0"/>
                  <a:cs typeface="Arial" pitchFamily="34" charset="0"/>
                </a:rPr>
                <a:t>Рисунок 1</a:t>
              </a:r>
            </a:p>
          </p:txBody>
        </p:sp>
        <p:sp>
          <p:nvSpPr>
            <p:cNvPr id="119" name="TextBox 118"/>
            <p:cNvSpPr txBox="1"/>
            <p:nvPr/>
          </p:nvSpPr>
          <p:spPr>
            <a:xfrm>
              <a:off x="4114800" y="4366685"/>
              <a:ext cx="925484" cy="230832"/>
            </a:xfrm>
            <a:prstGeom prst="rect">
              <a:avLst/>
            </a:prstGeom>
            <a:noFill/>
          </p:spPr>
          <p:txBody>
            <a:bodyPr wrap="square" rtlCol="0">
              <a:spAutoFit/>
            </a:bodyPr>
            <a:lstStyle/>
            <a:p>
              <a:pPr algn="ctr"/>
              <a:r>
                <a:rPr lang="ru-RU" sz="900" b="0" i="0" dirty="0">
                  <a:solidFill>
                    <a:srgbClr val="000000"/>
                  </a:solidFill>
                  <a:latin typeface="Arial" pitchFamily="34" charset="0"/>
                  <a:cs typeface="Arial" pitchFamily="34" charset="0"/>
                </a:rPr>
                <a:t>Рисунок 2</a:t>
              </a:r>
            </a:p>
          </p:txBody>
        </p:sp>
        <p:sp>
          <p:nvSpPr>
            <p:cNvPr id="120" name="TextBox 119"/>
            <p:cNvSpPr txBox="1"/>
            <p:nvPr/>
          </p:nvSpPr>
          <p:spPr>
            <a:xfrm>
              <a:off x="7075516" y="4367540"/>
              <a:ext cx="925484" cy="230832"/>
            </a:xfrm>
            <a:prstGeom prst="rect">
              <a:avLst/>
            </a:prstGeom>
            <a:noFill/>
          </p:spPr>
          <p:txBody>
            <a:bodyPr wrap="square" rtlCol="0">
              <a:spAutoFit/>
            </a:bodyPr>
            <a:lstStyle/>
            <a:p>
              <a:pPr algn="ctr"/>
              <a:r>
                <a:rPr lang="ru-RU" sz="900" b="0" i="0" dirty="0">
                  <a:solidFill>
                    <a:srgbClr val="000000"/>
                  </a:solidFill>
                  <a:latin typeface="Arial" pitchFamily="34" charset="0"/>
                  <a:cs typeface="Arial" pitchFamily="34" charset="0"/>
                </a:rPr>
                <a:t>Рисунок 3</a:t>
              </a:r>
            </a:p>
          </p:txBody>
        </p:sp>
        <p:sp>
          <p:nvSpPr>
            <p:cNvPr id="121" name="Line 18"/>
            <p:cNvSpPr>
              <a:spLocks noChangeShapeType="1"/>
            </p:cNvSpPr>
            <p:nvPr/>
          </p:nvSpPr>
          <p:spPr bwMode="auto">
            <a:xfrm>
              <a:off x="650870" y="2622550"/>
              <a:ext cx="0" cy="635000"/>
            </a:xfrm>
            <a:prstGeom prst="line">
              <a:avLst/>
            </a:prstGeom>
            <a:noFill/>
            <a:ln w="31750">
              <a:solidFill>
                <a:schemeClr val="tx1"/>
              </a:solidFill>
              <a:round/>
              <a:headEnd/>
              <a:tailEnd/>
            </a:ln>
          </p:spPr>
          <p:txBody>
            <a:bodyPr/>
            <a:lstStyle/>
            <a:p>
              <a:endParaRPr lang="en-US" dirty="0">
                <a:latin typeface="Arial" pitchFamily="34" charset="0"/>
                <a:cs typeface="Arial" pitchFamily="34" charset="0"/>
              </a:endParaRPr>
            </a:p>
          </p:txBody>
        </p:sp>
        <p:sp>
          <p:nvSpPr>
            <p:cNvPr id="122" name="Line 19"/>
            <p:cNvSpPr>
              <a:spLocks noChangeShapeType="1"/>
            </p:cNvSpPr>
            <p:nvPr/>
          </p:nvSpPr>
          <p:spPr bwMode="auto">
            <a:xfrm>
              <a:off x="1987545" y="2539483"/>
              <a:ext cx="0" cy="736600"/>
            </a:xfrm>
            <a:prstGeom prst="line">
              <a:avLst/>
            </a:prstGeom>
            <a:noFill/>
            <a:ln w="31750">
              <a:solidFill>
                <a:schemeClr val="tx1"/>
              </a:solidFill>
              <a:round/>
              <a:headEnd/>
              <a:tailEnd/>
            </a:ln>
          </p:spPr>
          <p:txBody>
            <a:bodyPr/>
            <a:lstStyle/>
            <a:p>
              <a:endParaRPr lang="en-US" dirty="0">
                <a:latin typeface="Arial" pitchFamily="34" charset="0"/>
                <a:cs typeface="Arial" pitchFamily="34" charset="0"/>
              </a:endParaRPr>
            </a:p>
          </p:txBody>
        </p:sp>
        <p:sp>
          <p:nvSpPr>
            <p:cNvPr id="123" name="Line 18"/>
            <p:cNvSpPr>
              <a:spLocks noChangeShapeType="1"/>
            </p:cNvSpPr>
            <p:nvPr/>
          </p:nvSpPr>
          <p:spPr bwMode="auto">
            <a:xfrm>
              <a:off x="1323970" y="2615683"/>
              <a:ext cx="0" cy="635000"/>
            </a:xfrm>
            <a:prstGeom prst="line">
              <a:avLst/>
            </a:prstGeom>
            <a:noFill/>
            <a:ln w="31750">
              <a:solidFill>
                <a:schemeClr val="tx1"/>
              </a:solidFill>
              <a:round/>
              <a:headEnd/>
              <a:tailEnd/>
            </a:ln>
          </p:spPr>
          <p:txBody>
            <a:bodyPr/>
            <a:lstStyle/>
            <a:p>
              <a:endParaRPr lang="en-US" dirty="0">
                <a:latin typeface="Arial" pitchFamily="34" charset="0"/>
                <a:cs typeface="Arial" pitchFamily="34" charset="0"/>
              </a:endParaRPr>
            </a:p>
          </p:txBody>
        </p:sp>
        <p:sp>
          <p:nvSpPr>
            <p:cNvPr id="124" name="Line 24"/>
            <p:cNvSpPr>
              <a:spLocks noChangeShapeType="1"/>
            </p:cNvSpPr>
            <p:nvPr/>
          </p:nvSpPr>
          <p:spPr bwMode="auto">
            <a:xfrm>
              <a:off x="2656217" y="2564883"/>
              <a:ext cx="0" cy="736600"/>
            </a:xfrm>
            <a:prstGeom prst="line">
              <a:avLst/>
            </a:prstGeom>
            <a:noFill/>
            <a:ln w="31750">
              <a:solidFill>
                <a:schemeClr val="tx1"/>
              </a:solidFill>
              <a:round/>
              <a:headEnd/>
              <a:tailEnd/>
            </a:ln>
          </p:spPr>
          <p:txBody>
            <a:bodyPr/>
            <a:lstStyle/>
            <a:p>
              <a:endParaRPr lang="en-US" dirty="0">
                <a:latin typeface="Arial" pitchFamily="34" charset="0"/>
                <a:cs typeface="Arial" pitchFamily="34" charset="0"/>
              </a:endParaRPr>
            </a:p>
          </p:txBody>
        </p:sp>
        <p:pic>
          <p:nvPicPr>
            <p:cNvPr id="125" name="Picture 28"/>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204280" y="971550"/>
              <a:ext cx="931886" cy="906701"/>
            </a:xfrm>
            <a:prstGeom prst="rect">
              <a:avLst/>
            </a:prstGeom>
            <a:noFill/>
            <a:extLst>
              <a:ext uri="{909E8E84-426E-40DD-AFC4-6F175D3DCCD1}">
                <a14:hiddenFill xmlns:a14="http://schemas.microsoft.com/office/drawing/2010/main">
                  <a:solidFill>
                    <a:srgbClr val="FFFFFF"/>
                  </a:solidFill>
                </a14:hiddenFill>
              </a:ext>
            </a:extLst>
          </p:spPr>
        </p:pic>
        <p:sp>
          <p:nvSpPr>
            <p:cNvPr id="126" name="AutoShape 9"/>
            <p:cNvSpPr>
              <a:spLocks noChangeArrowheads="1"/>
            </p:cNvSpPr>
            <p:nvPr/>
          </p:nvSpPr>
          <p:spPr bwMode="auto">
            <a:xfrm>
              <a:off x="460370" y="2343150"/>
              <a:ext cx="2387600" cy="533400"/>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ru-RU" sz="1000" b="1" i="0" dirty="0">
                  <a:solidFill>
                    <a:srgbClr val="000000"/>
                  </a:solidFill>
                  <a:latin typeface="Arial" pitchFamily="34" charset="0"/>
                  <a:cs typeface="Arial" pitchFamily="34" charset="0"/>
                </a:rPr>
                <a:t>Контроллер RAID</a:t>
              </a:r>
            </a:p>
          </p:txBody>
        </p:sp>
        <p:sp>
          <p:nvSpPr>
            <p:cNvPr id="127" name="Right Brace 126"/>
            <p:cNvSpPr/>
            <p:nvPr/>
          </p:nvSpPr>
          <p:spPr>
            <a:xfrm rot="5400000">
              <a:off x="1450901" y="2694052"/>
              <a:ext cx="411167" cy="23922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itchFamily="34" charset="0"/>
                <a:ea typeface="Verdana" panose="020B0604030504040204" pitchFamily="34" charset="0"/>
                <a:cs typeface="Arial" pitchFamily="34" charset="0"/>
              </a:endParaRPr>
            </a:p>
          </p:txBody>
        </p:sp>
        <p:sp>
          <p:nvSpPr>
            <p:cNvPr id="128" name="Right Brace 127"/>
            <p:cNvSpPr/>
            <p:nvPr/>
          </p:nvSpPr>
          <p:spPr>
            <a:xfrm rot="5400000" flipV="1">
              <a:off x="2553076" y="3359797"/>
              <a:ext cx="218046" cy="38100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Arial" pitchFamily="34" charset="0"/>
                <a:ea typeface="Verdana" panose="020B0604030504040204" pitchFamily="34" charset="0"/>
                <a:cs typeface="Arial" pitchFamily="34" charset="0"/>
              </a:endParaRPr>
            </a:p>
          </p:txBody>
        </p:sp>
        <p:sp>
          <p:nvSpPr>
            <p:cNvPr id="129" name="TextBox 128"/>
            <p:cNvSpPr txBox="1"/>
            <p:nvPr/>
          </p:nvSpPr>
          <p:spPr>
            <a:xfrm>
              <a:off x="905678" y="4095750"/>
              <a:ext cx="1504147" cy="230832"/>
            </a:xfrm>
            <a:prstGeom prst="rect">
              <a:avLst/>
            </a:prstGeom>
            <a:noFill/>
          </p:spPr>
          <p:txBody>
            <a:bodyPr wrap="square" rtlCol="0">
              <a:spAutoFit/>
            </a:bodyPr>
            <a:lstStyle/>
            <a:p>
              <a:pPr algn="ctr"/>
              <a:r>
                <a:rPr lang="ru-RU" sz="900" b="0" i="0" dirty="0">
                  <a:solidFill>
                    <a:srgbClr val="000000"/>
                  </a:solidFill>
                  <a:latin typeface="Arial" pitchFamily="34" charset="0"/>
                  <a:cs typeface="Arial" pitchFamily="34" charset="0"/>
                </a:rPr>
                <a:t>Распределение</a:t>
              </a:r>
            </a:p>
          </p:txBody>
        </p:sp>
        <p:sp>
          <p:nvSpPr>
            <p:cNvPr id="130" name="TextBox 129"/>
            <p:cNvSpPr txBox="1"/>
            <p:nvPr/>
          </p:nvSpPr>
          <p:spPr>
            <a:xfrm>
              <a:off x="1638300" y="3624590"/>
              <a:ext cx="1266830" cy="313932"/>
            </a:xfrm>
            <a:prstGeom prst="rect">
              <a:avLst/>
            </a:prstGeom>
            <a:noFill/>
          </p:spPr>
          <p:txBody>
            <a:bodyPr wrap="square" rtlCol="0">
              <a:spAutoFit/>
            </a:bodyPr>
            <a:lstStyle/>
            <a:p>
              <a:pPr algn="r">
                <a:lnSpc>
                  <a:spcPct val="80000"/>
                </a:lnSpc>
              </a:pPr>
              <a:r>
                <a:rPr lang="ru-RU" sz="900" b="0" i="0" dirty="0">
                  <a:solidFill>
                    <a:srgbClr val="000000"/>
                  </a:solidFill>
                  <a:latin typeface="Arial" pitchFamily="34" charset="0"/>
                  <a:cs typeface="Arial" pitchFamily="34" charset="0"/>
                </a:rPr>
                <a:t>Элемент распределения</a:t>
              </a:r>
            </a:p>
          </p:txBody>
        </p:sp>
        <p:sp>
          <p:nvSpPr>
            <p:cNvPr id="131" name="AutoShape 29"/>
            <p:cNvSpPr>
              <a:spLocks noChangeArrowheads="1"/>
            </p:cNvSpPr>
            <p:nvPr/>
          </p:nvSpPr>
          <p:spPr bwMode="auto">
            <a:xfrm>
              <a:off x="304800" y="759828"/>
              <a:ext cx="2750820" cy="3620108"/>
            </a:xfrm>
            <a:prstGeom prst="roundRect">
              <a:avLst>
                <a:gd name="adj" fmla="val 10088"/>
              </a:avLst>
            </a:prstGeom>
            <a:noFill/>
            <a:ln w="22225">
              <a:solidFill>
                <a:schemeClr val="tx1"/>
              </a:solidFill>
              <a:round/>
              <a:headEnd/>
              <a:tailEnd/>
            </a:ln>
          </p:spPr>
          <p:txBody>
            <a:bodyPr wrap="none" anchor="ctr"/>
            <a:lstStyle/>
            <a:p>
              <a:endParaRPr lang="en-US" dirty="0">
                <a:latin typeface="Arial" pitchFamily="34" charset="0"/>
                <a:cs typeface="Arial" pitchFamily="34" charset="0"/>
              </a:endParaRPr>
            </a:p>
          </p:txBody>
        </p:sp>
        <p:sp>
          <p:nvSpPr>
            <p:cNvPr id="132" name="Text Box 42"/>
            <p:cNvSpPr txBox="1">
              <a:spLocks noChangeArrowheads="1"/>
            </p:cNvSpPr>
            <p:nvPr/>
          </p:nvSpPr>
          <p:spPr bwMode="auto">
            <a:xfrm>
              <a:off x="838200" y="600075"/>
              <a:ext cx="1676401" cy="307777"/>
            </a:xfrm>
            <a:prstGeom prst="rect">
              <a:avLst/>
            </a:prstGeom>
            <a:solidFill>
              <a:schemeClr val="bg1"/>
            </a:solidFill>
            <a:ln w="9525">
              <a:noFill/>
              <a:miter lim="800000"/>
              <a:headEnd/>
              <a:tailEnd/>
            </a:ln>
            <a:effectLst/>
          </p:spPr>
          <p:txBody>
            <a:bodyPr wrap="square">
              <a:spAutoFit/>
            </a:bodyPr>
            <a:lstStyle/>
            <a:p>
              <a:pPr algn="ctr"/>
              <a:r>
                <a:rPr lang="ru-RU" sz="1400" b="1" i="0" dirty="0">
                  <a:solidFill>
                    <a:srgbClr val="000000"/>
                  </a:solidFill>
                  <a:latin typeface="Arial" pitchFamily="34" charset="0"/>
                  <a:cs typeface="Arial" pitchFamily="34" charset="0"/>
                </a:rPr>
                <a:t>Распределение</a:t>
              </a:r>
            </a:p>
          </p:txBody>
        </p:sp>
        <p:pic>
          <p:nvPicPr>
            <p:cNvPr id="134" name="Picture 28"/>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099880" y="971550"/>
              <a:ext cx="931886" cy="906701"/>
            </a:xfrm>
            <a:prstGeom prst="rect">
              <a:avLst/>
            </a:prstGeom>
            <a:noFill/>
            <a:extLst>
              <a:ext uri="{909E8E84-426E-40DD-AFC4-6F175D3DCCD1}">
                <a14:hiddenFill xmlns:a14="http://schemas.microsoft.com/office/drawing/2010/main">
                  <a:solidFill>
                    <a:srgbClr val="FFFFFF"/>
                  </a:solidFill>
                </a14:hiddenFill>
              </a:ext>
            </a:extLst>
          </p:spPr>
        </p:pic>
        <p:sp>
          <p:nvSpPr>
            <p:cNvPr id="135" name="AutoShape 29"/>
            <p:cNvSpPr>
              <a:spLocks noChangeArrowheads="1"/>
            </p:cNvSpPr>
            <p:nvPr/>
          </p:nvSpPr>
          <p:spPr bwMode="auto">
            <a:xfrm>
              <a:off x="3200400" y="759828"/>
              <a:ext cx="2750820" cy="3620108"/>
            </a:xfrm>
            <a:prstGeom prst="roundRect">
              <a:avLst>
                <a:gd name="adj" fmla="val 10088"/>
              </a:avLst>
            </a:prstGeom>
            <a:noFill/>
            <a:ln w="22225">
              <a:solidFill>
                <a:schemeClr val="tx1"/>
              </a:solidFill>
              <a:round/>
              <a:headEnd/>
              <a:tailEnd/>
            </a:ln>
          </p:spPr>
          <p:txBody>
            <a:bodyPr wrap="none" anchor="ctr"/>
            <a:lstStyle/>
            <a:p>
              <a:endParaRPr lang="en-US" dirty="0">
                <a:latin typeface="Arial" pitchFamily="34" charset="0"/>
                <a:cs typeface="Arial" pitchFamily="34" charset="0"/>
              </a:endParaRPr>
            </a:p>
          </p:txBody>
        </p:sp>
        <p:sp>
          <p:nvSpPr>
            <p:cNvPr id="136" name="Text Box 42"/>
            <p:cNvSpPr txBox="1">
              <a:spLocks noChangeArrowheads="1"/>
            </p:cNvSpPr>
            <p:nvPr/>
          </p:nvSpPr>
          <p:spPr bwMode="auto">
            <a:xfrm>
              <a:off x="3733800" y="600075"/>
              <a:ext cx="1676400" cy="307777"/>
            </a:xfrm>
            <a:prstGeom prst="rect">
              <a:avLst/>
            </a:prstGeom>
            <a:solidFill>
              <a:schemeClr val="bg1"/>
            </a:solidFill>
            <a:ln w="9525">
              <a:noFill/>
              <a:miter lim="800000"/>
              <a:headEnd/>
              <a:tailEnd/>
            </a:ln>
            <a:effectLst/>
          </p:spPr>
          <p:txBody>
            <a:bodyPr wrap="square">
              <a:spAutoFit/>
            </a:bodyPr>
            <a:lstStyle/>
            <a:p>
              <a:pPr algn="ctr"/>
              <a:r>
                <a:rPr lang="ru-RU" sz="1400" b="1" i="0" dirty="0">
                  <a:solidFill>
                    <a:srgbClr val="000000"/>
                  </a:solidFill>
                  <a:latin typeface="Arial" pitchFamily="34" charset="0"/>
                  <a:cs typeface="Arial" pitchFamily="34" charset="0"/>
                </a:rPr>
                <a:t>Зеркалирование</a:t>
              </a:r>
            </a:p>
          </p:txBody>
        </p:sp>
        <p:pic>
          <p:nvPicPr>
            <p:cNvPr id="137" name="Picture 28"/>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987860" y="971550"/>
              <a:ext cx="931886" cy="906701"/>
            </a:xfrm>
            <a:prstGeom prst="rect">
              <a:avLst/>
            </a:prstGeom>
            <a:noFill/>
            <a:extLst>
              <a:ext uri="{909E8E84-426E-40DD-AFC4-6F175D3DCCD1}">
                <a14:hiddenFill xmlns:a14="http://schemas.microsoft.com/office/drawing/2010/main">
                  <a:solidFill>
                    <a:srgbClr val="FFFFFF"/>
                  </a:solidFill>
                </a14:hiddenFill>
              </a:ext>
            </a:extLst>
          </p:spPr>
        </p:pic>
        <p:sp>
          <p:nvSpPr>
            <p:cNvPr id="138" name="AutoShape 29"/>
            <p:cNvSpPr>
              <a:spLocks noChangeArrowheads="1"/>
            </p:cNvSpPr>
            <p:nvPr/>
          </p:nvSpPr>
          <p:spPr bwMode="auto">
            <a:xfrm>
              <a:off x="6088380" y="759828"/>
              <a:ext cx="2750820" cy="3620108"/>
            </a:xfrm>
            <a:prstGeom prst="roundRect">
              <a:avLst>
                <a:gd name="adj" fmla="val 10088"/>
              </a:avLst>
            </a:prstGeom>
            <a:noFill/>
            <a:ln w="22225">
              <a:solidFill>
                <a:schemeClr val="tx1"/>
              </a:solidFill>
              <a:round/>
              <a:headEnd/>
              <a:tailEnd/>
            </a:ln>
          </p:spPr>
          <p:txBody>
            <a:bodyPr wrap="none" anchor="ctr"/>
            <a:lstStyle/>
            <a:p>
              <a:endParaRPr lang="en-US" dirty="0">
                <a:latin typeface="Arial" pitchFamily="34" charset="0"/>
                <a:cs typeface="Arial" pitchFamily="34" charset="0"/>
              </a:endParaRPr>
            </a:p>
          </p:txBody>
        </p:sp>
        <p:sp>
          <p:nvSpPr>
            <p:cNvPr id="139" name="Text Box 42"/>
            <p:cNvSpPr txBox="1">
              <a:spLocks noChangeArrowheads="1"/>
            </p:cNvSpPr>
            <p:nvPr/>
          </p:nvSpPr>
          <p:spPr bwMode="auto">
            <a:xfrm>
              <a:off x="6429375" y="606623"/>
              <a:ext cx="2057400" cy="307777"/>
            </a:xfrm>
            <a:prstGeom prst="rect">
              <a:avLst/>
            </a:prstGeom>
            <a:solidFill>
              <a:schemeClr val="bg1"/>
            </a:solidFill>
            <a:ln w="9525">
              <a:noFill/>
              <a:miter lim="800000"/>
              <a:headEnd/>
              <a:tailEnd/>
            </a:ln>
            <a:effectLst/>
          </p:spPr>
          <p:txBody>
            <a:bodyPr wrap="square">
              <a:spAutoFit/>
            </a:bodyPr>
            <a:lstStyle/>
            <a:p>
              <a:pPr algn="ctr"/>
              <a:r>
                <a:rPr lang="ru-RU" sz="1400" b="1" i="0" dirty="0">
                  <a:solidFill>
                    <a:srgbClr val="000000"/>
                  </a:solidFill>
                  <a:latin typeface="Arial" pitchFamily="34" charset="0"/>
                  <a:cs typeface="Arial" pitchFamily="34" charset="0"/>
                </a:rPr>
                <a:t>Контроль четности</a:t>
              </a:r>
            </a:p>
          </p:txBody>
        </p:sp>
        <p:grpSp>
          <p:nvGrpSpPr>
            <p:cNvPr id="140" name="Group 139"/>
            <p:cNvGrpSpPr/>
            <p:nvPr/>
          </p:nvGrpSpPr>
          <p:grpSpPr>
            <a:xfrm>
              <a:off x="1129237" y="3092450"/>
              <a:ext cx="381000" cy="381000"/>
              <a:chOff x="821218" y="3085583"/>
              <a:chExt cx="381000" cy="381000"/>
            </a:xfrm>
          </p:grpSpPr>
          <p:pic>
            <p:nvPicPr>
              <p:cNvPr id="141"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218" y="3085583"/>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42" name="TextBox 141"/>
              <p:cNvSpPr txBox="1"/>
              <p:nvPr/>
            </p:nvSpPr>
            <p:spPr>
              <a:xfrm>
                <a:off x="829408" y="3214918"/>
                <a:ext cx="332142"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A2</a:t>
                </a:r>
              </a:p>
            </p:txBody>
          </p:sp>
        </p:grpSp>
        <p:grpSp>
          <p:nvGrpSpPr>
            <p:cNvPr id="143" name="Group 142"/>
            <p:cNvGrpSpPr/>
            <p:nvPr/>
          </p:nvGrpSpPr>
          <p:grpSpPr>
            <a:xfrm>
              <a:off x="1798104" y="3092450"/>
              <a:ext cx="381000" cy="381000"/>
              <a:chOff x="1479723" y="3085583"/>
              <a:chExt cx="381000" cy="381000"/>
            </a:xfrm>
          </p:grpSpPr>
          <p:pic>
            <p:nvPicPr>
              <p:cNvPr id="144"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9723" y="3085583"/>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45" name="TextBox 144"/>
              <p:cNvSpPr txBox="1"/>
              <p:nvPr/>
            </p:nvSpPr>
            <p:spPr>
              <a:xfrm>
                <a:off x="1492129" y="3214918"/>
                <a:ext cx="332142"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A3</a:t>
                </a:r>
              </a:p>
            </p:txBody>
          </p:sp>
        </p:grpSp>
        <p:grpSp>
          <p:nvGrpSpPr>
            <p:cNvPr id="146" name="Group 145"/>
            <p:cNvGrpSpPr/>
            <p:nvPr/>
          </p:nvGrpSpPr>
          <p:grpSpPr>
            <a:xfrm>
              <a:off x="2466970" y="3092450"/>
              <a:ext cx="381000" cy="381000"/>
              <a:chOff x="2138228" y="3085583"/>
              <a:chExt cx="381000" cy="381000"/>
            </a:xfrm>
          </p:grpSpPr>
          <p:pic>
            <p:nvPicPr>
              <p:cNvPr id="147"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8228" y="3085583"/>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48" name="TextBox 147"/>
              <p:cNvSpPr txBox="1"/>
              <p:nvPr/>
            </p:nvSpPr>
            <p:spPr>
              <a:xfrm>
                <a:off x="2150635" y="3214918"/>
                <a:ext cx="332142"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A4</a:t>
                </a:r>
              </a:p>
            </p:txBody>
          </p:sp>
        </p:grpSp>
        <p:sp>
          <p:nvSpPr>
            <p:cNvPr id="149" name="Down Arrow 148"/>
            <p:cNvSpPr/>
            <p:nvPr/>
          </p:nvSpPr>
          <p:spPr>
            <a:xfrm>
              <a:off x="1472612" y="1878251"/>
              <a:ext cx="356188" cy="464899"/>
            </a:xfrm>
            <a:prstGeom prst="downArrow">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100" b="1" dirty="0">
                <a:latin typeface="Arial" pitchFamily="34" charset="0"/>
                <a:cs typeface="Arial" pitchFamily="34" charset="0"/>
              </a:endParaRPr>
            </a:p>
            <a:p>
              <a:pPr algn="ctr"/>
              <a:endParaRPr lang="en-US" sz="1100" b="1" dirty="0">
                <a:latin typeface="Arial" pitchFamily="34" charset="0"/>
                <a:cs typeface="Arial" pitchFamily="34" charset="0"/>
              </a:endParaRPr>
            </a:p>
            <a:p>
              <a:pPr algn="ctr"/>
              <a:r>
                <a:rPr lang="ru-RU" sz="1100" b="1" i="0" dirty="0">
                  <a:solidFill>
                    <a:srgbClr val="FFFFFF"/>
                  </a:solidFill>
                  <a:latin typeface="Arial" pitchFamily="34" charset="0"/>
                  <a:cs typeface="Arial" pitchFamily="34" charset="0"/>
                </a:rPr>
                <a:t>A</a:t>
              </a:r>
            </a:p>
          </p:txBody>
        </p:sp>
        <p:sp>
          <p:nvSpPr>
            <p:cNvPr id="150" name="Down Arrow 149"/>
            <p:cNvSpPr/>
            <p:nvPr/>
          </p:nvSpPr>
          <p:spPr>
            <a:xfrm>
              <a:off x="4387729" y="1878251"/>
              <a:ext cx="356188" cy="464899"/>
            </a:xfrm>
            <a:prstGeom prst="downArrow">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50" b="1" dirty="0">
                <a:latin typeface="Arial" pitchFamily="34" charset="0"/>
                <a:cs typeface="Arial" pitchFamily="34" charset="0"/>
              </a:endParaRPr>
            </a:p>
            <a:p>
              <a:pPr algn="ctr"/>
              <a:endParaRPr lang="en-US" sz="1050" b="1" dirty="0">
                <a:latin typeface="Arial" pitchFamily="34" charset="0"/>
                <a:cs typeface="Arial" pitchFamily="34" charset="0"/>
              </a:endParaRPr>
            </a:p>
            <a:p>
              <a:pPr algn="ctr"/>
              <a:r>
                <a:rPr lang="ru-RU" sz="1100" b="1" i="0" dirty="0">
                  <a:solidFill>
                    <a:srgbClr val="FFFFFF"/>
                  </a:solidFill>
                  <a:latin typeface="Arial" pitchFamily="34" charset="0"/>
                  <a:cs typeface="Arial" pitchFamily="34" charset="0"/>
                </a:rPr>
                <a:t>A</a:t>
              </a:r>
            </a:p>
          </p:txBody>
        </p:sp>
        <p:sp>
          <p:nvSpPr>
            <p:cNvPr id="151" name="Down Arrow 150"/>
            <p:cNvSpPr/>
            <p:nvPr/>
          </p:nvSpPr>
          <p:spPr>
            <a:xfrm>
              <a:off x="7285696" y="1878251"/>
              <a:ext cx="356188" cy="464899"/>
            </a:xfrm>
            <a:prstGeom prst="downArrow">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100" b="1" dirty="0">
                <a:latin typeface="Arial" pitchFamily="34" charset="0"/>
                <a:cs typeface="Arial" pitchFamily="34" charset="0"/>
              </a:endParaRPr>
            </a:p>
            <a:p>
              <a:pPr algn="ctr"/>
              <a:endParaRPr lang="en-US" sz="1100" b="1" dirty="0">
                <a:latin typeface="Arial" pitchFamily="34" charset="0"/>
                <a:cs typeface="Arial" pitchFamily="34" charset="0"/>
              </a:endParaRPr>
            </a:p>
            <a:p>
              <a:pPr algn="ctr"/>
              <a:r>
                <a:rPr lang="ru-RU" sz="1100" b="1" i="0" dirty="0">
                  <a:solidFill>
                    <a:srgbClr val="FFFFFF"/>
                  </a:solidFill>
                  <a:latin typeface="Arial" pitchFamily="34" charset="0"/>
                  <a:cs typeface="Arial" pitchFamily="34" charset="0"/>
                </a:rPr>
                <a:t>A</a:t>
              </a:r>
            </a:p>
          </p:txBody>
        </p:sp>
        <p:grpSp>
          <p:nvGrpSpPr>
            <p:cNvPr id="152" name="Group 151"/>
            <p:cNvGrpSpPr/>
            <p:nvPr/>
          </p:nvGrpSpPr>
          <p:grpSpPr>
            <a:xfrm>
              <a:off x="460370" y="3092450"/>
              <a:ext cx="381000" cy="381000"/>
              <a:chOff x="508000" y="3092450"/>
              <a:chExt cx="381000" cy="381000"/>
            </a:xfrm>
          </p:grpSpPr>
          <p:pic>
            <p:nvPicPr>
              <p:cNvPr id="153"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000" y="3092450"/>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54" name="TextBox 153"/>
              <p:cNvSpPr txBox="1"/>
              <p:nvPr/>
            </p:nvSpPr>
            <p:spPr>
              <a:xfrm>
                <a:off x="516190" y="3221785"/>
                <a:ext cx="332142"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A1</a:t>
                </a:r>
              </a:p>
            </p:txBody>
          </p:sp>
        </p:grpSp>
        <p:sp>
          <p:nvSpPr>
            <p:cNvPr id="155" name="Line 18"/>
            <p:cNvSpPr>
              <a:spLocks noChangeShapeType="1"/>
            </p:cNvSpPr>
            <p:nvPr/>
          </p:nvSpPr>
          <p:spPr bwMode="auto">
            <a:xfrm>
              <a:off x="3924300" y="2632076"/>
              <a:ext cx="0" cy="635000"/>
            </a:xfrm>
            <a:prstGeom prst="line">
              <a:avLst/>
            </a:prstGeom>
            <a:noFill/>
            <a:ln w="31750">
              <a:solidFill>
                <a:schemeClr val="tx1"/>
              </a:solidFill>
              <a:round/>
              <a:headEnd/>
              <a:tailEnd/>
            </a:ln>
          </p:spPr>
          <p:txBody>
            <a:bodyPr/>
            <a:lstStyle/>
            <a:p>
              <a:endParaRPr lang="en-US" dirty="0">
                <a:latin typeface="Arial" pitchFamily="34" charset="0"/>
                <a:cs typeface="Arial" pitchFamily="34" charset="0"/>
              </a:endParaRPr>
            </a:p>
          </p:txBody>
        </p:sp>
        <p:sp>
          <p:nvSpPr>
            <p:cNvPr id="156" name="Line 24"/>
            <p:cNvSpPr>
              <a:spLocks noChangeShapeType="1"/>
            </p:cNvSpPr>
            <p:nvPr/>
          </p:nvSpPr>
          <p:spPr bwMode="auto">
            <a:xfrm>
              <a:off x="5294647" y="2574409"/>
              <a:ext cx="0" cy="736600"/>
            </a:xfrm>
            <a:prstGeom prst="line">
              <a:avLst/>
            </a:prstGeom>
            <a:noFill/>
            <a:ln w="31750">
              <a:solidFill>
                <a:schemeClr val="tx1"/>
              </a:solidFill>
              <a:round/>
              <a:headEnd/>
              <a:tailEnd/>
            </a:ln>
          </p:spPr>
          <p:txBody>
            <a:bodyPr/>
            <a:lstStyle/>
            <a:p>
              <a:endParaRPr lang="en-US" dirty="0">
                <a:latin typeface="Arial" pitchFamily="34" charset="0"/>
                <a:cs typeface="Arial" pitchFamily="34" charset="0"/>
              </a:endParaRPr>
            </a:p>
          </p:txBody>
        </p:sp>
        <p:sp>
          <p:nvSpPr>
            <p:cNvPr id="157" name="AutoShape 9"/>
            <p:cNvSpPr>
              <a:spLocks noChangeArrowheads="1"/>
            </p:cNvSpPr>
            <p:nvPr/>
          </p:nvSpPr>
          <p:spPr bwMode="auto">
            <a:xfrm>
              <a:off x="3375030" y="2352676"/>
              <a:ext cx="2387600" cy="533400"/>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ru-RU" sz="1000" b="1" i="0" dirty="0">
                  <a:solidFill>
                    <a:srgbClr val="000000"/>
                  </a:solidFill>
                  <a:latin typeface="Arial" pitchFamily="34" charset="0"/>
                  <a:cs typeface="Arial" pitchFamily="34" charset="0"/>
                </a:rPr>
                <a:t>Контроллер RAID</a:t>
              </a:r>
            </a:p>
          </p:txBody>
        </p:sp>
        <p:grpSp>
          <p:nvGrpSpPr>
            <p:cNvPr id="158" name="Group 157"/>
            <p:cNvGrpSpPr/>
            <p:nvPr/>
          </p:nvGrpSpPr>
          <p:grpSpPr>
            <a:xfrm>
              <a:off x="5105400" y="3101976"/>
              <a:ext cx="381000" cy="381000"/>
              <a:chOff x="2138228" y="3085583"/>
              <a:chExt cx="381000" cy="381000"/>
            </a:xfrm>
          </p:grpSpPr>
          <p:pic>
            <p:nvPicPr>
              <p:cNvPr id="159"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8228" y="3085583"/>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60" name="TextBox 159"/>
              <p:cNvSpPr txBox="1"/>
              <p:nvPr/>
            </p:nvSpPr>
            <p:spPr>
              <a:xfrm>
                <a:off x="2188739" y="3214918"/>
                <a:ext cx="274434"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A</a:t>
                </a:r>
              </a:p>
            </p:txBody>
          </p:sp>
        </p:grpSp>
        <p:grpSp>
          <p:nvGrpSpPr>
            <p:cNvPr id="161" name="Group 160"/>
            <p:cNvGrpSpPr/>
            <p:nvPr/>
          </p:nvGrpSpPr>
          <p:grpSpPr>
            <a:xfrm>
              <a:off x="3733800" y="3101976"/>
              <a:ext cx="381000" cy="381000"/>
              <a:chOff x="508000" y="3092450"/>
              <a:chExt cx="381000" cy="381000"/>
            </a:xfrm>
          </p:grpSpPr>
          <p:pic>
            <p:nvPicPr>
              <p:cNvPr id="162"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000" y="3092450"/>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63" name="TextBox 162"/>
              <p:cNvSpPr txBox="1"/>
              <p:nvPr/>
            </p:nvSpPr>
            <p:spPr>
              <a:xfrm>
                <a:off x="558995" y="3221785"/>
                <a:ext cx="274434"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A</a:t>
                </a:r>
              </a:p>
            </p:txBody>
          </p:sp>
        </p:grpSp>
        <p:sp>
          <p:nvSpPr>
            <p:cNvPr id="164" name="Line 18"/>
            <p:cNvSpPr>
              <a:spLocks noChangeShapeType="1"/>
            </p:cNvSpPr>
            <p:nvPr/>
          </p:nvSpPr>
          <p:spPr bwMode="auto">
            <a:xfrm>
              <a:off x="6461760" y="2630170"/>
              <a:ext cx="0" cy="635000"/>
            </a:xfrm>
            <a:prstGeom prst="line">
              <a:avLst/>
            </a:prstGeom>
            <a:noFill/>
            <a:ln w="31750">
              <a:solidFill>
                <a:schemeClr val="tx1"/>
              </a:solidFill>
              <a:round/>
              <a:headEnd/>
              <a:tailEnd/>
            </a:ln>
          </p:spPr>
          <p:txBody>
            <a:bodyPr/>
            <a:lstStyle/>
            <a:p>
              <a:endParaRPr lang="en-US" dirty="0">
                <a:latin typeface="Arial" pitchFamily="34" charset="0"/>
                <a:cs typeface="Arial" pitchFamily="34" charset="0"/>
              </a:endParaRPr>
            </a:p>
          </p:txBody>
        </p:sp>
        <p:sp>
          <p:nvSpPr>
            <p:cNvPr id="165" name="Line 19"/>
            <p:cNvSpPr>
              <a:spLocks noChangeShapeType="1"/>
            </p:cNvSpPr>
            <p:nvPr/>
          </p:nvSpPr>
          <p:spPr bwMode="auto">
            <a:xfrm>
              <a:off x="7798435" y="2547103"/>
              <a:ext cx="0" cy="736600"/>
            </a:xfrm>
            <a:prstGeom prst="line">
              <a:avLst/>
            </a:prstGeom>
            <a:noFill/>
            <a:ln w="31750">
              <a:solidFill>
                <a:schemeClr val="tx1"/>
              </a:solidFill>
              <a:round/>
              <a:headEnd/>
              <a:tailEnd/>
            </a:ln>
          </p:spPr>
          <p:txBody>
            <a:bodyPr/>
            <a:lstStyle/>
            <a:p>
              <a:endParaRPr lang="en-US" dirty="0">
                <a:latin typeface="Arial" pitchFamily="34" charset="0"/>
                <a:cs typeface="Arial" pitchFamily="34" charset="0"/>
              </a:endParaRPr>
            </a:p>
          </p:txBody>
        </p:sp>
        <p:sp>
          <p:nvSpPr>
            <p:cNvPr id="166" name="Line 18"/>
            <p:cNvSpPr>
              <a:spLocks noChangeShapeType="1"/>
            </p:cNvSpPr>
            <p:nvPr/>
          </p:nvSpPr>
          <p:spPr bwMode="auto">
            <a:xfrm>
              <a:off x="7134860" y="2623303"/>
              <a:ext cx="0" cy="635000"/>
            </a:xfrm>
            <a:prstGeom prst="line">
              <a:avLst/>
            </a:prstGeom>
            <a:noFill/>
            <a:ln w="31750">
              <a:solidFill>
                <a:schemeClr val="tx1"/>
              </a:solidFill>
              <a:round/>
              <a:headEnd/>
              <a:tailEnd/>
            </a:ln>
          </p:spPr>
          <p:txBody>
            <a:bodyPr/>
            <a:lstStyle/>
            <a:p>
              <a:endParaRPr lang="en-US" dirty="0">
                <a:latin typeface="Arial" pitchFamily="34" charset="0"/>
                <a:cs typeface="Arial" pitchFamily="34" charset="0"/>
              </a:endParaRPr>
            </a:p>
          </p:txBody>
        </p:sp>
        <p:sp>
          <p:nvSpPr>
            <p:cNvPr id="167" name="Line 24"/>
            <p:cNvSpPr>
              <a:spLocks noChangeShapeType="1"/>
            </p:cNvSpPr>
            <p:nvPr/>
          </p:nvSpPr>
          <p:spPr bwMode="auto">
            <a:xfrm>
              <a:off x="8467107" y="2572503"/>
              <a:ext cx="0" cy="736600"/>
            </a:xfrm>
            <a:prstGeom prst="line">
              <a:avLst/>
            </a:prstGeom>
            <a:noFill/>
            <a:ln w="31750">
              <a:solidFill>
                <a:schemeClr val="tx1"/>
              </a:solidFill>
              <a:round/>
              <a:headEnd/>
              <a:tailEnd/>
            </a:ln>
          </p:spPr>
          <p:txBody>
            <a:bodyPr/>
            <a:lstStyle/>
            <a:p>
              <a:endParaRPr lang="en-US" dirty="0">
                <a:latin typeface="Arial" pitchFamily="34" charset="0"/>
                <a:cs typeface="Arial" pitchFamily="34" charset="0"/>
              </a:endParaRPr>
            </a:p>
          </p:txBody>
        </p:sp>
        <p:sp>
          <p:nvSpPr>
            <p:cNvPr id="168" name="AutoShape 9"/>
            <p:cNvSpPr>
              <a:spLocks noChangeArrowheads="1"/>
            </p:cNvSpPr>
            <p:nvPr/>
          </p:nvSpPr>
          <p:spPr bwMode="auto">
            <a:xfrm>
              <a:off x="6271260" y="2350770"/>
              <a:ext cx="2387600" cy="533400"/>
            </a:xfrm>
            <a:prstGeom prst="roundRect">
              <a:avLst>
                <a:gd name="adj" fmla="val 16667"/>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r>
                <a:rPr lang="ru-RU" sz="1000" b="1" i="0" dirty="0">
                  <a:solidFill>
                    <a:srgbClr val="000000"/>
                  </a:solidFill>
                  <a:latin typeface="Arial" pitchFamily="34" charset="0"/>
                  <a:cs typeface="Arial" pitchFamily="34" charset="0"/>
                </a:rPr>
                <a:t>Контроллер RAID</a:t>
              </a:r>
            </a:p>
          </p:txBody>
        </p:sp>
        <p:grpSp>
          <p:nvGrpSpPr>
            <p:cNvPr id="169" name="Group 168"/>
            <p:cNvGrpSpPr/>
            <p:nvPr/>
          </p:nvGrpSpPr>
          <p:grpSpPr>
            <a:xfrm>
              <a:off x="6940127" y="3100070"/>
              <a:ext cx="381000" cy="381000"/>
              <a:chOff x="821218" y="3085583"/>
              <a:chExt cx="381000" cy="381000"/>
            </a:xfrm>
          </p:grpSpPr>
          <p:pic>
            <p:nvPicPr>
              <p:cNvPr id="170"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218" y="3085583"/>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71" name="TextBox 170"/>
              <p:cNvSpPr txBox="1"/>
              <p:nvPr/>
            </p:nvSpPr>
            <p:spPr>
              <a:xfrm>
                <a:off x="829408" y="3214918"/>
                <a:ext cx="332142"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A2</a:t>
                </a:r>
              </a:p>
            </p:txBody>
          </p:sp>
        </p:grpSp>
        <p:grpSp>
          <p:nvGrpSpPr>
            <p:cNvPr id="172" name="Group 171"/>
            <p:cNvGrpSpPr/>
            <p:nvPr/>
          </p:nvGrpSpPr>
          <p:grpSpPr>
            <a:xfrm>
              <a:off x="7608994" y="3100070"/>
              <a:ext cx="381000" cy="381000"/>
              <a:chOff x="1479723" y="3085583"/>
              <a:chExt cx="381000" cy="381000"/>
            </a:xfrm>
          </p:grpSpPr>
          <p:pic>
            <p:nvPicPr>
              <p:cNvPr id="173"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9723" y="3085583"/>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74" name="TextBox 173"/>
              <p:cNvSpPr txBox="1"/>
              <p:nvPr/>
            </p:nvSpPr>
            <p:spPr>
              <a:xfrm>
                <a:off x="1492129" y="3214918"/>
                <a:ext cx="332142"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A3</a:t>
                </a:r>
              </a:p>
            </p:txBody>
          </p:sp>
        </p:grpSp>
        <p:grpSp>
          <p:nvGrpSpPr>
            <p:cNvPr id="175" name="Group 174"/>
            <p:cNvGrpSpPr/>
            <p:nvPr/>
          </p:nvGrpSpPr>
          <p:grpSpPr>
            <a:xfrm>
              <a:off x="8277860" y="3100070"/>
              <a:ext cx="381000" cy="381000"/>
              <a:chOff x="2138228" y="3085583"/>
              <a:chExt cx="381000" cy="381000"/>
            </a:xfrm>
          </p:grpSpPr>
          <p:pic>
            <p:nvPicPr>
              <p:cNvPr id="176"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8228" y="3085583"/>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77" name="TextBox 176"/>
              <p:cNvSpPr txBox="1"/>
              <p:nvPr/>
            </p:nvSpPr>
            <p:spPr>
              <a:xfrm>
                <a:off x="2150635" y="3214918"/>
                <a:ext cx="338554"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Ap</a:t>
                </a:r>
              </a:p>
            </p:txBody>
          </p:sp>
        </p:grpSp>
        <p:grpSp>
          <p:nvGrpSpPr>
            <p:cNvPr id="178" name="Group 177"/>
            <p:cNvGrpSpPr/>
            <p:nvPr/>
          </p:nvGrpSpPr>
          <p:grpSpPr>
            <a:xfrm>
              <a:off x="6271260" y="3100070"/>
              <a:ext cx="381000" cy="381000"/>
              <a:chOff x="508000" y="3092450"/>
              <a:chExt cx="381000" cy="381000"/>
            </a:xfrm>
          </p:grpSpPr>
          <p:pic>
            <p:nvPicPr>
              <p:cNvPr id="179" name="Picture 11" descr="C:\Users\patils1\Desktop\2013 Projects\CIS v2\CIS Slide Deck_Based on Book\Colored Graphics\Disk Driv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000" y="3092450"/>
                <a:ext cx="381000" cy="381000"/>
              </a:xfrm>
              <a:prstGeom prst="rect">
                <a:avLst/>
              </a:prstGeom>
              <a:noFill/>
              <a:extLst>
                <a:ext uri="{909E8E84-426E-40DD-AFC4-6F175D3DCCD1}">
                  <a14:hiddenFill xmlns:a14="http://schemas.microsoft.com/office/drawing/2010/main">
                    <a:solidFill>
                      <a:srgbClr val="FFFFFF"/>
                    </a:solidFill>
                  </a14:hiddenFill>
                </a:ext>
              </a:extLst>
            </p:spPr>
          </p:pic>
          <p:sp>
            <p:nvSpPr>
              <p:cNvPr id="180" name="TextBox 179"/>
              <p:cNvSpPr txBox="1"/>
              <p:nvPr/>
            </p:nvSpPr>
            <p:spPr>
              <a:xfrm>
                <a:off x="516190" y="3221785"/>
                <a:ext cx="332142" cy="230832"/>
              </a:xfrm>
              <a:prstGeom prst="rect">
                <a:avLst/>
              </a:prstGeom>
              <a:noFill/>
            </p:spPr>
            <p:txBody>
              <a:bodyPr wrap="none" rtlCol="0">
                <a:spAutoFit/>
              </a:bodyPr>
              <a:lstStyle/>
              <a:p>
                <a:r>
                  <a:rPr lang="ru-RU" sz="900" b="1" i="0" dirty="0">
                    <a:solidFill>
                      <a:srgbClr val="FFFFFF"/>
                    </a:solidFill>
                    <a:latin typeface="Arial" pitchFamily="34" charset="0"/>
                    <a:cs typeface="Arial" pitchFamily="34" charset="0"/>
                  </a:rPr>
                  <a:t>A1</a:t>
                </a:r>
              </a:p>
            </p:txBody>
          </p:sp>
        </p:grpSp>
        <p:sp>
          <p:nvSpPr>
            <p:cNvPr id="181" name="TextBox 180"/>
            <p:cNvSpPr txBox="1"/>
            <p:nvPr/>
          </p:nvSpPr>
          <p:spPr>
            <a:xfrm>
              <a:off x="6462353" y="2915403"/>
              <a:ext cx="298480" cy="200055"/>
            </a:xfrm>
            <a:prstGeom prst="rect">
              <a:avLst/>
            </a:prstGeom>
            <a:noFill/>
          </p:spPr>
          <p:txBody>
            <a:bodyPr wrap="none" rtlCol="0">
              <a:spAutoFit/>
            </a:bodyPr>
            <a:lstStyle/>
            <a:p>
              <a:r>
                <a:rPr lang="ru-RU" sz="700" b="0" i="0" dirty="0">
                  <a:solidFill>
                    <a:srgbClr val="000000"/>
                  </a:solidFill>
                  <a:latin typeface="Arial" pitchFamily="34" charset="0"/>
                  <a:cs typeface="Arial" pitchFamily="34" charset="0"/>
                </a:rPr>
                <a:t>D1</a:t>
              </a:r>
            </a:p>
          </p:txBody>
        </p:sp>
        <p:sp>
          <p:nvSpPr>
            <p:cNvPr id="182" name="TextBox 181"/>
            <p:cNvSpPr txBox="1"/>
            <p:nvPr/>
          </p:nvSpPr>
          <p:spPr>
            <a:xfrm>
              <a:off x="7138051" y="2915403"/>
              <a:ext cx="298480" cy="200055"/>
            </a:xfrm>
            <a:prstGeom prst="rect">
              <a:avLst/>
            </a:prstGeom>
            <a:noFill/>
          </p:spPr>
          <p:txBody>
            <a:bodyPr wrap="none" rtlCol="0">
              <a:spAutoFit/>
            </a:bodyPr>
            <a:lstStyle/>
            <a:p>
              <a:r>
                <a:rPr lang="ru-RU" sz="700" b="0" i="0" dirty="0">
                  <a:solidFill>
                    <a:srgbClr val="000000"/>
                  </a:solidFill>
                  <a:latin typeface="Arial" pitchFamily="34" charset="0"/>
                  <a:cs typeface="Arial" pitchFamily="34" charset="0"/>
                </a:rPr>
                <a:t>D2</a:t>
              </a:r>
            </a:p>
          </p:txBody>
        </p:sp>
        <p:sp>
          <p:nvSpPr>
            <p:cNvPr id="183" name="TextBox 182"/>
            <p:cNvSpPr txBox="1"/>
            <p:nvPr/>
          </p:nvSpPr>
          <p:spPr>
            <a:xfrm>
              <a:off x="7813749" y="2915403"/>
              <a:ext cx="298480" cy="200055"/>
            </a:xfrm>
            <a:prstGeom prst="rect">
              <a:avLst/>
            </a:prstGeom>
            <a:noFill/>
          </p:spPr>
          <p:txBody>
            <a:bodyPr wrap="none" rtlCol="0">
              <a:spAutoFit/>
            </a:bodyPr>
            <a:lstStyle/>
            <a:p>
              <a:r>
                <a:rPr lang="ru-RU" sz="700" b="0" i="0" dirty="0">
                  <a:solidFill>
                    <a:srgbClr val="000000"/>
                  </a:solidFill>
                  <a:latin typeface="Arial" pitchFamily="34" charset="0"/>
                  <a:cs typeface="Arial" pitchFamily="34" charset="0"/>
                </a:rPr>
                <a:t>D3</a:t>
              </a:r>
            </a:p>
          </p:txBody>
        </p:sp>
        <p:sp>
          <p:nvSpPr>
            <p:cNvPr id="184" name="TextBox 183"/>
            <p:cNvSpPr txBox="1"/>
            <p:nvPr/>
          </p:nvSpPr>
          <p:spPr>
            <a:xfrm>
              <a:off x="8489447" y="2915403"/>
              <a:ext cx="243978" cy="200055"/>
            </a:xfrm>
            <a:prstGeom prst="rect">
              <a:avLst/>
            </a:prstGeom>
            <a:noFill/>
          </p:spPr>
          <p:txBody>
            <a:bodyPr wrap="none" rtlCol="0">
              <a:spAutoFit/>
            </a:bodyPr>
            <a:lstStyle/>
            <a:p>
              <a:r>
                <a:rPr lang="ru-RU" sz="700" b="0" i="0" dirty="0">
                  <a:solidFill>
                    <a:srgbClr val="000000"/>
                  </a:solidFill>
                  <a:latin typeface="Arial" pitchFamily="34" charset="0"/>
                  <a:cs typeface="Arial" pitchFamily="34" charset="0"/>
                </a:rPr>
                <a:t>P</a:t>
              </a:r>
            </a:p>
          </p:txBody>
        </p:sp>
        <p:sp>
          <p:nvSpPr>
            <p:cNvPr id="185" name="Rectangle 184"/>
            <p:cNvSpPr/>
            <p:nvPr/>
          </p:nvSpPr>
          <p:spPr>
            <a:xfrm>
              <a:off x="6134100" y="3550298"/>
              <a:ext cx="2667000" cy="67625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r>
                <a:rPr lang="ru-RU" sz="800" b="0" i="0" dirty="0">
                  <a:solidFill>
                    <a:srgbClr val="000000"/>
                  </a:solidFill>
                  <a:latin typeface="Arial" pitchFamily="34" charset="0"/>
                  <a:cs typeface="Arial" pitchFamily="34" charset="0"/>
                </a:rPr>
                <a:t>Восстановление данных сбойного диска D3:</a:t>
              </a:r>
              <a:br>
                <a:rPr lang="en-US" sz="800" dirty="0">
                  <a:solidFill>
                    <a:srgbClr val="FF00FF"/>
                  </a:solidFill>
                  <a:latin typeface="Arial" pitchFamily="34" charset="0"/>
                  <a:cs typeface="Arial" pitchFamily="34" charset="0"/>
                </a:rPr>
              </a:br>
              <a:r>
                <a:rPr lang="ru-RU" sz="800" b="0" i="0" dirty="0">
                  <a:solidFill>
                    <a:srgbClr val="000000"/>
                  </a:solidFill>
                  <a:latin typeface="Arial" pitchFamily="34" charset="0"/>
                  <a:cs typeface="Arial" pitchFamily="34" charset="0"/>
                </a:rPr>
                <a:t>D1 + D2 + ? = P</a:t>
              </a:r>
              <a:br>
                <a:rPr lang="en-US" sz="800" b="0" i="0" dirty="0">
                  <a:solidFill>
                    <a:srgbClr val="FF00FF"/>
                  </a:solidFill>
                  <a:latin typeface="Arial" pitchFamily="34" charset="0"/>
                  <a:cs typeface="Arial" pitchFamily="34" charset="0"/>
                </a:rPr>
              </a:br>
              <a:r>
                <a:rPr lang="ru-RU" sz="800" b="0" i="0" dirty="0">
                  <a:solidFill>
                    <a:srgbClr val="000000"/>
                  </a:solidFill>
                  <a:latin typeface="Arial" pitchFamily="34" charset="0"/>
                  <a:cs typeface="Arial" pitchFamily="34" charset="0"/>
                </a:rPr>
                <a:t>D3 = P – D1 –D2</a:t>
              </a:r>
            </a:p>
          </p:txBody>
        </p:sp>
      </p:grpSp>
      <p:sp>
        <p:nvSpPr>
          <p:cNvPr id="72" name="TextBox 2"/>
          <p:cNvSpPr txBox="1"/>
          <p:nvPr/>
        </p:nvSpPr>
        <p:spPr>
          <a:xfrm>
            <a:off x="1000125" y="1443950"/>
            <a:ext cx="1336670"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800" b="1" i="0" dirty="0">
                <a:solidFill>
                  <a:srgbClr val="000000"/>
                </a:solidFill>
                <a:latin typeface="Arial" pitchFamily="34" charset="0"/>
                <a:cs typeface="Arial" pitchFamily="34" charset="0"/>
              </a:rPr>
              <a:t>Гипервизор</a:t>
            </a:r>
          </a:p>
        </p:txBody>
      </p:sp>
      <p:sp>
        <p:nvSpPr>
          <p:cNvPr id="73" name="TextBox 2"/>
          <p:cNvSpPr txBox="1"/>
          <p:nvPr/>
        </p:nvSpPr>
        <p:spPr>
          <a:xfrm>
            <a:off x="3895725" y="1443950"/>
            <a:ext cx="1336670"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800" b="1" i="0" dirty="0">
                <a:solidFill>
                  <a:srgbClr val="000000"/>
                </a:solidFill>
                <a:latin typeface="Arial" pitchFamily="34" charset="0"/>
                <a:cs typeface="Arial" pitchFamily="34" charset="0"/>
              </a:rPr>
              <a:t>Гипервизор</a:t>
            </a:r>
          </a:p>
        </p:txBody>
      </p:sp>
      <p:sp>
        <p:nvSpPr>
          <p:cNvPr id="74" name="TextBox 2"/>
          <p:cNvSpPr txBox="1"/>
          <p:nvPr/>
        </p:nvSpPr>
        <p:spPr>
          <a:xfrm>
            <a:off x="6791325" y="1443950"/>
            <a:ext cx="1336670"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800" b="1" i="0" dirty="0">
                <a:solidFill>
                  <a:srgbClr val="000000"/>
                </a:solidFill>
                <a:latin typeface="Arial" pitchFamily="34" charset="0"/>
                <a:cs typeface="Arial" pitchFamily="34" charset="0"/>
              </a:rPr>
              <a:t>Гипервизор</a:t>
            </a:r>
          </a:p>
        </p:txBody>
      </p:sp>
      <p:sp>
        <p:nvSpPr>
          <p:cNvPr id="75" name="TextBox 7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252247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Уровни RAID</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Часто используемые уровни RAID:</a:t>
            </a:r>
          </a:p>
          <a:p>
            <a:pPr lvl="1"/>
            <a:r>
              <a:rPr lang="ru-RU" sz="1800" b="0" i="0" dirty="0">
                <a:solidFill>
                  <a:srgbClr val="000000"/>
                </a:solidFill>
                <a:latin typeface="Arial" pitchFamily="34" charset="0"/>
                <a:cs typeface="Arial" pitchFamily="34" charset="0"/>
              </a:rPr>
              <a:t>RAID 0 — распределенный набор без отказоустойчивости</a:t>
            </a:r>
          </a:p>
          <a:p>
            <a:pPr lvl="1"/>
            <a:r>
              <a:rPr lang="ru-RU" sz="1800" b="0" i="0" dirty="0">
                <a:solidFill>
                  <a:srgbClr val="000000"/>
                </a:solidFill>
                <a:latin typeface="Arial" pitchFamily="34" charset="0"/>
                <a:cs typeface="Arial" pitchFamily="34" charset="0"/>
              </a:rPr>
              <a:t>RAID 1 — зеркалирование диска </a:t>
            </a:r>
          </a:p>
          <a:p>
            <a:pPr lvl="1"/>
            <a:r>
              <a:rPr lang="ru-RU" sz="1800" b="0" i="0" dirty="0">
                <a:solidFill>
                  <a:srgbClr val="000000"/>
                </a:solidFill>
                <a:latin typeface="Arial" pitchFamily="34" charset="0"/>
                <a:cs typeface="Arial" pitchFamily="34" charset="0"/>
              </a:rPr>
              <a:t>RAID 1 + 0 — вложенный RAID </a:t>
            </a:r>
          </a:p>
          <a:p>
            <a:pPr lvl="1"/>
            <a:r>
              <a:rPr lang="ru-RU" sz="1800" b="0" i="0" dirty="0">
                <a:solidFill>
                  <a:srgbClr val="000000"/>
                </a:solidFill>
                <a:latin typeface="Arial" pitchFamily="34" charset="0"/>
                <a:cs typeface="Arial" pitchFamily="34" charset="0"/>
              </a:rPr>
              <a:t>RAID 3 — распределенный набор с параллельным доступом и выделенным диском четности</a:t>
            </a:r>
          </a:p>
          <a:p>
            <a:pPr lvl="1"/>
            <a:r>
              <a:rPr lang="ru-RU" sz="1800" b="0" i="0" dirty="0">
                <a:solidFill>
                  <a:srgbClr val="000000"/>
                </a:solidFill>
                <a:latin typeface="Arial" pitchFamily="34" charset="0"/>
                <a:cs typeface="Arial" pitchFamily="34" charset="0"/>
              </a:rPr>
              <a:t>RAID 5 — распределенный набор с независимым доступом к диску и распределенной четностью</a:t>
            </a:r>
          </a:p>
          <a:p>
            <a:pPr lvl="1"/>
            <a:r>
              <a:rPr lang="ru-RU" sz="1800" b="0" i="0" dirty="0">
                <a:solidFill>
                  <a:srgbClr val="000000"/>
                </a:solidFill>
                <a:latin typeface="Arial" pitchFamily="34" charset="0"/>
                <a:cs typeface="Arial" pitchFamily="34" charset="0"/>
              </a:rPr>
              <a:t>RAID 6 — распределенный набор с независимым доступом к диску и двойной распределенной четностью</a:t>
            </a:r>
          </a:p>
          <a:p>
            <a:endParaRPr lang="en-US" dirty="0">
              <a:latin typeface="Arial" pitchFamily="34" charset="0"/>
              <a:cs typeface="Arial" pitchFamily="34" charset="0"/>
            </a:endParaRP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214941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RAID 0</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455686" y="666750"/>
            <a:ext cx="6385028" cy="4295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5"/>
          <p:cNvSpPr txBox="1"/>
          <p:nvPr/>
        </p:nvSpPr>
        <p:spPr>
          <a:xfrm>
            <a:off x="3962400" y="2114550"/>
            <a:ext cx="2743200"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100" b="0" i="0" dirty="0">
                <a:solidFill>
                  <a:srgbClr val="000000"/>
                </a:solidFill>
                <a:latin typeface="Arial" pitchFamily="34" charset="0"/>
                <a:cs typeface="Arial" pitchFamily="34" charset="0"/>
              </a:rPr>
              <a:t>Контроллер RAID</a:t>
            </a:r>
          </a:p>
        </p:txBody>
      </p:sp>
      <p:sp>
        <p:nvSpPr>
          <p:cNvPr id="6" name="TextBox 2"/>
          <p:cNvSpPr txBox="1"/>
          <p:nvPr/>
        </p:nvSpPr>
        <p:spPr>
          <a:xfrm>
            <a:off x="5638800" y="1007762"/>
            <a:ext cx="2743200"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100" b="0" i="0" dirty="0">
                <a:solidFill>
                  <a:srgbClr val="000000"/>
                </a:solidFill>
                <a:latin typeface="Arial" pitchFamily="34" charset="0"/>
                <a:cs typeface="Arial" pitchFamily="34" charset="0"/>
              </a:rPr>
              <a:t>Данные из вычислительной системы</a:t>
            </a:r>
          </a:p>
        </p:txBody>
      </p:sp>
      <p:sp>
        <p:nvSpPr>
          <p:cNvPr id="7" name="TextBox 6"/>
          <p:cNvSpPr txBox="1"/>
          <p:nvPr/>
        </p:nvSpPr>
        <p:spPr>
          <a:xfrm>
            <a:off x="3752088" y="4656951"/>
            <a:ext cx="11430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Диск данных</a:t>
            </a:r>
          </a:p>
        </p:txBody>
      </p:sp>
      <p:sp>
        <p:nvSpPr>
          <p:cNvPr id="8" name="TextBox 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29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9667187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RAID 1</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052741" y="666750"/>
            <a:ext cx="4376778" cy="4097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000375" y="2146986"/>
            <a:ext cx="2743200" cy="24622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000" b="0" i="0" dirty="0">
                <a:solidFill>
                  <a:srgbClr val="000000"/>
                </a:solidFill>
                <a:latin typeface="Arial" pitchFamily="34" charset="0"/>
                <a:cs typeface="Arial" pitchFamily="34" charset="0"/>
              </a:rPr>
              <a:t>Контроллер RAID</a:t>
            </a:r>
          </a:p>
        </p:txBody>
      </p:sp>
      <p:sp>
        <p:nvSpPr>
          <p:cNvPr id="6" name="TextBox 6"/>
          <p:cNvSpPr txBox="1"/>
          <p:nvPr/>
        </p:nvSpPr>
        <p:spPr>
          <a:xfrm>
            <a:off x="5392094" y="1097276"/>
            <a:ext cx="2743200" cy="24622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000" b="0" i="0" dirty="0">
                <a:solidFill>
                  <a:srgbClr val="000000"/>
                </a:solidFill>
                <a:latin typeface="Arial" pitchFamily="34" charset="0"/>
                <a:cs typeface="Arial" pitchFamily="34" charset="0"/>
              </a:rPr>
              <a:t>Данные из вычислительной системы</a:t>
            </a:r>
          </a:p>
        </p:txBody>
      </p:sp>
      <p:sp>
        <p:nvSpPr>
          <p:cNvPr id="7" name="TextBox 2"/>
          <p:cNvSpPr txBox="1"/>
          <p:nvPr/>
        </p:nvSpPr>
        <p:spPr>
          <a:xfrm>
            <a:off x="3295650" y="4501676"/>
            <a:ext cx="2057400"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000" b="0" i="0" dirty="0">
                <a:solidFill>
                  <a:srgbClr val="000000"/>
                </a:solidFill>
                <a:latin typeface="Arial" pitchFamily="34" charset="0"/>
                <a:cs typeface="Arial" pitchFamily="34" charset="0"/>
              </a:rPr>
              <a:t>Зеркальный набор</a:t>
            </a:r>
          </a:p>
        </p:txBody>
      </p:sp>
      <p:sp>
        <p:nvSpPr>
          <p:cNvPr id="8" name="TextBox 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290140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Вложенный RAID — 1+0</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480635" y="666750"/>
            <a:ext cx="6590718" cy="425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13"/>
          <p:cNvSpPr txBox="1"/>
          <p:nvPr/>
        </p:nvSpPr>
        <p:spPr>
          <a:xfrm>
            <a:off x="1381125" y="4545740"/>
            <a:ext cx="1645920"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000" b="0" i="0" dirty="0">
                <a:solidFill>
                  <a:srgbClr val="000000"/>
                </a:solidFill>
                <a:latin typeface="Arial" pitchFamily="34" charset="0"/>
                <a:cs typeface="Arial" pitchFamily="34" charset="0"/>
              </a:rPr>
              <a:t>Зеркальный набор A</a:t>
            </a:r>
          </a:p>
        </p:txBody>
      </p:sp>
      <p:sp>
        <p:nvSpPr>
          <p:cNvPr id="6" name="TextBox 14"/>
          <p:cNvSpPr txBox="1"/>
          <p:nvPr/>
        </p:nvSpPr>
        <p:spPr>
          <a:xfrm>
            <a:off x="3552825" y="4545740"/>
            <a:ext cx="1645920"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000" b="0" i="0" dirty="0">
                <a:solidFill>
                  <a:srgbClr val="000000"/>
                </a:solidFill>
                <a:latin typeface="Arial" pitchFamily="34" charset="0"/>
                <a:cs typeface="Arial" pitchFamily="34" charset="0"/>
              </a:rPr>
              <a:t>Зеркальный набор B</a:t>
            </a:r>
          </a:p>
        </p:txBody>
      </p:sp>
      <p:sp>
        <p:nvSpPr>
          <p:cNvPr id="7" name="TextBox 15"/>
          <p:cNvSpPr txBox="1"/>
          <p:nvPr/>
        </p:nvSpPr>
        <p:spPr>
          <a:xfrm>
            <a:off x="5762625" y="4545740"/>
            <a:ext cx="1645920"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000" b="0" i="0" dirty="0">
                <a:solidFill>
                  <a:srgbClr val="000000"/>
                </a:solidFill>
                <a:latin typeface="Arial" pitchFamily="34" charset="0"/>
                <a:cs typeface="Arial" pitchFamily="34" charset="0"/>
              </a:rPr>
              <a:t>Зеркальный набор С</a:t>
            </a:r>
          </a:p>
        </p:txBody>
      </p:sp>
      <p:sp>
        <p:nvSpPr>
          <p:cNvPr id="14" name="TextBox 4"/>
          <p:cNvSpPr txBox="1"/>
          <p:nvPr/>
        </p:nvSpPr>
        <p:spPr>
          <a:xfrm>
            <a:off x="5867400" y="971550"/>
            <a:ext cx="2743200"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000" b="0" i="0" dirty="0">
                <a:solidFill>
                  <a:srgbClr val="000000"/>
                </a:solidFill>
                <a:latin typeface="Arial" pitchFamily="34" charset="0"/>
                <a:cs typeface="Arial" pitchFamily="34" charset="0"/>
              </a:rPr>
              <a:t>Данные из вычислительной системы</a:t>
            </a:r>
          </a:p>
        </p:txBody>
      </p:sp>
      <p:sp>
        <p:nvSpPr>
          <p:cNvPr id="15" name="TextBox 5"/>
          <p:cNvSpPr txBox="1"/>
          <p:nvPr/>
        </p:nvSpPr>
        <p:spPr>
          <a:xfrm>
            <a:off x="6756400" y="2077692"/>
            <a:ext cx="2743200" cy="2539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000" b="0" i="0" dirty="0">
                <a:solidFill>
                  <a:srgbClr val="000000"/>
                </a:solidFill>
                <a:latin typeface="Arial" pitchFamily="34" charset="0"/>
                <a:cs typeface="Arial" pitchFamily="34" charset="0"/>
              </a:rPr>
              <a:t>Контроллер RAID</a:t>
            </a:r>
          </a:p>
        </p:txBody>
      </p:sp>
      <p:sp>
        <p:nvSpPr>
          <p:cNvPr id="16" name="TextBox 9"/>
          <p:cNvSpPr txBox="1"/>
          <p:nvPr/>
        </p:nvSpPr>
        <p:spPr>
          <a:xfrm>
            <a:off x="4533124" y="1910885"/>
            <a:ext cx="1524000"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800" b="0" i="0" dirty="0">
                <a:solidFill>
                  <a:srgbClr val="FFFFFF"/>
                </a:solidFill>
                <a:latin typeface="Arial" pitchFamily="34" charset="0"/>
                <a:cs typeface="Arial" pitchFamily="34" charset="0"/>
              </a:rPr>
              <a:t>Распределение</a:t>
            </a:r>
          </a:p>
        </p:txBody>
      </p:sp>
      <p:sp>
        <p:nvSpPr>
          <p:cNvPr id="17" name="TextBox 2"/>
          <p:cNvSpPr txBox="1"/>
          <p:nvPr/>
        </p:nvSpPr>
        <p:spPr>
          <a:xfrm>
            <a:off x="3618724" y="2237216"/>
            <a:ext cx="1524000"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800" b="0" i="0" dirty="0">
                <a:solidFill>
                  <a:srgbClr val="FFFFFF"/>
                </a:solidFill>
                <a:latin typeface="Arial" pitchFamily="34" charset="0"/>
                <a:cs typeface="Arial" pitchFamily="34" charset="0"/>
              </a:rPr>
              <a:t>Зеркалирование</a:t>
            </a:r>
          </a:p>
        </p:txBody>
      </p:sp>
      <p:sp>
        <p:nvSpPr>
          <p:cNvPr id="18" name="TextBox 2"/>
          <p:cNvSpPr txBox="1"/>
          <p:nvPr/>
        </p:nvSpPr>
        <p:spPr>
          <a:xfrm>
            <a:off x="4528460" y="2236725"/>
            <a:ext cx="1524000"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800" b="0" i="0" dirty="0">
                <a:solidFill>
                  <a:srgbClr val="FFFFFF"/>
                </a:solidFill>
                <a:latin typeface="Arial" pitchFamily="34" charset="0"/>
                <a:cs typeface="Arial" pitchFamily="34" charset="0"/>
              </a:rPr>
              <a:t>Зеркалирование</a:t>
            </a:r>
          </a:p>
        </p:txBody>
      </p:sp>
      <p:sp>
        <p:nvSpPr>
          <p:cNvPr id="19" name="TextBox 2"/>
          <p:cNvSpPr txBox="1"/>
          <p:nvPr/>
        </p:nvSpPr>
        <p:spPr>
          <a:xfrm>
            <a:off x="5447837" y="2237405"/>
            <a:ext cx="1524000"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800" b="0" i="0" dirty="0">
                <a:solidFill>
                  <a:srgbClr val="FFFFFF"/>
                </a:solidFill>
                <a:latin typeface="Arial" pitchFamily="34" charset="0"/>
                <a:cs typeface="Arial" pitchFamily="34" charset="0"/>
              </a:rPr>
              <a:t>Зеркалирование</a:t>
            </a:r>
          </a:p>
        </p:txBody>
      </p:sp>
      <p:sp>
        <p:nvSpPr>
          <p:cNvPr id="13" name="TextBox 12"/>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3416374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RAID 3</a:t>
            </a:r>
          </a:p>
        </p:txBody>
      </p:sp>
      <p:pic>
        <p:nvPicPr>
          <p:cNvPr id="4098" name="Picture 2"/>
          <p:cNvPicPr>
            <a:picLocks noChangeAspect="1" noChangeArrowheads="1"/>
          </p:cNvPicPr>
          <p:nvPr/>
        </p:nvPicPr>
        <p:blipFill>
          <a:blip r:embed="rId4"/>
          <a:stretch>
            <a:fillRect/>
          </a:stretch>
        </p:blipFill>
        <p:spPr bwMode="auto">
          <a:xfrm>
            <a:off x="1156704" y="285750"/>
            <a:ext cx="6998620" cy="4596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5"/>
          <p:cNvSpPr txBox="1"/>
          <p:nvPr/>
        </p:nvSpPr>
        <p:spPr>
          <a:xfrm>
            <a:off x="3160776" y="1818894"/>
            <a:ext cx="27432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Контроллер RAID</a:t>
            </a:r>
          </a:p>
        </p:txBody>
      </p:sp>
      <p:sp>
        <p:nvSpPr>
          <p:cNvPr id="6" name="TextBox 4"/>
          <p:cNvSpPr txBox="1"/>
          <p:nvPr/>
        </p:nvSpPr>
        <p:spPr>
          <a:xfrm>
            <a:off x="5647944" y="648831"/>
            <a:ext cx="33528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200" b="0" i="0" dirty="0">
                <a:solidFill>
                  <a:srgbClr val="000000"/>
                </a:solidFill>
                <a:latin typeface="Arial" pitchFamily="34" charset="0"/>
                <a:cs typeface="Arial" pitchFamily="34" charset="0"/>
              </a:rPr>
              <a:t>Данные из вычислительной системы</a:t>
            </a:r>
          </a:p>
        </p:txBody>
      </p:sp>
      <p:sp>
        <p:nvSpPr>
          <p:cNvPr id="7" name="TextBox 6"/>
          <p:cNvSpPr txBox="1"/>
          <p:nvPr/>
        </p:nvSpPr>
        <p:spPr>
          <a:xfrm>
            <a:off x="2953512" y="4552950"/>
            <a:ext cx="11430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Диск данных</a:t>
            </a:r>
          </a:p>
        </p:txBody>
      </p:sp>
      <p:sp>
        <p:nvSpPr>
          <p:cNvPr id="8" name="TextBox 7"/>
          <p:cNvSpPr txBox="1"/>
          <p:nvPr/>
        </p:nvSpPr>
        <p:spPr>
          <a:xfrm>
            <a:off x="6592824" y="4363974"/>
            <a:ext cx="1292352"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Выделенный</a:t>
            </a:r>
            <a:br>
              <a:rPr lang="en-US" sz="1200" b="0" i="0" dirty="0">
                <a:solidFill>
                  <a:srgbClr val="FF00FF"/>
                </a:solidFill>
                <a:latin typeface="Arial" pitchFamily="34" charset="0"/>
                <a:cs typeface="Arial" pitchFamily="34" charset="0"/>
              </a:rPr>
            </a:br>
            <a:r>
              <a:rPr lang="ru-RU" sz="1200" b="0" i="0" dirty="0">
                <a:solidFill>
                  <a:srgbClr val="000000"/>
                </a:solidFill>
                <a:latin typeface="Arial" pitchFamily="34" charset="0"/>
                <a:cs typeface="Arial" pitchFamily="34" charset="0"/>
              </a:rPr>
              <a:t>диск четности</a:t>
            </a:r>
          </a:p>
        </p:txBody>
      </p:sp>
      <p:sp>
        <p:nvSpPr>
          <p:cNvPr id="9" name="TextBox 8"/>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252335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RAID 5</a:t>
            </a:r>
          </a:p>
        </p:txBody>
      </p:sp>
      <p:pic>
        <p:nvPicPr>
          <p:cNvPr id="5122" name="Picture 2"/>
          <p:cNvPicPr>
            <a:picLocks noChangeAspect="1" noChangeArrowheads="1"/>
          </p:cNvPicPr>
          <p:nvPr/>
        </p:nvPicPr>
        <p:blipFill>
          <a:blip r:embed="rId4"/>
          <a:stretch>
            <a:fillRect/>
          </a:stretch>
        </p:blipFill>
        <p:spPr bwMode="auto">
          <a:xfrm>
            <a:off x="1162067" y="209550"/>
            <a:ext cx="6830979" cy="4594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6"/>
          <p:cNvSpPr txBox="1"/>
          <p:nvPr/>
        </p:nvSpPr>
        <p:spPr>
          <a:xfrm>
            <a:off x="2859024" y="4552950"/>
            <a:ext cx="27432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Распределенная четность</a:t>
            </a:r>
          </a:p>
        </p:txBody>
      </p:sp>
      <p:sp>
        <p:nvSpPr>
          <p:cNvPr id="6" name="TextBox 5"/>
          <p:cNvSpPr txBox="1"/>
          <p:nvPr/>
        </p:nvSpPr>
        <p:spPr>
          <a:xfrm>
            <a:off x="3142488" y="1742694"/>
            <a:ext cx="27432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Контроллер RAID</a:t>
            </a:r>
          </a:p>
        </p:txBody>
      </p:sp>
      <p:sp>
        <p:nvSpPr>
          <p:cNvPr id="7" name="TextBox 4"/>
          <p:cNvSpPr txBox="1"/>
          <p:nvPr/>
        </p:nvSpPr>
        <p:spPr>
          <a:xfrm>
            <a:off x="5715000" y="590550"/>
            <a:ext cx="32766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200" b="0" i="0" dirty="0">
                <a:solidFill>
                  <a:srgbClr val="000000"/>
                </a:solidFill>
                <a:latin typeface="Arial" pitchFamily="34" charset="0"/>
                <a:cs typeface="Arial" pitchFamily="34" charset="0"/>
              </a:rPr>
              <a:t>Данные из вычислительной системы</a:t>
            </a:r>
          </a:p>
        </p:txBody>
      </p:sp>
      <p:sp>
        <p:nvSpPr>
          <p:cNvPr id="8" name="TextBox 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2939901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RAID 6</a:t>
            </a:r>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66490" y="285750"/>
            <a:ext cx="6809362"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5638800" y="636270"/>
            <a:ext cx="34290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200" b="0" i="0" dirty="0">
                <a:solidFill>
                  <a:srgbClr val="000000"/>
                </a:solidFill>
                <a:latin typeface="Arial" pitchFamily="34" charset="0"/>
                <a:cs typeface="Arial" pitchFamily="34" charset="0"/>
              </a:rPr>
              <a:t>Данные из вычислительной системы</a:t>
            </a:r>
          </a:p>
        </p:txBody>
      </p:sp>
      <p:sp>
        <p:nvSpPr>
          <p:cNvPr id="6" name="TextBox 5"/>
          <p:cNvSpPr txBox="1"/>
          <p:nvPr/>
        </p:nvSpPr>
        <p:spPr>
          <a:xfrm>
            <a:off x="3172968" y="1818894"/>
            <a:ext cx="27432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Контроллер RAID</a:t>
            </a:r>
          </a:p>
        </p:txBody>
      </p:sp>
      <p:sp>
        <p:nvSpPr>
          <p:cNvPr id="7" name="TextBox 7"/>
          <p:cNvSpPr txBox="1"/>
          <p:nvPr/>
        </p:nvSpPr>
        <p:spPr>
          <a:xfrm>
            <a:off x="2859024" y="4552950"/>
            <a:ext cx="2743200"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Двойная распределенная четность</a:t>
            </a:r>
          </a:p>
        </p:txBody>
      </p:sp>
      <p:sp>
        <p:nvSpPr>
          <p:cNvPr id="8" name="TextBox 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216791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Воздействие массивов RAID на производительность</a:t>
            </a:r>
          </a:p>
        </p:txBody>
      </p:sp>
      <p:sp>
        <p:nvSpPr>
          <p:cNvPr id="3" name="Content Placeholder 2"/>
          <p:cNvSpPr>
            <a:spLocks noGrp="1"/>
          </p:cNvSpPr>
          <p:nvPr>
            <p:ph sz="quarter" idx="10"/>
          </p:nvPr>
        </p:nvSpPr>
        <p:spPr>
          <a:xfrm>
            <a:off x="379414" y="3000756"/>
            <a:ext cx="8458200" cy="1543050"/>
          </a:xfrm>
        </p:spPr>
        <p:txBody>
          <a:bodyPr/>
          <a:lstStyle/>
          <a:p>
            <a:pPr marL="228600" lvl="1" indent="-228600">
              <a:spcBef>
                <a:spcPts val="1200"/>
              </a:spcBef>
              <a:buFont typeface="Arial"/>
              <a:buChar char="•"/>
            </a:pPr>
            <a:r>
              <a:rPr lang="ru-RU" sz="1400" b="0" i="0" dirty="0">
                <a:solidFill>
                  <a:srgbClr val="000000"/>
                </a:solidFill>
                <a:latin typeface="Arial" pitchFamily="34" charset="0"/>
                <a:cs typeface="Arial" pitchFamily="34" charset="0"/>
              </a:rPr>
              <a:t>В RAID 5 каждая запись (обновление) на диск оформляется как четыре операции ввода-вывода </a:t>
            </a:r>
            <a:br>
              <a:rPr lang="en-US" sz="1400" b="0" i="0" dirty="0">
                <a:solidFill>
                  <a:srgbClr val="FF00FF"/>
                </a:solidFill>
                <a:latin typeface="Arial" pitchFamily="34" charset="0"/>
                <a:cs typeface="Arial" pitchFamily="34" charset="0"/>
              </a:rPr>
            </a:br>
            <a:r>
              <a:rPr lang="ru-RU" sz="1400" b="0" i="0" dirty="0">
                <a:solidFill>
                  <a:srgbClr val="000000"/>
                </a:solidFill>
                <a:latin typeface="Arial" pitchFamily="34" charset="0"/>
                <a:cs typeface="Arial" pitchFamily="34" charset="0"/>
              </a:rPr>
              <a:t>(2 чтения диска и 2 записи диска)</a:t>
            </a:r>
          </a:p>
          <a:p>
            <a:r>
              <a:rPr lang="ru-RU" sz="1400" b="0" i="0" dirty="0">
                <a:solidFill>
                  <a:srgbClr val="000000"/>
                </a:solidFill>
                <a:latin typeface="Arial" pitchFamily="34" charset="0"/>
                <a:cs typeface="Arial" pitchFamily="34" charset="0"/>
              </a:rPr>
              <a:t>В RAID 6 каждая запись (обновление) на диск оформляется как шесть операций ввода-вывода</a:t>
            </a:r>
            <a:br>
              <a:rPr lang="en-US" sz="1400" b="0" i="0" dirty="0">
                <a:solidFill>
                  <a:srgbClr val="FF00FF"/>
                </a:solidFill>
                <a:latin typeface="Arial" pitchFamily="34" charset="0"/>
                <a:cs typeface="Arial" pitchFamily="34" charset="0"/>
              </a:rPr>
            </a:br>
            <a:r>
              <a:rPr lang="ru-RU" sz="1400" b="0" i="0" dirty="0">
                <a:solidFill>
                  <a:srgbClr val="000000"/>
                </a:solidFill>
                <a:latin typeface="Arial" pitchFamily="34" charset="0"/>
                <a:cs typeface="Arial" pitchFamily="34" charset="0"/>
              </a:rPr>
              <a:t> (3 чтения диска и 3 записи диска)</a:t>
            </a:r>
          </a:p>
          <a:p>
            <a:r>
              <a:rPr lang="ru-RU" sz="1400" b="0" i="0" dirty="0">
                <a:solidFill>
                  <a:srgbClr val="000000"/>
                </a:solidFill>
                <a:latin typeface="Arial" pitchFamily="34" charset="0"/>
                <a:cs typeface="Arial" pitchFamily="34" charset="0"/>
              </a:rPr>
              <a:t>В RAID 1 каждая запись оформляется как две операции ввода-вывода (2 записи диска)</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059488" y="742950"/>
            <a:ext cx="502502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6"/>
          <p:cNvSpPr txBox="1"/>
          <p:nvPr/>
        </p:nvSpPr>
        <p:spPr>
          <a:xfrm>
            <a:off x="2304288" y="1065856"/>
            <a:ext cx="2133600"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400" b="0" i="0" dirty="0">
                <a:solidFill>
                  <a:srgbClr val="FFFFFF"/>
                </a:solidFill>
                <a:latin typeface="Arial" pitchFamily="34" charset="0"/>
                <a:cs typeface="Arial" pitchFamily="34" charset="0"/>
              </a:rPr>
              <a:t>C</a:t>
            </a:r>
            <a:r>
              <a:rPr lang="ru-RU" sz="800" b="0" i="0" dirty="0">
                <a:solidFill>
                  <a:srgbClr val="FFFFFF"/>
                </a:solidFill>
                <a:latin typeface="Arial" pitchFamily="34" charset="0"/>
                <a:cs typeface="Arial" pitchFamily="34" charset="0"/>
              </a:rPr>
              <a:t>p новый</a:t>
            </a:r>
          </a:p>
        </p:txBody>
      </p:sp>
      <p:sp>
        <p:nvSpPr>
          <p:cNvPr id="7" name="TextBox 5"/>
          <p:cNvSpPr txBox="1"/>
          <p:nvPr/>
        </p:nvSpPr>
        <p:spPr>
          <a:xfrm>
            <a:off x="3621024" y="721068"/>
            <a:ext cx="1494183" cy="2308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900" b="1" i="0" dirty="0">
                <a:solidFill>
                  <a:srgbClr val="000000"/>
                </a:solidFill>
                <a:latin typeface="Arial" pitchFamily="34" charset="0"/>
                <a:cs typeface="Arial" pitchFamily="34" charset="0"/>
              </a:rPr>
              <a:t>Контроллер RAID</a:t>
            </a:r>
          </a:p>
        </p:txBody>
      </p:sp>
      <p:sp>
        <p:nvSpPr>
          <p:cNvPr id="8" name="TextBox 7"/>
          <p:cNvSpPr txBox="1"/>
          <p:nvPr/>
        </p:nvSpPr>
        <p:spPr>
          <a:xfrm>
            <a:off x="5818632" y="1079690"/>
            <a:ext cx="2133600"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400" b="0" i="0" dirty="0">
                <a:solidFill>
                  <a:srgbClr val="FFFFFF"/>
                </a:solidFill>
                <a:latin typeface="Arial" pitchFamily="34" charset="0"/>
                <a:cs typeface="Arial" pitchFamily="34" charset="0"/>
              </a:rPr>
              <a:t>C</a:t>
            </a:r>
            <a:r>
              <a:rPr lang="ru-RU" sz="800" b="0" i="0" dirty="0">
                <a:solidFill>
                  <a:srgbClr val="FFFFFF"/>
                </a:solidFill>
                <a:latin typeface="Arial" pitchFamily="34" charset="0"/>
                <a:cs typeface="Arial" pitchFamily="34" charset="0"/>
              </a:rPr>
              <a:t>4 новый</a:t>
            </a:r>
            <a:endParaRPr lang="ru-RU" sz="1000" b="0" i="0" dirty="0">
              <a:solidFill>
                <a:srgbClr val="FFFFFF"/>
              </a:solidFill>
              <a:latin typeface="Arial" pitchFamily="34" charset="0"/>
              <a:cs typeface="Arial" pitchFamily="34" charset="0"/>
            </a:endParaRPr>
          </a:p>
        </p:txBody>
      </p:sp>
      <p:sp>
        <p:nvSpPr>
          <p:cNvPr id="9" name="TextBox 8"/>
          <p:cNvSpPr txBox="1"/>
          <p:nvPr/>
        </p:nvSpPr>
        <p:spPr>
          <a:xfrm>
            <a:off x="4585434" y="1079690"/>
            <a:ext cx="940589"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400" b="0" i="0" dirty="0">
                <a:solidFill>
                  <a:srgbClr val="FFFFFF"/>
                </a:solidFill>
                <a:latin typeface="Arial" pitchFamily="34" charset="0"/>
                <a:cs typeface="Arial" pitchFamily="34" charset="0"/>
              </a:rPr>
              <a:t>C</a:t>
            </a:r>
            <a:r>
              <a:rPr lang="ru-RU" sz="800" b="0" i="0" dirty="0">
                <a:solidFill>
                  <a:srgbClr val="FFFFFF"/>
                </a:solidFill>
                <a:latin typeface="Arial" pitchFamily="34" charset="0"/>
                <a:cs typeface="Arial" pitchFamily="34" charset="0"/>
              </a:rPr>
              <a:t>4 старый</a:t>
            </a:r>
            <a:endParaRPr lang="ru-RU" sz="1000" b="0" i="0" dirty="0">
              <a:solidFill>
                <a:srgbClr val="FFFFFF"/>
              </a:solidFill>
              <a:latin typeface="Arial" pitchFamily="34" charset="0"/>
              <a:cs typeface="Arial" pitchFamily="34" charset="0"/>
            </a:endParaRPr>
          </a:p>
        </p:txBody>
      </p:sp>
      <p:sp>
        <p:nvSpPr>
          <p:cNvPr id="10" name="TextBox 9"/>
          <p:cNvSpPr txBox="1"/>
          <p:nvPr/>
        </p:nvSpPr>
        <p:spPr>
          <a:xfrm>
            <a:off x="3440051" y="1070546"/>
            <a:ext cx="929308"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400" b="0" i="0" dirty="0">
                <a:solidFill>
                  <a:srgbClr val="FFFFFF"/>
                </a:solidFill>
                <a:latin typeface="Arial" pitchFamily="34" charset="0"/>
                <a:cs typeface="Arial" pitchFamily="34" charset="0"/>
              </a:rPr>
              <a:t>C</a:t>
            </a:r>
            <a:r>
              <a:rPr lang="ru-RU" sz="800" b="0" i="0" dirty="0">
                <a:solidFill>
                  <a:srgbClr val="FFFFFF"/>
                </a:solidFill>
                <a:latin typeface="Arial" pitchFamily="34" charset="0"/>
                <a:cs typeface="Arial" pitchFamily="34" charset="0"/>
              </a:rPr>
              <a:t>p старый</a:t>
            </a:r>
            <a:endParaRPr lang="ru-RU" sz="1000" b="0" i="0" dirty="0">
              <a:solidFill>
                <a:srgbClr val="FFFFFF"/>
              </a:solidFill>
              <a:latin typeface="Arial" pitchFamily="34" charset="0"/>
              <a:cs typeface="Arial" pitchFamily="34" charset="0"/>
            </a:endParaRPr>
          </a:p>
        </p:txBody>
      </p:sp>
      <p:sp>
        <p:nvSpPr>
          <p:cNvPr id="11" name="TextBox 1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35</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6912776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Сравнение массивов RAID</a:t>
            </a:r>
          </a:p>
        </p:txBody>
      </p:sp>
      <p:graphicFrame>
        <p:nvGraphicFramePr>
          <p:cNvPr id="5" name="Content Placeholder 8"/>
          <p:cNvGraphicFramePr>
            <a:graphicFrameLocks noGrp="1"/>
          </p:cNvGraphicFramePr>
          <p:nvPr>
            <p:ph idx="4294967295"/>
            <p:extLst>
              <p:ext uri="{D42A27DB-BD31-4B8C-83A1-F6EECF244321}">
                <p14:modId xmlns:p14="http://schemas.microsoft.com/office/powerpoint/2010/main" val="2172490865"/>
              </p:ext>
            </p:extLst>
          </p:nvPr>
        </p:nvGraphicFramePr>
        <p:xfrm>
          <a:off x="571501" y="971550"/>
          <a:ext cx="7810499" cy="3352800"/>
        </p:xfrm>
        <a:graphic>
          <a:graphicData uri="http://schemas.openxmlformats.org/drawingml/2006/table">
            <a:tbl>
              <a:tblPr firstRow="1" bandRow="1">
                <a:tableStyleId>{5C22544A-7EE6-4342-B048-85BDC9FD1C3A}</a:tableStyleId>
              </a:tblPr>
              <a:tblGrid>
                <a:gridCol w="1181099">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2362200">
                  <a:extLst>
                    <a:ext uri="{9D8B030D-6E8A-4147-A177-3AD203B41FA5}">
                      <a16:colId xmlns:a16="http://schemas.microsoft.com/office/drawing/2014/main" val="20004"/>
                    </a:ext>
                  </a:extLst>
                </a:gridCol>
              </a:tblGrid>
              <a:tr h="622662">
                <a:tc>
                  <a:txBody>
                    <a:bodyPr/>
                    <a:lstStyle/>
                    <a:p>
                      <a:pPr algn="l"/>
                      <a:r>
                        <a:rPr lang="ru-RU" sz="1100" b="1" i="0" dirty="0">
                          <a:solidFill>
                            <a:srgbClr val="FFFFFF"/>
                          </a:solidFill>
                          <a:latin typeface="Arial" pitchFamily="34" charset="0"/>
                          <a:cs typeface="Arial" pitchFamily="34" charset="0"/>
                        </a:rPr>
                        <a:t>Уровень RAID</a:t>
                      </a:r>
                    </a:p>
                  </a:txBody>
                  <a:tcPr anchor="ctr"/>
                </a:tc>
                <a:tc>
                  <a:txBody>
                    <a:bodyPr/>
                    <a:lstStyle/>
                    <a:p>
                      <a:pPr algn="l"/>
                      <a:r>
                        <a:rPr lang="ru-RU" sz="1100" b="1" i="0" dirty="0">
                          <a:solidFill>
                            <a:srgbClr val="FFFFFF"/>
                          </a:solidFill>
                          <a:latin typeface="Arial" pitchFamily="34" charset="0"/>
                          <a:cs typeface="Arial" pitchFamily="34" charset="0"/>
                        </a:rPr>
                        <a:t>Мин. кол-во дисков</a:t>
                      </a:r>
                    </a:p>
                  </a:txBody>
                  <a:tcPr anchor="ctr"/>
                </a:tc>
                <a:tc>
                  <a:txBody>
                    <a:bodyPr/>
                    <a:lstStyle/>
                    <a:p>
                      <a:pPr algn="l"/>
                      <a:r>
                        <a:rPr lang="ru-RU" sz="1100" b="1" i="0" dirty="0">
                          <a:solidFill>
                            <a:srgbClr val="FFFFFF"/>
                          </a:solidFill>
                          <a:latin typeface="Arial" pitchFamily="34" charset="0"/>
                          <a:cs typeface="Arial" pitchFamily="34" charset="0"/>
                        </a:rPr>
                        <a:t>Доступная емкость ресурсов хранения (%)</a:t>
                      </a:r>
                    </a:p>
                  </a:txBody>
                  <a:tcPr anchor="ctr"/>
                </a:tc>
                <a:tc>
                  <a:txBody>
                    <a:bodyPr/>
                    <a:lstStyle/>
                    <a:p>
                      <a:pPr algn="l"/>
                      <a:r>
                        <a:rPr lang="ru-RU" sz="1100" b="1" i="0" dirty="0">
                          <a:solidFill>
                            <a:srgbClr val="FFFFFF"/>
                          </a:solidFill>
                          <a:latin typeface="Arial" pitchFamily="34" charset="0"/>
                          <a:cs typeface="Arial" pitchFamily="34" charset="0"/>
                        </a:rPr>
                        <a:t>Дополнительные издержки записи</a:t>
                      </a:r>
                    </a:p>
                  </a:txBody>
                  <a:tcPr anchor="ctr"/>
                </a:tc>
                <a:tc>
                  <a:txBody>
                    <a:bodyPr/>
                    <a:lstStyle/>
                    <a:p>
                      <a:pPr algn="l"/>
                      <a:r>
                        <a:rPr lang="ru-RU" sz="1100" b="1" i="0" dirty="0">
                          <a:solidFill>
                            <a:srgbClr val="FFFFFF"/>
                          </a:solidFill>
                          <a:latin typeface="Arial" pitchFamily="34" charset="0"/>
                          <a:cs typeface="Arial" pitchFamily="34" charset="0"/>
                        </a:rPr>
                        <a:t>Защита данных</a:t>
                      </a:r>
                    </a:p>
                  </a:txBody>
                  <a:tcPr anchor="ctr"/>
                </a:tc>
                <a:extLst>
                  <a:ext uri="{0D108BD9-81ED-4DB2-BD59-A6C34878D82A}">
                    <a16:rowId xmlns:a16="http://schemas.microsoft.com/office/drawing/2014/main" val="10000"/>
                  </a:ext>
                </a:extLst>
              </a:tr>
              <a:tr h="702492">
                <a:tc>
                  <a:txBody>
                    <a:bodyPr/>
                    <a:lstStyle/>
                    <a:p>
                      <a:pPr algn="l"/>
                      <a:r>
                        <a:rPr lang="ru-RU" sz="1100" b="0" i="0" dirty="0">
                          <a:solidFill>
                            <a:srgbClr val="000000"/>
                          </a:solidFill>
                          <a:latin typeface="Arial" pitchFamily="34" charset="0"/>
                          <a:cs typeface="Arial" pitchFamily="34" charset="0"/>
                        </a:rPr>
                        <a:t>1</a:t>
                      </a:r>
                    </a:p>
                  </a:txBody>
                  <a:tcPr anchor="ctr"/>
                </a:tc>
                <a:tc>
                  <a:txBody>
                    <a:bodyPr/>
                    <a:lstStyle/>
                    <a:p>
                      <a:pPr algn="l"/>
                      <a:r>
                        <a:rPr lang="ru-RU" sz="1100" b="0" i="0" dirty="0">
                          <a:solidFill>
                            <a:srgbClr val="000000"/>
                          </a:solidFill>
                          <a:latin typeface="Arial" pitchFamily="34" charset="0"/>
                          <a:cs typeface="Arial" pitchFamily="34" charset="0"/>
                        </a:rPr>
                        <a:t>2</a:t>
                      </a:r>
                    </a:p>
                  </a:txBody>
                  <a:tcPr anchor="ctr"/>
                </a:tc>
                <a:tc>
                  <a:txBody>
                    <a:bodyPr/>
                    <a:lstStyle/>
                    <a:p>
                      <a:pPr algn="l"/>
                      <a:r>
                        <a:rPr lang="ru-RU" sz="1100" b="0" i="0" dirty="0">
                          <a:solidFill>
                            <a:srgbClr val="000000"/>
                          </a:solidFill>
                          <a:latin typeface="Arial" pitchFamily="34" charset="0"/>
                          <a:cs typeface="Arial" pitchFamily="34" charset="0"/>
                        </a:rPr>
                        <a:t>50</a:t>
                      </a:r>
                    </a:p>
                  </a:txBody>
                  <a:tcPr anchor="ctr"/>
                </a:tc>
                <a:tc>
                  <a:txBody>
                    <a:bodyPr/>
                    <a:lstStyle/>
                    <a:p>
                      <a:pPr algn="l"/>
                      <a:r>
                        <a:rPr lang="ru-RU" sz="1100" b="0" i="0" dirty="0">
                          <a:solidFill>
                            <a:srgbClr val="000000"/>
                          </a:solidFill>
                          <a:latin typeface="Arial" pitchFamily="34" charset="0"/>
                          <a:cs typeface="Arial" pitchFamily="34" charset="0"/>
                        </a:rPr>
                        <a:t>2</a:t>
                      </a:r>
                    </a:p>
                  </a:txBody>
                  <a:tcPr anchor="ctr"/>
                </a:tc>
                <a:tc>
                  <a:txBody>
                    <a:bodyPr/>
                    <a:lstStyle/>
                    <a:p>
                      <a:pPr algn="l"/>
                      <a:r>
                        <a:rPr lang="ru-RU" sz="1100" b="0" i="0" dirty="0">
                          <a:solidFill>
                            <a:srgbClr val="000000"/>
                          </a:solidFill>
                          <a:latin typeface="Arial" pitchFamily="34" charset="0"/>
                          <a:cs typeface="Arial" pitchFamily="34" charset="0"/>
                        </a:rPr>
                        <a:t>Зеркало</a:t>
                      </a:r>
                    </a:p>
                  </a:txBody>
                  <a:tcPr anchor="ctr"/>
                </a:tc>
                <a:extLst>
                  <a:ext uri="{0D108BD9-81ED-4DB2-BD59-A6C34878D82A}">
                    <a16:rowId xmlns:a16="http://schemas.microsoft.com/office/drawing/2014/main" val="10001"/>
                  </a:ext>
                </a:extLst>
              </a:tr>
              <a:tr h="271418">
                <a:tc>
                  <a:txBody>
                    <a:bodyPr/>
                    <a:lstStyle/>
                    <a:p>
                      <a:pPr algn="l"/>
                      <a:r>
                        <a:rPr lang="ru-RU" sz="1100" b="0" i="0" dirty="0">
                          <a:solidFill>
                            <a:srgbClr val="000000"/>
                          </a:solidFill>
                          <a:latin typeface="Arial" pitchFamily="34" charset="0"/>
                          <a:cs typeface="Arial" pitchFamily="34" charset="0"/>
                        </a:rPr>
                        <a:t>1+0</a:t>
                      </a:r>
                    </a:p>
                  </a:txBody>
                  <a:tcPr anchor="ctr"/>
                </a:tc>
                <a:tc>
                  <a:txBody>
                    <a:bodyPr/>
                    <a:lstStyle/>
                    <a:p>
                      <a:pPr algn="l"/>
                      <a:r>
                        <a:rPr lang="ru-RU" sz="1100" b="0" i="0" dirty="0">
                          <a:solidFill>
                            <a:srgbClr val="000000"/>
                          </a:solidFill>
                          <a:latin typeface="Arial" pitchFamily="34" charset="0"/>
                          <a:cs typeface="Arial" pitchFamily="34" charset="0"/>
                        </a:rPr>
                        <a:t>4</a:t>
                      </a:r>
                    </a:p>
                  </a:txBody>
                  <a:tcPr anchor="ctr"/>
                </a:tc>
                <a:tc>
                  <a:txBody>
                    <a:bodyPr/>
                    <a:lstStyle/>
                    <a:p>
                      <a:pPr algn="l"/>
                      <a:r>
                        <a:rPr lang="ru-RU" sz="1100" b="0" i="0" dirty="0">
                          <a:solidFill>
                            <a:srgbClr val="000000"/>
                          </a:solidFill>
                          <a:latin typeface="Arial" pitchFamily="34" charset="0"/>
                          <a:cs typeface="Arial" pitchFamily="34" charset="0"/>
                        </a:rPr>
                        <a:t>50</a:t>
                      </a:r>
                    </a:p>
                  </a:txBody>
                  <a:tcPr anchor="ctr"/>
                </a:tc>
                <a:tc>
                  <a:txBody>
                    <a:bodyPr/>
                    <a:lstStyle/>
                    <a:p>
                      <a:pPr algn="l"/>
                      <a:r>
                        <a:rPr lang="ru-RU" sz="1100" b="0" i="0" dirty="0">
                          <a:solidFill>
                            <a:srgbClr val="000000"/>
                          </a:solidFill>
                          <a:latin typeface="Arial" pitchFamily="34" charset="0"/>
                          <a:cs typeface="Arial" pitchFamily="34" charset="0"/>
                        </a:rPr>
                        <a:t>2</a:t>
                      </a:r>
                    </a:p>
                  </a:txBody>
                  <a:tcPr anchor="ctr"/>
                </a:tc>
                <a:tc>
                  <a:txBody>
                    <a:bodyPr/>
                    <a:lstStyle/>
                    <a:p>
                      <a:pPr algn="l"/>
                      <a:r>
                        <a:rPr lang="ru-RU" sz="1100" b="0" i="0" dirty="0">
                          <a:solidFill>
                            <a:srgbClr val="000000"/>
                          </a:solidFill>
                          <a:latin typeface="Arial" pitchFamily="34" charset="0"/>
                          <a:cs typeface="Arial" pitchFamily="34" charset="0"/>
                        </a:rPr>
                        <a:t>Зеркало</a:t>
                      </a:r>
                    </a:p>
                  </a:txBody>
                  <a:tcPr anchor="ctr"/>
                </a:tc>
                <a:extLst>
                  <a:ext uri="{0D108BD9-81ED-4DB2-BD59-A6C34878D82A}">
                    <a16:rowId xmlns:a16="http://schemas.microsoft.com/office/drawing/2014/main" val="10002"/>
                  </a:ext>
                </a:extLst>
              </a:tr>
              <a:tr h="702492">
                <a:tc>
                  <a:txBody>
                    <a:bodyPr/>
                    <a:lstStyle/>
                    <a:p>
                      <a:pPr algn="l"/>
                      <a:r>
                        <a:rPr lang="ru-RU" sz="1100" b="0" i="0" dirty="0">
                          <a:solidFill>
                            <a:srgbClr val="000000"/>
                          </a:solidFill>
                          <a:latin typeface="Arial" pitchFamily="34" charset="0"/>
                          <a:cs typeface="Arial" pitchFamily="34" charset="0"/>
                        </a:rPr>
                        <a:t>3</a:t>
                      </a:r>
                    </a:p>
                  </a:txBody>
                  <a:tcPr anchor="ctr"/>
                </a:tc>
                <a:tc>
                  <a:txBody>
                    <a:bodyPr/>
                    <a:lstStyle/>
                    <a:p>
                      <a:pPr algn="l"/>
                      <a:r>
                        <a:rPr lang="ru-RU" sz="1100" b="0" i="0" dirty="0">
                          <a:solidFill>
                            <a:srgbClr val="000000"/>
                          </a:solidFill>
                          <a:latin typeface="Arial" pitchFamily="34" charset="0"/>
                          <a:cs typeface="Arial" pitchFamily="34" charset="0"/>
                        </a:rPr>
                        <a:t>3</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b="0" i="0" dirty="0">
                          <a:solidFill>
                            <a:srgbClr val="000000"/>
                          </a:solidFill>
                          <a:latin typeface="Arial" pitchFamily="34" charset="0"/>
                          <a:cs typeface="Arial" pitchFamily="34" charset="0"/>
                        </a:rPr>
                        <a:t>[(n-1)/n]*100</a:t>
                      </a:r>
                    </a:p>
                  </a:txBody>
                  <a:tcPr anchor="ctr"/>
                </a:tc>
                <a:tc>
                  <a:txBody>
                    <a:bodyPr/>
                    <a:lstStyle/>
                    <a:p>
                      <a:pPr marL="0" marR="0" algn="l">
                        <a:spcBef>
                          <a:spcPts val="600"/>
                        </a:spcBef>
                        <a:spcAft>
                          <a:spcPts val="300"/>
                        </a:spcAft>
                      </a:pPr>
                      <a:r>
                        <a:rPr lang="ru-RU" sz="1100" b="0" i="0" dirty="0">
                          <a:solidFill>
                            <a:srgbClr val="000000"/>
                          </a:solidFill>
                          <a:latin typeface="Arial" pitchFamily="34" charset="0"/>
                          <a:cs typeface="Arial" pitchFamily="34" charset="0"/>
                        </a:rPr>
                        <a:t>4</a:t>
                      </a:r>
                    </a:p>
                  </a:txBody>
                  <a:tcPr marL="68580" marR="68580" marT="0" marB="0" anchor="ctr"/>
                </a:tc>
                <a:tc>
                  <a:txBody>
                    <a:bodyPr/>
                    <a:lstStyle/>
                    <a:p>
                      <a:pPr algn="l"/>
                      <a:r>
                        <a:rPr lang="ru-RU" sz="1100" b="0" i="0" dirty="0">
                          <a:solidFill>
                            <a:srgbClr val="000000"/>
                          </a:solidFill>
                          <a:latin typeface="Arial" pitchFamily="34" charset="0"/>
                          <a:cs typeface="Arial" pitchFamily="34" charset="0"/>
                        </a:rPr>
                        <a:t>Контроль четности (поддерживает один сбой дисков)</a:t>
                      </a:r>
                    </a:p>
                  </a:txBody>
                  <a:tcPr marL="68580" marR="68580" marT="0" marB="0" anchor="ctr"/>
                </a:tc>
                <a:extLst>
                  <a:ext uri="{0D108BD9-81ED-4DB2-BD59-A6C34878D82A}">
                    <a16:rowId xmlns:a16="http://schemas.microsoft.com/office/drawing/2014/main" val="10003"/>
                  </a:ext>
                </a:extLst>
              </a:tr>
              <a:tr h="526868">
                <a:tc>
                  <a:txBody>
                    <a:bodyPr/>
                    <a:lstStyle/>
                    <a:p>
                      <a:pPr algn="l"/>
                      <a:r>
                        <a:rPr lang="ru-RU" sz="1100" b="0" i="0" dirty="0">
                          <a:solidFill>
                            <a:srgbClr val="000000"/>
                          </a:solidFill>
                          <a:latin typeface="Arial" pitchFamily="34" charset="0"/>
                          <a:cs typeface="Arial" pitchFamily="34" charset="0"/>
                        </a:rPr>
                        <a:t>5</a:t>
                      </a:r>
                    </a:p>
                  </a:txBody>
                  <a:tcPr anchor="ctr"/>
                </a:tc>
                <a:tc>
                  <a:txBody>
                    <a:bodyPr/>
                    <a:lstStyle/>
                    <a:p>
                      <a:pPr algn="l"/>
                      <a:r>
                        <a:rPr lang="ru-RU" sz="1100" b="0" i="0" dirty="0">
                          <a:solidFill>
                            <a:srgbClr val="000000"/>
                          </a:solidFill>
                          <a:latin typeface="Arial" pitchFamily="34" charset="0"/>
                          <a:cs typeface="Arial" pitchFamily="34" charset="0"/>
                        </a:rPr>
                        <a:t>3</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b="0" i="0" dirty="0">
                          <a:solidFill>
                            <a:srgbClr val="000000"/>
                          </a:solidFill>
                          <a:latin typeface="Arial" pitchFamily="34" charset="0"/>
                          <a:cs typeface="Arial" pitchFamily="34" charset="0"/>
                        </a:rPr>
                        <a:t>[(n-1)/n]*100</a:t>
                      </a:r>
                    </a:p>
                  </a:txBody>
                  <a:tcPr anchor="ctr"/>
                </a:tc>
                <a:tc>
                  <a:txBody>
                    <a:bodyPr/>
                    <a:lstStyle/>
                    <a:p>
                      <a:pPr marL="0" marR="0" algn="l">
                        <a:spcBef>
                          <a:spcPts val="600"/>
                        </a:spcBef>
                        <a:spcAft>
                          <a:spcPts val="300"/>
                        </a:spcAft>
                      </a:pPr>
                      <a:r>
                        <a:rPr lang="ru-RU" sz="1100" b="0" i="0" dirty="0">
                          <a:solidFill>
                            <a:srgbClr val="000000"/>
                          </a:solidFill>
                          <a:latin typeface="Arial" pitchFamily="34" charset="0"/>
                          <a:cs typeface="Arial" pitchFamily="34" charset="0"/>
                        </a:rPr>
                        <a:t>4</a:t>
                      </a:r>
                    </a:p>
                  </a:txBody>
                  <a:tcPr marL="68580" marR="68580" marT="0" marB="0" anchor="ctr"/>
                </a:tc>
                <a:tc>
                  <a:txBody>
                    <a:bodyPr/>
                    <a:lstStyle/>
                    <a:p>
                      <a:pPr algn="l"/>
                      <a:r>
                        <a:rPr lang="ru-RU" sz="1100" b="0" i="0" dirty="0">
                          <a:solidFill>
                            <a:srgbClr val="000000"/>
                          </a:solidFill>
                          <a:latin typeface="Arial" pitchFamily="34" charset="0"/>
                          <a:cs typeface="Arial" pitchFamily="34" charset="0"/>
                        </a:rPr>
                        <a:t>Контроль четности (поддерживает один сбой дисков)</a:t>
                      </a:r>
                    </a:p>
                  </a:txBody>
                  <a:tcPr marL="68580" marR="68580" marT="0" marB="0" anchor="ctr"/>
                </a:tc>
                <a:extLst>
                  <a:ext uri="{0D108BD9-81ED-4DB2-BD59-A6C34878D82A}">
                    <a16:rowId xmlns:a16="http://schemas.microsoft.com/office/drawing/2014/main" val="10004"/>
                  </a:ext>
                </a:extLst>
              </a:tr>
              <a:tr h="526868">
                <a:tc>
                  <a:txBody>
                    <a:bodyPr/>
                    <a:lstStyle/>
                    <a:p>
                      <a:pPr algn="l"/>
                      <a:r>
                        <a:rPr lang="ru-RU" sz="1100" b="0" i="0" dirty="0">
                          <a:solidFill>
                            <a:srgbClr val="000000"/>
                          </a:solidFill>
                          <a:latin typeface="Arial" pitchFamily="34" charset="0"/>
                          <a:cs typeface="Arial" pitchFamily="34" charset="0"/>
                        </a:rPr>
                        <a:t>6</a:t>
                      </a:r>
                    </a:p>
                  </a:txBody>
                  <a:tcPr anchor="ctr"/>
                </a:tc>
                <a:tc>
                  <a:txBody>
                    <a:bodyPr/>
                    <a:lstStyle/>
                    <a:p>
                      <a:pPr algn="l"/>
                      <a:r>
                        <a:rPr lang="ru-RU" sz="1100" b="0" i="0" dirty="0">
                          <a:solidFill>
                            <a:srgbClr val="000000"/>
                          </a:solidFill>
                          <a:latin typeface="Arial" pitchFamily="34" charset="0"/>
                          <a:cs typeface="Arial" pitchFamily="34" charset="0"/>
                        </a:rPr>
                        <a:t>4</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100" b="0" i="0" dirty="0">
                          <a:solidFill>
                            <a:srgbClr val="000000"/>
                          </a:solidFill>
                          <a:latin typeface="Arial" pitchFamily="34" charset="0"/>
                          <a:cs typeface="Arial" pitchFamily="34" charset="0"/>
                        </a:rPr>
                        <a:t>[(n-2)/n]*100</a:t>
                      </a:r>
                    </a:p>
                  </a:txBody>
                  <a:tcPr anchor="ctr"/>
                </a:tc>
                <a:tc>
                  <a:txBody>
                    <a:bodyPr/>
                    <a:lstStyle/>
                    <a:p>
                      <a:pPr marL="0" marR="0" algn="l">
                        <a:spcBef>
                          <a:spcPts val="600"/>
                        </a:spcBef>
                        <a:spcAft>
                          <a:spcPts val="300"/>
                        </a:spcAft>
                      </a:pPr>
                      <a:r>
                        <a:rPr lang="ru-RU" sz="1100" b="0" i="0" dirty="0">
                          <a:solidFill>
                            <a:srgbClr val="000000"/>
                          </a:solidFill>
                          <a:latin typeface="Arial" pitchFamily="34" charset="0"/>
                          <a:cs typeface="Arial" pitchFamily="34" charset="0"/>
                        </a:rPr>
                        <a:t>6</a:t>
                      </a:r>
                    </a:p>
                  </a:txBody>
                  <a:tcPr marL="68580" marR="68580" marT="0" marB="0" anchor="ctr"/>
                </a:tc>
                <a:tc>
                  <a:txBody>
                    <a:bodyPr/>
                    <a:lstStyle/>
                    <a:p>
                      <a:pPr algn="l"/>
                      <a:r>
                        <a:rPr lang="ru-RU" sz="1100" b="0" i="0" dirty="0">
                          <a:solidFill>
                            <a:srgbClr val="000000"/>
                          </a:solidFill>
                          <a:latin typeface="Arial" pitchFamily="34" charset="0"/>
                          <a:cs typeface="Arial" pitchFamily="34" charset="0"/>
                        </a:rPr>
                        <a:t>Контроль четности (поддерживает два сбоя дисков)</a:t>
                      </a:r>
                    </a:p>
                  </a:txBody>
                  <a:tcPr marL="68580" marR="68580" marT="0" marB="0" anchor="ctr"/>
                </a:tc>
                <a:extLst>
                  <a:ext uri="{0D108BD9-81ED-4DB2-BD59-A6C34878D82A}">
                    <a16:rowId xmlns:a16="http://schemas.microsoft.com/office/drawing/2014/main" val="10005"/>
                  </a:ext>
                </a:extLst>
              </a:tr>
            </a:tbl>
          </a:graphicData>
        </a:graphic>
      </p:graphicFrame>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36</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22648075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Динамическое резервирование дисков («горячее» резервирование)</a:t>
            </a:r>
          </a:p>
        </p:txBody>
      </p:sp>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040301" y="1123950"/>
            <a:ext cx="5063397"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2"/>
          <p:cNvSpPr txBox="1"/>
          <p:nvPr/>
        </p:nvSpPr>
        <p:spPr>
          <a:xfrm>
            <a:off x="5212080" y="2114550"/>
            <a:ext cx="1371600" cy="24622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ru-RU" sz="1000" b="0" i="0" dirty="0">
                <a:solidFill>
                  <a:srgbClr val="000000"/>
                </a:solidFill>
                <a:latin typeface="Arial" pitchFamily="34" charset="0"/>
                <a:cs typeface="Arial" pitchFamily="34" charset="0"/>
              </a:rPr>
              <a:t>Сбойный диск</a:t>
            </a:r>
          </a:p>
        </p:txBody>
      </p:sp>
      <p:sp>
        <p:nvSpPr>
          <p:cNvPr id="7" name="TextBox 6"/>
          <p:cNvSpPr txBox="1"/>
          <p:nvPr/>
        </p:nvSpPr>
        <p:spPr>
          <a:xfrm>
            <a:off x="5114544" y="3028950"/>
            <a:ext cx="1143000"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900" b="0" i="0" dirty="0">
                <a:solidFill>
                  <a:srgbClr val="000000"/>
                </a:solidFill>
                <a:latin typeface="Arial" pitchFamily="34" charset="0"/>
                <a:cs typeface="Arial" pitchFamily="34" charset="0"/>
              </a:rPr>
              <a:t>Замените сбойные диски</a:t>
            </a:r>
          </a:p>
        </p:txBody>
      </p:sp>
      <p:sp>
        <p:nvSpPr>
          <p:cNvPr id="8" name="TextBox 7"/>
          <p:cNvSpPr txBox="1"/>
          <p:nvPr/>
        </p:nvSpPr>
        <p:spPr>
          <a:xfrm>
            <a:off x="5995416" y="3605540"/>
            <a:ext cx="1143000"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900" b="0" i="0" dirty="0">
                <a:solidFill>
                  <a:srgbClr val="000000"/>
                </a:solidFill>
                <a:latin typeface="Arial" pitchFamily="34" charset="0"/>
                <a:cs typeface="Arial" pitchFamily="34" charset="0"/>
              </a:rPr>
              <a:t>Диск «горячего» резерва</a:t>
            </a:r>
          </a:p>
        </p:txBody>
      </p:sp>
      <p:sp>
        <p:nvSpPr>
          <p:cNvPr id="9" name="Rectangle 8"/>
          <p:cNvSpPr/>
          <p:nvPr/>
        </p:nvSpPr>
        <p:spPr>
          <a:xfrm>
            <a:off x="2212309" y="2786741"/>
            <a:ext cx="1064291" cy="461665"/>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Контроллер RAID</a:t>
            </a:r>
          </a:p>
        </p:txBody>
      </p:sp>
      <p:sp>
        <p:nvSpPr>
          <p:cNvPr id="10" name="TextBox 9"/>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37</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8348616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3.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pPr>
              <a:defRPr/>
            </a:pPr>
            <a:r>
              <a:rPr lang="ru-RU" sz="2000" b="0" i="0" dirty="0">
                <a:solidFill>
                  <a:srgbClr val="000000"/>
                </a:solidFill>
                <a:latin typeface="Arial" pitchFamily="34" charset="0"/>
                <a:cs typeface="Arial" pitchFamily="34" charset="0"/>
              </a:rPr>
              <a:t>методы реализации массивов RAID; </a:t>
            </a:r>
          </a:p>
          <a:p>
            <a:pPr>
              <a:defRPr/>
            </a:pPr>
            <a:r>
              <a:rPr lang="ru-RU" sz="2000" b="0" i="0" dirty="0">
                <a:solidFill>
                  <a:srgbClr val="000000"/>
                </a:solidFill>
                <a:latin typeface="Arial" pitchFamily="34" charset="0"/>
                <a:cs typeface="Arial" pitchFamily="34" charset="0"/>
              </a:rPr>
              <a:t>три метода RAID;</a:t>
            </a:r>
          </a:p>
          <a:p>
            <a:pPr>
              <a:defRPr/>
            </a:pPr>
            <a:r>
              <a:rPr lang="ru-RU" sz="2000" b="0" i="0" dirty="0">
                <a:solidFill>
                  <a:srgbClr val="000000"/>
                </a:solidFill>
                <a:latin typeface="Arial" pitchFamily="34" charset="0"/>
                <a:cs typeface="Arial" pitchFamily="34" charset="0"/>
              </a:rPr>
              <a:t>распространенные уровни RAID;</a:t>
            </a:r>
          </a:p>
          <a:p>
            <a:pPr>
              <a:defRPr/>
            </a:pPr>
            <a:r>
              <a:rPr lang="ru-RU" sz="2000" b="0" i="0" dirty="0">
                <a:solidFill>
                  <a:srgbClr val="000000"/>
                </a:solidFill>
                <a:latin typeface="Arial" pitchFamily="34" charset="0"/>
                <a:cs typeface="Arial" pitchFamily="34" charset="0"/>
              </a:rPr>
              <a:t>воздействие массивов RAID на производительность;</a:t>
            </a:r>
          </a:p>
          <a:p>
            <a:pPr>
              <a:defRPr/>
            </a:pPr>
            <a:r>
              <a:rPr lang="ru-RU" sz="2000" b="0" i="0" dirty="0">
                <a:solidFill>
                  <a:srgbClr val="000000"/>
                </a:solidFill>
                <a:latin typeface="Arial" pitchFamily="34" charset="0"/>
                <a:cs typeface="Arial" pitchFamily="34" charset="0"/>
              </a:rPr>
              <a:t>сравнение уровней RAID.</a:t>
            </a: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38</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86475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4. Типы интеллектуальных систем хранения</a:t>
            </a:r>
          </a:p>
        </p:txBody>
      </p:sp>
      <p:sp>
        <p:nvSpPr>
          <p:cNvPr id="5" name="Content Placeholder 4"/>
          <p:cNvSpPr>
            <a:spLocks noGrp="1"/>
          </p:cNvSpPr>
          <p:nvPr>
            <p:ph sz="quarter" idx="10"/>
          </p:nvPr>
        </p:nvSpPr>
        <p:spPr>
          <a:xfrm>
            <a:off x="533402" y="1426464"/>
            <a:ext cx="8077200" cy="2971800"/>
          </a:xfrm>
        </p:spPr>
        <p:txBody>
          <a:bodyPr/>
          <a:lstStyle/>
          <a:p>
            <a:pPr marL="0" indent="0">
              <a:buNone/>
              <a:defRPr/>
            </a:pPr>
            <a:r>
              <a:rPr lang="ru-RU" sz="2000" b="0" i="0" dirty="0">
                <a:solidFill>
                  <a:srgbClr val="000000"/>
                </a:solidFill>
                <a:latin typeface="Arial" pitchFamily="34" charset="0"/>
                <a:cs typeface="Arial" pitchFamily="34" charset="0"/>
              </a:rPr>
              <a:t>В этом уроке рассматриваются следующие темы:</a:t>
            </a:r>
          </a:p>
          <a:p>
            <a:pPr>
              <a:defRPr/>
            </a:pPr>
            <a:r>
              <a:rPr lang="ru-RU" sz="2000" b="0" i="0" dirty="0">
                <a:solidFill>
                  <a:srgbClr val="000000"/>
                </a:solidFill>
                <a:latin typeface="Arial" pitchFamily="34" charset="0"/>
                <a:cs typeface="Arial" pitchFamily="34" charset="0"/>
              </a:rPr>
              <a:t>методы доступа к данным;</a:t>
            </a:r>
          </a:p>
          <a:p>
            <a:pPr>
              <a:defRPr/>
            </a:pPr>
            <a:r>
              <a:rPr lang="ru-RU" sz="2000" b="0" i="0" dirty="0">
                <a:solidFill>
                  <a:srgbClr val="000000"/>
                </a:solidFill>
                <a:latin typeface="Arial" pitchFamily="34" charset="0"/>
                <a:cs typeface="Arial" pitchFamily="34" charset="0"/>
              </a:rPr>
              <a:t>типы интеллектуальных систем хранения;</a:t>
            </a:r>
          </a:p>
          <a:p>
            <a:pPr>
              <a:defRPr/>
            </a:pPr>
            <a:r>
              <a:rPr lang="ru-RU" sz="2000" b="0" i="0" dirty="0">
                <a:solidFill>
                  <a:srgbClr val="000000"/>
                </a:solidFill>
                <a:latin typeface="Arial" pitchFamily="34" charset="0"/>
                <a:cs typeface="Arial" pitchFamily="34" charset="0"/>
              </a:rPr>
              <a:t>вертикально и горизонтально масштабируемые архитектуры.</a:t>
            </a:r>
          </a:p>
        </p:txBody>
      </p:sp>
      <p:sp>
        <p:nvSpPr>
          <p:cNvPr id="6" name="TextBox 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39</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5712186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Методы доступа к данным</a:t>
            </a:r>
          </a:p>
        </p:txBody>
      </p:sp>
      <p:grpSp>
        <p:nvGrpSpPr>
          <p:cNvPr id="43" name="Group 42"/>
          <p:cNvGrpSpPr/>
          <p:nvPr/>
        </p:nvGrpSpPr>
        <p:grpSpPr>
          <a:xfrm>
            <a:off x="244336" y="680976"/>
            <a:ext cx="7832864" cy="4267200"/>
            <a:chOff x="244336" y="717552"/>
            <a:chExt cx="7832864" cy="4267200"/>
          </a:xfrm>
        </p:grpSpPr>
        <p:grpSp>
          <p:nvGrpSpPr>
            <p:cNvPr id="37" name="Group 36"/>
            <p:cNvGrpSpPr/>
            <p:nvPr/>
          </p:nvGrpSpPr>
          <p:grpSpPr>
            <a:xfrm>
              <a:off x="1941576" y="842247"/>
              <a:ext cx="5921669" cy="3923817"/>
              <a:chOff x="497656" y="842247"/>
              <a:chExt cx="5921669" cy="3923817"/>
            </a:xfrm>
          </p:grpSpPr>
          <p:sp>
            <p:nvSpPr>
              <p:cNvPr id="61" name="Line 164"/>
              <p:cNvSpPr>
                <a:spLocks noChangeShapeType="1"/>
              </p:cNvSpPr>
              <p:nvPr/>
            </p:nvSpPr>
            <p:spPr bwMode="auto">
              <a:xfrm flipH="1" flipV="1">
                <a:off x="5604462" y="1231670"/>
                <a:ext cx="0" cy="1341341"/>
              </a:xfrm>
              <a:prstGeom prst="line">
                <a:avLst/>
              </a:prstGeom>
              <a:noFill/>
              <a:ln w="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24" name="Line 164"/>
              <p:cNvSpPr>
                <a:spLocks noChangeShapeType="1"/>
              </p:cNvSpPr>
              <p:nvPr/>
            </p:nvSpPr>
            <p:spPr bwMode="auto">
              <a:xfrm flipV="1">
                <a:off x="3394663" y="1228510"/>
                <a:ext cx="0" cy="1303996"/>
              </a:xfrm>
              <a:prstGeom prst="line">
                <a:avLst/>
              </a:prstGeom>
              <a:noFill/>
              <a:ln w="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11" name="Line 51"/>
              <p:cNvSpPr>
                <a:spLocks noChangeShapeType="1"/>
              </p:cNvSpPr>
              <p:nvPr/>
            </p:nvSpPr>
            <p:spPr bwMode="auto">
              <a:xfrm flipV="1">
                <a:off x="1254712" y="1372193"/>
                <a:ext cx="0" cy="1656757"/>
              </a:xfrm>
              <a:prstGeom prst="line">
                <a:avLst/>
              </a:prstGeom>
              <a:noFill/>
              <a:ln w="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10" name="Line 50"/>
              <p:cNvSpPr>
                <a:spLocks noChangeShapeType="1"/>
              </p:cNvSpPr>
              <p:nvPr/>
            </p:nvSpPr>
            <p:spPr bwMode="auto">
              <a:xfrm flipV="1">
                <a:off x="1254712" y="2800350"/>
                <a:ext cx="0" cy="1355196"/>
              </a:xfrm>
              <a:prstGeom prst="line">
                <a:avLst/>
              </a:prstGeom>
              <a:noFill/>
              <a:ln w="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23" name="Line 163"/>
              <p:cNvSpPr>
                <a:spLocks noChangeShapeType="1"/>
              </p:cNvSpPr>
              <p:nvPr/>
            </p:nvSpPr>
            <p:spPr bwMode="auto">
              <a:xfrm flipV="1">
                <a:off x="3394663" y="2484543"/>
                <a:ext cx="0" cy="1205664"/>
              </a:xfrm>
              <a:prstGeom prst="line">
                <a:avLst/>
              </a:prstGeom>
              <a:noFill/>
              <a:ln w="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60" name="Line 163"/>
              <p:cNvSpPr>
                <a:spLocks noChangeShapeType="1"/>
              </p:cNvSpPr>
              <p:nvPr/>
            </p:nvSpPr>
            <p:spPr bwMode="auto">
              <a:xfrm flipV="1">
                <a:off x="5604463" y="2834973"/>
                <a:ext cx="0" cy="422577"/>
              </a:xfrm>
              <a:prstGeom prst="line">
                <a:avLst/>
              </a:prstGeom>
              <a:noFill/>
              <a:ln w="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6" name="Rectangle 9"/>
              <p:cNvSpPr>
                <a:spLocks noChangeArrowheads="1"/>
              </p:cNvSpPr>
              <p:nvPr/>
            </p:nvSpPr>
            <p:spPr bwMode="auto">
              <a:xfrm>
                <a:off x="527049" y="1020887"/>
                <a:ext cx="1456664" cy="1104766"/>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7" name="Rectangle 10"/>
              <p:cNvSpPr>
                <a:spLocks noChangeArrowheads="1"/>
              </p:cNvSpPr>
              <p:nvPr/>
            </p:nvSpPr>
            <p:spPr bwMode="auto">
              <a:xfrm>
                <a:off x="527049" y="1020886"/>
                <a:ext cx="1456664" cy="1242269"/>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8" name="Rectangle 48"/>
              <p:cNvSpPr>
                <a:spLocks noChangeArrowheads="1"/>
              </p:cNvSpPr>
              <p:nvPr/>
            </p:nvSpPr>
            <p:spPr bwMode="auto">
              <a:xfrm>
                <a:off x="527049" y="3616083"/>
                <a:ext cx="1456664" cy="879995"/>
              </a:xfrm>
              <a:prstGeom prst="rect">
                <a:avLst/>
              </a:prstGeom>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9" name="Rectangle 49"/>
              <p:cNvSpPr>
                <a:spLocks noChangeArrowheads="1"/>
              </p:cNvSpPr>
              <p:nvPr/>
            </p:nvSpPr>
            <p:spPr bwMode="auto">
              <a:xfrm>
                <a:off x="527049" y="3616083"/>
                <a:ext cx="1456664" cy="879995"/>
              </a:xfrm>
              <a:prstGeom prst="rect">
                <a:avLst/>
              </a:prstGeom>
              <a:noFill/>
              <a:ln w="13">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12" name="Rectangle 110"/>
              <p:cNvSpPr>
                <a:spLocks noChangeArrowheads="1"/>
              </p:cNvSpPr>
              <p:nvPr/>
            </p:nvSpPr>
            <p:spPr bwMode="auto">
              <a:xfrm>
                <a:off x="976436" y="2753924"/>
                <a:ext cx="219612"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ru-RU" sz="700" b="1" i="0" u="none" dirty="0">
                    <a:solidFill>
                      <a:srgbClr val="000000"/>
                    </a:solidFill>
                    <a:latin typeface="Arial" pitchFamily="34" charset="0"/>
                    <a:cs typeface="Arial" pitchFamily="34" charset="0"/>
                  </a:rPr>
                  <a:t>Сеть</a:t>
                </a:r>
              </a:p>
            </p:txBody>
          </p:sp>
          <p:sp>
            <p:nvSpPr>
              <p:cNvPr id="13" name="Rectangle 111"/>
              <p:cNvSpPr>
                <a:spLocks noChangeArrowheads="1"/>
              </p:cNvSpPr>
              <p:nvPr/>
            </p:nvSpPr>
            <p:spPr bwMode="auto">
              <a:xfrm>
                <a:off x="604336" y="842895"/>
                <a:ext cx="138659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Вычислительные ресурсы</a:t>
                </a:r>
              </a:p>
            </p:txBody>
          </p:sp>
          <p:sp>
            <p:nvSpPr>
              <p:cNvPr id="14" name="Rectangle 112"/>
              <p:cNvSpPr>
                <a:spLocks noChangeArrowheads="1"/>
              </p:cNvSpPr>
              <p:nvPr/>
            </p:nvSpPr>
            <p:spPr bwMode="auto">
              <a:xfrm rot="16200000">
                <a:off x="1616944" y="2701286"/>
                <a:ext cx="66501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lgn="ctr" defTabSz="914400" fontAlgn="base">
                  <a:spcBef>
                    <a:spcPct val="0"/>
                  </a:spcBef>
                  <a:spcAft>
                    <a:spcPct val="0"/>
                  </a:spcAft>
                </a:pPr>
                <a:r>
                  <a:rPr lang="ru-RU" sz="700" b="1" i="0" dirty="0">
                    <a:solidFill>
                      <a:srgbClr val="000000"/>
                    </a:solidFill>
                    <a:latin typeface="Arial" pitchFamily="34" charset="0"/>
                    <a:cs typeface="Arial" pitchFamily="34" charset="0"/>
                  </a:rPr>
                  <a:t>Запрос на уровне блоков</a:t>
                </a:r>
              </a:p>
            </p:txBody>
          </p:sp>
          <p:sp>
            <p:nvSpPr>
              <p:cNvPr id="16" name="Rectangle 115"/>
              <p:cNvSpPr>
                <a:spLocks noChangeArrowheads="1"/>
              </p:cNvSpPr>
              <p:nvPr/>
            </p:nvSpPr>
            <p:spPr bwMode="auto">
              <a:xfrm>
                <a:off x="497656" y="4635291"/>
                <a:ext cx="1530351"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Доступ на уровне блоков</a:t>
                </a:r>
              </a:p>
            </p:txBody>
          </p:sp>
          <p:grpSp>
            <p:nvGrpSpPr>
              <p:cNvPr id="5" name="Group 4"/>
              <p:cNvGrpSpPr/>
              <p:nvPr/>
            </p:nvGrpSpPr>
            <p:grpSpPr>
              <a:xfrm>
                <a:off x="1709752" y="2343150"/>
                <a:ext cx="119048" cy="925960"/>
                <a:chOff x="2166952" y="2715571"/>
                <a:chExt cx="119048" cy="925960"/>
              </a:xfrm>
            </p:grpSpPr>
            <p:sp>
              <p:nvSpPr>
                <p:cNvPr id="17" name="Freeform 116"/>
                <p:cNvSpPr>
                  <a:spLocks/>
                </p:cNvSpPr>
                <p:nvPr/>
              </p:nvSpPr>
              <p:spPr bwMode="auto">
                <a:xfrm>
                  <a:off x="2166952" y="3512535"/>
                  <a:ext cx="119048" cy="128996"/>
                </a:xfrm>
                <a:custGeom>
                  <a:avLst/>
                  <a:gdLst>
                    <a:gd name="T0" fmla="*/ 357 w 357"/>
                    <a:gd name="T1" fmla="*/ 4 h 405"/>
                    <a:gd name="T2" fmla="*/ 176 w 357"/>
                    <a:gd name="T3" fmla="*/ 405 h 405"/>
                    <a:gd name="T4" fmla="*/ 0 w 357"/>
                    <a:gd name="T5" fmla="*/ 0 h 405"/>
                    <a:gd name="T6" fmla="*/ 179 w 357"/>
                    <a:gd name="T7" fmla="*/ 86 h 405"/>
                    <a:gd name="T8" fmla="*/ 357 w 357"/>
                    <a:gd name="T9" fmla="*/ 4 h 405"/>
                  </a:gdLst>
                  <a:ahLst/>
                  <a:cxnLst>
                    <a:cxn ang="0">
                      <a:pos x="T0" y="T1"/>
                    </a:cxn>
                    <a:cxn ang="0">
                      <a:pos x="T2" y="T3"/>
                    </a:cxn>
                    <a:cxn ang="0">
                      <a:pos x="T4" y="T5"/>
                    </a:cxn>
                    <a:cxn ang="0">
                      <a:pos x="T6" y="T7"/>
                    </a:cxn>
                    <a:cxn ang="0">
                      <a:pos x="T8" y="T9"/>
                    </a:cxn>
                  </a:cxnLst>
                  <a:rect l="0" t="0" r="r" b="b"/>
                  <a:pathLst>
                    <a:path w="357" h="405">
                      <a:moveTo>
                        <a:pt x="357" y="4"/>
                      </a:moveTo>
                      <a:lnTo>
                        <a:pt x="176" y="405"/>
                      </a:lnTo>
                      <a:lnTo>
                        <a:pt x="0" y="0"/>
                      </a:lnTo>
                      <a:lnTo>
                        <a:pt x="179" y="86"/>
                      </a:lnTo>
                      <a:lnTo>
                        <a:pt x="35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18" name="Line 117"/>
                <p:cNvSpPr>
                  <a:spLocks noChangeShapeType="1"/>
                </p:cNvSpPr>
                <p:nvPr/>
              </p:nvSpPr>
              <p:spPr bwMode="auto">
                <a:xfrm flipV="1">
                  <a:off x="2226850" y="2715571"/>
                  <a:ext cx="0" cy="882536"/>
                </a:xfrm>
                <a:prstGeom prst="line">
                  <a:avLst/>
                </a:prstGeom>
                <a:noFill/>
                <a:ln w="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grpSp>
          <p:sp>
            <p:nvSpPr>
              <p:cNvPr id="19" name="Rectangle 122"/>
              <p:cNvSpPr>
                <a:spLocks noChangeArrowheads="1"/>
              </p:cNvSpPr>
              <p:nvPr/>
            </p:nvSpPr>
            <p:spPr bwMode="auto">
              <a:xfrm>
                <a:off x="2667000" y="1020887"/>
                <a:ext cx="1455326" cy="53897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20" name="Rectangle 123"/>
              <p:cNvSpPr>
                <a:spLocks noChangeArrowheads="1"/>
              </p:cNvSpPr>
              <p:nvPr/>
            </p:nvSpPr>
            <p:spPr bwMode="auto">
              <a:xfrm>
                <a:off x="2667000" y="1020887"/>
                <a:ext cx="1455326" cy="768741"/>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21" name="Rectangle 161"/>
              <p:cNvSpPr>
                <a:spLocks noChangeArrowheads="1"/>
              </p:cNvSpPr>
              <p:nvPr/>
            </p:nvSpPr>
            <p:spPr bwMode="auto">
              <a:xfrm>
                <a:off x="2667000" y="3390035"/>
                <a:ext cx="1455326" cy="110604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22" name="Rectangle 162"/>
              <p:cNvSpPr>
                <a:spLocks noChangeArrowheads="1"/>
              </p:cNvSpPr>
              <p:nvPr/>
            </p:nvSpPr>
            <p:spPr bwMode="auto">
              <a:xfrm>
                <a:off x="2667000" y="3204613"/>
                <a:ext cx="1455326" cy="1291466"/>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25" name="Rectangle 225"/>
              <p:cNvSpPr>
                <a:spLocks noChangeArrowheads="1"/>
              </p:cNvSpPr>
              <p:nvPr/>
            </p:nvSpPr>
            <p:spPr bwMode="auto">
              <a:xfrm rot="16200000">
                <a:off x="3778736" y="2405506"/>
                <a:ext cx="60786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algn="ctr" defTabSz="914400" fontAlgn="base">
                  <a:spcBef>
                    <a:spcPct val="0"/>
                  </a:spcBef>
                  <a:spcAft>
                    <a:spcPct val="0"/>
                  </a:spcAft>
                </a:pPr>
                <a:r>
                  <a:rPr lang="ru-RU" sz="700" b="1" i="0" dirty="0">
                    <a:solidFill>
                      <a:srgbClr val="000000"/>
                    </a:solidFill>
                    <a:latin typeface="Arial" pitchFamily="34" charset="0"/>
                    <a:cs typeface="Arial" pitchFamily="34" charset="0"/>
                  </a:rPr>
                  <a:t>Запрос на уровне файлов</a:t>
                </a:r>
              </a:p>
            </p:txBody>
          </p:sp>
          <p:sp>
            <p:nvSpPr>
              <p:cNvPr id="27" name="Rectangle 227"/>
              <p:cNvSpPr>
                <a:spLocks noChangeArrowheads="1"/>
              </p:cNvSpPr>
              <p:nvPr/>
            </p:nvSpPr>
            <p:spPr bwMode="auto">
              <a:xfrm>
                <a:off x="2848319" y="4299011"/>
                <a:ext cx="114149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Система </a:t>
                </a:r>
                <a:r>
                  <a:rPr lang="ru-RU" sz="800" b="1" i="0" dirty="0">
                    <a:solidFill>
                      <a:srgbClr val="000000"/>
                    </a:solidFill>
                    <a:latin typeface="Arial" pitchFamily="34" charset="0"/>
                    <a:cs typeface="Arial" pitchFamily="34" charset="0"/>
                  </a:rPr>
                  <a:t>хранения</a:t>
                </a:r>
              </a:p>
            </p:txBody>
          </p:sp>
          <p:sp>
            <p:nvSpPr>
              <p:cNvPr id="28" name="Rectangle 228"/>
              <p:cNvSpPr>
                <a:spLocks noChangeArrowheads="1"/>
              </p:cNvSpPr>
              <p:nvPr/>
            </p:nvSpPr>
            <p:spPr bwMode="auto">
              <a:xfrm>
                <a:off x="2710504" y="842895"/>
                <a:ext cx="138659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Вычислительные ресурсы</a:t>
                </a:r>
              </a:p>
            </p:txBody>
          </p:sp>
          <p:sp>
            <p:nvSpPr>
              <p:cNvPr id="29" name="Rectangle 229"/>
              <p:cNvSpPr>
                <a:spLocks noChangeArrowheads="1"/>
              </p:cNvSpPr>
              <p:nvPr/>
            </p:nvSpPr>
            <p:spPr bwMode="auto">
              <a:xfrm>
                <a:off x="2676144" y="4642953"/>
                <a:ext cx="145532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Доступ на уровне файлов</a:t>
                </a:r>
              </a:p>
            </p:txBody>
          </p:sp>
          <p:grpSp>
            <p:nvGrpSpPr>
              <p:cNvPr id="15" name="Group 14"/>
              <p:cNvGrpSpPr/>
              <p:nvPr/>
            </p:nvGrpSpPr>
            <p:grpSpPr>
              <a:xfrm>
                <a:off x="3840088" y="2102990"/>
                <a:ext cx="120385" cy="925960"/>
                <a:chOff x="4750608" y="2182984"/>
                <a:chExt cx="120385" cy="925960"/>
              </a:xfrm>
            </p:grpSpPr>
            <p:sp>
              <p:nvSpPr>
                <p:cNvPr id="30" name="Freeform 230"/>
                <p:cNvSpPr>
                  <a:spLocks/>
                </p:cNvSpPr>
                <p:nvPr/>
              </p:nvSpPr>
              <p:spPr bwMode="auto">
                <a:xfrm>
                  <a:off x="4750608" y="2979948"/>
                  <a:ext cx="120385" cy="128996"/>
                </a:xfrm>
                <a:custGeom>
                  <a:avLst/>
                  <a:gdLst>
                    <a:gd name="T0" fmla="*/ 357 w 357"/>
                    <a:gd name="T1" fmla="*/ 4 h 405"/>
                    <a:gd name="T2" fmla="*/ 176 w 357"/>
                    <a:gd name="T3" fmla="*/ 405 h 405"/>
                    <a:gd name="T4" fmla="*/ 0 w 357"/>
                    <a:gd name="T5" fmla="*/ 0 h 405"/>
                    <a:gd name="T6" fmla="*/ 179 w 357"/>
                    <a:gd name="T7" fmla="*/ 86 h 405"/>
                    <a:gd name="T8" fmla="*/ 357 w 357"/>
                    <a:gd name="T9" fmla="*/ 4 h 405"/>
                  </a:gdLst>
                  <a:ahLst/>
                  <a:cxnLst>
                    <a:cxn ang="0">
                      <a:pos x="T0" y="T1"/>
                    </a:cxn>
                    <a:cxn ang="0">
                      <a:pos x="T2" y="T3"/>
                    </a:cxn>
                    <a:cxn ang="0">
                      <a:pos x="T4" y="T5"/>
                    </a:cxn>
                    <a:cxn ang="0">
                      <a:pos x="T6" y="T7"/>
                    </a:cxn>
                    <a:cxn ang="0">
                      <a:pos x="T8" y="T9"/>
                    </a:cxn>
                  </a:cxnLst>
                  <a:rect l="0" t="0" r="r" b="b"/>
                  <a:pathLst>
                    <a:path w="357" h="405">
                      <a:moveTo>
                        <a:pt x="357" y="4"/>
                      </a:moveTo>
                      <a:lnTo>
                        <a:pt x="176" y="405"/>
                      </a:lnTo>
                      <a:lnTo>
                        <a:pt x="0" y="0"/>
                      </a:lnTo>
                      <a:lnTo>
                        <a:pt x="179" y="86"/>
                      </a:lnTo>
                      <a:lnTo>
                        <a:pt x="35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31" name="Line 231"/>
                <p:cNvSpPr>
                  <a:spLocks noChangeShapeType="1"/>
                </p:cNvSpPr>
                <p:nvPr/>
              </p:nvSpPr>
              <p:spPr bwMode="auto">
                <a:xfrm flipV="1">
                  <a:off x="4810801" y="2182984"/>
                  <a:ext cx="0" cy="882536"/>
                </a:xfrm>
                <a:prstGeom prst="line">
                  <a:avLst/>
                </a:prstGeom>
                <a:noFill/>
                <a:ln w="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grpSp>
          <p:sp>
            <p:nvSpPr>
              <p:cNvPr id="46" name="Rounded Rectangle 45"/>
              <p:cNvSpPr/>
              <p:nvPr/>
            </p:nvSpPr>
            <p:spPr>
              <a:xfrm>
                <a:off x="655461" y="1191879"/>
                <a:ext cx="1182452" cy="29758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Приложение</a:t>
                </a:r>
              </a:p>
            </p:txBody>
          </p:sp>
          <p:sp>
            <p:nvSpPr>
              <p:cNvPr id="47" name="Rounded Rectangle 46"/>
              <p:cNvSpPr/>
              <p:nvPr/>
            </p:nvSpPr>
            <p:spPr>
              <a:xfrm>
                <a:off x="664821" y="1581150"/>
                <a:ext cx="1182452" cy="29758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Файловая система</a:t>
                </a:r>
              </a:p>
            </p:txBody>
          </p:sp>
          <p:sp>
            <p:nvSpPr>
              <p:cNvPr id="48" name="Rounded Rectangle 47"/>
              <p:cNvSpPr/>
              <p:nvPr/>
            </p:nvSpPr>
            <p:spPr>
              <a:xfrm>
                <a:off x="2804558" y="1130574"/>
                <a:ext cx="1182452" cy="29758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Приложение</a:t>
                </a:r>
              </a:p>
            </p:txBody>
          </p:sp>
          <p:sp>
            <p:nvSpPr>
              <p:cNvPr id="49" name="Rounded Rectangle 48"/>
              <p:cNvSpPr/>
              <p:nvPr/>
            </p:nvSpPr>
            <p:spPr>
              <a:xfrm>
                <a:off x="664369" y="3950277"/>
                <a:ext cx="1182452" cy="297585"/>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СХД</a:t>
                </a:r>
              </a:p>
            </p:txBody>
          </p:sp>
          <p:sp>
            <p:nvSpPr>
              <p:cNvPr id="50" name="Rounded Rectangle 49"/>
              <p:cNvSpPr/>
              <p:nvPr/>
            </p:nvSpPr>
            <p:spPr>
              <a:xfrm>
                <a:off x="2804558" y="3289354"/>
                <a:ext cx="1182452" cy="29758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Файловая система</a:t>
                </a:r>
              </a:p>
            </p:txBody>
          </p:sp>
          <p:sp>
            <p:nvSpPr>
              <p:cNvPr id="51" name="Rounded Rectangle 50"/>
              <p:cNvSpPr/>
              <p:nvPr/>
            </p:nvSpPr>
            <p:spPr>
              <a:xfrm>
                <a:off x="2804558" y="3950277"/>
                <a:ext cx="1182452" cy="297585"/>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СХД</a:t>
                </a:r>
              </a:p>
            </p:txBody>
          </p:sp>
          <p:pic>
            <p:nvPicPr>
              <p:cNvPr id="52" name="Picture 14"/>
              <p:cNvPicPr>
                <a:picLocks noChangeAspect="1" noChangeArrowheads="1"/>
              </p:cNvPicPr>
              <p:nvPr/>
            </p:nvPicPr>
            <p:blipFill>
              <a:blip r:embed="rId4" cstate="print"/>
              <a:srcRect/>
              <a:stretch>
                <a:fillRect/>
              </a:stretch>
            </p:blipFill>
            <p:spPr bwMode="auto">
              <a:xfrm>
                <a:off x="848078" y="2571750"/>
                <a:ext cx="846637" cy="524308"/>
              </a:xfrm>
              <a:prstGeom prst="rect">
                <a:avLst/>
              </a:prstGeom>
              <a:noFill/>
              <a:ln w="9525">
                <a:noFill/>
                <a:miter lim="800000"/>
                <a:headEnd/>
                <a:tailEnd/>
              </a:ln>
              <a:effectLst/>
            </p:spPr>
          </p:pic>
          <p:sp>
            <p:nvSpPr>
              <p:cNvPr id="53" name="Rectangle 224"/>
              <p:cNvSpPr>
                <a:spLocks noChangeArrowheads="1"/>
              </p:cNvSpPr>
              <p:nvPr/>
            </p:nvSpPr>
            <p:spPr bwMode="auto">
              <a:xfrm>
                <a:off x="908342" y="2715006"/>
                <a:ext cx="74410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Сеть хранения</a:t>
                </a:r>
              </a:p>
            </p:txBody>
          </p:sp>
          <p:pic>
            <p:nvPicPr>
              <p:cNvPr id="54" name="Picture 14"/>
              <p:cNvPicPr>
                <a:picLocks noChangeAspect="1" noChangeArrowheads="1"/>
              </p:cNvPicPr>
              <p:nvPr/>
            </p:nvPicPr>
            <p:blipFill>
              <a:blip r:embed="rId4" cstate="print"/>
              <a:srcRect/>
              <a:stretch>
                <a:fillRect/>
              </a:stretch>
            </p:blipFill>
            <p:spPr bwMode="auto">
              <a:xfrm>
                <a:off x="2977640" y="2301454"/>
                <a:ext cx="846637" cy="524308"/>
              </a:xfrm>
              <a:prstGeom prst="rect">
                <a:avLst/>
              </a:prstGeom>
              <a:noFill/>
              <a:ln w="9525">
                <a:noFill/>
                <a:miter lim="800000"/>
                <a:headEnd/>
                <a:tailEnd/>
              </a:ln>
              <a:effectLst/>
            </p:spPr>
          </p:pic>
          <p:sp>
            <p:nvSpPr>
              <p:cNvPr id="55" name="Rectangle 224"/>
              <p:cNvSpPr>
                <a:spLocks noChangeArrowheads="1"/>
              </p:cNvSpPr>
              <p:nvPr/>
            </p:nvSpPr>
            <p:spPr bwMode="auto">
              <a:xfrm>
                <a:off x="3069896" y="2428494"/>
                <a:ext cx="64765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Сеть хранения</a:t>
                </a:r>
              </a:p>
            </p:txBody>
          </p:sp>
          <p:sp>
            <p:nvSpPr>
              <p:cNvPr id="56" name="Rectangle 122"/>
              <p:cNvSpPr>
                <a:spLocks noChangeArrowheads="1"/>
              </p:cNvSpPr>
              <p:nvPr/>
            </p:nvSpPr>
            <p:spPr bwMode="auto">
              <a:xfrm>
                <a:off x="4876800" y="1020239"/>
                <a:ext cx="1455326" cy="53897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57" name="Rectangle 123"/>
              <p:cNvSpPr>
                <a:spLocks noChangeArrowheads="1"/>
              </p:cNvSpPr>
              <p:nvPr/>
            </p:nvSpPr>
            <p:spPr bwMode="auto">
              <a:xfrm>
                <a:off x="4876800" y="1020239"/>
                <a:ext cx="1455326" cy="1105414"/>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58" name="Rectangle 161"/>
              <p:cNvSpPr>
                <a:spLocks noChangeArrowheads="1"/>
              </p:cNvSpPr>
              <p:nvPr/>
            </p:nvSpPr>
            <p:spPr bwMode="auto">
              <a:xfrm>
                <a:off x="4876800" y="3389387"/>
                <a:ext cx="1455326" cy="110604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59" name="Rectangle 162"/>
              <p:cNvSpPr>
                <a:spLocks noChangeArrowheads="1"/>
              </p:cNvSpPr>
              <p:nvPr/>
            </p:nvSpPr>
            <p:spPr bwMode="auto">
              <a:xfrm>
                <a:off x="4876800" y="3225687"/>
                <a:ext cx="1455326" cy="1269744"/>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62" name="Rectangle 225"/>
              <p:cNvSpPr>
                <a:spLocks noChangeArrowheads="1"/>
              </p:cNvSpPr>
              <p:nvPr/>
            </p:nvSpPr>
            <p:spPr bwMode="auto">
              <a:xfrm rot="16200000">
                <a:off x="5864744" y="2578001"/>
                <a:ext cx="89371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algn="ctr" defTabSz="914400" fontAlgn="base">
                  <a:spcBef>
                    <a:spcPct val="0"/>
                  </a:spcBef>
                  <a:spcAft>
                    <a:spcPct val="0"/>
                  </a:spcAft>
                </a:pPr>
                <a:r>
                  <a:rPr lang="ru-RU" sz="700" b="1" i="0" dirty="0">
                    <a:solidFill>
                      <a:srgbClr val="000000"/>
                    </a:solidFill>
                    <a:latin typeface="Arial" pitchFamily="34" charset="0"/>
                    <a:cs typeface="Arial" pitchFamily="34" charset="0"/>
                  </a:rPr>
                  <a:t>Запрос </a:t>
                </a:r>
                <a:r>
                  <a:rPr lang="ru-RU" sz="700" b="1" dirty="0">
                    <a:solidFill>
                      <a:srgbClr val="000000"/>
                    </a:solidFill>
                    <a:latin typeface="Arial" pitchFamily="34" charset="0"/>
                    <a:cs typeface="Arial" pitchFamily="34" charset="0"/>
                  </a:rPr>
                  <a:t>нобъектова уровне</a:t>
                </a:r>
                <a:endParaRPr lang="ru-RU" sz="700" b="1" i="0" dirty="0">
                  <a:solidFill>
                    <a:srgbClr val="000000"/>
                  </a:solidFill>
                  <a:latin typeface="Arial" pitchFamily="34" charset="0"/>
                  <a:cs typeface="Arial" pitchFamily="34" charset="0"/>
                </a:endParaRPr>
              </a:p>
            </p:txBody>
          </p:sp>
          <p:sp>
            <p:nvSpPr>
              <p:cNvPr id="65" name="Rectangle 228"/>
              <p:cNvSpPr>
                <a:spLocks noChangeArrowheads="1"/>
              </p:cNvSpPr>
              <p:nvPr/>
            </p:nvSpPr>
            <p:spPr bwMode="auto">
              <a:xfrm>
                <a:off x="4898968" y="842247"/>
                <a:ext cx="138659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Вычислительные ресурсы</a:t>
                </a:r>
              </a:p>
            </p:txBody>
          </p:sp>
          <p:sp>
            <p:nvSpPr>
              <p:cNvPr id="66" name="Rectangle 229"/>
              <p:cNvSpPr>
                <a:spLocks noChangeArrowheads="1"/>
              </p:cNvSpPr>
              <p:nvPr/>
            </p:nvSpPr>
            <p:spPr bwMode="auto">
              <a:xfrm>
                <a:off x="4885944" y="4642304"/>
                <a:ext cx="145532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Доступ на уровне объектов</a:t>
                </a:r>
              </a:p>
            </p:txBody>
          </p:sp>
          <p:grpSp>
            <p:nvGrpSpPr>
              <p:cNvPr id="26" name="Group 25"/>
              <p:cNvGrpSpPr/>
              <p:nvPr/>
            </p:nvGrpSpPr>
            <p:grpSpPr>
              <a:xfrm>
                <a:off x="6049888" y="2266950"/>
                <a:ext cx="120385" cy="738596"/>
                <a:chOff x="7265208" y="2312670"/>
                <a:chExt cx="120385" cy="738596"/>
              </a:xfrm>
            </p:grpSpPr>
            <p:sp>
              <p:nvSpPr>
                <p:cNvPr id="67" name="Freeform 230"/>
                <p:cNvSpPr>
                  <a:spLocks/>
                </p:cNvSpPr>
                <p:nvPr/>
              </p:nvSpPr>
              <p:spPr bwMode="auto">
                <a:xfrm>
                  <a:off x="7265208" y="2922270"/>
                  <a:ext cx="120385" cy="128996"/>
                </a:xfrm>
                <a:custGeom>
                  <a:avLst/>
                  <a:gdLst>
                    <a:gd name="T0" fmla="*/ 357 w 357"/>
                    <a:gd name="T1" fmla="*/ 4 h 405"/>
                    <a:gd name="T2" fmla="*/ 176 w 357"/>
                    <a:gd name="T3" fmla="*/ 405 h 405"/>
                    <a:gd name="T4" fmla="*/ 0 w 357"/>
                    <a:gd name="T5" fmla="*/ 0 h 405"/>
                    <a:gd name="T6" fmla="*/ 179 w 357"/>
                    <a:gd name="T7" fmla="*/ 86 h 405"/>
                    <a:gd name="T8" fmla="*/ 357 w 357"/>
                    <a:gd name="T9" fmla="*/ 4 h 405"/>
                  </a:gdLst>
                  <a:ahLst/>
                  <a:cxnLst>
                    <a:cxn ang="0">
                      <a:pos x="T0" y="T1"/>
                    </a:cxn>
                    <a:cxn ang="0">
                      <a:pos x="T2" y="T3"/>
                    </a:cxn>
                    <a:cxn ang="0">
                      <a:pos x="T4" y="T5"/>
                    </a:cxn>
                    <a:cxn ang="0">
                      <a:pos x="T6" y="T7"/>
                    </a:cxn>
                    <a:cxn ang="0">
                      <a:pos x="T8" y="T9"/>
                    </a:cxn>
                  </a:cxnLst>
                  <a:rect l="0" t="0" r="r" b="b"/>
                  <a:pathLst>
                    <a:path w="357" h="405">
                      <a:moveTo>
                        <a:pt x="357" y="4"/>
                      </a:moveTo>
                      <a:lnTo>
                        <a:pt x="176" y="405"/>
                      </a:lnTo>
                      <a:lnTo>
                        <a:pt x="0" y="0"/>
                      </a:lnTo>
                      <a:lnTo>
                        <a:pt x="179" y="86"/>
                      </a:lnTo>
                      <a:lnTo>
                        <a:pt x="35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sp>
              <p:nvSpPr>
                <p:cNvPr id="68" name="Line 231"/>
                <p:cNvSpPr>
                  <a:spLocks noChangeShapeType="1"/>
                </p:cNvSpPr>
                <p:nvPr/>
              </p:nvSpPr>
              <p:spPr bwMode="auto">
                <a:xfrm flipH="1" flipV="1">
                  <a:off x="7325400" y="2312670"/>
                  <a:ext cx="1" cy="680093"/>
                </a:xfrm>
                <a:prstGeom prst="line">
                  <a:avLst/>
                </a:prstGeom>
                <a:noFill/>
                <a:ln w="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200">
                    <a:latin typeface="Arial" pitchFamily="34" charset="0"/>
                    <a:cs typeface="Arial" pitchFamily="34" charset="0"/>
                  </a:endParaRPr>
                </a:p>
              </p:txBody>
            </p:sp>
          </p:grpSp>
          <p:sp>
            <p:nvSpPr>
              <p:cNvPr id="69" name="Rounded Rectangle 68"/>
              <p:cNvSpPr/>
              <p:nvPr/>
            </p:nvSpPr>
            <p:spPr>
              <a:xfrm>
                <a:off x="5014358" y="1129926"/>
                <a:ext cx="1182452" cy="297585"/>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Приложение</a:t>
                </a:r>
              </a:p>
            </p:txBody>
          </p:sp>
          <p:sp>
            <p:nvSpPr>
              <p:cNvPr id="71" name="Rounded Rectangle 70"/>
              <p:cNvSpPr/>
              <p:nvPr/>
            </p:nvSpPr>
            <p:spPr>
              <a:xfrm>
                <a:off x="5014358" y="3950277"/>
                <a:ext cx="1182452" cy="297585"/>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ru-RU" sz="800" b="1" i="0" dirty="0">
                    <a:solidFill>
                      <a:srgbClr val="FFFFFF"/>
                    </a:solidFill>
                    <a:latin typeface="Arial" pitchFamily="34" charset="0"/>
                    <a:cs typeface="Arial" pitchFamily="34" charset="0"/>
                  </a:rPr>
                  <a:t>СХД</a:t>
                </a:r>
              </a:p>
            </p:txBody>
          </p:sp>
          <p:grpSp>
            <p:nvGrpSpPr>
              <p:cNvPr id="3" name="Group 2"/>
              <p:cNvGrpSpPr/>
              <p:nvPr/>
            </p:nvGrpSpPr>
            <p:grpSpPr>
              <a:xfrm>
                <a:off x="5148904" y="2480310"/>
                <a:ext cx="924202" cy="524308"/>
                <a:chOff x="6364224" y="2380800"/>
                <a:chExt cx="924202" cy="524308"/>
              </a:xfrm>
            </p:grpSpPr>
            <p:pic>
              <p:nvPicPr>
                <p:cNvPr id="72" name="Picture 14"/>
                <p:cNvPicPr>
                  <a:picLocks noChangeAspect="1" noChangeArrowheads="1"/>
                </p:cNvPicPr>
                <p:nvPr/>
              </p:nvPicPr>
              <p:blipFill>
                <a:blip r:embed="rId4" cstate="print"/>
                <a:srcRect/>
                <a:stretch>
                  <a:fillRect/>
                </a:stretch>
              </p:blipFill>
              <p:spPr bwMode="auto">
                <a:xfrm>
                  <a:off x="6402760" y="2380800"/>
                  <a:ext cx="846637" cy="524308"/>
                </a:xfrm>
                <a:prstGeom prst="rect">
                  <a:avLst/>
                </a:prstGeom>
                <a:noFill/>
                <a:ln w="9525">
                  <a:noFill/>
                  <a:miter lim="800000"/>
                  <a:headEnd/>
                  <a:tailEnd/>
                </a:ln>
                <a:effectLst/>
              </p:spPr>
            </p:pic>
            <p:sp>
              <p:nvSpPr>
                <p:cNvPr id="73" name="Rectangle 224"/>
                <p:cNvSpPr>
                  <a:spLocks noChangeArrowheads="1"/>
                </p:cNvSpPr>
                <p:nvPr/>
              </p:nvSpPr>
              <p:spPr bwMode="auto">
                <a:xfrm>
                  <a:off x="6364224" y="2562341"/>
                  <a:ext cx="92420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С</a:t>
                  </a:r>
                  <a:r>
                    <a:rPr lang="ru-RU" sz="900" b="1" i="0" u="none" dirty="0">
                      <a:solidFill>
                        <a:srgbClr val="000000"/>
                      </a:solidFill>
                      <a:latin typeface="Arial" pitchFamily="34" charset="0"/>
                      <a:cs typeface="Arial" pitchFamily="34" charset="0"/>
                    </a:rPr>
                    <a:t>еть</a:t>
                  </a:r>
                  <a:r>
                    <a:rPr lang="ru-RU" sz="800" b="1" i="0" u="none" dirty="0">
                      <a:solidFill>
                        <a:srgbClr val="000000"/>
                      </a:solidFill>
                      <a:latin typeface="Arial" pitchFamily="34" charset="0"/>
                      <a:cs typeface="Arial" pitchFamily="34" charset="0"/>
                    </a:rPr>
                    <a:t>хранения</a:t>
                  </a:r>
                </a:p>
              </p:txBody>
            </p:sp>
          </p:grpSp>
          <p:sp>
            <p:nvSpPr>
              <p:cNvPr id="74" name="Rectangle 227"/>
              <p:cNvSpPr>
                <a:spLocks noChangeArrowheads="1"/>
              </p:cNvSpPr>
              <p:nvPr/>
            </p:nvSpPr>
            <p:spPr bwMode="auto">
              <a:xfrm>
                <a:off x="5069292" y="4299011"/>
                <a:ext cx="114149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Система </a:t>
                </a:r>
                <a:r>
                  <a:rPr lang="ru-RU" sz="800" b="1" i="0" dirty="0">
                    <a:solidFill>
                      <a:srgbClr val="000000"/>
                    </a:solidFill>
                    <a:latin typeface="Arial" pitchFamily="34" charset="0"/>
                    <a:cs typeface="Arial" pitchFamily="34" charset="0"/>
                  </a:rPr>
                  <a:t>хранения</a:t>
                </a:r>
              </a:p>
            </p:txBody>
          </p:sp>
          <p:sp>
            <p:nvSpPr>
              <p:cNvPr id="75" name="Rectangle 227"/>
              <p:cNvSpPr>
                <a:spLocks noChangeArrowheads="1"/>
              </p:cNvSpPr>
              <p:nvPr/>
            </p:nvSpPr>
            <p:spPr bwMode="auto">
              <a:xfrm>
                <a:off x="705416" y="4300342"/>
                <a:ext cx="114149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ru-RU" sz="800" b="1" i="0" u="none" dirty="0">
                    <a:solidFill>
                      <a:srgbClr val="000000"/>
                    </a:solidFill>
                    <a:latin typeface="Arial" pitchFamily="34" charset="0"/>
                    <a:cs typeface="Arial" pitchFamily="34" charset="0"/>
                  </a:rPr>
                  <a:t>Система </a:t>
                </a:r>
                <a:r>
                  <a:rPr lang="ru-RU" sz="800" b="1" i="0" dirty="0">
                    <a:solidFill>
                      <a:srgbClr val="000000"/>
                    </a:solidFill>
                    <a:latin typeface="Arial" pitchFamily="34" charset="0"/>
                    <a:cs typeface="Arial" pitchFamily="34" charset="0"/>
                  </a:rPr>
                  <a:t>хранения</a:t>
                </a:r>
              </a:p>
            </p:txBody>
          </p:sp>
          <p:grpSp>
            <p:nvGrpSpPr>
              <p:cNvPr id="63" name="Group 63"/>
              <p:cNvGrpSpPr/>
              <p:nvPr/>
            </p:nvGrpSpPr>
            <p:grpSpPr>
              <a:xfrm>
                <a:off x="5014358" y="1506064"/>
                <a:ext cx="1196425" cy="310617"/>
                <a:chOff x="4703392" y="1636415"/>
                <a:chExt cx="1676400" cy="464634"/>
              </a:xfrm>
            </p:grpSpPr>
            <p:sp>
              <p:nvSpPr>
                <p:cNvPr id="64" name="AutoShape 19"/>
                <p:cNvSpPr>
                  <a:spLocks noChangeArrowheads="1"/>
                </p:cNvSpPr>
                <p:nvPr/>
              </p:nvSpPr>
              <p:spPr bwMode="auto">
                <a:xfrm flipH="1" flipV="1">
                  <a:off x="4703392" y="1643849"/>
                  <a:ext cx="1676400" cy="457200"/>
                </a:xfrm>
                <a:prstGeom prst="flowChartManualInput">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en-US" sz="700" dirty="0">
                    <a:latin typeface="Arial" pitchFamily="34" charset="0"/>
                    <a:cs typeface="Arial" pitchFamily="34" charset="0"/>
                  </a:endParaRPr>
                </a:p>
              </p:txBody>
            </p:sp>
            <p:sp>
              <p:nvSpPr>
                <p:cNvPr id="76" name="Text Box 27"/>
                <p:cNvSpPr txBox="1">
                  <a:spLocks noChangeArrowheads="1"/>
                </p:cNvSpPr>
                <p:nvPr/>
              </p:nvSpPr>
              <p:spPr bwMode="auto">
                <a:xfrm>
                  <a:off x="4800600" y="1636415"/>
                  <a:ext cx="1480813" cy="414347"/>
                </a:xfrm>
                <a:prstGeom prst="rect">
                  <a:avLst/>
                </a:prstGeom>
                <a:noFill/>
                <a:ln w="9525">
                  <a:noFill/>
                  <a:miter lim="800000"/>
                  <a:headEnd/>
                  <a:tailEnd/>
                </a:ln>
                <a:effectLst/>
              </p:spPr>
              <p:txBody>
                <a:bodyPr wrap="square">
                  <a:spAutoFit/>
                </a:bodyPr>
                <a:lstStyle/>
                <a:p>
                  <a:pPr algn="ctr"/>
                  <a:r>
                    <a:rPr lang="ru-RU" sz="600" b="1" i="0" dirty="0">
                      <a:solidFill>
                        <a:srgbClr val="FFFFFF"/>
                      </a:solidFill>
                      <a:latin typeface="Arial" pitchFamily="34" charset="0"/>
                      <a:cs typeface="Arial" pitchFamily="34" charset="0"/>
                    </a:rPr>
                    <a:t>Пользовательский компонент</a:t>
                  </a:r>
                </a:p>
              </p:txBody>
            </p:sp>
          </p:grpSp>
          <p:grpSp>
            <p:nvGrpSpPr>
              <p:cNvPr id="77" name="Group 66"/>
              <p:cNvGrpSpPr/>
              <p:nvPr/>
            </p:nvGrpSpPr>
            <p:grpSpPr>
              <a:xfrm>
                <a:off x="4991412" y="3257550"/>
                <a:ext cx="1218317" cy="358533"/>
                <a:chOff x="4708022" y="4653984"/>
                <a:chExt cx="1701948" cy="537335"/>
              </a:xfrm>
            </p:grpSpPr>
            <p:sp>
              <p:nvSpPr>
                <p:cNvPr id="78" name="AutoShape 19"/>
                <p:cNvSpPr>
                  <a:spLocks noChangeArrowheads="1"/>
                </p:cNvSpPr>
                <p:nvPr/>
              </p:nvSpPr>
              <p:spPr bwMode="auto">
                <a:xfrm>
                  <a:off x="4708022" y="4653984"/>
                  <a:ext cx="1676400" cy="537335"/>
                </a:xfrm>
                <a:prstGeom prst="flowChartManualInput">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en-US" sz="1200" dirty="0">
                    <a:latin typeface="Arial" pitchFamily="34" charset="0"/>
                    <a:cs typeface="Arial" pitchFamily="34" charset="0"/>
                  </a:endParaRPr>
                </a:p>
              </p:txBody>
            </p:sp>
            <p:sp>
              <p:nvSpPr>
                <p:cNvPr id="79" name="Text Box 27"/>
                <p:cNvSpPr txBox="1">
                  <a:spLocks noChangeArrowheads="1"/>
                </p:cNvSpPr>
                <p:nvPr/>
              </p:nvSpPr>
              <p:spPr bwMode="auto">
                <a:xfrm>
                  <a:off x="4733571" y="4764137"/>
                  <a:ext cx="1676399" cy="415140"/>
                </a:xfrm>
                <a:prstGeom prst="rect">
                  <a:avLst/>
                </a:prstGeom>
                <a:noFill/>
                <a:ln w="9525">
                  <a:noFill/>
                  <a:miter lim="800000"/>
                  <a:headEnd/>
                  <a:tailEnd/>
                </a:ln>
                <a:effectLst/>
              </p:spPr>
              <p:txBody>
                <a:bodyPr wrap="square">
                  <a:spAutoFit/>
                </a:bodyPr>
                <a:lstStyle/>
                <a:p>
                  <a:pPr algn="ctr"/>
                  <a:r>
                    <a:rPr lang="ru-RU" sz="600" b="1" i="0" dirty="0">
                      <a:solidFill>
                        <a:srgbClr val="FFFFFF"/>
                      </a:solidFill>
                      <a:latin typeface="Arial" pitchFamily="34" charset="0"/>
                      <a:cs typeface="Arial" pitchFamily="34" charset="0"/>
                    </a:rPr>
                    <a:t>Компонент хранения данных</a:t>
                  </a:r>
                </a:p>
              </p:txBody>
            </p:sp>
          </p:grpSp>
          <p:sp>
            <p:nvSpPr>
              <p:cNvPr id="80" name="AutoShape 18"/>
              <p:cNvSpPr>
                <a:spLocks noChangeArrowheads="1"/>
              </p:cNvSpPr>
              <p:nvPr/>
            </p:nvSpPr>
            <p:spPr bwMode="auto">
              <a:xfrm>
                <a:off x="5014359" y="1872471"/>
                <a:ext cx="1182452" cy="194508"/>
              </a:xfrm>
              <a:prstGeom prst="roundRect">
                <a:avLst>
                  <a:gd name="adj" fmla="val 16667"/>
                </a:avLst>
              </a:prstGeom>
              <a:gradFill rotWithShape="1">
                <a:gsLst>
                  <a:gs pos="0">
                    <a:schemeClr val="accent1"/>
                  </a:gs>
                  <a:gs pos="100000">
                    <a:schemeClr val="accent1">
                      <a:gamma/>
                      <a:shade val="46275"/>
                      <a:invGamma/>
                    </a:schemeClr>
                  </a:gs>
                </a:gsLst>
                <a:lin ang="5400000" scaled="1"/>
              </a:gradFill>
              <a:ln w="9525">
                <a:solidFill>
                  <a:schemeClr val="tx1"/>
                </a:solidFill>
                <a:round/>
                <a:headEnd/>
                <a:tailEnd/>
              </a:ln>
              <a:effectLst/>
            </p:spPr>
            <p:txBody>
              <a:bodyPr wrap="none" anchor="ctr"/>
              <a:lstStyle/>
              <a:p>
                <a:pPr algn="ctr"/>
                <a:r>
                  <a:rPr lang="ru-RU" sz="800" b="1" i="0" dirty="0">
                    <a:solidFill>
                      <a:srgbClr val="FFFFFF"/>
                    </a:solidFill>
                    <a:latin typeface="Arial" pitchFamily="34" charset="0"/>
                    <a:cs typeface="Arial" pitchFamily="34" charset="0"/>
                  </a:rPr>
                  <a:t>Интерфейс OSD</a:t>
                </a:r>
              </a:p>
            </p:txBody>
          </p:sp>
          <p:sp>
            <p:nvSpPr>
              <p:cNvPr id="81" name="AutoShape 18"/>
              <p:cNvSpPr>
                <a:spLocks noChangeArrowheads="1"/>
              </p:cNvSpPr>
              <p:nvPr/>
            </p:nvSpPr>
            <p:spPr bwMode="auto">
              <a:xfrm>
                <a:off x="664605" y="1987196"/>
                <a:ext cx="1182452" cy="194508"/>
              </a:xfrm>
              <a:prstGeom prst="roundRect">
                <a:avLst>
                  <a:gd name="adj" fmla="val 16667"/>
                </a:avLst>
              </a:prstGeom>
              <a:gradFill rotWithShape="1">
                <a:gsLst>
                  <a:gs pos="0">
                    <a:schemeClr val="accent1"/>
                  </a:gs>
                  <a:gs pos="100000">
                    <a:schemeClr val="accent1">
                      <a:gamma/>
                      <a:shade val="46275"/>
                      <a:invGamma/>
                    </a:schemeClr>
                  </a:gs>
                </a:gsLst>
                <a:lin ang="5400000" scaled="1"/>
              </a:gradFill>
              <a:ln w="9525">
                <a:solidFill>
                  <a:schemeClr val="tx1"/>
                </a:solidFill>
                <a:round/>
                <a:headEnd/>
                <a:tailEnd/>
              </a:ln>
              <a:effectLst/>
            </p:spPr>
            <p:txBody>
              <a:bodyPr wrap="none" anchor="ctr"/>
              <a:lstStyle/>
              <a:p>
                <a:pPr algn="ctr"/>
                <a:r>
                  <a:rPr lang="ru-RU" sz="800" b="1" i="0" dirty="0">
                    <a:solidFill>
                      <a:srgbClr val="FFFFFF"/>
                    </a:solidFill>
                    <a:latin typeface="Arial" pitchFamily="34" charset="0"/>
                    <a:cs typeface="Arial" pitchFamily="34" charset="0"/>
                  </a:rPr>
                  <a:t>Интерфейс блоков</a:t>
                </a:r>
              </a:p>
            </p:txBody>
          </p:sp>
          <p:sp>
            <p:nvSpPr>
              <p:cNvPr id="82" name="AutoShape 18"/>
              <p:cNvSpPr>
                <a:spLocks noChangeArrowheads="1"/>
              </p:cNvSpPr>
              <p:nvPr/>
            </p:nvSpPr>
            <p:spPr bwMode="auto">
              <a:xfrm>
                <a:off x="2811640" y="1486755"/>
                <a:ext cx="1182452" cy="264315"/>
              </a:xfrm>
              <a:prstGeom prst="roundRect">
                <a:avLst>
                  <a:gd name="adj" fmla="val 16667"/>
                </a:avLst>
              </a:prstGeom>
              <a:gradFill rotWithShape="1">
                <a:gsLst>
                  <a:gs pos="0">
                    <a:schemeClr val="accent1"/>
                  </a:gs>
                  <a:gs pos="100000">
                    <a:schemeClr val="accent1">
                      <a:gamma/>
                      <a:shade val="46275"/>
                      <a:invGamma/>
                    </a:schemeClr>
                  </a:gs>
                </a:gsLst>
                <a:lin ang="5400000" scaled="1"/>
              </a:gradFill>
              <a:ln w="9525">
                <a:solidFill>
                  <a:schemeClr val="tx1"/>
                </a:solidFill>
                <a:round/>
                <a:headEnd/>
                <a:tailEnd/>
              </a:ln>
              <a:effectLst/>
            </p:spPr>
            <p:txBody>
              <a:bodyPr wrap="none" anchor="ctr"/>
              <a:lstStyle/>
              <a:p>
                <a:pPr algn="ctr">
                  <a:lnSpc>
                    <a:spcPct val="70000"/>
                  </a:lnSpc>
                </a:pPr>
                <a:r>
                  <a:rPr lang="ru-RU" sz="800" b="1" i="0" dirty="0">
                    <a:solidFill>
                      <a:srgbClr val="FFFFFF"/>
                    </a:solidFill>
                    <a:latin typeface="Arial" pitchFamily="34" charset="0"/>
                    <a:cs typeface="Arial" pitchFamily="34" charset="0"/>
                  </a:rPr>
                  <a:t>Файловый</a:t>
                </a:r>
                <a:br>
                  <a:rPr lang="en-US" sz="800" b="1" i="0" dirty="0">
                    <a:solidFill>
                      <a:srgbClr val="FF00FF"/>
                    </a:solidFill>
                    <a:latin typeface="Arial" pitchFamily="34" charset="0"/>
                    <a:cs typeface="Arial" pitchFamily="34" charset="0"/>
                  </a:rPr>
                </a:br>
                <a:r>
                  <a:rPr lang="ru-RU" sz="800" b="1" i="0" dirty="0">
                    <a:solidFill>
                      <a:srgbClr val="FFFFFF"/>
                    </a:solidFill>
                    <a:latin typeface="Arial" pitchFamily="34" charset="0"/>
                    <a:cs typeface="Arial" pitchFamily="34" charset="0"/>
                  </a:rPr>
                  <a:t>интерфейс</a:t>
                </a:r>
              </a:p>
            </p:txBody>
          </p:sp>
          <p:sp>
            <p:nvSpPr>
              <p:cNvPr id="83" name="AutoShape 18"/>
              <p:cNvSpPr>
                <a:spLocks noChangeArrowheads="1"/>
              </p:cNvSpPr>
              <p:nvPr/>
            </p:nvSpPr>
            <p:spPr bwMode="auto">
              <a:xfrm>
                <a:off x="664821" y="3690207"/>
                <a:ext cx="1183861" cy="207818"/>
              </a:xfrm>
              <a:prstGeom prst="roundRect">
                <a:avLst>
                  <a:gd name="adj" fmla="val 16667"/>
                </a:avLst>
              </a:prstGeom>
              <a:ln>
                <a:headEnd/>
                <a:tailEnd/>
              </a:ln>
            </p:spPr>
            <p:style>
              <a:lnRef idx="1">
                <a:schemeClr val="accent6"/>
              </a:lnRef>
              <a:fillRef idx="3">
                <a:schemeClr val="accent6"/>
              </a:fillRef>
              <a:effectRef idx="2">
                <a:schemeClr val="accent6"/>
              </a:effectRef>
              <a:fontRef idx="minor">
                <a:schemeClr val="lt1"/>
              </a:fontRef>
            </p:style>
            <p:txBody>
              <a:bodyPr wrap="none" anchor="ctr"/>
              <a:lstStyle/>
              <a:p>
                <a:pPr algn="ctr"/>
                <a:r>
                  <a:rPr lang="ru-RU" sz="800" b="1" i="0" dirty="0">
                    <a:solidFill>
                      <a:srgbClr val="FFFFFF"/>
                    </a:solidFill>
                    <a:latin typeface="Arial" pitchFamily="34" charset="0"/>
                    <a:cs typeface="Arial" pitchFamily="34" charset="0"/>
                  </a:rPr>
                  <a:t>Ввод-вывод блоков</a:t>
                </a:r>
              </a:p>
            </p:txBody>
          </p:sp>
          <p:sp>
            <p:nvSpPr>
              <p:cNvPr id="84" name="AutoShape 18"/>
              <p:cNvSpPr>
                <a:spLocks noChangeArrowheads="1"/>
              </p:cNvSpPr>
              <p:nvPr/>
            </p:nvSpPr>
            <p:spPr bwMode="auto">
              <a:xfrm>
                <a:off x="2803853" y="3662403"/>
                <a:ext cx="1183861" cy="207818"/>
              </a:xfrm>
              <a:prstGeom prst="roundRect">
                <a:avLst>
                  <a:gd name="adj" fmla="val 16667"/>
                </a:avLst>
              </a:prstGeom>
              <a:ln>
                <a:headEnd/>
                <a:tailEnd/>
              </a:ln>
            </p:spPr>
            <p:style>
              <a:lnRef idx="1">
                <a:schemeClr val="accent6"/>
              </a:lnRef>
              <a:fillRef idx="3">
                <a:schemeClr val="accent6"/>
              </a:fillRef>
              <a:effectRef idx="2">
                <a:schemeClr val="accent6"/>
              </a:effectRef>
              <a:fontRef idx="minor">
                <a:schemeClr val="lt1"/>
              </a:fontRef>
            </p:style>
            <p:txBody>
              <a:bodyPr wrap="none" anchor="ctr"/>
              <a:lstStyle/>
              <a:p>
                <a:pPr algn="ctr"/>
                <a:r>
                  <a:rPr lang="ru-RU" sz="800" b="1" i="0" dirty="0">
                    <a:solidFill>
                      <a:srgbClr val="FFFFFF"/>
                    </a:solidFill>
                    <a:latin typeface="Arial" pitchFamily="34" charset="0"/>
                    <a:cs typeface="Arial" pitchFamily="34" charset="0"/>
                  </a:rPr>
                  <a:t>Ввод-вывод блоков</a:t>
                </a:r>
              </a:p>
            </p:txBody>
          </p:sp>
          <p:sp>
            <p:nvSpPr>
              <p:cNvPr id="85" name="AutoShape 18"/>
              <p:cNvSpPr>
                <a:spLocks noChangeArrowheads="1"/>
              </p:cNvSpPr>
              <p:nvPr/>
            </p:nvSpPr>
            <p:spPr bwMode="auto">
              <a:xfrm>
                <a:off x="5014256" y="3686844"/>
                <a:ext cx="1183861" cy="207818"/>
              </a:xfrm>
              <a:prstGeom prst="roundRect">
                <a:avLst>
                  <a:gd name="adj" fmla="val 16667"/>
                </a:avLst>
              </a:prstGeom>
              <a:ln>
                <a:headEnd/>
                <a:tailEnd/>
              </a:ln>
            </p:spPr>
            <p:style>
              <a:lnRef idx="1">
                <a:schemeClr val="accent6"/>
              </a:lnRef>
              <a:fillRef idx="3">
                <a:schemeClr val="accent6"/>
              </a:fillRef>
              <a:effectRef idx="2">
                <a:schemeClr val="accent6"/>
              </a:effectRef>
              <a:fontRef idx="minor">
                <a:schemeClr val="lt1"/>
              </a:fontRef>
            </p:style>
            <p:txBody>
              <a:bodyPr wrap="none" anchor="ctr"/>
              <a:lstStyle/>
              <a:p>
                <a:pPr algn="ctr"/>
                <a:r>
                  <a:rPr lang="ru-RU" sz="800" b="1" i="0" dirty="0">
                    <a:solidFill>
                      <a:srgbClr val="FFFFFF"/>
                    </a:solidFill>
                    <a:latin typeface="Arial" pitchFamily="34" charset="0"/>
                    <a:cs typeface="Arial" pitchFamily="34" charset="0"/>
                  </a:rPr>
                  <a:t>Ввод-вывод блоков</a:t>
                </a:r>
              </a:p>
            </p:txBody>
          </p:sp>
        </p:grpSp>
        <p:grpSp>
          <p:nvGrpSpPr>
            <p:cNvPr id="41" name="Group 40"/>
            <p:cNvGrpSpPr/>
            <p:nvPr/>
          </p:nvGrpSpPr>
          <p:grpSpPr>
            <a:xfrm>
              <a:off x="244336" y="3867150"/>
              <a:ext cx="1371600" cy="990599"/>
              <a:chOff x="6781800" y="3863832"/>
              <a:chExt cx="1371600" cy="990599"/>
            </a:xfrm>
          </p:grpSpPr>
          <p:grpSp>
            <p:nvGrpSpPr>
              <p:cNvPr id="39" name="Group 38"/>
              <p:cNvGrpSpPr/>
              <p:nvPr/>
            </p:nvGrpSpPr>
            <p:grpSpPr>
              <a:xfrm>
                <a:off x="6781800" y="4037826"/>
                <a:ext cx="1371600" cy="816605"/>
                <a:chOff x="6858000" y="4041145"/>
                <a:chExt cx="1371600" cy="816605"/>
              </a:xfrm>
            </p:grpSpPr>
            <p:grpSp>
              <p:nvGrpSpPr>
                <p:cNvPr id="36" name="Group 35"/>
                <p:cNvGrpSpPr/>
                <p:nvPr/>
              </p:nvGrpSpPr>
              <p:grpSpPr>
                <a:xfrm>
                  <a:off x="6936865" y="4170015"/>
                  <a:ext cx="1200222" cy="612279"/>
                  <a:chOff x="7795346" y="1641836"/>
                  <a:chExt cx="1200222" cy="612279"/>
                </a:xfrm>
              </p:grpSpPr>
              <p:sp>
                <p:nvSpPr>
                  <p:cNvPr id="101" name="AutoShape 19"/>
                  <p:cNvSpPr>
                    <a:spLocks noChangeArrowheads="1"/>
                  </p:cNvSpPr>
                  <p:nvPr/>
                </p:nvSpPr>
                <p:spPr bwMode="auto">
                  <a:xfrm flipH="1" flipV="1">
                    <a:off x="7795346" y="1650689"/>
                    <a:ext cx="1196425" cy="305646"/>
                  </a:xfrm>
                  <a:prstGeom prst="flowChartManualInput">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endParaRPr lang="en-US" sz="700" dirty="0">
                      <a:latin typeface="Arial" pitchFamily="34" charset="0"/>
                      <a:cs typeface="Arial" pitchFamily="34" charset="0"/>
                    </a:endParaRPr>
                  </a:p>
                </p:txBody>
              </p:sp>
              <p:sp>
                <p:nvSpPr>
                  <p:cNvPr id="102" name="Text Box 27"/>
                  <p:cNvSpPr txBox="1">
                    <a:spLocks noChangeArrowheads="1"/>
                  </p:cNvSpPr>
                  <p:nvPr/>
                </p:nvSpPr>
                <p:spPr bwMode="auto">
                  <a:xfrm>
                    <a:off x="7864722" y="1641836"/>
                    <a:ext cx="1056837" cy="276999"/>
                  </a:xfrm>
                  <a:prstGeom prst="rect">
                    <a:avLst/>
                  </a:prstGeom>
                  <a:noFill/>
                  <a:ln w="9525">
                    <a:noFill/>
                    <a:miter lim="800000"/>
                    <a:headEnd/>
                    <a:tailEnd/>
                  </a:ln>
                  <a:effectLst/>
                </p:spPr>
                <p:txBody>
                  <a:bodyPr wrap="square">
                    <a:spAutoFit/>
                  </a:bodyPr>
                  <a:lstStyle/>
                  <a:p>
                    <a:pPr algn="ctr"/>
                    <a:r>
                      <a:rPr lang="ru-RU" sz="600" b="1" i="0" dirty="0">
                        <a:solidFill>
                          <a:srgbClr val="FFFFFF"/>
                        </a:solidFill>
                        <a:latin typeface="Arial" pitchFamily="34" charset="0"/>
                        <a:cs typeface="Arial" pitchFamily="34" charset="0"/>
                      </a:rPr>
                      <a:t>Пользовательский компонент</a:t>
                    </a:r>
                  </a:p>
                </p:txBody>
              </p:sp>
              <p:sp>
                <p:nvSpPr>
                  <p:cNvPr id="103" name="AutoShape 19"/>
                  <p:cNvSpPr>
                    <a:spLocks noChangeArrowheads="1"/>
                  </p:cNvSpPr>
                  <p:nvPr/>
                </p:nvSpPr>
                <p:spPr bwMode="auto">
                  <a:xfrm>
                    <a:off x="7795540" y="1885950"/>
                    <a:ext cx="1196231" cy="358533"/>
                  </a:xfrm>
                  <a:prstGeom prst="flowChartManualInput">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en-US" sz="1200" dirty="0">
                      <a:latin typeface="Arial" pitchFamily="34" charset="0"/>
                      <a:cs typeface="Arial" pitchFamily="34" charset="0"/>
                    </a:endParaRPr>
                  </a:p>
                </p:txBody>
              </p:sp>
              <p:sp>
                <p:nvSpPr>
                  <p:cNvPr id="104" name="Text Box 27"/>
                  <p:cNvSpPr txBox="1">
                    <a:spLocks noChangeArrowheads="1"/>
                  </p:cNvSpPr>
                  <p:nvPr/>
                </p:nvSpPr>
                <p:spPr bwMode="auto">
                  <a:xfrm>
                    <a:off x="7795540" y="1977116"/>
                    <a:ext cx="1200028" cy="276999"/>
                  </a:xfrm>
                  <a:prstGeom prst="rect">
                    <a:avLst/>
                  </a:prstGeom>
                  <a:noFill/>
                  <a:ln w="9525">
                    <a:noFill/>
                    <a:miter lim="800000"/>
                    <a:headEnd/>
                    <a:tailEnd/>
                  </a:ln>
                  <a:effectLst/>
                </p:spPr>
                <p:txBody>
                  <a:bodyPr wrap="square">
                    <a:spAutoFit/>
                  </a:bodyPr>
                  <a:lstStyle/>
                  <a:p>
                    <a:pPr algn="ctr"/>
                    <a:r>
                      <a:rPr lang="ru-RU" sz="600" b="1" i="0" dirty="0">
                        <a:solidFill>
                          <a:srgbClr val="FFFFFF"/>
                        </a:solidFill>
                        <a:latin typeface="Arial" pitchFamily="34" charset="0"/>
                        <a:cs typeface="Arial" pitchFamily="34" charset="0"/>
                      </a:rPr>
                      <a:t>Компонент хранения данных</a:t>
                    </a:r>
                  </a:p>
                </p:txBody>
              </p:sp>
            </p:grpSp>
            <p:sp>
              <p:nvSpPr>
                <p:cNvPr id="38" name="Flowchart: Alternate Process 37"/>
                <p:cNvSpPr/>
                <p:nvPr/>
              </p:nvSpPr>
              <p:spPr>
                <a:xfrm>
                  <a:off x="6858000" y="4041145"/>
                  <a:ext cx="1371600" cy="816605"/>
                </a:xfrm>
                <a:prstGeom prst="flowChartAlternateProcess">
                  <a:avLst/>
                </a:prstGeom>
                <a:no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latin typeface="Arial" pitchFamily="34" charset="0"/>
                    <a:cs typeface="Arial" pitchFamily="34" charset="0"/>
                  </a:endParaRPr>
                </a:p>
              </p:txBody>
            </p:sp>
          </p:grpSp>
          <p:sp>
            <p:nvSpPr>
              <p:cNvPr id="40" name="TextBox 39"/>
              <p:cNvSpPr txBox="1"/>
              <p:nvPr/>
            </p:nvSpPr>
            <p:spPr>
              <a:xfrm>
                <a:off x="7124204" y="3863832"/>
                <a:ext cx="693340" cy="289310"/>
              </a:xfrm>
              <a:prstGeom prst="rect">
                <a:avLst/>
              </a:prstGeom>
              <a:solidFill>
                <a:schemeClr val="bg1"/>
              </a:solidFill>
            </p:spPr>
            <p:txBody>
              <a:bodyPr wrap="square" rtlCol="0">
                <a:spAutoFit/>
              </a:bodyPr>
              <a:lstStyle/>
              <a:p>
                <a:pPr algn="ctr">
                  <a:lnSpc>
                    <a:spcPct val="80000"/>
                  </a:lnSpc>
                </a:pPr>
                <a:r>
                  <a:rPr lang="ru-RU" sz="800" b="0" i="0" dirty="0">
                    <a:solidFill>
                      <a:srgbClr val="000000"/>
                    </a:solidFill>
                    <a:latin typeface="Arial" pitchFamily="34" charset="0"/>
                    <a:cs typeface="Arial" pitchFamily="34" charset="0"/>
                  </a:rPr>
                  <a:t>Файловая система</a:t>
                </a:r>
              </a:p>
            </p:txBody>
          </p:sp>
        </p:grpSp>
        <p:sp>
          <p:nvSpPr>
            <p:cNvPr id="42" name="Flowchart: Alternate Process 41"/>
            <p:cNvSpPr/>
            <p:nvPr/>
          </p:nvSpPr>
          <p:spPr>
            <a:xfrm>
              <a:off x="1752600" y="717552"/>
              <a:ext cx="6324600" cy="4267200"/>
            </a:xfrm>
            <a:prstGeom prst="flowChartAlternateProcess">
              <a:avLst/>
            </a:prstGeom>
            <a:no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a:latin typeface="Arial" pitchFamily="34" charset="0"/>
                <a:cs typeface="Arial" pitchFamily="34" charset="0"/>
              </a:endParaRPr>
            </a:p>
          </p:txBody>
        </p:sp>
      </p:grpSp>
      <p:sp>
        <p:nvSpPr>
          <p:cNvPr id="86" name="TextBox 85"/>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40</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951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Типы интеллектуальных систем хранения</a:t>
            </a:r>
          </a:p>
        </p:txBody>
      </p:sp>
      <p:sp>
        <p:nvSpPr>
          <p:cNvPr id="3" name="Content Placeholder 2"/>
          <p:cNvSpPr>
            <a:spLocks noGrp="1"/>
          </p:cNvSpPr>
          <p:nvPr>
            <p:ph sz="quarter" idx="10"/>
          </p:nvPr>
        </p:nvSpPr>
        <p:spPr/>
        <p:txBody>
          <a:bodyPr/>
          <a:lstStyle/>
          <a:p>
            <a:r>
              <a:rPr lang="ru-RU" sz="2000" b="0" i="0" dirty="0">
                <a:solidFill>
                  <a:srgbClr val="000000"/>
                </a:solidFill>
                <a:latin typeface="Arial" pitchFamily="34" charset="0"/>
                <a:cs typeface="Arial" pitchFamily="34" charset="0"/>
              </a:rPr>
              <a:t>Блочные системы хранения</a:t>
            </a:r>
          </a:p>
          <a:p>
            <a:r>
              <a:rPr lang="ru-RU" sz="2000" b="0" i="0" dirty="0">
                <a:solidFill>
                  <a:srgbClr val="000000"/>
                </a:solidFill>
                <a:latin typeface="Arial" pitchFamily="34" charset="0"/>
                <a:cs typeface="Arial" pitchFamily="34" charset="0"/>
              </a:rPr>
              <a:t>Файловые системы хранения</a:t>
            </a:r>
          </a:p>
          <a:p>
            <a:r>
              <a:rPr lang="ru-RU" sz="2000" b="0" i="0" dirty="0">
                <a:solidFill>
                  <a:srgbClr val="000000"/>
                </a:solidFill>
                <a:latin typeface="Arial" pitchFamily="34" charset="0"/>
                <a:cs typeface="Arial" pitchFamily="34" charset="0"/>
              </a:rPr>
              <a:t>Объектные системы хранения</a:t>
            </a:r>
          </a:p>
          <a:p>
            <a:r>
              <a:rPr lang="ru-RU" sz="2000" b="0" i="0" dirty="0">
                <a:solidFill>
                  <a:srgbClr val="000000"/>
                </a:solidFill>
                <a:latin typeface="Arial" pitchFamily="34" charset="0"/>
                <a:cs typeface="Arial" pitchFamily="34" charset="0"/>
              </a:rPr>
              <a:t>Унифицированные системы хранения</a:t>
            </a:r>
          </a:p>
          <a:p>
            <a:endParaRPr lang="en-US" dirty="0">
              <a:latin typeface="Arial" pitchFamily="34" charset="0"/>
              <a:cs typeface="Arial" pitchFamily="34" charset="0"/>
            </a:endParaRP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41</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5208875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600" b="0" i="0" dirty="0">
                <a:solidFill>
                  <a:srgbClr val="2C95DD"/>
                </a:solidFill>
                <a:latin typeface="Arial" pitchFamily="34" charset="0"/>
                <a:cs typeface="Arial" pitchFamily="34" charset="0"/>
              </a:rPr>
              <a:t>Сравнение вертикально и горизонтально масштабируемых архитектур</a:t>
            </a:r>
          </a:p>
        </p:txBody>
      </p:sp>
      <p:grpSp>
        <p:nvGrpSpPr>
          <p:cNvPr id="3" name="Group 2"/>
          <p:cNvGrpSpPr/>
          <p:nvPr/>
        </p:nvGrpSpPr>
        <p:grpSpPr>
          <a:xfrm>
            <a:off x="1168879" y="1159810"/>
            <a:ext cx="1828800" cy="3393140"/>
            <a:chOff x="6019800" y="971550"/>
            <a:chExt cx="1828800" cy="3393140"/>
          </a:xfrm>
        </p:grpSpPr>
        <p:sp>
          <p:nvSpPr>
            <p:cNvPr id="5" name="Rectangle 4"/>
            <p:cNvSpPr/>
            <p:nvPr>
              <p:custDataLst>
                <p:tags r:id="rId2"/>
              </p:custDataLst>
            </p:nvPr>
          </p:nvSpPr>
          <p:spPr>
            <a:xfrm>
              <a:off x="6019800" y="3755090"/>
              <a:ext cx="1828800" cy="6096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ru-RU" sz="1600" b="0" i="0" dirty="0">
                  <a:solidFill>
                    <a:srgbClr val="000000"/>
                  </a:solidFill>
                  <a:latin typeface="Arial" pitchFamily="34" charset="0"/>
                  <a:cs typeface="Arial" pitchFamily="34" charset="0"/>
                </a:rPr>
                <a:t>Контроллеры</a:t>
              </a:r>
            </a:p>
          </p:txBody>
        </p:sp>
        <p:sp>
          <p:nvSpPr>
            <p:cNvPr id="6" name="Rectangle 5"/>
            <p:cNvSpPr/>
            <p:nvPr>
              <p:custDataLst>
                <p:tags r:id="rId3"/>
              </p:custDataLst>
            </p:nvPr>
          </p:nvSpPr>
          <p:spPr>
            <a:xfrm>
              <a:off x="6019800" y="971550"/>
              <a:ext cx="1828800" cy="278802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ru-RU" sz="1200" b="0" i="0" dirty="0">
                  <a:solidFill>
                    <a:srgbClr val="000000"/>
                  </a:solidFill>
                  <a:latin typeface="Arial" pitchFamily="34" charset="0"/>
                  <a:cs typeface="Arial" pitchFamily="34" charset="0"/>
                </a:rPr>
                <a:t>СХД</a:t>
              </a: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a:p>
              <a:pPr algn="ctr"/>
              <a:endParaRPr lang="en-US" sz="1200" dirty="0">
                <a:latin typeface="Arial" pitchFamily="34" charset="0"/>
                <a:cs typeface="Arial" pitchFamily="34" charset="0"/>
              </a:endParaRPr>
            </a:p>
          </p:txBody>
        </p:sp>
        <p:pic>
          <p:nvPicPr>
            <p:cNvPr id="7" name="Picture 11" descr="C:\Users\patils1\Desktop\2013 Projects\CIS v2\CIS Slide Deck_Based on Book\Colored Graphics\Disk Drive.png"/>
            <p:cNvPicPr>
              <a:picLocks noChangeAspect="1" noChangeArrowheads="1"/>
            </p:cNvPicPr>
            <p:nvPr>
              <p:custDataLst>
                <p:tags r:id="rId4"/>
              </p:custDataLst>
            </p:nvPr>
          </p:nvPicPr>
          <p:blipFill>
            <a:blip r:embed="rId30">
              <a:extLst>
                <a:ext uri="{28A0092B-C50C-407E-A947-70E740481C1C}">
                  <a14:useLocalDpi xmlns:a14="http://schemas.microsoft.com/office/drawing/2010/main" val="0"/>
                </a:ext>
              </a:extLst>
            </a:blip>
            <a:srcRect/>
            <a:stretch>
              <a:fillRect/>
            </a:stretch>
          </p:blipFill>
          <p:spPr bwMode="auto">
            <a:xfrm>
              <a:off x="6096000" y="327548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1" descr="C:\Users\patils1\Desktop\2013 Projects\CIS v2\CIS Slide Deck_Based on Book\Colored Graphics\Disk Drive.png"/>
            <p:cNvPicPr>
              <a:picLocks noChangeAspect="1" noChangeArrowheads="1"/>
            </p:cNvPicPr>
            <p:nvPr>
              <p:custDataLst>
                <p:tags r:id="rId5"/>
              </p:custDataLst>
            </p:nvPr>
          </p:nvPicPr>
          <p:blipFill>
            <a:blip r:embed="rId30">
              <a:extLst>
                <a:ext uri="{28A0092B-C50C-407E-A947-70E740481C1C}">
                  <a14:useLocalDpi xmlns:a14="http://schemas.microsoft.com/office/drawing/2010/main" val="0"/>
                </a:ext>
              </a:extLst>
            </a:blip>
            <a:srcRect/>
            <a:stretch>
              <a:fillRect/>
            </a:stretch>
          </p:blipFill>
          <p:spPr bwMode="auto">
            <a:xfrm>
              <a:off x="6527800" y="327548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1" descr="C:\Users\patils1\Desktop\2013 Projects\CIS v2\CIS Slide Deck_Based on Book\Colored Graphics\Disk Drive.png"/>
            <p:cNvPicPr>
              <a:picLocks noChangeAspect="1" noChangeArrowheads="1"/>
            </p:cNvPicPr>
            <p:nvPr>
              <p:custDataLst>
                <p:tags r:id="rId6"/>
              </p:custDataLst>
            </p:nvPr>
          </p:nvPicPr>
          <p:blipFill>
            <a:blip r:embed="rId30">
              <a:extLst>
                <a:ext uri="{28A0092B-C50C-407E-A947-70E740481C1C}">
                  <a14:useLocalDpi xmlns:a14="http://schemas.microsoft.com/office/drawing/2010/main" val="0"/>
                </a:ext>
              </a:extLst>
            </a:blip>
            <a:srcRect/>
            <a:stretch>
              <a:fillRect/>
            </a:stretch>
          </p:blipFill>
          <p:spPr bwMode="auto">
            <a:xfrm>
              <a:off x="6959600" y="327548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1" descr="C:\Users\patils1\Desktop\2013 Projects\CIS v2\CIS Slide Deck_Based on Book\Colored Graphics\Disk Drive.png"/>
            <p:cNvPicPr>
              <a:picLocks noChangeAspect="1" noChangeArrowheads="1"/>
            </p:cNvPicPr>
            <p:nvPr>
              <p:custDataLst>
                <p:tags r:id="rId7"/>
              </p:custDataLst>
            </p:nvPr>
          </p:nvPicPr>
          <p:blipFill>
            <a:blip r:embed="rId30">
              <a:extLst>
                <a:ext uri="{28A0092B-C50C-407E-A947-70E740481C1C}">
                  <a14:useLocalDpi xmlns:a14="http://schemas.microsoft.com/office/drawing/2010/main" val="0"/>
                </a:ext>
              </a:extLst>
            </a:blip>
            <a:srcRect/>
            <a:stretch>
              <a:fillRect/>
            </a:stretch>
          </p:blipFill>
          <p:spPr bwMode="auto">
            <a:xfrm>
              <a:off x="7391400" y="327548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1" descr="C:\Users\patils1\Desktop\2013 Projects\CIS v2\CIS Slide Deck_Based on Book\Colored Graphics\Disk Drive.png"/>
            <p:cNvPicPr>
              <a:picLocks noChangeAspect="1" noChangeArrowheads="1"/>
            </p:cNvPicPr>
            <p:nvPr>
              <p:custDataLst>
                <p:tags r:id="rId8"/>
              </p:custDataLst>
            </p:nvPr>
          </p:nvPicPr>
          <p:blipFill>
            <a:blip r:embed="rId30">
              <a:extLst>
                <a:ext uri="{28A0092B-C50C-407E-A947-70E740481C1C}">
                  <a14:useLocalDpi xmlns:a14="http://schemas.microsoft.com/office/drawing/2010/main" val="0"/>
                </a:ext>
              </a:extLst>
            </a:blip>
            <a:srcRect/>
            <a:stretch>
              <a:fillRect/>
            </a:stretch>
          </p:blipFill>
          <p:spPr bwMode="auto">
            <a:xfrm>
              <a:off x="6096000" y="287655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C:\Users\patils1\Desktop\2013 Projects\CIS v2\CIS Slide Deck_Based on Book\Colored Graphics\Disk Drive.png"/>
            <p:cNvPicPr>
              <a:picLocks noChangeAspect="1" noChangeArrowheads="1"/>
            </p:cNvPicPr>
            <p:nvPr>
              <p:custDataLst>
                <p:tags r:id="rId9"/>
              </p:custDataLst>
            </p:nvPr>
          </p:nvPicPr>
          <p:blipFill>
            <a:blip r:embed="rId30">
              <a:extLst>
                <a:ext uri="{28A0092B-C50C-407E-A947-70E740481C1C}">
                  <a14:useLocalDpi xmlns:a14="http://schemas.microsoft.com/office/drawing/2010/main" val="0"/>
                </a:ext>
              </a:extLst>
            </a:blip>
            <a:srcRect/>
            <a:stretch>
              <a:fillRect/>
            </a:stretch>
          </p:blipFill>
          <p:spPr bwMode="auto">
            <a:xfrm>
              <a:off x="6527800" y="287655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1" descr="C:\Users\patils1\Desktop\2013 Projects\CIS v2\CIS Slide Deck_Based on Book\Colored Graphics\Disk Drive.png"/>
            <p:cNvPicPr>
              <a:picLocks noChangeAspect="1" noChangeArrowheads="1"/>
            </p:cNvPicPr>
            <p:nvPr>
              <p:custDataLst>
                <p:tags r:id="rId10"/>
              </p:custDataLst>
            </p:nvPr>
          </p:nvPicPr>
          <p:blipFill>
            <a:blip r:embed="rId30">
              <a:extLst>
                <a:ext uri="{28A0092B-C50C-407E-A947-70E740481C1C}">
                  <a14:useLocalDpi xmlns:a14="http://schemas.microsoft.com/office/drawing/2010/main" val="0"/>
                </a:ext>
              </a:extLst>
            </a:blip>
            <a:srcRect/>
            <a:stretch>
              <a:fillRect/>
            </a:stretch>
          </p:blipFill>
          <p:spPr bwMode="auto">
            <a:xfrm>
              <a:off x="6959600" y="287655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1" descr="C:\Users\patils1\Desktop\2013 Projects\CIS v2\CIS Slide Deck_Based on Book\Colored Graphics\Disk Drive.png"/>
            <p:cNvPicPr>
              <a:picLocks noChangeAspect="1" noChangeArrowheads="1"/>
            </p:cNvPicPr>
            <p:nvPr>
              <p:custDataLst>
                <p:tags r:id="rId11"/>
              </p:custDataLst>
            </p:nvPr>
          </p:nvPicPr>
          <p:blipFill>
            <a:blip r:embed="rId30">
              <a:extLst>
                <a:ext uri="{28A0092B-C50C-407E-A947-70E740481C1C}">
                  <a14:useLocalDpi xmlns:a14="http://schemas.microsoft.com/office/drawing/2010/main" val="0"/>
                </a:ext>
              </a:extLst>
            </a:blip>
            <a:srcRect/>
            <a:stretch>
              <a:fillRect/>
            </a:stretch>
          </p:blipFill>
          <p:spPr bwMode="auto">
            <a:xfrm>
              <a:off x="7391400" y="2876550"/>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1" descr="C:\Users\patils1\Desktop\2013 Projects\CIS v2\CIS Slide Deck_Based on Book\Colored Graphics\Disk Drive.png"/>
            <p:cNvPicPr>
              <a:picLocks noChangeAspect="1" noChangeArrowheads="1"/>
            </p:cNvPicPr>
            <p:nvPr>
              <p:custDataLst>
                <p:tags r:id="rId12"/>
              </p:custDataLst>
            </p:nvPr>
          </p:nvPicPr>
          <p:blipFill>
            <a:blip r:embed="rId30">
              <a:extLst>
                <a:ext uri="{28A0092B-C50C-407E-A947-70E740481C1C}">
                  <a14:useLocalDpi xmlns:a14="http://schemas.microsoft.com/office/drawing/2010/main" val="0"/>
                </a:ext>
              </a:extLst>
            </a:blip>
            <a:srcRect/>
            <a:stretch>
              <a:fillRect/>
            </a:stretch>
          </p:blipFill>
          <p:spPr bwMode="auto">
            <a:xfrm>
              <a:off x="6096000" y="248210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1" descr="C:\Users\patils1\Desktop\2013 Projects\CIS v2\CIS Slide Deck_Based on Book\Colored Graphics\Disk Drive.png"/>
            <p:cNvPicPr>
              <a:picLocks noChangeAspect="1" noChangeArrowheads="1"/>
            </p:cNvPicPr>
            <p:nvPr>
              <p:custDataLst>
                <p:tags r:id="rId13"/>
              </p:custDataLst>
            </p:nvPr>
          </p:nvPicPr>
          <p:blipFill>
            <a:blip r:embed="rId30">
              <a:extLst>
                <a:ext uri="{28A0092B-C50C-407E-A947-70E740481C1C}">
                  <a14:useLocalDpi xmlns:a14="http://schemas.microsoft.com/office/drawing/2010/main" val="0"/>
                </a:ext>
              </a:extLst>
            </a:blip>
            <a:srcRect/>
            <a:stretch>
              <a:fillRect/>
            </a:stretch>
          </p:blipFill>
          <p:spPr bwMode="auto">
            <a:xfrm>
              <a:off x="6527800" y="248210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1" descr="C:\Users\patils1\Desktop\2013 Projects\CIS v2\CIS Slide Deck_Based on Book\Colored Graphics\Disk Drive.png"/>
            <p:cNvPicPr>
              <a:picLocks noChangeAspect="1" noChangeArrowheads="1"/>
            </p:cNvPicPr>
            <p:nvPr>
              <p:custDataLst>
                <p:tags r:id="rId14"/>
              </p:custDataLst>
            </p:nvPr>
          </p:nvPicPr>
          <p:blipFill>
            <a:blip r:embed="rId30">
              <a:extLst>
                <a:ext uri="{28A0092B-C50C-407E-A947-70E740481C1C}">
                  <a14:useLocalDpi xmlns:a14="http://schemas.microsoft.com/office/drawing/2010/main" val="0"/>
                </a:ext>
              </a:extLst>
            </a:blip>
            <a:srcRect/>
            <a:stretch>
              <a:fillRect/>
            </a:stretch>
          </p:blipFill>
          <p:spPr bwMode="auto">
            <a:xfrm>
              <a:off x="6959600" y="248210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1" descr="C:\Users\patils1\Desktop\2013 Projects\CIS v2\CIS Slide Deck_Based on Book\Colored Graphics\Disk Drive.png"/>
            <p:cNvPicPr>
              <a:picLocks noChangeAspect="1" noChangeArrowheads="1"/>
            </p:cNvPicPr>
            <p:nvPr>
              <p:custDataLst>
                <p:tags r:id="rId15"/>
              </p:custDataLst>
            </p:nvPr>
          </p:nvPicPr>
          <p:blipFill>
            <a:blip r:embed="rId30">
              <a:extLst>
                <a:ext uri="{28A0092B-C50C-407E-A947-70E740481C1C}">
                  <a14:useLocalDpi xmlns:a14="http://schemas.microsoft.com/office/drawing/2010/main" val="0"/>
                </a:ext>
              </a:extLst>
            </a:blip>
            <a:srcRect/>
            <a:stretch>
              <a:fillRect/>
            </a:stretch>
          </p:blipFill>
          <p:spPr bwMode="auto">
            <a:xfrm>
              <a:off x="7391400" y="248210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1" descr="C:\Users\patils1\Desktop\2013 Projects\CIS v2\CIS Slide Deck_Based on Book\Colored Graphics\Disk Drive.png"/>
            <p:cNvPicPr>
              <a:picLocks noChangeAspect="1" noChangeArrowheads="1"/>
            </p:cNvPicPr>
            <p:nvPr>
              <p:custDataLst>
                <p:tags r:id="rId16"/>
              </p:custDataLst>
            </p:nvPr>
          </p:nvPicPr>
          <p:blipFill>
            <a:blip r:embed="rId30">
              <a:extLst>
                <a:ext uri="{28A0092B-C50C-407E-A947-70E740481C1C}">
                  <a14:useLocalDpi xmlns:a14="http://schemas.microsoft.com/office/drawing/2010/main" val="0"/>
                </a:ext>
              </a:extLst>
            </a:blip>
            <a:srcRect/>
            <a:stretch>
              <a:fillRect/>
            </a:stretch>
          </p:blipFill>
          <p:spPr bwMode="auto">
            <a:xfrm>
              <a:off x="6096000" y="208317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1" descr="C:\Users\patils1\Desktop\2013 Projects\CIS v2\CIS Slide Deck_Based on Book\Colored Graphics\Disk Drive.png"/>
            <p:cNvPicPr>
              <a:picLocks noChangeAspect="1" noChangeArrowheads="1"/>
            </p:cNvPicPr>
            <p:nvPr>
              <p:custDataLst>
                <p:tags r:id="rId17"/>
              </p:custDataLst>
            </p:nvPr>
          </p:nvPicPr>
          <p:blipFill>
            <a:blip r:embed="rId30">
              <a:extLst>
                <a:ext uri="{28A0092B-C50C-407E-A947-70E740481C1C}">
                  <a14:useLocalDpi xmlns:a14="http://schemas.microsoft.com/office/drawing/2010/main" val="0"/>
                </a:ext>
              </a:extLst>
            </a:blip>
            <a:srcRect/>
            <a:stretch>
              <a:fillRect/>
            </a:stretch>
          </p:blipFill>
          <p:spPr bwMode="auto">
            <a:xfrm>
              <a:off x="6527800" y="208317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1" descr="C:\Users\patils1\Desktop\2013 Projects\CIS v2\CIS Slide Deck_Based on Book\Colored Graphics\Disk Drive.png"/>
            <p:cNvPicPr>
              <a:picLocks noChangeAspect="1" noChangeArrowheads="1"/>
            </p:cNvPicPr>
            <p:nvPr>
              <p:custDataLst>
                <p:tags r:id="rId18"/>
              </p:custDataLst>
            </p:nvPr>
          </p:nvPicPr>
          <p:blipFill>
            <a:blip r:embed="rId30">
              <a:extLst>
                <a:ext uri="{28A0092B-C50C-407E-A947-70E740481C1C}">
                  <a14:useLocalDpi xmlns:a14="http://schemas.microsoft.com/office/drawing/2010/main" val="0"/>
                </a:ext>
              </a:extLst>
            </a:blip>
            <a:srcRect/>
            <a:stretch>
              <a:fillRect/>
            </a:stretch>
          </p:blipFill>
          <p:spPr bwMode="auto">
            <a:xfrm>
              <a:off x="6959600" y="208317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1" descr="C:\Users\patils1\Desktop\2013 Projects\CIS v2\CIS Slide Deck_Based on Book\Colored Graphics\Disk Drive.png"/>
            <p:cNvPicPr>
              <a:picLocks noChangeAspect="1" noChangeArrowheads="1"/>
            </p:cNvPicPr>
            <p:nvPr>
              <p:custDataLst>
                <p:tags r:id="rId19"/>
              </p:custDataLst>
            </p:nvPr>
          </p:nvPicPr>
          <p:blipFill>
            <a:blip r:embed="rId30">
              <a:extLst>
                <a:ext uri="{28A0092B-C50C-407E-A947-70E740481C1C}">
                  <a14:useLocalDpi xmlns:a14="http://schemas.microsoft.com/office/drawing/2010/main" val="0"/>
                </a:ext>
              </a:extLst>
            </a:blip>
            <a:srcRect/>
            <a:stretch>
              <a:fillRect/>
            </a:stretch>
          </p:blipFill>
          <p:spPr bwMode="auto">
            <a:xfrm>
              <a:off x="7391400" y="208317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1" descr="C:\Users\patils1\Desktop\2013 Projects\CIS v2\CIS Slide Deck_Based on Book\Colored Graphics\Disk Drive.png"/>
            <p:cNvPicPr>
              <a:picLocks noChangeAspect="1" noChangeArrowheads="1"/>
            </p:cNvPicPr>
            <p:nvPr>
              <p:custDataLst>
                <p:tags r:id="rId20"/>
              </p:custDataLst>
            </p:nvPr>
          </p:nvPicPr>
          <p:blipFill>
            <a:blip r:embed="rId30">
              <a:extLst>
                <a:ext uri="{28A0092B-C50C-407E-A947-70E740481C1C}">
                  <a14:useLocalDpi xmlns:a14="http://schemas.microsoft.com/office/drawing/2010/main" val="0"/>
                </a:ext>
              </a:extLst>
            </a:blip>
            <a:srcRect/>
            <a:stretch>
              <a:fillRect/>
            </a:stretch>
          </p:blipFill>
          <p:spPr bwMode="auto">
            <a:xfrm>
              <a:off x="6096000" y="167976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1" descr="C:\Users\patils1\Desktop\2013 Projects\CIS v2\CIS Slide Deck_Based on Book\Colored Graphics\Disk Drive.png"/>
            <p:cNvPicPr>
              <a:picLocks noChangeAspect="1" noChangeArrowheads="1"/>
            </p:cNvPicPr>
            <p:nvPr>
              <p:custDataLst>
                <p:tags r:id="rId21"/>
              </p:custDataLst>
            </p:nvPr>
          </p:nvPicPr>
          <p:blipFill>
            <a:blip r:embed="rId30">
              <a:extLst>
                <a:ext uri="{28A0092B-C50C-407E-A947-70E740481C1C}">
                  <a14:useLocalDpi xmlns:a14="http://schemas.microsoft.com/office/drawing/2010/main" val="0"/>
                </a:ext>
              </a:extLst>
            </a:blip>
            <a:srcRect/>
            <a:stretch>
              <a:fillRect/>
            </a:stretch>
          </p:blipFill>
          <p:spPr bwMode="auto">
            <a:xfrm>
              <a:off x="6527800" y="167976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1" descr="C:\Users\patils1\Desktop\2013 Projects\CIS v2\CIS Slide Deck_Based on Book\Colored Graphics\Disk Drive.png"/>
            <p:cNvPicPr>
              <a:picLocks noChangeAspect="1" noChangeArrowheads="1"/>
            </p:cNvPicPr>
            <p:nvPr>
              <p:custDataLst>
                <p:tags r:id="rId22"/>
              </p:custDataLst>
            </p:nvPr>
          </p:nvPicPr>
          <p:blipFill>
            <a:blip r:embed="rId30">
              <a:extLst>
                <a:ext uri="{28A0092B-C50C-407E-A947-70E740481C1C}">
                  <a14:useLocalDpi xmlns:a14="http://schemas.microsoft.com/office/drawing/2010/main" val="0"/>
                </a:ext>
              </a:extLst>
            </a:blip>
            <a:srcRect/>
            <a:stretch>
              <a:fillRect/>
            </a:stretch>
          </p:blipFill>
          <p:spPr bwMode="auto">
            <a:xfrm>
              <a:off x="6959600" y="167976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1" descr="C:\Users\patils1\Desktop\2013 Projects\CIS v2\CIS Slide Deck_Based on Book\Colored Graphics\Disk Drive.png"/>
            <p:cNvPicPr>
              <a:picLocks noChangeAspect="1" noChangeArrowheads="1"/>
            </p:cNvPicPr>
            <p:nvPr>
              <p:custDataLst>
                <p:tags r:id="rId23"/>
              </p:custDataLst>
            </p:nvPr>
          </p:nvPicPr>
          <p:blipFill>
            <a:blip r:embed="rId30">
              <a:extLst>
                <a:ext uri="{28A0092B-C50C-407E-A947-70E740481C1C}">
                  <a14:useLocalDpi xmlns:a14="http://schemas.microsoft.com/office/drawing/2010/main" val="0"/>
                </a:ext>
              </a:extLst>
            </a:blip>
            <a:srcRect/>
            <a:stretch>
              <a:fillRect/>
            </a:stretch>
          </p:blipFill>
          <p:spPr bwMode="auto">
            <a:xfrm>
              <a:off x="7391400" y="167976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1" descr="C:\Users\patils1\Desktop\2013 Projects\CIS v2\CIS Slide Deck_Based on Book\Colored Graphics\Disk Drive.png"/>
            <p:cNvPicPr>
              <a:picLocks noChangeAspect="1" noChangeArrowheads="1"/>
            </p:cNvPicPr>
            <p:nvPr>
              <p:custDataLst>
                <p:tags r:id="rId24"/>
              </p:custDataLst>
            </p:nvPr>
          </p:nvPicPr>
          <p:blipFill>
            <a:blip r:embed="rId30">
              <a:extLst>
                <a:ext uri="{28A0092B-C50C-407E-A947-70E740481C1C}">
                  <a14:useLocalDpi xmlns:a14="http://schemas.microsoft.com/office/drawing/2010/main" val="0"/>
                </a:ext>
              </a:extLst>
            </a:blip>
            <a:srcRect/>
            <a:stretch>
              <a:fillRect/>
            </a:stretch>
          </p:blipFill>
          <p:spPr bwMode="auto">
            <a:xfrm>
              <a:off x="6096000" y="128083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1" descr="C:\Users\patils1\Desktop\2013 Projects\CIS v2\CIS Slide Deck_Based on Book\Colored Graphics\Disk Drive.png"/>
            <p:cNvPicPr>
              <a:picLocks noChangeAspect="1" noChangeArrowheads="1"/>
            </p:cNvPicPr>
            <p:nvPr>
              <p:custDataLst>
                <p:tags r:id="rId25"/>
              </p:custDataLst>
            </p:nvPr>
          </p:nvPicPr>
          <p:blipFill>
            <a:blip r:embed="rId30">
              <a:extLst>
                <a:ext uri="{28A0092B-C50C-407E-A947-70E740481C1C}">
                  <a14:useLocalDpi xmlns:a14="http://schemas.microsoft.com/office/drawing/2010/main" val="0"/>
                </a:ext>
              </a:extLst>
            </a:blip>
            <a:srcRect/>
            <a:stretch>
              <a:fillRect/>
            </a:stretch>
          </p:blipFill>
          <p:spPr bwMode="auto">
            <a:xfrm>
              <a:off x="6527800" y="128083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1" descr="C:\Users\patils1\Desktop\2013 Projects\CIS v2\CIS Slide Deck_Based on Book\Colored Graphics\Disk Drive.png"/>
            <p:cNvPicPr>
              <a:picLocks noChangeAspect="1" noChangeArrowheads="1"/>
            </p:cNvPicPr>
            <p:nvPr>
              <p:custDataLst>
                <p:tags r:id="rId26"/>
              </p:custDataLst>
            </p:nvPr>
          </p:nvPicPr>
          <p:blipFill>
            <a:blip r:embed="rId30">
              <a:extLst>
                <a:ext uri="{28A0092B-C50C-407E-A947-70E740481C1C}">
                  <a14:useLocalDpi xmlns:a14="http://schemas.microsoft.com/office/drawing/2010/main" val="0"/>
                </a:ext>
              </a:extLst>
            </a:blip>
            <a:srcRect/>
            <a:stretch>
              <a:fillRect/>
            </a:stretch>
          </p:blipFill>
          <p:spPr bwMode="auto">
            <a:xfrm>
              <a:off x="6959600" y="128083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1" descr="C:\Users\patils1\Desktop\2013 Projects\CIS v2\CIS Slide Deck_Based on Book\Colored Graphics\Disk Drive.png"/>
            <p:cNvPicPr>
              <a:picLocks noChangeAspect="1" noChangeArrowheads="1"/>
            </p:cNvPicPr>
            <p:nvPr>
              <p:custDataLst>
                <p:tags r:id="rId27"/>
              </p:custDataLst>
            </p:nvPr>
          </p:nvPicPr>
          <p:blipFill>
            <a:blip r:embed="rId30">
              <a:extLst>
                <a:ext uri="{28A0092B-C50C-407E-A947-70E740481C1C}">
                  <a14:useLocalDpi xmlns:a14="http://schemas.microsoft.com/office/drawing/2010/main" val="0"/>
                </a:ext>
              </a:extLst>
            </a:blip>
            <a:srcRect/>
            <a:stretch>
              <a:fillRect/>
            </a:stretch>
          </p:blipFill>
          <p:spPr bwMode="auto">
            <a:xfrm>
              <a:off x="7391400" y="1280835"/>
              <a:ext cx="381000" cy="38100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Up Arrow 31"/>
          <p:cNvSpPr/>
          <p:nvPr/>
        </p:nvSpPr>
        <p:spPr>
          <a:xfrm>
            <a:off x="471268" y="1123950"/>
            <a:ext cx="671732" cy="3429000"/>
          </a:xfrm>
          <a:prstGeom prst="upArrow">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vert="vert270" rtlCol="0" anchor="ctr"/>
          <a:lstStyle/>
          <a:p>
            <a:pPr algn="ctr"/>
            <a:r>
              <a:rPr lang="ru-RU" sz="1600" b="0" i="0" dirty="0">
                <a:solidFill>
                  <a:srgbClr val="FFFFFF"/>
                </a:solidFill>
                <a:latin typeface="Arial" pitchFamily="34" charset="0"/>
                <a:cs typeface="Arial" pitchFamily="34" charset="0"/>
              </a:rPr>
              <a:t>Вертикальна масштабируемость</a:t>
            </a:r>
          </a:p>
        </p:txBody>
      </p:sp>
      <p:pic>
        <p:nvPicPr>
          <p:cNvPr id="1026" name="Picture 2"/>
          <p:cNvPicPr>
            <a:picLocks noChangeAspect="1" noChangeArrowheads="1"/>
          </p:cNvPicPr>
          <p:nvPr/>
        </p:nvPicPr>
        <p:blipFill>
          <a:blip r:embed="rId31">
            <a:extLst>
              <a:ext uri="{28A0092B-C50C-407E-A947-70E740481C1C}">
                <a14:useLocalDpi xmlns:a14="http://schemas.microsoft.com/office/drawing/2010/main" val="0"/>
              </a:ext>
            </a:extLst>
          </a:blip>
          <a:stretch>
            <a:fillRect/>
          </a:stretch>
        </p:blipFill>
        <p:spPr bwMode="auto">
          <a:xfrm>
            <a:off x="3419077" y="3115454"/>
            <a:ext cx="1469003" cy="1023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 name="Picture 2"/>
          <p:cNvPicPr>
            <a:picLocks noChangeAspect="1" noChangeArrowheads="1"/>
          </p:cNvPicPr>
          <p:nvPr/>
        </p:nvPicPr>
        <p:blipFill>
          <a:blip r:embed="rId31">
            <a:extLst>
              <a:ext uri="{28A0092B-C50C-407E-A947-70E740481C1C}">
                <a14:useLocalDpi xmlns:a14="http://schemas.microsoft.com/office/drawing/2010/main" val="0"/>
              </a:ext>
            </a:extLst>
          </a:blip>
          <a:stretch>
            <a:fillRect/>
          </a:stretch>
        </p:blipFill>
        <p:spPr bwMode="auto">
          <a:xfrm>
            <a:off x="5011222" y="3115454"/>
            <a:ext cx="1469003" cy="1023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2"/>
          <p:cNvPicPr>
            <a:picLocks noChangeAspect="1" noChangeArrowheads="1"/>
          </p:cNvPicPr>
          <p:nvPr/>
        </p:nvPicPr>
        <p:blipFill>
          <a:blip r:embed="rId31">
            <a:extLst>
              <a:ext uri="{28A0092B-C50C-407E-A947-70E740481C1C}">
                <a14:useLocalDpi xmlns:a14="http://schemas.microsoft.com/office/drawing/2010/main" val="0"/>
              </a:ext>
            </a:extLst>
          </a:blip>
          <a:stretch>
            <a:fillRect/>
          </a:stretch>
        </p:blipFill>
        <p:spPr bwMode="auto">
          <a:xfrm>
            <a:off x="6619477" y="3115454"/>
            <a:ext cx="1469003" cy="1023486"/>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 name="Right Arrow 63"/>
          <p:cNvSpPr/>
          <p:nvPr/>
        </p:nvSpPr>
        <p:spPr>
          <a:xfrm>
            <a:off x="3675888" y="2038350"/>
            <a:ext cx="4481732" cy="645596"/>
          </a:xfrm>
          <a:prstGeom prst="rightArrow">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1600" b="0" i="0" dirty="0">
                <a:solidFill>
                  <a:srgbClr val="FFFFFF"/>
                </a:solidFill>
                <a:latin typeface="Arial" pitchFamily="34" charset="0"/>
                <a:cs typeface="Arial" pitchFamily="34" charset="0"/>
              </a:rPr>
              <a:t>Горизонтальная</a:t>
            </a:r>
            <a:r>
              <a:rPr lang="en-US" sz="1600" b="0" i="0" dirty="0">
                <a:solidFill>
                  <a:srgbClr val="FFFFFF"/>
                </a:solidFill>
                <a:latin typeface="Arial" pitchFamily="34" charset="0"/>
                <a:cs typeface="Arial" pitchFamily="34" charset="0"/>
              </a:rPr>
              <a:t> </a:t>
            </a:r>
            <a:r>
              <a:rPr lang="ru-RU" sz="1600" b="0" i="0" dirty="0">
                <a:solidFill>
                  <a:srgbClr val="FFFFFF"/>
                </a:solidFill>
                <a:latin typeface="Arial" pitchFamily="34" charset="0"/>
                <a:cs typeface="Arial" pitchFamily="34" charset="0"/>
              </a:rPr>
              <a:t>масштабируемость</a:t>
            </a:r>
          </a:p>
        </p:txBody>
      </p:sp>
      <p:sp>
        <p:nvSpPr>
          <p:cNvPr id="74" name="TextBox 73"/>
          <p:cNvSpPr txBox="1"/>
          <p:nvPr/>
        </p:nvSpPr>
        <p:spPr>
          <a:xfrm>
            <a:off x="3864258" y="2876550"/>
            <a:ext cx="577402" cy="246221"/>
          </a:xfrm>
          <a:prstGeom prst="rect">
            <a:avLst/>
          </a:prstGeom>
          <a:noFill/>
        </p:spPr>
        <p:txBody>
          <a:bodyPr wrap="none" rtlCol="0">
            <a:spAutoFit/>
          </a:bodyPr>
          <a:lstStyle/>
          <a:p>
            <a:r>
              <a:rPr lang="ru-RU" sz="1000" b="0" i="0" dirty="0">
                <a:solidFill>
                  <a:srgbClr val="000000"/>
                </a:solidFill>
                <a:latin typeface="Arial" pitchFamily="34" charset="0"/>
                <a:cs typeface="Arial" pitchFamily="34" charset="0"/>
              </a:rPr>
              <a:t>Узел 1</a:t>
            </a:r>
          </a:p>
        </p:txBody>
      </p:sp>
      <p:sp>
        <p:nvSpPr>
          <p:cNvPr id="79" name="TextBox 78"/>
          <p:cNvSpPr txBox="1"/>
          <p:nvPr/>
        </p:nvSpPr>
        <p:spPr>
          <a:xfrm>
            <a:off x="5455314" y="2876550"/>
            <a:ext cx="577402" cy="246221"/>
          </a:xfrm>
          <a:prstGeom prst="rect">
            <a:avLst/>
          </a:prstGeom>
          <a:noFill/>
        </p:spPr>
        <p:txBody>
          <a:bodyPr wrap="none" rtlCol="0">
            <a:spAutoFit/>
          </a:bodyPr>
          <a:lstStyle/>
          <a:p>
            <a:r>
              <a:rPr lang="ru-RU" sz="1000" b="0" i="0" dirty="0">
                <a:solidFill>
                  <a:srgbClr val="000000"/>
                </a:solidFill>
                <a:latin typeface="Arial" pitchFamily="34" charset="0"/>
                <a:cs typeface="Arial" pitchFamily="34" charset="0"/>
              </a:rPr>
              <a:t>Узел 2</a:t>
            </a:r>
          </a:p>
        </p:txBody>
      </p:sp>
      <p:sp>
        <p:nvSpPr>
          <p:cNvPr id="80" name="TextBox 79"/>
          <p:cNvSpPr txBox="1"/>
          <p:nvPr/>
        </p:nvSpPr>
        <p:spPr>
          <a:xfrm>
            <a:off x="7064658" y="2879387"/>
            <a:ext cx="577402" cy="246221"/>
          </a:xfrm>
          <a:prstGeom prst="rect">
            <a:avLst/>
          </a:prstGeom>
          <a:noFill/>
        </p:spPr>
        <p:txBody>
          <a:bodyPr wrap="none" rtlCol="0">
            <a:spAutoFit/>
          </a:bodyPr>
          <a:lstStyle/>
          <a:p>
            <a:r>
              <a:rPr lang="ru-RU" sz="1000" b="0" i="0" dirty="0">
                <a:solidFill>
                  <a:srgbClr val="000000"/>
                </a:solidFill>
                <a:latin typeface="Arial" pitchFamily="34" charset="0"/>
                <a:cs typeface="Arial" pitchFamily="34" charset="0"/>
              </a:rPr>
              <a:t>Узел 3</a:t>
            </a:r>
          </a:p>
        </p:txBody>
      </p:sp>
      <p:sp>
        <p:nvSpPr>
          <p:cNvPr id="77" name="Rounded Rectangle 76"/>
          <p:cNvSpPr/>
          <p:nvPr/>
        </p:nvSpPr>
        <p:spPr>
          <a:xfrm>
            <a:off x="3290668" y="2800350"/>
            <a:ext cx="5334000" cy="1521163"/>
          </a:xfrm>
          <a:prstGeom prst="roundRect">
            <a:avLst/>
          </a:prstGeom>
          <a:no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itchFamily="34" charset="0"/>
              <a:cs typeface="Arial" pitchFamily="34" charset="0"/>
            </a:endParaRPr>
          </a:p>
        </p:txBody>
      </p:sp>
      <p:sp>
        <p:nvSpPr>
          <p:cNvPr id="82" name="TextBox 81"/>
          <p:cNvSpPr txBox="1"/>
          <p:nvPr/>
        </p:nvSpPr>
        <p:spPr>
          <a:xfrm>
            <a:off x="5617687" y="4171950"/>
            <a:ext cx="764825" cy="276999"/>
          </a:xfrm>
          <a:prstGeom prst="rect">
            <a:avLst/>
          </a:prstGeom>
          <a:solidFill>
            <a:schemeClr val="bg1"/>
          </a:solidFill>
        </p:spPr>
        <p:txBody>
          <a:bodyPr wrap="none" rtlCol="0">
            <a:spAutoFit/>
          </a:bodyPr>
          <a:lstStyle/>
          <a:p>
            <a:r>
              <a:rPr lang="ru-RU" sz="1200" b="0" i="0" dirty="0">
                <a:solidFill>
                  <a:srgbClr val="000000"/>
                </a:solidFill>
                <a:latin typeface="Arial" pitchFamily="34" charset="0"/>
                <a:cs typeface="Arial" pitchFamily="34" charset="0"/>
              </a:rPr>
              <a:t>Кластер</a:t>
            </a:r>
          </a:p>
        </p:txBody>
      </p:sp>
      <p:sp>
        <p:nvSpPr>
          <p:cNvPr id="83" name="TextBox 82"/>
          <p:cNvSpPr txBox="1"/>
          <p:nvPr/>
        </p:nvSpPr>
        <p:spPr>
          <a:xfrm>
            <a:off x="8040469" y="3333750"/>
            <a:ext cx="748923" cy="769441"/>
          </a:xfrm>
          <a:prstGeom prst="rect">
            <a:avLst/>
          </a:prstGeom>
          <a:noFill/>
        </p:spPr>
        <p:txBody>
          <a:bodyPr wrap="none" rtlCol="0">
            <a:spAutoFit/>
          </a:bodyPr>
          <a:lstStyle/>
          <a:p>
            <a:r>
              <a:rPr lang="ru-RU" sz="4400" dirty="0">
                <a:latin typeface="Arial" pitchFamily="34" charset="0"/>
                <a:cs typeface="Arial" pitchFamily="34" charset="0"/>
              </a:rPr>
              <a:t>…</a:t>
            </a:r>
          </a:p>
        </p:txBody>
      </p:sp>
      <p:sp>
        <p:nvSpPr>
          <p:cNvPr id="42" name="TextBox 45"/>
          <p:cNvSpPr txBox="1"/>
          <p:nvPr/>
        </p:nvSpPr>
        <p:spPr>
          <a:xfrm>
            <a:off x="3903267" y="3123257"/>
            <a:ext cx="494997"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800" b="0" i="0" dirty="0">
                <a:solidFill>
                  <a:srgbClr val="000000"/>
                </a:solidFill>
                <a:latin typeface="Arial" pitchFamily="34" charset="0"/>
                <a:cs typeface="Arial" pitchFamily="34" charset="0"/>
              </a:rPr>
              <a:t>СХД</a:t>
            </a:r>
          </a:p>
        </p:txBody>
      </p:sp>
      <p:sp>
        <p:nvSpPr>
          <p:cNvPr id="43" name="TextBox 32"/>
          <p:cNvSpPr txBox="1"/>
          <p:nvPr/>
        </p:nvSpPr>
        <p:spPr>
          <a:xfrm>
            <a:off x="3055595" y="3739023"/>
            <a:ext cx="219915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Контроллеры</a:t>
            </a:r>
          </a:p>
        </p:txBody>
      </p:sp>
      <p:sp>
        <p:nvSpPr>
          <p:cNvPr id="44" name="TextBox 45"/>
          <p:cNvSpPr txBox="1"/>
          <p:nvPr/>
        </p:nvSpPr>
        <p:spPr>
          <a:xfrm>
            <a:off x="5509563" y="3123256"/>
            <a:ext cx="491949"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800" b="0" i="0" dirty="0">
                <a:solidFill>
                  <a:srgbClr val="000000"/>
                </a:solidFill>
                <a:latin typeface="Arial" pitchFamily="34" charset="0"/>
                <a:cs typeface="Arial" pitchFamily="34" charset="0"/>
              </a:rPr>
              <a:t>СХД</a:t>
            </a:r>
          </a:p>
        </p:txBody>
      </p:sp>
      <p:sp>
        <p:nvSpPr>
          <p:cNvPr id="45" name="TextBox 32"/>
          <p:cNvSpPr txBox="1"/>
          <p:nvPr/>
        </p:nvSpPr>
        <p:spPr>
          <a:xfrm>
            <a:off x="4646651" y="3739022"/>
            <a:ext cx="219915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Контроллеры</a:t>
            </a:r>
          </a:p>
        </p:txBody>
      </p:sp>
      <p:sp>
        <p:nvSpPr>
          <p:cNvPr id="46" name="TextBox 45"/>
          <p:cNvSpPr txBox="1"/>
          <p:nvPr/>
        </p:nvSpPr>
        <p:spPr>
          <a:xfrm>
            <a:off x="7109763" y="3123256"/>
            <a:ext cx="494997"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800" b="0" i="0" dirty="0">
                <a:solidFill>
                  <a:srgbClr val="000000"/>
                </a:solidFill>
                <a:latin typeface="Arial" pitchFamily="34" charset="0"/>
                <a:cs typeface="Arial" pitchFamily="34" charset="0"/>
              </a:rPr>
              <a:t>СХД</a:t>
            </a:r>
          </a:p>
        </p:txBody>
      </p:sp>
      <p:sp>
        <p:nvSpPr>
          <p:cNvPr id="47" name="TextBox 32"/>
          <p:cNvSpPr txBox="1"/>
          <p:nvPr/>
        </p:nvSpPr>
        <p:spPr>
          <a:xfrm>
            <a:off x="6255995" y="3739022"/>
            <a:ext cx="2199157"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ru-RU" sz="1200" b="0" i="0" dirty="0">
                <a:solidFill>
                  <a:srgbClr val="000000"/>
                </a:solidFill>
                <a:latin typeface="Arial" pitchFamily="34" charset="0"/>
                <a:cs typeface="Arial" pitchFamily="34" charset="0"/>
              </a:rPr>
              <a:t>Контроллеры</a:t>
            </a:r>
          </a:p>
        </p:txBody>
      </p:sp>
      <p:sp>
        <p:nvSpPr>
          <p:cNvPr id="48" name="TextBox 47"/>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42</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2335079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Урок 4. Резюме</a:t>
            </a:r>
          </a:p>
        </p:txBody>
      </p:sp>
      <p:sp>
        <p:nvSpPr>
          <p:cNvPr id="4" name="Content Placeholder 3"/>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уроке были рассмотрены следующие темы:</a:t>
            </a:r>
          </a:p>
          <a:p>
            <a:pPr>
              <a:defRPr/>
            </a:pPr>
            <a:r>
              <a:rPr lang="ru-RU" sz="2000" b="0" i="0" dirty="0">
                <a:solidFill>
                  <a:srgbClr val="000000"/>
                </a:solidFill>
                <a:latin typeface="Arial" pitchFamily="34" charset="0"/>
                <a:cs typeface="Arial" pitchFamily="34" charset="0"/>
              </a:rPr>
              <a:t>методы доступа к данным;</a:t>
            </a:r>
          </a:p>
          <a:p>
            <a:pPr>
              <a:defRPr/>
            </a:pPr>
            <a:r>
              <a:rPr lang="ru-RU" sz="2000" b="0" i="0" dirty="0">
                <a:solidFill>
                  <a:srgbClr val="000000"/>
                </a:solidFill>
                <a:latin typeface="Arial" pitchFamily="34" charset="0"/>
                <a:cs typeface="Arial" pitchFamily="34" charset="0"/>
              </a:rPr>
              <a:t>типы интеллектуальных систем хранения;</a:t>
            </a:r>
          </a:p>
          <a:p>
            <a:pPr>
              <a:defRPr/>
            </a:pPr>
            <a:r>
              <a:rPr lang="ru-RU" sz="2000" b="0" i="0" dirty="0">
                <a:solidFill>
                  <a:srgbClr val="000000"/>
                </a:solidFill>
                <a:latin typeface="Arial" pitchFamily="34" charset="0"/>
                <a:cs typeface="Arial" pitchFamily="34" charset="0"/>
              </a:rPr>
              <a:t>вертикально и горизонтально масштабируемые архитектуры.</a:t>
            </a:r>
          </a:p>
          <a:p>
            <a:pPr marL="457200" lvl="1" indent="0">
              <a:buNone/>
            </a:pPr>
            <a:endParaRPr lang="en-US" dirty="0">
              <a:latin typeface="Arial" pitchFamily="34" charset="0"/>
              <a:cs typeface="Arial" pitchFamily="34" charset="0"/>
            </a:endParaRPr>
          </a:p>
          <a:p>
            <a:endParaRPr lang="en-US" dirty="0">
              <a:latin typeface="Arial" pitchFamily="34" charset="0"/>
              <a:cs typeface="Arial" pitchFamily="34" charset="0"/>
            </a:endParaRPr>
          </a:p>
        </p:txBody>
      </p:sp>
      <p:sp>
        <p:nvSpPr>
          <p:cNvPr id="5" name="TextBox 4"/>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43</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35486054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Модуль 3. Резюме</a:t>
            </a:r>
          </a:p>
        </p:txBody>
      </p:sp>
      <p:sp>
        <p:nvSpPr>
          <p:cNvPr id="7" name="Content Placeholder 6"/>
          <p:cNvSpPr>
            <a:spLocks noGrp="1"/>
          </p:cNvSpPr>
          <p:nvPr>
            <p:ph sz="quarter" idx="10"/>
          </p:nvPr>
        </p:nvSpPr>
        <p:spPr/>
        <p:txBody>
          <a:bodyPr/>
          <a:lstStyle/>
          <a:p>
            <a:pPr marL="0" indent="0">
              <a:buNone/>
            </a:pPr>
            <a:r>
              <a:rPr lang="ru-RU" sz="2000" b="0" i="0" dirty="0">
                <a:solidFill>
                  <a:srgbClr val="000000"/>
                </a:solidFill>
                <a:latin typeface="Arial" pitchFamily="34" charset="0"/>
                <a:cs typeface="Arial" pitchFamily="34" charset="0"/>
              </a:rPr>
              <a:t>В этом модуле были рассмотрены следующие ключевые вопросы:</a:t>
            </a:r>
          </a:p>
          <a:p>
            <a:pPr lvl="0"/>
            <a:r>
              <a:rPr lang="ru-RU" sz="2000" b="0" i="0" dirty="0">
                <a:solidFill>
                  <a:srgbClr val="000000"/>
                </a:solidFill>
                <a:latin typeface="Arial" pitchFamily="34" charset="0"/>
                <a:cs typeface="Arial" pitchFamily="34" charset="0"/>
              </a:rPr>
              <a:t>ключевые компоненты интеллектуальной системы хранения;</a:t>
            </a:r>
          </a:p>
          <a:p>
            <a:pPr lvl="0"/>
            <a:r>
              <a:rPr lang="ru-RU" sz="2000" b="0" i="0" dirty="0">
                <a:solidFill>
                  <a:srgbClr val="000000"/>
                </a:solidFill>
                <a:latin typeface="Arial" pitchFamily="34" charset="0"/>
                <a:cs typeface="Arial" pitchFamily="34" charset="0"/>
              </a:rPr>
              <a:t>компоненты, адресация и производительность жестких и твердотельных дисков (HDD и SSD);</a:t>
            </a:r>
          </a:p>
          <a:p>
            <a:pPr lvl="0"/>
            <a:r>
              <a:rPr lang="ru-RU" sz="2000" b="0" i="0" dirty="0">
                <a:solidFill>
                  <a:srgbClr val="000000"/>
                </a:solidFill>
                <a:latin typeface="Arial" pitchFamily="34" charset="0"/>
                <a:cs typeface="Arial" pitchFamily="34" charset="0"/>
              </a:rPr>
              <a:t>массивы RAID, методы RAID, а также уровни RAID;</a:t>
            </a:r>
          </a:p>
          <a:p>
            <a:r>
              <a:rPr lang="ru-RU" sz="2000" b="0" i="0" dirty="0">
                <a:solidFill>
                  <a:srgbClr val="000000"/>
                </a:solidFill>
                <a:latin typeface="Arial" pitchFamily="34" charset="0"/>
                <a:cs typeface="Arial" pitchFamily="34" charset="0"/>
              </a:rPr>
              <a:t>типы интеллектуальных систем хранения.</a:t>
            </a:r>
          </a:p>
          <a:p>
            <a:endParaRPr lang="en-US" dirty="0">
              <a:latin typeface="Arial" pitchFamily="34" charset="0"/>
              <a:cs typeface="Arial" pitchFamily="34" charset="0"/>
            </a:endParaRPr>
          </a:p>
        </p:txBody>
      </p:sp>
      <p:sp>
        <p:nvSpPr>
          <p:cNvPr id="4" name="TextBox 3"/>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44</a:t>
            </a:fld>
            <a:endParaRPr lang="ru-RU" dirty="0">
              <a:solidFill>
                <a:schemeClr val="bg2"/>
              </a:solidFill>
              <a:latin typeface="Arial"/>
            </a:endParaRPr>
          </a:p>
        </p:txBody>
      </p:sp>
    </p:spTree>
    <p:custDataLst>
      <p:tags r:id="rId1"/>
    </p:custDataLst>
    <p:extLst>
      <p:ext uri="{BB962C8B-B14F-4D97-AF65-F5344CB8AC3E}">
        <p14:creationId xmlns:p14="http://schemas.microsoft.com/office/powerpoint/2010/main" val="17106254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blipFill>
          <a:blip r:embed="rId7"/>
          <a:stretch>
            <a:fillRect/>
          </a:stretch>
        </a:blip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ru-RU"/>
              <a:t>ISM v3 модуль 4: интеллектуальные системы хранения</a:t>
            </a:r>
            <a:endParaRPr lang="en-US"/>
          </a:p>
        </p:txBody>
      </p:sp>
      <p:sp>
        <p:nvSpPr>
          <p:cNvPr id="3" name="Slide Number Placeholder 2" hidden="1"/>
          <p:cNvSpPr>
            <a:spLocks noGrp="1"/>
          </p:cNvSpPr>
          <p:nvPr>
            <p:ph type="sldNum" sz="quarter" idx="10"/>
          </p:nvPr>
        </p:nvSpPr>
        <p:spPr/>
        <p:txBody>
          <a:bodyPr/>
          <a:lstStyle/>
          <a:p>
            <a:fld id="{B7FCCBDA-9680-4DD4-B999-2854C48CD6AB}" type="slidenum">
              <a:rPr lang="en-US" smtClean="0">
                <a:solidFill>
                  <a:srgbClr val="000000">
                    <a:tint val="75000"/>
                  </a:srgbClr>
                </a:solidFill>
              </a:rPr>
              <a:pPr/>
              <a:t>45</a:t>
            </a:fld>
            <a:endParaRPr lang="en-US" dirty="0">
              <a:solidFill>
                <a:srgbClr val="000000">
                  <a:tint val="75000"/>
                </a:srgbClr>
              </a:solidFill>
            </a:endParaRPr>
          </a:p>
        </p:txBody>
      </p:sp>
      <p:sp>
        <p:nvSpPr>
          <p:cNvPr id="11" name="TextBox 10"/>
          <p:cNvSpPr txBox="1"/>
          <p:nvPr/>
        </p:nvSpPr>
        <p:spPr>
          <a:xfrm>
            <a:off x="8763001" y="499402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ru-RU" smtClean="0">
                <a:solidFill>
                  <a:schemeClr val="bg2"/>
                </a:solidFill>
                <a:latin typeface="Arial"/>
              </a:rPr>
              <a:pPr lvl="0" algn="r"/>
              <a:t>45</a:t>
            </a:fld>
            <a:endParaRPr lang="ru-RU" dirty="0">
              <a:solidFill>
                <a:schemeClr val="bg2"/>
              </a:solidFill>
              <a:latin typeface="Arial"/>
            </a:endParaRPr>
          </a:p>
        </p:txBody>
      </p:sp>
      <p:pic>
        <p:nvPicPr>
          <p:cNvPr id="15" name="Picture 14" descr="~t152332.emf"/>
          <p:cNvPicPr>
            <a:picLocks/>
          </p:cNvPicPr>
          <p:nvPr>
            <p:custDataLst>
              <p:tags r:id="rId2"/>
            </p:custDataLst>
          </p:nvPr>
        </p:nvPicPr>
        <p:blipFill>
          <a:blip r:embed="rId8"/>
          <a:stretch>
            <a:fillRect/>
          </a:stretch>
        </p:blipFill>
        <p:spPr>
          <a:xfrm>
            <a:off x="660400" y="2362200"/>
            <a:ext cx="5740400" cy="2346424"/>
          </a:xfrm>
          <a:prstGeom prst="rect">
            <a:avLst/>
          </a:prstGeom>
        </p:spPr>
      </p:pic>
      <p:pic>
        <p:nvPicPr>
          <p:cNvPr id="16" name="Picture 15" descr="qmb.png"/>
          <p:cNvPicPr>
            <a:picLocks/>
          </p:cNvPicPr>
          <p:nvPr>
            <p:custDataLst>
              <p:tags r:id="rId3"/>
            </p:custDataLst>
          </p:nvPr>
        </p:nvPicPr>
        <p:blipFill>
          <a:blip r:embed="rId9"/>
          <a:stretch>
            <a:fillRect/>
          </a:stretch>
        </p:blipFill>
        <p:spPr>
          <a:xfrm>
            <a:off x="5842000" y="3030423"/>
            <a:ext cx="2560320" cy="614476"/>
          </a:xfrm>
          <a:prstGeom prst="rect">
            <a:avLst/>
          </a:prstGeom>
          <a:noFill/>
          <a:ln>
            <a:noFill/>
          </a:ln>
        </p:spPr>
        <p:style>
          <a:lnRef idx="2">
            <a:schemeClr val="accent1"/>
          </a:lnRef>
          <a:fillRef idx="1">
            <a:schemeClr val="lt1"/>
          </a:fillRef>
          <a:effectRef idx="0">
            <a:schemeClr val="accent1"/>
          </a:effectRef>
          <a:fontRef idx="minor">
            <a:schemeClr val="dk1"/>
          </a:fontRef>
        </p:style>
      </p:pic>
      <p:pic>
        <p:nvPicPr>
          <p:cNvPr id="17" name="Picture 16" descr="enga.png"/>
          <p:cNvPicPr>
            <a:picLocks/>
          </p:cNvPicPr>
          <p:nvPr>
            <p:custDataLst>
              <p:tags r:id="rId4"/>
            </p:custDataLst>
          </p:nvPr>
        </p:nvPicPr>
        <p:blipFill>
          <a:blip r:embed="rId10"/>
          <a:stretch>
            <a:fillRect/>
          </a:stretch>
        </p:blipFill>
        <p:spPr>
          <a:xfrm>
            <a:off x="5842000" y="3873500"/>
            <a:ext cx="2560320" cy="614476"/>
          </a:xfrm>
          <a:prstGeom prst="rect">
            <a:avLst/>
          </a:prstGeom>
          <a:noFill/>
          <a:ln>
            <a:noFill/>
          </a:ln>
        </p:spPr>
        <p:style>
          <a:lnRef idx="2">
            <a:schemeClr val="accent1"/>
          </a:lnRef>
          <a:fillRef idx="1">
            <a:schemeClr val="lt1"/>
          </a:fillRef>
          <a:effectRef idx="0">
            <a:schemeClr val="accent1"/>
          </a:effectRef>
          <a:fontRef idx="minor">
            <a:schemeClr val="dk1"/>
          </a:fontRef>
        </p:style>
      </p:pic>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ru-RU" sz="2800" b="0" i="0" dirty="0">
                <a:solidFill>
                  <a:srgbClr val="2C95DD"/>
                </a:solidFill>
                <a:latin typeface="Arial" pitchFamily="34" charset="0"/>
                <a:cs typeface="Arial" pitchFamily="34" charset="0"/>
              </a:rPr>
              <a:t>Отзыв о курсе </a:t>
            </a:r>
          </a:p>
        </p:txBody>
      </p:sp>
      <p:pic>
        <p:nvPicPr>
          <p:cNvPr id="5" name="Picture 10"/>
          <p:cNvPicPr>
            <a:picLocks noGrp="1" noChangeAspect="1" noChangeArrowheads="1"/>
          </p:cNvPicPr>
          <p:nvPr>
            <p:ph sz="quarter" idx="10"/>
          </p:nvPr>
        </p:nvPicPr>
        <p:blipFill>
          <a:blip r:embed="rId4" cstate="print">
            <a:lum bright="70000" contrast="-70000"/>
          </a:blip>
          <a:srcRect/>
          <a:stretch>
            <a:fillRect/>
          </a:stretch>
        </p:blipFill>
        <p:spPr bwMode="auto">
          <a:xfrm>
            <a:off x="1981200" y="1047750"/>
            <a:ext cx="3754579" cy="2514600"/>
          </a:xfrm>
          <a:prstGeom prst="rect">
            <a:avLst/>
          </a:prstGeom>
          <a:noFill/>
          <a:ln w="28575" algn="ctr">
            <a:noFill/>
            <a:miter lim="800000"/>
            <a:headEnd/>
            <a:tailEnd/>
          </a:ln>
        </p:spPr>
      </p:pic>
      <p:sp>
        <p:nvSpPr>
          <p:cNvPr id="6" name="Rounded Rectangle 7">
            <a:hlinkClick r:id="rId5"/>
          </p:cNvPr>
          <p:cNvSpPr/>
          <p:nvPr/>
        </p:nvSpPr>
        <p:spPr bwMode="auto">
          <a:xfrm>
            <a:off x="4876800" y="3257550"/>
            <a:ext cx="2386013" cy="367904"/>
          </a:xfrm>
          <a:prstGeom prst="roundRect">
            <a:avLst/>
          </a:prstGeom>
          <a:solidFill>
            <a:schemeClr val="tx1">
              <a:lumMod val="65000"/>
              <a:lumOff val="35000"/>
            </a:schemeClr>
          </a:solidFill>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a:defRPr/>
            </a:pPr>
            <a:r>
              <a:rPr lang="ru-RU" sz="1800" b="0" i="0" dirty="0">
                <a:solidFill>
                  <a:srgbClr val="FFFFFF"/>
                </a:solidFill>
                <a:latin typeface="Arial" pitchFamily="34" charset="0"/>
                <a:cs typeface="Arial" pitchFamily="34" charset="0"/>
              </a:rPr>
              <a:t>Отправить отзыв</a:t>
            </a:r>
          </a:p>
        </p:txBody>
      </p:sp>
      <p:sp>
        <p:nvSpPr>
          <p:cNvPr id="3" name="Slide Number Placeholder 2"/>
          <p:cNvSpPr>
            <a:spLocks noGrp="1"/>
          </p:cNvSpPr>
          <p:nvPr>
            <p:ph type="sldNum" sz="quarter" idx="4"/>
          </p:nvPr>
        </p:nvSpPr>
        <p:spPr/>
        <p:txBody>
          <a:bodyPr/>
          <a:lstStyle/>
          <a:p>
            <a:fld id="{B7FCCBDA-9680-4DD4-B999-2854C48CD6AB}" type="slidenum">
              <a:rPr lang="en-US" smtClean="0">
                <a:solidFill>
                  <a:srgbClr val="000000">
                    <a:tint val="75000"/>
                  </a:srgbClr>
                </a:solidFill>
              </a:rPr>
              <a:pPr/>
              <a:t>46</a:t>
            </a:fld>
            <a:endParaRPr lang="en-US" dirty="0">
              <a:solidFill>
                <a:srgbClr val="000000">
                  <a:tint val="75000"/>
                </a:srgbClr>
              </a:solidFill>
            </a:endParaRPr>
          </a:p>
        </p:txBody>
      </p:sp>
    </p:spTree>
    <p:custDataLst>
      <p:tags r:id="rId1"/>
    </p:custDataLst>
    <p:extLst>
      <p:ext uri="{BB962C8B-B14F-4D97-AF65-F5344CB8AC3E}">
        <p14:creationId xmlns:p14="http://schemas.microsoft.com/office/powerpoint/2010/main" val="12202691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REFERENCE_ID" val="67200054-48c2-4356-920e-a4d1f80bd69b"/>
  <p:tag name="ARTICULATE_SLIDE_COUNT" val="46"/>
  <p:tag name="ARTICULATE_REFERENCE_TYPE_1" val="1"/>
  <p:tag name="ARTICULATE_REFERENCE_1" val="Z:\E\Project\EMC\C15038509011_SE15319_BPP_Tech_ISMv3_eLearning_CM\DTP\RU\4\ISM v3 Module 4_eLearning_SRG.pdf"/>
  <p:tag name="ARTICULATE_REFERENCE_TITLE_1" val="Student Guide"/>
  <p:tag name="ARTICULATE_REFERENCE_ID_1" val="59599710-741f-40cb-b2d6-7e026906cec3"/>
  <p:tag name="ARTICULATE_REFERENCE_TYPE_2" val="1"/>
  <p:tag name="ARTICULATE_REFERENCE_2" val="Z:\E\Project\EMC\C15038509011_SE15319_BPP_Tech_ISMv3_eLearning_CM\DTP\RU\Four\04_NExercise 1_ Storage Design.pdf"/>
  <p:tag name="ARTICULATE_REFERENCE_TITLE_2" val="04_NExercise 1"/>
  <p:tag name="ARTICULATE_REFERENCE_ID_2" val="e99f6978-aba0-47b3-805b-0818583c2194"/>
  <p:tag name="ARTICULATE_REFERENCE_TYPE_3" val="1"/>
  <p:tag name="ARTICULATE_REFERENCE_3" val="Z:\E\Project\EMC\C15038509011_SE15319_BPP_Tech_ISMv3_eLearning_CM\DTP\RU\Four\04_NExercise 2_RAID Configuration.pdf"/>
  <p:tag name="ARTICULATE_REFERENCE_TITLE_3" val="04_NExercise 2"/>
  <p:tag name="ARTICULATE_REFERENCE_ID_3" val="edee4edf-8f34-4492-be57-f2cc966797b8"/>
  <p:tag name="ARTICULATE_REFERENCE_COUNT" val="3"/>
  <p:tag name="ARTICULATE_REFERENCE_DESCRIPTION" val="Ниже указаны полезные ссылки и документы."/>
  <p:tag name="ARTICULATE_PLAYER_GLOSSARY_XML" val="&lt;?xml version=&quot;1.0&quot; encoding=&quot;utf-16&quot;?&gt;&lt;glossary xmlns:xsi=&quot;http://www.w3.org/2001/XMLSchema-instance&quot; xmlns:xsd=&quot;http://www.w3.org/2001/XMLSchema&quot;&gt;&lt;terms /&gt;&lt;/glossary&gt;"/>
  <p:tag name="ARTICULATE_PRESENTATION_ID" val="11120"/>
  <p:tag name="ARTICULATE_PROJECT_OPEN" val="1"/>
  <p:tag name="TAG_BACKING_FORM_KEY" val="2294916-z:\e\project\emc\c15038509011_se15319_bpp_tech_ismv3_elearning_cm\dtp\ru\4\ism v3 module 4_elearning_srg-microsoft powerpoint (with notes)-ru-ru#dtp_evoo#.pptx"/>
  <p:tag name="ARTICULATE_PRESENTER_VERSION" val="7"/>
  <p:tag name="ARTICULATE_USED_PAGE_ORIENTATION" val="1"/>
  <p:tag name="ARTICULATE_USED_PAGE_SIZE" val="15"/>
  <p:tag name="ARTICULATE_META_COURSE_ID" val="4ZHjzmBdCWU_course_id"/>
  <p:tag name="ARTICULATE_META_NAME" val="CSOFT"/>
  <p:tag name="ARTICULATE_META_NAME_SET" val="True"/>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UDIO_ID" val="403"/>
  <p:tag name="ORIGINAL_AUDIO_FILEPATH" val="Z:\E\Project_MEW\C15038509011_SE15319_BPP_Tech_ISMv3_eLearning_CM\DTP\RU\Batch1\DTP\audios\4\Slide 1.mp3"/>
  <p:tag name="ELAPSEDTIME" val="15.452"/>
  <p:tag name="ARTICULATE_NAV_LEVEL" val="1"/>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1"/>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UDIO_ID" val="404"/>
  <p:tag name="ORIGINAL_AUDIO_FILEPATH" val="Z:\E\Project_MEW\C15038509011_SE15319_BPP_Tech_ISMv3_eLearning_CM\DTP\RU\Batch1\DTP\audios\4\Slide 2.mp3"/>
  <p:tag name="ELAPSEDTIME" val="40.172"/>
  <p:tag name="ARTICULATE_NAV_LEVEL" val="1"/>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0.xml><?xml version="1.0" encoding="utf-8"?>
<p:tagLst xmlns:a="http://schemas.openxmlformats.org/drawingml/2006/main" xmlns:r="http://schemas.openxmlformats.org/officeDocument/2006/relationships" xmlns:p="http://schemas.openxmlformats.org/presentationml/2006/main">
  <p:tag name="AUDIO_ID" val="391"/>
  <p:tag name="ORIGINAL_AUDIO_FILEPATH" val="Z:\E\Project_MEW\C15038509011_SE15319_BPP_Tech_ISMv3_eLearning_CM\DTP\RU\Batch1\DTP\audios\4\Slide 3.mp3"/>
  <p:tag name="ELAPSEDTIME" val="5.132"/>
  <p:tag name="ARTICULATE_NAV_LEVEL" val="1"/>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1.xml><?xml version="1.0" encoding="utf-8"?>
<p:tagLst xmlns:a="http://schemas.openxmlformats.org/drawingml/2006/main" xmlns:r="http://schemas.openxmlformats.org/officeDocument/2006/relationships" xmlns:p="http://schemas.openxmlformats.org/presentationml/2006/main">
  <p:tag name="AUDIO_ID" val="392"/>
  <p:tag name="ORIGINAL_AUDIO_FILEPATH" val="Z:\E\Project_MEW\C15038509011_SE15319_BPP_Tech_ISMv3_eLearning_CM\DTP\RU\Batch1\DTP\audios\4\Slide 4.mp3"/>
  <p:tag name="ELAPSEDTIME" val="6.042"/>
  <p:tag name="ARTICULATE_NAV_LEVEL" val="1"/>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2.xml><?xml version="1.0" encoding="utf-8"?>
<p:tagLst xmlns:a="http://schemas.openxmlformats.org/drawingml/2006/main" xmlns:r="http://schemas.openxmlformats.org/officeDocument/2006/relationships" xmlns:p="http://schemas.openxmlformats.org/presentationml/2006/main">
  <p:tag name="AUDIO_ID" val="313"/>
  <p:tag name="ORIGINAL_AUDIO_FILEPATH" val="Z:\E\Project_MEW\C15038509011_SE15319_BPP_Tech_ISMv3_eLearning_CM\DTP\RU\Batch1\DTP\audios\4\Slide 5.mp3"/>
  <p:tag name="ELAPSEDTIME" val="10.222"/>
  <p:tag name="ARTICULATE_NAV_LEVEL" val="1"/>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4"/>
</p:tagLst>
</file>

<file path=ppt/tags/tag43.xml><?xml version="1.0" encoding="utf-8"?>
<p:tagLst xmlns:a="http://schemas.openxmlformats.org/drawingml/2006/main" xmlns:r="http://schemas.openxmlformats.org/officeDocument/2006/relationships" xmlns:p="http://schemas.openxmlformats.org/presentationml/2006/main">
  <p:tag name="AUDIO_ID" val="314"/>
  <p:tag name="ORIGINAL_AUDIO_FILEPATH" val="Z:\E\Project_MEW\C15038509011_SE15319_BPP_Tech_ISMv3_eLearning_CM\DTP\RU\Batch1\DTP\audios\4\Slide 6.mp3"/>
  <p:tag name="ELAPSEDTIME" val="112.87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4.xml><?xml version="1.0" encoding="utf-8"?>
<p:tagLst xmlns:a="http://schemas.openxmlformats.org/drawingml/2006/main" xmlns:r="http://schemas.openxmlformats.org/officeDocument/2006/relationships" xmlns:p="http://schemas.openxmlformats.org/presentationml/2006/main">
  <p:tag name="DUPLICATEID" val="1fc1f1aa8f894bc0abf5c3d69526dd6f"/>
</p:tagLst>
</file>

<file path=ppt/tags/tag45.xml><?xml version="1.0" encoding="utf-8"?>
<p:tagLst xmlns:a="http://schemas.openxmlformats.org/drawingml/2006/main" xmlns:r="http://schemas.openxmlformats.org/officeDocument/2006/relationships" xmlns:p="http://schemas.openxmlformats.org/presentationml/2006/main">
  <p:tag name="DUPLICATEID" val="f16e385307cd4443bf76f2e3014e2499"/>
</p:tagLst>
</file>

<file path=ppt/tags/tag46.xml><?xml version="1.0" encoding="utf-8"?>
<p:tagLst xmlns:a="http://schemas.openxmlformats.org/drawingml/2006/main" xmlns:r="http://schemas.openxmlformats.org/officeDocument/2006/relationships" xmlns:p="http://schemas.openxmlformats.org/presentationml/2006/main">
  <p:tag name="AUDIO_ID" val="330"/>
  <p:tag name="ORIGINAL_AUDIO_FILEPATH" val="Z:\E\Project_MEW\C15038509011_SE15319_BPP_Tech_ISMv3_eLearning_CM\DTP\RU\Batch1\DTP\audios\4\Slide 7.mp3"/>
  <p:tag name="ELAPSEDTIME" val="93.52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7.xml><?xml version="1.0" encoding="utf-8"?>
<p:tagLst xmlns:a="http://schemas.openxmlformats.org/drawingml/2006/main" xmlns:r="http://schemas.openxmlformats.org/officeDocument/2006/relationships" xmlns:p="http://schemas.openxmlformats.org/presentationml/2006/main">
  <p:tag name="AUDIO_ID" val="334"/>
  <p:tag name="ORIGINAL_AUDIO_FILEPATH" val="Z:\E\Project_MEW\C15038509011_SE15319_BPP_Tech_ISMv3_eLearning_CM\DTP\RU\Batch1\DTP\audios\4\8_9.wav"/>
  <p:tag name="ELAPSEDTIME" val="276.19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7"/>
</p:tagLst>
</file>

<file path=ppt/tags/tag48.xml><?xml version="1.0" encoding="utf-8"?>
<p:tagLst xmlns:a="http://schemas.openxmlformats.org/drawingml/2006/main" xmlns:r="http://schemas.openxmlformats.org/officeDocument/2006/relationships" xmlns:p="http://schemas.openxmlformats.org/presentationml/2006/main">
  <p:tag name="AUDIO_ID" val="336"/>
  <p:tag name="ORIGINAL_AUDIO_FILEPATH" val="Z:\E\Project_MEW\C15038509011_SE15319_BPP_Tech_ISMv3_eLearning_CM\DTP\RU\Batch1\DTP\audios\4\Slide 10.mp3"/>
  <p:tag name="ELAPSEDTIME" val="85.56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49.xml><?xml version="1.0" encoding="utf-8"?>
<p:tagLst xmlns:a="http://schemas.openxmlformats.org/drawingml/2006/main" xmlns:r="http://schemas.openxmlformats.org/officeDocument/2006/relationships" xmlns:p="http://schemas.openxmlformats.org/presentationml/2006/main">
  <p:tag name="AUDIO_ID" val="337"/>
  <p:tag name="ORIGINAL_AUDIO_FILEPATH" val="Z:\E\Project_MEW\C15038509011_SE15319_BPP_Tech_ISMv3_eLearning_CM\DTP\RU\Batch1\DTP\audios\4\Slide 11.mp3"/>
  <p:tag name="ELAPSEDTIME" val="77.67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0.xml><?xml version="1.0" encoding="utf-8"?>
<p:tagLst xmlns:a="http://schemas.openxmlformats.org/drawingml/2006/main" xmlns:r="http://schemas.openxmlformats.org/officeDocument/2006/relationships" xmlns:p="http://schemas.openxmlformats.org/presentationml/2006/main">
  <p:tag name="AUDIO_ID" val="338"/>
  <p:tag name="ORIGINAL_AUDIO_FILEPATH" val="Z:\E\Project_MEW\C15038509011_SE15319_BPP_Tech_ISMv3_eLearning_CM\DTP\RU\Batch1\DTP\audios\4\Slide 12.mp3"/>
  <p:tag name="ELAPSEDTIME" val="18.02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1.xml><?xml version="1.0" encoding="utf-8"?>
<p:tagLst xmlns:a="http://schemas.openxmlformats.org/drawingml/2006/main" xmlns:r="http://schemas.openxmlformats.org/officeDocument/2006/relationships" xmlns:p="http://schemas.openxmlformats.org/presentationml/2006/main">
  <p:tag name="AUDIO_ID" val="339"/>
  <p:tag name="ORIGINAL_AUDIO_FILEPATH" val="Z:\E\Project_MEW\C15038509011_SE15319_BPP_Tech_ISMv3_eLearning_CM\DTP\RU\Batch1\DTP\audios\4\Slide 13.mp3"/>
  <p:tag name="ELAPSEDTIME" val="110.20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2.xml><?xml version="1.0" encoding="utf-8"?>
<p:tagLst xmlns:a="http://schemas.openxmlformats.org/drawingml/2006/main" xmlns:r="http://schemas.openxmlformats.org/officeDocument/2006/relationships" xmlns:p="http://schemas.openxmlformats.org/presentationml/2006/main">
  <p:tag name="AUDIO_ID" val="340"/>
  <p:tag name="ORIGINAL_AUDIO_FILEPATH" val="Z:\E\Project_MEW\C15038509011_SE15319_BPP_Tech_ISMv3_eLearning_CM\DTP\RU\Batch1\DTP\audios\4\Slide 14.mp3"/>
  <p:tag name="ELAPSEDTIME" val="75.96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3.xml><?xml version="1.0" encoding="utf-8"?>
<p:tagLst xmlns:a="http://schemas.openxmlformats.org/drawingml/2006/main" xmlns:r="http://schemas.openxmlformats.org/officeDocument/2006/relationships" xmlns:p="http://schemas.openxmlformats.org/presentationml/2006/main">
  <p:tag name="AUDIO_ID" val="341"/>
  <p:tag name="ORIGINAL_AUDIO_FILEPATH" val="Z:\E\Project_MEW\C15038509011_SE15319_BPP_Tech_ISMv3_eLearning_CM\DTP\RU\Batch1\DTP\audios\4\Slide 15.mp3"/>
  <p:tag name="ELAPSEDTIME" val="85.44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4.xml><?xml version="1.0" encoding="utf-8"?>
<p:tagLst xmlns:a="http://schemas.openxmlformats.org/drawingml/2006/main" xmlns:r="http://schemas.openxmlformats.org/officeDocument/2006/relationships" xmlns:p="http://schemas.openxmlformats.org/presentationml/2006/main">
  <p:tag name="AUDIO_ID" val="399"/>
  <p:tag name="ORIGINAL_AUDIO_FILEPATH" val="Z:\E\Project_MEW\C15038509011_SE15319_BPP_Tech_ISMv3_eLearning_CM\DTP\RU\Batch1\DTP\audios\4\Slide 16.mp3"/>
  <p:tag name="ELAPSEDTIME" val="137.61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5.xml><?xml version="1.0" encoding="utf-8"?>
<p:tagLst xmlns:a="http://schemas.openxmlformats.org/drawingml/2006/main" xmlns:r="http://schemas.openxmlformats.org/officeDocument/2006/relationships" xmlns:p="http://schemas.openxmlformats.org/presentationml/2006/main">
  <p:tag name="AUDIO_ID" val="400"/>
  <p:tag name="ORIGINAL_AUDIO_FILEPATH" val="Z:\E\Project_MEW\C15038509011_SE15319_BPP_Tech_ISMv3_eLearning_CM\DTP\RU\Batch1\DTP\audios\4\17_18.wav"/>
  <p:tag name="ELAPSEDTIME" val="259.56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56.xml><?xml version="1.0" encoding="utf-8"?>
<p:tagLst xmlns:a="http://schemas.openxmlformats.org/drawingml/2006/main" xmlns:r="http://schemas.openxmlformats.org/officeDocument/2006/relationships" xmlns:p="http://schemas.openxmlformats.org/presentationml/2006/main">
  <p:tag name="AUDIO_ID" val="398"/>
  <p:tag name="ORIGINAL_AUDIO_FILEPATH" val="Z:\E\Project_MEW\C15038509011_SE15319_BPP_Tech_ISMv3_eLearning_CM\DTP\RU\Batch1\DTP\audios\4\Slide 19.mp3"/>
  <p:tag name="ELAPSEDTIME" val="10.15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4"/>
</p:tagLst>
</file>

<file path=ppt/tags/tag57.xml><?xml version="1.0" encoding="utf-8"?>
<p:tagLst xmlns:a="http://schemas.openxmlformats.org/drawingml/2006/main" xmlns:r="http://schemas.openxmlformats.org/officeDocument/2006/relationships" xmlns:p="http://schemas.openxmlformats.org/presentationml/2006/main">
  <p:tag name="AUDIO_ID" val="397"/>
  <p:tag name="ORIGINAL_AUDIO_FILEPATH" val="Z:\E\Project_MEW\C15038509011_SE15319_BPP_Tech_ISMv3_eLearning_CM\DTP\RU\Batch1\DTP\audios\4\Slide 20.mp3"/>
  <p:tag name="ELAPSEDTIME" val="5.852"/>
  <p:tag name="ARTICULATE_NAV_LEVEL" val="1"/>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4"/>
</p:tagLst>
</file>

<file path=ppt/tags/tag58.xml><?xml version="1.0" encoding="utf-8"?>
<p:tagLst xmlns:a="http://schemas.openxmlformats.org/drawingml/2006/main" xmlns:r="http://schemas.openxmlformats.org/officeDocument/2006/relationships" xmlns:p="http://schemas.openxmlformats.org/presentationml/2006/main">
  <p:tag name="AUDIO_ID" val="342"/>
  <p:tag name="ORIGINAL_AUDIO_FILEPATH" val="Z:\E\Project_MEW\C15038509011_SE15319_BPP_Tech_ISMv3_eLearning_CM\DTP\RU\Batch1\DTP\audios\4\21_22.wav"/>
  <p:tag name="ELAPSEDTIME" val="344.42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7"/>
</p:tagLst>
</file>

<file path=ppt/tags/tag59.xml><?xml version="1.0" encoding="utf-8"?>
<p:tagLst xmlns:a="http://schemas.openxmlformats.org/drawingml/2006/main" xmlns:r="http://schemas.openxmlformats.org/officeDocument/2006/relationships" xmlns:p="http://schemas.openxmlformats.org/presentationml/2006/main">
  <p:tag name="DUPLICATEID" val="8741d73d58f245b1a624aa553cc15465"/>
</p:tagLst>
</file>

<file path=ppt/tags/tag60.xml><?xml version="1.0" encoding="utf-8"?>
<p:tagLst xmlns:a="http://schemas.openxmlformats.org/drawingml/2006/main" xmlns:r="http://schemas.openxmlformats.org/officeDocument/2006/relationships" xmlns:p="http://schemas.openxmlformats.org/presentationml/2006/main">
  <p:tag name="DUPLICATEID" val="bff2619e657e401d98ef7c5846a831b2"/>
</p:tagLst>
</file>

<file path=ppt/tags/tag61.xml><?xml version="1.0" encoding="utf-8"?>
<p:tagLst xmlns:a="http://schemas.openxmlformats.org/drawingml/2006/main" xmlns:r="http://schemas.openxmlformats.org/officeDocument/2006/relationships" xmlns:p="http://schemas.openxmlformats.org/presentationml/2006/main">
  <p:tag name="DUPLICATEID" val="ddd21f8b25484ca585d561ae81be4fa2"/>
</p:tagLst>
</file>

<file path=ppt/tags/tag62.xml><?xml version="1.0" encoding="utf-8"?>
<p:tagLst xmlns:a="http://schemas.openxmlformats.org/drawingml/2006/main" xmlns:r="http://schemas.openxmlformats.org/officeDocument/2006/relationships" xmlns:p="http://schemas.openxmlformats.org/presentationml/2006/main">
  <p:tag name="DUPLICATEID" val="e26a88b63fd04fb3a94bbe9eff3d3464"/>
</p:tagLst>
</file>

<file path=ppt/tags/tag63.xml><?xml version="1.0" encoding="utf-8"?>
<p:tagLst xmlns:a="http://schemas.openxmlformats.org/drawingml/2006/main" xmlns:r="http://schemas.openxmlformats.org/officeDocument/2006/relationships" xmlns:p="http://schemas.openxmlformats.org/presentationml/2006/main">
  <p:tag name="DUPLICATEID" val="605ef1bf58444a9ca287e7f7d75655c6"/>
</p:tagLst>
</file>

<file path=ppt/tags/tag64.xml><?xml version="1.0" encoding="utf-8"?>
<p:tagLst xmlns:a="http://schemas.openxmlformats.org/drawingml/2006/main" xmlns:r="http://schemas.openxmlformats.org/officeDocument/2006/relationships" xmlns:p="http://schemas.openxmlformats.org/presentationml/2006/main">
  <p:tag name="DUPLICATEID" val="3ce5a9b2dcb5422ba07f4d25dbe5a5c2"/>
</p:tagLst>
</file>

<file path=ppt/tags/tag65.xml><?xml version="1.0" encoding="utf-8"?>
<p:tagLst xmlns:a="http://schemas.openxmlformats.org/drawingml/2006/main" xmlns:r="http://schemas.openxmlformats.org/officeDocument/2006/relationships" xmlns:p="http://schemas.openxmlformats.org/presentationml/2006/main">
  <p:tag name="DUPLICATEID" val="9ed11c8271a242dfb9847595dd5044ed"/>
</p:tagLst>
</file>

<file path=ppt/tags/tag66.xml><?xml version="1.0" encoding="utf-8"?>
<p:tagLst xmlns:a="http://schemas.openxmlformats.org/drawingml/2006/main" xmlns:r="http://schemas.openxmlformats.org/officeDocument/2006/relationships" xmlns:p="http://schemas.openxmlformats.org/presentationml/2006/main">
  <p:tag name="DUPLICATEID" val="6bfa1822cb524a0688853a8947781eab"/>
</p:tagLst>
</file>

<file path=ppt/tags/tag67.xml><?xml version="1.0" encoding="utf-8"?>
<p:tagLst xmlns:a="http://schemas.openxmlformats.org/drawingml/2006/main" xmlns:r="http://schemas.openxmlformats.org/officeDocument/2006/relationships" xmlns:p="http://schemas.openxmlformats.org/presentationml/2006/main">
  <p:tag name="DUPLICATEID" val="9e1e933ccb064623bb87d7b67f9579d6"/>
</p:tagLst>
</file>

<file path=ppt/tags/tag68.xml><?xml version="1.0" encoding="utf-8"?>
<p:tagLst xmlns:a="http://schemas.openxmlformats.org/drawingml/2006/main" xmlns:r="http://schemas.openxmlformats.org/officeDocument/2006/relationships" xmlns:p="http://schemas.openxmlformats.org/presentationml/2006/main">
  <p:tag name="DUPLICATEID" val="0a41088bb97c4ea2a4cfad028bff1810"/>
</p:tagLst>
</file>

<file path=ppt/tags/tag69.xml><?xml version="1.0" encoding="utf-8"?>
<p:tagLst xmlns:a="http://schemas.openxmlformats.org/drawingml/2006/main" xmlns:r="http://schemas.openxmlformats.org/officeDocument/2006/relationships" xmlns:p="http://schemas.openxmlformats.org/presentationml/2006/main">
  <p:tag name="DUPLICATEID" val="3ba8038b4a4b4481a93f2835f23330be"/>
</p:tagLst>
</file>

<file path=ppt/tags/tag70.xml><?xml version="1.0" encoding="utf-8"?>
<p:tagLst xmlns:a="http://schemas.openxmlformats.org/drawingml/2006/main" xmlns:r="http://schemas.openxmlformats.org/officeDocument/2006/relationships" xmlns:p="http://schemas.openxmlformats.org/presentationml/2006/main">
  <p:tag name="DUPLICATEID" val="a9610d6776ef48f2a5f7ee75364c5412"/>
</p:tagLst>
</file>

<file path=ppt/tags/tag71.xml><?xml version="1.0" encoding="utf-8"?>
<p:tagLst xmlns:a="http://schemas.openxmlformats.org/drawingml/2006/main" xmlns:r="http://schemas.openxmlformats.org/officeDocument/2006/relationships" xmlns:p="http://schemas.openxmlformats.org/presentationml/2006/main">
  <p:tag name="DUPLICATEID" val="97ce3bce25b149d2a2f4fceb7a510a5f"/>
</p:tagLst>
</file>

<file path=ppt/tags/tag72.xml><?xml version="1.0" encoding="utf-8"?>
<p:tagLst xmlns:a="http://schemas.openxmlformats.org/drawingml/2006/main" xmlns:r="http://schemas.openxmlformats.org/officeDocument/2006/relationships" xmlns:p="http://schemas.openxmlformats.org/presentationml/2006/main">
  <p:tag name="DUPLICATEID" val="f0068acb42544b0a899e03e3b24deb0e"/>
</p:tagLst>
</file>

<file path=ppt/tags/tag73.xml><?xml version="1.0" encoding="utf-8"?>
<p:tagLst xmlns:a="http://schemas.openxmlformats.org/drawingml/2006/main" xmlns:r="http://schemas.openxmlformats.org/officeDocument/2006/relationships" xmlns:p="http://schemas.openxmlformats.org/presentationml/2006/main">
  <p:tag name="AUDIO_ID" val="344"/>
  <p:tag name="ORIGINAL_AUDIO_FILEPATH" val="Z:\E\Project_MEW\C15038509011_SE15319_BPP_Tech_ISMv3_eLearning_CM\DTP\RU\Batch1\DTP\audios\4\Slide 23.mp3"/>
  <p:tag name="ELAPSEDTIME" val="98.37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74.xml><?xml version="1.0" encoding="utf-8"?>
<p:tagLst xmlns:a="http://schemas.openxmlformats.org/drawingml/2006/main" xmlns:r="http://schemas.openxmlformats.org/officeDocument/2006/relationships" xmlns:p="http://schemas.openxmlformats.org/presentationml/2006/main">
  <p:tag name="AUDIO_ID" val="402"/>
  <p:tag name="ORIGINAL_AUDIO_FILEPATH" val="Z:\E\Project_MEW\C15038509011_SE15319_BPP_Tech_ISMv3_eLearning_CM\DTP\RU\Batch1\DTP\audios\4\Slide 24.mp3"/>
  <p:tag name="ELAPSEDTIME" val="143.88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75.xml><?xml version="1.0" encoding="utf-8"?>
<p:tagLst xmlns:a="http://schemas.openxmlformats.org/drawingml/2006/main" xmlns:r="http://schemas.openxmlformats.org/officeDocument/2006/relationships" xmlns:p="http://schemas.openxmlformats.org/presentationml/2006/main">
  <p:tag name="DUPLICATEID" val="dea2d43634fc40b88aa06e23ec0afd8d"/>
</p:tagLst>
</file>

<file path=ppt/tags/tag76.xml><?xml version="1.0" encoding="utf-8"?>
<p:tagLst xmlns:a="http://schemas.openxmlformats.org/drawingml/2006/main" xmlns:r="http://schemas.openxmlformats.org/officeDocument/2006/relationships" xmlns:p="http://schemas.openxmlformats.org/presentationml/2006/main">
  <p:tag name="DUPLICATEID" val="131f013e9fd7467c9028e04aa6408bd0"/>
</p:tagLst>
</file>

<file path=ppt/tags/tag77.xml><?xml version="1.0" encoding="utf-8"?>
<p:tagLst xmlns:a="http://schemas.openxmlformats.org/drawingml/2006/main" xmlns:r="http://schemas.openxmlformats.org/officeDocument/2006/relationships" xmlns:p="http://schemas.openxmlformats.org/presentationml/2006/main">
  <p:tag name="DUPLICATEID" val="0aff2c64760a47669560d3681683be34"/>
</p:tagLst>
</file>

<file path=ppt/tags/tag78.xml><?xml version="1.0" encoding="utf-8"?>
<p:tagLst xmlns:a="http://schemas.openxmlformats.org/drawingml/2006/main" xmlns:r="http://schemas.openxmlformats.org/officeDocument/2006/relationships" xmlns:p="http://schemas.openxmlformats.org/presentationml/2006/main">
  <p:tag name="DUPLICATEID" val="2baf3b588ee840ce8c50ab6caf8d9830"/>
</p:tagLst>
</file>

<file path=ppt/tags/tag79.xml><?xml version="1.0" encoding="utf-8"?>
<p:tagLst xmlns:a="http://schemas.openxmlformats.org/drawingml/2006/main" xmlns:r="http://schemas.openxmlformats.org/officeDocument/2006/relationships" xmlns:p="http://schemas.openxmlformats.org/presentationml/2006/main">
  <p:tag name="DUPLICATEID" val="0af43c5274d640be961a0af636ac1cfb"/>
</p:tagLst>
</file>

<file path=ppt/tags/tag80.xml><?xml version="1.0" encoding="utf-8"?>
<p:tagLst xmlns:a="http://schemas.openxmlformats.org/drawingml/2006/main" xmlns:r="http://schemas.openxmlformats.org/officeDocument/2006/relationships" xmlns:p="http://schemas.openxmlformats.org/presentationml/2006/main">
  <p:tag name="AUDIO_ID" val="346"/>
  <p:tag name="ORIGINAL_AUDIO_FILEPATH" val="Z:\E\Project_MEW\C15038509011_SE15319_BPP_Tech_ISMv3_eLearning_CM\DTP\RU\Batch1\DTP\audios\4\Slide 25.mp3"/>
  <p:tag name="ELAPSEDTIME" val="162.38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1.xml><?xml version="1.0" encoding="utf-8"?>
<p:tagLst xmlns:a="http://schemas.openxmlformats.org/drawingml/2006/main" xmlns:r="http://schemas.openxmlformats.org/officeDocument/2006/relationships" xmlns:p="http://schemas.openxmlformats.org/presentationml/2006/main">
  <p:tag name="AUDIO_ID" val="319"/>
  <p:tag name="ORIGINAL_AUDIO_FILEPATH" val="Z:\E\Project_MEW\C15038509011_SE15319_BPP_Tech_ISMv3_eLearning_CM\DTP\RU\Batch1\DTP\audios\4\Slide 26.mp3"/>
  <p:tag name="ELAPSEDTIME" val="5.83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4"/>
</p:tagLst>
</file>

<file path=ppt/tags/tag82.xml><?xml version="1.0" encoding="utf-8"?>
<p:tagLst xmlns:a="http://schemas.openxmlformats.org/drawingml/2006/main" xmlns:r="http://schemas.openxmlformats.org/officeDocument/2006/relationships" xmlns:p="http://schemas.openxmlformats.org/presentationml/2006/main">
  <p:tag name="AUDIO_ID" val="359"/>
  <p:tag name="ORIGINAL_AUDIO_FILEPATH" val="Z:\E\Project_MEW\C15038509011_SE15319_BPP_Tech_ISMv3_eLearning_CM\DTP\RU\Batch1\DTP\audios\4\Slide 27.mp3"/>
  <p:tag name="ELAPSEDTIME" val="21.572"/>
  <p:tag name="ARTICULATE_NAV_LEVEL" val="1"/>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4"/>
</p:tagLst>
</file>

<file path=ppt/tags/tag83.xml><?xml version="1.0" encoding="utf-8"?>
<p:tagLst xmlns:a="http://schemas.openxmlformats.org/drawingml/2006/main" xmlns:r="http://schemas.openxmlformats.org/officeDocument/2006/relationships" xmlns:p="http://schemas.openxmlformats.org/presentationml/2006/main">
  <p:tag name="AUDIO_ID" val="351"/>
  <p:tag name="ORIGINAL_AUDIO_FILEPATH" val="Z:\E\Project_MEW\C15038509011_SE15319_BPP_Tech_ISMv3_eLearning_CM\DTP\RU\Batch1\DTP\audios\4\28_29.wav"/>
  <p:tag name="ELAPSEDTIME" val="186.81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4.xml><?xml version="1.0" encoding="utf-8"?>
<p:tagLst xmlns:a="http://schemas.openxmlformats.org/drawingml/2006/main" xmlns:r="http://schemas.openxmlformats.org/officeDocument/2006/relationships" xmlns:p="http://schemas.openxmlformats.org/presentationml/2006/main">
  <p:tag name="AUDIO_ID" val="353"/>
  <p:tag name="ORIGINAL_AUDIO_FILEPATH" val="Z:\E\Project_MEW\C15038509011_SE15319_BPP_Tech_ISMv3_eLearning_CM\DTP\RU\Batch1\DTP\audios\4\Slide 30.mp3"/>
  <p:tag name="ELAPSEDTIME" val="19.75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5.xml><?xml version="1.0" encoding="utf-8"?>
<p:tagLst xmlns:a="http://schemas.openxmlformats.org/drawingml/2006/main" xmlns:r="http://schemas.openxmlformats.org/officeDocument/2006/relationships" xmlns:p="http://schemas.openxmlformats.org/presentationml/2006/main">
  <p:tag name="AUDIO_ID" val="354"/>
  <p:tag name="ORIGINAL_AUDIO_FILEPATH" val="Z:\E\Project_MEW\C15038509011_SE15319_BPP_Tech_ISMv3_eLearning_CM\DTP\RU\Batch1\DTP\audios\4\31_32.wav"/>
  <p:tag name="ELAPSEDTIME" val="378.16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6.xml><?xml version="1.0" encoding="utf-8"?>
<p:tagLst xmlns:a="http://schemas.openxmlformats.org/drawingml/2006/main" xmlns:r="http://schemas.openxmlformats.org/officeDocument/2006/relationships" xmlns:p="http://schemas.openxmlformats.org/presentationml/2006/main">
  <p:tag name="AUDIO_ID" val="361"/>
  <p:tag name="ORIGINAL_AUDIO_FILEPATH" val="Z:\E\Project_MEW\C15038509011_SE15319_BPP_Tech_ISMv3_eLearning_CM\DTP\RU\Batch1\DTP\audios\4\Slide 33.mp3"/>
  <p:tag name="ELAPSEDTIME" val="26.04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7.xml><?xml version="1.0" encoding="utf-8"?>
<p:tagLst xmlns:a="http://schemas.openxmlformats.org/drawingml/2006/main" xmlns:r="http://schemas.openxmlformats.org/officeDocument/2006/relationships" xmlns:p="http://schemas.openxmlformats.org/presentationml/2006/main">
  <p:tag name="AUDIO_ID" val="362"/>
  <p:tag name="ORIGINAL_AUDIO_FILEPATH" val="Z:\E\Project_MEW\C15038509011_SE15319_BPP_Tech_ISMv3_eLearning_CM\DTP\RU\Batch1\DTP\audios\4\Slide 34.mp3"/>
  <p:tag name="ELAPSEDTIME" val="42.40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8.xml><?xml version="1.0" encoding="utf-8"?>
<p:tagLst xmlns:a="http://schemas.openxmlformats.org/drawingml/2006/main" xmlns:r="http://schemas.openxmlformats.org/officeDocument/2006/relationships" xmlns:p="http://schemas.openxmlformats.org/presentationml/2006/main">
  <p:tag name="AUDIO_ID" val="363"/>
  <p:tag name="ORIGINAL_AUDIO_FILEPATH" val="Z:\E\Project_MEW\C15038509011_SE15319_BPP_Tech_ISMv3_eLearning_CM\DTP\RU\Batch1\DTP\audios\4\Slide 35.mp3"/>
  <p:tag name="ELAPSEDTIME" val="37.92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89.xml><?xml version="1.0" encoding="utf-8"?>
<p:tagLst xmlns:a="http://schemas.openxmlformats.org/drawingml/2006/main" xmlns:r="http://schemas.openxmlformats.org/officeDocument/2006/relationships" xmlns:p="http://schemas.openxmlformats.org/presentationml/2006/main">
  <p:tag name="AUDIO_ID" val="364"/>
  <p:tag name="ORIGINAL_AUDIO_FILEPATH" val="Z:\E\Project_MEW\C15038509011_SE15319_BPP_Tech_ISMv3_eLearning_CM\DTP\RU\Batch1\DTP\audios\4\Slide 36.mp3"/>
  <p:tag name="ELAPSEDTIME" val="64.12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90.xml><?xml version="1.0" encoding="utf-8"?>
<p:tagLst xmlns:a="http://schemas.openxmlformats.org/drawingml/2006/main" xmlns:r="http://schemas.openxmlformats.org/officeDocument/2006/relationships" xmlns:p="http://schemas.openxmlformats.org/presentationml/2006/main">
  <p:tag name="AUDIO_ID" val="365"/>
  <p:tag name="ORIGINAL_AUDIO_FILEPATH" val="Z:\E\Project_MEW\C15038509011_SE15319_BPP_Tech_ISMv3_eLearning_CM\DTP\RU\Batch1\DTP\audios\4\Slide 37.mp3"/>
  <p:tag name="ELAPSEDTIME" val="40.48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91.xml><?xml version="1.0" encoding="utf-8"?>
<p:tagLst xmlns:a="http://schemas.openxmlformats.org/drawingml/2006/main" xmlns:r="http://schemas.openxmlformats.org/officeDocument/2006/relationships" xmlns:p="http://schemas.openxmlformats.org/presentationml/2006/main">
  <p:tag name="AUDIO_ID" val="366"/>
  <p:tag name="ORIGINAL_AUDIO_FILEPATH" val="Z:\E\Project_MEW\C15038509011_SE15319_BPP_Tech_ISMv3_eLearning_CM\DTP\RU\Batch1\DTP\audios\4\Slide 38.mp3"/>
  <p:tag name="ELAPSEDTIME" val="33.45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92.xml><?xml version="1.0" encoding="utf-8"?>
<p:tagLst xmlns:a="http://schemas.openxmlformats.org/drawingml/2006/main" xmlns:r="http://schemas.openxmlformats.org/officeDocument/2006/relationships" xmlns:p="http://schemas.openxmlformats.org/presentationml/2006/main">
  <p:tag name="AUDIO_ID" val="367"/>
  <p:tag name="ORIGINAL_AUDIO_FILEPATH" val="Z:\E\Project_MEW\C15038509011_SE15319_BPP_Tech_ISMv3_eLearning_CM\DTP\RU\Batch1\DTP\audios\4\Slide 39.mp3"/>
  <p:tag name="ELAPSEDTIME" val="40.51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93.xml><?xml version="1.0" encoding="utf-8"?>
<p:tagLst xmlns:a="http://schemas.openxmlformats.org/drawingml/2006/main" xmlns:r="http://schemas.openxmlformats.org/officeDocument/2006/relationships" xmlns:p="http://schemas.openxmlformats.org/presentationml/2006/main">
  <p:tag name="AUDIO_ID" val="368"/>
  <p:tag name="ORIGINAL_AUDIO_FILEPATH" val="Z:\E\Project_MEW\C15038509011_SE15319_BPP_Tech_ISMv3_eLearning_CM\DTP\RU\Batch1\DTP\audios\4\Slide 40.mp3"/>
  <p:tag name="ELAPSEDTIME" val="157.17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94.xml><?xml version="1.0" encoding="utf-8"?>
<p:tagLst xmlns:a="http://schemas.openxmlformats.org/drawingml/2006/main" xmlns:r="http://schemas.openxmlformats.org/officeDocument/2006/relationships" xmlns:p="http://schemas.openxmlformats.org/presentationml/2006/main">
  <p:tag name="AUDIO_ID" val="371"/>
  <p:tag name="ORIGINAL_AUDIO_FILEPATH" val="Z:\E\Project_MEW\C15038509011_SE15319_BPP_Tech_ISMv3_eLearning_CM\DTP\RU\Batch1\DTP\audios\4\Slide 41.mp3"/>
  <p:tag name="ELAPSEDTIME" val="3.76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95.xml><?xml version="1.0" encoding="utf-8"?>
<p:tagLst xmlns:a="http://schemas.openxmlformats.org/drawingml/2006/main" xmlns:r="http://schemas.openxmlformats.org/officeDocument/2006/relationships" xmlns:p="http://schemas.openxmlformats.org/presentationml/2006/main">
  <p:tag name="AUDIO_ID" val="373"/>
  <p:tag name="ORIGINAL_AUDIO_FILEPATH" val="Z:\E\Project_MEW\C15038509011_SE15319_BPP_Tech_ISMv3_eLearning_CM\DTP\RU\Batch1\DTP\audios\4\Slide 42.mp3"/>
  <p:tag name="ELAPSEDTIME" val="135.96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96.xml><?xml version="1.0" encoding="utf-8"?>
<p:tagLst xmlns:a="http://schemas.openxmlformats.org/drawingml/2006/main" xmlns:r="http://schemas.openxmlformats.org/officeDocument/2006/relationships" xmlns:p="http://schemas.openxmlformats.org/presentationml/2006/main">
  <p:tag name="AUDIO_ID" val="381"/>
  <p:tag name="ORIGINAL_AUDIO_FILEPATH" val="Z:\E\Project_MEW\C15038509011_SE15319_BPP_Tech_ISMv3_eLearning_CM\DTP\RU\Batch1\DTP\audios\4\Slide 43.mp3"/>
  <p:tag name="ELAPSEDTIME" val="21.38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4"/>
</p:tagLst>
</file>

<file path=ppt/tags/tag97.xml><?xml version="1.0" encoding="utf-8"?>
<p:tagLst xmlns:a="http://schemas.openxmlformats.org/drawingml/2006/main" xmlns:r="http://schemas.openxmlformats.org/officeDocument/2006/relationships" xmlns:p="http://schemas.openxmlformats.org/presentationml/2006/main">
  <p:tag name="AUDIO_ID" val="382"/>
  <p:tag name="ORIGINAL_AUDIO_FILEPATH" val="Z:\E\Project_MEW\C15038509011_SE15319_BPP_Tech_ISMv3_eLearning_CM\DTP\RU\Batch1\DTP\audios\4\Slide 44.mp3"/>
  <p:tag name="ELAPSEDTIME" val="13.682"/>
  <p:tag name="ARTICULATE_NAV_LEVEL" val="1"/>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4"/>
</p:tagLst>
</file>

<file path=ppt/tags/tag98.xml><?xml version="1.0" encoding="utf-8"?>
<p:tagLst xmlns:a="http://schemas.openxmlformats.org/drawingml/2006/main" xmlns:r="http://schemas.openxmlformats.org/officeDocument/2006/relationships" xmlns:p="http://schemas.openxmlformats.org/presentationml/2006/main">
  <p:tag name="AUDIO_ID" val="375"/>
  <p:tag name="ORIGINAL_AUDIO_FILEPATH" val="Z:\E\Project_MEW\C15038509011_SE15319_BPP_Tech_ISMv3_eLearning_CM\DTP\RU\Batch1\DTP\audios\4\Slide 45.mp3"/>
  <p:tag name="ELAPSEDTIME" val="169.92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99.xml><?xml version="1.0" encoding="utf-8"?>
<p:tagLst xmlns:a="http://schemas.openxmlformats.org/drawingml/2006/main" xmlns:r="http://schemas.openxmlformats.org/officeDocument/2006/relationships" xmlns:p="http://schemas.openxmlformats.org/presentationml/2006/main">
  <p:tag name="AUDIO_ID" val="374"/>
  <p:tag name="ORIGINAL_AUDIO_FILEPATH" val="Z:\E\Project_MEW\C15038509011_SE15319_BPP_Tech_ISMv3_eLearning_CM\DTP\RU\Batch1\DTP\audios\4\Slide 46.mp3"/>
  <p:tag name="ELAPSEDTIME" val="28.56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00.xml><?xml version="1.0" encoding="utf-8"?>
<p:tagLst xmlns:a="http://schemas.openxmlformats.org/drawingml/2006/main" xmlns:r="http://schemas.openxmlformats.org/officeDocument/2006/relationships" xmlns:p="http://schemas.openxmlformats.org/presentationml/2006/main">
  <p:tag name="AUDIO_ID" val="393"/>
  <p:tag name="ORIGINAL_AUDIO_FILEPATH" val="Z:\E\Project_MEW\C15038509011_SE15319_BPP_Tech_ISMv3_eLearning_CM\DTP\RU\Batch1\DTP\audios\4\Slide 47.mp3"/>
  <p:tag name="ELAPSEDTIME" val="76.72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01.xml><?xml version="1.0" encoding="utf-8"?>
<p:tagLst xmlns:a="http://schemas.openxmlformats.org/drawingml/2006/main" xmlns:r="http://schemas.openxmlformats.org/officeDocument/2006/relationships" xmlns:p="http://schemas.openxmlformats.org/presentationml/2006/main">
  <p:tag name="DUPLICATEID" val="c3ad15614caa4985b380b09d559463aa"/>
</p:tagLst>
</file>

<file path=ppt/tags/tag102.xml><?xml version="1.0" encoding="utf-8"?>
<p:tagLst xmlns:a="http://schemas.openxmlformats.org/drawingml/2006/main" xmlns:r="http://schemas.openxmlformats.org/officeDocument/2006/relationships" xmlns:p="http://schemas.openxmlformats.org/presentationml/2006/main">
  <p:tag name="DUPLICATEID" val="0cdcd6e2f7194b3bb784139ef3095dca"/>
</p:tagLst>
</file>

<file path=ppt/tags/tag103.xml><?xml version="1.0" encoding="utf-8"?>
<p:tagLst xmlns:a="http://schemas.openxmlformats.org/drawingml/2006/main" xmlns:r="http://schemas.openxmlformats.org/officeDocument/2006/relationships" xmlns:p="http://schemas.openxmlformats.org/presentationml/2006/main">
  <p:tag name="DUPLICATEID" val="bc3cef970f0148a78f9ceee404d1bfd2"/>
</p:tagLst>
</file>

<file path=ppt/tags/tag104.xml><?xml version="1.0" encoding="utf-8"?>
<p:tagLst xmlns:a="http://schemas.openxmlformats.org/drawingml/2006/main" xmlns:r="http://schemas.openxmlformats.org/officeDocument/2006/relationships" xmlns:p="http://schemas.openxmlformats.org/presentationml/2006/main">
  <p:tag name="DUPLICATEID" val="2574d496a0f74b0789e8ef7556c01607"/>
</p:tagLst>
</file>

<file path=ppt/tags/tag105.xml><?xml version="1.0" encoding="utf-8"?>
<p:tagLst xmlns:a="http://schemas.openxmlformats.org/drawingml/2006/main" xmlns:r="http://schemas.openxmlformats.org/officeDocument/2006/relationships" xmlns:p="http://schemas.openxmlformats.org/presentationml/2006/main">
  <p:tag name="DUPLICATEID" val="ff7e29f7770046919cdd102f87d3fe9a"/>
</p:tagLst>
</file>

<file path=ppt/tags/tag106.xml><?xml version="1.0" encoding="utf-8"?>
<p:tagLst xmlns:a="http://schemas.openxmlformats.org/drawingml/2006/main" xmlns:r="http://schemas.openxmlformats.org/officeDocument/2006/relationships" xmlns:p="http://schemas.openxmlformats.org/presentationml/2006/main">
  <p:tag name="DUPLICATEID" val="8e518f6c3aa040d0b0a1ceab5742e174"/>
</p:tagLst>
</file>

<file path=ppt/tags/tag107.xml><?xml version="1.0" encoding="utf-8"?>
<p:tagLst xmlns:a="http://schemas.openxmlformats.org/drawingml/2006/main" xmlns:r="http://schemas.openxmlformats.org/officeDocument/2006/relationships" xmlns:p="http://schemas.openxmlformats.org/presentationml/2006/main">
  <p:tag name="DUPLICATEID" val="f4fbf8ad55f74ef18997cf78d6738058"/>
</p:tagLst>
</file>

<file path=ppt/tags/tag108.xml><?xml version="1.0" encoding="utf-8"?>
<p:tagLst xmlns:a="http://schemas.openxmlformats.org/drawingml/2006/main" xmlns:r="http://schemas.openxmlformats.org/officeDocument/2006/relationships" xmlns:p="http://schemas.openxmlformats.org/presentationml/2006/main">
  <p:tag name="DUPLICATEID" val="ab9cbe6db3f04034877604312f1b916a"/>
</p:tagLst>
</file>

<file path=ppt/tags/tag109.xml><?xml version="1.0" encoding="utf-8"?>
<p:tagLst xmlns:a="http://schemas.openxmlformats.org/drawingml/2006/main" xmlns:r="http://schemas.openxmlformats.org/officeDocument/2006/relationships" xmlns:p="http://schemas.openxmlformats.org/presentationml/2006/main">
  <p:tag name="DUPLICATEID" val="977ed6928d0448eaafa53e37aa8d36ea"/>
</p:tagLst>
</file>

<file path=ppt/tags/tag110.xml><?xml version="1.0" encoding="utf-8"?>
<p:tagLst xmlns:a="http://schemas.openxmlformats.org/drawingml/2006/main" xmlns:r="http://schemas.openxmlformats.org/officeDocument/2006/relationships" xmlns:p="http://schemas.openxmlformats.org/presentationml/2006/main">
  <p:tag name="DUPLICATEID" val="d011b66d60aa4d50bd2e029279b8621d"/>
</p:tagLst>
</file>

<file path=ppt/tags/tag111.xml><?xml version="1.0" encoding="utf-8"?>
<p:tagLst xmlns:a="http://schemas.openxmlformats.org/drawingml/2006/main" xmlns:r="http://schemas.openxmlformats.org/officeDocument/2006/relationships" xmlns:p="http://schemas.openxmlformats.org/presentationml/2006/main">
  <p:tag name="DUPLICATEID" val="b8e2a15cc2a24e7ca73eb9abc1c5f5be"/>
</p:tagLst>
</file>

<file path=ppt/tags/tag112.xml><?xml version="1.0" encoding="utf-8"?>
<p:tagLst xmlns:a="http://schemas.openxmlformats.org/drawingml/2006/main" xmlns:r="http://schemas.openxmlformats.org/officeDocument/2006/relationships" xmlns:p="http://schemas.openxmlformats.org/presentationml/2006/main">
  <p:tag name="DUPLICATEID" val="4ee01dc19da44831b13c0ff670a305ea"/>
</p:tagLst>
</file>

<file path=ppt/tags/tag113.xml><?xml version="1.0" encoding="utf-8"?>
<p:tagLst xmlns:a="http://schemas.openxmlformats.org/drawingml/2006/main" xmlns:r="http://schemas.openxmlformats.org/officeDocument/2006/relationships" xmlns:p="http://schemas.openxmlformats.org/presentationml/2006/main">
  <p:tag name="DUPLICATEID" val="f8f63673fc3a474d9d8ed02dfc5868fb"/>
</p:tagLst>
</file>

<file path=ppt/tags/tag114.xml><?xml version="1.0" encoding="utf-8"?>
<p:tagLst xmlns:a="http://schemas.openxmlformats.org/drawingml/2006/main" xmlns:r="http://schemas.openxmlformats.org/officeDocument/2006/relationships" xmlns:p="http://schemas.openxmlformats.org/presentationml/2006/main">
  <p:tag name="DUPLICATEID" val="b40cbdb959d1498db78470958b0efad8"/>
</p:tagLst>
</file>

<file path=ppt/tags/tag115.xml><?xml version="1.0" encoding="utf-8"?>
<p:tagLst xmlns:a="http://schemas.openxmlformats.org/drawingml/2006/main" xmlns:r="http://schemas.openxmlformats.org/officeDocument/2006/relationships" xmlns:p="http://schemas.openxmlformats.org/presentationml/2006/main">
  <p:tag name="DUPLICATEID" val="50981161f29d43ebb3409c5954841d69"/>
</p:tagLst>
</file>

<file path=ppt/tags/tag116.xml><?xml version="1.0" encoding="utf-8"?>
<p:tagLst xmlns:a="http://schemas.openxmlformats.org/drawingml/2006/main" xmlns:r="http://schemas.openxmlformats.org/officeDocument/2006/relationships" xmlns:p="http://schemas.openxmlformats.org/presentationml/2006/main">
  <p:tag name="DUPLICATEID" val="8c0b37084bd34f74978831896ee02406"/>
</p:tagLst>
</file>

<file path=ppt/tags/tag117.xml><?xml version="1.0" encoding="utf-8"?>
<p:tagLst xmlns:a="http://schemas.openxmlformats.org/drawingml/2006/main" xmlns:r="http://schemas.openxmlformats.org/officeDocument/2006/relationships" xmlns:p="http://schemas.openxmlformats.org/presentationml/2006/main">
  <p:tag name="DUPLICATEID" val="2d89b0658362456887790da98b3aa2ee"/>
</p:tagLst>
</file>

<file path=ppt/tags/tag118.xml><?xml version="1.0" encoding="utf-8"?>
<p:tagLst xmlns:a="http://schemas.openxmlformats.org/drawingml/2006/main" xmlns:r="http://schemas.openxmlformats.org/officeDocument/2006/relationships" xmlns:p="http://schemas.openxmlformats.org/presentationml/2006/main">
  <p:tag name="DUPLICATEID" val="31ba9603cb944dd782929ec8dfa062c2"/>
</p:tagLst>
</file>

<file path=ppt/tags/tag119.xml><?xml version="1.0" encoding="utf-8"?>
<p:tagLst xmlns:a="http://schemas.openxmlformats.org/drawingml/2006/main" xmlns:r="http://schemas.openxmlformats.org/officeDocument/2006/relationships" xmlns:p="http://schemas.openxmlformats.org/presentationml/2006/main">
  <p:tag name="DUPLICATEID" val="2ef44ea8607e4445bfa8f71edab49dbf"/>
</p:tagLst>
</file>

<file path=ppt/tags/tag120.xml><?xml version="1.0" encoding="utf-8"?>
<p:tagLst xmlns:a="http://schemas.openxmlformats.org/drawingml/2006/main" xmlns:r="http://schemas.openxmlformats.org/officeDocument/2006/relationships" xmlns:p="http://schemas.openxmlformats.org/presentationml/2006/main">
  <p:tag name="DUPLICATEID" val="7abdbebcded14e3abfcff91e7d528d18"/>
</p:tagLst>
</file>

<file path=ppt/tags/tag121.xml><?xml version="1.0" encoding="utf-8"?>
<p:tagLst xmlns:a="http://schemas.openxmlformats.org/drawingml/2006/main" xmlns:r="http://schemas.openxmlformats.org/officeDocument/2006/relationships" xmlns:p="http://schemas.openxmlformats.org/presentationml/2006/main">
  <p:tag name="DUPLICATEID" val="499a7b64e62249fdaa49978d034f8b16"/>
</p:tagLst>
</file>

<file path=ppt/tags/tag122.xml><?xml version="1.0" encoding="utf-8"?>
<p:tagLst xmlns:a="http://schemas.openxmlformats.org/drawingml/2006/main" xmlns:r="http://schemas.openxmlformats.org/officeDocument/2006/relationships" xmlns:p="http://schemas.openxmlformats.org/presentationml/2006/main">
  <p:tag name="DUPLICATEID" val="8ded8cb5b4404b5db1f8da01d4c86a09"/>
</p:tagLst>
</file>

<file path=ppt/tags/tag123.xml><?xml version="1.0" encoding="utf-8"?>
<p:tagLst xmlns:a="http://schemas.openxmlformats.org/drawingml/2006/main" xmlns:r="http://schemas.openxmlformats.org/officeDocument/2006/relationships" xmlns:p="http://schemas.openxmlformats.org/presentationml/2006/main">
  <p:tag name="DUPLICATEID" val="a0c74e0621bc4255ae5d45f6dad1bc0c"/>
</p:tagLst>
</file>

<file path=ppt/tags/tag124.xml><?xml version="1.0" encoding="utf-8"?>
<p:tagLst xmlns:a="http://schemas.openxmlformats.org/drawingml/2006/main" xmlns:r="http://schemas.openxmlformats.org/officeDocument/2006/relationships" xmlns:p="http://schemas.openxmlformats.org/presentationml/2006/main">
  <p:tag name="DUPLICATEID" val="6aa759d16a3c47f8a91edc88c2460df5"/>
</p:tagLst>
</file>

<file path=ppt/tags/tag125.xml><?xml version="1.0" encoding="utf-8"?>
<p:tagLst xmlns:a="http://schemas.openxmlformats.org/drawingml/2006/main" xmlns:r="http://schemas.openxmlformats.org/officeDocument/2006/relationships" xmlns:p="http://schemas.openxmlformats.org/presentationml/2006/main">
  <p:tag name="DUPLICATEID" val="c8dafcb41d2148fba4c00bf8e5cf741f"/>
</p:tagLst>
</file>

<file path=ppt/tags/tag126.xml><?xml version="1.0" encoding="utf-8"?>
<p:tagLst xmlns:a="http://schemas.openxmlformats.org/drawingml/2006/main" xmlns:r="http://schemas.openxmlformats.org/officeDocument/2006/relationships" xmlns:p="http://schemas.openxmlformats.org/presentationml/2006/main">
  <p:tag name="DUPLICATEID" val="df64b47ba2884f9aae20fec774c7aaaf"/>
</p:tagLst>
</file>

<file path=ppt/tags/tag127.xml><?xml version="1.0" encoding="utf-8"?>
<p:tagLst xmlns:a="http://schemas.openxmlformats.org/drawingml/2006/main" xmlns:r="http://schemas.openxmlformats.org/officeDocument/2006/relationships" xmlns:p="http://schemas.openxmlformats.org/presentationml/2006/main">
  <p:tag name="AUDIO_ID" val="358"/>
  <p:tag name="ORIGINAL_AUDIO_FILEPATH" val="Z:\E\Project_MEW\C15038509011_SE15319_BPP_Tech_ISMv3_eLearning_CM\DTP\RU\Batch1\DTP\audios\4\Slide 48.mp3"/>
  <p:tag name="ELAPSEDTIME" val="14.712"/>
  <p:tag name="ARTICULATE_NAV_LEVEL" val="2"/>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4"/>
</p:tagLst>
</file>

<file path=ppt/tags/tag128.xml><?xml version="1.0" encoding="utf-8"?>
<p:tagLst xmlns:a="http://schemas.openxmlformats.org/drawingml/2006/main" xmlns:r="http://schemas.openxmlformats.org/officeDocument/2006/relationships" xmlns:p="http://schemas.openxmlformats.org/presentationml/2006/main">
  <p:tag name="AUDIO_ID" val="405"/>
  <p:tag name="ORIGINAL_AUDIO_FILEPATH" val="Z:\E\Project_MEW\C15038509011_SE15319_BPP_Tech_ISMv3_eLearning_CM\DTP\RU\Batch1\DTP\audios\4\Slide 49.mp3"/>
  <p:tag name="ELAPSEDTIME" val="39.982"/>
  <p:tag name="ARTICULATE_NAV_LEVEL" val="1"/>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ags/tag129.xml><?xml version="1.0" encoding="utf-8"?>
<p:tagLst xmlns:a="http://schemas.openxmlformats.org/drawingml/2006/main" xmlns:r="http://schemas.openxmlformats.org/officeDocument/2006/relationships" xmlns:p="http://schemas.openxmlformats.org/presentationml/2006/main">
  <p:tag name="QUIZMAKER_QUIZ_FILENAME" val="Z:\E\Project_MEW\C15038509011_SE15319_BPP_Tech_ISMv3_eLearning_CM\DTP\RU\Batch1\DTP\4\ISM v3 Module 4 Intelligent Storage Systems.quiz"/>
  <p:tag name="ARTICULATE_SHOW_IN_MENU" val="multipleitems"/>
  <p:tag name="AQP_PASS_ACTION" val="2"/>
  <p:tag name="AQP_FAIL_ACTION" val="0"/>
  <p:tag name="AUDIO_ID" val="408"/>
  <p:tag name="ARTICULATE_NAV_LEVEL" val="1"/>
  <p:tag name="ARTICULATE_SLIDE_PRESENTER_GUID" val="b564155a-dc21-4e55-95d4-0295bbd0894c"/>
  <p:tag name="ARTICULATE_SLIDE_PAUSE" val="1"/>
  <p:tag name="ARTICULATE_LOCK_SLIDE" val="1"/>
  <p:tag name="ARTICULATE_HIDE_SLIDE" val="0"/>
  <p:tag name="ARTICULATE_PLAYER_CONTROL_PREVIOUS" val="True"/>
  <p:tag name="ARTICULATE_PLAYER_CONTROL_NEXT" val="True"/>
  <p:tag name="ARTICULATE_PLAYER_SEEKBAR" val="False"/>
  <p:tag name="ARTICULATE_PLAYER_CONTROL_PLAYPAUSE" val="False"/>
  <p:tag name="ARTICULATE_SLIDE_THUMBNAIL_REFRESH" val="1"/>
  <p:tag name="OVERRIDE" val="QUIZMAKER_QUIZ_SLIDE"/>
  <p:tag name="QUIZMAKER_QUIZ_TITLE" val="ISM v3 модуль 4: интеллектуальные системы хранения"/>
  <p:tag name="ARTICULATE_DESCRIPTION" val="Quiz - 5 questions"/>
  <p:tag name="QUIZMAKER_QUIZ_SLIDE_ID" val="408"/>
  <p:tag name="QUIZMAKER_QUIZ_FORCE_UPDATE" val="0"/>
  <p:tag name="AQP_PASS_SCORE" val="80"/>
  <p:tag name="QUIZMAKER_LAST_MODIFY_DATE" val="42320.6413078704"/>
  <p:tag name="EMBEDDEDCONTENT_LASTWRITETIMEUTC" val="2015-11-12 07:23:29Z"/>
  <p:tag name="ELAPSEDTIME" val="0"/>
  <p:tag name="ARTICULATE_USED_LAYOUT" val="17"/>
</p:tagLst>
</file>

<file path=ppt/tags/tag130.xml><?xml version="1.0" encoding="utf-8"?>
<p:tagLst xmlns:a="http://schemas.openxmlformats.org/drawingml/2006/main" xmlns:r="http://schemas.openxmlformats.org/officeDocument/2006/relationships" xmlns:p="http://schemas.openxmlformats.org/presentationml/2006/main">
  <p:tag name="QM_PROPERTY" val="1"/>
  <p:tag name="ART_QM_A" val="1"/>
</p:tagLst>
</file>

<file path=ppt/tags/tag131.xml><?xml version="1.0" encoding="utf-8"?>
<p:tagLst xmlns:a="http://schemas.openxmlformats.org/drawingml/2006/main" xmlns:r="http://schemas.openxmlformats.org/officeDocument/2006/relationships" xmlns:p="http://schemas.openxmlformats.org/presentationml/2006/main">
  <p:tag name="QM_PROPERTY" val="1"/>
  <p:tag name="ART_QM_B" val="1"/>
</p:tagLst>
</file>

<file path=ppt/tags/tag132.xml><?xml version="1.0" encoding="utf-8"?>
<p:tagLst xmlns:a="http://schemas.openxmlformats.org/drawingml/2006/main" xmlns:r="http://schemas.openxmlformats.org/officeDocument/2006/relationships" xmlns:p="http://schemas.openxmlformats.org/presentationml/2006/main">
  <p:tag name="QM_PROPERTY" val="1"/>
  <p:tag name="ART_QM_A" val="1"/>
</p:tagLst>
</file>

<file path=ppt/tags/tag133.xml><?xml version="1.0" encoding="utf-8"?>
<p:tagLst xmlns:a="http://schemas.openxmlformats.org/drawingml/2006/main" xmlns:r="http://schemas.openxmlformats.org/officeDocument/2006/relationships" xmlns:p="http://schemas.openxmlformats.org/presentationml/2006/main">
  <p:tag name="AUDIO_ID" val="407"/>
  <p:tag name="ARTICULATE_NAV_LEVEL" val="1"/>
  <p:tag name="ARTICULATE_SLIDE_PRESENTER_GUID" val="b564155a-dc21-4e55-95d4-0295bbd0894c"/>
  <p:tag name="ARTICULATE_SLIDE_PAUSE" val="1"/>
  <p:tag name="ARTICULATE_LOCK_SLIDE" val="0"/>
  <p:tag name="ARTICULATE_HIDE_SLIDE" val="0"/>
  <p:tag name="ARTICULATE_PLAYER_CONTROL_PREVIOUS" val="True"/>
  <p:tag name="ARTICULATE_PLAYER_CONTROL_NEXT" val="True"/>
  <p:tag name="ARTICULATE_USED_LAYOUT" val="2"/>
</p:tagLst>
</file>

<file path=ppt/theme/theme1.xml><?xml version="1.0" encoding="utf-8"?>
<a:theme xmlns:a="http://schemas.openxmlformats.org/drawingml/2006/main" name="D311-16x9_ILT OILT VILT Template_OPEN Curriculum-20151401">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D311-16x9_elearning Template_OPEN Curriculum-20151401 (1)">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D311-16x9_ILT OILT VILT Template_OPEN Curriculum-20151401</Template>
  <TotalTime>5496</TotalTime>
  <Words>10694</Words>
  <Application>Microsoft Office PowerPoint</Application>
  <PresentationFormat>Экран (16:9)</PresentationFormat>
  <Paragraphs>668</Paragraphs>
  <Slides>46</Slides>
  <Notes>46</Notes>
  <HiddenSlides>0</HiddenSlides>
  <MMClips>0</MMClips>
  <ScaleCrop>false</ScaleCrop>
  <HeadingPairs>
    <vt:vector size="6" baseType="variant">
      <vt:variant>
        <vt:lpstr>Использованные шрифты</vt:lpstr>
      </vt:variant>
      <vt:variant>
        <vt:i4>4</vt:i4>
      </vt:variant>
      <vt:variant>
        <vt:lpstr>Тема</vt:lpstr>
      </vt:variant>
      <vt:variant>
        <vt:i4>2</vt:i4>
      </vt:variant>
      <vt:variant>
        <vt:lpstr>Заголовки слайдов</vt:lpstr>
      </vt:variant>
      <vt:variant>
        <vt:i4>46</vt:i4>
      </vt:variant>
    </vt:vector>
  </HeadingPairs>
  <TitlesOfParts>
    <vt:vector size="52" baseType="lpstr">
      <vt:lpstr>Arial</vt:lpstr>
      <vt:lpstr>Lucida Grande</vt:lpstr>
      <vt:lpstr>Verdana</vt:lpstr>
      <vt:lpstr>Wingdings</vt:lpstr>
      <vt:lpstr>D311-16x9_ILT OILT VILT Template_OPEN Curriculum-20151401</vt:lpstr>
      <vt:lpstr>D311-16x9_elearning Template_OPEN Curriculum-20151401 (1)</vt:lpstr>
      <vt:lpstr>ISM v3 модуль 4: интеллектуальные системы хранения</vt:lpstr>
      <vt:lpstr>Обзор модуля</vt:lpstr>
      <vt:lpstr>Требования третьей платформы для системы хранения</vt:lpstr>
      <vt:lpstr>Технологическое решение</vt:lpstr>
      <vt:lpstr>Урок 1. Компоненты интеллектуальной системы хранения — I. </vt:lpstr>
      <vt:lpstr>Что такое интеллектуальная система хранения?</vt:lpstr>
      <vt:lpstr>Компоненты интеллектуальной системы хранения</vt:lpstr>
      <vt:lpstr>СХД — жесткие диски</vt:lpstr>
      <vt:lpstr>Структура физического диска</vt:lpstr>
      <vt:lpstr>Адресация логического блока</vt:lpstr>
      <vt:lpstr>Производительность жесткого диска</vt:lpstr>
      <vt:lpstr>Время поиска</vt:lpstr>
      <vt:lpstr>Задержка из-за вращения диска</vt:lpstr>
      <vt:lpstr>Скорость передачи данных</vt:lpstr>
      <vt:lpstr>Сравнение использования контроллера ввода-вывода и времени отклика</vt:lpstr>
      <vt:lpstr>Конструкция системы хранения на основе требований приложений и производительности жестких дисков</vt:lpstr>
      <vt:lpstr>Урок 1. Резюме</vt:lpstr>
      <vt:lpstr>Урок 2. Компоненты интеллектуальной системы хранения — II. </vt:lpstr>
      <vt:lpstr>Система хранения — твердотельные диски (SSD)</vt:lpstr>
      <vt:lpstr>Адресация твердотельных дисков (SSD)</vt:lpstr>
      <vt:lpstr>Состояние страницы и блока</vt:lpstr>
      <vt:lpstr>Производительность твердотельного диска</vt:lpstr>
      <vt:lpstr>Урок 2. Резюме</vt:lpstr>
      <vt:lpstr>Урок 3. RAID</vt:lpstr>
      <vt:lpstr>Преимущества массивов RAID</vt:lpstr>
      <vt:lpstr>Компоненты массива RAID</vt:lpstr>
      <vt:lpstr>Методы RAID</vt:lpstr>
      <vt:lpstr>Уровни RAID</vt:lpstr>
      <vt:lpstr>RAID 0</vt:lpstr>
      <vt:lpstr>RAID 1</vt:lpstr>
      <vt:lpstr>Вложенный RAID — 1+0</vt:lpstr>
      <vt:lpstr>RAID 3</vt:lpstr>
      <vt:lpstr>RAID 5</vt:lpstr>
      <vt:lpstr>RAID 6</vt:lpstr>
      <vt:lpstr>Воздействие массивов RAID на производительность</vt:lpstr>
      <vt:lpstr>Сравнение массивов RAID</vt:lpstr>
      <vt:lpstr>Динамическое резервирование дисков («горячее» резервирование)</vt:lpstr>
      <vt:lpstr>Урок 3. Резюме</vt:lpstr>
      <vt:lpstr>Урок 4. Типы интеллектуальных систем хранения</vt:lpstr>
      <vt:lpstr>Методы доступа к данным</vt:lpstr>
      <vt:lpstr>Типы интеллектуальных систем хранения</vt:lpstr>
      <vt:lpstr>Сравнение вертикально и горизонтально масштабируемых архитектур</vt:lpstr>
      <vt:lpstr>Урок 4. Резюме</vt:lpstr>
      <vt:lpstr>Модуль 3. Резюме</vt:lpstr>
      <vt:lpstr>ISM v3 модуль 4: интеллектуальные системы хранения</vt:lpstr>
      <vt:lpstr>Отзыв о курсе </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Sagar</dc:creator>
  <cp:lastModifiedBy>Борис Николаевич Пищик</cp:lastModifiedBy>
  <cp:revision>426</cp:revision>
  <cp:lastPrinted>2013-12-05T19:23:46Z</cp:lastPrinted>
  <dcterms:created xsi:type="dcterms:W3CDTF">2015-01-29T08:47:38Z</dcterms:created>
  <dcterms:modified xsi:type="dcterms:W3CDTF">2021-03-10T15:04:33Z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Path">
    <vt:lpwstr>2014 Template</vt:lpwstr>
  </property>
  <property fmtid="{D5CDD505-2E9C-101B-9397-08002B2CF9AE}" pid="3" name="ArticulateUseProject">
    <vt:lpwstr>1</vt:lpwstr>
  </property>
  <property fmtid="{D5CDD505-2E9C-101B-9397-08002B2CF9AE}" pid="4" name="ArticulateProjectVersion">
    <vt:lpwstr>7</vt:lpwstr>
  </property>
  <property fmtid="{D5CDD505-2E9C-101B-9397-08002B2CF9AE}" pid="5" name="ArticulateGUID">
    <vt:lpwstr>FFE4E185-AED2-4F8B-B8B2-00AA31545BBE</vt:lpwstr>
  </property>
  <property fmtid="{D5CDD505-2E9C-101B-9397-08002B2CF9AE}" pid="6" name="ArticulateProjectFull">
    <vt:lpwstr>Z:\E\Project\EMC\C15038509011_SE15319_BPP_Tech_ISMv3_eLearning_CM\DTP\RU\4\ISM v3 Module 4_eLearning_SRG-Microsoft PowerPoint (With Notes)-ru-RU#DTP_EVOO#.ppta</vt:lpwstr>
  </property>
</Properties>
</file>