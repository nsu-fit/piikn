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5" r:id="rId1"/>
  </p:sldMasterIdLst>
  <p:notesMasterIdLst>
    <p:notesMasterId r:id="rId44"/>
  </p:notesMasterIdLst>
  <p:sldIdLst>
    <p:sldId id="256" r:id="rId2"/>
    <p:sldId id="262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59" r:id="rId11"/>
    <p:sldId id="289" r:id="rId12"/>
    <p:sldId id="291" r:id="rId13"/>
    <p:sldId id="290" r:id="rId14"/>
    <p:sldId id="258" r:id="rId15"/>
    <p:sldId id="257" r:id="rId16"/>
    <p:sldId id="270" r:id="rId17"/>
    <p:sldId id="271" r:id="rId18"/>
    <p:sldId id="272" r:id="rId19"/>
    <p:sldId id="273" r:id="rId20"/>
    <p:sldId id="295" r:id="rId21"/>
    <p:sldId id="274" r:id="rId22"/>
    <p:sldId id="296" r:id="rId23"/>
    <p:sldId id="287" r:id="rId24"/>
    <p:sldId id="276" r:id="rId25"/>
    <p:sldId id="297" r:id="rId26"/>
    <p:sldId id="298" r:id="rId27"/>
    <p:sldId id="299" r:id="rId28"/>
    <p:sldId id="300" r:id="rId29"/>
    <p:sldId id="293" r:id="rId30"/>
    <p:sldId id="301" r:id="rId31"/>
    <p:sldId id="279" r:id="rId32"/>
    <p:sldId id="285" r:id="rId33"/>
    <p:sldId id="294" r:id="rId34"/>
    <p:sldId id="277" r:id="rId35"/>
    <p:sldId id="278" r:id="rId36"/>
    <p:sldId id="280" r:id="rId37"/>
    <p:sldId id="281" r:id="rId38"/>
    <p:sldId id="282" r:id="rId39"/>
    <p:sldId id="283" r:id="rId40"/>
    <p:sldId id="284" r:id="rId41"/>
    <p:sldId id="269" r:id="rId42"/>
    <p:sldId id="286" r:id="rId43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  <a:srgbClr val="6600CC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95" autoAdjust="0"/>
    <p:restoredTop sz="95533" autoAdjust="0"/>
  </p:normalViewPr>
  <p:slideViewPr>
    <p:cSldViewPr showGuides="1">
      <p:cViewPr varScale="1">
        <p:scale>
          <a:sx n="88" d="100"/>
          <a:sy n="88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1BDC0-EEC9-4B35-B28B-688E931E74F2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E5FE6-3E9C-4E61-9530-A6AFC38DDB4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Важным свойством параллельных платформ является возможность их динамического наращивания в целях адаптации к увеличивающемуся размеру базы данных или возрастающим требованиям производительности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Valduriez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93]. Это достигается путем постепенного добавления в конфигурацию системы дополнительных процессоров, модулей памяти дисков и других аппаратных компонент. Данный процесс называется </a:t>
            </a:r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масштабированием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системы. 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удвоении аппаратной мощности системы мы можем ожидать, что ее производительность также возрастет вдвое, однако на практике реальное приращение производительности часто оказывается существенно ниже.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масштабируемость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 ограничена 20-30 процессорами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Valduriez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93]. При дальнейшем наращивании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системы производительность возрастает очень слабо или даже начинает происходить ее падение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HuaLP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91]. Это связано с тем, что процессоры начинают все более простаивать в ожидании доступа к разделяемым ресурсам (общая шина доступа к памяти и дискам) . 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соответствие с этим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масштабируемость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любой многопроцессорной системы определяется </a:t>
            </a:r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эффективностью распараллеливания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Существуют две основные качественные характеристики эффективности распараллеливания: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ускорение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расширяемость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Дадим следующее формализованное определение указанных понятий, следуя работе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DeWitt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92].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Пусть теперь задан набор тестов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</a:t>
            </a:r>
            <a:r>
              <a:rPr lang="ru-RU" sz="1200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</a:t>
            </a:r>
            <a:r>
              <a:rPr lang="ru-RU" sz="1200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..., количественно превосходящих некоторый фиксированный тест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раз, где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номер соответствующего теста. Пусть заданы конфигурации параллельных машин баз данных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sz="1200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sz="1200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..., превосходящие по степени параллелизма некоторую минимальную конфигурацию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раз, где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номер соответствующей конфигурации. Тогда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коэффициент расширяемости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</a:t>
            </a:r>
            <a:r>
              <a:rPr lang="ru-RU" sz="1200" i="1" kern="1200" baseline="-250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получаемый при переходе от конфигурации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sz="1200" i="1" kern="1200" baseline="-250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 конфигурации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sz="1200" i="1" kern="1200" baseline="-250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&lt; 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задается формулой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Говорят, что система демонстрирует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линейную расширяемость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если коэффициент расширяемости остается равным единице для всех конфигураций данной системы.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Говорят, что параллельная система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хорошо масштабируема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если она демонстрирует ускорение и расширяемость, близкие к линейным.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Ускорение позволяет определить эффективность наращивания системы на сопоставимых задачах.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Расширяемость позволяет измерить эффективность наращивания системы на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бóльших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задачах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Основным фактором, препятствующим хорошей масштабируемости системы, являются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помехи, возникающие при конкурентном доступе процессоров к разделяемым ресурсам.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Межпроцессорные коммуникации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параллельных системах баз данных обычно порождают трафик значительного объема, что может выражаться в высоких накладных расходах, связанных с передачей сообщений от одного процессора - другому.</a:t>
            </a:r>
          </a:p>
          <a:p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Когерентность </a:t>
            </a:r>
            <a:r>
              <a:rPr lang="ru-RU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КЭШей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Учитывая, что обращение к диску примерно в 10</a:t>
            </a:r>
            <a:r>
              <a:rPr lang="ru-RU" sz="120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‑10</a:t>
            </a:r>
            <a:r>
              <a:rPr lang="ru-RU" sz="120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раз медленнее, чем обращение к оперативной памяти, мы можем существенным образом повысить общую производительность системы баз данных, используя кэширование страниц диска в оперативной памяти. При этом, если один и тот же фрагмент базы данных кэширован в приватной памяти различных процессоров, то мы должны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согласовывать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изменения данного фрагмента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кэшах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различных процессоров, то есть обеспечивать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когерентность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кэшей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Поддержание когерентности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кэшей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многопроцессорной системе может быть связано с серьезными накладными расходами.</a:t>
            </a:r>
          </a:p>
          <a:p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Организация блокировок.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различные процессоры обрабатывают одни и те же объекты базы данных (отношения, кортежи и др.), нам необходимо поддерживать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глобальную таблицу блокировок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используемую всеми процессорами. Это может выражаться в больших накладных расходах.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Балансировка загрузки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процессоров является одной из ключевых проблем для обеспечения высокой эффективности параллельной обработки запросов. СУБД должна разбивать запрос на параллельные агенты и распределять их по процессорам таким образом, чтобы обеспечивалась равномерная загрузка всех задействованных процессоров. Особенно остро вопрос с балансировкой загрузки возникает при использовании фрагментного параллелизма.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Фактором,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который может существенным образом снизить эффективность распараллеливания реляционных операций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особенно соединения и сортировки, является величина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перекоса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присутствующая в данных, подлежащих обработке. Исследования показали, что в реальных базах данных некоторые значения для определенного атрибута встречаются значительно чаще, чем остальные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Christodoulakis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83,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Lynch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88,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MontgomeryDL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83]. В частности, Линч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Lynch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отмечает в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Lynch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88], что для текстовых атрибутов характерно распределение значений по закону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Зипфа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49].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Подобная неоднородность называется </a:t>
            </a:r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перекосом значений атрибута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WaltonDJ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91].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Лакшми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Lakshmi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 Ю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Yu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показали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LakshmiY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90], что при наличии перекоса данных ускорение, достигаемое при параллельным выполнении операций соединения, может быть ограничено катастрофическим образом по причине перегрузки одних процессоров и недогрузки других.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Аппаратная отказоустойчивость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является основным фактором обеспечения высокой доступности данных в параллельных системах баз данных с большим количеством процессорных узлов. Под аппаратной отказоустойчивостью понимают сохранение общей работоспособности системы при одиночном отказе таких аппаратных компонент, как процессор, модуль памяти, диск, и каналов доступа к перечисленным компонентам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84]. В частности, одиночный отказ любого устройства не должен привести к потере целостности базы данных и тем более к физической утрате какой-то части базы данных.</a:t>
            </a:r>
          </a:p>
          <a:p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Восстановление целостности базы данных после сбоя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предполагает поддержку ACID транзакций и журнализацию изменений [Кузнецов 01а,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78]. Данные возможности поддерживаются большинством современных СУБД с архитектурой клиент-сервер.</a:t>
            </a:r>
          </a:p>
          <a:p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Оперативное восстановление базы данных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предполагает восстановление нормальной работоспособности системы с сохранением режима обслуживания пользователей. При этом коэффициент доступности данных может временно уменьшаться.</a:t>
            </a:r>
          </a:p>
          <a:p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Прозрачность для пользователя процессов восстановления системы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предполагает незначительное уменьшение коэффициента доступности базы данных во время сбоя и последующего восстановления. Сложность данной проблемы заключается в том, что выход из строя одного из дисков может привести к серьезному дисбалансу загрузки процессоров, например, в силу удвоения нагрузки на узел, содержащий копию утраченных данных. Возможное решение указанной проблемы заключается в том, чтобы фрагментировать копию диска по другим дискам таким образом, чтобы она допускала параллельный доступ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HsiaoD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93].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 нижнем</a:t>
            </a:r>
            <a:r>
              <a:rPr lang="ru-RU" baseline="0" dirty="0"/>
              <a:t> уровне это разделение дисков</a:t>
            </a:r>
            <a:r>
              <a:rPr lang="en-US" baseline="0" dirty="0"/>
              <a:t> (SD)</a:t>
            </a:r>
            <a:r>
              <a:rPr lang="ru-RU" baseline="0" dirty="0"/>
              <a:t>, а на верхнем НИЧЕГО не </a:t>
            </a:r>
            <a:r>
              <a:rPr lang="ru-RU" baseline="0" dirty="0" err="1"/>
              <a:t>раделяется</a:t>
            </a:r>
            <a:r>
              <a:rPr lang="ru-RU" baseline="0" dirty="0"/>
              <a:t> (</a:t>
            </a:r>
            <a:r>
              <a:rPr lang="en-US" baseline="0" dirty="0"/>
              <a:t>SN)</a:t>
            </a:r>
            <a:endParaRPr lang="ru-RU" dirty="0"/>
          </a:p>
          <a:p>
            <a:r>
              <a:rPr lang="ru-RU" dirty="0"/>
              <a:t>Такой подход позволяет избежать проблем,</a:t>
            </a:r>
            <a:r>
              <a:rPr lang="ru-RU" baseline="0" dirty="0"/>
              <a:t> связанных с реализацией глобальной таблицы блокировок</a:t>
            </a:r>
            <a:r>
              <a:rPr lang="en-US" baseline="0" dirty="0"/>
              <a:t> (</a:t>
            </a:r>
            <a:r>
              <a:rPr lang="ru-RU" baseline="0" dirty="0"/>
              <a:t>диски) и поддержки когерентности </a:t>
            </a:r>
            <a:r>
              <a:rPr lang="ru-RU" baseline="0" dirty="0" err="1"/>
              <a:t>кэшей</a:t>
            </a:r>
            <a:r>
              <a:rPr lang="ru-RU" baseline="0" dirty="0"/>
              <a:t>, характерных для </a:t>
            </a:r>
            <a:r>
              <a:rPr lang="en-US" baseline="0" dirty="0"/>
              <a:t>SD</a:t>
            </a:r>
            <a:r>
              <a:rPr lang="ru-RU" baseline="0" dirty="0"/>
              <a:t>-систем, и одновременно использовать преимущества </a:t>
            </a:r>
            <a:r>
              <a:rPr lang="en-US" baseline="0" dirty="0"/>
              <a:t>SD</a:t>
            </a:r>
            <a:r>
              <a:rPr lang="ru-RU" baseline="0" dirty="0"/>
              <a:t> – архитектуры..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Межтранзакционный</a:t>
            </a:r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параллелизм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подразумевает параллельное выполнение множества независимых транзакций над одной и той же базой данных. Данный вид параллелизма присутствует уже в </a:t>
            </a:r>
            <a:r>
              <a:rPr lang="ru-RU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однопроцессорных системах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виде так называемого многопользовательского режима и основан на перекрытии задержек ввода-вывода.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Межтранзакционный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параллелизм позволяет существенно увеличить суммарную производительность системы баз данных в режиме OLTP. Данный вид параллелизма также должен поддерживаться и в параллельной системе баз данных (наряду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внутритранзакционным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параллелизмом), так как в противном случае мы получим очень плохое соотношение цена-производительность для режима OLTP [Pirahesh_90]. Для сокращения времени выполнения сложных транзакций необходимо использовать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внутритранзакционный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параллелизм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Фрагментный параллелизм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предполагает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фрагментацию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(разбиение на непересекающиеся части) отношения, являющегося аргументом реляционной операции [Graefe_93]. Одиночная реляционная операция выполняется в виде нескольких параллельных процессов (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агентов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каждый из которых обрабатывает отдельный фрагмент отношения. Получаемые результирующие фрагменты сливаются в общее результирующее отношение [DeWitt_92].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реляционных системах баз данных фрагментация подразделяется на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вертикальную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горизонтальную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[Williams_98].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Вертикальная фрагментация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подразумевает разбиение отношения на фрагменты по столбцам (атрибутам).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Горизонтальная фрагментация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подразумевает разбиение отношения на фрагменты по строкам (кортежам). Практически все параллельные СУБД, поддерживающие фрагментный параллелизм, используют только горизонтальную фрагментацию. Поэтому везде ниже мы будем рассматривать только горизонтальную фрагментацию.</a:t>
            </a:r>
          </a:p>
          <a:p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Теоретически фрагментный параллелизм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способен обеспечить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сколь угодно высокую степень распараллеливания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реляционных операций. Однако на практике степень фрагментного параллелизма может быть существенно ограничена следующими двумя факторами.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Во-первых,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фрагментация отношения может зависеть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 семантики операции.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Например, операция соединения одних и тех же отношений по разным атрибутам требует различной фрагментации. Однако повторное разбиение фрагментированного отношения на новые фрагменты и распределение полученных фрагментов по процессорным узлам может быть связано с очень большими накладными расходами.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Во-вторых, перекосы в распределении значений атрибутов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фрагментации могут привести к значительным перекосам в размерах фрагментов и, как следствие, к существенному дисбалансу в загрузке процессоров.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Фрагментный параллелизм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предполагает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фрагментацию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(разбиение на непересекающиеся части) отношения, являющегося аргументом реляционной операции [Graefe_93]. Одиночная реляционная операция выполняется в виде нескольких параллельных процессов (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агентов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каждый из которых обрабатывает отдельный фрагмент отношения. Получаемые результирующие фрагменты сливаются в общее результирующее отношение [DeWitt_92].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реляционных системах баз данных фрагментация подразделяется на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вертикальную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горизонтальную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[Williams_98].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Вертикальная фрагментация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подразумевает разбиение отношения на фрагменты по столбцам (атрибутам).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Горизонтальная фрагментация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подразумевает разбиение отношения на фрагменты по строкам (кортежам). Практически все параллельные СУБД, поддерживающие фрагментный параллелизм, используют только горизонтальную фрагментацию. Поэтому везде ниже мы будем рассматривать только горизонтальную фрагментацию.</a:t>
            </a:r>
          </a:p>
          <a:p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Теоретически фрагментный параллелизм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способен обеспечить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сколь угодно высокую степень распараллеливания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реляционных операций. Однако на практике степень фрагментного параллелизма может быть существенно ограничена следующими двумя факторами.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Во-первых,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фрагментация отношения может зависеть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 семантики операции.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Например, операция соединения одних и тех же отношений по разным атрибутам требует различной фрагментации. Однако повторное разбиение фрагментированного отношения на новые фрагменты и распределение полученных фрагментов по процессорным узлам может быть связано с очень большими накладными расходами.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Во-вторых, перекосы в распределении значений атрибутов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фрагментации могут привести к значительным перекосам в размерах фрагментов и, как следствие, к существенному дисбалансу в загрузке процессоров.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3365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Фрагментный параллелизм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предполагает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фрагментацию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(разбиение на непересекающиеся части) отношения, являющегося аргументом реляционной операции [Graefe_93]. Одиночная реляционная операция выполняется в виде нескольких параллельных процессов (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агентов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каждый из которых обрабатывает отдельный фрагмент отношения. Получаемые результирующие фрагменты сливаются в общее результирующее отношение [DeWitt_92].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реляционных системах баз данных фрагментация подразделяется на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вертикальную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горизонтальную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[Williams_98].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Вертикальная фрагментация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подразумевает разбиение отношения на фрагменты по столбцам (атрибутам).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Горизонтальная фрагментация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подразумевает разбиение отношения на фрагменты по строкам (кортежам). Практически все параллельные СУБД, поддерживающие фрагментный параллелизм, используют только горизонтальную фрагментацию. Поэтому везде ниже мы будем рассматривать только горизонтальную фрагментацию.</a:t>
            </a:r>
          </a:p>
          <a:p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Теоретически фрагментный параллелизм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способен обеспечить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сколь угодно высокую степень распараллеливания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реляционных операций. Однако на практике степень фрагментного параллелизма может быть существенно ограничена следующими двумя факторами.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Во-первых,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фрагментация отношения может зависеть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 семантики операции.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Например, операция соединения одних и тех же отношений по разным атрибутам требует различной фрагментации. Однако повторное разбиение фрагментированного отношения на новые фрагменты и распределение полученных фрагментов по процессорным узлам может быть связано с очень большими накладными расходами.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Во-вторых, перекосы в распределении значений атрибутов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фрагментации могут привести к значительным перекосам в размерах фрагментов и, как следствие, к существенному дисбалансу в загрузке процессоров.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030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Фрагментный параллелизм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предполагает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фрагментацию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(разбиение на непересекающиеся части) отношения, являющегося аргументом реляционной операции [Graefe_93]. Одиночная реляционная операция выполняется в виде нескольких параллельных процессов (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агентов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каждый из которых обрабатывает отдельный фрагмент отношения. Получаемые результирующие фрагменты сливаются в общее результирующее отношение [DeWitt_92].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реляционных системах баз данных фрагментация подразделяется на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вертикальную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горизонтальную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[Williams_98].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Вертикальная фрагментация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подразумевает разбиение отношения на фрагменты по столбцам (атрибутам).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Горизонтальная фрагментация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подразумевает разбиение отношения на фрагменты по строкам (кортежам). Практически все параллельные СУБД, поддерживающие фрагментный параллелизм, используют только горизонтальную фрагментацию. Поэтому везде ниже мы будем рассматривать только горизонтальную фрагментацию.</a:t>
            </a:r>
          </a:p>
          <a:p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Теоретически фрагментный параллелизм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способен обеспечить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сколь угодно высокую степень распараллеливания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реляционных операций. Однако на практике степень фрагментного параллелизма может быть существенно ограничена следующими двумя факторами.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Во-первых,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фрагментация отношения может зависеть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 семантики операции.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Например, операция соединения одних и тех же отношений по разным атрибутам требует различной фрагментации. Однако повторное разбиение фрагментированного отношения на новые фрагменты и распределение полученных фрагментов по процессорным узлам может быть связано с очень большими накладными расходами.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Во-вторых, перекосы в распределении значений атрибутов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фрагментации могут привести к значительным перекосам в размерах фрагментов и, как следствие, к существенному дисбалансу в загрузке процессоров.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33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Выполнение запроса в базах данных обычно связано с обработкой очень больших отношений. Под словом «очень» мы подразумеваем тот факт, что отношение базы данных не помещается целиком в оперативную память. В этих условиях мы вправе ожидать, что промежуточные отношения, возникающие при выполнении плана запроса также могут быть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очень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большими.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Стандартным приемом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применяемым в СУБД для решения этой проблемы, является организация между операциями в дереве плана запроса так называемого </a:t>
            </a:r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синхронного конвейера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 передачи кортежей промежуточных отношений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Суть данного метода состоит в том, что, как только операция получает очередной кортеж своего результирующего отношения, она немедленно передает его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 конвейеру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выше стоящей операции для обработки.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Отметим, что в некоторых параллельных СУБД используется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асинхронный конвейер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предполагающий организацию между операцией-производителем и операцией-потребителем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склада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(специального буфера) для хранения некоторого количества кортежей промежуточного отношения. Это обеспечивает некоторую независимость участников конвейера. Асинхронный конвейер легко превратить в синхронный, установив размер склада равным одному кортежу.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Синхронный конвейер допускает простую и эффективную реализацию. Основным недостатком синхронного конвейера является то, что задержка на любом участке конвейера приводит к остановке всего конвейера в целом.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93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Рис.  приведен пример РОП для операции соединения, использующий алгоритм соединения вложенными циклами. Следует отметить, что алгоритм соединения вложенными циклами допускает обобщение на случай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фрагментного параллелизма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(см. раздел 1.6) только в том случае, когда отношение, сканируемое во внутреннем цикле, фрагментировано по атрибуту соединения. В общем случае для параллельного соединения обычно используется </a:t>
            </a:r>
            <a:r>
              <a:rPr 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Grace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алгоритм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[10].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Рис.  приведен пример РОП для операции соединения, использующий алгоритм соединения вложенными циклами. Следует отметить, что алгоритм соединения вложенными циклами допускает обобщение на случай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фрагментного параллелизма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(см. раздел 1.6) только в том случае, когда отношение, сканируемое во внутреннем цикле, фрагментировано по атрибуту соединения. В общем случае для параллельного соединения обычно используется </a:t>
            </a:r>
            <a:r>
              <a:rPr 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Grace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алгоритм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[10].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678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Выполнение запроса в базах данных обычно связано с обработкой очень больших отношений. Под словом «очень» мы подразумеваем тот факт, что отношение базы данных не помещается целиком в оперативную память. В этих условиях мы вправе ожидать, что промежуточные отношения, возникающие при выполнении плана запроса также могут быть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очень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большими.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Стандартным приемом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применяемым в СУБД для решения этой проблемы, является организация между операциями в дереве плана запроса так называемого </a:t>
            </a:r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синхронного конвейера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 передачи кортежей промежуточных отношений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Суть данного метода состоит в том, что, как только операция получает очередной кортеж своего результирующего отношения, она немедленно передает его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 конвейеру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выше стоящей операции для обработки.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Отметим, что в некоторых параллельных СУБД используется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асинхронный конвейер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предполагающий организацию между операцией-производителем и операцией-потребителем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склада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(специального буфера) для хранения некоторого количества кортежей промежуточного отношения. Это обеспечивает некоторую независимость участников конвейера. Асинхронный конвейер легко превратить в синхронный, установив размер склада равным одному кортежу.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Синхронный конвейер допускает простую и эффективную реализацию. Основным недостатком синхронного конвейера является то, что задержка на любом участке конвейера приводит к остановке всего конвейера в целом.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31</a:t>
            </a:fld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Итераторная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модель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является общепринятым методом, используемым в СУБД для эффективной реализации синхронного конвейера. В соответствие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итераторной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моделью с каждым узлом дерева плана запроса связывается специальная структура управления, называемая итератором. Интерфейс итератора представлен двумя стандартными операциями с предопределенной семантикой: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установка итератора в состояние «перед первым кортежем»;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выдать очередной кортеж результирующего отношения.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Алгоритм выполнения плана запроса на базе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итераторной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модели изображен на Рис. 4. На первом шаге выполняется метод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применительно к корневому узлу. Затем в цикле выполняется метод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 корневого узла. Он каждый раз возвращает указатель на очередной кортеж результирующего отношения. В приведенном примере эти кортежи просто выводятся на экран. Цикл завершается, когда метод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выдает указатель на специальный кортеж, обозначающий конец файла – EOF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Методы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родителя прямо или косвенно могут вызывать соответствующие методы дочерних узлов. Эти вызовы изображены на слайде пунктирными стрелками. Реализация итератора базируется на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скобочном шаблоне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обсуждаемом в следующем разделе.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32</a:t>
            </a:fld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Рис.  приведен пример РОП для операции соединения, использующий алгоритм соединения вложенными циклами. Следует отметить, что алгоритм соединения вложенными циклами допускает обобщение на случай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фрагментного параллелизма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(см. раздел 1.6) только в том случае, когда отношение, сканируемое во внутреннем цикле, фрагментировано по атрибуту соединения. В общем случае для параллельного соединения обычно используется </a:t>
            </a:r>
            <a:r>
              <a:rPr 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Grace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алгоритм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[10].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703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Основной формой параллельной обработки запросов является </a:t>
            </a:r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фрагментный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параллелизм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(см. Рис. 9). Каждое отношение делится на части, называемые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фрагментами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Фрагменты отношения распределяются по различным процессорным узлам многопроцессорной системы. Способ фрагментации определяется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функцией фрагментации 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ψ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которая для каждого кортежа отношения вычисляет номер процессорного узла, на котором должен быть размещен этот кортеж. На Рис. 9 изображена фрагментация отношения П по атрибуту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Код_П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основе </a:t>
            </a:r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метода диапазонов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 данном случае функция фрагментации имеет вид: 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ψ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п.Код_П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10. Здесь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операция деления нацело.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простейшем случае запрос параллельно выполняется на всех процессорных узлах. Полученные фрагменты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сливаются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результирующее отношение. На практике, однако, не удается избежать пересылки кортежей между процессорами во время выполнения запроса.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36</a:t>
            </a:fld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Рассмотрим пример, изображенный на Рис. 10. Пусть отношение П фрагментировано по атрибуту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Код_П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 отношение ПД – по атрибуту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Код_Д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При выполнении операции соединения мы должны динамически перераспределять кортежи отношения ПД, так как оно фрагментировано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 по атрибуту соединения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Способ перераспределения определяется функцией распределения 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δ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которая для каждого кортежа отношения вычисляет номер процессорного узла, на котором должен быть обработан этот кортеж.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данном примере в качестве функции распределения для ПД следует взять функцию фрагментации отношения П:</a:t>
            </a:r>
          </a:p>
          <a:p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δ</a:t>
            </a:r>
            <a:r>
              <a:rPr lang="ru-RU" sz="1200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ПД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пд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= 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ψ</a:t>
            </a:r>
            <a:r>
              <a:rPr lang="ru-RU" sz="1200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пд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пд.Код_П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10.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оба аргумента соединения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фрагментированы </a:t>
            </a:r>
            <a:r>
              <a:rPr lang="ru-RU" sz="1200" b="0" i="1" u="sng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не по атрибуту соединения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нам придется перераспределять между процессорами оба входных отношения. При этом в качестве функции распределения для обоих отношений мы можем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взять любую, но одну и ту же, функцию распределения по атрибуту соединения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которая отправляет кортежи с одинаковыми значениями атрибута соединения на один и тот же процессорный узел.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37</a:t>
            </a:fld>
            <a:endParaRPr 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организации межпроцессорных обменов используется специальный оператор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Оператор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реализуется на основе использования стандартного скобочного шаблона и может быть добавлен в качестве узла в любое место дерева запроса.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Оператор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имеет два специальных параметра, определяемых пользователем: номер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порта обмена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указатель на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функцию распределения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Функция распределения для каждого кортежа вычисляет логический номер процессорного узла, на котором данный кортеж должен быть обработан. Параметр "порт обмена" позволяет включать в дерево запроса произвольное количество операторов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(для каждого оператора указывается свой уникальный порт обмена). Пример использования оператора обмена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 распараллеливания запроса приведен на Рис. 11. Здесь изображен физический план выполнения запроса, реализующего соединение двух отношений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 некоторому общему атрибуту. Мы предполагаем, что отношение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фрагментировано по атрибуту соединения с помощью некоторой функции 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ψ</a:t>
            </a:r>
            <a:r>
              <a:rPr lang="ru-RU" sz="1200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 отношение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фрагментировано по некоторому другому атрибуту, не являющемуся атрибутом соединения. В данном контексте необходимо вставить в дерево запроса между оператором чтения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Q</a:t>
            </a:r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оператором соединения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один оператор обмена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 качестве функции распределения оператора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указывается функция 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ψ</a:t>
            </a:r>
            <a:r>
              <a:rPr lang="ru-RU" sz="1200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 в качестве номера порта обмена - любой свободный на данный момент номер.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38</a:t>
            </a:fld>
            <a:endParaRPr 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Структура оператора обмена </a:t>
            </a:r>
            <a:r>
              <a:rPr 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изображена на Рис. Оператор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является составным оператором и включает в себя четыре оператора: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gather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scatter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merge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Все указанные операторы реализуются на базе стандартного скобочного шаблона.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Оператор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это бинарный оператор, который осуществляет разбиение кортежей, поступающих из входного потока (ассоциируется с левым сыном), на две группы: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свои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чужие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Свои кортежи - это кортежи, которые должны быть обработаны на данном процессорном узле. Эти кортежи направляются в выходной буфер оператора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Чужие кортежи, то есть кортежи, которые должны быть обработаны на процессорных узлах, отличных от данного, помещаются оператором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выходной буфер правого сына, в качестве которого фигурирует оператор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scatter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Здесь выходной буфер оператора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играет роль входного потока данных.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Нульарный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оператор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scatter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извлекает кортежи из своего выходного буфера и пересылает их на соответствующие процессорные узлы, используя заданный номер порта. Запись кортежа в порт может быть завершена только после того, как реципиент выполнит операцию чтения из данного порта.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Нульарный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оператор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gather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выполняет перманентное чтение кортежей из указанного порта со всех процессорных узлов, отличных от данного. Считанные кортежи помещаются в выходной буфер оператора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gather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Оператор</a:t>
            </a:r>
            <a:r>
              <a:rPr lang="ru-RU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merge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определяется как бинарный оператор, который забирает кортежи из выходных буферов своих сыновей и помещает их в собственный выходной буфер.</a:t>
            </a:r>
            <a:endParaRPr lang="ru-RU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E5FE6-3E9C-4E61-9530-A6AFC38DDB43}" type="slidenum">
              <a:rPr lang="ru-RU" smtClean="0"/>
              <a:pPr/>
              <a:t>39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869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869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232CD-BE12-4457-AA17-C4810CA9B64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5D99D-CC55-46C5-90FA-5A04D74235B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36BBC-5A59-4FAB-A058-DAE2A89967A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3EDC3-3AEF-49A9-A0CB-B949E6DDDF2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3D965-0C51-4466-A93A-09AA1041C5C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EEB68-3C45-408D-858F-A5B2E5B6BB3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1AB0EF-48F0-4FD0-9939-D67785220B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2739B-C2BD-4F44-902E-959ED799737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CA6B1-E216-4E8A-982D-2A62966D3C1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970E8-C783-4106-BACD-FA1D07617AC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44B98-46B4-4877-B3A2-965FEF0497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95D7-9DE4-45F9-A2A2-0448914A914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lvl="0"/>
            <a:endParaRPr lang="ru-RU" noProof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A63C7-B0B8-4300-979D-027AD05E693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B183B134-2DC8-4C0D-B272-9FAA2A17483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307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7653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27654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27655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27656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27657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accent2"/>
                </a:solidFill>
              </a:endParaRPr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27660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accent2"/>
                </a:solidFill>
              </a:endParaRPr>
            </a:p>
          </p:txBody>
        </p:sp>
        <p:sp>
          <p:nvSpPr>
            <p:cNvPr id="27661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307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07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766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9" r:id="rId12"/>
    <p:sldLayoutId id="2147483900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isk.yandex.ru/d/rluMyYuaoqG3z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00298" y="1828800"/>
            <a:ext cx="6491302" cy="2209800"/>
          </a:xfrm>
        </p:spPr>
        <p:txBody>
          <a:bodyPr/>
          <a:lstStyle/>
          <a:p>
            <a:pPr algn="ctr" eaLnBrk="1" hangingPunct="1"/>
            <a:r>
              <a:rPr lang="ru-RU" dirty="0"/>
              <a:t>Параллельные системы баз данных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00068" y="4500570"/>
            <a:ext cx="8143932" cy="1752600"/>
          </a:xfrm>
        </p:spPr>
        <p:txBody>
          <a:bodyPr>
            <a:normAutofit fontScale="70000" lnSpcReduction="20000"/>
          </a:bodyPr>
          <a:lstStyle/>
          <a:p>
            <a:pPr eaLnBrk="1" hangingPunct="1"/>
            <a:r>
              <a:rPr lang="ru-RU" b="1" dirty="0"/>
              <a:t>Соколинский, Л. Б</a:t>
            </a:r>
            <a:r>
              <a:rPr lang="ru-RU" dirty="0"/>
              <a:t>. </a:t>
            </a:r>
            <a:br>
              <a:rPr lang="ru-RU" dirty="0"/>
            </a:br>
            <a:r>
              <a:rPr lang="ru-RU" dirty="0"/>
              <a:t>Параллельные системы баз данных </a:t>
            </a:r>
            <a:r>
              <a:rPr lang="ru-RU" sz="2800" dirty="0"/>
              <a:t>(библиотека НГУ</a:t>
            </a:r>
            <a:r>
              <a:rPr lang="ru-RU" sz="2800" dirty="0" smtClean="0"/>
              <a:t>)</a:t>
            </a:r>
          </a:p>
          <a:p>
            <a:pPr eaLnBrk="1" hangingPunct="1"/>
            <a:r>
              <a:rPr lang="ru-RU" sz="2800" dirty="0" smtClean="0"/>
              <a:t>Новиков Б. А. </a:t>
            </a:r>
          </a:p>
          <a:p>
            <a:pPr eaLnBrk="1" hangingPunct="1"/>
            <a:r>
              <a:rPr lang="ru-RU" sz="2800" dirty="0"/>
              <a:t>Основы технологий баз </a:t>
            </a:r>
            <a:r>
              <a:rPr lang="ru-RU" sz="2800" dirty="0" smtClean="0"/>
              <a:t>данных </a:t>
            </a:r>
            <a:r>
              <a:rPr lang="en-US" sz="2800">
                <a:hlinkClick r:id="rId2"/>
              </a:rPr>
              <a:t>https</a:t>
            </a:r>
            <a:r>
              <a:rPr lang="en-US" sz="2800">
                <a:hlinkClick r:id="rId2"/>
              </a:rPr>
              <a:t>://</a:t>
            </a:r>
            <a:r>
              <a:rPr lang="en-US" sz="2800" smtClean="0">
                <a:hlinkClick r:id="rId2"/>
              </a:rPr>
              <a:t>disk.yandex.ru/d/rluMyYuaoqG3z</a:t>
            </a:r>
            <a:r>
              <a:rPr lang="en-US" sz="2800" smtClean="0"/>
              <a:t> </a:t>
            </a:r>
            <a:endParaRPr lang="ru-RU" sz="2800" dirty="0"/>
          </a:p>
          <a:p>
            <a:pPr eaLnBrk="1" hangingPunct="1"/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/>
          <p:cNvSpPr txBox="1">
            <a:spLocks noChangeArrowheads="1"/>
          </p:cNvSpPr>
          <p:nvPr/>
        </p:nvSpPr>
        <p:spPr bwMode="auto">
          <a:xfrm>
            <a:off x="142906" y="642938"/>
            <a:ext cx="8786812" cy="592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10000"/>
              </a:lnSpc>
            </a:pPr>
            <a:r>
              <a:rPr lang="ru-RU" sz="2000" dirty="0"/>
              <a:t>Параллельная система баз данных – это СУБД,  реализованная на </a:t>
            </a:r>
            <a:r>
              <a:rPr lang="ru-RU" sz="2000" b="1" dirty="0"/>
              <a:t>многопроцессорной системе с высокой степенью связанности</a:t>
            </a:r>
          </a:p>
          <a:p>
            <a:pPr>
              <a:lnSpc>
                <a:spcPct val="110000"/>
              </a:lnSpc>
            </a:pPr>
            <a:endParaRPr lang="ru-RU" sz="2000" b="1" dirty="0"/>
          </a:p>
          <a:p>
            <a:pPr>
              <a:lnSpc>
                <a:spcPct val="110000"/>
              </a:lnSpc>
            </a:pPr>
            <a:r>
              <a:rPr lang="ru-RU" sz="2000" dirty="0"/>
              <a:t>Такая СУБД работает на аппаратной платформе, в которой</a:t>
            </a:r>
          </a:p>
          <a:p>
            <a:pPr lvl="1">
              <a:lnSpc>
                <a:spcPct val="110000"/>
              </a:lnSpc>
              <a:buFontTx/>
              <a:buChar char="-"/>
            </a:pPr>
            <a:r>
              <a:rPr lang="ru-RU" sz="2000" b="1" dirty="0"/>
              <a:t> много процессоров,</a:t>
            </a:r>
          </a:p>
          <a:p>
            <a:pPr lvl="1">
              <a:lnSpc>
                <a:spcPct val="110000"/>
              </a:lnSpc>
              <a:buFontTx/>
              <a:buChar char="-"/>
            </a:pPr>
            <a:r>
              <a:rPr lang="ru-RU" sz="2000" b="1" dirty="0"/>
              <a:t> много внешних дисков,</a:t>
            </a:r>
          </a:p>
          <a:p>
            <a:pPr lvl="1">
              <a:lnSpc>
                <a:spcPct val="110000"/>
              </a:lnSpc>
              <a:buFontTx/>
              <a:buChar char="-"/>
            </a:pPr>
            <a:r>
              <a:rPr lang="ru-RU" sz="2000" b="1" dirty="0"/>
              <a:t> процессоры  и диски связаны быстродействующей сетью</a:t>
            </a:r>
          </a:p>
          <a:p>
            <a:pPr>
              <a:lnSpc>
                <a:spcPct val="110000"/>
              </a:lnSpc>
              <a:buFontTx/>
              <a:buChar char="-"/>
            </a:pPr>
            <a:endParaRPr lang="ru-RU" sz="2000" b="1" dirty="0"/>
          </a:p>
          <a:p>
            <a:pPr>
              <a:lnSpc>
                <a:spcPct val="110000"/>
              </a:lnSpc>
            </a:pPr>
            <a:r>
              <a:rPr lang="ru-RU" sz="2000" dirty="0"/>
              <a:t>Причем</a:t>
            </a:r>
            <a:r>
              <a:rPr lang="ru-RU" sz="2000" b="1" dirty="0"/>
              <a:t> время обмена данными по сети </a:t>
            </a:r>
            <a:r>
              <a:rPr lang="ru-RU" sz="2000" b="1" dirty="0">
                <a:solidFill>
                  <a:schemeClr val="bg2"/>
                </a:solidFill>
              </a:rPr>
              <a:t>сравнимо</a:t>
            </a:r>
            <a:r>
              <a:rPr lang="ru-RU" sz="2000" b="1" dirty="0"/>
              <a:t> со временем</a:t>
            </a:r>
          </a:p>
          <a:p>
            <a:pPr>
              <a:lnSpc>
                <a:spcPct val="110000"/>
              </a:lnSpc>
            </a:pPr>
            <a:r>
              <a:rPr lang="ru-RU" sz="2000" b="1" dirty="0"/>
              <a:t>обмена данными с диском.</a:t>
            </a:r>
          </a:p>
          <a:p>
            <a:pPr>
              <a:lnSpc>
                <a:spcPct val="110000"/>
              </a:lnSpc>
            </a:pPr>
            <a:r>
              <a:rPr lang="ru-RU" sz="2000" dirty="0"/>
              <a:t>Таким образом,</a:t>
            </a:r>
            <a:r>
              <a:rPr lang="ru-RU" sz="2000" b="1" dirty="0"/>
              <a:t> </a:t>
            </a:r>
            <a:r>
              <a:rPr lang="ru-RU" sz="2000" b="1" dirty="0">
                <a:solidFill>
                  <a:schemeClr val="bg2"/>
                </a:solidFill>
              </a:rPr>
              <a:t>НЕ</a:t>
            </a:r>
            <a:r>
              <a:rPr lang="ru-RU" sz="2000" b="1" dirty="0">
                <a:solidFill>
                  <a:schemeClr val="accent2"/>
                </a:solidFill>
              </a:rPr>
              <a:t> </a:t>
            </a:r>
            <a:r>
              <a:rPr lang="ru-RU" sz="2000" dirty="0"/>
              <a:t>рассматриваются распределенные БД.</a:t>
            </a:r>
          </a:p>
          <a:p>
            <a:pPr>
              <a:lnSpc>
                <a:spcPct val="110000"/>
              </a:lnSpc>
            </a:pPr>
            <a:endParaRPr lang="ru-RU" sz="2000" dirty="0"/>
          </a:p>
          <a:p>
            <a:pPr indent="457200" algn="just"/>
            <a:r>
              <a:rPr lang="ru-RU" sz="2000" dirty="0"/>
              <a:t>Под это определение попадает большой класс систем от традиционных </a:t>
            </a:r>
            <a:r>
              <a:rPr lang="ru-RU" sz="2000" dirty="0">
                <a:solidFill>
                  <a:schemeClr val="bg2"/>
                </a:solidFill>
              </a:rPr>
              <a:t>однопроцессорных, </a:t>
            </a:r>
            <a:r>
              <a:rPr lang="ru-RU" sz="2000" dirty="0" err="1">
                <a:solidFill>
                  <a:schemeClr val="bg2"/>
                </a:solidFill>
              </a:rPr>
              <a:t>портированных</a:t>
            </a:r>
            <a:r>
              <a:rPr lang="ru-RU" sz="2000" dirty="0">
                <a:solidFill>
                  <a:schemeClr val="bg2"/>
                </a:solidFill>
              </a:rPr>
              <a:t> на мультипроцессорные архитектуры</a:t>
            </a:r>
            <a:r>
              <a:rPr lang="ru-RU" sz="2000" dirty="0"/>
              <a:t> (допускают </a:t>
            </a:r>
            <a:r>
              <a:rPr lang="ru-RU" sz="2000" dirty="0" err="1"/>
              <a:t>межтранзакционный</a:t>
            </a:r>
            <a:r>
              <a:rPr lang="ru-RU" sz="2000" dirty="0"/>
              <a:t> параллелизм) до </a:t>
            </a:r>
            <a:r>
              <a:rPr lang="ru-RU" sz="2000" dirty="0">
                <a:solidFill>
                  <a:schemeClr val="bg2"/>
                </a:solidFill>
              </a:rPr>
              <a:t>сложных кластерных систем </a:t>
            </a:r>
            <a:r>
              <a:rPr lang="ru-RU" sz="2000" dirty="0"/>
              <a:t>допускающих (фрагментарный параллелизм)</a:t>
            </a:r>
          </a:p>
        </p:txBody>
      </p:sp>
      <p:sp>
        <p:nvSpPr>
          <p:cNvPr id="8195" name="Text Box 5"/>
          <p:cNvSpPr txBox="1">
            <a:spLocks noChangeArrowheads="1"/>
          </p:cNvSpPr>
          <p:nvPr/>
        </p:nvSpPr>
        <p:spPr bwMode="auto">
          <a:xfrm>
            <a:off x="3084513" y="0"/>
            <a:ext cx="29749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3600">
                <a:solidFill>
                  <a:schemeClr val="tx2"/>
                </a:solidFill>
              </a:rPr>
              <a:t>Введение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435975" cy="561975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</a:pPr>
            <a:r>
              <a:rPr lang="ru-RU" sz="2800" dirty="0">
                <a:solidFill>
                  <a:schemeClr val="bg2"/>
                </a:solidFill>
              </a:rPr>
              <a:t>Требования к параллельной системе баз данных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07981" y="1000108"/>
            <a:ext cx="8964613" cy="5010167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sz="2800" dirty="0"/>
              <a:t>Параллельная СУБД должна быть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ru-RU" sz="2800" i="1" dirty="0">
                <a:solidFill>
                  <a:schemeClr val="bg2"/>
                </a:solidFill>
              </a:rPr>
              <a:t>системой высокой готовности:</a:t>
            </a:r>
          </a:p>
          <a:p>
            <a:pPr eaLnBrk="1" hangingPunct="1">
              <a:spcBef>
                <a:spcPct val="0"/>
              </a:spcBef>
            </a:pPr>
            <a:r>
              <a:rPr lang="ru-RU" sz="2400" dirty="0"/>
              <a:t>Способной хранить большой объем данных</a:t>
            </a:r>
            <a:r>
              <a:rPr lang="ru-RU" dirty="0"/>
              <a:t> </a:t>
            </a:r>
          </a:p>
          <a:p>
            <a:pPr eaLnBrk="1" hangingPunct="1"/>
            <a:r>
              <a:rPr lang="ru-RU" sz="2400" dirty="0"/>
              <a:t>Обеспечивать эффективную обработку параллельных транзакций в режиме </a:t>
            </a:r>
            <a:r>
              <a:rPr lang="en-US" sz="2400" dirty="0"/>
              <a:t>“</a:t>
            </a:r>
            <a:r>
              <a:rPr lang="ru-RU" sz="2400" b="1" dirty="0"/>
              <a:t>24 часа в сутки, 7 дней в неделю</a:t>
            </a:r>
            <a:r>
              <a:rPr lang="en-US" sz="2400" dirty="0"/>
              <a:t>”</a:t>
            </a:r>
            <a:r>
              <a:rPr lang="ru-RU" sz="2400" dirty="0"/>
              <a:t>.</a:t>
            </a:r>
          </a:p>
          <a:p>
            <a:pPr eaLnBrk="1" hangingPunct="1"/>
            <a:endParaRPr lang="ru-RU" sz="2400" dirty="0"/>
          </a:p>
          <a:p>
            <a:pPr eaLnBrk="1" hangingPunct="1">
              <a:buFontTx/>
              <a:buNone/>
            </a:pPr>
            <a:r>
              <a:rPr lang="ru-RU" i="1" dirty="0">
                <a:solidFill>
                  <a:schemeClr val="tx2"/>
                </a:solidFill>
              </a:rPr>
              <a:t>Основные требования</a:t>
            </a:r>
            <a:r>
              <a:rPr lang="ru-RU" dirty="0">
                <a:solidFill>
                  <a:schemeClr val="tx2"/>
                </a:solidFill>
              </a:rPr>
              <a:t> 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</a:p>
          <a:p>
            <a:pPr eaLnBrk="1" hangingPunct="1"/>
            <a:r>
              <a:rPr lang="ru-RU" dirty="0">
                <a:solidFill>
                  <a:schemeClr val="bg2"/>
                </a:solidFill>
              </a:rPr>
              <a:t>высокая </a:t>
            </a:r>
            <a:r>
              <a:rPr lang="ru-RU" dirty="0" err="1">
                <a:solidFill>
                  <a:schemeClr val="bg2"/>
                </a:solidFill>
              </a:rPr>
              <a:t>масштабируемость</a:t>
            </a:r>
            <a:r>
              <a:rPr lang="ru-RU" dirty="0">
                <a:solidFill>
                  <a:schemeClr val="bg2"/>
                </a:solidFill>
              </a:rPr>
              <a:t>;</a:t>
            </a:r>
          </a:p>
          <a:p>
            <a:pPr eaLnBrk="1" hangingPunct="1"/>
            <a:r>
              <a:rPr lang="ru-RU" dirty="0">
                <a:solidFill>
                  <a:schemeClr val="bg2"/>
                </a:solidFill>
              </a:rPr>
              <a:t>высокая производительность;</a:t>
            </a:r>
          </a:p>
          <a:p>
            <a:pPr eaLnBrk="1" hangingPunct="1"/>
            <a:r>
              <a:rPr lang="ru-RU" dirty="0">
                <a:solidFill>
                  <a:schemeClr val="bg2"/>
                </a:solidFill>
              </a:rPr>
              <a:t>высокая доступность данных.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3" y="714356"/>
            <a:ext cx="8929718" cy="1571636"/>
          </a:xfrm>
        </p:spPr>
        <p:txBody>
          <a:bodyPr lIns="36000" tIns="36000" rIns="36000" bIns="36000">
            <a:normAutofit fontScale="90000"/>
          </a:bodyPr>
          <a:lstStyle/>
          <a:p>
            <a:pPr indent="457200" algn="just"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ru-RU" sz="2200" dirty="0">
                <a:solidFill>
                  <a:schemeClr val="bg2"/>
                </a:solidFill>
              </a:rPr>
              <a:t>Возможность </a:t>
            </a:r>
            <a:r>
              <a:rPr lang="ru-RU" sz="2200" dirty="0"/>
              <a:t>динамического наращивания (модулей памяти, процессоров) в целях адаптации к увеличивающемуся размеру базы данных или возрастающим требованиям производительности</a:t>
            </a:r>
            <a:r>
              <a:rPr lang="en-US" sz="2200" dirty="0"/>
              <a:t>.</a:t>
            </a:r>
            <a:r>
              <a:rPr lang="ru-RU" sz="2200" dirty="0"/>
              <a:t>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ru-RU" sz="2200" kern="1200" dirty="0"/>
              <a:t>Две основные качественные характеристики </a:t>
            </a:r>
            <a:r>
              <a:rPr lang="ru-RU" sz="2200" b="1" kern="1200" dirty="0"/>
              <a:t>эффективности распараллеливания</a:t>
            </a:r>
            <a:r>
              <a:rPr lang="ru-RU" sz="2200" kern="1200" dirty="0"/>
              <a:t>: </a:t>
            </a:r>
            <a:r>
              <a:rPr lang="ru-RU" sz="2200" b="1" i="1" kern="1200" dirty="0">
                <a:solidFill>
                  <a:srgbClr val="7030A0"/>
                </a:solidFill>
              </a:rPr>
              <a:t>ускорение</a:t>
            </a:r>
            <a:r>
              <a:rPr lang="ru-RU" sz="2200" b="1" kern="1200" dirty="0">
                <a:solidFill>
                  <a:srgbClr val="7030A0"/>
                </a:solidFill>
              </a:rPr>
              <a:t> и </a:t>
            </a:r>
            <a:r>
              <a:rPr lang="ru-RU" sz="2200" b="1" i="1" kern="1200" dirty="0">
                <a:solidFill>
                  <a:srgbClr val="7030A0"/>
                </a:solidFill>
              </a:rPr>
              <a:t>расширяемость</a:t>
            </a:r>
            <a:r>
              <a:rPr lang="ru-RU" sz="2200" i="1" kern="1200" dirty="0"/>
              <a:t>.</a:t>
            </a:r>
            <a:endParaRPr lang="ru-RU" sz="2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14282" y="2393973"/>
            <a:ext cx="8686800" cy="43926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sz="2400" b="1" dirty="0"/>
              <a:t>Пусть есть различные конфигурации A и B</a:t>
            </a:r>
            <a:r>
              <a:rPr lang="en-US" sz="2400" b="1" dirty="0"/>
              <a:t> </a:t>
            </a:r>
            <a:r>
              <a:rPr lang="ru-RU" sz="2400" b="1" dirty="0"/>
              <a:t>и тест </a:t>
            </a:r>
            <a:r>
              <a:rPr lang="en-US" sz="2400" b="1" dirty="0"/>
              <a:t>Q</a:t>
            </a:r>
            <a:r>
              <a:rPr lang="ru-RU" sz="2400" b="1" dirty="0"/>
              <a:t>.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ru-RU" sz="2400" dirty="0"/>
              <a:t> </a:t>
            </a:r>
            <a:r>
              <a:rPr lang="ru-RU" sz="2400" b="1" i="1" dirty="0">
                <a:solidFill>
                  <a:srgbClr val="6600CC"/>
                </a:solidFill>
              </a:rPr>
              <a:t>Ускорение</a:t>
            </a:r>
            <a:r>
              <a:rPr lang="en-US" sz="2400" b="1" i="1" dirty="0">
                <a:solidFill>
                  <a:srgbClr val="6600CC"/>
                </a:solidFill>
              </a:rPr>
              <a:t> </a:t>
            </a:r>
            <a:r>
              <a:rPr lang="ru-RU" sz="2400" i="1" dirty="0"/>
              <a:t>при переходе от А к В, где</a:t>
            </a:r>
            <a:endParaRPr lang="ru-RU" i="1" dirty="0"/>
          </a:p>
          <a:p>
            <a:pPr eaLnBrk="1" hangingPunct="1"/>
            <a:endParaRPr lang="ru-RU" b="1" i="1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1670" y="3429000"/>
            <a:ext cx="1873250" cy="108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4178329" y="3287716"/>
            <a:ext cx="45370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 dirty="0" err="1"/>
              <a:t>d</a:t>
            </a:r>
            <a:r>
              <a:rPr lang="ru-RU" i="1" baseline="-25000" dirty="0" err="1"/>
              <a:t>A</a:t>
            </a:r>
            <a:r>
              <a:rPr lang="ru-RU" dirty="0"/>
              <a:t> , </a:t>
            </a:r>
            <a:r>
              <a:rPr lang="ru-RU" i="1" dirty="0" err="1"/>
              <a:t>d</a:t>
            </a:r>
            <a:r>
              <a:rPr lang="ru-RU" i="1" baseline="-16000" dirty="0" err="1"/>
              <a:t>В</a:t>
            </a:r>
            <a:r>
              <a:rPr lang="ru-RU" dirty="0"/>
              <a:t> - </a:t>
            </a:r>
            <a:r>
              <a:rPr lang="ru-RU" i="1" dirty="0"/>
              <a:t>степень параллелизма </a:t>
            </a:r>
            <a:r>
              <a:rPr lang="ru-RU" dirty="0"/>
              <a:t>(количество процессоров</a:t>
            </a:r>
            <a:r>
              <a:rPr lang="en-US" dirty="0"/>
              <a:t> </a:t>
            </a:r>
            <a:r>
              <a:rPr lang="ru-RU" dirty="0"/>
              <a:t>А и В) 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4071934" y="4287848"/>
            <a:ext cx="49688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 dirty="0" err="1"/>
              <a:t>t</a:t>
            </a:r>
            <a:r>
              <a:rPr lang="ru-RU" i="1" baseline="-16000" dirty="0" err="1"/>
              <a:t>QA</a:t>
            </a:r>
            <a:r>
              <a:rPr lang="ru-RU" i="1" dirty="0"/>
              <a:t>, </a:t>
            </a:r>
            <a:r>
              <a:rPr lang="ru-RU" i="1" dirty="0" err="1"/>
              <a:t>t</a:t>
            </a:r>
            <a:r>
              <a:rPr lang="ru-RU" i="1" baseline="-16000" dirty="0" err="1"/>
              <a:t>Q</a:t>
            </a:r>
            <a:r>
              <a:rPr lang="en-US" i="1" baseline="-16000" dirty="0"/>
              <a:t>B</a:t>
            </a:r>
            <a:r>
              <a:rPr lang="ru-RU" dirty="0"/>
              <a:t> - время, затраченное конфигурацией </a:t>
            </a:r>
            <a:r>
              <a:rPr lang="ru-RU" i="1" dirty="0"/>
              <a:t>A, В</a:t>
            </a:r>
            <a:r>
              <a:rPr lang="ru-RU" dirty="0"/>
              <a:t> на выполнение теста </a:t>
            </a:r>
            <a:r>
              <a:rPr lang="ru-RU" i="1" dirty="0"/>
              <a:t>Q</a:t>
            </a:r>
            <a:r>
              <a:rPr lang="ru-RU" dirty="0"/>
              <a:t> 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428596" y="3714752"/>
            <a:ext cx="15843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dirty="0"/>
              <a:t>Коэффициент ускорения</a:t>
            </a:r>
          </a:p>
        </p:txBody>
      </p:sp>
      <p:sp>
        <p:nvSpPr>
          <p:cNvPr id="11272" name="Rectangle 10"/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3" name="Text Box 11"/>
          <p:cNvSpPr txBox="1">
            <a:spLocks noChangeArrowheads="1"/>
          </p:cNvSpPr>
          <p:nvPr/>
        </p:nvSpPr>
        <p:spPr bwMode="auto">
          <a:xfrm>
            <a:off x="4767263" y="517683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11274" name="Text Box 12"/>
          <p:cNvSpPr txBox="1">
            <a:spLocks noChangeArrowheads="1"/>
          </p:cNvSpPr>
          <p:nvPr/>
        </p:nvSpPr>
        <p:spPr bwMode="auto">
          <a:xfrm>
            <a:off x="285720" y="5218112"/>
            <a:ext cx="835824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60000" indent="-360000">
              <a:spcBef>
                <a:spcPts val="600"/>
              </a:spcBef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b="1" i="1" dirty="0">
                <a:solidFill>
                  <a:srgbClr val="6600CC"/>
                </a:solidFill>
              </a:rPr>
              <a:t>Линейное ускорение</a:t>
            </a:r>
            <a:r>
              <a:rPr lang="ru-RU" sz="2400" dirty="0">
                <a:solidFill>
                  <a:srgbClr val="6600CC"/>
                </a:solidFill>
              </a:rPr>
              <a:t>,</a:t>
            </a:r>
            <a:r>
              <a:rPr lang="ru-RU" sz="2400" dirty="0"/>
              <a:t> если коэффициент ускорения остается </a:t>
            </a:r>
            <a:r>
              <a:rPr lang="ru-RU" sz="2400" b="1" dirty="0"/>
              <a:t>равным единице</a:t>
            </a:r>
            <a:r>
              <a:rPr lang="ru-RU" sz="2400" dirty="0"/>
              <a:t> для всех конфигураций данной системы </a:t>
            </a:r>
          </a:p>
        </p:txBody>
      </p:sp>
      <p:sp>
        <p:nvSpPr>
          <p:cNvPr id="11275" name="TextBox 13"/>
          <p:cNvSpPr txBox="1">
            <a:spLocks noChangeArrowheads="1"/>
          </p:cNvSpPr>
          <p:nvPr/>
        </p:nvSpPr>
        <p:spPr bwMode="auto">
          <a:xfrm>
            <a:off x="1071563" y="-24"/>
            <a:ext cx="700087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3600" dirty="0" err="1">
                <a:solidFill>
                  <a:schemeClr val="bg2"/>
                </a:solidFill>
              </a:rPr>
              <a:t>Масштабируемость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1267" grpId="0" build="p"/>
      <p:bldP spid="11269" grpId="0" build="p"/>
      <p:bldP spid="11270" grpId="0"/>
      <p:bldP spid="11271" grpId="0"/>
      <p:bldP spid="112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-24"/>
            <a:ext cx="8229600" cy="777875"/>
          </a:xfrm>
        </p:spPr>
        <p:txBody>
          <a:bodyPr/>
          <a:lstStyle/>
          <a:p>
            <a:pPr algn="ctr" eaLnBrk="1" hangingPunct="1"/>
            <a:r>
              <a:rPr lang="ru-RU" sz="3200" dirty="0">
                <a:solidFill>
                  <a:schemeClr val="accent1">
                    <a:lumMod val="50000"/>
                  </a:schemeClr>
                </a:solidFill>
              </a:rPr>
              <a:t>Расширяемость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85720" y="928671"/>
            <a:ext cx="8358246" cy="3500461"/>
          </a:xfrm>
        </p:spPr>
        <p:txBody>
          <a:bodyPr>
            <a:normAutofit/>
          </a:bodyPr>
          <a:lstStyle/>
          <a:p>
            <a:pPr eaLnBrk="1" hangingPunct="1">
              <a:spcBef>
                <a:spcPts val="1200"/>
              </a:spcBef>
              <a:buFontTx/>
              <a:buNone/>
            </a:pPr>
            <a:r>
              <a:rPr lang="ru-RU" sz="2000" dirty="0"/>
              <a:t>Пусть задан набор тестов </a:t>
            </a:r>
            <a:r>
              <a:rPr lang="ru-RU" sz="2000" i="1" dirty="0"/>
              <a:t>Q</a:t>
            </a:r>
            <a:r>
              <a:rPr lang="ru-RU" sz="2000" baseline="-25000" dirty="0"/>
              <a:t>1</a:t>
            </a:r>
            <a:r>
              <a:rPr lang="ru-RU" sz="2000" dirty="0"/>
              <a:t>, </a:t>
            </a:r>
            <a:r>
              <a:rPr lang="ru-RU" sz="2000" i="1" dirty="0"/>
              <a:t>Q</a:t>
            </a:r>
            <a:r>
              <a:rPr lang="ru-RU" sz="2000" baseline="-25000" dirty="0"/>
              <a:t>2</a:t>
            </a:r>
            <a:r>
              <a:rPr lang="ru-RU" sz="2000" dirty="0"/>
              <a:t>, ..., количественно превосходящих некоторый фиксированный тест </a:t>
            </a:r>
            <a:r>
              <a:rPr lang="ru-RU" sz="2000" i="1" dirty="0"/>
              <a:t>Q</a:t>
            </a:r>
            <a:r>
              <a:rPr lang="ru-RU" sz="2000" dirty="0"/>
              <a:t> в </a:t>
            </a:r>
            <a:r>
              <a:rPr lang="ru-RU" sz="20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000" dirty="0"/>
              <a:t> раз, где </a:t>
            </a:r>
            <a:r>
              <a:rPr lang="ru-RU" sz="20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/>
              <a:t>- номер </a:t>
            </a:r>
            <a:r>
              <a:rPr lang="ru-RU" sz="2000"/>
              <a:t>соответствующего теста.</a:t>
            </a:r>
            <a:endParaRPr lang="ru-RU" sz="2000" dirty="0"/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ru-RU" sz="2000" dirty="0"/>
              <a:t>Пусть заданы конфигурации параллельных машин баз данных</a:t>
            </a:r>
            <a:br>
              <a:rPr lang="ru-RU" sz="2000" dirty="0"/>
            </a:br>
            <a:r>
              <a:rPr lang="ru-RU" sz="2000" i="1" dirty="0"/>
              <a:t>A</a:t>
            </a:r>
            <a:r>
              <a:rPr lang="ru-RU" sz="2000" baseline="-25000" dirty="0"/>
              <a:t>1</a:t>
            </a:r>
            <a:r>
              <a:rPr lang="ru-RU" sz="2000" dirty="0"/>
              <a:t>, </a:t>
            </a:r>
            <a:r>
              <a:rPr lang="ru-RU" sz="2000" i="1" dirty="0"/>
              <a:t>A</a:t>
            </a:r>
            <a:r>
              <a:rPr lang="ru-RU" sz="2000" baseline="-25000" dirty="0"/>
              <a:t>2</a:t>
            </a:r>
            <a:r>
              <a:rPr lang="ru-RU" sz="2000" dirty="0"/>
              <a:t>, ..., превосходящие по степени параллелизма некоторую минимальную конфигурацию </a:t>
            </a:r>
            <a:r>
              <a:rPr lang="ru-RU" sz="2000" i="1" dirty="0"/>
              <a:t>A</a:t>
            </a:r>
            <a:r>
              <a:rPr lang="ru-RU" sz="2000" dirty="0"/>
              <a:t> в </a:t>
            </a:r>
            <a:r>
              <a:rPr lang="ru-RU" sz="2000" i="1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ru-RU" sz="2000" dirty="0"/>
              <a:t> раз </a:t>
            </a:r>
          </a:p>
          <a:p>
            <a:pPr eaLnBrk="1" hangingPunct="1">
              <a:buNone/>
            </a:pPr>
            <a:endParaRPr lang="ru-RU" sz="2000" dirty="0"/>
          </a:p>
        </p:txBody>
      </p:sp>
      <p:graphicFrame>
        <p:nvGraphicFramePr>
          <p:cNvPr id="1026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700338" y="3357563"/>
          <a:ext cx="1584325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4" imgW="723586" imgH="482391" progId="">
                  <p:embed/>
                </p:oleObj>
              </mc:Choice>
              <mc:Fallback>
                <p:oleObj r:id="rId4" imgW="723586" imgH="482391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357563"/>
                        <a:ext cx="1584325" cy="1055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500034" y="3429000"/>
            <a:ext cx="188911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/>
              <a:t>Коэффициент расширяемости</a:t>
            </a:r>
          </a:p>
        </p:txBody>
      </p:sp>
      <p:sp>
        <p:nvSpPr>
          <p:cNvPr id="1030" name="Rectangle 8"/>
          <p:cNvSpPr>
            <a:spLocks noChangeArrowheads="1"/>
          </p:cNvSpPr>
          <p:nvPr/>
        </p:nvSpPr>
        <p:spPr bwMode="auto">
          <a:xfrm>
            <a:off x="4572000" y="3357562"/>
            <a:ext cx="400211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При переходе от конфигурации </a:t>
            </a:r>
            <a:r>
              <a:rPr lang="ru-RU" sz="2400" i="1" dirty="0" err="1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400" i="1" baseline="-25000" dirty="0" err="1">
                <a:latin typeface="Times New Roman" pitchFamily="18" charset="0"/>
                <a:cs typeface="Times New Roman" pitchFamily="18" charset="0"/>
              </a:rPr>
              <a:t>к</a:t>
            </a:r>
            <a:endParaRPr lang="ru-RU" sz="2400" i="1" baseline="-25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/>
              <a:t>                          к конфигурации </a:t>
            </a:r>
            <a:r>
              <a:rPr lang="ru-RU" sz="2400" i="1" dirty="0" err="1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400" i="1" baseline="-25000" dirty="0" err="1">
                <a:latin typeface="Times New Roman" pitchFamily="18" charset="0"/>
                <a:cs typeface="Times New Roman" pitchFamily="18" charset="0"/>
              </a:rPr>
              <a:t>м</a:t>
            </a:r>
            <a:endParaRPr lang="ru-RU" sz="24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71406" y="4540947"/>
            <a:ext cx="9001155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b="1" i="1" dirty="0">
                <a:solidFill>
                  <a:srgbClr val="CC0099"/>
                </a:solidFill>
                <a:latin typeface="+mn-lt"/>
                <a:cs typeface="+mn-cs"/>
              </a:rPr>
              <a:t>Линейная расширяемость, </a:t>
            </a:r>
            <a:r>
              <a:rPr lang="ru-RU" sz="2000" dirty="0">
                <a:latin typeface="+mn-lt"/>
                <a:cs typeface="+mn-cs"/>
              </a:rPr>
              <a:t>если коэффициент расширяемости остается </a:t>
            </a:r>
            <a:r>
              <a:rPr lang="ru-RU" sz="2000" dirty="0">
                <a:solidFill>
                  <a:srgbClr val="CC0099"/>
                </a:solidFill>
                <a:latin typeface="+mn-lt"/>
                <a:cs typeface="+mn-cs"/>
              </a:rPr>
              <a:t>равным единице </a:t>
            </a:r>
            <a:r>
              <a:rPr lang="ru-RU" sz="2000" dirty="0">
                <a:latin typeface="+mn-lt"/>
                <a:cs typeface="+mn-cs"/>
              </a:rPr>
              <a:t>для всех конфигураций данной системы </a:t>
            </a:r>
          </a:p>
          <a:p>
            <a:pPr marL="342900" indent="-342900">
              <a:spcBef>
                <a:spcPts val="12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/>
              <a:t>Система </a:t>
            </a:r>
            <a:r>
              <a:rPr lang="ru-RU" sz="2400" i="1" u="sng" dirty="0">
                <a:solidFill>
                  <a:schemeClr val="bg2"/>
                </a:solidFill>
              </a:rPr>
              <a:t>хорошо масштабируема</a:t>
            </a:r>
            <a:r>
              <a:rPr lang="ru-RU" sz="2400" dirty="0"/>
              <a:t>, если она </a:t>
            </a:r>
            <a:r>
              <a:rPr lang="ru-RU" sz="2400" spc="-100" dirty="0"/>
              <a:t>демонстрирует</a:t>
            </a:r>
            <a:r>
              <a:rPr lang="ru-RU" sz="2400" dirty="0"/>
              <a:t> </a:t>
            </a:r>
            <a:r>
              <a:rPr lang="ru-RU" sz="2400" dirty="0">
                <a:solidFill>
                  <a:srgbClr val="6600CC"/>
                </a:solidFill>
              </a:rPr>
              <a:t>ускорение</a:t>
            </a:r>
            <a:r>
              <a:rPr lang="ru-RU" sz="2400" dirty="0"/>
              <a:t> и </a:t>
            </a:r>
            <a:r>
              <a:rPr lang="ru-RU" sz="2400" dirty="0">
                <a:solidFill>
                  <a:srgbClr val="CC0099"/>
                </a:solidFill>
              </a:rPr>
              <a:t>расширяемость</a:t>
            </a:r>
            <a:r>
              <a:rPr lang="ru-RU" sz="2400" dirty="0"/>
              <a:t>, близкие к </a:t>
            </a:r>
            <a:r>
              <a:rPr lang="ru-RU" sz="2400" b="1" i="1" u="sng" dirty="0"/>
              <a:t>линейным.</a:t>
            </a:r>
            <a:endParaRPr lang="ru-RU" sz="240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</a:pPr>
            <a:endParaRPr lang="ru-RU" sz="2000" dirty="0">
              <a:latin typeface="+mn-lt"/>
              <a:cs typeface="+mn-cs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D895D7-9DE4-45F9-A2A2-0448914A9144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" grpId="0" build="p"/>
      <p:bldP spid="1029" grpId="0"/>
      <p:bldP spid="1030" grpId="0"/>
      <p:bldP spid="103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6197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600" dirty="0">
                <a:solidFill>
                  <a:schemeClr val="bg2"/>
                </a:solidFill>
              </a:rPr>
              <a:t>Производительность (1)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57250"/>
            <a:ext cx="8624918" cy="578646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buFontTx/>
              <a:buNone/>
            </a:pPr>
            <a:r>
              <a:rPr lang="ru-RU" sz="2400" dirty="0"/>
              <a:t>Ключевые проблемы  (</a:t>
            </a:r>
            <a:r>
              <a:rPr lang="ru-RU" sz="2400" b="1" dirty="0"/>
              <a:t>накладные расходы</a:t>
            </a:r>
            <a:r>
              <a:rPr lang="ru-RU" sz="2400" dirty="0"/>
              <a:t>):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sz="2400" dirty="0">
                <a:solidFill>
                  <a:srgbClr val="6600CC"/>
                </a:solidFill>
              </a:rPr>
              <a:t>Межпроцессорные коммуникации</a:t>
            </a:r>
            <a:r>
              <a:rPr lang="ru-RU" sz="2400" dirty="0"/>
              <a:t>; </a:t>
            </a:r>
            <a:r>
              <a:rPr lang="ru-RU" sz="2000" dirty="0"/>
              <a:t>(порождают </a:t>
            </a:r>
            <a:r>
              <a:rPr lang="ru-RU" sz="2000" i="1" u="sng" dirty="0"/>
              <a:t>трафик значительного объема</a:t>
            </a:r>
            <a:r>
              <a:rPr lang="ru-RU" sz="2000" dirty="0"/>
              <a:t>, связанный с передачей сообщений от одного процессора – другому)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sz="2400" dirty="0">
                <a:solidFill>
                  <a:srgbClr val="6600CC"/>
                </a:solidFill>
              </a:rPr>
              <a:t>Когерентность </a:t>
            </a:r>
            <a:r>
              <a:rPr lang="ru-RU" sz="2400" dirty="0" err="1">
                <a:solidFill>
                  <a:srgbClr val="6600CC"/>
                </a:solidFill>
              </a:rPr>
              <a:t>КЭШей</a:t>
            </a:r>
            <a:r>
              <a:rPr lang="ru-RU" sz="2400" dirty="0"/>
              <a:t>;</a:t>
            </a:r>
            <a:endParaRPr lang="ru-RU" sz="1800" dirty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sz="2000" dirty="0"/>
              <a:t>обращение к диску примерно в 10</a:t>
            </a:r>
            <a:r>
              <a:rPr lang="ru-RU" sz="2000" baseline="30000" dirty="0"/>
              <a:t>5</a:t>
            </a:r>
            <a:r>
              <a:rPr lang="ru-RU" sz="2000" dirty="0"/>
              <a:t>‑10</a:t>
            </a:r>
            <a:r>
              <a:rPr lang="ru-RU" sz="2000" baseline="30000" dirty="0"/>
              <a:t>6</a:t>
            </a:r>
            <a:r>
              <a:rPr lang="ru-RU" sz="2000" dirty="0"/>
              <a:t> раз медленнее, чем обращение к оперативной памяти, 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sz="2000" dirty="0"/>
              <a:t>кэширование страниц с фрагментами базы данных, 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sz="2000" i="1" u="sng" dirty="0"/>
              <a:t>согласование изменения</a:t>
            </a:r>
            <a:r>
              <a:rPr lang="ru-RU" sz="2000" dirty="0"/>
              <a:t> одного и того же фрагмента в </a:t>
            </a:r>
            <a:r>
              <a:rPr lang="ru-RU" sz="2000" dirty="0" err="1"/>
              <a:t>кэшах</a:t>
            </a:r>
            <a:r>
              <a:rPr lang="ru-RU" sz="2000" dirty="0"/>
              <a:t> различных процессоров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sz="2400" dirty="0">
                <a:solidFill>
                  <a:srgbClr val="6600CC"/>
                </a:solidFill>
              </a:rPr>
              <a:t>Организация блокировок </a:t>
            </a:r>
            <a:r>
              <a:rPr lang="ru-RU" sz="1800" dirty="0"/>
              <a:t>(</a:t>
            </a:r>
            <a:r>
              <a:rPr lang="ru-RU" sz="2000" dirty="0"/>
              <a:t>если различные процессоры обрабатывают одни и те же объекты базы данных (отношения, кортежи и др.), то нам необходимо поддерживать </a:t>
            </a:r>
            <a:r>
              <a:rPr lang="ru-RU" sz="2000" i="1" u="sng" dirty="0"/>
              <a:t>глобальную таблицу блокировок</a:t>
            </a:r>
            <a:r>
              <a:rPr lang="ru-RU" sz="2000" dirty="0"/>
              <a:t>, используемую всеми процессорами)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/>
            <a:r>
              <a:rPr lang="ru-RU" sz="3200" dirty="0">
                <a:solidFill>
                  <a:schemeClr val="bg2"/>
                </a:solidFill>
              </a:rPr>
              <a:t>Производительность (2)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14282" y="857232"/>
            <a:ext cx="8748712" cy="5805488"/>
          </a:xfrm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 3"/>
              <a:buChar char=""/>
              <a:defRPr/>
            </a:pPr>
            <a:r>
              <a:rPr lang="ru-RU" sz="2400" dirty="0">
                <a:solidFill>
                  <a:srgbClr val="6600CC"/>
                </a:solidFill>
              </a:rPr>
              <a:t>Балансировка загрузки</a:t>
            </a:r>
            <a:endParaRPr lang="ru-RU" sz="2400" dirty="0"/>
          </a:p>
          <a:p>
            <a:pPr marL="621792" lvl="1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ru-RU" sz="2000" dirty="0"/>
              <a:t>СУБД должна разбивать запрос на </a:t>
            </a:r>
            <a:r>
              <a:rPr lang="ru-RU" sz="2000" i="1" dirty="0">
                <a:solidFill>
                  <a:srgbClr val="CC0099"/>
                </a:solidFill>
              </a:rPr>
              <a:t>параллельные агенты</a:t>
            </a:r>
            <a:r>
              <a:rPr lang="ru-RU" sz="2000" dirty="0"/>
              <a:t> и распределять их по процессорам таким образом, чтобы обеспечивалась </a:t>
            </a:r>
            <a:r>
              <a:rPr lang="ru-RU" sz="2000" i="1" dirty="0">
                <a:solidFill>
                  <a:srgbClr val="CC0099"/>
                </a:solidFill>
              </a:rPr>
              <a:t>равномерная загрузка</a:t>
            </a:r>
            <a:r>
              <a:rPr lang="ru-RU" sz="2000" dirty="0"/>
              <a:t> всех задействованных процессоров</a:t>
            </a:r>
          </a:p>
          <a:p>
            <a:pPr marL="621792" lvl="1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ru-RU" sz="2000" dirty="0"/>
              <a:t>величина </a:t>
            </a:r>
            <a:r>
              <a:rPr lang="ru-RU" sz="2000" i="1" dirty="0">
                <a:solidFill>
                  <a:srgbClr val="CC0099"/>
                </a:solidFill>
              </a:rPr>
              <a:t>перекоса</a:t>
            </a:r>
            <a:r>
              <a:rPr lang="ru-RU" sz="2000" dirty="0"/>
              <a:t> способна снизить эффективность распараллеливания реляционных операций, особенно соединения и сортировки</a:t>
            </a:r>
          </a:p>
          <a:p>
            <a:pPr marL="621792" lvl="1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/>
            </a:pPr>
            <a:endParaRPr lang="ru-RU" sz="2400" dirty="0">
              <a:solidFill>
                <a:srgbClr val="6600CC"/>
              </a:solidFill>
            </a:endParaRPr>
          </a:p>
          <a:p>
            <a:pPr marL="0" lvl="1" indent="0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Verdana"/>
              <a:buNone/>
              <a:defRPr/>
            </a:pPr>
            <a:r>
              <a:rPr lang="ru-RU" sz="2400" dirty="0">
                <a:solidFill>
                  <a:srgbClr val="6600CC"/>
                </a:solidFill>
              </a:rPr>
              <a:t>Перекос значений атрибута </a:t>
            </a:r>
            <a:r>
              <a:rPr lang="ru-RU" sz="2000" dirty="0"/>
              <a:t>– это когда некоторые значения для определенного атрибута встречаются значительно чаще, чем остальные.</a:t>
            </a:r>
          </a:p>
          <a:p>
            <a:pPr marL="0" lvl="1" indent="0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/>
            </a:pPr>
            <a:r>
              <a:rPr lang="ru-RU" sz="2000" dirty="0"/>
              <a:t>При наличии перекоса данных </a:t>
            </a:r>
            <a:r>
              <a:rPr lang="ru-RU" sz="2000" dirty="0">
                <a:solidFill>
                  <a:srgbClr val="CC0099"/>
                </a:solidFill>
              </a:rPr>
              <a:t>ускорение</a:t>
            </a:r>
            <a:r>
              <a:rPr lang="ru-RU" sz="2000" dirty="0"/>
              <a:t>, достигаемое при параллельным выполнении операций соединения, может быть ограничено </a:t>
            </a:r>
            <a:r>
              <a:rPr lang="ru-RU" sz="2000" dirty="0">
                <a:solidFill>
                  <a:srgbClr val="CC0099"/>
                </a:solidFill>
              </a:rPr>
              <a:t>катастрофическим образом</a:t>
            </a:r>
            <a:r>
              <a:rPr lang="ru-RU" sz="2000" dirty="0"/>
              <a:t> по причине перегрузки одних процессоров и недогрузки других. 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14"/>
            <a:ext cx="8229600" cy="654032"/>
          </a:xfrm>
        </p:spPr>
        <p:txBody>
          <a:bodyPr/>
          <a:lstStyle/>
          <a:p>
            <a:pPr algn="ctr" eaLnBrk="1" hangingPunct="1"/>
            <a:r>
              <a:rPr lang="ru-RU" sz="3200" dirty="0">
                <a:solidFill>
                  <a:schemeClr val="bg2"/>
                </a:solidFill>
              </a:rPr>
              <a:t>Доступность данных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14282" y="714356"/>
            <a:ext cx="8572560" cy="5857916"/>
          </a:xfrm>
        </p:spPr>
        <p:txBody>
          <a:bodyPr/>
          <a:lstStyle/>
          <a:p>
            <a:pPr marL="609600" indent="-609600" eaLnBrk="1" hangingPunct="1"/>
            <a:r>
              <a:rPr lang="ru-RU" sz="2000" dirty="0"/>
              <a:t>Увеличение числа процессорных узлов увеличивает вероятность появления отказа в системе</a:t>
            </a:r>
          </a:p>
          <a:p>
            <a:pPr marL="609600" indent="-609600" eaLnBrk="1" hangingPunct="1"/>
            <a:r>
              <a:rPr lang="ru-RU" sz="2000" i="1" dirty="0">
                <a:solidFill>
                  <a:schemeClr val="bg2"/>
                </a:solidFill>
              </a:rPr>
              <a:t>Коэффициент доступности базы</a:t>
            </a:r>
            <a:r>
              <a:rPr lang="ru-RU" sz="2000" dirty="0">
                <a:solidFill>
                  <a:schemeClr val="bg2"/>
                </a:solidFill>
              </a:rPr>
              <a:t> </a:t>
            </a:r>
            <a:r>
              <a:rPr lang="ru-RU" sz="2000" i="1" dirty="0">
                <a:solidFill>
                  <a:schemeClr val="bg2"/>
                </a:solidFill>
              </a:rPr>
              <a:t>данных</a:t>
            </a:r>
            <a:r>
              <a:rPr lang="ru-RU" sz="2000" dirty="0">
                <a:solidFill>
                  <a:schemeClr val="bg2"/>
                </a:solidFill>
              </a:rPr>
              <a:t> = </a:t>
            </a:r>
          </a:p>
          <a:p>
            <a:pPr marL="609600" indent="-609600" eaLnBrk="1" hangingPunct="1"/>
            <a:endParaRPr lang="ru-RU" sz="2000" dirty="0"/>
          </a:p>
          <a:p>
            <a:pPr marL="609600" indent="-609600" eaLnBrk="1" hangingPunct="1"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ru-RU" sz="1600" dirty="0"/>
              <a:t>промежуток времени (база данных была </a:t>
            </a:r>
            <a:r>
              <a:rPr lang="ru-RU" sz="1600" b="1" i="1" dirty="0">
                <a:solidFill>
                  <a:schemeClr val="bg2"/>
                </a:solidFill>
              </a:rPr>
              <a:t>действительно доступна</a:t>
            </a:r>
            <a:r>
              <a:rPr lang="ru-RU" sz="1600" b="1" dirty="0">
                <a:solidFill>
                  <a:schemeClr val="bg2"/>
                </a:solidFill>
              </a:rPr>
              <a:t> </a:t>
            </a:r>
            <a:r>
              <a:rPr lang="ru-RU" sz="1600" dirty="0"/>
              <a:t>пользователям)</a:t>
            </a:r>
          </a:p>
          <a:p>
            <a:pPr marL="609600" indent="-609600" eaLnBrk="1" hangingPunct="1">
              <a:lnSpc>
                <a:spcPct val="80000"/>
              </a:lnSpc>
              <a:spcBef>
                <a:spcPts val="600"/>
              </a:spcBef>
              <a:buFontTx/>
              <a:buNone/>
            </a:pPr>
            <a:endParaRPr lang="ru-RU" sz="1600" dirty="0"/>
          </a:p>
          <a:p>
            <a:pPr marL="609600" indent="-609600" eaLnBrk="1" hangingPunct="1"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ru-RU" sz="1600" dirty="0"/>
              <a:t>промежутком времени (пользователи </a:t>
            </a:r>
            <a:r>
              <a:rPr lang="ru-RU" sz="1600" b="1" i="1" dirty="0">
                <a:solidFill>
                  <a:schemeClr val="bg2"/>
                </a:solidFill>
              </a:rPr>
              <a:t>требовали доступ</a:t>
            </a:r>
            <a:r>
              <a:rPr lang="ru-RU" sz="1600" dirty="0"/>
              <a:t> к базе данных). </a:t>
            </a:r>
          </a:p>
          <a:p>
            <a:pPr marL="609600" indent="-609600" eaLnBrk="1" hangingPunct="1">
              <a:buFontTx/>
              <a:buNone/>
            </a:pPr>
            <a:endParaRPr lang="ru-RU" sz="2000" dirty="0"/>
          </a:p>
          <a:p>
            <a:pPr marL="360000" indent="0" eaLnBrk="1" hangingPunct="1">
              <a:spcBef>
                <a:spcPts val="600"/>
              </a:spcBef>
              <a:buFontTx/>
              <a:buNone/>
            </a:pPr>
            <a:r>
              <a:rPr lang="ru-RU" sz="2000" dirty="0"/>
              <a:t>Так если БД требовалась в течение 8 ч, а была доступна в течение 6, 	то доступность = 6/8 или 0,75</a:t>
            </a:r>
          </a:p>
          <a:p>
            <a:pPr marL="360000" indent="0" eaLnBrk="1" hangingPunct="1">
              <a:spcBef>
                <a:spcPts val="600"/>
              </a:spcBef>
              <a:buFontTx/>
              <a:buNone/>
            </a:pPr>
            <a:r>
              <a:rPr lang="ru-RU" sz="2000" i="1" dirty="0">
                <a:solidFill>
                  <a:schemeClr val="bg2"/>
                </a:solidFill>
              </a:rPr>
              <a:t>Высокая доступность данных (0,99)</a:t>
            </a:r>
            <a:r>
              <a:rPr lang="ru-RU" sz="2000" dirty="0">
                <a:solidFill>
                  <a:schemeClr val="bg2"/>
                </a:solidFill>
              </a:rPr>
              <a:t> </a:t>
            </a:r>
            <a:r>
              <a:rPr lang="ru-RU" sz="2000" dirty="0"/>
              <a:t>определяется следующими четырьмя факторами:</a:t>
            </a:r>
          </a:p>
          <a:p>
            <a:pPr marL="609600" indent="-609600" eaLnBrk="1" hangingPunct="1"/>
            <a:r>
              <a:rPr lang="ru-RU" sz="2000" dirty="0">
                <a:solidFill>
                  <a:schemeClr val="bg2"/>
                </a:solidFill>
              </a:rPr>
              <a:t>аппаратная отказоустойчивость;</a:t>
            </a:r>
          </a:p>
          <a:p>
            <a:pPr marL="609600" indent="-609600" eaLnBrk="1" hangingPunct="1"/>
            <a:r>
              <a:rPr lang="ru-RU" sz="2000" dirty="0">
                <a:solidFill>
                  <a:schemeClr val="bg2"/>
                </a:solidFill>
              </a:rPr>
              <a:t>восстановление целостности базы данных после сбоя;</a:t>
            </a:r>
          </a:p>
          <a:p>
            <a:pPr marL="609600" indent="-609600" eaLnBrk="1" hangingPunct="1"/>
            <a:r>
              <a:rPr lang="ru-RU" sz="2000" dirty="0">
                <a:solidFill>
                  <a:schemeClr val="bg2"/>
                </a:solidFill>
              </a:rPr>
              <a:t>оперативное восстановление базы данных;</a:t>
            </a:r>
          </a:p>
          <a:p>
            <a:pPr marL="609600" indent="-609600" eaLnBrk="1" hangingPunct="1"/>
            <a:r>
              <a:rPr lang="ru-RU" sz="2000" dirty="0">
                <a:solidFill>
                  <a:schemeClr val="bg2"/>
                </a:solidFill>
              </a:rPr>
              <a:t>прозрачность для пользователя процессов восстановления системы.</a:t>
            </a:r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500034" y="2571744"/>
            <a:ext cx="7489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33412"/>
          </a:xfrm>
        </p:spPr>
        <p:txBody>
          <a:bodyPr/>
          <a:lstStyle/>
          <a:p>
            <a:pPr algn="ctr" eaLnBrk="1" hangingPunct="1"/>
            <a:r>
              <a:rPr lang="ru-RU" sz="3200" dirty="0">
                <a:solidFill>
                  <a:schemeClr val="bg2"/>
                </a:solidFill>
              </a:rPr>
              <a:t>Доступность данных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0" y="571480"/>
            <a:ext cx="9001109" cy="6215082"/>
          </a:xfrm>
        </p:spPr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ru-RU" sz="2400" dirty="0">
                <a:solidFill>
                  <a:srgbClr val="7030A0"/>
                </a:solidFill>
              </a:rPr>
              <a:t>Аппаратная отказоустойчивость</a:t>
            </a:r>
            <a:r>
              <a:rPr lang="ru-RU" sz="2800" dirty="0">
                <a:solidFill>
                  <a:srgbClr val="7030A0"/>
                </a:solidFill>
              </a:rPr>
              <a:t> </a:t>
            </a:r>
            <a:r>
              <a:rPr lang="ru-RU" sz="2800" dirty="0"/>
              <a:t>- </a:t>
            </a:r>
            <a:r>
              <a:rPr lang="ru-RU" sz="1800" dirty="0"/>
              <a:t>сохранение общей работоспособности системы при </a:t>
            </a:r>
            <a:r>
              <a:rPr lang="ru-RU" sz="1800" b="1" dirty="0">
                <a:solidFill>
                  <a:schemeClr val="bg2"/>
                </a:solidFill>
              </a:rPr>
              <a:t>одиночном отказе </a:t>
            </a:r>
            <a:r>
              <a:rPr lang="ru-RU" sz="1800" dirty="0"/>
              <a:t>( процессор, модуль памяти, диск, и канал доступа ). </a:t>
            </a:r>
          </a:p>
          <a:p>
            <a:pPr marL="365760" indent="0" eaLnBrk="1" fontAlgn="auto" hangingPunct="1">
              <a:lnSpc>
                <a:spcPct val="110000"/>
              </a:lnSpc>
              <a:spcAft>
                <a:spcPts val="0"/>
              </a:spcAft>
              <a:buFontTx/>
              <a:buNone/>
              <a:defRPr/>
            </a:pPr>
            <a:r>
              <a:rPr lang="ru-RU" sz="1800" b="1" dirty="0"/>
              <a:t>Одиночный отказ</a:t>
            </a:r>
            <a:r>
              <a:rPr lang="ru-RU" sz="1800" dirty="0"/>
              <a:t> любого устройства </a:t>
            </a:r>
            <a:r>
              <a:rPr lang="ru-RU" sz="1800" b="1" dirty="0"/>
              <a:t>не должен</a:t>
            </a:r>
            <a:r>
              <a:rPr lang="ru-RU" sz="1800" dirty="0"/>
              <a:t> привести к потере целостности базы данных и тем более к физической утрате какой-то части базы данных</a:t>
            </a:r>
            <a:endParaRPr lang="ru-RU" sz="1600" dirty="0"/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ru-RU" sz="2400" dirty="0">
                <a:solidFill>
                  <a:srgbClr val="7030A0"/>
                </a:solidFill>
              </a:rPr>
              <a:t>Восстановление целостности базы данных после сбоя</a:t>
            </a:r>
            <a:r>
              <a:rPr lang="ru-RU" sz="2800" dirty="0">
                <a:solidFill>
                  <a:srgbClr val="7030A0"/>
                </a:solidFill>
              </a:rPr>
              <a:t>  </a:t>
            </a:r>
            <a:r>
              <a:rPr lang="ru-RU" sz="1800" dirty="0"/>
              <a:t>- АСИД транзакции, журнал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ru-RU" sz="2400" dirty="0">
                <a:solidFill>
                  <a:srgbClr val="7030A0"/>
                </a:solidFill>
              </a:rPr>
              <a:t>Оперативное восстановление базы данных </a:t>
            </a:r>
            <a:r>
              <a:rPr lang="ru-RU" sz="2400" dirty="0">
                <a:solidFill>
                  <a:schemeClr val="accent2"/>
                </a:solidFill>
              </a:rPr>
              <a:t>- </a:t>
            </a:r>
            <a:r>
              <a:rPr lang="ru-RU" sz="1800" dirty="0"/>
              <a:t>восстановление нормальной работоспособности системы с </a:t>
            </a:r>
            <a:r>
              <a:rPr lang="ru-RU" sz="1800" b="1" dirty="0"/>
              <a:t>сохранением режима обслуживания</a:t>
            </a:r>
            <a:r>
              <a:rPr lang="ru-RU" sz="1800" dirty="0"/>
              <a:t> пользователей. Коэффициент доступности данных может </a:t>
            </a:r>
            <a:r>
              <a:rPr lang="ru-RU" sz="1800" b="1" dirty="0"/>
              <a:t>временно уменьшаться.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 3"/>
              <a:buChar char=""/>
              <a:defRPr/>
            </a:pPr>
            <a:r>
              <a:rPr lang="ru-RU" sz="2200" dirty="0">
                <a:solidFill>
                  <a:srgbClr val="7030A0"/>
                </a:solidFill>
              </a:rPr>
              <a:t>Прозрачность для пользователя процессов  восстановления системы </a:t>
            </a:r>
            <a:r>
              <a:rPr lang="ru-RU" sz="1800" dirty="0"/>
              <a:t>предполагает </a:t>
            </a:r>
            <a:r>
              <a:rPr lang="ru-RU" sz="1800" b="1" dirty="0"/>
              <a:t>незначительное уменьшение</a:t>
            </a:r>
            <a:r>
              <a:rPr lang="ru-RU" sz="1800" dirty="0"/>
              <a:t> </a:t>
            </a:r>
            <a:r>
              <a:rPr lang="ru-RU" sz="1800" b="1" dirty="0"/>
              <a:t>коэффициента доступности</a:t>
            </a:r>
            <a:r>
              <a:rPr lang="ru-RU" sz="1800" dirty="0"/>
              <a:t> базы данных во время сбоя и последующего восстановления.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 3"/>
              <a:buChar char=""/>
              <a:defRPr/>
            </a:pPr>
            <a:r>
              <a:rPr lang="ru-RU" sz="1800" dirty="0"/>
              <a:t> </a:t>
            </a:r>
            <a:r>
              <a:rPr lang="ru-RU" sz="1800" kern="1200" dirty="0"/>
              <a:t>Сложность данной проблемы заключается в том, что выход из строя одного из дисков может </a:t>
            </a:r>
            <a:r>
              <a:rPr lang="ru-RU" sz="1800" kern="1200"/>
              <a:t>привести</a:t>
            </a:r>
            <a:r>
              <a:rPr lang="ru-RU" sz="1800"/>
              <a:t> к д</a:t>
            </a:r>
            <a:r>
              <a:rPr lang="ru-RU" sz="1600"/>
              <a:t>исбалансу </a:t>
            </a:r>
            <a:r>
              <a:rPr lang="ru-RU" sz="1600" dirty="0"/>
              <a:t>загрузки процессоров в силу увеличения нагрузки на узел, содержащий копии</a:t>
            </a:r>
          </a:p>
          <a:p>
            <a:pPr marL="765810" lvl="1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rgbClr val="C00000"/>
              </a:buClr>
              <a:buSzPct val="100000"/>
              <a:buFont typeface="Wingdings" pitchFamily="2" charset="2"/>
              <a:buChar char="v"/>
              <a:defRPr/>
            </a:pPr>
            <a:r>
              <a:rPr lang="ru-RU" sz="1600" dirty="0">
                <a:solidFill>
                  <a:srgbClr val="C00000"/>
                </a:solidFill>
              </a:rPr>
              <a:t>  решение: </a:t>
            </a:r>
            <a:r>
              <a:rPr lang="ru-RU" sz="1600" dirty="0"/>
              <a:t>Фрагментация копий утраченных данных на другие диски для параллельного доступа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868362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4000" dirty="0">
                <a:latin typeface="Times New Roman" pitchFamily="18" charset="0"/>
              </a:rPr>
              <a:t>Структуры аппаратных платформ</a:t>
            </a:r>
            <a:r>
              <a:rPr lang="en-US" sz="3600" dirty="0">
                <a:latin typeface="Times New Roman" pitchFamily="18" charset="0"/>
              </a:rPr>
              <a:t/>
            </a:r>
            <a:br>
              <a:rPr lang="en-US" sz="3600" dirty="0">
                <a:latin typeface="Times New Roman" pitchFamily="18" charset="0"/>
              </a:rPr>
            </a:br>
            <a:r>
              <a:rPr lang="ru-RU" sz="2800" dirty="0">
                <a:latin typeface="Times New Roman" pitchFamily="18" charset="0"/>
              </a:rPr>
              <a:t>(</a:t>
            </a:r>
            <a:r>
              <a:rPr lang="ru-RU" sz="2800" dirty="0">
                <a:solidFill>
                  <a:srgbClr val="7030A0"/>
                </a:solidFill>
              </a:rPr>
              <a:t>классификация </a:t>
            </a:r>
            <a:r>
              <a:rPr lang="en-US" sz="2800" dirty="0" err="1">
                <a:solidFill>
                  <a:srgbClr val="7030A0"/>
                </a:solidFill>
              </a:rPr>
              <a:t>Stonebraker</a:t>
            </a:r>
            <a:r>
              <a:rPr lang="ru-RU" sz="2800" dirty="0">
                <a:latin typeface="Times New Roman" pitchFamily="18" charset="0"/>
              </a:rPr>
              <a:t>)</a:t>
            </a:r>
          </a:p>
        </p:txBody>
      </p:sp>
      <p:pic>
        <p:nvPicPr>
          <p:cNvPr id="1638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8313" y="1196975"/>
            <a:ext cx="8229600" cy="2822575"/>
          </a:xfrm>
          <a:noFill/>
        </p:spPr>
      </p:pic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323850" y="4724400"/>
            <a:ext cx="8424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SE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(</a:t>
            </a:r>
            <a:r>
              <a:rPr lang="en-US" sz="2000" i="1">
                <a:latin typeface="Times New Roman" pitchFamily="18" charset="0"/>
              </a:rPr>
              <a:t>Shared Everything</a:t>
            </a:r>
            <a:r>
              <a:rPr lang="en-US" sz="2000">
                <a:latin typeface="Times New Roman" pitchFamily="18" charset="0"/>
              </a:rPr>
              <a:t>) </a:t>
            </a:r>
            <a:r>
              <a:rPr lang="ru-RU" sz="2000">
                <a:latin typeface="Times New Roman" pitchFamily="18" charset="0"/>
              </a:rPr>
              <a:t>– разделение оперативной памяти и внешних дисков</a:t>
            </a:r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323850" y="5229225"/>
            <a:ext cx="8424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SD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(</a:t>
            </a:r>
            <a:r>
              <a:rPr lang="en-US" sz="2000" i="1">
                <a:latin typeface="Times New Roman" pitchFamily="18" charset="0"/>
              </a:rPr>
              <a:t>Shared Disks</a:t>
            </a:r>
            <a:r>
              <a:rPr lang="en-US" sz="2000">
                <a:latin typeface="Times New Roman" pitchFamily="18" charset="0"/>
              </a:rPr>
              <a:t>)</a:t>
            </a:r>
            <a:r>
              <a:rPr lang="ru-RU" sz="2000">
                <a:latin typeface="Times New Roman" pitchFamily="18" charset="0"/>
              </a:rPr>
              <a:t>         –  разделение внешних дисков</a:t>
            </a:r>
          </a:p>
        </p:txBody>
      </p:sp>
      <p:sp>
        <p:nvSpPr>
          <p:cNvPr id="16390" name="Text Box 7"/>
          <p:cNvSpPr txBox="1">
            <a:spLocks noChangeArrowheads="1"/>
          </p:cNvSpPr>
          <p:nvPr/>
        </p:nvSpPr>
        <p:spPr bwMode="auto">
          <a:xfrm>
            <a:off x="323850" y="5734050"/>
            <a:ext cx="8424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SN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(</a:t>
            </a:r>
            <a:r>
              <a:rPr lang="en-US" sz="2000" i="1">
                <a:latin typeface="Times New Roman" pitchFamily="18" charset="0"/>
              </a:rPr>
              <a:t>Shared Nothing</a:t>
            </a:r>
            <a:r>
              <a:rPr lang="en-US" sz="2000">
                <a:latin typeface="Times New Roman" pitchFamily="18" charset="0"/>
              </a:rPr>
              <a:t>)     </a:t>
            </a:r>
            <a:r>
              <a:rPr lang="ru-RU" sz="2000">
                <a:latin typeface="Times New Roman" pitchFamily="18" charset="0"/>
              </a:rPr>
              <a:t>– без разделения ресурсов</a:t>
            </a:r>
          </a:p>
        </p:txBody>
      </p:sp>
      <p:sp>
        <p:nvSpPr>
          <p:cNvPr id="16391" name="Text Box 8"/>
          <p:cNvSpPr txBox="1">
            <a:spLocks noChangeArrowheads="1"/>
          </p:cNvSpPr>
          <p:nvPr/>
        </p:nvSpPr>
        <p:spPr bwMode="auto">
          <a:xfrm>
            <a:off x="611188" y="4149725"/>
            <a:ext cx="8064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 – </a:t>
            </a:r>
            <a:r>
              <a:rPr lang="ru-RU" sz="2000"/>
              <a:t>процессор, </a:t>
            </a:r>
            <a:r>
              <a:rPr lang="en-US" sz="2000"/>
              <a:t>M – </a:t>
            </a:r>
            <a:r>
              <a:rPr lang="ru-RU" sz="2000"/>
              <a:t>оперативная память, </a:t>
            </a:r>
            <a:r>
              <a:rPr lang="en-US" sz="2000"/>
              <a:t>D</a:t>
            </a:r>
            <a:r>
              <a:rPr lang="ru-RU" sz="2000"/>
              <a:t> -  диски, </a:t>
            </a:r>
            <a:r>
              <a:rPr lang="en-US" sz="2000"/>
              <a:t>N -</a:t>
            </a:r>
            <a:r>
              <a:rPr lang="ru-RU" sz="2000"/>
              <a:t> сеть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85750"/>
            <a:ext cx="8229600" cy="642938"/>
          </a:xfrm>
        </p:spPr>
        <p:txBody>
          <a:bodyPr/>
          <a:lstStyle/>
          <a:p>
            <a:pPr algn="ctr" eaLnBrk="1" hangingPunct="1"/>
            <a:r>
              <a:rPr lang="ru-RU" sz="2800"/>
              <a:t>Расширение классификации Стоунбрейкера </a:t>
            </a:r>
          </a:p>
        </p:txBody>
      </p:sp>
      <p:sp>
        <p:nvSpPr>
          <p:cNvPr id="205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050" name="Object 6"/>
          <p:cNvGraphicFramePr>
            <a:graphicFrameLocks noChangeAspect="1"/>
          </p:cNvGraphicFramePr>
          <p:nvPr/>
        </p:nvGraphicFramePr>
        <p:xfrm>
          <a:off x="169863" y="1428750"/>
          <a:ext cx="8804275" cy="292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r:id="rId3" imgW="5915025" imgH="1962150" progId="">
                  <p:embed/>
                </p:oleObj>
              </mc:Choice>
              <mc:Fallback>
                <p:oleObj r:id="rId3" imgW="5915025" imgH="196215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63" y="1428750"/>
                        <a:ext cx="8804275" cy="292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Rectangle 8"/>
          <p:cNvSpPr>
            <a:spLocks noChangeArrowheads="1"/>
          </p:cNvSpPr>
          <p:nvPr/>
        </p:nvSpPr>
        <p:spPr bwMode="auto">
          <a:xfrm>
            <a:off x="250825" y="4868863"/>
            <a:ext cx="8640763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i="1"/>
              <a:t>CE </a:t>
            </a:r>
            <a:r>
              <a:rPr lang="ru-RU"/>
              <a:t>(</a:t>
            </a:r>
            <a:r>
              <a:rPr lang="ru-RU" i="1"/>
              <a:t>Clustered-Everything</a:t>
            </a:r>
            <a:r>
              <a:rPr lang="ru-RU"/>
              <a:t>) - архитектура с </a:t>
            </a:r>
            <a:r>
              <a:rPr lang="ru-RU" i="1"/>
              <a:t>SE</a:t>
            </a:r>
            <a:r>
              <a:rPr lang="ru-RU"/>
              <a:t> кластерами, объединенными по принципу </a:t>
            </a:r>
            <a:r>
              <a:rPr lang="ru-RU" i="1"/>
              <a:t>SN</a:t>
            </a:r>
            <a:r>
              <a:rPr lang="ru-RU"/>
              <a:t>;</a:t>
            </a:r>
          </a:p>
          <a:p>
            <a:r>
              <a:rPr lang="ru-RU" i="1"/>
              <a:t>CD</a:t>
            </a:r>
            <a:r>
              <a:rPr lang="ru-RU"/>
              <a:t> (</a:t>
            </a:r>
            <a:r>
              <a:rPr lang="ru-RU" i="1"/>
              <a:t>Clustered-Disk</a:t>
            </a:r>
            <a:r>
              <a:rPr lang="ru-RU"/>
              <a:t>) - архитектура с </a:t>
            </a:r>
            <a:r>
              <a:rPr lang="ru-RU" i="1"/>
              <a:t>SD</a:t>
            </a:r>
            <a:r>
              <a:rPr lang="ru-RU"/>
              <a:t> кластерами, объединенными по принципу </a:t>
            </a:r>
            <a:r>
              <a:rPr lang="ru-RU" i="1"/>
              <a:t>SN</a:t>
            </a:r>
            <a:r>
              <a:rPr lang="ru-RU"/>
              <a:t>.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582613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600" dirty="0"/>
              <a:t>Гибридная архитектура C</a:t>
            </a:r>
            <a:r>
              <a:rPr lang="ru-RU" sz="3600" baseline="-25000" dirty="0"/>
              <a:t>D</a:t>
            </a:r>
            <a:r>
              <a:rPr lang="ru-RU" sz="3600" baseline="30000" dirty="0"/>
              <a:t>N</a:t>
            </a:r>
            <a:r>
              <a:rPr lang="ru-RU" dirty="0"/>
              <a:t> </a:t>
            </a:r>
          </a:p>
        </p:txBody>
      </p:sp>
      <p:pic>
        <p:nvPicPr>
          <p:cNvPr id="17411" name="Picture 4" descr="Pic copy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471613" y="785813"/>
            <a:ext cx="6200775" cy="5800725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8"/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642937"/>
          </a:xfrm>
        </p:spPr>
        <p:txBody>
          <a:bodyPr/>
          <a:lstStyle/>
          <a:p>
            <a:pPr algn="ctr" eaLnBrk="1" hangingPunct="1"/>
            <a:r>
              <a:rPr lang="ru-RU" sz="3600"/>
              <a:t>Сравнение архитектур </a:t>
            </a:r>
          </a:p>
        </p:txBody>
      </p:sp>
      <p:graphicFrame>
        <p:nvGraphicFramePr>
          <p:cNvPr id="44464" name="Group 432"/>
          <p:cNvGraphicFramePr>
            <a:graphicFrameLocks noGrp="1"/>
          </p:cNvGraphicFramePr>
          <p:nvPr>
            <p:ph type="tbl" idx="1"/>
          </p:nvPr>
        </p:nvGraphicFramePr>
        <p:xfrm>
          <a:off x="320675" y="971550"/>
          <a:ext cx="8501122" cy="4916154"/>
        </p:xfrm>
        <a:graphic>
          <a:graphicData uri="http://schemas.openxmlformats.org/drawingml/2006/table">
            <a:tbl>
              <a:tblPr/>
              <a:tblGrid>
                <a:gridCol w="3173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5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7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1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43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 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SD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SN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CE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CD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CD</a:t>
                      </a:r>
                      <a:r>
                        <a:rPr kumimoji="0" lang="en-US" sz="20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</a:t>
                      </a: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Масштабируемость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Доступность данных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5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Баланс загрузки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Межпроцессорные коммуникации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Когерентность </a:t>
                      </a:r>
                      <a:r>
                        <a:rPr kumimoji="0" lang="ru-R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кэшей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Организация блокировок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Сумма баллов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509" name="TextBox 78"/>
          <p:cNvSpPr txBox="1">
            <a:spLocks noChangeArrowheads="1"/>
          </p:cNvSpPr>
          <p:nvPr/>
        </p:nvSpPr>
        <p:spPr bwMode="auto">
          <a:xfrm>
            <a:off x="1571625" y="6000750"/>
            <a:ext cx="73580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/>
              <a:t>0– плохо , 1 – удовл., 2 – хорошо, 3 - отлично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CA63C7-B0B8-4300-979D-027AD05E6938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pPr algn="ctr" eaLnBrk="1" hangingPunct="1"/>
            <a:r>
              <a:rPr lang="ru-RU" sz="3200" dirty="0">
                <a:solidFill>
                  <a:schemeClr val="bg2"/>
                </a:solidFill>
              </a:rPr>
              <a:t>Архитектуры БД и аппаратных систем</a:t>
            </a:r>
          </a:p>
        </p:txBody>
      </p:sp>
      <p:pic>
        <p:nvPicPr>
          <p:cNvPr id="92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572000" y="1694090"/>
            <a:ext cx="3873514" cy="3822285"/>
          </a:xfrm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1" y="2076444"/>
            <a:ext cx="3929090" cy="261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71472" y="5000636"/>
            <a:ext cx="3071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Традиционная классификация архитектур параллельных систем БД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9124" y="5572140"/>
            <a:ext cx="442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Классификация основанная на понятии </a:t>
            </a:r>
            <a:r>
              <a:rPr lang="ru-RU" b="1" dirty="0"/>
              <a:t>виртуальной параллельной </a:t>
            </a:r>
            <a:r>
              <a:rPr lang="ru-RU" dirty="0"/>
              <a:t>машины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576262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rgbClr val="002060"/>
                </a:solidFill>
              </a:rPr>
              <a:t>Формы параллелизма транзакций</a:t>
            </a:r>
          </a:p>
        </p:txBody>
      </p:sp>
      <p:pic>
        <p:nvPicPr>
          <p:cNvPr id="19459" name="Picture 7" descr="Pic cop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857250"/>
            <a:ext cx="8207375" cy="574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86738" cy="654050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chemeClr val="bg2"/>
                </a:solidFill>
              </a:rPr>
              <a:t>Межтранзакционный параллелизм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981075"/>
            <a:ext cx="8329612" cy="5519738"/>
          </a:xfrm>
        </p:spPr>
        <p:txBody>
          <a:bodyPr/>
          <a:lstStyle/>
          <a:p>
            <a:pPr indent="0" eaLnBrk="1" hangingPunct="1">
              <a:buFont typeface="Wingdings" pitchFamily="2" charset="2"/>
              <a:buNone/>
            </a:pPr>
            <a:r>
              <a:rPr lang="ru-RU" sz="2800" dirty="0"/>
              <a:t>Подразумевает параллельное выполнение множества </a:t>
            </a:r>
            <a:r>
              <a:rPr lang="ru-RU" sz="2800" b="1" u="sng" dirty="0"/>
              <a:t>независимых транзакций </a:t>
            </a:r>
            <a:r>
              <a:rPr lang="ru-RU" sz="2800" dirty="0"/>
              <a:t>над одной и той же базой данных. </a:t>
            </a:r>
          </a:p>
          <a:p>
            <a:pPr lvl="1" eaLnBrk="1" hangingPunct="1">
              <a:buClr>
                <a:schemeClr val="bg2"/>
              </a:buClr>
              <a:buFont typeface="Wingdings" pitchFamily="2" charset="2"/>
              <a:buChar char="v"/>
            </a:pPr>
            <a:r>
              <a:rPr lang="ru-RU" dirty="0"/>
              <a:t>присутствует уже в однопроцессорных системах в виде так называемого многопользовательского режима и основан на перекрытии задержек ввода-вывода. </a:t>
            </a:r>
          </a:p>
          <a:p>
            <a:pPr lvl="1" eaLnBrk="1" hangingPunct="1">
              <a:buClr>
                <a:schemeClr val="bg2"/>
              </a:buClr>
              <a:buFont typeface="Wingdings" pitchFamily="2" charset="2"/>
              <a:buChar char="v"/>
            </a:pPr>
            <a:r>
              <a:rPr lang="ru-RU" dirty="0"/>
              <a:t>позволяет существенно увеличить суммарную производительность системы баз данных в режиме OLTP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chemeClr val="bg2"/>
                </a:solidFill>
              </a:rPr>
              <a:t>Внутритранзакционный параллелизм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5900"/>
            <a:ext cx="8229600" cy="3886200"/>
          </a:xfrm>
        </p:spPr>
        <p:txBody>
          <a:bodyPr/>
          <a:lstStyle/>
          <a:p>
            <a:pPr eaLnBrk="1" hangingPunct="1"/>
            <a:r>
              <a:rPr lang="ru-RU" sz="2800"/>
              <a:t>предполагает параллельное выполнение отдельной транзакции</a:t>
            </a:r>
            <a:r>
              <a:rPr lang="ru-RU"/>
              <a:t>. </a:t>
            </a:r>
          </a:p>
          <a:p>
            <a:pPr eaLnBrk="1" hangingPunct="1"/>
            <a:endParaRPr lang="ru-RU"/>
          </a:p>
          <a:p>
            <a:pPr lvl="1" eaLnBrk="1" hangingPunct="1">
              <a:buClr>
                <a:schemeClr val="bg2"/>
              </a:buClr>
              <a:buFont typeface="Wingdings" pitchFamily="2" charset="2"/>
              <a:buChar char="v"/>
            </a:pPr>
            <a:r>
              <a:rPr lang="ru-RU" i="1"/>
              <a:t>межзапросный параллелизм</a:t>
            </a:r>
            <a:r>
              <a:rPr lang="ru-RU"/>
              <a:t>,</a:t>
            </a:r>
          </a:p>
          <a:p>
            <a:pPr lvl="1" eaLnBrk="1" hangingPunct="1">
              <a:buClr>
                <a:schemeClr val="bg2"/>
              </a:buClr>
              <a:buFont typeface="Wingdings" pitchFamily="2" charset="2"/>
              <a:buChar char="v"/>
            </a:pPr>
            <a:endParaRPr lang="ru-RU"/>
          </a:p>
          <a:p>
            <a:pPr lvl="1" eaLnBrk="1" hangingPunct="1">
              <a:buClr>
                <a:schemeClr val="bg2"/>
              </a:buClr>
              <a:buFont typeface="Wingdings" pitchFamily="2" charset="2"/>
              <a:buChar char="v"/>
            </a:pPr>
            <a:r>
              <a:rPr lang="ru-RU" i="1"/>
              <a:t>внутризапросный параллелизм</a:t>
            </a:r>
            <a:r>
              <a:rPr lang="ru-RU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58175" cy="796925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chemeClr val="bg2"/>
                </a:solidFill>
              </a:rPr>
              <a:t>Межзапросный (межоператорный) параллелизм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125538"/>
            <a:ext cx="8750300" cy="48752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sz="2400" dirty="0"/>
              <a:t>Параллельное выполнение отдельных SQL операторов, принадлежащих одной и той же транзакции</a:t>
            </a:r>
          </a:p>
          <a:p>
            <a:pPr eaLnBrk="1" hangingPunct="1"/>
            <a:r>
              <a:rPr lang="ru-RU" sz="2400" dirty="0"/>
              <a:t>Степень </a:t>
            </a:r>
            <a:r>
              <a:rPr lang="ru-RU" sz="2400" dirty="0" err="1"/>
              <a:t>межзапросного</a:t>
            </a:r>
            <a:r>
              <a:rPr lang="ru-RU" sz="2400" dirty="0"/>
              <a:t> параллелизма ограничена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как количеством SQL операторов (запросов), составляющих данную транзакцию,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так и ограничениями предшествования между отдельными SQL операторами</a:t>
            </a:r>
            <a:r>
              <a:rPr lang="ru-RU" sz="2000" dirty="0"/>
              <a:t>. </a:t>
            </a:r>
          </a:p>
          <a:p>
            <a:pPr eaLnBrk="1" hangingPunct="1"/>
            <a:r>
              <a:rPr lang="ru-RU" sz="2400" dirty="0" err="1"/>
              <a:t>Межзапросный</a:t>
            </a:r>
            <a:r>
              <a:rPr lang="ru-RU" sz="2400" dirty="0"/>
              <a:t> параллелизм не поддерживается большинством современных СУБД, так как это потребовало бы от программиста </a:t>
            </a:r>
            <a:r>
              <a:rPr lang="ru-RU" sz="2400" b="1" dirty="0"/>
              <a:t>явной спецификации</a:t>
            </a:r>
            <a:r>
              <a:rPr lang="ru-RU" sz="2400" dirty="0"/>
              <a:t> </a:t>
            </a:r>
            <a:r>
              <a:rPr lang="ru-RU" sz="2400" dirty="0" err="1"/>
              <a:t>межзапросных</a:t>
            </a:r>
            <a:r>
              <a:rPr lang="ru-RU" sz="2400" dirty="0"/>
              <a:t> зависимостей с помощью некоторых специальных языковых конструкций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77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r>
              <a:rPr lang="ru-RU" sz="3600">
                <a:solidFill>
                  <a:schemeClr val="bg2"/>
                </a:solidFill>
              </a:rPr>
              <a:t>Внутризапросный параллелизм</a:t>
            </a:r>
            <a:r>
              <a:rPr lang="ru-RU" sz="3600" b="1" i="1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00125"/>
            <a:ext cx="8229600" cy="5592763"/>
          </a:xfrm>
        </p:spPr>
        <p:txBody>
          <a:bodyPr/>
          <a:lstStyle/>
          <a:p>
            <a:pPr marL="0" algn="ctr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ru-RU" sz="2800" dirty="0"/>
              <a:t>Предполагает параллельное выполнение отдельного SQL оператора (запроса).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800" dirty="0"/>
              <a:t>реализуется </a:t>
            </a:r>
            <a:r>
              <a:rPr lang="ru-RU" sz="2800" i="1" dirty="0"/>
              <a:t>оптимизатором запросов</a:t>
            </a:r>
            <a:r>
              <a:rPr lang="ru-RU" sz="2800" dirty="0"/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800" dirty="0"/>
              <a:t>использует </a:t>
            </a:r>
            <a:r>
              <a:rPr lang="ru-RU" sz="2800" i="1" dirty="0"/>
              <a:t>план выполнения запроса</a:t>
            </a:r>
            <a:r>
              <a:rPr lang="ru-RU" sz="2800" dirty="0"/>
              <a:t>, который представляется в виде дерева </a:t>
            </a:r>
          </a:p>
          <a:p>
            <a:pPr lvl="1" eaLnBrk="1" hangingPunct="1">
              <a:lnSpc>
                <a:spcPct val="9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400" dirty="0"/>
              <a:t>узлы - реляционные операции, </a:t>
            </a:r>
          </a:p>
          <a:p>
            <a:pPr lvl="1" eaLnBrk="1" hangingPunct="1">
              <a:lnSpc>
                <a:spcPct val="9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400" dirty="0"/>
              <a:t>дуги - потоки данных между операциями, а </a:t>
            </a:r>
          </a:p>
          <a:p>
            <a:pPr lvl="1" eaLnBrk="1" hangingPunct="1">
              <a:lnSpc>
                <a:spcPct val="9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400" dirty="0"/>
              <a:t>листья - отношения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dirty="0">
                <a:solidFill>
                  <a:srgbClr val="7030A0"/>
                </a:solidFill>
              </a:rPr>
              <a:t>Виды</a:t>
            </a:r>
            <a:r>
              <a:rPr lang="ru-RU" sz="2800" dirty="0">
                <a:solidFill>
                  <a:schemeClr val="accent2"/>
                </a:solidFill>
              </a:rPr>
              <a:t> </a:t>
            </a:r>
            <a:r>
              <a:rPr lang="ru-RU" sz="2800" dirty="0" err="1"/>
              <a:t>внутризапросного</a:t>
            </a:r>
            <a:r>
              <a:rPr lang="ru-RU" sz="2800" dirty="0"/>
              <a:t> параллелизма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800" dirty="0"/>
              <a:t> </a:t>
            </a:r>
            <a:r>
              <a:rPr lang="ru-RU" sz="2800" dirty="0">
                <a:solidFill>
                  <a:srgbClr val="7030A0"/>
                </a:solidFill>
              </a:rPr>
              <a:t>межоперационный параллелизм,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800" dirty="0">
                <a:solidFill>
                  <a:srgbClr val="7030A0"/>
                </a:solidFill>
              </a:rPr>
              <a:t> </a:t>
            </a:r>
            <a:r>
              <a:rPr lang="ru-RU" sz="2800" dirty="0" err="1">
                <a:solidFill>
                  <a:srgbClr val="7030A0"/>
                </a:solidFill>
              </a:rPr>
              <a:t>внутриоперационный</a:t>
            </a:r>
            <a:r>
              <a:rPr lang="ru-RU" sz="2800" dirty="0">
                <a:solidFill>
                  <a:srgbClr val="7030A0"/>
                </a:solidFill>
              </a:rPr>
              <a:t> параллелизм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77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r>
              <a:rPr lang="ru-RU" sz="3600">
                <a:solidFill>
                  <a:schemeClr val="bg2"/>
                </a:solidFill>
              </a:rPr>
              <a:t>Внутризапросный параллелизм</a:t>
            </a:r>
            <a:r>
              <a:rPr lang="ru-RU" sz="3600" b="1" i="1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112837"/>
            <a:ext cx="7236296" cy="5592763"/>
          </a:xfrm>
        </p:spPr>
        <p:txBody>
          <a:bodyPr>
            <a:normAutofit/>
          </a:bodyPr>
          <a:lstStyle/>
          <a:p>
            <a:pPr eaLnBrk="1" hangingPunct="1">
              <a:buSzPct val="100000"/>
              <a:buFont typeface="Wingdings" panose="05000000000000000000" pitchFamily="2" charset="2"/>
              <a:buChar char="q"/>
              <a:defRPr/>
            </a:pPr>
            <a:r>
              <a:rPr lang="ru-RU" sz="1600" dirty="0"/>
              <a:t>Параллельное выполнение операций, входящих в план одного запроса, потенциально обеспечивается потоковой передачей данных между операциями плана. 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q"/>
              <a:defRPr/>
            </a:pPr>
            <a:r>
              <a:rPr lang="ru-RU" sz="1600" dirty="0"/>
              <a:t>Для того чтобы использовать параллелизм, операции могут назначаться на различные процессоры. 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q"/>
              <a:defRPr/>
            </a:pPr>
            <a:r>
              <a:rPr lang="ru-RU" sz="1600" dirty="0"/>
              <a:t>Если эти процессоры не имеют общей памяти, поток данных должен передаваться по вычислительной сети, что может увеличить общую стоимость выполнения запроса и поэтому должно учитываться при оптимизации. 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q"/>
              <a:defRPr/>
            </a:pPr>
            <a:r>
              <a:rPr lang="ru-RU" sz="1600" dirty="0"/>
              <a:t>Кроме этого, некоторые операции являются блокирующими, т. е. фактически следующая операция может начать выполнение только с некоторой задержкой или после полного завершения блокирующей операции.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q"/>
              <a:defRPr/>
            </a:pPr>
            <a:r>
              <a:rPr lang="ru-RU" sz="1600" dirty="0"/>
              <a:t>Далеко не все СУБД используют эту потенциальную возможность. 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q"/>
              <a:defRPr/>
            </a:pPr>
            <a:r>
              <a:rPr lang="ru-RU" sz="1600" dirty="0"/>
              <a:t>В частности, в системе </a:t>
            </a:r>
            <a:r>
              <a:rPr lang="ru-RU" sz="1600" dirty="0" err="1"/>
              <a:t>PostgreSQL</a:t>
            </a:r>
            <a:r>
              <a:rPr lang="ru-RU" sz="1600" dirty="0"/>
              <a:t> применяется другой подход к параллельному выполнению запросов. 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q"/>
              <a:defRPr/>
            </a:pPr>
            <a:r>
              <a:rPr lang="ru-RU" sz="1600" dirty="0"/>
              <a:t>Оптимизатор </a:t>
            </a:r>
            <a:r>
              <a:rPr lang="ru-RU" sz="1600" dirty="0" err="1"/>
              <a:t>PostgreSQL</a:t>
            </a:r>
            <a:r>
              <a:rPr lang="ru-RU" sz="1600" dirty="0"/>
              <a:t> может выделить подзапрос, который будет выполняться параллельно несколькими процессами. 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q"/>
              <a:defRPr/>
            </a:pPr>
            <a:r>
              <a:rPr lang="ru-RU" sz="1600" dirty="0"/>
              <a:t>Один из процессов, участвующих в выполнении, собирает результаты работы остальных процессов и выполняет оставшуюся последовательную часть запроса.</a:t>
            </a:r>
            <a:endParaRPr lang="ru-RU" sz="1600" dirty="0">
              <a:solidFill>
                <a:srgbClr val="7030A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51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725488"/>
          </a:xfrm>
        </p:spPr>
        <p:txBody>
          <a:bodyPr/>
          <a:lstStyle/>
          <a:p>
            <a:pPr marL="365125" indent="-255588" algn="ctr" eaLnBrk="1" hangingPunct="1"/>
            <a:r>
              <a:rPr lang="ru-RU" sz="3600">
                <a:solidFill>
                  <a:srgbClr val="002060"/>
                </a:solidFill>
              </a:rPr>
              <a:t>Межоперационный параллелизм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34963" y="1408113"/>
            <a:ext cx="8523287" cy="5021262"/>
          </a:xfrm>
        </p:spPr>
        <p:txBody>
          <a:bodyPr/>
          <a:lstStyle/>
          <a:p>
            <a:pPr marL="365125" indent="-255588" eaLnBrk="1" hangingPunct="1">
              <a:buClr>
                <a:srgbClr val="002060"/>
              </a:buClr>
              <a:buFont typeface="Wingdings" pitchFamily="2" charset="2"/>
              <a:buChar char="v"/>
            </a:pPr>
            <a:r>
              <a:rPr lang="ru-RU" sz="2800">
                <a:solidFill>
                  <a:srgbClr val="7030A0"/>
                </a:solidFill>
              </a:rPr>
              <a:t>горизонтальный параллелизм (кустовой) </a:t>
            </a:r>
            <a:r>
              <a:rPr lang="ru-RU" sz="2400"/>
              <a:t>предполагает параллельное выполнение независимых поддеревьев дерева, представляющего план запроса.</a:t>
            </a:r>
          </a:p>
          <a:p>
            <a:pPr marL="365125" indent="-255588" eaLnBrk="1" hangingPunct="1">
              <a:buClr>
                <a:srgbClr val="002060"/>
              </a:buClr>
              <a:buFont typeface="Wingdings" pitchFamily="2" charset="2"/>
              <a:buChar char="v"/>
            </a:pPr>
            <a:r>
              <a:rPr lang="ru-RU" sz="2400"/>
              <a:t>Очень трудно обеспечить, чтобы два подплана одного плана начали генерировать выходные данные в правильное время и в правильном темпе.</a:t>
            </a:r>
          </a:p>
          <a:p>
            <a:pPr marL="365125" indent="-255588" eaLnBrk="1" hangingPunct="1">
              <a:buClr>
                <a:srgbClr val="002060"/>
              </a:buClr>
              <a:buFont typeface="Wingdings" pitchFamily="2" charset="2"/>
              <a:buChar char="v"/>
            </a:pPr>
            <a:r>
              <a:rPr lang="ru-RU" sz="2400"/>
              <a:t>Правильный не означает ОДИНАКОВЫЙ.</a:t>
            </a:r>
            <a:r>
              <a:rPr lang="ru-RU"/>
              <a:t> </a:t>
            </a:r>
          </a:p>
          <a:p>
            <a:pPr marL="365125" indent="-255588" eaLnBrk="1" hangingPunct="1">
              <a:buClr>
                <a:srgbClr val="002060"/>
              </a:buClr>
              <a:buFont typeface="Wingdings" pitchFamily="2" charset="2"/>
              <a:buChar char="v"/>
            </a:pPr>
            <a:r>
              <a:rPr lang="ru-RU" sz="2400"/>
              <a:t>Например для случая, когда входные потоки соединения слиянием имеют различные размеры это весьма трудно.</a:t>
            </a:r>
          </a:p>
          <a:p>
            <a:pPr marL="365125" indent="-255588" eaLnBrk="1" hangingPunct="1">
              <a:buFontTx/>
              <a:buNone/>
            </a:pPr>
            <a:r>
              <a:rPr lang="ru-RU" sz="2400"/>
              <a:t>Кустовой параллелизм редко используется на практике.</a:t>
            </a:r>
            <a:r>
              <a:rPr lang="ru-RU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796925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600" dirty="0">
                <a:solidFill>
                  <a:schemeClr val="bg2"/>
                </a:solidFill>
              </a:rPr>
              <a:t>Межоперационный параллелизм</a:t>
            </a:r>
            <a:endParaRPr lang="ru-RU" sz="2800" dirty="0">
              <a:solidFill>
                <a:schemeClr val="accent5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08050"/>
            <a:ext cx="8229600" cy="5834063"/>
          </a:xfrm>
        </p:spPr>
        <p:txBody>
          <a:bodyPr/>
          <a:lstStyle/>
          <a:p>
            <a:pPr eaLnBrk="1" hangingPunct="1"/>
            <a:r>
              <a:rPr lang="ru-RU" sz="1200" dirty="0"/>
              <a:t>Параллелизм на уровне отдельных операций плана предполагает применение алгоритмов, допускающих параллельное выполнение. </a:t>
            </a:r>
          </a:p>
          <a:p>
            <a:pPr eaLnBrk="1" hangingPunct="1"/>
            <a:r>
              <a:rPr lang="ru-RU" sz="1200" dirty="0"/>
              <a:t>Для большинства реляционных операций существуют алгоритмы, допускающие высокоэффективное выполнение на параллельных системах. </a:t>
            </a:r>
            <a:endParaRPr lang="ru-RU" sz="1200" dirty="0">
              <a:solidFill>
                <a:srgbClr val="6600CC"/>
              </a:solidFill>
            </a:endParaRPr>
          </a:p>
          <a:p>
            <a:pPr eaLnBrk="1" hangingPunct="1"/>
            <a:r>
              <a:rPr lang="ru-RU" sz="1200" dirty="0">
                <a:solidFill>
                  <a:srgbClr val="6600CC"/>
                </a:solidFill>
              </a:rPr>
              <a:t>вертикальный (</a:t>
            </a:r>
            <a:r>
              <a:rPr lang="ru-RU" sz="1200" b="1" i="1" dirty="0">
                <a:solidFill>
                  <a:srgbClr val="6600CC"/>
                </a:solidFill>
              </a:rPr>
              <a:t>конвейерный</a:t>
            </a:r>
            <a:r>
              <a:rPr lang="ru-RU" sz="1200" dirty="0">
                <a:solidFill>
                  <a:srgbClr val="6600CC"/>
                </a:solidFill>
              </a:rPr>
              <a:t> ) параллелизм</a:t>
            </a:r>
          </a:p>
          <a:p>
            <a:pPr eaLnBrk="1" hangingPunct="1">
              <a:buFontTx/>
              <a:buNone/>
            </a:pPr>
            <a:r>
              <a:rPr lang="ru-RU" sz="1200" dirty="0"/>
              <a:t>	между смежными операциями в дереве запроса организуется поток данных в виде </a:t>
            </a:r>
            <a:r>
              <a:rPr lang="ru-RU" sz="1400" i="1" dirty="0"/>
              <a:t>конвейера</a:t>
            </a:r>
            <a:r>
              <a:rPr lang="ru-RU" sz="1200" dirty="0"/>
              <a:t>, по которому элементы данных (</a:t>
            </a:r>
            <a:r>
              <a:rPr lang="ru-RU" sz="1200" i="1" dirty="0"/>
              <a:t>гранулы</a:t>
            </a:r>
            <a:r>
              <a:rPr lang="ru-RU" sz="1200" dirty="0"/>
              <a:t>) передаются от </a:t>
            </a:r>
            <a:r>
              <a:rPr lang="ru-RU" sz="1200" i="1" dirty="0"/>
              <a:t>поставщика</a:t>
            </a:r>
            <a:r>
              <a:rPr lang="ru-RU" sz="1200" dirty="0"/>
              <a:t> к </a:t>
            </a:r>
            <a:r>
              <a:rPr lang="ru-RU" sz="1200" i="1" dirty="0"/>
              <a:t>потребителю</a:t>
            </a:r>
            <a:r>
              <a:rPr lang="ru-RU" sz="1200" dirty="0"/>
              <a:t>.</a:t>
            </a:r>
          </a:p>
          <a:p>
            <a:pPr eaLnBrk="1" hangingPunct="1">
              <a:buFontTx/>
              <a:buNone/>
            </a:pPr>
            <a:r>
              <a:rPr lang="ru-RU" sz="1200" dirty="0"/>
              <a:t> </a:t>
            </a:r>
          </a:p>
        </p:txBody>
      </p:sp>
      <p:pic>
        <p:nvPicPr>
          <p:cNvPr id="25604" name="Picture 4" descr="Pic_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0225" y="2428875"/>
            <a:ext cx="3003550" cy="400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950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85728"/>
            <a:ext cx="8229600" cy="614363"/>
          </a:xfrm>
        </p:spPr>
        <p:txBody>
          <a:bodyPr/>
          <a:lstStyle/>
          <a:p>
            <a:pPr algn="ctr" eaLnBrk="1" hangingPunct="1"/>
            <a:r>
              <a:rPr lang="ru-RU" sz="2800" dirty="0">
                <a:solidFill>
                  <a:srgbClr val="002060"/>
                </a:solidFill>
              </a:rPr>
              <a:t>Вертикальный (</a:t>
            </a:r>
            <a:r>
              <a:rPr lang="ru-RU" sz="2800" i="1" dirty="0">
                <a:solidFill>
                  <a:srgbClr val="002060"/>
                </a:solidFill>
              </a:rPr>
              <a:t>конвейерный</a:t>
            </a:r>
            <a:r>
              <a:rPr lang="ru-RU" sz="2800" dirty="0">
                <a:solidFill>
                  <a:srgbClr val="002060"/>
                </a:solidFill>
              </a:rPr>
              <a:t> ) параллелизм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980728"/>
            <a:ext cx="8606160" cy="5520085"/>
          </a:xfrm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FontTx/>
              <a:buNone/>
              <a:defRPr/>
            </a:pPr>
            <a:r>
              <a:rPr lang="ru-RU" sz="2600" dirty="0"/>
              <a:t>Недостатком </a:t>
            </a:r>
            <a:r>
              <a:rPr lang="ru-RU" sz="2600" i="1" dirty="0">
                <a:solidFill>
                  <a:srgbClr val="6600CC"/>
                </a:solidFill>
              </a:rPr>
              <a:t>синхронного конвейера</a:t>
            </a:r>
            <a:r>
              <a:rPr lang="ru-RU" sz="2600" dirty="0">
                <a:solidFill>
                  <a:srgbClr val="6600CC"/>
                </a:solidFill>
              </a:rPr>
              <a:t> </a:t>
            </a:r>
            <a:r>
              <a:rPr lang="ru-RU" sz="2600" dirty="0"/>
              <a:t>является блокирующий характер операций конвейерной обработки отдельных гранул 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FontTx/>
              <a:buNone/>
              <a:defRPr/>
            </a:pPr>
            <a:r>
              <a:rPr lang="ru-RU" sz="2600" dirty="0"/>
              <a:t>Для преодоления указанного недостатка может быть использован </a:t>
            </a:r>
            <a:r>
              <a:rPr lang="ru-RU" sz="2600" i="1" dirty="0">
                <a:solidFill>
                  <a:srgbClr val="6600CC"/>
                </a:solidFill>
              </a:rPr>
              <a:t>асинхронный конвейер</a:t>
            </a:r>
            <a:r>
              <a:rPr lang="ru-RU" sz="2600" dirty="0"/>
              <a:t>, в котором поставщик и потребитель работают независимо друг от друга, а данные передаются через некоторый буфер. 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FontTx/>
              <a:buNone/>
              <a:defRPr/>
            </a:pPr>
            <a:r>
              <a:rPr lang="ru-RU" sz="2600" dirty="0"/>
              <a:t>Степень конвейерного параллелизма в любом случае ограничена количеством операций, вовлекаемых в конвейер. 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FontTx/>
              <a:buNone/>
              <a:defRPr/>
            </a:pPr>
            <a:r>
              <a:rPr lang="ru-RU" sz="2600" dirty="0"/>
              <a:t>При этом для реляционных систем баз данных длина конвейера редко превышает 10 операций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0944"/>
            <a:ext cx="8229600" cy="633412"/>
          </a:xfrm>
        </p:spPr>
        <p:txBody>
          <a:bodyPr/>
          <a:lstStyle/>
          <a:p>
            <a:pPr marL="365125" indent="-255588" algn="ctr" eaLnBrk="1" hangingPunct="1"/>
            <a:r>
              <a:rPr lang="ru-RU" sz="3200" dirty="0" err="1">
                <a:solidFill>
                  <a:schemeClr val="bg2"/>
                </a:solidFill>
              </a:rPr>
              <a:t>Внутриоперационный</a:t>
            </a:r>
            <a:r>
              <a:rPr lang="ru-RU" sz="3600" dirty="0">
                <a:solidFill>
                  <a:schemeClr val="bg2"/>
                </a:solidFill>
              </a:rPr>
              <a:t> параллелизм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909439"/>
            <a:ext cx="8363272" cy="5831929"/>
          </a:xfrm>
        </p:spPr>
        <p:txBody>
          <a:bodyPr>
            <a:normAutofit fontScale="925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rgbClr val="002060"/>
              </a:buClr>
              <a:buFont typeface="Wingdings" pitchFamily="2" charset="2"/>
              <a:buChar char="v"/>
              <a:defRPr/>
            </a:pPr>
            <a:r>
              <a:rPr lang="ru-RU" sz="2400" b="1" i="1" dirty="0">
                <a:solidFill>
                  <a:srgbClr val="6600CC"/>
                </a:solidFill>
              </a:rPr>
              <a:t>Фрагментный параллелизм</a:t>
            </a:r>
            <a:r>
              <a:rPr lang="ru-RU" sz="2400" dirty="0">
                <a:solidFill>
                  <a:srgbClr val="6600CC"/>
                </a:solidFill>
              </a:rPr>
              <a:t> </a:t>
            </a:r>
            <a:r>
              <a:rPr lang="ru-RU" sz="2400" dirty="0"/>
              <a:t>предполагает </a:t>
            </a:r>
            <a:r>
              <a:rPr lang="ru-RU" sz="2400" i="1" dirty="0"/>
              <a:t>фрагментацию</a:t>
            </a:r>
            <a:r>
              <a:rPr lang="ru-RU" sz="2400" dirty="0"/>
              <a:t> (разбиение на непересекающиеся части) отношения, являющегося аргументом реляционной операции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rgbClr val="002060"/>
              </a:buClr>
              <a:buFont typeface="Wingdings" pitchFamily="2" charset="2"/>
              <a:buChar char="v"/>
              <a:defRPr/>
            </a:pPr>
            <a:r>
              <a:rPr lang="ru-RU" sz="2400" b="1" dirty="0">
                <a:solidFill>
                  <a:srgbClr val="7030A0"/>
                </a:solidFill>
              </a:rPr>
              <a:t>Одиночная реляционная операция </a:t>
            </a:r>
            <a:r>
              <a:rPr lang="ru-RU" sz="2400" dirty="0"/>
              <a:t>выполняется в виде нескольких параллельных процессов (</a:t>
            </a:r>
            <a:r>
              <a:rPr lang="ru-RU" sz="2400" i="1" dirty="0"/>
              <a:t>агентов</a:t>
            </a:r>
            <a:r>
              <a:rPr lang="ru-RU" sz="2400" dirty="0"/>
              <a:t>), каждый из которых </a:t>
            </a:r>
            <a:r>
              <a:rPr lang="ru-RU" sz="2400" b="1" dirty="0"/>
              <a:t>обрабатывает </a:t>
            </a:r>
            <a:r>
              <a:rPr lang="ru-RU" sz="2400" b="1" i="1" dirty="0"/>
              <a:t>отдельный фрагмент отношения</a:t>
            </a:r>
            <a:r>
              <a:rPr lang="ru-RU" sz="2400" dirty="0"/>
              <a:t>. Получаемые результирующие фрагменты </a:t>
            </a:r>
            <a:r>
              <a:rPr lang="ru-RU" sz="2400" i="1" dirty="0"/>
              <a:t>сливаются </a:t>
            </a:r>
            <a:r>
              <a:rPr lang="ru-RU" sz="2400" dirty="0"/>
              <a:t>в общее результирующее отношение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rgbClr val="002060"/>
              </a:buClr>
              <a:buFont typeface="Wingdings" pitchFamily="2" charset="2"/>
              <a:buChar char="v"/>
              <a:defRPr/>
            </a:pPr>
            <a:r>
              <a:rPr lang="ru-RU" sz="2400" b="1" dirty="0">
                <a:solidFill>
                  <a:srgbClr val="7030A0"/>
                </a:solidFill>
              </a:rPr>
              <a:t>Фрагментация:</a:t>
            </a:r>
            <a:r>
              <a:rPr lang="ru-RU" sz="2400" b="1" i="1" dirty="0">
                <a:solidFill>
                  <a:srgbClr val="7030A0"/>
                </a:solidFill>
              </a:rPr>
              <a:t> вертикальная (</a:t>
            </a:r>
            <a:r>
              <a:rPr lang="ru-RU" sz="2400" i="1" dirty="0">
                <a:solidFill>
                  <a:srgbClr val="7030A0"/>
                </a:solidFill>
              </a:rPr>
              <a:t>по атрибутам</a:t>
            </a:r>
            <a:r>
              <a:rPr lang="ru-RU" sz="2400" b="1" i="1" dirty="0">
                <a:solidFill>
                  <a:srgbClr val="7030A0"/>
                </a:solidFill>
              </a:rPr>
              <a:t>)</a:t>
            </a:r>
            <a:r>
              <a:rPr lang="ru-RU" sz="2400" b="1" dirty="0">
                <a:solidFill>
                  <a:srgbClr val="7030A0"/>
                </a:solidFill>
              </a:rPr>
              <a:t> и </a:t>
            </a:r>
            <a:r>
              <a:rPr lang="ru-RU" sz="2400" b="1" i="1" dirty="0">
                <a:solidFill>
                  <a:srgbClr val="7030A0"/>
                </a:solidFill>
              </a:rPr>
              <a:t>горизонтальная</a:t>
            </a:r>
            <a:r>
              <a:rPr lang="ru-RU" sz="2400" b="1" dirty="0">
                <a:solidFill>
                  <a:srgbClr val="7030A0"/>
                </a:solidFill>
              </a:rPr>
              <a:t>  (</a:t>
            </a:r>
            <a:r>
              <a:rPr lang="ru-RU" sz="2400" i="1" dirty="0">
                <a:solidFill>
                  <a:srgbClr val="7030A0"/>
                </a:solidFill>
              </a:rPr>
              <a:t>по кортежам</a:t>
            </a:r>
            <a:r>
              <a:rPr lang="ru-RU" sz="2400" b="1" dirty="0">
                <a:solidFill>
                  <a:srgbClr val="7030A0"/>
                </a:solidFill>
              </a:rPr>
              <a:t>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rgbClr val="002060"/>
              </a:buClr>
              <a:buFont typeface="Wingdings" pitchFamily="2" charset="2"/>
              <a:buChar char="v"/>
              <a:defRPr/>
            </a:pPr>
            <a:r>
              <a:rPr lang="ru-RU" sz="2400" dirty="0"/>
              <a:t>Практически все параллельные СУБД, поддерживающие фрагментный параллелизм, используют </a:t>
            </a:r>
            <a:r>
              <a:rPr lang="ru-RU" sz="2400" dirty="0">
                <a:solidFill>
                  <a:srgbClr val="6600CC"/>
                </a:solidFill>
              </a:rPr>
              <a:t>только горизонтальную фрагментацию.</a:t>
            </a:r>
            <a:r>
              <a:rPr lang="ru-RU" sz="2400" dirty="0"/>
              <a:t> Поэтому везде ниже мы будем рассматривать только горизонтальную фрагментацию.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633412"/>
          </a:xfrm>
        </p:spPr>
        <p:txBody>
          <a:bodyPr/>
          <a:lstStyle/>
          <a:p>
            <a:pPr marL="365125" indent="-255588" algn="ctr" eaLnBrk="1" hangingPunct="1"/>
            <a:r>
              <a:rPr lang="ru-RU" sz="2800" dirty="0"/>
              <a:t>Размещение данных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90364" y="873671"/>
            <a:ext cx="8363272" cy="5831929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чтобы использовать возможности параллельной обработки при выполнении операций выборки хранимых данных, необходимо </a:t>
            </a:r>
            <a:r>
              <a:rPr lang="ru-RU" b="1" dirty="0"/>
              <a:t>распределить данные по нескольким устройствам, </a:t>
            </a:r>
            <a:r>
              <a:rPr lang="ru-RU" dirty="0"/>
              <a:t>которые могут работать параллельно.</a:t>
            </a:r>
          </a:p>
          <a:p>
            <a:pPr>
              <a:lnSpc>
                <a:spcPct val="120000"/>
              </a:lnSpc>
            </a:pPr>
            <a:r>
              <a:rPr lang="ru-RU" dirty="0"/>
              <a:t> Выбор способа распределения данных по разным носителям зависит от того, как именно должен масштабироваться сервер баз данных (какого типа нагрузки наиболее важны), и от характеристик самих устройств. </a:t>
            </a:r>
          </a:p>
          <a:p>
            <a:pPr>
              <a:lnSpc>
                <a:spcPct val="120000"/>
              </a:lnSpc>
            </a:pPr>
            <a:r>
              <a:rPr lang="ru-RU" dirty="0"/>
              <a:t>Если сегменты большой таблицы </a:t>
            </a:r>
            <a:r>
              <a:rPr lang="ru-RU" b="1" dirty="0"/>
              <a:t>размещены на разных вычислительных системах, </a:t>
            </a:r>
            <a:r>
              <a:rPr lang="ru-RU" dirty="0"/>
              <a:t>то операция полного просмотра может выполняться параллельно (</a:t>
            </a:r>
            <a:r>
              <a:rPr lang="ru-RU" dirty="0" err="1"/>
              <a:t>внутриоперационный</a:t>
            </a:r>
            <a:r>
              <a:rPr lang="ru-RU" dirty="0"/>
              <a:t> параллелизм) или могут параллельно выполняться операции выборки отдельных строк (что обеспечивает параллелизм между транзакциями). </a:t>
            </a:r>
          </a:p>
          <a:p>
            <a:pPr>
              <a:lnSpc>
                <a:spcPct val="120000"/>
              </a:lnSpc>
            </a:pPr>
            <a:r>
              <a:rPr lang="ru-RU" dirty="0"/>
              <a:t>В первом случае, очевидно, улучшается время отклика, во втором — пропускная способность системы.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20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633412"/>
          </a:xfrm>
        </p:spPr>
        <p:txBody>
          <a:bodyPr/>
          <a:lstStyle/>
          <a:p>
            <a:pPr marL="365125" indent="-255588" algn="ctr" eaLnBrk="1" hangingPunct="1"/>
            <a:r>
              <a:rPr lang="ru-RU" sz="2800" dirty="0"/>
              <a:t>Размещение данных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90364" y="873671"/>
            <a:ext cx="8363272" cy="5831929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Распределение данных может выполняться на физическом уровне (блоки данных) или на логическом (строки таблиц). </a:t>
            </a:r>
          </a:p>
          <a:p>
            <a:r>
              <a:rPr lang="ru-RU" dirty="0"/>
              <a:t>При физическом распределении данных может применяться схема чередования (</a:t>
            </a:r>
            <a:r>
              <a:rPr lang="ru-RU" dirty="0" err="1"/>
              <a:t>interleave</a:t>
            </a:r>
            <a:r>
              <a:rPr lang="ru-RU" dirty="0"/>
              <a:t>), при использовании которой соседние по номеру блоки размещаются на разных устройствах. </a:t>
            </a:r>
          </a:p>
          <a:p>
            <a:r>
              <a:rPr lang="ru-RU" dirty="0"/>
              <a:t>Такое размещение позволяет распараллеливать обработку упорядоченных коллекций с сохранением их упорядоченности.</a:t>
            </a:r>
          </a:p>
          <a:p>
            <a:r>
              <a:rPr lang="ru-RU" dirty="0"/>
              <a:t> Распределение данных на физическом уровне особенно полезно для систем на основе архитектуры SD, потому что в таких системах параллельная работа внешних устройств может управляться любым из вычислителей. </a:t>
            </a:r>
          </a:p>
          <a:p>
            <a:r>
              <a:rPr lang="ru-RU" dirty="0"/>
              <a:t>Заметим, что планирование размещения на физическом уровне требует значительной работы по анализу характера нагрузки. </a:t>
            </a:r>
          </a:p>
          <a:p>
            <a:r>
              <a:rPr lang="ru-RU" dirty="0"/>
              <a:t>Методы физического размещения были хорошо проработаны в тех СУБД, которые содержат средства управления размещением данных на дисках, дублируя функции файловой системы. </a:t>
            </a:r>
          </a:p>
          <a:p>
            <a:r>
              <a:rPr lang="ru-RU" dirty="0"/>
              <a:t>В СУБД, которые полагаются на файловые системы (в том числе </a:t>
            </a:r>
            <a:r>
              <a:rPr lang="ru-RU" dirty="0" err="1"/>
              <a:t>PostgreSQL</a:t>
            </a:r>
            <a:r>
              <a:rPr lang="ru-RU" dirty="0"/>
              <a:t>), реализация подобных средств не имеет смысла. </a:t>
            </a:r>
          </a:p>
          <a:p>
            <a:r>
              <a:rPr lang="ru-RU" dirty="0"/>
              <a:t>В настоящее время методы такого типа практически вытеснены системами, выполняющими физическое размещение данных автоматически (например, системы RAID). </a:t>
            </a:r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28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633412"/>
          </a:xfrm>
        </p:spPr>
        <p:txBody>
          <a:bodyPr/>
          <a:lstStyle/>
          <a:p>
            <a:pPr marL="365125" indent="-255588" algn="ctr" eaLnBrk="1" hangingPunct="1"/>
            <a:r>
              <a:rPr lang="ru-RU" sz="2800" dirty="0"/>
              <a:t>Размещение данных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893711"/>
            <a:ext cx="7992888" cy="5831929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Значительно чаще используется распределение на логическом уровне, обычно в форме секционирования таблиц. </a:t>
            </a:r>
          </a:p>
          <a:p>
            <a:r>
              <a:rPr lang="ru-RU" dirty="0"/>
              <a:t>В этом случае таблица представляется как объединение попарно непересекающихся секций (</a:t>
            </a:r>
            <a:r>
              <a:rPr lang="ru-RU" dirty="0" err="1"/>
              <a:t>partition</a:t>
            </a:r>
            <a:r>
              <a:rPr lang="ru-RU" dirty="0"/>
              <a:t>). </a:t>
            </a:r>
          </a:p>
          <a:p>
            <a:r>
              <a:rPr lang="ru-RU" dirty="0"/>
              <a:t>Принадлежность каждой строки к определенной секции определяется на основе значений некоторого атрибута (или нескольких атрибутов):</a:t>
            </a:r>
          </a:p>
          <a:p>
            <a:pPr lvl="1"/>
            <a:r>
              <a:rPr lang="ru-RU" dirty="0"/>
              <a:t> либо по диапазонам значений, присвоенных каждой секции, </a:t>
            </a:r>
          </a:p>
          <a:p>
            <a:pPr lvl="1"/>
            <a:r>
              <a:rPr lang="ru-RU" dirty="0"/>
              <a:t>либо с помощью функции хеширования, либо на основе списка. </a:t>
            </a:r>
          </a:p>
          <a:p>
            <a:r>
              <a:rPr lang="ru-RU" dirty="0"/>
              <a:t>Техника разбиения таблиц на секции не связана с параллелизмом непосредственно, однако ее применение в параллельных системах открывает возможности для параллельного выполнения некоторых операций выборки данных. </a:t>
            </a:r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4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/>
            <a:r>
              <a:rPr lang="ru-RU" sz="2400" dirty="0">
                <a:solidFill>
                  <a:srgbClr val="7030A0"/>
                </a:solidFill>
                <a:effectLst/>
                <a:latin typeface="+mn-lt"/>
                <a:ea typeface="Calibri" panose="020F0502020204030204" pitchFamily="34" charset="0"/>
              </a:rPr>
              <a:t>Параллельные алгоритмы для бинарных операций </a:t>
            </a:r>
            <a:endParaRPr lang="ru-RU" sz="2400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D5B917-21D4-EA8E-3F38-DCE15F286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79413"/>
            <a:ext cx="7776864" cy="4670648"/>
          </a:xfrm>
        </p:spPr>
        <p:txBody>
          <a:bodyPr/>
          <a:lstStyle/>
          <a:p>
            <a:r>
              <a:rPr lang="ru-RU" sz="20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араллельные версии основных алгоритмов выполнения операций реляционной алгебры. </a:t>
            </a:r>
          </a:p>
          <a:p>
            <a:r>
              <a:rPr lang="ru-RU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Все варианты параллельных алгоритмов включают </a:t>
            </a:r>
          </a:p>
          <a:p>
            <a:r>
              <a:rPr lang="ru-RU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фазу распределения данных по вычислительным узлам, выделенным для выполнения операции, </a:t>
            </a:r>
          </a:p>
          <a:p>
            <a:r>
              <a:rPr lang="ru-RU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фазу выработки результата, которая выполняется параллельно. </a:t>
            </a:r>
          </a:p>
          <a:p>
            <a:r>
              <a:rPr lang="ru-RU" sz="20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Ф</a:t>
            </a:r>
            <a:r>
              <a:rPr lang="ru-RU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аза распределения не обязательно включает пересылку данных, т. к. для выполнения операции могут быть выделены процессоры, уже имеющие доступ к аргументам операции. </a:t>
            </a:r>
          </a:p>
          <a:p>
            <a:r>
              <a:rPr lang="ru-RU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Как правило, параллельные варианты алгоритмов имеет смысл применять, только если аргументы имеют достаточно большие размеры. </a:t>
            </a:r>
          </a:p>
          <a:p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8631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68886" y="437357"/>
            <a:ext cx="8229600" cy="417512"/>
          </a:xfrm>
        </p:spPr>
        <p:txBody>
          <a:bodyPr/>
          <a:lstStyle/>
          <a:p>
            <a:pPr algn="ctr" eaLnBrk="1" hangingPunct="1"/>
            <a:r>
              <a:rPr lang="ru-RU" sz="2800" dirty="0">
                <a:solidFill>
                  <a:srgbClr val="7030A0"/>
                </a:solidFill>
              </a:rPr>
              <a:t>Алгоритм вложенных циклов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069B77-AF61-8F72-E888-D737EF554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52736"/>
            <a:ext cx="7776864" cy="5195664"/>
          </a:xfrm>
        </p:spPr>
        <p:txBody>
          <a:bodyPr/>
          <a:lstStyle/>
          <a:p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На фазе распределения для алгоритма вложенных циклов строится разбиение первого аргумента операции на разделы так, чтобы количество разделов совпадало с количеством процессоров, выделенных для выполнения операции. </a:t>
            </a:r>
          </a:p>
          <a:p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Если необходима пересылка, разделы рассылаются по процессорам. </a:t>
            </a:r>
          </a:p>
          <a:p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На фазе получения результата все кортежи второго аргумента рассылаются на все процессоры, выделенные для выполнения операции, </a:t>
            </a:r>
          </a:p>
          <a:p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 на каждом из них выполняется алгоритм вложенных циклов, т. е. для каждой строки второго аргумента выполняется просмотр первого аргумента и формируются строки результата. </a:t>
            </a:r>
          </a:p>
          <a:p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Этот вариант алгоритма работает эффективно, если </a:t>
            </a:r>
          </a:p>
          <a:p>
            <a:pPr marL="800100" lvl="1" indent="-342900">
              <a:buClr>
                <a:schemeClr val="accent1">
                  <a:lumMod val="50000"/>
                </a:schemeClr>
              </a:buClr>
              <a:buSzPct val="100000"/>
              <a:buFont typeface="+mj-lt"/>
              <a:buAutoNum type="alphaLcParenR"/>
            </a:pPr>
            <a:r>
              <a:rPr lang="ru-RU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разделы первого аргумента, распределенные по вычислителям, полностью помещаются в оперативную память на каждой системе, выделенной для выполнения операции, </a:t>
            </a:r>
          </a:p>
          <a:p>
            <a:pPr marL="800100" lvl="1" indent="-342900">
              <a:buClr>
                <a:schemeClr val="accent1">
                  <a:lumMod val="50000"/>
                </a:schemeClr>
              </a:buClr>
              <a:buSzPct val="100000"/>
              <a:buFont typeface="+mj-lt"/>
              <a:buAutoNum type="alphaLcParenR"/>
            </a:pPr>
            <a:r>
              <a:rPr lang="ru-RU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а второй аргумент имеет большие размеры.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68886" y="437357"/>
            <a:ext cx="8229600" cy="417512"/>
          </a:xfrm>
        </p:spPr>
        <p:txBody>
          <a:bodyPr/>
          <a:lstStyle/>
          <a:p>
            <a:pPr algn="ctr" eaLnBrk="1" hangingPunct="1"/>
            <a:r>
              <a:rPr lang="ru-RU" sz="2800" dirty="0">
                <a:solidFill>
                  <a:srgbClr val="7030A0"/>
                </a:solidFill>
              </a:rPr>
              <a:t>Алгоритм вложенных циклов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069B77-AF61-8F72-E888-D737EF554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52736"/>
            <a:ext cx="7776864" cy="5195664"/>
          </a:xfrm>
        </p:spPr>
        <p:txBody>
          <a:bodyPr/>
          <a:lstStyle/>
          <a:p>
            <a:r>
              <a:rPr lang="ru-RU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Оценка времени, необходимого для получения результата, очевидно, равна оценке времени, необходимого для выполнения операции на одном процессоре, деленной на число выделенных процессоров</a:t>
            </a:r>
          </a:p>
          <a:p>
            <a:r>
              <a:rPr lang="ru-RU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время распределения первого аргумента значительно ниже, чем время выполнения вложенных циклов</a:t>
            </a:r>
          </a:p>
          <a:p>
            <a:r>
              <a:rPr lang="ru-RU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некоторые варианты алгоритма вложенных циклов, эффективные при использовании одного процессора, не всегда хорошо работают в параллельном варианте. </a:t>
            </a:r>
          </a:p>
          <a:p>
            <a:r>
              <a:rPr lang="ru-RU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Так, алгоритм, использующий индекс, требует обращения </a:t>
            </a:r>
            <a:r>
              <a:rPr lang="ru-RU" sz="20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всех процессов к одному и тому же индексу</a:t>
            </a:r>
            <a:r>
              <a:rPr lang="ru-RU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что ограничивает возможности параллельной обработки.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632824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chemeClr val="bg2"/>
                </a:solidFill>
              </a:rPr>
              <a:t>Синхронный конвейер </a:t>
            </a:r>
          </a:p>
        </p:txBody>
      </p:sp>
      <p:pic>
        <p:nvPicPr>
          <p:cNvPr id="30723" name="Picture 4" descr="Pic_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700338" y="1125538"/>
            <a:ext cx="3732212" cy="4978400"/>
          </a:xfrm>
          <a:noFill/>
        </p:spPr>
      </p:pic>
      <p:sp>
        <p:nvSpPr>
          <p:cNvPr id="4" name="TextBox 3"/>
          <p:cNvSpPr txBox="1"/>
          <p:nvPr/>
        </p:nvSpPr>
        <p:spPr>
          <a:xfrm>
            <a:off x="357158" y="928670"/>
            <a:ext cx="2786050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itchFamily="2" charset="2"/>
              <a:buChar char="ü"/>
            </a:pPr>
            <a:r>
              <a:rPr lang="ru-RU" dirty="0"/>
              <a:t>как только операция </a:t>
            </a:r>
            <a:r>
              <a:rPr lang="ru-RU" b="1" dirty="0">
                <a:solidFill>
                  <a:srgbClr val="7030A0"/>
                </a:solidFill>
              </a:rPr>
              <a:t>получает очередной кортеж </a:t>
            </a:r>
            <a:r>
              <a:rPr lang="ru-RU" dirty="0"/>
              <a:t>своего результирующего отношения, </a:t>
            </a:r>
          </a:p>
          <a:p>
            <a:pPr marL="180000" indent="-180000">
              <a:spcBef>
                <a:spcPts val="600"/>
              </a:spcBef>
              <a:buFont typeface="Wingdings" pitchFamily="2" charset="2"/>
              <a:buChar char="ü"/>
            </a:pPr>
            <a:r>
              <a:rPr lang="ru-RU" dirty="0"/>
              <a:t>она немедленно </a:t>
            </a:r>
            <a:r>
              <a:rPr lang="ru-RU" b="1" dirty="0">
                <a:solidFill>
                  <a:srgbClr val="7030A0"/>
                </a:solidFill>
              </a:rPr>
              <a:t>передает его </a:t>
            </a:r>
            <a:r>
              <a:rPr lang="ru-RU" b="1" i="1" dirty="0">
                <a:solidFill>
                  <a:srgbClr val="7030A0"/>
                </a:solidFill>
              </a:rPr>
              <a:t>по конвейеру</a:t>
            </a:r>
            <a:r>
              <a:rPr lang="ru-RU" b="1" dirty="0">
                <a:solidFill>
                  <a:srgbClr val="7030A0"/>
                </a:solidFill>
              </a:rPr>
              <a:t> выше </a:t>
            </a:r>
            <a:r>
              <a:rPr lang="ru-RU" dirty="0"/>
              <a:t>стоящей операции для обработки.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826" y="1571612"/>
            <a:ext cx="23574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Недостаток</a:t>
            </a:r>
            <a:r>
              <a:rPr lang="ru-RU" dirty="0"/>
              <a:t> –</a:t>
            </a:r>
          </a:p>
          <a:p>
            <a:r>
              <a:rPr lang="ru-RU" dirty="0">
                <a:solidFill>
                  <a:srgbClr val="C00000"/>
                </a:solidFill>
              </a:rPr>
              <a:t>задержка на любом участке </a:t>
            </a:r>
            <a:r>
              <a:rPr lang="ru-RU" dirty="0"/>
              <a:t>конвейера </a:t>
            </a:r>
          </a:p>
          <a:p>
            <a:r>
              <a:rPr lang="ru-RU" dirty="0"/>
              <a:t>приводит к </a:t>
            </a:r>
            <a:r>
              <a:rPr lang="ru-RU" dirty="0">
                <a:solidFill>
                  <a:srgbClr val="C00000"/>
                </a:solidFill>
              </a:rPr>
              <a:t>остановке всего конвейера </a:t>
            </a:r>
            <a:r>
              <a:rPr lang="ru-RU" dirty="0"/>
              <a:t>в целом.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576262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chemeClr val="bg2"/>
                </a:solidFill>
              </a:rPr>
              <a:t>Итераторная модель</a:t>
            </a:r>
          </a:p>
        </p:txBody>
      </p:sp>
      <p:pic>
        <p:nvPicPr>
          <p:cNvPr id="31747" name="Picture 4" descr="Pic copy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258888" y="1052513"/>
            <a:ext cx="6481762" cy="4648200"/>
          </a:xfrm>
          <a:noFill/>
        </p:spPr>
      </p:pic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971550" y="620713"/>
            <a:ext cx="7397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Алгоритм выполнения плана запроса на базе итераторной модели </a:t>
            </a:r>
          </a:p>
        </p:txBody>
      </p:sp>
      <p:sp>
        <p:nvSpPr>
          <p:cNvPr id="31749" name="Rectangle 6"/>
          <p:cNvSpPr>
            <a:spLocks noChangeArrowheads="1"/>
          </p:cNvSpPr>
          <p:nvPr/>
        </p:nvSpPr>
        <p:spPr bwMode="auto">
          <a:xfrm>
            <a:off x="827088" y="5876925"/>
            <a:ext cx="75041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ru-RU"/>
              <a:t>reset – установка итератора в состояние «перед первым кортежем»;</a:t>
            </a:r>
          </a:p>
          <a:p>
            <a:pPr>
              <a:tabLst>
                <a:tab pos="457200" algn="l"/>
              </a:tabLst>
            </a:pPr>
            <a:r>
              <a:rPr lang="ru-RU"/>
              <a:t>next – выдать очередной кортеж результирующего отношения.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417512"/>
          </a:xfrm>
        </p:spPr>
        <p:txBody>
          <a:bodyPr/>
          <a:lstStyle/>
          <a:p>
            <a:pPr algn="ctr" eaLnBrk="1" hangingPunct="1"/>
            <a:r>
              <a:rPr lang="ru-RU" sz="2000">
                <a:solidFill>
                  <a:schemeClr val="bg2"/>
                </a:solidFill>
              </a:rPr>
              <a:t>Реализация операции соединения вложенными циклами </a:t>
            </a:r>
          </a:p>
        </p:txBody>
      </p:sp>
      <p:pic>
        <p:nvPicPr>
          <p:cNvPr id="33795" name="Picture 4" descr="Pic copy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71500" y="608013"/>
            <a:ext cx="7858125" cy="6159500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5723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28675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chemeClr val="bg2"/>
                </a:solidFill>
              </a:rPr>
              <a:t>Учебная база данных</a:t>
            </a:r>
          </a:p>
        </p:txBody>
      </p:sp>
      <p:pic>
        <p:nvPicPr>
          <p:cNvPr id="28675" name="Picture 4" descr="Pic_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22238" y="1571625"/>
            <a:ext cx="8899525" cy="4691063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A5D99D-CC55-46C5-90FA-5A04D74235B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itchFamily="34" charset="0"/>
              <a:ea typeface="+mn-ea"/>
              <a:cs typeface="Arial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/>
            <a:r>
              <a:rPr lang="ru-RU" sz="3200">
                <a:solidFill>
                  <a:schemeClr val="bg2"/>
                </a:solidFill>
              </a:rPr>
              <a:t>Формирование последовательного плана</a:t>
            </a:r>
            <a:endParaRPr lang="ru-RU" i="1">
              <a:solidFill>
                <a:schemeClr val="bg2"/>
              </a:solidFill>
            </a:endParaRPr>
          </a:p>
        </p:txBody>
      </p:sp>
      <p:pic>
        <p:nvPicPr>
          <p:cNvPr id="29699" name="Picture 4" descr="Pic_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0825" y="1125538"/>
            <a:ext cx="8604250" cy="4859337"/>
          </a:xfrm>
          <a:noFill/>
        </p:spPr>
      </p:pic>
      <p:sp>
        <p:nvSpPr>
          <p:cNvPr id="29700" name="TextBox 5"/>
          <p:cNvSpPr txBox="1">
            <a:spLocks noChangeArrowheads="1"/>
          </p:cNvSpPr>
          <p:nvPr/>
        </p:nvSpPr>
        <p:spPr bwMode="auto">
          <a:xfrm>
            <a:off x="214314" y="6000768"/>
            <a:ext cx="87154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π</a:t>
            </a:r>
            <a:r>
              <a:rPr kumimoji="0" lang="ru-RU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Имя_П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ru-R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</a:t>
            </a:r>
            <a:r>
              <a:rPr kumimoji="0" lang="ru-RU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Город</a:t>
            </a:r>
            <a:r>
              <a:rPr kumimoji="0" lang="ru-RU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= 'Москва'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(П)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 3" pitchFamily="18" charset="2"/>
              </a:rPr>
              <a:t>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ПД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 3" pitchFamily="18" charset="2"/>
              </a:rPr>
              <a:t>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ru-R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</a:t>
            </a:r>
            <a:r>
              <a:rPr kumimoji="0" lang="ru-RU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Цвет</a:t>
            </a:r>
            <a:r>
              <a:rPr kumimoji="0" lang="ru-RU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= 'Красный'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Д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A5D99D-CC55-46C5-90FA-5A04D74235B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itchFamily="34" charset="0"/>
              <a:ea typeface="+mn-ea"/>
              <a:cs typeface="Arial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chemeClr val="bg2"/>
                </a:solidFill>
              </a:rPr>
              <a:t>Фрагментный параллелизм </a:t>
            </a:r>
          </a:p>
        </p:txBody>
      </p:sp>
      <p:pic>
        <p:nvPicPr>
          <p:cNvPr id="34819" name="Picture 4" descr="Pic copy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47638" y="1143000"/>
            <a:ext cx="8626475" cy="5072063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chemeClr val="bg2"/>
                </a:solidFill>
              </a:rPr>
              <a:t>Фрагментный параллелизм</a:t>
            </a:r>
          </a:p>
        </p:txBody>
      </p:sp>
      <p:pic>
        <p:nvPicPr>
          <p:cNvPr id="35843" name="Picture 4" descr="Pic copy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23850" y="1196975"/>
            <a:ext cx="8496300" cy="4356100"/>
          </a:xfrm>
          <a:noFill/>
        </p:spPr>
      </p:pic>
      <p:sp>
        <p:nvSpPr>
          <p:cNvPr id="35844" name="Text Box 5"/>
          <p:cNvSpPr txBox="1">
            <a:spLocks noChangeArrowheads="1"/>
          </p:cNvSpPr>
          <p:nvPr/>
        </p:nvSpPr>
        <p:spPr bwMode="auto">
          <a:xfrm>
            <a:off x="1887538" y="5969000"/>
            <a:ext cx="49260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Необходимость межпроцессорных обменов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37</a:t>
            </a:fld>
            <a:endParaRPr lang="ru-R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marL="838200" indent="-838200" eaLnBrk="1" hangingPunct="1"/>
            <a:r>
              <a:rPr lang="ru-RU" sz="3200">
                <a:solidFill>
                  <a:schemeClr val="bg2"/>
                </a:solidFill>
              </a:rPr>
              <a:t>Организация межпроцессорных обменов </a:t>
            </a:r>
          </a:p>
        </p:txBody>
      </p:sp>
      <p:pic>
        <p:nvPicPr>
          <p:cNvPr id="36867" name="Picture 4" descr="Pic copy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555875" y="1052513"/>
            <a:ext cx="3852863" cy="4891087"/>
          </a:xfrm>
          <a:noFill/>
        </p:spPr>
      </p:pic>
      <p:sp>
        <p:nvSpPr>
          <p:cNvPr id="36868" name="Text Box 5"/>
          <p:cNvSpPr txBox="1">
            <a:spLocks noChangeArrowheads="1"/>
          </p:cNvSpPr>
          <p:nvPr/>
        </p:nvSpPr>
        <p:spPr bwMode="auto">
          <a:xfrm>
            <a:off x="1958975" y="6113463"/>
            <a:ext cx="40341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/>
              <a:t>Дерево плана запроса Q = R </a:t>
            </a:r>
            <a:r>
              <a:rPr lang="ru-RU" dirty="0">
                <a:sym typeface="Wingdings 3" pitchFamily="18" charset="2"/>
              </a:rPr>
              <a:t></a:t>
            </a:r>
            <a:r>
              <a:rPr lang="ru-RU" dirty="0"/>
              <a:t> S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38</a:t>
            </a:fld>
            <a:endParaRPr lang="ru-R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chemeClr val="bg2"/>
                </a:solidFill>
              </a:rPr>
              <a:t>Оператор </a:t>
            </a:r>
            <a:r>
              <a:rPr lang="en-US" sz="3600">
                <a:solidFill>
                  <a:schemeClr val="bg2"/>
                </a:solidFill>
              </a:rPr>
              <a:t>Exchange</a:t>
            </a:r>
            <a:endParaRPr lang="ru-RU" sz="3600">
              <a:solidFill>
                <a:schemeClr val="bg2"/>
              </a:solidFill>
            </a:endParaRPr>
          </a:p>
        </p:txBody>
      </p:sp>
      <p:pic>
        <p:nvPicPr>
          <p:cNvPr id="37891" name="Picture 4" descr="Pic copy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892175" y="1214438"/>
            <a:ext cx="7069138" cy="4643437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39</a:t>
            </a:fld>
            <a:endParaRPr lang="ru-RU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/>
            <a:r>
              <a:rPr lang="ru-RU" sz="3200">
                <a:solidFill>
                  <a:schemeClr val="bg2"/>
                </a:solidFill>
              </a:rPr>
              <a:t>Обработка запроса в параллельной СУБД </a:t>
            </a:r>
          </a:p>
        </p:txBody>
      </p:sp>
      <p:pic>
        <p:nvPicPr>
          <p:cNvPr id="38915" name="Picture 4" descr="Pic copy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9388" y="1557338"/>
            <a:ext cx="8639175" cy="3724275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40</a:t>
            </a:fld>
            <a:endParaRPr lang="ru-R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274638"/>
            <a:ext cx="8786813" cy="706437"/>
          </a:xfrm>
        </p:spPr>
        <p:txBody>
          <a:bodyPr/>
          <a:lstStyle/>
          <a:p>
            <a:pPr eaLnBrk="1" hangingPunct="1"/>
            <a:r>
              <a:rPr lang="ru-RU" sz="3200">
                <a:solidFill>
                  <a:schemeClr val="bg2"/>
                </a:solidFill>
              </a:rPr>
              <a:t>Обработка запроса в параллельной СУБД(2) </a:t>
            </a:r>
          </a:p>
        </p:txBody>
      </p:sp>
      <p:pic>
        <p:nvPicPr>
          <p:cNvPr id="39939" name="Picture 4" descr="Pic copy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9388" y="1052513"/>
            <a:ext cx="8604250" cy="5102225"/>
          </a:xfrm>
          <a:noFill/>
        </p:spPr>
      </p:pic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539750" y="6308725"/>
            <a:ext cx="8280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Пример преобразования последовательного плана в параллельный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41</a:t>
            </a:fld>
            <a:endParaRPr lang="ru-RU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pPr eaLnBrk="1" hangingPunct="1"/>
            <a:r>
              <a:rPr lang="ru-RU" sz="3200">
                <a:solidFill>
                  <a:schemeClr val="bg2"/>
                </a:solidFill>
              </a:rPr>
              <a:t>Литература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/>
            <a:r>
              <a:rPr lang="ru-RU" sz="2400" i="1"/>
              <a:t>Корнеев В.В., Гареев А.Ф., Васютин С.В., Райх В.В.</a:t>
            </a:r>
            <a:r>
              <a:rPr lang="ru-RU" sz="2400"/>
              <a:t> Базы данных. Интеллектуальная обработка информации. 2-е издание. -М.: Нолидж, 2001. -496 с.</a:t>
            </a:r>
          </a:p>
          <a:p>
            <a:pPr marL="609600" indent="-609600" eaLnBrk="1" hangingPunct="1"/>
            <a:r>
              <a:rPr lang="ru-RU" sz="2400" i="1"/>
              <a:t>Соколинский Л.Б.</a:t>
            </a:r>
            <a:r>
              <a:rPr lang="ru-RU" sz="2400"/>
              <a:t> Организация параллельного выполнения запросов в многопроцессорной машине баз данных с иерархической архитектурой // Программирование. -2001. -№6. -</a:t>
            </a:r>
            <a:r>
              <a:rPr lang="en-US" sz="2400"/>
              <a:t>C</a:t>
            </a:r>
            <a:r>
              <a:rPr lang="ru-RU" sz="2400"/>
              <a:t>. 13-29.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A5D99D-CC55-46C5-90FA-5A04D74235BE}" type="slidenum">
              <a:rPr lang="ru-RU" smtClean="0"/>
              <a:pPr>
                <a:defRPr/>
              </a:pPr>
              <a:t>42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_презент_осн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Тема_презент_осн</Template>
  <TotalTime>1311</TotalTime>
  <Words>5942</Words>
  <Application>Microsoft Office PowerPoint</Application>
  <PresentationFormat>Экран (4:3)</PresentationFormat>
  <Paragraphs>401</Paragraphs>
  <Slides>42</Slides>
  <Notes>22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0</vt:i4>
      </vt:variant>
      <vt:variant>
        <vt:lpstr>Заголовки слайдов</vt:lpstr>
      </vt:variant>
      <vt:variant>
        <vt:i4>42</vt:i4>
      </vt:variant>
    </vt:vector>
  </HeadingPairs>
  <TitlesOfParts>
    <vt:vector size="50" baseType="lpstr">
      <vt:lpstr>Arial</vt:lpstr>
      <vt:lpstr>Arial Black</vt:lpstr>
      <vt:lpstr>Calibri</vt:lpstr>
      <vt:lpstr>Times New Roman</vt:lpstr>
      <vt:lpstr>Verdana</vt:lpstr>
      <vt:lpstr>Wingdings</vt:lpstr>
      <vt:lpstr>Wingdings 3</vt:lpstr>
      <vt:lpstr>Тема_презент_осн</vt:lpstr>
      <vt:lpstr>Параллельные системы баз данных</vt:lpstr>
      <vt:lpstr>Презентация PowerPoint</vt:lpstr>
      <vt:lpstr>Требования к параллельной системе баз данных </vt:lpstr>
      <vt:lpstr>Возможность динамического наращивания (модулей памяти, процессоров) в целях адаптации к увеличивающемуся размеру базы данных или возрастающим требованиям производительности.  Две основные качественные характеристики эффективности распараллеливания: ускорение и расширяемость.</vt:lpstr>
      <vt:lpstr>Расширяемость</vt:lpstr>
      <vt:lpstr>Производительность (1)</vt:lpstr>
      <vt:lpstr>Производительность (2)</vt:lpstr>
      <vt:lpstr>Доступность данных</vt:lpstr>
      <vt:lpstr>Доступность данных</vt:lpstr>
      <vt:lpstr>Структуры аппаратных платформ (классификация Stonebraker)</vt:lpstr>
      <vt:lpstr>Расширение классификации Стоунбрейкера </vt:lpstr>
      <vt:lpstr>Гибридная архитектура CDN </vt:lpstr>
      <vt:lpstr>Сравнение архитектур </vt:lpstr>
      <vt:lpstr>Архитектуры БД и аппаратных систем</vt:lpstr>
      <vt:lpstr>Формы параллелизма транзакций</vt:lpstr>
      <vt:lpstr>Межтранзакционный параллелизм</vt:lpstr>
      <vt:lpstr>Внутритранзакционный параллелизм</vt:lpstr>
      <vt:lpstr>Межзапросный (межоператорный) параллелизм</vt:lpstr>
      <vt:lpstr>Внутризапросный параллелизм </vt:lpstr>
      <vt:lpstr>Внутризапросный параллелизм </vt:lpstr>
      <vt:lpstr>Межоперационный параллелизм</vt:lpstr>
      <vt:lpstr>Межоперационный параллелизм</vt:lpstr>
      <vt:lpstr>Вертикальный (конвейерный ) параллелизм</vt:lpstr>
      <vt:lpstr>Внутриоперационный параллелизм </vt:lpstr>
      <vt:lpstr>Размещение данных</vt:lpstr>
      <vt:lpstr>Размещение данных</vt:lpstr>
      <vt:lpstr>Размещение данных</vt:lpstr>
      <vt:lpstr>Параллельные алгоритмы для бинарных операций </vt:lpstr>
      <vt:lpstr>Алгоритм вложенных циклов</vt:lpstr>
      <vt:lpstr>Алгоритм вложенных циклов</vt:lpstr>
      <vt:lpstr>Синхронный конвейер </vt:lpstr>
      <vt:lpstr>Итераторная модель</vt:lpstr>
      <vt:lpstr>Реализация операции соединения вложенными циклами </vt:lpstr>
      <vt:lpstr>Учебная база данных</vt:lpstr>
      <vt:lpstr>Формирование последовательного плана</vt:lpstr>
      <vt:lpstr>Фрагментный параллелизм </vt:lpstr>
      <vt:lpstr>Фрагментный параллелизм</vt:lpstr>
      <vt:lpstr>Организация межпроцессорных обменов </vt:lpstr>
      <vt:lpstr>Оператор Exchange</vt:lpstr>
      <vt:lpstr>Обработка запроса в параллельной СУБД </vt:lpstr>
      <vt:lpstr>Обработка запроса в параллельной СУБД(2) </vt:lpstr>
      <vt:lpstr>Литература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Борис</dc:creator>
  <cp:lastModifiedBy>Def</cp:lastModifiedBy>
  <cp:revision>103</cp:revision>
  <dcterms:created xsi:type="dcterms:W3CDTF">2010-04-28T16:57:35Z</dcterms:created>
  <dcterms:modified xsi:type="dcterms:W3CDTF">2024-03-28T05:38:18Z</dcterms:modified>
</cp:coreProperties>
</file>