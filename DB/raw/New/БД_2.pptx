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6858000" cx="9144000"/>
  <p:notesSz cx="6858000" cy="9144000"/>
  <p:embeddedFontLst>
    <p:embeddedFont>
      <p:font typeface="Arial Black"/>
      <p:regular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7" roundtripDataSignature="AMtx7mibL9AQblOruSYSJwCpvl5nr+D1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5A0827-0ADE-4640-AF34-AAA79A0DC96F}">
  <a:tblStyle styleId="{CC5A0827-0ADE-4640-AF34-AAA79A0DC96F}"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EFFF"/>
          </a:solidFill>
        </a:fill>
      </a:tcStyle>
    </a:wholeTbl>
    <a:band1H>
      <a:tcTxStyle/>
      <a:tcStyle>
        <a:fill>
          <a:solidFill>
            <a:srgbClr val="DDDDFF"/>
          </a:solidFill>
        </a:fill>
      </a:tcStyle>
    </a:band1H>
    <a:band2H>
      <a:tcTxStyle/>
    </a:band2H>
    <a:band1V>
      <a:tcTxStyle/>
      <a:tcStyle>
        <a:fill>
          <a:solidFill>
            <a:srgbClr val="DDDDFF"/>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font" Target="fonts/ArialBlack-regular.fntdata"/><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0" Type="http://schemas.openxmlformats.org/officeDocument/2006/relationships/hyperlink" Target="http://www.vmark.com/" TargetMode="External"/><Relationship Id="rId22" Type="http://schemas.openxmlformats.org/officeDocument/2006/relationships/hyperlink" Target="http://www.osp.ru/dbms/1997/02/source/36.htm" TargetMode="External"/><Relationship Id="rId21" Type="http://schemas.openxmlformats.org/officeDocument/2006/relationships/hyperlink" Target="http://www.osp.ru/dbms/1995/02/source/adabas.htm" TargetMode="External"/><Relationship Id="rId24" Type="http://schemas.openxmlformats.org/officeDocument/2006/relationships/hyperlink" Target="http://www.osp.ru/dbms/1996/03/source/66.htm" TargetMode="External"/><Relationship Id="rId23" Type="http://schemas.openxmlformats.org/officeDocument/2006/relationships/hyperlink" Target="http://www.osp.ru/dbms/1995/02/source/universe.htm" TargetMode="External"/><Relationship Id="rId1" Type="http://schemas.openxmlformats.org/officeDocument/2006/relationships/notesMaster" Target="../notesMasters/notesMaster1.xml"/><Relationship Id="rId2" Type="http://schemas.openxmlformats.org/officeDocument/2006/relationships/hyperlink" Target="http://ru.wikipedia.org/wiki/%D0%94%D0%B0%D0%BD%D0%BD%D1%8B%D0%B5" TargetMode="External"/><Relationship Id="rId3" Type="http://schemas.openxmlformats.org/officeDocument/2006/relationships/hyperlink" Target="http://ru.wikipedia.org/wiki/%D0%91%D0%B0%D0%B7%D0%B0_%D0%B4%D0%B0%D0%BD%D0%BD%D1%8B%D1%85" TargetMode="External"/><Relationship Id="rId4" Type="http://schemas.openxmlformats.org/officeDocument/2006/relationships/hyperlink" Target="http://ru.wikipedia.org/w/index.php?title=%D0%9E%D0%B1%D1%8A%D0%B5%D0%BA%D1%82%D0%BD%D1%8B%D0%B5_%D0%B1%D0%B0%D0%B7%D1%8B_%D0%B4%D0%B0%D0%BD%D0%BD%D1%8B%D1%85&amp;veaction=edit&amp;section=1" TargetMode="External"/><Relationship Id="rId9" Type="http://schemas.openxmlformats.org/officeDocument/2006/relationships/hyperlink" Target="http://ru.wikipedia.org/w/index.php?title=%D0%9E%D0%B1%D1%8A%D0%B5%D0%BA%D1%82%D0%BD%D1%8B%D0%B5_%D0%B1%D0%B0%D0%B7%D1%8B_%D0%B4%D0%B0%D0%BD%D0%BD%D1%8B%D1%85&amp;action=edit&amp;section=2" TargetMode="External"/><Relationship Id="rId25" Type="http://schemas.openxmlformats.org/officeDocument/2006/relationships/hyperlink" Target="http://www.osp.ru/pcworld/1997/03/source/69.htm" TargetMode="External"/><Relationship Id="rId5" Type="http://schemas.openxmlformats.org/officeDocument/2006/relationships/hyperlink" Target="http://ru.wikipedia.org/w/index.php?title=%D0%9E%D0%B1%D1%8A%D0%B5%D0%BA%D1%82%D0%BD%D1%8B%D0%B5_%D0%B1%D0%B0%D0%B7%D1%8B_%D0%B4%D0%B0%D0%BD%D0%BD%D1%8B%D1%85&amp;action=edit&amp;section=1" TargetMode="External"/><Relationship Id="rId6" Type="http://schemas.openxmlformats.org/officeDocument/2006/relationships/hyperlink" Target="http://inteltec.ru/publish/articles/objtech/objcond.shtml" TargetMode="External"/><Relationship Id="rId7" Type="http://schemas.openxmlformats.org/officeDocument/2006/relationships/hyperlink" Target="http://www.webcitation.org/67iJDiuHA" TargetMode="External"/><Relationship Id="rId8" Type="http://schemas.openxmlformats.org/officeDocument/2006/relationships/hyperlink" Target="http://ru.wikipedia.org/w/index.php?title=%D0%9E%D0%B1%D1%8A%D0%B5%D0%BA%D1%82%D0%BD%D1%8B%D0%B5_%D0%B1%D0%B0%D0%B7%D1%8B_%D0%B4%D0%B0%D0%BD%D0%BD%D1%8B%D1%85&amp;veaction=edit&amp;section=2" TargetMode="External"/><Relationship Id="rId11" Type="http://schemas.openxmlformats.org/officeDocument/2006/relationships/hyperlink" Target="http://ru.wikipedia.org/w/index.php?title=Versant&amp;action=edit&amp;redlink=1" TargetMode="External"/><Relationship Id="rId10" Type="http://schemas.openxmlformats.org/officeDocument/2006/relationships/hyperlink" Target="http://ru.wikipedia.org/w/index.php?title=Jasmine&amp;action=edit&amp;redlink=1" TargetMode="External"/><Relationship Id="rId13" Type="http://schemas.openxmlformats.org/officeDocument/2006/relationships/hyperlink" Target="http://ru.wikipedia.org/wiki/C++" TargetMode="External"/><Relationship Id="rId12" Type="http://schemas.openxmlformats.org/officeDocument/2006/relationships/hyperlink" Target="http://ru.wikipedia.org/w/index.php?title=POET&amp;action=edit&amp;redlink=1" TargetMode="External"/><Relationship Id="rId15" Type="http://schemas.openxmlformats.org/officeDocument/2006/relationships/hyperlink" Target="http://ru.wikipedia.org/wiki/Visual_Basic" TargetMode="External"/><Relationship Id="rId14" Type="http://schemas.openxmlformats.org/officeDocument/2006/relationships/hyperlink" Target="http://ru.wikipedia.org/wiki/Java" TargetMode="External"/><Relationship Id="rId17" Type="http://schemas.openxmlformats.org/officeDocument/2006/relationships/hyperlink" Target="http://ru.wikipedia.org/wiki/Java" TargetMode="External"/><Relationship Id="rId16" Type="http://schemas.openxmlformats.org/officeDocument/2006/relationships/hyperlink" Target="http://ru.wikipedia.org/w/index.php?title=ObjectStore_PSE&amp;action=edit&amp;redlink=1" TargetMode="External"/><Relationship Id="rId19" Type="http://schemas.openxmlformats.org/officeDocument/2006/relationships/hyperlink" Target="http://www.picksys.com/" TargetMode="External"/><Relationship Id="rId18" Type="http://schemas.openxmlformats.org/officeDocument/2006/relationships/hyperlink" Target="http://www.sofwareag.com/"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u.wikipedia.org/wiki/%D0%A1%D0%A3%D0%91%D0%94" TargetMode="External"/><Relationship Id="rId3" Type="http://schemas.openxmlformats.org/officeDocument/2006/relationships/hyperlink" Target="http://ru.wikipedia.org/wiki/%D0%92%D0%B5%D0%B1-%D0%BF%D1%80%D0%B8%D0%BB%D0%BE%D0%B6%D0%B5%D0%BD%D0%B8%D0%B5" TargetMode="External"/><Relationship Id="rId4" Type="http://schemas.openxmlformats.org/officeDocument/2006/relationships/hyperlink" Target="http://ru.wikipedia.org/wiki/%D0%9E%D0%B1%D1%8A%D0%B5%D0%BA%D1%82%D0%BD%D0%BE-%D0%BE%D1%80%D0%B8%D0%B5%D0%BD%D1%82%D0%B8%D1%80%D0%BE%D0%B2%D0%B0%D0%BD%D0%BD%D0%B0%D1%8F_%D0%A1%D0%A3%D0%91%D0%94" TargetMode="External"/><Relationship Id="rId5" Type="http://schemas.openxmlformats.org/officeDocument/2006/relationships/hyperlink" Target="http://ru.wikipedia.org/wiki/%D0%A0%D0%B5%D0%BB%D1%8F%D1%86%D0%B8%D0%BE%D0%BD%D0%BD%D0%B0%D1%8F_%D0%BC%D0%BE%D0%B4%D0%B5%D0%BB%D1%8C_%D0%B4%D0%B0%D0%BD%D0%BD%D1%8B%D1%85" TargetMode="External"/><Relationship Id="rId6" Type="http://schemas.openxmlformats.org/officeDocument/2006/relationships/hyperlink" Target="http://ru.wikipedia.org/w/index.php?title=InterSystems&amp;action=edit&amp;redlink=1" TargetMode="External"/><Relationship Id="rId7" Type="http://schemas.openxmlformats.org/officeDocument/2006/relationships/hyperlink" Target="http://en.wikipedia.org/wiki/InterSystems" TargetMode="External"/><Relationship Id="rId8" Type="http://schemas.openxmlformats.org/officeDocument/2006/relationships/hyperlink" Target="http://ru.wikipedia.org/wiki/MUMPS"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85" name="Google Shape;38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Дейт </a:t>
            </a:r>
            <a:r>
              <a:rPr b="1" lang="ru-RU" sz="1200"/>
              <a:t>Введение в системы баз данных. Глава 2</a:t>
            </a:r>
            <a:endParaRPr/>
          </a:p>
          <a:p>
            <a:pPr indent="0" lvl="0" marL="0" rtl="0" algn="l">
              <a:spcBef>
                <a:spcPts val="0"/>
              </a:spcBef>
              <a:spcAft>
                <a:spcPts val="0"/>
              </a:spcAft>
              <a:buNone/>
            </a:pPr>
            <a:r>
              <a:rPr lang="ru-RU"/>
              <a:t>■ Отображение "концептуальный-внутренний" устанавливает соответствие между концептуальным представлением и хранимой базой данных, т.е. описывает, как концептуальные записи и поля представлены на внутреннем уровне. При измене нии структуры хранимой базы данных (т.е. при внесении изменений в определение структуры хранения) отображение "концептуальный—внутренний" также изменя ется, с учетом того, что концептуальная схема остается неизменной. (Осуществле ние подобных изменений входит в обязанности администратора базы данных и может обеспечиваться самой СУБД.) Иначе говоря, чтобы обеспечивалась независимость от данных, результаты внесения любых изменений в схему хранения не должны обнаруживаться на концептуальном уровне. </a:t>
            </a:r>
            <a:endParaRPr/>
          </a:p>
          <a:p>
            <a:pPr indent="0" lvl="0" marL="0" rtl="0" algn="l">
              <a:spcBef>
                <a:spcPts val="0"/>
              </a:spcBef>
              <a:spcAft>
                <a:spcPts val="0"/>
              </a:spcAft>
              <a:buNone/>
            </a:pPr>
            <a:r>
              <a:rPr lang="ru-RU"/>
              <a:t>■ Отображение "внешний—концептуальный" определяет соответствие между некоторым внешним представлением и концептуальным представлением. В целом, различия, которые могут существовать между этими двумя уровнями, подобны различиям между концептуальным представлением и хранимой базой данных. Например, данные полей могут относиться к разным типам, названия полей и за писей могут быть изменены, несколько концептуальных полей могут быть объединены в одно (виртуальное) внешнее поле и т.д. В одно и то же время допустимо существование любого количества внешних представлений, причем одно и то же внешнее представление может принадлежать нескольким пользователям, а разные внешние представления — перекрываться. Очевидно, что отображение "концептуальный—внутренний" служит основой физической независимости от данных, а отображения "внешний—концептуальный" являются ключом к логической независимости от данных. Как было показано в главе 1, система обеспечивает физическую независимость от данных [1.3], если пользователи и пользовательские программы обладают невосприимчивостью к изменениям в физической структуре хранимой базы данных. Аналогично, система обеспечивает логическую независимость от данных [1.4], если пользователи и пользовательские программы обладают невосприимчивостью к изменениям в логической структуре базы данных (подразумеваются изменения на концептуальном или "общем логическом" уровне). Этот важный вопрос будет обсуждаться в главах 3 и 10. </a:t>
            </a:r>
            <a:endParaRPr/>
          </a:p>
          <a:p>
            <a:pPr indent="0" lvl="0" marL="0" rtl="0" algn="l">
              <a:spcBef>
                <a:spcPts val="0"/>
              </a:spcBef>
              <a:spcAft>
                <a:spcPts val="0"/>
              </a:spcAft>
              <a:buNone/>
            </a:pPr>
            <a:r>
              <a:rPr lang="ru-RU"/>
              <a:t>■ Следует отметить, что большинство систем позволяет выражать одно определение внешнего представления через другое (по существу, с помощью отображения "внешний-внешний"), не требуя обязательного явного определения отображения Глава 2. Архитектура системы баз данных 85 каждого внешнего представления на концептуальный уровень. Эта возможность очень полезна, если несколько представлений подобны друг другу. В частности, аналогичная возможность предусмотрена во многих реляционных СУБД</a:t>
            </a:r>
            <a:endParaRPr/>
          </a:p>
        </p:txBody>
      </p:sp>
      <p:sp>
        <p:nvSpPr>
          <p:cNvPr id="467" name="Google Shape;467;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АДМИНИСТРАТОР БАЗЫ ДАННЫХ</a:t>
            </a:r>
            <a:endParaRPr/>
          </a:p>
          <a:p>
            <a:pPr indent="0" lvl="0" marL="0" rtl="0" algn="l">
              <a:spcBef>
                <a:spcPts val="0"/>
              </a:spcBef>
              <a:spcAft>
                <a:spcPts val="0"/>
              </a:spcAft>
              <a:buNone/>
            </a:pPr>
            <a:r>
              <a:rPr lang="ru-RU"/>
              <a:t>■ Определение концептуальной схемы</a:t>
            </a:r>
            <a:endParaRPr/>
          </a:p>
          <a:p>
            <a:pPr indent="0" lvl="0" marL="0" rtl="0" algn="l">
              <a:spcBef>
                <a:spcPts val="0"/>
              </a:spcBef>
              <a:spcAft>
                <a:spcPts val="0"/>
              </a:spcAft>
              <a:buNone/>
            </a:pPr>
            <a:r>
              <a:rPr lang="ru-RU"/>
              <a:t> Администратор данных решает, какая именно информация должна храниться в базе данных, т.е. указывает те типы сущностей, в которых заинтересовано предприятие, а также определяет, какую информацию об этих сущностях необходимо вводить в базу данных. Этот процесс обычно называют логическим (или концептуальным) проектированием базы данных. После того как содержимое базы данных на абстрактном уровне будет определено администратором данных, АБД создает соответствующую концептуальную схему, используя концептуальный язык определения данных. Объектная (откомпилированная) форма этой схемы будет использоваться в СУБД для получения ответов на запросы, связанные с доступом к данным. Исходная (не откомпилированная) форма будет играть роль справочного документа для пользователей системы. Следует отметить, что на практике редко все происходит точно по описанной выше схеме. Иногда концептуальную схему создает сам АД, а логическим проектированием занимается АБД. </a:t>
            </a:r>
            <a:endParaRPr/>
          </a:p>
          <a:p>
            <a:pPr indent="0" lvl="0" marL="0" rtl="0" algn="l">
              <a:spcBef>
                <a:spcPts val="0"/>
              </a:spcBef>
              <a:spcAft>
                <a:spcPts val="0"/>
              </a:spcAft>
              <a:buNone/>
            </a:pPr>
            <a:r>
              <a:rPr lang="ru-RU"/>
              <a:t>■ Определение внутренней схемы </a:t>
            </a:r>
            <a:endParaRPr/>
          </a:p>
          <a:p>
            <a:pPr indent="0" lvl="0" marL="0" rtl="0" algn="l">
              <a:spcBef>
                <a:spcPts val="0"/>
              </a:spcBef>
              <a:spcAft>
                <a:spcPts val="0"/>
              </a:spcAft>
              <a:buNone/>
            </a:pPr>
            <a:r>
              <a:rPr lang="ru-RU"/>
              <a:t>Администратор базы данных должен также решить, как данные будут представлены в хранимой базе данных. Этот процесс обычно называют физическим проектированием базы данных. После завершения физического проектирования АБД создает соответствующие структуры хранения, используя внутренний язык определения данных (т.е. описывает внутреннюю схему). Кроме того, он определяет соответствующее отображение между внутренней и концептуальной схемами. На практике концептуальный и внутренний языки определения данных (особенно первый) могут включать в себя средства определения этого отображения, однако две данные функции (создание схемы и определение отображений) должны быть четко разделены. Как и концептуальная схема, внутренняя схема и соответствующее отображение будут существовать в исходной и объектной формах. Обратите внимание на то, что проектирование осуществляется в определенной последовательности — вначале необходимо установить, какие данные требуются, а затем решить, как следует представить их в памяти. Физическое проектирование выполняется после логического. </a:t>
            </a:r>
            <a:endParaRPr/>
          </a:p>
          <a:p>
            <a:pPr indent="0" lvl="0" marL="0" rtl="0" algn="l">
              <a:spcBef>
                <a:spcPts val="0"/>
              </a:spcBef>
              <a:spcAft>
                <a:spcPts val="0"/>
              </a:spcAft>
              <a:buNone/>
            </a:pPr>
            <a:r>
              <a:rPr lang="ru-RU"/>
              <a:t>■ Взаимодействие с пользователями </a:t>
            </a:r>
            <a:endParaRPr/>
          </a:p>
          <a:p>
            <a:pPr indent="0" lvl="0" marL="0" rtl="0" algn="l">
              <a:spcBef>
                <a:spcPts val="0"/>
              </a:spcBef>
              <a:spcAft>
                <a:spcPts val="0"/>
              </a:spcAft>
              <a:buNone/>
            </a:pPr>
            <a:r>
              <a:rPr lang="ru-RU"/>
              <a:t>В обязанности АБД входит также взаимодействие с пользователями для предоставления им необходимых данных и подготовки требуемых внешних схем (или оказания помощи пользователям в их подготовке) с применением прикладного внешнего языка определения данных. (Как уже отмечалось, СУБД может поддерживать несколько различных внешних языков определения данных.) Кроме того, необходимо определить отображение между каждой созданной внешней и концептуальной схемами. На практике внешний язык определения данных может включать средства формирования этого отображения, но, опять же, схемы и отображения должны быть четко разделены между собой. Каждая внешняя схема и соответствующее ей отображение будут существовать в исходной и объектной формах. Другие аспекты взаимодействия с пользователями включают консультации по разработке приложений, обеспечение требуемого технического обучения, предоставление помощи в выявлении и устранении возникающих проблем и прочие виды связанного с системой профессионального обслуживания. </a:t>
            </a:r>
            <a:endParaRPr/>
          </a:p>
          <a:p>
            <a:pPr indent="0" lvl="0" marL="0" rtl="0" algn="l">
              <a:spcBef>
                <a:spcPts val="0"/>
              </a:spcBef>
              <a:spcAft>
                <a:spcPts val="0"/>
              </a:spcAft>
              <a:buNone/>
            </a:pPr>
            <a:r>
              <a:rPr lang="ru-RU"/>
              <a:t>■ Определение требований защиты и обеспечения целостности данных Как уже отмечалось, требования защиты и поддержки целостности данных рассматриваются как часть определения концептуальной схемы. Концептуальный язык определения данных должен включать в себя средства описания этих требований. </a:t>
            </a:r>
            <a:endParaRPr/>
          </a:p>
          <a:p>
            <a:pPr indent="0" lvl="0" marL="0" rtl="0" algn="l">
              <a:spcBef>
                <a:spcPts val="0"/>
              </a:spcBef>
              <a:spcAft>
                <a:spcPts val="0"/>
              </a:spcAft>
              <a:buNone/>
            </a:pPr>
            <a:r>
              <a:rPr lang="ru-RU"/>
              <a:t>■ Определение процедур резервного копирования и восстановления После того как предприятие доверит хранение своих данных системе баз данных, оно станет полностью зависимым от бесперебойного функционирования этой системы. В случае повреждения какой-либо части базы данных вследствие ошибки человека, отказа оборудования или сбоя программ операционной системы очень важно иметь возможность восстановить утраченные данные с минимальной задержкой и с наименьшим воздействием на остальную часть системы. В идеале, данные, которые не были повреждены, совсем не должны затрагиваться в процессе восстановления. АБД должен разработать и реализовать, во-первых, подходящую схему восстановления, включающую периодическую выгрузку базы данных на устройство резервного копирования (получение дампа), а во-вторых, процедуры загрузки базы данных из последнего созданного дампа в случае необходимости. Помимо всего прочего, требование быстрого восстановления поврежденных данных является одной из тех причин, по которым желательно организовать хранение данных не в каком-либо одном месте, а распределить их по нескольким отдельным базам данных. Каждая из таких баз данных будет представлять собой оптимальный объект выгрузки или перезагрузки. В этой связи отметим, что уже существуют терабайтовые системы6 (т.е., грубо говоря, коммерческие системы, хранящие больше триллиона байтов данных), а в будущем системы станут еще более крупными. Понятно, что такие системы очень больших баз данных (Very Large DataBase — VLDB) требуют тщательного и продуманного администрирования, в особенности если необходимо обеспечить для пользователей постоянный доступ к базе данных (а часто именно так и бывает). Однако для простоты рассуждений будем по-прежнему подразумевать, что мы имеем дело с единственной базой данных. </a:t>
            </a:r>
            <a:endParaRPr/>
          </a:p>
          <a:p>
            <a:pPr indent="0" lvl="0" marL="0" rtl="0" algn="l">
              <a:spcBef>
                <a:spcPts val="0"/>
              </a:spcBef>
              <a:spcAft>
                <a:spcPts val="0"/>
              </a:spcAft>
              <a:buNone/>
            </a:pPr>
            <a:r>
              <a:rPr lang="ru-RU"/>
              <a:t>■ Управление производительностью и реагирование на изменяющиеся требования Как отмечалось выше, в главе 1, АБД отвечает за такую организацию системы, при которой можно поддерживать производительность, оптимальную для всего предприятия в целом, а также за корректировку работы системы (т.е. ее настройку) в соответствии с изменяющимися требованиями. Например, может возникнуть необходимость в периодической реорганизации хранимой базы данных для обеспечения того, чтобы производительность системы всегда поддерживалась на приемлемом уровне. Как уже упоминалось, любые изменения на уровне физического хранения данных (внутреннем уровне) должны сопровождаться соответствующими изменениями в определении его отображения на концептуальный уровень, что позволит сохранить концептуальную схему неизменной. Конечно, перечисленное выше — отнюдь не исчерпывающий список обязанностей АБД, а лишь попытка высказать некоторые соображения об их существе и охвате.</a:t>
            </a:r>
            <a:endParaRPr/>
          </a:p>
        </p:txBody>
      </p:sp>
      <p:sp>
        <p:nvSpPr>
          <p:cNvPr id="526" name="Google Shape;526;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ru-RU" sz="1200">
                <a:solidFill>
                  <a:schemeClr val="dk1"/>
                </a:solidFill>
                <a:latin typeface="Calibri"/>
                <a:ea typeface="Calibri"/>
                <a:cs typeface="Calibri"/>
                <a:sym typeface="Calibri"/>
              </a:rPr>
              <a:t>Объектные базы данных</a:t>
            </a:r>
            <a:r>
              <a:rPr b="0" i="0" lang="ru-RU" sz="1200">
                <a:solidFill>
                  <a:schemeClr val="dk1"/>
                </a:solidFill>
                <a:latin typeface="Calibri"/>
                <a:ea typeface="Calibri"/>
                <a:cs typeface="Calibri"/>
                <a:sym typeface="Calibri"/>
              </a:rPr>
              <a:t> — это модель работы с объектными </a:t>
            </a:r>
            <a:r>
              <a:rPr b="0" i="0" lang="ru-RU" sz="1200" u="sng" strike="noStrike">
                <a:solidFill>
                  <a:schemeClr val="dk1"/>
                </a:solidFill>
                <a:latin typeface="Calibri"/>
                <a:ea typeface="Calibri"/>
                <a:cs typeface="Calibri"/>
                <a:sym typeface="Calibri"/>
                <a:hlinkClick r:id="rId2">
                  <a:extLst>
                    <a:ext uri="{A12FA001-AC4F-418D-AE19-62706E023703}">
                      <ahyp:hlinkClr val="tx"/>
                    </a:ext>
                  </a:extLst>
                </a:hlinkClick>
              </a:rPr>
              <a:t>данными</a:t>
            </a:r>
            <a:r>
              <a:rPr b="0" i="0" lang="ru-RU"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Такая модель баз данных, несмотря на то, что она существует уже много лет, считается новой. И её создание открывает большие перспективы, в связи с тем, что использование объектной модели </a:t>
            </a:r>
            <a:r>
              <a:rPr b="0" i="0" lang="ru-RU" sz="1200" u="sng" strike="noStrike">
                <a:solidFill>
                  <a:schemeClr val="dk1"/>
                </a:solidFill>
                <a:latin typeface="Calibri"/>
                <a:ea typeface="Calibri"/>
                <a:cs typeface="Calibri"/>
                <a:sym typeface="Calibri"/>
                <a:hlinkClick r:id="rId3">
                  <a:extLst>
                    <a:ext uri="{A12FA001-AC4F-418D-AE19-62706E023703}">
                      <ahyp:hlinkClr val="tx"/>
                    </a:ext>
                  </a:extLst>
                </a:hlinkClick>
              </a:rPr>
              <a:t>баз данных</a:t>
            </a:r>
            <a:r>
              <a:rPr b="0" i="0" lang="ru-RU" sz="1200">
                <a:solidFill>
                  <a:schemeClr val="dk1"/>
                </a:solidFill>
                <a:latin typeface="Calibri"/>
                <a:ea typeface="Calibri"/>
                <a:cs typeface="Calibri"/>
                <a:sym typeface="Calibri"/>
              </a:rPr>
              <a:t> легко воспринимается пользователем, так как создается высокий уровень абстракции…</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Объектная модель идеально подходит для трактовки такого рода объектных данных[</a:t>
            </a:r>
            <a:r>
              <a:rPr b="0" i="0" lang="ru-RU" sz="1200" u="sng" strike="noStrike">
                <a:solidFill>
                  <a:schemeClr val="dk1"/>
                </a:solidFill>
                <a:latin typeface="Calibri"/>
                <a:ea typeface="Calibri"/>
                <a:cs typeface="Calibri"/>
                <a:sym typeface="Calibri"/>
                <a:hlinkClick r:id="rId4">
                  <a:extLst>
                    <a:ext uri="{A12FA001-AC4F-418D-AE19-62706E023703}">
                      <ahyp:hlinkClr val="tx"/>
                    </a:ext>
                  </a:extLst>
                </a:hlinkClick>
              </a:rPr>
              <a:t>править</a:t>
            </a:r>
            <a:r>
              <a:rPr b="0" i="0" lang="ru-RU" sz="1200">
                <a:solidFill>
                  <a:schemeClr val="dk1"/>
                </a:solidFill>
                <a:latin typeface="Calibri"/>
                <a:ea typeface="Calibri"/>
                <a:cs typeface="Calibri"/>
                <a:sym typeface="Calibri"/>
              </a:rPr>
              <a:t> | </a:t>
            </a:r>
            <a:r>
              <a:rPr b="0" i="0" lang="ru-RU" sz="1200" u="sng" strike="noStrike">
                <a:solidFill>
                  <a:schemeClr val="dk1"/>
                </a:solidFill>
                <a:latin typeface="Calibri"/>
                <a:ea typeface="Calibri"/>
                <a:cs typeface="Calibri"/>
                <a:sym typeface="Calibri"/>
                <a:hlinkClick r:id="rId5">
                  <a:extLst>
                    <a:ext uri="{A12FA001-AC4F-418D-AE19-62706E023703}">
                      <ahyp:hlinkClr val="tx"/>
                    </a:ext>
                  </a:extLst>
                </a:hlinkClick>
              </a:rPr>
              <a:t>править исходный текст</a:t>
            </a:r>
            <a:r>
              <a:rPr b="0" i="0" lang="ru-RU"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Изображение</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Музыка</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Видео</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разного вида текст</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Современные объектные базы</a:t>
            </a:r>
            <a:r>
              <a:rPr b="0" i="0" lang="ru-RU" sz="1200" u="sng" strike="noStrike">
                <a:solidFill>
                  <a:schemeClr val="dk1"/>
                </a:solidFill>
                <a:latin typeface="Calibri"/>
                <a:ea typeface="Calibri"/>
                <a:cs typeface="Calibri"/>
                <a:sym typeface="Calibri"/>
                <a:hlinkClick r:id="rId6">
                  <a:extLst>
                    <a:ext uri="{A12FA001-AC4F-418D-AE19-62706E023703}">
                      <ahyp:hlinkClr val="tx"/>
                    </a:ext>
                  </a:extLst>
                </a:hlinkClick>
              </a:rPr>
              <a:t>Источник</a:t>
            </a:r>
            <a:r>
              <a:rPr b="0" i="0" lang="ru-RU" sz="1200">
                <a:solidFill>
                  <a:schemeClr val="dk1"/>
                </a:solidFill>
                <a:latin typeface="Calibri"/>
                <a:ea typeface="Calibri"/>
                <a:cs typeface="Calibri"/>
                <a:sym typeface="Calibri"/>
              </a:rPr>
              <a:t>. Проверено 4 октября 2011. </a:t>
            </a:r>
            <a:r>
              <a:rPr b="0" i="0" lang="ru-RU" sz="1200" u="sng" strike="noStrike">
                <a:solidFill>
                  <a:schemeClr val="dk1"/>
                </a:solidFill>
                <a:latin typeface="Calibri"/>
                <a:ea typeface="Calibri"/>
                <a:cs typeface="Calibri"/>
                <a:sym typeface="Calibri"/>
                <a:hlinkClick r:id="rId7">
                  <a:extLst>
                    <a:ext uri="{A12FA001-AC4F-418D-AE19-62706E023703}">
                      <ahyp:hlinkClr val="tx"/>
                    </a:ext>
                  </a:extLst>
                </a:hlinkClick>
              </a:rPr>
              <a:t>Архивировано из первоисточника 17 мая 2012</a:t>
            </a:r>
            <a:r>
              <a:rPr b="0" i="0" lang="ru-RU" sz="1200">
                <a:solidFill>
                  <a:schemeClr val="dk1"/>
                </a:solidFill>
                <a:latin typeface="Calibri"/>
                <a:ea typeface="Calibri"/>
                <a:cs typeface="Calibri"/>
                <a:sym typeface="Calibri"/>
              </a:rPr>
              <a:t>.[</a:t>
            </a:r>
            <a:r>
              <a:rPr b="0" i="0" lang="ru-RU" sz="1200" u="sng" strike="noStrike">
                <a:solidFill>
                  <a:schemeClr val="dk1"/>
                </a:solidFill>
                <a:latin typeface="Calibri"/>
                <a:ea typeface="Calibri"/>
                <a:cs typeface="Calibri"/>
                <a:sym typeface="Calibri"/>
                <a:hlinkClick r:id="rId8">
                  <a:extLst>
                    <a:ext uri="{A12FA001-AC4F-418D-AE19-62706E023703}">
                      <ahyp:hlinkClr val="tx"/>
                    </a:ext>
                  </a:extLst>
                </a:hlinkClick>
              </a:rPr>
              <a:t>править</a:t>
            </a:r>
            <a:r>
              <a:rPr b="0" i="0" lang="ru-RU" sz="1200">
                <a:solidFill>
                  <a:schemeClr val="dk1"/>
                </a:solidFill>
                <a:latin typeface="Calibri"/>
                <a:ea typeface="Calibri"/>
                <a:cs typeface="Calibri"/>
                <a:sym typeface="Calibri"/>
              </a:rPr>
              <a:t> | </a:t>
            </a:r>
            <a:r>
              <a:rPr b="0" i="0" lang="ru-RU" sz="1200" u="sng" strike="noStrike">
                <a:solidFill>
                  <a:schemeClr val="dk1"/>
                </a:solidFill>
                <a:latin typeface="Calibri"/>
                <a:ea typeface="Calibri"/>
                <a:cs typeface="Calibri"/>
                <a:sym typeface="Calibri"/>
                <a:hlinkClick r:id="rId9">
                  <a:extLst>
                    <a:ext uri="{A12FA001-AC4F-418D-AE19-62706E023703}">
                      <ahyp:hlinkClr val="tx"/>
                    </a:ext>
                  </a:extLst>
                </a:hlinkClick>
              </a:rPr>
              <a:t>править исходный текст</a:t>
            </a:r>
            <a:r>
              <a:rPr b="0" i="0" lang="ru-RU"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ru-RU" sz="1200" u="sng" strike="noStrike">
                <a:solidFill>
                  <a:schemeClr val="dk1"/>
                </a:solidFill>
                <a:latin typeface="Calibri"/>
                <a:ea typeface="Calibri"/>
                <a:cs typeface="Calibri"/>
                <a:sym typeface="Calibri"/>
                <a:hlinkClick r:id="rId10">
                  <a:extLst>
                    <a:ext uri="{A12FA001-AC4F-418D-AE19-62706E023703}">
                      <ahyp:hlinkClr val="tx"/>
                    </a:ext>
                  </a:extLst>
                </a:hlinkClick>
              </a:rPr>
              <a:t>Jasmine</a:t>
            </a:r>
            <a:r>
              <a:rPr b="0" i="0" lang="ru-RU" sz="1200">
                <a:solidFill>
                  <a:schemeClr val="dk1"/>
                </a:solidFill>
                <a:latin typeface="Calibri"/>
                <a:ea typeface="Calibri"/>
                <a:cs typeface="Calibri"/>
                <a:sym typeface="Calibri"/>
              </a:rPr>
              <a:t> (компания Computer Associates) — Одна из известнейших объектных баз</a:t>
            </a:r>
            <a:endParaRPr/>
          </a:p>
          <a:p>
            <a:pPr indent="0" lvl="0" marL="0" rtl="0" algn="l">
              <a:spcBef>
                <a:spcPts val="0"/>
              </a:spcBef>
              <a:spcAft>
                <a:spcPts val="0"/>
              </a:spcAft>
              <a:buNone/>
            </a:pPr>
            <a:r>
              <a:rPr b="0" i="0" lang="ru-RU" sz="1200" u="sng" strike="noStrike">
                <a:solidFill>
                  <a:schemeClr val="dk1"/>
                </a:solidFill>
                <a:latin typeface="Calibri"/>
                <a:ea typeface="Calibri"/>
                <a:cs typeface="Calibri"/>
                <a:sym typeface="Calibri"/>
                <a:hlinkClick r:id="rId11">
                  <a:extLst>
                    <a:ext uri="{A12FA001-AC4F-418D-AE19-62706E023703}">
                      <ahyp:hlinkClr val="tx"/>
                    </a:ext>
                  </a:extLst>
                </a:hlinkClick>
              </a:rPr>
              <a:t>Versant</a:t>
            </a:r>
            <a:r>
              <a:rPr b="0" i="0" lang="ru-RU" sz="1200">
                <a:solidFill>
                  <a:schemeClr val="dk1"/>
                </a:solidFill>
                <a:latin typeface="Calibri"/>
                <a:ea typeface="Calibri"/>
                <a:cs typeface="Calibri"/>
                <a:sym typeface="Calibri"/>
              </a:rPr>
              <a:t> (разработка Versant Technologies) — использовалась в основном для разработки телекоммуникаций</a:t>
            </a:r>
            <a:endParaRPr/>
          </a:p>
          <a:p>
            <a:pPr indent="0" lvl="0" marL="0" rtl="0" algn="l">
              <a:spcBef>
                <a:spcPts val="0"/>
              </a:spcBef>
              <a:spcAft>
                <a:spcPts val="0"/>
              </a:spcAft>
              <a:buNone/>
            </a:pPr>
            <a:r>
              <a:rPr b="0" i="0" lang="ru-RU" sz="1200" u="sng" strike="noStrike">
                <a:solidFill>
                  <a:schemeClr val="dk1"/>
                </a:solidFill>
                <a:latin typeface="Calibri"/>
                <a:ea typeface="Calibri"/>
                <a:cs typeface="Calibri"/>
                <a:sym typeface="Calibri"/>
                <a:hlinkClick r:id="rId12">
                  <a:extLst>
                    <a:ext uri="{A12FA001-AC4F-418D-AE19-62706E023703}">
                      <ahyp:hlinkClr val="tx"/>
                    </a:ext>
                  </a:extLst>
                </a:hlinkClick>
              </a:rPr>
              <a:t>POET</a:t>
            </a:r>
            <a:r>
              <a:rPr b="0" i="0" lang="ru-RU" sz="1200">
                <a:solidFill>
                  <a:schemeClr val="dk1"/>
                </a:solidFill>
                <a:latin typeface="Calibri"/>
                <a:ea typeface="Calibri"/>
                <a:cs typeface="Calibri"/>
                <a:sym typeface="Calibri"/>
              </a:rPr>
              <a:t> (компания POET Software) — компактная объектная база данных. Которая поддерживает программные интерфейсы </a:t>
            </a:r>
            <a:r>
              <a:rPr b="0" i="0" lang="ru-RU" sz="1200" u="sng" strike="noStrike">
                <a:solidFill>
                  <a:schemeClr val="dk1"/>
                </a:solidFill>
                <a:latin typeface="Calibri"/>
                <a:ea typeface="Calibri"/>
                <a:cs typeface="Calibri"/>
                <a:sym typeface="Calibri"/>
                <a:hlinkClick r:id="rId13">
                  <a:extLst>
                    <a:ext uri="{A12FA001-AC4F-418D-AE19-62706E023703}">
                      <ahyp:hlinkClr val="tx"/>
                    </a:ext>
                  </a:extLst>
                </a:hlinkClick>
              </a:rPr>
              <a:t>C++</a:t>
            </a:r>
            <a:r>
              <a:rPr b="0" i="0" lang="ru-RU" sz="1200">
                <a:solidFill>
                  <a:schemeClr val="dk1"/>
                </a:solidFill>
                <a:latin typeface="Calibri"/>
                <a:ea typeface="Calibri"/>
                <a:cs typeface="Calibri"/>
                <a:sym typeface="Calibri"/>
              </a:rPr>
              <a:t>, </a:t>
            </a:r>
            <a:r>
              <a:rPr b="0" i="0" lang="ru-RU" sz="1200" u="sng" strike="noStrike">
                <a:solidFill>
                  <a:schemeClr val="dk1"/>
                </a:solidFill>
                <a:latin typeface="Calibri"/>
                <a:ea typeface="Calibri"/>
                <a:cs typeface="Calibri"/>
                <a:sym typeface="Calibri"/>
                <a:hlinkClick r:id="rId14">
                  <a:extLst>
                    <a:ext uri="{A12FA001-AC4F-418D-AE19-62706E023703}">
                      <ahyp:hlinkClr val="tx"/>
                    </a:ext>
                  </a:extLst>
                </a:hlinkClick>
              </a:rPr>
              <a:t>Java</a:t>
            </a:r>
            <a:r>
              <a:rPr b="0" i="0" lang="ru-RU" sz="1200">
                <a:solidFill>
                  <a:schemeClr val="dk1"/>
                </a:solidFill>
                <a:latin typeface="Calibri"/>
                <a:ea typeface="Calibri"/>
                <a:cs typeface="Calibri"/>
                <a:sym typeface="Calibri"/>
              </a:rPr>
              <a:t>, </a:t>
            </a:r>
            <a:r>
              <a:rPr b="0" i="0" lang="ru-RU" sz="1200" u="sng" strike="noStrike">
                <a:solidFill>
                  <a:schemeClr val="dk1"/>
                </a:solidFill>
                <a:latin typeface="Calibri"/>
                <a:ea typeface="Calibri"/>
                <a:cs typeface="Calibri"/>
                <a:sym typeface="Calibri"/>
                <a:hlinkClick r:id="rId15">
                  <a:extLst>
                    <a:ext uri="{A12FA001-AC4F-418D-AE19-62706E023703}">
                      <ahyp:hlinkClr val="tx"/>
                    </a:ext>
                  </a:extLst>
                </a:hlinkClick>
              </a:rPr>
              <a:t>Visual Basic</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ru-RU" sz="1200" u="sng" strike="noStrike">
                <a:solidFill>
                  <a:schemeClr val="dk1"/>
                </a:solidFill>
                <a:latin typeface="Calibri"/>
                <a:ea typeface="Calibri"/>
                <a:cs typeface="Calibri"/>
                <a:sym typeface="Calibri"/>
                <a:hlinkClick r:id="rId16">
                  <a:extLst>
                    <a:ext uri="{A12FA001-AC4F-418D-AE19-62706E023703}">
                      <ahyp:hlinkClr val="tx"/>
                    </a:ext>
                  </a:extLst>
                </a:hlinkClick>
              </a:rPr>
              <a:t>ObjectStore PSE</a:t>
            </a:r>
            <a:r>
              <a:rPr b="0" i="0" lang="ru-RU" sz="1200">
                <a:solidFill>
                  <a:schemeClr val="dk1"/>
                </a:solidFill>
                <a:latin typeface="Calibri"/>
                <a:ea typeface="Calibri"/>
                <a:cs typeface="Calibri"/>
                <a:sym typeface="Calibri"/>
              </a:rPr>
              <a:t> (разработка компании ObjectDesign) — Модули объектов </a:t>
            </a:r>
            <a:r>
              <a:rPr b="0" i="0" lang="ru-RU" sz="1200" u="sng" strike="noStrike">
                <a:solidFill>
                  <a:schemeClr val="dk1"/>
                </a:solidFill>
                <a:latin typeface="Calibri"/>
                <a:ea typeface="Calibri"/>
                <a:cs typeface="Calibri"/>
                <a:sym typeface="Calibri"/>
                <a:hlinkClick r:id="rId17">
                  <a:extLst>
                    <a:ext uri="{A12FA001-AC4F-418D-AE19-62706E023703}">
                      <ahyp:hlinkClr val="tx"/>
                    </a:ext>
                  </a:extLst>
                </a:hlinkClick>
              </a:rPr>
              <a:t>Java</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ru-RU" sz="1200">
                <a:solidFill>
                  <a:schemeClr val="dk1"/>
                </a:solidFill>
                <a:latin typeface="Calibri"/>
                <a:ea typeface="Calibri"/>
                <a:cs typeface="Calibri"/>
                <a:sym typeface="Calibri"/>
              </a:rPr>
              <a:t>Постреляционная модель </a:t>
            </a:r>
            <a:r>
              <a:rPr b="0" i="0" lang="ru-RU" sz="1200">
                <a:solidFill>
                  <a:schemeClr val="dk1"/>
                </a:solidFill>
                <a:latin typeface="Calibri"/>
                <a:ea typeface="Calibri"/>
                <a:cs typeface="Calibri"/>
                <a:sym typeface="Calibri"/>
              </a:rPr>
              <a:t>данных представляет собой расширенную реляционную модель, в которой отменено требование атомарности атрибутов. Поэтому постреляционную модель называют "не первой нормальной формой" (NF2) или "многомерной базой данных". Она использует трехмерные структуры, позволяя хранить в полях таблицы другие таблицы. Тем самым расширяются возможности по описанию сложных объектов реального мира. В качестве языка запросов используется несколько расширенный SQL, позволяющий извлекать сложные объекты из одной таблицы без операций соединения.</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Существует несколько коммерческих постреляционных СУБД, более подробные сведения о них можно получить на веб-серверах фирм-производителей. Пожалуй, самыми известными из них являются системы </a:t>
            </a:r>
            <a:r>
              <a:rPr b="0" i="0" lang="ru-RU" sz="1200" u="sng">
                <a:solidFill>
                  <a:schemeClr val="dk1"/>
                </a:solidFill>
                <a:latin typeface="Calibri"/>
                <a:ea typeface="Calibri"/>
                <a:cs typeface="Calibri"/>
                <a:sym typeface="Calibri"/>
                <a:hlinkClick r:id="rId18">
                  <a:extLst>
                    <a:ext uri="{A12FA001-AC4F-418D-AE19-62706E023703}">
                      <ahyp:hlinkClr val="tx"/>
                    </a:ext>
                  </a:extLst>
                </a:hlinkClick>
              </a:rPr>
              <a:t>Adabas</a:t>
            </a:r>
            <a:r>
              <a:rPr b="0" i="0" lang="ru-RU" sz="1200">
                <a:solidFill>
                  <a:schemeClr val="dk1"/>
                </a:solidFill>
                <a:latin typeface="Calibri"/>
                <a:ea typeface="Calibri"/>
                <a:cs typeface="Calibri"/>
                <a:sym typeface="Calibri"/>
              </a:rPr>
              <a:t>, </a:t>
            </a:r>
            <a:r>
              <a:rPr b="0" i="0" lang="ru-RU" sz="1200" u="sng">
                <a:solidFill>
                  <a:schemeClr val="dk1"/>
                </a:solidFill>
                <a:latin typeface="Calibri"/>
                <a:ea typeface="Calibri"/>
                <a:cs typeface="Calibri"/>
                <a:sym typeface="Calibri"/>
                <a:hlinkClick r:id="rId19">
                  <a:extLst>
                    <a:ext uri="{A12FA001-AC4F-418D-AE19-62706E023703}">
                      <ahyp:hlinkClr val="tx"/>
                    </a:ext>
                  </a:extLst>
                </a:hlinkClick>
              </a:rPr>
              <a:t>Pick</a:t>
            </a:r>
            <a:r>
              <a:rPr b="0" i="0" lang="ru-RU" sz="1200">
                <a:solidFill>
                  <a:schemeClr val="dk1"/>
                </a:solidFill>
                <a:latin typeface="Calibri"/>
                <a:ea typeface="Calibri"/>
                <a:cs typeface="Calibri"/>
                <a:sym typeface="Calibri"/>
              </a:rPr>
              <a:t> и </a:t>
            </a:r>
            <a:r>
              <a:rPr b="0" i="0" lang="ru-RU" sz="1200" u="sng">
                <a:solidFill>
                  <a:schemeClr val="dk1"/>
                </a:solidFill>
                <a:latin typeface="Calibri"/>
                <a:ea typeface="Calibri"/>
                <a:cs typeface="Calibri"/>
                <a:sym typeface="Calibri"/>
                <a:hlinkClick r:id="rId20">
                  <a:extLst>
                    <a:ext uri="{A12FA001-AC4F-418D-AE19-62706E023703}">
                      <ahyp:hlinkClr val="tx"/>
                    </a:ext>
                  </a:extLst>
                </a:hlinkClick>
              </a:rPr>
              <a:t>Universe</a:t>
            </a:r>
            <a:r>
              <a:rPr b="0" i="0" lang="ru-RU"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Литература:</a:t>
            </a:r>
            <a:br>
              <a:rPr lang="ru-RU"/>
            </a:br>
            <a:r>
              <a:rPr b="0" i="0" lang="ru-RU" sz="1200" u="sng">
                <a:solidFill>
                  <a:schemeClr val="dk1"/>
                </a:solidFill>
                <a:latin typeface="Calibri"/>
                <a:ea typeface="Calibri"/>
                <a:cs typeface="Calibri"/>
                <a:sym typeface="Calibri"/>
                <a:hlinkClick r:id="rId21">
                  <a:extLst>
                    <a:ext uri="{A12FA001-AC4F-418D-AE19-62706E023703}">
                      <ahyp:hlinkClr val="tx"/>
                    </a:ext>
                  </a:extLst>
                </a:hlinkClick>
              </a:rPr>
              <a:t>Т.В. Грачева ADABAS - основа технологий SOFTWARE AG. СУБД N 2 1995</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ru-RU" sz="1200" u="sng">
                <a:solidFill>
                  <a:schemeClr val="dk1"/>
                </a:solidFill>
                <a:latin typeface="Calibri"/>
                <a:ea typeface="Calibri"/>
                <a:cs typeface="Calibri"/>
                <a:sym typeface="Calibri"/>
                <a:hlinkClick r:id="rId22">
                  <a:extLst>
                    <a:ext uri="{A12FA001-AC4F-418D-AE19-62706E023703}">
                      <ahyp:hlinkClr val="tx"/>
                    </a:ext>
                  </a:extLst>
                </a:hlinkClick>
              </a:rPr>
              <a:t>Л.Л. Винокуров, Д.В. Леонтьев, А.Ф. Гершельман СУБД ADABAS - основа универсального сервера баз данных. СУБД N2, 1997</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ru-RU" sz="1200" u="sng">
                <a:solidFill>
                  <a:schemeClr val="dk1"/>
                </a:solidFill>
                <a:latin typeface="Calibri"/>
                <a:ea typeface="Calibri"/>
                <a:cs typeface="Calibri"/>
                <a:sym typeface="Calibri"/>
                <a:hlinkClick r:id="rId23">
                  <a:extLst>
                    <a:ext uri="{A12FA001-AC4F-418D-AE19-62706E023703}">
                      <ahyp:hlinkClr val="tx"/>
                    </a:ext>
                  </a:extLst>
                </a:hlinkClick>
              </a:rPr>
              <a:t>Т.Г. Лаврентьева, И.Г. Шабаев UNIVERSE - Развитие реляционных стандартов. СУБД N 2 1995</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ru-RU" sz="1200" u="sng">
                <a:solidFill>
                  <a:schemeClr val="dk1"/>
                </a:solidFill>
                <a:latin typeface="Calibri"/>
                <a:ea typeface="Calibri"/>
                <a:cs typeface="Calibri"/>
                <a:sym typeface="Calibri"/>
                <a:hlinkClick r:id="rId24">
                  <a:extLst>
                    <a:ext uri="{A12FA001-AC4F-418D-AE19-62706E023703}">
                      <ahyp:hlinkClr val="tx"/>
                    </a:ext>
                  </a:extLst>
                </a:hlinkClick>
              </a:rPr>
              <a:t>Е.К. Ким, И.Г. Шабаев, В.А. Бычков Проектирование трехмерных баз данных в СУБД uniVerse. СУБД N 3 1996</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ru-RU" sz="1200" u="sng">
                <a:solidFill>
                  <a:schemeClr val="dk1"/>
                </a:solidFill>
                <a:latin typeface="Calibri"/>
                <a:ea typeface="Calibri"/>
                <a:cs typeface="Calibri"/>
                <a:sym typeface="Calibri"/>
                <a:hlinkClick r:id="rId25">
                  <a:extLst>
                    <a:ext uri="{A12FA001-AC4F-418D-AE19-62706E023703}">
                      <ahyp:hlinkClr val="tx"/>
                    </a:ext>
                  </a:extLst>
                </a:hlinkClick>
              </a:rPr>
              <a:t>Д.Рамодин Многомерный мир базы данных. Мир ПК, N 3, 1997</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p:txBody>
      </p:sp>
      <p:sp>
        <p:nvSpPr>
          <p:cNvPr id="603" name="Google Shape;60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ru-RU" sz="1200">
                <a:solidFill>
                  <a:schemeClr val="dk1"/>
                </a:solidFill>
                <a:latin typeface="Calibri"/>
                <a:ea typeface="Calibri"/>
                <a:cs typeface="Calibri"/>
                <a:sym typeface="Calibri"/>
              </a:rPr>
              <a:t>Caché</a:t>
            </a:r>
            <a:r>
              <a:rPr b="0" i="0" lang="ru-RU" sz="1200">
                <a:solidFill>
                  <a:schemeClr val="dk1"/>
                </a:solidFill>
                <a:latin typeface="Calibri"/>
                <a:ea typeface="Calibri"/>
                <a:cs typeface="Calibri"/>
                <a:sym typeface="Calibri"/>
              </a:rPr>
              <a:t> (Кашэ) — промышленная </a:t>
            </a:r>
            <a:r>
              <a:rPr b="0" i="0" lang="ru-RU" sz="1200" u="sng" strike="noStrike">
                <a:solidFill>
                  <a:schemeClr val="dk1"/>
                </a:solidFill>
                <a:latin typeface="Calibri"/>
                <a:ea typeface="Calibri"/>
                <a:cs typeface="Calibri"/>
                <a:sym typeface="Calibri"/>
                <a:hlinkClick r:id="rId2">
                  <a:extLst>
                    <a:ext uri="{A12FA001-AC4F-418D-AE19-62706E023703}">
                      <ahyp:hlinkClr val="tx"/>
                    </a:ext>
                  </a:extLst>
                </a:hlinkClick>
              </a:rPr>
              <a:t>СУБД</a:t>
            </a:r>
            <a:r>
              <a:rPr b="0" i="0" lang="ru-RU" sz="1200">
                <a:solidFill>
                  <a:schemeClr val="dk1"/>
                </a:solidFill>
                <a:latin typeface="Calibri"/>
                <a:ea typeface="Calibri"/>
                <a:cs typeface="Calibri"/>
                <a:sym typeface="Calibri"/>
              </a:rPr>
              <a:t>, интегрированная с технологией разработки </a:t>
            </a:r>
            <a:r>
              <a:rPr b="0" i="0" lang="ru-RU" sz="1200" u="sng" strike="noStrike">
                <a:solidFill>
                  <a:schemeClr val="dk1"/>
                </a:solidFill>
                <a:latin typeface="Calibri"/>
                <a:ea typeface="Calibri"/>
                <a:cs typeface="Calibri"/>
                <a:sym typeface="Calibri"/>
                <a:hlinkClick r:id="rId3">
                  <a:extLst>
                    <a:ext uri="{A12FA001-AC4F-418D-AE19-62706E023703}">
                      <ahyp:hlinkClr val="tx"/>
                    </a:ext>
                  </a:extLst>
                </a:hlinkClick>
              </a:rPr>
              <a:t>веб-приложений</a:t>
            </a:r>
            <a:r>
              <a:rPr b="0" i="0" lang="ru-RU" sz="1200">
                <a:solidFill>
                  <a:schemeClr val="dk1"/>
                </a:solidFill>
                <a:latin typeface="Calibri"/>
                <a:ea typeface="Calibri"/>
                <a:cs typeface="Calibri"/>
                <a:sym typeface="Calibri"/>
              </a:rPr>
              <a:t>. Единая архитектура данных Caché позволяет разработчикам использовать </a:t>
            </a:r>
            <a:r>
              <a:rPr b="0" i="0" lang="ru-RU" sz="1200" u="sng" strike="noStrike">
                <a:solidFill>
                  <a:schemeClr val="dk1"/>
                </a:solidFill>
                <a:latin typeface="Calibri"/>
                <a:ea typeface="Calibri"/>
                <a:cs typeface="Calibri"/>
                <a:sym typeface="Calibri"/>
                <a:hlinkClick r:id="rId4">
                  <a:extLst>
                    <a:ext uri="{A12FA001-AC4F-418D-AE19-62706E023703}">
                      <ahyp:hlinkClr val="tx"/>
                    </a:ext>
                  </a:extLst>
                </a:hlinkClick>
              </a:rPr>
              <a:t>объектный</a:t>
            </a:r>
            <a:r>
              <a:rPr b="0" i="0" lang="ru-RU" sz="1200">
                <a:solidFill>
                  <a:schemeClr val="dk1"/>
                </a:solidFill>
                <a:latin typeface="Calibri"/>
                <a:ea typeface="Calibri"/>
                <a:cs typeface="Calibri"/>
                <a:sym typeface="Calibri"/>
              </a:rPr>
              <a:t>, </a:t>
            </a:r>
            <a:r>
              <a:rPr b="0" i="0" lang="ru-RU" sz="1200" u="sng" strike="noStrike">
                <a:solidFill>
                  <a:schemeClr val="dk1"/>
                </a:solidFill>
                <a:latin typeface="Calibri"/>
                <a:ea typeface="Calibri"/>
                <a:cs typeface="Calibri"/>
                <a:sym typeface="Calibri"/>
                <a:hlinkClick r:id="rId5">
                  <a:extLst>
                    <a:ext uri="{A12FA001-AC4F-418D-AE19-62706E023703}">
                      <ahyp:hlinkClr val="tx"/>
                    </a:ext>
                  </a:extLst>
                </a:hlinkClick>
              </a:rPr>
              <a:t>реляционный</a:t>
            </a:r>
            <a:r>
              <a:rPr b="0" i="0" lang="ru-RU" sz="1200">
                <a:solidFill>
                  <a:schemeClr val="dk1"/>
                </a:solidFill>
                <a:latin typeface="Calibri"/>
                <a:ea typeface="Calibri"/>
                <a:cs typeface="Calibri"/>
                <a:sym typeface="Calibri"/>
              </a:rPr>
              <a:t> и прямой доступ к одним и тем же данным, хранение которых обеспечивается ориентированным на транзакции многомерным ядром СУБД. Разработчик — компания </a:t>
            </a:r>
            <a:r>
              <a:rPr b="0" i="0" lang="ru-RU" sz="1200" u="sng" strike="noStrike">
                <a:solidFill>
                  <a:schemeClr val="dk1"/>
                </a:solidFill>
                <a:latin typeface="Calibri"/>
                <a:ea typeface="Calibri"/>
                <a:cs typeface="Calibri"/>
                <a:sym typeface="Calibri"/>
                <a:hlinkClick r:id="rId6">
                  <a:extLst>
                    <a:ext uri="{A12FA001-AC4F-418D-AE19-62706E023703}">
                      <ahyp:hlinkClr val="tx"/>
                    </a:ext>
                  </a:extLst>
                </a:hlinkClick>
              </a:rPr>
              <a:t>InterSystems</a:t>
            </a:r>
            <a:r>
              <a:rPr b="0" i="0" lang="ru-RU" sz="1200">
                <a:solidFill>
                  <a:schemeClr val="dk1"/>
                </a:solidFill>
                <a:latin typeface="Calibri"/>
                <a:ea typeface="Calibri"/>
                <a:cs typeface="Calibri"/>
                <a:sym typeface="Calibri"/>
              </a:rPr>
              <a:t> (</a:t>
            </a:r>
            <a:r>
              <a:rPr b="0" i="1" lang="ru-RU" sz="1200" u="sng" strike="noStrike">
                <a:solidFill>
                  <a:schemeClr val="dk1"/>
                </a:solidFill>
                <a:latin typeface="Calibri"/>
                <a:ea typeface="Calibri"/>
                <a:cs typeface="Calibri"/>
                <a:sym typeface="Calibri"/>
                <a:hlinkClick r:id="rId7">
                  <a:extLst>
                    <a:ext uri="{A12FA001-AC4F-418D-AE19-62706E023703}">
                      <ahyp:hlinkClr val="tx"/>
                    </a:ext>
                  </a:extLst>
                </a:hlinkClick>
              </a:rPr>
              <a:t>англ.</a:t>
            </a:r>
            <a:r>
              <a:rPr b="0" i="0" lang="ru-RU" sz="1200">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ru-RU" sz="1200">
                <a:solidFill>
                  <a:schemeClr val="dk1"/>
                </a:solidFill>
                <a:latin typeface="Calibri"/>
                <a:ea typeface="Calibri"/>
                <a:cs typeface="Calibri"/>
                <a:sym typeface="Calibri"/>
              </a:rPr>
              <a:t>В Caché существует встроенный язык программирования COS (Caché Object Script) основанный на языке программирования </a:t>
            </a:r>
            <a:r>
              <a:rPr b="0" i="0" lang="ru-RU" sz="1200" u="sng" strike="noStrike">
                <a:solidFill>
                  <a:schemeClr val="dk1"/>
                </a:solidFill>
                <a:latin typeface="Calibri"/>
                <a:ea typeface="Calibri"/>
                <a:cs typeface="Calibri"/>
                <a:sym typeface="Calibri"/>
                <a:hlinkClick r:id="rId8">
                  <a:extLst>
                    <a:ext uri="{A12FA001-AC4F-418D-AE19-62706E023703}">
                      <ahyp:hlinkClr val="tx"/>
                    </a:ext>
                  </a:extLst>
                </a:hlinkClick>
              </a:rPr>
              <a:t>MUMPS</a:t>
            </a:r>
            <a:r>
              <a:rPr b="0" i="0" lang="ru-RU"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a:p>
        </p:txBody>
      </p:sp>
      <p:sp>
        <p:nvSpPr>
          <p:cNvPr id="611" name="Google Shape;61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showMasterSp="0" type="title">
  <p:cSld name="TITLE">
    <p:spTree>
      <p:nvGrpSpPr>
        <p:cNvPr id="25" name="Shape 25"/>
        <p:cNvGrpSpPr/>
        <p:nvPr/>
      </p:nvGrpSpPr>
      <p:grpSpPr>
        <a:xfrm>
          <a:off x="0" y="0"/>
          <a:ext cx="0" cy="0"/>
          <a:chOff x="0" y="0"/>
          <a:chExt cx="0" cy="0"/>
        </a:xfrm>
      </p:grpSpPr>
      <p:grpSp>
        <p:nvGrpSpPr>
          <p:cNvPr id="26" name="Google Shape;26;p40"/>
          <p:cNvGrpSpPr/>
          <p:nvPr/>
        </p:nvGrpSpPr>
        <p:grpSpPr>
          <a:xfrm>
            <a:off x="0" y="0"/>
            <a:ext cx="9144000" cy="6858000"/>
            <a:chOff x="0" y="0"/>
            <a:chExt cx="5760" cy="4320"/>
          </a:xfrm>
        </p:grpSpPr>
        <p:sp>
          <p:nvSpPr>
            <p:cNvPr id="27" name="Google Shape;27;p40"/>
            <p:cNvSpPr/>
            <p:nvPr/>
          </p:nvSpPr>
          <p:spPr>
            <a:xfrm>
              <a:off x="0" y="0"/>
              <a:ext cx="2208" cy="432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 name="Google Shape;28;p40"/>
            <p:cNvSpPr/>
            <p:nvPr/>
          </p:nvSpPr>
          <p:spPr>
            <a:xfrm>
              <a:off x="1081" y="1065"/>
              <a:ext cx="4679" cy="1596"/>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9" name="Google Shape;29;p40"/>
            <p:cNvGrpSpPr/>
            <p:nvPr/>
          </p:nvGrpSpPr>
          <p:grpSpPr>
            <a:xfrm>
              <a:off x="0" y="672"/>
              <a:ext cx="1806" cy="1989"/>
              <a:chOff x="0" y="672"/>
              <a:chExt cx="1806" cy="1989"/>
            </a:xfrm>
          </p:grpSpPr>
          <p:sp>
            <p:nvSpPr>
              <p:cNvPr id="30" name="Google Shape;30;p40"/>
              <p:cNvSpPr/>
              <p:nvPr/>
            </p:nvSpPr>
            <p:spPr>
              <a:xfrm>
                <a:off x="361" y="2257"/>
                <a:ext cx="363" cy="404"/>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 name="Google Shape;31;p40"/>
              <p:cNvSpPr/>
              <p:nvPr/>
            </p:nvSpPr>
            <p:spPr>
              <a:xfrm>
                <a:off x="1081" y="1065"/>
                <a:ext cx="362" cy="405"/>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 name="Google Shape;32;p40"/>
              <p:cNvSpPr/>
              <p:nvPr/>
            </p:nvSpPr>
            <p:spPr>
              <a:xfrm>
                <a:off x="1437" y="672"/>
                <a:ext cx="369" cy="400"/>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 name="Google Shape;33;p40"/>
              <p:cNvSpPr/>
              <p:nvPr/>
            </p:nvSpPr>
            <p:spPr>
              <a:xfrm>
                <a:off x="719" y="2257"/>
                <a:ext cx="368" cy="404"/>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 name="Google Shape;34;p40"/>
              <p:cNvSpPr/>
              <p:nvPr/>
            </p:nvSpPr>
            <p:spPr>
              <a:xfrm>
                <a:off x="1437" y="1065"/>
                <a:ext cx="369" cy="405"/>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 name="Google Shape;35;p40"/>
              <p:cNvSpPr/>
              <p:nvPr/>
            </p:nvSpPr>
            <p:spPr>
              <a:xfrm>
                <a:off x="719" y="1464"/>
                <a:ext cx="368" cy="399"/>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 name="Google Shape;36;p40"/>
              <p:cNvSpPr/>
              <p:nvPr/>
            </p:nvSpPr>
            <p:spPr>
              <a:xfrm>
                <a:off x="0" y="1464"/>
                <a:ext cx="367" cy="399"/>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 name="Google Shape;37;p40"/>
              <p:cNvSpPr/>
              <p:nvPr/>
            </p:nvSpPr>
            <p:spPr>
              <a:xfrm>
                <a:off x="1081" y="1464"/>
                <a:ext cx="362" cy="399"/>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 name="Google Shape;38;p40"/>
              <p:cNvSpPr/>
              <p:nvPr/>
            </p:nvSpPr>
            <p:spPr>
              <a:xfrm>
                <a:off x="361" y="1857"/>
                <a:ext cx="363" cy="406"/>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 name="Google Shape;39;p40"/>
              <p:cNvSpPr/>
              <p:nvPr/>
            </p:nvSpPr>
            <p:spPr>
              <a:xfrm>
                <a:off x="719" y="1857"/>
                <a:ext cx="368" cy="406"/>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40" name="Google Shape;40;p40"/>
          <p:cNvSpPr txBox="1"/>
          <p:nvPr>
            <p:ph type="ctrTitle"/>
          </p:nvPr>
        </p:nvSpPr>
        <p:spPr>
          <a:xfrm>
            <a:off x="2971800" y="1828800"/>
            <a:ext cx="6019800" cy="2209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50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0"/>
          <p:cNvSpPr txBox="1"/>
          <p:nvPr>
            <p:ph idx="1" type="subTitle"/>
          </p:nvPr>
        </p:nvSpPr>
        <p:spPr>
          <a:xfrm>
            <a:off x="2971800" y="4267200"/>
            <a:ext cx="6019800" cy="1752600"/>
          </a:xfrm>
          <a:prstGeom prst="rect">
            <a:avLst/>
          </a:prstGeom>
          <a:noFill/>
          <a:ln>
            <a:noFill/>
          </a:ln>
        </p:spPr>
        <p:txBody>
          <a:bodyPr anchorCtr="0" anchor="t" bIns="45700" lIns="91425" spcFirstLastPara="1" rIns="91425" wrap="square" tIns="45700">
            <a:noAutofit/>
          </a:bodyPr>
          <a:lstStyle>
            <a:lvl1pPr lvl="0" algn="l">
              <a:spcBef>
                <a:spcPts val="680"/>
              </a:spcBef>
              <a:spcAft>
                <a:spcPts val="0"/>
              </a:spcAft>
              <a:buSzPts val="2550"/>
              <a:buFont typeface="Noto Sans Symbols"/>
              <a:buNone/>
              <a:defRPr sz="3400"/>
            </a:lvl1pPr>
            <a:lvl2pPr lvl="1" algn="l">
              <a:spcBef>
                <a:spcPts val="360"/>
              </a:spcBef>
              <a:spcAft>
                <a:spcPts val="0"/>
              </a:spcAft>
              <a:buSzPts val="1440"/>
              <a:buChar char="◻"/>
              <a:defRPr/>
            </a:lvl2pPr>
            <a:lvl3pPr lvl="2" algn="l">
              <a:spcBef>
                <a:spcPts val="360"/>
              </a:spcBef>
              <a:spcAft>
                <a:spcPts val="0"/>
              </a:spcAft>
              <a:buSzPts val="1170"/>
              <a:buChar char="■"/>
              <a:defRPr/>
            </a:lvl3pPr>
            <a:lvl4pPr lvl="3" algn="l">
              <a:spcBef>
                <a:spcPts val="360"/>
              </a:spcBef>
              <a:spcAft>
                <a:spcPts val="0"/>
              </a:spcAft>
              <a:buSzPts val="1260"/>
              <a:buChar char="◻"/>
              <a:defRPr/>
            </a:lvl4pPr>
            <a:lvl5pPr lvl="4" algn="l">
              <a:spcBef>
                <a:spcPts val="360"/>
              </a:spcBef>
              <a:spcAft>
                <a:spcPts val="0"/>
              </a:spcAft>
              <a:buSzPts val="1800"/>
              <a:buChar char="▪"/>
              <a:defRPr/>
            </a:lvl5pPr>
            <a:lvl6pPr lvl="5" algn="l">
              <a:spcBef>
                <a:spcPts val="360"/>
              </a:spcBef>
              <a:spcAft>
                <a:spcPts val="0"/>
              </a:spcAft>
              <a:buSzPts val="1800"/>
              <a:buChar char="▪"/>
              <a:defRPr/>
            </a:lvl6pPr>
            <a:lvl7pPr lvl="6" algn="l">
              <a:spcBef>
                <a:spcPts val="360"/>
              </a:spcBef>
              <a:spcAft>
                <a:spcPts val="0"/>
              </a:spcAft>
              <a:buSzPts val="1800"/>
              <a:buChar char="▪"/>
              <a:defRPr/>
            </a:lvl7pPr>
            <a:lvl8pPr lvl="7" algn="l">
              <a:spcBef>
                <a:spcPts val="360"/>
              </a:spcBef>
              <a:spcAft>
                <a:spcPts val="0"/>
              </a:spcAft>
              <a:buSzPts val="1800"/>
              <a:buChar char="▪"/>
              <a:defRPr/>
            </a:lvl8pPr>
            <a:lvl9pPr lvl="8" algn="l">
              <a:spcBef>
                <a:spcPts val="360"/>
              </a:spcBef>
              <a:spcAft>
                <a:spcPts val="0"/>
              </a:spcAft>
              <a:buSzPts val="1800"/>
              <a:buChar char="▪"/>
              <a:defRPr/>
            </a:lvl9pPr>
          </a:lstStyle>
          <a:p/>
        </p:txBody>
      </p:sp>
      <p:sp>
        <p:nvSpPr>
          <p:cNvPr id="42" name="Google Shape;42;p40"/>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0"/>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45" name="Shape 45"/>
        <p:cNvGrpSpPr/>
        <p:nvPr/>
      </p:nvGrpSpPr>
      <p:grpSpPr>
        <a:xfrm>
          <a:off x="0" y="0"/>
          <a:ext cx="0" cy="0"/>
          <a:chOff x="0" y="0"/>
          <a:chExt cx="0" cy="0"/>
        </a:xfrm>
      </p:grpSpPr>
      <p:sp>
        <p:nvSpPr>
          <p:cNvPr id="46" name="Google Shape;46;p43"/>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3"/>
          <p:cNvSpPr txBox="1"/>
          <p:nvPr>
            <p:ph idx="1" type="body"/>
          </p:nvPr>
        </p:nvSpPr>
        <p:spPr>
          <a:xfrm>
            <a:off x="457200" y="1981200"/>
            <a:ext cx="8229600" cy="38862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20040" lvl="1" marL="914400" algn="l">
              <a:spcBef>
                <a:spcPts val="360"/>
              </a:spcBef>
              <a:spcAft>
                <a:spcPts val="0"/>
              </a:spcAft>
              <a:buSzPts val="144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4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50" name="Google Shape;50;p43"/>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51" name="Shape 51"/>
        <p:cNvGrpSpPr/>
        <p:nvPr/>
      </p:nvGrpSpPr>
      <p:grpSpPr>
        <a:xfrm>
          <a:off x="0" y="0"/>
          <a:ext cx="0" cy="0"/>
          <a:chOff x="0" y="0"/>
          <a:chExt cx="0" cy="0"/>
        </a:xfrm>
      </p:grpSpPr>
      <p:sp>
        <p:nvSpPr>
          <p:cNvPr id="52" name="Google Shape;52;p44"/>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4"/>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54" name="Google Shape;54;p44"/>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55" name="Shape 55"/>
        <p:cNvGrpSpPr/>
        <p:nvPr/>
      </p:nvGrpSpPr>
      <p:grpSpPr>
        <a:xfrm>
          <a:off x="0" y="0"/>
          <a:ext cx="0" cy="0"/>
          <a:chOff x="0" y="0"/>
          <a:chExt cx="0" cy="0"/>
        </a:xfrm>
      </p:grpSpPr>
      <p:sp>
        <p:nvSpPr>
          <p:cNvPr id="56" name="Google Shape;56;p4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440"/>
              <a:buNone/>
              <a:defRPr sz="1800"/>
            </a:lvl2pPr>
            <a:lvl3pPr indent="-228600" lvl="2" marL="1371600" algn="l">
              <a:spcBef>
                <a:spcPts val="320"/>
              </a:spcBef>
              <a:spcAft>
                <a:spcPts val="0"/>
              </a:spcAft>
              <a:buSzPts val="1040"/>
              <a:buNone/>
              <a:defRPr sz="1600"/>
            </a:lvl3pPr>
            <a:lvl4pPr indent="-228600" lvl="3" marL="1828800" algn="l">
              <a:spcBef>
                <a:spcPts val="280"/>
              </a:spcBef>
              <a:spcAft>
                <a:spcPts val="0"/>
              </a:spcAft>
              <a:buSzPts val="980"/>
              <a:buNone/>
              <a:defRPr sz="1400"/>
            </a:lvl4pPr>
            <a:lvl5pPr indent="-228600" lvl="4" marL="2286000" algn="l">
              <a:spcBef>
                <a:spcPts val="280"/>
              </a:spcBef>
              <a:spcAft>
                <a:spcPts val="0"/>
              </a:spcAft>
              <a:buSzPts val="1400"/>
              <a:buNone/>
              <a:defRPr sz="1400"/>
            </a:lvl5pPr>
            <a:lvl6pPr indent="-228600" lvl="5" marL="2743200" algn="l">
              <a:spcBef>
                <a:spcPts val="280"/>
              </a:spcBef>
              <a:spcAft>
                <a:spcPts val="0"/>
              </a:spcAft>
              <a:buSzPts val="1400"/>
              <a:buNone/>
              <a:defRPr sz="1400"/>
            </a:lvl6pPr>
            <a:lvl7pPr indent="-228600" lvl="6" marL="3200400" algn="l">
              <a:spcBef>
                <a:spcPts val="280"/>
              </a:spcBef>
              <a:spcAft>
                <a:spcPts val="0"/>
              </a:spcAft>
              <a:buSzPts val="1400"/>
              <a:buNone/>
              <a:defRPr sz="1400"/>
            </a:lvl7pPr>
            <a:lvl8pPr indent="-228600" lvl="7" marL="3657600" algn="l">
              <a:spcBef>
                <a:spcPts val="280"/>
              </a:spcBef>
              <a:spcAft>
                <a:spcPts val="0"/>
              </a:spcAft>
              <a:buSzPts val="1400"/>
              <a:buNone/>
              <a:defRPr sz="1400"/>
            </a:lvl8pPr>
            <a:lvl9pPr indent="-228600" lvl="8" marL="4114800" algn="l">
              <a:spcBef>
                <a:spcPts val="280"/>
              </a:spcBef>
              <a:spcAft>
                <a:spcPts val="0"/>
              </a:spcAft>
              <a:buSzPts val="1400"/>
              <a:buNone/>
              <a:defRPr sz="1400"/>
            </a:lvl9pPr>
          </a:lstStyle>
          <a:p/>
        </p:txBody>
      </p:sp>
      <p:sp>
        <p:nvSpPr>
          <p:cNvPr id="58" name="Google Shape;58;p45"/>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60" name="Google Shape;60;p45"/>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61" name="Shape 61"/>
        <p:cNvGrpSpPr/>
        <p:nvPr/>
      </p:nvGrpSpPr>
      <p:grpSpPr>
        <a:xfrm>
          <a:off x="0" y="0"/>
          <a:ext cx="0" cy="0"/>
          <a:chOff x="0" y="0"/>
          <a:chExt cx="0" cy="0"/>
        </a:xfrm>
      </p:grpSpPr>
      <p:sp>
        <p:nvSpPr>
          <p:cNvPr id="62" name="Google Shape;62;p46"/>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6"/>
          <p:cNvSpPr txBox="1"/>
          <p:nvPr>
            <p:ph idx="1" type="body"/>
          </p:nvPr>
        </p:nvSpPr>
        <p:spPr>
          <a:xfrm>
            <a:off x="457200" y="1981200"/>
            <a:ext cx="4038600" cy="3886200"/>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50519" lvl="1" marL="914400" algn="l">
              <a:spcBef>
                <a:spcPts val="480"/>
              </a:spcBef>
              <a:spcAft>
                <a:spcPts val="0"/>
              </a:spcAft>
              <a:buSzPts val="1920"/>
              <a:buChar char="◻"/>
              <a:defRPr sz="2400"/>
            </a:lvl2pPr>
            <a:lvl3pPr indent="-311150" lvl="2" marL="1371600" algn="l">
              <a:spcBef>
                <a:spcPts val="400"/>
              </a:spcBef>
              <a:spcAft>
                <a:spcPts val="0"/>
              </a:spcAft>
              <a:buSzPts val="1300"/>
              <a:buChar char="■"/>
              <a:defRPr sz="2000"/>
            </a:lvl3pPr>
            <a:lvl4pPr indent="-308610" lvl="3" marL="1828800" algn="l">
              <a:spcBef>
                <a:spcPts val="360"/>
              </a:spcBef>
              <a:spcAft>
                <a:spcPts val="0"/>
              </a:spcAft>
              <a:buSzPts val="126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64" name="Google Shape;64;p46"/>
          <p:cNvSpPr txBox="1"/>
          <p:nvPr>
            <p:ph idx="2" type="body"/>
          </p:nvPr>
        </p:nvSpPr>
        <p:spPr>
          <a:xfrm>
            <a:off x="4648200" y="1981200"/>
            <a:ext cx="4038600" cy="3886200"/>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50519" lvl="1" marL="914400" algn="l">
              <a:spcBef>
                <a:spcPts val="480"/>
              </a:spcBef>
              <a:spcAft>
                <a:spcPts val="0"/>
              </a:spcAft>
              <a:buSzPts val="1920"/>
              <a:buChar char="◻"/>
              <a:defRPr sz="2400"/>
            </a:lvl2pPr>
            <a:lvl3pPr indent="-311150" lvl="2" marL="1371600" algn="l">
              <a:spcBef>
                <a:spcPts val="400"/>
              </a:spcBef>
              <a:spcAft>
                <a:spcPts val="0"/>
              </a:spcAft>
              <a:buSzPts val="1300"/>
              <a:buChar char="■"/>
              <a:defRPr sz="2000"/>
            </a:lvl3pPr>
            <a:lvl4pPr indent="-308610" lvl="3" marL="1828800" algn="l">
              <a:spcBef>
                <a:spcPts val="360"/>
              </a:spcBef>
              <a:spcAft>
                <a:spcPts val="0"/>
              </a:spcAft>
              <a:buSzPts val="126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65" name="Google Shape;65;p46"/>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6"/>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67" name="Google Shape;67;p46"/>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68" name="Shape 68"/>
        <p:cNvGrpSpPr/>
        <p:nvPr/>
      </p:nvGrpSpPr>
      <p:grpSpPr>
        <a:xfrm>
          <a:off x="0" y="0"/>
          <a:ext cx="0" cy="0"/>
          <a:chOff x="0" y="0"/>
          <a:chExt cx="0" cy="0"/>
        </a:xfrm>
      </p:grpSpPr>
      <p:sp>
        <p:nvSpPr>
          <p:cNvPr id="69" name="Google Shape;69;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6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71" name="Google Shape;71;p4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30200" lvl="1" marL="914400" algn="l">
              <a:spcBef>
                <a:spcPts val="400"/>
              </a:spcBef>
              <a:spcAft>
                <a:spcPts val="0"/>
              </a:spcAft>
              <a:buSzPts val="1600"/>
              <a:buChar char="◻"/>
              <a:defRPr sz="2000"/>
            </a:lvl2pPr>
            <a:lvl3pPr indent="-302894" lvl="2" marL="1371600" algn="l">
              <a:spcBef>
                <a:spcPts val="360"/>
              </a:spcBef>
              <a:spcAft>
                <a:spcPts val="0"/>
              </a:spcAft>
              <a:buSzPts val="1170"/>
              <a:buChar char="■"/>
              <a:defRPr sz="1800"/>
            </a:lvl3pPr>
            <a:lvl4pPr indent="-299719" lvl="3" marL="1828800" algn="l">
              <a:spcBef>
                <a:spcPts val="320"/>
              </a:spcBef>
              <a:spcAft>
                <a:spcPts val="0"/>
              </a:spcAft>
              <a:buSzPts val="112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72" name="Google Shape;72;p4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6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73" name="Google Shape;73;p4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30200" lvl="1" marL="914400" algn="l">
              <a:spcBef>
                <a:spcPts val="400"/>
              </a:spcBef>
              <a:spcAft>
                <a:spcPts val="0"/>
              </a:spcAft>
              <a:buSzPts val="1600"/>
              <a:buChar char="◻"/>
              <a:defRPr sz="2000"/>
            </a:lvl2pPr>
            <a:lvl3pPr indent="-302894" lvl="2" marL="1371600" algn="l">
              <a:spcBef>
                <a:spcPts val="360"/>
              </a:spcBef>
              <a:spcAft>
                <a:spcPts val="0"/>
              </a:spcAft>
              <a:buSzPts val="1170"/>
              <a:buChar char="■"/>
              <a:defRPr sz="1800"/>
            </a:lvl3pPr>
            <a:lvl4pPr indent="-299719" lvl="3" marL="1828800" algn="l">
              <a:spcBef>
                <a:spcPts val="320"/>
              </a:spcBef>
              <a:spcAft>
                <a:spcPts val="0"/>
              </a:spcAft>
              <a:buSzPts val="112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74" name="Google Shape;74;p47"/>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7"/>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76" name="Google Shape;76;p47"/>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77" name="Shape 77"/>
        <p:cNvGrpSpPr/>
        <p:nvPr/>
      </p:nvGrpSpPr>
      <p:grpSpPr>
        <a:xfrm>
          <a:off x="0" y="0"/>
          <a:ext cx="0" cy="0"/>
          <a:chOff x="0" y="0"/>
          <a:chExt cx="0" cy="0"/>
        </a:xfrm>
      </p:grpSpPr>
      <p:sp>
        <p:nvSpPr>
          <p:cNvPr id="78" name="Google Shape;78;p48"/>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8"/>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81" name="Google Shape;81;p48"/>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82" name="Shape 82"/>
        <p:cNvGrpSpPr/>
        <p:nvPr/>
      </p:nvGrpSpPr>
      <p:grpSpPr>
        <a:xfrm>
          <a:off x="0" y="0"/>
          <a:ext cx="0" cy="0"/>
          <a:chOff x="0" y="0"/>
          <a:chExt cx="0" cy="0"/>
        </a:xfrm>
      </p:grpSpPr>
      <p:sp>
        <p:nvSpPr>
          <p:cNvPr id="83" name="Google Shape;83;p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81000" lvl="0" marL="457200" algn="l">
              <a:spcBef>
                <a:spcPts val="640"/>
              </a:spcBef>
              <a:spcAft>
                <a:spcPts val="0"/>
              </a:spcAft>
              <a:buSzPts val="2400"/>
              <a:buChar char="■"/>
              <a:defRPr sz="3200"/>
            </a:lvl1pPr>
            <a:lvl2pPr indent="-370840" lvl="1" marL="914400" algn="l">
              <a:spcBef>
                <a:spcPts val="560"/>
              </a:spcBef>
              <a:spcAft>
                <a:spcPts val="0"/>
              </a:spcAft>
              <a:buSzPts val="2240"/>
              <a:buChar char="◻"/>
              <a:defRPr sz="2800"/>
            </a:lvl2pPr>
            <a:lvl3pPr indent="-327660" lvl="2" marL="1371600" algn="l">
              <a:spcBef>
                <a:spcPts val="480"/>
              </a:spcBef>
              <a:spcAft>
                <a:spcPts val="0"/>
              </a:spcAft>
              <a:buSzPts val="1560"/>
              <a:buChar char="■"/>
              <a:defRPr sz="2400"/>
            </a:lvl3pPr>
            <a:lvl4pPr indent="-317500" lvl="3" marL="1828800" algn="l">
              <a:spcBef>
                <a:spcPts val="400"/>
              </a:spcBef>
              <a:spcAft>
                <a:spcPts val="0"/>
              </a:spcAft>
              <a:buSzPts val="14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85" name="Google Shape;85;p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6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86" name="Google Shape;86;p49"/>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9"/>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88" name="Google Shape;88;p49"/>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89" name="Shape 89"/>
        <p:cNvGrpSpPr/>
        <p:nvPr/>
      </p:nvGrpSpPr>
      <p:grpSpPr>
        <a:xfrm>
          <a:off x="0" y="0"/>
          <a:ext cx="0" cy="0"/>
          <a:chOff x="0" y="0"/>
          <a:chExt cx="0" cy="0"/>
        </a:xfrm>
      </p:grpSpPr>
      <p:sp>
        <p:nvSpPr>
          <p:cNvPr id="90" name="Google Shape;90;p5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0"/>
          <p:cNvSpPr/>
          <p:nvPr>
            <p:ph idx="2" type="pic"/>
          </p:nvPr>
        </p:nvSpPr>
        <p:spPr>
          <a:xfrm>
            <a:off x="1792288" y="612775"/>
            <a:ext cx="5486400" cy="4114800"/>
          </a:xfrm>
          <a:prstGeom prst="rect">
            <a:avLst/>
          </a:prstGeom>
          <a:noFill/>
          <a:ln>
            <a:noFill/>
          </a:ln>
        </p:spPr>
      </p:sp>
      <p:sp>
        <p:nvSpPr>
          <p:cNvPr id="92" name="Google Shape;92;p5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6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93" name="Google Shape;93;p50"/>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95" name="Google Shape;95;p50"/>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96" name="Shape 96"/>
        <p:cNvGrpSpPr/>
        <p:nvPr/>
      </p:nvGrpSpPr>
      <p:grpSpPr>
        <a:xfrm>
          <a:off x="0" y="0"/>
          <a:ext cx="0" cy="0"/>
          <a:chOff x="0" y="0"/>
          <a:chExt cx="0" cy="0"/>
        </a:xfrm>
      </p:grpSpPr>
      <p:sp>
        <p:nvSpPr>
          <p:cNvPr id="97" name="Google Shape;97;p51"/>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1"/>
          <p:cNvSpPr txBox="1"/>
          <p:nvPr>
            <p:ph idx="1" type="body"/>
          </p:nvPr>
        </p:nvSpPr>
        <p:spPr>
          <a:xfrm rot="5400000">
            <a:off x="2628900" y="-190500"/>
            <a:ext cx="3886200" cy="82296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20040" lvl="1" marL="914400" algn="l">
              <a:spcBef>
                <a:spcPts val="360"/>
              </a:spcBef>
              <a:spcAft>
                <a:spcPts val="0"/>
              </a:spcAft>
              <a:buSzPts val="144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9" name="Google Shape;99;p5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01" name="Google Shape;101;p51"/>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102" name="Shape 102"/>
        <p:cNvGrpSpPr/>
        <p:nvPr/>
      </p:nvGrpSpPr>
      <p:grpSpPr>
        <a:xfrm>
          <a:off x="0" y="0"/>
          <a:ext cx="0" cy="0"/>
          <a:chOff x="0" y="0"/>
          <a:chExt cx="0" cy="0"/>
        </a:xfrm>
      </p:grpSpPr>
      <p:sp>
        <p:nvSpPr>
          <p:cNvPr id="103" name="Google Shape;103;p52"/>
          <p:cNvSpPr txBox="1"/>
          <p:nvPr>
            <p:ph type="title"/>
          </p:nvPr>
        </p:nvSpPr>
        <p:spPr>
          <a:xfrm rot="5400000">
            <a:off x="4953000" y="2133600"/>
            <a:ext cx="5410200"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2"/>
          <p:cNvSpPr txBox="1"/>
          <p:nvPr>
            <p:ph idx="1" type="body"/>
          </p:nvPr>
        </p:nvSpPr>
        <p:spPr>
          <a:xfrm rot="5400000">
            <a:off x="762000" y="152400"/>
            <a:ext cx="5410200" cy="60198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20040" lvl="1" marL="914400" algn="l">
              <a:spcBef>
                <a:spcPts val="360"/>
              </a:spcBef>
              <a:spcAft>
                <a:spcPts val="0"/>
              </a:spcAft>
              <a:buSzPts val="144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5" name="Google Shape;105;p5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07" name="Google Shape;107;p52"/>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таблица" type="tbl">
  <p:cSld name="TABLE">
    <p:spTree>
      <p:nvGrpSpPr>
        <p:cNvPr id="108" name="Shape 108"/>
        <p:cNvGrpSpPr/>
        <p:nvPr/>
      </p:nvGrpSpPr>
      <p:grpSpPr>
        <a:xfrm>
          <a:off x="0" y="0"/>
          <a:ext cx="0" cy="0"/>
          <a:chOff x="0" y="0"/>
          <a:chExt cx="0" cy="0"/>
        </a:xfrm>
      </p:grpSpPr>
      <p:sp>
        <p:nvSpPr>
          <p:cNvPr id="109" name="Google Shape;109;p53"/>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1pPr>
            <a:lvl2pPr indent="0" lvl="1"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2pPr>
            <a:lvl3pPr indent="0" lvl="2"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3pPr>
            <a:lvl4pPr indent="0" lvl="3"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4pPr>
            <a:lvl5pPr indent="0" lvl="4"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5pPr>
            <a:lvl6pPr indent="0" lvl="5"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6pPr>
            <a:lvl7pPr indent="0" lvl="6"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7pPr>
            <a:lvl8pPr indent="0" lvl="7"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8pPr>
            <a:lvl9pPr indent="0" lvl="8" marL="0" marR="0" algn="r">
              <a:lnSpc>
                <a:spcPct val="100000"/>
              </a:lnSpc>
              <a:spcBef>
                <a:spcPts val="0"/>
              </a:spcBef>
              <a:spcAft>
                <a:spcPts val="0"/>
              </a:spcAft>
              <a:buClr>
                <a:schemeClr val="dk1"/>
              </a:buClr>
              <a:buSzPts val="1200"/>
              <a:buFont typeface="Arial Black"/>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12" name="Google Shape;112;p53"/>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29" name="Shape 129"/>
        <p:cNvGrpSpPr/>
        <p:nvPr/>
      </p:nvGrpSpPr>
      <p:grpSpPr>
        <a:xfrm>
          <a:off x="0" y="0"/>
          <a:ext cx="0" cy="0"/>
          <a:chOff x="0" y="0"/>
          <a:chExt cx="0" cy="0"/>
        </a:xfrm>
      </p:grpSpPr>
      <p:sp>
        <p:nvSpPr>
          <p:cNvPr id="130" name="Google Shape;130;p42"/>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42"/>
          <p:cNvSpPr txBox="1"/>
          <p:nvPr>
            <p:ph idx="1" type="body"/>
          </p:nvPr>
        </p:nvSpPr>
        <p:spPr>
          <a:xfrm>
            <a:off x="457200" y="1981200"/>
            <a:ext cx="8229600" cy="38862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20040" lvl="1" marL="914400" algn="l">
              <a:spcBef>
                <a:spcPts val="360"/>
              </a:spcBef>
              <a:spcAft>
                <a:spcPts val="0"/>
              </a:spcAft>
              <a:buSzPts val="144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2" name="Google Shape;132;p4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34" name="Google Shape;134;p42"/>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showMasterSp="0" type="title">
  <p:cSld name="TITLE">
    <p:spTree>
      <p:nvGrpSpPr>
        <p:cNvPr id="135" name="Shape 135"/>
        <p:cNvGrpSpPr/>
        <p:nvPr/>
      </p:nvGrpSpPr>
      <p:grpSpPr>
        <a:xfrm>
          <a:off x="0" y="0"/>
          <a:ext cx="0" cy="0"/>
          <a:chOff x="0" y="0"/>
          <a:chExt cx="0" cy="0"/>
        </a:xfrm>
      </p:grpSpPr>
      <p:grpSp>
        <p:nvGrpSpPr>
          <p:cNvPr id="136" name="Google Shape;136;p54"/>
          <p:cNvGrpSpPr/>
          <p:nvPr/>
        </p:nvGrpSpPr>
        <p:grpSpPr>
          <a:xfrm>
            <a:off x="0" y="0"/>
            <a:ext cx="9144000" cy="6858000"/>
            <a:chOff x="0" y="0"/>
            <a:chExt cx="5760" cy="4320"/>
          </a:xfrm>
        </p:grpSpPr>
        <p:sp>
          <p:nvSpPr>
            <p:cNvPr id="137" name="Google Shape;137;p54"/>
            <p:cNvSpPr/>
            <p:nvPr/>
          </p:nvSpPr>
          <p:spPr>
            <a:xfrm>
              <a:off x="0" y="0"/>
              <a:ext cx="2208" cy="432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38" name="Google Shape;138;p54"/>
            <p:cNvSpPr/>
            <p:nvPr/>
          </p:nvSpPr>
          <p:spPr>
            <a:xfrm>
              <a:off x="1081" y="1065"/>
              <a:ext cx="4679" cy="1596"/>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139" name="Google Shape;139;p54"/>
            <p:cNvGrpSpPr/>
            <p:nvPr/>
          </p:nvGrpSpPr>
          <p:grpSpPr>
            <a:xfrm>
              <a:off x="0" y="672"/>
              <a:ext cx="1806" cy="1989"/>
              <a:chOff x="0" y="672"/>
              <a:chExt cx="1806" cy="1989"/>
            </a:xfrm>
          </p:grpSpPr>
          <p:sp>
            <p:nvSpPr>
              <p:cNvPr id="140" name="Google Shape;140;p54"/>
              <p:cNvSpPr/>
              <p:nvPr/>
            </p:nvSpPr>
            <p:spPr>
              <a:xfrm>
                <a:off x="361" y="2257"/>
                <a:ext cx="363" cy="404"/>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1" name="Google Shape;141;p54"/>
              <p:cNvSpPr/>
              <p:nvPr/>
            </p:nvSpPr>
            <p:spPr>
              <a:xfrm>
                <a:off x="1081" y="1065"/>
                <a:ext cx="362" cy="405"/>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2" name="Google Shape;142;p54"/>
              <p:cNvSpPr/>
              <p:nvPr/>
            </p:nvSpPr>
            <p:spPr>
              <a:xfrm>
                <a:off x="1437" y="672"/>
                <a:ext cx="369" cy="400"/>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3" name="Google Shape;143;p54"/>
              <p:cNvSpPr/>
              <p:nvPr/>
            </p:nvSpPr>
            <p:spPr>
              <a:xfrm>
                <a:off x="719" y="2257"/>
                <a:ext cx="368" cy="404"/>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4" name="Google Shape;144;p54"/>
              <p:cNvSpPr/>
              <p:nvPr/>
            </p:nvSpPr>
            <p:spPr>
              <a:xfrm>
                <a:off x="1437" y="1065"/>
                <a:ext cx="369" cy="405"/>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5" name="Google Shape;145;p54"/>
              <p:cNvSpPr/>
              <p:nvPr/>
            </p:nvSpPr>
            <p:spPr>
              <a:xfrm>
                <a:off x="719" y="1464"/>
                <a:ext cx="368" cy="399"/>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6" name="Google Shape;146;p54"/>
              <p:cNvSpPr/>
              <p:nvPr/>
            </p:nvSpPr>
            <p:spPr>
              <a:xfrm>
                <a:off x="0" y="1464"/>
                <a:ext cx="367" cy="399"/>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7" name="Google Shape;147;p54"/>
              <p:cNvSpPr/>
              <p:nvPr/>
            </p:nvSpPr>
            <p:spPr>
              <a:xfrm>
                <a:off x="1081" y="1464"/>
                <a:ext cx="362" cy="399"/>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8" name="Google Shape;148;p54"/>
              <p:cNvSpPr/>
              <p:nvPr/>
            </p:nvSpPr>
            <p:spPr>
              <a:xfrm>
                <a:off x="361" y="1857"/>
                <a:ext cx="363" cy="406"/>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9" name="Google Shape;149;p54"/>
              <p:cNvSpPr/>
              <p:nvPr/>
            </p:nvSpPr>
            <p:spPr>
              <a:xfrm>
                <a:off x="719" y="1857"/>
                <a:ext cx="368" cy="406"/>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sp>
        <p:nvSpPr>
          <p:cNvPr id="150" name="Google Shape;150;p54"/>
          <p:cNvSpPr txBox="1"/>
          <p:nvPr>
            <p:ph type="ctrTitle"/>
          </p:nvPr>
        </p:nvSpPr>
        <p:spPr>
          <a:xfrm>
            <a:off x="2971800" y="1828800"/>
            <a:ext cx="6019800" cy="2209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50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54"/>
          <p:cNvSpPr txBox="1"/>
          <p:nvPr>
            <p:ph idx="1" type="subTitle"/>
          </p:nvPr>
        </p:nvSpPr>
        <p:spPr>
          <a:xfrm>
            <a:off x="2971800" y="4267200"/>
            <a:ext cx="6019800" cy="1752600"/>
          </a:xfrm>
          <a:prstGeom prst="rect">
            <a:avLst/>
          </a:prstGeom>
          <a:noFill/>
          <a:ln>
            <a:noFill/>
          </a:ln>
        </p:spPr>
        <p:txBody>
          <a:bodyPr anchorCtr="0" anchor="t" bIns="45700" lIns="91425" spcFirstLastPara="1" rIns="91425" wrap="square" tIns="45700">
            <a:noAutofit/>
          </a:bodyPr>
          <a:lstStyle>
            <a:lvl1pPr lvl="0" algn="l">
              <a:spcBef>
                <a:spcPts val="680"/>
              </a:spcBef>
              <a:spcAft>
                <a:spcPts val="0"/>
              </a:spcAft>
              <a:buSzPts val="2550"/>
              <a:buFont typeface="Noto Sans Symbols"/>
              <a:buNone/>
              <a:defRPr sz="3400"/>
            </a:lvl1pPr>
            <a:lvl2pPr lvl="1" algn="l">
              <a:spcBef>
                <a:spcPts val="360"/>
              </a:spcBef>
              <a:spcAft>
                <a:spcPts val="0"/>
              </a:spcAft>
              <a:buSzPts val="1440"/>
              <a:buChar char="◻"/>
              <a:defRPr/>
            </a:lvl2pPr>
            <a:lvl3pPr lvl="2" algn="l">
              <a:spcBef>
                <a:spcPts val="360"/>
              </a:spcBef>
              <a:spcAft>
                <a:spcPts val="0"/>
              </a:spcAft>
              <a:buSzPts val="1170"/>
              <a:buChar char="■"/>
              <a:defRPr/>
            </a:lvl3pPr>
            <a:lvl4pPr lvl="3" algn="l">
              <a:spcBef>
                <a:spcPts val="360"/>
              </a:spcBef>
              <a:spcAft>
                <a:spcPts val="0"/>
              </a:spcAft>
              <a:buSzPts val="1260"/>
              <a:buChar char="◻"/>
              <a:defRPr/>
            </a:lvl4pPr>
            <a:lvl5pPr lvl="4" algn="l">
              <a:spcBef>
                <a:spcPts val="360"/>
              </a:spcBef>
              <a:spcAft>
                <a:spcPts val="0"/>
              </a:spcAft>
              <a:buSzPts val="1800"/>
              <a:buChar char="▪"/>
              <a:defRPr/>
            </a:lvl5pPr>
            <a:lvl6pPr lvl="5" algn="l">
              <a:spcBef>
                <a:spcPts val="360"/>
              </a:spcBef>
              <a:spcAft>
                <a:spcPts val="0"/>
              </a:spcAft>
              <a:buSzPts val="1800"/>
              <a:buChar char="▪"/>
              <a:defRPr/>
            </a:lvl6pPr>
            <a:lvl7pPr lvl="6" algn="l">
              <a:spcBef>
                <a:spcPts val="360"/>
              </a:spcBef>
              <a:spcAft>
                <a:spcPts val="0"/>
              </a:spcAft>
              <a:buSzPts val="1800"/>
              <a:buChar char="▪"/>
              <a:defRPr/>
            </a:lvl7pPr>
            <a:lvl8pPr lvl="7" algn="l">
              <a:spcBef>
                <a:spcPts val="360"/>
              </a:spcBef>
              <a:spcAft>
                <a:spcPts val="0"/>
              </a:spcAft>
              <a:buSzPts val="1800"/>
              <a:buChar char="▪"/>
              <a:defRPr/>
            </a:lvl8pPr>
            <a:lvl9pPr lvl="8" algn="l">
              <a:spcBef>
                <a:spcPts val="360"/>
              </a:spcBef>
              <a:spcAft>
                <a:spcPts val="0"/>
              </a:spcAft>
              <a:buSzPts val="1800"/>
              <a:buChar char="▪"/>
              <a:defRPr/>
            </a:lvl9pPr>
          </a:lstStyle>
          <a:p/>
        </p:txBody>
      </p:sp>
      <p:sp>
        <p:nvSpPr>
          <p:cNvPr id="152" name="Google Shape;152;p54"/>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54"/>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54"/>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155" name="Shape 155"/>
        <p:cNvGrpSpPr/>
        <p:nvPr/>
      </p:nvGrpSpPr>
      <p:grpSpPr>
        <a:xfrm>
          <a:off x="0" y="0"/>
          <a:ext cx="0" cy="0"/>
          <a:chOff x="0" y="0"/>
          <a:chExt cx="0" cy="0"/>
        </a:xfrm>
      </p:grpSpPr>
      <p:sp>
        <p:nvSpPr>
          <p:cNvPr id="156" name="Google Shape;156;p5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5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440"/>
              <a:buNone/>
              <a:defRPr sz="1800"/>
            </a:lvl2pPr>
            <a:lvl3pPr indent="-228600" lvl="2" marL="1371600" algn="l">
              <a:spcBef>
                <a:spcPts val="320"/>
              </a:spcBef>
              <a:spcAft>
                <a:spcPts val="0"/>
              </a:spcAft>
              <a:buSzPts val="1040"/>
              <a:buNone/>
              <a:defRPr sz="1600"/>
            </a:lvl3pPr>
            <a:lvl4pPr indent="-228600" lvl="3" marL="1828800" algn="l">
              <a:spcBef>
                <a:spcPts val="280"/>
              </a:spcBef>
              <a:spcAft>
                <a:spcPts val="0"/>
              </a:spcAft>
              <a:buSzPts val="980"/>
              <a:buNone/>
              <a:defRPr sz="1400"/>
            </a:lvl4pPr>
            <a:lvl5pPr indent="-228600" lvl="4" marL="2286000" algn="l">
              <a:spcBef>
                <a:spcPts val="280"/>
              </a:spcBef>
              <a:spcAft>
                <a:spcPts val="0"/>
              </a:spcAft>
              <a:buSzPts val="1400"/>
              <a:buNone/>
              <a:defRPr sz="1400"/>
            </a:lvl5pPr>
            <a:lvl6pPr indent="-228600" lvl="5" marL="2743200" algn="l">
              <a:spcBef>
                <a:spcPts val="280"/>
              </a:spcBef>
              <a:spcAft>
                <a:spcPts val="0"/>
              </a:spcAft>
              <a:buSzPts val="1400"/>
              <a:buNone/>
              <a:defRPr sz="1400"/>
            </a:lvl6pPr>
            <a:lvl7pPr indent="-228600" lvl="6" marL="3200400" algn="l">
              <a:spcBef>
                <a:spcPts val="280"/>
              </a:spcBef>
              <a:spcAft>
                <a:spcPts val="0"/>
              </a:spcAft>
              <a:buSzPts val="1400"/>
              <a:buNone/>
              <a:defRPr sz="1400"/>
            </a:lvl7pPr>
            <a:lvl8pPr indent="-228600" lvl="7" marL="3657600" algn="l">
              <a:spcBef>
                <a:spcPts val="280"/>
              </a:spcBef>
              <a:spcAft>
                <a:spcPts val="0"/>
              </a:spcAft>
              <a:buSzPts val="1400"/>
              <a:buNone/>
              <a:defRPr sz="1400"/>
            </a:lvl8pPr>
            <a:lvl9pPr indent="-228600" lvl="8" marL="4114800" algn="l">
              <a:spcBef>
                <a:spcPts val="280"/>
              </a:spcBef>
              <a:spcAft>
                <a:spcPts val="0"/>
              </a:spcAft>
              <a:buSzPts val="1400"/>
              <a:buNone/>
              <a:defRPr sz="1400"/>
            </a:lvl9pPr>
          </a:lstStyle>
          <a:p/>
        </p:txBody>
      </p:sp>
      <p:sp>
        <p:nvSpPr>
          <p:cNvPr id="158" name="Google Shape;158;p55"/>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5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60" name="Google Shape;160;p55"/>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161" name="Shape 161"/>
        <p:cNvGrpSpPr/>
        <p:nvPr/>
      </p:nvGrpSpPr>
      <p:grpSpPr>
        <a:xfrm>
          <a:off x="0" y="0"/>
          <a:ext cx="0" cy="0"/>
          <a:chOff x="0" y="0"/>
          <a:chExt cx="0" cy="0"/>
        </a:xfrm>
      </p:grpSpPr>
      <p:sp>
        <p:nvSpPr>
          <p:cNvPr id="162" name="Google Shape;162;p56"/>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56"/>
          <p:cNvSpPr txBox="1"/>
          <p:nvPr>
            <p:ph idx="1" type="body"/>
          </p:nvPr>
        </p:nvSpPr>
        <p:spPr>
          <a:xfrm>
            <a:off x="457200" y="1981200"/>
            <a:ext cx="4038600" cy="3886200"/>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50519" lvl="1" marL="914400" algn="l">
              <a:spcBef>
                <a:spcPts val="480"/>
              </a:spcBef>
              <a:spcAft>
                <a:spcPts val="0"/>
              </a:spcAft>
              <a:buSzPts val="1920"/>
              <a:buChar char="◻"/>
              <a:defRPr sz="2400"/>
            </a:lvl2pPr>
            <a:lvl3pPr indent="-311150" lvl="2" marL="1371600" algn="l">
              <a:spcBef>
                <a:spcPts val="400"/>
              </a:spcBef>
              <a:spcAft>
                <a:spcPts val="0"/>
              </a:spcAft>
              <a:buSzPts val="1300"/>
              <a:buChar char="■"/>
              <a:defRPr sz="2000"/>
            </a:lvl3pPr>
            <a:lvl4pPr indent="-308610" lvl="3" marL="1828800" algn="l">
              <a:spcBef>
                <a:spcPts val="360"/>
              </a:spcBef>
              <a:spcAft>
                <a:spcPts val="0"/>
              </a:spcAft>
              <a:buSzPts val="126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64" name="Google Shape;164;p56"/>
          <p:cNvSpPr txBox="1"/>
          <p:nvPr>
            <p:ph idx="2" type="body"/>
          </p:nvPr>
        </p:nvSpPr>
        <p:spPr>
          <a:xfrm>
            <a:off x="4648200" y="1981200"/>
            <a:ext cx="4038600" cy="3886200"/>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50519" lvl="1" marL="914400" algn="l">
              <a:spcBef>
                <a:spcPts val="480"/>
              </a:spcBef>
              <a:spcAft>
                <a:spcPts val="0"/>
              </a:spcAft>
              <a:buSzPts val="1920"/>
              <a:buChar char="◻"/>
              <a:defRPr sz="2400"/>
            </a:lvl2pPr>
            <a:lvl3pPr indent="-311150" lvl="2" marL="1371600" algn="l">
              <a:spcBef>
                <a:spcPts val="400"/>
              </a:spcBef>
              <a:spcAft>
                <a:spcPts val="0"/>
              </a:spcAft>
              <a:buSzPts val="1300"/>
              <a:buChar char="■"/>
              <a:defRPr sz="2000"/>
            </a:lvl3pPr>
            <a:lvl4pPr indent="-308610" lvl="3" marL="1828800" algn="l">
              <a:spcBef>
                <a:spcPts val="360"/>
              </a:spcBef>
              <a:spcAft>
                <a:spcPts val="0"/>
              </a:spcAft>
              <a:buSzPts val="126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65" name="Google Shape;165;p56"/>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56"/>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67" name="Google Shape;167;p56"/>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168" name="Shape 168"/>
        <p:cNvGrpSpPr/>
        <p:nvPr/>
      </p:nvGrpSpPr>
      <p:grpSpPr>
        <a:xfrm>
          <a:off x="0" y="0"/>
          <a:ext cx="0" cy="0"/>
          <a:chOff x="0" y="0"/>
          <a:chExt cx="0" cy="0"/>
        </a:xfrm>
      </p:grpSpPr>
      <p:sp>
        <p:nvSpPr>
          <p:cNvPr id="169" name="Google Shape;1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5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6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71" name="Google Shape;171;p5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30200" lvl="1" marL="914400" algn="l">
              <a:spcBef>
                <a:spcPts val="400"/>
              </a:spcBef>
              <a:spcAft>
                <a:spcPts val="0"/>
              </a:spcAft>
              <a:buSzPts val="1600"/>
              <a:buChar char="◻"/>
              <a:defRPr sz="2000"/>
            </a:lvl2pPr>
            <a:lvl3pPr indent="-302894" lvl="2" marL="1371600" algn="l">
              <a:spcBef>
                <a:spcPts val="360"/>
              </a:spcBef>
              <a:spcAft>
                <a:spcPts val="0"/>
              </a:spcAft>
              <a:buSzPts val="1170"/>
              <a:buChar char="■"/>
              <a:defRPr sz="1800"/>
            </a:lvl3pPr>
            <a:lvl4pPr indent="-299719" lvl="3" marL="1828800" algn="l">
              <a:spcBef>
                <a:spcPts val="320"/>
              </a:spcBef>
              <a:spcAft>
                <a:spcPts val="0"/>
              </a:spcAft>
              <a:buSzPts val="112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72" name="Google Shape;172;p5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6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73" name="Google Shape;173;p5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30200" lvl="1" marL="914400" algn="l">
              <a:spcBef>
                <a:spcPts val="400"/>
              </a:spcBef>
              <a:spcAft>
                <a:spcPts val="0"/>
              </a:spcAft>
              <a:buSzPts val="1600"/>
              <a:buChar char="◻"/>
              <a:defRPr sz="2000"/>
            </a:lvl2pPr>
            <a:lvl3pPr indent="-302894" lvl="2" marL="1371600" algn="l">
              <a:spcBef>
                <a:spcPts val="360"/>
              </a:spcBef>
              <a:spcAft>
                <a:spcPts val="0"/>
              </a:spcAft>
              <a:buSzPts val="1170"/>
              <a:buChar char="■"/>
              <a:defRPr sz="1800"/>
            </a:lvl3pPr>
            <a:lvl4pPr indent="-299719" lvl="3" marL="1828800" algn="l">
              <a:spcBef>
                <a:spcPts val="320"/>
              </a:spcBef>
              <a:spcAft>
                <a:spcPts val="0"/>
              </a:spcAft>
              <a:buSzPts val="112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74" name="Google Shape;174;p57"/>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57"/>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76" name="Google Shape;176;p57"/>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177" name="Shape 177"/>
        <p:cNvGrpSpPr/>
        <p:nvPr/>
      </p:nvGrpSpPr>
      <p:grpSpPr>
        <a:xfrm>
          <a:off x="0" y="0"/>
          <a:ext cx="0" cy="0"/>
          <a:chOff x="0" y="0"/>
          <a:chExt cx="0" cy="0"/>
        </a:xfrm>
      </p:grpSpPr>
      <p:sp>
        <p:nvSpPr>
          <p:cNvPr id="178" name="Google Shape;178;p58"/>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58"/>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5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81" name="Google Shape;181;p58"/>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82" name="Shape 182"/>
        <p:cNvGrpSpPr/>
        <p:nvPr/>
      </p:nvGrpSpPr>
      <p:grpSpPr>
        <a:xfrm>
          <a:off x="0" y="0"/>
          <a:ext cx="0" cy="0"/>
          <a:chOff x="0" y="0"/>
          <a:chExt cx="0" cy="0"/>
        </a:xfrm>
      </p:grpSpPr>
      <p:sp>
        <p:nvSpPr>
          <p:cNvPr id="183" name="Google Shape;183;p59"/>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59"/>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85" name="Google Shape;185;p59"/>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186" name="Shape 186"/>
        <p:cNvGrpSpPr/>
        <p:nvPr/>
      </p:nvGrpSpPr>
      <p:grpSpPr>
        <a:xfrm>
          <a:off x="0" y="0"/>
          <a:ext cx="0" cy="0"/>
          <a:chOff x="0" y="0"/>
          <a:chExt cx="0" cy="0"/>
        </a:xfrm>
      </p:grpSpPr>
      <p:sp>
        <p:nvSpPr>
          <p:cNvPr id="187" name="Google Shape;187;p6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6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81000" lvl="0" marL="457200" algn="l">
              <a:spcBef>
                <a:spcPts val="640"/>
              </a:spcBef>
              <a:spcAft>
                <a:spcPts val="0"/>
              </a:spcAft>
              <a:buSzPts val="2400"/>
              <a:buChar char="■"/>
              <a:defRPr sz="3200"/>
            </a:lvl1pPr>
            <a:lvl2pPr indent="-370840" lvl="1" marL="914400" algn="l">
              <a:spcBef>
                <a:spcPts val="560"/>
              </a:spcBef>
              <a:spcAft>
                <a:spcPts val="0"/>
              </a:spcAft>
              <a:buSzPts val="2240"/>
              <a:buChar char="◻"/>
              <a:defRPr sz="2800"/>
            </a:lvl2pPr>
            <a:lvl3pPr indent="-327660" lvl="2" marL="1371600" algn="l">
              <a:spcBef>
                <a:spcPts val="480"/>
              </a:spcBef>
              <a:spcAft>
                <a:spcPts val="0"/>
              </a:spcAft>
              <a:buSzPts val="1560"/>
              <a:buChar char="■"/>
              <a:defRPr sz="2400"/>
            </a:lvl3pPr>
            <a:lvl4pPr indent="-317500" lvl="3" marL="1828800" algn="l">
              <a:spcBef>
                <a:spcPts val="400"/>
              </a:spcBef>
              <a:spcAft>
                <a:spcPts val="0"/>
              </a:spcAft>
              <a:buSzPts val="14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189" name="Google Shape;189;p6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6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90" name="Google Shape;190;p60"/>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6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92" name="Google Shape;192;p60"/>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193" name="Shape 193"/>
        <p:cNvGrpSpPr/>
        <p:nvPr/>
      </p:nvGrpSpPr>
      <p:grpSpPr>
        <a:xfrm>
          <a:off x="0" y="0"/>
          <a:ext cx="0" cy="0"/>
          <a:chOff x="0" y="0"/>
          <a:chExt cx="0" cy="0"/>
        </a:xfrm>
      </p:grpSpPr>
      <p:sp>
        <p:nvSpPr>
          <p:cNvPr id="194" name="Google Shape;194;p6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61"/>
          <p:cNvSpPr/>
          <p:nvPr>
            <p:ph idx="2" type="pic"/>
          </p:nvPr>
        </p:nvSpPr>
        <p:spPr>
          <a:xfrm>
            <a:off x="1792288" y="612775"/>
            <a:ext cx="5486400" cy="4114800"/>
          </a:xfrm>
          <a:prstGeom prst="rect">
            <a:avLst/>
          </a:prstGeom>
          <a:noFill/>
          <a:ln>
            <a:noFill/>
          </a:ln>
        </p:spPr>
      </p:sp>
      <p:sp>
        <p:nvSpPr>
          <p:cNvPr id="196" name="Google Shape;196;p6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6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97" name="Google Shape;197;p6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6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199" name="Google Shape;199;p61"/>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200" name="Shape 200"/>
        <p:cNvGrpSpPr/>
        <p:nvPr/>
      </p:nvGrpSpPr>
      <p:grpSpPr>
        <a:xfrm>
          <a:off x="0" y="0"/>
          <a:ext cx="0" cy="0"/>
          <a:chOff x="0" y="0"/>
          <a:chExt cx="0" cy="0"/>
        </a:xfrm>
      </p:grpSpPr>
      <p:sp>
        <p:nvSpPr>
          <p:cNvPr id="201" name="Google Shape;201;p62"/>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62"/>
          <p:cNvSpPr txBox="1"/>
          <p:nvPr>
            <p:ph idx="1" type="body"/>
          </p:nvPr>
        </p:nvSpPr>
        <p:spPr>
          <a:xfrm rot="5400000">
            <a:off x="2628900" y="-190500"/>
            <a:ext cx="3886200" cy="82296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20040" lvl="1" marL="914400" algn="l">
              <a:spcBef>
                <a:spcPts val="360"/>
              </a:spcBef>
              <a:spcAft>
                <a:spcPts val="0"/>
              </a:spcAft>
              <a:buSzPts val="144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3" name="Google Shape;203;p6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6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205" name="Google Shape;205;p62"/>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206" name="Shape 206"/>
        <p:cNvGrpSpPr/>
        <p:nvPr/>
      </p:nvGrpSpPr>
      <p:grpSpPr>
        <a:xfrm>
          <a:off x="0" y="0"/>
          <a:ext cx="0" cy="0"/>
          <a:chOff x="0" y="0"/>
          <a:chExt cx="0" cy="0"/>
        </a:xfrm>
      </p:grpSpPr>
      <p:sp>
        <p:nvSpPr>
          <p:cNvPr id="207" name="Google Shape;207;p63"/>
          <p:cNvSpPr txBox="1"/>
          <p:nvPr>
            <p:ph type="title"/>
          </p:nvPr>
        </p:nvSpPr>
        <p:spPr>
          <a:xfrm rot="5400000">
            <a:off x="4953000" y="2133600"/>
            <a:ext cx="5410200"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63"/>
          <p:cNvSpPr txBox="1"/>
          <p:nvPr>
            <p:ph idx="1" type="body"/>
          </p:nvPr>
        </p:nvSpPr>
        <p:spPr>
          <a:xfrm rot="5400000">
            <a:off x="762000" y="152400"/>
            <a:ext cx="5410200" cy="60198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20040" lvl="1" marL="914400" algn="l">
              <a:spcBef>
                <a:spcPts val="360"/>
              </a:spcBef>
              <a:spcAft>
                <a:spcPts val="0"/>
              </a:spcAft>
              <a:buSzPts val="144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9" name="Google Shape;209;p63"/>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6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Black"/>
                <a:ea typeface="Arial Black"/>
                <a:cs typeface="Arial Black"/>
                <a:sym typeface="Arial Black"/>
              </a:defRPr>
            </a:lvl1pPr>
            <a:lvl2pPr indent="0" lvl="1" marL="0" marR="0" algn="r">
              <a:spcBef>
                <a:spcPts val="0"/>
              </a:spcBef>
              <a:spcAft>
                <a:spcPts val="0"/>
              </a:spcAft>
              <a:buNone/>
              <a:defRPr sz="1200">
                <a:solidFill>
                  <a:schemeClr val="dk1"/>
                </a:solidFill>
                <a:latin typeface="Arial Black"/>
                <a:ea typeface="Arial Black"/>
                <a:cs typeface="Arial Black"/>
                <a:sym typeface="Arial Black"/>
              </a:defRPr>
            </a:lvl2pPr>
            <a:lvl3pPr indent="0" lvl="2" marL="0" marR="0" algn="r">
              <a:spcBef>
                <a:spcPts val="0"/>
              </a:spcBef>
              <a:spcAft>
                <a:spcPts val="0"/>
              </a:spcAft>
              <a:buNone/>
              <a:defRPr sz="1200">
                <a:solidFill>
                  <a:schemeClr val="dk1"/>
                </a:solidFill>
                <a:latin typeface="Arial Black"/>
                <a:ea typeface="Arial Black"/>
                <a:cs typeface="Arial Black"/>
                <a:sym typeface="Arial Black"/>
              </a:defRPr>
            </a:lvl3pPr>
            <a:lvl4pPr indent="0" lvl="3" marL="0" marR="0" algn="r">
              <a:spcBef>
                <a:spcPts val="0"/>
              </a:spcBef>
              <a:spcAft>
                <a:spcPts val="0"/>
              </a:spcAft>
              <a:buNone/>
              <a:defRPr sz="1200">
                <a:solidFill>
                  <a:schemeClr val="dk1"/>
                </a:solidFill>
                <a:latin typeface="Arial Black"/>
                <a:ea typeface="Arial Black"/>
                <a:cs typeface="Arial Black"/>
                <a:sym typeface="Arial Black"/>
              </a:defRPr>
            </a:lvl4pPr>
            <a:lvl5pPr indent="0" lvl="4" marL="0" marR="0" algn="r">
              <a:spcBef>
                <a:spcPts val="0"/>
              </a:spcBef>
              <a:spcAft>
                <a:spcPts val="0"/>
              </a:spcAft>
              <a:buNone/>
              <a:defRPr sz="1200">
                <a:solidFill>
                  <a:schemeClr val="dk1"/>
                </a:solidFill>
                <a:latin typeface="Arial Black"/>
                <a:ea typeface="Arial Black"/>
                <a:cs typeface="Arial Black"/>
                <a:sym typeface="Arial Black"/>
              </a:defRPr>
            </a:lvl5pPr>
            <a:lvl6pPr indent="0" lvl="5" marL="0" marR="0" algn="r">
              <a:spcBef>
                <a:spcPts val="0"/>
              </a:spcBef>
              <a:spcAft>
                <a:spcPts val="0"/>
              </a:spcAft>
              <a:buNone/>
              <a:defRPr sz="1200">
                <a:solidFill>
                  <a:schemeClr val="dk1"/>
                </a:solidFill>
                <a:latin typeface="Arial Black"/>
                <a:ea typeface="Arial Black"/>
                <a:cs typeface="Arial Black"/>
                <a:sym typeface="Arial Black"/>
              </a:defRPr>
            </a:lvl6pPr>
            <a:lvl7pPr indent="0" lvl="6" marL="0" marR="0" algn="r">
              <a:spcBef>
                <a:spcPts val="0"/>
              </a:spcBef>
              <a:spcAft>
                <a:spcPts val="0"/>
              </a:spcAft>
              <a:buNone/>
              <a:defRPr sz="1200">
                <a:solidFill>
                  <a:schemeClr val="dk1"/>
                </a:solidFill>
                <a:latin typeface="Arial Black"/>
                <a:ea typeface="Arial Black"/>
                <a:cs typeface="Arial Black"/>
                <a:sym typeface="Arial Black"/>
              </a:defRPr>
            </a:lvl7pPr>
            <a:lvl8pPr indent="0" lvl="7" marL="0" marR="0" algn="r">
              <a:spcBef>
                <a:spcPts val="0"/>
              </a:spcBef>
              <a:spcAft>
                <a:spcPts val="0"/>
              </a:spcAft>
              <a:buNone/>
              <a:defRPr sz="1200">
                <a:solidFill>
                  <a:schemeClr val="dk1"/>
                </a:solidFill>
                <a:latin typeface="Arial Black"/>
                <a:ea typeface="Arial Black"/>
                <a:cs typeface="Arial Black"/>
                <a:sym typeface="Arial Black"/>
              </a:defRPr>
            </a:lvl8pPr>
            <a:lvl9pPr indent="0" lvl="8" marL="0" marR="0" algn="r">
              <a:spcBef>
                <a:spcPts val="0"/>
              </a:spcBef>
              <a:spcAft>
                <a:spcPts val="0"/>
              </a:spcAft>
              <a:buNone/>
              <a:defRPr sz="1200">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sp>
        <p:nvSpPr>
          <p:cNvPr id="211" name="Google Shape;211;p63"/>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 name="Google Shape;11;p39"/>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1pPr>
            <a:lvl2pPr indent="0" lvl="1"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2pPr>
            <a:lvl3pPr indent="0" lvl="2"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3pPr>
            <a:lvl4pPr indent="0" lvl="3"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4pPr>
            <a:lvl5pPr indent="0" lvl="4"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5pPr>
            <a:lvl6pPr indent="0" lvl="5"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6pPr>
            <a:lvl7pPr indent="0" lvl="6"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7pPr>
            <a:lvl8pPr indent="0" lvl="7"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8pPr>
            <a:lvl9pPr indent="0" lvl="8" marL="0" marR="0" rtl="0" algn="r">
              <a:lnSpc>
                <a:spcPct val="100000"/>
              </a:lnSpc>
              <a:spcBef>
                <a:spcPts val="0"/>
              </a:spcBef>
              <a:spcAft>
                <a:spcPts val="0"/>
              </a:spcAft>
              <a:buClr>
                <a:schemeClr val="dk1"/>
              </a:buClr>
              <a:buSzPts val="1200"/>
              <a:buFont typeface="Arial Black"/>
              <a:buNone/>
              <a:defRPr b="0" i="0" sz="1200" u="none" cap="none" strike="noStrike">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grpSp>
        <p:nvGrpSpPr>
          <p:cNvPr id="12" name="Google Shape;12;p39"/>
          <p:cNvGrpSpPr/>
          <p:nvPr/>
        </p:nvGrpSpPr>
        <p:grpSpPr>
          <a:xfrm>
            <a:off x="0" y="0"/>
            <a:ext cx="9144000" cy="546100"/>
            <a:chOff x="0" y="0"/>
            <a:chExt cx="5760" cy="344"/>
          </a:xfrm>
        </p:grpSpPr>
        <p:sp>
          <p:nvSpPr>
            <p:cNvPr id="13" name="Google Shape;13;p39"/>
            <p:cNvSpPr/>
            <p:nvPr/>
          </p:nvSpPr>
          <p:spPr>
            <a:xfrm>
              <a:off x="0" y="0"/>
              <a:ext cx="180" cy="336"/>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4" name="Google Shape;14;p39"/>
            <p:cNvSpPr/>
            <p:nvPr/>
          </p:nvSpPr>
          <p:spPr>
            <a:xfrm>
              <a:off x="260" y="85"/>
              <a:ext cx="5500" cy="173"/>
            </a:xfrm>
            <a:prstGeom prst="rect">
              <a:avLst/>
            </a:prstGeom>
            <a:gradFill>
              <a:gsLst>
                <a:gs pos="0">
                  <a:schemeClr val="lt2"/>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 name="Google Shape;15;p39"/>
            <p:cNvSpPr/>
            <p:nvPr/>
          </p:nvSpPr>
          <p:spPr>
            <a:xfrm>
              <a:off x="258" y="85"/>
              <a:ext cx="87" cy="89"/>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hlink"/>
                </a:solidFill>
                <a:latin typeface="Arial"/>
                <a:ea typeface="Arial"/>
                <a:cs typeface="Arial"/>
                <a:sym typeface="Arial"/>
              </a:endParaRPr>
            </a:p>
          </p:txBody>
        </p:sp>
        <p:sp>
          <p:nvSpPr>
            <p:cNvPr id="16" name="Google Shape;16;p39"/>
            <p:cNvSpPr/>
            <p:nvPr/>
          </p:nvSpPr>
          <p:spPr>
            <a:xfrm>
              <a:off x="345" y="0"/>
              <a:ext cx="88" cy="87"/>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hlink"/>
                </a:solidFill>
                <a:latin typeface="Arial"/>
                <a:ea typeface="Arial"/>
                <a:cs typeface="Arial"/>
                <a:sym typeface="Arial"/>
              </a:endParaRPr>
            </a:p>
          </p:txBody>
        </p:sp>
        <p:sp>
          <p:nvSpPr>
            <p:cNvPr id="17" name="Google Shape;17;p39"/>
            <p:cNvSpPr/>
            <p:nvPr/>
          </p:nvSpPr>
          <p:spPr>
            <a:xfrm>
              <a:off x="345" y="85"/>
              <a:ext cx="88" cy="89"/>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accent2"/>
                </a:solidFill>
                <a:latin typeface="Arial"/>
                <a:ea typeface="Arial"/>
                <a:cs typeface="Arial"/>
                <a:sym typeface="Arial"/>
              </a:endParaRPr>
            </a:p>
          </p:txBody>
        </p:sp>
        <p:sp>
          <p:nvSpPr>
            <p:cNvPr id="18" name="Google Shape;18;p39"/>
            <p:cNvSpPr/>
            <p:nvPr/>
          </p:nvSpPr>
          <p:spPr>
            <a:xfrm>
              <a:off x="173" y="173"/>
              <a:ext cx="86" cy="87"/>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hlink"/>
                </a:solidFill>
                <a:latin typeface="Arial"/>
                <a:ea typeface="Arial"/>
                <a:cs typeface="Arial"/>
                <a:sym typeface="Arial"/>
              </a:endParaRPr>
            </a:p>
          </p:txBody>
        </p:sp>
        <p:sp>
          <p:nvSpPr>
            <p:cNvPr id="19" name="Google Shape;19;p39"/>
            <p:cNvSpPr/>
            <p:nvPr/>
          </p:nvSpPr>
          <p:spPr>
            <a:xfrm>
              <a:off x="83" y="86"/>
              <a:ext cx="89" cy="87"/>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 name="Google Shape;20;p39"/>
            <p:cNvSpPr/>
            <p:nvPr/>
          </p:nvSpPr>
          <p:spPr>
            <a:xfrm>
              <a:off x="258" y="171"/>
              <a:ext cx="87" cy="87"/>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accent2"/>
                </a:solidFill>
                <a:latin typeface="Arial"/>
                <a:ea typeface="Arial"/>
                <a:cs typeface="Arial"/>
                <a:sym typeface="Arial"/>
              </a:endParaRPr>
            </a:p>
          </p:txBody>
        </p:sp>
        <p:sp>
          <p:nvSpPr>
            <p:cNvPr id="21" name="Google Shape;21;p39"/>
            <p:cNvSpPr/>
            <p:nvPr/>
          </p:nvSpPr>
          <p:spPr>
            <a:xfrm>
              <a:off x="173" y="258"/>
              <a:ext cx="86" cy="86"/>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accent2"/>
                </a:solidFill>
                <a:latin typeface="Arial"/>
                <a:ea typeface="Arial"/>
                <a:cs typeface="Arial"/>
                <a:sym typeface="Arial"/>
              </a:endParaRPr>
            </a:p>
          </p:txBody>
        </p:sp>
      </p:grpSp>
      <p:sp>
        <p:nvSpPr>
          <p:cNvPr id="22" name="Google Shape;22;p39"/>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
        <p:nvSpPr>
          <p:cNvPr id="23" name="Google Shape;23;p39"/>
          <p:cNvSpPr txBox="1"/>
          <p:nvPr>
            <p:ph idx="1" type="body"/>
          </p:nvPr>
        </p:nvSpPr>
        <p:spPr>
          <a:xfrm>
            <a:off x="457200" y="1981200"/>
            <a:ext cx="8229600" cy="38862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40"/>
              </a:spcBef>
              <a:spcAft>
                <a:spcPts val="0"/>
              </a:spcAft>
              <a:buClr>
                <a:schemeClr val="lt2"/>
              </a:buClr>
              <a:buSzPts val="2400"/>
              <a:buFont typeface="Noto Sans Symbols"/>
              <a:buChar char="■"/>
              <a:defRPr b="0" i="0" sz="3200" u="none" cap="none" strike="noStrike">
                <a:solidFill>
                  <a:schemeClr val="dk1"/>
                </a:solidFill>
                <a:latin typeface="Arial"/>
                <a:ea typeface="Arial"/>
                <a:cs typeface="Arial"/>
                <a:sym typeface="Arial"/>
              </a:defRPr>
            </a:lvl1pPr>
            <a:lvl2pPr indent="-370840" lvl="1" marL="914400" marR="0" rtl="0" algn="l">
              <a:spcBef>
                <a:spcPts val="560"/>
              </a:spcBef>
              <a:spcAft>
                <a:spcPts val="0"/>
              </a:spcAft>
              <a:buClr>
                <a:schemeClr val="accent2"/>
              </a:buClr>
              <a:buSzPts val="2240"/>
              <a:buFont typeface="Noto Sans Symbols"/>
              <a:buChar char="◻"/>
              <a:defRPr b="0" i="0" sz="2800" u="none" cap="none" strike="noStrike">
                <a:solidFill>
                  <a:schemeClr val="dk1"/>
                </a:solidFill>
                <a:latin typeface="Arial"/>
                <a:ea typeface="Arial"/>
                <a:cs typeface="Arial"/>
                <a:sym typeface="Arial"/>
              </a:defRPr>
            </a:lvl2pPr>
            <a:lvl3pPr indent="-327660" lvl="2" marL="1371600" marR="0" rtl="0" algn="l">
              <a:spcBef>
                <a:spcPts val="480"/>
              </a:spcBef>
              <a:spcAft>
                <a:spcPts val="0"/>
              </a:spcAft>
              <a:buClr>
                <a:schemeClr val="lt2"/>
              </a:buClr>
              <a:buSzPts val="1560"/>
              <a:buFont typeface="Noto Sans Symbols"/>
              <a:buChar char="■"/>
              <a:defRPr b="0" i="0" sz="2400" u="none" cap="none" strike="noStrike">
                <a:solidFill>
                  <a:schemeClr val="dk1"/>
                </a:solidFill>
                <a:latin typeface="Arial"/>
                <a:ea typeface="Arial"/>
                <a:cs typeface="Arial"/>
                <a:sym typeface="Arial"/>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4" name="Google Shape;24;p39"/>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4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5" name="Google Shape;115;p4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1pPr>
            <a:lvl2pPr indent="0" lvl="1"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2pPr>
            <a:lvl3pPr indent="0" lvl="2"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3pPr>
            <a:lvl4pPr indent="0" lvl="3"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4pPr>
            <a:lvl5pPr indent="0" lvl="4"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5pPr>
            <a:lvl6pPr indent="0" lvl="5"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6pPr>
            <a:lvl7pPr indent="0" lvl="6"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7pPr>
            <a:lvl8pPr indent="0" lvl="7"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8pPr>
            <a:lvl9pPr indent="0" lvl="8" marL="0" marR="0" rtl="0" algn="r">
              <a:spcBef>
                <a:spcPts val="0"/>
              </a:spcBef>
              <a:spcAft>
                <a:spcPts val="0"/>
              </a:spcAft>
              <a:buNone/>
              <a:defRPr b="0" i="0" sz="1200" u="none" cap="none" strike="noStrike">
                <a:solidFill>
                  <a:schemeClr val="dk1"/>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ru-RU"/>
              <a:t>‹#›</a:t>
            </a:fld>
            <a:endParaRPr/>
          </a:p>
        </p:txBody>
      </p:sp>
      <p:grpSp>
        <p:nvGrpSpPr>
          <p:cNvPr id="116" name="Google Shape;116;p41"/>
          <p:cNvGrpSpPr/>
          <p:nvPr/>
        </p:nvGrpSpPr>
        <p:grpSpPr>
          <a:xfrm>
            <a:off x="0" y="0"/>
            <a:ext cx="9144000" cy="546100"/>
            <a:chOff x="0" y="0"/>
            <a:chExt cx="5760" cy="344"/>
          </a:xfrm>
        </p:grpSpPr>
        <p:sp>
          <p:nvSpPr>
            <p:cNvPr id="117" name="Google Shape;117;p41"/>
            <p:cNvSpPr/>
            <p:nvPr/>
          </p:nvSpPr>
          <p:spPr>
            <a:xfrm>
              <a:off x="0" y="0"/>
              <a:ext cx="180" cy="336"/>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8" name="Google Shape;118;p41"/>
            <p:cNvSpPr/>
            <p:nvPr/>
          </p:nvSpPr>
          <p:spPr>
            <a:xfrm>
              <a:off x="260" y="85"/>
              <a:ext cx="5500" cy="173"/>
            </a:xfrm>
            <a:prstGeom prst="rect">
              <a:avLst/>
            </a:prstGeom>
            <a:gradFill>
              <a:gsLst>
                <a:gs pos="0">
                  <a:schemeClr val="lt2"/>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19" name="Google Shape;119;p41"/>
            <p:cNvSpPr/>
            <p:nvPr/>
          </p:nvSpPr>
          <p:spPr>
            <a:xfrm>
              <a:off x="258" y="85"/>
              <a:ext cx="87" cy="89"/>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hlink"/>
                </a:solidFill>
                <a:latin typeface="Arial"/>
                <a:ea typeface="Arial"/>
                <a:cs typeface="Arial"/>
                <a:sym typeface="Arial"/>
              </a:endParaRPr>
            </a:p>
          </p:txBody>
        </p:sp>
        <p:sp>
          <p:nvSpPr>
            <p:cNvPr id="120" name="Google Shape;120;p41"/>
            <p:cNvSpPr/>
            <p:nvPr/>
          </p:nvSpPr>
          <p:spPr>
            <a:xfrm>
              <a:off x="345" y="0"/>
              <a:ext cx="88" cy="87"/>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hlink"/>
                </a:solidFill>
                <a:latin typeface="Arial"/>
                <a:ea typeface="Arial"/>
                <a:cs typeface="Arial"/>
                <a:sym typeface="Arial"/>
              </a:endParaRPr>
            </a:p>
          </p:txBody>
        </p:sp>
        <p:sp>
          <p:nvSpPr>
            <p:cNvPr id="121" name="Google Shape;121;p41"/>
            <p:cNvSpPr/>
            <p:nvPr/>
          </p:nvSpPr>
          <p:spPr>
            <a:xfrm>
              <a:off x="345" y="85"/>
              <a:ext cx="88" cy="89"/>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Arial"/>
                <a:ea typeface="Arial"/>
                <a:cs typeface="Arial"/>
                <a:sym typeface="Arial"/>
              </a:endParaRPr>
            </a:p>
          </p:txBody>
        </p:sp>
        <p:sp>
          <p:nvSpPr>
            <p:cNvPr id="122" name="Google Shape;122;p41"/>
            <p:cNvSpPr/>
            <p:nvPr/>
          </p:nvSpPr>
          <p:spPr>
            <a:xfrm>
              <a:off x="173" y="173"/>
              <a:ext cx="86" cy="87"/>
            </a:xfrm>
            <a:prstGeom prst="rect">
              <a:avLst/>
            </a:pr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hlink"/>
                </a:solidFill>
                <a:latin typeface="Arial"/>
                <a:ea typeface="Arial"/>
                <a:cs typeface="Arial"/>
                <a:sym typeface="Arial"/>
              </a:endParaRPr>
            </a:p>
          </p:txBody>
        </p:sp>
        <p:sp>
          <p:nvSpPr>
            <p:cNvPr id="123" name="Google Shape;123;p41"/>
            <p:cNvSpPr/>
            <p:nvPr/>
          </p:nvSpPr>
          <p:spPr>
            <a:xfrm>
              <a:off x="83" y="86"/>
              <a:ext cx="89" cy="87"/>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24" name="Google Shape;124;p41"/>
            <p:cNvSpPr/>
            <p:nvPr/>
          </p:nvSpPr>
          <p:spPr>
            <a:xfrm>
              <a:off x="258" y="171"/>
              <a:ext cx="87" cy="87"/>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Arial"/>
                <a:ea typeface="Arial"/>
                <a:cs typeface="Arial"/>
                <a:sym typeface="Arial"/>
              </a:endParaRPr>
            </a:p>
          </p:txBody>
        </p:sp>
        <p:sp>
          <p:nvSpPr>
            <p:cNvPr id="125" name="Google Shape;125;p41"/>
            <p:cNvSpPr/>
            <p:nvPr/>
          </p:nvSpPr>
          <p:spPr>
            <a:xfrm>
              <a:off x="173" y="258"/>
              <a:ext cx="86" cy="86"/>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Arial"/>
                <a:ea typeface="Arial"/>
                <a:cs typeface="Arial"/>
                <a:sym typeface="Arial"/>
              </a:endParaRPr>
            </a:p>
          </p:txBody>
        </p:sp>
      </p:grpSp>
      <p:sp>
        <p:nvSpPr>
          <p:cNvPr id="126" name="Google Shape;126;p41"/>
          <p:cNvSpPr txBox="1"/>
          <p:nvPr>
            <p:ph type="title"/>
          </p:nvPr>
        </p:nvSpPr>
        <p:spPr>
          <a:xfrm>
            <a:off x="457200" y="457200"/>
            <a:ext cx="8229600" cy="1371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
        <p:nvSpPr>
          <p:cNvPr id="127" name="Google Shape;127;p41"/>
          <p:cNvSpPr txBox="1"/>
          <p:nvPr>
            <p:ph idx="1" type="body"/>
          </p:nvPr>
        </p:nvSpPr>
        <p:spPr>
          <a:xfrm>
            <a:off x="457200" y="1981200"/>
            <a:ext cx="8229600" cy="38862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40"/>
              </a:spcBef>
              <a:spcAft>
                <a:spcPts val="0"/>
              </a:spcAft>
              <a:buClr>
                <a:schemeClr val="lt2"/>
              </a:buClr>
              <a:buSzPts val="2400"/>
              <a:buFont typeface="Noto Sans Symbols"/>
              <a:buChar char="■"/>
              <a:defRPr b="0" i="0" sz="3200" u="none" cap="none" strike="noStrike">
                <a:solidFill>
                  <a:schemeClr val="dk1"/>
                </a:solidFill>
                <a:latin typeface="Arial"/>
                <a:ea typeface="Arial"/>
                <a:cs typeface="Arial"/>
                <a:sym typeface="Arial"/>
              </a:defRPr>
            </a:lvl1pPr>
            <a:lvl2pPr indent="-370840" lvl="1" marL="914400" marR="0" rtl="0" algn="l">
              <a:spcBef>
                <a:spcPts val="560"/>
              </a:spcBef>
              <a:spcAft>
                <a:spcPts val="0"/>
              </a:spcAft>
              <a:buClr>
                <a:schemeClr val="accent2"/>
              </a:buClr>
              <a:buSzPts val="2240"/>
              <a:buFont typeface="Noto Sans Symbols"/>
              <a:buChar char="◻"/>
              <a:defRPr b="0" i="0" sz="2800" u="none" cap="none" strike="noStrike">
                <a:solidFill>
                  <a:schemeClr val="dk1"/>
                </a:solidFill>
                <a:latin typeface="Arial"/>
                <a:ea typeface="Arial"/>
                <a:cs typeface="Arial"/>
                <a:sym typeface="Arial"/>
              </a:defRPr>
            </a:lvl2pPr>
            <a:lvl3pPr indent="-327660" lvl="2" marL="1371600" marR="0" rtl="0" algn="l">
              <a:spcBef>
                <a:spcPts val="480"/>
              </a:spcBef>
              <a:spcAft>
                <a:spcPts val="0"/>
              </a:spcAft>
              <a:buClr>
                <a:schemeClr val="lt2"/>
              </a:buClr>
              <a:buSzPts val="1560"/>
              <a:buFont typeface="Noto Sans Symbols"/>
              <a:buChar char="■"/>
              <a:defRPr b="0" i="0" sz="2400" u="none" cap="none" strike="noStrike">
                <a:solidFill>
                  <a:schemeClr val="dk1"/>
                </a:solidFill>
                <a:latin typeface="Arial"/>
                <a:ea typeface="Arial"/>
                <a:cs typeface="Arial"/>
                <a:sym typeface="Arial"/>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l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128" name="Google Shape;128;p41"/>
          <p:cNvSpPr txBox="1"/>
          <p:nvPr>
            <p:ph idx="10" type="dt"/>
          </p:nvPr>
        </p:nvSpPr>
        <p:spPr>
          <a:xfrm>
            <a:off x="457200" y="6245225"/>
            <a:ext cx="2133600" cy="4762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
          <p:cNvSpPr txBox="1"/>
          <p:nvPr>
            <p:ph type="ctrTitle"/>
          </p:nvPr>
        </p:nvSpPr>
        <p:spPr>
          <a:xfrm>
            <a:off x="1871700" y="1763815"/>
            <a:ext cx="7272300" cy="2209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a:t>Архитектура системы баз данных</a:t>
            </a:r>
            <a:endParaRPr/>
          </a:p>
        </p:txBody>
      </p:sp>
      <p:sp>
        <p:nvSpPr>
          <p:cNvPr id="217" name="Google Shape;217;p1"/>
          <p:cNvSpPr txBox="1"/>
          <p:nvPr>
            <p:ph idx="1" type="subTitle"/>
          </p:nvPr>
        </p:nvSpPr>
        <p:spPr>
          <a:xfrm>
            <a:off x="1241630" y="4267200"/>
            <a:ext cx="7749970" cy="1752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ru-RU" sz="2400"/>
              <a:t>Г. Гарсия-Молина, Дж. Ульман, Дж. Уидом </a:t>
            </a:r>
            <a:endParaRPr/>
          </a:p>
          <a:p>
            <a:pPr indent="0" lvl="0" marL="0" rtl="0" algn="l">
              <a:spcBef>
                <a:spcPts val="480"/>
              </a:spcBef>
              <a:spcAft>
                <a:spcPts val="0"/>
              </a:spcAft>
              <a:buSzPts val="1800"/>
              <a:buNone/>
            </a:pPr>
            <a:r>
              <a:rPr b="1" lang="ru-RU" sz="2400"/>
              <a:t>Системы баз данных</a:t>
            </a:r>
            <a:r>
              <a:rPr lang="ru-RU" sz="2400"/>
              <a:t>, 2003г, </a:t>
            </a:r>
            <a:r>
              <a:rPr b="1" lang="ru-RU" sz="2400"/>
              <a:t>глава 1</a:t>
            </a:r>
            <a:endParaRPr/>
          </a:p>
          <a:p>
            <a:pPr indent="0" lvl="0" marL="0" rtl="0" algn="l">
              <a:spcBef>
                <a:spcPts val="480"/>
              </a:spcBef>
              <a:spcAft>
                <a:spcPts val="0"/>
              </a:spcAft>
              <a:buSzPts val="1800"/>
              <a:buNone/>
            </a:pPr>
            <a:r>
              <a:rPr b="1" lang="ru-RU" sz="2400"/>
              <a:t>К. Дж. Дейт</a:t>
            </a:r>
            <a:r>
              <a:rPr lang="ru-RU" sz="2400"/>
              <a:t>, </a:t>
            </a:r>
            <a:r>
              <a:rPr b="1" lang="ru-RU" sz="2400"/>
              <a:t>Введение в системы баз данных</a:t>
            </a:r>
            <a:endParaRPr b="1" sz="2400">
              <a:solidFill>
                <a:schemeClr val="lt2"/>
              </a:solidFill>
            </a:endParaRPr>
          </a:p>
          <a:p>
            <a:pPr indent="0" lvl="0" marL="0" rtl="0" algn="l">
              <a:spcBef>
                <a:spcPts val="480"/>
              </a:spcBef>
              <a:spcAft>
                <a:spcPts val="0"/>
              </a:spcAft>
              <a:buSzPts val="1800"/>
              <a:buFont typeface="Noto Sans Symbols"/>
              <a:buNone/>
            </a:pPr>
            <a:r>
              <a:rPr lang="ru-RU" sz="2400"/>
              <a:t>восьмое издание, 2005г, </a:t>
            </a:r>
            <a:r>
              <a:rPr b="1" lang="ru-RU" sz="2400"/>
              <a:t>глава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
          <p:cNvSpPr txBox="1"/>
          <p:nvPr>
            <p:ph type="title"/>
          </p:nvPr>
        </p:nvSpPr>
        <p:spPr>
          <a:xfrm>
            <a:off x="376866" y="196170"/>
            <a:ext cx="8535634" cy="66754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Система управления базой данных</a:t>
            </a:r>
            <a:endParaRPr/>
          </a:p>
        </p:txBody>
      </p:sp>
      <p:sp>
        <p:nvSpPr>
          <p:cNvPr id="223" name="Google Shape;223;p2"/>
          <p:cNvSpPr txBox="1"/>
          <p:nvPr>
            <p:ph idx="1" type="body"/>
          </p:nvPr>
        </p:nvSpPr>
        <p:spPr>
          <a:xfrm>
            <a:off x="0" y="863714"/>
            <a:ext cx="9143999" cy="5715635"/>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20000"/>
              </a:lnSpc>
              <a:spcBef>
                <a:spcPts val="0"/>
              </a:spcBef>
              <a:spcAft>
                <a:spcPts val="0"/>
              </a:spcAft>
              <a:buClr>
                <a:srgbClr val="C00000"/>
              </a:buClr>
              <a:buSzPct val="75000"/>
              <a:buChar char="■"/>
            </a:pPr>
            <a:r>
              <a:rPr lang="ru-RU" sz="2800">
                <a:solidFill>
                  <a:srgbClr val="000099"/>
                </a:solidFill>
              </a:rPr>
              <a:t>База данных – совокупность данных находящаяся под контролем специального пакета программ - системы управления базами данных (СУБД)</a:t>
            </a:r>
            <a:endParaRPr sz="2400">
              <a:solidFill>
                <a:srgbClr val="000099"/>
              </a:solidFill>
            </a:endParaRPr>
          </a:p>
          <a:p>
            <a:pPr indent="-342900" lvl="0" marL="342900" rtl="0" algn="l">
              <a:lnSpc>
                <a:spcPct val="120000"/>
              </a:lnSpc>
              <a:spcBef>
                <a:spcPts val="392"/>
              </a:spcBef>
              <a:spcAft>
                <a:spcPts val="0"/>
              </a:spcAft>
              <a:buClr>
                <a:srgbClr val="C00000"/>
              </a:buClr>
              <a:buSzPct val="75000"/>
              <a:buChar char="■"/>
            </a:pPr>
            <a:r>
              <a:rPr lang="ru-RU" sz="2800">
                <a:solidFill>
                  <a:srgbClr val="000099"/>
                </a:solidFill>
              </a:rPr>
              <a:t>Добротная СУБД обязана обеспечить следующие функции:</a:t>
            </a:r>
            <a:endParaRPr/>
          </a:p>
          <a:p>
            <a:pPr indent="-457200" lvl="1" marL="914400" rtl="0" algn="l">
              <a:lnSpc>
                <a:spcPct val="120000"/>
              </a:lnSpc>
              <a:spcBef>
                <a:spcPts val="336"/>
              </a:spcBef>
              <a:spcAft>
                <a:spcPts val="0"/>
              </a:spcAft>
              <a:buClr>
                <a:schemeClr val="lt2"/>
              </a:buClr>
              <a:buSzPct val="100000"/>
              <a:buFont typeface="Arial"/>
              <a:buAutoNum type="arabicPeriod"/>
            </a:pPr>
            <a:r>
              <a:rPr lang="ru-RU" sz="2400">
                <a:solidFill>
                  <a:srgbClr val="000099"/>
                </a:solidFill>
              </a:rPr>
              <a:t>Позволять пользователям создавать новые базы данных и определять их схемы(логические структуры) с помощью языка DDL</a:t>
            </a:r>
            <a:endParaRPr/>
          </a:p>
          <a:p>
            <a:pPr indent="-457200" lvl="1" marL="914400" rtl="0" algn="l">
              <a:lnSpc>
                <a:spcPct val="120000"/>
              </a:lnSpc>
              <a:spcBef>
                <a:spcPts val="336"/>
              </a:spcBef>
              <a:spcAft>
                <a:spcPts val="0"/>
              </a:spcAft>
              <a:buClr>
                <a:schemeClr val="lt2"/>
              </a:buClr>
              <a:buSzPct val="100000"/>
              <a:buFont typeface="Arial"/>
              <a:buAutoNum type="arabicPeriod"/>
            </a:pPr>
            <a:r>
              <a:rPr lang="ru-RU" sz="2400">
                <a:solidFill>
                  <a:srgbClr val="000099"/>
                </a:solidFill>
              </a:rPr>
              <a:t>Позволять пользователям формулировать запросы к базе данных на языке запросов (QL) или языке управления данными (DML)</a:t>
            </a:r>
            <a:endParaRPr/>
          </a:p>
          <a:p>
            <a:pPr indent="-457200" lvl="1" marL="914400" rtl="0" algn="l">
              <a:lnSpc>
                <a:spcPct val="120000"/>
              </a:lnSpc>
              <a:spcBef>
                <a:spcPts val="336"/>
              </a:spcBef>
              <a:spcAft>
                <a:spcPts val="0"/>
              </a:spcAft>
              <a:buClr>
                <a:schemeClr val="lt2"/>
              </a:buClr>
              <a:buSzPct val="100000"/>
              <a:buFont typeface="Arial"/>
              <a:buAutoNum type="arabicPeriod"/>
            </a:pPr>
            <a:r>
              <a:rPr lang="ru-RU" sz="2400">
                <a:solidFill>
                  <a:srgbClr val="000099"/>
                </a:solidFill>
              </a:rPr>
              <a:t>Поддерживать способность сохранения больших объемов информации (многих гигабайтов и более) на протяжении длительного периода</a:t>
            </a:r>
            <a:endParaRPr/>
          </a:p>
          <a:p>
            <a:pPr indent="-457200" lvl="1" marL="914400" rtl="0" algn="l">
              <a:lnSpc>
                <a:spcPct val="120000"/>
              </a:lnSpc>
              <a:spcBef>
                <a:spcPts val="336"/>
              </a:spcBef>
              <a:spcAft>
                <a:spcPts val="0"/>
              </a:spcAft>
              <a:buClr>
                <a:schemeClr val="lt2"/>
              </a:buClr>
              <a:buSzPct val="100000"/>
              <a:buFont typeface="Arial"/>
              <a:buAutoNum type="arabicPeriod"/>
            </a:pPr>
            <a:r>
              <a:rPr lang="ru-RU" sz="2400">
                <a:solidFill>
                  <a:srgbClr val="000099"/>
                </a:solidFill>
              </a:rPr>
              <a:t>Управлять одновременным доступом к данным нескольких пользователей, исключая возможность влияния действий одного пользователя на результаты получаемые другим, и запрещая совместное обращение к данным, чреватое их порчей. </a:t>
            </a:r>
            <a:endParaRPr/>
          </a:p>
          <a:p>
            <a:pPr indent="-342900" lvl="0" marL="342900" rtl="0" algn="l">
              <a:lnSpc>
                <a:spcPct val="120000"/>
              </a:lnSpc>
              <a:spcBef>
                <a:spcPts val="392"/>
              </a:spcBef>
              <a:spcAft>
                <a:spcPts val="0"/>
              </a:spcAft>
              <a:buClr>
                <a:srgbClr val="C00000"/>
              </a:buClr>
              <a:buSzPct val="75000"/>
              <a:buChar char="■"/>
            </a:pPr>
            <a:r>
              <a:rPr lang="ru-RU" sz="2800">
                <a:solidFill>
                  <a:srgbClr val="000099"/>
                </a:solidFill>
              </a:rPr>
              <a:t>Предшественники СУБД – файловые системы, удовлетворяли лишь части требований. Ограничения функций всех пунктов выше кроме 3. </a:t>
            </a:r>
            <a:br>
              <a:rPr lang="ru-RU" sz="2800">
                <a:solidFill>
                  <a:srgbClr val="000099"/>
                </a:solidFill>
              </a:rPr>
            </a:br>
            <a:r>
              <a:rPr lang="ru-RU" sz="2800">
                <a:solidFill>
                  <a:srgbClr val="000099"/>
                </a:solidFill>
              </a:rPr>
              <a:t>п. 1 – каталоги, п. 2 – нет языка, п.4 – не обеспечивают безопасную совместную модификацию данных.</a:t>
            </a:r>
            <a:endParaRPr/>
          </a:p>
          <a:p>
            <a:pPr indent="-200405" lvl="1" marL="742950" rtl="0" algn="l">
              <a:lnSpc>
                <a:spcPct val="120000"/>
              </a:lnSpc>
              <a:spcBef>
                <a:spcPts val="336"/>
              </a:spcBef>
              <a:spcAft>
                <a:spcPts val="0"/>
              </a:spcAft>
              <a:buClr>
                <a:srgbClr val="C00000"/>
              </a:buClr>
              <a:buSzPct val="80000"/>
              <a:buNone/>
            </a:pPr>
            <a:r>
              <a:t/>
            </a:r>
            <a:endParaRPr sz="2400">
              <a:solidFill>
                <a:srgbClr val="000099"/>
              </a:solidFill>
            </a:endParaRPr>
          </a:p>
          <a:p>
            <a:pPr indent="-236220" lvl="0" marL="342900" rtl="0" algn="l">
              <a:lnSpc>
                <a:spcPct val="120000"/>
              </a:lnSpc>
              <a:spcBef>
                <a:spcPts val="448"/>
              </a:spcBef>
              <a:spcAft>
                <a:spcPts val="0"/>
              </a:spcAft>
              <a:buClr>
                <a:srgbClr val="C00000"/>
              </a:buClr>
              <a:buSzPct val="75000"/>
              <a:buNone/>
            </a:pPr>
            <a:r>
              <a:t/>
            </a:r>
            <a:endParaRPr>
              <a:solidFill>
                <a:srgbClr val="000099"/>
              </a:solidFill>
            </a:endParaRPr>
          </a:p>
        </p:txBody>
      </p:sp>
      <p:sp>
        <p:nvSpPr>
          <p:cNvPr id="224" name="Google Shape;224;p2"/>
          <p:cNvSpPr txBox="1"/>
          <p:nvPr>
            <p:ph idx="12" type="sldNum"/>
          </p:nvPr>
        </p:nvSpPr>
        <p:spPr>
          <a:xfrm>
            <a:off x="8244408" y="6165305"/>
            <a:ext cx="676672" cy="3600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Black"/>
              <a:buNone/>
            </a:pPr>
            <a:fld id="{00000000-1234-1234-1234-123412341234}" type="slidenum">
              <a:rPr b="0" i="0" lang="ru-RU" sz="1200" u="none" cap="none" strike="noStrike">
                <a:solidFill>
                  <a:srgbClr val="000000"/>
                </a:solidFill>
                <a:latin typeface="Arial Black"/>
                <a:ea typeface="Arial Black"/>
                <a:cs typeface="Arial Black"/>
                <a:sym typeface="Arial Black"/>
              </a:rPr>
              <a:t>‹#›</a:t>
            </a:fld>
            <a:endParaRPr b="0" i="0" sz="1200" u="none" cap="none" strike="noStrike">
              <a:solidFill>
                <a:srgbClr val="000000"/>
              </a:solidFill>
              <a:latin typeface="Arial Black"/>
              <a:ea typeface="Arial Black"/>
              <a:cs typeface="Arial Black"/>
              <a:sym typeface="Arial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
          <p:cNvSpPr txBox="1"/>
          <p:nvPr>
            <p:ph type="title"/>
          </p:nvPr>
        </p:nvSpPr>
        <p:spPr>
          <a:xfrm>
            <a:off x="467544" y="188640"/>
            <a:ext cx="8229600" cy="66754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Типовые функции СУБД (1) </a:t>
            </a:r>
            <a:endParaRPr/>
          </a:p>
        </p:txBody>
      </p:sp>
      <p:sp>
        <p:nvSpPr>
          <p:cNvPr id="230" name="Google Shape;230;p3"/>
          <p:cNvSpPr txBox="1"/>
          <p:nvPr>
            <p:ph idx="1" type="body"/>
          </p:nvPr>
        </p:nvSpPr>
        <p:spPr>
          <a:xfrm>
            <a:off x="222920" y="1133745"/>
            <a:ext cx="8698160" cy="531059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SzPts val="2100"/>
              <a:buChar char="■"/>
            </a:pPr>
            <a:r>
              <a:rPr b="1" lang="ru-RU" sz="2800">
                <a:solidFill>
                  <a:srgbClr val="000099"/>
                </a:solidFill>
              </a:rPr>
              <a:t>Определение  конкретной базы данных: </a:t>
            </a:r>
            <a:br>
              <a:rPr b="1" lang="ru-RU" sz="2800">
                <a:solidFill>
                  <a:srgbClr val="000099"/>
                </a:solidFill>
              </a:rPr>
            </a:br>
            <a:r>
              <a:rPr lang="ru-RU" sz="2800">
                <a:solidFill>
                  <a:srgbClr val="000099"/>
                </a:solidFill>
              </a:rPr>
              <a:t>типов данных, структур данных, ограничений</a:t>
            </a:r>
            <a:endParaRPr/>
          </a:p>
          <a:p>
            <a:pPr indent="-342900" lvl="0" marL="342900" rtl="0" algn="l">
              <a:lnSpc>
                <a:spcPct val="150000"/>
              </a:lnSpc>
              <a:spcBef>
                <a:spcPts val="0"/>
              </a:spcBef>
              <a:spcAft>
                <a:spcPts val="0"/>
              </a:spcAft>
              <a:buSzPts val="2100"/>
              <a:buChar char="■"/>
            </a:pPr>
            <a:r>
              <a:rPr b="1" lang="ru-RU" sz="2800">
                <a:solidFill>
                  <a:srgbClr val="000099"/>
                </a:solidFill>
              </a:rPr>
              <a:t>Создание или Загрузка начального содержимого  базы данных</a:t>
            </a:r>
            <a:r>
              <a:rPr lang="ru-RU" sz="2800"/>
              <a:t>.</a:t>
            </a:r>
            <a:endParaRPr/>
          </a:p>
          <a:p>
            <a:pPr indent="-342900" lvl="0" marL="342900" rtl="0" algn="l">
              <a:lnSpc>
                <a:spcPct val="150000"/>
              </a:lnSpc>
              <a:spcBef>
                <a:spcPts val="0"/>
              </a:spcBef>
              <a:spcAft>
                <a:spcPts val="0"/>
              </a:spcAft>
              <a:buSzPts val="2100"/>
              <a:buChar char="■"/>
            </a:pPr>
            <a:r>
              <a:rPr b="1" lang="ru-RU" sz="2800">
                <a:solidFill>
                  <a:srgbClr val="000099"/>
                </a:solidFill>
              </a:rPr>
              <a:t>Манипулирование базой данных:</a:t>
            </a:r>
            <a:endParaRPr/>
          </a:p>
          <a:p>
            <a:pPr indent="-285750" lvl="1" marL="742950" rtl="0" algn="l">
              <a:lnSpc>
                <a:spcPct val="150000"/>
              </a:lnSpc>
              <a:spcBef>
                <a:spcPts val="0"/>
              </a:spcBef>
              <a:spcAft>
                <a:spcPts val="0"/>
              </a:spcAft>
              <a:buClr>
                <a:srgbClr val="000099"/>
              </a:buClr>
              <a:buSzPts val="1760"/>
              <a:buFont typeface="Noto Sans Symbols"/>
              <a:buChar char="❖"/>
            </a:pPr>
            <a:r>
              <a:rPr b="1" lang="ru-RU" sz="2200"/>
              <a:t>Модификация данных</a:t>
            </a:r>
            <a:r>
              <a:rPr lang="ru-RU" sz="2200"/>
              <a:t>: вставка, удаление и обновление содержимого баз данных</a:t>
            </a:r>
            <a:endParaRPr sz="2200"/>
          </a:p>
          <a:p>
            <a:pPr indent="-285750" lvl="1" marL="742950" rtl="0" algn="l">
              <a:lnSpc>
                <a:spcPct val="150000"/>
              </a:lnSpc>
              <a:spcBef>
                <a:spcPts val="0"/>
              </a:spcBef>
              <a:spcAft>
                <a:spcPts val="0"/>
              </a:spcAft>
              <a:buClr>
                <a:srgbClr val="000099"/>
              </a:buClr>
              <a:buSzPts val="1760"/>
              <a:buFont typeface="Noto Sans Symbols"/>
              <a:buChar char="❖"/>
            </a:pPr>
            <a:r>
              <a:rPr b="1" lang="ru-RU" sz="2200"/>
              <a:t>Извлечение данных</a:t>
            </a:r>
            <a:r>
              <a:rPr b="1" i="1" lang="ru-RU" sz="2200"/>
              <a:t>: </a:t>
            </a:r>
            <a:r>
              <a:rPr lang="ru-RU" sz="2200"/>
              <a:t>поиск по запросам, создание отчетов</a:t>
            </a:r>
            <a:endParaRPr/>
          </a:p>
          <a:p>
            <a:pPr indent="-173990" lvl="1" marL="742950" rtl="0" algn="l">
              <a:lnSpc>
                <a:spcPct val="150000"/>
              </a:lnSpc>
              <a:spcBef>
                <a:spcPts val="0"/>
              </a:spcBef>
              <a:spcAft>
                <a:spcPts val="0"/>
              </a:spcAft>
              <a:buClr>
                <a:srgbClr val="000099"/>
              </a:buClr>
              <a:buSzPts val="1760"/>
              <a:buFont typeface="Noto Sans Symbols"/>
              <a:buNone/>
            </a:pPr>
            <a:r>
              <a:t/>
            </a:r>
            <a:endParaRPr sz="2200"/>
          </a:p>
        </p:txBody>
      </p:sp>
      <p:sp>
        <p:nvSpPr>
          <p:cNvPr id="231" name="Google Shape;231;p3"/>
          <p:cNvSpPr txBox="1"/>
          <p:nvPr>
            <p:ph idx="12" type="sldNum"/>
          </p:nvPr>
        </p:nvSpPr>
        <p:spPr>
          <a:xfrm>
            <a:off x="8028384" y="6165304"/>
            <a:ext cx="892696" cy="432048"/>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
          <p:cNvSpPr txBox="1"/>
          <p:nvPr>
            <p:ph type="title"/>
          </p:nvPr>
        </p:nvSpPr>
        <p:spPr>
          <a:xfrm>
            <a:off x="467544" y="188640"/>
            <a:ext cx="8229600" cy="66754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Типовые функции СУБД (2) </a:t>
            </a:r>
            <a:endParaRPr/>
          </a:p>
        </p:txBody>
      </p:sp>
      <p:sp>
        <p:nvSpPr>
          <p:cNvPr id="237" name="Google Shape;237;p4"/>
          <p:cNvSpPr txBox="1"/>
          <p:nvPr>
            <p:ph idx="1" type="body"/>
          </p:nvPr>
        </p:nvSpPr>
        <p:spPr>
          <a:xfrm>
            <a:off x="0" y="1448780"/>
            <a:ext cx="9144000" cy="4500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00"/>
              <a:buChar char="■"/>
            </a:pPr>
            <a:r>
              <a:rPr b="1" lang="ru-RU" sz="2800">
                <a:solidFill>
                  <a:schemeClr val="lt2"/>
                </a:solidFill>
              </a:rPr>
              <a:t>Управление многопользовательским доступом</a:t>
            </a:r>
            <a:endParaRPr b="1" sz="2800">
              <a:solidFill>
                <a:schemeClr val="lt2"/>
              </a:solidFill>
            </a:endParaRPr>
          </a:p>
          <a:p>
            <a:pPr indent="-342900" lvl="0" marL="342900" rtl="0" algn="l">
              <a:spcBef>
                <a:spcPts val="560"/>
              </a:spcBef>
              <a:spcAft>
                <a:spcPts val="0"/>
              </a:spcAft>
              <a:buSzPts val="2100"/>
              <a:buChar char="■"/>
            </a:pPr>
            <a:r>
              <a:rPr b="1" lang="ru-RU" sz="2800">
                <a:solidFill>
                  <a:schemeClr val="lt2"/>
                </a:solidFill>
              </a:rPr>
              <a:t>Управление внешней памятью</a:t>
            </a:r>
            <a:endParaRPr/>
          </a:p>
          <a:p>
            <a:pPr indent="-342900" lvl="0" marL="342900" rtl="0" algn="l">
              <a:spcBef>
                <a:spcPts val="560"/>
              </a:spcBef>
              <a:spcAft>
                <a:spcPts val="0"/>
              </a:spcAft>
              <a:buSzPts val="2100"/>
              <a:buChar char="■"/>
            </a:pPr>
            <a:r>
              <a:rPr b="1" lang="ru-RU" sz="2800">
                <a:solidFill>
                  <a:schemeClr val="lt2"/>
                </a:solidFill>
              </a:rPr>
              <a:t>Управление целостностью данных</a:t>
            </a:r>
            <a:endParaRPr/>
          </a:p>
          <a:p>
            <a:pPr indent="-285750" lvl="1" marL="742950" rtl="0" algn="l">
              <a:lnSpc>
                <a:spcPct val="150000"/>
              </a:lnSpc>
              <a:spcBef>
                <a:spcPts val="560"/>
              </a:spcBef>
              <a:spcAft>
                <a:spcPts val="0"/>
              </a:spcAft>
              <a:buClr>
                <a:srgbClr val="000099"/>
              </a:buClr>
              <a:buSzPts val="2240"/>
              <a:buFont typeface="Noto Sans Symbols"/>
              <a:buChar char="❖"/>
            </a:pPr>
            <a:r>
              <a:rPr lang="ru-RU"/>
              <a:t>Физическая целостность</a:t>
            </a:r>
            <a:endParaRPr/>
          </a:p>
          <a:p>
            <a:pPr indent="-285750" lvl="1" marL="742950" rtl="0" algn="l">
              <a:lnSpc>
                <a:spcPct val="150000"/>
              </a:lnSpc>
              <a:spcBef>
                <a:spcPts val="560"/>
              </a:spcBef>
              <a:spcAft>
                <a:spcPts val="0"/>
              </a:spcAft>
              <a:buClr>
                <a:srgbClr val="000099"/>
              </a:buClr>
              <a:buSzPts val="2240"/>
              <a:buFont typeface="Noto Sans Symbols"/>
              <a:buChar char="❖"/>
            </a:pPr>
            <a:r>
              <a:rPr lang="ru-RU"/>
              <a:t>Логическая целостность</a:t>
            </a:r>
            <a:endParaRPr/>
          </a:p>
          <a:p>
            <a:pPr indent="-342900" lvl="0" marL="342900" rtl="0" algn="l">
              <a:spcBef>
                <a:spcPts val="560"/>
              </a:spcBef>
              <a:spcAft>
                <a:spcPts val="0"/>
              </a:spcAft>
              <a:buSzPts val="2100"/>
              <a:buChar char="■"/>
            </a:pPr>
            <a:r>
              <a:rPr b="1" lang="ru-RU" sz="2800">
                <a:solidFill>
                  <a:schemeClr val="lt2"/>
                </a:solidFill>
              </a:rPr>
              <a:t>Управление защитой от несанкционированного доступа к базе данных</a:t>
            </a:r>
            <a:endParaRPr/>
          </a:p>
          <a:p>
            <a:pPr indent="0" lvl="0" marL="45720" rtl="0" algn="l">
              <a:spcBef>
                <a:spcPts val="560"/>
              </a:spcBef>
              <a:spcAft>
                <a:spcPts val="0"/>
              </a:spcAft>
              <a:buSzPts val="2100"/>
              <a:buNone/>
            </a:pPr>
            <a:r>
              <a:t/>
            </a:r>
            <a:endParaRPr sz="2800">
              <a:solidFill>
                <a:srgbClr val="000099"/>
              </a:solidFill>
            </a:endParaRPr>
          </a:p>
        </p:txBody>
      </p:sp>
      <p:sp>
        <p:nvSpPr>
          <p:cNvPr id="238" name="Google Shape;238;p4"/>
          <p:cNvSpPr txBox="1"/>
          <p:nvPr>
            <p:ph idx="12" type="sldNum"/>
          </p:nvPr>
        </p:nvSpPr>
        <p:spPr>
          <a:xfrm>
            <a:off x="8028384" y="6165305"/>
            <a:ext cx="892696" cy="36004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Effect filter="fade" transition="in">
                                      <p:cBhvr>
                                        <p:cTn dur="2000"/>
                                        <p:tgtEl>
                                          <p:spTgt spid="2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Effect filter="fade" transition="in">
                                      <p:cBhvr>
                                        <p:cTn dur="2000"/>
                                        <p:tgtEl>
                                          <p:spTgt spid="2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Effect filter="fade" transition="in">
                                      <p:cBhvr>
                                        <p:cTn dur="2000"/>
                                        <p:tgtEl>
                                          <p:spTgt spid="2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Effect filter="fade" transition="in">
                                      <p:cBhvr>
                                        <p:cTn dur="2000"/>
                                        <p:tgtEl>
                                          <p:spTgt spid="2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animEffect filter="fade" transition="in">
                                      <p:cBhvr>
                                        <p:cTn dur="2000"/>
                                        <p:tgtEl>
                                          <p:spTgt spid="2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animEffect filter="fade" transition="in">
                                      <p:cBhvr>
                                        <p:cTn dur="2000"/>
                                        <p:tgtEl>
                                          <p:spTgt spid="2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6" st="6"/>
                                            </p:txEl>
                                          </p:spTgt>
                                        </p:tgtEl>
                                        <p:attrNameLst>
                                          <p:attrName>style.visibility</p:attrName>
                                        </p:attrNameLst>
                                      </p:cBhvr>
                                      <p:to>
                                        <p:strVal val="visible"/>
                                      </p:to>
                                    </p:set>
                                    <p:animEffect filter="fade" transition="in">
                                      <p:cBhvr>
                                        <p:cTn dur="2000"/>
                                        <p:tgtEl>
                                          <p:spTgt spid="23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
          <p:cNvSpPr txBox="1"/>
          <p:nvPr>
            <p:ph type="title"/>
          </p:nvPr>
        </p:nvSpPr>
        <p:spPr>
          <a:xfrm>
            <a:off x="571499" y="0"/>
            <a:ext cx="8229600" cy="736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sz="2800">
                <a:solidFill>
                  <a:schemeClr val="lt2"/>
                </a:solidFill>
              </a:rPr>
              <a:t>Структура СУБД</a:t>
            </a:r>
            <a:endParaRPr/>
          </a:p>
        </p:txBody>
      </p:sp>
      <p:sp>
        <p:nvSpPr>
          <p:cNvPr id="244" name="Google Shape;244;p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245" name="Google Shape;245;p5"/>
          <p:cNvSpPr txBox="1"/>
          <p:nvPr/>
        </p:nvSpPr>
        <p:spPr>
          <a:xfrm>
            <a:off x="293905" y="605968"/>
            <a:ext cx="3233059" cy="384478"/>
          </a:xfrm>
          <a:prstGeom prst="rect">
            <a:avLst/>
          </a:prstGeom>
          <a:noFill/>
          <a:ln>
            <a:noFill/>
          </a:ln>
        </p:spPr>
        <p:txBody>
          <a:bodyPr anchorCtr="0" anchor="t" bIns="18000" lIns="0" spcFirstLastPara="1" rIns="0" wrap="square" tIns="18000">
            <a:normAutofit/>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Пользователь/приложение</a:t>
            </a:r>
            <a:endParaRPr/>
          </a:p>
        </p:txBody>
      </p:sp>
      <p:sp>
        <p:nvSpPr>
          <p:cNvPr id="246" name="Google Shape;246;p5"/>
          <p:cNvSpPr txBox="1"/>
          <p:nvPr/>
        </p:nvSpPr>
        <p:spPr>
          <a:xfrm>
            <a:off x="5336723" y="556981"/>
            <a:ext cx="3497038" cy="38447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Администратор базы данных</a:t>
            </a:r>
            <a:endParaRPr/>
          </a:p>
        </p:txBody>
      </p:sp>
      <p:sp>
        <p:nvSpPr>
          <p:cNvPr id="247" name="Google Shape;247;p5"/>
          <p:cNvSpPr txBox="1"/>
          <p:nvPr/>
        </p:nvSpPr>
        <p:spPr>
          <a:xfrm>
            <a:off x="767441" y="1219052"/>
            <a:ext cx="2160000" cy="576000"/>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lnSpcReduction="10000"/>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Компилятор запросов</a:t>
            </a:r>
            <a:endParaRPr/>
          </a:p>
        </p:txBody>
      </p:sp>
      <p:sp>
        <p:nvSpPr>
          <p:cNvPr id="248" name="Google Shape;248;p5"/>
          <p:cNvSpPr txBox="1"/>
          <p:nvPr/>
        </p:nvSpPr>
        <p:spPr>
          <a:xfrm>
            <a:off x="767441" y="2133450"/>
            <a:ext cx="2160000" cy="576000"/>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lnSpcReduction="10000"/>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Исполняющая машина</a:t>
            </a:r>
            <a:endParaRPr/>
          </a:p>
        </p:txBody>
      </p:sp>
      <p:sp>
        <p:nvSpPr>
          <p:cNvPr id="249" name="Google Shape;249;p5"/>
          <p:cNvSpPr txBox="1"/>
          <p:nvPr/>
        </p:nvSpPr>
        <p:spPr>
          <a:xfrm>
            <a:off x="767441" y="3067812"/>
            <a:ext cx="2160000" cy="576000"/>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lnSpcReduction="10000"/>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Менеджер ресурсов</a:t>
            </a:r>
            <a:endParaRPr/>
          </a:p>
        </p:txBody>
      </p:sp>
      <p:sp>
        <p:nvSpPr>
          <p:cNvPr id="250" name="Google Shape;250;p5"/>
          <p:cNvSpPr txBox="1"/>
          <p:nvPr/>
        </p:nvSpPr>
        <p:spPr>
          <a:xfrm>
            <a:off x="767441" y="4011239"/>
            <a:ext cx="2160000" cy="576000"/>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lnSpcReduction="10000"/>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Менеджер буферов</a:t>
            </a:r>
            <a:endParaRPr/>
          </a:p>
        </p:txBody>
      </p:sp>
      <p:sp>
        <p:nvSpPr>
          <p:cNvPr id="251" name="Google Shape;251;p5"/>
          <p:cNvSpPr txBox="1"/>
          <p:nvPr/>
        </p:nvSpPr>
        <p:spPr>
          <a:xfrm>
            <a:off x="783770" y="4974623"/>
            <a:ext cx="2160000" cy="576000"/>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lnSpcReduction="10000"/>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Менеджер хранения данных</a:t>
            </a:r>
            <a:endParaRPr/>
          </a:p>
        </p:txBody>
      </p:sp>
      <p:sp>
        <p:nvSpPr>
          <p:cNvPr id="252" name="Google Shape;252;p5"/>
          <p:cNvSpPr txBox="1"/>
          <p:nvPr/>
        </p:nvSpPr>
        <p:spPr>
          <a:xfrm>
            <a:off x="4000505" y="1219052"/>
            <a:ext cx="1632857" cy="598862"/>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Менеджер транзакций</a:t>
            </a:r>
            <a:endParaRPr/>
          </a:p>
        </p:txBody>
      </p:sp>
      <p:sp>
        <p:nvSpPr>
          <p:cNvPr id="253" name="Google Shape;253;p5"/>
          <p:cNvSpPr txBox="1"/>
          <p:nvPr/>
        </p:nvSpPr>
        <p:spPr>
          <a:xfrm>
            <a:off x="3804556" y="2565396"/>
            <a:ext cx="2160000" cy="792000"/>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fontScale="92500" lnSpcReduction="10000"/>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Менеджер протоколирования и восстановления</a:t>
            </a:r>
            <a:endParaRPr/>
          </a:p>
        </p:txBody>
      </p:sp>
      <p:sp>
        <p:nvSpPr>
          <p:cNvPr id="254" name="Google Shape;254;p5"/>
          <p:cNvSpPr txBox="1"/>
          <p:nvPr/>
        </p:nvSpPr>
        <p:spPr>
          <a:xfrm>
            <a:off x="3997772" y="5045545"/>
            <a:ext cx="1586596" cy="582238"/>
          </a:xfrm>
          <a:prstGeom prst="rect">
            <a:avLst/>
          </a:prstGeom>
          <a:noFill/>
          <a:ln cap="flat" cmpd="dbl" w="10160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Буферы</a:t>
            </a:r>
            <a:endParaRPr/>
          </a:p>
        </p:txBody>
      </p:sp>
      <p:sp>
        <p:nvSpPr>
          <p:cNvPr id="255" name="Google Shape;255;p5"/>
          <p:cNvSpPr txBox="1"/>
          <p:nvPr/>
        </p:nvSpPr>
        <p:spPr>
          <a:xfrm>
            <a:off x="6531426" y="1224491"/>
            <a:ext cx="2160000" cy="576000"/>
          </a:xfrm>
          <a:prstGeom prst="rect">
            <a:avLst/>
          </a:prstGeom>
          <a:noFill/>
          <a:ln cap="flat" cmpd="sng" w="25400">
            <a:solidFill>
              <a:schemeClr val="dk1"/>
            </a:solidFill>
            <a:prstDash val="solid"/>
            <a:round/>
            <a:headEnd len="sm" w="sm" type="none"/>
            <a:tailEnd len="sm" w="sm" type="none"/>
          </a:ln>
        </p:spPr>
        <p:txBody>
          <a:bodyPr anchorCtr="0" anchor="ctr" bIns="18000" lIns="0" spcFirstLastPara="1" rIns="0" wrap="square" tIns="18000">
            <a:normAutofit/>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Компилятор DDL</a:t>
            </a:r>
            <a:endParaRPr b="1" sz="1800">
              <a:solidFill>
                <a:schemeClr val="dk1"/>
              </a:solidFill>
              <a:latin typeface="Arial"/>
              <a:ea typeface="Arial"/>
              <a:cs typeface="Arial"/>
              <a:sym typeface="Arial"/>
            </a:endParaRPr>
          </a:p>
        </p:txBody>
      </p:sp>
      <p:sp>
        <p:nvSpPr>
          <p:cNvPr id="256" name="Google Shape;256;p5"/>
          <p:cNvSpPr txBox="1"/>
          <p:nvPr/>
        </p:nvSpPr>
        <p:spPr>
          <a:xfrm>
            <a:off x="6645726" y="2523376"/>
            <a:ext cx="1730831" cy="677024"/>
          </a:xfrm>
          <a:prstGeom prst="rect">
            <a:avLst/>
          </a:prstGeom>
          <a:noFill/>
          <a:ln cap="flat" cmpd="sng" w="25400">
            <a:solidFill>
              <a:schemeClr val="dk1"/>
            </a:solidFill>
            <a:prstDash val="solid"/>
            <a:round/>
            <a:headEnd len="sm" w="sm" type="none"/>
            <a:tailEnd len="sm" w="sm" type="none"/>
          </a:ln>
        </p:spPr>
        <p:txBody>
          <a:bodyPr anchorCtr="0" anchor="t" bIns="18000" lIns="0" spcFirstLastPara="1" rIns="0" wrap="square" tIns="18000">
            <a:normAutofit/>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Планировщик заданий</a:t>
            </a:r>
            <a:endParaRPr/>
          </a:p>
        </p:txBody>
      </p:sp>
      <p:sp>
        <p:nvSpPr>
          <p:cNvPr id="257" name="Google Shape;257;p5"/>
          <p:cNvSpPr txBox="1"/>
          <p:nvPr/>
        </p:nvSpPr>
        <p:spPr>
          <a:xfrm>
            <a:off x="6724645" y="3807344"/>
            <a:ext cx="1586596" cy="582238"/>
          </a:xfrm>
          <a:prstGeom prst="rect">
            <a:avLst/>
          </a:prstGeom>
          <a:noFill/>
          <a:ln cap="flat" cmpd="dbl" w="101600">
            <a:solidFill>
              <a:schemeClr val="dk1"/>
            </a:solidFill>
            <a:prstDash val="solid"/>
            <a:round/>
            <a:headEnd len="sm" w="sm" type="none"/>
            <a:tailEnd len="sm" w="sm" type="none"/>
          </a:ln>
        </p:spPr>
        <p:txBody>
          <a:bodyPr anchorCtr="0" anchor="ctr" bIns="45700" lIns="91425" spcFirstLastPara="1" rIns="91425" wrap="square" tIns="45700">
            <a:normAutofit fontScale="92500" lnSpcReduction="10000"/>
          </a:bodyPr>
          <a:lstStyle/>
          <a:p>
            <a:pPr indent="0" lvl="0" marL="0" marR="0" rtl="0" algn="ctr">
              <a:spcBef>
                <a:spcPts val="0"/>
              </a:spcBef>
              <a:spcAft>
                <a:spcPts val="0"/>
              </a:spcAft>
              <a:buNone/>
            </a:pPr>
            <a:r>
              <a:rPr b="1" lang="ru-RU" sz="1800">
                <a:solidFill>
                  <a:schemeClr val="dk1"/>
                </a:solidFill>
                <a:latin typeface="Arial"/>
                <a:ea typeface="Arial"/>
                <a:cs typeface="Arial"/>
                <a:sym typeface="Arial"/>
              </a:rPr>
              <a:t>Таблицы блокировок</a:t>
            </a:r>
            <a:endParaRPr/>
          </a:p>
        </p:txBody>
      </p:sp>
      <p:cxnSp>
        <p:nvCxnSpPr>
          <p:cNvPr id="258" name="Google Shape;258;p5"/>
          <p:cNvCxnSpPr/>
          <p:nvPr/>
        </p:nvCxnSpPr>
        <p:spPr>
          <a:xfrm rot="5400000">
            <a:off x="1727489" y="1080000"/>
            <a:ext cx="360000" cy="5893"/>
          </a:xfrm>
          <a:prstGeom prst="straightConnector1">
            <a:avLst/>
          </a:prstGeom>
          <a:noFill/>
          <a:ln cap="flat" cmpd="sng" w="25400">
            <a:solidFill>
              <a:schemeClr val="dk1"/>
            </a:solidFill>
            <a:prstDash val="solid"/>
            <a:round/>
            <a:headEnd len="sm" w="sm" type="none"/>
            <a:tailEnd len="med" w="med" type="stealth"/>
          </a:ln>
        </p:spPr>
      </p:cxnSp>
      <p:cxnSp>
        <p:nvCxnSpPr>
          <p:cNvPr id="259" name="Google Shape;259;p5"/>
          <p:cNvCxnSpPr/>
          <p:nvPr/>
        </p:nvCxnSpPr>
        <p:spPr>
          <a:xfrm rot="5400000">
            <a:off x="1716599" y="1934547"/>
            <a:ext cx="360000" cy="5893"/>
          </a:xfrm>
          <a:prstGeom prst="straightConnector1">
            <a:avLst/>
          </a:prstGeom>
          <a:noFill/>
          <a:ln cap="flat" cmpd="sng" w="25400">
            <a:solidFill>
              <a:schemeClr val="dk1"/>
            </a:solidFill>
            <a:prstDash val="solid"/>
            <a:round/>
            <a:headEnd len="sm" w="sm" type="none"/>
            <a:tailEnd len="med" w="med" type="stealth"/>
          </a:ln>
        </p:spPr>
      </p:cxnSp>
      <p:cxnSp>
        <p:nvCxnSpPr>
          <p:cNvPr id="260" name="Google Shape;260;p5"/>
          <p:cNvCxnSpPr/>
          <p:nvPr/>
        </p:nvCxnSpPr>
        <p:spPr>
          <a:xfrm rot="5400000">
            <a:off x="1705709" y="2854410"/>
            <a:ext cx="360000" cy="5893"/>
          </a:xfrm>
          <a:prstGeom prst="straightConnector1">
            <a:avLst/>
          </a:prstGeom>
          <a:noFill/>
          <a:ln cap="flat" cmpd="sng" w="25400">
            <a:solidFill>
              <a:schemeClr val="dk1"/>
            </a:solidFill>
            <a:prstDash val="solid"/>
            <a:round/>
            <a:headEnd len="med" w="med" type="stealth"/>
            <a:tailEnd len="med" w="med" type="stealth"/>
          </a:ln>
        </p:spPr>
      </p:cxnSp>
      <p:cxnSp>
        <p:nvCxnSpPr>
          <p:cNvPr id="261" name="Google Shape;261;p5"/>
          <p:cNvCxnSpPr/>
          <p:nvPr/>
        </p:nvCxnSpPr>
        <p:spPr>
          <a:xfrm rot="5400000">
            <a:off x="1694819" y="3806931"/>
            <a:ext cx="360000" cy="5893"/>
          </a:xfrm>
          <a:prstGeom prst="straightConnector1">
            <a:avLst/>
          </a:prstGeom>
          <a:noFill/>
          <a:ln cap="flat" cmpd="sng" w="25400">
            <a:solidFill>
              <a:schemeClr val="dk1"/>
            </a:solidFill>
            <a:prstDash val="solid"/>
            <a:round/>
            <a:headEnd len="med" w="med" type="stealth"/>
            <a:tailEnd len="med" w="med" type="stealth"/>
          </a:ln>
        </p:spPr>
      </p:cxnSp>
      <p:cxnSp>
        <p:nvCxnSpPr>
          <p:cNvPr id="262" name="Google Shape;262;p5"/>
          <p:cNvCxnSpPr/>
          <p:nvPr/>
        </p:nvCxnSpPr>
        <p:spPr>
          <a:xfrm rot="5400000">
            <a:off x="1666726" y="4792385"/>
            <a:ext cx="410292" cy="1588"/>
          </a:xfrm>
          <a:prstGeom prst="straightConnector1">
            <a:avLst/>
          </a:prstGeom>
          <a:noFill/>
          <a:ln cap="flat" cmpd="sng" w="25400">
            <a:solidFill>
              <a:schemeClr val="dk1"/>
            </a:solidFill>
            <a:prstDash val="solid"/>
            <a:round/>
            <a:headEnd len="med" w="med" type="stealth"/>
            <a:tailEnd len="med" w="med" type="stealth"/>
          </a:ln>
        </p:spPr>
      </p:cxnSp>
      <p:cxnSp>
        <p:nvCxnSpPr>
          <p:cNvPr id="263" name="Google Shape;263;p5"/>
          <p:cNvCxnSpPr/>
          <p:nvPr/>
        </p:nvCxnSpPr>
        <p:spPr>
          <a:xfrm rot="5400000">
            <a:off x="1673039" y="5744631"/>
            <a:ext cx="360000" cy="5893"/>
          </a:xfrm>
          <a:prstGeom prst="straightConnector1">
            <a:avLst/>
          </a:prstGeom>
          <a:noFill/>
          <a:ln cap="flat" cmpd="sng" w="25400">
            <a:solidFill>
              <a:schemeClr val="dk1"/>
            </a:solidFill>
            <a:prstDash val="solid"/>
            <a:round/>
            <a:headEnd len="med" w="med" type="stealth"/>
            <a:tailEnd len="med" w="med" type="stealth"/>
          </a:ln>
        </p:spPr>
      </p:cxnSp>
      <p:grpSp>
        <p:nvGrpSpPr>
          <p:cNvPr id="264" name="Google Shape;264;p5"/>
          <p:cNvGrpSpPr/>
          <p:nvPr/>
        </p:nvGrpSpPr>
        <p:grpSpPr>
          <a:xfrm>
            <a:off x="930738" y="5861957"/>
            <a:ext cx="1975758" cy="843643"/>
            <a:chOff x="930738" y="5861957"/>
            <a:chExt cx="1975758" cy="843643"/>
          </a:xfrm>
        </p:grpSpPr>
        <p:sp>
          <p:nvSpPr>
            <p:cNvPr id="265" name="Google Shape;265;p5"/>
            <p:cNvSpPr/>
            <p:nvPr/>
          </p:nvSpPr>
          <p:spPr>
            <a:xfrm>
              <a:off x="963389" y="5861957"/>
              <a:ext cx="1763487" cy="843643"/>
            </a:xfrm>
            <a:prstGeom prst="can">
              <a:avLst>
                <a:gd fmla="val 25000"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6" name="Google Shape;266;p5"/>
            <p:cNvSpPr txBox="1"/>
            <p:nvPr/>
          </p:nvSpPr>
          <p:spPr>
            <a:xfrm>
              <a:off x="930738" y="6248400"/>
              <a:ext cx="197575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600">
                  <a:solidFill>
                    <a:schemeClr val="dk1"/>
                  </a:solidFill>
                  <a:latin typeface="Arial"/>
                  <a:ea typeface="Arial"/>
                  <a:cs typeface="Arial"/>
                  <a:sym typeface="Arial"/>
                </a:rPr>
                <a:t>Носитель данных</a:t>
              </a:r>
              <a:endParaRPr/>
            </a:p>
          </p:txBody>
        </p:sp>
      </p:grpSp>
      <p:cxnSp>
        <p:nvCxnSpPr>
          <p:cNvPr id="267" name="Google Shape;267;p5"/>
          <p:cNvCxnSpPr>
            <a:endCxn id="252" idx="0"/>
          </p:cNvCxnSpPr>
          <p:nvPr/>
        </p:nvCxnSpPr>
        <p:spPr>
          <a:xfrm>
            <a:off x="1943534" y="924752"/>
            <a:ext cx="2873400" cy="294300"/>
          </a:xfrm>
          <a:prstGeom prst="straightConnector1">
            <a:avLst/>
          </a:prstGeom>
          <a:noFill/>
          <a:ln cap="flat" cmpd="sng" w="25400">
            <a:solidFill>
              <a:schemeClr val="dk1"/>
            </a:solidFill>
            <a:prstDash val="solid"/>
            <a:round/>
            <a:headEnd len="sm" w="sm" type="none"/>
            <a:tailEnd len="med" w="med" type="stealth"/>
          </a:ln>
        </p:spPr>
      </p:cxnSp>
      <p:cxnSp>
        <p:nvCxnSpPr>
          <p:cNvPr id="268" name="Google Shape;268;p5"/>
          <p:cNvCxnSpPr/>
          <p:nvPr/>
        </p:nvCxnSpPr>
        <p:spPr>
          <a:xfrm rot="5400000">
            <a:off x="4431867" y="2174828"/>
            <a:ext cx="775246" cy="5894"/>
          </a:xfrm>
          <a:prstGeom prst="straightConnector1">
            <a:avLst/>
          </a:prstGeom>
          <a:noFill/>
          <a:ln cap="flat" cmpd="sng" w="25400">
            <a:solidFill>
              <a:schemeClr val="dk1"/>
            </a:solidFill>
            <a:prstDash val="solid"/>
            <a:round/>
            <a:headEnd len="sm" w="sm" type="none"/>
            <a:tailEnd len="med" w="med" type="stealth"/>
          </a:ln>
        </p:spPr>
      </p:cxnSp>
      <p:cxnSp>
        <p:nvCxnSpPr>
          <p:cNvPr id="269" name="Google Shape;269;p5"/>
          <p:cNvCxnSpPr>
            <a:endCxn id="256" idx="0"/>
          </p:cNvCxnSpPr>
          <p:nvPr/>
        </p:nvCxnSpPr>
        <p:spPr>
          <a:xfrm>
            <a:off x="5238641" y="1817776"/>
            <a:ext cx="2272500" cy="705600"/>
          </a:xfrm>
          <a:prstGeom prst="straightConnector1">
            <a:avLst/>
          </a:prstGeom>
          <a:noFill/>
          <a:ln cap="flat" cmpd="sng" w="25400">
            <a:solidFill>
              <a:schemeClr val="dk1"/>
            </a:solidFill>
            <a:prstDash val="solid"/>
            <a:round/>
            <a:headEnd len="sm" w="sm" type="none"/>
            <a:tailEnd len="med" w="med" type="stealth"/>
          </a:ln>
        </p:spPr>
      </p:cxnSp>
      <p:cxnSp>
        <p:nvCxnSpPr>
          <p:cNvPr id="270" name="Google Shape;270;p5"/>
          <p:cNvCxnSpPr/>
          <p:nvPr/>
        </p:nvCxnSpPr>
        <p:spPr>
          <a:xfrm flipH="1">
            <a:off x="2726876" y="1817914"/>
            <a:ext cx="4790160" cy="315536"/>
          </a:xfrm>
          <a:prstGeom prst="straightConnector1">
            <a:avLst/>
          </a:prstGeom>
          <a:noFill/>
          <a:ln cap="flat" cmpd="sng" w="25400">
            <a:solidFill>
              <a:schemeClr val="dk1"/>
            </a:solidFill>
            <a:prstDash val="solid"/>
            <a:round/>
            <a:headEnd len="sm" w="sm" type="none"/>
            <a:tailEnd len="med" w="med" type="stealth"/>
          </a:ln>
        </p:spPr>
      </p:cxnSp>
      <p:sp>
        <p:nvSpPr>
          <p:cNvPr id="271" name="Google Shape;271;p5"/>
          <p:cNvSpPr/>
          <p:nvPr/>
        </p:nvSpPr>
        <p:spPr>
          <a:xfrm rot="-10463195">
            <a:off x="2890105" y="2225797"/>
            <a:ext cx="4297049" cy="1511466"/>
          </a:xfrm>
          <a:prstGeom prst="arc">
            <a:avLst>
              <a:gd fmla="val 10752409" name="adj1"/>
              <a:gd fmla="val 175755" name="adj2"/>
            </a:avLst>
          </a:prstGeom>
          <a:noFill/>
          <a:ln cap="flat" cmpd="sng" w="25400">
            <a:solidFill>
              <a:schemeClr val="dk1"/>
            </a:solidFill>
            <a:prstDash val="solid"/>
            <a:round/>
            <a:headEnd len="med" w="med" type="stealth"/>
            <a:tailEnd len="med" w="med" type="stealth"/>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72" name="Google Shape;272;p5"/>
          <p:cNvCxnSpPr>
            <a:stCxn id="256" idx="2"/>
            <a:endCxn id="257" idx="0"/>
          </p:cNvCxnSpPr>
          <p:nvPr/>
        </p:nvCxnSpPr>
        <p:spPr>
          <a:xfrm>
            <a:off x="7511141" y="3200400"/>
            <a:ext cx="6900" cy="606900"/>
          </a:xfrm>
          <a:prstGeom prst="straightConnector1">
            <a:avLst/>
          </a:prstGeom>
          <a:noFill/>
          <a:ln cap="flat" cmpd="sng" w="25400">
            <a:solidFill>
              <a:schemeClr val="dk1"/>
            </a:solidFill>
            <a:prstDash val="solid"/>
            <a:round/>
            <a:headEnd len="med" w="med" type="stealth"/>
            <a:tailEnd len="med" w="med" type="stealth"/>
          </a:ln>
        </p:spPr>
      </p:cxnSp>
      <p:cxnSp>
        <p:nvCxnSpPr>
          <p:cNvPr id="273" name="Google Shape;273;p5"/>
          <p:cNvCxnSpPr>
            <a:endCxn id="254" idx="3"/>
          </p:cNvCxnSpPr>
          <p:nvPr/>
        </p:nvCxnSpPr>
        <p:spPr>
          <a:xfrm rot="5400000">
            <a:off x="5221068" y="2181264"/>
            <a:ext cx="3518700" cy="2792100"/>
          </a:xfrm>
          <a:prstGeom prst="curvedConnector2">
            <a:avLst/>
          </a:prstGeom>
          <a:noFill/>
          <a:ln cap="flat" cmpd="sng" w="25400">
            <a:solidFill>
              <a:srgbClr val="9292FB"/>
            </a:solidFill>
            <a:prstDash val="dash"/>
            <a:round/>
            <a:headEnd len="med" w="med" type="stealth"/>
            <a:tailEnd len="med" w="med" type="stealth"/>
          </a:ln>
        </p:spPr>
      </p:cxnSp>
      <p:sp>
        <p:nvSpPr>
          <p:cNvPr id="274" name="Google Shape;274;p5"/>
          <p:cNvSpPr txBox="1"/>
          <p:nvPr/>
        </p:nvSpPr>
        <p:spPr>
          <a:xfrm>
            <a:off x="6972300" y="2019261"/>
            <a:ext cx="17145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ru-RU" sz="1800">
                <a:solidFill>
                  <a:srgbClr val="1717FF"/>
                </a:solidFill>
                <a:latin typeface="Arial"/>
                <a:ea typeface="Arial"/>
                <a:cs typeface="Arial"/>
                <a:sym typeface="Arial"/>
              </a:rPr>
              <a:t>метаданные</a:t>
            </a:r>
            <a:endParaRPr/>
          </a:p>
        </p:txBody>
      </p:sp>
      <p:cxnSp>
        <p:nvCxnSpPr>
          <p:cNvPr id="275" name="Google Shape;275;p5"/>
          <p:cNvCxnSpPr/>
          <p:nvPr/>
        </p:nvCxnSpPr>
        <p:spPr>
          <a:xfrm flipH="1" rot="-5400000">
            <a:off x="2057523" y="2427267"/>
            <a:ext cx="3216600" cy="1812600"/>
          </a:xfrm>
          <a:prstGeom prst="curvedConnector3">
            <a:avLst>
              <a:gd fmla="val 50002" name="adj1"/>
            </a:avLst>
          </a:prstGeom>
          <a:noFill/>
          <a:ln cap="flat" cmpd="sng" w="25400">
            <a:solidFill>
              <a:srgbClr val="9292FB"/>
            </a:solidFill>
            <a:prstDash val="dash"/>
            <a:round/>
            <a:headEnd len="med" w="med" type="stealth"/>
            <a:tailEnd len="med" w="med" type="stealth"/>
          </a:ln>
        </p:spPr>
      </p:cxnSp>
      <p:cxnSp>
        <p:nvCxnSpPr>
          <p:cNvPr id="276" name="Google Shape;276;p5"/>
          <p:cNvCxnSpPr/>
          <p:nvPr/>
        </p:nvCxnSpPr>
        <p:spPr>
          <a:xfrm flipH="1" rot="-5400000">
            <a:off x="2155126" y="2987855"/>
            <a:ext cx="2368200" cy="1747200"/>
          </a:xfrm>
          <a:prstGeom prst="curvedConnector3">
            <a:avLst>
              <a:gd fmla="val 50000" name="adj1"/>
            </a:avLst>
          </a:prstGeom>
          <a:noFill/>
          <a:ln cap="flat" cmpd="sng" w="25400">
            <a:solidFill>
              <a:srgbClr val="9292FB"/>
            </a:solidFill>
            <a:prstDash val="dash"/>
            <a:round/>
            <a:headEnd len="med" w="med" type="stealth"/>
            <a:tailEnd len="med" w="med" type="stealth"/>
          </a:ln>
        </p:spPr>
      </p:cxnSp>
      <p:cxnSp>
        <p:nvCxnSpPr>
          <p:cNvPr id="277" name="Google Shape;277;p5"/>
          <p:cNvCxnSpPr>
            <a:stCxn id="253" idx="2"/>
          </p:cNvCxnSpPr>
          <p:nvPr/>
        </p:nvCxnSpPr>
        <p:spPr>
          <a:xfrm>
            <a:off x="4884556" y="3357396"/>
            <a:ext cx="0" cy="1584600"/>
          </a:xfrm>
          <a:prstGeom prst="straightConnector1">
            <a:avLst/>
          </a:prstGeom>
          <a:noFill/>
          <a:ln cap="flat" cmpd="sng" w="25400">
            <a:solidFill>
              <a:srgbClr val="9292FB"/>
            </a:solidFill>
            <a:prstDash val="dash"/>
            <a:round/>
            <a:headEnd len="med" w="med" type="stealth"/>
            <a:tailEnd len="med" w="med" type="stealth"/>
          </a:ln>
        </p:spPr>
      </p:cxnSp>
      <p:sp>
        <p:nvSpPr>
          <p:cNvPr id="278" name="Google Shape;278;p5"/>
          <p:cNvSpPr txBox="1"/>
          <p:nvPr/>
        </p:nvSpPr>
        <p:spPr>
          <a:xfrm>
            <a:off x="4571999" y="3807344"/>
            <a:ext cx="1392557" cy="74239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None/>
            </a:pPr>
            <a:r>
              <a:rPr b="1" lang="ru-RU" sz="1800">
                <a:solidFill>
                  <a:srgbClr val="1717FF"/>
                </a:solidFill>
                <a:latin typeface="Arial"/>
                <a:ea typeface="Arial"/>
                <a:cs typeface="Arial"/>
                <a:sym typeface="Arial"/>
              </a:rPr>
              <a:t>Страницы протокола</a:t>
            </a:r>
            <a:endParaRPr/>
          </a:p>
        </p:txBody>
      </p:sp>
      <p:sp>
        <p:nvSpPr>
          <p:cNvPr id="279" name="Google Shape;279;p5"/>
          <p:cNvSpPr txBox="1"/>
          <p:nvPr/>
        </p:nvSpPr>
        <p:spPr>
          <a:xfrm>
            <a:off x="2927441" y="4018384"/>
            <a:ext cx="1392557" cy="742395"/>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ctr">
              <a:spcBef>
                <a:spcPts val="0"/>
              </a:spcBef>
              <a:spcAft>
                <a:spcPts val="0"/>
              </a:spcAft>
              <a:buNone/>
            </a:pPr>
            <a:r>
              <a:rPr b="1" lang="ru-RU" sz="1800">
                <a:solidFill>
                  <a:srgbClr val="1717FF"/>
                </a:solidFill>
                <a:latin typeface="Arial"/>
                <a:ea typeface="Arial"/>
                <a:cs typeface="Arial"/>
                <a:sym typeface="Arial"/>
              </a:rPr>
              <a:t>Данные, индексы, метаданные</a:t>
            </a:r>
            <a:endParaRPr/>
          </a:p>
        </p:txBody>
      </p:sp>
      <p:sp>
        <p:nvSpPr>
          <p:cNvPr id="280" name="Google Shape;280;p5"/>
          <p:cNvSpPr txBox="1"/>
          <p:nvPr/>
        </p:nvSpPr>
        <p:spPr>
          <a:xfrm>
            <a:off x="2654206" y="1823003"/>
            <a:ext cx="1745515" cy="74239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None/>
            </a:pPr>
            <a:r>
              <a:rPr b="1" lang="ru-RU" sz="1800">
                <a:solidFill>
                  <a:srgbClr val="1717FF"/>
                </a:solidFill>
                <a:latin typeface="Arial"/>
                <a:ea typeface="Arial"/>
                <a:cs typeface="Arial"/>
                <a:sym typeface="Arial"/>
              </a:rPr>
              <a:t>Метаданные, статистика</a:t>
            </a:r>
            <a:endParaRPr/>
          </a:p>
        </p:txBody>
      </p:sp>
      <p:sp>
        <p:nvSpPr>
          <p:cNvPr id="281" name="Google Shape;281;p5"/>
          <p:cNvSpPr txBox="1"/>
          <p:nvPr/>
        </p:nvSpPr>
        <p:spPr>
          <a:xfrm>
            <a:off x="261248" y="892057"/>
            <a:ext cx="1126681" cy="338232"/>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Запросы</a:t>
            </a:r>
            <a:endParaRPr/>
          </a:p>
        </p:txBody>
      </p:sp>
      <p:sp>
        <p:nvSpPr>
          <p:cNvPr id="282" name="Google Shape;282;p5"/>
          <p:cNvSpPr txBox="1"/>
          <p:nvPr/>
        </p:nvSpPr>
        <p:spPr>
          <a:xfrm>
            <a:off x="163273" y="1806911"/>
            <a:ext cx="1556187" cy="408184"/>
          </a:xfrm>
          <a:prstGeom prst="rect">
            <a:avLst/>
          </a:prstGeom>
          <a:noFill/>
          <a:ln>
            <a:noFill/>
          </a:ln>
        </p:spPr>
        <p:txBody>
          <a:bodyPr anchorCtr="0" anchor="t" bIns="18000" lIns="0" spcFirstLastPara="1" rIns="0" wrap="square" tIns="18000">
            <a:normAutofit/>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План запроса</a:t>
            </a:r>
            <a:endParaRPr/>
          </a:p>
        </p:txBody>
      </p:sp>
      <p:sp>
        <p:nvSpPr>
          <p:cNvPr id="283" name="Google Shape;283;p5"/>
          <p:cNvSpPr txBox="1"/>
          <p:nvPr/>
        </p:nvSpPr>
        <p:spPr>
          <a:xfrm>
            <a:off x="152644" y="2710013"/>
            <a:ext cx="1556187" cy="408184"/>
          </a:xfrm>
          <a:prstGeom prst="rect">
            <a:avLst/>
          </a:prstGeom>
          <a:noFill/>
          <a:ln>
            <a:noFill/>
          </a:ln>
        </p:spPr>
        <p:txBody>
          <a:bodyPr anchorCtr="0" anchor="t" bIns="18000" lIns="0" spcFirstLastPara="1" rIns="0" wrap="square" tIns="18000">
            <a:normAutofit fontScale="70000" lnSpcReduction="20000"/>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Запросы индексов файлов записей</a:t>
            </a:r>
            <a:endParaRPr/>
          </a:p>
        </p:txBody>
      </p:sp>
      <p:sp>
        <p:nvSpPr>
          <p:cNvPr id="284" name="Google Shape;284;p5"/>
          <p:cNvSpPr txBox="1"/>
          <p:nvPr/>
        </p:nvSpPr>
        <p:spPr>
          <a:xfrm>
            <a:off x="152644" y="3629876"/>
            <a:ext cx="1708338" cy="408184"/>
          </a:xfrm>
          <a:prstGeom prst="rect">
            <a:avLst/>
          </a:prstGeom>
          <a:noFill/>
          <a:ln>
            <a:noFill/>
          </a:ln>
        </p:spPr>
        <p:txBody>
          <a:bodyPr anchorCtr="0" anchor="t" bIns="18000" lIns="0" spcFirstLastPara="1" rIns="0" wrap="square" tIns="18000">
            <a:normAutofit fontScale="85000" lnSpcReduction="20000"/>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Страничные команды</a:t>
            </a:r>
            <a:endParaRPr/>
          </a:p>
        </p:txBody>
      </p:sp>
      <p:sp>
        <p:nvSpPr>
          <p:cNvPr id="285" name="Google Shape;285;p5"/>
          <p:cNvSpPr txBox="1"/>
          <p:nvPr/>
        </p:nvSpPr>
        <p:spPr>
          <a:xfrm>
            <a:off x="7495710" y="886259"/>
            <a:ext cx="1387048" cy="332793"/>
          </a:xfrm>
          <a:prstGeom prst="rect">
            <a:avLst/>
          </a:prstGeom>
          <a:noFill/>
          <a:ln>
            <a:noFill/>
          </a:ln>
        </p:spPr>
        <p:txBody>
          <a:bodyPr anchorCtr="0" anchor="ctr" bIns="18000" lIns="0" spcFirstLastPara="1" rIns="0" wrap="square" tIns="18000">
            <a:normAutofit fontScale="85000" lnSpcReduction="10000"/>
          </a:bodyPr>
          <a:lstStyle/>
          <a:p>
            <a:pPr indent="0" lvl="0" marL="0" marR="0" rtl="0" algn="ctr">
              <a:spcBef>
                <a:spcPts val="0"/>
              </a:spcBef>
              <a:spcAft>
                <a:spcPts val="0"/>
              </a:spcAft>
              <a:buNone/>
            </a:pPr>
            <a:r>
              <a:rPr b="1" lang="ru-RU" sz="1800">
                <a:solidFill>
                  <a:srgbClr val="FF0000"/>
                </a:solidFill>
                <a:latin typeface="Arial"/>
                <a:ea typeface="Arial"/>
                <a:cs typeface="Arial"/>
                <a:sym typeface="Arial"/>
              </a:rPr>
              <a:t>Команды DDL</a:t>
            </a:r>
            <a:endParaRPr b="1" sz="1800">
              <a:solidFill>
                <a:srgbClr val="FF0000"/>
              </a:solidFill>
              <a:latin typeface="Arial"/>
              <a:ea typeface="Arial"/>
              <a:cs typeface="Arial"/>
              <a:sym typeface="Arial"/>
            </a:endParaRPr>
          </a:p>
        </p:txBody>
      </p:sp>
      <p:cxnSp>
        <p:nvCxnSpPr>
          <p:cNvPr id="286" name="Google Shape;286;p5"/>
          <p:cNvCxnSpPr/>
          <p:nvPr/>
        </p:nvCxnSpPr>
        <p:spPr>
          <a:xfrm rot="5400000">
            <a:off x="7252130" y="1052781"/>
            <a:ext cx="360000" cy="5893"/>
          </a:xfrm>
          <a:prstGeom prst="straightConnector1">
            <a:avLst/>
          </a:prstGeom>
          <a:noFill/>
          <a:ln cap="flat" cmpd="sng" w="25400">
            <a:solidFill>
              <a:schemeClr val="dk1"/>
            </a:solidFill>
            <a:prstDash val="solid"/>
            <a:round/>
            <a:headEnd len="sm" w="sm" type="none"/>
            <a:tailEnd len="med" w="med" type="stealth"/>
          </a:ln>
        </p:spPr>
      </p:cxnSp>
      <p:sp>
        <p:nvSpPr>
          <p:cNvPr id="287" name="Google Shape;287;p5"/>
          <p:cNvSpPr txBox="1"/>
          <p:nvPr/>
        </p:nvSpPr>
        <p:spPr>
          <a:xfrm>
            <a:off x="261248" y="4589345"/>
            <a:ext cx="1708338" cy="408184"/>
          </a:xfrm>
          <a:prstGeom prst="rect">
            <a:avLst/>
          </a:prstGeom>
          <a:noFill/>
          <a:ln>
            <a:noFill/>
          </a:ln>
        </p:spPr>
        <p:txBody>
          <a:bodyPr anchorCtr="0" anchor="t" bIns="18000" lIns="0" spcFirstLastPara="1" rIns="0" wrap="square" tIns="18000">
            <a:normAutofit fontScale="85000" lnSpcReduction="20000"/>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Чтение, запись страниц</a:t>
            </a:r>
            <a:endParaRPr/>
          </a:p>
        </p:txBody>
      </p:sp>
      <p:sp>
        <p:nvSpPr>
          <p:cNvPr id="288" name="Google Shape;288;p5"/>
          <p:cNvSpPr txBox="1"/>
          <p:nvPr/>
        </p:nvSpPr>
        <p:spPr>
          <a:xfrm>
            <a:off x="3304247" y="824049"/>
            <a:ext cx="2032476" cy="332793"/>
          </a:xfrm>
          <a:prstGeom prst="rect">
            <a:avLst/>
          </a:prstGeom>
          <a:noFill/>
          <a:ln>
            <a:noFill/>
          </a:ln>
        </p:spPr>
        <p:txBody>
          <a:bodyPr anchorCtr="0" anchor="ctr" bIns="18000" lIns="0" spcFirstLastPara="1" rIns="0" wrap="square" tIns="18000">
            <a:normAutofit fontScale="85000" lnSpcReduction="10000"/>
          </a:bodyPr>
          <a:lstStyle/>
          <a:p>
            <a:pPr indent="0" lvl="0" marL="0" marR="0" rtl="0" algn="ctr">
              <a:spcBef>
                <a:spcPts val="0"/>
              </a:spcBef>
              <a:spcAft>
                <a:spcPts val="0"/>
              </a:spcAft>
              <a:buNone/>
            </a:pPr>
            <a:r>
              <a:rPr b="1" lang="ru-RU" sz="1800">
                <a:solidFill>
                  <a:srgbClr val="FF0000"/>
                </a:solidFill>
                <a:latin typeface="Arial"/>
                <a:ea typeface="Arial"/>
                <a:cs typeface="Arial"/>
                <a:sym typeface="Arial"/>
              </a:rPr>
              <a:t>Команды транзакций</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6"/>
          <p:cNvSpPr txBox="1"/>
          <p:nvPr>
            <p:ph type="title"/>
          </p:nvPr>
        </p:nvSpPr>
        <p:spPr>
          <a:xfrm>
            <a:off x="457200" y="279401"/>
            <a:ext cx="8229600" cy="736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sz="3600">
                <a:solidFill>
                  <a:schemeClr val="lt2"/>
                </a:solidFill>
              </a:rPr>
              <a:t>Компоненты СУБД</a:t>
            </a:r>
            <a:endParaRPr/>
          </a:p>
        </p:txBody>
      </p:sp>
      <p:sp>
        <p:nvSpPr>
          <p:cNvPr id="295" name="Google Shape;295;p6"/>
          <p:cNvSpPr txBox="1"/>
          <p:nvPr>
            <p:ph idx="1" type="body"/>
          </p:nvPr>
        </p:nvSpPr>
        <p:spPr>
          <a:xfrm>
            <a:off x="341312" y="1052513"/>
            <a:ext cx="8461158" cy="5526085"/>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SzPct val="75000"/>
              <a:buChar char="■"/>
            </a:pPr>
            <a:r>
              <a:rPr b="1" lang="ru-RU" sz="2800"/>
              <a:t>Компилятор языка определения данных (DDL). </a:t>
            </a:r>
            <a:r>
              <a:rPr lang="ru-RU" sz="2800"/>
              <a:t>Команды</a:t>
            </a:r>
            <a:r>
              <a:rPr b="1" lang="ru-RU" sz="2800"/>
              <a:t> </a:t>
            </a:r>
            <a:r>
              <a:rPr lang="ru-RU" sz="2800"/>
              <a:t>DDL обрабатываются лексическим анализатором и передаются исполняющей машине, которая используя менеджер ресурсов изменяет метаданные (информацию описывающую структуру базы данных) </a:t>
            </a:r>
            <a:endParaRPr b="1" sz="2800"/>
          </a:p>
          <a:p>
            <a:pPr indent="-342900" lvl="0" marL="342900" rtl="0" algn="l">
              <a:spcBef>
                <a:spcPts val="350"/>
              </a:spcBef>
              <a:spcAft>
                <a:spcPts val="0"/>
              </a:spcAft>
              <a:buSzPct val="75000"/>
              <a:buChar char="■"/>
            </a:pPr>
            <a:r>
              <a:rPr b="1" lang="ru-RU" sz="2800"/>
              <a:t>Компилятор запросов</a:t>
            </a:r>
            <a:r>
              <a:rPr lang="ru-RU" sz="2800"/>
              <a:t>. Транслирует запрос (на языке DML – часто SQL) во внутренний формат системы – план запроса. Часто инструкции плана запроса представляют собой реализацию операций «реляционной алгебры». </a:t>
            </a:r>
            <a:br>
              <a:rPr lang="ru-RU" sz="2800"/>
            </a:br>
            <a:r>
              <a:rPr lang="ru-RU" sz="2800"/>
              <a:t>Этапы обработки запроса</a:t>
            </a:r>
            <a:endParaRPr/>
          </a:p>
          <a:p>
            <a:pPr indent="-285750" lvl="1" marL="742950" rtl="0" algn="l">
              <a:spcBef>
                <a:spcPts val="300"/>
              </a:spcBef>
              <a:spcAft>
                <a:spcPts val="0"/>
              </a:spcAft>
              <a:buClr>
                <a:schemeClr val="lt2"/>
              </a:buClr>
              <a:buSzPct val="80000"/>
              <a:buFont typeface="Noto Sans Symbols"/>
              <a:buChar char="❖"/>
            </a:pPr>
            <a:r>
              <a:rPr lang="ru-RU" sz="2400"/>
              <a:t>Лексический анализатор. Преобразует запрос во внутреннюю древовидную структуру.</a:t>
            </a:r>
            <a:endParaRPr/>
          </a:p>
          <a:p>
            <a:pPr indent="-285750" lvl="1" marL="742950" rtl="0" algn="l">
              <a:spcBef>
                <a:spcPts val="300"/>
              </a:spcBef>
              <a:spcAft>
                <a:spcPts val="0"/>
              </a:spcAft>
              <a:buClr>
                <a:schemeClr val="lt2"/>
              </a:buClr>
              <a:buSzPct val="80000"/>
              <a:buFont typeface="Noto Sans Symbols"/>
              <a:buChar char="❖"/>
            </a:pPr>
            <a:r>
              <a:rPr lang="ru-RU" sz="2400"/>
              <a:t>Препроцессор запросов: семантический анализ, функции преобразования дерева, построенного ЛА, в дерево алгебраических операций</a:t>
            </a:r>
            <a:endParaRPr/>
          </a:p>
          <a:p>
            <a:pPr indent="-285750" lvl="1" marL="742950" rtl="0" algn="l">
              <a:spcBef>
                <a:spcPts val="300"/>
              </a:spcBef>
              <a:spcAft>
                <a:spcPts val="0"/>
              </a:spcAft>
              <a:buClr>
                <a:schemeClr val="lt2"/>
              </a:buClr>
              <a:buSzPct val="80000"/>
              <a:buFont typeface="Noto Sans Symbols"/>
              <a:buChar char="❖"/>
            </a:pPr>
            <a:r>
              <a:rPr lang="ru-RU" sz="2400"/>
              <a:t>Оптимизатор запросов. Преобразует запрос в наиболее эффективную последовательность фактических операций над данными</a:t>
            </a:r>
            <a:endParaRPr/>
          </a:p>
          <a:p>
            <a:pPr indent="-285750" lvl="1" marL="742950" rtl="0" algn="l">
              <a:spcBef>
                <a:spcPts val="300"/>
              </a:spcBef>
              <a:spcAft>
                <a:spcPts val="0"/>
              </a:spcAft>
              <a:buClr>
                <a:schemeClr val="lt2"/>
              </a:buClr>
              <a:buSzPct val="80000"/>
              <a:buFont typeface="Noto Sans Symbols"/>
              <a:buChar char="❖"/>
            </a:pPr>
            <a:r>
              <a:rPr lang="ru-RU" sz="2400"/>
              <a:t>Передача запроса исполняющей машине</a:t>
            </a:r>
            <a:endParaRPr/>
          </a:p>
          <a:p>
            <a:pPr indent="-342900" lvl="1" marL="342900" rtl="0" algn="l">
              <a:spcBef>
                <a:spcPts val="400"/>
              </a:spcBef>
              <a:spcAft>
                <a:spcPts val="0"/>
              </a:spcAft>
              <a:buClr>
                <a:schemeClr val="lt2"/>
              </a:buClr>
              <a:buSzPct val="75000"/>
              <a:buFont typeface="Noto Sans Symbols"/>
              <a:buChar char="■"/>
            </a:pPr>
            <a:r>
              <a:rPr b="1" lang="ru-RU"/>
              <a:t>Исполняющая машина. </a:t>
            </a:r>
            <a:r>
              <a:rPr lang="ru-RU"/>
              <a:t>Направляет группу запросов на получение небольших порций(строк таблицы) </a:t>
            </a:r>
            <a:r>
              <a:rPr b="1" i="1" lang="ru-RU" sz="3200">
                <a:latin typeface="Times New Roman"/>
                <a:ea typeface="Times New Roman"/>
                <a:cs typeface="Times New Roman"/>
                <a:sym typeface="Times New Roman"/>
              </a:rPr>
              <a:t>менеджеру ресурсов</a:t>
            </a:r>
            <a:r>
              <a:rPr lang="ru-RU"/>
              <a:t>, который «знает» в каких файлах содержатся данные таблицы (формат, размер записи, структура индексов). Взаимодействует с большинством других компонентов. </a:t>
            </a:r>
            <a:r>
              <a:rPr b="1" lang="ru-RU"/>
              <a:t>Интерпретатор</a:t>
            </a:r>
            <a:r>
              <a:rPr lang="ru-RU"/>
              <a:t>. </a:t>
            </a:r>
            <a:endParaRPr/>
          </a:p>
          <a:p>
            <a:pPr indent="-457200" lvl="1" marL="457200" rtl="0" algn="l">
              <a:spcBef>
                <a:spcPts val="400"/>
              </a:spcBef>
              <a:spcAft>
                <a:spcPts val="0"/>
              </a:spcAft>
              <a:buClr>
                <a:schemeClr val="lt2"/>
              </a:buClr>
              <a:buSzPct val="75000"/>
              <a:buFont typeface="Noto Sans Symbols"/>
              <a:buChar char="⮚"/>
            </a:pPr>
            <a:r>
              <a:rPr lang="ru-RU"/>
              <a:t>Запросы на получение данных транслируются в адреса страниц и пересылаются </a:t>
            </a:r>
            <a:r>
              <a:rPr b="1" i="1" lang="ru-RU" sz="3200">
                <a:latin typeface="Times New Roman"/>
                <a:ea typeface="Times New Roman"/>
                <a:cs typeface="Times New Roman"/>
                <a:sym typeface="Times New Roman"/>
              </a:rPr>
              <a:t>менеджеру буферов.</a:t>
            </a:r>
            <a:endParaRPr/>
          </a:p>
        </p:txBody>
      </p:sp>
      <p:sp>
        <p:nvSpPr>
          <p:cNvPr id="296" name="Google Shape;296;p6"/>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Effect filter="fade" transition="in">
                                      <p:cBhvr>
                                        <p:cTn dur="500"/>
                                        <p:tgtEl>
                                          <p:spTgt spid="2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animEffect filter="fade" transition="in">
                                      <p:cBhvr>
                                        <p:cTn dur="500"/>
                                        <p:tgtEl>
                                          <p:spTgt spid="2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animEffect filter="fade" transition="in">
                                      <p:cBhvr>
                                        <p:cTn dur="500"/>
                                        <p:tgtEl>
                                          <p:spTgt spid="2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animEffect filter="fade" transition="in">
                                      <p:cBhvr>
                                        <p:cTn dur="500"/>
                                        <p:tgtEl>
                                          <p:spTgt spid="2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animEffect filter="fade" transition="in">
                                      <p:cBhvr>
                                        <p:cTn dur="500"/>
                                        <p:tgtEl>
                                          <p:spTgt spid="2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5" st="5"/>
                                            </p:txEl>
                                          </p:spTgt>
                                        </p:tgtEl>
                                        <p:attrNameLst>
                                          <p:attrName>style.visibility</p:attrName>
                                        </p:attrNameLst>
                                      </p:cBhvr>
                                      <p:to>
                                        <p:strVal val="visible"/>
                                      </p:to>
                                    </p:set>
                                    <p:animEffect filter="fade" transition="in">
                                      <p:cBhvr>
                                        <p:cTn dur="500"/>
                                        <p:tgtEl>
                                          <p:spTgt spid="2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6" st="6"/>
                                            </p:txEl>
                                          </p:spTgt>
                                        </p:tgtEl>
                                        <p:attrNameLst>
                                          <p:attrName>style.visibility</p:attrName>
                                        </p:attrNameLst>
                                      </p:cBhvr>
                                      <p:to>
                                        <p:strVal val="visible"/>
                                      </p:to>
                                    </p:set>
                                    <p:animEffect filter="fade" transition="in">
                                      <p:cBhvr>
                                        <p:cTn dur="500"/>
                                        <p:tgtEl>
                                          <p:spTgt spid="2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7" st="7"/>
                                            </p:txEl>
                                          </p:spTgt>
                                        </p:tgtEl>
                                        <p:attrNameLst>
                                          <p:attrName>style.visibility</p:attrName>
                                        </p:attrNameLst>
                                      </p:cBhvr>
                                      <p:to>
                                        <p:strVal val="visible"/>
                                      </p:to>
                                    </p:set>
                                    <p:animEffect filter="fade" transition="in">
                                      <p:cBhvr>
                                        <p:cTn dur="500"/>
                                        <p:tgtEl>
                                          <p:spTgt spid="29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7"/>
          <p:cNvSpPr txBox="1"/>
          <p:nvPr>
            <p:ph type="title"/>
          </p:nvPr>
        </p:nvSpPr>
        <p:spPr>
          <a:xfrm>
            <a:off x="457200" y="279401"/>
            <a:ext cx="8229600" cy="736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sz="3600">
                <a:solidFill>
                  <a:schemeClr val="lt2"/>
                </a:solidFill>
              </a:rPr>
              <a:t>Компоненты СУБД</a:t>
            </a:r>
            <a:endParaRPr/>
          </a:p>
        </p:txBody>
      </p:sp>
      <p:sp>
        <p:nvSpPr>
          <p:cNvPr id="303" name="Google Shape;303;p7"/>
          <p:cNvSpPr txBox="1"/>
          <p:nvPr>
            <p:ph idx="1" type="body"/>
          </p:nvPr>
        </p:nvSpPr>
        <p:spPr>
          <a:xfrm>
            <a:off x="130632" y="1052514"/>
            <a:ext cx="8801099" cy="5653086"/>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SzPct val="75000"/>
              <a:buChar char="■"/>
            </a:pPr>
            <a:r>
              <a:rPr b="1" lang="ru-RU" sz="2400"/>
              <a:t>Менеджер буферов </a:t>
            </a:r>
            <a:r>
              <a:rPr lang="ru-RU" sz="2400"/>
              <a:t>ответственен за разбиение ОП на буферы – участки-страницы, куда помещается содержимое дисковых блоков</a:t>
            </a:r>
            <a:endParaRPr/>
          </a:p>
          <a:p>
            <a:pPr indent="-342900" lvl="0" marL="342900" rtl="0" algn="l">
              <a:spcBef>
                <a:spcPts val="408"/>
              </a:spcBef>
              <a:spcAft>
                <a:spcPts val="0"/>
              </a:spcAft>
              <a:buClr>
                <a:srgbClr val="C00000"/>
              </a:buClr>
              <a:buSzPct val="75000"/>
              <a:buFont typeface="Noto Sans Symbols"/>
              <a:buChar char="❖"/>
            </a:pPr>
            <a:r>
              <a:rPr lang="ru-RU" sz="2400"/>
              <a:t>Все компоненты СУБД, </a:t>
            </a:r>
            <a:r>
              <a:rPr b="1" lang="ru-RU" sz="2400"/>
              <a:t>обращаются к данными через буфера и менеджера буферов или через исполняющую машину</a:t>
            </a:r>
            <a:endParaRPr/>
          </a:p>
          <a:p>
            <a:pPr indent="-342900" lvl="0" marL="342900" rtl="0" algn="l">
              <a:spcBef>
                <a:spcPts val="408"/>
              </a:spcBef>
              <a:spcAft>
                <a:spcPts val="0"/>
              </a:spcAft>
              <a:buClr>
                <a:srgbClr val="C00000"/>
              </a:buClr>
              <a:buSzPct val="75000"/>
              <a:buFont typeface="Noto Sans Symbols"/>
              <a:buChar char="❖"/>
            </a:pPr>
            <a:r>
              <a:rPr lang="ru-RU" sz="2400"/>
              <a:t>Данные могут быть следующих категорий:</a:t>
            </a:r>
            <a:endParaRPr/>
          </a:p>
          <a:p>
            <a:pPr indent="-285750" lvl="1" marL="742950" rtl="0" algn="l">
              <a:spcBef>
                <a:spcPts val="408"/>
              </a:spcBef>
              <a:spcAft>
                <a:spcPts val="0"/>
              </a:spcAft>
              <a:buClr>
                <a:schemeClr val="lt2"/>
              </a:buClr>
              <a:buSzPct val="80000"/>
              <a:buFont typeface="Noto Sans Symbols"/>
              <a:buChar char="❖"/>
            </a:pPr>
            <a:r>
              <a:rPr lang="ru-RU" sz="2400"/>
              <a:t>Собственно данные – содержимое БД</a:t>
            </a:r>
            <a:endParaRPr/>
          </a:p>
          <a:p>
            <a:pPr indent="-285750" lvl="1" marL="742950" rtl="0" algn="l">
              <a:spcBef>
                <a:spcPts val="408"/>
              </a:spcBef>
              <a:spcAft>
                <a:spcPts val="0"/>
              </a:spcAft>
              <a:buClr>
                <a:schemeClr val="lt2"/>
              </a:buClr>
              <a:buSzPct val="80000"/>
              <a:buFont typeface="Noto Sans Symbols"/>
              <a:buChar char="❖"/>
            </a:pPr>
            <a:r>
              <a:rPr lang="ru-RU" sz="2400"/>
              <a:t>Метаданные – описание логической структуры БД (схема БД)</a:t>
            </a:r>
            <a:endParaRPr/>
          </a:p>
          <a:p>
            <a:pPr indent="-285750" lvl="1" marL="742950" rtl="0" algn="l">
              <a:spcBef>
                <a:spcPts val="408"/>
              </a:spcBef>
              <a:spcAft>
                <a:spcPts val="0"/>
              </a:spcAft>
              <a:buClr>
                <a:schemeClr val="lt2"/>
              </a:buClr>
              <a:buSzPct val="80000"/>
              <a:buFont typeface="Noto Sans Symbols"/>
              <a:buChar char="❖"/>
            </a:pPr>
            <a:r>
              <a:rPr lang="ru-RU" sz="2400"/>
              <a:t>Статистика – информация о свойствах данных (размер отношения, сведения о значениях в колонках и т.д.)</a:t>
            </a:r>
            <a:endParaRPr/>
          </a:p>
          <a:p>
            <a:pPr indent="-285750" lvl="1" marL="742950" rtl="0" algn="l">
              <a:spcBef>
                <a:spcPts val="408"/>
              </a:spcBef>
              <a:spcAft>
                <a:spcPts val="0"/>
              </a:spcAft>
              <a:buClr>
                <a:schemeClr val="lt2"/>
              </a:buClr>
              <a:buSzPct val="80000"/>
              <a:buFont typeface="Noto Sans Symbols"/>
              <a:buChar char="❖"/>
            </a:pPr>
            <a:r>
              <a:rPr lang="ru-RU" sz="2400"/>
              <a:t>Индексы – структуры, повышающие скорость доступа к данным</a:t>
            </a:r>
            <a:endParaRPr/>
          </a:p>
          <a:p>
            <a:pPr indent="-342900" lvl="0" marL="342900" rtl="0" algn="l">
              <a:spcBef>
                <a:spcPts val="408"/>
              </a:spcBef>
              <a:spcAft>
                <a:spcPts val="0"/>
              </a:spcAft>
              <a:buClr>
                <a:srgbClr val="C00000"/>
              </a:buClr>
              <a:buSzPct val="75000"/>
              <a:buFont typeface="Noto Sans Symbols"/>
              <a:buChar char="❖"/>
            </a:pPr>
            <a:r>
              <a:rPr lang="ru-RU" sz="2400"/>
              <a:t>Для получения данных с диска менеджер буферов обращается к </a:t>
            </a:r>
            <a:r>
              <a:rPr b="1" i="1" lang="ru-RU" sz="2400">
                <a:latin typeface="Times New Roman"/>
                <a:ea typeface="Times New Roman"/>
                <a:cs typeface="Times New Roman"/>
                <a:sym typeface="Times New Roman"/>
              </a:rPr>
              <a:t>менеджеру хранения данных</a:t>
            </a:r>
            <a:r>
              <a:rPr lang="ru-RU" sz="2400"/>
              <a:t>, который может вызвать команды ОС или непосредственно инициирует инструкции дискового контроллера. </a:t>
            </a:r>
            <a:endParaRPr/>
          </a:p>
          <a:p>
            <a:pPr indent="-342900" lvl="0" marL="342900" rtl="0" algn="l">
              <a:spcBef>
                <a:spcPts val="408"/>
              </a:spcBef>
              <a:spcAft>
                <a:spcPts val="0"/>
              </a:spcAft>
              <a:buSzPct val="75000"/>
              <a:buFont typeface="Noto Sans Symbols"/>
              <a:buChar char="■"/>
            </a:pPr>
            <a:r>
              <a:rPr b="1" lang="ru-RU" sz="2400"/>
              <a:t>Менеджер хранения данных </a:t>
            </a:r>
            <a:r>
              <a:rPr lang="ru-RU" sz="2400"/>
              <a:t>(storage manager) управляет размещением данных на дисках (вторичной памяти) и реализует обмен между диском и оперативной памятью</a:t>
            </a:r>
            <a:endParaRPr/>
          </a:p>
          <a:p>
            <a:pPr indent="-245745" lvl="0" marL="342900" rtl="0" algn="l">
              <a:spcBef>
                <a:spcPts val="408"/>
              </a:spcBef>
              <a:spcAft>
                <a:spcPts val="0"/>
              </a:spcAft>
              <a:buSzPct val="75000"/>
              <a:buFont typeface="Noto Sans Symbols"/>
              <a:buNone/>
            </a:pPr>
            <a:r>
              <a:t/>
            </a:r>
            <a:endParaRPr sz="2400"/>
          </a:p>
          <a:p>
            <a:pPr indent="-245745" lvl="0" marL="342900" rtl="0" algn="l">
              <a:spcBef>
                <a:spcPts val="408"/>
              </a:spcBef>
              <a:spcAft>
                <a:spcPts val="0"/>
              </a:spcAft>
              <a:buSzPct val="75000"/>
              <a:buNone/>
            </a:pPr>
            <a:r>
              <a:t/>
            </a:r>
            <a:endParaRPr sz="2400"/>
          </a:p>
        </p:txBody>
      </p:sp>
      <p:sp>
        <p:nvSpPr>
          <p:cNvPr id="304" name="Google Shape;304;p7"/>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500"/>
                                        <p:tgtEl>
                                          <p:spTgt spid="3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animEffect filter="fade" transition="in">
                                      <p:cBhvr>
                                        <p:cTn dur="500"/>
                                        <p:tgtEl>
                                          <p:spTgt spid="3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animEffect filter="fade" transition="in">
                                      <p:cBhvr>
                                        <p:cTn dur="500"/>
                                        <p:tgtEl>
                                          <p:spTgt spid="3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3" st="3"/>
                                            </p:txEl>
                                          </p:spTgt>
                                        </p:tgtEl>
                                        <p:attrNameLst>
                                          <p:attrName>style.visibility</p:attrName>
                                        </p:attrNameLst>
                                      </p:cBhvr>
                                      <p:to>
                                        <p:strVal val="visible"/>
                                      </p:to>
                                    </p:set>
                                    <p:animEffect filter="fade" transition="in">
                                      <p:cBhvr>
                                        <p:cTn dur="500"/>
                                        <p:tgtEl>
                                          <p:spTgt spid="3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4" st="4"/>
                                            </p:txEl>
                                          </p:spTgt>
                                        </p:tgtEl>
                                        <p:attrNameLst>
                                          <p:attrName>style.visibility</p:attrName>
                                        </p:attrNameLst>
                                      </p:cBhvr>
                                      <p:to>
                                        <p:strVal val="visible"/>
                                      </p:to>
                                    </p:set>
                                    <p:animEffect filter="fade" transition="in">
                                      <p:cBhvr>
                                        <p:cTn dur="500"/>
                                        <p:tgtEl>
                                          <p:spTgt spid="3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5" st="5"/>
                                            </p:txEl>
                                          </p:spTgt>
                                        </p:tgtEl>
                                        <p:attrNameLst>
                                          <p:attrName>style.visibility</p:attrName>
                                        </p:attrNameLst>
                                      </p:cBhvr>
                                      <p:to>
                                        <p:strVal val="visible"/>
                                      </p:to>
                                    </p:set>
                                    <p:animEffect filter="fade" transition="in">
                                      <p:cBhvr>
                                        <p:cTn dur="500"/>
                                        <p:tgtEl>
                                          <p:spTgt spid="3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6" st="6"/>
                                            </p:txEl>
                                          </p:spTgt>
                                        </p:tgtEl>
                                        <p:attrNameLst>
                                          <p:attrName>style.visibility</p:attrName>
                                        </p:attrNameLst>
                                      </p:cBhvr>
                                      <p:to>
                                        <p:strVal val="visible"/>
                                      </p:to>
                                    </p:set>
                                    <p:animEffect filter="fade" transition="in">
                                      <p:cBhvr>
                                        <p:cTn dur="500"/>
                                        <p:tgtEl>
                                          <p:spTgt spid="3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7" st="7"/>
                                            </p:txEl>
                                          </p:spTgt>
                                        </p:tgtEl>
                                        <p:attrNameLst>
                                          <p:attrName>style.visibility</p:attrName>
                                        </p:attrNameLst>
                                      </p:cBhvr>
                                      <p:to>
                                        <p:strVal val="visible"/>
                                      </p:to>
                                    </p:set>
                                    <p:animEffect filter="fade" transition="in">
                                      <p:cBhvr>
                                        <p:cTn dur="500"/>
                                        <p:tgtEl>
                                          <p:spTgt spid="3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8" st="8"/>
                                            </p:txEl>
                                          </p:spTgt>
                                        </p:tgtEl>
                                        <p:attrNameLst>
                                          <p:attrName>style.visibility</p:attrName>
                                        </p:attrNameLst>
                                      </p:cBhvr>
                                      <p:to>
                                        <p:strVal val="visible"/>
                                      </p:to>
                                    </p:set>
                                    <p:animEffect filter="fade" transition="in">
                                      <p:cBhvr>
                                        <p:cTn dur="500"/>
                                        <p:tgtEl>
                                          <p:spTgt spid="3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9" st="9"/>
                                            </p:txEl>
                                          </p:spTgt>
                                        </p:tgtEl>
                                        <p:attrNameLst>
                                          <p:attrName>style.visibility</p:attrName>
                                        </p:attrNameLst>
                                      </p:cBhvr>
                                      <p:to>
                                        <p:strVal val="visible"/>
                                      </p:to>
                                    </p:set>
                                    <p:animEffect filter="fade" transition="in">
                                      <p:cBhvr>
                                        <p:cTn dur="500"/>
                                        <p:tgtEl>
                                          <p:spTgt spid="30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10" st="10"/>
                                            </p:txEl>
                                          </p:spTgt>
                                        </p:tgtEl>
                                        <p:attrNameLst>
                                          <p:attrName>style.visibility</p:attrName>
                                        </p:attrNameLst>
                                      </p:cBhvr>
                                      <p:to>
                                        <p:strVal val="visible"/>
                                      </p:to>
                                    </p:set>
                                    <p:animEffect filter="fade" transition="in">
                                      <p:cBhvr>
                                        <p:cTn dur="500"/>
                                        <p:tgtEl>
                                          <p:spTgt spid="30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8"/>
          <p:cNvSpPr txBox="1"/>
          <p:nvPr>
            <p:ph type="title"/>
          </p:nvPr>
        </p:nvSpPr>
        <p:spPr>
          <a:xfrm>
            <a:off x="457200" y="279401"/>
            <a:ext cx="8229600" cy="736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sz="3600">
                <a:solidFill>
                  <a:schemeClr val="lt2"/>
                </a:solidFill>
              </a:rPr>
              <a:t>Компоненты СУБД</a:t>
            </a:r>
            <a:endParaRPr/>
          </a:p>
        </p:txBody>
      </p:sp>
      <p:sp>
        <p:nvSpPr>
          <p:cNvPr id="310" name="Google Shape;310;p8"/>
          <p:cNvSpPr txBox="1"/>
          <p:nvPr>
            <p:ph idx="1" type="body"/>
          </p:nvPr>
        </p:nvSpPr>
        <p:spPr>
          <a:xfrm>
            <a:off x="130632" y="1052514"/>
            <a:ext cx="8801099" cy="5195886"/>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75000"/>
              <a:buChar char="■"/>
            </a:pPr>
            <a:r>
              <a:rPr b="1" lang="ru-RU" sz="2800"/>
              <a:t>Менеджер транзакций (МТ)</a:t>
            </a:r>
            <a:r>
              <a:rPr lang="ru-RU" sz="2800"/>
              <a:t>. </a:t>
            </a:r>
            <a:endParaRPr/>
          </a:p>
          <a:p>
            <a:pPr indent="-342900" lvl="0" marL="342900" rtl="0" algn="l">
              <a:spcBef>
                <a:spcPts val="518"/>
              </a:spcBef>
              <a:spcAft>
                <a:spcPts val="0"/>
              </a:spcAft>
              <a:buClr>
                <a:srgbClr val="C00000"/>
              </a:buClr>
              <a:buSzPct val="75000"/>
              <a:buFont typeface="Noto Sans Symbols"/>
              <a:buChar char="❖"/>
            </a:pPr>
            <a:r>
              <a:rPr lang="ru-RU" sz="2800"/>
              <a:t>Запросы и другие команды группируются в транзакции</a:t>
            </a:r>
            <a:endParaRPr/>
          </a:p>
          <a:p>
            <a:pPr indent="-342900" lvl="0" marL="342900" rtl="0" algn="l">
              <a:spcBef>
                <a:spcPts val="518"/>
              </a:spcBef>
              <a:spcAft>
                <a:spcPts val="0"/>
              </a:spcAft>
              <a:buClr>
                <a:srgbClr val="C00000"/>
              </a:buClr>
              <a:buSzPct val="75000"/>
              <a:buFont typeface="Noto Sans Symbols"/>
              <a:buChar char="❖"/>
            </a:pPr>
            <a:r>
              <a:rPr lang="ru-RU" sz="2800"/>
              <a:t>МТ реализует выполнение транзакций так, чтобы они выполнялись </a:t>
            </a:r>
            <a:endParaRPr/>
          </a:p>
          <a:p>
            <a:pPr indent="-285750" lvl="1" marL="742950" rtl="0" algn="l">
              <a:spcBef>
                <a:spcPts val="444"/>
              </a:spcBef>
              <a:spcAft>
                <a:spcPts val="0"/>
              </a:spcAft>
              <a:buClr>
                <a:schemeClr val="lt2"/>
              </a:buClr>
              <a:buSzPct val="80000"/>
              <a:buFont typeface="Noto Sans Symbols"/>
              <a:buChar char="❖"/>
            </a:pPr>
            <a:r>
              <a:rPr b="1" lang="ru-RU" sz="2400"/>
              <a:t>атомарным образом </a:t>
            </a:r>
            <a:endParaRPr/>
          </a:p>
          <a:p>
            <a:pPr indent="-285750" lvl="1" marL="742950" rtl="0" algn="l">
              <a:spcBef>
                <a:spcPts val="444"/>
              </a:spcBef>
              <a:spcAft>
                <a:spcPts val="0"/>
              </a:spcAft>
              <a:buClr>
                <a:schemeClr val="lt2"/>
              </a:buClr>
              <a:buSzPct val="80000"/>
              <a:buFont typeface="Noto Sans Symbols"/>
              <a:buChar char="❖"/>
            </a:pPr>
            <a:r>
              <a:rPr b="1" lang="ru-RU" sz="2400"/>
              <a:t>изолировано.</a:t>
            </a:r>
            <a:endParaRPr/>
          </a:p>
          <a:p>
            <a:pPr indent="-285750" lvl="1" marL="742950" rtl="0" algn="l">
              <a:spcBef>
                <a:spcPts val="444"/>
              </a:spcBef>
              <a:spcAft>
                <a:spcPts val="0"/>
              </a:spcAft>
              <a:buClr>
                <a:schemeClr val="lt2"/>
              </a:buClr>
              <a:buSzPct val="80000"/>
              <a:buFont typeface="Noto Sans Symbols"/>
              <a:buChar char="❖"/>
            </a:pPr>
            <a:r>
              <a:rPr b="1" lang="ru-RU" sz="2400"/>
              <a:t>сохраняя целостность БД</a:t>
            </a:r>
            <a:endParaRPr/>
          </a:p>
          <a:p>
            <a:pPr indent="-285750" lvl="1" marL="742950" rtl="0" algn="l">
              <a:spcBef>
                <a:spcPts val="444"/>
              </a:spcBef>
              <a:spcAft>
                <a:spcPts val="0"/>
              </a:spcAft>
              <a:buClr>
                <a:schemeClr val="lt2"/>
              </a:buClr>
              <a:buSzPct val="80000"/>
              <a:buFont typeface="Noto Sans Symbols"/>
              <a:buChar char="❖"/>
            </a:pPr>
            <a:r>
              <a:rPr b="1" lang="ru-RU" sz="2400"/>
              <a:t>обладая свойством устойчивости</a:t>
            </a:r>
            <a:r>
              <a:rPr lang="ru-RU" sz="2400"/>
              <a:t>. </a:t>
            </a:r>
            <a:endParaRPr/>
          </a:p>
          <a:p>
            <a:pPr indent="-342900" lvl="0" marL="342900" rtl="0" algn="l">
              <a:spcBef>
                <a:spcPts val="518"/>
              </a:spcBef>
              <a:spcAft>
                <a:spcPts val="0"/>
              </a:spcAft>
              <a:buClr>
                <a:srgbClr val="C00000"/>
              </a:buClr>
              <a:buSzPct val="75000"/>
              <a:buFont typeface="Noto Sans Symbols"/>
              <a:buChar char="❖"/>
            </a:pPr>
            <a:r>
              <a:rPr lang="ru-RU" sz="2800"/>
              <a:t>МТ состоит из:</a:t>
            </a:r>
            <a:endParaRPr/>
          </a:p>
          <a:p>
            <a:pPr indent="-285750" lvl="1" marL="742950" rtl="0" algn="l">
              <a:spcBef>
                <a:spcPts val="444"/>
              </a:spcBef>
              <a:spcAft>
                <a:spcPts val="0"/>
              </a:spcAft>
              <a:buClr>
                <a:schemeClr val="lt2"/>
              </a:buClr>
              <a:buSzPct val="80000"/>
              <a:buFont typeface="Noto Sans Symbols"/>
              <a:buChar char="❖"/>
            </a:pPr>
            <a:r>
              <a:rPr lang="ru-RU" sz="2400"/>
              <a:t>Планировщика заданий: управление параллельными заданиями</a:t>
            </a:r>
            <a:endParaRPr/>
          </a:p>
          <a:p>
            <a:pPr indent="-285750" lvl="1" marL="742950" rtl="0" algn="l">
              <a:spcBef>
                <a:spcPts val="444"/>
              </a:spcBef>
              <a:spcAft>
                <a:spcPts val="0"/>
              </a:spcAft>
              <a:buClr>
                <a:schemeClr val="lt2"/>
              </a:buClr>
              <a:buSzPct val="80000"/>
              <a:buFont typeface="Noto Sans Symbols"/>
              <a:buChar char="❖"/>
            </a:pPr>
            <a:r>
              <a:rPr lang="ru-RU" sz="2400"/>
              <a:t>Менеджера протоколирования: протоколирование действий транзакций и восстановление после сбоев</a:t>
            </a:r>
            <a:endParaRPr/>
          </a:p>
          <a:p>
            <a:pPr indent="-342900" lvl="0" marL="342900" rtl="0" algn="l">
              <a:spcBef>
                <a:spcPts val="518"/>
              </a:spcBef>
              <a:spcAft>
                <a:spcPts val="0"/>
              </a:spcAft>
              <a:buClr>
                <a:srgbClr val="C00000"/>
              </a:buClr>
              <a:buSzPct val="75000"/>
              <a:buFont typeface="Noto Sans Symbols"/>
              <a:buChar char="❖"/>
            </a:pPr>
            <a:r>
              <a:rPr lang="ru-RU" sz="2800"/>
              <a:t>МТ разрешает проблемы взаимных блокировок</a:t>
            </a:r>
            <a:endParaRPr/>
          </a:p>
        </p:txBody>
      </p:sp>
      <p:sp>
        <p:nvSpPr>
          <p:cNvPr id="311" name="Google Shape;311;p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animEffect filter="fade" transition="in">
                                      <p:cBhvr>
                                        <p:cTn dur="500"/>
                                        <p:tgtEl>
                                          <p:spTgt spid="3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animEffect filter="fade" transition="in">
                                      <p:cBhvr>
                                        <p:cTn dur="500"/>
                                        <p:tgtEl>
                                          <p:spTgt spid="3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animEffect filter="fade" transition="in">
                                      <p:cBhvr>
                                        <p:cTn dur="500"/>
                                        <p:tgtEl>
                                          <p:spTgt spid="3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animEffect filter="fade" transition="in">
                                      <p:cBhvr>
                                        <p:cTn dur="500"/>
                                        <p:tgtEl>
                                          <p:spTgt spid="3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4" st="4"/>
                                            </p:txEl>
                                          </p:spTgt>
                                        </p:tgtEl>
                                        <p:attrNameLst>
                                          <p:attrName>style.visibility</p:attrName>
                                        </p:attrNameLst>
                                      </p:cBhvr>
                                      <p:to>
                                        <p:strVal val="visible"/>
                                      </p:to>
                                    </p:set>
                                    <p:animEffect filter="fade" transition="in">
                                      <p:cBhvr>
                                        <p:cTn dur="500"/>
                                        <p:tgtEl>
                                          <p:spTgt spid="3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5" st="5"/>
                                            </p:txEl>
                                          </p:spTgt>
                                        </p:tgtEl>
                                        <p:attrNameLst>
                                          <p:attrName>style.visibility</p:attrName>
                                        </p:attrNameLst>
                                      </p:cBhvr>
                                      <p:to>
                                        <p:strVal val="visible"/>
                                      </p:to>
                                    </p:set>
                                    <p:animEffect filter="fade" transition="in">
                                      <p:cBhvr>
                                        <p:cTn dur="500"/>
                                        <p:tgtEl>
                                          <p:spTgt spid="3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6" st="6"/>
                                            </p:txEl>
                                          </p:spTgt>
                                        </p:tgtEl>
                                        <p:attrNameLst>
                                          <p:attrName>style.visibility</p:attrName>
                                        </p:attrNameLst>
                                      </p:cBhvr>
                                      <p:to>
                                        <p:strVal val="visible"/>
                                      </p:to>
                                    </p:set>
                                    <p:animEffect filter="fade" transition="in">
                                      <p:cBhvr>
                                        <p:cTn dur="500"/>
                                        <p:tgtEl>
                                          <p:spTgt spid="3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7" st="7"/>
                                            </p:txEl>
                                          </p:spTgt>
                                        </p:tgtEl>
                                        <p:attrNameLst>
                                          <p:attrName>style.visibility</p:attrName>
                                        </p:attrNameLst>
                                      </p:cBhvr>
                                      <p:to>
                                        <p:strVal val="visible"/>
                                      </p:to>
                                    </p:set>
                                    <p:animEffect filter="fade" transition="in">
                                      <p:cBhvr>
                                        <p:cTn dur="500"/>
                                        <p:tgtEl>
                                          <p:spTgt spid="3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8" st="8"/>
                                            </p:txEl>
                                          </p:spTgt>
                                        </p:tgtEl>
                                        <p:attrNameLst>
                                          <p:attrName>style.visibility</p:attrName>
                                        </p:attrNameLst>
                                      </p:cBhvr>
                                      <p:to>
                                        <p:strVal val="visible"/>
                                      </p:to>
                                    </p:set>
                                    <p:animEffect filter="fade" transition="in">
                                      <p:cBhvr>
                                        <p:cTn dur="500"/>
                                        <p:tgtEl>
                                          <p:spTgt spid="3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9" st="9"/>
                                            </p:txEl>
                                          </p:spTgt>
                                        </p:tgtEl>
                                        <p:attrNameLst>
                                          <p:attrName>style.visibility</p:attrName>
                                        </p:attrNameLst>
                                      </p:cBhvr>
                                      <p:to>
                                        <p:strVal val="visible"/>
                                      </p:to>
                                    </p:set>
                                    <p:animEffect filter="fade" transition="in">
                                      <p:cBhvr>
                                        <p:cTn dur="500"/>
                                        <p:tgtEl>
                                          <p:spTgt spid="3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xEl>
                                              <p:pRg end="10" st="10"/>
                                            </p:txEl>
                                          </p:spTgt>
                                        </p:tgtEl>
                                        <p:attrNameLst>
                                          <p:attrName>style.visibility</p:attrName>
                                        </p:attrNameLst>
                                      </p:cBhvr>
                                      <p:to>
                                        <p:strVal val="visible"/>
                                      </p:to>
                                    </p:set>
                                    <p:animEffect filter="fade" transition="in">
                                      <p:cBhvr>
                                        <p:cTn dur="500"/>
                                        <p:tgtEl>
                                          <p:spTgt spid="31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9"/>
          <p:cNvSpPr txBox="1"/>
          <p:nvPr>
            <p:ph type="title"/>
          </p:nvPr>
        </p:nvSpPr>
        <p:spPr>
          <a:xfrm>
            <a:off x="457200" y="279401"/>
            <a:ext cx="8229600" cy="736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sz="3600">
                <a:solidFill>
                  <a:schemeClr val="lt2"/>
                </a:solidFill>
              </a:rPr>
              <a:t>Компоненты СУБД</a:t>
            </a:r>
            <a:endParaRPr/>
          </a:p>
        </p:txBody>
      </p:sp>
      <p:sp>
        <p:nvSpPr>
          <p:cNvPr id="317" name="Google Shape;317;p9"/>
          <p:cNvSpPr txBox="1"/>
          <p:nvPr>
            <p:ph idx="1" type="body"/>
          </p:nvPr>
        </p:nvSpPr>
        <p:spPr>
          <a:xfrm>
            <a:off x="130632" y="1052514"/>
            <a:ext cx="8801099" cy="5195886"/>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5000"/>
              <a:buChar char="■"/>
            </a:pPr>
            <a:r>
              <a:rPr b="1" lang="ru-RU" sz="2800"/>
              <a:t>Менеджер протоколирования (МП)</a:t>
            </a:r>
            <a:r>
              <a:rPr lang="ru-RU" sz="2800"/>
              <a:t>. </a:t>
            </a:r>
            <a:endParaRPr/>
          </a:p>
          <a:p>
            <a:pPr indent="-285750" lvl="1" marL="742950" rtl="0" algn="l">
              <a:spcBef>
                <a:spcPts val="444"/>
              </a:spcBef>
              <a:spcAft>
                <a:spcPts val="0"/>
              </a:spcAft>
              <a:buClr>
                <a:srgbClr val="C00000"/>
              </a:buClr>
              <a:buSzPct val="80000"/>
              <a:buFont typeface="Noto Sans Symbols"/>
              <a:buChar char="❖"/>
            </a:pPr>
            <a:r>
              <a:rPr lang="ru-RU" sz="2400"/>
              <a:t>Для обеспечения устойчивости (Durability) транзакций каждое изменение в БД фиксируется в специальном системном журнале (файлах)</a:t>
            </a:r>
            <a:endParaRPr/>
          </a:p>
          <a:p>
            <a:pPr indent="-285750" lvl="1" marL="742950" rtl="0" algn="l">
              <a:spcBef>
                <a:spcPts val="444"/>
              </a:spcBef>
              <a:spcAft>
                <a:spcPts val="0"/>
              </a:spcAft>
              <a:buClr>
                <a:srgbClr val="C00000"/>
              </a:buClr>
              <a:buSzPct val="80000"/>
              <a:buFont typeface="Noto Sans Symbols"/>
              <a:buChar char="❖"/>
            </a:pPr>
            <a:r>
              <a:rPr lang="ru-RU" sz="2400"/>
              <a:t>Информация протокола сначала сохраняется на буферах. </a:t>
            </a:r>
            <a:br>
              <a:rPr lang="ru-RU" sz="2400"/>
            </a:br>
            <a:r>
              <a:rPr lang="ru-RU" sz="2400"/>
              <a:t>Затем МП, взаимодействуя с менеджером буферов, периодически сбрасывает данные на диск</a:t>
            </a:r>
            <a:endParaRPr/>
          </a:p>
          <a:p>
            <a:pPr indent="-285750" lvl="1" marL="742950" rtl="0" algn="l">
              <a:spcBef>
                <a:spcPts val="444"/>
              </a:spcBef>
              <a:spcAft>
                <a:spcPts val="0"/>
              </a:spcAft>
              <a:buClr>
                <a:srgbClr val="C00000"/>
              </a:buClr>
              <a:buSzPct val="80000"/>
              <a:buFont typeface="Noto Sans Symbols"/>
              <a:buChar char="❖"/>
            </a:pPr>
            <a:r>
              <a:rPr lang="ru-RU" sz="2400"/>
              <a:t>МП руководствуется одной из нескольких стратегий сохранения информации о транзакции (UNDO, REDO, UNDO/REDO) </a:t>
            </a:r>
            <a:r>
              <a:rPr lang="ru-RU" sz="2000"/>
              <a:t>для исключения вредных последствий сбоев системы. </a:t>
            </a:r>
            <a:endParaRPr/>
          </a:p>
          <a:p>
            <a:pPr indent="-342900" lvl="0" marL="342900" rtl="0" algn="l">
              <a:spcBef>
                <a:spcPts val="518"/>
              </a:spcBef>
              <a:spcAft>
                <a:spcPts val="0"/>
              </a:spcAft>
              <a:buSzPct val="75000"/>
              <a:buChar char="■"/>
            </a:pPr>
            <a:r>
              <a:rPr b="1" lang="ru-RU" sz="2800"/>
              <a:t>Менеджер восстановления (МВ)</a:t>
            </a:r>
            <a:r>
              <a:rPr lang="ru-RU" sz="2800"/>
              <a:t>. </a:t>
            </a:r>
            <a:endParaRPr/>
          </a:p>
          <a:p>
            <a:pPr indent="-285750" lvl="1" marL="742950" rtl="0" algn="l">
              <a:spcBef>
                <a:spcPts val="444"/>
              </a:spcBef>
              <a:spcAft>
                <a:spcPts val="0"/>
              </a:spcAft>
              <a:buClr>
                <a:srgbClr val="C00000"/>
              </a:buClr>
              <a:buSzPct val="80000"/>
              <a:buFont typeface="Noto Sans Symbols"/>
              <a:buChar char="❖"/>
            </a:pPr>
            <a:r>
              <a:rPr lang="ru-RU" sz="2400"/>
              <a:t>МВ в случае сбоев системы способен считать протокол изменений в системном журнале и привести базу данных в некоторое целостное состояние</a:t>
            </a:r>
            <a:endParaRPr/>
          </a:p>
        </p:txBody>
      </p:sp>
      <p:sp>
        <p:nvSpPr>
          <p:cNvPr id="318" name="Google Shape;318;p9"/>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500"/>
                                        <p:tgtEl>
                                          <p:spTgt spid="3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animEffect filter="fade" transition="in">
                                      <p:cBhvr>
                                        <p:cTn dur="500"/>
                                        <p:tgtEl>
                                          <p:spTgt spid="3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2" st="2"/>
                                            </p:txEl>
                                          </p:spTgt>
                                        </p:tgtEl>
                                        <p:attrNameLst>
                                          <p:attrName>style.visibility</p:attrName>
                                        </p:attrNameLst>
                                      </p:cBhvr>
                                      <p:to>
                                        <p:strVal val="visible"/>
                                      </p:to>
                                    </p:set>
                                    <p:animEffect filter="fade" transition="in">
                                      <p:cBhvr>
                                        <p:cTn dur="500"/>
                                        <p:tgtEl>
                                          <p:spTgt spid="3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3" st="3"/>
                                            </p:txEl>
                                          </p:spTgt>
                                        </p:tgtEl>
                                        <p:attrNameLst>
                                          <p:attrName>style.visibility</p:attrName>
                                        </p:attrNameLst>
                                      </p:cBhvr>
                                      <p:to>
                                        <p:strVal val="visible"/>
                                      </p:to>
                                    </p:set>
                                    <p:animEffect filter="fade" transition="in">
                                      <p:cBhvr>
                                        <p:cTn dur="500"/>
                                        <p:tgtEl>
                                          <p:spTgt spid="3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4" st="4"/>
                                            </p:txEl>
                                          </p:spTgt>
                                        </p:tgtEl>
                                        <p:attrNameLst>
                                          <p:attrName>style.visibility</p:attrName>
                                        </p:attrNameLst>
                                      </p:cBhvr>
                                      <p:to>
                                        <p:strVal val="visible"/>
                                      </p:to>
                                    </p:set>
                                    <p:animEffect filter="fade" transition="in">
                                      <p:cBhvr>
                                        <p:cTn dur="500"/>
                                        <p:tgtEl>
                                          <p:spTgt spid="3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5" st="5"/>
                                            </p:txEl>
                                          </p:spTgt>
                                        </p:tgtEl>
                                        <p:attrNameLst>
                                          <p:attrName>style.visibility</p:attrName>
                                        </p:attrNameLst>
                                      </p:cBhvr>
                                      <p:to>
                                        <p:strVal val="visible"/>
                                      </p:to>
                                    </p:set>
                                    <p:animEffect filter="fade" transition="in">
                                      <p:cBhvr>
                                        <p:cTn dur="500"/>
                                        <p:tgtEl>
                                          <p:spTgt spid="31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0"/>
          <p:cNvSpPr txBox="1"/>
          <p:nvPr>
            <p:ph type="title"/>
          </p:nvPr>
        </p:nvSpPr>
        <p:spPr>
          <a:xfrm>
            <a:off x="457200" y="279401"/>
            <a:ext cx="8229600" cy="736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sz="3600">
                <a:solidFill>
                  <a:schemeClr val="lt2"/>
                </a:solidFill>
              </a:rPr>
              <a:t>Компоненты СУБД</a:t>
            </a:r>
            <a:endParaRPr/>
          </a:p>
        </p:txBody>
      </p:sp>
      <p:sp>
        <p:nvSpPr>
          <p:cNvPr id="324" name="Google Shape;324;p10"/>
          <p:cNvSpPr txBox="1"/>
          <p:nvPr>
            <p:ph idx="1" type="body"/>
          </p:nvPr>
        </p:nvSpPr>
        <p:spPr>
          <a:xfrm>
            <a:off x="130632" y="1052514"/>
            <a:ext cx="8801099" cy="5195886"/>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SzPct val="75000"/>
              <a:buChar char="■"/>
            </a:pPr>
            <a:r>
              <a:rPr b="1" lang="ru-RU" sz="2800"/>
              <a:t>Планировщик заданий</a:t>
            </a:r>
            <a:endParaRPr/>
          </a:p>
          <a:p>
            <a:pPr indent="-285750" lvl="1" marL="742950" rtl="0" algn="l">
              <a:spcBef>
                <a:spcPts val="408"/>
              </a:spcBef>
              <a:spcAft>
                <a:spcPts val="0"/>
              </a:spcAft>
              <a:buClr>
                <a:srgbClr val="C00000"/>
              </a:buClr>
              <a:buSzPct val="80000"/>
              <a:buFont typeface="Noto Sans Symbols"/>
              <a:buChar char="❖"/>
            </a:pPr>
            <a:r>
              <a:rPr lang="ru-RU" sz="2400"/>
              <a:t>Транзакции обязаны выполняться в строгой изоляции друг от друга</a:t>
            </a:r>
            <a:endParaRPr/>
          </a:p>
          <a:p>
            <a:pPr indent="-285750" lvl="1" marL="742950" rtl="0" algn="l">
              <a:spcBef>
                <a:spcPts val="408"/>
              </a:spcBef>
              <a:spcAft>
                <a:spcPts val="0"/>
              </a:spcAft>
              <a:buClr>
                <a:srgbClr val="C00000"/>
              </a:buClr>
              <a:buSzPct val="80000"/>
              <a:buFont typeface="Noto Sans Symbols"/>
              <a:buChar char="❖"/>
            </a:pPr>
            <a:r>
              <a:rPr lang="ru-RU" sz="2400"/>
              <a:t>В реальных системах могут действовать несколько процессов-транзакций одновременно</a:t>
            </a:r>
            <a:endParaRPr/>
          </a:p>
          <a:p>
            <a:pPr indent="-285750" lvl="1" marL="742950" rtl="0" algn="l">
              <a:spcBef>
                <a:spcPts val="408"/>
              </a:spcBef>
              <a:spcAft>
                <a:spcPts val="0"/>
              </a:spcAft>
              <a:buClr>
                <a:srgbClr val="C00000"/>
              </a:buClr>
              <a:buSzPct val="80000"/>
              <a:buFont typeface="Noto Sans Symbols"/>
              <a:buChar char="❖"/>
            </a:pPr>
            <a:r>
              <a:rPr lang="ru-RU" sz="2400"/>
              <a:t>Планировщик заданий устанавливает блокировки на соответствующие фрагменты БД, которые препятствуют одновременному изменению данных несколькими транзакциями</a:t>
            </a:r>
            <a:endParaRPr/>
          </a:p>
          <a:p>
            <a:pPr indent="-285750" lvl="1" marL="742950" rtl="0" algn="l">
              <a:spcBef>
                <a:spcPts val="408"/>
              </a:spcBef>
              <a:spcAft>
                <a:spcPts val="0"/>
              </a:spcAft>
              <a:buClr>
                <a:srgbClr val="C00000"/>
              </a:buClr>
              <a:buSzPct val="80000"/>
              <a:buFont typeface="Noto Sans Symbols"/>
              <a:buChar char="❖"/>
            </a:pPr>
            <a:r>
              <a:rPr lang="ru-RU" sz="2000"/>
              <a:t> </a:t>
            </a:r>
            <a:r>
              <a:rPr lang="ru-RU" sz="2400"/>
              <a:t>Признаки блокировки хранятся в таблице блокировок</a:t>
            </a:r>
            <a:endParaRPr/>
          </a:p>
          <a:p>
            <a:pPr indent="-285750" lvl="1" marL="742950" rtl="0" algn="l">
              <a:spcBef>
                <a:spcPts val="408"/>
              </a:spcBef>
              <a:spcAft>
                <a:spcPts val="0"/>
              </a:spcAft>
              <a:buClr>
                <a:srgbClr val="C00000"/>
              </a:buClr>
              <a:buSzPct val="80000"/>
              <a:buFont typeface="Noto Sans Symbols"/>
              <a:buChar char="❖"/>
            </a:pPr>
            <a:r>
              <a:rPr lang="ru-RU" sz="2400"/>
              <a:t>Планировщик заданий воздействует на процесс выполнения запросов и других операций, запрещая исполняющей машине обращаться к заблокированным данным</a:t>
            </a:r>
            <a:endParaRPr/>
          </a:p>
          <a:p>
            <a:pPr indent="-342900" lvl="0" marL="342900" rtl="0" algn="l">
              <a:spcBef>
                <a:spcPts val="476"/>
              </a:spcBef>
              <a:spcAft>
                <a:spcPts val="0"/>
              </a:spcAft>
              <a:buSzPct val="75000"/>
              <a:buChar char="■"/>
            </a:pPr>
            <a:r>
              <a:rPr b="1" lang="ru-RU" sz="2800"/>
              <a:t>Разрешение взаимных блокировок</a:t>
            </a:r>
            <a:endParaRPr sz="2800"/>
          </a:p>
          <a:p>
            <a:pPr indent="-285750" lvl="1" marL="742950" rtl="0" algn="l">
              <a:spcBef>
                <a:spcPts val="408"/>
              </a:spcBef>
              <a:spcAft>
                <a:spcPts val="0"/>
              </a:spcAft>
              <a:buClr>
                <a:srgbClr val="C00000"/>
              </a:buClr>
              <a:buSzPct val="80000"/>
              <a:buFont typeface="Noto Sans Symbols"/>
              <a:buChar char="❖"/>
            </a:pPr>
            <a:r>
              <a:rPr lang="ru-RU" sz="2400"/>
              <a:t>МТ разрешает проблемы взаимных блокировок. Теоретически известны как минимум 3 способа разрешения проблемы DEALOCK</a:t>
            </a:r>
            <a:endParaRPr sz="2400"/>
          </a:p>
        </p:txBody>
      </p:sp>
      <p:sp>
        <p:nvSpPr>
          <p:cNvPr id="325" name="Google Shape;325;p1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5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500"/>
                                        <p:tgtEl>
                                          <p:spTgt spid="3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Effect filter="fade" transition="in">
                                      <p:cBhvr>
                                        <p:cTn dur="500"/>
                                        <p:tgtEl>
                                          <p:spTgt spid="3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animEffect filter="fade" transition="in">
                                      <p:cBhvr>
                                        <p:cTn dur="500"/>
                                        <p:tgtEl>
                                          <p:spTgt spid="3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4" st="4"/>
                                            </p:txEl>
                                          </p:spTgt>
                                        </p:tgtEl>
                                        <p:attrNameLst>
                                          <p:attrName>style.visibility</p:attrName>
                                        </p:attrNameLst>
                                      </p:cBhvr>
                                      <p:to>
                                        <p:strVal val="visible"/>
                                      </p:to>
                                    </p:set>
                                    <p:animEffect filter="fade" transition="in">
                                      <p:cBhvr>
                                        <p:cTn dur="500"/>
                                        <p:tgtEl>
                                          <p:spTgt spid="3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5" st="5"/>
                                            </p:txEl>
                                          </p:spTgt>
                                        </p:tgtEl>
                                        <p:attrNameLst>
                                          <p:attrName>style.visibility</p:attrName>
                                        </p:attrNameLst>
                                      </p:cBhvr>
                                      <p:to>
                                        <p:strVal val="visible"/>
                                      </p:to>
                                    </p:set>
                                    <p:animEffect filter="fade" transition="in">
                                      <p:cBhvr>
                                        <p:cTn dur="500"/>
                                        <p:tgtEl>
                                          <p:spTgt spid="3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6" st="6"/>
                                            </p:txEl>
                                          </p:spTgt>
                                        </p:tgtEl>
                                        <p:attrNameLst>
                                          <p:attrName>style.visibility</p:attrName>
                                        </p:attrNameLst>
                                      </p:cBhvr>
                                      <p:to>
                                        <p:strVal val="visible"/>
                                      </p:to>
                                    </p:set>
                                    <p:animEffect filter="fade" transition="in">
                                      <p:cBhvr>
                                        <p:cTn dur="500"/>
                                        <p:tgtEl>
                                          <p:spTgt spid="3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7" st="7"/>
                                            </p:txEl>
                                          </p:spTgt>
                                        </p:tgtEl>
                                        <p:attrNameLst>
                                          <p:attrName>style.visibility</p:attrName>
                                        </p:attrNameLst>
                                      </p:cBhvr>
                                      <p:to>
                                        <p:strVal val="visible"/>
                                      </p:to>
                                    </p:set>
                                    <p:animEffect filter="fade" transition="in">
                                      <p:cBhvr>
                                        <p:cTn dur="500"/>
                                        <p:tgtEl>
                                          <p:spTgt spid="32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1"/>
          <p:cNvSpPr txBox="1"/>
          <p:nvPr>
            <p:ph type="title"/>
          </p:nvPr>
        </p:nvSpPr>
        <p:spPr>
          <a:xfrm>
            <a:off x="467544" y="260648"/>
            <a:ext cx="8229600" cy="66754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Система хранения данных</a:t>
            </a:r>
            <a:endParaRPr/>
          </a:p>
        </p:txBody>
      </p:sp>
      <p:sp>
        <p:nvSpPr>
          <p:cNvPr id="332" name="Google Shape;332;p11"/>
          <p:cNvSpPr txBox="1"/>
          <p:nvPr>
            <p:ph idx="1" type="body"/>
          </p:nvPr>
        </p:nvSpPr>
        <p:spPr>
          <a:xfrm>
            <a:off x="135015" y="863714"/>
            <a:ext cx="8802470" cy="5715635"/>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20000"/>
              </a:lnSpc>
              <a:spcBef>
                <a:spcPts val="0"/>
              </a:spcBef>
              <a:spcAft>
                <a:spcPts val="0"/>
              </a:spcAft>
              <a:buClr>
                <a:srgbClr val="C00000"/>
              </a:buClr>
              <a:buSzPct val="75000"/>
              <a:buChar char="■"/>
            </a:pPr>
            <a:r>
              <a:rPr lang="ru-RU" sz="1800" u="sng">
                <a:solidFill>
                  <a:srgbClr val="000099"/>
                </a:solidFill>
              </a:rPr>
              <a:t>Файлы</a:t>
            </a:r>
            <a:endParaRPr sz="1800">
              <a:solidFill>
                <a:srgbClr val="000099"/>
              </a:solidFill>
            </a:endParaRPr>
          </a:p>
          <a:p>
            <a:pPr indent="-285750" lvl="1" marL="742950" rtl="0" algn="l">
              <a:lnSpc>
                <a:spcPct val="120000"/>
              </a:lnSpc>
              <a:spcBef>
                <a:spcPts val="333"/>
              </a:spcBef>
              <a:spcAft>
                <a:spcPts val="0"/>
              </a:spcAft>
              <a:buClr>
                <a:srgbClr val="0070C0"/>
              </a:buClr>
              <a:buSzPct val="79999"/>
              <a:buFont typeface="Noto Sans Symbols"/>
              <a:buChar char="❖"/>
            </a:pPr>
            <a:r>
              <a:rPr i="1" lang="ru-RU" sz="1800">
                <a:solidFill>
                  <a:schemeClr val="lt2"/>
                </a:solidFill>
              </a:rPr>
              <a:t>Файл</a:t>
            </a:r>
            <a:r>
              <a:rPr lang="ru-RU" sz="1800">
                <a:solidFill>
                  <a:schemeClr val="lt2"/>
                </a:solidFill>
              </a:rPr>
              <a:t> - это </a:t>
            </a:r>
            <a:r>
              <a:rPr i="1" lang="ru-RU" sz="1800">
                <a:solidFill>
                  <a:schemeClr val="lt2"/>
                </a:solidFill>
              </a:rPr>
              <a:t>именованная область</a:t>
            </a:r>
            <a:r>
              <a:rPr lang="ru-RU" sz="1800">
                <a:solidFill>
                  <a:schemeClr val="lt2"/>
                </a:solidFill>
              </a:rPr>
              <a:t> внешней памяти, в которую можно записывать и из которой можно считывать данные. </a:t>
            </a:r>
            <a:endParaRPr/>
          </a:p>
          <a:p>
            <a:pPr indent="-285750" lvl="1" marL="742950" rtl="0" algn="l">
              <a:lnSpc>
                <a:spcPct val="120000"/>
              </a:lnSpc>
              <a:spcBef>
                <a:spcPts val="333"/>
              </a:spcBef>
              <a:spcAft>
                <a:spcPts val="0"/>
              </a:spcAft>
              <a:buClr>
                <a:srgbClr val="0070C0"/>
              </a:buClr>
              <a:buSzPct val="79999"/>
              <a:buFont typeface="Noto Sans Symbols"/>
              <a:buChar char="❖"/>
            </a:pPr>
            <a:r>
              <a:rPr i="1" lang="ru-RU" sz="1800">
                <a:solidFill>
                  <a:schemeClr val="lt2"/>
                </a:solidFill>
              </a:rPr>
              <a:t>Система управления файлами</a:t>
            </a:r>
            <a:r>
              <a:rPr lang="ru-RU" sz="1800">
                <a:solidFill>
                  <a:schemeClr val="lt2"/>
                </a:solidFill>
              </a:rPr>
              <a:t> берет на себя распределение внешней памяти, </a:t>
            </a:r>
            <a:r>
              <a:rPr i="1" lang="ru-RU" sz="1800">
                <a:solidFill>
                  <a:schemeClr val="lt2"/>
                </a:solidFill>
              </a:rPr>
              <a:t>отображение</a:t>
            </a:r>
            <a:r>
              <a:rPr lang="ru-RU" sz="1800">
                <a:solidFill>
                  <a:schemeClr val="lt2"/>
                </a:solidFill>
              </a:rPr>
              <a:t> имен файлов в соответствующие адреса </a:t>
            </a:r>
            <a:r>
              <a:rPr b="1" lang="ru-RU" sz="1800">
                <a:solidFill>
                  <a:schemeClr val="lt2"/>
                </a:solidFill>
              </a:rPr>
              <a:t>внешней памяти </a:t>
            </a:r>
            <a:r>
              <a:rPr lang="ru-RU" sz="1800">
                <a:solidFill>
                  <a:schemeClr val="lt2"/>
                </a:solidFill>
              </a:rPr>
              <a:t>и обеспечение доступа к данным.</a:t>
            </a:r>
            <a:endParaRPr/>
          </a:p>
          <a:p>
            <a:pPr indent="-342900" lvl="0" marL="342900" rtl="0" algn="l">
              <a:lnSpc>
                <a:spcPct val="120000"/>
              </a:lnSpc>
              <a:spcBef>
                <a:spcPts val="333"/>
              </a:spcBef>
              <a:spcAft>
                <a:spcPts val="0"/>
              </a:spcAft>
              <a:buClr>
                <a:srgbClr val="C00000"/>
              </a:buClr>
              <a:buSzPct val="75000"/>
              <a:buChar char="■"/>
            </a:pPr>
            <a:r>
              <a:rPr lang="ru-RU" sz="1800" u="sng">
                <a:solidFill>
                  <a:srgbClr val="000099"/>
                </a:solidFill>
              </a:rPr>
              <a:t>Достоинства</a:t>
            </a:r>
            <a:r>
              <a:rPr lang="ru-RU" sz="1800">
                <a:solidFill>
                  <a:srgbClr val="000099"/>
                </a:solidFill>
              </a:rPr>
              <a:t>:</a:t>
            </a:r>
            <a:endParaRPr/>
          </a:p>
          <a:p>
            <a:pPr indent="-285750" lvl="1" marL="742950" rtl="0" algn="l">
              <a:lnSpc>
                <a:spcPct val="120000"/>
              </a:lnSpc>
              <a:spcBef>
                <a:spcPts val="333"/>
              </a:spcBef>
              <a:spcAft>
                <a:spcPts val="0"/>
              </a:spcAft>
              <a:buClr>
                <a:srgbClr val="C00000"/>
              </a:buClr>
              <a:buSzPct val="79999"/>
              <a:buFont typeface="Noto Sans Symbols"/>
              <a:buChar char="⮚"/>
            </a:pPr>
            <a:r>
              <a:rPr lang="ru-RU" sz="1800">
                <a:solidFill>
                  <a:srgbClr val="000099"/>
                </a:solidFill>
              </a:rPr>
              <a:t>Хорошо подходят для приложений со слабо структурированной информацией</a:t>
            </a:r>
            <a:endParaRPr/>
          </a:p>
          <a:p>
            <a:pPr indent="-285750" lvl="1" marL="742950" rtl="0" algn="l">
              <a:lnSpc>
                <a:spcPct val="120000"/>
              </a:lnSpc>
              <a:spcBef>
                <a:spcPts val="333"/>
              </a:spcBef>
              <a:spcAft>
                <a:spcPts val="0"/>
              </a:spcAft>
              <a:buClr>
                <a:srgbClr val="C00000"/>
              </a:buClr>
              <a:buSzPct val="79999"/>
              <a:buFont typeface="Noto Sans Symbols"/>
              <a:buChar char="⮚"/>
            </a:pPr>
            <a:r>
              <a:rPr lang="ru-RU" sz="1800">
                <a:solidFill>
                  <a:srgbClr val="000099"/>
                </a:solidFill>
              </a:rPr>
              <a:t>Хорошая мобильность (файл просто перемещать)</a:t>
            </a:r>
            <a:endParaRPr/>
          </a:p>
          <a:p>
            <a:pPr indent="-342900" lvl="1" marL="342900" rtl="0" algn="l">
              <a:lnSpc>
                <a:spcPct val="120000"/>
              </a:lnSpc>
              <a:spcBef>
                <a:spcPts val="333"/>
              </a:spcBef>
              <a:spcAft>
                <a:spcPts val="0"/>
              </a:spcAft>
              <a:buClr>
                <a:srgbClr val="C00000"/>
              </a:buClr>
              <a:buSzPct val="75000"/>
              <a:buFont typeface="Noto Sans Symbols"/>
              <a:buChar char="■"/>
            </a:pPr>
            <a:r>
              <a:rPr lang="ru-RU" sz="1800" u="sng">
                <a:solidFill>
                  <a:srgbClr val="000099"/>
                </a:solidFill>
              </a:rPr>
              <a:t>Недостатки</a:t>
            </a:r>
            <a:endParaRPr/>
          </a:p>
          <a:p>
            <a:pPr indent="-285750" lvl="1" marL="742950" rtl="0" algn="l">
              <a:lnSpc>
                <a:spcPct val="120000"/>
              </a:lnSpc>
              <a:spcBef>
                <a:spcPts val="333"/>
              </a:spcBef>
              <a:spcAft>
                <a:spcPts val="0"/>
              </a:spcAft>
              <a:buClr>
                <a:srgbClr val="C00000"/>
              </a:buClr>
              <a:buSzPct val="79999"/>
              <a:buFont typeface="Noto Sans Symbols"/>
              <a:buChar char="⮚"/>
            </a:pPr>
            <a:r>
              <a:rPr lang="ru-RU" sz="1800">
                <a:solidFill>
                  <a:srgbClr val="000099"/>
                </a:solidFill>
              </a:rPr>
              <a:t>Трудно реализуются сложные структуры данных</a:t>
            </a:r>
            <a:endParaRPr/>
          </a:p>
          <a:p>
            <a:pPr indent="-285750" lvl="1" marL="742950" rtl="0" algn="l">
              <a:lnSpc>
                <a:spcPct val="120000"/>
              </a:lnSpc>
              <a:spcBef>
                <a:spcPts val="333"/>
              </a:spcBef>
              <a:spcAft>
                <a:spcPts val="0"/>
              </a:spcAft>
              <a:buClr>
                <a:srgbClr val="C00000"/>
              </a:buClr>
              <a:buSzPct val="79999"/>
              <a:buFont typeface="Noto Sans Symbols"/>
              <a:buChar char="⮚"/>
            </a:pPr>
            <a:r>
              <a:rPr lang="ru-RU" sz="1800">
                <a:solidFill>
                  <a:srgbClr val="000099"/>
                </a:solidFill>
              </a:rPr>
              <a:t>Трудно обеспечить совместный защищенный доступ</a:t>
            </a:r>
            <a:endParaRPr/>
          </a:p>
          <a:p>
            <a:pPr indent="-285750" lvl="1" marL="742950" rtl="0" algn="l">
              <a:lnSpc>
                <a:spcPct val="120000"/>
              </a:lnSpc>
              <a:spcBef>
                <a:spcPts val="333"/>
              </a:spcBef>
              <a:spcAft>
                <a:spcPts val="0"/>
              </a:spcAft>
              <a:buClr>
                <a:srgbClr val="C00000"/>
              </a:buClr>
              <a:buSzPct val="79999"/>
              <a:buFont typeface="Noto Sans Symbols"/>
              <a:buChar char="⮚"/>
            </a:pPr>
            <a:r>
              <a:rPr lang="ru-RU" sz="1800">
                <a:solidFill>
                  <a:srgbClr val="000099"/>
                </a:solidFill>
              </a:rPr>
              <a:t>Трудно обеспечить изменения в приложении, при изменении в структуре данных</a:t>
            </a:r>
            <a:endParaRPr/>
          </a:p>
          <a:p>
            <a:pPr indent="-342900" lvl="0" marL="342900" rtl="0" algn="l">
              <a:lnSpc>
                <a:spcPct val="120000"/>
              </a:lnSpc>
              <a:spcBef>
                <a:spcPts val="333"/>
              </a:spcBef>
              <a:spcAft>
                <a:spcPts val="0"/>
              </a:spcAft>
              <a:buClr>
                <a:srgbClr val="C00000"/>
              </a:buClr>
              <a:buSzPct val="75000"/>
              <a:buChar char="■"/>
            </a:pPr>
            <a:r>
              <a:rPr lang="ru-RU" sz="1800">
                <a:solidFill>
                  <a:srgbClr val="000099"/>
                </a:solidFill>
              </a:rPr>
              <a:t>В СУБД хранение данных реализуется через </a:t>
            </a:r>
            <a:r>
              <a:rPr b="1" lang="ru-RU" sz="1800">
                <a:solidFill>
                  <a:srgbClr val="000099"/>
                </a:solidFill>
              </a:rPr>
              <a:t>подсистему управления хранимыми данными (менеджер ресурсов), </a:t>
            </a:r>
            <a:r>
              <a:rPr lang="ru-RU" sz="1800">
                <a:solidFill>
                  <a:srgbClr val="000099"/>
                </a:solidFill>
              </a:rPr>
              <a:t>которая строится на файлах, обеспечивая более сложные и удобные для хранения структуры</a:t>
            </a:r>
            <a:endParaRPr/>
          </a:p>
        </p:txBody>
      </p:sp>
      <p:sp>
        <p:nvSpPr>
          <p:cNvPr id="333" name="Google Shape;333;p11"/>
          <p:cNvSpPr txBox="1"/>
          <p:nvPr>
            <p:ph idx="12" type="sldNum"/>
          </p:nvPr>
        </p:nvSpPr>
        <p:spPr>
          <a:xfrm>
            <a:off x="8244408" y="6165305"/>
            <a:ext cx="676672" cy="36004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2"/>
          <p:cNvSpPr/>
          <p:nvPr/>
        </p:nvSpPr>
        <p:spPr>
          <a:xfrm>
            <a:off x="435486" y="638812"/>
            <a:ext cx="6368762" cy="6030547"/>
          </a:xfrm>
          <a:prstGeom prst="rect">
            <a:avLst/>
          </a:prstGeom>
          <a:solidFill>
            <a:schemeClr val="accent3"/>
          </a:solidFill>
          <a:ln cap="flat" cmpd="sng" w="381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12"/>
          <p:cNvSpPr/>
          <p:nvPr/>
        </p:nvSpPr>
        <p:spPr>
          <a:xfrm>
            <a:off x="890870" y="1988840"/>
            <a:ext cx="5337314" cy="2808312"/>
          </a:xfrm>
          <a:prstGeom prst="rect">
            <a:avLst/>
          </a:prstGeom>
          <a:solidFill>
            <a:srgbClr val="E9E9FF"/>
          </a:solid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12"/>
          <p:cNvSpPr txBox="1"/>
          <p:nvPr>
            <p:ph idx="12" type="sldNum"/>
          </p:nvPr>
        </p:nvSpPr>
        <p:spPr>
          <a:xfrm>
            <a:off x="8460432" y="6340476"/>
            <a:ext cx="460648" cy="328884"/>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342" name="Google Shape;342;p12"/>
          <p:cNvSpPr txBox="1"/>
          <p:nvPr/>
        </p:nvSpPr>
        <p:spPr>
          <a:xfrm>
            <a:off x="656845" y="611252"/>
            <a:ext cx="533731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ru-RU" sz="3200">
                <a:solidFill>
                  <a:srgbClr val="6565FF"/>
                </a:solidFill>
                <a:latin typeface="Arial"/>
                <a:ea typeface="Arial"/>
                <a:cs typeface="Arial"/>
                <a:sym typeface="Arial"/>
              </a:rPr>
              <a:t>Система баз данных</a:t>
            </a:r>
            <a:endParaRPr/>
          </a:p>
        </p:txBody>
      </p:sp>
      <p:sp>
        <p:nvSpPr>
          <p:cNvPr id="343" name="Google Shape;343;p12"/>
          <p:cNvSpPr txBox="1"/>
          <p:nvPr/>
        </p:nvSpPr>
        <p:spPr>
          <a:xfrm>
            <a:off x="1919611" y="2420888"/>
            <a:ext cx="3372469" cy="646331"/>
          </a:xfrm>
          <a:prstGeom prst="rect">
            <a:avLst/>
          </a:prstGeom>
          <a:solidFill>
            <a:schemeClr val="lt1"/>
          </a:solidFill>
          <a:ln cap="flat" cmpd="sng" w="2540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Компоненты для выполнения запросов / программ</a:t>
            </a:r>
            <a:endParaRPr/>
          </a:p>
        </p:txBody>
      </p:sp>
      <p:sp>
        <p:nvSpPr>
          <p:cNvPr id="344" name="Google Shape;344;p12"/>
          <p:cNvSpPr txBox="1"/>
          <p:nvPr/>
        </p:nvSpPr>
        <p:spPr>
          <a:xfrm>
            <a:off x="1581067" y="1244774"/>
            <a:ext cx="3927037" cy="369332"/>
          </a:xfrm>
          <a:prstGeom prst="rect">
            <a:avLst/>
          </a:prstGeom>
          <a:solidFill>
            <a:schemeClr val="lt1"/>
          </a:solidFill>
          <a:ln cap="flat" cmpd="sng" w="2540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Прикладные программы / Запросы</a:t>
            </a:r>
            <a:endParaRPr/>
          </a:p>
        </p:txBody>
      </p:sp>
      <p:sp>
        <p:nvSpPr>
          <p:cNvPr id="345" name="Google Shape;345;p12"/>
          <p:cNvSpPr txBox="1"/>
          <p:nvPr/>
        </p:nvSpPr>
        <p:spPr>
          <a:xfrm>
            <a:off x="1919611" y="3862789"/>
            <a:ext cx="3372469" cy="646331"/>
          </a:xfrm>
          <a:prstGeom prst="rect">
            <a:avLst/>
          </a:prstGeom>
          <a:solidFill>
            <a:schemeClr val="lt1"/>
          </a:solidFill>
          <a:ln cap="flat" cmpd="sng" w="2540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Подсистема  управления хранимыми данным</a:t>
            </a:r>
            <a:endParaRPr/>
          </a:p>
        </p:txBody>
      </p:sp>
      <p:grpSp>
        <p:nvGrpSpPr>
          <p:cNvPr id="346" name="Google Shape;346;p12"/>
          <p:cNvGrpSpPr/>
          <p:nvPr/>
        </p:nvGrpSpPr>
        <p:grpSpPr>
          <a:xfrm>
            <a:off x="1132316" y="5085184"/>
            <a:ext cx="2160241" cy="1440160"/>
            <a:chOff x="1475656" y="5085184"/>
            <a:chExt cx="2160241" cy="1440160"/>
          </a:xfrm>
        </p:grpSpPr>
        <p:sp>
          <p:nvSpPr>
            <p:cNvPr id="347" name="Google Shape;347;p12"/>
            <p:cNvSpPr/>
            <p:nvPr/>
          </p:nvSpPr>
          <p:spPr>
            <a:xfrm>
              <a:off x="1475656" y="5085184"/>
              <a:ext cx="2160241" cy="1440160"/>
            </a:xfrm>
            <a:prstGeom prst="flowChartMagneticDisk">
              <a:avLst/>
            </a:prstGeom>
            <a:solidFill>
              <a:schemeClr val="lt1"/>
            </a:solid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8" name="Google Shape;348;p12"/>
            <p:cNvSpPr txBox="1"/>
            <p:nvPr/>
          </p:nvSpPr>
          <p:spPr>
            <a:xfrm>
              <a:off x="1475657" y="5517232"/>
              <a:ext cx="211557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Определения данных </a:t>
              </a:r>
              <a:br>
                <a:rPr lang="ru-RU" sz="1800">
                  <a:solidFill>
                    <a:schemeClr val="dk1"/>
                  </a:solidFill>
                  <a:latin typeface="Arial"/>
                  <a:ea typeface="Arial"/>
                  <a:cs typeface="Arial"/>
                  <a:sym typeface="Arial"/>
                </a:rPr>
              </a:br>
              <a:r>
                <a:rPr lang="ru-RU" sz="1800">
                  <a:solidFill>
                    <a:schemeClr val="dk1"/>
                  </a:solidFill>
                  <a:latin typeface="Arial"/>
                  <a:ea typeface="Arial"/>
                  <a:cs typeface="Arial"/>
                  <a:sym typeface="Arial"/>
                </a:rPr>
                <a:t>(мета данные)</a:t>
              </a:r>
              <a:endParaRPr/>
            </a:p>
          </p:txBody>
        </p:sp>
      </p:grpSp>
      <p:grpSp>
        <p:nvGrpSpPr>
          <p:cNvPr id="349" name="Google Shape;349;p12"/>
          <p:cNvGrpSpPr/>
          <p:nvPr/>
        </p:nvGrpSpPr>
        <p:grpSpPr>
          <a:xfrm>
            <a:off x="3833917" y="5066093"/>
            <a:ext cx="2160241" cy="1440160"/>
            <a:chOff x="4594126" y="5085184"/>
            <a:chExt cx="2160241" cy="1440160"/>
          </a:xfrm>
        </p:grpSpPr>
        <p:sp>
          <p:nvSpPr>
            <p:cNvPr id="350" name="Google Shape;350;p12"/>
            <p:cNvSpPr/>
            <p:nvPr/>
          </p:nvSpPr>
          <p:spPr>
            <a:xfrm>
              <a:off x="4594126" y="5085184"/>
              <a:ext cx="2160241" cy="1440160"/>
            </a:xfrm>
            <a:prstGeom prst="flowChartMagneticDisk">
              <a:avLst/>
            </a:prstGeom>
            <a:solidFill>
              <a:schemeClr val="lt1"/>
            </a:solid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12"/>
            <p:cNvSpPr txBox="1"/>
            <p:nvPr/>
          </p:nvSpPr>
          <p:spPr>
            <a:xfrm>
              <a:off x="4638797" y="5531772"/>
              <a:ext cx="211557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Хранимые данных </a:t>
              </a:r>
              <a:br>
                <a:rPr lang="ru-RU" sz="1800">
                  <a:solidFill>
                    <a:schemeClr val="dk1"/>
                  </a:solidFill>
                  <a:latin typeface="Arial"/>
                  <a:ea typeface="Arial"/>
                  <a:cs typeface="Arial"/>
                  <a:sym typeface="Arial"/>
                </a:rPr>
              </a:br>
              <a:r>
                <a:rPr lang="ru-RU" sz="1800">
                  <a:solidFill>
                    <a:schemeClr val="dk1"/>
                  </a:solidFill>
                  <a:latin typeface="Arial"/>
                  <a:ea typeface="Arial"/>
                  <a:cs typeface="Arial"/>
                  <a:sym typeface="Arial"/>
                </a:rPr>
                <a:t>(базы данных)</a:t>
              </a:r>
              <a:endParaRPr/>
            </a:p>
          </p:txBody>
        </p:sp>
      </p:grpSp>
      <p:sp>
        <p:nvSpPr>
          <p:cNvPr id="352" name="Google Shape;352;p12"/>
          <p:cNvSpPr txBox="1"/>
          <p:nvPr/>
        </p:nvSpPr>
        <p:spPr>
          <a:xfrm>
            <a:off x="1132317" y="2031829"/>
            <a:ext cx="16862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ПО СУБД</a:t>
            </a:r>
            <a:endParaRPr/>
          </a:p>
        </p:txBody>
      </p:sp>
      <p:sp>
        <p:nvSpPr>
          <p:cNvPr id="353" name="Google Shape;353;p12"/>
          <p:cNvSpPr txBox="1"/>
          <p:nvPr/>
        </p:nvSpPr>
        <p:spPr>
          <a:xfrm>
            <a:off x="6804248" y="4917067"/>
            <a:ext cx="233975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Упрощенная</a:t>
            </a:r>
            <a:endParaRPr/>
          </a:p>
          <a:p>
            <a:pPr indent="0" lvl="0" marL="0" marR="0" rtl="0" algn="l">
              <a:spcBef>
                <a:spcPts val="0"/>
              </a:spcBef>
              <a:spcAft>
                <a:spcPts val="0"/>
              </a:spcAft>
              <a:buNone/>
            </a:pPr>
            <a:r>
              <a:rPr lang="ru-RU" sz="1800">
                <a:solidFill>
                  <a:schemeClr val="dk1"/>
                </a:solidFill>
                <a:latin typeface="Arial"/>
                <a:ea typeface="Arial"/>
                <a:cs typeface="Arial"/>
                <a:sym typeface="Arial"/>
              </a:rPr>
              <a:t> структура </a:t>
            </a:r>
            <a:br>
              <a:rPr lang="ru-RU" sz="1800">
                <a:solidFill>
                  <a:schemeClr val="dk1"/>
                </a:solidFill>
                <a:latin typeface="Arial"/>
                <a:ea typeface="Arial"/>
                <a:cs typeface="Arial"/>
                <a:sym typeface="Arial"/>
              </a:rPr>
            </a:br>
            <a:r>
              <a:rPr lang="ru-RU" sz="1800">
                <a:solidFill>
                  <a:schemeClr val="dk1"/>
                </a:solidFill>
                <a:latin typeface="Arial"/>
                <a:ea typeface="Arial"/>
                <a:cs typeface="Arial"/>
                <a:sym typeface="Arial"/>
              </a:rPr>
              <a:t>системы БД</a:t>
            </a:r>
            <a:endParaRPr/>
          </a:p>
        </p:txBody>
      </p:sp>
      <p:sp>
        <p:nvSpPr>
          <p:cNvPr id="354" name="Google Shape;354;p12"/>
          <p:cNvSpPr txBox="1"/>
          <p:nvPr/>
        </p:nvSpPr>
        <p:spPr>
          <a:xfrm>
            <a:off x="1597830" y="200428"/>
            <a:ext cx="40440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Пользователи  / программисты</a:t>
            </a:r>
            <a:endParaRPr/>
          </a:p>
        </p:txBody>
      </p:sp>
      <p:cxnSp>
        <p:nvCxnSpPr>
          <p:cNvPr id="355" name="Google Shape;355;p12"/>
          <p:cNvCxnSpPr/>
          <p:nvPr/>
        </p:nvCxnSpPr>
        <p:spPr>
          <a:xfrm flipH="1">
            <a:off x="3560615" y="476672"/>
            <a:ext cx="6547" cy="605961"/>
          </a:xfrm>
          <a:prstGeom prst="straightConnector1">
            <a:avLst/>
          </a:prstGeom>
          <a:noFill/>
          <a:ln cap="flat" cmpd="sng" w="31750">
            <a:solidFill>
              <a:schemeClr val="dk1"/>
            </a:solidFill>
            <a:prstDash val="solid"/>
            <a:round/>
            <a:headEnd len="sm" w="sm" type="none"/>
            <a:tailEnd len="lg" w="lg" type="stealth"/>
          </a:ln>
        </p:spPr>
      </p:cxnSp>
      <p:cxnSp>
        <p:nvCxnSpPr>
          <p:cNvPr id="356" name="Google Shape;356;p12"/>
          <p:cNvCxnSpPr/>
          <p:nvPr/>
        </p:nvCxnSpPr>
        <p:spPr>
          <a:xfrm flipH="1">
            <a:off x="3568532" y="1685859"/>
            <a:ext cx="3273" cy="605961"/>
          </a:xfrm>
          <a:prstGeom prst="straightConnector1">
            <a:avLst/>
          </a:prstGeom>
          <a:noFill/>
          <a:ln cap="flat" cmpd="sng" w="38100">
            <a:solidFill>
              <a:schemeClr val="dk1"/>
            </a:solidFill>
            <a:prstDash val="solid"/>
            <a:round/>
            <a:headEnd len="sm" w="sm" type="none"/>
            <a:tailEnd len="lg" w="lg" type="stealth"/>
          </a:ln>
        </p:spPr>
      </p:cxnSp>
      <p:cxnSp>
        <p:nvCxnSpPr>
          <p:cNvPr id="357" name="Google Shape;357;p12"/>
          <p:cNvCxnSpPr/>
          <p:nvPr/>
        </p:nvCxnSpPr>
        <p:spPr>
          <a:xfrm flipH="1">
            <a:off x="3560615" y="3184820"/>
            <a:ext cx="3273" cy="605961"/>
          </a:xfrm>
          <a:prstGeom prst="straightConnector1">
            <a:avLst/>
          </a:prstGeom>
          <a:noFill/>
          <a:ln cap="flat" cmpd="sng" w="38100">
            <a:solidFill>
              <a:schemeClr val="dk1"/>
            </a:solidFill>
            <a:prstDash val="solid"/>
            <a:round/>
            <a:headEnd len="sm" w="sm" type="none"/>
            <a:tailEnd len="lg" w="lg" type="stealth"/>
          </a:ln>
        </p:spPr>
      </p:cxnSp>
      <p:cxnSp>
        <p:nvCxnSpPr>
          <p:cNvPr id="358" name="Google Shape;358;p12"/>
          <p:cNvCxnSpPr/>
          <p:nvPr/>
        </p:nvCxnSpPr>
        <p:spPr>
          <a:xfrm flipH="1">
            <a:off x="2190103" y="4523447"/>
            <a:ext cx="877272" cy="859953"/>
          </a:xfrm>
          <a:prstGeom prst="straightConnector1">
            <a:avLst/>
          </a:prstGeom>
          <a:noFill/>
          <a:ln cap="flat" cmpd="sng" w="38100">
            <a:solidFill>
              <a:schemeClr val="dk1"/>
            </a:solidFill>
            <a:prstDash val="solid"/>
            <a:round/>
            <a:headEnd len="lg" w="lg" type="stealth"/>
            <a:tailEnd len="lg" w="lg" type="stealth"/>
          </a:ln>
        </p:spPr>
      </p:cxnSp>
      <p:cxnSp>
        <p:nvCxnSpPr>
          <p:cNvPr id="359" name="Google Shape;359;p12"/>
          <p:cNvCxnSpPr/>
          <p:nvPr/>
        </p:nvCxnSpPr>
        <p:spPr>
          <a:xfrm>
            <a:off x="4169829" y="4550612"/>
            <a:ext cx="744208" cy="832788"/>
          </a:xfrm>
          <a:prstGeom prst="straightConnector1">
            <a:avLst/>
          </a:prstGeom>
          <a:noFill/>
          <a:ln cap="flat" cmpd="sng" w="38100">
            <a:solidFill>
              <a:schemeClr val="dk1"/>
            </a:solidFill>
            <a:prstDash val="solid"/>
            <a:round/>
            <a:headEnd len="lg" w="lg" type="stealth"/>
            <a:tailEnd len="lg" w="lg"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3"/>
          <p:cNvSpPr txBox="1"/>
          <p:nvPr>
            <p:ph idx="1" type="body"/>
          </p:nvPr>
        </p:nvSpPr>
        <p:spPr>
          <a:xfrm>
            <a:off x="323528" y="998730"/>
            <a:ext cx="8658962" cy="5661248"/>
          </a:xfrm>
          <a:prstGeom prst="rect">
            <a:avLst/>
          </a:prstGeom>
          <a:noFill/>
          <a:ln>
            <a:noFill/>
          </a:ln>
        </p:spPr>
        <p:txBody>
          <a:bodyPr anchorCtr="0" anchor="t" bIns="45700" lIns="91425" spcFirstLastPara="1" rIns="91425" wrap="square" tIns="45700">
            <a:normAutofit fontScale="77500" lnSpcReduction="20000"/>
          </a:bodyPr>
          <a:lstStyle/>
          <a:p>
            <a:pPr indent="-342923" lvl="0" marL="342900" rtl="0" algn="l">
              <a:lnSpc>
                <a:spcPct val="120000"/>
              </a:lnSpc>
              <a:spcBef>
                <a:spcPts val="0"/>
              </a:spcBef>
              <a:spcAft>
                <a:spcPts val="0"/>
              </a:spcAft>
              <a:buSzPct val="75000"/>
              <a:buChar char="■"/>
            </a:pPr>
            <a:r>
              <a:rPr b="1" lang="ru-RU" sz="3900">
                <a:solidFill>
                  <a:srgbClr val="000099"/>
                </a:solidFill>
              </a:rPr>
              <a:t>СУБД реализует подход к обработке и хранению данных – подход баз данных</a:t>
            </a:r>
            <a:endParaRPr/>
          </a:p>
          <a:p>
            <a:pPr indent="-342923" lvl="0" marL="342900" rtl="0" algn="l">
              <a:lnSpc>
                <a:spcPct val="120000"/>
              </a:lnSpc>
              <a:spcBef>
                <a:spcPts val="604"/>
              </a:spcBef>
              <a:spcAft>
                <a:spcPts val="0"/>
              </a:spcAft>
              <a:buSzPct val="75000"/>
              <a:buChar char="■"/>
            </a:pPr>
            <a:r>
              <a:rPr b="1" lang="ru-RU" sz="3900">
                <a:solidFill>
                  <a:srgbClr val="000099"/>
                </a:solidFill>
              </a:rPr>
              <a:t>Самоописание систем баз данных</a:t>
            </a:r>
            <a:endParaRPr/>
          </a:p>
          <a:p>
            <a:pPr indent="-285750" lvl="1" marL="742950" rtl="0" algn="l">
              <a:lnSpc>
                <a:spcPct val="120000"/>
              </a:lnSpc>
              <a:spcBef>
                <a:spcPts val="620"/>
              </a:spcBef>
              <a:spcAft>
                <a:spcPts val="0"/>
              </a:spcAft>
              <a:buClr>
                <a:srgbClr val="000099"/>
              </a:buClr>
              <a:buSzPct val="100000"/>
              <a:buFont typeface="Noto Sans Symbols"/>
              <a:buChar char="❖"/>
            </a:pPr>
            <a:r>
              <a:rPr lang="ru-RU" sz="4000"/>
              <a:t>Каталог баз содержит описание конкретных баз данных ( структур данных, типов и ограничений целостности и т.д.)</a:t>
            </a:r>
            <a:endParaRPr/>
          </a:p>
          <a:p>
            <a:pPr indent="-285750" lvl="1" marL="742950" rtl="0" algn="l">
              <a:lnSpc>
                <a:spcPct val="120000"/>
              </a:lnSpc>
              <a:spcBef>
                <a:spcPts val="620"/>
              </a:spcBef>
              <a:spcAft>
                <a:spcPts val="0"/>
              </a:spcAft>
              <a:buClr>
                <a:srgbClr val="000099"/>
              </a:buClr>
              <a:buSzPct val="100000"/>
              <a:buFont typeface="Noto Sans Symbols"/>
              <a:buChar char="❖"/>
            </a:pPr>
            <a:r>
              <a:rPr lang="ru-RU" sz="4000"/>
              <a:t>Описание называется </a:t>
            </a:r>
            <a:r>
              <a:rPr b="1" lang="ru-RU" sz="4000"/>
              <a:t>метаданным</a:t>
            </a:r>
            <a:r>
              <a:rPr lang="ru-RU" sz="4000"/>
              <a:t>и или </a:t>
            </a:r>
            <a:r>
              <a:rPr b="1" lang="ru-RU" sz="4000"/>
              <a:t>словарем базы данных</a:t>
            </a:r>
            <a:endParaRPr/>
          </a:p>
          <a:p>
            <a:pPr indent="-285750" lvl="1" marL="742950" rtl="0" algn="l">
              <a:lnSpc>
                <a:spcPct val="120000"/>
              </a:lnSpc>
              <a:spcBef>
                <a:spcPts val="620"/>
              </a:spcBef>
              <a:spcAft>
                <a:spcPts val="0"/>
              </a:spcAft>
              <a:buClr>
                <a:srgbClr val="000099"/>
              </a:buClr>
              <a:buSzPct val="100000"/>
              <a:buFont typeface="Noto Sans Symbols"/>
              <a:buChar char="❖"/>
            </a:pPr>
            <a:r>
              <a:rPr lang="ru-RU" sz="4000"/>
              <a:t>Посредством </a:t>
            </a:r>
            <a:r>
              <a:rPr b="1" lang="ru-RU" sz="4000"/>
              <a:t>метаданных</a:t>
            </a:r>
            <a:r>
              <a:rPr lang="ru-RU" sz="4000"/>
              <a:t> СУБД обеспечивает доступ приложений к БД</a:t>
            </a:r>
            <a:endParaRPr/>
          </a:p>
          <a:p>
            <a:pPr indent="-198977" lvl="0" marL="342900" rtl="0" algn="l">
              <a:lnSpc>
                <a:spcPct val="120000"/>
              </a:lnSpc>
              <a:spcBef>
                <a:spcPts val="604"/>
              </a:spcBef>
              <a:spcAft>
                <a:spcPts val="0"/>
              </a:spcAft>
              <a:buSzPct val="75000"/>
              <a:buNone/>
            </a:pPr>
            <a:r>
              <a:t/>
            </a:r>
            <a:endParaRPr b="1" sz="3900">
              <a:solidFill>
                <a:srgbClr val="000099"/>
              </a:solidFill>
            </a:endParaRPr>
          </a:p>
          <a:p>
            <a:pPr indent="0" lvl="1" marL="365760" rtl="0" algn="l">
              <a:lnSpc>
                <a:spcPct val="120000"/>
              </a:lnSpc>
              <a:spcBef>
                <a:spcPts val="620"/>
              </a:spcBef>
              <a:spcAft>
                <a:spcPts val="0"/>
              </a:spcAft>
              <a:buClr>
                <a:srgbClr val="000099"/>
              </a:buClr>
              <a:buSzPct val="100000"/>
              <a:buNone/>
            </a:pPr>
            <a:r>
              <a:t/>
            </a:r>
            <a:endParaRPr b="1" sz="4000">
              <a:solidFill>
                <a:srgbClr val="000099"/>
              </a:solidFill>
            </a:endParaRPr>
          </a:p>
          <a:p>
            <a:pPr indent="0" lvl="1" marL="365760" rtl="0" algn="l">
              <a:lnSpc>
                <a:spcPct val="120000"/>
              </a:lnSpc>
              <a:spcBef>
                <a:spcPts val="620"/>
              </a:spcBef>
              <a:spcAft>
                <a:spcPts val="0"/>
              </a:spcAft>
              <a:buClr>
                <a:srgbClr val="000099"/>
              </a:buClr>
              <a:buSzPct val="100000"/>
              <a:buNone/>
            </a:pPr>
            <a:r>
              <a:t/>
            </a:r>
            <a:endParaRPr sz="4000">
              <a:solidFill>
                <a:srgbClr val="C00000"/>
              </a:solidFill>
            </a:endParaRPr>
          </a:p>
          <a:p>
            <a:pPr indent="0" lvl="0" marL="45720" rtl="0" algn="l">
              <a:lnSpc>
                <a:spcPct val="120000"/>
              </a:lnSpc>
              <a:spcBef>
                <a:spcPts val="403"/>
              </a:spcBef>
              <a:spcAft>
                <a:spcPts val="0"/>
              </a:spcAft>
              <a:buSzPct val="75000"/>
              <a:buNone/>
            </a:pPr>
            <a:r>
              <a:t/>
            </a:r>
            <a:endParaRPr b="1" sz="2600">
              <a:solidFill>
                <a:srgbClr val="000099"/>
              </a:solidFill>
            </a:endParaRPr>
          </a:p>
        </p:txBody>
      </p:sp>
      <p:sp>
        <p:nvSpPr>
          <p:cNvPr id="365" name="Google Shape;365;p1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366" name="Google Shape;366;p13"/>
          <p:cNvSpPr txBox="1"/>
          <p:nvPr/>
        </p:nvSpPr>
        <p:spPr>
          <a:xfrm>
            <a:off x="323528" y="188640"/>
            <a:ext cx="8568952" cy="936104"/>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5A5A97"/>
              </a:buClr>
              <a:buSzPts val="5376"/>
              <a:buFont typeface="Georgia"/>
              <a:buNone/>
            </a:pPr>
            <a:r>
              <a:rPr b="1" i="0" lang="ru-RU" sz="4200">
                <a:solidFill>
                  <a:schemeClr val="lt2"/>
                </a:solidFill>
                <a:latin typeface="Arial"/>
                <a:ea typeface="Arial"/>
                <a:cs typeface="Arial"/>
                <a:sym typeface="Arial"/>
              </a:rPr>
              <a:t>Подход баз данных</a:t>
            </a:r>
            <a:endParaRPr b="1"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4"/>
          <p:cNvSpPr txBox="1"/>
          <p:nvPr>
            <p:ph type="title"/>
          </p:nvPr>
        </p:nvSpPr>
        <p:spPr>
          <a:xfrm>
            <a:off x="251520" y="188640"/>
            <a:ext cx="8697913" cy="7921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Пример БД</a:t>
            </a:r>
            <a:endParaRPr/>
          </a:p>
        </p:txBody>
      </p:sp>
      <p:sp>
        <p:nvSpPr>
          <p:cNvPr id="373" name="Google Shape;373;p14"/>
          <p:cNvSpPr txBox="1"/>
          <p:nvPr>
            <p:ph idx="1" type="body"/>
          </p:nvPr>
        </p:nvSpPr>
        <p:spPr>
          <a:xfrm>
            <a:off x="482600" y="980728"/>
            <a:ext cx="8356600" cy="551532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3900"/>
              <a:buFont typeface="Noto Sans Symbols"/>
              <a:buChar char="❑"/>
            </a:pPr>
            <a:r>
              <a:rPr b="1" lang="ru-RU" sz="3900">
                <a:solidFill>
                  <a:srgbClr val="7030A0"/>
                </a:solidFill>
              </a:rPr>
              <a:t> Предметная область (ПрО)</a:t>
            </a:r>
            <a:endParaRPr/>
          </a:p>
          <a:p>
            <a:pPr indent="0" lvl="1" marL="457200" rtl="0" algn="l">
              <a:lnSpc>
                <a:spcPct val="90000"/>
              </a:lnSpc>
              <a:spcBef>
                <a:spcPts val="740"/>
              </a:spcBef>
              <a:spcAft>
                <a:spcPts val="0"/>
              </a:spcAft>
              <a:buClr>
                <a:srgbClr val="000099"/>
              </a:buClr>
              <a:buSzPts val="3700"/>
              <a:buNone/>
            </a:pPr>
            <a:r>
              <a:rPr b="1" lang="ru-RU" sz="3700"/>
              <a:t> </a:t>
            </a:r>
            <a:r>
              <a:rPr lang="ru-RU" sz="3700"/>
              <a:t>Часть УНИВЕРСИТЕТа</a:t>
            </a:r>
            <a:endParaRPr sz="3700"/>
          </a:p>
          <a:p>
            <a:pPr indent="-342900" lvl="0" marL="342900" rtl="0" algn="l">
              <a:lnSpc>
                <a:spcPct val="90000"/>
              </a:lnSpc>
              <a:spcBef>
                <a:spcPts val="780"/>
              </a:spcBef>
              <a:spcAft>
                <a:spcPts val="0"/>
              </a:spcAft>
              <a:buSzPts val="3900"/>
              <a:buFont typeface="Noto Sans Symbols"/>
              <a:buChar char="❑"/>
            </a:pPr>
            <a:r>
              <a:rPr b="1" lang="ru-RU" sz="3900">
                <a:solidFill>
                  <a:srgbClr val="7030A0"/>
                </a:solidFill>
              </a:rPr>
              <a:t> Некоторые сущности ПрО</a:t>
            </a:r>
            <a:endParaRPr b="1" sz="3900">
              <a:solidFill>
                <a:srgbClr val="7030A0"/>
              </a:solidFill>
            </a:endParaRPr>
          </a:p>
          <a:p>
            <a:pPr indent="-285750" lvl="1" marL="742950" rtl="0" algn="l">
              <a:spcBef>
                <a:spcPts val="720"/>
              </a:spcBef>
              <a:spcAft>
                <a:spcPts val="0"/>
              </a:spcAft>
              <a:buClr>
                <a:srgbClr val="000099"/>
              </a:buClr>
              <a:buSzPts val="3600"/>
              <a:buFont typeface="Noto Sans Symbols"/>
              <a:buChar char="❖"/>
            </a:pPr>
            <a:r>
              <a:rPr lang="ru-RU" sz="3600"/>
              <a:t>СТУДЕНТЫ</a:t>
            </a:r>
            <a:endParaRPr/>
          </a:p>
          <a:p>
            <a:pPr indent="-285750" lvl="1" marL="742950" rtl="0" algn="l">
              <a:spcBef>
                <a:spcPts val="720"/>
              </a:spcBef>
              <a:spcAft>
                <a:spcPts val="0"/>
              </a:spcAft>
              <a:buClr>
                <a:srgbClr val="000099"/>
              </a:buClr>
              <a:buSzPts val="3600"/>
              <a:buFont typeface="Noto Sans Symbols"/>
              <a:buChar char="❖"/>
            </a:pPr>
            <a:r>
              <a:rPr lang="ru-RU" sz="3600"/>
              <a:t>КУРСЫ</a:t>
            </a:r>
            <a:endParaRPr/>
          </a:p>
          <a:p>
            <a:pPr indent="-285750" lvl="1" marL="742950" rtl="0" algn="l">
              <a:spcBef>
                <a:spcPts val="740"/>
              </a:spcBef>
              <a:spcAft>
                <a:spcPts val="0"/>
              </a:spcAft>
              <a:buClr>
                <a:srgbClr val="000099"/>
              </a:buClr>
              <a:buSzPts val="3700"/>
              <a:buFont typeface="Noto Sans Symbols"/>
              <a:buChar char="❖"/>
            </a:pPr>
            <a:r>
              <a:rPr lang="ru-RU" sz="3700"/>
              <a:t>ПРЕПОДАВАТЕЛИ</a:t>
            </a:r>
            <a:endParaRPr/>
          </a:p>
          <a:p>
            <a:pPr indent="-285750" lvl="1" marL="742950" rtl="0" algn="l">
              <a:spcBef>
                <a:spcPts val="740"/>
              </a:spcBef>
              <a:spcAft>
                <a:spcPts val="0"/>
              </a:spcAft>
              <a:buClr>
                <a:srgbClr val="000099"/>
              </a:buClr>
              <a:buSzPts val="3700"/>
              <a:buFont typeface="Noto Sans Symbols"/>
              <a:buChar char="❖"/>
            </a:pPr>
            <a:r>
              <a:rPr lang="ru-RU" sz="3700"/>
              <a:t>ФАКУЛЬТЕТЫ</a:t>
            </a:r>
            <a:endParaRPr/>
          </a:p>
          <a:p>
            <a:pPr indent="-171450" lvl="0" marL="342900" rtl="0" algn="l">
              <a:lnSpc>
                <a:spcPct val="90000"/>
              </a:lnSpc>
              <a:spcBef>
                <a:spcPts val="720"/>
              </a:spcBef>
              <a:spcAft>
                <a:spcPts val="0"/>
              </a:spcAft>
              <a:buSzPts val="2700"/>
              <a:buNone/>
            </a:pPr>
            <a:r>
              <a:t/>
            </a:r>
            <a:endParaRPr sz="3600"/>
          </a:p>
        </p:txBody>
      </p:sp>
      <p:sp>
        <p:nvSpPr>
          <p:cNvPr id="374" name="Google Shape;374;p14"/>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5"/>
          <p:cNvSpPr txBox="1"/>
          <p:nvPr>
            <p:ph type="title"/>
          </p:nvPr>
        </p:nvSpPr>
        <p:spPr>
          <a:xfrm>
            <a:off x="251520" y="188640"/>
            <a:ext cx="8697913" cy="7921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Пример БД</a:t>
            </a:r>
            <a:endParaRPr/>
          </a:p>
        </p:txBody>
      </p:sp>
      <p:sp>
        <p:nvSpPr>
          <p:cNvPr id="380" name="Google Shape;380;p15"/>
          <p:cNvSpPr txBox="1"/>
          <p:nvPr>
            <p:ph idx="1" type="body"/>
          </p:nvPr>
        </p:nvSpPr>
        <p:spPr>
          <a:xfrm>
            <a:off x="438150" y="980728"/>
            <a:ext cx="8526338" cy="5559772"/>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lnSpc>
                <a:spcPct val="90000"/>
              </a:lnSpc>
              <a:spcBef>
                <a:spcPts val="0"/>
              </a:spcBef>
              <a:spcAft>
                <a:spcPts val="0"/>
              </a:spcAft>
              <a:buSzPct val="80000"/>
              <a:buFont typeface="Noto Sans Symbols"/>
              <a:buChar char="❑"/>
            </a:pPr>
            <a:r>
              <a:rPr b="1" lang="ru-RU" sz="3900">
                <a:solidFill>
                  <a:srgbClr val="7030A0"/>
                </a:solidFill>
              </a:rPr>
              <a:t> </a:t>
            </a:r>
            <a:r>
              <a:rPr lang="ru-RU" sz="3900">
                <a:solidFill>
                  <a:srgbClr val="7030A0"/>
                </a:solidFill>
              </a:rPr>
              <a:t>Некоторые связи в ПрО</a:t>
            </a:r>
            <a:endParaRPr sz="3900">
              <a:solidFill>
                <a:srgbClr val="7030A0"/>
              </a:solidFill>
            </a:endParaRPr>
          </a:p>
          <a:p>
            <a:pPr indent="-285750" lvl="1" marL="742950" rtl="0" algn="l">
              <a:lnSpc>
                <a:spcPct val="150000"/>
              </a:lnSpc>
              <a:spcBef>
                <a:spcPts val="544"/>
              </a:spcBef>
              <a:spcAft>
                <a:spcPts val="0"/>
              </a:spcAft>
              <a:buClr>
                <a:srgbClr val="000099"/>
              </a:buClr>
              <a:buSzPct val="80000"/>
              <a:buFont typeface="Noto Sans Symbols"/>
              <a:buChar char="❖"/>
            </a:pPr>
            <a:r>
              <a:rPr lang="ru-RU" sz="3200"/>
              <a:t>СТУДЕНТЫ изучают КУРСЫ</a:t>
            </a:r>
            <a:endParaRPr/>
          </a:p>
          <a:p>
            <a:pPr indent="-285750" lvl="1" marL="742950" rtl="0" algn="l">
              <a:lnSpc>
                <a:spcPct val="150000"/>
              </a:lnSpc>
              <a:spcBef>
                <a:spcPts val="544"/>
              </a:spcBef>
              <a:spcAft>
                <a:spcPts val="0"/>
              </a:spcAft>
              <a:buClr>
                <a:srgbClr val="000099"/>
              </a:buClr>
              <a:buSzPct val="80000"/>
              <a:buFont typeface="Noto Sans Symbols"/>
              <a:buChar char="❖"/>
            </a:pPr>
            <a:r>
              <a:rPr lang="ru-RU" sz="3200"/>
              <a:t>ПРЕПОДАВАТЕЛИ читают КУРСЫ</a:t>
            </a:r>
            <a:endParaRPr/>
          </a:p>
          <a:p>
            <a:pPr indent="-285750" lvl="1" marL="742950" rtl="0" algn="l">
              <a:lnSpc>
                <a:spcPct val="150000"/>
              </a:lnSpc>
              <a:spcBef>
                <a:spcPts val="544"/>
              </a:spcBef>
              <a:spcAft>
                <a:spcPts val="0"/>
              </a:spcAft>
              <a:buClr>
                <a:srgbClr val="000099"/>
              </a:buClr>
              <a:buSzPct val="80000"/>
              <a:buFont typeface="Noto Sans Symbols"/>
              <a:buChar char="❖"/>
            </a:pPr>
            <a:r>
              <a:rPr lang="ru-RU" sz="3200"/>
              <a:t>КУРСЫ имеют </a:t>
            </a:r>
            <a:r>
              <a:rPr i="1" lang="ru-RU" sz="3200"/>
              <a:t>предварительные</a:t>
            </a:r>
            <a:r>
              <a:rPr lang="ru-RU" sz="3200"/>
              <a:t> КУРСЫ</a:t>
            </a:r>
            <a:endParaRPr/>
          </a:p>
          <a:p>
            <a:pPr indent="-285750" lvl="1" marL="742950" rtl="0" algn="l">
              <a:lnSpc>
                <a:spcPct val="150000"/>
              </a:lnSpc>
              <a:spcBef>
                <a:spcPts val="544"/>
              </a:spcBef>
              <a:spcAft>
                <a:spcPts val="0"/>
              </a:spcAft>
              <a:buClr>
                <a:srgbClr val="000099"/>
              </a:buClr>
              <a:buSzPct val="80000"/>
              <a:buFont typeface="Noto Sans Symbols"/>
              <a:buChar char="❖"/>
            </a:pPr>
            <a:r>
              <a:rPr lang="ru-RU" sz="3200"/>
              <a:t>КУРСЫ читаются на ФАКУЛЬТЕТАХ</a:t>
            </a:r>
            <a:endParaRPr/>
          </a:p>
          <a:p>
            <a:pPr indent="-285750" lvl="1" marL="742950" rtl="0" algn="l">
              <a:lnSpc>
                <a:spcPct val="150000"/>
              </a:lnSpc>
              <a:spcBef>
                <a:spcPts val="612"/>
              </a:spcBef>
              <a:spcAft>
                <a:spcPts val="0"/>
              </a:spcAft>
              <a:buClr>
                <a:srgbClr val="000099"/>
              </a:buClr>
              <a:buSzPct val="80000"/>
              <a:buFont typeface="Noto Sans Symbols"/>
              <a:buChar char="❖"/>
            </a:pPr>
            <a:r>
              <a:rPr lang="ru-RU" sz="3200"/>
              <a:t>СТУДЕНТЫ обучаются на </a:t>
            </a:r>
            <a:r>
              <a:rPr lang="ru-RU" sz="3600"/>
              <a:t>ФАКУЛЬТЕТАХ</a:t>
            </a:r>
            <a:endParaRPr/>
          </a:p>
          <a:p>
            <a:pPr indent="-228600" lvl="1" marL="228600" rtl="0" algn="l">
              <a:lnSpc>
                <a:spcPct val="110000"/>
              </a:lnSpc>
              <a:spcBef>
                <a:spcPts val="663"/>
              </a:spcBef>
              <a:spcAft>
                <a:spcPts val="0"/>
              </a:spcAft>
              <a:buSzPct val="80000"/>
              <a:buFont typeface="Noto Sans Symbols"/>
              <a:buChar char="❑"/>
            </a:pPr>
            <a:r>
              <a:rPr b="1" lang="ru-RU" sz="3900">
                <a:solidFill>
                  <a:srgbClr val="7030A0"/>
                </a:solidFill>
              </a:rPr>
              <a:t> </a:t>
            </a:r>
            <a:r>
              <a:rPr lang="ru-RU" sz="3500">
                <a:solidFill>
                  <a:srgbClr val="7030A0"/>
                </a:solidFill>
              </a:rPr>
              <a:t>Сущности и связи  проектируются в </a:t>
            </a:r>
            <a:r>
              <a:rPr lang="ru-RU" sz="3500" u="sng">
                <a:solidFill>
                  <a:srgbClr val="7030A0"/>
                </a:solidFill>
              </a:rPr>
              <a:t>концептуальной</a:t>
            </a:r>
            <a:r>
              <a:rPr lang="ru-RU" sz="3500">
                <a:solidFill>
                  <a:srgbClr val="7030A0"/>
                </a:solidFill>
              </a:rPr>
              <a:t> ER-модели</a:t>
            </a:r>
            <a:endParaRPr sz="3500"/>
          </a:p>
        </p:txBody>
      </p:sp>
      <p:sp>
        <p:nvSpPr>
          <p:cNvPr id="381" name="Google Shape;381;p15"/>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6"/>
          <p:cNvSpPr txBox="1"/>
          <p:nvPr>
            <p:ph type="title"/>
          </p:nvPr>
        </p:nvSpPr>
        <p:spPr>
          <a:xfrm>
            <a:off x="250825" y="179388"/>
            <a:ext cx="8607425" cy="6572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ru-RU" sz="3200"/>
              <a:t>Построение ER модели </a:t>
            </a:r>
            <a:endParaRPr/>
          </a:p>
        </p:txBody>
      </p:sp>
      <p:sp>
        <p:nvSpPr>
          <p:cNvPr id="388" name="Google Shape;388;p16"/>
          <p:cNvSpPr txBox="1"/>
          <p:nvPr/>
        </p:nvSpPr>
        <p:spPr>
          <a:xfrm>
            <a:off x="971550" y="1844675"/>
            <a:ext cx="2160588" cy="523220"/>
          </a:xfrm>
          <a:prstGeom prst="rect">
            <a:avLst/>
          </a:prstGeom>
          <a:noFill/>
          <a:ln cap="flat" cmpd="sng" w="28575">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800">
                <a:solidFill>
                  <a:schemeClr val="dk1"/>
                </a:solidFill>
                <a:latin typeface="Arial"/>
                <a:ea typeface="Arial"/>
                <a:cs typeface="Arial"/>
                <a:sym typeface="Arial"/>
              </a:rPr>
              <a:t>студент</a:t>
            </a:r>
            <a:endParaRPr/>
          </a:p>
        </p:txBody>
      </p:sp>
      <p:sp>
        <p:nvSpPr>
          <p:cNvPr id="389" name="Google Shape;389;p16"/>
          <p:cNvSpPr txBox="1"/>
          <p:nvPr/>
        </p:nvSpPr>
        <p:spPr>
          <a:xfrm>
            <a:off x="971550" y="4365625"/>
            <a:ext cx="2160588" cy="523220"/>
          </a:xfrm>
          <a:prstGeom prst="rect">
            <a:avLst/>
          </a:prstGeom>
          <a:noFill/>
          <a:ln cap="flat" cmpd="sng" w="28575">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800">
                <a:solidFill>
                  <a:schemeClr val="dk1"/>
                </a:solidFill>
                <a:latin typeface="Arial"/>
                <a:ea typeface="Arial"/>
                <a:cs typeface="Arial"/>
                <a:sym typeface="Arial"/>
              </a:rPr>
              <a:t>курс</a:t>
            </a:r>
            <a:endParaRPr/>
          </a:p>
        </p:txBody>
      </p:sp>
      <p:sp>
        <p:nvSpPr>
          <p:cNvPr id="390" name="Google Shape;390;p16"/>
          <p:cNvSpPr txBox="1"/>
          <p:nvPr/>
        </p:nvSpPr>
        <p:spPr>
          <a:xfrm>
            <a:off x="5922150" y="2663914"/>
            <a:ext cx="2385265" cy="495055"/>
          </a:xfrm>
          <a:prstGeom prst="rect">
            <a:avLst/>
          </a:prstGeom>
          <a:noFill/>
          <a:ln cap="flat" cmpd="sng" w="2857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2400">
                <a:solidFill>
                  <a:schemeClr val="dk1"/>
                </a:solidFill>
                <a:latin typeface="Arial"/>
                <a:ea typeface="Arial"/>
                <a:cs typeface="Arial"/>
                <a:sym typeface="Arial"/>
              </a:rPr>
              <a:t>преподаватель</a:t>
            </a:r>
            <a:endParaRPr/>
          </a:p>
        </p:txBody>
      </p:sp>
      <p:grpSp>
        <p:nvGrpSpPr>
          <p:cNvPr id="391" name="Google Shape;391;p16"/>
          <p:cNvGrpSpPr/>
          <p:nvPr/>
        </p:nvGrpSpPr>
        <p:grpSpPr>
          <a:xfrm>
            <a:off x="1116013" y="2420938"/>
            <a:ext cx="1943100" cy="1944687"/>
            <a:chOff x="1116013" y="2420938"/>
            <a:chExt cx="1943100" cy="1944687"/>
          </a:xfrm>
        </p:grpSpPr>
        <p:sp>
          <p:nvSpPr>
            <p:cNvPr id="392" name="Google Shape;392;p16"/>
            <p:cNvSpPr txBox="1"/>
            <p:nvPr/>
          </p:nvSpPr>
          <p:spPr>
            <a:xfrm>
              <a:off x="1331913" y="3158970"/>
              <a:ext cx="152558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ru-RU" sz="2000">
                  <a:solidFill>
                    <a:srgbClr val="7030A0"/>
                  </a:solidFill>
                  <a:latin typeface="Arial"/>
                  <a:ea typeface="Arial"/>
                  <a:cs typeface="Arial"/>
                  <a:sym typeface="Arial"/>
                </a:rPr>
                <a:t>Оценка</a:t>
              </a:r>
              <a:endParaRPr/>
            </a:p>
          </p:txBody>
        </p:sp>
        <p:grpSp>
          <p:nvGrpSpPr>
            <p:cNvPr id="393" name="Google Shape;393;p16"/>
            <p:cNvGrpSpPr/>
            <p:nvPr/>
          </p:nvGrpSpPr>
          <p:grpSpPr>
            <a:xfrm>
              <a:off x="1116013" y="2420938"/>
              <a:ext cx="1943100" cy="1944687"/>
              <a:chOff x="1116013" y="2420938"/>
              <a:chExt cx="1943100" cy="1944687"/>
            </a:xfrm>
          </p:grpSpPr>
          <p:sp>
            <p:nvSpPr>
              <p:cNvPr id="394" name="Google Shape;394;p16"/>
              <p:cNvSpPr/>
              <p:nvPr/>
            </p:nvSpPr>
            <p:spPr>
              <a:xfrm>
                <a:off x="1116013" y="2997200"/>
                <a:ext cx="1943100" cy="792163"/>
              </a:xfrm>
              <a:prstGeom prst="diamond">
                <a:avLst/>
              </a:prstGeom>
              <a:no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95" name="Google Shape;395;p16"/>
              <p:cNvCxnSpPr/>
              <p:nvPr/>
            </p:nvCxnSpPr>
            <p:spPr>
              <a:xfrm rot="10800000">
                <a:off x="2051050" y="2420938"/>
                <a:ext cx="0" cy="576262"/>
              </a:xfrm>
              <a:prstGeom prst="straightConnector1">
                <a:avLst/>
              </a:prstGeom>
              <a:noFill/>
              <a:ln cap="flat" cmpd="sng" w="28575">
                <a:solidFill>
                  <a:schemeClr val="dk1"/>
                </a:solidFill>
                <a:prstDash val="solid"/>
                <a:round/>
                <a:headEnd len="med" w="med" type="none"/>
                <a:tailEnd len="med" w="med" type="stealth"/>
              </a:ln>
            </p:spPr>
          </p:cxnSp>
          <p:cxnSp>
            <p:nvCxnSpPr>
              <p:cNvPr id="396" name="Google Shape;396;p16"/>
              <p:cNvCxnSpPr/>
              <p:nvPr/>
            </p:nvCxnSpPr>
            <p:spPr>
              <a:xfrm>
                <a:off x="2051050" y="3789363"/>
                <a:ext cx="0" cy="576262"/>
              </a:xfrm>
              <a:prstGeom prst="straightConnector1">
                <a:avLst/>
              </a:prstGeom>
              <a:noFill/>
              <a:ln cap="flat" cmpd="sng" w="28575">
                <a:solidFill>
                  <a:schemeClr val="dk1"/>
                </a:solidFill>
                <a:prstDash val="solid"/>
                <a:round/>
                <a:headEnd len="med" w="med" type="none"/>
                <a:tailEnd len="med" w="med" type="stealth"/>
              </a:ln>
            </p:spPr>
          </p:cxnSp>
          <p:cxnSp>
            <p:nvCxnSpPr>
              <p:cNvPr id="397" name="Google Shape;397;p16"/>
              <p:cNvCxnSpPr/>
              <p:nvPr/>
            </p:nvCxnSpPr>
            <p:spPr>
              <a:xfrm>
                <a:off x="2051050" y="3789363"/>
                <a:ext cx="0" cy="431800"/>
              </a:xfrm>
              <a:prstGeom prst="straightConnector1">
                <a:avLst/>
              </a:prstGeom>
              <a:noFill/>
              <a:ln cap="flat" cmpd="sng" w="28575">
                <a:solidFill>
                  <a:schemeClr val="dk1"/>
                </a:solidFill>
                <a:prstDash val="solid"/>
                <a:round/>
                <a:headEnd len="med" w="med" type="none"/>
                <a:tailEnd len="med" w="med" type="stealth"/>
              </a:ln>
            </p:spPr>
          </p:cxnSp>
        </p:grpSp>
      </p:grpSp>
      <p:grpSp>
        <p:nvGrpSpPr>
          <p:cNvPr id="398" name="Google Shape;398;p16"/>
          <p:cNvGrpSpPr/>
          <p:nvPr/>
        </p:nvGrpSpPr>
        <p:grpSpPr>
          <a:xfrm>
            <a:off x="3132138" y="3159085"/>
            <a:ext cx="5040262" cy="1827162"/>
            <a:chOff x="3132138" y="3159085"/>
            <a:chExt cx="5040262" cy="1827162"/>
          </a:xfrm>
        </p:grpSpPr>
        <p:sp>
          <p:nvSpPr>
            <p:cNvPr id="399" name="Google Shape;399;p16"/>
            <p:cNvSpPr/>
            <p:nvPr/>
          </p:nvSpPr>
          <p:spPr>
            <a:xfrm>
              <a:off x="6083250" y="4194085"/>
              <a:ext cx="2089150" cy="792162"/>
            </a:xfrm>
            <a:prstGeom prst="diamond">
              <a:avLst/>
            </a:prstGeom>
            <a:no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0" name="Google Shape;400;p16"/>
            <p:cNvSpPr txBox="1"/>
            <p:nvPr/>
          </p:nvSpPr>
          <p:spPr>
            <a:xfrm>
              <a:off x="6417205" y="4374105"/>
              <a:ext cx="143986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ru-RU" sz="2000">
                  <a:solidFill>
                    <a:srgbClr val="C00000"/>
                  </a:solidFill>
                  <a:latin typeface="Arial"/>
                  <a:ea typeface="Arial"/>
                  <a:cs typeface="Arial"/>
                  <a:sym typeface="Arial"/>
                </a:rPr>
                <a:t>читает</a:t>
              </a:r>
              <a:endParaRPr/>
            </a:p>
          </p:txBody>
        </p:sp>
        <p:cxnSp>
          <p:nvCxnSpPr>
            <p:cNvPr id="401" name="Google Shape;401;p16"/>
            <p:cNvCxnSpPr/>
            <p:nvPr/>
          </p:nvCxnSpPr>
          <p:spPr>
            <a:xfrm rot="10800000">
              <a:off x="3132138" y="4597400"/>
              <a:ext cx="3015037" cy="1730"/>
            </a:xfrm>
            <a:prstGeom prst="straightConnector1">
              <a:avLst/>
            </a:prstGeom>
            <a:noFill/>
            <a:ln cap="flat" cmpd="sng" w="28575">
              <a:solidFill>
                <a:schemeClr val="dk1"/>
              </a:solidFill>
              <a:prstDash val="solid"/>
              <a:round/>
              <a:headEnd len="med" w="med" type="none"/>
              <a:tailEnd len="med" w="med" type="stealth"/>
            </a:ln>
          </p:spPr>
        </p:cxnSp>
        <p:cxnSp>
          <p:nvCxnSpPr>
            <p:cNvPr id="402" name="Google Shape;402;p16"/>
            <p:cNvCxnSpPr>
              <a:stCxn id="399" idx="0"/>
              <a:endCxn id="390" idx="2"/>
            </p:cNvCxnSpPr>
            <p:nvPr/>
          </p:nvCxnSpPr>
          <p:spPr>
            <a:xfrm rot="10800000">
              <a:off x="7114925" y="3159085"/>
              <a:ext cx="12900" cy="1035000"/>
            </a:xfrm>
            <a:prstGeom prst="straightConnector1">
              <a:avLst/>
            </a:prstGeom>
            <a:noFill/>
            <a:ln cap="flat" cmpd="sng" w="28575">
              <a:solidFill>
                <a:schemeClr val="dk1"/>
              </a:solidFill>
              <a:prstDash val="solid"/>
              <a:round/>
              <a:headEnd len="sm" w="sm" type="none"/>
              <a:tailEnd len="med" w="med" type="stealth"/>
            </a:ln>
          </p:spPr>
        </p:cxnSp>
        <p:cxnSp>
          <p:nvCxnSpPr>
            <p:cNvPr id="403" name="Google Shape;403;p16"/>
            <p:cNvCxnSpPr/>
            <p:nvPr/>
          </p:nvCxnSpPr>
          <p:spPr>
            <a:xfrm rot="10800000">
              <a:off x="3284538" y="4597400"/>
              <a:ext cx="2862637" cy="1730"/>
            </a:xfrm>
            <a:prstGeom prst="straightConnector1">
              <a:avLst/>
            </a:prstGeom>
            <a:noFill/>
            <a:ln cap="flat" cmpd="sng" w="25400">
              <a:solidFill>
                <a:schemeClr val="dk1"/>
              </a:solidFill>
              <a:prstDash val="solid"/>
              <a:round/>
              <a:headEnd len="med" w="med" type="none"/>
              <a:tailEnd len="med" w="med" type="stealth"/>
            </a:ln>
          </p:spPr>
        </p:cxnSp>
      </p:grpSp>
      <p:grpSp>
        <p:nvGrpSpPr>
          <p:cNvPr id="404" name="Google Shape;404;p16"/>
          <p:cNvGrpSpPr/>
          <p:nvPr/>
        </p:nvGrpSpPr>
        <p:grpSpPr>
          <a:xfrm>
            <a:off x="251520" y="908720"/>
            <a:ext cx="1463119" cy="945180"/>
            <a:chOff x="500063" y="1000125"/>
            <a:chExt cx="1560807" cy="1043350"/>
          </a:xfrm>
        </p:grpSpPr>
        <p:sp>
          <p:nvSpPr>
            <p:cNvPr id="405" name="Google Shape;405;p16"/>
            <p:cNvSpPr/>
            <p:nvPr/>
          </p:nvSpPr>
          <p:spPr>
            <a:xfrm>
              <a:off x="500063" y="1000125"/>
              <a:ext cx="1428750" cy="679450"/>
            </a:xfrm>
            <a:prstGeom prst="roundRect">
              <a:avLst>
                <a:gd fmla="val 16667"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6" name="Google Shape;406;p16"/>
            <p:cNvSpPr txBox="1"/>
            <p:nvPr/>
          </p:nvSpPr>
          <p:spPr>
            <a:xfrm>
              <a:off x="524555" y="1099484"/>
              <a:ext cx="1536315" cy="4076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ФИО</a:t>
              </a:r>
              <a:endParaRPr/>
            </a:p>
          </p:txBody>
        </p:sp>
        <p:cxnSp>
          <p:nvCxnSpPr>
            <p:cNvPr id="407" name="Google Shape;407;p16"/>
            <p:cNvCxnSpPr>
              <a:stCxn id="405" idx="2"/>
            </p:cNvCxnSpPr>
            <p:nvPr/>
          </p:nvCxnSpPr>
          <p:spPr>
            <a:xfrm>
              <a:off x="1214438" y="1679575"/>
              <a:ext cx="486000" cy="363900"/>
            </a:xfrm>
            <a:prstGeom prst="straightConnector1">
              <a:avLst/>
            </a:prstGeom>
            <a:noFill/>
            <a:ln cap="flat" cmpd="sng" w="28575">
              <a:solidFill>
                <a:srgbClr val="9292FB"/>
              </a:solidFill>
              <a:prstDash val="solid"/>
              <a:round/>
              <a:headEnd len="sm" w="sm" type="none"/>
              <a:tailEnd len="sm" w="sm" type="none"/>
            </a:ln>
          </p:spPr>
        </p:cxnSp>
      </p:grpSp>
      <p:grpSp>
        <p:nvGrpSpPr>
          <p:cNvPr id="408" name="Google Shape;408;p16"/>
          <p:cNvGrpSpPr/>
          <p:nvPr/>
        </p:nvGrpSpPr>
        <p:grpSpPr>
          <a:xfrm>
            <a:off x="1601670" y="908719"/>
            <a:ext cx="1800200" cy="935931"/>
            <a:chOff x="2496333" y="928688"/>
            <a:chExt cx="1582737" cy="952450"/>
          </a:xfrm>
        </p:grpSpPr>
        <p:sp>
          <p:nvSpPr>
            <p:cNvPr id="409" name="Google Shape;409;p16"/>
            <p:cNvSpPr txBox="1"/>
            <p:nvPr/>
          </p:nvSpPr>
          <p:spPr>
            <a:xfrm>
              <a:off x="2496333" y="1043735"/>
              <a:ext cx="1582737" cy="3758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Ном_студента</a:t>
              </a:r>
              <a:endParaRPr sz="1800">
                <a:solidFill>
                  <a:schemeClr val="dk1"/>
                </a:solidFill>
                <a:latin typeface="Arial"/>
                <a:ea typeface="Arial"/>
                <a:cs typeface="Arial"/>
                <a:sym typeface="Arial"/>
              </a:endParaRPr>
            </a:p>
          </p:txBody>
        </p:sp>
        <p:sp>
          <p:nvSpPr>
            <p:cNvPr id="410" name="Google Shape;410;p16"/>
            <p:cNvSpPr/>
            <p:nvPr/>
          </p:nvSpPr>
          <p:spPr>
            <a:xfrm>
              <a:off x="2571750" y="928688"/>
              <a:ext cx="1428750" cy="679450"/>
            </a:xfrm>
            <a:prstGeom prst="roundRect">
              <a:avLst>
                <a:gd fmla="val 16667"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11" name="Google Shape;411;p16"/>
            <p:cNvCxnSpPr>
              <a:stCxn id="410" idx="2"/>
              <a:endCxn id="388" idx="0"/>
            </p:cNvCxnSpPr>
            <p:nvPr/>
          </p:nvCxnSpPr>
          <p:spPr>
            <a:xfrm flipH="1">
              <a:off x="2892225" y="1608138"/>
              <a:ext cx="393900" cy="273000"/>
            </a:xfrm>
            <a:prstGeom prst="straightConnector1">
              <a:avLst/>
            </a:prstGeom>
            <a:noFill/>
            <a:ln cap="flat" cmpd="sng" w="28575">
              <a:solidFill>
                <a:srgbClr val="9292FB"/>
              </a:solidFill>
              <a:prstDash val="solid"/>
              <a:round/>
              <a:headEnd len="sm" w="sm" type="none"/>
              <a:tailEnd len="sm" w="sm" type="none"/>
            </a:ln>
          </p:spPr>
        </p:cxnSp>
      </p:grpSp>
      <p:grpSp>
        <p:nvGrpSpPr>
          <p:cNvPr id="412" name="Google Shape;412;p16"/>
          <p:cNvGrpSpPr/>
          <p:nvPr/>
        </p:nvGrpSpPr>
        <p:grpSpPr>
          <a:xfrm>
            <a:off x="214313" y="4869150"/>
            <a:ext cx="1297219" cy="1239550"/>
            <a:chOff x="214313" y="4869150"/>
            <a:chExt cx="1297219" cy="1239550"/>
          </a:xfrm>
        </p:grpSpPr>
        <p:sp>
          <p:nvSpPr>
            <p:cNvPr id="413" name="Google Shape;413;p16"/>
            <p:cNvSpPr txBox="1"/>
            <p:nvPr/>
          </p:nvSpPr>
          <p:spPr>
            <a:xfrm>
              <a:off x="250825" y="5445125"/>
              <a:ext cx="115252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Имя</a:t>
              </a:r>
              <a:br>
                <a:rPr lang="ru-RU" sz="1800">
                  <a:solidFill>
                    <a:schemeClr val="dk1"/>
                  </a:solidFill>
                  <a:latin typeface="Arial"/>
                  <a:ea typeface="Arial"/>
                  <a:cs typeface="Arial"/>
                  <a:sym typeface="Arial"/>
                </a:rPr>
              </a:br>
              <a:r>
                <a:rPr lang="ru-RU" sz="1800">
                  <a:solidFill>
                    <a:schemeClr val="dk1"/>
                  </a:solidFill>
                  <a:latin typeface="Arial"/>
                  <a:ea typeface="Arial"/>
                  <a:cs typeface="Arial"/>
                  <a:sym typeface="Arial"/>
                </a:rPr>
                <a:t>_курса</a:t>
              </a:r>
              <a:endParaRPr sz="1800">
                <a:solidFill>
                  <a:schemeClr val="dk1"/>
                </a:solidFill>
                <a:latin typeface="Arial"/>
                <a:ea typeface="Arial"/>
                <a:cs typeface="Arial"/>
                <a:sym typeface="Arial"/>
              </a:endParaRPr>
            </a:p>
          </p:txBody>
        </p:sp>
        <p:sp>
          <p:nvSpPr>
            <p:cNvPr id="414" name="Google Shape;414;p16"/>
            <p:cNvSpPr/>
            <p:nvPr/>
          </p:nvSpPr>
          <p:spPr>
            <a:xfrm>
              <a:off x="214313" y="5429250"/>
              <a:ext cx="1214437" cy="679450"/>
            </a:xfrm>
            <a:prstGeom prst="roundRect">
              <a:avLst>
                <a:gd fmla="val 16667"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15" name="Google Shape;415;p16"/>
            <p:cNvCxnSpPr>
              <a:endCxn id="414" idx="0"/>
            </p:cNvCxnSpPr>
            <p:nvPr/>
          </p:nvCxnSpPr>
          <p:spPr>
            <a:xfrm flipH="1">
              <a:off x="821532" y="4869150"/>
              <a:ext cx="690000" cy="560100"/>
            </a:xfrm>
            <a:prstGeom prst="straightConnector1">
              <a:avLst/>
            </a:prstGeom>
            <a:noFill/>
            <a:ln cap="flat" cmpd="sng" w="28575">
              <a:solidFill>
                <a:srgbClr val="9292FB"/>
              </a:solidFill>
              <a:prstDash val="solid"/>
              <a:round/>
              <a:headEnd len="sm" w="sm" type="none"/>
              <a:tailEnd len="sm" w="sm" type="none"/>
            </a:ln>
          </p:spPr>
        </p:cxnSp>
      </p:grpSp>
      <p:grpSp>
        <p:nvGrpSpPr>
          <p:cNvPr id="416" name="Google Shape;416;p16"/>
          <p:cNvGrpSpPr/>
          <p:nvPr/>
        </p:nvGrpSpPr>
        <p:grpSpPr>
          <a:xfrm>
            <a:off x="1500188" y="4869150"/>
            <a:ext cx="1214437" cy="1239550"/>
            <a:chOff x="1500188" y="4869150"/>
            <a:chExt cx="1214437" cy="1239550"/>
          </a:xfrm>
        </p:grpSpPr>
        <p:sp>
          <p:nvSpPr>
            <p:cNvPr id="417" name="Google Shape;417;p16"/>
            <p:cNvSpPr/>
            <p:nvPr/>
          </p:nvSpPr>
          <p:spPr>
            <a:xfrm>
              <a:off x="1653629" y="5445125"/>
              <a:ext cx="90120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Номер</a:t>
              </a:r>
              <a:br>
                <a:rPr lang="ru-RU" sz="1800">
                  <a:solidFill>
                    <a:schemeClr val="dk1"/>
                  </a:solidFill>
                  <a:latin typeface="Arial"/>
                  <a:ea typeface="Arial"/>
                  <a:cs typeface="Arial"/>
                  <a:sym typeface="Arial"/>
                </a:rPr>
              </a:br>
              <a:r>
                <a:rPr lang="ru-RU" sz="1800">
                  <a:solidFill>
                    <a:schemeClr val="dk1"/>
                  </a:solidFill>
                  <a:latin typeface="Arial"/>
                  <a:ea typeface="Arial"/>
                  <a:cs typeface="Arial"/>
                  <a:sym typeface="Arial"/>
                </a:rPr>
                <a:t>_курса</a:t>
              </a:r>
              <a:endParaRPr sz="1800">
                <a:solidFill>
                  <a:schemeClr val="dk1"/>
                </a:solidFill>
                <a:latin typeface="Arial"/>
                <a:ea typeface="Arial"/>
                <a:cs typeface="Arial"/>
                <a:sym typeface="Arial"/>
              </a:endParaRPr>
            </a:p>
          </p:txBody>
        </p:sp>
        <p:sp>
          <p:nvSpPr>
            <p:cNvPr id="418" name="Google Shape;418;p16"/>
            <p:cNvSpPr/>
            <p:nvPr/>
          </p:nvSpPr>
          <p:spPr>
            <a:xfrm>
              <a:off x="1500188" y="5429250"/>
              <a:ext cx="1214437" cy="679450"/>
            </a:xfrm>
            <a:prstGeom prst="roundRect">
              <a:avLst>
                <a:gd fmla="val 16667"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19" name="Google Shape;419;p16"/>
            <p:cNvCxnSpPr>
              <a:endCxn id="418" idx="0"/>
            </p:cNvCxnSpPr>
            <p:nvPr/>
          </p:nvCxnSpPr>
          <p:spPr>
            <a:xfrm>
              <a:off x="1736606" y="4869150"/>
              <a:ext cx="370800" cy="560100"/>
            </a:xfrm>
            <a:prstGeom prst="straightConnector1">
              <a:avLst/>
            </a:prstGeom>
            <a:noFill/>
            <a:ln cap="flat" cmpd="sng" w="28575">
              <a:solidFill>
                <a:srgbClr val="9292FB"/>
              </a:solidFill>
              <a:prstDash val="solid"/>
              <a:round/>
              <a:headEnd len="sm" w="sm" type="none"/>
              <a:tailEnd len="sm" w="sm" type="none"/>
            </a:ln>
          </p:spPr>
        </p:cxnSp>
      </p:grpSp>
      <p:grpSp>
        <p:nvGrpSpPr>
          <p:cNvPr id="420" name="Google Shape;420;p16"/>
          <p:cNvGrpSpPr/>
          <p:nvPr/>
        </p:nvGrpSpPr>
        <p:grpSpPr>
          <a:xfrm>
            <a:off x="2276719" y="4869150"/>
            <a:ext cx="1837073" cy="1239550"/>
            <a:chOff x="2276719" y="4869150"/>
            <a:chExt cx="1837073" cy="1239550"/>
          </a:xfrm>
        </p:grpSpPr>
        <p:sp>
          <p:nvSpPr>
            <p:cNvPr id="421" name="Google Shape;421;p16"/>
            <p:cNvSpPr txBox="1"/>
            <p:nvPr/>
          </p:nvSpPr>
          <p:spPr>
            <a:xfrm>
              <a:off x="2816805" y="5589763"/>
              <a:ext cx="1296987" cy="359517"/>
            </a:xfrm>
            <a:prstGeom prst="rect">
              <a:avLst/>
            </a:prstGeom>
            <a:noFill/>
            <a:ln>
              <a:noFill/>
            </a:ln>
          </p:spPr>
          <p:txBody>
            <a:bodyPr anchorCtr="0" anchor="t" bIns="36000" lIns="36000" spcFirstLastPara="1" rIns="36000" wrap="square" tIns="360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Кредит_ед</a:t>
              </a:r>
              <a:endParaRPr sz="1800">
                <a:solidFill>
                  <a:schemeClr val="dk1"/>
                </a:solidFill>
                <a:latin typeface="Arial"/>
                <a:ea typeface="Arial"/>
                <a:cs typeface="Arial"/>
                <a:sym typeface="Arial"/>
              </a:endParaRPr>
            </a:p>
          </p:txBody>
        </p:sp>
        <p:sp>
          <p:nvSpPr>
            <p:cNvPr id="422" name="Google Shape;422;p16"/>
            <p:cNvSpPr/>
            <p:nvPr/>
          </p:nvSpPr>
          <p:spPr>
            <a:xfrm>
              <a:off x="2857500" y="5429250"/>
              <a:ext cx="1214438" cy="679450"/>
            </a:xfrm>
            <a:prstGeom prst="roundRect">
              <a:avLst>
                <a:gd fmla="val 16667"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23" name="Google Shape;423;p16"/>
            <p:cNvCxnSpPr>
              <a:endCxn id="422" idx="0"/>
            </p:cNvCxnSpPr>
            <p:nvPr/>
          </p:nvCxnSpPr>
          <p:spPr>
            <a:xfrm>
              <a:off x="2276719" y="4869150"/>
              <a:ext cx="1188000" cy="560100"/>
            </a:xfrm>
            <a:prstGeom prst="straightConnector1">
              <a:avLst/>
            </a:prstGeom>
            <a:noFill/>
            <a:ln cap="flat" cmpd="sng" w="28575">
              <a:solidFill>
                <a:srgbClr val="9292FB"/>
              </a:solidFill>
              <a:prstDash val="solid"/>
              <a:round/>
              <a:headEnd len="sm" w="sm" type="none"/>
              <a:tailEnd len="sm" w="sm" type="none"/>
            </a:ln>
          </p:spPr>
        </p:cxnSp>
      </p:grpSp>
      <p:grpSp>
        <p:nvGrpSpPr>
          <p:cNvPr id="424" name="Google Shape;424;p16"/>
          <p:cNvGrpSpPr/>
          <p:nvPr/>
        </p:nvGrpSpPr>
        <p:grpSpPr>
          <a:xfrm>
            <a:off x="2771831" y="4869150"/>
            <a:ext cx="2670984" cy="1239550"/>
            <a:chOff x="2771832" y="4869150"/>
            <a:chExt cx="2670984" cy="1239550"/>
          </a:xfrm>
        </p:grpSpPr>
        <p:sp>
          <p:nvSpPr>
            <p:cNvPr id="425" name="Google Shape;425;p16"/>
            <p:cNvSpPr txBox="1"/>
            <p:nvPr/>
          </p:nvSpPr>
          <p:spPr>
            <a:xfrm>
              <a:off x="4166955" y="5589240"/>
              <a:ext cx="1275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Факультет</a:t>
              </a:r>
              <a:endParaRPr/>
            </a:p>
          </p:txBody>
        </p:sp>
        <p:sp>
          <p:nvSpPr>
            <p:cNvPr id="426" name="Google Shape;426;p16"/>
            <p:cNvSpPr/>
            <p:nvPr/>
          </p:nvSpPr>
          <p:spPr>
            <a:xfrm>
              <a:off x="4214813" y="5429250"/>
              <a:ext cx="1214437" cy="679450"/>
            </a:xfrm>
            <a:prstGeom prst="roundRect">
              <a:avLst>
                <a:gd fmla="val 16667"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27" name="Google Shape;427;p16"/>
            <p:cNvCxnSpPr>
              <a:endCxn id="426" idx="0"/>
            </p:cNvCxnSpPr>
            <p:nvPr/>
          </p:nvCxnSpPr>
          <p:spPr>
            <a:xfrm>
              <a:off x="2771832" y="4869150"/>
              <a:ext cx="2050200" cy="560100"/>
            </a:xfrm>
            <a:prstGeom prst="straightConnector1">
              <a:avLst/>
            </a:prstGeom>
            <a:noFill/>
            <a:ln cap="flat" cmpd="sng" w="28575">
              <a:solidFill>
                <a:srgbClr val="9292FB"/>
              </a:solidFill>
              <a:prstDash val="solid"/>
              <a:round/>
              <a:headEnd len="sm" w="sm" type="none"/>
              <a:tailEnd len="sm" w="sm" type="none"/>
            </a:ln>
          </p:spPr>
        </p:cxnSp>
      </p:grpSp>
      <p:sp>
        <p:nvSpPr>
          <p:cNvPr id="428" name="Google Shape;428;p16"/>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grpSp>
        <p:nvGrpSpPr>
          <p:cNvPr id="429" name="Google Shape;429;p16"/>
          <p:cNvGrpSpPr/>
          <p:nvPr/>
        </p:nvGrpSpPr>
        <p:grpSpPr>
          <a:xfrm>
            <a:off x="2906958" y="908720"/>
            <a:ext cx="1980077" cy="945250"/>
            <a:chOff x="2059425" y="928688"/>
            <a:chExt cx="1980077" cy="945250"/>
          </a:xfrm>
        </p:grpSpPr>
        <p:sp>
          <p:nvSpPr>
            <p:cNvPr id="430" name="Google Shape;430;p16"/>
            <p:cNvSpPr txBox="1"/>
            <p:nvPr/>
          </p:nvSpPr>
          <p:spPr>
            <a:xfrm>
              <a:off x="2456765" y="1043735"/>
              <a:ext cx="158273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Факультет</a:t>
              </a:r>
              <a:endParaRPr/>
            </a:p>
          </p:txBody>
        </p:sp>
        <p:sp>
          <p:nvSpPr>
            <p:cNvPr id="431" name="Google Shape;431;p16"/>
            <p:cNvSpPr/>
            <p:nvPr/>
          </p:nvSpPr>
          <p:spPr>
            <a:xfrm>
              <a:off x="2571750" y="928688"/>
              <a:ext cx="1428750" cy="679450"/>
            </a:xfrm>
            <a:prstGeom prst="roundRect">
              <a:avLst>
                <a:gd fmla="val 16667" name="adj"/>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32" name="Google Shape;432;p16"/>
            <p:cNvCxnSpPr>
              <a:stCxn id="431" idx="2"/>
            </p:cNvCxnSpPr>
            <p:nvPr/>
          </p:nvCxnSpPr>
          <p:spPr>
            <a:xfrm flipH="1">
              <a:off x="2059425" y="1608138"/>
              <a:ext cx="1226700" cy="265800"/>
            </a:xfrm>
            <a:prstGeom prst="straightConnector1">
              <a:avLst/>
            </a:prstGeom>
            <a:noFill/>
            <a:ln cap="flat" cmpd="sng" w="28575">
              <a:solidFill>
                <a:srgbClr val="9292FB"/>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7"/>
          <p:cNvSpPr txBox="1"/>
          <p:nvPr>
            <p:ph type="title"/>
          </p:nvPr>
        </p:nvSpPr>
        <p:spPr>
          <a:xfrm>
            <a:off x="476545" y="-126395"/>
            <a:ext cx="8697913" cy="7921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Реляционная модель БД</a:t>
            </a:r>
            <a:endParaRPr/>
          </a:p>
        </p:txBody>
      </p:sp>
      <p:sp>
        <p:nvSpPr>
          <p:cNvPr id="439" name="Google Shape;439;p17"/>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graphicFrame>
        <p:nvGraphicFramePr>
          <p:cNvPr id="440" name="Google Shape;440;p17"/>
          <p:cNvGraphicFramePr/>
          <p:nvPr/>
        </p:nvGraphicFramePr>
        <p:xfrm>
          <a:off x="637000" y="821750"/>
          <a:ext cx="3000000" cy="3000000"/>
        </p:xfrm>
        <a:graphic>
          <a:graphicData uri="http://schemas.openxmlformats.org/drawingml/2006/table">
            <a:tbl>
              <a:tblPr bandRow="1" firstRow="1">
                <a:noFill/>
                <a:tableStyleId>{CC5A0827-0ADE-4640-AF34-AAA79A0DC96F}</a:tableStyleId>
              </a:tblPr>
              <a:tblGrid>
                <a:gridCol w="2549725"/>
                <a:gridCol w="1708400"/>
                <a:gridCol w="1507700"/>
                <a:gridCol w="1518225"/>
              </a:tblGrid>
              <a:tr h="367675">
                <a:tc>
                  <a:txBody>
                    <a:bodyPr/>
                    <a:lstStyle/>
                    <a:p>
                      <a:pPr indent="0" lvl="0" marL="0" marR="0" rtl="0" algn="l">
                        <a:spcBef>
                          <a:spcPts val="0"/>
                        </a:spcBef>
                        <a:spcAft>
                          <a:spcPts val="0"/>
                        </a:spcAft>
                        <a:buNone/>
                      </a:pPr>
                      <a:r>
                        <a:rPr lang="ru-RU" sz="1800" u="none" cap="none" strike="noStrike"/>
                        <a:t>Имя_курса</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Номер_курса</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Кредит_ед</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Факультет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7675">
                <a:tc>
                  <a:txBody>
                    <a:bodyPr/>
                    <a:lstStyle/>
                    <a:p>
                      <a:pPr indent="0" lvl="0" marL="0" marR="0" rtl="0" algn="l">
                        <a:spcBef>
                          <a:spcPts val="0"/>
                        </a:spcBef>
                        <a:spcAft>
                          <a:spcPts val="0"/>
                        </a:spcAft>
                        <a:buNone/>
                      </a:pPr>
                      <a:r>
                        <a:rPr lang="ru-RU" sz="1800"/>
                        <a:t>Мат. анализ</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CS0810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ФИТ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7675">
                <a:tc>
                  <a:txBody>
                    <a:bodyPr/>
                    <a:lstStyle/>
                    <a:p>
                      <a:pPr indent="0" lvl="0" marL="0" marR="0" rtl="0" algn="l">
                        <a:spcBef>
                          <a:spcPts val="0"/>
                        </a:spcBef>
                        <a:spcAft>
                          <a:spcPts val="0"/>
                        </a:spcAft>
                        <a:buNone/>
                      </a:pPr>
                      <a:r>
                        <a:rPr lang="ru-RU" sz="1800"/>
                        <a:t>Мат. анализ</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MATH0200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ММФ</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7100">
                <a:tc>
                  <a:txBody>
                    <a:bodyPr/>
                    <a:lstStyle/>
                    <a:p>
                      <a:pPr indent="0" lvl="0" marL="0" marR="0" rtl="0" algn="l">
                        <a:spcBef>
                          <a:spcPts val="0"/>
                        </a:spcBef>
                        <a:spcAft>
                          <a:spcPts val="0"/>
                        </a:spcAft>
                        <a:buNone/>
                      </a:pPr>
                      <a:r>
                        <a:rPr lang="ru-RU" sz="1800"/>
                        <a:t>Структуры данных</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CS0805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ФИТ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7675">
                <a:tc>
                  <a:txBody>
                    <a:bodyPr/>
                    <a:lstStyle/>
                    <a:p>
                      <a:pPr indent="0" lvl="0" marL="0" marR="0" rtl="0" algn="l">
                        <a:spcBef>
                          <a:spcPts val="0"/>
                        </a:spcBef>
                        <a:spcAft>
                          <a:spcPts val="0"/>
                        </a:spcAft>
                        <a:buNone/>
                      </a:pPr>
                      <a:r>
                        <a:rPr lang="ru-RU" sz="1800"/>
                        <a:t>Базы</a:t>
                      </a:r>
                      <a:r>
                        <a:rPr lang="ru-RU" sz="1800"/>
                        <a:t> данных</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CS0802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ФИТ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41" name="Google Shape;441;p17"/>
          <p:cNvSpPr txBox="1"/>
          <p:nvPr/>
        </p:nvSpPr>
        <p:spPr>
          <a:xfrm>
            <a:off x="539552" y="452418"/>
            <a:ext cx="15841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КУРСЫ</a:t>
            </a:r>
            <a:endParaRPr/>
          </a:p>
        </p:txBody>
      </p:sp>
      <p:sp>
        <p:nvSpPr>
          <p:cNvPr id="442" name="Google Shape;442;p17"/>
          <p:cNvSpPr txBox="1"/>
          <p:nvPr/>
        </p:nvSpPr>
        <p:spPr>
          <a:xfrm>
            <a:off x="179512" y="4710420"/>
            <a:ext cx="14401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ОЦЕНКИ</a:t>
            </a:r>
            <a:endParaRPr/>
          </a:p>
        </p:txBody>
      </p:sp>
      <p:graphicFrame>
        <p:nvGraphicFramePr>
          <p:cNvPr id="443" name="Google Shape;443;p17"/>
          <p:cNvGraphicFramePr/>
          <p:nvPr/>
        </p:nvGraphicFramePr>
        <p:xfrm>
          <a:off x="1309336" y="4893053"/>
          <a:ext cx="3000000" cy="3000000"/>
        </p:xfrm>
        <a:graphic>
          <a:graphicData uri="http://schemas.openxmlformats.org/drawingml/2006/table">
            <a:tbl>
              <a:tblPr bandRow="1" firstRow="1">
                <a:noFill/>
                <a:tableStyleId>{CC5A0827-0ADE-4640-AF34-AAA79A0DC96F}</a:tableStyleId>
              </a:tblPr>
              <a:tblGrid>
                <a:gridCol w="2264775"/>
                <a:gridCol w="1766850"/>
                <a:gridCol w="1247275"/>
              </a:tblGrid>
              <a:tr h="449600">
                <a:tc>
                  <a:txBody>
                    <a:bodyPr/>
                    <a:lstStyle/>
                    <a:p>
                      <a:pPr indent="0" lvl="0" marL="0" marR="0" rtl="0" algn="l">
                        <a:spcBef>
                          <a:spcPts val="0"/>
                        </a:spcBef>
                        <a:spcAft>
                          <a:spcPts val="0"/>
                        </a:spcAft>
                        <a:buNone/>
                      </a:pPr>
                      <a:r>
                        <a:rPr lang="ru-RU" sz="1800"/>
                        <a:t>Ном_студента</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Номер_курса</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Оценка</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1000021</a:t>
                      </a:r>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CS0810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3</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lang="ru-RU" sz="1800"/>
                        <a:t>1200005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MATH0200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1000022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CS0805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5</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1000023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CS0802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5</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444" name="Google Shape;444;p17"/>
          <p:cNvGraphicFramePr/>
          <p:nvPr/>
        </p:nvGraphicFramePr>
        <p:xfrm>
          <a:off x="1835695" y="2731958"/>
          <a:ext cx="3000000" cy="3000000"/>
        </p:xfrm>
        <a:graphic>
          <a:graphicData uri="http://schemas.openxmlformats.org/drawingml/2006/table">
            <a:tbl>
              <a:tblPr bandRow="1" firstRow="1">
                <a:noFill/>
                <a:tableStyleId>{CC5A0827-0ADE-4640-AF34-AAA79A0DC96F}</a:tableStyleId>
              </a:tblPr>
              <a:tblGrid>
                <a:gridCol w="3672400"/>
                <a:gridCol w="1800200"/>
                <a:gridCol w="1405825"/>
              </a:tblGrid>
              <a:tr h="314125">
                <a:tc>
                  <a:txBody>
                    <a:bodyPr/>
                    <a:lstStyle/>
                    <a:p>
                      <a:pPr indent="0" lvl="0" marL="0" marR="0" rtl="0" algn="ctr">
                        <a:spcBef>
                          <a:spcPts val="0"/>
                        </a:spcBef>
                        <a:spcAft>
                          <a:spcPts val="0"/>
                        </a:spcAft>
                        <a:buNone/>
                      </a:pPr>
                      <a:r>
                        <a:rPr lang="ru-RU" sz="1800"/>
                        <a:t>ФИО</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Ном_cтудента</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Факультет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7425">
                <a:tc>
                  <a:txBody>
                    <a:bodyPr/>
                    <a:lstStyle/>
                    <a:p>
                      <a:pPr indent="0" lvl="0" marL="0" marR="0" rtl="0" algn="l">
                        <a:spcBef>
                          <a:spcPts val="0"/>
                        </a:spcBef>
                        <a:spcAft>
                          <a:spcPts val="0"/>
                        </a:spcAft>
                        <a:buNone/>
                      </a:pPr>
                      <a:r>
                        <a:rPr lang="ru-RU" sz="1800"/>
                        <a:t>Иванов Иван Иванович</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1000021</a:t>
                      </a:r>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ФИТ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7425">
                <a:tc>
                  <a:txBody>
                    <a:bodyPr/>
                    <a:lstStyle/>
                    <a:p>
                      <a:pPr indent="0" lvl="0" marL="0" marR="0" rtl="0" algn="l">
                        <a:spcBef>
                          <a:spcPts val="0"/>
                        </a:spcBef>
                        <a:spcAft>
                          <a:spcPts val="0"/>
                        </a:spcAft>
                        <a:buNone/>
                      </a:pPr>
                      <a:r>
                        <a:rPr lang="ru-RU" sz="1800"/>
                        <a:t>Петров Петр Петрович</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1200005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ММФ</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7075">
                <a:tc>
                  <a:txBody>
                    <a:bodyPr/>
                    <a:lstStyle/>
                    <a:p>
                      <a:pPr indent="0" lvl="0" marL="0" marR="0" rtl="0" algn="l">
                        <a:spcBef>
                          <a:spcPts val="0"/>
                        </a:spcBef>
                        <a:spcAft>
                          <a:spcPts val="0"/>
                        </a:spcAft>
                        <a:buNone/>
                      </a:pPr>
                      <a:r>
                        <a:rPr lang="ru-RU" sz="1800"/>
                        <a:t>Васильев</a:t>
                      </a:r>
                      <a:r>
                        <a:rPr lang="ru-RU" sz="1800"/>
                        <a:t> Василий Васильевич</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1000022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ФИТ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7425">
                <a:tc>
                  <a:txBody>
                    <a:bodyPr/>
                    <a:lstStyle/>
                    <a:p>
                      <a:pPr indent="0" lvl="0" marL="0" marR="0" rtl="0" algn="l">
                        <a:spcBef>
                          <a:spcPts val="0"/>
                        </a:spcBef>
                        <a:spcAft>
                          <a:spcPts val="0"/>
                        </a:spcAft>
                        <a:buNone/>
                      </a:pPr>
                      <a:r>
                        <a:rPr lang="ru-RU" sz="1800"/>
                        <a:t>Антонов Антон Антонович</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1000023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ФИТ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45" name="Google Shape;445;p17"/>
          <p:cNvSpPr txBox="1"/>
          <p:nvPr/>
        </p:nvSpPr>
        <p:spPr>
          <a:xfrm>
            <a:off x="201884" y="2842042"/>
            <a:ext cx="16561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СТУДЕНТЫ</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8"/>
          <p:cNvSpPr txBox="1"/>
          <p:nvPr>
            <p:ph type="title"/>
          </p:nvPr>
        </p:nvSpPr>
        <p:spPr>
          <a:xfrm>
            <a:off x="251520" y="29587"/>
            <a:ext cx="8697913" cy="7921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3600"/>
              <a:buFont typeface="Arial"/>
              <a:buNone/>
            </a:pPr>
            <a:r>
              <a:rPr lang="ru-RU" sz="3600">
                <a:solidFill>
                  <a:srgbClr val="C00000"/>
                </a:solidFill>
              </a:rPr>
              <a:t>Пример простейшего каталога БД</a:t>
            </a:r>
            <a:endParaRPr/>
          </a:p>
        </p:txBody>
      </p:sp>
      <p:sp>
        <p:nvSpPr>
          <p:cNvPr id="452" name="Google Shape;452;p1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graphicFrame>
        <p:nvGraphicFramePr>
          <p:cNvPr id="453" name="Google Shape;453;p18"/>
          <p:cNvGraphicFramePr/>
          <p:nvPr/>
        </p:nvGraphicFramePr>
        <p:xfrm>
          <a:off x="2195736" y="826776"/>
          <a:ext cx="3000000" cy="3000000"/>
        </p:xfrm>
        <a:graphic>
          <a:graphicData uri="http://schemas.openxmlformats.org/drawingml/2006/table">
            <a:tbl>
              <a:tblPr bandRow="1" firstRow="1">
                <a:noFill/>
                <a:tableStyleId>{CC5A0827-0ADE-4640-AF34-AAA79A0DC96F}</a:tableStyleId>
              </a:tblPr>
              <a:tblGrid>
                <a:gridCol w="2549725"/>
                <a:gridCol w="1708400"/>
              </a:tblGrid>
              <a:tr h="367675">
                <a:tc>
                  <a:txBody>
                    <a:bodyPr/>
                    <a:lstStyle/>
                    <a:p>
                      <a:pPr indent="0" lvl="0" marL="0" marR="0" rtl="0" algn="l">
                        <a:spcBef>
                          <a:spcPts val="0"/>
                        </a:spcBef>
                        <a:spcAft>
                          <a:spcPts val="0"/>
                        </a:spcAft>
                        <a:buNone/>
                      </a:pPr>
                      <a:r>
                        <a:rPr lang="ru-RU" sz="1800"/>
                        <a:t>Имя_отношения</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Кол_колонок</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7675">
                <a:tc>
                  <a:txBody>
                    <a:bodyPr/>
                    <a:lstStyle/>
                    <a:p>
                      <a:pPr indent="0" lvl="0" marL="0" marR="0" rtl="0" algn="l">
                        <a:spcBef>
                          <a:spcPts val="0"/>
                        </a:spcBef>
                        <a:spcAft>
                          <a:spcPts val="0"/>
                        </a:spcAft>
                        <a:buNone/>
                      </a:pPr>
                      <a:r>
                        <a:rPr lang="ru-RU" sz="1800"/>
                        <a:t>СТУДЕНТ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7675">
                <a:tc>
                  <a:txBody>
                    <a:bodyPr/>
                    <a:lstStyle/>
                    <a:p>
                      <a:pPr indent="0" lvl="0" marL="0" marR="0" rtl="0" algn="l">
                        <a:spcBef>
                          <a:spcPts val="0"/>
                        </a:spcBef>
                        <a:spcAft>
                          <a:spcPts val="0"/>
                        </a:spcAft>
                        <a:buNone/>
                      </a:pPr>
                      <a:r>
                        <a:rPr lang="ru-RU" sz="1800"/>
                        <a:t>КУРСЫ</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7100">
                <a:tc>
                  <a:txBody>
                    <a:bodyPr/>
                    <a:lstStyle/>
                    <a:p>
                      <a:pPr indent="0" lvl="0" marL="0" marR="0" rtl="0" algn="l">
                        <a:spcBef>
                          <a:spcPts val="0"/>
                        </a:spcBef>
                        <a:spcAft>
                          <a:spcPts val="0"/>
                        </a:spcAft>
                        <a:buNone/>
                      </a:pPr>
                      <a:r>
                        <a:rPr lang="ru-RU" sz="1800"/>
                        <a:t>ОЦЕНКИ</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7675">
                <a:tc>
                  <a:txBody>
                    <a:bodyPr/>
                    <a:lstStyle/>
                    <a:p>
                      <a:pPr indent="0" lvl="0" marL="0" marR="0" rtl="0" algn="l">
                        <a:spcBef>
                          <a:spcPts val="0"/>
                        </a:spcBef>
                        <a:spcAft>
                          <a:spcPts val="0"/>
                        </a:spcAft>
                        <a:buNone/>
                      </a:pPr>
                      <a:r>
                        <a:rPr lang="ru-RU" sz="1800"/>
                        <a:t>ПРЕПОДАВАТЕЛИ</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54" name="Google Shape;454;p18"/>
          <p:cNvSpPr txBox="1"/>
          <p:nvPr/>
        </p:nvSpPr>
        <p:spPr>
          <a:xfrm>
            <a:off x="203568" y="806808"/>
            <a:ext cx="19921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ОТНОШЕНИЯ</a:t>
            </a:r>
            <a:endParaRPr/>
          </a:p>
        </p:txBody>
      </p:sp>
      <p:sp>
        <p:nvSpPr>
          <p:cNvPr id="455" name="Google Shape;455;p18"/>
          <p:cNvSpPr txBox="1"/>
          <p:nvPr/>
        </p:nvSpPr>
        <p:spPr>
          <a:xfrm>
            <a:off x="261564" y="2658978"/>
            <a:ext cx="14401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Arial"/>
                <a:ea typeface="Arial"/>
                <a:cs typeface="Arial"/>
                <a:sym typeface="Arial"/>
              </a:rPr>
              <a:t>КОЛОНКИ</a:t>
            </a:r>
            <a:endParaRPr/>
          </a:p>
        </p:txBody>
      </p:sp>
      <p:graphicFrame>
        <p:nvGraphicFramePr>
          <p:cNvPr id="456" name="Google Shape;456;p18"/>
          <p:cNvGraphicFramePr/>
          <p:nvPr/>
        </p:nvGraphicFramePr>
        <p:xfrm>
          <a:off x="827584" y="3229992"/>
          <a:ext cx="3000000" cy="3000000"/>
        </p:xfrm>
        <a:graphic>
          <a:graphicData uri="http://schemas.openxmlformats.org/drawingml/2006/table">
            <a:tbl>
              <a:tblPr bandRow="1" firstRow="1">
                <a:noFill/>
                <a:tableStyleId>{CC5A0827-0ADE-4640-AF34-AAA79A0DC96F}</a:tableStyleId>
              </a:tblPr>
              <a:tblGrid>
                <a:gridCol w="1728200"/>
                <a:gridCol w="2304250"/>
                <a:gridCol w="1800200"/>
                <a:gridCol w="1584175"/>
              </a:tblGrid>
              <a:tr h="449600">
                <a:tc>
                  <a:txBody>
                    <a:bodyPr/>
                    <a:lstStyle/>
                    <a:p>
                      <a:pPr indent="0" lvl="0" marL="0" marR="0" rtl="0" algn="l">
                        <a:spcBef>
                          <a:spcPts val="0"/>
                        </a:spcBef>
                        <a:spcAft>
                          <a:spcPts val="0"/>
                        </a:spcAft>
                        <a:buNone/>
                      </a:pPr>
                      <a:r>
                        <a:rPr lang="ru-RU" sz="1800"/>
                        <a:t>Ном_колонки</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Имя</a:t>
                      </a:r>
                      <a:r>
                        <a:rPr lang="ru-RU" sz="1800"/>
                        <a:t>_колонки</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Тип_данных</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ru-RU" sz="1800"/>
                        <a:t>Отношение</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1</a:t>
                      </a:r>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ФИО</a:t>
                      </a:r>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CHAR(30)</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СТУДЕНТ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lang="ru-RU" sz="1800"/>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Ном_студента</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CHAR(4)</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СТУДЕНТ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Факультет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CHAR(3)</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СТУДЕНТ</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Имя_курса</a:t>
                      </a:r>
                      <a:endParaRPr b="0" i="0" sz="1800" u="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CHAR(20)</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КУРСЫ</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Номер_курса</a:t>
                      </a:r>
                      <a:endParaRPr b="0" i="0" sz="1800" u="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CHAR(8)</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КУРСЫ</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Кредит_ед</a:t>
                      </a:r>
                      <a:endParaRPr b="0" i="0" sz="1800" u="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NUMBER</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КУРСЫ</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1675">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7</a:t>
                      </a:r>
                      <a:endParaRPr b="0" i="0" sz="1800" u="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ru-RU" sz="1800" u="none" strike="noStrike">
                          <a:latin typeface="Arial"/>
                          <a:ea typeface="Arial"/>
                          <a:cs typeface="Arial"/>
                          <a:sym typeface="Arial"/>
                        </a:rPr>
                        <a:t>…</a:t>
                      </a:r>
                      <a:endParaRPr b="0" i="0" sz="1800" u="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ru-RU" sz="1800"/>
                        <a:t>…</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ru-RU" sz="1800"/>
                        <a:t>…</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19"/>
          <p:cNvSpPr txBox="1"/>
          <p:nvPr>
            <p:ph idx="1" type="body"/>
          </p:nvPr>
        </p:nvSpPr>
        <p:spPr>
          <a:xfrm>
            <a:off x="323528" y="1196752"/>
            <a:ext cx="8560122" cy="5388198"/>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SzPct val="75000"/>
              <a:buChar char="■"/>
            </a:pPr>
            <a:r>
              <a:rPr b="1" lang="ru-RU" sz="3900">
                <a:solidFill>
                  <a:srgbClr val="000099"/>
                </a:solidFill>
              </a:rPr>
              <a:t>Абстракция данных</a:t>
            </a:r>
            <a:endParaRPr/>
          </a:p>
          <a:p>
            <a:pPr indent="-285750" lvl="1" marL="742950" rtl="0" algn="l">
              <a:lnSpc>
                <a:spcPct val="120000"/>
              </a:lnSpc>
              <a:spcBef>
                <a:spcPts val="560"/>
              </a:spcBef>
              <a:spcAft>
                <a:spcPts val="0"/>
              </a:spcAft>
              <a:buClr>
                <a:srgbClr val="000099"/>
              </a:buClr>
              <a:buSzPct val="100000"/>
              <a:buFont typeface="Noto Sans Symbols"/>
              <a:buChar char="❖"/>
            </a:pPr>
            <a:r>
              <a:rPr b="1" lang="ru-RU" sz="4000"/>
              <a:t>Модель данных </a:t>
            </a:r>
            <a:r>
              <a:rPr i="1" lang="ru-RU" sz="4000"/>
              <a:t>скрывает детали реализации</a:t>
            </a:r>
            <a:r>
              <a:rPr lang="ru-RU" sz="4000"/>
              <a:t> и предоставляет пользователю </a:t>
            </a:r>
            <a:r>
              <a:rPr b="1" lang="ru-RU" sz="4000" u="sng"/>
              <a:t>концептуальный уровень</a:t>
            </a:r>
            <a:endParaRPr/>
          </a:p>
          <a:p>
            <a:pPr indent="-285750" lvl="1" marL="742950" rtl="0" algn="l">
              <a:lnSpc>
                <a:spcPct val="120000"/>
              </a:lnSpc>
              <a:spcBef>
                <a:spcPts val="560"/>
              </a:spcBef>
              <a:spcAft>
                <a:spcPts val="0"/>
              </a:spcAft>
              <a:buClr>
                <a:srgbClr val="000099"/>
              </a:buClr>
              <a:buSzPct val="100000"/>
              <a:buFont typeface="Noto Sans Symbols"/>
              <a:buChar char="❖"/>
            </a:pPr>
            <a:r>
              <a:rPr lang="ru-RU" sz="4000"/>
              <a:t>Программы обращаются к </a:t>
            </a:r>
            <a:r>
              <a:rPr b="1" lang="ru-RU" sz="4000"/>
              <a:t>модели данных</a:t>
            </a:r>
            <a:r>
              <a:rPr lang="ru-RU" sz="4000"/>
              <a:t>, а не к конкретному размещению данных на внешней памяти (в отличие от файлов)</a:t>
            </a:r>
            <a:endParaRPr/>
          </a:p>
          <a:p>
            <a:pPr indent="-342900" lvl="0" marL="342900" rtl="0" algn="l">
              <a:lnSpc>
                <a:spcPct val="120000"/>
              </a:lnSpc>
              <a:spcBef>
                <a:spcPts val="546"/>
              </a:spcBef>
              <a:spcAft>
                <a:spcPts val="0"/>
              </a:spcAft>
              <a:buSzPct val="75000"/>
              <a:buChar char="■"/>
            </a:pPr>
            <a:r>
              <a:rPr b="1" lang="ru-RU" sz="3900">
                <a:solidFill>
                  <a:srgbClr val="000099"/>
                </a:solidFill>
              </a:rPr>
              <a:t>Многоаспектный взгляд на данные</a:t>
            </a:r>
            <a:endParaRPr/>
          </a:p>
          <a:p>
            <a:pPr indent="-285750" lvl="1" marL="742950" rtl="0" algn="l">
              <a:lnSpc>
                <a:spcPct val="120000"/>
              </a:lnSpc>
              <a:spcBef>
                <a:spcPts val="560"/>
              </a:spcBef>
              <a:spcAft>
                <a:spcPts val="0"/>
              </a:spcAft>
              <a:buClr>
                <a:srgbClr val="000099"/>
              </a:buClr>
              <a:buSzPct val="100000"/>
              <a:buFont typeface="Noto Sans Symbols"/>
              <a:buChar char="❖"/>
            </a:pPr>
            <a:r>
              <a:rPr lang="ru-RU" sz="4000"/>
              <a:t>Каждый пользователь может работать </a:t>
            </a:r>
            <a:r>
              <a:rPr b="1" lang="ru-RU" sz="4000"/>
              <a:t>только с теми данными </a:t>
            </a:r>
            <a:r>
              <a:rPr lang="ru-RU" sz="4000"/>
              <a:t>в БД, которые его интересуют. </a:t>
            </a:r>
            <a:endParaRPr/>
          </a:p>
          <a:p>
            <a:pPr indent="-212883" lvl="0" marL="342900" rtl="0" algn="l">
              <a:spcBef>
                <a:spcPts val="546"/>
              </a:spcBef>
              <a:spcAft>
                <a:spcPts val="0"/>
              </a:spcAft>
              <a:buSzPct val="75000"/>
              <a:buNone/>
            </a:pPr>
            <a:r>
              <a:t/>
            </a:r>
            <a:endParaRPr b="1" sz="3900">
              <a:solidFill>
                <a:srgbClr val="000099"/>
              </a:solidFill>
            </a:endParaRPr>
          </a:p>
          <a:p>
            <a:pPr indent="0" lvl="1" marL="365760" rtl="0" algn="l">
              <a:spcBef>
                <a:spcPts val="560"/>
              </a:spcBef>
              <a:spcAft>
                <a:spcPts val="0"/>
              </a:spcAft>
              <a:buClr>
                <a:srgbClr val="000099"/>
              </a:buClr>
              <a:buSzPct val="100000"/>
              <a:buNone/>
            </a:pPr>
            <a:r>
              <a:t/>
            </a:r>
            <a:endParaRPr b="1" sz="4000">
              <a:solidFill>
                <a:srgbClr val="000099"/>
              </a:solidFill>
            </a:endParaRPr>
          </a:p>
          <a:p>
            <a:pPr indent="0" lvl="1" marL="365760" rtl="0" algn="l">
              <a:spcBef>
                <a:spcPts val="560"/>
              </a:spcBef>
              <a:spcAft>
                <a:spcPts val="0"/>
              </a:spcAft>
              <a:buClr>
                <a:srgbClr val="000099"/>
              </a:buClr>
              <a:buSzPct val="100000"/>
              <a:buNone/>
            </a:pPr>
            <a:r>
              <a:t/>
            </a:r>
            <a:endParaRPr sz="4000">
              <a:solidFill>
                <a:srgbClr val="C00000"/>
              </a:solidFill>
            </a:endParaRPr>
          </a:p>
          <a:p>
            <a:pPr indent="0" lvl="0" marL="45720" rtl="0" algn="l">
              <a:spcBef>
                <a:spcPts val="364"/>
              </a:spcBef>
              <a:spcAft>
                <a:spcPts val="0"/>
              </a:spcAft>
              <a:buSzPct val="75000"/>
              <a:buNone/>
            </a:pPr>
            <a:r>
              <a:t/>
            </a:r>
            <a:endParaRPr b="1" sz="2600">
              <a:solidFill>
                <a:srgbClr val="000099"/>
              </a:solidFill>
            </a:endParaRPr>
          </a:p>
        </p:txBody>
      </p:sp>
      <p:sp>
        <p:nvSpPr>
          <p:cNvPr id="462" name="Google Shape;462;p19"/>
          <p:cNvSpPr txBox="1"/>
          <p:nvPr>
            <p:ph idx="12" type="sldNum"/>
          </p:nvPr>
        </p:nvSpPr>
        <p:spPr>
          <a:xfrm>
            <a:off x="8388424" y="6165305"/>
            <a:ext cx="532656" cy="36004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463" name="Google Shape;463;p19"/>
          <p:cNvSpPr txBox="1"/>
          <p:nvPr/>
        </p:nvSpPr>
        <p:spPr>
          <a:xfrm>
            <a:off x="323528" y="188640"/>
            <a:ext cx="8568952" cy="792088"/>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ctr">
              <a:spcBef>
                <a:spcPts val="0"/>
              </a:spcBef>
              <a:spcAft>
                <a:spcPts val="0"/>
              </a:spcAft>
              <a:buClr>
                <a:srgbClr val="5A5A97"/>
              </a:buClr>
              <a:buSzPct val="128000"/>
              <a:buFont typeface="Georgia"/>
              <a:buNone/>
            </a:pPr>
            <a:r>
              <a:rPr b="1" i="0" lang="ru-RU" sz="4200">
                <a:solidFill>
                  <a:schemeClr val="lt2"/>
                </a:solidFill>
                <a:latin typeface="Arial"/>
                <a:ea typeface="Arial"/>
                <a:cs typeface="Arial"/>
                <a:sym typeface="Arial"/>
              </a:rPr>
              <a:t>Подход баз данных (продолжение)</a:t>
            </a:r>
            <a:endParaRPr b="1"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0"/>
          <p:cNvSpPr/>
          <p:nvPr/>
        </p:nvSpPr>
        <p:spPr>
          <a:xfrm>
            <a:off x="1050108" y="1933192"/>
            <a:ext cx="5985665" cy="4590510"/>
          </a:xfrm>
          <a:prstGeom prst="roundRect">
            <a:avLst>
              <a:gd fmla="val 16667" name="adj"/>
            </a:avLst>
          </a:prstGeom>
          <a:solidFill>
            <a:srgbClr val="B2B2FF">
              <a:alpha val="21960"/>
            </a:srgbClr>
          </a:solidFill>
          <a:ln cap="flat" cmpd="sng" w="25400">
            <a:solidFill>
              <a:srgbClr val="6F6FBA"/>
            </a:solidFill>
            <a:prstDash val="solid"/>
            <a:round/>
            <a:headEnd len="sm" w="sm" type="none"/>
            <a:tailEnd len="sm" w="sm" type="none"/>
          </a:ln>
          <a:effectLst>
            <a:outerShdw blurRad="50800" rotWithShape="0" algn="ctr" dir="5400000" dist="50800">
              <a:srgbClr val="BFBFBF"/>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70" name="Google Shape;470;p20"/>
          <p:cNvCxnSpPr/>
          <p:nvPr/>
        </p:nvCxnSpPr>
        <p:spPr>
          <a:xfrm>
            <a:off x="3137980" y="1628736"/>
            <a:ext cx="180020" cy="840682"/>
          </a:xfrm>
          <a:prstGeom prst="straightConnector1">
            <a:avLst/>
          </a:prstGeom>
          <a:noFill/>
          <a:ln cap="flat" cmpd="sng" w="25400">
            <a:solidFill>
              <a:schemeClr val="dk1"/>
            </a:solidFill>
            <a:prstDash val="solid"/>
            <a:round/>
            <a:headEnd len="lg" w="lg" type="stealth"/>
            <a:tailEnd len="lg" w="lg" type="stealth"/>
          </a:ln>
        </p:spPr>
      </p:cxnSp>
      <p:sp>
        <p:nvSpPr>
          <p:cNvPr id="471" name="Google Shape;471;p20"/>
          <p:cNvSpPr txBox="1"/>
          <p:nvPr>
            <p:ph type="title"/>
          </p:nvPr>
        </p:nvSpPr>
        <p:spPr>
          <a:xfrm>
            <a:off x="243077" y="334298"/>
            <a:ext cx="8640960" cy="79208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0000"/>
              </a:buClr>
              <a:buSzPts val="3600"/>
              <a:buFont typeface="Arial"/>
              <a:buNone/>
            </a:pPr>
            <a:r>
              <a:rPr lang="ru-RU" sz="3600">
                <a:solidFill>
                  <a:srgbClr val="FF0000"/>
                </a:solidFill>
              </a:rPr>
              <a:t>Три уровня архитектуры </a:t>
            </a:r>
            <a:r>
              <a:rPr lang="ru-RU" sz="3600">
                <a:solidFill>
                  <a:schemeClr val="lt2"/>
                </a:solidFill>
              </a:rPr>
              <a:t>системы БД (ANSI/SPARC)</a:t>
            </a:r>
            <a:endParaRPr sz="3600">
              <a:solidFill>
                <a:schemeClr val="lt2"/>
              </a:solidFill>
            </a:endParaRPr>
          </a:p>
        </p:txBody>
      </p:sp>
      <p:sp>
        <p:nvSpPr>
          <p:cNvPr id="472" name="Google Shape;472;p20"/>
          <p:cNvSpPr txBox="1"/>
          <p:nvPr>
            <p:ph idx="12" type="sldNum"/>
          </p:nvPr>
        </p:nvSpPr>
        <p:spPr>
          <a:xfrm>
            <a:off x="8143936" y="6165305"/>
            <a:ext cx="777143" cy="312712"/>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473" name="Google Shape;473;p20"/>
          <p:cNvSpPr txBox="1"/>
          <p:nvPr/>
        </p:nvSpPr>
        <p:spPr>
          <a:xfrm>
            <a:off x="1259632" y="1210874"/>
            <a:ext cx="1296144" cy="369332"/>
          </a:xfrm>
          <a:prstGeom prst="rect">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П</a:t>
            </a:r>
            <a:r>
              <a:rPr baseline="-25000" lang="ru-RU" sz="1800">
                <a:solidFill>
                  <a:schemeClr val="dk1"/>
                </a:solidFill>
                <a:latin typeface="Arial"/>
                <a:ea typeface="Arial"/>
                <a:cs typeface="Arial"/>
                <a:sym typeface="Arial"/>
              </a:rPr>
              <a:t>1</a:t>
            </a:r>
            <a:r>
              <a:rPr lang="ru-RU" sz="1800">
                <a:solidFill>
                  <a:schemeClr val="dk1"/>
                </a:solidFill>
                <a:latin typeface="Arial"/>
                <a:ea typeface="Arial"/>
                <a:cs typeface="Arial"/>
                <a:sym typeface="Arial"/>
              </a:rPr>
              <a:t> - Java</a:t>
            </a:r>
            <a:endParaRPr sz="1800">
              <a:solidFill>
                <a:schemeClr val="dk1"/>
              </a:solidFill>
              <a:latin typeface="Arial"/>
              <a:ea typeface="Arial"/>
              <a:cs typeface="Arial"/>
              <a:sym typeface="Arial"/>
            </a:endParaRPr>
          </a:p>
        </p:txBody>
      </p:sp>
      <p:sp>
        <p:nvSpPr>
          <p:cNvPr id="474" name="Google Shape;474;p20"/>
          <p:cNvSpPr txBox="1"/>
          <p:nvPr/>
        </p:nvSpPr>
        <p:spPr>
          <a:xfrm>
            <a:off x="2699792" y="1234079"/>
            <a:ext cx="1152128" cy="369332"/>
          </a:xfrm>
          <a:prstGeom prst="rect">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П</a:t>
            </a:r>
            <a:r>
              <a:rPr baseline="-25000" lang="ru-RU" sz="1800">
                <a:solidFill>
                  <a:schemeClr val="dk1"/>
                </a:solidFill>
                <a:latin typeface="Arial"/>
                <a:ea typeface="Arial"/>
                <a:cs typeface="Arial"/>
                <a:sym typeface="Arial"/>
              </a:rPr>
              <a:t>2 </a:t>
            </a:r>
            <a:r>
              <a:rPr lang="ru-RU" sz="1800">
                <a:solidFill>
                  <a:schemeClr val="dk1"/>
                </a:solidFill>
                <a:latin typeface="Arial"/>
                <a:ea typeface="Arial"/>
                <a:cs typeface="Arial"/>
                <a:sym typeface="Arial"/>
              </a:rPr>
              <a:t>- C++</a:t>
            </a:r>
            <a:endParaRPr sz="1800">
              <a:solidFill>
                <a:schemeClr val="dk1"/>
              </a:solidFill>
              <a:latin typeface="Arial"/>
              <a:ea typeface="Arial"/>
              <a:cs typeface="Arial"/>
              <a:sym typeface="Arial"/>
            </a:endParaRPr>
          </a:p>
        </p:txBody>
      </p:sp>
      <p:sp>
        <p:nvSpPr>
          <p:cNvPr id="475" name="Google Shape;475;p20"/>
          <p:cNvSpPr txBox="1"/>
          <p:nvPr/>
        </p:nvSpPr>
        <p:spPr>
          <a:xfrm>
            <a:off x="5076056" y="1221935"/>
            <a:ext cx="1152128" cy="369332"/>
          </a:xfrm>
          <a:prstGeom prst="rect">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П</a:t>
            </a:r>
            <a:r>
              <a:rPr baseline="-25000" lang="ru-RU" sz="1800">
                <a:solidFill>
                  <a:schemeClr val="dk1"/>
                </a:solidFill>
                <a:latin typeface="Arial"/>
                <a:ea typeface="Arial"/>
                <a:cs typeface="Arial"/>
                <a:sym typeface="Arial"/>
              </a:rPr>
              <a:t>k </a:t>
            </a:r>
            <a:r>
              <a:rPr lang="ru-RU" sz="1800">
                <a:solidFill>
                  <a:schemeClr val="dk1"/>
                </a:solidFill>
                <a:latin typeface="Arial"/>
                <a:ea typeface="Arial"/>
                <a:cs typeface="Arial"/>
                <a:sym typeface="Arial"/>
              </a:rPr>
              <a:t>- PHP</a:t>
            </a:r>
            <a:endParaRPr sz="1800">
              <a:solidFill>
                <a:schemeClr val="dk1"/>
              </a:solidFill>
              <a:latin typeface="Arial"/>
              <a:ea typeface="Arial"/>
              <a:cs typeface="Arial"/>
              <a:sym typeface="Arial"/>
            </a:endParaRPr>
          </a:p>
        </p:txBody>
      </p:sp>
      <p:sp>
        <p:nvSpPr>
          <p:cNvPr id="476" name="Google Shape;476;p20"/>
          <p:cNvSpPr txBox="1"/>
          <p:nvPr/>
        </p:nvSpPr>
        <p:spPr>
          <a:xfrm>
            <a:off x="4120263" y="1221935"/>
            <a:ext cx="576064" cy="3814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p:txBody>
      </p:sp>
      <p:sp>
        <p:nvSpPr>
          <p:cNvPr id="477" name="Google Shape;477;p20"/>
          <p:cNvSpPr txBox="1"/>
          <p:nvPr/>
        </p:nvSpPr>
        <p:spPr>
          <a:xfrm>
            <a:off x="7020272" y="1210874"/>
            <a:ext cx="17281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Пользователи</a:t>
            </a:r>
            <a:endParaRPr/>
          </a:p>
        </p:txBody>
      </p:sp>
      <p:sp>
        <p:nvSpPr>
          <p:cNvPr id="478" name="Google Shape;478;p20"/>
          <p:cNvSpPr txBox="1"/>
          <p:nvPr/>
        </p:nvSpPr>
        <p:spPr>
          <a:xfrm>
            <a:off x="1115616" y="2564904"/>
            <a:ext cx="5472608" cy="830997"/>
          </a:xfrm>
          <a:prstGeom prst="rect">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400">
                <a:solidFill>
                  <a:schemeClr val="dk1"/>
                </a:solidFill>
                <a:latin typeface="Arial"/>
                <a:ea typeface="Arial"/>
                <a:cs typeface="Arial"/>
                <a:sym typeface="Arial"/>
              </a:rPr>
              <a:t>Концептуальная схема </a:t>
            </a:r>
            <a:br>
              <a:rPr lang="ru-RU" sz="2400">
                <a:solidFill>
                  <a:schemeClr val="dk1"/>
                </a:solidFill>
                <a:latin typeface="Arial"/>
                <a:ea typeface="Arial"/>
                <a:cs typeface="Arial"/>
                <a:sym typeface="Arial"/>
              </a:rPr>
            </a:br>
            <a:r>
              <a:rPr lang="ru-RU" sz="2400">
                <a:solidFill>
                  <a:schemeClr val="dk1"/>
                </a:solidFill>
                <a:latin typeface="Arial"/>
                <a:ea typeface="Arial"/>
                <a:cs typeface="Arial"/>
                <a:sym typeface="Arial"/>
              </a:rPr>
              <a:t>(описания данных, словарь данных)</a:t>
            </a:r>
            <a:endParaRPr/>
          </a:p>
        </p:txBody>
      </p:sp>
      <p:grpSp>
        <p:nvGrpSpPr>
          <p:cNvPr id="479" name="Google Shape;479;p20"/>
          <p:cNvGrpSpPr/>
          <p:nvPr/>
        </p:nvGrpSpPr>
        <p:grpSpPr>
          <a:xfrm>
            <a:off x="1115616" y="4036422"/>
            <a:ext cx="5472608" cy="1150967"/>
            <a:chOff x="1403648" y="3667090"/>
            <a:chExt cx="4790417" cy="1150967"/>
          </a:xfrm>
        </p:grpSpPr>
        <p:sp>
          <p:nvSpPr>
            <p:cNvPr id="480" name="Google Shape;480;p20"/>
            <p:cNvSpPr txBox="1"/>
            <p:nvPr/>
          </p:nvSpPr>
          <p:spPr>
            <a:xfrm>
              <a:off x="1403648" y="3667090"/>
              <a:ext cx="4790417" cy="461665"/>
            </a:xfrm>
            <a:prstGeom prst="rect">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400">
                  <a:solidFill>
                    <a:schemeClr val="dk1"/>
                  </a:solidFill>
                  <a:latin typeface="Arial"/>
                  <a:ea typeface="Arial"/>
                  <a:cs typeface="Arial"/>
                  <a:sym typeface="Arial"/>
                </a:rPr>
                <a:t>Ядро системы</a:t>
              </a:r>
              <a:endParaRPr/>
            </a:p>
          </p:txBody>
        </p:sp>
        <p:sp>
          <p:nvSpPr>
            <p:cNvPr id="481" name="Google Shape;481;p20"/>
            <p:cNvSpPr txBox="1"/>
            <p:nvPr/>
          </p:nvSpPr>
          <p:spPr>
            <a:xfrm>
              <a:off x="1403648" y="4110171"/>
              <a:ext cx="4790417" cy="707886"/>
            </a:xfrm>
            <a:prstGeom prst="rect">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000">
                  <a:solidFill>
                    <a:schemeClr val="dk1"/>
                  </a:solidFill>
                  <a:latin typeface="Arial"/>
                  <a:ea typeface="Arial"/>
                  <a:cs typeface="Arial"/>
                  <a:sym typeface="Arial"/>
                </a:rPr>
                <a:t>Подсистема управления хранимыми данными</a:t>
              </a:r>
              <a:endParaRPr/>
            </a:p>
          </p:txBody>
        </p:sp>
      </p:grpSp>
      <p:sp>
        <p:nvSpPr>
          <p:cNvPr id="482" name="Google Shape;482;p20"/>
          <p:cNvSpPr/>
          <p:nvPr/>
        </p:nvSpPr>
        <p:spPr>
          <a:xfrm>
            <a:off x="1259632" y="5525616"/>
            <a:ext cx="864096" cy="864096"/>
          </a:xfrm>
          <a:prstGeom prst="flowChartMagneticDisk">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3" name="Google Shape;483;p20"/>
          <p:cNvSpPr/>
          <p:nvPr/>
        </p:nvSpPr>
        <p:spPr>
          <a:xfrm>
            <a:off x="2659337" y="5525616"/>
            <a:ext cx="864096" cy="864096"/>
          </a:xfrm>
          <a:prstGeom prst="flowChartMagneticDisk">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4" name="Google Shape;484;p20"/>
          <p:cNvSpPr/>
          <p:nvPr/>
        </p:nvSpPr>
        <p:spPr>
          <a:xfrm>
            <a:off x="5076056" y="5525616"/>
            <a:ext cx="864096" cy="864096"/>
          </a:xfrm>
          <a:prstGeom prst="flowChartMagneticDisk">
            <a:avLst/>
          </a:prstGeom>
          <a:noFill/>
          <a:ln cap="flat" cmpd="sng" w="25400">
            <a:solidFill>
              <a:srgbClr val="6F6F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5" name="Google Shape;485;p20"/>
          <p:cNvSpPr txBox="1"/>
          <p:nvPr/>
        </p:nvSpPr>
        <p:spPr>
          <a:xfrm>
            <a:off x="3898426" y="5708575"/>
            <a:ext cx="1008112"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4400">
                <a:solidFill>
                  <a:schemeClr val="dk1"/>
                </a:solidFill>
                <a:latin typeface="Arial"/>
                <a:ea typeface="Arial"/>
                <a:cs typeface="Arial"/>
                <a:sym typeface="Arial"/>
              </a:rPr>
              <a:t>…</a:t>
            </a:r>
            <a:endParaRPr/>
          </a:p>
        </p:txBody>
      </p:sp>
      <p:cxnSp>
        <p:nvCxnSpPr>
          <p:cNvPr id="486" name="Google Shape;486;p20"/>
          <p:cNvCxnSpPr>
            <a:stCxn id="473" idx="2"/>
          </p:cNvCxnSpPr>
          <p:nvPr/>
        </p:nvCxnSpPr>
        <p:spPr>
          <a:xfrm>
            <a:off x="1907704" y="1580206"/>
            <a:ext cx="216000" cy="889200"/>
          </a:xfrm>
          <a:prstGeom prst="straightConnector1">
            <a:avLst/>
          </a:prstGeom>
          <a:noFill/>
          <a:ln cap="flat" cmpd="sng" w="25400">
            <a:solidFill>
              <a:schemeClr val="dk1"/>
            </a:solidFill>
            <a:prstDash val="solid"/>
            <a:round/>
            <a:headEnd len="lg" w="lg" type="stealth"/>
            <a:tailEnd len="lg" w="lg" type="stealth"/>
          </a:ln>
        </p:spPr>
      </p:cxnSp>
      <p:sp>
        <p:nvSpPr>
          <p:cNvPr id="487" name="Google Shape;487;p20"/>
          <p:cNvSpPr/>
          <p:nvPr/>
        </p:nvSpPr>
        <p:spPr>
          <a:xfrm>
            <a:off x="448876" y="2564904"/>
            <a:ext cx="540000" cy="830997"/>
          </a:xfrm>
          <a:prstGeom prst="leftBrace">
            <a:avLst>
              <a:gd fmla="val 8333" name="adj1"/>
              <a:gd fmla="val 50000" name="adj2"/>
            </a:avLst>
          </a:prstGeom>
          <a:noFill/>
          <a:ln cap="flat" cmpd="sng" w="9525">
            <a:solidFill>
              <a:srgbClr val="9292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88" name="Google Shape;488;p20"/>
          <p:cNvSpPr/>
          <p:nvPr/>
        </p:nvSpPr>
        <p:spPr>
          <a:xfrm>
            <a:off x="448876" y="4479502"/>
            <a:ext cx="576730" cy="1910209"/>
          </a:xfrm>
          <a:prstGeom prst="leftBrace">
            <a:avLst>
              <a:gd fmla="val 8333" name="adj1"/>
              <a:gd fmla="val 50000" name="adj2"/>
            </a:avLst>
          </a:prstGeom>
          <a:noFill/>
          <a:ln cap="flat" cmpd="sng" w="9525">
            <a:solidFill>
              <a:srgbClr val="9292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89" name="Google Shape;489;p20"/>
          <p:cNvSpPr/>
          <p:nvPr/>
        </p:nvSpPr>
        <p:spPr>
          <a:xfrm>
            <a:off x="506076" y="1164707"/>
            <a:ext cx="540000" cy="830997"/>
          </a:xfrm>
          <a:prstGeom prst="leftBrace">
            <a:avLst>
              <a:gd fmla="val 8333" name="adj1"/>
              <a:gd fmla="val 50000" name="adj2"/>
            </a:avLst>
          </a:prstGeom>
          <a:noFill/>
          <a:ln cap="flat" cmpd="sng" w="9525">
            <a:solidFill>
              <a:srgbClr val="9292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90" name="Google Shape;490;p20"/>
          <p:cNvSpPr txBox="1"/>
          <p:nvPr/>
        </p:nvSpPr>
        <p:spPr>
          <a:xfrm>
            <a:off x="7362310" y="2708920"/>
            <a:ext cx="75608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3600">
                <a:solidFill>
                  <a:srgbClr val="C00000"/>
                </a:solidFill>
                <a:latin typeface="Arial"/>
                <a:ea typeface="Arial"/>
                <a:cs typeface="Arial"/>
                <a:sym typeface="Arial"/>
              </a:rPr>
              <a:t>С</a:t>
            </a:r>
            <a:endParaRPr/>
          </a:p>
          <a:p>
            <a:pPr indent="0" lvl="0" marL="0" marR="0" rtl="0" algn="l">
              <a:spcBef>
                <a:spcPts val="0"/>
              </a:spcBef>
              <a:spcAft>
                <a:spcPts val="0"/>
              </a:spcAft>
              <a:buNone/>
            </a:pPr>
            <a:r>
              <a:rPr lang="ru-RU" sz="3600">
                <a:solidFill>
                  <a:srgbClr val="C00000"/>
                </a:solidFill>
                <a:latin typeface="Arial"/>
                <a:ea typeface="Arial"/>
                <a:cs typeface="Arial"/>
                <a:sym typeface="Arial"/>
              </a:rPr>
              <a:t>У</a:t>
            </a:r>
            <a:endParaRPr/>
          </a:p>
          <a:p>
            <a:pPr indent="0" lvl="0" marL="0" marR="0" rtl="0" algn="l">
              <a:spcBef>
                <a:spcPts val="0"/>
              </a:spcBef>
              <a:spcAft>
                <a:spcPts val="0"/>
              </a:spcAft>
              <a:buNone/>
            </a:pPr>
            <a:r>
              <a:rPr lang="ru-RU" sz="3600">
                <a:solidFill>
                  <a:srgbClr val="C00000"/>
                </a:solidFill>
                <a:latin typeface="Arial"/>
                <a:ea typeface="Arial"/>
                <a:cs typeface="Arial"/>
                <a:sym typeface="Arial"/>
              </a:rPr>
              <a:t>Б</a:t>
            </a:r>
            <a:endParaRPr/>
          </a:p>
          <a:p>
            <a:pPr indent="0" lvl="0" marL="0" marR="0" rtl="0" algn="l">
              <a:spcBef>
                <a:spcPts val="0"/>
              </a:spcBef>
              <a:spcAft>
                <a:spcPts val="0"/>
              </a:spcAft>
              <a:buNone/>
            </a:pPr>
            <a:r>
              <a:rPr lang="ru-RU" sz="3600">
                <a:solidFill>
                  <a:srgbClr val="C00000"/>
                </a:solidFill>
                <a:latin typeface="Arial"/>
                <a:ea typeface="Arial"/>
                <a:cs typeface="Arial"/>
                <a:sym typeface="Arial"/>
              </a:rPr>
              <a:t>Д</a:t>
            </a:r>
            <a:endParaRPr/>
          </a:p>
        </p:txBody>
      </p:sp>
      <p:cxnSp>
        <p:nvCxnSpPr>
          <p:cNvPr id="491" name="Google Shape;491;p20"/>
          <p:cNvCxnSpPr/>
          <p:nvPr/>
        </p:nvCxnSpPr>
        <p:spPr>
          <a:xfrm flipH="1">
            <a:off x="5364088" y="1603411"/>
            <a:ext cx="262620" cy="817477"/>
          </a:xfrm>
          <a:prstGeom prst="straightConnector1">
            <a:avLst/>
          </a:prstGeom>
          <a:noFill/>
          <a:ln cap="flat" cmpd="sng" w="25400">
            <a:solidFill>
              <a:schemeClr val="dk1"/>
            </a:solidFill>
            <a:prstDash val="solid"/>
            <a:round/>
            <a:headEnd len="lg" w="lg" type="stealth"/>
            <a:tailEnd len="lg" w="lg" type="stealth"/>
          </a:ln>
        </p:spPr>
      </p:cxnSp>
      <p:cxnSp>
        <p:nvCxnSpPr>
          <p:cNvPr id="492" name="Google Shape;492;p20"/>
          <p:cNvCxnSpPr>
            <a:stCxn id="478" idx="2"/>
          </p:cNvCxnSpPr>
          <p:nvPr/>
        </p:nvCxnSpPr>
        <p:spPr>
          <a:xfrm flipH="1">
            <a:off x="3850720" y="3395901"/>
            <a:ext cx="1200" cy="640500"/>
          </a:xfrm>
          <a:prstGeom prst="straightConnector1">
            <a:avLst/>
          </a:prstGeom>
          <a:noFill/>
          <a:ln cap="flat" cmpd="sng" w="25400">
            <a:solidFill>
              <a:schemeClr val="dk1"/>
            </a:solidFill>
            <a:prstDash val="solid"/>
            <a:round/>
            <a:headEnd len="lg" w="lg" type="stealth"/>
            <a:tailEnd len="lg" w="lg" type="stealth"/>
          </a:ln>
        </p:spPr>
      </p:cxnSp>
      <p:cxnSp>
        <p:nvCxnSpPr>
          <p:cNvPr id="493" name="Google Shape;493;p20"/>
          <p:cNvCxnSpPr/>
          <p:nvPr/>
        </p:nvCxnSpPr>
        <p:spPr>
          <a:xfrm flipH="1">
            <a:off x="1705363" y="5001462"/>
            <a:ext cx="310354" cy="645460"/>
          </a:xfrm>
          <a:prstGeom prst="straightConnector1">
            <a:avLst/>
          </a:prstGeom>
          <a:noFill/>
          <a:ln cap="flat" cmpd="sng" w="25400">
            <a:solidFill>
              <a:schemeClr val="dk1"/>
            </a:solidFill>
            <a:prstDash val="solid"/>
            <a:round/>
            <a:headEnd len="lg" w="lg" type="stealth"/>
            <a:tailEnd len="lg" w="lg" type="stealth"/>
          </a:ln>
        </p:spPr>
      </p:cxnSp>
      <p:cxnSp>
        <p:nvCxnSpPr>
          <p:cNvPr id="494" name="Google Shape;494;p20"/>
          <p:cNvCxnSpPr/>
          <p:nvPr/>
        </p:nvCxnSpPr>
        <p:spPr>
          <a:xfrm flipH="1">
            <a:off x="3091385" y="4987015"/>
            <a:ext cx="260926" cy="659907"/>
          </a:xfrm>
          <a:prstGeom prst="straightConnector1">
            <a:avLst/>
          </a:prstGeom>
          <a:noFill/>
          <a:ln cap="flat" cmpd="sng" w="25400">
            <a:solidFill>
              <a:schemeClr val="dk1"/>
            </a:solidFill>
            <a:prstDash val="solid"/>
            <a:round/>
            <a:headEnd len="lg" w="lg" type="stealth"/>
            <a:tailEnd len="lg" w="lg" type="stealth"/>
          </a:ln>
        </p:spPr>
      </p:cxnSp>
      <p:cxnSp>
        <p:nvCxnSpPr>
          <p:cNvPr id="495" name="Google Shape;495;p20"/>
          <p:cNvCxnSpPr/>
          <p:nvPr/>
        </p:nvCxnSpPr>
        <p:spPr>
          <a:xfrm>
            <a:off x="5285727" y="4941168"/>
            <a:ext cx="209671" cy="705754"/>
          </a:xfrm>
          <a:prstGeom prst="straightConnector1">
            <a:avLst/>
          </a:prstGeom>
          <a:noFill/>
          <a:ln cap="flat" cmpd="sng" w="25400">
            <a:solidFill>
              <a:schemeClr val="dk1"/>
            </a:solidFill>
            <a:prstDash val="solid"/>
            <a:round/>
            <a:headEnd len="lg" w="lg" type="stealth"/>
            <a:tailEnd len="lg" w="lg" type="stealth"/>
          </a:ln>
        </p:spPr>
      </p:cxnSp>
      <p:sp>
        <p:nvSpPr>
          <p:cNvPr id="496" name="Google Shape;496;p20"/>
          <p:cNvSpPr txBox="1"/>
          <p:nvPr/>
        </p:nvSpPr>
        <p:spPr>
          <a:xfrm rot="-5400000">
            <a:off x="-324925" y="1201594"/>
            <a:ext cx="130471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Внешний</a:t>
            </a:r>
            <a:endParaRPr/>
          </a:p>
        </p:txBody>
      </p:sp>
      <p:sp>
        <p:nvSpPr>
          <p:cNvPr id="497" name="Google Shape;497;p20"/>
          <p:cNvSpPr txBox="1"/>
          <p:nvPr/>
        </p:nvSpPr>
        <p:spPr>
          <a:xfrm rot="-5400000">
            <a:off x="-511464" y="5070870"/>
            <a:ext cx="160723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Внутренний</a:t>
            </a:r>
            <a:endParaRPr/>
          </a:p>
        </p:txBody>
      </p:sp>
      <p:sp>
        <p:nvSpPr>
          <p:cNvPr id="498" name="Google Shape;498;p20"/>
          <p:cNvSpPr txBox="1"/>
          <p:nvPr/>
        </p:nvSpPr>
        <p:spPr>
          <a:xfrm rot="-5400000">
            <a:off x="-757883" y="3065974"/>
            <a:ext cx="211920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rgbClr val="FF0000"/>
                </a:solidFill>
                <a:latin typeface="Arial"/>
                <a:ea typeface="Arial"/>
                <a:cs typeface="Arial"/>
                <a:sym typeface="Arial"/>
              </a:rPr>
              <a:t>Концептуальный</a:t>
            </a:r>
            <a:endParaRPr/>
          </a:p>
        </p:txBody>
      </p:sp>
      <p:sp>
        <p:nvSpPr>
          <p:cNvPr id="499" name="Google Shape;499;p20"/>
          <p:cNvSpPr txBox="1"/>
          <p:nvPr/>
        </p:nvSpPr>
        <p:spPr>
          <a:xfrm>
            <a:off x="1115616" y="3559607"/>
            <a:ext cx="51899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FF0000"/>
                </a:solidFill>
                <a:latin typeface="Arial"/>
                <a:ea typeface="Arial"/>
                <a:cs typeface="Arial"/>
                <a:sym typeface="Arial"/>
              </a:rPr>
              <a:t>Отображения «Концептуальный-внутренний»</a:t>
            </a:r>
            <a:endParaRPr/>
          </a:p>
        </p:txBody>
      </p:sp>
      <p:sp>
        <p:nvSpPr>
          <p:cNvPr id="500" name="Google Shape;500;p20"/>
          <p:cNvSpPr txBox="1"/>
          <p:nvPr/>
        </p:nvSpPr>
        <p:spPr>
          <a:xfrm>
            <a:off x="1259632" y="1956774"/>
            <a:ext cx="49685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FF0000"/>
                </a:solidFill>
                <a:latin typeface="Arial"/>
                <a:ea typeface="Arial"/>
                <a:cs typeface="Arial"/>
                <a:sym typeface="Arial"/>
              </a:rPr>
              <a:t>Отображения «Внешний-Концептуальный»</a:t>
            </a:r>
            <a:endParaRPr/>
          </a:p>
        </p:txBody>
      </p:sp>
      <p:sp>
        <p:nvSpPr>
          <p:cNvPr id="501" name="Google Shape;501;p20"/>
          <p:cNvSpPr txBox="1"/>
          <p:nvPr/>
        </p:nvSpPr>
        <p:spPr>
          <a:xfrm>
            <a:off x="1255741" y="5108981"/>
            <a:ext cx="51899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FF0000"/>
                </a:solidFill>
                <a:latin typeface="Arial"/>
                <a:ea typeface="Arial"/>
                <a:cs typeface="Arial"/>
                <a:sym typeface="Arial"/>
              </a:rPr>
              <a:t>Отображения «Логический-физический»</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1"/>
          <p:cNvSpPr txBox="1"/>
          <p:nvPr>
            <p:ph type="title"/>
          </p:nvPr>
        </p:nvSpPr>
        <p:spPr>
          <a:xfrm>
            <a:off x="251520" y="188640"/>
            <a:ext cx="8697913" cy="7921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Arial"/>
              <a:buNone/>
            </a:pPr>
            <a:r>
              <a:rPr lang="ru-RU" sz="3600">
                <a:solidFill>
                  <a:schemeClr val="lt2"/>
                </a:solidFill>
              </a:rPr>
              <a:t>Независимость данных</a:t>
            </a:r>
            <a:endParaRPr/>
          </a:p>
        </p:txBody>
      </p:sp>
      <p:sp>
        <p:nvSpPr>
          <p:cNvPr id="507" name="Google Shape;507;p21"/>
          <p:cNvSpPr txBox="1"/>
          <p:nvPr>
            <p:ph idx="1" type="body"/>
          </p:nvPr>
        </p:nvSpPr>
        <p:spPr>
          <a:xfrm>
            <a:off x="160523" y="1052736"/>
            <a:ext cx="8678677" cy="5487764"/>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20000"/>
              </a:lnSpc>
              <a:spcBef>
                <a:spcPts val="0"/>
              </a:spcBef>
              <a:spcAft>
                <a:spcPts val="0"/>
              </a:spcAft>
              <a:buSzPct val="75000"/>
              <a:buChar char="■"/>
            </a:pPr>
            <a:r>
              <a:rPr b="1" lang="ru-RU" sz="2400">
                <a:solidFill>
                  <a:srgbClr val="000099"/>
                </a:solidFill>
              </a:rPr>
              <a:t>Независимость данных от программ</a:t>
            </a:r>
            <a:endParaRPr/>
          </a:p>
          <a:p>
            <a:pPr indent="0" lvl="1" marL="457200" rtl="0" algn="l">
              <a:lnSpc>
                <a:spcPct val="120000"/>
              </a:lnSpc>
              <a:spcBef>
                <a:spcPts val="408"/>
              </a:spcBef>
              <a:spcAft>
                <a:spcPts val="0"/>
              </a:spcAft>
              <a:buClr>
                <a:srgbClr val="000099"/>
              </a:buClr>
              <a:buSzPct val="100000"/>
              <a:buNone/>
            </a:pPr>
            <a:r>
              <a:rPr lang="ru-RU" sz="2400"/>
              <a:t>позволяет изменять структуру данных и организацию данных во внешней памяти без изменения текста программ. Требуется перекомпиляция.</a:t>
            </a:r>
            <a:endParaRPr/>
          </a:p>
          <a:p>
            <a:pPr indent="-342900" lvl="0" marL="342900" rtl="0" algn="l">
              <a:lnSpc>
                <a:spcPct val="120000"/>
              </a:lnSpc>
              <a:spcBef>
                <a:spcPts val="408"/>
              </a:spcBef>
              <a:spcAft>
                <a:spcPts val="0"/>
              </a:spcAft>
              <a:buSzPct val="75000"/>
              <a:buChar char="■"/>
            </a:pPr>
            <a:r>
              <a:rPr b="1" lang="ru-RU" sz="2400"/>
              <a:t>Реализуется на 2-ух уровнях: логическом и физическом</a:t>
            </a:r>
            <a:endParaRPr/>
          </a:p>
          <a:p>
            <a:pPr indent="-342900" lvl="0" marL="342900" rtl="0" algn="l">
              <a:lnSpc>
                <a:spcPct val="120000"/>
              </a:lnSpc>
              <a:spcBef>
                <a:spcPts val="408"/>
              </a:spcBef>
              <a:spcAft>
                <a:spcPts val="0"/>
              </a:spcAft>
              <a:buSzPct val="75000"/>
              <a:buChar char="■"/>
            </a:pPr>
            <a:r>
              <a:rPr lang="ru-RU" sz="2400" u="sng"/>
              <a:t>Физический уровень</a:t>
            </a:r>
            <a:r>
              <a:rPr lang="ru-RU" sz="2400"/>
              <a:t>: невосприимчивость приложений к изменениям в физическом представлении данных и в методах доступа к данных </a:t>
            </a:r>
            <a:endParaRPr/>
          </a:p>
          <a:p>
            <a:pPr indent="-285750" lvl="1" marL="742950" rtl="0" algn="l">
              <a:lnSpc>
                <a:spcPct val="120000"/>
              </a:lnSpc>
              <a:spcBef>
                <a:spcPts val="408"/>
              </a:spcBef>
              <a:spcAft>
                <a:spcPts val="0"/>
              </a:spcAft>
              <a:buSzPct val="80000"/>
              <a:buFont typeface="Noto Sans Symbols"/>
              <a:buChar char="▪"/>
            </a:pPr>
            <a:r>
              <a:rPr lang="ru-RU" sz="2400"/>
              <a:t>Изменение реализации на внутреннем уровне – последовательный, индексный, В-дерево</a:t>
            </a:r>
            <a:endParaRPr sz="2400"/>
          </a:p>
          <a:p>
            <a:pPr indent="-342900" lvl="0" marL="342900" rtl="0" algn="l">
              <a:lnSpc>
                <a:spcPct val="120000"/>
              </a:lnSpc>
              <a:spcBef>
                <a:spcPts val="408"/>
              </a:spcBef>
              <a:spcAft>
                <a:spcPts val="0"/>
              </a:spcAft>
              <a:buSzPct val="75000"/>
              <a:buChar char="■"/>
            </a:pPr>
            <a:r>
              <a:rPr lang="ru-RU" sz="2400" u="sng"/>
              <a:t>Логический уровень:</a:t>
            </a:r>
            <a:r>
              <a:rPr lang="ru-RU" sz="2400"/>
              <a:t> отсутствие влияния изменений в логической структуре базы данных на работу пользователей и пользовательских программ</a:t>
            </a:r>
            <a:endParaRPr/>
          </a:p>
          <a:p>
            <a:pPr indent="-285750" lvl="1" marL="742950" rtl="0" algn="l">
              <a:lnSpc>
                <a:spcPct val="120000"/>
              </a:lnSpc>
              <a:spcBef>
                <a:spcPts val="408"/>
              </a:spcBef>
              <a:spcAft>
                <a:spcPts val="0"/>
              </a:spcAft>
              <a:buSzPct val="80000"/>
              <a:buFont typeface="Noto Sans Symbols"/>
              <a:buChar char="▪"/>
            </a:pPr>
            <a:r>
              <a:rPr lang="ru-RU" sz="2400"/>
              <a:t>Изменение состава полей в таблице БД,</a:t>
            </a:r>
            <a:endParaRPr/>
          </a:p>
          <a:p>
            <a:pPr indent="-285750" lvl="1" marL="742950" rtl="0" algn="l">
              <a:lnSpc>
                <a:spcPct val="120000"/>
              </a:lnSpc>
              <a:spcBef>
                <a:spcPts val="408"/>
              </a:spcBef>
              <a:spcAft>
                <a:spcPts val="0"/>
              </a:spcAft>
              <a:buSzPct val="80000"/>
              <a:buFont typeface="Noto Sans Symbols"/>
              <a:buChar char="▪"/>
            </a:pPr>
            <a:r>
              <a:rPr lang="ru-RU" sz="2400"/>
              <a:t>Изменение типов данных,</a:t>
            </a:r>
            <a:endParaRPr/>
          </a:p>
          <a:p>
            <a:pPr indent="-285750" lvl="1" marL="742950" rtl="0" algn="l">
              <a:lnSpc>
                <a:spcPct val="120000"/>
              </a:lnSpc>
              <a:spcBef>
                <a:spcPts val="408"/>
              </a:spcBef>
              <a:spcAft>
                <a:spcPts val="0"/>
              </a:spcAft>
              <a:buSzPct val="80000"/>
              <a:buFont typeface="Noto Sans Symbols"/>
              <a:buChar char="▪"/>
            </a:pPr>
            <a:r>
              <a:rPr lang="ru-RU" sz="2400"/>
              <a:t>Формирование представлений (виртуальных таблиц)</a:t>
            </a:r>
            <a:endParaRPr/>
          </a:p>
        </p:txBody>
      </p:sp>
      <p:sp>
        <p:nvSpPr>
          <p:cNvPr id="508" name="Google Shape;508;p21"/>
          <p:cNvSpPr txBox="1"/>
          <p:nvPr>
            <p:ph idx="12" type="sldNum"/>
          </p:nvPr>
        </p:nvSpPr>
        <p:spPr>
          <a:xfrm>
            <a:off x="8172400" y="6237312"/>
            <a:ext cx="820688" cy="36004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22"/>
          <p:cNvSpPr txBox="1"/>
          <p:nvPr>
            <p:ph idx="1" type="body"/>
          </p:nvPr>
        </p:nvSpPr>
        <p:spPr>
          <a:xfrm>
            <a:off x="293379" y="930324"/>
            <a:ext cx="8568952" cy="5832648"/>
          </a:xfrm>
          <a:prstGeom prst="rect">
            <a:avLst/>
          </a:prstGeom>
          <a:noFill/>
          <a:ln>
            <a:noFill/>
          </a:ln>
        </p:spPr>
        <p:txBody>
          <a:bodyPr anchorCtr="0" anchor="t" bIns="45700" lIns="91425" spcFirstLastPara="1" rIns="91425" wrap="square" tIns="45700">
            <a:normAutofit fontScale="62500" lnSpcReduction="20000"/>
          </a:bodyPr>
          <a:lstStyle/>
          <a:p>
            <a:pPr indent="-342923" lvl="0" marL="342900" rtl="0" algn="l">
              <a:spcBef>
                <a:spcPts val="0"/>
              </a:spcBef>
              <a:spcAft>
                <a:spcPts val="0"/>
              </a:spcAft>
              <a:buSzPct val="75000"/>
              <a:buChar char="■"/>
            </a:pPr>
            <a:r>
              <a:rPr b="1" lang="ru-RU" sz="3900">
                <a:solidFill>
                  <a:srgbClr val="000099"/>
                </a:solidFill>
              </a:rPr>
              <a:t>Мультидоступ доступ к данным</a:t>
            </a:r>
            <a:endParaRPr/>
          </a:p>
          <a:p>
            <a:pPr indent="-285750" lvl="1" marL="742950" rtl="0" algn="l">
              <a:lnSpc>
                <a:spcPct val="120000"/>
              </a:lnSpc>
              <a:spcBef>
                <a:spcPts val="500"/>
              </a:spcBef>
              <a:spcAft>
                <a:spcPts val="0"/>
              </a:spcAft>
              <a:buClr>
                <a:srgbClr val="000099"/>
              </a:buClr>
              <a:buSzPct val="100000"/>
              <a:buFont typeface="Noto Sans Symbols"/>
              <a:buChar char="❖"/>
            </a:pPr>
            <a:r>
              <a:rPr lang="ru-RU" sz="4000"/>
              <a:t>Допускается</a:t>
            </a:r>
            <a:r>
              <a:rPr b="1" lang="ru-RU" sz="4000"/>
              <a:t> одновременный доступ </a:t>
            </a:r>
            <a:r>
              <a:rPr lang="ru-RU" sz="4000"/>
              <a:t>нескольких пользователей к извлечению, изменению и добавлению данных</a:t>
            </a:r>
            <a:endParaRPr/>
          </a:p>
          <a:p>
            <a:pPr indent="-285750" lvl="1" marL="742950" rtl="0" algn="l">
              <a:lnSpc>
                <a:spcPct val="120000"/>
              </a:lnSpc>
              <a:spcBef>
                <a:spcPts val="500"/>
              </a:spcBef>
              <a:spcAft>
                <a:spcPts val="0"/>
              </a:spcAft>
              <a:buClr>
                <a:srgbClr val="000099"/>
              </a:buClr>
              <a:buSzPct val="100000"/>
              <a:buFont typeface="Noto Sans Symbols"/>
              <a:buChar char="❖"/>
            </a:pPr>
            <a:r>
              <a:rPr lang="ru-RU" sz="4000"/>
              <a:t>Управление совместным доступом гарантирует, что </a:t>
            </a:r>
            <a:r>
              <a:rPr b="1" lang="ru-RU" sz="4000"/>
              <a:t>ТРАНЗАКЦИЯ</a:t>
            </a:r>
            <a:r>
              <a:rPr lang="ru-RU" sz="4000"/>
              <a:t> либо успешно завершится, либо будет завершена без изменения содержимого БД</a:t>
            </a:r>
            <a:endParaRPr/>
          </a:p>
          <a:p>
            <a:pPr indent="-285750" lvl="1" marL="742950" rtl="0" algn="l">
              <a:lnSpc>
                <a:spcPct val="120000"/>
              </a:lnSpc>
              <a:spcBef>
                <a:spcPts val="500"/>
              </a:spcBef>
              <a:spcAft>
                <a:spcPts val="0"/>
              </a:spcAft>
              <a:buClr>
                <a:srgbClr val="000099"/>
              </a:buClr>
              <a:buSzPct val="100000"/>
              <a:buFont typeface="Noto Sans Symbols"/>
              <a:buChar char="❖"/>
            </a:pPr>
            <a:r>
              <a:rPr lang="ru-RU" sz="4000"/>
              <a:t>Система управления транзакциями гарантирует, что данные из БД после всех ЗАВЕРШЕННЫХ транзакций будут сохранены в БД </a:t>
            </a:r>
            <a:endParaRPr/>
          </a:p>
          <a:p>
            <a:pPr indent="-285750" lvl="1" marL="742950" rtl="0" algn="l">
              <a:lnSpc>
                <a:spcPct val="120000"/>
              </a:lnSpc>
              <a:spcBef>
                <a:spcPts val="500"/>
              </a:spcBef>
              <a:spcAft>
                <a:spcPts val="0"/>
              </a:spcAft>
              <a:buClr>
                <a:srgbClr val="000099"/>
              </a:buClr>
              <a:buSzPct val="100000"/>
              <a:buFont typeface="Noto Sans Symbols"/>
              <a:buChar char="❖"/>
            </a:pPr>
            <a:r>
              <a:rPr lang="ru-RU" sz="4000"/>
              <a:t>OLTP (Online Transaction Processing) позволяет приложениям обрабатывать сотни транзакций в секунду.</a:t>
            </a:r>
            <a:endParaRPr/>
          </a:p>
          <a:p>
            <a:pPr indent="0" lvl="0" marL="45720" rtl="0" algn="l">
              <a:spcBef>
                <a:spcPts val="325"/>
              </a:spcBef>
              <a:spcAft>
                <a:spcPts val="0"/>
              </a:spcAft>
              <a:buSzPct val="75000"/>
              <a:buNone/>
            </a:pPr>
            <a:r>
              <a:t/>
            </a:r>
            <a:endParaRPr b="1" sz="2600">
              <a:solidFill>
                <a:srgbClr val="000099"/>
              </a:solidFill>
            </a:endParaRPr>
          </a:p>
        </p:txBody>
      </p:sp>
      <p:sp>
        <p:nvSpPr>
          <p:cNvPr id="514" name="Google Shape;514;p22"/>
          <p:cNvSpPr txBox="1"/>
          <p:nvPr>
            <p:ph idx="12" type="sldNum"/>
          </p:nvPr>
        </p:nvSpPr>
        <p:spPr>
          <a:xfrm>
            <a:off x="8388424" y="6165305"/>
            <a:ext cx="532656" cy="36004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515" name="Google Shape;515;p22"/>
          <p:cNvSpPr txBox="1"/>
          <p:nvPr/>
        </p:nvSpPr>
        <p:spPr>
          <a:xfrm>
            <a:off x="293379" y="138236"/>
            <a:ext cx="8568952" cy="792088"/>
          </a:xfrm>
          <a:prstGeom prst="rect">
            <a:avLst/>
          </a:prstGeom>
          <a:noFill/>
          <a:ln>
            <a:noFill/>
          </a:ln>
        </p:spPr>
        <p:txBody>
          <a:bodyPr anchorCtr="0" anchor="t" bIns="45700" lIns="91425" spcFirstLastPara="1" rIns="91425" wrap="square" tIns="45700">
            <a:normAutofit fontScale="925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Подход баз данных (продолжение)</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3"/>
          <p:cNvSpPr txBox="1"/>
          <p:nvPr>
            <p:ph type="title"/>
          </p:nvPr>
        </p:nvSpPr>
        <p:spPr>
          <a:xfrm>
            <a:off x="791580" y="188639"/>
            <a:ext cx="6732748" cy="103511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2"/>
              </a:buClr>
              <a:buSzPts val="3600"/>
              <a:buFont typeface="Arial"/>
              <a:buNone/>
            </a:pPr>
            <a:r>
              <a:rPr b="1" lang="ru-RU" sz="3600">
                <a:solidFill>
                  <a:schemeClr val="lt2"/>
                </a:solidFill>
              </a:rPr>
              <a:t>Пользователи БД</a:t>
            </a:r>
            <a:endParaRPr/>
          </a:p>
        </p:txBody>
      </p:sp>
      <p:sp>
        <p:nvSpPr>
          <p:cNvPr id="521" name="Google Shape;521;p23"/>
          <p:cNvSpPr txBox="1"/>
          <p:nvPr>
            <p:ph idx="1" type="body"/>
          </p:nvPr>
        </p:nvSpPr>
        <p:spPr>
          <a:xfrm>
            <a:off x="251520" y="1412776"/>
            <a:ext cx="8892480" cy="5040560"/>
          </a:xfrm>
          <a:prstGeom prst="rect">
            <a:avLst/>
          </a:prstGeom>
          <a:noFill/>
          <a:ln>
            <a:noFill/>
          </a:ln>
        </p:spPr>
        <p:txBody>
          <a:bodyPr anchorCtr="0" anchor="t" bIns="45700" lIns="91425" spcFirstLastPara="1" rIns="91425" wrap="square" tIns="45700">
            <a:normAutofit/>
          </a:bodyPr>
          <a:lstStyle/>
          <a:p>
            <a:pPr indent="0" lvl="0" marL="45720" rtl="0" algn="l">
              <a:spcBef>
                <a:spcPts val="0"/>
              </a:spcBef>
              <a:spcAft>
                <a:spcPts val="0"/>
              </a:spcAft>
              <a:buSzPts val="2625"/>
              <a:buNone/>
            </a:pPr>
            <a:r>
              <a:rPr b="1" lang="ru-RU" sz="3500">
                <a:solidFill>
                  <a:srgbClr val="000099"/>
                </a:solidFill>
              </a:rPr>
              <a:t>Пользователей можно разделить на </a:t>
            </a:r>
            <a:r>
              <a:rPr b="1" lang="ru-RU" sz="3600">
                <a:solidFill>
                  <a:srgbClr val="000099"/>
                </a:solidFill>
              </a:rPr>
              <a:t>:</a:t>
            </a:r>
            <a:endParaRPr/>
          </a:p>
          <a:p>
            <a:pPr indent="-285750" lvl="1" marL="742950" rtl="0" algn="l">
              <a:spcBef>
                <a:spcPts val="1500"/>
              </a:spcBef>
              <a:spcAft>
                <a:spcPts val="0"/>
              </a:spcAft>
              <a:buClr>
                <a:srgbClr val="000099"/>
              </a:buClr>
              <a:buSzPts val="3000"/>
              <a:buFont typeface="Noto Sans Symbols"/>
              <a:buChar char="❖"/>
            </a:pPr>
            <a:r>
              <a:rPr lang="ru-RU" sz="3000"/>
              <a:t>Тех, кто активно использует содержимое баз данных или создает, </a:t>
            </a:r>
            <a:r>
              <a:rPr b="1" lang="ru-RU" sz="3000"/>
              <a:t>разрабатывает приложения с базами данных </a:t>
            </a:r>
            <a:br>
              <a:rPr lang="ru-RU" sz="3000"/>
            </a:br>
            <a:r>
              <a:rPr lang="ru-RU" sz="3000"/>
              <a:t>(</a:t>
            </a:r>
            <a:r>
              <a:rPr b="1" lang="ru-RU" sz="3000"/>
              <a:t>Актеры на сцене</a:t>
            </a:r>
            <a:r>
              <a:rPr lang="ru-RU" sz="3000"/>
              <a:t>)</a:t>
            </a:r>
            <a:endParaRPr/>
          </a:p>
          <a:p>
            <a:pPr indent="-285750" lvl="1" marL="742950" rtl="0" algn="l">
              <a:spcBef>
                <a:spcPts val="1500"/>
              </a:spcBef>
              <a:spcAft>
                <a:spcPts val="0"/>
              </a:spcAft>
              <a:buClr>
                <a:srgbClr val="000099"/>
              </a:buClr>
              <a:buSzPts val="3000"/>
              <a:buFont typeface="Noto Sans Symbols"/>
              <a:buChar char="❖"/>
            </a:pPr>
            <a:r>
              <a:rPr lang="ru-RU" sz="3000"/>
              <a:t>Тех, кто </a:t>
            </a:r>
            <a:r>
              <a:rPr b="1" lang="ru-RU" sz="3000"/>
              <a:t>создает СУБД и инструменты </a:t>
            </a:r>
            <a:r>
              <a:rPr lang="ru-RU" sz="3000"/>
              <a:t>для создания баз данных и приложений </a:t>
            </a:r>
            <a:br>
              <a:rPr lang="ru-RU" sz="3000"/>
            </a:br>
            <a:r>
              <a:rPr lang="ru-RU" sz="3000"/>
              <a:t>(</a:t>
            </a:r>
            <a:r>
              <a:rPr b="1" lang="ru-RU" sz="3000"/>
              <a:t>Рабочие за сценой</a:t>
            </a:r>
            <a:r>
              <a:rPr lang="ru-RU" sz="3000"/>
              <a:t>)</a:t>
            </a:r>
            <a:endParaRPr/>
          </a:p>
        </p:txBody>
      </p:sp>
      <p:sp>
        <p:nvSpPr>
          <p:cNvPr id="522" name="Google Shape;522;p2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4"/>
          <p:cNvSpPr txBox="1"/>
          <p:nvPr>
            <p:ph type="title"/>
          </p:nvPr>
        </p:nvSpPr>
        <p:spPr>
          <a:xfrm>
            <a:off x="1115616" y="0"/>
            <a:ext cx="6512511" cy="72008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2"/>
              </a:buClr>
              <a:buSzPts val="3600"/>
              <a:buFont typeface="Arial"/>
              <a:buNone/>
            </a:pPr>
            <a:r>
              <a:rPr lang="ru-RU" sz="3600">
                <a:solidFill>
                  <a:schemeClr val="lt2"/>
                </a:solidFill>
              </a:rPr>
              <a:t>Пользователи БД</a:t>
            </a:r>
            <a:endParaRPr/>
          </a:p>
        </p:txBody>
      </p:sp>
      <p:sp>
        <p:nvSpPr>
          <p:cNvPr id="529" name="Google Shape;529;p24"/>
          <p:cNvSpPr txBox="1"/>
          <p:nvPr>
            <p:ph idx="1" type="body"/>
          </p:nvPr>
        </p:nvSpPr>
        <p:spPr>
          <a:xfrm>
            <a:off x="389023" y="764704"/>
            <a:ext cx="8748464" cy="58772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500"/>
              <a:buFont typeface="Noto Sans Symbols"/>
              <a:buChar char="❖"/>
            </a:pPr>
            <a:r>
              <a:rPr b="1" lang="ru-RU" sz="2000">
                <a:solidFill>
                  <a:srgbClr val="000099"/>
                </a:solidFill>
              </a:rPr>
              <a:t>Актеры на сцене</a:t>
            </a:r>
            <a:endParaRPr sz="2000">
              <a:solidFill>
                <a:srgbClr val="000099"/>
              </a:solidFill>
            </a:endParaRPr>
          </a:p>
          <a:p>
            <a:pPr indent="-285750" lvl="1" marL="742950" rtl="0" algn="l">
              <a:lnSpc>
                <a:spcPct val="90000"/>
              </a:lnSpc>
              <a:spcBef>
                <a:spcPts val="400"/>
              </a:spcBef>
              <a:spcAft>
                <a:spcPts val="0"/>
              </a:spcAft>
              <a:buClr>
                <a:srgbClr val="000099"/>
              </a:buClr>
              <a:buSzPts val="1600"/>
              <a:buFont typeface="Noto Sans Symbols"/>
              <a:buChar char="▪"/>
            </a:pPr>
            <a:r>
              <a:rPr lang="ru-RU" sz="2000">
                <a:solidFill>
                  <a:srgbClr val="C00000"/>
                </a:solidFill>
              </a:rPr>
              <a:t> </a:t>
            </a:r>
            <a:r>
              <a:rPr b="1" lang="ru-RU" sz="2000">
                <a:solidFill>
                  <a:srgbClr val="C00000"/>
                </a:solidFill>
              </a:rPr>
              <a:t>Администраторы баз данных, </a:t>
            </a:r>
            <a:r>
              <a:rPr lang="ru-RU" sz="2000">
                <a:solidFill>
                  <a:srgbClr val="C00000"/>
                </a:solidFill>
              </a:rPr>
              <a:t>ответственные за</a:t>
            </a:r>
            <a:r>
              <a:rPr b="1" lang="ru-RU" sz="2000">
                <a:solidFill>
                  <a:srgbClr val="C00000"/>
                </a:solidFill>
              </a:rPr>
              <a:t> </a:t>
            </a:r>
            <a:endParaRPr/>
          </a:p>
          <a:p>
            <a:pPr indent="-228600" lvl="2" marL="1143000" rtl="0" algn="l">
              <a:spcBef>
                <a:spcPts val="400"/>
              </a:spcBef>
              <a:spcAft>
                <a:spcPts val="0"/>
              </a:spcAft>
              <a:buSzPts val="2000"/>
              <a:buFont typeface="Noto Sans Symbols"/>
              <a:buChar char="✔"/>
            </a:pPr>
            <a:r>
              <a:rPr b="1" lang="ru-RU" sz="2000">
                <a:solidFill>
                  <a:srgbClr val="000099"/>
                </a:solidFill>
              </a:rPr>
              <a:t> </a:t>
            </a:r>
            <a:r>
              <a:rPr lang="ru-RU" sz="2000">
                <a:solidFill>
                  <a:schemeClr val="lt2"/>
                </a:solidFill>
              </a:rPr>
              <a:t>Определение концептуальной схемы,</a:t>
            </a:r>
            <a:endParaRPr/>
          </a:p>
          <a:p>
            <a:pPr indent="-228600" lvl="2" marL="1143000" rtl="0" algn="l">
              <a:spcBef>
                <a:spcPts val="400"/>
              </a:spcBef>
              <a:spcAft>
                <a:spcPts val="0"/>
              </a:spcAft>
              <a:buSzPts val="2000"/>
              <a:buFont typeface="Noto Sans Symbols"/>
              <a:buChar char="✔"/>
            </a:pPr>
            <a:r>
              <a:rPr lang="ru-RU" sz="2000">
                <a:solidFill>
                  <a:schemeClr val="lt2"/>
                </a:solidFill>
              </a:rPr>
              <a:t> Определение внутренней схемы, </a:t>
            </a:r>
            <a:endParaRPr/>
          </a:p>
          <a:p>
            <a:pPr indent="-228600" lvl="2" marL="1143000" rtl="0" algn="l">
              <a:spcBef>
                <a:spcPts val="400"/>
              </a:spcBef>
              <a:spcAft>
                <a:spcPts val="0"/>
              </a:spcAft>
              <a:buSzPts val="2000"/>
              <a:buFont typeface="Noto Sans Symbols"/>
              <a:buChar char="✔"/>
            </a:pPr>
            <a:r>
              <a:rPr lang="ru-RU" sz="2000">
                <a:solidFill>
                  <a:schemeClr val="lt2"/>
                </a:solidFill>
              </a:rPr>
              <a:t> Взаимодействие с пользователями, </a:t>
            </a:r>
            <a:endParaRPr/>
          </a:p>
          <a:p>
            <a:pPr indent="-228600" lvl="2" marL="1143000" rtl="0" algn="l">
              <a:spcBef>
                <a:spcPts val="400"/>
              </a:spcBef>
              <a:spcAft>
                <a:spcPts val="0"/>
              </a:spcAft>
              <a:buSzPts val="2000"/>
              <a:buFont typeface="Noto Sans Symbols"/>
              <a:buChar char="✔"/>
            </a:pPr>
            <a:r>
              <a:rPr lang="ru-RU" sz="2000">
                <a:solidFill>
                  <a:schemeClr val="lt2"/>
                </a:solidFill>
              </a:rPr>
              <a:t> Определение требований защиты и обеспечения целостности данных,</a:t>
            </a:r>
            <a:endParaRPr/>
          </a:p>
          <a:p>
            <a:pPr indent="-228600" lvl="2" marL="1143000" rtl="0" algn="l">
              <a:spcBef>
                <a:spcPts val="400"/>
              </a:spcBef>
              <a:spcAft>
                <a:spcPts val="0"/>
              </a:spcAft>
              <a:buSzPts val="2000"/>
              <a:buFont typeface="Noto Sans Symbols"/>
              <a:buChar char="✔"/>
            </a:pPr>
            <a:r>
              <a:rPr lang="ru-RU" sz="2000">
                <a:solidFill>
                  <a:schemeClr val="lt2"/>
                </a:solidFill>
              </a:rPr>
              <a:t>Определение процедур резервного копирования и восстановления,</a:t>
            </a:r>
            <a:endParaRPr/>
          </a:p>
          <a:p>
            <a:pPr indent="-228600" lvl="2" marL="1143000" rtl="0" algn="l">
              <a:spcBef>
                <a:spcPts val="400"/>
              </a:spcBef>
              <a:spcAft>
                <a:spcPts val="0"/>
              </a:spcAft>
              <a:buSzPts val="2000"/>
              <a:buFont typeface="Noto Sans Symbols"/>
              <a:buChar char="✔"/>
            </a:pPr>
            <a:r>
              <a:rPr lang="ru-RU" sz="2000">
                <a:solidFill>
                  <a:schemeClr val="lt2"/>
                </a:solidFill>
              </a:rPr>
              <a:t>Управление производительностью и реагирование на изменяющиеся требования</a:t>
            </a:r>
            <a:endParaRPr/>
          </a:p>
          <a:p>
            <a:pPr indent="-285750" lvl="1" marL="742950" rtl="0" algn="l">
              <a:spcBef>
                <a:spcPts val="400"/>
              </a:spcBef>
              <a:spcAft>
                <a:spcPts val="0"/>
              </a:spcAft>
              <a:buClr>
                <a:srgbClr val="000099"/>
              </a:buClr>
              <a:buSzPts val="1600"/>
              <a:buFont typeface="Noto Sans Symbols"/>
              <a:buChar char="▪"/>
            </a:pPr>
            <a:r>
              <a:rPr lang="ru-RU" sz="2000">
                <a:solidFill>
                  <a:srgbClr val="C00000"/>
                </a:solidFill>
              </a:rPr>
              <a:t> </a:t>
            </a:r>
            <a:r>
              <a:rPr b="1" lang="ru-RU" sz="2000">
                <a:solidFill>
                  <a:srgbClr val="C00000"/>
                </a:solidFill>
              </a:rPr>
              <a:t>Прикладные программисты, </a:t>
            </a:r>
            <a:r>
              <a:rPr lang="ru-RU" sz="2000">
                <a:solidFill>
                  <a:srgbClr val="C00000"/>
                </a:solidFill>
              </a:rPr>
              <a:t>ответственные за </a:t>
            </a:r>
            <a:endParaRPr/>
          </a:p>
          <a:p>
            <a:pPr indent="-228600" lvl="2" marL="1143000" rtl="0" algn="l">
              <a:spcBef>
                <a:spcPts val="400"/>
              </a:spcBef>
              <a:spcAft>
                <a:spcPts val="0"/>
              </a:spcAft>
              <a:buSzPts val="1300"/>
              <a:buFont typeface="Noto Sans Symbols"/>
              <a:buChar char="✔"/>
            </a:pPr>
            <a:r>
              <a:rPr lang="ru-RU" sz="2000">
                <a:solidFill>
                  <a:srgbClr val="000099"/>
                </a:solidFill>
              </a:rPr>
              <a:t>Разработку интерфейсов работы с базой данных,</a:t>
            </a:r>
            <a:endParaRPr/>
          </a:p>
          <a:p>
            <a:pPr indent="-228600" lvl="2" marL="1143000" rtl="0" algn="l">
              <a:spcBef>
                <a:spcPts val="400"/>
              </a:spcBef>
              <a:spcAft>
                <a:spcPts val="0"/>
              </a:spcAft>
              <a:buSzPts val="1300"/>
              <a:buFont typeface="Noto Sans Symbols"/>
              <a:buChar char="✔"/>
            </a:pPr>
            <a:r>
              <a:rPr lang="ru-RU" sz="2000">
                <a:solidFill>
                  <a:srgbClr val="000099"/>
                </a:solidFill>
              </a:rPr>
              <a:t>Функции или операции над базой данных </a:t>
            </a:r>
            <a:endParaRPr/>
          </a:p>
          <a:p>
            <a:pPr indent="0" lvl="2" marL="640080" rtl="0" algn="l">
              <a:spcBef>
                <a:spcPts val="400"/>
              </a:spcBef>
              <a:spcAft>
                <a:spcPts val="0"/>
              </a:spcAft>
              <a:buSzPts val="1300"/>
              <a:buNone/>
            </a:pPr>
            <a:r>
              <a:rPr lang="ru-RU" sz="2000">
                <a:solidFill>
                  <a:srgbClr val="000099"/>
                </a:solidFill>
              </a:rPr>
              <a:t>Они должны общаться с конечными пользователями и понимать их потребности</a:t>
            </a:r>
            <a:endParaRPr/>
          </a:p>
        </p:txBody>
      </p:sp>
      <p:sp>
        <p:nvSpPr>
          <p:cNvPr id="530" name="Google Shape;530;p24"/>
          <p:cNvSpPr txBox="1"/>
          <p:nvPr>
            <p:ph idx="12" type="sldNum"/>
          </p:nvPr>
        </p:nvSpPr>
        <p:spPr>
          <a:xfrm>
            <a:off x="8244408" y="6165305"/>
            <a:ext cx="676672" cy="288032"/>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5"/>
          <p:cNvSpPr txBox="1"/>
          <p:nvPr>
            <p:ph type="title"/>
          </p:nvPr>
        </p:nvSpPr>
        <p:spPr>
          <a:xfrm>
            <a:off x="251520" y="188640"/>
            <a:ext cx="8712968" cy="79208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2"/>
              </a:buClr>
              <a:buSzPts val="3600"/>
              <a:buFont typeface="Arial"/>
              <a:buNone/>
            </a:pPr>
            <a:r>
              <a:rPr lang="ru-RU" sz="3600">
                <a:solidFill>
                  <a:schemeClr val="lt2"/>
                </a:solidFill>
              </a:rPr>
              <a:t>Пользователи БД </a:t>
            </a:r>
            <a:r>
              <a:rPr b="0" lang="ru-RU" sz="3600">
                <a:solidFill>
                  <a:schemeClr val="lt2"/>
                </a:solidFill>
              </a:rPr>
              <a:t>(актеры на сцене)</a:t>
            </a:r>
            <a:endParaRPr sz="3600">
              <a:solidFill>
                <a:schemeClr val="lt2"/>
              </a:solidFill>
            </a:endParaRPr>
          </a:p>
        </p:txBody>
      </p:sp>
      <p:sp>
        <p:nvSpPr>
          <p:cNvPr id="537" name="Google Shape;537;p25"/>
          <p:cNvSpPr txBox="1"/>
          <p:nvPr>
            <p:ph idx="1" type="body"/>
          </p:nvPr>
        </p:nvSpPr>
        <p:spPr>
          <a:xfrm>
            <a:off x="611560" y="980728"/>
            <a:ext cx="8208912" cy="5256584"/>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Clr>
                <a:srgbClr val="000099"/>
              </a:buClr>
              <a:buSzPts val="2400"/>
              <a:buFont typeface="Noto Sans Symbols"/>
              <a:buChar char="▪"/>
            </a:pPr>
            <a:r>
              <a:rPr lang="ru-RU">
                <a:solidFill>
                  <a:srgbClr val="C00000"/>
                </a:solidFill>
              </a:rPr>
              <a:t> </a:t>
            </a:r>
            <a:r>
              <a:rPr lang="ru-RU" sz="2600">
                <a:solidFill>
                  <a:srgbClr val="C00000"/>
                </a:solidFill>
              </a:rPr>
              <a:t>Конечные пользователи: </a:t>
            </a:r>
            <a:r>
              <a:rPr lang="ru-RU" sz="2600">
                <a:solidFill>
                  <a:srgbClr val="000099"/>
                </a:solidFill>
              </a:rPr>
              <a:t>Они используют данные для запросов, отчетов и некоторые из них обновляют содержимое баз данных</a:t>
            </a:r>
            <a:r>
              <a:rPr lang="ru-RU">
                <a:solidFill>
                  <a:srgbClr val="C00000"/>
                </a:solidFill>
              </a:rPr>
              <a:t>. </a:t>
            </a:r>
            <a:endParaRPr/>
          </a:p>
          <a:p>
            <a:pPr indent="0" lvl="1" marL="365760" rtl="0" algn="l">
              <a:lnSpc>
                <a:spcPct val="90000"/>
              </a:lnSpc>
              <a:spcBef>
                <a:spcPts val="480"/>
              </a:spcBef>
              <a:spcAft>
                <a:spcPts val="0"/>
              </a:spcAft>
              <a:buClr>
                <a:srgbClr val="000099"/>
              </a:buClr>
              <a:buSzPts val="2400"/>
              <a:buNone/>
            </a:pPr>
            <a:r>
              <a:rPr lang="ru-RU" sz="2400">
                <a:solidFill>
                  <a:srgbClr val="C00000"/>
                </a:solidFill>
              </a:rPr>
              <a:t> Конечные пользователи могут быть разделены на:</a:t>
            </a:r>
            <a:endParaRPr/>
          </a:p>
          <a:p>
            <a:pPr indent="-228600" lvl="2" marL="1143000" rtl="0" algn="l">
              <a:lnSpc>
                <a:spcPct val="90000"/>
              </a:lnSpc>
              <a:spcBef>
                <a:spcPts val="480"/>
              </a:spcBef>
              <a:spcAft>
                <a:spcPts val="0"/>
              </a:spcAft>
              <a:buClr>
                <a:srgbClr val="C00000"/>
              </a:buClr>
              <a:buSzPts val="2400"/>
              <a:buFont typeface="Noto Sans Symbols"/>
              <a:buChar char="❖"/>
            </a:pPr>
            <a:r>
              <a:rPr b="1" lang="ru-RU" sz="2400" u="sng">
                <a:solidFill>
                  <a:srgbClr val="000099"/>
                </a:solidFill>
              </a:rPr>
              <a:t>Случайные</a:t>
            </a:r>
            <a:r>
              <a:rPr lang="ru-RU" sz="2200">
                <a:solidFill>
                  <a:srgbClr val="000099"/>
                </a:solidFill>
              </a:rPr>
              <a:t>: осуществляют доступ к базе данных время от времени, когда это необходимо</a:t>
            </a:r>
            <a:endParaRPr/>
          </a:p>
          <a:p>
            <a:pPr indent="-228600" lvl="2" marL="1143000" rtl="0" algn="l">
              <a:lnSpc>
                <a:spcPct val="90000"/>
              </a:lnSpc>
              <a:spcBef>
                <a:spcPts val="480"/>
              </a:spcBef>
              <a:spcAft>
                <a:spcPts val="0"/>
              </a:spcAft>
              <a:buClr>
                <a:srgbClr val="C00000"/>
              </a:buClr>
              <a:buSzPts val="2400"/>
              <a:buFont typeface="Noto Sans Symbols"/>
              <a:buChar char="❖"/>
            </a:pPr>
            <a:r>
              <a:rPr b="1" lang="ru-RU" sz="2400" u="sng">
                <a:solidFill>
                  <a:srgbClr val="000099"/>
                </a:solidFill>
              </a:rPr>
              <a:t>Наивные или Параметрические</a:t>
            </a:r>
            <a:r>
              <a:rPr lang="ru-RU" sz="2200">
                <a:solidFill>
                  <a:srgbClr val="000099"/>
                </a:solidFill>
              </a:rPr>
              <a:t>: они составляют значительную часть всех конечных пользователей.</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Они используют ранее четко определенные функции в виде «стандартных операций" в базе данных.</a:t>
            </a:r>
            <a:endParaRPr/>
          </a:p>
          <a:p>
            <a:pPr indent="-228600" lvl="3" marL="1600200" rtl="0" algn="l">
              <a:lnSpc>
                <a:spcPct val="110000"/>
              </a:lnSpc>
              <a:spcBef>
                <a:spcPts val="480"/>
              </a:spcBef>
              <a:spcAft>
                <a:spcPts val="0"/>
              </a:spcAft>
              <a:buClr>
                <a:srgbClr val="000099"/>
              </a:buClr>
              <a:buSzPts val="2400"/>
              <a:buFont typeface="Noto Sans Symbols"/>
              <a:buChar char="▪"/>
            </a:pPr>
            <a:r>
              <a:rPr lang="ru-RU" sz="2400"/>
              <a:t>Примеры: кассиры банка или в ж/д или авиа кассе, который делают однотипную работу в течение всего рабочего дня</a:t>
            </a:r>
            <a:endParaRPr b="1" sz="2400"/>
          </a:p>
        </p:txBody>
      </p:sp>
      <p:sp>
        <p:nvSpPr>
          <p:cNvPr id="538" name="Google Shape;538;p25"/>
          <p:cNvSpPr txBox="1"/>
          <p:nvPr>
            <p:ph idx="12" type="sldNum"/>
          </p:nvPr>
        </p:nvSpPr>
        <p:spPr>
          <a:xfrm>
            <a:off x="8244408" y="6165304"/>
            <a:ext cx="676672" cy="432048"/>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26"/>
          <p:cNvSpPr txBox="1"/>
          <p:nvPr>
            <p:ph type="title"/>
          </p:nvPr>
        </p:nvSpPr>
        <p:spPr>
          <a:xfrm>
            <a:off x="0" y="0"/>
            <a:ext cx="9144000" cy="79208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2"/>
              </a:buClr>
              <a:buSzPts val="3600"/>
              <a:buFont typeface="Arial"/>
              <a:buNone/>
            </a:pPr>
            <a:r>
              <a:rPr lang="ru-RU" sz="3600">
                <a:solidFill>
                  <a:schemeClr val="lt2"/>
                </a:solidFill>
              </a:rPr>
              <a:t>Пользователи БД </a:t>
            </a:r>
            <a:r>
              <a:rPr b="0" lang="ru-RU" sz="3600">
                <a:solidFill>
                  <a:schemeClr val="lt2"/>
                </a:solidFill>
              </a:rPr>
              <a:t>(</a:t>
            </a:r>
            <a:r>
              <a:rPr b="0" lang="ru-RU" sz="3200">
                <a:solidFill>
                  <a:schemeClr val="lt2"/>
                </a:solidFill>
              </a:rPr>
              <a:t>конечные пользователи</a:t>
            </a:r>
            <a:r>
              <a:rPr b="0" lang="ru-RU" sz="3600">
                <a:solidFill>
                  <a:schemeClr val="lt2"/>
                </a:solidFill>
              </a:rPr>
              <a:t>)</a:t>
            </a:r>
            <a:endParaRPr/>
          </a:p>
        </p:txBody>
      </p:sp>
      <p:sp>
        <p:nvSpPr>
          <p:cNvPr id="545" name="Google Shape;545;p26"/>
          <p:cNvSpPr txBox="1"/>
          <p:nvPr>
            <p:ph idx="1" type="body"/>
          </p:nvPr>
        </p:nvSpPr>
        <p:spPr>
          <a:xfrm>
            <a:off x="323528" y="908720"/>
            <a:ext cx="8640960" cy="5760640"/>
          </a:xfrm>
          <a:prstGeom prst="rect">
            <a:avLst/>
          </a:prstGeom>
          <a:noFill/>
          <a:ln>
            <a:noFill/>
          </a:ln>
        </p:spPr>
        <p:txBody>
          <a:bodyPr anchorCtr="0" anchor="t" bIns="45700" lIns="91425" spcFirstLastPara="1" rIns="91425" wrap="square" tIns="45700">
            <a:normAutofit lnSpcReduction="10000"/>
          </a:bodyPr>
          <a:lstStyle/>
          <a:p>
            <a:pPr indent="-228600" lvl="2" marL="1143000" rtl="0" algn="l">
              <a:lnSpc>
                <a:spcPct val="90000"/>
              </a:lnSpc>
              <a:spcBef>
                <a:spcPts val="0"/>
              </a:spcBef>
              <a:spcAft>
                <a:spcPts val="0"/>
              </a:spcAft>
              <a:buClr>
                <a:srgbClr val="C00000"/>
              </a:buClr>
              <a:buSzPts val="2800"/>
              <a:buFont typeface="Noto Sans Symbols"/>
              <a:buChar char="❖"/>
            </a:pPr>
            <a:r>
              <a:rPr b="1" lang="ru-RU" sz="2800" u="sng">
                <a:solidFill>
                  <a:srgbClr val="000099"/>
                </a:solidFill>
              </a:rPr>
              <a:t>Сложные:</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Это бизнес-аналитики, ученые, инженеры, другие специалисты, хорошо знакомые с возможностями системы.</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Многие используют программные пакеты, которые взаимодействуют с базой данных</a:t>
            </a:r>
            <a:r>
              <a:rPr lang="ru-RU" sz="2400">
                <a:solidFill>
                  <a:srgbClr val="C00000"/>
                </a:solidFill>
              </a:rPr>
              <a:t>.</a:t>
            </a:r>
            <a:endParaRPr/>
          </a:p>
          <a:p>
            <a:pPr indent="-228600" lvl="2" marL="1143000" rtl="0" algn="l">
              <a:lnSpc>
                <a:spcPct val="90000"/>
              </a:lnSpc>
              <a:spcBef>
                <a:spcPts val="560"/>
              </a:spcBef>
              <a:spcAft>
                <a:spcPts val="0"/>
              </a:spcAft>
              <a:buClr>
                <a:srgbClr val="C00000"/>
              </a:buClr>
              <a:buSzPts val="2800"/>
              <a:buFont typeface="Noto Sans Symbols"/>
              <a:buChar char="❖"/>
            </a:pPr>
            <a:r>
              <a:rPr b="1" lang="ru-RU" sz="2800" u="sng">
                <a:solidFill>
                  <a:srgbClr val="000099"/>
                </a:solidFill>
              </a:rPr>
              <a:t>Автономные:</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Это пользователи, которые ведут личную базу данных с помощью готовых пакетов приложений.</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Примером может служить программа исчисления налога на пользователей, которая создает свою собственную внутреннюю базу данных.</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Другим примером является пользователь, который ведет свою адресную книгу</a:t>
            </a:r>
            <a:endParaRPr/>
          </a:p>
        </p:txBody>
      </p:sp>
      <p:sp>
        <p:nvSpPr>
          <p:cNvPr id="546" name="Google Shape;546;p26"/>
          <p:cNvSpPr txBox="1"/>
          <p:nvPr>
            <p:ph idx="12" type="sldNum"/>
          </p:nvPr>
        </p:nvSpPr>
        <p:spPr>
          <a:xfrm>
            <a:off x="8244408" y="6165304"/>
            <a:ext cx="676672" cy="432048"/>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27"/>
          <p:cNvSpPr txBox="1"/>
          <p:nvPr>
            <p:ph type="title"/>
          </p:nvPr>
        </p:nvSpPr>
        <p:spPr>
          <a:xfrm>
            <a:off x="0" y="0"/>
            <a:ext cx="9144000" cy="79208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2"/>
              </a:buClr>
              <a:buSzPts val="3600"/>
              <a:buFont typeface="Arial"/>
              <a:buNone/>
            </a:pPr>
            <a:r>
              <a:rPr lang="ru-RU" sz="3600">
                <a:solidFill>
                  <a:schemeClr val="lt2"/>
                </a:solidFill>
              </a:rPr>
              <a:t>Пользователи БД </a:t>
            </a:r>
            <a:r>
              <a:rPr b="0" lang="ru-RU" sz="3600">
                <a:solidFill>
                  <a:schemeClr val="lt2"/>
                </a:solidFill>
              </a:rPr>
              <a:t>(</a:t>
            </a:r>
            <a:r>
              <a:rPr b="0" lang="ru-RU" sz="3200">
                <a:solidFill>
                  <a:schemeClr val="lt2"/>
                </a:solidFill>
              </a:rPr>
              <a:t>рабочие за сценой</a:t>
            </a:r>
            <a:r>
              <a:rPr b="0" lang="ru-RU" sz="3600">
                <a:solidFill>
                  <a:schemeClr val="lt2"/>
                </a:solidFill>
              </a:rPr>
              <a:t>)</a:t>
            </a:r>
            <a:endParaRPr/>
          </a:p>
        </p:txBody>
      </p:sp>
      <p:sp>
        <p:nvSpPr>
          <p:cNvPr id="553" name="Google Shape;553;p27"/>
          <p:cNvSpPr txBox="1"/>
          <p:nvPr>
            <p:ph idx="1" type="body"/>
          </p:nvPr>
        </p:nvSpPr>
        <p:spPr>
          <a:xfrm>
            <a:off x="323528" y="908720"/>
            <a:ext cx="8640960" cy="5760640"/>
          </a:xfrm>
          <a:prstGeom prst="rect">
            <a:avLst/>
          </a:prstGeom>
          <a:noFill/>
          <a:ln>
            <a:noFill/>
          </a:ln>
        </p:spPr>
        <p:txBody>
          <a:bodyPr anchorCtr="0" anchor="t" bIns="45700" lIns="91425" spcFirstLastPara="1" rIns="91425" wrap="square" tIns="45700">
            <a:normAutofit/>
          </a:bodyPr>
          <a:lstStyle/>
          <a:p>
            <a:pPr indent="-228600" lvl="2" marL="1143000" rtl="0" algn="l">
              <a:lnSpc>
                <a:spcPct val="90000"/>
              </a:lnSpc>
              <a:spcBef>
                <a:spcPts val="0"/>
              </a:spcBef>
              <a:spcAft>
                <a:spcPts val="0"/>
              </a:spcAft>
              <a:buClr>
                <a:srgbClr val="C00000"/>
              </a:buClr>
              <a:buSzPts val="2800"/>
              <a:buFont typeface="Noto Sans Symbols"/>
              <a:buChar char="❖"/>
            </a:pPr>
            <a:r>
              <a:rPr b="1" lang="ru-RU" sz="2800" u="sng">
                <a:solidFill>
                  <a:srgbClr val="000099"/>
                </a:solidFill>
              </a:rPr>
              <a:t>Системные программисты</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Хорошо знают операционные системы, утилиты работы с внешними носителями</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Имеют хороший опыт программирования на языках высокого уровня, используют </a:t>
            </a:r>
            <a:endParaRPr/>
          </a:p>
          <a:p>
            <a:pPr indent="-228600" lvl="3" marL="1600200" rtl="0" algn="l">
              <a:lnSpc>
                <a:spcPct val="90000"/>
              </a:lnSpc>
              <a:spcBef>
                <a:spcPts val="480"/>
              </a:spcBef>
              <a:spcAft>
                <a:spcPts val="0"/>
              </a:spcAft>
              <a:buClr>
                <a:srgbClr val="000099"/>
              </a:buClr>
              <a:buSzPts val="2400"/>
              <a:buFont typeface="Noto Sans Symbols"/>
              <a:buChar char="▪"/>
            </a:pPr>
            <a:r>
              <a:rPr lang="ru-RU" sz="2400"/>
              <a:t>Разрабатывают компоненты СУБД и инструментарий для администраторов баз данных </a:t>
            </a:r>
            <a:endParaRPr sz="2400">
              <a:solidFill>
                <a:srgbClr val="C00000"/>
              </a:solidFill>
            </a:endParaRPr>
          </a:p>
        </p:txBody>
      </p:sp>
      <p:sp>
        <p:nvSpPr>
          <p:cNvPr id="554" name="Google Shape;554;p27"/>
          <p:cNvSpPr txBox="1"/>
          <p:nvPr>
            <p:ph idx="12" type="sldNum"/>
          </p:nvPr>
        </p:nvSpPr>
        <p:spPr>
          <a:xfrm>
            <a:off x="8244408" y="6165304"/>
            <a:ext cx="676672" cy="432048"/>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8"/>
          <p:cNvSpPr txBox="1"/>
          <p:nvPr>
            <p:ph idx="1" type="body"/>
          </p:nvPr>
        </p:nvSpPr>
        <p:spPr>
          <a:xfrm>
            <a:off x="323528" y="908720"/>
            <a:ext cx="8352928" cy="5616624"/>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SzPct val="75000"/>
              <a:buFont typeface="Noto Sans Symbols"/>
              <a:buChar char="❖"/>
            </a:pPr>
            <a:r>
              <a:rPr b="1" lang="ru-RU" sz="3800">
                <a:solidFill>
                  <a:srgbClr val="000099"/>
                </a:solidFill>
              </a:rPr>
              <a:t>Управление избыточностью в данных </a:t>
            </a:r>
            <a:endParaRPr/>
          </a:p>
          <a:p>
            <a:pPr indent="-285750" lvl="1" marL="742950" rtl="0" algn="l">
              <a:spcBef>
                <a:spcPts val="475"/>
              </a:spcBef>
              <a:spcAft>
                <a:spcPts val="0"/>
              </a:spcAft>
              <a:buClr>
                <a:srgbClr val="000099"/>
              </a:buClr>
              <a:buSzPct val="100000"/>
              <a:buFont typeface="Noto Sans Symbols"/>
              <a:buChar char="❑"/>
            </a:pPr>
            <a:r>
              <a:rPr b="1" lang="ru-RU" sz="3800">
                <a:solidFill>
                  <a:srgbClr val="C00000"/>
                </a:solidFill>
              </a:rPr>
              <a:t> </a:t>
            </a:r>
            <a:r>
              <a:rPr lang="ru-RU" sz="3800">
                <a:solidFill>
                  <a:srgbClr val="C00000"/>
                </a:solidFill>
              </a:rPr>
              <a:t>Устранение избыточности информативных данных</a:t>
            </a:r>
            <a:endParaRPr/>
          </a:p>
          <a:p>
            <a:pPr indent="-228600" lvl="2" marL="1143000" rtl="0" algn="l">
              <a:spcBef>
                <a:spcPts val="450"/>
              </a:spcBef>
              <a:spcAft>
                <a:spcPts val="0"/>
              </a:spcAft>
              <a:buSzPct val="64999"/>
              <a:buFont typeface="Noto Sans Symbols"/>
              <a:buChar char="✔"/>
            </a:pPr>
            <a:r>
              <a:rPr lang="ru-RU" sz="3600">
                <a:solidFill>
                  <a:srgbClr val="000099"/>
                </a:solidFill>
              </a:rPr>
              <a:t> Аномалии вставки, </a:t>
            </a:r>
            <a:endParaRPr/>
          </a:p>
          <a:p>
            <a:pPr indent="-228600" lvl="2" marL="1143000" rtl="0" algn="l">
              <a:spcBef>
                <a:spcPts val="450"/>
              </a:spcBef>
              <a:spcAft>
                <a:spcPts val="0"/>
              </a:spcAft>
              <a:buSzPct val="64999"/>
              <a:buFont typeface="Noto Sans Symbols"/>
              <a:buChar char="✔"/>
            </a:pPr>
            <a:r>
              <a:rPr lang="ru-RU" sz="3600">
                <a:solidFill>
                  <a:srgbClr val="000099"/>
                </a:solidFill>
              </a:rPr>
              <a:t> Аномалии удаления, </a:t>
            </a:r>
            <a:endParaRPr/>
          </a:p>
          <a:p>
            <a:pPr indent="-228600" lvl="2" marL="1143000" rtl="0" algn="l">
              <a:spcBef>
                <a:spcPts val="450"/>
              </a:spcBef>
              <a:spcAft>
                <a:spcPts val="0"/>
              </a:spcAft>
              <a:buSzPct val="64999"/>
              <a:buFont typeface="Noto Sans Symbols"/>
              <a:buChar char="✔"/>
            </a:pPr>
            <a:r>
              <a:rPr lang="ru-RU" sz="3600">
                <a:solidFill>
                  <a:srgbClr val="000099"/>
                </a:solidFill>
              </a:rPr>
              <a:t> Аномалии редактирования</a:t>
            </a:r>
            <a:endParaRPr/>
          </a:p>
          <a:p>
            <a:pPr indent="-285750" lvl="1" marL="742950" rtl="0" algn="l">
              <a:spcBef>
                <a:spcPts val="450"/>
              </a:spcBef>
              <a:spcAft>
                <a:spcPts val="0"/>
              </a:spcAft>
              <a:buClr>
                <a:srgbClr val="000099"/>
              </a:buClr>
              <a:buSzPct val="100000"/>
              <a:buFont typeface="Noto Sans Symbols"/>
              <a:buChar char="❑"/>
            </a:pPr>
            <a:r>
              <a:rPr lang="ru-RU" sz="3600">
                <a:solidFill>
                  <a:srgbClr val="C00000"/>
                </a:solidFill>
              </a:rPr>
              <a:t> Управляемая</a:t>
            </a:r>
            <a:r>
              <a:rPr lang="ru-RU" sz="3600"/>
              <a:t> </a:t>
            </a:r>
            <a:r>
              <a:rPr lang="ru-RU" sz="3600">
                <a:solidFill>
                  <a:srgbClr val="C00000"/>
                </a:solidFill>
              </a:rPr>
              <a:t>избыточность</a:t>
            </a:r>
            <a:endParaRPr/>
          </a:p>
          <a:p>
            <a:pPr indent="-228600" lvl="2" marL="1143000" rtl="0" algn="l">
              <a:spcBef>
                <a:spcPts val="450"/>
              </a:spcBef>
              <a:spcAft>
                <a:spcPts val="0"/>
              </a:spcAft>
              <a:buSzPct val="64999"/>
              <a:buFont typeface="Noto Sans Symbols"/>
              <a:buChar char="✔"/>
            </a:pPr>
            <a:r>
              <a:rPr lang="ru-RU" sz="3600">
                <a:solidFill>
                  <a:srgbClr val="000099"/>
                </a:solidFill>
              </a:rPr>
              <a:t> Индексирование</a:t>
            </a:r>
            <a:endParaRPr/>
          </a:p>
          <a:p>
            <a:pPr indent="-228600" lvl="2" marL="1143000" rtl="0" algn="l">
              <a:spcBef>
                <a:spcPts val="450"/>
              </a:spcBef>
              <a:spcAft>
                <a:spcPts val="0"/>
              </a:spcAft>
              <a:buSzPct val="64999"/>
              <a:buFont typeface="Noto Sans Symbols"/>
              <a:buChar char="✔"/>
            </a:pPr>
            <a:r>
              <a:rPr lang="ru-RU" sz="3600">
                <a:solidFill>
                  <a:srgbClr val="000099"/>
                </a:solidFill>
              </a:rPr>
              <a:t> Репликации </a:t>
            </a:r>
            <a:endParaRPr/>
          </a:p>
          <a:p>
            <a:pPr indent="-342900" lvl="0" marL="342900" rtl="0" algn="l">
              <a:spcBef>
                <a:spcPts val="475"/>
              </a:spcBef>
              <a:spcAft>
                <a:spcPts val="0"/>
              </a:spcAft>
              <a:buSzPct val="75000"/>
              <a:buFont typeface="Noto Sans Symbols"/>
              <a:buChar char="❖"/>
            </a:pPr>
            <a:r>
              <a:rPr b="1" lang="ru-RU" sz="3800">
                <a:solidFill>
                  <a:srgbClr val="000099"/>
                </a:solidFill>
              </a:rPr>
              <a:t>Обеспечение целостности данных</a:t>
            </a:r>
            <a:endParaRPr/>
          </a:p>
          <a:p>
            <a:pPr indent="-285750" lvl="1" marL="742950" rtl="0" algn="l">
              <a:spcBef>
                <a:spcPts val="450"/>
              </a:spcBef>
              <a:spcAft>
                <a:spcPts val="0"/>
              </a:spcAft>
              <a:buClr>
                <a:srgbClr val="000099"/>
              </a:buClr>
              <a:buSzPct val="100000"/>
              <a:buFont typeface="Noto Sans Symbols"/>
              <a:buChar char="❑"/>
            </a:pPr>
            <a:r>
              <a:rPr b="1" lang="ru-RU" sz="3000">
                <a:solidFill>
                  <a:srgbClr val="C00000"/>
                </a:solidFill>
              </a:rPr>
              <a:t> </a:t>
            </a:r>
            <a:r>
              <a:rPr lang="ru-RU" sz="3600">
                <a:solidFill>
                  <a:srgbClr val="C00000"/>
                </a:solidFill>
              </a:rPr>
              <a:t>Логическая (ограничения целостности на уровне описания данных)</a:t>
            </a:r>
            <a:endParaRPr/>
          </a:p>
          <a:p>
            <a:pPr indent="-285750" lvl="1" marL="742950" rtl="0" algn="l">
              <a:spcBef>
                <a:spcPts val="450"/>
              </a:spcBef>
              <a:spcAft>
                <a:spcPts val="0"/>
              </a:spcAft>
              <a:buClr>
                <a:srgbClr val="000099"/>
              </a:buClr>
              <a:buSzPct val="100000"/>
              <a:buFont typeface="Noto Sans Symbols"/>
              <a:buChar char="❑"/>
            </a:pPr>
            <a:r>
              <a:rPr lang="ru-RU" sz="3600">
                <a:solidFill>
                  <a:srgbClr val="C00000"/>
                </a:solidFill>
              </a:rPr>
              <a:t> Физическая (backup, recovery</a:t>
            </a:r>
            <a:r>
              <a:rPr b="1" lang="ru-RU" sz="3600">
                <a:solidFill>
                  <a:srgbClr val="C00000"/>
                </a:solidFill>
              </a:rPr>
              <a:t>)</a:t>
            </a:r>
            <a:endParaRPr/>
          </a:p>
          <a:p>
            <a:pPr indent="-342900" lvl="0" marL="342900" rtl="0" algn="l">
              <a:spcBef>
                <a:spcPts val="550"/>
              </a:spcBef>
              <a:spcAft>
                <a:spcPts val="0"/>
              </a:spcAft>
              <a:buSzPct val="75000"/>
              <a:buFont typeface="Noto Sans Symbols"/>
              <a:buChar char="❖"/>
            </a:pPr>
            <a:r>
              <a:rPr b="1" lang="ru-RU" sz="4400">
                <a:solidFill>
                  <a:srgbClr val="000099"/>
                </a:solidFill>
              </a:rPr>
              <a:t>Обеспечение независимости данных</a:t>
            </a:r>
            <a:endParaRPr/>
          </a:p>
          <a:p>
            <a:pPr indent="-285784" lvl="1" marL="742950" rtl="0" algn="l">
              <a:spcBef>
                <a:spcPts val="450"/>
              </a:spcBef>
              <a:spcAft>
                <a:spcPts val="0"/>
              </a:spcAft>
              <a:buClr>
                <a:srgbClr val="000099"/>
              </a:buClr>
              <a:buSzPct val="110000"/>
              <a:buFont typeface="Noto Sans Symbols"/>
              <a:buChar char="❑"/>
            </a:pPr>
            <a:r>
              <a:rPr b="1" lang="ru-RU" sz="2900">
                <a:solidFill>
                  <a:srgbClr val="C00000"/>
                </a:solidFill>
              </a:rPr>
              <a:t>  </a:t>
            </a:r>
            <a:r>
              <a:rPr lang="ru-RU" sz="3600">
                <a:solidFill>
                  <a:srgbClr val="C00000"/>
                </a:solidFill>
              </a:rPr>
              <a:t>Модель представления</a:t>
            </a:r>
            <a:endParaRPr/>
          </a:p>
          <a:p>
            <a:pPr indent="-285750" lvl="1" marL="742950" rtl="0" algn="l">
              <a:spcBef>
                <a:spcPts val="450"/>
              </a:spcBef>
              <a:spcAft>
                <a:spcPts val="0"/>
              </a:spcAft>
              <a:buClr>
                <a:srgbClr val="000099"/>
              </a:buClr>
              <a:buSzPct val="90000"/>
              <a:buFont typeface="Noto Sans Symbols"/>
              <a:buChar char="❑"/>
            </a:pPr>
            <a:r>
              <a:rPr lang="ru-RU" sz="3600">
                <a:solidFill>
                  <a:srgbClr val="C00000"/>
                </a:solidFill>
              </a:rPr>
              <a:t> Модель хранения</a:t>
            </a:r>
            <a:endParaRPr/>
          </a:p>
          <a:p>
            <a:pPr indent="-256603" lvl="0" marL="342900" rtl="0" algn="l">
              <a:spcBef>
                <a:spcPts val="362"/>
              </a:spcBef>
              <a:spcAft>
                <a:spcPts val="0"/>
              </a:spcAft>
              <a:buSzPct val="75000"/>
              <a:buNone/>
            </a:pPr>
            <a:r>
              <a:t/>
            </a:r>
            <a:endParaRPr sz="2900">
              <a:solidFill>
                <a:srgbClr val="C00000"/>
              </a:solidFill>
            </a:endParaRPr>
          </a:p>
          <a:p>
            <a:pPr indent="0" lvl="0" marL="45720" rtl="0" algn="l">
              <a:spcBef>
                <a:spcPts val="325"/>
              </a:spcBef>
              <a:spcAft>
                <a:spcPts val="0"/>
              </a:spcAft>
              <a:buSzPct val="75000"/>
              <a:buNone/>
            </a:pPr>
            <a:r>
              <a:t/>
            </a:r>
            <a:endParaRPr b="1" sz="2600">
              <a:solidFill>
                <a:srgbClr val="000099"/>
              </a:solidFill>
            </a:endParaRPr>
          </a:p>
        </p:txBody>
      </p:sp>
      <p:sp>
        <p:nvSpPr>
          <p:cNvPr id="560" name="Google Shape;560;p28"/>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561" name="Google Shape;561;p28"/>
          <p:cNvSpPr txBox="1"/>
          <p:nvPr/>
        </p:nvSpPr>
        <p:spPr>
          <a:xfrm>
            <a:off x="206515" y="152636"/>
            <a:ext cx="8568952" cy="576064"/>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ctr">
              <a:spcBef>
                <a:spcPts val="0"/>
              </a:spcBef>
              <a:spcAft>
                <a:spcPts val="0"/>
              </a:spcAft>
              <a:buClr>
                <a:srgbClr val="5A5A97"/>
              </a:buClr>
              <a:buSzPct val="128000"/>
              <a:buFont typeface="Georgia"/>
              <a:buNone/>
            </a:pPr>
            <a:r>
              <a:rPr b="1" i="0" lang="ru-RU" sz="4200">
                <a:solidFill>
                  <a:schemeClr val="lt2"/>
                </a:solidFill>
                <a:latin typeface="Arial"/>
                <a:ea typeface="Arial"/>
                <a:cs typeface="Arial"/>
                <a:sym typeface="Arial"/>
              </a:rPr>
              <a:t>Преимущества системы баз данных</a:t>
            </a:r>
            <a:endParaRPr b="1"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9"/>
          <p:cNvSpPr txBox="1"/>
          <p:nvPr>
            <p:ph type="title"/>
          </p:nvPr>
        </p:nvSpPr>
        <p:spPr>
          <a:xfrm>
            <a:off x="521550" y="233645"/>
            <a:ext cx="8229600" cy="4965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ru-RU" sz="3600">
                <a:solidFill>
                  <a:schemeClr val="lt2"/>
                </a:solidFill>
              </a:rPr>
              <a:t>Устранение избыточности</a:t>
            </a:r>
            <a:endParaRPr/>
          </a:p>
        </p:txBody>
      </p:sp>
      <p:sp>
        <p:nvSpPr>
          <p:cNvPr id="567" name="Google Shape;567;p29"/>
          <p:cNvSpPr txBox="1"/>
          <p:nvPr>
            <p:ph idx="1" type="body"/>
          </p:nvPr>
        </p:nvSpPr>
        <p:spPr>
          <a:xfrm>
            <a:off x="116505" y="908720"/>
            <a:ext cx="8910990" cy="5670630"/>
          </a:xfrm>
          <a:prstGeom prst="rect">
            <a:avLst/>
          </a:prstGeom>
          <a:noFill/>
          <a:ln>
            <a:noFill/>
          </a:ln>
        </p:spPr>
        <p:txBody>
          <a:bodyPr anchorCtr="0" anchor="t" bIns="45700" lIns="91425" spcFirstLastPara="1" rIns="91425" wrap="square" tIns="45700">
            <a:normAutofit fontScale="55000" lnSpcReduction="20000"/>
          </a:bodyPr>
          <a:lstStyle/>
          <a:p>
            <a:pPr indent="-285750" lvl="1" marL="742950" rtl="0" algn="l">
              <a:lnSpc>
                <a:spcPct val="120000"/>
              </a:lnSpc>
              <a:spcBef>
                <a:spcPts val="0"/>
              </a:spcBef>
              <a:spcAft>
                <a:spcPts val="0"/>
              </a:spcAft>
              <a:buSzPct val="80000"/>
              <a:buFont typeface="Noto Sans Symbols"/>
              <a:buNone/>
            </a:pPr>
            <a:r>
              <a:rPr lang="ru-RU" sz="2400"/>
              <a:t>Пусть в информационной системе ПРЕДПРИЯТИЯ имеются </a:t>
            </a:r>
            <a:endParaRPr/>
          </a:p>
          <a:p>
            <a:pPr indent="-285750" lvl="1" marL="742950" rtl="0" algn="l">
              <a:lnSpc>
                <a:spcPct val="120000"/>
              </a:lnSpc>
              <a:spcBef>
                <a:spcPts val="264"/>
              </a:spcBef>
              <a:spcAft>
                <a:spcPts val="0"/>
              </a:spcAft>
              <a:buSzPct val="80000"/>
              <a:buFont typeface="Noto Sans Symbols"/>
              <a:buNone/>
            </a:pPr>
            <a:r>
              <a:rPr b="1" lang="ru-RU" sz="2400" u="sng"/>
              <a:t>АС Бухгалтерия</a:t>
            </a:r>
            <a:r>
              <a:rPr lang="ru-RU" sz="2400"/>
              <a:t>  с таблицей:</a:t>
            </a:r>
            <a:br>
              <a:rPr lang="ru-RU" sz="2400"/>
            </a:br>
            <a:r>
              <a:rPr i="1" lang="ru-RU" sz="2400"/>
              <a:t>Расч_листок</a:t>
            </a:r>
            <a:r>
              <a:rPr lang="ru-RU" sz="2400"/>
              <a:t>(</a:t>
            </a:r>
            <a:r>
              <a:rPr lang="ru-RU" sz="2400">
                <a:solidFill>
                  <a:srgbClr val="FF0000"/>
                </a:solidFill>
              </a:rPr>
              <a:t>таб_ном</a:t>
            </a:r>
            <a:r>
              <a:rPr lang="ru-RU" sz="2400"/>
              <a:t>, </a:t>
            </a:r>
            <a:r>
              <a:rPr lang="ru-RU" sz="2400">
                <a:solidFill>
                  <a:srgbClr val="000099"/>
                </a:solidFill>
              </a:rPr>
              <a:t>ФИО</a:t>
            </a:r>
            <a:r>
              <a:rPr lang="ru-RU" sz="2400"/>
              <a:t>, оклад, вид, отраб_вр)</a:t>
            </a:r>
            <a:endParaRPr/>
          </a:p>
          <a:p>
            <a:pPr indent="-285750" lvl="1" marL="742950" rtl="0" algn="l">
              <a:lnSpc>
                <a:spcPct val="120000"/>
              </a:lnSpc>
              <a:spcBef>
                <a:spcPts val="264"/>
              </a:spcBef>
              <a:spcAft>
                <a:spcPts val="0"/>
              </a:spcAft>
              <a:buSzPct val="80000"/>
              <a:buFont typeface="Noto Sans Symbols"/>
              <a:buNone/>
            </a:pPr>
            <a:r>
              <a:rPr b="1" lang="ru-RU" sz="2400" u="sng"/>
              <a:t>АС Отдел кадров</a:t>
            </a:r>
            <a:r>
              <a:rPr lang="ru-RU" sz="2400"/>
              <a:t> с таблицей:</a:t>
            </a:r>
            <a:br>
              <a:rPr lang="ru-RU" sz="2400"/>
            </a:br>
            <a:r>
              <a:rPr i="1" lang="ru-RU" sz="2400"/>
              <a:t>Сотрудник</a:t>
            </a:r>
            <a:r>
              <a:rPr lang="ru-RU" sz="2400"/>
              <a:t>(</a:t>
            </a:r>
            <a:r>
              <a:rPr lang="ru-RU" sz="2400">
                <a:solidFill>
                  <a:srgbClr val="FF0000"/>
                </a:solidFill>
              </a:rPr>
              <a:t>таб_ном</a:t>
            </a:r>
            <a:r>
              <a:rPr lang="ru-RU" sz="2400"/>
              <a:t>, </a:t>
            </a:r>
            <a:r>
              <a:rPr lang="ru-RU" sz="2400">
                <a:solidFill>
                  <a:srgbClr val="000099"/>
                </a:solidFill>
              </a:rPr>
              <a:t>ФИО</a:t>
            </a:r>
            <a:r>
              <a:rPr lang="ru-RU" sz="2400"/>
              <a:t>, </a:t>
            </a:r>
            <a:r>
              <a:rPr lang="ru-RU" sz="2400">
                <a:solidFill>
                  <a:srgbClr val="1717FF"/>
                </a:solidFill>
              </a:rPr>
              <a:t>должность, </a:t>
            </a:r>
            <a:r>
              <a:rPr lang="ru-RU" sz="2400">
                <a:solidFill>
                  <a:srgbClr val="00B050"/>
                </a:solidFill>
              </a:rPr>
              <a:t>назв_отдела</a:t>
            </a:r>
            <a:r>
              <a:rPr lang="ru-RU" sz="2400"/>
              <a:t>)</a:t>
            </a:r>
            <a:endParaRPr/>
          </a:p>
          <a:p>
            <a:pPr indent="-285750" lvl="1" marL="742950" rtl="0" algn="l">
              <a:lnSpc>
                <a:spcPct val="120000"/>
              </a:lnSpc>
              <a:spcBef>
                <a:spcPts val="264"/>
              </a:spcBef>
              <a:spcAft>
                <a:spcPts val="0"/>
              </a:spcAft>
              <a:buSzPct val="80000"/>
              <a:buFont typeface="Noto Sans Symbols"/>
              <a:buNone/>
            </a:pPr>
            <a:r>
              <a:rPr i="1" lang="ru-RU" sz="2400">
                <a:solidFill>
                  <a:srgbClr val="002060"/>
                </a:solidFill>
              </a:rPr>
              <a:t>Пример данных в таблицах</a:t>
            </a:r>
            <a:endParaRPr/>
          </a:p>
          <a:p>
            <a:pPr indent="0" lvl="1" marL="0" rtl="0" algn="l">
              <a:lnSpc>
                <a:spcPct val="120000"/>
              </a:lnSpc>
              <a:spcBef>
                <a:spcPts val="275"/>
              </a:spcBef>
              <a:spcAft>
                <a:spcPts val="0"/>
              </a:spcAft>
              <a:buSzPct val="80000"/>
              <a:buFont typeface="Noto Sans Symbols"/>
              <a:buNone/>
            </a:pPr>
            <a:r>
              <a:rPr lang="ru-RU" sz="2500" u="sng"/>
              <a:t>Расчетный листок</a:t>
            </a:r>
            <a:r>
              <a:rPr lang="ru-RU" sz="2500"/>
              <a:t>: 	1002, “Иванов Иван Иванович”, 35000, “ПВ”, 22</a:t>
            </a:r>
            <a:endParaRPr sz="2500" u="sng"/>
          </a:p>
          <a:p>
            <a:pPr indent="0" lvl="1" marL="0" rtl="0" algn="l">
              <a:lnSpc>
                <a:spcPct val="120000"/>
              </a:lnSpc>
              <a:spcBef>
                <a:spcPts val="275"/>
              </a:spcBef>
              <a:spcAft>
                <a:spcPts val="0"/>
              </a:spcAft>
              <a:buSzPct val="80000"/>
              <a:buNone/>
            </a:pPr>
            <a:r>
              <a:rPr lang="ru-RU" sz="2500" u="sng"/>
              <a:t>Сотрудник: </a:t>
            </a:r>
            <a:endParaRPr/>
          </a:p>
          <a:p>
            <a:pPr indent="0" lvl="1" marL="0" rtl="0" algn="l">
              <a:lnSpc>
                <a:spcPct val="120000"/>
              </a:lnSpc>
              <a:spcBef>
                <a:spcPts val="275"/>
              </a:spcBef>
              <a:spcAft>
                <a:spcPts val="0"/>
              </a:spcAft>
              <a:buSzPct val="80000"/>
              <a:buNone/>
            </a:pPr>
            <a:r>
              <a:rPr lang="ru-RU" sz="2500"/>
              <a:t>	1002, “Иванов Иван Иванович”, “программист”, “лаборатория информационных систем”</a:t>
            </a:r>
            <a:endParaRPr sz="2500"/>
          </a:p>
          <a:p>
            <a:pPr indent="0" lvl="1" marL="0" rtl="0" algn="l">
              <a:lnSpc>
                <a:spcPct val="120000"/>
              </a:lnSpc>
              <a:spcBef>
                <a:spcPts val="220"/>
              </a:spcBef>
              <a:spcAft>
                <a:spcPts val="0"/>
              </a:spcAft>
              <a:buSzPct val="80000"/>
              <a:buNone/>
            </a:pPr>
            <a:r>
              <a:t/>
            </a:r>
            <a:endParaRPr sz="2000"/>
          </a:p>
          <a:p>
            <a:pPr indent="0" lvl="1" marL="0" rtl="0" algn="l">
              <a:lnSpc>
                <a:spcPct val="120000"/>
              </a:lnSpc>
              <a:spcBef>
                <a:spcPts val="264"/>
              </a:spcBef>
              <a:spcAft>
                <a:spcPts val="0"/>
              </a:spcAft>
              <a:buSzPct val="80000"/>
              <a:buNone/>
            </a:pPr>
            <a:r>
              <a:rPr lang="ru-RU" sz="2400"/>
              <a:t>Для устранения избыточности сделаем преобразования структур имеющихся таблиц и введем новые</a:t>
            </a:r>
            <a:endParaRPr/>
          </a:p>
          <a:p>
            <a:pPr indent="-285750" lvl="1" marL="742950" rtl="0" algn="l">
              <a:lnSpc>
                <a:spcPct val="120000"/>
              </a:lnSpc>
              <a:spcBef>
                <a:spcPts val="264"/>
              </a:spcBef>
              <a:spcAft>
                <a:spcPts val="0"/>
              </a:spcAft>
              <a:buSzPct val="80000"/>
              <a:buNone/>
            </a:pPr>
            <a:r>
              <a:t/>
            </a:r>
            <a:endParaRPr sz="2400"/>
          </a:p>
          <a:p>
            <a:pPr indent="-285750" lvl="1" marL="742950" rtl="0" algn="l">
              <a:lnSpc>
                <a:spcPct val="120000"/>
              </a:lnSpc>
              <a:spcBef>
                <a:spcPts val="286"/>
              </a:spcBef>
              <a:spcAft>
                <a:spcPts val="0"/>
              </a:spcAft>
              <a:buSzPct val="79999"/>
              <a:buNone/>
            </a:pPr>
            <a:r>
              <a:rPr lang="ru-RU" sz="2600">
                <a:solidFill>
                  <a:srgbClr val="00B050"/>
                </a:solidFill>
              </a:rPr>
              <a:t>Отдел </a:t>
            </a:r>
            <a:r>
              <a:rPr lang="ru-RU" sz="2600"/>
              <a:t>(</a:t>
            </a:r>
            <a:r>
              <a:rPr lang="ru-RU" sz="2600" u="sng">
                <a:solidFill>
                  <a:srgbClr val="FF0000"/>
                </a:solidFill>
              </a:rPr>
              <a:t>ном_отдела</a:t>
            </a:r>
            <a:r>
              <a:rPr lang="ru-RU" sz="2600"/>
              <a:t>, назв_отдела)</a:t>
            </a:r>
            <a:endParaRPr sz="2600"/>
          </a:p>
          <a:p>
            <a:pPr indent="-285750" lvl="1" marL="742950" rtl="0" algn="l">
              <a:lnSpc>
                <a:spcPct val="120000"/>
              </a:lnSpc>
              <a:spcBef>
                <a:spcPts val="286"/>
              </a:spcBef>
              <a:spcAft>
                <a:spcPts val="0"/>
              </a:spcAft>
              <a:buSzPct val="79999"/>
              <a:buNone/>
            </a:pPr>
            <a:r>
              <a:rPr lang="ru-RU" sz="2600"/>
              <a:t>                     2             лаборатория информационных систем </a:t>
            </a:r>
            <a:endParaRPr/>
          </a:p>
          <a:p>
            <a:pPr indent="-285750" lvl="1" marL="742950" rtl="0" algn="l">
              <a:lnSpc>
                <a:spcPct val="120000"/>
              </a:lnSpc>
              <a:spcBef>
                <a:spcPts val="286"/>
              </a:spcBef>
              <a:spcAft>
                <a:spcPts val="0"/>
              </a:spcAft>
              <a:buSzPct val="79999"/>
              <a:buNone/>
            </a:pPr>
            <a:r>
              <a:t/>
            </a:r>
            <a:endParaRPr sz="2600"/>
          </a:p>
          <a:p>
            <a:pPr indent="-285750" lvl="1" marL="742950" rtl="0" algn="l">
              <a:lnSpc>
                <a:spcPct val="120000"/>
              </a:lnSpc>
              <a:spcBef>
                <a:spcPts val="286"/>
              </a:spcBef>
              <a:spcAft>
                <a:spcPts val="0"/>
              </a:spcAft>
              <a:buSzPct val="79999"/>
              <a:buNone/>
            </a:pPr>
            <a:r>
              <a:rPr lang="ru-RU" sz="2600">
                <a:solidFill>
                  <a:srgbClr val="1717FF"/>
                </a:solidFill>
              </a:rPr>
              <a:t>Должность</a:t>
            </a:r>
            <a:r>
              <a:rPr lang="ru-RU" sz="2600"/>
              <a:t>(</a:t>
            </a:r>
            <a:r>
              <a:rPr lang="ru-RU" sz="2600" u="sng">
                <a:solidFill>
                  <a:srgbClr val="FF0000"/>
                </a:solidFill>
              </a:rPr>
              <a:t>ном_долж</a:t>
            </a:r>
            <a:r>
              <a:rPr lang="ru-RU" sz="2600"/>
              <a:t>, наименование)</a:t>
            </a:r>
            <a:endParaRPr/>
          </a:p>
          <a:p>
            <a:pPr indent="-285750" lvl="1" marL="742950" rtl="0" algn="l">
              <a:lnSpc>
                <a:spcPct val="120000"/>
              </a:lnSpc>
              <a:spcBef>
                <a:spcPts val="286"/>
              </a:spcBef>
              <a:spcAft>
                <a:spcPts val="0"/>
              </a:spcAft>
              <a:buSzPct val="79999"/>
              <a:buNone/>
            </a:pPr>
            <a:r>
              <a:rPr lang="ru-RU" sz="2600"/>
              <a:t>                       15             программист</a:t>
            </a:r>
            <a:endParaRPr/>
          </a:p>
          <a:p>
            <a:pPr indent="-285750" lvl="1" marL="742950" rtl="0" algn="l">
              <a:lnSpc>
                <a:spcPct val="120000"/>
              </a:lnSpc>
              <a:spcBef>
                <a:spcPts val="286"/>
              </a:spcBef>
              <a:spcAft>
                <a:spcPts val="0"/>
              </a:spcAft>
              <a:buSzPct val="79999"/>
              <a:buNone/>
            </a:pPr>
            <a:r>
              <a:t/>
            </a:r>
            <a:endParaRPr sz="2600"/>
          </a:p>
          <a:p>
            <a:pPr indent="-285750" lvl="1" marL="742950" rtl="0" algn="l">
              <a:lnSpc>
                <a:spcPct val="120000"/>
              </a:lnSpc>
              <a:spcBef>
                <a:spcPts val="286"/>
              </a:spcBef>
              <a:spcAft>
                <a:spcPts val="0"/>
              </a:spcAft>
              <a:buSzPct val="79999"/>
              <a:buFont typeface="Noto Sans Symbols"/>
              <a:buNone/>
            </a:pPr>
            <a:r>
              <a:rPr lang="ru-RU" sz="2600"/>
              <a:t>Сотрудник (</a:t>
            </a:r>
            <a:r>
              <a:rPr lang="ru-RU" sz="2600" u="sng">
                <a:solidFill>
                  <a:srgbClr val="FF0000"/>
                </a:solidFill>
              </a:rPr>
              <a:t>таб_ном</a:t>
            </a:r>
            <a:r>
              <a:rPr lang="ru-RU" sz="2600"/>
              <a:t>, 	ФИО, 	           ном_долж,  ном_отдела)</a:t>
            </a:r>
            <a:endParaRPr sz="2600"/>
          </a:p>
          <a:p>
            <a:pPr indent="-285750" lvl="1" marL="742950" rtl="0" algn="l">
              <a:lnSpc>
                <a:spcPct val="120000"/>
              </a:lnSpc>
              <a:spcBef>
                <a:spcPts val="286"/>
              </a:spcBef>
              <a:spcAft>
                <a:spcPts val="0"/>
              </a:spcAft>
              <a:buSzPct val="79999"/>
              <a:buNone/>
            </a:pPr>
            <a:r>
              <a:rPr lang="ru-RU" sz="2600"/>
              <a:t>                     1002       Иванов Иван Иванович         15              2</a:t>
            </a:r>
            <a:endParaRPr sz="2600"/>
          </a:p>
          <a:p>
            <a:pPr indent="-285750" lvl="1" marL="742950" rtl="0" algn="l">
              <a:lnSpc>
                <a:spcPct val="120000"/>
              </a:lnSpc>
              <a:spcBef>
                <a:spcPts val="286"/>
              </a:spcBef>
              <a:spcAft>
                <a:spcPts val="0"/>
              </a:spcAft>
              <a:buSzPct val="79999"/>
              <a:buNone/>
            </a:pPr>
            <a:r>
              <a:t/>
            </a:r>
            <a:endParaRPr sz="2600"/>
          </a:p>
          <a:p>
            <a:pPr indent="-285750" lvl="1" marL="742950" rtl="0" algn="l">
              <a:lnSpc>
                <a:spcPct val="120000"/>
              </a:lnSpc>
              <a:spcBef>
                <a:spcPts val="286"/>
              </a:spcBef>
              <a:spcAft>
                <a:spcPts val="0"/>
              </a:spcAft>
              <a:buSzPct val="79999"/>
              <a:buFont typeface="Noto Sans Symbols"/>
              <a:buNone/>
            </a:pPr>
            <a:r>
              <a:rPr lang="ru-RU" sz="2600"/>
              <a:t>Расч_листок(</a:t>
            </a:r>
            <a:r>
              <a:rPr lang="ru-RU" sz="2600" u="sng">
                <a:solidFill>
                  <a:srgbClr val="FF0000"/>
                </a:solidFill>
              </a:rPr>
              <a:t>таб_ном</a:t>
            </a:r>
            <a:r>
              <a:rPr lang="ru-RU" sz="2600"/>
              <a:t>,  оклад,   вид,  отраб_вр)</a:t>
            </a:r>
            <a:endParaRPr sz="2600"/>
          </a:p>
          <a:p>
            <a:pPr indent="-285750" lvl="1" marL="742950" rtl="0" algn="l">
              <a:lnSpc>
                <a:spcPct val="120000"/>
              </a:lnSpc>
              <a:spcBef>
                <a:spcPts val="286"/>
              </a:spcBef>
              <a:spcAft>
                <a:spcPts val="0"/>
              </a:spcAft>
              <a:buSzPct val="79999"/>
              <a:buNone/>
            </a:pPr>
            <a:r>
              <a:rPr lang="ru-RU" sz="2600"/>
              <a:t>                        1002        35000,   ПВ,      22</a:t>
            </a:r>
            <a:endParaRPr/>
          </a:p>
        </p:txBody>
      </p:sp>
      <p:sp>
        <p:nvSpPr>
          <p:cNvPr id="568" name="Google Shape;568;p29"/>
          <p:cNvSpPr txBox="1"/>
          <p:nvPr>
            <p:ph idx="12" type="sldNum"/>
          </p:nvPr>
        </p:nvSpPr>
        <p:spPr>
          <a:xfrm>
            <a:off x="8127394" y="6248400"/>
            <a:ext cx="559405"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19" st="1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xEl>
                                              <p:pRg end="20" st="2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0"/>
          <p:cNvSpPr txBox="1"/>
          <p:nvPr>
            <p:ph idx="1" type="body"/>
          </p:nvPr>
        </p:nvSpPr>
        <p:spPr>
          <a:xfrm>
            <a:off x="107504" y="1196752"/>
            <a:ext cx="8784976" cy="5256584"/>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10000"/>
              </a:lnSpc>
              <a:spcBef>
                <a:spcPts val="0"/>
              </a:spcBef>
              <a:spcAft>
                <a:spcPts val="0"/>
              </a:spcAft>
              <a:buSzPct val="100000"/>
              <a:buFont typeface="Noto Sans Symbols"/>
              <a:buChar char="❖"/>
            </a:pPr>
            <a:r>
              <a:rPr b="1" lang="ru-RU" sz="2400">
                <a:solidFill>
                  <a:srgbClr val="000099"/>
                </a:solidFill>
              </a:rPr>
              <a:t> </a:t>
            </a:r>
            <a:r>
              <a:rPr lang="ru-RU" sz="3200">
                <a:solidFill>
                  <a:srgbClr val="000099"/>
                </a:solidFill>
              </a:rPr>
              <a:t>Общий доступ к данным для  пользователям  </a:t>
            </a:r>
            <a:endParaRPr/>
          </a:p>
          <a:p>
            <a:pPr indent="-285781" lvl="1" marL="742950" rtl="0" algn="l">
              <a:lnSpc>
                <a:spcPct val="110000"/>
              </a:lnSpc>
              <a:spcBef>
                <a:spcPts val="518"/>
              </a:spcBef>
              <a:spcAft>
                <a:spcPts val="0"/>
              </a:spcAft>
              <a:buClr>
                <a:srgbClr val="000099"/>
              </a:buClr>
              <a:buSzPct val="100000"/>
              <a:buFont typeface="Noto Sans Symbols"/>
              <a:buChar char="❑"/>
            </a:pPr>
            <a:r>
              <a:rPr lang="ru-RU" sz="2300">
                <a:solidFill>
                  <a:srgbClr val="000099"/>
                </a:solidFill>
              </a:rPr>
              <a:t> </a:t>
            </a:r>
            <a:r>
              <a:rPr lang="ru-RU" sz="2800">
                <a:solidFill>
                  <a:srgbClr val="C00000"/>
                </a:solidFill>
              </a:rPr>
              <a:t>Новые приложения, разные интерфейсы для разных пользователей</a:t>
            </a:r>
            <a:endParaRPr/>
          </a:p>
          <a:p>
            <a:pPr indent="-285750" lvl="1" marL="742950" rtl="0" algn="l">
              <a:lnSpc>
                <a:spcPct val="110000"/>
              </a:lnSpc>
              <a:spcBef>
                <a:spcPts val="518"/>
              </a:spcBef>
              <a:spcAft>
                <a:spcPts val="0"/>
              </a:spcAft>
              <a:buClr>
                <a:srgbClr val="000099"/>
              </a:buClr>
              <a:buSzPct val="100000"/>
              <a:buFont typeface="Noto Sans Symbols"/>
              <a:buChar char="❑"/>
            </a:pPr>
            <a:r>
              <a:rPr lang="ru-RU" sz="2800">
                <a:solidFill>
                  <a:srgbClr val="C00000"/>
                </a:solidFill>
              </a:rPr>
              <a:t> Представление сложных связей между данными</a:t>
            </a:r>
            <a:endParaRPr/>
          </a:p>
          <a:p>
            <a:pPr indent="-342900" lvl="0" marL="342900" rtl="0" algn="l">
              <a:lnSpc>
                <a:spcPct val="110000"/>
              </a:lnSpc>
              <a:spcBef>
                <a:spcPts val="592"/>
              </a:spcBef>
              <a:spcAft>
                <a:spcPts val="0"/>
              </a:spcAft>
              <a:buSzPct val="75000"/>
              <a:buFont typeface="Noto Sans Symbols"/>
              <a:buChar char="❖"/>
            </a:pPr>
            <a:r>
              <a:rPr lang="ru-RU" sz="3200">
                <a:solidFill>
                  <a:srgbClr val="000099"/>
                </a:solidFill>
              </a:rPr>
              <a:t>Обеспечение мультидоступа (корректность выполнения запросов)</a:t>
            </a:r>
            <a:endParaRPr/>
          </a:p>
          <a:p>
            <a:pPr indent="-342900" lvl="0" marL="342900" rtl="0" algn="l">
              <a:lnSpc>
                <a:spcPct val="110000"/>
              </a:lnSpc>
              <a:spcBef>
                <a:spcPts val="592"/>
              </a:spcBef>
              <a:spcAft>
                <a:spcPts val="0"/>
              </a:spcAft>
              <a:buSzPct val="75000"/>
              <a:buFont typeface="Noto Sans Symbols"/>
              <a:buChar char="❖"/>
            </a:pPr>
            <a:r>
              <a:rPr lang="ru-RU" sz="3200">
                <a:solidFill>
                  <a:srgbClr val="000099"/>
                </a:solidFill>
              </a:rPr>
              <a:t>Обеспечение безопасности (ограничение неавторизованного доступа)</a:t>
            </a:r>
            <a:endParaRPr/>
          </a:p>
          <a:p>
            <a:pPr indent="-342900" lvl="0" marL="342900" rtl="0" algn="l">
              <a:lnSpc>
                <a:spcPct val="110000"/>
              </a:lnSpc>
              <a:spcBef>
                <a:spcPts val="592"/>
              </a:spcBef>
              <a:spcAft>
                <a:spcPts val="0"/>
              </a:spcAft>
              <a:buSzPct val="75000"/>
              <a:buFont typeface="Noto Sans Symbols"/>
              <a:buChar char="❖"/>
            </a:pPr>
            <a:r>
              <a:rPr lang="ru-RU" sz="3200">
                <a:solidFill>
                  <a:srgbClr val="000099"/>
                </a:solidFill>
              </a:rPr>
              <a:t> Действия над данными с помощью дедуктивных и активных правил</a:t>
            </a:r>
            <a:endParaRPr/>
          </a:p>
        </p:txBody>
      </p:sp>
      <p:sp>
        <p:nvSpPr>
          <p:cNvPr id="574" name="Google Shape;574;p30"/>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575" name="Google Shape;575;p30"/>
          <p:cNvSpPr txBox="1"/>
          <p:nvPr/>
        </p:nvSpPr>
        <p:spPr>
          <a:xfrm>
            <a:off x="323528" y="321990"/>
            <a:ext cx="8568952" cy="795610"/>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ctr">
              <a:spcBef>
                <a:spcPts val="0"/>
              </a:spcBef>
              <a:spcAft>
                <a:spcPts val="0"/>
              </a:spcAft>
              <a:buClr>
                <a:srgbClr val="5A5A97"/>
              </a:buClr>
              <a:buSzPct val="128000"/>
              <a:buFont typeface="Georgia"/>
              <a:buNone/>
            </a:pPr>
            <a:r>
              <a:rPr b="1" i="0" lang="ru-RU" sz="4200">
                <a:solidFill>
                  <a:schemeClr val="lt2"/>
                </a:solidFill>
                <a:latin typeface="Arial"/>
                <a:ea typeface="Arial"/>
                <a:cs typeface="Arial"/>
                <a:sym typeface="Arial"/>
              </a:rPr>
              <a:t>Преимущества системы баз данных</a:t>
            </a:r>
            <a:endParaRPr b="1"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31"/>
          <p:cNvSpPr txBox="1"/>
          <p:nvPr>
            <p:ph idx="1" type="body"/>
          </p:nvPr>
        </p:nvSpPr>
        <p:spPr>
          <a:xfrm>
            <a:off x="107504" y="1196752"/>
            <a:ext cx="8731696" cy="538819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00"/>
              <a:buFont typeface="Noto Sans Symbols"/>
              <a:buChar char="❖"/>
            </a:pPr>
            <a:r>
              <a:rPr lang="ru-RU" sz="2800">
                <a:solidFill>
                  <a:srgbClr val="000099"/>
                </a:solidFill>
              </a:rPr>
              <a:t>Потенциал для обеспечения соблюдения стандартов:</a:t>
            </a:r>
            <a:endParaRPr/>
          </a:p>
          <a:p>
            <a:pPr indent="-285750" lvl="1" marL="742950" rtl="0" algn="l">
              <a:spcBef>
                <a:spcPts val="520"/>
              </a:spcBef>
              <a:spcAft>
                <a:spcPts val="0"/>
              </a:spcAft>
              <a:buClr>
                <a:srgbClr val="000099"/>
              </a:buClr>
              <a:buSzPts val="2600"/>
              <a:buFont typeface="Noto Sans Symbols"/>
              <a:buChar char="❑"/>
            </a:pPr>
            <a:r>
              <a:rPr lang="ru-RU" sz="2600">
                <a:solidFill>
                  <a:srgbClr val="C00000"/>
                </a:solidFill>
              </a:rPr>
              <a:t> </a:t>
            </a:r>
            <a:r>
              <a:rPr lang="ru-RU" sz="2400"/>
              <a:t>Очень важно для успеха приложений баз данных в крупных организациях. </a:t>
            </a:r>
            <a:br>
              <a:rPr lang="ru-RU" sz="2400"/>
            </a:br>
            <a:r>
              <a:rPr lang="ru-RU" sz="2400"/>
              <a:t>Стандарты применяются к данным, именам элементов, форматам отображения, экранным формам, структурам отчетов, мета-данные (описание данных), макеты веб-страниц и т.д.</a:t>
            </a:r>
            <a:endParaRPr/>
          </a:p>
          <a:p>
            <a:pPr indent="-342900" lvl="0" marL="342900" rtl="0" algn="l">
              <a:spcBef>
                <a:spcPts val="560"/>
              </a:spcBef>
              <a:spcAft>
                <a:spcPts val="0"/>
              </a:spcAft>
              <a:buSzPts val="2100"/>
              <a:buFont typeface="Noto Sans Symbols"/>
              <a:buChar char="❖"/>
            </a:pPr>
            <a:r>
              <a:rPr lang="ru-RU" sz="2800">
                <a:solidFill>
                  <a:srgbClr val="000099"/>
                </a:solidFill>
              </a:rPr>
              <a:t>Сокращение времени разработки приложений:</a:t>
            </a:r>
            <a:endParaRPr/>
          </a:p>
          <a:p>
            <a:pPr indent="-285750" lvl="1" marL="742950" rtl="0" algn="l">
              <a:spcBef>
                <a:spcPts val="480"/>
              </a:spcBef>
              <a:spcAft>
                <a:spcPts val="0"/>
              </a:spcAft>
              <a:buClr>
                <a:srgbClr val="000099"/>
              </a:buClr>
              <a:buSzPts val="1920"/>
              <a:buFont typeface="Noto Sans Symbols"/>
              <a:buChar char="❑"/>
            </a:pPr>
            <a:r>
              <a:rPr lang="ru-RU" sz="2400"/>
              <a:t>Время добавления каждого нового приложения снижается</a:t>
            </a:r>
            <a:r>
              <a:rPr lang="ru-RU" sz="2400">
                <a:solidFill>
                  <a:srgbClr val="C00000"/>
                </a:solidFill>
              </a:rPr>
              <a:t>.</a:t>
            </a:r>
            <a:endParaRPr/>
          </a:p>
        </p:txBody>
      </p:sp>
      <p:sp>
        <p:nvSpPr>
          <p:cNvPr id="582" name="Google Shape;582;p3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583" name="Google Shape;583;p31"/>
          <p:cNvSpPr txBox="1"/>
          <p:nvPr/>
        </p:nvSpPr>
        <p:spPr>
          <a:xfrm>
            <a:off x="323528" y="188640"/>
            <a:ext cx="8568952" cy="936104"/>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ctr">
              <a:spcBef>
                <a:spcPts val="0"/>
              </a:spcBef>
              <a:spcAft>
                <a:spcPts val="0"/>
              </a:spcAft>
              <a:buClr>
                <a:srgbClr val="5A5A97"/>
              </a:buClr>
              <a:buSzPct val="128000"/>
              <a:buFont typeface="Georgia"/>
              <a:buNone/>
            </a:pPr>
            <a:r>
              <a:rPr b="1" i="0" lang="ru-RU" sz="4200">
                <a:solidFill>
                  <a:schemeClr val="lt2"/>
                </a:solidFill>
                <a:latin typeface="Arial"/>
                <a:ea typeface="Arial"/>
                <a:cs typeface="Arial"/>
                <a:sym typeface="Arial"/>
              </a:rPr>
              <a:t>Преимущества системы баз данных</a:t>
            </a:r>
            <a:endParaRPr b="1"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2"/>
          <p:cNvSpPr txBox="1"/>
          <p:nvPr>
            <p:ph idx="1" type="body"/>
          </p:nvPr>
        </p:nvSpPr>
        <p:spPr>
          <a:xfrm>
            <a:off x="107504" y="1196752"/>
            <a:ext cx="8784976" cy="532859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100"/>
              <a:buFont typeface="Noto Sans Symbols"/>
              <a:buChar char="❖"/>
            </a:pPr>
            <a:r>
              <a:rPr lang="ru-RU" sz="2800">
                <a:solidFill>
                  <a:srgbClr val="000099"/>
                </a:solidFill>
              </a:rPr>
              <a:t>Гибкость при изменении структуры данных:</a:t>
            </a:r>
            <a:endParaRPr/>
          </a:p>
          <a:p>
            <a:pPr indent="-285750" lvl="1" marL="742950" rtl="0" algn="l">
              <a:spcBef>
                <a:spcPts val="520"/>
              </a:spcBef>
              <a:spcAft>
                <a:spcPts val="0"/>
              </a:spcAft>
              <a:buClr>
                <a:srgbClr val="000099"/>
              </a:buClr>
              <a:buSzPts val="2400"/>
              <a:buFont typeface="Noto Sans Symbols"/>
              <a:buChar char="❑"/>
            </a:pPr>
            <a:r>
              <a:rPr lang="ru-RU" sz="2400"/>
              <a:t>Структура базы данных может развиваться под новые требования</a:t>
            </a:r>
            <a:r>
              <a:rPr lang="ru-RU" sz="2600"/>
              <a:t>.</a:t>
            </a:r>
            <a:endParaRPr/>
          </a:p>
          <a:p>
            <a:pPr indent="-342900" lvl="0" marL="342900" rtl="0" algn="l">
              <a:spcBef>
                <a:spcPts val="560"/>
              </a:spcBef>
              <a:spcAft>
                <a:spcPts val="0"/>
              </a:spcAft>
              <a:buSzPts val="2100"/>
              <a:buFont typeface="Noto Sans Symbols"/>
              <a:buChar char="❖"/>
            </a:pPr>
            <a:r>
              <a:rPr lang="ru-RU" sz="2800">
                <a:solidFill>
                  <a:srgbClr val="000099"/>
                </a:solidFill>
              </a:rPr>
              <a:t> Доступность текущего состояния информации:</a:t>
            </a:r>
            <a:endParaRPr/>
          </a:p>
          <a:p>
            <a:pPr indent="-285750" lvl="1" marL="742950" rtl="0" algn="l">
              <a:spcBef>
                <a:spcPts val="520"/>
              </a:spcBef>
              <a:spcAft>
                <a:spcPts val="0"/>
              </a:spcAft>
              <a:buClr>
                <a:srgbClr val="000099"/>
              </a:buClr>
              <a:buSzPts val="2600"/>
              <a:buFont typeface="Noto Sans Symbols"/>
              <a:buChar char="❑"/>
            </a:pPr>
            <a:r>
              <a:rPr lang="ru-RU" sz="2600">
                <a:solidFill>
                  <a:srgbClr val="C00000"/>
                </a:solidFill>
              </a:rPr>
              <a:t> </a:t>
            </a:r>
            <a:r>
              <a:rPr lang="ru-RU" sz="2400"/>
              <a:t>Важно для он-лайн систем таких организаций как авиакомпании, железнодорожные перевозки, гостиницы и т.д</a:t>
            </a:r>
            <a:r>
              <a:rPr lang="ru-RU" sz="2600">
                <a:solidFill>
                  <a:srgbClr val="C00000"/>
                </a:solidFill>
              </a:rPr>
              <a:t>.</a:t>
            </a:r>
            <a:endParaRPr/>
          </a:p>
          <a:p>
            <a:pPr indent="-342900" lvl="0" marL="342900" rtl="0" algn="l">
              <a:spcBef>
                <a:spcPts val="560"/>
              </a:spcBef>
              <a:spcAft>
                <a:spcPts val="0"/>
              </a:spcAft>
              <a:buSzPts val="2100"/>
              <a:buFont typeface="Noto Sans Symbols"/>
              <a:buChar char="❖"/>
            </a:pPr>
            <a:r>
              <a:rPr lang="ru-RU" sz="2800">
                <a:solidFill>
                  <a:srgbClr val="000099"/>
                </a:solidFill>
              </a:rPr>
              <a:t>Эффект масштаба:</a:t>
            </a:r>
            <a:endParaRPr/>
          </a:p>
          <a:p>
            <a:pPr indent="-285750" lvl="1" marL="742950" rtl="0" algn="l">
              <a:spcBef>
                <a:spcPts val="520"/>
              </a:spcBef>
              <a:spcAft>
                <a:spcPts val="0"/>
              </a:spcAft>
              <a:buClr>
                <a:srgbClr val="000099"/>
              </a:buClr>
              <a:buSzPts val="2400"/>
              <a:buFont typeface="Noto Sans Symbols"/>
              <a:buChar char="❑"/>
            </a:pPr>
            <a:r>
              <a:rPr lang="ru-RU" sz="2400">
                <a:solidFill>
                  <a:srgbClr val="C00000"/>
                </a:solidFill>
              </a:rPr>
              <a:t> </a:t>
            </a:r>
            <a:r>
              <a:rPr lang="ru-RU" sz="2400"/>
              <a:t>Расточительное дублирование ресурсов и персонала можно избежать за счет консолидации данных и приложений между департаментами</a:t>
            </a:r>
            <a:r>
              <a:rPr lang="ru-RU" sz="2600">
                <a:solidFill>
                  <a:srgbClr val="000099"/>
                </a:solidFill>
              </a:rPr>
              <a:t>.</a:t>
            </a:r>
            <a:endParaRPr>
              <a:solidFill>
                <a:srgbClr val="C00000"/>
              </a:solidFill>
            </a:endParaRPr>
          </a:p>
        </p:txBody>
      </p:sp>
      <p:sp>
        <p:nvSpPr>
          <p:cNvPr id="590" name="Google Shape;590;p32"/>
          <p:cNvSpPr txBox="1"/>
          <p:nvPr>
            <p:ph idx="12" type="sldNum"/>
          </p:nvPr>
        </p:nvSpPr>
        <p:spPr>
          <a:xfrm>
            <a:off x="8244408" y="6165304"/>
            <a:ext cx="676672" cy="50405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591" name="Google Shape;591;p32"/>
          <p:cNvSpPr txBox="1"/>
          <p:nvPr/>
        </p:nvSpPr>
        <p:spPr>
          <a:xfrm>
            <a:off x="323528" y="188640"/>
            <a:ext cx="8568952" cy="936104"/>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Дополнительные последствия использования системы баз данных</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3"/>
          <p:cNvSpPr txBox="1"/>
          <p:nvPr>
            <p:ph idx="1" type="body"/>
          </p:nvPr>
        </p:nvSpPr>
        <p:spPr>
          <a:xfrm>
            <a:off x="107504" y="1196752"/>
            <a:ext cx="8784976" cy="532859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00"/>
              <a:buFont typeface="Noto Sans Symbols"/>
              <a:buChar char="❖"/>
            </a:pPr>
            <a:r>
              <a:rPr lang="ru-RU" sz="2800">
                <a:solidFill>
                  <a:srgbClr val="000099"/>
                </a:solidFill>
              </a:rPr>
              <a:t>Ранние приложения с базами данных</a:t>
            </a:r>
            <a:endParaRPr/>
          </a:p>
          <a:p>
            <a:pPr indent="-285750" lvl="1" marL="742950" rtl="0" algn="l">
              <a:spcBef>
                <a:spcPts val="520"/>
              </a:spcBef>
              <a:spcAft>
                <a:spcPts val="0"/>
              </a:spcAft>
              <a:buClr>
                <a:srgbClr val="000099"/>
              </a:buClr>
              <a:buSzPts val="2600"/>
              <a:buFont typeface="Noto Sans Symbols"/>
              <a:buChar char="❑"/>
            </a:pPr>
            <a:r>
              <a:rPr lang="ru-RU" sz="2600"/>
              <a:t>Иерархические и сетевые модели появились в середине 1960-х и преобладали до 70-х годов 20 столетия</a:t>
            </a:r>
            <a:endParaRPr/>
          </a:p>
          <a:p>
            <a:pPr indent="-285750" lvl="1" marL="742950" rtl="0" algn="l">
              <a:spcBef>
                <a:spcPts val="520"/>
              </a:spcBef>
              <a:spcAft>
                <a:spcPts val="0"/>
              </a:spcAft>
              <a:buClr>
                <a:srgbClr val="000099"/>
              </a:buClr>
              <a:buSzPts val="2600"/>
              <a:buFont typeface="Noto Sans Symbols"/>
              <a:buChar char="❑"/>
            </a:pPr>
            <a:r>
              <a:rPr lang="ru-RU" sz="2600"/>
              <a:t>Большое количество работающих систем во всем мире все еще используют эти модели, особенно иерархическую</a:t>
            </a:r>
            <a:endParaRPr/>
          </a:p>
          <a:p>
            <a:pPr indent="-342900" lvl="0" marL="342900" rtl="0" algn="l">
              <a:spcBef>
                <a:spcPts val="560"/>
              </a:spcBef>
              <a:spcAft>
                <a:spcPts val="0"/>
              </a:spcAft>
              <a:buSzPts val="2100"/>
              <a:buFont typeface="Noto Sans Symbols"/>
              <a:buChar char="❖"/>
            </a:pPr>
            <a:r>
              <a:rPr lang="ru-RU" sz="2800">
                <a:solidFill>
                  <a:srgbClr val="000099"/>
                </a:solidFill>
              </a:rPr>
              <a:t> Реляционная модель данных:</a:t>
            </a:r>
            <a:endParaRPr/>
          </a:p>
          <a:p>
            <a:pPr indent="-285750" lvl="1" marL="742950" rtl="0" algn="l">
              <a:spcBef>
                <a:spcPts val="520"/>
              </a:spcBef>
              <a:spcAft>
                <a:spcPts val="0"/>
              </a:spcAft>
              <a:buClr>
                <a:srgbClr val="000099"/>
              </a:buClr>
              <a:buSzPts val="2600"/>
              <a:buFont typeface="Noto Sans Symbols"/>
              <a:buChar char="❑"/>
            </a:pPr>
            <a:r>
              <a:rPr lang="ru-RU" sz="2600">
                <a:solidFill>
                  <a:srgbClr val="C00000"/>
                </a:solidFill>
              </a:rPr>
              <a:t> </a:t>
            </a:r>
            <a:r>
              <a:rPr lang="ru-RU" sz="2600"/>
              <a:t>Модель введена в 1970. Она была исследована и реализована в IBM Reseach и  университетах</a:t>
            </a:r>
            <a:endParaRPr/>
          </a:p>
          <a:p>
            <a:pPr indent="-285750" lvl="1" marL="742950" rtl="0" algn="l">
              <a:spcBef>
                <a:spcPts val="520"/>
              </a:spcBef>
              <a:spcAft>
                <a:spcPts val="0"/>
              </a:spcAft>
              <a:buClr>
                <a:srgbClr val="000099"/>
              </a:buClr>
              <a:buSzPts val="2600"/>
              <a:buFont typeface="Noto Sans Symbols"/>
              <a:buChar char="❑"/>
            </a:pPr>
            <a:r>
              <a:rPr lang="ru-RU" sz="2600"/>
              <a:t>Реляционные СУБД появились в начале 1980-х. Стандарты SQL развиваются до сих пор. </a:t>
            </a:r>
            <a:endParaRPr>
              <a:solidFill>
                <a:srgbClr val="C00000"/>
              </a:solidFill>
            </a:endParaRPr>
          </a:p>
        </p:txBody>
      </p:sp>
      <p:sp>
        <p:nvSpPr>
          <p:cNvPr id="598" name="Google Shape;598;p33"/>
          <p:cNvSpPr txBox="1"/>
          <p:nvPr>
            <p:ph idx="12" type="sldNum"/>
          </p:nvPr>
        </p:nvSpPr>
        <p:spPr>
          <a:xfrm>
            <a:off x="8244408" y="6165304"/>
            <a:ext cx="676672" cy="50405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599" name="Google Shape;599;p33"/>
          <p:cNvSpPr txBox="1"/>
          <p:nvPr/>
        </p:nvSpPr>
        <p:spPr>
          <a:xfrm>
            <a:off x="287524" y="495300"/>
            <a:ext cx="8568952" cy="57336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История развития технологий баз данных</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4"/>
          <p:cNvSpPr txBox="1"/>
          <p:nvPr>
            <p:ph idx="1" type="body"/>
          </p:nvPr>
        </p:nvSpPr>
        <p:spPr>
          <a:xfrm>
            <a:off x="107504" y="1196752"/>
            <a:ext cx="9036496" cy="5328592"/>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75000"/>
              <a:buFont typeface="Noto Sans Symbols"/>
              <a:buChar char="❖"/>
            </a:pPr>
            <a:r>
              <a:rPr lang="ru-RU" sz="2800">
                <a:solidFill>
                  <a:srgbClr val="000099"/>
                </a:solidFill>
              </a:rPr>
              <a:t>Объектно-ориентированные  и постреляционные</a:t>
            </a:r>
            <a:endParaRPr sz="2800">
              <a:solidFill>
                <a:srgbClr val="000099"/>
              </a:solidFill>
            </a:endParaRPr>
          </a:p>
          <a:p>
            <a:pPr indent="-285750" lvl="1" marL="742950" rtl="0" algn="l">
              <a:spcBef>
                <a:spcPts val="518"/>
              </a:spcBef>
              <a:spcAft>
                <a:spcPts val="0"/>
              </a:spcAft>
              <a:buClr>
                <a:srgbClr val="000099"/>
              </a:buClr>
              <a:buSzPct val="100000"/>
              <a:buFont typeface="Noto Sans Symbols"/>
              <a:buChar char="❑"/>
            </a:pPr>
            <a:r>
              <a:rPr lang="ru-RU" sz="2600"/>
              <a:t>Объектно-ориентированной системы управления базами данных (ООСУБД) появились в конце 1980-х и начале 1990-х, чтобы удовлетворить необходимость комплексной переработки данных в CAD и других приложений (</a:t>
            </a:r>
            <a:r>
              <a:rPr b="1" lang="ru-RU" sz="2800"/>
              <a:t>Jasmine, Versant, POET, ObjectStore PSE</a:t>
            </a:r>
            <a:r>
              <a:rPr lang="ru-RU" sz="2800"/>
              <a:t>)</a:t>
            </a:r>
            <a:endParaRPr sz="2600"/>
          </a:p>
          <a:p>
            <a:pPr indent="-228600" lvl="2" marL="1143000" rtl="0" algn="l">
              <a:spcBef>
                <a:spcPts val="444"/>
              </a:spcBef>
              <a:spcAft>
                <a:spcPts val="0"/>
              </a:spcAft>
              <a:buClr>
                <a:srgbClr val="C00000"/>
              </a:buClr>
              <a:buSzPct val="100000"/>
              <a:buFont typeface="Noto Sans Symbols"/>
              <a:buChar char="✔"/>
            </a:pPr>
            <a:r>
              <a:rPr lang="ru-RU" sz="2400">
                <a:solidFill>
                  <a:srgbClr val="000099"/>
                </a:solidFill>
              </a:rPr>
              <a:t>Их использование не было масштабным</a:t>
            </a:r>
            <a:r>
              <a:rPr lang="ru-RU" sz="2400">
                <a:solidFill>
                  <a:srgbClr val="C00000"/>
                </a:solidFill>
              </a:rPr>
              <a:t>.</a:t>
            </a:r>
            <a:endParaRPr/>
          </a:p>
          <a:p>
            <a:pPr indent="-285750" lvl="1" marL="742950" rtl="0" algn="l">
              <a:spcBef>
                <a:spcPts val="518"/>
              </a:spcBef>
              <a:spcAft>
                <a:spcPts val="0"/>
              </a:spcAft>
              <a:buClr>
                <a:srgbClr val="000099"/>
              </a:buClr>
              <a:buSzPct val="100000"/>
              <a:buFont typeface="Noto Sans Symbols"/>
              <a:buChar char="❑"/>
            </a:pPr>
            <a:r>
              <a:rPr lang="ru-RU" sz="2600"/>
              <a:t>Многие реляционные СУБД включили концепции объекта базы данных, что привело к новой категории, называемой </a:t>
            </a:r>
            <a:r>
              <a:rPr b="1" lang="ru-RU" sz="2600">
                <a:solidFill>
                  <a:srgbClr val="000099"/>
                </a:solidFill>
              </a:rPr>
              <a:t>объектно-реляционная СУБД</a:t>
            </a:r>
            <a:r>
              <a:rPr lang="ru-RU" sz="2600"/>
              <a:t> (</a:t>
            </a:r>
            <a:r>
              <a:rPr b="1" lang="ru-RU" sz="2800"/>
              <a:t>Oracle , IBM Informix и DB 2, Postgres</a:t>
            </a:r>
            <a:r>
              <a:rPr lang="ru-RU" sz="2600"/>
              <a:t>)</a:t>
            </a:r>
            <a:endParaRPr/>
          </a:p>
          <a:p>
            <a:pPr indent="-285750" lvl="1" marL="742950" rtl="0" algn="l">
              <a:spcBef>
                <a:spcPts val="518"/>
              </a:spcBef>
              <a:spcAft>
                <a:spcPts val="0"/>
              </a:spcAft>
              <a:buClr>
                <a:srgbClr val="000099"/>
              </a:buClr>
              <a:buSzPct val="100000"/>
              <a:buFont typeface="Noto Sans Symbols"/>
              <a:buChar char="❑"/>
            </a:pPr>
            <a:r>
              <a:rPr b="1" lang="ru-RU" sz="2600">
                <a:solidFill>
                  <a:srgbClr val="000099"/>
                </a:solidFill>
              </a:rPr>
              <a:t>Постреляционные СУБД </a:t>
            </a:r>
            <a:r>
              <a:rPr lang="ru-RU" sz="2600"/>
              <a:t>(</a:t>
            </a:r>
            <a:r>
              <a:rPr lang="ru-RU" sz="2800"/>
              <a:t> </a:t>
            </a:r>
            <a:r>
              <a:rPr b="1" lang="ru-RU" sz="2800"/>
              <a:t>Adabas, Pick и Universe</a:t>
            </a:r>
            <a:r>
              <a:rPr lang="ru-RU" sz="2800"/>
              <a:t>)</a:t>
            </a:r>
            <a:endParaRPr sz="2600"/>
          </a:p>
          <a:p>
            <a:pPr indent="-285750" lvl="1" marL="742950" rtl="0" algn="l">
              <a:spcBef>
                <a:spcPts val="481"/>
              </a:spcBef>
              <a:spcAft>
                <a:spcPts val="0"/>
              </a:spcAft>
              <a:buClr>
                <a:srgbClr val="000099"/>
              </a:buClr>
              <a:buSzPct val="100000"/>
              <a:buFont typeface="Noto Sans Symbols"/>
              <a:buChar char="❑"/>
            </a:pPr>
            <a:r>
              <a:rPr b="1" lang="ru-RU" sz="2600">
                <a:solidFill>
                  <a:srgbClr val="000099"/>
                </a:solidFill>
              </a:rPr>
              <a:t>NoSQL СУБД (</a:t>
            </a:r>
            <a:r>
              <a:rPr lang="ru-RU" sz="2600"/>
              <a:t>ключ-значение, графовые, документоориентированные, колоночные)</a:t>
            </a:r>
            <a:endParaRPr/>
          </a:p>
        </p:txBody>
      </p:sp>
      <p:sp>
        <p:nvSpPr>
          <p:cNvPr id="606" name="Google Shape;606;p34"/>
          <p:cNvSpPr txBox="1"/>
          <p:nvPr>
            <p:ph idx="12" type="sldNum"/>
          </p:nvPr>
        </p:nvSpPr>
        <p:spPr>
          <a:xfrm>
            <a:off x="8244408" y="6165304"/>
            <a:ext cx="676672" cy="50405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607" name="Google Shape;607;p34"/>
          <p:cNvSpPr txBox="1"/>
          <p:nvPr/>
        </p:nvSpPr>
        <p:spPr>
          <a:xfrm>
            <a:off x="323528" y="188640"/>
            <a:ext cx="8568952" cy="936104"/>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История развития технологий баз данных</a:t>
            </a:r>
            <a:br>
              <a:rPr b="0" i="0" lang="ru-RU" sz="4200">
                <a:solidFill>
                  <a:schemeClr val="lt2"/>
                </a:solidFill>
                <a:latin typeface="Arial"/>
                <a:ea typeface="Arial"/>
                <a:cs typeface="Arial"/>
                <a:sym typeface="Arial"/>
              </a:rPr>
            </a:br>
            <a:r>
              <a:rPr b="0" i="0" lang="ru-RU" sz="4200">
                <a:solidFill>
                  <a:schemeClr val="lt2"/>
                </a:solidFill>
                <a:latin typeface="Arial"/>
                <a:ea typeface="Arial"/>
                <a:cs typeface="Arial"/>
                <a:sym typeface="Arial"/>
              </a:rPr>
              <a:t>(продолжение)</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35"/>
          <p:cNvSpPr txBox="1"/>
          <p:nvPr>
            <p:ph idx="1" type="body"/>
          </p:nvPr>
        </p:nvSpPr>
        <p:spPr>
          <a:xfrm>
            <a:off x="107504" y="1196752"/>
            <a:ext cx="9036496" cy="566124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5000"/>
              <a:buFont typeface="Noto Sans Symbols"/>
              <a:buChar char="❖"/>
            </a:pPr>
            <a:r>
              <a:rPr lang="ru-RU" sz="2800">
                <a:solidFill>
                  <a:srgbClr val="000099"/>
                </a:solidFill>
              </a:rPr>
              <a:t>Данные в WEB</a:t>
            </a:r>
            <a:endParaRPr sz="2800">
              <a:solidFill>
                <a:srgbClr val="000099"/>
              </a:solidFill>
            </a:endParaRPr>
          </a:p>
          <a:p>
            <a:pPr indent="-285750" lvl="1" marL="742950" rtl="0" algn="l">
              <a:spcBef>
                <a:spcPts val="481"/>
              </a:spcBef>
              <a:spcAft>
                <a:spcPts val="0"/>
              </a:spcAft>
              <a:buClr>
                <a:srgbClr val="000099"/>
              </a:buClr>
              <a:buSzPct val="100000"/>
              <a:buFont typeface="Noto Sans Symbols"/>
              <a:buChar char="❑"/>
            </a:pPr>
            <a:r>
              <a:rPr lang="ru-RU" sz="2600"/>
              <a:t>Веб содержит данные в HTML (язык гипертекстовой разметки) со ссылками между страницами.</a:t>
            </a:r>
            <a:endParaRPr/>
          </a:p>
          <a:p>
            <a:pPr indent="-285750" lvl="1" marL="742950" rtl="0" algn="l">
              <a:spcBef>
                <a:spcPts val="481"/>
              </a:spcBef>
              <a:spcAft>
                <a:spcPts val="0"/>
              </a:spcAft>
              <a:buClr>
                <a:srgbClr val="000099"/>
              </a:buClr>
              <a:buSzPct val="100000"/>
              <a:buFont typeface="Noto Sans Symbols"/>
              <a:buChar char="❑"/>
            </a:pPr>
            <a:r>
              <a:rPr lang="ru-RU" sz="2600"/>
              <a:t>Это породило новый набор приложений (например, электронная торговля), которые  используют новые стандарты, такие как XML (расширенный язык разметки).</a:t>
            </a:r>
            <a:endParaRPr/>
          </a:p>
          <a:p>
            <a:pPr indent="-285750" lvl="1" marL="742950" rtl="0" algn="l">
              <a:spcBef>
                <a:spcPts val="518"/>
              </a:spcBef>
              <a:spcAft>
                <a:spcPts val="0"/>
              </a:spcAft>
              <a:buClr>
                <a:srgbClr val="000099"/>
              </a:buClr>
              <a:buSzPct val="100000"/>
              <a:buFont typeface="Noto Sans Symbols"/>
              <a:buChar char="❑"/>
            </a:pPr>
            <a:r>
              <a:rPr lang="ru-RU" sz="2800"/>
              <a:t>Script programming languages</a:t>
            </a:r>
            <a:r>
              <a:rPr lang="ru-RU" sz="2600"/>
              <a:t>, такие как PHP и JavaScript позволяют генерировать динамические веб-страницы, которые частично наполняются данными из базы данных</a:t>
            </a:r>
            <a:endParaRPr/>
          </a:p>
          <a:p>
            <a:pPr indent="-228600" lvl="2" marL="1143000" rtl="0" algn="l">
              <a:spcBef>
                <a:spcPts val="444"/>
              </a:spcBef>
              <a:spcAft>
                <a:spcPts val="0"/>
              </a:spcAft>
              <a:buClr>
                <a:srgbClr val="C00000"/>
              </a:buClr>
              <a:buSzPct val="100000"/>
              <a:buFont typeface="Noto Sans Symbols"/>
              <a:buChar char="✔"/>
            </a:pPr>
            <a:r>
              <a:rPr lang="ru-RU" sz="2400">
                <a:solidFill>
                  <a:srgbClr val="C00000"/>
                </a:solidFill>
              </a:rPr>
              <a:t> </a:t>
            </a:r>
            <a:r>
              <a:rPr lang="ru-RU" sz="2400">
                <a:solidFill>
                  <a:srgbClr val="000099"/>
                </a:solidFill>
              </a:rPr>
              <a:t>Это позволяет делать обновления баз данных из WEB</a:t>
            </a:r>
            <a:endParaRPr sz="2400">
              <a:solidFill>
                <a:srgbClr val="000099"/>
              </a:solidFill>
            </a:endParaRPr>
          </a:p>
          <a:p>
            <a:pPr indent="-285750" lvl="1" marL="742950" rtl="0" algn="l">
              <a:spcBef>
                <a:spcPts val="518"/>
              </a:spcBef>
              <a:spcAft>
                <a:spcPts val="0"/>
              </a:spcAft>
              <a:buClr>
                <a:srgbClr val="000099"/>
              </a:buClr>
              <a:buSzPct val="100000"/>
              <a:buFont typeface="Noto Sans Symbols"/>
              <a:buChar char="❑"/>
            </a:pPr>
            <a:r>
              <a:rPr lang="ru-RU" sz="2800"/>
              <a:t>Системы интегрированные с технологией разработки WEB приложений</a:t>
            </a:r>
            <a:endParaRPr/>
          </a:p>
        </p:txBody>
      </p:sp>
      <p:sp>
        <p:nvSpPr>
          <p:cNvPr id="614" name="Google Shape;614;p35"/>
          <p:cNvSpPr txBox="1"/>
          <p:nvPr>
            <p:ph idx="12" type="sldNum"/>
          </p:nvPr>
        </p:nvSpPr>
        <p:spPr>
          <a:xfrm>
            <a:off x="8244408" y="6165304"/>
            <a:ext cx="676672" cy="50405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615" name="Google Shape;615;p35"/>
          <p:cNvSpPr txBox="1"/>
          <p:nvPr/>
        </p:nvSpPr>
        <p:spPr>
          <a:xfrm>
            <a:off x="323528" y="188640"/>
            <a:ext cx="8568952" cy="936104"/>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История развития технологий баз данных</a:t>
            </a:r>
            <a:br>
              <a:rPr b="0" i="0" lang="ru-RU" sz="4200">
                <a:solidFill>
                  <a:schemeClr val="lt2"/>
                </a:solidFill>
                <a:latin typeface="Arial"/>
                <a:ea typeface="Arial"/>
                <a:cs typeface="Arial"/>
                <a:sym typeface="Arial"/>
              </a:rPr>
            </a:br>
            <a:r>
              <a:rPr b="0" i="0" lang="ru-RU" sz="4200">
                <a:solidFill>
                  <a:schemeClr val="lt2"/>
                </a:solidFill>
                <a:latin typeface="Arial"/>
                <a:ea typeface="Arial"/>
                <a:cs typeface="Arial"/>
                <a:sym typeface="Arial"/>
              </a:rPr>
              <a:t>(продолжение)</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6"/>
          <p:cNvSpPr txBox="1"/>
          <p:nvPr>
            <p:ph idx="1" type="body"/>
          </p:nvPr>
        </p:nvSpPr>
        <p:spPr>
          <a:xfrm>
            <a:off x="0" y="957660"/>
            <a:ext cx="9144000" cy="5760640"/>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75000"/>
              <a:buFont typeface="Noto Sans Symbols"/>
              <a:buChar char="❖"/>
            </a:pPr>
            <a:r>
              <a:rPr lang="ru-RU" sz="2800">
                <a:solidFill>
                  <a:srgbClr val="000099"/>
                </a:solidFill>
              </a:rPr>
              <a:t>В СУБД добавляются новые функции для работы в следующих областях:</a:t>
            </a:r>
            <a:endParaRPr/>
          </a:p>
          <a:p>
            <a:pPr indent="-285750" lvl="1" marL="742950" rtl="0" algn="l">
              <a:spcBef>
                <a:spcPts val="481"/>
              </a:spcBef>
              <a:spcAft>
                <a:spcPts val="0"/>
              </a:spcAft>
              <a:buClr>
                <a:srgbClr val="000099"/>
              </a:buClr>
              <a:buSzPct val="100000"/>
              <a:buFont typeface="Noto Sans Symbols"/>
              <a:buChar char="✔"/>
            </a:pPr>
            <a:r>
              <a:rPr lang="ru-RU" sz="2600">
                <a:solidFill>
                  <a:srgbClr val="C00000"/>
                </a:solidFill>
              </a:rPr>
              <a:t> Приложения в научных исследованиях</a:t>
            </a:r>
            <a:endParaRPr/>
          </a:p>
          <a:p>
            <a:pPr indent="-285750" lvl="1" marL="742950" rtl="0" algn="l">
              <a:spcBef>
                <a:spcPts val="481"/>
              </a:spcBef>
              <a:spcAft>
                <a:spcPts val="0"/>
              </a:spcAft>
              <a:buClr>
                <a:srgbClr val="000099"/>
              </a:buClr>
              <a:buSzPct val="100000"/>
              <a:buFont typeface="Noto Sans Symbols"/>
              <a:buChar char="✔"/>
            </a:pPr>
            <a:r>
              <a:rPr lang="ru-RU" sz="2600">
                <a:solidFill>
                  <a:srgbClr val="C00000"/>
                </a:solidFill>
              </a:rPr>
              <a:t> Хранение и манипулирование XML данными </a:t>
            </a:r>
            <a:endParaRPr/>
          </a:p>
          <a:p>
            <a:pPr indent="-285750" lvl="1" marL="742950" rtl="0" algn="l">
              <a:spcBef>
                <a:spcPts val="481"/>
              </a:spcBef>
              <a:spcAft>
                <a:spcPts val="0"/>
              </a:spcAft>
              <a:buClr>
                <a:srgbClr val="000099"/>
              </a:buClr>
              <a:buSzPct val="100000"/>
              <a:buFont typeface="Noto Sans Symbols"/>
              <a:buChar char="✔"/>
            </a:pPr>
            <a:r>
              <a:rPr lang="ru-RU" sz="2600">
                <a:solidFill>
                  <a:srgbClr val="C00000"/>
                </a:solidFill>
              </a:rPr>
              <a:t>Хранение и манипулирование изображениями</a:t>
            </a:r>
            <a:endParaRPr/>
          </a:p>
          <a:p>
            <a:pPr indent="-285750" lvl="1" marL="742950" rtl="0" algn="l">
              <a:spcBef>
                <a:spcPts val="481"/>
              </a:spcBef>
              <a:spcAft>
                <a:spcPts val="0"/>
              </a:spcAft>
              <a:buClr>
                <a:srgbClr val="000099"/>
              </a:buClr>
              <a:buSzPct val="100000"/>
              <a:buFont typeface="Noto Sans Symbols"/>
              <a:buChar char="✔"/>
            </a:pPr>
            <a:r>
              <a:rPr lang="ru-RU" sz="2600">
                <a:solidFill>
                  <a:srgbClr val="C00000"/>
                </a:solidFill>
              </a:rPr>
              <a:t> Управления аудио и видео данными</a:t>
            </a:r>
            <a:endParaRPr/>
          </a:p>
          <a:p>
            <a:pPr indent="-285750" lvl="1" marL="742950" rtl="0" algn="l">
              <a:spcBef>
                <a:spcPts val="481"/>
              </a:spcBef>
              <a:spcAft>
                <a:spcPts val="0"/>
              </a:spcAft>
              <a:buClr>
                <a:srgbClr val="000099"/>
              </a:buClr>
              <a:buSzPct val="100000"/>
              <a:buFont typeface="Noto Sans Symbols"/>
              <a:buChar char="✔"/>
            </a:pPr>
            <a:r>
              <a:rPr lang="ru-RU" sz="2600">
                <a:solidFill>
                  <a:srgbClr val="C00000"/>
                </a:solidFill>
              </a:rPr>
              <a:t> Хранилища данных и интеллектуальный анализ данных</a:t>
            </a:r>
            <a:endParaRPr/>
          </a:p>
          <a:p>
            <a:pPr indent="-285750" lvl="1" marL="742950" rtl="0" algn="l">
              <a:spcBef>
                <a:spcPts val="481"/>
              </a:spcBef>
              <a:spcAft>
                <a:spcPts val="0"/>
              </a:spcAft>
              <a:buClr>
                <a:srgbClr val="000099"/>
              </a:buClr>
              <a:buSzPct val="100000"/>
              <a:buFont typeface="Noto Sans Symbols"/>
              <a:buChar char="✔"/>
            </a:pPr>
            <a:r>
              <a:rPr lang="ru-RU" sz="2600">
                <a:solidFill>
                  <a:srgbClr val="C00000"/>
                </a:solidFill>
              </a:rPr>
              <a:t> Управление пространственными данными</a:t>
            </a:r>
            <a:endParaRPr/>
          </a:p>
          <a:p>
            <a:pPr indent="-285750" lvl="1" marL="742950" rtl="0" algn="l">
              <a:spcBef>
                <a:spcPts val="481"/>
              </a:spcBef>
              <a:spcAft>
                <a:spcPts val="0"/>
              </a:spcAft>
              <a:buClr>
                <a:srgbClr val="000099"/>
              </a:buClr>
              <a:buSzPct val="100000"/>
              <a:buFont typeface="Noto Sans Symbols"/>
              <a:buChar char="✔"/>
            </a:pPr>
            <a:r>
              <a:rPr lang="ru-RU" sz="2600">
                <a:solidFill>
                  <a:srgbClr val="C00000"/>
                </a:solidFill>
              </a:rPr>
              <a:t> Управление временными рядами и исторические данные</a:t>
            </a:r>
            <a:endParaRPr/>
          </a:p>
          <a:p>
            <a:pPr indent="0" lvl="1" marL="365760" rtl="0" algn="l">
              <a:spcBef>
                <a:spcPts val="444"/>
              </a:spcBef>
              <a:spcAft>
                <a:spcPts val="0"/>
              </a:spcAft>
              <a:buClr>
                <a:srgbClr val="000099"/>
              </a:buClr>
              <a:buSzPct val="100000"/>
              <a:buNone/>
            </a:pPr>
            <a:r>
              <a:rPr lang="ru-RU" sz="2400">
                <a:solidFill>
                  <a:srgbClr val="000099"/>
                </a:solidFill>
              </a:rPr>
              <a:t>Все это порождает новые исследования и разработки: введение новых типов данных, сложных структур данных, новых операций и новых схем хранения и индексации в системах баз данных</a:t>
            </a:r>
            <a:endParaRPr/>
          </a:p>
        </p:txBody>
      </p:sp>
      <p:sp>
        <p:nvSpPr>
          <p:cNvPr id="622" name="Google Shape;622;p36"/>
          <p:cNvSpPr txBox="1"/>
          <p:nvPr>
            <p:ph idx="12" type="sldNum"/>
          </p:nvPr>
        </p:nvSpPr>
        <p:spPr>
          <a:xfrm>
            <a:off x="8244408" y="6165304"/>
            <a:ext cx="676672" cy="50405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623" name="Google Shape;623;p36"/>
          <p:cNvSpPr txBox="1"/>
          <p:nvPr/>
        </p:nvSpPr>
        <p:spPr>
          <a:xfrm>
            <a:off x="323528" y="321990"/>
            <a:ext cx="8820472" cy="573360"/>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Расширение возможностей базы данных</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37"/>
          <p:cNvSpPr txBox="1"/>
          <p:nvPr>
            <p:ph idx="1" type="body"/>
          </p:nvPr>
        </p:nvSpPr>
        <p:spPr>
          <a:xfrm>
            <a:off x="0" y="1673424"/>
            <a:ext cx="8892480" cy="51845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100"/>
              <a:buFont typeface="Noto Sans Symbols"/>
              <a:buChar char="❖"/>
            </a:pPr>
            <a:r>
              <a:rPr lang="ru-RU" sz="2800">
                <a:solidFill>
                  <a:schemeClr val="lt2"/>
                </a:solidFill>
              </a:rPr>
              <a:t>Если данные и приложения просты, четко определены, и предполагается, что не будут меняться со временем</a:t>
            </a:r>
            <a:r>
              <a:rPr lang="ru-RU" sz="2800">
                <a:solidFill>
                  <a:srgbClr val="C00000"/>
                </a:solidFill>
              </a:rPr>
              <a:t>.</a:t>
            </a:r>
            <a:endParaRPr/>
          </a:p>
          <a:p>
            <a:pPr indent="-285750" lvl="1" marL="742950" rtl="0" algn="l">
              <a:spcBef>
                <a:spcPts val="560"/>
              </a:spcBef>
              <a:spcAft>
                <a:spcPts val="0"/>
              </a:spcAft>
              <a:buClr>
                <a:srgbClr val="000099"/>
              </a:buClr>
              <a:buSzPts val="2800"/>
              <a:buFont typeface="Noto Sans Symbols"/>
              <a:buChar char="❑"/>
            </a:pPr>
            <a:r>
              <a:rPr lang="ru-RU" sz="2800">
                <a:solidFill>
                  <a:srgbClr val="C00000"/>
                </a:solidFill>
              </a:rPr>
              <a:t> Если существуют жесткие требований к реальному времени, которые не могут быть выполнены из-за накладных СУБД.</a:t>
            </a:r>
            <a:endParaRPr/>
          </a:p>
          <a:p>
            <a:pPr indent="-285750" lvl="1" marL="742950" rtl="0" algn="l">
              <a:spcBef>
                <a:spcPts val="560"/>
              </a:spcBef>
              <a:spcAft>
                <a:spcPts val="0"/>
              </a:spcAft>
              <a:buClr>
                <a:srgbClr val="000099"/>
              </a:buClr>
              <a:buSzPts val="2800"/>
              <a:buFont typeface="Noto Sans Symbols"/>
              <a:buChar char="❑"/>
            </a:pPr>
            <a:r>
              <a:rPr lang="ru-RU" sz="2800">
                <a:solidFill>
                  <a:srgbClr val="C00000"/>
                </a:solidFill>
              </a:rPr>
              <a:t> Если не требуется мультидоступ пользователей к данным.</a:t>
            </a:r>
            <a:endParaRPr/>
          </a:p>
        </p:txBody>
      </p:sp>
      <p:sp>
        <p:nvSpPr>
          <p:cNvPr id="630" name="Google Shape;630;p37"/>
          <p:cNvSpPr txBox="1"/>
          <p:nvPr>
            <p:ph idx="12" type="sldNum"/>
          </p:nvPr>
        </p:nvSpPr>
        <p:spPr>
          <a:xfrm>
            <a:off x="8244408" y="6165304"/>
            <a:ext cx="676672" cy="50405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631" name="Google Shape;631;p37"/>
          <p:cNvSpPr txBox="1"/>
          <p:nvPr/>
        </p:nvSpPr>
        <p:spPr>
          <a:xfrm>
            <a:off x="476545" y="278650"/>
            <a:ext cx="8433936" cy="1170130"/>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Когда не используются базы данных (СУБД)</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38"/>
          <p:cNvSpPr txBox="1"/>
          <p:nvPr>
            <p:ph idx="1" type="body"/>
          </p:nvPr>
        </p:nvSpPr>
        <p:spPr>
          <a:xfrm>
            <a:off x="0" y="1673805"/>
            <a:ext cx="8892480" cy="3600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Font typeface="Noto Sans Symbols"/>
              <a:buChar char="❖"/>
            </a:pPr>
            <a:r>
              <a:rPr lang="ru-RU" sz="3200">
                <a:solidFill>
                  <a:srgbClr val="000099"/>
                </a:solidFill>
              </a:rPr>
              <a:t>Когда нет необходимой СУБД</a:t>
            </a:r>
            <a:endParaRPr/>
          </a:p>
          <a:p>
            <a:pPr indent="-285750" lvl="1" marL="742950" rtl="0" algn="l">
              <a:spcBef>
                <a:spcPts val="560"/>
              </a:spcBef>
              <a:spcAft>
                <a:spcPts val="0"/>
              </a:spcAft>
              <a:buClr>
                <a:srgbClr val="000099"/>
              </a:buClr>
              <a:buSzPts val="2600"/>
              <a:buFont typeface="Noto Sans Symbols"/>
              <a:buChar char="❑"/>
            </a:pPr>
            <a:r>
              <a:rPr lang="ru-RU" sz="2600">
                <a:solidFill>
                  <a:srgbClr val="C00000"/>
                </a:solidFill>
              </a:rPr>
              <a:t> </a:t>
            </a:r>
            <a:r>
              <a:rPr lang="ru-RU" sz="2800">
                <a:solidFill>
                  <a:srgbClr val="C00000"/>
                </a:solidFill>
              </a:rPr>
              <a:t>СУБД не может обрабатывать сложные данные из-за ограничений модели.</a:t>
            </a:r>
            <a:endParaRPr/>
          </a:p>
          <a:p>
            <a:pPr indent="-285750" lvl="1" marL="742950" rtl="0" algn="l">
              <a:spcBef>
                <a:spcPts val="560"/>
              </a:spcBef>
              <a:spcAft>
                <a:spcPts val="0"/>
              </a:spcAft>
              <a:buClr>
                <a:srgbClr val="000099"/>
              </a:buClr>
              <a:buSzPts val="2800"/>
              <a:buFont typeface="Noto Sans Symbols"/>
              <a:buChar char="❑"/>
            </a:pPr>
            <a:r>
              <a:rPr lang="ru-RU" sz="2800">
                <a:solidFill>
                  <a:srgbClr val="C00000"/>
                </a:solidFill>
              </a:rPr>
              <a:t> Пользователям нужны специальные операций не поддерживаемые СУБД</a:t>
            </a:r>
            <a:r>
              <a:rPr lang="ru-RU" sz="2600">
                <a:solidFill>
                  <a:srgbClr val="C00000"/>
                </a:solidFill>
              </a:rPr>
              <a:t>.</a:t>
            </a:r>
            <a:endParaRPr/>
          </a:p>
        </p:txBody>
      </p:sp>
      <p:sp>
        <p:nvSpPr>
          <p:cNvPr id="638" name="Google Shape;638;p38"/>
          <p:cNvSpPr txBox="1"/>
          <p:nvPr>
            <p:ph idx="12" type="sldNum"/>
          </p:nvPr>
        </p:nvSpPr>
        <p:spPr>
          <a:xfrm>
            <a:off x="8244408" y="6165304"/>
            <a:ext cx="676672" cy="50405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Black"/>
              <a:buNone/>
            </a:pPr>
            <a:fld id="{00000000-1234-1234-1234-123412341234}" type="slidenum">
              <a:rPr lang="ru-RU"/>
              <a:t>‹#›</a:t>
            </a:fld>
            <a:endParaRPr/>
          </a:p>
        </p:txBody>
      </p:sp>
      <p:sp>
        <p:nvSpPr>
          <p:cNvPr id="639" name="Google Shape;639;p38"/>
          <p:cNvSpPr txBox="1"/>
          <p:nvPr/>
        </p:nvSpPr>
        <p:spPr>
          <a:xfrm>
            <a:off x="341530" y="368660"/>
            <a:ext cx="8550950" cy="1125125"/>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ctr">
              <a:spcBef>
                <a:spcPts val="0"/>
              </a:spcBef>
              <a:spcAft>
                <a:spcPts val="0"/>
              </a:spcAft>
              <a:buClr>
                <a:srgbClr val="5A5A97"/>
              </a:buClr>
              <a:buSzPct val="128000"/>
              <a:buFont typeface="Georgia"/>
              <a:buNone/>
            </a:pPr>
            <a:r>
              <a:rPr b="0" i="0" lang="ru-RU" sz="4200">
                <a:solidFill>
                  <a:schemeClr val="lt2"/>
                </a:solidFill>
                <a:latin typeface="Arial"/>
                <a:ea typeface="Arial"/>
                <a:cs typeface="Arial"/>
                <a:sym typeface="Arial"/>
              </a:rPr>
              <a:t>Когда не используются базы данных (СУБД)</a:t>
            </a:r>
            <a:endParaRPr b="0" i="0" sz="33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Тема1">
  <a:themeElements>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Пиксел">
  <a:themeElements>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2012-09-07T02:07:35Z</dcterms:created>
  <dc:creator>Борис</dc:creator>
</cp:coreProperties>
</file>