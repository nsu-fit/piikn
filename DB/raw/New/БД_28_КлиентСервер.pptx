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3"/>
  </p:notesMasterIdLst>
  <p:sldIdLst>
    <p:sldId id="256" r:id="rId2"/>
    <p:sldId id="300" r:id="rId3"/>
    <p:sldId id="338" r:id="rId4"/>
    <p:sldId id="278" r:id="rId5"/>
    <p:sldId id="339" r:id="rId6"/>
    <p:sldId id="325" r:id="rId7"/>
    <p:sldId id="324" r:id="rId8"/>
    <p:sldId id="326" r:id="rId9"/>
    <p:sldId id="273" r:id="rId10"/>
    <p:sldId id="275" r:id="rId11"/>
    <p:sldId id="327" r:id="rId12"/>
    <p:sldId id="328" r:id="rId13"/>
    <p:sldId id="329" r:id="rId14"/>
    <p:sldId id="332" r:id="rId15"/>
    <p:sldId id="334" r:id="rId16"/>
    <p:sldId id="333" r:id="rId17"/>
    <p:sldId id="335" r:id="rId18"/>
    <p:sldId id="336" r:id="rId19"/>
    <p:sldId id="337" r:id="rId20"/>
    <p:sldId id="330" r:id="rId21"/>
    <p:sldId id="331" r:id="rId22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66FF"/>
    <a:srgbClr val="6D1125"/>
    <a:srgbClr val="DE411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9" autoAdjust="0"/>
    <p:restoredTop sz="78598" autoAdjust="0"/>
  </p:normalViewPr>
  <p:slideViewPr>
    <p:cSldViewPr snapToGrid="0" showGuides="1">
      <p:cViewPr varScale="1">
        <p:scale>
          <a:sx n="77" d="100"/>
          <a:sy n="77" d="100"/>
        </p:scale>
        <p:origin x="11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07.04.2022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Прежде всего, напомним, что термин "клиент/сервер" определяет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архитектуру, или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логическое разделение обязанностей. </a:t>
            </a:r>
            <a:r>
              <a:rPr lang="ru-RU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 — это приложение, которое называют так-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же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интерфейсной частью (</a:t>
            </a:r>
            <a:r>
              <a:rPr lang="ru-RU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front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а 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— прикладной частью (</a:t>
            </a:r>
            <a:r>
              <a:rPr lang="ru-RU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или СУБД.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Однако именно потому, что всю систему можно так четко разделить на две части, </a:t>
            </a:r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появи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</a:p>
          <a:p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лась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возможность эксплуатации ее частей на разных компьютерах. И эта возможность по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многим причинам оказалась настолько привлекательной (см. главу 2), что под понятием</a:t>
            </a: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система "клиент/сервер" на практике подразумевается исключительно тот случай, когда</a:t>
            </a: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Глава 21. Распределенные базы данных 849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 и сервер действительно размещаются на разных компьютерах5. Хотя это и не-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сколько вольное использование термина, но оно широко распространено и поэтому мы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будем его придерживаться.</a:t>
            </a:r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Прежде всего, напомним, что термин "клиент/сервер" определяет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архитектуру, или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логическое разделение обязанностей. </a:t>
            </a:r>
            <a:r>
              <a:rPr lang="ru-RU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 — это приложение, которое называют так-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же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интерфейсной частью (</a:t>
            </a:r>
            <a:r>
              <a:rPr lang="ru-RU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front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а 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— прикладной частью (</a:t>
            </a:r>
            <a:r>
              <a:rPr lang="ru-RU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или СУБД.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Однако именно потому, что всю систему можно так четко разделить на две части, </a:t>
            </a:r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появи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</a:p>
          <a:p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лась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возможность эксплуатации ее частей на разных компьютерах. И эта возможность по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многим причинам оказалась настолько привлекательной (см. главу 2), что под понятием</a:t>
            </a: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система "клиент/сервер" на практике подразумевается исключительно тот случай, когда</a:t>
            </a: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Глава 21. Распределенные базы данных 849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 и сервер действительно размещаются на разных компьютерах5. Хотя это и не-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сколько вольное использование термина, но оно широко распространено и поэтому мы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будем его придерживаться.</a:t>
            </a:r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919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отмечалось в разделе 21.1, системы "клиент/сервер" могут рассматриваться как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частный случай распределенных систем. </a:t>
            </a:r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Точнее, система "клиент/сервер" — это распределенная система, в которой одни узлы —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клиенты, </a:t>
            </a:r>
            <a:endParaRPr lang="en-US" sz="1200" i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другие — серверы; все данные разме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щены на узлах, которые являются серверами; </a:t>
            </a:r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все приложения выполняются на узлах-клиентах и "</a:t>
            </a:r>
            <a:r>
              <a:rPr lang="ru-RU" sz="1200" b="1" u="sng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швы видны пользователю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(полная локальная независимость не предоставляется). </a:t>
            </a:r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Обратимся к рис. 21.6 (или к рис. 2.6 из главы 2). </a:t>
            </a:r>
          </a:p>
          <a:p>
            <a:r>
              <a:rPr lang="ru-RU" sz="1200" b="1" u="sng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рисунок на  слайде.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конце 1980-х годов и в период от начала до середины 1990-х годов повышенный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коммерческий интерес проявлялся к системам "клиент/сервер" и сравнительно небольшой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интерес — к настоящим распределенным системам общего назначения. </a:t>
            </a:r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последнее время эти тенденции немного изменились, как показано в следующем разделе, но системы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"клиент/сервер" все еще играют важную роль, поэтому и потребовалось включить в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книгу данный раздел.</a:t>
            </a:r>
            <a:endParaRPr lang="ru-RU" dirty="0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Прежде всего, напомним, что термин "клиент/сервер" определяет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архитектуру, или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логическое разделение обязанностей. </a:t>
            </a:r>
            <a:r>
              <a:rPr lang="ru-RU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 — это приложение, которое называют так-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же 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интерфейсной частью (</a:t>
            </a:r>
            <a:r>
              <a:rPr lang="ru-RU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front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а 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— прикладной частью (</a:t>
            </a:r>
            <a:r>
              <a:rPr lang="ru-RU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b="1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или СУБД.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Однако именно потому, что всю систему можно так четко разделить на две части, </a:t>
            </a:r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появи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</a:p>
          <a:p>
            <a:r>
              <a:rPr lang="ru-RU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лась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возможность эксплуатации ее частей на разных компьютерах. И эта возможность по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многим причинам оказалась настолько привлекательной (см. главу 2), что под понятием</a:t>
            </a: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система "клиент/сервер" на практике подразумевается исключительно тот случай, когда</a:t>
            </a:r>
          </a:p>
          <a:p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Глава 21. Распределенные базы данных 849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 и сервер действительно размещаются на разных компьютерах5. Хотя это и не-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сколько вольное использование термина, но оно широко распространено и поэтому мы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будем его придерживаться.</a:t>
            </a:r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644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Проблемы, возникающие в модели 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один-к-одному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решаются в архитектуре 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систем с выделенным сервером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способным обрабатывать запросы от многих клиентов. Сервер единственный обладает монополией на управление данными и взаимодействует одновременно со многими клиентами.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Логически каждый клиент связан с сервером отдельной 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нитью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или потоком, по которому пересылаются запросы. Такая архитектура получила название 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многопотоковой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multi-threaded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Она позволяет значительно уменьшить нагрузку на операционную систему, возникающую при работе большого числа пользователей (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trashing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С другой стороны, возможность взаимодействия с одним сервером многих клиентов позволяет в полной степени использовать разделяемые объекты (начиная с открытых файлов и кончая данными из системных каталогов), что значительно уменьшает потребности в памяти и общее число процессов операционной системы. Например, системой с архитектурой 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один-к-одному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будет создано 50 копий процессов СУБД для 50 пользователей, тогда как системе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многопотоковой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архитектурой для этого понадобится только один сервер.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Современное решение проблемы СУБД для мультипроцессорных платформ заключается в возможности запуска нескольких серверов базы данных, в том числе и на различных процессорах. При этом каждый из серверов должен быть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многопотоковым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Если эти два условия выполнены, то есть основание говорить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многопотоковой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архитектуре с несколькими серверами 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multi-threaded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multi-server</a:t>
            </a:r>
            <a:r>
              <a:rPr lang="ru-RU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представленной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dirty="0"/>
              <a:t>Архитектура </a:t>
            </a:r>
            <a:br>
              <a:rPr lang="ru-RU" dirty="0"/>
            </a:br>
            <a:r>
              <a:rPr lang="ru-RU" dirty="0"/>
              <a:t>клиент-сервер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91788" y="4738366"/>
            <a:ext cx="6261904" cy="111442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ru-RU" sz="2800" dirty="0"/>
              <a:t>К. Дж. </a:t>
            </a:r>
            <a:r>
              <a:rPr lang="ru-RU" sz="2800" dirty="0" err="1"/>
              <a:t>Дейт</a:t>
            </a:r>
            <a:r>
              <a:rPr lang="ru-RU" sz="2800" dirty="0"/>
              <a:t>  </a:t>
            </a:r>
          </a:p>
          <a:p>
            <a:pPr eaLnBrk="1" hangingPunct="1">
              <a:defRPr/>
            </a:pPr>
            <a:r>
              <a:rPr lang="ru-RU" sz="2800" dirty="0"/>
              <a:t>Введение в системы баз данных. </a:t>
            </a:r>
          </a:p>
          <a:p>
            <a:pPr eaLnBrk="1" hangingPunct="1">
              <a:defRPr/>
            </a:pPr>
            <a:r>
              <a:rPr lang="ru-RU" sz="2800" dirty="0"/>
              <a:t>Восьмое издание. Глава 21</a:t>
            </a:r>
          </a:p>
          <a:p>
            <a:pPr eaLnBrk="1" hangingPunct="1"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214313"/>
            <a:ext cx="8788400" cy="757237"/>
          </a:xfrm>
        </p:spPr>
        <p:txBody>
          <a:bodyPr lIns="36000" tIns="36000" rIns="36000" bIns="36000"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Предварительные определения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0" y="946483"/>
            <a:ext cx="9144000" cy="605589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800" kern="1200" dirty="0"/>
              <a:t>Термин "клиент/сервер" определяет </a:t>
            </a:r>
            <a:r>
              <a:rPr lang="ru-RU" sz="2800" b="1" i="1" kern="1200" dirty="0"/>
              <a:t>архитектуру, или </a:t>
            </a:r>
            <a:r>
              <a:rPr lang="ru-RU" sz="2800" b="1" kern="1200" dirty="0"/>
              <a:t>логическое разделение обязанностей</a:t>
            </a:r>
          </a:p>
          <a:p>
            <a:pPr>
              <a:lnSpc>
                <a:spcPct val="120000"/>
              </a:lnSpc>
            </a:pPr>
            <a:r>
              <a:rPr lang="ru-RU" sz="2800" b="1" kern="1200" dirty="0"/>
              <a:t>Клиент — </a:t>
            </a:r>
            <a:r>
              <a:rPr lang="ru-RU" sz="2800" kern="1200" dirty="0"/>
              <a:t>это приложение, которое называют также </a:t>
            </a:r>
            <a:r>
              <a:rPr lang="ru-RU" sz="2800" b="1" i="1" kern="1200" dirty="0"/>
              <a:t>интерфейсной частью (</a:t>
            </a:r>
            <a:r>
              <a:rPr lang="ru-RU" sz="2800" b="1" i="1" kern="1200" dirty="0" err="1"/>
              <a:t>front</a:t>
            </a:r>
            <a:r>
              <a:rPr lang="ru-RU" sz="2800" b="1" i="1" kern="1200" dirty="0"/>
              <a:t> </a:t>
            </a:r>
            <a:r>
              <a:rPr lang="ru-RU" sz="2800" b="1" i="1" kern="1200" dirty="0" err="1"/>
              <a:t>end</a:t>
            </a:r>
            <a:r>
              <a:rPr lang="ru-RU" sz="2800" b="1" i="1" kern="1200" dirty="0"/>
              <a:t>)</a:t>
            </a:r>
            <a:r>
              <a:rPr lang="ru-RU" sz="2800" i="1" kern="1200" dirty="0"/>
              <a:t>, а </a:t>
            </a:r>
            <a:r>
              <a:rPr lang="ru-RU" sz="2800" b="1" i="1" kern="1200" dirty="0"/>
              <a:t>сервер — прикладной частью (</a:t>
            </a:r>
            <a:r>
              <a:rPr lang="ru-RU" sz="2800" b="1" i="1" kern="1200" dirty="0" err="1"/>
              <a:t>back</a:t>
            </a:r>
            <a:r>
              <a:rPr lang="ru-RU" sz="2800" b="1" i="1" kern="1200" dirty="0"/>
              <a:t> </a:t>
            </a:r>
            <a:r>
              <a:rPr lang="ru-RU" sz="2800" b="1" i="1" kern="1200" dirty="0" err="1"/>
              <a:t>end</a:t>
            </a:r>
            <a:r>
              <a:rPr lang="ru-RU" sz="2800" b="1" i="1" kern="1200" dirty="0"/>
              <a:t>) или СУБД.</a:t>
            </a:r>
            <a:endParaRPr lang="ru-RU" sz="2800" b="1" dirty="0"/>
          </a:p>
          <a:p>
            <a:pPr>
              <a:lnSpc>
                <a:spcPct val="120000"/>
              </a:lnSpc>
            </a:pPr>
            <a:r>
              <a:rPr lang="ru-RU" sz="2800" b="1" dirty="0"/>
              <a:t>Сервер</a:t>
            </a:r>
            <a:r>
              <a:rPr lang="ru-RU" sz="2800" dirty="0"/>
              <a:t>— это сама СУБД. </a:t>
            </a:r>
            <a:br>
              <a:rPr lang="ru-RU" sz="2800" dirty="0"/>
            </a:br>
            <a:r>
              <a:rPr lang="ru-RU" sz="2800" dirty="0"/>
              <a:t>Он поддерживает все основные функции СУБД: определение данных, манипулирование данными, защиту данных, поддержание целостности данных и т.д.  и предоставляет полную поддержку внешнего, концептуального и внутреннего уровней.</a:t>
            </a:r>
          </a:p>
          <a:p>
            <a:pPr>
              <a:lnSpc>
                <a:spcPct val="120000"/>
              </a:lnSpc>
            </a:pPr>
            <a:r>
              <a:rPr lang="ru-RU" sz="2800" b="1" dirty="0"/>
              <a:t>Клиенты </a:t>
            </a:r>
            <a:r>
              <a:rPr lang="ru-RU" sz="2800" dirty="0"/>
              <a:t>— это различные приложения, которые выполняются с использованием СУБД</a:t>
            </a:r>
            <a:r>
              <a:rPr lang="ru-RU" sz="2800" i="1" dirty="0"/>
              <a:t>. </a:t>
            </a:r>
            <a:br>
              <a:rPr lang="ru-RU" sz="2800" i="1" dirty="0"/>
            </a:br>
            <a:r>
              <a:rPr lang="ru-RU" sz="2800" dirty="0"/>
              <a:t>Это как приложения, </a:t>
            </a:r>
            <a:r>
              <a:rPr lang="ru-RU" sz="2800" i="1" dirty="0"/>
              <a:t>написанные пользователями</a:t>
            </a:r>
            <a:r>
              <a:rPr lang="ru-RU" sz="2800" dirty="0"/>
              <a:t>, так и </a:t>
            </a:r>
            <a:r>
              <a:rPr lang="ru-RU" sz="2800" i="1" dirty="0"/>
              <a:t>встроенные приложения</a:t>
            </a:r>
            <a:r>
              <a:rPr lang="ru-RU" sz="2800" dirty="0"/>
              <a:t>, предоставляемые поставщиками СУБД или </a:t>
            </a:r>
            <a:r>
              <a:rPr lang="ru-RU" sz="2800" i="1" dirty="0"/>
              <a:t>некоторыми сторонними поставщиками </a:t>
            </a:r>
            <a:r>
              <a:rPr lang="ru-RU" sz="2800" dirty="0"/>
              <a:t>программного обеспечения.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None/>
            </a:pPr>
            <a:endParaRPr lang="ru-RU" sz="24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214314"/>
            <a:ext cx="8788400" cy="435392"/>
          </a:xfrm>
        </p:spPr>
        <p:txBody>
          <a:bodyPr lIns="36000" tIns="36000" rIns="36000" bIns="36000"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Клиенты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0" y="649707"/>
            <a:ext cx="9144000" cy="620829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ru-RU" sz="1400" kern="1200" dirty="0"/>
              <a:t>Приложения-клиенты, в свою очередь, делятся на </a:t>
            </a:r>
            <a:r>
              <a:rPr lang="ru-RU" sz="1400" b="1" kern="1200" dirty="0"/>
              <a:t>несколько четко определенных категорий</a:t>
            </a:r>
          </a:p>
          <a:p>
            <a:pPr>
              <a:lnSpc>
                <a:spcPct val="120000"/>
              </a:lnSpc>
            </a:pPr>
            <a:r>
              <a:rPr lang="ru-RU" sz="1400" b="1" kern="1200" dirty="0"/>
              <a:t>Приложения, написанные пользователями — </a:t>
            </a:r>
            <a:r>
              <a:rPr lang="ru-RU" sz="1400" kern="1200" dirty="0"/>
              <a:t>это обычные прикладные программы, чаще всего написанные либо на языке программирования общего назначения, таком как C++ или </a:t>
            </a:r>
            <a:r>
              <a:rPr lang="en-US" sz="1400" kern="1200" dirty="0"/>
              <a:t>Java</a:t>
            </a:r>
            <a:r>
              <a:rPr lang="ru-RU" sz="1400" kern="1200" dirty="0"/>
              <a:t>, либо на одном из специализированных языков четвертого поколения, хотя в обоих случаях эти языки </a:t>
            </a:r>
            <a:r>
              <a:rPr lang="ru-RU" sz="1400" b="1" kern="1200" dirty="0"/>
              <a:t>должны как-то связываться </a:t>
            </a:r>
            <a:r>
              <a:rPr lang="ru-RU" sz="1400" kern="1200" dirty="0"/>
              <a:t>с соответствующим подъязыком данных</a:t>
            </a:r>
            <a:r>
              <a:rPr lang="ru-RU" sz="1400" b="1" i="1" kern="1200" dirty="0"/>
              <a:t>.</a:t>
            </a:r>
            <a:endParaRPr lang="ru-RU" sz="1400" b="1" dirty="0"/>
          </a:p>
          <a:p>
            <a:pPr>
              <a:lnSpc>
                <a:spcPct val="120000"/>
              </a:lnSpc>
            </a:pPr>
            <a:r>
              <a:rPr lang="ru-RU" sz="1400" b="1" dirty="0"/>
              <a:t>Приложения, предоставляемые поставщиками (часто называемые инструментальными средствами). </a:t>
            </a:r>
            <a:r>
              <a:rPr lang="ru-RU" sz="1400" dirty="0"/>
              <a:t>В целом, назначение таких средств — упрощать процесс создания и выполнения других приложений, т.е. приложений, которые разрабатываются специально для решения некоторой конкретной задачи. </a:t>
            </a:r>
          </a:p>
          <a:p>
            <a:pPr>
              <a:lnSpc>
                <a:spcPct val="120000"/>
              </a:lnSpc>
            </a:pPr>
            <a:r>
              <a:rPr lang="ru-RU" sz="1400" b="1" dirty="0"/>
              <a:t>Часто эти приложения могут выглядеть вовсе не так, как приложения в общепринятом смысле</a:t>
            </a:r>
            <a:r>
              <a:rPr lang="ru-RU" sz="1400" dirty="0"/>
              <a:t>.</a:t>
            </a:r>
            <a:r>
              <a:rPr lang="en-US" sz="1400" dirty="0"/>
              <a:t> </a:t>
            </a:r>
            <a:r>
              <a:rPr lang="ru-RU" sz="1400" dirty="0"/>
              <a:t>Назначение инструментальных средств состоит в предоставлении пользователям, особенно конечным, возможности создавать приложения без написания традиционных программ. Например, одно из предоставляемых поставщиком СУБД инструментальных средств может быть </a:t>
            </a:r>
            <a:r>
              <a:rPr lang="ru-RU" sz="1400" b="1" dirty="0"/>
              <a:t>генератором отчетов</a:t>
            </a:r>
            <a:r>
              <a:rPr lang="ru-RU" sz="1400" dirty="0"/>
              <a:t>. Где по запросу можно сформировать отчет. Каждый такой запрос является, по существу, не чем иным, как небольшим специальным приложением, написанным на языке очень высокого уровня ( с конкретным назначением), а именно — на языке формирования отчетов. </a:t>
            </a:r>
          </a:p>
          <a:p>
            <a:pPr>
              <a:lnSpc>
                <a:spcPct val="120000"/>
              </a:lnSpc>
            </a:pPr>
            <a:r>
              <a:rPr lang="ru-RU" sz="1400" b="1" dirty="0"/>
              <a:t>Отдельно поставляемые инструментальные средства</a:t>
            </a:r>
            <a:r>
              <a:rPr lang="ru-RU" sz="1400" dirty="0"/>
              <a:t>, в свою очередь, делятся на несколько самостоятельных классов.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а) Процессоры языков запросов.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б) Генераторы отчетов.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в) Графические бизнес-подсистемы.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 г) Электронные таблицы.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д) Процессоры команд на естественных языках.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е) Статистические пакеты.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ж) Средства управления копированием или средства извлечения данных,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з) Генераторы приложений (включая процессоры языков четвертого поколения).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и) Другие средства разработки приложений, включая CASE-инструменты (CASE, или </a:t>
            </a:r>
            <a:r>
              <a:rPr lang="ru-RU" sz="1400" dirty="0" err="1"/>
              <a:t>Computer-Aided</a:t>
            </a:r>
            <a:r>
              <a:rPr lang="ru-RU" sz="1400" dirty="0"/>
              <a:t> </a:t>
            </a:r>
            <a:r>
              <a:rPr lang="ru-RU" sz="1400" dirty="0" err="1"/>
              <a:t>Software</a:t>
            </a:r>
            <a:r>
              <a:rPr lang="ru-RU" sz="1400" dirty="0"/>
              <a:t> </a:t>
            </a:r>
            <a:r>
              <a:rPr lang="ru-RU" sz="1400" dirty="0" err="1"/>
              <a:t>Engineering</a:t>
            </a:r>
            <a:r>
              <a:rPr lang="ru-RU" sz="1400" dirty="0"/>
              <a:t> — автоматизированное проектирование и создание программ) и т.д.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1400" dirty="0"/>
              <a:t>к) Инструментальные средства интеллектуального анализа данных и визуализации. </a:t>
            </a:r>
          </a:p>
          <a:p>
            <a:pPr>
              <a:lnSpc>
                <a:spcPct val="120000"/>
              </a:lnSpc>
            </a:pPr>
            <a:r>
              <a:rPr lang="ru-RU" sz="1400" dirty="0"/>
              <a:t>Главная задача системы баз данных — </a:t>
            </a:r>
            <a:r>
              <a:rPr lang="ru-RU" sz="1400" b="1" dirty="0"/>
              <a:t>поддержка создания и выполнения приложений</a:t>
            </a:r>
            <a:r>
              <a:rPr lang="ru-RU" sz="1400" dirty="0"/>
              <a:t>. </a:t>
            </a:r>
            <a:br>
              <a:rPr lang="ru-RU" sz="1400" dirty="0"/>
            </a:br>
            <a:r>
              <a:rPr lang="ru-RU" sz="1400" dirty="0"/>
              <a:t>Поэтому качество имеющихся клиентских инструментальных средств должно быть главным фактором при выборе СУБД, наиболее подходящей для конкретного заказчика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ru-RU" sz="14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31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0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0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166187"/>
            <a:ext cx="8750300" cy="716129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Типовая схема клиент-сервер архитектуры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124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ru-RU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Times New Roman" pitchFamily="18" charset="0"/>
              </a:rPr>
              <a:t>К</a:t>
            </a:r>
            <a:r>
              <a:rPr kumimoji="0" lang="ru-RU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3013" y="1572127"/>
            <a:ext cx="413886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Конечные пользователи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33013" y="2783305"/>
            <a:ext cx="168441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Клиенты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33013" y="4130842"/>
            <a:ext cx="150795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Сервер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33014" y="5542547"/>
            <a:ext cx="21496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База данных</a:t>
            </a:r>
          </a:p>
        </p:txBody>
      </p:sp>
      <p:pic>
        <p:nvPicPr>
          <p:cNvPr id="1029" name="Picture 5" descr="C:\Users\Boris\Pictures\Схема_К-С_БД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6929" y="1226465"/>
            <a:ext cx="2000250" cy="5495925"/>
          </a:xfrm>
          <a:prstGeom prst="rect">
            <a:avLst/>
          </a:prstGeom>
          <a:noFill/>
        </p:spPr>
      </p:pic>
      <p:cxnSp>
        <p:nvCxnSpPr>
          <p:cNvPr id="12" name="Прямая со стрелкой 11"/>
          <p:cNvCxnSpPr/>
          <p:nvPr/>
        </p:nvCxnSpPr>
        <p:spPr>
          <a:xfrm flipV="1">
            <a:off x="1941095" y="3609474"/>
            <a:ext cx="2021305" cy="30480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94484" y="3288632"/>
            <a:ext cx="2951747" cy="64633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Прозрачный удаленный доступ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214314"/>
            <a:ext cx="8788400" cy="457200"/>
          </a:xfrm>
        </p:spPr>
        <p:txBody>
          <a:bodyPr lIns="36000" tIns="36000" rIns="36000" bIns="36000"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Системы клиент/сервер</a:t>
            </a:r>
            <a:endParaRPr lang="en-US" sz="36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0" y="874767"/>
            <a:ext cx="9144000" cy="605589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2800" dirty="0"/>
              <a:t> Системы "клиент/сервер" могут рассматриваться как </a:t>
            </a:r>
            <a:r>
              <a:rPr lang="ru-RU" sz="2800" b="1" dirty="0"/>
              <a:t>частный случай распределенных систем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Система "клиент/сервер" — это распределенная система, в которой одни узлы </a:t>
            </a:r>
            <a:r>
              <a:rPr lang="ru-RU" sz="2800" b="1" dirty="0"/>
              <a:t>— клиенты</a:t>
            </a:r>
            <a:r>
              <a:rPr lang="ru-RU" sz="2800" dirty="0"/>
              <a:t>, а другие </a:t>
            </a:r>
            <a:r>
              <a:rPr lang="ru-RU" sz="2800" b="1" dirty="0"/>
              <a:t>— серверы</a:t>
            </a:r>
            <a:r>
              <a:rPr lang="ru-RU" sz="2800" dirty="0"/>
              <a:t>;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Все </a:t>
            </a:r>
            <a:r>
              <a:rPr lang="ru-RU" sz="2800" b="1" dirty="0"/>
              <a:t>данные </a:t>
            </a:r>
            <a:r>
              <a:rPr lang="ru-RU" sz="2800" dirty="0"/>
              <a:t>размещены на узлах, которые являются </a:t>
            </a:r>
            <a:r>
              <a:rPr lang="ru-RU" sz="2800" b="1" dirty="0"/>
              <a:t>серверами</a:t>
            </a:r>
            <a:r>
              <a:rPr lang="ru-RU" sz="2800" dirty="0"/>
              <a:t>; все </a:t>
            </a:r>
            <a:r>
              <a:rPr lang="ru-RU" sz="2800" b="1" dirty="0"/>
              <a:t>приложения </a:t>
            </a:r>
            <a:r>
              <a:rPr lang="ru-RU" sz="2800" dirty="0"/>
              <a:t>выполняются на узлах </a:t>
            </a:r>
            <a:r>
              <a:rPr lang="ru-RU" sz="2800" b="1" dirty="0"/>
              <a:t>клиентах</a:t>
            </a:r>
            <a:r>
              <a:rPr lang="ru-RU" sz="2800" dirty="0"/>
              <a:t> и "</a:t>
            </a:r>
            <a:r>
              <a:rPr lang="ru-RU" sz="2800" b="1" dirty="0"/>
              <a:t>швы видны пользователю"</a:t>
            </a:r>
            <a:r>
              <a:rPr lang="ru-RU" sz="2800" dirty="0"/>
              <a:t> (полная локальная независимость не предоставляется).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Возможны несколько вариантов основной схемы (рисунок выше):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 Несколько клиентов могут совместно использовать </a:t>
            </a:r>
            <a:r>
              <a:rPr lang="ru-RU" sz="2800" b="1" dirty="0"/>
              <a:t>один и тот же сервер</a:t>
            </a:r>
            <a:r>
              <a:rPr lang="ru-RU" sz="2800" dirty="0"/>
              <a:t> (фактически это обычная практика).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Отдельный клиент может иметь доступ </a:t>
            </a:r>
            <a:r>
              <a:rPr lang="ru-RU" sz="2800" b="1" dirty="0"/>
              <a:t>к нескольким серверам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ru-RU" sz="2400" dirty="0"/>
              <a:t>Клиент может получить доступ к любому количеству серверов, но </a:t>
            </a:r>
            <a:r>
              <a:rPr lang="ru-RU" sz="2400" b="1" dirty="0"/>
              <a:t>лишь к одному из них в каждый момент времени</a:t>
            </a:r>
            <a:r>
              <a:rPr lang="ru-RU" sz="2400" dirty="0"/>
              <a:t> (т.е. каждый запрос к базе данных может быть направлен только к одному серверу).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ru-RU" sz="2400" dirty="0"/>
              <a:t>В такой системе невозможно </a:t>
            </a:r>
            <a:r>
              <a:rPr lang="ru-RU" sz="2400" b="1" dirty="0"/>
              <a:t>за один запрос </a:t>
            </a:r>
            <a:r>
              <a:rPr lang="ru-RU" sz="2400" dirty="0"/>
              <a:t>получить </a:t>
            </a:r>
            <a:r>
              <a:rPr lang="ru-RU" sz="2400" b="1" dirty="0"/>
              <a:t>комбинированные данные от двух и более серверов.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ru-RU" sz="2400" dirty="0"/>
              <a:t>Кроме того, пользователь в такой системе должен знать, </a:t>
            </a:r>
            <a:r>
              <a:rPr lang="ru-RU" sz="2400" b="1" dirty="0"/>
              <a:t>на каком именно компьютере </a:t>
            </a:r>
            <a:r>
              <a:rPr lang="ru-RU" sz="2400" dirty="0"/>
              <a:t>содержится конкретная часть данных.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None/>
            </a:pPr>
            <a:endParaRPr lang="ru-RU" sz="24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14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166187"/>
            <a:ext cx="8750300" cy="716129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Много клиентов – один сервер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124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163" y="994422"/>
            <a:ext cx="5406608" cy="4993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" name="TextBox 136"/>
          <p:cNvSpPr txBox="1"/>
          <p:nvPr/>
        </p:nvSpPr>
        <p:spPr>
          <a:xfrm>
            <a:off x="6112043" y="1090863"/>
            <a:ext cx="247048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Компьютеры-клиенты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301916"/>
            <a:ext cx="247048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База данных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7704" y="0"/>
            <a:ext cx="8750300" cy="562708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Совмещение</a:t>
            </a:r>
            <a:r>
              <a:rPr lang="ru-RU" sz="3200" dirty="0">
                <a:solidFill>
                  <a:schemeClr val="bg2"/>
                </a:solidFill>
              </a:rPr>
              <a:t> роли клиента и сервера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124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2051" name="Picture 3" descr="C:\Users\Boris\Pictures\К-С_БД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576" y="860611"/>
            <a:ext cx="5659868" cy="56788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Ранняя архитектура </a:t>
            </a:r>
            <a:r>
              <a:rPr lang="ru-RU" sz="3200" dirty="0">
                <a:solidFill>
                  <a:schemeClr val="bg2"/>
                </a:solidFill>
              </a:rPr>
              <a:t>взаимодействия с СУБД</a:t>
            </a:r>
            <a:endParaRPr lang="ru-RU" sz="32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7" y="626418"/>
            <a:ext cx="9036843" cy="6162570"/>
          </a:xfrm>
        </p:spPr>
        <p:txBody>
          <a:bodyPr>
            <a:normAutofit fontScale="55000" lnSpcReduction="20000"/>
          </a:bodyPr>
          <a:lstStyle/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dirty="0"/>
              <a:t>Централизованная архитектура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dirty="0"/>
              <a:t>Сама СУБД и прикладные программы, которые работают с базами данных, функционируют на центральном компьютере (большая ЭВМ или мини-компьютер).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dirty="0"/>
              <a:t>Там же располагаются базы данных.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dirty="0"/>
              <a:t>К центральному компьютеру были подключены терминалы, выступающие в качестве рабочих мест пользователей.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dirty="0"/>
              <a:t>Жесткие требования к производительности  ЭВМ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dirty="0"/>
              <a:t>Особенности СУБД первого поколения напрямую связаны с архитектурой систем больших ЭВМ и мини-компьютеров 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5" name="Рисунок 4" descr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0847" y="1113720"/>
            <a:ext cx="4805084" cy="2879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Компоненты интерактивного </a:t>
            </a:r>
            <a:r>
              <a:rPr lang="ru-RU" sz="3200" dirty="0">
                <a:solidFill>
                  <a:schemeClr val="bg2"/>
                </a:solidFill>
              </a:rPr>
              <a:t>приложения </a:t>
            </a:r>
            <a:endParaRPr lang="ru-RU" sz="32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7" y="885211"/>
            <a:ext cx="8828296" cy="569205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800" dirty="0"/>
              <a:t>Основной принцип технологии "клиент-сервер" заключается в разделении функций стандартного интерактивного приложения на четыре группы, имеющие различную природу</a:t>
            </a:r>
            <a:endParaRPr lang="ru-RU" sz="2600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200" dirty="0"/>
              <a:t>Функции ввода и отображения данных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200" dirty="0"/>
              <a:t>Прикладные функции, реализующие бизнес-логику приложения и характерные для предметной области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200" dirty="0"/>
              <a:t>Функции хранения и управления информационными ресурсами (базами данных, файловыми системами и т.д.)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200" dirty="0"/>
              <a:t>Служебные функции, играющие роль связок между другими функциями</a:t>
            </a:r>
          </a:p>
          <a:p>
            <a:pPr>
              <a:defRPr/>
            </a:pPr>
            <a:r>
              <a:rPr lang="ru-RU" sz="2600" dirty="0"/>
              <a:t>В соответствии с функциями будем различать </a:t>
            </a:r>
            <a:r>
              <a:rPr lang="ru-RU" sz="2400" dirty="0">
                <a:solidFill>
                  <a:schemeClr val="bg2"/>
                </a:solidFill>
              </a:rPr>
              <a:t>компоненты интерактивного приложения, </a:t>
            </a:r>
            <a:r>
              <a:rPr lang="ru-RU" sz="2600" dirty="0"/>
              <a:t>реализующие эти функции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8197" name="Нижний колонтитул 2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Модель файлового сервера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11" name="Содержимое 2"/>
          <p:cNvSpPr>
            <a:spLocks noGrp="1"/>
          </p:cNvSpPr>
          <p:nvPr>
            <p:ph idx="1"/>
          </p:nvPr>
        </p:nvSpPr>
        <p:spPr>
          <a:xfrm>
            <a:off x="96252" y="673768"/>
            <a:ext cx="8919411" cy="598370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Характерна для ранних СУБД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FoxPro, Clipper, Clarion, Paradox</a:t>
            </a:r>
          </a:p>
          <a:p>
            <a:pPr>
              <a:lnSpc>
                <a:spcPct val="120000"/>
              </a:lnSpc>
            </a:pPr>
            <a:r>
              <a:rPr lang="ru-RU" dirty="0"/>
              <a:t>Работает под сетевой ОС</a:t>
            </a:r>
          </a:p>
          <a:p>
            <a:pPr>
              <a:lnSpc>
                <a:spcPct val="120000"/>
              </a:lnSpc>
            </a:pPr>
            <a:r>
              <a:rPr lang="ru-RU" dirty="0"/>
              <a:t>На узлах сети работают </a:t>
            </a:r>
            <a:r>
              <a:rPr lang="ru-RU" dirty="0">
                <a:solidFill>
                  <a:srgbClr val="FF0000"/>
                </a:solidFill>
              </a:rPr>
              <a:t>полноценные экземпляры </a:t>
            </a:r>
            <a:r>
              <a:rPr lang="ru-RU" dirty="0"/>
              <a:t>СУБД</a:t>
            </a:r>
          </a:p>
          <a:p>
            <a:pPr>
              <a:lnSpc>
                <a:spcPct val="120000"/>
              </a:lnSpc>
            </a:pPr>
            <a:r>
              <a:rPr lang="ru-RU" dirty="0"/>
              <a:t>Базы данных на разделяемых файлах</a:t>
            </a:r>
          </a:p>
          <a:p>
            <a:pPr>
              <a:lnSpc>
                <a:spcPct val="120000"/>
              </a:lnSpc>
            </a:pPr>
            <a:r>
              <a:rPr lang="ru-RU" dirty="0"/>
              <a:t>Высокий сетевой трафик</a:t>
            </a:r>
          </a:p>
          <a:p>
            <a:pPr>
              <a:lnSpc>
                <a:spcPct val="120000"/>
              </a:lnSpc>
            </a:pPr>
            <a:r>
              <a:rPr lang="ru-RU" dirty="0"/>
              <a:t>Узкий спектр операций манипулирования </a:t>
            </a:r>
          </a:p>
          <a:p>
            <a:pPr>
              <a:lnSpc>
                <a:spcPct val="120000"/>
              </a:lnSpc>
            </a:pPr>
            <a:r>
              <a:rPr lang="ru-RU" dirty="0"/>
              <a:t>Отсутствие гибких средств безопасности (уровень файла)</a:t>
            </a:r>
          </a:p>
          <a:p>
            <a:pPr algn="ctr">
              <a:lnSpc>
                <a:spcPct val="120000"/>
              </a:lnSpc>
              <a:buNone/>
            </a:pPr>
            <a:endParaRPr lang="ru-RU" dirty="0"/>
          </a:p>
        </p:txBody>
      </p:sp>
      <p:grpSp>
        <p:nvGrpSpPr>
          <p:cNvPr id="26" name="Группа 25"/>
          <p:cNvGrpSpPr/>
          <p:nvPr/>
        </p:nvGrpSpPr>
        <p:grpSpPr>
          <a:xfrm>
            <a:off x="385012" y="1130970"/>
            <a:ext cx="8526377" cy="2286002"/>
            <a:chOff x="385012" y="1644314"/>
            <a:chExt cx="8526377" cy="2286002"/>
          </a:xfrm>
        </p:grpSpPr>
        <p:grpSp>
          <p:nvGrpSpPr>
            <p:cNvPr id="24" name="Группа 23"/>
            <p:cNvGrpSpPr/>
            <p:nvPr/>
          </p:nvGrpSpPr>
          <p:grpSpPr>
            <a:xfrm>
              <a:off x="385012" y="1668378"/>
              <a:ext cx="5053263" cy="2208669"/>
              <a:chOff x="385012" y="1668378"/>
              <a:chExt cx="5053263" cy="2208669"/>
            </a:xfrm>
          </p:grpSpPr>
          <p:grpSp>
            <p:nvGrpSpPr>
              <p:cNvPr id="22" name="Группа 21"/>
              <p:cNvGrpSpPr/>
              <p:nvPr/>
            </p:nvGrpSpPr>
            <p:grpSpPr>
              <a:xfrm>
                <a:off x="465222" y="2277980"/>
                <a:ext cx="4820652" cy="1038726"/>
                <a:chOff x="465222" y="2390274"/>
                <a:chExt cx="4820652" cy="1038726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465222" y="2390274"/>
                  <a:ext cx="2406315" cy="103872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ru-RU" sz="2400" dirty="0"/>
                    <a:t>Компонент представления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2879559" y="2390274"/>
                  <a:ext cx="2406315" cy="103872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ru-RU" sz="2400" dirty="0"/>
                    <a:t>Прикладной компонент</a:t>
                  </a:r>
                </a:p>
              </p:txBody>
            </p:sp>
          </p:grpSp>
          <p:sp>
            <p:nvSpPr>
              <p:cNvPr id="10" name="Прямоугольник 9"/>
              <p:cNvSpPr/>
              <p:nvPr/>
            </p:nvSpPr>
            <p:spPr>
              <a:xfrm>
                <a:off x="385012" y="1668378"/>
                <a:ext cx="5053263" cy="2197769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876926" y="3396916"/>
                <a:ext cx="1732548" cy="4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Клиент </a:t>
                </a:r>
              </a:p>
            </p:txBody>
          </p:sp>
        </p:grpSp>
        <p:grpSp>
          <p:nvGrpSpPr>
            <p:cNvPr id="23" name="Группа 22"/>
            <p:cNvGrpSpPr/>
            <p:nvPr/>
          </p:nvGrpSpPr>
          <p:grpSpPr>
            <a:xfrm>
              <a:off x="6176211" y="1644314"/>
              <a:ext cx="2735178" cy="2286002"/>
              <a:chOff x="6176211" y="1644314"/>
              <a:chExt cx="2735178" cy="2286002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368717" y="2221833"/>
                <a:ext cx="2406315" cy="108952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/>
                  <a:t>Компонент доступа к ресурсам</a:t>
                </a:r>
              </a:p>
            </p:txBody>
          </p:sp>
          <p:sp>
            <p:nvSpPr>
              <p:cNvPr id="13" name="Прямоугольник 12"/>
              <p:cNvSpPr/>
              <p:nvPr/>
            </p:nvSpPr>
            <p:spPr>
              <a:xfrm>
                <a:off x="6176211" y="1644314"/>
                <a:ext cx="2735178" cy="2286002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697578" y="3429000"/>
                <a:ext cx="1732548" cy="4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Сервер </a:t>
                </a:r>
              </a:p>
            </p:txBody>
          </p:sp>
        </p:grpSp>
        <p:grpSp>
          <p:nvGrpSpPr>
            <p:cNvPr id="25" name="Группа 24"/>
            <p:cNvGrpSpPr/>
            <p:nvPr/>
          </p:nvGrpSpPr>
          <p:grpSpPr>
            <a:xfrm>
              <a:off x="5261810" y="1808749"/>
              <a:ext cx="1171075" cy="1239254"/>
              <a:chOff x="5261810" y="1808749"/>
              <a:chExt cx="1171075" cy="1239254"/>
            </a:xfrm>
          </p:grpSpPr>
          <p:cxnSp>
            <p:nvCxnSpPr>
              <p:cNvPr id="16" name="Прямая со стрелкой 15"/>
              <p:cNvCxnSpPr/>
              <p:nvPr/>
            </p:nvCxnSpPr>
            <p:spPr>
              <a:xfrm>
                <a:off x="5277853" y="2550696"/>
                <a:ext cx="1090863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 стрелкой 17"/>
              <p:cNvCxnSpPr/>
              <p:nvPr/>
            </p:nvCxnSpPr>
            <p:spPr>
              <a:xfrm rot="10800000" flipV="1">
                <a:off x="5277858" y="3048001"/>
                <a:ext cx="1074817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5261810" y="1808749"/>
                <a:ext cx="1171075" cy="485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Файлы</a:t>
                </a:r>
                <a:r>
                  <a:rPr lang="ru-RU" dirty="0"/>
                  <a:t> 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8197" name="Нижний колонтитул 2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Модель</a:t>
            </a:r>
            <a:r>
              <a:rPr lang="ru-RU" sz="3600" dirty="0">
                <a:solidFill>
                  <a:schemeClr val="bg2"/>
                </a:solidFill>
              </a:rPr>
              <a:t> удаленного доступа (</a:t>
            </a:r>
            <a:r>
              <a:rPr lang="en-US" sz="3600" dirty="0">
                <a:solidFill>
                  <a:schemeClr val="bg2"/>
                </a:solidFill>
              </a:rPr>
              <a:t>RDA</a:t>
            </a:r>
            <a:r>
              <a:rPr lang="ru-RU" sz="3600" dirty="0">
                <a:solidFill>
                  <a:schemeClr val="bg2"/>
                </a:solidFill>
              </a:rPr>
              <a:t>)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11" name="Содержимое 2"/>
          <p:cNvSpPr>
            <a:spLocks noGrp="1"/>
          </p:cNvSpPr>
          <p:nvPr>
            <p:ph idx="1"/>
          </p:nvPr>
        </p:nvSpPr>
        <p:spPr>
          <a:xfrm>
            <a:off x="96252" y="673768"/>
            <a:ext cx="8919411" cy="598370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Как правило </a:t>
            </a:r>
            <a:r>
              <a:rPr lang="en-US" b="1" dirty="0"/>
              <a:t>SQL</a:t>
            </a:r>
            <a:r>
              <a:rPr lang="ru-RU" b="1" dirty="0"/>
              <a:t> сервер</a:t>
            </a: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Доступ к ресурсам: </a:t>
            </a:r>
            <a:r>
              <a:rPr lang="en-US" dirty="0"/>
              <a:t>SQL </a:t>
            </a:r>
            <a:r>
              <a:rPr lang="ru-RU" dirty="0"/>
              <a:t>оператор , либо вызовы специальной библиотеки функций (если есть </a:t>
            </a:r>
            <a:r>
              <a:rPr lang="en-US" dirty="0"/>
              <a:t>API )</a:t>
            </a:r>
          </a:p>
          <a:p>
            <a:pPr>
              <a:lnSpc>
                <a:spcPct val="120000"/>
              </a:lnSpc>
            </a:pPr>
            <a:r>
              <a:rPr lang="ru-RU" dirty="0"/>
              <a:t>Сервер возвращает блок данных по запросу (не весь файл)</a:t>
            </a:r>
          </a:p>
          <a:p>
            <a:pPr>
              <a:lnSpc>
                <a:spcPct val="120000"/>
              </a:lnSpc>
            </a:pPr>
            <a:r>
              <a:rPr lang="ru-RU" dirty="0"/>
              <a:t>Инициатор запроса – КЛИЕНТ, Сервер - ПАССИВЕН</a:t>
            </a:r>
          </a:p>
          <a:p>
            <a:pPr>
              <a:lnSpc>
                <a:spcPct val="120000"/>
              </a:lnSpc>
            </a:pPr>
            <a:r>
              <a:rPr lang="ru-RU" dirty="0"/>
              <a:t>Уменьшается загрузка сети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SQL</a:t>
            </a:r>
            <a:r>
              <a:rPr lang="ru-RU" b="1" dirty="0"/>
              <a:t> сервер </a:t>
            </a:r>
            <a:r>
              <a:rPr lang="ru-RU" dirty="0"/>
              <a:t>– основное достоинство, стандартизация взаимодействия</a:t>
            </a:r>
          </a:p>
          <a:p>
            <a:pPr>
              <a:lnSpc>
                <a:spcPct val="120000"/>
              </a:lnSpc>
            </a:pPr>
            <a:r>
              <a:rPr lang="ru-RU" dirty="0"/>
              <a:t>Но усложнено администрирование системы</a:t>
            </a:r>
          </a:p>
        </p:txBody>
      </p:sp>
      <p:grpSp>
        <p:nvGrpSpPr>
          <p:cNvPr id="2" name="Группа 25"/>
          <p:cNvGrpSpPr/>
          <p:nvPr/>
        </p:nvGrpSpPr>
        <p:grpSpPr>
          <a:xfrm>
            <a:off x="385012" y="1130970"/>
            <a:ext cx="8526377" cy="2286002"/>
            <a:chOff x="385012" y="1644314"/>
            <a:chExt cx="8526377" cy="2286002"/>
          </a:xfrm>
        </p:grpSpPr>
        <p:grpSp>
          <p:nvGrpSpPr>
            <p:cNvPr id="3" name="Группа 23"/>
            <p:cNvGrpSpPr/>
            <p:nvPr/>
          </p:nvGrpSpPr>
          <p:grpSpPr>
            <a:xfrm>
              <a:off x="385012" y="1668378"/>
              <a:ext cx="5053263" cy="2208669"/>
              <a:chOff x="385012" y="1668378"/>
              <a:chExt cx="5053263" cy="2208669"/>
            </a:xfrm>
          </p:grpSpPr>
          <p:grpSp>
            <p:nvGrpSpPr>
              <p:cNvPr id="4" name="Группа 21"/>
              <p:cNvGrpSpPr/>
              <p:nvPr/>
            </p:nvGrpSpPr>
            <p:grpSpPr>
              <a:xfrm>
                <a:off x="465222" y="2277980"/>
                <a:ext cx="4820652" cy="1038726"/>
                <a:chOff x="465222" y="2390274"/>
                <a:chExt cx="4820652" cy="1038726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465222" y="2390274"/>
                  <a:ext cx="2406315" cy="103872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ru-RU" sz="2400" dirty="0"/>
                    <a:t>Компонент представления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2879559" y="2390274"/>
                  <a:ext cx="2406315" cy="103872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ru-RU" sz="2400" dirty="0"/>
                    <a:t>Прикладной компонент</a:t>
                  </a:r>
                </a:p>
              </p:txBody>
            </p:sp>
          </p:grpSp>
          <p:sp>
            <p:nvSpPr>
              <p:cNvPr id="10" name="Прямоугольник 9"/>
              <p:cNvSpPr/>
              <p:nvPr/>
            </p:nvSpPr>
            <p:spPr>
              <a:xfrm>
                <a:off x="385012" y="1668378"/>
                <a:ext cx="5053263" cy="2197769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876926" y="3396916"/>
                <a:ext cx="1732548" cy="4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Клиент </a:t>
                </a:r>
              </a:p>
            </p:txBody>
          </p:sp>
        </p:grpSp>
        <p:grpSp>
          <p:nvGrpSpPr>
            <p:cNvPr id="5" name="Группа 22"/>
            <p:cNvGrpSpPr/>
            <p:nvPr/>
          </p:nvGrpSpPr>
          <p:grpSpPr>
            <a:xfrm>
              <a:off x="6176211" y="1644314"/>
              <a:ext cx="2735178" cy="2286002"/>
              <a:chOff x="6176211" y="1644314"/>
              <a:chExt cx="2735178" cy="2286002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368717" y="2221833"/>
                <a:ext cx="2406315" cy="108952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/>
                  <a:t>Компонент доступа к ресурсам</a:t>
                </a:r>
              </a:p>
            </p:txBody>
          </p:sp>
          <p:sp>
            <p:nvSpPr>
              <p:cNvPr id="13" name="Прямоугольник 12"/>
              <p:cNvSpPr/>
              <p:nvPr/>
            </p:nvSpPr>
            <p:spPr>
              <a:xfrm>
                <a:off x="6176211" y="1644314"/>
                <a:ext cx="2735178" cy="2286002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697578" y="3429000"/>
                <a:ext cx="1732548" cy="4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Сервер </a:t>
                </a:r>
              </a:p>
            </p:txBody>
          </p:sp>
        </p:grpSp>
        <p:grpSp>
          <p:nvGrpSpPr>
            <p:cNvPr id="15" name="Группа 24"/>
            <p:cNvGrpSpPr/>
            <p:nvPr/>
          </p:nvGrpSpPr>
          <p:grpSpPr>
            <a:xfrm>
              <a:off x="5277853" y="1808749"/>
              <a:ext cx="1251284" cy="1239254"/>
              <a:chOff x="5277853" y="1808749"/>
              <a:chExt cx="1251284" cy="1239254"/>
            </a:xfrm>
          </p:grpSpPr>
          <p:cxnSp>
            <p:nvCxnSpPr>
              <p:cNvPr id="16" name="Прямая со стрелкой 15"/>
              <p:cNvCxnSpPr/>
              <p:nvPr/>
            </p:nvCxnSpPr>
            <p:spPr>
              <a:xfrm>
                <a:off x="5277853" y="2550696"/>
                <a:ext cx="1090863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 стрелкой 17"/>
              <p:cNvCxnSpPr/>
              <p:nvPr/>
            </p:nvCxnSpPr>
            <p:spPr>
              <a:xfrm rot="10800000" flipV="1">
                <a:off x="5277858" y="3048001"/>
                <a:ext cx="1074817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5358062" y="1808749"/>
                <a:ext cx="1171075" cy="485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SQL</a:t>
                </a:r>
                <a:r>
                  <a:rPr lang="ru-RU" dirty="0"/>
                  <a:t> </a:t>
                </a:r>
              </a:p>
            </p:txBody>
          </p:sp>
        </p:grpSp>
      </p:grpSp>
      <p:sp>
        <p:nvSpPr>
          <p:cNvPr id="22" name="TextBox 21"/>
          <p:cNvSpPr txBox="1"/>
          <p:nvPr/>
        </p:nvSpPr>
        <p:spPr>
          <a:xfrm>
            <a:off x="5213685" y="2703099"/>
            <a:ext cx="139566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</a:t>
            </a:r>
            <a:r>
              <a:rPr lang="ru-RU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8197" name="Нижний колонтитул 2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Модель</a:t>
            </a:r>
            <a:r>
              <a:rPr lang="ru-RU" sz="3600" dirty="0">
                <a:solidFill>
                  <a:schemeClr val="bg2"/>
                </a:solidFill>
              </a:rPr>
              <a:t> сервера баз данных (</a:t>
            </a:r>
            <a:r>
              <a:rPr lang="en-US" sz="3600" dirty="0">
                <a:solidFill>
                  <a:schemeClr val="bg2"/>
                </a:solidFill>
              </a:rPr>
              <a:t>DBS</a:t>
            </a:r>
            <a:r>
              <a:rPr lang="ru-RU" sz="3600" dirty="0">
                <a:solidFill>
                  <a:schemeClr val="bg2"/>
                </a:solidFill>
              </a:rPr>
              <a:t>)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11" name="Содержимое 2"/>
          <p:cNvSpPr>
            <a:spLocks noGrp="1"/>
          </p:cNvSpPr>
          <p:nvPr>
            <p:ph idx="1"/>
          </p:nvPr>
        </p:nvSpPr>
        <p:spPr>
          <a:xfrm>
            <a:off x="96252" y="673768"/>
            <a:ext cx="8919411" cy="598370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Сервер - как правило </a:t>
            </a:r>
            <a:r>
              <a:rPr lang="en-US" b="1" dirty="0"/>
              <a:t>SQL</a:t>
            </a:r>
            <a:r>
              <a:rPr lang="ru-RU" b="1" dirty="0"/>
              <a:t> сервер</a:t>
            </a: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Доступ к ресурсам: механизм </a:t>
            </a:r>
            <a:r>
              <a:rPr lang="ru-RU" sz="3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хранимых процедур (ХП)</a:t>
            </a:r>
            <a:endParaRPr lang="en-US" sz="3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dirty="0"/>
              <a:t>Возвращает сервер блок данных по запросу/после выполнения</a:t>
            </a:r>
          </a:p>
          <a:p>
            <a:pPr>
              <a:lnSpc>
                <a:spcPct val="120000"/>
              </a:lnSpc>
            </a:pPr>
            <a:r>
              <a:rPr lang="ru-RU" dirty="0"/>
              <a:t>Инициатор запроса – КЛИЕНТ, Сервер - АКТИВЕН</a:t>
            </a:r>
          </a:p>
          <a:p>
            <a:pPr>
              <a:lnSpc>
                <a:spcPct val="120000"/>
              </a:lnSpc>
            </a:pPr>
            <a:r>
              <a:rPr lang="ru-RU" dirty="0"/>
              <a:t>Достоинства</a:t>
            </a:r>
          </a:p>
          <a:p>
            <a:pPr lvl="1">
              <a:lnSpc>
                <a:spcPct val="120000"/>
              </a:lnSpc>
              <a:buClr>
                <a:srgbClr val="008000"/>
              </a:buClr>
              <a:buFont typeface="Wingdings" pitchFamily="2" charset="2"/>
              <a:buChar char="Ø"/>
            </a:pPr>
            <a:r>
              <a:rPr lang="ru-RU" dirty="0"/>
              <a:t>возможность централизованного администрирования прикладных функций</a:t>
            </a:r>
          </a:p>
          <a:p>
            <a:pPr lvl="1">
              <a:lnSpc>
                <a:spcPct val="120000"/>
              </a:lnSpc>
              <a:buClr>
                <a:srgbClr val="008000"/>
              </a:buClr>
              <a:buFont typeface="Wingdings" pitchFamily="2" charset="2"/>
              <a:buChar char="Ø"/>
            </a:pPr>
            <a:r>
              <a:rPr lang="ru-RU" dirty="0"/>
              <a:t>снижение сетевого трафика (вместо </a:t>
            </a:r>
            <a:r>
              <a:rPr lang="en-US" dirty="0"/>
              <a:t>SQL –</a:t>
            </a:r>
            <a:r>
              <a:rPr lang="ru-RU" dirty="0"/>
              <a:t>запросов, только вызов ХП)</a:t>
            </a:r>
          </a:p>
          <a:p>
            <a:pPr lvl="1">
              <a:lnSpc>
                <a:spcPct val="120000"/>
              </a:lnSpc>
              <a:buClr>
                <a:srgbClr val="008000"/>
              </a:buClr>
              <a:buFont typeface="Wingdings" pitchFamily="2" charset="2"/>
              <a:buChar char="Ø"/>
            </a:pPr>
            <a:r>
              <a:rPr lang="ru-RU" dirty="0"/>
              <a:t>возможность разделения процедуры между несколькими приложениями</a:t>
            </a:r>
          </a:p>
          <a:p>
            <a:pPr lvl="1">
              <a:lnSpc>
                <a:spcPct val="120000"/>
              </a:lnSpc>
              <a:buClr>
                <a:srgbClr val="008000"/>
              </a:buClr>
              <a:buFont typeface="Wingdings" pitchFamily="2" charset="2"/>
              <a:buChar char="Ø"/>
            </a:pPr>
            <a:r>
              <a:rPr lang="ru-RU" dirty="0"/>
              <a:t>экономия ресурсов компьютера за счет один раз созданного плана запроса</a:t>
            </a:r>
          </a:p>
          <a:p>
            <a:pPr>
              <a:lnSpc>
                <a:spcPct val="120000"/>
              </a:lnSpc>
            </a:pPr>
            <a:r>
              <a:rPr lang="ru-RU" dirty="0"/>
              <a:t>Недостатки </a:t>
            </a:r>
          </a:p>
          <a:p>
            <a:pPr lvl="1">
              <a:lnSpc>
                <a:spcPct val="120000"/>
              </a:lnSpc>
              <a:buClr>
                <a:srgbClr val="008000"/>
              </a:buClr>
              <a:buFont typeface="Wingdings" pitchFamily="2" charset="2"/>
              <a:buChar char="Ø"/>
            </a:pPr>
            <a:r>
              <a:rPr lang="ru-RU" sz="2700" dirty="0"/>
              <a:t>ограниченность средств для написания хранимых процедур (</a:t>
            </a:r>
            <a:r>
              <a:rPr lang="en-US" sz="2700" dirty="0"/>
              <a:t>PL/SQL)</a:t>
            </a:r>
            <a:endParaRPr lang="ru-RU" sz="2700" dirty="0"/>
          </a:p>
        </p:txBody>
      </p:sp>
      <p:grpSp>
        <p:nvGrpSpPr>
          <p:cNvPr id="2" name="Группа 25"/>
          <p:cNvGrpSpPr/>
          <p:nvPr/>
        </p:nvGrpSpPr>
        <p:grpSpPr>
          <a:xfrm>
            <a:off x="374255" y="1118794"/>
            <a:ext cx="8526377" cy="2033195"/>
            <a:chOff x="385013" y="1644314"/>
            <a:chExt cx="8526377" cy="2286002"/>
          </a:xfrm>
        </p:grpSpPr>
        <p:grpSp>
          <p:nvGrpSpPr>
            <p:cNvPr id="3" name="Группа 23"/>
            <p:cNvGrpSpPr/>
            <p:nvPr/>
          </p:nvGrpSpPr>
          <p:grpSpPr>
            <a:xfrm>
              <a:off x="385013" y="1668378"/>
              <a:ext cx="5987383" cy="2179837"/>
              <a:chOff x="385013" y="1668378"/>
              <a:chExt cx="5987383" cy="2179837"/>
            </a:xfrm>
          </p:grpSpPr>
          <p:grpSp>
            <p:nvGrpSpPr>
              <p:cNvPr id="4" name="Группа 21"/>
              <p:cNvGrpSpPr/>
              <p:nvPr/>
            </p:nvGrpSpPr>
            <p:grpSpPr>
              <a:xfrm>
                <a:off x="465222" y="2220803"/>
                <a:ext cx="5907174" cy="1095903"/>
                <a:chOff x="465222" y="2333097"/>
                <a:chExt cx="5907174" cy="1095903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465222" y="2390274"/>
                  <a:ext cx="2406315" cy="103872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ru-RU" sz="2400" dirty="0"/>
                    <a:t>Компонент представления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3966081" y="2333097"/>
                  <a:ext cx="2406315" cy="108953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ru-RU" sz="2400" dirty="0"/>
                    <a:t>Прикладной компонент</a:t>
                  </a:r>
                </a:p>
              </p:txBody>
            </p:sp>
          </p:grpSp>
          <p:sp>
            <p:nvSpPr>
              <p:cNvPr id="10" name="Прямоугольник 9"/>
              <p:cNvSpPr/>
              <p:nvPr/>
            </p:nvSpPr>
            <p:spPr>
              <a:xfrm>
                <a:off x="385013" y="1668378"/>
                <a:ext cx="2853040" cy="2179837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833434" y="3321613"/>
                <a:ext cx="1732548" cy="4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Клиент </a:t>
                </a:r>
              </a:p>
            </p:txBody>
          </p:sp>
        </p:grpSp>
        <p:grpSp>
          <p:nvGrpSpPr>
            <p:cNvPr id="5" name="Группа 22"/>
            <p:cNvGrpSpPr/>
            <p:nvPr/>
          </p:nvGrpSpPr>
          <p:grpSpPr>
            <a:xfrm>
              <a:off x="3808208" y="1644314"/>
              <a:ext cx="5103182" cy="2286002"/>
              <a:chOff x="3808208" y="1644314"/>
              <a:chExt cx="5103182" cy="2286002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368717" y="2221833"/>
                <a:ext cx="2406315" cy="108952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normAutofit fontScale="92500" lnSpcReduction="10000"/>
              </a:bodyPr>
              <a:lstStyle/>
              <a:p>
                <a:pPr algn="ctr"/>
                <a:r>
                  <a:rPr lang="ru-RU" sz="2400" dirty="0"/>
                  <a:t>Компонент доступа к ресурсам</a:t>
                </a:r>
              </a:p>
            </p:txBody>
          </p:sp>
          <p:sp>
            <p:nvSpPr>
              <p:cNvPr id="13" name="Прямоугольник 12"/>
              <p:cNvSpPr/>
              <p:nvPr/>
            </p:nvSpPr>
            <p:spPr>
              <a:xfrm>
                <a:off x="3808208" y="1644314"/>
                <a:ext cx="5103182" cy="2286002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385145" y="3385969"/>
                <a:ext cx="1732548" cy="4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Сервер </a:t>
                </a:r>
              </a:p>
            </p:txBody>
          </p:sp>
        </p:grpSp>
        <p:grpSp>
          <p:nvGrpSpPr>
            <p:cNvPr id="15" name="Группа 24"/>
            <p:cNvGrpSpPr/>
            <p:nvPr/>
          </p:nvGrpSpPr>
          <p:grpSpPr>
            <a:xfrm>
              <a:off x="2862288" y="1862537"/>
              <a:ext cx="1171075" cy="1217739"/>
              <a:chOff x="2862288" y="1862537"/>
              <a:chExt cx="1171075" cy="1217739"/>
            </a:xfrm>
          </p:grpSpPr>
          <p:cxnSp>
            <p:nvCxnSpPr>
              <p:cNvPr id="16" name="Прямая со стрелкой 15"/>
              <p:cNvCxnSpPr/>
              <p:nvPr/>
            </p:nvCxnSpPr>
            <p:spPr>
              <a:xfrm>
                <a:off x="2911170" y="2507665"/>
                <a:ext cx="1090863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 стрелкой 17"/>
              <p:cNvCxnSpPr/>
              <p:nvPr/>
            </p:nvCxnSpPr>
            <p:spPr>
              <a:xfrm rot="10800000" flipV="1">
                <a:off x="2878903" y="3080274"/>
                <a:ext cx="1074817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862288" y="1862537"/>
                <a:ext cx="1171075" cy="485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Вызов</a:t>
                </a:r>
                <a:r>
                  <a:rPr lang="ru-RU" dirty="0"/>
                  <a:t> </a:t>
                </a:r>
              </a:p>
            </p:txBody>
          </p:sp>
        </p:grpSp>
      </p:grpSp>
      <p:sp>
        <p:nvSpPr>
          <p:cNvPr id="22" name="TextBox 21"/>
          <p:cNvSpPr txBox="1"/>
          <p:nvPr/>
        </p:nvSpPr>
        <p:spPr>
          <a:xfrm>
            <a:off x="2793215" y="2617037"/>
            <a:ext cx="139566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</a:t>
            </a:r>
            <a:r>
              <a:rPr lang="ru-RU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Номер слайда 2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E6670DD-E7F4-46C2-9366-78D15383F4FC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8197" name="Нижний колонтитул 23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6387" y="0"/>
            <a:ext cx="8531225" cy="55880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Модель</a:t>
            </a:r>
            <a:r>
              <a:rPr lang="ru-RU" sz="3600" dirty="0">
                <a:solidFill>
                  <a:schemeClr val="bg2"/>
                </a:solidFill>
              </a:rPr>
              <a:t> сервера приложений</a:t>
            </a:r>
            <a:r>
              <a:rPr lang="en-US" sz="3600" dirty="0">
                <a:solidFill>
                  <a:schemeClr val="bg2"/>
                </a:solidFill>
              </a:rPr>
              <a:t> (AS)</a:t>
            </a:r>
            <a:endParaRPr lang="ru-RU" sz="3600" i="1" dirty="0">
              <a:solidFill>
                <a:schemeClr val="bg2"/>
              </a:solidFill>
            </a:endParaRPr>
          </a:p>
        </p:txBody>
      </p:sp>
      <p:sp>
        <p:nvSpPr>
          <p:cNvPr id="11" name="Содержимое 2"/>
          <p:cNvSpPr>
            <a:spLocks noGrp="1"/>
          </p:cNvSpPr>
          <p:nvPr>
            <p:ph idx="1"/>
          </p:nvPr>
        </p:nvSpPr>
        <p:spPr>
          <a:xfrm>
            <a:off x="96252" y="673768"/>
            <a:ext cx="8919411" cy="59837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ru-RU" sz="1800" dirty="0"/>
              <a:t>Как правило это </a:t>
            </a:r>
            <a:r>
              <a:rPr lang="en-US" sz="1800" b="1" dirty="0"/>
              <a:t>SQL</a:t>
            </a:r>
            <a:r>
              <a:rPr lang="ru-RU" sz="1800" b="1" dirty="0"/>
              <a:t> сервер</a:t>
            </a:r>
            <a:endParaRPr lang="ru-RU" sz="1800" dirty="0"/>
          </a:p>
          <a:p>
            <a:pPr>
              <a:lnSpc>
                <a:spcPct val="120000"/>
              </a:lnSpc>
            </a:pPr>
            <a:endParaRPr lang="ru-RU" sz="1800" dirty="0"/>
          </a:p>
          <a:p>
            <a:pPr>
              <a:lnSpc>
                <a:spcPct val="120000"/>
              </a:lnSpc>
            </a:pPr>
            <a:endParaRPr lang="ru-RU" sz="1800" dirty="0"/>
          </a:p>
          <a:p>
            <a:pPr>
              <a:lnSpc>
                <a:spcPct val="120000"/>
              </a:lnSpc>
            </a:pPr>
            <a:endParaRPr lang="ru-RU" sz="1800" dirty="0"/>
          </a:p>
          <a:p>
            <a:pPr>
              <a:lnSpc>
                <a:spcPct val="120000"/>
              </a:lnSpc>
            </a:pPr>
            <a:endParaRPr lang="ru-RU" sz="1800" dirty="0"/>
          </a:p>
          <a:p>
            <a:pPr>
              <a:lnSpc>
                <a:spcPct val="120000"/>
              </a:lnSpc>
            </a:pPr>
            <a:endParaRPr lang="ru-RU" sz="1800" dirty="0"/>
          </a:p>
          <a:p>
            <a:pPr>
              <a:lnSpc>
                <a:spcPct val="120000"/>
              </a:lnSpc>
            </a:pPr>
            <a:endParaRPr lang="ru-RU" sz="1800" dirty="0"/>
          </a:p>
          <a:p>
            <a:pPr>
              <a:lnSpc>
                <a:spcPct val="120000"/>
              </a:lnSpc>
            </a:pPr>
            <a:r>
              <a:rPr lang="ru-RU" sz="1800" dirty="0"/>
              <a:t>Клиент ПР – клиент приложения</a:t>
            </a:r>
            <a:endParaRPr lang="en-US" sz="18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1800" dirty="0"/>
              <a:t>Сервер ПР – группа процессов, выполняющих прикладные функции (бизнес процессы прикладной области)</a:t>
            </a:r>
          </a:p>
          <a:p>
            <a:pPr>
              <a:lnSpc>
                <a:spcPct val="120000"/>
              </a:lnSpc>
            </a:pPr>
            <a:r>
              <a:rPr lang="ru-RU" sz="1800" dirty="0"/>
              <a:t>Сервер БД – группа процессов, реализующих операции над информационными ресурсами</a:t>
            </a:r>
          </a:p>
          <a:p>
            <a:pPr>
              <a:lnSpc>
                <a:spcPct val="120000"/>
              </a:lnSpc>
            </a:pPr>
            <a:r>
              <a:rPr lang="ru-RU" sz="1800" dirty="0"/>
              <a:t>Достоинства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изолированность прикладного компонента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использование средств многозадачности ОС для прикладного компонента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стандартизация интерфейсов с компонентами – основа для монитора обработки транзакций</a:t>
            </a:r>
          </a:p>
          <a:p>
            <a:pPr lvl="1">
              <a:lnSpc>
                <a:spcPct val="120000"/>
              </a:lnSpc>
              <a:buClr>
                <a:srgbClr val="008000"/>
              </a:buClr>
              <a:buFont typeface="Wingdings" pitchFamily="2" charset="2"/>
              <a:buChar char="Ø"/>
            </a:pPr>
            <a:endParaRPr lang="ru-RU" sz="1600" dirty="0"/>
          </a:p>
        </p:txBody>
      </p:sp>
      <p:grpSp>
        <p:nvGrpSpPr>
          <p:cNvPr id="2" name="Группа 25"/>
          <p:cNvGrpSpPr/>
          <p:nvPr/>
        </p:nvGrpSpPr>
        <p:grpSpPr>
          <a:xfrm>
            <a:off x="374256" y="1075762"/>
            <a:ext cx="8526376" cy="2033195"/>
            <a:chOff x="385013" y="1644314"/>
            <a:chExt cx="8526376" cy="2286002"/>
          </a:xfrm>
        </p:grpSpPr>
        <p:grpSp>
          <p:nvGrpSpPr>
            <p:cNvPr id="3" name="Группа 23"/>
            <p:cNvGrpSpPr/>
            <p:nvPr/>
          </p:nvGrpSpPr>
          <p:grpSpPr>
            <a:xfrm>
              <a:off x="385013" y="1668378"/>
              <a:ext cx="4886235" cy="2237749"/>
              <a:chOff x="385013" y="1668378"/>
              <a:chExt cx="4886235" cy="2237749"/>
            </a:xfrm>
          </p:grpSpPr>
          <p:grpSp>
            <p:nvGrpSpPr>
              <p:cNvPr id="4" name="Группа 21"/>
              <p:cNvGrpSpPr/>
              <p:nvPr/>
            </p:nvGrpSpPr>
            <p:grpSpPr>
              <a:xfrm>
                <a:off x="462578" y="2128122"/>
                <a:ext cx="4808670" cy="1161144"/>
                <a:chOff x="462578" y="2240416"/>
                <a:chExt cx="4808670" cy="1161144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462578" y="2240416"/>
                  <a:ext cx="1839558" cy="1161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/>
                </a:bodyPr>
                <a:lstStyle/>
                <a:p>
                  <a:pPr algn="ctr">
                    <a:lnSpc>
                      <a:spcPct val="110000"/>
                    </a:lnSpc>
                  </a:pPr>
                  <a:r>
                    <a:rPr lang="ru-RU" sz="1800" dirty="0"/>
                    <a:t>Компонент представления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3449716" y="2274670"/>
                  <a:ext cx="1821532" cy="107851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txBody>
                <a:bodyPr wrap="square" rtlCol="0">
                  <a:normAutofit fontScale="92500"/>
                </a:bodyPr>
                <a:lstStyle/>
                <a:p>
                  <a:pPr algn="ctr"/>
                  <a:r>
                    <a:rPr lang="ru-RU" sz="2400" dirty="0"/>
                    <a:t>Прикладной компонент</a:t>
                  </a:r>
                </a:p>
              </p:txBody>
            </p:sp>
          </p:grpSp>
          <p:sp>
            <p:nvSpPr>
              <p:cNvPr id="10" name="Прямоугольник 9"/>
              <p:cNvSpPr/>
              <p:nvPr/>
            </p:nvSpPr>
            <p:spPr>
              <a:xfrm>
                <a:off x="385013" y="1668378"/>
                <a:ext cx="2132276" cy="2237749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73335" y="3297422"/>
                <a:ext cx="1985070" cy="539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Клиент ПР </a:t>
                </a:r>
              </a:p>
            </p:txBody>
          </p:sp>
        </p:grpSp>
        <p:grpSp>
          <p:nvGrpSpPr>
            <p:cNvPr id="5" name="Группа 22"/>
            <p:cNvGrpSpPr/>
            <p:nvPr/>
          </p:nvGrpSpPr>
          <p:grpSpPr>
            <a:xfrm>
              <a:off x="3420931" y="1644314"/>
              <a:ext cx="5490458" cy="2286002"/>
              <a:chOff x="3420931" y="1644314"/>
              <a:chExt cx="5490458" cy="2286002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6583679" y="2137164"/>
                <a:ext cx="2191353" cy="108952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normAutofit fontScale="92500" lnSpcReduction="10000"/>
              </a:bodyPr>
              <a:lstStyle/>
              <a:p>
                <a:pPr algn="ctr"/>
                <a:r>
                  <a:rPr lang="ru-RU" sz="2400" dirty="0"/>
                  <a:t>Компонент доступа к ресурсам</a:t>
                </a:r>
              </a:p>
            </p:txBody>
          </p:sp>
          <p:sp>
            <p:nvSpPr>
              <p:cNvPr id="13" name="Прямоугольник 12"/>
              <p:cNvSpPr/>
              <p:nvPr/>
            </p:nvSpPr>
            <p:spPr>
              <a:xfrm>
                <a:off x="6411556" y="1644314"/>
                <a:ext cx="2499833" cy="2286002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420931" y="3361779"/>
                <a:ext cx="2022438" cy="539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Сервер ПР </a:t>
                </a:r>
              </a:p>
            </p:txBody>
          </p:sp>
        </p:grpSp>
        <p:grpSp>
          <p:nvGrpSpPr>
            <p:cNvPr id="15" name="Группа 24"/>
            <p:cNvGrpSpPr/>
            <p:nvPr/>
          </p:nvGrpSpPr>
          <p:grpSpPr>
            <a:xfrm>
              <a:off x="2302136" y="2681132"/>
              <a:ext cx="4281543" cy="664665"/>
              <a:chOff x="2302136" y="2681132"/>
              <a:chExt cx="4281543" cy="664665"/>
            </a:xfrm>
          </p:grpSpPr>
          <p:cxnSp>
            <p:nvCxnSpPr>
              <p:cNvPr id="16" name="Прямая со стрелкой 15"/>
              <p:cNvCxnSpPr>
                <a:stCxn id="6" idx="3"/>
                <a:endCxn id="8" idx="1"/>
              </p:cNvCxnSpPr>
              <p:nvPr/>
            </p:nvCxnSpPr>
            <p:spPr>
              <a:xfrm flipV="1">
                <a:off x="2302136" y="2701632"/>
                <a:ext cx="1147580" cy="706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 стрелкой 17"/>
              <p:cNvCxnSpPr>
                <a:stCxn id="9" idx="1"/>
              </p:cNvCxnSpPr>
              <p:nvPr/>
            </p:nvCxnSpPr>
            <p:spPr>
              <a:xfrm flipH="1" flipV="1">
                <a:off x="5256344" y="2681132"/>
                <a:ext cx="1327335" cy="79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550316" y="2805967"/>
                <a:ext cx="870615" cy="539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API</a:t>
                </a:r>
                <a:r>
                  <a:rPr lang="ru-RU" dirty="0"/>
                  <a:t> </a:t>
                </a:r>
              </a:p>
            </p:txBody>
          </p:sp>
        </p:grpSp>
      </p:grpSp>
      <p:sp>
        <p:nvSpPr>
          <p:cNvPr id="22" name="TextBox 21"/>
          <p:cNvSpPr txBox="1"/>
          <p:nvPr/>
        </p:nvSpPr>
        <p:spPr>
          <a:xfrm>
            <a:off x="5525657" y="2162287"/>
            <a:ext cx="83211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</a:t>
            </a:r>
            <a:r>
              <a:rPr lang="ru-RU" sz="2400" dirty="0"/>
              <a:t> </a:t>
            </a:r>
            <a:r>
              <a:rPr lang="ru-RU" dirty="0"/>
              <a:t> 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3313360" y="1141989"/>
            <a:ext cx="2164080" cy="199027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6572922" y="2609346"/>
            <a:ext cx="209774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Сервер БД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80210"/>
            <a:ext cx="9144000" cy="66833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Эволюция </a:t>
            </a:r>
            <a:r>
              <a:rPr lang="ru-RU" sz="2800" dirty="0">
                <a:solidFill>
                  <a:schemeClr val="bg2"/>
                </a:solidFill>
              </a:rPr>
              <a:t>серверов базы данных –</a:t>
            </a:r>
            <a:br>
              <a:rPr lang="ru-RU" sz="2800" dirty="0">
                <a:solidFill>
                  <a:schemeClr val="bg2"/>
                </a:solidFill>
              </a:rPr>
            </a:br>
            <a:r>
              <a:rPr lang="ru-RU" sz="2800" b="1" dirty="0">
                <a:solidFill>
                  <a:srgbClr val="7030A0"/>
                </a:solidFill>
              </a:rPr>
              <a:t> </a:t>
            </a:r>
            <a:r>
              <a:rPr lang="ru-RU" sz="2800" dirty="0">
                <a:solidFill>
                  <a:srgbClr val="002060"/>
                </a:solidFill>
              </a:rPr>
              <a:t>централизованная архитектура</a:t>
            </a:r>
            <a:endParaRPr lang="ru-RU" sz="2800" i="1" dirty="0">
              <a:solidFill>
                <a:srgbClr val="002060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6" y="885211"/>
            <a:ext cx="9036843" cy="523588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В начале доминировала модель, когда управление данными (функция </a:t>
            </a:r>
            <a:r>
              <a:rPr lang="ru-RU" sz="2400" b="1" dirty="0"/>
              <a:t>Сервера</a:t>
            </a:r>
            <a:r>
              <a:rPr lang="ru-RU" sz="2400" dirty="0"/>
              <a:t>) и взаимодействие с пользователем были </a:t>
            </a:r>
            <a:r>
              <a:rPr lang="ru-RU" sz="2400" b="1" dirty="0"/>
              <a:t>совмещены в одной программе – </a:t>
            </a:r>
            <a:r>
              <a:rPr lang="ru-RU" sz="2400" b="1" dirty="0">
                <a:solidFill>
                  <a:srgbClr val="7030A0"/>
                </a:solidFill>
              </a:rPr>
              <a:t>централизованная архитектура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b="1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b="1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b="1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b="1" dirty="0"/>
          </a:p>
          <a:p>
            <a:pPr marL="457200" lvl="1" indent="0">
              <a:buClr>
                <a:srgbClr val="FF0000"/>
              </a:buClr>
              <a:buNone/>
              <a:defRPr/>
            </a:pPr>
            <a:r>
              <a:rPr lang="ru-RU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Компьютер</a:t>
            </a:r>
            <a:r>
              <a:rPr lang="ru-RU" sz="2400" b="1" dirty="0"/>
              <a:t> </a:t>
            </a:r>
          </a:p>
          <a:p>
            <a:pPr lvl="1">
              <a:buClr>
                <a:srgbClr val="FF0000"/>
              </a:buClr>
              <a:buNone/>
              <a:defRPr/>
            </a:pPr>
            <a:r>
              <a:rPr lang="ru-RU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			</a:t>
            </a:r>
            <a:endParaRPr lang="ru-RU" sz="2400" b="1" dirty="0"/>
          </a:p>
          <a:p>
            <a:pPr lvl="1">
              <a:lnSpc>
                <a:spcPct val="150000"/>
              </a:lnSpc>
              <a:buClr>
                <a:srgbClr val="FF0000"/>
              </a:buClr>
              <a:buNone/>
              <a:defRPr/>
            </a:pP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14</a:t>
            </a:fld>
            <a:endParaRPr lang="ru-RU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1015044" y="2863970"/>
            <a:ext cx="1710904" cy="960335"/>
            <a:chOff x="911526" y="4295955"/>
            <a:chExt cx="1710904" cy="960335"/>
          </a:xfrm>
        </p:grpSpPr>
        <p:sp>
          <p:nvSpPr>
            <p:cNvPr id="5" name="TextBox 4"/>
            <p:cNvSpPr txBox="1"/>
            <p:nvPr/>
          </p:nvSpPr>
          <p:spPr>
            <a:xfrm>
              <a:off x="914401" y="4295955"/>
              <a:ext cx="1708029" cy="480131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Клиент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1526" y="4776159"/>
              <a:ext cx="1708029" cy="480131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Сервер</a:t>
              </a:r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3203278" y="2895600"/>
            <a:ext cx="1710904" cy="960335"/>
            <a:chOff x="911526" y="4295955"/>
            <a:chExt cx="1710904" cy="960335"/>
          </a:xfrm>
        </p:grpSpPr>
        <p:sp>
          <p:nvSpPr>
            <p:cNvPr id="9" name="TextBox 8"/>
            <p:cNvSpPr txBox="1"/>
            <p:nvPr/>
          </p:nvSpPr>
          <p:spPr>
            <a:xfrm>
              <a:off x="914401" y="4295955"/>
              <a:ext cx="1708029" cy="480131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Клиент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1526" y="4776159"/>
              <a:ext cx="1708029" cy="480131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Сервер</a:t>
              </a:r>
            </a:p>
          </p:txBody>
        </p:sp>
      </p:grpSp>
      <p:grpSp>
        <p:nvGrpSpPr>
          <p:cNvPr id="11" name="Группа 10"/>
          <p:cNvGrpSpPr/>
          <p:nvPr/>
        </p:nvGrpSpPr>
        <p:grpSpPr>
          <a:xfrm>
            <a:off x="6395052" y="2861095"/>
            <a:ext cx="1710904" cy="960335"/>
            <a:chOff x="911526" y="4295955"/>
            <a:chExt cx="1710904" cy="960335"/>
          </a:xfrm>
        </p:grpSpPr>
        <p:sp>
          <p:nvSpPr>
            <p:cNvPr id="12" name="TextBox 11"/>
            <p:cNvSpPr txBox="1"/>
            <p:nvPr/>
          </p:nvSpPr>
          <p:spPr>
            <a:xfrm>
              <a:off x="914401" y="4295955"/>
              <a:ext cx="1708029" cy="480131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Клиент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1526" y="4776159"/>
              <a:ext cx="1708029" cy="480131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Сервер</a:t>
              </a:r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3700969" y="4283869"/>
            <a:ext cx="1570007" cy="2193131"/>
            <a:chOff x="3674853" y="4230209"/>
            <a:chExt cx="1570007" cy="2193131"/>
          </a:xfrm>
        </p:grpSpPr>
        <p:sp>
          <p:nvSpPr>
            <p:cNvPr id="14" name="Блок-схема: магнитный диск 13"/>
            <p:cNvSpPr/>
            <p:nvPr/>
          </p:nvSpPr>
          <p:spPr>
            <a:xfrm>
              <a:off x="3674853" y="4230209"/>
              <a:ext cx="1570007" cy="1190445"/>
            </a:xfrm>
            <a:prstGeom prst="flowChartMagneticDisk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43863" y="5555410"/>
              <a:ext cx="1500997" cy="86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База данных</a:t>
              </a:r>
            </a:p>
          </p:txBody>
        </p:sp>
      </p:grpSp>
      <p:sp>
        <p:nvSpPr>
          <p:cNvPr id="17" name="Прямоугольник 16"/>
          <p:cNvSpPr/>
          <p:nvPr/>
        </p:nvSpPr>
        <p:spPr>
          <a:xfrm>
            <a:off x="638828" y="2708694"/>
            <a:ext cx="7694290" cy="3714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2"/>
            <a:endCxn id="14" idx="1"/>
          </p:cNvCxnSpPr>
          <p:nvPr/>
        </p:nvCxnSpPr>
        <p:spPr>
          <a:xfrm>
            <a:off x="1869059" y="3824305"/>
            <a:ext cx="2616914" cy="459564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0" idx="2"/>
            <a:endCxn id="14" idx="1"/>
          </p:cNvCxnSpPr>
          <p:nvPr/>
        </p:nvCxnSpPr>
        <p:spPr>
          <a:xfrm>
            <a:off x="4057293" y="3855935"/>
            <a:ext cx="428680" cy="427934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3" idx="2"/>
            <a:endCxn id="14" idx="1"/>
          </p:cNvCxnSpPr>
          <p:nvPr/>
        </p:nvCxnSpPr>
        <p:spPr>
          <a:xfrm flipH="1">
            <a:off x="4485973" y="3821430"/>
            <a:ext cx="2763094" cy="462439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58597" y="3243530"/>
            <a:ext cx="810883" cy="1228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…</a:t>
            </a:r>
            <a:r>
              <a:rPr lang="ru-RU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Эволюция серверов </a:t>
            </a:r>
            <a:r>
              <a:rPr lang="ru-RU" sz="2800" dirty="0">
                <a:solidFill>
                  <a:schemeClr val="bg2"/>
                </a:solidFill>
              </a:rPr>
              <a:t>базы данных - </a:t>
            </a:r>
            <a:r>
              <a:rPr lang="ru-RU" sz="2800" dirty="0" err="1">
                <a:solidFill>
                  <a:srgbClr val="7030A0"/>
                </a:solidFill>
              </a:rPr>
              <a:t>Один-к-одному</a:t>
            </a:r>
            <a:endParaRPr lang="ru-RU" sz="28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6" y="532287"/>
            <a:ext cx="9036844" cy="63257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Функции управления данными были выделены в самостоятельную группу - сервер, 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Модель взаимодействия пользователя с сервером соответствовала парадигме </a:t>
            </a:r>
            <a:r>
              <a:rPr lang="ru-RU" sz="2400" i="1" dirty="0"/>
              <a:t>«</a:t>
            </a:r>
            <a:r>
              <a:rPr lang="ru-RU" sz="2400" dirty="0" err="1">
                <a:solidFill>
                  <a:srgbClr val="7030A0"/>
                </a:solidFill>
              </a:rPr>
              <a:t>Один-к-одному</a:t>
            </a:r>
            <a:r>
              <a:rPr lang="ru-RU" sz="2400" dirty="0"/>
              <a:t>" 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dirty="0"/>
          </a:p>
          <a:p>
            <a:pPr lvl="1">
              <a:buClr>
                <a:srgbClr val="FF0000"/>
              </a:buClr>
              <a:buNone/>
              <a:defRPr/>
            </a:pPr>
            <a:r>
              <a:rPr lang="ru-RU" sz="2400" dirty="0"/>
              <a:t>		</a:t>
            </a:r>
            <a:r>
              <a:rPr lang="ru-RU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Компьютер</a:t>
            </a:r>
            <a:r>
              <a:rPr lang="ru-RU" sz="2400" dirty="0"/>
              <a:t>	</a:t>
            </a:r>
            <a:endParaRPr lang="ru-RU" sz="2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400" dirty="0"/>
          </a:p>
          <a:p>
            <a:pPr lvl="1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400" dirty="0"/>
              <a:t>То есть сервер обслуживал запросы ровно одного пользователя (клиента), и для обслуживания нескольких клиентов нужно было запустить эквивалентное число серверов.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15</a:t>
            </a:fld>
            <a:endParaRPr lang="ru-RU" dirty="0"/>
          </a:p>
        </p:txBody>
      </p:sp>
      <p:cxnSp>
        <p:nvCxnSpPr>
          <p:cNvPr id="19" name="Прямая со стрелкой 18"/>
          <p:cNvCxnSpPr>
            <a:stCxn id="6" idx="2"/>
            <a:endCxn id="14" idx="1"/>
          </p:cNvCxnSpPr>
          <p:nvPr/>
        </p:nvCxnSpPr>
        <p:spPr>
          <a:xfrm rot="16200000" flipH="1">
            <a:off x="2722284" y="2557940"/>
            <a:ext cx="804343" cy="2564435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0" idx="2"/>
            <a:endCxn id="14" idx="1"/>
          </p:cNvCxnSpPr>
          <p:nvPr/>
        </p:nvCxnSpPr>
        <p:spPr>
          <a:xfrm rot="16200000" flipH="1">
            <a:off x="3816877" y="3652533"/>
            <a:ext cx="805673" cy="373919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3" idx="2"/>
            <a:endCxn id="14" idx="1"/>
          </p:cNvCxnSpPr>
          <p:nvPr/>
        </p:nvCxnSpPr>
        <p:spPr>
          <a:xfrm rot="5400000">
            <a:off x="5341468" y="2487112"/>
            <a:ext cx="820424" cy="2690013"/>
          </a:xfrm>
          <a:prstGeom prst="straightConnector1">
            <a:avLst/>
          </a:prstGeom>
          <a:ln w="22225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58597" y="2120590"/>
            <a:ext cx="810883" cy="1228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…</a:t>
            </a:r>
            <a:r>
              <a:rPr lang="ru-RU" dirty="0"/>
              <a:t> </a:t>
            </a:r>
          </a:p>
        </p:txBody>
      </p:sp>
      <p:grpSp>
        <p:nvGrpSpPr>
          <p:cNvPr id="35" name="Группа 34"/>
          <p:cNvGrpSpPr/>
          <p:nvPr/>
        </p:nvGrpSpPr>
        <p:grpSpPr>
          <a:xfrm>
            <a:off x="1013470" y="2229862"/>
            <a:ext cx="7168004" cy="2963565"/>
            <a:chOff x="963285" y="2708694"/>
            <a:chExt cx="7386363" cy="3709358"/>
          </a:xfrm>
        </p:grpSpPr>
        <p:sp>
          <p:nvSpPr>
            <p:cNvPr id="5" name="TextBox 4"/>
            <p:cNvSpPr txBox="1"/>
            <p:nvPr/>
          </p:nvSpPr>
          <p:spPr>
            <a:xfrm>
              <a:off x="967371" y="2846716"/>
              <a:ext cx="1708029" cy="531618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Клиент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63285" y="3689231"/>
              <a:ext cx="1708029" cy="531618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Сервер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38237" y="2847474"/>
              <a:ext cx="1708029" cy="531618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Клиент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20531" y="3687566"/>
              <a:ext cx="1708029" cy="531618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Сервер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97927" y="2861095"/>
              <a:ext cx="1708029" cy="531618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Клиент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77799" y="3669103"/>
              <a:ext cx="1708029" cy="531618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/>
                <a:t>Сервер</a:t>
              </a:r>
            </a:p>
          </p:txBody>
        </p:sp>
        <p:grpSp>
          <p:nvGrpSpPr>
            <p:cNvPr id="7" name="Группа 15"/>
            <p:cNvGrpSpPr/>
            <p:nvPr/>
          </p:nvGrpSpPr>
          <p:grpSpPr>
            <a:xfrm>
              <a:off x="3644679" y="5227607"/>
              <a:ext cx="1630242" cy="1190445"/>
              <a:chOff x="3644679" y="5227607"/>
              <a:chExt cx="1630242" cy="1190445"/>
            </a:xfrm>
          </p:grpSpPr>
          <p:sp>
            <p:nvSpPr>
              <p:cNvPr id="14" name="Блок-схема: магнитный диск 13"/>
              <p:cNvSpPr/>
              <p:nvPr/>
            </p:nvSpPr>
            <p:spPr>
              <a:xfrm>
                <a:off x="3674852" y="5227607"/>
                <a:ext cx="1570007" cy="1190445"/>
              </a:xfrm>
              <a:prstGeom prst="flowChartMagneticDisk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644679" y="5334542"/>
                <a:ext cx="1630242" cy="94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2400" dirty="0"/>
                  <a:t>База данных</a:t>
                </a:r>
              </a:p>
            </p:txBody>
          </p:sp>
        </p:grpSp>
        <p:sp>
          <p:nvSpPr>
            <p:cNvPr id="17" name="Прямоугольник 16"/>
            <p:cNvSpPr/>
            <p:nvPr/>
          </p:nvSpPr>
          <p:spPr>
            <a:xfrm>
              <a:off x="963285" y="2708694"/>
              <a:ext cx="7386363" cy="370935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9" name="Прямая со стрелкой 28"/>
            <p:cNvCxnSpPr>
              <a:stCxn id="5" idx="2"/>
              <a:endCxn id="6" idx="0"/>
            </p:cNvCxnSpPr>
            <p:nvPr/>
          </p:nvCxnSpPr>
          <p:spPr>
            <a:xfrm rot="5400000">
              <a:off x="1663895" y="3531740"/>
              <a:ext cx="310897" cy="4086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/>
            <p:cNvCxnSpPr/>
            <p:nvPr/>
          </p:nvCxnSpPr>
          <p:spPr>
            <a:xfrm rot="5400000">
              <a:off x="3892054" y="3497976"/>
              <a:ext cx="362383" cy="4086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/>
            <p:cNvCxnSpPr/>
            <p:nvPr/>
          </p:nvCxnSpPr>
          <p:spPr>
            <a:xfrm rot="5400000">
              <a:off x="7108476" y="3522040"/>
              <a:ext cx="362383" cy="4086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5166619" y="2802376"/>
            <a:ext cx="810883" cy="1228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…</a:t>
            </a:r>
            <a:r>
              <a:rPr lang="ru-RU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Выделение</a:t>
            </a:r>
            <a:r>
              <a:rPr lang="ru-RU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3200" b="1" dirty="0">
                <a:solidFill>
                  <a:schemeClr val="bg2"/>
                </a:solidFill>
              </a:rPr>
              <a:t>сервера</a:t>
            </a:r>
            <a:endParaRPr lang="ru-RU" sz="32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641684"/>
            <a:ext cx="9144000" cy="5983705"/>
          </a:xfrm>
        </p:spPr>
        <p:txBody>
          <a:bodyPr>
            <a:normAutofit/>
          </a:bodyPr>
          <a:lstStyle/>
          <a:p>
            <a:pPr indent="0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1800" b="1" dirty="0">
                <a:solidFill>
                  <a:srgbClr val="7030A0"/>
                </a:solidFill>
              </a:rPr>
              <a:t>Выделение сервера в отдельную программу </a:t>
            </a:r>
            <a:r>
              <a:rPr lang="ru-RU" sz="1800" dirty="0"/>
              <a:t>- революционный шаг, позволяющий, в частности, поместить </a:t>
            </a:r>
            <a:r>
              <a:rPr lang="ru-RU" sz="1800" b="1" dirty="0"/>
              <a:t>сервер на одну машину</a:t>
            </a:r>
            <a:r>
              <a:rPr lang="ru-RU" sz="1800" dirty="0"/>
              <a:t>, а программный </a:t>
            </a:r>
            <a:r>
              <a:rPr lang="ru-RU" sz="1800" b="1" dirty="0"/>
              <a:t>интерфейс с пользователем - на другую</a:t>
            </a:r>
            <a:r>
              <a:rPr lang="ru-RU" sz="1800" dirty="0"/>
              <a:t>, осуществляя взаимодействие между ними по сети</a:t>
            </a:r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lvl="1" indent="0"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1800" dirty="0"/>
          </a:p>
          <a:p>
            <a:pPr indent="0"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1800" dirty="0"/>
              <a:t> Необходимость </a:t>
            </a:r>
            <a:r>
              <a:rPr lang="ru-RU" sz="1800" b="1" dirty="0"/>
              <a:t>запуска большого числа серверов</a:t>
            </a:r>
            <a:r>
              <a:rPr lang="ru-RU" sz="1800" dirty="0"/>
              <a:t> для обслуживания множества пользователей сильно ограничивала возможности такой системы.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5" name="Рисунок 4" descr="Picture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1" y="1796716"/>
            <a:ext cx="6593304" cy="468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lvl="1" algn="ctr">
              <a:lnSpc>
                <a:spcPct val="150000"/>
              </a:lnSpc>
              <a:defRPr/>
            </a:pPr>
            <a:r>
              <a:rPr lang="ru-RU" sz="3200" dirty="0" err="1">
                <a:solidFill>
                  <a:schemeClr val="bg1"/>
                </a:solidFill>
              </a:rPr>
              <a:t>Многопотоковая</a:t>
            </a:r>
            <a:r>
              <a:rPr lang="ru-RU" sz="3200" dirty="0"/>
              <a:t> </a:t>
            </a:r>
            <a:r>
              <a:rPr lang="ru-RU" sz="3200" dirty="0">
                <a:solidFill>
                  <a:schemeClr val="bg2"/>
                </a:solidFill>
              </a:rPr>
              <a:t>архитектура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457203" y="460631"/>
            <a:ext cx="8446154" cy="718545"/>
          </a:xfrm>
        </p:spPr>
        <p:txBody>
          <a:bodyPr>
            <a:normAutofit/>
          </a:bodyPr>
          <a:lstStyle/>
          <a:p>
            <a:pPr marL="0" lvl="1"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kern="1200" dirty="0"/>
              <a:t>Проблемы, возникающие в модели "</a:t>
            </a:r>
            <a:r>
              <a:rPr lang="ru-RU" sz="2000" kern="1200" dirty="0" err="1"/>
              <a:t>один-к-одному</a:t>
            </a:r>
            <a:r>
              <a:rPr lang="ru-RU" sz="2000" kern="1200" dirty="0"/>
              <a:t>", решаются в архитектуре </a:t>
            </a:r>
            <a:r>
              <a:rPr lang="ru-RU" sz="2000" i="1" kern="1200" dirty="0"/>
              <a:t>систем с выделенным сервером</a:t>
            </a:r>
            <a:endParaRPr lang="ru-RU" sz="20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5" name="Рисунок 4" descr="Picture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9442" y="1115380"/>
            <a:ext cx="6063914" cy="3526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90919" y="1547455"/>
            <a:ext cx="4451420" cy="2831344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360000" lvl="1" indent="-36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dirty="0"/>
              <a:t>Логически каждый клиент связан с сервером отдельной </a:t>
            </a:r>
            <a:r>
              <a:rPr lang="ru-RU" sz="2000" b="1" dirty="0"/>
              <a:t>нитью </a:t>
            </a:r>
            <a:r>
              <a:rPr lang="ru-RU" sz="2000" dirty="0"/>
              <a:t>(</a:t>
            </a:r>
            <a:r>
              <a:rPr lang="ru-RU" sz="2000" i="1" dirty="0" err="1"/>
              <a:t>thread</a:t>
            </a:r>
            <a:r>
              <a:rPr lang="ru-RU" sz="2000" dirty="0"/>
              <a:t>) или потоком, по которому пересылаются запросы.</a:t>
            </a:r>
          </a:p>
          <a:p>
            <a:pPr marL="360000" lvl="1" indent="-360000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000" smtClean="0"/>
              <a:t>Архитектура позволяет </a:t>
            </a:r>
            <a:r>
              <a:rPr lang="ru-RU" sz="2000" dirty="0"/>
              <a:t>значительно уменьшить нагрузку на операционную систему, возникающую при работе большого числа пользователей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589" y="4672485"/>
            <a:ext cx="8788782" cy="231112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180000" lvl="1" indent="-18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1800" dirty="0"/>
              <a:t>Возможность взаимодействия с одним сервером многих клиентов позволяет в полной степени использовать </a:t>
            </a:r>
            <a:r>
              <a:rPr lang="ru-RU" sz="1800" b="1" dirty="0"/>
              <a:t>разделяемые объекты </a:t>
            </a:r>
            <a:r>
              <a:rPr lang="ru-RU" sz="1800" dirty="0"/>
              <a:t>(начиная с открытых файлов и кончая данными из системных каталогов),</a:t>
            </a:r>
          </a:p>
          <a:p>
            <a:pPr marL="180000" lvl="1" indent="-18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1800" b="1" dirty="0"/>
              <a:t>Значительно уменьшает потребности в памяти и общее число процессов операционной системы. </a:t>
            </a:r>
          </a:p>
          <a:p>
            <a:pPr marL="180000" lvl="1" indent="-180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1800" dirty="0"/>
              <a:t>Например, системой с архитектурой "</a:t>
            </a:r>
            <a:r>
              <a:rPr lang="ru-RU" sz="1800" dirty="0" err="1"/>
              <a:t>один-к-одному</a:t>
            </a:r>
            <a:r>
              <a:rPr lang="ru-RU" sz="1800" dirty="0"/>
              <a:t>" будет создано 50 копий процессов СУБД для 50 пользователей, тогда как системе с </a:t>
            </a:r>
            <a:r>
              <a:rPr lang="ru-RU" sz="1800" dirty="0" err="1"/>
              <a:t>многопотоковой</a:t>
            </a:r>
            <a:r>
              <a:rPr lang="ru-RU" sz="1800" dirty="0"/>
              <a:t> архитектурой для этого понадобится только один сервер.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Архитектура с  </a:t>
            </a:r>
            <a:r>
              <a:rPr lang="ru-RU" sz="3200" dirty="0">
                <a:solidFill>
                  <a:schemeClr val="bg2"/>
                </a:solidFill>
              </a:rPr>
              <a:t>виртуальным сервером</a:t>
            </a:r>
            <a:endParaRPr lang="ru-RU" sz="32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7" y="628538"/>
            <a:ext cx="9036843" cy="5948726"/>
          </a:xfrm>
        </p:spPr>
        <p:txBody>
          <a:bodyPr>
            <a:normAutofit fontScale="55000" lnSpcReduction="20000"/>
          </a:bodyPr>
          <a:lstStyle/>
          <a:p>
            <a:pPr marL="180000" lvl="1" indent="-18000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900" dirty="0"/>
              <a:t>Предыдущая конфигурация никак не использует возможности многопроцессорной системы</a:t>
            </a:r>
          </a:p>
          <a:p>
            <a:pPr marL="180000" lvl="1" indent="-18000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900" dirty="0"/>
              <a:t>Проблема решается заменой выделенного сервера на диспетчер или </a:t>
            </a:r>
            <a:r>
              <a:rPr lang="ru-RU" sz="2900" b="1" dirty="0"/>
              <a:t>виртуальный сервер</a:t>
            </a:r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sz="2900" b="1" dirty="0"/>
          </a:p>
          <a:p>
            <a:pPr marL="180000" lvl="1" indent="-21600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2900" dirty="0"/>
              <a:t>В архитектуру системы добавляется новый слой, который размещается между клиентом и сервером, что увеличивает трату ресурсов на поддержку </a:t>
            </a:r>
            <a:r>
              <a:rPr lang="ru-RU" sz="2900" b="1" dirty="0"/>
              <a:t>баланса загрузки</a:t>
            </a:r>
            <a:r>
              <a:rPr lang="ru-RU" sz="2900" dirty="0"/>
              <a:t> (</a:t>
            </a:r>
            <a:r>
              <a:rPr lang="ru-RU" sz="2900" i="1" dirty="0" err="1"/>
              <a:t>load</a:t>
            </a:r>
            <a:r>
              <a:rPr lang="ru-RU" sz="2900" i="1" dirty="0"/>
              <a:t> </a:t>
            </a:r>
            <a:r>
              <a:rPr lang="ru-RU" sz="2900" i="1" dirty="0" err="1"/>
              <a:t>balancing</a:t>
            </a:r>
            <a:r>
              <a:rPr lang="ru-RU" sz="2900" dirty="0"/>
              <a:t>) , но и ограничивает возможности управления взаимодействием «клиент-сервер» – нет возможности установить приоритеты обслуживания клиентов.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xfrm>
            <a:off x="8069178" y="6248400"/>
            <a:ext cx="617621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5" name="Рисунок 4" descr="http://www.osp.ru/dbms/1995/02/13031414/dbms_s09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901" y="1660862"/>
            <a:ext cx="7887956" cy="3504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0" y="-64168"/>
            <a:ext cx="9144000" cy="668337"/>
          </a:xfrm>
        </p:spPr>
        <p:txBody>
          <a:bodyPr/>
          <a:lstStyle/>
          <a:p>
            <a:pPr algn="ctr"/>
            <a:r>
              <a:rPr lang="ru-RU" sz="3200" dirty="0" err="1">
                <a:solidFill>
                  <a:schemeClr val="bg2"/>
                </a:solidFill>
              </a:rPr>
              <a:t>М</a:t>
            </a:r>
            <a:r>
              <a:rPr lang="ru-RU" sz="3200" dirty="0" err="1">
                <a:solidFill>
                  <a:schemeClr val="bg1"/>
                </a:solidFill>
              </a:rPr>
              <a:t>ногопотоковая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err="1">
                <a:solidFill>
                  <a:schemeClr val="bg2"/>
                </a:solidFill>
              </a:rPr>
              <a:t>мультисерверная</a:t>
            </a:r>
            <a:r>
              <a:rPr lang="ru-RU" sz="3200" dirty="0">
                <a:solidFill>
                  <a:schemeClr val="bg2"/>
                </a:solidFill>
              </a:rPr>
              <a:t> архитектура</a:t>
            </a:r>
            <a:endParaRPr lang="ru-RU" sz="3200" i="1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482322"/>
            <a:ext cx="9144000" cy="6375678"/>
          </a:xfrm>
        </p:spPr>
        <p:txBody>
          <a:bodyPr>
            <a:normAutofit fontScale="70000" lnSpcReduction="20000"/>
          </a:bodyPr>
          <a:lstStyle/>
          <a:p>
            <a:pPr marL="252000" lvl="1" indent="-25200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kern="1200" dirty="0"/>
              <a:t>Современное решение проблемы СУБД для мультипроцессорных платформ заключается в возможности запуска нескольких серверов базы данных, в том числе и на различных процессорах.</a:t>
            </a:r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endParaRPr lang="ru-RU" kern="1200" dirty="0"/>
          </a:p>
          <a:p>
            <a:pPr marL="360000" lvl="1">
              <a:lnSpc>
                <a:spcPct val="120000"/>
              </a:lnSpc>
              <a:spcBef>
                <a:spcPts val="240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kern="1200" dirty="0"/>
              <a:t>При этом каждый из серверов должен быть </a:t>
            </a:r>
            <a:r>
              <a:rPr lang="ru-RU" kern="1200" dirty="0" err="1"/>
              <a:t>многопотоковым</a:t>
            </a:r>
            <a:r>
              <a:rPr lang="ru-RU" kern="1200" dirty="0"/>
              <a:t>. </a:t>
            </a:r>
          </a:p>
          <a:p>
            <a:pPr marL="360000" lvl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kern="1200" dirty="0"/>
              <a:t>Если эти два условия выполнены, то есть основание говорить о </a:t>
            </a:r>
            <a:r>
              <a:rPr lang="ru-RU" b="1" kern="1200" dirty="0" err="1"/>
              <a:t>многопотоковой</a:t>
            </a:r>
            <a:r>
              <a:rPr lang="ru-RU" b="1" kern="1200" dirty="0"/>
              <a:t> архитектуре с несколькими серверами </a:t>
            </a:r>
            <a:r>
              <a:rPr lang="ru-RU" kern="1200" dirty="0"/>
              <a:t>(</a:t>
            </a:r>
            <a:r>
              <a:rPr lang="ru-RU" i="1" kern="1200" dirty="0" err="1"/>
              <a:t>multi-threaded</a:t>
            </a:r>
            <a:r>
              <a:rPr lang="ru-RU" i="1" kern="1200" dirty="0"/>
              <a:t>, </a:t>
            </a:r>
            <a:r>
              <a:rPr lang="ru-RU" i="1" kern="1200" dirty="0" err="1"/>
              <a:t>multi-server</a:t>
            </a:r>
            <a:r>
              <a:rPr lang="ru-RU" i="1" kern="1200" dirty="0"/>
              <a:t> </a:t>
            </a:r>
            <a:r>
              <a:rPr lang="ru-RU" i="1" kern="1200" dirty="0" err="1"/>
              <a:t>architecture</a:t>
            </a:r>
            <a:r>
              <a:rPr lang="ru-RU" kern="1200" dirty="0"/>
              <a:t>)</a:t>
            </a: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19</a:t>
            </a:fld>
            <a:endParaRPr lang="ru-RU" dirty="0"/>
          </a:p>
        </p:txBody>
      </p:sp>
      <p:pic>
        <p:nvPicPr>
          <p:cNvPr id="5" name="Рисунок 4" descr="Picture 1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57978" y="1600701"/>
            <a:ext cx="658167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Стандарты для </a:t>
            </a:r>
            <a:r>
              <a:rPr lang="ru-RU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систем клиент/север</a:t>
            </a:r>
            <a:endParaRPr lang="ru-RU" sz="3200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6" y="885211"/>
            <a:ext cx="9036843" cy="523588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Определенные функции для поддержки систем "клиент/сервер" включены в </a:t>
            </a:r>
            <a:r>
              <a:rPr lang="ru-RU" sz="2400" b="1" dirty="0"/>
              <a:t>стандарт языка SQL</a:t>
            </a:r>
          </a:p>
          <a:p>
            <a:pPr marL="857250" lvl="1" indent="-457200"/>
            <a:r>
              <a:rPr lang="ru-RU" sz="2000" dirty="0"/>
              <a:t>Операции </a:t>
            </a:r>
            <a:r>
              <a:rPr lang="en-US" sz="2000" dirty="0"/>
              <a:t> </a:t>
            </a:r>
            <a:r>
              <a:rPr lang="ru-RU" sz="2000" dirty="0"/>
              <a:t>установления связи с БД – </a:t>
            </a:r>
            <a:r>
              <a:rPr lang="en-US" sz="2000" b="1" dirty="0"/>
              <a:t>CONNECT,</a:t>
            </a:r>
            <a:r>
              <a:rPr lang="ru-RU" sz="2000" b="1" dirty="0"/>
              <a:t> </a:t>
            </a:r>
            <a:r>
              <a:rPr lang="en-US" sz="2000" b="1" dirty="0"/>
              <a:t> DISCONNECT</a:t>
            </a:r>
          </a:p>
          <a:p>
            <a:pPr marL="857250" lvl="1" indent="-457200"/>
            <a:r>
              <a:rPr lang="ru-RU" sz="2000" dirty="0"/>
              <a:t>Операции переключения соединения – </a:t>
            </a:r>
            <a:r>
              <a:rPr lang="en-US" sz="2000" b="1" dirty="0"/>
              <a:t>SET</a:t>
            </a:r>
            <a:r>
              <a:rPr lang="ru-RU" sz="2000" b="1" dirty="0"/>
              <a:t> </a:t>
            </a:r>
            <a:r>
              <a:rPr lang="en-US" sz="2000" b="1" dirty="0"/>
              <a:t> CONNECTION</a:t>
            </a:r>
            <a:endParaRPr lang="ru-RU" sz="2000" b="1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Имеется стандарт ISO для удаленного доступа к данным (</a:t>
            </a:r>
            <a:r>
              <a:rPr lang="ru-RU" sz="2400" dirty="0" err="1"/>
              <a:t>Remote</a:t>
            </a:r>
            <a:r>
              <a:rPr lang="ru-RU" sz="2400" dirty="0"/>
              <a:t> </a:t>
            </a:r>
            <a:r>
              <a:rPr lang="ru-RU" sz="2400" dirty="0" err="1"/>
              <a:t>Data</a:t>
            </a:r>
            <a:r>
              <a:rPr lang="ru-RU" sz="2400" dirty="0"/>
              <a:t> </a:t>
            </a:r>
            <a:r>
              <a:rPr lang="en-US" sz="2400" dirty="0"/>
              <a:t>Access — RDA)</a:t>
            </a:r>
            <a:endParaRPr lang="ru-RU" sz="2400" dirty="0"/>
          </a:p>
          <a:p>
            <a:r>
              <a:rPr lang="ru-RU" sz="2400" dirty="0"/>
              <a:t>Задача спецификации RDA состоит в определении </a:t>
            </a:r>
            <a:r>
              <a:rPr lang="ru-RU" sz="2400" b="1" dirty="0"/>
              <a:t>форматов и протоколов взаимодействия в среде "клиент/сервер".</a:t>
            </a:r>
          </a:p>
          <a:p>
            <a:r>
              <a:rPr lang="ru-RU" sz="2400" b="1" dirty="0"/>
              <a:t> </a:t>
            </a:r>
            <a:r>
              <a:rPr lang="ru-RU" sz="2400" dirty="0"/>
              <a:t>Стандарт определяет, что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клиент формулирует запрос к базе данных в стандартной форме языка SQL (по существу, применяется подмножество стандарта SQL),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сервер поддерживает стандартный каталог (также в основном соответствующий требованиям стандарта SQL).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определены конкретные форматы представления для сообщений, передаваемых между клиентом и сервером (запросы SQL, данные и результаты, диагностическая информация).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" y="-80210"/>
            <a:ext cx="9144000" cy="66833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Стандарты для </a:t>
            </a:r>
            <a:r>
              <a:rPr lang="ru-RU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систем клиент/север</a:t>
            </a:r>
            <a:endParaRPr lang="ru-RU" sz="3200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07156" y="885211"/>
            <a:ext cx="9036844" cy="5629889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ru-RU" sz="2400" dirty="0"/>
              <a:t>Стандарт </a:t>
            </a:r>
            <a:r>
              <a:rPr lang="ru-RU" sz="2400" b="1" dirty="0"/>
              <a:t>архитектуры распределенных реляционных баз данных (</a:t>
            </a:r>
            <a:r>
              <a:rPr lang="ru-RU" sz="2400" b="1" dirty="0" err="1"/>
              <a:t>Distributed</a:t>
            </a:r>
            <a:r>
              <a:rPr lang="ru-RU" sz="2400" b="1" dirty="0"/>
              <a:t> </a:t>
            </a:r>
            <a:r>
              <a:rPr lang="ru-RU" sz="2400" b="1" dirty="0" err="1"/>
              <a:t>Relational</a:t>
            </a:r>
            <a:r>
              <a:rPr lang="ru-RU" sz="2400" b="1" dirty="0"/>
              <a:t> </a:t>
            </a:r>
            <a:r>
              <a:rPr lang="en-US" sz="2400" b="1" dirty="0"/>
              <a:t>Database Architecture </a:t>
            </a:r>
            <a:r>
              <a:rPr lang="en-US" sz="2400" dirty="0"/>
              <a:t>— DRDA), </a:t>
            </a:r>
            <a:r>
              <a:rPr lang="ru-RU" sz="2400" dirty="0"/>
              <a:t>предложенный компанией </a:t>
            </a:r>
            <a:r>
              <a:rPr lang="en-US" sz="2400" dirty="0"/>
              <a:t>IBM</a:t>
            </a:r>
            <a:endParaRPr lang="ru-RU" sz="2400" dirty="0"/>
          </a:p>
          <a:p>
            <a:pPr>
              <a:lnSpc>
                <a:spcPct val="120000"/>
              </a:lnSpc>
            </a:pPr>
            <a:r>
              <a:rPr lang="ru-RU" sz="2400" dirty="0"/>
              <a:t>Стандарты DRDA и RDA имеют аналогичное назначение, многие характеристики стандарта DRDA обусловлены его происхождением (он разработан компанией </a:t>
            </a:r>
            <a:r>
              <a:rPr lang="en-US" sz="2400" dirty="0"/>
              <a:t>IBM).</a:t>
            </a:r>
            <a:endParaRPr lang="ru-RU" sz="2400" dirty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клиент формулирует запрос к базе данных </a:t>
            </a:r>
            <a:r>
              <a:rPr lang="ru-RU" sz="2000" b="1" dirty="0"/>
              <a:t>НЕ ОБЯЗАТЕЛЬНО </a:t>
            </a:r>
            <a:r>
              <a:rPr lang="ru-RU" sz="2000" dirty="0"/>
              <a:t>в стандартной форме языка SQL (может использоваться диалект). Это может повысить эффективность реализации, так как допускается использовать особенности сервера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None/>
            </a:pPr>
            <a:r>
              <a:rPr lang="ru-RU" sz="2000" dirty="0"/>
              <a:t>	Но снижается возможность переносимости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100" dirty="0"/>
              <a:t>В стандарте DRDA не подразумевается наличие какой-либо конкретной структуры каталога сервера.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100" dirty="0"/>
              <a:t>Форматы и протоколы DRDA существенно отличаются от форматов стандарта RDA</a:t>
            </a:r>
          </a:p>
          <a:p>
            <a:pPr>
              <a:lnSpc>
                <a:spcPct val="120000"/>
              </a:lnSpc>
            </a:pPr>
            <a:r>
              <a:rPr lang="ru-RU" sz="2500" dirty="0"/>
              <a:t>По существу, стандарт </a:t>
            </a:r>
            <a:r>
              <a:rPr lang="en-US" sz="2500" dirty="0"/>
              <a:t>DRDA</a:t>
            </a:r>
            <a:r>
              <a:rPr lang="ru-RU" sz="2500" dirty="0"/>
              <a:t> базируется на собственной архитектуре и собственных стандартах IBM, в то время как стандарт RDA основывается на международных стандартах, независимых от конкретных поставщиков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3753</TotalTime>
  <Words>2582</Words>
  <Application>Microsoft Office PowerPoint</Application>
  <PresentationFormat>Экран (4:3)</PresentationFormat>
  <Paragraphs>353</Paragraphs>
  <Slides>21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Times New Roman</vt:lpstr>
      <vt:lpstr>Wingdings</vt:lpstr>
      <vt:lpstr>Пиксел</vt:lpstr>
      <vt:lpstr>Архитектура  клиент-сервер</vt:lpstr>
      <vt:lpstr>Предварительные определения</vt:lpstr>
      <vt:lpstr>Клиенты</vt:lpstr>
      <vt:lpstr>Типовая схема клиент-сервер архитектуры</vt:lpstr>
      <vt:lpstr>Системы клиент/сервер</vt:lpstr>
      <vt:lpstr>Много клиентов – один сервер</vt:lpstr>
      <vt:lpstr>Совмещение роли клиента и сервера</vt:lpstr>
      <vt:lpstr>Ранняя архитектура взаимодействия с СУБД</vt:lpstr>
      <vt:lpstr>Компоненты интерактивного приложения </vt:lpstr>
      <vt:lpstr>Модель файлового сервера</vt:lpstr>
      <vt:lpstr>Модель удаленного доступа (RDA)</vt:lpstr>
      <vt:lpstr>Модель сервера баз данных (DBS)</vt:lpstr>
      <vt:lpstr>Модель сервера приложений (AS)</vt:lpstr>
      <vt:lpstr>Эволюция серверов базы данных –  централизованная архитектура</vt:lpstr>
      <vt:lpstr>Эволюция серверов базы данных - Один-к-одному</vt:lpstr>
      <vt:lpstr>Выделение сервера</vt:lpstr>
      <vt:lpstr>Многопотоковая архитектура</vt:lpstr>
      <vt:lpstr>Архитектура с  виртуальным сервером</vt:lpstr>
      <vt:lpstr>Многопотоковая мультисерверная архитектура</vt:lpstr>
      <vt:lpstr>Стандарты для систем клиент/север</vt:lpstr>
      <vt:lpstr>Стандарты для систем клиент/север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Казаков Виталий Геннадьевич</cp:lastModifiedBy>
  <cp:revision>368</cp:revision>
  <dcterms:created xsi:type="dcterms:W3CDTF">2012-10-04T16:47:37Z</dcterms:created>
  <dcterms:modified xsi:type="dcterms:W3CDTF">2022-04-07T05:02:36Z</dcterms:modified>
</cp:coreProperties>
</file>