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9"/>
  </p:notesMasterIdLst>
  <p:sldIdLst>
    <p:sldId id="256" r:id="rId2"/>
    <p:sldId id="300" r:id="rId3"/>
    <p:sldId id="278" r:id="rId4"/>
    <p:sldId id="275" r:id="rId5"/>
    <p:sldId id="298" r:id="rId6"/>
    <p:sldId id="273" r:id="rId7"/>
    <p:sldId id="29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31" r:id="rId16"/>
    <p:sldId id="332" r:id="rId17"/>
    <p:sldId id="308" r:id="rId18"/>
    <p:sldId id="309" r:id="rId19"/>
    <p:sldId id="310" r:id="rId20"/>
    <p:sldId id="311" r:id="rId21"/>
    <p:sldId id="315" r:id="rId22"/>
    <p:sldId id="330" r:id="rId23"/>
    <p:sldId id="316" r:id="rId24"/>
    <p:sldId id="317" r:id="rId25"/>
    <p:sldId id="318" r:id="rId26"/>
    <p:sldId id="322" r:id="rId27"/>
    <p:sldId id="323" r:id="rId28"/>
    <p:sldId id="324" r:id="rId29"/>
    <p:sldId id="325" r:id="rId30"/>
    <p:sldId id="326" r:id="rId31"/>
    <p:sldId id="320" r:id="rId32"/>
    <p:sldId id="319" r:id="rId33"/>
    <p:sldId id="312" r:id="rId34"/>
    <p:sldId id="329" r:id="rId35"/>
    <p:sldId id="313" r:id="rId36"/>
    <p:sldId id="328" r:id="rId37"/>
    <p:sldId id="314" r:id="rId38"/>
  </p:sldIdLst>
  <p:sldSz cx="9144000" cy="6858000" type="screen4x3"/>
  <p:notesSz cx="6858000" cy="9144000"/>
  <p:defaultTextStyle>
    <a:defPPr>
      <a:defRPr lang="ru-RU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4110"/>
    <a:srgbClr val="0080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90" autoAdjust="0"/>
  </p:normalViewPr>
  <p:slideViewPr>
    <p:cSldViewPr snapToGrid="0" showGuides="1">
      <p:cViewPr varScale="1">
        <p:scale>
          <a:sx n="72" d="100"/>
          <a:sy n="72" d="100"/>
        </p:scale>
        <p:origin x="696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D195D6C-8515-4AD4-ACD0-9A86638E16B3}" type="datetimeFigureOut">
              <a:rPr lang="ru-RU"/>
              <a:pPr>
                <a:defRPr/>
              </a:pPr>
              <a:t>24.03.2022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DDF6F30-BE18-42A7-8693-14D70F9A854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38307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dirty="0"/>
              <a:t>В большинстве случаев при исследовании алгоритмов обработки данных предполагается, что информация размещена в оперативной памяти и на доступ к одному элементу данных приходится затрачивать не больше и не меньше времени, чем на обращение к любому другому элементу. </a:t>
            </a:r>
          </a:p>
          <a:p>
            <a:r>
              <a:rPr lang="ru-RU" dirty="0"/>
              <a:t>Подобную схему действий принято называть </a:t>
            </a:r>
            <a:r>
              <a:rPr lang="ru-RU" i="1" dirty="0"/>
              <a:t>моделью вычислений с произвольным доступом к данным</a:t>
            </a:r>
            <a:r>
              <a:rPr lang="ru-RU" dirty="0"/>
              <a:t> (</a:t>
            </a:r>
            <a:r>
              <a:rPr lang="en-US" dirty="0"/>
              <a:t>random</a:t>
            </a:r>
            <a:r>
              <a:rPr lang="ru-RU" dirty="0"/>
              <a:t>-</a:t>
            </a:r>
            <a:r>
              <a:rPr lang="en-US" dirty="0"/>
              <a:t>access computation model</a:t>
            </a:r>
            <a:r>
              <a:rPr lang="ru-RU" dirty="0"/>
              <a:t>). </a:t>
            </a:r>
          </a:p>
          <a:p>
            <a:r>
              <a:rPr lang="ru-RU" dirty="0"/>
              <a:t>Если же речь идет о разработке СУБД, в качестве непременного постулата надлежит принять положение о том, что какой бы емкой ни оказалась оперативная память, в общем случае заведомо </a:t>
            </a:r>
            <a:r>
              <a:rPr lang="ru-RU" i="1" dirty="0"/>
              <a:t>не удастся</a:t>
            </a:r>
            <a:r>
              <a:rPr lang="ru-RU" dirty="0"/>
              <a:t> разместить в ней все требуемые данные целиком. </a:t>
            </a:r>
          </a:p>
        </p:txBody>
      </p:sp>
      <p:sp>
        <p:nvSpPr>
          <p:cNvPr id="1229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9DCC797-B0A0-45EB-914B-B5FC2139F045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sz="1200" dirty="0"/>
              <a:t>Произвольны доступ к ячейкам ОП – от 10 до 100 </a:t>
            </a:r>
            <a:r>
              <a:rPr lang="ru-RU" sz="1200" dirty="0" err="1"/>
              <a:t>нсек</a:t>
            </a:r>
            <a:r>
              <a:rPr lang="ru-RU" sz="1200" dirty="0"/>
              <a:t>.</a:t>
            </a:r>
            <a:r>
              <a:rPr lang="ru-RU" sz="1200" baseline="0" dirty="0"/>
              <a:t> 1 нс = 10</a:t>
            </a:r>
            <a:r>
              <a:rPr lang="ru-RU" sz="1200" baseline="30000" dirty="0"/>
              <a:t>-9</a:t>
            </a:r>
            <a:r>
              <a:rPr lang="ru-RU" sz="1200" baseline="0" dirty="0"/>
              <a:t> с </a:t>
            </a:r>
          </a:p>
          <a:p>
            <a:endParaRPr lang="ru-RU" sz="1200" dirty="0"/>
          </a:p>
          <a:p>
            <a:r>
              <a:rPr lang="ru-RU" sz="1200" dirty="0"/>
              <a:t>До есть доступ к ОП 10</a:t>
            </a:r>
            <a:r>
              <a:rPr lang="ru-RU" sz="1200" baseline="30000" dirty="0"/>
              <a:t>-8</a:t>
            </a:r>
            <a:r>
              <a:rPr lang="ru-RU" sz="1200" dirty="0"/>
              <a:t> - 10</a:t>
            </a:r>
            <a:r>
              <a:rPr lang="ru-RU" sz="1200" baseline="30000" dirty="0"/>
              <a:t>-7</a:t>
            </a:r>
            <a:r>
              <a:rPr lang="ru-RU" sz="1200" dirty="0"/>
              <a:t> сек, доступ к ДИСК – 10</a:t>
            </a:r>
            <a:r>
              <a:rPr lang="ru-RU" sz="1200" baseline="30000" dirty="0"/>
              <a:t>-2</a:t>
            </a:r>
            <a:r>
              <a:rPr lang="ru-RU" sz="1200" dirty="0"/>
              <a:t> сек)</a:t>
            </a:r>
            <a:endParaRPr lang="ru-RU" dirty="0"/>
          </a:p>
        </p:txBody>
      </p:sp>
      <p:sp>
        <p:nvSpPr>
          <p:cNvPr id="1331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607AF46-0A1A-4860-B217-2FFB225E3B59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dirty="0">
                <a:latin typeface="+mn-lt"/>
                <a:cs typeface="+mn-cs"/>
              </a:rPr>
              <a:t>Классический вариант алгоритма сортировки слиянием, выполняющийся</a:t>
            </a:r>
            <a:r>
              <a:rPr lang="ru-RU" sz="1200" baseline="0" dirty="0">
                <a:latin typeface="+mn-lt"/>
                <a:cs typeface="+mn-cs"/>
              </a:rPr>
              <a:t> рекурсивно,</a:t>
            </a:r>
            <a:r>
              <a:rPr lang="ru-RU" sz="1200" dirty="0">
                <a:latin typeface="+mn-lt"/>
                <a:cs typeface="+mn-cs"/>
              </a:rPr>
              <a:t> делает сортировку </a:t>
            </a:r>
            <a:r>
              <a:rPr lang="en-US" sz="1400" i="1" dirty="0">
                <a:latin typeface="+mn-lt"/>
                <a:cs typeface="+mn-cs"/>
              </a:rPr>
              <a:t>n</a:t>
            </a:r>
            <a:r>
              <a:rPr lang="en-US" sz="1200" dirty="0">
                <a:latin typeface="+mn-lt"/>
                <a:cs typeface="+mn-cs"/>
              </a:rPr>
              <a:t> </a:t>
            </a:r>
            <a:r>
              <a:rPr lang="ru-RU" sz="1200" dirty="0">
                <a:latin typeface="+mn-lt"/>
                <a:cs typeface="+mn-cs"/>
              </a:rPr>
              <a:t>элементов </a:t>
            </a:r>
            <a:r>
              <a:rPr lang="ru-RU" sz="1200" baseline="0" dirty="0">
                <a:latin typeface="+mn-lt"/>
                <a:cs typeface="+mn-cs"/>
              </a:rPr>
              <a:t>за </a:t>
            </a:r>
            <a:r>
              <a:rPr lang="en-US" sz="1400" i="1" baseline="0" dirty="0">
                <a:latin typeface="Times New Roman" pitchFamily="18" charset="0"/>
                <a:cs typeface="Times New Roman" pitchFamily="18" charset="0"/>
              </a:rPr>
              <a:t>log</a:t>
            </a:r>
            <a:r>
              <a:rPr lang="en-US" sz="1400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i="1" baseline="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1400" baseline="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200" baseline="0" dirty="0">
                <a:latin typeface="+mn-lt"/>
                <a:cs typeface="+mn-cs"/>
              </a:rPr>
              <a:t>итераций	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Разместить блоки,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которые должны обрабатываться совместно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одном цилиндре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Расположить информацию на нескольких дисках меньшего объема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вместо того, чтобы использовать один диск той же емкости.</a:t>
            </a:r>
          </a:p>
          <a:p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 наличии нескольких блоков головок, перемещающихся независимо, объем данных, которые могут быть считаны/записаны в течение единицы времени, возрастает пропорционально количеству дисковых устройств.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Создать "зеркальные" копии одних и тех же данных на нескольких дисках.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позволит не только обезопасить данные в случае выхода из строя одного из дисковых устройств, но и (как в рассмотренном выше случае распределения данных по нескольким дискам меньшего объема) увеличить пропускную способность системы.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Использовать алгоритмы уровня операционной системы, СУБД или контроллера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дисков, служащие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 упорядочения запросов к блокам диска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во времени.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Применить стратегии предварительного считывания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определенных порций дисковых данных в оперативную память, предвосхищающие потребность в использовании этих данных.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14</a:t>
            </a:fld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15</a:t>
            </a:fld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ru-RU" b="0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Время поиска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(также именуемое </a:t>
            </a:r>
            <a:r>
              <a:rPr lang="ru-RU" b="0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время доступа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) описывает время, необходимое для позиционирования головок чтения/записи на пластине с радиальным движением (перемещение по радиусу пластины). Другими словами, это время, необходимое для позиционирования и установки рычага и головки на правильной дорожке. Таким образом, чем меньше времени занимает поиск, тем быстрей проходит операция ввода-вывода. Производители дисков указывают такие характеристики времени поиска:</a:t>
            </a:r>
          </a:p>
          <a:p>
            <a:pPr marL="181240" indent="-18124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Полный оборот.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Это время, необходимое для перемещения головки чтения/записи по всей ширине диска, от внутренней дорожки до внешней.</a:t>
            </a:r>
          </a:p>
          <a:p>
            <a:pPr marL="181240" indent="-18124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Среднее время поиска.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Это среднее время, необходимое головке чтения/записи для перемещения с одной произвольной дорожки на другую. Обычно оно указывается как время для совершения трети полного оборота.</a:t>
            </a:r>
          </a:p>
          <a:p>
            <a:pPr marL="181240" indent="-18124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Переход с дорожки на дорожку.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Это время, необходимое головке чтения/записи для перемещения между соседними дорожками.</a:t>
            </a:r>
          </a:p>
          <a:p>
            <a:pPr>
              <a:spcBef>
                <a:spcPts val="600"/>
              </a:spcBef>
            </a:pP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Каждая из этих характеристик измеряется в миллисекундах (мс). Время поиска диска обычно указывается его производителем. Среднее время поиска для современного диска обычно составляет от 3 до 15 мс. Время поиска влияет на операции ввода-вывода произвольных дорожек больше, чем соседних дорожек. Чтобы сократить время поиска, данные можно записывать только в подраздел доступных цилиндров. В результате полезная емкость будет меньше фактической емкости диска. Например, дисковый накопитель на 500 Гбайт установлен на использование только первых 40 процентов цилиндров и в результате рассматривается как диск на 200 Гбайт. Это известно как </a:t>
            </a:r>
            <a:r>
              <a:rPr lang="ru-RU" b="0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«короткий ход»</a:t>
            </a:r>
            <a:r>
              <a:rPr lang="ru-RU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диска.</a:t>
            </a:r>
          </a:p>
          <a:p>
            <a:pPr>
              <a:spcBef>
                <a:spcPts val="600"/>
              </a:spcBef>
            </a:pPr>
            <a:endParaRPr lang="ru-RU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16</a:t>
            </a:fld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Таким образом, упорядочение данных по цилиндрам способна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уменьшить продолжительность процесса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сортировки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вдвое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и лучшего результата без использования специальных дополнительных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подходов достичь не удастся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19</a:t>
            </a:fld>
            <a:endParaRPr lang="ru-R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21</a:t>
            </a:fld>
            <a:endParaRPr lang="ru-R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22</a:t>
            </a:fld>
            <a:endParaRPr lang="ru-R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23</a:t>
            </a:fld>
            <a:endParaRPr lang="ru-R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24</a:t>
            </a:fld>
            <a:endParaRPr lang="ru-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Еще один способ повышения пропускной способности системы связан с примене­нием алгоритмов (мы будем говорить об алгоритмах уровня контроллера дисков, хотя здесь этот аспект не имеет принципиального значения), позволяющих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упорядочивать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запросы на выполнение дисковых операций во времени и выбирать, какие из них должны обрабатываться первыми. Такая возможность не особенно полезна, ес­ли, как в рассматриваемом нами примере, связанном с сортировкой данных отноше­ния, системе приходится считывать и записывать дисковые блоки в определенной по­следовательности. Но в тех ситуациях, когда система выполняет единовременно мно­жество запросов, затрагивающих небольшие порции данных, средства построения динамических расписаний обслуживания запросов могут прийтись весьма кстати.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Один из простых и эффективных способов упорядочения запросов к диску во вре­мени носит название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алгоритма лифта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elevator algorithm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 Вполне правомочно пола­гать, что блок головок привода совершает перемещения от внутреннего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внешнему цилиндру и обратно точно так же, как лифт высотного здания, движущийся верти­кально вверх и вниз. Если один или несколько запросов предусматривают обращение к одному цилиндру, головки перемещаются к этому цилиндру и выполняют требуемые операции чтения и/или записи. Затем головки продолжают движение в том же направ­лении до достижения очередного запрошенного цилиндра. Если среди поступивших за­просов нет таких, которые предусматривали бы обращение к следующим по порядку цилиндрам, направление перемещения блока головок изменяется на противоположное.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25</a:t>
            </a:fld>
            <a:endParaRPr lang="ru-R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Еще один способ повышения пропускной способности системы связан с примене­нием алгоритмов (мы будем говорить об алгоритмах уровня контроллера дисков, хотя здесь этот аспект не имеет принципиального значения), позволяющих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упорядочивать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запросы на выполнение дисковых операций во времени и выбирать, какие из них должны обрабатываться первыми. Такая возможность не особенно полезна, ес­ли, как в рассматриваемом нами примере, связанном с сортировкой данных отноше­ния, системе приходится считывать и записывать дисковые блоки в определенной по­следовательности. Но в тех ситуациях, когда система выполняет единовременно мно­жество запросов, затрагивающих небольшие порции данных, средства построения динамических расписаний обслуживания запросов могут прийтись весьма кстати.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Один из простых и эффективных способов упорядочения запросов к диску во вре­мени носит название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алгоритма лифта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elevator algorithm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 Вполне правомочно пола­гать, что блок головок привода совершает перемещения от внутреннего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внешнему цилиндру и обратно точно так же, как лифт высотного здания, движущийся верти­кально вверх и вниз. Если один или несколько запросов предусматривают обращение к одному цилиндру, головки перемещаются к этому цилиндру и выполняют требуемые операции чтения и/или записи. Затем головки продолжают движение в том же направ­лении до достижения очередного запрошенного цилиндра. Если среди поступивших за­просов нет таких, которые предусматривали бы обращение к следующим по порядку цилиндрам, направление перемещения блока головок изменяется на противоположное.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26</a:t>
            </a:fld>
            <a:endParaRPr lang="ru-R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Предположим, что к некоторому (нулевому) моменту времени поступили три запроса, предусматривающие обращение к блокам данных, размещенным на цилиндрах с номерами 2000 6000 и 14000, а блок го­ловок расположен напротив цилиндра 2000. Помимо того, предположим, что в скором времени должны поступить еще три запроса. Параметры всех шести запросов представ­лены на рис. 11.12 (например, запрос, предполагающий необходимость обращения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кцилиндру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 номером 4000, поступает в момент времени 10 (миллисекунд)).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27</a:t>
            </a:fld>
            <a:endParaRPr lang="ru-R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Согласимся с тем, что время передачи составляет 0,25 миллисекунды, а время обо­рота — 4,17 миллисекунды, т.е. для выполнения одной операции с блоком требуется период времени, равный 4,42 миллисекунды плюс соответствующее время поиска конкретного цилиндра. Время поиска легко вычислить, пользуясь правилом, изло­женным в примере 11.5: 1 плюс количество дорожек, поделенное на 1000. Рассмотрим действие алгоритма лифта. Для обработки запроса, обращенного к цилиндру 2000, вы­полнять поиск не требуется, поскольку блок головок находится уже здесь. Поэтому к моменту 4,42 этот запрос будет полностью обработан. Запрос к цилиндру 4000 еще не поступил, поэтому головки перемещаются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цилиндру 6000. Интервал времени перехода с цилиндра 2000 к цилиндру 6000 равен 5 миллисекундам, поэтому обработка второго запроса начинается в момент 9,42 и завершается по прошествии 4,42 миллисекунды, т.е. к моменту 13,84. Теперь запрос, обращенный к цилиндру 4000, уже активизирован, но головки "проскочили" этот цилиндр в момент времени 7,42 и не вернутся к нему до тех пор, пока не будут обработаны все запросы к "дальним" цилиндрам.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Сейчас настал черед обслуживания запроса к цилиндру 14000, и на перемещение к нему будет затрачено 9 миллисекунд, а на считывание блока — еще 4,42 миллисекунды. Таким образом, обработка третьего запроса завершится к моменту 27,26. Сейчас уже поступил запрос к цилиндру 16000, поэтому движение головок в выбранном направлении продолжается. Время поиска составит 3 миллисекунды, так что операция будет полностью завершена к моменту 27,26 + 3 + 4,42 = 34.68.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Теперь "прибыл" и запрос к цилиндру 10000, так что остаются необработанными всего два запроса, адресованные к цилиндрам 10000 и 4000, и запросов к цилиндрам с более высокими номерами нет. Поэтому направление перемещения головок изменяется, и последовательно обслуживаются два оставшихся запроса . На рис. 11.13 показаны моменты завершения обработки всех запросов.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28</a:t>
            </a:fld>
            <a:endParaRPr lang="ru-RU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Согласимся с тем, что время передачи составляет 0,25 миллисекунды, а время обо­рота — 4,17 миллисекунды, т.е. для выполнения одной операции с блоком требуется период времени, равный 4,42 миллисекунды плюс соответствующее время поиска конкретного цилиндра. Время поиска легко вычислить, пользуясь правилом, изло­женным в примере 11.5: 1 плюс количество дорожек, поделенное на 1000. Рассмотрим действие алгоритма лифта. Для обработки запроса, обращенного к цилиндру 2000, вы­полнять поиск не требуется, поскольку блок головок находится уже здесь. Поэтому к моменту 4,42 этот запрос будет полностью обработан. Запрос к цилиндру 4000 еще не поступил, поэтому головки перемещаются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цилиндру 6000. Интервал времени перехода с цилиндра 2000 к цилиндру 6000 равен 5 миллисекундам, поэтому обработка второго запроса начинается в момент 9,42 и завершается по прошествии 4,42 миллисекунды, т.е. к моменту 13,84. Теперь запрос, обращенный к цилиндру 4000, уже активизирован, но головки "проскочили" этот цилиндр в момент времени 7,42 и не вернутся к нему до тех пор, пока не будут обработаны все запросы к "дальним" цилиндрам.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Сейчас настал черед обслуживания запроса к цилиндру 14000, и на перемещение к нему будет затрачено 9 миллисекунд, а на считывание блока — еще 4,42 миллисекунды. Таким образом, обработка третьего запроса завершится к моменту 27,26. Сейчас уже поступил запрос к цилиндру 16000, поэтому движение головок в выбранном направлении продолжается. Время поиска составит 3 миллисекунды, так что операция будет полностью завершена к моменту 27,26 + 3 + 4,42 = 34.68.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Теперь "прибыл" и запрос к цилиндру 10000, так что остаются необработанными всего два запроса, адресованные к цилиндрам 10000 и 4000, и запросов к цилиндрам с более высокими номерами нет. Поэтому направление перемещения головок изменяется, и последовательно обслуживаются два оставшихся запроса . На рис. 11.13 показаны моменты завершения обработки всех запросов.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29</a:t>
            </a:fld>
            <a:endParaRPr lang="ru-R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Согласимся с тем, что время передачи составляет 0,25 миллисекунды, а время обо­рота — 4,17 миллисекунды, т.е. для выполнения одной операции с блоком требуется период времени, равный 4,42 миллисекунды плюс соответствующее время поиска конкретного цилиндра. Время поиска легко вычислить, пользуясь правилом, изло­женным в примере 11.5: 1 плюс количество дорожек, поделенное на 1000. Рассмотрим действие алгоритма лифта. Для обработки запроса, обращенного к цилиндру 2000, вы­полнять поиск не требуется, поскольку блок головок находится уже здесь. Поэтому к моменту 4,42 этот запрос будет полностью обработан. Запрос к цилиндру 4000 еще не поступил, поэтому головки перемещаются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цилиндру 6000. Интервал времени перехода с цилиндра 2000 к цилиндру 6000 равен 5 миллисекундам, поэтому обработка второго запроса начинается в момент 9,42 и завершается по прошествии 4,42 миллисекунды, т.е. к моменту 13,84. Теперь запрос, обращенный к цилиндру 4000, уже активизирован, но головки "проскочили" этот цилиндр в момент времени 7,42 и не вернутся к нему до тех пор, пока не будут обработаны все запросы к "дальним" цилиндрам.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Сейчас настал черед обслуживания запроса к цилиндру 14000, и на перемещение к нему будет затрачено 9 миллисекунд, а на считывание блока — еще 4,42 миллисекунды. Таким образом, обработка третьего запроса завершится к моменту 27,26. Сейчас уже поступил запрос к цилиндру 16000, поэтому движение головок в выбранном направлении продолжается. Время поиска составит 3 миллисекунды, так что операция будет полностью завершена к моменту 27,26 + 3 + 4,42 = 34.68.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Теперь "прибыл" и запрос к цилиндру 10000, так что остаются необработанными всего два запроса, адресованные к цилиндрам 10000 и 4000, и запросов к цилиндрам с более высокими номерами нет. Поэтому направление перемещения головок изменяется, и последовательно обслуживаются два оставшихся запроса . На рис. 11.13 показаны моменты завершения обработки всех запросов.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30</a:t>
            </a:fld>
            <a:endParaRPr lang="ru-RU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Еще один способ повышения пропускной способности системы связан с примене­нием алгоритмов (мы будем говорить об алгоритмах уровня контроллера дисков, хотя здесь этот аспект не имеет принципиального значения), позволяющих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упорядочивать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запросы на выполнение дисковых операций во времени и выбирать, какие из них должны обрабатываться первыми. Такая возможность не особенно полезна, ес­ли, как в рассматриваемом нами примере, связанном с сортировкой данных отноше­ния, системе приходится считывать и записывать дисковые блоки в определенной по­следовательности. Но в тех ситуациях, когда система выполняет единовременно мно­жество запросов, затрагивающих небольшие порции данных, средства построения динамических расписаний обслуживания запросов могут прийтись весьма кстати.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Один из простых и эффективных способов упорядочения запросов к диску во вре­мени носит название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алгоритма лифта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elevator algorithm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 Вполне правомочно пола­гать, что блок головок привода совершает перемещения от внутреннего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внешнему цилиндру и обратно точно так же, как лифт высотного здания, движущийся верти­кально вверх и вниз. Если один или несколько запросов предусматривают обращение к одному цилиндру, головки перемещаются к этому цилиндру и выполняют требуемые операции чтения и/или записи. Затем головки продолжают движение в том же направ­лении до достижения очередного запрошенного цилиндра. Если среди поступивших за­просов нет таких, которые предусматривали бы обращение к следующим по порядку цилиндрам, направление перемещения блока головок изменяется на противоположное.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31</a:t>
            </a:fld>
            <a:endParaRPr lang="ru-RU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11.5.5. Предварительное считывание и крупномасштабная буферизация данных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Последняя из рассматриваемых нами методик повышения эффективности исполь­зования вторичных устройств хранения связана с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предварительным считыванием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prefetching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или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крупномасштабной буферизацией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large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scale buffering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данных. В не­которых приложениях удается заранее предвидеть порядок, в соответствии с которым блоки должны считываться с диска. Если дело обстоит именно так, можно загрузить дисковые данные в оперативную память еще до того момента, когда потребность в них действительно возникнет. Одно из получаемых в этом случае преимуществ обусловлено тем, что качество расписания обслуживания обращений к диску в соответствии с тем же алгоритмом лифта может быть повышено за счет уменьшения среднего времени обра­ботки блока. Нам удастся достичь того же прироста производительности, о котором го­ворилось в примере 11.14, без длительных задержек в обслуживании запросов.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Пример 11.15. Для того чтобы продемонстрировать выигрыш, получаемый при ис­пользовании стратегии предварительного считывания данных, вновь рассмотрим вто­рую фазу алгоритма сортировки двухфазным многокомпонентным слиянием. Напом­ним (см. пример 11.9 на с. 514), что в процессе слияния в оперативную память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считы-вается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 одному блоку из каждого отсортированного подсписка,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обшее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количество которых равно 16. Если предположить, что подсписков настолько много, что множе­ство очередных считываемых блоков каждого из них заполняет оперативную память целиком, ничего лучшего, разумеется, добиться уже нельзя. Но в нашем примере из­рядная область памяти остается свободной. Поэтому вполне правомочно создать для каждого подсписка не один, а два буфера, и заполнять один из них в то время, пока другой "поставляет" данные, подлежащие слиянию. Если один буфер исчерпан, дос­таточно без каких бы то ни было задержек "переключиться" на другой. □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Конечно, схема, предложенная в примере 11.15, сама по себе не позволяет умень­шить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обшее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время, требуемое для считывания всех 100000 блоков отсортированных подсписков. Можно было бы объединить стратегии предварительного считывания с группированием данных по цилиндрам, если: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сохранять отсортированные подсписки на последовательных цилиндрах, при­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держиваясь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такого же порядка следования блоков на каждой дорожке и на до­ рожках в пределах цилиндра, какой задается подсписком;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осуществлять чтение дорожек или цилиндров, представляющих данные того или иного подсписка, целиком.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32</a:t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BBF1D1-2711-4C80-94E9-219138BD1D16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F688F-E6B0-4FD2-A40D-BE0C1EDDAA0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8E019D-5F85-4D8F-BF7A-168D41BDB76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5EDA0-98DC-4413-988B-11537E048CF5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8FE011-F693-4457-94DD-D56638FAEBA5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E2CE7-7B03-4EE5-BB5A-EC4A6DF2630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642F1-B3DF-4261-9749-15A733FD3BCB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25268D-0FE8-4ABA-BDB0-8213701DC69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DFAC00-5A93-4F29-8B8C-043C501DBFF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326052-DDA3-49DA-BAE8-4652EFC91788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D1FE25-230F-4EA2-BC86-4E1C45F25FD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E8FF21-CD04-44DD-8081-9BF91E63D77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7A4B4-4934-4B9B-9557-A52EE1E6841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94E9485A-49C4-487C-8E4F-F1D0F490B65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  <p:sldLayoutId id="2147483866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11288" y="1844675"/>
            <a:ext cx="7732712" cy="2305050"/>
          </a:xfrm>
        </p:spPr>
        <p:txBody>
          <a:bodyPr/>
          <a:lstStyle/>
          <a:p>
            <a:pPr algn="ctr" eaLnBrk="1" hangingPunct="1">
              <a:spcAft>
                <a:spcPct val="150000"/>
              </a:spcAft>
            </a:pPr>
            <a:r>
              <a:rPr lang="ru-RU" dirty="0"/>
              <a:t>Повышение эффективности дисковых операций</a:t>
            </a:r>
            <a:endParaRPr lang="ru-RU" sz="400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52625" y="4865688"/>
            <a:ext cx="6821488" cy="1114425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ru-RU" sz="2800" dirty="0"/>
              <a:t>Г.Гарсия-Молина, Дж. Ульман, Дж. </a:t>
            </a:r>
            <a:r>
              <a:rPr lang="ru-RU" sz="2800" dirty="0" err="1"/>
              <a:t>Уидом</a:t>
            </a:r>
            <a:r>
              <a:rPr lang="ru-RU" sz="2800" dirty="0"/>
              <a:t> </a:t>
            </a:r>
          </a:p>
          <a:p>
            <a:pPr eaLnBrk="1" hangingPunct="1">
              <a:defRPr/>
            </a:pPr>
            <a:r>
              <a:rPr lang="ru-RU" sz="2800" dirty="0"/>
              <a:t>	Системы баз данных. Глава 11</a:t>
            </a:r>
          </a:p>
          <a:p>
            <a:pPr eaLnBrk="1" hangingPunct="1">
              <a:defRPr/>
            </a:pP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0" y="214313"/>
            <a:ext cx="8966200" cy="830716"/>
          </a:xfrm>
        </p:spPr>
        <p:txBody>
          <a:bodyPr lIns="36000" tIns="36000" rIns="36000" bIns="36000"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Необходимость использования вторичных носителей</a:t>
            </a: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4099" name="Содержимое 2"/>
          <p:cNvSpPr>
            <a:spLocks noGrp="1"/>
          </p:cNvSpPr>
          <p:nvPr>
            <p:ph idx="1"/>
          </p:nvPr>
        </p:nvSpPr>
        <p:spPr>
          <a:xfrm>
            <a:off x="186266" y="1071562"/>
            <a:ext cx="8771467" cy="5430837"/>
          </a:xfrm>
        </p:spPr>
        <p:txBody>
          <a:bodyPr>
            <a:normAutofit lnSpcReduction="10000"/>
          </a:bodyPr>
          <a:lstStyle/>
          <a:p>
            <a:r>
              <a:rPr lang="ru-RU" sz="2800" dirty="0"/>
              <a:t>Модель вычислений с произвольным доступом к данным (</a:t>
            </a:r>
            <a:r>
              <a:rPr lang="en-US" sz="2800" dirty="0"/>
              <a:t>random</a:t>
            </a:r>
            <a:r>
              <a:rPr lang="ru-RU" sz="2800" dirty="0"/>
              <a:t>-</a:t>
            </a:r>
            <a:r>
              <a:rPr lang="en-US" sz="2800" dirty="0"/>
              <a:t>access computation model</a:t>
            </a:r>
            <a:r>
              <a:rPr lang="ru-RU" sz="2800" dirty="0"/>
              <a:t>) -  </a:t>
            </a:r>
            <a:r>
              <a:rPr lang="ru-RU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доступ в оперативной памяти</a:t>
            </a:r>
            <a:r>
              <a:rPr lang="ru-RU" sz="2800" dirty="0"/>
              <a:t>.</a:t>
            </a:r>
          </a:p>
          <a:p>
            <a:r>
              <a:rPr lang="ru-RU" sz="2800" dirty="0"/>
              <a:t>Базы данных и необходимость доступа к вторичным и третичным устройствам. </a:t>
            </a:r>
            <a:r>
              <a:rPr lang="ru-RU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Невозможность поместить содержимое БД в ОП</a:t>
            </a:r>
            <a:r>
              <a:rPr lang="ru-RU" sz="2800" dirty="0"/>
              <a:t>.</a:t>
            </a:r>
            <a:endParaRPr lang="en-US" sz="2800" dirty="0"/>
          </a:p>
          <a:p>
            <a:r>
              <a:rPr lang="ru-RU" sz="2800" dirty="0"/>
              <a:t>Цель алгоритмов – </a:t>
            </a:r>
            <a:r>
              <a:rPr lang="ru-RU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минимизация обращений к дискам.</a:t>
            </a:r>
          </a:p>
          <a:p>
            <a:r>
              <a:rPr lang="ru-RU" sz="2800" dirty="0"/>
              <a:t>Не все алгоритмы эффективные для выполнения в ОП </a:t>
            </a:r>
            <a:r>
              <a:rPr lang="ru-RU" sz="2800" i="1" u="sng" dirty="0"/>
              <a:t>эффективны и для модели вычислений с функциями ввода-вывода</a:t>
            </a:r>
          </a:p>
          <a:p>
            <a:r>
              <a:rPr lang="ru-RU" sz="2800" dirty="0"/>
              <a:t>Принцип минимизации перемещений данных с одного уровня памяти на другой (</a:t>
            </a:r>
            <a:r>
              <a:rPr lang="ru-RU" sz="2800" b="1" dirty="0"/>
              <a:t>ОП</a:t>
            </a:r>
            <a:r>
              <a:rPr lang="ru-RU" sz="2800" dirty="0"/>
              <a:t>, </a:t>
            </a:r>
            <a:r>
              <a:rPr lang="ru-RU" sz="2800" b="1" dirty="0"/>
              <a:t>кэш, диск</a:t>
            </a:r>
            <a:r>
              <a:rPr lang="ru-RU" sz="2800" dirty="0"/>
              <a:t>) </a:t>
            </a:r>
            <a:endParaRPr lang="en-US" sz="2800" dirty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171542" y="6248400"/>
            <a:ext cx="515257" cy="442686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FFF23E21-5538-41BD-A3D5-78865E07F970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6850" y="214313"/>
            <a:ext cx="8750300" cy="828675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Модель вычислений с вводом-выводом</a:t>
            </a:r>
          </a:p>
        </p:txBody>
      </p:sp>
      <p:sp>
        <p:nvSpPr>
          <p:cNvPr id="5123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4956A2D-15F4-46D2-8176-B70B57CC9E9B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125" name="Содержимое 26"/>
          <p:cNvSpPr>
            <a:spLocks noGrp="1"/>
          </p:cNvSpPr>
          <p:nvPr>
            <p:ph idx="1"/>
          </p:nvPr>
        </p:nvSpPr>
        <p:spPr>
          <a:xfrm>
            <a:off x="220134" y="965200"/>
            <a:ext cx="8923866" cy="5520267"/>
          </a:xfrm>
        </p:spPr>
        <p:txBody>
          <a:bodyPr lIns="36000" tIns="36000" rIns="36000" bIns="36000"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Каждый фрагмент БД должен быть извлечен непосредственно с диска (вторичной памяти).</a:t>
            </a:r>
          </a:p>
          <a:p>
            <a:pPr>
              <a:lnSpc>
                <a:spcPct val="120000"/>
              </a:lnSpc>
            </a:pPr>
            <a:r>
              <a:rPr lang="ru-RU" dirty="0"/>
              <a:t>При большом числе пользователей, отсылающих запросы на выполнение </a:t>
            </a:r>
            <a:r>
              <a:rPr lang="ru-RU" i="1" u="sng" dirty="0"/>
              <a:t>операций дискового ввода-вывода </a:t>
            </a:r>
            <a:r>
              <a:rPr lang="ru-RU" dirty="0"/>
              <a:t>контроллер организует очередь (</a:t>
            </a:r>
            <a:r>
              <a:rPr lang="en-US" dirty="0"/>
              <a:t>FIFO)</a:t>
            </a:r>
            <a:r>
              <a:rPr lang="ru-RU" dirty="0"/>
              <a:t> запросов</a:t>
            </a:r>
            <a:r>
              <a:rPr lang="en-US" dirty="0"/>
              <a:t>.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dirty="0"/>
              <a:t>Каждый запрос можно считать случайным</a:t>
            </a:r>
          </a:p>
          <a:p>
            <a:pPr>
              <a:lnSpc>
                <a:spcPct val="120000"/>
              </a:lnSpc>
            </a:pPr>
            <a:r>
              <a:rPr lang="ru-RU" dirty="0"/>
              <a:t>Презумпция снижения затрат на операции ввода-вывода ( </a:t>
            </a:r>
            <a:r>
              <a:rPr lang="ru-RU" sz="3000" dirty="0"/>
              <a:t>ОП – 10</a:t>
            </a:r>
            <a:r>
              <a:rPr lang="ru-RU" sz="3000" baseline="30000" dirty="0"/>
              <a:t>-8</a:t>
            </a:r>
            <a:r>
              <a:rPr lang="ru-RU" sz="3000" dirty="0"/>
              <a:t> - 10</a:t>
            </a:r>
            <a:r>
              <a:rPr lang="ru-RU" sz="3000" baseline="30000" dirty="0"/>
              <a:t>-7</a:t>
            </a:r>
            <a:r>
              <a:rPr lang="ru-RU" sz="3000" dirty="0"/>
              <a:t> сек, ДИСК – 10</a:t>
            </a:r>
            <a:r>
              <a:rPr lang="ru-RU" sz="3000" baseline="30000" dirty="0"/>
              <a:t>-2</a:t>
            </a:r>
            <a:r>
              <a:rPr lang="ru-RU" sz="3000" dirty="0"/>
              <a:t> )</a:t>
            </a:r>
          </a:p>
          <a:p>
            <a:endParaRPr lang="ru-RU" dirty="0"/>
          </a:p>
          <a:p>
            <a:endParaRPr lang="ru-RU" dirty="0"/>
          </a:p>
          <a:p>
            <a:endParaRPr lang="en-US" dirty="0"/>
          </a:p>
          <a:p>
            <a:pPr>
              <a:buFont typeface="Wingdings" pitchFamily="2" charset="2"/>
              <a:buNone/>
            </a:pPr>
            <a:endParaRPr lang="ru-RU" dirty="0"/>
          </a:p>
          <a:p>
            <a:pPr>
              <a:buFont typeface="Wingdings" pitchFamily="2" charset="2"/>
              <a:buNone/>
            </a:pPr>
            <a:endParaRPr lang="ru-RU" sz="4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3"/>
          <p:cNvSpPr txBox="1">
            <a:spLocks noChangeArrowheads="1"/>
          </p:cNvSpPr>
          <p:nvPr/>
        </p:nvSpPr>
        <p:spPr bwMode="auto">
          <a:xfrm>
            <a:off x="293298" y="483079"/>
            <a:ext cx="8701846" cy="6247329"/>
          </a:xfrm>
          <a:prstGeom prst="rect">
            <a:avLst/>
          </a:prstGeom>
          <a:noFill/>
          <a:ln w="0">
            <a:noFill/>
            <a:round/>
            <a:headEnd/>
            <a:tailEnd/>
          </a:ln>
        </p:spPr>
        <p:txBody>
          <a:bodyPr>
            <a:noAutofit/>
          </a:bodyPr>
          <a:lstStyle/>
          <a:p>
            <a:pPr marL="342900" indent="-342900" eaLnBrk="0" hangingPunct="0">
              <a:lnSpc>
                <a:spcPct val="100000"/>
              </a:lnSpc>
              <a:defRPr/>
            </a:pPr>
            <a:r>
              <a:rPr lang="ru-RU" sz="1600" dirty="0">
                <a:latin typeface="+mn-lt"/>
                <a:cs typeface="+mn-cs"/>
              </a:rPr>
              <a:t>Пусть даны 2 отсортированных списка (1,3,4,9) и (2,5,7,8)</a:t>
            </a:r>
          </a:p>
          <a:p>
            <a:pPr marL="342900" indent="-342900" eaLnBrk="0" hangingPunct="0">
              <a:lnSpc>
                <a:spcPct val="100000"/>
              </a:lnSpc>
              <a:defRPr/>
            </a:pPr>
            <a:r>
              <a:rPr lang="ru-RU" sz="1600" dirty="0">
                <a:latin typeface="+mn-lt"/>
                <a:cs typeface="+mn-cs"/>
              </a:rPr>
              <a:t>Требуется получить </a:t>
            </a:r>
            <a:r>
              <a:rPr lang="ru-RU" sz="1600" dirty="0">
                <a:solidFill>
                  <a:srgbClr val="FF0000"/>
                </a:solidFill>
                <a:latin typeface="+mn-lt"/>
                <a:cs typeface="+mn-cs"/>
              </a:rPr>
              <a:t>единый отсортированный </a:t>
            </a:r>
            <a:r>
              <a:rPr lang="ru-RU" sz="1600" dirty="0">
                <a:latin typeface="+mn-lt"/>
                <a:cs typeface="+mn-cs"/>
              </a:rPr>
              <a:t>список. </a:t>
            </a:r>
            <a:endParaRPr lang="en-US" sz="1600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100000"/>
              </a:lnSpc>
              <a:defRPr/>
            </a:pPr>
            <a:endParaRPr lang="en-US" sz="1600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100000"/>
              </a:lnSpc>
              <a:defRPr/>
            </a:pPr>
            <a:endParaRPr lang="ru-RU" sz="1600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100000"/>
              </a:lnSpc>
              <a:defRPr/>
            </a:pPr>
            <a:endParaRPr lang="ru-RU" sz="1600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100000"/>
              </a:lnSpc>
              <a:defRPr/>
            </a:pPr>
            <a:endParaRPr lang="en-US" sz="1600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100000"/>
              </a:lnSpc>
              <a:defRPr/>
            </a:pPr>
            <a:endParaRPr lang="en-US" sz="1600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100000"/>
              </a:lnSpc>
              <a:defRPr/>
            </a:pPr>
            <a:endParaRPr lang="en-US" sz="1600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100000"/>
              </a:lnSpc>
              <a:defRPr/>
            </a:pPr>
            <a:endParaRPr lang="en-US" sz="1600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100000"/>
              </a:lnSpc>
              <a:defRPr/>
            </a:pPr>
            <a:endParaRPr lang="en-US" sz="1600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100000"/>
              </a:lnSpc>
              <a:defRPr/>
            </a:pPr>
            <a:endParaRPr lang="en-US" sz="1600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100000"/>
              </a:lnSpc>
              <a:defRPr/>
            </a:pPr>
            <a:endParaRPr lang="en-US" sz="1600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100000"/>
              </a:lnSpc>
              <a:defRPr/>
            </a:pPr>
            <a:endParaRPr lang="en-US" sz="1600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100000"/>
              </a:lnSpc>
              <a:defRPr/>
            </a:pPr>
            <a:endParaRPr lang="en-US" sz="1600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100000"/>
              </a:lnSpc>
              <a:defRPr/>
            </a:pPr>
            <a:endParaRPr lang="en-US" sz="1600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100000"/>
              </a:lnSpc>
              <a:defRPr/>
            </a:pPr>
            <a:endParaRPr lang="en-US" sz="1600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100000"/>
              </a:lnSpc>
              <a:defRPr/>
            </a:pPr>
            <a:endParaRPr lang="en-US" sz="1600" dirty="0">
              <a:latin typeface="+mn-lt"/>
              <a:cs typeface="+mn-cs"/>
            </a:endParaRPr>
          </a:p>
          <a:p>
            <a:pPr eaLnBrk="0"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sz="1600" dirty="0">
                <a:latin typeface="+mn-lt"/>
                <a:cs typeface="+mn-cs"/>
              </a:rPr>
              <a:t>Время сортировки </a:t>
            </a:r>
            <a:r>
              <a:rPr lang="en-US" sz="1600" i="1" dirty="0">
                <a:latin typeface="+mn-lt"/>
                <a:cs typeface="+mn-cs"/>
              </a:rPr>
              <a:t>n </a:t>
            </a:r>
            <a:r>
              <a:rPr lang="ru-RU" sz="1600" dirty="0" err="1">
                <a:latin typeface="+mn-lt"/>
                <a:cs typeface="+mn-cs"/>
              </a:rPr>
              <a:t>эл</a:t>
            </a:r>
            <a:r>
              <a:rPr lang="ru-RU" sz="1600" dirty="0">
                <a:latin typeface="+mn-lt"/>
                <a:cs typeface="+mn-cs"/>
              </a:rPr>
              <a:t>. Т(</a:t>
            </a:r>
            <a:r>
              <a:rPr lang="en-US" sz="1600" i="1" dirty="0">
                <a:latin typeface="+mn-lt"/>
                <a:cs typeface="+mn-cs"/>
              </a:rPr>
              <a:t>n</a:t>
            </a:r>
            <a:r>
              <a:rPr lang="en-US" sz="1600" dirty="0">
                <a:latin typeface="+mn-lt"/>
                <a:cs typeface="+mn-cs"/>
              </a:rPr>
              <a:t>) = 2 T(</a:t>
            </a:r>
            <a:r>
              <a:rPr lang="en-US" sz="1600" i="1" dirty="0">
                <a:latin typeface="+mn-lt"/>
                <a:cs typeface="+mn-cs"/>
              </a:rPr>
              <a:t>n/2</a:t>
            </a:r>
            <a:r>
              <a:rPr lang="en-US" sz="1600" dirty="0">
                <a:latin typeface="+mn-lt"/>
                <a:cs typeface="+mn-cs"/>
              </a:rPr>
              <a:t>) +</a:t>
            </a:r>
            <a:r>
              <a:rPr lang="el-GR" sz="1600" dirty="0">
                <a:latin typeface="Times New Roman"/>
                <a:cs typeface="Times New Roman"/>
              </a:rPr>
              <a:t>α</a:t>
            </a:r>
            <a:r>
              <a:rPr lang="en-US" sz="1600" i="1" dirty="0">
                <a:latin typeface="+mn-lt"/>
                <a:cs typeface="+mn-cs"/>
              </a:rPr>
              <a:t>n</a:t>
            </a:r>
            <a:r>
              <a:rPr lang="en-US" sz="1600" dirty="0">
                <a:latin typeface="+mn-lt"/>
                <a:cs typeface="+mn-cs"/>
              </a:rPr>
              <a:t>, </a:t>
            </a:r>
            <a:r>
              <a:rPr lang="ru-RU" sz="1600" dirty="0">
                <a:latin typeface="+mn-lt"/>
                <a:cs typeface="+mn-cs"/>
              </a:rPr>
              <a:t>где </a:t>
            </a:r>
            <a:r>
              <a:rPr lang="el-GR" sz="1600" dirty="0">
                <a:latin typeface="Times New Roman"/>
                <a:cs typeface="Times New Roman"/>
              </a:rPr>
              <a:t>α</a:t>
            </a:r>
            <a:r>
              <a:rPr lang="en-US" sz="1600" i="1" dirty="0"/>
              <a:t>n </a:t>
            </a:r>
            <a:r>
              <a:rPr lang="en-US" sz="1600" dirty="0"/>
              <a:t>– </a:t>
            </a:r>
            <a:r>
              <a:rPr lang="ru-RU" sz="1600" dirty="0"/>
              <a:t>время разбиения </a:t>
            </a:r>
            <a:r>
              <a:rPr lang="en-US" sz="1800" i="1" dirty="0"/>
              <a:t>n </a:t>
            </a:r>
            <a:r>
              <a:rPr lang="ru-RU" sz="1600" dirty="0" err="1"/>
              <a:t>эл</a:t>
            </a:r>
            <a:r>
              <a:rPr lang="ru-RU" sz="1600" dirty="0"/>
              <a:t>. на 2 списка и слияние полученных отсортированных подсписков, </a:t>
            </a:r>
            <a:r>
              <a:rPr lang="en-US" sz="1600" dirty="0"/>
              <a:t>T(</a:t>
            </a:r>
            <a:r>
              <a:rPr lang="en-US" sz="1600" i="1" dirty="0"/>
              <a:t>n/2</a:t>
            </a:r>
            <a:r>
              <a:rPr lang="en-US" sz="1600" dirty="0"/>
              <a:t>) </a:t>
            </a:r>
            <a:r>
              <a:rPr lang="ru-RU" sz="1600" dirty="0"/>
              <a:t>– время сортировки списка размером </a:t>
            </a:r>
            <a:r>
              <a:rPr lang="en-US" sz="1600" i="1" dirty="0"/>
              <a:t>n/2</a:t>
            </a:r>
            <a:r>
              <a:rPr lang="ru-RU" sz="1600" dirty="0"/>
              <a:t>. </a:t>
            </a:r>
          </a:p>
          <a:p>
            <a:pPr eaLnBrk="0"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sz="1600" dirty="0">
                <a:latin typeface="+mn-lt"/>
                <a:cs typeface="+mn-cs"/>
              </a:rPr>
              <a:t>Решением рекурсивного выражения </a:t>
            </a:r>
            <a:r>
              <a:rPr lang="ru-RU" sz="1600" dirty="0"/>
              <a:t>Т(</a:t>
            </a:r>
            <a:r>
              <a:rPr lang="en-US" sz="1600" i="1" dirty="0"/>
              <a:t>n</a:t>
            </a:r>
            <a:r>
              <a:rPr lang="en-US" sz="1600" dirty="0"/>
              <a:t>) = 2 T(</a:t>
            </a:r>
            <a:r>
              <a:rPr lang="en-US" sz="1600" i="1" dirty="0"/>
              <a:t>n/2</a:t>
            </a:r>
            <a:r>
              <a:rPr lang="en-US" sz="1600" dirty="0"/>
              <a:t>) +</a:t>
            </a:r>
            <a:r>
              <a:rPr lang="el-GR" sz="1600" dirty="0">
                <a:latin typeface="Times New Roman"/>
                <a:cs typeface="Times New Roman"/>
              </a:rPr>
              <a:t>α</a:t>
            </a:r>
            <a:r>
              <a:rPr lang="en-US" sz="1600" i="1" dirty="0"/>
              <a:t>n</a:t>
            </a:r>
            <a:r>
              <a:rPr lang="ru-RU" sz="1600" dirty="0">
                <a:latin typeface="+mn-lt"/>
                <a:cs typeface="+mn-cs"/>
              </a:rPr>
              <a:t> окажется </a:t>
            </a:r>
            <a:r>
              <a:rPr lang="en-US" sz="1600" b="1" i="1" dirty="0">
                <a:latin typeface="Times New Roman" pitchFamily="18" charset="0"/>
                <a:cs typeface="Times New Roman" pitchFamily="18" charset="0"/>
              </a:rPr>
              <a:t>T(n) = O(n log n ) </a:t>
            </a:r>
            <a:r>
              <a:rPr lang="ru-RU" sz="1600" dirty="0">
                <a:latin typeface="+mn-lt"/>
                <a:cs typeface="Times New Roman" pitchFamily="18" charset="0"/>
              </a:rPr>
              <a:t>- о</a:t>
            </a:r>
            <a:r>
              <a:rPr lang="ru-RU" sz="1600" dirty="0">
                <a:latin typeface="+mn-lt"/>
              </a:rPr>
              <a:t>ценка времени на сортировку списка из </a:t>
            </a:r>
            <a:r>
              <a:rPr lang="en-US" sz="1600" i="1" dirty="0">
                <a:latin typeface="+mn-lt"/>
              </a:rPr>
              <a:t>n</a:t>
            </a:r>
            <a:r>
              <a:rPr lang="en-US" sz="1600" dirty="0">
                <a:latin typeface="+mn-lt"/>
              </a:rPr>
              <a:t> </a:t>
            </a:r>
            <a:r>
              <a:rPr lang="ru-RU" sz="1600" dirty="0">
                <a:latin typeface="+mn-lt"/>
              </a:rPr>
              <a:t>элементов слиянием </a:t>
            </a:r>
            <a:endParaRPr lang="ru-RU" sz="1600" dirty="0">
              <a:latin typeface="+mn-lt"/>
              <a:cs typeface="+mn-cs"/>
            </a:endParaRPr>
          </a:p>
        </p:txBody>
      </p:sp>
      <p:sp>
        <p:nvSpPr>
          <p:cNvPr id="8196" name="Номер слайда 22"/>
          <p:cNvSpPr>
            <a:spLocks noGrp="1"/>
          </p:cNvSpPr>
          <p:nvPr>
            <p:ph type="sldNum" sz="quarter" idx="11"/>
          </p:nvPr>
        </p:nvSpPr>
        <p:spPr>
          <a:xfrm>
            <a:off x="8462072" y="6307812"/>
            <a:ext cx="379707" cy="426203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6E6670DD-E7F4-46C2-9366-78D15383F4FC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06387" y="0"/>
            <a:ext cx="8531225" cy="558800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Сортировка слиянием</a:t>
            </a:r>
            <a:endParaRPr lang="ru-RU" sz="3200" i="1" dirty="0">
              <a:solidFill>
                <a:schemeClr val="bg2"/>
              </a:solidFill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618066" y="1160773"/>
          <a:ext cx="7907867" cy="4224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1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6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итерация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Список 1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Список 2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Итоговый 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24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начало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/>
                        <a:t>1, 3,</a:t>
                      </a:r>
                      <a:r>
                        <a:rPr lang="ru-RU" sz="2000" b="1" baseline="0" dirty="0"/>
                        <a:t> 4, 9</a:t>
                      </a:r>
                      <a:endParaRPr lang="ru-RU" sz="2000" b="1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/>
                        <a:t>2, 5,</a:t>
                      </a:r>
                      <a:r>
                        <a:rPr lang="ru-RU" sz="2000" b="1" baseline="0" dirty="0"/>
                        <a:t> 7, 8</a:t>
                      </a:r>
                      <a:endParaRPr lang="ru-RU" sz="2000" b="1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/>
                        <a:t>пуст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24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/>
                        <a:t>3,</a:t>
                      </a:r>
                      <a:r>
                        <a:rPr lang="ru-RU" sz="2000" b="1" baseline="0" dirty="0"/>
                        <a:t> 4, 9</a:t>
                      </a:r>
                      <a:endParaRPr lang="ru-RU" sz="2000" b="1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/>
                        <a:t>2, 5,</a:t>
                      </a:r>
                      <a:r>
                        <a:rPr lang="ru-RU" sz="2000" b="1" baseline="0" dirty="0"/>
                        <a:t> 7, 8</a:t>
                      </a:r>
                      <a:endParaRPr lang="ru-RU" sz="2000" b="1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/>
                        <a:t>1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24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/>
                        <a:t>3,</a:t>
                      </a:r>
                      <a:r>
                        <a:rPr lang="ru-RU" sz="2000" b="1" baseline="0" dirty="0"/>
                        <a:t> 4, 9</a:t>
                      </a:r>
                      <a:endParaRPr lang="ru-RU" sz="2000" b="1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/>
                        <a:t>5,</a:t>
                      </a:r>
                      <a:r>
                        <a:rPr lang="ru-RU" sz="2000" b="1" baseline="0" dirty="0"/>
                        <a:t> 7, 8</a:t>
                      </a:r>
                      <a:endParaRPr lang="ru-RU" sz="2000" b="1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/>
                        <a:t>1,</a:t>
                      </a:r>
                      <a:r>
                        <a:rPr lang="ru-RU" sz="2000" b="1" baseline="0" dirty="0"/>
                        <a:t> 2</a:t>
                      </a:r>
                      <a:endParaRPr lang="ru-RU" sz="2000" b="1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24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baseline="0" dirty="0"/>
                        <a:t>4, 9</a:t>
                      </a:r>
                      <a:endParaRPr lang="ru-RU" sz="2000" b="1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/>
                        <a:t>5,</a:t>
                      </a:r>
                      <a:r>
                        <a:rPr lang="ru-RU" sz="2000" b="1" baseline="0" dirty="0"/>
                        <a:t> 7, 8</a:t>
                      </a:r>
                      <a:endParaRPr lang="ru-RU" sz="2000" b="1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/>
                        <a:t>1,</a:t>
                      </a:r>
                      <a:r>
                        <a:rPr lang="ru-RU" sz="2000" b="1" baseline="0" dirty="0"/>
                        <a:t> 2, 3</a:t>
                      </a:r>
                      <a:endParaRPr lang="ru-RU" sz="2000" b="1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24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/>
                        <a:t>9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/>
                        <a:t>5,</a:t>
                      </a:r>
                      <a:r>
                        <a:rPr lang="ru-RU" sz="2000" b="1" baseline="0" dirty="0"/>
                        <a:t> 7, 8</a:t>
                      </a:r>
                      <a:endParaRPr lang="ru-RU" sz="2000" b="1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/>
                        <a:t>1,</a:t>
                      </a:r>
                      <a:r>
                        <a:rPr lang="ru-RU" sz="2000" b="1" baseline="0" dirty="0"/>
                        <a:t> 2, 3, 4</a:t>
                      </a:r>
                      <a:endParaRPr lang="ru-RU" sz="2000" b="1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24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/>
                        <a:t>9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baseline="0" dirty="0"/>
                        <a:t>7, 8</a:t>
                      </a:r>
                      <a:endParaRPr lang="ru-RU" sz="2000" b="1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/>
                        <a:t>1,</a:t>
                      </a:r>
                      <a:r>
                        <a:rPr lang="ru-RU" sz="2000" b="1" baseline="0" dirty="0"/>
                        <a:t> 2, 3, 4, 5</a:t>
                      </a:r>
                      <a:endParaRPr lang="ru-RU" sz="2000" b="1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24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/>
                        <a:t>9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/>
                        <a:t>8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/>
                        <a:t>1,</a:t>
                      </a:r>
                      <a:r>
                        <a:rPr lang="ru-RU" sz="2000" b="1" baseline="0" dirty="0"/>
                        <a:t> 2, 3, 4, 5, 7</a:t>
                      </a:r>
                      <a:endParaRPr lang="ru-RU" sz="2000" b="1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24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/>
                        <a:t>9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/>
                        <a:t>пуст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/>
                        <a:t>1,</a:t>
                      </a:r>
                      <a:r>
                        <a:rPr lang="ru-RU" sz="2000" b="1" baseline="0" dirty="0"/>
                        <a:t> 2, 3, 4, 5, 7, 8</a:t>
                      </a:r>
                      <a:endParaRPr lang="ru-RU" sz="2000" b="1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24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/>
                        <a:t>пуст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/>
                        <a:t>пуст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/>
                        <a:t>1,</a:t>
                      </a:r>
                      <a:r>
                        <a:rPr lang="ru-RU" sz="2000" b="1" baseline="0" dirty="0"/>
                        <a:t> 2, 3, 4, 5, 7, 8, 9</a:t>
                      </a:r>
                      <a:endParaRPr lang="ru-RU" sz="2000" b="1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Содержимое 2"/>
          <p:cNvSpPr>
            <a:spLocks noGrp="1"/>
          </p:cNvSpPr>
          <p:nvPr>
            <p:ph idx="1"/>
          </p:nvPr>
        </p:nvSpPr>
        <p:spPr>
          <a:xfrm>
            <a:off x="139486" y="991892"/>
            <a:ext cx="8927024" cy="5765368"/>
          </a:xfrm>
        </p:spPr>
        <p:txBody>
          <a:bodyPr lIns="36000" tIns="36000" rIns="36000" bIns="36000">
            <a:normAutofit fontScale="85000" lnSpcReduction="10000"/>
          </a:bodyPr>
          <a:lstStyle/>
          <a:p>
            <a:pPr>
              <a:spcBef>
                <a:spcPts val="0"/>
              </a:spcBef>
              <a:buNone/>
              <a:defRPr/>
            </a:pPr>
            <a:r>
              <a:rPr lang="ru-RU" sz="2200" dirty="0"/>
              <a:t>Один из наиболее </a:t>
            </a:r>
            <a:r>
              <a:rPr lang="ru-RU" sz="2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популярных </a:t>
            </a:r>
            <a:r>
              <a:rPr lang="ru-RU" sz="2200" dirty="0"/>
              <a:t>алгоритмов, применяемых в БД</a:t>
            </a:r>
          </a:p>
          <a:p>
            <a:pPr>
              <a:lnSpc>
                <a:spcPct val="114000"/>
              </a:lnSpc>
              <a:spcBef>
                <a:spcPts val="0"/>
              </a:spcBef>
              <a:defRPr/>
            </a:pPr>
            <a:r>
              <a:rPr lang="ru-RU" sz="2200" u="sng" dirty="0"/>
              <a:t>Фаза 1</a:t>
            </a:r>
            <a:r>
              <a:rPr lang="ru-RU" sz="2200" dirty="0"/>
              <a:t>. </a:t>
            </a:r>
            <a:r>
              <a:rPr lang="ru-RU" sz="2400" dirty="0"/>
              <a:t>Выполнить сортировку произвольного количества списков объемом, равным доступной емкости ОП</a:t>
            </a:r>
          </a:p>
          <a:p>
            <a:pPr>
              <a:lnSpc>
                <a:spcPct val="114000"/>
              </a:lnSpc>
              <a:spcBef>
                <a:spcPts val="0"/>
              </a:spcBef>
              <a:defRPr/>
            </a:pPr>
            <a:r>
              <a:rPr lang="ru-RU" sz="2200" u="sng" dirty="0"/>
              <a:t>Фаза 2</a:t>
            </a:r>
            <a:r>
              <a:rPr lang="ru-RU" sz="2200" dirty="0"/>
              <a:t>. </a:t>
            </a:r>
            <a:r>
              <a:rPr lang="ru-RU" sz="2400" dirty="0"/>
              <a:t>Слияние списков, полученных на предыдущей фазе</a:t>
            </a:r>
          </a:p>
          <a:p>
            <a:pPr>
              <a:lnSpc>
                <a:spcPct val="114000"/>
              </a:lnSpc>
              <a:spcBef>
                <a:spcPts val="600"/>
              </a:spcBef>
              <a:buNone/>
              <a:defRPr/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Алгоритм фазы 1</a:t>
            </a:r>
          </a:p>
          <a:p>
            <a:pPr>
              <a:lnSpc>
                <a:spcPct val="114000"/>
              </a:lnSpc>
              <a:spcBef>
                <a:spcPts val="0"/>
              </a:spcBef>
              <a:defRPr/>
            </a:pPr>
            <a:r>
              <a:rPr lang="ru-RU" sz="2400" dirty="0"/>
              <a:t>Заполнить свободную  ОП блоками отношения подлежащего сортировке</a:t>
            </a:r>
          </a:p>
          <a:p>
            <a:pPr>
              <a:lnSpc>
                <a:spcPct val="114000"/>
              </a:lnSpc>
              <a:spcBef>
                <a:spcPts val="0"/>
              </a:spcBef>
              <a:defRPr/>
            </a:pPr>
            <a:r>
              <a:rPr lang="ru-RU" sz="2400" dirty="0"/>
              <a:t>Отсортировать записи в ОП</a:t>
            </a:r>
          </a:p>
          <a:p>
            <a:pPr>
              <a:lnSpc>
                <a:spcPct val="114000"/>
              </a:lnSpc>
              <a:spcBef>
                <a:spcPts val="0"/>
              </a:spcBef>
              <a:defRPr/>
            </a:pPr>
            <a:r>
              <a:rPr lang="ru-RU" sz="2400" dirty="0"/>
              <a:t>Сохранить отсортированный ПОДСПИСОК в новом участке диска</a:t>
            </a:r>
          </a:p>
          <a:p>
            <a:pPr marL="0" algn="just">
              <a:spcBef>
                <a:spcPts val="0"/>
              </a:spcBef>
              <a:buNone/>
              <a:defRPr/>
            </a:pPr>
            <a:r>
              <a:rPr lang="ru-RU" sz="2400" dirty="0"/>
              <a:t>После завершения фазы 1 все записи отношения будут однократно считаны в ОП и в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отсортированных</a:t>
            </a:r>
            <a:r>
              <a:rPr lang="ru-RU" sz="2400" dirty="0"/>
              <a:t> подсписках сохранены на диске</a:t>
            </a:r>
          </a:p>
          <a:p>
            <a:pPr marL="0" algn="just">
              <a:spcBef>
                <a:spcPts val="0"/>
              </a:spcBef>
              <a:buNone/>
              <a:defRPr/>
            </a:pPr>
            <a:endParaRPr lang="ru-RU" sz="2400" dirty="0">
              <a:solidFill>
                <a:schemeClr val="accent1">
                  <a:lumMod val="50000"/>
                </a:schemeClr>
              </a:solidFill>
            </a:endParaRPr>
          </a:p>
          <a:p>
            <a:pPr marL="0" algn="just">
              <a:spcBef>
                <a:spcPts val="0"/>
              </a:spcBef>
              <a:buNone/>
              <a:defRPr/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Алгоритмы фазы 2 </a:t>
            </a:r>
          </a:p>
          <a:p>
            <a:pPr marL="0" algn="just">
              <a:spcBef>
                <a:spcPts val="0"/>
              </a:spcBef>
              <a:buNone/>
              <a:defRPr/>
            </a:pPr>
            <a:r>
              <a:rPr lang="ru-RU" sz="2400" u="sng" dirty="0"/>
              <a:t>Вариант 1</a:t>
            </a:r>
            <a:r>
              <a:rPr lang="ru-RU" sz="2400" dirty="0"/>
              <a:t>. </a:t>
            </a:r>
            <a:r>
              <a:rPr lang="ru-RU" sz="2400" b="1" dirty="0"/>
              <a:t>Последовательное слияние </a:t>
            </a:r>
            <a:r>
              <a:rPr lang="ru-RU" sz="2400" dirty="0"/>
              <a:t>каждой пары подсписков  (классическая стратегия).</a:t>
            </a:r>
          </a:p>
          <a:p>
            <a:pPr lvl="0">
              <a:lnSpc>
                <a:spcPct val="110000"/>
              </a:lnSpc>
              <a:buNone/>
              <a:defRPr/>
            </a:pPr>
            <a:r>
              <a:rPr lang="ru-RU" sz="2400" u="sng" dirty="0"/>
              <a:t>Вариант 2</a:t>
            </a:r>
            <a:r>
              <a:rPr lang="ru-RU" sz="2400" dirty="0"/>
              <a:t>.  </a:t>
            </a:r>
            <a:r>
              <a:rPr lang="ru-RU" sz="2400" b="1" dirty="0"/>
              <a:t>Параллельная поблочная </a:t>
            </a:r>
            <a:r>
              <a:rPr lang="ru-RU" sz="2400" dirty="0"/>
              <a:t>обработка всех отсортированных подсписков в ОП</a:t>
            </a:r>
          </a:p>
        </p:txBody>
      </p:sp>
      <p:sp>
        <p:nvSpPr>
          <p:cNvPr id="922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7682170-C053-4CAE-8747-7DB4F0CA5209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263078" y="102611"/>
            <a:ext cx="8785225" cy="668337"/>
          </a:xfrm>
        </p:spPr>
        <p:txBody>
          <a:bodyPr>
            <a:noAutofit/>
          </a:bodyPr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Сортировка 2-х фазным </a:t>
            </a:r>
            <a:br>
              <a:rPr lang="ru-RU" sz="2800" dirty="0">
                <a:solidFill>
                  <a:schemeClr val="bg2"/>
                </a:solidFill>
              </a:rPr>
            </a:br>
            <a:r>
              <a:rPr lang="ru-RU" sz="2800" dirty="0">
                <a:solidFill>
                  <a:schemeClr val="bg2"/>
                </a:solidFill>
              </a:rPr>
              <a:t>многокомпонентным слиянием</a:t>
            </a:r>
            <a:endParaRPr lang="ru-RU" sz="2800" i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1" y="203200"/>
            <a:ext cx="9144000" cy="668337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Сортировка данных во вторичной памяти</a:t>
            </a:r>
            <a:endParaRPr lang="ru-RU" sz="3600" i="1" dirty="0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214313" y="999067"/>
            <a:ext cx="8929687" cy="5376333"/>
          </a:xfrm>
        </p:spPr>
        <p:txBody>
          <a:bodyPr>
            <a:normAutofit/>
          </a:bodyPr>
          <a:lstStyle/>
          <a:p>
            <a:pPr>
              <a:buNone/>
              <a:defRPr/>
            </a:pPr>
            <a:r>
              <a:rPr lang="ru-RU" sz="2600" u="sng" dirty="0"/>
              <a:t>Пример </a:t>
            </a:r>
          </a:p>
          <a:p>
            <a:pPr>
              <a:defRPr/>
            </a:pPr>
            <a:r>
              <a:rPr lang="ru-RU" sz="2600" dirty="0"/>
              <a:t>Пусть отношение </a:t>
            </a:r>
            <a:r>
              <a:rPr lang="en-US" sz="2600" dirty="0"/>
              <a:t>R </a:t>
            </a:r>
            <a:r>
              <a:rPr lang="ru-RU" sz="2600" dirty="0"/>
              <a:t>содержит </a:t>
            </a:r>
            <a:r>
              <a:rPr lang="ru-RU" sz="2600" b="1" dirty="0"/>
              <a:t>10 000 000 </a:t>
            </a:r>
            <a:r>
              <a:rPr lang="ru-RU" sz="2600" dirty="0"/>
              <a:t>кортежей</a:t>
            </a:r>
          </a:p>
          <a:p>
            <a:pPr>
              <a:defRPr/>
            </a:pPr>
            <a:r>
              <a:rPr lang="ru-RU" sz="2600" dirty="0"/>
              <a:t>Каждый кортеж – запись с несколькими полями (одно из них – ключ ).</a:t>
            </a:r>
          </a:p>
          <a:p>
            <a:pPr>
              <a:defRPr/>
            </a:pPr>
            <a:r>
              <a:rPr lang="ru-RU" sz="2600" dirty="0"/>
              <a:t>Цель – </a:t>
            </a:r>
            <a:r>
              <a:rPr lang="ru-RU" sz="2600" b="1" dirty="0">
                <a:solidFill>
                  <a:schemeClr val="bg2"/>
                </a:solidFill>
              </a:rPr>
              <a:t>алгоритм</a:t>
            </a:r>
            <a:r>
              <a:rPr lang="ru-RU" sz="2600" dirty="0"/>
              <a:t> </a:t>
            </a:r>
            <a:r>
              <a:rPr lang="ru-RU" sz="2600" b="1" dirty="0"/>
              <a:t>сортировки </a:t>
            </a:r>
            <a:r>
              <a:rPr lang="en-US" sz="2600" b="1" dirty="0"/>
              <a:t>R</a:t>
            </a:r>
            <a:r>
              <a:rPr lang="en-US" sz="2600" dirty="0"/>
              <a:t> </a:t>
            </a:r>
            <a:r>
              <a:rPr lang="ru-RU" sz="2600" dirty="0"/>
              <a:t>на </a:t>
            </a:r>
            <a:r>
              <a:rPr lang="ru-RU" sz="2600" b="1" dirty="0"/>
              <a:t>ДИСКЕ </a:t>
            </a:r>
            <a:endParaRPr lang="en-US" sz="2600" b="1" dirty="0"/>
          </a:p>
          <a:p>
            <a:pPr>
              <a:defRPr/>
            </a:pPr>
            <a:r>
              <a:rPr lang="ru-RU" sz="2600" dirty="0"/>
              <a:t>Множество записей содержится в </a:t>
            </a:r>
            <a:r>
              <a:rPr lang="ru-RU" sz="2600" b="1" dirty="0"/>
              <a:t>дисковых блоках </a:t>
            </a:r>
            <a:r>
              <a:rPr lang="ru-RU" sz="2600" dirty="0"/>
              <a:t>по 16384 (</a:t>
            </a:r>
            <a:r>
              <a:rPr lang="ru-RU" sz="26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</a:t>
            </a:r>
            <a:r>
              <a:rPr lang="ru-RU" sz="2600" b="1" baseline="30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14</a:t>
            </a:r>
            <a:r>
              <a:rPr lang="ru-RU" sz="2600" dirty="0"/>
              <a:t>) байта </a:t>
            </a:r>
          </a:p>
          <a:p>
            <a:pPr>
              <a:defRPr/>
            </a:pPr>
            <a:r>
              <a:rPr lang="ru-RU" sz="2600" dirty="0"/>
              <a:t>Пусть в </a:t>
            </a:r>
            <a:r>
              <a:rPr lang="ru-RU" sz="2600" b="1" dirty="0"/>
              <a:t>один блок </a:t>
            </a:r>
            <a:r>
              <a:rPr lang="ru-RU" sz="2600" dirty="0"/>
              <a:t>помещается </a:t>
            </a:r>
            <a:r>
              <a:rPr lang="ru-RU" sz="2600" b="1" dirty="0"/>
              <a:t>100 записей </a:t>
            </a:r>
            <a:r>
              <a:rPr lang="ru-RU" sz="2600" dirty="0"/>
              <a:t>(каждая около 160 байт)</a:t>
            </a:r>
          </a:p>
          <a:p>
            <a:pPr>
              <a:defRPr/>
            </a:pPr>
            <a:r>
              <a:rPr lang="ru-RU" sz="2600" dirty="0"/>
              <a:t>Таким образом </a:t>
            </a:r>
            <a:r>
              <a:rPr lang="en-US" sz="2600" dirty="0"/>
              <a:t>R </a:t>
            </a:r>
            <a:r>
              <a:rPr lang="ru-RU" sz="2600" dirty="0"/>
              <a:t>должно занимать </a:t>
            </a:r>
            <a:r>
              <a:rPr lang="ru-RU" sz="2600" b="1" dirty="0"/>
              <a:t>100 000 </a:t>
            </a:r>
            <a:r>
              <a:rPr lang="ru-RU" sz="2600" dirty="0"/>
              <a:t>блоков общей емкостью 1,64 Гбайт</a:t>
            </a:r>
            <a:r>
              <a:rPr lang="en-US" sz="2600" dirty="0"/>
              <a:t/>
            </a:r>
            <a:br>
              <a:rPr lang="en-US" sz="2600" dirty="0"/>
            </a:br>
            <a:endParaRPr lang="en-US" sz="2800" dirty="0"/>
          </a:p>
          <a:p>
            <a:pPr>
              <a:buFont typeface="Wingdings" pitchFamily="2" charset="2"/>
              <a:buNone/>
              <a:defRPr/>
            </a:pPr>
            <a:endParaRPr lang="ru-RU" sz="2800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Заголовок 1"/>
          <p:cNvSpPr>
            <a:spLocks noGrp="1"/>
          </p:cNvSpPr>
          <p:nvPr>
            <p:ph type="title"/>
          </p:nvPr>
        </p:nvSpPr>
        <p:spPr>
          <a:xfrm>
            <a:off x="0" y="361950"/>
            <a:ext cx="8697913" cy="933450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Пример (фаза 1)</a:t>
            </a:r>
            <a:br>
              <a:rPr lang="ru-RU" sz="3600" dirty="0">
                <a:solidFill>
                  <a:schemeClr val="bg2"/>
                </a:solidFill>
              </a:rPr>
            </a:br>
            <a:r>
              <a:rPr lang="ru-RU" sz="2000" dirty="0"/>
              <a:t>Выполнить </a:t>
            </a:r>
            <a:r>
              <a:rPr lang="ru-RU" sz="2000" b="1" dirty="0"/>
              <a:t>сортировку произвольного количества списков </a:t>
            </a:r>
            <a:r>
              <a:rPr lang="ru-RU" sz="2000" dirty="0"/>
              <a:t>объемом, равным </a:t>
            </a:r>
            <a:r>
              <a:rPr lang="ru-RU" sz="2000" b="1" dirty="0"/>
              <a:t>доступной емкости ОП</a:t>
            </a:r>
            <a:r>
              <a:rPr lang="ru-RU" sz="3600" b="1" dirty="0"/>
              <a:t/>
            </a:r>
            <a:br>
              <a:rPr lang="ru-RU" sz="3600" b="1" dirty="0"/>
            </a:br>
            <a:endParaRPr lang="ru-RU" sz="3600" b="1" dirty="0"/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3F1C8BE-85E6-4FFB-BF2D-31D6ED28687A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15" name="Содержимое 2"/>
          <p:cNvSpPr>
            <a:spLocks noGrp="1"/>
          </p:cNvSpPr>
          <p:nvPr>
            <p:ph idx="1"/>
          </p:nvPr>
        </p:nvSpPr>
        <p:spPr>
          <a:xfrm>
            <a:off x="0" y="1120683"/>
            <a:ext cx="9144000" cy="5802630"/>
          </a:xfrm>
        </p:spPr>
        <p:txBody>
          <a:bodyPr lIns="36000" tIns="36000" rIns="36000" bIns="36000">
            <a:normAutofit fontScale="70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dirty="0"/>
              <a:t>Пусть компьютер, на  котором выполняется сортировка, имеет диск  и </a:t>
            </a:r>
            <a:r>
              <a:rPr lang="ru-RU" b="1" dirty="0">
                <a:solidFill>
                  <a:srgbClr val="FF0000"/>
                </a:solidFill>
              </a:rPr>
              <a:t>ОП - 100 Мб для размещения </a:t>
            </a:r>
            <a:r>
              <a:rPr lang="en-US" b="1" dirty="0">
                <a:solidFill>
                  <a:srgbClr val="FF0000"/>
                </a:solidFill>
              </a:rPr>
              <a:t>R</a:t>
            </a:r>
            <a:r>
              <a:rPr lang="en-US" dirty="0"/>
              <a:t>.</a:t>
            </a:r>
            <a:endParaRPr lang="ru-RU" dirty="0"/>
          </a:p>
          <a:p>
            <a:pPr>
              <a:lnSpc>
                <a:spcPct val="120000"/>
              </a:lnSpc>
              <a:defRPr/>
            </a:pPr>
            <a:r>
              <a:rPr lang="ru-RU" dirty="0"/>
              <a:t>Количество блоков (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</a:t>
            </a:r>
            <a:r>
              <a:rPr lang="ru-RU" baseline="30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14</a:t>
            </a:r>
            <a:r>
              <a:rPr lang="ru-RU" dirty="0"/>
              <a:t>), которые можно разместить в 100 Мб ОП (</a:t>
            </a:r>
            <a:r>
              <a:rPr lang="ru-RU" dirty="0">
                <a:solidFill>
                  <a:srgbClr val="FF0000"/>
                </a:solidFill>
              </a:rPr>
              <a:t>100 * 2</a:t>
            </a:r>
            <a:r>
              <a:rPr lang="ru-RU" baseline="30000" dirty="0">
                <a:solidFill>
                  <a:srgbClr val="FF0000"/>
                </a:solidFill>
              </a:rPr>
              <a:t>20</a:t>
            </a:r>
            <a:r>
              <a:rPr lang="ru-RU" dirty="0">
                <a:solidFill>
                  <a:srgbClr val="FF0000"/>
                </a:solidFill>
              </a:rPr>
              <a:t> байт </a:t>
            </a:r>
            <a:r>
              <a:rPr lang="ru-RU" dirty="0"/>
              <a:t>), равно </a:t>
            </a:r>
            <a:r>
              <a:rPr lang="ru-RU" dirty="0">
                <a:solidFill>
                  <a:srgbClr val="FF0000"/>
                </a:solidFill>
              </a:rPr>
              <a:t>100*2</a:t>
            </a:r>
            <a:r>
              <a:rPr lang="ru-RU" baseline="30000" dirty="0">
                <a:solidFill>
                  <a:srgbClr val="FF0000"/>
                </a:solidFill>
              </a:rPr>
              <a:t>20</a:t>
            </a:r>
            <a:r>
              <a:rPr lang="ru-RU" dirty="0"/>
              <a:t>/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</a:t>
            </a:r>
            <a:r>
              <a:rPr lang="ru-RU" baseline="30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14</a:t>
            </a:r>
            <a:r>
              <a:rPr lang="ru-RU" dirty="0"/>
              <a:t>=100*2</a:t>
            </a:r>
            <a:r>
              <a:rPr lang="ru-RU" baseline="30000" dirty="0"/>
              <a:t>6</a:t>
            </a:r>
            <a:r>
              <a:rPr lang="ru-RU" dirty="0"/>
              <a:t>, или </a:t>
            </a:r>
            <a:r>
              <a:rPr lang="ru-RU" dirty="0">
                <a:solidFill>
                  <a:srgbClr val="00B050"/>
                </a:solidFill>
              </a:rPr>
              <a:t>6400</a:t>
            </a:r>
            <a:r>
              <a:rPr lang="ru-RU" dirty="0"/>
              <a:t> блоков 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Для фазы 1 придется  (100000/6400) 16 раз заполнять ОП блоками, сортировать их и сохранять на диск.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Последний подсписок содержит 4000 блоков.</a:t>
            </a:r>
            <a:br>
              <a:rPr lang="ru-RU" dirty="0"/>
            </a:br>
            <a:r>
              <a:rPr lang="ru-RU" dirty="0"/>
              <a:t>Так как15х6400=96000</a:t>
            </a:r>
          </a:p>
          <a:p>
            <a:pPr>
              <a:lnSpc>
                <a:spcPct val="120000"/>
              </a:lnSpc>
              <a:spcBef>
                <a:spcPts val="1200"/>
              </a:spcBef>
              <a:buNone/>
              <a:defRPr/>
            </a:pP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              Время выполнения фазы 1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Считывание</a:t>
            </a:r>
            <a:r>
              <a:rPr lang="en-US" dirty="0"/>
              <a:t> </a:t>
            </a:r>
            <a:r>
              <a:rPr lang="ru-RU" dirty="0"/>
              <a:t> </a:t>
            </a:r>
            <a:r>
              <a:rPr lang="ru-RU"/>
              <a:t>и запись </a:t>
            </a:r>
            <a:r>
              <a:rPr lang="ru-RU" dirty="0"/>
              <a:t>1 блока – 11 </a:t>
            </a:r>
            <a:r>
              <a:rPr lang="ru-RU" dirty="0" err="1"/>
              <a:t>млсек</a:t>
            </a:r>
            <a:endParaRPr lang="ru-RU" dirty="0"/>
          </a:p>
          <a:p>
            <a:pPr>
              <a:lnSpc>
                <a:spcPct val="120000"/>
              </a:lnSpc>
              <a:defRPr/>
            </a:pPr>
            <a:r>
              <a:rPr lang="ru-RU" dirty="0"/>
              <a:t>Чтобы считать и записать 100 000 блоков  с внешней памяти нужно 200 000 операций ввода-вывода: 2200 сек или около </a:t>
            </a:r>
            <a:r>
              <a:rPr lang="ru-RU" b="1" dirty="0"/>
              <a:t>37 мин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Временем сортировки в ОП можно пренебречь</a:t>
            </a:r>
            <a:endParaRPr lang="ru-RU" b="1" dirty="0"/>
          </a:p>
          <a:p>
            <a:pPr>
              <a:lnSpc>
                <a:spcPct val="120000"/>
              </a:lnSpc>
              <a:defRPr/>
            </a:pPr>
            <a:r>
              <a:rPr lang="ru-RU" dirty="0"/>
              <a:t>Таким образом время первой фазы – </a:t>
            </a:r>
            <a:r>
              <a:rPr lang="ru-RU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37 мин</a:t>
            </a:r>
            <a:endParaRPr lang="ru-RU" dirty="0"/>
          </a:p>
          <a:p>
            <a:pPr>
              <a:lnSpc>
                <a:spcPct val="120000"/>
              </a:lnSpc>
              <a:defRPr/>
            </a:pPr>
            <a:endParaRPr lang="ru-RU" dirty="0"/>
          </a:p>
          <a:p>
            <a:pPr>
              <a:lnSpc>
                <a:spcPct val="120000"/>
              </a:lnSpc>
              <a:defRPr/>
            </a:pPr>
            <a:endParaRPr lang="ru-RU" dirty="0"/>
          </a:p>
          <a:p>
            <a:pPr>
              <a:lnSpc>
                <a:spcPct val="120000"/>
              </a:lnSpc>
              <a:defRPr/>
            </a:pPr>
            <a:endParaRPr lang="ru-RU" dirty="0"/>
          </a:p>
          <a:p>
            <a:pPr>
              <a:lnSpc>
                <a:spcPct val="120000"/>
              </a:lnSpc>
              <a:defRPr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83403"/>
            <a:ext cx="9143999" cy="5974597"/>
          </a:xfrm>
        </p:spPr>
        <p:txBody>
          <a:bodyPr>
            <a:normAutofit fontScale="925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2800" u="sng" dirty="0"/>
              <a:t>Вариант 1</a:t>
            </a:r>
            <a:r>
              <a:rPr lang="ru-RU" sz="2800" dirty="0"/>
              <a:t>. Последовательное слияние </a:t>
            </a:r>
            <a:r>
              <a:rPr lang="ru-RU" sz="2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каждой пары</a:t>
            </a:r>
            <a:r>
              <a:rPr lang="ru-RU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подсписков</a:t>
            </a:r>
            <a:r>
              <a:rPr lang="ru-RU" sz="2800" dirty="0"/>
              <a:t>  (классическая стратегия).</a:t>
            </a:r>
          </a:p>
          <a:p>
            <a:pPr>
              <a:lnSpc>
                <a:spcPct val="110000"/>
              </a:lnSpc>
            </a:pPr>
            <a:r>
              <a:rPr lang="ru-RU" sz="3000" dirty="0"/>
              <a:t>Для слияния 16 подсписков нужно сделать 4 итерации для получения последовательно 8, 4, 2 отсортированных подсписков и окончательный список. 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ru-RU" sz="3000" dirty="0"/>
              <a:t>В этом случае </a:t>
            </a:r>
            <a:r>
              <a:rPr lang="ru-RU" sz="3000" b="1" dirty="0"/>
              <a:t>на каждый блок </a:t>
            </a:r>
            <a:r>
              <a:rPr lang="ru-RU" sz="3000" dirty="0"/>
              <a:t>будет сделано </a:t>
            </a:r>
            <a:br>
              <a:rPr lang="ru-RU" sz="3000" dirty="0"/>
            </a:br>
            <a:r>
              <a:rPr lang="ru-RU" sz="3000" dirty="0"/>
              <a:t>2 </a:t>
            </a:r>
            <a:r>
              <a:rPr lang="en-US" sz="3000" dirty="0"/>
              <a:t>log</a:t>
            </a:r>
            <a:r>
              <a:rPr lang="en-US" sz="3000" baseline="-25000" dirty="0"/>
              <a:t>2</a:t>
            </a:r>
            <a:r>
              <a:rPr lang="en-US" sz="3000" dirty="0"/>
              <a:t>n</a:t>
            </a:r>
            <a:r>
              <a:rPr lang="ru-RU" sz="3000" dirty="0"/>
              <a:t> </a:t>
            </a:r>
            <a:r>
              <a:rPr lang="ru-RU" sz="3000" b="1" dirty="0"/>
              <a:t>операций </a:t>
            </a:r>
            <a:r>
              <a:rPr lang="ru-RU" sz="3000" dirty="0"/>
              <a:t>ввода-вывода (где </a:t>
            </a:r>
            <a:r>
              <a:rPr lang="en-US" sz="3000" dirty="0"/>
              <a:t>n – </a:t>
            </a:r>
            <a:r>
              <a:rPr lang="ru-RU" sz="3000" dirty="0"/>
              <a:t>число подсписков, полученных на первой фазе).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ru-RU" sz="3000" dirty="0"/>
              <a:t>В нашем примере это 2 </a:t>
            </a:r>
            <a:r>
              <a:rPr lang="en-US" sz="3000" dirty="0"/>
              <a:t>log</a:t>
            </a:r>
            <a:r>
              <a:rPr lang="en-US" sz="3000" baseline="-25000" dirty="0"/>
              <a:t>2</a:t>
            </a:r>
            <a:r>
              <a:rPr lang="en-US" sz="3000" dirty="0"/>
              <a:t>16 = 8</a:t>
            </a:r>
            <a:endParaRPr lang="ru-RU" sz="3000" dirty="0"/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ru-RU" sz="3000" dirty="0"/>
              <a:t>Время при этом 100 000 *8*0,011с =8800с </a:t>
            </a:r>
            <a:r>
              <a:rPr lang="ru-RU" sz="3000" dirty="0">
                <a:cs typeface="Microsoft Sans Serif"/>
              </a:rPr>
              <a:t>≈</a:t>
            </a:r>
            <a:r>
              <a:rPr lang="ru-RU" sz="3000" dirty="0">
                <a:solidFill>
                  <a:schemeClr val="bg2">
                    <a:lumMod val="60000"/>
                    <a:lumOff val="40000"/>
                  </a:schemeClr>
                </a:solidFill>
                <a:cs typeface="Microsoft Sans Serif"/>
              </a:rPr>
              <a:t>147мин</a:t>
            </a:r>
            <a:r>
              <a:rPr lang="ru-RU" sz="3000" dirty="0">
                <a:cs typeface="Microsoft Sans Serif"/>
              </a:rPr>
              <a:t>.</a:t>
            </a:r>
            <a:endParaRPr lang="ru-RU" sz="30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>
          <a:xfrm>
            <a:off x="8733295" y="6457627"/>
            <a:ext cx="410705" cy="400373"/>
          </a:xfrm>
        </p:spPr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8</a:t>
            </a:fld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57200" y="274776"/>
            <a:ext cx="8229600" cy="668338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Пример (фаза 2)</a:t>
            </a:r>
            <a:endParaRPr lang="ru-RU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68313" y="228282"/>
            <a:ext cx="8229600" cy="668338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Пример (фаза 2)</a:t>
            </a:r>
            <a:endParaRPr lang="ru-RU" sz="3600" dirty="0"/>
          </a:p>
        </p:txBody>
      </p:sp>
      <p:sp>
        <p:nvSpPr>
          <p:cNvPr id="7" name="Содержимое 2"/>
          <p:cNvSpPr txBox="1">
            <a:spLocks/>
          </p:cNvSpPr>
          <p:nvPr/>
        </p:nvSpPr>
        <p:spPr bwMode="auto">
          <a:xfrm>
            <a:off x="0" y="821410"/>
            <a:ext cx="9144000" cy="6036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ru-RU" sz="32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Вариант 2</a:t>
            </a: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 </a:t>
            </a:r>
          </a:p>
          <a:p>
            <a:pPr marL="342900" marR="0" lvl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Параллельная поблочная обработка всех отсортированных подсписков в ОП</a:t>
            </a: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tabLst/>
              <a:defRPr/>
            </a:pP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Для каждого подсписка отводится входной буфер в ОП и один выходной буфер под результирующий файл.</a:t>
            </a: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tabLst/>
              <a:defRPr/>
            </a:pP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Если исходное отношение так объемно, что после</a:t>
            </a:r>
            <a:r>
              <a:rPr kumimoji="0" lang="ru-RU" sz="3200" b="0" i="0" u="none" strike="noStrike" kern="0" cap="none" spc="0" normalizeH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первой фазы число подсписков – </a:t>
            </a: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велико, то может случится, что </a:t>
            </a:r>
            <a:r>
              <a:rPr kumimoji="0" lang="ru-RU" sz="3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 ОП не возможно одновременно </a:t>
            </a: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поместить </a:t>
            </a:r>
            <a:r>
              <a:rPr lang="ru-RU" sz="3200" kern="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+mn-cs"/>
              </a:rPr>
              <a:t>даже по одному блоку каждого подсписка</a:t>
            </a:r>
            <a:r>
              <a:rPr lang="ru-RU" sz="3200" kern="0" dirty="0">
                <a:latin typeface="+mn-lt"/>
                <a:cs typeface="+mn-cs"/>
              </a:rPr>
              <a:t>.</a:t>
            </a: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10</a:t>
            </a:fld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536713" y="632129"/>
            <a:ext cx="8070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Входные буферы, </a:t>
            </a:r>
            <a:br>
              <a:rPr lang="ru-RU" sz="2000" dirty="0"/>
            </a:br>
            <a:r>
              <a:rPr lang="ru-RU" sz="2000" dirty="0"/>
              <a:t>по одному на каждый отсортированный подсписок</a:t>
            </a:r>
          </a:p>
        </p:txBody>
      </p:sp>
      <p:grpSp>
        <p:nvGrpSpPr>
          <p:cNvPr id="21" name="Группа 20"/>
          <p:cNvGrpSpPr/>
          <p:nvPr/>
        </p:nvGrpSpPr>
        <p:grpSpPr>
          <a:xfrm>
            <a:off x="2093466" y="1415737"/>
            <a:ext cx="1027421" cy="1550505"/>
            <a:chOff x="1377848" y="1391478"/>
            <a:chExt cx="1027421" cy="1550505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1808921" y="1391478"/>
              <a:ext cx="596348" cy="15505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2" name="Прямая со стрелкой 11"/>
            <p:cNvCxnSpPr/>
            <p:nvPr/>
          </p:nvCxnSpPr>
          <p:spPr>
            <a:xfrm>
              <a:off x="1377848" y="1850950"/>
              <a:ext cx="437322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Группа 21"/>
          <p:cNvGrpSpPr/>
          <p:nvPr/>
        </p:nvGrpSpPr>
        <p:grpSpPr>
          <a:xfrm>
            <a:off x="3180521" y="1404730"/>
            <a:ext cx="1033670" cy="1550505"/>
            <a:chOff x="2835964" y="1364974"/>
            <a:chExt cx="1033670" cy="1550505"/>
          </a:xfrm>
        </p:grpSpPr>
        <p:sp>
          <p:nvSpPr>
            <p:cNvPr id="9" name="Прямоугольник 8"/>
            <p:cNvSpPr/>
            <p:nvPr/>
          </p:nvSpPr>
          <p:spPr>
            <a:xfrm>
              <a:off x="3273286" y="1364974"/>
              <a:ext cx="596348" cy="15505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3" name="Прямая со стрелкой 12"/>
            <p:cNvCxnSpPr/>
            <p:nvPr/>
          </p:nvCxnSpPr>
          <p:spPr>
            <a:xfrm>
              <a:off x="2835964" y="1543878"/>
              <a:ext cx="437322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Группа 22"/>
          <p:cNvGrpSpPr/>
          <p:nvPr/>
        </p:nvGrpSpPr>
        <p:grpSpPr>
          <a:xfrm>
            <a:off x="6500381" y="1380473"/>
            <a:ext cx="1073236" cy="1497496"/>
            <a:chOff x="5844398" y="1384853"/>
            <a:chExt cx="1073236" cy="1497496"/>
          </a:xfrm>
        </p:grpSpPr>
        <p:sp>
          <p:nvSpPr>
            <p:cNvPr id="10" name="Прямоугольник 9"/>
            <p:cNvSpPr/>
            <p:nvPr/>
          </p:nvSpPr>
          <p:spPr>
            <a:xfrm>
              <a:off x="6314659" y="1384853"/>
              <a:ext cx="602975" cy="14974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4" name="Прямая со стрелкой 13"/>
            <p:cNvCxnSpPr/>
            <p:nvPr/>
          </p:nvCxnSpPr>
          <p:spPr>
            <a:xfrm>
              <a:off x="5844398" y="2366838"/>
              <a:ext cx="437322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Группа 24"/>
          <p:cNvGrpSpPr/>
          <p:nvPr/>
        </p:nvGrpSpPr>
        <p:grpSpPr>
          <a:xfrm>
            <a:off x="4572000" y="4770783"/>
            <a:ext cx="1060174" cy="1537254"/>
            <a:chOff x="3810000" y="4810539"/>
            <a:chExt cx="1060174" cy="1537254"/>
          </a:xfrm>
        </p:grpSpPr>
        <p:sp>
          <p:nvSpPr>
            <p:cNvPr id="8" name="Прямоугольник 7"/>
            <p:cNvSpPr/>
            <p:nvPr/>
          </p:nvSpPr>
          <p:spPr>
            <a:xfrm>
              <a:off x="4273826" y="4810539"/>
              <a:ext cx="596348" cy="15372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5" name="Прямая со стрелкой 14"/>
            <p:cNvCxnSpPr/>
            <p:nvPr/>
          </p:nvCxnSpPr>
          <p:spPr>
            <a:xfrm>
              <a:off x="3810000" y="5459896"/>
              <a:ext cx="437322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436915" y="5377353"/>
            <a:ext cx="265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Выходной буфер</a:t>
            </a:r>
          </a:p>
        </p:txBody>
      </p:sp>
      <p:sp>
        <p:nvSpPr>
          <p:cNvPr id="18" name="Трапеция 17"/>
          <p:cNvSpPr/>
          <p:nvPr/>
        </p:nvSpPr>
        <p:spPr>
          <a:xfrm>
            <a:off x="3200399" y="3429000"/>
            <a:ext cx="2842591" cy="1043609"/>
          </a:xfrm>
          <a:prstGeom prst="trapezoid">
            <a:avLst/>
          </a:prstGeom>
          <a:scene3d>
            <a:camera prst="orthographicFront">
              <a:rot lat="54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4" name="Группа 23"/>
          <p:cNvGrpSpPr/>
          <p:nvPr/>
        </p:nvGrpSpPr>
        <p:grpSpPr>
          <a:xfrm>
            <a:off x="3896138" y="3180523"/>
            <a:ext cx="2981739" cy="1282148"/>
            <a:chOff x="3538330" y="3160644"/>
            <a:chExt cx="2981739" cy="1282148"/>
          </a:xfrm>
        </p:grpSpPr>
        <p:sp>
          <p:nvSpPr>
            <p:cNvPr id="17" name="TextBox 16"/>
            <p:cNvSpPr txBox="1"/>
            <p:nvPr/>
          </p:nvSpPr>
          <p:spPr>
            <a:xfrm>
              <a:off x="3717236" y="3429000"/>
              <a:ext cx="2504660" cy="964096"/>
            </a:xfrm>
            <a:prstGeom prst="rect">
              <a:avLst/>
            </a:prstGeom>
            <a:noFill/>
          </p:spPr>
          <p:txBody>
            <a:bodyPr wrap="square" rtlCol="0">
              <a:normAutofit fontScale="92500" lnSpcReduction="20000"/>
            </a:bodyPr>
            <a:lstStyle/>
            <a:p>
              <a:pPr algn="ctr"/>
              <a:r>
                <a:rPr lang="ru-RU" dirty="0"/>
                <a:t>Выбор минимального ключа</a:t>
              </a:r>
            </a:p>
          </p:txBody>
        </p:sp>
        <p:sp>
          <p:nvSpPr>
            <p:cNvPr id="19" name="Трапеция 18"/>
            <p:cNvSpPr/>
            <p:nvPr/>
          </p:nvSpPr>
          <p:spPr>
            <a:xfrm>
              <a:off x="3538330" y="3160644"/>
              <a:ext cx="2981739" cy="1282148"/>
            </a:xfrm>
            <a:prstGeom prst="trapezoi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37930" y="1689652"/>
            <a:ext cx="15703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Указатели на первые не выбранные записи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734" y="74424"/>
            <a:ext cx="8112034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Схема вычислений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2-ой фазы сортировки МС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11</a:t>
            </a:fld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496388" y="0"/>
            <a:ext cx="8229600" cy="668338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Пример (фаза 2)</a:t>
            </a:r>
            <a:endParaRPr kumimoji="0" lang="ru-RU" sz="3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Содержимое 2"/>
          <p:cNvSpPr txBox="1">
            <a:spLocks/>
          </p:cNvSpPr>
          <p:nvPr/>
        </p:nvSpPr>
        <p:spPr bwMode="auto">
          <a:xfrm>
            <a:off x="156756" y="679270"/>
            <a:ext cx="8885583" cy="599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625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ru-RU" sz="32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Вариант 2</a:t>
            </a: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Этапы</a:t>
            </a:r>
            <a:r>
              <a:rPr kumimoji="0" lang="ru-RU" sz="32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алгоритма</a:t>
            </a: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lvl="0" indent="-514350" eaLnBrk="0" hangingPunct="0">
              <a:lnSpc>
                <a:spcPct val="100000"/>
              </a:lnSpc>
              <a:buClrTx/>
              <a:buSzPct val="90000"/>
              <a:buFont typeface="+mj-lt"/>
              <a:buAutoNum type="arabicPeriod"/>
            </a:pPr>
            <a:r>
              <a:rPr lang="ru-RU" sz="3200" kern="0" dirty="0"/>
              <a:t>Считывание во входные буферы по одному блоку отсортированных подсписков </a:t>
            </a:r>
          </a:p>
          <a:p>
            <a:pPr marL="514350" lvl="0" indent="-514350" eaLnBrk="0" hangingPunct="0">
              <a:lnSpc>
                <a:spcPct val="100000"/>
              </a:lnSpc>
              <a:buClrTx/>
              <a:buSzPct val="90000"/>
              <a:buFont typeface="+mj-lt"/>
              <a:buAutoNum type="arabicPeriod"/>
              <a:defRPr/>
            </a:pPr>
            <a:r>
              <a:rPr lang="ru-RU" sz="3200" kern="0" dirty="0"/>
              <a:t>Выбор записи с минимальным ключом среди всех записей в буферах ОП. </a:t>
            </a:r>
          </a:p>
          <a:p>
            <a:pPr marL="514350" lvl="0" indent="-514350" eaLnBrk="0" hangingPunct="0">
              <a:lnSpc>
                <a:spcPct val="100000"/>
              </a:lnSpc>
              <a:buClrTx/>
              <a:buSzPct val="90000"/>
              <a:buFont typeface="+mj-lt"/>
              <a:buAutoNum type="arabicPeriod"/>
              <a:defRPr/>
            </a:pPr>
            <a:r>
              <a:rPr lang="ru-RU" sz="3200" kern="0" dirty="0"/>
              <a:t>Помещение записи с минимальным ключом в выходной буфер</a:t>
            </a:r>
          </a:p>
          <a:p>
            <a:pPr marL="514350" lvl="0" indent="-514350" eaLnBrk="0" hangingPunct="0">
              <a:lnSpc>
                <a:spcPct val="120000"/>
              </a:lnSpc>
              <a:buClrTx/>
              <a:buSzPct val="90000"/>
              <a:buFont typeface="+mj-lt"/>
              <a:buAutoNum type="arabicPeriod" startAt="4"/>
            </a:pP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Если выходной буфер заполнен, то сохранить его содержимое на диске</a:t>
            </a:r>
          </a:p>
          <a:p>
            <a:pPr marL="514350" marR="0" lvl="0" indent="-5143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+mj-lt"/>
              <a:buAutoNum type="arabicPeriod" startAt="4"/>
              <a:tabLst/>
              <a:defRPr/>
            </a:pP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Если блок подсписка, из которого извлечен минимальный элемент исчерпан, осуществить чтение очередного блока того же подсписка </a:t>
            </a:r>
          </a:p>
          <a:p>
            <a:pPr marL="514350" marR="0" lvl="0" indent="-5143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+mj-lt"/>
              <a:buAutoNum type="arabicPeriod" startAt="4"/>
              <a:tabLst/>
              <a:defRPr/>
            </a:pP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Если подсписок исчерпан оставить буфер пустым и к этому буферу не обращаться</a:t>
            </a:r>
          </a:p>
          <a:p>
            <a:pPr marL="514350" marR="0" lvl="0" indent="-5143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tabLst/>
              <a:defRPr/>
            </a:pPr>
            <a:r>
              <a:rPr lang="ru-RU" sz="3200" kern="0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Время выполнения фазы 2</a:t>
            </a:r>
          </a:p>
          <a:p>
            <a:pPr marR="0" lvl="0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tabLst/>
              <a:defRPr/>
            </a:pP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В отличие от 1-ой фазы </a:t>
            </a:r>
            <a:r>
              <a:rPr kumimoji="0" lang="ru-RU" sz="3200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блоки подсписков </a:t>
            </a: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считываются </a:t>
            </a:r>
            <a:r>
              <a:rPr lang="ru-RU" sz="3200" kern="0" dirty="0">
                <a:latin typeface="+mn-lt"/>
                <a:cs typeface="+mn-cs"/>
              </a:rPr>
              <a:t>в произвольном порядке, так как не известно какой из блоков исчерпается первым. </a:t>
            </a:r>
            <a:br>
              <a:rPr lang="ru-RU" sz="3200" kern="0" dirty="0">
                <a:latin typeface="+mn-lt"/>
                <a:cs typeface="+mn-cs"/>
              </a:rPr>
            </a:br>
            <a:r>
              <a:rPr lang="ru-RU" sz="3200" kern="0" dirty="0">
                <a:latin typeface="+mn-lt"/>
                <a:cs typeface="+mn-cs"/>
              </a:rPr>
              <a:t>Но каждый</a:t>
            </a: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блок </a:t>
            </a:r>
            <a:r>
              <a:rPr kumimoji="0" lang="ru-RU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считывается и</a:t>
            </a:r>
            <a:r>
              <a:rPr kumimoji="0" lang="ru-RU" sz="32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записывается 1 раз</a:t>
            </a:r>
            <a:r>
              <a:rPr kumimoji="0" lang="ru-RU" sz="32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  <a:p>
            <a:pPr marR="0" lvl="0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tabLst/>
              <a:defRPr/>
            </a:pPr>
            <a:r>
              <a:rPr kumimoji="0" lang="ru-RU" sz="32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Значит 37 мин как и на фазе 1. </a:t>
            </a:r>
          </a:p>
          <a:p>
            <a:pPr marR="0" lvl="0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tabLst/>
              <a:defRPr/>
            </a:pPr>
            <a:r>
              <a:rPr lang="ru-RU" sz="3200" kern="0" dirty="0">
                <a:latin typeface="+mn-lt"/>
                <a:cs typeface="+mn-cs"/>
              </a:rPr>
              <a:t>Время выполнения 2-х этапов – </a:t>
            </a:r>
            <a:r>
              <a:rPr kumimoji="0" lang="ru-RU" sz="3200" b="0" i="0" u="none" strike="noStrike" kern="0" cap="none" spc="0" normalizeH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74  мин</a:t>
            </a:r>
            <a:r>
              <a:rPr kumimoji="0" lang="ru-RU" sz="32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ru-RU" sz="3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0874" y="0"/>
            <a:ext cx="8403659" cy="954157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</a:rPr>
              <a:t>Многокомпонентное</a:t>
            </a:r>
            <a:r>
              <a:rPr lang="ru-RU" sz="3200" dirty="0">
                <a:solidFill>
                  <a:schemeClr val="bg2"/>
                </a:solidFill>
              </a:rPr>
              <a:t> слияние и сверхбольшие отношения. 2-х фазное слияние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98782" y="1134763"/>
            <a:ext cx="8746435" cy="5605670"/>
          </a:xfrm>
        </p:spPr>
        <p:txBody>
          <a:bodyPr lIns="36000" tIns="36000" rIns="36000" bIns="36000">
            <a:normAutofit fontScale="92500"/>
          </a:bodyPr>
          <a:lstStyle/>
          <a:p>
            <a:r>
              <a:rPr lang="ru-RU" sz="2800" dirty="0"/>
              <a:t>Пусть </a:t>
            </a:r>
            <a:r>
              <a:rPr lang="en-US" sz="2800" dirty="0"/>
              <a:t>B </a:t>
            </a:r>
            <a:r>
              <a:rPr lang="ru-RU" sz="2800" dirty="0"/>
              <a:t>– размер блока, </a:t>
            </a:r>
          </a:p>
          <a:p>
            <a:pPr lvl="1">
              <a:buNone/>
            </a:pPr>
            <a:r>
              <a:rPr lang="ru-RU" sz="2400" dirty="0"/>
              <a:t>М – размер ОП, доступной для буферизации блоков,</a:t>
            </a:r>
          </a:p>
          <a:p>
            <a:pPr lvl="1">
              <a:buNone/>
            </a:pPr>
            <a:r>
              <a:rPr lang="en-US" sz="2400" dirty="0"/>
              <a:t>R – </a:t>
            </a:r>
            <a:r>
              <a:rPr lang="ru-RU" sz="2400" dirty="0"/>
              <a:t>размер записи.</a:t>
            </a:r>
          </a:p>
          <a:p>
            <a:r>
              <a:rPr lang="ru-RU" sz="2800" dirty="0"/>
              <a:t>Тогда количество буферов в ОП – </a:t>
            </a:r>
            <a:r>
              <a:rPr lang="en-US" sz="2800" i="1" dirty="0"/>
              <a:t>M </a:t>
            </a:r>
            <a:r>
              <a:rPr lang="ru-RU" sz="2800" i="1" dirty="0"/>
              <a:t>/</a:t>
            </a:r>
            <a:r>
              <a:rPr lang="en-US" sz="2800" i="1" dirty="0"/>
              <a:t> B</a:t>
            </a:r>
          </a:p>
          <a:p>
            <a:r>
              <a:rPr lang="ru-RU" sz="2800" dirty="0">
                <a:solidFill>
                  <a:schemeClr val="bg2"/>
                </a:solidFill>
              </a:rPr>
              <a:t>(</a:t>
            </a:r>
            <a:r>
              <a:rPr lang="en-US" sz="2800" i="1" dirty="0">
                <a:solidFill>
                  <a:schemeClr val="bg2"/>
                </a:solidFill>
              </a:rPr>
              <a:t>M </a:t>
            </a:r>
            <a:r>
              <a:rPr lang="ru-RU" sz="2800" i="1" dirty="0">
                <a:solidFill>
                  <a:schemeClr val="bg2"/>
                </a:solidFill>
              </a:rPr>
              <a:t>/</a:t>
            </a:r>
            <a:r>
              <a:rPr lang="en-US" sz="2800" i="1" dirty="0">
                <a:solidFill>
                  <a:schemeClr val="bg2"/>
                </a:solidFill>
              </a:rPr>
              <a:t> B</a:t>
            </a:r>
            <a:r>
              <a:rPr lang="ru-RU" sz="2800" i="1" dirty="0">
                <a:solidFill>
                  <a:schemeClr val="bg2"/>
                </a:solidFill>
              </a:rPr>
              <a:t>)-1 – </a:t>
            </a:r>
            <a:r>
              <a:rPr lang="ru-RU" sz="2600" dirty="0"/>
              <a:t>Максимальное число отсортированных подсписков (</a:t>
            </a:r>
            <a:r>
              <a:rPr lang="ru-RU" sz="2600" dirty="0">
                <a:solidFill>
                  <a:schemeClr val="bg2"/>
                </a:solidFill>
              </a:rPr>
              <a:t>фаза 1 – разбиение на подсписки</a:t>
            </a:r>
            <a:r>
              <a:rPr lang="ru-RU" sz="2600" dirty="0"/>
              <a:t>).</a:t>
            </a:r>
          </a:p>
          <a:p>
            <a:r>
              <a:rPr lang="ru-RU" sz="2800" dirty="0">
                <a:solidFill>
                  <a:schemeClr val="bg2"/>
                </a:solidFill>
              </a:rPr>
              <a:t>(</a:t>
            </a:r>
            <a:r>
              <a:rPr lang="en-US" sz="2800" i="1" dirty="0">
                <a:solidFill>
                  <a:schemeClr val="bg2"/>
                </a:solidFill>
              </a:rPr>
              <a:t>M </a:t>
            </a:r>
            <a:r>
              <a:rPr lang="ru-RU" sz="2800" i="1" dirty="0">
                <a:solidFill>
                  <a:schemeClr val="bg2"/>
                </a:solidFill>
              </a:rPr>
              <a:t>/</a:t>
            </a:r>
            <a:r>
              <a:rPr lang="en-US" sz="2800" i="1" dirty="0">
                <a:solidFill>
                  <a:schemeClr val="bg2"/>
                </a:solidFill>
              </a:rPr>
              <a:t> B</a:t>
            </a:r>
            <a:r>
              <a:rPr lang="ru-RU" sz="2800" i="1">
                <a:solidFill>
                  <a:schemeClr val="bg2"/>
                </a:solidFill>
              </a:rPr>
              <a:t>)-1 – </a:t>
            </a:r>
            <a:r>
              <a:rPr lang="ru-RU" sz="2800"/>
              <a:t>Максимальное </a:t>
            </a:r>
            <a:r>
              <a:rPr lang="ru-RU" sz="2800" dirty="0"/>
              <a:t>количество стадий заполнения оперативной памяти записями, подлежащими сортировке </a:t>
            </a:r>
            <a:r>
              <a:rPr lang="ru-RU" sz="2800" i="1" dirty="0"/>
              <a:t>(</a:t>
            </a:r>
            <a:r>
              <a:rPr lang="ru-RU" sz="2400" dirty="0"/>
              <a:t>один выходной буфер).</a:t>
            </a:r>
          </a:p>
          <a:p>
            <a:r>
              <a:rPr lang="ru-RU" sz="2800" dirty="0"/>
              <a:t>На каждой стадии будет сортироваться максимум </a:t>
            </a:r>
            <a:br>
              <a:rPr lang="ru-RU" sz="2800" dirty="0"/>
            </a:b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</a:rPr>
              <a:t>M </a:t>
            </a:r>
            <a:r>
              <a:rPr lang="ru-RU" sz="2800" i="1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</a:rPr>
              <a:t> R </a:t>
            </a:r>
            <a:r>
              <a:rPr lang="ru-RU" sz="2800" i="1" dirty="0"/>
              <a:t>записей</a:t>
            </a:r>
          </a:p>
          <a:p>
            <a:r>
              <a:rPr lang="ru-RU" sz="2800" dirty="0"/>
              <a:t>Верхняя граница сортируемых записей при 2 фазах</a:t>
            </a:r>
            <a:br>
              <a:rPr lang="ru-RU" sz="2800" dirty="0"/>
            </a:br>
            <a:r>
              <a:rPr lang="ru-RU" sz="2800" dirty="0"/>
              <a:t>(</a:t>
            </a:r>
            <a:r>
              <a:rPr lang="en-US" sz="2800" i="1" dirty="0"/>
              <a:t>M </a:t>
            </a:r>
            <a:r>
              <a:rPr lang="ru-RU" sz="2800" i="1" dirty="0"/>
              <a:t>/</a:t>
            </a:r>
            <a:r>
              <a:rPr lang="en-US" sz="2800" i="1" dirty="0"/>
              <a:t>R </a:t>
            </a:r>
            <a:r>
              <a:rPr lang="ru-RU" sz="2800" dirty="0"/>
              <a:t>)((</a:t>
            </a:r>
            <a:r>
              <a:rPr lang="en-US" sz="2800" i="1" dirty="0"/>
              <a:t>M </a:t>
            </a:r>
            <a:r>
              <a:rPr lang="ru-RU" sz="2800" i="1" dirty="0"/>
              <a:t>/</a:t>
            </a:r>
            <a:r>
              <a:rPr lang="en-US" sz="2800" i="1" dirty="0"/>
              <a:t>B</a:t>
            </a:r>
            <a:r>
              <a:rPr lang="ru-RU" sz="2800" i="1" dirty="0"/>
              <a:t>)-1</a:t>
            </a:r>
            <a:r>
              <a:rPr lang="ru-RU" sz="2800" dirty="0"/>
              <a:t>) </a:t>
            </a:r>
            <a:r>
              <a:rPr lang="ru-RU" sz="2800" dirty="0">
                <a:sym typeface="Symbol"/>
              </a:rPr>
              <a:t> </a:t>
            </a:r>
            <a:r>
              <a:rPr lang="en-US" sz="2800" b="1" i="1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M</a:t>
            </a:r>
            <a:r>
              <a:rPr lang="en-US" sz="2800" b="1" i="1" baseline="300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2</a:t>
            </a:r>
            <a:r>
              <a:rPr lang="en-US" sz="2800" b="1" i="1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/RB</a:t>
            </a:r>
            <a:endParaRPr lang="ru-RU" sz="2800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12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38539"/>
            <a:ext cx="8229600" cy="795130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Оценки</a:t>
            </a:r>
            <a:r>
              <a:rPr lang="ru-RU" dirty="0"/>
              <a:t>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0312" y="1046921"/>
            <a:ext cx="8868427" cy="5253671"/>
          </a:xfrm>
        </p:spPr>
        <p:txBody>
          <a:bodyPr>
            <a:normAutofit fontScale="92500"/>
          </a:bodyPr>
          <a:lstStyle/>
          <a:p>
            <a:pPr algn="ctr">
              <a:lnSpc>
                <a:spcPct val="110000"/>
              </a:lnSpc>
              <a:buNone/>
            </a:pPr>
            <a:r>
              <a:rPr lang="ru-RU" dirty="0">
                <a:latin typeface="+mj-lt"/>
                <a:cs typeface="Times New Roman" pitchFamily="18" charset="0"/>
              </a:rPr>
              <a:t>Многокомпонентное слияние.</a:t>
            </a:r>
          </a:p>
          <a:p>
            <a:pPr>
              <a:lnSpc>
                <a:spcPct val="110000"/>
              </a:lnSpc>
            </a:pP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M</a:t>
            </a:r>
            <a:r>
              <a:rPr lang="en-US" b="1" i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/RB</a:t>
            </a:r>
            <a:r>
              <a:rPr lang="ru-RU" b="1" i="1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 </a:t>
            </a:r>
            <a:r>
              <a:rPr lang="ru-RU" dirty="0">
                <a:sym typeface="Symbol"/>
              </a:rPr>
              <a:t>количество записей для </a:t>
            </a:r>
            <a:r>
              <a:rPr lang="ru-RU" dirty="0">
                <a:cs typeface="Times New Roman" pitchFamily="18" charset="0"/>
              </a:rPr>
              <a:t>2-фаз</a:t>
            </a:r>
          </a:p>
          <a:p>
            <a:pPr>
              <a:lnSpc>
                <a:spcPct val="110000"/>
              </a:lnSpc>
            </a:pP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M</a:t>
            </a:r>
            <a:r>
              <a:rPr lang="ru-RU" b="1" i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3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/RB</a:t>
            </a:r>
            <a:r>
              <a:rPr lang="ru-RU" b="1" i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ru-RU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ru-RU" dirty="0">
                <a:sym typeface="Symbol"/>
              </a:rPr>
              <a:t>количество записей для </a:t>
            </a:r>
            <a:r>
              <a:rPr lang="ru-RU" dirty="0">
                <a:cs typeface="Times New Roman" pitchFamily="18" charset="0"/>
              </a:rPr>
              <a:t>3-фаз</a:t>
            </a:r>
          </a:p>
          <a:p>
            <a:pPr>
              <a:lnSpc>
                <a:spcPct val="110000"/>
              </a:lnSpc>
              <a:buNone/>
            </a:pPr>
            <a:endParaRPr lang="ru-RU" dirty="0"/>
          </a:p>
          <a:p>
            <a:pPr>
              <a:lnSpc>
                <a:spcPct val="110000"/>
              </a:lnSpc>
              <a:buNone/>
            </a:pPr>
            <a:r>
              <a:rPr lang="ru-RU" sz="2600" dirty="0"/>
              <a:t>При М=104 857 600 байт, </a:t>
            </a:r>
            <a:r>
              <a:rPr lang="en-US" sz="2600" dirty="0"/>
              <a:t>B = 16384</a:t>
            </a:r>
            <a:r>
              <a:rPr lang="ru-RU" sz="2600" dirty="0"/>
              <a:t> байт, </a:t>
            </a:r>
            <a:r>
              <a:rPr lang="en-US" sz="2600" dirty="0"/>
              <a:t>R =160</a:t>
            </a:r>
            <a:r>
              <a:rPr lang="ru-RU" sz="2600" dirty="0"/>
              <a:t> байт</a:t>
            </a:r>
            <a:endParaRPr lang="en-US" sz="2600" dirty="0"/>
          </a:p>
          <a:p>
            <a:pPr>
              <a:lnSpc>
                <a:spcPct val="110000"/>
              </a:lnSpc>
              <a:buNone/>
            </a:pPr>
            <a:r>
              <a:rPr lang="ru-RU" dirty="0"/>
              <a:t>и </a:t>
            </a:r>
            <a:r>
              <a:rPr lang="ru-RU" dirty="0">
                <a:solidFill>
                  <a:srgbClr val="FF0000"/>
                </a:solidFill>
              </a:rPr>
              <a:t>2-фазном слиянии </a:t>
            </a:r>
            <a:r>
              <a:rPr lang="ru-RU" dirty="0"/>
              <a:t>можно отсортировать 4,2 миллиарда записей на дисках в </a:t>
            </a:r>
            <a:r>
              <a:rPr lang="ru-RU" dirty="0">
                <a:solidFill>
                  <a:srgbClr val="FF0000"/>
                </a:solidFill>
              </a:rPr>
              <a:t>0,67 Тбайт</a:t>
            </a:r>
          </a:p>
          <a:p>
            <a:pPr>
              <a:lnSpc>
                <a:spcPct val="110000"/>
              </a:lnSpc>
              <a:buNone/>
            </a:pPr>
            <a:r>
              <a:rPr lang="ru-RU" dirty="0"/>
              <a:t>и </a:t>
            </a:r>
            <a:r>
              <a:rPr lang="ru-RU" dirty="0">
                <a:solidFill>
                  <a:srgbClr val="FF0000"/>
                </a:solidFill>
              </a:rPr>
              <a:t>3-фазном слиянии </a:t>
            </a:r>
            <a:r>
              <a:rPr lang="ru-RU" dirty="0"/>
              <a:t>можно отсортировать 27 триллионов  записей на дисках в </a:t>
            </a:r>
            <a:r>
              <a:rPr lang="ru-RU" dirty="0">
                <a:solidFill>
                  <a:srgbClr val="FF0000"/>
                </a:solidFill>
              </a:rPr>
              <a:t>4,3 Пбайт</a:t>
            </a:r>
          </a:p>
          <a:p>
            <a:pPr>
              <a:lnSpc>
                <a:spcPct val="110000"/>
              </a:lnSpc>
              <a:buNone/>
            </a:pPr>
            <a:endParaRPr lang="ru-RU" dirty="0"/>
          </a:p>
          <a:p>
            <a:pPr>
              <a:lnSpc>
                <a:spcPct val="110000"/>
              </a:lnSpc>
              <a:buNone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13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91477"/>
            <a:ext cx="8446168" cy="4880985"/>
          </a:xfrm>
        </p:spPr>
        <p:txBody>
          <a:bodyPr>
            <a:normAutofit fontScale="85000" lnSpcReduction="20000"/>
          </a:bodyPr>
          <a:lstStyle/>
          <a:p>
            <a:pPr marL="514350" lvl="0" indent="-514350">
              <a:lnSpc>
                <a:spcPct val="120000"/>
              </a:lnSpc>
              <a:buSzPct val="85000"/>
              <a:buFont typeface="+mj-lt"/>
              <a:buAutoNum type="arabicPeriod"/>
            </a:pPr>
            <a:r>
              <a:rPr lang="ru-RU" dirty="0"/>
              <a:t>Разместить блоки, которые должны обрабатываться совместно на одном цилиндре</a:t>
            </a:r>
          </a:p>
          <a:p>
            <a:pPr marL="514350" lvl="0" indent="-514350">
              <a:lnSpc>
                <a:spcPct val="120000"/>
              </a:lnSpc>
              <a:buSzPct val="85000"/>
              <a:buFont typeface="+mj-lt"/>
              <a:buAutoNum type="arabicPeriod"/>
            </a:pPr>
            <a:r>
              <a:rPr lang="ru-RU" dirty="0"/>
              <a:t>Расположить информацию на нескольких дисках меньшего объема</a:t>
            </a:r>
          </a:p>
          <a:p>
            <a:pPr marL="514350" lvl="0" indent="-514350">
              <a:lnSpc>
                <a:spcPct val="120000"/>
              </a:lnSpc>
              <a:buSzPct val="85000"/>
              <a:buFont typeface="+mj-lt"/>
              <a:buAutoNum type="arabicPeriod"/>
            </a:pPr>
            <a:r>
              <a:rPr lang="ru-RU" dirty="0"/>
              <a:t>Создать "зеркальные" копии одних и тех же данных на нескольких дисках </a:t>
            </a:r>
          </a:p>
          <a:p>
            <a:pPr marL="514350" indent="-514350">
              <a:lnSpc>
                <a:spcPct val="120000"/>
              </a:lnSpc>
              <a:buSzPct val="85000"/>
              <a:buFont typeface="+mj-lt"/>
              <a:buAutoNum type="arabicPeriod"/>
            </a:pPr>
            <a:r>
              <a:rPr lang="ru-RU" dirty="0"/>
              <a:t>Использовать алгоритмы упорядочения запросов к блокам диска во времени</a:t>
            </a:r>
          </a:p>
          <a:p>
            <a:pPr marL="514350" indent="-514350">
              <a:lnSpc>
                <a:spcPct val="120000"/>
              </a:lnSpc>
              <a:buSzPct val="85000"/>
              <a:buFont typeface="+mj-lt"/>
              <a:buAutoNum type="arabicPeriod"/>
            </a:pPr>
            <a:r>
              <a:rPr lang="ru-RU" dirty="0"/>
              <a:t>Применить стратегии предварительного считывания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14</a:t>
            </a:fld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01053" y="337930"/>
            <a:ext cx="8444773" cy="897311"/>
          </a:xfrm>
        </p:spPr>
        <p:txBody>
          <a:bodyPr>
            <a:noAutofit/>
          </a:bodyPr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Повышение эффективности </a:t>
            </a:r>
            <a:br>
              <a:rPr lang="ru-RU" sz="3600" dirty="0">
                <a:solidFill>
                  <a:schemeClr val="bg2"/>
                </a:solidFill>
              </a:rPr>
            </a:br>
            <a:r>
              <a:rPr lang="ru-RU" sz="3600" dirty="0">
                <a:solidFill>
                  <a:schemeClr val="bg2"/>
                </a:solidFill>
              </a:rPr>
              <a:t>дисковых операций</a:t>
            </a:r>
            <a:r>
              <a:rPr lang="ru-RU" sz="36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15</a:t>
            </a:fld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01053" y="337930"/>
            <a:ext cx="8444773" cy="897311"/>
          </a:xfrm>
        </p:spPr>
        <p:txBody>
          <a:bodyPr>
            <a:noAutofit/>
          </a:bodyPr>
          <a:lstStyle/>
          <a:p>
            <a:pPr algn="ctr"/>
            <a:r>
              <a:rPr lang="ru-RU" sz="3600" dirty="0">
                <a:solidFill>
                  <a:schemeClr val="bg2"/>
                </a:solidFill>
                <a:latin typeface="Arial" pitchFamily="34" charset="0"/>
                <a:cs typeface="Arial" pitchFamily="34" charset="0"/>
              </a:rPr>
              <a:t>Производительность жесткого диска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52697" y="1149530"/>
            <a:ext cx="8516983" cy="406254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marL="36000" marR="0" lvl="0" indent="-4572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Электромеханическое устройство</a:t>
            </a:r>
          </a:p>
          <a:p>
            <a:pPr marL="950400" lvl="3" indent="-457200">
              <a:spcBef>
                <a:spcPts val="600"/>
              </a:spcBef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-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оказывает воздействие на общую производительность системы хранения</a:t>
            </a:r>
          </a:p>
          <a:p>
            <a:pPr marL="36000" marR="0" lvl="0" indent="-4572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Время отклика диска</a:t>
            </a:r>
          </a:p>
          <a:p>
            <a:pPr marL="950400" lvl="3" indent="-457200">
              <a:spcBef>
                <a:spcPts val="600"/>
              </a:spcBef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-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время, необходимое диску для выполнения запроса ввода-вывода, зависит от:</a:t>
            </a:r>
          </a:p>
          <a:p>
            <a:pPr marL="1407600" lvl="5" indent="-457200">
              <a:spcBef>
                <a:spcPts val="600"/>
              </a:spcBef>
              <a:buFont typeface="Wingdings" pitchFamily="2" charset="2"/>
              <a:buChar char="ü"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времени поиска;</a:t>
            </a:r>
          </a:p>
          <a:p>
            <a:pPr marL="1407600" lvl="5" indent="-457200">
              <a:spcBef>
                <a:spcPts val="600"/>
              </a:spcBef>
              <a:buFont typeface="Wingdings" pitchFamily="2" charset="2"/>
              <a:buChar char="ü"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задержки из-за вращения диска; </a:t>
            </a:r>
          </a:p>
          <a:p>
            <a:pPr marL="1407600" lvl="5" indent="-457200">
              <a:spcBef>
                <a:spcPts val="600"/>
              </a:spcBef>
              <a:buFont typeface="Wingdings" pitchFamily="2" charset="2"/>
              <a:buChar char="ü"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скорости передачи данных.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Rectangle 4"/>
          <p:cNvSpPr/>
          <p:nvPr/>
        </p:nvSpPr>
        <p:spPr>
          <a:xfrm>
            <a:off x="0" y="5199017"/>
            <a:ext cx="9144000" cy="9013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ru-RU" sz="2000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Время обработки диска = </a:t>
            </a:r>
          </a:p>
          <a:p>
            <a:pPr marL="0" lvl="1" algn="ctr"/>
            <a:r>
              <a:rPr lang="ru-RU" sz="2000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время поиска + задержка из-за вращения диска + время передачи данных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16</a:t>
            </a:fld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361865" y="0"/>
            <a:ext cx="8444773" cy="897311"/>
          </a:xfrm>
        </p:spPr>
        <p:txBody>
          <a:bodyPr>
            <a:noAutofit/>
          </a:bodyPr>
          <a:lstStyle/>
          <a:p>
            <a:pPr algn="ctr"/>
            <a:r>
              <a:rPr lang="ru-RU" sz="3600" dirty="0">
                <a:solidFill>
                  <a:schemeClr val="bg2"/>
                </a:solidFill>
                <a:latin typeface="Arial" pitchFamily="34" charset="0"/>
                <a:cs typeface="Arial" pitchFamily="34" charset="0"/>
              </a:rPr>
              <a:t>Время поиска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52697" y="1149530"/>
            <a:ext cx="8516983" cy="406254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/>
          </p:nvPr>
        </p:nvSpPr>
        <p:spPr>
          <a:xfrm>
            <a:off x="287382" y="849086"/>
            <a:ext cx="7694023" cy="5708467"/>
          </a:xfrm>
        </p:spPr>
        <p:txBody>
          <a:bodyPr>
            <a:normAutofit/>
          </a:bodyPr>
          <a:lstStyle/>
          <a:p>
            <a:pPr marL="288000" indent="-288000" algn="l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Время, необходимое для позиционирования головки чтения/записи </a:t>
            </a:r>
          </a:p>
          <a:p>
            <a:pPr marL="288000" indent="-288000" algn="l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Чем меньше времени занимает поиск, тем быстрей проходят операции ввода-вывода</a:t>
            </a:r>
          </a:p>
          <a:p>
            <a:pPr marL="288000" indent="-288000" algn="l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Характеристики времени поиска:</a:t>
            </a:r>
          </a:p>
          <a:p>
            <a:pPr marL="745200" lvl="2" indent="-288000">
              <a:lnSpc>
                <a:spcPct val="15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ru-RU" sz="2000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время для полного оборота;</a:t>
            </a:r>
          </a:p>
          <a:p>
            <a:pPr marL="745200" lvl="2" indent="-288000">
              <a:lnSpc>
                <a:spcPct val="15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ru-RU" sz="2000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среднее время поиска;</a:t>
            </a:r>
          </a:p>
          <a:p>
            <a:pPr marL="745200" lvl="2" indent="-288000">
              <a:lnSpc>
                <a:spcPct val="15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ru-RU" sz="2000" b="0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время для перехода с дорожки на дорожку.</a:t>
            </a:r>
          </a:p>
          <a:p>
            <a:pPr marL="288000" indent="-288000" algn="l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Время поиска диска указывается его производителем</a:t>
            </a:r>
          </a:p>
        </p:txBody>
      </p:sp>
      <p:grpSp>
        <p:nvGrpSpPr>
          <p:cNvPr id="14" name="Группа 13"/>
          <p:cNvGrpSpPr/>
          <p:nvPr/>
        </p:nvGrpSpPr>
        <p:grpSpPr>
          <a:xfrm>
            <a:off x="6058301" y="2283828"/>
            <a:ext cx="3049448" cy="3420000"/>
            <a:chOff x="5914608" y="1735182"/>
            <a:chExt cx="3049448" cy="3420000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914608" y="1735182"/>
              <a:ext cx="3049448" cy="342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TextBox 6"/>
            <p:cNvSpPr txBox="1"/>
            <p:nvPr/>
          </p:nvSpPr>
          <p:spPr>
            <a:xfrm>
              <a:off x="7926976" y="3316333"/>
              <a:ext cx="9427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000" b="0" i="0" dirty="0">
                  <a:solidFill>
                    <a:srgbClr val="2C95DD"/>
                  </a:solidFill>
                  <a:latin typeface="Arial" pitchFamily="34" charset="0"/>
                  <a:cs typeface="Arial" pitchFamily="34" charset="0"/>
                </a:rPr>
                <a:t>Радиальное движение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8478" y="118531"/>
            <a:ext cx="8647043" cy="655608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Группирование данных по цилиндрам диска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187" y="666206"/>
            <a:ext cx="9104814" cy="6191793"/>
          </a:xfrm>
        </p:spPr>
        <p:txBody>
          <a:bodyPr>
            <a:normAutofit fontScale="55000" lnSpcReduction="20000"/>
          </a:bodyPr>
          <a:lstStyle/>
          <a:p>
            <a:pPr marL="0">
              <a:buNone/>
            </a:pPr>
            <a:r>
              <a:rPr lang="ru-RU" dirty="0"/>
              <a:t>Проанализируем выше приведенный алгоритм сортировки 2-фазным слиянием</a:t>
            </a:r>
          </a:p>
          <a:p>
            <a:pPr>
              <a:buNone/>
            </a:pPr>
            <a:r>
              <a:rPr lang="ru-RU" b="1" u="sng" dirty="0">
                <a:solidFill>
                  <a:srgbClr val="FF0000"/>
                </a:solidFill>
              </a:rPr>
              <a:t>Средние значения диска</a:t>
            </a:r>
          </a:p>
          <a:p>
            <a:r>
              <a:rPr lang="ru-RU" dirty="0"/>
              <a:t>2</a:t>
            </a:r>
            <a:r>
              <a:rPr lang="ru-RU" baseline="30000" dirty="0"/>
              <a:t>14 </a:t>
            </a:r>
            <a:r>
              <a:rPr lang="ru-RU" dirty="0"/>
              <a:t>–</a:t>
            </a:r>
            <a:r>
              <a:rPr lang="ru-RU" baseline="30000" dirty="0"/>
              <a:t> </a:t>
            </a:r>
            <a:r>
              <a:rPr lang="ru-RU" dirty="0"/>
              <a:t>16384 дорожек на пластине или цилиндров</a:t>
            </a:r>
            <a:endParaRPr lang="ru-RU" baseline="30000" dirty="0"/>
          </a:p>
          <a:p>
            <a:r>
              <a:rPr lang="ru-RU" b="1" dirty="0"/>
              <a:t>Время поиска   </a:t>
            </a:r>
            <a:r>
              <a:rPr lang="ru-RU" dirty="0"/>
              <a:t>– </a:t>
            </a:r>
            <a:r>
              <a:rPr lang="ru-RU" dirty="0">
                <a:solidFill>
                  <a:srgbClr val="FF0000"/>
                </a:solidFill>
              </a:rPr>
              <a:t>6,46 </a:t>
            </a:r>
            <a:r>
              <a:rPr lang="ru-RU" dirty="0" err="1">
                <a:solidFill>
                  <a:srgbClr val="FF0000"/>
                </a:solidFill>
              </a:rPr>
              <a:t>млсек</a:t>
            </a:r>
            <a:r>
              <a:rPr lang="ru-RU" dirty="0"/>
              <a:t>,</a:t>
            </a:r>
            <a:r>
              <a:rPr lang="en-US" dirty="0"/>
              <a:t> (</a:t>
            </a:r>
            <a:r>
              <a:rPr lang="ru-RU" dirty="0"/>
              <a:t> </a:t>
            </a:r>
            <a:r>
              <a:rPr lang="en-US" dirty="0"/>
              <a:t>&gt; 1/2</a:t>
            </a:r>
            <a:r>
              <a:rPr lang="ru-RU" dirty="0"/>
              <a:t> времени</a:t>
            </a:r>
            <a:r>
              <a:rPr lang="en-US" dirty="0"/>
              <a:t> </a:t>
            </a:r>
            <a:r>
              <a:rPr lang="ru-RU" dirty="0"/>
              <a:t>считывания)</a:t>
            </a:r>
            <a:r>
              <a:rPr lang="en-US" dirty="0"/>
              <a:t> </a:t>
            </a:r>
            <a:r>
              <a:rPr lang="ru-RU" dirty="0"/>
              <a:t>промежуток времени, необходимый на позиционирование головок на определенный цилиндр (от 10 до 40 </a:t>
            </a:r>
            <a:r>
              <a:rPr lang="ru-RU" dirty="0" err="1"/>
              <a:t>млсек</a:t>
            </a:r>
            <a:r>
              <a:rPr lang="ru-RU" dirty="0"/>
              <a:t>)</a:t>
            </a:r>
          </a:p>
          <a:p>
            <a:r>
              <a:rPr lang="ru-RU" b="1" dirty="0"/>
              <a:t>Время оборота  </a:t>
            </a:r>
            <a:r>
              <a:rPr lang="ru-RU" dirty="0"/>
              <a:t>– </a:t>
            </a:r>
            <a:r>
              <a:rPr lang="ru-RU" dirty="0">
                <a:solidFill>
                  <a:srgbClr val="FF0000"/>
                </a:solidFill>
              </a:rPr>
              <a:t>4,17 </a:t>
            </a:r>
            <a:r>
              <a:rPr lang="ru-RU" dirty="0" err="1">
                <a:solidFill>
                  <a:srgbClr val="FF0000"/>
                </a:solidFill>
              </a:rPr>
              <a:t>млсек</a:t>
            </a:r>
            <a:r>
              <a:rPr lang="ru-RU" dirty="0"/>
              <a:t>, время вращения пластины для достижения 1-го сектора нужного блока (обычно10 </a:t>
            </a:r>
            <a:r>
              <a:rPr lang="ru-RU" dirty="0" err="1"/>
              <a:t>млсек</a:t>
            </a:r>
            <a:r>
              <a:rPr lang="ru-RU" dirty="0"/>
              <a:t>)</a:t>
            </a:r>
          </a:p>
          <a:p>
            <a:r>
              <a:rPr lang="ru-RU" b="1" dirty="0"/>
              <a:t>Время передачи </a:t>
            </a:r>
            <a:r>
              <a:rPr lang="ru-RU" dirty="0"/>
              <a:t>– </a:t>
            </a:r>
            <a:r>
              <a:rPr lang="ru-RU" dirty="0">
                <a:solidFill>
                  <a:srgbClr val="FF0000"/>
                </a:solidFill>
              </a:rPr>
              <a:t>0,25 </a:t>
            </a:r>
            <a:r>
              <a:rPr lang="ru-RU" dirty="0" err="1">
                <a:solidFill>
                  <a:srgbClr val="FF0000"/>
                </a:solidFill>
              </a:rPr>
              <a:t>млсек</a:t>
            </a:r>
            <a:r>
              <a:rPr lang="ru-RU" dirty="0"/>
              <a:t>, время вращения пластины на угол, достаточный, чтобы считать все секторы блока</a:t>
            </a:r>
          </a:p>
          <a:p>
            <a:r>
              <a:rPr lang="ru-RU" b="1" dirty="0"/>
              <a:t>Размер блока     </a:t>
            </a:r>
            <a:r>
              <a:rPr lang="ru-RU" dirty="0"/>
              <a:t> –  2</a:t>
            </a:r>
            <a:r>
              <a:rPr lang="ru-RU" baseline="30000" dirty="0"/>
              <a:t>14</a:t>
            </a:r>
            <a:r>
              <a:rPr lang="ru-RU" dirty="0"/>
              <a:t> -16384 байта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b="1" u="sng" dirty="0"/>
              <a:t>Объем сортируемого отношения</a:t>
            </a:r>
          </a:p>
          <a:p>
            <a:r>
              <a:rPr lang="ru-RU" dirty="0"/>
              <a:t>Кол-во записей 		– 10 000 000,</a:t>
            </a:r>
          </a:p>
          <a:p>
            <a:r>
              <a:rPr lang="ru-RU" dirty="0"/>
              <a:t>Размер записи 		– 160 байт,</a:t>
            </a:r>
          </a:p>
          <a:p>
            <a:r>
              <a:rPr lang="ru-RU" dirty="0"/>
              <a:t>Кол-во занятых блоков 	– 100 000,</a:t>
            </a:r>
          </a:p>
          <a:p>
            <a:pPr>
              <a:buNone/>
            </a:pPr>
            <a:endParaRPr lang="ru-RU" dirty="0"/>
          </a:p>
          <a:p>
            <a:r>
              <a:rPr lang="ru-RU" b="1" u="sng" dirty="0"/>
              <a:t>Параметры компьютера</a:t>
            </a:r>
          </a:p>
          <a:p>
            <a:r>
              <a:rPr lang="ru-RU" dirty="0"/>
              <a:t>Оперативная память для </a:t>
            </a:r>
            <a:r>
              <a:rPr lang="en-US" dirty="0"/>
              <a:t>R</a:t>
            </a:r>
            <a:r>
              <a:rPr lang="ru-RU" dirty="0"/>
              <a:t>	– 100 </a:t>
            </a:r>
            <a:r>
              <a:rPr lang="ru-RU" dirty="0" err="1"/>
              <a:t>Мгб</a:t>
            </a:r>
            <a:endParaRPr lang="ru-RU" dirty="0"/>
          </a:p>
          <a:p>
            <a:pPr>
              <a:lnSpc>
                <a:spcPct val="80000"/>
              </a:lnSpc>
              <a:buNone/>
            </a:pPr>
            <a:endParaRPr lang="ru-RU" sz="3000" dirty="0"/>
          </a:p>
          <a:p>
            <a:pPr>
              <a:lnSpc>
                <a:spcPct val="80000"/>
              </a:lnSpc>
              <a:buNone/>
            </a:pPr>
            <a:r>
              <a:rPr lang="ru-RU" sz="3000" b="1" dirty="0"/>
              <a:t>Вопрос: </a:t>
            </a:r>
          </a:p>
          <a:p>
            <a:pPr>
              <a:lnSpc>
                <a:spcPct val="120000"/>
              </a:lnSpc>
              <a:buNone/>
            </a:pPr>
            <a:r>
              <a:rPr lang="ru-RU" sz="3800" dirty="0"/>
              <a:t>Поможет ли </a:t>
            </a:r>
            <a:r>
              <a:rPr lang="ru-RU" sz="3800" b="1" dirty="0"/>
              <a:t>упорядочение данных по цилиндрам уменьшить общее время </a:t>
            </a:r>
            <a:r>
              <a:rPr lang="ru-RU" sz="3800" dirty="0"/>
              <a:t>сортировки?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17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90168" y="918181"/>
            <a:ext cx="8563663" cy="5669190"/>
          </a:xfrm>
        </p:spPr>
        <p:txBody>
          <a:bodyPr>
            <a:normAutofit/>
          </a:bodyPr>
          <a:lstStyle/>
          <a:p>
            <a:r>
              <a:rPr lang="ru-RU" sz="2000" dirty="0"/>
              <a:t>Первая стадия процесса – </a:t>
            </a:r>
            <a:r>
              <a:rPr lang="ru-RU" sz="2000" b="1" dirty="0"/>
              <a:t>чтение исходных блоков в оперативную память</a:t>
            </a:r>
            <a:r>
              <a:rPr lang="ru-RU" sz="2000" dirty="0"/>
              <a:t>. </a:t>
            </a:r>
          </a:p>
          <a:p>
            <a:r>
              <a:rPr lang="ru-RU" sz="2000" dirty="0"/>
              <a:t>Установили, что оперативная память заполняется данными объемом в 6400 блоков 16 раз.</a:t>
            </a:r>
          </a:p>
          <a:p>
            <a:r>
              <a:rPr lang="ru-RU" sz="2000" dirty="0"/>
              <a:t>Вполне возможно </a:t>
            </a:r>
            <a:r>
              <a:rPr lang="ru-RU" sz="2000" b="1" dirty="0"/>
              <a:t>предусмотреть хранение </a:t>
            </a:r>
            <a:r>
              <a:rPr lang="ru-RU" sz="2000" dirty="0"/>
              <a:t>100 000 блоков данных на </a:t>
            </a:r>
            <a:r>
              <a:rPr lang="ru-RU" sz="2000" b="1" dirty="0"/>
              <a:t>последовательных цилиндрах</a:t>
            </a:r>
            <a:r>
              <a:rPr lang="ru-RU" sz="2000" dirty="0"/>
              <a:t>. </a:t>
            </a:r>
          </a:p>
          <a:p>
            <a:r>
              <a:rPr lang="ru-RU" sz="2000" dirty="0"/>
              <a:t>Каждый из 16384 цилиндров способен хранить около 8 Мбайт информации в 512 блоках. </a:t>
            </a:r>
          </a:p>
          <a:p>
            <a:r>
              <a:rPr lang="ru-RU" sz="2000" dirty="0"/>
              <a:t>Таким образом, для отношения потребуется 196 </a:t>
            </a:r>
            <a:r>
              <a:rPr lang="ru-RU" sz="2000" dirty="0" err="1"/>
              <a:t>цил</a:t>
            </a:r>
            <a:r>
              <a:rPr lang="ru-RU" sz="2000" dirty="0"/>
              <a:t>. (100000/512)</a:t>
            </a:r>
          </a:p>
          <a:p>
            <a:r>
              <a:rPr lang="ru-RU" sz="2000" dirty="0"/>
              <a:t> Для однократного заполнения оперативной памяти  нам придется обращаться к </a:t>
            </a:r>
            <a:r>
              <a:rPr lang="ru-RU" sz="2000" b="1" dirty="0"/>
              <a:t>13 цилиндрам </a:t>
            </a:r>
            <a:r>
              <a:rPr lang="ru-RU" sz="2000" dirty="0"/>
              <a:t>(196/16).</a:t>
            </a:r>
          </a:p>
          <a:p>
            <a:r>
              <a:rPr lang="ru-RU" sz="2000" dirty="0"/>
              <a:t>Чтение данных с одного цилиндра требуется один период времени поиска. Головки потребуется перемешать </a:t>
            </a:r>
            <a:r>
              <a:rPr lang="ru-RU" sz="2000" b="1" dirty="0"/>
              <a:t>от одного соседнего цилиндра к другому 12 раз</a:t>
            </a:r>
          </a:p>
          <a:p>
            <a:r>
              <a:rPr lang="ru-RU" sz="2000" dirty="0"/>
              <a:t>На передвижение блока головок на одну дорожку тратится по 1 </a:t>
            </a:r>
            <a:r>
              <a:rPr lang="ru-RU" sz="2000" dirty="0" err="1"/>
              <a:t>мс</a:t>
            </a:r>
            <a:endParaRPr lang="ru-RU" sz="20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18</a:t>
            </a:fld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248478" y="169330"/>
            <a:ext cx="8647043" cy="655608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Группирование данных по цилиндрам (2)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19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18050" y="1028133"/>
            <a:ext cx="8639969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buFont typeface="Wingdings" pitchFamily="2" charset="2"/>
              <a:buChar char="n"/>
            </a:pPr>
            <a:r>
              <a:rPr lang="ru-RU" sz="2000" dirty="0"/>
              <a:t>Время, необходимое для </a:t>
            </a:r>
            <a:r>
              <a:rPr lang="ru-RU" sz="2000" b="1" dirty="0"/>
              <a:t>однократного считывания </a:t>
            </a:r>
            <a:r>
              <a:rPr lang="ru-RU" sz="2000" dirty="0"/>
              <a:t>исходных данных в </a:t>
            </a:r>
            <a:r>
              <a:rPr lang="ru-RU" sz="2000" dirty="0">
                <a:latin typeface="+mn-lt"/>
                <a:cs typeface="+mn-cs"/>
              </a:rPr>
              <a:t>оперативную память: </a:t>
            </a:r>
          </a:p>
          <a:p>
            <a:pPr marL="800100" lvl="2" indent="-342900" eaLnBrk="0" hangingPunct="0">
              <a:buFont typeface="Wingdings" pitchFamily="2" charset="2"/>
              <a:buChar char="n"/>
            </a:pPr>
            <a:r>
              <a:rPr lang="ru-RU" sz="2000" dirty="0">
                <a:latin typeface="+mn-lt"/>
                <a:cs typeface="+mn-cs"/>
              </a:rPr>
              <a:t>6,46 мс( среднее время операции поиска цилиндра-дорожки)</a:t>
            </a:r>
          </a:p>
          <a:p>
            <a:pPr marL="800100" lvl="2" indent="-342900" eaLnBrk="0" hangingPunct="0">
              <a:buFont typeface="Wingdings" pitchFamily="2" charset="2"/>
              <a:buChar char="n"/>
            </a:pPr>
            <a:r>
              <a:rPr lang="ru-RU" sz="2000" dirty="0">
                <a:latin typeface="+mn-lt"/>
                <a:cs typeface="+mn-cs"/>
              </a:rPr>
              <a:t>12 мс (время поиска каждого из 12 </a:t>
            </a:r>
            <a:r>
              <a:rPr lang="ru-RU" sz="2000" b="1" dirty="0">
                <a:solidFill>
                  <a:srgbClr val="FF0000"/>
                </a:solidFill>
                <a:latin typeface="+mn-lt"/>
                <a:cs typeface="+mn-cs"/>
              </a:rPr>
              <a:t>соседних</a:t>
            </a:r>
            <a:r>
              <a:rPr lang="ru-RU" sz="2000" dirty="0">
                <a:latin typeface="+mn-lt"/>
                <a:cs typeface="+mn-cs"/>
              </a:rPr>
              <a:t> цилиндров)</a:t>
            </a:r>
          </a:p>
          <a:p>
            <a:pPr marL="800100" lvl="2" indent="-342900" eaLnBrk="0" hangingPunct="0">
              <a:buFont typeface="Wingdings" pitchFamily="2" charset="2"/>
              <a:buChar char="n"/>
            </a:pPr>
            <a:r>
              <a:rPr lang="ru-RU" sz="2000" dirty="0">
                <a:latin typeface="+mn-lt"/>
                <a:cs typeface="+mn-cs"/>
              </a:rPr>
              <a:t>1,6 сек. (время передачи 6400 блоков. 0,25*6400 =1600 мс)</a:t>
            </a:r>
          </a:p>
          <a:p>
            <a:pPr marL="342900" indent="-342900" eaLnBrk="0" hangingPunct="0">
              <a:buFont typeface="Wingdings" pitchFamily="2" charset="2"/>
              <a:buChar char="n"/>
            </a:pPr>
            <a:r>
              <a:rPr lang="ru-RU" sz="2000" dirty="0">
                <a:latin typeface="+mn-lt"/>
                <a:cs typeface="+mn-cs"/>
              </a:rPr>
              <a:t>Так как заполнять оперативную память данными приходится 16 раз, общее время считывания данных на первой фазе процесса составляет около </a:t>
            </a:r>
            <a:r>
              <a:rPr lang="en-US" sz="2000" dirty="0">
                <a:latin typeface="+mn-lt"/>
                <a:cs typeface="+mn-cs"/>
              </a:rPr>
              <a:t>16*1,6</a:t>
            </a:r>
            <a:r>
              <a:rPr lang="ru-RU" sz="2000" dirty="0">
                <a:latin typeface="+mn-lt"/>
                <a:cs typeface="+mn-cs"/>
              </a:rPr>
              <a:t> сек </a:t>
            </a:r>
            <a:r>
              <a:rPr lang="ru-RU" sz="2000" dirty="0">
                <a:latin typeface="Times New Roman"/>
                <a:cs typeface="Times New Roman"/>
              </a:rPr>
              <a:t>≈</a:t>
            </a:r>
            <a:r>
              <a:rPr lang="ru-RU" sz="2000" dirty="0">
                <a:latin typeface="+mn-lt"/>
                <a:cs typeface="+mn-cs"/>
              </a:rPr>
              <a:t>26 сек.</a:t>
            </a:r>
          </a:p>
          <a:p>
            <a:pPr marL="342900" indent="-342900" eaLnBrk="0" hangingPunct="0">
              <a:buFont typeface="Wingdings" pitchFamily="2" charset="2"/>
              <a:buChar char="n"/>
            </a:pPr>
            <a:r>
              <a:rPr lang="ru-RU" sz="2000" dirty="0">
                <a:latin typeface="+mn-lt"/>
                <a:cs typeface="+mn-cs"/>
              </a:rPr>
              <a:t>Для сохранения данных 16 отсортированных подсписков нужно тоже время – 26 сек.</a:t>
            </a:r>
          </a:p>
          <a:p>
            <a:pPr marL="342900" indent="-342900" eaLnBrk="0" hangingPunct="0">
              <a:buFont typeface="Wingdings" pitchFamily="2" charset="2"/>
              <a:buChar char="n"/>
            </a:pPr>
            <a:r>
              <a:rPr lang="ru-RU" sz="2000" dirty="0">
                <a:latin typeface="+mn-lt"/>
                <a:cs typeface="+mn-cs"/>
              </a:rPr>
              <a:t>Время первой фазы – </a:t>
            </a:r>
            <a:r>
              <a:rPr lang="ru-RU" sz="2000" b="1" dirty="0">
                <a:latin typeface="+mn-lt"/>
                <a:cs typeface="+mn-cs"/>
              </a:rPr>
              <a:t>52 сек</a:t>
            </a:r>
            <a:r>
              <a:rPr lang="ru-RU" sz="2000" dirty="0">
                <a:latin typeface="+mn-lt"/>
                <a:cs typeface="+mn-cs"/>
              </a:rPr>
              <a:t>, вместо  </a:t>
            </a:r>
            <a:r>
              <a:rPr lang="ru-RU" sz="2000" b="1" dirty="0">
                <a:latin typeface="+mn-lt"/>
                <a:cs typeface="+mn-cs"/>
              </a:rPr>
              <a:t>37 мин </a:t>
            </a:r>
            <a:r>
              <a:rPr lang="ru-RU" sz="2000" dirty="0">
                <a:latin typeface="+mn-lt"/>
                <a:cs typeface="+mn-cs"/>
              </a:rPr>
              <a:t>при случайном доступе.</a:t>
            </a:r>
          </a:p>
          <a:p>
            <a:pPr marL="342900" indent="-342900" eaLnBrk="0" hangingPunct="0">
              <a:buFont typeface="Wingdings" pitchFamily="2" charset="2"/>
              <a:buChar char="n"/>
            </a:pPr>
            <a:r>
              <a:rPr lang="ru-RU" sz="2000" dirty="0">
                <a:latin typeface="+mn-lt"/>
                <a:cs typeface="+mn-cs"/>
              </a:rPr>
              <a:t>На 2-ой фазе блоки </a:t>
            </a:r>
            <a:r>
              <a:rPr lang="ru-RU" sz="2000" dirty="0"/>
              <a:t>считываются с первых позиций 16 отсортированных подсписков в том порядке, который обусловлен свойствами данных </a:t>
            </a:r>
          </a:p>
          <a:p>
            <a:pPr marL="342900" indent="-342900" eaLnBrk="0" hangingPunct="0">
              <a:buFont typeface="Wingdings" pitchFamily="2" charset="2"/>
              <a:buChar char="n"/>
            </a:pPr>
            <a:r>
              <a:rPr lang="ru-RU" sz="2000" dirty="0">
                <a:latin typeface="+mn-lt"/>
                <a:cs typeface="+mn-cs"/>
              </a:rPr>
              <a:t>Поэтому для выполнения 2-ой фазы нужно, как и раньше 37 мин.</a:t>
            </a:r>
          </a:p>
          <a:p>
            <a:pPr marL="342900" indent="-342900" eaLnBrk="0" hangingPunct="0">
              <a:buFont typeface="Wingdings" pitchFamily="2" charset="2"/>
              <a:buChar char="n"/>
            </a:pPr>
            <a:r>
              <a:rPr lang="ru-RU" sz="2000" dirty="0">
                <a:latin typeface="+mn-lt"/>
                <a:cs typeface="+mn-cs"/>
              </a:rPr>
              <a:t>Общее время  при группировке - </a:t>
            </a:r>
            <a:r>
              <a:rPr lang="ru-RU" sz="2000" b="1" dirty="0">
                <a:latin typeface="+mn-lt"/>
                <a:cs typeface="+mn-cs"/>
              </a:rPr>
              <a:t>37 мин 52 сек, вместо 74 мин</a:t>
            </a:r>
            <a:r>
              <a:rPr lang="ru-RU" sz="2000" dirty="0">
                <a:latin typeface="+mn-lt"/>
                <a:cs typeface="+mn-cs"/>
              </a:rPr>
              <a:t>.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48478" y="203196"/>
            <a:ext cx="8647043" cy="65560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ru-RU" sz="3200" kern="0" dirty="0">
                <a:solidFill>
                  <a:schemeClr val="bg2"/>
                </a:solidFill>
              </a:rPr>
              <a:t>Группирование данных по цилиндрам (2)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20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18051" y="1121712"/>
            <a:ext cx="8569275" cy="487803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 eaLnBrk="0" hangingPunct="0">
              <a:lnSpc>
                <a:spcPct val="100000"/>
              </a:lnSpc>
              <a:buFont typeface="Wingdings" pitchFamily="2" charset="2"/>
              <a:buChar char="n"/>
            </a:pPr>
            <a:r>
              <a:rPr lang="ru-RU" dirty="0">
                <a:latin typeface="+mn-lt"/>
                <a:cs typeface="Times New Roman" pitchFamily="18" charset="0"/>
              </a:rPr>
              <a:t>Пропускную способность дисковой системы можно увеличить, если заменить один привод с блоком головок, «связанных» в единое целое, </a:t>
            </a:r>
            <a:r>
              <a:rPr lang="ru-RU" b="1" dirty="0">
                <a:latin typeface="+mn-lt"/>
                <a:cs typeface="Times New Roman" pitchFamily="18" charset="0"/>
              </a:rPr>
              <a:t>НЕСКОЛЬКИМИ</a:t>
            </a:r>
          </a:p>
          <a:p>
            <a:pPr marL="342900" indent="-342900" eaLnBrk="0" hangingPunct="0">
              <a:lnSpc>
                <a:spcPct val="100000"/>
              </a:lnSpc>
              <a:buFont typeface="Wingdings" pitchFamily="2" charset="2"/>
              <a:buChar char="n"/>
            </a:pPr>
            <a:r>
              <a:rPr lang="ru-RU" dirty="0">
                <a:latin typeface="+mn-lt"/>
                <a:cs typeface="Times New Roman" pitchFamily="18" charset="0"/>
              </a:rPr>
              <a:t>То есть </a:t>
            </a:r>
            <a:r>
              <a:rPr lang="ru-RU" b="1" dirty="0">
                <a:latin typeface="+mn-lt"/>
                <a:cs typeface="Times New Roman" pitchFamily="18" charset="0"/>
              </a:rPr>
              <a:t>один контроллер </a:t>
            </a:r>
            <a:r>
              <a:rPr lang="ru-RU" dirty="0">
                <a:latin typeface="+mn-lt"/>
                <a:cs typeface="Times New Roman" pitchFamily="18" charset="0"/>
              </a:rPr>
              <a:t>дисков </a:t>
            </a:r>
            <a:r>
              <a:rPr lang="ru-RU" b="1" dirty="0">
                <a:latin typeface="+mn-lt"/>
                <a:cs typeface="Times New Roman" pitchFamily="18" charset="0"/>
              </a:rPr>
              <a:t>управляет</a:t>
            </a:r>
            <a:r>
              <a:rPr lang="ru-RU" dirty="0">
                <a:latin typeface="+mn-lt"/>
                <a:cs typeface="Times New Roman" pitchFamily="18" charset="0"/>
              </a:rPr>
              <a:t> сразу </a:t>
            </a:r>
            <a:r>
              <a:rPr lang="ru-RU" b="1" dirty="0">
                <a:latin typeface="+mn-lt"/>
                <a:cs typeface="Times New Roman" pitchFamily="18" charset="0"/>
              </a:rPr>
              <a:t>несколькими накопителями</a:t>
            </a:r>
          </a:p>
          <a:p>
            <a:pPr marL="342900" indent="-342900" eaLnBrk="0" hangingPunct="0">
              <a:lnSpc>
                <a:spcPct val="100000"/>
              </a:lnSpc>
              <a:buFont typeface="Wingdings" pitchFamily="2" charset="2"/>
              <a:buChar char="n"/>
            </a:pPr>
            <a:r>
              <a:rPr lang="ru-RU" dirty="0">
                <a:latin typeface="+mn-lt"/>
                <a:cs typeface="Times New Roman" pitchFamily="18" charset="0"/>
              </a:rPr>
              <a:t>Так как производительность контроллера, шины данных и оперативной памяти несравнимо выше производительности накопителей, то общее время уменьшается пропорционально количеству дисковых устройств</a:t>
            </a:r>
          </a:p>
          <a:p>
            <a:pPr marL="342900" indent="-342900" eaLnBrk="0" hangingPunct="0">
              <a:lnSpc>
                <a:spcPct val="100000"/>
              </a:lnSpc>
              <a:buFont typeface="Wingdings" pitchFamily="2" charset="2"/>
              <a:buChar char="n"/>
            </a:pPr>
            <a:endParaRPr lang="ru-RU" dirty="0">
              <a:latin typeface="+mn-lt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48478" y="253995"/>
            <a:ext cx="8647043" cy="4572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ru-RU" sz="2800" kern="0" dirty="0">
                <a:solidFill>
                  <a:schemeClr val="bg2"/>
                </a:solidFill>
              </a:rPr>
              <a:t>Использование нескольких дисковых устройств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21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56461" y="867906"/>
            <a:ext cx="8570563" cy="578086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514350" lvl="0" indent="-514350" eaLnBrk="0" hangingPunct="0">
              <a:lnSpc>
                <a:spcPct val="100000"/>
              </a:lnSpc>
              <a:buClrTx/>
              <a:buSzPct val="90000"/>
            </a:pPr>
            <a:endParaRPr lang="ru-RU" kern="0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48478" y="222999"/>
            <a:ext cx="8647043" cy="4572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ru-RU" sz="2800" kern="0" dirty="0">
                <a:solidFill>
                  <a:schemeClr val="bg2"/>
                </a:solidFill>
              </a:rPr>
              <a:t>Использование нескольких дисковых устройств. Укрупненная схема.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400714"/>
            <a:ext cx="6518365" cy="4722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22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56461" y="867906"/>
            <a:ext cx="8570563" cy="5780868"/>
          </a:xfrm>
          <a:prstGeom prst="rect">
            <a:avLst/>
          </a:prstGeom>
        </p:spPr>
        <p:txBody>
          <a:bodyPr wrap="square">
            <a:normAutofit fontScale="70000" lnSpcReduction="20000"/>
          </a:bodyPr>
          <a:lstStyle/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dirty="0">
                <a:latin typeface="+mn-lt"/>
                <a:cs typeface="Times New Roman" pitchFamily="18" charset="0"/>
              </a:rPr>
              <a:t>Пусть в системе теперь не один, а 4 накопителя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dirty="0">
                <a:latin typeface="+mn-lt"/>
                <a:cs typeface="Times New Roman" pitchFamily="18" charset="0"/>
              </a:rPr>
              <a:t>Проанализируем выше приведенный алгоритм сортировки 2-фазным слиянием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dirty="0">
                <a:latin typeface="+mn-lt"/>
                <a:cs typeface="Times New Roman" pitchFamily="18" charset="0"/>
              </a:rPr>
              <a:t>Разделим </a:t>
            </a:r>
            <a:r>
              <a:rPr lang="en-US" dirty="0">
                <a:latin typeface="+mn-lt"/>
                <a:cs typeface="Times New Roman" pitchFamily="18" charset="0"/>
              </a:rPr>
              <a:t>R </a:t>
            </a:r>
            <a:r>
              <a:rPr lang="ru-RU" dirty="0">
                <a:latin typeface="+mn-lt"/>
                <a:cs typeface="Times New Roman" pitchFamily="18" charset="0"/>
              </a:rPr>
              <a:t>на 4 диска, так чтобы на каждом диске данные хранились на 196 </a:t>
            </a:r>
            <a:r>
              <a:rPr lang="ru-RU" b="1" dirty="0">
                <a:latin typeface="+mn-lt"/>
                <a:cs typeface="Times New Roman" pitchFamily="18" charset="0"/>
              </a:rPr>
              <a:t>соседних цилиндрах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u="sng" dirty="0">
                <a:latin typeface="+mn-lt"/>
                <a:cs typeface="Times New Roman" pitchFamily="18" charset="0"/>
              </a:rPr>
              <a:t>Фаза 1.</a:t>
            </a:r>
            <a:r>
              <a:rPr lang="ru-RU" dirty="0">
                <a:latin typeface="+mn-lt"/>
                <a:cs typeface="Times New Roman" pitchFamily="18" charset="0"/>
              </a:rPr>
              <a:t> При заполнении ОП на 1-ой фазе под данные, считываемые с каждого диска нужно отводить ¼  часть памяти.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dirty="0">
                <a:latin typeface="+mn-lt"/>
                <a:cs typeface="Times New Roman" pitchFamily="18" charset="0"/>
              </a:rPr>
              <a:t>На операцию чтения 1600 блоков с каждого диска (загрузка ¼ памяти) уйдет 400 </a:t>
            </a:r>
            <a:r>
              <a:rPr lang="ru-RU" dirty="0" err="1">
                <a:latin typeface="+mn-lt"/>
                <a:cs typeface="Times New Roman" pitchFamily="18" charset="0"/>
              </a:rPr>
              <a:t>млсек</a:t>
            </a:r>
            <a:r>
              <a:rPr lang="ru-RU" dirty="0">
                <a:latin typeface="+mn-lt"/>
                <a:cs typeface="Times New Roman" pitchFamily="18" charset="0"/>
              </a:rPr>
              <a:t>. А так как система может без потери производительности обслуживать 4 диска одновременно на заполнение 100 Мбайт памяти уйдет 0,4 сек вместо 1,6 сек (когда один диск)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dirty="0">
                <a:latin typeface="+mn-lt"/>
                <a:cs typeface="Times New Roman" pitchFamily="18" charset="0"/>
              </a:rPr>
              <a:t>Аналогично, при записи данных на первой фазе можно распределить содержимое любого из отсортированных списков по 4-ем дискам.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dirty="0">
                <a:latin typeface="+mn-lt"/>
                <a:cs typeface="Times New Roman" pitchFamily="18" charset="0"/>
              </a:rPr>
              <a:t>Итак на 1-ой фазе в целом нужно 13 сек, вместо 52 сек.(группирование по цилиндрам) и 37 мин.(прямой).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87667" y="0"/>
            <a:ext cx="8673453" cy="508521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ru-RU" sz="2000" kern="0" dirty="0">
                <a:solidFill>
                  <a:schemeClr val="bg1"/>
                </a:solidFill>
              </a:rPr>
              <a:t>Использование нескольких </a:t>
            </a:r>
            <a:r>
              <a:rPr lang="ru-RU" sz="2000" kern="0" dirty="0">
                <a:solidFill>
                  <a:schemeClr val="bg2"/>
                </a:solidFill>
              </a:rPr>
              <a:t>дисковых устройств. </a:t>
            </a:r>
            <a:br>
              <a:rPr lang="ru-RU" sz="2000" kern="0" dirty="0">
                <a:solidFill>
                  <a:schemeClr val="bg2"/>
                </a:solidFill>
              </a:rPr>
            </a:br>
            <a:r>
              <a:rPr lang="ru-RU" sz="2000" kern="0" dirty="0">
                <a:solidFill>
                  <a:schemeClr val="bg2"/>
                </a:solidFill>
              </a:rPr>
              <a:t>Сортировка 2- фазным слиянием.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23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18050" y="852075"/>
            <a:ext cx="8700690" cy="5880665"/>
          </a:xfrm>
          <a:prstGeom prst="rect">
            <a:avLst/>
          </a:prstGeom>
        </p:spPr>
        <p:txBody>
          <a:bodyPr wrap="square">
            <a:normAutofit fontScale="70000" lnSpcReduction="20000"/>
          </a:bodyPr>
          <a:lstStyle/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u="sng" dirty="0">
                <a:latin typeface="+mn-lt"/>
                <a:cs typeface="Times New Roman" pitchFamily="18" charset="0"/>
              </a:rPr>
              <a:t>Фаза 2. 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dirty="0">
                <a:latin typeface="+mn-lt"/>
                <a:cs typeface="Times New Roman" pitchFamily="18" charset="0"/>
              </a:rPr>
              <a:t>Считывание и выбор наименьшего из 16 подсписков можно написать так, чтобы сравнение начиналось как только первый элемент подсписка был загружен в память. При этом мы можем ускорить алгоритм, но могут быть случаи, когда 2 сравниваемых блока будут принадлежать одному и тому же подсписку.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dirty="0">
                <a:latin typeface="+mn-lt"/>
                <a:cs typeface="Times New Roman" pitchFamily="18" charset="0"/>
              </a:rPr>
              <a:t>Запись выходного буфера. Для каждого из 4-х дисков можно создать собственный выходной буфер. То есть заполнение одного из буферов может продолжаться во время записи на диски содержимого трех остальных.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dirty="0">
                <a:latin typeface="+mn-lt"/>
                <a:cs typeface="Times New Roman" pitchFamily="18" charset="0"/>
              </a:rPr>
              <a:t>Не возможно гарантировать, что все 4 диска будут функционировать параллельно в течение всего периода сортировки.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dirty="0">
                <a:latin typeface="+mn-lt"/>
                <a:cs typeface="Times New Roman" pitchFamily="18" charset="0"/>
              </a:rPr>
              <a:t>Так что возможный прирост оценивается приближенно 2-3. Если коэффициент 2, то это 18 мин.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dirty="0">
                <a:latin typeface="+mn-lt"/>
                <a:cs typeface="Times New Roman" pitchFamily="18" charset="0"/>
              </a:rPr>
              <a:t>В целом при  замене 1 диска на 4 с использованием стратегии группирования по цилиндрам можно снизить время с 74 мин до 18 мин. 13 сек.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48478" y="253995"/>
            <a:ext cx="8647043" cy="4572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ru-RU" sz="2800" kern="0" dirty="0">
                <a:solidFill>
                  <a:schemeClr val="bg2"/>
                </a:solidFill>
              </a:rPr>
              <a:t>Использование нескольких дисковых устройств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24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24590" y="852075"/>
            <a:ext cx="8614610" cy="5680139"/>
          </a:xfrm>
          <a:prstGeom prst="rect">
            <a:avLst/>
          </a:prstGeom>
        </p:spPr>
        <p:txBody>
          <a:bodyPr wrap="square">
            <a:normAutofit fontScale="92500" lnSpcReduction="10000"/>
          </a:bodyPr>
          <a:lstStyle/>
          <a:p>
            <a:pPr marL="342900" indent="-342900" eaLnBrk="0" hangingPunct="0">
              <a:lnSpc>
                <a:spcPct val="110000"/>
              </a:lnSpc>
              <a:buFont typeface="Wingdings" pitchFamily="2" charset="2"/>
              <a:buChar char="n"/>
            </a:pPr>
            <a:r>
              <a:rPr lang="ru-RU" dirty="0">
                <a:latin typeface="+mn-lt"/>
                <a:cs typeface="Times New Roman" pitchFamily="18" charset="0"/>
              </a:rPr>
              <a:t>Помимо основного предназначения (повышение уровня надежности хранения) зеркальные диски могут выполнять функции увеличения пропускной способности системы.</a:t>
            </a:r>
          </a:p>
          <a:p>
            <a:pPr marL="342900" indent="-342900" eaLnBrk="0" hangingPunct="0">
              <a:lnSpc>
                <a:spcPct val="110000"/>
              </a:lnSpc>
              <a:buFont typeface="Wingdings" pitchFamily="2" charset="2"/>
              <a:buChar char="n"/>
            </a:pPr>
            <a:r>
              <a:rPr lang="ru-RU" dirty="0">
                <a:latin typeface="+mn-lt"/>
                <a:cs typeface="Times New Roman" pitchFamily="18" charset="0"/>
              </a:rPr>
              <a:t>В отличие от предыдущего случая (несколько дисков), когда </a:t>
            </a:r>
            <a:r>
              <a:rPr lang="ru-RU" b="1" dirty="0">
                <a:latin typeface="+mn-lt"/>
                <a:cs typeface="Times New Roman" pitchFamily="18" charset="0"/>
              </a:rPr>
              <a:t>невозможно</a:t>
            </a:r>
            <a:r>
              <a:rPr lang="ru-RU" dirty="0">
                <a:latin typeface="+mn-lt"/>
                <a:cs typeface="Times New Roman" pitchFamily="18" charset="0"/>
              </a:rPr>
              <a:t> гарантировать параллельное считывание на 1-ой фазе, при наличии </a:t>
            </a:r>
            <a:r>
              <a:rPr lang="ru-RU" b="1" dirty="0">
                <a:latin typeface="+mn-lt"/>
                <a:cs typeface="Times New Roman" pitchFamily="18" charset="0"/>
              </a:rPr>
              <a:t>зеркальных</a:t>
            </a:r>
            <a:r>
              <a:rPr lang="ru-RU" dirty="0">
                <a:latin typeface="+mn-lt"/>
                <a:cs typeface="Times New Roman" pitchFamily="18" charset="0"/>
              </a:rPr>
              <a:t> дисков это сделать </a:t>
            </a:r>
            <a:r>
              <a:rPr lang="ru-RU" b="1" dirty="0">
                <a:latin typeface="+mn-lt"/>
                <a:cs typeface="Times New Roman" pitchFamily="18" charset="0"/>
              </a:rPr>
              <a:t>можно.</a:t>
            </a:r>
          </a:p>
          <a:p>
            <a:pPr marL="342900" indent="-342900" eaLnBrk="0" hangingPunct="0">
              <a:lnSpc>
                <a:spcPct val="110000"/>
              </a:lnSpc>
              <a:buFont typeface="Wingdings" pitchFamily="2" charset="2"/>
              <a:buChar char="n"/>
            </a:pPr>
            <a:r>
              <a:rPr lang="ru-RU" dirty="0">
                <a:latin typeface="+mn-lt"/>
                <a:cs typeface="Times New Roman" pitchFamily="18" charset="0"/>
              </a:rPr>
              <a:t>Имея </a:t>
            </a:r>
            <a:r>
              <a:rPr lang="en-US" dirty="0">
                <a:latin typeface="+mn-lt"/>
                <a:cs typeface="Times New Roman" pitchFamily="18" charset="0"/>
              </a:rPr>
              <a:t>N </a:t>
            </a:r>
            <a:r>
              <a:rPr lang="ru-RU" dirty="0">
                <a:latin typeface="+mn-lt"/>
                <a:cs typeface="Times New Roman" pitchFamily="18" charset="0"/>
              </a:rPr>
              <a:t>копий данных,  мы сможем считывать </a:t>
            </a:r>
            <a:r>
              <a:rPr lang="ru-RU" b="1" dirty="0">
                <a:latin typeface="+mn-lt"/>
                <a:cs typeface="Times New Roman" pitchFamily="18" charset="0"/>
              </a:rPr>
              <a:t>параллельно</a:t>
            </a:r>
            <a:r>
              <a:rPr lang="ru-RU" dirty="0">
                <a:latin typeface="+mn-lt"/>
                <a:cs typeface="Times New Roman" pitchFamily="18" charset="0"/>
              </a:rPr>
              <a:t> любые </a:t>
            </a:r>
            <a:r>
              <a:rPr lang="en-US" dirty="0">
                <a:latin typeface="+mn-lt"/>
                <a:cs typeface="Times New Roman" pitchFamily="18" charset="0"/>
              </a:rPr>
              <a:t>N </a:t>
            </a:r>
            <a:r>
              <a:rPr lang="ru-RU" dirty="0">
                <a:latin typeface="+mn-lt"/>
                <a:cs typeface="Times New Roman" pitchFamily="18" charset="0"/>
              </a:rPr>
              <a:t>блоков данных</a:t>
            </a:r>
          </a:p>
          <a:p>
            <a:pPr marL="342900" indent="-342900" eaLnBrk="0" hangingPunct="0">
              <a:lnSpc>
                <a:spcPct val="110000"/>
              </a:lnSpc>
              <a:buFont typeface="Wingdings" pitchFamily="2" charset="2"/>
              <a:buChar char="n"/>
            </a:pPr>
            <a:r>
              <a:rPr lang="ru-RU" dirty="0">
                <a:latin typeface="+mn-lt"/>
                <a:cs typeface="Times New Roman" pitchFamily="18" charset="0"/>
              </a:rPr>
              <a:t>Зеркальные диски не позволяют ускорить процесс на фазе записи, хотя и замедления по сравнению с одним диском не наблюдается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48478" y="253995"/>
            <a:ext cx="8647043" cy="4572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ru-RU" sz="2800" kern="0" dirty="0">
                <a:solidFill>
                  <a:schemeClr val="bg2"/>
                </a:solidFill>
              </a:rPr>
              <a:t>Создание зеркальных копий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25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00208" y="1217965"/>
            <a:ext cx="8795313" cy="5102623"/>
          </a:xfrm>
          <a:prstGeom prst="rect">
            <a:avLst/>
          </a:prstGeom>
        </p:spPr>
        <p:txBody>
          <a:bodyPr wrap="square">
            <a:normAutofit fontScale="92500" lnSpcReduction="20000"/>
          </a:bodyPr>
          <a:lstStyle/>
          <a:p>
            <a:pPr marL="342900" indent="-342900" eaLnBrk="0" hangingPunct="0">
              <a:lnSpc>
                <a:spcPct val="110000"/>
              </a:lnSpc>
              <a:buFont typeface="Wingdings" pitchFamily="2" charset="2"/>
              <a:buChar char="n"/>
            </a:pPr>
            <a:r>
              <a:rPr lang="ru-RU" dirty="0"/>
              <a:t>Способ повышения пропускной способности системы связан с применением алгоритмов , позволяющих </a:t>
            </a:r>
            <a:r>
              <a:rPr lang="ru-RU" i="1" dirty="0"/>
              <a:t>упорядочивать </a:t>
            </a:r>
            <a:r>
              <a:rPr lang="ru-RU" dirty="0"/>
              <a:t>(</a:t>
            </a:r>
            <a:r>
              <a:rPr lang="en-US" dirty="0"/>
              <a:t>schedule</a:t>
            </a:r>
            <a:r>
              <a:rPr lang="ru-RU" dirty="0"/>
              <a:t>) запросы на выполнение дисковых операций во времени и выбирать, какие из них должны обрабатываться первыми.</a:t>
            </a:r>
          </a:p>
          <a:p>
            <a:pPr marL="342900" indent="-342900" eaLnBrk="0" hangingPunct="0">
              <a:lnSpc>
                <a:spcPct val="110000"/>
              </a:lnSpc>
              <a:buFont typeface="Wingdings" pitchFamily="2" charset="2"/>
              <a:buChar char="n"/>
            </a:pPr>
            <a:r>
              <a:rPr lang="ru-RU" dirty="0"/>
              <a:t>Один из простых и эффективных способов упорядочения запросов к диску во времени носит название </a:t>
            </a:r>
            <a:r>
              <a:rPr lang="ru-RU" i="1" dirty="0"/>
              <a:t>алгоритма лифта </a:t>
            </a:r>
            <a:r>
              <a:rPr lang="ru-RU" dirty="0"/>
              <a:t>(</a:t>
            </a:r>
            <a:r>
              <a:rPr lang="en-US" dirty="0"/>
              <a:t>elevator algorithm</a:t>
            </a:r>
            <a:r>
              <a:rPr lang="ru-RU" dirty="0"/>
              <a:t>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eaLnBrk="0" hangingPunct="0">
              <a:lnSpc>
                <a:spcPct val="110000"/>
              </a:lnSpc>
              <a:buFont typeface="Wingdings" pitchFamily="2" charset="2"/>
              <a:buChar char="n"/>
            </a:pPr>
            <a:r>
              <a:rPr lang="ru-RU" dirty="0"/>
              <a:t>Блок головок привода совершает перемещения от внутреннего к внешнему цилиндру и обратно точно так же, как лифт высотного здания, движущийся вертикально вверх и вниз. 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48478" y="253995"/>
            <a:ext cx="8647043" cy="4572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ru-RU" sz="2800" kern="0" dirty="0">
                <a:solidFill>
                  <a:schemeClr val="bg2"/>
                </a:solidFill>
              </a:rPr>
              <a:t>Упорядочивание дисковых операций и алгоритм «лифта»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26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19852" y="1468760"/>
            <a:ext cx="8873836" cy="4756676"/>
          </a:xfrm>
          <a:prstGeom prst="rect">
            <a:avLst/>
          </a:prstGeom>
        </p:spPr>
        <p:txBody>
          <a:bodyPr wrap="square" lIns="36000" tIns="36000" rIns="36000" bIns="36000">
            <a:normAutofit/>
          </a:bodyPr>
          <a:lstStyle/>
          <a:p>
            <a:pPr marL="457200" indent="-457200">
              <a:lnSpc>
                <a:spcPct val="100000"/>
              </a:lnSpc>
              <a:buSzPct val="90000"/>
              <a:buFont typeface="Wingdings" pitchFamily="2" charset="2"/>
              <a:buChar char="v"/>
            </a:pPr>
            <a:r>
              <a:rPr lang="ru-RU" sz="2400" dirty="0"/>
              <a:t>Если один или несколько запросов предусматривают обращение к </a:t>
            </a:r>
            <a:r>
              <a:rPr lang="ru-RU" sz="2400" b="1" dirty="0"/>
              <a:t>некоторому цилиндру</a:t>
            </a:r>
            <a:r>
              <a:rPr lang="ru-RU" sz="2400" dirty="0"/>
              <a:t>, головки перемещаются к этому цилиндру и выполняют требуемые операции чтения и/или записи. </a:t>
            </a:r>
          </a:p>
          <a:p>
            <a:pPr marL="457200" indent="-457200">
              <a:lnSpc>
                <a:spcPct val="100000"/>
              </a:lnSpc>
              <a:buSzPct val="90000"/>
              <a:buFont typeface="Wingdings" pitchFamily="2" charset="2"/>
              <a:buChar char="v"/>
            </a:pPr>
            <a:r>
              <a:rPr lang="ru-RU" sz="2400" dirty="0"/>
              <a:t>Затем головки </a:t>
            </a:r>
            <a:r>
              <a:rPr lang="ru-RU" sz="2400" b="1" dirty="0"/>
              <a:t>продолжают движение в том же направлении </a:t>
            </a:r>
            <a:r>
              <a:rPr lang="ru-RU" sz="2400" dirty="0"/>
              <a:t>до достижения </a:t>
            </a:r>
            <a:r>
              <a:rPr lang="ru-RU" sz="2400" b="1" dirty="0"/>
              <a:t>очередного запрошенного </a:t>
            </a:r>
            <a:r>
              <a:rPr lang="ru-RU" sz="2400" dirty="0"/>
              <a:t>цилиндра. </a:t>
            </a:r>
          </a:p>
          <a:p>
            <a:pPr marL="457200" indent="-457200">
              <a:lnSpc>
                <a:spcPct val="100000"/>
              </a:lnSpc>
              <a:buSzPct val="90000"/>
              <a:buFont typeface="Wingdings" pitchFamily="2" charset="2"/>
              <a:buChar char="v"/>
            </a:pPr>
            <a:r>
              <a:rPr lang="ru-RU" sz="2400" dirty="0"/>
              <a:t>Если среди поступивших запросов </a:t>
            </a:r>
            <a:r>
              <a:rPr lang="ru-RU" sz="2400" b="1" dirty="0"/>
              <a:t>нет таких</a:t>
            </a:r>
            <a:r>
              <a:rPr lang="ru-RU" sz="2400" dirty="0"/>
              <a:t>, которые предусматривали бы </a:t>
            </a:r>
            <a:r>
              <a:rPr lang="ru-RU" sz="2400" b="1" dirty="0"/>
              <a:t>обращение к следующим по порядку </a:t>
            </a:r>
            <a:r>
              <a:rPr lang="ru-RU" sz="2400" dirty="0"/>
              <a:t>цилиндрам, направление перемещения блока головок изменяется </a:t>
            </a:r>
            <a:r>
              <a:rPr lang="ru-RU" sz="2400" b="1" dirty="0"/>
              <a:t>на противоположное</a:t>
            </a:r>
            <a:r>
              <a:rPr lang="ru-RU" sz="2400" dirty="0"/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48478" y="253995"/>
            <a:ext cx="8647043" cy="4572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ru-RU" sz="2800" dirty="0">
                <a:solidFill>
                  <a:schemeClr val="bg2"/>
                </a:solidFill>
              </a:rPr>
              <a:t>Упорядочение дисковых операций </a:t>
            </a:r>
            <a:br>
              <a:rPr lang="ru-RU" sz="2800" dirty="0">
                <a:solidFill>
                  <a:schemeClr val="bg2"/>
                </a:solidFill>
              </a:rPr>
            </a:br>
            <a:r>
              <a:rPr lang="ru-RU" sz="2800" dirty="0">
                <a:solidFill>
                  <a:schemeClr val="bg2"/>
                </a:solidFill>
              </a:rPr>
              <a:t>и «алгоритм лифта»</a:t>
            </a:r>
            <a:endParaRPr lang="ru-RU" sz="2800" kern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27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23720" y="790415"/>
            <a:ext cx="8363819" cy="5842860"/>
          </a:xfrm>
          <a:prstGeom prst="rect">
            <a:avLst/>
          </a:prstGeom>
        </p:spPr>
        <p:txBody>
          <a:bodyPr wrap="square" lIns="36000" tIns="36000" rIns="36000" bIns="36000"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q"/>
            </a:pPr>
            <a:r>
              <a:rPr lang="ru-RU" sz="2400" dirty="0"/>
              <a:t>Предположим, что к некоторому (нулевому) моменту времени поступили </a:t>
            </a:r>
            <a:r>
              <a:rPr lang="ru-RU" sz="2400" b="1" dirty="0"/>
              <a:t>три запроса</a:t>
            </a:r>
            <a:r>
              <a:rPr lang="ru-RU" sz="2400" dirty="0"/>
              <a:t>, предусматривающие обращение к блокам данных, размещенным на цилиндрах с номерами 2000, 6000 и 14000 </a:t>
            </a:r>
          </a:p>
          <a:p>
            <a:pPr indent="-4572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q"/>
            </a:pPr>
            <a:r>
              <a:rPr lang="ru-RU" sz="2400" dirty="0"/>
              <a:t>Блок головок расположен напротив цилиндра 2000.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q"/>
            </a:pPr>
            <a:r>
              <a:rPr lang="ru-RU" sz="2400" dirty="0"/>
              <a:t> Помимо того, предположим, что в скором времени должны поступить еще три запроса. 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48478" y="253995"/>
            <a:ext cx="8647043" cy="4572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ru-RU" sz="2800" dirty="0">
                <a:solidFill>
                  <a:schemeClr val="bg2"/>
                </a:solidFill>
              </a:rPr>
              <a:t>Пример «Алгоритм лифта»</a:t>
            </a:r>
            <a:endParaRPr lang="ru-RU" sz="2800" kern="0" dirty="0">
              <a:solidFill>
                <a:schemeClr val="bg2"/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214180"/>
              </p:ext>
            </p:extLst>
          </p:nvPr>
        </p:nvGraphicFramePr>
        <p:xfrm>
          <a:off x="1396970" y="3640830"/>
          <a:ext cx="5904855" cy="2926080"/>
        </p:xfrm>
        <a:graphic>
          <a:graphicData uri="http://schemas.openxmlformats.org/drawingml/2006/table">
            <a:tbl>
              <a:tblPr/>
              <a:tblGrid>
                <a:gridCol w="258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0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8115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+mn-lt"/>
                          <a:ea typeface="Times New Roman"/>
                        </a:rPr>
                        <a:t>Номер цилиндра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+mn-lt"/>
                          <a:ea typeface="Times New Roman"/>
                        </a:rPr>
                        <a:t>Момент поступления запроса (</a:t>
                      </a:r>
                      <a:r>
                        <a:rPr lang="ru-RU" sz="2400" dirty="0" err="1">
                          <a:latin typeface="+mn-lt"/>
                          <a:ea typeface="Times New Roman"/>
                        </a:rPr>
                        <a:t>млсек</a:t>
                      </a:r>
                      <a:r>
                        <a:rPr lang="ru-RU" sz="2400" dirty="0">
                          <a:latin typeface="+mn-lt"/>
                          <a:ea typeface="Times New Roman"/>
                        </a:rPr>
                        <a:t>)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057">
                <a:tc>
                  <a:txBody>
                    <a:bodyPr/>
                    <a:lstStyle/>
                    <a:p>
                      <a:pPr marL="0" indent="0" algn="r">
                        <a:spcAft>
                          <a:spcPts val="0"/>
                        </a:spcAft>
                      </a:pPr>
                      <a:r>
                        <a:rPr lang="ru-RU" sz="2400" spc="-20" dirty="0">
                          <a:latin typeface="+mn-lt"/>
                          <a:ea typeface="Times New Roman"/>
                        </a:rPr>
                        <a:t>2000</a:t>
                      </a:r>
                      <a:endParaRPr lang="ru-RU" sz="2400" dirty="0">
                        <a:latin typeface="+mn-lt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0"/>
                        </a:spcAft>
                      </a:pPr>
                      <a:r>
                        <a:rPr lang="ru-RU" sz="2400">
                          <a:latin typeface="+mn-lt"/>
                          <a:ea typeface="Times New Roman"/>
                        </a:rPr>
                        <a:t>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057">
                <a:tc>
                  <a:txBody>
                    <a:bodyPr/>
                    <a:lstStyle/>
                    <a:p>
                      <a:pPr marL="0" indent="0" algn="r">
                        <a:spcAft>
                          <a:spcPts val="0"/>
                        </a:spcAft>
                      </a:pPr>
                      <a:r>
                        <a:rPr lang="ru-RU" sz="2400" spc="-15" dirty="0">
                          <a:latin typeface="+mn-lt"/>
                          <a:ea typeface="Times New Roman"/>
                        </a:rPr>
                        <a:t>6000</a:t>
                      </a:r>
                      <a:endParaRPr lang="ru-RU" sz="2400" dirty="0">
                        <a:latin typeface="+mn-lt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+mn-lt"/>
                          <a:ea typeface="Times New Roman"/>
                        </a:rPr>
                        <a:t>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057">
                <a:tc>
                  <a:txBody>
                    <a:bodyPr/>
                    <a:lstStyle/>
                    <a:p>
                      <a:pPr marL="0" indent="0" algn="r">
                        <a:spcAft>
                          <a:spcPts val="0"/>
                        </a:spcAft>
                      </a:pPr>
                      <a:r>
                        <a:rPr lang="ru-RU" sz="2400" spc="-30" dirty="0">
                          <a:latin typeface="+mn-lt"/>
                          <a:ea typeface="Times New Roman"/>
                        </a:rPr>
                        <a:t>14000</a:t>
                      </a:r>
                      <a:endParaRPr lang="ru-RU" sz="2400" dirty="0">
                        <a:latin typeface="+mn-lt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0"/>
                        </a:spcAft>
                      </a:pPr>
                      <a:r>
                        <a:rPr lang="ru-RU" sz="2400">
                          <a:latin typeface="+mn-lt"/>
                          <a:ea typeface="Times New Roman"/>
                        </a:rPr>
                        <a:t>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057">
                <a:tc>
                  <a:txBody>
                    <a:bodyPr/>
                    <a:lstStyle/>
                    <a:p>
                      <a:pPr marL="0" indent="0" algn="r">
                        <a:spcAft>
                          <a:spcPts val="0"/>
                        </a:spcAft>
                      </a:pPr>
                      <a:r>
                        <a:rPr lang="ru-RU" sz="2400" spc="-15" dirty="0">
                          <a:latin typeface="+mn-lt"/>
                          <a:ea typeface="Times New Roman"/>
                        </a:rPr>
                        <a:t>4000</a:t>
                      </a:r>
                      <a:endParaRPr lang="ru-RU" sz="2400" dirty="0">
                        <a:latin typeface="+mn-lt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+mn-lt"/>
                          <a:ea typeface="Times New Roman"/>
                        </a:rPr>
                        <a:t>10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057">
                <a:tc>
                  <a:txBody>
                    <a:bodyPr/>
                    <a:lstStyle/>
                    <a:p>
                      <a:pPr marL="0" indent="0" algn="r">
                        <a:spcAft>
                          <a:spcPts val="0"/>
                        </a:spcAft>
                      </a:pPr>
                      <a:r>
                        <a:rPr lang="ru-RU" sz="2400" spc="-30" dirty="0">
                          <a:latin typeface="+mn-lt"/>
                          <a:ea typeface="Times New Roman"/>
                        </a:rPr>
                        <a:t>16000</a:t>
                      </a:r>
                      <a:endParaRPr lang="ru-RU" sz="2400" dirty="0">
                        <a:latin typeface="+mn-lt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+mn-lt"/>
                          <a:ea typeface="Times New Roman"/>
                        </a:rPr>
                        <a:t>20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057">
                <a:tc>
                  <a:txBody>
                    <a:bodyPr/>
                    <a:lstStyle/>
                    <a:p>
                      <a:pPr marL="0" indent="0" algn="r">
                        <a:spcAft>
                          <a:spcPts val="0"/>
                        </a:spcAft>
                      </a:pPr>
                      <a:r>
                        <a:rPr lang="ru-RU" sz="2400" spc="-25" dirty="0">
                          <a:latin typeface="+mn-lt"/>
                          <a:ea typeface="Times New Roman"/>
                        </a:rPr>
                        <a:t>10000</a:t>
                      </a:r>
                      <a:endParaRPr lang="ru-RU" sz="2400" dirty="0">
                        <a:latin typeface="+mn-lt"/>
                        <a:ea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+mn-lt"/>
                          <a:ea typeface="Times New Roman"/>
                        </a:rPr>
                        <a:t>30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Стрелка вправо 6"/>
          <p:cNvSpPr/>
          <p:nvPr/>
        </p:nvSpPr>
        <p:spPr>
          <a:xfrm>
            <a:off x="513568" y="4505386"/>
            <a:ext cx="629434" cy="124691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28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40964" y="821411"/>
            <a:ext cx="8385942" cy="4965435"/>
          </a:xfrm>
          <a:prstGeom prst="rect">
            <a:avLst/>
          </a:prstGeom>
        </p:spPr>
        <p:txBody>
          <a:bodyPr wrap="square" lIns="36000" tIns="36000" rIns="36000" bIns="36000">
            <a:normAutofit fontScale="77500" lnSpcReduction="20000"/>
          </a:bodyPr>
          <a:lstStyle/>
          <a:p>
            <a:pPr indent="457200">
              <a:lnSpc>
                <a:spcPct val="120000"/>
              </a:lnSpc>
              <a:spcBef>
                <a:spcPts val="600"/>
              </a:spcBef>
              <a:buSzPct val="90000"/>
              <a:buFont typeface="Wingdings" pitchFamily="2" charset="2"/>
              <a:buChar char="v"/>
            </a:pPr>
            <a:r>
              <a:rPr lang="ru-RU" sz="2400" dirty="0"/>
              <a:t>Время передачи составляет 0,25 </a:t>
            </a:r>
            <a:r>
              <a:rPr lang="ru-RU" sz="2400" dirty="0" err="1"/>
              <a:t>млсек</a:t>
            </a:r>
            <a:r>
              <a:rPr lang="ru-RU" sz="2400" dirty="0"/>
              <a:t>, а время оборота — 4,17 </a:t>
            </a:r>
            <a:r>
              <a:rPr lang="ru-RU" sz="2400" dirty="0" err="1"/>
              <a:t>млсек</a:t>
            </a:r>
            <a:r>
              <a:rPr lang="ru-RU" sz="2400" dirty="0"/>
              <a:t>, т.е. для выполнения одной операции с блоком требуется период времени, равный 4,42 </a:t>
            </a:r>
            <a:r>
              <a:rPr lang="ru-RU" sz="2400" dirty="0" err="1"/>
              <a:t>млсек</a:t>
            </a:r>
            <a:r>
              <a:rPr lang="ru-RU" sz="2400" dirty="0"/>
              <a:t> плюс соответствующее время поиска конкретного цилиндра. </a:t>
            </a:r>
          </a:p>
          <a:p>
            <a:pPr indent="457200">
              <a:lnSpc>
                <a:spcPct val="120000"/>
              </a:lnSpc>
              <a:spcBef>
                <a:spcPts val="600"/>
              </a:spcBef>
              <a:buSzPct val="90000"/>
              <a:buFont typeface="Wingdings" pitchFamily="2" charset="2"/>
              <a:buChar char="v"/>
            </a:pPr>
            <a:r>
              <a:rPr lang="ru-RU" sz="2400" dirty="0"/>
              <a:t>Время поиска легко вычислить, пользуясь правилом:1 плюс количество дорожек, поделенное на 1000 в секундах. </a:t>
            </a:r>
          </a:p>
          <a:p>
            <a:pPr indent="457200">
              <a:lnSpc>
                <a:spcPct val="120000"/>
              </a:lnSpc>
              <a:spcBef>
                <a:spcPts val="600"/>
              </a:spcBef>
              <a:buSzPct val="90000"/>
              <a:buFont typeface="Wingdings" pitchFamily="2" charset="2"/>
              <a:buChar char="v"/>
            </a:pPr>
            <a:r>
              <a:rPr lang="ru-RU" sz="2400" dirty="0"/>
              <a:t>Для обработки запроса, обращенного к цилиндру 2000, выполнять поиск не требуется, поскольку блок головок находится уже здесь.</a:t>
            </a:r>
          </a:p>
          <a:p>
            <a:pPr indent="457200">
              <a:lnSpc>
                <a:spcPct val="120000"/>
              </a:lnSpc>
              <a:spcBef>
                <a:spcPts val="600"/>
              </a:spcBef>
              <a:buSzPct val="90000"/>
              <a:buFont typeface="Wingdings" pitchFamily="2" charset="2"/>
              <a:buChar char="v"/>
            </a:pPr>
            <a:r>
              <a:rPr lang="ru-RU" sz="2400" dirty="0"/>
              <a:t>Поэтому к моменту 4,42 этот запрос будет полностью обработан. </a:t>
            </a:r>
          </a:p>
          <a:p>
            <a:pPr indent="457200">
              <a:lnSpc>
                <a:spcPct val="120000"/>
              </a:lnSpc>
              <a:spcBef>
                <a:spcPts val="600"/>
              </a:spcBef>
              <a:buSzPct val="90000"/>
              <a:buFont typeface="Wingdings" pitchFamily="2" charset="2"/>
              <a:buChar char="v"/>
            </a:pPr>
            <a:r>
              <a:rPr lang="ru-RU" sz="2400" dirty="0"/>
              <a:t>Запрос к цилиндру 4000 еще не поступил, поэтому головки перемещаются </a:t>
            </a:r>
            <a:r>
              <a:rPr lang="ru-RU" sz="2400" i="1" dirty="0"/>
              <a:t>к </a:t>
            </a:r>
            <a:r>
              <a:rPr lang="ru-RU" sz="2400" dirty="0"/>
              <a:t>цилиндру 6000. </a:t>
            </a:r>
          </a:p>
          <a:p>
            <a:pPr indent="457200">
              <a:lnSpc>
                <a:spcPct val="120000"/>
              </a:lnSpc>
              <a:spcBef>
                <a:spcPts val="600"/>
              </a:spcBef>
              <a:buSzPct val="90000"/>
              <a:buFont typeface="Wingdings" pitchFamily="2" charset="2"/>
              <a:buChar char="v"/>
            </a:pPr>
            <a:r>
              <a:rPr lang="ru-RU" sz="2400" dirty="0"/>
              <a:t>Интервал времени перехода с цилиндра 2000 к цилиндру 6000 равен 5 миллисекундам, поэтому обработка второго запроса начинается в момент 9,42 и завершается по прошествии 4,42 миллисекунды, т.е. к моменту 13,84. 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48478" y="253995"/>
            <a:ext cx="8647043" cy="4572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ru-RU" sz="2800" dirty="0">
                <a:solidFill>
                  <a:schemeClr val="bg2"/>
                </a:solidFill>
              </a:rPr>
              <a:t>Действие «алгоритма лифта»</a:t>
            </a:r>
            <a:endParaRPr lang="ru-RU" sz="2800" kern="0" dirty="0">
              <a:solidFill>
                <a:schemeClr val="bg2"/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612572" y="5408022"/>
          <a:ext cx="446749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3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266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bg2"/>
                          </a:solidFill>
                          <a:latin typeface="Times New Roman"/>
                          <a:ea typeface="Times New Roman"/>
                        </a:rPr>
                        <a:t>Номер цилиндра</a:t>
                      </a:r>
                    </a:p>
                  </a:txBody>
                  <a:tcPr marL="25400" marR="25400" marT="0" marB="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bg2"/>
                          </a:solidFill>
                          <a:latin typeface="Times New Roman"/>
                          <a:ea typeface="Times New Roman"/>
                        </a:rPr>
                        <a:t>Момент завершения</a:t>
                      </a:r>
                    </a:p>
                  </a:txBody>
                  <a:tcPr marL="25400" marR="254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63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2000</a:t>
                      </a:r>
                    </a:p>
                  </a:txBody>
                  <a:tcPr marL="25400" marR="25400" marT="0" marB="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4,42</a:t>
                      </a:r>
                    </a:p>
                  </a:txBody>
                  <a:tcPr marL="25400" marR="254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63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6000</a:t>
                      </a:r>
                    </a:p>
                  </a:txBody>
                  <a:tcPr marL="25400" marR="25400" marT="0" marB="0"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13,84</a:t>
                      </a:r>
                    </a:p>
                  </a:txBody>
                  <a:tcPr marL="25400" marR="2540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29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01774" y="677717"/>
            <a:ext cx="8633219" cy="6036589"/>
          </a:xfrm>
          <a:prstGeom prst="rect">
            <a:avLst/>
          </a:prstGeom>
        </p:spPr>
        <p:txBody>
          <a:bodyPr wrap="square" lIns="36000" tIns="36000" rIns="36000" bIns="36000">
            <a:normAutofit fontScale="77500" lnSpcReduction="20000"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ru-RU" sz="2400" dirty="0"/>
              <a:t>Теперь запрос, обращенный к цилиндру 4000, уже активизирован, но головки "проскочили" этот цилиндр в момент времени 7,42 и не вернутся к нему до тех пор, пока не будут обработаны все запросы к "дальним" цилиндрам.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ru-RU" sz="2400" dirty="0"/>
              <a:t>Сейчас настал черед обслуживания запроса к цилиндру 14000, и на перемещение к нему будет затрачено 9 миллисекунд, а на считывание блока — еще 4,42 миллисекунды. 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ru-RU" sz="2400" dirty="0"/>
              <a:t>Таким образом, обработка третьего запроса завершится к моменту 27,26. 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ru-RU" sz="2400" dirty="0"/>
              <a:t>Сейчас уже поступил запрос к цилиндру 16000, поэтому движение головок в выбранном направлении продолжается. 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ru-RU" sz="2400" dirty="0"/>
              <a:t>Время поиска составит 3 миллисекунды, так что операция будет полностью завершена к моменту </a:t>
            </a:r>
            <a:br>
              <a:rPr lang="ru-RU" sz="2400" dirty="0"/>
            </a:br>
            <a:r>
              <a:rPr lang="ru-RU" sz="2400" dirty="0"/>
              <a:t>27,26 + 3 + 4,42 = 34.68.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ru-RU" sz="2400" dirty="0"/>
              <a:t>Теперь "прибыл" и запрос к цилиндру 10000, так что остаются необработанными всего два запроса, адресованные к цилиндрам 10000 и 4000, и запросов к цилиндрам с более высокими номерами нет. 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ru-RU" sz="2400" dirty="0"/>
              <a:t>Поэтому направление перемещения головок изменяется, и последовательно обслуживаются два оставшихся запроса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61541" y="0"/>
            <a:ext cx="8647043" cy="4572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ru-RU" sz="2800" dirty="0">
                <a:solidFill>
                  <a:schemeClr val="bg1"/>
                </a:solidFill>
              </a:rPr>
              <a:t>Действие </a:t>
            </a:r>
            <a:r>
              <a:rPr lang="ru-RU" sz="2800" dirty="0">
                <a:solidFill>
                  <a:schemeClr val="bg2"/>
                </a:solidFill>
              </a:rPr>
              <a:t>«алгоритма лифта»</a:t>
            </a:r>
            <a:endParaRPr lang="ru-RU" sz="2800" kern="0" dirty="0">
              <a:solidFill>
                <a:schemeClr val="bg2"/>
              </a:solidFill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4001589" y="4624250"/>
          <a:ext cx="4293326" cy="1934417"/>
        </p:xfrm>
        <a:graphic>
          <a:graphicData uri="http://schemas.openxmlformats.org/drawingml/2006/table">
            <a:tbl>
              <a:tblPr/>
              <a:tblGrid>
                <a:gridCol w="1902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0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237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bg2"/>
                          </a:solidFill>
                          <a:latin typeface="Times New Roman"/>
                          <a:ea typeface="Times New Roman"/>
                        </a:rPr>
                        <a:t>Номер цилиндра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bg2"/>
                          </a:solidFill>
                          <a:latin typeface="Times New Roman"/>
                          <a:ea typeface="Times New Roman"/>
                        </a:rPr>
                        <a:t>Момент завершения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045"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14000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27,26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045"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16000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34,68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045"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10000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46,10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045"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</a:rPr>
                        <a:t>4000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</a:rPr>
                        <a:t>57,52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30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40964" y="821411"/>
            <a:ext cx="8385942" cy="5811864"/>
          </a:xfrm>
          <a:prstGeom prst="rect">
            <a:avLst/>
          </a:prstGeom>
        </p:spPr>
        <p:txBody>
          <a:bodyPr wrap="square" lIns="36000" tIns="36000" rIns="36000" bIns="36000">
            <a:normAutofit/>
          </a:bodyPr>
          <a:lstStyle/>
          <a:p>
            <a:endParaRPr lang="ru-RU" sz="2400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48478" y="253995"/>
            <a:ext cx="8647043" cy="4572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ru-RU" sz="2800" dirty="0">
                <a:solidFill>
                  <a:schemeClr val="bg2"/>
                </a:solidFill>
              </a:rPr>
              <a:t>Действие «алгоритма лифта»</a:t>
            </a:r>
            <a:endParaRPr lang="ru-RU" sz="2800" kern="0" dirty="0">
              <a:solidFill>
                <a:schemeClr val="bg2"/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789607" y="1453741"/>
          <a:ext cx="4657688" cy="4105686"/>
        </p:xfrm>
        <a:graphic>
          <a:graphicData uri="http://schemas.openxmlformats.org/drawingml/2006/table">
            <a:tbl>
              <a:tblPr/>
              <a:tblGrid>
                <a:gridCol w="1894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5432"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Номер цилиндра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Момент завершения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041"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2000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4,42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041"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800">
                          <a:latin typeface="Times New Roman"/>
                          <a:ea typeface="Times New Roman"/>
                        </a:rPr>
                        <a:t>6000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13,84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041"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14000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27,26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041"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16000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34,68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041"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10000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46,10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041"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800">
                          <a:latin typeface="Times New Roman"/>
                          <a:ea typeface="Times New Roman"/>
                        </a:rPr>
                        <a:t>4000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57,52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>
          <a:xfrm>
            <a:off x="8311246" y="6183084"/>
            <a:ext cx="506186" cy="609600"/>
          </a:xfrm>
        </p:spPr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31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24590" y="3914274"/>
            <a:ext cx="8566484" cy="240631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342900" indent="-342900" eaLnBrk="0" hangingPunct="0">
              <a:buFont typeface="Wingdings" pitchFamily="2" charset="2"/>
              <a:buChar char="n"/>
            </a:pPr>
            <a:endParaRPr lang="ru-RU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48478" y="253995"/>
            <a:ext cx="8647043" cy="4572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ru-RU" sz="2800" kern="0" dirty="0">
                <a:solidFill>
                  <a:schemeClr val="bg2"/>
                </a:solidFill>
              </a:rPr>
              <a:t>Пример «алгоритм лифта»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477538"/>
              </p:ext>
            </p:extLst>
          </p:nvPr>
        </p:nvGraphicFramePr>
        <p:xfrm>
          <a:off x="928619" y="1448166"/>
          <a:ext cx="7576554" cy="4433088"/>
        </p:xfrm>
        <a:graphic>
          <a:graphicData uri="http://schemas.openxmlformats.org/drawingml/2006/table">
            <a:tbl>
              <a:tblPr/>
              <a:tblGrid>
                <a:gridCol w="996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0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35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08272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Номер цилиндра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Момент поступления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Times New Roman"/>
                          <a:cs typeface="Times New Roman"/>
                        </a:rPr>
                        <a:t>FIFO</a:t>
                      </a:r>
                      <a:endParaRPr lang="ru-RU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Завершение</a:t>
                      </a:r>
                      <a:r>
                        <a:rPr lang="ru-RU" sz="2400" baseline="0" dirty="0">
                          <a:latin typeface="Times New Roman"/>
                          <a:ea typeface="Times New Roman"/>
                          <a:cs typeface="Times New Roman"/>
                        </a:rPr>
                        <a:t> в</a:t>
                      </a: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ремени</a:t>
                      </a:r>
                      <a:r>
                        <a:rPr lang="ru-RU" sz="2400" baseline="0" dirty="0">
                          <a:latin typeface="Times New Roman"/>
                          <a:ea typeface="Times New Roman"/>
                          <a:cs typeface="Times New Roman"/>
                        </a:rPr>
                        <a:t> обработки </a:t>
                      </a: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«лифт»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136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spc="-20" dirty="0">
                          <a:latin typeface="Times New Roman"/>
                          <a:ea typeface="Times New Roman"/>
                          <a:cs typeface="Times New Roman"/>
                        </a:rPr>
                        <a:t>2000</a:t>
                      </a:r>
                      <a:endParaRPr lang="ru-RU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4,42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4,17+0,25=4,42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136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spc="-15">
                          <a:latin typeface="Times New Roman"/>
                          <a:ea typeface="Times New Roman"/>
                          <a:cs typeface="Times New Roman"/>
                        </a:rPr>
                        <a:t>6000</a:t>
                      </a:r>
                      <a:endParaRPr lang="ru-RU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13,84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13,84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136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spc="-30">
                          <a:latin typeface="Times New Roman"/>
                          <a:ea typeface="Times New Roman"/>
                          <a:cs typeface="Times New Roman"/>
                        </a:rPr>
                        <a:t>14000</a:t>
                      </a:r>
                      <a:endParaRPr lang="ru-RU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27,26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27,26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136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spc="-15">
                          <a:latin typeface="Times New Roman"/>
                          <a:ea typeface="Times New Roman"/>
                          <a:cs typeface="Times New Roman"/>
                        </a:rPr>
                        <a:t>4000</a:t>
                      </a:r>
                      <a:endParaRPr lang="ru-RU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42,68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57,52 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136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spc="-30" dirty="0">
                          <a:latin typeface="Times New Roman"/>
                          <a:ea typeface="Times New Roman"/>
                          <a:cs typeface="Times New Roman"/>
                        </a:rPr>
                        <a:t>16000</a:t>
                      </a:r>
                      <a:endParaRPr lang="ru-RU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Times New Roman"/>
                          <a:cs typeface="Times New Roman"/>
                        </a:rPr>
                        <a:t>60,10</a:t>
                      </a:r>
                      <a:endParaRPr lang="ru-RU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34,68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136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spc="-25">
                          <a:latin typeface="Times New Roman"/>
                          <a:ea typeface="Times New Roman"/>
                          <a:cs typeface="Times New Roman"/>
                        </a:rPr>
                        <a:t>10000</a:t>
                      </a:r>
                      <a:endParaRPr lang="ru-RU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Times New Roman"/>
                          <a:cs typeface="Times New Roman"/>
                        </a:rPr>
                        <a:t>71,52</a:t>
                      </a:r>
                      <a:endParaRPr lang="ru-RU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46,10 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Стрелка вправо с вырезом 7"/>
          <p:cNvSpPr/>
          <p:nvPr/>
        </p:nvSpPr>
        <p:spPr>
          <a:xfrm>
            <a:off x="354021" y="2702275"/>
            <a:ext cx="433137" cy="12833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Выгнутая вправо стрелка 9"/>
          <p:cNvSpPr/>
          <p:nvPr/>
        </p:nvSpPr>
        <p:spPr>
          <a:xfrm>
            <a:off x="7424518" y="3897303"/>
            <a:ext cx="345893" cy="113409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Выгнутая вправо стрелка 10"/>
          <p:cNvSpPr/>
          <p:nvPr/>
        </p:nvSpPr>
        <p:spPr>
          <a:xfrm>
            <a:off x="7473505" y="5058151"/>
            <a:ext cx="296906" cy="546267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3" name="Выгнутая вправо стрелка 12"/>
          <p:cNvSpPr/>
          <p:nvPr/>
        </p:nvSpPr>
        <p:spPr>
          <a:xfrm rot="10800000">
            <a:off x="6277812" y="4464350"/>
            <a:ext cx="387457" cy="111782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32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48478" y="1189370"/>
            <a:ext cx="8647042" cy="5880665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Методика повышения эффективности использования вторичных устройств хранения связана с </a:t>
            </a:r>
            <a:r>
              <a:rPr lang="ru-RU" sz="1600" i="1" dirty="0">
                <a:latin typeface="Times New Roman" pitchFamily="18" charset="0"/>
                <a:cs typeface="Times New Roman" pitchFamily="18" charset="0"/>
              </a:rPr>
              <a:t>предварительным считыванием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prefetching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), или </a:t>
            </a:r>
            <a:r>
              <a:rPr lang="ru-RU" sz="1600" i="1" dirty="0">
                <a:latin typeface="Times New Roman" pitchFamily="18" charset="0"/>
                <a:cs typeface="Times New Roman" pitchFamily="18" charset="0"/>
              </a:rPr>
              <a:t>крупномасштабной буферизацией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large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scale buffering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), данных. 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В некоторых приложениях удается заранее предвидеть порядок, в соответствии с которым блоки должны считываться с диска. Если дело обстоит именно так, можно загрузить дисковые данные в оперативную память еще до того момента, когда потребность в них действительно возникнет. 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Одно из получаемых в этом случае преимуществ обусловлено тем, что качество расписания обслуживания обращений к диску в соответствии с тем же алгоритмом лифта может быть повышено за счет уменьшения среднего времени обработки блока. 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Нам удастся достичь того же прироста производительности 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Показатели производительности можно улучшить, если использовать для каждого подсписка по  2 буфера объемом равным емкости цилиндра, то есть 128Мбайт.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При использовании буферов объемом с цилиндр потребуется только один период времени поиска в расчете на цилиндр.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Общее время поиска и считывания данных с 16 дорожек цилиндра составит 6,46+16*8,33 = 140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млсек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, а время загрузки данных со всех 196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цил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. – 27 сек. Вторую фазу можно было бы завершить менее чем за 1 мин.</a:t>
            </a:r>
          </a:p>
          <a:p>
            <a:pPr marL="342900" indent="-342900" eaLnBrk="0" hangingPunct="0">
              <a:lnSpc>
                <a:spcPct val="120000"/>
              </a:lnSpc>
              <a:buFont typeface="Wingdings" pitchFamily="2" charset="2"/>
              <a:buChar char="n"/>
            </a:pP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Итого вместо 74 мин – около 2 мин.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48478" y="253995"/>
            <a:ext cx="8647043" cy="4572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ru-RU" sz="2400" dirty="0">
                <a:solidFill>
                  <a:schemeClr val="bg2"/>
                </a:solidFill>
              </a:rPr>
              <a:t>Предварительное считывание и крупномасштабная буферизация данных</a:t>
            </a:r>
            <a:endParaRPr lang="ru-RU" sz="2400" kern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33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7682" y="753979"/>
            <a:ext cx="8815686" cy="5871410"/>
          </a:xfrm>
          <a:prstGeom prst="rect">
            <a:avLst/>
          </a:prstGeom>
        </p:spPr>
        <p:txBody>
          <a:bodyPr wrap="square">
            <a:normAutofit fontScale="92500" lnSpcReduction="10000"/>
          </a:bodyPr>
          <a:lstStyle/>
          <a:p>
            <a:pPr algn="ctr">
              <a:lnSpc>
                <a:spcPct val="120000"/>
              </a:lnSpc>
            </a:pP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Группирование данных по цилиндрам диска</a:t>
            </a:r>
          </a:p>
          <a:p>
            <a:pPr>
              <a:lnSpc>
                <a:spcPct val="120000"/>
              </a:lnSpc>
            </a:pPr>
            <a:r>
              <a:rPr lang="ru-RU" sz="3200" i="1" dirty="0">
                <a:latin typeface="Times New Roman" pitchFamily="18" charset="0"/>
                <a:cs typeface="Times New Roman" pitchFamily="18" charset="0"/>
              </a:rPr>
              <a:t>Преимущество: </a:t>
            </a: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показывает прекрасные показатели для приложений типа (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), где </a:t>
            </a: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порядок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обращений к диску </a:t>
            </a: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известен заранее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 в каждый момент времени с диском работает </a:t>
            </a: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только один процесс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ru-RU" sz="3200" i="1" dirty="0">
                <a:latin typeface="Times New Roman" pitchFamily="18" charset="0"/>
                <a:cs typeface="Times New Roman" pitchFamily="18" charset="0"/>
              </a:rPr>
              <a:t>Недостаток: </a:t>
            </a: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не в состоянии оптимизировать время выполнения приложений типа (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), где режим использования диска </a:t>
            </a: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непредсказуем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248478" y="253995"/>
            <a:ext cx="8647043" cy="4572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ru-RU" sz="2800" kern="0" dirty="0">
                <a:solidFill>
                  <a:schemeClr val="bg2"/>
                </a:solidFill>
              </a:rPr>
              <a:t>Приемы оптимизации: за и против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34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61107" y="649475"/>
            <a:ext cx="8734414" cy="6104021"/>
          </a:xfrm>
          <a:prstGeom prst="rect">
            <a:avLst/>
          </a:prstGeom>
        </p:spPr>
        <p:txBody>
          <a:bodyPr wrap="square">
            <a:normAutofit fontScale="77500" lnSpcReduction="20000"/>
          </a:bodyPr>
          <a:lstStyle/>
          <a:p>
            <a:pPr algn="ctr">
              <a:lnSpc>
                <a:spcPct val="120000"/>
              </a:lnSpc>
            </a:pP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Использование нескольких дисковых устройств</a:t>
            </a:r>
          </a:p>
          <a:p>
            <a:pPr>
              <a:lnSpc>
                <a:spcPct val="120000"/>
              </a:lnSpc>
            </a:pPr>
            <a:r>
              <a:rPr lang="ru-RU" sz="3200" i="1" dirty="0">
                <a:latin typeface="Times New Roman" pitchFamily="18" charset="0"/>
                <a:cs typeface="Times New Roman" pitchFamily="18" charset="0"/>
              </a:rPr>
              <a:t>Преимущество: </a:t>
            </a: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увеличивает скорость обслуживания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запросов на чтение/запись дисковых данных в приложениях обоих типов.</a:t>
            </a:r>
          </a:p>
          <a:p>
            <a:pPr>
              <a:lnSpc>
                <a:spcPct val="120000"/>
              </a:lnSpc>
            </a:pPr>
            <a:r>
              <a:rPr lang="ru-RU" sz="3200" i="1" dirty="0">
                <a:latin typeface="Times New Roman" pitchFamily="18" charset="0"/>
                <a:cs typeface="Times New Roman" pitchFamily="18" charset="0"/>
              </a:rPr>
              <a:t>Проблема: </a:t>
            </a: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запросы на чтение/запись данных, предполагающие обращение к одному и тому же диску, не могут выполняться одновременно, поэтому </a:t>
            </a: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коэффициент повышения производительности может оказаться ниже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, нежели коэффициент увеличения количества дисков.</a:t>
            </a:r>
          </a:p>
          <a:p>
            <a:pPr>
              <a:lnSpc>
                <a:spcPct val="120000"/>
              </a:lnSpc>
            </a:pPr>
            <a:r>
              <a:rPr lang="ru-RU" sz="3200" i="1" dirty="0">
                <a:latin typeface="Times New Roman" pitchFamily="18" charset="0"/>
                <a:cs typeface="Times New Roman" pitchFamily="18" charset="0"/>
              </a:rPr>
              <a:t>Недостаток: </a:t>
            </a: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стоимость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нескольких дисковых устройств </a:t>
            </a: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выше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стоимости одного устройства той же суммарной емкости.</a:t>
            </a: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248478" y="188680"/>
            <a:ext cx="8647043" cy="4572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ru-RU" sz="2800" kern="0" dirty="0">
                <a:solidFill>
                  <a:schemeClr val="bg2"/>
                </a:solidFill>
              </a:rPr>
              <a:t>Приемы оптимизации: за и против</a:t>
            </a:r>
          </a:p>
        </p:txBody>
      </p:sp>
    </p:spTree>
    <p:extLst>
      <p:ext uri="{BB962C8B-B14F-4D97-AF65-F5344CB8AC3E}">
        <p14:creationId xmlns:p14="http://schemas.microsoft.com/office/powerpoint/2010/main" val="399507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35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17565" y="945811"/>
            <a:ext cx="8777956" cy="55873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ru-RU" sz="2500" b="1" dirty="0">
                <a:latin typeface="Times New Roman" pitchFamily="18" charset="0"/>
                <a:cs typeface="Times New Roman" pitchFamily="18" charset="0"/>
              </a:rPr>
              <a:t>Создание зеркальных копий дисков</a:t>
            </a:r>
          </a:p>
          <a:p>
            <a:r>
              <a:rPr lang="ru-RU" sz="2500" i="1" dirty="0">
                <a:latin typeface="Times New Roman" pitchFamily="18" charset="0"/>
                <a:cs typeface="Times New Roman" pitchFamily="18" charset="0"/>
              </a:rPr>
              <a:t>Преимущество: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500" dirty="0">
                <a:latin typeface="Times New Roman" pitchFamily="18" charset="0"/>
                <a:cs typeface="Times New Roman" pitchFamily="18" charset="0"/>
              </a:rPr>
              <a:t>увеличивает скорость обслуживания запросов на чтение/запись дисковых данных в приложениях обоих типов;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500" dirty="0">
                <a:latin typeface="Times New Roman" pitchFamily="18" charset="0"/>
                <a:cs typeface="Times New Roman" pitchFamily="18" charset="0"/>
              </a:rPr>
              <a:t>не вызывает проблемы снижения производительности, характерной для технологии использования нескольких "обычных" (не "зеркальных") дисков.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500" dirty="0">
                <a:latin typeface="Times New Roman" pitchFamily="18" charset="0"/>
                <a:cs typeface="Times New Roman" pitchFamily="18" charset="0"/>
              </a:rPr>
              <a:t>обеспечивает повышение степени надежности хранения данных.</a:t>
            </a:r>
          </a:p>
          <a:p>
            <a:r>
              <a:rPr lang="ru-RU" sz="2500" i="1" dirty="0">
                <a:latin typeface="Times New Roman" pitchFamily="18" charset="0"/>
                <a:cs typeface="Times New Roman" pitchFamily="18" charset="0"/>
              </a:rPr>
              <a:t>Недостаток: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500" dirty="0">
                <a:latin typeface="Times New Roman" pitchFamily="18" charset="0"/>
                <a:cs typeface="Times New Roman" pitchFamily="18" charset="0"/>
              </a:rPr>
              <a:t>при повышенной стоимости нескольких дисковых устройств фактически используется объем только одного из них.</a:t>
            </a: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248478" y="253995"/>
            <a:ext cx="8647043" cy="4572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ru-RU" sz="2800" kern="0" dirty="0">
                <a:solidFill>
                  <a:schemeClr val="bg2"/>
                </a:solidFill>
              </a:rPr>
              <a:t>Приемы оптимизации: за и против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36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23720" y="909716"/>
            <a:ext cx="8296559" cy="46007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Упорядочение дисковых операций </a:t>
            </a:r>
            <a:br>
              <a:rPr lang="ru-RU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посредством алгоритма лифта</a:t>
            </a:r>
          </a:p>
          <a:p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Преимущества: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сокращает среднее время считывания/записи блоков в ситуациях, когда порядок запросов к диску непредсказуем.</a:t>
            </a:r>
          </a:p>
          <a:p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Проблема: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алгоритм проявляет наибольшую эффективность в тех случаях, когда существует множество необработанных запросов;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при этом, однако, возрастает среднее время ожидания обслуживания каждого запроса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248478" y="253995"/>
            <a:ext cx="8647043" cy="4572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ru-RU" sz="2800" kern="0" dirty="0">
                <a:solidFill>
                  <a:schemeClr val="bg2"/>
                </a:solidFill>
              </a:rPr>
              <a:t>Приемы оптимизации: за и против</a:t>
            </a:r>
          </a:p>
        </p:txBody>
      </p:sp>
    </p:spTree>
    <p:extLst>
      <p:ext uri="{BB962C8B-B14F-4D97-AF65-F5344CB8AC3E}">
        <p14:creationId xmlns:p14="http://schemas.microsoft.com/office/powerpoint/2010/main" val="221071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D642F1-B3DF-4261-9749-15A733FD3BCB}" type="slidenum">
              <a:rPr lang="ru-RU" smtClean="0"/>
              <a:pPr>
                <a:defRPr/>
              </a:pPr>
              <a:t>37</a:t>
            </a:fld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20406" y="912956"/>
            <a:ext cx="8475115" cy="521821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ru-RU" b="1" dirty="0">
                <a:latin typeface="Times New Roman" pitchFamily="18" charset="0"/>
                <a:cs typeface="Times New Roman" pitchFamily="18" charset="0"/>
              </a:rPr>
              <a:t>Предварительное считывание </a:t>
            </a:r>
            <a:br>
              <a:rPr lang="ru-RU" b="1" dirty="0">
                <a:latin typeface="Times New Roman" pitchFamily="18" charset="0"/>
                <a:cs typeface="Times New Roman" pitchFamily="18" charset="0"/>
              </a:rPr>
            </a:br>
            <a:r>
              <a:rPr lang="ru-RU" b="1" dirty="0">
                <a:latin typeface="Times New Roman" pitchFamily="18" charset="0"/>
                <a:cs typeface="Times New Roman" pitchFamily="18" charset="0"/>
              </a:rPr>
              <a:t>и крупномасштабная буферизация</a:t>
            </a:r>
          </a:p>
          <a:p>
            <a:r>
              <a:rPr lang="ru-RU" i="1" dirty="0">
                <a:latin typeface="Times New Roman" pitchFamily="18" charset="0"/>
                <a:cs typeface="Times New Roman" pitchFamily="18" charset="0"/>
              </a:rPr>
              <a:t>Преимущество: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снижает общее время выполнения дисковых операций, если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порядок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считывания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записи данных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заранее известен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хотя характеристики процесса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зависят от свойств данных</a:t>
            </a:r>
          </a:p>
          <a:p>
            <a:r>
              <a:rPr lang="ru-RU" i="1" dirty="0">
                <a:latin typeface="Times New Roman" pitchFamily="18" charset="0"/>
                <a:cs typeface="Times New Roman" pitchFamily="18" charset="0"/>
              </a:rPr>
              <a:t>Недостаток: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требует наращивания объема оперативной памяти для создания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дополнительных буферов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не дает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ощутимой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выгоды,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если поток запросов к диску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случаен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48478" y="253995"/>
            <a:ext cx="8647043" cy="4572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ru-RU" sz="2800" kern="0" dirty="0">
                <a:solidFill>
                  <a:schemeClr val="bg2"/>
                </a:solidFill>
              </a:rPr>
              <a:t>Приемы оптимизации: за и против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3965</TotalTime>
  <Words>6118</Words>
  <Application>Microsoft Office PowerPoint</Application>
  <PresentationFormat>Экран (4:3)</PresentationFormat>
  <Paragraphs>488</Paragraphs>
  <Slides>37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Arial Black</vt:lpstr>
      <vt:lpstr>Calibri</vt:lpstr>
      <vt:lpstr>Microsoft Sans Serif</vt:lpstr>
      <vt:lpstr>Symbol</vt:lpstr>
      <vt:lpstr>Times New Roman</vt:lpstr>
      <vt:lpstr>Wingdings</vt:lpstr>
      <vt:lpstr>Пиксел</vt:lpstr>
      <vt:lpstr>Повышение эффективности дисковых операций</vt:lpstr>
      <vt:lpstr>Необходимость использования вторичных носителей</vt:lpstr>
      <vt:lpstr>Модель вычислений с вводом-выводом</vt:lpstr>
      <vt:lpstr>Сортировка слиянием</vt:lpstr>
      <vt:lpstr>Сортировка 2-х фазным  многокомпонентным слиянием</vt:lpstr>
      <vt:lpstr>Сортировка данных во вторичной памяти</vt:lpstr>
      <vt:lpstr>Пример (фаза 1) Выполнить сортировку произвольного количества списков объемом, равным доступной емкости ОП </vt:lpstr>
      <vt:lpstr>Пример (фаза 2)</vt:lpstr>
      <vt:lpstr>Пример (фаза 2)</vt:lpstr>
      <vt:lpstr>Презентация PowerPoint</vt:lpstr>
      <vt:lpstr>Презентация PowerPoint</vt:lpstr>
      <vt:lpstr>Многокомпонентное слияние и сверхбольшие отношения. 2-х фазное слияние</vt:lpstr>
      <vt:lpstr>Оценки </vt:lpstr>
      <vt:lpstr>Повышение эффективности  дисковых операций </vt:lpstr>
      <vt:lpstr>Производительность жесткого диска</vt:lpstr>
      <vt:lpstr>Время поиска</vt:lpstr>
      <vt:lpstr>Группирование данных по цилиндрам диска</vt:lpstr>
      <vt:lpstr>Группирование данных по цилиндрам (2)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Казаков Виталий Геннадьевич</cp:lastModifiedBy>
  <cp:revision>355</cp:revision>
  <dcterms:created xsi:type="dcterms:W3CDTF">2012-10-04T16:47:37Z</dcterms:created>
  <dcterms:modified xsi:type="dcterms:W3CDTF">2022-03-24T04:48:38Z</dcterms:modified>
</cp:coreProperties>
</file>