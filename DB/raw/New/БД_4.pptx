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25"/>
  </p:notesMasterIdLst>
  <p:sldIdLst>
    <p:sldId id="256" r:id="rId2"/>
    <p:sldId id="257" r:id="rId3"/>
    <p:sldId id="277" r:id="rId4"/>
    <p:sldId id="278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79" r:id="rId14"/>
    <p:sldId id="266" r:id="rId15"/>
    <p:sldId id="267" r:id="rId16"/>
    <p:sldId id="268" r:id="rId17"/>
    <p:sldId id="269" r:id="rId18"/>
    <p:sldId id="270" r:id="rId19"/>
    <p:sldId id="271" r:id="rId20"/>
    <p:sldId id="274" r:id="rId21"/>
    <p:sldId id="272" r:id="rId22"/>
    <p:sldId id="273" r:id="rId23"/>
    <p:sldId id="275" r:id="rId24"/>
  </p:sldIdLst>
  <p:sldSz cx="9144000" cy="6858000" type="screen4x3"/>
  <p:notesSz cx="6858000" cy="9144000"/>
  <p:defaultTextStyle>
    <a:defPPr>
      <a:defRPr lang="ru-RU"/>
    </a:defPPr>
    <a:lvl1pPr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008000"/>
    <a:srgbClr val="DE4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620" autoAdjust="0"/>
    <p:restoredTop sz="94684" autoAdjust="0"/>
  </p:normalViewPr>
  <p:slideViewPr>
    <p:cSldViewPr showGuides="1">
      <p:cViewPr varScale="1">
        <p:scale>
          <a:sx n="105" d="100"/>
          <a:sy n="105" d="100"/>
        </p:scale>
        <p:origin x="183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08"/>
    </p:cViewPr>
  </p:sorterViewPr>
  <p:notesViewPr>
    <p:cSldViewPr>
      <p:cViewPr varScale="1">
        <p:scale>
          <a:sx n="60" d="100"/>
          <a:sy n="60" d="100"/>
        </p:scale>
        <p:origin x="-942" y="-84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A628D1-01D7-474B-BA3B-AD1B431331D5}" type="datetimeFigureOut">
              <a:rPr lang="ru-RU" smtClean="0"/>
              <a:pPr/>
              <a:t>27.09.2023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33C88C-B42E-436B-BE09-01978B7AF45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9772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3C88C-B42E-436B-BE09-01978B7AF45F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438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3C88C-B42E-436B-BE09-01978B7AF45F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43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3C88C-B42E-436B-BE09-01978B7AF45F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43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3C88C-B42E-436B-BE09-01978B7AF45F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438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3C88C-B42E-436B-BE09-01978B7AF45F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438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3C88C-B42E-436B-BE09-01978B7AF45F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438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3C88C-B42E-436B-BE09-01978B7AF45F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7426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noProof="0"/>
              <a:t>Образец заголовка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ru-RU" noProof="0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166F0C-A621-441B-8EC7-E0B13391CFA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1764A1-BCDA-4256-B3C0-C1DB20A6904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A1E7DD-D83A-4381-B3E3-D51B760A84B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F11446-FA0D-405C-9A92-8527083ED43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7C3326-291B-456C-B5B5-15E879F7B81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3662DF-3430-4E26-9650-87CC4873DF6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CC8169-50A5-42F1-9A00-2D84471CF56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32E068-6B69-42D7-9478-D3F359FE318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8C3297-0D14-4C5E-AECF-75988C1C03C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14A121-60DE-499B-9F2F-3287A6E689C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586664-0290-4A45-89B6-38548BCDFE6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DD8EF2-C025-4BC5-9ED0-A773274CD3D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80EF11EF-C12A-497E-88E3-CCEE442576E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28860" y="1828800"/>
            <a:ext cx="6562740" cy="2209800"/>
          </a:xfrm>
        </p:spPr>
        <p:txBody>
          <a:bodyPr/>
          <a:lstStyle/>
          <a:p>
            <a:pPr eaLnBrk="1" hangingPunct="1"/>
            <a:r>
              <a:rPr lang="ru-RU" dirty="0"/>
              <a:t>Реляционная модель данных. Часть 2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ru-RU" dirty="0"/>
              <a:t>Дж.Ульман</a:t>
            </a:r>
          </a:p>
          <a:p>
            <a:pPr eaLnBrk="1" hangingPunct="1"/>
            <a:r>
              <a:rPr lang="ru-RU" dirty="0"/>
              <a:t>Основы систем баз данных</a:t>
            </a:r>
          </a:p>
          <a:p>
            <a:pPr eaLnBrk="1" hangingPunct="1"/>
            <a:r>
              <a:rPr lang="ru-RU" dirty="0"/>
              <a:t>Глава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1"/>
            <a:ext cx="7416800" cy="811196"/>
          </a:xfrm>
        </p:spPr>
        <p:txBody>
          <a:bodyPr/>
          <a:lstStyle/>
          <a:p>
            <a:pPr algn="ctr" eaLnBrk="1" hangingPunct="1"/>
            <a:r>
              <a:rPr lang="ru-RU" sz="4000" dirty="0">
                <a:solidFill>
                  <a:schemeClr val="bg2"/>
                </a:solidFill>
              </a:rPr>
              <a:t>Реляционная модель данных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252" y="1071547"/>
            <a:ext cx="9027495" cy="5348303"/>
          </a:xfrm>
        </p:spPr>
        <p:txBody>
          <a:bodyPr>
            <a:normAutofit fontScale="40000" lnSpcReduction="20000"/>
          </a:bodyPr>
          <a:lstStyle/>
          <a:p>
            <a:pPr marL="0" indent="0" algn="ctr" eaLnBrk="1" hangingPunct="1">
              <a:lnSpc>
                <a:spcPct val="200000"/>
              </a:lnSpc>
              <a:buNone/>
              <a:defRPr/>
            </a:pPr>
            <a:r>
              <a:rPr lang="ru-RU" sz="7400" dirty="0"/>
              <a:t>Манипулирование данными</a:t>
            </a:r>
          </a:p>
          <a:p>
            <a:pPr eaLnBrk="1" hangingPunct="1">
              <a:lnSpc>
                <a:spcPct val="170000"/>
              </a:lnSpc>
              <a:buFont typeface="Wingdings" pitchFamily="2" charset="2"/>
              <a:buChar char="v"/>
              <a:defRPr/>
            </a:pPr>
            <a:r>
              <a:rPr lang="ru-RU" sz="5500" dirty="0"/>
              <a:t>Реляционная алгебра (процедурный подход)</a:t>
            </a:r>
          </a:p>
          <a:p>
            <a:pPr marL="0" indent="0" algn="ctr" eaLnBrk="1" hangingPunct="1">
              <a:lnSpc>
                <a:spcPct val="170000"/>
              </a:lnSpc>
              <a:buNone/>
              <a:defRPr/>
            </a:pPr>
            <a:r>
              <a:rPr lang="az-Cyrl-AZ" sz="5500" dirty="0">
                <a:cs typeface="Times New Roman" pitchFamily="18" charset="0"/>
              </a:rPr>
              <a:t>Выражениә вида: </a:t>
            </a:r>
            <a:r>
              <a:rPr lang="en-US" sz="5500" dirty="0">
                <a:cs typeface="Times New Roman" pitchFamily="18" charset="0"/>
              </a:rPr>
              <a:t>R </a:t>
            </a:r>
            <a:r>
              <a:rPr lang="ru-RU" sz="5500" b="1" dirty="0">
                <a:cs typeface="Times New Roman" pitchFamily="18" charset="0"/>
                <a:sym typeface="Symbol"/>
              </a:rPr>
              <a:t></a:t>
            </a:r>
            <a:r>
              <a:rPr lang="ru-RU" sz="5500" dirty="0">
                <a:cs typeface="Times New Roman" pitchFamily="18" charset="0"/>
              </a:rPr>
              <a:t> </a:t>
            </a:r>
            <a:r>
              <a:rPr lang="en-US" sz="5500" dirty="0">
                <a:cs typeface="Times New Roman" pitchFamily="18" charset="0"/>
              </a:rPr>
              <a:t>S </a:t>
            </a:r>
            <a:r>
              <a:rPr lang="ru-RU" sz="5500" dirty="0">
                <a:cs typeface="Times New Roman" pitchFamily="18" charset="0"/>
                <a:sym typeface="Symbol"/>
              </a:rPr>
              <a:t>\</a:t>
            </a:r>
            <a:r>
              <a:rPr lang="en-US" sz="5500" dirty="0">
                <a:cs typeface="Times New Roman" pitchFamily="18" charset="0"/>
                <a:sym typeface="Symbol"/>
              </a:rPr>
              <a:t> T</a:t>
            </a:r>
            <a:r>
              <a:rPr lang="en-US" sz="5500" dirty="0">
                <a:cs typeface="Times New Roman" pitchFamily="18" charset="0"/>
              </a:rPr>
              <a:t> Join D</a:t>
            </a:r>
            <a:r>
              <a:rPr lang="az-Cyrl-AZ" sz="5500" dirty="0">
                <a:cs typeface="Times New Roman" pitchFamily="18" charset="0"/>
              </a:rPr>
              <a:t>, где </a:t>
            </a:r>
            <a:r>
              <a:rPr lang="en-US" sz="5500" dirty="0">
                <a:cs typeface="Times New Roman" pitchFamily="18" charset="0"/>
              </a:rPr>
              <a:t>R,S,T,D </a:t>
            </a:r>
            <a:r>
              <a:rPr lang="az-Cyrl-AZ" sz="5500" dirty="0">
                <a:cs typeface="Times New Roman" pitchFamily="18" charset="0"/>
              </a:rPr>
              <a:t>- отношени</a:t>
            </a:r>
            <a:r>
              <a:rPr lang="ru-RU" sz="5500" dirty="0">
                <a:cs typeface="Times New Roman" pitchFamily="18" charset="0"/>
              </a:rPr>
              <a:t>я</a:t>
            </a:r>
            <a:endParaRPr lang="en-US" sz="5500" dirty="0">
              <a:cs typeface="Times New Roman" pitchFamily="18" charset="0"/>
            </a:endParaRPr>
          </a:p>
          <a:p>
            <a:pPr eaLnBrk="1" hangingPunct="1">
              <a:lnSpc>
                <a:spcPct val="170000"/>
              </a:lnSpc>
              <a:buFont typeface="Wingdings" pitchFamily="2" charset="2"/>
              <a:buChar char="v"/>
              <a:defRPr/>
            </a:pPr>
            <a:r>
              <a:rPr lang="ru-RU" sz="5500" dirty="0"/>
              <a:t>Реляционное исчисление (декларативный подход)</a:t>
            </a:r>
          </a:p>
          <a:p>
            <a:pPr lvl="1" eaLnBrk="1" hangingPunct="1">
              <a:lnSpc>
                <a:spcPct val="170000"/>
              </a:lnSpc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sz="5500" dirty="0"/>
              <a:t>Реляционное исчисление на кортежах</a:t>
            </a:r>
          </a:p>
          <a:p>
            <a:pPr lvl="1" eaLnBrk="1" hangingPunct="1">
              <a:lnSpc>
                <a:spcPct val="170000"/>
              </a:lnSpc>
              <a:buClr>
                <a:srgbClr val="FF0000"/>
              </a:buClr>
              <a:buFont typeface="Wingdings" pitchFamily="2" charset="2"/>
              <a:buChar char="v"/>
              <a:defRPr/>
            </a:pPr>
            <a:r>
              <a:rPr lang="ru-RU" sz="5500" dirty="0"/>
              <a:t>Реляционное исчисление на доменах</a:t>
            </a:r>
          </a:p>
          <a:p>
            <a:pPr marL="0" indent="0" eaLnBrk="1" hangingPunct="1">
              <a:lnSpc>
                <a:spcPct val="170000"/>
              </a:lnSpc>
              <a:buFont typeface="Wingdings" pitchFamily="2" charset="2"/>
              <a:buNone/>
              <a:defRPr/>
            </a:pPr>
            <a:r>
              <a:rPr lang="ru-RU" sz="5500" dirty="0"/>
              <a:t> </a:t>
            </a:r>
          </a:p>
          <a:p>
            <a:pPr marL="0" indent="0" eaLnBrk="1" hangingPunct="1">
              <a:lnSpc>
                <a:spcPct val="170000"/>
              </a:lnSpc>
              <a:buFont typeface="Wingdings" pitchFamily="2" charset="2"/>
              <a:buNone/>
              <a:defRPr/>
            </a:pPr>
            <a:r>
              <a:rPr lang="ru-RU" sz="5500" dirty="0"/>
              <a:t>В основе лежат понятия математической логики – исчисление предикатов</a:t>
            </a:r>
            <a:r>
              <a:rPr lang="en-US" sz="5500" dirty="0"/>
              <a:t> </a:t>
            </a:r>
            <a:r>
              <a:rPr lang="ru-RU" sz="5500" dirty="0"/>
              <a:t>первого порядка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-22926" y="155713"/>
            <a:ext cx="9136015" cy="811196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ru-RU" sz="2400" dirty="0">
                <a:solidFill>
                  <a:schemeClr val="bg2"/>
                </a:solidFill>
              </a:rPr>
              <a:t>Запросы в реляционной алгебре и в реляционном исчислении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6515" y="1071546"/>
            <a:ext cx="8677135" cy="5634054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ru-RU" sz="1800" dirty="0"/>
              <a:t>Пусть имеется база данных со схемой</a:t>
            </a:r>
          </a:p>
          <a:p>
            <a:pPr marL="0" indent="0" eaLnBrk="1" hangingPunct="1">
              <a:buNone/>
            </a:pPr>
            <a:r>
              <a:rPr lang="ru-RU" sz="1800" b="1" dirty="0">
                <a:solidFill>
                  <a:schemeClr val="bg2"/>
                </a:solidFill>
              </a:rPr>
              <a:t>СОТРУДНИКИ (</a:t>
            </a:r>
            <a:r>
              <a:rPr lang="ru-RU" sz="1800" dirty="0" err="1">
                <a:solidFill>
                  <a:schemeClr val="bg2"/>
                </a:solidFill>
              </a:rPr>
              <a:t>СотрНОМ</a:t>
            </a:r>
            <a:r>
              <a:rPr lang="ru-RU" sz="1800" dirty="0">
                <a:solidFill>
                  <a:schemeClr val="bg2"/>
                </a:solidFill>
              </a:rPr>
              <a:t>, </a:t>
            </a:r>
            <a:r>
              <a:rPr lang="ru-RU" sz="1800" dirty="0" err="1">
                <a:solidFill>
                  <a:schemeClr val="bg2"/>
                </a:solidFill>
              </a:rPr>
              <a:t>СотрИМЯ</a:t>
            </a:r>
            <a:r>
              <a:rPr lang="ru-RU" sz="1800" dirty="0">
                <a:solidFill>
                  <a:schemeClr val="bg2"/>
                </a:solidFill>
              </a:rPr>
              <a:t>, </a:t>
            </a:r>
            <a:r>
              <a:rPr lang="ru-RU" sz="1800" dirty="0" err="1">
                <a:solidFill>
                  <a:schemeClr val="bg2"/>
                </a:solidFill>
              </a:rPr>
              <a:t>СотрЗАРП</a:t>
            </a:r>
            <a:r>
              <a:rPr lang="ru-RU" sz="1800" dirty="0">
                <a:solidFill>
                  <a:schemeClr val="bg2"/>
                </a:solidFill>
              </a:rPr>
              <a:t>, </a:t>
            </a:r>
            <a:r>
              <a:rPr lang="ru-RU" sz="1800" dirty="0" err="1">
                <a:solidFill>
                  <a:schemeClr val="bg2"/>
                </a:solidFill>
              </a:rPr>
              <a:t>ОтдНОМ</a:t>
            </a:r>
            <a:r>
              <a:rPr lang="ru-RU" sz="1800" b="1" dirty="0">
                <a:solidFill>
                  <a:schemeClr val="bg2"/>
                </a:solidFill>
              </a:rPr>
              <a:t>)  </a:t>
            </a:r>
          </a:p>
          <a:p>
            <a:pPr marL="0" indent="0" eaLnBrk="1" hangingPunct="1">
              <a:buNone/>
            </a:pPr>
            <a:r>
              <a:rPr lang="ru-RU" sz="1800" b="1" dirty="0">
                <a:solidFill>
                  <a:schemeClr val="bg2"/>
                </a:solidFill>
              </a:rPr>
              <a:t>ОТДЕЛЫ (</a:t>
            </a:r>
            <a:r>
              <a:rPr lang="ru-RU" sz="1800" dirty="0" err="1">
                <a:solidFill>
                  <a:schemeClr val="bg2"/>
                </a:solidFill>
              </a:rPr>
              <a:t>ОтдНОМ</a:t>
            </a:r>
            <a:r>
              <a:rPr lang="ru-RU" sz="1800" dirty="0">
                <a:solidFill>
                  <a:schemeClr val="bg2"/>
                </a:solidFill>
              </a:rPr>
              <a:t>, </a:t>
            </a:r>
            <a:r>
              <a:rPr lang="ru-RU" sz="1800" dirty="0" err="1">
                <a:solidFill>
                  <a:schemeClr val="bg2"/>
                </a:solidFill>
              </a:rPr>
              <a:t>ОтдКОЛ</a:t>
            </a:r>
            <a:r>
              <a:rPr lang="ru-RU" sz="1800" dirty="0">
                <a:solidFill>
                  <a:schemeClr val="bg2"/>
                </a:solidFill>
              </a:rPr>
              <a:t>, </a:t>
            </a:r>
            <a:r>
              <a:rPr lang="ru-RU" sz="1800" dirty="0" err="1">
                <a:solidFill>
                  <a:schemeClr val="bg2"/>
                </a:solidFill>
              </a:rPr>
              <a:t>ОтдНАЧ</a:t>
            </a:r>
            <a:r>
              <a:rPr lang="ru-RU" sz="1800" dirty="0">
                <a:solidFill>
                  <a:schemeClr val="bg2"/>
                </a:solidFill>
              </a:rPr>
              <a:t>), где</a:t>
            </a:r>
            <a:r>
              <a:rPr lang="ru-RU" sz="1800" b="1" dirty="0">
                <a:solidFill>
                  <a:schemeClr val="bg2"/>
                </a:solidFill>
              </a:rPr>
              <a:t> </a:t>
            </a:r>
            <a:r>
              <a:rPr lang="ru-RU" sz="1800" dirty="0" err="1">
                <a:solidFill>
                  <a:schemeClr val="bg2"/>
                </a:solidFill>
              </a:rPr>
              <a:t>ОтдНАЧ</a:t>
            </a:r>
            <a:r>
              <a:rPr lang="ru-RU" sz="1800" dirty="0">
                <a:solidFill>
                  <a:schemeClr val="bg2"/>
                </a:solidFill>
              </a:rPr>
              <a:t> –</a:t>
            </a:r>
            <a:r>
              <a:rPr lang="en-US" sz="1800" dirty="0">
                <a:solidFill>
                  <a:schemeClr val="bg2"/>
                </a:solidFill>
              </a:rPr>
              <a:t>&gt;</a:t>
            </a:r>
            <a:r>
              <a:rPr lang="ru-RU" sz="1800" dirty="0">
                <a:solidFill>
                  <a:schemeClr val="bg2"/>
                </a:solidFill>
              </a:rPr>
              <a:t> </a:t>
            </a:r>
            <a:r>
              <a:rPr lang="ru-RU" sz="1800" dirty="0" err="1">
                <a:solidFill>
                  <a:schemeClr val="bg2"/>
                </a:solidFill>
              </a:rPr>
              <a:t>СотрНОМ</a:t>
            </a:r>
            <a:endParaRPr lang="en-US" sz="1800" dirty="0">
              <a:solidFill>
                <a:schemeClr val="bg2"/>
              </a:solidFill>
            </a:endParaRPr>
          </a:p>
          <a:p>
            <a:pPr marL="0" indent="0" eaLnBrk="1" hangingPunct="1">
              <a:buNone/>
            </a:pPr>
            <a:endParaRPr lang="ru-RU" sz="1800" b="1" dirty="0">
              <a:solidFill>
                <a:schemeClr val="bg2"/>
              </a:solidFill>
            </a:endParaRPr>
          </a:p>
          <a:p>
            <a:pPr marL="0" indent="0" eaLnBrk="1" hangingPunct="1">
              <a:buNone/>
            </a:pPr>
            <a:r>
              <a:rPr lang="ru-RU" sz="2000" dirty="0"/>
              <a:t>Задача: узнать </a:t>
            </a:r>
            <a:r>
              <a:rPr lang="ru-RU" sz="2000" dirty="0">
                <a:solidFill>
                  <a:srgbClr val="7030A0"/>
                </a:solidFill>
              </a:rPr>
              <a:t>имена и номера сотрудников, являющихся начальниками отделов </a:t>
            </a:r>
            <a:r>
              <a:rPr lang="ru-RU" sz="2000" dirty="0"/>
              <a:t>с количеством сотрудников больше 50.</a:t>
            </a:r>
            <a:endParaRPr lang="en-US" sz="2000" dirty="0"/>
          </a:p>
          <a:p>
            <a:pPr marL="0" indent="0" eaLnBrk="1" hangingPunct="1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dirty="0"/>
              <a:t>Если для получения ответа использовать реляционную алгебру, то можно построить алгебраическое выражение</a:t>
            </a:r>
            <a:r>
              <a:rPr lang="en-US" sz="2000" dirty="0"/>
              <a:t> </a:t>
            </a:r>
            <a:r>
              <a:rPr lang="ru-RU" sz="2000" dirty="0"/>
              <a:t>следующим образом: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000" dirty="0"/>
              <a:t>выполнить соединение отношений СОТРУДНИКИ и ОТДЕЛЫ по условию </a:t>
            </a:r>
            <a:r>
              <a:rPr lang="ru-RU" sz="2000" dirty="0" err="1"/>
              <a:t>СотрНОМ</a:t>
            </a:r>
            <a:r>
              <a:rPr lang="ru-RU" sz="2000" dirty="0"/>
              <a:t> = </a:t>
            </a:r>
            <a:r>
              <a:rPr lang="ru-RU" sz="2000" dirty="0" err="1"/>
              <a:t>ОтдНАЧ</a:t>
            </a:r>
            <a:r>
              <a:rPr lang="ru-RU" sz="2000" dirty="0"/>
              <a:t>;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000" dirty="0"/>
              <a:t>ограничить полученное отношение по условию </a:t>
            </a:r>
            <a:r>
              <a:rPr lang="ru-RU" sz="2000" dirty="0" err="1"/>
              <a:t>ОтдКОЛ</a:t>
            </a:r>
            <a:r>
              <a:rPr lang="ru-RU" sz="2000" dirty="0"/>
              <a:t> &gt; 50;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000" dirty="0"/>
              <a:t>спроецировать результат предыдущей операции на атрибут </a:t>
            </a:r>
            <a:r>
              <a:rPr lang="ru-RU" sz="2000" dirty="0" err="1"/>
              <a:t>СотрИМЯ</a:t>
            </a:r>
            <a:r>
              <a:rPr lang="ru-RU" sz="2000" dirty="0"/>
              <a:t>, </a:t>
            </a:r>
            <a:r>
              <a:rPr lang="ru-RU" sz="2000" dirty="0" err="1"/>
              <a:t>СотрНОМ</a:t>
            </a:r>
            <a:r>
              <a:rPr lang="ru-RU" sz="2000" dirty="0"/>
              <a:t>.</a:t>
            </a:r>
          </a:p>
          <a:p>
            <a:pPr marL="457200" lvl="1" indent="0">
              <a:buClr>
                <a:srgbClr val="C00000"/>
              </a:buClr>
              <a:buNone/>
            </a:pPr>
            <a:r>
              <a:rPr lang="el-GR" sz="2600" dirty="0"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ru-RU" sz="2600" dirty="0"/>
              <a:t> </a:t>
            </a:r>
            <a:r>
              <a:rPr lang="ru-RU" sz="1700" baseline="-25000" dirty="0" err="1"/>
              <a:t>СотрИМЯ</a:t>
            </a:r>
            <a:r>
              <a:rPr lang="ru-RU" sz="1700" baseline="-25000" dirty="0"/>
              <a:t>, </a:t>
            </a:r>
            <a:r>
              <a:rPr lang="ru-RU" sz="1700" baseline="-25000" dirty="0" err="1"/>
              <a:t>СотрНОМ</a:t>
            </a:r>
            <a:r>
              <a:rPr lang="ru-RU" sz="17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l-GR" sz="2200" dirty="0">
                <a:latin typeface="Times New Roman" pitchFamily="18" charset="0"/>
                <a:cs typeface="Times New Roman" pitchFamily="18" charset="0"/>
              </a:rPr>
              <a:t>Ϭ</a:t>
            </a:r>
            <a:r>
              <a:rPr lang="ru-RU" sz="1700" dirty="0"/>
              <a:t> </a:t>
            </a:r>
            <a:r>
              <a:rPr lang="ru-RU" sz="1700" baseline="-25000" dirty="0" err="1"/>
              <a:t>СотрНОМ</a:t>
            </a:r>
            <a:r>
              <a:rPr lang="ru-RU" sz="1700" baseline="-25000" dirty="0"/>
              <a:t> = </a:t>
            </a:r>
            <a:r>
              <a:rPr lang="ru-RU" sz="1700" baseline="-25000" dirty="0" err="1"/>
              <a:t>ОтдНАЧ</a:t>
            </a:r>
            <a:r>
              <a:rPr lang="en-US" sz="1700" baseline="-25000" dirty="0"/>
              <a:t> and</a:t>
            </a:r>
            <a:r>
              <a:rPr lang="en-US" sz="1700" dirty="0"/>
              <a:t> </a:t>
            </a:r>
            <a:r>
              <a:rPr lang="ru-RU" sz="1700" baseline="-25000" dirty="0" err="1"/>
              <a:t>ОтдКОЛ</a:t>
            </a:r>
            <a:r>
              <a:rPr lang="ru-RU" sz="1700" baseline="-25000" dirty="0"/>
              <a:t> &gt; 50</a:t>
            </a:r>
            <a:r>
              <a:rPr lang="ru-RU" sz="1700" b="1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1500" b="1" dirty="0">
                <a:solidFill>
                  <a:schemeClr val="bg2"/>
                </a:solidFill>
              </a:rPr>
              <a:t>СОТРУДНИКИ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dirty="0">
                <a:latin typeface="+mj-lt"/>
                <a:cs typeface="Times New Roman" pitchFamily="18" charset="0"/>
              </a:rPr>
              <a:t>x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500" b="1" dirty="0">
                <a:solidFill>
                  <a:schemeClr val="bg2"/>
                </a:solidFill>
              </a:rPr>
              <a:t>ОТДЕЛЫ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17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457200" lvl="1" indent="0">
              <a:buClr>
                <a:srgbClr val="C00000"/>
              </a:buClr>
              <a:buNone/>
            </a:pPr>
            <a:endParaRPr lang="ru-RU" sz="2000" dirty="0"/>
          </a:p>
          <a:p>
            <a:pPr marL="0" indent="0" eaLnBrk="1" hangingPunct="1">
              <a:buNone/>
            </a:pPr>
            <a:endParaRPr lang="en-US" sz="2400" dirty="0">
              <a:cs typeface="Times New Roman"/>
            </a:endParaRPr>
          </a:p>
          <a:p>
            <a:pPr marL="457200" indent="-457200" eaLnBrk="1" hangingPunct="1">
              <a:buClrTx/>
              <a:buSzPct val="90000"/>
              <a:buAutoNum type="arabicPeriod"/>
            </a:pPr>
            <a:endParaRPr lang="ru-RU" sz="2400" dirty="0">
              <a:solidFill>
                <a:schemeClr val="bg2"/>
              </a:solidFill>
              <a:cs typeface="Times New Roman"/>
            </a:endParaRPr>
          </a:p>
          <a:p>
            <a:pPr marL="457200" indent="-457200" eaLnBrk="1" hangingPunct="1">
              <a:buNone/>
            </a:pPr>
            <a:endParaRPr lang="ru-RU" sz="2400" dirty="0"/>
          </a:p>
          <a:p>
            <a:pPr marL="0" indent="0" eaLnBrk="1" hangingPunct="1">
              <a:buFont typeface="Wingdings" pitchFamily="2" charset="2"/>
              <a:buNone/>
            </a:pPr>
            <a:endParaRPr lang="ru-RU" sz="28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217404" y="6248400"/>
            <a:ext cx="469395" cy="457200"/>
          </a:xfrm>
        </p:spPr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3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20" y="1071546"/>
            <a:ext cx="8597930" cy="5572164"/>
          </a:xfrm>
        </p:spPr>
        <p:txBody>
          <a:bodyPr>
            <a:normAutofit fontScale="70000" lnSpcReduction="20000"/>
          </a:bodyPr>
          <a:lstStyle/>
          <a:p>
            <a:pPr marL="0" indent="0" eaLnBrk="1" hangingPunct="1">
              <a:lnSpc>
                <a:spcPct val="120000"/>
              </a:lnSpc>
              <a:buNone/>
            </a:pPr>
            <a:r>
              <a:rPr lang="ru-RU" sz="2400" dirty="0"/>
              <a:t>Если сформулировать тот же запрос с использованием реляционного исчисления, то это можно сделать  с помощью </a:t>
            </a:r>
            <a:r>
              <a:rPr lang="ru-RU" sz="2400" dirty="0">
                <a:solidFill>
                  <a:srgbClr val="7030A0"/>
                </a:solidFill>
              </a:rPr>
              <a:t>выражения</a:t>
            </a:r>
            <a:r>
              <a:rPr lang="ru-RU" sz="2400" dirty="0"/>
              <a:t> следующим образом: </a:t>
            </a:r>
          </a:p>
          <a:p>
            <a:pPr marL="400050" lvl="1" indent="0" eaLnBrk="1" hangingPunct="1">
              <a:lnSpc>
                <a:spcPct val="120000"/>
              </a:lnSpc>
              <a:buNone/>
            </a:pPr>
            <a:r>
              <a:rPr lang="ru-RU" sz="2300" dirty="0"/>
              <a:t>Выдать множество пар </a:t>
            </a:r>
            <a:r>
              <a:rPr lang="en-US" sz="2300" dirty="0"/>
              <a:t>&lt;</a:t>
            </a:r>
            <a:r>
              <a:rPr lang="ru-RU" sz="2300" dirty="0" err="1"/>
              <a:t>СотрИМЯ</a:t>
            </a:r>
            <a:r>
              <a:rPr lang="en-US" sz="2300" dirty="0"/>
              <a:t>,</a:t>
            </a:r>
            <a:r>
              <a:rPr lang="ru-RU" sz="2300" dirty="0"/>
              <a:t> </a:t>
            </a:r>
            <a:r>
              <a:rPr lang="ru-RU" sz="2300" dirty="0" err="1"/>
              <a:t>СотрНОМ</a:t>
            </a:r>
            <a:r>
              <a:rPr lang="en-US" sz="2300" dirty="0"/>
              <a:t>&gt;</a:t>
            </a:r>
            <a:r>
              <a:rPr lang="ru-RU" sz="2300" dirty="0"/>
              <a:t> для таких сотрудников, что </a:t>
            </a:r>
            <a:r>
              <a:rPr lang="ru-RU" sz="2300" dirty="0">
                <a:solidFill>
                  <a:srgbClr val="7030A0"/>
                </a:solidFill>
              </a:rPr>
              <a:t>их номер (</a:t>
            </a:r>
            <a:r>
              <a:rPr lang="ru-RU" sz="2300" dirty="0" err="1"/>
              <a:t>СотрНОМ</a:t>
            </a:r>
            <a:r>
              <a:rPr lang="ru-RU" sz="2300" dirty="0">
                <a:solidFill>
                  <a:srgbClr val="7030A0"/>
                </a:solidFill>
              </a:rPr>
              <a:t>) </a:t>
            </a:r>
            <a:r>
              <a:rPr lang="ru-RU" sz="2300" dirty="0"/>
              <a:t>совпадает с </a:t>
            </a:r>
            <a:r>
              <a:rPr lang="ru-RU" sz="2300" dirty="0">
                <a:solidFill>
                  <a:srgbClr val="7030A0"/>
                </a:solidFill>
              </a:rPr>
              <a:t>номером начальника (</a:t>
            </a:r>
            <a:r>
              <a:rPr lang="ru-RU" sz="2300" dirty="0" err="1"/>
              <a:t>ОтдНАЧ</a:t>
            </a:r>
            <a:r>
              <a:rPr lang="ru-RU" sz="2300" dirty="0"/>
              <a:t> </a:t>
            </a:r>
            <a:r>
              <a:rPr lang="ru-RU" sz="2300" dirty="0">
                <a:solidFill>
                  <a:srgbClr val="7030A0"/>
                </a:solidFill>
              </a:rPr>
              <a:t>) отдела, в котором сотрудников больше 50 (</a:t>
            </a:r>
            <a:r>
              <a:rPr lang="ru-RU" sz="2300" dirty="0" err="1"/>
              <a:t>ОтдКОЛ</a:t>
            </a:r>
            <a:r>
              <a:rPr lang="ru-RU" sz="2300" dirty="0"/>
              <a:t> </a:t>
            </a:r>
            <a:r>
              <a:rPr lang="en-US" sz="2300" dirty="0"/>
              <a:t>&gt;</a:t>
            </a:r>
            <a:r>
              <a:rPr lang="ru-RU" sz="2300" dirty="0"/>
              <a:t> 50</a:t>
            </a:r>
            <a:r>
              <a:rPr lang="en-US" sz="2300" dirty="0"/>
              <a:t>)</a:t>
            </a:r>
            <a:r>
              <a:rPr lang="ru-RU" sz="2300" dirty="0"/>
              <a:t>.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ru-RU" sz="2400" dirty="0"/>
              <a:t>или</a:t>
            </a:r>
            <a:r>
              <a:rPr lang="en-US" sz="2400" dirty="0"/>
              <a:t>, </a:t>
            </a:r>
            <a:r>
              <a:rPr lang="ru-RU" sz="2400" dirty="0"/>
              <a:t>если для сокращения записи ввести переменные 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ru-RU" sz="2400" b="1" dirty="0">
                <a:solidFill>
                  <a:srgbClr val="7030A0"/>
                </a:solidFill>
              </a:rPr>
              <a:t>	С</a:t>
            </a:r>
            <a:r>
              <a:rPr lang="ru-RU" sz="2400" dirty="0"/>
              <a:t> – переменная-кортеж на отношении </a:t>
            </a:r>
            <a:r>
              <a:rPr lang="ru-RU" sz="2400" b="1" dirty="0">
                <a:solidFill>
                  <a:srgbClr val="7030A0"/>
                </a:solidFill>
              </a:rPr>
              <a:t>СОТРУДНИКИ</a:t>
            </a:r>
            <a:r>
              <a:rPr lang="ru-RU" sz="2400" dirty="0"/>
              <a:t>,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ru-RU" sz="2400" b="1" dirty="0">
                <a:solidFill>
                  <a:srgbClr val="7030A0"/>
                </a:solidFill>
              </a:rPr>
              <a:t>	О</a:t>
            </a:r>
            <a:r>
              <a:rPr lang="ru-RU" sz="2400" dirty="0"/>
              <a:t> – переменная-кортеж на отношении </a:t>
            </a:r>
            <a:r>
              <a:rPr lang="ru-RU" sz="2400" b="1" dirty="0">
                <a:solidFill>
                  <a:srgbClr val="7030A0"/>
                </a:solidFill>
              </a:rPr>
              <a:t>ОТДЕЛЫ</a:t>
            </a:r>
            <a:endParaRPr lang="en-US" sz="2400" b="1" dirty="0">
              <a:solidFill>
                <a:srgbClr val="7030A0"/>
              </a:solidFill>
            </a:endParaRP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ru-RU" sz="2600" dirty="0"/>
              <a:t>то формула, реализующая запрос выглядит так: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ru-RU" sz="2600" dirty="0"/>
              <a:t>  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en-US" sz="2100" dirty="0"/>
              <a:t>{</a:t>
            </a:r>
            <a:r>
              <a:rPr lang="ru-RU" sz="2100" dirty="0" err="1"/>
              <a:t>СотрИМЯ</a:t>
            </a:r>
            <a:r>
              <a:rPr lang="en-US" sz="2100" dirty="0"/>
              <a:t>, </a:t>
            </a:r>
            <a:r>
              <a:rPr lang="ru-RU" sz="2100" dirty="0" err="1"/>
              <a:t>СотрНОМ</a:t>
            </a:r>
            <a:r>
              <a:rPr lang="en-US" sz="2100" dirty="0"/>
              <a:t>| </a:t>
            </a:r>
            <a:r>
              <a:rPr lang="ru-RU" sz="2100" b="1" dirty="0">
                <a:solidFill>
                  <a:schemeClr val="bg2"/>
                </a:solidFill>
              </a:rPr>
              <a:t>С.</a:t>
            </a:r>
            <a:r>
              <a:rPr lang="ru-RU" sz="2100" dirty="0"/>
              <a:t> </a:t>
            </a:r>
            <a:r>
              <a:rPr lang="ru-RU" sz="2100" b="1" dirty="0" err="1">
                <a:solidFill>
                  <a:schemeClr val="bg2"/>
                </a:solidFill>
              </a:rPr>
              <a:t>СотрНОМ</a:t>
            </a:r>
            <a:r>
              <a:rPr lang="ru-RU" sz="2100" b="1" dirty="0">
                <a:solidFill>
                  <a:schemeClr val="bg2"/>
                </a:solidFill>
              </a:rPr>
              <a:t> </a:t>
            </a:r>
            <a:r>
              <a:rPr lang="ru-RU" sz="2100" dirty="0"/>
              <a:t>= </a:t>
            </a:r>
            <a:r>
              <a:rPr lang="ru-RU" sz="2100" b="1" dirty="0" err="1">
                <a:solidFill>
                  <a:schemeClr val="bg2"/>
                </a:solidFill>
              </a:rPr>
              <a:t>О.ОтдНАЧ</a:t>
            </a:r>
            <a:r>
              <a:rPr lang="en-US" sz="2100" dirty="0"/>
              <a:t> and </a:t>
            </a:r>
            <a:r>
              <a:rPr lang="ru-RU" sz="2100" b="1" dirty="0">
                <a:solidFill>
                  <a:schemeClr val="bg2"/>
                </a:solidFill>
              </a:rPr>
              <a:t>О. </a:t>
            </a:r>
            <a:r>
              <a:rPr lang="ru-RU" sz="2100" b="1" dirty="0" err="1">
                <a:solidFill>
                  <a:schemeClr val="bg2"/>
                </a:solidFill>
              </a:rPr>
              <a:t>ОтдКОЛ</a:t>
            </a:r>
            <a:r>
              <a:rPr lang="ru-RU" sz="2100" dirty="0"/>
              <a:t> </a:t>
            </a:r>
            <a:r>
              <a:rPr lang="ru-RU" sz="2100" b="1" dirty="0">
                <a:solidFill>
                  <a:schemeClr val="bg2"/>
                </a:solidFill>
              </a:rPr>
              <a:t>&gt; 50</a:t>
            </a:r>
            <a:r>
              <a:rPr lang="en-US" sz="2100" b="1" dirty="0">
                <a:solidFill>
                  <a:schemeClr val="bg2"/>
                </a:solidFill>
              </a:rPr>
              <a:t> </a:t>
            </a:r>
            <a:r>
              <a:rPr lang="en-US" sz="2100" dirty="0"/>
              <a:t>}</a:t>
            </a:r>
            <a:endParaRPr lang="ru-RU" sz="2100" dirty="0"/>
          </a:p>
          <a:p>
            <a:pPr marL="0" indent="0" eaLnBrk="1" hangingPunct="1">
              <a:lnSpc>
                <a:spcPct val="120000"/>
              </a:lnSpc>
              <a:buNone/>
            </a:pPr>
            <a:endParaRPr lang="en-US" sz="2400" dirty="0"/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ru-RU" sz="2400" dirty="0"/>
              <a:t>Пусть </a:t>
            </a:r>
            <a:r>
              <a:rPr lang="en-US" sz="2400" dirty="0"/>
              <a:t>t </a:t>
            </a:r>
            <a:r>
              <a:rPr lang="ru-RU" sz="2400" dirty="0"/>
              <a:t>= С. </a:t>
            </a:r>
            <a:r>
              <a:rPr lang="ru-RU" sz="2400" dirty="0" err="1"/>
              <a:t>СотрИМЯ</a:t>
            </a:r>
            <a:r>
              <a:rPr lang="en-US" sz="2400" dirty="0"/>
              <a:t>, </a:t>
            </a:r>
            <a:r>
              <a:rPr lang="ru-RU" sz="2400" dirty="0"/>
              <a:t>С. </a:t>
            </a:r>
            <a:r>
              <a:rPr lang="ru-RU" sz="2400" dirty="0" err="1"/>
              <a:t>СотрНОМ</a:t>
            </a:r>
            <a:r>
              <a:rPr lang="ru-RU" sz="2400" dirty="0"/>
              <a:t> (переменная кортеж формирующегося отношения)</a:t>
            </a:r>
            <a:endParaRPr lang="en-US" sz="2400" dirty="0"/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ru-RU" sz="2400" dirty="0"/>
              <a:t>а формула </a:t>
            </a:r>
            <a:r>
              <a:rPr lang="el-GR" sz="2400" b="1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φ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(t)</a:t>
            </a: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</a:t>
            </a:r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ru-RU" sz="2500" b="1" dirty="0">
                <a:solidFill>
                  <a:schemeClr val="bg2"/>
                </a:solidFill>
              </a:rPr>
              <a:t>С.</a:t>
            </a:r>
            <a:r>
              <a:rPr lang="ru-RU" sz="2400" dirty="0"/>
              <a:t> </a:t>
            </a:r>
            <a:r>
              <a:rPr lang="ru-RU" sz="2400" dirty="0" err="1"/>
              <a:t>Сотр</a:t>
            </a:r>
            <a:r>
              <a:rPr lang="ru-RU" sz="2400" b="1" dirty="0" err="1">
                <a:solidFill>
                  <a:schemeClr val="bg2"/>
                </a:solidFill>
              </a:rPr>
              <a:t>НОМ</a:t>
            </a:r>
            <a:r>
              <a:rPr lang="ru-RU" sz="2400" b="1" dirty="0">
                <a:solidFill>
                  <a:schemeClr val="bg2"/>
                </a:solidFill>
              </a:rPr>
              <a:t> </a:t>
            </a:r>
            <a:r>
              <a:rPr lang="ru-RU" sz="2400" dirty="0"/>
              <a:t>= </a:t>
            </a:r>
            <a:r>
              <a:rPr lang="ru-RU" sz="2500" b="1" dirty="0">
                <a:solidFill>
                  <a:schemeClr val="bg2"/>
                </a:solidFill>
              </a:rPr>
              <a:t>О.</a:t>
            </a:r>
            <a:r>
              <a:rPr lang="ru-RU" sz="2400" b="1" dirty="0">
                <a:solidFill>
                  <a:schemeClr val="bg2"/>
                </a:solidFill>
              </a:rPr>
              <a:t> </a:t>
            </a:r>
            <a:r>
              <a:rPr lang="ru-RU" sz="2400" b="1" dirty="0" err="1">
                <a:solidFill>
                  <a:schemeClr val="bg2"/>
                </a:solidFill>
              </a:rPr>
              <a:t>ОтдНАЧ</a:t>
            </a:r>
            <a:r>
              <a:rPr lang="en-US" sz="2400" dirty="0"/>
              <a:t> and </a:t>
            </a:r>
            <a:r>
              <a:rPr lang="ru-RU" sz="2500" b="1" dirty="0">
                <a:solidFill>
                  <a:schemeClr val="bg2"/>
                </a:solidFill>
              </a:rPr>
              <a:t>О.</a:t>
            </a:r>
            <a:r>
              <a:rPr lang="ru-RU" sz="2400" b="1" dirty="0">
                <a:solidFill>
                  <a:schemeClr val="bg2"/>
                </a:solidFill>
              </a:rPr>
              <a:t> </a:t>
            </a:r>
            <a:r>
              <a:rPr lang="ru-RU" sz="2400" b="1" dirty="0" err="1">
                <a:solidFill>
                  <a:schemeClr val="bg2"/>
                </a:solidFill>
              </a:rPr>
              <a:t>ОтдКОЛ</a:t>
            </a:r>
            <a:r>
              <a:rPr lang="ru-RU" sz="2400" dirty="0"/>
              <a:t> </a:t>
            </a:r>
            <a:r>
              <a:rPr lang="ru-RU" sz="2400" b="1" dirty="0">
                <a:solidFill>
                  <a:schemeClr val="bg2"/>
                </a:solidFill>
              </a:rPr>
              <a:t>&gt; 50 (</a:t>
            </a:r>
            <a:r>
              <a:rPr lang="ru-RU" sz="2400" dirty="0"/>
              <a:t>формула, определяющая условие вхождения кортежа в отношение-результат), </a:t>
            </a:r>
            <a:r>
              <a:rPr lang="ru-RU" sz="2600" dirty="0"/>
              <a:t>т</a:t>
            </a:r>
            <a:r>
              <a:rPr lang="ru-RU" sz="2600" dirty="0">
                <a:solidFill>
                  <a:schemeClr val="bg2"/>
                </a:solidFill>
              </a:rPr>
              <a:t>огда общий вид выражения реляционного исчисления на кортежах будет </a:t>
            </a:r>
            <a:r>
              <a:rPr lang="ru-RU" sz="3400" dirty="0">
                <a:solidFill>
                  <a:schemeClr val="bg2"/>
                </a:solidFill>
              </a:rPr>
              <a:t> </a:t>
            </a:r>
            <a:r>
              <a:rPr lang="en-US" sz="34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{</a:t>
            </a:r>
            <a:r>
              <a:rPr lang="ru-RU" sz="34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</a:t>
            </a:r>
            <a:r>
              <a:rPr lang="en-US" sz="34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t | </a:t>
            </a:r>
            <a:r>
              <a:rPr lang="el-GR" sz="34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φ</a:t>
            </a:r>
            <a:r>
              <a:rPr lang="en-US" sz="34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(t) }</a:t>
            </a:r>
            <a:endParaRPr lang="ru-RU" sz="2400" dirty="0">
              <a:solidFill>
                <a:schemeClr val="bg2"/>
              </a:solidFill>
              <a:cs typeface="Times New Roman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4</a:t>
            </a:fld>
            <a:endParaRPr lang="ru-RU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9B0D524-F611-4690-967B-89BB48961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515" y="132565"/>
            <a:ext cx="8910990" cy="811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SzTx/>
              <a:buFontTx/>
              <a:defRPr/>
            </a:pPr>
            <a:r>
              <a:rPr lang="ru-RU" sz="2400" kern="0">
                <a:solidFill>
                  <a:schemeClr val="bg2"/>
                </a:solidFill>
              </a:rPr>
              <a:t>Запросы в реляционной алгебре и реляционном исчислении</a:t>
            </a:r>
            <a:endParaRPr lang="ru-RU" sz="2400" kern="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811196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ru-RU" sz="3600" dirty="0">
                <a:solidFill>
                  <a:schemeClr val="bg2"/>
                </a:solidFill>
              </a:rPr>
              <a:t>Реляционное исчисление на кортежах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20" y="1071546"/>
            <a:ext cx="8597930" cy="5572164"/>
          </a:xfrm>
        </p:spPr>
        <p:txBody>
          <a:bodyPr>
            <a:normAutofit fontScale="70000" lnSpcReduction="20000"/>
          </a:bodyPr>
          <a:lstStyle/>
          <a:p>
            <a:pPr marL="0" indent="0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ru-RU" sz="2400" dirty="0"/>
              <a:t>Итак, выражения реляционного исчисления на кортежах имеют вид:</a:t>
            </a:r>
          </a:p>
          <a:p>
            <a:pPr marL="0" indent="0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 | </a:t>
            </a:r>
            <a:r>
              <a:rPr lang="el-GR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(t) }</a:t>
            </a:r>
            <a:endParaRPr lang="ru-RU" sz="28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ru-RU" sz="2400" dirty="0"/>
              <a:t>где</a:t>
            </a:r>
            <a:r>
              <a:rPr lang="ru-RU" sz="2800" dirty="0"/>
              <a:t> </a:t>
            </a:r>
            <a:r>
              <a:rPr lang="en-US" sz="280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t </a:t>
            </a:r>
            <a:r>
              <a:rPr lang="ru-RU" sz="2800" dirty="0"/>
              <a:t>– </a:t>
            </a:r>
            <a:r>
              <a:rPr lang="ru-RU" sz="2400" dirty="0"/>
              <a:t>переменная кортеж некоторой фиксированной длины, </a:t>
            </a:r>
            <a:br>
              <a:rPr lang="ru-RU" sz="2400" dirty="0"/>
            </a:br>
            <a:r>
              <a:rPr lang="ru-RU" sz="2400" dirty="0"/>
              <a:t>    а </a:t>
            </a:r>
            <a:r>
              <a:rPr lang="el-GR" sz="2400" b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ru-RU" sz="2400" dirty="0">
                <a:solidFill>
                  <a:schemeClr val="bg2"/>
                </a:solidFill>
                <a:cs typeface="Times New Roman"/>
              </a:rPr>
              <a:t> </a:t>
            </a:r>
            <a:r>
              <a:rPr lang="ru-RU" sz="2400" dirty="0">
                <a:cs typeface="Times New Roman"/>
              </a:rPr>
              <a:t>– формула, построенная из атомов и совокупности операторов. 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ru-RU" sz="2400" b="1" dirty="0">
                <a:cs typeface="Times New Roman"/>
              </a:rPr>
              <a:t>Семантика выражения </a:t>
            </a:r>
            <a:r>
              <a:rPr lang="ru-RU" sz="2400" dirty="0">
                <a:cs typeface="Times New Roman"/>
              </a:rPr>
              <a:t>–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  <a:cs typeface="Times New Roman"/>
              </a:rPr>
              <a:t>множество кортежей </a:t>
            </a:r>
            <a:r>
              <a:rPr lang="en-US" sz="29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  <a:cs typeface="Times New Roman"/>
              </a:rPr>
              <a:t>, удовлетворяющих формулу </a:t>
            </a:r>
            <a:r>
              <a:rPr lang="el-GR" sz="2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ru-RU" sz="29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>
              <a:solidFill>
                <a:schemeClr val="bg2">
                  <a:lumMod val="60000"/>
                  <a:lumOff val="40000"/>
                </a:schemeClr>
              </a:solidFill>
              <a:cs typeface="Times New Roman"/>
            </a:endParaRP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ru-RU" sz="2400" i="1" u="sng" dirty="0">
                <a:cs typeface="Times New Roman"/>
              </a:rPr>
              <a:t>Атомы</a:t>
            </a:r>
            <a:r>
              <a:rPr lang="ru-RU" sz="2400" dirty="0">
                <a:cs typeface="Times New Roman"/>
              </a:rPr>
              <a:t> формулы </a:t>
            </a:r>
            <a:r>
              <a:rPr lang="el-GR" sz="2400" dirty="0">
                <a:cs typeface="Times New Roman"/>
              </a:rPr>
              <a:t>φ</a:t>
            </a:r>
            <a:r>
              <a:rPr lang="ru-RU" sz="2400" dirty="0">
                <a:cs typeface="Times New Roman"/>
              </a:rPr>
              <a:t> могут быть 3 типов:</a:t>
            </a:r>
          </a:p>
          <a:p>
            <a:pPr marL="457200" indent="-457200" eaLnBrk="1" hangingPunct="1">
              <a:lnSpc>
                <a:spcPct val="120000"/>
              </a:lnSpc>
              <a:spcBef>
                <a:spcPts val="600"/>
              </a:spcBef>
              <a:buClr>
                <a:schemeClr val="tx1"/>
              </a:buClr>
              <a:buSzPct val="90000"/>
              <a:buAutoNum type="arabicPeriod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 (s)</a:t>
            </a:r>
            <a:r>
              <a:rPr lang="ru-RU" sz="2400" dirty="0">
                <a:cs typeface="Times New Roman"/>
              </a:rPr>
              <a:t>, где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dirty="0">
                <a:solidFill>
                  <a:schemeClr val="bg2"/>
                </a:solidFill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– </a:t>
            </a:r>
            <a:r>
              <a:rPr lang="ru-RU" sz="2400" dirty="0">
                <a:cs typeface="Times New Roman"/>
              </a:rPr>
              <a:t>имя отношения, а 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cs typeface="Times New Roman"/>
              </a:rPr>
              <a:t> – </a:t>
            </a:r>
            <a:r>
              <a:rPr lang="ru-RU" sz="2400" dirty="0">
                <a:cs typeface="Times New Roman"/>
              </a:rPr>
              <a:t>переменная-кортеж</a:t>
            </a:r>
            <a:r>
              <a:rPr lang="en-US" sz="2400" dirty="0">
                <a:cs typeface="Times New Roman"/>
              </a:rPr>
              <a:t>. </a:t>
            </a:r>
            <a:br>
              <a:rPr lang="ru-RU" sz="2400" dirty="0">
                <a:cs typeface="Times New Roman"/>
              </a:rPr>
            </a:br>
            <a:r>
              <a:rPr lang="ru-RU" sz="2400" dirty="0">
                <a:cs typeface="Times New Roman"/>
              </a:rPr>
              <a:t>Этот атом означает, что </a:t>
            </a:r>
            <a:r>
              <a:rPr lang="en-US" sz="260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solidFill>
                  <a:schemeClr val="bg2"/>
                </a:solidFill>
                <a:cs typeface="Times New Roman"/>
              </a:rPr>
              <a:t> </a:t>
            </a:r>
            <a:r>
              <a:rPr lang="ru-RU" sz="2400" dirty="0">
                <a:cs typeface="Times New Roman"/>
              </a:rPr>
              <a:t>есть кортеж в отношении </a:t>
            </a:r>
            <a:r>
              <a:rPr lang="en-US" sz="260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sz="260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sz="260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90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ru-RU" sz="260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000" dirty="0">
                <a:solidFill>
                  <a:schemeClr val="bg2"/>
                </a:solidFill>
                <a:cs typeface="Times New Roman" pitchFamily="18" charset="0"/>
              </a:rPr>
              <a:t>В программировании – это  позиция объявления переменной. </a:t>
            </a:r>
            <a:br>
              <a:rPr lang="ru-RU" sz="2000" dirty="0">
                <a:solidFill>
                  <a:schemeClr val="bg2"/>
                </a:solidFill>
                <a:cs typeface="Times New Roman" pitchFamily="18" charset="0"/>
              </a:rPr>
            </a:br>
            <a:r>
              <a:rPr lang="ru-RU" sz="2000" u="sng" dirty="0">
                <a:solidFill>
                  <a:schemeClr val="bg2"/>
                </a:solidFill>
                <a:cs typeface="Times New Roman" pitchFamily="18" charset="0"/>
              </a:rPr>
              <a:t>Отношения</a:t>
            </a:r>
            <a:r>
              <a:rPr lang="ru-RU" sz="2000" dirty="0">
                <a:solidFill>
                  <a:schemeClr val="bg2"/>
                </a:solidFill>
                <a:cs typeface="Times New Roman" pitchFamily="18" charset="0"/>
              </a:rPr>
              <a:t>: Студенты(</a:t>
            </a:r>
            <a:r>
              <a:rPr lang="ru-RU" sz="2000" dirty="0" err="1">
                <a:solidFill>
                  <a:schemeClr val="bg2"/>
                </a:solidFill>
                <a:cs typeface="Times New Roman" pitchFamily="18" charset="0"/>
              </a:rPr>
              <a:t>н_ст</a:t>
            </a:r>
            <a:r>
              <a:rPr lang="ru-RU" sz="2000" dirty="0">
                <a:solidFill>
                  <a:schemeClr val="bg2"/>
                </a:solidFill>
                <a:cs typeface="Times New Roman" pitchFamily="18" charset="0"/>
              </a:rPr>
              <a:t>, имя, </a:t>
            </a:r>
            <a:r>
              <a:rPr lang="ru-RU" sz="2000" dirty="0" err="1">
                <a:solidFill>
                  <a:schemeClr val="bg2"/>
                </a:solidFill>
                <a:cs typeface="Times New Roman" pitchFamily="18" charset="0"/>
              </a:rPr>
              <a:t>н_гр</a:t>
            </a:r>
            <a:r>
              <a:rPr lang="ru-RU" sz="2000" dirty="0">
                <a:solidFill>
                  <a:schemeClr val="bg2"/>
                </a:solidFill>
                <a:cs typeface="Times New Roman" pitchFamily="18" charset="0"/>
              </a:rPr>
              <a:t>), Преподаватели(</a:t>
            </a:r>
            <a:r>
              <a:rPr lang="ru-RU" sz="2000" dirty="0" err="1">
                <a:solidFill>
                  <a:schemeClr val="bg2"/>
                </a:solidFill>
                <a:cs typeface="Times New Roman" pitchFamily="18" charset="0"/>
              </a:rPr>
              <a:t>н_пр</a:t>
            </a:r>
            <a:r>
              <a:rPr lang="ru-RU" sz="2000" dirty="0">
                <a:solidFill>
                  <a:schemeClr val="bg2"/>
                </a:solidFill>
                <a:cs typeface="Times New Roman" pitchFamily="18" charset="0"/>
              </a:rPr>
              <a:t>, имя, тел</a:t>
            </a:r>
            <a:r>
              <a:rPr lang="en-US" sz="2000" dirty="0">
                <a:solidFill>
                  <a:schemeClr val="bg2"/>
                </a:solidFill>
                <a:cs typeface="Times New Roman" pitchFamily="18" charset="0"/>
              </a:rPr>
              <a:t>)</a:t>
            </a:r>
            <a:r>
              <a:rPr lang="ru-RU" sz="2000" dirty="0">
                <a:solidFill>
                  <a:schemeClr val="bg2"/>
                </a:solidFill>
                <a:cs typeface="Times New Roman" pitchFamily="18" charset="0"/>
              </a:rPr>
              <a:t>, </a:t>
            </a:r>
            <a:br>
              <a:rPr lang="ru-RU" sz="2000" dirty="0">
                <a:solidFill>
                  <a:schemeClr val="bg2"/>
                </a:solidFill>
                <a:cs typeface="Times New Roman" pitchFamily="18" charset="0"/>
              </a:rPr>
            </a:br>
            <a:r>
              <a:rPr lang="ru-RU" sz="2000" dirty="0">
                <a:solidFill>
                  <a:schemeClr val="bg2"/>
                </a:solidFill>
                <a:cs typeface="Times New Roman" pitchFamily="18" charset="0"/>
              </a:rPr>
              <a:t>Курсы(</a:t>
            </a:r>
            <a:r>
              <a:rPr lang="ru-RU" sz="2000" dirty="0" err="1">
                <a:solidFill>
                  <a:schemeClr val="bg2"/>
                </a:solidFill>
                <a:cs typeface="Times New Roman" pitchFamily="18" charset="0"/>
              </a:rPr>
              <a:t>н_кр</a:t>
            </a:r>
            <a:r>
              <a:rPr lang="ru-RU" sz="2000" dirty="0">
                <a:solidFill>
                  <a:schemeClr val="bg2"/>
                </a:solidFill>
                <a:cs typeface="Times New Roman" pitchFamily="18" charset="0"/>
              </a:rPr>
              <a:t>, </a:t>
            </a:r>
            <a:r>
              <a:rPr lang="ru-RU" sz="2000" dirty="0" err="1">
                <a:solidFill>
                  <a:schemeClr val="bg2"/>
                </a:solidFill>
                <a:cs typeface="Times New Roman" pitchFamily="18" charset="0"/>
              </a:rPr>
              <a:t>назв</a:t>
            </a:r>
            <a:r>
              <a:rPr lang="ru-RU" sz="2000" dirty="0">
                <a:solidFill>
                  <a:schemeClr val="bg2"/>
                </a:solidFill>
                <a:cs typeface="Times New Roman" pitchFamily="18" charset="0"/>
              </a:rPr>
              <a:t>, фак, сем), Расписание(</a:t>
            </a:r>
            <a:r>
              <a:rPr lang="ru-RU" sz="2000" dirty="0" err="1">
                <a:solidFill>
                  <a:schemeClr val="bg2"/>
                </a:solidFill>
                <a:cs typeface="Times New Roman" pitchFamily="18" charset="0"/>
              </a:rPr>
              <a:t>дн</a:t>
            </a:r>
            <a:r>
              <a:rPr lang="ru-RU" sz="2000" dirty="0">
                <a:solidFill>
                  <a:schemeClr val="bg2"/>
                </a:solidFill>
                <a:cs typeface="Times New Roman" pitchFamily="18" charset="0"/>
              </a:rPr>
              <a:t>, пара, </a:t>
            </a:r>
            <a:r>
              <a:rPr lang="ru-RU" sz="2000" dirty="0" err="1">
                <a:solidFill>
                  <a:schemeClr val="bg2"/>
                </a:solidFill>
                <a:cs typeface="Times New Roman" pitchFamily="18" charset="0"/>
              </a:rPr>
              <a:t>н_кр</a:t>
            </a:r>
            <a:r>
              <a:rPr lang="ru-RU" sz="2000" dirty="0">
                <a:solidFill>
                  <a:schemeClr val="bg2"/>
                </a:solidFill>
                <a:cs typeface="Times New Roman" pitchFamily="18" charset="0"/>
              </a:rPr>
              <a:t>, </a:t>
            </a:r>
            <a:r>
              <a:rPr lang="ru-RU" sz="2000" dirty="0" err="1">
                <a:solidFill>
                  <a:schemeClr val="bg2"/>
                </a:solidFill>
                <a:cs typeface="Times New Roman" pitchFamily="18" charset="0"/>
              </a:rPr>
              <a:t>н_пр</a:t>
            </a:r>
            <a:r>
              <a:rPr lang="ru-RU" sz="2000" dirty="0">
                <a:solidFill>
                  <a:schemeClr val="bg2"/>
                </a:solidFill>
                <a:cs typeface="Times New Roman" pitchFamily="18" charset="0"/>
              </a:rPr>
              <a:t>, </a:t>
            </a:r>
            <a:r>
              <a:rPr lang="ru-RU" sz="2000" dirty="0" err="1">
                <a:solidFill>
                  <a:schemeClr val="bg2"/>
                </a:solidFill>
                <a:cs typeface="Times New Roman" pitchFamily="18" charset="0"/>
              </a:rPr>
              <a:t>н_гр</a:t>
            </a:r>
            <a:r>
              <a:rPr lang="ru-RU" sz="2000" dirty="0">
                <a:solidFill>
                  <a:schemeClr val="bg2"/>
                </a:solidFill>
                <a:cs typeface="Times New Roman" pitchFamily="18" charset="0"/>
              </a:rPr>
              <a:t> )</a:t>
            </a:r>
            <a:br>
              <a:rPr lang="ru-RU" sz="2000" dirty="0">
                <a:solidFill>
                  <a:schemeClr val="bg2"/>
                </a:solidFill>
                <a:cs typeface="Times New Roman" pitchFamily="18" charset="0"/>
              </a:rPr>
            </a:br>
            <a:r>
              <a:rPr lang="ru-RU" sz="2000" u="sng" dirty="0">
                <a:solidFill>
                  <a:schemeClr val="bg2"/>
                </a:solidFill>
                <a:cs typeface="Times New Roman" pitchFamily="18" charset="0"/>
              </a:rPr>
              <a:t>Объявления переменных</a:t>
            </a:r>
            <a:r>
              <a:rPr lang="ru-RU" sz="2000" dirty="0">
                <a:solidFill>
                  <a:schemeClr val="bg2"/>
                </a:solidFill>
                <a:cs typeface="Times New Roman" pitchFamily="18" charset="0"/>
              </a:rPr>
              <a:t>: Студенты(с</a:t>
            </a:r>
            <a:r>
              <a:rPr lang="en-US" sz="2000" dirty="0">
                <a:solidFill>
                  <a:schemeClr val="bg2"/>
                </a:solidFill>
                <a:cs typeface="Times New Roman" pitchFamily="18" charset="0"/>
              </a:rPr>
              <a:t>)</a:t>
            </a:r>
            <a:r>
              <a:rPr lang="ru-RU" sz="2000" dirty="0">
                <a:solidFill>
                  <a:schemeClr val="bg2"/>
                </a:solidFill>
                <a:cs typeface="Times New Roman" pitchFamily="18" charset="0"/>
              </a:rPr>
              <a:t>, Преподаватели(п</a:t>
            </a:r>
            <a:r>
              <a:rPr lang="en-US" sz="2000" dirty="0">
                <a:solidFill>
                  <a:schemeClr val="bg2"/>
                </a:solidFill>
                <a:cs typeface="Times New Roman" pitchFamily="18" charset="0"/>
              </a:rPr>
              <a:t>)</a:t>
            </a:r>
            <a:r>
              <a:rPr lang="ru-RU" sz="2000" dirty="0">
                <a:solidFill>
                  <a:schemeClr val="bg2"/>
                </a:solidFill>
                <a:cs typeface="Times New Roman" pitchFamily="18" charset="0"/>
              </a:rPr>
              <a:t>, Курсы(к), Расписание(р),</a:t>
            </a:r>
          </a:p>
          <a:p>
            <a:pPr marL="457200" indent="-457200" eaLnBrk="1" hangingPunct="1">
              <a:lnSpc>
                <a:spcPct val="120000"/>
              </a:lnSpc>
              <a:buClr>
                <a:schemeClr val="tx1"/>
              </a:buClr>
              <a:buSzPct val="90000"/>
              <a:buAutoNum type="arabicPeriod"/>
            </a:pPr>
            <a:r>
              <a:rPr lang="en-US" sz="2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s[</a:t>
            </a:r>
            <a:r>
              <a:rPr lang="en-US" sz="2600" i="1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el-GR" sz="26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θ</a:t>
            </a:r>
            <a:r>
              <a:rPr lang="ru-RU" sz="26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u[</a:t>
            </a:r>
            <a:r>
              <a:rPr lang="en-US" sz="2600" i="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j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]</a:t>
            </a:r>
            <a:r>
              <a:rPr lang="ru-RU" sz="2400" dirty="0">
                <a:cs typeface="Times New Roman"/>
              </a:rPr>
              <a:t>, где </a:t>
            </a:r>
            <a:r>
              <a:rPr lang="en-US" sz="26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cs typeface="Times New Roman"/>
              </a:rPr>
              <a:t> </a:t>
            </a:r>
            <a:r>
              <a:rPr lang="ru-RU" sz="2400" dirty="0">
                <a:cs typeface="Times New Roman"/>
              </a:rPr>
              <a:t>и </a:t>
            </a:r>
            <a:r>
              <a:rPr lang="en-US" sz="26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2400" dirty="0">
                <a:cs typeface="Times New Roman"/>
              </a:rPr>
              <a:t> </a:t>
            </a:r>
            <a:r>
              <a:rPr lang="ru-RU" sz="2400" dirty="0">
                <a:cs typeface="Times New Roman"/>
              </a:rPr>
              <a:t>являются переменными-кортежами, </a:t>
            </a:r>
            <a:br>
              <a:rPr lang="ru-RU" sz="2400" dirty="0">
                <a:cs typeface="Times New Roman"/>
              </a:rPr>
            </a:br>
            <a:r>
              <a:rPr lang="ru-RU" sz="2400" dirty="0">
                <a:cs typeface="Times New Roman"/>
              </a:rPr>
              <a:t>а </a:t>
            </a:r>
            <a:r>
              <a:rPr lang="el-GR" sz="2400" dirty="0">
                <a:solidFill>
                  <a:schemeClr val="bg2"/>
                </a:solidFill>
                <a:latin typeface="Times New Roman"/>
                <a:cs typeface="Times New Roman"/>
              </a:rPr>
              <a:t>θ</a:t>
            </a:r>
            <a:r>
              <a:rPr lang="ru-RU" sz="2000" dirty="0">
                <a:solidFill>
                  <a:schemeClr val="bg2"/>
                </a:solidFill>
                <a:latin typeface="Times New Roman"/>
                <a:cs typeface="Times New Roman"/>
              </a:rPr>
              <a:t> </a:t>
            </a:r>
            <a:r>
              <a:rPr lang="ru-RU" sz="2000" dirty="0">
                <a:cs typeface="Times New Roman"/>
              </a:rPr>
              <a:t>– </a:t>
            </a:r>
            <a:r>
              <a:rPr lang="ru-RU" sz="2400" dirty="0">
                <a:cs typeface="Times New Roman"/>
              </a:rPr>
              <a:t>арифметический оператор сравнения ( </a:t>
            </a:r>
            <a:r>
              <a:rPr lang="en-US" sz="2400" dirty="0">
                <a:cs typeface="Times New Roman"/>
              </a:rPr>
              <a:t>&lt;, &gt;, = </a:t>
            </a:r>
            <a:r>
              <a:rPr lang="ru-RU" sz="2400" dirty="0">
                <a:cs typeface="Times New Roman"/>
              </a:rPr>
              <a:t> и т.д.) Этот атом означает, что </a:t>
            </a:r>
            <a:r>
              <a:rPr lang="en-US" sz="2600" i="1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600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–</a:t>
            </a:r>
            <a:r>
              <a:rPr lang="ru-RU" sz="2600" i="1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ый</a:t>
            </a:r>
            <a:r>
              <a:rPr lang="ru-RU" sz="2600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cs typeface="Times New Roman" pitchFamily="18" charset="0"/>
              </a:rPr>
              <a:t>компонент 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sz="260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cs typeface="Times New Roman" pitchFamily="18" charset="0"/>
              </a:rPr>
              <a:t>находится</a:t>
            </a:r>
            <a:r>
              <a:rPr lang="ru-RU" sz="240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cs typeface="Times New Roman" pitchFamily="18" charset="0"/>
              </a:rPr>
              <a:t>в отношении </a:t>
            </a:r>
            <a:r>
              <a:rPr lang="el-GR" sz="2800" dirty="0">
                <a:solidFill>
                  <a:schemeClr val="bg2"/>
                </a:solidFill>
                <a:latin typeface="Times New Roman"/>
                <a:cs typeface="Times New Roman"/>
              </a:rPr>
              <a:t>θ</a:t>
            </a:r>
            <a:r>
              <a:rPr lang="ru-RU" sz="2000" dirty="0">
                <a:solidFill>
                  <a:schemeClr val="bg2"/>
                </a:solidFill>
                <a:latin typeface="Times New Roman"/>
                <a:cs typeface="Times New Roman"/>
              </a:rPr>
              <a:t>  </a:t>
            </a:r>
            <a:r>
              <a:rPr lang="ru-RU" sz="2400" dirty="0">
                <a:cs typeface="Times New Roman"/>
              </a:rPr>
              <a:t>с </a:t>
            </a:r>
            <a:r>
              <a:rPr lang="en-US" sz="2400" i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ru-RU" sz="2400" i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 –</a:t>
            </a:r>
            <a:r>
              <a:rPr lang="ru-RU" sz="2400" i="1" dirty="0" err="1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ым</a:t>
            </a:r>
            <a:r>
              <a:rPr lang="ru-RU" sz="2400" i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cs typeface="Times New Roman" pitchFamily="18" charset="0"/>
              </a:rPr>
              <a:t>компонентом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bg2">
                    <a:lumMod val="40000"/>
                    <a:lumOff val="60000"/>
                  </a:schemeClr>
                </a:solidFill>
                <a:cs typeface="Times New Roman" pitchFamily="18" charset="0"/>
              </a:rPr>
              <a:t>u</a:t>
            </a:r>
            <a:r>
              <a:rPr lang="ru-RU" sz="2400" dirty="0">
                <a:cs typeface="Times New Roman" pitchFamily="18" charset="0"/>
              </a:rPr>
              <a:t>.</a:t>
            </a:r>
            <a:br>
              <a:rPr lang="ru-RU" sz="2400" dirty="0">
                <a:cs typeface="Times New Roman" pitchFamily="18" charset="0"/>
              </a:rPr>
            </a:br>
            <a:r>
              <a:rPr lang="ru-RU" sz="2200" dirty="0">
                <a:solidFill>
                  <a:schemeClr val="bg2"/>
                </a:solidFill>
                <a:cs typeface="Times New Roman" pitchFamily="18" charset="0"/>
              </a:rPr>
              <a:t>Примеры: с</a:t>
            </a:r>
            <a:r>
              <a:rPr lang="en-US" sz="2200" dirty="0">
                <a:solidFill>
                  <a:schemeClr val="bg2"/>
                </a:solidFill>
                <a:cs typeface="Times New Roman" pitchFamily="18" charset="0"/>
              </a:rPr>
              <a:t>[</a:t>
            </a:r>
            <a:r>
              <a:rPr lang="ru-RU" sz="2200" dirty="0">
                <a:solidFill>
                  <a:schemeClr val="bg2"/>
                </a:solidFill>
                <a:cs typeface="Times New Roman" pitchFamily="18" charset="0"/>
              </a:rPr>
              <a:t>3</a:t>
            </a:r>
            <a:r>
              <a:rPr lang="en-US" sz="2200" dirty="0">
                <a:solidFill>
                  <a:schemeClr val="bg2"/>
                </a:solidFill>
                <a:cs typeface="Times New Roman" pitchFamily="18" charset="0"/>
              </a:rPr>
              <a:t>]</a:t>
            </a:r>
            <a:r>
              <a:rPr lang="ru-RU" sz="2200" dirty="0">
                <a:solidFill>
                  <a:schemeClr val="bg2"/>
                </a:solidFill>
                <a:cs typeface="Times New Roman" pitchFamily="18" charset="0"/>
              </a:rPr>
              <a:t> = р</a:t>
            </a:r>
            <a:r>
              <a:rPr lang="en-US" sz="2200" dirty="0">
                <a:solidFill>
                  <a:schemeClr val="bg2"/>
                </a:solidFill>
                <a:cs typeface="Times New Roman" pitchFamily="18" charset="0"/>
              </a:rPr>
              <a:t>[</a:t>
            </a:r>
            <a:r>
              <a:rPr lang="ru-RU" sz="2200" dirty="0">
                <a:solidFill>
                  <a:schemeClr val="bg2"/>
                </a:solidFill>
                <a:cs typeface="Times New Roman" pitchFamily="18" charset="0"/>
              </a:rPr>
              <a:t>5</a:t>
            </a:r>
            <a:r>
              <a:rPr lang="en-US" sz="2200" dirty="0">
                <a:solidFill>
                  <a:schemeClr val="bg2"/>
                </a:solidFill>
                <a:cs typeface="Times New Roman" pitchFamily="18" charset="0"/>
              </a:rPr>
              <a:t>]</a:t>
            </a:r>
            <a:r>
              <a:rPr lang="ru-RU" sz="2200" dirty="0">
                <a:solidFill>
                  <a:schemeClr val="bg2"/>
                </a:solidFill>
                <a:cs typeface="Times New Roman" pitchFamily="18" charset="0"/>
              </a:rPr>
              <a:t>, к</a:t>
            </a:r>
            <a:r>
              <a:rPr lang="en-US" sz="2200" dirty="0">
                <a:solidFill>
                  <a:schemeClr val="bg2"/>
                </a:solidFill>
                <a:cs typeface="Times New Roman" pitchFamily="18" charset="0"/>
              </a:rPr>
              <a:t>[1] = </a:t>
            </a:r>
            <a:r>
              <a:rPr lang="ru-RU" sz="2200" dirty="0">
                <a:solidFill>
                  <a:schemeClr val="bg2"/>
                </a:solidFill>
                <a:cs typeface="Times New Roman" pitchFamily="18" charset="0"/>
              </a:rPr>
              <a:t>р</a:t>
            </a:r>
            <a:r>
              <a:rPr lang="en-US" sz="2200" dirty="0">
                <a:solidFill>
                  <a:schemeClr val="bg2"/>
                </a:solidFill>
                <a:cs typeface="Times New Roman" pitchFamily="18" charset="0"/>
              </a:rPr>
              <a:t>[3]</a:t>
            </a:r>
            <a:endParaRPr lang="en-US" sz="2200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 eaLnBrk="1" hangingPunct="1">
              <a:lnSpc>
                <a:spcPct val="120000"/>
              </a:lnSpc>
              <a:buClr>
                <a:schemeClr val="tx1"/>
              </a:buClr>
              <a:buSzPct val="90000"/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s[</a:t>
            </a:r>
            <a:r>
              <a:rPr lang="en-US" sz="2400" i="1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el-GR" sz="28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θ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l-GR" sz="28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α</a:t>
            </a:r>
            <a:r>
              <a:rPr lang="ru-RU" sz="2800" dirty="0">
                <a:solidFill>
                  <a:schemeClr val="bg2"/>
                </a:solidFill>
                <a:latin typeface="Times New Roman"/>
                <a:cs typeface="Times New Roman"/>
              </a:rPr>
              <a:t>, </a:t>
            </a:r>
            <a:r>
              <a:rPr lang="el-GR" sz="28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α</a:t>
            </a:r>
            <a:r>
              <a:rPr lang="ru-RU" sz="2800" dirty="0">
                <a:solidFill>
                  <a:schemeClr val="bg2"/>
                </a:solidFill>
                <a:latin typeface="Times New Roman"/>
                <a:cs typeface="Times New Roman"/>
              </a:rPr>
              <a:t> </a:t>
            </a:r>
            <a:r>
              <a:rPr lang="el-GR" sz="24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θ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s[</a:t>
            </a:r>
            <a:r>
              <a:rPr lang="en-US" sz="2400" i="1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>
                <a:cs typeface="Times New Roman"/>
              </a:rPr>
              <a:t>где </a:t>
            </a:r>
            <a:r>
              <a:rPr lang="en-US" sz="26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sz="26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cs typeface="Times New Roman"/>
              </a:rPr>
              <a:t>является переменной-кортежем, а</a:t>
            </a:r>
            <a:r>
              <a:rPr lang="en-US" sz="2400" dirty="0">
                <a:cs typeface="Times New Roman"/>
              </a:rPr>
              <a:t> </a:t>
            </a:r>
            <a:r>
              <a:rPr lang="el-GR" sz="24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α</a:t>
            </a:r>
            <a:r>
              <a:rPr lang="el-GR" sz="2400" dirty="0">
                <a:solidFill>
                  <a:schemeClr val="bg2"/>
                </a:solidFill>
                <a:latin typeface="Times New Roman"/>
                <a:cs typeface="Times New Roman"/>
              </a:rPr>
              <a:t> </a:t>
            </a:r>
            <a:r>
              <a:rPr lang="ru-RU" sz="2400" dirty="0">
                <a:solidFill>
                  <a:schemeClr val="bg2"/>
                </a:solidFill>
                <a:latin typeface="Times New Roman"/>
                <a:cs typeface="Times New Roman"/>
              </a:rPr>
              <a:t>– </a:t>
            </a:r>
            <a:r>
              <a:rPr lang="ru-RU" sz="2400" dirty="0">
                <a:cs typeface="Times New Roman"/>
              </a:rPr>
              <a:t>константа</a:t>
            </a:r>
            <a:br>
              <a:rPr lang="en-US" sz="2400" dirty="0">
                <a:cs typeface="Times New Roman"/>
              </a:rPr>
            </a:br>
            <a:r>
              <a:rPr lang="ru-RU" sz="2200" dirty="0">
                <a:solidFill>
                  <a:schemeClr val="bg2"/>
                </a:solidFill>
                <a:cs typeface="Times New Roman" pitchFamily="18" charset="0"/>
              </a:rPr>
              <a:t>Примеры: к</a:t>
            </a:r>
            <a:r>
              <a:rPr lang="en-US" sz="2200" dirty="0">
                <a:solidFill>
                  <a:schemeClr val="bg2"/>
                </a:solidFill>
                <a:cs typeface="Times New Roman" pitchFamily="18" charset="0"/>
              </a:rPr>
              <a:t>[2]</a:t>
            </a:r>
            <a:r>
              <a:rPr lang="ru-RU" sz="2200" dirty="0">
                <a:solidFill>
                  <a:schemeClr val="bg2"/>
                </a:solidFill>
                <a:cs typeface="Times New Roman" pitchFamily="18" charset="0"/>
              </a:rPr>
              <a:t> = </a:t>
            </a:r>
            <a:r>
              <a:rPr lang="en-US" sz="2200" dirty="0">
                <a:solidFill>
                  <a:schemeClr val="bg2"/>
                </a:solidFill>
                <a:cs typeface="Times New Roman" pitchFamily="18" charset="0"/>
              </a:rPr>
              <a:t>‘</a:t>
            </a:r>
            <a:r>
              <a:rPr lang="ru-RU" sz="2200" dirty="0">
                <a:solidFill>
                  <a:schemeClr val="bg2"/>
                </a:solidFill>
                <a:cs typeface="Times New Roman" pitchFamily="18" charset="0"/>
              </a:rPr>
              <a:t>Базы данных</a:t>
            </a:r>
            <a:r>
              <a:rPr lang="en-US" sz="2200" dirty="0">
                <a:solidFill>
                  <a:schemeClr val="bg2"/>
                </a:solidFill>
                <a:cs typeface="Times New Roman" pitchFamily="18" charset="0"/>
              </a:rPr>
              <a:t>’</a:t>
            </a:r>
            <a:endParaRPr lang="en-US" sz="2200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lnSpc>
                <a:spcPct val="120000"/>
              </a:lnSpc>
              <a:buClr>
                <a:schemeClr val="tx1"/>
              </a:buClr>
              <a:buSzPct val="90000"/>
              <a:buNone/>
            </a:pPr>
            <a:endParaRPr lang="ru-RU" sz="2400" dirty="0">
              <a:cs typeface="Times New Roman"/>
            </a:endParaRPr>
          </a:p>
          <a:p>
            <a:pPr marL="457200" indent="-457200" eaLnBrk="1" hangingPunct="1">
              <a:lnSpc>
                <a:spcPct val="120000"/>
              </a:lnSpc>
              <a:buClrTx/>
              <a:buSzPct val="90000"/>
              <a:buAutoNum type="arabicPeriod"/>
            </a:pPr>
            <a:endParaRPr lang="en-US" sz="2400" dirty="0">
              <a:cs typeface="Times New Roman"/>
            </a:endParaRPr>
          </a:p>
          <a:p>
            <a:pPr marL="457200" indent="-457200" eaLnBrk="1" hangingPunct="1">
              <a:lnSpc>
                <a:spcPct val="120000"/>
              </a:lnSpc>
              <a:buClrTx/>
              <a:buSzPct val="90000"/>
              <a:buAutoNum type="arabicPeriod"/>
            </a:pPr>
            <a:endParaRPr lang="ru-RU" sz="2400" dirty="0">
              <a:solidFill>
                <a:schemeClr val="bg2"/>
              </a:solidFill>
              <a:cs typeface="Times New Roman"/>
            </a:endParaRPr>
          </a:p>
          <a:p>
            <a:pPr marL="457200" indent="-457200" eaLnBrk="1" hangingPunct="1">
              <a:lnSpc>
                <a:spcPct val="120000"/>
              </a:lnSpc>
              <a:buNone/>
            </a:pPr>
            <a:endParaRPr lang="ru-RU" sz="2400" dirty="0"/>
          </a:p>
          <a:p>
            <a:pPr marL="0" indent="0" eaLnBrk="1" hangingPunct="1">
              <a:lnSpc>
                <a:spcPct val="120000"/>
              </a:lnSpc>
              <a:buFont typeface="Wingdings" pitchFamily="2" charset="2"/>
              <a:buNone/>
            </a:pPr>
            <a:endParaRPr lang="ru-RU" sz="28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5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60349" y="728700"/>
            <a:ext cx="8767145" cy="6051550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ru-RU" dirty="0"/>
              <a:t>В  </a:t>
            </a:r>
            <a:r>
              <a:rPr lang="ru-RU" sz="3100" dirty="0"/>
              <a:t>выражениях РИК переменные-кортежи могут быть 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</a:rPr>
              <a:t>свободными</a:t>
            </a:r>
            <a:r>
              <a:rPr lang="ru-RU" sz="3100" dirty="0"/>
              <a:t> или 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</a:rPr>
              <a:t>связанными</a:t>
            </a:r>
            <a:r>
              <a:rPr lang="ru-RU" sz="3100" dirty="0"/>
              <a:t>.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>
              <a:lnSpc>
                <a:spcPct val="12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ru-RU" sz="3100" dirty="0"/>
              <a:t>Переменная связана, если в формуле ей предшествует квантор </a:t>
            </a:r>
            <a:r>
              <a:rPr lang="ru-RU" sz="3100" b="1" dirty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</a:t>
            </a:r>
            <a:r>
              <a:rPr lang="ru-RU" sz="3100" dirty="0">
                <a:cs typeface="Times New Roman"/>
                <a:sym typeface="Symbol"/>
              </a:rPr>
              <a:t> или </a:t>
            </a:r>
            <a:r>
              <a:rPr lang="ru-RU" sz="3100" b="1" dirty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</a:t>
            </a:r>
            <a:r>
              <a:rPr lang="ru-RU" sz="3100" b="1" dirty="0">
                <a:cs typeface="Times New Roman"/>
                <a:sym typeface="Symbol"/>
              </a:rPr>
              <a:t>.</a:t>
            </a:r>
          </a:p>
          <a:p>
            <a:pPr>
              <a:lnSpc>
                <a:spcPct val="12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ru-RU" sz="3100" dirty="0">
                <a:cs typeface="Times New Roman"/>
                <a:sym typeface="Symbol"/>
              </a:rPr>
              <a:t>Понятие свободной переменной аналогично понятию глобальной переменной в программировании, понятие связанной переменной – понятию локальной переменной</a:t>
            </a:r>
            <a:endParaRPr lang="ru-RU" sz="3100" b="1" dirty="0"/>
          </a:p>
          <a:p>
            <a:pPr>
              <a:lnSpc>
                <a:spcPct val="120000"/>
              </a:lnSpc>
              <a:buNone/>
            </a:pPr>
            <a:r>
              <a:rPr lang="ru-RU" sz="3100" u="sng" dirty="0"/>
              <a:t>Формулы</a:t>
            </a:r>
          </a:p>
          <a:p>
            <a:pPr marL="514350" indent="-514350">
              <a:lnSpc>
                <a:spcPct val="120000"/>
              </a:lnSpc>
              <a:buClrTx/>
              <a:buSzPct val="90000"/>
              <a:buAutoNum type="arabicPeriod"/>
            </a:pPr>
            <a:r>
              <a:rPr lang="ru-RU" sz="3100" dirty="0"/>
              <a:t>Каждый атом есть формула. Все вхождения переменных-кортежей в атоме являются свободными в этой формуле.</a:t>
            </a:r>
          </a:p>
          <a:p>
            <a:pPr marL="514350" indent="-514350">
              <a:lnSpc>
                <a:spcPct val="120000"/>
              </a:lnSpc>
              <a:buClrTx/>
              <a:buSzPct val="90000"/>
              <a:buAutoNum type="arabicPeriod"/>
            </a:pPr>
            <a:r>
              <a:rPr lang="ru-RU" sz="3100" dirty="0"/>
              <a:t>Если 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φ</a:t>
            </a:r>
            <a:r>
              <a:rPr lang="ru-RU" sz="3100" baseline="-25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1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ru-RU" sz="3100" dirty="0">
                <a:latin typeface="Times New Roman"/>
                <a:cs typeface="Times New Roman"/>
              </a:rPr>
              <a:t>и 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φ</a:t>
            </a:r>
            <a:r>
              <a:rPr lang="ru-RU" sz="3100" baseline="-25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2 </a:t>
            </a:r>
            <a:r>
              <a:rPr lang="ru-RU" sz="3100" dirty="0">
                <a:cs typeface="Times New Roman"/>
              </a:rPr>
              <a:t>– формулы, то 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φ</a:t>
            </a:r>
            <a:r>
              <a:rPr lang="ru-RU" sz="3100" baseline="-25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1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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φ</a:t>
            </a:r>
            <a:r>
              <a:rPr lang="ru-RU" sz="3100" baseline="-25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2 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, 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φ</a:t>
            </a:r>
            <a:r>
              <a:rPr lang="ru-RU" sz="3100" baseline="-25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1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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φ</a:t>
            </a:r>
            <a:r>
              <a:rPr lang="ru-RU" sz="3100" baseline="-25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2 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,</a:t>
            </a:r>
            <a:r>
              <a:rPr lang="ru-RU" sz="3100" baseline="-25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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φ</a:t>
            </a:r>
            <a:r>
              <a:rPr lang="ru-RU" sz="3100" baseline="-25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1 </a:t>
            </a:r>
            <a:r>
              <a:rPr lang="ru-RU" sz="3100" dirty="0">
                <a:cs typeface="Times New Roman"/>
              </a:rPr>
              <a:t>–</a:t>
            </a:r>
            <a:r>
              <a:rPr lang="ru-RU" sz="3100" dirty="0">
                <a:latin typeface="Times New Roman"/>
                <a:cs typeface="Times New Roman"/>
              </a:rPr>
              <a:t> </a:t>
            </a:r>
            <a:r>
              <a:rPr lang="ru-RU" sz="3100" dirty="0">
                <a:cs typeface="Times New Roman"/>
              </a:rPr>
              <a:t>также формулы. П</a:t>
            </a:r>
            <a:r>
              <a:rPr lang="ru-RU" sz="3100" dirty="0"/>
              <a:t>еременные-кортежи являются свободными или связанными в построенных формулах точно так же какими он были в исходных формулах.</a:t>
            </a:r>
          </a:p>
          <a:p>
            <a:pPr marL="514350" indent="-514350">
              <a:lnSpc>
                <a:spcPct val="120000"/>
              </a:lnSpc>
              <a:buClrTx/>
              <a:buSzPct val="90000"/>
              <a:buAutoNum type="arabicPeriod"/>
            </a:pPr>
            <a:r>
              <a:rPr lang="ru-RU" sz="3100" dirty="0"/>
              <a:t>Если 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φ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ru-RU" sz="3100" dirty="0">
                <a:latin typeface="Times New Roman"/>
                <a:cs typeface="Times New Roman"/>
              </a:rPr>
              <a:t>– </a:t>
            </a:r>
            <a:r>
              <a:rPr lang="ru-RU" sz="3100" dirty="0">
                <a:cs typeface="Times New Roman"/>
              </a:rPr>
              <a:t>формула, то </a:t>
            </a:r>
            <a:r>
              <a:rPr lang="ru-RU" sz="3100" b="1" dirty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 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s (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φ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)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ru-RU" sz="3100" dirty="0">
                <a:cs typeface="Times New Roman"/>
              </a:rPr>
              <a:t>также формула.</a:t>
            </a:r>
            <a:r>
              <a:rPr lang="en-US" sz="3100" dirty="0">
                <a:cs typeface="Times New Roman"/>
              </a:rPr>
              <a:t> </a:t>
            </a:r>
            <a:r>
              <a:rPr lang="ru-RU" sz="3100" dirty="0">
                <a:cs typeface="Times New Roman"/>
              </a:rPr>
              <a:t> Она истинна, если в области определения переменной 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s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 </a:t>
            </a:r>
            <a:r>
              <a:rPr lang="ru-RU" sz="3100" dirty="0">
                <a:cs typeface="Times New Roman"/>
                <a:sym typeface="Symbol"/>
              </a:rPr>
              <a:t>найдется хотя бы один кортеж, при котором формула 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φ</a:t>
            </a:r>
            <a:r>
              <a:rPr lang="ru-RU" sz="3100" dirty="0">
                <a:cs typeface="Times New Roman"/>
              </a:rPr>
              <a:t> примет значение </a:t>
            </a:r>
            <a:r>
              <a:rPr lang="en-US" sz="3100" dirty="0">
                <a:cs typeface="Times New Roman"/>
              </a:rPr>
              <a:t>‘</a:t>
            </a:r>
            <a:r>
              <a:rPr lang="ru-RU" sz="3100" dirty="0">
                <a:cs typeface="Times New Roman"/>
              </a:rPr>
              <a:t>истина</a:t>
            </a:r>
            <a:r>
              <a:rPr lang="en-US" sz="3100" dirty="0">
                <a:cs typeface="Times New Roman"/>
              </a:rPr>
              <a:t>’</a:t>
            </a:r>
            <a:endParaRPr lang="ru-RU" sz="3100" dirty="0">
              <a:cs typeface="Times New Roman"/>
            </a:endParaRPr>
          </a:p>
          <a:p>
            <a:pPr marL="514350" indent="-514350">
              <a:lnSpc>
                <a:spcPct val="120000"/>
              </a:lnSpc>
              <a:buClrTx/>
              <a:buSzPct val="90000"/>
              <a:buFont typeface="Wingdings" pitchFamily="2" charset="2"/>
              <a:buAutoNum type="arabicPeriod"/>
            </a:pPr>
            <a:r>
              <a:rPr lang="ru-RU" sz="3100" dirty="0"/>
              <a:t>Если 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φ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ru-RU" sz="3100" dirty="0">
                <a:latin typeface="Times New Roman"/>
                <a:cs typeface="Times New Roman"/>
              </a:rPr>
              <a:t>– </a:t>
            </a:r>
            <a:r>
              <a:rPr lang="ru-RU" sz="3100" dirty="0">
                <a:cs typeface="Times New Roman"/>
              </a:rPr>
              <a:t>формула, то </a:t>
            </a:r>
            <a:r>
              <a:rPr lang="ru-RU" sz="3100" b="1" dirty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 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s (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φ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)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ru-RU" sz="3100" dirty="0">
                <a:cs typeface="Times New Roman"/>
              </a:rPr>
              <a:t>также формула. Она истинна, если для всех </a:t>
            </a:r>
            <a:r>
              <a:rPr lang="ru-RU" sz="3100" dirty="0">
                <a:cs typeface="Times New Roman"/>
                <a:sym typeface="Symbol"/>
              </a:rPr>
              <a:t>кортежей из </a:t>
            </a:r>
            <a:r>
              <a:rPr lang="ru-RU" sz="3100" dirty="0">
                <a:cs typeface="Times New Roman"/>
              </a:rPr>
              <a:t>области определения переменной 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s</a:t>
            </a:r>
            <a:r>
              <a:rPr lang="ru-RU" sz="3100" dirty="0">
                <a:cs typeface="Times New Roman"/>
                <a:sym typeface="Symbol"/>
              </a:rPr>
              <a:t> формула 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φ</a:t>
            </a:r>
            <a:r>
              <a:rPr lang="ru-RU" sz="3100" dirty="0">
                <a:cs typeface="Times New Roman"/>
              </a:rPr>
              <a:t> принимает значение </a:t>
            </a:r>
            <a:r>
              <a:rPr lang="en-US" sz="3100" dirty="0">
                <a:cs typeface="Times New Roman"/>
              </a:rPr>
              <a:t>‘</a:t>
            </a:r>
            <a:r>
              <a:rPr lang="ru-RU" sz="3100" dirty="0">
                <a:cs typeface="Times New Roman"/>
              </a:rPr>
              <a:t>истина</a:t>
            </a:r>
            <a:r>
              <a:rPr lang="en-US" sz="3100" dirty="0">
                <a:cs typeface="Times New Roman"/>
              </a:rPr>
              <a:t>’</a:t>
            </a:r>
            <a:endParaRPr lang="ru-RU" sz="3100" dirty="0">
              <a:cs typeface="Times New Roman"/>
            </a:endParaRPr>
          </a:p>
          <a:p>
            <a:pPr marL="514350" indent="-514350">
              <a:lnSpc>
                <a:spcPct val="120000"/>
              </a:lnSpc>
              <a:buClrTx/>
              <a:buSzPct val="90000"/>
              <a:buAutoNum type="arabicPeriod"/>
            </a:pPr>
            <a:r>
              <a:rPr lang="ru-RU" sz="3100" dirty="0">
                <a:cs typeface="Times New Roman"/>
              </a:rPr>
              <a:t>В формулах могут быть скобки</a:t>
            </a:r>
          </a:p>
          <a:p>
            <a:pPr marL="514350" indent="-514350">
              <a:lnSpc>
                <a:spcPct val="120000"/>
              </a:lnSpc>
              <a:buClrTx/>
              <a:buSzPct val="90000"/>
              <a:buAutoNum type="arabicPeriod"/>
            </a:pPr>
            <a:r>
              <a:rPr lang="ru-RU" sz="3100" dirty="0">
                <a:cs typeface="Times New Roman"/>
              </a:rPr>
              <a:t>Ничто иное не является формулой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506620" y="157445"/>
            <a:ext cx="8229600" cy="635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ru-RU" sz="3600" dirty="0">
                <a:solidFill>
                  <a:schemeClr val="bg2"/>
                </a:solidFill>
              </a:rPr>
              <a:t>Реляционное исчисление на кортежах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6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0685" y="1043735"/>
            <a:ext cx="8686800" cy="5429288"/>
          </a:xfrm>
        </p:spPr>
        <p:txBody>
          <a:bodyPr>
            <a:normAutofit fontScale="92500"/>
          </a:bodyPr>
          <a:lstStyle/>
          <a:p>
            <a:r>
              <a:rPr lang="ru-RU" sz="2800" dirty="0">
                <a:latin typeface="+mj-lt"/>
              </a:rPr>
              <a:t>Выражение РИК есть выражение вида</a:t>
            </a:r>
          </a:p>
          <a:p>
            <a:pPr algn="ctr">
              <a:buNone/>
            </a:pP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 | </a:t>
            </a:r>
            <a:r>
              <a:rPr lang="el-GR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(t) }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dirty="0"/>
              <a:t> </a:t>
            </a:r>
          </a:p>
          <a:p>
            <a:pPr>
              <a:buNone/>
            </a:pPr>
            <a:r>
              <a:rPr lang="ru-RU" sz="2800" dirty="0">
                <a:cs typeface="Times New Roman" pitchFamily="18" charset="0"/>
              </a:rPr>
              <a:t>где </a:t>
            </a:r>
            <a:r>
              <a:rPr lang="en-US" sz="36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ru-RU" sz="2800" dirty="0">
                <a:cs typeface="Times New Roman" pitchFamily="18" charset="0"/>
              </a:rPr>
              <a:t>единственная переменная-кортеж в формуле </a:t>
            </a:r>
            <a:r>
              <a:rPr lang="el-GR" sz="36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sz="36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ru-RU" u="sng" dirty="0">
                <a:cs typeface="Times New Roman" pitchFamily="18" charset="0"/>
              </a:rPr>
              <a:t>Примеры выражений РИК для отношений</a:t>
            </a:r>
          </a:p>
          <a:p>
            <a:pPr>
              <a:buNone/>
            </a:pPr>
            <a:r>
              <a:rPr lang="ru-RU" dirty="0">
                <a:cs typeface="Times New Roman" pitchFamily="18" charset="0"/>
              </a:rPr>
              <a:t>Если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 | R (t)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600" dirty="0">
                <a:cs typeface="Times New Roman" pitchFamily="18" charset="0"/>
              </a:rPr>
              <a:t>множество кортежей отношения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cs typeface="Times New Roman" pitchFamily="18" charset="0"/>
              </a:rPr>
              <a:t>R</a:t>
            </a:r>
            <a:r>
              <a:rPr lang="ru-RU" dirty="0">
                <a:cs typeface="Times New Roman" pitchFamily="18" charset="0"/>
              </a:rPr>
              <a:t>, </a:t>
            </a:r>
            <a:br>
              <a:rPr lang="ru-RU" dirty="0">
                <a:cs typeface="Times New Roman" pitchFamily="18" charset="0"/>
              </a:rPr>
            </a:br>
            <a:r>
              <a:rPr lang="ru-RU" sz="2600" dirty="0">
                <a:cs typeface="Times New Roman" pitchFamily="18" charset="0"/>
              </a:rPr>
              <a:t>а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 | S (t) }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600" dirty="0">
                <a:cs typeface="Times New Roman" pitchFamily="18" charset="0"/>
              </a:rPr>
              <a:t>множество кортежей отношения </a:t>
            </a:r>
            <a:r>
              <a:rPr lang="en-US" sz="2800" dirty="0">
                <a:cs typeface="Times New Roman" pitchFamily="18" charset="0"/>
              </a:rPr>
              <a:t>S</a:t>
            </a:r>
            <a:r>
              <a:rPr lang="ru-RU" sz="2800" dirty="0">
                <a:cs typeface="Times New Roman" pitchFamily="18" charset="0"/>
              </a:rPr>
              <a:t>, </a:t>
            </a:r>
            <a:r>
              <a:rPr lang="ru-RU" sz="2600" dirty="0">
                <a:cs typeface="Times New Roman" pitchFamily="18" charset="0"/>
              </a:rPr>
              <a:t>то</a:t>
            </a:r>
          </a:p>
          <a:p>
            <a:r>
              <a:rPr lang="ru-RU" dirty="0">
                <a:cs typeface="Times New Roman" pitchFamily="18" charset="0"/>
              </a:rPr>
              <a:t>Объединение </a:t>
            </a:r>
            <a:r>
              <a:rPr lang="en-US" dirty="0">
                <a:cs typeface="Times New Roman" pitchFamily="18" charset="0"/>
              </a:rPr>
              <a:t>R </a:t>
            </a:r>
            <a:r>
              <a:rPr lang="ru-RU" b="1" dirty="0">
                <a:cs typeface="Times New Roman" pitchFamily="18" charset="0"/>
                <a:sym typeface="Symbol"/>
              </a:rPr>
              <a:t></a:t>
            </a:r>
            <a:r>
              <a:rPr lang="ru-RU" dirty="0">
                <a:cs typeface="Times New Roman" pitchFamily="18" charset="0"/>
              </a:rPr>
              <a:t> </a:t>
            </a:r>
            <a:r>
              <a:rPr lang="en-US" dirty="0">
                <a:cs typeface="Times New Roman" pitchFamily="18" charset="0"/>
              </a:rPr>
              <a:t>S </a:t>
            </a:r>
            <a:r>
              <a:rPr lang="ru-RU" dirty="0">
                <a:cs typeface="Times New Roman" pitchFamily="18" charset="0"/>
              </a:rPr>
              <a:t>выражается как</a:t>
            </a:r>
            <a:br>
              <a:rPr lang="ru-RU" dirty="0">
                <a:cs typeface="Times New Roman" pitchFamily="18" charset="0"/>
              </a:rPr>
            </a:br>
            <a:r>
              <a:rPr lang="en-US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 | R (t)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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S (t) }</a:t>
            </a:r>
          </a:p>
          <a:p>
            <a:r>
              <a:rPr lang="ru-RU" dirty="0">
                <a:cs typeface="Times New Roman" pitchFamily="18" charset="0"/>
              </a:rPr>
              <a:t>Разность </a:t>
            </a:r>
            <a:r>
              <a:rPr lang="en-US" dirty="0">
                <a:cs typeface="Times New Roman" pitchFamily="18" charset="0"/>
              </a:rPr>
              <a:t>R</a:t>
            </a:r>
            <a:r>
              <a:rPr lang="ru-RU" dirty="0">
                <a:cs typeface="Times New Roman" pitchFamily="18" charset="0"/>
                <a:sym typeface="Symbol"/>
              </a:rPr>
              <a:t>\</a:t>
            </a:r>
            <a:r>
              <a:rPr lang="en-US" dirty="0">
                <a:cs typeface="Times New Roman" pitchFamily="18" charset="0"/>
              </a:rPr>
              <a:t> S </a:t>
            </a:r>
            <a:r>
              <a:rPr lang="ru-RU" dirty="0">
                <a:cs typeface="Times New Roman" pitchFamily="18" charset="0"/>
              </a:rPr>
              <a:t>выражается как</a:t>
            </a:r>
            <a:br>
              <a:rPr lang="ru-RU" dirty="0">
                <a:cs typeface="Times New Roman" pitchFamily="18" charset="0"/>
              </a:rPr>
            </a:br>
            <a:r>
              <a:rPr lang="en-US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 | R (t)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 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 (t) }</a:t>
            </a:r>
            <a:endParaRPr lang="ru-RU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811196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ru-RU" sz="3600" dirty="0">
                <a:solidFill>
                  <a:schemeClr val="bg2"/>
                </a:solidFill>
              </a:rPr>
              <a:t>Реляционное исчисление на кортежах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7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117600"/>
            <a:ext cx="9144000" cy="54229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ru-RU" sz="2800" dirty="0"/>
              <a:t>Ранее определенное РИК может представлять </a:t>
            </a:r>
            <a:r>
              <a:rPr lang="ru-RU" sz="2800" b="1" dirty="0"/>
              <a:t>бесконечные</a:t>
            </a:r>
            <a:r>
              <a:rPr lang="ru-RU" sz="2800" dirty="0"/>
              <a:t> отношения.</a:t>
            </a:r>
          </a:p>
          <a:p>
            <a:pPr>
              <a:spcBef>
                <a:spcPts val="1200"/>
              </a:spcBef>
            </a:pPr>
            <a:r>
              <a:rPr lang="ru-RU" sz="2800" dirty="0"/>
              <a:t>Пример </a:t>
            </a:r>
            <a:r>
              <a:rPr lang="en-US" sz="280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 |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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R (t)}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ru-RU" sz="2800" dirty="0">
                <a:latin typeface="Times New Roman" pitchFamily="18" charset="0"/>
                <a:cs typeface="Times New Roman" pitchFamily="18" charset="0"/>
              </a:rPr>
            </a:br>
            <a:r>
              <a:rPr lang="ru-RU" sz="2800" dirty="0">
                <a:cs typeface="Times New Roman" pitchFamily="18" charset="0"/>
              </a:rPr>
              <a:t>Означает множество кортежей длины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</a:t>
            </a:r>
            <a:r>
              <a:rPr lang="ru-RU" sz="2800" dirty="0">
                <a:cs typeface="Times New Roman" pitchFamily="18" charset="0"/>
              </a:rPr>
              <a:t>, но не принадлежащих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sz="2800" dirty="0">
                <a:cs typeface="Times New Roman" pitchFamily="18" charset="0"/>
              </a:rPr>
              <a:t> . </a:t>
            </a:r>
            <a:br>
              <a:rPr lang="ru-RU" sz="2800" dirty="0">
                <a:cs typeface="Times New Roman" pitchFamily="18" charset="0"/>
              </a:rPr>
            </a:br>
            <a:r>
              <a:rPr lang="ru-RU" sz="2800" dirty="0">
                <a:cs typeface="Times New Roman" pitchFamily="18" charset="0"/>
              </a:rPr>
              <a:t>Так как НЕ ВОЗМОЖНО перечислить все такие кортежи (над каким доменом?) рассматривают 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безопасные </a:t>
            </a:r>
            <a:r>
              <a:rPr lang="ru-RU" sz="2800" dirty="0">
                <a:cs typeface="Times New Roman" pitchFamily="18" charset="0"/>
              </a:rPr>
              <a:t>выражения 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 | </a:t>
            </a:r>
            <a:r>
              <a:rPr lang="el-GR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(t) }</a:t>
            </a:r>
            <a:r>
              <a:rPr lang="ru-RU" dirty="0">
                <a:cs typeface="Times New Roman" pitchFamily="18" charset="0"/>
              </a:rPr>
              <a:t>.</a:t>
            </a:r>
          </a:p>
          <a:p>
            <a:pPr>
              <a:spcBef>
                <a:spcPts val="1200"/>
              </a:spcBef>
            </a:pPr>
            <a:r>
              <a:rPr lang="ru-RU" sz="2800" dirty="0"/>
              <a:t>Для таких выражений можно продемонстрировать, что каждый компонент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ru-RU" sz="2800" dirty="0"/>
              <a:t>, удовлетворяющий </a:t>
            </a:r>
            <a:r>
              <a:rPr lang="el-GR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sz="280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800" dirty="0">
                <a:cs typeface="Times New Roman" pitchFamily="18" charset="0"/>
              </a:rPr>
              <a:t>принадлежит конечному множеству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DOM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(</a:t>
            </a:r>
            <a:r>
              <a:rPr lang="el-GR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</a:t>
            </a:r>
            <a:endParaRPr lang="ru-RU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4150"/>
            <a:ext cx="8229600" cy="635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ru-RU" sz="3600" dirty="0">
                <a:solidFill>
                  <a:schemeClr val="bg2"/>
                </a:solidFill>
              </a:rPr>
              <a:t>Ограничение реляционного исчисления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8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000108"/>
            <a:ext cx="9143999" cy="574126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sz="3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DOM</a:t>
            </a:r>
            <a:r>
              <a:rPr lang="en-US" sz="34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(</a:t>
            </a:r>
            <a:r>
              <a:rPr lang="el-GR" sz="4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sz="34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</a:t>
            </a:r>
            <a:r>
              <a:rPr lang="ru-RU" sz="34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</a:t>
            </a:r>
            <a:r>
              <a:rPr lang="ru-RU" sz="3400" dirty="0">
                <a:cs typeface="Times New Roman" pitchFamily="18" charset="0"/>
              </a:rPr>
              <a:t>определяется как </a:t>
            </a:r>
            <a:r>
              <a:rPr lang="ru-RU" sz="3400" b="1" dirty="0">
                <a:solidFill>
                  <a:srgbClr val="FF0000"/>
                </a:solidFill>
                <a:cs typeface="Times New Roman" pitchFamily="18" charset="0"/>
              </a:rPr>
              <a:t>множество</a:t>
            </a:r>
            <a:r>
              <a:rPr lang="ru-RU" sz="3400" dirty="0">
                <a:cs typeface="Times New Roman" pitchFamily="18" charset="0"/>
              </a:rPr>
              <a:t> всех </a:t>
            </a:r>
            <a:r>
              <a:rPr lang="ru-RU" sz="3400" b="1" dirty="0">
                <a:solidFill>
                  <a:srgbClr val="FF0000"/>
                </a:solidFill>
                <a:cs typeface="Times New Roman" pitchFamily="18" charset="0"/>
              </a:rPr>
              <a:t>символов</a:t>
            </a:r>
            <a:r>
              <a:rPr lang="ru-RU" sz="3400" dirty="0">
                <a:cs typeface="Times New Roman" pitchFamily="18" charset="0"/>
              </a:rPr>
              <a:t>,</a:t>
            </a:r>
            <a:r>
              <a:rPr lang="ru-RU" sz="3400" dirty="0">
                <a:solidFill>
                  <a:srgbClr val="C00000"/>
                </a:solidFill>
                <a:cs typeface="Times New Roman" pitchFamily="18" charset="0"/>
              </a:rPr>
              <a:t> </a:t>
            </a:r>
            <a:r>
              <a:rPr lang="ru-RU" sz="3400" dirty="0">
                <a:cs typeface="Times New Roman" pitchFamily="18" charset="0"/>
              </a:rPr>
              <a:t>которые либо </a:t>
            </a:r>
            <a:r>
              <a:rPr lang="ru-RU" sz="3400" b="1" dirty="0">
                <a:solidFill>
                  <a:srgbClr val="FF0000"/>
                </a:solidFill>
                <a:cs typeface="Times New Roman" pitchFamily="18" charset="0"/>
              </a:rPr>
              <a:t>явно упоминаются </a:t>
            </a:r>
            <a:r>
              <a:rPr lang="ru-RU" sz="3400" dirty="0">
                <a:cs typeface="Times New Roman" pitchFamily="18" charset="0"/>
              </a:rPr>
              <a:t>в </a:t>
            </a:r>
            <a:r>
              <a:rPr lang="el-GR" sz="3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ru-RU" sz="3400" dirty="0">
                <a:cs typeface="Times New Roman" pitchFamily="18" charset="0"/>
              </a:rPr>
              <a:t>,</a:t>
            </a:r>
            <a:r>
              <a:rPr lang="ru-RU" sz="3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400" dirty="0">
                <a:cs typeface="Times New Roman" pitchFamily="18" charset="0"/>
              </a:rPr>
              <a:t>либо служат </a:t>
            </a:r>
            <a:r>
              <a:rPr lang="ru-RU" sz="3400" b="1" dirty="0">
                <a:solidFill>
                  <a:srgbClr val="FF0000"/>
                </a:solidFill>
                <a:cs typeface="Times New Roman" pitchFamily="18" charset="0"/>
              </a:rPr>
              <a:t>компонентами кортежей отношений упоминаемых</a:t>
            </a:r>
            <a:r>
              <a:rPr lang="ru-RU" sz="3400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ru-RU" sz="3400" dirty="0">
                <a:cs typeface="Times New Roman" pitchFamily="18" charset="0"/>
              </a:rPr>
              <a:t>в </a:t>
            </a:r>
            <a:r>
              <a:rPr lang="el-GR" sz="3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ru-RU" sz="3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3400" dirty="0">
              <a:solidFill>
                <a:schemeClr val="accent1">
                  <a:lumMod val="50000"/>
                </a:schemeClr>
              </a:solidFill>
              <a:cs typeface="Times New Roman" pitchFamily="18" charset="0"/>
            </a:endParaRPr>
          </a:p>
          <a:p>
            <a:pPr>
              <a:lnSpc>
                <a:spcPct val="120000"/>
              </a:lnSpc>
            </a:pPr>
            <a:r>
              <a:rPr lang="ru-RU" sz="3400" dirty="0">
                <a:cs typeface="Times New Roman" pitchFamily="18" charset="0"/>
              </a:rPr>
              <a:t>Заметим, что </a:t>
            </a:r>
            <a:r>
              <a:rPr lang="en-US" sz="3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DOM</a:t>
            </a:r>
            <a:r>
              <a:rPr lang="en-US" sz="34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(</a:t>
            </a:r>
            <a:r>
              <a:rPr lang="el-GR" sz="4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sz="34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</a:t>
            </a:r>
            <a:r>
              <a:rPr lang="ru-RU" sz="34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</a:t>
            </a:r>
            <a:r>
              <a:rPr lang="ru-RU" sz="3400" dirty="0">
                <a:cs typeface="Times New Roman" pitchFamily="18" charset="0"/>
              </a:rPr>
              <a:t>определяется не в зависимости от вида </a:t>
            </a:r>
            <a:r>
              <a:rPr lang="el-GR" sz="4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ru-RU" sz="3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3400" dirty="0">
                <a:cs typeface="Times New Roman" pitchFamily="18" charset="0"/>
              </a:rPr>
              <a:t>а как </a:t>
            </a:r>
            <a:r>
              <a:rPr lang="ru-RU" sz="3400" b="1" dirty="0">
                <a:cs typeface="Times New Roman" pitchFamily="18" charset="0"/>
              </a:rPr>
              <a:t>функция  фактических отношений</a:t>
            </a:r>
            <a:r>
              <a:rPr lang="ru-RU" sz="3400" dirty="0">
                <a:cs typeface="Times New Roman" pitchFamily="18" charset="0"/>
              </a:rPr>
              <a:t>, которые должны подставляться вместо переменных отношений в </a:t>
            </a:r>
            <a:r>
              <a:rPr lang="el-GR" sz="4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endParaRPr lang="ru-RU" sz="40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20000"/>
              </a:lnSpc>
            </a:pPr>
            <a:r>
              <a:rPr lang="ru-RU" sz="3400" dirty="0">
                <a:cs typeface="Times New Roman" pitchFamily="18" charset="0"/>
              </a:rPr>
              <a:t>Так как все отношения – конечны, то и </a:t>
            </a:r>
            <a:r>
              <a:rPr lang="en-US" sz="3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DOM</a:t>
            </a:r>
            <a:r>
              <a:rPr lang="en-US" sz="34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(</a:t>
            </a:r>
            <a:r>
              <a:rPr lang="el-GR" sz="3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sz="34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</a:t>
            </a:r>
            <a:r>
              <a:rPr lang="ru-RU" sz="34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</a:t>
            </a:r>
            <a:r>
              <a:rPr lang="ru-RU" sz="3400" dirty="0">
                <a:cs typeface="Times New Roman" pitchFamily="18" charset="0"/>
              </a:rPr>
              <a:t>- всегда </a:t>
            </a:r>
            <a:r>
              <a:rPr lang="ru-RU" sz="3400" b="1" dirty="0">
                <a:cs typeface="Times New Roman" pitchFamily="18" charset="0"/>
              </a:rPr>
              <a:t>конечно</a:t>
            </a:r>
            <a:r>
              <a:rPr lang="ru-RU" sz="3400" dirty="0">
                <a:cs typeface="Times New Roman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endParaRPr lang="ru-RU" u="sng" dirty="0">
              <a:cs typeface="Times New Roman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ru-RU" u="sng" dirty="0">
                <a:cs typeface="Times New Roman" pitchFamily="18" charset="0"/>
              </a:rPr>
              <a:t>Пример</a:t>
            </a:r>
            <a:r>
              <a:rPr lang="ru-RU" dirty="0">
                <a:cs typeface="Times New Roman" pitchFamily="18" charset="0"/>
              </a:rPr>
              <a:t> Пусть </a:t>
            </a:r>
            <a:r>
              <a:rPr lang="el-GR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(t)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cs typeface="Times New Roman" pitchFamily="18" charset="0"/>
              </a:rPr>
              <a:t>имеет вид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t[1]=a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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 R(t)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3100" dirty="0">
                <a:cs typeface="Times New Roman" pitchFamily="18" charset="0"/>
                <a:sym typeface="Symbol"/>
              </a:rPr>
              <a:t>  где 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R(A,B)</a:t>
            </a:r>
            <a:r>
              <a:rPr lang="en-US" sz="3100" dirty="0">
                <a:cs typeface="Times New Roman" pitchFamily="18" charset="0"/>
                <a:sym typeface="Symbol"/>
              </a:rPr>
              <a:t> </a:t>
            </a:r>
            <a:r>
              <a:rPr lang="ru-RU" sz="3100" dirty="0">
                <a:cs typeface="Times New Roman" pitchFamily="18" charset="0"/>
                <a:sym typeface="Symbol"/>
              </a:rPr>
              <a:t>– бинарное отношение,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dirty="0">
                <a:cs typeface="Times New Roman" pitchFamily="18" charset="0"/>
                <a:sym typeface="Symbol"/>
              </a:rPr>
              <a:t>  тогда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DOM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(</a:t>
            </a:r>
            <a:r>
              <a:rPr lang="el-GR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 </a:t>
            </a:r>
            <a:r>
              <a:rPr lang="ru-RU" dirty="0">
                <a:cs typeface="Times New Roman" pitchFamily="18" charset="0"/>
                <a:sym typeface="Symbol"/>
              </a:rPr>
              <a:t>есть унарное отношение или множество символов: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cs typeface="Times New Roman" pitchFamily="18" charset="0"/>
                <a:sym typeface="Symbol"/>
              </a:rPr>
              <a:t> </a:t>
            </a:r>
            <a:r>
              <a:rPr lang="ru-RU" dirty="0">
                <a:cs typeface="Times New Roman" pitchFamily="18" charset="0"/>
                <a:sym typeface="Symbol"/>
              </a:rPr>
              <a:t>                                  </a:t>
            </a:r>
            <a:r>
              <a:rPr lang="en-US" dirty="0">
                <a:cs typeface="Times New Roman" pitchFamily="18" charset="0"/>
                <a:sym typeface="Symbol"/>
              </a:rPr>
              <a:t>{a}  </a:t>
            </a:r>
            <a:r>
              <a:rPr lang="el-GR" dirty="0">
                <a:latin typeface="Times New Roman"/>
                <a:cs typeface="Times New Roman"/>
                <a:sym typeface="Symbol"/>
              </a:rPr>
              <a:t>π</a:t>
            </a:r>
            <a:r>
              <a:rPr lang="en-US" baseline="-25000" dirty="0">
                <a:latin typeface="Times New Roman"/>
                <a:cs typeface="Times New Roman"/>
                <a:sym typeface="Symbol"/>
              </a:rPr>
              <a:t>A</a:t>
            </a:r>
            <a:r>
              <a:rPr lang="en-US" dirty="0">
                <a:latin typeface="Times New Roman"/>
                <a:cs typeface="Times New Roman"/>
                <a:sym typeface="Symbol"/>
              </a:rPr>
              <a:t>(R) </a:t>
            </a:r>
            <a:r>
              <a:rPr lang="en-US" dirty="0">
                <a:cs typeface="Times New Roman" pitchFamily="18" charset="0"/>
                <a:sym typeface="Symbol"/>
              </a:rPr>
              <a:t> </a:t>
            </a:r>
            <a:r>
              <a:rPr lang="el-GR" dirty="0">
                <a:latin typeface="Times New Roman"/>
                <a:cs typeface="Times New Roman"/>
                <a:sym typeface="Symbol"/>
              </a:rPr>
              <a:t>π</a:t>
            </a:r>
            <a:r>
              <a:rPr lang="en-US" baseline="-25000" dirty="0">
                <a:latin typeface="Times New Roman"/>
                <a:cs typeface="Times New Roman"/>
                <a:sym typeface="Symbol"/>
              </a:rPr>
              <a:t>B</a:t>
            </a:r>
            <a:r>
              <a:rPr lang="en-US" dirty="0">
                <a:latin typeface="Times New Roman"/>
                <a:cs typeface="Times New Roman"/>
                <a:sym typeface="Symbol"/>
              </a:rPr>
              <a:t>(R)</a:t>
            </a:r>
            <a:endParaRPr lang="ru-RU" dirty="0">
              <a:cs typeface="Times New Roman" pitchFamily="18" charset="0"/>
              <a:sym typeface="Symbol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811196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ru-RU" sz="3600" dirty="0">
                <a:solidFill>
                  <a:schemeClr val="bg2"/>
                </a:solidFill>
              </a:rPr>
              <a:t>Ограничение реляционного исчисления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9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1052736"/>
            <a:ext cx="8856984" cy="5544616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dirty="0"/>
              <a:t>Выражение РИК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 | </a:t>
            </a:r>
            <a:r>
              <a:rPr lang="el-GR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(t) }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/>
              <a:t>называется безопасным если удовлетворяются следующие условия:</a:t>
            </a:r>
          </a:p>
          <a:p>
            <a:pPr marL="514350" indent="-514350">
              <a:lnSpc>
                <a:spcPct val="120000"/>
              </a:lnSpc>
              <a:buClrTx/>
              <a:buAutoNum type="arabicPeriod"/>
            </a:pPr>
            <a:r>
              <a:rPr lang="ru-RU" dirty="0"/>
              <a:t>Всякий раз, когда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/>
              <a:t>удовлетворяет </a:t>
            </a:r>
            <a:r>
              <a:rPr lang="el-GR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/>
              <a:t>, </a:t>
            </a:r>
            <a:r>
              <a:rPr lang="ru-RU" dirty="0">
                <a:solidFill>
                  <a:srgbClr val="C00000"/>
                </a:solidFill>
              </a:rPr>
              <a:t>каждый</a:t>
            </a:r>
            <a:r>
              <a:rPr lang="ru-RU" dirty="0"/>
              <a:t> </a:t>
            </a:r>
            <a:r>
              <a:rPr lang="ru-RU" dirty="0">
                <a:solidFill>
                  <a:srgbClr val="C00000"/>
                </a:solidFill>
              </a:rPr>
              <a:t>компонент</a:t>
            </a:r>
            <a:r>
              <a:rPr lang="ru-RU" dirty="0"/>
              <a:t>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ru-RU" dirty="0"/>
              <a:t> есть элемент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DOM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(</a:t>
            </a:r>
            <a:r>
              <a:rPr lang="el-GR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</a:t>
            </a:r>
            <a:endParaRPr lang="ru-RU" dirty="0">
              <a:solidFill>
                <a:schemeClr val="accent1">
                  <a:lumMod val="50000"/>
                </a:schemeClr>
              </a:solidFill>
              <a:cs typeface="Times New Roman" pitchFamily="18" charset="0"/>
            </a:endParaRPr>
          </a:p>
          <a:p>
            <a:pPr marL="514350" indent="-514350">
              <a:lnSpc>
                <a:spcPct val="120000"/>
              </a:lnSpc>
              <a:buClrTx/>
              <a:buAutoNum type="arabicPeriod"/>
            </a:pPr>
            <a:r>
              <a:rPr lang="ru-RU" dirty="0">
                <a:cs typeface="Times New Roman" pitchFamily="18" charset="0"/>
              </a:rPr>
              <a:t>Для любого подвыражения </a:t>
            </a:r>
            <a:r>
              <a:rPr lang="el-GR" sz="3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solidFill>
                  <a:srgbClr val="FF0000"/>
                </a:solidFill>
                <a:cs typeface="Times New Roman" pitchFamily="18" charset="0"/>
              </a:rPr>
              <a:t>вида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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u(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(u)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)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ru-RU" dirty="0">
                <a:cs typeface="Times New Roman" pitchFamily="18" charset="0"/>
              </a:rPr>
              <a:t>каждый компонент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u</a:t>
            </a:r>
            <a:r>
              <a:rPr lang="ru-RU" dirty="0">
                <a:cs typeface="Times New Roman" pitchFamily="18" charset="0"/>
              </a:rPr>
              <a:t> принадлежит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DOM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(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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</a:t>
            </a:r>
            <a:r>
              <a:rPr lang="ru-RU" dirty="0">
                <a:cs typeface="Times New Roman" pitchFamily="18" charset="0"/>
              </a:rPr>
              <a:t>, если </a:t>
            </a:r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u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 </a:t>
            </a:r>
            <a:r>
              <a:rPr lang="ru-RU" dirty="0">
                <a:cs typeface="Times New Roman" pitchFamily="18" charset="0"/>
              </a:rPr>
              <a:t>удовлетворяет </a:t>
            </a:r>
            <a:r>
              <a:rPr lang="en-US" sz="38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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 </a:t>
            </a:r>
            <a:endParaRPr lang="ru-RU" dirty="0">
              <a:cs typeface="Times New Roman" pitchFamily="18" charset="0"/>
              <a:sym typeface="Symbol"/>
            </a:endParaRPr>
          </a:p>
          <a:p>
            <a:pPr marL="514350" indent="-514350">
              <a:lnSpc>
                <a:spcPct val="120000"/>
              </a:lnSpc>
              <a:buClrTx/>
              <a:buAutoNum type="arabicPeriod"/>
            </a:pPr>
            <a:r>
              <a:rPr lang="ru-RU" dirty="0">
                <a:cs typeface="Times New Roman" pitchFamily="18" charset="0"/>
              </a:rPr>
              <a:t>Для любого подвыражения </a:t>
            </a:r>
            <a:r>
              <a:rPr lang="el-GR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solidFill>
                  <a:srgbClr val="FF0000"/>
                </a:solidFill>
                <a:cs typeface="Times New Roman" pitchFamily="18" charset="0"/>
              </a:rPr>
              <a:t>вида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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u(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(u)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)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ru-RU" dirty="0">
                <a:cs typeface="Times New Roman" pitchFamily="18" charset="0"/>
              </a:rPr>
              <a:t>каждый компонент </a:t>
            </a:r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u</a:t>
            </a:r>
            <a:r>
              <a:rPr lang="ru-RU" dirty="0">
                <a:cs typeface="Times New Roman" pitchFamily="18" charset="0"/>
              </a:rPr>
              <a:t> принадлежит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DOM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(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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</a:t>
            </a:r>
            <a:r>
              <a:rPr lang="ru-RU" dirty="0">
                <a:cs typeface="Times New Roman" pitchFamily="18" charset="0"/>
              </a:rPr>
              <a:t>, если </a:t>
            </a:r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u</a:t>
            </a:r>
            <a:r>
              <a:rPr lang="ru-RU" dirty="0">
                <a:cs typeface="Times New Roman" pitchFamily="18" charset="0"/>
              </a:rPr>
              <a:t> удовлетворяет </a:t>
            </a:r>
            <a:r>
              <a:rPr lang="ru-RU" sz="4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</a:t>
            </a:r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</a:t>
            </a:r>
            <a:r>
              <a:rPr lang="ru-RU" sz="4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 </a:t>
            </a:r>
          </a:p>
          <a:p>
            <a:pPr marL="0" indent="0">
              <a:lnSpc>
                <a:spcPct val="120000"/>
              </a:lnSpc>
              <a:buClrTx/>
              <a:buNone/>
            </a:pPr>
            <a:r>
              <a:rPr lang="ru-RU" dirty="0">
                <a:cs typeface="Times New Roman"/>
                <a:sym typeface="Symbol"/>
              </a:rPr>
              <a:t>Условия 2,3 позволяют устанавливать истинность формул вида </a:t>
            </a:r>
            <a:r>
              <a:rPr lang="ru-RU" b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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(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(u)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)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ru-RU" dirty="0">
                <a:cs typeface="Times New Roman"/>
              </a:rPr>
              <a:t>или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ru-RU" b="1" dirty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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(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(u)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)</a:t>
            </a:r>
            <a:r>
              <a:rPr lang="ru-RU" dirty="0">
                <a:cs typeface="Times New Roman"/>
              </a:rPr>
              <a:t>, рассматривая только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u</a:t>
            </a:r>
            <a:r>
              <a:rPr lang="ru-RU" dirty="0">
                <a:cs typeface="Times New Roman"/>
              </a:rPr>
              <a:t>, составленные из принадлежащих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DOM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(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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</a:t>
            </a:r>
            <a:r>
              <a:rPr lang="ru-RU" dirty="0">
                <a:cs typeface="Times New Roman"/>
              </a:rPr>
              <a:t> символов</a:t>
            </a:r>
            <a:endParaRPr lang="ru-RU" dirty="0">
              <a:cs typeface="Times New Roman"/>
              <a:sym typeface="Symbol"/>
            </a:endParaRPr>
          </a:p>
          <a:p>
            <a:pPr marL="0" indent="0">
              <a:lnSpc>
                <a:spcPct val="120000"/>
              </a:lnSpc>
              <a:buClrTx/>
              <a:buNone/>
            </a:pPr>
            <a:r>
              <a:rPr lang="ru-RU" u="sng" dirty="0">
                <a:cs typeface="Times New Roman"/>
                <a:sym typeface="Symbol"/>
              </a:rPr>
              <a:t>Примеры </a:t>
            </a:r>
            <a:endParaRPr lang="ru-RU" u="sng" dirty="0">
              <a:cs typeface="Times New Roman" pitchFamily="18" charset="0"/>
              <a:sym typeface="Symbol"/>
            </a:endParaRPr>
          </a:p>
          <a:p>
            <a:pPr marL="514350" indent="-514350">
              <a:lnSpc>
                <a:spcPct val="120000"/>
              </a:lnSpc>
              <a:buClrTx/>
              <a:buAutoNum type="arabicPeriod"/>
            </a:pPr>
            <a:r>
              <a:rPr lang="ru-RU" dirty="0">
                <a:cs typeface="Times New Roman"/>
                <a:sym typeface="Symbol"/>
              </a:rPr>
              <a:t>Любая формула </a:t>
            </a:r>
            <a:r>
              <a:rPr lang="ru-RU" b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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 u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(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R(u)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 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 …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)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ru-RU" dirty="0">
                <a:cs typeface="Times New Roman"/>
              </a:rPr>
              <a:t>удовлетворяет условию 2</a:t>
            </a:r>
          </a:p>
          <a:p>
            <a:pPr marL="514350" indent="-514350">
              <a:lnSpc>
                <a:spcPct val="120000"/>
              </a:lnSpc>
              <a:buClrTx/>
              <a:buFont typeface="Wingdings" pitchFamily="2" charset="2"/>
              <a:buAutoNum type="arabicPeriod"/>
            </a:pPr>
            <a:r>
              <a:rPr lang="ru-RU" dirty="0">
                <a:cs typeface="Times New Roman"/>
                <a:sym typeface="Symbol"/>
              </a:rPr>
              <a:t>Любая формула </a:t>
            </a:r>
            <a:r>
              <a:rPr lang="ru-RU" b="1" dirty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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(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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R(u)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 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 …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)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ru-RU" dirty="0">
                <a:cs typeface="Times New Roman"/>
              </a:rPr>
              <a:t>удовлетворяет условию </a:t>
            </a:r>
            <a:r>
              <a:rPr lang="en-US" dirty="0">
                <a:cs typeface="Times New Roman"/>
              </a:rPr>
              <a:t>3</a:t>
            </a:r>
          </a:p>
          <a:p>
            <a:pPr marL="514350" indent="-514350">
              <a:lnSpc>
                <a:spcPct val="120000"/>
              </a:lnSpc>
              <a:buClrTx/>
              <a:buFont typeface="Wingdings" pitchFamily="2" charset="2"/>
              <a:buAutoNum type="arabicPeriod"/>
            </a:pPr>
            <a:endParaRPr lang="ru-RU" dirty="0">
              <a:cs typeface="Times New Roman"/>
            </a:endParaRPr>
          </a:p>
          <a:p>
            <a:pPr marL="514350" indent="-514350">
              <a:lnSpc>
                <a:spcPct val="120000"/>
              </a:lnSpc>
              <a:buClrTx/>
              <a:buAutoNum type="arabicPeriod"/>
            </a:pPr>
            <a:endParaRPr lang="ru-RU" dirty="0">
              <a:cs typeface="Times New Roman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64837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ru-RU" sz="3600" dirty="0">
                <a:solidFill>
                  <a:schemeClr val="bg2"/>
                </a:solidFill>
              </a:rPr>
              <a:t>Безопасные выражения РИК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6654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980728"/>
            <a:ext cx="8856984" cy="5616624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ru-RU" sz="3000" dirty="0"/>
              <a:t>Хотя условие 3 может показаться не интуитивным, заметим, что </a:t>
            </a:r>
            <a:br>
              <a:rPr lang="en-US" sz="3000" dirty="0"/>
            </a:br>
            <a:r>
              <a:rPr lang="ru-RU" sz="3000" b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</a:t>
            </a:r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u((u)</a:t>
            </a:r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3000" dirty="0"/>
              <a:t>логически эквивалента </a:t>
            </a:r>
            <a:r>
              <a:rPr lang="ru-RU" sz="3000" b="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</a:t>
            </a:r>
            <a:r>
              <a:rPr lang="ru-RU" sz="3000" b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</a:t>
            </a:r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</a:t>
            </a:r>
            <a:r>
              <a:rPr lang="en-US" sz="3000" dirty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(</a:t>
            </a:r>
            <a:r>
              <a:rPr lang="ru-RU" sz="3000" b="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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</a:t>
            </a:r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(u)</a:t>
            </a:r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)</a:t>
            </a:r>
            <a:endParaRPr lang="ru-RU" sz="3000" dirty="0">
              <a:solidFill>
                <a:schemeClr val="accent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>
              <a:lnSpc>
                <a:spcPct val="110000"/>
              </a:lnSpc>
            </a:pPr>
            <a:r>
              <a:rPr lang="ru-RU" sz="3000" dirty="0"/>
              <a:t>Последняя не является безопасной т. и т. т. когда существует некоторое </a:t>
            </a:r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</a:t>
            </a:r>
            <a:r>
              <a:rPr lang="ru-RU" sz="30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0</a:t>
            </a:r>
            <a:r>
              <a:rPr lang="ru-RU" sz="3000" dirty="0">
                <a:sym typeface="Symbol"/>
              </a:rPr>
              <a:t>, для которого истинно </a:t>
            </a:r>
            <a:r>
              <a:rPr lang="ru-RU" sz="3000" b="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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</a:t>
            </a:r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(u</a:t>
            </a:r>
            <a:r>
              <a:rPr lang="ru-RU" sz="3000" baseline="-25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0</a:t>
            </a:r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)</a:t>
            </a:r>
            <a:r>
              <a:rPr lang="ru-RU" sz="3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 </a:t>
            </a:r>
            <a:r>
              <a:rPr lang="ru-RU" sz="3000" dirty="0">
                <a:sym typeface="Symbol"/>
              </a:rPr>
              <a:t>и</a:t>
            </a:r>
            <a:r>
              <a:rPr lang="ru-RU" sz="3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 </a:t>
            </a:r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u</a:t>
            </a:r>
            <a:r>
              <a:rPr lang="ru-RU" sz="3000" baseline="-25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0 </a:t>
            </a:r>
            <a:r>
              <a:rPr lang="ru-RU" sz="3000" dirty="0">
                <a:sym typeface="Symbol"/>
              </a:rPr>
              <a:t>не</a:t>
            </a:r>
            <a:r>
              <a:rPr lang="ru-RU" sz="3000" baseline="-25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 </a:t>
            </a:r>
            <a:r>
              <a:rPr lang="ru-RU" sz="3000" dirty="0">
                <a:sym typeface="Symbol"/>
              </a:rPr>
              <a:t>принадлежит домену формулы </a:t>
            </a:r>
            <a:r>
              <a:rPr lang="ru-RU" sz="3000" b="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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</a:t>
            </a:r>
            <a:r>
              <a:rPr lang="ru-RU" sz="3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. </a:t>
            </a:r>
          </a:p>
          <a:p>
            <a:pPr>
              <a:lnSpc>
                <a:spcPct val="110000"/>
              </a:lnSpc>
            </a:pPr>
            <a:r>
              <a:rPr lang="ru-RU" sz="3000" dirty="0">
                <a:sym typeface="Symbol"/>
              </a:rPr>
              <a:t>Так как домены 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 </a:t>
            </a:r>
            <a:r>
              <a:rPr lang="ru-RU" sz="3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 </a:t>
            </a:r>
            <a:r>
              <a:rPr lang="ru-RU" sz="3000" dirty="0">
                <a:sym typeface="Symbol"/>
              </a:rPr>
              <a:t>и </a:t>
            </a:r>
            <a:r>
              <a:rPr lang="ru-RU" sz="3000" b="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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</a:t>
            </a:r>
            <a:r>
              <a:rPr lang="ru-RU" sz="3000" b="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 </a:t>
            </a:r>
            <a:r>
              <a:rPr lang="ru-RU" sz="3000" dirty="0">
                <a:sym typeface="Symbol"/>
              </a:rPr>
              <a:t>совпадают, то условие 3 устанавливает, что формула </a:t>
            </a:r>
            <a:r>
              <a:rPr lang="ru-RU" sz="3000" b="1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  <a:sym typeface="Symbol"/>
              </a:rPr>
              <a:t></a:t>
            </a:r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u((u)</a:t>
            </a:r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3000" dirty="0"/>
              <a:t>безопасна, когда безопасна формула </a:t>
            </a:r>
            <a:r>
              <a:rPr lang="ru-RU" sz="3000" b="1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</a:t>
            </a:r>
            <a:r>
              <a:rPr lang="ru-RU" sz="3000" b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</a:t>
            </a:r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</a:t>
            </a:r>
            <a:r>
              <a:rPr lang="en-US" sz="3000" dirty="0">
                <a:solidFill>
                  <a:schemeClr val="accent1">
                    <a:lumMod val="50000"/>
                  </a:schemeClr>
                </a:solidFill>
                <a:cs typeface="Times New Roman"/>
                <a:sym typeface="Symbol"/>
              </a:rPr>
              <a:t>(</a:t>
            </a:r>
            <a:r>
              <a:rPr lang="ru-RU" sz="3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</a:t>
            </a:r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(u)</a:t>
            </a:r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)</a:t>
            </a:r>
            <a:endParaRPr lang="ru-RU" sz="3000" dirty="0">
              <a:solidFill>
                <a:schemeClr val="accent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>
              <a:lnSpc>
                <a:spcPct val="110000"/>
              </a:lnSpc>
            </a:pPr>
            <a:endParaRPr lang="ru-RU" dirty="0">
              <a:sym typeface="Symbol"/>
            </a:endParaRPr>
          </a:p>
          <a:p>
            <a:pPr marL="0" indent="0">
              <a:lnSpc>
                <a:spcPct val="110000"/>
              </a:lnSpc>
              <a:buNone/>
            </a:pPr>
            <a:endParaRPr lang="ru-RU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64837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ru-RU" sz="3600" dirty="0">
                <a:solidFill>
                  <a:schemeClr val="bg2"/>
                </a:solidFill>
              </a:rPr>
              <a:t>Безопасные выражения РИК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3464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3515" y="895350"/>
            <a:ext cx="8918975" cy="5702002"/>
          </a:xfrm>
        </p:spPr>
        <p:txBody>
          <a:bodyPr lIns="36000" tIns="36000" rIns="36000" bIns="36000">
            <a:normAutofit fontScale="92500" lnSpcReduction="10000"/>
          </a:bodyPr>
          <a:lstStyle/>
          <a:p>
            <a:pPr marL="0" indent="0" algn="just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Реляционное исчисление на кортежах эквивалентно реляционной алгебре.</a:t>
            </a:r>
          </a:p>
          <a:p>
            <a:pPr marL="0" indent="0" algn="just">
              <a:lnSpc>
                <a:spcPct val="120000"/>
              </a:lnSpc>
              <a:spcBef>
                <a:spcPts val="1200"/>
              </a:spcBef>
              <a:buNone/>
            </a:pPr>
            <a:endParaRPr lang="ru-RU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Множество отношений, выразимых в реляционной алгебре, является в точности тем же самым, что и множество отношений, выразимых безопасными формулами реляционного исчисления на кортежах.</a:t>
            </a:r>
          </a:p>
          <a:p>
            <a:pPr marL="0" indent="0" algn="just">
              <a:lnSpc>
                <a:spcPct val="120000"/>
              </a:lnSpc>
              <a:spcBef>
                <a:spcPts val="1200"/>
              </a:spcBef>
              <a:buNone/>
            </a:pPr>
            <a:endParaRPr lang="ru-RU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Доказательство: РА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~ </a:t>
            </a:r>
            <a:r>
              <a:rPr lang="az-Cyrl-AZ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РИК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~ </a:t>
            </a:r>
            <a:r>
              <a:rPr lang="az-Cyrl-AZ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РИД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~ </a:t>
            </a:r>
            <a:r>
              <a:rPr lang="az-Cyrl-AZ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</a:t>
            </a:r>
            <a:endParaRPr lang="ru-RU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64837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ru-RU" sz="3600" dirty="0">
                <a:solidFill>
                  <a:schemeClr val="bg2"/>
                </a:solidFill>
              </a:rPr>
              <a:t>Эквивалентность 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548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3515" y="895350"/>
            <a:ext cx="9144000" cy="5702002"/>
          </a:xfrm>
        </p:spPr>
        <p:txBody>
          <a:bodyPr lIns="36000" tIns="36000" rIns="36000" bIns="36000"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u="sng" dirty="0"/>
              <a:t>Теорема 1.</a:t>
            </a:r>
            <a:r>
              <a:rPr lang="ru-RU" dirty="0"/>
              <a:t> Если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RU" dirty="0"/>
              <a:t>– выражение реляционной алгебры, то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существует эквивалентное </a:t>
            </a:r>
            <a:r>
              <a:rPr lang="ru-RU" dirty="0"/>
              <a:t>ему безопасное выражение в реляционном исчислении с переменными-кортежами.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u="sng" dirty="0"/>
              <a:t>Доказательство.</a:t>
            </a:r>
            <a:r>
              <a:rPr lang="ru-RU" dirty="0"/>
              <a:t> </a:t>
            </a:r>
            <a:br>
              <a:rPr lang="en-US" dirty="0"/>
            </a:br>
            <a:r>
              <a:rPr lang="ru-RU" dirty="0"/>
              <a:t>Индукция по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числу вхождений операторов</a:t>
            </a:r>
            <a:r>
              <a:rPr lang="ru-RU" dirty="0"/>
              <a:t> в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dirty="0"/>
              <a:t>.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u="sng" dirty="0"/>
              <a:t>Базис.</a:t>
            </a:r>
            <a:r>
              <a:rPr lang="ru-RU" dirty="0"/>
              <a:t> Нуль операторов.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dirty="0"/>
              <a:t>Тогда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ru-RU" dirty="0"/>
              <a:t> – либо постоянное выражение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{t</a:t>
            </a:r>
            <a:r>
              <a:rPr lang="en-US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t</a:t>
            </a:r>
            <a:r>
              <a:rPr lang="en-US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…,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baseline="-250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}, </a:t>
            </a:r>
            <a:r>
              <a:rPr lang="ru-RU" dirty="0"/>
              <a:t>либо переменная </a:t>
            </a:r>
            <a:r>
              <a:rPr lang="en-US" dirty="0"/>
              <a:t>R</a:t>
            </a:r>
            <a:r>
              <a:rPr lang="ru-RU" dirty="0"/>
              <a:t>, обозначающая отношение.</a:t>
            </a:r>
            <a:endParaRPr lang="en-US" dirty="0"/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dirty="0"/>
              <a:t>В последнем случае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ru-RU" dirty="0"/>
              <a:t> эквивалентно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 |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 (t)}</a:t>
            </a:r>
            <a:r>
              <a:rPr lang="ru-RU" dirty="0">
                <a:cs typeface="Times New Roman" pitchFamily="18" charset="0"/>
              </a:rPr>
              <a:t>, которое безопасно.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dirty="0">
                <a:cs typeface="Times New Roman" pitchFamily="18" charset="0"/>
              </a:rPr>
              <a:t>В первом случае Е эквивалентно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 | t=t</a:t>
            </a:r>
            <a:r>
              <a:rPr lang="en-US" i="1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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t=t</a:t>
            </a:r>
            <a:r>
              <a:rPr lang="en-US" i="1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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…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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t=</a:t>
            </a:r>
            <a:r>
              <a:rPr lang="en-US" i="1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i="1" baseline="-250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}, </a:t>
            </a:r>
            <a:r>
              <a:rPr lang="ru-RU" dirty="0"/>
              <a:t>где 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t=</a:t>
            </a:r>
            <a:r>
              <a:rPr lang="en-US" i="1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i="1" baseline="-250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dirty="0"/>
              <a:t> </a:t>
            </a:r>
            <a:r>
              <a:rPr lang="en-US" dirty="0"/>
              <a:t>– </a:t>
            </a:r>
            <a:r>
              <a:rPr lang="ru-RU" dirty="0"/>
              <a:t>краткая запись 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t[1]=</a:t>
            </a:r>
            <a:r>
              <a:rPr lang="en-US" i="1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i="1" baseline="-250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[1]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 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t[2]=</a:t>
            </a:r>
            <a:r>
              <a:rPr lang="en-US" i="1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i="1" baseline="-250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[2]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  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…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  <a:sym typeface="Symbol"/>
              </a:rPr>
              <a:t>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t[k]=</a:t>
            </a:r>
            <a:r>
              <a:rPr lang="en-US" i="1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i="1" baseline="-250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[k]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 &lt;=</a:t>
            </a:r>
            <a:r>
              <a:rPr lang="en-US" i="1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&lt;=n</a:t>
            </a:r>
            <a:endParaRPr lang="ru-RU" i="1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64837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ru-RU" sz="3600" dirty="0">
                <a:solidFill>
                  <a:schemeClr val="bg2"/>
                </a:solidFill>
              </a:rPr>
              <a:t>Редукция РА к РИК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3836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811933"/>
            <a:ext cx="8856984" cy="5857427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u="sng" dirty="0"/>
              <a:t>Индукция.</a:t>
            </a:r>
            <a:r>
              <a:rPr lang="ru-RU" dirty="0"/>
              <a:t> Предположим, что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RU" dirty="0"/>
              <a:t>имеет не менее одного оператора и теорема истинна для выражений с числом вхождений операторов меньшим, чем в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Е.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u="sng" dirty="0">
                <a:latin typeface="Times New Roman" pitchFamily="18" charset="0"/>
                <a:cs typeface="Times New Roman" pitchFamily="18" charset="0"/>
              </a:rPr>
              <a:t>Случай 1</a:t>
            </a:r>
            <a:r>
              <a:rPr lang="ru-RU" dirty="0">
                <a:cs typeface="Times New Roman" pitchFamily="18" charset="0"/>
              </a:rPr>
              <a:t>.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Е = Е</a:t>
            </a:r>
            <a:r>
              <a:rPr lang="ru-RU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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ru-RU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dirty="0"/>
              <a:t>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3100" dirty="0"/>
              <a:t>Пусть 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ru-RU" sz="31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ru-RU" sz="3100" dirty="0"/>
              <a:t>эквивалентно безопасному выражению 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{t|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sz="31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(t)}</a:t>
            </a:r>
            <a:endParaRPr lang="ru-RU" sz="31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  <a:sym typeface="Symbol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ru-RU" sz="3100" dirty="0"/>
              <a:t>Пусть 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ru-RU" sz="31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ru-RU" sz="3100" dirty="0"/>
              <a:t>эквивалентно безопасному выражению 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{t|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ru-RU" sz="31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(t)}</a:t>
            </a:r>
            <a:endParaRPr lang="ru-RU" sz="31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  <a:sym typeface="Symbol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ru-RU" sz="3100" dirty="0"/>
              <a:t>Тогда для 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ru-RU" sz="31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100" dirty="0"/>
              <a:t>строим</a:t>
            </a:r>
            <a:r>
              <a:rPr lang="ru-RU" sz="31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100" dirty="0"/>
              <a:t>эквивалентное выражение</a:t>
            </a:r>
            <a:endParaRPr lang="en-US" sz="3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= 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{t| 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sz="31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 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ru-RU" sz="31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(t)}</a:t>
            </a:r>
            <a:r>
              <a:rPr lang="ru-RU" sz="3100" dirty="0">
                <a:cs typeface="Times New Roman" pitchFamily="18" charset="0"/>
                <a:sym typeface="Symbol"/>
              </a:rPr>
              <a:t>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3100" dirty="0">
                <a:cs typeface="Times New Roman" pitchFamily="18" charset="0"/>
                <a:sym typeface="Symbol"/>
              </a:rPr>
              <a:t>Если 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t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ru-RU" sz="3100" dirty="0">
                <a:sym typeface="Symbol"/>
              </a:rPr>
              <a:t>удовлетворяет 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sz="31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 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ru-RU" sz="31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ru-RU" sz="3100" dirty="0">
                <a:cs typeface="Times New Roman" pitchFamily="18" charset="0"/>
                <a:sym typeface="Symbol"/>
              </a:rPr>
              <a:t>, то каждый компонент 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t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 </a:t>
            </a:r>
            <a:r>
              <a:rPr lang="ru-RU" sz="3100" dirty="0">
                <a:sym typeface="Symbol"/>
              </a:rPr>
              <a:t>принадлежит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DOM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(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sz="31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</a:t>
            </a:r>
            <a:r>
              <a:rPr lang="ru-RU" sz="3100" dirty="0">
                <a:cs typeface="Times New Roman" pitchFamily="18" charset="0"/>
              </a:rPr>
              <a:t>или 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DOM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(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ru-RU" sz="31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3100" dirty="0"/>
              <a:t>Так как 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DOM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sz="31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 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ru-RU" sz="31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)=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DOM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(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sz="31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 </a:t>
            </a:r>
            <a:r>
              <a:rPr lang="ru-RU" sz="3100" b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 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DOM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(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ru-RU" sz="31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cs typeface="Times New Roman" pitchFamily="18" charset="0"/>
              </a:rPr>
              <a:t>)</a:t>
            </a:r>
            <a:r>
              <a:rPr lang="ru-RU" sz="3100" dirty="0">
                <a:cs typeface="Times New Roman" pitchFamily="18" charset="0"/>
              </a:rPr>
              <a:t>, то 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Е </a:t>
            </a:r>
            <a:r>
              <a:rPr lang="ru-RU" sz="3100" dirty="0">
                <a:cs typeface="Times New Roman" pitchFamily="18" charset="0"/>
              </a:rPr>
              <a:t>эквивалентно безопасному выражению 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{t| 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sz="31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 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ru-RU" sz="31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(t)}</a:t>
            </a:r>
            <a:endParaRPr lang="ru-RU" sz="3100" dirty="0">
              <a:cs typeface="Times New Roman" pitchFamily="18" charset="0"/>
            </a:endParaRPr>
          </a:p>
          <a:p>
            <a:pPr marL="0" indent="0">
              <a:buNone/>
            </a:pPr>
            <a:endParaRPr lang="ru-RU" dirty="0">
              <a:cs typeface="Times New Roman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64837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ru-RU" sz="3600" dirty="0">
                <a:solidFill>
                  <a:schemeClr val="bg2"/>
                </a:solidFill>
              </a:rPr>
              <a:t>Редукция РА к РИК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>
          <a:xfrm>
            <a:off x="7902370" y="6248400"/>
            <a:ext cx="784430" cy="375955"/>
          </a:xfrm>
        </p:spPr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3363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811934"/>
            <a:ext cx="8847983" cy="5587396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u="sng" dirty="0">
                <a:latin typeface="Times New Roman" pitchFamily="18" charset="0"/>
                <a:cs typeface="Times New Roman" pitchFamily="18" charset="0"/>
              </a:rPr>
              <a:t>Случай 2</a:t>
            </a:r>
            <a:r>
              <a:rPr lang="ru-RU" dirty="0">
                <a:cs typeface="Times New Roman" pitchFamily="18" charset="0"/>
              </a:rPr>
              <a:t>.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Е = Е</a:t>
            </a:r>
            <a:r>
              <a:rPr lang="ru-RU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\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ru-RU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</a:t>
            </a:r>
            <a:r>
              <a:rPr lang="ru-RU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ru-RU" sz="26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эквивалентно безопасному выражению 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{t|</a:t>
            </a:r>
            <a:r>
              <a:rPr lang="el-GR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φ</a:t>
            </a:r>
            <a:r>
              <a:rPr lang="en-US" sz="26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(t)}</a:t>
            </a:r>
            <a:endParaRPr lang="ru-RU" sz="26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</a:t>
            </a:r>
            <a:r>
              <a:rPr lang="ru-RU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ru-RU" sz="26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эквивалентно безопасному выражению 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{t|</a:t>
            </a:r>
            <a:r>
              <a:rPr lang="el-GR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φ</a:t>
            </a:r>
            <a:r>
              <a:rPr lang="ru-RU" sz="26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(t)}</a:t>
            </a:r>
            <a:endParaRPr lang="ru-RU" sz="26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/>
            </a:endParaRPr>
          </a:p>
          <a:p>
            <a:pPr marL="0" indent="0">
              <a:lnSpc>
                <a:spcPct val="150000"/>
              </a:lnSpc>
              <a:buNone/>
            </a:pP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для </a:t>
            </a:r>
            <a:r>
              <a:rPr lang="ru-RU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ru-RU" sz="26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строим</a:t>
            </a:r>
            <a:r>
              <a:rPr lang="ru-RU" sz="26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эквивалентное выражение </a:t>
            </a:r>
            <a:b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{t| </a:t>
            </a:r>
            <a:r>
              <a:rPr lang="el-GR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φ</a:t>
            </a:r>
            <a:r>
              <a:rPr lang="en-US" sz="26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(t)</a:t>
            </a:r>
            <a:r>
              <a:rPr lang="ru-RU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  </a:t>
            </a:r>
            <a:r>
              <a:rPr lang="el-GR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φ</a:t>
            </a:r>
            <a:r>
              <a:rPr lang="ru-RU" sz="26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(t)}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  <a:sym typeface="Symbol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 как 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r>
              <a:rPr lang="ru-RU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l-GR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φ</a:t>
            </a:r>
            <a:r>
              <a:rPr lang="en-US" sz="26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(t)</a:t>
            </a:r>
            <a:r>
              <a:rPr lang="ru-RU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  </a:t>
            </a:r>
            <a:r>
              <a:rPr lang="el-GR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φ</a:t>
            </a:r>
            <a:r>
              <a:rPr lang="ru-RU" sz="26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(t)</a:t>
            </a:r>
            <a:r>
              <a:rPr lang="ru-RU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DOM(</a:t>
            </a:r>
            <a:r>
              <a:rPr lang="el-GR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φ</a:t>
            </a:r>
            <a:r>
              <a:rPr lang="en-US" sz="26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(t)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 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DOM(</a:t>
            </a:r>
            <a:r>
              <a:rPr lang="el-GR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φ</a:t>
            </a:r>
            <a:r>
              <a:rPr lang="ru-RU" sz="26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(t)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 </a:t>
            </a:r>
            <a:r>
              <a:rPr lang="ru-RU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эквивалентно безопасному выражению </a:t>
            </a:r>
            <a:b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{t| </a:t>
            </a:r>
            <a:r>
              <a:rPr lang="el-GR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φ</a:t>
            </a:r>
            <a:r>
              <a:rPr lang="en-US" sz="26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(t)</a:t>
            </a:r>
            <a:r>
              <a:rPr lang="ru-RU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  </a:t>
            </a:r>
            <a:r>
              <a:rPr lang="el-GR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φ</a:t>
            </a:r>
            <a:r>
              <a:rPr lang="ru-RU" sz="26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r>
              <a:rPr lang="en-US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(t)}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64837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ru-RU" sz="3600" dirty="0">
                <a:solidFill>
                  <a:schemeClr val="bg2"/>
                </a:solidFill>
              </a:rPr>
              <a:t>Редукция РА к РИК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3363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811933"/>
            <a:ext cx="8964488" cy="5595217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u="sng" dirty="0">
                <a:latin typeface="Times New Roman" pitchFamily="18" charset="0"/>
                <a:cs typeface="Times New Roman" pitchFamily="18" charset="0"/>
              </a:rPr>
              <a:t>Случай 3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 = Е</a:t>
            </a:r>
            <a:r>
              <a:rPr lang="ru-RU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x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ru-RU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</a:t>
            </a:r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ru-RU" sz="24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отношение степени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эквивалентно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безопасному выражению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{t|</a:t>
            </a:r>
            <a:r>
              <a:rPr lang="el-GR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sz="28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(t)}</a:t>
            </a:r>
            <a:endParaRPr lang="ru-RU" sz="28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  <a:sym typeface="Symbol"/>
            </a:endParaRP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</a:t>
            </a:r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ru-RU" sz="24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отношение степени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эквивалентно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безопасному выражению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{t|</a:t>
            </a:r>
            <a:r>
              <a:rPr lang="el-GR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ru-RU" sz="28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(t)}</a:t>
            </a:r>
            <a:endParaRPr lang="ru-RU" sz="28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  <a:sym typeface="Symbol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для </a:t>
            </a:r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ru-RU" sz="24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эквивалентно выражению 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l-GR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 =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{t</a:t>
            </a:r>
            <a:r>
              <a:rPr lang="ru-RU" sz="2400" baseline="30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aseline="300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k+s</a:t>
            </a:r>
            <a:r>
              <a:rPr lang="en-US" sz="2400" baseline="30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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 </a:t>
            </a: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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v </a:t>
            </a:r>
            <a:r>
              <a:rPr lang="en-US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l-GR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sz="24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(u)</a:t>
            </a:r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 </a:t>
            </a:r>
            <a:r>
              <a:rPr lang="el-GR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ru-RU" sz="24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(v) &amp; t[1]=u[1] &amp; … &amp; t[k]=u[k]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       &amp; t[k+1]=v[1] &amp; … &amp; t[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k+s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]=v[s] </a:t>
            </a:r>
            <a:r>
              <a:rPr lang="en-US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)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}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l-GR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φ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(t)</a:t>
            </a:r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DOM(</a:t>
            </a:r>
            <a:r>
              <a:rPr lang="el-GR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φ</a:t>
            </a:r>
            <a:r>
              <a:rPr lang="en-US" sz="24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(t)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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DOM(</a:t>
            </a:r>
            <a:r>
              <a:rPr lang="el-GR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φ</a:t>
            </a:r>
            <a:r>
              <a:rPr lang="en-US" sz="24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2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(t)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Выражение </a:t>
            </a:r>
            <a:r>
              <a:rPr lang="el-GR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 </a:t>
            </a:r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безопасно, так как </a:t>
            </a:r>
            <a:r>
              <a:rPr lang="en-US" sz="2400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t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[</a:t>
            </a:r>
            <a:r>
              <a:rPr lang="en-US" sz="2400" i="1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]</a:t>
            </a:r>
            <a:r>
              <a:rPr lang="en-US" sz="2400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ограничено значениями </a:t>
            </a:r>
            <a:r>
              <a:rPr lang="en-US" sz="2400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[</a:t>
            </a:r>
            <a:r>
              <a:rPr lang="en-US" sz="2400" i="1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]</a:t>
            </a:r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,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если</a:t>
            </a:r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sz="2400" i="1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US" sz="2400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≤ k,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и значениями </a:t>
            </a:r>
            <a:r>
              <a:rPr lang="en-US" sz="2400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[</a:t>
            </a:r>
            <a:r>
              <a:rPr lang="en-US" sz="2400" i="1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]</a:t>
            </a:r>
            <a:r>
              <a:rPr lang="ru-RU" sz="2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, если </a:t>
            </a:r>
            <a:r>
              <a:rPr lang="en-US" sz="2400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k ˂ </a:t>
            </a:r>
            <a:r>
              <a:rPr lang="en-US" sz="2400" i="1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US" sz="2400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≤ k </a:t>
            </a:r>
            <a:r>
              <a:rPr lang="ru-RU" sz="2400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+</a:t>
            </a:r>
            <a:r>
              <a:rPr lang="en-US" sz="2400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s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64837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ru-RU" sz="3600" dirty="0">
                <a:solidFill>
                  <a:schemeClr val="bg2"/>
                </a:solidFill>
              </a:rPr>
              <a:t>Редукция РА к РИК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1365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1" y="811934"/>
            <a:ext cx="8622959" cy="5407376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u="sng" dirty="0">
                <a:latin typeface="Times New Roman" pitchFamily="18" charset="0"/>
                <a:cs typeface="Times New Roman" pitchFamily="18" charset="0"/>
              </a:rPr>
              <a:t>Случай </a:t>
            </a:r>
            <a:r>
              <a:rPr lang="en-US" u="sng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 = 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en-US" sz="2800" i="1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400" i="1" baseline="-50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800" i="1" baseline="-25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i="1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i="1" baseline="-5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800" i="1" baseline="-25000" dirty="0">
                <a:latin typeface="Times New Roman" pitchFamily="18" charset="0"/>
                <a:cs typeface="Times New Roman" pitchFamily="18" charset="0"/>
              </a:rPr>
              <a:t>, …</a:t>
            </a:r>
            <a:r>
              <a:rPr lang="en-US" sz="2800" i="1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i="1" baseline="-50000" dirty="0" err="1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2800" i="1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baseline="-250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800" baseline="-250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ru-RU" sz="28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отношение степени </a:t>
            </a:r>
            <a:r>
              <a:rPr lang="en-US" sz="3600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эквивалентно безопасному выражению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{t|</a:t>
            </a:r>
            <a:r>
              <a:rPr lang="el-GR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(t)}</a:t>
            </a:r>
            <a:endParaRPr lang="ru-RU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  <a:sym typeface="Symbol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для 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ru-RU" sz="28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эквивалентное выражение 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l-GR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 =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{t</a:t>
            </a:r>
            <a:r>
              <a:rPr lang="ru-RU" sz="2800" baseline="30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aseline="30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k)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ru-RU" sz="2800" b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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 </a:t>
            </a:r>
            <a:r>
              <a:rPr lang="en-US" sz="28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l-GR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sz="28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(u) &amp; t[1]=u[</a:t>
            </a:r>
            <a:r>
              <a:rPr lang="en-US" sz="2800" i="1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800" i="1" baseline="-250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] &amp; … &amp; t[k]=u[</a:t>
            </a:r>
            <a:r>
              <a:rPr lang="en-US" sz="2800" i="1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i="1" baseline="-25000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] </a:t>
            </a:r>
            <a:r>
              <a:rPr lang="en-US" sz="28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)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}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							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где 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sz="2800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k ≤ n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l-GR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φ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(t)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DOM(</a:t>
            </a:r>
            <a:r>
              <a:rPr lang="el-GR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φ</a:t>
            </a:r>
            <a:r>
              <a:rPr lang="en-US" sz="28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(t)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Выражение </a:t>
            </a:r>
            <a:r>
              <a:rPr lang="el-GR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 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безопасно, так как </a:t>
            </a:r>
            <a:r>
              <a:rPr lang="en-US" sz="2800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t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[</a:t>
            </a:r>
            <a:r>
              <a:rPr lang="en-US" sz="2800" i="1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]</a:t>
            </a:r>
            <a:r>
              <a:rPr lang="en-US" sz="2800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ограничено значениями </a:t>
            </a:r>
            <a:r>
              <a:rPr lang="en-US" sz="2800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[</a:t>
            </a:r>
            <a:r>
              <a:rPr lang="en-US" sz="2800" i="1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US" sz="2800" i="1" baseline="-250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j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]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,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если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sz="2800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j ≤ n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64837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ru-RU" sz="3600" dirty="0">
                <a:solidFill>
                  <a:schemeClr val="bg2"/>
                </a:solidFill>
              </a:rPr>
              <a:t>Редукция РА к РИК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4735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811934"/>
            <a:ext cx="9027495" cy="5407376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u="sng" dirty="0">
                <a:latin typeface="Times New Roman" pitchFamily="18" charset="0"/>
                <a:cs typeface="Times New Roman" pitchFamily="18" charset="0"/>
              </a:rPr>
              <a:t>Случай </a:t>
            </a:r>
            <a:r>
              <a:rPr lang="en-US" u="sng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 = </a:t>
            </a:r>
            <a:r>
              <a:rPr lang="el-GR" b="1" dirty="0">
                <a:latin typeface="Times New Roman" pitchFamily="18" charset="0"/>
                <a:cs typeface="Times New Roman" pitchFamily="18" charset="0"/>
              </a:rPr>
              <a:t>Ϭ</a:t>
            </a:r>
            <a:r>
              <a:rPr lang="en-US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baseline="-250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ru-RU" sz="28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эквивалентно безопасному выражению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{t|</a:t>
            </a:r>
            <a:r>
              <a:rPr lang="el-GR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(t)}</a:t>
            </a:r>
            <a:endParaRPr lang="ru-RU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  <a:sym typeface="Symbol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для 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ru-RU" sz="28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эквивалентно выражению 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l-GR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 =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{t|</a:t>
            </a:r>
            <a:r>
              <a:rPr lang="el-GR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sz="28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 &amp;</a:t>
            </a:r>
            <a:r>
              <a:rPr lang="en-US" sz="2800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F’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}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,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где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F’ </a:t>
            </a:r>
            <a:r>
              <a:rPr lang="ru-RU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есть 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F</a:t>
            </a:r>
            <a:r>
              <a:rPr lang="ru-RU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,  (1)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в которой каждый операнд обозначающий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 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компонент </a:t>
            </a:r>
            <a:r>
              <a:rPr lang="en-US" b="1" i="1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заменяется на </a:t>
            </a: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t[</a:t>
            </a:r>
            <a:r>
              <a:rPr lang="en-US" b="1" i="1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]</a:t>
            </a:r>
            <a:r>
              <a:rPr lang="en-US" i="1" dirty="0">
                <a:latin typeface="Times New Roman" pitchFamily="18" charset="0"/>
                <a:cs typeface="Times New Roman" pitchFamily="18" charset="0"/>
                <a:sym typeface="Symbol"/>
              </a:rPr>
              <a:t>.</a:t>
            </a:r>
            <a:endParaRPr lang="ru-RU" i="1" dirty="0">
              <a:latin typeface="Times New Roman" pitchFamily="18" charset="0"/>
              <a:cs typeface="Times New Roman" pitchFamily="18" charset="0"/>
              <a:sym typeface="Symbol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Можно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l-GR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φ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(t)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DOM(</a:t>
            </a:r>
            <a:r>
              <a:rPr lang="el-GR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φ</a:t>
            </a:r>
            <a:r>
              <a:rPr lang="en-US" sz="28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1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(t)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Выражение (1)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безопасно, так как каждый компонент кортежа 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t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ограничивается символами, которые есть в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DOM(</a:t>
            </a:r>
            <a:r>
              <a:rPr lang="el-GR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φ</a:t>
            </a:r>
            <a:r>
              <a:rPr lang="en-US" sz="28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(t))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64837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ru-RU" sz="3600" dirty="0">
                <a:solidFill>
                  <a:schemeClr val="bg2"/>
                </a:solidFill>
              </a:rPr>
              <a:t>Редукция РА к РИК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2491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863715"/>
            <a:ext cx="9143999" cy="5994285"/>
          </a:xfrm>
        </p:spPr>
        <p:txBody>
          <a:bodyPr>
            <a:normAutofit fontScale="62500" lnSpcReduction="20000"/>
          </a:bodyPr>
          <a:lstStyle/>
          <a:p>
            <a:pPr marL="0" indent="0" eaLnBrk="1" hangingPunct="1">
              <a:lnSpc>
                <a:spcPct val="120000"/>
              </a:lnSpc>
              <a:buNone/>
            </a:pPr>
            <a:r>
              <a:rPr lang="ru-RU" sz="3600" dirty="0"/>
              <a:t>Выражения реляционного исчисления на доменах имеют вид: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х</a:t>
            </a:r>
            <a:r>
              <a:rPr lang="ru-RU" sz="36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х</a:t>
            </a:r>
            <a:r>
              <a:rPr lang="ru-RU" sz="36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… , х</a:t>
            </a:r>
            <a:r>
              <a:rPr lang="en-US" sz="36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l-GR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ru-RU" sz="36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х</a:t>
            </a:r>
            <a:r>
              <a:rPr lang="ru-RU" sz="36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… , х</a:t>
            </a:r>
            <a:r>
              <a:rPr lang="en-US" sz="36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 }</a:t>
            </a:r>
            <a:endParaRPr lang="ru-RU" sz="36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ru-RU" dirty="0"/>
              <a:t>а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solidFill>
                  <a:schemeClr val="bg2"/>
                </a:solidFill>
                <a:cs typeface="Times New Roman"/>
              </a:rPr>
              <a:t> </a:t>
            </a:r>
            <a:r>
              <a:rPr lang="ru-RU" dirty="0">
                <a:cs typeface="Times New Roman"/>
              </a:rPr>
              <a:t>– формула, построенная из атомов и совокупности операторов, а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ru-RU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х</a:t>
            </a:r>
            <a:r>
              <a:rPr lang="ru-RU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… , х</a:t>
            </a:r>
            <a:r>
              <a:rPr lang="en-US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ru-RU" dirty="0">
                <a:cs typeface="Times New Roman" pitchFamily="18" charset="0"/>
              </a:rPr>
              <a:t>переменные, определенные  на доменах отношений, входящих в формулу</a:t>
            </a:r>
            <a:endParaRPr lang="ru-RU" dirty="0">
              <a:cs typeface="Times New Roman"/>
            </a:endParaRPr>
          </a:p>
          <a:p>
            <a:pPr marL="0" indent="0" eaLnBrk="1" hangingPunct="1">
              <a:lnSpc>
                <a:spcPct val="120000"/>
              </a:lnSpc>
              <a:buNone/>
            </a:pPr>
            <a:endParaRPr lang="ru-RU" dirty="0">
              <a:cs typeface="Times New Roman"/>
            </a:endParaRP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ru-RU" i="1" u="sng" dirty="0">
                <a:cs typeface="Times New Roman"/>
              </a:rPr>
              <a:t>Атомы</a:t>
            </a:r>
            <a:r>
              <a:rPr lang="ru-RU" dirty="0">
                <a:cs typeface="Times New Roman"/>
              </a:rPr>
              <a:t> формул </a:t>
            </a:r>
            <a:r>
              <a:rPr lang="el-GR" sz="3300" dirty="0"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ru-RU" dirty="0">
                <a:cs typeface="Times New Roman"/>
              </a:rPr>
              <a:t> могут быть</a:t>
            </a:r>
          </a:p>
          <a:p>
            <a:pPr marL="457200" indent="-457200" eaLnBrk="1" hangingPunct="1">
              <a:lnSpc>
                <a:spcPct val="120000"/>
              </a:lnSpc>
              <a:buClr>
                <a:schemeClr val="tx1"/>
              </a:buClr>
              <a:buSzPct val="90000"/>
              <a:buAutoNum type="arabicPeriod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 (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ru-RU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х</a:t>
            </a:r>
            <a:r>
              <a:rPr lang="ru-RU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… , х</a:t>
            </a:r>
            <a:r>
              <a:rPr lang="en-US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)</a:t>
            </a:r>
            <a:r>
              <a:rPr lang="ru-RU" dirty="0">
                <a:cs typeface="Times New Roman"/>
              </a:rPr>
              <a:t>, где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dirty="0">
                <a:solidFill>
                  <a:schemeClr val="bg2"/>
                </a:solidFill>
                <a:cs typeface="Times New Roman"/>
              </a:rPr>
              <a:t> </a:t>
            </a:r>
            <a:r>
              <a:rPr lang="en-US" dirty="0">
                <a:cs typeface="Times New Roman"/>
              </a:rPr>
              <a:t>– k</a:t>
            </a:r>
            <a:r>
              <a:rPr lang="ru-RU" dirty="0">
                <a:cs typeface="Times New Roman"/>
              </a:rPr>
              <a:t>- </a:t>
            </a:r>
            <a:r>
              <a:rPr lang="ru-RU" dirty="0" err="1">
                <a:cs typeface="Times New Roman"/>
              </a:rPr>
              <a:t>арное</a:t>
            </a:r>
            <a:r>
              <a:rPr lang="ru-RU" dirty="0">
                <a:cs typeface="Times New Roman"/>
              </a:rPr>
              <a:t> отношение и каждое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i="1" baseline="-250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cs typeface="Times New Roman"/>
              </a:rPr>
              <a:t> </a:t>
            </a:r>
            <a:r>
              <a:rPr lang="ru-RU" dirty="0">
                <a:cs typeface="Times New Roman"/>
              </a:rPr>
              <a:t>есть константа или переменная на домене</a:t>
            </a:r>
            <a:r>
              <a:rPr lang="en-US" dirty="0">
                <a:cs typeface="Times New Roman"/>
              </a:rPr>
              <a:t>. </a:t>
            </a:r>
            <a:endParaRPr lang="ru-RU" dirty="0">
              <a:cs typeface="Times New Roman"/>
            </a:endParaRPr>
          </a:p>
          <a:p>
            <a:pPr marL="857250" lvl="1" indent="0" eaLnBrk="1" hangingPunct="1">
              <a:lnSpc>
                <a:spcPct val="120000"/>
              </a:lnSpc>
              <a:buClr>
                <a:schemeClr val="tx1"/>
              </a:buClr>
              <a:buSzPct val="90000"/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 (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ru-RU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х</a:t>
            </a:r>
            <a:r>
              <a:rPr lang="ru-RU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… , </a:t>
            </a:r>
            <a:r>
              <a:rPr lang="ru-RU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)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cs typeface="Times New Roman" pitchFamily="18" charset="0"/>
              </a:rPr>
              <a:t>указывает, что значения </a:t>
            </a:r>
            <a:r>
              <a:rPr lang="ru-RU" sz="29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sz="2900" i="1" baseline="-250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9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>
                <a:cs typeface="Times New Roman" pitchFamily="18" charset="0"/>
              </a:rPr>
              <a:t>которые являются переменными должны быть выбраны так, чтобы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ru-RU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х</a:t>
            </a:r>
            <a:r>
              <a:rPr lang="ru-RU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… , </a:t>
            </a:r>
            <a:r>
              <a:rPr lang="ru-RU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cs typeface="Times New Roman" pitchFamily="18" charset="0"/>
              </a:rPr>
              <a:t>был кортежем в отношении </a:t>
            </a:r>
            <a:r>
              <a:rPr lang="en-US" dirty="0">
                <a:cs typeface="Times New Roman" pitchFamily="18" charset="0"/>
              </a:rPr>
              <a:t>R</a:t>
            </a:r>
            <a:endParaRPr lang="ru-RU" dirty="0">
              <a:cs typeface="Times New Roman"/>
            </a:endParaRPr>
          </a:p>
          <a:p>
            <a:pPr marL="457200" indent="-457200" eaLnBrk="1" hangingPunct="1">
              <a:lnSpc>
                <a:spcPct val="120000"/>
              </a:lnSpc>
              <a:buClr>
                <a:schemeClr val="tx1"/>
              </a:buClr>
              <a:buSzPct val="90000"/>
              <a:buAutoNum type="arabicPeriod"/>
            </a:pP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x</a:t>
            </a:r>
            <a:r>
              <a:rPr lang="el-GR" sz="36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θ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y</a:t>
            </a:r>
            <a:r>
              <a:rPr lang="ru-RU" dirty="0">
                <a:cs typeface="Times New Roman"/>
              </a:rPr>
              <a:t>, где </a:t>
            </a:r>
            <a:r>
              <a:rPr lang="en-US" dirty="0">
                <a:cs typeface="Times New Roman"/>
              </a:rPr>
              <a:t>x </a:t>
            </a:r>
            <a:r>
              <a:rPr lang="ru-RU" dirty="0">
                <a:cs typeface="Times New Roman"/>
              </a:rPr>
              <a:t>и </a:t>
            </a:r>
            <a:r>
              <a:rPr lang="en-US" dirty="0">
                <a:cs typeface="Times New Roman"/>
              </a:rPr>
              <a:t>y –</a:t>
            </a:r>
            <a:r>
              <a:rPr lang="ru-RU" dirty="0">
                <a:cs typeface="Times New Roman"/>
              </a:rPr>
              <a:t> переменные на доменах, а </a:t>
            </a:r>
            <a:r>
              <a:rPr lang="el-GR" dirty="0">
                <a:solidFill>
                  <a:schemeClr val="bg2"/>
                </a:solidFill>
                <a:latin typeface="Times New Roman"/>
                <a:cs typeface="Times New Roman"/>
              </a:rPr>
              <a:t>θ</a:t>
            </a:r>
            <a:r>
              <a:rPr lang="ru-RU" sz="2800" dirty="0">
                <a:solidFill>
                  <a:schemeClr val="bg2"/>
                </a:solidFill>
                <a:latin typeface="Times New Roman"/>
                <a:cs typeface="Times New Roman"/>
              </a:rPr>
              <a:t> </a:t>
            </a:r>
            <a:r>
              <a:rPr lang="ru-RU" sz="2800" dirty="0">
                <a:cs typeface="Times New Roman"/>
              </a:rPr>
              <a:t>– </a:t>
            </a:r>
            <a:r>
              <a:rPr lang="ru-RU" dirty="0">
                <a:cs typeface="Times New Roman"/>
              </a:rPr>
              <a:t>арифметический оператор сравнения ( </a:t>
            </a:r>
            <a:r>
              <a:rPr lang="en-US" dirty="0">
                <a:cs typeface="Times New Roman"/>
              </a:rPr>
              <a:t>&lt;, &gt;, = </a:t>
            </a:r>
            <a:r>
              <a:rPr lang="ru-RU" dirty="0">
                <a:cs typeface="Times New Roman"/>
              </a:rPr>
              <a:t> и т.д.) </a:t>
            </a:r>
          </a:p>
          <a:p>
            <a:pPr marL="457200" indent="-457200" eaLnBrk="1" hangingPunct="1">
              <a:lnSpc>
                <a:spcPct val="120000"/>
              </a:lnSpc>
              <a:buClr>
                <a:schemeClr val="tx1"/>
              </a:buClr>
              <a:buSzPct val="90000"/>
              <a:buAutoNum type="arabicPeriod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x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l-GR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θ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l-GR" sz="3600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α</a:t>
            </a:r>
            <a:r>
              <a:rPr lang="ru-RU" sz="3600" dirty="0">
                <a:solidFill>
                  <a:schemeClr val="bg2"/>
                </a:solidFill>
                <a:latin typeface="Times New Roman"/>
                <a:cs typeface="Times New Roman"/>
              </a:rPr>
              <a:t>, </a:t>
            </a:r>
            <a:r>
              <a:rPr lang="ru-RU" dirty="0">
                <a:cs typeface="Times New Roman"/>
              </a:rPr>
              <a:t>где 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x</a:t>
            </a:r>
            <a:r>
              <a:rPr lang="en-US">
                <a:cs typeface="Times New Roman"/>
              </a:rPr>
              <a:t> </a:t>
            </a:r>
            <a:r>
              <a:rPr lang="en-US" dirty="0">
                <a:cs typeface="Times New Roman"/>
              </a:rPr>
              <a:t>–</a:t>
            </a:r>
            <a:r>
              <a:rPr lang="ru-RU" dirty="0">
                <a:cs typeface="Times New Roman"/>
              </a:rPr>
              <a:t> переменная на домене, </a:t>
            </a:r>
            <a:r>
              <a:rPr lang="el-GR" dirty="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α</a:t>
            </a:r>
            <a:r>
              <a:rPr lang="el-GR" dirty="0">
                <a:solidFill>
                  <a:schemeClr val="bg2"/>
                </a:solidFill>
                <a:latin typeface="Times New Roman"/>
                <a:cs typeface="Times New Roman"/>
              </a:rPr>
              <a:t> </a:t>
            </a:r>
            <a:r>
              <a:rPr lang="ru-RU" dirty="0">
                <a:solidFill>
                  <a:schemeClr val="bg2"/>
                </a:solidFill>
                <a:latin typeface="Times New Roman"/>
                <a:cs typeface="Times New Roman"/>
              </a:rPr>
              <a:t>– </a:t>
            </a:r>
            <a:r>
              <a:rPr lang="ru-RU" dirty="0">
                <a:cs typeface="Times New Roman"/>
              </a:rPr>
              <a:t>константа, а </a:t>
            </a:r>
            <a:r>
              <a:rPr lang="el-GR" dirty="0">
                <a:solidFill>
                  <a:schemeClr val="bg2"/>
                </a:solidFill>
                <a:latin typeface="Times New Roman"/>
                <a:cs typeface="Times New Roman"/>
              </a:rPr>
              <a:t>θ</a:t>
            </a:r>
            <a:r>
              <a:rPr lang="ru-RU" sz="2800" dirty="0">
                <a:solidFill>
                  <a:schemeClr val="bg2"/>
                </a:solidFill>
                <a:latin typeface="Times New Roman"/>
                <a:cs typeface="Times New Roman"/>
              </a:rPr>
              <a:t> </a:t>
            </a:r>
            <a:r>
              <a:rPr lang="ru-RU" sz="2800" dirty="0">
                <a:cs typeface="Times New Roman"/>
              </a:rPr>
              <a:t>– </a:t>
            </a:r>
            <a:r>
              <a:rPr lang="ru-RU" dirty="0">
                <a:cs typeface="Times New Roman"/>
              </a:rPr>
              <a:t>арифметический оператор сравнения ( </a:t>
            </a:r>
            <a:r>
              <a:rPr lang="en-US" dirty="0">
                <a:cs typeface="Times New Roman"/>
              </a:rPr>
              <a:t>&lt;, &gt;, = </a:t>
            </a:r>
            <a:r>
              <a:rPr lang="ru-RU" dirty="0">
                <a:cs typeface="Times New Roman"/>
              </a:rPr>
              <a:t> и т.д.) 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8229600" cy="64837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ru-RU" sz="3600" dirty="0">
                <a:solidFill>
                  <a:schemeClr val="bg2"/>
                </a:solidFill>
              </a:rPr>
              <a:t>Реляционное исчисление на доменах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7153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60350" y="806450"/>
            <a:ext cx="8669368" cy="58674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 </a:t>
            </a: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выражениях РИД переменные на доменах могут быть 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свободными</a:t>
            </a: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или 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связанными</a:t>
            </a: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2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Переменная связана, если в формуле ей предшествует квантор </a:t>
            </a:r>
            <a:r>
              <a:rPr lang="ru-RU" sz="31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</a:t>
            </a: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или </a:t>
            </a:r>
            <a:r>
              <a:rPr lang="ru-RU" sz="31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</a:t>
            </a:r>
            <a:r>
              <a:rPr lang="ru-RU" sz="31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.</a:t>
            </a:r>
            <a:endParaRPr lang="ru-RU" sz="3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None/>
            </a:pPr>
            <a:r>
              <a:rPr lang="ru-RU" sz="3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Формулы</a:t>
            </a:r>
          </a:p>
          <a:p>
            <a:pPr marL="514350" indent="-514350">
              <a:lnSpc>
                <a:spcPct val="120000"/>
              </a:lnSpc>
              <a:buClrTx/>
              <a:buSzPct val="90000"/>
              <a:buAutoNum type="arabicPeriod"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Каждый атом есть формула. Все вхождения переменных в атоме являются свободными в этой формуле.</a:t>
            </a:r>
          </a:p>
          <a:p>
            <a:pPr marL="514350" indent="-514350">
              <a:lnSpc>
                <a:spcPct val="120000"/>
              </a:lnSpc>
              <a:buClrTx/>
              <a:buSzPct val="90000"/>
              <a:buAutoNum type="arabicPeriod"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ru-RU" sz="31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ru-RU" sz="31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формулы, то 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ru-RU" sz="31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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ru-RU" sz="31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ru-RU" sz="31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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ru-RU" sz="31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31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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φ</a:t>
            </a:r>
            <a:r>
              <a:rPr lang="ru-RU" sz="31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также формулы. Переменные являются свободными или связанными в построенных формулах точно так же какими он были в исходных формулах.</a:t>
            </a:r>
          </a:p>
          <a:p>
            <a:pPr marL="514350" indent="-514350">
              <a:lnSpc>
                <a:spcPct val="120000"/>
              </a:lnSpc>
              <a:buClrTx/>
              <a:buSzPct val="90000"/>
              <a:buAutoNum type="arabicPeriod"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формула, то </a:t>
            </a:r>
            <a:r>
              <a:rPr lang="ru-RU" sz="31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 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s (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также формула</a:t>
            </a:r>
          </a:p>
          <a:p>
            <a:pPr marL="514350" indent="-514350">
              <a:lnSpc>
                <a:spcPct val="120000"/>
              </a:lnSpc>
              <a:buClrTx/>
              <a:buSzPct val="90000"/>
              <a:buAutoNum type="arabicPeriod"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формула, то </a:t>
            </a:r>
            <a:r>
              <a:rPr lang="ru-RU" sz="31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 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s (</a:t>
            </a:r>
            <a:r>
              <a:rPr lang="el-GR" sz="3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sz="3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3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также формула</a:t>
            </a:r>
          </a:p>
          <a:p>
            <a:pPr marL="514350" indent="-514350">
              <a:lnSpc>
                <a:spcPct val="120000"/>
              </a:lnSpc>
              <a:buClrTx/>
              <a:buSzPct val="90000"/>
              <a:buAutoNum type="arabicPeriod"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формулах могут быть скобки</a:t>
            </a:r>
          </a:p>
          <a:p>
            <a:pPr marL="514350" indent="-514350">
              <a:lnSpc>
                <a:spcPct val="120000"/>
              </a:lnSpc>
              <a:buClrTx/>
              <a:buSzPct val="90000"/>
              <a:buAutoNum type="arabicPeriod"/>
            </a:pPr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Ничто иное не является формулой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635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ru-RU" sz="3600" dirty="0">
                <a:solidFill>
                  <a:schemeClr val="bg2"/>
                </a:solidFill>
              </a:rPr>
              <a:t>Реляционное исчисление на доменах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20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" y="863715"/>
            <a:ext cx="9144000" cy="5535615"/>
          </a:xfrm>
        </p:spPr>
        <p:txBody>
          <a:bodyPr>
            <a:noAutofit/>
          </a:bodyPr>
          <a:lstStyle/>
          <a:p>
            <a:pPr marL="0" indent="0" eaLnBrk="1" hangingPunct="1">
              <a:lnSpc>
                <a:spcPct val="120000"/>
              </a:lnSpc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Выражение реляционного исчисления с переменными на доменах 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ru-RU" sz="28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х</a:t>
            </a:r>
            <a:r>
              <a:rPr lang="ru-RU" sz="28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… , </a:t>
            </a:r>
            <a:r>
              <a:rPr lang="ru-RU" sz="28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sz="28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l-GR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ru-RU" sz="28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х</a:t>
            </a:r>
            <a:r>
              <a:rPr lang="ru-RU" sz="28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… , х</a:t>
            </a:r>
            <a:r>
              <a:rPr lang="en-US" sz="28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)}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является </a:t>
            </a:r>
            <a:r>
              <a:rPr lang="ru-RU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безопасным,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ru-RU" sz="2800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ru-RU" sz="28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когда</a:t>
            </a:r>
          </a:p>
          <a:p>
            <a:pPr marL="457200" indent="-457200" eaLnBrk="1" hangingPunct="1">
              <a:lnSpc>
                <a:spcPct val="120000"/>
              </a:lnSpc>
              <a:buClr>
                <a:schemeClr val="tx1"/>
              </a:buClr>
              <a:buSzPct val="90000"/>
              <a:buAutoNum type="arabicPeriod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 истинности </a:t>
            </a:r>
            <a:r>
              <a:rPr lang="el-GR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ru-RU" sz="28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х</a:t>
            </a:r>
            <a:r>
              <a:rPr lang="ru-RU" sz="28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… , х</a:t>
            </a:r>
            <a:r>
              <a:rPr lang="en-US" sz="28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следует, что 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sz="2800" i="1" baseline="-250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i="1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i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принадлежит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DOM(</a:t>
            </a:r>
            <a:r>
              <a:rPr lang="el-GR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457200" indent="-457200" eaLnBrk="1" hangingPunct="1">
              <a:lnSpc>
                <a:spcPct val="120000"/>
              </a:lnSpc>
              <a:buClr>
                <a:schemeClr val="tx1"/>
              </a:buClr>
              <a:buSzPct val="90000"/>
              <a:buAutoNum type="arabicPeriod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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(</a:t>
            </a:r>
            <a:r>
              <a:rPr lang="el-GR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ω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(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u)) </a:t>
            </a:r>
            <a:r>
              <a:rPr lang="ru-RU" sz="2800" dirty="0">
                <a:latin typeface="Times New Roman" pitchFamily="18" charset="0"/>
                <a:cs typeface="Times New Roman" pitchFamily="18" charset="0"/>
                <a:sym typeface="Symbol"/>
              </a:rPr>
              <a:t>–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подформула</a:t>
            </a:r>
            <a:r>
              <a:rPr lang="ru-RU" sz="2800" dirty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l-GR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 из истинности </a:t>
            </a:r>
            <a:r>
              <a:rPr lang="el-GR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ω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u)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следует, что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принадлежит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DOM(</a:t>
            </a:r>
            <a:r>
              <a:rPr lang="el-GR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ω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)</a:t>
            </a:r>
          </a:p>
          <a:p>
            <a:pPr marL="457200" indent="-457200" eaLnBrk="1" hangingPunct="1">
              <a:lnSpc>
                <a:spcPct val="120000"/>
              </a:lnSpc>
              <a:buClr>
                <a:schemeClr val="tx1"/>
              </a:buClr>
              <a:buSzPct val="90000"/>
              <a:buFont typeface="Wingdings" pitchFamily="2" charset="2"/>
              <a:buAutoNum type="arabicPeriod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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(</a:t>
            </a:r>
            <a:r>
              <a:rPr lang="el-GR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ω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(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u)) </a:t>
            </a:r>
            <a:r>
              <a:rPr lang="ru-RU" sz="2800" dirty="0">
                <a:latin typeface="Times New Roman" pitchFamily="18" charset="0"/>
                <a:cs typeface="Times New Roman" pitchFamily="18" charset="0"/>
                <a:sym typeface="Symbol"/>
              </a:rPr>
              <a:t>–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подформула</a:t>
            </a:r>
            <a:r>
              <a:rPr lang="ru-RU" sz="2800" dirty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l-GR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 из истинности 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</a:t>
            </a:r>
            <a:r>
              <a:rPr lang="el-GR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ω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u)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следует, что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u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принадлежит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DOM(</a:t>
            </a:r>
            <a:r>
              <a:rPr lang="el-GR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ω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)</a:t>
            </a:r>
          </a:p>
          <a:p>
            <a:pPr marL="457200" indent="-457200" eaLnBrk="1" hangingPunct="1">
              <a:lnSpc>
                <a:spcPct val="120000"/>
              </a:lnSpc>
              <a:buClr>
                <a:schemeClr val="tx1"/>
              </a:buClr>
              <a:buSzPct val="90000"/>
              <a:buAutoNum type="arabicPeriod"/>
            </a:pP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8229600" cy="64837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ru-RU" sz="3600" dirty="0">
                <a:solidFill>
                  <a:schemeClr val="bg2"/>
                </a:solidFill>
              </a:rPr>
              <a:t>Реляционное исчисление на доменах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8029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68358" y="1133745"/>
            <a:ext cx="8607283" cy="4950549"/>
          </a:xfrm>
        </p:spPr>
        <p:txBody>
          <a:bodyPr>
            <a:normAutofit fontScale="62500" lnSpcReduction="20000"/>
          </a:bodyPr>
          <a:lstStyle/>
          <a:p>
            <a:pPr marL="0" indent="0" eaLnBrk="1" hangingPunct="1">
              <a:lnSpc>
                <a:spcPct val="120000"/>
              </a:lnSpc>
              <a:buNone/>
            </a:pPr>
            <a:r>
              <a:rPr lang="ru-R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каждого выражения 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{t |</a:t>
            </a:r>
            <a:r>
              <a:rPr lang="el-GR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(t)}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300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РИК</a:t>
            </a:r>
            <a:r>
              <a:rPr lang="ru-R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ru-R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выражение РИД строится следующим образом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ru-R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300" dirty="0"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имеет степень (арность) 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k,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 </a:t>
            </a:r>
          </a:p>
          <a:p>
            <a:pPr marL="400050" lvl="1" indent="0" eaLnBrk="1" hangingPunct="1">
              <a:lnSpc>
                <a:spcPct val="12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ru-RU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введем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 </a:t>
            </a:r>
            <a:r>
              <a:rPr lang="ru-RU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новых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переменных на доменах</a:t>
            </a:r>
            <a:r>
              <a:rPr lang="ru-RU" sz="29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ru-RU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ru-RU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… ,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baseline="-250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endParaRPr lang="ru-RU" baseline="-250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400050" lvl="1" indent="0" eaLnBrk="1" hangingPunct="1">
              <a:lnSpc>
                <a:spcPct val="12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ru-RU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заменим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{t |</a:t>
            </a:r>
            <a:r>
              <a:rPr lang="el-GR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(t)}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{t</a:t>
            </a:r>
            <a:r>
              <a:rPr lang="ru-RU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ru-RU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… ,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baseline="-250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l-GR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φ΄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(t</a:t>
            </a:r>
            <a:r>
              <a:rPr lang="ru-RU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ru-RU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… ,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baseline="-250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 }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где </a:t>
            </a:r>
          </a:p>
          <a:p>
            <a:pPr marL="360000" indent="-360000" eaLnBrk="1" hangingPunct="1">
              <a:lnSpc>
                <a:spcPct val="120000"/>
              </a:lnSpc>
              <a:spcBef>
                <a:spcPts val="600"/>
              </a:spcBef>
              <a:buClrTx/>
              <a:buSzPct val="80000"/>
              <a:buFont typeface="Wingdings" pitchFamily="2" charset="2"/>
              <a:buAutoNum type="arabicParenR"/>
            </a:pP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sz="36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φ΄</a:t>
            </a:r>
            <a:r>
              <a:rPr lang="ru-RU" sz="36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есть </a:t>
            </a:r>
            <a:r>
              <a:rPr lang="el-GR" sz="36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, в которой </a:t>
            </a:r>
          </a:p>
          <a:p>
            <a:pPr marL="360000" indent="-360000" eaLnBrk="1" hangingPunct="1">
              <a:lnSpc>
                <a:spcPct val="120000"/>
              </a:lnSpc>
              <a:spcBef>
                <a:spcPts val="600"/>
              </a:spcBef>
              <a:buClrTx/>
              <a:buSzPct val="80000"/>
              <a:buAutoNum type="arabicParenR"/>
            </a:pP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каждый атом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R(</a:t>
            </a:r>
            <a:r>
              <a:rPr lang="en-US" sz="36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заменен атомом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R(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ru-RU" sz="36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ru-RU" sz="36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… , </a:t>
            </a:r>
            <a:r>
              <a:rPr lang="en-US" sz="36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3600" baseline="-250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marL="360000" indent="-360000" eaLnBrk="1" hangingPunct="1">
              <a:lnSpc>
                <a:spcPct val="120000"/>
              </a:lnSpc>
              <a:spcBef>
                <a:spcPts val="600"/>
              </a:spcBef>
              <a:buClrTx/>
              <a:buSzPct val="80000"/>
              <a:buAutoNum type="arabicParenR"/>
            </a:pP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каждое свободное вхождение </a:t>
            </a:r>
            <a:r>
              <a:rPr lang="en-US" sz="3600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t[</a:t>
            </a:r>
            <a:r>
              <a:rPr lang="en-US" sz="3600" i="1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600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en-US" sz="36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переменной </a:t>
            </a:r>
            <a:r>
              <a:rPr lang="en-US" sz="3600" i="1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3600" i="1" baseline="-25000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endParaRPr lang="az-Cyrl-AZ" sz="3600" i="1" baseline="-25000" dirty="0">
              <a:solidFill>
                <a:srgbClr val="3333FF"/>
              </a:solidFill>
              <a:latin typeface="Times New Roman" pitchFamily="18" charset="0"/>
              <a:cs typeface="Times New Roman" pitchFamily="18" charset="0"/>
            </a:endParaRPr>
          </a:p>
          <a:p>
            <a:pPr marL="360000" indent="-360000" eaLnBrk="1" hangingPunct="1">
              <a:lnSpc>
                <a:spcPct val="120000"/>
              </a:lnSpc>
              <a:spcBef>
                <a:spcPts val="600"/>
              </a:spcBef>
              <a:buClrTx/>
              <a:buSzPct val="80000"/>
              <a:buAutoNum type="arabicParenR"/>
            </a:pPr>
            <a:endParaRPr lang="az-Cyrl-AZ" sz="3600" i="1" baseline="-25000" dirty="0">
              <a:solidFill>
                <a:srgbClr val="3333FF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ClrTx/>
              <a:buSzPct val="80000"/>
              <a:buNone/>
            </a:pPr>
            <a:r>
              <a:rPr lang="az-Cyrl-AZ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Теорема 2. Д</a:t>
            </a:r>
            <a:r>
              <a:rPr lang="ru-RU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ля любого безопасного выражения реляционного исчисления на кортежах существует эквивалентное безопасное выражение реляционного выражения на доменах. 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8229600" cy="64837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ru-RU" sz="3600" dirty="0">
                <a:solidFill>
                  <a:schemeClr val="bg2"/>
                </a:solidFill>
              </a:rPr>
              <a:t>Редукция РИК к РИД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6317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6505" y="953725"/>
            <a:ext cx="8730971" cy="5526851"/>
          </a:xfrm>
        </p:spPr>
        <p:txBody>
          <a:bodyPr lIns="36000" tIns="36000" rIns="36000" bIns="36000">
            <a:normAutofit fontScale="47500" lnSpcReduction="20000"/>
          </a:bodyPr>
          <a:lstStyle/>
          <a:p>
            <a:pPr marL="0" indent="0" eaLnBrk="1" hangingPunct="1">
              <a:lnSpc>
                <a:spcPct val="120000"/>
              </a:lnSpc>
              <a:buNone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План.</a:t>
            </a:r>
          </a:p>
          <a:p>
            <a:pPr marL="360000" indent="-360000" eaLnBrk="1" hangingPunct="1">
              <a:lnSpc>
                <a:spcPct val="120000"/>
              </a:lnSpc>
              <a:buClr>
                <a:schemeClr val="tx1"/>
              </a:buClr>
              <a:buSzPct val="100000"/>
              <a:buFont typeface="+mj-lt"/>
              <a:buAutoNum type="arabicParenR"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Взять произвольную безопасную формулу реляционного исчисления с переменными на доменах </a:t>
            </a:r>
            <a:r>
              <a:rPr lang="el-GR" sz="3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</a:t>
            </a:r>
            <a:r>
              <a:rPr lang="ru-RU" sz="36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х</a:t>
            </a:r>
            <a:r>
              <a:rPr lang="ru-RU" sz="36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… , х</a:t>
            </a:r>
            <a:r>
              <a:rPr lang="en-US" sz="36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где  х</a:t>
            </a:r>
            <a:r>
              <a:rPr lang="ru-RU" sz="36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х</a:t>
            </a:r>
            <a:r>
              <a:rPr lang="ru-RU" sz="36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… , х</a:t>
            </a:r>
            <a:r>
              <a:rPr lang="en-US" sz="3600" baseline="-2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свободные переменные </a:t>
            </a:r>
          </a:p>
          <a:p>
            <a:pPr marL="360000" indent="-360000" eaLnBrk="1" hangingPunct="1">
              <a:lnSpc>
                <a:spcPct val="120000"/>
              </a:lnSpc>
              <a:buClr>
                <a:schemeClr val="tx1"/>
              </a:buClr>
              <a:buSzPct val="100000"/>
              <a:buFont typeface="+mj-lt"/>
              <a:buAutoNum type="arabicParenR"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Сконструировать индукцией по числу операторов  </a:t>
            </a:r>
            <a:r>
              <a:rPr lang="ru-RU" sz="3600" i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выражение реляционной алгебры,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значение которого совпадает с выражением </a:t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ru-RU" sz="36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х</a:t>
            </a:r>
            <a:r>
              <a:rPr lang="ru-RU" sz="36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… , х</a:t>
            </a:r>
            <a:r>
              <a:rPr lang="en-US" sz="36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l-GR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ru-RU" sz="36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х</a:t>
            </a:r>
            <a:r>
              <a:rPr lang="ru-RU" sz="36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… , х</a:t>
            </a:r>
            <a:r>
              <a:rPr lang="en-US" sz="36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)}</a:t>
            </a:r>
            <a:r>
              <a:rPr lang="ru-RU" sz="3600" i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ru-RU" sz="3600" i="1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Даже если заданное выражение РИД безопасно могут быть небезопасные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подформулы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формуле </a:t>
            </a:r>
            <a:r>
              <a:rPr lang="el-GR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ru-RU" sz="36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х</a:t>
            </a:r>
            <a:r>
              <a:rPr lang="ru-RU" sz="36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… , х</a:t>
            </a:r>
            <a:r>
              <a:rPr lang="en-US" sz="3600" baseline="-25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Поэтому индукцией по количеству операторов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подформулы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ω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формулы </a:t>
            </a:r>
            <a:r>
              <a:rPr lang="el-GR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со свободными переменными </a:t>
            </a:r>
            <a:r>
              <a:rPr lang="en-US" sz="36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3600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6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y</a:t>
            </a:r>
            <a:r>
              <a:rPr lang="en-US" sz="3600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…, </a:t>
            </a:r>
            <a:r>
              <a:rPr lang="en-US" sz="36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3600" baseline="-250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6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доказывается, что существует выражение реляционной алгебры для </a:t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(DOM (</a:t>
            </a:r>
            <a:r>
              <a:rPr lang="el-GR" sz="51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))</a:t>
            </a:r>
            <a:r>
              <a:rPr lang="en-US" sz="3600" baseline="30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∩ {</a:t>
            </a:r>
            <a:r>
              <a:rPr lang="en-US" sz="36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3600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6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y</a:t>
            </a:r>
            <a:r>
              <a:rPr lang="en-US" sz="3600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…, </a:t>
            </a:r>
            <a:r>
              <a:rPr lang="en-US" sz="36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3600" baseline="-250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600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l-GR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ω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(</a:t>
            </a:r>
            <a:r>
              <a:rPr lang="en-US" sz="36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3600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6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y</a:t>
            </a:r>
            <a:r>
              <a:rPr lang="en-US" sz="3600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…, </a:t>
            </a:r>
            <a:r>
              <a:rPr lang="en-US" sz="36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3600" baseline="-25000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600" baseline="-250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)</a:t>
            </a:r>
            <a:r>
              <a:rPr lang="en-US" sz="3600" dirty="0">
                <a:latin typeface="Times New Roman" pitchFamily="18" charset="0"/>
                <a:cs typeface="Times New Roman" pitchFamily="18" charset="0"/>
                <a:sym typeface="Symbol"/>
              </a:rPr>
              <a:t>, </a:t>
            </a:r>
            <a:b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</a:br>
            <a:r>
              <a:rPr lang="ru-RU" sz="3600" dirty="0">
                <a:latin typeface="Times New Roman" pitchFamily="18" charset="0"/>
                <a:cs typeface="Times New Roman" pitchFamily="18" charset="0"/>
                <a:sym typeface="Symbol"/>
              </a:rPr>
              <a:t>где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(DOM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3600" baseline="300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означает</a:t>
            </a:r>
            <a:r>
              <a:rPr lang="ru-RU" sz="36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r>
              <a:rPr lang="ru-RU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r>
              <a:rPr lang="ru-RU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ru-RU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×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</a:t>
            </a:r>
            <a:endParaRPr lang="ru-RU" sz="36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lnSpc>
                <a:spcPct val="120000"/>
              </a:lnSpc>
              <a:buNone/>
            </a:pP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eaLnBrk="1" hangingPunct="1">
              <a:lnSpc>
                <a:spcPct val="120000"/>
              </a:lnSpc>
              <a:spcBef>
                <a:spcPts val="600"/>
              </a:spcBef>
              <a:buClrTx/>
              <a:buSzPct val="80000"/>
              <a:buNone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Редукцию РИД к РА самостоятельно разобрать материал в книге </a:t>
            </a:r>
          </a:p>
          <a:p>
            <a:pPr marL="0" indent="0" algn="ctr" eaLnBrk="1" hangingPunct="1">
              <a:lnSpc>
                <a:spcPct val="120000"/>
              </a:lnSpc>
              <a:spcBef>
                <a:spcPts val="600"/>
              </a:spcBef>
              <a:buClrTx/>
              <a:buSzPct val="80000"/>
              <a:buNone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Дж. Ульман «Основы систем баз данных», стр. 110</a:t>
            </a:r>
            <a:endParaRPr lang="ru-RU" sz="4800" i="1" baseline="-25000" dirty="0">
              <a:solidFill>
                <a:srgbClr val="3333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8229600" cy="64837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ru-RU" sz="3600" dirty="0">
                <a:solidFill>
                  <a:schemeClr val="bg2"/>
                </a:solidFill>
              </a:rPr>
              <a:t>Редукция РИД к РА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64A1-BCDA-4256-B3C0-C1DB20A69045}" type="slidenum">
              <a:rPr lang="ru-RU" smtClean="0"/>
              <a:pPr>
                <a:defRPr/>
              </a:pPr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739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3557</TotalTime>
  <Words>3180</Words>
  <Application>Microsoft Office PowerPoint</Application>
  <PresentationFormat>Экран (4:3)</PresentationFormat>
  <Paragraphs>227</Paragraphs>
  <Slides>23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9" baseType="lpstr">
      <vt:lpstr>Arial</vt:lpstr>
      <vt:lpstr>Arial Black</vt:lpstr>
      <vt:lpstr>Calibri</vt:lpstr>
      <vt:lpstr>Times New Roman</vt:lpstr>
      <vt:lpstr>Wingdings</vt:lpstr>
      <vt:lpstr>Пиксел</vt:lpstr>
      <vt:lpstr>Реляционная модель данных. Часть 2</vt:lpstr>
      <vt:lpstr>Реляционная модель данных</vt:lpstr>
      <vt:lpstr>Запросы в реляционной алгебре и в реляционном исчислении</vt:lpstr>
      <vt:lpstr>Презентация PowerPoint</vt:lpstr>
      <vt:lpstr>Реляционное исчисление на кортежах</vt:lpstr>
      <vt:lpstr>Реляционное исчисление на кортежах</vt:lpstr>
      <vt:lpstr>Реляционное исчисление на кортежах</vt:lpstr>
      <vt:lpstr>Ограничение реляционного исчисления</vt:lpstr>
      <vt:lpstr>Ограничение реляционного исчисления</vt:lpstr>
      <vt:lpstr>Безопасные выражения РИК</vt:lpstr>
      <vt:lpstr>Безопасные выражения РИК</vt:lpstr>
      <vt:lpstr>Эквивалентность </vt:lpstr>
      <vt:lpstr>Редукция РА к РИК</vt:lpstr>
      <vt:lpstr>Редукция РА к РИК</vt:lpstr>
      <vt:lpstr>Редукция РА к РИК</vt:lpstr>
      <vt:lpstr>Редукция РА к РИК</vt:lpstr>
      <vt:lpstr>Редукция РА к РИК</vt:lpstr>
      <vt:lpstr>Редукция РА к РИК</vt:lpstr>
      <vt:lpstr>Реляционное исчисление на доменах</vt:lpstr>
      <vt:lpstr>Реляционное исчисление на доменах</vt:lpstr>
      <vt:lpstr>Реляционное исчисление на доменах</vt:lpstr>
      <vt:lpstr>Редукция РИК к РИД</vt:lpstr>
      <vt:lpstr>Редукция РИД к РА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Реляционная модель</dc:title>
  <dc:creator>Борис</dc:creator>
  <cp:lastModifiedBy>Борис Николаевич Пищик</cp:lastModifiedBy>
  <cp:revision>264</cp:revision>
  <dcterms:created xsi:type="dcterms:W3CDTF">2012-10-04T16:47:37Z</dcterms:created>
  <dcterms:modified xsi:type="dcterms:W3CDTF">2023-09-27T13:50:41Z</dcterms:modified>
</cp:coreProperties>
</file>