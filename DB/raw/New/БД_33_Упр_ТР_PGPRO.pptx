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5"/>
  </p:notesMasterIdLst>
  <p:sldIdLst>
    <p:sldId id="257" r:id="rId2"/>
    <p:sldId id="258" r:id="rId3"/>
    <p:sldId id="260" r:id="rId4"/>
    <p:sldId id="263" r:id="rId5"/>
    <p:sldId id="261" r:id="rId6"/>
    <p:sldId id="275" r:id="rId7"/>
    <p:sldId id="276" r:id="rId8"/>
    <p:sldId id="277" r:id="rId9"/>
    <p:sldId id="278" r:id="rId10"/>
    <p:sldId id="279" r:id="rId11"/>
    <p:sldId id="280" r:id="rId12"/>
    <p:sldId id="281" r:id="rId13"/>
    <p:sldId id="282" r:id="rId14"/>
    <p:sldId id="283" r:id="rId15"/>
    <p:sldId id="284" r:id="rId16"/>
    <p:sldId id="285" r:id="rId17"/>
    <p:sldId id="286" r:id="rId18"/>
    <p:sldId id="287" r:id="rId19"/>
    <p:sldId id="288" r:id="rId20"/>
    <p:sldId id="289" r:id="rId21"/>
    <p:sldId id="290" r:id="rId22"/>
    <p:sldId id="291" r:id="rId23"/>
    <p:sldId id="262" r:id="rId24"/>
    <p:sldId id="264" r:id="rId25"/>
    <p:sldId id="265" r:id="rId26"/>
    <p:sldId id="266" r:id="rId27"/>
    <p:sldId id="267" r:id="rId28"/>
    <p:sldId id="268" r:id="rId29"/>
    <p:sldId id="269" r:id="rId30"/>
    <p:sldId id="270" r:id="rId31"/>
    <p:sldId id="271" r:id="rId32"/>
    <p:sldId id="273" r:id="rId33"/>
    <p:sldId id="274" r:id="rId34"/>
    <p:sldId id="292" r:id="rId35"/>
    <p:sldId id="307" r:id="rId36"/>
    <p:sldId id="308" r:id="rId37"/>
    <p:sldId id="309" r:id="rId38"/>
    <p:sldId id="310" r:id="rId39"/>
    <p:sldId id="311" r:id="rId40"/>
    <p:sldId id="312" r:id="rId41"/>
    <p:sldId id="306" r:id="rId42"/>
    <p:sldId id="256" r:id="rId43"/>
    <p:sldId id="293" r:id="rId44"/>
    <p:sldId id="294" r:id="rId45"/>
    <p:sldId id="295" r:id="rId46"/>
    <p:sldId id="296" r:id="rId47"/>
    <p:sldId id="297" r:id="rId48"/>
    <p:sldId id="298" r:id="rId49"/>
    <p:sldId id="299" r:id="rId50"/>
    <p:sldId id="300" r:id="rId51"/>
    <p:sldId id="301" r:id="rId52"/>
    <p:sldId id="303" r:id="rId53"/>
    <p:sldId id="302" r:id="rId54"/>
    <p:sldId id="304" r:id="rId55"/>
    <p:sldId id="305" r:id="rId56"/>
    <p:sldId id="313" r:id="rId57"/>
    <p:sldId id="314" r:id="rId58"/>
    <p:sldId id="315" r:id="rId59"/>
    <p:sldId id="317" r:id="rId60"/>
    <p:sldId id="316"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259" r:id="rId77"/>
    <p:sldId id="333" r:id="rId78"/>
    <p:sldId id="334" r:id="rId79"/>
    <p:sldId id="335" r:id="rId80"/>
    <p:sldId id="336" r:id="rId81"/>
    <p:sldId id="337" r:id="rId82"/>
    <p:sldId id="338" r:id="rId83"/>
    <p:sldId id="339" r:id="rId84"/>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591" autoAdjust="0"/>
    <p:restoredTop sz="67131" autoAdjust="0"/>
  </p:normalViewPr>
  <p:slideViewPr>
    <p:cSldViewPr snapToGrid="0">
      <p:cViewPr varScale="1">
        <p:scale>
          <a:sx n="57" d="100"/>
          <a:sy n="57" d="100"/>
        </p:scale>
        <p:origin x="108" y="2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F14DBF-23FD-4C04-8208-7B885C839835}" type="datetimeFigureOut">
              <a:rPr lang="ru-RU" smtClean="0"/>
              <a:t>29.04.2024</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56B7A7-CEC5-4F3A-9190-6A9927A789AC}" type="slidenum">
              <a:rPr lang="ru-RU" smtClean="0"/>
              <a:t>‹#›</a:t>
            </a:fld>
            <a:endParaRPr lang="ru-RU"/>
          </a:p>
        </p:txBody>
      </p:sp>
    </p:spTree>
    <p:extLst>
      <p:ext uri="{BB962C8B-B14F-4D97-AF65-F5344CB8AC3E}">
        <p14:creationId xmlns:p14="http://schemas.microsoft.com/office/powerpoint/2010/main" val="1291661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3" Type="http://schemas.openxmlformats.org/officeDocument/2006/relationships/hyperlink" Target="https://en.wikipedia.org/wiki/RISC" TargetMode="External"/><Relationship Id="rId18" Type="http://schemas.openxmlformats.org/officeDocument/2006/relationships/hyperlink" Target="https://en.wikipedia.org/wiki/Hardware_acceleration" TargetMode="External"/><Relationship Id="rId26" Type="http://schemas.openxmlformats.org/officeDocument/2006/relationships/hyperlink" Target="https://en.wikipedia.org/wiki/Transactional_memory#cite_note-haswell-tm-11" TargetMode="External"/><Relationship Id="rId3" Type="http://schemas.openxmlformats.org/officeDocument/2006/relationships/hyperlink" Target="http://citforum.ru/programming/digest/transactional_memory/4.shtml#2" TargetMode="External"/><Relationship Id="rId21" Type="http://schemas.openxmlformats.org/officeDocument/2006/relationships/hyperlink" Target="https://en.wikipedia.org/wiki/Transmeta" TargetMode="External"/><Relationship Id="rId34" Type="http://schemas.openxmlformats.org/officeDocument/2006/relationships/hyperlink" Target="https://en.wikipedia.org/wiki/Blue_Gene/Q" TargetMode="External"/><Relationship Id="rId7" Type="http://schemas.openxmlformats.org/officeDocument/2006/relationships/hyperlink" Target="https://en.wikipedia.org/wiki/Transactional_memory#cite_note-6" TargetMode="External"/><Relationship Id="rId12" Type="http://schemas.openxmlformats.org/officeDocument/2006/relationships/hyperlink" Target="https://en.wikipedia.org/wiki/Load-link/store-conditional" TargetMode="External"/><Relationship Id="rId17" Type="http://schemas.openxmlformats.org/officeDocument/2006/relationships/hyperlink" Target="https://en.wikipedia.org/wiki/Compare_and_swap" TargetMode="External"/><Relationship Id="rId25" Type="http://schemas.openxmlformats.org/officeDocument/2006/relationships/hyperlink" Target="https://en.wikipedia.org/wiki/Java_(programming_language)" TargetMode="External"/><Relationship Id="rId33" Type="http://schemas.openxmlformats.org/officeDocument/2006/relationships/hyperlink" Target="https://en.wikipedia.org/wiki/IBM" TargetMode="External"/><Relationship Id="rId2" Type="http://schemas.openxmlformats.org/officeDocument/2006/relationships/slide" Target="../slides/slide61.xml"/><Relationship Id="rId16" Type="http://schemas.openxmlformats.org/officeDocument/2006/relationships/hyperlink" Target="https://en.wikipedia.org/wiki/Transactional_memory#cite_note-9" TargetMode="External"/><Relationship Id="rId20" Type="http://schemas.openxmlformats.org/officeDocument/2006/relationships/hyperlink" Target="https://en.wikipedia.org/w/index.php?title=Transactional_memory&amp;action=edit&amp;section=3" TargetMode="External"/><Relationship Id="rId29" Type="http://schemas.openxmlformats.org/officeDocument/2006/relationships/hyperlink" Target="https://en.wikipedia.org/wiki/Oracle_Corporation" TargetMode="External"/><Relationship Id="rId1" Type="http://schemas.openxmlformats.org/officeDocument/2006/relationships/notesMaster" Target="../notesMasters/notesMaster1.xml"/><Relationship Id="rId6" Type="http://schemas.openxmlformats.org/officeDocument/2006/relationships/hyperlink" Target="https://en.wikipedia.org/wiki/Transactional_memory#cite_note-5" TargetMode="External"/><Relationship Id="rId11" Type="http://schemas.openxmlformats.org/officeDocument/2006/relationships/hyperlink" Target="https://en.wikipedia.org/wiki/False_sharing" TargetMode="External"/><Relationship Id="rId24" Type="http://schemas.openxmlformats.org/officeDocument/2006/relationships/hyperlink" Target="https://en.wikipedia.org/wiki/Speculative_multithreading" TargetMode="External"/><Relationship Id="rId32" Type="http://schemas.openxmlformats.org/officeDocument/2006/relationships/hyperlink" Target="https://en.wikipedia.org/wiki/X86" TargetMode="External"/><Relationship Id="rId5" Type="http://schemas.openxmlformats.org/officeDocument/2006/relationships/hyperlink" Target="https://en.wikipedia.org/wiki/Transactional_memory#cite_note-:2-4" TargetMode="External"/><Relationship Id="rId15" Type="http://schemas.openxmlformats.org/officeDocument/2006/relationships/hyperlink" Target="https://en.wikipedia.org/wiki/Runtime_library" TargetMode="External"/><Relationship Id="rId23" Type="http://schemas.openxmlformats.org/officeDocument/2006/relationships/hyperlink" Target="https://en.wikipedia.org/wiki/Transmeta_Efficeon" TargetMode="External"/><Relationship Id="rId28" Type="http://schemas.openxmlformats.org/officeDocument/2006/relationships/hyperlink" Target="https://en.wikipedia.org/wiki/Rock_processor" TargetMode="External"/><Relationship Id="rId10" Type="http://schemas.openxmlformats.org/officeDocument/2006/relationships/hyperlink" Target="https://en.wikipedia.org/wiki/Cache_coherence" TargetMode="External"/><Relationship Id="rId19" Type="http://schemas.openxmlformats.org/officeDocument/2006/relationships/hyperlink" Target="https://en.wikipedia.org/wiki/Transactional_memory#cite_note-10" TargetMode="External"/><Relationship Id="rId31" Type="http://schemas.openxmlformats.org/officeDocument/2006/relationships/hyperlink" Target="https://en.wikipedia.org/wiki/Advanced_Synchronization_Facility" TargetMode="External"/><Relationship Id="rId4" Type="http://schemas.openxmlformats.org/officeDocument/2006/relationships/hyperlink" Target="https://en.wikipedia.org/wiki/Transactional_memory#cite_note-:1-3" TargetMode="External"/><Relationship Id="rId9" Type="http://schemas.openxmlformats.org/officeDocument/2006/relationships/hyperlink" Target="https://en.wikipedia.org/wiki/Transactional_memory#cite_note-8" TargetMode="External"/><Relationship Id="rId14" Type="http://schemas.openxmlformats.org/officeDocument/2006/relationships/hyperlink" Target="https://en.wikipedia.org/wiki/Software_transactional_memory" TargetMode="External"/><Relationship Id="rId22" Type="http://schemas.openxmlformats.org/officeDocument/2006/relationships/hyperlink" Target="https://en.wikipedia.org/wiki/Transmeta_Crusoe" TargetMode="External"/><Relationship Id="rId27" Type="http://schemas.openxmlformats.org/officeDocument/2006/relationships/hyperlink" Target="https://en.wikipedia.org/wiki/Sun_Microsystems" TargetMode="External"/><Relationship Id="rId30" Type="http://schemas.openxmlformats.org/officeDocument/2006/relationships/hyperlink" Target="https://en.wikipedia.org/wiki/AMD" TargetMode="External"/><Relationship Id="rId8" Type="http://schemas.openxmlformats.org/officeDocument/2006/relationships/hyperlink" Target="https://en.wikipedia.org/wiki/Transactional_memory#cite_note-7"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34</a:t>
            </a:fld>
            <a:endParaRPr lang="ru-RU"/>
          </a:p>
        </p:txBody>
      </p:sp>
    </p:spTree>
    <p:extLst>
      <p:ext uri="{BB962C8B-B14F-4D97-AF65-F5344CB8AC3E}">
        <p14:creationId xmlns:p14="http://schemas.microsoft.com/office/powerpoint/2010/main" val="22713357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35</a:t>
            </a:fld>
            <a:endParaRPr lang="ru-RU"/>
          </a:p>
        </p:txBody>
      </p:sp>
    </p:spTree>
    <p:extLst>
      <p:ext uri="{BB962C8B-B14F-4D97-AF65-F5344CB8AC3E}">
        <p14:creationId xmlns:p14="http://schemas.microsoft.com/office/powerpoint/2010/main" val="22646566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36</a:t>
            </a:fld>
            <a:endParaRPr lang="ru-RU"/>
          </a:p>
        </p:txBody>
      </p:sp>
    </p:spTree>
    <p:extLst>
      <p:ext uri="{BB962C8B-B14F-4D97-AF65-F5344CB8AC3E}">
        <p14:creationId xmlns:p14="http://schemas.microsoft.com/office/powerpoint/2010/main" val="32720241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37</a:t>
            </a:fld>
            <a:endParaRPr lang="ru-RU"/>
          </a:p>
        </p:txBody>
      </p:sp>
    </p:spTree>
    <p:extLst>
      <p:ext uri="{BB962C8B-B14F-4D97-AF65-F5344CB8AC3E}">
        <p14:creationId xmlns:p14="http://schemas.microsoft.com/office/powerpoint/2010/main" val="37838777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38</a:t>
            </a:fld>
            <a:endParaRPr lang="ru-RU"/>
          </a:p>
        </p:txBody>
      </p:sp>
    </p:spTree>
    <p:extLst>
      <p:ext uri="{BB962C8B-B14F-4D97-AF65-F5344CB8AC3E}">
        <p14:creationId xmlns:p14="http://schemas.microsoft.com/office/powerpoint/2010/main" val="38376850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39</a:t>
            </a:fld>
            <a:endParaRPr lang="ru-RU"/>
          </a:p>
        </p:txBody>
      </p:sp>
    </p:spTree>
    <p:extLst>
      <p:ext uri="{BB962C8B-B14F-4D97-AF65-F5344CB8AC3E}">
        <p14:creationId xmlns:p14="http://schemas.microsoft.com/office/powerpoint/2010/main" val="4068210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40</a:t>
            </a:fld>
            <a:endParaRPr lang="ru-RU"/>
          </a:p>
        </p:txBody>
      </p:sp>
    </p:spTree>
    <p:extLst>
      <p:ext uri="{BB962C8B-B14F-4D97-AF65-F5344CB8AC3E}">
        <p14:creationId xmlns:p14="http://schemas.microsoft.com/office/powerpoint/2010/main" val="4676916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Конфликтом называется пара операций разных транзакций, работающих с одним объектом данных, и таких, что по крайней мере одна из них записывает новое значение этого объекта</a:t>
            </a:r>
          </a:p>
        </p:txBody>
      </p:sp>
      <p:sp>
        <p:nvSpPr>
          <p:cNvPr id="4" name="Номер слайда 3"/>
          <p:cNvSpPr>
            <a:spLocks noGrp="1"/>
          </p:cNvSpPr>
          <p:nvPr>
            <p:ph type="sldNum" sz="quarter" idx="5"/>
          </p:nvPr>
        </p:nvSpPr>
        <p:spPr/>
        <p:txBody>
          <a:bodyPr/>
          <a:lstStyle/>
          <a:p>
            <a:fld id="{FD56B7A7-CEC5-4F3A-9190-6A9927A789AC}" type="slidenum">
              <a:rPr lang="ru-RU" smtClean="0"/>
              <a:t>50</a:t>
            </a:fld>
            <a:endParaRPr lang="ru-RU"/>
          </a:p>
        </p:txBody>
      </p:sp>
    </p:spTree>
    <p:extLst>
      <p:ext uri="{BB962C8B-B14F-4D97-AF65-F5344CB8AC3E}">
        <p14:creationId xmlns:p14="http://schemas.microsoft.com/office/powerpoint/2010/main" val="4531086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Конфликтом называется пара операций разных транзакций, работающих с одним объектом данных, и таких, что по крайней мере одна из них записывает новое значение этого объекта</a:t>
            </a:r>
          </a:p>
        </p:txBody>
      </p:sp>
      <p:sp>
        <p:nvSpPr>
          <p:cNvPr id="4" name="Номер слайда 3"/>
          <p:cNvSpPr>
            <a:spLocks noGrp="1"/>
          </p:cNvSpPr>
          <p:nvPr>
            <p:ph type="sldNum" sz="quarter" idx="5"/>
          </p:nvPr>
        </p:nvSpPr>
        <p:spPr/>
        <p:txBody>
          <a:bodyPr/>
          <a:lstStyle/>
          <a:p>
            <a:fld id="{FD56B7A7-CEC5-4F3A-9190-6A9927A789AC}" type="slidenum">
              <a:rPr lang="ru-RU" smtClean="0"/>
              <a:t>51</a:t>
            </a:fld>
            <a:endParaRPr lang="ru-RU"/>
          </a:p>
        </p:txBody>
      </p:sp>
    </p:spTree>
    <p:extLst>
      <p:ext uri="{BB962C8B-B14F-4D97-AF65-F5344CB8AC3E}">
        <p14:creationId xmlns:p14="http://schemas.microsoft.com/office/powerpoint/2010/main" val="42804136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Конфликтом называется пара операций разных транзакций, работающих с одним объектом данных, и таких, что по крайней мере одна из них записывает новое значение этого объекта</a:t>
            </a:r>
          </a:p>
        </p:txBody>
      </p:sp>
      <p:sp>
        <p:nvSpPr>
          <p:cNvPr id="4" name="Номер слайда 3"/>
          <p:cNvSpPr>
            <a:spLocks noGrp="1"/>
          </p:cNvSpPr>
          <p:nvPr>
            <p:ph type="sldNum" sz="quarter" idx="5"/>
          </p:nvPr>
        </p:nvSpPr>
        <p:spPr/>
        <p:txBody>
          <a:bodyPr/>
          <a:lstStyle/>
          <a:p>
            <a:fld id="{FD56B7A7-CEC5-4F3A-9190-6A9927A789AC}" type="slidenum">
              <a:rPr lang="ru-RU" smtClean="0"/>
              <a:t>52</a:t>
            </a:fld>
            <a:endParaRPr lang="ru-RU"/>
          </a:p>
        </p:txBody>
      </p:sp>
    </p:spTree>
    <p:extLst>
      <p:ext uri="{BB962C8B-B14F-4D97-AF65-F5344CB8AC3E}">
        <p14:creationId xmlns:p14="http://schemas.microsoft.com/office/powerpoint/2010/main" val="19226702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Конфликтом называется пара операций разных транзакций, работающих с одним объектом данных, и таких, что по крайней мере одна из них записывает новое значение этого объекта</a:t>
            </a:r>
          </a:p>
        </p:txBody>
      </p:sp>
      <p:sp>
        <p:nvSpPr>
          <p:cNvPr id="4" name="Номер слайда 3"/>
          <p:cNvSpPr>
            <a:spLocks noGrp="1"/>
          </p:cNvSpPr>
          <p:nvPr>
            <p:ph type="sldNum" sz="quarter" idx="5"/>
          </p:nvPr>
        </p:nvSpPr>
        <p:spPr/>
        <p:txBody>
          <a:bodyPr/>
          <a:lstStyle/>
          <a:p>
            <a:fld id="{FD56B7A7-CEC5-4F3A-9190-6A9927A789AC}" type="slidenum">
              <a:rPr lang="ru-RU" smtClean="0"/>
              <a:t>53</a:t>
            </a:fld>
            <a:endParaRPr lang="ru-RU"/>
          </a:p>
        </p:txBody>
      </p:sp>
    </p:spTree>
    <p:extLst>
      <p:ext uri="{BB962C8B-B14F-4D97-AF65-F5344CB8AC3E}">
        <p14:creationId xmlns:p14="http://schemas.microsoft.com/office/powerpoint/2010/main" val="5979692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Конфликтом называется пара операций разных транзакций, работающих с одним объектом данных, и таких, что по крайней мере одна из них записывает новое значение этого объекта</a:t>
            </a:r>
          </a:p>
        </p:txBody>
      </p:sp>
      <p:sp>
        <p:nvSpPr>
          <p:cNvPr id="4" name="Номер слайда 3"/>
          <p:cNvSpPr>
            <a:spLocks noGrp="1"/>
          </p:cNvSpPr>
          <p:nvPr>
            <p:ph type="sldNum" sz="quarter" idx="5"/>
          </p:nvPr>
        </p:nvSpPr>
        <p:spPr/>
        <p:txBody>
          <a:bodyPr/>
          <a:lstStyle/>
          <a:p>
            <a:fld id="{FD56B7A7-CEC5-4F3A-9190-6A9927A789AC}" type="slidenum">
              <a:rPr lang="ru-RU" smtClean="0"/>
              <a:t>54</a:t>
            </a:fld>
            <a:endParaRPr lang="ru-RU"/>
          </a:p>
        </p:txBody>
      </p:sp>
    </p:spTree>
    <p:extLst>
      <p:ext uri="{BB962C8B-B14F-4D97-AF65-F5344CB8AC3E}">
        <p14:creationId xmlns:p14="http://schemas.microsoft.com/office/powerpoint/2010/main" val="38769169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55</a:t>
            </a:fld>
            <a:endParaRPr lang="ru-RU"/>
          </a:p>
        </p:txBody>
      </p:sp>
    </p:spTree>
    <p:extLst>
      <p:ext uri="{BB962C8B-B14F-4D97-AF65-F5344CB8AC3E}">
        <p14:creationId xmlns:p14="http://schemas.microsoft.com/office/powerpoint/2010/main" val="10097485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56</a:t>
            </a:fld>
            <a:endParaRPr lang="ru-RU"/>
          </a:p>
        </p:txBody>
      </p:sp>
    </p:spTree>
    <p:extLst>
      <p:ext uri="{BB962C8B-B14F-4D97-AF65-F5344CB8AC3E}">
        <p14:creationId xmlns:p14="http://schemas.microsoft.com/office/powerpoint/2010/main" val="29222138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57</a:t>
            </a:fld>
            <a:endParaRPr lang="ru-RU"/>
          </a:p>
        </p:txBody>
      </p:sp>
    </p:spTree>
    <p:extLst>
      <p:ext uri="{BB962C8B-B14F-4D97-AF65-F5344CB8AC3E}">
        <p14:creationId xmlns:p14="http://schemas.microsoft.com/office/powerpoint/2010/main" val="9943911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58</a:t>
            </a:fld>
            <a:endParaRPr lang="ru-RU"/>
          </a:p>
        </p:txBody>
      </p:sp>
    </p:spTree>
    <p:extLst>
      <p:ext uri="{BB962C8B-B14F-4D97-AF65-F5344CB8AC3E}">
        <p14:creationId xmlns:p14="http://schemas.microsoft.com/office/powerpoint/2010/main" val="39034807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59</a:t>
            </a:fld>
            <a:endParaRPr lang="ru-RU"/>
          </a:p>
        </p:txBody>
      </p:sp>
    </p:spTree>
    <p:extLst>
      <p:ext uri="{BB962C8B-B14F-4D97-AF65-F5344CB8AC3E}">
        <p14:creationId xmlns:p14="http://schemas.microsoft.com/office/powerpoint/2010/main" val="20250221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60</a:t>
            </a:fld>
            <a:endParaRPr lang="ru-RU"/>
          </a:p>
        </p:txBody>
      </p:sp>
    </p:spTree>
    <p:extLst>
      <p:ext uri="{BB962C8B-B14F-4D97-AF65-F5344CB8AC3E}">
        <p14:creationId xmlns:p14="http://schemas.microsoft.com/office/powerpoint/2010/main" val="23606888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just"/>
            <a:r>
              <a:rPr lang="ru-RU" b="0" i="0" dirty="0">
                <a:solidFill>
                  <a:srgbClr val="000000"/>
                </a:solidFill>
                <a:effectLst/>
                <a:highlight>
                  <a:srgbClr val="FFFFFF"/>
                </a:highlight>
                <a:latin typeface="Times New Roman" panose="02020603050405020304" pitchFamily="18" charset="0"/>
              </a:rPr>
              <a:t>TM (транзакционная память) обеспечивает механизм легковесных транзакций для потоков управления, выполняемых в общем адресном пространстве. TM гарантирует атомарность и изолированность параллельно выполняемых задач. (Вообще говоря, согласованность и долговременность не обеспечиваются.) </a:t>
            </a:r>
            <a:r>
              <a:rPr lang="ru-RU" b="0" i="1" dirty="0">
                <a:solidFill>
                  <a:srgbClr val="000000"/>
                </a:solidFill>
                <a:effectLst/>
                <a:highlight>
                  <a:srgbClr val="FFFFFF"/>
                </a:highlight>
                <a:latin typeface="Times New Roman" panose="02020603050405020304" pitchFamily="18" charset="0"/>
              </a:rPr>
              <a:t>Атомарность</a:t>
            </a:r>
            <a:r>
              <a:rPr lang="ru-RU" b="0" i="0" dirty="0">
                <a:solidFill>
                  <a:srgbClr val="000000"/>
                </a:solidFill>
                <a:effectLst/>
                <a:highlight>
                  <a:srgbClr val="FFFFFF"/>
                </a:highlight>
                <a:latin typeface="Times New Roman" panose="02020603050405020304" pitchFamily="18" charset="0"/>
              </a:rPr>
              <a:t> гарантирует, что изменения состояния программы, производимые кодом, который выполняется в некоторой транзакции, являются невидимыми с точки зрения других, параллельно выполняемых транзакций. Другими словами, хотя код, выполняемый внутри транзакции, может изменять отдельные переменные посредством присваивания, в других вычислениях может наблюдаться состояние программы только либо непосредственно до, либо непосредственно после выполнения данной транзакции. </a:t>
            </a:r>
            <a:r>
              <a:rPr lang="ru-RU" b="0" i="1" dirty="0">
                <a:solidFill>
                  <a:srgbClr val="000000"/>
                </a:solidFill>
                <a:effectLst/>
                <a:highlight>
                  <a:srgbClr val="FFFFFF"/>
                </a:highlight>
                <a:latin typeface="Times New Roman" panose="02020603050405020304" pitchFamily="18" charset="0"/>
              </a:rPr>
              <a:t>Изолированность</a:t>
            </a:r>
            <a:r>
              <a:rPr lang="ru-RU" b="0" i="0" dirty="0">
                <a:solidFill>
                  <a:srgbClr val="000000"/>
                </a:solidFill>
                <a:effectLst/>
                <a:highlight>
                  <a:srgbClr val="FFFFFF"/>
                </a:highlight>
                <a:latin typeface="Times New Roman" panose="02020603050405020304" pitchFamily="18" charset="0"/>
              </a:rPr>
              <a:t> гарантирует, что параллельно выполняемые задачи не влияют на результат транзакции, так что транзакция производит один и тот же результат, как если бы не выполнялась никакая другая задача. Транзакции обеспечивают основу для построения параллельных абстракций, являющихся строительными блоками, которые можно комбинировать без знания их внутренних деталей, во многом подобно тому, как процедуры и объекты обеспечивают пригодные для компоновки абстракции для последовательного кода.</a:t>
            </a:r>
          </a:p>
          <a:p>
            <a:pPr algn="just"/>
            <a:r>
              <a:rPr lang="ru-RU" b="1" i="0" dirty="0">
                <a:solidFill>
                  <a:srgbClr val="000000"/>
                </a:solidFill>
                <a:effectLst/>
                <a:highlight>
                  <a:srgbClr val="FFFFFF"/>
                </a:highlight>
                <a:latin typeface="Times New Roman" panose="02020603050405020304" pitchFamily="18" charset="0"/>
              </a:rPr>
              <a:t>Программная модель TM.</a:t>
            </a:r>
            <a:r>
              <a:rPr lang="ru-RU" b="0" i="0" dirty="0">
                <a:solidFill>
                  <a:srgbClr val="000000"/>
                </a:solidFill>
                <a:effectLst/>
                <a:highlight>
                  <a:srgbClr val="FFFFFF"/>
                </a:highlight>
                <a:latin typeface="Times New Roman" panose="02020603050405020304" pitchFamily="18" charset="0"/>
              </a:rPr>
              <a:t> Программная модель обеспечивает логическое обоснование конструкций языков программирования и методологические принципы конструирования программ. Подобно многим другим аспектам TM, ее программная модель все еще является предметом активных исследований. В большинстве систем TM обеспечиваются простые атомарные операторы, выполняющие блок кода (и вызываемые в нем подпрограммы) как транзакцию. Атомарный блок изолирует код от параллельно выполняемых нитей, но блок не заменяет общую синхронизацию, обеспечиваемую, например, семафорами или условными переменными [</a:t>
            </a:r>
            <a:r>
              <a:rPr lang="ru-RU" b="0" i="0" dirty="0">
                <a:solidFill>
                  <a:srgbClr val="006890"/>
                </a:solidFill>
                <a:effectLst/>
                <a:highlight>
                  <a:srgbClr val="FFFFFF"/>
                </a:highlight>
                <a:latin typeface="Times New Roman" panose="02020603050405020304" pitchFamily="18" charset="0"/>
                <a:hlinkClick r:id="rId3"/>
              </a:rPr>
              <a:t>2</a:t>
            </a:r>
            <a:r>
              <a:rPr lang="ru-RU" b="0" i="0" dirty="0">
                <a:solidFill>
                  <a:srgbClr val="000000"/>
                </a:solidFill>
                <a:effectLst/>
                <a:highlight>
                  <a:srgbClr val="FFFFFF"/>
                </a:highlight>
                <a:latin typeface="Times New Roman" panose="02020603050405020304" pitchFamily="18" charset="0"/>
              </a:rPr>
              <a:t>]. В частности, атомарные блоки сами по себе не обеспечивают средства для координации кода, выполняемого в параллельных потоках управления.</a:t>
            </a:r>
          </a:p>
          <a:p>
            <a:pPr algn="just"/>
            <a:r>
              <a:rPr lang="ru-RU" b="0" i="0" dirty="0">
                <a:solidFill>
                  <a:srgbClr val="000000"/>
                </a:solidFill>
                <a:effectLst/>
                <a:highlight>
                  <a:srgbClr val="FFFFFF"/>
                </a:highlight>
                <a:latin typeface="Times New Roman" panose="02020603050405020304" pitchFamily="18" charset="0"/>
              </a:rPr>
              <a:t>Из википедии</a:t>
            </a:r>
          </a:p>
          <a:p>
            <a:pPr rtl="0"/>
            <a:r>
              <a:rPr lang="ru-RU" dirty="0">
                <a:effectLst/>
              </a:rPr>
              <a:t>Абстракция атомарности в транзакционной памяти требует аппаратного механизма для обнаружения конфликтов и отмены любых изменений, внесенных в совместно используемые данные.</a:t>
            </a:r>
            <a:r>
              <a:rPr lang="ru-RU" b="0" i="0" u="none" strike="noStrike" baseline="30000" dirty="0">
                <a:solidFill>
                  <a:srgbClr val="3366CC"/>
                </a:solidFill>
                <a:effectLst/>
                <a:hlinkClick r:id="rId4"/>
              </a:rPr>
              <a:t>[3]</a:t>
            </a:r>
            <a:r>
              <a:rPr lang="ru-RU" dirty="0">
                <a:effectLst/>
              </a:rPr>
              <a:t> Аппаратные системы транзакционной памяти могут включать модификации процессоров, кэша и протокола шины для поддержки транзакций.</a:t>
            </a:r>
            <a:r>
              <a:rPr lang="ru-RU" b="0" i="0" u="none" strike="noStrike" baseline="30000" dirty="0">
                <a:solidFill>
                  <a:srgbClr val="3366CC"/>
                </a:solidFill>
                <a:effectLst/>
                <a:hlinkClick r:id="rId5"/>
              </a:rPr>
              <a:t>[4]</a:t>
            </a:r>
            <a:r>
              <a:rPr lang="ru-RU" b="0" i="0" u="none" strike="noStrike" baseline="30000" dirty="0">
                <a:solidFill>
                  <a:srgbClr val="3366CC"/>
                </a:solidFill>
                <a:effectLst/>
                <a:hlinkClick r:id="rId6"/>
              </a:rPr>
              <a:t>[5]</a:t>
            </a:r>
            <a:r>
              <a:rPr lang="ru-RU" b="0" i="0" u="none" strike="noStrike" baseline="30000" dirty="0">
                <a:solidFill>
                  <a:srgbClr val="3366CC"/>
                </a:solidFill>
                <a:effectLst/>
                <a:hlinkClick r:id="rId7"/>
              </a:rPr>
              <a:t>[6]</a:t>
            </a:r>
            <a:r>
              <a:rPr lang="ru-RU" b="0" i="0" u="none" strike="noStrike" baseline="30000" dirty="0">
                <a:solidFill>
                  <a:srgbClr val="3366CC"/>
                </a:solidFill>
                <a:effectLst/>
                <a:hlinkClick r:id="rId8"/>
              </a:rPr>
              <a:t>[7]</a:t>
            </a:r>
            <a:r>
              <a:rPr lang="ru-RU" b="0" i="0" u="none" strike="noStrike" baseline="30000" dirty="0">
                <a:solidFill>
                  <a:srgbClr val="3366CC"/>
                </a:solidFill>
                <a:effectLst/>
                <a:hlinkClick r:id="rId9"/>
              </a:rPr>
              <a:t>[8]</a:t>
            </a:r>
            <a:r>
              <a:rPr lang="ru-RU" dirty="0">
                <a:effectLst/>
              </a:rPr>
              <a:t> Спекулятивные значения в транзакции должны быть буферизованы и оставаться невидимыми для других потоков до момента фиксации. Большие буферы используются для хранения спекулятивных значений, избегая при этом распространения записи через базовый протокол </a:t>
            </a:r>
            <a:r>
              <a:rPr lang="ru-RU" u="none" strike="noStrike" dirty="0">
                <a:solidFill>
                  <a:srgbClr val="3366CC"/>
                </a:solidFill>
                <a:effectLst/>
                <a:hlinkClick r:id="rId10" tooltip="Согласованность кэша"/>
              </a:rPr>
              <a:t>согласованности </a:t>
            </a:r>
            <a:r>
              <a:rPr lang="ru-RU" u="none" strike="noStrike" dirty="0" err="1">
                <a:solidFill>
                  <a:srgbClr val="3366CC"/>
                </a:solidFill>
                <a:effectLst/>
                <a:hlinkClick r:id="rId10" tooltip="Согласованность кэша"/>
              </a:rPr>
              <a:t>кеша</a:t>
            </a:r>
            <a:r>
              <a:rPr lang="ru-RU" dirty="0">
                <a:effectLst/>
              </a:rPr>
              <a:t>. Традиционно буферы реализовывались с использованием различных структур в иерархии памяти, таких как очереди хранения или кэши. Буферы, расположенные дальше от процессора, такие как кэш L2, могут содержать более спекулятивные значения (до нескольких мегабайт). Оптимальный размер буфера все еще обсуждается из-за ограниченного использования транзакций в коммерческих программах.</a:t>
            </a:r>
            <a:r>
              <a:rPr lang="ru-RU" b="0" i="0" u="none" strike="noStrike" baseline="30000" dirty="0">
                <a:solidFill>
                  <a:srgbClr val="3366CC"/>
                </a:solidFill>
                <a:effectLst/>
                <a:hlinkClick r:id="rId4"/>
              </a:rPr>
              <a:t>[3]</a:t>
            </a:r>
            <a:r>
              <a:rPr lang="ru-RU" dirty="0">
                <a:effectLst/>
              </a:rPr>
              <a:t> В реализации кэша строки кэша обычно дополняются битами чтения и записи. Когда аппаратный контроллер получает запрос, контроллер использует эти биты для обнаружения конфликта. Если в результате параллельной транзакции обнаруживается конфликт </a:t>
            </a:r>
            <a:r>
              <a:rPr lang="ru-RU" dirty="0" err="1">
                <a:effectLst/>
              </a:rPr>
              <a:t>сериализуемости</a:t>
            </a:r>
            <a:r>
              <a:rPr lang="ru-RU" dirty="0">
                <a:effectLst/>
              </a:rPr>
              <a:t>, то предположительные значения отбрасываются. При использовании кэшей система может создавать риск </a:t>
            </a:r>
            <a:r>
              <a:rPr lang="ru-RU" u="none" strike="noStrike" dirty="0">
                <a:solidFill>
                  <a:srgbClr val="3366CC"/>
                </a:solidFill>
                <a:effectLst/>
                <a:hlinkClick r:id="rId11" tooltip="Ложный обмен данными"/>
              </a:rPr>
              <a:t>ложных конфликтов</a:t>
            </a:r>
            <a:r>
              <a:rPr lang="ru-RU" dirty="0">
                <a:effectLst/>
              </a:rPr>
              <a:t> из-за использования детализации строк кэша.</a:t>
            </a:r>
            <a:r>
              <a:rPr lang="ru-RU" b="0" i="0" u="none" strike="noStrike" baseline="30000" dirty="0">
                <a:solidFill>
                  <a:srgbClr val="3366CC"/>
                </a:solidFill>
                <a:effectLst/>
                <a:hlinkClick r:id="rId4"/>
              </a:rPr>
              <a:t>[3]</a:t>
            </a:r>
            <a:r>
              <a:rPr lang="ru-RU" dirty="0">
                <a:effectLst/>
              </a:rPr>
              <a:t> </a:t>
            </a:r>
            <a:r>
              <a:rPr lang="ru-RU" u="none" strike="noStrike" dirty="0">
                <a:solidFill>
                  <a:srgbClr val="3366CC"/>
                </a:solidFill>
                <a:effectLst/>
                <a:hlinkClick r:id="rId12" tooltip="Загрузка-ссылка / хранилище- условное"/>
              </a:rPr>
              <a:t>Условия загрузки / сохранения</a:t>
            </a:r>
            <a:r>
              <a:rPr lang="ru-RU" dirty="0">
                <a:effectLst/>
              </a:rPr>
              <a:t> (LL / SC), предлагаемые многими процессорами </a:t>
            </a:r>
            <a:r>
              <a:rPr lang="ru-RU" u="none" strike="noStrike" dirty="0">
                <a:solidFill>
                  <a:srgbClr val="3366CC"/>
                </a:solidFill>
                <a:effectLst/>
                <a:hlinkClick r:id="rId13" tooltip="RISC"/>
              </a:rPr>
              <a:t>RISC</a:t>
            </a:r>
            <a:r>
              <a:rPr lang="ru-RU" dirty="0">
                <a:effectLst/>
              </a:rPr>
              <a:t>, можно рассматривать как самую базовую поддержку транзакционной памяти; однако LL / SC обычно оперирует данными размером с собственное машинное слово, поэтому поддерживаются транзакции только из одного слова.</a:t>
            </a:r>
            <a:r>
              <a:rPr lang="ru-RU" b="0" i="0" u="none" strike="noStrike" baseline="30000" dirty="0">
                <a:solidFill>
                  <a:srgbClr val="3366CC"/>
                </a:solidFill>
                <a:effectLst/>
                <a:hlinkClick r:id="rId5"/>
              </a:rPr>
              <a:t>[4]</a:t>
            </a:r>
            <a:r>
              <a:rPr lang="ru-RU" dirty="0">
                <a:effectLst/>
              </a:rPr>
              <a:t> Хотя аппаратная транзакционная память обеспечивает максимальную производительность по сравнению с программными альтернативами, в настоящее время наблюдается ограниченное использование.</a:t>
            </a:r>
          </a:p>
          <a:p>
            <a:pPr rtl="0"/>
            <a:r>
              <a:rPr lang="ru-RU" u="none" strike="noStrike" dirty="0">
                <a:solidFill>
                  <a:srgbClr val="3366CC"/>
                </a:solidFill>
                <a:effectLst/>
                <a:hlinkClick r:id="rId14" tooltip="Программная транзакционная память"/>
              </a:rPr>
              <a:t>Программная транзакционная память</a:t>
            </a:r>
            <a:r>
              <a:rPr lang="ru-RU" dirty="0">
                <a:effectLst/>
              </a:rPr>
              <a:t> обеспечивает семантику транзакционной памяти в программной </a:t>
            </a:r>
            <a:r>
              <a:rPr lang="ru-RU" u="none" strike="noStrike" dirty="0">
                <a:solidFill>
                  <a:srgbClr val="3366CC"/>
                </a:solidFill>
                <a:effectLst/>
                <a:hlinkClick r:id="rId15" tooltip="Библиотека времени выполнения"/>
              </a:rPr>
              <a:t>библиотеке времени выполнения</a:t>
            </a:r>
            <a:r>
              <a:rPr lang="ru-RU" dirty="0">
                <a:effectLst/>
              </a:rPr>
              <a:t> или языке программирования, </a:t>
            </a:r>
            <a:r>
              <a:rPr lang="ru-RU" b="0" i="0" u="none" strike="noStrike" baseline="30000" dirty="0">
                <a:solidFill>
                  <a:srgbClr val="3366CC"/>
                </a:solidFill>
                <a:effectLst/>
                <a:hlinkClick r:id="rId16"/>
              </a:rPr>
              <a:t>[9]</a:t>
            </a:r>
            <a:r>
              <a:rPr lang="ru-RU" dirty="0">
                <a:effectLst/>
              </a:rPr>
              <a:t> и требует минимальной аппаратной поддержки (обычно атомарной операции </a:t>
            </a:r>
            <a:r>
              <a:rPr lang="ru-RU" u="none" strike="noStrike" dirty="0">
                <a:solidFill>
                  <a:srgbClr val="3366CC"/>
                </a:solidFill>
                <a:effectLst/>
                <a:hlinkClick r:id="rId17" tooltip="Сравнивать и менять местами"/>
              </a:rPr>
              <a:t>сравнения и подкачки</a:t>
            </a:r>
            <a:r>
              <a:rPr lang="ru-RU" dirty="0">
                <a:effectLst/>
              </a:rPr>
              <a:t> или эквивалентной). В качестве недостатка программные реализации обычно приводят к снижению производительности по сравнению с аппаратными решениями. </a:t>
            </a:r>
            <a:r>
              <a:rPr lang="ru-RU" u="none" strike="noStrike" dirty="0">
                <a:solidFill>
                  <a:srgbClr val="3366CC"/>
                </a:solidFill>
                <a:effectLst/>
                <a:hlinkClick r:id="rId18" tooltip="Аппаратное ускорение"/>
              </a:rPr>
              <a:t>Аппаратное ускорение</a:t>
            </a:r>
            <a:r>
              <a:rPr lang="ru-RU" dirty="0">
                <a:effectLst/>
              </a:rPr>
              <a:t> может снизить некоторые накладные расходы, связанные с программной транзакционной памятью.</a:t>
            </a:r>
          </a:p>
          <a:p>
            <a:pPr rtl="0"/>
            <a:r>
              <a:rPr lang="ru-RU" dirty="0">
                <a:effectLst/>
              </a:rPr>
              <a:t>Из-за более ограниченного характера аппаратной транзакционной памяти (в текущих реализациях) программному обеспечению, использующему ее, может потребоваться довольно обширная настройка, чтобы в полной мере использовать ее преимущества. Например, динамический распределитель памяти может оказывать значительное влияние на производительность, и аналогично заполнение структуры может влиять на производительность (из-за выравнивания кэша и проблем с ложным разделением); в контексте виртуальной машины различные фоновые потоки могут вызывать неожиданные прерывания транзакции.</a:t>
            </a:r>
            <a:r>
              <a:rPr lang="ru-RU" b="0" i="0" u="none" strike="noStrike" baseline="30000" dirty="0">
                <a:solidFill>
                  <a:srgbClr val="3366CC"/>
                </a:solidFill>
                <a:effectLst/>
                <a:hlinkClick r:id="rId19"/>
              </a:rPr>
              <a:t>[10]</a:t>
            </a:r>
            <a:endParaRPr lang="ru-RU" dirty="0">
              <a:effectLst/>
            </a:endParaRPr>
          </a:p>
          <a:p>
            <a:pPr rtl="0"/>
            <a:r>
              <a:rPr lang="ru-RU" b="0" dirty="0">
                <a:solidFill>
                  <a:srgbClr val="000000"/>
                </a:solidFill>
                <a:effectLst/>
                <a:latin typeface="Linux Libertine"/>
              </a:rPr>
              <a:t>История</a:t>
            </a:r>
            <a:r>
              <a:rPr lang="ru-RU" b="0" dirty="0">
                <a:solidFill>
                  <a:srgbClr val="54595D"/>
                </a:solidFill>
                <a:effectLst/>
                <a:latin typeface="Arial" panose="020B0604020202020204" pitchFamily="34" charset="0"/>
              </a:rPr>
              <a:t>[</a:t>
            </a:r>
            <a:r>
              <a:rPr lang="ru-RU" b="0" u="none" strike="noStrike" dirty="0">
                <a:solidFill>
                  <a:srgbClr val="3366CC"/>
                </a:solidFill>
                <a:effectLst/>
                <a:latin typeface="Arial" panose="020B0604020202020204" pitchFamily="34" charset="0"/>
                <a:hlinkClick r:id="rId20" tooltip="Раздел редактирования: История"/>
              </a:rPr>
              <a:t>редактировать</a:t>
            </a:r>
            <a:r>
              <a:rPr lang="ru-RU" b="0" dirty="0">
                <a:solidFill>
                  <a:srgbClr val="54595D"/>
                </a:solidFill>
                <a:effectLst/>
                <a:latin typeface="Arial" panose="020B0604020202020204" pitchFamily="34" charset="0"/>
              </a:rPr>
              <a:t>]</a:t>
            </a:r>
            <a:endParaRPr lang="ru-RU" b="0" dirty="0">
              <a:solidFill>
                <a:srgbClr val="000000"/>
              </a:solidFill>
              <a:effectLst/>
              <a:latin typeface="Linux Libertine"/>
            </a:endParaRPr>
          </a:p>
          <a:p>
            <a:pPr rtl="0"/>
            <a:r>
              <a:rPr lang="ru-RU" dirty="0">
                <a:effectLst/>
              </a:rPr>
              <a:t>Одной из самых ранних реализаций транзакционной памяти был закрытый накопительный буфер, используемый в процессорах </a:t>
            </a:r>
            <a:r>
              <a:rPr lang="ru-RU" u="none" strike="noStrike" dirty="0" err="1">
                <a:solidFill>
                  <a:srgbClr val="3366CC"/>
                </a:solidFill>
                <a:effectLst/>
                <a:hlinkClick r:id="rId21" tooltip="Трансмета"/>
              </a:rPr>
              <a:t>Transmeta</a:t>
            </a:r>
            <a:r>
              <a:rPr lang="ru-RU" dirty="0">
                <a:effectLst/>
              </a:rPr>
              <a:t> </a:t>
            </a:r>
            <a:r>
              <a:rPr lang="ru-RU" u="none" strike="noStrike" dirty="0" err="1">
                <a:solidFill>
                  <a:srgbClr val="3366CC"/>
                </a:solidFill>
                <a:effectLst/>
                <a:hlinkClick r:id="rId22" tooltip="Трансмета Крузо"/>
              </a:rPr>
              <a:t>Crusoe</a:t>
            </a:r>
            <a:r>
              <a:rPr lang="ru-RU" dirty="0">
                <a:effectLst/>
              </a:rPr>
              <a:t> и </a:t>
            </a:r>
            <a:r>
              <a:rPr lang="ru-RU" u="none" strike="noStrike" dirty="0" err="1">
                <a:solidFill>
                  <a:srgbClr val="3366CC"/>
                </a:solidFill>
                <a:effectLst/>
                <a:hlinkClick r:id="rId23" tooltip="Transmeta Efficeon"/>
              </a:rPr>
              <a:t>Efficeon</a:t>
            </a:r>
            <a:r>
              <a:rPr lang="ru-RU" dirty="0">
                <a:effectLst/>
              </a:rPr>
              <a:t>. Однако это использовалось только для облегчения умозрительной оптимизации двоичного перевода, а не для какой-либо формы </a:t>
            </a:r>
            <a:r>
              <a:rPr lang="ru-RU" u="none" strike="noStrike" dirty="0">
                <a:solidFill>
                  <a:srgbClr val="3366CC"/>
                </a:solidFill>
                <a:effectLst/>
                <a:hlinkClick r:id="rId24" tooltip="Спекулятивная многопоточность"/>
              </a:rPr>
              <a:t>умозрительной многопоточности</a:t>
            </a:r>
            <a:r>
              <a:rPr lang="ru-RU" dirty="0">
                <a:effectLst/>
              </a:rPr>
              <a:t> или предоставления ее непосредственно программистам. </a:t>
            </a:r>
            <a:r>
              <a:rPr lang="ru-RU" dirty="0" err="1">
                <a:effectLst/>
              </a:rPr>
              <a:t>Azul</a:t>
            </a:r>
            <a:r>
              <a:rPr lang="ru-RU" dirty="0">
                <a:effectLst/>
              </a:rPr>
              <a:t> Systems также внедрила аппаратную транзакционную память для ускорения своих устройств на </a:t>
            </a:r>
            <a:r>
              <a:rPr lang="ru-RU" u="none" strike="noStrike" dirty="0">
                <a:solidFill>
                  <a:srgbClr val="3366CC"/>
                </a:solidFill>
                <a:effectLst/>
                <a:hlinkClick r:id="rId25" tooltip="Java (язык программирования)"/>
              </a:rPr>
              <a:t>Java</a:t>
            </a:r>
            <a:r>
              <a:rPr lang="ru-RU" dirty="0">
                <a:effectLst/>
              </a:rPr>
              <a:t>, но это также было скрыто от посторонних.</a:t>
            </a:r>
            <a:r>
              <a:rPr lang="ru-RU" b="0" i="0" u="none" strike="noStrike" baseline="30000" dirty="0">
                <a:solidFill>
                  <a:srgbClr val="3366CC"/>
                </a:solidFill>
                <a:effectLst/>
                <a:hlinkClick r:id="rId26"/>
              </a:rPr>
              <a:t>[11]</a:t>
            </a:r>
            <a:endParaRPr lang="ru-RU" dirty="0">
              <a:effectLst/>
            </a:endParaRPr>
          </a:p>
          <a:p>
            <a:pPr rtl="0"/>
            <a:r>
              <a:rPr lang="ru-RU" u="none" strike="noStrike" dirty="0">
                <a:solidFill>
                  <a:srgbClr val="3366CC"/>
                </a:solidFill>
                <a:effectLst/>
                <a:hlinkClick r:id="rId27" tooltip="Sun Microsystems"/>
              </a:rPr>
              <a:t>Sun Microsystems</a:t>
            </a:r>
            <a:r>
              <a:rPr lang="ru-RU" dirty="0">
                <a:effectLst/>
              </a:rPr>
              <a:t> реализовала аппаратную транзакционную память и ограниченную форму спекулятивной многопоточности в своем высокопроизводительном </a:t>
            </a:r>
            <a:r>
              <a:rPr lang="ru-RU" u="none" strike="noStrike" dirty="0">
                <a:solidFill>
                  <a:srgbClr val="3366CC"/>
                </a:solidFill>
                <a:effectLst/>
                <a:hlinkClick r:id="rId28" tooltip="Процессор Rock"/>
              </a:rPr>
              <a:t>процессоре Rock</a:t>
            </a:r>
            <a:r>
              <a:rPr lang="ru-RU" dirty="0">
                <a:effectLst/>
              </a:rPr>
              <a:t>. Эта реализация доказала, что ее можно использовать для устранения блокировок и более сложных гибридных систем транзакционной памяти, где транзакции обрабатываются с помощью комбинации аппаратного и программного обеспечения. Процессор Rock был отменен в 2009 году, незадолго до приобретения </a:t>
            </a:r>
            <a:r>
              <a:rPr lang="ru-RU" u="none" strike="noStrike" dirty="0">
                <a:solidFill>
                  <a:srgbClr val="3366CC"/>
                </a:solidFill>
                <a:effectLst/>
                <a:hlinkClick r:id="rId29" tooltip="Корпорация Oracle"/>
              </a:rPr>
              <a:t>Oracle</a:t>
            </a:r>
            <a:r>
              <a:rPr lang="ru-RU" dirty="0">
                <a:effectLst/>
              </a:rPr>
              <a:t>; хотя сами продукты так и не были выпущены, исследователям был доступен ряд прототипов систем.</a:t>
            </a:r>
            <a:r>
              <a:rPr lang="ru-RU" b="0" i="0" u="none" strike="noStrike" baseline="30000" dirty="0">
                <a:solidFill>
                  <a:srgbClr val="3366CC"/>
                </a:solidFill>
                <a:effectLst/>
                <a:hlinkClick r:id="rId26"/>
              </a:rPr>
              <a:t>[11]</a:t>
            </a:r>
            <a:endParaRPr lang="ru-RU" dirty="0">
              <a:effectLst/>
            </a:endParaRPr>
          </a:p>
          <a:p>
            <a:pPr rtl="0"/>
            <a:r>
              <a:rPr lang="ru-RU" dirty="0">
                <a:effectLst/>
              </a:rPr>
              <a:t>В 2009 году </a:t>
            </a:r>
            <a:r>
              <a:rPr lang="ru-RU" u="none" strike="noStrike" dirty="0">
                <a:solidFill>
                  <a:srgbClr val="3366CC"/>
                </a:solidFill>
                <a:effectLst/>
                <a:hlinkClick r:id="rId30" tooltip="AMD"/>
              </a:rPr>
              <a:t>AMD</a:t>
            </a:r>
            <a:r>
              <a:rPr lang="ru-RU" dirty="0">
                <a:effectLst/>
              </a:rPr>
              <a:t> предложила </a:t>
            </a:r>
            <a:r>
              <a:rPr lang="ru-RU" u="none" strike="noStrike" dirty="0">
                <a:solidFill>
                  <a:srgbClr val="3366CC"/>
                </a:solidFill>
                <a:effectLst/>
                <a:hlinkClick r:id="rId31" tooltip="Расширенное средство синхронизации"/>
              </a:rPr>
              <a:t>Advanced </a:t>
            </a:r>
            <a:r>
              <a:rPr lang="ru-RU" u="none" strike="noStrike" dirty="0" err="1">
                <a:solidFill>
                  <a:srgbClr val="3366CC"/>
                </a:solidFill>
                <a:effectLst/>
                <a:hlinkClick r:id="rId31" tooltip="Расширенное средство синхронизации"/>
              </a:rPr>
              <a:t>Synchronization</a:t>
            </a:r>
            <a:r>
              <a:rPr lang="ru-RU" u="none" strike="noStrike" dirty="0">
                <a:solidFill>
                  <a:srgbClr val="3366CC"/>
                </a:solidFill>
                <a:effectLst/>
                <a:hlinkClick r:id="rId31" tooltip="Расширенное средство синхронизации"/>
              </a:rPr>
              <a:t> </a:t>
            </a:r>
            <a:r>
              <a:rPr lang="ru-RU" u="none" strike="noStrike" dirty="0" err="1">
                <a:solidFill>
                  <a:srgbClr val="3366CC"/>
                </a:solidFill>
                <a:effectLst/>
                <a:hlinkClick r:id="rId31" tooltip="Расширенное средство синхронизации"/>
              </a:rPr>
              <a:t>Facility</a:t>
            </a:r>
            <a:r>
              <a:rPr lang="ru-RU" dirty="0">
                <a:effectLst/>
              </a:rPr>
              <a:t> (ASF), набор расширений </a:t>
            </a:r>
            <a:r>
              <a:rPr lang="ru-RU" u="none" strike="noStrike" dirty="0">
                <a:solidFill>
                  <a:srgbClr val="3366CC"/>
                </a:solidFill>
                <a:effectLst/>
                <a:hlinkClick r:id="rId32" tooltip="X86"/>
              </a:rPr>
              <a:t>x86</a:t>
            </a:r>
            <a:r>
              <a:rPr lang="ru-RU" dirty="0">
                <a:effectLst/>
              </a:rPr>
              <a:t>, которые обеспечивают очень ограниченную аппаратную поддержку транзакционной памяти. Цель состояла в том, чтобы предоставить аппаратные примитивы, которые можно было бы использовать для синхронизации более высокого уровня, такие как программная транзакционная память или алгоритмы без блокировки. Однако AMD не объявила, будет ли ASF использоваться в продуктах, и если да, то в какие сроки.</a:t>
            </a:r>
            <a:r>
              <a:rPr lang="ru-RU" b="0" i="0" u="none" strike="noStrike" baseline="30000" dirty="0">
                <a:solidFill>
                  <a:srgbClr val="3366CC"/>
                </a:solidFill>
                <a:effectLst/>
                <a:hlinkClick r:id="rId26"/>
              </a:rPr>
              <a:t>[11]</a:t>
            </a:r>
            <a:endParaRPr lang="ru-RU" dirty="0">
              <a:effectLst/>
            </a:endParaRPr>
          </a:p>
          <a:p>
            <a:pPr rtl="0"/>
            <a:r>
              <a:rPr lang="ru-RU" dirty="0">
                <a:effectLst/>
              </a:rPr>
              <a:t>Совсем недавно, в 2011 году, </a:t>
            </a:r>
            <a:r>
              <a:rPr lang="ru-RU" u="none" strike="noStrike" dirty="0">
                <a:solidFill>
                  <a:srgbClr val="3366CC"/>
                </a:solidFill>
                <a:effectLst/>
                <a:hlinkClick r:id="rId33" tooltip="IBM"/>
              </a:rPr>
              <a:t>IBM</a:t>
            </a:r>
            <a:r>
              <a:rPr lang="ru-RU" dirty="0">
                <a:effectLst/>
              </a:rPr>
              <a:t> объявила, что </a:t>
            </a:r>
            <a:r>
              <a:rPr lang="ru-RU" u="none" strike="noStrike" dirty="0">
                <a:solidFill>
                  <a:srgbClr val="3366CC"/>
                </a:solidFill>
                <a:effectLst/>
                <a:hlinkClick r:id="rId34" tooltip="Синий ген / Q"/>
              </a:rPr>
              <a:t>Blue </a:t>
            </a:r>
            <a:r>
              <a:rPr lang="ru-RU" u="none" strike="noStrike" dirty="0" err="1">
                <a:solidFill>
                  <a:srgbClr val="3366CC"/>
                </a:solidFill>
                <a:effectLst/>
                <a:hlinkClick r:id="rId34" tooltip="Синий ген / Q"/>
              </a:rPr>
              <a:t>Gene</a:t>
            </a:r>
            <a:r>
              <a:rPr lang="ru-RU" u="none" strike="noStrike" dirty="0">
                <a:solidFill>
                  <a:srgbClr val="3366CC"/>
                </a:solidFill>
                <a:effectLst/>
                <a:hlinkClick r:id="rId34" tooltip="Синий ген / Q"/>
              </a:rPr>
              <a:t> / Q</a:t>
            </a:r>
            <a:r>
              <a:rPr lang="ru-RU" dirty="0">
                <a:effectLst/>
              </a:rPr>
              <a:t> имеет аппаратную поддержку как транзакционной памяти, так и спекулятивной многопоточности. Транзакционная память может быть сконфигурирована в двух режимах; первый - это неупорядоченный режим с одной версией, в котором запись из одной транзакции вызывает конфликт с любыми транзакциями, считывающими один и тот же адрес памяти. Второй режим предназначен для спекулятивной многопоточности, обеспечивая упорядоченную транзакционную память с несколькими версиями. Спекулятивные потоки могут иметь разные версии одного и того же адреса памяти, а аппаратная реализация отслеживает возраст каждого потока. Младшие потоки могут получать доступ к данным из более старых потоков (но не наоборот), и записи на один и тот же адрес осуществляются в зависимости от порядка следования потоков. В некоторых случаях зависимости между потоками могут привести к прерыванию работы более молодых версий.</a:t>
            </a:r>
            <a:r>
              <a:rPr lang="ru-RU" b="0" i="0" u="none" strike="noStrike" baseline="30000" dirty="0">
                <a:solidFill>
                  <a:srgbClr val="3366CC"/>
                </a:solidFill>
                <a:effectLst/>
                <a:hlinkClick r:id="rId26"/>
              </a:rPr>
              <a:t>[11]</a:t>
            </a:r>
            <a:endParaRPr lang="ru-RU" dirty="0">
              <a:effectLst/>
            </a:endParaRPr>
          </a:p>
          <a:p>
            <a:pPr rtl="0"/>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61</a:t>
            </a:fld>
            <a:endParaRPr lang="ru-RU"/>
          </a:p>
        </p:txBody>
      </p:sp>
    </p:spTree>
    <p:extLst>
      <p:ext uri="{BB962C8B-B14F-4D97-AF65-F5344CB8AC3E}">
        <p14:creationId xmlns:p14="http://schemas.microsoft.com/office/powerpoint/2010/main" val="41502991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rtl="0"/>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62</a:t>
            </a:fld>
            <a:endParaRPr lang="ru-RU"/>
          </a:p>
        </p:txBody>
      </p:sp>
    </p:spTree>
    <p:extLst>
      <p:ext uri="{BB962C8B-B14F-4D97-AF65-F5344CB8AC3E}">
        <p14:creationId xmlns:p14="http://schemas.microsoft.com/office/powerpoint/2010/main" val="33367822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rtl="0"/>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63</a:t>
            </a:fld>
            <a:endParaRPr lang="ru-RU"/>
          </a:p>
        </p:txBody>
      </p:sp>
    </p:spTree>
    <p:extLst>
      <p:ext uri="{BB962C8B-B14F-4D97-AF65-F5344CB8AC3E}">
        <p14:creationId xmlns:p14="http://schemas.microsoft.com/office/powerpoint/2010/main" val="15736053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rtl="0"/>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64</a:t>
            </a:fld>
            <a:endParaRPr lang="ru-RU"/>
          </a:p>
        </p:txBody>
      </p:sp>
    </p:spTree>
    <p:extLst>
      <p:ext uri="{BB962C8B-B14F-4D97-AF65-F5344CB8AC3E}">
        <p14:creationId xmlns:p14="http://schemas.microsoft.com/office/powerpoint/2010/main" val="2876259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rtl="0"/>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65</a:t>
            </a:fld>
            <a:endParaRPr lang="ru-RU"/>
          </a:p>
        </p:txBody>
      </p:sp>
    </p:spTree>
    <p:extLst>
      <p:ext uri="{BB962C8B-B14F-4D97-AF65-F5344CB8AC3E}">
        <p14:creationId xmlns:p14="http://schemas.microsoft.com/office/powerpoint/2010/main" val="5144574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rtl="0"/>
            <a:r>
              <a:rPr lang="ru-RU" dirty="0"/>
              <a:t>Расписание называется </a:t>
            </a:r>
            <a:r>
              <a:rPr lang="ru-RU" dirty="0" err="1"/>
              <a:t>сериализуемым</a:t>
            </a:r>
            <a:r>
              <a:rPr lang="ru-RU" dirty="0"/>
              <a:t> по конфликтам (CSR), если оно эквивалентно по конфликтам некоторому серийному.</a:t>
            </a:r>
            <a:endParaRPr lang="en-US" dirty="0"/>
          </a:p>
          <a:p>
            <a:pPr rtl="0"/>
            <a:r>
              <a:rPr lang="ru-RU" dirty="0"/>
              <a:t>Подкласс класса CSR, в котором порядок транзакций, упорядоченных в исходном расписании, сохраняется при </a:t>
            </a:r>
            <a:r>
              <a:rPr lang="ru-RU" dirty="0" err="1"/>
              <a:t>сериализации</a:t>
            </a:r>
            <a:r>
              <a:rPr lang="ru-RU" dirty="0"/>
              <a:t>, обозначается OCSR. </a:t>
            </a:r>
            <a:endParaRPr lang="en-US" dirty="0"/>
          </a:p>
          <a:p>
            <a:pPr rtl="0"/>
            <a:r>
              <a:rPr lang="ru-RU" dirty="0"/>
              <a:t>Этот подкласс важен для таких методов управления транзакциями, в которых части транзакций могут </a:t>
            </a:r>
            <a:r>
              <a:rPr lang="ru-RU" dirty="0" err="1"/>
              <a:t>сериализоваться</a:t>
            </a:r>
            <a:r>
              <a:rPr lang="ru-RU" dirty="0"/>
              <a:t> независимо. </a:t>
            </a:r>
            <a:endParaRPr lang="en-US" dirty="0"/>
          </a:p>
          <a:p>
            <a:pPr rtl="0"/>
            <a:r>
              <a:rPr lang="ru-RU" dirty="0"/>
              <a:t>Например, такие методы могут использоваться в распределенных системах.</a:t>
            </a:r>
          </a:p>
        </p:txBody>
      </p:sp>
      <p:sp>
        <p:nvSpPr>
          <p:cNvPr id="4" name="Номер слайда 3"/>
          <p:cNvSpPr>
            <a:spLocks noGrp="1"/>
          </p:cNvSpPr>
          <p:nvPr>
            <p:ph type="sldNum" sz="quarter" idx="5"/>
          </p:nvPr>
        </p:nvSpPr>
        <p:spPr/>
        <p:txBody>
          <a:bodyPr/>
          <a:lstStyle/>
          <a:p>
            <a:fld id="{FD56B7A7-CEC5-4F3A-9190-6A9927A789AC}" type="slidenum">
              <a:rPr lang="ru-RU" smtClean="0"/>
              <a:t>66</a:t>
            </a:fld>
            <a:endParaRPr lang="ru-RU"/>
          </a:p>
        </p:txBody>
      </p:sp>
    </p:spTree>
    <p:extLst>
      <p:ext uri="{BB962C8B-B14F-4D97-AF65-F5344CB8AC3E}">
        <p14:creationId xmlns:p14="http://schemas.microsoft.com/office/powerpoint/2010/main" val="31668744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rtl="0"/>
            <a:r>
              <a:rPr lang="ru-RU" dirty="0"/>
              <a:t>Расписание называется </a:t>
            </a:r>
            <a:r>
              <a:rPr lang="ru-RU" dirty="0" err="1"/>
              <a:t>сериализуемым</a:t>
            </a:r>
            <a:r>
              <a:rPr lang="ru-RU" dirty="0"/>
              <a:t> по конфликтам (CSR), если оно эквивалентно по конфликтам некоторому серийному.</a:t>
            </a:r>
            <a:endParaRPr lang="en-US" dirty="0"/>
          </a:p>
          <a:p>
            <a:pPr rtl="0"/>
            <a:r>
              <a:rPr lang="ru-RU" dirty="0"/>
              <a:t>Подкласс класса CSR, в котором порядок транзакций, упорядоченных в исходном расписании, сохраняется при </a:t>
            </a:r>
            <a:r>
              <a:rPr lang="ru-RU" dirty="0" err="1"/>
              <a:t>сериализации</a:t>
            </a:r>
            <a:r>
              <a:rPr lang="ru-RU" dirty="0"/>
              <a:t>, обозначается OCSR. </a:t>
            </a:r>
            <a:endParaRPr lang="en-US" dirty="0"/>
          </a:p>
          <a:p>
            <a:pPr rtl="0"/>
            <a:r>
              <a:rPr lang="ru-RU" dirty="0"/>
              <a:t>Этот подкласс важен для таких методов управления транзакциями, в которых части транзакций могут </a:t>
            </a:r>
            <a:r>
              <a:rPr lang="ru-RU" dirty="0" err="1"/>
              <a:t>сериализоваться</a:t>
            </a:r>
            <a:r>
              <a:rPr lang="ru-RU" dirty="0"/>
              <a:t> независимо. </a:t>
            </a:r>
            <a:endParaRPr lang="en-US" dirty="0"/>
          </a:p>
          <a:p>
            <a:pPr rtl="0"/>
            <a:r>
              <a:rPr lang="ru-RU" dirty="0"/>
              <a:t>Например, такие методы могут использоваться в распределенных системах.</a:t>
            </a:r>
          </a:p>
        </p:txBody>
      </p:sp>
      <p:sp>
        <p:nvSpPr>
          <p:cNvPr id="4" name="Номер слайда 3"/>
          <p:cNvSpPr>
            <a:spLocks noGrp="1"/>
          </p:cNvSpPr>
          <p:nvPr>
            <p:ph type="sldNum" sz="quarter" idx="5"/>
          </p:nvPr>
        </p:nvSpPr>
        <p:spPr/>
        <p:txBody>
          <a:bodyPr/>
          <a:lstStyle/>
          <a:p>
            <a:fld id="{FD56B7A7-CEC5-4F3A-9190-6A9927A789AC}" type="slidenum">
              <a:rPr lang="ru-RU" smtClean="0"/>
              <a:t>67</a:t>
            </a:fld>
            <a:endParaRPr lang="ru-RU"/>
          </a:p>
        </p:txBody>
      </p:sp>
    </p:spTree>
    <p:extLst>
      <p:ext uri="{BB962C8B-B14F-4D97-AF65-F5344CB8AC3E}">
        <p14:creationId xmlns:p14="http://schemas.microsoft.com/office/powerpoint/2010/main" val="32969703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rtl="0"/>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68</a:t>
            </a:fld>
            <a:endParaRPr lang="ru-RU"/>
          </a:p>
        </p:txBody>
      </p:sp>
    </p:spTree>
    <p:extLst>
      <p:ext uri="{BB962C8B-B14F-4D97-AF65-F5344CB8AC3E}">
        <p14:creationId xmlns:p14="http://schemas.microsoft.com/office/powerpoint/2010/main" val="6701460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rtl="0"/>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69</a:t>
            </a:fld>
            <a:endParaRPr lang="ru-RU"/>
          </a:p>
        </p:txBody>
      </p:sp>
    </p:spTree>
    <p:extLst>
      <p:ext uri="{BB962C8B-B14F-4D97-AF65-F5344CB8AC3E}">
        <p14:creationId xmlns:p14="http://schemas.microsoft.com/office/powerpoint/2010/main" val="25678876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rtl="0"/>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70</a:t>
            </a:fld>
            <a:endParaRPr lang="ru-RU"/>
          </a:p>
        </p:txBody>
      </p:sp>
    </p:spTree>
    <p:extLst>
      <p:ext uri="{BB962C8B-B14F-4D97-AF65-F5344CB8AC3E}">
        <p14:creationId xmlns:p14="http://schemas.microsoft.com/office/powerpoint/2010/main" val="10584353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rtl="0"/>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71</a:t>
            </a:fld>
            <a:endParaRPr lang="ru-RU"/>
          </a:p>
        </p:txBody>
      </p:sp>
    </p:spTree>
    <p:extLst>
      <p:ext uri="{BB962C8B-B14F-4D97-AF65-F5344CB8AC3E}">
        <p14:creationId xmlns:p14="http://schemas.microsoft.com/office/powerpoint/2010/main" val="20995052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rtl="0"/>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72</a:t>
            </a:fld>
            <a:endParaRPr lang="ru-RU"/>
          </a:p>
        </p:txBody>
      </p:sp>
    </p:spTree>
    <p:extLst>
      <p:ext uri="{BB962C8B-B14F-4D97-AF65-F5344CB8AC3E}">
        <p14:creationId xmlns:p14="http://schemas.microsoft.com/office/powerpoint/2010/main" val="41296827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rtl="0"/>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73</a:t>
            </a:fld>
            <a:endParaRPr lang="ru-RU"/>
          </a:p>
        </p:txBody>
      </p:sp>
    </p:spTree>
    <p:extLst>
      <p:ext uri="{BB962C8B-B14F-4D97-AF65-F5344CB8AC3E}">
        <p14:creationId xmlns:p14="http://schemas.microsoft.com/office/powerpoint/2010/main" val="10516374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rtl="0"/>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74</a:t>
            </a:fld>
            <a:endParaRPr lang="ru-RU"/>
          </a:p>
        </p:txBody>
      </p:sp>
    </p:spTree>
    <p:extLst>
      <p:ext uri="{BB962C8B-B14F-4D97-AF65-F5344CB8AC3E}">
        <p14:creationId xmlns:p14="http://schemas.microsoft.com/office/powerpoint/2010/main" val="21569139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rtl="0"/>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75</a:t>
            </a:fld>
            <a:endParaRPr lang="ru-RU"/>
          </a:p>
        </p:txBody>
      </p:sp>
    </p:spTree>
    <p:extLst>
      <p:ext uri="{BB962C8B-B14F-4D97-AF65-F5344CB8AC3E}">
        <p14:creationId xmlns:p14="http://schemas.microsoft.com/office/powerpoint/2010/main" val="10986036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76</a:t>
            </a:fld>
            <a:endParaRPr lang="ru-RU"/>
          </a:p>
        </p:txBody>
      </p:sp>
    </p:spTree>
    <p:extLst>
      <p:ext uri="{BB962C8B-B14F-4D97-AF65-F5344CB8AC3E}">
        <p14:creationId xmlns:p14="http://schemas.microsoft.com/office/powerpoint/2010/main" val="15776485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77</a:t>
            </a:fld>
            <a:endParaRPr lang="ru-RU"/>
          </a:p>
        </p:txBody>
      </p:sp>
    </p:spTree>
    <p:extLst>
      <p:ext uri="{BB962C8B-B14F-4D97-AF65-F5344CB8AC3E}">
        <p14:creationId xmlns:p14="http://schemas.microsoft.com/office/powerpoint/2010/main" val="30597897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78</a:t>
            </a:fld>
            <a:endParaRPr lang="ru-RU"/>
          </a:p>
        </p:txBody>
      </p:sp>
    </p:spTree>
    <p:extLst>
      <p:ext uri="{BB962C8B-B14F-4D97-AF65-F5344CB8AC3E}">
        <p14:creationId xmlns:p14="http://schemas.microsoft.com/office/powerpoint/2010/main" val="25257893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79</a:t>
            </a:fld>
            <a:endParaRPr lang="ru-RU"/>
          </a:p>
        </p:txBody>
      </p:sp>
    </p:spTree>
    <p:extLst>
      <p:ext uri="{BB962C8B-B14F-4D97-AF65-F5344CB8AC3E}">
        <p14:creationId xmlns:p14="http://schemas.microsoft.com/office/powerpoint/2010/main" val="2184534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80</a:t>
            </a:fld>
            <a:endParaRPr lang="ru-RU"/>
          </a:p>
        </p:txBody>
      </p:sp>
    </p:spTree>
    <p:extLst>
      <p:ext uri="{BB962C8B-B14F-4D97-AF65-F5344CB8AC3E}">
        <p14:creationId xmlns:p14="http://schemas.microsoft.com/office/powerpoint/2010/main" val="368768940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81</a:t>
            </a:fld>
            <a:endParaRPr lang="ru-RU"/>
          </a:p>
        </p:txBody>
      </p:sp>
    </p:spTree>
    <p:extLst>
      <p:ext uri="{BB962C8B-B14F-4D97-AF65-F5344CB8AC3E}">
        <p14:creationId xmlns:p14="http://schemas.microsoft.com/office/powerpoint/2010/main" val="18806936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82</a:t>
            </a:fld>
            <a:endParaRPr lang="ru-RU"/>
          </a:p>
        </p:txBody>
      </p:sp>
    </p:spTree>
    <p:extLst>
      <p:ext uri="{BB962C8B-B14F-4D97-AF65-F5344CB8AC3E}">
        <p14:creationId xmlns:p14="http://schemas.microsoft.com/office/powerpoint/2010/main" val="3879585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D56B7A7-CEC5-4F3A-9190-6A9927A789AC}" type="slidenum">
              <a:rPr lang="ru-RU" smtClean="0"/>
              <a:t>83</a:t>
            </a:fld>
            <a:endParaRPr lang="ru-RU"/>
          </a:p>
        </p:txBody>
      </p:sp>
    </p:spTree>
    <p:extLst>
      <p:ext uri="{BB962C8B-B14F-4D97-AF65-F5344CB8AC3E}">
        <p14:creationId xmlns:p14="http://schemas.microsoft.com/office/powerpoint/2010/main" val="24155370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6 Imagen" descr="Dibujo.bmp"/>
          <p:cNvPicPr>
            <a:picLocks noChangeAspect="1"/>
          </p:cNvPicPr>
          <p:nvPr/>
        </p:nvPicPr>
        <p:blipFill>
          <a:blip r:embed="rId2" cstate="print"/>
          <a:stretch>
            <a:fillRect/>
          </a:stretch>
        </p:blipFill>
        <p:spPr>
          <a:xfrm>
            <a:off x="0" y="0"/>
            <a:ext cx="12192000" cy="6858000"/>
          </a:xfrm>
          <a:prstGeom prst="rect">
            <a:avLst/>
          </a:prstGeom>
        </p:spPr>
      </p:pic>
      <p:sp>
        <p:nvSpPr>
          <p:cNvPr id="2" name="1 Título"/>
          <p:cNvSpPr>
            <a:spLocks noGrp="1"/>
          </p:cNvSpPr>
          <p:nvPr>
            <p:ph type="ctrTitle"/>
          </p:nvPr>
        </p:nvSpPr>
        <p:spPr>
          <a:xfrm>
            <a:off x="914400" y="2130426"/>
            <a:ext cx="10363200" cy="1470025"/>
          </a:xfrm>
        </p:spPr>
        <p:txBody>
          <a:bodyPr/>
          <a:lstStyle>
            <a:lvl1pPr>
              <a:defRPr b="1" cap="none" spc="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outerShdw blurRad="41275" dist="12700" dir="12000000" algn="tl" rotWithShape="0">
                    <a:srgbClr val="000000">
                      <a:alpha val="40000"/>
                    </a:srgbClr>
                  </a:outerShdw>
                </a:effectLst>
              </a:defRPr>
            </a:lvl1pPr>
          </a:lstStyle>
          <a:p>
            <a:r>
              <a:rPr lang="ru-RU"/>
              <a:t>Образец заголовка</a:t>
            </a:r>
            <a:endParaRPr lang="es-ES" dirty="0"/>
          </a:p>
        </p:txBody>
      </p:sp>
      <p:sp>
        <p:nvSpPr>
          <p:cNvPr id="3" name="2 Subtítulo"/>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endParaRPr lang="es-ES" dirty="0"/>
          </a:p>
        </p:txBody>
      </p:sp>
      <p:sp>
        <p:nvSpPr>
          <p:cNvPr id="4" name="3 Marcador de fecha"/>
          <p:cNvSpPr>
            <a:spLocks noGrp="1"/>
          </p:cNvSpPr>
          <p:nvPr>
            <p:ph type="dt" sz="half" idx="10"/>
          </p:nvPr>
        </p:nvSpPr>
        <p:spPr/>
        <p:txBody>
          <a:bodyPr/>
          <a:lstStyle/>
          <a:p>
            <a:fld id="{864B6801-0334-4D5B-92F5-84CA680A50CA}" type="datetime1">
              <a:rPr lang="ru-RU" smtClean="0"/>
              <a:t>29.04.2024</a:t>
            </a:fld>
            <a:endParaRPr lang="ru-RU"/>
          </a:p>
        </p:txBody>
      </p:sp>
      <p:sp>
        <p:nvSpPr>
          <p:cNvPr id="5" name="4 Marcador de pie de página"/>
          <p:cNvSpPr>
            <a:spLocks noGrp="1"/>
          </p:cNvSpPr>
          <p:nvPr>
            <p:ph type="ftr" sz="quarter" idx="11"/>
          </p:nvPr>
        </p:nvSpPr>
        <p:spPr/>
        <p:txBody>
          <a:bodyPr/>
          <a:lstStyle/>
          <a:p>
            <a:endParaRPr lang="ru-RU"/>
          </a:p>
        </p:txBody>
      </p:sp>
      <p:sp>
        <p:nvSpPr>
          <p:cNvPr id="6" name="5 Marcador de número de diapositiva"/>
          <p:cNvSpPr>
            <a:spLocks noGrp="1"/>
          </p:cNvSpPr>
          <p:nvPr>
            <p:ph type="sldNum" sz="quarter" idx="12"/>
          </p:nvPr>
        </p:nvSpPr>
        <p:spPr/>
        <p:txBody>
          <a:bodyPr/>
          <a:lstStyle/>
          <a:p>
            <a:fld id="{667D74AF-8CFA-41E7-84BA-34814A01EACF}" type="slidenum">
              <a:rPr lang="ru-RU" smtClean="0"/>
              <a:t>‹#›</a:t>
            </a:fld>
            <a:endParaRPr lang="ru-RU"/>
          </a:p>
        </p:txBody>
      </p:sp>
    </p:spTree>
    <p:extLst>
      <p:ext uri="{BB962C8B-B14F-4D97-AF65-F5344CB8AC3E}">
        <p14:creationId xmlns:p14="http://schemas.microsoft.com/office/powerpoint/2010/main" val="212141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b="1" cap="none" spc="0">
                <a:ln w="18415" cmpd="sng">
                  <a:solidFill>
                    <a:srgbClr val="0066FF"/>
                  </a:solidFill>
                  <a:prstDash val="solid"/>
                </a:ln>
                <a:solidFill>
                  <a:srgbClr val="FFFFFF"/>
                </a:solidFill>
                <a:effectLst>
                  <a:outerShdw blurRad="63500" dir="3600000" algn="tl" rotWithShape="0">
                    <a:srgbClr val="000000">
                      <a:alpha val="70000"/>
                    </a:srgbClr>
                  </a:outerShdw>
                </a:effectLst>
              </a:defRPr>
            </a:lvl1pPr>
          </a:lstStyle>
          <a:p>
            <a:r>
              <a:rPr lang="ru-RU"/>
              <a:t>Образец заголовка</a:t>
            </a:r>
            <a:endParaRPr lang="es-ES" dirty="0"/>
          </a:p>
        </p:txBody>
      </p:sp>
      <p:sp>
        <p:nvSpPr>
          <p:cNvPr id="3" name="2 Marcador de contenido"/>
          <p:cNvSpPr>
            <a:spLocks noGrp="1"/>
          </p:cNvSpPr>
          <p:nvPr>
            <p:ph idx="1"/>
          </p:nvPr>
        </p:nvSpPr>
        <p:spPr/>
        <p:txBody>
          <a:bodyPr/>
          <a:lstStyle>
            <a:lvl1pPr>
              <a:defRPr sz="2800">
                <a:ln>
                  <a:noFill/>
                </a:ln>
                <a:solidFill>
                  <a:srgbClr val="0000CC"/>
                </a:solidFill>
              </a:defRPr>
            </a:lvl1pPr>
            <a:lvl2pPr>
              <a:defRPr>
                <a:ln>
                  <a:noFill/>
                </a:ln>
                <a:solidFill>
                  <a:srgbClr val="0000CC"/>
                </a:solidFill>
              </a:defRPr>
            </a:lvl2pPr>
            <a:lvl3pPr>
              <a:defRPr>
                <a:ln>
                  <a:noFill/>
                </a:ln>
                <a:solidFill>
                  <a:srgbClr val="0000CC"/>
                </a:solidFill>
              </a:defRPr>
            </a:lvl3pPr>
            <a:lvl4pPr>
              <a:defRPr>
                <a:ln>
                  <a:noFill/>
                </a:ln>
                <a:solidFill>
                  <a:srgbClr val="0000CC"/>
                </a:solidFill>
              </a:defRPr>
            </a:lvl4pPr>
            <a:lvl5pPr>
              <a:defRPr>
                <a:ln>
                  <a:noFill/>
                </a:ln>
                <a:solidFill>
                  <a:srgbClr val="0000CC"/>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s-ES" dirty="0"/>
          </a:p>
        </p:txBody>
      </p:sp>
      <p:sp>
        <p:nvSpPr>
          <p:cNvPr id="4" name="3 Marcador de fecha"/>
          <p:cNvSpPr>
            <a:spLocks noGrp="1"/>
          </p:cNvSpPr>
          <p:nvPr>
            <p:ph type="dt" sz="half" idx="10"/>
          </p:nvPr>
        </p:nvSpPr>
        <p:spPr/>
        <p:txBody>
          <a:bodyPr/>
          <a:lstStyle/>
          <a:p>
            <a:fld id="{279835D6-6AC3-4FFD-9091-861BFF1DE5FC}" type="datetime1">
              <a:rPr lang="ru-RU" smtClean="0"/>
              <a:t>29.04.2024</a:t>
            </a:fld>
            <a:endParaRPr lang="ru-RU"/>
          </a:p>
        </p:txBody>
      </p:sp>
      <p:sp>
        <p:nvSpPr>
          <p:cNvPr id="5" name="4 Marcador de pie de página"/>
          <p:cNvSpPr>
            <a:spLocks noGrp="1"/>
          </p:cNvSpPr>
          <p:nvPr>
            <p:ph type="ftr" sz="quarter" idx="11"/>
          </p:nvPr>
        </p:nvSpPr>
        <p:spPr/>
        <p:txBody>
          <a:bodyPr/>
          <a:lstStyle/>
          <a:p>
            <a:endParaRPr lang="ru-RU"/>
          </a:p>
        </p:txBody>
      </p:sp>
      <p:sp>
        <p:nvSpPr>
          <p:cNvPr id="6" name="5 Marcador de número de diapositiva"/>
          <p:cNvSpPr>
            <a:spLocks noGrp="1"/>
          </p:cNvSpPr>
          <p:nvPr>
            <p:ph type="sldNum" sz="quarter" idx="12"/>
          </p:nvPr>
        </p:nvSpPr>
        <p:spPr/>
        <p:txBody>
          <a:bodyPr/>
          <a:lstStyle/>
          <a:p>
            <a:fld id="{667D74AF-8CFA-41E7-84BA-34814A01EACF}" type="slidenum">
              <a:rPr lang="ru-RU" smtClean="0"/>
              <a:t>‹#›</a:t>
            </a:fld>
            <a:endParaRPr lang="ru-RU"/>
          </a:p>
        </p:txBody>
      </p:sp>
    </p:spTree>
    <p:extLst>
      <p:ext uri="{BB962C8B-B14F-4D97-AF65-F5344CB8AC3E}">
        <p14:creationId xmlns:p14="http://schemas.microsoft.com/office/powerpoint/2010/main" val="4252564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ru-RU"/>
              <a:t>Образец заголовка</a:t>
            </a:r>
            <a:endParaRPr lang="es-ES"/>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3 Marcador de fecha"/>
          <p:cNvSpPr>
            <a:spLocks noGrp="1"/>
          </p:cNvSpPr>
          <p:nvPr>
            <p:ph type="dt" sz="half" idx="10"/>
          </p:nvPr>
        </p:nvSpPr>
        <p:spPr/>
        <p:txBody>
          <a:bodyPr/>
          <a:lstStyle/>
          <a:p>
            <a:fld id="{0CFB04FE-7AB8-45B3-8356-BAF8767A9A65}" type="datetime1">
              <a:rPr lang="ru-RU" smtClean="0"/>
              <a:t>29.04.2024</a:t>
            </a:fld>
            <a:endParaRPr lang="ru-RU"/>
          </a:p>
        </p:txBody>
      </p:sp>
      <p:sp>
        <p:nvSpPr>
          <p:cNvPr id="5" name="4 Marcador de pie de página"/>
          <p:cNvSpPr>
            <a:spLocks noGrp="1"/>
          </p:cNvSpPr>
          <p:nvPr>
            <p:ph type="ftr" sz="quarter" idx="11"/>
          </p:nvPr>
        </p:nvSpPr>
        <p:spPr/>
        <p:txBody>
          <a:bodyPr/>
          <a:lstStyle/>
          <a:p>
            <a:endParaRPr lang="ru-RU"/>
          </a:p>
        </p:txBody>
      </p:sp>
      <p:sp>
        <p:nvSpPr>
          <p:cNvPr id="6" name="5 Marcador de número de diapositiva"/>
          <p:cNvSpPr>
            <a:spLocks noGrp="1"/>
          </p:cNvSpPr>
          <p:nvPr>
            <p:ph type="sldNum" sz="quarter" idx="12"/>
          </p:nvPr>
        </p:nvSpPr>
        <p:spPr/>
        <p:txBody>
          <a:bodyPr/>
          <a:lstStyle/>
          <a:p>
            <a:fld id="{667D74AF-8CFA-41E7-84BA-34814A01EACF}" type="slidenum">
              <a:rPr lang="ru-RU" smtClean="0"/>
              <a:t>‹#›</a:t>
            </a:fld>
            <a:endParaRPr lang="ru-RU"/>
          </a:p>
        </p:txBody>
      </p:sp>
    </p:spTree>
    <p:extLst>
      <p:ext uri="{BB962C8B-B14F-4D97-AF65-F5344CB8AC3E}">
        <p14:creationId xmlns:p14="http://schemas.microsoft.com/office/powerpoint/2010/main" val="2694769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ru-RU"/>
              <a:t>Образец заголовка</a:t>
            </a:r>
            <a:endParaRPr lang="es-ES"/>
          </a:p>
        </p:txBody>
      </p:sp>
      <p:sp>
        <p:nvSpPr>
          <p:cNvPr id="3" name="2 Marcador de contenido"/>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s-ES"/>
          </a:p>
        </p:txBody>
      </p:sp>
      <p:sp>
        <p:nvSpPr>
          <p:cNvPr id="4" name="3 Marcador de contenido"/>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s-ES"/>
          </a:p>
        </p:txBody>
      </p:sp>
      <p:sp>
        <p:nvSpPr>
          <p:cNvPr id="5" name="4 Marcador de fecha"/>
          <p:cNvSpPr>
            <a:spLocks noGrp="1"/>
          </p:cNvSpPr>
          <p:nvPr>
            <p:ph type="dt" sz="half" idx="10"/>
          </p:nvPr>
        </p:nvSpPr>
        <p:spPr/>
        <p:txBody>
          <a:bodyPr/>
          <a:lstStyle/>
          <a:p>
            <a:fld id="{A737E098-B143-499C-9BE7-0CBDECEDAC3C}" type="datetime1">
              <a:rPr lang="ru-RU" smtClean="0"/>
              <a:t>29.04.2024</a:t>
            </a:fld>
            <a:endParaRPr lang="ru-RU"/>
          </a:p>
        </p:txBody>
      </p:sp>
      <p:sp>
        <p:nvSpPr>
          <p:cNvPr id="6" name="5 Marcador de pie de página"/>
          <p:cNvSpPr>
            <a:spLocks noGrp="1"/>
          </p:cNvSpPr>
          <p:nvPr>
            <p:ph type="ftr" sz="quarter" idx="11"/>
          </p:nvPr>
        </p:nvSpPr>
        <p:spPr/>
        <p:txBody>
          <a:bodyPr/>
          <a:lstStyle/>
          <a:p>
            <a:endParaRPr lang="ru-RU"/>
          </a:p>
        </p:txBody>
      </p:sp>
      <p:sp>
        <p:nvSpPr>
          <p:cNvPr id="7" name="6 Marcador de número de diapositiva"/>
          <p:cNvSpPr>
            <a:spLocks noGrp="1"/>
          </p:cNvSpPr>
          <p:nvPr>
            <p:ph type="sldNum" sz="quarter" idx="12"/>
          </p:nvPr>
        </p:nvSpPr>
        <p:spPr/>
        <p:txBody>
          <a:bodyPr/>
          <a:lstStyle/>
          <a:p>
            <a:fld id="{667D74AF-8CFA-41E7-84BA-34814A01EACF}" type="slidenum">
              <a:rPr lang="ru-RU" smtClean="0"/>
              <a:t>‹#›</a:t>
            </a:fld>
            <a:endParaRPr lang="ru-RU"/>
          </a:p>
        </p:txBody>
      </p:sp>
    </p:spTree>
    <p:extLst>
      <p:ext uri="{BB962C8B-B14F-4D97-AF65-F5344CB8AC3E}">
        <p14:creationId xmlns:p14="http://schemas.microsoft.com/office/powerpoint/2010/main" val="3451534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ru-RU"/>
              <a:t>Образец заголовка</a:t>
            </a:r>
            <a:endParaRPr lang="es-ES"/>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s-ES"/>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s-ES"/>
          </a:p>
        </p:txBody>
      </p:sp>
      <p:sp>
        <p:nvSpPr>
          <p:cNvPr id="7" name="6 Marcador de fecha"/>
          <p:cNvSpPr>
            <a:spLocks noGrp="1"/>
          </p:cNvSpPr>
          <p:nvPr>
            <p:ph type="dt" sz="half" idx="10"/>
          </p:nvPr>
        </p:nvSpPr>
        <p:spPr/>
        <p:txBody>
          <a:bodyPr/>
          <a:lstStyle/>
          <a:p>
            <a:fld id="{578B98A7-F566-4CE1-B1F9-9C04BDE25CE5}" type="datetime1">
              <a:rPr lang="ru-RU" smtClean="0"/>
              <a:t>29.04.2024</a:t>
            </a:fld>
            <a:endParaRPr lang="ru-RU"/>
          </a:p>
        </p:txBody>
      </p:sp>
      <p:sp>
        <p:nvSpPr>
          <p:cNvPr id="8" name="7 Marcador de pie de página"/>
          <p:cNvSpPr>
            <a:spLocks noGrp="1"/>
          </p:cNvSpPr>
          <p:nvPr>
            <p:ph type="ftr" sz="quarter" idx="11"/>
          </p:nvPr>
        </p:nvSpPr>
        <p:spPr/>
        <p:txBody>
          <a:bodyPr/>
          <a:lstStyle/>
          <a:p>
            <a:endParaRPr lang="ru-RU"/>
          </a:p>
        </p:txBody>
      </p:sp>
      <p:sp>
        <p:nvSpPr>
          <p:cNvPr id="9" name="8 Marcador de número de diapositiva"/>
          <p:cNvSpPr>
            <a:spLocks noGrp="1"/>
          </p:cNvSpPr>
          <p:nvPr>
            <p:ph type="sldNum" sz="quarter" idx="12"/>
          </p:nvPr>
        </p:nvSpPr>
        <p:spPr/>
        <p:txBody>
          <a:bodyPr/>
          <a:lstStyle/>
          <a:p>
            <a:fld id="{667D74AF-8CFA-41E7-84BA-34814A01EACF}" type="slidenum">
              <a:rPr lang="ru-RU" smtClean="0"/>
              <a:t>‹#›</a:t>
            </a:fld>
            <a:endParaRPr lang="ru-RU"/>
          </a:p>
        </p:txBody>
      </p:sp>
    </p:spTree>
    <p:extLst>
      <p:ext uri="{BB962C8B-B14F-4D97-AF65-F5344CB8AC3E}">
        <p14:creationId xmlns:p14="http://schemas.microsoft.com/office/powerpoint/2010/main" val="3253043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ru-RU"/>
              <a:t>Образец заголовка</a:t>
            </a:r>
            <a:endParaRPr lang="es-ES"/>
          </a:p>
        </p:txBody>
      </p:sp>
      <p:sp>
        <p:nvSpPr>
          <p:cNvPr id="3" name="2 Marcador de fecha"/>
          <p:cNvSpPr>
            <a:spLocks noGrp="1"/>
          </p:cNvSpPr>
          <p:nvPr>
            <p:ph type="dt" sz="half" idx="10"/>
          </p:nvPr>
        </p:nvSpPr>
        <p:spPr/>
        <p:txBody>
          <a:bodyPr/>
          <a:lstStyle/>
          <a:p>
            <a:fld id="{4CAC57F0-DF40-450D-9BF3-68BFE6415B8A}" type="datetime1">
              <a:rPr lang="ru-RU" smtClean="0"/>
              <a:t>29.04.2024</a:t>
            </a:fld>
            <a:endParaRPr lang="ru-RU"/>
          </a:p>
        </p:txBody>
      </p:sp>
      <p:sp>
        <p:nvSpPr>
          <p:cNvPr id="4" name="3 Marcador de pie de página"/>
          <p:cNvSpPr>
            <a:spLocks noGrp="1"/>
          </p:cNvSpPr>
          <p:nvPr>
            <p:ph type="ftr" sz="quarter" idx="11"/>
          </p:nvPr>
        </p:nvSpPr>
        <p:spPr/>
        <p:txBody>
          <a:bodyPr/>
          <a:lstStyle/>
          <a:p>
            <a:endParaRPr lang="ru-RU"/>
          </a:p>
        </p:txBody>
      </p:sp>
      <p:sp>
        <p:nvSpPr>
          <p:cNvPr id="5" name="4 Marcador de número de diapositiva"/>
          <p:cNvSpPr>
            <a:spLocks noGrp="1"/>
          </p:cNvSpPr>
          <p:nvPr>
            <p:ph type="sldNum" sz="quarter" idx="12"/>
          </p:nvPr>
        </p:nvSpPr>
        <p:spPr/>
        <p:txBody>
          <a:bodyPr/>
          <a:lstStyle/>
          <a:p>
            <a:fld id="{667D74AF-8CFA-41E7-84BA-34814A01EACF}" type="slidenum">
              <a:rPr lang="ru-RU" smtClean="0"/>
              <a:t>‹#›</a:t>
            </a:fld>
            <a:endParaRPr lang="ru-RU"/>
          </a:p>
        </p:txBody>
      </p:sp>
    </p:spTree>
    <p:extLst>
      <p:ext uri="{BB962C8B-B14F-4D97-AF65-F5344CB8AC3E}">
        <p14:creationId xmlns:p14="http://schemas.microsoft.com/office/powerpoint/2010/main" val="1218813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586E5292-8F89-4A48-8AAD-AC87E62C3732}" type="datetime1">
              <a:rPr lang="ru-RU" smtClean="0"/>
              <a:t>29.04.2024</a:t>
            </a:fld>
            <a:endParaRPr lang="ru-RU"/>
          </a:p>
        </p:txBody>
      </p:sp>
      <p:sp>
        <p:nvSpPr>
          <p:cNvPr id="3" name="2 Marcador de pie de página"/>
          <p:cNvSpPr>
            <a:spLocks noGrp="1"/>
          </p:cNvSpPr>
          <p:nvPr>
            <p:ph type="ftr" sz="quarter" idx="11"/>
          </p:nvPr>
        </p:nvSpPr>
        <p:spPr/>
        <p:txBody>
          <a:bodyPr/>
          <a:lstStyle/>
          <a:p>
            <a:endParaRPr lang="ru-RU"/>
          </a:p>
        </p:txBody>
      </p:sp>
      <p:sp>
        <p:nvSpPr>
          <p:cNvPr id="4" name="3 Marcador de número de diapositiva"/>
          <p:cNvSpPr>
            <a:spLocks noGrp="1"/>
          </p:cNvSpPr>
          <p:nvPr>
            <p:ph type="sldNum" sz="quarter" idx="12"/>
          </p:nvPr>
        </p:nvSpPr>
        <p:spPr/>
        <p:txBody>
          <a:bodyPr/>
          <a:lstStyle/>
          <a:p>
            <a:fld id="{667D74AF-8CFA-41E7-84BA-34814A01EACF}" type="slidenum">
              <a:rPr lang="ru-RU" smtClean="0"/>
              <a:t>‹#›</a:t>
            </a:fld>
            <a:endParaRPr lang="ru-RU"/>
          </a:p>
        </p:txBody>
      </p:sp>
    </p:spTree>
    <p:extLst>
      <p:ext uri="{BB962C8B-B14F-4D97-AF65-F5344CB8AC3E}">
        <p14:creationId xmlns:p14="http://schemas.microsoft.com/office/powerpoint/2010/main" val="899674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ru-RU"/>
              <a:t>Образец заголовка</a:t>
            </a:r>
            <a:endParaRPr lang="es-ES"/>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s-ES"/>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4 Marcador de fecha"/>
          <p:cNvSpPr>
            <a:spLocks noGrp="1"/>
          </p:cNvSpPr>
          <p:nvPr>
            <p:ph type="dt" sz="half" idx="10"/>
          </p:nvPr>
        </p:nvSpPr>
        <p:spPr/>
        <p:txBody>
          <a:bodyPr/>
          <a:lstStyle/>
          <a:p>
            <a:fld id="{A0E8BE98-EF90-4E8E-BFF8-0EE617465C43}" type="datetime1">
              <a:rPr lang="ru-RU" smtClean="0"/>
              <a:t>29.04.2024</a:t>
            </a:fld>
            <a:endParaRPr lang="ru-RU"/>
          </a:p>
        </p:txBody>
      </p:sp>
      <p:sp>
        <p:nvSpPr>
          <p:cNvPr id="6" name="5 Marcador de pie de página"/>
          <p:cNvSpPr>
            <a:spLocks noGrp="1"/>
          </p:cNvSpPr>
          <p:nvPr>
            <p:ph type="ftr" sz="quarter" idx="11"/>
          </p:nvPr>
        </p:nvSpPr>
        <p:spPr/>
        <p:txBody>
          <a:bodyPr/>
          <a:lstStyle/>
          <a:p>
            <a:endParaRPr lang="ru-RU"/>
          </a:p>
        </p:txBody>
      </p:sp>
      <p:sp>
        <p:nvSpPr>
          <p:cNvPr id="7" name="6 Marcador de número de diapositiva"/>
          <p:cNvSpPr>
            <a:spLocks noGrp="1"/>
          </p:cNvSpPr>
          <p:nvPr>
            <p:ph type="sldNum" sz="quarter" idx="12"/>
          </p:nvPr>
        </p:nvSpPr>
        <p:spPr/>
        <p:txBody>
          <a:bodyPr/>
          <a:lstStyle/>
          <a:p>
            <a:fld id="{667D74AF-8CFA-41E7-84BA-34814A01EACF}" type="slidenum">
              <a:rPr lang="ru-RU" smtClean="0"/>
              <a:t>‹#›</a:t>
            </a:fld>
            <a:endParaRPr lang="ru-RU"/>
          </a:p>
        </p:txBody>
      </p:sp>
    </p:spTree>
    <p:extLst>
      <p:ext uri="{BB962C8B-B14F-4D97-AF65-F5344CB8AC3E}">
        <p14:creationId xmlns:p14="http://schemas.microsoft.com/office/powerpoint/2010/main" val="418517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ru-RU"/>
              <a:t>Образец заголовка</a:t>
            </a:r>
            <a:endParaRPr lang="es-ES"/>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s-ES"/>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4 Marcador de fecha"/>
          <p:cNvSpPr>
            <a:spLocks noGrp="1"/>
          </p:cNvSpPr>
          <p:nvPr>
            <p:ph type="dt" sz="half" idx="10"/>
          </p:nvPr>
        </p:nvSpPr>
        <p:spPr/>
        <p:txBody>
          <a:bodyPr/>
          <a:lstStyle/>
          <a:p>
            <a:fld id="{F9459A2F-C653-4D95-874F-97D23F1883BF}" type="datetime1">
              <a:rPr lang="ru-RU" smtClean="0"/>
              <a:t>29.04.2024</a:t>
            </a:fld>
            <a:endParaRPr lang="ru-RU"/>
          </a:p>
        </p:txBody>
      </p:sp>
      <p:sp>
        <p:nvSpPr>
          <p:cNvPr id="6" name="5 Marcador de pie de página"/>
          <p:cNvSpPr>
            <a:spLocks noGrp="1"/>
          </p:cNvSpPr>
          <p:nvPr>
            <p:ph type="ftr" sz="quarter" idx="11"/>
          </p:nvPr>
        </p:nvSpPr>
        <p:spPr/>
        <p:txBody>
          <a:bodyPr/>
          <a:lstStyle/>
          <a:p>
            <a:endParaRPr lang="ru-RU"/>
          </a:p>
        </p:txBody>
      </p:sp>
      <p:sp>
        <p:nvSpPr>
          <p:cNvPr id="7" name="6 Marcador de número de diapositiva"/>
          <p:cNvSpPr>
            <a:spLocks noGrp="1"/>
          </p:cNvSpPr>
          <p:nvPr>
            <p:ph type="sldNum" sz="quarter" idx="12"/>
          </p:nvPr>
        </p:nvSpPr>
        <p:spPr/>
        <p:txBody>
          <a:bodyPr/>
          <a:lstStyle/>
          <a:p>
            <a:fld id="{667D74AF-8CFA-41E7-84BA-34814A01EACF}" type="slidenum">
              <a:rPr lang="ru-RU" smtClean="0"/>
              <a:t>‹#›</a:t>
            </a:fld>
            <a:endParaRPr lang="ru-RU"/>
          </a:p>
        </p:txBody>
      </p:sp>
    </p:spTree>
    <p:extLst>
      <p:ext uri="{BB962C8B-B14F-4D97-AF65-F5344CB8AC3E}">
        <p14:creationId xmlns:p14="http://schemas.microsoft.com/office/powerpoint/2010/main" val="2802347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ru-RU"/>
              <a:t>Образец заголовка</a:t>
            </a:r>
            <a:endParaRPr lang="es-ES"/>
          </a:p>
        </p:txBody>
      </p:sp>
      <p:sp>
        <p:nvSpPr>
          <p:cNvPr id="3" name="2 Marcador de texto vertical"/>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s-ES"/>
          </a:p>
        </p:txBody>
      </p:sp>
      <p:sp>
        <p:nvSpPr>
          <p:cNvPr id="4" name="3 Marcador de fecha"/>
          <p:cNvSpPr>
            <a:spLocks noGrp="1"/>
          </p:cNvSpPr>
          <p:nvPr>
            <p:ph type="dt" sz="half" idx="10"/>
          </p:nvPr>
        </p:nvSpPr>
        <p:spPr/>
        <p:txBody>
          <a:bodyPr/>
          <a:lstStyle/>
          <a:p>
            <a:fld id="{178C33B8-C057-4B1F-AB65-336028DE03CD}" type="datetime1">
              <a:rPr lang="ru-RU" smtClean="0"/>
              <a:t>29.04.2024</a:t>
            </a:fld>
            <a:endParaRPr lang="ru-RU"/>
          </a:p>
        </p:txBody>
      </p:sp>
      <p:sp>
        <p:nvSpPr>
          <p:cNvPr id="5" name="4 Marcador de pie de página"/>
          <p:cNvSpPr>
            <a:spLocks noGrp="1"/>
          </p:cNvSpPr>
          <p:nvPr>
            <p:ph type="ftr" sz="quarter" idx="11"/>
          </p:nvPr>
        </p:nvSpPr>
        <p:spPr/>
        <p:txBody>
          <a:bodyPr/>
          <a:lstStyle/>
          <a:p>
            <a:endParaRPr lang="ru-RU"/>
          </a:p>
        </p:txBody>
      </p:sp>
      <p:sp>
        <p:nvSpPr>
          <p:cNvPr id="6" name="5 Marcador de número de diapositiva"/>
          <p:cNvSpPr>
            <a:spLocks noGrp="1"/>
          </p:cNvSpPr>
          <p:nvPr>
            <p:ph type="sldNum" sz="quarter" idx="12"/>
          </p:nvPr>
        </p:nvSpPr>
        <p:spPr/>
        <p:txBody>
          <a:bodyPr/>
          <a:lstStyle/>
          <a:p>
            <a:fld id="{667D74AF-8CFA-41E7-84BA-34814A01EACF}" type="slidenum">
              <a:rPr lang="ru-RU" smtClean="0"/>
              <a:t>‹#›</a:t>
            </a:fld>
            <a:endParaRPr lang="ru-RU"/>
          </a:p>
        </p:txBody>
      </p:sp>
    </p:spTree>
    <p:extLst>
      <p:ext uri="{BB962C8B-B14F-4D97-AF65-F5344CB8AC3E}">
        <p14:creationId xmlns:p14="http://schemas.microsoft.com/office/powerpoint/2010/main" val="264004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p>
            <a:r>
              <a:rPr lang="ru-RU"/>
              <a:t>Образец заголовка</a:t>
            </a:r>
            <a:endParaRPr lang="es-ES"/>
          </a:p>
        </p:txBody>
      </p:sp>
      <p:sp>
        <p:nvSpPr>
          <p:cNvPr id="3" name="2 Marcador de texto vertical"/>
          <p:cNvSpPr>
            <a:spLocks noGrp="1"/>
          </p:cNvSpPr>
          <p:nvPr>
            <p:ph type="body" orient="vert" idx="1"/>
          </p:nvPr>
        </p:nvSpPr>
        <p:spPr>
          <a:xfrm>
            <a:off x="609600" y="274639"/>
            <a:ext cx="80264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s-ES"/>
          </a:p>
        </p:txBody>
      </p:sp>
      <p:sp>
        <p:nvSpPr>
          <p:cNvPr id="4" name="3 Marcador de fecha"/>
          <p:cNvSpPr>
            <a:spLocks noGrp="1"/>
          </p:cNvSpPr>
          <p:nvPr>
            <p:ph type="dt" sz="half" idx="10"/>
          </p:nvPr>
        </p:nvSpPr>
        <p:spPr/>
        <p:txBody>
          <a:bodyPr/>
          <a:lstStyle/>
          <a:p>
            <a:fld id="{5DD21642-6DBF-459C-8D9F-8E9417B7B817}" type="datetime1">
              <a:rPr lang="ru-RU" smtClean="0"/>
              <a:t>29.04.2024</a:t>
            </a:fld>
            <a:endParaRPr lang="ru-RU"/>
          </a:p>
        </p:txBody>
      </p:sp>
      <p:sp>
        <p:nvSpPr>
          <p:cNvPr id="5" name="4 Marcador de pie de página"/>
          <p:cNvSpPr>
            <a:spLocks noGrp="1"/>
          </p:cNvSpPr>
          <p:nvPr>
            <p:ph type="ftr" sz="quarter" idx="11"/>
          </p:nvPr>
        </p:nvSpPr>
        <p:spPr/>
        <p:txBody>
          <a:bodyPr/>
          <a:lstStyle/>
          <a:p>
            <a:endParaRPr lang="ru-RU"/>
          </a:p>
        </p:txBody>
      </p:sp>
      <p:sp>
        <p:nvSpPr>
          <p:cNvPr id="6" name="5 Marcador de número de diapositiva"/>
          <p:cNvSpPr>
            <a:spLocks noGrp="1"/>
          </p:cNvSpPr>
          <p:nvPr>
            <p:ph type="sldNum" sz="quarter" idx="12"/>
          </p:nvPr>
        </p:nvSpPr>
        <p:spPr/>
        <p:txBody>
          <a:bodyPr/>
          <a:lstStyle/>
          <a:p>
            <a:fld id="{667D74AF-8CFA-41E7-84BA-34814A01EACF}" type="slidenum">
              <a:rPr lang="ru-RU" smtClean="0"/>
              <a:t>‹#›</a:t>
            </a:fld>
            <a:endParaRPr lang="ru-RU"/>
          </a:p>
        </p:txBody>
      </p:sp>
    </p:spTree>
    <p:extLst>
      <p:ext uri="{BB962C8B-B14F-4D97-AF65-F5344CB8AC3E}">
        <p14:creationId xmlns:p14="http://schemas.microsoft.com/office/powerpoint/2010/main" val="1984806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A53044-CB5C-4158-8549-7D4A7091361D}" type="datetime1">
              <a:rPr lang="ru-RU" smtClean="0"/>
              <a:t>29.04.2024</a:t>
            </a:fld>
            <a:endParaRPr lang="ru-RU"/>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7D74AF-8CFA-41E7-84BA-34814A01EACF}" type="slidenum">
              <a:rPr lang="ru-RU" smtClean="0"/>
              <a:t>‹#›</a:t>
            </a:fld>
            <a:endParaRPr lang="ru-RU"/>
          </a:p>
        </p:txBody>
      </p:sp>
      <p:pic>
        <p:nvPicPr>
          <p:cNvPr id="7" name="6 Imagen" descr="Dibujo.bmp"/>
          <p:cNvPicPr>
            <a:picLocks noChangeAspect="1"/>
          </p:cNvPicPr>
          <p:nvPr/>
        </p:nvPicPr>
        <p:blipFill>
          <a:blip r:embed="rId13" cstate="print"/>
          <a:stretch>
            <a:fillRect/>
          </a:stretch>
        </p:blipFill>
        <p:spPr>
          <a:xfrm>
            <a:off x="0" y="0"/>
            <a:ext cx="12192000" cy="6858000"/>
          </a:xfrm>
          <a:prstGeom prst="rect">
            <a:avLst/>
          </a:prstGeom>
        </p:spPr>
      </p:pic>
      <p:sp>
        <p:nvSpPr>
          <p:cNvPr id="9" name="Rectangle 10"/>
          <p:cNvSpPr>
            <a:spLocks noChangeArrowheads="1"/>
          </p:cNvSpPr>
          <p:nvPr/>
        </p:nvSpPr>
        <p:spPr bwMode="auto">
          <a:xfrm>
            <a:off x="0" y="0"/>
            <a:ext cx="12192000" cy="7010400"/>
          </a:xfrm>
          <a:prstGeom prst="rect">
            <a:avLst/>
          </a:prstGeom>
          <a:gradFill flip="none" rotWithShape="1">
            <a:gsLst>
              <a:gs pos="100000">
                <a:srgbClr val="03D4A8">
                  <a:alpha val="18000"/>
                </a:srgbClr>
              </a:gs>
              <a:gs pos="25000">
                <a:srgbClr val="21D6E0">
                  <a:alpha val="23000"/>
                </a:srgbClr>
              </a:gs>
              <a:gs pos="75000">
                <a:srgbClr val="0087E6">
                  <a:alpha val="25000"/>
                </a:srgbClr>
              </a:gs>
              <a:gs pos="100000">
                <a:srgbClr val="005CBF">
                  <a:alpha val="25999"/>
                </a:srgbClr>
              </a:gs>
            </a:gsLst>
            <a:lin ang="2700000" scaled="1"/>
            <a:tileRect/>
          </a:gradFill>
          <a:ln w="9525">
            <a:noFill/>
            <a:miter lim="800000"/>
            <a:headEnd/>
            <a:tailEnd/>
          </a:ln>
          <a:effectLst/>
        </p:spPr>
        <p:txBody>
          <a:bodyPr wrap="none" anchor="ctr"/>
          <a:lstStyle/>
          <a:p>
            <a:pPr>
              <a:defRPr/>
            </a:pPr>
            <a:endParaRPr lang="es-ES" sz="1800"/>
          </a:p>
        </p:txBody>
      </p:sp>
    </p:spTree>
    <p:extLst>
      <p:ext uri="{BB962C8B-B14F-4D97-AF65-F5344CB8AC3E}">
        <p14:creationId xmlns:p14="http://schemas.microsoft.com/office/powerpoint/2010/main" val="21673727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DC1EA5-7D8F-1DCE-6CD4-02A185123D83}"/>
              </a:ext>
            </a:extLst>
          </p:cNvPr>
          <p:cNvSpPr>
            <a:spLocks noGrp="1"/>
          </p:cNvSpPr>
          <p:nvPr>
            <p:ph type="ctrTitle"/>
          </p:nvPr>
        </p:nvSpPr>
        <p:spPr/>
        <p:txBody>
          <a:bodyPr>
            <a:normAutofit fontScale="90000"/>
          </a:bodyPr>
          <a:lstStyle/>
          <a:p>
            <a:r>
              <a:rPr lang="ru-RU" sz="6000" dirty="0">
                <a:solidFill>
                  <a:schemeClr val="accent1"/>
                </a:solidFill>
                <a:latin typeface="Arial" panose="020B0604020202020204" pitchFamily="34" charset="0"/>
                <a:cs typeface="Arial" panose="020B0604020202020204" pitchFamily="34" charset="0"/>
              </a:rPr>
              <a:t>Управление транзакциями </a:t>
            </a:r>
            <a:br>
              <a:rPr lang="en-US" sz="6000" dirty="0"/>
            </a:br>
            <a:endParaRPr lang="ru-RU" dirty="0"/>
          </a:p>
        </p:txBody>
      </p:sp>
      <p:sp>
        <p:nvSpPr>
          <p:cNvPr id="3" name="Подзаголовок 2">
            <a:extLst>
              <a:ext uri="{FF2B5EF4-FFF2-40B4-BE49-F238E27FC236}">
                <a16:creationId xmlns:a16="http://schemas.microsoft.com/office/drawing/2014/main" id="{85A42F00-4C9E-5B9F-61ED-FD06DDD5A00A}"/>
              </a:ext>
            </a:extLst>
          </p:cNvPr>
          <p:cNvSpPr>
            <a:spLocks noGrp="1"/>
          </p:cNvSpPr>
          <p:nvPr>
            <p:ph type="subTitle" idx="1"/>
          </p:nvPr>
        </p:nvSpPr>
        <p:spPr>
          <a:xfrm>
            <a:off x="914400" y="3745283"/>
            <a:ext cx="10668000" cy="2317314"/>
          </a:xfrm>
        </p:spPr>
        <p:txBody>
          <a:bodyPr>
            <a:normAutofit fontScale="77500" lnSpcReduction="20000"/>
          </a:bodyPr>
          <a:lstStyle/>
          <a:p>
            <a:pPr>
              <a:lnSpc>
                <a:spcPct val="120000"/>
              </a:lnSpc>
            </a:pPr>
            <a:r>
              <a:rPr lang="ru-RU" sz="3400" b="1" dirty="0">
                <a:solidFill>
                  <a:schemeClr val="tx1"/>
                </a:solidFill>
                <a:latin typeface="Arial" panose="020B0604020202020204" pitchFamily="34" charset="0"/>
                <a:cs typeface="Arial" panose="020B0604020202020204" pitchFamily="34" charset="0"/>
              </a:rPr>
              <a:t>Глава 13</a:t>
            </a:r>
          </a:p>
          <a:p>
            <a:pPr>
              <a:lnSpc>
                <a:spcPct val="120000"/>
              </a:lnSpc>
            </a:pPr>
            <a:r>
              <a:rPr lang="ru-RU" sz="4000" b="1" dirty="0">
                <a:solidFill>
                  <a:schemeClr val="tx1"/>
                </a:solidFill>
                <a:latin typeface="Arial" panose="020B0604020202020204" pitchFamily="34" charset="0"/>
                <a:cs typeface="Arial" panose="020B0604020202020204" pitchFamily="34" charset="0"/>
              </a:rPr>
              <a:t>Основы технологий баз данных</a:t>
            </a:r>
            <a:r>
              <a:rPr lang="ru-RU" dirty="0">
                <a:solidFill>
                  <a:schemeClr val="tx1"/>
                </a:solidFill>
                <a:latin typeface="Arial" panose="020B0604020202020204" pitchFamily="34" charset="0"/>
                <a:cs typeface="Arial" panose="020B0604020202020204" pitchFamily="34" charset="0"/>
              </a:rPr>
              <a:t>: учебное пособие / Б. А. Новиков, Е. А. Горшкова, Н. Г. </a:t>
            </a:r>
            <a:r>
              <a:rPr lang="ru-RU" dirty="0" err="1">
                <a:solidFill>
                  <a:schemeClr val="tx1"/>
                </a:solidFill>
                <a:latin typeface="Arial" panose="020B0604020202020204" pitchFamily="34" charset="0"/>
                <a:cs typeface="Arial" panose="020B0604020202020204" pitchFamily="34" charset="0"/>
              </a:rPr>
              <a:t>Графеева</a:t>
            </a:r>
            <a:r>
              <a:rPr lang="ru-RU" dirty="0">
                <a:solidFill>
                  <a:schemeClr val="tx1"/>
                </a:solidFill>
                <a:latin typeface="Arial" panose="020B0604020202020204" pitchFamily="34" charset="0"/>
                <a:cs typeface="Arial" panose="020B0604020202020204" pitchFamily="34" charset="0"/>
              </a:rPr>
              <a:t>; под ред. Е. В. Рогова. — 2-е изд. — М.: ДМК Пресс, 2020. — 582 с.</a:t>
            </a:r>
          </a:p>
          <a:p>
            <a:pPr>
              <a:lnSpc>
                <a:spcPct val="120000"/>
              </a:lnSpc>
            </a:pPr>
            <a:r>
              <a:rPr lang="ru-RU" dirty="0">
                <a:solidFill>
                  <a:schemeClr val="tx1"/>
                </a:solidFill>
                <a:latin typeface="Arial" panose="020B0604020202020204" pitchFamily="34" charset="0"/>
                <a:cs typeface="Arial" panose="020B0604020202020204" pitchFamily="34" charset="0"/>
              </a:rPr>
              <a:t>Компания </a:t>
            </a:r>
            <a:r>
              <a:rPr lang="en-US" dirty="0">
                <a:solidFill>
                  <a:schemeClr val="tx1"/>
                </a:solidFill>
                <a:latin typeface="Arial" panose="020B0604020202020204" pitchFamily="34" charset="0"/>
                <a:cs typeface="Arial" panose="020B0604020202020204" pitchFamily="34" charset="0"/>
              </a:rPr>
              <a:t>Postgres Professional</a:t>
            </a:r>
            <a:endParaRPr lang="ru-RU" dirty="0">
              <a:solidFill>
                <a:schemeClr val="tx1"/>
              </a:solidFill>
              <a:latin typeface="Arial" panose="020B0604020202020204" pitchFamily="34" charset="0"/>
              <a:cs typeface="Arial" panose="020B0604020202020204" pitchFamily="34" charset="0"/>
            </a:endParaRPr>
          </a:p>
        </p:txBody>
      </p:sp>
      <p:sp>
        <p:nvSpPr>
          <p:cNvPr id="4" name="Нижний колонтитул 3">
            <a:extLst>
              <a:ext uri="{FF2B5EF4-FFF2-40B4-BE49-F238E27FC236}">
                <a16:creationId xmlns:a16="http://schemas.microsoft.com/office/drawing/2014/main" id="{9F682677-62A2-6219-BAE0-285ADCD9327D}"/>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BD0E6771-7C51-1AC4-8E2D-99BF5E2BA122}"/>
              </a:ext>
            </a:extLst>
          </p:cNvPr>
          <p:cNvSpPr>
            <a:spLocks noGrp="1"/>
          </p:cNvSpPr>
          <p:nvPr>
            <p:ph type="sldNum" sz="quarter" idx="12"/>
          </p:nvPr>
        </p:nvSpPr>
        <p:spPr/>
        <p:txBody>
          <a:bodyPr/>
          <a:lstStyle/>
          <a:p>
            <a:fld id="{667D74AF-8CFA-41E7-84BA-34814A01EACF}" type="slidenum">
              <a:rPr lang="ru-RU" smtClean="0"/>
              <a:t>1</a:t>
            </a:fld>
            <a:endParaRPr lang="ru-RU"/>
          </a:p>
        </p:txBody>
      </p:sp>
    </p:spTree>
    <p:extLst>
      <p:ext uri="{BB962C8B-B14F-4D97-AF65-F5344CB8AC3E}">
        <p14:creationId xmlns:p14="http://schemas.microsoft.com/office/powerpoint/2010/main" val="1892353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109602"/>
            <a:ext cx="12045863" cy="1005214"/>
          </a:xfrm>
        </p:spPr>
        <p:txBody>
          <a:bodyPr>
            <a:noAutofit/>
          </a:bodyPr>
          <a:lstStyle/>
          <a:p>
            <a:r>
              <a:rPr lang="ru-RU" sz="3200" dirty="0">
                <a:latin typeface="Arial" panose="020B0604020202020204" pitchFamily="34" charset="0"/>
                <a:cs typeface="Arial" panose="020B0604020202020204" pitchFamily="34" charset="0"/>
              </a:rPr>
              <a:t>Теоретические модели, </a:t>
            </a:r>
            <a:br>
              <a:rPr lang="ru-RU" sz="3200" dirty="0">
                <a:latin typeface="Arial" panose="020B0604020202020204" pitchFamily="34" charset="0"/>
                <a:cs typeface="Arial" panose="020B0604020202020204" pitchFamily="34" charset="0"/>
              </a:rPr>
            </a:br>
            <a:r>
              <a:rPr lang="ru-RU" sz="3200" dirty="0">
                <a:latin typeface="Arial" panose="020B0604020202020204" pitchFamily="34" charset="0"/>
                <a:cs typeface="Arial" panose="020B0604020202020204" pitchFamily="34" charset="0"/>
              </a:rPr>
              <a:t>описывающие управление транзакциями</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444674" y="1265129"/>
            <a:ext cx="11302652" cy="5592871"/>
          </a:xfrm>
        </p:spPr>
        <p:txBody>
          <a:bodyPr>
            <a:normAutofit fontScale="70000" lnSpcReduction="20000"/>
          </a:bodyPr>
          <a:lstStyle/>
          <a:p>
            <a:pPr algn="l">
              <a:lnSpc>
                <a:spcPct val="120000"/>
              </a:lnSpc>
              <a:spcBef>
                <a:spcPts val="600"/>
              </a:spcBef>
              <a:buFont typeface="Wingdings" panose="05000000000000000000" pitchFamily="2" charset="2"/>
              <a:buChar char="q"/>
            </a:pPr>
            <a:r>
              <a:rPr lang="ru-RU" sz="2400" dirty="0">
                <a:solidFill>
                  <a:schemeClr val="tx1"/>
                </a:solidFill>
                <a:latin typeface="Arial" panose="020B0604020202020204" pitchFamily="34" charset="0"/>
                <a:cs typeface="Arial" panose="020B0604020202020204" pitchFamily="34" charset="0"/>
              </a:rPr>
              <a:t>Транзакцией называется конечный набор операций над базой данных, который переводит одно согласованное состояние базы данных в другое при условии, что все операции выполнены полностью и без помех со стороны других транзакций. </a:t>
            </a:r>
          </a:p>
          <a:p>
            <a:pPr algn="l">
              <a:lnSpc>
                <a:spcPct val="120000"/>
              </a:lnSpc>
              <a:spcBef>
                <a:spcPts val="600"/>
              </a:spcBef>
              <a:buFont typeface="Wingdings" panose="05000000000000000000" pitchFamily="2" charset="2"/>
              <a:buChar char="q"/>
            </a:pPr>
            <a:r>
              <a:rPr lang="ru-RU" sz="2400" dirty="0">
                <a:solidFill>
                  <a:schemeClr val="tx1"/>
                </a:solidFill>
                <a:latin typeface="Arial" panose="020B0604020202020204" pitchFamily="34" charset="0"/>
                <a:cs typeface="Arial" panose="020B0604020202020204" pitchFamily="34" charset="0"/>
              </a:rPr>
              <a:t>Неформально требования к транзакционным системам характеризуются </a:t>
            </a:r>
            <a:r>
              <a:rPr lang="ru-RU" sz="2400" b="1" dirty="0">
                <a:solidFill>
                  <a:schemeClr val="tx1"/>
                </a:solidFill>
                <a:latin typeface="Arial" panose="020B0604020202020204" pitchFamily="34" charset="0"/>
                <a:cs typeface="Arial" panose="020B0604020202020204" pitchFamily="34" charset="0"/>
              </a:rPr>
              <a:t>свойствами ACID </a:t>
            </a:r>
            <a:r>
              <a:rPr lang="ru-RU" sz="2400" dirty="0">
                <a:solidFill>
                  <a:schemeClr val="tx1"/>
                </a:solidFill>
                <a:latin typeface="Arial" panose="020B0604020202020204" pitchFamily="34" charset="0"/>
                <a:cs typeface="Arial" panose="020B0604020202020204" pitchFamily="34" charset="0"/>
              </a:rPr>
              <a:t>(атомарность, согласованность, изоляция и долговечность </a:t>
            </a:r>
          </a:p>
          <a:p>
            <a:pPr algn="l">
              <a:lnSpc>
                <a:spcPct val="120000"/>
              </a:lnSpc>
              <a:spcBef>
                <a:spcPts val="600"/>
              </a:spcBef>
              <a:buFont typeface="Wingdings" panose="05000000000000000000" pitchFamily="2" charset="2"/>
              <a:buChar char="q"/>
            </a:pPr>
            <a:r>
              <a:rPr lang="ru-RU" sz="2400" dirty="0">
                <a:solidFill>
                  <a:schemeClr val="tx1"/>
                </a:solidFill>
                <a:latin typeface="Arial" panose="020B0604020202020204" pitchFamily="34" charset="0"/>
                <a:cs typeface="Arial" panose="020B0604020202020204" pitchFamily="34" charset="0"/>
              </a:rPr>
              <a:t>Отвечая за согласованность базы данных, средства управления транзакциями решают две задачи: </a:t>
            </a:r>
          </a:p>
          <a:p>
            <a:pPr lvl="1">
              <a:lnSpc>
                <a:spcPct val="120000"/>
              </a:lnSpc>
              <a:spcBef>
                <a:spcPts val="600"/>
              </a:spcBef>
              <a:buFont typeface="Wingdings" panose="05000000000000000000" pitchFamily="2" charset="2"/>
              <a:buChar char="Ø"/>
            </a:pPr>
            <a:r>
              <a:rPr lang="ru-RU" sz="2400" dirty="0">
                <a:solidFill>
                  <a:schemeClr val="tx1"/>
                </a:solidFill>
                <a:latin typeface="Arial" panose="020B0604020202020204" pitchFamily="34" charset="0"/>
                <a:cs typeface="Arial" panose="020B0604020202020204" pitchFamily="34" charset="0"/>
              </a:rPr>
              <a:t>поддержка базы данных в согласованном состоянии при нормальной работе системы; </a:t>
            </a:r>
          </a:p>
          <a:p>
            <a:pPr lvl="1">
              <a:lnSpc>
                <a:spcPct val="120000"/>
              </a:lnSpc>
              <a:spcBef>
                <a:spcPts val="600"/>
              </a:spcBef>
              <a:buFont typeface="Wingdings" panose="05000000000000000000" pitchFamily="2" charset="2"/>
              <a:buChar char="Ø"/>
            </a:pPr>
            <a:r>
              <a:rPr lang="ru-RU" sz="2400" dirty="0">
                <a:solidFill>
                  <a:schemeClr val="tx1"/>
                </a:solidFill>
                <a:latin typeface="Arial" panose="020B0604020202020204" pitchFamily="34" charset="0"/>
                <a:cs typeface="Arial" panose="020B0604020202020204" pitchFamily="34" charset="0"/>
              </a:rPr>
              <a:t>восстановление согласованного состояния при отказах (транзакций, системы или носителя данных). </a:t>
            </a:r>
          </a:p>
          <a:p>
            <a:pPr algn="l">
              <a:lnSpc>
                <a:spcPct val="120000"/>
              </a:lnSpc>
              <a:spcBef>
                <a:spcPts val="600"/>
              </a:spcBef>
              <a:buFont typeface="Wingdings" panose="05000000000000000000" pitchFamily="2" charset="2"/>
              <a:buChar char="q"/>
            </a:pPr>
            <a:r>
              <a:rPr lang="ru-RU" sz="2400" dirty="0">
                <a:solidFill>
                  <a:schemeClr val="tx1"/>
                </a:solidFill>
                <a:latin typeface="Arial" panose="020B0604020202020204" pitchFamily="34" charset="0"/>
                <a:cs typeface="Arial" panose="020B0604020202020204" pitchFamily="34" charset="0"/>
              </a:rPr>
              <a:t>При этом предполагается, что </a:t>
            </a:r>
            <a:r>
              <a:rPr lang="ru-RU" sz="2400" b="1" dirty="0">
                <a:solidFill>
                  <a:schemeClr val="tx1"/>
                </a:solidFill>
                <a:latin typeface="Arial" panose="020B0604020202020204" pitchFamily="34" charset="0"/>
                <a:cs typeface="Arial" panose="020B0604020202020204" pitchFamily="34" charset="0"/>
              </a:rPr>
              <a:t>атомарность отдельных операций</a:t>
            </a:r>
            <a:r>
              <a:rPr lang="ru-RU" sz="2400" dirty="0">
                <a:solidFill>
                  <a:schemeClr val="tx1"/>
                </a:solidFill>
                <a:latin typeface="Arial" panose="020B0604020202020204" pitchFamily="34" charset="0"/>
                <a:cs typeface="Arial" panose="020B0604020202020204" pitchFamily="34" charset="0"/>
              </a:rPr>
              <a:t>, входящих в транзакции, обеспечивается на другом уровне. </a:t>
            </a:r>
          </a:p>
          <a:p>
            <a:pPr algn="l">
              <a:lnSpc>
                <a:spcPct val="120000"/>
              </a:lnSpc>
              <a:spcBef>
                <a:spcPts val="600"/>
              </a:spcBef>
              <a:buFont typeface="Wingdings" panose="05000000000000000000" pitchFamily="2" charset="2"/>
              <a:buChar char="q"/>
            </a:pPr>
            <a:r>
              <a:rPr lang="ru-RU" sz="2400" dirty="0">
                <a:solidFill>
                  <a:schemeClr val="tx1"/>
                </a:solidFill>
                <a:latin typeface="Arial" panose="020B0604020202020204" pitchFamily="34" charset="0"/>
                <a:cs typeface="Arial" panose="020B0604020202020204" pitchFamily="34" charset="0"/>
              </a:rPr>
              <a:t>Фактически же даже самые простые операции, рассматриваемые в теории транзакций, реализуются в многоуровневой системе, включающей как программные, так и аппаратные компоненты. </a:t>
            </a:r>
          </a:p>
          <a:p>
            <a:pPr algn="l">
              <a:lnSpc>
                <a:spcPct val="120000"/>
              </a:lnSpc>
              <a:spcBef>
                <a:spcPts val="600"/>
              </a:spcBef>
              <a:buFont typeface="Wingdings" panose="05000000000000000000" pitchFamily="2" charset="2"/>
              <a:buChar char="q"/>
            </a:pPr>
            <a:r>
              <a:rPr lang="ru-RU" sz="2400" dirty="0">
                <a:solidFill>
                  <a:schemeClr val="tx1"/>
                </a:solidFill>
                <a:latin typeface="Arial" panose="020B0604020202020204" pitchFamily="34" charset="0"/>
                <a:cs typeface="Arial" panose="020B0604020202020204" pitchFamily="34" charset="0"/>
              </a:rPr>
              <a:t>Поэтому предположение об атомарности этих операций может оказаться </a:t>
            </a:r>
            <a:r>
              <a:rPr lang="ru-RU" sz="2400" b="1" i="1" dirty="0">
                <a:solidFill>
                  <a:schemeClr val="tx1"/>
                </a:solidFill>
                <a:latin typeface="Arial" panose="020B0604020202020204" pitchFamily="34" charset="0"/>
                <a:cs typeface="Arial" panose="020B0604020202020204" pitchFamily="34" charset="0"/>
              </a:rPr>
              <a:t>далеким от реальности</a:t>
            </a:r>
            <a:r>
              <a:rPr lang="ru-RU" sz="2400" dirty="0">
                <a:solidFill>
                  <a:schemeClr val="tx1"/>
                </a:solidFill>
                <a:latin typeface="Arial" panose="020B0604020202020204" pitchFamily="34" charset="0"/>
                <a:cs typeface="Arial" panose="020B0604020202020204" pitchFamily="34" charset="0"/>
              </a:rPr>
              <a:t>. </a:t>
            </a:r>
          </a:p>
          <a:p>
            <a:pPr algn="l">
              <a:lnSpc>
                <a:spcPct val="120000"/>
              </a:lnSpc>
              <a:spcBef>
                <a:spcPts val="600"/>
              </a:spcBef>
              <a:buFont typeface="Wingdings" panose="05000000000000000000" pitchFamily="2" charset="2"/>
              <a:buChar char="q"/>
            </a:pPr>
            <a:r>
              <a:rPr lang="ru-RU" sz="2400" dirty="0">
                <a:solidFill>
                  <a:schemeClr val="tx1"/>
                </a:solidFill>
                <a:latin typeface="Arial" panose="020B0604020202020204" pitchFamily="34" charset="0"/>
                <a:cs typeface="Arial" panose="020B0604020202020204" pitchFamily="34" charset="0"/>
              </a:rPr>
              <a:t>Тем не менее </a:t>
            </a:r>
            <a:r>
              <a:rPr lang="ru-RU" sz="2400" b="1" dirty="0">
                <a:solidFill>
                  <a:schemeClr val="tx1"/>
                </a:solidFill>
                <a:latin typeface="Arial" panose="020B0604020202020204" pitchFamily="34" charset="0"/>
                <a:cs typeface="Arial" panose="020B0604020202020204" pitchFamily="34" charset="0"/>
              </a:rPr>
              <a:t>другие проблемы</a:t>
            </a:r>
            <a:r>
              <a:rPr lang="ru-RU" sz="2400" dirty="0">
                <a:solidFill>
                  <a:schemeClr val="tx1"/>
                </a:solidFill>
                <a:latin typeface="Arial" panose="020B0604020202020204" pitchFamily="34" charset="0"/>
                <a:cs typeface="Arial" panose="020B0604020202020204" pitchFamily="34" charset="0"/>
              </a:rPr>
              <a:t>, которые удается теоретически решить потенциально встречаются на много порядков чаще, чем проблемы, связанные с фактической </a:t>
            </a:r>
            <a:r>
              <a:rPr lang="ru-RU" sz="2400" i="1" dirty="0" err="1">
                <a:solidFill>
                  <a:schemeClr val="tx1"/>
                </a:solidFill>
                <a:latin typeface="Arial" panose="020B0604020202020204" pitchFamily="34" charset="0"/>
                <a:cs typeface="Arial" panose="020B0604020202020204" pitchFamily="34" charset="0"/>
              </a:rPr>
              <a:t>неатомарностью</a:t>
            </a:r>
            <a:r>
              <a:rPr lang="ru-RU" sz="2400" dirty="0">
                <a:solidFill>
                  <a:schemeClr val="tx1"/>
                </a:solidFill>
                <a:latin typeface="Arial" panose="020B0604020202020204" pitchFamily="34" charset="0"/>
                <a:cs typeface="Arial" panose="020B0604020202020204" pitchFamily="34" charset="0"/>
              </a:rPr>
              <a:t> базовых операций.</a:t>
            </a:r>
          </a:p>
          <a:p>
            <a:pPr algn="l">
              <a:lnSpc>
                <a:spcPct val="120000"/>
              </a:lnSpc>
              <a:spcBef>
                <a:spcPts val="600"/>
              </a:spcBef>
              <a:buFont typeface="Wingdings" panose="05000000000000000000" pitchFamily="2" charset="2"/>
              <a:buChar char="q"/>
            </a:pPr>
            <a:r>
              <a:rPr lang="ru-RU" sz="2400" dirty="0">
                <a:solidFill>
                  <a:schemeClr val="tx1"/>
                </a:solidFill>
                <a:latin typeface="Arial" panose="020B0604020202020204" pitchFamily="34" charset="0"/>
                <a:cs typeface="Arial" panose="020B0604020202020204" pitchFamily="34" charset="0"/>
              </a:rPr>
              <a:t>Поэтому далее будем с считать, что атомарность </a:t>
            </a:r>
            <a:r>
              <a:rPr lang="ru-RU" sz="2400" b="1" dirty="0">
                <a:solidFill>
                  <a:schemeClr val="tx1"/>
                </a:solidFill>
                <a:latin typeface="Arial" panose="020B0604020202020204" pitchFamily="34" charset="0"/>
                <a:cs typeface="Arial" panose="020B0604020202020204" pitchFamily="34" charset="0"/>
              </a:rPr>
              <a:t>отдельных операций</a:t>
            </a:r>
            <a:r>
              <a:rPr lang="ru-RU" sz="2400" dirty="0">
                <a:solidFill>
                  <a:schemeClr val="tx1"/>
                </a:solidFill>
                <a:latin typeface="Arial" panose="020B0604020202020204" pitchFamily="34" charset="0"/>
                <a:cs typeface="Arial" panose="020B0604020202020204" pitchFamily="34" charset="0"/>
              </a:rPr>
              <a:t>, имеет место. </a:t>
            </a:r>
          </a:p>
        </p:txBody>
      </p:sp>
      <p:sp>
        <p:nvSpPr>
          <p:cNvPr id="4" name="Нижний колонтитул 3">
            <a:extLst>
              <a:ext uri="{FF2B5EF4-FFF2-40B4-BE49-F238E27FC236}">
                <a16:creationId xmlns:a16="http://schemas.microsoft.com/office/drawing/2014/main" id="{A783B3C2-F99A-3F93-2B6B-541CEF198F00}"/>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8998EA4-7853-C936-79B7-C34672FB3D6A}"/>
              </a:ext>
            </a:extLst>
          </p:cNvPr>
          <p:cNvSpPr>
            <a:spLocks noGrp="1"/>
          </p:cNvSpPr>
          <p:nvPr>
            <p:ph type="sldNum" sz="quarter" idx="12"/>
          </p:nvPr>
        </p:nvSpPr>
        <p:spPr/>
        <p:txBody>
          <a:bodyPr/>
          <a:lstStyle/>
          <a:p>
            <a:fld id="{667D74AF-8CFA-41E7-84BA-34814A01EACF}" type="slidenum">
              <a:rPr lang="ru-RU" smtClean="0"/>
              <a:t>2</a:t>
            </a:fld>
            <a:endParaRPr lang="ru-RU"/>
          </a:p>
        </p:txBody>
      </p:sp>
    </p:spTree>
    <p:extLst>
      <p:ext uri="{BB962C8B-B14F-4D97-AF65-F5344CB8AC3E}">
        <p14:creationId xmlns:p14="http://schemas.microsoft.com/office/powerpoint/2010/main" val="1665849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40710"/>
            <a:ext cx="12045863" cy="1005214"/>
          </a:xfrm>
        </p:spPr>
        <p:txBody>
          <a:bodyPr>
            <a:noAutofit/>
          </a:bodyPr>
          <a:lstStyle/>
          <a:p>
            <a:r>
              <a:rPr lang="ru-RU" sz="3600" dirty="0"/>
              <a:t>Формальные модели корректности</a:t>
            </a:r>
            <a:endParaRPr lang="ru-RU" sz="3600"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497908" y="964505"/>
            <a:ext cx="11489499" cy="5893496"/>
          </a:xfrm>
        </p:spPr>
        <p:txBody>
          <a:bodyPr>
            <a:normAutofit fontScale="92500"/>
          </a:bodyPr>
          <a:lstStyle/>
          <a:p>
            <a:pPr algn="l">
              <a:lnSpc>
                <a:spcPct val="120000"/>
              </a:lnSpc>
              <a:spcBef>
                <a:spcPts val="600"/>
              </a:spcBef>
              <a:buFont typeface="Wingdings" panose="05000000000000000000" pitchFamily="2" charset="2"/>
              <a:buChar char="q"/>
            </a:pPr>
            <a:r>
              <a:rPr lang="ru-RU" dirty="0">
                <a:latin typeface="Arial" panose="020B0604020202020204" pitchFamily="34" charset="0"/>
                <a:cs typeface="Arial" panose="020B0604020202020204" pitchFamily="34" charset="0"/>
              </a:rPr>
              <a:t>Идеальная картина, которую будем рассматривать существенно отличается от регламентированной стандартом SQL и отличается от реализаций в СУБД, в том числе и в </a:t>
            </a:r>
            <a:r>
              <a:rPr lang="ru-RU" dirty="0" err="1">
                <a:latin typeface="Arial" panose="020B0604020202020204" pitchFamily="34" charset="0"/>
                <a:cs typeface="Arial" panose="020B0604020202020204" pitchFamily="34" charset="0"/>
              </a:rPr>
              <a:t>PostgreSQL</a:t>
            </a:r>
            <a:r>
              <a:rPr lang="ru-RU" dirty="0">
                <a:latin typeface="Arial" panose="020B0604020202020204" pitchFamily="34" charset="0"/>
                <a:cs typeface="Arial" panose="020B0604020202020204" pitchFamily="34" charset="0"/>
              </a:rPr>
              <a:t>. </a:t>
            </a:r>
          </a:p>
          <a:p>
            <a:pPr algn="l">
              <a:lnSpc>
                <a:spcPct val="120000"/>
              </a:lnSpc>
              <a:spcBef>
                <a:spcPts val="600"/>
              </a:spcBef>
              <a:buFont typeface="Wingdings" panose="05000000000000000000" pitchFamily="2" charset="2"/>
              <a:buChar char="q"/>
            </a:pPr>
            <a:r>
              <a:rPr lang="ru-RU" dirty="0">
                <a:latin typeface="Arial" panose="020B0604020202020204" pitchFamily="34" charset="0"/>
                <a:cs typeface="Arial" panose="020B0604020202020204" pitchFamily="34" charset="0"/>
              </a:rPr>
              <a:t>Самое важное отличие состоит в том, что </a:t>
            </a:r>
          </a:p>
          <a:p>
            <a:pPr lvl="1">
              <a:lnSpc>
                <a:spcPct val="120000"/>
              </a:lnSpc>
              <a:spcBef>
                <a:spcPts val="600"/>
              </a:spcBef>
              <a:buFont typeface="Wingdings" panose="05000000000000000000" pitchFamily="2" charset="2"/>
              <a:buChar char="Ø"/>
            </a:pPr>
            <a:r>
              <a:rPr lang="ru-RU" dirty="0">
                <a:latin typeface="Arial" panose="020B0604020202020204" pitchFamily="34" charset="0"/>
                <a:cs typeface="Arial" panose="020B0604020202020204" pitchFamily="34" charset="0"/>
              </a:rPr>
              <a:t>теория основана на анализе значений вырабатываемых в результате выполнения операций и записываемых в базу данных, </a:t>
            </a:r>
          </a:p>
          <a:p>
            <a:pPr lvl="1">
              <a:lnSpc>
                <a:spcPct val="120000"/>
              </a:lnSpc>
              <a:spcBef>
                <a:spcPts val="600"/>
              </a:spcBef>
              <a:buFont typeface="Wingdings" panose="05000000000000000000" pitchFamily="2" charset="2"/>
              <a:buChar char="Ø"/>
            </a:pPr>
            <a:r>
              <a:rPr lang="ru-RU" dirty="0">
                <a:latin typeface="Arial" panose="020B0604020202020204" pitchFamily="34" charset="0"/>
                <a:cs typeface="Arial" panose="020B0604020202020204" pitchFamily="34" charset="0"/>
              </a:rPr>
              <a:t>а требования стандарта SQL формулируются в терминах </a:t>
            </a:r>
            <a:r>
              <a:rPr lang="ru-RU" b="1" dirty="0">
                <a:latin typeface="Arial" panose="020B0604020202020204" pitchFamily="34" charset="0"/>
                <a:cs typeface="Arial" panose="020B0604020202020204" pitchFamily="34" charset="0"/>
              </a:rPr>
              <a:t>запрета на различные аномалии</a:t>
            </a:r>
            <a:r>
              <a:rPr lang="ru-RU" dirty="0">
                <a:latin typeface="Arial" panose="020B0604020202020204" pitchFamily="34" charset="0"/>
                <a:cs typeface="Arial" panose="020B0604020202020204" pitchFamily="34" charset="0"/>
              </a:rPr>
              <a:t>, которые потенциально возможны при конкурентном выполнении. </a:t>
            </a:r>
          </a:p>
          <a:p>
            <a:pPr algn="l">
              <a:lnSpc>
                <a:spcPct val="120000"/>
              </a:lnSpc>
              <a:spcBef>
                <a:spcPts val="600"/>
              </a:spcBef>
              <a:buFont typeface="Wingdings" panose="05000000000000000000" pitchFamily="2" charset="2"/>
              <a:buChar char="q"/>
            </a:pPr>
            <a:r>
              <a:rPr lang="ru-RU" dirty="0">
                <a:latin typeface="Arial" panose="020B0604020202020204" pitchFamily="34" charset="0"/>
                <a:cs typeface="Arial" panose="020B0604020202020204" pitchFamily="34" charset="0"/>
              </a:rPr>
              <a:t>Мы рассмотрим это более детально при обсуждении ослабленных критериев корректности.</a:t>
            </a:r>
            <a:endParaRPr lang="ru-RU" dirty="0">
              <a:solidFill>
                <a:schemeClr val="tx1"/>
              </a:solidFill>
              <a:latin typeface="Arial" panose="020B0604020202020204" pitchFamily="34" charset="0"/>
              <a:cs typeface="Arial" panose="020B0604020202020204" pitchFamily="34" charset="0"/>
            </a:endParaRPr>
          </a:p>
        </p:txBody>
      </p:sp>
      <p:sp>
        <p:nvSpPr>
          <p:cNvPr id="4" name="Нижний колонтитул 3">
            <a:extLst>
              <a:ext uri="{FF2B5EF4-FFF2-40B4-BE49-F238E27FC236}">
                <a16:creationId xmlns:a16="http://schemas.microsoft.com/office/drawing/2014/main" id="{FE203050-E3E7-441C-62C0-F3420BD697E0}"/>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p:txBody>
          <a:bodyPr/>
          <a:lstStyle/>
          <a:p>
            <a:fld id="{667D74AF-8CFA-41E7-84BA-34814A01EACF}" type="slidenum">
              <a:rPr lang="ru-RU" smtClean="0"/>
              <a:t>3</a:t>
            </a:fld>
            <a:endParaRPr lang="ru-RU"/>
          </a:p>
        </p:txBody>
      </p:sp>
    </p:spTree>
    <p:extLst>
      <p:ext uri="{BB962C8B-B14F-4D97-AF65-F5344CB8AC3E}">
        <p14:creationId xmlns:p14="http://schemas.microsoft.com/office/powerpoint/2010/main" val="2120553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40710"/>
            <a:ext cx="12045863" cy="1005214"/>
          </a:xfrm>
        </p:spPr>
        <p:txBody>
          <a:bodyPr>
            <a:noAutofit/>
          </a:bodyPr>
          <a:lstStyle/>
          <a:p>
            <a:r>
              <a:rPr lang="ru-RU" sz="3600" dirty="0"/>
              <a:t>Формальные модели корректности</a:t>
            </a:r>
            <a:endParaRPr lang="ru-RU" sz="3600"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497908" y="964505"/>
            <a:ext cx="11489499" cy="5893496"/>
          </a:xfrm>
        </p:spPr>
        <p:txBody>
          <a:bodyPr>
            <a:normAutofit fontScale="70000" lnSpcReduction="20000"/>
          </a:bodyPr>
          <a:lstStyle/>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Классическая теория транзакций использует очень простую модель: </a:t>
            </a:r>
          </a:p>
          <a:p>
            <a:pPr lvl="1">
              <a:lnSpc>
                <a:spcPct val="120000"/>
              </a:lnSpc>
              <a:spcBef>
                <a:spcPts val="600"/>
              </a:spcBef>
              <a:buFont typeface="Wingdings" panose="05000000000000000000" pitchFamily="2" charset="2"/>
              <a:buChar char="Ø"/>
            </a:pPr>
            <a:r>
              <a:rPr lang="ru-RU" dirty="0">
                <a:solidFill>
                  <a:schemeClr val="tx1"/>
                </a:solidFill>
                <a:latin typeface="Arial" panose="020B0604020202020204" pitchFamily="34" charset="0"/>
                <a:cs typeface="Arial" panose="020B0604020202020204" pitchFamily="34" charset="0"/>
              </a:rPr>
              <a:t>считается, что база данных состоит из независимых и никак между собой не связанных элементов данных, которые обозначаются x, y, ... </a:t>
            </a:r>
          </a:p>
          <a:p>
            <a:pPr lvl="1">
              <a:lnSpc>
                <a:spcPct val="120000"/>
              </a:lnSpc>
              <a:spcBef>
                <a:spcPts val="600"/>
              </a:spcBef>
              <a:buFont typeface="Wingdings" panose="05000000000000000000" pitchFamily="2" charset="2"/>
              <a:buChar char="Ø"/>
            </a:pPr>
            <a:r>
              <a:rPr lang="ru-RU" dirty="0">
                <a:solidFill>
                  <a:schemeClr val="tx1"/>
                </a:solidFill>
                <a:latin typeface="Arial" panose="020B0604020202020204" pitchFamily="34" charset="0"/>
                <a:cs typeface="Arial" panose="020B0604020202020204" pitchFamily="34" charset="0"/>
              </a:rPr>
              <a:t>над этими элементами можно выполнять операции чтения r и записи w</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При этом </a:t>
            </a:r>
            <a:r>
              <a:rPr lang="ru-RU" b="1" dirty="0">
                <a:solidFill>
                  <a:schemeClr val="tx1"/>
                </a:solidFill>
                <a:latin typeface="Arial" panose="020B0604020202020204" pitchFamily="34" charset="0"/>
                <a:cs typeface="Arial" panose="020B0604020202020204" pitchFamily="34" charset="0"/>
              </a:rPr>
              <a:t>каждая операция </a:t>
            </a:r>
            <a:r>
              <a:rPr lang="ru-RU" dirty="0">
                <a:solidFill>
                  <a:schemeClr val="tx1"/>
                </a:solidFill>
                <a:latin typeface="Arial" panose="020B0604020202020204" pitchFamily="34" charset="0"/>
                <a:cs typeface="Arial" panose="020B0604020202020204" pitchFamily="34" charset="0"/>
              </a:rPr>
              <a:t>выполняется в рамках какой-либо транзакции</a:t>
            </a:r>
          </a:p>
          <a:p>
            <a:pPr lvl="1">
              <a:lnSpc>
                <a:spcPct val="120000"/>
              </a:lnSpc>
              <a:spcBef>
                <a:spcPts val="600"/>
              </a:spcBef>
              <a:buFont typeface="Wingdings" panose="05000000000000000000" pitchFamily="2" charset="2"/>
              <a:buChar char="Ø"/>
            </a:pPr>
            <a:r>
              <a:rPr lang="ru-RU" dirty="0">
                <a:solidFill>
                  <a:schemeClr val="tx1"/>
                </a:solidFill>
                <a:latin typeface="Arial" panose="020B0604020202020204" pitchFamily="34" charset="0"/>
                <a:cs typeface="Arial" panose="020B0604020202020204" pitchFamily="34" charset="0"/>
              </a:rPr>
              <a:t>Операция </a:t>
            </a:r>
            <a:r>
              <a:rPr lang="ru-RU" i="1" dirty="0">
                <a:solidFill>
                  <a:schemeClr val="tx1"/>
                </a:solidFill>
                <a:latin typeface="Courier New" panose="02070309020205020404" pitchFamily="49" charset="0"/>
                <a:cs typeface="Courier New" panose="02070309020205020404" pitchFamily="49" charset="0"/>
              </a:rPr>
              <a:t>r</a:t>
            </a:r>
            <a:r>
              <a:rPr lang="ru-RU" i="1" baseline="-25000" dirty="0">
                <a:solidFill>
                  <a:schemeClr val="tx1"/>
                </a:solidFill>
                <a:latin typeface="Courier New" panose="02070309020205020404" pitchFamily="49" charset="0"/>
                <a:cs typeface="Courier New" panose="02070309020205020404" pitchFamily="49" charset="0"/>
              </a:rPr>
              <a:t>1</a:t>
            </a:r>
            <a:r>
              <a:rPr lang="ru-RU" i="1" dirty="0">
                <a:solidFill>
                  <a:schemeClr val="tx1"/>
                </a:solidFill>
                <a:latin typeface="Courier New" panose="02070309020205020404" pitchFamily="49" charset="0"/>
                <a:cs typeface="Courier New" panose="02070309020205020404" pitchFamily="49" charset="0"/>
              </a:rPr>
              <a:t>(x) </a:t>
            </a:r>
            <a:r>
              <a:rPr lang="ru-RU" dirty="0">
                <a:solidFill>
                  <a:schemeClr val="tx1"/>
                </a:solidFill>
                <a:latin typeface="Arial" panose="020B0604020202020204" pitchFamily="34" charset="0"/>
                <a:cs typeface="Arial" panose="020B0604020202020204" pitchFamily="34" charset="0"/>
              </a:rPr>
              <a:t>относится к транзакции 1 и читает </a:t>
            </a:r>
            <a:r>
              <a:rPr lang="ru-RU" dirty="0">
                <a:solidFill>
                  <a:schemeClr val="tx1"/>
                </a:solidFill>
                <a:latin typeface="Courier New" panose="02070309020205020404" pitchFamily="49" charset="0"/>
                <a:cs typeface="Courier New" panose="02070309020205020404" pitchFamily="49" charset="0"/>
              </a:rPr>
              <a:t>x</a:t>
            </a:r>
            <a:r>
              <a:rPr lang="ru-RU" dirty="0">
                <a:solidFill>
                  <a:schemeClr val="tx1"/>
                </a:solidFill>
                <a:latin typeface="Arial" panose="020B0604020202020204" pitchFamily="34" charset="0"/>
                <a:cs typeface="Arial" panose="020B0604020202020204" pitchFamily="34" charset="0"/>
              </a:rPr>
              <a:t>, </a:t>
            </a:r>
          </a:p>
          <a:p>
            <a:pPr lvl="1">
              <a:lnSpc>
                <a:spcPct val="120000"/>
              </a:lnSpc>
              <a:spcBef>
                <a:spcPts val="600"/>
              </a:spcBef>
              <a:buFont typeface="Wingdings" panose="05000000000000000000" pitchFamily="2" charset="2"/>
              <a:buChar char="Ø"/>
            </a:pPr>
            <a:r>
              <a:rPr lang="ru-RU" dirty="0">
                <a:solidFill>
                  <a:schemeClr val="tx1"/>
                </a:solidFill>
                <a:latin typeface="Arial" panose="020B0604020202020204" pitchFamily="34" charset="0"/>
                <a:cs typeface="Arial" panose="020B0604020202020204" pitchFamily="34" charset="0"/>
              </a:rPr>
              <a:t>Операция </a:t>
            </a:r>
            <a:r>
              <a:rPr lang="ru-RU" i="1" dirty="0" err="1">
                <a:solidFill>
                  <a:schemeClr val="tx1"/>
                </a:solidFill>
                <a:latin typeface="Courier New" panose="02070309020205020404" pitchFamily="49" charset="0"/>
                <a:cs typeface="Courier New" panose="02070309020205020404" pitchFamily="49" charset="0"/>
              </a:rPr>
              <a:t>w</a:t>
            </a:r>
            <a:r>
              <a:rPr lang="ru-RU" i="1" baseline="-25000" dirty="0" err="1">
                <a:solidFill>
                  <a:schemeClr val="tx1"/>
                </a:solidFill>
                <a:latin typeface="Courier New" panose="02070309020205020404" pitchFamily="49" charset="0"/>
                <a:cs typeface="Courier New" panose="02070309020205020404" pitchFamily="49" charset="0"/>
              </a:rPr>
              <a:t>i</a:t>
            </a:r>
            <a:r>
              <a:rPr lang="ru-RU" i="1" dirty="0">
                <a:solidFill>
                  <a:schemeClr val="tx1"/>
                </a:solidFill>
                <a:latin typeface="Courier New" panose="02070309020205020404" pitchFamily="49" charset="0"/>
                <a:cs typeface="Courier New" panose="02070309020205020404" pitchFamily="49" charset="0"/>
              </a:rPr>
              <a:t>(y) </a:t>
            </a:r>
            <a:r>
              <a:rPr lang="ru-RU" dirty="0">
                <a:solidFill>
                  <a:schemeClr val="tx1"/>
                </a:solidFill>
                <a:latin typeface="Arial" panose="020B0604020202020204" pitchFamily="34" charset="0"/>
                <a:cs typeface="Arial" panose="020B0604020202020204" pitchFamily="34" charset="0"/>
              </a:rPr>
              <a:t>записывает y в транзакции </a:t>
            </a:r>
            <a:r>
              <a:rPr lang="ru-RU" i="1" dirty="0">
                <a:solidFill>
                  <a:schemeClr val="tx1"/>
                </a:solidFill>
                <a:latin typeface="Courier New" panose="02070309020205020404" pitchFamily="49" charset="0"/>
                <a:cs typeface="Courier New" panose="02070309020205020404" pitchFamily="49" charset="0"/>
              </a:rPr>
              <a:t>i</a:t>
            </a:r>
            <a:r>
              <a:rPr lang="ru-RU" dirty="0">
                <a:solidFill>
                  <a:schemeClr val="tx1"/>
                </a:solidFill>
                <a:latin typeface="Arial" panose="020B0604020202020204" pitchFamily="34" charset="0"/>
                <a:cs typeface="Arial" panose="020B0604020202020204" pitchFamily="34" charset="0"/>
              </a:rPr>
              <a:t>.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Отношение называется бинарным, если оно имеет два атрибута. В нашем случае эти атрибуты будут принимать значения </a:t>
            </a:r>
            <a:r>
              <a:rPr lang="ru-RU" b="1" dirty="0">
                <a:solidFill>
                  <a:schemeClr val="tx1"/>
                </a:solidFill>
                <a:latin typeface="Arial" panose="020B0604020202020204" pitchFamily="34" charset="0"/>
                <a:cs typeface="Arial" panose="020B0604020202020204" pitchFamily="34" charset="0"/>
              </a:rPr>
              <a:t>из одного домена</a:t>
            </a:r>
            <a:r>
              <a:rPr lang="ru-RU" dirty="0">
                <a:solidFill>
                  <a:schemeClr val="tx1"/>
                </a:solidFill>
                <a:latin typeface="Arial" panose="020B0604020202020204" pitchFamily="34" charset="0"/>
                <a:cs typeface="Arial" panose="020B0604020202020204" pitchFamily="34" charset="0"/>
              </a:rPr>
              <a:t>.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Для таких отношений знак, обозначающий отношение, обычно записывается между атрибутами. Простой пример такого отношения — отношение равенства a = b.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Несколько более широкий класс отношений — отношения эквивалентности.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Неформально можно сказать, что отношение эквивалентности разбивает множество объектов на группы, внутри каждой из которых объекты обладают совпадающими свойствами, а в разных группах эти свойства различаются.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Такие группы часто называют классами эквивалентности.</a:t>
            </a: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p:txBody>
          <a:bodyPr/>
          <a:lstStyle/>
          <a:p>
            <a:fld id="{667D74AF-8CFA-41E7-84BA-34814A01EACF}" type="slidenum">
              <a:rPr lang="ru-RU" smtClean="0"/>
              <a:t>4</a:t>
            </a:fld>
            <a:endParaRPr lang="ru-RU"/>
          </a:p>
        </p:txBody>
      </p:sp>
    </p:spTree>
    <p:extLst>
      <p:ext uri="{BB962C8B-B14F-4D97-AF65-F5344CB8AC3E}">
        <p14:creationId xmlns:p14="http://schemas.microsoft.com/office/powerpoint/2010/main" val="1012042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40710"/>
            <a:ext cx="12045863" cy="822652"/>
          </a:xfrm>
        </p:spPr>
        <p:txBody>
          <a:bodyPr>
            <a:noAutofit/>
          </a:bodyPr>
          <a:lstStyle/>
          <a:p>
            <a:r>
              <a:rPr lang="ru-RU" sz="3600" dirty="0"/>
              <a:t>Формальные модели корректности</a:t>
            </a:r>
            <a:endParaRPr lang="ru-RU" sz="3600"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411792" y="781942"/>
            <a:ext cx="11514552" cy="5756971"/>
          </a:xfrm>
        </p:spPr>
        <p:txBody>
          <a:bodyPr>
            <a:normAutofit fontScale="70000" lnSpcReduction="20000"/>
          </a:bodyPr>
          <a:lstStyle/>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Отношение R называется симметричным, если из a R b следует, что верно и b R a (т. е. отношение сохраняется при перестановке атрибутов), и называется антисимметричным, если из a R b следует, что b R a не выполняется.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Отношение R называется транзитивным, если из a R b и b R c следует, что a R c.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Например, отношение равенства является транзитивным и симметричным.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Отношение называется отношением порядка или упорядочением, если оно антисимметрично и транзитивно.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Такие отношения часто обозначаются каким-либо знаком, похожим на знак «меньше», например &lt; или ≺ .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Запись a &lt; b можно читать как «a предшествует b».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Упорядоченность называется полной, если для любой пары несовпадающих объектов либо a &lt; b, либо b &lt; a.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Если могут быть пары, для которых не верно ни то ни другое, то упорядочение называется частичным.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Например, </a:t>
            </a:r>
            <a:r>
              <a:rPr lang="ru-RU" b="1" dirty="0">
                <a:solidFill>
                  <a:schemeClr val="tx1"/>
                </a:solidFill>
                <a:latin typeface="Arial" panose="020B0604020202020204" pitchFamily="34" charset="0"/>
                <a:cs typeface="Arial" panose="020B0604020202020204" pitchFamily="34" charset="0"/>
              </a:rPr>
              <a:t>упорядочение вещественных чисел является полным</a:t>
            </a:r>
            <a:r>
              <a:rPr lang="ru-RU" dirty="0">
                <a:solidFill>
                  <a:schemeClr val="tx1"/>
                </a:solidFill>
                <a:latin typeface="Arial" panose="020B0604020202020204" pitchFamily="34" charset="0"/>
                <a:cs typeface="Arial" panose="020B0604020202020204" pitchFamily="34" charset="0"/>
              </a:rPr>
              <a:t>, а отношение </a:t>
            </a:r>
            <a:r>
              <a:rPr lang="ru-RU" b="1" dirty="0">
                <a:solidFill>
                  <a:schemeClr val="tx1"/>
                </a:solidFill>
                <a:latin typeface="Arial" panose="020B0604020202020204" pitchFamily="34" charset="0"/>
                <a:cs typeface="Arial" panose="020B0604020202020204" pitchFamily="34" charset="0"/>
              </a:rPr>
              <a:t>вложенности подмножеств A ⊂ B является частичным упорядочением</a:t>
            </a:r>
            <a:r>
              <a:rPr lang="ru-RU" dirty="0">
                <a:solidFill>
                  <a:schemeClr val="tx1"/>
                </a:solidFill>
                <a:latin typeface="Arial" panose="020B0604020202020204" pitchFamily="34" charset="0"/>
                <a:cs typeface="Arial" panose="020B0604020202020204" pitchFamily="34" charset="0"/>
              </a:rPr>
              <a:t>.</a:t>
            </a: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p:txBody>
          <a:bodyPr/>
          <a:lstStyle/>
          <a:p>
            <a:fld id="{667D74AF-8CFA-41E7-84BA-34814A01EACF}" type="slidenum">
              <a:rPr lang="ru-RU" smtClean="0"/>
              <a:t>5</a:t>
            </a:fld>
            <a:endParaRPr lang="ru-RU"/>
          </a:p>
        </p:txBody>
      </p:sp>
    </p:spTree>
    <p:extLst>
      <p:ext uri="{BB962C8B-B14F-4D97-AF65-F5344CB8AC3E}">
        <p14:creationId xmlns:p14="http://schemas.microsoft.com/office/powerpoint/2010/main" val="665194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411792" y="1139644"/>
            <a:ext cx="11514552" cy="4859004"/>
          </a:xfrm>
        </p:spPr>
        <p:txBody>
          <a:bodyPr>
            <a:normAutofit/>
          </a:bodyPr>
          <a:lstStyle/>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Предполагается, что </a:t>
            </a:r>
            <a:r>
              <a:rPr lang="ru-RU" b="1" dirty="0">
                <a:solidFill>
                  <a:schemeClr val="tx1"/>
                </a:solidFill>
                <a:latin typeface="Arial" panose="020B0604020202020204" pitchFamily="34" charset="0"/>
                <a:cs typeface="Arial" panose="020B0604020202020204" pitchFamily="34" charset="0"/>
              </a:rPr>
              <a:t>операции транзакции частично упорядочены </a:t>
            </a:r>
            <a:r>
              <a:rPr lang="ru-RU" dirty="0">
                <a:solidFill>
                  <a:schemeClr val="tx1"/>
                </a:solidFill>
                <a:latin typeface="Arial" panose="020B0604020202020204" pitchFamily="34" charset="0"/>
                <a:cs typeface="Arial" panose="020B0604020202020204" pitchFamily="34" charset="0"/>
              </a:rPr>
              <a:t>отношением предшествования, а </a:t>
            </a:r>
            <a:r>
              <a:rPr lang="ru-RU" b="1" dirty="0">
                <a:solidFill>
                  <a:schemeClr val="tx1"/>
                </a:solidFill>
                <a:latin typeface="Arial" panose="020B0604020202020204" pitchFamily="34" charset="0"/>
                <a:cs typeface="Arial" panose="020B0604020202020204" pitchFamily="34" charset="0"/>
              </a:rPr>
              <a:t>операции над каждым элементом данных упорядочены полностью</a:t>
            </a:r>
            <a:r>
              <a:rPr lang="ru-RU" dirty="0">
                <a:solidFill>
                  <a:schemeClr val="tx1"/>
                </a:solidFill>
                <a:latin typeface="Arial" panose="020B0604020202020204" pitchFamily="34" charset="0"/>
                <a:cs typeface="Arial" panose="020B0604020202020204" pitchFamily="34" charset="0"/>
              </a:rPr>
              <a:t>.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Отказ от полной упорядоченности всех операций дает возможность применять теорию в случае, когда по логике транзакции допустимо и технически возможно параллельное (или псевдопараллельное) выполнение.</a:t>
            </a: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p:txBody>
          <a:bodyPr/>
          <a:lstStyle/>
          <a:p>
            <a:fld id="{667D74AF-8CFA-41E7-84BA-34814A01EACF}" type="slidenum">
              <a:rPr lang="ru-RU" smtClean="0"/>
              <a:t>6</a:t>
            </a:fld>
            <a:endParaRPr lang="ru-RU"/>
          </a:p>
        </p:txBody>
      </p:sp>
      <p:sp>
        <p:nvSpPr>
          <p:cNvPr id="7" name="Заголовок 1">
            <a:extLst>
              <a:ext uri="{FF2B5EF4-FFF2-40B4-BE49-F238E27FC236}">
                <a16:creationId xmlns:a16="http://schemas.microsoft.com/office/drawing/2014/main" id="{A4278815-F933-E5E9-70D2-22B3D0767370}"/>
              </a:ext>
            </a:extLst>
          </p:cNvPr>
          <p:cNvSpPr txBox="1">
            <a:spLocks/>
          </p:cNvSpPr>
          <p:nvPr/>
        </p:nvSpPr>
        <p:spPr>
          <a:xfrm>
            <a:off x="146137" y="-40710"/>
            <a:ext cx="12045863" cy="82265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b="1" kern="1200" cap="none" spc="0">
                <a:ln w="18415" cmpd="sng">
                  <a:solidFill>
                    <a:srgbClr val="0066FF"/>
                  </a:solidFill>
                  <a:prstDash val="solid"/>
                </a:ln>
                <a:solidFill>
                  <a:srgbClr val="FFFFFF"/>
                </a:solidFill>
                <a:effectLst>
                  <a:outerShdw blurRad="63500" dir="3600000" algn="tl" rotWithShape="0">
                    <a:srgbClr val="000000">
                      <a:alpha val="70000"/>
                    </a:srgbClr>
                  </a:outerShdw>
                </a:effectLst>
                <a:latin typeface="+mj-lt"/>
                <a:ea typeface="+mj-ea"/>
                <a:cs typeface="+mj-cs"/>
              </a:defRPr>
            </a:lvl1pPr>
          </a:lstStyle>
          <a:p>
            <a:r>
              <a:rPr lang="ru-RU" sz="3200">
                <a:latin typeface="Arial" panose="020B0604020202020204" pitchFamily="34" charset="0"/>
                <a:cs typeface="Arial" panose="020B0604020202020204" pitchFamily="34" charset="0"/>
              </a:rPr>
              <a:t>Частичное упорядочение операций в транзакциях</a:t>
            </a:r>
            <a:endParaRPr lang="ru-RU"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1834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40710"/>
            <a:ext cx="12045863" cy="822652"/>
          </a:xfrm>
        </p:spPr>
        <p:txBody>
          <a:bodyPr>
            <a:noAutofit/>
          </a:bodyPr>
          <a:lstStyle/>
          <a:p>
            <a:r>
              <a:rPr lang="ru-RU" sz="3200" dirty="0">
                <a:latin typeface="Arial" panose="020B0604020202020204" pitchFamily="34" charset="0"/>
                <a:cs typeface="Arial" panose="020B0604020202020204" pitchFamily="34" charset="0"/>
              </a:rPr>
              <a:t>Частичное упорядочение операций в транзакциях</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411792" y="781942"/>
            <a:ext cx="11514552" cy="5756971"/>
          </a:xfrm>
        </p:spPr>
        <p:txBody>
          <a:bodyPr>
            <a:normAutofit/>
          </a:bodyPr>
          <a:lstStyle/>
          <a:p>
            <a:pPr algn="l">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В транзакциях ниже операции чтения r1(x), r1(y) и операции записи w1(x), w1(y) не связаны отношением упорядоченности и поэтому могут выполняться параллельно; </a:t>
            </a:r>
          </a:p>
          <a:p>
            <a:pPr algn="l">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во второй транзакции операции r2(x), r2(y) также могут выполняться параллельно. Однако все операции чтения должны предшествовать всем операциям записи в этих транзакциях</a:t>
            </a: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p:txBody>
          <a:bodyPr/>
          <a:lstStyle/>
          <a:p>
            <a:fld id="{667D74AF-8CFA-41E7-84BA-34814A01EACF}" type="slidenum">
              <a:rPr lang="ru-RU" smtClean="0"/>
              <a:t>7</a:t>
            </a:fld>
            <a:endParaRPr lang="ru-RU"/>
          </a:p>
        </p:txBody>
      </p:sp>
      <p:pic>
        <p:nvPicPr>
          <p:cNvPr id="6" name="Рисунок 5">
            <a:extLst>
              <a:ext uri="{FF2B5EF4-FFF2-40B4-BE49-F238E27FC236}">
                <a16:creationId xmlns:a16="http://schemas.microsoft.com/office/drawing/2014/main" id="{1C3315F3-81F9-168D-9CE0-12695F04CD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0163" y="3547687"/>
            <a:ext cx="7134896" cy="3064157"/>
          </a:xfrm>
          <a:prstGeom prst="rect">
            <a:avLst/>
          </a:prstGeom>
        </p:spPr>
      </p:pic>
    </p:spTree>
    <p:extLst>
      <p:ext uri="{BB962C8B-B14F-4D97-AF65-F5344CB8AC3E}">
        <p14:creationId xmlns:p14="http://schemas.microsoft.com/office/powerpoint/2010/main" val="1724241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40710"/>
            <a:ext cx="12045863" cy="822652"/>
          </a:xfrm>
        </p:spPr>
        <p:txBody>
          <a:bodyPr>
            <a:noAutofit/>
          </a:bodyPr>
          <a:lstStyle/>
          <a:p>
            <a:r>
              <a:rPr lang="ru-RU" sz="3200" dirty="0">
                <a:latin typeface="Arial" panose="020B0604020202020204" pitchFamily="34" charset="0"/>
                <a:cs typeface="Arial" panose="020B0604020202020204" pitchFamily="34" charset="0"/>
              </a:rPr>
              <a:t>Частичное упорядочение операций в транзакциях</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411792" y="656823"/>
            <a:ext cx="11514552" cy="6064653"/>
          </a:xfrm>
        </p:spPr>
        <p:txBody>
          <a:bodyPr>
            <a:normAutofit fontScale="62500" lnSpcReduction="20000"/>
          </a:bodyPr>
          <a:lstStyle/>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В транзакциях ниже операции чтения r1(x), r1(y) и операции записи w1(x), w1(y) не связаны отношением упорядоченности и поэтому могут выполняться параллельно;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Во второй транзакции операции r2(x), r2(y) также могут выполняться параллельно. Однако все операции чтения должны предшествовать всем операциям записи в этих транзакциях</a:t>
            </a: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Можно записать эти транзакции как полностью упорядоченные (несколькими разными способами), например </a:t>
            </a:r>
          </a:p>
          <a:p>
            <a:pPr marL="0" indent="0" algn="l">
              <a:lnSpc>
                <a:spcPct val="120000"/>
              </a:lnSpc>
              <a:spcBef>
                <a:spcPts val="600"/>
              </a:spcBef>
              <a:buNone/>
            </a:pPr>
            <a:r>
              <a:rPr lang="ru-RU" dirty="0">
                <a:solidFill>
                  <a:schemeClr val="tx1"/>
                </a:solidFill>
                <a:latin typeface="Arial" panose="020B0604020202020204" pitchFamily="34" charset="0"/>
                <a:cs typeface="Arial" panose="020B0604020202020204" pitchFamily="34" charset="0"/>
              </a:rPr>
              <a:t>		для первой транзакции 	и для второй. </a:t>
            </a:r>
          </a:p>
          <a:p>
            <a:pPr marL="400050" lvl="1" indent="0">
              <a:lnSpc>
                <a:spcPct val="120000"/>
              </a:lnSpc>
              <a:spcBef>
                <a:spcPts val="600"/>
              </a:spcBef>
              <a:buNone/>
            </a:pPr>
            <a:r>
              <a:rPr lang="ru-RU" dirty="0">
                <a:solidFill>
                  <a:schemeClr val="tx1"/>
                </a:solidFill>
                <a:latin typeface="Arial" panose="020B0604020202020204" pitchFamily="34" charset="0"/>
                <a:cs typeface="Arial" panose="020B0604020202020204" pitchFamily="34" charset="0"/>
              </a:rPr>
              <a:t>		r1(x) r1(y) w1(x) w1(y)		</a:t>
            </a:r>
            <a:r>
              <a:rPr lang="en-US" dirty="0">
                <a:solidFill>
                  <a:schemeClr val="tx1"/>
                </a:solidFill>
                <a:latin typeface="Arial" panose="020B0604020202020204" pitchFamily="34" charset="0"/>
                <a:cs typeface="Arial" panose="020B0604020202020204" pitchFamily="34" charset="0"/>
              </a:rPr>
              <a:t> r2(x) r2(y) w2(y)</a:t>
            </a:r>
            <a:endParaRPr lang="ru-RU" dirty="0">
              <a:solidFill>
                <a:schemeClr val="tx1"/>
              </a:solidFill>
              <a:latin typeface="Arial" panose="020B0604020202020204" pitchFamily="34" charset="0"/>
              <a:cs typeface="Arial" panose="020B0604020202020204" pitchFamily="34" charset="0"/>
            </a:endParaRPr>
          </a:p>
          <a:p>
            <a:pPr marL="400050" lvl="1" indent="0">
              <a:lnSpc>
                <a:spcPct val="120000"/>
              </a:lnSpc>
              <a:spcBef>
                <a:spcPts val="600"/>
              </a:spcBef>
              <a:buNone/>
            </a:pPr>
            <a:r>
              <a:rPr lang="ru-RU" dirty="0">
                <a:solidFill>
                  <a:schemeClr val="tx1"/>
                </a:solidFill>
                <a:latin typeface="Arial" panose="020B0604020202020204" pitchFamily="34" charset="0"/>
                <a:cs typeface="Arial" panose="020B0604020202020204" pitchFamily="34" charset="0"/>
              </a:rPr>
              <a:t>		r1(x) r1(y) w1(y) w1(x)		</a:t>
            </a:r>
            <a:r>
              <a:rPr lang="es-ES" dirty="0">
                <a:solidFill>
                  <a:schemeClr val="tx1"/>
                </a:solidFill>
                <a:latin typeface="Arial" panose="020B0604020202020204" pitchFamily="34" charset="0"/>
                <a:cs typeface="Arial" panose="020B0604020202020204" pitchFamily="34" charset="0"/>
              </a:rPr>
              <a:t> r2(y) r2(x) w2(y)</a:t>
            </a:r>
            <a:endParaRPr lang="ru-RU" dirty="0">
              <a:solidFill>
                <a:schemeClr val="tx1"/>
              </a:solidFill>
              <a:latin typeface="Arial" panose="020B0604020202020204" pitchFamily="34" charset="0"/>
              <a:cs typeface="Arial" panose="020B0604020202020204" pitchFamily="34" charset="0"/>
            </a:endParaRPr>
          </a:p>
          <a:p>
            <a:pPr marL="342900" lvl="1" indent="-342900">
              <a:lnSpc>
                <a:spcPct val="120000"/>
              </a:lnSpc>
              <a:spcBef>
                <a:spcPts val="600"/>
              </a:spcBef>
              <a:buFont typeface="Wingdings" panose="05000000000000000000" pitchFamily="2" charset="2"/>
              <a:buChar char="q"/>
            </a:pPr>
            <a:r>
              <a:rPr lang="ru-RU" sz="2900" dirty="0">
                <a:solidFill>
                  <a:schemeClr val="tx1"/>
                </a:solidFill>
                <a:latin typeface="Arial" panose="020B0604020202020204" pitchFamily="34" charset="0"/>
                <a:cs typeface="Arial" panose="020B0604020202020204" pitchFamily="34" charset="0"/>
              </a:rPr>
              <a:t>Операция слева предшествует операции справа</a:t>
            </a: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p:txBody>
          <a:bodyPr/>
          <a:lstStyle/>
          <a:p>
            <a:fld id="{667D74AF-8CFA-41E7-84BA-34814A01EACF}" type="slidenum">
              <a:rPr lang="ru-RU" smtClean="0"/>
              <a:t>8</a:t>
            </a:fld>
            <a:endParaRPr lang="ru-RU"/>
          </a:p>
        </p:txBody>
      </p:sp>
      <p:pic>
        <p:nvPicPr>
          <p:cNvPr id="6" name="Рисунок 5">
            <a:extLst>
              <a:ext uri="{FF2B5EF4-FFF2-40B4-BE49-F238E27FC236}">
                <a16:creationId xmlns:a16="http://schemas.microsoft.com/office/drawing/2014/main" id="{1C3315F3-81F9-168D-9CE0-12695F04CD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3511" y="1925685"/>
            <a:ext cx="5819907" cy="2499421"/>
          </a:xfrm>
          <a:prstGeom prst="rect">
            <a:avLst/>
          </a:prstGeom>
        </p:spPr>
      </p:pic>
    </p:spTree>
    <p:extLst>
      <p:ext uri="{BB962C8B-B14F-4D97-AF65-F5344CB8AC3E}">
        <p14:creationId xmlns:p14="http://schemas.microsoft.com/office/powerpoint/2010/main" val="2152394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40710"/>
            <a:ext cx="12045863" cy="822652"/>
          </a:xfrm>
        </p:spPr>
        <p:txBody>
          <a:bodyPr>
            <a:noAutofit/>
          </a:bodyPr>
          <a:lstStyle/>
          <a:p>
            <a:r>
              <a:rPr lang="ru-RU" sz="3200" dirty="0">
                <a:latin typeface="Arial" panose="020B0604020202020204" pitchFamily="34" charset="0"/>
                <a:cs typeface="Arial" panose="020B0604020202020204" pitchFamily="34" charset="0"/>
              </a:rPr>
              <a:t>История конечного набора транзакций </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411792" y="656823"/>
            <a:ext cx="11514552" cy="6064653"/>
          </a:xfrm>
        </p:spPr>
        <p:txBody>
          <a:bodyPr>
            <a:normAutofit fontScale="92500"/>
          </a:bodyPr>
          <a:lstStyle/>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Историей для конечного набора транзакций называется множество всех операций этих транзакций, снабженное отношением частичного порядка, согласованным с отношением порядка операций внутри транзакций и таким, что все операции над одним элементом данных полностью упорядочены.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В историю включаются также операции завершения транзакций фиксации c (</a:t>
            </a:r>
            <a:r>
              <a:rPr lang="ru-RU" dirty="0" err="1">
                <a:solidFill>
                  <a:schemeClr val="tx1"/>
                </a:solidFill>
                <a:latin typeface="Arial" panose="020B0604020202020204" pitchFamily="34" charset="0"/>
                <a:cs typeface="Arial" panose="020B0604020202020204" pitchFamily="34" charset="0"/>
              </a:rPr>
              <a:t>commit</a:t>
            </a:r>
            <a:r>
              <a:rPr lang="ru-RU" dirty="0">
                <a:solidFill>
                  <a:schemeClr val="tx1"/>
                </a:solidFill>
                <a:latin typeface="Arial" panose="020B0604020202020204" pitchFamily="34" charset="0"/>
                <a:cs typeface="Arial" panose="020B0604020202020204" pitchFamily="34" charset="0"/>
              </a:rPr>
              <a:t>) или обрыва a (</a:t>
            </a:r>
            <a:r>
              <a:rPr lang="ru-RU" dirty="0" err="1">
                <a:solidFill>
                  <a:schemeClr val="tx1"/>
                </a:solidFill>
                <a:latin typeface="Arial" panose="020B0604020202020204" pitchFamily="34" charset="0"/>
                <a:cs typeface="Arial" panose="020B0604020202020204" pitchFamily="34" charset="0"/>
              </a:rPr>
              <a:t>abort</a:t>
            </a:r>
            <a:r>
              <a:rPr lang="ru-RU" dirty="0">
                <a:solidFill>
                  <a:schemeClr val="tx1"/>
                </a:solidFill>
                <a:latin typeface="Arial" panose="020B0604020202020204" pitchFamily="34" charset="0"/>
                <a:cs typeface="Arial" panose="020B0604020202020204" pitchFamily="34" charset="0"/>
              </a:rPr>
              <a:t>), которые следуют (в смысле частичной упорядоченности) за всеми операциями транзакции, которую они завершают.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При этом каждая транзакция завершается ровно одной из операций </a:t>
            </a:r>
          </a:p>
          <a:p>
            <a:pPr marL="0" indent="0" algn="l">
              <a:lnSpc>
                <a:spcPct val="120000"/>
              </a:lnSpc>
              <a:spcBef>
                <a:spcPts val="600"/>
              </a:spcBef>
              <a:buNone/>
            </a:pPr>
            <a:r>
              <a:rPr lang="ru-RU" dirty="0">
                <a:solidFill>
                  <a:schemeClr val="tx1"/>
                </a:solidFill>
                <a:latin typeface="Arial" panose="020B0604020202020204" pitchFamily="34" charset="0"/>
                <a:cs typeface="Arial" panose="020B0604020202020204" pitchFamily="34" charset="0"/>
              </a:rPr>
              <a:t>		</a:t>
            </a:r>
            <a:r>
              <a:rPr lang="ru-RU" sz="4000" dirty="0">
                <a:solidFill>
                  <a:schemeClr val="tx1"/>
                </a:solidFill>
                <a:latin typeface="Arial" panose="020B0604020202020204" pitchFamily="34" charset="0"/>
                <a:cs typeface="Arial" panose="020B0604020202020204" pitchFamily="34" charset="0"/>
              </a:rPr>
              <a:t>c</a:t>
            </a:r>
            <a:r>
              <a:rPr lang="ru-RU" dirty="0">
                <a:solidFill>
                  <a:schemeClr val="tx1"/>
                </a:solidFill>
                <a:latin typeface="Arial" panose="020B0604020202020204" pitchFamily="34" charset="0"/>
                <a:cs typeface="Arial" panose="020B0604020202020204" pitchFamily="34" charset="0"/>
              </a:rPr>
              <a:t> или </a:t>
            </a:r>
            <a:r>
              <a:rPr lang="ru-RU" sz="4000" dirty="0">
                <a:solidFill>
                  <a:schemeClr val="tx1"/>
                </a:solidFill>
                <a:latin typeface="Arial" panose="020B0604020202020204" pitchFamily="34" charset="0"/>
                <a:cs typeface="Arial" panose="020B0604020202020204" pitchFamily="34" charset="0"/>
              </a:rPr>
              <a:t>a</a:t>
            </a: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p:txBody>
          <a:bodyPr/>
          <a:lstStyle/>
          <a:p>
            <a:fld id="{667D74AF-8CFA-41E7-84BA-34814A01EACF}" type="slidenum">
              <a:rPr lang="ru-RU" smtClean="0"/>
              <a:t>9</a:t>
            </a:fld>
            <a:endParaRPr lang="ru-RU"/>
          </a:p>
        </p:txBody>
      </p:sp>
    </p:spTree>
    <p:extLst>
      <p:ext uri="{BB962C8B-B14F-4D97-AF65-F5344CB8AC3E}">
        <p14:creationId xmlns:p14="http://schemas.microsoft.com/office/powerpoint/2010/main" val="2393617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40710"/>
            <a:ext cx="12045863" cy="822652"/>
          </a:xfrm>
        </p:spPr>
        <p:txBody>
          <a:bodyPr>
            <a:noAutofit/>
          </a:bodyPr>
          <a:lstStyle/>
          <a:p>
            <a:r>
              <a:rPr lang="ru-RU" sz="3200" dirty="0">
                <a:latin typeface="Arial" panose="020B0604020202020204" pitchFamily="34" charset="0"/>
                <a:cs typeface="Arial" panose="020B0604020202020204" pitchFamily="34" charset="0"/>
              </a:rPr>
              <a:t>Частично и полностью упорядоченная история</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411792" y="656823"/>
            <a:ext cx="11514552" cy="6064653"/>
          </a:xfrm>
        </p:spPr>
        <p:txBody>
          <a:bodyPr>
            <a:normAutofit fontScale="85000" lnSpcReduction="20000"/>
          </a:bodyPr>
          <a:lstStyle/>
          <a:p>
            <a:pPr algn="l">
              <a:lnSpc>
                <a:spcPct val="120000"/>
              </a:lnSpc>
              <a:spcBef>
                <a:spcPts val="600"/>
              </a:spcBef>
              <a:buFont typeface="Wingdings" panose="05000000000000000000" pitchFamily="2" charset="2"/>
              <a:buChar char="q"/>
            </a:pPr>
            <a:r>
              <a:rPr lang="ru-RU" dirty="0">
                <a:solidFill>
                  <a:schemeClr val="tx1"/>
                </a:solidFill>
                <a:cs typeface="Arial" panose="020B0604020202020204" pitchFamily="34" charset="0"/>
              </a:rPr>
              <a:t>Понятие истории формализует описание того, в каком порядке выполнялись операции нескольких транзакций. </a:t>
            </a:r>
          </a:p>
          <a:p>
            <a:pPr algn="l">
              <a:spcBef>
                <a:spcPts val="600"/>
              </a:spcBef>
              <a:buFont typeface="Wingdings" panose="05000000000000000000" pitchFamily="2" charset="2"/>
              <a:buChar char="q"/>
            </a:pPr>
            <a:r>
              <a:rPr lang="ru-RU" dirty="0">
                <a:solidFill>
                  <a:schemeClr val="tx1"/>
                </a:solidFill>
                <a:cs typeface="Arial" panose="020B0604020202020204" pitchFamily="34" charset="0"/>
              </a:rPr>
              <a:t>Операции любого набора, состоящего из более чем одной транзакции, можно организовать в истории несколькими различными способами. </a:t>
            </a:r>
          </a:p>
          <a:p>
            <a:pPr algn="l">
              <a:spcBef>
                <a:spcPts val="600"/>
              </a:spcBef>
              <a:buFont typeface="Wingdings" panose="05000000000000000000" pitchFamily="2" charset="2"/>
              <a:buChar char="q"/>
            </a:pPr>
            <a:r>
              <a:rPr lang="ru-RU" dirty="0">
                <a:solidFill>
                  <a:schemeClr val="tx1"/>
                </a:solidFill>
                <a:cs typeface="Arial" panose="020B0604020202020204" pitchFamily="34" charset="0"/>
              </a:rPr>
              <a:t>При этом некоторые истории, возможно, будут некорректными</a:t>
            </a:r>
          </a:p>
          <a:p>
            <a:pPr algn="l">
              <a:spcBef>
                <a:spcPts val="600"/>
              </a:spcBef>
              <a:buFont typeface="Wingdings" panose="05000000000000000000" pitchFamily="2" charset="2"/>
              <a:buChar char="q"/>
            </a:pPr>
            <a:r>
              <a:rPr lang="ru-RU" sz="2800" dirty="0">
                <a:solidFill>
                  <a:schemeClr val="tx1"/>
                </a:solidFill>
                <a:cs typeface="Arial" panose="020B0604020202020204" pitchFamily="34" charset="0"/>
              </a:rPr>
              <a:t>Пример </a:t>
            </a:r>
            <a:r>
              <a:rPr lang="ru-RU" sz="2800" b="1" dirty="0">
                <a:solidFill>
                  <a:schemeClr val="tx1"/>
                </a:solidFill>
                <a:cs typeface="Arial" panose="020B0604020202020204" pitchFamily="34" charset="0"/>
              </a:rPr>
              <a:t>частично упорядоченной истории </a:t>
            </a:r>
            <a:r>
              <a:rPr lang="ru-RU" sz="2800" dirty="0">
                <a:solidFill>
                  <a:schemeClr val="tx1"/>
                </a:solidFill>
                <a:cs typeface="Arial" panose="020B0604020202020204" pitchFamily="34" charset="0"/>
              </a:rPr>
              <a:t>для транзакций, показанных выше</a:t>
            </a:r>
          </a:p>
          <a:p>
            <a:pPr algn="l">
              <a:spcBef>
                <a:spcPts val="600"/>
              </a:spcBef>
              <a:buFont typeface="Wingdings" panose="05000000000000000000" pitchFamily="2" charset="2"/>
              <a:buChar char="q"/>
            </a:pPr>
            <a:endParaRPr lang="ru-RU" dirty="0">
              <a:solidFill>
                <a:schemeClr val="tx1"/>
              </a:solidFill>
              <a:cs typeface="Arial" panose="020B0604020202020204" pitchFamily="34" charset="0"/>
            </a:endParaRPr>
          </a:p>
          <a:p>
            <a:pPr algn="l">
              <a:spcBef>
                <a:spcPts val="600"/>
              </a:spcBef>
              <a:buFont typeface="Wingdings" panose="05000000000000000000" pitchFamily="2" charset="2"/>
              <a:buChar char="q"/>
            </a:pPr>
            <a:endParaRPr lang="ru-RU" sz="4000" dirty="0">
              <a:solidFill>
                <a:schemeClr val="tx1"/>
              </a:solidFill>
              <a:cs typeface="Arial" panose="020B0604020202020204" pitchFamily="34" charset="0"/>
            </a:endParaRPr>
          </a:p>
          <a:p>
            <a:pPr algn="l">
              <a:spcBef>
                <a:spcPts val="600"/>
              </a:spcBef>
              <a:buFont typeface="Wingdings" panose="05000000000000000000" pitchFamily="2" charset="2"/>
              <a:buChar char="q"/>
            </a:pPr>
            <a:endParaRPr lang="ru-RU" sz="4000" dirty="0">
              <a:solidFill>
                <a:schemeClr val="tx1"/>
              </a:solidFill>
              <a:cs typeface="Arial" panose="020B0604020202020204" pitchFamily="34" charset="0"/>
            </a:endParaRPr>
          </a:p>
          <a:p>
            <a:pPr algn="l">
              <a:spcBef>
                <a:spcPts val="600"/>
              </a:spcBef>
              <a:buFont typeface="Wingdings" panose="05000000000000000000" pitchFamily="2" charset="2"/>
              <a:buChar char="q"/>
            </a:pPr>
            <a:endParaRPr lang="ru-RU" sz="4000" dirty="0">
              <a:solidFill>
                <a:schemeClr val="tx1"/>
              </a:solidFill>
              <a:cs typeface="Arial" panose="020B0604020202020204" pitchFamily="34" charset="0"/>
            </a:endParaRPr>
          </a:p>
          <a:p>
            <a:pPr algn="l">
              <a:spcBef>
                <a:spcPts val="600"/>
              </a:spcBef>
              <a:buFont typeface="Wingdings" panose="05000000000000000000" pitchFamily="2" charset="2"/>
              <a:buChar char="q"/>
            </a:pPr>
            <a:endParaRPr lang="ru-RU" sz="4000" dirty="0">
              <a:solidFill>
                <a:schemeClr val="tx1"/>
              </a:solidFill>
              <a:cs typeface="Arial" panose="020B0604020202020204" pitchFamily="34" charset="0"/>
            </a:endParaRPr>
          </a:p>
          <a:p>
            <a:pPr algn="l">
              <a:spcBef>
                <a:spcPts val="600"/>
              </a:spcBef>
              <a:buFont typeface="Wingdings" panose="05000000000000000000" pitchFamily="2" charset="2"/>
              <a:buChar char="q"/>
            </a:pPr>
            <a:r>
              <a:rPr lang="ru-RU" sz="2800" b="1" dirty="0">
                <a:solidFill>
                  <a:schemeClr val="tx1"/>
                </a:solidFill>
              </a:rPr>
              <a:t>Полностью упорядоченная история </a:t>
            </a:r>
            <a:r>
              <a:rPr lang="ru-RU" sz="2800" dirty="0">
                <a:solidFill>
                  <a:schemeClr val="tx1"/>
                </a:solidFill>
              </a:rPr>
              <a:t>для тех же транзакций может быть, например, такой: </a:t>
            </a:r>
            <a:r>
              <a:rPr lang="en-US" sz="2800" dirty="0">
                <a:solidFill>
                  <a:schemeClr val="tx1"/>
                </a:solidFill>
              </a:rPr>
              <a:t>r1(x) r1(y) w1(x) r2(x) r2(y) w1(y) c1 w2(y) c2.</a:t>
            </a:r>
            <a:endParaRPr lang="ru-RU" sz="2800" dirty="0">
              <a:solidFill>
                <a:schemeClr val="tx1"/>
              </a:solidFill>
            </a:endParaRPr>
          </a:p>
          <a:p>
            <a:pPr algn="l">
              <a:spcBef>
                <a:spcPts val="600"/>
              </a:spcBef>
              <a:buFont typeface="Wingdings" panose="05000000000000000000" pitchFamily="2" charset="2"/>
              <a:buChar char="q"/>
            </a:pPr>
            <a:r>
              <a:rPr lang="ru-RU" dirty="0">
                <a:solidFill>
                  <a:schemeClr val="tx1"/>
                </a:solidFill>
              </a:rPr>
              <a:t>В</a:t>
            </a:r>
            <a:r>
              <a:rPr lang="ru-RU" sz="2800" dirty="0">
                <a:solidFill>
                  <a:schemeClr val="tx1"/>
                </a:solidFill>
              </a:rPr>
              <a:t> частично упорядоченной истории не определен порядок, в котором выполняются операции фиксации c1 и c2, а в полностью упорядоченной истории c1 &lt; c2.</a:t>
            </a:r>
            <a:endParaRPr lang="ru-RU" sz="4000" dirty="0">
              <a:solidFill>
                <a:schemeClr val="tx1"/>
              </a:solidFill>
              <a:cs typeface="Arial" panose="020B0604020202020204" pitchFamily="34" charset="0"/>
            </a:endParaRP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a:xfrm>
            <a:off x="10972800" y="6356351"/>
            <a:ext cx="609600" cy="365125"/>
          </a:xfrm>
        </p:spPr>
        <p:txBody>
          <a:bodyPr/>
          <a:lstStyle/>
          <a:p>
            <a:fld id="{667D74AF-8CFA-41E7-84BA-34814A01EACF}" type="slidenum">
              <a:rPr lang="ru-RU" smtClean="0"/>
              <a:t>10</a:t>
            </a:fld>
            <a:endParaRPr lang="ru-RU" dirty="0"/>
          </a:p>
        </p:txBody>
      </p:sp>
      <p:pic>
        <p:nvPicPr>
          <p:cNvPr id="6" name="Рисунок 5">
            <a:extLst>
              <a:ext uri="{FF2B5EF4-FFF2-40B4-BE49-F238E27FC236}">
                <a16:creationId xmlns:a16="http://schemas.microsoft.com/office/drawing/2014/main" id="{3594C720-7052-6981-2C1F-12AA2EAE3F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9419" y="2831473"/>
            <a:ext cx="8049133" cy="2379939"/>
          </a:xfrm>
          <a:prstGeom prst="rect">
            <a:avLst/>
          </a:prstGeom>
        </p:spPr>
      </p:pic>
    </p:spTree>
    <p:extLst>
      <p:ext uri="{BB962C8B-B14F-4D97-AF65-F5344CB8AC3E}">
        <p14:creationId xmlns:p14="http://schemas.microsoft.com/office/powerpoint/2010/main" val="1835159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40710"/>
            <a:ext cx="12045863" cy="822652"/>
          </a:xfrm>
        </p:spPr>
        <p:txBody>
          <a:bodyPr>
            <a:noAutofit/>
          </a:bodyPr>
          <a:lstStyle/>
          <a:p>
            <a:r>
              <a:rPr lang="ru-RU" sz="3200" dirty="0">
                <a:latin typeface="Arial" panose="020B0604020202020204" pitchFamily="34" charset="0"/>
                <a:cs typeface="Arial" panose="020B0604020202020204" pitchFamily="34" charset="0"/>
              </a:rPr>
              <a:t>Частично упорядоченное расписание</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146137" y="656823"/>
            <a:ext cx="11514045" cy="6201177"/>
          </a:xfrm>
        </p:spPr>
        <p:txBody>
          <a:bodyPr>
            <a:normAutofit fontScale="92500" lnSpcReduction="20000"/>
          </a:bodyPr>
          <a:lstStyle/>
          <a:p>
            <a:pPr algn="l">
              <a:spcBef>
                <a:spcPts val="600"/>
              </a:spcBef>
              <a:buFont typeface="Wingdings" panose="05000000000000000000" pitchFamily="2" charset="2"/>
              <a:buChar char="q"/>
            </a:pPr>
            <a:r>
              <a:rPr lang="ru-RU" dirty="0">
                <a:solidFill>
                  <a:schemeClr val="tx1"/>
                </a:solidFill>
              </a:rPr>
              <a:t>Префиксом частично упорядоченного множества называется подмножество, которое вместе с каждым элементом содержит все элементы, предшествующие ему в смысле частичного порядка. </a:t>
            </a:r>
          </a:p>
          <a:p>
            <a:pPr algn="l">
              <a:spcBef>
                <a:spcPts val="600"/>
              </a:spcBef>
              <a:buFont typeface="Wingdings" panose="05000000000000000000" pitchFamily="2" charset="2"/>
              <a:buChar char="q"/>
            </a:pPr>
            <a:r>
              <a:rPr lang="ru-RU" dirty="0">
                <a:solidFill>
                  <a:schemeClr val="tx1"/>
                </a:solidFill>
              </a:rPr>
              <a:t>Префикс истории называется </a:t>
            </a:r>
            <a:r>
              <a:rPr lang="ru-RU" b="1" dirty="0">
                <a:solidFill>
                  <a:schemeClr val="tx1"/>
                </a:solidFill>
              </a:rPr>
              <a:t>расписанием</a:t>
            </a:r>
            <a:r>
              <a:rPr lang="ru-RU" dirty="0">
                <a:solidFill>
                  <a:schemeClr val="tx1"/>
                </a:solidFill>
              </a:rPr>
              <a:t>. </a:t>
            </a:r>
          </a:p>
          <a:p>
            <a:pPr marL="0" indent="0" algn="l">
              <a:spcBef>
                <a:spcPts val="600"/>
              </a:spcBef>
              <a:buNone/>
            </a:pPr>
            <a:r>
              <a:rPr lang="ru-RU" dirty="0">
                <a:solidFill>
                  <a:schemeClr val="tx1"/>
                </a:solidFill>
              </a:rPr>
              <a:t>Для истории.</a:t>
            </a:r>
            <a:endParaRPr lang="ru-RU" dirty="0">
              <a:solidFill>
                <a:schemeClr val="tx1"/>
              </a:solidFill>
              <a:cs typeface="Arial" panose="020B0604020202020204" pitchFamily="34" charset="0"/>
            </a:endParaRPr>
          </a:p>
          <a:p>
            <a:pPr marL="0" indent="0" algn="l">
              <a:spcBef>
                <a:spcPts val="600"/>
              </a:spcBef>
              <a:buNone/>
            </a:pPr>
            <a:endParaRPr lang="ru-RU" sz="4000" dirty="0">
              <a:solidFill>
                <a:schemeClr val="tx1"/>
              </a:solidFill>
              <a:cs typeface="Arial" panose="020B0604020202020204" pitchFamily="34" charset="0"/>
            </a:endParaRPr>
          </a:p>
          <a:p>
            <a:pPr marL="0" indent="0" algn="l">
              <a:spcBef>
                <a:spcPts val="600"/>
              </a:spcBef>
              <a:buNone/>
            </a:pPr>
            <a:endParaRPr lang="ru-RU" sz="4000" dirty="0">
              <a:solidFill>
                <a:schemeClr val="tx1"/>
              </a:solidFill>
              <a:cs typeface="Arial" panose="020B0604020202020204" pitchFamily="34" charset="0"/>
            </a:endParaRPr>
          </a:p>
          <a:p>
            <a:pPr marL="0" indent="0" algn="l">
              <a:spcBef>
                <a:spcPts val="0"/>
              </a:spcBef>
              <a:buNone/>
            </a:pPr>
            <a:endParaRPr lang="ru-RU" dirty="0">
              <a:solidFill>
                <a:schemeClr val="tx1"/>
              </a:solidFill>
            </a:endParaRPr>
          </a:p>
          <a:p>
            <a:pPr marL="0" indent="0" algn="l">
              <a:spcBef>
                <a:spcPts val="0"/>
              </a:spcBef>
              <a:buNone/>
            </a:pPr>
            <a:r>
              <a:rPr lang="ru-RU" dirty="0">
                <a:solidFill>
                  <a:schemeClr val="tx1"/>
                </a:solidFill>
              </a:rPr>
              <a:t>Префикс (частичное упорядоченное расписание)</a:t>
            </a:r>
          </a:p>
          <a:p>
            <a:pPr marL="0" indent="0" algn="l">
              <a:spcBef>
                <a:spcPts val="0"/>
              </a:spcBef>
              <a:buNone/>
            </a:pPr>
            <a:r>
              <a:rPr lang="ru-RU" sz="4000" dirty="0">
                <a:solidFill>
                  <a:schemeClr val="tx1"/>
                </a:solidFill>
                <a:cs typeface="Arial" panose="020B0604020202020204" pitchFamily="34" charset="0"/>
              </a:rPr>
              <a:t>						</a:t>
            </a:r>
            <a:r>
              <a:rPr lang="ru-RU" sz="2800" dirty="0">
                <a:solidFill>
                  <a:schemeClr val="tx1"/>
                </a:solidFill>
              </a:rPr>
              <a:t> Упорядоченное расписание может</a:t>
            </a:r>
          </a:p>
          <a:p>
            <a:pPr marL="0" indent="0" algn="l">
              <a:spcBef>
                <a:spcPts val="0"/>
              </a:spcBef>
              <a:buNone/>
            </a:pPr>
            <a:r>
              <a:rPr lang="ru-RU" dirty="0">
                <a:solidFill>
                  <a:schemeClr val="tx1"/>
                </a:solidFill>
              </a:rPr>
              <a:t>						</a:t>
            </a:r>
            <a:r>
              <a:rPr lang="ru-RU" sz="2800" dirty="0">
                <a:solidFill>
                  <a:schemeClr val="tx1"/>
                </a:solidFill>
              </a:rPr>
              <a:t> быть, например, таким: </a:t>
            </a:r>
          </a:p>
          <a:p>
            <a:pPr marL="0" indent="0" algn="l">
              <a:spcBef>
                <a:spcPts val="0"/>
              </a:spcBef>
              <a:buNone/>
            </a:pPr>
            <a:r>
              <a:rPr lang="ru-RU" dirty="0">
                <a:solidFill>
                  <a:schemeClr val="tx1"/>
                </a:solidFill>
              </a:rPr>
              <a:t>						</a:t>
            </a:r>
            <a:r>
              <a:rPr lang="ru-RU" sz="2800" dirty="0">
                <a:solidFill>
                  <a:schemeClr val="tx1"/>
                </a:solidFill>
              </a:rPr>
              <a:t>r1(x) r1(y) w1(x) r2(x) r2(y) w1(y) c1</a:t>
            </a:r>
          </a:p>
          <a:p>
            <a:pPr marL="0" indent="0" algn="l">
              <a:spcBef>
                <a:spcPts val="0"/>
              </a:spcBef>
              <a:buNone/>
            </a:pPr>
            <a:endParaRPr lang="ru-RU" sz="2800" dirty="0">
              <a:solidFill>
                <a:schemeClr val="tx1"/>
              </a:solidFill>
            </a:endParaRPr>
          </a:p>
          <a:p>
            <a:pPr marL="0" indent="0" algn="l">
              <a:spcBef>
                <a:spcPts val="0"/>
              </a:spcBef>
              <a:buNone/>
            </a:pPr>
            <a:endParaRPr lang="ru-RU" sz="2800" dirty="0">
              <a:solidFill>
                <a:schemeClr val="tx1"/>
              </a:solidFill>
            </a:endParaRPr>
          </a:p>
          <a:p>
            <a:pPr marL="0" indent="0" algn="l">
              <a:spcBef>
                <a:spcPts val="0"/>
              </a:spcBef>
              <a:buNone/>
            </a:pPr>
            <a:r>
              <a:rPr lang="ru-RU" sz="2800" dirty="0">
                <a:solidFill>
                  <a:schemeClr val="tx1"/>
                </a:solidFill>
              </a:rPr>
              <a:t>Заметим, что оба приведенных расписания корректны, т. к. в них операция w2(y) не включена.</a:t>
            </a:r>
            <a:endParaRPr lang="ru-RU" sz="4000" dirty="0">
              <a:solidFill>
                <a:schemeClr val="tx1"/>
              </a:solidFill>
              <a:cs typeface="Arial" panose="020B0604020202020204" pitchFamily="34" charset="0"/>
            </a:endParaRP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a:xfrm>
            <a:off x="10972800" y="6356351"/>
            <a:ext cx="609600" cy="365125"/>
          </a:xfrm>
        </p:spPr>
        <p:txBody>
          <a:bodyPr/>
          <a:lstStyle/>
          <a:p>
            <a:fld id="{667D74AF-8CFA-41E7-84BA-34814A01EACF}" type="slidenum">
              <a:rPr lang="ru-RU" smtClean="0"/>
              <a:t>11</a:t>
            </a:fld>
            <a:endParaRPr lang="ru-RU" dirty="0"/>
          </a:p>
        </p:txBody>
      </p:sp>
      <p:pic>
        <p:nvPicPr>
          <p:cNvPr id="6" name="Рисунок 5">
            <a:extLst>
              <a:ext uri="{FF2B5EF4-FFF2-40B4-BE49-F238E27FC236}">
                <a16:creationId xmlns:a16="http://schemas.microsoft.com/office/drawing/2014/main" id="{3594C720-7052-6981-2C1F-12AA2EAE3F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6498" y="2054532"/>
            <a:ext cx="5880679" cy="1738778"/>
          </a:xfrm>
          <a:prstGeom prst="rect">
            <a:avLst/>
          </a:prstGeom>
        </p:spPr>
      </p:pic>
      <p:pic>
        <p:nvPicPr>
          <p:cNvPr id="7" name="Рисунок 6">
            <a:extLst>
              <a:ext uri="{FF2B5EF4-FFF2-40B4-BE49-F238E27FC236}">
                <a16:creationId xmlns:a16="http://schemas.microsoft.com/office/drawing/2014/main" id="{D36F1F0B-157E-D9A2-BF5F-372D95D9F6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713" y="4156107"/>
            <a:ext cx="4214142" cy="1658469"/>
          </a:xfrm>
          <a:prstGeom prst="rect">
            <a:avLst/>
          </a:prstGeom>
        </p:spPr>
      </p:pic>
    </p:spTree>
    <p:extLst>
      <p:ext uri="{BB962C8B-B14F-4D97-AF65-F5344CB8AC3E}">
        <p14:creationId xmlns:p14="http://schemas.microsoft.com/office/powerpoint/2010/main" val="3836825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40710"/>
            <a:ext cx="12045863" cy="607380"/>
          </a:xfrm>
        </p:spPr>
        <p:txBody>
          <a:bodyPr>
            <a:noAutofit/>
          </a:bodyPr>
          <a:lstStyle/>
          <a:p>
            <a:r>
              <a:rPr lang="ru-RU" sz="3200" dirty="0">
                <a:latin typeface="Arial" panose="020B0604020202020204" pitchFamily="34" charset="0"/>
                <a:cs typeface="Arial" panose="020B0604020202020204" pitchFamily="34" charset="0"/>
              </a:rPr>
              <a:t>Корректные расписания</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146137" y="656823"/>
            <a:ext cx="11514045" cy="6201177"/>
          </a:xfrm>
        </p:spPr>
        <p:txBody>
          <a:bodyPr>
            <a:normAutofit fontScale="77500" lnSpcReduction="20000"/>
          </a:bodyPr>
          <a:lstStyle/>
          <a:p>
            <a:pPr algn="l">
              <a:spcBef>
                <a:spcPts val="600"/>
              </a:spcBef>
              <a:buFont typeface="Wingdings" panose="05000000000000000000" pitchFamily="2" charset="2"/>
              <a:buChar char="q"/>
            </a:pPr>
            <a:r>
              <a:rPr lang="ru-RU" dirty="0">
                <a:solidFill>
                  <a:schemeClr val="tx1"/>
                </a:solidFill>
              </a:rPr>
              <a:t>Все рассуждения приведены для частично упорядоченных транзакций и расписаний. </a:t>
            </a:r>
          </a:p>
          <a:p>
            <a:pPr algn="l">
              <a:spcBef>
                <a:spcPts val="600"/>
              </a:spcBef>
              <a:buFont typeface="Wingdings" panose="05000000000000000000" pitchFamily="2" charset="2"/>
              <a:buChar char="q"/>
            </a:pPr>
            <a:r>
              <a:rPr lang="ru-RU" dirty="0">
                <a:solidFill>
                  <a:schemeClr val="tx1"/>
                </a:solidFill>
              </a:rPr>
              <a:t>Но так как корректность выполнения определяется в зависимости от предшествования операций, все примеры расписаний будут полностью упорядочены.</a:t>
            </a:r>
          </a:p>
          <a:p>
            <a:pPr algn="l">
              <a:spcBef>
                <a:spcPts val="600"/>
              </a:spcBef>
              <a:buFont typeface="Wingdings" panose="05000000000000000000" pitchFamily="2" charset="2"/>
              <a:buChar char="q"/>
            </a:pPr>
            <a:r>
              <a:rPr lang="ru-RU" dirty="0">
                <a:solidFill>
                  <a:schemeClr val="tx1"/>
                </a:solidFill>
              </a:rPr>
              <a:t>Теория строится в предположении, что каждая транзакция читает и записывает любой элемент данных </a:t>
            </a:r>
            <a:r>
              <a:rPr lang="ru-RU" b="1" dirty="0">
                <a:solidFill>
                  <a:schemeClr val="tx1"/>
                </a:solidFill>
              </a:rPr>
              <a:t>не более одного раза</a:t>
            </a:r>
            <a:r>
              <a:rPr lang="ru-RU" dirty="0">
                <a:solidFill>
                  <a:schemeClr val="tx1"/>
                </a:solidFill>
              </a:rPr>
              <a:t>, при этом </a:t>
            </a:r>
            <a:r>
              <a:rPr lang="ru-RU" b="1" dirty="0">
                <a:solidFill>
                  <a:schemeClr val="tx1"/>
                </a:solidFill>
              </a:rPr>
              <a:t>если элемент записывается, то запись следует за чтением.</a:t>
            </a:r>
          </a:p>
          <a:p>
            <a:pPr algn="l">
              <a:spcBef>
                <a:spcPts val="600"/>
              </a:spcBef>
              <a:buFont typeface="Wingdings" panose="05000000000000000000" pitchFamily="2" charset="2"/>
              <a:buChar char="q"/>
            </a:pPr>
            <a:r>
              <a:rPr lang="ru-RU" dirty="0">
                <a:solidFill>
                  <a:schemeClr val="tx1"/>
                </a:solidFill>
              </a:rPr>
              <a:t>Кроме этого, предполагается, что все операции оборванных транзакций</a:t>
            </a:r>
            <a:r>
              <a:rPr lang="ru-RU" b="1" dirty="0">
                <a:solidFill>
                  <a:schemeClr val="tx1"/>
                </a:solidFill>
              </a:rPr>
              <a:t> </a:t>
            </a:r>
            <a:r>
              <a:rPr lang="ru-RU" dirty="0">
                <a:solidFill>
                  <a:schemeClr val="tx1"/>
                </a:solidFill>
              </a:rPr>
              <a:t>уже исключены из расписания. </a:t>
            </a:r>
          </a:p>
          <a:p>
            <a:pPr algn="l">
              <a:spcBef>
                <a:spcPts val="600"/>
              </a:spcBef>
              <a:buFont typeface="Wingdings" panose="05000000000000000000" pitchFamily="2" charset="2"/>
              <a:buChar char="q"/>
            </a:pPr>
            <a:r>
              <a:rPr lang="ru-RU" dirty="0">
                <a:solidFill>
                  <a:schemeClr val="tx1"/>
                </a:solidFill>
              </a:rPr>
              <a:t>Из этих предположений следует, что в рамках обсуждаемой теории невозможно рассмотреть некоторые виды аномалий. Например </a:t>
            </a:r>
            <a:r>
              <a:rPr lang="ru-RU" b="1" dirty="0">
                <a:solidFill>
                  <a:schemeClr val="tx1"/>
                </a:solidFill>
              </a:rPr>
              <a:t>аномалию неповторяющегося чтения</a:t>
            </a:r>
            <a:r>
              <a:rPr lang="ru-RU" dirty="0">
                <a:solidFill>
                  <a:schemeClr val="tx1"/>
                </a:solidFill>
              </a:rPr>
              <a:t>, поскольку каждая операция чтения выполняется только один раз.</a:t>
            </a:r>
          </a:p>
          <a:p>
            <a:pPr algn="l">
              <a:spcBef>
                <a:spcPts val="600"/>
              </a:spcBef>
              <a:buFont typeface="Wingdings" panose="05000000000000000000" pitchFamily="2" charset="2"/>
              <a:buChar char="q"/>
            </a:pPr>
            <a:r>
              <a:rPr lang="ru-RU" dirty="0">
                <a:solidFill>
                  <a:schemeClr val="tx1"/>
                </a:solidFill>
              </a:rPr>
              <a:t>Расписание </a:t>
            </a:r>
            <a:r>
              <a:rPr lang="ru-RU" b="1" dirty="0">
                <a:solidFill>
                  <a:schemeClr val="tx1"/>
                </a:solidFill>
              </a:rPr>
              <a:t>называется серийным (последовательным), </a:t>
            </a:r>
            <a:r>
              <a:rPr lang="ru-RU" dirty="0">
                <a:solidFill>
                  <a:schemeClr val="tx1"/>
                </a:solidFill>
              </a:rPr>
              <a:t>если для любой пары транзакций в этом расписании </a:t>
            </a:r>
            <a:r>
              <a:rPr lang="ru-RU" b="1" dirty="0">
                <a:solidFill>
                  <a:schemeClr val="tx1"/>
                </a:solidFill>
              </a:rPr>
              <a:t>все операции одной транзакции предшествуют всем операциям другой</a:t>
            </a:r>
            <a:r>
              <a:rPr lang="ru-RU" dirty="0">
                <a:solidFill>
                  <a:schemeClr val="tx1"/>
                </a:solidFill>
              </a:rPr>
              <a:t>.</a:t>
            </a:r>
          </a:p>
          <a:p>
            <a:pPr algn="l">
              <a:spcBef>
                <a:spcPts val="600"/>
              </a:spcBef>
              <a:buFont typeface="Wingdings" panose="05000000000000000000" pitchFamily="2" charset="2"/>
              <a:buChar char="q"/>
            </a:pPr>
            <a:r>
              <a:rPr lang="ru-RU" dirty="0">
                <a:solidFill>
                  <a:schemeClr val="tx1"/>
                </a:solidFill>
              </a:rPr>
              <a:t>Отношение предшествования для операций остается отношением частичного порядка, но транзакции в таком расписании полностью упорядочены. </a:t>
            </a:r>
          </a:p>
          <a:p>
            <a:pPr algn="l">
              <a:spcBef>
                <a:spcPts val="600"/>
              </a:spcBef>
              <a:buFont typeface="Wingdings" panose="05000000000000000000" pitchFamily="2" charset="2"/>
              <a:buChar char="q"/>
            </a:pPr>
            <a:r>
              <a:rPr lang="ru-RU" dirty="0">
                <a:solidFill>
                  <a:schemeClr val="tx1"/>
                </a:solidFill>
              </a:rPr>
              <a:t>По определению транзакции, </a:t>
            </a:r>
            <a:r>
              <a:rPr lang="ru-RU" b="1" dirty="0">
                <a:solidFill>
                  <a:schemeClr val="tx1"/>
                </a:solidFill>
              </a:rPr>
              <a:t>серийное расписание является корректным</a:t>
            </a:r>
            <a:r>
              <a:rPr lang="ru-RU" dirty="0">
                <a:solidFill>
                  <a:schemeClr val="tx1"/>
                </a:solidFill>
              </a:rPr>
              <a:t>, т. к. каждая транзакция в нем выполняется полностью и без помех со стороны других транзакций.</a:t>
            </a:r>
          </a:p>
          <a:p>
            <a:pPr algn="l">
              <a:spcBef>
                <a:spcPts val="600"/>
              </a:spcBef>
              <a:buFont typeface="Wingdings" panose="05000000000000000000" pitchFamily="2" charset="2"/>
              <a:buChar char="q"/>
            </a:pPr>
            <a:r>
              <a:rPr lang="ru-RU" dirty="0">
                <a:solidFill>
                  <a:schemeClr val="tx1"/>
                </a:solidFill>
              </a:rPr>
              <a:t>Неформально, </a:t>
            </a:r>
            <a:r>
              <a:rPr lang="ru-RU" b="1" dirty="0">
                <a:solidFill>
                  <a:schemeClr val="tx1"/>
                </a:solidFill>
              </a:rPr>
              <a:t>расписание будет корректно</a:t>
            </a:r>
            <a:r>
              <a:rPr lang="ru-RU" dirty="0">
                <a:solidFill>
                  <a:schemeClr val="tx1"/>
                </a:solidFill>
              </a:rPr>
              <a:t>, если оно дает </a:t>
            </a:r>
            <a:r>
              <a:rPr lang="ru-RU" b="1" dirty="0">
                <a:solidFill>
                  <a:schemeClr val="tx1"/>
                </a:solidFill>
              </a:rPr>
              <a:t>такие же результаты, как какое-нибудь серийное. </a:t>
            </a: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a:xfrm>
            <a:off x="10972800" y="6356351"/>
            <a:ext cx="609600" cy="365125"/>
          </a:xfrm>
        </p:spPr>
        <p:txBody>
          <a:bodyPr/>
          <a:lstStyle/>
          <a:p>
            <a:fld id="{667D74AF-8CFA-41E7-84BA-34814A01EACF}" type="slidenum">
              <a:rPr lang="ru-RU" smtClean="0"/>
              <a:t>12</a:t>
            </a:fld>
            <a:endParaRPr lang="ru-RU" dirty="0"/>
          </a:p>
        </p:txBody>
      </p:sp>
    </p:spTree>
    <p:extLst>
      <p:ext uri="{BB962C8B-B14F-4D97-AF65-F5344CB8AC3E}">
        <p14:creationId xmlns:p14="http://schemas.microsoft.com/office/powerpoint/2010/main" val="4234161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40710"/>
            <a:ext cx="12045863" cy="607380"/>
          </a:xfrm>
        </p:spPr>
        <p:txBody>
          <a:bodyPr>
            <a:noAutofit/>
          </a:bodyPr>
          <a:lstStyle/>
          <a:p>
            <a:r>
              <a:rPr lang="ru-RU" sz="3200" dirty="0">
                <a:latin typeface="Arial" panose="020B0604020202020204" pitchFamily="34" charset="0"/>
                <a:cs typeface="Arial" panose="020B0604020202020204" pitchFamily="34" charset="0"/>
              </a:rPr>
              <a:t>Корректные расписания</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146137" y="656823"/>
            <a:ext cx="11514045" cy="6201177"/>
          </a:xfrm>
        </p:spPr>
        <p:txBody>
          <a:bodyPr>
            <a:normAutofit/>
          </a:bodyPr>
          <a:lstStyle/>
          <a:p>
            <a:pPr algn="l">
              <a:spcBef>
                <a:spcPts val="600"/>
              </a:spcBef>
              <a:buFont typeface="Wingdings" panose="05000000000000000000" pitchFamily="2" charset="2"/>
              <a:buChar char="q"/>
            </a:pPr>
            <a:r>
              <a:rPr lang="ru-RU" dirty="0"/>
              <a:t>Однако необходимо научиться сравнивать результаты и подобрать подходящий критерий эквивалентности. </a:t>
            </a:r>
          </a:p>
          <a:p>
            <a:pPr algn="l">
              <a:spcBef>
                <a:spcPts val="600"/>
              </a:spcBef>
              <a:buFont typeface="Wingdings" panose="05000000000000000000" pitchFamily="2" charset="2"/>
              <a:buChar char="q"/>
            </a:pPr>
            <a:r>
              <a:rPr lang="ru-RU" b="1" dirty="0"/>
              <a:t>Эквивалентными</a:t>
            </a:r>
            <a:r>
              <a:rPr lang="ru-RU" dirty="0"/>
              <a:t> могут быть только расписания, содержащие </a:t>
            </a:r>
            <a:r>
              <a:rPr lang="ru-RU" b="1" dirty="0"/>
              <a:t>одинаковые наборы транзакций</a:t>
            </a:r>
            <a:r>
              <a:rPr lang="ru-RU" dirty="0"/>
              <a:t>. </a:t>
            </a:r>
          </a:p>
          <a:p>
            <a:pPr algn="l">
              <a:spcBef>
                <a:spcPts val="600"/>
              </a:spcBef>
              <a:buFont typeface="Wingdings" panose="05000000000000000000" pitchFamily="2" charset="2"/>
              <a:buChar char="q"/>
            </a:pPr>
            <a:r>
              <a:rPr lang="ru-RU" dirty="0"/>
              <a:t>При сравнении расписаний всегда предполагается, что </a:t>
            </a:r>
            <a:r>
              <a:rPr lang="ru-RU" b="1" dirty="0"/>
              <a:t>множества транзакций и множества операций в этих расписаниях совпадают</a:t>
            </a:r>
            <a:r>
              <a:rPr lang="ru-RU" dirty="0"/>
              <a:t>.</a:t>
            </a:r>
          </a:p>
          <a:p>
            <a:pPr algn="l">
              <a:spcBef>
                <a:spcPts val="600"/>
              </a:spcBef>
              <a:buFont typeface="Wingdings" panose="05000000000000000000" pitchFamily="2" charset="2"/>
              <a:buChar char="q"/>
            </a:pPr>
            <a:r>
              <a:rPr lang="ru-RU" dirty="0"/>
              <a:t>Вычисление результатов выполнения расписаний основано на предположении о том, что </a:t>
            </a:r>
            <a:r>
              <a:rPr lang="ru-RU" b="1" dirty="0"/>
              <a:t>любая операция чтения возвращает результат, записанный последней предшествующей операцией записи того же элемента данных. </a:t>
            </a:r>
          </a:p>
          <a:p>
            <a:pPr algn="l">
              <a:spcBef>
                <a:spcPts val="600"/>
              </a:spcBef>
              <a:buFont typeface="Wingdings" panose="05000000000000000000" pitchFamily="2" charset="2"/>
              <a:buChar char="q"/>
            </a:pPr>
            <a:r>
              <a:rPr lang="ru-RU" dirty="0"/>
              <a:t>В наших предположениях такая </a:t>
            </a:r>
            <a:r>
              <a:rPr lang="ru-RU" b="1" dirty="0"/>
              <a:t>предшествующая операция записи всегда принадлежит другой транзакции.</a:t>
            </a:r>
            <a:endParaRPr lang="ru-RU" b="1" dirty="0">
              <a:solidFill>
                <a:schemeClr val="tx1"/>
              </a:solidFill>
              <a:cs typeface="Arial" panose="020B0604020202020204" pitchFamily="34" charset="0"/>
            </a:endParaRP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a:xfrm>
            <a:off x="10972800" y="6356351"/>
            <a:ext cx="609600" cy="365125"/>
          </a:xfrm>
        </p:spPr>
        <p:txBody>
          <a:bodyPr/>
          <a:lstStyle/>
          <a:p>
            <a:fld id="{667D74AF-8CFA-41E7-84BA-34814A01EACF}" type="slidenum">
              <a:rPr lang="ru-RU" smtClean="0"/>
              <a:t>13</a:t>
            </a:fld>
            <a:endParaRPr lang="ru-RU" dirty="0"/>
          </a:p>
        </p:txBody>
      </p:sp>
    </p:spTree>
    <p:extLst>
      <p:ext uri="{BB962C8B-B14F-4D97-AF65-F5344CB8AC3E}">
        <p14:creationId xmlns:p14="http://schemas.microsoft.com/office/powerpoint/2010/main" val="153913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40710"/>
            <a:ext cx="12045863" cy="607380"/>
          </a:xfrm>
        </p:spPr>
        <p:txBody>
          <a:bodyPr>
            <a:noAutofit/>
          </a:bodyPr>
          <a:lstStyle/>
          <a:p>
            <a:r>
              <a:rPr lang="ru-RU" sz="3200" dirty="0">
                <a:latin typeface="Arial" panose="020B0604020202020204" pitchFamily="34" charset="0"/>
                <a:cs typeface="Arial" panose="020B0604020202020204" pitchFamily="34" charset="0"/>
              </a:rPr>
              <a:t>Корректные расписания</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146137" y="656823"/>
            <a:ext cx="11514045" cy="6201177"/>
          </a:xfrm>
        </p:spPr>
        <p:txBody>
          <a:bodyPr>
            <a:normAutofit lnSpcReduction="10000"/>
          </a:bodyPr>
          <a:lstStyle/>
          <a:p>
            <a:pPr algn="l">
              <a:spcBef>
                <a:spcPts val="600"/>
              </a:spcBef>
              <a:buFont typeface="Wingdings" panose="05000000000000000000" pitchFamily="2" charset="2"/>
              <a:buChar char="q"/>
            </a:pPr>
            <a:r>
              <a:rPr lang="ru-RU" dirty="0"/>
              <a:t>Для того чтобы такое определение можно было использовать для всех операций чтения, вводится начальная транзакция t</a:t>
            </a:r>
            <a:r>
              <a:rPr lang="ru-RU" baseline="-25000" dirty="0"/>
              <a:t>0</a:t>
            </a:r>
            <a:r>
              <a:rPr lang="ru-RU" dirty="0"/>
              <a:t>, которая записывает начальное состояние всех элементов базы данных и все операции которой предшествуют всем операциям других транзакций.</a:t>
            </a:r>
          </a:p>
          <a:p>
            <a:pPr algn="l">
              <a:spcBef>
                <a:spcPts val="600"/>
              </a:spcBef>
              <a:buFont typeface="Wingdings" panose="05000000000000000000" pitchFamily="2" charset="2"/>
              <a:buChar char="q"/>
            </a:pPr>
            <a:r>
              <a:rPr lang="ru-RU" dirty="0"/>
              <a:t> Аналогично можно ввести транзакцию t</a:t>
            </a:r>
            <a:r>
              <a:rPr lang="ru-RU" baseline="-25000" dirty="0"/>
              <a:t>∞</a:t>
            </a:r>
            <a:r>
              <a:rPr lang="ru-RU" dirty="0"/>
              <a:t>, которая считывает все элементы базы данных и все операции которой следуют за всеми операциями других транзакций в истории</a:t>
            </a:r>
          </a:p>
          <a:p>
            <a:pPr algn="l">
              <a:spcBef>
                <a:spcPts val="600"/>
              </a:spcBef>
              <a:buFont typeface="Wingdings" panose="05000000000000000000" pitchFamily="2" charset="2"/>
              <a:buChar char="q"/>
            </a:pPr>
            <a:r>
              <a:rPr lang="ru-RU" dirty="0"/>
              <a:t>Значение, которое использует операция записи, определяется кодом приложения, выполняющего транзакцию, и зависит от элементов базы данных, которые транзакция прочитала до выполнения операции записи. </a:t>
            </a:r>
          </a:p>
          <a:p>
            <a:pPr algn="l">
              <a:spcBef>
                <a:spcPts val="600"/>
              </a:spcBef>
              <a:buFont typeface="Wingdings" panose="05000000000000000000" pitchFamily="2" charset="2"/>
              <a:buChar char="q"/>
            </a:pPr>
            <a:r>
              <a:rPr lang="ru-RU" dirty="0"/>
              <a:t>Это значение может зависеть и от входных параметров приложения (например, введенных пользователем с клавиатуры). Такие параметры можно также считать частью кода приложения.</a:t>
            </a:r>
          </a:p>
          <a:p>
            <a:pPr algn="l">
              <a:spcBef>
                <a:spcPts val="600"/>
              </a:spcBef>
              <a:buFont typeface="Wingdings" panose="05000000000000000000" pitchFamily="2" charset="2"/>
              <a:buChar char="q"/>
            </a:pPr>
            <a:endParaRPr lang="ru-RU" b="1" dirty="0">
              <a:solidFill>
                <a:schemeClr val="tx1"/>
              </a:solidFill>
              <a:cs typeface="Arial" panose="020B0604020202020204" pitchFamily="34" charset="0"/>
            </a:endParaRP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a:xfrm>
            <a:off x="10972800" y="6356351"/>
            <a:ext cx="609600" cy="365125"/>
          </a:xfrm>
        </p:spPr>
        <p:txBody>
          <a:bodyPr/>
          <a:lstStyle/>
          <a:p>
            <a:fld id="{667D74AF-8CFA-41E7-84BA-34814A01EACF}" type="slidenum">
              <a:rPr lang="ru-RU" smtClean="0"/>
              <a:t>14</a:t>
            </a:fld>
            <a:endParaRPr lang="ru-RU" dirty="0"/>
          </a:p>
        </p:txBody>
      </p:sp>
    </p:spTree>
    <p:extLst>
      <p:ext uri="{BB962C8B-B14F-4D97-AF65-F5344CB8AC3E}">
        <p14:creationId xmlns:p14="http://schemas.microsoft.com/office/powerpoint/2010/main" val="2976576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40710"/>
            <a:ext cx="12045863" cy="607380"/>
          </a:xfrm>
        </p:spPr>
        <p:txBody>
          <a:bodyPr>
            <a:noAutofit/>
          </a:bodyPr>
          <a:lstStyle/>
          <a:p>
            <a:r>
              <a:rPr lang="ru-RU" sz="3200" dirty="0">
                <a:latin typeface="Arial" panose="020B0604020202020204" pitchFamily="34" charset="0"/>
                <a:cs typeface="Arial" panose="020B0604020202020204" pitchFamily="34" charset="0"/>
              </a:rPr>
              <a:t>Корректные расписания</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146137" y="656823"/>
            <a:ext cx="11514045" cy="6201177"/>
          </a:xfrm>
        </p:spPr>
        <p:txBody>
          <a:bodyPr>
            <a:normAutofit/>
          </a:bodyPr>
          <a:lstStyle/>
          <a:p>
            <a:pPr algn="l">
              <a:spcBef>
                <a:spcPts val="600"/>
              </a:spcBef>
              <a:buFont typeface="Wingdings" panose="05000000000000000000" pitchFamily="2" charset="2"/>
              <a:buChar char="q"/>
            </a:pPr>
            <a:r>
              <a:rPr lang="ru-RU" dirty="0"/>
              <a:t>Формально вычисления описываются функцией h, которая называется семантикой </a:t>
            </a:r>
            <a:r>
              <a:rPr lang="ru-RU" dirty="0" err="1"/>
              <a:t>Эрбрана</a:t>
            </a:r>
            <a:r>
              <a:rPr lang="ru-RU" dirty="0"/>
              <a:t> и определяется (рекурсивно) следующим образом: </a:t>
            </a:r>
          </a:p>
          <a:p>
            <a:pPr marL="0" indent="0" algn="l">
              <a:spcBef>
                <a:spcPts val="600"/>
              </a:spcBef>
              <a:buNone/>
            </a:pPr>
            <a:r>
              <a:rPr lang="ru-RU" dirty="0"/>
              <a:t>	• </a:t>
            </a:r>
            <a:r>
              <a:rPr lang="ru-RU" dirty="0">
                <a:latin typeface="Courier New" panose="02070309020205020404" pitchFamily="49" charset="0"/>
                <a:cs typeface="Courier New" panose="02070309020205020404" pitchFamily="49" charset="0"/>
              </a:rPr>
              <a:t>h(</a:t>
            </a:r>
            <a:r>
              <a:rPr lang="ru-RU" dirty="0" err="1">
                <a:latin typeface="Courier New" panose="02070309020205020404" pitchFamily="49" charset="0"/>
                <a:cs typeface="Courier New" panose="02070309020205020404" pitchFamily="49" charset="0"/>
              </a:rPr>
              <a:t>r</a:t>
            </a:r>
            <a:r>
              <a:rPr lang="ru-RU" baseline="-25000" dirty="0" err="1">
                <a:latin typeface="Courier New" panose="02070309020205020404" pitchFamily="49" charset="0"/>
                <a:cs typeface="Courier New" panose="02070309020205020404" pitchFamily="49" charset="0"/>
              </a:rPr>
              <a:t>i</a:t>
            </a:r>
            <a:r>
              <a:rPr lang="ru-RU" dirty="0">
                <a:latin typeface="Courier New" panose="02070309020205020404" pitchFamily="49" charset="0"/>
                <a:cs typeface="Courier New" panose="02070309020205020404" pitchFamily="49" charset="0"/>
              </a:rPr>
              <a:t>(x))=h(</a:t>
            </a:r>
            <a:r>
              <a:rPr lang="ru-RU" dirty="0" err="1">
                <a:latin typeface="Courier New" panose="02070309020205020404" pitchFamily="49" charset="0"/>
                <a:cs typeface="Courier New" panose="02070309020205020404" pitchFamily="49" charset="0"/>
              </a:rPr>
              <a:t>w</a:t>
            </a:r>
            <a:r>
              <a:rPr lang="ru-RU" baseline="-25000" dirty="0" err="1">
                <a:latin typeface="Courier New" panose="02070309020205020404" pitchFamily="49" charset="0"/>
                <a:cs typeface="Courier New" panose="02070309020205020404" pitchFamily="49" charset="0"/>
              </a:rPr>
              <a:t>j</a:t>
            </a:r>
            <a:r>
              <a:rPr lang="ru-RU" dirty="0">
                <a:latin typeface="Courier New" panose="02070309020205020404" pitchFamily="49" charset="0"/>
                <a:cs typeface="Courier New" panose="02070309020205020404" pitchFamily="49" charset="0"/>
              </a:rPr>
              <a:t>(x)), где </a:t>
            </a:r>
            <a:r>
              <a:rPr lang="ru-RU" dirty="0" err="1">
                <a:latin typeface="Courier New" panose="02070309020205020404" pitchFamily="49" charset="0"/>
                <a:cs typeface="Courier New" panose="02070309020205020404" pitchFamily="49" charset="0"/>
              </a:rPr>
              <a:t>w</a:t>
            </a:r>
            <a:r>
              <a:rPr lang="ru-RU" baseline="-25000" dirty="0" err="1">
                <a:latin typeface="Courier New" panose="02070309020205020404" pitchFamily="49" charset="0"/>
                <a:cs typeface="Courier New" panose="02070309020205020404" pitchFamily="49" charset="0"/>
              </a:rPr>
              <a:t>j</a:t>
            </a:r>
            <a:r>
              <a:rPr lang="ru-RU" dirty="0">
                <a:latin typeface="Courier New" panose="02070309020205020404" pitchFamily="49" charset="0"/>
                <a:cs typeface="Courier New" panose="02070309020205020404" pitchFamily="49" charset="0"/>
              </a:rPr>
              <a:t>(x) </a:t>
            </a:r>
            <a:r>
              <a:rPr lang="ru-RU" dirty="0"/>
              <a:t>— последняя операция записи, предшествующая </a:t>
            </a:r>
            <a:r>
              <a:rPr lang="ru-RU" dirty="0" err="1"/>
              <a:t>ri</a:t>
            </a:r>
            <a:r>
              <a:rPr lang="ru-RU" dirty="0"/>
              <a:t>(x); </a:t>
            </a:r>
          </a:p>
          <a:p>
            <a:pPr marL="0" indent="0" algn="l">
              <a:spcBef>
                <a:spcPts val="600"/>
              </a:spcBef>
              <a:buNone/>
            </a:pPr>
            <a:r>
              <a:rPr lang="ru-RU" dirty="0"/>
              <a:t>	• </a:t>
            </a:r>
            <a:r>
              <a:rPr lang="ru-RU" dirty="0">
                <a:latin typeface="Courier New" panose="02070309020205020404" pitchFamily="49" charset="0"/>
                <a:cs typeface="Courier New" panose="02070309020205020404" pitchFamily="49" charset="0"/>
              </a:rPr>
              <a:t>h(</a:t>
            </a:r>
            <a:r>
              <a:rPr lang="ru-RU" dirty="0" err="1">
                <a:latin typeface="Courier New" panose="02070309020205020404" pitchFamily="49" charset="0"/>
                <a:cs typeface="Courier New" panose="02070309020205020404" pitchFamily="49" charset="0"/>
              </a:rPr>
              <a:t>w</a:t>
            </a:r>
            <a:r>
              <a:rPr lang="ru-RU" baseline="-25000" dirty="0" err="1">
                <a:latin typeface="Courier New" panose="02070309020205020404" pitchFamily="49" charset="0"/>
                <a:cs typeface="Courier New" panose="02070309020205020404" pitchFamily="49" charset="0"/>
              </a:rPr>
              <a:t>i</a:t>
            </a:r>
            <a:r>
              <a:rPr lang="ru-RU" dirty="0">
                <a:latin typeface="Courier New" panose="02070309020205020404" pitchFamily="49" charset="0"/>
                <a:cs typeface="Courier New" panose="02070309020205020404" pitchFamily="49" charset="0"/>
              </a:rPr>
              <a:t>(x))=</a:t>
            </a:r>
            <a:r>
              <a:rPr lang="ru-RU" dirty="0" err="1">
                <a:latin typeface="Courier New" panose="02070309020205020404" pitchFamily="49" charset="0"/>
                <a:cs typeface="Courier New" panose="02070309020205020404" pitchFamily="49" charset="0"/>
              </a:rPr>
              <a:t>f</a:t>
            </a:r>
            <a:r>
              <a:rPr lang="ru-RU" baseline="-25000" dirty="0" err="1">
                <a:latin typeface="Courier New" panose="02070309020205020404" pitchFamily="49" charset="0"/>
                <a:cs typeface="Courier New" panose="02070309020205020404" pitchFamily="49" charset="0"/>
              </a:rPr>
              <a:t>i,x</a:t>
            </a:r>
            <a:r>
              <a:rPr lang="ru-RU" dirty="0">
                <a:latin typeface="Courier New" panose="02070309020205020404" pitchFamily="49" charset="0"/>
                <a:cs typeface="Courier New" panose="02070309020205020404" pitchFamily="49" charset="0"/>
              </a:rPr>
              <a:t>(h(</a:t>
            </a:r>
            <a:r>
              <a:rPr lang="ru-RU" dirty="0" err="1">
                <a:latin typeface="Courier New" panose="02070309020205020404" pitchFamily="49" charset="0"/>
                <a:cs typeface="Courier New" panose="02070309020205020404" pitchFamily="49" charset="0"/>
              </a:rPr>
              <a:t>r</a:t>
            </a:r>
            <a:r>
              <a:rPr lang="ru-RU" baseline="-25000" dirty="0" err="1">
                <a:latin typeface="Courier New" panose="02070309020205020404" pitchFamily="49" charset="0"/>
                <a:cs typeface="Courier New" panose="02070309020205020404" pitchFamily="49" charset="0"/>
              </a:rPr>
              <a:t>i</a:t>
            </a:r>
            <a:r>
              <a:rPr lang="ru-RU" dirty="0">
                <a:latin typeface="Courier New" panose="02070309020205020404" pitchFamily="49" charset="0"/>
                <a:cs typeface="Courier New" panose="02070309020205020404" pitchFamily="49" charset="0"/>
              </a:rPr>
              <a:t>(y</a:t>
            </a:r>
            <a:r>
              <a:rPr lang="ru-RU" baseline="30000" dirty="0">
                <a:latin typeface="Courier New" panose="02070309020205020404" pitchFamily="49" charset="0"/>
                <a:cs typeface="Courier New" panose="02070309020205020404" pitchFamily="49" charset="0"/>
              </a:rPr>
              <a:t>1</a:t>
            </a:r>
            <a:r>
              <a:rPr lang="ru-RU" dirty="0">
                <a:latin typeface="Courier New" panose="02070309020205020404" pitchFamily="49" charset="0"/>
                <a:cs typeface="Courier New" panose="02070309020205020404" pitchFamily="49" charset="0"/>
              </a:rPr>
              <a:t>)), h(</a:t>
            </a:r>
            <a:r>
              <a:rPr lang="ru-RU" dirty="0" err="1">
                <a:latin typeface="Courier New" panose="02070309020205020404" pitchFamily="49" charset="0"/>
                <a:cs typeface="Courier New" panose="02070309020205020404" pitchFamily="49" charset="0"/>
              </a:rPr>
              <a:t>r</a:t>
            </a:r>
            <a:r>
              <a:rPr lang="ru-RU" baseline="-25000" dirty="0" err="1">
                <a:latin typeface="Courier New" panose="02070309020205020404" pitchFamily="49" charset="0"/>
                <a:cs typeface="Courier New" panose="02070309020205020404" pitchFamily="49" charset="0"/>
              </a:rPr>
              <a:t>i</a:t>
            </a:r>
            <a:r>
              <a:rPr lang="ru-RU" dirty="0">
                <a:latin typeface="Courier New" panose="02070309020205020404" pitchFamily="49" charset="0"/>
                <a:cs typeface="Courier New" panose="02070309020205020404" pitchFamily="49" charset="0"/>
              </a:rPr>
              <a:t>(y</a:t>
            </a:r>
            <a:r>
              <a:rPr lang="ru-RU" baseline="30000" dirty="0">
                <a:latin typeface="Courier New" panose="02070309020205020404" pitchFamily="49" charset="0"/>
                <a:cs typeface="Courier New" panose="02070309020205020404" pitchFamily="49" charset="0"/>
              </a:rPr>
              <a:t>2</a:t>
            </a:r>
            <a:r>
              <a:rPr lang="ru-RU" dirty="0">
                <a:latin typeface="Courier New" panose="02070309020205020404" pitchFamily="49" charset="0"/>
                <a:cs typeface="Courier New" panose="02070309020205020404" pitchFamily="49" charset="0"/>
              </a:rPr>
              <a:t>)), ...), </a:t>
            </a:r>
            <a:r>
              <a:rPr lang="ru-RU" dirty="0"/>
              <a:t>где функция </a:t>
            </a:r>
            <a:r>
              <a:rPr lang="ru-RU" dirty="0" err="1">
                <a:latin typeface="Courier New" panose="02070309020205020404" pitchFamily="49" charset="0"/>
                <a:cs typeface="Courier New" panose="02070309020205020404" pitchFamily="49" charset="0"/>
              </a:rPr>
              <a:t>f</a:t>
            </a:r>
            <a:r>
              <a:rPr lang="ru-RU" baseline="-25000" dirty="0" err="1">
                <a:latin typeface="Courier New" panose="02070309020205020404" pitchFamily="49" charset="0"/>
                <a:cs typeface="Courier New" panose="02070309020205020404" pitchFamily="49" charset="0"/>
              </a:rPr>
              <a:t>i,x</a:t>
            </a:r>
            <a:r>
              <a:rPr lang="ru-RU" baseline="-25000" dirty="0">
                <a:latin typeface="Courier New" panose="02070309020205020404" pitchFamily="49" charset="0"/>
                <a:cs typeface="Courier New" panose="02070309020205020404" pitchFamily="49" charset="0"/>
              </a:rPr>
              <a:t> </a:t>
            </a:r>
            <a:r>
              <a:rPr lang="ru-RU" dirty="0"/>
              <a:t>выражает семантику приложения, а ее аргументы — операции чтения, предшествующие </a:t>
            </a:r>
            <a:r>
              <a:rPr lang="ru-RU" dirty="0" err="1">
                <a:latin typeface="Courier New" panose="02070309020205020404" pitchFamily="49" charset="0"/>
                <a:cs typeface="Courier New" panose="02070309020205020404" pitchFamily="49" charset="0"/>
              </a:rPr>
              <a:t>w</a:t>
            </a:r>
            <a:r>
              <a:rPr lang="ru-RU" baseline="-25000" dirty="0" err="1">
                <a:latin typeface="Courier New" panose="02070309020205020404" pitchFamily="49" charset="0"/>
                <a:cs typeface="Courier New" panose="02070309020205020404" pitchFamily="49" charset="0"/>
              </a:rPr>
              <a:t>i</a:t>
            </a:r>
            <a:r>
              <a:rPr lang="ru-RU" dirty="0">
                <a:latin typeface="Courier New" panose="02070309020205020404" pitchFamily="49" charset="0"/>
                <a:cs typeface="Courier New" panose="02070309020205020404" pitchFamily="49" charset="0"/>
              </a:rPr>
              <a:t>(x)</a:t>
            </a:r>
            <a:r>
              <a:rPr lang="ru-RU" dirty="0"/>
              <a:t> в той же транзакции. </a:t>
            </a:r>
          </a:p>
          <a:p>
            <a:pPr algn="l">
              <a:spcBef>
                <a:spcPts val="600"/>
              </a:spcBef>
              <a:buFont typeface="Wingdings" panose="05000000000000000000" pitchFamily="2" charset="2"/>
              <a:buChar char="q"/>
            </a:pPr>
            <a:r>
              <a:rPr lang="ru-RU" dirty="0"/>
              <a:t>Верхние индексы обозначают не показатель степени, а порядковый номер аргумента функции </a:t>
            </a:r>
            <a:r>
              <a:rPr lang="ru-RU" dirty="0">
                <a:latin typeface="Courier New" panose="02070309020205020404" pitchFamily="49" charset="0"/>
                <a:cs typeface="Courier New" panose="02070309020205020404" pitchFamily="49" charset="0"/>
              </a:rPr>
              <a:t>f</a:t>
            </a:r>
            <a:r>
              <a:rPr lang="ru-RU" dirty="0"/>
              <a:t>.</a:t>
            </a:r>
          </a:p>
          <a:p>
            <a:pPr algn="l">
              <a:spcBef>
                <a:spcPts val="600"/>
              </a:spcBef>
              <a:buFont typeface="Wingdings" panose="05000000000000000000" pitchFamily="2" charset="2"/>
              <a:buChar char="q"/>
            </a:pPr>
            <a:r>
              <a:rPr lang="ru-RU" dirty="0"/>
              <a:t>Используя функцию h, можно записать выражения, определяющие считываемые или записываемые значения для любой операции в расписании. </a:t>
            </a:r>
            <a:endParaRPr lang="ru-RU" b="1" dirty="0">
              <a:solidFill>
                <a:schemeClr val="tx1"/>
              </a:solidFill>
              <a:cs typeface="Arial" panose="020B0604020202020204" pitchFamily="34" charset="0"/>
            </a:endParaRP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a:xfrm>
            <a:off x="10972800" y="6356351"/>
            <a:ext cx="609600" cy="365125"/>
          </a:xfrm>
        </p:spPr>
        <p:txBody>
          <a:bodyPr/>
          <a:lstStyle/>
          <a:p>
            <a:fld id="{667D74AF-8CFA-41E7-84BA-34814A01EACF}" type="slidenum">
              <a:rPr lang="ru-RU" smtClean="0"/>
              <a:t>15</a:t>
            </a:fld>
            <a:endParaRPr lang="ru-RU" dirty="0"/>
          </a:p>
        </p:txBody>
      </p:sp>
    </p:spTree>
    <p:extLst>
      <p:ext uri="{BB962C8B-B14F-4D97-AF65-F5344CB8AC3E}">
        <p14:creationId xmlns:p14="http://schemas.microsoft.com/office/powerpoint/2010/main" val="610748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40710"/>
            <a:ext cx="12045863" cy="607380"/>
          </a:xfrm>
        </p:spPr>
        <p:txBody>
          <a:bodyPr>
            <a:noAutofit/>
          </a:bodyPr>
          <a:lstStyle/>
          <a:p>
            <a:r>
              <a:rPr lang="ru-RU" sz="3200" dirty="0">
                <a:latin typeface="Arial" panose="020B0604020202020204" pitchFamily="34" charset="0"/>
                <a:cs typeface="Arial" panose="020B0604020202020204" pitchFamily="34" charset="0"/>
              </a:rPr>
              <a:t>Корректные расписания</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146137" y="656823"/>
            <a:ext cx="11514045" cy="6201177"/>
          </a:xfrm>
        </p:spPr>
        <p:txBody>
          <a:bodyPr>
            <a:normAutofit fontScale="85000" lnSpcReduction="20000"/>
          </a:bodyPr>
          <a:lstStyle/>
          <a:p>
            <a:pPr algn="l">
              <a:spcBef>
                <a:spcPts val="600"/>
              </a:spcBef>
              <a:buFont typeface="Wingdings" panose="05000000000000000000" pitchFamily="2" charset="2"/>
              <a:buChar char="q"/>
            </a:pPr>
            <a:r>
              <a:rPr lang="ru-RU" dirty="0"/>
              <a:t>Например, для расписания r1(x) r2(x) r1(y) w1(x) w2(x) w1(y) </a:t>
            </a:r>
            <a:br>
              <a:rPr lang="ru-RU" dirty="0"/>
            </a:br>
            <a:r>
              <a:rPr lang="ru-RU" dirty="0"/>
              <a:t>семантики </a:t>
            </a:r>
            <a:r>
              <a:rPr lang="ru-RU" dirty="0" err="1"/>
              <a:t>Эрбрана</a:t>
            </a:r>
            <a:r>
              <a:rPr lang="ru-RU" dirty="0"/>
              <a:t> имеют вид: </a:t>
            </a:r>
          </a:p>
          <a:p>
            <a:pPr marL="0" indent="0" algn="l">
              <a:spcBef>
                <a:spcPts val="600"/>
              </a:spcBef>
              <a:buNone/>
            </a:pPr>
            <a:r>
              <a:rPr lang="ru-RU"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h(r</a:t>
            </a:r>
            <a:r>
              <a:rPr lang="en-US" baseline="-25000" dirty="0">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(x)) = f</a:t>
            </a:r>
            <a:r>
              <a:rPr lang="en-US" baseline="-25000" dirty="0">
                <a:latin typeface="Courier New" panose="02070309020205020404" pitchFamily="49" charset="0"/>
                <a:cs typeface="Courier New" panose="02070309020205020404" pitchFamily="49" charset="0"/>
              </a:rPr>
              <a:t>0x</a:t>
            </a:r>
            <a:r>
              <a:rPr lang="en-US" dirty="0">
                <a:latin typeface="Courier New" panose="02070309020205020404" pitchFamily="49" charset="0"/>
                <a:cs typeface="Courier New" panose="02070309020205020404" pitchFamily="49" charset="0"/>
              </a:rPr>
              <a:t>, </a:t>
            </a:r>
            <a:endParaRPr lang="ru-RU" dirty="0">
              <a:latin typeface="Courier New" panose="02070309020205020404" pitchFamily="49" charset="0"/>
              <a:cs typeface="Courier New" panose="02070309020205020404" pitchFamily="49" charset="0"/>
            </a:endParaRPr>
          </a:p>
          <a:p>
            <a:pPr marL="0" indent="0" algn="l">
              <a:spcBef>
                <a:spcPts val="600"/>
              </a:spcBef>
              <a:buNone/>
            </a:pPr>
            <a:r>
              <a:rPr lang="ru-RU"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h(r</a:t>
            </a:r>
            <a:r>
              <a:rPr lang="en-US" baseline="-25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(x)) = f</a:t>
            </a:r>
            <a:r>
              <a:rPr lang="en-US" baseline="-25000" dirty="0">
                <a:latin typeface="Courier New" panose="02070309020205020404" pitchFamily="49" charset="0"/>
                <a:cs typeface="Courier New" panose="02070309020205020404" pitchFamily="49" charset="0"/>
              </a:rPr>
              <a:t>0x</a:t>
            </a:r>
            <a:r>
              <a:rPr lang="en-US" dirty="0">
                <a:latin typeface="Courier New" panose="02070309020205020404" pitchFamily="49" charset="0"/>
                <a:cs typeface="Courier New" panose="02070309020205020404" pitchFamily="49" charset="0"/>
              </a:rPr>
              <a:t>, </a:t>
            </a:r>
            <a:endParaRPr lang="ru-RU" dirty="0">
              <a:latin typeface="Courier New" panose="02070309020205020404" pitchFamily="49" charset="0"/>
              <a:cs typeface="Courier New" panose="02070309020205020404" pitchFamily="49" charset="0"/>
            </a:endParaRPr>
          </a:p>
          <a:p>
            <a:pPr marL="0" indent="0" algn="l">
              <a:spcBef>
                <a:spcPts val="600"/>
              </a:spcBef>
              <a:buNone/>
            </a:pPr>
            <a:r>
              <a:rPr lang="ru-RU"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h(r</a:t>
            </a:r>
            <a:r>
              <a:rPr lang="en-US" baseline="-25000" dirty="0">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(y)) = f</a:t>
            </a:r>
            <a:r>
              <a:rPr lang="en-US" baseline="-25000" dirty="0">
                <a:latin typeface="Courier New" panose="02070309020205020404" pitchFamily="49" charset="0"/>
                <a:cs typeface="Courier New" panose="02070309020205020404" pitchFamily="49" charset="0"/>
              </a:rPr>
              <a:t>0y</a:t>
            </a:r>
            <a:r>
              <a:rPr lang="en-US" dirty="0">
                <a:latin typeface="Courier New" panose="02070309020205020404" pitchFamily="49" charset="0"/>
                <a:cs typeface="Courier New" panose="02070309020205020404" pitchFamily="49" charset="0"/>
              </a:rPr>
              <a:t>, </a:t>
            </a:r>
            <a:endParaRPr lang="ru-RU" dirty="0">
              <a:latin typeface="Courier New" panose="02070309020205020404" pitchFamily="49" charset="0"/>
              <a:cs typeface="Courier New" panose="02070309020205020404" pitchFamily="49" charset="0"/>
            </a:endParaRPr>
          </a:p>
          <a:p>
            <a:pPr marL="0" indent="0" algn="l">
              <a:spcBef>
                <a:spcPts val="600"/>
              </a:spcBef>
              <a:buNone/>
            </a:pPr>
            <a:r>
              <a:rPr lang="ru-RU"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h(w</a:t>
            </a:r>
            <a:r>
              <a:rPr lang="en-US" baseline="-25000" dirty="0">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(x)) = f</a:t>
            </a:r>
            <a:r>
              <a:rPr lang="en-US" baseline="-25000" dirty="0">
                <a:latin typeface="Courier New" panose="02070309020205020404" pitchFamily="49" charset="0"/>
                <a:cs typeface="Courier New" panose="02070309020205020404" pitchFamily="49" charset="0"/>
              </a:rPr>
              <a:t>1x</a:t>
            </a:r>
            <a:r>
              <a:rPr lang="en-US" dirty="0">
                <a:latin typeface="Courier New" panose="02070309020205020404" pitchFamily="49" charset="0"/>
                <a:cs typeface="Courier New" panose="02070309020205020404" pitchFamily="49" charset="0"/>
              </a:rPr>
              <a:t>(f</a:t>
            </a:r>
            <a:r>
              <a:rPr lang="en-US" baseline="-25000" dirty="0">
                <a:latin typeface="Courier New" panose="02070309020205020404" pitchFamily="49" charset="0"/>
                <a:cs typeface="Courier New" panose="02070309020205020404" pitchFamily="49" charset="0"/>
              </a:rPr>
              <a:t>0x</a:t>
            </a:r>
            <a:r>
              <a:rPr lang="en-US" dirty="0">
                <a:latin typeface="Courier New" panose="02070309020205020404" pitchFamily="49" charset="0"/>
                <a:cs typeface="Courier New" panose="02070309020205020404" pitchFamily="49" charset="0"/>
              </a:rPr>
              <a:t>, f</a:t>
            </a:r>
            <a:r>
              <a:rPr lang="en-US" baseline="-25000" dirty="0">
                <a:latin typeface="Courier New" panose="02070309020205020404" pitchFamily="49" charset="0"/>
                <a:cs typeface="Courier New" panose="02070309020205020404" pitchFamily="49" charset="0"/>
              </a:rPr>
              <a:t>0y</a:t>
            </a:r>
            <a:r>
              <a:rPr lang="en-US" dirty="0">
                <a:latin typeface="Courier New" panose="02070309020205020404" pitchFamily="49" charset="0"/>
                <a:cs typeface="Courier New" panose="02070309020205020404" pitchFamily="49" charset="0"/>
              </a:rPr>
              <a:t>), </a:t>
            </a:r>
            <a:endParaRPr lang="ru-RU" dirty="0">
              <a:latin typeface="Courier New" panose="02070309020205020404" pitchFamily="49" charset="0"/>
              <a:cs typeface="Courier New" panose="02070309020205020404" pitchFamily="49" charset="0"/>
            </a:endParaRPr>
          </a:p>
          <a:p>
            <a:pPr marL="0" indent="0" algn="l">
              <a:spcBef>
                <a:spcPts val="600"/>
              </a:spcBef>
              <a:buNone/>
            </a:pPr>
            <a:r>
              <a:rPr lang="ru-RU"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h(w</a:t>
            </a:r>
            <a:r>
              <a:rPr lang="en-US" baseline="-25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(x)) = f</a:t>
            </a:r>
            <a:r>
              <a:rPr lang="en-US" baseline="-25000" dirty="0">
                <a:latin typeface="Courier New" panose="02070309020205020404" pitchFamily="49" charset="0"/>
                <a:cs typeface="Courier New" panose="02070309020205020404" pitchFamily="49" charset="0"/>
              </a:rPr>
              <a:t>2x</a:t>
            </a:r>
            <a:r>
              <a:rPr lang="en-US" dirty="0">
                <a:latin typeface="Courier New" panose="02070309020205020404" pitchFamily="49" charset="0"/>
                <a:cs typeface="Courier New" panose="02070309020205020404" pitchFamily="49" charset="0"/>
              </a:rPr>
              <a:t>(f</a:t>
            </a:r>
            <a:r>
              <a:rPr lang="en-US" baseline="-25000" dirty="0">
                <a:latin typeface="Courier New" panose="02070309020205020404" pitchFamily="49" charset="0"/>
                <a:cs typeface="Courier New" panose="02070309020205020404" pitchFamily="49" charset="0"/>
              </a:rPr>
              <a:t>0x</a:t>
            </a:r>
            <a:r>
              <a:rPr lang="en-US" dirty="0">
                <a:latin typeface="Courier New" panose="02070309020205020404" pitchFamily="49" charset="0"/>
                <a:cs typeface="Courier New" panose="02070309020205020404" pitchFamily="49" charset="0"/>
              </a:rPr>
              <a:t>), </a:t>
            </a:r>
            <a:endParaRPr lang="ru-RU" dirty="0">
              <a:latin typeface="Courier New" panose="02070309020205020404" pitchFamily="49" charset="0"/>
              <a:cs typeface="Courier New" panose="02070309020205020404" pitchFamily="49" charset="0"/>
            </a:endParaRPr>
          </a:p>
          <a:p>
            <a:pPr marL="0" indent="0" algn="l">
              <a:spcBef>
                <a:spcPts val="600"/>
              </a:spcBef>
              <a:buNone/>
            </a:pPr>
            <a:r>
              <a:rPr lang="ru-RU"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h(w</a:t>
            </a:r>
            <a:r>
              <a:rPr lang="en-US" baseline="-25000" dirty="0">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(y)) = f</a:t>
            </a:r>
            <a:r>
              <a:rPr lang="en-US" baseline="-25000" dirty="0">
                <a:latin typeface="Courier New" panose="02070309020205020404" pitchFamily="49" charset="0"/>
                <a:cs typeface="Courier New" panose="02070309020205020404" pitchFamily="49" charset="0"/>
              </a:rPr>
              <a:t>1y</a:t>
            </a:r>
            <a:r>
              <a:rPr lang="en-US" dirty="0">
                <a:latin typeface="Courier New" panose="02070309020205020404" pitchFamily="49" charset="0"/>
                <a:cs typeface="Courier New" panose="02070309020205020404" pitchFamily="49" charset="0"/>
              </a:rPr>
              <a:t>(f</a:t>
            </a:r>
            <a:r>
              <a:rPr lang="en-US" baseline="-25000" dirty="0">
                <a:latin typeface="Courier New" panose="02070309020205020404" pitchFamily="49" charset="0"/>
                <a:cs typeface="Courier New" panose="02070309020205020404" pitchFamily="49" charset="0"/>
              </a:rPr>
              <a:t>0x</a:t>
            </a:r>
            <a:r>
              <a:rPr lang="en-US" dirty="0">
                <a:latin typeface="Courier New" panose="02070309020205020404" pitchFamily="49" charset="0"/>
                <a:cs typeface="Courier New" panose="02070309020205020404" pitchFamily="49" charset="0"/>
              </a:rPr>
              <a:t>, f</a:t>
            </a:r>
            <a:r>
              <a:rPr lang="en-US" baseline="-25000" dirty="0">
                <a:latin typeface="Courier New" panose="02070309020205020404" pitchFamily="49" charset="0"/>
                <a:cs typeface="Courier New" panose="02070309020205020404" pitchFamily="49" charset="0"/>
              </a:rPr>
              <a:t>0y</a:t>
            </a:r>
            <a:r>
              <a:rPr lang="en-US" dirty="0">
                <a:latin typeface="Courier New" panose="02070309020205020404" pitchFamily="49" charset="0"/>
                <a:cs typeface="Courier New" panose="02070309020205020404" pitchFamily="49" charset="0"/>
              </a:rPr>
              <a:t>). </a:t>
            </a:r>
            <a:endParaRPr lang="ru-RU" dirty="0">
              <a:latin typeface="Courier New" panose="02070309020205020404" pitchFamily="49" charset="0"/>
              <a:cs typeface="Courier New" panose="02070309020205020404" pitchFamily="49" charset="0"/>
            </a:endParaRPr>
          </a:p>
          <a:p>
            <a:pPr>
              <a:spcBef>
                <a:spcPts val="600"/>
              </a:spcBef>
              <a:buFont typeface="Wingdings" panose="05000000000000000000" pitchFamily="2" charset="2"/>
              <a:buChar char="q"/>
            </a:pPr>
            <a:r>
              <a:rPr lang="ru-RU" dirty="0"/>
              <a:t>Заметим, что рассматриваемое расписание </a:t>
            </a:r>
            <a:r>
              <a:rPr lang="ru-RU" b="1" dirty="0"/>
              <a:t>некорректно</a:t>
            </a:r>
            <a:r>
              <a:rPr lang="ru-RU" dirty="0"/>
              <a:t>, т. к. в нем присутствует аномалия потерянного обновления: операция w2(x) записывает значение, не учитывая результат первой транзакции, записанный операцией </a:t>
            </a:r>
            <a:r>
              <a:rPr lang="ru-RU" dirty="0">
                <a:latin typeface="Courier New" panose="02070309020205020404" pitchFamily="49" charset="0"/>
                <a:cs typeface="Courier New" panose="02070309020205020404" pitchFamily="49" charset="0"/>
              </a:rPr>
              <a:t>w1(x), </a:t>
            </a:r>
            <a:r>
              <a:rPr lang="ru-RU" dirty="0"/>
              <a:t>который в этом расписании теряется.</a:t>
            </a:r>
          </a:p>
          <a:p>
            <a:pPr>
              <a:spcBef>
                <a:spcPts val="600"/>
              </a:spcBef>
              <a:buFont typeface="Wingdings" panose="05000000000000000000" pitchFamily="2" charset="2"/>
              <a:buChar char="q"/>
            </a:pPr>
            <a:r>
              <a:rPr lang="ru-RU" dirty="0"/>
              <a:t>Корректное расписание выполнения тех же транзакций может иметь вид</a:t>
            </a:r>
          </a:p>
          <a:p>
            <a:pPr marL="0" indent="0">
              <a:spcBef>
                <a:spcPts val="600"/>
              </a:spcBef>
              <a:buNone/>
            </a:pPr>
            <a:r>
              <a:rPr lang="ru-RU" dirty="0">
                <a:latin typeface="Courier New" panose="02070309020205020404" pitchFamily="49" charset="0"/>
                <a:cs typeface="Courier New" panose="02070309020205020404" pitchFamily="49" charset="0"/>
              </a:rPr>
              <a:t>r</a:t>
            </a:r>
            <a:r>
              <a:rPr lang="ru-RU" baseline="-25000" dirty="0">
                <a:latin typeface="Courier New" panose="02070309020205020404" pitchFamily="49" charset="0"/>
                <a:cs typeface="Courier New" panose="02070309020205020404" pitchFamily="49" charset="0"/>
              </a:rPr>
              <a:t>1</a:t>
            </a:r>
            <a:r>
              <a:rPr lang="ru-RU" dirty="0">
                <a:latin typeface="Courier New" panose="02070309020205020404" pitchFamily="49" charset="0"/>
                <a:cs typeface="Courier New" panose="02070309020205020404" pitchFamily="49" charset="0"/>
              </a:rPr>
              <a:t>(x) r</a:t>
            </a:r>
            <a:r>
              <a:rPr lang="ru-RU" baseline="-25000" dirty="0">
                <a:latin typeface="Courier New" panose="02070309020205020404" pitchFamily="49" charset="0"/>
                <a:cs typeface="Courier New" panose="02070309020205020404" pitchFamily="49" charset="0"/>
              </a:rPr>
              <a:t>1</a:t>
            </a:r>
            <a:r>
              <a:rPr lang="ru-RU" dirty="0">
                <a:latin typeface="Courier New" panose="02070309020205020404" pitchFamily="49" charset="0"/>
                <a:cs typeface="Courier New" panose="02070309020205020404" pitchFamily="49" charset="0"/>
              </a:rPr>
              <a:t>(y) w</a:t>
            </a:r>
            <a:r>
              <a:rPr lang="ru-RU" baseline="-25000" dirty="0">
                <a:latin typeface="Courier New" panose="02070309020205020404" pitchFamily="49" charset="0"/>
                <a:cs typeface="Courier New" panose="02070309020205020404" pitchFamily="49" charset="0"/>
              </a:rPr>
              <a:t>1</a:t>
            </a:r>
            <a:r>
              <a:rPr lang="ru-RU" dirty="0">
                <a:latin typeface="Courier New" panose="02070309020205020404" pitchFamily="49" charset="0"/>
                <a:cs typeface="Courier New" panose="02070309020205020404" pitchFamily="49" charset="0"/>
              </a:rPr>
              <a:t>(x) r</a:t>
            </a:r>
            <a:r>
              <a:rPr lang="ru-RU" baseline="-25000" dirty="0">
                <a:latin typeface="Courier New" panose="02070309020205020404" pitchFamily="49" charset="0"/>
                <a:cs typeface="Courier New" panose="02070309020205020404" pitchFamily="49" charset="0"/>
              </a:rPr>
              <a:t>2</a:t>
            </a:r>
            <a:r>
              <a:rPr lang="ru-RU" dirty="0">
                <a:latin typeface="Courier New" panose="02070309020205020404" pitchFamily="49" charset="0"/>
                <a:cs typeface="Courier New" panose="02070309020205020404" pitchFamily="49" charset="0"/>
              </a:rPr>
              <a:t>(x) w</a:t>
            </a:r>
            <a:r>
              <a:rPr lang="ru-RU" baseline="-25000" dirty="0">
                <a:latin typeface="Courier New" panose="02070309020205020404" pitchFamily="49" charset="0"/>
                <a:cs typeface="Courier New" panose="02070309020205020404" pitchFamily="49" charset="0"/>
              </a:rPr>
              <a:t>2</a:t>
            </a:r>
            <a:r>
              <a:rPr lang="ru-RU" dirty="0">
                <a:latin typeface="Courier New" panose="02070309020205020404" pitchFamily="49" charset="0"/>
                <a:cs typeface="Courier New" panose="02070309020205020404" pitchFamily="49" charset="0"/>
              </a:rPr>
              <a:t>(x) w</a:t>
            </a:r>
            <a:r>
              <a:rPr lang="ru-RU" baseline="-25000" dirty="0">
                <a:latin typeface="Courier New" panose="02070309020205020404" pitchFamily="49" charset="0"/>
                <a:cs typeface="Courier New" panose="02070309020205020404" pitchFamily="49" charset="0"/>
              </a:rPr>
              <a:t>1</a:t>
            </a:r>
            <a:r>
              <a:rPr lang="ru-RU" dirty="0">
                <a:latin typeface="Courier New" panose="02070309020205020404" pitchFamily="49" charset="0"/>
                <a:cs typeface="Courier New" panose="02070309020205020404" pitchFamily="49" charset="0"/>
              </a:rPr>
              <a:t>(y). </a:t>
            </a:r>
          </a:p>
          <a:p>
            <a:pPr>
              <a:spcBef>
                <a:spcPts val="600"/>
              </a:spcBef>
              <a:buFont typeface="Wingdings" panose="05000000000000000000" pitchFamily="2" charset="2"/>
              <a:buChar char="q"/>
            </a:pPr>
            <a:r>
              <a:rPr lang="ru-RU" dirty="0"/>
              <a:t>Семантики для операций второй транзакции этого расписания будут такими:</a:t>
            </a:r>
          </a:p>
          <a:p>
            <a:pPr marL="0" indent="0">
              <a:spcBef>
                <a:spcPts val="600"/>
              </a:spcBef>
              <a:buNone/>
            </a:pPr>
            <a:r>
              <a:rPr lang="ru-RU" dirty="0"/>
              <a:t>	</a:t>
            </a:r>
            <a:r>
              <a:rPr lang="ru-RU" dirty="0">
                <a:latin typeface="Courier New" panose="02070309020205020404" pitchFamily="49" charset="0"/>
                <a:cs typeface="Courier New" panose="02070309020205020404" pitchFamily="49" charset="0"/>
              </a:rPr>
              <a:t>h(r</a:t>
            </a:r>
            <a:r>
              <a:rPr lang="ru-RU" baseline="-25000" dirty="0">
                <a:latin typeface="Courier New" panose="02070309020205020404" pitchFamily="49" charset="0"/>
                <a:cs typeface="Courier New" panose="02070309020205020404" pitchFamily="49" charset="0"/>
              </a:rPr>
              <a:t>2</a:t>
            </a:r>
            <a:r>
              <a:rPr lang="ru-RU" dirty="0">
                <a:latin typeface="Courier New" panose="02070309020205020404" pitchFamily="49" charset="0"/>
                <a:cs typeface="Courier New" panose="02070309020205020404" pitchFamily="49" charset="0"/>
              </a:rPr>
              <a:t>(x)) = f</a:t>
            </a:r>
            <a:r>
              <a:rPr lang="ru-RU" baseline="-25000" dirty="0">
                <a:latin typeface="Courier New" panose="02070309020205020404" pitchFamily="49" charset="0"/>
                <a:cs typeface="Courier New" panose="02070309020205020404" pitchFamily="49" charset="0"/>
              </a:rPr>
              <a:t>1x</a:t>
            </a:r>
            <a:r>
              <a:rPr lang="ru-RU" dirty="0">
                <a:latin typeface="Courier New" panose="02070309020205020404" pitchFamily="49" charset="0"/>
                <a:cs typeface="Courier New" panose="02070309020205020404" pitchFamily="49" charset="0"/>
              </a:rPr>
              <a:t>(f</a:t>
            </a:r>
            <a:r>
              <a:rPr lang="ru-RU" baseline="-25000" dirty="0">
                <a:latin typeface="Courier New" panose="02070309020205020404" pitchFamily="49" charset="0"/>
                <a:cs typeface="Courier New" panose="02070309020205020404" pitchFamily="49" charset="0"/>
              </a:rPr>
              <a:t>0x</a:t>
            </a:r>
            <a:r>
              <a:rPr lang="ru-RU" dirty="0">
                <a:latin typeface="Courier New" panose="02070309020205020404" pitchFamily="49" charset="0"/>
                <a:cs typeface="Courier New" panose="02070309020205020404" pitchFamily="49" charset="0"/>
              </a:rPr>
              <a:t>, f</a:t>
            </a:r>
            <a:r>
              <a:rPr lang="ru-RU" baseline="-25000" dirty="0">
                <a:latin typeface="Courier New" panose="02070309020205020404" pitchFamily="49" charset="0"/>
                <a:cs typeface="Courier New" panose="02070309020205020404" pitchFamily="49" charset="0"/>
              </a:rPr>
              <a:t>0y</a:t>
            </a:r>
            <a:r>
              <a:rPr lang="ru-RU" dirty="0">
                <a:latin typeface="Courier New" panose="02070309020205020404" pitchFamily="49" charset="0"/>
                <a:cs typeface="Courier New" panose="02070309020205020404" pitchFamily="49" charset="0"/>
              </a:rPr>
              <a:t>), </a:t>
            </a:r>
          </a:p>
          <a:p>
            <a:pPr marL="0" indent="0">
              <a:spcBef>
                <a:spcPts val="600"/>
              </a:spcBef>
              <a:buNone/>
            </a:pPr>
            <a:r>
              <a:rPr lang="ru-RU" dirty="0">
                <a:latin typeface="Courier New" panose="02070309020205020404" pitchFamily="49" charset="0"/>
                <a:cs typeface="Courier New" panose="02070309020205020404" pitchFamily="49" charset="0"/>
              </a:rPr>
              <a:t>	h(w</a:t>
            </a:r>
            <a:r>
              <a:rPr lang="ru-RU" baseline="-25000" dirty="0">
                <a:latin typeface="Courier New" panose="02070309020205020404" pitchFamily="49" charset="0"/>
                <a:cs typeface="Courier New" panose="02070309020205020404" pitchFamily="49" charset="0"/>
              </a:rPr>
              <a:t>2</a:t>
            </a:r>
            <a:r>
              <a:rPr lang="ru-RU" dirty="0">
                <a:latin typeface="Courier New" panose="02070309020205020404" pitchFamily="49" charset="0"/>
                <a:cs typeface="Courier New" panose="02070309020205020404" pitchFamily="49" charset="0"/>
              </a:rPr>
              <a:t>(x)) = f</a:t>
            </a:r>
            <a:r>
              <a:rPr lang="ru-RU" baseline="-25000" dirty="0">
                <a:latin typeface="Courier New" panose="02070309020205020404" pitchFamily="49" charset="0"/>
                <a:cs typeface="Courier New" panose="02070309020205020404" pitchFamily="49" charset="0"/>
              </a:rPr>
              <a:t>2x</a:t>
            </a:r>
            <a:r>
              <a:rPr lang="ru-RU" dirty="0">
                <a:latin typeface="Courier New" panose="02070309020205020404" pitchFamily="49" charset="0"/>
                <a:cs typeface="Courier New" panose="02070309020205020404" pitchFamily="49" charset="0"/>
              </a:rPr>
              <a:t>(f</a:t>
            </a:r>
            <a:r>
              <a:rPr lang="ru-RU" baseline="-25000" dirty="0">
                <a:latin typeface="Courier New" panose="02070309020205020404" pitchFamily="49" charset="0"/>
                <a:cs typeface="Courier New" panose="02070309020205020404" pitchFamily="49" charset="0"/>
              </a:rPr>
              <a:t>1x</a:t>
            </a:r>
            <a:r>
              <a:rPr lang="ru-RU" dirty="0">
                <a:latin typeface="Courier New" panose="02070309020205020404" pitchFamily="49" charset="0"/>
                <a:cs typeface="Courier New" panose="02070309020205020404" pitchFamily="49" charset="0"/>
              </a:rPr>
              <a:t>(f</a:t>
            </a:r>
            <a:r>
              <a:rPr lang="ru-RU" baseline="-25000" dirty="0">
                <a:latin typeface="Courier New" panose="02070309020205020404" pitchFamily="49" charset="0"/>
                <a:cs typeface="Courier New" panose="02070309020205020404" pitchFamily="49" charset="0"/>
              </a:rPr>
              <a:t>0x</a:t>
            </a:r>
            <a:r>
              <a:rPr lang="ru-RU" dirty="0">
                <a:latin typeface="Courier New" panose="02070309020205020404" pitchFamily="49" charset="0"/>
                <a:cs typeface="Courier New" panose="02070309020205020404" pitchFamily="49" charset="0"/>
              </a:rPr>
              <a:t>, f</a:t>
            </a:r>
            <a:r>
              <a:rPr lang="ru-RU" baseline="-25000" dirty="0">
                <a:latin typeface="Courier New" panose="02070309020205020404" pitchFamily="49" charset="0"/>
                <a:cs typeface="Courier New" panose="02070309020205020404" pitchFamily="49" charset="0"/>
              </a:rPr>
              <a:t>0y</a:t>
            </a:r>
            <a:r>
              <a:rPr lang="ru-RU" dirty="0">
                <a:latin typeface="Courier New" panose="02070309020205020404" pitchFamily="49" charset="0"/>
                <a:cs typeface="Courier New" panose="02070309020205020404" pitchFamily="49" charset="0"/>
              </a:rPr>
              <a:t>))</a:t>
            </a: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a:xfrm>
            <a:off x="10972800" y="6356351"/>
            <a:ext cx="609600" cy="365125"/>
          </a:xfrm>
        </p:spPr>
        <p:txBody>
          <a:bodyPr/>
          <a:lstStyle/>
          <a:p>
            <a:fld id="{667D74AF-8CFA-41E7-84BA-34814A01EACF}" type="slidenum">
              <a:rPr lang="ru-RU" smtClean="0"/>
              <a:t>16</a:t>
            </a:fld>
            <a:endParaRPr lang="ru-RU" dirty="0"/>
          </a:p>
        </p:txBody>
      </p:sp>
    </p:spTree>
    <p:extLst>
      <p:ext uri="{BB962C8B-B14F-4D97-AF65-F5344CB8AC3E}">
        <p14:creationId xmlns:p14="http://schemas.microsoft.com/office/powerpoint/2010/main" val="1104896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40710"/>
            <a:ext cx="12045863" cy="607380"/>
          </a:xfrm>
        </p:spPr>
        <p:txBody>
          <a:bodyPr>
            <a:noAutofit/>
          </a:bodyPr>
          <a:lstStyle/>
          <a:p>
            <a:r>
              <a:rPr lang="ru-RU" sz="3200" dirty="0">
                <a:latin typeface="Arial" panose="020B0604020202020204" pitchFamily="34" charset="0"/>
                <a:cs typeface="Arial" panose="020B0604020202020204" pitchFamily="34" charset="0"/>
              </a:rPr>
              <a:t>Эквивалентные истории. </a:t>
            </a:r>
            <a:r>
              <a:rPr lang="ru-RU" sz="3200" dirty="0" err="1">
                <a:latin typeface="Arial" panose="020B0604020202020204" pitchFamily="34" charset="0"/>
                <a:cs typeface="Arial" panose="020B0604020202020204" pitchFamily="34" charset="0"/>
              </a:rPr>
              <a:t>Сериализуемость</a:t>
            </a:r>
            <a:r>
              <a:rPr lang="ru-RU" sz="3200" dirty="0">
                <a:latin typeface="Arial" panose="020B0604020202020204" pitchFamily="34" charset="0"/>
                <a:cs typeface="Arial" panose="020B0604020202020204" pitchFamily="34" charset="0"/>
              </a:rPr>
              <a:t>.</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146137" y="656823"/>
            <a:ext cx="11514045" cy="6201177"/>
          </a:xfrm>
        </p:spPr>
        <p:txBody>
          <a:bodyPr>
            <a:normAutofit fontScale="85000" lnSpcReduction="10000"/>
          </a:bodyPr>
          <a:lstStyle/>
          <a:p>
            <a:pPr algn="l">
              <a:spcBef>
                <a:spcPts val="600"/>
              </a:spcBef>
              <a:buFont typeface="Wingdings" panose="05000000000000000000" pitchFamily="2" charset="2"/>
              <a:buChar char="q"/>
            </a:pPr>
            <a:r>
              <a:rPr lang="ru-RU" dirty="0">
                <a:solidFill>
                  <a:schemeClr val="tx1"/>
                </a:solidFill>
              </a:rPr>
              <a:t>Истории называются </a:t>
            </a:r>
          </a:p>
          <a:p>
            <a:pPr lvl="1">
              <a:spcBef>
                <a:spcPts val="600"/>
              </a:spcBef>
              <a:buFont typeface="Wingdings" panose="05000000000000000000" pitchFamily="2" charset="2"/>
              <a:buChar char="Ø"/>
            </a:pPr>
            <a:r>
              <a:rPr lang="ru-RU" dirty="0">
                <a:solidFill>
                  <a:schemeClr val="tx1"/>
                </a:solidFill>
              </a:rPr>
              <a:t>эквивалентными </a:t>
            </a:r>
            <a:r>
              <a:rPr lang="ru-RU" b="1" dirty="0">
                <a:solidFill>
                  <a:schemeClr val="tx1"/>
                </a:solidFill>
              </a:rPr>
              <a:t>по конечному состоянию</a:t>
            </a:r>
            <a:r>
              <a:rPr lang="ru-RU" dirty="0">
                <a:solidFill>
                  <a:schemeClr val="tx1"/>
                </a:solidFill>
              </a:rPr>
              <a:t>, если построенные по ним семантики </a:t>
            </a:r>
            <a:r>
              <a:rPr lang="ru-RU" dirty="0" err="1">
                <a:solidFill>
                  <a:schemeClr val="tx1"/>
                </a:solidFill>
              </a:rPr>
              <a:t>Эрбрана</a:t>
            </a:r>
            <a:r>
              <a:rPr lang="ru-RU" dirty="0">
                <a:solidFill>
                  <a:schemeClr val="tx1"/>
                </a:solidFill>
              </a:rPr>
              <a:t> совпадают для t∞, </a:t>
            </a:r>
          </a:p>
          <a:p>
            <a:pPr lvl="1">
              <a:spcBef>
                <a:spcPts val="600"/>
              </a:spcBef>
              <a:buFont typeface="Wingdings" panose="05000000000000000000" pitchFamily="2" charset="2"/>
              <a:buChar char="Ø"/>
            </a:pPr>
            <a:r>
              <a:rPr lang="ru-RU" dirty="0">
                <a:solidFill>
                  <a:schemeClr val="tx1"/>
                </a:solidFill>
              </a:rPr>
              <a:t>и эквивалентными </a:t>
            </a:r>
            <a:r>
              <a:rPr lang="ru-RU" b="1" dirty="0">
                <a:solidFill>
                  <a:schemeClr val="tx1"/>
                </a:solidFill>
              </a:rPr>
              <a:t>по видимому состоянию</a:t>
            </a:r>
            <a:r>
              <a:rPr lang="ru-RU" dirty="0">
                <a:solidFill>
                  <a:schemeClr val="tx1"/>
                </a:solidFill>
              </a:rPr>
              <a:t>, если совпадают семантики </a:t>
            </a:r>
            <a:r>
              <a:rPr lang="ru-RU" dirty="0" err="1">
                <a:solidFill>
                  <a:schemeClr val="tx1"/>
                </a:solidFill>
              </a:rPr>
              <a:t>Эрбрана</a:t>
            </a:r>
            <a:r>
              <a:rPr lang="ru-RU" dirty="0">
                <a:solidFill>
                  <a:schemeClr val="tx1"/>
                </a:solidFill>
              </a:rPr>
              <a:t> для всех операций. </a:t>
            </a:r>
          </a:p>
          <a:p>
            <a:pPr algn="l">
              <a:spcBef>
                <a:spcPts val="600"/>
              </a:spcBef>
              <a:buFont typeface="Wingdings" panose="05000000000000000000" pitchFamily="2" charset="2"/>
              <a:buChar char="q"/>
            </a:pPr>
            <a:r>
              <a:rPr lang="ru-RU" dirty="0">
                <a:solidFill>
                  <a:schemeClr val="tx1"/>
                </a:solidFill>
              </a:rPr>
              <a:t>Расписание называется </a:t>
            </a:r>
            <a:r>
              <a:rPr lang="ru-RU" b="1" dirty="0" err="1">
                <a:solidFill>
                  <a:schemeClr val="tx1"/>
                </a:solidFill>
              </a:rPr>
              <a:t>сериализуемым</a:t>
            </a:r>
            <a:r>
              <a:rPr lang="ru-RU" b="1" dirty="0">
                <a:solidFill>
                  <a:schemeClr val="tx1"/>
                </a:solidFill>
              </a:rPr>
              <a:t> по конечному состоянию </a:t>
            </a:r>
            <a:r>
              <a:rPr lang="ru-RU" dirty="0">
                <a:solidFill>
                  <a:schemeClr val="tx1"/>
                </a:solidFill>
              </a:rPr>
              <a:t>(FSR) если оно эквивалентно по конечному состоянию какому-нибудь серийному расписанию</a:t>
            </a:r>
          </a:p>
          <a:p>
            <a:pPr algn="l">
              <a:spcBef>
                <a:spcPts val="600"/>
              </a:spcBef>
              <a:buFont typeface="Wingdings" panose="05000000000000000000" pitchFamily="2" charset="2"/>
              <a:buChar char="q"/>
            </a:pPr>
            <a:r>
              <a:rPr lang="ru-RU" dirty="0">
                <a:solidFill>
                  <a:schemeClr val="tx1"/>
                </a:solidFill>
              </a:rPr>
              <a:t> Расписание называется</a:t>
            </a:r>
            <a:r>
              <a:rPr lang="ru-RU" b="1" dirty="0">
                <a:solidFill>
                  <a:schemeClr val="tx1"/>
                </a:solidFill>
              </a:rPr>
              <a:t> </a:t>
            </a:r>
            <a:r>
              <a:rPr lang="ru-RU" b="1" dirty="0" err="1">
                <a:solidFill>
                  <a:schemeClr val="tx1"/>
                </a:solidFill>
              </a:rPr>
              <a:t>сериализуемым</a:t>
            </a:r>
            <a:r>
              <a:rPr lang="ru-RU" b="1" dirty="0">
                <a:solidFill>
                  <a:schemeClr val="tx1"/>
                </a:solidFill>
              </a:rPr>
              <a:t> по видимому состоянию </a:t>
            </a:r>
            <a:r>
              <a:rPr lang="ru-RU" dirty="0">
                <a:solidFill>
                  <a:schemeClr val="tx1"/>
                </a:solidFill>
              </a:rPr>
              <a:t>(VSR), если оно эквивалентно по видимому состоянию какому-нибудь серийному расписанию.</a:t>
            </a:r>
          </a:p>
          <a:p>
            <a:pPr algn="l">
              <a:spcBef>
                <a:spcPts val="600"/>
              </a:spcBef>
              <a:buFont typeface="Wingdings" panose="05000000000000000000" pitchFamily="2" charset="2"/>
              <a:buChar char="q"/>
            </a:pPr>
            <a:r>
              <a:rPr lang="ru-RU" dirty="0" err="1">
                <a:solidFill>
                  <a:schemeClr val="tx1"/>
                </a:solidFill>
              </a:rPr>
              <a:t>Сериализуемость</a:t>
            </a:r>
            <a:r>
              <a:rPr lang="ru-RU" dirty="0">
                <a:solidFill>
                  <a:schemeClr val="tx1"/>
                </a:solidFill>
              </a:rPr>
              <a:t> по конечному состоянию является слишком слабой (например, не предотвращает аномалию несогласованного чтения) и поэтому используется только теоретиками для сравнения с другими классами расписаний. </a:t>
            </a:r>
          </a:p>
          <a:p>
            <a:pPr algn="l">
              <a:spcBef>
                <a:spcPts val="600"/>
              </a:spcBef>
              <a:buFont typeface="Wingdings" panose="05000000000000000000" pitchFamily="2" charset="2"/>
              <a:buChar char="q"/>
            </a:pPr>
            <a:r>
              <a:rPr lang="ru-RU" dirty="0">
                <a:solidFill>
                  <a:schemeClr val="tx1"/>
                </a:solidFill>
              </a:rPr>
              <a:t>Очевидно, что VSR ⊂ FSR, т. е. любое расписание, </a:t>
            </a:r>
            <a:r>
              <a:rPr lang="ru-RU" dirty="0" err="1">
                <a:solidFill>
                  <a:schemeClr val="tx1"/>
                </a:solidFill>
              </a:rPr>
              <a:t>сериализуемое</a:t>
            </a:r>
            <a:r>
              <a:rPr lang="ru-RU" dirty="0">
                <a:solidFill>
                  <a:schemeClr val="tx1"/>
                </a:solidFill>
              </a:rPr>
              <a:t> по видимому состоянию, будет </a:t>
            </a:r>
            <a:r>
              <a:rPr lang="ru-RU" dirty="0" err="1">
                <a:solidFill>
                  <a:schemeClr val="tx1"/>
                </a:solidFill>
              </a:rPr>
              <a:t>сериализуемо</a:t>
            </a:r>
            <a:r>
              <a:rPr lang="ru-RU" dirty="0">
                <a:solidFill>
                  <a:schemeClr val="tx1"/>
                </a:solidFill>
              </a:rPr>
              <a:t> по конечному.</a:t>
            </a:r>
          </a:p>
          <a:p>
            <a:pPr algn="l">
              <a:spcBef>
                <a:spcPts val="600"/>
              </a:spcBef>
              <a:buFont typeface="Wingdings" panose="05000000000000000000" pitchFamily="2" charset="2"/>
              <a:buChar char="q"/>
            </a:pPr>
            <a:r>
              <a:rPr lang="ru-RU" dirty="0">
                <a:solidFill>
                  <a:schemeClr val="tx1"/>
                </a:solidFill>
              </a:rPr>
              <a:t>Для доказательства того, что включение — строгое, достаточно предъявить хотя бы одно расписание, входящее в FSR, но не VSR.</a:t>
            </a:r>
            <a:endParaRPr lang="ru-RU" dirty="0">
              <a:solidFill>
                <a:schemeClr val="tx1"/>
              </a:solidFill>
              <a:latin typeface="Courier New" panose="02070309020205020404" pitchFamily="49" charset="0"/>
              <a:cs typeface="Courier New" panose="02070309020205020404" pitchFamily="49" charset="0"/>
            </a:endParaRP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a:xfrm>
            <a:off x="10972800" y="6356351"/>
            <a:ext cx="609600" cy="365125"/>
          </a:xfrm>
        </p:spPr>
        <p:txBody>
          <a:bodyPr/>
          <a:lstStyle/>
          <a:p>
            <a:fld id="{667D74AF-8CFA-41E7-84BA-34814A01EACF}" type="slidenum">
              <a:rPr lang="ru-RU" smtClean="0"/>
              <a:t>17</a:t>
            </a:fld>
            <a:endParaRPr lang="ru-RU" dirty="0"/>
          </a:p>
        </p:txBody>
      </p:sp>
    </p:spTree>
    <p:extLst>
      <p:ext uri="{BB962C8B-B14F-4D97-AF65-F5344CB8AC3E}">
        <p14:creationId xmlns:p14="http://schemas.microsoft.com/office/powerpoint/2010/main" val="23119715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40710"/>
            <a:ext cx="12045863" cy="607380"/>
          </a:xfrm>
        </p:spPr>
        <p:txBody>
          <a:bodyPr>
            <a:noAutofit/>
          </a:bodyPr>
          <a:lstStyle/>
          <a:p>
            <a:r>
              <a:rPr lang="ru-RU" sz="4000" dirty="0" err="1"/>
              <a:t>Сериализуемость</a:t>
            </a:r>
            <a:endParaRPr lang="ru-RU" sz="4000"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146137" y="656823"/>
            <a:ext cx="11514045" cy="6201177"/>
          </a:xfrm>
        </p:spPr>
        <p:txBody>
          <a:bodyPr>
            <a:normAutofit fontScale="85000" lnSpcReduction="10000"/>
          </a:bodyPr>
          <a:lstStyle/>
          <a:p>
            <a:pPr algn="l">
              <a:lnSpc>
                <a:spcPct val="120000"/>
              </a:lnSpc>
              <a:spcBef>
                <a:spcPts val="600"/>
              </a:spcBef>
              <a:buFont typeface="Wingdings" panose="05000000000000000000" pitchFamily="2" charset="2"/>
              <a:buChar char="q"/>
            </a:pPr>
            <a:r>
              <a:rPr lang="ru-RU" dirty="0" err="1"/>
              <a:t>Сериализуемость</a:t>
            </a:r>
            <a:r>
              <a:rPr lang="ru-RU" dirty="0"/>
              <a:t> по видимому состоянию дает идеальные результаты с точки зрения семантической корректности.</a:t>
            </a:r>
          </a:p>
          <a:p>
            <a:pPr algn="l">
              <a:lnSpc>
                <a:spcPct val="120000"/>
              </a:lnSpc>
              <a:spcBef>
                <a:spcPts val="600"/>
              </a:spcBef>
              <a:buFont typeface="Wingdings" panose="05000000000000000000" pitchFamily="2" charset="2"/>
              <a:buChar char="q"/>
            </a:pPr>
            <a:r>
              <a:rPr lang="ru-RU" dirty="0"/>
              <a:t>Результаты всех операций неотличимы от результатов при некотором серийном выполнении и, следовательно, корректны. </a:t>
            </a:r>
          </a:p>
          <a:p>
            <a:pPr algn="l">
              <a:lnSpc>
                <a:spcPct val="120000"/>
              </a:lnSpc>
              <a:spcBef>
                <a:spcPts val="600"/>
              </a:spcBef>
              <a:buFont typeface="Wingdings" panose="05000000000000000000" pitchFamily="2" charset="2"/>
              <a:buChar char="q"/>
            </a:pPr>
            <a:r>
              <a:rPr lang="ru-RU" dirty="0"/>
              <a:t>К сожалению, проверка </a:t>
            </a:r>
            <a:r>
              <a:rPr lang="ru-RU" dirty="0" err="1"/>
              <a:t>сериализуемости</a:t>
            </a:r>
            <a:r>
              <a:rPr lang="ru-RU" dirty="0"/>
              <a:t> по видимому состоянию является NP-полной задачей. </a:t>
            </a:r>
          </a:p>
          <a:p>
            <a:pPr algn="l">
              <a:lnSpc>
                <a:spcPct val="120000"/>
              </a:lnSpc>
              <a:spcBef>
                <a:spcPts val="600"/>
              </a:spcBef>
              <a:buFont typeface="Wingdings" panose="05000000000000000000" pitchFamily="2" charset="2"/>
              <a:buChar char="q"/>
            </a:pPr>
            <a:r>
              <a:rPr lang="ru-RU" dirty="0"/>
              <a:t>Неформально это значит, что время выполнения любого алгоритма, решающего эту задачу, будет очень быстро расти с увеличением размеров задачи.</a:t>
            </a:r>
          </a:p>
          <a:p>
            <a:pPr algn="l">
              <a:lnSpc>
                <a:spcPct val="120000"/>
              </a:lnSpc>
              <a:spcBef>
                <a:spcPts val="600"/>
              </a:spcBef>
              <a:buFont typeface="Wingdings" panose="05000000000000000000" pitchFamily="2" charset="2"/>
              <a:buChar char="q"/>
            </a:pPr>
            <a:r>
              <a:rPr lang="ru-RU" dirty="0"/>
              <a:t>В нашем случае размер задачи определяется числом операций в расписании, поэтому критерий корректности, основанный на VSR, неприменим на практике. </a:t>
            </a:r>
          </a:p>
          <a:p>
            <a:pPr algn="l">
              <a:lnSpc>
                <a:spcPct val="120000"/>
              </a:lnSpc>
              <a:spcBef>
                <a:spcPts val="600"/>
              </a:spcBef>
              <a:buFont typeface="Wingdings" panose="05000000000000000000" pitchFamily="2" charset="2"/>
              <a:buChar char="q"/>
            </a:pPr>
            <a:r>
              <a:rPr lang="ru-RU" dirty="0"/>
              <a:t>Тем не менее </a:t>
            </a:r>
            <a:r>
              <a:rPr lang="ru-RU" dirty="0" err="1"/>
              <a:t>сериализуемость</a:t>
            </a:r>
            <a:r>
              <a:rPr lang="ru-RU" dirty="0"/>
              <a:t> по видимому состоянию важна для доказательства корректности других, более узких классов расписаний.</a:t>
            </a:r>
          </a:p>
          <a:p>
            <a:pPr marL="0" indent="0" algn="l">
              <a:lnSpc>
                <a:spcPct val="120000"/>
              </a:lnSpc>
              <a:spcBef>
                <a:spcPts val="600"/>
              </a:spcBef>
              <a:buNone/>
            </a:pPr>
            <a:r>
              <a:rPr lang="ru-RU" b="1" dirty="0"/>
              <a:t>Если можно доказать, что расписания из некоторого класса </a:t>
            </a:r>
            <a:r>
              <a:rPr lang="ru-RU" b="1" dirty="0" err="1"/>
              <a:t>сериализуемы</a:t>
            </a:r>
            <a:r>
              <a:rPr lang="ru-RU" b="1" dirty="0"/>
              <a:t> по видимому состоянию, то они будут семантически корректными.</a:t>
            </a:r>
            <a:endParaRPr lang="ru-RU" b="1" dirty="0">
              <a:solidFill>
                <a:schemeClr val="tx1"/>
              </a:solidFill>
              <a:latin typeface="Courier New" panose="02070309020205020404" pitchFamily="49" charset="0"/>
              <a:cs typeface="Courier New" panose="02070309020205020404" pitchFamily="49" charset="0"/>
            </a:endParaRP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a:xfrm>
            <a:off x="10972800" y="6356351"/>
            <a:ext cx="609600" cy="365125"/>
          </a:xfrm>
        </p:spPr>
        <p:txBody>
          <a:bodyPr/>
          <a:lstStyle/>
          <a:p>
            <a:fld id="{667D74AF-8CFA-41E7-84BA-34814A01EACF}" type="slidenum">
              <a:rPr lang="ru-RU" smtClean="0"/>
              <a:t>18</a:t>
            </a:fld>
            <a:endParaRPr lang="ru-RU" dirty="0"/>
          </a:p>
        </p:txBody>
      </p:sp>
    </p:spTree>
    <p:extLst>
      <p:ext uri="{BB962C8B-B14F-4D97-AF65-F5344CB8AC3E}">
        <p14:creationId xmlns:p14="http://schemas.microsoft.com/office/powerpoint/2010/main" val="17747197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40710"/>
            <a:ext cx="12045863" cy="607380"/>
          </a:xfrm>
        </p:spPr>
        <p:txBody>
          <a:bodyPr>
            <a:noAutofit/>
          </a:bodyPr>
          <a:lstStyle/>
          <a:p>
            <a:r>
              <a:rPr lang="ru-RU" sz="4000" dirty="0"/>
              <a:t>Конфликт. </a:t>
            </a:r>
            <a:r>
              <a:rPr lang="ru-RU" sz="4000" dirty="0" err="1"/>
              <a:t>Сериализуемость</a:t>
            </a:r>
            <a:r>
              <a:rPr lang="ru-RU" sz="4000" dirty="0"/>
              <a:t> по конфликтам</a:t>
            </a:r>
            <a:endParaRPr lang="ru-RU" sz="4000"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146137" y="656823"/>
            <a:ext cx="11514045" cy="6201177"/>
          </a:xfrm>
        </p:spPr>
        <p:txBody>
          <a:bodyPr>
            <a:normAutofit fontScale="92500" lnSpcReduction="10000"/>
          </a:bodyPr>
          <a:lstStyle/>
          <a:p>
            <a:pPr algn="l">
              <a:lnSpc>
                <a:spcPct val="120000"/>
              </a:lnSpc>
              <a:spcBef>
                <a:spcPts val="600"/>
              </a:spcBef>
              <a:buFont typeface="Wingdings" panose="05000000000000000000" pitchFamily="2" charset="2"/>
              <a:buChar char="q"/>
            </a:pPr>
            <a:r>
              <a:rPr lang="ru-RU" dirty="0">
                <a:solidFill>
                  <a:schemeClr val="tx1"/>
                </a:solidFill>
              </a:rPr>
              <a:t>Широко известные </a:t>
            </a:r>
            <a:r>
              <a:rPr lang="ru-RU" b="1" dirty="0">
                <a:solidFill>
                  <a:schemeClr val="tx1"/>
                </a:solidFill>
              </a:rPr>
              <a:t>эффективно проверяемые критерии корректности </a:t>
            </a:r>
            <a:r>
              <a:rPr lang="ru-RU" dirty="0">
                <a:solidFill>
                  <a:schemeClr val="tx1"/>
                </a:solidFill>
              </a:rPr>
              <a:t>основаны на </a:t>
            </a:r>
            <a:r>
              <a:rPr lang="ru-RU" b="1" dirty="0">
                <a:solidFill>
                  <a:schemeClr val="tx1"/>
                </a:solidFill>
              </a:rPr>
              <a:t>понятии конфликта</a:t>
            </a:r>
            <a:r>
              <a:rPr lang="ru-RU" dirty="0">
                <a:solidFill>
                  <a:schemeClr val="tx1"/>
                </a:solidFill>
              </a:rPr>
              <a:t>.</a:t>
            </a:r>
          </a:p>
          <a:p>
            <a:pPr algn="l">
              <a:lnSpc>
                <a:spcPct val="120000"/>
              </a:lnSpc>
              <a:spcBef>
                <a:spcPts val="600"/>
              </a:spcBef>
              <a:buFont typeface="Wingdings" panose="05000000000000000000" pitchFamily="2" charset="2"/>
              <a:buChar char="q"/>
            </a:pPr>
            <a:r>
              <a:rPr lang="ru-RU" dirty="0">
                <a:solidFill>
                  <a:schemeClr val="tx1"/>
                </a:solidFill>
              </a:rPr>
              <a:t>Конфликтом называется пара операций </a:t>
            </a:r>
            <a:r>
              <a:rPr lang="ru-RU" dirty="0" err="1">
                <a:solidFill>
                  <a:schemeClr val="tx1"/>
                </a:solidFill>
                <a:latin typeface="Courier New" panose="02070309020205020404" pitchFamily="49" charset="0"/>
                <a:cs typeface="Courier New" panose="02070309020205020404" pitchFamily="49" charset="0"/>
              </a:rPr>
              <a:t>p</a:t>
            </a:r>
            <a:r>
              <a:rPr lang="ru-RU" baseline="-25000" dirty="0" err="1">
                <a:solidFill>
                  <a:schemeClr val="tx1"/>
                </a:solidFill>
                <a:latin typeface="Courier New" panose="02070309020205020404" pitchFamily="49" charset="0"/>
                <a:cs typeface="Courier New" panose="02070309020205020404" pitchFamily="49" charset="0"/>
              </a:rPr>
              <a:t>i</a:t>
            </a:r>
            <a:r>
              <a:rPr lang="ru-RU" dirty="0">
                <a:solidFill>
                  <a:schemeClr val="tx1"/>
                </a:solidFill>
                <a:latin typeface="Courier New" panose="02070309020205020404" pitchFamily="49" charset="0"/>
                <a:cs typeface="Courier New" panose="02070309020205020404" pitchFamily="49" charset="0"/>
              </a:rPr>
              <a:t>(x) → </a:t>
            </a:r>
            <a:r>
              <a:rPr lang="ru-RU" dirty="0" err="1">
                <a:solidFill>
                  <a:schemeClr val="tx1"/>
                </a:solidFill>
                <a:latin typeface="Courier New" panose="02070309020205020404" pitchFamily="49" charset="0"/>
                <a:cs typeface="Courier New" panose="02070309020205020404" pitchFamily="49" charset="0"/>
              </a:rPr>
              <a:t>q</a:t>
            </a:r>
            <a:r>
              <a:rPr lang="ru-RU" baseline="-25000" dirty="0" err="1">
                <a:solidFill>
                  <a:schemeClr val="tx1"/>
                </a:solidFill>
                <a:latin typeface="Courier New" panose="02070309020205020404" pitchFamily="49" charset="0"/>
                <a:cs typeface="Courier New" panose="02070309020205020404" pitchFamily="49" charset="0"/>
              </a:rPr>
              <a:t>j</a:t>
            </a:r>
            <a:r>
              <a:rPr lang="ru-RU" dirty="0">
                <a:solidFill>
                  <a:schemeClr val="tx1"/>
                </a:solidFill>
                <a:latin typeface="Courier New" panose="02070309020205020404" pitchFamily="49" charset="0"/>
                <a:cs typeface="Courier New" panose="02070309020205020404" pitchFamily="49" charset="0"/>
              </a:rPr>
              <a:t>(x), </a:t>
            </a:r>
            <a:r>
              <a:rPr lang="ru-RU" dirty="0">
                <a:solidFill>
                  <a:schemeClr val="tx1"/>
                </a:solidFill>
              </a:rPr>
              <a:t>такая, что: </a:t>
            </a:r>
          </a:p>
          <a:p>
            <a:pPr marL="0" indent="0" algn="l">
              <a:lnSpc>
                <a:spcPct val="120000"/>
              </a:lnSpc>
              <a:spcBef>
                <a:spcPts val="600"/>
              </a:spcBef>
              <a:buNone/>
            </a:pPr>
            <a:r>
              <a:rPr lang="ru-RU" dirty="0">
                <a:solidFill>
                  <a:schemeClr val="tx1"/>
                </a:solidFill>
              </a:rPr>
              <a:t>1) операции p и q применяются к одному и тому же элементу данных x; </a:t>
            </a:r>
          </a:p>
          <a:p>
            <a:pPr marL="0" indent="0" algn="l">
              <a:lnSpc>
                <a:spcPct val="120000"/>
              </a:lnSpc>
              <a:spcBef>
                <a:spcPts val="600"/>
              </a:spcBef>
              <a:buNone/>
            </a:pPr>
            <a:r>
              <a:rPr lang="ru-RU" dirty="0">
                <a:solidFill>
                  <a:schemeClr val="tx1"/>
                </a:solidFill>
              </a:rPr>
              <a:t>2) транзакции i и j различны; </a:t>
            </a:r>
          </a:p>
          <a:p>
            <a:pPr marL="0" indent="0" algn="l">
              <a:lnSpc>
                <a:spcPct val="120000"/>
              </a:lnSpc>
              <a:spcBef>
                <a:spcPts val="600"/>
              </a:spcBef>
              <a:buNone/>
            </a:pPr>
            <a:r>
              <a:rPr lang="ru-RU" dirty="0">
                <a:solidFill>
                  <a:schemeClr val="tx1"/>
                </a:solidFill>
              </a:rPr>
              <a:t>3) по крайней мере одна из операций p и q является операцией записи w.</a:t>
            </a:r>
          </a:p>
          <a:p>
            <a:pPr>
              <a:lnSpc>
                <a:spcPct val="120000"/>
              </a:lnSpc>
              <a:spcBef>
                <a:spcPts val="600"/>
              </a:spcBef>
              <a:buFont typeface="Wingdings" panose="05000000000000000000" pitchFamily="2" charset="2"/>
              <a:buChar char="q"/>
            </a:pPr>
            <a:r>
              <a:rPr lang="ru-RU" dirty="0">
                <a:solidFill>
                  <a:schemeClr val="tx1"/>
                </a:solidFill>
              </a:rPr>
              <a:t>Заметим, что операции в конфликте всегда упорядочены, поскольку операции над одним элементом данных упорядочены в любом расписании.</a:t>
            </a:r>
          </a:p>
          <a:p>
            <a:pPr>
              <a:lnSpc>
                <a:spcPct val="120000"/>
              </a:lnSpc>
              <a:spcBef>
                <a:spcPts val="600"/>
              </a:spcBef>
              <a:buFont typeface="Wingdings" panose="05000000000000000000" pitchFamily="2" charset="2"/>
              <a:buChar char="q"/>
            </a:pPr>
            <a:r>
              <a:rPr lang="ru-RU" dirty="0">
                <a:solidFill>
                  <a:schemeClr val="tx1"/>
                </a:solidFill>
              </a:rPr>
              <a:t>Расписания называются </a:t>
            </a:r>
            <a:r>
              <a:rPr lang="ru-RU" b="1" dirty="0">
                <a:solidFill>
                  <a:schemeClr val="tx1"/>
                </a:solidFill>
              </a:rPr>
              <a:t>эквивалентными по конфликтам</a:t>
            </a:r>
            <a:r>
              <a:rPr lang="ru-RU" dirty="0">
                <a:solidFill>
                  <a:schemeClr val="tx1"/>
                </a:solidFill>
              </a:rPr>
              <a:t>, если совпадают </a:t>
            </a:r>
            <a:r>
              <a:rPr lang="ru-RU" b="1" dirty="0">
                <a:solidFill>
                  <a:schemeClr val="tx1"/>
                </a:solidFill>
              </a:rPr>
              <a:t>множества конфликтов, имеющихся в этих расписаниях</a:t>
            </a:r>
            <a:r>
              <a:rPr lang="ru-RU" dirty="0">
                <a:solidFill>
                  <a:schemeClr val="tx1"/>
                </a:solidFill>
              </a:rPr>
              <a:t>. </a:t>
            </a:r>
          </a:p>
          <a:p>
            <a:pPr>
              <a:lnSpc>
                <a:spcPct val="120000"/>
              </a:lnSpc>
              <a:spcBef>
                <a:spcPts val="600"/>
              </a:spcBef>
              <a:buFont typeface="Wingdings" panose="05000000000000000000" pitchFamily="2" charset="2"/>
              <a:buChar char="q"/>
            </a:pPr>
            <a:r>
              <a:rPr lang="ru-RU" dirty="0">
                <a:solidFill>
                  <a:schemeClr val="tx1"/>
                </a:solidFill>
              </a:rPr>
              <a:t>Расписание называется </a:t>
            </a:r>
            <a:r>
              <a:rPr lang="ru-RU" b="1" dirty="0" err="1">
                <a:solidFill>
                  <a:schemeClr val="tx1"/>
                </a:solidFill>
              </a:rPr>
              <a:t>сериализуемым</a:t>
            </a:r>
            <a:r>
              <a:rPr lang="ru-RU" b="1" dirty="0">
                <a:solidFill>
                  <a:schemeClr val="tx1"/>
                </a:solidFill>
              </a:rPr>
              <a:t> по конфликтам </a:t>
            </a:r>
            <a:r>
              <a:rPr lang="ru-RU" dirty="0">
                <a:solidFill>
                  <a:schemeClr val="tx1"/>
                </a:solidFill>
              </a:rPr>
              <a:t>(CSR), если оно </a:t>
            </a:r>
            <a:r>
              <a:rPr lang="ru-RU" b="1" dirty="0">
                <a:solidFill>
                  <a:schemeClr val="tx1"/>
                </a:solidFill>
              </a:rPr>
              <a:t>эквивалентно по конфликтам некоторому серийному</a:t>
            </a:r>
            <a:r>
              <a:rPr lang="ru-RU" dirty="0">
                <a:solidFill>
                  <a:schemeClr val="tx1"/>
                </a:solidFill>
              </a:rPr>
              <a:t>.</a:t>
            </a:r>
            <a:endParaRPr lang="ru-RU" b="1" dirty="0">
              <a:solidFill>
                <a:schemeClr val="tx1"/>
              </a:solidFill>
              <a:latin typeface="Courier New" panose="02070309020205020404" pitchFamily="49" charset="0"/>
              <a:cs typeface="Courier New" panose="02070309020205020404" pitchFamily="49" charset="0"/>
            </a:endParaRP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a:xfrm>
            <a:off x="10972800" y="6356351"/>
            <a:ext cx="609600" cy="365125"/>
          </a:xfrm>
        </p:spPr>
        <p:txBody>
          <a:bodyPr/>
          <a:lstStyle/>
          <a:p>
            <a:fld id="{667D74AF-8CFA-41E7-84BA-34814A01EACF}" type="slidenum">
              <a:rPr lang="ru-RU" smtClean="0"/>
              <a:t>19</a:t>
            </a:fld>
            <a:endParaRPr lang="ru-RU" dirty="0"/>
          </a:p>
        </p:txBody>
      </p:sp>
    </p:spTree>
    <p:extLst>
      <p:ext uri="{BB962C8B-B14F-4D97-AF65-F5344CB8AC3E}">
        <p14:creationId xmlns:p14="http://schemas.microsoft.com/office/powerpoint/2010/main" val="4112364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40710"/>
            <a:ext cx="12045863" cy="607380"/>
          </a:xfrm>
        </p:spPr>
        <p:txBody>
          <a:bodyPr>
            <a:noAutofit/>
          </a:bodyPr>
          <a:lstStyle/>
          <a:p>
            <a:r>
              <a:rPr lang="en-US" dirty="0"/>
              <a:t>CSR ⊂ VSR</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146137" y="656823"/>
            <a:ext cx="11514045" cy="6201177"/>
          </a:xfrm>
        </p:spPr>
        <p:txBody>
          <a:bodyPr>
            <a:normAutofit lnSpcReduction="10000"/>
          </a:bodyPr>
          <a:lstStyle/>
          <a:p>
            <a:pPr algn="l">
              <a:lnSpc>
                <a:spcPct val="120000"/>
              </a:lnSpc>
              <a:spcBef>
                <a:spcPts val="600"/>
              </a:spcBef>
              <a:buFont typeface="Wingdings" panose="05000000000000000000" pitchFamily="2" charset="2"/>
              <a:buChar char="q"/>
            </a:pPr>
            <a:r>
              <a:rPr lang="ru-RU" dirty="0"/>
              <a:t>Пусть расписания S1 и S2 одного и того же множества транзакций </a:t>
            </a:r>
            <a:r>
              <a:rPr lang="ru-RU" b="1" dirty="0"/>
              <a:t>неэквивалентны по видимому состоянию</a:t>
            </a:r>
            <a:r>
              <a:rPr lang="ru-RU" dirty="0"/>
              <a:t>. </a:t>
            </a:r>
          </a:p>
          <a:p>
            <a:pPr algn="l">
              <a:lnSpc>
                <a:spcPct val="120000"/>
              </a:lnSpc>
              <a:spcBef>
                <a:spcPts val="600"/>
              </a:spcBef>
              <a:buFont typeface="Wingdings" panose="05000000000000000000" pitchFamily="2" charset="2"/>
              <a:buChar char="q"/>
            </a:pPr>
            <a:r>
              <a:rPr lang="ru-RU" dirty="0"/>
              <a:t>Тогда найдется операция </a:t>
            </a:r>
            <a:r>
              <a:rPr lang="ru-RU" dirty="0" err="1">
                <a:latin typeface="Courier New" panose="02070309020205020404" pitchFamily="49" charset="0"/>
                <a:cs typeface="Courier New" panose="02070309020205020404" pitchFamily="49" charset="0"/>
              </a:rPr>
              <a:t>r</a:t>
            </a:r>
            <a:r>
              <a:rPr lang="ru-RU" baseline="-25000" dirty="0" err="1">
                <a:latin typeface="Courier New" panose="02070309020205020404" pitchFamily="49" charset="0"/>
                <a:cs typeface="Courier New" panose="02070309020205020404" pitchFamily="49" charset="0"/>
              </a:rPr>
              <a:t>i</a:t>
            </a:r>
            <a:r>
              <a:rPr lang="ru-RU" dirty="0">
                <a:latin typeface="Courier New" panose="02070309020205020404" pitchFamily="49" charset="0"/>
                <a:cs typeface="Courier New" panose="02070309020205020404" pitchFamily="49" charset="0"/>
              </a:rPr>
              <a:t>(x), </a:t>
            </a:r>
            <a:r>
              <a:rPr lang="ru-RU" dirty="0"/>
              <a:t>такая, что в S1 последней предшествующей операцией записи будет </a:t>
            </a:r>
            <a:r>
              <a:rPr lang="ru-RU" dirty="0" err="1">
                <a:latin typeface="Courier New" panose="02070309020205020404" pitchFamily="49" charset="0"/>
                <a:cs typeface="Courier New" panose="02070309020205020404" pitchFamily="49" charset="0"/>
              </a:rPr>
              <a:t>w</a:t>
            </a:r>
            <a:r>
              <a:rPr lang="ru-RU" baseline="-25000" dirty="0" err="1">
                <a:latin typeface="Courier New" panose="02070309020205020404" pitchFamily="49" charset="0"/>
                <a:cs typeface="Courier New" panose="02070309020205020404" pitchFamily="49" charset="0"/>
              </a:rPr>
              <a:t>j</a:t>
            </a:r>
            <a:r>
              <a:rPr lang="ru-RU" dirty="0">
                <a:latin typeface="Courier New" panose="02070309020205020404" pitchFamily="49" charset="0"/>
                <a:cs typeface="Courier New" panose="02070309020205020404" pitchFamily="49" charset="0"/>
              </a:rPr>
              <a:t>(x), </a:t>
            </a:r>
            <a:r>
              <a:rPr lang="ru-RU" dirty="0"/>
              <a:t>а в S2 — операция </a:t>
            </a:r>
            <a:r>
              <a:rPr lang="ru-RU" dirty="0" err="1">
                <a:latin typeface="Courier New" panose="02070309020205020404" pitchFamily="49" charset="0"/>
                <a:cs typeface="Courier New" panose="02070309020205020404" pitchFamily="49" charset="0"/>
              </a:rPr>
              <a:t>w</a:t>
            </a:r>
            <a:r>
              <a:rPr lang="ru-RU" baseline="-25000" dirty="0" err="1">
                <a:latin typeface="Courier New" panose="02070309020205020404" pitchFamily="49" charset="0"/>
                <a:cs typeface="Courier New" panose="02070309020205020404" pitchFamily="49" charset="0"/>
              </a:rPr>
              <a:t>k</a:t>
            </a:r>
            <a:r>
              <a:rPr lang="ru-RU" dirty="0">
                <a:latin typeface="Courier New" panose="02070309020205020404" pitchFamily="49" charset="0"/>
                <a:cs typeface="Courier New" panose="02070309020205020404" pitchFamily="49" charset="0"/>
              </a:rPr>
              <a:t>(x). </a:t>
            </a:r>
          </a:p>
          <a:p>
            <a:pPr algn="l">
              <a:lnSpc>
                <a:spcPct val="120000"/>
              </a:lnSpc>
              <a:spcBef>
                <a:spcPts val="600"/>
              </a:spcBef>
              <a:buFont typeface="Wingdings" panose="05000000000000000000" pitchFamily="2" charset="2"/>
              <a:buChar char="q"/>
            </a:pPr>
            <a:r>
              <a:rPr lang="ru-RU" dirty="0"/>
              <a:t>В расписании S1 операция </a:t>
            </a:r>
            <a:r>
              <a:rPr lang="ru-RU" dirty="0" err="1">
                <a:latin typeface="Courier New" panose="02070309020205020404" pitchFamily="49" charset="0"/>
                <a:cs typeface="Courier New" panose="02070309020205020404" pitchFamily="49" charset="0"/>
              </a:rPr>
              <a:t>w</a:t>
            </a:r>
            <a:r>
              <a:rPr lang="ru-RU" baseline="-25000" dirty="0" err="1">
                <a:latin typeface="Courier New" panose="02070309020205020404" pitchFamily="49" charset="0"/>
                <a:cs typeface="Courier New" panose="02070309020205020404" pitchFamily="49" charset="0"/>
              </a:rPr>
              <a:t>k</a:t>
            </a:r>
            <a:r>
              <a:rPr lang="ru-RU" dirty="0">
                <a:latin typeface="Courier New" panose="02070309020205020404" pitchFamily="49" charset="0"/>
                <a:cs typeface="Courier New" panose="02070309020205020404" pitchFamily="49" charset="0"/>
              </a:rPr>
              <a:t>(x) </a:t>
            </a:r>
            <a:r>
              <a:rPr lang="ru-RU" dirty="0"/>
              <a:t>будет либо предшествовать </a:t>
            </a:r>
            <a:r>
              <a:rPr lang="ru-RU" dirty="0" err="1">
                <a:latin typeface="Courier New" panose="02070309020205020404" pitchFamily="49" charset="0"/>
                <a:cs typeface="Courier New" panose="02070309020205020404" pitchFamily="49" charset="0"/>
              </a:rPr>
              <a:t>w</a:t>
            </a:r>
            <a:r>
              <a:rPr lang="ru-RU" baseline="-25000" dirty="0" err="1">
                <a:latin typeface="Courier New" panose="02070309020205020404" pitchFamily="49" charset="0"/>
                <a:cs typeface="Courier New" panose="02070309020205020404" pitchFamily="49" charset="0"/>
              </a:rPr>
              <a:t>j</a:t>
            </a:r>
            <a:r>
              <a:rPr lang="ru-RU" dirty="0">
                <a:latin typeface="Courier New" panose="02070309020205020404" pitchFamily="49" charset="0"/>
                <a:cs typeface="Courier New" panose="02070309020205020404" pitchFamily="49" charset="0"/>
              </a:rPr>
              <a:t>(x), </a:t>
            </a:r>
            <a:r>
              <a:rPr lang="ru-RU" dirty="0"/>
              <a:t>либо следовать за </a:t>
            </a:r>
            <a:r>
              <a:rPr lang="ru-RU" dirty="0" err="1">
                <a:latin typeface="Courier New" panose="02070309020205020404" pitchFamily="49" charset="0"/>
                <a:cs typeface="Courier New" panose="02070309020205020404" pitchFamily="49" charset="0"/>
              </a:rPr>
              <a:t>r</a:t>
            </a:r>
            <a:r>
              <a:rPr lang="ru-RU" baseline="-25000" dirty="0" err="1">
                <a:latin typeface="Courier New" panose="02070309020205020404" pitchFamily="49" charset="0"/>
                <a:cs typeface="Courier New" panose="02070309020205020404" pitchFamily="49" charset="0"/>
              </a:rPr>
              <a:t>i</a:t>
            </a:r>
            <a:r>
              <a:rPr lang="ru-RU" dirty="0">
                <a:latin typeface="Courier New" panose="02070309020205020404" pitchFamily="49" charset="0"/>
                <a:cs typeface="Courier New" panose="02070309020205020404" pitchFamily="49" charset="0"/>
              </a:rPr>
              <a:t>(x). </a:t>
            </a:r>
          </a:p>
          <a:p>
            <a:pPr algn="l">
              <a:lnSpc>
                <a:spcPct val="120000"/>
              </a:lnSpc>
              <a:spcBef>
                <a:spcPts val="600"/>
              </a:spcBef>
              <a:buFont typeface="Wingdings" panose="05000000000000000000" pitchFamily="2" charset="2"/>
              <a:buChar char="q"/>
            </a:pPr>
            <a:r>
              <a:rPr lang="ru-RU" dirty="0"/>
              <a:t>Аналогичные, но другие соотношения будут иметь место в S2. </a:t>
            </a:r>
          </a:p>
          <a:p>
            <a:pPr algn="l">
              <a:lnSpc>
                <a:spcPct val="120000"/>
              </a:lnSpc>
              <a:spcBef>
                <a:spcPts val="600"/>
              </a:spcBef>
              <a:buFont typeface="Wingdings" panose="05000000000000000000" pitchFamily="2" charset="2"/>
              <a:buChar char="q"/>
            </a:pPr>
            <a:r>
              <a:rPr lang="ru-RU" dirty="0"/>
              <a:t>Из этого следует, что операции будут располагаться в конфликтах в разном порядке, следовательно S1 и S2 не эквивалентны по конфликтам и, следовательно, CSR ⊂ VSR, т. е. </a:t>
            </a:r>
            <a:r>
              <a:rPr lang="ru-RU" b="1" dirty="0"/>
              <a:t>эквивалентность по конфликтам обеспечивает семантическую корректность</a:t>
            </a:r>
            <a:r>
              <a:rPr lang="ru-RU" dirty="0"/>
              <a:t>.</a:t>
            </a:r>
            <a:endParaRPr lang="ru-RU" b="1" dirty="0">
              <a:solidFill>
                <a:schemeClr val="tx1"/>
              </a:solidFill>
              <a:latin typeface="Courier New" panose="02070309020205020404" pitchFamily="49" charset="0"/>
              <a:cs typeface="Courier New" panose="02070309020205020404" pitchFamily="49" charset="0"/>
            </a:endParaRP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a:xfrm>
            <a:off x="10972800" y="6356351"/>
            <a:ext cx="609600" cy="365125"/>
          </a:xfrm>
        </p:spPr>
        <p:txBody>
          <a:bodyPr/>
          <a:lstStyle/>
          <a:p>
            <a:fld id="{667D74AF-8CFA-41E7-84BA-34814A01EACF}" type="slidenum">
              <a:rPr lang="ru-RU" smtClean="0"/>
              <a:t>20</a:t>
            </a:fld>
            <a:endParaRPr lang="ru-RU" dirty="0"/>
          </a:p>
        </p:txBody>
      </p:sp>
    </p:spTree>
    <p:extLst>
      <p:ext uri="{BB962C8B-B14F-4D97-AF65-F5344CB8AC3E}">
        <p14:creationId xmlns:p14="http://schemas.microsoft.com/office/powerpoint/2010/main" val="24287922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 y="-40710"/>
            <a:ext cx="12566468" cy="607380"/>
          </a:xfrm>
        </p:spPr>
        <p:txBody>
          <a:bodyPr>
            <a:noAutofit/>
          </a:bodyPr>
          <a:lstStyle/>
          <a:p>
            <a:r>
              <a:rPr lang="ru-RU" sz="3200" dirty="0"/>
              <a:t>Критерий </a:t>
            </a:r>
            <a:r>
              <a:rPr lang="ru-RU" sz="3200" dirty="0" err="1"/>
              <a:t>сериализуемости</a:t>
            </a:r>
            <a:r>
              <a:rPr lang="ru-RU" sz="3200" dirty="0"/>
              <a:t> расписаний по конфликтам</a:t>
            </a:r>
            <a:endParaRPr lang="ru-RU" sz="3200"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146137" y="656823"/>
            <a:ext cx="11514045" cy="6201177"/>
          </a:xfrm>
        </p:spPr>
        <p:txBody>
          <a:bodyPr>
            <a:normAutofit lnSpcReduction="10000"/>
          </a:bodyPr>
          <a:lstStyle/>
          <a:p>
            <a:pPr algn="l">
              <a:lnSpc>
                <a:spcPct val="120000"/>
              </a:lnSpc>
              <a:spcBef>
                <a:spcPts val="600"/>
              </a:spcBef>
              <a:buFont typeface="Wingdings" panose="05000000000000000000" pitchFamily="2" charset="2"/>
              <a:buChar char="q"/>
            </a:pPr>
            <a:r>
              <a:rPr lang="ru-RU" dirty="0"/>
              <a:t>Графом </a:t>
            </a:r>
            <a:r>
              <a:rPr lang="ru-RU" dirty="0" err="1"/>
              <a:t>сериализуемости</a:t>
            </a:r>
            <a:r>
              <a:rPr lang="ru-RU" dirty="0"/>
              <a:t> для расписания называется ориентированный </a:t>
            </a:r>
            <a:r>
              <a:rPr lang="ru-RU" dirty="0" err="1"/>
              <a:t>мультиграф</a:t>
            </a:r>
            <a:r>
              <a:rPr lang="ru-RU" dirty="0"/>
              <a:t> (граф, в котором любая пара вершин может быть соединена несколькими дугами), вершины которого соответствуют транзакциям, входящим в расписание, а дуги — конфликтам между операциями этих транзакций. </a:t>
            </a:r>
          </a:p>
          <a:p>
            <a:pPr algn="l">
              <a:lnSpc>
                <a:spcPct val="120000"/>
              </a:lnSpc>
              <a:spcBef>
                <a:spcPts val="600"/>
              </a:spcBef>
              <a:buFont typeface="Wingdings" panose="05000000000000000000" pitchFamily="2" charset="2"/>
              <a:buChar char="q"/>
            </a:pPr>
            <a:r>
              <a:rPr lang="ru-RU" dirty="0"/>
              <a:t>Если для некоторой пары транзакций существует несколько конфликтов, то граф будет содержать несколько дуг, соединяющих соответствующие вершины.</a:t>
            </a:r>
          </a:p>
          <a:p>
            <a:pPr algn="l">
              <a:lnSpc>
                <a:spcPct val="120000"/>
              </a:lnSpc>
              <a:spcBef>
                <a:spcPts val="600"/>
              </a:spcBef>
              <a:buFont typeface="Wingdings" panose="05000000000000000000" pitchFamily="2" charset="2"/>
              <a:buChar char="q"/>
            </a:pPr>
            <a:r>
              <a:rPr lang="ru-RU" dirty="0"/>
              <a:t>Существует эффективно проверяемый критерий </a:t>
            </a:r>
            <a:r>
              <a:rPr lang="ru-RU" dirty="0" err="1"/>
              <a:t>сериализуемости</a:t>
            </a:r>
            <a:r>
              <a:rPr lang="ru-RU" dirty="0"/>
              <a:t> расписаний по конфликтам: расписание </a:t>
            </a:r>
            <a:r>
              <a:rPr lang="ru-RU" dirty="0" err="1"/>
              <a:t>сериализуемо</a:t>
            </a:r>
            <a:r>
              <a:rPr lang="ru-RU" dirty="0"/>
              <a:t> по конфликтам тогда и только тогда, когда граф </a:t>
            </a:r>
            <a:r>
              <a:rPr lang="ru-RU" dirty="0" err="1"/>
              <a:t>сериализуемости</a:t>
            </a:r>
            <a:r>
              <a:rPr lang="ru-RU" dirty="0"/>
              <a:t> не содержит контуров (т. е. обладает свойством ацикличности)</a:t>
            </a:r>
          </a:p>
          <a:p>
            <a:pPr algn="l">
              <a:lnSpc>
                <a:spcPct val="120000"/>
              </a:lnSpc>
              <a:spcBef>
                <a:spcPts val="600"/>
              </a:spcBef>
              <a:buFont typeface="Wingdings" panose="05000000000000000000" pitchFamily="2" charset="2"/>
              <a:buChar char="q"/>
            </a:pPr>
            <a:endParaRPr lang="ru-RU" b="1" dirty="0">
              <a:solidFill>
                <a:schemeClr val="tx1"/>
              </a:solidFill>
              <a:latin typeface="Courier New" panose="02070309020205020404" pitchFamily="49" charset="0"/>
              <a:cs typeface="Courier New" panose="02070309020205020404" pitchFamily="49" charset="0"/>
            </a:endParaRP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a:xfrm>
            <a:off x="10972800" y="6356351"/>
            <a:ext cx="609600" cy="365125"/>
          </a:xfrm>
        </p:spPr>
        <p:txBody>
          <a:bodyPr/>
          <a:lstStyle/>
          <a:p>
            <a:fld id="{667D74AF-8CFA-41E7-84BA-34814A01EACF}" type="slidenum">
              <a:rPr lang="ru-RU" smtClean="0"/>
              <a:t>21</a:t>
            </a:fld>
            <a:endParaRPr lang="ru-RU" dirty="0"/>
          </a:p>
        </p:txBody>
      </p:sp>
    </p:spTree>
    <p:extLst>
      <p:ext uri="{BB962C8B-B14F-4D97-AF65-F5344CB8AC3E}">
        <p14:creationId xmlns:p14="http://schemas.microsoft.com/office/powerpoint/2010/main" val="41099893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 y="-40710"/>
            <a:ext cx="12566468" cy="607380"/>
          </a:xfrm>
        </p:spPr>
        <p:txBody>
          <a:bodyPr>
            <a:noAutofit/>
          </a:bodyPr>
          <a:lstStyle/>
          <a:p>
            <a:r>
              <a:rPr lang="ru-RU" sz="4000" dirty="0"/>
              <a:t>Коммутативность операций</a:t>
            </a:r>
            <a:endParaRPr lang="ru-RU" sz="4000"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146137" y="656823"/>
            <a:ext cx="11514045" cy="6201177"/>
          </a:xfrm>
        </p:spPr>
        <p:txBody>
          <a:bodyPr>
            <a:normAutofit fontScale="77500" lnSpcReduction="20000"/>
          </a:bodyPr>
          <a:lstStyle/>
          <a:p>
            <a:pPr algn="l">
              <a:lnSpc>
                <a:spcPct val="120000"/>
              </a:lnSpc>
              <a:spcBef>
                <a:spcPts val="600"/>
              </a:spcBef>
              <a:buFont typeface="Wingdings" panose="05000000000000000000" pitchFamily="2" charset="2"/>
              <a:buChar char="q"/>
            </a:pPr>
            <a:r>
              <a:rPr lang="ru-RU" dirty="0"/>
              <a:t>Понятие конфликта можно заменить на понятие коммутативности операций. </a:t>
            </a:r>
          </a:p>
          <a:p>
            <a:pPr algn="l">
              <a:lnSpc>
                <a:spcPct val="120000"/>
              </a:lnSpc>
              <a:spcBef>
                <a:spcPts val="600"/>
              </a:spcBef>
              <a:buFont typeface="Wingdings" panose="05000000000000000000" pitchFamily="2" charset="2"/>
              <a:buChar char="q"/>
            </a:pPr>
            <a:r>
              <a:rPr lang="ru-RU" dirty="0"/>
              <a:t>Две операции коммутируют, если выполняется хотя бы одно из следующих условий: </a:t>
            </a:r>
          </a:p>
          <a:p>
            <a:pPr marL="0" indent="0" algn="l">
              <a:lnSpc>
                <a:spcPct val="120000"/>
              </a:lnSpc>
              <a:spcBef>
                <a:spcPts val="600"/>
              </a:spcBef>
              <a:buNone/>
            </a:pPr>
            <a:r>
              <a:rPr lang="ru-RU" dirty="0"/>
              <a:t>• операции не упорядочены в расписании (и, следовательно, могут выполняться в любом порядке); </a:t>
            </a:r>
          </a:p>
          <a:p>
            <a:pPr marL="0" indent="0" algn="l">
              <a:lnSpc>
                <a:spcPct val="120000"/>
              </a:lnSpc>
              <a:spcBef>
                <a:spcPts val="600"/>
              </a:spcBef>
              <a:buNone/>
            </a:pPr>
            <a:r>
              <a:rPr lang="ru-RU" dirty="0"/>
              <a:t>• операции являются операциями чтения; </a:t>
            </a:r>
          </a:p>
          <a:p>
            <a:pPr marL="0" indent="0" algn="l">
              <a:lnSpc>
                <a:spcPct val="120000"/>
              </a:lnSpc>
              <a:spcBef>
                <a:spcPts val="600"/>
              </a:spcBef>
              <a:buNone/>
            </a:pPr>
            <a:r>
              <a:rPr lang="ru-RU" dirty="0"/>
              <a:t>• операции выполняются над разными элементами данных разными транзакциями; </a:t>
            </a:r>
          </a:p>
          <a:p>
            <a:pPr marL="0" indent="0" algn="l">
              <a:lnSpc>
                <a:spcPct val="120000"/>
              </a:lnSpc>
              <a:spcBef>
                <a:spcPts val="600"/>
              </a:spcBef>
              <a:buNone/>
            </a:pPr>
            <a:r>
              <a:rPr lang="ru-RU" dirty="0"/>
              <a:t>• операции выполняются над разными элементами данных в одной транзакции, но их порядок не определен в этой транзакции. </a:t>
            </a:r>
          </a:p>
          <a:p>
            <a:pPr algn="l">
              <a:lnSpc>
                <a:spcPct val="120000"/>
              </a:lnSpc>
              <a:spcBef>
                <a:spcPts val="600"/>
              </a:spcBef>
              <a:buFont typeface="Wingdings" panose="05000000000000000000" pitchFamily="2" charset="2"/>
              <a:buChar char="q"/>
            </a:pPr>
            <a:r>
              <a:rPr lang="ru-RU" dirty="0"/>
              <a:t>Очевидно, что операции, находящиеся в конфликте, не коммутируют.</a:t>
            </a:r>
          </a:p>
          <a:p>
            <a:pPr algn="l">
              <a:lnSpc>
                <a:spcPct val="120000"/>
              </a:lnSpc>
              <a:spcBef>
                <a:spcPts val="600"/>
              </a:spcBef>
              <a:buFont typeface="Wingdings" panose="05000000000000000000" pitchFamily="2" charset="2"/>
              <a:buChar char="q"/>
            </a:pPr>
            <a:r>
              <a:rPr lang="ru-RU" dirty="0"/>
              <a:t>Легко доказать, что </a:t>
            </a:r>
            <a:r>
              <a:rPr lang="ru-RU" dirty="0" err="1"/>
              <a:t>сериализуемость</a:t>
            </a:r>
            <a:r>
              <a:rPr lang="ru-RU" dirty="0"/>
              <a:t> по коммутативности эквивалентна </a:t>
            </a:r>
            <a:r>
              <a:rPr lang="ru-RU" dirty="0" err="1"/>
              <a:t>сериализуемости</a:t>
            </a:r>
            <a:r>
              <a:rPr lang="ru-RU" dirty="0"/>
              <a:t> по конфликтам.</a:t>
            </a:r>
          </a:p>
          <a:p>
            <a:pPr algn="l">
              <a:lnSpc>
                <a:spcPct val="120000"/>
              </a:lnSpc>
              <a:spcBef>
                <a:spcPts val="600"/>
              </a:spcBef>
              <a:buFont typeface="Wingdings" panose="05000000000000000000" pitchFamily="2" charset="2"/>
              <a:buChar char="q"/>
            </a:pPr>
            <a:r>
              <a:rPr lang="ru-RU" dirty="0"/>
              <a:t>Однако понятие коммутативности </a:t>
            </a:r>
            <a:r>
              <a:rPr lang="ru-RU" b="1" dirty="0"/>
              <a:t>легче обобщить на другие виды операций</a:t>
            </a:r>
            <a:r>
              <a:rPr lang="ru-RU" dirty="0"/>
              <a:t>, кроме чтения и записи. </a:t>
            </a:r>
          </a:p>
          <a:p>
            <a:pPr algn="l">
              <a:lnSpc>
                <a:spcPct val="120000"/>
              </a:lnSpc>
              <a:spcBef>
                <a:spcPts val="600"/>
              </a:spcBef>
              <a:buFont typeface="Wingdings" panose="05000000000000000000" pitchFamily="2" charset="2"/>
              <a:buChar char="q"/>
            </a:pPr>
            <a:r>
              <a:rPr lang="ru-RU" dirty="0"/>
              <a:t>Это дает </a:t>
            </a:r>
            <a:r>
              <a:rPr lang="ru-RU" b="1" dirty="0"/>
              <a:t>возможность использовать теорию в более широких контекстах</a:t>
            </a:r>
            <a:r>
              <a:rPr lang="ru-RU" dirty="0"/>
              <a:t>.</a:t>
            </a:r>
            <a:endParaRPr lang="ru-RU" b="1" dirty="0">
              <a:solidFill>
                <a:schemeClr val="tx1"/>
              </a:solidFill>
              <a:latin typeface="Courier New" panose="02070309020205020404" pitchFamily="49" charset="0"/>
              <a:cs typeface="Courier New" panose="02070309020205020404" pitchFamily="49" charset="0"/>
            </a:endParaRP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a:xfrm>
            <a:off x="10972800" y="6356351"/>
            <a:ext cx="609600" cy="365125"/>
          </a:xfrm>
        </p:spPr>
        <p:txBody>
          <a:bodyPr/>
          <a:lstStyle/>
          <a:p>
            <a:fld id="{667D74AF-8CFA-41E7-84BA-34814A01EACF}" type="slidenum">
              <a:rPr lang="ru-RU" smtClean="0"/>
              <a:t>22</a:t>
            </a:fld>
            <a:endParaRPr lang="ru-RU" dirty="0"/>
          </a:p>
        </p:txBody>
      </p:sp>
    </p:spTree>
    <p:extLst>
      <p:ext uri="{BB962C8B-B14F-4D97-AF65-F5344CB8AC3E}">
        <p14:creationId xmlns:p14="http://schemas.microsoft.com/office/powerpoint/2010/main" val="2806068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40710"/>
            <a:ext cx="12045863" cy="1005214"/>
          </a:xfrm>
        </p:spPr>
        <p:txBody>
          <a:bodyPr>
            <a:noAutofit/>
          </a:bodyPr>
          <a:lstStyle/>
          <a:p>
            <a:r>
              <a:rPr lang="ru-RU" sz="3200" dirty="0">
                <a:latin typeface="Arial" panose="020B0604020202020204" pitchFamily="34" charset="0"/>
                <a:cs typeface="Arial" panose="020B0604020202020204" pitchFamily="34" charset="0"/>
              </a:rPr>
              <a:t>Изоляция мгновенных снимков</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263048" y="964505"/>
            <a:ext cx="11724360" cy="5893496"/>
          </a:xfrm>
        </p:spPr>
        <p:txBody>
          <a:bodyPr>
            <a:normAutofit fontScale="92500" lnSpcReduction="10000"/>
          </a:bodyPr>
          <a:lstStyle/>
          <a:p>
            <a:pPr algn="l">
              <a:lnSpc>
                <a:spcPct val="120000"/>
              </a:lnSpc>
              <a:spcBef>
                <a:spcPts val="600"/>
              </a:spcBef>
              <a:buFont typeface="Wingdings" panose="05000000000000000000" pitchFamily="2" charset="2"/>
              <a:buChar char="q"/>
            </a:pPr>
            <a:r>
              <a:rPr lang="ru-RU" dirty="0">
                <a:latin typeface="Arial" panose="020B0604020202020204" pitchFamily="34" charset="0"/>
                <a:cs typeface="Arial" panose="020B0604020202020204" pitchFamily="34" charset="0"/>
              </a:rPr>
              <a:t>Проверка </a:t>
            </a:r>
            <a:r>
              <a:rPr lang="ru-RU" dirty="0" err="1">
                <a:latin typeface="Arial" panose="020B0604020202020204" pitchFamily="34" charset="0"/>
                <a:cs typeface="Arial" panose="020B0604020202020204" pitchFamily="34" charset="0"/>
              </a:rPr>
              <a:t>сериализуемости</a:t>
            </a:r>
            <a:r>
              <a:rPr lang="ru-RU" dirty="0">
                <a:latin typeface="Arial" panose="020B0604020202020204" pitchFamily="34" charset="0"/>
                <a:cs typeface="Arial" panose="020B0604020202020204" pitchFamily="34" charset="0"/>
              </a:rPr>
              <a:t> по конфликтам может выполняться эффективно.</a:t>
            </a:r>
            <a:endParaRPr lang="en-US" dirty="0">
              <a:latin typeface="Arial" panose="020B0604020202020204" pitchFamily="34" charset="0"/>
              <a:cs typeface="Arial" panose="020B0604020202020204" pitchFamily="34" charset="0"/>
            </a:endParaRPr>
          </a:p>
          <a:p>
            <a:pPr algn="l">
              <a:lnSpc>
                <a:spcPct val="120000"/>
              </a:lnSpc>
              <a:spcBef>
                <a:spcPts val="600"/>
              </a:spcBef>
              <a:buFont typeface="Wingdings" panose="05000000000000000000" pitchFamily="2" charset="2"/>
              <a:buChar char="q"/>
            </a:pPr>
            <a:r>
              <a:rPr lang="ru-RU" dirty="0">
                <a:latin typeface="Arial" panose="020B0604020202020204" pitchFamily="34" charset="0"/>
                <a:cs typeface="Arial" panose="020B0604020202020204" pitchFamily="34" charset="0"/>
              </a:rPr>
              <a:t>Однако оказалось, что широко известные </a:t>
            </a:r>
            <a:r>
              <a:rPr lang="ru-RU" b="1" dirty="0">
                <a:latin typeface="Arial" panose="020B0604020202020204" pitchFamily="34" charset="0"/>
                <a:cs typeface="Arial" panose="020B0604020202020204" pitchFamily="34" charset="0"/>
              </a:rPr>
              <a:t>протоколы управления транзакциями на основе блокировок</a:t>
            </a:r>
            <a:r>
              <a:rPr lang="ru-RU" dirty="0">
                <a:latin typeface="Arial" panose="020B0604020202020204" pitchFamily="34" charset="0"/>
                <a:cs typeface="Arial" panose="020B0604020202020204" pitchFamily="34" charset="0"/>
              </a:rPr>
              <a:t>, гарантирующие все свойства корректных расписаний, слишком </a:t>
            </a:r>
            <a:r>
              <a:rPr lang="ru-RU" b="1" dirty="0">
                <a:latin typeface="Arial" panose="020B0604020202020204" pitchFamily="34" charset="0"/>
                <a:cs typeface="Arial" panose="020B0604020202020204" pitchFamily="34" charset="0"/>
              </a:rPr>
              <a:t>сильно ограничивают возможности конкурентного выполнения</a:t>
            </a:r>
            <a:r>
              <a:rPr lang="ru-RU" dirty="0">
                <a:latin typeface="Arial" panose="020B0604020202020204" pitchFamily="34" charset="0"/>
                <a:cs typeface="Arial" panose="020B0604020202020204" pitchFamily="34" charset="0"/>
              </a:rPr>
              <a:t>. </a:t>
            </a:r>
            <a:endParaRPr lang="en-US" dirty="0">
              <a:latin typeface="Arial" panose="020B0604020202020204" pitchFamily="34" charset="0"/>
              <a:cs typeface="Arial" panose="020B0604020202020204" pitchFamily="34" charset="0"/>
            </a:endParaRPr>
          </a:p>
          <a:p>
            <a:pPr algn="l">
              <a:lnSpc>
                <a:spcPct val="120000"/>
              </a:lnSpc>
              <a:spcBef>
                <a:spcPts val="600"/>
              </a:spcBef>
              <a:buFont typeface="Wingdings" panose="05000000000000000000" pitchFamily="2" charset="2"/>
              <a:buChar char="q"/>
            </a:pPr>
            <a:r>
              <a:rPr lang="ru-RU" dirty="0">
                <a:latin typeface="Arial" panose="020B0604020202020204" pitchFamily="34" charset="0"/>
                <a:cs typeface="Arial" panose="020B0604020202020204" pitchFamily="34" charset="0"/>
              </a:rPr>
              <a:t>Транзакции </a:t>
            </a:r>
            <a:r>
              <a:rPr lang="ru-RU" b="1" dirty="0">
                <a:latin typeface="Arial" panose="020B0604020202020204" pitchFamily="34" charset="0"/>
                <a:cs typeface="Arial" panose="020B0604020202020204" pitchFamily="34" charset="0"/>
              </a:rPr>
              <a:t>слишком часто </a:t>
            </a:r>
            <a:r>
              <a:rPr lang="ru-RU" dirty="0">
                <a:latin typeface="Arial" panose="020B0604020202020204" pitchFamily="34" charset="0"/>
                <a:cs typeface="Arial" panose="020B0604020202020204" pitchFamily="34" charset="0"/>
              </a:rPr>
              <a:t>оказываются в состоянии ожидания</a:t>
            </a:r>
          </a:p>
          <a:p>
            <a:pPr algn="l">
              <a:lnSpc>
                <a:spcPct val="120000"/>
              </a:lnSpc>
              <a:spcBef>
                <a:spcPts val="600"/>
              </a:spcBef>
              <a:buFont typeface="Wingdings" panose="05000000000000000000" pitchFamily="2" charset="2"/>
              <a:buChar char="q"/>
            </a:pPr>
            <a:r>
              <a:rPr lang="ru-RU" dirty="0">
                <a:latin typeface="Arial" panose="020B0604020202020204" pitchFamily="34" charset="0"/>
                <a:cs typeface="Arial" panose="020B0604020202020204" pitchFamily="34" charset="0"/>
              </a:rPr>
              <a:t>В результате существенно ограничивается пропускная способность СУБД. </a:t>
            </a:r>
          </a:p>
          <a:p>
            <a:pPr algn="l">
              <a:lnSpc>
                <a:spcPct val="120000"/>
              </a:lnSpc>
              <a:spcBef>
                <a:spcPts val="600"/>
              </a:spcBef>
              <a:buFont typeface="Wingdings" panose="05000000000000000000" pitchFamily="2" charset="2"/>
              <a:buChar char="q"/>
            </a:pPr>
            <a:r>
              <a:rPr lang="ru-RU" dirty="0">
                <a:latin typeface="Arial" panose="020B0604020202020204" pitchFamily="34" charset="0"/>
                <a:cs typeface="Arial" panose="020B0604020202020204" pitchFamily="34" charset="0"/>
              </a:rPr>
              <a:t>Необходимость глобальных блокировок делает эти протоколы </a:t>
            </a:r>
            <a:r>
              <a:rPr lang="ru-RU" dirty="0" err="1">
                <a:latin typeface="Arial" panose="020B0604020202020204" pitchFamily="34" charset="0"/>
                <a:cs typeface="Arial" panose="020B0604020202020204" pitchFamily="34" charset="0"/>
              </a:rPr>
              <a:t>немасштабируемыми</a:t>
            </a:r>
            <a:r>
              <a:rPr lang="ru-RU" dirty="0">
                <a:latin typeface="Arial" panose="020B0604020202020204" pitchFamily="34" charset="0"/>
                <a:cs typeface="Arial" panose="020B0604020202020204" pitchFamily="34" charset="0"/>
              </a:rPr>
              <a:t> и, следовательно, неприменимыми в распределенных системах.</a:t>
            </a:r>
            <a:endParaRPr lang="ru-RU" dirty="0">
              <a:solidFill>
                <a:schemeClr val="tx1"/>
              </a:solidFill>
              <a:latin typeface="Arial" panose="020B0604020202020204" pitchFamily="34" charset="0"/>
              <a:cs typeface="Arial" panose="020B0604020202020204" pitchFamily="34" charset="0"/>
            </a:endParaRP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p:txBody>
          <a:bodyPr/>
          <a:lstStyle/>
          <a:p>
            <a:fld id="{667D74AF-8CFA-41E7-84BA-34814A01EACF}" type="slidenum">
              <a:rPr lang="ru-RU" smtClean="0"/>
              <a:t>23</a:t>
            </a:fld>
            <a:endParaRPr lang="ru-RU"/>
          </a:p>
        </p:txBody>
      </p:sp>
    </p:spTree>
    <p:extLst>
      <p:ext uri="{BB962C8B-B14F-4D97-AF65-F5344CB8AC3E}">
        <p14:creationId xmlns:p14="http://schemas.microsoft.com/office/powerpoint/2010/main" val="11576644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40710"/>
            <a:ext cx="12045863" cy="1005214"/>
          </a:xfrm>
        </p:spPr>
        <p:txBody>
          <a:bodyPr>
            <a:noAutofit/>
          </a:bodyPr>
          <a:lstStyle/>
          <a:p>
            <a:r>
              <a:rPr lang="ru-RU" sz="3200" dirty="0">
                <a:latin typeface="Arial" panose="020B0604020202020204" pitchFamily="34" charset="0"/>
                <a:cs typeface="Arial" panose="020B0604020202020204" pitchFamily="34" charset="0"/>
              </a:rPr>
              <a:t>Изоляция мгновенных снимков</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263048" y="964505"/>
            <a:ext cx="11724360" cy="5893496"/>
          </a:xfrm>
        </p:spPr>
        <p:txBody>
          <a:bodyPr>
            <a:normAutofit/>
          </a:bodyPr>
          <a:lstStyle/>
          <a:p>
            <a:pPr algn="l">
              <a:lnSpc>
                <a:spcPct val="120000"/>
              </a:lnSpc>
              <a:spcBef>
                <a:spcPts val="600"/>
              </a:spcBef>
              <a:buFont typeface="Wingdings" panose="05000000000000000000" pitchFamily="2" charset="2"/>
              <a:buChar char="q"/>
            </a:pPr>
            <a:r>
              <a:rPr lang="ru-RU" dirty="0"/>
              <a:t>В языке SQL предусмотрена возможность использования ослабленных критериев корректности (задаваемых уровнями изоляции)</a:t>
            </a:r>
          </a:p>
          <a:p>
            <a:pPr algn="l">
              <a:lnSpc>
                <a:spcPct val="120000"/>
              </a:lnSpc>
              <a:spcBef>
                <a:spcPts val="600"/>
              </a:spcBef>
              <a:buFont typeface="Wingdings" panose="05000000000000000000" pitchFamily="2" charset="2"/>
              <a:buChar char="q"/>
            </a:pPr>
            <a:r>
              <a:rPr lang="ru-RU" dirty="0"/>
              <a:t>Реализации СУБД применяют протоколы, не гарантирующие корректность, но обеспечивающие более высокую пропускную способность.</a:t>
            </a:r>
          </a:p>
          <a:p>
            <a:pPr algn="l">
              <a:lnSpc>
                <a:spcPct val="120000"/>
              </a:lnSpc>
              <a:spcBef>
                <a:spcPts val="600"/>
              </a:spcBef>
              <a:buFont typeface="Wingdings" panose="05000000000000000000" pitchFamily="2" charset="2"/>
              <a:buChar char="q"/>
            </a:pPr>
            <a:r>
              <a:rPr lang="ru-RU" dirty="0"/>
              <a:t>Один из таких протоколов, широко используемых на практике, в том числе в </a:t>
            </a:r>
            <a:r>
              <a:rPr lang="ru-RU" dirty="0" err="1"/>
              <a:t>PostgreSQL</a:t>
            </a:r>
            <a:r>
              <a:rPr lang="ru-RU" dirty="0"/>
              <a:t>, называется изоляцией снимков (</a:t>
            </a:r>
            <a:r>
              <a:rPr lang="ru-RU" dirty="0" err="1"/>
              <a:t>snapshot</a:t>
            </a:r>
            <a:r>
              <a:rPr lang="ru-RU" dirty="0"/>
              <a:t> </a:t>
            </a:r>
            <a:r>
              <a:rPr lang="ru-RU" dirty="0" err="1"/>
              <a:t>isolation</a:t>
            </a:r>
            <a:r>
              <a:rPr lang="ru-RU" dirty="0"/>
              <a:t>, SI)</a:t>
            </a:r>
            <a:endParaRPr lang="ru-RU" dirty="0">
              <a:solidFill>
                <a:schemeClr val="tx1"/>
              </a:solidFill>
              <a:latin typeface="Arial" panose="020B0604020202020204" pitchFamily="34" charset="0"/>
              <a:cs typeface="Arial" panose="020B0604020202020204" pitchFamily="34" charset="0"/>
            </a:endParaRP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p:txBody>
          <a:bodyPr/>
          <a:lstStyle/>
          <a:p>
            <a:fld id="{667D74AF-8CFA-41E7-84BA-34814A01EACF}" type="slidenum">
              <a:rPr lang="ru-RU" smtClean="0"/>
              <a:t>24</a:t>
            </a:fld>
            <a:endParaRPr lang="ru-RU"/>
          </a:p>
        </p:txBody>
      </p:sp>
    </p:spTree>
    <p:extLst>
      <p:ext uri="{BB962C8B-B14F-4D97-AF65-F5344CB8AC3E}">
        <p14:creationId xmlns:p14="http://schemas.microsoft.com/office/powerpoint/2010/main" val="26405323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40710"/>
            <a:ext cx="12045863" cy="1005214"/>
          </a:xfrm>
        </p:spPr>
        <p:txBody>
          <a:bodyPr>
            <a:noAutofit/>
          </a:bodyPr>
          <a:lstStyle/>
          <a:p>
            <a:r>
              <a:rPr lang="ru-RU" sz="3200" dirty="0">
                <a:latin typeface="Arial" panose="020B0604020202020204" pitchFamily="34" charset="0"/>
                <a:cs typeface="Arial" panose="020B0604020202020204" pitchFamily="34" charset="0"/>
              </a:rPr>
              <a:t>Изоляция мгновенных снимков</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263048" y="964505"/>
            <a:ext cx="11724360" cy="5893496"/>
          </a:xfrm>
        </p:spPr>
        <p:txBody>
          <a:bodyPr>
            <a:normAutofit/>
          </a:bodyPr>
          <a:lstStyle/>
          <a:p>
            <a:pPr algn="l">
              <a:lnSpc>
                <a:spcPct val="120000"/>
              </a:lnSpc>
              <a:spcBef>
                <a:spcPts val="600"/>
              </a:spcBef>
              <a:buFont typeface="Wingdings" panose="05000000000000000000" pitchFamily="2" charset="2"/>
              <a:buChar char="q"/>
            </a:pPr>
            <a:r>
              <a:rPr lang="ru-RU" dirty="0"/>
              <a:t>Для того чтобы определить, какие расписания считаются корректными в соответствии с протоколом SI, необходимо связать с каждой транзакцией: </a:t>
            </a:r>
          </a:p>
          <a:p>
            <a:pPr marL="0" indent="0" algn="l">
              <a:lnSpc>
                <a:spcPct val="120000"/>
              </a:lnSpc>
              <a:spcBef>
                <a:spcPts val="600"/>
              </a:spcBef>
              <a:buNone/>
            </a:pPr>
            <a:r>
              <a:rPr lang="ru-RU" dirty="0"/>
              <a:t>1) метку времени начала транзакции STS(t); </a:t>
            </a:r>
          </a:p>
          <a:p>
            <a:pPr marL="0" indent="0" algn="l">
              <a:lnSpc>
                <a:spcPct val="120000"/>
              </a:lnSpc>
              <a:spcBef>
                <a:spcPts val="600"/>
              </a:spcBef>
              <a:buNone/>
            </a:pPr>
            <a:r>
              <a:rPr lang="ru-RU" dirty="0"/>
              <a:t>2) метку времени фиксации транзакции CTS(t); </a:t>
            </a:r>
          </a:p>
          <a:p>
            <a:pPr marL="0" indent="0" algn="l">
              <a:lnSpc>
                <a:spcPct val="120000"/>
              </a:lnSpc>
              <a:spcBef>
                <a:spcPts val="600"/>
              </a:spcBef>
              <a:buNone/>
            </a:pPr>
            <a:r>
              <a:rPr lang="ru-RU" dirty="0"/>
              <a:t>3) интервал времени, в течение которого выполнялась транзакция </a:t>
            </a:r>
          </a:p>
          <a:p>
            <a:pPr marL="0" indent="0" algn="l">
              <a:lnSpc>
                <a:spcPct val="120000"/>
              </a:lnSpc>
              <a:spcBef>
                <a:spcPts val="600"/>
              </a:spcBef>
              <a:buNone/>
            </a:pPr>
            <a:r>
              <a:rPr lang="ru-RU" dirty="0"/>
              <a:t>		τ(t) = (STS(t), CTS(t)); </a:t>
            </a:r>
          </a:p>
          <a:p>
            <a:pPr marL="0" indent="0" algn="l">
              <a:lnSpc>
                <a:spcPct val="120000"/>
              </a:lnSpc>
              <a:spcBef>
                <a:spcPts val="600"/>
              </a:spcBef>
              <a:buNone/>
            </a:pPr>
            <a:r>
              <a:rPr lang="ru-RU" dirty="0"/>
              <a:t>4) множество элементов данных, которые записываются транзакцией </a:t>
            </a:r>
          </a:p>
          <a:p>
            <a:pPr marL="0" indent="0" algn="l">
              <a:lnSpc>
                <a:spcPct val="120000"/>
              </a:lnSpc>
              <a:spcBef>
                <a:spcPts val="600"/>
              </a:spcBef>
              <a:buNone/>
            </a:pPr>
            <a:r>
              <a:rPr lang="ru-RU" dirty="0"/>
              <a:t>		WS(t) (</a:t>
            </a:r>
            <a:r>
              <a:rPr lang="ru-RU" dirty="0" err="1"/>
              <a:t>write</a:t>
            </a:r>
            <a:r>
              <a:rPr lang="ru-RU" dirty="0"/>
              <a:t> </a:t>
            </a:r>
            <a:r>
              <a:rPr lang="ru-RU" dirty="0" err="1"/>
              <a:t>set</a:t>
            </a:r>
            <a:r>
              <a:rPr lang="ru-RU" dirty="0"/>
              <a:t>). </a:t>
            </a:r>
            <a:endParaRPr lang="ru-RU" dirty="0">
              <a:solidFill>
                <a:schemeClr val="tx1"/>
              </a:solidFill>
              <a:latin typeface="Arial" panose="020B0604020202020204" pitchFamily="34" charset="0"/>
              <a:cs typeface="Arial" panose="020B0604020202020204" pitchFamily="34" charset="0"/>
            </a:endParaRP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p:txBody>
          <a:bodyPr/>
          <a:lstStyle/>
          <a:p>
            <a:fld id="{667D74AF-8CFA-41E7-84BA-34814A01EACF}" type="slidenum">
              <a:rPr lang="ru-RU" smtClean="0"/>
              <a:t>25</a:t>
            </a:fld>
            <a:endParaRPr lang="ru-RU"/>
          </a:p>
        </p:txBody>
      </p:sp>
    </p:spTree>
    <p:extLst>
      <p:ext uri="{BB962C8B-B14F-4D97-AF65-F5344CB8AC3E}">
        <p14:creationId xmlns:p14="http://schemas.microsoft.com/office/powerpoint/2010/main" val="26929993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0"/>
            <a:ext cx="12045863" cy="777766"/>
          </a:xfrm>
        </p:spPr>
        <p:txBody>
          <a:bodyPr>
            <a:noAutofit/>
          </a:bodyPr>
          <a:lstStyle/>
          <a:p>
            <a:r>
              <a:rPr lang="ru-RU" sz="3200" dirty="0">
                <a:latin typeface="Arial" panose="020B0604020202020204" pitchFamily="34" charset="0"/>
                <a:cs typeface="Arial" panose="020B0604020202020204" pitchFamily="34" charset="0"/>
              </a:rPr>
              <a:t>Конкурентное  выполнение транзакций</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263048" y="693686"/>
            <a:ext cx="11724360" cy="6201103"/>
          </a:xfrm>
        </p:spPr>
        <p:txBody>
          <a:bodyPr>
            <a:normAutofit fontScale="77500" lnSpcReduction="20000"/>
          </a:bodyPr>
          <a:lstStyle/>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При использовании протокола SI </a:t>
            </a:r>
            <a:r>
              <a:rPr lang="ru-RU" b="1" dirty="0">
                <a:solidFill>
                  <a:schemeClr val="tx1"/>
                </a:solidFill>
                <a:latin typeface="Arial" panose="020B0604020202020204" pitchFamily="34" charset="0"/>
                <a:cs typeface="Arial" panose="020B0604020202020204" pitchFamily="34" charset="0"/>
              </a:rPr>
              <a:t>операции чтения </a:t>
            </a:r>
            <a:r>
              <a:rPr lang="ru-RU" dirty="0">
                <a:solidFill>
                  <a:schemeClr val="tx1"/>
                </a:solidFill>
                <a:latin typeface="Arial" panose="020B0604020202020204" pitchFamily="34" charset="0"/>
                <a:cs typeface="Arial" panose="020B0604020202020204" pitchFamily="34" charset="0"/>
              </a:rPr>
              <a:t>возвращают значения, которые имели элементы данных на момент начала транзакции STS(t).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Если транзакция </a:t>
            </a:r>
            <a:r>
              <a:rPr lang="ru-RU" b="1" dirty="0">
                <a:solidFill>
                  <a:schemeClr val="tx1"/>
                </a:solidFill>
                <a:latin typeface="Arial" panose="020B0604020202020204" pitchFamily="34" charset="0"/>
                <a:cs typeface="Arial" panose="020B0604020202020204" pitchFamily="34" charset="0"/>
              </a:rPr>
              <a:t>модифицировала элемент данных</a:t>
            </a:r>
            <a:r>
              <a:rPr lang="ru-RU" dirty="0">
                <a:solidFill>
                  <a:schemeClr val="tx1"/>
                </a:solidFill>
                <a:latin typeface="Arial" panose="020B0604020202020204" pitchFamily="34" charset="0"/>
                <a:cs typeface="Arial" panose="020B0604020202020204" pitchFamily="34" charset="0"/>
              </a:rPr>
              <a:t>, то она </a:t>
            </a:r>
            <a:r>
              <a:rPr lang="ru-RU" b="1" dirty="0">
                <a:solidFill>
                  <a:schemeClr val="tx1"/>
                </a:solidFill>
                <a:latin typeface="Arial" panose="020B0604020202020204" pitchFamily="34" charset="0"/>
                <a:cs typeface="Arial" panose="020B0604020202020204" pitchFamily="34" charset="0"/>
              </a:rPr>
              <a:t>сама может прочитать новое значение</a:t>
            </a:r>
            <a:r>
              <a:rPr lang="ru-RU" dirty="0">
                <a:solidFill>
                  <a:schemeClr val="tx1"/>
                </a:solidFill>
                <a:latin typeface="Arial" panose="020B0604020202020204" pitchFamily="34" charset="0"/>
                <a:cs typeface="Arial" panose="020B0604020202020204" pitchFamily="34" charset="0"/>
              </a:rPr>
              <a:t>, но </a:t>
            </a:r>
            <a:r>
              <a:rPr lang="ru-RU" b="1" dirty="0">
                <a:solidFill>
                  <a:schemeClr val="tx1"/>
                </a:solidFill>
                <a:latin typeface="Arial" panose="020B0604020202020204" pitchFamily="34" charset="0"/>
                <a:cs typeface="Arial" panose="020B0604020202020204" pitchFamily="34" charset="0"/>
              </a:rPr>
              <a:t>другие транзакции </a:t>
            </a:r>
            <a:r>
              <a:rPr lang="ru-RU" dirty="0">
                <a:solidFill>
                  <a:schemeClr val="tx1"/>
                </a:solidFill>
                <a:latin typeface="Arial" panose="020B0604020202020204" pitchFamily="34" charset="0"/>
                <a:cs typeface="Arial" panose="020B0604020202020204" pitchFamily="34" charset="0"/>
              </a:rPr>
              <a:t>смогут его </a:t>
            </a:r>
            <a:r>
              <a:rPr lang="ru-RU" b="1" dirty="0">
                <a:solidFill>
                  <a:schemeClr val="tx1"/>
                </a:solidFill>
                <a:latin typeface="Arial" panose="020B0604020202020204" pitchFamily="34" charset="0"/>
                <a:cs typeface="Arial" panose="020B0604020202020204" pitchFamily="34" charset="0"/>
              </a:rPr>
              <a:t>получить только после фиксации транзакции, записавшей это значение</a:t>
            </a:r>
            <a:r>
              <a:rPr lang="ru-RU" dirty="0">
                <a:solidFill>
                  <a:schemeClr val="tx1"/>
                </a:solidFill>
                <a:latin typeface="Arial" panose="020B0604020202020204" pitchFamily="34" charset="0"/>
                <a:cs typeface="Arial" panose="020B0604020202020204" pitchFamily="34" charset="0"/>
              </a:rPr>
              <a:t>. </a:t>
            </a:r>
          </a:p>
          <a:p>
            <a:pPr algn="l">
              <a:lnSpc>
                <a:spcPct val="120000"/>
              </a:lnSpc>
              <a:spcBef>
                <a:spcPts val="600"/>
              </a:spcBef>
              <a:buFont typeface="Wingdings" panose="05000000000000000000" pitchFamily="2" charset="2"/>
              <a:buChar char="q"/>
            </a:pPr>
            <a:r>
              <a:rPr lang="ru-RU" b="1" dirty="0">
                <a:solidFill>
                  <a:schemeClr val="tx1"/>
                </a:solidFill>
                <a:latin typeface="Arial" panose="020B0604020202020204" pitchFamily="34" charset="0"/>
                <a:cs typeface="Arial" panose="020B0604020202020204" pitchFamily="34" charset="0"/>
              </a:rPr>
              <a:t>Выполнение транзакций </a:t>
            </a:r>
            <a:r>
              <a:rPr lang="en-US" dirty="0">
                <a:solidFill>
                  <a:schemeClr val="tx1"/>
                </a:solidFill>
                <a:latin typeface="Arial" panose="020B0604020202020204" pitchFamily="34" charset="0"/>
                <a:cs typeface="Arial" panose="020B0604020202020204" pitchFamily="34" charset="0"/>
              </a:rPr>
              <a:t>t1</a:t>
            </a:r>
            <a:r>
              <a:rPr lang="ru-RU" dirty="0">
                <a:solidFill>
                  <a:schemeClr val="tx1"/>
                </a:solidFill>
                <a:latin typeface="Arial" panose="020B0604020202020204" pitchFamily="34" charset="0"/>
                <a:cs typeface="Arial" panose="020B0604020202020204" pitchFamily="34" charset="0"/>
              </a:rPr>
              <a:t>, t2 называется </a:t>
            </a:r>
            <a:r>
              <a:rPr lang="ru-RU" b="1" dirty="0">
                <a:solidFill>
                  <a:schemeClr val="tx1"/>
                </a:solidFill>
                <a:latin typeface="Arial" panose="020B0604020202020204" pitchFamily="34" charset="0"/>
                <a:cs typeface="Arial" panose="020B0604020202020204" pitchFamily="34" charset="0"/>
              </a:rPr>
              <a:t>конкурентным</a:t>
            </a:r>
            <a:r>
              <a:rPr lang="ru-RU" dirty="0">
                <a:solidFill>
                  <a:schemeClr val="tx1"/>
                </a:solidFill>
                <a:latin typeface="Arial" panose="020B0604020202020204" pitchFamily="34" charset="0"/>
                <a:cs typeface="Arial" panose="020B0604020202020204" pitchFamily="34" charset="0"/>
              </a:rPr>
              <a:t>, </a:t>
            </a:r>
            <a:br>
              <a:rPr lang="ru-RU" dirty="0">
                <a:solidFill>
                  <a:schemeClr val="tx1"/>
                </a:solidFill>
                <a:latin typeface="Arial" panose="020B0604020202020204" pitchFamily="34" charset="0"/>
                <a:cs typeface="Arial" panose="020B0604020202020204" pitchFamily="34" charset="0"/>
              </a:rPr>
            </a:br>
            <a:r>
              <a:rPr lang="ru-RU" dirty="0">
                <a:solidFill>
                  <a:schemeClr val="tx1"/>
                </a:solidFill>
                <a:latin typeface="Arial" panose="020B0604020202020204" pitchFamily="34" charset="0"/>
                <a:cs typeface="Arial" panose="020B0604020202020204" pitchFamily="34" charset="0"/>
              </a:rPr>
              <a:t>если τ(</a:t>
            </a:r>
            <a:r>
              <a:rPr lang="en-US" dirty="0">
                <a:solidFill>
                  <a:schemeClr val="tx1"/>
                </a:solidFill>
                <a:latin typeface="Arial" panose="020B0604020202020204" pitchFamily="34" charset="0"/>
                <a:cs typeface="Arial" panose="020B0604020202020204" pitchFamily="34" charset="0"/>
              </a:rPr>
              <a:t>t1</a:t>
            </a:r>
            <a:r>
              <a:rPr lang="ru-RU" dirty="0">
                <a:solidFill>
                  <a:schemeClr val="tx1"/>
                </a:solidFill>
                <a:latin typeface="Arial" panose="020B0604020202020204" pitchFamily="34" charset="0"/>
                <a:cs typeface="Arial" panose="020B0604020202020204" pitchFamily="34" charset="0"/>
              </a:rPr>
              <a:t>) ∩ τ(t2) </a:t>
            </a:r>
            <a:r>
              <a:rPr lang="en-US" dirty="0">
                <a:solidFill>
                  <a:schemeClr val="tx1"/>
                </a:solidFill>
                <a:latin typeface="Arial" panose="020B0604020202020204" pitchFamily="34" charset="0"/>
                <a:cs typeface="Arial" panose="020B0604020202020204" pitchFamily="34" charset="0"/>
              </a:rPr>
              <a:t>ǂ</a:t>
            </a:r>
            <a:r>
              <a:rPr lang="ru-RU" dirty="0">
                <a:solidFill>
                  <a:schemeClr val="tx1"/>
                </a:solidFill>
                <a:latin typeface="Arial" panose="020B0604020202020204" pitchFamily="34" charset="0"/>
                <a:cs typeface="Arial" panose="020B0604020202020204" pitchFamily="34" charset="0"/>
              </a:rPr>
              <a:t> ∅, т. е. интервалы времени, в течение которого они выполнялись, имеют непустое пересечение.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Протокол SI допускает конкурентное выполнение транзакций, только если </a:t>
            </a:r>
            <a:r>
              <a:rPr lang="ru-RU" b="1" dirty="0">
                <a:solidFill>
                  <a:schemeClr val="tx1"/>
                </a:solidFill>
                <a:latin typeface="Arial" panose="020B0604020202020204" pitchFamily="34" charset="0"/>
                <a:cs typeface="Arial" panose="020B0604020202020204" pitchFamily="34" charset="0"/>
              </a:rPr>
              <a:t>пересечение множеств записываемых ими элементов данных пусто </a:t>
            </a:r>
            <a:r>
              <a:rPr lang="ru-RU" dirty="0">
                <a:solidFill>
                  <a:schemeClr val="tx1"/>
                </a:solidFill>
                <a:latin typeface="Arial" panose="020B0604020202020204" pitchFamily="34" charset="0"/>
                <a:cs typeface="Arial" panose="020B0604020202020204" pitchFamily="34" charset="0"/>
              </a:rPr>
              <a:t>(другими словами, не существует элемента данных, который записывается каждой из двух транзакций).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Формально это можно записать компактной формулой:</a:t>
            </a:r>
            <a:br>
              <a:rPr lang="ru-RU" dirty="0">
                <a:solidFill>
                  <a:schemeClr val="tx1"/>
                </a:solidFill>
                <a:latin typeface="Arial" panose="020B0604020202020204" pitchFamily="34" charset="0"/>
                <a:cs typeface="Arial" panose="020B0604020202020204" pitchFamily="34" charset="0"/>
              </a:rPr>
            </a:br>
            <a:r>
              <a:rPr lang="ru-RU" dirty="0">
                <a:solidFill>
                  <a:schemeClr val="tx1"/>
                </a:solidFill>
                <a:latin typeface="Arial" panose="020B0604020202020204" pitchFamily="34" charset="0"/>
                <a:cs typeface="Arial" panose="020B0604020202020204" pitchFamily="34" charset="0"/>
              </a:rPr>
              <a:t>               τ(</a:t>
            </a:r>
            <a:r>
              <a:rPr lang="en-US" dirty="0">
                <a:solidFill>
                  <a:schemeClr val="tx1"/>
                </a:solidFill>
                <a:latin typeface="Arial" panose="020B0604020202020204" pitchFamily="34" charset="0"/>
                <a:cs typeface="Arial" panose="020B0604020202020204" pitchFamily="34" charset="0"/>
              </a:rPr>
              <a:t>t1</a:t>
            </a:r>
            <a:r>
              <a:rPr lang="ru-RU" dirty="0">
                <a:solidFill>
                  <a:schemeClr val="tx1"/>
                </a:solidFill>
                <a:latin typeface="Arial" panose="020B0604020202020204" pitchFamily="34" charset="0"/>
                <a:cs typeface="Arial" panose="020B0604020202020204" pitchFamily="34" charset="0"/>
              </a:rPr>
              <a:t>) ∩ τ(t2) = ∅  ∨ WS(</a:t>
            </a:r>
            <a:r>
              <a:rPr lang="en-US" dirty="0">
                <a:solidFill>
                  <a:schemeClr val="tx1"/>
                </a:solidFill>
                <a:latin typeface="Arial" panose="020B0604020202020204" pitchFamily="34" charset="0"/>
                <a:cs typeface="Arial" panose="020B0604020202020204" pitchFamily="34" charset="0"/>
              </a:rPr>
              <a:t>t1</a:t>
            </a:r>
            <a:r>
              <a:rPr lang="ru-RU" dirty="0">
                <a:solidFill>
                  <a:schemeClr val="tx1"/>
                </a:solidFill>
                <a:latin typeface="Arial" panose="020B0604020202020204" pitchFamily="34" charset="0"/>
                <a:cs typeface="Arial" panose="020B0604020202020204" pitchFamily="34" charset="0"/>
              </a:rPr>
              <a:t>) ∩ WS(t2) = ∅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Если </a:t>
            </a:r>
            <a:r>
              <a:rPr lang="ru-RU" b="1" dirty="0">
                <a:solidFill>
                  <a:schemeClr val="tx1"/>
                </a:solidFill>
                <a:latin typeface="Arial" panose="020B0604020202020204" pitchFamily="34" charset="0"/>
                <a:cs typeface="Arial" panose="020B0604020202020204" pitchFamily="34" charset="0"/>
              </a:rPr>
              <a:t>условие нарушается</a:t>
            </a:r>
            <a:r>
              <a:rPr lang="ru-RU" dirty="0">
                <a:solidFill>
                  <a:schemeClr val="tx1"/>
                </a:solidFill>
                <a:latin typeface="Arial" panose="020B0604020202020204" pitchFamily="34" charset="0"/>
                <a:cs typeface="Arial" panose="020B0604020202020204" pitchFamily="34" charset="0"/>
              </a:rPr>
              <a:t>, т. е. пересекаются как интервалы времени, в которые выполняются транзакции, так и множества записываемых значений, то </a:t>
            </a:r>
            <a:r>
              <a:rPr lang="ru-RU" b="1" dirty="0">
                <a:solidFill>
                  <a:schemeClr val="tx1"/>
                </a:solidFill>
                <a:latin typeface="Arial" panose="020B0604020202020204" pitchFamily="34" charset="0"/>
                <a:cs typeface="Arial" panose="020B0604020202020204" pitchFamily="34" charset="0"/>
              </a:rPr>
              <a:t>одна из транзакций обрывается.</a:t>
            </a: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a:xfrm>
            <a:off x="11361393" y="6408902"/>
            <a:ext cx="567559" cy="365125"/>
          </a:xfrm>
        </p:spPr>
        <p:txBody>
          <a:bodyPr/>
          <a:lstStyle/>
          <a:p>
            <a:fld id="{667D74AF-8CFA-41E7-84BA-34814A01EACF}" type="slidenum">
              <a:rPr lang="ru-RU" smtClean="0"/>
              <a:t>26</a:t>
            </a:fld>
            <a:endParaRPr lang="ru-RU" dirty="0"/>
          </a:p>
        </p:txBody>
      </p:sp>
    </p:spTree>
    <p:extLst>
      <p:ext uri="{BB962C8B-B14F-4D97-AF65-F5344CB8AC3E}">
        <p14:creationId xmlns:p14="http://schemas.microsoft.com/office/powerpoint/2010/main" val="19705347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0"/>
            <a:ext cx="12045863" cy="777766"/>
          </a:xfrm>
        </p:spPr>
        <p:txBody>
          <a:bodyPr>
            <a:noAutofit/>
          </a:bodyPr>
          <a:lstStyle/>
          <a:p>
            <a:r>
              <a:rPr lang="ru-RU" sz="3200" dirty="0">
                <a:latin typeface="Arial" panose="020B0604020202020204" pitchFamily="34" charset="0"/>
                <a:cs typeface="Arial" panose="020B0604020202020204" pitchFamily="34" charset="0"/>
              </a:rPr>
              <a:t>Изоляция мгновенных снимков</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263048" y="693686"/>
            <a:ext cx="11724360" cy="6201103"/>
          </a:xfrm>
        </p:spPr>
        <p:txBody>
          <a:bodyPr>
            <a:normAutofit fontScale="85000" lnSpcReduction="10000"/>
          </a:bodyPr>
          <a:lstStyle/>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Заметим, что в реализациях (в том числе и в </a:t>
            </a:r>
            <a:r>
              <a:rPr lang="ru-RU" dirty="0" err="1">
                <a:solidFill>
                  <a:schemeClr val="tx1"/>
                </a:solidFill>
                <a:latin typeface="Arial" panose="020B0604020202020204" pitchFamily="34" charset="0"/>
                <a:cs typeface="Arial" panose="020B0604020202020204" pitchFamily="34" charset="0"/>
              </a:rPr>
              <a:t>PostgreSQL</a:t>
            </a:r>
            <a:r>
              <a:rPr lang="ru-RU" dirty="0">
                <a:solidFill>
                  <a:schemeClr val="tx1"/>
                </a:solidFill>
                <a:latin typeface="Arial" panose="020B0604020202020204" pitchFamily="34" charset="0"/>
                <a:cs typeface="Arial" panose="020B0604020202020204" pitchFamily="34" charset="0"/>
              </a:rPr>
              <a:t>) могут использоваться другие правила.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Это может быть необходимо, в частности, для реализации ослабленных уровней изоляции SQL.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Так, режим </a:t>
            </a:r>
            <a:r>
              <a:rPr lang="ru-RU" dirty="0" err="1">
                <a:solidFill>
                  <a:schemeClr val="tx1"/>
                </a:solidFill>
                <a:latin typeface="Arial" panose="020B0604020202020204" pitchFamily="34" charset="0"/>
                <a:cs typeface="Arial" panose="020B0604020202020204" pitchFamily="34" charset="0"/>
              </a:rPr>
              <a:t>Read</a:t>
            </a:r>
            <a:r>
              <a:rPr lang="ru-RU" dirty="0">
                <a:solidFill>
                  <a:schemeClr val="tx1"/>
                </a:solidFill>
                <a:latin typeface="Arial" panose="020B0604020202020204" pitchFamily="34" charset="0"/>
                <a:cs typeface="Arial" panose="020B0604020202020204" pitchFamily="34" charset="0"/>
              </a:rPr>
              <a:t> </a:t>
            </a:r>
            <a:r>
              <a:rPr lang="ru-RU" dirty="0" err="1">
                <a:solidFill>
                  <a:schemeClr val="tx1"/>
                </a:solidFill>
                <a:latin typeface="Arial" panose="020B0604020202020204" pitchFamily="34" charset="0"/>
                <a:cs typeface="Arial" panose="020B0604020202020204" pitchFamily="34" charset="0"/>
              </a:rPr>
              <a:t>Committed</a:t>
            </a:r>
            <a:r>
              <a:rPr lang="ru-RU" dirty="0">
                <a:solidFill>
                  <a:schemeClr val="tx1"/>
                </a:solidFill>
                <a:latin typeface="Arial" panose="020B0604020202020204" pitchFamily="34" charset="0"/>
                <a:cs typeface="Arial" panose="020B0604020202020204" pitchFamily="34" charset="0"/>
              </a:rPr>
              <a:t> никогда не приводит к обрывам в </a:t>
            </a:r>
            <a:r>
              <a:rPr lang="ru-RU" dirty="0" err="1">
                <a:solidFill>
                  <a:schemeClr val="tx1"/>
                </a:solidFill>
                <a:latin typeface="Arial" panose="020B0604020202020204" pitchFamily="34" charset="0"/>
                <a:cs typeface="Arial" panose="020B0604020202020204" pitchFamily="34" charset="0"/>
              </a:rPr>
              <a:t>PostgreSQL</a:t>
            </a:r>
            <a:r>
              <a:rPr lang="ru-RU" dirty="0">
                <a:solidFill>
                  <a:schemeClr val="tx1"/>
                </a:solidFill>
                <a:latin typeface="Arial" panose="020B0604020202020204" pitchFamily="34" charset="0"/>
                <a:cs typeface="Arial" panose="020B0604020202020204" pitchFamily="34" charset="0"/>
              </a:rPr>
              <a:t>. Строго говоря, такие варианты нельзя считать реализациями SI</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Легко видеть, что </a:t>
            </a:r>
            <a:r>
              <a:rPr lang="ru-RU" u="sng" dirty="0">
                <a:solidFill>
                  <a:schemeClr val="tx1"/>
                </a:solidFill>
                <a:latin typeface="Arial" panose="020B0604020202020204" pitchFamily="34" charset="0"/>
                <a:cs typeface="Arial" panose="020B0604020202020204" pitchFamily="34" charset="0"/>
              </a:rPr>
              <a:t>правила SI гарантируют невозможность грязного чтения</a:t>
            </a:r>
            <a:r>
              <a:rPr lang="ru-RU" dirty="0">
                <a:solidFill>
                  <a:schemeClr val="tx1"/>
                </a:solidFill>
                <a:latin typeface="Arial" panose="020B0604020202020204" pitchFamily="34" charset="0"/>
                <a:cs typeface="Arial" panose="020B0604020202020204" pitchFamily="34" charset="0"/>
              </a:rPr>
              <a:t>: транзакция </a:t>
            </a:r>
            <a:r>
              <a:rPr lang="ru-RU" b="1" dirty="0">
                <a:solidFill>
                  <a:schemeClr val="tx1"/>
                </a:solidFill>
                <a:latin typeface="Arial" panose="020B0604020202020204" pitchFamily="34" charset="0"/>
                <a:cs typeface="Arial" panose="020B0604020202020204" pitchFamily="34" charset="0"/>
              </a:rPr>
              <a:t>может читать результаты работы </a:t>
            </a:r>
            <a:r>
              <a:rPr lang="ru-RU" dirty="0">
                <a:solidFill>
                  <a:schemeClr val="tx1"/>
                </a:solidFill>
                <a:latin typeface="Arial" panose="020B0604020202020204" pitchFamily="34" charset="0"/>
                <a:cs typeface="Arial" panose="020B0604020202020204" pitchFamily="34" charset="0"/>
              </a:rPr>
              <a:t>других транзакций только </a:t>
            </a:r>
            <a:r>
              <a:rPr lang="ru-RU" b="1" dirty="0">
                <a:solidFill>
                  <a:schemeClr val="tx1"/>
                </a:solidFill>
                <a:latin typeface="Arial" panose="020B0604020202020204" pitchFamily="34" charset="0"/>
                <a:cs typeface="Arial" panose="020B0604020202020204" pitchFamily="34" charset="0"/>
              </a:rPr>
              <a:t>после их фиксации</a:t>
            </a:r>
            <a:r>
              <a:rPr lang="ru-RU" dirty="0">
                <a:solidFill>
                  <a:schemeClr val="tx1"/>
                </a:solidFill>
                <a:latin typeface="Arial" panose="020B0604020202020204" pitchFamily="34" charset="0"/>
                <a:cs typeface="Arial" panose="020B0604020202020204" pitchFamily="34" charset="0"/>
              </a:rPr>
              <a:t>.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Существуют </a:t>
            </a:r>
            <a:r>
              <a:rPr lang="ru-RU" dirty="0" err="1">
                <a:solidFill>
                  <a:schemeClr val="tx1"/>
                </a:solidFill>
                <a:latin typeface="Arial" panose="020B0604020202020204" pitchFamily="34" charset="0"/>
                <a:cs typeface="Arial" panose="020B0604020202020204" pitchFamily="34" charset="0"/>
              </a:rPr>
              <a:t>сериализуемые</a:t>
            </a:r>
            <a:r>
              <a:rPr lang="ru-RU" dirty="0">
                <a:solidFill>
                  <a:schemeClr val="tx1"/>
                </a:solidFill>
                <a:latin typeface="Arial" panose="020B0604020202020204" pitchFamily="34" charset="0"/>
                <a:cs typeface="Arial" panose="020B0604020202020204" pitchFamily="34" charset="0"/>
              </a:rPr>
              <a:t> по конфликтам расписания, которые не допускаются протоколом SI.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Например, в следующем расписании интервалы времени выполнения и записываемые множества </a:t>
            </a:r>
            <a:r>
              <a:rPr lang="ru-RU" dirty="0" err="1">
                <a:solidFill>
                  <a:schemeClr val="tx1"/>
                </a:solidFill>
                <a:latin typeface="Arial" panose="020B0604020202020204" pitchFamily="34" charset="0"/>
                <a:cs typeface="Arial" panose="020B0604020202020204" pitchFamily="34" charset="0"/>
              </a:rPr>
              <a:t>непусты</a:t>
            </a:r>
            <a:r>
              <a:rPr lang="ru-RU" dirty="0">
                <a:solidFill>
                  <a:schemeClr val="tx1"/>
                </a:solidFill>
                <a:latin typeface="Arial" panose="020B0604020202020204" pitchFamily="34" charset="0"/>
                <a:cs typeface="Arial" panose="020B0604020202020204" pitchFamily="34" charset="0"/>
              </a:rPr>
              <a:t>, но расписание </a:t>
            </a:r>
            <a:r>
              <a:rPr lang="ru-RU" dirty="0" err="1">
                <a:solidFill>
                  <a:schemeClr val="tx1"/>
                </a:solidFill>
                <a:latin typeface="Arial" panose="020B0604020202020204" pitchFamily="34" charset="0"/>
                <a:cs typeface="Arial" panose="020B0604020202020204" pitchFamily="34" charset="0"/>
              </a:rPr>
              <a:t>сериализуемо</a:t>
            </a:r>
            <a:r>
              <a:rPr lang="ru-RU" dirty="0">
                <a:solidFill>
                  <a:schemeClr val="tx1"/>
                </a:solidFill>
                <a:latin typeface="Arial" panose="020B0604020202020204" pitchFamily="34" charset="0"/>
                <a:cs typeface="Arial" panose="020B0604020202020204" pitchFamily="34" charset="0"/>
              </a:rPr>
              <a:t> по конфликтам: r</a:t>
            </a:r>
            <a:r>
              <a:rPr lang="ru-RU" baseline="-25000" dirty="0">
                <a:solidFill>
                  <a:schemeClr val="tx1"/>
                </a:solidFill>
                <a:latin typeface="Arial" panose="020B0604020202020204" pitchFamily="34" charset="0"/>
                <a:cs typeface="Arial" panose="020B0604020202020204" pitchFamily="34" charset="0"/>
              </a:rPr>
              <a:t>1</a:t>
            </a:r>
            <a:r>
              <a:rPr lang="ru-RU" dirty="0">
                <a:solidFill>
                  <a:schemeClr val="tx1"/>
                </a:solidFill>
                <a:latin typeface="Arial" panose="020B0604020202020204" pitchFamily="34" charset="0"/>
                <a:cs typeface="Arial" panose="020B0604020202020204" pitchFamily="34" charset="0"/>
              </a:rPr>
              <a:t>(x) w</a:t>
            </a:r>
            <a:r>
              <a:rPr lang="ru-RU" baseline="-25000" dirty="0">
                <a:solidFill>
                  <a:schemeClr val="tx1"/>
                </a:solidFill>
                <a:latin typeface="Arial" panose="020B0604020202020204" pitchFamily="34" charset="0"/>
                <a:cs typeface="Arial" panose="020B0604020202020204" pitchFamily="34" charset="0"/>
              </a:rPr>
              <a:t>1</a:t>
            </a:r>
            <a:r>
              <a:rPr lang="ru-RU" dirty="0">
                <a:solidFill>
                  <a:schemeClr val="tx1"/>
                </a:solidFill>
                <a:latin typeface="Arial" panose="020B0604020202020204" pitchFamily="34" charset="0"/>
                <a:cs typeface="Arial" panose="020B0604020202020204" pitchFamily="34" charset="0"/>
              </a:rPr>
              <a:t>(x) r</a:t>
            </a:r>
            <a:r>
              <a:rPr lang="ru-RU" baseline="-25000" dirty="0">
                <a:solidFill>
                  <a:schemeClr val="tx1"/>
                </a:solidFill>
                <a:latin typeface="Arial" panose="020B0604020202020204" pitchFamily="34" charset="0"/>
                <a:cs typeface="Arial" panose="020B0604020202020204" pitchFamily="34" charset="0"/>
              </a:rPr>
              <a:t>2</a:t>
            </a:r>
            <a:r>
              <a:rPr lang="ru-RU" dirty="0">
                <a:solidFill>
                  <a:schemeClr val="tx1"/>
                </a:solidFill>
                <a:latin typeface="Arial" panose="020B0604020202020204" pitchFamily="34" charset="0"/>
                <a:cs typeface="Arial" panose="020B0604020202020204" pitchFamily="34" charset="0"/>
              </a:rPr>
              <a:t>(x) w</a:t>
            </a:r>
            <a:r>
              <a:rPr lang="ru-RU" baseline="-25000" dirty="0">
                <a:solidFill>
                  <a:schemeClr val="tx1"/>
                </a:solidFill>
                <a:latin typeface="Arial" panose="020B0604020202020204" pitchFamily="34" charset="0"/>
                <a:cs typeface="Arial" panose="020B0604020202020204" pitchFamily="34" charset="0"/>
              </a:rPr>
              <a:t>2</a:t>
            </a:r>
            <a:r>
              <a:rPr lang="ru-RU" dirty="0">
                <a:solidFill>
                  <a:schemeClr val="tx1"/>
                </a:solidFill>
                <a:latin typeface="Arial" panose="020B0604020202020204" pitchFamily="34" charset="0"/>
                <a:cs typeface="Arial" panose="020B0604020202020204" pitchFamily="34" charset="0"/>
              </a:rPr>
              <a:t>(x) c</a:t>
            </a:r>
            <a:r>
              <a:rPr lang="ru-RU" baseline="-25000" dirty="0">
                <a:solidFill>
                  <a:schemeClr val="tx1"/>
                </a:solidFill>
                <a:latin typeface="Arial" panose="020B0604020202020204" pitchFamily="34" charset="0"/>
                <a:cs typeface="Arial" panose="020B0604020202020204" pitchFamily="34" charset="0"/>
              </a:rPr>
              <a:t>2 </a:t>
            </a:r>
            <a:r>
              <a:rPr lang="ru-RU" dirty="0">
                <a:solidFill>
                  <a:schemeClr val="tx1"/>
                </a:solidFill>
                <a:latin typeface="Arial" panose="020B0604020202020204" pitchFamily="34" charset="0"/>
                <a:cs typeface="Arial" panose="020B0604020202020204" pitchFamily="34" charset="0"/>
              </a:rPr>
              <a:t>r</a:t>
            </a:r>
            <a:r>
              <a:rPr lang="ru-RU" baseline="-25000" dirty="0">
                <a:solidFill>
                  <a:schemeClr val="tx1"/>
                </a:solidFill>
                <a:latin typeface="Arial" panose="020B0604020202020204" pitchFamily="34" charset="0"/>
                <a:cs typeface="Arial" panose="020B0604020202020204" pitchFamily="34" charset="0"/>
              </a:rPr>
              <a:t>1</a:t>
            </a:r>
            <a:r>
              <a:rPr lang="ru-RU" dirty="0">
                <a:solidFill>
                  <a:schemeClr val="tx1"/>
                </a:solidFill>
                <a:latin typeface="Arial" panose="020B0604020202020204" pitchFamily="34" charset="0"/>
                <a:cs typeface="Arial" panose="020B0604020202020204" pitchFamily="34" charset="0"/>
              </a:rPr>
              <a:t>(y) w</a:t>
            </a:r>
            <a:r>
              <a:rPr lang="ru-RU" baseline="-25000" dirty="0">
                <a:solidFill>
                  <a:schemeClr val="tx1"/>
                </a:solidFill>
                <a:latin typeface="Arial" panose="020B0604020202020204" pitchFamily="34" charset="0"/>
                <a:cs typeface="Arial" panose="020B0604020202020204" pitchFamily="34" charset="0"/>
              </a:rPr>
              <a:t>1</a:t>
            </a:r>
            <a:r>
              <a:rPr lang="ru-RU" dirty="0">
                <a:solidFill>
                  <a:schemeClr val="tx1"/>
                </a:solidFill>
                <a:latin typeface="Arial" panose="020B0604020202020204" pitchFamily="34" charset="0"/>
                <a:cs typeface="Arial" panose="020B0604020202020204" pitchFamily="34" charset="0"/>
              </a:rPr>
              <a:t>(y) c</a:t>
            </a:r>
            <a:r>
              <a:rPr lang="ru-RU" baseline="-25000" dirty="0">
                <a:solidFill>
                  <a:schemeClr val="tx1"/>
                </a:solidFill>
                <a:latin typeface="Arial" panose="020B0604020202020204" pitchFamily="34" charset="0"/>
                <a:cs typeface="Arial" panose="020B0604020202020204" pitchFamily="34" charset="0"/>
              </a:rPr>
              <a:t>1</a:t>
            </a:r>
            <a:r>
              <a:rPr lang="ru-RU" dirty="0">
                <a:solidFill>
                  <a:schemeClr val="tx1"/>
                </a:solidFill>
                <a:latin typeface="Arial" panose="020B0604020202020204" pitchFamily="34" charset="0"/>
                <a:cs typeface="Arial" panose="020B0604020202020204" pitchFamily="34" charset="0"/>
              </a:rPr>
              <a:t>.</a:t>
            </a:r>
            <a:endParaRPr lang="ru-RU" b="1" dirty="0">
              <a:solidFill>
                <a:schemeClr val="tx1"/>
              </a:solidFill>
              <a:latin typeface="Arial" panose="020B0604020202020204" pitchFamily="34" charset="0"/>
              <a:cs typeface="Arial" panose="020B0604020202020204" pitchFamily="34" charset="0"/>
            </a:endParaRP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a:xfrm>
            <a:off x="11361393" y="6408902"/>
            <a:ext cx="567559" cy="365125"/>
          </a:xfrm>
        </p:spPr>
        <p:txBody>
          <a:bodyPr/>
          <a:lstStyle/>
          <a:p>
            <a:fld id="{667D74AF-8CFA-41E7-84BA-34814A01EACF}" type="slidenum">
              <a:rPr lang="ru-RU" smtClean="0"/>
              <a:t>27</a:t>
            </a:fld>
            <a:endParaRPr lang="ru-RU" dirty="0"/>
          </a:p>
        </p:txBody>
      </p:sp>
    </p:spTree>
    <p:extLst>
      <p:ext uri="{BB962C8B-B14F-4D97-AF65-F5344CB8AC3E}">
        <p14:creationId xmlns:p14="http://schemas.microsoft.com/office/powerpoint/2010/main" val="29969030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0"/>
            <a:ext cx="12045863" cy="777766"/>
          </a:xfrm>
        </p:spPr>
        <p:txBody>
          <a:bodyPr>
            <a:noAutofit/>
          </a:bodyPr>
          <a:lstStyle/>
          <a:p>
            <a:r>
              <a:rPr lang="ru-RU" sz="3200" dirty="0">
                <a:latin typeface="Arial" panose="020B0604020202020204" pitchFamily="34" charset="0"/>
                <a:cs typeface="Arial" panose="020B0604020202020204" pitchFamily="34" charset="0"/>
              </a:rPr>
              <a:t>Изоляция мгновенных снимков</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263048" y="693686"/>
            <a:ext cx="11724360" cy="6201103"/>
          </a:xfrm>
        </p:spPr>
        <p:txBody>
          <a:bodyPr>
            <a:normAutofit fontScale="85000" lnSpcReduction="20000"/>
          </a:bodyPr>
          <a:lstStyle/>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В то же время протокол SI не гарантирует </a:t>
            </a:r>
            <a:r>
              <a:rPr lang="ru-RU" dirty="0" err="1">
                <a:solidFill>
                  <a:schemeClr val="tx1"/>
                </a:solidFill>
                <a:latin typeface="Arial" panose="020B0604020202020204" pitchFamily="34" charset="0"/>
                <a:cs typeface="Arial" panose="020B0604020202020204" pitchFamily="34" charset="0"/>
              </a:rPr>
              <a:t>сериализуемость</a:t>
            </a:r>
            <a:r>
              <a:rPr lang="ru-RU" dirty="0">
                <a:solidFill>
                  <a:schemeClr val="tx1"/>
                </a:solidFill>
                <a:latin typeface="Arial" panose="020B0604020202020204" pitchFamily="34" charset="0"/>
                <a:cs typeface="Arial" panose="020B0604020202020204" pitchFamily="34" charset="0"/>
              </a:rPr>
              <a:t> даже по конечному состоянию.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Например, следующее расписание: r</a:t>
            </a:r>
            <a:r>
              <a:rPr lang="ru-RU" baseline="-25000" dirty="0">
                <a:solidFill>
                  <a:schemeClr val="tx1"/>
                </a:solidFill>
                <a:latin typeface="Arial" panose="020B0604020202020204" pitchFamily="34" charset="0"/>
                <a:cs typeface="Arial" panose="020B0604020202020204" pitchFamily="34" charset="0"/>
              </a:rPr>
              <a:t>1</a:t>
            </a:r>
            <a:r>
              <a:rPr lang="ru-RU" dirty="0">
                <a:solidFill>
                  <a:schemeClr val="tx1"/>
                </a:solidFill>
                <a:latin typeface="Arial" panose="020B0604020202020204" pitchFamily="34" charset="0"/>
                <a:cs typeface="Arial" panose="020B0604020202020204" pitchFamily="34" charset="0"/>
              </a:rPr>
              <a:t>(x) r</a:t>
            </a:r>
            <a:r>
              <a:rPr lang="ru-RU" baseline="-25000" dirty="0">
                <a:solidFill>
                  <a:schemeClr val="tx1"/>
                </a:solidFill>
                <a:latin typeface="Arial" panose="020B0604020202020204" pitchFamily="34" charset="0"/>
                <a:cs typeface="Arial" panose="020B0604020202020204" pitchFamily="34" charset="0"/>
              </a:rPr>
              <a:t>2</a:t>
            </a:r>
            <a:r>
              <a:rPr lang="ru-RU" dirty="0">
                <a:solidFill>
                  <a:schemeClr val="tx1"/>
                </a:solidFill>
                <a:latin typeface="Arial" panose="020B0604020202020204" pitchFamily="34" charset="0"/>
                <a:cs typeface="Arial" panose="020B0604020202020204" pitchFamily="34" charset="0"/>
              </a:rPr>
              <a:t>(y) w</a:t>
            </a:r>
            <a:r>
              <a:rPr lang="ru-RU" baseline="-25000" dirty="0">
                <a:solidFill>
                  <a:schemeClr val="tx1"/>
                </a:solidFill>
                <a:latin typeface="Arial" panose="020B0604020202020204" pitchFamily="34" charset="0"/>
                <a:cs typeface="Arial" panose="020B0604020202020204" pitchFamily="34" charset="0"/>
              </a:rPr>
              <a:t>1</a:t>
            </a:r>
            <a:r>
              <a:rPr lang="ru-RU" dirty="0">
                <a:solidFill>
                  <a:schemeClr val="tx1"/>
                </a:solidFill>
                <a:latin typeface="Arial" panose="020B0604020202020204" pitchFamily="34" charset="0"/>
                <a:cs typeface="Arial" panose="020B0604020202020204" pitchFamily="34" charset="0"/>
              </a:rPr>
              <a:t>(y) w</a:t>
            </a:r>
            <a:r>
              <a:rPr lang="ru-RU" baseline="-25000" dirty="0">
                <a:solidFill>
                  <a:schemeClr val="tx1"/>
                </a:solidFill>
                <a:latin typeface="Arial" panose="020B0604020202020204" pitchFamily="34" charset="0"/>
                <a:cs typeface="Arial" panose="020B0604020202020204" pitchFamily="34" charset="0"/>
              </a:rPr>
              <a:t>2</a:t>
            </a:r>
            <a:r>
              <a:rPr lang="ru-RU" dirty="0">
                <a:solidFill>
                  <a:schemeClr val="tx1"/>
                </a:solidFill>
                <a:latin typeface="Arial" panose="020B0604020202020204" pitchFamily="34" charset="0"/>
                <a:cs typeface="Arial" panose="020B0604020202020204" pitchFamily="34" charset="0"/>
              </a:rPr>
              <a:t>(x) c</a:t>
            </a:r>
            <a:r>
              <a:rPr lang="ru-RU" baseline="-25000" dirty="0">
                <a:solidFill>
                  <a:schemeClr val="tx1"/>
                </a:solidFill>
                <a:latin typeface="Arial" panose="020B0604020202020204" pitchFamily="34" charset="0"/>
                <a:cs typeface="Arial" panose="020B0604020202020204" pitchFamily="34" charset="0"/>
              </a:rPr>
              <a:t>1</a:t>
            </a:r>
            <a:r>
              <a:rPr lang="ru-RU" dirty="0">
                <a:solidFill>
                  <a:schemeClr val="tx1"/>
                </a:solidFill>
                <a:latin typeface="Arial" panose="020B0604020202020204" pitchFamily="34" charset="0"/>
                <a:cs typeface="Arial" panose="020B0604020202020204" pitchFamily="34" charset="0"/>
              </a:rPr>
              <a:t> c</a:t>
            </a:r>
            <a:r>
              <a:rPr lang="ru-RU" baseline="-25000" dirty="0">
                <a:solidFill>
                  <a:schemeClr val="tx1"/>
                </a:solidFill>
                <a:latin typeface="Arial" panose="020B0604020202020204" pitchFamily="34" charset="0"/>
                <a:cs typeface="Arial" panose="020B0604020202020204" pitchFamily="34" charset="0"/>
              </a:rPr>
              <a:t>2</a:t>
            </a:r>
            <a:r>
              <a:rPr lang="ru-RU" dirty="0">
                <a:solidFill>
                  <a:schemeClr val="tx1"/>
                </a:solidFill>
                <a:latin typeface="Arial" panose="020B0604020202020204" pitchFamily="34" charset="0"/>
                <a:cs typeface="Arial" panose="020B0604020202020204" pitchFamily="34" charset="0"/>
              </a:rPr>
              <a:t> допускается SI, т. к. записываются разные элементы данных, </a:t>
            </a:r>
            <a:br>
              <a:rPr lang="ru-RU" dirty="0">
                <a:solidFill>
                  <a:schemeClr val="tx1"/>
                </a:solidFill>
                <a:latin typeface="Arial" panose="020B0604020202020204" pitchFamily="34" charset="0"/>
                <a:cs typeface="Arial" panose="020B0604020202020204" pitchFamily="34" charset="0"/>
              </a:rPr>
            </a:br>
            <a:r>
              <a:rPr lang="ru-RU" dirty="0">
                <a:solidFill>
                  <a:schemeClr val="tx1"/>
                </a:solidFill>
                <a:latin typeface="Arial" panose="020B0604020202020204" pitchFamily="34" charset="0"/>
                <a:cs typeface="Arial" panose="020B0604020202020204" pitchFamily="34" charset="0"/>
              </a:rPr>
              <a:t>но </a:t>
            </a:r>
            <a:r>
              <a:rPr lang="ru-RU" b="1" dirty="0">
                <a:solidFill>
                  <a:schemeClr val="tx1"/>
                </a:solidFill>
                <a:latin typeface="Arial" panose="020B0604020202020204" pitchFamily="34" charset="0"/>
                <a:cs typeface="Arial" panose="020B0604020202020204" pitchFamily="34" charset="0"/>
              </a:rPr>
              <a:t>не </a:t>
            </a:r>
            <a:r>
              <a:rPr lang="ru-RU" b="1" dirty="0" err="1">
                <a:solidFill>
                  <a:schemeClr val="tx1"/>
                </a:solidFill>
                <a:latin typeface="Arial" panose="020B0604020202020204" pitchFamily="34" charset="0"/>
                <a:cs typeface="Arial" panose="020B0604020202020204" pitchFamily="34" charset="0"/>
              </a:rPr>
              <a:t>сериализуемо</a:t>
            </a:r>
            <a:r>
              <a:rPr lang="ru-RU" b="1" dirty="0">
                <a:solidFill>
                  <a:schemeClr val="tx1"/>
                </a:solidFill>
                <a:latin typeface="Arial" panose="020B0604020202020204" pitchFamily="34" charset="0"/>
                <a:cs typeface="Arial" panose="020B0604020202020204" pitchFamily="34" charset="0"/>
              </a:rPr>
              <a:t> по конечному состоянию.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Это доказывается вычислением семантик </a:t>
            </a:r>
            <a:r>
              <a:rPr lang="ru-RU" dirty="0" err="1">
                <a:solidFill>
                  <a:schemeClr val="tx1"/>
                </a:solidFill>
                <a:latin typeface="Arial" panose="020B0604020202020204" pitchFamily="34" charset="0"/>
                <a:cs typeface="Arial" panose="020B0604020202020204" pitchFamily="34" charset="0"/>
              </a:rPr>
              <a:t>Эрбрана</a:t>
            </a:r>
            <a:r>
              <a:rPr lang="ru-RU" dirty="0">
                <a:solidFill>
                  <a:schemeClr val="tx1"/>
                </a:solidFill>
                <a:latin typeface="Arial" panose="020B0604020202020204" pitchFamily="34" charset="0"/>
                <a:cs typeface="Arial" panose="020B0604020202020204" pitchFamily="34" charset="0"/>
              </a:rPr>
              <a:t> для этого расписания и для двух вариантов последовательного выполнения этих транзакций.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В приведенном расписании конечные значения x и y зависят только от начальных состояний, а при последовательном выполнении, например </a:t>
            </a:r>
            <a:r>
              <a:rPr lang="en-US" dirty="0">
                <a:solidFill>
                  <a:schemeClr val="tx1"/>
                </a:solidFill>
                <a:latin typeface="Arial" panose="020B0604020202020204" pitchFamily="34" charset="0"/>
                <a:cs typeface="Arial" panose="020B0604020202020204" pitchFamily="34" charset="0"/>
              </a:rPr>
              <a:t>t1</a:t>
            </a:r>
            <a:r>
              <a:rPr lang="ru-RU" dirty="0">
                <a:solidFill>
                  <a:schemeClr val="tx1"/>
                </a:solidFill>
                <a:latin typeface="Arial" panose="020B0604020202020204" pitchFamily="34" charset="0"/>
                <a:cs typeface="Arial" panose="020B0604020202020204" pitchFamily="34" charset="0"/>
              </a:rPr>
              <a:t> t2, значение x будет зависеть от значения, записанного первой транзакцией в y. Это расписание является примером аномалии несогласованной записи.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Можно доказать, что кроме аномалии несогласованной записи SI допускает </a:t>
            </a:r>
            <a:r>
              <a:rPr lang="ru-RU" b="1" dirty="0">
                <a:solidFill>
                  <a:schemeClr val="tx1"/>
                </a:solidFill>
                <a:latin typeface="Arial" panose="020B0604020202020204" pitchFamily="34" charset="0"/>
                <a:cs typeface="Arial" panose="020B0604020202020204" pitchFamily="34" charset="0"/>
              </a:rPr>
              <a:t>аномалию только читающей транзакции</a:t>
            </a:r>
            <a:r>
              <a:rPr lang="ru-RU" dirty="0">
                <a:solidFill>
                  <a:schemeClr val="tx1"/>
                </a:solidFill>
                <a:latin typeface="Arial" panose="020B0604020202020204" pitchFamily="34" charset="0"/>
                <a:cs typeface="Arial" panose="020B0604020202020204" pitchFamily="34" charset="0"/>
              </a:rPr>
              <a:t>.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Для того чтобы исключить эти аномалии, вводится вариант </a:t>
            </a:r>
            <a:r>
              <a:rPr lang="ru-RU" b="1" dirty="0" err="1">
                <a:solidFill>
                  <a:schemeClr val="tx1"/>
                </a:solidFill>
                <a:latin typeface="Arial" panose="020B0604020202020204" pitchFamily="34" charset="0"/>
                <a:cs typeface="Arial" panose="020B0604020202020204" pitchFamily="34" charset="0"/>
              </a:rPr>
              <a:t>сериализуемого</a:t>
            </a:r>
            <a:r>
              <a:rPr lang="ru-RU" b="1" dirty="0">
                <a:solidFill>
                  <a:schemeClr val="tx1"/>
                </a:solidFill>
                <a:latin typeface="Arial" panose="020B0604020202020204" pitchFamily="34" charset="0"/>
                <a:cs typeface="Arial" panose="020B0604020202020204" pitchFamily="34" charset="0"/>
              </a:rPr>
              <a:t> протокола SI</a:t>
            </a:r>
            <a:r>
              <a:rPr lang="ru-RU" dirty="0">
                <a:solidFill>
                  <a:schemeClr val="tx1"/>
                </a:solidFill>
                <a:latin typeface="Arial" panose="020B0604020202020204" pitchFamily="34" charset="0"/>
                <a:cs typeface="Arial" panose="020B0604020202020204" pitchFamily="34" charset="0"/>
              </a:rPr>
              <a:t> (</a:t>
            </a:r>
            <a:r>
              <a:rPr lang="ru-RU" dirty="0" err="1">
                <a:solidFill>
                  <a:schemeClr val="tx1"/>
                </a:solidFill>
                <a:latin typeface="Arial" panose="020B0604020202020204" pitchFamily="34" charset="0"/>
                <a:cs typeface="Arial" panose="020B0604020202020204" pitchFamily="34" charset="0"/>
              </a:rPr>
              <a:t>serializable</a:t>
            </a:r>
            <a:r>
              <a:rPr lang="ru-RU" dirty="0">
                <a:solidFill>
                  <a:schemeClr val="tx1"/>
                </a:solidFill>
                <a:latin typeface="Arial" panose="020B0604020202020204" pitchFamily="34" charset="0"/>
                <a:cs typeface="Arial" panose="020B0604020202020204" pitchFamily="34" charset="0"/>
              </a:rPr>
              <a:t> </a:t>
            </a:r>
            <a:r>
              <a:rPr lang="ru-RU" dirty="0" err="1">
                <a:solidFill>
                  <a:schemeClr val="tx1"/>
                </a:solidFill>
                <a:latin typeface="Arial" panose="020B0604020202020204" pitchFamily="34" charset="0"/>
                <a:cs typeface="Arial" panose="020B0604020202020204" pitchFamily="34" charset="0"/>
              </a:rPr>
              <a:t>snapshot</a:t>
            </a:r>
            <a:r>
              <a:rPr lang="ru-RU" dirty="0">
                <a:solidFill>
                  <a:schemeClr val="tx1"/>
                </a:solidFill>
                <a:latin typeface="Arial" panose="020B0604020202020204" pitchFamily="34" charset="0"/>
                <a:cs typeface="Arial" panose="020B0604020202020204" pitchFamily="34" charset="0"/>
              </a:rPr>
              <a:t> </a:t>
            </a:r>
            <a:r>
              <a:rPr lang="ru-RU" dirty="0" err="1">
                <a:solidFill>
                  <a:schemeClr val="tx1"/>
                </a:solidFill>
                <a:latin typeface="Arial" panose="020B0604020202020204" pitchFamily="34" charset="0"/>
                <a:cs typeface="Arial" panose="020B0604020202020204" pitchFamily="34" charset="0"/>
              </a:rPr>
              <a:t>isolation</a:t>
            </a:r>
            <a:r>
              <a:rPr lang="ru-RU" dirty="0">
                <a:solidFill>
                  <a:schemeClr val="tx1"/>
                </a:solidFill>
                <a:latin typeface="Arial" panose="020B0604020202020204" pitchFamily="34" charset="0"/>
                <a:cs typeface="Arial" panose="020B0604020202020204" pitchFamily="34" charset="0"/>
              </a:rPr>
              <a:t>, SSI).</a:t>
            </a:r>
            <a:endParaRPr lang="ru-RU" b="1" dirty="0">
              <a:solidFill>
                <a:schemeClr val="tx1"/>
              </a:solidFill>
              <a:latin typeface="Arial" panose="020B0604020202020204" pitchFamily="34" charset="0"/>
              <a:cs typeface="Arial" panose="020B0604020202020204" pitchFamily="34" charset="0"/>
            </a:endParaRP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a:xfrm>
            <a:off x="11361393" y="6408902"/>
            <a:ext cx="567559" cy="365125"/>
          </a:xfrm>
        </p:spPr>
        <p:txBody>
          <a:bodyPr/>
          <a:lstStyle/>
          <a:p>
            <a:fld id="{667D74AF-8CFA-41E7-84BA-34814A01EACF}" type="slidenum">
              <a:rPr lang="ru-RU" smtClean="0"/>
              <a:t>28</a:t>
            </a:fld>
            <a:endParaRPr lang="ru-RU" dirty="0"/>
          </a:p>
        </p:txBody>
      </p:sp>
    </p:spTree>
    <p:extLst>
      <p:ext uri="{BB962C8B-B14F-4D97-AF65-F5344CB8AC3E}">
        <p14:creationId xmlns:p14="http://schemas.microsoft.com/office/powerpoint/2010/main" val="5762000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0"/>
            <a:ext cx="12045863" cy="777766"/>
          </a:xfrm>
        </p:spPr>
        <p:txBody>
          <a:bodyPr>
            <a:noAutofit/>
          </a:bodyPr>
          <a:lstStyle/>
          <a:p>
            <a:r>
              <a:rPr lang="ru-RU" sz="3600" dirty="0">
                <a:latin typeface="Arial" panose="020B0604020202020204" pitchFamily="34" charset="0"/>
                <a:cs typeface="Arial" panose="020B0604020202020204" pitchFamily="34" charset="0"/>
              </a:rPr>
              <a:t>Зависимости между транзакциями</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263048" y="693686"/>
            <a:ext cx="11928952" cy="6201103"/>
          </a:xfrm>
        </p:spPr>
        <p:txBody>
          <a:bodyPr>
            <a:normAutofit fontScale="85000" lnSpcReduction="10000"/>
          </a:bodyPr>
          <a:lstStyle/>
          <a:p>
            <a:pPr algn="l">
              <a:lnSpc>
                <a:spcPct val="120000"/>
              </a:lnSpc>
              <a:spcBef>
                <a:spcPts val="600"/>
              </a:spcBef>
              <a:buFont typeface="Wingdings" panose="05000000000000000000" pitchFamily="2" charset="2"/>
              <a:buChar char="q"/>
            </a:pPr>
            <a:r>
              <a:rPr lang="ru-RU" dirty="0">
                <a:latin typeface="Arial" panose="020B0604020202020204" pitchFamily="34" charset="0"/>
                <a:cs typeface="Arial" panose="020B0604020202020204" pitchFamily="34" charset="0"/>
              </a:rPr>
              <a:t>Формальное описание этого протокола основано на понятии зависимости между транзакциями: </a:t>
            </a:r>
          </a:p>
          <a:p>
            <a:pPr marL="0" indent="0" algn="l">
              <a:lnSpc>
                <a:spcPct val="120000"/>
              </a:lnSpc>
              <a:spcBef>
                <a:spcPts val="600"/>
              </a:spcBef>
              <a:buNone/>
            </a:pPr>
            <a:r>
              <a:rPr lang="ru-RU" dirty="0">
                <a:latin typeface="Arial" panose="020B0604020202020204" pitchFamily="34" charset="0"/>
                <a:cs typeface="Arial" panose="020B0604020202020204" pitchFamily="34" charset="0"/>
              </a:rPr>
              <a:t>• зависимость </a:t>
            </a:r>
            <a:r>
              <a:rPr lang="ru-RU" b="1" dirty="0">
                <a:latin typeface="Arial" panose="020B0604020202020204" pitchFamily="34" charset="0"/>
                <a:cs typeface="Arial" panose="020B0604020202020204" pitchFamily="34" charset="0"/>
              </a:rPr>
              <a:t>WR</a:t>
            </a:r>
            <a:r>
              <a:rPr lang="ru-RU" dirty="0">
                <a:latin typeface="Arial" panose="020B0604020202020204" pitchFamily="34" charset="0"/>
                <a:cs typeface="Arial" panose="020B0604020202020204" pitchFamily="34" charset="0"/>
              </a:rPr>
              <a:t> возникает,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если </a:t>
            </a:r>
            <a:r>
              <a:rPr lang="en-US" b="1" dirty="0">
                <a:latin typeface="Arial" panose="020B0604020202020204" pitchFamily="34" charset="0"/>
                <a:cs typeface="Arial" panose="020B0604020202020204" pitchFamily="34" charset="0"/>
              </a:rPr>
              <a:t>t</a:t>
            </a:r>
            <a:r>
              <a:rPr lang="en-US" b="1" baseline="-25000" dirty="0">
                <a:latin typeface="Arial" panose="020B0604020202020204" pitchFamily="34" charset="0"/>
                <a:cs typeface="Arial" panose="020B0604020202020204" pitchFamily="34" charset="0"/>
              </a:rPr>
              <a:t>1</a:t>
            </a:r>
            <a:r>
              <a:rPr lang="ru-RU" b="1" dirty="0">
                <a:latin typeface="Arial" panose="020B0604020202020204" pitchFamily="34" charset="0"/>
                <a:cs typeface="Arial" panose="020B0604020202020204" pitchFamily="34" charset="0"/>
              </a:rPr>
              <a:t> записывает </a:t>
            </a:r>
            <a:r>
              <a:rPr lang="ru-RU" dirty="0">
                <a:latin typeface="Arial" panose="020B0604020202020204" pitchFamily="34" charset="0"/>
                <a:cs typeface="Arial" panose="020B0604020202020204" pitchFamily="34" charset="0"/>
              </a:rPr>
              <a:t>некоторый объект, </a:t>
            </a:r>
            <a:r>
              <a:rPr lang="ru-RU" b="1" dirty="0">
                <a:latin typeface="Arial" panose="020B0604020202020204" pitchFamily="34" charset="0"/>
                <a:cs typeface="Arial" panose="020B0604020202020204" pitchFamily="34" charset="0"/>
              </a:rPr>
              <a:t>который читает t</a:t>
            </a:r>
            <a:r>
              <a:rPr lang="ru-RU" b="1" baseline="-25000" dirty="0">
                <a:latin typeface="Arial" panose="020B0604020202020204" pitchFamily="34" charset="0"/>
                <a:cs typeface="Arial" panose="020B0604020202020204" pitchFamily="34" charset="0"/>
              </a:rPr>
              <a:t>2</a:t>
            </a:r>
            <a:r>
              <a:rPr lang="ru-RU"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a:t>
            </a:r>
            <a:r>
              <a:rPr lang="en-US" baseline="-25000" dirty="0">
                <a:latin typeface="Arial" panose="020B0604020202020204" pitchFamily="34" charset="0"/>
                <a:cs typeface="Arial" panose="020B0604020202020204" pitchFamily="34" charset="0"/>
              </a:rPr>
              <a:t>1</a:t>
            </a:r>
            <a:r>
              <a:rPr lang="ru-RU" dirty="0">
                <a:latin typeface="Arial" panose="020B0604020202020204" pitchFamily="34" charset="0"/>
                <a:cs typeface="Arial" panose="020B0604020202020204" pitchFamily="34" charset="0"/>
              </a:rPr>
              <a:t> —</a:t>
            </a:r>
            <a:r>
              <a:rPr lang="ru-RU" baseline="30000" dirty="0">
                <a:latin typeface="Arial" panose="020B0604020202020204" pitchFamily="34" charset="0"/>
                <a:cs typeface="Arial" panose="020B0604020202020204" pitchFamily="34" charset="0"/>
              </a:rPr>
              <a:t>WR</a:t>
            </a:r>
            <a:r>
              <a:rPr lang="ru-RU" dirty="0">
                <a:latin typeface="Arial" panose="020B0604020202020204" pitchFamily="34" charset="0"/>
                <a:cs typeface="Arial" panose="020B0604020202020204" pitchFamily="34" charset="0"/>
              </a:rPr>
              <a:t>→ t</a:t>
            </a:r>
            <a:r>
              <a:rPr lang="ru-RU" baseline="-25000" dirty="0">
                <a:latin typeface="Arial" panose="020B0604020202020204" pitchFamily="34" charset="0"/>
                <a:cs typeface="Arial" panose="020B0604020202020204" pitchFamily="34" charset="0"/>
              </a:rPr>
              <a:t>2</a:t>
            </a:r>
            <a:r>
              <a:rPr lang="ru-RU" dirty="0">
                <a:latin typeface="Arial" panose="020B0604020202020204" pitchFamily="34" charset="0"/>
                <a:cs typeface="Arial" panose="020B0604020202020204" pitchFamily="34" charset="0"/>
              </a:rPr>
              <a:t>; </a:t>
            </a:r>
          </a:p>
          <a:p>
            <a:pPr marL="0" indent="0" algn="l">
              <a:lnSpc>
                <a:spcPct val="120000"/>
              </a:lnSpc>
              <a:spcBef>
                <a:spcPts val="600"/>
              </a:spcBef>
              <a:buNone/>
            </a:pPr>
            <a:r>
              <a:rPr lang="ru-RU" dirty="0">
                <a:latin typeface="Arial" panose="020B0604020202020204" pitchFamily="34" charset="0"/>
                <a:cs typeface="Arial" panose="020B0604020202020204" pitchFamily="34" charset="0"/>
              </a:rPr>
              <a:t>• зависимость </a:t>
            </a:r>
            <a:r>
              <a:rPr lang="ru-RU" b="1" dirty="0">
                <a:latin typeface="Arial" panose="020B0604020202020204" pitchFamily="34" charset="0"/>
                <a:cs typeface="Arial" panose="020B0604020202020204" pitchFamily="34" charset="0"/>
              </a:rPr>
              <a:t>WW</a:t>
            </a:r>
            <a:r>
              <a:rPr lang="ru-RU" dirty="0">
                <a:latin typeface="Arial" panose="020B0604020202020204" pitchFamily="34" charset="0"/>
                <a:cs typeface="Arial" panose="020B0604020202020204" pitchFamily="34" charset="0"/>
              </a:rPr>
              <a:t> возникает,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если </a:t>
            </a:r>
            <a:r>
              <a:rPr lang="en-US" b="1" dirty="0">
                <a:latin typeface="Arial" panose="020B0604020202020204" pitchFamily="34" charset="0"/>
                <a:cs typeface="Arial" panose="020B0604020202020204" pitchFamily="34" charset="0"/>
              </a:rPr>
              <a:t>t</a:t>
            </a:r>
            <a:r>
              <a:rPr lang="en-US" b="1" baseline="-25000" dirty="0">
                <a:latin typeface="Arial" panose="020B0604020202020204" pitchFamily="34" charset="0"/>
                <a:cs typeface="Arial" panose="020B0604020202020204" pitchFamily="34" charset="0"/>
              </a:rPr>
              <a:t>1</a:t>
            </a:r>
            <a:r>
              <a:rPr lang="ru-RU" b="1" dirty="0">
                <a:latin typeface="Arial" panose="020B0604020202020204" pitchFamily="34" charset="0"/>
                <a:cs typeface="Arial" panose="020B0604020202020204" pitchFamily="34" charset="0"/>
              </a:rPr>
              <a:t> записывает </a:t>
            </a:r>
            <a:r>
              <a:rPr lang="ru-RU" dirty="0">
                <a:latin typeface="Arial" panose="020B0604020202020204" pitchFamily="34" charset="0"/>
                <a:cs typeface="Arial" panose="020B0604020202020204" pitchFamily="34" charset="0"/>
              </a:rPr>
              <a:t>некоторый объект, </a:t>
            </a:r>
            <a:r>
              <a:rPr lang="ru-RU" b="1" dirty="0">
                <a:latin typeface="Arial" panose="020B0604020202020204" pitchFamily="34" charset="0"/>
                <a:cs typeface="Arial" panose="020B0604020202020204" pitchFamily="34" charset="0"/>
              </a:rPr>
              <a:t>который t</a:t>
            </a:r>
            <a:r>
              <a:rPr lang="ru-RU" b="1" baseline="-25000" dirty="0">
                <a:latin typeface="Arial" panose="020B0604020202020204" pitchFamily="34" charset="0"/>
                <a:cs typeface="Arial" panose="020B0604020202020204" pitchFamily="34" charset="0"/>
              </a:rPr>
              <a:t>2</a:t>
            </a:r>
            <a:r>
              <a:rPr lang="ru-RU" b="1" dirty="0">
                <a:latin typeface="Arial" panose="020B0604020202020204" pitchFamily="34" charset="0"/>
                <a:cs typeface="Arial" panose="020B0604020202020204" pitchFamily="34" charset="0"/>
              </a:rPr>
              <a:t> замещает</a:t>
            </a:r>
            <a:r>
              <a:rPr lang="ru-RU"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a:t>
            </a:r>
            <a:r>
              <a:rPr lang="en-US" baseline="-25000" dirty="0">
                <a:latin typeface="Arial" panose="020B0604020202020204" pitchFamily="34" charset="0"/>
                <a:cs typeface="Arial" panose="020B0604020202020204" pitchFamily="34" charset="0"/>
              </a:rPr>
              <a:t>1</a:t>
            </a:r>
            <a:r>
              <a:rPr lang="ru-RU" dirty="0">
                <a:latin typeface="Arial" panose="020B0604020202020204" pitchFamily="34" charset="0"/>
                <a:cs typeface="Arial" panose="020B0604020202020204" pitchFamily="34" charset="0"/>
              </a:rPr>
              <a:t> —</a:t>
            </a:r>
            <a:r>
              <a:rPr lang="ru-RU" baseline="30000" dirty="0">
                <a:latin typeface="Arial" panose="020B0604020202020204" pitchFamily="34" charset="0"/>
                <a:cs typeface="Arial" panose="020B0604020202020204" pitchFamily="34" charset="0"/>
              </a:rPr>
              <a:t>WW</a:t>
            </a:r>
            <a:r>
              <a:rPr lang="ru-RU" dirty="0">
                <a:latin typeface="Arial" panose="020B0604020202020204" pitchFamily="34" charset="0"/>
                <a:cs typeface="Arial" panose="020B0604020202020204" pitchFamily="34" charset="0"/>
              </a:rPr>
              <a:t>→ t</a:t>
            </a:r>
            <a:r>
              <a:rPr lang="ru-RU" baseline="-25000" dirty="0">
                <a:latin typeface="Arial" panose="020B0604020202020204" pitchFamily="34" charset="0"/>
                <a:cs typeface="Arial" panose="020B0604020202020204" pitchFamily="34" charset="0"/>
              </a:rPr>
              <a:t>2</a:t>
            </a:r>
            <a:r>
              <a:rPr lang="ru-RU" dirty="0">
                <a:latin typeface="Arial" panose="020B0604020202020204" pitchFamily="34" charset="0"/>
                <a:cs typeface="Arial" panose="020B0604020202020204" pitchFamily="34" charset="0"/>
              </a:rPr>
              <a:t>; </a:t>
            </a:r>
          </a:p>
          <a:p>
            <a:pPr marL="0" indent="0" algn="l">
              <a:lnSpc>
                <a:spcPct val="120000"/>
              </a:lnSpc>
              <a:spcBef>
                <a:spcPts val="600"/>
              </a:spcBef>
              <a:buNone/>
            </a:pPr>
            <a:r>
              <a:rPr lang="ru-RU" dirty="0">
                <a:latin typeface="Arial" panose="020B0604020202020204" pitchFamily="34" charset="0"/>
                <a:cs typeface="Arial" panose="020B0604020202020204" pitchFamily="34" charset="0"/>
              </a:rPr>
              <a:t>• </a:t>
            </a:r>
            <a:r>
              <a:rPr lang="ru-RU" dirty="0" err="1">
                <a:latin typeface="Arial" panose="020B0604020202020204" pitchFamily="34" charset="0"/>
                <a:cs typeface="Arial" panose="020B0604020202020204" pitchFamily="34" charset="0"/>
              </a:rPr>
              <a:t>антизависимость</a:t>
            </a:r>
            <a:r>
              <a:rPr lang="ru-RU" dirty="0">
                <a:latin typeface="Arial" panose="020B0604020202020204" pitchFamily="34" charset="0"/>
                <a:cs typeface="Arial" panose="020B0604020202020204" pitchFamily="34" charset="0"/>
              </a:rPr>
              <a:t> </a:t>
            </a:r>
            <a:r>
              <a:rPr lang="ru-RU" b="1" dirty="0">
                <a:latin typeface="Arial" panose="020B0604020202020204" pitchFamily="34" charset="0"/>
                <a:cs typeface="Arial" panose="020B0604020202020204" pitchFamily="34" charset="0"/>
              </a:rPr>
              <a:t>RW </a:t>
            </a:r>
            <a:r>
              <a:rPr lang="ru-RU" dirty="0">
                <a:latin typeface="Arial" panose="020B0604020202020204" pitchFamily="34" charset="0"/>
                <a:cs typeface="Arial" panose="020B0604020202020204" pitchFamily="34" charset="0"/>
              </a:rPr>
              <a:t>возникает,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если </a:t>
            </a:r>
            <a:r>
              <a:rPr lang="en-US" b="1" dirty="0">
                <a:latin typeface="Arial" panose="020B0604020202020204" pitchFamily="34" charset="0"/>
                <a:cs typeface="Arial" panose="020B0604020202020204" pitchFamily="34" charset="0"/>
              </a:rPr>
              <a:t>t</a:t>
            </a:r>
            <a:r>
              <a:rPr lang="en-US" b="1" baseline="-25000" dirty="0">
                <a:latin typeface="Arial" panose="020B0604020202020204" pitchFamily="34" charset="0"/>
                <a:cs typeface="Arial" panose="020B0604020202020204" pitchFamily="34" charset="0"/>
              </a:rPr>
              <a:t>1</a:t>
            </a:r>
            <a:r>
              <a:rPr lang="ru-RU" b="1" dirty="0">
                <a:latin typeface="Arial" panose="020B0604020202020204" pitchFamily="34" charset="0"/>
                <a:cs typeface="Arial" panose="020B0604020202020204" pitchFamily="34" charset="0"/>
              </a:rPr>
              <a:t> записывает </a:t>
            </a:r>
            <a:r>
              <a:rPr lang="ru-RU" dirty="0">
                <a:latin typeface="Arial" panose="020B0604020202020204" pitchFamily="34" charset="0"/>
                <a:cs typeface="Arial" panose="020B0604020202020204" pitchFamily="34" charset="0"/>
              </a:rPr>
              <a:t>некоторый объект,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а </a:t>
            </a:r>
            <a:r>
              <a:rPr lang="ru-RU" b="1" dirty="0">
                <a:latin typeface="Arial" panose="020B0604020202020204" pitchFamily="34" charset="0"/>
                <a:cs typeface="Arial" panose="020B0604020202020204" pitchFamily="34" charset="0"/>
              </a:rPr>
              <a:t>t</a:t>
            </a:r>
            <a:r>
              <a:rPr lang="ru-RU" b="1" baseline="-25000" dirty="0">
                <a:latin typeface="Arial" panose="020B0604020202020204" pitchFamily="34" charset="0"/>
                <a:cs typeface="Arial" panose="020B0604020202020204" pitchFamily="34" charset="0"/>
              </a:rPr>
              <a:t>2</a:t>
            </a:r>
            <a:r>
              <a:rPr lang="ru-RU" b="1" dirty="0">
                <a:latin typeface="Arial" panose="020B0604020202020204" pitchFamily="34" charset="0"/>
                <a:cs typeface="Arial" panose="020B0604020202020204" pitchFamily="34" charset="0"/>
              </a:rPr>
              <a:t> читает предыдущее состояние </a:t>
            </a:r>
            <a:r>
              <a:rPr lang="ru-RU" dirty="0">
                <a:latin typeface="Arial" panose="020B0604020202020204" pitchFamily="34" charset="0"/>
                <a:cs typeface="Arial" panose="020B0604020202020204" pitchFamily="34" charset="0"/>
              </a:rPr>
              <a:t>этого объекта: t</a:t>
            </a:r>
            <a:r>
              <a:rPr lang="ru-RU" baseline="-25000" dirty="0">
                <a:latin typeface="Arial" panose="020B0604020202020204" pitchFamily="34" charset="0"/>
                <a:cs typeface="Arial" panose="020B0604020202020204" pitchFamily="34" charset="0"/>
              </a:rPr>
              <a:t>2 </a:t>
            </a:r>
            <a:r>
              <a:rPr lang="ru-RU" dirty="0">
                <a:latin typeface="Arial" panose="020B0604020202020204" pitchFamily="34" charset="0"/>
                <a:cs typeface="Arial" panose="020B0604020202020204" pitchFamily="34" charset="0"/>
              </a:rPr>
              <a:t>— </a:t>
            </a:r>
            <a:r>
              <a:rPr lang="ru-RU" baseline="30000" dirty="0">
                <a:latin typeface="Arial" panose="020B0604020202020204" pitchFamily="34" charset="0"/>
                <a:cs typeface="Arial" panose="020B0604020202020204" pitchFamily="34" charset="0"/>
              </a:rPr>
              <a:t>RW</a:t>
            </a:r>
            <a:r>
              <a:rPr lang="ru-RU" dirty="0">
                <a:latin typeface="Arial" panose="020B0604020202020204" pitchFamily="34" charset="0"/>
                <a:cs typeface="Arial" panose="020B0604020202020204" pitchFamily="34" charset="0"/>
              </a:rPr>
              <a:t> → </a:t>
            </a:r>
            <a:r>
              <a:rPr lang="en-US" dirty="0">
                <a:latin typeface="Arial" panose="020B0604020202020204" pitchFamily="34" charset="0"/>
                <a:cs typeface="Arial" panose="020B0604020202020204" pitchFamily="34" charset="0"/>
              </a:rPr>
              <a:t>t</a:t>
            </a:r>
            <a:r>
              <a:rPr lang="en-US" baseline="-25000" dirty="0">
                <a:latin typeface="Arial" panose="020B0604020202020204" pitchFamily="34" charset="0"/>
                <a:cs typeface="Arial" panose="020B0604020202020204" pitchFamily="34" charset="0"/>
              </a:rPr>
              <a:t>1</a:t>
            </a:r>
            <a:r>
              <a:rPr lang="ru-RU" dirty="0">
                <a:latin typeface="Arial" panose="020B0604020202020204" pitchFamily="34" charset="0"/>
                <a:cs typeface="Arial" panose="020B0604020202020204" pitchFamily="34" charset="0"/>
              </a:rPr>
              <a:t>.</a:t>
            </a:r>
          </a:p>
          <a:p>
            <a:pPr>
              <a:lnSpc>
                <a:spcPct val="120000"/>
              </a:lnSpc>
              <a:spcBef>
                <a:spcPts val="600"/>
              </a:spcBef>
              <a:buFont typeface="Wingdings" panose="05000000000000000000" pitchFamily="2" charset="2"/>
              <a:buChar char="q"/>
            </a:pPr>
            <a:r>
              <a:rPr lang="ru-RU" dirty="0">
                <a:latin typeface="Arial" panose="020B0604020202020204" pitchFamily="34" charset="0"/>
                <a:cs typeface="Arial" panose="020B0604020202020204" pitchFamily="34" charset="0"/>
              </a:rPr>
              <a:t>Зависимости WW не могут возникать при выполнении условий SI, потому что такая зависимость означала бы, что множества записываемых элементов данных и интервалы времени выполнения транзакций пересекаются. </a:t>
            </a:r>
          </a:p>
          <a:p>
            <a:pPr>
              <a:lnSpc>
                <a:spcPct val="120000"/>
              </a:lnSpc>
              <a:spcBef>
                <a:spcPts val="600"/>
              </a:spcBef>
              <a:buFont typeface="Wingdings" panose="05000000000000000000" pitchFamily="2" charset="2"/>
              <a:buChar char="q"/>
            </a:pPr>
            <a:r>
              <a:rPr lang="ru-RU" dirty="0">
                <a:latin typeface="Arial" panose="020B0604020202020204" pitchFamily="34" charset="0"/>
                <a:cs typeface="Arial" panose="020B0604020202020204" pitchFamily="34" charset="0"/>
              </a:rPr>
              <a:t>Проверка этого запрета может выполняться по-разному в разных реализациях </a:t>
            </a: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a:xfrm>
            <a:off x="11361393" y="6408902"/>
            <a:ext cx="567559" cy="365125"/>
          </a:xfrm>
        </p:spPr>
        <p:txBody>
          <a:bodyPr/>
          <a:lstStyle/>
          <a:p>
            <a:fld id="{667D74AF-8CFA-41E7-84BA-34814A01EACF}" type="slidenum">
              <a:rPr lang="ru-RU" smtClean="0"/>
              <a:t>29</a:t>
            </a:fld>
            <a:endParaRPr lang="ru-RU" dirty="0"/>
          </a:p>
        </p:txBody>
      </p:sp>
    </p:spTree>
    <p:extLst>
      <p:ext uri="{BB962C8B-B14F-4D97-AF65-F5344CB8AC3E}">
        <p14:creationId xmlns:p14="http://schemas.microsoft.com/office/powerpoint/2010/main" val="29007798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0"/>
            <a:ext cx="12045863" cy="777766"/>
          </a:xfrm>
        </p:spPr>
        <p:txBody>
          <a:bodyPr>
            <a:noAutofit/>
          </a:bodyPr>
          <a:lstStyle/>
          <a:p>
            <a:r>
              <a:rPr lang="ru-RU" sz="3200" dirty="0">
                <a:latin typeface="Arial" panose="020B0604020202020204" pitchFamily="34" charset="0"/>
                <a:cs typeface="Arial" panose="020B0604020202020204" pitchFamily="34" charset="0"/>
              </a:rPr>
              <a:t>Изоляция мгновенных снимков</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263048" y="693686"/>
            <a:ext cx="11928952" cy="6201103"/>
          </a:xfrm>
        </p:spPr>
        <p:txBody>
          <a:bodyPr>
            <a:normAutofit fontScale="70000" lnSpcReduction="20000"/>
          </a:bodyPr>
          <a:lstStyle/>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В определении зависимостей важны значения элементов данных. </a:t>
            </a:r>
          </a:p>
          <a:p>
            <a:pPr algn="l">
              <a:lnSpc>
                <a:spcPct val="120000"/>
              </a:lnSpc>
              <a:spcBef>
                <a:spcPts val="600"/>
              </a:spcBef>
              <a:buFont typeface="Wingdings" panose="05000000000000000000" pitchFamily="2" charset="2"/>
              <a:buChar char="q"/>
            </a:pPr>
            <a:r>
              <a:rPr lang="ru-RU" b="1" dirty="0">
                <a:solidFill>
                  <a:schemeClr val="tx1"/>
                </a:solidFill>
                <a:latin typeface="Arial" panose="020B0604020202020204" pitchFamily="34" charset="0"/>
                <a:cs typeface="Arial" panose="020B0604020202020204" pitchFamily="34" charset="0"/>
              </a:rPr>
              <a:t>Зависимость имеет место </a:t>
            </a:r>
            <a:r>
              <a:rPr lang="ru-RU" dirty="0">
                <a:solidFill>
                  <a:schemeClr val="tx1"/>
                </a:solidFill>
                <a:latin typeface="Arial" panose="020B0604020202020204" pitchFamily="34" charset="0"/>
                <a:cs typeface="Arial" panose="020B0604020202020204" pitchFamily="34" charset="0"/>
              </a:rPr>
              <a:t>в том случае, если</a:t>
            </a:r>
          </a:p>
          <a:p>
            <a:pPr marL="914400" lvl="1" indent="-514350">
              <a:lnSpc>
                <a:spcPct val="120000"/>
              </a:lnSpc>
              <a:spcBef>
                <a:spcPts val="600"/>
              </a:spcBef>
              <a:buFont typeface="+mj-lt"/>
              <a:buAutoNum type="arabicPeriod"/>
            </a:pPr>
            <a:r>
              <a:rPr lang="ru-RU" dirty="0">
                <a:solidFill>
                  <a:srgbClr val="FF0000"/>
                </a:solidFill>
                <a:latin typeface="Arial" panose="020B0604020202020204" pitchFamily="34" charset="0"/>
                <a:cs typeface="Arial" panose="020B0604020202020204" pitchFamily="34" charset="0"/>
              </a:rPr>
              <a:t>читается записанное </a:t>
            </a:r>
            <a:r>
              <a:rPr lang="ru-RU" dirty="0">
                <a:solidFill>
                  <a:schemeClr val="tx1"/>
                </a:solidFill>
                <a:latin typeface="Arial" panose="020B0604020202020204" pitchFamily="34" charset="0"/>
                <a:cs typeface="Arial" panose="020B0604020202020204" pitchFamily="34" charset="0"/>
              </a:rPr>
              <a:t>значение,</a:t>
            </a:r>
          </a:p>
          <a:p>
            <a:pPr marL="914400" lvl="1" indent="-514350">
              <a:lnSpc>
                <a:spcPct val="120000"/>
              </a:lnSpc>
              <a:spcBef>
                <a:spcPts val="600"/>
              </a:spcBef>
              <a:buFont typeface="+mj-lt"/>
              <a:buAutoNum type="arabicPeriod"/>
            </a:pPr>
            <a:r>
              <a:rPr lang="ru-RU" dirty="0">
                <a:solidFill>
                  <a:srgbClr val="FF0000"/>
                </a:solidFill>
                <a:latin typeface="Arial" panose="020B0604020202020204" pitchFamily="34" charset="0"/>
                <a:cs typeface="Arial" panose="020B0604020202020204" pitchFamily="34" charset="0"/>
              </a:rPr>
              <a:t>заменяется прочитанное</a:t>
            </a:r>
            <a:r>
              <a:rPr lang="ru-RU" dirty="0">
                <a:solidFill>
                  <a:schemeClr val="tx1"/>
                </a:solidFill>
                <a:latin typeface="Arial" panose="020B0604020202020204" pitchFamily="34" charset="0"/>
                <a:cs typeface="Arial" panose="020B0604020202020204" pitchFamily="34" charset="0"/>
              </a:rPr>
              <a:t> значение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Это </a:t>
            </a:r>
            <a:r>
              <a:rPr lang="ru-RU" b="1" dirty="0">
                <a:solidFill>
                  <a:schemeClr val="tx1"/>
                </a:solidFill>
                <a:latin typeface="Arial" panose="020B0604020202020204" pitchFamily="34" charset="0"/>
                <a:cs typeface="Arial" panose="020B0604020202020204" pitchFamily="34" charset="0"/>
              </a:rPr>
              <a:t>отличает зависимости от конфликтов</a:t>
            </a:r>
            <a:r>
              <a:rPr lang="ru-RU" dirty="0">
                <a:solidFill>
                  <a:schemeClr val="tx1"/>
                </a:solidFill>
                <a:latin typeface="Arial" panose="020B0604020202020204" pitchFamily="34" charset="0"/>
                <a:cs typeface="Arial" panose="020B0604020202020204" pitchFamily="34" charset="0"/>
              </a:rPr>
              <a:t>, которые имеют место </a:t>
            </a:r>
            <a:r>
              <a:rPr lang="ru-RU" b="1" dirty="0">
                <a:solidFill>
                  <a:schemeClr val="tx1"/>
                </a:solidFill>
                <a:latin typeface="Arial" panose="020B0604020202020204" pitchFamily="34" charset="0"/>
                <a:cs typeface="Arial" panose="020B0604020202020204" pitchFamily="34" charset="0"/>
              </a:rPr>
              <a:t>всегда, </a:t>
            </a:r>
            <a:r>
              <a:rPr lang="ru-RU" b="1" dirty="0">
                <a:solidFill>
                  <a:srgbClr val="FF0000"/>
                </a:solidFill>
                <a:latin typeface="Arial" panose="020B0604020202020204" pitchFamily="34" charset="0"/>
                <a:cs typeface="Arial" panose="020B0604020202020204" pitchFamily="34" charset="0"/>
              </a:rPr>
              <a:t>когда операции разных транзакций </a:t>
            </a:r>
            <a:r>
              <a:rPr lang="ru-RU" b="1" dirty="0">
                <a:solidFill>
                  <a:schemeClr val="tx1"/>
                </a:solidFill>
                <a:latin typeface="Arial" panose="020B0604020202020204" pitchFamily="34" charset="0"/>
                <a:cs typeface="Arial" panose="020B0604020202020204" pitchFamily="34" charset="0"/>
              </a:rPr>
              <a:t>обрабатывают </a:t>
            </a:r>
            <a:r>
              <a:rPr lang="ru-RU" b="1" dirty="0">
                <a:solidFill>
                  <a:srgbClr val="FF0000"/>
                </a:solidFill>
                <a:latin typeface="Arial" panose="020B0604020202020204" pitchFamily="34" charset="0"/>
                <a:cs typeface="Arial" panose="020B0604020202020204" pitchFamily="34" charset="0"/>
              </a:rPr>
              <a:t>один и тот же элемент данных </a:t>
            </a:r>
            <a:r>
              <a:rPr lang="ru-RU" b="1" dirty="0">
                <a:solidFill>
                  <a:schemeClr val="tx1"/>
                </a:solidFill>
                <a:latin typeface="Arial" panose="020B0604020202020204" pitchFamily="34" charset="0"/>
                <a:cs typeface="Arial" panose="020B0604020202020204" pitchFamily="34" charset="0"/>
              </a:rPr>
              <a:t>(и по крайней мере </a:t>
            </a:r>
            <a:r>
              <a:rPr lang="ru-RU" b="1" dirty="0">
                <a:solidFill>
                  <a:srgbClr val="FF0000"/>
                </a:solidFill>
                <a:latin typeface="Arial" panose="020B0604020202020204" pitchFamily="34" charset="0"/>
                <a:cs typeface="Arial" panose="020B0604020202020204" pitchFamily="34" charset="0"/>
              </a:rPr>
              <a:t>одна из них — операция записи</a:t>
            </a:r>
            <a:r>
              <a:rPr lang="ru-RU" b="1" dirty="0">
                <a:solidFill>
                  <a:schemeClr val="tx1"/>
                </a:solidFill>
                <a:latin typeface="Arial" panose="020B0604020202020204" pitchFamily="34" charset="0"/>
                <a:cs typeface="Arial" panose="020B0604020202020204" pitchFamily="34" charset="0"/>
              </a:rPr>
              <a:t>), </a:t>
            </a:r>
            <a:r>
              <a:rPr lang="ru-RU" b="1" dirty="0">
                <a:solidFill>
                  <a:srgbClr val="FF0000"/>
                </a:solidFill>
                <a:latin typeface="Arial" panose="020B0604020202020204" pitchFamily="34" charset="0"/>
                <a:cs typeface="Arial" panose="020B0604020202020204" pitchFamily="34" charset="0"/>
              </a:rPr>
              <a:t>независимо от значений </a:t>
            </a:r>
            <a:r>
              <a:rPr lang="ru-RU" b="1" dirty="0">
                <a:solidFill>
                  <a:schemeClr val="tx1"/>
                </a:solidFill>
                <a:latin typeface="Arial" panose="020B0604020202020204" pitchFamily="34" charset="0"/>
                <a:cs typeface="Arial" panose="020B0604020202020204" pitchFamily="34" charset="0"/>
              </a:rPr>
              <a:t>этого элемента данных.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Например, в расписании </a:t>
            </a:r>
            <a:r>
              <a:rPr lang="ru-RU" sz="3400" dirty="0">
                <a:solidFill>
                  <a:schemeClr val="tx1"/>
                </a:solidFill>
                <a:latin typeface="Arial" panose="020B0604020202020204" pitchFamily="34" charset="0"/>
                <a:cs typeface="Arial" panose="020B0604020202020204" pitchFamily="34" charset="0"/>
              </a:rPr>
              <a:t>r</a:t>
            </a:r>
            <a:r>
              <a:rPr lang="ru-RU" sz="3400" baseline="-25000" dirty="0">
                <a:solidFill>
                  <a:schemeClr val="tx1"/>
                </a:solidFill>
                <a:latin typeface="Arial" panose="020B0604020202020204" pitchFamily="34" charset="0"/>
                <a:cs typeface="Arial" panose="020B0604020202020204" pitchFamily="34" charset="0"/>
              </a:rPr>
              <a:t>1</a:t>
            </a:r>
            <a:r>
              <a:rPr lang="ru-RU" sz="3400" dirty="0">
                <a:solidFill>
                  <a:schemeClr val="tx1"/>
                </a:solidFill>
                <a:latin typeface="Arial" panose="020B0604020202020204" pitchFamily="34" charset="0"/>
                <a:cs typeface="Arial" panose="020B0604020202020204" pitchFamily="34" charset="0"/>
              </a:rPr>
              <a:t>(x) c</a:t>
            </a:r>
            <a:r>
              <a:rPr lang="ru-RU" sz="3400" baseline="-25000" dirty="0">
                <a:solidFill>
                  <a:schemeClr val="tx1"/>
                </a:solidFill>
                <a:latin typeface="Arial" panose="020B0604020202020204" pitchFamily="34" charset="0"/>
                <a:cs typeface="Arial" panose="020B0604020202020204" pitchFamily="34" charset="0"/>
              </a:rPr>
              <a:t>1</a:t>
            </a:r>
            <a:r>
              <a:rPr lang="ru-RU" sz="3400" dirty="0">
                <a:solidFill>
                  <a:schemeClr val="tx1"/>
                </a:solidFill>
                <a:latin typeface="Arial" panose="020B0604020202020204" pitchFamily="34" charset="0"/>
                <a:cs typeface="Arial" panose="020B0604020202020204" pitchFamily="34" charset="0"/>
              </a:rPr>
              <a:t> w</a:t>
            </a:r>
            <a:r>
              <a:rPr lang="ru-RU" sz="3400" baseline="-25000" dirty="0">
                <a:solidFill>
                  <a:schemeClr val="tx1"/>
                </a:solidFill>
                <a:latin typeface="Arial" panose="020B0604020202020204" pitchFamily="34" charset="0"/>
                <a:cs typeface="Arial" panose="020B0604020202020204" pitchFamily="34" charset="0"/>
              </a:rPr>
              <a:t>2</a:t>
            </a:r>
            <a:r>
              <a:rPr lang="ru-RU" sz="3400" dirty="0">
                <a:solidFill>
                  <a:schemeClr val="tx1"/>
                </a:solidFill>
                <a:latin typeface="Arial" panose="020B0604020202020204" pitchFamily="34" charset="0"/>
                <a:cs typeface="Arial" panose="020B0604020202020204" pitchFamily="34" charset="0"/>
              </a:rPr>
              <a:t>(x) c</a:t>
            </a:r>
            <a:r>
              <a:rPr lang="ru-RU" sz="3400" baseline="-25000" dirty="0">
                <a:solidFill>
                  <a:schemeClr val="tx1"/>
                </a:solidFill>
                <a:latin typeface="Arial" panose="020B0604020202020204" pitchFamily="34" charset="0"/>
                <a:cs typeface="Arial" panose="020B0604020202020204" pitchFamily="34" charset="0"/>
              </a:rPr>
              <a:t>2</a:t>
            </a:r>
            <a:r>
              <a:rPr lang="ru-RU" sz="3400" dirty="0">
                <a:solidFill>
                  <a:schemeClr val="tx1"/>
                </a:solidFill>
                <a:latin typeface="Arial" panose="020B0604020202020204" pitchFamily="34" charset="0"/>
                <a:cs typeface="Arial" panose="020B0604020202020204" pitchFamily="34" charset="0"/>
              </a:rPr>
              <a:t> w</a:t>
            </a:r>
            <a:r>
              <a:rPr lang="ru-RU" sz="3400" baseline="-25000" dirty="0">
                <a:solidFill>
                  <a:schemeClr val="tx1"/>
                </a:solidFill>
                <a:latin typeface="Arial" panose="020B0604020202020204" pitchFamily="34" charset="0"/>
                <a:cs typeface="Arial" panose="020B0604020202020204" pitchFamily="34" charset="0"/>
              </a:rPr>
              <a:t>3</a:t>
            </a:r>
            <a:r>
              <a:rPr lang="ru-RU" sz="3400" dirty="0">
                <a:solidFill>
                  <a:schemeClr val="tx1"/>
                </a:solidFill>
                <a:latin typeface="Arial" panose="020B0604020202020204" pitchFamily="34" charset="0"/>
                <a:cs typeface="Arial" panose="020B0604020202020204" pitchFamily="34" charset="0"/>
              </a:rPr>
              <a:t>(x) c</a:t>
            </a:r>
            <a:r>
              <a:rPr lang="ru-RU" sz="3400" baseline="-25000" dirty="0">
                <a:solidFill>
                  <a:schemeClr val="tx1"/>
                </a:solidFill>
                <a:latin typeface="Arial" panose="020B0604020202020204" pitchFamily="34" charset="0"/>
                <a:cs typeface="Arial" panose="020B0604020202020204" pitchFamily="34" charset="0"/>
              </a:rPr>
              <a:t>3</a:t>
            </a:r>
            <a:r>
              <a:rPr lang="ru-RU" sz="3400" dirty="0">
                <a:solidFill>
                  <a:schemeClr val="tx1"/>
                </a:solidFill>
                <a:latin typeface="Arial" panose="020B0604020202020204" pitchFamily="34" charset="0"/>
                <a:cs typeface="Arial" panose="020B0604020202020204" pitchFamily="34" charset="0"/>
              </a:rPr>
              <a:t> </a:t>
            </a:r>
            <a:r>
              <a:rPr lang="ru-RU" dirty="0">
                <a:solidFill>
                  <a:schemeClr val="tx1"/>
                </a:solidFill>
                <a:latin typeface="Arial" panose="020B0604020202020204" pitchFamily="34" charset="0"/>
                <a:cs typeface="Arial" panose="020B0604020202020204" pitchFamily="34" charset="0"/>
              </a:rPr>
              <a:t>имеются конфликты между всеми парами транзакций, однако зависимость есть только между первой и второй транзакциями.</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Как и в случае </a:t>
            </a:r>
            <a:r>
              <a:rPr lang="ru-RU" dirty="0" err="1">
                <a:solidFill>
                  <a:schemeClr val="tx1"/>
                </a:solidFill>
                <a:latin typeface="Arial" panose="020B0604020202020204" pitchFamily="34" charset="0"/>
                <a:cs typeface="Arial" panose="020B0604020202020204" pitchFamily="34" charset="0"/>
              </a:rPr>
              <a:t>сериализуемости</a:t>
            </a:r>
            <a:r>
              <a:rPr lang="ru-RU" dirty="0">
                <a:solidFill>
                  <a:schemeClr val="tx1"/>
                </a:solidFill>
                <a:latin typeface="Arial" panose="020B0604020202020204" pitchFamily="34" charset="0"/>
                <a:cs typeface="Arial" panose="020B0604020202020204" pitchFamily="34" charset="0"/>
              </a:rPr>
              <a:t> по конфликтам, строится граф </a:t>
            </a:r>
            <a:r>
              <a:rPr lang="ru-RU" dirty="0" err="1">
                <a:solidFill>
                  <a:schemeClr val="tx1"/>
                </a:solidFill>
                <a:latin typeface="Arial" panose="020B0604020202020204" pitchFamily="34" charset="0"/>
                <a:cs typeface="Arial" panose="020B0604020202020204" pitchFamily="34" charset="0"/>
              </a:rPr>
              <a:t>сериализуемости</a:t>
            </a:r>
            <a:r>
              <a:rPr lang="ru-RU" dirty="0">
                <a:solidFill>
                  <a:schemeClr val="tx1"/>
                </a:solidFill>
                <a:latin typeface="Arial" panose="020B0604020202020204" pitchFamily="34" charset="0"/>
                <a:cs typeface="Arial" panose="020B0604020202020204" pitchFamily="34" charset="0"/>
              </a:rPr>
              <a:t> (по зависимостям), вершинами которого являются транзакции, входящие в расписание, а дуги определяются перечисленными зависимостями.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Заметим, что в этом графе могут появиться транзакции, которые не конкурируют друг с другом непосредственно. </a:t>
            </a:r>
          </a:p>
          <a:p>
            <a:pPr algn="l">
              <a:lnSpc>
                <a:spcPct val="120000"/>
              </a:lnSpc>
              <a:spcBef>
                <a:spcPts val="600"/>
              </a:spcBef>
              <a:buFont typeface="Wingdings" panose="05000000000000000000" pitchFamily="2" charset="2"/>
              <a:buChar char="q"/>
            </a:pPr>
            <a:r>
              <a:rPr lang="ru-RU" dirty="0">
                <a:solidFill>
                  <a:schemeClr val="tx1"/>
                </a:solidFill>
                <a:latin typeface="Arial" panose="020B0604020202020204" pitchFamily="34" charset="0"/>
                <a:cs typeface="Arial" panose="020B0604020202020204" pitchFamily="34" charset="0"/>
              </a:rPr>
              <a:t>Легко доказать, что расписание, допускаемое протоколом SI, </a:t>
            </a:r>
            <a:r>
              <a:rPr lang="ru-RU" dirty="0" err="1">
                <a:solidFill>
                  <a:schemeClr val="tx1"/>
                </a:solidFill>
                <a:latin typeface="Arial" panose="020B0604020202020204" pitchFamily="34" charset="0"/>
                <a:cs typeface="Arial" panose="020B0604020202020204" pitchFamily="34" charset="0"/>
              </a:rPr>
              <a:t>сериализуемо</a:t>
            </a:r>
            <a:r>
              <a:rPr lang="ru-RU" dirty="0">
                <a:solidFill>
                  <a:schemeClr val="tx1"/>
                </a:solidFill>
                <a:latin typeface="Arial" panose="020B0604020202020204" pitchFamily="34" charset="0"/>
                <a:cs typeface="Arial" panose="020B0604020202020204" pitchFamily="34" charset="0"/>
              </a:rPr>
              <a:t> тогда и только тогда, когда построенный таким образом граф не имеет контуров. </a:t>
            </a: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a:xfrm>
            <a:off x="11361393" y="6408902"/>
            <a:ext cx="567559" cy="365125"/>
          </a:xfrm>
        </p:spPr>
        <p:txBody>
          <a:bodyPr/>
          <a:lstStyle/>
          <a:p>
            <a:fld id="{667D74AF-8CFA-41E7-84BA-34814A01EACF}" type="slidenum">
              <a:rPr lang="ru-RU" smtClean="0"/>
              <a:t>30</a:t>
            </a:fld>
            <a:endParaRPr lang="ru-RU" dirty="0"/>
          </a:p>
        </p:txBody>
      </p:sp>
    </p:spTree>
    <p:extLst>
      <p:ext uri="{BB962C8B-B14F-4D97-AF65-F5344CB8AC3E}">
        <p14:creationId xmlns:p14="http://schemas.microsoft.com/office/powerpoint/2010/main" val="2623412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0"/>
            <a:ext cx="12045863" cy="777766"/>
          </a:xfrm>
        </p:spPr>
        <p:txBody>
          <a:bodyPr>
            <a:noAutofit/>
          </a:bodyPr>
          <a:lstStyle/>
          <a:p>
            <a:r>
              <a:rPr lang="ru-RU" sz="3200" dirty="0">
                <a:latin typeface="Arial" panose="020B0604020202020204" pitchFamily="34" charset="0"/>
                <a:cs typeface="Arial" panose="020B0604020202020204" pitchFamily="34" charset="0"/>
              </a:rPr>
              <a:t>Изоляция мгновенных снимков</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263048" y="693686"/>
            <a:ext cx="12045862" cy="6201103"/>
          </a:xfrm>
        </p:spPr>
        <p:txBody>
          <a:bodyPr>
            <a:normAutofit/>
          </a:bodyPr>
          <a:lstStyle/>
          <a:p>
            <a:pPr algn="l">
              <a:lnSpc>
                <a:spcPct val="120000"/>
              </a:lnSpc>
              <a:spcBef>
                <a:spcPts val="600"/>
              </a:spcBef>
              <a:buFont typeface="Wingdings" panose="05000000000000000000" pitchFamily="2" charset="2"/>
              <a:buChar char="q"/>
            </a:pPr>
            <a:r>
              <a:rPr lang="ru-RU" dirty="0"/>
              <a:t>Для расписания, иллюстрирующего </a:t>
            </a:r>
            <a:r>
              <a:rPr lang="ru-RU" b="1" dirty="0"/>
              <a:t>аномалию несогласованной записи </a:t>
            </a:r>
            <a:r>
              <a:rPr lang="en-US" dirty="0"/>
              <a:t>r</a:t>
            </a:r>
            <a:r>
              <a:rPr lang="en-US" baseline="-25000" dirty="0"/>
              <a:t>1</a:t>
            </a:r>
            <a:r>
              <a:rPr lang="en-US" dirty="0"/>
              <a:t>(x) r</a:t>
            </a:r>
            <a:r>
              <a:rPr lang="en-US" baseline="-25000" dirty="0"/>
              <a:t>2</a:t>
            </a:r>
            <a:r>
              <a:rPr lang="en-US" dirty="0"/>
              <a:t>(y) w</a:t>
            </a:r>
            <a:r>
              <a:rPr lang="en-US" baseline="-25000" dirty="0"/>
              <a:t>1</a:t>
            </a:r>
            <a:r>
              <a:rPr lang="en-US" dirty="0"/>
              <a:t>(y) w</a:t>
            </a:r>
            <a:r>
              <a:rPr lang="en-US" baseline="-25000" dirty="0"/>
              <a:t>2</a:t>
            </a:r>
            <a:r>
              <a:rPr lang="en-US" dirty="0"/>
              <a:t>(x) c</a:t>
            </a:r>
            <a:r>
              <a:rPr lang="en-US" baseline="-25000" dirty="0"/>
              <a:t>1 </a:t>
            </a:r>
            <a:r>
              <a:rPr lang="en-US" dirty="0"/>
              <a:t>c</a:t>
            </a:r>
            <a:r>
              <a:rPr lang="en-US" baseline="-25000" dirty="0"/>
              <a:t>2 </a:t>
            </a:r>
            <a:r>
              <a:rPr lang="ru-RU" dirty="0"/>
              <a:t>, граф </a:t>
            </a:r>
            <a:r>
              <a:rPr lang="ru-RU" dirty="0" err="1"/>
              <a:t>сериализуемости</a:t>
            </a:r>
            <a:r>
              <a:rPr lang="ru-RU" dirty="0"/>
              <a:t> имеет вид </a:t>
            </a: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a:p>
            <a:pPr marL="0" indent="0" algn="l">
              <a:lnSpc>
                <a:spcPct val="120000"/>
              </a:lnSpc>
              <a:spcBef>
                <a:spcPts val="600"/>
              </a:spcBef>
              <a:buNone/>
            </a:pPr>
            <a:endParaRPr lang="ru-RU" dirty="0">
              <a:solidFill>
                <a:schemeClr val="tx1"/>
              </a:solidFill>
              <a:latin typeface="Arial" panose="020B0604020202020204" pitchFamily="34" charset="0"/>
              <a:cs typeface="Arial" panose="020B0604020202020204" pitchFamily="34" charset="0"/>
            </a:endParaRP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a:xfrm>
            <a:off x="11361393" y="6408902"/>
            <a:ext cx="567559" cy="365125"/>
          </a:xfrm>
        </p:spPr>
        <p:txBody>
          <a:bodyPr/>
          <a:lstStyle/>
          <a:p>
            <a:fld id="{667D74AF-8CFA-41E7-84BA-34814A01EACF}" type="slidenum">
              <a:rPr lang="ru-RU" smtClean="0"/>
              <a:t>31</a:t>
            </a:fld>
            <a:endParaRPr lang="ru-RU" dirty="0"/>
          </a:p>
        </p:txBody>
      </p:sp>
      <p:pic>
        <p:nvPicPr>
          <p:cNvPr id="6" name="Рисунок 5">
            <a:extLst>
              <a:ext uri="{FF2B5EF4-FFF2-40B4-BE49-F238E27FC236}">
                <a16:creationId xmlns:a16="http://schemas.microsoft.com/office/drawing/2014/main" id="{C526800A-0C77-713E-AC12-A538FCDBDD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7742" y="2048341"/>
            <a:ext cx="4706451" cy="4115973"/>
          </a:xfrm>
          <a:prstGeom prst="rect">
            <a:avLst/>
          </a:prstGeom>
        </p:spPr>
      </p:pic>
    </p:spTree>
    <p:extLst>
      <p:ext uri="{BB962C8B-B14F-4D97-AF65-F5344CB8AC3E}">
        <p14:creationId xmlns:p14="http://schemas.microsoft.com/office/powerpoint/2010/main" val="36824743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0"/>
            <a:ext cx="12045863" cy="777766"/>
          </a:xfrm>
        </p:spPr>
        <p:txBody>
          <a:bodyPr>
            <a:noAutofit/>
          </a:bodyPr>
          <a:lstStyle/>
          <a:p>
            <a:r>
              <a:rPr lang="ru-RU" sz="3200" dirty="0">
                <a:latin typeface="Arial" panose="020B0604020202020204" pitchFamily="34" charset="0"/>
                <a:cs typeface="Arial" panose="020B0604020202020204" pitchFamily="34" charset="0"/>
              </a:rPr>
              <a:t>Изоляция мгновенных снимков</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263048" y="693686"/>
            <a:ext cx="12045862" cy="6201103"/>
          </a:xfrm>
        </p:spPr>
        <p:txBody>
          <a:bodyPr>
            <a:normAutofit/>
          </a:bodyPr>
          <a:lstStyle/>
          <a:p>
            <a:pPr marL="0" indent="0" algn="l">
              <a:lnSpc>
                <a:spcPct val="120000"/>
              </a:lnSpc>
              <a:spcBef>
                <a:spcPts val="600"/>
              </a:spcBef>
              <a:buNone/>
            </a:pPr>
            <a:r>
              <a:rPr lang="ru-RU" dirty="0">
                <a:solidFill>
                  <a:schemeClr val="tx1"/>
                </a:solidFill>
                <a:latin typeface="Arial" panose="020B0604020202020204" pitchFamily="34" charset="0"/>
                <a:cs typeface="Arial" panose="020B0604020202020204" pitchFamily="34" charset="0"/>
              </a:rPr>
              <a:t>Аномалия </a:t>
            </a:r>
            <a:r>
              <a:rPr lang="ru-RU" b="1" dirty="0">
                <a:solidFill>
                  <a:schemeClr val="tx1"/>
                </a:solidFill>
                <a:latin typeface="Arial" panose="020B0604020202020204" pitchFamily="34" charset="0"/>
                <a:cs typeface="Arial" panose="020B0604020202020204" pitchFamily="34" charset="0"/>
              </a:rPr>
              <a:t>только читающей </a:t>
            </a:r>
            <a:r>
              <a:rPr lang="ru-RU" dirty="0">
                <a:solidFill>
                  <a:schemeClr val="tx1"/>
                </a:solidFill>
                <a:latin typeface="Arial" panose="020B0604020202020204" pitchFamily="34" charset="0"/>
                <a:cs typeface="Arial" panose="020B0604020202020204" pitchFamily="34" charset="0"/>
              </a:rPr>
              <a:t>транзакции иллюстрируется расписанием: </a:t>
            </a:r>
            <a:r>
              <a:rPr lang="ru-RU" sz="3200" dirty="0">
                <a:solidFill>
                  <a:schemeClr val="tx1"/>
                </a:solidFill>
              </a:rPr>
              <a:t>r</a:t>
            </a:r>
            <a:r>
              <a:rPr lang="ru-RU" sz="3200" baseline="-25000" dirty="0">
                <a:solidFill>
                  <a:schemeClr val="tx1"/>
                </a:solidFill>
              </a:rPr>
              <a:t>2</a:t>
            </a:r>
            <a:r>
              <a:rPr lang="ru-RU" sz="3200" dirty="0">
                <a:solidFill>
                  <a:schemeClr val="tx1"/>
                </a:solidFill>
              </a:rPr>
              <a:t>(x) r</a:t>
            </a:r>
            <a:r>
              <a:rPr lang="ru-RU" sz="3200" baseline="-25000" dirty="0">
                <a:solidFill>
                  <a:schemeClr val="tx1"/>
                </a:solidFill>
              </a:rPr>
              <a:t>2</a:t>
            </a:r>
            <a:r>
              <a:rPr lang="ru-RU" sz="3200" dirty="0">
                <a:solidFill>
                  <a:schemeClr val="tx1"/>
                </a:solidFill>
              </a:rPr>
              <a:t>(y) r</a:t>
            </a:r>
            <a:r>
              <a:rPr lang="ru-RU" sz="3200" baseline="-25000" dirty="0">
                <a:solidFill>
                  <a:schemeClr val="tx1"/>
                </a:solidFill>
              </a:rPr>
              <a:t>1</a:t>
            </a:r>
            <a:r>
              <a:rPr lang="ru-RU" sz="3200" dirty="0">
                <a:solidFill>
                  <a:schemeClr val="tx1"/>
                </a:solidFill>
              </a:rPr>
              <a:t>(y) w</a:t>
            </a:r>
            <a:r>
              <a:rPr lang="ru-RU" sz="3200" baseline="-25000" dirty="0">
                <a:solidFill>
                  <a:schemeClr val="tx1"/>
                </a:solidFill>
              </a:rPr>
              <a:t>1</a:t>
            </a:r>
            <a:r>
              <a:rPr lang="ru-RU" sz="3200" dirty="0">
                <a:solidFill>
                  <a:schemeClr val="tx1"/>
                </a:solidFill>
              </a:rPr>
              <a:t>(y) c</a:t>
            </a:r>
            <a:r>
              <a:rPr lang="ru-RU" sz="3200" baseline="-25000" dirty="0">
                <a:solidFill>
                  <a:schemeClr val="tx1"/>
                </a:solidFill>
              </a:rPr>
              <a:t>1</a:t>
            </a:r>
            <a:r>
              <a:rPr lang="ru-RU" sz="3200" dirty="0">
                <a:solidFill>
                  <a:schemeClr val="tx1"/>
                </a:solidFill>
              </a:rPr>
              <a:t> r</a:t>
            </a:r>
            <a:r>
              <a:rPr lang="ru-RU" sz="3200" baseline="-25000" dirty="0">
                <a:solidFill>
                  <a:schemeClr val="tx1"/>
                </a:solidFill>
              </a:rPr>
              <a:t>3</a:t>
            </a:r>
            <a:r>
              <a:rPr lang="ru-RU" sz="3200" dirty="0">
                <a:solidFill>
                  <a:schemeClr val="tx1"/>
                </a:solidFill>
              </a:rPr>
              <a:t>(x) r</a:t>
            </a:r>
            <a:r>
              <a:rPr lang="ru-RU" sz="3200" baseline="-25000" dirty="0">
                <a:solidFill>
                  <a:schemeClr val="tx1"/>
                </a:solidFill>
              </a:rPr>
              <a:t>3</a:t>
            </a:r>
            <a:r>
              <a:rPr lang="ru-RU" sz="3200" dirty="0">
                <a:solidFill>
                  <a:schemeClr val="tx1"/>
                </a:solidFill>
              </a:rPr>
              <a:t>(y) c</a:t>
            </a:r>
            <a:r>
              <a:rPr lang="ru-RU" sz="3200" baseline="-25000" dirty="0">
                <a:solidFill>
                  <a:schemeClr val="tx1"/>
                </a:solidFill>
              </a:rPr>
              <a:t>3</a:t>
            </a:r>
            <a:r>
              <a:rPr lang="ru-RU" sz="3200" dirty="0">
                <a:solidFill>
                  <a:schemeClr val="tx1"/>
                </a:solidFill>
              </a:rPr>
              <a:t> w</a:t>
            </a:r>
            <a:r>
              <a:rPr lang="ru-RU" sz="3200" baseline="-25000" dirty="0">
                <a:solidFill>
                  <a:schemeClr val="tx1"/>
                </a:solidFill>
              </a:rPr>
              <a:t>2</a:t>
            </a:r>
            <a:r>
              <a:rPr lang="ru-RU" sz="3200" dirty="0">
                <a:solidFill>
                  <a:schemeClr val="tx1"/>
                </a:solidFill>
              </a:rPr>
              <a:t>(x) c</a:t>
            </a:r>
            <a:r>
              <a:rPr lang="ru-RU" sz="3200" baseline="-25000" dirty="0">
                <a:solidFill>
                  <a:schemeClr val="tx1"/>
                </a:solidFill>
              </a:rPr>
              <a:t>2</a:t>
            </a:r>
            <a:r>
              <a:rPr lang="ru-RU" dirty="0">
                <a:solidFill>
                  <a:schemeClr val="tx1"/>
                </a:solidFill>
                <a:latin typeface="Arial" panose="020B0604020202020204" pitchFamily="34" charset="0"/>
                <a:cs typeface="Arial" panose="020B0604020202020204" pitchFamily="34" charset="0"/>
              </a:rPr>
              <a:t>.</a:t>
            </a:r>
            <a:endParaRPr lang="ru-RU" sz="2000" dirty="0">
              <a:solidFill>
                <a:schemeClr val="tx1"/>
              </a:solidFill>
              <a:latin typeface="Arial" panose="020B0604020202020204" pitchFamily="34" charset="0"/>
              <a:cs typeface="Arial" panose="020B0604020202020204" pitchFamily="34" charset="0"/>
            </a:endParaRPr>
          </a:p>
          <a:p>
            <a:pPr marL="0" indent="0" algn="l">
              <a:lnSpc>
                <a:spcPct val="120000"/>
              </a:lnSpc>
              <a:spcBef>
                <a:spcPts val="600"/>
              </a:spcBef>
              <a:buNone/>
            </a:pPr>
            <a:r>
              <a:rPr lang="ru-RU" sz="2800" dirty="0">
                <a:latin typeface="Arial" panose="020B0604020202020204" pitchFamily="34" charset="0"/>
                <a:cs typeface="Arial" panose="020B0604020202020204" pitchFamily="34" charset="0"/>
              </a:rPr>
              <a:t>В этом расписании, имеются следующие зависимости: </a:t>
            </a:r>
          </a:p>
          <a:p>
            <a:pPr lvl="2">
              <a:lnSpc>
                <a:spcPct val="120000"/>
              </a:lnSpc>
              <a:spcBef>
                <a:spcPts val="600"/>
              </a:spcBef>
              <a:buFont typeface="Wingdings" panose="05000000000000000000" pitchFamily="2" charset="2"/>
              <a:buChar char="Ø"/>
            </a:pPr>
            <a:r>
              <a:rPr lang="ru-RU" sz="3200" dirty="0">
                <a:latin typeface="Arial" panose="020B0604020202020204" pitchFamily="34" charset="0"/>
                <a:cs typeface="Arial" panose="020B0604020202020204" pitchFamily="34" charset="0"/>
              </a:rPr>
              <a:t> </a:t>
            </a:r>
            <a:r>
              <a:rPr lang="en-US" sz="3200" dirty="0">
                <a:latin typeface="Arial" panose="020B0604020202020204" pitchFamily="34" charset="0"/>
                <a:cs typeface="Arial" panose="020B0604020202020204" pitchFamily="34" charset="0"/>
              </a:rPr>
              <a:t>t</a:t>
            </a:r>
            <a:r>
              <a:rPr lang="en-US" sz="3200" baseline="-25000" dirty="0">
                <a:latin typeface="Arial" panose="020B0604020202020204" pitchFamily="34" charset="0"/>
                <a:cs typeface="Arial" panose="020B0604020202020204" pitchFamily="34" charset="0"/>
              </a:rPr>
              <a:t>1</a:t>
            </a:r>
            <a:r>
              <a:rPr lang="ru-RU" sz="3200" dirty="0">
                <a:latin typeface="Arial" panose="020B0604020202020204" pitchFamily="34" charset="0"/>
                <a:cs typeface="Arial" panose="020B0604020202020204" pitchFamily="34" charset="0"/>
              </a:rPr>
              <a:t> </a:t>
            </a:r>
            <a:r>
              <a:rPr lang="ru-RU" sz="4000" dirty="0">
                <a:latin typeface="Arial" panose="020B0604020202020204" pitchFamily="34" charset="0"/>
                <a:cs typeface="Arial" panose="020B0604020202020204" pitchFamily="34" charset="0"/>
              </a:rPr>
              <a:t>— </a:t>
            </a:r>
            <a:r>
              <a:rPr lang="ru-RU" sz="3200" baseline="30000" dirty="0">
                <a:latin typeface="Arial" panose="020B0604020202020204" pitchFamily="34" charset="0"/>
                <a:cs typeface="Arial" panose="020B0604020202020204" pitchFamily="34" charset="0"/>
              </a:rPr>
              <a:t>WR</a:t>
            </a:r>
            <a:r>
              <a:rPr lang="ru-RU" sz="3200" dirty="0">
                <a:latin typeface="Arial" panose="020B0604020202020204" pitchFamily="34" charset="0"/>
                <a:cs typeface="Arial" panose="020B0604020202020204" pitchFamily="34" charset="0"/>
              </a:rPr>
              <a:t> → t</a:t>
            </a:r>
            <a:r>
              <a:rPr lang="ru-RU" sz="3200" baseline="-25000" dirty="0">
                <a:latin typeface="Arial" panose="020B0604020202020204" pitchFamily="34" charset="0"/>
                <a:cs typeface="Arial" panose="020B0604020202020204" pitchFamily="34" charset="0"/>
              </a:rPr>
              <a:t>3</a:t>
            </a:r>
            <a:r>
              <a:rPr lang="ru-RU" sz="3200" dirty="0">
                <a:latin typeface="Arial" panose="020B0604020202020204" pitchFamily="34" charset="0"/>
                <a:cs typeface="Arial" panose="020B0604020202020204" pitchFamily="34" charset="0"/>
              </a:rPr>
              <a:t> по y; </a:t>
            </a:r>
          </a:p>
          <a:p>
            <a:pPr lvl="2">
              <a:lnSpc>
                <a:spcPct val="120000"/>
              </a:lnSpc>
              <a:spcBef>
                <a:spcPts val="600"/>
              </a:spcBef>
              <a:buFont typeface="Wingdings" panose="05000000000000000000" pitchFamily="2" charset="2"/>
              <a:buChar char="Ø"/>
            </a:pPr>
            <a:r>
              <a:rPr lang="ru-RU" sz="3200" dirty="0">
                <a:latin typeface="Arial" panose="020B0604020202020204" pitchFamily="34" charset="0"/>
                <a:cs typeface="Arial" panose="020B0604020202020204" pitchFamily="34" charset="0"/>
              </a:rPr>
              <a:t> t</a:t>
            </a:r>
            <a:r>
              <a:rPr lang="ru-RU" sz="3200" baseline="-25000" dirty="0">
                <a:latin typeface="Arial" panose="020B0604020202020204" pitchFamily="34" charset="0"/>
                <a:cs typeface="Arial" panose="020B0604020202020204" pitchFamily="34" charset="0"/>
              </a:rPr>
              <a:t>2</a:t>
            </a:r>
            <a:r>
              <a:rPr lang="ru-RU" sz="3200" dirty="0">
                <a:latin typeface="Arial" panose="020B0604020202020204" pitchFamily="34" charset="0"/>
                <a:cs typeface="Arial" panose="020B0604020202020204" pitchFamily="34" charset="0"/>
              </a:rPr>
              <a:t> </a:t>
            </a:r>
            <a:r>
              <a:rPr lang="ru-RU" sz="4000" dirty="0">
                <a:latin typeface="Arial" panose="020B0604020202020204" pitchFamily="34" charset="0"/>
                <a:cs typeface="Arial" panose="020B0604020202020204" pitchFamily="34" charset="0"/>
              </a:rPr>
              <a:t>— </a:t>
            </a:r>
            <a:r>
              <a:rPr lang="ru-RU" sz="3200" baseline="30000" dirty="0">
                <a:latin typeface="Arial" panose="020B0604020202020204" pitchFamily="34" charset="0"/>
                <a:cs typeface="Arial" panose="020B0604020202020204" pitchFamily="34" charset="0"/>
              </a:rPr>
              <a:t>RW</a:t>
            </a:r>
            <a:r>
              <a:rPr lang="ru-RU" sz="3200" dirty="0">
                <a:latin typeface="Arial" panose="020B0604020202020204" pitchFamily="34" charset="0"/>
                <a:cs typeface="Arial" panose="020B0604020202020204" pitchFamily="34" charset="0"/>
              </a:rPr>
              <a:t> → </a:t>
            </a:r>
            <a:r>
              <a:rPr lang="en-US" sz="3200" dirty="0">
                <a:latin typeface="Arial" panose="020B0604020202020204" pitchFamily="34" charset="0"/>
                <a:cs typeface="Arial" panose="020B0604020202020204" pitchFamily="34" charset="0"/>
              </a:rPr>
              <a:t>t</a:t>
            </a:r>
            <a:r>
              <a:rPr lang="en-US" sz="3200" baseline="-25000" dirty="0">
                <a:latin typeface="Arial" panose="020B0604020202020204" pitchFamily="34" charset="0"/>
                <a:cs typeface="Arial" panose="020B0604020202020204" pitchFamily="34" charset="0"/>
              </a:rPr>
              <a:t>1</a:t>
            </a:r>
            <a:r>
              <a:rPr lang="ru-RU" sz="3200" dirty="0">
                <a:latin typeface="Arial" panose="020B0604020202020204" pitchFamily="34" charset="0"/>
                <a:cs typeface="Arial" panose="020B0604020202020204" pitchFamily="34" charset="0"/>
              </a:rPr>
              <a:t> по </a:t>
            </a:r>
            <a:r>
              <a:rPr lang="en-US" sz="3200" dirty="0">
                <a:latin typeface="Arial" panose="020B0604020202020204" pitchFamily="34" charset="0"/>
                <a:cs typeface="Arial" panose="020B0604020202020204" pitchFamily="34" charset="0"/>
              </a:rPr>
              <a:t>y</a:t>
            </a:r>
            <a:r>
              <a:rPr lang="ru-RU" sz="3200" dirty="0">
                <a:latin typeface="Arial" panose="020B0604020202020204" pitchFamily="34" charset="0"/>
                <a:cs typeface="Arial" panose="020B0604020202020204" pitchFamily="34" charset="0"/>
              </a:rPr>
              <a:t>; </a:t>
            </a:r>
          </a:p>
          <a:p>
            <a:pPr lvl="2">
              <a:lnSpc>
                <a:spcPct val="120000"/>
              </a:lnSpc>
              <a:spcBef>
                <a:spcPts val="600"/>
              </a:spcBef>
              <a:buFont typeface="Wingdings" panose="05000000000000000000" pitchFamily="2" charset="2"/>
              <a:buChar char="Ø"/>
            </a:pPr>
            <a:r>
              <a:rPr lang="ru-RU" sz="3200" dirty="0">
                <a:latin typeface="Arial" panose="020B0604020202020204" pitchFamily="34" charset="0"/>
                <a:cs typeface="Arial" panose="020B0604020202020204" pitchFamily="34" charset="0"/>
              </a:rPr>
              <a:t> t</a:t>
            </a:r>
            <a:r>
              <a:rPr lang="ru-RU" sz="3200" baseline="-25000" dirty="0">
                <a:latin typeface="Arial" panose="020B0604020202020204" pitchFamily="34" charset="0"/>
                <a:cs typeface="Arial" panose="020B0604020202020204" pitchFamily="34" charset="0"/>
              </a:rPr>
              <a:t>3 </a:t>
            </a:r>
            <a:r>
              <a:rPr lang="ru-RU" sz="4000" dirty="0">
                <a:latin typeface="Arial" panose="020B0604020202020204" pitchFamily="34" charset="0"/>
                <a:cs typeface="Arial" panose="020B0604020202020204" pitchFamily="34" charset="0"/>
              </a:rPr>
              <a:t>— </a:t>
            </a:r>
            <a:r>
              <a:rPr lang="ru-RU" sz="3200" baseline="30000" dirty="0">
                <a:latin typeface="Arial" panose="020B0604020202020204" pitchFamily="34" charset="0"/>
                <a:cs typeface="Arial" panose="020B0604020202020204" pitchFamily="34" charset="0"/>
              </a:rPr>
              <a:t>RW</a:t>
            </a:r>
            <a:r>
              <a:rPr lang="ru-RU" sz="3200" dirty="0">
                <a:latin typeface="Arial" panose="020B0604020202020204" pitchFamily="34" charset="0"/>
                <a:cs typeface="Arial" panose="020B0604020202020204" pitchFamily="34" charset="0"/>
              </a:rPr>
              <a:t> → t</a:t>
            </a:r>
            <a:r>
              <a:rPr lang="ru-RU" sz="3200" baseline="-25000" dirty="0">
                <a:latin typeface="Arial" panose="020B0604020202020204" pitchFamily="34" charset="0"/>
                <a:cs typeface="Arial" panose="020B0604020202020204" pitchFamily="34" charset="0"/>
              </a:rPr>
              <a:t>2 </a:t>
            </a:r>
            <a:r>
              <a:rPr lang="ru-RU" sz="3200" dirty="0">
                <a:latin typeface="Arial" panose="020B0604020202020204" pitchFamily="34" charset="0"/>
                <a:cs typeface="Arial" panose="020B0604020202020204" pitchFamily="34" charset="0"/>
              </a:rPr>
              <a:t>по x.</a:t>
            </a: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p:txBody>
      </p:sp>
      <p:pic>
        <p:nvPicPr>
          <p:cNvPr id="7" name="Рисунок 6">
            <a:extLst>
              <a:ext uri="{FF2B5EF4-FFF2-40B4-BE49-F238E27FC236}">
                <a16:creationId xmlns:a16="http://schemas.microsoft.com/office/drawing/2014/main" id="{EF44A3B4-8279-F652-4D5A-D69DE5483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5979" y="2484807"/>
            <a:ext cx="4277721" cy="3924095"/>
          </a:xfrm>
          <a:prstGeom prst="rect">
            <a:avLst/>
          </a:prstGeom>
        </p:spPr>
      </p:pic>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a:xfrm>
            <a:off x="11361393" y="6408902"/>
            <a:ext cx="567559" cy="365125"/>
          </a:xfrm>
        </p:spPr>
        <p:txBody>
          <a:bodyPr/>
          <a:lstStyle/>
          <a:p>
            <a:fld id="{667D74AF-8CFA-41E7-84BA-34814A01EACF}" type="slidenum">
              <a:rPr lang="ru-RU" smtClean="0"/>
              <a:t>32</a:t>
            </a:fld>
            <a:endParaRPr lang="ru-RU" dirty="0"/>
          </a:p>
        </p:txBody>
      </p:sp>
    </p:spTree>
    <p:extLst>
      <p:ext uri="{BB962C8B-B14F-4D97-AF65-F5344CB8AC3E}">
        <p14:creationId xmlns:p14="http://schemas.microsoft.com/office/powerpoint/2010/main" val="26410088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46137" y="0"/>
            <a:ext cx="12045863" cy="777766"/>
          </a:xfrm>
        </p:spPr>
        <p:txBody>
          <a:bodyPr>
            <a:noAutofit/>
          </a:bodyPr>
          <a:lstStyle/>
          <a:p>
            <a:r>
              <a:rPr lang="ru-RU" sz="3200" dirty="0">
                <a:latin typeface="Arial" panose="020B0604020202020204" pitchFamily="34" charset="0"/>
                <a:cs typeface="Arial" panose="020B0604020202020204" pitchFamily="34" charset="0"/>
              </a:rPr>
              <a:t>Изоляция мгновенных снимков</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263048" y="693686"/>
            <a:ext cx="11782815" cy="6201103"/>
          </a:xfrm>
        </p:spPr>
        <p:txBody>
          <a:bodyPr>
            <a:normAutofit fontScale="85000" lnSpcReduction="10000"/>
          </a:bodyPr>
          <a:lstStyle/>
          <a:p>
            <a:pPr>
              <a:lnSpc>
                <a:spcPct val="120000"/>
              </a:lnSpc>
              <a:spcBef>
                <a:spcPts val="600"/>
              </a:spcBef>
            </a:pPr>
            <a:r>
              <a:rPr lang="ru-RU" dirty="0">
                <a:solidFill>
                  <a:schemeClr val="tx1"/>
                </a:solidFill>
                <a:latin typeface="Arial" panose="020B0604020202020204" pitchFamily="34" charset="0"/>
                <a:cs typeface="Arial" panose="020B0604020202020204" pitchFamily="34" charset="0"/>
              </a:rPr>
              <a:t>Для расписаний, удовлетворяющих требованиям SI, можно доказать, что </a:t>
            </a:r>
            <a:r>
              <a:rPr lang="ru-RU" b="1" dirty="0">
                <a:solidFill>
                  <a:schemeClr val="tx1"/>
                </a:solidFill>
                <a:latin typeface="Arial" panose="020B0604020202020204" pitchFamily="34" charset="0"/>
                <a:cs typeface="Arial" panose="020B0604020202020204" pitchFamily="34" charset="0"/>
              </a:rPr>
              <a:t>любой контур </a:t>
            </a:r>
            <a:r>
              <a:rPr lang="ru-RU" dirty="0">
                <a:solidFill>
                  <a:schemeClr val="tx1"/>
                </a:solidFill>
                <a:latin typeface="Arial" panose="020B0604020202020204" pitchFamily="34" charset="0"/>
                <a:cs typeface="Arial" panose="020B0604020202020204" pitchFamily="34" charset="0"/>
              </a:rPr>
              <a:t>в графе </a:t>
            </a:r>
            <a:r>
              <a:rPr lang="ru-RU" dirty="0" err="1">
                <a:solidFill>
                  <a:schemeClr val="tx1"/>
                </a:solidFill>
                <a:latin typeface="Arial" panose="020B0604020202020204" pitchFamily="34" charset="0"/>
                <a:cs typeface="Arial" panose="020B0604020202020204" pitchFamily="34" charset="0"/>
              </a:rPr>
              <a:t>сериализуемости</a:t>
            </a:r>
            <a:r>
              <a:rPr lang="ru-RU" dirty="0">
                <a:solidFill>
                  <a:schemeClr val="tx1"/>
                </a:solidFill>
                <a:latin typeface="Arial" panose="020B0604020202020204" pitchFamily="34" charset="0"/>
                <a:cs typeface="Arial" panose="020B0604020202020204" pitchFamily="34" charset="0"/>
              </a:rPr>
              <a:t> имеет вид </a:t>
            </a:r>
            <a:r>
              <a:rPr lang="ru-RU" b="1" dirty="0">
                <a:solidFill>
                  <a:schemeClr val="tx1"/>
                </a:solidFill>
                <a:latin typeface="Arial" panose="020B0604020202020204" pitchFamily="34" charset="0"/>
                <a:cs typeface="Arial" panose="020B0604020202020204" pitchFamily="34" charset="0"/>
              </a:rPr>
              <a:t>либо а) либо б), </a:t>
            </a:r>
            <a:r>
              <a:rPr lang="ru-RU" dirty="0">
                <a:solidFill>
                  <a:schemeClr val="tx1"/>
                </a:solidFill>
                <a:latin typeface="Arial" panose="020B0604020202020204" pitchFamily="34" charset="0"/>
                <a:cs typeface="Arial" panose="020B0604020202020204" pitchFamily="34" charset="0"/>
              </a:rPr>
              <a:t>	</a:t>
            </a:r>
            <a:endParaRPr lang="ru-RU" sz="2800" dirty="0">
              <a:solidFill>
                <a:schemeClr val="tx1"/>
              </a:solidFill>
              <a:latin typeface="Arial" panose="020B0604020202020204" pitchFamily="34" charset="0"/>
              <a:cs typeface="Arial" panose="020B0604020202020204" pitchFamily="34" charset="0"/>
            </a:endParaRPr>
          </a:p>
          <a:p>
            <a:pPr marL="3657600" lvl="8" indent="0">
              <a:lnSpc>
                <a:spcPct val="120000"/>
              </a:lnSpc>
              <a:spcBef>
                <a:spcPts val="600"/>
              </a:spcBef>
              <a:buNone/>
            </a:pPr>
            <a:r>
              <a:rPr lang="ru-RU" sz="2800"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a:p>
            <a:pPr marL="0" indent="0" algn="l">
              <a:lnSpc>
                <a:spcPct val="120000"/>
              </a:lnSpc>
              <a:spcBef>
                <a:spcPts val="600"/>
              </a:spcBef>
              <a:buNone/>
            </a:pPr>
            <a:r>
              <a:rPr lang="ru-RU" dirty="0">
                <a:solidFill>
                  <a:schemeClr val="tx1"/>
                </a:solidFill>
                <a:latin typeface="Arial" panose="020B0604020202020204" pitchFamily="34" charset="0"/>
                <a:cs typeface="Arial" panose="020B0604020202020204" pitchFamily="34" charset="0"/>
              </a:rPr>
              <a:t>а)                                                             б)</a:t>
            </a:r>
          </a:p>
          <a:p>
            <a:pPr marL="0" indent="0" algn="l">
              <a:lnSpc>
                <a:spcPct val="120000"/>
              </a:lnSpc>
              <a:spcBef>
                <a:spcPts val="600"/>
              </a:spcBef>
              <a:buNone/>
            </a:pPr>
            <a:endParaRPr lang="ru-RU" dirty="0">
              <a:solidFill>
                <a:schemeClr val="tx1"/>
              </a:solidFill>
              <a:latin typeface="Arial" panose="020B0604020202020204" pitchFamily="34" charset="0"/>
              <a:cs typeface="Arial" panose="020B0604020202020204" pitchFamily="34" charset="0"/>
            </a:endParaRPr>
          </a:p>
          <a:p>
            <a:pPr marL="0" indent="0" algn="l">
              <a:lnSpc>
                <a:spcPct val="120000"/>
              </a:lnSpc>
              <a:spcBef>
                <a:spcPts val="600"/>
              </a:spcBef>
              <a:buNone/>
            </a:pPr>
            <a:endParaRPr lang="ru-RU" dirty="0">
              <a:solidFill>
                <a:schemeClr val="tx1"/>
              </a:solidFill>
              <a:latin typeface="Arial" panose="020B0604020202020204" pitchFamily="34" charset="0"/>
              <a:cs typeface="Arial" panose="020B0604020202020204" pitchFamily="34" charset="0"/>
            </a:endParaRPr>
          </a:p>
          <a:p>
            <a:pPr marL="0" indent="0" algn="l">
              <a:lnSpc>
                <a:spcPct val="120000"/>
              </a:lnSpc>
              <a:spcBef>
                <a:spcPts val="600"/>
              </a:spcBef>
              <a:buNone/>
            </a:pPr>
            <a:r>
              <a:rPr lang="ru-RU" dirty="0">
                <a:solidFill>
                  <a:schemeClr val="tx1"/>
                </a:solidFill>
                <a:latin typeface="Arial" panose="020B0604020202020204" pitchFamily="34" charset="0"/>
                <a:cs typeface="Arial" panose="020B0604020202020204" pitchFamily="34" charset="0"/>
              </a:rPr>
              <a:t>	причем транзакция t3 — только читающая.</a:t>
            </a:r>
          </a:p>
          <a:p>
            <a:pPr>
              <a:lnSpc>
                <a:spcPct val="120000"/>
              </a:lnSpc>
              <a:spcBef>
                <a:spcPts val="600"/>
              </a:spcBef>
            </a:pPr>
            <a:r>
              <a:rPr lang="ru-RU" dirty="0">
                <a:solidFill>
                  <a:schemeClr val="tx1"/>
                </a:solidFill>
                <a:latin typeface="Arial" panose="020B0604020202020204" pitchFamily="34" charset="0"/>
                <a:cs typeface="Arial" panose="020B0604020202020204" pitchFamily="34" charset="0"/>
              </a:rPr>
              <a:t>Этот факт используется в реализации </a:t>
            </a:r>
            <a:r>
              <a:rPr lang="ru-RU" dirty="0" err="1">
                <a:solidFill>
                  <a:schemeClr val="tx1"/>
                </a:solidFill>
                <a:latin typeface="Arial" panose="020B0604020202020204" pitchFamily="34" charset="0"/>
                <a:cs typeface="Arial" panose="020B0604020202020204" pitchFamily="34" charset="0"/>
              </a:rPr>
              <a:t>сериализуемого</a:t>
            </a:r>
            <a:r>
              <a:rPr lang="ru-RU" dirty="0">
                <a:solidFill>
                  <a:schemeClr val="tx1"/>
                </a:solidFill>
                <a:latin typeface="Arial" panose="020B0604020202020204" pitchFamily="34" charset="0"/>
                <a:cs typeface="Arial" panose="020B0604020202020204" pitchFamily="34" charset="0"/>
              </a:rPr>
              <a:t> протокола SI для </a:t>
            </a:r>
            <a:r>
              <a:rPr lang="ru-RU" dirty="0" err="1">
                <a:solidFill>
                  <a:schemeClr val="tx1"/>
                </a:solidFill>
                <a:latin typeface="Arial" panose="020B0604020202020204" pitchFamily="34" charset="0"/>
                <a:cs typeface="Arial" panose="020B0604020202020204" pitchFamily="34" charset="0"/>
              </a:rPr>
              <a:t>PostgreSQL</a:t>
            </a:r>
            <a:r>
              <a:rPr lang="ru-RU" dirty="0">
                <a:solidFill>
                  <a:schemeClr val="tx1"/>
                </a:solidFill>
                <a:latin typeface="Arial" panose="020B0604020202020204" pitchFamily="34" charset="0"/>
                <a:cs typeface="Arial" panose="020B0604020202020204" pitchFamily="34" charset="0"/>
              </a:rPr>
              <a:t> с целью ускорения поиска контуров.</a:t>
            </a:r>
          </a:p>
          <a:p>
            <a:pPr>
              <a:lnSpc>
                <a:spcPct val="120000"/>
              </a:lnSpc>
              <a:spcBef>
                <a:spcPts val="600"/>
              </a:spcBef>
            </a:pPr>
            <a:r>
              <a:rPr lang="ru-RU" dirty="0">
                <a:solidFill>
                  <a:schemeClr val="tx1"/>
                </a:solidFill>
                <a:latin typeface="Arial" panose="020B0604020202020204" pitchFamily="34" charset="0"/>
                <a:cs typeface="Arial" panose="020B0604020202020204" pitchFamily="34" charset="0"/>
              </a:rPr>
              <a:t>Если подграфы такого вида отсутствуют в графе </a:t>
            </a:r>
            <a:r>
              <a:rPr lang="ru-RU" dirty="0" err="1">
                <a:solidFill>
                  <a:schemeClr val="tx1"/>
                </a:solidFill>
                <a:latin typeface="Arial" panose="020B0604020202020204" pitchFamily="34" charset="0"/>
                <a:cs typeface="Arial" panose="020B0604020202020204" pitchFamily="34" charset="0"/>
              </a:rPr>
              <a:t>сериализуемости</a:t>
            </a:r>
            <a:r>
              <a:rPr lang="ru-RU" dirty="0">
                <a:solidFill>
                  <a:schemeClr val="tx1"/>
                </a:solidFill>
                <a:latin typeface="Arial" panose="020B0604020202020204" pitchFamily="34" charset="0"/>
                <a:cs typeface="Arial" panose="020B0604020202020204" pitchFamily="34" charset="0"/>
              </a:rPr>
              <a:t>, то в нем не может быть контуров. </a:t>
            </a: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a:p>
            <a:pPr algn="l">
              <a:lnSpc>
                <a:spcPct val="120000"/>
              </a:lnSpc>
              <a:spcBef>
                <a:spcPts val="600"/>
              </a:spcBef>
              <a:buFont typeface="Wingdings" panose="05000000000000000000" pitchFamily="2" charset="2"/>
              <a:buChar char="q"/>
            </a:pPr>
            <a:endParaRPr lang="ru-RU" dirty="0">
              <a:solidFill>
                <a:schemeClr val="tx1"/>
              </a:solidFill>
              <a:latin typeface="Arial" panose="020B0604020202020204" pitchFamily="34" charset="0"/>
              <a:cs typeface="Arial" panose="020B0604020202020204" pitchFamily="34" charset="0"/>
            </a:endParaRPr>
          </a:p>
        </p:txBody>
      </p:sp>
      <p:sp>
        <p:nvSpPr>
          <p:cNvPr id="5" name="Номер слайда 4">
            <a:extLst>
              <a:ext uri="{FF2B5EF4-FFF2-40B4-BE49-F238E27FC236}">
                <a16:creationId xmlns:a16="http://schemas.microsoft.com/office/drawing/2014/main" id="{F19AC63F-0ED6-550D-7FC0-1D8FEC50E0FE}"/>
              </a:ext>
            </a:extLst>
          </p:cNvPr>
          <p:cNvSpPr>
            <a:spLocks noGrp="1"/>
          </p:cNvSpPr>
          <p:nvPr>
            <p:ph type="sldNum" sz="quarter" idx="12"/>
          </p:nvPr>
        </p:nvSpPr>
        <p:spPr>
          <a:xfrm>
            <a:off x="11361393" y="6408902"/>
            <a:ext cx="567559" cy="365125"/>
          </a:xfrm>
        </p:spPr>
        <p:txBody>
          <a:bodyPr/>
          <a:lstStyle/>
          <a:p>
            <a:fld id="{667D74AF-8CFA-41E7-84BA-34814A01EACF}" type="slidenum">
              <a:rPr lang="ru-RU" smtClean="0"/>
              <a:t>33</a:t>
            </a:fld>
            <a:endParaRPr lang="ru-RU" dirty="0"/>
          </a:p>
        </p:txBody>
      </p:sp>
      <p:pic>
        <p:nvPicPr>
          <p:cNvPr id="7" name="Рисунок 6">
            <a:extLst>
              <a:ext uri="{FF2B5EF4-FFF2-40B4-BE49-F238E27FC236}">
                <a16:creationId xmlns:a16="http://schemas.microsoft.com/office/drawing/2014/main" id="{EF44A3B4-8279-F652-4D5A-D69DE5483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8868" y="1640900"/>
            <a:ext cx="3121067" cy="2863059"/>
          </a:xfrm>
          <a:prstGeom prst="rect">
            <a:avLst/>
          </a:prstGeom>
        </p:spPr>
      </p:pic>
      <p:pic>
        <p:nvPicPr>
          <p:cNvPr id="4" name="Рисунок 3">
            <a:extLst>
              <a:ext uri="{FF2B5EF4-FFF2-40B4-BE49-F238E27FC236}">
                <a16:creationId xmlns:a16="http://schemas.microsoft.com/office/drawing/2014/main" id="{772C1FE2-1883-BF7A-CA76-A8804B6B5D2F}"/>
              </a:ext>
            </a:extLst>
          </p:cNvPr>
          <p:cNvPicPr>
            <a:picLocks noChangeAspect="1"/>
          </p:cNvPicPr>
          <p:nvPr/>
        </p:nvPicPr>
        <p:blipFill>
          <a:blip r:embed="rId3"/>
          <a:stretch>
            <a:fillRect/>
          </a:stretch>
        </p:blipFill>
        <p:spPr>
          <a:xfrm>
            <a:off x="1272256" y="1640900"/>
            <a:ext cx="3258207" cy="2845136"/>
          </a:xfrm>
          <a:prstGeom prst="rect">
            <a:avLst/>
          </a:prstGeom>
        </p:spPr>
      </p:pic>
    </p:spTree>
    <p:extLst>
      <p:ext uri="{BB962C8B-B14F-4D97-AF65-F5344CB8AC3E}">
        <p14:creationId xmlns:p14="http://schemas.microsoft.com/office/powerpoint/2010/main" val="1876724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609600" y="0"/>
            <a:ext cx="10972800" cy="944561"/>
          </a:xfrm>
        </p:spPr>
        <p:txBody>
          <a:bodyPr>
            <a:normAutofit/>
          </a:bodyPr>
          <a:lstStyle/>
          <a:p>
            <a:r>
              <a:rPr lang="ru-RU" dirty="0" err="1"/>
              <a:t>Восстановимость</a:t>
            </a:r>
            <a:endParaRPr lang="ru-RU" dirty="0"/>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609600" y="944562"/>
            <a:ext cx="11379200" cy="5776914"/>
          </a:xfrm>
        </p:spPr>
        <p:txBody>
          <a:bodyPr>
            <a:normAutofit fontScale="62500" lnSpcReduction="20000"/>
          </a:bodyPr>
          <a:lstStyle/>
          <a:p>
            <a:pPr>
              <a:lnSpc>
                <a:spcPct val="120000"/>
              </a:lnSpc>
            </a:pPr>
            <a:r>
              <a:rPr lang="ru-RU" sz="3200" dirty="0"/>
              <a:t>Семантическая корректность является не единственным требованием к управлению транзакциями. </a:t>
            </a:r>
          </a:p>
          <a:p>
            <a:pPr>
              <a:lnSpc>
                <a:spcPct val="120000"/>
              </a:lnSpc>
            </a:pPr>
            <a:r>
              <a:rPr lang="ru-RU" sz="3200" dirty="0"/>
              <a:t>Важно также обеспечить согласованность при наличии разного рода сбоев, приводящих к </a:t>
            </a:r>
            <a:r>
              <a:rPr lang="ru-RU" sz="3200" b="1" dirty="0"/>
              <a:t>обрывам транзакций </a:t>
            </a:r>
            <a:r>
              <a:rPr lang="ru-RU" sz="3200" dirty="0"/>
              <a:t>или </a:t>
            </a:r>
            <a:r>
              <a:rPr lang="ru-RU" sz="3200" b="1" dirty="0"/>
              <a:t>отказу сервера базы данных.</a:t>
            </a:r>
            <a:r>
              <a:rPr lang="ru-RU" sz="3200" dirty="0"/>
              <a:t> </a:t>
            </a:r>
          </a:p>
          <a:p>
            <a:pPr>
              <a:lnSpc>
                <a:spcPct val="120000"/>
              </a:lnSpc>
            </a:pPr>
            <a:r>
              <a:rPr lang="ru-RU" sz="3200" dirty="0"/>
              <a:t>Для того чтобы реализовать </a:t>
            </a:r>
            <a:r>
              <a:rPr lang="ru-RU" sz="3200" b="1" dirty="0"/>
              <a:t>принцип атомарности при обрывах </a:t>
            </a:r>
            <a:r>
              <a:rPr lang="ru-RU" sz="3200" dirty="0"/>
              <a:t>транзакций, т. е. отменить результаты выполнения операций оборванной транзакции, вводится операция обращения записи </a:t>
            </a:r>
            <a:r>
              <a:rPr lang="ru-RU" sz="3200" i="1" dirty="0">
                <a:latin typeface="Courier New" panose="02070309020205020404" pitchFamily="49" charset="0"/>
                <a:cs typeface="Courier New" panose="02070309020205020404" pitchFamily="49" charset="0"/>
              </a:rPr>
              <a:t>w</a:t>
            </a:r>
            <a:r>
              <a:rPr lang="ru-RU" sz="3200" i="1" baseline="-25000" dirty="0">
                <a:latin typeface="Courier New" panose="02070309020205020404" pitchFamily="49" charset="0"/>
                <a:cs typeface="Courier New" panose="02070309020205020404" pitchFamily="49" charset="0"/>
              </a:rPr>
              <a:t>i</a:t>
            </a:r>
            <a:r>
              <a:rPr lang="ru-RU" sz="3200" i="1" baseline="30000" dirty="0">
                <a:latin typeface="Courier New" panose="02070309020205020404" pitchFamily="49" charset="0"/>
                <a:cs typeface="Courier New" panose="02070309020205020404" pitchFamily="49" charset="0"/>
              </a:rPr>
              <a:t>-1</a:t>
            </a:r>
            <a:r>
              <a:rPr lang="ru-RU" sz="3200" i="1" dirty="0">
                <a:latin typeface="Courier New" panose="02070309020205020404" pitchFamily="49" charset="0"/>
                <a:cs typeface="Courier New" panose="02070309020205020404" pitchFamily="49" charset="0"/>
              </a:rPr>
              <a:t>(x</a:t>
            </a:r>
            <a:r>
              <a:rPr lang="ru-RU" sz="3200" dirty="0">
                <a:latin typeface="Courier New" panose="02070309020205020404" pitchFamily="49" charset="0"/>
                <a:cs typeface="Courier New" panose="02070309020205020404" pitchFamily="49" charset="0"/>
              </a:rPr>
              <a:t>). </a:t>
            </a:r>
          </a:p>
          <a:p>
            <a:pPr>
              <a:lnSpc>
                <a:spcPct val="120000"/>
              </a:lnSpc>
            </a:pPr>
            <a:r>
              <a:rPr lang="ru-RU" sz="3200" dirty="0"/>
              <a:t>По определению эта операция </a:t>
            </a:r>
            <a:r>
              <a:rPr lang="ru-RU" sz="3200" b="1" dirty="0"/>
              <a:t>восстанавливает значение </a:t>
            </a:r>
            <a:r>
              <a:rPr lang="ru-RU" sz="3200" dirty="0"/>
              <a:t>элемента данных </a:t>
            </a:r>
            <a:r>
              <a:rPr lang="ru-RU" sz="3200" dirty="0">
                <a:latin typeface="Courier New" panose="02070309020205020404" pitchFamily="49" charset="0"/>
                <a:cs typeface="Courier New" panose="02070309020205020404" pitchFamily="49" charset="0"/>
              </a:rPr>
              <a:t>x </a:t>
            </a:r>
            <a:r>
              <a:rPr lang="ru-RU" sz="3200" dirty="0"/>
              <a:t>в то </a:t>
            </a:r>
            <a:r>
              <a:rPr lang="ru-RU" sz="3200" b="1" dirty="0"/>
              <a:t>состояние</a:t>
            </a:r>
            <a:r>
              <a:rPr lang="ru-RU" sz="3200" dirty="0"/>
              <a:t>, в котором элемент был непосредственно </a:t>
            </a:r>
            <a:r>
              <a:rPr lang="ru-RU" sz="3200" b="1" dirty="0"/>
              <a:t>перед выполнением прямой операции </a:t>
            </a:r>
            <a:r>
              <a:rPr lang="ru-RU" sz="3200" i="1" dirty="0" err="1">
                <a:latin typeface="Courier New" panose="02070309020205020404" pitchFamily="49" charset="0"/>
                <a:cs typeface="Courier New" panose="02070309020205020404" pitchFamily="49" charset="0"/>
              </a:rPr>
              <a:t>w</a:t>
            </a:r>
            <a:r>
              <a:rPr lang="ru-RU" sz="3200" i="1" baseline="-25000" dirty="0" err="1">
                <a:latin typeface="Courier New" panose="02070309020205020404" pitchFamily="49" charset="0"/>
                <a:cs typeface="Courier New" panose="02070309020205020404" pitchFamily="49" charset="0"/>
              </a:rPr>
              <a:t>i</a:t>
            </a:r>
            <a:r>
              <a:rPr lang="ru-RU" sz="3200" i="1" dirty="0">
                <a:latin typeface="Courier New" panose="02070309020205020404" pitchFamily="49" charset="0"/>
                <a:cs typeface="Courier New" panose="02070309020205020404" pitchFamily="49" charset="0"/>
              </a:rPr>
              <a:t>(x</a:t>
            </a:r>
            <a:r>
              <a:rPr lang="ru-RU" sz="3200" dirty="0">
                <a:latin typeface="Courier New" panose="02070309020205020404" pitchFamily="49" charset="0"/>
                <a:cs typeface="Courier New" panose="02070309020205020404" pitchFamily="49" charset="0"/>
              </a:rPr>
              <a:t>).</a:t>
            </a:r>
          </a:p>
          <a:p>
            <a:pPr>
              <a:lnSpc>
                <a:spcPct val="120000"/>
              </a:lnSpc>
            </a:pPr>
            <a:r>
              <a:rPr lang="ru-RU" sz="3200" dirty="0"/>
              <a:t>Расписание, в котором операция записи непосредственно предшествует операции ее обращения, эквивалентно расписанию, из которого данная пара операций исключена. </a:t>
            </a:r>
          </a:p>
          <a:p>
            <a:pPr>
              <a:lnSpc>
                <a:spcPct val="120000"/>
              </a:lnSpc>
            </a:pPr>
            <a:r>
              <a:rPr lang="ru-RU" sz="3200" dirty="0"/>
              <a:t>Для того чтобы </a:t>
            </a:r>
            <a:r>
              <a:rPr lang="ru-RU" sz="3200" b="1" dirty="0"/>
              <a:t>корректно выполнить обрыв транзакции</a:t>
            </a:r>
            <a:r>
              <a:rPr lang="ru-RU" sz="3200" dirty="0"/>
              <a:t>, необходимо </a:t>
            </a:r>
            <a:r>
              <a:rPr lang="ru-RU" sz="3200" b="1" dirty="0"/>
              <a:t>обратить все операции записи, выполненные этой транзакцией, в обратном порядке</a:t>
            </a:r>
            <a:r>
              <a:rPr lang="ru-RU" sz="3200" dirty="0"/>
              <a:t>, и затем </a:t>
            </a:r>
            <a:r>
              <a:rPr lang="ru-RU" sz="3200" b="1" dirty="0"/>
              <a:t>зафиксировать эту транзакцию. </a:t>
            </a:r>
          </a:p>
          <a:p>
            <a:pPr>
              <a:lnSpc>
                <a:spcPct val="120000"/>
              </a:lnSpc>
            </a:pPr>
            <a:r>
              <a:rPr lang="ru-RU" sz="3200" dirty="0"/>
              <a:t>Любые </a:t>
            </a:r>
            <a:r>
              <a:rPr lang="ru-RU" sz="3200" b="1" dirty="0"/>
              <a:t>операции чтения при этом можно игнорировать</a:t>
            </a:r>
            <a:r>
              <a:rPr lang="ru-RU" sz="3200" dirty="0"/>
              <a:t>. </a:t>
            </a:r>
          </a:p>
          <a:p>
            <a:pPr>
              <a:lnSpc>
                <a:spcPct val="120000"/>
              </a:lnSpc>
            </a:pPr>
            <a:r>
              <a:rPr lang="ru-RU" sz="3200" dirty="0"/>
              <a:t>Такая реализация операции обрыва называется откатом (</a:t>
            </a:r>
            <a:r>
              <a:rPr lang="ru-RU" sz="3200" dirty="0" err="1"/>
              <a:t>rollback</a:t>
            </a:r>
            <a:r>
              <a:rPr lang="ru-RU" sz="3200" dirty="0"/>
              <a:t>).</a:t>
            </a:r>
          </a:p>
          <a:p>
            <a:pPr>
              <a:lnSpc>
                <a:spcPct val="120000"/>
              </a:lnSpc>
            </a:pPr>
            <a:r>
              <a:rPr lang="ru-RU" sz="3200" dirty="0"/>
              <a:t>В языке SQL обрыв транзакции выполняется оператором ROLLBACK.</a:t>
            </a:r>
            <a:r>
              <a:rPr lang="ru-RU" sz="3200" dirty="0">
                <a:latin typeface="Courier New" panose="02070309020205020404" pitchFamily="49" charset="0"/>
                <a:cs typeface="Courier New" panose="02070309020205020404" pitchFamily="49" charset="0"/>
              </a:rPr>
              <a:t> </a:t>
            </a:r>
            <a:endParaRPr lang="ru-RU" sz="3200" b="1" dirty="0"/>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9990665" y="6356351"/>
            <a:ext cx="1100667" cy="3651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0888132" y="6356351"/>
            <a:ext cx="694267" cy="365125"/>
          </a:xfrm>
        </p:spPr>
        <p:txBody>
          <a:bodyPr/>
          <a:lstStyle/>
          <a:p>
            <a:fld id="{667D74AF-8CFA-41E7-84BA-34814A01EACF}" type="slidenum">
              <a:rPr lang="ru-RU" smtClean="0"/>
              <a:t>34</a:t>
            </a:fld>
            <a:endParaRPr lang="ru-RU" dirty="0"/>
          </a:p>
        </p:txBody>
      </p:sp>
    </p:spTree>
    <p:extLst>
      <p:ext uri="{BB962C8B-B14F-4D97-AF65-F5344CB8AC3E}">
        <p14:creationId xmlns:p14="http://schemas.microsoft.com/office/powerpoint/2010/main" val="1235891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up)">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up)">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up)">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up)">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609600" y="0"/>
            <a:ext cx="10972800" cy="944561"/>
          </a:xfrm>
        </p:spPr>
        <p:txBody>
          <a:bodyPr>
            <a:normAutofit/>
          </a:bodyPr>
          <a:lstStyle/>
          <a:p>
            <a:r>
              <a:rPr lang="ru-RU" dirty="0" err="1"/>
              <a:t>Восстановимость</a:t>
            </a:r>
            <a:endParaRPr lang="ru-RU" dirty="0"/>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609600" y="944562"/>
            <a:ext cx="11379200" cy="5776914"/>
          </a:xfrm>
        </p:spPr>
        <p:txBody>
          <a:bodyPr>
            <a:normAutofit fontScale="70000" lnSpcReduction="20000"/>
          </a:bodyPr>
          <a:lstStyle/>
          <a:p>
            <a:pPr>
              <a:lnSpc>
                <a:spcPct val="120000"/>
              </a:lnSpc>
            </a:pPr>
            <a:r>
              <a:rPr lang="ru-RU" sz="3200" dirty="0"/>
              <a:t>Наличие операций отката в расписании приводит к необходимости некоторого пересмотра критериев корректности, в частности понятия </a:t>
            </a:r>
            <a:r>
              <a:rPr lang="ru-RU" sz="3200" dirty="0" err="1"/>
              <a:t>сериализуемости</a:t>
            </a:r>
            <a:r>
              <a:rPr lang="ru-RU" sz="3200" dirty="0"/>
              <a:t> по конфликтам.</a:t>
            </a:r>
            <a:r>
              <a:rPr lang="ru-RU" sz="3200" dirty="0">
                <a:latin typeface="Courier New" panose="02070309020205020404" pitchFamily="49" charset="0"/>
                <a:cs typeface="Courier New" panose="02070309020205020404" pitchFamily="49" charset="0"/>
              </a:rPr>
              <a:t> </a:t>
            </a:r>
          </a:p>
          <a:p>
            <a:pPr>
              <a:lnSpc>
                <a:spcPct val="120000"/>
              </a:lnSpc>
            </a:pPr>
            <a:r>
              <a:rPr lang="ru-RU" sz="3200" dirty="0"/>
              <a:t>Рассмотрим следующее расписание: </a:t>
            </a:r>
            <a:r>
              <a:rPr lang="ru-RU" sz="3200" dirty="0">
                <a:latin typeface="Courier New" panose="02070309020205020404" pitchFamily="49" charset="0"/>
                <a:cs typeface="Courier New" panose="02070309020205020404" pitchFamily="49" charset="0"/>
              </a:rPr>
              <a:t>r</a:t>
            </a:r>
            <a:r>
              <a:rPr lang="ru-RU" sz="3200" baseline="-25000" dirty="0">
                <a:latin typeface="Courier New" panose="02070309020205020404" pitchFamily="49" charset="0"/>
                <a:cs typeface="Courier New" panose="02070309020205020404" pitchFamily="49" charset="0"/>
              </a:rPr>
              <a:t>1</a:t>
            </a:r>
            <a:r>
              <a:rPr lang="ru-RU" sz="3200" dirty="0">
                <a:latin typeface="Courier New" panose="02070309020205020404" pitchFamily="49" charset="0"/>
                <a:cs typeface="Courier New" panose="02070309020205020404" pitchFamily="49" charset="0"/>
              </a:rPr>
              <a:t>(x)r</a:t>
            </a:r>
            <a:r>
              <a:rPr lang="ru-RU" sz="3200" baseline="-25000" dirty="0">
                <a:latin typeface="Courier New" panose="02070309020205020404" pitchFamily="49" charset="0"/>
                <a:cs typeface="Courier New" panose="02070309020205020404" pitchFamily="49" charset="0"/>
              </a:rPr>
              <a:t>1</a:t>
            </a:r>
            <a:r>
              <a:rPr lang="ru-RU" sz="3200" dirty="0">
                <a:latin typeface="Courier New" panose="02070309020205020404" pitchFamily="49" charset="0"/>
                <a:cs typeface="Courier New" panose="02070309020205020404" pitchFamily="49" charset="0"/>
              </a:rPr>
              <a:t>(y)w</a:t>
            </a:r>
            <a:r>
              <a:rPr lang="ru-RU" sz="3200" baseline="-25000" dirty="0">
                <a:latin typeface="Courier New" panose="02070309020205020404" pitchFamily="49" charset="0"/>
                <a:cs typeface="Courier New" panose="02070309020205020404" pitchFamily="49" charset="0"/>
              </a:rPr>
              <a:t>1</a:t>
            </a:r>
            <a:r>
              <a:rPr lang="ru-RU" sz="3200" dirty="0">
                <a:latin typeface="Courier New" panose="02070309020205020404" pitchFamily="49" charset="0"/>
                <a:cs typeface="Courier New" panose="02070309020205020404" pitchFamily="49" charset="0"/>
              </a:rPr>
              <a:t>(x)w</a:t>
            </a:r>
            <a:r>
              <a:rPr lang="ru-RU" sz="3200" baseline="-25000" dirty="0">
                <a:latin typeface="Courier New" panose="02070309020205020404" pitchFamily="49" charset="0"/>
                <a:cs typeface="Courier New" panose="02070309020205020404" pitchFamily="49" charset="0"/>
              </a:rPr>
              <a:t>1</a:t>
            </a:r>
            <a:r>
              <a:rPr lang="ru-RU" sz="3200" dirty="0">
                <a:latin typeface="Courier New" panose="02070309020205020404" pitchFamily="49" charset="0"/>
                <a:cs typeface="Courier New" panose="02070309020205020404" pitchFamily="49" charset="0"/>
              </a:rPr>
              <a:t>(y)r</a:t>
            </a:r>
            <a:r>
              <a:rPr lang="ru-RU" sz="3200" baseline="-25000" dirty="0">
                <a:latin typeface="Courier New" panose="02070309020205020404" pitchFamily="49" charset="0"/>
                <a:cs typeface="Courier New" panose="02070309020205020404" pitchFamily="49" charset="0"/>
              </a:rPr>
              <a:t>1</a:t>
            </a:r>
            <a:r>
              <a:rPr lang="ru-RU" sz="3200" dirty="0">
                <a:latin typeface="Courier New" panose="02070309020205020404" pitchFamily="49" charset="0"/>
                <a:cs typeface="Courier New" panose="02070309020205020404" pitchFamily="49" charset="0"/>
              </a:rPr>
              <a:t>(z)a</a:t>
            </a:r>
            <a:r>
              <a:rPr lang="ru-RU" sz="3200" baseline="-25000" dirty="0">
                <a:latin typeface="Courier New" panose="02070309020205020404" pitchFamily="49" charset="0"/>
                <a:cs typeface="Courier New" panose="02070309020205020404" pitchFamily="49" charset="0"/>
              </a:rPr>
              <a:t>1</a:t>
            </a:r>
            <a:r>
              <a:rPr lang="ru-RU" sz="3200" dirty="0">
                <a:latin typeface="Courier New" panose="02070309020205020404" pitchFamily="49" charset="0"/>
                <a:cs typeface="Courier New" panose="02070309020205020404" pitchFamily="49" charset="0"/>
              </a:rPr>
              <a:t>. </a:t>
            </a:r>
          </a:p>
          <a:p>
            <a:pPr>
              <a:lnSpc>
                <a:spcPct val="120000"/>
              </a:lnSpc>
            </a:pPr>
            <a:r>
              <a:rPr lang="ru-RU" sz="3200" dirty="0"/>
              <a:t>В нем операция обрыва </a:t>
            </a:r>
            <a:r>
              <a:rPr lang="ru-RU" sz="3200" dirty="0">
                <a:latin typeface="Courier New" panose="02070309020205020404" pitchFamily="49" charset="0"/>
                <a:cs typeface="Courier New" panose="02070309020205020404" pitchFamily="49" charset="0"/>
              </a:rPr>
              <a:t>a</a:t>
            </a:r>
            <a:r>
              <a:rPr lang="ru-RU" sz="3200" baseline="-25000" dirty="0">
                <a:latin typeface="Courier New" panose="02070309020205020404" pitchFamily="49" charset="0"/>
                <a:cs typeface="Courier New" panose="02070309020205020404" pitchFamily="49" charset="0"/>
              </a:rPr>
              <a:t>1</a:t>
            </a:r>
            <a:r>
              <a:rPr lang="ru-RU" sz="3200" dirty="0"/>
              <a:t> заменяется на обратные операции для всех операций записи этой транзакции и последующую фиксацию </a:t>
            </a:r>
            <a:r>
              <a:rPr lang="ru-RU" sz="3200" dirty="0">
                <a:latin typeface="Courier New" panose="02070309020205020404" pitchFamily="49" charset="0"/>
                <a:cs typeface="Courier New" panose="02070309020205020404" pitchFamily="49" charset="0"/>
              </a:rPr>
              <a:t>c</a:t>
            </a:r>
            <a:r>
              <a:rPr lang="ru-RU" sz="3200" baseline="-25000" dirty="0">
                <a:latin typeface="Courier New" panose="02070309020205020404" pitchFamily="49" charset="0"/>
                <a:cs typeface="Courier New" panose="02070309020205020404" pitchFamily="49" charset="0"/>
              </a:rPr>
              <a:t>1</a:t>
            </a:r>
            <a:r>
              <a:rPr lang="ru-RU" sz="3200" dirty="0"/>
              <a:t>: </a:t>
            </a:r>
          </a:p>
          <a:p>
            <a:pPr marL="0" indent="0">
              <a:lnSpc>
                <a:spcPct val="120000"/>
              </a:lnSpc>
              <a:buNone/>
            </a:pPr>
            <a:r>
              <a:rPr lang="ru-RU" sz="3200" dirty="0">
                <a:latin typeface="Courier New" panose="02070309020205020404" pitchFamily="49" charset="0"/>
                <a:cs typeface="Courier New" panose="02070309020205020404" pitchFamily="49" charset="0"/>
              </a:rPr>
              <a:t>     r</a:t>
            </a:r>
            <a:r>
              <a:rPr lang="ru-RU" sz="3200" baseline="-25000" dirty="0">
                <a:latin typeface="Courier New" panose="02070309020205020404" pitchFamily="49" charset="0"/>
                <a:cs typeface="Courier New" panose="02070309020205020404" pitchFamily="49" charset="0"/>
              </a:rPr>
              <a:t>1</a:t>
            </a:r>
            <a:r>
              <a:rPr lang="ru-RU" sz="3200" dirty="0">
                <a:latin typeface="Courier New" panose="02070309020205020404" pitchFamily="49" charset="0"/>
                <a:cs typeface="Courier New" panose="02070309020205020404" pitchFamily="49" charset="0"/>
              </a:rPr>
              <a:t>(x)r</a:t>
            </a:r>
            <a:r>
              <a:rPr lang="ru-RU" sz="3200" baseline="-25000" dirty="0">
                <a:latin typeface="Courier New" panose="02070309020205020404" pitchFamily="49" charset="0"/>
                <a:cs typeface="Courier New" panose="02070309020205020404" pitchFamily="49" charset="0"/>
              </a:rPr>
              <a:t>1</a:t>
            </a:r>
            <a:r>
              <a:rPr lang="ru-RU" sz="3200" dirty="0">
                <a:latin typeface="Courier New" panose="02070309020205020404" pitchFamily="49" charset="0"/>
                <a:cs typeface="Courier New" panose="02070309020205020404" pitchFamily="49" charset="0"/>
              </a:rPr>
              <a:t>(y)w</a:t>
            </a:r>
            <a:r>
              <a:rPr lang="ru-RU" sz="3200" baseline="-25000" dirty="0">
                <a:latin typeface="Courier New" panose="02070309020205020404" pitchFamily="49" charset="0"/>
                <a:cs typeface="Courier New" panose="02070309020205020404" pitchFamily="49" charset="0"/>
              </a:rPr>
              <a:t>1</a:t>
            </a:r>
            <a:r>
              <a:rPr lang="ru-RU" sz="3200" dirty="0">
                <a:latin typeface="Courier New" panose="02070309020205020404" pitchFamily="49" charset="0"/>
                <a:cs typeface="Courier New" panose="02070309020205020404" pitchFamily="49" charset="0"/>
              </a:rPr>
              <a:t>(x)w</a:t>
            </a:r>
            <a:r>
              <a:rPr lang="ru-RU" sz="3200" baseline="-25000" dirty="0">
                <a:latin typeface="Courier New" panose="02070309020205020404" pitchFamily="49" charset="0"/>
                <a:cs typeface="Courier New" panose="02070309020205020404" pitchFamily="49" charset="0"/>
              </a:rPr>
              <a:t>1</a:t>
            </a:r>
            <a:r>
              <a:rPr lang="ru-RU" sz="3200" dirty="0">
                <a:latin typeface="Courier New" panose="02070309020205020404" pitchFamily="49" charset="0"/>
                <a:cs typeface="Courier New" panose="02070309020205020404" pitchFamily="49" charset="0"/>
              </a:rPr>
              <a:t>(y)r</a:t>
            </a:r>
            <a:r>
              <a:rPr lang="ru-RU" sz="3200" baseline="-25000" dirty="0">
                <a:latin typeface="Courier New" panose="02070309020205020404" pitchFamily="49" charset="0"/>
                <a:cs typeface="Courier New" panose="02070309020205020404" pitchFamily="49" charset="0"/>
              </a:rPr>
              <a:t>1</a:t>
            </a:r>
            <a:r>
              <a:rPr lang="ru-RU" sz="3200" dirty="0">
                <a:latin typeface="Courier New" panose="02070309020205020404" pitchFamily="49" charset="0"/>
                <a:cs typeface="Courier New" panose="02070309020205020404" pitchFamily="49" charset="0"/>
              </a:rPr>
              <a:t>(z)w</a:t>
            </a:r>
            <a:r>
              <a:rPr lang="ru-RU" sz="3200" baseline="-25000" dirty="0">
                <a:latin typeface="Courier New" panose="02070309020205020404" pitchFamily="49" charset="0"/>
                <a:cs typeface="Courier New" panose="02070309020205020404" pitchFamily="49" charset="0"/>
              </a:rPr>
              <a:t>1</a:t>
            </a:r>
            <a:r>
              <a:rPr lang="ru-RU" sz="3200" baseline="30000" dirty="0">
                <a:latin typeface="Courier New" panose="02070309020205020404" pitchFamily="49" charset="0"/>
                <a:cs typeface="Courier New" panose="02070309020205020404" pitchFamily="49" charset="0"/>
              </a:rPr>
              <a:t>−1</a:t>
            </a:r>
            <a:r>
              <a:rPr lang="ru-RU" sz="3200" dirty="0">
                <a:latin typeface="Courier New" panose="02070309020205020404" pitchFamily="49" charset="0"/>
                <a:cs typeface="Courier New" panose="02070309020205020404" pitchFamily="49" charset="0"/>
              </a:rPr>
              <a:t>(y)w</a:t>
            </a:r>
            <a:r>
              <a:rPr lang="ru-RU" sz="3200" baseline="-25000" dirty="0">
                <a:latin typeface="Courier New" panose="02070309020205020404" pitchFamily="49" charset="0"/>
                <a:cs typeface="Courier New" panose="02070309020205020404" pitchFamily="49" charset="0"/>
              </a:rPr>
              <a:t>1</a:t>
            </a:r>
            <a:r>
              <a:rPr lang="ru-RU" sz="3200" baseline="30000" dirty="0">
                <a:latin typeface="Courier New" panose="02070309020205020404" pitchFamily="49" charset="0"/>
                <a:cs typeface="Courier New" panose="02070309020205020404" pitchFamily="49" charset="0"/>
              </a:rPr>
              <a:t>−1</a:t>
            </a:r>
            <a:r>
              <a:rPr lang="ru-RU" sz="3200" dirty="0">
                <a:latin typeface="Courier New" panose="02070309020205020404" pitchFamily="49" charset="0"/>
                <a:cs typeface="Courier New" panose="02070309020205020404" pitchFamily="49" charset="0"/>
              </a:rPr>
              <a:t>(х)c</a:t>
            </a:r>
            <a:r>
              <a:rPr lang="ru-RU" sz="3200" baseline="-25000" dirty="0">
                <a:latin typeface="Courier New" panose="02070309020205020404" pitchFamily="49" charset="0"/>
                <a:cs typeface="Courier New" panose="02070309020205020404" pitchFamily="49" charset="0"/>
              </a:rPr>
              <a:t>1</a:t>
            </a:r>
            <a:r>
              <a:rPr lang="ru-RU" sz="3200" dirty="0">
                <a:latin typeface="Courier New" panose="02070309020205020404" pitchFamily="49" charset="0"/>
                <a:cs typeface="Courier New" panose="02070309020205020404" pitchFamily="49" charset="0"/>
              </a:rPr>
              <a:t>. </a:t>
            </a:r>
          </a:p>
          <a:p>
            <a:pPr>
              <a:lnSpc>
                <a:spcPct val="120000"/>
              </a:lnSpc>
            </a:pPr>
            <a:r>
              <a:rPr lang="ru-RU" sz="3200" dirty="0"/>
              <a:t>Заметим, что алгоритм выполнения обратных операций может быть различным в разных СУБД. </a:t>
            </a:r>
          </a:p>
          <a:p>
            <a:pPr>
              <a:lnSpc>
                <a:spcPct val="120000"/>
              </a:lnSpc>
            </a:pPr>
            <a:r>
              <a:rPr lang="ru-RU" sz="3200" dirty="0"/>
              <a:t>В системе </a:t>
            </a:r>
            <a:r>
              <a:rPr lang="ru-RU" sz="3200" dirty="0" err="1"/>
              <a:t>PostgreSQL</a:t>
            </a:r>
            <a:r>
              <a:rPr lang="ru-RU" sz="3200" dirty="0"/>
              <a:t> </a:t>
            </a:r>
            <a:r>
              <a:rPr lang="ru-RU" sz="3200" b="1" dirty="0"/>
              <a:t>новые значения никогда не записываются на место старых</a:t>
            </a:r>
            <a:r>
              <a:rPr lang="ru-RU" sz="3200" dirty="0"/>
              <a:t>, поэтому возврат к предыдущему значению достаточно прост и </a:t>
            </a:r>
            <a:r>
              <a:rPr lang="ru-RU" sz="3200" b="1" dirty="0"/>
              <a:t>не требует фактической записи этого значения элемента данных.</a:t>
            </a:r>
            <a:r>
              <a:rPr lang="ru-RU" sz="3200" dirty="0"/>
              <a:t> </a:t>
            </a:r>
          </a:p>
          <a:p>
            <a:pPr>
              <a:lnSpc>
                <a:spcPct val="120000"/>
              </a:lnSpc>
            </a:pPr>
            <a:r>
              <a:rPr lang="ru-RU" sz="3200" dirty="0"/>
              <a:t>Использование операции отката для реализации обрывов накладывает ограничения на допустимость расписаний. </a:t>
            </a:r>
            <a:endParaRPr lang="ru-RU" sz="3200" b="1" dirty="0"/>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9990665" y="6356351"/>
            <a:ext cx="1100667" cy="3651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0888132" y="6356351"/>
            <a:ext cx="694267" cy="365125"/>
          </a:xfrm>
        </p:spPr>
        <p:txBody>
          <a:bodyPr/>
          <a:lstStyle/>
          <a:p>
            <a:fld id="{667D74AF-8CFA-41E7-84BA-34814A01EACF}" type="slidenum">
              <a:rPr lang="ru-RU" smtClean="0"/>
              <a:t>35</a:t>
            </a:fld>
            <a:endParaRPr lang="ru-RU" dirty="0"/>
          </a:p>
        </p:txBody>
      </p:sp>
    </p:spTree>
    <p:extLst>
      <p:ext uri="{BB962C8B-B14F-4D97-AF65-F5344CB8AC3E}">
        <p14:creationId xmlns:p14="http://schemas.microsoft.com/office/powerpoint/2010/main" val="3212953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up)">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up)">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609600" y="0"/>
            <a:ext cx="10972800" cy="944561"/>
          </a:xfrm>
        </p:spPr>
        <p:txBody>
          <a:bodyPr>
            <a:normAutofit/>
          </a:bodyPr>
          <a:lstStyle/>
          <a:p>
            <a:r>
              <a:rPr lang="ru-RU" dirty="0" err="1"/>
              <a:t>Восстановимость</a:t>
            </a:r>
            <a:r>
              <a:rPr lang="ru-RU" dirty="0"/>
              <a:t> и </a:t>
            </a:r>
            <a:r>
              <a:rPr lang="ru-RU" dirty="0" err="1"/>
              <a:t>сериализуемость</a:t>
            </a:r>
            <a:endParaRPr lang="ru-RU" dirty="0"/>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609600" y="944562"/>
            <a:ext cx="11379200" cy="5776914"/>
          </a:xfrm>
        </p:spPr>
        <p:txBody>
          <a:bodyPr>
            <a:normAutofit fontScale="70000" lnSpcReduction="20000"/>
          </a:bodyPr>
          <a:lstStyle/>
          <a:p>
            <a:pPr>
              <a:lnSpc>
                <a:spcPct val="120000"/>
              </a:lnSpc>
            </a:pPr>
            <a:r>
              <a:rPr lang="ru-RU" sz="3200" dirty="0"/>
              <a:t>Расписание называется восстановимым, если для любой пары операций </a:t>
            </a:r>
            <a:r>
              <a:rPr lang="ru-RU" sz="3200" dirty="0" err="1"/>
              <a:t>wi</a:t>
            </a:r>
            <a:r>
              <a:rPr lang="ru-RU" sz="3200" dirty="0"/>
              <a:t>(x) → </a:t>
            </a:r>
            <a:r>
              <a:rPr lang="ru-RU" sz="3200" dirty="0" err="1"/>
              <a:t>wj</a:t>
            </a:r>
            <a:r>
              <a:rPr lang="ru-RU" sz="3200" dirty="0"/>
              <a:t>(x) либо фиксация транзакции </a:t>
            </a:r>
            <a:r>
              <a:rPr lang="ru-RU" sz="3200" dirty="0" err="1"/>
              <a:t>ti</a:t>
            </a:r>
            <a:r>
              <a:rPr lang="ru-RU" sz="3200" dirty="0"/>
              <a:t> предшествует фиксации </a:t>
            </a:r>
            <a:r>
              <a:rPr lang="ru-RU" sz="3200" dirty="0" err="1"/>
              <a:t>tj</a:t>
            </a:r>
            <a:r>
              <a:rPr lang="ru-RU" sz="3200" dirty="0"/>
              <a:t> , либо </a:t>
            </a:r>
            <a:r>
              <a:rPr lang="ru-RU" sz="3200" dirty="0" err="1"/>
              <a:t>tj</a:t>
            </a:r>
            <a:r>
              <a:rPr lang="ru-RU" sz="3200" dirty="0"/>
              <a:t> обрывается. </a:t>
            </a:r>
          </a:p>
          <a:p>
            <a:pPr>
              <a:lnSpc>
                <a:spcPct val="120000"/>
              </a:lnSpc>
            </a:pPr>
            <a:r>
              <a:rPr lang="ru-RU" sz="3200" dirty="0"/>
              <a:t>Класс восстановимых расписаний обозначается RC (</a:t>
            </a:r>
            <a:r>
              <a:rPr lang="ru-RU" sz="3200" dirty="0" err="1"/>
              <a:t>recoverable</a:t>
            </a:r>
            <a:r>
              <a:rPr lang="ru-RU" sz="3200" dirty="0"/>
              <a:t>). </a:t>
            </a:r>
          </a:p>
          <a:p>
            <a:pPr>
              <a:lnSpc>
                <a:spcPct val="120000"/>
              </a:lnSpc>
            </a:pPr>
            <a:r>
              <a:rPr lang="ru-RU" sz="3200" dirty="0"/>
              <a:t>Таким образом, если в расписании w1(x) w2(x) транзакция t2 пытается выполнить фиксацию, то эта операция должна быть отложена до тех пор, пока не зафиксируется транзакция t1. </a:t>
            </a:r>
          </a:p>
          <a:p>
            <a:pPr>
              <a:lnSpc>
                <a:spcPct val="120000"/>
              </a:lnSpc>
            </a:pPr>
            <a:r>
              <a:rPr lang="ru-RU" sz="3200" dirty="0"/>
              <a:t>Если при этом t1 обрывается, то перед ее обрывом выполняется обрыв t2 (несмотря на то что t2 была готова зафиксироваться). </a:t>
            </a:r>
          </a:p>
          <a:p>
            <a:pPr>
              <a:lnSpc>
                <a:spcPct val="120000"/>
              </a:lnSpc>
            </a:pPr>
            <a:r>
              <a:rPr lang="ru-RU" sz="3200" dirty="0"/>
              <a:t>Такой обрыв транзакции t2 называется каскадным.</a:t>
            </a:r>
          </a:p>
          <a:p>
            <a:pPr>
              <a:lnSpc>
                <a:spcPct val="120000"/>
              </a:lnSpc>
            </a:pPr>
            <a:r>
              <a:rPr lang="ru-RU" sz="3200" dirty="0"/>
              <a:t>Свойство </a:t>
            </a:r>
            <a:r>
              <a:rPr lang="ru-RU" sz="3200" b="1" dirty="0" err="1"/>
              <a:t>восстановимости</a:t>
            </a:r>
            <a:r>
              <a:rPr lang="ru-RU" sz="3200" b="1" dirty="0"/>
              <a:t> расписаний никак не соотносится с </a:t>
            </a:r>
            <a:r>
              <a:rPr lang="ru-RU" sz="3200" b="1" dirty="0" err="1"/>
              <a:t>сериализуемостью</a:t>
            </a:r>
            <a:r>
              <a:rPr lang="ru-RU" sz="3200" dirty="0"/>
              <a:t>:</a:t>
            </a:r>
          </a:p>
          <a:p>
            <a:pPr lvl="1">
              <a:lnSpc>
                <a:spcPct val="120000"/>
              </a:lnSpc>
              <a:buFont typeface="Wingdings" panose="05000000000000000000" pitchFamily="2" charset="2"/>
              <a:buChar char="Ø"/>
            </a:pPr>
            <a:r>
              <a:rPr lang="ru-RU" sz="3200" b="1" dirty="0"/>
              <a:t>Восстановимое</a:t>
            </a:r>
            <a:r>
              <a:rPr lang="ru-RU" sz="3200" dirty="0"/>
              <a:t> расписание может быть </a:t>
            </a:r>
            <a:r>
              <a:rPr lang="ru-RU" sz="3200" b="1" dirty="0"/>
              <a:t>не </a:t>
            </a:r>
            <a:r>
              <a:rPr lang="ru-RU" sz="3200" b="1" dirty="0" err="1"/>
              <a:t>сериализуемо</a:t>
            </a:r>
            <a:r>
              <a:rPr lang="ru-RU" sz="3200" b="1" dirty="0"/>
              <a:t> даже по конечному состоянию</a:t>
            </a:r>
            <a:r>
              <a:rPr lang="ru-RU" sz="3200" dirty="0"/>
              <a:t>, </a:t>
            </a:r>
          </a:p>
          <a:p>
            <a:pPr lvl="1">
              <a:lnSpc>
                <a:spcPct val="120000"/>
              </a:lnSpc>
              <a:buFont typeface="Wingdings" panose="05000000000000000000" pitchFamily="2" charset="2"/>
              <a:buChar char="Ø"/>
            </a:pPr>
            <a:r>
              <a:rPr lang="ru-RU" sz="3200" b="1" dirty="0" err="1"/>
              <a:t>Сериализуемое</a:t>
            </a:r>
            <a:r>
              <a:rPr lang="ru-RU" sz="3200" b="1" dirty="0"/>
              <a:t> по конфликтам </a:t>
            </a:r>
            <a:r>
              <a:rPr lang="ru-RU" sz="3200" dirty="0"/>
              <a:t>расписание может </a:t>
            </a:r>
            <a:r>
              <a:rPr lang="ru-RU" sz="3200" b="1" dirty="0"/>
              <a:t>не быть восстановимым</a:t>
            </a:r>
            <a:r>
              <a:rPr lang="ru-RU" sz="3200" dirty="0"/>
              <a:t>.</a:t>
            </a:r>
            <a:endParaRPr lang="ru-RU" sz="3200" b="1" dirty="0"/>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9990665" y="6356351"/>
            <a:ext cx="1100667" cy="3651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0888132" y="6356351"/>
            <a:ext cx="694267" cy="365125"/>
          </a:xfrm>
        </p:spPr>
        <p:txBody>
          <a:bodyPr/>
          <a:lstStyle/>
          <a:p>
            <a:fld id="{667D74AF-8CFA-41E7-84BA-34814A01EACF}" type="slidenum">
              <a:rPr lang="ru-RU" smtClean="0"/>
              <a:t>36</a:t>
            </a:fld>
            <a:endParaRPr lang="ru-RU" dirty="0"/>
          </a:p>
        </p:txBody>
      </p:sp>
    </p:spTree>
    <p:extLst>
      <p:ext uri="{BB962C8B-B14F-4D97-AF65-F5344CB8AC3E}">
        <p14:creationId xmlns:p14="http://schemas.microsoft.com/office/powerpoint/2010/main" val="2001894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up)">
                                      <p:cBhvr>
                                        <p:cTn id="32" dur="500"/>
                                        <p:tgtEl>
                                          <p:spTgt spid="3">
                                            <p:txEl>
                                              <p:pRg st="5" end="5"/>
                                            </p:txEl>
                                          </p:spTgt>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wipe(up)">
                                      <p:cBhvr>
                                        <p:cTn id="35" dur="500"/>
                                        <p:tgtEl>
                                          <p:spTgt spid="3">
                                            <p:txEl>
                                              <p:pRg st="6" end="6"/>
                                            </p:txEl>
                                          </p:spTgt>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wipe(up)">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609600" y="0"/>
            <a:ext cx="10972800" cy="944561"/>
          </a:xfrm>
        </p:spPr>
        <p:txBody>
          <a:bodyPr>
            <a:normAutofit fontScale="90000"/>
          </a:bodyPr>
          <a:lstStyle/>
          <a:p>
            <a:r>
              <a:rPr lang="ru-RU" dirty="0" err="1"/>
              <a:t>Бескаскадные</a:t>
            </a:r>
            <a:r>
              <a:rPr lang="ru-RU" dirty="0"/>
              <a:t>(АСА) и строгие(</a:t>
            </a:r>
            <a:r>
              <a:rPr lang="en-US" dirty="0"/>
              <a:t>ST</a:t>
            </a:r>
            <a:r>
              <a:rPr lang="ru-RU" dirty="0"/>
              <a:t>)</a:t>
            </a:r>
            <a:r>
              <a:rPr lang="en-US" dirty="0"/>
              <a:t> </a:t>
            </a:r>
            <a:r>
              <a:rPr lang="ru-RU" dirty="0"/>
              <a:t>расписания</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609600" y="944562"/>
            <a:ext cx="11379200" cy="5776914"/>
          </a:xfrm>
        </p:spPr>
        <p:txBody>
          <a:bodyPr>
            <a:normAutofit fontScale="70000" lnSpcReduction="20000"/>
          </a:bodyPr>
          <a:lstStyle/>
          <a:p>
            <a:pPr>
              <a:lnSpc>
                <a:spcPct val="120000"/>
              </a:lnSpc>
            </a:pPr>
            <a:r>
              <a:rPr lang="ru-RU" sz="3200" dirty="0"/>
              <a:t>Чтобы предотвратить каскадные обрывы, необходимо отложить выполнение операции </a:t>
            </a:r>
            <a:r>
              <a:rPr lang="ru-RU" sz="3200" dirty="0" err="1"/>
              <a:t>wj</a:t>
            </a:r>
            <a:r>
              <a:rPr lang="ru-RU" sz="3200" dirty="0"/>
              <a:t>(x) до завершения транзакции </a:t>
            </a:r>
            <a:r>
              <a:rPr lang="ru-RU" sz="3200" dirty="0" err="1"/>
              <a:t>ti</a:t>
            </a:r>
            <a:r>
              <a:rPr lang="ru-RU" sz="3200" dirty="0"/>
              <a:t> . </a:t>
            </a:r>
          </a:p>
          <a:p>
            <a:pPr>
              <a:lnSpc>
                <a:spcPct val="120000"/>
              </a:lnSpc>
            </a:pPr>
            <a:r>
              <a:rPr lang="ru-RU" sz="3200" dirty="0"/>
              <a:t>Расписания, удовлетворяющие этому условию, называются </a:t>
            </a:r>
            <a:r>
              <a:rPr lang="ru-RU" sz="3200" dirty="0" err="1"/>
              <a:t>бескаскадными</a:t>
            </a:r>
            <a:r>
              <a:rPr lang="ru-RU" sz="3200" dirty="0"/>
              <a:t>, однако этот класс расписаний не имеет практического значения. </a:t>
            </a:r>
          </a:p>
          <a:p>
            <a:pPr>
              <a:lnSpc>
                <a:spcPct val="120000"/>
              </a:lnSpc>
            </a:pPr>
            <a:r>
              <a:rPr lang="ru-RU" sz="3200" dirty="0"/>
              <a:t>Класс </a:t>
            </a:r>
            <a:r>
              <a:rPr lang="ru-RU" sz="3200" dirty="0" err="1"/>
              <a:t>бескаскадных</a:t>
            </a:r>
            <a:r>
              <a:rPr lang="ru-RU" sz="3200" dirty="0"/>
              <a:t> расписаний обозначается ACA. </a:t>
            </a:r>
          </a:p>
          <a:p>
            <a:pPr>
              <a:lnSpc>
                <a:spcPct val="120000"/>
              </a:lnSpc>
            </a:pPr>
            <a:r>
              <a:rPr lang="ru-RU" sz="3200" dirty="0"/>
              <a:t>Можно доказать, что ACA ⊂ RC и это включение — строгое.</a:t>
            </a:r>
          </a:p>
          <a:p>
            <a:pPr>
              <a:lnSpc>
                <a:spcPct val="120000"/>
              </a:lnSpc>
            </a:pPr>
            <a:r>
              <a:rPr lang="ru-RU" sz="3200" dirty="0"/>
              <a:t>Еще более сильное условие предотвращает аномалию грязного чтения и состоит в том, что выполнение </a:t>
            </a:r>
            <a:r>
              <a:rPr lang="ru-RU" sz="3200" b="1" dirty="0"/>
              <a:t>любой операции транзакции </a:t>
            </a:r>
            <a:r>
              <a:rPr lang="ru-RU" sz="3200" b="1" dirty="0" err="1"/>
              <a:t>tj</a:t>
            </a:r>
            <a:r>
              <a:rPr lang="ru-RU" sz="3200" b="1" dirty="0"/>
              <a:t> над элементом данных, записанным транзакцией </a:t>
            </a:r>
            <a:r>
              <a:rPr lang="ru-RU" sz="3200" b="1" dirty="0" err="1"/>
              <a:t>ti</a:t>
            </a:r>
            <a:r>
              <a:rPr lang="ru-RU" sz="3200" b="1" dirty="0"/>
              <a:t> , откладывается до завершения </a:t>
            </a:r>
            <a:r>
              <a:rPr lang="ru-RU" sz="3200" b="1" dirty="0" err="1"/>
              <a:t>ti</a:t>
            </a:r>
            <a:r>
              <a:rPr lang="ru-RU" sz="3200" b="1" dirty="0"/>
              <a:t> </a:t>
            </a:r>
            <a:r>
              <a:rPr lang="ru-RU" sz="3200" dirty="0"/>
              <a:t>.</a:t>
            </a:r>
          </a:p>
          <a:p>
            <a:pPr>
              <a:lnSpc>
                <a:spcPct val="120000"/>
              </a:lnSpc>
            </a:pPr>
            <a:r>
              <a:rPr lang="ru-RU" sz="3200" dirty="0"/>
              <a:t>Расписания, удовлетворяющие этому условию, называются </a:t>
            </a:r>
            <a:r>
              <a:rPr lang="ru-RU" sz="3200" b="1" dirty="0"/>
              <a:t>строгими (</a:t>
            </a:r>
            <a:r>
              <a:rPr lang="ru-RU" sz="3200" b="1" dirty="0" err="1"/>
              <a:t>strict</a:t>
            </a:r>
            <a:r>
              <a:rPr lang="ru-RU" sz="3200" dirty="0"/>
              <a:t>), этот класс расписаний принято обозначать </a:t>
            </a:r>
            <a:r>
              <a:rPr lang="ru-RU" sz="3200" b="1" dirty="0"/>
              <a:t>ST</a:t>
            </a:r>
            <a:r>
              <a:rPr lang="ru-RU" sz="3200" dirty="0"/>
              <a:t>. </a:t>
            </a:r>
          </a:p>
          <a:p>
            <a:pPr>
              <a:lnSpc>
                <a:spcPct val="120000"/>
              </a:lnSpc>
            </a:pPr>
            <a:r>
              <a:rPr lang="ru-RU" sz="3200" dirty="0"/>
              <a:t>Можно доказать, что </a:t>
            </a:r>
            <a:r>
              <a:rPr lang="ru-RU" sz="3200" b="1" dirty="0"/>
              <a:t>ST ⊂ ACA</a:t>
            </a:r>
            <a:r>
              <a:rPr lang="ru-RU" sz="3200" dirty="0"/>
              <a:t>. </a:t>
            </a:r>
          </a:p>
          <a:p>
            <a:pPr>
              <a:lnSpc>
                <a:spcPct val="120000"/>
              </a:lnSpc>
            </a:pPr>
            <a:r>
              <a:rPr lang="ru-RU" sz="3200" dirty="0"/>
              <a:t>То, что любое ST-расписание </a:t>
            </a:r>
            <a:r>
              <a:rPr lang="ru-RU" sz="3200" dirty="0" err="1"/>
              <a:t>бескаскадно</a:t>
            </a:r>
            <a:r>
              <a:rPr lang="ru-RU" sz="3200" dirty="0"/>
              <a:t>, непосредственно следует из определений, а для доказательства того, что классы не совпадают, нужно предъявить </a:t>
            </a:r>
            <a:r>
              <a:rPr lang="ru-RU" sz="3200" dirty="0" err="1"/>
              <a:t>бескаскадное</a:t>
            </a:r>
            <a:r>
              <a:rPr lang="ru-RU" sz="3200" dirty="0"/>
              <a:t> расписание, которое не входит в класс ST.</a:t>
            </a:r>
            <a:endParaRPr lang="ru-RU" sz="3200" b="1" dirty="0"/>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9990665" y="6356351"/>
            <a:ext cx="1100667" cy="3651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0888132" y="6356351"/>
            <a:ext cx="694267" cy="365125"/>
          </a:xfrm>
        </p:spPr>
        <p:txBody>
          <a:bodyPr/>
          <a:lstStyle/>
          <a:p>
            <a:fld id="{667D74AF-8CFA-41E7-84BA-34814A01EACF}" type="slidenum">
              <a:rPr lang="ru-RU" smtClean="0"/>
              <a:t>37</a:t>
            </a:fld>
            <a:endParaRPr lang="ru-RU" dirty="0"/>
          </a:p>
        </p:txBody>
      </p:sp>
    </p:spTree>
    <p:extLst>
      <p:ext uri="{BB962C8B-B14F-4D97-AF65-F5344CB8AC3E}">
        <p14:creationId xmlns:p14="http://schemas.microsoft.com/office/powerpoint/2010/main" val="2158382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up)">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up)">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up)">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609600" y="0"/>
            <a:ext cx="10972800" cy="944561"/>
          </a:xfrm>
          <a:noFill/>
        </p:spPr>
        <p:txBody>
          <a:bodyPr>
            <a:normAutofit/>
          </a:bodyPr>
          <a:lstStyle/>
          <a:p>
            <a:r>
              <a:rPr lang="ru-RU" dirty="0"/>
              <a:t>Точные расписания</a:t>
            </a:r>
            <a:r>
              <a:rPr lang="en-US" dirty="0"/>
              <a:t>, ST </a:t>
            </a:r>
            <a:r>
              <a:rPr lang="ru-RU" dirty="0"/>
              <a:t>и </a:t>
            </a:r>
            <a:r>
              <a:rPr lang="en-US" dirty="0">
                <a:solidFill>
                  <a:schemeClr val="tx1"/>
                </a:solidFill>
                <a:effectLst/>
              </a:rPr>
              <a:t>SI</a:t>
            </a:r>
            <a:endParaRPr lang="ru-RU" dirty="0">
              <a:solidFill>
                <a:schemeClr val="tx1"/>
              </a:solidFill>
              <a:effectLst/>
            </a:endParaRP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304800" y="808038"/>
            <a:ext cx="11582400" cy="5913438"/>
          </a:xfrm>
        </p:spPr>
        <p:txBody>
          <a:bodyPr>
            <a:normAutofit fontScale="62500" lnSpcReduction="20000"/>
          </a:bodyPr>
          <a:lstStyle/>
          <a:p>
            <a:pPr>
              <a:lnSpc>
                <a:spcPct val="120000"/>
              </a:lnSpc>
            </a:pPr>
            <a:r>
              <a:rPr lang="ru-RU" sz="3200" dirty="0"/>
              <a:t>Наконец, расписания, в которых для любой операции транзакции </a:t>
            </a:r>
            <a:r>
              <a:rPr lang="ru-RU" sz="3200" dirty="0" err="1"/>
              <a:t>ti</a:t>
            </a:r>
            <a:r>
              <a:rPr lang="ru-RU" sz="3200" dirty="0"/>
              <a:t> любая конфликтующая операция транзакции </a:t>
            </a:r>
            <a:r>
              <a:rPr lang="ru-RU" sz="3200" dirty="0" err="1"/>
              <a:t>tj</a:t>
            </a:r>
            <a:r>
              <a:rPr lang="ru-RU" sz="3200" dirty="0"/>
              <a:t> над тем же элементом данных откладывается до завершения </a:t>
            </a:r>
            <a:r>
              <a:rPr lang="ru-RU" sz="3200" dirty="0" err="1"/>
              <a:t>ti</a:t>
            </a:r>
            <a:r>
              <a:rPr lang="ru-RU" sz="3200" dirty="0"/>
              <a:t> , называются точными (</a:t>
            </a:r>
            <a:r>
              <a:rPr lang="ru-RU" sz="3200" dirty="0" err="1"/>
              <a:t>rigorous</a:t>
            </a:r>
            <a:r>
              <a:rPr lang="ru-RU" sz="3200" dirty="0"/>
              <a:t>). </a:t>
            </a:r>
          </a:p>
          <a:p>
            <a:pPr>
              <a:lnSpc>
                <a:spcPct val="120000"/>
              </a:lnSpc>
            </a:pPr>
            <a:r>
              <a:rPr lang="ru-RU" sz="3200" dirty="0"/>
              <a:t>Класс точных расписаний обозначается </a:t>
            </a:r>
            <a:r>
              <a:rPr lang="ru-RU" sz="3800" b="1" dirty="0"/>
              <a:t>RG</a:t>
            </a:r>
            <a:r>
              <a:rPr lang="ru-RU" sz="3200" dirty="0"/>
              <a:t>. </a:t>
            </a:r>
          </a:p>
          <a:p>
            <a:pPr>
              <a:lnSpc>
                <a:spcPct val="120000"/>
              </a:lnSpc>
            </a:pPr>
            <a:r>
              <a:rPr lang="ru-RU" sz="3200" dirty="0"/>
              <a:t>Можно доказать, что </a:t>
            </a:r>
            <a:r>
              <a:rPr lang="ru-RU" sz="3800" b="1" dirty="0"/>
              <a:t>RG ⊂ ST ∩ CSR</a:t>
            </a:r>
            <a:r>
              <a:rPr lang="ru-RU" sz="3200" dirty="0"/>
              <a:t>, т. е. любое расписание из класса RG будет строгим и </a:t>
            </a:r>
            <a:r>
              <a:rPr lang="ru-RU" sz="3200" dirty="0" err="1"/>
              <a:t>сериализуемым</a:t>
            </a:r>
            <a:r>
              <a:rPr lang="ru-RU" sz="3200" dirty="0"/>
              <a:t>. </a:t>
            </a:r>
          </a:p>
          <a:p>
            <a:pPr>
              <a:lnSpc>
                <a:spcPct val="120000"/>
              </a:lnSpc>
            </a:pPr>
            <a:r>
              <a:rPr lang="ru-RU" sz="3200" dirty="0"/>
              <a:t>Расписания из класса RG, следовательно, обладают </a:t>
            </a:r>
            <a:r>
              <a:rPr lang="ru-RU" sz="3200" b="1" dirty="0"/>
              <a:t>очень хорошими свойствами </a:t>
            </a:r>
            <a:r>
              <a:rPr lang="ru-RU" sz="3200" dirty="0"/>
              <a:t>как с точки зрения корректности, так и с точки зрения </a:t>
            </a:r>
            <a:r>
              <a:rPr lang="ru-RU" sz="3200" dirty="0" err="1"/>
              <a:t>восстановимости</a:t>
            </a:r>
            <a:r>
              <a:rPr lang="ru-RU" sz="3200" dirty="0"/>
              <a:t>. </a:t>
            </a:r>
          </a:p>
          <a:p>
            <a:pPr>
              <a:lnSpc>
                <a:spcPct val="120000"/>
              </a:lnSpc>
            </a:pPr>
            <a:r>
              <a:rPr lang="ru-RU" sz="3200" dirty="0"/>
              <a:t>Однако этот класс оказывается </a:t>
            </a:r>
            <a:r>
              <a:rPr lang="ru-RU" sz="3200" b="1" dirty="0"/>
              <a:t>очень узким и слишком сильно ограничивает возможности конкурентного выполнения транзакций</a:t>
            </a:r>
            <a:r>
              <a:rPr lang="ru-RU" sz="3200" dirty="0"/>
              <a:t>, поэтому он имеет только теоретическое значение. </a:t>
            </a:r>
          </a:p>
          <a:p>
            <a:pPr>
              <a:lnSpc>
                <a:spcPct val="120000"/>
              </a:lnSpc>
            </a:pPr>
            <a:r>
              <a:rPr lang="ru-RU" sz="3200" dirty="0"/>
              <a:t>Поскольку в расписаниях из класса SI транзакции могут читать </a:t>
            </a:r>
            <a:r>
              <a:rPr lang="ru-RU" sz="3200" b="1" dirty="0"/>
              <a:t>только зафиксированные значения</a:t>
            </a:r>
            <a:r>
              <a:rPr lang="ru-RU" sz="3200" dirty="0"/>
              <a:t>, можно сказать, что </a:t>
            </a:r>
            <a:r>
              <a:rPr lang="ru-RU" sz="3800" b="1" dirty="0">
                <a:cs typeface="Courier New" panose="02070309020205020404" pitchFamily="49" charset="0"/>
              </a:rPr>
              <a:t>SI ⊂ ST </a:t>
            </a:r>
            <a:r>
              <a:rPr lang="ru-RU" sz="3200" dirty="0"/>
              <a:t>и, следовательно, </a:t>
            </a:r>
            <a:r>
              <a:rPr lang="ru-RU" sz="3200" b="1" dirty="0"/>
              <a:t>расписания из этого класса </a:t>
            </a:r>
            <a:r>
              <a:rPr lang="ru-RU" sz="3200" b="1" dirty="0" err="1"/>
              <a:t>бескаскадны</a:t>
            </a:r>
            <a:r>
              <a:rPr lang="ru-RU" sz="3200" b="1" dirty="0"/>
              <a:t> и восстановимы. </a:t>
            </a:r>
          </a:p>
          <a:p>
            <a:pPr>
              <a:lnSpc>
                <a:spcPct val="120000"/>
              </a:lnSpc>
            </a:pPr>
            <a:r>
              <a:rPr lang="ru-RU" sz="3200" dirty="0"/>
              <a:t>Это достигается потому, что транзакции, которые</a:t>
            </a:r>
            <a:r>
              <a:rPr lang="ru-RU" sz="3200" b="1" dirty="0"/>
              <a:t>, возможно, пришлось бы обрывать </a:t>
            </a:r>
            <a:r>
              <a:rPr lang="ru-RU" sz="3200" b="1" dirty="0" err="1"/>
              <a:t>каскадно</a:t>
            </a:r>
            <a:r>
              <a:rPr lang="ru-RU" sz="3200" dirty="0"/>
              <a:t>, обязательно имеют </a:t>
            </a:r>
            <a:r>
              <a:rPr lang="ru-RU" sz="3200" b="1" dirty="0"/>
              <a:t>непустое пересечение множества записи с множеством записи текущей транзакции</a:t>
            </a:r>
            <a:r>
              <a:rPr lang="ru-RU" sz="3200" dirty="0"/>
              <a:t> и поэтому, в соответствии </a:t>
            </a:r>
            <a:r>
              <a:rPr lang="ru-RU" sz="3200" b="1" dirty="0"/>
              <a:t>с правилами SI, обрываются безусловно </a:t>
            </a:r>
            <a:r>
              <a:rPr lang="ru-RU" sz="3200" dirty="0"/>
              <a:t>(а не только при необходимости каскадного обрыва).</a:t>
            </a:r>
            <a:endParaRPr lang="ru-RU" sz="3200" b="1" dirty="0"/>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9990665" y="6356351"/>
            <a:ext cx="1100667" cy="3651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0888132" y="6356351"/>
            <a:ext cx="694267" cy="365125"/>
          </a:xfrm>
        </p:spPr>
        <p:txBody>
          <a:bodyPr/>
          <a:lstStyle/>
          <a:p>
            <a:fld id="{667D74AF-8CFA-41E7-84BA-34814A01EACF}" type="slidenum">
              <a:rPr lang="ru-RU" smtClean="0"/>
              <a:t>38</a:t>
            </a:fld>
            <a:endParaRPr lang="ru-RU" dirty="0"/>
          </a:p>
        </p:txBody>
      </p:sp>
    </p:spTree>
    <p:extLst>
      <p:ext uri="{BB962C8B-B14F-4D97-AF65-F5344CB8AC3E}">
        <p14:creationId xmlns:p14="http://schemas.microsoft.com/office/powerpoint/2010/main" val="3567445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up)">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up)">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609600" y="0"/>
            <a:ext cx="10972800" cy="944561"/>
          </a:xfrm>
          <a:noFill/>
        </p:spPr>
        <p:txBody>
          <a:bodyPr>
            <a:normAutofit fontScale="90000"/>
          </a:bodyPr>
          <a:lstStyle/>
          <a:p>
            <a:r>
              <a:rPr lang="ru-RU" dirty="0"/>
              <a:t>Дополнительные свойства классов расписаний</a:t>
            </a:r>
            <a:endParaRPr lang="ru-RU" dirty="0">
              <a:solidFill>
                <a:schemeClr val="tx1"/>
              </a:solidFill>
              <a:effectLst/>
            </a:endParaRP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304800" y="808038"/>
            <a:ext cx="11582400" cy="5913438"/>
          </a:xfrm>
        </p:spPr>
        <p:txBody>
          <a:bodyPr>
            <a:normAutofit fontScale="62500" lnSpcReduction="20000"/>
          </a:bodyPr>
          <a:lstStyle/>
          <a:p>
            <a:pPr>
              <a:lnSpc>
                <a:spcPct val="120000"/>
              </a:lnSpc>
            </a:pPr>
            <a:r>
              <a:rPr lang="ru-RU" sz="3200" dirty="0">
                <a:solidFill>
                  <a:schemeClr val="tx1"/>
                </a:solidFill>
              </a:rPr>
              <a:t>Практически полезные классы расписаний должны обладать еще некоторыми свойствами. </a:t>
            </a:r>
            <a:endParaRPr lang="en-US" sz="3200" dirty="0">
              <a:solidFill>
                <a:schemeClr val="tx1"/>
              </a:solidFill>
            </a:endParaRPr>
          </a:p>
          <a:p>
            <a:pPr>
              <a:lnSpc>
                <a:spcPct val="120000"/>
              </a:lnSpc>
            </a:pPr>
            <a:r>
              <a:rPr lang="ru-RU" sz="3200" dirty="0">
                <a:solidFill>
                  <a:schemeClr val="tx1"/>
                </a:solidFill>
              </a:rPr>
              <a:t>Класс расписаний называется </a:t>
            </a:r>
            <a:r>
              <a:rPr lang="ru-RU" sz="3800" b="1" dirty="0" err="1">
                <a:solidFill>
                  <a:schemeClr val="tx1"/>
                </a:solidFill>
              </a:rPr>
              <a:t>префиксно</a:t>
            </a:r>
            <a:r>
              <a:rPr lang="ru-RU" sz="3800" b="1" dirty="0">
                <a:solidFill>
                  <a:schemeClr val="tx1"/>
                </a:solidFill>
              </a:rPr>
              <a:t> замкнутым</a:t>
            </a:r>
            <a:r>
              <a:rPr lang="ru-RU" sz="3200" dirty="0">
                <a:solidFill>
                  <a:schemeClr val="tx1"/>
                </a:solidFill>
              </a:rPr>
              <a:t>, если</a:t>
            </a:r>
            <a:r>
              <a:rPr lang="ru-RU" sz="3200" b="1" dirty="0">
                <a:solidFill>
                  <a:schemeClr val="tx1"/>
                </a:solidFill>
              </a:rPr>
              <a:t> любой префикс расписания из этого класса также принадлежит этому классу.</a:t>
            </a:r>
            <a:r>
              <a:rPr lang="ru-RU" sz="3200" dirty="0">
                <a:solidFill>
                  <a:schemeClr val="tx1"/>
                </a:solidFill>
              </a:rPr>
              <a:t> </a:t>
            </a:r>
            <a:endParaRPr lang="en-US" sz="3200" dirty="0">
              <a:solidFill>
                <a:schemeClr val="tx1"/>
              </a:solidFill>
            </a:endParaRPr>
          </a:p>
          <a:p>
            <a:pPr>
              <a:lnSpc>
                <a:spcPct val="120000"/>
              </a:lnSpc>
            </a:pPr>
            <a:r>
              <a:rPr lang="ru-RU" sz="3200" dirty="0">
                <a:solidFill>
                  <a:schemeClr val="tx1"/>
                </a:solidFill>
              </a:rPr>
              <a:t>Другими словами, если в транзакциях, входящих в состав корректного расписания (в смысле рассматриваемого класса расписаний), оставить только операции, которые попали в префикс, то полученное таким образом расписание тоже будет корректным в том же смысле. </a:t>
            </a:r>
            <a:endParaRPr lang="en-US" sz="3200" dirty="0">
              <a:solidFill>
                <a:schemeClr val="tx1"/>
              </a:solidFill>
            </a:endParaRPr>
          </a:p>
          <a:p>
            <a:pPr>
              <a:lnSpc>
                <a:spcPct val="120000"/>
              </a:lnSpc>
            </a:pPr>
            <a:r>
              <a:rPr lang="ru-RU" sz="3200" dirty="0">
                <a:solidFill>
                  <a:schemeClr val="tx1"/>
                </a:solidFill>
              </a:rPr>
              <a:t>Свойство префиксной замкнутости обеспечивает сохранение корректности (в смысле этого класса расписаний) при отказах системы: при неполном выполнении расписания база данных остается в корректном состоянии или может быть в него приведена. </a:t>
            </a:r>
            <a:endParaRPr lang="en-US" sz="3200" dirty="0">
              <a:solidFill>
                <a:schemeClr val="tx1"/>
              </a:solidFill>
            </a:endParaRPr>
          </a:p>
          <a:p>
            <a:pPr>
              <a:lnSpc>
                <a:spcPct val="120000"/>
              </a:lnSpc>
            </a:pPr>
            <a:r>
              <a:rPr lang="ru-RU" sz="3200" dirty="0">
                <a:solidFill>
                  <a:schemeClr val="tx1"/>
                </a:solidFill>
              </a:rPr>
              <a:t>Классы расписаний, </a:t>
            </a:r>
            <a:r>
              <a:rPr lang="ru-RU" sz="3200" b="1" dirty="0" err="1">
                <a:solidFill>
                  <a:schemeClr val="tx1"/>
                </a:solidFill>
              </a:rPr>
              <a:t>сериализуемых</a:t>
            </a:r>
            <a:r>
              <a:rPr lang="ru-RU" sz="3200" b="1" dirty="0">
                <a:solidFill>
                  <a:schemeClr val="tx1"/>
                </a:solidFill>
              </a:rPr>
              <a:t> по видимому состоянию VSR и по конфликтам CSR, а также класс SI </a:t>
            </a:r>
            <a:r>
              <a:rPr lang="ru-RU" sz="3200" dirty="0">
                <a:solidFill>
                  <a:schemeClr val="tx1"/>
                </a:solidFill>
              </a:rPr>
              <a:t>являются </a:t>
            </a:r>
            <a:r>
              <a:rPr lang="ru-RU" sz="3200" b="1" dirty="0" err="1">
                <a:solidFill>
                  <a:schemeClr val="tx1"/>
                </a:solidFill>
              </a:rPr>
              <a:t>префиксно</a:t>
            </a:r>
            <a:r>
              <a:rPr lang="ru-RU" sz="3200" b="1" dirty="0">
                <a:solidFill>
                  <a:schemeClr val="tx1"/>
                </a:solidFill>
              </a:rPr>
              <a:t> замкнутыми.</a:t>
            </a:r>
            <a:endParaRPr lang="en-US" sz="3200" b="1" dirty="0">
              <a:solidFill>
                <a:schemeClr val="tx1"/>
              </a:solidFill>
            </a:endParaRPr>
          </a:p>
          <a:p>
            <a:pPr>
              <a:lnSpc>
                <a:spcPct val="120000"/>
              </a:lnSpc>
            </a:pPr>
            <a:r>
              <a:rPr lang="ru-RU" sz="3200" dirty="0">
                <a:solidFill>
                  <a:schemeClr val="tx1"/>
                </a:solidFill>
              </a:rPr>
              <a:t>Класс расписаний, </a:t>
            </a:r>
            <a:r>
              <a:rPr lang="ru-RU" sz="3200" b="1" dirty="0" err="1">
                <a:solidFill>
                  <a:schemeClr val="tx1"/>
                </a:solidFill>
              </a:rPr>
              <a:t>сериализуемых</a:t>
            </a:r>
            <a:r>
              <a:rPr lang="ru-RU" sz="3200" b="1" dirty="0">
                <a:solidFill>
                  <a:schemeClr val="tx1"/>
                </a:solidFill>
              </a:rPr>
              <a:t> по конечному состоянию FSR</a:t>
            </a:r>
            <a:r>
              <a:rPr lang="ru-RU" sz="3200" dirty="0">
                <a:solidFill>
                  <a:schemeClr val="tx1"/>
                </a:solidFill>
              </a:rPr>
              <a:t>, и класс </a:t>
            </a:r>
            <a:r>
              <a:rPr lang="ru-RU" sz="3200" b="1" dirty="0">
                <a:solidFill>
                  <a:schemeClr val="tx1"/>
                </a:solidFill>
              </a:rPr>
              <a:t>восстановимых расписаний RC — не являются.</a:t>
            </a:r>
            <a:r>
              <a:rPr lang="ru-RU" sz="3200" dirty="0">
                <a:solidFill>
                  <a:schemeClr val="tx1"/>
                </a:solidFill>
              </a:rPr>
              <a:t> </a:t>
            </a:r>
          </a:p>
          <a:p>
            <a:pPr>
              <a:lnSpc>
                <a:spcPct val="120000"/>
              </a:lnSpc>
            </a:pPr>
            <a:r>
              <a:rPr lang="ru-RU" sz="3200" b="1" dirty="0">
                <a:solidFill>
                  <a:schemeClr val="tx1"/>
                </a:solidFill>
              </a:rPr>
              <a:t>Класс расписаний </a:t>
            </a:r>
            <a:r>
              <a:rPr lang="ru-RU" sz="3200" dirty="0">
                <a:solidFill>
                  <a:schemeClr val="tx1"/>
                </a:solidFill>
              </a:rPr>
              <a:t>называется </a:t>
            </a:r>
            <a:r>
              <a:rPr lang="ru-RU" sz="3800" b="1" dirty="0">
                <a:solidFill>
                  <a:schemeClr val="tx1"/>
                </a:solidFill>
              </a:rPr>
              <a:t>монотонным</a:t>
            </a:r>
            <a:r>
              <a:rPr lang="ru-RU" sz="3200" dirty="0">
                <a:solidFill>
                  <a:schemeClr val="tx1"/>
                </a:solidFill>
              </a:rPr>
              <a:t>, если </a:t>
            </a:r>
            <a:r>
              <a:rPr lang="ru-RU" sz="3200" b="1" dirty="0">
                <a:solidFill>
                  <a:schemeClr val="tx1"/>
                </a:solidFill>
              </a:rPr>
              <a:t>исключение из расписания любой транзакции сохраняет принадлежность расписания к этому классу</a:t>
            </a:r>
            <a:r>
              <a:rPr lang="ru-RU" sz="3200" dirty="0">
                <a:solidFill>
                  <a:schemeClr val="tx1"/>
                </a:solidFill>
              </a:rPr>
              <a:t>. </a:t>
            </a:r>
          </a:p>
          <a:p>
            <a:pPr>
              <a:lnSpc>
                <a:spcPct val="120000"/>
              </a:lnSpc>
            </a:pPr>
            <a:r>
              <a:rPr lang="ru-RU" sz="3200" dirty="0">
                <a:solidFill>
                  <a:schemeClr val="tx1"/>
                </a:solidFill>
              </a:rPr>
              <a:t>Это свойство позволяет </a:t>
            </a:r>
            <a:r>
              <a:rPr lang="ru-RU" sz="3200" b="1" dirty="0">
                <a:solidFill>
                  <a:schemeClr val="tx1"/>
                </a:solidFill>
              </a:rPr>
              <a:t>исключать из расписания оборванные транзакции</a:t>
            </a:r>
            <a:r>
              <a:rPr lang="ru-RU" sz="3200" dirty="0">
                <a:solidFill>
                  <a:schemeClr val="tx1"/>
                </a:solidFill>
              </a:rPr>
              <a:t>. </a:t>
            </a:r>
          </a:p>
          <a:p>
            <a:pPr>
              <a:lnSpc>
                <a:spcPct val="120000"/>
              </a:lnSpc>
            </a:pPr>
            <a:r>
              <a:rPr lang="ru-RU" sz="3200" b="1" dirty="0">
                <a:solidFill>
                  <a:schemeClr val="tx1"/>
                </a:solidFill>
              </a:rPr>
              <a:t>Все классы </a:t>
            </a:r>
            <a:r>
              <a:rPr lang="ru-RU" sz="3200" b="1" dirty="0" err="1">
                <a:solidFill>
                  <a:schemeClr val="tx1"/>
                </a:solidFill>
              </a:rPr>
              <a:t>сериализуемых</a:t>
            </a:r>
            <a:r>
              <a:rPr lang="ru-RU" sz="3200" b="1" dirty="0">
                <a:solidFill>
                  <a:schemeClr val="tx1"/>
                </a:solidFill>
              </a:rPr>
              <a:t> расписаний и класс SI являются монотонными</a:t>
            </a:r>
            <a:r>
              <a:rPr lang="ru-RU" sz="3200" dirty="0">
                <a:solidFill>
                  <a:schemeClr val="tx1"/>
                </a:solidFill>
              </a:rPr>
              <a:t>.</a:t>
            </a:r>
            <a:endParaRPr lang="ru-RU" sz="3200" b="1" dirty="0">
              <a:solidFill>
                <a:schemeClr val="tx1"/>
              </a:solidFill>
            </a:endParaRP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9990665" y="6356351"/>
            <a:ext cx="1100667" cy="3651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0888132" y="6356351"/>
            <a:ext cx="694267" cy="365125"/>
          </a:xfrm>
        </p:spPr>
        <p:txBody>
          <a:bodyPr/>
          <a:lstStyle/>
          <a:p>
            <a:fld id="{667D74AF-8CFA-41E7-84BA-34814A01EACF}" type="slidenum">
              <a:rPr lang="ru-RU" smtClean="0"/>
              <a:t>39</a:t>
            </a:fld>
            <a:endParaRPr lang="ru-RU" dirty="0"/>
          </a:p>
        </p:txBody>
      </p:sp>
    </p:spTree>
    <p:extLst>
      <p:ext uri="{BB962C8B-B14F-4D97-AF65-F5344CB8AC3E}">
        <p14:creationId xmlns:p14="http://schemas.microsoft.com/office/powerpoint/2010/main" val="3457092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up)">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up)">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up)">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up)">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609600" y="0"/>
            <a:ext cx="10972800" cy="944561"/>
          </a:xfrm>
          <a:noFill/>
        </p:spPr>
        <p:txBody>
          <a:bodyPr>
            <a:normAutofit/>
          </a:bodyPr>
          <a:lstStyle/>
          <a:p>
            <a:r>
              <a:rPr lang="ru-RU" dirty="0"/>
              <a:t>Заключение о расписаниях</a:t>
            </a:r>
            <a:endParaRPr lang="ru-RU" dirty="0">
              <a:solidFill>
                <a:schemeClr val="tx1"/>
              </a:solidFill>
              <a:effectLst/>
            </a:endParaRP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304800" y="808038"/>
            <a:ext cx="11887200" cy="5913438"/>
          </a:xfrm>
        </p:spPr>
        <p:txBody>
          <a:bodyPr>
            <a:normAutofit fontScale="92500" lnSpcReduction="10000"/>
          </a:bodyPr>
          <a:lstStyle/>
          <a:p>
            <a:pPr>
              <a:lnSpc>
                <a:spcPct val="120000"/>
              </a:lnSpc>
            </a:pPr>
            <a:r>
              <a:rPr lang="ru-RU" sz="3200" dirty="0">
                <a:solidFill>
                  <a:schemeClr val="tx1"/>
                </a:solidFill>
              </a:rPr>
              <a:t>Класс расписаний SI, хотя и не гарантирует </a:t>
            </a:r>
            <a:r>
              <a:rPr lang="ru-RU" sz="3200" dirty="0" err="1">
                <a:solidFill>
                  <a:schemeClr val="tx1"/>
                </a:solidFill>
              </a:rPr>
              <a:t>сериализуемость</a:t>
            </a:r>
            <a:r>
              <a:rPr lang="ru-RU" sz="3200" dirty="0">
                <a:solidFill>
                  <a:schemeClr val="tx1"/>
                </a:solidFill>
              </a:rPr>
              <a:t>, однако обладает дополнительными полезными свойствами</a:t>
            </a:r>
          </a:p>
          <a:p>
            <a:pPr lvl="1">
              <a:lnSpc>
                <a:spcPct val="120000"/>
              </a:lnSpc>
              <a:buFont typeface="Wingdings" panose="05000000000000000000" pitchFamily="2" charset="2"/>
              <a:buChar char="ü"/>
            </a:pPr>
            <a:r>
              <a:rPr lang="ru-RU" sz="3200" dirty="0" err="1">
                <a:solidFill>
                  <a:schemeClr val="tx1"/>
                </a:solidFill>
              </a:rPr>
              <a:t>восстановимостью</a:t>
            </a:r>
            <a:r>
              <a:rPr lang="ru-RU" sz="3200" dirty="0">
                <a:solidFill>
                  <a:schemeClr val="tx1"/>
                </a:solidFill>
              </a:rPr>
              <a:t>, </a:t>
            </a:r>
          </a:p>
          <a:p>
            <a:pPr lvl="1">
              <a:lnSpc>
                <a:spcPct val="120000"/>
              </a:lnSpc>
              <a:buFont typeface="Wingdings" panose="05000000000000000000" pitchFamily="2" charset="2"/>
              <a:buChar char="ü"/>
            </a:pPr>
            <a:r>
              <a:rPr lang="ru-RU" sz="3200" dirty="0">
                <a:solidFill>
                  <a:schemeClr val="tx1"/>
                </a:solidFill>
              </a:rPr>
              <a:t>префиксной замкнутостью, </a:t>
            </a:r>
          </a:p>
          <a:p>
            <a:pPr lvl="1">
              <a:lnSpc>
                <a:spcPct val="120000"/>
              </a:lnSpc>
              <a:buFont typeface="Wingdings" panose="05000000000000000000" pitchFamily="2" charset="2"/>
              <a:buChar char="ü"/>
            </a:pPr>
            <a:r>
              <a:rPr lang="ru-RU" sz="3200" dirty="0">
                <a:solidFill>
                  <a:schemeClr val="tx1"/>
                </a:solidFill>
              </a:rPr>
              <a:t>монотонностью. </a:t>
            </a:r>
          </a:p>
          <a:p>
            <a:pPr>
              <a:lnSpc>
                <a:spcPct val="120000"/>
              </a:lnSpc>
            </a:pPr>
            <a:r>
              <a:rPr lang="ru-RU" sz="3200" dirty="0">
                <a:solidFill>
                  <a:schemeClr val="tx1"/>
                </a:solidFill>
              </a:rPr>
              <a:t>Всеми этими свойствами обладает, конечно, и класс </a:t>
            </a:r>
            <a:r>
              <a:rPr lang="ru-RU" sz="3200" b="1" dirty="0" err="1">
                <a:solidFill>
                  <a:schemeClr val="tx1"/>
                </a:solidFill>
              </a:rPr>
              <a:t>сериализуемых</a:t>
            </a:r>
            <a:r>
              <a:rPr lang="ru-RU" sz="3200" b="1" dirty="0">
                <a:solidFill>
                  <a:schemeClr val="tx1"/>
                </a:solidFill>
              </a:rPr>
              <a:t> расписаний SSI.</a:t>
            </a:r>
            <a:r>
              <a:rPr lang="ru-RU" sz="3200" dirty="0">
                <a:solidFill>
                  <a:schemeClr val="tx1"/>
                </a:solidFill>
              </a:rPr>
              <a:t> </a:t>
            </a:r>
          </a:p>
          <a:p>
            <a:pPr>
              <a:lnSpc>
                <a:spcPct val="120000"/>
              </a:lnSpc>
            </a:pPr>
            <a:r>
              <a:rPr lang="ru-RU" sz="3200" b="1" dirty="0">
                <a:solidFill>
                  <a:schemeClr val="tx1"/>
                </a:solidFill>
              </a:rPr>
              <a:t>Сочетание этих свойств </a:t>
            </a:r>
            <a:r>
              <a:rPr lang="ru-RU" sz="3200" dirty="0">
                <a:solidFill>
                  <a:schemeClr val="tx1"/>
                </a:solidFill>
              </a:rPr>
              <a:t>и привело к тому, что </a:t>
            </a:r>
            <a:r>
              <a:rPr lang="ru-RU" sz="3200" b="1" dirty="0">
                <a:solidFill>
                  <a:schemeClr val="tx1"/>
                </a:solidFill>
              </a:rPr>
              <a:t>именно этот класс чаще всего реализуется в высокопроизводительных промышленных системах, в том числе в </a:t>
            </a:r>
            <a:r>
              <a:rPr lang="ru-RU" sz="3200" b="1" dirty="0" err="1">
                <a:solidFill>
                  <a:schemeClr val="tx1"/>
                </a:solidFill>
              </a:rPr>
              <a:t>PostgreSQL</a:t>
            </a:r>
            <a:r>
              <a:rPr lang="ru-RU" sz="3200" b="1" dirty="0">
                <a:solidFill>
                  <a:schemeClr val="tx1"/>
                </a:solidFill>
              </a:rPr>
              <a:t>.</a:t>
            </a: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9990665" y="6356351"/>
            <a:ext cx="1100667" cy="3651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0888132" y="6356351"/>
            <a:ext cx="694267" cy="365125"/>
          </a:xfrm>
        </p:spPr>
        <p:txBody>
          <a:bodyPr/>
          <a:lstStyle/>
          <a:p>
            <a:fld id="{667D74AF-8CFA-41E7-84BA-34814A01EACF}" type="slidenum">
              <a:rPr lang="ru-RU" smtClean="0"/>
              <a:t>40</a:t>
            </a:fld>
            <a:endParaRPr lang="ru-RU" dirty="0"/>
          </a:p>
        </p:txBody>
      </p:sp>
    </p:spTree>
    <p:extLst>
      <p:ext uri="{BB962C8B-B14F-4D97-AF65-F5344CB8AC3E}">
        <p14:creationId xmlns:p14="http://schemas.microsoft.com/office/powerpoint/2010/main" val="1743092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500"/>
                                        <p:tgtEl>
                                          <p:spTgt spid="3">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up)">
                                      <p:cBhvr>
                                        <p:cTn id="13" dur="500"/>
                                        <p:tgtEl>
                                          <p:spTgt spid="3">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up)">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up)">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wipe(up)">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p:txBody>
          <a:bodyPr>
            <a:normAutofit/>
          </a:bodyPr>
          <a:lstStyle/>
          <a:p>
            <a:r>
              <a:rPr lang="ru-RU" sz="4400" dirty="0"/>
              <a:t>Диспетчер</a:t>
            </a:r>
            <a:r>
              <a:rPr lang="ru-RU" dirty="0"/>
              <a:t>ы и</a:t>
            </a:r>
            <a:r>
              <a:rPr lang="ru-RU" sz="4400" dirty="0"/>
              <a:t> протоколы</a:t>
            </a:r>
            <a:endParaRPr lang="ru-RU" dirty="0"/>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p:txBody>
          <a:bodyPr>
            <a:normAutofit/>
          </a:bodyPr>
          <a:lstStyle/>
          <a:p>
            <a:pPr algn="l"/>
            <a:r>
              <a:rPr lang="ru-RU" sz="3200" b="1" dirty="0"/>
              <a:t>Диспетчером транзакций </a:t>
            </a:r>
            <a:r>
              <a:rPr lang="ru-RU" sz="3200" dirty="0"/>
              <a:t>будем называть программу (обычно входящую в состав ядра СУБД), которая отвечает за </a:t>
            </a:r>
            <a:r>
              <a:rPr lang="ru-RU" sz="3200" b="1" dirty="0"/>
              <a:t>корректность выполнения транзакций</a:t>
            </a:r>
            <a:r>
              <a:rPr lang="ru-RU" sz="3200" dirty="0"/>
              <a:t>. </a:t>
            </a:r>
          </a:p>
          <a:p>
            <a:pPr algn="l"/>
            <a:r>
              <a:rPr lang="ru-RU" sz="3200" dirty="0"/>
              <a:t>На вход диспетчера поступает </a:t>
            </a:r>
            <a:r>
              <a:rPr lang="ru-RU" sz="3200" b="1" dirty="0"/>
              <a:t>упорядоченный </a:t>
            </a:r>
            <a:r>
              <a:rPr lang="ru-RU" sz="3200" dirty="0"/>
              <a:t>(возможно, частично) </a:t>
            </a:r>
            <a:r>
              <a:rPr lang="ru-RU" sz="3200" b="1" dirty="0"/>
              <a:t>поток запросов</a:t>
            </a:r>
            <a:r>
              <a:rPr lang="ru-RU" sz="3200" dirty="0"/>
              <a:t> на выполнение операций над базой данных, </a:t>
            </a:r>
          </a:p>
          <a:p>
            <a:pPr algn="l"/>
            <a:r>
              <a:rPr lang="ru-RU" sz="3200" dirty="0"/>
              <a:t>На выходе должен получаться поток, выполнение которого удовлетворяет </a:t>
            </a:r>
            <a:r>
              <a:rPr lang="ru-RU" sz="3200" b="1" dirty="0"/>
              <a:t>каким-либо критериям корректности</a:t>
            </a: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p:txBody>
          <a:bodyPr/>
          <a:lstStyle/>
          <a:p>
            <a:fld id="{667D74AF-8CFA-41E7-84BA-34814A01EACF}" type="slidenum">
              <a:rPr lang="ru-RU" smtClean="0"/>
              <a:t>41</a:t>
            </a:fld>
            <a:endParaRPr lang="ru-RU"/>
          </a:p>
        </p:txBody>
      </p:sp>
    </p:spTree>
    <p:extLst>
      <p:ext uri="{BB962C8B-B14F-4D97-AF65-F5344CB8AC3E}">
        <p14:creationId xmlns:p14="http://schemas.microsoft.com/office/powerpoint/2010/main" val="714207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751609" y="-34205"/>
            <a:ext cx="10972800" cy="904360"/>
          </a:xfrm>
        </p:spPr>
        <p:txBody>
          <a:bodyPr>
            <a:normAutofit/>
          </a:bodyPr>
          <a:lstStyle/>
          <a:p>
            <a:r>
              <a:rPr lang="ru-RU" dirty="0">
                <a:latin typeface="Arial" panose="020B0604020202020204" pitchFamily="34" charset="0"/>
                <a:cs typeface="Arial" panose="020B0604020202020204" pitchFamily="34" charset="0"/>
              </a:rPr>
              <a:t>П</a:t>
            </a:r>
            <a:r>
              <a:rPr lang="ru-RU" sz="4400" dirty="0">
                <a:latin typeface="Arial" panose="020B0604020202020204" pitchFamily="34" charset="0"/>
                <a:cs typeface="Arial" panose="020B0604020202020204" pitchFamily="34" charset="0"/>
              </a:rPr>
              <a:t>ротоколы</a:t>
            </a:r>
            <a:r>
              <a:rPr lang="ru-RU" sz="4400" dirty="0"/>
              <a:t> </a:t>
            </a:r>
            <a:r>
              <a:rPr lang="ru-RU" dirty="0"/>
              <a:t>управления транзакциями </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467591" y="1061884"/>
            <a:ext cx="11522848" cy="5659591"/>
          </a:xfrm>
        </p:spPr>
        <p:txBody>
          <a:bodyPr>
            <a:normAutofit fontScale="70000" lnSpcReduction="20000"/>
          </a:bodyPr>
          <a:lstStyle/>
          <a:p>
            <a:pPr marL="0" indent="0" algn="l">
              <a:lnSpc>
                <a:spcPct val="120000"/>
              </a:lnSpc>
              <a:buNone/>
            </a:pPr>
            <a:r>
              <a:rPr lang="ru-RU" dirty="0"/>
              <a:t>Чтобы добиться корректности, диспетчер может:</a:t>
            </a:r>
          </a:p>
          <a:p>
            <a:pPr lvl="1">
              <a:lnSpc>
                <a:spcPct val="120000"/>
              </a:lnSpc>
              <a:buSzPct val="120000"/>
            </a:pPr>
            <a:r>
              <a:rPr lang="ru-RU" b="1" dirty="0"/>
              <a:t>передавать</a:t>
            </a:r>
            <a:r>
              <a:rPr lang="ru-RU" dirty="0"/>
              <a:t> поступившую операцию на выполнение </a:t>
            </a:r>
            <a:r>
              <a:rPr lang="ru-RU" b="1" dirty="0"/>
              <a:t>немедленно</a:t>
            </a:r>
            <a:r>
              <a:rPr lang="ru-RU" dirty="0"/>
              <a:t>; </a:t>
            </a:r>
          </a:p>
          <a:p>
            <a:pPr lvl="1">
              <a:lnSpc>
                <a:spcPct val="120000"/>
              </a:lnSpc>
              <a:buSzPct val="120000"/>
            </a:pPr>
            <a:r>
              <a:rPr lang="ru-RU" b="1" dirty="0"/>
              <a:t>задерживать</a:t>
            </a:r>
            <a:r>
              <a:rPr lang="ru-RU" dirty="0"/>
              <a:t> выполнение операции, пока не будут </a:t>
            </a:r>
            <a:r>
              <a:rPr lang="ru-RU" b="1" dirty="0"/>
              <a:t>удовлетворены некоторые условия</a:t>
            </a:r>
            <a:r>
              <a:rPr lang="ru-RU" dirty="0"/>
              <a:t>, например завершение другой транзакции; </a:t>
            </a:r>
          </a:p>
          <a:p>
            <a:pPr lvl="1">
              <a:lnSpc>
                <a:spcPct val="120000"/>
              </a:lnSpc>
              <a:buSzPct val="120000"/>
            </a:pPr>
            <a:r>
              <a:rPr lang="ru-RU" b="1" dirty="0"/>
              <a:t>запрещать </a:t>
            </a:r>
            <a:r>
              <a:rPr lang="ru-RU" dirty="0"/>
              <a:t>выполнение операций, что, в силу принципа атомарности, </a:t>
            </a:r>
            <a:r>
              <a:rPr lang="ru-RU" b="1" dirty="0"/>
              <a:t>влечет за собой обрыв транзакции</a:t>
            </a:r>
            <a:r>
              <a:rPr lang="ru-RU" dirty="0"/>
              <a:t>, которая запросила выполнение этой операции.</a:t>
            </a:r>
          </a:p>
          <a:p>
            <a:pPr>
              <a:lnSpc>
                <a:spcPct val="120000"/>
              </a:lnSpc>
              <a:buSzPct val="120000"/>
              <a:buFont typeface="Wingdings" panose="05000000000000000000" pitchFamily="2" charset="2"/>
              <a:buChar char="§"/>
            </a:pPr>
            <a:r>
              <a:rPr lang="ru-RU" b="1" dirty="0"/>
              <a:t>Совокупности правил</a:t>
            </a:r>
            <a:r>
              <a:rPr lang="ru-RU" dirty="0"/>
              <a:t>, обязательных для независимых взаимодействующих участников, называются </a:t>
            </a:r>
            <a:r>
              <a:rPr lang="ru-RU" b="1" dirty="0"/>
              <a:t>протоколами</a:t>
            </a:r>
            <a:r>
              <a:rPr lang="ru-RU" dirty="0"/>
              <a:t> (в отличие от алгоритмов, предписывающих определенные действия)</a:t>
            </a:r>
          </a:p>
          <a:p>
            <a:pPr>
              <a:lnSpc>
                <a:spcPct val="120000"/>
              </a:lnSpc>
              <a:buSzPct val="120000"/>
              <a:buFont typeface="Wingdings" panose="05000000000000000000" pitchFamily="2" charset="2"/>
              <a:buChar char="§"/>
            </a:pPr>
            <a:r>
              <a:rPr lang="ru-RU" dirty="0"/>
              <a:t>Примеры протоколов: сетевые протоколы (такие, как TCP/IP или HTTP),  дипломатические протоколы. </a:t>
            </a:r>
          </a:p>
          <a:p>
            <a:pPr>
              <a:lnSpc>
                <a:spcPct val="120000"/>
              </a:lnSpc>
              <a:buSzPct val="120000"/>
              <a:buFont typeface="Wingdings" panose="05000000000000000000" pitchFamily="2" charset="2"/>
              <a:buChar char="§"/>
            </a:pPr>
            <a:r>
              <a:rPr lang="ru-RU" b="1" dirty="0"/>
              <a:t>Протоколы управления транзакциями </a:t>
            </a:r>
            <a:r>
              <a:rPr lang="ru-RU" dirty="0"/>
              <a:t>определяются так, чтобы </a:t>
            </a:r>
            <a:r>
              <a:rPr lang="ru-RU" b="1" dirty="0"/>
              <a:t>гарантировать соблюдение требований к корректности расписаний </a:t>
            </a:r>
            <a:r>
              <a:rPr lang="ru-RU" dirty="0"/>
              <a:t>при условии соблюдения правил протокола всеми транзакциями. </a:t>
            </a:r>
          </a:p>
          <a:p>
            <a:pPr>
              <a:lnSpc>
                <a:spcPct val="120000"/>
              </a:lnSpc>
              <a:buSzPct val="120000"/>
              <a:buFont typeface="Wingdings" panose="05000000000000000000" pitchFamily="2" charset="2"/>
              <a:buChar char="§"/>
            </a:pPr>
            <a:r>
              <a:rPr lang="ru-RU" dirty="0"/>
              <a:t>Диспетчер обеспечивает </a:t>
            </a:r>
            <a:r>
              <a:rPr lang="ru-RU" b="1" dirty="0"/>
              <a:t>выполнение правил протокола каждой транзакцией</a:t>
            </a:r>
            <a:r>
              <a:rPr lang="ru-RU" dirty="0"/>
              <a:t>, что в итоге приводит к </a:t>
            </a:r>
            <a:r>
              <a:rPr lang="ru-RU" b="1" dirty="0"/>
              <a:t>соблюдению требований корректности расписания в целом</a:t>
            </a:r>
            <a:r>
              <a:rPr lang="ru-RU" dirty="0"/>
              <a:t>.</a:t>
            </a:r>
            <a:endParaRPr lang="ru-RU" b="1" dirty="0"/>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p:txBody>
          <a:bodyPr/>
          <a:lstStyle/>
          <a:p>
            <a:fld id="{667D74AF-8CFA-41E7-84BA-34814A01EACF}" type="slidenum">
              <a:rPr lang="ru-RU" smtClean="0"/>
              <a:t>42</a:t>
            </a:fld>
            <a:endParaRPr lang="ru-RU"/>
          </a:p>
        </p:txBody>
      </p:sp>
    </p:spTree>
    <p:extLst>
      <p:ext uri="{BB962C8B-B14F-4D97-AF65-F5344CB8AC3E}">
        <p14:creationId xmlns:p14="http://schemas.microsoft.com/office/powerpoint/2010/main" val="35519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up)">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up)">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up)">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609600" y="274638"/>
            <a:ext cx="10972800" cy="728252"/>
          </a:xfrm>
        </p:spPr>
        <p:txBody>
          <a:bodyPr>
            <a:normAutofit fontScale="90000"/>
          </a:bodyPr>
          <a:lstStyle/>
          <a:p>
            <a:r>
              <a:rPr lang="ru-RU" dirty="0"/>
              <a:t>Требования и критерии оценки</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609599" y="1246909"/>
            <a:ext cx="11360727" cy="5474567"/>
          </a:xfrm>
        </p:spPr>
        <p:txBody>
          <a:bodyPr>
            <a:normAutofit fontScale="92500" lnSpcReduction="20000"/>
          </a:bodyPr>
          <a:lstStyle/>
          <a:p>
            <a:pPr>
              <a:lnSpc>
                <a:spcPct val="120000"/>
              </a:lnSpc>
              <a:buFont typeface="Wingdings" panose="05000000000000000000" pitchFamily="2" charset="2"/>
              <a:buChar char="§"/>
            </a:pPr>
            <a:r>
              <a:rPr lang="ru-RU" dirty="0"/>
              <a:t>Диспетчер транзакций должен обеспечить высокую производительность системы. </a:t>
            </a:r>
          </a:p>
          <a:p>
            <a:pPr>
              <a:lnSpc>
                <a:spcPct val="120000"/>
              </a:lnSpc>
              <a:buFont typeface="Wingdings" panose="05000000000000000000" pitchFamily="2" charset="2"/>
              <a:buChar char="§"/>
            </a:pPr>
            <a:r>
              <a:rPr lang="ru-RU" dirty="0"/>
              <a:t>Пусть диспетчер запускает выполнение той транзакции, операции которой начали поступать раньше остальных, а операции всех других транзакций ставит в очередь. </a:t>
            </a:r>
          </a:p>
          <a:p>
            <a:pPr>
              <a:lnSpc>
                <a:spcPct val="120000"/>
              </a:lnSpc>
              <a:buFont typeface="Wingdings" panose="05000000000000000000" pitchFamily="2" charset="2"/>
              <a:buChar char="§"/>
            </a:pPr>
            <a:r>
              <a:rPr lang="ru-RU" dirty="0"/>
              <a:t>После завершения транзакции такой диспетчер выбирает из очереди операцию, поступившую раньше других, и таким образом выбирает следующую транзакцию для выполнения. </a:t>
            </a:r>
          </a:p>
          <a:p>
            <a:pPr>
              <a:lnSpc>
                <a:spcPct val="120000"/>
              </a:lnSpc>
              <a:buFont typeface="Wingdings" panose="05000000000000000000" pitchFamily="2" charset="2"/>
              <a:buChar char="§"/>
            </a:pPr>
            <a:r>
              <a:rPr lang="ru-RU" dirty="0"/>
              <a:t>Этот диспетчер обеспечит получение на выходе серийного расписания, все критерии корректности будут выполнены</a:t>
            </a:r>
          </a:p>
          <a:p>
            <a:pPr>
              <a:lnSpc>
                <a:spcPct val="120000"/>
              </a:lnSpc>
              <a:buFont typeface="Wingdings" panose="05000000000000000000" pitchFamily="2" charset="2"/>
              <a:buChar char="§"/>
            </a:pPr>
            <a:r>
              <a:rPr lang="ru-RU" dirty="0"/>
              <a:t>Однако производительность системы будет крайне низкой из-за длительного ожидания в очереди.</a:t>
            </a:r>
            <a:endParaRPr lang="ru-RU" b="1" dirty="0">
              <a:solidFill>
                <a:schemeClr val="tx1"/>
              </a:solidFill>
            </a:endParaRP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p:txBody>
          <a:bodyPr/>
          <a:lstStyle/>
          <a:p>
            <a:fld id="{667D74AF-8CFA-41E7-84BA-34814A01EACF}" type="slidenum">
              <a:rPr lang="ru-RU" smtClean="0"/>
              <a:t>43</a:t>
            </a:fld>
            <a:endParaRPr lang="ru-RU" dirty="0"/>
          </a:p>
        </p:txBody>
      </p:sp>
    </p:spTree>
    <p:extLst>
      <p:ext uri="{BB962C8B-B14F-4D97-AF65-F5344CB8AC3E}">
        <p14:creationId xmlns:p14="http://schemas.microsoft.com/office/powerpoint/2010/main" val="2294444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609600" y="274638"/>
            <a:ext cx="10972800" cy="728252"/>
          </a:xfrm>
        </p:spPr>
        <p:txBody>
          <a:bodyPr>
            <a:normAutofit fontScale="90000"/>
          </a:bodyPr>
          <a:lstStyle/>
          <a:p>
            <a:r>
              <a:rPr lang="ru-RU" dirty="0">
                <a:solidFill>
                  <a:schemeClr val="tx1"/>
                </a:solidFill>
              </a:rPr>
              <a:t>П</a:t>
            </a:r>
            <a:r>
              <a:rPr lang="ru-RU" b="1" dirty="0">
                <a:solidFill>
                  <a:schemeClr val="tx1"/>
                </a:solidFill>
              </a:rPr>
              <a:t>ропускная способность системы</a:t>
            </a:r>
            <a:endParaRPr lang="ru-RU" dirty="0"/>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609599" y="1246909"/>
            <a:ext cx="11360727" cy="5474567"/>
          </a:xfrm>
        </p:spPr>
        <p:txBody>
          <a:bodyPr>
            <a:normAutofit fontScale="70000" lnSpcReduction="20000"/>
          </a:bodyPr>
          <a:lstStyle/>
          <a:p>
            <a:pPr>
              <a:lnSpc>
                <a:spcPct val="120000"/>
              </a:lnSpc>
              <a:buFont typeface="Wingdings" panose="05000000000000000000" pitchFamily="2" charset="2"/>
              <a:buChar char="§"/>
            </a:pPr>
            <a:r>
              <a:rPr lang="ru-RU" dirty="0">
                <a:solidFill>
                  <a:schemeClr val="tx1"/>
                </a:solidFill>
              </a:rPr>
              <a:t>Основной метрикой, определяющей качество диспетчера транзакций, является </a:t>
            </a:r>
            <a:r>
              <a:rPr lang="ru-RU" b="1" dirty="0">
                <a:solidFill>
                  <a:schemeClr val="tx1"/>
                </a:solidFill>
              </a:rPr>
              <a:t>пропускная способность системы </a:t>
            </a:r>
            <a:r>
              <a:rPr lang="ru-RU" dirty="0">
                <a:solidFill>
                  <a:schemeClr val="tx1"/>
                </a:solidFill>
              </a:rPr>
              <a:t> - количество транзакций, которые система может выполнить за единицу времени. </a:t>
            </a:r>
          </a:p>
          <a:p>
            <a:pPr>
              <a:lnSpc>
                <a:spcPct val="120000"/>
              </a:lnSpc>
              <a:buFont typeface="Wingdings" panose="05000000000000000000" pitchFamily="2" charset="2"/>
              <a:buChar char="§"/>
            </a:pPr>
            <a:r>
              <a:rPr lang="ru-RU" dirty="0">
                <a:solidFill>
                  <a:schemeClr val="tx1"/>
                </a:solidFill>
              </a:rPr>
              <a:t>Пропускная способность зависит от возможностей оборудования, от алгоритмов выполнения операций в СУБД, от сложности этих операций и от размеров транзакций. </a:t>
            </a:r>
          </a:p>
          <a:p>
            <a:pPr>
              <a:lnSpc>
                <a:spcPct val="120000"/>
              </a:lnSpc>
              <a:buFont typeface="Wingdings" panose="05000000000000000000" pitchFamily="2" charset="2"/>
              <a:buChar char="§"/>
            </a:pPr>
            <a:r>
              <a:rPr lang="ru-RU" dirty="0">
                <a:solidFill>
                  <a:schemeClr val="tx1"/>
                </a:solidFill>
              </a:rPr>
              <a:t>Кроме всех этих факторов, пропускная способность зависит и от протокола, реализуемого диспетчером</a:t>
            </a:r>
          </a:p>
          <a:p>
            <a:pPr>
              <a:lnSpc>
                <a:spcPct val="120000"/>
              </a:lnSpc>
              <a:buFont typeface="Wingdings" panose="05000000000000000000" pitchFamily="2" charset="2"/>
              <a:buChar char="§"/>
            </a:pPr>
            <a:r>
              <a:rPr lang="ru-RU" dirty="0">
                <a:solidFill>
                  <a:schemeClr val="tx1"/>
                </a:solidFill>
              </a:rPr>
              <a:t>Описанный выше диспетчер, по существу, блокирует возможность параллельного или псевдопараллельного выполнения транзакций, даже если оборудование и алгоритмы СУБД это позволяют.</a:t>
            </a:r>
          </a:p>
          <a:p>
            <a:pPr>
              <a:lnSpc>
                <a:spcPct val="120000"/>
              </a:lnSpc>
              <a:buFont typeface="Wingdings" panose="05000000000000000000" pitchFamily="2" charset="2"/>
              <a:buChar char="§"/>
            </a:pPr>
            <a:r>
              <a:rPr lang="ru-RU" dirty="0">
                <a:solidFill>
                  <a:schemeClr val="tx1"/>
                </a:solidFill>
              </a:rPr>
              <a:t>Для практического измерения влияния свойств протоколов на пропускную способность используются эталонные тесты (</a:t>
            </a:r>
            <a:r>
              <a:rPr lang="ru-RU" dirty="0" err="1">
                <a:solidFill>
                  <a:schemeClr val="tx1"/>
                </a:solidFill>
              </a:rPr>
              <a:t>benchmarks</a:t>
            </a:r>
            <a:r>
              <a:rPr lang="ru-RU" dirty="0">
                <a:solidFill>
                  <a:schemeClr val="tx1"/>
                </a:solidFill>
              </a:rPr>
              <a:t>), в которых все остальные параметры, влияющие на пропускную способность, зафиксированы.</a:t>
            </a:r>
          </a:p>
          <a:p>
            <a:pPr>
              <a:lnSpc>
                <a:spcPct val="120000"/>
              </a:lnSpc>
              <a:buFont typeface="Wingdings" panose="05000000000000000000" pitchFamily="2" charset="2"/>
              <a:buChar char="§"/>
            </a:pPr>
            <a:r>
              <a:rPr lang="ru-RU" dirty="0">
                <a:solidFill>
                  <a:schemeClr val="tx1"/>
                </a:solidFill>
              </a:rPr>
              <a:t>Обычно эталонный тест предписывает определенную структуру и размеры базы данных, типы и размеры транзакций, поток которых поступает в систему при выполнении эталонного теста</a:t>
            </a:r>
            <a:endParaRPr lang="ru-RU" b="1" dirty="0">
              <a:solidFill>
                <a:schemeClr val="tx1"/>
              </a:solidFill>
            </a:endParaRP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p:txBody>
          <a:bodyPr/>
          <a:lstStyle/>
          <a:p>
            <a:fld id="{667D74AF-8CFA-41E7-84BA-34814A01EACF}" type="slidenum">
              <a:rPr lang="ru-RU" smtClean="0"/>
              <a:t>44</a:t>
            </a:fld>
            <a:endParaRPr lang="ru-RU" dirty="0"/>
          </a:p>
        </p:txBody>
      </p:sp>
    </p:spTree>
    <p:extLst>
      <p:ext uri="{BB962C8B-B14F-4D97-AF65-F5344CB8AC3E}">
        <p14:creationId xmlns:p14="http://schemas.microsoft.com/office/powerpoint/2010/main" val="2227405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up)">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609600" y="136524"/>
            <a:ext cx="10972800" cy="565117"/>
          </a:xfrm>
        </p:spPr>
        <p:txBody>
          <a:bodyPr>
            <a:normAutofit fontScale="90000"/>
          </a:bodyPr>
          <a:lstStyle/>
          <a:p>
            <a:r>
              <a:rPr lang="ru-RU" dirty="0"/>
              <a:t>Обрывы транзакций и горячие точки</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609600" y="701642"/>
            <a:ext cx="11352246" cy="6156358"/>
          </a:xfrm>
        </p:spPr>
        <p:txBody>
          <a:bodyPr>
            <a:normAutofit fontScale="70000" lnSpcReduction="20000"/>
          </a:bodyPr>
          <a:lstStyle/>
          <a:p>
            <a:pPr>
              <a:lnSpc>
                <a:spcPct val="120000"/>
              </a:lnSpc>
              <a:buFont typeface="Wingdings" panose="05000000000000000000" pitchFamily="2" charset="2"/>
              <a:buChar char="§"/>
            </a:pPr>
            <a:r>
              <a:rPr lang="ru-RU" dirty="0">
                <a:solidFill>
                  <a:schemeClr val="tx1"/>
                </a:solidFill>
              </a:rPr>
              <a:t>Другой важной метрикой является </a:t>
            </a:r>
            <a:r>
              <a:rPr lang="ru-RU" b="1" dirty="0">
                <a:solidFill>
                  <a:schemeClr val="tx1"/>
                </a:solidFill>
              </a:rPr>
              <a:t>доля транзакций, которые завершаются обрывом </a:t>
            </a:r>
            <a:r>
              <a:rPr lang="ru-RU" dirty="0">
                <a:solidFill>
                  <a:schemeClr val="tx1"/>
                </a:solidFill>
              </a:rPr>
              <a:t>из-за невозможности включить их в расписание, не нарушая правил протокола. </a:t>
            </a:r>
          </a:p>
          <a:p>
            <a:pPr>
              <a:lnSpc>
                <a:spcPct val="120000"/>
              </a:lnSpc>
              <a:buFont typeface="Wingdings" panose="05000000000000000000" pitchFamily="2" charset="2"/>
              <a:buChar char="§"/>
            </a:pPr>
            <a:r>
              <a:rPr lang="ru-RU" dirty="0">
                <a:solidFill>
                  <a:schemeClr val="tx1"/>
                </a:solidFill>
              </a:rPr>
              <a:t>Такие обрывы нежелательны, потому что </a:t>
            </a:r>
          </a:p>
          <a:p>
            <a:pPr marL="914400" lvl="1" indent="-514350">
              <a:lnSpc>
                <a:spcPct val="120000"/>
              </a:lnSpc>
              <a:buSzPct val="80000"/>
              <a:buFont typeface="+mj-lt"/>
              <a:buAutoNum type="arabicPeriod"/>
            </a:pPr>
            <a:r>
              <a:rPr lang="ru-RU" dirty="0">
                <a:solidFill>
                  <a:schemeClr val="tx1"/>
                </a:solidFill>
              </a:rPr>
              <a:t>они снижают фактическую пропускную способность системы</a:t>
            </a:r>
          </a:p>
          <a:p>
            <a:pPr marL="914400" lvl="1" indent="-514350">
              <a:lnSpc>
                <a:spcPct val="120000"/>
              </a:lnSpc>
              <a:buSzPct val="80000"/>
              <a:buFont typeface="+mj-lt"/>
              <a:buAutoNum type="arabicPeriod"/>
            </a:pPr>
            <a:r>
              <a:rPr lang="ru-RU" dirty="0">
                <a:solidFill>
                  <a:schemeClr val="tx1"/>
                </a:solidFill>
              </a:rPr>
              <a:t>на выполнение оборванных транзакций затрачиваются вычислительные ресурсы, а результаты выполнения при этом уничтожаются. </a:t>
            </a:r>
          </a:p>
          <a:p>
            <a:pPr>
              <a:lnSpc>
                <a:spcPct val="120000"/>
              </a:lnSpc>
              <a:buFont typeface="Wingdings" panose="05000000000000000000" pitchFamily="2" charset="2"/>
              <a:buChar char="§"/>
            </a:pPr>
            <a:r>
              <a:rPr lang="ru-RU" dirty="0">
                <a:solidFill>
                  <a:schemeClr val="tx1"/>
                </a:solidFill>
              </a:rPr>
              <a:t>Доля обрывов также зависит от многих параметров, поэтому и ее измеряют на эталонных тестах.</a:t>
            </a:r>
          </a:p>
          <a:p>
            <a:pPr>
              <a:lnSpc>
                <a:spcPct val="120000"/>
              </a:lnSpc>
              <a:buFont typeface="Wingdings" panose="05000000000000000000" pitchFamily="2" charset="2"/>
              <a:buChar char="§"/>
            </a:pPr>
            <a:r>
              <a:rPr lang="ru-RU" b="1" dirty="0">
                <a:solidFill>
                  <a:schemeClr val="tx1"/>
                </a:solidFill>
              </a:rPr>
              <a:t>Обе характеристики протоколов </a:t>
            </a:r>
            <a:r>
              <a:rPr lang="ru-RU" dirty="0">
                <a:solidFill>
                  <a:schemeClr val="tx1"/>
                </a:solidFill>
              </a:rPr>
              <a:t>(пропускная способность и доля обрывов) зависят от того, как соотносятся по размеру </a:t>
            </a:r>
            <a:r>
              <a:rPr lang="ru-RU" b="1" dirty="0">
                <a:solidFill>
                  <a:schemeClr val="tx1"/>
                </a:solidFill>
              </a:rPr>
              <a:t>активная часть базы данных </a:t>
            </a:r>
            <a:r>
              <a:rPr lang="ru-RU" dirty="0">
                <a:solidFill>
                  <a:schemeClr val="tx1"/>
                </a:solidFill>
              </a:rPr>
              <a:t>(то множество элементов данных, которые обрабатываются операциями транзакций) и </a:t>
            </a:r>
            <a:r>
              <a:rPr lang="ru-RU" b="1" dirty="0">
                <a:solidFill>
                  <a:schemeClr val="tx1"/>
                </a:solidFill>
              </a:rPr>
              <a:t>размеры транзакций</a:t>
            </a:r>
            <a:r>
              <a:rPr lang="ru-RU" dirty="0">
                <a:solidFill>
                  <a:schemeClr val="tx1"/>
                </a:solidFill>
              </a:rPr>
              <a:t>.</a:t>
            </a:r>
          </a:p>
          <a:p>
            <a:pPr>
              <a:lnSpc>
                <a:spcPct val="120000"/>
              </a:lnSpc>
              <a:buFont typeface="Wingdings" panose="05000000000000000000" pitchFamily="2" charset="2"/>
              <a:buChar char="§"/>
            </a:pPr>
            <a:r>
              <a:rPr lang="ru-RU" dirty="0">
                <a:solidFill>
                  <a:schemeClr val="tx1"/>
                </a:solidFill>
              </a:rPr>
              <a:t>Чем меньше база данных и чем длиннее транзакции, тем чаще одновременное выполнение таких транзакций оказывается невозможным. </a:t>
            </a:r>
          </a:p>
          <a:p>
            <a:pPr>
              <a:lnSpc>
                <a:spcPct val="120000"/>
              </a:lnSpc>
              <a:buFont typeface="Wingdings" panose="05000000000000000000" pitchFamily="2" charset="2"/>
              <a:buChar char="§"/>
            </a:pPr>
            <a:r>
              <a:rPr lang="ru-RU" dirty="0">
                <a:solidFill>
                  <a:schemeClr val="tx1"/>
                </a:solidFill>
              </a:rPr>
              <a:t>В реальных базах данных </a:t>
            </a:r>
            <a:r>
              <a:rPr lang="ru-RU" b="1" dirty="0">
                <a:solidFill>
                  <a:schemeClr val="tx1"/>
                </a:solidFill>
              </a:rPr>
              <a:t>активность всех элементов данных не может быть одинаковой</a:t>
            </a:r>
          </a:p>
          <a:p>
            <a:pPr>
              <a:lnSpc>
                <a:spcPct val="120000"/>
              </a:lnSpc>
              <a:buFont typeface="Wingdings" panose="05000000000000000000" pitchFamily="2" charset="2"/>
              <a:buChar char="§"/>
            </a:pPr>
            <a:r>
              <a:rPr lang="ru-RU" dirty="0">
                <a:solidFill>
                  <a:schemeClr val="tx1"/>
                </a:solidFill>
              </a:rPr>
              <a:t>Однако наличие элементов</a:t>
            </a:r>
            <a:r>
              <a:rPr lang="ru-RU" b="1" dirty="0">
                <a:solidFill>
                  <a:schemeClr val="tx1"/>
                </a:solidFill>
              </a:rPr>
              <a:t>, которые очень часто обновляются очень многими транзакциями </a:t>
            </a:r>
            <a:r>
              <a:rPr lang="ru-RU" dirty="0">
                <a:solidFill>
                  <a:schemeClr val="tx1"/>
                </a:solidFill>
              </a:rPr>
              <a:t>(такие элементы называются горячими точками, </a:t>
            </a:r>
            <a:r>
              <a:rPr lang="ru-RU" dirty="0" err="1">
                <a:solidFill>
                  <a:schemeClr val="tx1"/>
                </a:solidFill>
              </a:rPr>
              <a:t>hot</a:t>
            </a:r>
            <a:r>
              <a:rPr lang="ru-RU" dirty="0">
                <a:solidFill>
                  <a:schemeClr val="tx1"/>
                </a:solidFill>
              </a:rPr>
              <a:t> </a:t>
            </a:r>
            <a:r>
              <a:rPr lang="ru-RU" dirty="0" err="1">
                <a:solidFill>
                  <a:schemeClr val="tx1"/>
                </a:solidFill>
              </a:rPr>
              <a:t>spots</a:t>
            </a:r>
            <a:r>
              <a:rPr lang="ru-RU" dirty="0">
                <a:solidFill>
                  <a:schemeClr val="tx1"/>
                </a:solidFill>
              </a:rPr>
              <a:t>) может существенно ухудшить фактические значения характеристик системы. </a:t>
            </a:r>
          </a:p>
          <a:p>
            <a:pPr>
              <a:lnSpc>
                <a:spcPct val="120000"/>
              </a:lnSpc>
              <a:buFont typeface="Wingdings" panose="05000000000000000000" pitchFamily="2" charset="2"/>
              <a:buChar char="§"/>
            </a:pPr>
            <a:r>
              <a:rPr lang="ru-RU" dirty="0">
                <a:solidFill>
                  <a:schemeClr val="tx1"/>
                </a:solidFill>
              </a:rPr>
              <a:t>Принято считать, что </a:t>
            </a:r>
            <a:r>
              <a:rPr lang="ru-RU" b="1" dirty="0">
                <a:solidFill>
                  <a:schemeClr val="tx1"/>
                </a:solidFill>
              </a:rPr>
              <a:t>наличие таких горячих точек указывает на неудачное проектирование базы данных.</a:t>
            </a: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8737600" y="6356351"/>
            <a:ext cx="2666482" cy="3651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p:txBody>
          <a:bodyPr/>
          <a:lstStyle/>
          <a:p>
            <a:fld id="{667D74AF-8CFA-41E7-84BA-34814A01EACF}" type="slidenum">
              <a:rPr lang="ru-RU" smtClean="0"/>
              <a:t>45</a:t>
            </a:fld>
            <a:endParaRPr lang="ru-RU" dirty="0"/>
          </a:p>
        </p:txBody>
      </p:sp>
    </p:spTree>
    <p:extLst>
      <p:ext uri="{BB962C8B-B14F-4D97-AF65-F5344CB8AC3E}">
        <p14:creationId xmlns:p14="http://schemas.microsoft.com/office/powerpoint/2010/main" val="1391721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down)">
                                      <p:cBhvr>
                                        <p:cTn id="15" dur="500"/>
                                        <p:tgtEl>
                                          <p:spTgt spid="3">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down)">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wipe(down)">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wipe(down)">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wipe(down)">
                                      <p:cBhvr>
                                        <p:cTn id="38" dur="500"/>
                                        <p:tgtEl>
                                          <p:spTgt spid="3">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wipe(down)">
                                      <p:cBhvr>
                                        <p:cTn id="43" dur="500"/>
                                        <p:tgtEl>
                                          <p:spTgt spid="3">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3">
                                            <p:txEl>
                                              <p:pRg st="9" end="9"/>
                                            </p:txEl>
                                          </p:spTgt>
                                        </p:tgtEl>
                                        <p:attrNameLst>
                                          <p:attrName>style.visibility</p:attrName>
                                        </p:attrNameLst>
                                      </p:cBhvr>
                                      <p:to>
                                        <p:strVal val="visible"/>
                                      </p:to>
                                    </p:set>
                                    <p:animEffect transition="in" filter="wipe(down)">
                                      <p:cBhvr>
                                        <p:cTn id="4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609600" y="136524"/>
            <a:ext cx="10972800" cy="565117"/>
          </a:xfrm>
        </p:spPr>
        <p:txBody>
          <a:bodyPr>
            <a:noAutofit/>
          </a:bodyPr>
          <a:lstStyle/>
          <a:p>
            <a:r>
              <a:rPr lang="ru-RU" sz="3200" dirty="0"/>
              <a:t>Консервативные и неконсервативные протоколы</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609600" y="701642"/>
            <a:ext cx="11352246" cy="6156358"/>
          </a:xfrm>
        </p:spPr>
        <p:txBody>
          <a:bodyPr>
            <a:normAutofit/>
          </a:bodyPr>
          <a:lstStyle/>
          <a:p>
            <a:pPr>
              <a:lnSpc>
                <a:spcPct val="120000"/>
              </a:lnSpc>
              <a:buFont typeface="Wingdings" panose="05000000000000000000" pitchFamily="2" charset="2"/>
              <a:buChar char="§"/>
            </a:pPr>
            <a:r>
              <a:rPr lang="ru-RU" dirty="0"/>
              <a:t>Протоколы, предотвращающие появление нежелательных (скажем, </a:t>
            </a:r>
            <a:r>
              <a:rPr lang="ru-RU" dirty="0" err="1"/>
              <a:t>несериализуемых</a:t>
            </a:r>
            <a:r>
              <a:rPr lang="ru-RU" dirty="0"/>
              <a:t>) расписаний, называются </a:t>
            </a:r>
            <a:r>
              <a:rPr lang="ru-RU" b="1" dirty="0"/>
              <a:t>консервативными</a:t>
            </a:r>
            <a:r>
              <a:rPr lang="ru-RU" dirty="0"/>
              <a:t>.</a:t>
            </a:r>
          </a:p>
          <a:p>
            <a:pPr>
              <a:lnSpc>
                <a:spcPct val="120000"/>
              </a:lnSpc>
              <a:buFont typeface="Wingdings" panose="05000000000000000000" pitchFamily="2" charset="2"/>
              <a:buChar char="§"/>
            </a:pPr>
            <a:r>
              <a:rPr lang="ru-RU" dirty="0"/>
              <a:t>Такие протоколы тем или иным способом задерживают выполнение некоторых транзакций и тем самым снижают пропускную способность системы.</a:t>
            </a:r>
          </a:p>
          <a:p>
            <a:pPr>
              <a:lnSpc>
                <a:spcPct val="120000"/>
              </a:lnSpc>
              <a:buFont typeface="Wingdings" panose="05000000000000000000" pitchFamily="2" charset="2"/>
              <a:buChar char="§"/>
            </a:pPr>
            <a:r>
              <a:rPr lang="ru-RU" b="1" dirty="0"/>
              <a:t>Неконсервативные</a:t>
            </a:r>
            <a:r>
              <a:rPr lang="ru-RU" dirty="0"/>
              <a:t> протоколы позволяют увеличить степень параллелизма при выполнении транзакций</a:t>
            </a:r>
          </a:p>
          <a:p>
            <a:pPr>
              <a:lnSpc>
                <a:spcPct val="120000"/>
              </a:lnSpc>
              <a:buFont typeface="Wingdings" panose="05000000000000000000" pitchFamily="2" charset="2"/>
              <a:buChar char="§"/>
            </a:pPr>
            <a:r>
              <a:rPr lang="ru-RU" dirty="0"/>
              <a:t>Они </a:t>
            </a:r>
            <a:r>
              <a:rPr lang="ru-RU" b="1" dirty="0"/>
              <a:t>могут увеличивать долю обрывов </a:t>
            </a:r>
            <a:r>
              <a:rPr lang="ru-RU" dirty="0"/>
              <a:t>из-за невозможности удовлетворить требования протокола. </a:t>
            </a:r>
          </a:p>
          <a:p>
            <a:pPr>
              <a:lnSpc>
                <a:spcPct val="120000"/>
              </a:lnSpc>
              <a:buFont typeface="Wingdings" panose="05000000000000000000" pitchFamily="2" charset="2"/>
              <a:buChar char="§"/>
            </a:pPr>
            <a:r>
              <a:rPr lang="ru-RU" dirty="0"/>
              <a:t>Заметим, что </a:t>
            </a:r>
            <a:r>
              <a:rPr lang="ru-RU" b="1" dirty="0"/>
              <a:t>консервативность не предотвращает полностью необходимость протокольных обрывов</a:t>
            </a:r>
            <a:r>
              <a:rPr lang="ru-RU" dirty="0"/>
              <a:t>.</a:t>
            </a:r>
            <a:endParaRPr lang="ru-RU" b="1" dirty="0">
              <a:solidFill>
                <a:schemeClr val="tx1"/>
              </a:solidFill>
            </a:endParaRP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8737600" y="6356351"/>
            <a:ext cx="2666482" cy="3651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p:txBody>
          <a:bodyPr/>
          <a:lstStyle/>
          <a:p>
            <a:fld id="{667D74AF-8CFA-41E7-84BA-34814A01EACF}" type="slidenum">
              <a:rPr lang="ru-RU" smtClean="0"/>
              <a:t>46</a:t>
            </a:fld>
            <a:endParaRPr lang="ru-RU" dirty="0"/>
          </a:p>
        </p:txBody>
      </p:sp>
    </p:spTree>
    <p:extLst>
      <p:ext uri="{BB962C8B-B14F-4D97-AF65-F5344CB8AC3E}">
        <p14:creationId xmlns:p14="http://schemas.microsoft.com/office/powerpoint/2010/main" val="1406952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609600" y="136524"/>
            <a:ext cx="10972800" cy="565117"/>
          </a:xfrm>
        </p:spPr>
        <p:txBody>
          <a:bodyPr>
            <a:noAutofit/>
          </a:bodyPr>
          <a:lstStyle/>
          <a:p>
            <a:r>
              <a:rPr lang="ru-RU" dirty="0"/>
              <a:t>Блокировки</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609600" y="701642"/>
            <a:ext cx="11352246" cy="6156358"/>
          </a:xfrm>
        </p:spPr>
        <p:txBody>
          <a:bodyPr>
            <a:normAutofit fontScale="85000" lnSpcReduction="20000"/>
          </a:bodyPr>
          <a:lstStyle/>
          <a:p>
            <a:pPr>
              <a:lnSpc>
                <a:spcPct val="120000"/>
              </a:lnSpc>
              <a:buFont typeface="Wingdings" panose="05000000000000000000" pitchFamily="2" charset="2"/>
              <a:buChar char="§"/>
            </a:pPr>
            <a:r>
              <a:rPr lang="ru-RU" dirty="0"/>
              <a:t>Большинство диспетчеров, реализованных в промышленных системах управления базами данных, для управления операциями транзакций использует </a:t>
            </a:r>
            <a:r>
              <a:rPr lang="ru-RU" b="1" dirty="0"/>
              <a:t>блокировки (</a:t>
            </a:r>
            <a:r>
              <a:rPr lang="ru-RU" b="1" dirty="0" err="1"/>
              <a:t>locks</a:t>
            </a:r>
            <a:r>
              <a:rPr lang="ru-RU" b="1" dirty="0"/>
              <a:t>), </a:t>
            </a:r>
            <a:r>
              <a:rPr lang="ru-RU" dirty="0"/>
              <a:t>называемые также </a:t>
            </a:r>
            <a:r>
              <a:rPr lang="en-US" dirty="0"/>
              <a:t>“</a:t>
            </a:r>
            <a:r>
              <a:rPr lang="ru-RU" b="1" dirty="0"/>
              <a:t>замками</a:t>
            </a:r>
            <a:r>
              <a:rPr lang="en-US" dirty="0"/>
              <a:t>”</a:t>
            </a:r>
            <a:r>
              <a:rPr lang="ru-RU" dirty="0"/>
              <a:t>.</a:t>
            </a:r>
          </a:p>
          <a:p>
            <a:pPr>
              <a:lnSpc>
                <a:spcPct val="120000"/>
              </a:lnSpc>
              <a:buFont typeface="Wingdings" panose="05000000000000000000" pitchFamily="2" charset="2"/>
              <a:buChar char="§"/>
            </a:pPr>
            <a:r>
              <a:rPr lang="ru-RU" dirty="0"/>
              <a:t>Каждая </a:t>
            </a:r>
            <a:r>
              <a:rPr lang="ru-RU" b="1" dirty="0"/>
              <a:t>блокировка связана с некоторым объектом базы данных </a:t>
            </a:r>
            <a:r>
              <a:rPr lang="ru-RU" dirty="0"/>
              <a:t>(иногда с набором объектов) и </a:t>
            </a:r>
            <a:r>
              <a:rPr lang="ru-RU" b="1" dirty="0"/>
              <a:t>с операцией</a:t>
            </a:r>
            <a:r>
              <a:rPr lang="ru-RU" dirty="0"/>
              <a:t>, которая должна быть выполнена над этим объектом. </a:t>
            </a:r>
          </a:p>
          <a:p>
            <a:pPr>
              <a:lnSpc>
                <a:spcPct val="120000"/>
              </a:lnSpc>
              <a:buFont typeface="Wingdings" panose="05000000000000000000" pitchFamily="2" charset="2"/>
              <a:buChar char="§"/>
            </a:pPr>
            <a:r>
              <a:rPr lang="ru-RU" dirty="0"/>
              <a:t>В простейшей модели базы данных </a:t>
            </a:r>
            <a:r>
              <a:rPr lang="ru-RU" b="1" dirty="0"/>
              <a:t>объектом является элемент данных</a:t>
            </a:r>
            <a:r>
              <a:rPr lang="ru-RU" dirty="0"/>
              <a:t>, а операцией — </a:t>
            </a:r>
            <a:r>
              <a:rPr lang="ru-RU" b="1" dirty="0"/>
              <a:t>чтение или запись</a:t>
            </a:r>
            <a:r>
              <a:rPr lang="ru-RU" dirty="0"/>
              <a:t>. </a:t>
            </a:r>
          </a:p>
          <a:p>
            <a:pPr>
              <a:lnSpc>
                <a:spcPct val="120000"/>
              </a:lnSpc>
              <a:buFont typeface="Wingdings" panose="05000000000000000000" pitchFamily="2" charset="2"/>
              <a:buChar char="§"/>
            </a:pPr>
            <a:r>
              <a:rPr lang="ru-RU" dirty="0"/>
              <a:t>Если для некоторой операции используется </a:t>
            </a:r>
            <a:r>
              <a:rPr lang="ru-RU" b="1" dirty="0"/>
              <a:t>блокировка</a:t>
            </a:r>
            <a:r>
              <a:rPr lang="ru-RU" dirty="0"/>
              <a:t>, то </a:t>
            </a:r>
            <a:endParaRPr lang="en-US" dirty="0"/>
          </a:p>
          <a:p>
            <a:pPr lvl="1">
              <a:lnSpc>
                <a:spcPct val="120000"/>
              </a:lnSpc>
              <a:buFont typeface="Wingdings" panose="05000000000000000000" pitchFamily="2" charset="2"/>
              <a:buChar char="ü"/>
            </a:pPr>
            <a:r>
              <a:rPr lang="ru-RU" dirty="0"/>
              <a:t>она </a:t>
            </a:r>
            <a:r>
              <a:rPr lang="ru-RU" b="1" dirty="0"/>
              <a:t>устанавливается диспетчером до выполнения этой операции </a:t>
            </a:r>
            <a:r>
              <a:rPr lang="ru-RU" dirty="0"/>
              <a:t>(не обязательно непосредственно перед операцией)</a:t>
            </a:r>
            <a:endParaRPr lang="en-US" dirty="0"/>
          </a:p>
          <a:p>
            <a:pPr lvl="1">
              <a:lnSpc>
                <a:spcPct val="120000"/>
              </a:lnSpc>
              <a:buFont typeface="Wingdings" panose="05000000000000000000" pitchFamily="2" charset="2"/>
              <a:buChar char="ü"/>
            </a:pPr>
            <a:r>
              <a:rPr lang="ru-RU" b="1" dirty="0"/>
              <a:t>должна быть снята после завершения операции</a:t>
            </a:r>
            <a:r>
              <a:rPr lang="ru-RU" dirty="0"/>
              <a:t> и не позже, чем во время </a:t>
            </a:r>
            <a:r>
              <a:rPr lang="ru-RU" b="1" dirty="0"/>
              <a:t>завершения транзакции</a:t>
            </a:r>
            <a:r>
              <a:rPr lang="ru-RU" dirty="0"/>
              <a:t>. </a:t>
            </a:r>
          </a:p>
          <a:p>
            <a:pPr>
              <a:lnSpc>
                <a:spcPct val="120000"/>
              </a:lnSpc>
              <a:buFont typeface="Wingdings" panose="05000000000000000000" pitchFamily="2" charset="2"/>
              <a:buChar char="§"/>
            </a:pPr>
            <a:r>
              <a:rPr lang="ru-RU" b="1" dirty="0"/>
              <a:t>Все блокировки</a:t>
            </a:r>
            <a:r>
              <a:rPr lang="ru-RU" dirty="0"/>
              <a:t>, установленные для транзакции, </a:t>
            </a:r>
            <a:r>
              <a:rPr lang="ru-RU" b="1" dirty="0"/>
              <a:t>снимаются при ее завершении</a:t>
            </a:r>
            <a:r>
              <a:rPr lang="ru-RU" dirty="0"/>
              <a:t>, если они не были сняты раньше. </a:t>
            </a: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8737600" y="6356351"/>
            <a:ext cx="2666482" cy="3651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p:txBody>
          <a:bodyPr/>
          <a:lstStyle/>
          <a:p>
            <a:fld id="{667D74AF-8CFA-41E7-84BA-34814A01EACF}" type="slidenum">
              <a:rPr lang="ru-RU" smtClean="0"/>
              <a:t>47</a:t>
            </a:fld>
            <a:endParaRPr lang="ru-RU" dirty="0"/>
          </a:p>
        </p:txBody>
      </p:sp>
    </p:spTree>
    <p:extLst>
      <p:ext uri="{BB962C8B-B14F-4D97-AF65-F5344CB8AC3E}">
        <p14:creationId xmlns:p14="http://schemas.microsoft.com/office/powerpoint/2010/main" val="3866275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down)">
                                      <p:cBhvr>
                                        <p:cTn id="25" dur="500"/>
                                        <p:tgtEl>
                                          <p:spTgt spid="3">
                                            <p:txEl>
                                              <p:pRg st="4" end="4"/>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wipe(down)">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wipe(down)">
                                      <p:cBhvr>
                                        <p:cTn id="3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609600" y="136524"/>
            <a:ext cx="10972800" cy="565117"/>
          </a:xfrm>
        </p:spPr>
        <p:txBody>
          <a:bodyPr>
            <a:noAutofit/>
          </a:bodyPr>
          <a:lstStyle/>
          <a:p>
            <a:r>
              <a:rPr lang="ru-RU" dirty="0"/>
              <a:t>Блокировки</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609600" y="701642"/>
            <a:ext cx="11352246" cy="6156358"/>
          </a:xfrm>
        </p:spPr>
        <p:txBody>
          <a:bodyPr>
            <a:normAutofit lnSpcReduction="10000"/>
          </a:bodyPr>
          <a:lstStyle/>
          <a:p>
            <a:pPr>
              <a:lnSpc>
                <a:spcPct val="120000"/>
              </a:lnSpc>
              <a:buFont typeface="Wingdings" panose="05000000000000000000" pitchFamily="2" charset="2"/>
              <a:buChar char="§"/>
            </a:pPr>
            <a:r>
              <a:rPr lang="ru-RU" dirty="0"/>
              <a:t>Блокировки могут быть </a:t>
            </a:r>
            <a:r>
              <a:rPr lang="ru-RU" b="1" dirty="0"/>
              <a:t>совместимыми или несовместимыми </a:t>
            </a:r>
            <a:r>
              <a:rPr lang="ru-RU" dirty="0"/>
              <a:t>друг с другом. </a:t>
            </a:r>
          </a:p>
          <a:p>
            <a:pPr>
              <a:lnSpc>
                <a:spcPct val="120000"/>
              </a:lnSpc>
              <a:buFont typeface="Wingdings" panose="05000000000000000000" pitchFamily="2" charset="2"/>
              <a:buChar char="§"/>
            </a:pPr>
            <a:r>
              <a:rPr lang="ru-RU" dirty="0"/>
              <a:t>Допускается </a:t>
            </a:r>
          </a:p>
          <a:p>
            <a:pPr lvl="1">
              <a:lnSpc>
                <a:spcPct val="120000"/>
              </a:lnSpc>
              <a:buFont typeface="Wingdings" panose="05000000000000000000" pitchFamily="2" charset="2"/>
              <a:buChar char="ü"/>
            </a:pPr>
            <a:r>
              <a:rPr lang="ru-RU" b="1" dirty="0"/>
              <a:t>одновременная установка совместимых блокировок </a:t>
            </a:r>
            <a:r>
              <a:rPr lang="ru-RU" dirty="0"/>
              <a:t>разными транзакциями,</a:t>
            </a:r>
          </a:p>
          <a:p>
            <a:pPr lvl="1">
              <a:lnSpc>
                <a:spcPct val="120000"/>
              </a:lnSpc>
              <a:buFont typeface="Wingdings" panose="05000000000000000000" pitchFamily="2" charset="2"/>
              <a:buChar char="ü"/>
            </a:pPr>
            <a:r>
              <a:rPr lang="ru-RU" b="1" dirty="0"/>
              <a:t>попытка установить блокировку, несовместимую с уже установленной</a:t>
            </a:r>
            <a:r>
              <a:rPr lang="ru-RU" dirty="0"/>
              <a:t>, обычно приводит к тому, что транзакция </a:t>
            </a:r>
            <a:r>
              <a:rPr lang="ru-RU" b="1" dirty="0"/>
              <a:t>переводится в состояние ожидания </a:t>
            </a:r>
            <a:r>
              <a:rPr lang="ru-RU" dirty="0"/>
              <a:t>(ставится в очередь) и </a:t>
            </a:r>
            <a:r>
              <a:rPr lang="ru-RU" b="1" dirty="0"/>
              <a:t>выводится из ожидания</a:t>
            </a:r>
            <a:r>
              <a:rPr lang="ru-RU" dirty="0"/>
              <a:t>, когда </a:t>
            </a:r>
            <a:r>
              <a:rPr lang="ru-RU" b="1" dirty="0"/>
              <a:t>все ранее установленные несовместимые блокировки снимаются</a:t>
            </a:r>
            <a:r>
              <a:rPr lang="ru-RU" dirty="0"/>
              <a:t>. </a:t>
            </a:r>
          </a:p>
          <a:p>
            <a:pPr>
              <a:lnSpc>
                <a:spcPct val="120000"/>
              </a:lnSpc>
              <a:buFont typeface="Wingdings" panose="05000000000000000000" pitchFamily="2" charset="2"/>
              <a:buChar char="§"/>
            </a:pPr>
            <a:r>
              <a:rPr lang="ru-RU" dirty="0"/>
              <a:t>Некоторые протоколы могут </a:t>
            </a:r>
            <a:r>
              <a:rPr lang="ru-RU" b="1" dirty="0"/>
              <a:t>обрывать транзакции при попытке установить несовместимую блокировку.</a:t>
            </a:r>
            <a:endParaRPr lang="ru-RU" b="1" dirty="0">
              <a:solidFill>
                <a:schemeClr val="tx1"/>
              </a:solidFill>
            </a:endParaRP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8737600" y="6356351"/>
            <a:ext cx="2666482" cy="3651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p:txBody>
          <a:bodyPr/>
          <a:lstStyle/>
          <a:p>
            <a:fld id="{667D74AF-8CFA-41E7-84BA-34814A01EACF}" type="slidenum">
              <a:rPr lang="ru-RU" smtClean="0"/>
              <a:t>48</a:t>
            </a:fld>
            <a:endParaRPr lang="ru-RU" dirty="0"/>
          </a:p>
        </p:txBody>
      </p:sp>
    </p:spTree>
    <p:extLst>
      <p:ext uri="{BB962C8B-B14F-4D97-AF65-F5344CB8AC3E}">
        <p14:creationId xmlns:p14="http://schemas.microsoft.com/office/powerpoint/2010/main" val="327877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up)">
                                      <p:cBhvr>
                                        <p:cTn id="15" dur="500"/>
                                        <p:tgtEl>
                                          <p:spTgt spid="3">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up)">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up)">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609600" y="136524"/>
            <a:ext cx="10972800" cy="565117"/>
          </a:xfrm>
        </p:spPr>
        <p:txBody>
          <a:bodyPr>
            <a:noAutofit/>
          </a:bodyPr>
          <a:lstStyle/>
          <a:p>
            <a:r>
              <a:rPr lang="ru-RU" dirty="0"/>
              <a:t>Блокировки и семафоры</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270933" y="701642"/>
            <a:ext cx="11690913" cy="6156358"/>
          </a:xfrm>
        </p:spPr>
        <p:txBody>
          <a:bodyPr>
            <a:normAutofit/>
          </a:bodyPr>
          <a:lstStyle/>
          <a:p>
            <a:pPr>
              <a:lnSpc>
                <a:spcPct val="120000"/>
              </a:lnSpc>
              <a:buFont typeface="Wingdings" panose="05000000000000000000" pitchFamily="2" charset="2"/>
              <a:buChar char="§"/>
            </a:pPr>
            <a:r>
              <a:rPr lang="ru-RU" dirty="0"/>
              <a:t>Механизмы, близкие по назначению к блокировкам, используются не только в СУБД. </a:t>
            </a:r>
            <a:endParaRPr lang="en-US" dirty="0"/>
          </a:p>
          <a:p>
            <a:pPr>
              <a:lnSpc>
                <a:spcPct val="120000"/>
              </a:lnSpc>
              <a:buFont typeface="Wingdings" panose="05000000000000000000" pitchFamily="2" charset="2"/>
              <a:buChar char="§"/>
            </a:pPr>
            <a:r>
              <a:rPr lang="ru-RU" dirty="0"/>
              <a:t>Важное отличие </a:t>
            </a:r>
            <a:r>
              <a:rPr lang="ru-RU" b="1" dirty="0"/>
              <a:t>блокировок </a:t>
            </a:r>
            <a:r>
              <a:rPr lang="ru-RU" dirty="0"/>
              <a:t>от таких примитивов синхронизации параллельных процессов, как </a:t>
            </a:r>
            <a:r>
              <a:rPr lang="ru-RU" b="1" dirty="0"/>
              <a:t>семафоры и мьютексы (</a:t>
            </a:r>
            <a:r>
              <a:rPr lang="ru-RU" b="1" dirty="0" err="1"/>
              <a:t>mutex</a:t>
            </a:r>
            <a:r>
              <a:rPr lang="ru-RU" dirty="0"/>
              <a:t>):</a:t>
            </a:r>
          </a:p>
          <a:p>
            <a:pPr lvl="1">
              <a:lnSpc>
                <a:spcPct val="120000"/>
              </a:lnSpc>
              <a:buFont typeface="Wingdings" panose="05000000000000000000" pitchFamily="2" charset="2"/>
              <a:buChar char="ü"/>
            </a:pPr>
            <a:r>
              <a:rPr lang="ru-RU" b="1" dirty="0"/>
              <a:t>семафоры</a:t>
            </a:r>
            <a:r>
              <a:rPr lang="ru-RU" dirty="0"/>
              <a:t> связаны с </a:t>
            </a:r>
            <a:r>
              <a:rPr lang="ru-RU" b="1" dirty="0"/>
              <a:t>критическими участками программного кода</a:t>
            </a:r>
            <a:r>
              <a:rPr lang="ru-RU" dirty="0"/>
              <a:t>, </a:t>
            </a:r>
          </a:p>
          <a:p>
            <a:pPr lvl="1">
              <a:lnSpc>
                <a:spcPct val="120000"/>
              </a:lnSpc>
              <a:buFont typeface="Wingdings" panose="05000000000000000000" pitchFamily="2" charset="2"/>
              <a:buChar char="ü"/>
            </a:pPr>
            <a:r>
              <a:rPr lang="ru-RU" b="1" dirty="0"/>
              <a:t>блокировки</a:t>
            </a:r>
            <a:r>
              <a:rPr lang="ru-RU" dirty="0"/>
              <a:t> связаны с </a:t>
            </a:r>
            <a:r>
              <a:rPr lang="ru-RU" b="1" dirty="0"/>
              <a:t>объектами данных</a:t>
            </a:r>
            <a:r>
              <a:rPr lang="ru-RU" dirty="0"/>
              <a:t>.</a:t>
            </a:r>
          </a:p>
          <a:p>
            <a:pPr>
              <a:lnSpc>
                <a:spcPct val="120000"/>
              </a:lnSpc>
              <a:buFont typeface="Wingdings" panose="05000000000000000000" pitchFamily="2" charset="2"/>
              <a:buChar char="§"/>
            </a:pPr>
            <a:r>
              <a:rPr lang="ru-RU" dirty="0"/>
              <a:t>Для реализации </a:t>
            </a:r>
            <a:r>
              <a:rPr lang="ru-RU" b="1" dirty="0"/>
              <a:t>механизма блокировок должны использоваться критические участки кода</a:t>
            </a:r>
            <a:r>
              <a:rPr lang="ru-RU" dirty="0"/>
              <a:t>, защищаемые механизмами синхронизации операционной системы, но такая </a:t>
            </a:r>
            <a:r>
              <a:rPr lang="ru-RU" b="1" dirty="0"/>
              <a:t>синхронизация необходима </a:t>
            </a:r>
            <a:r>
              <a:rPr lang="ru-RU" b="1" u="sng" dirty="0"/>
              <a:t>только на время выполнения операций</a:t>
            </a:r>
            <a:r>
              <a:rPr lang="ru-RU" b="1" dirty="0"/>
              <a:t> установки и снятия блокировок</a:t>
            </a:r>
            <a:r>
              <a:rPr lang="ru-RU" dirty="0"/>
              <a:t>, а не на все время, когда блокировка установлена.</a:t>
            </a:r>
            <a:endParaRPr lang="ru-RU" b="1" dirty="0">
              <a:solidFill>
                <a:schemeClr val="tx1"/>
              </a:solidFill>
            </a:endParaRP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8737600" y="6356351"/>
            <a:ext cx="2666482" cy="3651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p:txBody>
          <a:bodyPr/>
          <a:lstStyle/>
          <a:p>
            <a:fld id="{667D74AF-8CFA-41E7-84BA-34814A01EACF}" type="slidenum">
              <a:rPr lang="ru-RU" smtClean="0"/>
              <a:t>49</a:t>
            </a:fld>
            <a:endParaRPr lang="ru-RU" dirty="0"/>
          </a:p>
        </p:txBody>
      </p:sp>
    </p:spTree>
    <p:extLst>
      <p:ext uri="{BB962C8B-B14F-4D97-AF65-F5344CB8AC3E}">
        <p14:creationId xmlns:p14="http://schemas.microsoft.com/office/powerpoint/2010/main" val="845270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up)">
                                      <p:cBhvr>
                                        <p:cTn id="15" dur="500"/>
                                        <p:tgtEl>
                                          <p:spTgt spid="3">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up)">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up)">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136524"/>
            <a:ext cx="11921067" cy="565117"/>
          </a:xfrm>
        </p:spPr>
        <p:txBody>
          <a:bodyPr>
            <a:noAutofit/>
          </a:bodyPr>
          <a:lstStyle/>
          <a:p>
            <a:r>
              <a:rPr lang="ru-RU" sz="3600" b="1" dirty="0"/>
              <a:t>Корректность и производительность протоколов</a:t>
            </a:r>
            <a:endParaRPr lang="ru-RU" sz="3600" dirty="0"/>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270933" y="701642"/>
            <a:ext cx="11921067" cy="6156358"/>
          </a:xfrm>
        </p:spPr>
        <p:txBody>
          <a:bodyPr>
            <a:normAutofit fontScale="70000" lnSpcReduction="20000"/>
          </a:bodyPr>
          <a:lstStyle/>
          <a:p>
            <a:pPr>
              <a:lnSpc>
                <a:spcPct val="120000"/>
              </a:lnSpc>
              <a:buFont typeface="Wingdings" panose="05000000000000000000" pitchFamily="2" charset="2"/>
              <a:buChar char="§"/>
            </a:pPr>
            <a:r>
              <a:rPr lang="ru-RU" b="1" dirty="0"/>
              <a:t>Корректность и производительность протоколов</a:t>
            </a:r>
            <a:r>
              <a:rPr lang="ru-RU" dirty="0"/>
              <a:t>, использующих блокировки, зависит от того, </a:t>
            </a:r>
            <a:r>
              <a:rPr lang="ru-RU" b="1" dirty="0"/>
              <a:t>какие блокировки считаются совместимыми. </a:t>
            </a:r>
          </a:p>
          <a:p>
            <a:pPr>
              <a:lnSpc>
                <a:spcPct val="120000"/>
              </a:lnSpc>
              <a:buFont typeface="Wingdings" panose="05000000000000000000" pitchFamily="2" charset="2"/>
              <a:buChar char="§"/>
            </a:pPr>
            <a:r>
              <a:rPr lang="ru-RU" dirty="0"/>
              <a:t>Так, чтобы обеспечить  </a:t>
            </a:r>
            <a:r>
              <a:rPr lang="ru-RU" b="1" dirty="0" err="1"/>
              <a:t>сериализуемость</a:t>
            </a:r>
            <a:r>
              <a:rPr lang="ru-RU" b="1" dirty="0"/>
              <a:t> по конфликтам (корректность)</a:t>
            </a:r>
            <a:r>
              <a:rPr lang="ru-RU" dirty="0"/>
              <a:t>, необходимо (но не достаточно) сделать </a:t>
            </a:r>
            <a:r>
              <a:rPr lang="ru-RU" b="1" dirty="0"/>
              <a:t>несовместимыми блокировки на операции, находящиеся в конфликте </a:t>
            </a:r>
            <a:r>
              <a:rPr lang="ru-RU" dirty="0"/>
              <a:t>(одна из операций записывает новое значение)</a:t>
            </a:r>
            <a:r>
              <a:rPr lang="ru-RU" b="1" dirty="0"/>
              <a:t>. </a:t>
            </a:r>
          </a:p>
          <a:p>
            <a:pPr>
              <a:lnSpc>
                <a:spcPct val="120000"/>
              </a:lnSpc>
              <a:buFont typeface="Wingdings" panose="05000000000000000000" pitchFamily="2" charset="2"/>
              <a:buChar char="§"/>
            </a:pPr>
            <a:r>
              <a:rPr lang="ru-RU" dirty="0"/>
              <a:t>Пропускная способность системы зависит от того, </a:t>
            </a:r>
            <a:r>
              <a:rPr lang="en-US" b="1" dirty="0"/>
              <a:t> </a:t>
            </a:r>
            <a:r>
              <a:rPr lang="ru-RU" b="1" dirty="0"/>
              <a:t>как часто </a:t>
            </a:r>
            <a:r>
              <a:rPr lang="ru-RU" dirty="0"/>
              <a:t>блокировки оказываются несовместимыми</a:t>
            </a:r>
            <a:r>
              <a:rPr lang="ru-RU" b="1" dirty="0"/>
              <a:t>,</a:t>
            </a:r>
            <a:r>
              <a:rPr lang="ru-RU" dirty="0"/>
              <a:t> и </a:t>
            </a:r>
            <a:r>
              <a:rPr lang="ru-RU" b="1" dirty="0"/>
              <a:t>от гранулярности </a:t>
            </a:r>
            <a:r>
              <a:rPr lang="ru-RU" dirty="0"/>
              <a:t>(относительного размера) </a:t>
            </a:r>
            <a:r>
              <a:rPr lang="ru-RU" b="1" dirty="0"/>
              <a:t>объектов</a:t>
            </a:r>
            <a:r>
              <a:rPr lang="ru-RU" dirty="0"/>
              <a:t>, на которые блокировки устанавливаются. </a:t>
            </a:r>
          </a:p>
          <a:p>
            <a:pPr>
              <a:lnSpc>
                <a:spcPct val="120000"/>
              </a:lnSpc>
              <a:buFont typeface="Wingdings" panose="05000000000000000000" pitchFamily="2" charset="2"/>
              <a:buChar char="§"/>
            </a:pPr>
            <a:r>
              <a:rPr lang="ru-RU" dirty="0"/>
              <a:t>Например, гранулярность может быть на уровне </a:t>
            </a:r>
          </a:p>
          <a:p>
            <a:pPr lvl="1">
              <a:lnSpc>
                <a:spcPct val="120000"/>
              </a:lnSpc>
              <a:buFont typeface="Wingdings" panose="05000000000000000000" pitchFamily="2" charset="2"/>
              <a:buChar char="ü"/>
            </a:pPr>
            <a:r>
              <a:rPr lang="ru-RU" dirty="0"/>
              <a:t>таблиц базы данных, </a:t>
            </a:r>
          </a:p>
          <a:p>
            <a:pPr lvl="1">
              <a:lnSpc>
                <a:spcPct val="120000"/>
              </a:lnSpc>
              <a:buFont typeface="Wingdings" panose="05000000000000000000" pitchFamily="2" charset="2"/>
              <a:buChar char="ü"/>
            </a:pPr>
            <a:r>
              <a:rPr lang="ru-RU" dirty="0"/>
              <a:t>строк в таблице  </a:t>
            </a:r>
          </a:p>
          <a:p>
            <a:pPr lvl="1">
              <a:lnSpc>
                <a:spcPct val="120000"/>
              </a:lnSpc>
              <a:buFont typeface="Wingdings" panose="05000000000000000000" pitchFamily="2" charset="2"/>
              <a:buChar char="ü"/>
            </a:pPr>
            <a:r>
              <a:rPr lang="ru-RU" dirty="0"/>
              <a:t>отдельных атрибутов в строке</a:t>
            </a:r>
          </a:p>
          <a:p>
            <a:pPr marL="342900" lvl="1" indent="-342900">
              <a:lnSpc>
                <a:spcPct val="120000"/>
              </a:lnSpc>
              <a:buFont typeface="Wingdings" panose="05000000000000000000" pitchFamily="2" charset="2"/>
              <a:buChar char="§"/>
            </a:pPr>
            <a:r>
              <a:rPr lang="ru-RU" sz="2900" dirty="0"/>
              <a:t>Так если диспетчер использует </a:t>
            </a:r>
            <a:r>
              <a:rPr lang="ru-RU" sz="2900" b="1" dirty="0"/>
              <a:t>всего одну блокировку</a:t>
            </a:r>
            <a:r>
              <a:rPr lang="ru-RU" sz="2900" dirty="0"/>
              <a:t>, связанную </a:t>
            </a:r>
            <a:r>
              <a:rPr lang="ru-RU" sz="2900" b="1" dirty="0"/>
              <a:t>со всей базой </a:t>
            </a:r>
            <a:r>
              <a:rPr lang="ru-RU" sz="2900" dirty="0"/>
              <a:t>и </a:t>
            </a:r>
            <a:r>
              <a:rPr lang="ru-RU" sz="2900" b="1" dirty="0"/>
              <a:t>несовместимую с ней самой</a:t>
            </a:r>
            <a:r>
              <a:rPr lang="ru-RU" sz="2900" dirty="0"/>
              <a:t>, то будет вырабатывать </a:t>
            </a:r>
            <a:r>
              <a:rPr lang="ru-RU" sz="2900" b="1" dirty="0"/>
              <a:t>серийное расписание</a:t>
            </a:r>
            <a:r>
              <a:rPr lang="ru-RU" sz="2900" dirty="0"/>
              <a:t>, если эта блокировка устанавливается для разных транзакций. </a:t>
            </a:r>
          </a:p>
          <a:p>
            <a:pPr marL="342900" lvl="1" indent="-342900">
              <a:lnSpc>
                <a:spcPct val="120000"/>
              </a:lnSpc>
              <a:buFont typeface="Wingdings" panose="05000000000000000000" pitchFamily="2" charset="2"/>
              <a:buChar char="§"/>
            </a:pPr>
            <a:r>
              <a:rPr lang="ru-RU" sz="2900" dirty="0"/>
              <a:t>Однако это будет причиной </a:t>
            </a:r>
            <a:r>
              <a:rPr lang="ru-RU" sz="2900" b="1" dirty="0"/>
              <a:t>низкой пропускной способности </a:t>
            </a:r>
            <a:r>
              <a:rPr lang="ru-RU" sz="2900" dirty="0"/>
              <a:t>так как вся </a:t>
            </a:r>
            <a:r>
              <a:rPr lang="ru-RU" sz="2900" b="1" dirty="0"/>
              <a:t>база данных рассматривается как один объект</a:t>
            </a:r>
            <a:r>
              <a:rPr lang="ru-RU" sz="2900" dirty="0"/>
              <a:t>. </a:t>
            </a:r>
          </a:p>
          <a:p>
            <a:pPr marL="342900" lvl="1" indent="-342900">
              <a:lnSpc>
                <a:spcPct val="120000"/>
              </a:lnSpc>
              <a:buFont typeface="Wingdings" panose="05000000000000000000" pitchFamily="2" charset="2"/>
              <a:buChar char="§"/>
            </a:pPr>
            <a:r>
              <a:rPr lang="ru-RU" sz="2900" dirty="0"/>
              <a:t>Однако блокировки на слишком мелкие объекты могут приводить к снижению производительности из-за слишком больших затрат на управление блокировками.</a:t>
            </a: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8737600" y="6356351"/>
            <a:ext cx="2666482" cy="3651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50</a:t>
            </a:fld>
            <a:endParaRPr lang="ru-RU" dirty="0"/>
          </a:p>
        </p:txBody>
      </p:sp>
    </p:spTree>
    <p:extLst>
      <p:ext uri="{BB962C8B-B14F-4D97-AF65-F5344CB8AC3E}">
        <p14:creationId xmlns:p14="http://schemas.microsoft.com/office/powerpoint/2010/main" val="4091964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down)">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wipe(down)">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136524"/>
            <a:ext cx="11921067" cy="565117"/>
          </a:xfrm>
        </p:spPr>
        <p:txBody>
          <a:bodyPr>
            <a:noAutofit/>
          </a:bodyPr>
          <a:lstStyle/>
          <a:p>
            <a:r>
              <a:rPr lang="ru-RU" sz="3600" dirty="0"/>
              <a:t>Монопольные</a:t>
            </a:r>
            <a:r>
              <a:rPr lang="ru-RU" sz="3600" b="1" dirty="0"/>
              <a:t> и </a:t>
            </a:r>
            <a:r>
              <a:rPr lang="ru-RU" sz="3600" dirty="0"/>
              <a:t>разделяемые</a:t>
            </a:r>
            <a:r>
              <a:rPr lang="ru-RU" sz="3600" b="1" dirty="0"/>
              <a:t> </a:t>
            </a:r>
            <a:r>
              <a:rPr lang="ru-RU" sz="3600" dirty="0"/>
              <a:t>блокировки</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270933" y="701642"/>
            <a:ext cx="11921067" cy="6156358"/>
          </a:xfrm>
        </p:spPr>
        <p:txBody>
          <a:bodyPr>
            <a:normAutofit fontScale="77500" lnSpcReduction="20000"/>
          </a:bodyPr>
          <a:lstStyle/>
          <a:p>
            <a:pPr>
              <a:lnSpc>
                <a:spcPct val="120000"/>
              </a:lnSpc>
              <a:buFont typeface="Wingdings" panose="05000000000000000000" pitchFamily="2" charset="2"/>
              <a:buChar char="§"/>
            </a:pPr>
            <a:r>
              <a:rPr lang="ru-RU" dirty="0"/>
              <a:t>Будем считать, что </a:t>
            </a:r>
            <a:r>
              <a:rPr lang="ru-RU" b="1" dirty="0"/>
              <a:t>несовместимыми</a:t>
            </a:r>
            <a:r>
              <a:rPr lang="ru-RU" dirty="0"/>
              <a:t> являются только блокировки, устанавливаемые для </a:t>
            </a:r>
            <a:r>
              <a:rPr lang="ru-RU" b="1" dirty="0"/>
              <a:t>операций, находящихся в конфликте </a:t>
            </a:r>
            <a:r>
              <a:rPr lang="ru-RU" dirty="0"/>
              <a:t>(или, что эквивалентно, не коммутирующих операций). </a:t>
            </a:r>
          </a:p>
          <a:p>
            <a:pPr>
              <a:lnSpc>
                <a:spcPct val="120000"/>
              </a:lnSpc>
              <a:buFont typeface="Wingdings" panose="05000000000000000000" pitchFamily="2" charset="2"/>
              <a:buChar char="§"/>
            </a:pPr>
            <a:r>
              <a:rPr lang="ru-RU" dirty="0"/>
              <a:t>По определению </a:t>
            </a:r>
            <a:r>
              <a:rPr lang="ru-RU" b="1" dirty="0"/>
              <a:t>конфликта</a:t>
            </a:r>
            <a:r>
              <a:rPr lang="ru-RU" dirty="0"/>
              <a:t> </a:t>
            </a:r>
            <a:r>
              <a:rPr lang="ru-RU" b="1" dirty="0"/>
              <a:t>блокировка для операции записи несовместима с любой другой блокировкой того же элемента данных. </a:t>
            </a:r>
          </a:p>
          <a:p>
            <a:pPr>
              <a:lnSpc>
                <a:spcPct val="120000"/>
              </a:lnSpc>
              <a:buFont typeface="Wingdings" panose="05000000000000000000" pitchFamily="2" charset="2"/>
              <a:buChar char="§"/>
            </a:pPr>
            <a:r>
              <a:rPr lang="ru-RU" dirty="0"/>
              <a:t>Блокировки, </a:t>
            </a:r>
            <a:r>
              <a:rPr lang="ru-RU" b="1" dirty="0"/>
              <a:t>несовместимые с любой другой блокировкой </a:t>
            </a:r>
            <a:r>
              <a:rPr lang="ru-RU" dirty="0"/>
              <a:t>того же элемента данных, называются </a:t>
            </a:r>
            <a:r>
              <a:rPr lang="ru-RU" b="1" dirty="0"/>
              <a:t>монопольными или исключающими</a:t>
            </a:r>
            <a:r>
              <a:rPr lang="ru-RU" dirty="0"/>
              <a:t>. </a:t>
            </a:r>
          </a:p>
          <a:p>
            <a:pPr>
              <a:lnSpc>
                <a:spcPct val="120000"/>
              </a:lnSpc>
              <a:buFont typeface="Wingdings" panose="05000000000000000000" pitchFamily="2" charset="2"/>
              <a:buChar char="§"/>
            </a:pPr>
            <a:r>
              <a:rPr lang="ru-RU" dirty="0"/>
              <a:t>В отличие от монопольных блокировок (на запись) блокировки на чтение не препятствуют установке других блокировок того же элемента данных на чтение (операции чтения никогда не находятся в конфликте). </a:t>
            </a:r>
          </a:p>
          <a:p>
            <a:pPr>
              <a:lnSpc>
                <a:spcPct val="120000"/>
              </a:lnSpc>
              <a:buFont typeface="Wingdings" panose="05000000000000000000" pitchFamily="2" charset="2"/>
              <a:buChar char="§"/>
            </a:pPr>
            <a:r>
              <a:rPr lang="ru-RU" dirty="0"/>
              <a:t>Иногда блокировки, допускающие установку некоторых видов блокировок того же элемента данных другими транзакциями, называются </a:t>
            </a:r>
            <a:r>
              <a:rPr lang="ru-RU" b="1" dirty="0"/>
              <a:t>разделяемыми</a:t>
            </a:r>
            <a:r>
              <a:rPr lang="ru-RU" dirty="0"/>
              <a:t>.</a:t>
            </a:r>
          </a:p>
          <a:p>
            <a:pPr>
              <a:lnSpc>
                <a:spcPct val="120000"/>
              </a:lnSpc>
              <a:buFont typeface="Wingdings" panose="05000000000000000000" pitchFamily="2" charset="2"/>
              <a:buChar char="§"/>
            </a:pPr>
            <a:r>
              <a:rPr lang="ru-RU" sz="3200" dirty="0"/>
              <a:t>В отличие от понятий </a:t>
            </a:r>
            <a:r>
              <a:rPr lang="ru-RU" sz="3200" b="1" dirty="0"/>
              <a:t>«блокировка для чтения» </a:t>
            </a:r>
            <a:r>
              <a:rPr lang="ru-RU" sz="3200" dirty="0"/>
              <a:t>и </a:t>
            </a:r>
            <a:r>
              <a:rPr lang="ru-RU" sz="3200" b="1" dirty="0"/>
              <a:t>«блокировка на запись», </a:t>
            </a:r>
            <a:r>
              <a:rPr lang="ru-RU" sz="3200" dirty="0"/>
              <a:t>термины </a:t>
            </a:r>
            <a:r>
              <a:rPr lang="ru-RU" sz="3200" b="1" dirty="0"/>
              <a:t>«монопольная блокировка» и «разделяемая блокировка» </a:t>
            </a:r>
            <a:r>
              <a:rPr lang="ru-RU" sz="3200" dirty="0"/>
              <a:t>не предполагают какую-либо семантику выполняемых операций, а определяют только свойства блокировок по отношению к другим блокировкам.</a:t>
            </a:r>
            <a:endParaRPr lang="ru-RU" sz="2900" dirty="0"/>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51</a:t>
            </a:fld>
            <a:endParaRPr lang="ru-RU" dirty="0"/>
          </a:p>
        </p:txBody>
      </p:sp>
    </p:spTree>
    <p:extLst>
      <p:ext uri="{BB962C8B-B14F-4D97-AF65-F5344CB8AC3E}">
        <p14:creationId xmlns:p14="http://schemas.microsoft.com/office/powerpoint/2010/main" val="1128076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up)">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136524"/>
            <a:ext cx="11921067" cy="565117"/>
          </a:xfrm>
        </p:spPr>
        <p:txBody>
          <a:bodyPr>
            <a:noAutofit/>
          </a:bodyPr>
          <a:lstStyle/>
          <a:p>
            <a:r>
              <a:rPr lang="ru-RU" sz="3600" dirty="0"/>
              <a:t>Двухфазные протоколы, использующие блокировки</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270933" y="701642"/>
            <a:ext cx="11921067" cy="6156358"/>
          </a:xfrm>
        </p:spPr>
        <p:txBody>
          <a:bodyPr>
            <a:normAutofit fontScale="62500" lnSpcReduction="20000"/>
          </a:bodyPr>
          <a:lstStyle/>
          <a:p>
            <a:pPr>
              <a:lnSpc>
                <a:spcPct val="120000"/>
              </a:lnSpc>
              <a:buFont typeface="Wingdings" panose="05000000000000000000" pitchFamily="2" charset="2"/>
              <a:buChar char="§"/>
            </a:pPr>
            <a:r>
              <a:rPr lang="ru-RU" dirty="0"/>
              <a:t>Наиболее широко известным протоколом управления транзакциями, использующим блокировки, является двухфазный протокол блокирования (</a:t>
            </a:r>
            <a:r>
              <a:rPr lang="ru-RU" dirty="0" err="1"/>
              <a:t>two-phase</a:t>
            </a:r>
            <a:r>
              <a:rPr lang="ru-RU" dirty="0"/>
              <a:t> </a:t>
            </a:r>
            <a:r>
              <a:rPr lang="ru-RU" dirty="0" err="1"/>
              <a:t>locking</a:t>
            </a:r>
            <a:r>
              <a:rPr lang="ru-RU" dirty="0"/>
              <a:t>, 2PL). </a:t>
            </a:r>
          </a:p>
          <a:p>
            <a:pPr>
              <a:lnSpc>
                <a:spcPct val="120000"/>
              </a:lnSpc>
              <a:buFont typeface="Wingdings" panose="05000000000000000000" pitchFamily="2" charset="2"/>
              <a:buChar char="§"/>
            </a:pPr>
            <a:r>
              <a:rPr lang="ru-RU" dirty="0"/>
              <a:t>В соответствии с этим протоколом для любой транзакции могут устанавливаться любые блокировки в любом порядке, однако после того, как хотя бы одна из установленных ранее блокировок снята, установка новых блокировок для этой транзакции запрещена. </a:t>
            </a:r>
          </a:p>
          <a:p>
            <a:pPr>
              <a:lnSpc>
                <a:spcPct val="120000"/>
              </a:lnSpc>
              <a:buFont typeface="Wingdings" panose="05000000000000000000" pitchFamily="2" charset="2"/>
              <a:buChar char="§"/>
            </a:pPr>
            <a:r>
              <a:rPr lang="ru-RU" dirty="0"/>
              <a:t>Работа транзакции состоит из двух фаз: </a:t>
            </a:r>
          </a:p>
          <a:p>
            <a:pPr lvl="1">
              <a:lnSpc>
                <a:spcPct val="120000"/>
              </a:lnSpc>
              <a:buFont typeface="Wingdings" panose="05000000000000000000" pitchFamily="2" charset="2"/>
              <a:buChar char="ü"/>
            </a:pPr>
            <a:r>
              <a:rPr lang="ru-RU" dirty="0"/>
              <a:t>на первой фазе блокировки устанавливаются, </a:t>
            </a:r>
          </a:p>
          <a:p>
            <a:pPr lvl="1">
              <a:lnSpc>
                <a:spcPct val="120000"/>
              </a:lnSpc>
              <a:buFont typeface="Wingdings" panose="05000000000000000000" pitchFamily="2" charset="2"/>
              <a:buChar char="ü"/>
            </a:pPr>
            <a:r>
              <a:rPr lang="ru-RU" dirty="0"/>
              <a:t>на второй — только снимаются. </a:t>
            </a:r>
          </a:p>
          <a:p>
            <a:pPr>
              <a:lnSpc>
                <a:spcPct val="120000"/>
              </a:lnSpc>
              <a:buFont typeface="Wingdings" panose="05000000000000000000" pitchFamily="2" charset="2"/>
              <a:buChar char="§"/>
            </a:pPr>
            <a:r>
              <a:rPr lang="ru-RU" dirty="0"/>
              <a:t>Отметим, что любые протоколы, основанные на блокировках, </a:t>
            </a:r>
            <a:r>
              <a:rPr lang="ru-RU" b="1" dirty="0"/>
              <a:t>управляют только относительным порядком выполнения операций, с которыми связаны эти блокировки</a:t>
            </a:r>
            <a:r>
              <a:rPr lang="ru-RU" dirty="0"/>
              <a:t>, </a:t>
            </a:r>
          </a:p>
          <a:p>
            <a:pPr>
              <a:lnSpc>
                <a:spcPct val="120000"/>
              </a:lnSpc>
              <a:buFont typeface="Wingdings" panose="05000000000000000000" pitchFamily="2" charset="2"/>
              <a:buChar char="§"/>
            </a:pPr>
            <a:r>
              <a:rPr lang="ru-RU" dirty="0"/>
              <a:t>Эти протоколы никак не зависят </a:t>
            </a:r>
          </a:p>
          <a:p>
            <a:pPr lvl="1">
              <a:lnSpc>
                <a:spcPct val="120000"/>
              </a:lnSpc>
              <a:buFont typeface="Wingdings" panose="05000000000000000000" pitchFamily="2" charset="2"/>
              <a:buChar char="ü"/>
            </a:pPr>
            <a:r>
              <a:rPr lang="ru-RU" dirty="0"/>
              <a:t>ни от </a:t>
            </a:r>
            <a:r>
              <a:rPr lang="ru-RU" b="1" dirty="0"/>
              <a:t>типа блокировок </a:t>
            </a:r>
            <a:r>
              <a:rPr lang="ru-RU" dirty="0"/>
              <a:t>(монопольные или нет), </a:t>
            </a:r>
          </a:p>
          <a:p>
            <a:pPr lvl="1">
              <a:lnSpc>
                <a:spcPct val="120000"/>
              </a:lnSpc>
              <a:buFont typeface="Wingdings" panose="05000000000000000000" pitchFamily="2" charset="2"/>
              <a:buChar char="ü"/>
            </a:pPr>
            <a:r>
              <a:rPr lang="ru-RU" dirty="0"/>
              <a:t>ни от </a:t>
            </a:r>
            <a:r>
              <a:rPr lang="ru-RU" b="1" dirty="0"/>
              <a:t>типа объектов</a:t>
            </a:r>
            <a:r>
              <a:rPr lang="ru-RU" dirty="0"/>
              <a:t>, </a:t>
            </a:r>
          </a:p>
          <a:p>
            <a:pPr lvl="1">
              <a:lnSpc>
                <a:spcPct val="120000"/>
              </a:lnSpc>
              <a:buFont typeface="Wingdings" panose="05000000000000000000" pitchFamily="2" charset="2"/>
              <a:buChar char="ü"/>
            </a:pPr>
            <a:r>
              <a:rPr lang="ru-RU" dirty="0"/>
              <a:t>ни </a:t>
            </a:r>
            <a:r>
              <a:rPr lang="ru-RU" b="1" dirty="0"/>
              <a:t>даже от класса системы </a:t>
            </a:r>
            <a:r>
              <a:rPr lang="ru-RU" dirty="0"/>
              <a:t>(это совсем не обязательно должна быть СУБД). </a:t>
            </a:r>
          </a:p>
          <a:p>
            <a:pPr>
              <a:lnSpc>
                <a:spcPct val="120000"/>
              </a:lnSpc>
              <a:buFont typeface="Wingdings" panose="05000000000000000000" pitchFamily="2" charset="2"/>
              <a:buChar char="§"/>
            </a:pPr>
            <a:r>
              <a:rPr lang="ru-RU" dirty="0"/>
              <a:t>Однако для того чтобы протокол был полезен для управления транзакциями, необходимо накладывать некоторые </a:t>
            </a:r>
            <a:r>
              <a:rPr lang="ru-RU" b="1" dirty="0"/>
              <a:t>ограничения на используемые блокировки, различные для разных протоколов</a:t>
            </a:r>
            <a:r>
              <a:rPr lang="ru-RU" dirty="0"/>
              <a:t>.</a:t>
            </a:r>
          </a:p>
          <a:p>
            <a:pPr>
              <a:lnSpc>
                <a:spcPct val="120000"/>
              </a:lnSpc>
              <a:buFont typeface="Wingdings" panose="05000000000000000000" pitchFamily="2" charset="2"/>
              <a:buChar char="§"/>
            </a:pPr>
            <a:r>
              <a:rPr lang="ru-RU" dirty="0"/>
              <a:t>Для семейства двухфазных протоколов предполагается, что </a:t>
            </a:r>
            <a:r>
              <a:rPr lang="ru-RU" b="1" dirty="0"/>
              <a:t>совместимость блокировок </a:t>
            </a:r>
            <a:r>
              <a:rPr lang="ru-RU" dirty="0"/>
              <a:t>определяется наличием </a:t>
            </a:r>
            <a:r>
              <a:rPr lang="ru-RU" b="1" dirty="0"/>
              <a:t>конфликтов между операциями</a:t>
            </a:r>
            <a:r>
              <a:rPr lang="ru-RU" dirty="0"/>
              <a:t>, для которых устанавливаются блокировки.</a:t>
            </a:r>
            <a:endParaRPr lang="ru-RU" sz="2900" dirty="0"/>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52</a:t>
            </a:fld>
            <a:endParaRPr lang="ru-RU" dirty="0"/>
          </a:p>
        </p:txBody>
      </p:sp>
    </p:spTree>
    <p:extLst>
      <p:ext uri="{BB962C8B-B14F-4D97-AF65-F5344CB8AC3E}">
        <p14:creationId xmlns:p14="http://schemas.microsoft.com/office/powerpoint/2010/main" val="1009265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up)">
                                      <p:cBhvr>
                                        <p:cTn id="20" dur="500"/>
                                        <p:tgtEl>
                                          <p:spTgt spid="3">
                                            <p:txEl>
                                              <p:pRg st="3" end="3"/>
                                            </p:tx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up)">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wipe(up)">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wipe(up)">
                                      <p:cBhvr>
                                        <p:cTn id="33" dur="500"/>
                                        <p:tgtEl>
                                          <p:spTgt spid="3">
                                            <p:txEl>
                                              <p:pRg st="6" end="6"/>
                                            </p:txEl>
                                          </p:spTgt>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wipe(up)">
                                      <p:cBhvr>
                                        <p:cTn id="36" dur="500"/>
                                        <p:tgtEl>
                                          <p:spTgt spid="3">
                                            <p:txEl>
                                              <p:pRg st="7" end="7"/>
                                            </p:txEl>
                                          </p:spTgt>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wipe(up)">
                                      <p:cBhvr>
                                        <p:cTn id="39" dur="500"/>
                                        <p:tgtEl>
                                          <p:spTgt spid="3">
                                            <p:txEl>
                                              <p:pRg st="8" end="8"/>
                                            </p:txEl>
                                          </p:spTgt>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wipe(up)">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wipe(up)">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wipe(up)">
                                      <p:cBhvr>
                                        <p:cTn id="5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136524"/>
            <a:ext cx="11921067" cy="565117"/>
          </a:xfrm>
        </p:spPr>
        <p:txBody>
          <a:bodyPr>
            <a:noAutofit/>
          </a:bodyPr>
          <a:lstStyle/>
          <a:p>
            <a:r>
              <a:rPr lang="ru-RU" sz="3600" dirty="0"/>
              <a:t>Двухфазные протоколы, использующие блокировки</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270933" y="701642"/>
            <a:ext cx="11921067" cy="6156358"/>
          </a:xfrm>
        </p:spPr>
        <p:txBody>
          <a:bodyPr>
            <a:normAutofit/>
          </a:bodyPr>
          <a:lstStyle/>
          <a:p>
            <a:pPr>
              <a:lnSpc>
                <a:spcPct val="120000"/>
              </a:lnSpc>
              <a:buFont typeface="Wingdings" panose="05000000000000000000" pitchFamily="2" charset="2"/>
              <a:buChar char="§"/>
            </a:pPr>
            <a:r>
              <a:rPr lang="ru-RU" dirty="0"/>
              <a:t>Двухфазный протокол </a:t>
            </a:r>
            <a:r>
              <a:rPr lang="ru-RU" b="1" dirty="0"/>
              <a:t>хорошо подходит для СУБД</a:t>
            </a:r>
            <a:r>
              <a:rPr lang="ru-RU" dirty="0"/>
              <a:t>, поскольку приложение может </a:t>
            </a:r>
            <a:r>
              <a:rPr lang="ru-RU" b="1" dirty="0"/>
              <a:t>в ходе выполнения транзакций определять</a:t>
            </a:r>
            <a:r>
              <a:rPr lang="ru-RU" dirty="0"/>
              <a:t>, какие еще </a:t>
            </a:r>
            <a:r>
              <a:rPr lang="ru-RU" b="1" dirty="0"/>
              <a:t>элементы данных понадобятся для ее завершения</a:t>
            </a:r>
            <a:r>
              <a:rPr lang="ru-RU" dirty="0"/>
              <a:t>. </a:t>
            </a:r>
          </a:p>
          <a:p>
            <a:pPr>
              <a:lnSpc>
                <a:spcPct val="120000"/>
              </a:lnSpc>
              <a:buFont typeface="Wingdings" panose="05000000000000000000" pitchFamily="2" charset="2"/>
              <a:buChar char="§"/>
            </a:pPr>
            <a:r>
              <a:rPr lang="ru-RU" dirty="0"/>
              <a:t>В этом смысле 2PL стал очень большим улучшением по сравнению с протоколами, которые были известны до </a:t>
            </a:r>
            <a:r>
              <a:rPr lang="ru-RU" b="1" dirty="0"/>
              <a:t>его опубликования в 1976 г</a:t>
            </a:r>
            <a:r>
              <a:rPr lang="ru-RU" dirty="0"/>
              <a:t>. </a:t>
            </a:r>
          </a:p>
          <a:p>
            <a:pPr>
              <a:lnSpc>
                <a:spcPct val="120000"/>
              </a:lnSpc>
              <a:buFont typeface="Wingdings" panose="05000000000000000000" pitchFamily="2" charset="2"/>
              <a:buChar char="§"/>
            </a:pPr>
            <a:r>
              <a:rPr lang="ru-RU" dirty="0"/>
              <a:t>В некоторых операционных системах все </a:t>
            </a:r>
            <a:r>
              <a:rPr lang="ru-RU" b="1" dirty="0"/>
              <a:t>необходимые блокировки </a:t>
            </a:r>
            <a:r>
              <a:rPr lang="ru-RU" dirty="0"/>
              <a:t>устанавливались </a:t>
            </a:r>
            <a:r>
              <a:rPr lang="ru-RU" b="1" dirty="0"/>
              <a:t>до начала выполнения задания и удерживались до его окончания:</a:t>
            </a:r>
          </a:p>
          <a:p>
            <a:pPr lvl="1">
              <a:lnSpc>
                <a:spcPct val="120000"/>
              </a:lnSpc>
              <a:buFont typeface="Wingdings" panose="05000000000000000000" pitchFamily="2" charset="2"/>
              <a:buChar char="ü"/>
            </a:pPr>
            <a:r>
              <a:rPr lang="ru-RU" dirty="0"/>
              <a:t>это приводило к </a:t>
            </a:r>
            <a:r>
              <a:rPr lang="ru-RU" b="1" dirty="0"/>
              <a:t>существенному ограничению конкурентности</a:t>
            </a:r>
            <a:endParaRPr lang="ru-RU" dirty="0"/>
          </a:p>
          <a:p>
            <a:pPr lvl="1">
              <a:lnSpc>
                <a:spcPct val="120000"/>
              </a:lnSpc>
              <a:buFont typeface="Wingdings" panose="05000000000000000000" pitchFamily="2" charset="2"/>
              <a:buChar char="ü"/>
            </a:pPr>
            <a:r>
              <a:rPr lang="ru-RU" dirty="0"/>
              <a:t>список </a:t>
            </a:r>
            <a:r>
              <a:rPr lang="ru-RU" b="1" dirty="0"/>
              <a:t>всех необходимых ресурсов </a:t>
            </a:r>
            <a:r>
              <a:rPr lang="ru-RU" dirty="0"/>
              <a:t>требовалось </a:t>
            </a:r>
            <a:r>
              <a:rPr lang="ru-RU" b="1" dirty="0"/>
              <a:t>предъявлять до начала выполнения.</a:t>
            </a:r>
            <a:endParaRPr lang="ru-RU" sz="2900" b="1" dirty="0"/>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53</a:t>
            </a:fld>
            <a:endParaRPr lang="ru-RU" dirty="0"/>
          </a:p>
        </p:txBody>
      </p:sp>
    </p:spTree>
    <p:extLst>
      <p:ext uri="{BB962C8B-B14F-4D97-AF65-F5344CB8AC3E}">
        <p14:creationId xmlns:p14="http://schemas.microsoft.com/office/powerpoint/2010/main" val="165679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up)">
                                      <p:cBhvr>
                                        <p:cTn id="20" dur="500"/>
                                        <p:tgtEl>
                                          <p:spTgt spid="3">
                                            <p:txEl>
                                              <p:pRg st="3" end="3"/>
                                            </p:tx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up)">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68792"/>
            <a:ext cx="11921067" cy="565117"/>
          </a:xfrm>
        </p:spPr>
        <p:txBody>
          <a:bodyPr>
            <a:noAutofit/>
          </a:bodyPr>
          <a:lstStyle/>
          <a:p>
            <a:r>
              <a:rPr lang="ru-RU" sz="3600" dirty="0"/>
              <a:t>Двухфазные протоколы </a:t>
            </a:r>
            <a:r>
              <a:rPr lang="ru-RU" sz="3600" dirty="0" err="1"/>
              <a:t>сериализуемы</a:t>
            </a:r>
            <a:r>
              <a:rPr lang="ru-RU" sz="3600" dirty="0"/>
              <a:t> по конфликтам</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270933" y="616977"/>
            <a:ext cx="11921067" cy="6359558"/>
          </a:xfrm>
        </p:spPr>
        <p:txBody>
          <a:bodyPr>
            <a:normAutofit fontScale="70000" lnSpcReduction="20000"/>
          </a:bodyPr>
          <a:lstStyle/>
          <a:p>
            <a:pPr>
              <a:lnSpc>
                <a:spcPct val="120000"/>
              </a:lnSpc>
              <a:buFont typeface="Wingdings" panose="05000000000000000000" pitchFamily="2" charset="2"/>
              <a:buChar char="§"/>
            </a:pPr>
            <a:r>
              <a:rPr lang="ru-RU" dirty="0">
                <a:solidFill>
                  <a:schemeClr val="tx1"/>
                </a:solidFill>
              </a:rPr>
              <a:t>Класс расписаний, которые могут быть получены в результате применения некоторого протокола управления транзакциями P, обозначается </a:t>
            </a:r>
            <a:r>
              <a:rPr lang="ru-RU" dirty="0" err="1">
                <a:solidFill>
                  <a:schemeClr val="tx1"/>
                </a:solidFill>
              </a:rPr>
              <a:t>Gen</a:t>
            </a:r>
            <a:r>
              <a:rPr lang="ru-RU" dirty="0">
                <a:solidFill>
                  <a:schemeClr val="tx1"/>
                </a:solidFill>
              </a:rPr>
              <a:t>(P).</a:t>
            </a:r>
          </a:p>
          <a:p>
            <a:pPr>
              <a:lnSpc>
                <a:spcPct val="120000"/>
              </a:lnSpc>
              <a:buFont typeface="Wingdings" panose="05000000000000000000" pitchFamily="2" charset="2"/>
              <a:buChar char="§"/>
            </a:pPr>
            <a:r>
              <a:rPr lang="ru-RU" dirty="0">
                <a:solidFill>
                  <a:schemeClr val="tx1"/>
                </a:solidFill>
              </a:rPr>
              <a:t>Так, класс расписаний, порождаемый протоколом 2PL, обозначается </a:t>
            </a:r>
            <a:r>
              <a:rPr lang="ru-RU" dirty="0" err="1">
                <a:solidFill>
                  <a:schemeClr val="tx1"/>
                </a:solidFill>
              </a:rPr>
              <a:t>Gen</a:t>
            </a:r>
            <a:r>
              <a:rPr lang="ru-RU" dirty="0">
                <a:solidFill>
                  <a:schemeClr val="tx1"/>
                </a:solidFill>
              </a:rPr>
              <a:t>(2PL).</a:t>
            </a:r>
          </a:p>
          <a:p>
            <a:pPr>
              <a:lnSpc>
                <a:spcPct val="120000"/>
              </a:lnSpc>
              <a:buFont typeface="Wingdings" panose="05000000000000000000" pitchFamily="2" charset="2"/>
              <a:buChar char="§"/>
            </a:pPr>
            <a:r>
              <a:rPr lang="ru-RU" sz="3200" dirty="0">
                <a:solidFill>
                  <a:schemeClr val="tx1"/>
                </a:solidFill>
              </a:rPr>
              <a:t>Расписания, получаемые на выходе двухфазного протокола, являются </a:t>
            </a:r>
            <a:r>
              <a:rPr lang="ru-RU" sz="3200" dirty="0" err="1">
                <a:solidFill>
                  <a:schemeClr val="tx1"/>
                </a:solidFill>
              </a:rPr>
              <a:t>сериализуемыми</a:t>
            </a:r>
            <a:r>
              <a:rPr lang="ru-RU" sz="3200" dirty="0">
                <a:solidFill>
                  <a:schemeClr val="tx1"/>
                </a:solidFill>
              </a:rPr>
              <a:t> по конфликтам: </a:t>
            </a:r>
            <a:r>
              <a:rPr lang="ru-RU" sz="3200" dirty="0" err="1">
                <a:solidFill>
                  <a:schemeClr val="tx1"/>
                </a:solidFill>
              </a:rPr>
              <a:t>Gen</a:t>
            </a:r>
            <a:r>
              <a:rPr lang="ru-RU" sz="3200" dirty="0">
                <a:solidFill>
                  <a:schemeClr val="tx1"/>
                </a:solidFill>
              </a:rPr>
              <a:t>(2PL) ⊂ CSR. </a:t>
            </a:r>
          </a:p>
          <a:p>
            <a:pPr>
              <a:lnSpc>
                <a:spcPct val="120000"/>
              </a:lnSpc>
              <a:buFont typeface="Wingdings" panose="05000000000000000000" pitchFamily="2" charset="2"/>
              <a:buChar char="§"/>
            </a:pPr>
            <a:r>
              <a:rPr lang="ru-RU" sz="3200" dirty="0">
                <a:solidFill>
                  <a:schemeClr val="tx1"/>
                </a:solidFill>
              </a:rPr>
              <a:t>Для доказательства этого утверждения достаточно показать, что граф </a:t>
            </a:r>
            <a:r>
              <a:rPr lang="ru-RU" sz="3200" dirty="0" err="1">
                <a:solidFill>
                  <a:schemeClr val="tx1"/>
                </a:solidFill>
              </a:rPr>
              <a:t>сериализуемости</a:t>
            </a:r>
            <a:r>
              <a:rPr lang="ru-RU" sz="3200" dirty="0">
                <a:solidFill>
                  <a:schemeClr val="tx1"/>
                </a:solidFill>
              </a:rPr>
              <a:t> любого расписания s ∈ </a:t>
            </a:r>
            <a:r>
              <a:rPr lang="ru-RU" sz="3200" dirty="0" err="1">
                <a:solidFill>
                  <a:schemeClr val="tx1"/>
                </a:solidFill>
              </a:rPr>
              <a:t>Gen</a:t>
            </a:r>
            <a:r>
              <a:rPr lang="ru-RU" sz="3200" dirty="0">
                <a:solidFill>
                  <a:schemeClr val="tx1"/>
                </a:solidFill>
              </a:rPr>
              <a:t>(2PL) не содержит контуров. </a:t>
            </a:r>
          </a:p>
          <a:p>
            <a:pPr>
              <a:lnSpc>
                <a:spcPct val="120000"/>
              </a:lnSpc>
              <a:buFont typeface="Wingdings" panose="05000000000000000000" pitchFamily="2" charset="2"/>
              <a:buChar char="§"/>
            </a:pPr>
            <a:r>
              <a:rPr lang="ru-RU" sz="3200" dirty="0">
                <a:solidFill>
                  <a:schemeClr val="tx1"/>
                </a:solidFill>
              </a:rPr>
              <a:t>Пусть </a:t>
            </a:r>
            <a:r>
              <a:rPr lang="ru-RU" sz="3200" dirty="0">
                <a:solidFill>
                  <a:schemeClr val="tx1"/>
                </a:solidFill>
                <a:latin typeface="Courier New" panose="02070309020205020404" pitchFamily="49" charset="0"/>
                <a:cs typeface="Courier New" panose="02070309020205020404" pitchFamily="49" charset="0"/>
              </a:rPr>
              <a:t>b(t)</a:t>
            </a:r>
            <a:r>
              <a:rPr lang="ru-RU" sz="3200" dirty="0">
                <a:solidFill>
                  <a:schemeClr val="tx1"/>
                </a:solidFill>
              </a:rPr>
              <a:t>и </a:t>
            </a:r>
            <a:r>
              <a:rPr lang="ru-RU" sz="3200" dirty="0">
                <a:solidFill>
                  <a:schemeClr val="tx1"/>
                </a:solidFill>
                <a:latin typeface="Courier New" panose="02070309020205020404" pitchFamily="49" charset="0"/>
                <a:cs typeface="Courier New" panose="02070309020205020404" pitchFamily="49" charset="0"/>
              </a:rPr>
              <a:t>e(t)</a:t>
            </a:r>
            <a:r>
              <a:rPr lang="ru-RU" sz="3200" dirty="0">
                <a:solidFill>
                  <a:schemeClr val="tx1"/>
                </a:solidFill>
              </a:rPr>
              <a:t>обозначают соответственно </a:t>
            </a:r>
            <a:r>
              <a:rPr lang="ru-RU" sz="3200" b="1" dirty="0">
                <a:solidFill>
                  <a:schemeClr val="tx1"/>
                </a:solidFill>
              </a:rPr>
              <a:t>операции установки последней блокировки </a:t>
            </a:r>
            <a:r>
              <a:rPr lang="ru-RU" sz="3200" dirty="0">
                <a:solidFill>
                  <a:schemeClr val="tx1"/>
                </a:solidFill>
              </a:rPr>
              <a:t>и </a:t>
            </a:r>
            <a:r>
              <a:rPr lang="ru-RU" sz="3200" b="1" dirty="0">
                <a:solidFill>
                  <a:schemeClr val="tx1"/>
                </a:solidFill>
              </a:rPr>
              <a:t>снятия первой блокировки для транзакции t. </a:t>
            </a:r>
          </a:p>
          <a:p>
            <a:pPr>
              <a:lnSpc>
                <a:spcPct val="120000"/>
              </a:lnSpc>
              <a:buFont typeface="Wingdings" panose="05000000000000000000" pitchFamily="2" charset="2"/>
              <a:buChar char="§"/>
            </a:pPr>
            <a:r>
              <a:rPr lang="ru-RU" sz="3200" dirty="0">
                <a:solidFill>
                  <a:schemeClr val="tx1"/>
                </a:solidFill>
              </a:rPr>
              <a:t>По определению двухфазного протокола </a:t>
            </a:r>
            <a:r>
              <a:rPr lang="ru-RU" sz="3200" dirty="0">
                <a:solidFill>
                  <a:schemeClr val="tx1"/>
                </a:solidFill>
                <a:latin typeface="Courier New" panose="02070309020205020404" pitchFamily="49" charset="0"/>
                <a:cs typeface="Courier New" panose="02070309020205020404" pitchFamily="49" charset="0"/>
              </a:rPr>
              <a:t>b(t)&lt;e(t)</a:t>
            </a:r>
            <a:r>
              <a:rPr lang="ru-RU" sz="3200" dirty="0">
                <a:solidFill>
                  <a:schemeClr val="tx1"/>
                </a:solidFill>
              </a:rPr>
              <a:t>для любой транзакции</a:t>
            </a:r>
            <a:r>
              <a:rPr lang="ru-RU" sz="3200" dirty="0">
                <a:solidFill>
                  <a:schemeClr val="tx1"/>
                </a:solidFill>
                <a:latin typeface="Courier New" panose="02070309020205020404" pitchFamily="49" charset="0"/>
                <a:cs typeface="Courier New" panose="02070309020205020404" pitchFamily="49" charset="0"/>
              </a:rPr>
              <a:t> t</a:t>
            </a:r>
            <a:r>
              <a:rPr lang="ru-RU" sz="3200" dirty="0">
                <a:solidFill>
                  <a:schemeClr val="tx1"/>
                </a:solidFill>
              </a:rPr>
              <a:t>. </a:t>
            </a:r>
          </a:p>
          <a:p>
            <a:pPr>
              <a:lnSpc>
                <a:spcPct val="120000"/>
              </a:lnSpc>
              <a:buFont typeface="Wingdings" panose="05000000000000000000" pitchFamily="2" charset="2"/>
              <a:buChar char="§"/>
            </a:pPr>
            <a:r>
              <a:rPr lang="ru-RU" sz="3200" dirty="0">
                <a:solidFill>
                  <a:schemeClr val="tx1"/>
                </a:solidFill>
                <a:cs typeface="Courier New" panose="02070309020205020404" pitchFamily="49" charset="0"/>
              </a:rPr>
              <a:t>Пусть </a:t>
            </a:r>
            <a:r>
              <a:rPr lang="ru-RU" sz="3200" i="1" dirty="0" err="1">
                <a:solidFill>
                  <a:schemeClr val="tx1"/>
                </a:solidFill>
                <a:latin typeface="Courier New" panose="02070309020205020404" pitchFamily="49" charset="0"/>
                <a:cs typeface="Courier New" panose="02070309020205020404" pitchFamily="49" charset="0"/>
              </a:rPr>
              <a:t>l</a:t>
            </a:r>
            <a:r>
              <a:rPr lang="ru-RU" sz="3200" i="1" baseline="-25000" dirty="0" err="1">
                <a:solidFill>
                  <a:schemeClr val="tx1"/>
                </a:solidFill>
                <a:latin typeface="Courier New" panose="02070309020205020404" pitchFamily="49" charset="0"/>
                <a:cs typeface="Courier New" panose="02070309020205020404" pitchFamily="49" charset="0"/>
              </a:rPr>
              <a:t>i</a:t>
            </a:r>
            <a:r>
              <a:rPr lang="ru-RU" sz="3200" i="1" dirty="0">
                <a:solidFill>
                  <a:schemeClr val="tx1"/>
                </a:solidFill>
                <a:latin typeface="Courier New" panose="02070309020205020404" pitchFamily="49" charset="0"/>
                <a:cs typeface="Courier New" panose="02070309020205020404" pitchFamily="49" charset="0"/>
              </a:rPr>
              <a:t>(x) </a:t>
            </a:r>
            <a:r>
              <a:rPr lang="ru-RU" sz="3200" dirty="0">
                <a:solidFill>
                  <a:schemeClr val="tx1"/>
                </a:solidFill>
              </a:rPr>
              <a:t>и </a:t>
            </a:r>
            <a:r>
              <a:rPr lang="ru-RU" sz="3100" i="1" dirty="0" err="1">
                <a:solidFill>
                  <a:schemeClr val="tx1"/>
                </a:solidFill>
                <a:latin typeface="Courier New" panose="02070309020205020404" pitchFamily="49" charset="0"/>
                <a:cs typeface="Courier New" panose="02070309020205020404" pitchFamily="49" charset="0"/>
              </a:rPr>
              <a:t>u</a:t>
            </a:r>
            <a:r>
              <a:rPr lang="ru-RU" sz="3100" i="1" baseline="-25000" dirty="0" err="1">
                <a:solidFill>
                  <a:schemeClr val="tx1"/>
                </a:solidFill>
                <a:latin typeface="Courier New" panose="02070309020205020404" pitchFamily="49" charset="0"/>
                <a:cs typeface="Courier New" panose="02070309020205020404" pitchFamily="49" charset="0"/>
              </a:rPr>
              <a:t>i</a:t>
            </a:r>
            <a:r>
              <a:rPr lang="ru-RU" sz="3100" i="1" dirty="0">
                <a:solidFill>
                  <a:schemeClr val="tx1"/>
                </a:solidFill>
                <a:latin typeface="Courier New" panose="02070309020205020404" pitchFamily="49" charset="0"/>
                <a:cs typeface="Courier New" panose="02070309020205020404" pitchFamily="49" charset="0"/>
              </a:rPr>
              <a:t>(x) </a:t>
            </a:r>
            <a:r>
              <a:rPr lang="ru-RU" sz="3200" dirty="0">
                <a:solidFill>
                  <a:schemeClr val="tx1"/>
                </a:solidFill>
              </a:rPr>
              <a:t>обозначают операции установки и снятия блокировки на элемент данных x для транзакции </a:t>
            </a:r>
            <a:r>
              <a:rPr lang="ru-RU" sz="3200" dirty="0" err="1">
                <a:solidFill>
                  <a:schemeClr val="tx1"/>
                </a:solidFill>
                <a:latin typeface="Courier New" panose="02070309020205020404" pitchFamily="49" charset="0"/>
                <a:cs typeface="Courier New" panose="02070309020205020404" pitchFamily="49" charset="0"/>
              </a:rPr>
              <a:t>t</a:t>
            </a:r>
            <a:r>
              <a:rPr lang="ru-RU" sz="3200" baseline="-25000" dirty="0" err="1">
                <a:solidFill>
                  <a:schemeClr val="tx1"/>
                </a:solidFill>
                <a:latin typeface="Courier New" panose="02070309020205020404" pitchFamily="49" charset="0"/>
                <a:cs typeface="Courier New" panose="02070309020205020404" pitchFamily="49" charset="0"/>
              </a:rPr>
              <a:t>i</a:t>
            </a:r>
            <a:r>
              <a:rPr lang="ru-RU" sz="3200" dirty="0">
                <a:solidFill>
                  <a:schemeClr val="tx1"/>
                </a:solidFill>
                <a:latin typeface="Courier New" panose="02070309020205020404" pitchFamily="49" charset="0"/>
                <a:cs typeface="Courier New" panose="02070309020205020404" pitchFamily="49" charset="0"/>
              </a:rPr>
              <a:t> </a:t>
            </a:r>
          </a:p>
          <a:p>
            <a:pPr>
              <a:lnSpc>
                <a:spcPct val="120000"/>
              </a:lnSpc>
              <a:buFont typeface="Wingdings" panose="05000000000000000000" pitchFamily="2" charset="2"/>
              <a:buChar char="§"/>
            </a:pPr>
            <a:r>
              <a:rPr lang="ru-RU" sz="3200" dirty="0">
                <a:solidFill>
                  <a:schemeClr val="tx1"/>
                </a:solidFill>
              </a:rPr>
              <a:t>Пусть в расписании </a:t>
            </a:r>
            <a:r>
              <a:rPr lang="ru-RU" sz="3200" b="1" dirty="0">
                <a:solidFill>
                  <a:schemeClr val="tx1"/>
                </a:solidFill>
              </a:rPr>
              <a:t>имеется конфликт по элементу данных x между транзакциями </a:t>
            </a:r>
            <a:r>
              <a:rPr lang="ru-RU" sz="3200" b="1" dirty="0">
                <a:solidFill>
                  <a:schemeClr val="tx1"/>
                </a:solidFill>
                <a:latin typeface="Courier New" panose="02070309020205020404" pitchFamily="49" charset="0"/>
                <a:cs typeface="Courier New" panose="02070309020205020404" pitchFamily="49" charset="0"/>
              </a:rPr>
              <a:t>t</a:t>
            </a:r>
            <a:r>
              <a:rPr lang="ru-RU" sz="3200" b="1" baseline="-25000" dirty="0">
                <a:solidFill>
                  <a:schemeClr val="tx1"/>
                </a:solidFill>
                <a:latin typeface="Courier New" panose="02070309020205020404" pitchFamily="49" charset="0"/>
                <a:cs typeface="Courier New" panose="02070309020205020404" pitchFamily="49" charset="0"/>
              </a:rPr>
              <a:t>1</a:t>
            </a:r>
            <a:r>
              <a:rPr lang="ru-RU" sz="3200" b="1" dirty="0">
                <a:solidFill>
                  <a:schemeClr val="tx1"/>
                </a:solidFill>
              </a:rPr>
              <a:t> и</a:t>
            </a:r>
            <a:r>
              <a:rPr lang="ru-RU" sz="3100" b="1" dirty="0">
                <a:solidFill>
                  <a:schemeClr val="tx1"/>
                </a:solidFill>
                <a:latin typeface="Courier New" panose="02070309020205020404" pitchFamily="49" charset="0"/>
                <a:cs typeface="Courier New" panose="02070309020205020404" pitchFamily="49" charset="0"/>
              </a:rPr>
              <a:t> t</a:t>
            </a:r>
            <a:r>
              <a:rPr lang="ru-RU" sz="3100" b="1" baseline="-25000" dirty="0">
                <a:solidFill>
                  <a:schemeClr val="tx1"/>
                </a:solidFill>
                <a:latin typeface="Courier New" panose="02070309020205020404" pitchFamily="49" charset="0"/>
                <a:cs typeface="Courier New" panose="02070309020205020404" pitchFamily="49" charset="0"/>
              </a:rPr>
              <a:t>2</a:t>
            </a:r>
            <a:r>
              <a:rPr lang="ru-RU" sz="3100" dirty="0">
                <a:solidFill>
                  <a:schemeClr val="tx1"/>
                </a:solidFill>
                <a:latin typeface="Courier New" panose="02070309020205020404" pitchFamily="49" charset="0"/>
                <a:cs typeface="Courier New" panose="02070309020205020404" pitchFamily="49" charset="0"/>
              </a:rPr>
              <a:t>.</a:t>
            </a:r>
          </a:p>
          <a:p>
            <a:pPr>
              <a:lnSpc>
                <a:spcPct val="120000"/>
              </a:lnSpc>
              <a:buFont typeface="Wingdings" panose="05000000000000000000" pitchFamily="2" charset="2"/>
              <a:buChar char="§"/>
            </a:pPr>
            <a:r>
              <a:rPr lang="ru-RU" sz="3200" dirty="0">
                <a:solidFill>
                  <a:schemeClr val="tx1"/>
                </a:solidFill>
              </a:rPr>
              <a:t>Тогда </a:t>
            </a:r>
            <a:r>
              <a:rPr lang="ru-RU" sz="3200" dirty="0">
                <a:solidFill>
                  <a:schemeClr val="tx1"/>
                </a:solidFill>
                <a:latin typeface="Courier New" panose="02070309020205020404" pitchFamily="49" charset="0"/>
                <a:cs typeface="Courier New" panose="02070309020205020404" pitchFamily="49" charset="0"/>
              </a:rPr>
              <a:t>b(t</a:t>
            </a:r>
            <a:r>
              <a:rPr lang="ru-RU" sz="3200" baseline="-25000" dirty="0">
                <a:solidFill>
                  <a:schemeClr val="tx1"/>
                </a:solidFill>
                <a:latin typeface="Courier New" panose="02070309020205020404" pitchFamily="49" charset="0"/>
                <a:cs typeface="Courier New" panose="02070309020205020404" pitchFamily="49" charset="0"/>
              </a:rPr>
              <a:t>1</a:t>
            </a:r>
            <a:r>
              <a:rPr lang="ru-RU" sz="3200" dirty="0">
                <a:solidFill>
                  <a:schemeClr val="tx1"/>
                </a:solidFill>
                <a:latin typeface="Courier New" panose="02070309020205020404" pitchFamily="49" charset="0"/>
                <a:cs typeface="Courier New" panose="02070309020205020404" pitchFamily="49" charset="0"/>
              </a:rPr>
              <a:t>)&lt;e(t</a:t>
            </a:r>
            <a:r>
              <a:rPr lang="ru-RU" sz="3200" baseline="-25000" dirty="0">
                <a:solidFill>
                  <a:schemeClr val="tx1"/>
                </a:solidFill>
                <a:latin typeface="Courier New" panose="02070309020205020404" pitchFamily="49" charset="0"/>
                <a:cs typeface="Courier New" panose="02070309020205020404" pitchFamily="49" charset="0"/>
              </a:rPr>
              <a:t>1</a:t>
            </a:r>
            <a:r>
              <a:rPr lang="ru-RU" sz="3200" dirty="0">
                <a:solidFill>
                  <a:schemeClr val="tx1"/>
                </a:solidFill>
                <a:latin typeface="Courier New" panose="02070309020205020404" pitchFamily="49" charset="0"/>
                <a:cs typeface="Courier New" panose="02070309020205020404" pitchFamily="49" charset="0"/>
              </a:rPr>
              <a:t>)&lt;u</a:t>
            </a:r>
            <a:r>
              <a:rPr lang="ru-RU" sz="3200" baseline="-25000" dirty="0">
                <a:solidFill>
                  <a:schemeClr val="tx1"/>
                </a:solidFill>
                <a:latin typeface="Courier New" panose="02070309020205020404" pitchFamily="49" charset="0"/>
                <a:cs typeface="Courier New" panose="02070309020205020404" pitchFamily="49" charset="0"/>
              </a:rPr>
              <a:t>1</a:t>
            </a:r>
            <a:r>
              <a:rPr lang="ru-RU" sz="3200" dirty="0">
                <a:solidFill>
                  <a:schemeClr val="tx1"/>
                </a:solidFill>
                <a:latin typeface="Courier New" panose="02070309020205020404" pitchFamily="49" charset="0"/>
                <a:cs typeface="Courier New" panose="02070309020205020404" pitchFamily="49" charset="0"/>
              </a:rPr>
              <a:t>(x)&lt;l</a:t>
            </a:r>
            <a:r>
              <a:rPr lang="ru-RU" sz="3200" baseline="-25000" dirty="0">
                <a:solidFill>
                  <a:schemeClr val="tx1"/>
                </a:solidFill>
                <a:latin typeface="Courier New" panose="02070309020205020404" pitchFamily="49" charset="0"/>
                <a:cs typeface="Courier New" panose="02070309020205020404" pitchFamily="49" charset="0"/>
              </a:rPr>
              <a:t>2</a:t>
            </a:r>
            <a:r>
              <a:rPr lang="ru-RU" sz="3200" dirty="0">
                <a:solidFill>
                  <a:schemeClr val="tx1"/>
                </a:solidFill>
                <a:latin typeface="Courier New" panose="02070309020205020404" pitchFamily="49" charset="0"/>
                <a:cs typeface="Courier New" panose="02070309020205020404" pitchFamily="49" charset="0"/>
              </a:rPr>
              <a:t>(x)&lt;b(t</a:t>
            </a:r>
            <a:r>
              <a:rPr lang="ru-RU" sz="3200" baseline="-25000" dirty="0">
                <a:solidFill>
                  <a:schemeClr val="tx1"/>
                </a:solidFill>
                <a:latin typeface="Courier New" panose="02070309020205020404" pitchFamily="49" charset="0"/>
                <a:cs typeface="Courier New" panose="02070309020205020404" pitchFamily="49" charset="0"/>
              </a:rPr>
              <a:t>2</a:t>
            </a:r>
            <a:r>
              <a:rPr lang="ru-RU" sz="3200" dirty="0">
                <a:solidFill>
                  <a:schemeClr val="tx1"/>
                </a:solidFill>
                <a:latin typeface="Courier New" panose="02070309020205020404" pitchFamily="49" charset="0"/>
                <a:cs typeface="Courier New" panose="02070309020205020404" pitchFamily="49" charset="0"/>
              </a:rPr>
              <a:t>)&lt;e(t</a:t>
            </a:r>
            <a:r>
              <a:rPr lang="ru-RU" sz="3200" baseline="-25000" dirty="0">
                <a:solidFill>
                  <a:schemeClr val="tx1"/>
                </a:solidFill>
                <a:latin typeface="Courier New" panose="02070309020205020404" pitchFamily="49" charset="0"/>
                <a:cs typeface="Courier New" panose="02070309020205020404" pitchFamily="49" charset="0"/>
              </a:rPr>
              <a:t>2</a:t>
            </a:r>
            <a:r>
              <a:rPr lang="ru-RU" sz="3200" dirty="0">
                <a:solidFill>
                  <a:schemeClr val="tx1"/>
                </a:solidFill>
                <a:latin typeface="Courier New" panose="02070309020205020404" pitchFamily="49" charset="0"/>
                <a:cs typeface="Courier New" panose="02070309020205020404" pitchFamily="49" charset="0"/>
              </a:rPr>
              <a:t>). </a:t>
            </a:r>
          </a:p>
          <a:p>
            <a:pPr>
              <a:lnSpc>
                <a:spcPct val="120000"/>
              </a:lnSpc>
              <a:buFont typeface="Wingdings" panose="05000000000000000000" pitchFamily="2" charset="2"/>
              <a:buChar char="§"/>
            </a:pPr>
            <a:r>
              <a:rPr lang="ru-RU" sz="3200" dirty="0">
                <a:solidFill>
                  <a:schemeClr val="tx1"/>
                </a:solidFill>
              </a:rPr>
              <a:t>Следовательно, для любого пути </a:t>
            </a:r>
            <a:r>
              <a:rPr lang="ru-RU" sz="3200" dirty="0">
                <a:solidFill>
                  <a:schemeClr val="tx1"/>
                </a:solidFill>
                <a:latin typeface="Courier New" panose="02070309020205020404" pitchFamily="49" charset="0"/>
                <a:cs typeface="Courier New" panose="02070309020205020404" pitchFamily="49" charset="0"/>
              </a:rPr>
              <a:t>t</a:t>
            </a:r>
            <a:r>
              <a:rPr lang="ru-RU" sz="3200" baseline="-25000" dirty="0">
                <a:solidFill>
                  <a:schemeClr val="tx1"/>
                </a:solidFill>
                <a:latin typeface="Courier New" panose="02070309020205020404" pitchFamily="49" charset="0"/>
                <a:cs typeface="Courier New" panose="02070309020205020404" pitchFamily="49" charset="0"/>
              </a:rPr>
              <a:t>1</a:t>
            </a:r>
            <a:r>
              <a:rPr lang="ru-RU" sz="3200" dirty="0">
                <a:solidFill>
                  <a:schemeClr val="tx1"/>
                </a:solidFill>
              </a:rPr>
              <a:t>, </a:t>
            </a:r>
            <a:r>
              <a:rPr lang="ru-RU" sz="3200" dirty="0">
                <a:solidFill>
                  <a:schemeClr val="tx1"/>
                </a:solidFill>
                <a:latin typeface="Courier New" panose="02070309020205020404" pitchFamily="49" charset="0"/>
                <a:cs typeface="Courier New" panose="02070309020205020404" pitchFamily="49" charset="0"/>
              </a:rPr>
              <a:t>t</a:t>
            </a:r>
            <a:r>
              <a:rPr lang="ru-RU" sz="3200" baseline="-25000" dirty="0">
                <a:solidFill>
                  <a:schemeClr val="tx1"/>
                </a:solidFill>
                <a:latin typeface="Courier New" panose="02070309020205020404" pitchFamily="49" charset="0"/>
                <a:cs typeface="Courier New" panose="02070309020205020404" pitchFamily="49" charset="0"/>
              </a:rPr>
              <a:t>2</a:t>
            </a:r>
            <a:r>
              <a:rPr lang="ru-RU" sz="3200" dirty="0">
                <a:solidFill>
                  <a:schemeClr val="tx1"/>
                </a:solidFill>
              </a:rPr>
              <a:t>, ..., </a:t>
            </a:r>
            <a:r>
              <a:rPr lang="ru-RU" sz="3200" dirty="0" err="1">
                <a:solidFill>
                  <a:schemeClr val="tx1"/>
                </a:solidFill>
                <a:latin typeface="Courier New" panose="02070309020205020404" pitchFamily="49" charset="0"/>
                <a:cs typeface="Courier New" panose="02070309020205020404" pitchFamily="49" charset="0"/>
              </a:rPr>
              <a:t>t</a:t>
            </a:r>
            <a:r>
              <a:rPr lang="ru-RU" sz="3200" baseline="-25000" dirty="0" err="1">
                <a:solidFill>
                  <a:schemeClr val="tx1"/>
                </a:solidFill>
                <a:latin typeface="Courier New" panose="02070309020205020404" pitchFamily="49" charset="0"/>
                <a:cs typeface="Courier New" panose="02070309020205020404" pitchFamily="49" charset="0"/>
              </a:rPr>
              <a:t>т</a:t>
            </a:r>
            <a:r>
              <a:rPr lang="ru-RU" sz="3200" baseline="-25000" dirty="0">
                <a:solidFill>
                  <a:schemeClr val="tx1"/>
                </a:solidFill>
                <a:latin typeface="Courier New" panose="02070309020205020404" pitchFamily="49" charset="0"/>
                <a:cs typeface="Courier New" panose="02070309020205020404" pitchFamily="49" charset="0"/>
              </a:rPr>
              <a:t> </a:t>
            </a:r>
            <a:r>
              <a:rPr lang="ru-RU" sz="3200" dirty="0">
                <a:solidFill>
                  <a:schemeClr val="tx1"/>
                </a:solidFill>
              </a:rPr>
              <a:t>в графе </a:t>
            </a:r>
            <a:r>
              <a:rPr lang="ru-RU" sz="3200" dirty="0" err="1">
                <a:solidFill>
                  <a:schemeClr val="tx1"/>
                </a:solidFill>
              </a:rPr>
              <a:t>сериализуемости</a:t>
            </a:r>
            <a:r>
              <a:rPr lang="ru-RU" sz="3200" dirty="0">
                <a:solidFill>
                  <a:schemeClr val="tx1"/>
                </a:solidFill>
              </a:rPr>
              <a:t> имеет место </a:t>
            </a:r>
          </a:p>
          <a:p>
            <a:pPr marL="0" indent="0">
              <a:lnSpc>
                <a:spcPct val="120000"/>
              </a:lnSpc>
              <a:buNone/>
            </a:pPr>
            <a:r>
              <a:rPr lang="ru-RU" sz="3200" dirty="0">
                <a:solidFill>
                  <a:schemeClr val="tx1"/>
                </a:solidFill>
              </a:rPr>
              <a:t>        b(</a:t>
            </a:r>
            <a:r>
              <a:rPr lang="ru-RU" sz="3200" dirty="0">
                <a:solidFill>
                  <a:schemeClr val="tx1"/>
                </a:solidFill>
                <a:latin typeface="Courier New" panose="02070309020205020404" pitchFamily="49" charset="0"/>
                <a:cs typeface="Courier New" panose="02070309020205020404" pitchFamily="49" charset="0"/>
              </a:rPr>
              <a:t>t</a:t>
            </a:r>
            <a:r>
              <a:rPr lang="ru-RU" sz="3200" baseline="-25000" dirty="0">
                <a:solidFill>
                  <a:schemeClr val="tx1"/>
                </a:solidFill>
                <a:latin typeface="Courier New" panose="02070309020205020404" pitchFamily="49" charset="0"/>
                <a:cs typeface="Courier New" panose="02070309020205020404" pitchFamily="49" charset="0"/>
              </a:rPr>
              <a:t>1</a:t>
            </a:r>
            <a:r>
              <a:rPr lang="ru-RU" sz="3200" dirty="0">
                <a:solidFill>
                  <a:schemeClr val="tx1"/>
                </a:solidFill>
              </a:rPr>
              <a:t>) &lt; e(</a:t>
            </a:r>
            <a:r>
              <a:rPr lang="ru-RU" sz="3200" dirty="0">
                <a:solidFill>
                  <a:schemeClr val="tx1"/>
                </a:solidFill>
                <a:latin typeface="Courier New" panose="02070309020205020404" pitchFamily="49" charset="0"/>
                <a:cs typeface="Courier New" panose="02070309020205020404" pitchFamily="49" charset="0"/>
              </a:rPr>
              <a:t>t</a:t>
            </a:r>
            <a:r>
              <a:rPr lang="ru-RU" sz="3200" baseline="-25000" dirty="0">
                <a:solidFill>
                  <a:schemeClr val="tx1"/>
                </a:solidFill>
                <a:latin typeface="Courier New" panose="02070309020205020404" pitchFamily="49" charset="0"/>
                <a:cs typeface="Courier New" panose="02070309020205020404" pitchFamily="49" charset="0"/>
              </a:rPr>
              <a:t>1</a:t>
            </a:r>
            <a:r>
              <a:rPr lang="ru-RU" sz="3200" dirty="0">
                <a:solidFill>
                  <a:schemeClr val="tx1"/>
                </a:solidFill>
              </a:rPr>
              <a:t>) &lt; b(</a:t>
            </a:r>
            <a:r>
              <a:rPr lang="ru-RU" sz="3200" dirty="0">
                <a:solidFill>
                  <a:schemeClr val="tx1"/>
                </a:solidFill>
                <a:latin typeface="Courier New" panose="02070309020205020404" pitchFamily="49" charset="0"/>
                <a:cs typeface="Courier New" panose="02070309020205020404" pitchFamily="49" charset="0"/>
              </a:rPr>
              <a:t>t</a:t>
            </a:r>
            <a:r>
              <a:rPr lang="ru-RU" sz="3200" baseline="-25000" dirty="0">
                <a:solidFill>
                  <a:schemeClr val="tx1"/>
                </a:solidFill>
                <a:latin typeface="Courier New" panose="02070309020205020404" pitchFamily="49" charset="0"/>
                <a:cs typeface="Courier New" panose="02070309020205020404" pitchFamily="49" charset="0"/>
              </a:rPr>
              <a:t>2</a:t>
            </a:r>
            <a:r>
              <a:rPr lang="ru-RU" sz="3200" dirty="0">
                <a:solidFill>
                  <a:schemeClr val="tx1"/>
                </a:solidFill>
              </a:rPr>
              <a:t>) &lt; e(</a:t>
            </a:r>
            <a:r>
              <a:rPr lang="ru-RU" sz="3200" dirty="0">
                <a:solidFill>
                  <a:schemeClr val="tx1"/>
                </a:solidFill>
                <a:latin typeface="Courier New" panose="02070309020205020404" pitchFamily="49" charset="0"/>
                <a:cs typeface="Courier New" panose="02070309020205020404" pitchFamily="49" charset="0"/>
              </a:rPr>
              <a:t>t</a:t>
            </a:r>
            <a:r>
              <a:rPr lang="ru-RU" sz="3200" baseline="-25000" dirty="0">
                <a:solidFill>
                  <a:schemeClr val="tx1"/>
                </a:solidFill>
                <a:latin typeface="Courier New" panose="02070309020205020404" pitchFamily="49" charset="0"/>
                <a:cs typeface="Courier New" panose="02070309020205020404" pitchFamily="49" charset="0"/>
              </a:rPr>
              <a:t>2</a:t>
            </a:r>
            <a:r>
              <a:rPr lang="ru-RU" sz="3200" dirty="0">
                <a:solidFill>
                  <a:schemeClr val="tx1"/>
                </a:solidFill>
              </a:rPr>
              <a:t>) &lt; ... &lt; b(</a:t>
            </a:r>
            <a:r>
              <a:rPr lang="ru-RU" sz="3200" dirty="0" err="1">
                <a:solidFill>
                  <a:schemeClr val="tx1"/>
                </a:solidFill>
                <a:latin typeface="Courier New" panose="02070309020205020404" pitchFamily="49" charset="0"/>
                <a:cs typeface="Courier New" panose="02070309020205020404" pitchFamily="49" charset="0"/>
              </a:rPr>
              <a:t>t</a:t>
            </a:r>
            <a:r>
              <a:rPr lang="ru-RU" sz="3200" baseline="-25000" dirty="0" err="1">
                <a:solidFill>
                  <a:schemeClr val="tx1"/>
                </a:solidFill>
                <a:latin typeface="Courier New" panose="02070309020205020404" pitchFamily="49" charset="0"/>
                <a:cs typeface="Courier New" panose="02070309020205020404" pitchFamily="49" charset="0"/>
              </a:rPr>
              <a:t>т</a:t>
            </a:r>
            <a:r>
              <a:rPr lang="ru-RU" sz="3200" dirty="0">
                <a:solidFill>
                  <a:schemeClr val="tx1"/>
                </a:solidFill>
              </a:rPr>
              <a:t>) &lt; e(</a:t>
            </a:r>
            <a:r>
              <a:rPr lang="ru-RU" sz="3200" dirty="0" err="1">
                <a:solidFill>
                  <a:schemeClr val="tx1"/>
                </a:solidFill>
                <a:latin typeface="Courier New" panose="02070309020205020404" pitchFamily="49" charset="0"/>
                <a:cs typeface="Courier New" panose="02070309020205020404" pitchFamily="49" charset="0"/>
              </a:rPr>
              <a:t>t</a:t>
            </a:r>
            <a:r>
              <a:rPr lang="ru-RU" sz="3200" baseline="-25000" dirty="0" err="1">
                <a:solidFill>
                  <a:schemeClr val="tx1"/>
                </a:solidFill>
                <a:latin typeface="Courier New" panose="02070309020205020404" pitchFamily="49" charset="0"/>
                <a:cs typeface="Courier New" panose="02070309020205020404" pitchFamily="49" charset="0"/>
              </a:rPr>
              <a:t>т</a:t>
            </a:r>
            <a:r>
              <a:rPr lang="ru-RU" sz="3200" dirty="0">
                <a:solidFill>
                  <a:schemeClr val="tx1"/>
                </a:solidFill>
              </a:rPr>
              <a:t>), и поэтому путь не может быть контуром.</a:t>
            </a:r>
            <a:endParaRPr lang="ru-RU" sz="2900" b="1" dirty="0">
              <a:solidFill>
                <a:schemeClr val="tx1"/>
              </a:solidFill>
            </a:endParaRP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54</a:t>
            </a:fld>
            <a:endParaRPr lang="ru-RU" dirty="0"/>
          </a:p>
        </p:txBody>
      </p:sp>
    </p:spTree>
    <p:extLst>
      <p:ext uri="{BB962C8B-B14F-4D97-AF65-F5344CB8AC3E}">
        <p14:creationId xmlns:p14="http://schemas.microsoft.com/office/powerpoint/2010/main" val="2245957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up)">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up)">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up)">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up)">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wipe(up)">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wipe(up)">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22224"/>
            <a:ext cx="11921067" cy="565117"/>
          </a:xfrm>
        </p:spPr>
        <p:txBody>
          <a:bodyPr>
            <a:noAutofit/>
          </a:bodyPr>
          <a:lstStyle/>
          <a:p>
            <a:r>
              <a:rPr lang="ru-RU" sz="4000" dirty="0"/>
              <a:t>Строгий двухфазный протокол</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270933" y="616977"/>
            <a:ext cx="11921067" cy="6359558"/>
          </a:xfrm>
        </p:spPr>
        <p:txBody>
          <a:bodyPr>
            <a:normAutofit fontScale="85000" lnSpcReduction="10000"/>
          </a:bodyPr>
          <a:lstStyle/>
          <a:p>
            <a:pPr>
              <a:lnSpc>
                <a:spcPct val="120000"/>
              </a:lnSpc>
              <a:buFont typeface="Wingdings" panose="05000000000000000000" pitchFamily="2" charset="2"/>
              <a:buChar char="§"/>
            </a:pPr>
            <a:r>
              <a:rPr lang="ru-RU" sz="3200" dirty="0">
                <a:solidFill>
                  <a:schemeClr val="tx1"/>
                </a:solidFill>
              </a:rPr>
              <a:t>Протокол 2PL, как следует из доказанного утверждения, гарантирует </a:t>
            </a:r>
            <a:r>
              <a:rPr lang="ru-RU" sz="3200" dirty="0" err="1">
                <a:solidFill>
                  <a:schemeClr val="tx1"/>
                </a:solidFill>
              </a:rPr>
              <a:t>сериализуемость</a:t>
            </a:r>
            <a:r>
              <a:rPr lang="ru-RU" sz="3200" dirty="0">
                <a:solidFill>
                  <a:schemeClr val="tx1"/>
                </a:solidFill>
              </a:rPr>
              <a:t>, но не обеспечивает </a:t>
            </a:r>
            <a:r>
              <a:rPr lang="ru-RU" sz="3200" dirty="0" err="1">
                <a:solidFill>
                  <a:schemeClr val="tx1"/>
                </a:solidFill>
              </a:rPr>
              <a:t>восстановимость</a:t>
            </a:r>
            <a:r>
              <a:rPr lang="ru-RU" sz="3200" dirty="0">
                <a:solidFill>
                  <a:schemeClr val="tx1"/>
                </a:solidFill>
              </a:rPr>
              <a:t> расписаний.</a:t>
            </a:r>
          </a:p>
          <a:p>
            <a:pPr>
              <a:lnSpc>
                <a:spcPct val="120000"/>
              </a:lnSpc>
              <a:buFont typeface="Wingdings" panose="05000000000000000000" pitchFamily="2" charset="2"/>
              <a:buChar char="§"/>
            </a:pPr>
            <a:r>
              <a:rPr lang="ru-RU" sz="3200" dirty="0">
                <a:solidFill>
                  <a:schemeClr val="tx1"/>
                </a:solidFill>
              </a:rPr>
              <a:t>Действительно, </a:t>
            </a:r>
            <a:r>
              <a:rPr lang="ru-RU" sz="3200" dirty="0" err="1">
                <a:solidFill>
                  <a:schemeClr val="tx1"/>
                </a:solidFill>
              </a:rPr>
              <a:t>восстановимость</a:t>
            </a:r>
            <a:r>
              <a:rPr lang="ru-RU" sz="3200" dirty="0">
                <a:solidFill>
                  <a:schemeClr val="tx1"/>
                </a:solidFill>
              </a:rPr>
              <a:t> зависит от порядка фиксации и обрывов, а не от упорядочения операций чтения и записи, а завершение транзакций никак не регулируется блокировками. </a:t>
            </a:r>
          </a:p>
          <a:p>
            <a:pPr>
              <a:lnSpc>
                <a:spcPct val="120000"/>
              </a:lnSpc>
              <a:buFont typeface="Wingdings" panose="05000000000000000000" pitchFamily="2" charset="2"/>
              <a:buChar char="§"/>
            </a:pPr>
            <a:r>
              <a:rPr lang="ru-RU" sz="3200" b="1" dirty="0">
                <a:solidFill>
                  <a:schemeClr val="tx1"/>
                </a:solidFill>
              </a:rPr>
              <a:t>Строгий двухфазный протокол </a:t>
            </a:r>
            <a:r>
              <a:rPr lang="ru-RU" sz="3200" dirty="0">
                <a:solidFill>
                  <a:schemeClr val="tx1"/>
                </a:solidFill>
              </a:rPr>
              <a:t>(</a:t>
            </a:r>
            <a:r>
              <a:rPr lang="ru-RU" sz="3200" dirty="0" err="1">
                <a:solidFill>
                  <a:schemeClr val="tx1"/>
                </a:solidFill>
              </a:rPr>
              <a:t>strict</a:t>
            </a:r>
            <a:r>
              <a:rPr lang="ru-RU" sz="3200" dirty="0">
                <a:solidFill>
                  <a:schemeClr val="tx1"/>
                </a:solidFill>
              </a:rPr>
              <a:t> 2PL, S2PL), отличается тем, что блокировки, установленные для операций записи, </a:t>
            </a:r>
            <a:r>
              <a:rPr lang="ru-RU" sz="3200" b="1" dirty="0">
                <a:solidFill>
                  <a:schemeClr val="tx1"/>
                </a:solidFill>
              </a:rPr>
              <a:t>не снимаются до завершения транзакции. </a:t>
            </a:r>
          </a:p>
          <a:p>
            <a:pPr>
              <a:lnSpc>
                <a:spcPct val="120000"/>
              </a:lnSpc>
              <a:buFont typeface="Wingdings" panose="05000000000000000000" pitchFamily="2" charset="2"/>
              <a:buChar char="§"/>
            </a:pPr>
            <a:r>
              <a:rPr lang="ru-RU" sz="3200" b="1" dirty="0">
                <a:solidFill>
                  <a:schemeClr val="tx1"/>
                </a:solidFill>
              </a:rPr>
              <a:t>Строгий двухфазный протокол </a:t>
            </a:r>
            <a:r>
              <a:rPr lang="ru-RU" sz="3200" dirty="0">
                <a:solidFill>
                  <a:schemeClr val="tx1"/>
                </a:solidFill>
              </a:rPr>
              <a:t>генерирует </a:t>
            </a:r>
            <a:r>
              <a:rPr lang="ru-RU" sz="3200" b="1" dirty="0">
                <a:solidFill>
                  <a:schemeClr val="tx1"/>
                </a:solidFill>
              </a:rPr>
              <a:t>расписания</a:t>
            </a:r>
            <a:r>
              <a:rPr lang="ru-RU" sz="3200" dirty="0">
                <a:solidFill>
                  <a:schemeClr val="tx1"/>
                </a:solidFill>
              </a:rPr>
              <a:t>, которые </a:t>
            </a:r>
            <a:r>
              <a:rPr lang="ru-RU" sz="3200" b="1" dirty="0" err="1">
                <a:solidFill>
                  <a:schemeClr val="tx1"/>
                </a:solidFill>
              </a:rPr>
              <a:t>сериализуемы</a:t>
            </a:r>
            <a:r>
              <a:rPr lang="ru-RU" sz="3200" b="1" dirty="0">
                <a:solidFill>
                  <a:schemeClr val="tx1"/>
                </a:solidFill>
              </a:rPr>
              <a:t> по конфликтам и являются строгими</a:t>
            </a:r>
            <a:r>
              <a:rPr lang="ru-RU" sz="3200" dirty="0">
                <a:solidFill>
                  <a:schemeClr val="tx1"/>
                </a:solidFill>
              </a:rPr>
              <a:t>: </a:t>
            </a:r>
            <a:r>
              <a:rPr lang="ru-RU" sz="3200" dirty="0" err="1">
                <a:solidFill>
                  <a:schemeClr val="tx1"/>
                </a:solidFill>
              </a:rPr>
              <a:t>Gen</a:t>
            </a:r>
            <a:r>
              <a:rPr lang="ru-RU" sz="3200" dirty="0">
                <a:solidFill>
                  <a:schemeClr val="tx1"/>
                </a:solidFill>
              </a:rPr>
              <a:t>(S2PL) ⊂ CSR ∩ ST.</a:t>
            </a:r>
            <a:endParaRPr lang="en-US" sz="3200" dirty="0">
              <a:solidFill>
                <a:schemeClr val="tx1"/>
              </a:solidFill>
            </a:endParaRPr>
          </a:p>
          <a:p>
            <a:pPr>
              <a:lnSpc>
                <a:spcPct val="120000"/>
              </a:lnSpc>
              <a:buFont typeface="Wingdings" panose="05000000000000000000" pitchFamily="2" charset="2"/>
              <a:buChar char="§"/>
            </a:pPr>
            <a:r>
              <a:rPr lang="ru-RU" sz="3200" dirty="0">
                <a:solidFill>
                  <a:schemeClr val="tx1"/>
                </a:solidFill>
              </a:rPr>
              <a:t>Таким образом, на выходе S2PL получаются строгие, а следовательно, </a:t>
            </a:r>
            <a:r>
              <a:rPr lang="ru-RU" sz="3200" b="1" dirty="0" err="1">
                <a:solidFill>
                  <a:schemeClr val="tx1"/>
                </a:solidFill>
              </a:rPr>
              <a:t>бескаскадные</a:t>
            </a:r>
            <a:r>
              <a:rPr lang="ru-RU" sz="3200" b="1" dirty="0">
                <a:solidFill>
                  <a:schemeClr val="tx1"/>
                </a:solidFill>
              </a:rPr>
              <a:t> и восстановимые </a:t>
            </a:r>
            <a:r>
              <a:rPr lang="ru-RU" sz="3200" b="1" dirty="0" err="1">
                <a:solidFill>
                  <a:schemeClr val="tx1"/>
                </a:solidFill>
              </a:rPr>
              <a:t>сериализуемые</a:t>
            </a:r>
            <a:r>
              <a:rPr lang="ru-RU" sz="3200" b="1" dirty="0">
                <a:solidFill>
                  <a:schemeClr val="tx1"/>
                </a:solidFill>
              </a:rPr>
              <a:t> расписания</a:t>
            </a:r>
            <a:r>
              <a:rPr lang="ru-RU" sz="3200" dirty="0">
                <a:solidFill>
                  <a:schemeClr val="tx1"/>
                </a:solidFill>
              </a:rPr>
              <a:t>.</a:t>
            </a:r>
            <a:endParaRPr lang="ru-RU" sz="3200" b="1" dirty="0">
              <a:solidFill>
                <a:schemeClr val="tx1"/>
              </a:solidFill>
            </a:endParaRP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55</a:t>
            </a:fld>
            <a:endParaRPr lang="ru-RU" dirty="0"/>
          </a:p>
        </p:txBody>
      </p:sp>
    </p:spTree>
    <p:extLst>
      <p:ext uri="{BB962C8B-B14F-4D97-AF65-F5344CB8AC3E}">
        <p14:creationId xmlns:p14="http://schemas.microsoft.com/office/powerpoint/2010/main" val="4293879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22224"/>
            <a:ext cx="11921067" cy="565117"/>
          </a:xfrm>
        </p:spPr>
        <p:txBody>
          <a:bodyPr>
            <a:noAutofit/>
          </a:bodyPr>
          <a:lstStyle/>
          <a:p>
            <a:r>
              <a:rPr lang="ru-RU" sz="4000" dirty="0"/>
              <a:t>Точный двухфазный протокол</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118533" y="616977"/>
            <a:ext cx="12073467" cy="6359558"/>
          </a:xfrm>
        </p:spPr>
        <p:txBody>
          <a:bodyPr>
            <a:normAutofit fontScale="70000" lnSpcReduction="20000"/>
          </a:bodyPr>
          <a:lstStyle/>
          <a:p>
            <a:pPr>
              <a:lnSpc>
                <a:spcPct val="120000"/>
              </a:lnSpc>
              <a:buFont typeface="Wingdings" panose="05000000000000000000" pitchFamily="2" charset="2"/>
              <a:buChar char="§"/>
            </a:pPr>
            <a:r>
              <a:rPr lang="ru-RU" sz="3200" dirty="0">
                <a:solidFill>
                  <a:schemeClr val="tx1"/>
                </a:solidFill>
              </a:rPr>
              <a:t>Наконец, точный двухфазный протокол (</a:t>
            </a:r>
            <a:r>
              <a:rPr lang="ru-RU" sz="3200" dirty="0" err="1">
                <a:solidFill>
                  <a:schemeClr val="tx1"/>
                </a:solidFill>
              </a:rPr>
              <a:t>rigorous</a:t>
            </a:r>
            <a:r>
              <a:rPr lang="ru-RU" sz="3200" dirty="0">
                <a:solidFill>
                  <a:schemeClr val="tx1"/>
                </a:solidFill>
              </a:rPr>
              <a:t> 2PL, </a:t>
            </a:r>
            <a:r>
              <a:rPr lang="ru-RU" sz="3200" dirty="0" err="1">
                <a:solidFill>
                  <a:schemeClr val="tx1"/>
                </a:solidFill>
              </a:rPr>
              <a:t>strong</a:t>
            </a:r>
            <a:r>
              <a:rPr lang="ru-RU" sz="3200" dirty="0">
                <a:solidFill>
                  <a:schemeClr val="tx1"/>
                </a:solidFill>
              </a:rPr>
              <a:t> </a:t>
            </a:r>
            <a:r>
              <a:rPr lang="ru-RU" sz="3200" dirty="0" err="1">
                <a:solidFill>
                  <a:schemeClr val="tx1"/>
                </a:solidFill>
              </a:rPr>
              <a:t>strict</a:t>
            </a:r>
            <a:r>
              <a:rPr lang="ru-RU" sz="3200" dirty="0">
                <a:solidFill>
                  <a:schemeClr val="tx1"/>
                </a:solidFill>
              </a:rPr>
              <a:t> 2PL, SS2PL) требует, чтобы </a:t>
            </a:r>
            <a:r>
              <a:rPr lang="ru-RU" sz="3200" b="1" dirty="0">
                <a:solidFill>
                  <a:schemeClr val="tx1"/>
                </a:solidFill>
              </a:rPr>
              <a:t>все блокировки удерживались до завершения транзакции. </a:t>
            </a:r>
            <a:endParaRPr lang="en-US" sz="3200" b="1" dirty="0">
              <a:solidFill>
                <a:schemeClr val="tx1"/>
              </a:solidFill>
            </a:endParaRPr>
          </a:p>
          <a:p>
            <a:pPr>
              <a:lnSpc>
                <a:spcPct val="120000"/>
              </a:lnSpc>
              <a:buFont typeface="Wingdings" panose="05000000000000000000" pitchFamily="2" charset="2"/>
              <a:buChar char="§"/>
            </a:pPr>
            <a:r>
              <a:rPr lang="ru-RU" sz="3200" b="1" dirty="0">
                <a:solidFill>
                  <a:schemeClr val="tx1"/>
                </a:solidFill>
              </a:rPr>
              <a:t>Класс расписаний, получаемых на выходе точного двухфазного протокола, совпадает с классом точных расписаний: </a:t>
            </a:r>
            <a:br>
              <a:rPr lang="en-US" sz="3200" b="1" dirty="0">
                <a:solidFill>
                  <a:schemeClr val="tx1"/>
                </a:solidFill>
              </a:rPr>
            </a:br>
            <a:r>
              <a:rPr lang="en-US" sz="3200" b="1" dirty="0">
                <a:solidFill>
                  <a:schemeClr val="tx1"/>
                </a:solidFill>
              </a:rPr>
              <a:t>                                   </a:t>
            </a:r>
            <a:r>
              <a:rPr lang="ru-RU" sz="3200" b="1" dirty="0" err="1">
                <a:solidFill>
                  <a:schemeClr val="tx1"/>
                </a:solidFill>
              </a:rPr>
              <a:t>Gen</a:t>
            </a:r>
            <a:r>
              <a:rPr lang="ru-RU" sz="3200" b="1" dirty="0">
                <a:solidFill>
                  <a:schemeClr val="tx1"/>
                </a:solidFill>
              </a:rPr>
              <a:t>(SS2PL) = RG.</a:t>
            </a:r>
          </a:p>
          <a:p>
            <a:pPr>
              <a:lnSpc>
                <a:spcPct val="120000"/>
              </a:lnSpc>
              <a:buFont typeface="Wingdings" panose="05000000000000000000" pitchFamily="2" charset="2"/>
              <a:buChar char="§"/>
            </a:pPr>
            <a:r>
              <a:rPr lang="ru-RU" sz="3200" dirty="0">
                <a:solidFill>
                  <a:schemeClr val="tx1"/>
                </a:solidFill>
              </a:rPr>
              <a:t>Протокол SS2PL </a:t>
            </a:r>
            <a:r>
              <a:rPr lang="ru-RU" sz="3200" b="1" dirty="0">
                <a:solidFill>
                  <a:schemeClr val="tx1"/>
                </a:solidFill>
              </a:rPr>
              <a:t>полностью предотвращает феномен грязного чтения</a:t>
            </a:r>
            <a:r>
              <a:rPr lang="ru-RU" sz="3200" dirty="0">
                <a:solidFill>
                  <a:schemeClr val="tx1"/>
                </a:solidFill>
              </a:rPr>
              <a:t> </a:t>
            </a:r>
          </a:p>
          <a:p>
            <a:pPr>
              <a:lnSpc>
                <a:spcPct val="120000"/>
              </a:lnSpc>
              <a:buFont typeface="Wingdings" panose="05000000000000000000" pitchFamily="2" charset="2"/>
              <a:buChar char="§"/>
            </a:pPr>
            <a:r>
              <a:rPr lang="ru-RU" sz="3200" dirty="0">
                <a:solidFill>
                  <a:schemeClr val="tx1"/>
                </a:solidFill>
              </a:rPr>
              <a:t>Получающийся класс расписаний </a:t>
            </a:r>
            <a:r>
              <a:rPr lang="ru-RU" sz="3200" b="1" dirty="0">
                <a:solidFill>
                  <a:schemeClr val="tx1"/>
                </a:solidFill>
              </a:rPr>
              <a:t>оказывается слишком узким </a:t>
            </a:r>
            <a:r>
              <a:rPr lang="ru-RU" sz="3200" dirty="0">
                <a:solidFill>
                  <a:schemeClr val="tx1"/>
                </a:solidFill>
              </a:rPr>
              <a:t>и поэтому такой протокол </a:t>
            </a:r>
            <a:r>
              <a:rPr lang="ru-RU" sz="3200" b="1" dirty="0">
                <a:solidFill>
                  <a:schemeClr val="tx1"/>
                </a:solidFill>
              </a:rPr>
              <a:t>не позволяет добиться высокой пропускной способности системы</a:t>
            </a:r>
            <a:r>
              <a:rPr lang="ru-RU" sz="3200" dirty="0">
                <a:solidFill>
                  <a:schemeClr val="tx1"/>
                </a:solidFill>
              </a:rPr>
              <a:t>. </a:t>
            </a:r>
          </a:p>
          <a:p>
            <a:pPr>
              <a:lnSpc>
                <a:spcPct val="120000"/>
              </a:lnSpc>
              <a:buFont typeface="Wingdings" panose="05000000000000000000" pitchFamily="2" charset="2"/>
              <a:buChar char="§"/>
            </a:pPr>
            <a:r>
              <a:rPr lang="ru-RU" sz="3200" dirty="0">
                <a:solidFill>
                  <a:schemeClr val="tx1"/>
                </a:solidFill>
              </a:rPr>
              <a:t>По этой причине </a:t>
            </a:r>
            <a:r>
              <a:rPr lang="ru-RU" sz="3200" b="1" dirty="0">
                <a:solidFill>
                  <a:schemeClr val="tx1"/>
                </a:solidFill>
              </a:rPr>
              <a:t>протокол SS2PL </a:t>
            </a:r>
            <a:r>
              <a:rPr lang="ru-RU" sz="3200" dirty="0">
                <a:solidFill>
                  <a:schemeClr val="tx1"/>
                </a:solidFill>
              </a:rPr>
              <a:t>следует рассматривать как </a:t>
            </a:r>
            <a:r>
              <a:rPr lang="ru-RU" sz="3200" b="1" dirty="0">
                <a:solidFill>
                  <a:schemeClr val="tx1"/>
                </a:solidFill>
              </a:rPr>
              <a:t>красивое теоретическое решение</a:t>
            </a:r>
            <a:r>
              <a:rPr lang="ru-RU" sz="3200" dirty="0">
                <a:solidFill>
                  <a:schemeClr val="tx1"/>
                </a:solidFill>
              </a:rPr>
              <a:t>, очень редко (если вообще когда-либо) применяемое на практике. </a:t>
            </a:r>
          </a:p>
          <a:p>
            <a:pPr>
              <a:lnSpc>
                <a:spcPct val="120000"/>
              </a:lnSpc>
              <a:buFont typeface="Wingdings" panose="05000000000000000000" pitchFamily="2" charset="2"/>
              <a:buChar char="§"/>
            </a:pPr>
            <a:r>
              <a:rPr lang="ru-RU" sz="3200" dirty="0">
                <a:solidFill>
                  <a:schemeClr val="tx1"/>
                </a:solidFill>
              </a:rPr>
              <a:t>Более точно, этот </a:t>
            </a:r>
            <a:r>
              <a:rPr lang="ru-RU" sz="3200" b="1" dirty="0">
                <a:solidFill>
                  <a:schemeClr val="tx1"/>
                </a:solidFill>
              </a:rPr>
              <a:t>протокол был реализован во многих системах (до появления SI).</a:t>
            </a:r>
          </a:p>
          <a:p>
            <a:pPr>
              <a:lnSpc>
                <a:spcPct val="120000"/>
              </a:lnSpc>
              <a:buFont typeface="Wingdings" panose="05000000000000000000" pitchFamily="2" charset="2"/>
              <a:buChar char="§"/>
            </a:pPr>
            <a:r>
              <a:rPr lang="ru-RU" sz="3200" dirty="0">
                <a:solidFill>
                  <a:schemeClr val="tx1"/>
                </a:solidFill>
              </a:rPr>
              <a:t>Однако </a:t>
            </a:r>
            <a:r>
              <a:rPr lang="ru-RU" sz="3200" b="1" dirty="0">
                <a:solidFill>
                  <a:schemeClr val="tx1"/>
                </a:solidFill>
              </a:rPr>
              <a:t>приложения, работающие с такими СУБД</a:t>
            </a:r>
            <a:r>
              <a:rPr lang="ru-RU" sz="3200" dirty="0">
                <a:solidFill>
                  <a:schemeClr val="tx1"/>
                </a:solidFill>
              </a:rPr>
              <a:t>, использовали, как правило, </a:t>
            </a:r>
            <a:r>
              <a:rPr lang="ru-RU" sz="3200" b="1" dirty="0">
                <a:solidFill>
                  <a:schemeClr val="tx1"/>
                </a:solidFill>
              </a:rPr>
              <a:t>ослабленные критерии согласованности, отказываясь от </a:t>
            </a:r>
            <a:r>
              <a:rPr lang="ru-RU" sz="3200" b="1" dirty="0" err="1">
                <a:solidFill>
                  <a:schemeClr val="tx1"/>
                </a:solidFill>
              </a:rPr>
              <a:t>сериализуемости</a:t>
            </a:r>
            <a:r>
              <a:rPr lang="ru-RU" sz="3200" b="1" dirty="0">
                <a:solidFill>
                  <a:schemeClr val="tx1"/>
                </a:solidFill>
              </a:rPr>
              <a:t>. </a:t>
            </a:r>
          </a:p>
          <a:p>
            <a:pPr>
              <a:lnSpc>
                <a:spcPct val="120000"/>
              </a:lnSpc>
              <a:buFont typeface="Wingdings" panose="05000000000000000000" pitchFamily="2" charset="2"/>
              <a:buChar char="§"/>
            </a:pPr>
            <a:r>
              <a:rPr lang="ru-RU" sz="3200" dirty="0">
                <a:solidFill>
                  <a:schemeClr val="tx1"/>
                </a:solidFill>
              </a:rPr>
              <a:t>Возможно, именно ограниченность этого протокола привела к включению </a:t>
            </a:r>
            <a:r>
              <a:rPr lang="ru-RU" sz="3200" b="1" dirty="0">
                <a:solidFill>
                  <a:schemeClr val="tx1"/>
                </a:solidFill>
              </a:rPr>
              <a:t>ослабленных уровней изоляции в стандарт SQL</a:t>
            </a:r>
            <a:r>
              <a:rPr lang="ru-RU" sz="3200" dirty="0">
                <a:solidFill>
                  <a:schemeClr val="tx1"/>
                </a:solidFill>
              </a:rPr>
              <a:t>.</a:t>
            </a:r>
            <a:endParaRPr lang="ru-RU" sz="3200" b="1" dirty="0">
              <a:solidFill>
                <a:schemeClr val="tx1"/>
              </a:solidFill>
            </a:endParaRP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56</a:t>
            </a:fld>
            <a:endParaRPr lang="ru-RU" dirty="0"/>
          </a:p>
        </p:txBody>
      </p:sp>
    </p:spTree>
    <p:extLst>
      <p:ext uri="{BB962C8B-B14F-4D97-AF65-F5344CB8AC3E}">
        <p14:creationId xmlns:p14="http://schemas.microsoft.com/office/powerpoint/2010/main" val="664868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up)">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up)">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up)">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22224"/>
            <a:ext cx="11921067" cy="565117"/>
          </a:xfrm>
        </p:spPr>
        <p:txBody>
          <a:bodyPr>
            <a:noAutofit/>
          </a:bodyPr>
          <a:lstStyle/>
          <a:p>
            <a:r>
              <a:rPr lang="ru-RU" sz="4000" dirty="0"/>
              <a:t>Заключение о </a:t>
            </a:r>
            <a:r>
              <a:rPr lang="ru-RU" sz="4000" dirty="0">
                <a:solidFill>
                  <a:schemeClr val="tx1"/>
                </a:solidFill>
              </a:rPr>
              <a:t>2PL </a:t>
            </a:r>
            <a:r>
              <a:rPr lang="ru-RU" sz="4000" dirty="0"/>
              <a:t>протоколах</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118533" y="616977"/>
            <a:ext cx="12073467" cy="6359558"/>
          </a:xfrm>
        </p:spPr>
        <p:txBody>
          <a:bodyPr>
            <a:normAutofit/>
          </a:bodyPr>
          <a:lstStyle/>
          <a:p>
            <a:pPr>
              <a:lnSpc>
                <a:spcPct val="120000"/>
              </a:lnSpc>
              <a:buFont typeface="Wingdings" panose="05000000000000000000" pitchFamily="2" charset="2"/>
              <a:buChar char="§"/>
            </a:pPr>
            <a:r>
              <a:rPr lang="ru-RU" sz="3200" dirty="0">
                <a:solidFill>
                  <a:schemeClr val="tx1"/>
                </a:solidFill>
              </a:rPr>
              <a:t>Заметим, что для доказательства </a:t>
            </a:r>
            <a:r>
              <a:rPr lang="ru-RU" sz="3200" dirty="0" err="1">
                <a:solidFill>
                  <a:schemeClr val="tx1"/>
                </a:solidFill>
              </a:rPr>
              <a:t>сериализуемости</a:t>
            </a:r>
            <a:r>
              <a:rPr lang="ru-RU" sz="3200" dirty="0">
                <a:solidFill>
                  <a:schemeClr val="tx1"/>
                </a:solidFill>
              </a:rPr>
              <a:t> по конфликтам важно, что </a:t>
            </a:r>
            <a:r>
              <a:rPr lang="ru-RU" sz="3200" b="1" dirty="0">
                <a:solidFill>
                  <a:schemeClr val="tx1"/>
                </a:solidFill>
              </a:rPr>
              <a:t>правила установки блокировок связаны с выявлением конфликтов. </a:t>
            </a:r>
          </a:p>
          <a:p>
            <a:pPr>
              <a:lnSpc>
                <a:spcPct val="120000"/>
              </a:lnSpc>
              <a:buFont typeface="Wingdings" panose="05000000000000000000" pitchFamily="2" charset="2"/>
              <a:buChar char="§"/>
            </a:pPr>
            <a:r>
              <a:rPr lang="ru-RU" sz="3200" dirty="0">
                <a:solidFill>
                  <a:schemeClr val="tx1"/>
                </a:solidFill>
              </a:rPr>
              <a:t>В частности, </a:t>
            </a:r>
            <a:r>
              <a:rPr lang="ru-RU" sz="3200" b="1" dirty="0">
                <a:solidFill>
                  <a:schemeClr val="tx1"/>
                </a:solidFill>
              </a:rPr>
              <a:t>необходимо устанавливать блокировки как на чтение, так и на запись. </a:t>
            </a:r>
          </a:p>
          <a:p>
            <a:pPr>
              <a:lnSpc>
                <a:spcPct val="120000"/>
              </a:lnSpc>
              <a:buFont typeface="Wingdings" panose="05000000000000000000" pitchFamily="2" charset="2"/>
              <a:buChar char="§"/>
            </a:pPr>
            <a:r>
              <a:rPr lang="ru-RU" sz="3200" b="1" dirty="0">
                <a:solidFill>
                  <a:schemeClr val="tx1"/>
                </a:solidFill>
              </a:rPr>
              <a:t>Все варианты двухфазного протокола 2PL </a:t>
            </a:r>
            <a:r>
              <a:rPr lang="ru-RU" sz="3200" dirty="0">
                <a:solidFill>
                  <a:schemeClr val="tx1"/>
                </a:solidFill>
              </a:rPr>
              <a:t>характеризуются </a:t>
            </a:r>
          </a:p>
          <a:p>
            <a:pPr lvl="1">
              <a:lnSpc>
                <a:spcPct val="120000"/>
              </a:lnSpc>
              <a:buFont typeface="Wingdings" panose="05000000000000000000" pitchFamily="2" charset="2"/>
              <a:buChar char="ü"/>
            </a:pPr>
            <a:r>
              <a:rPr lang="ru-RU" sz="3200" dirty="0">
                <a:solidFill>
                  <a:schemeClr val="tx1"/>
                </a:solidFill>
              </a:rPr>
              <a:t>низкой частотой обрывов транзакций, </a:t>
            </a:r>
          </a:p>
          <a:p>
            <a:pPr lvl="1">
              <a:lnSpc>
                <a:spcPct val="120000"/>
              </a:lnSpc>
              <a:buFont typeface="Wingdings" panose="05000000000000000000" pitchFamily="2" charset="2"/>
              <a:buChar char="ü"/>
            </a:pPr>
            <a:r>
              <a:rPr lang="ru-RU" sz="3200" dirty="0">
                <a:solidFill>
                  <a:schemeClr val="tx1"/>
                </a:solidFill>
              </a:rPr>
              <a:t>однако ограничивают пропускную способность, </a:t>
            </a:r>
          </a:p>
          <a:p>
            <a:pPr>
              <a:lnSpc>
                <a:spcPct val="120000"/>
              </a:lnSpc>
              <a:buFont typeface="Wingdings" panose="05000000000000000000" pitchFamily="2" charset="2"/>
              <a:buChar char="§"/>
            </a:pPr>
            <a:r>
              <a:rPr lang="ru-RU" sz="3200" dirty="0">
                <a:solidFill>
                  <a:schemeClr val="tx1"/>
                </a:solidFill>
              </a:rPr>
              <a:t>Поэтому </a:t>
            </a:r>
            <a:r>
              <a:rPr lang="ru-RU" sz="3200" b="1" dirty="0">
                <a:solidFill>
                  <a:schemeClr val="tx1"/>
                </a:solidFill>
              </a:rPr>
              <a:t>в </a:t>
            </a:r>
            <a:r>
              <a:rPr lang="ru-RU" sz="3200" b="1" dirty="0" err="1">
                <a:solidFill>
                  <a:schemeClr val="tx1"/>
                </a:solidFill>
              </a:rPr>
              <a:t>PostgreSQL</a:t>
            </a:r>
            <a:r>
              <a:rPr lang="ru-RU" sz="3200" b="1" dirty="0">
                <a:solidFill>
                  <a:schemeClr val="tx1"/>
                </a:solidFill>
              </a:rPr>
              <a:t> такие протоколы не применяются</a:t>
            </a:r>
            <a:r>
              <a:rPr lang="ru-RU" sz="3200" dirty="0">
                <a:solidFill>
                  <a:schemeClr val="tx1"/>
                </a:solidFill>
              </a:rPr>
              <a:t>.</a:t>
            </a:r>
            <a:endParaRPr lang="ru-RU" sz="3200" b="1" dirty="0">
              <a:solidFill>
                <a:schemeClr val="tx1"/>
              </a:solidFill>
            </a:endParaRP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57</a:t>
            </a:fld>
            <a:endParaRPr lang="ru-RU" dirty="0"/>
          </a:p>
        </p:txBody>
      </p:sp>
    </p:spTree>
    <p:extLst>
      <p:ext uri="{BB962C8B-B14F-4D97-AF65-F5344CB8AC3E}">
        <p14:creationId xmlns:p14="http://schemas.microsoft.com/office/powerpoint/2010/main" val="981904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up)">
                                      <p:cBhvr>
                                        <p:cTn id="20" dur="500"/>
                                        <p:tgtEl>
                                          <p:spTgt spid="3">
                                            <p:txEl>
                                              <p:pRg st="3" end="3"/>
                                            </p:tx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up)">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wipe(up)">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22224"/>
            <a:ext cx="11921067" cy="565117"/>
          </a:xfrm>
        </p:spPr>
        <p:txBody>
          <a:bodyPr>
            <a:noAutofit/>
          </a:bodyPr>
          <a:lstStyle/>
          <a:p>
            <a:r>
              <a:rPr lang="ru-RU" sz="4000" dirty="0"/>
              <a:t>Тупики</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118533" y="616977"/>
            <a:ext cx="12073467" cy="6359558"/>
          </a:xfrm>
        </p:spPr>
        <p:txBody>
          <a:bodyPr>
            <a:normAutofit fontScale="77500" lnSpcReduction="20000"/>
          </a:bodyPr>
          <a:lstStyle/>
          <a:p>
            <a:pPr>
              <a:lnSpc>
                <a:spcPct val="120000"/>
              </a:lnSpc>
              <a:buFont typeface="Wingdings" panose="05000000000000000000" pitchFamily="2" charset="2"/>
              <a:buChar char="§"/>
            </a:pPr>
            <a:r>
              <a:rPr lang="ru-RU" sz="3200" dirty="0">
                <a:solidFill>
                  <a:schemeClr val="tx1"/>
                </a:solidFill>
              </a:rPr>
              <a:t>В системах, в которых используются блокировки (или другие средства синхронизации доступа к общим ресурсам, например семафоры), могут возникать ситуации тупика. </a:t>
            </a:r>
          </a:p>
          <a:p>
            <a:pPr>
              <a:lnSpc>
                <a:spcPct val="120000"/>
              </a:lnSpc>
              <a:buFont typeface="Wingdings" panose="05000000000000000000" pitchFamily="2" charset="2"/>
              <a:buChar char="§"/>
            </a:pPr>
            <a:r>
              <a:rPr lang="ru-RU" sz="3200" dirty="0">
                <a:solidFill>
                  <a:schemeClr val="tx1"/>
                </a:solidFill>
              </a:rPr>
              <a:t>Предположим, что для всех операций устанавливаются блокировки (как это требуется в двухфазных протоколах) </a:t>
            </a:r>
          </a:p>
          <a:p>
            <a:pPr>
              <a:lnSpc>
                <a:spcPct val="120000"/>
              </a:lnSpc>
              <a:buFont typeface="Wingdings" panose="05000000000000000000" pitchFamily="2" charset="2"/>
              <a:buChar char="§"/>
            </a:pPr>
            <a:r>
              <a:rPr lang="ru-RU" sz="3200" dirty="0">
                <a:solidFill>
                  <a:schemeClr val="tx1"/>
                </a:solidFill>
              </a:rPr>
              <a:t>рассмотрим следующее расписание: w</a:t>
            </a:r>
            <a:r>
              <a:rPr lang="ru-RU" sz="3200" baseline="-25000" dirty="0">
                <a:solidFill>
                  <a:schemeClr val="tx1"/>
                </a:solidFill>
              </a:rPr>
              <a:t>1</a:t>
            </a:r>
            <a:r>
              <a:rPr lang="ru-RU" sz="3200" dirty="0">
                <a:solidFill>
                  <a:schemeClr val="tx1"/>
                </a:solidFill>
              </a:rPr>
              <a:t>(x) w</a:t>
            </a:r>
            <a:r>
              <a:rPr lang="ru-RU" sz="3200" baseline="-25000" dirty="0">
                <a:solidFill>
                  <a:schemeClr val="tx1"/>
                </a:solidFill>
              </a:rPr>
              <a:t>2</a:t>
            </a:r>
            <a:r>
              <a:rPr lang="ru-RU" sz="3200" dirty="0">
                <a:solidFill>
                  <a:schemeClr val="tx1"/>
                </a:solidFill>
              </a:rPr>
              <a:t>(y) r</a:t>
            </a:r>
            <a:r>
              <a:rPr lang="ru-RU" sz="3200" baseline="-25000" dirty="0">
                <a:solidFill>
                  <a:schemeClr val="tx1"/>
                </a:solidFill>
              </a:rPr>
              <a:t>1</a:t>
            </a:r>
            <a:r>
              <a:rPr lang="ru-RU" sz="3200" dirty="0">
                <a:solidFill>
                  <a:schemeClr val="tx1"/>
                </a:solidFill>
              </a:rPr>
              <a:t>(y) r</a:t>
            </a:r>
            <a:r>
              <a:rPr lang="ru-RU" sz="3200" baseline="-25000" dirty="0">
                <a:solidFill>
                  <a:schemeClr val="tx1"/>
                </a:solidFill>
              </a:rPr>
              <a:t>2 </a:t>
            </a:r>
            <a:r>
              <a:rPr lang="ru-RU" sz="3200" dirty="0">
                <a:solidFill>
                  <a:schemeClr val="tx1"/>
                </a:solidFill>
              </a:rPr>
              <a:t>(x). </a:t>
            </a:r>
          </a:p>
          <a:p>
            <a:pPr>
              <a:lnSpc>
                <a:spcPct val="120000"/>
              </a:lnSpc>
              <a:buFont typeface="Wingdings" panose="05000000000000000000" pitchFamily="2" charset="2"/>
              <a:buChar char="§"/>
            </a:pPr>
            <a:r>
              <a:rPr lang="ru-RU" sz="3200" dirty="0">
                <a:solidFill>
                  <a:schemeClr val="tx1"/>
                </a:solidFill>
              </a:rPr>
              <a:t>В этом расписании транзакция t1 ожидает, когда транзакция t2 снимет блокировку на элемент данных y, при этом транзакция t2 ожидает снятия блокировки на x, которая никогда не будет снята, поскольку эта транзакция тоже находится в состоянии ожидания. </a:t>
            </a:r>
          </a:p>
          <a:p>
            <a:pPr>
              <a:lnSpc>
                <a:spcPct val="120000"/>
              </a:lnSpc>
              <a:buFont typeface="Wingdings" panose="05000000000000000000" pitchFamily="2" charset="2"/>
              <a:buChar char="§"/>
            </a:pPr>
            <a:r>
              <a:rPr lang="ru-RU" sz="3200" dirty="0">
                <a:solidFill>
                  <a:schemeClr val="tx1"/>
                </a:solidFill>
              </a:rPr>
              <a:t>Важно отметить, что для возникновения тупика </a:t>
            </a:r>
            <a:r>
              <a:rPr lang="ru-RU" sz="3200" b="1" dirty="0">
                <a:solidFill>
                  <a:schemeClr val="tx1"/>
                </a:solidFill>
              </a:rPr>
              <a:t>существенна несовместимость блокировок</a:t>
            </a:r>
            <a:r>
              <a:rPr lang="ru-RU" sz="3200" dirty="0">
                <a:solidFill>
                  <a:schemeClr val="tx1"/>
                </a:solidFill>
              </a:rPr>
              <a:t>, а не тип выполняемых операций. </a:t>
            </a:r>
          </a:p>
          <a:p>
            <a:pPr>
              <a:lnSpc>
                <a:spcPct val="120000"/>
              </a:lnSpc>
              <a:buFont typeface="Wingdings" panose="05000000000000000000" pitchFamily="2" charset="2"/>
              <a:buChar char="§"/>
            </a:pPr>
            <a:r>
              <a:rPr lang="ru-RU" sz="3200" dirty="0">
                <a:solidFill>
                  <a:schemeClr val="tx1"/>
                </a:solidFill>
              </a:rPr>
              <a:t>В </a:t>
            </a:r>
            <a:r>
              <a:rPr lang="ru-RU" sz="3200" dirty="0" err="1">
                <a:solidFill>
                  <a:schemeClr val="tx1"/>
                </a:solidFill>
              </a:rPr>
              <a:t>PostgreSQL</a:t>
            </a:r>
            <a:r>
              <a:rPr lang="ru-RU" sz="3200" dirty="0">
                <a:solidFill>
                  <a:schemeClr val="tx1"/>
                </a:solidFill>
              </a:rPr>
              <a:t> </a:t>
            </a:r>
            <a:r>
              <a:rPr lang="ru-RU" sz="3200" b="1" dirty="0">
                <a:solidFill>
                  <a:schemeClr val="tx1"/>
                </a:solidFill>
              </a:rPr>
              <a:t>блокировки на чтение обычно не устанавливаются</a:t>
            </a:r>
            <a:r>
              <a:rPr lang="ru-RU" sz="3200" dirty="0">
                <a:solidFill>
                  <a:schemeClr val="tx1"/>
                </a:solidFill>
              </a:rPr>
              <a:t>, поэтому ситуация тупика возникает, если в приведенном выше расписании </a:t>
            </a:r>
            <a:r>
              <a:rPr lang="ru-RU" sz="3200" b="1" dirty="0">
                <a:solidFill>
                  <a:schemeClr val="tx1"/>
                </a:solidFill>
              </a:rPr>
              <a:t>все операции будут операциями записи.</a:t>
            </a: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58</a:t>
            </a:fld>
            <a:endParaRPr lang="ru-RU" dirty="0"/>
          </a:p>
        </p:txBody>
      </p:sp>
    </p:spTree>
    <p:extLst>
      <p:ext uri="{BB962C8B-B14F-4D97-AF65-F5344CB8AC3E}">
        <p14:creationId xmlns:p14="http://schemas.microsoft.com/office/powerpoint/2010/main" val="1014212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up)">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19980"/>
            <a:ext cx="11921067" cy="565117"/>
          </a:xfrm>
        </p:spPr>
        <p:txBody>
          <a:bodyPr>
            <a:noAutofit/>
          </a:bodyPr>
          <a:lstStyle/>
          <a:p>
            <a:r>
              <a:rPr lang="ru-RU" sz="4000" dirty="0"/>
              <a:t>Тупики</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118533" y="532569"/>
            <a:ext cx="12073467" cy="6511956"/>
          </a:xfrm>
        </p:spPr>
        <p:txBody>
          <a:bodyPr>
            <a:normAutofit fontScale="70000" lnSpcReduction="20000"/>
          </a:bodyPr>
          <a:lstStyle/>
          <a:p>
            <a:pPr>
              <a:lnSpc>
                <a:spcPct val="120000"/>
              </a:lnSpc>
              <a:buFont typeface="Wingdings" panose="05000000000000000000" pitchFamily="2" charset="2"/>
              <a:buChar char="§"/>
            </a:pPr>
            <a:r>
              <a:rPr lang="ru-RU" sz="3200" dirty="0">
                <a:solidFill>
                  <a:schemeClr val="tx1"/>
                </a:solidFill>
              </a:rPr>
              <a:t>В отличие от систем других классов (например, операционных систем) в базах данных ситуация тупика не является катастрофической</a:t>
            </a:r>
          </a:p>
          <a:p>
            <a:pPr>
              <a:lnSpc>
                <a:spcPct val="120000"/>
              </a:lnSpc>
              <a:buFont typeface="Wingdings" panose="05000000000000000000" pitchFamily="2" charset="2"/>
              <a:buChar char="§"/>
            </a:pPr>
            <a:r>
              <a:rPr lang="ru-RU" sz="3200" dirty="0">
                <a:solidFill>
                  <a:schemeClr val="tx1"/>
                </a:solidFill>
              </a:rPr>
              <a:t>Для ее устранения </a:t>
            </a:r>
            <a:r>
              <a:rPr lang="ru-RU" sz="3200" b="1" dirty="0">
                <a:solidFill>
                  <a:schemeClr val="tx1"/>
                </a:solidFill>
              </a:rPr>
              <a:t>достаточно оборвать некоторые</a:t>
            </a:r>
            <a:r>
              <a:rPr lang="ru-RU" sz="3200" dirty="0">
                <a:solidFill>
                  <a:schemeClr val="tx1"/>
                </a:solidFill>
              </a:rPr>
              <a:t> </a:t>
            </a:r>
            <a:r>
              <a:rPr lang="ru-RU" sz="3200" b="1" dirty="0">
                <a:solidFill>
                  <a:schemeClr val="tx1"/>
                </a:solidFill>
              </a:rPr>
              <a:t>из оказавшихся в тупике транзакции</a:t>
            </a:r>
            <a:r>
              <a:rPr lang="ru-RU" sz="3200" dirty="0">
                <a:solidFill>
                  <a:schemeClr val="tx1"/>
                </a:solidFill>
              </a:rPr>
              <a:t>, а операция обрыва в силу принципа атомарности </a:t>
            </a:r>
            <a:r>
              <a:rPr lang="ru-RU" sz="3200" b="1" dirty="0">
                <a:solidFill>
                  <a:schemeClr val="tx1"/>
                </a:solidFill>
              </a:rPr>
              <a:t>не может привести к утрате согласованности или к разрушению данных. </a:t>
            </a:r>
          </a:p>
          <a:p>
            <a:pPr>
              <a:lnSpc>
                <a:spcPct val="120000"/>
              </a:lnSpc>
              <a:buFont typeface="Wingdings" panose="05000000000000000000" pitchFamily="2" charset="2"/>
              <a:buChar char="§"/>
            </a:pPr>
            <a:r>
              <a:rPr lang="ru-RU" sz="3200" dirty="0">
                <a:solidFill>
                  <a:schemeClr val="tx1"/>
                </a:solidFill>
              </a:rPr>
              <a:t>В связи с тупиками рассматриваются и решаются следующие задачи: </a:t>
            </a:r>
          </a:p>
          <a:p>
            <a:pPr lvl="1">
              <a:lnSpc>
                <a:spcPct val="120000"/>
              </a:lnSpc>
              <a:buFont typeface="Wingdings" panose="05000000000000000000" pitchFamily="2" charset="2"/>
              <a:buChar char="ü"/>
            </a:pPr>
            <a:r>
              <a:rPr lang="ru-RU" sz="3200" dirty="0">
                <a:solidFill>
                  <a:schemeClr val="tx1"/>
                </a:solidFill>
              </a:rPr>
              <a:t>обнаружение тупиков; </a:t>
            </a:r>
          </a:p>
          <a:p>
            <a:pPr lvl="1">
              <a:lnSpc>
                <a:spcPct val="120000"/>
              </a:lnSpc>
              <a:buFont typeface="Wingdings" panose="05000000000000000000" pitchFamily="2" charset="2"/>
              <a:buChar char="ü"/>
            </a:pPr>
            <a:r>
              <a:rPr lang="ru-RU" sz="3200" dirty="0">
                <a:solidFill>
                  <a:schemeClr val="tx1"/>
                </a:solidFill>
              </a:rPr>
              <a:t>разрешение тупиков; </a:t>
            </a:r>
          </a:p>
          <a:p>
            <a:pPr lvl="1">
              <a:lnSpc>
                <a:spcPct val="120000"/>
              </a:lnSpc>
              <a:buFont typeface="Wingdings" panose="05000000000000000000" pitchFamily="2" charset="2"/>
              <a:buChar char="ü"/>
            </a:pPr>
            <a:r>
              <a:rPr lang="ru-RU" sz="3200" dirty="0">
                <a:solidFill>
                  <a:schemeClr val="tx1"/>
                </a:solidFill>
              </a:rPr>
              <a:t>предотвращение тупиков.</a:t>
            </a:r>
          </a:p>
          <a:p>
            <a:pPr>
              <a:lnSpc>
                <a:spcPct val="120000"/>
              </a:lnSpc>
              <a:buFont typeface="Wingdings" panose="05000000000000000000" pitchFamily="2" charset="2"/>
              <a:buChar char="§"/>
            </a:pPr>
            <a:r>
              <a:rPr lang="ru-RU" sz="3200" dirty="0">
                <a:solidFill>
                  <a:schemeClr val="tx1"/>
                </a:solidFill>
              </a:rPr>
              <a:t>Точный </a:t>
            </a:r>
            <a:r>
              <a:rPr lang="ru-RU" sz="3400" b="1" dirty="0">
                <a:solidFill>
                  <a:srgbClr val="C00000"/>
                </a:solidFill>
              </a:rPr>
              <a:t>алгоритм для обнаружения тупиков </a:t>
            </a:r>
            <a:r>
              <a:rPr lang="ru-RU" sz="3200" dirty="0">
                <a:solidFill>
                  <a:schemeClr val="tx1"/>
                </a:solidFill>
              </a:rPr>
              <a:t>основан на </a:t>
            </a:r>
            <a:r>
              <a:rPr lang="ru-RU" sz="3200" b="1" dirty="0">
                <a:solidFill>
                  <a:srgbClr val="C00000"/>
                </a:solidFill>
              </a:rPr>
              <a:t>понятии графа ожиданий</a:t>
            </a:r>
            <a:r>
              <a:rPr lang="ru-RU" sz="3200" dirty="0">
                <a:solidFill>
                  <a:schemeClr val="tx1"/>
                </a:solidFill>
              </a:rPr>
              <a:t>. </a:t>
            </a:r>
          </a:p>
          <a:p>
            <a:pPr>
              <a:lnSpc>
                <a:spcPct val="120000"/>
              </a:lnSpc>
              <a:buFont typeface="Wingdings" panose="05000000000000000000" pitchFamily="2" charset="2"/>
              <a:buChar char="§"/>
            </a:pPr>
            <a:r>
              <a:rPr lang="ru-RU" sz="3200" b="1" dirty="0">
                <a:solidFill>
                  <a:schemeClr val="tx1"/>
                </a:solidFill>
              </a:rPr>
              <a:t>Вершины этого графа </a:t>
            </a:r>
            <a:r>
              <a:rPr lang="ru-RU" sz="3200" dirty="0">
                <a:solidFill>
                  <a:schemeClr val="tx1"/>
                </a:solidFill>
              </a:rPr>
              <a:t>представляют </a:t>
            </a:r>
            <a:r>
              <a:rPr lang="ru-RU" sz="3200" b="1" dirty="0">
                <a:solidFill>
                  <a:schemeClr val="tx1"/>
                </a:solidFill>
              </a:rPr>
              <a:t>активные транзакции</a:t>
            </a:r>
            <a:r>
              <a:rPr lang="ru-RU" sz="3200" dirty="0">
                <a:solidFill>
                  <a:schemeClr val="tx1"/>
                </a:solidFill>
              </a:rPr>
              <a:t>, а </a:t>
            </a:r>
            <a:r>
              <a:rPr lang="ru-RU" sz="3200" b="1" dirty="0">
                <a:solidFill>
                  <a:schemeClr val="tx1"/>
                </a:solidFill>
              </a:rPr>
              <a:t>направленные дуги </a:t>
            </a:r>
            <a:r>
              <a:rPr lang="ru-RU" sz="3200" dirty="0">
                <a:solidFill>
                  <a:schemeClr val="tx1"/>
                </a:solidFill>
              </a:rPr>
              <a:t>соединяют </a:t>
            </a:r>
            <a:r>
              <a:rPr lang="ru-RU" sz="3200" b="1" dirty="0">
                <a:solidFill>
                  <a:schemeClr val="tx1"/>
                </a:solidFill>
              </a:rPr>
              <a:t>ожидающие транзакции </a:t>
            </a:r>
            <a:r>
              <a:rPr lang="ru-RU" sz="3200" dirty="0">
                <a:solidFill>
                  <a:schemeClr val="tx1"/>
                </a:solidFill>
              </a:rPr>
              <a:t>с теми </a:t>
            </a:r>
            <a:r>
              <a:rPr lang="ru-RU" sz="3200" b="1" dirty="0">
                <a:solidFill>
                  <a:schemeClr val="tx1"/>
                </a:solidFill>
              </a:rPr>
              <a:t>транзакциями, которые удерживают блокировки на ожидаемый элемент данных. </a:t>
            </a:r>
          </a:p>
          <a:p>
            <a:pPr>
              <a:lnSpc>
                <a:spcPct val="120000"/>
              </a:lnSpc>
              <a:buFont typeface="Wingdings" panose="05000000000000000000" pitchFamily="2" charset="2"/>
              <a:buChar char="§"/>
            </a:pPr>
            <a:r>
              <a:rPr lang="ru-RU" sz="3200" dirty="0">
                <a:solidFill>
                  <a:schemeClr val="tx1"/>
                </a:solidFill>
              </a:rPr>
              <a:t>Ситуация тупика имеет место тогда и только тогда, когда </a:t>
            </a:r>
            <a:r>
              <a:rPr lang="ru-RU" sz="3200" b="1" dirty="0">
                <a:solidFill>
                  <a:schemeClr val="tx1"/>
                </a:solidFill>
              </a:rPr>
              <a:t>граф ожиданий содержит контур</a:t>
            </a:r>
            <a:r>
              <a:rPr lang="ru-RU" sz="3200" dirty="0">
                <a:solidFill>
                  <a:schemeClr val="tx1"/>
                </a:solidFill>
              </a:rPr>
              <a:t>.</a:t>
            </a:r>
          </a:p>
          <a:p>
            <a:pPr>
              <a:lnSpc>
                <a:spcPct val="120000"/>
              </a:lnSpc>
              <a:buFont typeface="Wingdings" panose="05000000000000000000" pitchFamily="2" charset="2"/>
              <a:buChar char="§"/>
            </a:pPr>
            <a:r>
              <a:rPr lang="ru-RU" sz="3200" dirty="0">
                <a:solidFill>
                  <a:schemeClr val="tx1"/>
                </a:solidFill>
              </a:rPr>
              <a:t>Этот алгоритм, однако, </a:t>
            </a:r>
            <a:r>
              <a:rPr lang="ru-RU" sz="3200" b="1" dirty="0">
                <a:solidFill>
                  <a:schemeClr val="tx1"/>
                </a:solidFill>
              </a:rPr>
              <a:t>трудно реализуем в распределенных системах</a:t>
            </a:r>
            <a:r>
              <a:rPr lang="ru-RU" sz="3200" dirty="0">
                <a:solidFill>
                  <a:schemeClr val="tx1"/>
                </a:solidFill>
              </a:rPr>
              <a:t>, поскольку информация о состояниях ожиданий может утратить актуальность за время, необходимое для сбора этой информации по сети, что может привести к обнаружению ложных тупиков.</a:t>
            </a:r>
            <a:endParaRPr lang="ru-RU" sz="3200" b="1" dirty="0">
              <a:solidFill>
                <a:schemeClr val="tx1"/>
              </a:solidFill>
            </a:endParaRP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59</a:t>
            </a:fld>
            <a:endParaRPr lang="ru-RU" dirty="0"/>
          </a:p>
        </p:txBody>
      </p:sp>
    </p:spTree>
    <p:extLst>
      <p:ext uri="{BB962C8B-B14F-4D97-AF65-F5344CB8AC3E}">
        <p14:creationId xmlns:p14="http://schemas.microsoft.com/office/powerpoint/2010/main" val="1667258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up)">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up)">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up)">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up)">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wipe(up)">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19980"/>
            <a:ext cx="11921067" cy="565117"/>
          </a:xfrm>
        </p:spPr>
        <p:txBody>
          <a:bodyPr>
            <a:noAutofit/>
          </a:bodyPr>
          <a:lstStyle/>
          <a:p>
            <a:r>
              <a:rPr lang="ru-RU" sz="4000" dirty="0"/>
              <a:t>Разрешение тупиков</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118533" y="532569"/>
            <a:ext cx="12073467" cy="6511956"/>
          </a:xfrm>
        </p:spPr>
        <p:txBody>
          <a:bodyPr>
            <a:normAutofit fontScale="62500" lnSpcReduction="20000"/>
          </a:bodyPr>
          <a:lstStyle/>
          <a:p>
            <a:pPr>
              <a:lnSpc>
                <a:spcPct val="120000"/>
              </a:lnSpc>
              <a:buFont typeface="Wingdings" panose="05000000000000000000" pitchFamily="2" charset="2"/>
              <a:buChar char="§"/>
            </a:pPr>
            <a:r>
              <a:rPr lang="ru-RU" sz="3200" dirty="0">
                <a:solidFill>
                  <a:schemeClr val="tx1"/>
                </a:solidFill>
              </a:rPr>
              <a:t>После того как тупик обнаружен, его необходимо разрешить. </a:t>
            </a:r>
          </a:p>
          <a:p>
            <a:pPr>
              <a:lnSpc>
                <a:spcPct val="120000"/>
              </a:lnSpc>
              <a:buFont typeface="Wingdings" panose="05000000000000000000" pitchFamily="2" charset="2"/>
              <a:buChar char="§"/>
            </a:pPr>
            <a:r>
              <a:rPr lang="ru-RU" sz="3200" dirty="0">
                <a:solidFill>
                  <a:schemeClr val="tx1"/>
                </a:solidFill>
              </a:rPr>
              <a:t>Для этого достаточно оборвать одну из транзакций, оказавшихся на контуре. </a:t>
            </a:r>
          </a:p>
          <a:p>
            <a:pPr>
              <a:lnSpc>
                <a:spcPct val="120000"/>
              </a:lnSpc>
              <a:buFont typeface="Wingdings" panose="05000000000000000000" pitchFamily="2" charset="2"/>
              <a:buChar char="§"/>
            </a:pPr>
            <a:r>
              <a:rPr lang="ru-RU" sz="3200" dirty="0">
                <a:solidFill>
                  <a:schemeClr val="tx1"/>
                </a:solidFill>
              </a:rPr>
              <a:t>Существуют различные эвристические стратегии выбора жертвы: случайный выбор, с позднейшим временем начала и т. п. </a:t>
            </a:r>
          </a:p>
          <a:p>
            <a:pPr>
              <a:lnSpc>
                <a:spcPct val="120000"/>
              </a:lnSpc>
              <a:buFont typeface="Wingdings" panose="05000000000000000000" pitchFamily="2" charset="2"/>
              <a:buChar char="§"/>
            </a:pPr>
            <a:r>
              <a:rPr lang="ru-RU" sz="3200" dirty="0">
                <a:solidFill>
                  <a:schemeClr val="tx1"/>
                </a:solidFill>
              </a:rPr>
              <a:t>Во многих СУБД в качестве альтернативы для поиска тупиков используется ограничение времени, в течение которого транзакция может находиться в состоянии ожидания. </a:t>
            </a:r>
          </a:p>
          <a:p>
            <a:pPr>
              <a:lnSpc>
                <a:spcPct val="120000"/>
              </a:lnSpc>
              <a:buFont typeface="Wingdings" panose="05000000000000000000" pitchFamily="2" charset="2"/>
              <a:buChar char="§"/>
            </a:pPr>
            <a:r>
              <a:rPr lang="ru-RU" sz="3200" dirty="0">
                <a:solidFill>
                  <a:schemeClr val="tx1"/>
                </a:solidFill>
              </a:rPr>
              <a:t>Все упомянутые </a:t>
            </a:r>
            <a:r>
              <a:rPr lang="ru-RU" sz="3200" b="1" dirty="0">
                <a:solidFill>
                  <a:schemeClr val="tx1"/>
                </a:solidFill>
              </a:rPr>
              <a:t>варианты двухфазного протокола </a:t>
            </a:r>
            <a:r>
              <a:rPr lang="ru-RU" sz="3200" dirty="0">
                <a:solidFill>
                  <a:schemeClr val="tx1"/>
                </a:solidFill>
              </a:rPr>
              <a:t>блокирования </a:t>
            </a:r>
            <a:r>
              <a:rPr lang="ru-RU" sz="3200" b="1" dirty="0">
                <a:solidFill>
                  <a:schemeClr val="tx1"/>
                </a:solidFill>
              </a:rPr>
              <a:t>несвободны от тупиков</a:t>
            </a:r>
            <a:r>
              <a:rPr lang="ru-RU" sz="3200" dirty="0">
                <a:solidFill>
                  <a:schemeClr val="tx1"/>
                </a:solidFill>
              </a:rPr>
              <a:t>. </a:t>
            </a:r>
          </a:p>
          <a:p>
            <a:pPr>
              <a:lnSpc>
                <a:spcPct val="120000"/>
              </a:lnSpc>
              <a:buFont typeface="Wingdings" panose="05000000000000000000" pitchFamily="2" charset="2"/>
              <a:buChar char="§"/>
            </a:pPr>
            <a:r>
              <a:rPr lang="ru-RU" sz="3200" dirty="0">
                <a:solidFill>
                  <a:schemeClr val="tx1"/>
                </a:solidFill>
              </a:rPr>
              <a:t>Однако существует </a:t>
            </a:r>
            <a:r>
              <a:rPr lang="ru-RU" sz="3200" b="1" dirty="0">
                <a:solidFill>
                  <a:schemeClr val="tx1"/>
                </a:solidFill>
              </a:rPr>
              <a:t>несколько модификаций, в которых возникновение тупиков предотвращается</a:t>
            </a:r>
            <a:r>
              <a:rPr lang="ru-RU" sz="3200" dirty="0">
                <a:solidFill>
                  <a:schemeClr val="tx1"/>
                </a:solidFill>
              </a:rPr>
              <a:t>, например: </a:t>
            </a:r>
          </a:p>
          <a:p>
            <a:pPr lvl="1">
              <a:lnSpc>
                <a:spcPct val="120000"/>
              </a:lnSpc>
              <a:buFont typeface="Wingdings" panose="05000000000000000000" pitchFamily="2" charset="2"/>
              <a:buChar char="ü"/>
            </a:pPr>
            <a:r>
              <a:rPr lang="ru-RU" sz="3200" b="1" dirty="0">
                <a:solidFill>
                  <a:schemeClr val="tx1"/>
                </a:solidFill>
              </a:rPr>
              <a:t>обрыв вместо ожидания </a:t>
            </a:r>
            <a:r>
              <a:rPr lang="ru-RU" sz="3200" dirty="0">
                <a:solidFill>
                  <a:schemeClr val="tx1"/>
                </a:solidFill>
              </a:rPr>
              <a:t>— транзакция, которая пытается установить несовместимый замок, обрывается;</a:t>
            </a:r>
          </a:p>
          <a:p>
            <a:pPr lvl="1">
              <a:lnSpc>
                <a:spcPct val="120000"/>
              </a:lnSpc>
              <a:buFont typeface="Wingdings" panose="05000000000000000000" pitchFamily="2" charset="2"/>
              <a:buChar char="ü"/>
            </a:pPr>
            <a:r>
              <a:rPr lang="ru-RU" sz="3200" b="1" dirty="0">
                <a:solidFill>
                  <a:schemeClr val="tx1"/>
                </a:solidFill>
              </a:rPr>
              <a:t>обрыв по приоритету </a:t>
            </a:r>
            <a:r>
              <a:rPr lang="ru-RU" sz="3200" dirty="0">
                <a:solidFill>
                  <a:schemeClr val="tx1"/>
                </a:solidFill>
              </a:rPr>
              <a:t>— все транзакции запускаются с низким приоритетом, при попытке установить несовместимую блокировку </a:t>
            </a:r>
            <a:r>
              <a:rPr lang="ru-RU" sz="3200" b="1" dirty="0">
                <a:solidFill>
                  <a:schemeClr val="tx1"/>
                </a:solidFill>
              </a:rPr>
              <a:t>обрывается транзакция с меньшим приоритетом и ее приоритет увеличивается при повтором запуске</a:t>
            </a:r>
            <a:r>
              <a:rPr lang="ru-RU" sz="3200" dirty="0">
                <a:solidFill>
                  <a:schemeClr val="tx1"/>
                </a:solidFill>
              </a:rPr>
              <a:t>; </a:t>
            </a:r>
          </a:p>
          <a:p>
            <a:pPr lvl="1">
              <a:lnSpc>
                <a:spcPct val="120000"/>
              </a:lnSpc>
              <a:buFont typeface="Wingdings" panose="05000000000000000000" pitchFamily="2" charset="2"/>
              <a:buChar char="ü"/>
            </a:pPr>
            <a:r>
              <a:rPr lang="ru-RU" sz="3200" b="1" dirty="0">
                <a:solidFill>
                  <a:schemeClr val="tx1"/>
                </a:solidFill>
              </a:rPr>
              <a:t>ожидание по приоритету </a:t>
            </a:r>
            <a:r>
              <a:rPr lang="ru-RU" sz="3200" dirty="0">
                <a:solidFill>
                  <a:schemeClr val="tx1"/>
                </a:solidFill>
              </a:rPr>
              <a:t>— если </a:t>
            </a:r>
            <a:r>
              <a:rPr lang="ru-RU" sz="3200" b="1" dirty="0">
                <a:solidFill>
                  <a:schemeClr val="tx1"/>
                </a:solidFill>
              </a:rPr>
              <a:t>несовместимый замок </a:t>
            </a:r>
            <a:r>
              <a:rPr lang="ru-RU" sz="3200" dirty="0">
                <a:solidFill>
                  <a:schemeClr val="tx1"/>
                </a:solidFill>
              </a:rPr>
              <a:t>пытается установить </a:t>
            </a:r>
            <a:r>
              <a:rPr lang="ru-RU" sz="3200" b="1" dirty="0">
                <a:solidFill>
                  <a:schemeClr val="tx1"/>
                </a:solidFill>
              </a:rPr>
              <a:t>транзакция с более высоким приоритетом,</a:t>
            </a:r>
            <a:r>
              <a:rPr lang="ru-RU" sz="3200" dirty="0">
                <a:solidFill>
                  <a:schemeClr val="tx1"/>
                </a:solidFill>
              </a:rPr>
              <a:t> то </a:t>
            </a:r>
            <a:r>
              <a:rPr lang="ru-RU" sz="3200" b="1" dirty="0">
                <a:solidFill>
                  <a:schemeClr val="tx1"/>
                </a:solidFill>
              </a:rPr>
              <a:t>низкоприоритетная обрывается</a:t>
            </a:r>
            <a:r>
              <a:rPr lang="ru-RU" sz="3200" dirty="0">
                <a:solidFill>
                  <a:schemeClr val="tx1"/>
                </a:solidFill>
              </a:rPr>
              <a:t>, а если наоборот — </a:t>
            </a:r>
            <a:r>
              <a:rPr lang="ru-RU" sz="3200" b="1" dirty="0">
                <a:solidFill>
                  <a:schemeClr val="tx1"/>
                </a:solidFill>
              </a:rPr>
              <a:t>то низкоприоритетная ожидает; </a:t>
            </a:r>
          </a:p>
          <a:p>
            <a:pPr lvl="1">
              <a:lnSpc>
                <a:spcPct val="120000"/>
              </a:lnSpc>
              <a:buFont typeface="Wingdings" panose="05000000000000000000" pitchFamily="2" charset="2"/>
              <a:buChar char="ü"/>
            </a:pPr>
            <a:r>
              <a:rPr lang="ru-RU" sz="3200" b="1" dirty="0">
                <a:solidFill>
                  <a:schemeClr val="tx1"/>
                </a:solidFill>
              </a:rPr>
              <a:t>по времени старта </a:t>
            </a:r>
            <a:r>
              <a:rPr lang="ru-RU" sz="3200" dirty="0">
                <a:solidFill>
                  <a:schemeClr val="tx1"/>
                </a:solidFill>
              </a:rPr>
              <a:t>— ожидать может только </a:t>
            </a:r>
            <a:r>
              <a:rPr lang="ru-RU" sz="3200" b="1" dirty="0">
                <a:solidFill>
                  <a:schemeClr val="tx1"/>
                </a:solidFill>
              </a:rPr>
              <a:t>транзакция, стартовавшая позже транзакции, удерживающей блокировку</a:t>
            </a: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60</a:t>
            </a:fld>
            <a:endParaRPr lang="ru-RU" dirty="0"/>
          </a:p>
        </p:txBody>
      </p:sp>
    </p:spTree>
    <p:extLst>
      <p:ext uri="{BB962C8B-B14F-4D97-AF65-F5344CB8AC3E}">
        <p14:creationId xmlns:p14="http://schemas.microsoft.com/office/powerpoint/2010/main" val="1477960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up)">
                                      <p:cBhvr>
                                        <p:cTn id="32" dur="500"/>
                                        <p:tgtEl>
                                          <p:spTgt spid="3">
                                            <p:txEl>
                                              <p:pRg st="5" end="5"/>
                                            </p:txEl>
                                          </p:spTgt>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wipe(up)">
                                      <p:cBhvr>
                                        <p:cTn id="35" dur="500"/>
                                        <p:tgtEl>
                                          <p:spTgt spid="3">
                                            <p:txEl>
                                              <p:pRg st="6" end="6"/>
                                            </p:txEl>
                                          </p:spTgt>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wipe(up)">
                                      <p:cBhvr>
                                        <p:cTn id="38" dur="500"/>
                                        <p:tgtEl>
                                          <p:spTgt spid="3">
                                            <p:txEl>
                                              <p:pRg st="7" end="7"/>
                                            </p:txEl>
                                          </p:spTgt>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wipe(up)">
                                      <p:cBhvr>
                                        <p:cTn id="41" dur="500"/>
                                        <p:tgtEl>
                                          <p:spTgt spid="3">
                                            <p:txEl>
                                              <p:pRg st="8" end="8"/>
                                            </p:txEl>
                                          </p:spTgt>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animEffect transition="in" filter="wipe(up)">
                                      <p:cBhvr>
                                        <p:cTn id="4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19980"/>
            <a:ext cx="11921067" cy="565117"/>
          </a:xfrm>
        </p:spPr>
        <p:txBody>
          <a:bodyPr>
            <a:noAutofit/>
          </a:bodyPr>
          <a:lstStyle/>
          <a:p>
            <a:r>
              <a:rPr lang="ru-RU" sz="4000" dirty="0"/>
              <a:t>Предотвращение тупиков</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118533" y="930441"/>
            <a:ext cx="12073467" cy="6114083"/>
          </a:xfrm>
        </p:spPr>
        <p:txBody>
          <a:bodyPr>
            <a:normAutofit/>
          </a:bodyPr>
          <a:lstStyle/>
          <a:p>
            <a:pPr>
              <a:lnSpc>
                <a:spcPct val="120000"/>
              </a:lnSpc>
              <a:buFont typeface="Wingdings" panose="05000000000000000000" pitchFamily="2" charset="2"/>
              <a:buChar char="§"/>
            </a:pPr>
            <a:r>
              <a:rPr lang="ru-RU" sz="3200" dirty="0"/>
              <a:t>Все варианты </a:t>
            </a:r>
            <a:r>
              <a:rPr lang="ru-RU" sz="3200" b="1" dirty="0"/>
              <a:t>протоколов с предотвращением тупиков </a:t>
            </a:r>
            <a:r>
              <a:rPr lang="ru-RU" sz="3200" dirty="0"/>
              <a:t>приводят к существенному </a:t>
            </a:r>
            <a:r>
              <a:rPr lang="ru-RU" sz="3200" b="1" dirty="0"/>
              <a:t>увеличению доли оборванных транзакций</a:t>
            </a:r>
            <a:r>
              <a:rPr lang="ru-RU" sz="3200" dirty="0"/>
              <a:t>.</a:t>
            </a:r>
          </a:p>
          <a:p>
            <a:pPr>
              <a:lnSpc>
                <a:spcPct val="120000"/>
              </a:lnSpc>
              <a:buFont typeface="Wingdings" panose="05000000000000000000" pitchFamily="2" charset="2"/>
              <a:buChar char="§"/>
            </a:pPr>
            <a:r>
              <a:rPr lang="ru-RU" sz="3200" dirty="0"/>
              <a:t>Их целесообразно использовать только в тех случаях, когда состояние ожидания нежелательно. </a:t>
            </a:r>
          </a:p>
          <a:p>
            <a:pPr>
              <a:lnSpc>
                <a:spcPct val="120000"/>
              </a:lnSpc>
              <a:buFont typeface="Wingdings" panose="05000000000000000000" pitchFamily="2" charset="2"/>
              <a:buChar char="§"/>
            </a:pPr>
            <a:r>
              <a:rPr lang="ru-RU" sz="3200" dirty="0"/>
              <a:t>Например, вариант двухфазного протокола блокирования с обрывами вместо ожиданий применяется в </a:t>
            </a:r>
            <a:r>
              <a:rPr lang="ru-RU" sz="3200" b="1" dirty="0"/>
              <a:t>системах транзакционной оперативной памяти.</a:t>
            </a:r>
            <a:endParaRPr lang="ru-RU" sz="3200" b="1" dirty="0">
              <a:solidFill>
                <a:schemeClr val="tx1"/>
              </a:solidFill>
            </a:endParaRP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61</a:t>
            </a:fld>
            <a:endParaRPr lang="ru-RU" dirty="0"/>
          </a:p>
        </p:txBody>
      </p:sp>
    </p:spTree>
    <p:extLst>
      <p:ext uri="{BB962C8B-B14F-4D97-AF65-F5344CB8AC3E}">
        <p14:creationId xmlns:p14="http://schemas.microsoft.com/office/powerpoint/2010/main" val="3651474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19980"/>
            <a:ext cx="11921067" cy="565117"/>
          </a:xfrm>
        </p:spPr>
        <p:txBody>
          <a:bodyPr>
            <a:noAutofit/>
          </a:bodyPr>
          <a:lstStyle/>
          <a:p>
            <a:r>
              <a:rPr lang="ru-RU" sz="3600" dirty="0"/>
              <a:t>Другие протоколы на основе блокирования</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194732" y="567361"/>
            <a:ext cx="12073467" cy="6114083"/>
          </a:xfrm>
        </p:spPr>
        <p:txBody>
          <a:bodyPr>
            <a:normAutofit fontScale="85000" lnSpcReduction="10000"/>
          </a:bodyPr>
          <a:lstStyle/>
          <a:p>
            <a:pPr>
              <a:lnSpc>
                <a:spcPct val="120000"/>
              </a:lnSpc>
              <a:buFont typeface="Wingdings" panose="05000000000000000000" pitchFamily="2" charset="2"/>
              <a:buChar char="§"/>
            </a:pPr>
            <a:r>
              <a:rPr lang="ru-RU" sz="3200" dirty="0"/>
              <a:t>Не все протоколы, использующие блокировки, являются двухфазными. </a:t>
            </a:r>
          </a:p>
          <a:p>
            <a:pPr>
              <a:lnSpc>
                <a:spcPct val="120000"/>
              </a:lnSpc>
              <a:buFont typeface="Wingdings" panose="05000000000000000000" pitchFamily="2" charset="2"/>
              <a:buChar char="§"/>
            </a:pPr>
            <a:r>
              <a:rPr lang="ru-RU" sz="3200" dirty="0"/>
              <a:t>В учебниках по СУБД обычно рассматривается протокол WTL (</a:t>
            </a:r>
            <a:r>
              <a:rPr lang="ru-RU" sz="3200" dirty="0" err="1"/>
              <a:t>write-only</a:t>
            </a:r>
            <a:r>
              <a:rPr lang="ru-RU" sz="3200" dirty="0"/>
              <a:t> </a:t>
            </a:r>
            <a:r>
              <a:rPr lang="ru-RU" sz="3200" dirty="0" err="1"/>
              <a:t>tree</a:t>
            </a:r>
            <a:r>
              <a:rPr lang="ru-RU" sz="3200" dirty="0"/>
              <a:t> </a:t>
            </a:r>
            <a:r>
              <a:rPr lang="ru-RU" sz="3200" dirty="0" err="1"/>
              <a:t>locking</a:t>
            </a:r>
            <a:r>
              <a:rPr lang="ru-RU" sz="3200" dirty="0"/>
              <a:t>)</a:t>
            </a:r>
          </a:p>
          <a:p>
            <a:pPr>
              <a:lnSpc>
                <a:spcPct val="120000"/>
              </a:lnSpc>
              <a:buFont typeface="Wingdings" panose="05000000000000000000" pitchFamily="2" charset="2"/>
              <a:buChar char="§"/>
            </a:pPr>
            <a:r>
              <a:rPr lang="ru-RU" sz="3200" dirty="0"/>
              <a:t>Предполагается, что база данных структурирована в виде иерархического дерева. </a:t>
            </a:r>
          </a:p>
          <a:p>
            <a:pPr>
              <a:lnSpc>
                <a:spcPct val="120000"/>
              </a:lnSpc>
              <a:buFont typeface="Wingdings" panose="05000000000000000000" pitchFamily="2" charset="2"/>
              <a:buChar char="§"/>
            </a:pPr>
            <a:r>
              <a:rPr lang="ru-RU" sz="3200" dirty="0"/>
              <a:t>Работа этого протокола основана на том, что структура дерева накладывает ограничения на пути навигации в данных: </a:t>
            </a:r>
            <a:r>
              <a:rPr lang="ru-RU" sz="3200" b="1" dirty="0"/>
              <a:t>допускаются только переходы от предков к потомкам. </a:t>
            </a:r>
          </a:p>
          <a:p>
            <a:pPr>
              <a:lnSpc>
                <a:spcPct val="120000"/>
              </a:lnSpc>
              <a:buFont typeface="Wingdings" panose="05000000000000000000" pitchFamily="2" charset="2"/>
              <a:buChar char="§"/>
            </a:pPr>
            <a:r>
              <a:rPr lang="ru-RU" sz="3200" dirty="0"/>
              <a:t>Этот протокол </a:t>
            </a:r>
            <a:r>
              <a:rPr lang="ru-RU" sz="3200" b="1" dirty="0"/>
              <a:t>свободен от тупиков</a:t>
            </a:r>
            <a:r>
              <a:rPr lang="ru-RU" sz="3200" dirty="0"/>
              <a:t> и мог бы применяться, например, для индексов. </a:t>
            </a:r>
          </a:p>
          <a:p>
            <a:pPr>
              <a:lnSpc>
                <a:spcPct val="120000"/>
              </a:lnSpc>
              <a:buFont typeface="Wingdings" panose="05000000000000000000" pitchFamily="2" charset="2"/>
              <a:buChar char="§"/>
            </a:pPr>
            <a:r>
              <a:rPr lang="ru-RU" sz="3200" dirty="0"/>
              <a:t>Однако </a:t>
            </a:r>
            <a:r>
              <a:rPr lang="ru-RU" sz="3200" b="1" dirty="0"/>
              <a:t>для индексных структур известны более эффективные протоколы блокирования</a:t>
            </a:r>
            <a:r>
              <a:rPr lang="ru-RU" sz="3200" dirty="0"/>
              <a:t>. </a:t>
            </a: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62</a:t>
            </a:fld>
            <a:endParaRPr lang="ru-RU" dirty="0"/>
          </a:p>
        </p:txBody>
      </p:sp>
    </p:spTree>
    <p:extLst>
      <p:ext uri="{BB962C8B-B14F-4D97-AF65-F5344CB8AC3E}">
        <p14:creationId xmlns:p14="http://schemas.microsoft.com/office/powerpoint/2010/main" val="3540868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up)">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19980"/>
            <a:ext cx="11921067" cy="565117"/>
          </a:xfrm>
        </p:spPr>
        <p:txBody>
          <a:bodyPr>
            <a:noAutofit/>
          </a:bodyPr>
          <a:lstStyle/>
          <a:p>
            <a:r>
              <a:rPr lang="ru-RU" sz="3600" dirty="0"/>
              <a:t>Другие протоколы на основе блокирования</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118533" y="567359"/>
            <a:ext cx="12073467" cy="6612929"/>
          </a:xfrm>
        </p:spPr>
        <p:txBody>
          <a:bodyPr>
            <a:noAutofit/>
          </a:bodyPr>
          <a:lstStyle/>
          <a:p>
            <a:pPr>
              <a:buFont typeface="Wingdings" panose="05000000000000000000" pitchFamily="2" charset="2"/>
              <a:buChar char="§"/>
            </a:pPr>
            <a:r>
              <a:rPr lang="ru-RU" sz="2400" dirty="0">
                <a:solidFill>
                  <a:schemeClr val="tx1"/>
                </a:solidFill>
              </a:rPr>
              <a:t>Простая модель базы данных, предусматривающая только операции чтения и записи, </a:t>
            </a:r>
            <a:r>
              <a:rPr lang="ru-RU" sz="2400" b="1" dirty="0">
                <a:solidFill>
                  <a:schemeClr val="tx1"/>
                </a:solidFill>
              </a:rPr>
              <a:t>недостаточна для поддержки высокоуровневых языков запросов</a:t>
            </a:r>
            <a:r>
              <a:rPr lang="ru-RU" sz="2400" dirty="0">
                <a:solidFill>
                  <a:schemeClr val="tx1"/>
                </a:solidFill>
              </a:rPr>
              <a:t>.</a:t>
            </a:r>
          </a:p>
          <a:p>
            <a:pPr>
              <a:buFont typeface="Wingdings" panose="05000000000000000000" pitchFamily="2" charset="2"/>
              <a:buChar char="§"/>
            </a:pPr>
            <a:r>
              <a:rPr lang="ru-RU" sz="2400" dirty="0">
                <a:solidFill>
                  <a:schemeClr val="tx1"/>
                </a:solidFill>
              </a:rPr>
              <a:t>При ассоциативном доступе к данным (выборке данных по условию, например, как в операторах SQL, </a:t>
            </a:r>
            <a:r>
              <a:rPr lang="ru-RU" sz="2400" b="1" dirty="0">
                <a:solidFill>
                  <a:schemeClr val="tx1"/>
                </a:solidFill>
              </a:rPr>
              <a:t>содержащих предложение WHERE</a:t>
            </a:r>
            <a:r>
              <a:rPr lang="ru-RU" sz="2400" dirty="0">
                <a:solidFill>
                  <a:schemeClr val="tx1"/>
                </a:solidFill>
              </a:rPr>
              <a:t>) </a:t>
            </a:r>
            <a:r>
              <a:rPr lang="ru-RU" sz="2400" b="1" dirty="0">
                <a:solidFill>
                  <a:schemeClr val="tx1"/>
                </a:solidFill>
              </a:rPr>
              <a:t>множество элементов данных </a:t>
            </a:r>
            <a:r>
              <a:rPr lang="ru-RU" sz="2400" dirty="0">
                <a:solidFill>
                  <a:schemeClr val="tx1"/>
                </a:solidFill>
              </a:rPr>
              <a:t>(строк таблиц), обрабатываемых оператором, </a:t>
            </a:r>
            <a:r>
              <a:rPr lang="ru-RU" sz="2400" b="1" dirty="0">
                <a:solidFill>
                  <a:schemeClr val="tx1"/>
                </a:solidFill>
              </a:rPr>
              <a:t>становится известно только во время выполнения оператора,</a:t>
            </a:r>
            <a:r>
              <a:rPr lang="ru-RU" sz="2400" dirty="0">
                <a:solidFill>
                  <a:schemeClr val="tx1"/>
                </a:solidFill>
              </a:rPr>
              <a:t> что </a:t>
            </a:r>
            <a:r>
              <a:rPr lang="ru-RU" sz="2400" b="1" dirty="0">
                <a:solidFill>
                  <a:schemeClr val="tx1"/>
                </a:solidFill>
              </a:rPr>
              <a:t>исключает возможность предварительной блокировки этих данных</a:t>
            </a:r>
            <a:r>
              <a:rPr lang="ru-RU" sz="2400" dirty="0">
                <a:solidFill>
                  <a:schemeClr val="tx1"/>
                </a:solidFill>
              </a:rPr>
              <a:t>. </a:t>
            </a:r>
          </a:p>
          <a:p>
            <a:pPr>
              <a:buFont typeface="Wingdings" panose="05000000000000000000" pitchFamily="2" charset="2"/>
              <a:buChar char="§"/>
            </a:pPr>
            <a:r>
              <a:rPr lang="ru-RU" sz="2400" dirty="0">
                <a:solidFill>
                  <a:schemeClr val="tx1"/>
                </a:solidFill>
              </a:rPr>
              <a:t>Элегантное решение (предложенное одновременно с двухфазным протоколом блокирования и дополняющее этот протокол) состоит в применении предикатных блокировок </a:t>
            </a:r>
          </a:p>
          <a:p>
            <a:pPr>
              <a:buFont typeface="Wingdings" panose="05000000000000000000" pitchFamily="2" charset="2"/>
              <a:buChar char="§"/>
            </a:pPr>
            <a:r>
              <a:rPr lang="ru-RU" sz="2400" dirty="0">
                <a:solidFill>
                  <a:schemeClr val="tx1"/>
                </a:solidFill>
              </a:rPr>
              <a:t>Они блокируют все записи, удовлетворяющие заданному условию. </a:t>
            </a:r>
          </a:p>
          <a:p>
            <a:pPr>
              <a:buFont typeface="Wingdings" panose="05000000000000000000" pitchFamily="2" charset="2"/>
              <a:buChar char="§"/>
            </a:pPr>
            <a:r>
              <a:rPr lang="ru-RU" sz="2400" dirty="0">
                <a:solidFill>
                  <a:schemeClr val="tx1"/>
                </a:solidFill>
              </a:rPr>
              <a:t>Однако </a:t>
            </a:r>
            <a:r>
              <a:rPr lang="ru-RU" sz="2400" b="1" dirty="0">
                <a:solidFill>
                  <a:schemeClr val="tx1"/>
                </a:solidFill>
              </a:rPr>
              <a:t>применение предикатных блокировок </a:t>
            </a:r>
            <a:r>
              <a:rPr lang="ru-RU" sz="2400" dirty="0">
                <a:solidFill>
                  <a:schemeClr val="tx1"/>
                </a:solidFill>
              </a:rPr>
              <a:t>ограничивается тем, что задача проверки совместимости таких блокировок </a:t>
            </a:r>
            <a:r>
              <a:rPr lang="ru-RU" sz="2400" b="1" dirty="0">
                <a:solidFill>
                  <a:schemeClr val="tx1"/>
                </a:solidFill>
              </a:rPr>
              <a:t>является в общем случае алгоритмически неразрешимой</a:t>
            </a:r>
          </a:p>
          <a:p>
            <a:pPr>
              <a:buFont typeface="Wingdings" panose="05000000000000000000" pitchFamily="2" charset="2"/>
              <a:buChar char="§"/>
            </a:pPr>
            <a:r>
              <a:rPr lang="ru-RU" sz="2400" dirty="0">
                <a:solidFill>
                  <a:schemeClr val="tx1"/>
                </a:solidFill>
              </a:rPr>
              <a:t>Эффективные полиномиальные алгоритмы известны только для очень узкого класса предикатов (конъюнкций простых условий).</a:t>
            </a:r>
            <a:endParaRPr lang="ru-RU" sz="2400" b="1" dirty="0">
              <a:solidFill>
                <a:schemeClr val="tx1"/>
              </a:solidFill>
            </a:endParaRP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63</a:t>
            </a:fld>
            <a:endParaRPr lang="ru-RU" dirty="0"/>
          </a:p>
        </p:txBody>
      </p:sp>
    </p:spTree>
    <p:extLst>
      <p:ext uri="{BB962C8B-B14F-4D97-AF65-F5344CB8AC3E}">
        <p14:creationId xmlns:p14="http://schemas.microsoft.com/office/powerpoint/2010/main" val="715616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up)">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19980"/>
            <a:ext cx="11921067" cy="565117"/>
          </a:xfrm>
        </p:spPr>
        <p:txBody>
          <a:bodyPr>
            <a:noAutofit/>
          </a:bodyPr>
          <a:lstStyle/>
          <a:p>
            <a:r>
              <a:rPr lang="ru-RU" sz="3600" dirty="0"/>
              <a:t>Другие протоколы на основе блокирования</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179744" y="545137"/>
            <a:ext cx="11921066" cy="6290639"/>
          </a:xfrm>
        </p:spPr>
        <p:txBody>
          <a:bodyPr>
            <a:normAutofit lnSpcReduction="10000"/>
          </a:bodyPr>
          <a:lstStyle/>
          <a:p>
            <a:pPr>
              <a:buFont typeface="Wingdings" panose="05000000000000000000" pitchFamily="2" charset="2"/>
              <a:buChar char="§"/>
            </a:pPr>
            <a:r>
              <a:rPr lang="ru-RU" sz="2400" dirty="0"/>
              <a:t>Поэтому на практике применяются </a:t>
            </a:r>
            <a:r>
              <a:rPr lang="ru-RU" sz="2400" b="1" dirty="0" err="1"/>
              <a:t>мультигранулярные</a:t>
            </a:r>
            <a:r>
              <a:rPr lang="ru-RU" sz="2400" b="1" dirty="0"/>
              <a:t> протоколы блокирования</a:t>
            </a:r>
          </a:p>
          <a:p>
            <a:pPr>
              <a:buFont typeface="Wingdings" panose="05000000000000000000" pitchFamily="2" charset="2"/>
              <a:buChar char="§"/>
            </a:pPr>
            <a:r>
              <a:rPr lang="ru-RU" sz="2400" dirty="0"/>
              <a:t> Делаются блокировки на объекты базы данных разного уровня (например, таблицы и строки таблиц) и накладывающие </a:t>
            </a:r>
            <a:r>
              <a:rPr lang="ru-RU" sz="2400" b="1" dirty="0"/>
              <a:t>дополнительные ограничения </a:t>
            </a:r>
            <a:r>
              <a:rPr lang="ru-RU" sz="2400" dirty="0"/>
              <a:t>на </a:t>
            </a:r>
            <a:r>
              <a:rPr lang="ru-RU" sz="2400" b="1" dirty="0"/>
              <a:t>последовательность установки и снятия </a:t>
            </a:r>
            <a:r>
              <a:rPr lang="ru-RU" sz="2400" dirty="0"/>
              <a:t>таких блокировок. </a:t>
            </a:r>
          </a:p>
          <a:p>
            <a:pPr>
              <a:buFont typeface="Wingdings" panose="05000000000000000000" pitchFamily="2" charset="2"/>
              <a:buChar char="§"/>
            </a:pPr>
            <a:r>
              <a:rPr lang="ru-RU" sz="2400" dirty="0"/>
              <a:t>Применение </a:t>
            </a:r>
            <a:r>
              <a:rPr lang="ru-RU" sz="2400" b="1" dirty="0"/>
              <a:t>блокировок на всю таблицу</a:t>
            </a:r>
            <a:r>
              <a:rPr lang="ru-RU" sz="2400" dirty="0"/>
              <a:t>, естественно, </a:t>
            </a:r>
            <a:r>
              <a:rPr lang="ru-RU" sz="2400" b="1" dirty="0"/>
              <a:t>отрицательно влияет на возможность конкурентного выполнения транзакций</a:t>
            </a:r>
            <a:r>
              <a:rPr lang="ru-RU" sz="2400" dirty="0"/>
              <a:t>, даже если такие блокировки устанавливаются лишь на короткий промежуток времени. Это служит </a:t>
            </a:r>
            <a:r>
              <a:rPr lang="ru-RU" sz="2400" b="1" dirty="0"/>
              <a:t>дополнительным основанием для отказа от </a:t>
            </a:r>
            <a:r>
              <a:rPr lang="ru-RU" sz="2400" b="1" dirty="0" err="1"/>
              <a:t>сериализуемости</a:t>
            </a:r>
            <a:r>
              <a:rPr lang="ru-RU" sz="2400" b="1" dirty="0"/>
              <a:t>. </a:t>
            </a:r>
          </a:p>
          <a:p>
            <a:pPr>
              <a:buFont typeface="Wingdings" panose="05000000000000000000" pitchFamily="2" charset="2"/>
              <a:buChar char="§"/>
            </a:pPr>
            <a:r>
              <a:rPr lang="ru-RU" sz="2400" dirty="0"/>
              <a:t>Однако </a:t>
            </a:r>
            <a:r>
              <a:rPr lang="ru-RU" sz="2400" b="1" dirty="0"/>
              <a:t>отказ от использования предикатных </a:t>
            </a:r>
            <a:r>
              <a:rPr lang="ru-RU" sz="2400" dirty="0"/>
              <a:t>(или </a:t>
            </a:r>
            <a:r>
              <a:rPr lang="ru-RU" sz="2400" dirty="0" err="1"/>
              <a:t>мультигранулярных</a:t>
            </a:r>
            <a:r>
              <a:rPr lang="ru-RU" sz="2400" dirty="0"/>
              <a:t>) блокировок может </a:t>
            </a:r>
            <a:r>
              <a:rPr lang="ru-RU" sz="2400" b="1" dirty="0"/>
              <a:t>приводить к возникновению новых видов аномалий</a:t>
            </a:r>
            <a:r>
              <a:rPr lang="ru-RU" sz="2400" dirty="0"/>
              <a:t>, которые появляются при </a:t>
            </a:r>
            <a:r>
              <a:rPr lang="ru-RU" sz="2400" b="1" dirty="0"/>
              <a:t>повторном выполнении операций поиска</a:t>
            </a:r>
            <a:r>
              <a:rPr lang="ru-RU" sz="2400" dirty="0"/>
              <a:t>. </a:t>
            </a:r>
          </a:p>
          <a:p>
            <a:pPr lvl="1">
              <a:buFont typeface="Wingdings" panose="05000000000000000000" pitchFamily="2" charset="2"/>
              <a:buChar char="ü"/>
            </a:pPr>
            <a:r>
              <a:rPr lang="ru-RU" sz="2400" dirty="0"/>
              <a:t>могут появиться новые строки, добавленные другими зафиксированными транзакциями и удовлетворяющие условиям поиска. Такие строки называются </a:t>
            </a:r>
            <a:r>
              <a:rPr lang="ru-RU" sz="2400" b="1" dirty="0"/>
              <a:t>фантомами</a:t>
            </a:r>
            <a:r>
              <a:rPr lang="ru-RU" sz="2400" dirty="0"/>
              <a:t>. </a:t>
            </a:r>
          </a:p>
          <a:p>
            <a:pPr lvl="1">
              <a:buFont typeface="Wingdings" panose="05000000000000000000" pitchFamily="2" charset="2"/>
              <a:buChar char="ü"/>
            </a:pPr>
            <a:r>
              <a:rPr lang="ru-RU" sz="2400" dirty="0"/>
              <a:t>строки, удовлетворяющие условиям поиска, могут быть изменены или удалены другой зафиксированной транзакцией и поэтому не будут найдены при повторном выполнении поиска. Такая аномалия называется </a:t>
            </a:r>
            <a:r>
              <a:rPr lang="ru-RU" sz="2400" b="1" dirty="0"/>
              <a:t>неповторяемым чтением</a:t>
            </a:r>
            <a:r>
              <a:rPr lang="ru-RU" sz="2400" dirty="0"/>
              <a:t>.</a:t>
            </a:r>
            <a:endParaRPr lang="ru-RU" sz="2400" b="1" dirty="0">
              <a:solidFill>
                <a:schemeClr val="tx1"/>
              </a:solidFill>
            </a:endParaRP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64</a:t>
            </a:fld>
            <a:endParaRPr lang="ru-RU" dirty="0"/>
          </a:p>
        </p:txBody>
      </p:sp>
    </p:spTree>
    <p:extLst>
      <p:ext uri="{BB962C8B-B14F-4D97-AF65-F5344CB8AC3E}">
        <p14:creationId xmlns:p14="http://schemas.microsoft.com/office/powerpoint/2010/main" val="1440938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up)">
                                      <p:cBhvr>
                                        <p:cTn id="25" dur="500"/>
                                        <p:tgtEl>
                                          <p:spTgt spid="3">
                                            <p:txEl>
                                              <p:pRg st="4" end="4"/>
                                            </p:txEl>
                                          </p:spTgt>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wipe(up)">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19980"/>
            <a:ext cx="11921067" cy="565117"/>
          </a:xfrm>
        </p:spPr>
        <p:txBody>
          <a:bodyPr>
            <a:noAutofit/>
          </a:bodyPr>
          <a:lstStyle/>
          <a:p>
            <a:r>
              <a:rPr lang="ru-RU" sz="4000" dirty="0"/>
              <a:t>Протокол на основе меток времени</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0" y="545137"/>
            <a:ext cx="12073466" cy="6290639"/>
          </a:xfrm>
        </p:spPr>
        <p:txBody>
          <a:bodyPr>
            <a:normAutofit lnSpcReduction="10000"/>
          </a:bodyPr>
          <a:lstStyle/>
          <a:p>
            <a:pPr>
              <a:buFont typeface="Wingdings" panose="05000000000000000000" pitchFamily="2" charset="2"/>
              <a:buChar char="§"/>
            </a:pPr>
            <a:r>
              <a:rPr lang="ru-RU" dirty="0">
                <a:solidFill>
                  <a:schemeClr val="tx1"/>
                </a:solidFill>
              </a:rPr>
              <a:t>Критерии корректности расписаний не предполагают применение блокировок. </a:t>
            </a:r>
          </a:p>
          <a:p>
            <a:pPr>
              <a:buFont typeface="Wingdings" panose="05000000000000000000" pitchFamily="2" charset="2"/>
              <a:buChar char="§"/>
            </a:pPr>
            <a:r>
              <a:rPr lang="ru-RU" dirty="0">
                <a:solidFill>
                  <a:schemeClr val="tx1"/>
                </a:solidFill>
              </a:rPr>
              <a:t>Протокол на основе меток времени (</a:t>
            </a:r>
            <a:r>
              <a:rPr lang="ru-RU" dirty="0" err="1">
                <a:solidFill>
                  <a:schemeClr val="tx1"/>
                </a:solidFill>
              </a:rPr>
              <a:t>timestamp</a:t>
            </a:r>
            <a:r>
              <a:rPr lang="ru-RU" dirty="0">
                <a:solidFill>
                  <a:schemeClr val="tx1"/>
                </a:solidFill>
              </a:rPr>
              <a:t>, TS) обеспечивает </a:t>
            </a:r>
            <a:r>
              <a:rPr lang="ru-RU" dirty="0" err="1">
                <a:solidFill>
                  <a:schemeClr val="tx1"/>
                </a:solidFill>
              </a:rPr>
              <a:t>сериализуемость</a:t>
            </a:r>
            <a:r>
              <a:rPr lang="ru-RU" dirty="0">
                <a:solidFill>
                  <a:schemeClr val="tx1"/>
                </a:solidFill>
              </a:rPr>
              <a:t> расписаний с помощью альтернативной системы правил. </a:t>
            </a:r>
          </a:p>
          <a:p>
            <a:pPr>
              <a:buFont typeface="Wingdings" panose="05000000000000000000" pitchFamily="2" charset="2"/>
              <a:buChar char="§"/>
            </a:pPr>
            <a:r>
              <a:rPr lang="ru-RU" dirty="0">
                <a:solidFill>
                  <a:schemeClr val="tx1"/>
                </a:solidFill>
              </a:rPr>
              <a:t>Каждая транзакция </a:t>
            </a:r>
            <a:r>
              <a:rPr lang="ru-RU" dirty="0" err="1">
                <a:solidFill>
                  <a:schemeClr val="tx1"/>
                </a:solidFill>
                <a:latin typeface="Courier New" panose="02070309020205020404" pitchFamily="49" charset="0"/>
                <a:cs typeface="Courier New" panose="02070309020205020404" pitchFamily="49" charset="0"/>
              </a:rPr>
              <a:t>t</a:t>
            </a:r>
            <a:r>
              <a:rPr lang="ru-RU" baseline="-25000" dirty="0" err="1">
                <a:solidFill>
                  <a:schemeClr val="tx1"/>
                </a:solidFill>
                <a:latin typeface="Courier New" panose="02070309020205020404" pitchFamily="49" charset="0"/>
                <a:cs typeface="Courier New" panose="02070309020205020404" pitchFamily="49" charset="0"/>
              </a:rPr>
              <a:t>i</a:t>
            </a:r>
            <a:r>
              <a:rPr lang="ru-RU" dirty="0">
                <a:solidFill>
                  <a:schemeClr val="tx1"/>
                </a:solidFill>
              </a:rPr>
              <a:t> в начале своей работы (т. е. при регистрации транзакции в диспетчере) получает метку времени </a:t>
            </a:r>
            <a:r>
              <a:rPr lang="ru-RU" dirty="0" err="1">
                <a:solidFill>
                  <a:schemeClr val="tx1"/>
                </a:solidFill>
                <a:latin typeface="Courier New" panose="02070309020205020404" pitchFamily="49" charset="0"/>
                <a:cs typeface="Courier New" panose="02070309020205020404" pitchFamily="49" charset="0"/>
              </a:rPr>
              <a:t>τ</a:t>
            </a:r>
            <a:r>
              <a:rPr lang="ru-RU" baseline="-25000" dirty="0" err="1">
                <a:solidFill>
                  <a:schemeClr val="tx1"/>
                </a:solidFill>
                <a:latin typeface="Courier New" panose="02070309020205020404" pitchFamily="49" charset="0"/>
                <a:cs typeface="Courier New" panose="02070309020205020404" pitchFamily="49" charset="0"/>
              </a:rPr>
              <a:t>i</a:t>
            </a:r>
            <a:r>
              <a:rPr lang="ru-RU" dirty="0">
                <a:solidFill>
                  <a:schemeClr val="tx1"/>
                </a:solidFill>
                <a:latin typeface="Courier New" panose="02070309020205020404" pitchFamily="49" charset="0"/>
                <a:cs typeface="Courier New" panose="02070309020205020404" pitchFamily="49" charset="0"/>
              </a:rPr>
              <a:t> </a:t>
            </a:r>
            <a:r>
              <a:rPr lang="ru-RU" dirty="0">
                <a:solidFill>
                  <a:schemeClr val="tx1"/>
                </a:solidFill>
              </a:rPr>
              <a:t>. </a:t>
            </a:r>
          </a:p>
          <a:p>
            <a:pPr>
              <a:buFont typeface="Wingdings" panose="05000000000000000000" pitchFamily="2" charset="2"/>
              <a:buChar char="§"/>
            </a:pPr>
            <a:r>
              <a:rPr lang="ru-RU" dirty="0">
                <a:solidFill>
                  <a:schemeClr val="tx1"/>
                </a:solidFill>
              </a:rPr>
              <a:t>Точность этих меток должна быть достаточной, для того чтобы все метки времени были уникальными. </a:t>
            </a:r>
          </a:p>
          <a:p>
            <a:pPr>
              <a:buFont typeface="Wingdings" panose="05000000000000000000" pitchFamily="2" charset="2"/>
              <a:buChar char="§"/>
            </a:pPr>
            <a:r>
              <a:rPr lang="ru-RU" dirty="0">
                <a:solidFill>
                  <a:schemeClr val="tx1"/>
                </a:solidFill>
              </a:rPr>
              <a:t>Каждому элементу данных x присваивается две метки времени: </a:t>
            </a:r>
          </a:p>
          <a:p>
            <a:pPr lvl="1">
              <a:buFont typeface="Wingdings" panose="05000000000000000000" pitchFamily="2" charset="2"/>
              <a:buChar char="ü"/>
            </a:pPr>
            <a:r>
              <a:rPr lang="ru-RU" dirty="0">
                <a:solidFill>
                  <a:schemeClr val="tx1"/>
                </a:solidFill>
              </a:rPr>
              <a:t>метка транзакции, записавшей последнее значение этого элемента </a:t>
            </a:r>
            <a:r>
              <a:rPr lang="ru-RU" dirty="0" err="1">
                <a:solidFill>
                  <a:schemeClr val="tx1"/>
                </a:solidFill>
                <a:latin typeface="Courier New" panose="02070309020205020404" pitchFamily="49" charset="0"/>
                <a:cs typeface="Courier New" panose="02070309020205020404" pitchFamily="49" charset="0"/>
              </a:rPr>
              <a:t>τ</a:t>
            </a:r>
            <a:r>
              <a:rPr lang="ru-RU" baseline="-25000" dirty="0" err="1">
                <a:solidFill>
                  <a:schemeClr val="tx1"/>
                </a:solidFill>
                <a:latin typeface="Courier New" panose="02070309020205020404" pitchFamily="49" charset="0"/>
                <a:cs typeface="Courier New" panose="02070309020205020404" pitchFamily="49" charset="0"/>
              </a:rPr>
              <a:t>w</a:t>
            </a:r>
            <a:r>
              <a:rPr lang="ru-RU" dirty="0">
                <a:solidFill>
                  <a:schemeClr val="tx1"/>
                </a:solidFill>
                <a:latin typeface="Courier New" panose="02070309020205020404" pitchFamily="49" charset="0"/>
                <a:cs typeface="Courier New" panose="02070309020205020404" pitchFamily="49" charset="0"/>
              </a:rPr>
              <a:t>(x),</a:t>
            </a:r>
            <a:endParaRPr lang="ru-RU" dirty="0">
              <a:solidFill>
                <a:schemeClr val="tx1"/>
              </a:solidFill>
            </a:endParaRPr>
          </a:p>
          <a:p>
            <a:pPr lvl="1">
              <a:buFont typeface="Wingdings" panose="05000000000000000000" pitchFamily="2" charset="2"/>
              <a:buChar char="ü"/>
            </a:pPr>
            <a:r>
              <a:rPr lang="ru-RU" dirty="0">
                <a:solidFill>
                  <a:schemeClr val="tx1"/>
                </a:solidFill>
              </a:rPr>
              <a:t>метка последней транзакции, прочитавшей это значение </a:t>
            </a:r>
            <a:r>
              <a:rPr lang="ru-RU" dirty="0" err="1">
                <a:solidFill>
                  <a:schemeClr val="tx1"/>
                </a:solidFill>
                <a:latin typeface="Courier New" panose="02070309020205020404" pitchFamily="49" charset="0"/>
                <a:cs typeface="Courier New" panose="02070309020205020404" pitchFamily="49" charset="0"/>
              </a:rPr>
              <a:t>τ</a:t>
            </a:r>
            <a:r>
              <a:rPr lang="ru-RU" baseline="-25000" dirty="0" err="1">
                <a:solidFill>
                  <a:schemeClr val="tx1"/>
                </a:solidFill>
                <a:latin typeface="Courier New" panose="02070309020205020404" pitchFamily="49" charset="0"/>
                <a:cs typeface="Courier New" panose="02070309020205020404" pitchFamily="49" charset="0"/>
              </a:rPr>
              <a:t>r</a:t>
            </a:r>
            <a:r>
              <a:rPr lang="ru-RU" dirty="0">
                <a:solidFill>
                  <a:schemeClr val="tx1"/>
                </a:solidFill>
                <a:latin typeface="Courier New" panose="02070309020205020404" pitchFamily="49" charset="0"/>
                <a:cs typeface="Courier New" panose="02070309020205020404" pitchFamily="49" charset="0"/>
              </a:rPr>
              <a:t>(x). </a:t>
            </a:r>
          </a:p>
          <a:p>
            <a:pPr>
              <a:buFont typeface="Wingdings" panose="05000000000000000000" pitchFamily="2" charset="2"/>
              <a:buChar char="§"/>
            </a:pPr>
            <a:r>
              <a:rPr lang="ru-RU" dirty="0">
                <a:solidFill>
                  <a:schemeClr val="tx1"/>
                </a:solidFill>
              </a:rPr>
              <a:t>В реализации </a:t>
            </a:r>
            <a:r>
              <a:rPr lang="ru-RU" b="1" dirty="0">
                <a:solidFill>
                  <a:schemeClr val="tx1"/>
                </a:solidFill>
              </a:rPr>
              <a:t>эти метки нужны только для элементов данных, которые обрабатываются активными транзакциями</a:t>
            </a: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65</a:t>
            </a:fld>
            <a:endParaRPr lang="ru-RU" dirty="0"/>
          </a:p>
        </p:txBody>
      </p:sp>
    </p:spTree>
    <p:extLst>
      <p:ext uri="{BB962C8B-B14F-4D97-AF65-F5344CB8AC3E}">
        <p14:creationId xmlns:p14="http://schemas.microsoft.com/office/powerpoint/2010/main" val="2166774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wipe(up)">
                                      <p:cBhvr>
                                        <p:cTn id="30" dur="500"/>
                                        <p:tgtEl>
                                          <p:spTgt spid="3">
                                            <p:txEl>
                                              <p:pRg st="5" end="5"/>
                                            </p:txEl>
                                          </p:spTgt>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wipe(up)">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wipe(up)">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19980"/>
            <a:ext cx="11921067" cy="565117"/>
          </a:xfrm>
        </p:spPr>
        <p:txBody>
          <a:bodyPr>
            <a:noAutofit/>
          </a:bodyPr>
          <a:lstStyle/>
          <a:p>
            <a:r>
              <a:rPr lang="ru-RU" sz="4000" dirty="0"/>
              <a:t>Протокол на основе меток времени</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0" y="545137"/>
            <a:ext cx="12073466" cy="6290639"/>
          </a:xfrm>
        </p:spPr>
        <p:txBody>
          <a:bodyPr>
            <a:normAutofit/>
          </a:bodyPr>
          <a:lstStyle/>
          <a:p>
            <a:pPr>
              <a:buFont typeface="Wingdings" panose="05000000000000000000" pitchFamily="2" charset="2"/>
              <a:buChar char="§"/>
            </a:pPr>
            <a:r>
              <a:rPr lang="ru-RU" dirty="0"/>
              <a:t>Протокол TS предусматривает следующие правила выполнения транзакций: </a:t>
            </a:r>
          </a:p>
          <a:p>
            <a:pPr marL="1120050" lvl="1" indent="-720000">
              <a:buNone/>
            </a:pPr>
            <a:r>
              <a:rPr lang="ru-RU" b="1" dirty="0"/>
              <a:t>TS-R </a:t>
            </a:r>
            <a:r>
              <a:rPr lang="ru-RU" dirty="0"/>
              <a:t>Операция </a:t>
            </a:r>
            <a:r>
              <a:rPr lang="ru-RU" dirty="0" err="1">
                <a:latin typeface="Courier New" panose="02070309020205020404" pitchFamily="49" charset="0"/>
                <a:cs typeface="Courier New" panose="02070309020205020404" pitchFamily="49" charset="0"/>
              </a:rPr>
              <a:t>r</a:t>
            </a:r>
            <a:r>
              <a:rPr lang="ru-RU" baseline="-25000" dirty="0" err="1">
                <a:latin typeface="Courier New" panose="02070309020205020404" pitchFamily="49" charset="0"/>
                <a:cs typeface="Courier New" panose="02070309020205020404" pitchFamily="49" charset="0"/>
              </a:rPr>
              <a:t>i</a:t>
            </a:r>
            <a:r>
              <a:rPr lang="ru-RU" dirty="0">
                <a:latin typeface="Courier New" panose="02070309020205020404" pitchFamily="49" charset="0"/>
                <a:cs typeface="Courier New" panose="02070309020205020404" pitchFamily="49" charset="0"/>
              </a:rPr>
              <a:t>(x)</a:t>
            </a:r>
            <a:r>
              <a:rPr lang="ru-RU" dirty="0"/>
              <a:t>допустима, если </a:t>
            </a:r>
            <a:r>
              <a:rPr lang="ru-RU" dirty="0" err="1">
                <a:latin typeface="Courier New" panose="02070309020205020404" pitchFamily="49" charset="0"/>
                <a:cs typeface="Courier New" panose="02070309020205020404" pitchFamily="49" charset="0"/>
              </a:rPr>
              <a:t>τ</a:t>
            </a:r>
            <a:r>
              <a:rPr lang="ru-RU" baseline="-25000" dirty="0" err="1">
                <a:latin typeface="Courier New" panose="02070309020205020404" pitchFamily="49" charset="0"/>
                <a:cs typeface="Courier New" panose="02070309020205020404" pitchFamily="49" charset="0"/>
              </a:rPr>
              <a:t>w</a:t>
            </a:r>
            <a:r>
              <a:rPr lang="ru-RU" dirty="0">
                <a:latin typeface="Courier New" panose="02070309020205020404" pitchFamily="49" charset="0"/>
                <a:cs typeface="Courier New" panose="02070309020205020404" pitchFamily="49" charset="0"/>
              </a:rPr>
              <a:t>(x)&lt;</a:t>
            </a:r>
            <a:r>
              <a:rPr lang="ru-RU" dirty="0" err="1">
                <a:latin typeface="Courier New" panose="02070309020205020404" pitchFamily="49" charset="0"/>
                <a:cs typeface="Courier New" panose="02070309020205020404" pitchFamily="49" charset="0"/>
              </a:rPr>
              <a:t>τ</a:t>
            </a:r>
            <a:r>
              <a:rPr lang="ru-RU" baseline="-25000" dirty="0" err="1">
                <a:latin typeface="Courier New" panose="02070309020205020404" pitchFamily="49" charset="0"/>
                <a:cs typeface="Courier New" panose="02070309020205020404" pitchFamily="49" charset="0"/>
              </a:rPr>
              <a:t>i</a:t>
            </a:r>
            <a:r>
              <a:rPr lang="ru-RU" dirty="0">
                <a:latin typeface="Courier New" panose="02070309020205020404" pitchFamily="49" charset="0"/>
                <a:cs typeface="Courier New" panose="02070309020205020404" pitchFamily="49" charset="0"/>
              </a:rPr>
              <a:t> </a:t>
            </a:r>
            <a:r>
              <a:rPr lang="ru-RU" dirty="0"/>
              <a:t>, т. е. последняя запись элемента данных</a:t>
            </a:r>
            <a:r>
              <a:rPr lang="ru-RU" dirty="0">
                <a:latin typeface="Courier New" panose="02070309020205020404" pitchFamily="49" charset="0"/>
                <a:cs typeface="Courier New" panose="02070309020205020404" pitchFamily="49" charset="0"/>
              </a:rPr>
              <a:t> x </a:t>
            </a:r>
            <a:r>
              <a:rPr lang="ru-RU" dirty="0"/>
              <a:t>была выполнена транзакцией, стартовавшей раньше, чем читающая транзакция. Если это условие не выполнено, то операция чтения отвергается и транзакция обрывается. </a:t>
            </a:r>
          </a:p>
          <a:p>
            <a:pPr marL="1120050" lvl="1" indent="-720000">
              <a:buNone/>
            </a:pPr>
            <a:r>
              <a:rPr lang="ru-RU" b="1" dirty="0"/>
              <a:t>TS-W</a:t>
            </a:r>
            <a:r>
              <a:rPr lang="ru-RU" dirty="0"/>
              <a:t> Операция записи </a:t>
            </a:r>
            <a:r>
              <a:rPr lang="ru-RU" dirty="0" err="1">
                <a:latin typeface="Courier New" panose="02070309020205020404" pitchFamily="49" charset="0"/>
                <a:cs typeface="Courier New" panose="02070309020205020404" pitchFamily="49" charset="0"/>
              </a:rPr>
              <a:t>w</a:t>
            </a:r>
            <a:r>
              <a:rPr lang="ru-RU" baseline="-25000" dirty="0" err="1">
                <a:latin typeface="Courier New" panose="02070309020205020404" pitchFamily="49" charset="0"/>
                <a:cs typeface="Courier New" panose="02070309020205020404" pitchFamily="49" charset="0"/>
              </a:rPr>
              <a:t>i</a:t>
            </a:r>
            <a:r>
              <a:rPr lang="ru-RU" dirty="0">
                <a:latin typeface="Courier New" panose="02070309020205020404" pitchFamily="49" charset="0"/>
                <a:cs typeface="Courier New" panose="02070309020205020404" pitchFamily="49" charset="0"/>
              </a:rPr>
              <a:t>(x)</a:t>
            </a:r>
            <a:r>
              <a:rPr lang="ru-RU" dirty="0"/>
              <a:t>допустима, если </a:t>
            </a:r>
            <a:r>
              <a:rPr lang="ru-RU" dirty="0">
                <a:latin typeface="Courier New" panose="02070309020205020404" pitchFamily="49" charset="0"/>
                <a:cs typeface="Courier New" panose="02070309020205020404" pitchFamily="49" charset="0"/>
              </a:rPr>
              <a:t>τ</a:t>
            </a:r>
            <a:r>
              <a:rPr lang="en-US" baseline="-25000" dirty="0">
                <a:latin typeface="Courier New" panose="02070309020205020404" pitchFamily="49" charset="0"/>
                <a:cs typeface="Courier New" panose="02070309020205020404" pitchFamily="49" charset="0"/>
              </a:rPr>
              <a:t>r</a:t>
            </a:r>
            <a:r>
              <a:rPr lang="ru-RU" dirty="0">
                <a:latin typeface="Courier New" panose="02070309020205020404" pitchFamily="49" charset="0"/>
                <a:cs typeface="Courier New" panose="02070309020205020404" pitchFamily="49" charset="0"/>
              </a:rPr>
              <a:t>(x)&lt;</a:t>
            </a:r>
            <a:r>
              <a:rPr lang="ru-RU" dirty="0" err="1">
                <a:latin typeface="Courier New" panose="02070309020205020404" pitchFamily="49" charset="0"/>
                <a:cs typeface="Courier New" panose="02070309020205020404" pitchFamily="49" charset="0"/>
              </a:rPr>
              <a:t>τ</a:t>
            </a:r>
            <a:r>
              <a:rPr lang="ru-RU" baseline="-25000" dirty="0" err="1">
                <a:latin typeface="Courier New" panose="02070309020205020404" pitchFamily="49" charset="0"/>
                <a:cs typeface="Courier New" panose="02070309020205020404" pitchFamily="49" charset="0"/>
              </a:rPr>
              <a:t>i</a:t>
            </a:r>
            <a:r>
              <a:rPr lang="ru-RU" dirty="0">
                <a:latin typeface="Courier New" panose="02070309020205020404" pitchFamily="49" charset="0"/>
                <a:cs typeface="Courier New" panose="02070309020205020404" pitchFamily="49" charset="0"/>
              </a:rPr>
              <a:t> </a:t>
            </a:r>
            <a:r>
              <a:rPr lang="ru-RU" dirty="0"/>
              <a:t>, т. е. последнее чтение элемента данных было выполнено транзакцией, стартовавшей раньше, чем транзакция, записывающая новое значение. Если это условие нарушено, то операция отвергается и транзакция должна быть оборвана. </a:t>
            </a:r>
          </a:p>
          <a:p>
            <a:pPr>
              <a:buFont typeface="Wingdings" panose="05000000000000000000" pitchFamily="2" charset="2"/>
              <a:buChar char="§"/>
            </a:pPr>
            <a:r>
              <a:rPr lang="ru-RU" dirty="0"/>
              <a:t>Протокол TS генерирует расписания, </a:t>
            </a:r>
            <a:r>
              <a:rPr lang="ru-RU" dirty="0" err="1"/>
              <a:t>сериализуемые</a:t>
            </a:r>
            <a:r>
              <a:rPr lang="ru-RU" dirty="0"/>
              <a:t> с сохранением порядка транзакций: </a:t>
            </a:r>
            <a:r>
              <a:rPr lang="ru-RU" dirty="0" err="1"/>
              <a:t>Gen</a:t>
            </a:r>
            <a:r>
              <a:rPr lang="ru-RU" dirty="0"/>
              <a:t>(TS) ⊂ OCSR. </a:t>
            </a:r>
            <a:endParaRPr lang="ru-RU" b="1" dirty="0">
              <a:solidFill>
                <a:schemeClr val="tx1"/>
              </a:solidFill>
            </a:endParaRP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66</a:t>
            </a:fld>
            <a:endParaRPr lang="ru-RU" dirty="0"/>
          </a:p>
        </p:txBody>
      </p:sp>
    </p:spTree>
    <p:extLst>
      <p:ext uri="{BB962C8B-B14F-4D97-AF65-F5344CB8AC3E}">
        <p14:creationId xmlns:p14="http://schemas.microsoft.com/office/powerpoint/2010/main" val="2171498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500"/>
                                        <p:tgtEl>
                                          <p:spTgt spid="3">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up)">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up)">
                                      <p:cBhvr>
                                        <p:cTn id="1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19980"/>
            <a:ext cx="11921067" cy="565117"/>
          </a:xfrm>
        </p:spPr>
        <p:txBody>
          <a:bodyPr>
            <a:noAutofit/>
          </a:bodyPr>
          <a:lstStyle/>
          <a:p>
            <a:r>
              <a:rPr lang="ru-RU" sz="4000" dirty="0"/>
              <a:t>Протокол на основе меток времени</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0" y="545137"/>
            <a:ext cx="12073466" cy="6290639"/>
          </a:xfrm>
        </p:spPr>
        <p:txBody>
          <a:bodyPr>
            <a:normAutofit fontScale="92500" lnSpcReduction="20000"/>
          </a:bodyPr>
          <a:lstStyle/>
          <a:p>
            <a:pPr>
              <a:buFont typeface="Wingdings" panose="05000000000000000000" pitchFamily="2" charset="2"/>
              <a:buChar char="§"/>
            </a:pPr>
            <a:r>
              <a:rPr lang="ru-RU" dirty="0"/>
              <a:t>При реализации протокола TS необходимо гарантировать, что </a:t>
            </a:r>
            <a:r>
              <a:rPr lang="ru-RU" b="1" dirty="0"/>
              <a:t>все операции над каждым элементом данных выполняются строго последовательно</a:t>
            </a:r>
            <a:r>
              <a:rPr lang="ru-RU" dirty="0"/>
              <a:t>. </a:t>
            </a:r>
            <a:endParaRPr lang="en-US" dirty="0"/>
          </a:p>
          <a:p>
            <a:pPr>
              <a:buFont typeface="Wingdings" panose="05000000000000000000" pitchFamily="2" charset="2"/>
              <a:buChar char="§"/>
            </a:pPr>
            <a:r>
              <a:rPr lang="ru-RU" dirty="0"/>
              <a:t>Это может быть необходимо, если оборудование и операционная система </a:t>
            </a:r>
            <a:r>
              <a:rPr lang="ru-RU" b="1" dirty="0"/>
              <a:t>допускают параллельное выполнение</a:t>
            </a:r>
            <a:r>
              <a:rPr lang="ru-RU" dirty="0"/>
              <a:t>. </a:t>
            </a:r>
            <a:endParaRPr lang="en-US" dirty="0"/>
          </a:p>
          <a:p>
            <a:pPr>
              <a:buFont typeface="Wingdings" panose="05000000000000000000" pitchFamily="2" charset="2"/>
              <a:buChar char="§"/>
            </a:pPr>
            <a:r>
              <a:rPr lang="ru-RU" dirty="0"/>
              <a:t>В протоколах, </a:t>
            </a:r>
            <a:r>
              <a:rPr lang="ru-RU" b="1" dirty="0"/>
              <a:t>основанных на блокировках</a:t>
            </a:r>
            <a:r>
              <a:rPr lang="ru-RU" dirty="0"/>
              <a:t>, нет необходимости специально заботиться об этом, потому что для этих протоколов </a:t>
            </a:r>
            <a:r>
              <a:rPr lang="ru-RU" b="1" dirty="0"/>
              <a:t>необходимая синхронизация обеспечивается блокировками попутно с </a:t>
            </a:r>
            <a:r>
              <a:rPr lang="ru-RU" b="1" dirty="0" err="1"/>
              <a:t>сериализуемостью</a:t>
            </a:r>
            <a:r>
              <a:rPr lang="ru-RU" dirty="0"/>
              <a:t>.</a:t>
            </a:r>
            <a:endParaRPr lang="en-US" dirty="0"/>
          </a:p>
          <a:p>
            <a:pPr>
              <a:buFont typeface="Wingdings" panose="05000000000000000000" pitchFamily="2" charset="2"/>
              <a:buChar char="§"/>
            </a:pPr>
            <a:r>
              <a:rPr lang="ru-RU" dirty="0"/>
              <a:t>Для того чтобы выполнение операций над каждым элементом данных было последовательным, можно </a:t>
            </a:r>
            <a:r>
              <a:rPr lang="ru-RU" b="1" dirty="0"/>
              <a:t>использовать блокировки, устанавливаемые на время выполнения одной операции</a:t>
            </a:r>
            <a:r>
              <a:rPr lang="ru-RU" dirty="0"/>
              <a:t>. </a:t>
            </a:r>
            <a:endParaRPr lang="en-US" dirty="0"/>
          </a:p>
          <a:p>
            <a:pPr>
              <a:buFont typeface="Wingdings" panose="05000000000000000000" pitchFamily="2" charset="2"/>
              <a:buChar char="§"/>
            </a:pPr>
            <a:r>
              <a:rPr lang="ru-RU" dirty="0"/>
              <a:t>В некоторых системах блокировки, устанавливаемые на короткое время для предотвращения одновременной модификации разными процессами, называются </a:t>
            </a:r>
            <a:r>
              <a:rPr lang="ru-RU" b="1" dirty="0"/>
              <a:t>задвижками (</a:t>
            </a:r>
            <a:r>
              <a:rPr lang="ru-RU" b="1" dirty="0" err="1"/>
              <a:t>latch</a:t>
            </a:r>
            <a:r>
              <a:rPr lang="ru-RU" b="1" dirty="0"/>
              <a:t>), </a:t>
            </a:r>
            <a:r>
              <a:rPr lang="ru-RU" dirty="0"/>
              <a:t>в других этот термин применяется в более узком смысле (для конкретных типов объектов). </a:t>
            </a:r>
            <a:endParaRPr lang="en-US" dirty="0"/>
          </a:p>
          <a:p>
            <a:pPr>
              <a:buFont typeface="Wingdings" panose="05000000000000000000" pitchFamily="2" charset="2"/>
              <a:buChar char="§"/>
            </a:pPr>
            <a:r>
              <a:rPr lang="ru-RU" dirty="0"/>
              <a:t>Такие блокировки устанавливаются </a:t>
            </a:r>
            <a:r>
              <a:rPr lang="ru-RU" b="1" dirty="0"/>
              <a:t>только на один элемент данных</a:t>
            </a:r>
            <a:r>
              <a:rPr lang="ru-RU" dirty="0"/>
              <a:t>, поэтому они могут устанавливаться локально даже в распределенных системах, не могут привести к ситуации тупика и никак не связаны с обеспечением </a:t>
            </a:r>
            <a:r>
              <a:rPr lang="ru-RU" dirty="0" err="1"/>
              <a:t>сериализуемости</a:t>
            </a:r>
            <a:endParaRPr lang="ru-RU" b="1" dirty="0">
              <a:solidFill>
                <a:schemeClr val="tx1"/>
              </a:solidFill>
            </a:endParaRP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67</a:t>
            </a:fld>
            <a:endParaRPr lang="ru-RU" dirty="0"/>
          </a:p>
        </p:txBody>
      </p:sp>
    </p:spTree>
    <p:extLst>
      <p:ext uri="{BB962C8B-B14F-4D97-AF65-F5344CB8AC3E}">
        <p14:creationId xmlns:p14="http://schemas.microsoft.com/office/powerpoint/2010/main" val="580454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up)">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19980"/>
            <a:ext cx="11921067" cy="565117"/>
          </a:xfrm>
        </p:spPr>
        <p:txBody>
          <a:bodyPr>
            <a:noAutofit/>
          </a:bodyPr>
          <a:lstStyle/>
          <a:p>
            <a:r>
              <a:rPr lang="ru-RU" sz="4000" dirty="0"/>
              <a:t>Протокол на основе меток времени</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0" y="545137"/>
            <a:ext cx="12073466" cy="6290639"/>
          </a:xfrm>
        </p:spPr>
        <p:txBody>
          <a:bodyPr>
            <a:normAutofit/>
          </a:bodyPr>
          <a:lstStyle/>
          <a:p>
            <a:pPr>
              <a:buFont typeface="Wingdings" panose="05000000000000000000" pitchFamily="2" charset="2"/>
              <a:buChar char="§"/>
            </a:pPr>
            <a:r>
              <a:rPr lang="ru-RU" dirty="0"/>
              <a:t>Базовая версия протокола TS, рассмотренная выше, редко (если вообще) использовалась в реальных СУБД.</a:t>
            </a:r>
          </a:p>
          <a:p>
            <a:pPr>
              <a:buFont typeface="Wingdings" panose="05000000000000000000" pitchFamily="2" charset="2"/>
              <a:buChar char="§"/>
            </a:pPr>
            <a:r>
              <a:rPr lang="ru-RU" dirty="0"/>
              <a:t>Это скорее всего, потому, что </a:t>
            </a:r>
            <a:r>
              <a:rPr lang="ru-RU" b="1" dirty="0"/>
              <a:t>доля обрывов оказывается выше</a:t>
            </a:r>
            <a:r>
              <a:rPr lang="ru-RU" dirty="0"/>
              <a:t>, чем для </a:t>
            </a:r>
            <a:r>
              <a:rPr lang="ru-RU" b="1" dirty="0"/>
              <a:t>двухфазных протоколов блокирования</a:t>
            </a:r>
            <a:r>
              <a:rPr lang="ru-RU" dirty="0"/>
              <a:t>, в особенности в тех случаях, когда транзакции используют относительно большую часть базы данных </a:t>
            </a:r>
          </a:p>
          <a:p>
            <a:pPr>
              <a:buFont typeface="Wingdings" panose="05000000000000000000" pitchFamily="2" charset="2"/>
              <a:buChar char="§"/>
            </a:pPr>
            <a:r>
              <a:rPr lang="ru-RU" dirty="0"/>
              <a:t>В последние годы, однако, </a:t>
            </a:r>
            <a:r>
              <a:rPr lang="ru-RU" b="1" dirty="0"/>
              <a:t>появилось несколько экспериментальных систем, которые используют варианты протокола TS в распределенных масштабируемых вычислительных системах. </a:t>
            </a:r>
          </a:p>
          <a:p>
            <a:pPr>
              <a:buFont typeface="Wingdings" panose="05000000000000000000" pitchFamily="2" charset="2"/>
              <a:buChar char="§"/>
            </a:pPr>
            <a:r>
              <a:rPr lang="ru-RU" dirty="0"/>
              <a:t>Применение этих вариантов протокола позволило </a:t>
            </a:r>
            <a:r>
              <a:rPr lang="ru-RU" b="1" dirty="0"/>
              <a:t>повысить пропускную способность на несколько порядков</a:t>
            </a:r>
            <a:r>
              <a:rPr lang="ru-RU" dirty="0"/>
              <a:t> по сравнению с протоколами, использующими блокировки.</a:t>
            </a:r>
            <a:endParaRPr lang="ru-RU" b="1" dirty="0">
              <a:solidFill>
                <a:schemeClr val="tx1"/>
              </a:solidFill>
            </a:endParaRP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68</a:t>
            </a:fld>
            <a:endParaRPr lang="ru-RU" dirty="0"/>
          </a:p>
        </p:txBody>
      </p:sp>
    </p:spTree>
    <p:extLst>
      <p:ext uri="{BB962C8B-B14F-4D97-AF65-F5344CB8AC3E}">
        <p14:creationId xmlns:p14="http://schemas.microsoft.com/office/powerpoint/2010/main" val="1086963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19980"/>
            <a:ext cx="11921067" cy="565117"/>
          </a:xfrm>
        </p:spPr>
        <p:txBody>
          <a:bodyPr>
            <a:noAutofit/>
          </a:bodyPr>
          <a:lstStyle/>
          <a:p>
            <a:r>
              <a:rPr lang="ru-RU" sz="4000" dirty="0"/>
              <a:t>Реализации протокола </a:t>
            </a:r>
            <a:r>
              <a:rPr lang="en-US" sz="4000" dirty="0"/>
              <a:t>SI</a:t>
            </a:r>
            <a:endParaRPr lang="ru-RU" sz="4000" dirty="0"/>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0" y="545137"/>
            <a:ext cx="12073466" cy="6290639"/>
          </a:xfrm>
        </p:spPr>
        <p:txBody>
          <a:bodyPr>
            <a:normAutofit fontScale="85000" lnSpcReduction="20000"/>
          </a:bodyPr>
          <a:lstStyle/>
          <a:p>
            <a:pPr>
              <a:buFont typeface="Wingdings" panose="05000000000000000000" pitchFamily="2" charset="2"/>
              <a:buChar char="§"/>
            </a:pPr>
            <a:r>
              <a:rPr lang="ru-RU" dirty="0"/>
              <a:t>Любая реализация протокола SI должна обеспечить выполнение следующих двух требований: </a:t>
            </a:r>
          </a:p>
          <a:p>
            <a:pPr marL="400050" lvl="1" indent="0">
              <a:buNone/>
            </a:pPr>
            <a:r>
              <a:rPr lang="ru-RU" dirty="0"/>
              <a:t>1) возможность чтения значений данных, которые были зафиксированы на момент начала транзакции; </a:t>
            </a:r>
          </a:p>
          <a:p>
            <a:pPr marL="400050" lvl="1" indent="0">
              <a:buNone/>
            </a:pPr>
            <a:r>
              <a:rPr lang="ru-RU" dirty="0"/>
              <a:t>2) невозможность обновления одних и тех же данных конкурентно выполняемыми транзакциями.</a:t>
            </a:r>
          </a:p>
          <a:p>
            <a:pPr>
              <a:buFont typeface="Wingdings" panose="05000000000000000000" pitchFamily="2" charset="2"/>
              <a:buChar char="§"/>
            </a:pPr>
            <a:r>
              <a:rPr lang="ru-RU" dirty="0"/>
              <a:t>Для реализации этих требований обычно используются блокировки, устанавливаемые в соответствии со следующими правилами: </a:t>
            </a:r>
          </a:p>
          <a:p>
            <a:pPr marL="720000" lvl="1" indent="-540000">
              <a:buNone/>
            </a:pPr>
            <a:r>
              <a:rPr lang="ru-RU" sz="3100" b="1" dirty="0"/>
              <a:t>SI1 </a:t>
            </a:r>
            <a:r>
              <a:rPr lang="ru-RU" sz="3100" dirty="0"/>
              <a:t>Используются только блокировки для операций записи. </a:t>
            </a:r>
          </a:p>
          <a:p>
            <a:pPr marL="720000" lvl="1" indent="-540000">
              <a:buNone/>
            </a:pPr>
            <a:r>
              <a:rPr lang="ru-RU" sz="3100" b="1" dirty="0"/>
              <a:t>SI2 </a:t>
            </a:r>
            <a:r>
              <a:rPr lang="ru-RU" sz="3100" dirty="0"/>
              <a:t>Транзакция, пытающаяся установить </a:t>
            </a:r>
            <a:r>
              <a:rPr lang="ru-RU" sz="3100" b="1" dirty="0"/>
              <a:t>блокировку, несовместимую с блокировкой, установленной другой транзакцией, обрывается</a:t>
            </a:r>
            <a:r>
              <a:rPr lang="ru-RU" sz="3100" dirty="0"/>
              <a:t>. Это правило иногда формулируется следующим образом: побеждает первый записавший (</a:t>
            </a:r>
            <a:r>
              <a:rPr lang="ru-RU" sz="3100" dirty="0" err="1"/>
              <a:t>first</a:t>
            </a:r>
            <a:r>
              <a:rPr lang="ru-RU" sz="3100" dirty="0"/>
              <a:t> </a:t>
            </a:r>
            <a:r>
              <a:rPr lang="ru-RU" sz="3100" dirty="0" err="1"/>
              <a:t>writer</a:t>
            </a:r>
            <a:r>
              <a:rPr lang="ru-RU" sz="3100" dirty="0"/>
              <a:t> </a:t>
            </a:r>
            <a:r>
              <a:rPr lang="ru-RU" sz="3100" dirty="0" err="1"/>
              <a:t>wins</a:t>
            </a:r>
            <a:r>
              <a:rPr lang="ru-RU" sz="3100" dirty="0"/>
              <a:t>). </a:t>
            </a:r>
          </a:p>
          <a:p>
            <a:pPr marL="720000" lvl="1" indent="-540000">
              <a:buNone/>
            </a:pPr>
            <a:r>
              <a:rPr lang="ru-RU" sz="3000" b="1" dirty="0"/>
              <a:t>SI3 </a:t>
            </a:r>
            <a:r>
              <a:rPr lang="ru-RU" sz="3000" dirty="0"/>
              <a:t>Изменения, сделанные транзакцией, становятся доступными для других транзакций во время ее фиксации (хранятся до ее завершения в отдельных областях памяти, недоступных другим транзакциям, которые в это время могут читать ранее зафиксированные копии элементов данных).</a:t>
            </a:r>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69</a:t>
            </a:fld>
            <a:endParaRPr lang="ru-RU" dirty="0"/>
          </a:p>
        </p:txBody>
      </p:sp>
    </p:spTree>
    <p:extLst>
      <p:ext uri="{BB962C8B-B14F-4D97-AF65-F5344CB8AC3E}">
        <p14:creationId xmlns:p14="http://schemas.microsoft.com/office/powerpoint/2010/main" val="61250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500"/>
                                        <p:tgtEl>
                                          <p:spTgt spid="3">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up)">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up)">
                                      <p:cBhvr>
                                        <p:cTn id="18" dur="500"/>
                                        <p:tgtEl>
                                          <p:spTgt spid="3">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up)">
                                      <p:cBhvr>
                                        <p:cTn id="21" dur="500"/>
                                        <p:tgtEl>
                                          <p:spTgt spid="3">
                                            <p:txEl>
                                              <p:pRg st="4" end="4"/>
                                            </p:txEl>
                                          </p:spTgt>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up)">
                                      <p:cBhvr>
                                        <p:cTn id="24" dur="500"/>
                                        <p:tgtEl>
                                          <p:spTgt spid="3">
                                            <p:txEl>
                                              <p:pRg st="5" end="5"/>
                                            </p:txEl>
                                          </p:spTgt>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wipe(up)">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19980"/>
            <a:ext cx="11921067" cy="565117"/>
          </a:xfrm>
        </p:spPr>
        <p:txBody>
          <a:bodyPr>
            <a:noAutofit/>
          </a:bodyPr>
          <a:lstStyle/>
          <a:p>
            <a:r>
              <a:rPr lang="ru-RU" sz="4000" dirty="0"/>
              <a:t>Реализации протокола </a:t>
            </a:r>
            <a:r>
              <a:rPr lang="en-US" sz="4000" dirty="0"/>
              <a:t>SI</a:t>
            </a:r>
            <a:endParaRPr lang="ru-RU" sz="4000" dirty="0"/>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0" y="545137"/>
            <a:ext cx="12073466" cy="6290639"/>
          </a:xfrm>
        </p:spPr>
        <p:txBody>
          <a:bodyPr>
            <a:normAutofit fontScale="92500" lnSpcReduction="20000"/>
          </a:bodyPr>
          <a:lstStyle/>
          <a:p>
            <a:pPr>
              <a:buFont typeface="Wingdings" panose="05000000000000000000" pitchFamily="2" charset="2"/>
              <a:buChar char="§"/>
            </a:pPr>
            <a:r>
              <a:rPr lang="ru-RU" dirty="0"/>
              <a:t>Таким образом, использование блокировок в этом варианте протокола SI не связано с понятием конфликта, а только предотвращает одновременную модификацию элемента данных разными транзакциями. </a:t>
            </a:r>
          </a:p>
          <a:p>
            <a:pPr>
              <a:buFont typeface="Wingdings" panose="05000000000000000000" pitchFamily="2" charset="2"/>
              <a:buChar char="§"/>
            </a:pPr>
            <a:r>
              <a:rPr lang="ru-RU" dirty="0"/>
              <a:t>В соответствии с определением класса расписаний SI, множества элементов данных, обновляемых одновременно выполняемыми транзакциями, не могут пересекаться. </a:t>
            </a:r>
          </a:p>
          <a:p>
            <a:pPr>
              <a:buFont typeface="Wingdings" panose="05000000000000000000" pitchFamily="2" charset="2"/>
              <a:buChar char="§"/>
            </a:pPr>
            <a:r>
              <a:rPr lang="ru-RU" dirty="0"/>
              <a:t>Может показаться, что правило SI3 автоматически превращает реализацию протокола SI в </a:t>
            </a:r>
            <a:r>
              <a:rPr lang="ru-RU" dirty="0" err="1"/>
              <a:t>многоверсионную</a:t>
            </a:r>
            <a:r>
              <a:rPr lang="ru-RU" dirty="0"/>
              <a:t>. </a:t>
            </a:r>
          </a:p>
          <a:p>
            <a:pPr>
              <a:buFont typeface="Wingdings" panose="05000000000000000000" pitchFamily="2" charset="2"/>
              <a:buChar char="§"/>
            </a:pPr>
            <a:r>
              <a:rPr lang="ru-RU" dirty="0"/>
              <a:t>Действительно, это правило очень легко реализуется в </a:t>
            </a:r>
            <a:r>
              <a:rPr lang="ru-RU" dirty="0" err="1"/>
              <a:t>многоверсионном</a:t>
            </a:r>
            <a:r>
              <a:rPr lang="ru-RU" dirty="0"/>
              <a:t> варианте, в частности таким способом протокол SI реализован в системе </a:t>
            </a:r>
            <a:r>
              <a:rPr lang="ru-RU" dirty="0" err="1"/>
              <a:t>PostgreSQL</a:t>
            </a:r>
            <a:r>
              <a:rPr lang="ru-RU" dirty="0"/>
              <a:t>. </a:t>
            </a:r>
          </a:p>
          <a:p>
            <a:pPr>
              <a:buFont typeface="Wingdings" panose="05000000000000000000" pitchFamily="2" charset="2"/>
              <a:buChar char="§"/>
            </a:pPr>
            <a:r>
              <a:rPr lang="ru-RU" dirty="0"/>
              <a:t>Отличие состоит в том, что новая копия данных, создаваемая транзакцией в соответствии с правилом SI3, недоступна для других транзакций до фиксации, а в момент фиксации замещает предыдущую зафиксированную версию, делая ее недоступной. </a:t>
            </a:r>
          </a:p>
          <a:p>
            <a:pPr>
              <a:buFont typeface="Wingdings" panose="05000000000000000000" pitchFamily="2" charset="2"/>
              <a:buChar char="§"/>
            </a:pPr>
            <a:r>
              <a:rPr lang="ru-RU" dirty="0"/>
              <a:t>В </a:t>
            </a:r>
            <a:r>
              <a:rPr lang="ru-RU" dirty="0" err="1"/>
              <a:t>многоверсионном</a:t>
            </a:r>
            <a:r>
              <a:rPr lang="ru-RU" dirty="0"/>
              <a:t> варианте протокола разные транзакции могут одновременно читать различные версии одного элемента данных. </a:t>
            </a:r>
            <a:endParaRPr lang="ru-RU" sz="3000" dirty="0"/>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70</a:t>
            </a:fld>
            <a:endParaRPr lang="ru-RU" dirty="0"/>
          </a:p>
        </p:txBody>
      </p:sp>
    </p:spTree>
    <p:extLst>
      <p:ext uri="{BB962C8B-B14F-4D97-AF65-F5344CB8AC3E}">
        <p14:creationId xmlns:p14="http://schemas.microsoft.com/office/powerpoint/2010/main" val="1186544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up)">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19980"/>
            <a:ext cx="11921067" cy="565117"/>
          </a:xfrm>
        </p:spPr>
        <p:txBody>
          <a:bodyPr>
            <a:noAutofit/>
          </a:bodyPr>
          <a:lstStyle/>
          <a:p>
            <a:r>
              <a:rPr lang="ru-RU" sz="4000" dirty="0"/>
              <a:t>Реализации протокола </a:t>
            </a:r>
            <a:r>
              <a:rPr lang="en-US" sz="4000" dirty="0"/>
              <a:t>SI</a:t>
            </a:r>
            <a:endParaRPr lang="ru-RU" sz="4000" dirty="0"/>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0" y="545137"/>
            <a:ext cx="12073466" cy="6290639"/>
          </a:xfrm>
        </p:spPr>
        <p:txBody>
          <a:bodyPr>
            <a:normAutofit/>
          </a:bodyPr>
          <a:lstStyle/>
          <a:p>
            <a:pPr>
              <a:buFont typeface="Wingdings" panose="05000000000000000000" pitchFamily="2" charset="2"/>
              <a:buChar char="§"/>
            </a:pPr>
            <a:r>
              <a:rPr lang="ru-RU" dirty="0"/>
              <a:t>Как показано выше, выполнение приведенных требований не гарантирует </a:t>
            </a:r>
            <a:r>
              <a:rPr lang="ru-RU" dirty="0" err="1"/>
              <a:t>сериализуемость</a:t>
            </a:r>
            <a:r>
              <a:rPr lang="ru-RU" dirty="0"/>
              <a:t>, однако, очевидно, предотвращает грязное чтение. </a:t>
            </a:r>
          </a:p>
          <a:p>
            <a:pPr>
              <a:buFont typeface="Wingdings" panose="05000000000000000000" pitchFamily="2" charset="2"/>
              <a:buChar char="§"/>
            </a:pPr>
            <a:r>
              <a:rPr lang="ru-RU" b="1" dirty="0"/>
              <a:t>Простые реализации протокола SI </a:t>
            </a:r>
            <a:r>
              <a:rPr lang="ru-RU" dirty="0"/>
              <a:t>допускают появление </a:t>
            </a:r>
            <a:r>
              <a:rPr lang="ru-RU" b="1" dirty="0"/>
              <a:t>аномалии неповторяющегося чтения,</a:t>
            </a:r>
            <a:r>
              <a:rPr lang="ru-RU" dirty="0"/>
              <a:t> поскольку значения элементов данных могут измениться после фиксации другой транзакции. </a:t>
            </a:r>
          </a:p>
          <a:p>
            <a:pPr>
              <a:buFont typeface="Wingdings" panose="05000000000000000000" pitchFamily="2" charset="2"/>
              <a:buChar char="§"/>
            </a:pPr>
            <a:r>
              <a:rPr lang="ru-RU" b="1" dirty="0"/>
              <a:t>Требования абстрактного протокола SI предполагают проверку интервалов времени</a:t>
            </a:r>
            <a:r>
              <a:rPr lang="ru-RU" dirty="0"/>
              <a:t>, в течение которых выполняются транзакции, поэтому </a:t>
            </a:r>
            <a:r>
              <a:rPr lang="ru-RU" b="1" dirty="0"/>
              <a:t>проверку этих условий легко реализовать на основе меток времени </a:t>
            </a:r>
            <a:r>
              <a:rPr lang="ru-RU" dirty="0"/>
              <a:t>(подобно протоколу TS) без применения блокировок.</a:t>
            </a:r>
            <a:endParaRPr lang="ru-RU" sz="3000" dirty="0"/>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71</a:t>
            </a:fld>
            <a:endParaRPr lang="ru-RU" dirty="0"/>
          </a:p>
        </p:txBody>
      </p:sp>
    </p:spTree>
    <p:extLst>
      <p:ext uri="{BB962C8B-B14F-4D97-AF65-F5344CB8AC3E}">
        <p14:creationId xmlns:p14="http://schemas.microsoft.com/office/powerpoint/2010/main" val="1045363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19980"/>
            <a:ext cx="11921067" cy="565117"/>
          </a:xfrm>
        </p:spPr>
        <p:txBody>
          <a:bodyPr>
            <a:noAutofit/>
          </a:bodyPr>
          <a:lstStyle/>
          <a:p>
            <a:r>
              <a:rPr lang="ru-RU" sz="4000" dirty="0" err="1"/>
              <a:t>Многоверсионные</a:t>
            </a:r>
            <a:r>
              <a:rPr lang="ru-RU" sz="4000" dirty="0"/>
              <a:t> протоколы</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0" y="545137"/>
            <a:ext cx="12073466" cy="6290639"/>
          </a:xfrm>
        </p:spPr>
        <p:txBody>
          <a:bodyPr>
            <a:normAutofit fontScale="85000" lnSpcReduction="20000"/>
          </a:bodyPr>
          <a:lstStyle/>
          <a:p>
            <a:pPr>
              <a:buFont typeface="Wingdings" panose="05000000000000000000" pitchFamily="2" charset="2"/>
              <a:buChar char="§"/>
            </a:pPr>
            <a:r>
              <a:rPr lang="ru-RU" dirty="0"/>
              <a:t>Большинство протоколов управления транзакциями имеют варианты, работающие с </a:t>
            </a:r>
            <a:r>
              <a:rPr lang="ru-RU" b="1" dirty="0"/>
              <a:t>множественными версиями элементов данных</a:t>
            </a:r>
            <a:r>
              <a:rPr lang="ru-RU" dirty="0"/>
              <a:t>. </a:t>
            </a:r>
          </a:p>
          <a:p>
            <a:pPr>
              <a:buFont typeface="Wingdings" panose="05000000000000000000" pitchFamily="2" charset="2"/>
              <a:buChar char="§"/>
            </a:pPr>
            <a:r>
              <a:rPr lang="ru-RU" dirty="0"/>
              <a:t>Во всех случаях применение множественных версий сокращает долю транзакций, обрываемых по протокольным причинам: </a:t>
            </a:r>
          </a:p>
          <a:p>
            <a:pPr>
              <a:buFont typeface="Wingdings" panose="05000000000000000000" pitchFamily="2" charset="2"/>
              <a:buChar char="§"/>
            </a:pPr>
            <a:r>
              <a:rPr lang="ru-RU" dirty="0"/>
              <a:t>Множественные версии </a:t>
            </a:r>
            <a:r>
              <a:rPr lang="ru-RU" b="1" dirty="0"/>
              <a:t>дают возможность нормально зафиксировать транзакции, </a:t>
            </a:r>
            <a:r>
              <a:rPr lang="ru-RU" dirty="0"/>
              <a:t>которые читают данные после того, как эти элементы данных </a:t>
            </a:r>
            <a:r>
              <a:rPr lang="ru-RU" b="1" dirty="0"/>
              <a:t>были изменены логически более поздней транзакцией</a:t>
            </a:r>
            <a:r>
              <a:rPr lang="ru-RU" dirty="0"/>
              <a:t> (т. е. более поздней в порядке </a:t>
            </a:r>
            <a:r>
              <a:rPr lang="ru-RU" dirty="0" err="1"/>
              <a:t>сериализации</a:t>
            </a:r>
            <a:r>
              <a:rPr lang="ru-RU" dirty="0"/>
              <a:t>). </a:t>
            </a:r>
          </a:p>
          <a:p>
            <a:pPr>
              <a:buFont typeface="Wingdings" panose="05000000000000000000" pitchFamily="2" charset="2"/>
              <a:buChar char="§"/>
            </a:pPr>
            <a:r>
              <a:rPr lang="ru-RU" dirty="0"/>
              <a:t>Конечно, попытка записи таких элементов данных все равно приводит к обрыву транзакции.</a:t>
            </a:r>
          </a:p>
          <a:p>
            <a:pPr>
              <a:buFont typeface="Wingdings" panose="05000000000000000000" pitchFamily="2" charset="2"/>
              <a:buChar char="§"/>
            </a:pPr>
            <a:r>
              <a:rPr lang="ru-RU" sz="3200" dirty="0"/>
              <a:t>Множественные версии особенно полезны в тех случаях, когда </a:t>
            </a:r>
            <a:r>
              <a:rPr lang="ru-RU" sz="3200" b="1" dirty="0"/>
              <a:t>значительную часть нагрузки составляют только читающие транзакции</a:t>
            </a:r>
          </a:p>
          <a:p>
            <a:pPr>
              <a:buFont typeface="Wingdings" panose="05000000000000000000" pitchFamily="2" charset="2"/>
              <a:buChar char="§"/>
            </a:pPr>
            <a:r>
              <a:rPr lang="ru-RU" sz="3200" dirty="0"/>
              <a:t>Такие транзакции всегда могут быть зафиксированы. </a:t>
            </a:r>
          </a:p>
          <a:p>
            <a:pPr>
              <a:buFont typeface="Wingdings" panose="05000000000000000000" pitchFamily="2" charset="2"/>
              <a:buChar char="§"/>
            </a:pPr>
            <a:r>
              <a:rPr lang="ru-RU" sz="3200" dirty="0"/>
              <a:t>Это утверждение, казалось бы, опровергается аномалией только читающей транзакции</a:t>
            </a:r>
          </a:p>
          <a:p>
            <a:pPr>
              <a:buFont typeface="Wingdings" panose="05000000000000000000" pitchFamily="2" charset="2"/>
              <a:buChar char="§"/>
            </a:pPr>
            <a:r>
              <a:rPr lang="ru-RU" sz="3200" dirty="0"/>
              <a:t>Однако эта аномалия никак не связана с </a:t>
            </a:r>
            <a:r>
              <a:rPr lang="ru-RU" sz="3200" dirty="0" err="1"/>
              <a:t>многоверсионностью</a:t>
            </a:r>
            <a:r>
              <a:rPr lang="ru-RU" sz="3200" dirty="0"/>
              <a:t> и может возникнуть, наряду с другими аномалиями, </a:t>
            </a:r>
            <a:r>
              <a:rPr lang="ru-RU" sz="3200" b="1" dirty="0"/>
              <a:t>только при использовании ослабленных критериев корректност</a:t>
            </a:r>
            <a:r>
              <a:rPr lang="ru-RU" sz="3200" dirty="0"/>
              <a:t>и (уровней изоляции)</a:t>
            </a:r>
            <a:endParaRPr lang="ru-RU" sz="3000" dirty="0"/>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72</a:t>
            </a:fld>
            <a:endParaRPr lang="ru-RU" dirty="0"/>
          </a:p>
        </p:txBody>
      </p:sp>
    </p:spTree>
    <p:extLst>
      <p:ext uri="{BB962C8B-B14F-4D97-AF65-F5344CB8AC3E}">
        <p14:creationId xmlns:p14="http://schemas.microsoft.com/office/powerpoint/2010/main" val="990199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up)">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up)">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up)">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19980"/>
            <a:ext cx="11921067" cy="565117"/>
          </a:xfrm>
        </p:spPr>
        <p:txBody>
          <a:bodyPr>
            <a:noAutofit/>
          </a:bodyPr>
          <a:lstStyle/>
          <a:p>
            <a:r>
              <a:rPr lang="ru-RU" sz="4000" dirty="0" err="1"/>
              <a:t>Многоверсионные</a:t>
            </a:r>
            <a:r>
              <a:rPr lang="ru-RU" sz="4000" dirty="0"/>
              <a:t> протоколы</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0" y="545137"/>
            <a:ext cx="12073466" cy="6290639"/>
          </a:xfrm>
        </p:spPr>
        <p:txBody>
          <a:bodyPr>
            <a:normAutofit fontScale="85000" lnSpcReduction="10000"/>
          </a:bodyPr>
          <a:lstStyle/>
          <a:p>
            <a:pPr>
              <a:buFont typeface="Wingdings" panose="05000000000000000000" pitchFamily="2" charset="2"/>
              <a:buChar char="§"/>
            </a:pPr>
            <a:r>
              <a:rPr lang="ru-RU" dirty="0"/>
              <a:t>Проверка </a:t>
            </a:r>
            <a:r>
              <a:rPr lang="ru-RU" dirty="0" err="1"/>
              <a:t>сериализуемости</a:t>
            </a:r>
            <a:r>
              <a:rPr lang="ru-RU" dirty="0"/>
              <a:t> в </a:t>
            </a:r>
            <a:r>
              <a:rPr lang="ru-RU" dirty="0" err="1"/>
              <a:t>многоверсионном</a:t>
            </a:r>
            <a:r>
              <a:rPr lang="ru-RU" dirty="0"/>
              <a:t> варианте протокола TS использует не только </a:t>
            </a:r>
            <a:r>
              <a:rPr lang="ru-RU" b="1" dirty="0"/>
              <a:t>метки времени записи, но и метки времени последнего чтения</a:t>
            </a:r>
          </a:p>
          <a:p>
            <a:pPr>
              <a:buFont typeface="Wingdings" panose="05000000000000000000" pitchFamily="2" charset="2"/>
              <a:buChar char="§"/>
            </a:pPr>
            <a:r>
              <a:rPr lang="ru-RU" dirty="0"/>
              <a:t>Версия, </a:t>
            </a:r>
            <a:r>
              <a:rPr lang="ru-RU" b="1" dirty="0"/>
              <a:t>прочитанная более поздней транзакцией</a:t>
            </a:r>
            <a:r>
              <a:rPr lang="ru-RU" dirty="0"/>
              <a:t>, </a:t>
            </a:r>
            <a:r>
              <a:rPr lang="ru-RU" b="1" dirty="0"/>
              <a:t>не может быть изменена более ранней</a:t>
            </a:r>
            <a:r>
              <a:rPr lang="ru-RU" dirty="0"/>
              <a:t>, даже если это последняя записанная версия. </a:t>
            </a:r>
          </a:p>
          <a:p>
            <a:pPr>
              <a:buFont typeface="Wingdings" panose="05000000000000000000" pitchFamily="2" charset="2"/>
              <a:buChar char="§"/>
            </a:pPr>
            <a:r>
              <a:rPr lang="ru-RU" dirty="0"/>
              <a:t>В </a:t>
            </a:r>
            <a:r>
              <a:rPr lang="ru-RU" dirty="0" err="1"/>
              <a:t>многоверсионном</a:t>
            </a:r>
            <a:r>
              <a:rPr lang="ru-RU" dirty="0"/>
              <a:t> протоколе SI необходимо иметь возможность определять, какая именно версия каждого элемента данных должна быть доступна транзакции (входит в ее снимок состояния базы данных), и предотвращать доступ транзакции к другим версиям. </a:t>
            </a:r>
          </a:p>
          <a:p>
            <a:pPr>
              <a:buFont typeface="Wingdings" panose="05000000000000000000" pitchFamily="2" charset="2"/>
              <a:buChar char="§"/>
            </a:pPr>
            <a:r>
              <a:rPr lang="ru-RU" dirty="0"/>
              <a:t>По определению это </a:t>
            </a:r>
            <a:r>
              <a:rPr lang="ru-RU" b="1" dirty="0"/>
              <a:t>последняя версия, записанная транзакцией, зафиксированной на момент старта транзакции</a:t>
            </a:r>
            <a:r>
              <a:rPr lang="ru-RU" dirty="0"/>
              <a:t>, для которой строится снимок.</a:t>
            </a:r>
          </a:p>
          <a:p>
            <a:pPr>
              <a:buFont typeface="Wingdings" panose="05000000000000000000" pitchFamily="2" charset="2"/>
              <a:buChar char="§"/>
            </a:pPr>
            <a:r>
              <a:rPr lang="ru-RU" dirty="0"/>
              <a:t>Соответственно, </a:t>
            </a:r>
            <a:r>
              <a:rPr lang="ru-RU" b="1" dirty="0"/>
              <a:t>реализация может использовать </a:t>
            </a:r>
          </a:p>
          <a:p>
            <a:pPr lvl="1">
              <a:buFont typeface="Wingdings" panose="05000000000000000000" pitchFamily="2" charset="2"/>
              <a:buChar char="ü"/>
            </a:pPr>
            <a:r>
              <a:rPr lang="ru-RU" b="1" dirty="0"/>
              <a:t>либо метки времени</a:t>
            </a:r>
            <a:r>
              <a:rPr lang="ru-RU" dirty="0"/>
              <a:t>, связываемые с каждой версией и указывающие время фиксации транзакции, которая эту версию записала, </a:t>
            </a:r>
          </a:p>
          <a:p>
            <a:pPr lvl="1">
              <a:buFont typeface="Wingdings" panose="05000000000000000000" pitchFamily="2" charset="2"/>
              <a:buChar char="ü"/>
            </a:pPr>
            <a:r>
              <a:rPr lang="ru-RU" b="1" dirty="0"/>
              <a:t>либо связывать с версией идентификатор записавшей транзакции </a:t>
            </a:r>
            <a:r>
              <a:rPr lang="ru-RU" dirty="0"/>
              <a:t>и при чтении проверять список транзакций, которые были активны на момент старта читающей. </a:t>
            </a:r>
          </a:p>
          <a:p>
            <a:pPr>
              <a:buFont typeface="Wingdings" panose="05000000000000000000" pitchFamily="2" charset="2"/>
              <a:buChar char="§"/>
            </a:pPr>
            <a:r>
              <a:rPr lang="ru-RU" dirty="0"/>
              <a:t>В системе </a:t>
            </a:r>
            <a:r>
              <a:rPr lang="ru-RU" dirty="0" err="1"/>
              <a:t>PostgreSQL</a:t>
            </a:r>
            <a:r>
              <a:rPr lang="ru-RU" dirty="0"/>
              <a:t> применяется </a:t>
            </a:r>
            <a:r>
              <a:rPr lang="ru-RU" b="1" dirty="0"/>
              <a:t>именно такой протокол и вторая из названных стратегий.</a:t>
            </a:r>
            <a:endParaRPr lang="ru-RU" sz="3000" b="1" dirty="0"/>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73</a:t>
            </a:fld>
            <a:endParaRPr lang="ru-RU" dirty="0"/>
          </a:p>
        </p:txBody>
      </p:sp>
    </p:spTree>
    <p:extLst>
      <p:ext uri="{BB962C8B-B14F-4D97-AF65-F5344CB8AC3E}">
        <p14:creationId xmlns:p14="http://schemas.microsoft.com/office/powerpoint/2010/main" val="2243305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wipe(up)">
                                      <p:cBhvr>
                                        <p:cTn id="30" dur="500"/>
                                        <p:tgtEl>
                                          <p:spTgt spid="3">
                                            <p:txEl>
                                              <p:pRg st="5" end="5"/>
                                            </p:txEl>
                                          </p:spTgt>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wipe(up)">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wipe(up)">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19980"/>
            <a:ext cx="11921067" cy="565117"/>
          </a:xfrm>
        </p:spPr>
        <p:txBody>
          <a:bodyPr>
            <a:noAutofit/>
          </a:bodyPr>
          <a:lstStyle/>
          <a:p>
            <a:r>
              <a:rPr lang="ru-RU" sz="4000" dirty="0" err="1"/>
              <a:t>Многоверсионные</a:t>
            </a:r>
            <a:r>
              <a:rPr lang="ru-RU" sz="4000" dirty="0"/>
              <a:t> протоколы</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0" y="545137"/>
            <a:ext cx="12073466" cy="6290639"/>
          </a:xfrm>
        </p:spPr>
        <p:txBody>
          <a:bodyPr>
            <a:normAutofit fontScale="85000" lnSpcReduction="10000"/>
          </a:bodyPr>
          <a:lstStyle/>
          <a:p>
            <a:pPr>
              <a:buFont typeface="Wingdings" panose="05000000000000000000" pitchFamily="2" charset="2"/>
              <a:buChar char="§"/>
            </a:pPr>
            <a:r>
              <a:rPr lang="ru-RU" dirty="0"/>
              <a:t>Поскольку в </a:t>
            </a:r>
            <a:r>
              <a:rPr lang="ru-RU" dirty="0" err="1"/>
              <a:t>PostgreSQL</a:t>
            </a:r>
            <a:r>
              <a:rPr lang="ru-RU" dirty="0"/>
              <a:t> любое обновление записывается на новое место, поддержка множественных версий основана просто на использовании устаревших версий. </a:t>
            </a:r>
          </a:p>
          <a:p>
            <a:pPr>
              <a:buFont typeface="Wingdings" panose="05000000000000000000" pitchFamily="2" charset="2"/>
              <a:buChar char="§"/>
            </a:pPr>
            <a:r>
              <a:rPr lang="ru-RU" dirty="0"/>
              <a:t>Обычная версия протокола, предусматривающая обрыв транзакций, применяется для реализации уровня изоляции </a:t>
            </a:r>
            <a:r>
              <a:rPr lang="ru-RU" dirty="0" err="1"/>
              <a:t>Repeatable</a:t>
            </a:r>
            <a:r>
              <a:rPr lang="ru-RU" dirty="0"/>
              <a:t> </a:t>
            </a:r>
            <a:r>
              <a:rPr lang="ru-RU" dirty="0" err="1"/>
              <a:t>Read</a:t>
            </a:r>
            <a:r>
              <a:rPr lang="ru-RU" dirty="0"/>
              <a:t>,</a:t>
            </a:r>
          </a:p>
          <a:p>
            <a:pPr>
              <a:buFont typeface="Wingdings" panose="05000000000000000000" pitchFamily="2" charset="2"/>
              <a:buChar char="§"/>
            </a:pPr>
            <a:r>
              <a:rPr lang="ru-RU" dirty="0"/>
              <a:t>Для уровня изоляции </a:t>
            </a:r>
            <a:r>
              <a:rPr lang="ru-RU" dirty="0" err="1"/>
              <a:t>Read</a:t>
            </a:r>
            <a:r>
              <a:rPr lang="ru-RU" dirty="0"/>
              <a:t> </a:t>
            </a:r>
            <a:r>
              <a:rPr lang="ru-RU" dirty="0" err="1"/>
              <a:t>Committed</a:t>
            </a:r>
            <a:r>
              <a:rPr lang="ru-RU" dirty="0"/>
              <a:t> необходимости в обрывах транзакций нет, и они никогда не выполняются.</a:t>
            </a:r>
          </a:p>
          <a:p>
            <a:pPr>
              <a:buFont typeface="Wingdings" panose="05000000000000000000" pitchFamily="2" charset="2"/>
              <a:buChar char="§"/>
            </a:pPr>
            <a:r>
              <a:rPr lang="ru-RU" dirty="0"/>
              <a:t>Несколько сложнее построить </a:t>
            </a:r>
            <a:r>
              <a:rPr lang="ru-RU" dirty="0" err="1"/>
              <a:t>многоверсионные</a:t>
            </a:r>
            <a:r>
              <a:rPr lang="ru-RU" dirty="0"/>
              <a:t> протоколы двухфазного блокирования, потому что порядок </a:t>
            </a:r>
            <a:r>
              <a:rPr lang="ru-RU" dirty="0" err="1"/>
              <a:t>сериализации</a:t>
            </a:r>
            <a:r>
              <a:rPr lang="ru-RU" dirty="0"/>
              <a:t> может не совпадать с порядком, в котором транзакции выполнялись. </a:t>
            </a:r>
          </a:p>
          <a:p>
            <a:pPr>
              <a:buFont typeface="Wingdings" panose="05000000000000000000" pitchFamily="2" charset="2"/>
              <a:buChar char="§"/>
            </a:pPr>
            <a:r>
              <a:rPr lang="ru-RU" dirty="0"/>
              <a:t>Простую реализацию допускает </a:t>
            </a:r>
            <a:r>
              <a:rPr lang="ru-RU" dirty="0" err="1"/>
              <a:t>двухверсионный</a:t>
            </a:r>
            <a:r>
              <a:rPr lang="ru-RU" dirty="0"/>
              <a:t> двухфазный протокол, в котором для любого элемента данных необходимо хранить </a:t>
            </a:r>
            <a:r>
              <a:rPr lang="ru-RU" b="1" dirty="0"/>
              <a:t>не более двух версий: </a:t>
            </a:r>
          </a:p>
          <a:p>
            <a:pPr lvl="1">
              <a:buFont typeface="Wingdings" panose="05000000000000000000" pitchFamily="2" charset="2"/>
              <a:buChar char="ü"/>
            </a:pPr>
            <a:r>
              <a:rPr lang="ru-RU" dirty="0"/>
              <a:t>последнюю зафиксированную </a:t>
            </a:r>
          </a:p>
          <a:p>
            <a:pPr lvl="1">
              <a:buFont typeface="Wingdings" panose="05000000000000000000" pitchFamily="2" charset="2"/>
              <a:buChar char="ü"/>
            </a:pPr>
            <a:r>
              <a:rPr lang="ru-RU" dirty="0"/>
              <a:t>версию, обновляемую транзакцией, установившей блокировку на обновление. </a:t>
            </a:r>
          </a:p>
          <a:p>
            <a:pPr>
              <a:buFont typeface="Wingdings" panose="05000000000000000000" pitchFamily="2" charset="2"/>
              <a:buChar char="§"/>
            </a:pPr>
            <a:r>
              <a:rPr lang="ru-RU" dirty="0"/>
              <a:t>Такой протокол, однако, сохраняет большую часть недостатков </a:t>
            </a:r>
            <a:r>
              <a:rPr lang="ru-RU" dirty="0" err="1"/>
              <a:t>одноверсионного</a:t>
            </a:r>
            <a:r>
              <a:rPr lang="ru-RU" dirty="0"/>
              <a:t> 2PL.</a:t>
            </a:r>
            <a:endParaRPr lang="ru-RU" b="1" dirty="0"/>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74</a:t>
            </a:fld>
            <a:endParaRPr lang="ru-RU" dirty="0"/>
          </a:p>
        </p:txBody>
      </p:sp>
    </p:spTree>
    <p:extLst>
      <p:ext uri="{BB962C8B-B14F-4D97-AF65-F5344CB8AC3E}">
        <p14:creationId xmlns:p14="http://schemas.microsoft.com/office/powerpoint/2010/main" val="3964273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wipe(up)">
                                      <p:cBhvr>
                                        <p:cTn id="30" dur="500"/>
                                        <p:tgtEl>
                                          <p:spTgt spid="3">
                                            <p:txEl>
                                              <p:pRg st="5" end="5"/>
                                            </p:txEl>
                                          </p:spTgt>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wipe(up)">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wipe(up)">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270933" y="-19980"/>
            <a:ext cx="11921067" cy="565117"/>
          </a:xfrm>
        </p:spPr>
        <p:txBody>
          <a:bodyPr>
            <a:noAutofit/>
          </a:bodyPr>
          <a:lstStyle/>
          <a:p>
            <a:r>
              <a:rPr lang="ru-RU" sz="4000" dirty="0"/>
              <a:t>Блокировки или метки времени?</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0" y="545137"/>
            <a:ext cx="12073466" cy="6290639"/>
          </a:xfrm>
        </p:spPr>
        <p:txBody>
          <a:bodyPr>
            <a:normAutofit fontScale="92500" lnSpcReduction="20000"/>
          </a:bodyPr>
          <a:lstStyle/>
          <a:p>
            <a:pPr>
              <a:buFont typeface="Wingdings" panose="05000000000000000000" pitchFamily="2" charset="2"/>
              <a:buChar char="§"/>
            </a:pPr>
            <a:r>
              <a:rPr lang="ru-RU" dirty="0"/>
              <a:t>Основное назначение блокировок состоит в том, чтобы организовать выполнение операций разных транзакций в таком порядке, который обеспечивает выполнение некоторых условий корректности. </a:t>
            </a:r>
          </a:p>
          <a:p>
            <a:pPr>
              <a:buFont typeface="Wingdings" panose="05000000000000000000" pitchFamily="2" charset="2"/>
              <a:buChar char="§"/>
            </a:pPr>
            <a:r>
              <a:rPr lang="ru-RU" dirty="0"/>
              <a:t>Ту же функцию выполняют и метки времени, поэтому можно сказать, что блокировки и упорядочивание операций на основе меток времени </a:t>
            </a:r>
            <a:r>
              <a:rPr lang="ru-RU" b="1" dirty="0"/>
              <a:t>в каком-то смысле взаимозаменяемы. </a:t>
            </a:r>
          </a:p>
          <a:p>
            <a:pPr>
              <a:buFont typeface="Wingdings" panose="05000000000000000000" pitchFamily="2" charset="2"/>
              <a:buChar char="§"/>
            </a:pPr>
            <a:r>
              <a:rPr lang="ru-RU" dirty="0"/>
              <a:t>Отличие состоит в том, что при невозможности немедленного выполнения </a:t>
            </a:r>
            <a:r>
              <a:rPr lang="ru-RU" b="1" dirty="0"/>
              <a:t>операций блокировки приводят к ожиданиям</a:t>
            </a:r>
            <a:r>
              <a:rPr lang="ru-RU" dirty="0"/>
              <a:t>, а применение меток времени — </a:t>
            </a:r>
            <a:r>
              <a:rPr lang="ru-RU" b="1" dirty="0"/>
              <a:t>к обрывам транзакций</a:t>
            </a:r>
            <a:r>
              <a:rPr lang="ru-RU" dirty="0"/>
              <a:t>. </a:t>
            </a:r>
          </a:p>
          <a:p>
            <a:pPr>
              <a:buFont typeface="Wingdings" panose="05000000000000000000" pitchFamily="2" charset="2"/>
              <a:buChar char="§"/>
            </a:pPr>
            <a:r>
              <a:rPr lang="ru-RU" b="1" dirty="0"/>
              <a:t>Большинство систем управления базами данных</a:t>
            </a:r>
            <a:r>
              <a:rPr lang="ru-RU" dirty="0"/>
              <a:t>, применяемых в промышленности, </a:t>
            </a:r>
            <a:r>
              <a:rPr lang="ru-RU" b="1" dirty="0"/>
              <a:t>использует блокировки </a:t>
            </a:r>
            <a:r>
              <a:rPr lang="ru-RU" dirty="0"/>
              <a:t>для реализации протокола управления транзакциями. </a:t>
            </a:r>
          </a:p>
          <a:p>
            <a:pPr>
              <a:buFont typeface="Wingdings" panose="05000000000000000000" pitchFamily="2" charset="2"/>
              <a:buChar char="§"/>
            </a:pPr>
            <a:r>
              <a:rPr lang="ru-RU" dirty="0"/>
              <a:t>По всей видимости, это вызвано тем, что потери, связанные с обрывами транзакций, считаются более существенными, чем снижение пропускной способности вследствие ожиданий. </a:t>
            </a:r>
          </a:p>
          <a:p>
            <a:pPr>
              <a:buFont typeface="Wingdings" panose="05000000000000000000" pitchFamily="2" charset="2"/>
              <a:buChar char="§"/>
            </a:pPr>
            <a:r>
              <a:rPr lang="ru-RU" dirty="0"/>
              <a:t>Однако относительная важность этих метрик зависит от характеристик оборудования, размеров базы данных, размера транзакций и от требований к системе.</a:t>
            </a:r>
            <a:endParaRPr lang="ru-RU" b="1" dirty="0"/>
          </a:p>
        </p:txBody>
      </p:sp>
      <p:sp>
        <p:nvSpPr>
          <p:cNvPr id="4" name="Нижний колонтитул 3">
            <a:extLst>
              <a:ext uri="{FF2B5EF4-FFF2-40B4-BE49-F238E27FC236}">
                <a16:creationId xmlns:a16="http://schemas.microsoft.com/office/drawing/2014/main" id="{D00F6CB0-4864-2E55-3D4D-7D777DE97B3C}"/>
              </a:ext>
            </a:extLst>
          </p:cNvPr>
          <p:cNvSpPr>
            <a:spLocks noGrp="1"/>
          </p:cNvSpPr>
          <p:nvPr>
            <p:ph type="ftr" sz="quarter" idx="11"/>
          </p:nvPr>
        </p:nvSpPr>
        <p:spPr>
          <a:xfrm>
            <a:off x="11260666" y="6356351"/>
            <a:ext cx="812800" cy="479425"/>
          </a:xfrm>
        </p:spPr>
        <p:txBody>
          <a:bodyPr/>
          <a:lstStyle/>
          <a:p>
            <a:endParaRPr lang="ru-RU" dirty="0"/>
          </a:p>
        </p:txBody>
      </p:sp>
      <p:sp>
        <p:nvSpPr>
          <p:cNvPr id="5" name="Номер слайда 4">
            <a:extLst>
              <a:ext uri="{FF2B5EF4-FFF2-40B4-BE49-F238E27FC236}">
                <a16:creationId xmlns:a16="http://schemas.microsoft.com/office/drawing/2014/main" id="{D3C7A5D2-DF62-1A7F-2950-87C985E614B3}"/>
              </a:ext>
            </a:extLst>
          </p:cNvPr>
          <p:cNvSpPr>
            <a:spLocks noGrp="1"/>
          </p:cNvSpPr>
          <p:nvPr>
            <p:ph type="sldNum" sz="quarter" idx="12"/>
          </p:nvPr>
        </p:nvSpPr>
        <p:spPr>
          <a:xfrm>
            <a:off x="11260667" y="6378575"/>
            <a:ext cx="812800" cy="479425"/>
          </a:xfrm>
        </p:spPr>
        <p:txBody>
          <a:bodyPr/>
          <a:lstStyle/>
          <a:p>
            <a:fld id="{667D74AF-8CFA-41E7-84BA-34814A01EACF}" type="slidenum">
              <a:rPr lang="ru-RU" smtClean="0"/>
              <a:t>75</a:t>
            </a:fld>
            <a:endParaRPr lang="ru-RU" dirty="0"/>
          </a:p>
        </p:txBody>
      </p:sp>
    </p:spTree>
    <p:extLst>
      <p:ext uri="{BB962C8B-B14F-4D97-AF65-F5344CB8AC3E}">
        <p14:creationId xmlns:p14="http://schemas.microsoft.com/office/powerpoint/2010/main" val="1133615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up)">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p:txBody>
          <a:bodyPr>
            <a:normAutofit fontScale="90000"/>
          </a:bodyPr>
          <a:lstStyle/>
          <a:p>
            <a:r>
              <a:rPr lang="ru-RU" dirty="0"/>
              <a:t>Ослабленные критерии корректности: уровни изоляции в SQL</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609599" y="1417638"/>
            <a:ext cx="11430001" cy="5440361"/>
          </a:xfrm>
        </p:spPr>
        <p:txBody>
          <a:bodyPr>
            <a:normAutofit fontScale="85000" lnSpcReduction="10000"/>
          </a:bodyPr>
          <a:lstStyle/>
          <a:p>
            <a:pPr algn="l"/>
            <a:r>
              <a:rPr lang="ru-RU" dirty="0"/>
              <a:t>В связи с тем, что ранние протоколы управления транзакциями (в частности, протокол S2PL) ограничивают возможности параллельного выполнения транзакций, сложилась практика применения ослабленных условий корректности. </a:t>
            </a:r>
          </a:p>
          <a:p>
            <a:pPr algn="l"/>
            <a:r>
              <a:rPr lang="ru-RU" dirty="0"/>
              <a:t>Некоторые из таких ослабленных условий формализованы в стандарте SQL-92, в котором были определены уровни изоляции.</a:t>
            </a:r>
          </a:p>
          <a:p>
            <a:pPr algn="l"/>
            <a:r>
              <a:rPr lang="ru-RU" dirty="0"/>
              <a:t>В отличие от формальной теории транзакций ослабленные критерии корректности определяются не в терминах состояний базы данных и возвращаемых значений (выраженных, например, семантиками </a:t>
            </a:r>
            <a:r>
              <a:rPr lang="ru-RU" dirty="0" err="1"/>
              <a:t>Эрбрана</a:t>
            </a:r>
            <a:r>
              <a:rPr lang="ru-RU" dirty="0"/>
              <a:t>), а в терминах запретов на определенные аномалии конкурентного выполнения. </a:t>
            </a:r>
          </a:p>
          <a:p>
            <a:pPr algn="l"/>
            <a:r>
              <a:rPr lang="ru-RU" dirty="0"/>
              <a:t>Этот способ определения страдает серьезным концептуальным недостатком: можно запретить все или какие-либо из известных аномалий, однако нельзя гарантировать, что в будущем не будут обнаружены новые. </a:t>
            </a:r>
          </a:p>
          <a:p>
            <a:pPr algn="l"/>
            <a:r>
              <a:rPr lang="ru-RU" dirty="0"/>
              <a:t>Так, аномалия только читающей транзакции была открыта спустя полтора десятилетия после появления уровней изоляции в стандарте SQL.</a:t>
            </a:r>
            <a:endParaRPr lang="ru-RU" dirty="0">
              <a:latin typeface="Arial" panose="020B0604020202020204" pitchFamily="34" charset="0"/>
              <a:cs typeface="Arial" panose="020B0604020202020204" pitchFamily="34" charset="0"/>
            </a:endParaRPr>
          </a:p>
        </p:txBody>
      </p:sp>
      <p:sp>
        <p:nvSpPr>
          <p:cNvPr id="4" name="Нижний колонтитул 3">
            <a:extLst>
              <a:ext uri="{FF2B5EF4-FFF2-40B4-BE49-F238E27FC236}">
                <a16:creationId xmlns:a16="http://schemas.microsoft.com/office/drawing/2014/main" id="{7EA58F52-5D73-D1D0-E68E-F6226011D1C2}"/>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085B845D-D86B-84E5-F670-89AD882F9699}"/>
              </a:ext>
            </a:extLst>
          </p:cNvPr>
          <p:cNvSpPr>
            <a:spLocks noGrp="1"/>
          </p:cNvSpPr>
          <p:nvPr>
            <p:ph type="sldNum" sz="quarter" idx="12"/>
          </p:nvPr>
        </p:nvSpPr>
        <p:spPr/>
        <p:txBody>
          <a:bodyPr/>
          <a:lstStyle/>
          <a:p>
            <a:fld id="{667D74AF-8CFA-41E7-84BA-34814A01EACF}" type="slidenum">
              <a:rPr lang="ru-RU" smtClean="0"/>
              <a:t>76</a:t>
            </a:fld>
            <a:endParaRPr lang="ru-RU"/>
          </a:p>
        </p:txBody>
      </p:sp>
    </p:spTree>
    <p:extLst>
      <p:ext uri="{BB962C8B-B14F-4D97-AF65-F5344CB8AC3E}">
        <p14:creationId xmlns:p14="http://schemas.microsoft.com/office/powerpoint/2010/main" val="174513746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p:txBody>
          <a:bodyPr>
            <a:normAutofit fontScale="90000"/>
          </a:bodyPr>
          <a:lstStyle/>
          <a:p>
            <a:r>
              <a:rPr lang="ru-RU" dirty="0"/>
              <a:t>Ослабленные критерии корректности: уровни изоляции в SQL</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609599" y="1417638"/>
            <a:ext cx="11430001" cy="5440361"/>
          </a:xfrm>
        </p:spPr>
        <p:txBody>
          <a:bodyPr>
            <a:normAutofit/>
          </a:bodyPr>
          <a:lstStyle/>
          <a:p>
            <a:pPr algn="l"/>
            <a:r>
              <a:rPr lang="ru-RU" dirty="0"/>
              <a:t>В соответствии со стандартом SQL реализация каждого уровня изоляции должна гарантировать отсутствие указанных аномалий, однако не обязательно должна допускать все остальные. </a:t>
            </a:r>
            <a:endParaRPr lang="en-US" dirty="0"/>
          </a:p>
          <a:p>
            <a:pPr algn="l"/>
            <a:r>
              <a:rPr lang="ru-RU" dirty="0"/>
              <a:t>В действительности реализация протоколов, которые обеспечивали бы в точности то, что требуется стандартом, практически невозможна</a:t>
            </a:r>
            <a:endParaRPr lang="en-US" dirty="0"/>
          </a:p>
          <a:p>
            <a:pPr algn="l"/>
            <a:r>
              <a:rPr lang="ru-RU" dirty="0"/>
              <a:t>Все СУБД фактически реализуют более строгие ограничения, чем буквально требуется стандартом. </a:t>
            </a:r>
          </a:p>
          <a:p>
            <a:pPr algn="l"/>
            <a:r>
              <a:rPr lang="ru-RU" dirty="0"/>
              <a:t>Дополнительная сложность теоретического анализа ослабленных уровней изоляции вызвана тем, что для отдельных транзакций, выполняющихся в системе, можно задавать разные уровни изоляции. </a:t>
            </a:r>
          </a:p>
          <a:p>
            <a:pPr algn="l"/>
            <a:r>
              <a:rPr lang="ru-RU" dirty="0"/>
              <a:t>Анализ смешанных уровней изоляции можно найти в [36].</a:t>
            </a:r>
            <a:endParaRPr lang="ru-RU" dirty="0">
              <a:latin typeface="Arial" panose="020B0604020202020204" pitchFamily="34" charset="0"/>
              <a:cs typeface="Arial" panose="020B0604020202020204" pitchFamily="34" charset="0"/>
            </a:endParaRPr>
          </a:p>
        </p:txBody>
      </p:sp>
      <p:sp>
        <p:nvSpPr>
          <p:cNvPr id="4" name="Нижний колонтитул 3">
            <a:extLst>
              <a:ext uri="{FF2B5EF4-FFF2-40B4-BE49-F238E27FC236}">
                <a16:creationId xmlns:a16="http://schemas.microsoft.com/office/drawing/2014/main" id="{7EA58F52-5D73-D1D0-E68E-F6226011D1C2}"/>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085B845D-D86B-84E5-F670-89AD882F9699}"/>
              </a:ext>
            </a:extLst>
          </p:cNvPr>
          <p:cNvSpPr>
            <a:spLocks noGrp="1"/>
          </p:cNvSpPr>
          <p:nvPr>
            <p:ph type="sldNum" sz="quarter" idx="12"/>
          </p:nvPr>
        </p:nvSpPr>
        <p:spPr/>
        <p:txBody>
          <a:bodyPr/>
          <a:lstStyle/>
          <a:p>
            <a:fld id="{667D74AF-8CFA-41E7-84BA-34814A01EACF}" type="slidenum">
              <a:rPr lang="ru-RU" smtClean="0"/>
              <a:t>77</a:t>
            </a:fld>
            <a:endParaRPr lang="ru-RU"/>
          </a:p>
        </p:txBody>
      </p:sp>
    </p:spTree>
    <p:extLst>
      <p:ext uri="{BB962C8B-B14F-4D97-AF65-F5344CB8AC3E}">
        <p14:creationId xmlns:p14="http://schemas.microsoft.com/office/powerpoint/2010/main" val="210157335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p:txBody>
          <a:bodyPr>
            <a:normAutofit fontScale="90000"/>
          </a:bodyPr>
          <a:lstStyle/>
          <a:p>
            <a:r>
              <a:rPr lang="ru-RU" dirty="0"/>
              <a:t>Ослабленные критерии корректности: уровни изоляции в SQL</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609599" y="1417638"/>
            <a:ext cx="11430001" cy="5440361"/>
          </a:xfrm>
        </p:spPr>
        <p:txBody>
          <a:bodyPr>
            <a:normAutofit/>
          </a:bodyPr>
          <a:lstStyle/>
          <a:p>
            <a:pPr algn="l"/>
            <a:r>
              <a:rPr lang="ru-RU" dirty="0"/>
              <a:t>Наименее ограничительный уровень </a:t>
            </a:r>
            <a:r>
              <a:rPr lang="ru-RU" dirty="0" err="1"/>
              <a:t>Read</a:t>
            </a:r>
            <a:r>
              <a:rPr lang="ru-RU" dirty="0"/>
              <a:t> </a:t>
            </a:r>
            <a:r>
              <a:rPr lang="ru-RU" dirty="0" err="1"/>
              <a:t>Uncommitted</a:t>
            </a:r>
            <a:r>
              <a:rPr lang="ru-RU" dirty="0"/>
              <a:t> вводился, для того чтобы обеспечить наиболее высокую производительность. </a:t>
            </a:r>
          </a:p>
          <a:p>
            <a:pPr algn="l"/>
            <a:r>
              <a:rPr lang="ru-RU" dirty="0"/>
              <a:t>Поскольку в системе </a:t>
            </a:r>
            <a:r>
              <a:rPr lang="ru-RU" dirty="0" err="1"/>
              <a:t>PostgreSQL</a:t>
            </a:r>
            <a:r>
              <a:rPr lang="ru-RU" dirty="0"/>
              <a:t> используется </a:t>
            </a:r>
            <a:r>
              <a:rPr lang="ru-RU" dirty="0" err="1"/>
              <a:t>многоверсионный</a:t>
            </a:r>
            <a:r>
              <a:rPr lang="ru-RU" dirty="0"/>
              <a:t> протокол управления транзакциями, доступ к незафиксированным версиям не дает никаких преимуществ по производительности. </a:t>
            </a:r>
          </a:p>
          <a:p>
            <a:pPr algn="l"/>
            <a:r>
              <a:rPr lang="ru-RU" dirty="0"/>
              <a:t>Поэтому в </a:t>
            </a:r>
            <a:r>
              <a:rPr lang="ru-RU" dirty="0" err="1"/>
              <a:t>PostgreSQL</a:t>
            </a:r>
            <a:r>
              <a:rPr lang="ru-RU" dirty="0"/>
              <a:t> этот уровень реализуется точно так же, как </a:t>
            </a:r>
            <a:r>
              <a:rPr lang="ru-RU" dirty="0" err="1"/>
              <a:t>Read</a:t>
            </a:r>
            <a:r>
              <a:rPr lang="ru-RU" dirty="0"/>
              <a:t> </a:t>
            </a:r>
            <a:r>
              <a:rPr lang="ru-RU" dirty="0" err="1"/>
              <a:t>Committed</a:t>
            </a:r>
            <a:r>
              <a:rPr lang="ru-RU" dirty="0"/>
              <a:t>, хотя указание </a:t>
            </a:r>
            <a:r>
              <a:rPr lang="ru-RU" dirty="0" err="1"/>
              <a:t>Read</a:t>
            </a:r>
            <a:r>
              <a:rPr lang="ru-RU" dirty="0"/>
              <a:t> </a:t>
            </a:r>
            <a:r>
              <a:rPr lang="ru-RU" dirty="0" err="1"/>
              <a:t>Uncommitted</a:t>
            </a:r>
            <a:r>
              <a:rPr lang="ru-RU" dirty="0"/>
              <a:t> допускается синтаксисом SQL. </a:t>
            </a:r>
          </a:p>
          <a:p>
            <a:pPr algn="l"/>
            <a:r>
              <a:rPr lang="ru-RU" dirty="0"/>
              <a:t>Подобные решения приняты разработчиками и других СУБД.</a:t>
            </a:r>
            <a:endParaRPr lang="ru-RU" dirty="0">
              <a:latin typeface="Arial" panose="020B0604020202020204" pitchFamily="34" charset="0"/>
              <a:cs typeface="Arial" panose="020B0604020202020204" pitchFamily="34" charset="0"/>
            </a:endParaRPr>
          </a:p>
        </p:txBody>
      </p:sp>
      <p:sp>
        <p:nvSpPr>
          <p:cNvPr id="4" name="Нижний колонтитул 3">
            <a:extLst>
              <a:ext uri="{FF2B5EF4-FFF2-40B4-BE49-F238E27FC236}">
                <a16:creationId xmlns:a16="http://schemas.microsoft.com/office/drawing/2014/main" id="{7EA58F52-5D73-D1D0-E68E-F6226011D1C2}"/>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085B845D-D86B-84E5-F670-89AD882F9699}"/>
              </a:ext>
            </a:extLst>
          </p:cNvPr>
          <p:cNvSpPr>
            <a:spLocks noGrp="1"/>
          </p:cNvSpPr>
          <p:nvPr>
            <p:ph type="sldNum" sz="quarter" idx="12"/>
          </p:nvPr>
        </p:nvSpPr>
        <p:spPr/>
        <p:txBody>
          <a:bodyPr/>
          <a:lstStyle/>
          <a:p>
            <a:fld id="{667D74AF-8CFA-41E7-84BA-34814A01EACF}" type="slidenum">
              <a:rPr lang="ru-RU" smtClean="0"/>
              <a:t>78</a:t>
            </a:fld>
            <a:endParaRPr lang="ru-RU"/>
          </a:p>
        </p:txBody>
      </p:sp>
    </p:spTree>
    <p:extLst>
      <p:ext uri="{BB962C8B-B14F-4D97-AF65-F5344CB8AC3E}">
        <p14:creationId xmlns:p14="http://schemas.microsoft.com/office/powerpoint/2010/main" val="132593849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p:txBody>
          <a:bodyPr>
            <a:normAutofit fontScale="90000"/>
          </a:bodyPr>
          <a:lstStyle/>
          <a:p>
            <a:r>
              <a:rPr lang="ru-RU" dirty="0"/>
              <a:t>Ослабленные критерии корректности: уровни изоляции в SQL</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609599" y="1417638"/>
            <a:ext cx="11430001" cy="5440361"/>
          </a:xfrm>
        </p:spPr>
        <p:txBody>
          <a:bodyPr>
            <a:normAutofit/>
          </a:bodyPr>
          <a:lstStyle/>
          <a:p>
            <a:pPr algn="l"/>
            <a:r>
              <a:rPr lang="ru-RU" dirty="0"/>
              <a:t>Уровень изоляции </a:t>
            </a:r>
            <a:r>
              <a:rPr lang="ru-RU" dirty="0" err="1"/>
              <a:t>Read</a:t>
            </a:r>
            <a:r>
              <a:rPr lang="ru-RU" dirty="0"/>
              <a:t> </a:t>
            </a:r>
            <a:r>
              <a:rPr lang="ru-RU" dirty="0" err="1"/>
              <a:t>Committed</a:t>
            </a:r>
            <a:r>
              <a:rPr lang="ru-RU" dirty="0"/>
              <a:t> принято рассматривать как разумный компромисс между требованиями согласованности и производительности. </a:t>
            </a:r>
          </a:p>
          <a:p>
            <a:pPr algn="l"/>
            <a:r>
              <a:rPr lang="ru-RU" dirty="0"/>
              <a:t>Этот уровень обычно устанавливается в </a:t>
            </a:r>
            <a:r>
              <a:rPr lang="ru-RU" dirty="0" err="1"/>
              <a:t>PostgreSQL</a:t>
            </a:r>
            <a:r>
              <a:rPr lang="ru-RU" dirty="0"/>
              <a:t> по умолчанию. Уровень </a:t>
            </a:r>
            <a:r>
              <a:rPr lang="ru-RU" dirty="0" err="1"/>
              <a:t>Repeatable</a:t>
            </a:r>
            <a:r>
              <a:rPr lang="ru-RU" dirty="0"/>
              <a:t> </a:t>
            </a:r>
            <a:r>
              <a:rPr lang="ru-RU" dirty="0" err="1"/>
              <a:t>Read</a:t>
            </a:r>
            <a:r>
              <a:rPr lang="ru-RU" dirty="0"/>
              <a:t> гарантирует идентичность результатов повторного чтения данных. </a:t>
            </a:r>
          </a:p>
          <a:p>
            <a:pPr algn="l"/>
            <a:r>
              <a:rPr lang="ru-RU" dirty="0"/>
              <a:t>Наконец, уровень </a:t>
            </a:r>
            <a:r>
              <a:rPr lang="ru-RU" dirty="0" err="1"/>
              <a:t>Serializable</a:t>
            </a:r>
            <a:r>
              <a:rPr lang="ru-RU" dirty="0"/>
              <a:t> требует </a:t>
            </a:r>
            <a:r>
              <a:rPr lang="ru-RU" dirty="0" err="1"/>
              <a:t>сериализуемость</a:t>
            </a:r>
            <a:r>
              <a:rPr lang="ru-RU" dirty="0"/>
              <a:t> по конфликтам.</a:t>
            </a:r>
            <a:endParaRPr lang="ru-RU" dirty="0">
              <a:latin typeface="Arial" panose="020B0604020202020204" pitchFamily="34" charset="0"/>
              <a:cs typeface="Arial" panose="020B0604020202020204" pitchFamily="34" charset="0"/>
            </a:endParaRPr>
          </a:p>
        </p:txBody>
      </p:sp>
      <p:sp>
        <p:nvSpPr>
          <p:cNvPr id="4" name="Нижний колонтитул 3">
            <a:extLst>
              <a:ext uri="{FF2B5EF4-FFF2-40B4-BE49-F238E27FC236}">
                <a16:creationId xmlns:a16="http://schemas.microsoft.com/office/drawing/2014/main" id="{7EA58F52-5D73-D1D0-E68E-F6226011D1C2}"/>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085B845D-D86B-84E5-F670-89AD882F9699}"/>
              </a:ext>
            </a:extLst>
          </p:cNvPr>
          <p:cNvSpPr>
            <a:spLocks noGrp="1"/>
          </p:cNvSpPr>
          <p:nvPr>
            <p:ph type="sldNum" sz="quarter" idx="12"/>
          </p:nvPr>
        </p:nvSpPr>
        <p:spPr/>
        <p:txBody>
          <a:bodyPr/>
          <a:lstStyle/>
          <a:p>
            <a:fld id="{667D74AF-8CFA-41E7-84BA-34814A01EACF}" type="slidenum">
              <a:rPr lang="ru-RU" smtClean="0"/>
              <a:t>79</a:t>
            </a:fld>
            <a:endParaRPr lang="ru-RU"/>
          </a:p>
        </p:txBody>
      </p:sp>
    </p:spTree>
    <p:extLst>
      <p:ext uri="{BB962C8B-B14F-4D97-AF65-F5344CB8AC3E}">
        <p14:creationId xmlns:p14="http://schemas.microsoft.com/office/powerpoint/2010/main" val="15748076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52400" y="274638"/>
            <a:ext cx="12039600" cy="1143000"/>
          </a:xfrm>
        </p:spPr>
        <p:txBody>
          <a:bodyPr>
            <a:normAutofit/>
          </a:bodyPr>
          <a:lstStyle/>
          <a:p>
            <a:r>
              <a:rPr lang="ru-RU" sz="3600" dirty="0"/>
              <a:t>Особенности реализации уровней изоляции  в </a:t>
            </a:r>
            <a:r>
              <a:rPr lang="ru-RU" sz="3600" dirty="0" err="1"/>
              <a:t>PostgreSQL</a:t>
            </a:r>
            <a:r>
              <a:rPr lang="ru-RU" sz="3600" dirty="0"/>
              <a:t> </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609599" y="1417638"/>
            <a:ext cx="11430001" cy="5440361"/>
          </a:xfrm>
        </p:spPr>
        <p:txBody>
          <a:bodyPr>
            <a:normAutofit fontScale="92500"/>
          </a:bodyPr>
          <a:lstStyle/>
          <a:p>
            <a:pPr algn="l"/>
            <a:r>
              <a:rPr lang="ru-RU" dirty="0"/>
              <a:t>Указание уровня изоляции возможно в </a:t>
            </a:r>
            <a:r>
              <a:rPr lang="ru-RU" dirty="0" err="1"/>
              <a:t>PostgreSQL</a:t>
            </a:r>
            <a:r>
              <a:rPr lang="ru-RU" dirty="0"/>
              <a:t> с помощью установки параметра конфигурации </a:t>
            </a:r>
            <a:r>
              <a:rPr lang="ru-RU" dirty="0" err="1"/>
              <a:t>default_transaction_isolation</a:t>
            </a:r>
            <a:r>
              <a:rPr lang="ru-RU" dirty="0"/>
              <a:t> </a:t>
            </a:r>
          </a:p>
          <a:p>
            <a:pPr lvl="1"/>
            <a:r>
              <a:rPr lang="ru-RU" dirty="0"/>
              <a:t>для всего кластера баз данных</a:t>
            </a:r>
          </a:p>
          <a:p>
            <a:pPr lvl="1"/>
            <a:r>
              <a:rPr lang="ru-RU" dirty="0"/>
              <a:t>или для отдельных баз данных (с помощью команды ALTER DATABASE). </a:t>
            </a:r>
          </a:p>
          <a:p>
            <a:pPr algn="l"/>
            <a:r>
              <a:rPr lang="ru-RU" dirty="0"/>
              <a:t>Также уровень изоляции можно установить для сеанса (соединения с базой данных) командой SET SESSION CHARACTERISTICS или для отдельной транзакции командой SET TRANSACTION.</a:t>
            </a:r>
          </a:p>
          <a:p>
            <a:pPr algn="l"/>
            <a:r>
              <a:rPr lang="ru-RU" dirty="0"/>
              <a:t>Следовательно, протокол управления транзакциями должен обеспечивать одновременное соблюдение требований изоляции разного уровня для разных транзакций, выполняемых в системе. </a:t>
            </a:r>
          </a:p>
          <a:p>
            <a:pPr algn="l"/>
            <a:r>
              <a:rPr lang="ru-RU" dirty="0"/>
              <a:t>В системе </a:t>
            </a:r>
            <a:r>
              <a:rPr lang="ru-RU" dirty="0" err="1"/>
              <a:t>PostgreSQL</a:t>
            </a:r>
            <a:r>
              <a:rPr lang="ru-RU" dirty="0"/>
              <a:t> для реализации всех уровней изоляции применяются блокировки на запись и </a:t>
            </a:r>
            <a:r>
              <a:rPr lang="ru-RU" dirty="0" err="1"/>
              <a:t>многоверсионность</a:t>
            </a:r>
            <a:r>
              <a:rPr lang="ru-RU" dirty="0"/>
              <a:t>.</a:t>
            </a:r>
            <a:endParaRPr lang="ru-RU" dirty="0">
              <a:latin typeface="Arial" panose="020B0604020202020204" pitchFamily="34" charset="0"/>
              <a:cs typeface="Arial" panose="020B0604020202020204" pitchFamily="34" charset="0"/>
            </a:endParaRPr>
          </a:p>
        </p:txBody>
      </p:sp>
      <p:sp>
        <p:nvSpPr>
          <p:cNvPr id="4" name="Нижний колонтитул 3">
            <a:extLst>
              <a:ext uri="{FF2B5EF4-FFF2-40B4-BE49-F238E27FC236}">
                <a16:creationId xmlns:a16="http://schemas.microsoft.com/office/drawing/2014/main" id="{7EA58F52-5D73-D1D0-E68E-F6226011D1C2}"/>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085B845D-D86B-84E5-F670-89AD882F9699}"/>
              </a:ext>
            </a:extLst>
          </p:cNvPr>
          <p:cNvSpPr>
            <a:spLocks noGrp="1"/>
          </p:cNvSpPr>
          <p:nvPr>
            <p:ph type="sldNum" sz="quarter" idx="12"/>
          </p:nvPr>
        </p:nvSpPr>
        <p:spPr/>
        <p:txBody>
          <a:bodyPr/>
          <a:lstStyle/>
          <a:p>
            <a:fld id="{667D74AF-8CFA-41E7-84BA-34814A01EACF}" type="slidenum">
              <a:rPr lang="ru-RU" smtClean="0"/>
              <a:t>80</a:t>
            </a:fld>
            <a:endParaRPr lang="ru-RU"/>
          </a:p>
        </p:txBody>
      </p:sp>
    </p:spTree>
    <p:extLst>
      <p:ext uri="{BB962C8B-B14F-4D97-AF65-F5344CB8AC3E}">
        <p14:creationId xmlns:p14="http://schemas.microsoft.com/office/powerpoint/2010/main" val="127077903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52400" y="274638"/>
            <a:ext cx="12039600" cy="1143000"/>
          </a:xfrm>
        </p:spPr>
        <p:txBody>
          <a:bodyPr>
            <a:normAutofit/>
          </a:bodyPr>
          <a:lstStyle/>
          <a:p>
            <a:r>
              <a:rPr lang="ru-RU" sz="3600" dirty="0"/>
              <a:t>Особенности реализации уровней изоляции  в </a:t>
            </a:r>
            <a:r>
              <a:rPr lang="ru-RU" sz="3600" dirty="0" err="1"/>
              <a:t>PostgreSQL</a:t>
            </a:r>
            <a:r>
              <a:rPr lang="ru-RU" sz="3600" dirty="0"/>
              <a:t> </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609599" y="1417638"/>
            <a:ext cx="11430001" cy="5440361"/>
          </a:xfrm>
        </p:spPr>
        <p:txBody>
          <a:bodyPr>
            <a:normAutofit fontScale="77500" lnSpcReduction="20000"/>
          </a:bodyPr>
          <a:lstStyle/>
          <a:p>
            <a:pPr algn="l"/>
            <a:r>
              <a:rPr lang="ru-RU" dirty="0"/>
              <a:t>Для транзакций, выполняемых с уровнем изоляции </a:t>
            </a:r>
            <a:r>
              <a:rPr lang="ru-RU" dirty="0" err="1"/>
              <a:t>Read</a:t>
            </a:r>
            <a:r>
              <a:rPr lang="ru-RU" dirty="0"/>
              <a:t> </a:t>
            </a:r>
            <a:r>
              <a:rPr lang="ru-RU" dirty="0" err="1"/>
              <a:t>Committed</a:t>
            </a:r>
            <a:r>
              <a:rPr lang="ru-RU" dirty="0"/>
              <a:t>, для операций чтения используются значения, зафиксированные другими транзакциями не позже, чем начало операции чтения. </a:t>
            </a:r>
          </a:p>
          <a:p>
            <a:pPr algn="l"/>
            <a:r>
              <a:rPr lang="ru-RU" dirty="0"/>
              <a:t>Для операций записи устанавливаются блокировки, которые снимаются при завершении транзакций. При невозможности установить блокировку транзакция переводится в состояние ожидания. </a:t>
            </a:r>
          </a:p>
          <a:p>
            <a:pPr algn="l"/>
            <a:r>
              <a:rPr lang="ru-RU" dirty="0"/>
              <a:t>Для транзакций, выполняемых в режиме </a:t>
            </a:r>
            <a:r>
              <a:rPr lang="ru-RU" dirty="0" err="1"/>
              <a:t>Repeatable</a:t>
            </a:r>
            <a:r>
              <a:rPr lang="ru-RU" dirty="0"/>
              <a:t> </a:t>
            </a:r>
            <a:r>
              <a:rPr lang="ru-RU" dirty="0" err="1"/>
              <a:t>Read</a:t>
            </a:r>
            <a:r>
              <a:rPr lang="ru-RU" dirty="0"/>
              <a:t>, операции чтения возвращают значения, записанные до начала этой транзакции, и, кроме этого, проверяются условия протокола SI: если интервалы времени выполнения транзакций пересекаются и они обновляют одни и те же данные, то только одна из них может быть зафиксирована. </a:t>
            </a:r>
          </a:p>
          <a:p>
            <a:pPr algn="l"/>
            <a:r>
              <a:rPr lang="ru-RU" dirty="0"/>
              <a:t>Выполнение этого правила обеспечивается применением блокировок на запись. Так же как и для </a:t>
            </a:r>
            <a:r>
              <a:rPr lang="ru-RU" dirty="0" err="1"/>
              <a:t>Read</a:t>
            </a:r>
            <a:r>
              <a:rPr lang="ru-RU" dirty="0"/>
              <a:t> </a:t>
            </a:r>
            <a:r>
              <a:rPr lang="ru-RU" dirty="0" err="1"/>
              <a:t>Committed</a:t>
            </a:r>
            <a:r>
              <a:rPr lang="ru-RU" dirty="0"/>
              <a:t>, успешно установленные блокировки удерживаются до завершения транзакции. </a:t>
            </a:r>
          </a:p>
          <a:p>
            <a:pPr algn="l"/>
            <a:r>
              <a:rPr lang="ru-RU" dirty="0"/>
              <a:t>Если установка блокировки невозможна, то операция откладывается до завершения транзакции, препятствующей установке блокировки. </a:t>
            </a:r>
          </a:p>
          <a:p>
            <a:pPr algn="l"/>
            <a:r>
              <a:rPr lang="ru-RU" dirty="0"/>
              <a:t>Если препятствующая транзакция фиксируется, то ожидающая транзакция обрывается.</a:t>
            </a:r>
            <a:endParaRPr lang="ru-RU" dirty="0">
              <a:latin typeface="Arial" panose="020B0604020202020204" pitchFamily="34" charset="0"/>
              <a:cs typeface="Arial" panose="020B0604020202020204" pitchFamily="34" charset="0"/>
            </a:endParaRPr>
          </a:p>
        </p:txBody>
      </p:sp>
      <p:sp>
        <p:nvSpPr>
          <p:cNvPr id="4" name="Нижний колонтитул 3">
            <a:extLst>
              <a:ext uri="{FF2B5EF4-FFF2-40B4-BE49-F238E27FC236}">
                <a16:creationId xmlns:a16="http://schemas.microsoft.com/office/drawing/2014/main" id="{7EA58F52-5D73-D1D0-E68E-F6226011D1C2}"/>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085B845D-D86B-84E5-F670-89AD882F9699}"/>
              </a:ext>
            </a:extLst>
          </p:cNvPr>
          <p:cNvSpPr>
            <a:spLocks noGrp="1"/>
          </p:cNvSpPr>
          <p:nvPr>
            <p:ph type="sldNum" sz="quarter" idx="12"/>
          </p:nvPr>
        </p:nvSpPr>
        <p:spPr/>
        <p:txBody>
          <a:bodyPr/>
          <a:lstStyle/>
          <a:p>
            <a:fld id="{667D74AF-8CFA-41E7-84BA-34814A01EACF}" type="slidenum">
              <a:rPr lang="ru-RU" smtClean="0"/>
              <a:t>81</a:t>
            </a:fld>
            <a:endParaRPr lang="ru-RU"/>
          </a:p>
        </p:txBody>
      </p:sp>
    </p:spTree>
    <p:extLst>
      <p:ext uri="{BB962C8B-B14F-4D97-AF65-F5344CB8AC3E}">
        <p14:creationId xmlns:p14="http://schemas.microsoft.com/office/powerpoint/2010/main" val="13505323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52400" y="274638"/>
            <a:ext cx="12039600" cy="1143000"/>
          </a:xfrm>
        </p:spPr>
        <p:txBody>
          <a:bodyPr>
            <a:normAutofit/>
          </a:bodyPr>
          <a:lstStyle/>
          <a:p>
            <a:r>
              <a:rPr lang="ru-RU" sz="3600" dirty="0"/>
              <a:t>Особенности реализации уровней изоляции  в </a:t>
            </a:r>
            <a:r>
              <a:rPr lang="ru-RU" sz="3600" dirty="0" err="1"/>
              <a:t>PostgreSQL</a:t>
            </a:r>
            <a:r>
              <a:rPr lang="ru-RU" sz="3600" dirty="0"/>
              <a:t> </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609599" y="1417638"/>
            <a:ext cx="11430001" cy="5440361"/>
          </a:xfrm>
        </p:spPr>
        <p:txBody>
          <a:bodyPr>
            <a:normAutofit/>
          </a:bodyPr>
          <a:lstStyle/>
          <a:p>
            <a:pPr algn="l"/>
            <a:r>
              <a:rPr lang="ru-RU" dirty="0"/>
              <a:t>Наконец, если транзакция выполняется с уровнем изоляции </a:t>
            </a:r>
            <a:r>
              <a:rPr lang="ru-RU" dirty="0" err="1"/>
              <a:t>Serializable</a:t>
            </a:r>
            <a:r>
              <a:rPr lang="ru-RU" dirty="0"/>
              <a:t>, то в дополнение к тому, что делается для уровня </a:t>
            </a:r>
            <a:r>
              <a:rPr lang="ru-RU" dirty="0" err="1"/>
              <a:t>Repeatable</a:t>
            </a:r>
            <a:r>
              <a:rPr lang="ru-RU" dirty="0"/>
              <a:t> </a:t>
            </a:r>
            <a:r>
              <a:rPr lang="ru-RU" dirty="0" err="1"/>
              <a:t>Read</a:t>
            </a:r>
            <a:r>
              <a:rPr lang="ru-RU" dirty="0"/>
              <a:t>, выполняется проверка зависимостей WR и RW. </a:t>
            </a:r>
          </a:p>
          <a:p>
            <a:pPr algn="l"/>
            <a:r>
              <a:rPr lang="ru-RU" dirty="0"/>
              <a:t>В случае если расписание получено протоколом SI, граф </a:t>
            </a:r>
            <a:r>
              <a:rPr lang="ru-RU" dirty="0" err="1"/>
              <a:t>сериализуемости</a:t>
            </a:r>
            <a:r>
              <a:rPr lang="ru-RU" dirty="0"/>
              <a:t> может содержать только такие контуры, в которые входят пары или тройки транзакций, связанных зависимостями специального вида. </a:t>
            </a:r>
          </a:p>
          <a:p>
            <a:pPr algn="l"/>
            <a:r>
              <a:rPr lang="ru-RU" dirty="0"/>
              <a:t>Отсутствие в графе </a:t>
            </a:r>
            <a:r>
              <a:rPr lang="ru-RU" dirty="0" err="1"/>
              <a:t>сериализуемости</a:t>
            </a:r>
            <a:r>
              <a:rPr lang="ru-RU" dirty="0"/>
              <a:t> этих конфигураций, следовательно, является достаточным условием </a:t>
            </a:r>
            <a:r>
              <a:rPr lang="ru-RU" dirty="0" err="1"/>
              <a:t>сериализуемости</a:t>
            </a:r>
            <a:r>
              <a:rPr lang="ru-RU" dirty="0"/>
              <a:t>. </a:t>
            </a:r>
          </a:p>
          <a:p>
            <a:pPr algn="l"/>
            <a:r>
              <a:rPr lang="ru-RU" dirty="0"/>
              <a:t>Поиск таких конфигураций выполняется значительно эффективнее, чем поиск контуров.</a:t>
            </a:r>
            <a:endParaRPr lang="ru-RU" dirty="0">
              <a:latin typeface="Arial" panose="020B0604020202020204" pitchFamily="34" charset="0"/>
              <a:cs typeface="Arial" panose="020B0604020202020204" pitchFamily="34" charset="0"/>
            </a:endParaRPr>
          </a:p>
        </p:txBody>
      </p:sp>
      <p:sp>
        <p:nvSpPr>
          <p:cNvPr id="4" name="Нижний колонтитул 3">
            <a:extLst>
              <a:ext uri="{FF2B5EF4-FFF2-40B4-BE49-F238E27FC236}">
                <a16:creationId xmlns:a16="http://schemas.microsoft.com/office/drawing/2014/main" id="{7EA58F52-5D73-D1D0-E68E-F6226011D1C2}"/>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085B845D-D86B-84E5-F670-89AD882F9699}"/>
              </a:ext>
            </a:extLst>
          </p:cNvPr>
          <p:cNvSpPr>
            <a:spLocks noGrp="1"/>
          </p:cNvSpPr>
          <p:nvPr>
            <p:ph type="sldNum" sz="quarter" idx="12"/>
          </p:nvPr>
        </p:nvSpPr>
        <p:spPr/>
        <p:txBody>
          <a:bodyPr/>
          <a:lstStyle/>
          <a:p>
            <a:fld id="{667D74AF-8CFA-41E7-84BA-34814A01EACF}" type="slidenum">
              <a:rPr lang="ru-RU" smtClean="0"/>
              <a:t>82</a:t>
            </a:fld>
            <a:endParaRPr lang="ru-RU"/>
          </a:p>
        </p:txBody>
      </p:sp>
    </p:spTree>
    <p:extLst>
      <p:ext uri="{BB962C8B-B14F-4D97-AF65-F5344CB8AC3E}">
        <p14:creationId xmlns:p14="http://schemas.microsoft.com/office/powerpoint/2010/main" val="208822838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4F07B-D6F3-BD3E-4654-9E9A483AB502}"/>
              </a:ext>
            </a:extLst>
          </p:cNvPr>
          <p:cNvSpPr>
            <a:spLocks noGrp="1"/>
          </p:cNvSpPr>
          <p:nvPr>
            <p:ph type="title"/>
          </p:nvPr>
        </p:nvSpPr>
        <p:spPr>
          <a:xfrm>
            <a:off x="152400" y="274638"/>
            <a:ext cx="12039600" cy="1143000"/>
          </a:xfrm>
        </p:spPr>
        <p:txBody>
          <a:bodyPr>
            <a:normAutofit/>
          </a:bodyPr>
          <a:lstStyle/>
          <a:p>
            <a:r>
              <a:rPr lang="ru-RU" sz="3600" dirty="0"/>
              <a:t>Особенности реализации уровней изоляции  в </a:t>
            </a:r>
            <a:r>
              <a:rPr lang="ru-RU" sz="3600" dirty="0" err="1"/>
              <a:t>PostgreSQL</a:t>
            </a:r>
            <a:r>
              <a:rPr lang="ru-RU" sz="3600" dirty="0"/>
              <a:t> </a:t>
            </a:r>
          </a:p>
        </p:txBody>
      </p:sp>
      <p:sp>
        <p:nvSpPr>
          <p:cNvPr id="3" name="Объект 2">
            <a:extLst>
              <a:ext uri="{FF2B5EF4-FFF2-40B4-BE49-F238E27FC236}">
                <a16:creationId xmlns:a16="http://schemas.microsoft.com/office/drawing/2014/main" id="{62EBD082-E94D-7278-FDEE-E983C79C409E}"/>
              </a:ext>
            </a:extLst>
          </p:cNvPr>
          <p:cNvSpPr>
            <a:spLocks noGrp="1"/>
          </p:cNvSpPr>
          <p:nvPr>
            <p:ph idx="1"/>
          </p:nvPr>
        </p:nvSpPr>
        <p:spPr>
          <a:xfrm>
            <a:off x="609599" y="1417638"/>
            <a:ext cx="11430001" cy="5440361"/>
          </a:xfrm>
        </p:spPr>
        <p:txBody>
          <a:bodyPr>
            <a:normAutofit/>
          </a:bodyPr>
          <a:lstStyle/>
          <a:p>
            <a:pPr algn="l"/>
            <a:r>
              <a:rPr lang="ru-RU" dirty="0"/>
              <a:t>Однако применяемый в </a:t>
            </a:r>
            <a:r>
              <a:rPr lang="ru-RU" dirty="0" err="1"/>
              <a:t>PostgreSQL</a:t>
            </a:r>
            <a:r>
              <a:rPr lang="ru-RU" dirty="0"/>
              <a:t> протокол дает шанс транзакциям в том случае, если препятствующая транзакция завершается обрывом по другим причинам. </a:t>
            </a:r>
          </a:p>
          <a:p>
            <a:pPr algn="l"/>
            <a:r>
              <a:rPr lang="ru-RU" dirty="0"/>
              <a:t>Заметим также, что протокол </a:t>
            </a:r>
            <a:r>
              <a:rPr lang="ru-RU" dirty="0" err="1"/>
              <a:t>PostgreSQL</a:t>
            </a:r>
            <a:r>
              <a:rPr lang="ru-RU" dirty="0"/>
              <a:t> несвободен от тупиков</a:t>
            </a:r>
            <a:r>
              <a:rPr lang="ru-RU"/>
              <a:t>. </a:t>
            </a:r>
          </a:p>
          <a:p>
            <a:pPr algn="l"/>
            <a:r>
              <a:rPr lang="ru-RU"/>
              <a:t>Проверка </a:t>
            </a:r>
            <a:r>
              <a:rPr lang="ru-RU" dirty="0"/>
              <a:t>на наличие тупиков повторяется через интервал времени, устанавливаемый параметром сервера </a:t>
            </a:r>
            <a:r>
              <a:rPr lang="ru-RU" dirty="0" err="1"/>
              <a:t>deadlock_timeout</a:t>
            </a:r>
            <a:r>
              <a:rPr lang="ru-RU" dirty="0"/>
              <a:t>.</a:t>
            </a:r>
            <a:endParaRPr lang="ru-RU" dirty="0">
              <a:latin typeface="Arial" panose="020B0604020202020204" pitchFamily="34" charset="0"/>
              <a:cs typeface="Arial" panose="020B0604020202020204" pitchFamily="34" charset="0"/>
            </a:endParaRPr>
          </a:p>
        </p:txBody>
      </p:sp>
      <p:sp>
        <p:nvSpPr>
          <p:cNvPr id="4" name="Нижний колонтитул 3">
            <a:extLst>
              <a:ext uri="{FF2B5EF4-FFF2-40B4-BE49-F238E27FC236}">
                <a16:creationId xmlns:a16="http://schemas.microsoft.com/office/drawing/2014/main" id="{7EA58F52-5D73-D1D0-E68E-F6226011D1C2}"/>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085B845D-D86B-84E5-F670-89AD882F9699}"/>
              </a:ext>
            </a:extLst>
          </p:cNvPr>
          <p:cNvSpPr>
            <a:spLocks noGrp="1"/>
          </p:cNvSpPr>
          <p:nvPr>
            <p:ph type="sldNum" sz="quarter" idx="12"/>
          </p:nvPr>
        </p:nvSpPr>
        <p:spPr/>
        <p:txBody>
          <a:bodyPr/>
          <a:lstStyle/>
          <a:p>
            <a:fld id="{667D74AF-8CFA-41E7-84BA-34814A01EACF}" type="slidenum">
              <a:rPr lang="ru-RU" smtClean="0"/>
              <a:t>83</a:t>
            </a:fld>
            <a:endParaRPr lang="ru-RU"/>
          </a:p>
        </p:txBody>
      </p:sp>
    </p:spTree>
    <p:extLst>
      <p:ext uri="{BB962C8B-B14F-4D97-AF65-F5344CB8AC3E}">
        <p14:creationId xmlns:p14="http://schemas.microsoft.com/office/powerpoint/2010/main" val="247877116"/>
      </p:ext>
    </p:extLst>
  </p:cSld>
  <p:clrMapOvr>
    <a:masterClrMapping/>
  </p:clrMapOvr>
</p:sld>
</file>

<file path=ppt/theme/theme1.xml><?xml version="1.0" encoding="utf-8"?>
<a:theme xmlns:a="http://schemas.openxmlformats.org/drawingml/2006/main" name="La ment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TM02474572[[fn=Медицинский шаблон оформления]]</Template>
  <TotalTime>5012</TotalTime>
  <Words>11684</Words>
  <Application>Microsoft Office PowerPoint</Application>
  <PresentationFormat>Широкоэкранный</PresentationFormat>
  <Paragraphs>789</Paragraphs>
  <Slides>83</Slides>
  <Notes>41</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83</vt:i4>
      </vt:variant>
    </vt:vector>
  </HeadingPairs>
  <TitlesOfParts>
    <vt:vector size="90" baseType="lpstr">
      <vt:lpstr>Arial</vt:lpstr>
      <vt:lpstr>Calibri</vt:lpstr>
      <vt:lpstr>Courier New</vt:lpstr>
      <vt:lpstr>Linux Libertine</vt:lpstr>
      <vt:lpstr>Times New Roman</vt:lpstr>
      <vt:lpstr>Wingdings</vt:lpstr>
      <vt:lpstr>La mente</vt:lpstr>
      <vt:lpstr>Управление транзакциями  </vt:lpstr>
      <vt:lpstr>Теоретические модели,  описывающие управление транзакциями</vt:lpstr>
      <vt:lpstr>Формальные модели корректности</vt:lpstr>
      <vt:lpstr>Формальные модели корректности</vt:lpstr>
      <vt:lpstr>Формальные модели корректности</vt:lpstr>
      <vt:lpstr>Презентация PowerPoint</vt:lpstr>
      <vt:lpstr>Частичное упорядочение операций в транзакциях</vt:lpstr>
      <vt:lpstr>Частичное упорядочение операций в транзакциях</vt:lpstr>
      <vt:lpstr>История конечного набора транзакций </vt:lpstr>
      <vt:lpstr>Частично и полностью упорядоченная история</vt:lpstr>
      <vt:lpstr>Частично упорядоченное расписание</vt:lpstr>
      <vt:lpstr>Корректные расписания</vt:lpstr>
      <vt:lpstr>Корректные расписания</vt:lpstr>
      <vt:lpstr>Корректные расписания</vt:lpstr>
      <vt:lpstr>Корректные расписания</vt:lpstr>
      <vt:lpstr>Корректные расписания</vt:lpstr>
      <vt:lpstr>Эквивалентные истории. Сериализуемость.</vt:lpstr>
      <vt:lpstr>Сериализуемость</vt:lpstr>
      <vt:lpstr>Конфликт. Сериализуемость по конфликтам</vt:lpstr>
      <vt:lpstr>CSR ⊂ VSR</vt:lpstr>
      <vt:lpstr>Критерий сериализуемости расписаний по конфликтам</vt:lpstr>
      <vt:lpstr>Коммутативность операций</vt:lpstr>
      <vt:lpstr>Изоляция мгновенных снимков</vt:lpstr>
      <vt:lpstr>Изоляция мгновенных снимков</vt:lpstr>
      <vt:lpstr>Изоляция мгновенных снимков</vt:lpstr>
      <vt:lpstr>Конкурентное  выполнение транзакций</vt:lpstr>
      <vt:lpstr>Изоляция мгновенных снимков</vt:lpstr>
      <vt:lpstr>Изоляция мгновенных снимков</vt:lpstr>
      <vt:lpstr>Зависимости между транзакциями</vt:lpstr>
      <vt:lpstr>Изоляция мгновенных снимков</vt:lpstr>
      <vt:lpstr>Изоляция мгновенных снимков</vt:lpstr>
      <vt:lpstr>Изоляция мгновенных снимков</vt:lpstr>
      <vt:lpstr>Изоляция мгновенных снимков</vt:lpstr>
      <vt:lpstr>Восстановимость</vt:lpstr>
      <vt:lpstr>Восстановимость</vt:lpstr>
      <vt:lpstr>Восстановимость и сериализуемость</vt:lpstr>
      <vt:lpstr>Бескаскадные(АСА) и строгие(ST) расписания</vt:lpstr>
      <vt:lpstr>Точные расписания, ST и SI</vt:lpstr>
      <vt:lpstr>Дополнительные свойства классов расписаний</vt:lpstr>
      <vt:lpstr>Заключение о расписаниях</vt:lpstr>
      <vt:lpstr>Диспетчеры и протоколы</vt:lpstr>
      <vt:lpstr>Протоколы управления транзакциями </vt:lpstr>
      <vt:lpstr>Требования и критерии оценки</vt:lpstr>
      <vt:lpstr>Пропускная способность системы</vt:lpstr>
      <vt:lpstr>Обрывы транзакций и горячие точки</vt:lpstr>
      <vt:lpstr>Консервативные и неконсервативные протоколы</vt:lpstr>
      <vt:lpstr>Блокировки</vt:lpstr>
      <vt:lpstr>Блокировки</vt:lpstr>
      <vt:lpstr>Блокировки и семафоры</vt:lpstr>
      <vt:lpstr>Корректность и производительность протоколов</vt:lpstr>
      <vt:lpstr>Монопольные и разделяемые блокировки</vt:lpstr>
      <vt:lpstr>Двухфазные протоколы, использующие блокировки</vt:lpstr>
      <vt:lpstr>Двухфазные протоколы, использующие блокировки</vt:lpstr>
      <vt:lpstr>Двухфазные протоколы сериализуемы по конфликтам</vt:lpstr>
      <vt:lpstr>Строгий двухфазный протокол</vt:lpstr>
      <vt:lpstr>Точный двухфазный протокол</vt:lpstr>
      <vt:lpstr>Заключение о 2PL протоколах</vt:lpstr>
      <vt:lpstr>Тупики</vt:lpstr>
      <vt:lpstr>Тупики</vt:lpstr>
      <vt:lpstr>Разрешение тупиков</vt:lpstr>
      <vt:lpstr>Предотвращение тупиков</vt:lpstr>
      <vt:lpstr>Другие протоколы на основе блокирования</vt:lpstr>
      <vt:lpstr>Другие протоколы на основе блокирования</vt:lpstr>
      <vt:lpstr>Другие протоколы на основе блокирования</vt:lpstr>
      <vt:lpstr>Протокол на основе меток времени</vt:lpstr>
      <vt:lpstr>Протокол на основе меток времени</vt:lpstr>
      <vt:lpstr>Протокол на основе меток времени</vt:lpstr>
      <vt:lpstr>Протокол на основе меток времени</vt:lpstr>
      <vt:lpstr>Реализации протокола SI</vt:lpstr>
      <vt:lpstr>Реализации протокола SI</vt:lpstr>
      <vt:lpstr>Реализации протокола SI</vt:lpstr>
      <vt:lpstr>Многоверсионные протоколы</vt:lpstr>
      <vt:lpstr>Многоверсионные протоколы</vt:lpstr>
      <vt:lpstr>Многоверсионные протоколы</vt:lpstr>
      <vt:lpstr>Блокировки или метки времени?</vt:lpstr>
      <vt:lpstr>Ослабленные критерии корректности: уровни изоляции в SQL</vt:lpstr>
      <vt:lpstr>Ослабленные критерии корректности: уровни изоляции в SQL</vt:lpstr>
      <vt:lpstr>Ослабленные критерии корректности: уровни изоляции в SQL</vt:lpstr>
      <vt:lpstr>Ослабленные критерии корректности: уровни изоляции в SQL</vt:lpstr>
      <vt:lpstr>Особенности реализации уровней изоляции  в PostgreSQL </vt:lpstr>
      <vt:lpstr>Особенности реализации уровней изоляции  в PostgreSQL </vt:lpstr>
      <vt:lpstr>Особенности реализации уровней изоляции  в PostgreSQL </vt:lpstr>
      <vt:lpstr>Особенности реализации уровней изоляции  в PostgreSQL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Борис Николаевич Пищик</dc:creator>
  <cp:lastModifiedBy>Борис Николаевич Пищик</cp:lastModifiedBy>
  <cp:revision>34</cp:revision>
  <dcterms:created xsi:type="dcterms:W3CDTF">2024-04-24T11:30:15Z</dcterms:created>
  <dcterms:modified xsi:type="dcterms:W3CDTF">2024-05-02T05:14:34Z</dcterms:modified>
</cp:coreProperties>
</file>