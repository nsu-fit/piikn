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8"/>
  </p:notesMasterIdLst>
  <p:sldIdLst>
    <p:sldId id="256" r:id="rId2"/>
    <p:sldId id="273" r:id="rId3"/>
    <p:sldId id="274" r:id="rId4"/>
    <p:sldId id="275" r:id="rId5"/>
    <p:sldId id="277" r:id="rId6"/>
    <p:sldId id="313" r:id="rId7"/>
    <p:sldId id="258" r:id="rId8"/>
    <p:sldId id="314" r:id="rId9"/>
    <p:sldId id="296" r:id="rId10"/>
    <p:sldId id="259" r:id="rId11"/>
    <p:sldId id="303" r:id="rId12"/>
    <p:sldId id="304" r:id="rId13"/>
    <p:sldId id="272" r:id="rId14"/>
    <p:sldId id="315" r:id="rId15"/>
    <p:sldId id="276" r:id="rId16"/>
    <p:sldId id="306" r:id="rId17"/>
    <p:sldId id="305" r:id="rId18"/>
    <p:sldId id="308" r:id="rId19"/>
    <p:sldId id="310" r:id="rId20"/>
    <p:sldId id="311" r:id="rId21"/>
    <p:sldId id="312" r:id="rId22"/>
    <p:sldId id="307" r:id="rId23"/>
    <p:sldId id="281" r:id="rId24"/>
    <p:sldId id="298" r:id="rId25"/>
    <p:sldId id="300" r:id="rId26"/>
    <p:sldId id="282" r:id="rId27"/>
    <p:sldId id="299" r:id="rId28"/>
    <p:sldId id="283" r:id="rId29"/>
    <p:sldId id="284" r:id="rId30"/>
    <p:sldId id="295" r:id="rId31"/>
    <p:sldId id="285" r:id="rId32"/>
    <p:sldId id="286" r:id="rId33"/>
    <p:sldId id="287" r:id="rId34"/>
    <p:sldId id="289" r:id="rId35"/>
    <p:sldId id="301" r:id="rId36"/>
    <p:sldId id="302" r:id="rId37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008000"/>
    <a:srgbClr val="DE4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3" autoAdjust="0"/>
    <p:restoredTop sz="83784" autoAdjust="0"/>
  </p:normalViewPr>
  <p:slideViewPr>
    <p:cSldViewPr showGuides="1">
      <p:cViewPr varScale="1">
        <p:scale>
          <a:sx n="90" d="100"/>
          <a:sy n="90" d="100"/>
        </p:scale>
        <p:origin x="193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492"/>
    </p:cViewPr>
  </p:sorterViewPr>
  <p:notesViewPr>
    <p:cSldViewPr showGuides="1">
      <p:cViewPr varScale="1">
        <p:scale>
          <a:sx n="63" d="100"/>
          <a:sy n="63" d="100"/>
        </p:scale>
        <p:origin x="-1392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C735E6D8-50E8-4660-900F-954496AF9666}" type="datetimeFigureOut">
              <a:rPr lang="ru-RU"/>
              <a:pPr>
                <a:defRPr/>
              </a:pPr>
              <a:t>18.12.2020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150F566A-A76C-4521-B664-85EED0FF637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693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16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601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50F566A-A76C-4521-B664-85EED0FF6372}" type="slidenum">
              <a:rPr lang="ru-RU" smtClean="0"/>
              <a:pPr>
                <a:defRPr/>
              </a:pPr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318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792A8D-ABD6-4348-8128-CAEFBBFD44F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29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9B869-4E60-4380-980A-5E4A47DE41E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822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EBD117-905A-4603-B843-19CB0ED92E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267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92008-49CE-4626-AF1C-26174ECE75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473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46D63-5256-4EE1-B4F9-06DC7013116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623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4F8C2-6272-4023-AFFE-6A880DE0E1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9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17FA5-39CC-403C-A84F-B8339E343D3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965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D97E1-9162-476E-B4DE-B7F9E34AB6A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54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07DF2-946D-4C29-A073-ADA2654E5F7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40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107FE-72DE-4047-BDCF-A649BF5E061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51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5DCF0-22C4-4319-BFE5-FEAB0069C7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488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C67E18-56AB-422F-B78F-B2FFC8AE8D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84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EF8BA2DF-1BDE-4573-B5EA-832CA5A97E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ru-RU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23728" y="1828800"/>
            <a:ext cx="6867872" cy="2209800"/>
          </a:xfrm>
        </p:spPr>
        <p:txBody>
          <a:bodyPr/>
          <a:lstStyle/>
          <a:p>
            <a:pPr algn="ctr" eaLnBrk="1" hangingPunct="1">
              <a:spcBef>
                <a:spcPts val="2400"/>
              </a:spcBef>
            </a:pPr>
            <a:r>
              <a:rPr lang="ru-RU" altLang="ru-RU" sz="4000" dirty="0"/>
              <a:t>Ранние модели </a:t>
            </a:r>
            <a:br>
              <a:rPr lang="ru-RU" altLang="ru-RU" sz="4000" dirty="0"/>
            </a:br>
            <a:r>
              <a:rPr lang="ru-RU" altLang="ru-RU" sz="4000" dirty="0"/>
              <a:t>баз данных</a:t>
            </a:r>
            <a:br>
              <a:rPr lang="ru-RU" altLang="ru-RU" dirty="0"/>
            </a:br>
            <a:r>
              <a:rPr lang="ru-RU" altLang="ru-RU" dirty="0"/>
              <a:t>Сетевая модель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19944" y="4540250"/>
            <a:ext cx="8130356" cy="2044700"/>
          </a:xfrm>
        </p:spPr>
        <p:txBody>
          <a:bodyPr/>
          <a:lstStyle/>
          <a:p>
            <a:r>
              <a:rPr lang="ru-RU" altLang="ru-RU" sz="2400"/>
              <a:t>К</a:t>
            </a:r>
            <a:r>
              <a:rPr lang="ru-RU" altLang="ru-RU" sz="2400" dirty="0"/>
              <a:t>. </a:t>
            </a:r>
            <a:r>
              <a:rPr lang="ru-RU" altLang="ru-RU" sz="2400" dirty="0" err="1"/>
              <a:t>Дейт</a:t>
            </a:r>
            <a:r>
              <a:rPr lang="ru-RU" altLang="ru-RU" sz="2400" dirty="0"/>
              <a:t> Введение в системы баз данных. – М.</a:t>
            </a:r>
            <a:r>
              <a:rPr lang="en-US" altLang="ru-RU" sz="2400" dirty="0"/>
              <a:t>: </a:t>
            </a:r>
            <a:r>
              <a:rPr lang="ru-RU" altLang="ru-RU" sz="2400" dirty="0"/>
              <a:t>Наука. 1980г.,  Часть 4.</a:t>
            </a:r>
            <a:endParaRPr lang="ru-RU" altLang="ru-RU" dirty="0"/>
          </a:p>
          <a:p>
            <a:r>
              <a:rPr lang="ru-RU" altLang="ru-RU" sz="2400" dirty="0"/>
              <a:t>Т.В. </a:t>
            </a:r>
            <a:r>
              <a:rPr lang="ru-RU" altLang="ru-RU" sz="2400" dirty="0" err="1"/>
              <a:t>Олле</a:t>
            </a:r>
            <a:r>
              <a:rPr lang="ru-RU" altLang="ru-RU" sz="2400" dirty="0"/>
              <a:t> Предложения КОДАСИЛ по управлению базами данных. – М.: Финансы и статистика, 1981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358775" y="142875"/>
            <a:ext cx="8785225" cy="576263"/>
          </a:xfrm>
        </p:spPr>
        <p:txBody>
          <a:bodyPr/>
          <a:lstStyle/>
          <a:p>
            <a:pPr algn="ctr"/>
            <a:r>
              <a:rPr lang="ru-RU" altLang="ru-RU" dirty="0">
                <a:solidFill>
                  <a:schemeClr val="bg2"/>
                </a:solidFill>
              </a:rPr>
              <a:t>Сетевая модель данных</a:t>
            </a:r>
          </a:p>
        </p:txBody>
      </p:sp>
      <p:sp>
        <p:nvSpPr>
          <p:cNvPr id="4099" name="Объект 2"/>
          <p:cNvSpPr>
            <a:spLocks noGrp="1"/>
          </p:cNvSpPr>
          <p:nvPr>
            <p:ph idx="1"/>
          </p:nvPr>
        </p:nvSpPr>
        <p:spPr>
          <a:xfrm>
            <a:off x="211138" y="818710"/>
            <a:ext cx="8716962" cy="585514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800" dirty="0"/>
              <a:t>Стандарт сетевой модели впервые был определен в 1975 году организацией CODASYL </a:t>
            </a:r>
            <a:br>
              <a:rPr lang="ru-RU" sz="2800" dirty="0"/>
            </a:br>
            <a:r>
              <a:rPr lang="ru-RU" sz="2800" dirty="0"/>
              <a:t>(</a:t>
            </a:r>
            <a:r>
              <a:rPr lang="ru-RU" sz="2800" dirty="0" err="1"/>
              <a:t>Conference</a:t>
            </a:r>
            <a:r>
              <a:rPr lang="ru-RU" sz="2800" dirty="0"/>
              <a:t> </a:t>
            </a:r>
            <a:r>
              <a:rPr lang="ru-RU" sz="2800" dirty="0" err="1"/>
              <a:t>of</a:t>
            </a:r>
            <a:r>
              <a:rPr lang="ru-RU" sz="2800" dirty="0"/>
              <a:t> </a:t>
            </a:r>
            <a:r>
              <a:rPr lang="ru-RU" sz="2800" dirty="0" err="1"/>
              <a:t>Data</a:t>
            </a:r>
            <a:r>
              <a:rPr lang="ru-RU" sz="2800" dirty="0"/>
              <a:t> </a:t>
            </a:r>
            <a:r>
              <a:rPr lang="ru-RU" sz="2800" dirty="0" err="1"/>
              <a:t>System</a:t>
            </a:r>
            <a:r>
              <a:rPr lang="ru-RU" sz="2800" dirty="0"/>
              <a:t> </a:t>
            </a:r>
            <a:r>
              <a:rPr lang="ru-RU" sz="2800" dirty="0" err="1"/>
              <a:t>Languages</a:t>
            </a:r>
            <a:r>
              <a:rPr lang="ru-RU" sz="2800" dirty="0"/>
              <a:t>) которая определила 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базовые понятия модели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структуру СУБД (набор языков работы с данными)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Из истории CODASYL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на основе системы </a:t>
            </a:r>
            <a:r>
              <a:rPr lang="en-US" dirty="0"/>
              <a:t>IDS </a:t>
            </a:r>
            <a:r>
              <a:rPr lang="ru-RU" dirty="0"/>
              <a:t>фирмы </a:t>
            </a:r>
            <a:r>
              <a:rPr lang="en-US" dirty="0"/>
              <a:t>General Electric </a:t>
            </a:r>
            <a:r>
              <a:rPr lang="ru-RU" dirty="0"/>
              <a:t>с 1965-1967г. ведутся работы по обработке списков. </a:t>
            </a:r>
            <a:br>
              <a:rPr lang="en-US" dirty="0"/>
            </a:br>
            <a:r>
              <a:rPr lang="ru-RU" dirty="0"/>
              <a:t>Ч. </a:t>
            </a:r>
            <a:r>
              <a:rPr lang="ru-RU" dirty="0" err="1"/>
              <a:t>Бахман</a:t>
            </a:r>
            <a:r>
              <a:rPr lang="ru-RU" dirty="0"/>
              <a:t>, Дж. </a:t>
            </a:r>
            <a:r>
              <a:rPr lang="ru-RU" dirty="0" err="1"/>
              <a:t>Додд</a:t>
            </a:r>
            <a:r>
              <a:rPr lang="ru-RU" dirty="0"/>
              <a:t>, У. </a:t>
            </a:r>
            <a:r>
              <a:rPr lang="ru-RU" dirty="0" err="1"/>
              <a:t>Симмонс</a:t>
            </a:r>
            <a:endParaRPr lang="ru-RU" dirty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С 1967 РГБД – выработка концепции языков обработки данных: 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ru-RU" dirty="0"/>
              <a:t>включающий язык, 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r>
              <a:rPr lang="ru-RU" dirty="0"/>
              <a:t>язык с развитой структурой для экономических приложений (</a:t>
            </a:r>
            <a:r>
              <a:rPr lang="en-US" dirty="0"/>
              <a:t>Cobol</a:t>
            </a:r>
            <a:r>
              <a:rPr lang="ru-RU" dirty="0"/>
              <a:t>, </a:t>
            </a:r>
            <a:r>
              <a:rPr lang="en-US" dirty="0"/>
              <a:t>PL/1)</a:t>
            </a:r>
            <a:r>
              <a:rPr lang="ru-RU" dirty="0"/>
              <a:t>. </a:t>
            </a:r>
            <a:r>
              <a:rPr lang="en-US" dirty="0"/>
              <a:t>PL/1</a:t>
            </a:r>
            <a:r>
              <a:rPr lang="ru-RU" dirty="0"/>
              <a:t> обладал более развитой структурой записи.</a:t>
            </a:r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/>
          </a:p>
          <a:p>
            <a:pPr lvl="2">
              <a:lnSpc>
                <a:spcPct val="120000"/>
              </a:lnSpc>
              <a:buFont typeface="Wingdings" pitchFamily="2" charset="2"/>
              <a:buChar char="Ø"/>
            </a:pPr>
            <a:endParaRPr lang="ru-RU" dirty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dirty="0"/>
          </a:p>
          <a:p>
            <a:pPr marL="609600" indent="-609600">
              <a:lnSpc>
                <a:spcPct val="120000"/>
              </a:lnSpc>
              <a:buFont typeface="Wingdings" pitchFamily="2" charset="2"/>
              <a:buNone/>
              <a:defRPr/>
            </a:pPr>
            <a:endParaRPr lang="ru-RU" sz="2800" dirty="0"/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6107D0A-A05A-43B6-B2A8-A5A0752DC352}" type="slidenum">
              <a:rPr lang="ru-RU" altLang="ru-RU" sz="1200" smtClean="0">
                <a:latin typeface="Arial Black" pitchFamily="34" charset="0"/>
              </a:rPr>
              <a:pPr eaLnBrk="1" hangingPunct="1"/>
              <a:t>2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Заголовок 1"/>
          <p:cNvSpPr>
            <a:spLocks noGrp="1"/>
          </p:cNvSpPr>
          <p:nvPr>
            <p:ph type="title"/>
          </p:nvPr>
        </p:nvSpPr>
        <p:spPr>
          <a:xfrm>
            <a:off x="468313" y="209550"/>
            <a:ext cx="8229600" cy="504825"/>
          </a:xfrm>
        </p:spPr>
        <p:txBody>
          <a:bodyPr/>
          <a:lstStyle/>
          <a:p>
            <a:pPr algn="ctr"/>
            <a:r>
              <a:rPr lang="ru-RU" altLang="ru-RU" sz="4000">
                <a:solidFill>
                  <a:schemeClr val="bg2"/>
                </a:solidFill>
              </a:rPr>
              <a:t>Модель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10" y="998730"/>
            <a:ext cx="8883650" cy="549061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3500" dirty="0"/>
              <a:t>Базовыми объектами модели являются</a:t>
            </a:r>
            <a:r>
              <a:rPr lang="ru-RU" sz="2800" dirty="0"/>
              <a:t>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/>
              <a:t>Элемент данных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/>
              <a:t>Агрегат данных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/>
              <a:t>Запись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/>
              <a:t>Набор</a:t>
            </a:r>
          </a:p>
          <a:p>
            <a:pPr>
              <a:lnSpc>
                <a:spcPct val="120000"/>
              </a:lnSpc>
            </a:pPr>
            <a:r>
              <a:rPr lang="ru-RU" sz="3700" b="1" dirty="0">
                <a:cs typeface="Times New Roman" pitchFamily="18" charset="0"/>
              </a:rPr>
              <a:t>Элемент данных </a:t>
            </a:r>
            <a:r>
              <a:rPr lang="ru-RU" i="1" dirty="0"/>
              <a:t>— </a:t>
            </a:r>
            <a:r>
              <a:rPr lang="ru-RU" dirty="0"/>
              <a:t>то же, что и в иерархической модели – минимальная  информационная единица, доступная пользователю СУБД.</a:t>
            </a:r>
          </a:p>
          <a:p>
            <a:pPr>
              <a:lnSpc>
                <a:spcPct val="120000"/>
              </a:lnSpc>
            </a:pPr>
            <a:r>
              <a:rPr lang="ru-RU" sz="3800" b="1" dirty="0">
                <a:cs typeface="Times New Roman" pitchFamily="18" charset="0"/>
              </a:rPr>
              <a:t>Агрегат данных </a:t>
            </a:r>
            <a:r>
              <a:rPr lang="ru-RU" dirty="0"/>
              <a:t>соответствует следующему уровню обобщения в модели. </a:t>
            </a:r>
          </a:p>
          <a:p>
            <a:pPr>
              <a:lnSpc>
                <a:spcPct val="120000"/>
              </a:lnSpc>
            </a:pPr>
            <a:r>
              <a:rPr lang="ru-RU" dirty="0"/>
              <a:t>В модели определены </a:t>
            </a:r>
            <a:r>
              <a:rPr lang="ru-RU" b="1" dirty="0"/>
              <a:t>агрегаты двух типов</a:t>
            </a:r>
            <a:r>
              <a:rPr lang="ru-RU" dirty="0"/>
              <a:t>: </a:t>
            </a:r>
            <a:endParaRPr lang="en-US" dirty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>
                <a:cs typeface="Times New Roman" pitchFamily="18" charset="0"/>
              </a:rPr>
              <a:t>вектор</a:t>
            </a:r>
            <a:r>
              <a:rPr lang="en-US" sz="2900" dirty="0"/>
              <a:t>,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900" dirty="0">
                <a:cs typeface="Times New Roman" pitchFamily="18" charset="0"/>
              </a:rPr>
              <a:t>повторяющаяся группа</a:t>
            </a:r>
            <a:r>
              <a:rPr lang="ru-RU" dirty="0"/>
              <a:t>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endParaRPr lang="ru-RU" sz="2400" dirty="0"/>
          </a:p>
        </p:txBody>
      </p:sp>
      <p:sp>
        <p:nvSpPr>
          <p:cNvPr id="5124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71150D0-99B4-40F5-9BB2-A706B452630E}" type="slidenum">
              <a:rPr lang="ru-RU" altLang="ru-RU" sz="1200" smtClean="0">
                <a:latin typeface="Arial Black" pitchFamily="34" charset="0"/>
              </a:rPr>
              <a:pPr eaLnBrk="1" hangingPunct="1"/>
              <a:t>3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457200" y="-38100"/>
            <a:ext cx="8229600" cy="595313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Агрегат данных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2875" y="539750"/>
            <a:ext cx="8829675" cy="6184900"/>
          </a:xfrm>
          <a:solidFill>
            <a:schemeClr val="bg1"/>
          </a:solidFill>
          <a:ln w="3175"/>
        </p:spPr>
        <p:txBody>
          <a:bodyPr>
            <a:normAutofit fontScale="62500" lnSpcReduction="2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Агрегат данных имеет </a:t>
            </a:r>
            <a:r>
              <a:rPr lang="ru-RU" b="1" dirty="0"/>
              <a:t>имя</a:t>
            </a:r>
            <a:r>
              <a:rPr lang="ru-RU" dirty="0"/>
              <a:t>, и в системе допустимо обращение к агрегату по имени.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Агрегат </a:t>
            </a:r>
            <a:r>
              <a:rPr lang="ru-RU" b="1" dirty="0"/>
              <a:t>типа вектор </a:t>
            </a:r>
            <a:r>
              <a:rPr lang="ru-RU" dirty="0"/>
              <a:t>соответствует линейному набору элементов данных.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Например, агрегат </a:t>
            </a:r>
            <a:r>
              <a:rPr lang="ru-RU" b="1" dirty="0"/>
              <a:t>Адрес </a:t>
            </a:r>
            <a:r>
              <a:rPr lang="ru-RU" dirty="0"/>
              <a:t>может быть представлен следующим образом:</a:t>
            </a:r>
          </a:p>
          <a:p>
            <a:pPr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b="1" dirty="0"/>
              <a:t>		Адрес </a:t>
            </a:r>
            <a:r>
              <a:rPr lang="ru-RU" dirty="0"/>
              <a:t>= (город улица дом квартира)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Агрегат типа повторяющаяся группа соответствует </a:t>
            </a:r>
            <a:r>
              <a:rPr lang="ru-RU" b="1" dirty="0"/>
              <a:t>совокупности векторов данных.</a:t>
            </a:r>
            <a:r>
              <a:rPr lang="ru-RU" dirty="0"/>
              <a:t>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ru-RU" dirty="0"/>
              <a:t>Например, агрегат </a:t>
            </a:r>
            <a:r>
              <a:rPr lang="ru-RU" b="1" dirty="0"/>
              <a:t>Зарплата </a:t>
            </a:r>
            <a:r>
              <a:rPr lang="ru-RU" dirty="0"/>
              <a:t>соответствует типу </a:t>
            </a:r>
            <a:r>
              <a:rPr lang="ru-RU" b="1" dirty="0"/>
              <a:t>повторяющаяся группа</a:t>
            </a:r>
            <a:r>
              <a:rPr lang="ru-RU" dirty="0"/>
              <a:t> с числом повторений 12.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/>
              <a:t>		</a:t>
            </a:r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b="1" dirty="0"/>
              <a:t>		Зарплата</a:t>
            </a:r>
            <a:endParaRPr lang="ru-RU" dirty="0"/>
          </a:p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lang="ru-RU" dirty="0"/>
              <a:t>	Месяц  	Сумма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 	</a:t>
            </a:r>
            <a:r>
              <a:rPr lang="ru-RU" sz="2900" dirty="0" err="1"/>
              <a:t>янв</a:t>
            </a:r>
            <a:r>
              <a:rPr lang="ru-RU" sz="2900" dirty="0"/>
              <a:t>		12500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>
                <a:solidFill>
                  <a:schemeClr val="bg2"/>
                </a:solidFill>
              </a:rPr>
              <a:t>	</a:t>
            </a:r>
            <a:r>
              <a:rPr lang="ru-RU" sz="2900" dirty="0" err="1"/>
              <a:t>фев</a:t>
            </a:r>
            <a:r>
              <a:rPr lang="ru-RU" sz="2900" dirty="0"/>
              <a:t>		13000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/>
              <a:t>	</a:t>
            </a:r>
            <a:r>
              <a:rPr lang="ru-RU" sz="2900" dirty="0" err="1"/>
              <a:t>мар</a:t>
            </a:r>
            <a:r>
              <a:rPr lang="ru-RU" sz="2900" dirty="0"/>
              <a:t>		13500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/>
              <a:t>	</a:t>
            </a:r>
            <a:r>
              <a:rPr lang="ru-RU" sz="2900" dirty="0" err="1"/>
              <a:t>апр</a:t>
            </a:r>
            <a:r>
              <a:rPr lang="ru-RU" sz="2900" dirty="0"/>
              <a:t>		13000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2900" dirty="0"/>
              <a:t>	май		14000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ru-RU" sz="2900" dirty="0"/>
              <a:t>       </a:t>
            </a:r>
            <a:r>
              <a:rPr lang="ru-RU" sz="2900" b="1" dirty="0"/>
              <a:t>… 		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C00000"/>
              </a:buClr>
              <a:buNone/>
              <a:defRPr/>
            </a:pPr>
            <a:r>
              <a:rPr lang="ru-RU" sz="2900" dirty="0"/>
              <a:t>      дек		14500</a:t>
            </a:r>
          </a:p>
        </p:txBody>
      </p:sp>
      <p:sp>
        <p:nvSpPr>
          <p:cNvPr id="6148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AA7B7E5-A4A3-4EDC-A6CB-A0019FCF27C5}" type="slidenum">
              <a:rPr lang="ru-RU" altLang="ru-RU" sz="1200" smtClean="0">
                <a:latin typeface="Arial Black" pitchFamily="34" charset="0"/>
              </a:rPr>
              <a:pPr eaLnBrk="1" hangingPunct="1"/>
              <a:t>4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713788" cy="523875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Запись данных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117600"/>
            <a:ext cx="8750300" cy="525938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ru-RU" u="sng" dirty="0"/>
              <a:t>Записью</a:t>
            </a:r>
            <a:r>
              <a:rPr lang="ru-RU" dirty="0"/>
              <a:t> называется </a:t>
            </a:r>
            <a:r>
              <a:rPr lang="ru-RU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совокупность агрегатов</a:t>
            </a:r>
            <a:r>
              <a:rPr lang="ru-RU" i="1" dirty="0"/>
              <a:t> </a:t>
            </a:r>
            <a:r>
              <a:rPr lang="ru-RU" dirty="0"/>
              <a:t>или </a:t>
            </a:r>
            <a:r>
              <a:rPr lang="ru-RU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элементов данных</a:t>
            </a:r>
            <a:r>
              <a:rPr lang="ru-RU" dirty="0"/>
              <a:t>, моделирующая объект из некоторого класса объектов реального мира.</a:t>
            </a:r>
          </a:p>
          <a:p>
            <a:pPr>
              <a:lnSpc>
                <a:spcPct val="120000"/>
              </a:lnSpc>
            </a:pPr>
            <a:r>
              <a:rPr lang="ru-RU" dirty="0"/>
              <a:t>Понятие записи соответствует понятию "сегмент" в иерархической модели. </a:t>
            </a:r>
          </a:p>
          <a:p>
            <a:pPr>
              <a:lnSpc>
                <a:spcPct val="120000"/>
              </a:lnSpc>
            </a:pPr>
            <a:r>
              <a:rPr lang="ru-RU" dirty="0"/>
              <a:t>Для записи, так же как и для сегмента, вводятся понятия </a:t>
            </a:r>
            <a:r>
              <a:rPr lang="ru-RU" sz="3600" i="1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типа записи </a:t>
            </a:r>
            <a:r>
              <a:rPr lang="ru-RU" dirty="0"/>
              <a:t>и </a:t>
            </a:r>
            <a:r>
              <a:rPr lang="ru-RU" sz="3600" i="1" dirty="0">
                <a:solidFill>
                  <a:schemeClr val="bg2">
                    <a:lumMod val="60000"/>
                    <a:lumOff val="40000"/>
                  </a:schemeClr>
                </a:solidFill>
                <a:cs typeface="Times New Roman" pitchFamily="18" charset="0"/>
              </a:rPr>
              <a:t>экземпляра записи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</a:pPr>
            <a:r>
              <a:rPr lang="ru-RU" dirty="0"/>
              <a:t>При моделировании реального мира могут быть варианты, что определить как тип записи</a:t>
            </a:r>
          </a:p>
        </p:txBody>
      </p:sp>
      <p:sp>
        <p:nvSpPr>
          <p:cNvPr id="7172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7605CE5D-0F49-40C0-BF6C-EE875B1CF165}" type="slidenum">
              <a:rPr lang="ru-RU" altLang="ru-RU" sz="1200" smtClean="0">
                <a:latin typeface="Arial Black" pitchFamily="34" charset="0"/>
              </a:rPr>
              <a:pPr eaLnBrk="1" hangingPunct="1"/>
              <a:t>5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Пример. Описание Сотрудника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818711"/>
            <a:ext cx="9033292" cy="567062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u="sng" dirty="0"/>
              <a:t>Сотрудник описан одной ЗАПИСЬЮ</a:t>
            </a:r>
            <a:r>
              <a:rPr lang="ru-RU" sz="24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RECORD  NAME  IS 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СЛУЖАЩИЙ;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  02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НОМЕР-СЛУЖ; </a:t>
            </a:r>
            <a:r>
              <a:rPr lang="en-US" sz="2400" dirty="0"/>
              <a:t>PICTURE IS 9(8).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ФАМИЛИЯ-СЛУЖ; </a:t>
            </a:r>
            <a:r>
              <a:rPr lang="en-US" sz="2400" dirty="0"/>
              <a:t>PICTURE IS </a:t>
            </a:r>
            <a:r>
              <a:rPr lang="ru-RU" sz="2400" dirty="0"/>
              <a:t>А</a:t>
            </a:r>
            <a:r>
              <a:rPr lang="en-US" sz="2400" dirty="0"/>
              <a:t>(</a:t>
            </a:r>
            <a:r>
              <a:rPr lang="ru-RU" sz="2400" dirty="0"/>
              <a:t>14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ДАТА-РОЖДЕНИЯ;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 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rgbClr val="FF0000"/>
                </a:solidFill>
              </a:rPr>
              <a:t>ЧИСЛО-СПЕЦ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; </a:t>
            </a:r>
            <a:r>
              <a:rPr lang="en-US" sz="2400" dirty="0"/>
              <a:t>TYPE IS DECIMAL FIXED.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ОБРАЗОВАНИЕ; </a:t>
            </a:r>
            <a:r>
              <a:rPr lang="en-US" sz="2400" dirty="0"/>
              <a:t>OCCURS </a:t>
            </a:r>
            <a:r>
              <a:rPr lang="ru-RU" sz="2400" dirty="0">
                <a:solidFill>
                  <a:srgbClr val="FF0000"/>
                </a:solidFill>
              </a:rPr>
              <a:t>ЧИСЛО-СПЕЦ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/>
              <a:t>TIMES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СПЕЦИАЛЬНОСТЬ;</a:t>
            </a:r>
            <a:r>
              <a:rPr lang="ru-RU" sz="2400" dirty="0"/>
              <a:t> </a:t>
            </a:r>
            <a:r>
              <a:rPr lang="en-US" sz="2400" dirty="0"/>
              <a:t>PICTURE IS X(5); </a:t>
            </a:r>
            <a:br>
              <a:rPr lang="en-US" sz="2400" dirty="0"/>
            </a:br>
            <a:r>
              <a:rPr lang="en-US" sz="2400" dirty="0"/>
              <a:t>	CHECK IS VALUE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Б.Ф.,М.Ф.,Б.М.И.,М.М.И., … Б.И.,   				М.И.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      </a:t>
            </a:r>
            <a:r>
              <a:rPr lang="en-US" sz="2400" dirty="0"/>
              <a:t>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ДАТА-ЗАВЕРШ;</a:t>
            </a:r>
            <a:r>
              <a:rPr lang="ru-RU" sz="2400" dirty="0"/>
              <a:t>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);</a:t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en-US" sz="2400" dirty="0"/>
              <a:t> CHECK IS VALUE 13</a:t>
            </a:r>
            <a:r>
              <a:rPr lang="ru-RU" sz="2400" dirty="0"/>
              <a:t>0101 </a:t>
            </a:r>
            <a:r>
              <a:rPr lang="en-US" sz="2400" dirty="0"/>
              <a:t>THRU 960101</a:t>
            </a:r>
            <a:endParaRPr lang="ru-RU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УЧЕБНОЕ-ЗАВЕД;</a:t>
            </a:r>
            <a:r>
              <a:rPr lang="ru-RU" sz="2400" dirty="0"/>
              <a:t> </a:t>
            </a:r>
            <a:r>
              <a:rPr lang="en-US" sz="2400" dirty="0"/>
              <a:t>PICTURE IS X(</a:t>
            </a:r>
            <a:r>
              <a:rPr lang="ru-RU" sz="2400" dirty="0"/>
              <a:t>14</a:t>
            </a:r>
            <a:r>
              <a:rPr lang="en-US" sz="2400" dirty="0"/>
              <a:t>); </a:t>
            </a:r>
            <a:endParaRPr lang="ru-RU" sz="24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6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4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>
                <a:solidFill>
                  <a:schemeClr val="bg2"/>
                </a:solidFill>
              </a:rPr>
              <a:t>Набор данных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7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9450" y="43624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3333FF"/>
                </a:solidFill>
              </a:rPr>
              <a:t>Запись типа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9250" y="574040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8000"/>
                </a:solidFill>
              </a:rPr>
              <a:t>Запись типа </a:t>
            </a:r>
            <a:r>
              <a:rPr lang="en-US" dirty="0">
                <a:solidFill>
                  <a:srgbClr val="008000"/>
                </a:solidFill>
              </a:rPr>
              <a:t>B</a:t>
            </a:r>
            <a:endParaRPr lang="ru-RU" dirty="0">
              <a:solidFill>
                <a:srgbClr val="008000"/>
              </a:solidFill>
            </a:endParaRPr>
          </a:p>
        </p:txBody>
      </p:sp>
      <p:cxnSp>
        <p:nvCxnSpPr>
          <p:cNvPr id="5" name="Прямая со стрелкой 4"/>
          <p:cNvCxnSpPr>
            <a:stCxn id="3" idx="2"/>
            <a:endCxn id="6" idx="0"/>
          </p:cNvCxnSpPr>
          <p:nvPr/>
        </p:nvCxnSpPr>
        <p:spPr>
          <a:xfrm rot="5400000">
            <a:off x="2140601" y="4491390"/>
            <a:ext cx="897819" cy="160020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72050" y="431800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3333FF"/>
                </a:solidFill>
              </a:rPr>
              <a:t>Владелец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7030A0"/>
                </a:solidFill>
              </a:rPr>
              <a:t>набора </a:t>
            </a:r>
            <a:r>
              <a:rPr lang="en-US" sz="2400" dirty="0">
                <a:solidFill>
                  <a:srgbClr val="7030A0"/>
                </a:solidFill>
              </a:rPr>
              <a:t>N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33520" y="511810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</a:rPr>
              <a:t>Члены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7030A0"/>
                </a:solidFill>
              </a:rPr>
              <a:t>набора </a:t>
            </a:r>
            <a:r>
              <a:rPr lang="en-US" sz="2400" dirty="0">
                <a:solidFill>
                  <a:srgbClr val="7030A0"/>
                </a:solidFill>
              </a:rPr>
              <a:t>N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7050" y="4940300"/>
            <a:ext cx="18052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7030A0"/>
                </a:solidFill>
              </a:rPr>
              <a:t>Набор </a:t>
            </a:r>
            <a:r>
              <a:rPr lang="en-US" sz="2400" dirty="0">
                <a:solidFill>
                  <a:srgbClr val="7030A0"/>
                </a:solidFill>
              </a:rPr>
              <a:t>N</a:t>
            </a:r>
            <a:endParaRPr lang="ru-RU" sz="2400" dirty="0">
              <a:solidFill>
                <a:srgbClr val="7030A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35496" y="1043735"/>
            <a:ext cx="9108504" cy="296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400" kern="0" dirty="0"/>
              <a:t>Набором называется отношение «</a:t>
            </a:r>
            <a:r>
              <a:rPr lang="ru-RU" sz="2400" b="1" kern="0" dirty="0">
                <a:solidFill>
                  <a:schemeClr val="bg2"/>
                </a:solidFill>
              </a:rPr>
              <a:t>один-ко-многим</a:t>
            </a:r>
            <a:r>
              <a:rPr lang="ru-RU" sz="2400" kern="0" dirty="0"/>
              <a:t>», связывающее записи разных типов.</a:t>
            </a:r>
          </a:p>
          <a:p>
            <a:pPr>
              <a:lnSpc>
                <a:spcPct val="100000"/>
              </a:lnSpc>
            </a:pPr>
            <a:r>
              <a:rPr lang="ru-RU" sz="24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Тип набора (тип связи) </a:t>
            </a:r>
            <a:r>
              <a:rPr lang="ru-RU" sz="2400" kern="0" dirty="0"/>
              <a:t>отражает иерархическую связь между </a:t>
            </a:r>
            <a:r>
              <a:rPr lang="ru-RU" sz="24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двумя или более типами записей</a:t>
            </a:r>
            <a:r>
              <a:rPr lang="ru-RU" sz="2400" kern="0" dirty="0"/>
              <a:t>. </a:t>
            </a:r>
          </a:p>
          <a:p>
            <a:pPr>
              <a:lnSpc>
                <a:spcPct val="100000"/>
              </a:lnSpc>
            </a:pPr>
            <a:r>
              <a:rPr lang="ru-RU" sz="24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Родительский тип записи (предок) </a:t>
            </a:r>
            <a:r>
              <a:rPr lang="ru-RU" sz="2400" kern="0" dirty="0"/>
              <a:t>в данном наборе называется </a:t>
            </a:r>
            <a:r>
              <a:rPr lang="ru-RU" sz="2400" b="1" u="sng" kern="0" dirty="0">
                <a:solidFill>
                  <a:srgbClr val="3333FF"/>
                </a:solidFill>
              </a:rPr>
              <a:t>владельцем</a:t>
            </a:r>
            <a:r>
              <a:rPr lang="ru-RU" sz="2400" b="1" u="sng" kern="0" dirty="0">
                <a:solidFill>
                  <a:srgbClr val="7030A0"/>
                </a:solidFill>
              </a:rPr>
              <a:t> набора</a:t>
            </a:r>
          </a:p>
          <a:p>
            <a:pPr>
              <a:lnSpc>
                <a:spcPct val="100000"/>
              </a:lnSpc>
            </a:pPr>
            <a:r>
              <a:rPr lang="ru-RU" sz="2400" kern="0" dirty="0">
                <a:solidFill>
                  <a:srgbClr val="008000"/>
                </a:solidFill>
              </a:rPr>
              <a:t>Дочерний(</a:t>
            </a:r>
            <a:r>
              <a:rPr lang="ru-RU" sz="2400" kern="0" dirty="0" err="1">
                <a:solidFill>
                  <a:srgbClr val="008000"/>
                </a:solidFill>
              </a:rPr>
              <a:t>ие</a:t>
            </a:r>
            <a:r>
              <a:rPr lang="ru-RU" sz="2400" kern="0" dirty="0">
                <a:solidFill>
                  <a:srgbClr val="008000"/>
                </a:solidFill>
              </a:rPr>
              <a:t>) тип(</a:t>
            </a:r>
            <a:r>
              <a:rPr lang="ru-RU" sz="2400" kern="0" dirty="0" err="1">
                <a:solidFill>
                  <a:srgbClr val="008000"/>
                </a:solidFill>
              </a:rPr>
              <a:t>ы</a:t>
            </a:r>
            <a:r>
              <a:rPr lang="ru-RU" sz="2400" kern="0" dirty="0">
                <a:solidFill>
                  <a:srgbClr val="008000"/>
                </a:solidFill>
              </a:rPr>
              <a:t>) записи (потомок(и) ) </a:t>
            </a:r>
            <a:r>
              <a:rPr lang="ru-RU" sz="2400" kern="0" dirty="0"/>
              <a:t>— </a:t>
            </a:r>
            <a:r>
              <a:rPr lang="ru-RU" sz="2400" b="1" u="sng" kern="0" dirty="0">
                <a:solidFill>
                  <a:srgbClr val="008000"/>
                </a:solidFill>
              </a:rPr>
              <a:t>членом (нами)</a:t>
            </a:r>
            <a:r>
              <a:rPr lang="ru-RU" sz="2400" kern="0" dirty="0"/>
              <a:t> того же </a:t>
            </a:r>
            <a:r>
              <a:rPr lang="ru-RU" sz="2400" b="1" u="sng" kern="0" dirty="0">
                <a:solidFill>
                  <a:srgbClr val="7030A0"/>
                </a:solidFill>
              </a:rPr>
              <a:t>набора</a:t>
            </a:r>
            <a:r>
              <a:rPr lang="ru-RU" sz="2400" kern="0"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574040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8000"/>
                </a:solidFill>
              </a:rPr>
              <a:t>Запись типа С</a:t>
            </a:r>
          </a:p>
        </p:txBody>
      </p:sp>
      <p:cxnSp>
        <p:nvCxnSpPr>
          <p:cNvPr id="16" name="Прямая со стрелкой 15"/>
          <p:cNvCxnSpPr>
            <a:stCxn id="3" idx="2"/>
            <a:endCxn id="13" idx="0"/>
          </p:cNvCxnSpPr>
          <p:nvPr/>
        </p:nvCxnSpPr>
        <p:spPr>
          <a:xfrm rot="16200000" flipH="1">
            <a:off x="3718576" y="4513615"/>
            <a:ext cx="897819" cy="155575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/>
      <p:bldP spid="10" grpId="0"/>
      <p:bldP spid="11" grpId="0"/>
      <p:bldP spid="15" grpId="0" build="p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>
                <a:solidFill>
                  <a:schemeClr val="bg2"/>
                </a:solidFill>
              </a:rPr>
              <a:t>Пример. Описание Сотрудника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8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60650" y="44513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3333FF"/>
                </a:solidFill>
              </a:rPr>
              <a:t>Служащий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94200" y="57848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8000"/>
                </a:solidFill>
              </a:rPr>
              <a:t>Должность</a:t>
            </a:r>
          </a:p>
        </p:txBody>
      </p:sp>
      <p:cxnSp>
        <p:nvCxnSpPr>
          <p:cNvPr id="5" name="Прямая со стрелкой 4"/>
          <p:cNvCxnSpPr>
            <a:stCxn id="3" idx="2"/>
            <a:endCxn id="6" idx="0"/>
          </p:cNvCxnSpPr>
          <p:nvPr/>
        </p:nvCxnSpPr>
        <p:spPr>
          <a:xfrm rot="16200000" flipH="1">
            <a:off x="4540901" y="4491390"/>
            <a:ext cx="853369" cy="173355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prstDash val="dash"/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409575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3333FF"/>
                </a:solidFill>
              </a:rPr>
              <a:t>Владелец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7030A0"/>
                </a:solidFill>
              </a:rPr>
              <a:t>набора СО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3950" y="6273800"/>
            <a:ext cx="361048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008000"/>
                </a:solidFill>
              </a:rPr>
              <a:t>Член(</a:t>
            </a:r>
            <a:r>
              <a:rPr lang="ru-RU" sz="2400" dirty="0" err="1">
                <a:solidFill>
                  <a:srgbClr val="008000"/>
                </a:solidFill>
              </a:rPr>
              <a:t>ы</a:t>
            </a:r>
            <a:r>
              <a:rPr lang="ru-RU" sz="2400" dirty="0">
                <a:solidFill>
                  <a:srgbClr val="008000"/>
                </a:solidFill>
              </a:rPr>
              <a:t>)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7030A0"/>
                </a:solidFill>
              </a:rPr>
              <a:t>набора СО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7600" y="5029200"/>
            <a:ext cx="46228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7030A0"/>
                </a:solidFill>
              </a:rPr>
              <a:t>СО – название набора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35496" y="850900"/>
            <a:ext cx="9108504" cy="345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400" kern="0" dirty="0"/>
              <a:t>Сотрудник описывается двумя типами записей и набором. </a:t>
            </a:r>
          </a:p>
          <a:p>
            <a:pPr>
              <a:lnSpc>
                <a:spcPct val="100000"/>
              </a:lnSpc>
            </a:pPr>
            <a:r>
              <a:rPr lang="ru-RU" sz="2400" kern="0" dirty="0"/>
              <a:t>Запись </a:t>
            </a:r>
            <a:r>
              <a:rPr lang="ru-RU" sz="2400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СЛУЖАЩИЙ </a:t>
            </a:r>
            <a:r>
              <a:rPr lang="ru-RU" sz="2400" kern="0" dirty="0"/>
              <a:t>содержит поля: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НОМЕР-СЛУЖ</a:t>
            </a:r>
            <a:endParaRPr lang="en-US" sz="2000" kern="0" dirty="0"/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ФАМИЛИЯ-СЛУЖ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ДАТА-РОЖДЕНИЯ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ЧИСЛО-СПЕЦ</a:t>
            </a:r>
          </a:p>
          <a:p>
            <a:pPr marL="0" indent="0">
              <a:lnSpc>
                <a:spcPct val="100000"/>
              </a:lnSpc>
            </a:pPr>
            <a:r>
              <a:rPr lang="ru-RU" sz="2400" kern="0" dirty="0"/>
              <a:t> Запись </a:t>
            </a:r>
            <a:r>
              <a:rPr lang="ru-RU" sz="2400" kern="0" dirty="0">
                <a:solidFill>
                  <a:srgbClr val="008000"/>
                </a:solidFill>
              </a:rPr>
              <a:t>ОБРАЗОВАНИЕ</a:t>
            </a:r>
            <a:r>
              <a:rPr lang="ru-RU" sz="2400" kern="0" dirty="0"/>
              <a:t> содержит поля: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СПЕЦИАЛЬНОСТЬ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ДАТА-ЗАВЕРШ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itchFamily="2" charset="2"/>
              <a:buChar char="v"/>
            </a:pPr>
            <a:r>
              <a:rPr lang="ru-RU" sz="2000" kern="0" dirty="0"/>
              <a:t>УЧЕБНОЕ-ЗАВЕД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None/>
            </a:pPr>
            <a:r>
              <a:rPr lang="ru-RU" sz="2000" kern="0" dirty="0"/>
              <a:t>==================================================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5784850"/>
            <a:ext cx="2880320" cy="48013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008000"/>
                </a:solidFill>
              </a:rPr>
              <a:t>Образование</a:t>
            </a:r>
          </a:p>
        </p:txBody>
      </p:sp>
      <p:cxnSp>
        <p:nvCxnSpPr>
          <p:cNvPr id="16" name="Прямая со стрелкой 15"/>
          <p:cNvCxnSpPr>
            <a:stCxn id="3" idx="2"/>
            <a:endCxn id="13" idx="0"/>
          </p:cNvCxnSpPr>
          <p:nvPr/>
        </p:nvCxnSpPr>
        <p:spPr>
          <a:xfrm rot="5400000">
            <a:off x="2829576" y="4513615"/>
            <a:ext cx="853369" cy="1689100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miter lim="800000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  <p:bldP spid="7" grpId="0" build="p"/>
      <p:bldP spid="10" grpId="0" build="p"/>
      <p:bldP spid="11" grpId="0" build="p"/>
      <p:bldP spid="15" grpId="0" build="p"/>
      <p:bldP spid="13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>
                <a:solidFill>
                  <a:schemeClr val="bg2"/>
                </a:solidFill>
              </a:rPr>
              <a:t>Свойства наборов данных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71450" y="953725"/>
            <a:ext cx="8801100" cy="492002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Тип записи </a:t>
            </a:r>
            <a:r>
              <a:rPr lang="ru-RU" dirty="0">
                <a:solidFill>
                  <a:srgbClr val="C00000"/>
                </a:solidFill>
              </a:rPr>
              <a:t>может быть одновременно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владельцем и членом нескольких типов наборов 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Между </a:t>
            </a:r>
            <a:r>
              <a:rPr lang="ru-RU" dirty="0">
                <a:solidFill>
                  <a:srgbClr val="C00000"/>
                </a:solidFill>
              </a:rPr>
              <a:t>двух типами записи </a:t>
            </a:r>
            <a:r>
              <a:rPr lang="ru-RU" dirty="0"/>
              <a:t>может быть определено </a:t>
            </a:r>
            <a:r>
              <a:rPr lang="ru-RU" dirty="0">
                <a:solidFill>
                  <a:srgbClr val="C00000"/>
                </a:solidFill>
              </a:rPr>
              <a:t>любое количество типов наборов</a:t>
            </a:r>
            <a:r>
              <a:rPr lang="ru-RU" dirty="0"/>
              <a:t>. 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База данных может содержать </a:t>
            </a:r>
            <a:r>
              <a:rPr lang="ru-RU" dirty="0">
                <a:solidFill>
                  <a:srgbClr val="C00000"/>
                </a:solidFill>
              </a:rPr>
              <a:t>любое число </a:t>
            </a:r>
            <a:r>
              <a:rPr lang="ru-RU" dirty="0"/>
              <a:t>типов набора и типов записей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Допускаются циклические структуры. </a:t>
            </a:r>
            <a:br>
              <a:rPr lang="ru-RU" dirty="0"/>
            </a:br>
            <a:r>
              <a:rPr lang="ru-RU" dirty="0"/>
              <a:t>То есть в </a:t>
            </a:r>
            <a:r>
              <a:rPr lang="ru-RU" b="1" dirty="0"/>
              <a:t>одном наборе </a:t>
            </a:r>
            <a:r>
              <a:rPr lang="ru-RU" dirty="0"/>
              <a:t>тип записи </a:t>
            </a:r>
            <a:r>
              <a:rPr lang="ru-RU" i="1" dirty="0"/>
              <a:t>X </a:t>
            </a:r>
            <a:r>
              <a:rPr lang="ru-RU" dirty="0"/>
              <a:t>может быть </a:t>
            </a:r>
            <a:r>
              <a:rPr lang="ru-RU" dirty="0">
                <a:solidFill>
                  <a:srgbClr val="3333FF"/>
                </a:solidFill>
              </a:rPr>
              <a:t>владельцем</a:t>
            </a:r>
            <a:r>
              <a:rPr lang="ru-RU" dirty="0"/>
              <a:t>  и тип записи </a:t>
            </a:r>
            <a:r>
              <a:rPr lang="ru-RU" i="1" dirty="0"/>
              <a:t>Y</a:t>
            </a:r>
            <a:r>
              <a:rPr lang="ru-RU" dirty="0">
                <a:solidFill>
                  <a:srgbClr val="3333FF"/>
                </a:solidFill>
              </a:rPr>
              <a:t> членом,  </a:t>
            </a:r>
            <a:r>
              <a:rPr lang="ru-RU" dirty="0"/>
              <a:t>а в </a:t>
            </a:r>
            <a:r>
              <a:rPr lang="ru-RU" b="1" dirty="0"/>
              <a:t>другом наборе </a:t>
            </a:r>
            <a:r>
              <a:rPr lang="ru-RU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наоборот</a:t>
            </a:r>
            <a:r>
              <a:rPr lang="ru-RU" dirty="0"/>
              <a:t>. 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9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6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2"/>
                </a:solidFill>
              </a:rPr>
              <a:t>Примеры</a:t>
            </a:r>
          </a:p>
        </p:txBody>
      </p:sp>
      <p:sp>
        <p:nvSpPr>
          <p:cNvPr id="12294" name="TextBox 2"/>
          <p:cNvSpPr txBox="1">
            <a:spLocks noChangeArrowheads="1"/>
          </p:cNvSpPr>
          <p:nvPr/>
        </p:nvSpPr>
        <p:spPr bwMode="auto">
          <a:xfrm>
            <a:off x="971600" y="1223755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ТОВАР</a:t>
            </a:r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10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992651" y="2143542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СТАТЬЯ -ЗАКАЗА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349370" y="1624177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1466655" y="1632038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6504" y="1693492"/>
            <a:ext cx="12722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1769" y="1673805"/>
            <a:ext cx="225025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Исполнение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520" y="2933945"/>
            <a:ext cx="3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2 типа набора между</a:t>
            </a:r>
            <a:br>
              <a:rPr lang="ru-RU" sz="2000" dirty="0"/>
            </a:br>
            <a:r>
              <a:rPr lang="ru-RU" sz="2000" dirty="0"/>
              <a:t>2-мя типами записи</a:t>
            </a:r>
          </a:p>
        </p:txBody>
      </p:sp>
      <p:sp>
        <p:nvSpPr>
          <p:cNvPr id="16" name="TextBox 2"/>
          <p:cNvSpPr txBox="1">
            <a:spLocks noChangeArrowheads="1"/>
          </p:cNvSpPr>
          <p:nvPr/>
        </p:nvSpPr>
        <p:spPr bwMode="auto">
          <a:xfrm>
            <a:off x="5967155" y="117875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ТОВАР</a:t>
            </a:r>
          </a:p>
        </p:txBody>
      </p:sp>
      <p:sp>
        <p:nvSpPr>
          <p:cNvPr id="17" name="TextBox 2"/>
          <p:cNvSpPr txBox="1">
            <a:spLocks noChangeArrowheads="1"/>
          </p:cNvSpPr>
          <p:nvPr/>
        </p:nvSpPr>
        <p:spPr bwMode="auto">
          <a:xfrm>
            <a:off x="5988206" y="2098537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СТАТЬЯ -ЗАКАЗА</a:t>
            </a: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7344925" y="1579172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6462210" y="1587033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12060" y="1673805"/>
            <a:ext cx="12601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2310" y="1673805"/>
            <a:ext cx="167203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Содержит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17105" y="2872679"/>
            <a:ext cx="3084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Мини-цикл между</a:t>
            </a:r>
            <a:br>
              <a:rPr lang="ru-RU" sz="2000" dirty="0"/>
            </a:br>
            <a:r>
              <a:rPr lang="ru-RU" sz="2000" dirty="0"/>
              <a:t>2-мя типами записи</a:t>
            </a:r>
          </a:p>
        </p:txBody>
      </p: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3500881" y="348196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ТОВАР</a:t>
            </a:r>
          </a:p>
        </p:txBody>
      </p:sp>
      <p:sp>
        <p:nvSpPr>
          <p:cNvPr id="24" name="TextBox 2"/>
          <p:cNvSpPr txBox="1">
            <a:spLocks noChangeArrowheads="1"/>
          </p:cNvSpPr>
          <p:nvPr/>
        </p:nvSpPr>
        <p:spPr bwMode="auto">
          <a:xfrm>
            <a:off x="3491880" y="5372170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СТАТЬЯ -ЗАКАЗА</a:t>
            </a:r>
          </a:p>
        </p:txBody>
      </p:sp>
      <p:cxnSp>
        <p:nvCxnSpPr>
          <p:cNvPr id="26" name="Прямая со стрелкой 25"/>
          <p:cNvCxnSpPr/>
          <p:nvPr/>
        </p:nvCxnSpPr>
        <p:spPr>
          <a:xfrm>
            <a:off x="4436985" y="3886911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"/>
          <p:cNvSpPr txBox="1">
            <a:spLocks noChangeArrowheads="1"/>
          </p:cNvSpPr>
          <p:nvPr/>
        </p:nvSpPr>
        <p:spPr bwMode="auto">
          <a:xfrm>
            <a:off x="3491880" y="4407378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ЗАКАЗ</a:t>
            </a:r>
          </a:p>
        </p:txBody>
      </p:sp>
      <p:cxnSp>
        <p:nvCxnSpPr>
          <p:cNvPr id="33" name="Прямая со стрелкой 32"/>
          <p:cNvCxnSpPr/>
          <p:nvPr/>
        </p:nvCxnSpPr>
        <p:spPr>
          <a:xfrm>
            <a:off x="4436985" y="4832016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58135" y="3931787"/>
            <a:ext cx="198678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Товар-Заказ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36187" y="4879332"/>
            <a:ext cx="233116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Заказ-Статья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59659" y="6210018"/>
            <a:ext cx="3387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Иерархическая структура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9" grpId="0" animBg="1"/>
      <p:bldP spid="5" grpId="0"/>
      <p:bldP spid="14" grpId="0"/>
      <p:bldP spid="15" grpId="0"/>
      <p:bldP spid="16" grpId="0" animBg="1"/>
      <p:bldP spid="17" grpId="0" animBg="1"/>
      <p:bldP spid="20" grpId="0"/>
      <p:bldP spid="21" grpId="0"/>
      <p:bldP spid="22" grpId="0"/>
      <p:bldP spid="23" grpId="0" animBg="1"/>
      <p:bldP spid="24" grpId="0" animBg="1"/>
      <p:bldP spid="31" grpId="0" animBg="1"/>
      <p:bldP spid="34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 txBox="1">
            <a:spLocks noChangeArrowheads="1"/>
          </p:cNvSpPr>
          <p:nvPr/>
        </p:nvSpPr>
        <p:spPr bwMode="auto">
          <a:xfrm>
            <a:off x="358775" y="260350"/>
            <a:ext cx="84248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ru-RU" altLang="ru-RU" sz="3200" dirty="0">
                <a:solidFill>
                  <a:schemeClr val="bg2"/>
                </a:solidFill>
              </a:rPr>
              <a:t>Свойства наборов данных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341530" y="953725"/>
            <a:ext cx="8496300" cy="5580620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Наличие подобных возможностей позволяет моделировать отношение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"</a:t>
            </a:r>
            <a:r>
              <a:rPr lang="ru-RU" sz="24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многие-ко-многим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" </a:t>
            </a:r>
            <a:r>
              <a:rPr lang="ru-RU" sz="2400" dirty="0"/>
              <a:t>между двумя объектами реального мира, что выгодно отличает сетевую модель от иерархической.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Для данного типа </a:t>
            </a:r>
            <a:r>
              <a:rPr lang="ru-RU" sz="2400" b="1" dirty="0">
                <a:solidFill>
                  <a:srgbClr val="7030A0"/>
                </a:solidFill>
              </a:rPr>
              <a:t>набора </a:t>
            </a:r>
            <a:r>
              <a:rPr lang="en-US" sz="2400" b="1" dirty="0">
                <a:solidFill>
                  <a:srgbClr val="7030A0"/>
                </a:solidFill>
              </a:rPr>
              <a:t>S</a:t>
            </a:r>
            <a:r>
              <a:rPr lang="ru-RU" sz="2400" dirty="0"/>
              <a:t> с типом записи </a:t>
            </a:r>
            <a:r>
              <a:rPr lang="ru-RU" sz="2400" dirty="0">
                <a:solidFill>
                  <a:srgbClr val="3333FF"/>
                </a:solidFill>
              </a:rPr>
              <a:t>владельца P</a:t>
            </a:r>
            <a:r>
              <a:rPr lang="ru-RU" sz="2400" dirty="0"/>
              <a:t> и типом записи </a:t>
            </a:r>
            <a:r>
              <a:rPr lang="ru-RU" sz="2400" dirty="0">
                <a:solidFill>
                  <a:srgbClr val="008000"/>
                </a:solidFill>
              </a:rPr>
              <a:t>члена C</a:t>
            </a:r>
            <a:r>
              <a:rPr lang="ru-RU" sz="2400" dirty="0"/>
              <a:t> должны выполняться следующие два условия:</a:t>
            </a:r>
          </a:p>
          <a:p>
            <a:pPr marL="800100" lvl="1" indent="-342900">
              <a:lnSpc>
                <a:spcPct val="100000"/>
              </a:lnSpc>
              <a:buClr>
                <a:srgbClr val="3333FF"/>
              </a:buClr>
              <a:buFont typeface="Wingdings" pitchFamily="2" charset="2"/>
              <a:buChar char="ü"/>
            </a:pPr>
            <a:r>
              <a:rPr lang="ru-RU" sz="2400" dirty="0"/>
              <a:t>Каждый экземпляр </a:t>
            </a:r>
            <a:r>
              <a:rPr lang="ru-RU" sz="2400" dirty="0">
                <a:solidFill>
                  <a:srgbClr val="3333FF"/>
                </a:solidFill>
              </a:rPr>
              <a:t>типа записи P</a:t>
            </a:r>
            <a:r>
              <a:rPr lang="ru-RU" sz="2400" dirty="0"/>
              <a:t> является </a:t>
            </a:r>
            <a:r>
              <a:rPr lang="ru-RU" sz="2400" dirty="0">
                <a:solidFill>
                  <a:srgbClr val="3333FF"/>
                </a:solidFill>
              </a:rPr>
              <a:t>владельцем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C00000"/>
                </a:solidFill>
              </a:rPr>
              <a:t>только в одном экземпляре </a:t>
            </a:r>
            <a:r>
              <a:rPr lang="ru-RU" sz="2400" dirty="0"/>
              <a:t>типа </a:t>
            </a:r>
            <a:r>
              <a:rPr lang="ru-RU" sz="2400" dirty="0">
                <a:solidFill>
                  <a:srgbClr val="7030A0"/>
                </a:solidFill>
              </a:rPr>
              <a:t>набора </a:t>
            </a:r>
            <a:r>
              <a:rPr lang="en-US" sz="2400" dirty="0">
                <a:solidFill>
                  <a:srgbClr val="7030A0"/>
                </a:solidFill>
              </a:rPr>
              <a:t>S</a:t>
            </a:r>
            <a:r>
              <a:rPr lang="ru-RU" sz="2400" dirty="0"/>
              <a:t>;</a:t>
            </a:r>
          </a:p>
          <a:p>
            <a:pPr marL="800100" lvl="1" indent="-342900">
              <a:lnSpc>
                <a:spcPct val="100000"/>
              </a:lnSpc>
              <a:buClr>
                <a:srgbClr val="3333FF"/>
              </a:buClr>
              <a:buFont typeface="Wingdings" pitchFamily="2" charset="2"/>
              <a:buChar char="ü"/>
            </a:pPr>
            <a:r>
              <a:rPr lang="ru-RU" sz="2400" dirty="0"/>
              <a:t>Каждый экземпляр </a:t>
            </a:r>
            <a:r>
              <a:rPr lang="ru-RU" sz="2400" dirty="0">
                <a:solidFill>
                  <a:srgbClr val="008000"/>
                </a:solidFill>
              </a:rPr>
              <a:t>типа записи C</a:t>
            </a:r>
            <a:r>
              <a:rPr lang="ru-RU" sz="2400" dirty="0"/>
              <a:t> является </a:t>
            </a:r>
            <a:r>
              <a:rPr lang="ru-RU" sz="2400" dirty="0">
                <a:solidFill>
                  <a:srgbClr val="008000"/>
                </a:solidFill>
              </a:rPr>
              <a:t>членом</a:t>
            </a:r>
            <a:r>
              <a:rPr lang="ru-RU" sz="2400" dirty="0"/>
              <a:t> </a:t>
            </a:r>
            <a:r>
              <a:rPr lang="ru-RU" sz="2400" dirty="0">
                <a:solidFill>
                  <a:srgbClr val="DE4110"/>
                </a:solidFill>
              </a:rPr>
              <a:t>не более чем в одном экземпляре </a:t>
            </a:r>
            <a:r>
              <a:rPr lang="ru-RU" sz="2400" dirty="0"/>
              <a:t>типа </a:t>
            </a:r>
            <a:r>
              <a:rPr lang="ru-RU" sz="2400" dirty="0">
                <a:solidFill>
                  <a:srgbClr val="7030A0"/>
                </a:solidFill>
              </a:rPr>
              <a:t>набора </a:t>
            </a:r>
            <a:r>
              <a:rPr lang="en-US" sz="2400" dirty="0">
                <a:solidFill>
                  <a:srgbClr val="7030A0"/>
                </a:solidFill>
              </a:rPr>
              <a:t>S</a:t>
            </a:r>
            <a:r>
              <a:rPr lang="ru-RU" sz="2400" dirty="0"/>
              <a:t>.</a:t>
            </a:r>
          </a:p>
          <a:p>
            <a:pPr marL="342900" indent="-342900">
              <a:lnSpc>
                <a:spcPct val="100000"/>
              </a:lnSpc>
              <a:buClr>
                <a:srgbClr val="C00000"/>
              </a:buClr>
            </a:pPr>
            <a:r>
              <a:rPr lang="ru-RU" sz="2400" dirty="0"/>
              <a:t>В рамках </a:t>
            </a:r>
            <a:r>
              <a:rPr lang="ru-RU" sz="2400" dirty="0">
                <a:solidFill>
                  <a:srgbClr val="C00000"/>
                </a:solidFill>
              </a:rPr>
              <a:t>экземпляра набора </a:t>
            </a:r>
            <a:r>
              <a:rPr lang="ru-RU" sz="2400" dirty="0"/>
              <a:t>возможен </a:t>
            </a:r>
            <a:r>
              <a:rPr lang="ru-RU" sz="2400" dirty="0">
                <a:solidFill>
                  <a:srgbClr val="C00000"/>
                </a:solidFill>
              </a:rPr>
              <a:t>последовательный просмотр </a:t>
            </a:r>
            <a:r>
              <a:rPr lang="ru-RU" sz="2400" dirty="0">
                <a:solidFill>
                  <a:srgbClr val="008000"/>
                </a:solidFill>
              </a:rPr>
              <a:t>экземпляров членов набора</a:t>
            </a:r>
            <a:r>
              <a:rPr lang="ru-RU" sz="2400" dirty="0"/>
              <a:t>, связанных с одним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экземпляром владельца набора</a:t>
            </a:r>
            <a:r>
              <a:rPr lang="ru-RU" sz="2400" dirty="0"/>
              <a:t>.</a:t>
            </a:r>
          </a:p>
        </p:txBody>
      </p:sp>
      <p:sp>
        <p:nvSpPr>
          <p:cNvPr id="922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EBF896-A8F6-47B8-B8FB-250B27B1D7F1}" type="slidenum">
              <a:rPr lang="ru-RU" altLang="ru-RU" sz="1200" smtClean="0">
                <a:latin typeface="Arial Black" pitchFamily="34" charset="0"/>
              </a:rPr>
              <a:pPr eaLnBrk="1" hangingPunct="1"/>
              <a:t>11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68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2"/>
                </a:solidFill>
              </a:rPr>
              <a:t>Примеры</a:t>
            </a:r>
            <a:r>
              <a:rPr lang="en-US" altLang="ru-RU" sz="3200" dirty="0">
                <a:solidFill>
                  <a:schemeClr val="bg2"/>
                </a:solidFill>
              </a:rPr>
              <a:t>. </a:t>
            </a:r>
            <a:r>
              <a:rPr lang="ru-RU" altLang="ru-RU" sz="3200" dirty="0">
                <a:solidFill>
                  <a:schemeClr val="bg2"/>
                </a:solidFill>
              </a:rPr>
              <a:t>Экземпляры</a:t>
            </a:r>
          </a:p>
        </p:txBody>
      </p:sp>
      <p:sp>
        <p:nvSpPr>
          <p:cNvPr id="12294" name="TextBox 2"/>
          <p:cNvSpPr txBox="1">
            <a:spLocks noChangeArrowheads="1"/>
          </p:cNvSpPr>
          <p:nvPr/>
        </p:nvSpPr>
        <p:spPr bwMode="auto">
          <a:xfrm>
            <a:off x="971600" y="1223755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ТОВАР</a:t>
            </a:r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12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992651" y="2143542"/>
            <a:ext cx="1926214" cy="75713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СТАТЬЯ -ЗАКАЗА</a:t>
            </a:r>
          </a:p>
        </p:txBody>
      </p:sp>
      <p:cxnSp>
        <p:nvCxnSpPr>
          <p:cNvPr id="4" name="Прямая со стрелкой 3"/>
          <p:cNvCxnSpPr/>
          <p:nvPr/>
        </p:nvCxnSpPr>
        <p:spPr>
          <a:xfrm>
            <a:off x="2349370" y="1624177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1466655" y="1632038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6504" y="1693492"/>
            <a:ext cx="12722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1769" y="1673805"/>
            <a:ext cx="225025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Исполнение</a:t>
            </a:r>
          </a:p>
        </p:txBody>
      </p:sp>
      <p:sp>
        <p:nvSpPr>
          <p:cNvPr id="27" name="TextBox 2"/>
          <p:cNvSpPr txBox="1">
            <a:spLocks noChangeArrowheads="1"/>
          </p:cNvSpPr>
          <p:nvPr/>
        </p:nvSpPr>
        <p:spPr bwMode="auto">
          <a:xfrm>
            <a:off x="1460500" y="3780000"/>
            <a:ext cx="1926214" cy="3416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800" dirty="0"/>
              <a:t>Кофе </a:t>
            </a:r>
            <a:r>
              <a:rPr lang="ru-RU" altLang="ru-RU" sz="1800" dirty="0" err="1"/>
              <a:t>Арабика</a:t>
            </a:r>
            <a:endParaRPr lang="ru-RU" altLang="ru-RU" sz="1800" dirty="0"/>
          </a:p>
        </p:txBody>
      </p:sp>
      <p:sp>
        <p:nvSpPr>
          <p:cNvPr id="29" name="TextBox 2"/>
          <p:cNvSpPr txBox="1">
            <a:spLocks noChangeArrowheads="1"/>
          </p:cNvSpPr>
          <p:nvPr/>
        </p:nvSpPr>
        <p:spPr bwMode="auto">
          <a:xfrm>
            <a:off x="793750" y="4673600"/>
            <a:ext cx="3556000" cy="355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900" dirty="0"/>
              <a:t>12.04.2016, ТЦ,  10 шт. </a:t>
            </a:r>
          </a:p>
          <a:p>
            <a:pPr algn="ctr" eaLnBrk="1" hangingPunct="1"/>
            <a:endParaRPr lang="ru-RU" altLang="ru-RU" sz="2400" dirty="0"/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2349500" y="4140200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2"/>
          <p:cNvSpPr txBox="1">
            <a:spLocks noChangeArrowheads="1"/>
          </p:cNvSpPr>
          <p:nvPr/>
        </p:nvSpPr>
        <p:spPr bwMode="auto">
          <a:xfrm>
            <a:off x="793750" y="5295900"/>
            <a:ext cx="3556000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000" dirty="0"/>
              <a:t>18.05.2016, </a:t>
            </a:r>
            <a:r>
              <a:rPr lang="ru-RU" altLang="ru-RU" sz="2000" dirty="0" err="1"/>
              <a:t>Холидей</a:t>
            </a:r>
            <a:r>
              <a:rPr lang="ru-RU" altLang="ru-RU" sz="2000" dirty="0"/>
              <a:t>,  25 шт. </a:t>
            </a:r>
          </a:p>
          <a:p>
            <a:pPr algn="ctr" eaLnBrk="1" hangingPunct="1"/>
            <a:endParaRPr lang="ru-RU" altLang="ru-R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260350" y="4229100"/>
            <a:ext cx="200025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0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Заказы_кофе</a:t>
            </a:r>
            <a:endParaRPr 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127250" y="4806950"/>
            <a:ext cx="8890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…</a:t>
            </a:r>
          </a:p>
        </p:txBody>
      </p:sp>
      <p:sp>
        <p:nvSpPr>
          <p:cNvPr id="40" name="TextBox 2"/>
          <p:cNvSpPr txBox="1">
            <a:spLocks noChangeArrowheads="1"/>
          </p:cNvSpPr>
          <p:nvPr/>
        </p:nvSpPr>
        <p:spPr bwMode="auto">
          <a:xfrm>
            <a:off x="5727700" y="3780000"/>
            <a:ext cx="1926214" cy="3416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1800" dirty="0"/>
              <a:t>Чай Майский</a:t>
            </a:r>
          </a:p>
        </p:txBody>
      </p:sp>
      <p:sp>
        <p:nvSpPr>
          <p:cNvPr id="41" name="TextBox 2"/>
          <p:cNvSpPr txBox="1">
            <a:spLocks noChangeArrowheads="1"/>
          </p:cNvSpPr>
          <p:nvPr/>
        </p:nvSpPr>
        <p:spPr bwMode="auto">
          <a:xfrm>
            <a:off x="4883150" y="4673600"/>
            <a:ext cx="3536950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000" dirty="0"/>
              <a:t>25.04.2016, ТЦ, 45 шт. </a:t>
            </a:r>
          </a:p>
          <a:p>
            <a:pPr algn="ctr" eaLnBrk="1" hangingPunct="1"/>
            <a:endParaRPr lang="ru-RU" altLang="ru-RU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6261100" y="4806950"/>
            <a:ext cx="889000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…</a:t>
            </a:r>
          </a:p>
        </p:txBody>
      </p:sp>
      <p:sp>
        <p:nvSpPr>
          <p:cNvPr id="43" name="TextBox 2"/>
          <p:cNvSpPr txBox="1">
            <a:spLocks noChangeArrowheads="1"/>
          </p:cNvSpPr>
          <p:nvPr/>
        </p:nvSpPr>
        <p:spPr bwMode="auto">
          <a:xfrm>
            <a:off x="4927600" y="5295900"/>
            <a:ext cx="3511550" cy="4000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36000" tIns="36000" rIns="36000" bIns="36000">
            <a:norm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000" dirty="0"/>
              <a:t>12.06.2016, </a:t>
            </a:r>
            <a:r>
              <a:rPr lang="ru-RU" altLang="ru-RU" sz="2000" dirty="0" err="1"/>
              <a:t>Холидей</a:t>
            </a:r>
            <a:r>
              <a:rPr lang="ru-RU" altLang="ru-RU" sz="2000" dirty="0"/>
              <a:t>, 50 шт. </a:t>
            </a:r>
          </a:p>
          <a:p>
            <a:pPr algn="ctr" eaLnBrk="1" hangingPunct="1"/>
            <a:endParaRPr lang="ru-RU" altLang="ru-RU" sz="2400" dirty="0"/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6750050" y="4140200"/>
            <a:ext cx="0" cy="519365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27550" y="4184650"/>
            <a:ext cx="2000250" cy="355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00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Заказы_чая</a:t>
            </a:r>
            <a:endParaRPr lang="ru-RU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5150" y="2762250"/>
            <a:ext cx="46228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/>
                </a:solidFill>
              </a:rPr>
              <a:t>Экземпляры набора Заказы</a:t>
            </a:r>
          </a:p>
        </p:txBody>
      </p:sp>
      <p:sp>
        <p:nvSpPr>
          <p:cNvPr id="47" name="Левая фигурная скобка 46"/>
          <p:cNvSpPr/>
          <p:nvPr/>
        </p:nvSpPr>
        <p:spPr>
          <a:xfrm rot="5400000">
            <a:off x="4416425" y="1406525"/>
            <a:ext cx="533400" cy="4044950"/>
          </a:xfrm>
          <a:prstGeom prst="leftBrace">
            <a:avLst>
              <a:gd name="adj1" fmla="val 64273"/>
              <a:gd name="adj2" fmla="val 48266"/>
            </a:avLst>
          </a:prstGeom>
          <a:ln w="25400">
            <a:solidFill>
              <a:srgbClr val="DE411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 animBg="1"/>
      <p:bldP spid="9" grpId="0" animBg="1"/>
      <p:bldP spid="5" grpId="0"/>
      <p:bldP spid="14" grpId="0"/>
      <p:bldP spid="27" grpId="0" animBg="1"/>
      <p:bldP spid="29" grpId="0" animBg="1"/>
      <p:bldP spid="35" grpId="0" animBg="1"/>
      <p:bldP spid="38" grpId="0"/>
      <p:bldP spid="40" grpId="0" animBg="1"/>
      <p:bldP spid="41" grpId="0" animBg="1"/>
      <p:bldP spid="43" grpId="0" animBg="1"/>
      <p:bldP spid="45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115889"/>
            <a:ext cx="8229600" cy="648816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Сингулярный набор</a:t>
            </a:r>
          </a:p>
        </p:txBody>
      </p:sp>
      <p:sp>
        <p:nvSpPr>
          <p:cNvPr id="13315" name="Объект 2"/>
          <p:cNvSpPr>
            <a:spLocks/>
          </p:cNvSpPr>
          <p:nvPr/>
        </p:nvSpPr>
        <p:spPr bwMode="auto">
          <a:xfrm>
            <a:off x="0" y="764704"/>
            <a:ext cx="9144000" cy="5977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>
            <a:lvl1pPr marL="609600" indent="-609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Среди всех наборов выделяют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специальный тип набора</a:t>
            </a:r>
            <a:r>
              <a:rPr lang="ru-RU" sz="2000" dirty="0"/>
              <a:t>, называемый «</a:t>
            </a:r>
            <a:r>
              <a:rPr lang="ru-RU" sz="2000" dirty="0">
                <a:solidFill>
                  <a:srgbClr val="FF0000"/>
                </a:solidFill>
              </a:rPr>
              <a:t>сингулярным набором</a:t>
            </a:r>
            <a:r>
              <a:rPr lang="ru-RU" sz="2000" dirty="0"/>
              <a:t>», владельцем которого формально определена вся система. 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Сингулярный набор изображается в виде входящей стрелки, которая имеет собственно имя набора и имя члена набора, но у которой не определен тип записи "Владелец набора". 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Например, сингулярный набор М.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Сингулярные наборы позволяют </a:t>
            </a:r>
            <a:r>
              <a:rPr lang="ru-RU" sz="2000" dirty="0">
                <a:solidFill>
                  <a:srgbClr val="FF0000"/>
                </a:solidFill>
              </a:rPr>
              <a:t>обеспечить доступ к экземплярам отдельных типов данных</a:t>
            </a:r>
            <a:r>
              <a:rPr lang="ru-RU" sz="2000" dirty="0"/>
              <a:t>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Если алгоритм обработки информации предполагает обеспечение произвольного доступа к некоторому типу записи, то для поддержки этой возможности необходимо ввести соответствующий сингулярный набор.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r>
              <a:rPr lang="ru-RU" sz="2000" dirty="0"/>
              <a:t>В общем случае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сетевая база данных </a:t>
            </a:r>
            <a:r>
              <a:rPr lang="ru-RU" sz="2000" dirty="0"/>
              <a:t>представляет совокупность взаимосвязанных наборов, которые образуют на </a:t>
            </a:r>
            <a:r>
              <a:rPr lang="ru-RU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концептуальном уровне граф произвольной структуры.</a:t>
            </a:r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sz="2000" dirty="0"/>
          </a:p>
          <a:p>
            <a:pPr>
              <a:lnSpc>
                <a:spcPct val="100000"/>
              </a:lnSpc>
              <a:buFont typeface="Wingdings" pitchFamily="2" charset="2"/>
              <a:buChar char="n"/>
            </a:pPr>
            <a:endParaRPr lang="ru-RU" altLang="ru-RU" sz="2000" dirty="0"/>
          </a:p>
          <a:p>
            <a:pPr>
              <a:lnSpc>
                <a:spcPct val="100000"/>
              </a:lnSpc>
            </a:pPr>
            <a:endParaRPr lang="ru-RU" altLang="ru-RU" dirty="0"/>
          </a:p>
        </p:txBody>
      </p:sp>
      <p:sp>
        <p:nvSpPr>
          <p:cNvPr id="13327" name="Номер слайда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960E1CB4-B52B-43B7-8F6F-489804C226DB}" type="slidenum">
              <a:rPr lang="ru-RU" altLang="ru-RU" sz="1200" smtClean="0">
                <a:latin typeface="Arial Black" pitchFamily="34" charset="0"/>
              </a:rPr>
              <a:pPr eaLnBrk="1" hangingPunct="1"/>
              <a:t>13</a:t>
            </a:fld>
            <a:endParaRPr lang="ru-RU" altLang="ru-RU" sz="1200">
              <a:latin typeface="Arial Black" pitchFamily="34" charset="0"/>
            </a:endParaRPr>
          </a:p>
        </p:txBody>
      </p:sp>
      <p:pic>
        <p:nvPicPr>
          <p:cNvPr id="1026" name="Picture 2" descr="03_06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399768"/>
            <a:ext cx="1685375" cy="140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648"/>
            <a:ext cx="7848600" cy="574675"/>
          </a:xfrm>
        </p:spPr>
        <p:txBody>
          <a:bodyPr/>
          <a:lstStyle/>
          <a:p>
            <a:pPr algn="ctr" eaLnBrk="1" hangingPunct="1"/>
            <a:r>
              <a:rPr lang="ru-RU" altLang="ru-RU" sz="3200">
                <a:solidFill>
                  <a:schemeClr val="bg2"/>
                </a:solidFill>
              </a:rPr>
              <a:t>Цикл </a:t>
            </a:r>
            <a:r>
              <a:rPr lang="ru-RU" altLang="ru-RU" sz="3200" dirty="0">
                <a:solidFill>
                  <a:schemeClr val="bg2"/>
                </a:solidFill>
              </a:rPr>
              <a:t>и набор с несколькими записями</a:t>
            </a:r>
          </a:p>
        </p:txBody>
      </p:sp>
      <p:sp>
        <p:nvSpPr>
          <p:cNvPr id="12295" name="Номер слайда 6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EB0168-E9CD-4338-B79D-96694C9264F8}" type="slidenum">
              <a:rPr lang="ru-RU" altLang="ru-RU" sz="1200" smtClean="0">
                <a:latin typeface="Arial Black" pitchFamily="34" charset="0"/>
              </a:rPr>
              <a:pPr eaLnBrk="1" hangingPunct="1"/>
              <a:t>14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0" y="2895600"/>
            <a:ext cx="211245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КОНТРАКТЫ</a:t>
            </a:r>
          </a:p>
        </p:txBody>
      </p: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2927350" y="138430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КОНТРАКТ </a:t>
            </a:r>
          </a:p>
        </p:txBody>
      </p:sp>
      <p:sp>
        <p:nvSpPr>
          <p:cNvPr id="24" name="TextBox 2"/>
          <p:cNvSpPr txBox="1">
            <a:spLocks noChangeArrowheads="1"/>
          </p:cNvSpPr>
          <p:nvPr/>
        </p:nvSpPr>
        <p:spPr bwMode="auto">
          <a:xfrm>
            <a:off x="2260600" y="5295900"/>
            <a:ext cx="3244850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ПРЕДПРИЯТИЕ</a:t>
            </a:r>
          </a:p>
        </p:txBody>
      </p:sp>
      <p:cxnSp>
        <p:nvCxnSpPr>
          <p:cNvPr id="26" name="Прямая со стрелкой 25"/>
          <p:cNvCxnSpPr>
            <a:stCxn id="23" idx="2"/>
            <a:endCxn id="31" idx="0"/>
          </p:cNvCxnSpPr>
          <p:nvPr/>
        </p:nvCxnSpPr>
        <p:spPr>
          <a:xfrm rot="5400000">
            <a:off x="3213823" y="2485666"/>
            <a:ext cx="1353268" cy="1588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2"/>
          <p:cNvSpPr txBox="1">
            <a:spLocks noChangeArrowheads="1"/>
          </p:cNvSpPr>
          <p:nvPr/>
        </p:nvSpPr>
        <p:spPr bwMode="auto">
          <a:xfrm>
            <a:off x="2927350" y="316230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ИЗДЕЛИЕ</a:t>
            </a:r>
          </a:p>
        </p:txBody>
      </p:sp>
      <p:cxnSp>
        <p:nvCxnSpPr>
          <p:cNvPr id="33" name="Прямая со стрелкой 32"/>
          <p:cNvCxnSpPr>
            <a:stCxn id="31" idx="2"/>
            <a:endCxn id="24" idx="0"/>
          </p:cNvCxnSpPr>
          <p:nvPr/>
        </p:nvCxnSpPr>
        <p:spPr>
          <a:xfrm rot="5400000">
            <a:off x="3032307" y="4437750"/>
            <a:ext cx="1708868" cy="7432"/>
          </a:xfrm>
          <a:prstGeom prst="straightConnector1">
            <a:avLst/>
          </a:prstGeom>
          <a:ln w="38100">
            <a:solidFill>
              <a:schemeClr val="bg2">
                <a:lumMod val="60000"/>
                <a:lumOff val="40000"/>
              </a:schemeClr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83050" y="1828800"/>
            <a:ext cx="3289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Элементы контракта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8600" y="4406900"/>
            <a:ext cx="3047413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ИЗГОТОВИТЕЛЬ</a:t>
            </a:r>
          </a:p>
        </p:txBody>
      </p:sp>
      <p:cxnSp>
        <p:nvCxnSpPr>
          <p:cNvPr id="35" name="Соединительная линия уступом 34"/>
          <p:cNvCxnSpPr>
            <a:stCxn id="24" idx="1"/>
            <a:endCxn id="23" idx="1"/>
          </p:cNvCxnSpPr>
          <p:nvPr/>
        </p:nvCxnSpPr>
        <p:spPr>
          <a:xfrm rot="10800000" flipH="1">
            <a:off x="2260600" y="1596666"/>
            <a:ext cx="666750" cy="3911600"/>
          </a:xfrm>
          <a:prstGeom prst="bentConnector3">
            <a:avLst>
              <a:gd name="adj1" fmla="val -34286"/>
            </a:avLst>
          </a:prstGeom>
          <a:ln w="3810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2"/>
          <p:cNvSpPr txBox="1">
            <a:spLocks noChangeArrowheads="1"/>
          </p:cNvSpPr>
          <p:nvPr/>
        </p:nvSpPr>
        <p:spPr bwMode="auto">
          <a:xfrm>
            <a:off x="6350000" y="3340100"/>
            <a:ext cx="1926214" cy="424732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altLang="ru-RU" sz="2400" dirty="0"/>
              <a:t>МАТЕРИАЛ</a:t>
            </a:r>
          </a:p>
        </p:txBody>
      </p:sp>
      <p:cxnSp>
        <p:nvCxnSpPr>
          <p:cNvPr id="54" name="Соединительная линия уступом 53"/>
          <p:cNvCxnSpPr/>
          <p:nvPr/>
        </p:nvCxnSpPr>
        <p:spPr>
          <a:xfrm>
            <a:off x="3905250" y="2362200"/>
            <a:ext cx="3407857" cy="924284"/>
          </a:xfrm>
          <a:prstGeom prst="bentConnector2">
            <a:avLst/>
          </a:prstGeom>
          <a:ln w="38100">
            <a:solidFill>
              <a:srgbClr val="33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animBg="1"/>
      <p:bldP spid="24" grpId="0" animBg="1"/>
      <p:bldP spid="31" grpId="0" animBg="1"/>
      <p:bldP spid="34" grpId="0"/>
      <p:bldP spid="36" grpId="0"/>
      <p:bldP spid="5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Компоненты СУБД сетевой модели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2800" dirty="0"/>
              <a:t>Язык описания данных схемы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Язык описания данных подсхемы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Язык манипулирования данными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Резидентный модуль СУБД</a:t>
            </a:r>
          </a:p>
          <a:p>
            <a:pPr>
              <a:lnSpc>
                <a:spcPct val="150000"/>
              </a:lnSpc>
            </a:pPr>
            <a:r>
              <a:rPr lang="ru-RU" sz="2800" dirty="0"/>
              <a:t>Язык управления размещением на внешних носителях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15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Схема данных. База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989158" cy="585927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800" dirty="0"/>
              <a:t>Слово СХЕМА (</a:t>
            </a:r>
            <a:r>
              <a:rPr lang="en-US" sz="2800" dirty="0"/>
              <a:t>SCHEMA) </a:t>
            </a:r>
            <a:r>
              <a:rPr lang="ru-RU" sz="2800" dirty="0"/>
              <a:t>не получило широкого распространения  в английском языке. </a:t>
            </a:r>
            <a:endParaRPr lang="en-US" sz="2800" dirty="0"/>
          </a:p>
          <a:p>
            <a:pPr>
              <a:lnSpc>
                <a:spcPct val="100000"/>
              </a:lnSpc>
            </a:pPr>
            <a:r>
              <a:rPr lang="ru-RU" sz="2800" dirty="0"/>
              <a:t>В терминологию обработки данных оно проникло в конце 60-х годов 20-го столетия в результате деятельности  КОДАСИЛ(</a:t>
            </a:r>
            <a:r>
              <a:rPr lang="en-US" sz="2800" dirty="0"/>
              <a:t>CODASYL</a:t>
            </a:r>
            <a:r>
              <a:rPr lang="ru-RU" sz="2800" dirty="0"/>
              <a:t>)</a:t>
            </a:r>
            <a:r>
              <a:rPr lang="en-US" sz="2800" dirty="0"/>
              <a:t> </a:t>
            </a:r>
            <a:r>
              <a:rPr lang="ru-RU" sz="2800" dirty="0"/>
              <a:t> и РГБД.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Краткий Оксфордский словарь определяет слово СХЕМА как существительное имеющее следующее значение: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конспект, диаграмма, контур,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(логика) силлогический символ,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(риторика) фигуральное выражение,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(кантианская философия)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общий тип, основная форма, концепция явления общая для всех членов некоторого класса</a:t>
            </a:r>
            <a:r>
              <a:rPr lang="ru-RU" sz="2400" dirty="0"/>
              <a:t>.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Последнее определение ближе всего к нашему использованию термина</a:t>
            </a:r>
          </a:p>
          <a:p>
            <a:pPr marL="342900" lvl="1" indent="-342900">
              <a:lnSpc>
                <a:spcPct val="10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/>
              <a:t>РГБД определило </a:t>
            </a:r>
            <a:r>
              <a:rPr lang="ru-RU" dirty="0">
                <a:solidFill>
                  <a:schemeClr val="bg2"/>
                </a:solidFill>
              </a:rPr>
              <a:t>СХЕМУ</a:t>
            </a:r>
            <a:r>
              <a:rPr lang="ru-RU" dirty="0"/>
              <a:t> как </a:t>
            </a:r>
            <a:r>
              <a:rPr lang="ru-RU" dirty="0">
                <a:solidFill>
                  <a:schemeClr val="bg2"/>
                </a:solidFill>
              </a:rPr>
              <a:t>описание базы данных</a:t>
            </a:r>
          </a:p>
          <a:p>
            <a:pPr marL="342900" lvl="1" indent="-342900">
              <a:lnSpc>
                <a:spcPct val="10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solidFill>
                  <a:schemeClr val="bg2"/>
                </a:solidFill>
              </a:rPr>
              <a:t>База данных </a:t>
            </a:r>
            <a:r>
              <a:rPr lang="ru-RU" dirty="0"/>
              <a:t>– набор записей произвольного вида, содержащий перекрестные ссылки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16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Язык описания данных СХЕМЫ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800" dirty="0"/>
              <a:t>Язык описания данных Схемы (ЯОД СХЕМЫ) является самостоятельным языком и определяет структуры базы данных, т.е. СХЕМЫ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ЯОД СХЕМЫ не определяет процессы обработки данных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ОН не позволяет указать объем содержимого БД или даже размер внешней памяти, отводимой под БД 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Теоретически одной схеме может соответствовать несколько баз данных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На практике всегда одной СХЕМЕ соответствует одна БАЗА ДАННЫХ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17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Понятие ПОДСХЕМЫ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2800" dirty="0"/>
              <a:t>Подсхема – часть СХЕМЫ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Для одной СХЕМЫ может существовать несколько подсхем 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Эти подсхемы могут перекрываться, т.е. один и тот же тип записи допускается включать в разные подсхемы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СХЕМА – взгляд АБД, подсхема – взгляд прикладного программиста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ЯОД подсхемы считается принадлежащим определенному языку программирования (ЯОД Фортрана, ЯОД Кобола и т.д.)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215338" y="6248400"/>
            <a:ext cx="471462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18</a:t>
            </a:fld>
            <a:endParaRPr lang="ru-RU" altLang="ru-RU" sz="1200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0"/>
            <a:ext cx="9147883" cy="720725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Язык манипулирования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54842" y="998730"/>
            <a:ext cx="8782643" cy="561657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800" dirty="0"/>
              <a:t>Языком манипулирования РГБД назвала </a:t>
            </a:r>
            <a:r>
              <a:rPr lang="ru-RU" alt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набор операторов добавляемых</a:t>
            </a:r>
            <a:r>
              <a:rPr lang="ru-RU" altLang="ru-RU" sz="2800" dirty="0"/>
              <a:t> к </a:t>
            </a:r>
            <a:r>
              <a:rPr lang="ru-RU" alt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существующему языку </a:t>
            </a:r>
            <a:r>
              <a:rPr lang="ru-RU" altLang="ru-RU" sz="2800" dirty="0">
                <a:solidFill>
                  <a:schemeClr val="bg2"/>
                </a:solidFill>
              </a:rPr>
              <a:t>программирования </a:t>
            </a:r>
            <a:r>
              <a:rPr lang="ru-RU" altLang="ru-RU" sz="2800" dirty="0"/>
              <a:t>(включающему языку), позволяющий использовать </a:t>
            </a:r>
            <a:r>
              <a:rPr lang="ru-RU" alt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последний</a:t>
            </a:r>
            <a:r>
              <a:rPr lang="ru-RU" altLang="ru-RU" sz="2800" dirty="0"/>
              <a:t> для обработки данных в базе данных</a:t>
            </a:r>
          </a:p>
          <a:p>
            <a:pPr>
              <a:lnSpc>
                <a:spcPct val="100000"/>
              </a:lnSpc>
            </a:pPr>
            <a:r>
              <a:rPr lang="ru-RU" altLang="ru-RU" sz="2800" dirty="0"/>
              <a:t> Термин включающий язык (</a:t>
            </a:r>
            <a:r>
              <a:rPr lang="en-US" altLang="ru-RU" sz="2800" dirty="0">
                <a:solidFill>
                  <a:schemeClr val="bg2"/>
                </a:solidFill>
              </a:rPr>
              <a:t>host language</a:t>
            </a:r>
            <a:r>
              <a:rPr lang="en-US" altLang="ru-RU" sz="2800" dirty="0"/>
              <a:t>) </a:t>
            </a:r>
            <a:r>
              <a:rPr lang="ru-RU" altLang="ru-RU" sz="2800" dirty="0"/>
              <a:t>впервые был применен </a:t>
            </a:r>
            <a:r>
              <a:rPr lang="ru-RU" altLang="ru-RU" sz="2800" dirty="0" err="1"/>
              <a:t>Олле</a:t>
            </a:r>
            <a:r>
              <a:rPr lang="ru-RU" altLang="ru-RU" sz="2800" dirty="0"/>
              <a:t> Т.В. в</a:t>
            </a:r>
            <a:r>
              <a:rPr lang="en-US" altLang="ru-RU" sz="2800" dirty="0"/>
              <a:t> 1969 </a:t>
            </a:r>
            <a:r>
              <a:rPr lang="ru-RU" altLang="ru-RU" sz="2800" dirty="0"/>
              <a:t>г.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Рассматривались 2 подхода к реализации СУБД с включающим языком: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Использование стандартных версий языков программирования. Для извлечения данных из БД программист обращается помощью операторов </a:t>
            </a:r>
            <a:r>
              <a:rPr lang="en-US" sz="2400" dirty="0"/>
              <a:t>CALL </a:t>
            </a:r>
            <a:r>
              <a:rPr lang="ru-RU" sz="2400" dirty="0"/>
              <a:t>к БД из программы на включающем языке.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Изменение существующего языка (Кобол, ПЛ/1) с включением операторов работы с БД</a:t>
            </a: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endParaRPr lang="ru-RU" sz="24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2450" y="6248400"/>
            <a:ext cx="51435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19</a:t>
            </a:fld>
            <a:endParaRPr lang="ru-RU" altLang="ru-RU" sz="1200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1"/>
            <a:ext cx="9147883" cy="619010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Резидентный исполнительный модуль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2550" y="850900"/>
            <a:ext cx="8937485" cy="576440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800" dirty="0"/>
              <a:t>Разработчик СУБД должен кроме компонент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Транслятор ЯОД СХЕМЫ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Транслятор ЯОД ПОДСХЕМЫ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Предтранслятор ЯМД (Кобол или Фортран или…)</a:t>
            </a:r>
          </a:p>
          <a:p>
            <a:pPr>
              <a:lnSpc>
                <a:spcPct val="100000"/>
              </a:lnSpc>
              <a:buNone/>
            </a:pPr>
            <a:r>
              <a:rPr lang="ru-RU" altLang="ru-RU" sz="2800" dirty="0"/>
              <a:t>	реализовать </a:t>
            </a:r>
            <a:r>
              <a:rPr lang="ru-RU" altLang="ru-RU" sz="2800" dirty="0">
                <a:solidFill>
                  <a:schemeClr val="bg2"/>
                </a:solidFill>
              </a:rPr>
              <a:t>исполнительный компонент</a:t>
            </a:r>
            <a:r>
              <a:rPr lang="ru-RU" altLang="ru-RU" sz="2800" dirty="0"/>
              <a:t>, названый РГБД «управляющей системой базы данных» - </a:t>
            </a:r>
            <a:r>
              <a:rPr lang="en-US" altLang="ru-RU" sz="2800" dirty="0"/>
              <a:t>Data Base Control System</a:t>
            </a:r>
            <a:endParaRPr lang="ru-RU" altLang="ru-RU" sz="2800" dirty="0"/>
          </a:p>
          <a:p>
            <a:pPr>
              <a:lnSpc>
                <a:spcPct val="100000"/>
              </a:lnSpc>
            </a:pPr>
            <a:r>
              <a:rPr lang="ru-RU" altLang="ru-RU" sz="2800" dirty="0"/>
              <a:t> Все программы, обращающиеся к БД, вызывают исполнительный модуль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Таким образом этот модуль должен иметь реентерабельный код</a:t>
            </a:r>
          </a:p>
          <a:p>
            <a:r>
              <a:rPr lang="ru-RU" sz="2800" dirty="0"/>
              <a:t>Для обеспечения реентерабельности необходимо выполнение нескольких условий: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/>
              <a:t>никакая часть вызываемого кода не должна модифицироваться;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/>
              <a:t>вызываемая процедура не должна сохранять информацию между вызовами;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/>
              <a:t>если процедура изменяет какие-либо данные, то они должны быть уникальными для каждого пользователя;</a:t>
            </a:r>
          </a:p>
          <a:p>
            <a:pPr lvl="1">
              <a:buFont typeface="Wingdings" pitchFamily="2" charset="2"/>
              <a:buChar char="v"/>
            </a:pPr>
            <a:r>
              <a:rPr lang="ru-RU" sz="2400" dirty="0"/>
              <a:t>процедура не должна возвращать указатели на объекты, общие для разных пользователей.</a:t>
            </a:r>
          </a:p>
          <a:p>
            <a:pPr>
              <a:lnSpc>
                <a:spcPct val="100000"/>
              </a:lnSpc>
            </a:pPr>
            <a:endParaRPr lang="ru-RU" sz="28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2450" y="6248400"/>
            <a:ext cx="51435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20</a:t>
            </a:fld>
            <a:endParaRPr lang="ru-RU" altLang="ru-RU" sz="1200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27000" y="276341"/>
            <a:ext cx="8712200" cy="930159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Язык управления размещением </a:t>
            </a:r>
            <a:br>
              <a:rPr lang="ru-RU" sz="2800" dirty="0">
                <a:solidFill>
                  <a:schemeClr val="bg2"/>
                </a:solidFill>
              </a:rPr>
            </a:br>
            <a:r>
              <a:rPr lang="ru-RU" sz="2800" dirty="0">
                <a:solidFill>
                  <a:schemeClr val="bg2"/>
                </a:solidFill>
              </a:rPr>
              <a:t>на внешних носителях (ЯУВН)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5901" y="1606551"/>
            <a:ext cx="8845549" cy="466724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altLang="ru-RU" sz="2800" dirty="0"/>
              <a:t>ЯУВН – компонент СУБД, который выполняет следующие функции: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Взаимодействие с операционной системой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Отображение частей базы данных на запоминающие устройства прямого доступа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Упаковка записей базы данных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v"/>
            </a:pPr>
            <a:r>
              <a:rPr lang="ru-RU" altLang="ru-RU" sz="2400" dirty="0"/>
              <a:t>Средства восстановления базы данных</a:t>
            </a:r>
            <a:endParaRPr lang="ru-RU" altLang="ru-RU" sz="2800" dirty="0"/>
          </a:p>
          <a:p>
            <a:pPr>
              <a:lnSpc>
                <a:spcPct val="100000"/>
              </a:lnSpc>
            </a:pPr>
            <a:r>
              <a:rPr lang="ru-RU" sz="2800" dirty="0"/>
              <a:t>Это второй уровень определения данных</a:t>
            </a:r>
          </a:p>
          <a:p>
            <a:pPr>
              <a:lnSpc>
                <a:spcPct val="100000"/>
              </a:lnSpc>
            </a:pPr>
            <a:r>
              <a:rPr lang="ru-RU" sz="2800" dirty="0"/>
              <a:t>Первый уровень – ЯОД (СХЕМА ДАННЫХ)</a:t>
            </a:r>
            <a:endParaRPr lang="ru-RU" sz="2400" dirty="0"/>
          </a:p>
          <a:p>
            <a:pPr>
              <a:lnSpc>
                <a:spcPct val="100000"/>
              </a:lnSpc>
            </a:pPr>
            <a:endParaRPr lang="ru-RU" sz="28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72450" y="6248400"/>
            <a:ext cx="51435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21</a:t>
            </a:fld>
            <a:endParaRPr lang="ru-RU" altLang="ru-RU" sz="1200" dirty="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142991"/>
            <a:ext cx="9147883" cy="574560"/>
          </a:xfrm>
        </p:spPr>
        <p:txBody>
          <a:bodyPr/>
          <a:lstStyle/>
          <a:p>
            <a:pPr algn="ctr"/>
            <a:r>
              <a:rPr lang="ru-RU" altLang="ru-RU" sz="3200" dirty="0">
                <a:solidFill>
                  <a:schemeClr val="bg2"/>
                </a:solidFill>
              </a:rPr>
              <a:t>Язык описания данных СХЕМЫ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27000" y="673100"/>
            <a:ext cx="8972550" cy="609600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2800" dirty="0"/>
              <a:t>Язык описания данных имеет несколько разделов: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описание базы данных — области размещения;</a:t>
            </a:r>
          </a:p>
          <a:p>
            <a:pPr>
              <a:lnSpc>
                <a:spcPct val="120000"/>
              </a:lnSpc>
              <a:buNone/>
            </a:pPr>
            <a:r>
              <a:rPr lang="ru-RU" sz="1600" dirty="0"/>
              <a:t>Статья схемы </a:t>
            </a:r>
            <a:r>
              <a:rPr lang="ru-RU" sz="2800" dirty="0">
                <a:solidFill>
                  <a:srgbClr val="3333FF"/>
                </a:solidFill>
              </a:rPr>
              <a:t>SCHEMA  IS  &lt;Имя БД&gt;.</a:t>
            </a:r>
          </a:p>
          <a:p>
            <a:pPr>
              <a:lnSpc>
                <a:spcPct val="120000"/>
              </a:lnSpc>
              <a:buNone/>
            </a:pPr>
            <a:r>
              <a:rPr lang="ru-RU" sz="1600" dirty="0"/>
              <a:t>Статья области </a:t>
            </a:r>
            <a:r>
              <a:rPr lang="ru-RU" sz="2400" dirty="0">
                <a:solidFill>
                  <a:srgbClr val="3333FF"/>
                </a:solidFill>
              </a:rPr>
              <a:t>AREA  NAME  IS &lt;Имя физической области&gt;.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описания записей — элементов и агрегатов (каждого в отдельности);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ru-RU" dirty="0"/>
              <a:t>описания наборов (каждого в отдельности).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/>
              <a:t>Так как сетевая модель данных разрабатывалась в то время, когда для программирования бизнес-приложений использовался язык Кобол, а потом и ПЛ/1, то основной структурной единицей стала ЗАПИСЬ 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/>
              <a:t>В описании базы данных может не быть наборов, но должна быть хотя одна ЗАПИСЬ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/>
              <a:t> Программа оперирует записями: считывает или записывает</a:t>
            </a:r>
          </a:p>
          <a:p>
            <a:pPr marL="342900" lvl="1" indent="-342900">
              <a:lnSpc>
                <a:spcPct val="12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22</a:t>
            </a:fld>
            <a:endParaRPr lang="ru-RU" altLang="ru-RU" sz="1200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altLang="ru-RU" sz="3600" dirty="0">
                <a:solidFill>
                  <a:schemeClr val="bg2"/>
                </a:solidFill>
              </a:rPr>
              <a:t>Описание записи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773705"/>
            <a:ext cx="9036050" cy="583339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u="sng" dirty="0"/>
              <a:t>RECORD</a:t>
            </a:r>
            <a:r>
              <a:rPr lang="ru-RU" sz="2400" dirty="0"/>
              <a:t>  NAME  IS &lt;Имя записи (уникальное)&gt;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/>
              <a:t>Для каждой записи определяется способ размещения экземпляров записи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данного типа</a:t>
            </a:r>
            <a:r>
              <a:rPr lang="ru-RU" sz="24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     	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		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DIRECT</a:t>
            </a:r>
            <a:r>
              <a:rPr lang="en-US" sz="2400" dirty="0"/>
              <a:t> (</a:t>
            </a:r>
            <a:r>
              <a:rPr lang="ru-RU" sz="2400" dirty="0"/>
              <a:t>напрямую по некоторому физ.адресу</a:t>
            </a:r>
            <a:r>
              <a:rPr lang="en-US" sz="2400" dirty="0"/>
              <a:t>)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endParaRPr lang="ru-RU" sz="2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 </a:t>
            </a:r>
            <a:r>
              <a:rPr lang="en-US" sz="2400" u="sng" dirty="0">
                <a:solidFill>
                  <a:schemeClr val="bg2"/>
                </a:solidFill>
              </a:rPr>
              <a:t>LOCATION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ru-RU" sz="2400" dirty="0">
                <a:solidFill>
                  <a:schemeClr val="bg2"/>
                </a:solidFill>
              </a:rPr>
              <a:t>	</a:t>
            </a:r>
            <a:r>
              <a:rPr lang="ru-RU" sz="2200" dirty="0"/>
              <a:t>| </a:t>
            </a:r>
            <a:r>
              <a:rPr lang="ru-RU" sz="2200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CALC</a:t>
            </a:r>
            <a:r>
              <a:rPr lang="ru-RU" sz="2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2200" dirty="0"/>
              <a:t>&lt;Имя программы&gt; USING &lt;[Список пер.&gt;] </a:t>
            </a:r>
            <a:endParaRPr lang="ru-RU" sz="22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MODE </a:t>
            </a:r>
            <a:r>
              <a:rPr lang="en-US" sz="2400" dirty="0"/>
              <a:t>IS</a:t>
            </a:r>
            <a:r>
              <a:rPr lang="ru-RU" sz="2400" dirty="0"/>
              <a:t>              	DUPLICATE ARE [NOT] ALLOWED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		</a:t>
            </a:r>
            <a:r>
              <a:rPr lang="ru-RU" sz="2400" u="sng" dirty="0">
                <a:solidFill>
                  <a:srgbClr val="3333FF"/>
                </a:solidFill>
              </a:rPr>
              <a:t>VIA</a:t>
            </a:r>
            <a:r>
              <a:rPr lang="ru-RU" sz="2400" dirty="0"/>
              <a:t> &lt;Имя набора&gt; SET </a:t>
            </a:r>
            <a:br>
              <a:rPr lang="ru-RU" sz="2400" dirty="0"/>
            </a:br>
            <a:r>
              <a:rPr lang="ru-RU" sz="2400" dirty="0"/>
              <a:t>			(рядом с записями владельца)  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		</a:t>
            </a:r>
            <a:r>
              <a:rPr lang="ru-RU" sz="2400" u="sng" dirty="0">
                <a:solidFill>
                  <a:srgbClr val="3333FF"/>
                </a:solidFill>
              </a:rPr>
              <a:t>SYSTEM</a:t>
            </a:r>
            <a:r>
              <a:rPr lang="ru-RU" sz="2400" dirty="0"/>
              <a:t> (решать будет система)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  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ru-RU" sz="240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2400" dirty="0"/>
              <a:t>Каждый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тип записи </a:t>
            </a:r>
            <a:r>
              <a:rPr lang="ru-RU" sz="2400" dirty="0"/>
              <a:t>должен быть приписан к некоторой физической области размещения: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2400" dirty="0"/>
              <a:t>	</a:t>
            </a:r>
            <a:r>
              <a:rPr lang="ru-RU" sz="2400" dirty="0">
                <a:solidFill>
                  <a:schemeClr val="bg2"/>
                </a:solidFill>
              </a:rPr>
              <a:t>WITHIN</a:t>
            </a:r>
            <a:r>
              <a:rPr lang="ru-RU" sz="2400" dirty="0"/>
              <a:t> &lt;Имя области размещения&gt; </a:t>
            </a:r>
            <a:r>
              <a:rPr lang="ru-RU" sz="2400" dirty="0">
                <a:solidFill>
                  <a:schemeClr val="bg2"/>
                </a:solidFill>
              </a:rPr>
              <a:t>AREA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23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6" name="Левая фигурная скобка 5"/>
          <p:cNvSpPr/>
          <p:nvPr/>
        </p:nvSpPr>
        <p:spPr>
          <a:xfrm>
            <a:off x="1646675" y="2168860"/>
            <a:ext cx="360040" cy="2340260"/>
          </a:xfrm>
          <a:prstGeom prst="leftBrace">
            <a:avLst>
              <a:gd name="adj1" fmla="val 76472"/>
              <a:gd name="adj2" fmla="val 49524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авая фигурная скобка 7"/>
          <p:cNvSpPr/>
          <p:nvPr/>
        </p:nvSpPr>
        <p:spPr>
          <a:xfrm>
            <a:off x="8148911" y="2096733"/>
            <a:ext cx="495055" cy="2475275"/>
          </a:xfrm>
          <a:prstGeom prst="rightBrace">
            <a:avLst>
              <a:gd name="adj1" fmla="val 62394"/>
              <a:gd name="adj2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21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Описание элементов данных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638691"/>
            <a:ext cx="9036050" cy="596840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sz="2400" dirty="0"/>
              <a:t>После описания записи в целом идет описание внутренней структуры: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	</a:t>
            </a:r>
            <a:r>
              <a:rPr lang="ru-RU" sz="2400" dirty="0">
                <a:solidFill>
                  <a:srgbClr val="C00000"/>
                </a:solidFill>
              </a:rPr>
              <a:t>&lt;Имя уровня&gt; &lt;Имя данного&gt; &lt;Шаблон&gt; &lt;Тип&gt;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Номер уровня определяет уровень вложенности при описании элементов и агрегатов данных.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Первый уровень — сама запись.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Поэтому элементы или агрегаты данных имеют уровень начиная со второго.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Если данное соответствует агрегату, то любая его составляющая добавляет один уровень вложенности.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Если агрегат является вектором, то он описывается как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	&lt;Номер уровня&gt; &lt;Имя агрегата&gt;.&lt;Номер уровня&gt;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	&lt;Имя 1-й сост.&gt;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а если — повторяющейся группой, то следующим образом: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	&lt;Номер уровня&gt; &lt;Имя агрегата&gt;.OCCURS &lt;N&gt; TIMES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где N — среднее количество элементов в группе.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24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4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Пример 1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0708" y="818711"/>
            <a:ext cx="9033292" cy="567062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RECORD  NAME  IS </a:t>
            </a:r>
            <a:r>
              <a:rPr lang="ru-RU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СЛУЖАЩИЙ;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LOCATION  MODE IS CALC USING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НОМЕР-СЛУЖ;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WITHIN 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ОБЛАСТЬ 1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 </a:t>
            </a:r>
            <a:r>
              <a:rPr lang="ru-RU" sz="2400" dirty="0"/>
              <a:t>02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НОМЕР-СЛУЖ; </a:t>
            </a:r>
            <a:r>
              <a:rPr lang="en-US" sz="2400" dirty="0"/>
              <a:t>PICTURE IS 9(8).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ФАМИЛИЯ-СЛУЖ; </a:t>
            </a:r>
            <a:r>
              <a:rPr lang="en-US" sz="2400" dirty="0"/>
              <a:t>PICTURE IS </a:t>
            </a:r>
            <a:r>
              <a:rPr lang="ru-RU" sz="2400" dirty="0"/>
              <a:t>А</a:t>
            </a:r>
            <a:r>
              <a:rPr lang="en-US" sz="2400" dirty="0"/>
              <a:t>(</a:t>
            </a:r>
            <a:r>
              <a:rPr lang="ru-RU" sz="2400" dirty="0"/>
              <a:t>14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ДАТА-РОЖДЕНИЯ;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).</a:t>
            </a:r>
            <a:endParaRPr lang="ru-RU" sz="2400" dirty="0"/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  </a:t>
            </a:r>
            <a:r>
              <a:rPr lang="en-US" sz="2400" dirty="0"/>
              <a:t>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ЧИСЛО-СПЕЦ; </a:t>
            </a:r>
            <a:r>
              <a:rPr lang="en-US" sz="2400" dirty="0"/>
              <a:t>TYPE IS DECIMAL FIXED.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0</a:t>
            </a:r>
            <a:r>
              <a:rPr lang="ru-RU" sz="2400" dirty="0"/>
              <a:t>2</a:t>
            </a:r>
            <a:r>
              <a:rPr lang="en-US" sz="2400" dirty="0"/>
              <a:t>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ОБРАЗОВАНИЕ; </a:t>
            </a:r>
            <a:r>
              <a:rPr lang="en-US" sz="2400" dirty="0"/>
              <a:t>OCCURS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ЧИСЛО-СПЕЦ</a:t>
            </a:r>
            <a:r>
              <a:rPr lang="en-US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/>
              <a:t>TIMES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СПЕЦИАЛЬНОСТЬ;</a:t>
            </a:r>
            <a:r>
              <a:rPr lang="ru-RU" sz="2400" dirty="0"/>
              <a:t> </a:t>
            </a:r>
            <a:r>
              <a:rPr lang="en-US" sz="2400" dirty="0"/>
              <a:t>PICTURE IS X(5); </a:t>
            </a:r>
            <a:br>
              <a:rPr lang="en-US" sz="2400" dirty="0"/>
            </a:br>
            <a:r>
              <a:rPr lang="en-US" sz="2400" dirty="0"/>
              <a:t>	CHECK IS VALUE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Б.Ф.,М.Ф.,Б.М.И.,М.М.И., … Б.И.,   				М.И.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/>
              <a:t>      </a:t>
            </a:r>
            <a:r>
              <a:rPr lang="en-US" sz="2400" dirty="0"/>
              <a:t>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ДАТА-ЗАВЕРШ;</a:t>
            </a:r>
            <a:r>
              <a:rPr lang="ru-RU" sz="2400" dirty="0"/>
              <a:t> </a:t>
            </a:r>
            <a:r>
              <a:rPr lang="en-US" sz="2400" dirty="0"/>
              <a:t>PICTURE IS </a:t>
            </a:r>
            <a:r>
              <a:rPr lang="ru-RU" sz="2400" dirty="0"/>
              <a:t>9</a:t>
            </a:r>
            <a:r>
              <a:rPr lang="en-US" sz="2400" dirty="0"/>
              <a:t>(</a:t>
            </a:r>
            <a:r>
              <a:rPr lang="ru-RU" sz="2400" dirty="0"/>
              <a:t>6</a:t>
            </a:r>
            <a:r>
              <a:rPr lang="en-US" sz="2400" dirty="0"/>
              <a:t>);</a:t>
            </a:r>
            <a:br>
              <a:rPr lang="ru-RU" sz="2400" dirty="0"/>
            </a:br>
            <a:r>
              <a:rPr lang="ru-RU" sz="2400" dirty="0"/>
              <a:t>	</a:t>
            </a:r>
            <a:r>
              <a:rPr lang="en-US" sz="2400" dirty="0"/>
              <a:t> CHECK IS VALUE 13</a:t>
            </a:r>
            <a:r>
              <a:rPr lang="ru-RU" sz="2400" dirty="0"/>
              <a:t>0101 </a:t>
            </a:r>
            <a:r>
              <a:rPr lang="en-US" sz="2400" dirty="0"/>
              <a:t>THRU 960101</a:t>
            </a:r>
            <a:endParaRPr lang="ru-RU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      03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УЧЕБНОЕ-ЗАВЕД;</a:t>
            </a:r>
            <a:r>
              <a:rPr lang="ru-RU" sz="2400" dirty="0"/>
              <a:t> </a:t>
            </a:r>
            <a:r>
              <a:rPr lang="en-US" sz="2400" dirty="0"/>
              <a:t>PICTURE IS X(</a:t>
            </a:r>
            <a:r>
              <a:rPr lang="ru-RU" sz="2400" dirty="0"/>
              <a:t>14</a:t>
            </a:r>
            <a:r>
              <a:rPr lang="en-US" sz="2400" dirty="0"/>
              <a:t>); </a:t>
            </a:r>
            <a:endParaRPr lang="ru-RU" sz="2400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25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49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72072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Описание набора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1500" y="998730"/>
            <a:ext cx="8820980" cy="561657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800" dirty="0"/>
              <a:t>Описание набора и порядка включения членов в него выглядит следующим образом: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800" dirty="0"/>
              <a:t>	</a:t>
            </a:r>
            <a:r>
              <a:rPr lang="en-US" sz="2800" dirty="0">
                <a:solidFill>
                  <a:srgbClr val="C00000"/>
                </a:solidFill>
              </a:rPr>
              <a:t>SET NAME IS &lt;</a:t>
            </a:r>
            <a:r>
              <a:rPr lang="ru-RU" sz="2800" dirty="0">
                <a:solidFill>
                  <a:srgbClr val="C00000"/>
                </a:solidFill>
              </a:rPr>
              <a:t>Имя набора</a:t>
            </a:r>
            <a:r>
              <a:rPr lang="en-US" sz="2800" dirty="0">
                <a:solidFill>
                  <a:srgbClr val="C00000"/>
                </a:solidFill>
              </a:rPr>
              <a:t>&gt;;</a:t>
            </a:r>
            <a:endParaRPr lang="ru-RU" sz="2800" dirty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ru-RU" sz="2800" dirty="0">
                <a:solidFill>
                  <a:srgbClr val="C00000"/>
                </a:solidFill>
              </a:rPr>
              <a:t>	</a:t>
            </a:r>
            <a:r>
              <a:rPr lang="en-US" sz="2800" dirty="0">
                <a:solidFill>
                  <a:srgbClr val="C00000"/>
                </a:solidFill>
              </a:rPr>
              <a:t>OWNER IS (&lt;</a:t>
            </a:r>
            <a:r>
              <a:rPr lang="ru-RU" sz="2800" dirty="0">
                <a:solidFill>
                  <a:srgbClr val="C00000"/>
                </a:solidFill>
              </a:rPr>
              <a:t>Имя владельца</a:t>
            </a:r>
            <a:r>
              <a:rPr lang="en-US" sz="2800" dirty="0">
                <a:solidFill>
                  <a:srgbClr val="C00000"/>
                </a:solidFill>
              </a:rPr>
              <a:t>&gt; | SYSTEM).</a:t>
            </a:r>
            <a:r>
              <a:rPr lang="ru-RU" sz="2800" dirty="0">
                <a:solidFill>
                  <a:srgbClr val="C00000"/>
                </a:solidFill>
              </a:rPr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800" dirty="0"/>
              <a:t>Далее указывается способ размещения набора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ru-RU" sz="2800" dirty="0">
                <a:solidFill>
                  <a:srgbClr val="C00000"/>
                </a:solidFill>
              </a:rPr>
              <a:t>	</a:t>
            </a:r>
            <a:r>
              <a:rPr lang="en-US" sz="2800" dirty="0">
                <a:solidFill>
                  <a:srgbClr val="C00000"/>
                </a:solidFill>
              </a:rPr>
              <a:t>SET MODE IS   CHANE | LINKED TO  PRIOR 				      POINTER ARRAY</a:t>
            </a:r>
            <a:endParaRPr lang="ru-RU" sz="28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sz="2800" dirty="0"/>
              <a:t>Далее указывается порядок включения новых экземпляров члена данного набора в экземпляр набора: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800" dirty="0"/>
              <a:t>  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ORDER IS { PERMANENT </a:t>
            </a:r>
            <a:r>
              <a:rPr lang="en-US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TEMPORARY }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INSERTION IS{SORTED</a:t>
            </a:r>
            <a:r>
              <a:rPr lang="en-US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NEXT</a:t>
            </a:r>
            <a:r>
              <a:rPr lang="en-US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PRIOR</a:t>
            </a:r>
            <a:r>
              <a:rPr lang="en-US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LAST</a:t>
            </a:r>
            <a:r>
              <a:rPr lang="en-US" sz="28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|</a:t>
            </a:r>
            <a:r>
              <a:rPr lang="en-US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FIRST}</a:t>
            </a:r>
            <a:r>
              <a:rPr lang="ru-RU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2000" dirty="0">
              <a:solidFill>
                <a:srgbClr val="C00000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127394" y="6248400"/>
            <a:ext cx="559405" cy="51097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26</a:t>
            </a:fld>
            <a:endParaRPr lang="ru-RU" altLang="ru-RU" sz="1200" dirty="0">
              <a:latin typeface="Arial Black" pitchFamily="34" charset="0"/>
            </a:endParaRPr>
          </a:p>
        </p:txBody>
      </p:sp>
      <p:sp>
        <p:nvSpPr>
          <p:cNvPr id="2" name="Двойные фигурные скобки 1"/>
          <p:cNvSpPr/>
          <p:nvPr/>
        </p:nvSpPr>
        <p:spPr>
          <a:xfrm>
            <a:off x="3269649" y="3424537"/>
            <a:ext cx="4860540" cy="769548"/>
          </a:xfrm>
          <a:prstGeom prst="bracePair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223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98630"/>
            <a:ext cx="8748712" cy="585065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Описание набора        (2)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71500" y="638690"/>
            <a:ext cx="9036050" cy="5976615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ru-RU" sz="2400" dirty="0"/>
              <a:t>После этого описывается член набора с указанием способа включения и способа исключения экземпляра — члена набора из экземпляра набора.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   MEMBER IS &lt;Имя члена набора&gt; 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	</a:t>
            </a:r>
            <a:r>
              <a:rPr lang="en-US" sz="2400" dirty="0">
                <a:solidFill>
                  <a:srgbClr val="C00000"/>
                </a:solidFill>
              </a:rPr>
              <a:t>{AUTOMATIC | MANUAL} {MANDATORY | OPTIONAL} </a:t>
            </a:r>
            <a:endParaRPr lang="ru-RU" sz="2400" dirty="0">
              <a:solidFill>
                <a:srgbClr val="C00000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ru-RU" sz="2400" dirty="0">
                <a:solidFill>
                  <a:srgbClr val="C00000"/>
                </a:solidFill>
              </a:rPr>
              <a:t>   </a:t>
            </a:r>
            <a:r>
              <a:rPr lang="en-US" sz="2400" dirty="0">
                <a:solidFill>
                  <a:srgbClr val="C00000"/>
                </a:solidFill>
              </a:rPr>
              <a:t>KEY IS (ACCENDING | DESCENDING) </a:t>
            </a:r>
            <a:r>
              <a:rPr lang="en-US" sz="2000" dirty="0">
                <a:solidFill>
                  <a:srgbClr val="C00000"/>
                </a:solidFill>
              </a:rPr>
              <a:t>&lt;</a:t>
            </a:r>
            <a:r>
              <a:rPr lang="ru-RU" sz="2000" dirty="0">
                <a:solidFill>
                  <a:srgbClr val="C00000"/>
                </a:solidFill>
              </a:rPr>
              <a:t>Имя элемента данных</a:t>
            </a:r>
            <a:r>
              <a:rPr lang="en-US" sz="2000" dirty="0">
                <a:solidFill>
                  <a:srgbClr val="C00000"/>
                </a:solidFill>
              </a:rPr>
              <a:t>&gt;</a:t>
            </a:r>
            <a:endParaRPr lang="ru-RU" sz="2000" dirty="0">
              <a:solidFill>
                <a:srgbClr val="C00000"/>
              </a:solidFill>
            </a:endParaRPr>
          </a:p>
          <a:p>
            <a:pPr>
              <a:lnSpc>
                <a:spcPct val="110000"/>
              </a:lnSpc>
            </a:pPr>
            <a:r>
              <a:rPr lang="ru-RU" sz="2400" dirty="0"/>
              <a:t>При автоматическом включении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каждый новый экземпляр </a:t>
            </a:r>
            <a:r>
              <a:rPr lang="ru-RU" sz="2400" dirty="0"/>
              <a:t>члена набора автоматически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попадает в текущий экземпляр набора </a:t>
            </a:r>
            <a:r>
              <a:rPr lang="ru-RU" sz="2400" dirty="0"/>
              <a:t>в соответствии с заданным ранее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порядком включения</a:t>
            </a:r>
            <a:r>
              <a:rPr lang="ru-RU" sz="2400" dirty="0"/>
              <a:t>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При ручном способе экземпляр члена набора сначала попадает в БД, а только потом командой </a:t>
            </a:r>
            <a:r>
              <a:rPr lang="ru-RU" sz="2400" dirty="0">
                <a:solidFill>
                  <a:srgbClr val="C00000"/>
                </a:solidFill>
              </a:rPr>
              <a:t>CONNECT</a:t>
            </a:r>
            <a:r>
              <a:rPr lang="ru-RU" sz="2400" dirty="0"/>
              <a:t> может быть включен в конкретный экземпляр набора.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Если задан способ исключения </a:t>
            </a:r>
            <a:r>
              <a:rPr lang="ru-RU" sz="2400" dirty="0">
                <a:solidFill>
                  <a:srgbClr val="C00000"/>
                </a:solidFill>
              </a:rPr>
              <a:t>MANDATORY,</a:t>
            </a:r>
            <a:r>
              <a:rPr lang="ru-RU" sz="2400" dirty="0"/>
              <a:t> то экземпляр записи, исключаемый из набора, автоматически исключается и из базы данных. Иначе просто разрываются связи.</a:t>
            </a:r>
          </a:p>
          <a:p>
            <a:pPr marL="0" indent="0">
              <a:lnSpc>
                <a:spcPct val="110000"/>
              </a:lnSpc>
              <a:buNone/>
            </a:pPr>
            <a:endParaRPr lang="ru-RU" sz="2000" dirty="0">
              <a:solidFill>
                <a:srgbClr val="C00000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27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38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8620"/>
            <a:ext cx="8748712" cy="503907"/>
          </a:xfrm>
        </p:spPr>
        <p:txBody>
          <a:bodyPr/>
          <a:lstStyle/>
          <a:p>
            <a:pPr algn="ctr"/>
            <a:r>
              <a:rPr lang="ru-RU" altLang="ru-RU" sz="3600" dirty="0">
                <a:solidFill>
                  <a:schemeClr val="bg2"/>
                </a:solidFill>
              </a:rPr>
              <a:t>Пример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35015" y="593685"/>
            <a:ext cx="8892480" cy="610342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  NAME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СЛУЖАЩИЙ;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LOCATION  MODE IS CALC USING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НОМЕР-СЛУЖ;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WITHIN 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ОБЛАСТЬ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02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НОМЕР-СЛУЖ;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9(8).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0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ФАМИЛИЯ-СЛУЖ;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А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ДАТА-РОЖДЕНИЯ;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RECORD  NAME 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ОБРАЗОВАНИЕ;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LOCATION  MODE IS VIA SET </a:t>
            </a:r>
            <a:r>
              <a:rPr lang="ru-RU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WITHIN 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ОБЛАСТЬ 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02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НОМЕР-СЛУЖ;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  ACTUAL AND SOURCE IS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НОМЕР-СЛУЖ</a:t>
            </a:r>
            <a:r>
              <a:rPr 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OF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OWNER OF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</a:t>
            </a:r>
            <a:endParaRPr lang="ru-RU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02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СПЕЦИАЛЬНОСТЬ;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X(5); </a:t>
            </a:r>
            <a:b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02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ДАТА-ЗАВЕРШ;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02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УЧЕБНОЕ-ЗАВЕД;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PICTURE IS X(</a:t>
            </a: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=======================================================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NAME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IS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MODE IS POINTER ARRAY;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OWNER IS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СЛУЖАЩИЙ;</a:t>
            </a:r>
            <a:endParaRPr lang="en-US" sz="2000" b="1" dirty="0">
              <a:solidFill>
                <a:schemeClr val="bg2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ORDER IS PERMANENT INSERTION IS LAST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MEMBER IS </a:t>
            </a:r>
            <a:r>
              <a:rPr lang="ru-RU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ОБРАЗОВАНИЕ;</a:t>
            </a:r>
            <a:endParaRPr lang="ru-RU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28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0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2800" dirty="0"/>
              <a:t>Язык манипулирования данными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836712"/>
            <a:ext cx="914400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400" dirty="0"/>
              <a:t>Все операции манипулирования данными сетевой модели делятся на </a:t>
            </a:r>
            <a:r>
              <a:rPr lang="ru-RU" sz="24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навигационные операции </a:t>
            </a:r>
            <a:r>
              <a:rPr lang="ru-RU" sz="2400" dirty="0"/>
              <a:t>и </a:t>
            </a:r>
            <a:r>
              <a:rPr lang="ru-RU" sz="24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операции модификации</a:t>
            </a:r>
            <a:r>
              <a:rPr lang="ru-RU" sz="2400" dirty="0"/>
              <a:t>.</a:t>
            </a:r>
          </a:p>
          <a:p>
            <a:r>
              <a:rPr lang="ru-RU" sz="2400" dirty="0"/>
              <a:t>Навигационные операции осуществляют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перемещение по БД путем прохождения по связям</a:t>
            </a:r>
            <a:r>
              <a:rPr lang="ru-RU" sz="2400" dirty="0"/>
              <a:t>, которые поддерживаются в схеме БД. </a:t>
            </a:r>
          </a:p>
          <a:p>
            <a:r>
              <a:rPr lang="ru-RU" sz="2400" dirty="0"/>
              <a:t>В этом случае результатом является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новый единичный объект,</a:t>
            </a:r>
            <a:r>
              <a:rPr lang="ru-RU" sz="2400" dirty="0"/>
              <a:t> который получает статус </a:t>
            </a:r>
            <a:r>
              <a:rPr lang="ru-RU" sz="2400" i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текущего объекта</a:t>
            </a:r>
            <a:r>
              <a:rPr lang="ru-RU" sz="2400" dirty="0"/>
              <a:t>.</a:t>
            </a:r>
          </a:p>
          <a:p>
            <a:r>
              <a:rPr lang="ru-RU" sz="2400" dirty="0"/>
              <a:t>Операции модификации осуществляют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добавление новых экземпляров отдельных типов записей,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 добавление экземпляров новых наборов,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удаление экземпляров записей и наборов,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ru-RU" sz="2400" dirty="0"/>
              <a:t>модификацию отдельных составляющих внутри конкретных экземпляров записей.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29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48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34783"/>
            <a:ext cx="8748712" cy="503907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3200" dirty="0"/>
              <a:t>Операторы манипулирования данными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xfrm>
            <a:off x="8028384" y="6248399"/>
            <a:ext cx="658416" cy="493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30</a:t>
            </a:fld>
            <a:endParaRPr lang="ru-RU" altLang="ru-RU" sz="1200" dirty="0">
              <a:latin typeface="Arial Black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07575"/>
              </p:ext>
            </p:extLst>
          </p:nvPr>
        </p:nvGraphicFramePr>
        <p:xfrm>
          <a:off x="296525" y="863712"/>
          <a:ext cx="8640960" cy="5614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678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Операция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000" b="1" dirty="0">
                          <a:effectLst/>
                        </a:rPr>
                        <a:t>Назначение</a:t>
                      </a:r>
                      <a:endParaRPr lang="ru-RU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83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READY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Обеспечение доступа данного процесса или пользователя к БД (сходна по смыслу с операцией открытия файла)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FINISH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Окончание работы с БД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STORE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Помещение в БД записи, сформированной в рабочей области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FIND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Группа операций, устанавливающих указатель найденного объекта на текущий объект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GET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Передача найденного объекта в рабочую область. Допустима только после FIND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7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CONNECT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Включение текущей записи в текущий экземпляр набора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DISCONNECT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Исключение текущей записи из текущего экземпляра набора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503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MODIFY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Обновление текущей записи данными из рабочей области пользователя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78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ERASE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Удаление экземпляра текущей записи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16796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188640"/>
            <a:ext cx="8748712" cy="503907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Индикаторы текущего состояния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dirty="0"/>
              <a:t>В рабочей области пользователя хранятся шаблоны записей, программные переменные и три типа указателей текущего состояния: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текущая запись процесса </a:t>
            </a:r>
            <a:r>
              <a:rPr lang="ru-RU" sz="2400" dirty="0"/>
              <a:t>(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код или ключ последней записи</a:t>
            </a:r>
            <a:r>
              <a:rPr lang="ru-RU" sz="2400" dirty="0"/>
              <a:t>, с которой работала данная программа);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текущая запись типа записи </a:t>
            </a:r>
            <a:r>
              <a:rPr lang="ru-RU" sz="2400" dirty="0"/>
              <a:t>(для каждого типа записи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ключ последней записи</a:t>
            </a:r>
            <a:r>
              <a:rPr lang="ru-RU" sz="2400" dirty="0"/>
              <a:t>, с которой работала программа);</a:t>
            </a:r>
          </a:p>
          <a:p>
            <a:pPr lvl="1">
              <a:lnSpc>
                <a:spcPct val="10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dirty="0"/>
              <a:t>текущая запись типа набор </a:t>
            </a:r>
            <a:r>
              <a:rPr lang="ru-RU" sz="2400" dirty="0"/>
              <a:t>(для каждого набора с владельцем T1 и членом T2 указывается, T1 или T2 были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последней обрабатываемой записью</a:t>
            </a:r>
            <a:r>
              <a:rPr lang="ru-RU" sz="2400" dirty="0"/>
              <a:t>).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31</a:t>
            </a:fld>
            <a:endParaRPr lang="ru-RU" altLang="ru-RU" sz="120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5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0" y="224793"/>
            <a:ext cx="9144000" cy="503907"/>
          </a:xfrm>
        </p:spPr>
        <p:txBody>
          <a:bodyPr/>
          <a:lstStyle/>
          <a:p>
            <a:pPr algn="ctr"/>
            <a:r>
              <a:rPr lang="ru-RU" sz="2400" dirty="0">
                <a:solidFill>
                  <a:schemeClr val="bg2"/>
                </a:solidFill>
              </a:rPr>
              <a:t>Концептуальная модель торгово-посреднической организации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32</a:t>
            </a:fld>
            <a:endParaRPr lang="ru-RU" altLang="ru-RU" sz="1200">
              <a:latin typeface="Arial Black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BE636C-2C3E-4D4C-9111-3FDD0CCCE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848444"/>
            <a:ext cx="8591550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283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251520" y="188640"/>
            <a:ext cx="8748712" cy="503907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Часть описания схемы</a:t>
            </a:r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33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7524" y="908720"/>
            <a:ext cx="8694966" cy="5580620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При необходимости возможно описание элементов данных, которые не принадлежат непосредственно данной записи, но при ее обработке часто используются. </a:t>
            </a:r>
          </a:p>
          <a:p>
            <a:pPr marL="342900" indent="-342900" eaLnBrk="0" hangingPunct="0"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Для этого используется тип VIRTUAL с обязательным указанием источника данного элемента данных.</a:t>
            </a:r>
          </a:p>
          <a:p>
            <a:r>
              <a:rPr lang="en-US" dirty="0"/>
              <a:t> 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 IS 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Цены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02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Цена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TYPE IS REAL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02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IS VIRTUAL AND SOURCE IS 	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Товары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Наименование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Товара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OF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OWNER OF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Товар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Цены</a:t>
            </a:r>
          </a:p>
          <a:p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02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Поставщик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IS VIRTUAL AND SOURCE IS 	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Поставщики</a:t>
            </a: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ru-RU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Название поставщика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OF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   OWNER OF </a:t>
            </a:r>
            <a:r>
              <a:rPr lang="ru-RU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Поставщики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ru-RU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Цены</a:t>
            </a:r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009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Операция </a:t>
            </a:r>
            <a:r>
              <a:rPr lang="en-US" sz="2800" dirty="0">
                <a:solidFill>
                  <a:schemeClr val="bg2"/>
                </a:solidFill>
              </a:rPr>
              <a:t>FIND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34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836711"/>
            <a:ext cx="9036050" cy="5905401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Операция поиска ( FIND )</a:t>
            </a:r>
            <a:r>
              <a:rPr lang="en-US" sz="2400" dirty="0"/>
              <a:t> </a:t>
            </a:r>
            <a:r>
              <a:rPr lang="ru-RU" sz="2400" dirty="0"/>
              <a:t>отражает суть навигационных методов, применяемых в сетевой модели. Всего существует семь типов операций поиска: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/>
            </a:pPr>
            <a:r>
              <a:rPr lang="ru-RU" sz="2400" dirty="0"/>
              <a:t>По ключу (запись должна быть описана через CALC USING ... ).</a:t>
            </a:r>
          </a:p>
          <a:p>
            <a:pPr marL="0" lvl="0" indent="0">
              <a:lnSpc>
                <a:spcPct val="120000"/>
              </a:lnSpc>
              <a:buSzPct val="90000"/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FIND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&lt;Имя записи&gt;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BY CALC KEY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параметра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b="1" dirty="0">
              <a:solidFill>
                <a:schemeClr val="bg2">
                  <a:lumMod val="60000"/>
                  <a:lumOff val="4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20000"/>
              </a:lnSpc>
              <a:buSzPct val="90000"/>
              <a:buFont typeface="+mj-lt"/>
              <a:buAutoNum type="arabicPeriod" startAt="2"/>
            </a:pPr>
            <a:r>
              <a:rPr lang="ru-RU" sz="2400" dirty="0"/>
              <a:t>Последовательный просмотр записей данного типа: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FIND DUPLICATE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&lt;Имя записи&gt;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BY CALC KEY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3"/>
            </a:pPr>
            <a:r>
              <a:rPr lang="ru-RU" sz="2400" dirty="0"/>
              <a:t>Найти владельца текущего экземпляра набора:</a:t>
            </a:r>
          </a:p>
          <a:p>
            <a:pPr marL="0" lvl="0" indent="0">
              <a:lnSpc>
                <a:spcPct val="120000"/>
              </a:lnSpc>
              <a:buSzPct val="90000"/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FIND OWNER OF CURRENT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4"/>
            </a:pPr>
            <a:r>
              <a:rPr lang="ru-RU" sz="2400" dirty="0"/>
              <a:t>Последовательный просмотр записей—членов текущего экземпляра набора: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FIND (FIRST|NEXT)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записи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IN CURRENT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5"/>
            </a:pPr>
            <a:r>
              <a:rPr lang="ru-RU" sz="2400" dirty="0"/>
              <a:t>Просмотр записей—членов экземпляра набора, специфицированных рядом полей: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FIND [DUPLICATE]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&lt;Имя записи&gt;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 IN CURRENT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  USING 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&lt;Список полей&gt;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6"/>
            </a:pPr>
            <a:r>
              <a:rPr lang="ru-RU" sz="2400" dirty="0"/>
              <a:t>Сделать текущей записью процесса текущий экземпляр набора: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FIND CURRENT OF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набора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57200" lvl="0" indent="-457200">
              <a:lnSpc>
                <a:spcPct val="120000"/>
              </a:lnSpc>
              <a:buSzPct val="90000"/>
              <a:buFont typeface="+mj-lt"/>
              <a:buAutoNum type="arabicPeriod" startAt="7"/>
            </a:pPr>
            <a:r>
              <a:rPr lang="ru-RU" sz="2400" dirty="0"/>
              <a:t>Установить текущую запись процесса: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FIND CURRENT OF 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u-RU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Имя записи</a:t>
            </a:r>
            <a:r>
              <a:rPr lang="en-US" sz="2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9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Пример операции </a:t>
            </a:r>
            <a:r>
              <a:rPr lang="en-US" sz="2800" dirty="0">
                <a:solidFill>
                  <a:schemeClr val="bg2"/>
                </a:solidFill>
              </a:rPr>
              <a:t>FIND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712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35</a:t>
            </a:fld>
            <a:endParaRPr lang="ru-RU" altLang="ru-RU" sz="1200">
              <a:latin typeface="Arial Black" pitchFamily="34" charset="0"/>
            </a:endParaRPr>
          </a:p>
        </p:txBody>
      </p:sp>
      <p:pic>
        <p:nvPicPr>
          <p:cNvPr id="3076" name="Picture 4" descr="C:\Users\Борис\Desktop\Рис_СМД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45" y="614864"/>
            <a:ext cx="2025225" cy="600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366754" y="836711"/>
            <a:ext cx="6669295" cy="5905401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ru-RU" sz="2400" dirty="0"/>
              <a:t>Алгоритм и программа печати заказов, сделанных Петровым, будут выглядеть так</a:t>
            </a:r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>
                <a:latin typeface="+mj-lt"/>
                <a:cs typeface="Courier New" panose="02070309020205020404" pitchFamily="49" charset="0"/>
              </a:rPr>
              <a:t>ФИО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=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 “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Петров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”</a:t>
            </a:r>
            <a:endParaRPr lang="ru-RU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FIND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cs typeface="Courier New" panose="02070309020205020404" pitchFamily="49" charset="0"/>
              </a:rPr>
              <a:t>Люди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RECORD BY CALC KEY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FIND FIRST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cs typeface="Courier New" panose="02070309020205020404" pitchFamily="49" charset="0"/>
              </a:rPr>
              <a:t>Заказы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RECORD 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	CURRENT </a:t>
            </a:r>
            <a:r>
              <a:rPr lang="ru-RU" sz="2400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Люди-Заказы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WHILE NOT FAIL </a:t>
            </a:r>
            <a:r>
              <a:rPr lang="en-US" sz="2400" b="1" dirty="0">
                <a:latin typeface="+mj-lt"/>
                <a:cs typeface="Courier New" panose="02070309020205020404" pitchFamily="49" charset="0"/>
              </a:rPr>
              <a:t>DO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FIND OWNER OF CURRENT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		     </a:t>
            </a:r>
            <a:r>
              <a:rPr lang="ru-RU" sz="2400" dirty="0">
                <a:solidFill>
                  <a:srgbClr val="FF0000"/>
                </a:solidFill>
                <a:latin typeface="+mj-lt"/>
                <a:cs typeface="Courier New" panose="02070309020205020404" pitchFamily="49" charset="0"/>
              </a:rPr>
              <a:t>Товары-Заказы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GET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latin typeface="+mj-lt"/>
                <a:cs typeface="Courier New" panose="02070309020205020404" pitchFamily="49" charset="0"/>
              </a:rPr>
              <a:t>Товары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PRINT 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Наименование товара</a:t>
            </a:r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240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400">
                <a:latin typeface="+mj-lt"/>
                <a:cs typeface="Courier New" panose="02070309020205020404" pitchFamily="49" charset="0"/>
              </a:rPr>
              <a:t>FIND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NEXT 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Заказы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RECORD IN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latin typeface="+mj-lt"/>
                <a:cs typeface="Courier New" panose="02070309020205020404" pitchFamily="49" charset="0"/>
              </a:rPr>
              <a:t>		</a:t>
            </a:r>
            <a:r>
              <a:rPr lang="en-US" sz="2400" dirty="0">
                <a:cs typeface="Courier New" panose="02070309020205020404" pitchFamily="49" charset="0"/>
              </a:rPr>
              <a:t> CURRENT </a:t>
            </a:r>
            <a:r>
              <a:rPr lang="ru-RU" sz="2400" dirty="0">
                <a:cs typeface="Courier New" panose="02070309020205020404" pitchFamily="49" charset="0"/>
              </a:rPr>
              <a:t>Люди-Заказы </a:t>
            </a:r>
            <a:r>
              <a:rPr lang="en-US" sz="2400" dirty="0">
                <a:cs typeface="Courier New" panose="02070309020205020404" pitchFamily="49" charset="0"/>
              </a:rPr>
              <a:t>SET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latin typeface="+mj-lt"/>
                <a:cs typeface="Courier New" panose="02070309020205020404" pitchFamily="49" charset="0"/>
              </a:rPr>
              <a:t>END</a:t>
            </a:r>
            <a:endParaRPr lang="ru-RU" sz="2400" b="1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ru-RU" sz="24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56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9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 idx="4294967295"/>
          </p:nvPr>
        </p:nvSpPr>
        <p:spPr>
          <a:xfrm>
            <a:off x="395288" y="260648"/>
            <a:ext cx="8748712" cy="503907"/>
          </a:xfrm>
        </p:spPr>
        <p:txBody>
          <a:bodyPr/>
          <a:lstStyle/>
          <a:p>
            <a:pPr algn="ctr"/>
            <a:r>
              <a:rPr lang="ru-RU" sz="2800" dirty="0">
                <a:solidFill>
                  <a:schemeClr val="bg2"/>
                </a:solidFill>
              </a:rPr>
              <a:t>Операции </a:t>
            </a:r>
            <a:r>
              <a:rPr lang="en-US" sz="2800" dirty="0">
                <a:solidFill>
                  <a:schemeClr val="bg2"/>
                </a:solidFill>
              </a:rPr>
              <a:t>GET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07950" y="836176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endParaRPr lang="ru-RU" sz="2400" b="1" dirty="0"/>
          </a:p>
        </p:txBody>
      </p:sp>
      <p:sp>
        <p:nvSpPr>
          <p:cNvPr id="1434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EEEAB3D-D9F5-4F62-8B25-6F425604BFA1}" type="slidenum">
              <a:rPr lang="ru-RU" altLang="ru-RU" sz="1200" smtClean="0">
                <a:latin typeface="Arial Black" pitchFamily="34" charset="0"/>
              </a:rPr>
              <a:pPr eaLnBrk="1" hangingPunct="1"/>
              <a:t>36</a:t>
            </a:fld>
            <a:endParaRPr lang="ru-RU" altLang="ru-RU" sz="1200">
              <a:latin typeface="Arial Black" pitchFamily="34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0" y="836711"/>
            <a:ext cx="9036050" cy="59054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>
                <a:cs typeface="Courier New" panose="02070309020205020404" pitchFamily="49" charset="0"/>
              </a:rPr>
              <a:t>Оператор </a:t>
            </a:r>
            <a:r>
              <a:rPr lang="en-US" sz="2400" dirty="0">
                <a:cs typeface="Courier New" panose="02070309020205020404" pitchFamily="49" charset="0"/>
              </a:rPr>
              <a:t>GET </a:t>
            </a:r>
            <a:r>
              <a:rPr lang="ru-RU" sz="2400" dirty="0">
                <a:cs typeface="Courier New" panose="02070309020205020404" pitchFamily="49" charset="0"/>
              </a:rPr>
              <a:t>переносит содержимое записи, указанной </a:t>
            </a:r>
            <a:r>
              <a:rPr lang="ru-RU" sz="2400" dirty="0">
                <a:solidFill>
                  <a:schemeClr val="bg2">
                    <a:lumMod val="60000"/>
                    <a:lumOff val="40000"/>
                  </a:schemeClr>
                </a:solidFill>
                <a:cs typeface="Courier New" panose="02070309020205020404" pitchFamily="49" charset="0"/>
              </a:rPr>
              <a:t>индикатором текущего состояния процесса</a:t>
            </a:r>
            <a:r>
              <a:rPr lang="ru-RU" sz="2400" dirty="0">
                <a:cs typeface="Courier New" panose="02070309020205020404" pitchFamily="49" charset="0"/>
              </a:rPr>
              <a:t>, в область записи, соответствующую ее типу.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dirty="0">
                <a:latin typeface="+mj-lt"/>
                <a:cs typeface="Courier New" panose="02070309020205020404" pitchFamily="49" charset="0"/>
              </a:rPr>
              <a:t>Формат 1</a:t>
            </a:r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+mj-lt"/>
                <a:cs typeface="Courier New" panose="02070309020205020404" pitchFamily="49" charset="0"/>
              </a:rPr>
              <a:t>GET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[ 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имя записи </a:t>
            </a:r>
            <a:r>
              <a:rPr lang="en-US" sz="2400" dirty="0">
                <a:latin typeface="+mj-lt"/>
                <a:cs typeface="Courier New" panose="02070309020205020404" pitchFamily="49" charset="0"/>
              </a:rPr>
              <a:t>] </a:t>
            </a:r>
            <a:endParaRPr lang="ru-RU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ru-RU" sz="2400" dirty="0">
                <a:latin typeface="+mj-lt"/>
                <a:cs typeface="Courier New" panose="02070309020205020404" pitchFamily="49" charset="0"/>
              </a:rPr>
              <a:t>Формат 2</a:t>
            </a:r>
            <a:endParaRPr lang="en-US" sz="2400" dirty="0">
              <a:latin typeface="+mj-lt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400" b="1" dirty="0">
                <a:cs typeface="Courier New" panose="02070309020205020404" pitchFamily="49" charset="0"/>
              </a:rPr>
              <a:t>GET </a:t>
            </a:r>
            <a:r>
              <a:rPr lang="ru-RU" sz="2400" dirty="0">
                <a:cs typeface="Courier New" panose="02070309020205020404" pitchFamily="49" charset="0"/>
              </a:rPr>
              <a:t>имя записи; ид-данных</a:t>
            </a:r>
            <a:r>
              <a:rPr lang="en-US" sz="2400" dirty="0">
                <a:cs typeface="Courier New" panose="02070309020205020404" pitchFamily="49" charset="0"/>
              </a:rPr>
              <a:t>-1 [ , </a:t>
            </a:r>
            <a:r>
              <a:rPr lang="ru-RU" sz="2400" dirty="0">
                <a:cs typeface="Courier New" panose="02070309020205020404" pitchFamily="49" charset="0"/>
              </a:rPr>
              <a:t>ид-данных-2 </a:t>
            </a:r>
            <a:r>
              <a:rPr lang="en-US" sz="2400" dirty="0">
                <a:cs typeface="Courier New" panose="02070309020205020404" pitchFamily="49" charset="0"/>
              </a:rPr>
              <a:t>] </a:t>
            </a:r>
            <a:r>
              <a:rPr lang="ru-RU" sz="2400" dirty="0">
                <a:cs typeface="Courier New" panose="02070309020205020404" pitchFamily="49" charset="0"/>
              </a:rPr>
              <a:t>…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>
                <a:cs typeface="Courier New" panose="02070309020205020404" pitchFamily="49" charset="0"/>
              </a:rPr>
              <a:t>Оператор </a:t>
            </a:r>
            <a:r>
              <a:rPr lang="en-US" sz="2400" dirty="0">
                <a:cs typeface="Courier New" panose="02070309020205020404" pitchFamily="49" charset="0"/>
              </a:rPr>
              <a:t>GET</a:t>
            </a:r>
            <a:r>
              <a:rPr lang="ru-RU" sz="2400" dirty="0">
                <a:cs typeface="Courier New" panose="02070309020205020404" pitchFamily="49" charset="0"/>
              </a:rPr>
              <a:t> выполняет преобразование данных при передаче из буфера СУБД в рабочую область программы(РОП).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>
                <a:cs typeface="Courier New" panose="02070309020205020404" pitchFamily="49" charset="0"/>
              </a:rPr>
              <a:t>Проверяет соответствие размера переменной в РОП и области данных в буфере СУБД. Например, может скачать в РОП только 23 элемента, хотя в БД запись содержит 31.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ru-RU" sz="2400" dirty="0">
                <a:cs typeface="Courier New" panose="02070309020205020404" pitchFamily="49" charset="0"/>
              </a:rPr>
              <a:t>Подкачивает </a:t>
            </a:r>
            <a:r>
              <a:rPr lang="en-US" sz="2400" dirty="0">
                <a:cs typeface="Courier New" panose="02070309020205020404" pitchFamily="49" charset="0"/>
              </a:rPr>
              <a:t>virtual </a:t>
            </a:r>
            <a:r>
              <a:rPr lang="ru-RU" sz="2400" dirty="0">
                <a:cs typeface="Courier New" panose="02070309020205020404" pitchFamily="49" charset="0"/>
              </a:rPr>
              <a:t>элементы из записи хозяина набора.</a:t>
            </a:r>
            <a:endParaRPr lang="en-US" sz="24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0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3192</TotalTime>
  <Words>3121</Words>
  <Application>Microsoft Office PowerPoint</Application>
  <PresentationFormat>Экран (4:3)</PresentationFormat>
  <Paragraphs>412</Paragraphs>
  <Slides>36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Calibri</vt:lpstr>
      <vt:lpstr>Courier New</vt:lpstr>
      <vt:lpstr>Times New Roman</vt:lpstr>
      <vt:lpstr>Wingdings</vt:lpstr>
      <vt:lpstr>Пиксел</vt:lpstr>
      <vt:lpstr>Ранние модели  баз данных Сетевая модель</vt:lpstr>
      <vt:lpstr>Сетевая модель данных</vt:lpstr>
      <vt:lpstr>Модель данных</vt:lpstr>
      <vt:lpstr>Агрегат данных</vt:lpstr>
      <vt:lpstr>Запись данных</vt:lpstr>
      <vt:lpstr>Пример. Описание Сотрудника</vt:lpstr>
      <vt:lpstr>Презентация PowerPoint</vt:lpstr>
      <vt:lpstr>Презентация PowerPoint</vt:lpstr>
      <vt:lpstr>Презентация PowerPoint</vt:lpstr>
      <vt:lpstr>Примеры</vt:lpstr>
      <vt:lpstr>Презентация PowerPoint</vt:lpstr>
      <vt:lpstr>Примеры. Экземпляры</vt:lpstr>
      <vt:lpstr>Сингулярный набор</vt:lpstr>
      <vt:lpstr>Цикл и набор с несколькими записями</vt:lpstr>
      <vt:lpstr>Компоненты СУБД сетевой модели</vt:lpstr>
      <vt:lpstr>Схема данных. База данных</vt:lpstr>
      <vt:lpstr>Язык описания данных СХЕМЫ</vt:lpstr>
      <vt:lpstr>Понятие ПОДСХЕМЫ</vt:lpstr>
      <vt:lpstr>Язык манипулирования</vt:lpstr>
      <vt:lpstr>Резидентный исполнительный модуль</vt:lpstr>
      <vt:lpstr>Язык управления размещением  на внешних носителях (ЯУВН)</vt:lpstr>
      <vt:lpstr>Язык описания данных СХЕМЫ</vt:lpstr>
      <vt:lpstr>Описание записи</vt:lpstr>
      <vt:lpstr>Описание элементов данных</vt:lpstr>
      <vt:lpstr>Пример 1</vt:lpstr>
      <vt:lpstr>Описание набора</vt:lpstr>
      <vt:lpstr>Описание набора        (2)</vt:lpstr>
      <vt:lpstr>Пример</vt:lpstr>
      <vt:lpstr>Язык манипулирования данными</vt:lpstr>
      <vt:lpstr>Операторы манипулирования данными</vt:lpstr>
      <vt:lpstr>Индикаторы текущего состояния</vt:lpstr>
      <vt:lpstr>Концептуальная модель торгово-посреднической организации</vt:lpstr>
      <vt:lpstr>Часть описания схемы</vt:lpstr>
      <vt:lpstr>Операция FIND</vt:lpstr>
      <vt:lpstr>Пример операции FIND</vt:lpstr>
      <vt:lpstr>Операции 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234</cp:revision>
  <dcterms:created xsi:type="dcterms:W3CDTF">2012-10-04T16:47:37Z</dcterms:created>
  <dcterms:modified xsi:type="dcterms:W3CDTF">2020-12-18T03:08:59Z</dcterms:modified>
</cp:coreProperties>
</file>