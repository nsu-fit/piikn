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4"/>
  </p:notesMasterIdLst>
  <p:sldIdLst>
    <p:sldId id="256" r:id="rId2"/>
    <p:sldId id="300" r:id="rId3"/>
    <p:sldId id="278" r:id="rId4"/>
    <p:sldId id="273" r:id="rId5"/>
    <p:sldId id="299" r:id="rId6"/>
    <p:sldId id="275" r:id="rId7"/>
    <p:sldId id="298" r:id="rId8"/>
    <p:sldId id="29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9" r:id="rId17"/>
    <p:sldId id="308" r:id="rId18"/>
    <p:sldId id="310" r:id="rId19"/>
    <p:sldId id="311" r:id="rId20"/>
    <p:sldId id="312" r:id="rId21"/>
    <p:sldId id="313" r:id="rId22"/>
    <p:sldId id="316" r:id="rId23"/>
    <p:sldId id="317" r:id="rId24"/>
    <p:sldId id="318" r:id="rId25"/>
    <p:sldId id="325" r:id="rId26"/>
    <p:sldId id="319" r:id="rId27"/>
    <p:sldId id="315" r:id="rId28"/>
    <p:sldId id="314" r:id="rId29"/>
    <p:sldId id="320" r:id="rId30"/>
    <p:sldId id="326" r:id="rId31"/>
    <p:sldId id="321" r:id="rId32"/>
    <p:sldId id="323" r:id="rId33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8000"/>
    <a:srgbClr val="0066FF"/>
    <a:srgbClr val="6D1125"/>
    <a:srgbClr val="DE4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80" autoAdjust="0"/>
    <p:restoredTop sz="78598" autoAdjust="0"/>
  </p:normalViewPr>
  <p:slideViewPr>
    <p:cSldViewPr snapToGrid="0" showGuides="1">
      <p:cViewPr varScale="1">
        <p:scale>
          <a:sx n="103" d="100"/>
          <a:sy n="103" d="100"/>
        </p:scale>
        <p:origin x="228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D195D6C-8515-4AD4-ACD0-9A86638E16B3}" type="datetimeFigureOut">
              <a:rPr lang="ru-RU"/>
              <a:pPr>
                <a:defRPr/>
              </a:pPr>
              <a:t>21.03.2024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DDF6F30-BE18-42A7-8693-14D70F9A854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38307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122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9DCC797-B0A0-45EB-914B-B5FC2139F045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31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607AF46-0A1A-4860-B217-2FFB225E3B59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15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BF1D1-2711-4C80-94E9-219138BD1D16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F688F-E6B0-4FD2-A40D-BE0C1EDDAA0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8E019D-5F85-4D8F-BF7A-168D41BDB76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5EDA0-98DC-4413-988B-11537E048CF5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FE011-F693-4457-94DD-D56638FAEBA5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E2CE7-7B03-4EE5-BB5A-EC4A6DF2630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642F1-B3DF-4261-9749-15A733FD3BCB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5268D-0FE8-4ABA-BDB0-8213701DC69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DFAC00-5A93-4F29-8B8C-043C501DBFF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26052-DDA3-49DA-BAE8-4652EFC9178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D1FE25-230F-4EA2-BC86-4E1C45F25FD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E8FF21-CD04-44DD-8081-9BF91E63D77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7A4B4-4934-4B9B-9557-A52EE1E6841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94E9485A-49C4-487C-8E4F-F1D0F490B65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  <p:sldLayoutId id="2147483866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11288" y="1844675"/>
            <a:ext cx="7732712" cy="2305050"/>
          </a:xfrm>
        </p:spPr>
        <p:txBody>
          <a:bodyPr/>
          <a:lstStyle/>
          <a:p>
            <a:pPr algn="ctr" eaLnBrk="1" hangingPunct="1">
              <a:spcAft>
                <a:spcPct val="150000"/>
              </a:spcAft>
            </a:pPr>
            <a:r>
              <a:rPr lang="ru-RU" dirty="0"/>
              <a:t>Распределенные </a:t>
            </a:r>
            <a:br>
              <a:rPr lang="ru-RU" dirty="0"/>
            </a:br>
            <a:r>
              <a:rPr lang="ru-RU" dirty="0"/>
              <a:t>базы данных</a:t>
            </a:r>
            <a:endParaRPr lang="ru-RU" sz="40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52625" y="4865688"/>
            <a:ext cx="6821488" cy="1114425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ru-RU" sz="2800" dirty="0"/>
              <a:t>К. Дж. </a:t>
            </a:r>
            <a:r>
              <a:rPr lang="ru-RU" sz="2800" dirty="0" err="1"/>
              <a:t>Дейт</a:t>
            </a:r>
            <a:r>
              <a:rPr lang="ru-RU" sz="2800" dirty="0"/>
              <a:t>  </a:t>
            </a:r>
          </a:p>
          <a:p>
            <a:pPr eaLnBrk="1" hangingPunct="1">
              <a:defRPr/>
            </a:pPr>
            <a:r>
              <a:rPr lang="ru-RU" sz="2800" dirty="0"/>
              <a:t>Введение в системы баз данных. Глава 21</a:t>
            </a:r>
          </a:p>
          <a:p>
            <a:pPr eaLnBrk="1" hangingPunct="1">
              <a:defRPr/>
            </a:pP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177800" y="214313"/>
            <a:ext cx="8788400" cy="757237"/>
          </a:xfrm>
        </p:spPr>
        <p:txBody>
          <a:bodyPr lIns="36000" tIns="36000" rIns="36000" bIns="36000"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Предварительные определения</a:t>
            </a:r>
            <a:endParaRPr lang="en-US" sz="3600" dirty="0">
              <a:solidFill>
                <a:schemeClr val="bg2"/>
              </a:solidFill>
            </a:endParaRPr>
          </a:p>
        </p:txBody>
      </p:sp>
      <p:sp>
        <p:nvSpPr>
          <p:cNvPr id="4099" name="Содержимое 2"/>
          <p:cNvSpPr>
            <a:spLocks noGrp="1"/>
          </p:cNvSpPr>
          <p:nvPr>
            <p:ph idx="1"/>
          </p:nvPr>
        </p:nvSpPr>
        <p:spPr>
          <a:xfrm>
            <a:off x="93133" y="1111319"/>
            <a:ext cx="8957734" cy="5430837"/>
          </a:xfrm>
        </p:spPr>
        <p:txBody>
          <a:bodyPr>
            <a:normAutofit/>
          </a:bodyPr>
          <a:lstStyle/>
          <a:p>
            <a:r>
              <a:rPr lang="ru-RU" sz="2800" dirty="0"/>
              <a:t>Системы распределенных баз данных состоят из набора узлов, связанных сетью, в которой: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/>
              <a:t>Каждый узел обладает своей </a:t>
            </a:r>
            <a:r>
              <a:rPr lang="ru-RU" sz="2400" u="sng" dirty="0"/>
              <a:t>собственной СУБД</a:t>
            </a:r>
            <a:r>
              <a:rPr lang="ru-RU" sz="2400" dirty="0"/>
              <a:t>,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/>
              <a:t>Узлы работают согласованно, так что пользователь может получить доступ к данным на любом узле, как будто они находятся на ЕГО узле </a:t>
            </a:r>
          </a:p>
          <a:p>
            <a:r>
              <a:rPr lang="ru-RU" sz="2800" dirty="0"/>
              <a:t>Таким образом, «распределенная база данных» – это тип </a:t>
            </a:r>
            <a:r>
              <a:rPr lang="ru-RU" sz="2800" i="1" dirty="0"/>
              <a:t>виртуального объекта, </a:t>
            </a:r>
            <a:r>
              <a:rPr lang="ru-RU" sz="2800" dirty="0"/>
              <a:t>части которого физически находятся в </a:t>
            </a:r>
            <a:r>
              <a:rPr lang="en-US" sz="2800" dirty="0"/>
              <a:t>“</a:t>
            </a:r>
            <a:r>
              <a:rPr lang="ru-RU" sz="2800" dirty="0"/>
              <a:t>реальных</a:t>
            </a:r>
            <a:r>
              <a:rPr lang="en-US" sz="2800" dirty="0"/>
              <a:t>” </a:t>
            </a:r>
            <a:r>
              <a:rPr lang="ru-RU" sz="2800" dirty="0"/>
              <a:t>базах данных на узлах сети.</a:t>
            </a:r>
          </a:p>
          <a:p>
            <a:r>
              <a:rPr lang="ru-RU" sz="2800" dirty="0"/>
              <a:t>Распределенная БД – фактически  это логическая единица всех этих реальных БД  </a:t>
            </a:r>
          </a:p>
          <a:p>
            <a:endParaRPr lang="ru-RU" sz="2800" dirty="0"/>
          </a:p>
          <a:p>
            <a:pPr lvl="1">
              <a:buClr>
                <a:schemeClr val="bg2"/>
              </a:buClr>
              <a:buNone/>
            </a:pPr>
            <a:endParaRPr lang="ru-RU" sz="2400" dirty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FF23E21-5538-41BD-A3D5-78865E07F970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50" y="214313"/>
            <a:ext cx="8750300" cy="828675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Схематический пример распределенной системы баз данных</a:t>
            </a:r>
          </a:p>
        </p:txBody>
      </p:sp>
      <p:sp>
        <p:nvSpPr>
          <p:cNvPr id="5123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4956A2D-15F4-46D2-8176-B70B57CC9E9B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124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2047459" y="1431235"/>
            <a:ext cx="131196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rgbClr val="C00000"/>
                </a:solidFill>
              </a:rPr>
              <a:t>Кемерово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61929" y="6255026"/>
            <a:ext cx="131196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solidFill>
                  <a:srgbClr val="C00000"/>
                </a:solidFill>
              </a:rPr>
              <a:t>Томск</a:t>
            </a:r>
          </a:p>
        </p:txBody>
      </p:sp>
      <p:grpSp>
        <p:nvGrpSpPr>
          <p:cNvPr id="112" name="Группа 111"/>
          <p:cNvGrpSpPr/>
          <p:nvPr/>
        </p:nvGrpSpPr>
        <p:grpSpPr>
          <a:xfrm>
            <a:off x="1159566" y="1090324"/>
            <a:ext cx="1742659" cy="2616972"/>
            <a:chOff x="861391" y="964428"/>
            <a:chExt cx="1742659" cy="2616972"/>
          </a:xfrm>
        </p:grpSpPr>
        <p:grpSp>
          <p:nvGrpSpPr>
            <p:cNvPr id="23" name="Группа 22"/>
            <p:cNvGrpSpPr/>
            <p:nvPr/>
          </p:nvGrpSpPr>
          <p:grpSpPr>
            <a:xfrm>
              <a:off x="2027581" y="1928191"/>
              <a:ext cx="576469" cy="1232452"/>
              <a:chOff x="1888435" y="1769165"/>
              <a:chExt cx="576469" cy="1232452"/>
            </a:xfrm>
          </p:grpSpPr>
          <p:sp>
            <p:nvSpPr>
              <p:cNvPr id="19" name="Прямоугольник 18"/>
              <p:cNvSpPr/>
              <p:nvPr/>
            </p:nvSpPr>
            <p:spPr>
              <a:xfrm>
                <a:off x="1888435" y="1769165"/>
                <a:ext cx="576469" cy="655983"/>
              </a:xfrm>
              <a:prstGeom prst="rect">
                <a:avLst/>
              </a:prstGeom>
              <a:noFill/>
              <a:ln w="381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Блок-схема: магнитный диск 19"/>
              <p:cNvSpPr/>
              <p:nvPr/>
            </p:nvSpPr>
            <p:spPr>
              <a:xfrm>
                <a:off x="1948070" y="2643809"/>
                <a:ext cx="457200" cy="357808"/>
              </a:xfrm>
              <a:prstGeom prst="flowChartMagneticDisk">
                <a:avLst/>
              </a:prstGeom>
              <a:noFill/>
              <a:ln w="381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22" name="Прямая соединительная линия 21"/>
              <p:cNvCxnSpPr>
                <a:stCxn id="19" idx="2"/>
                <a:endCxn id="20" idx="1"/>
              </p:cNvCxnSpPr>
              <p:nvPr/>
            </p:nvCxnSpPr>
            <p:spPr>
              <a:xfrm rot="5400000">
                <a:off x="2067340" y="2534478"/>
                <a:ext cx="218661" cy="1588"/>
              </a:xfrm>
              <a:prstGeom prst="line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Группа 52"/>
            <p:cNvGrpSpPr/>
            <p:nvPr/>
          </p:nvGrpSpPr>
          <p:grpSpPr>
            <a:xfrm>
              <a:off x="1146312" y="1461054"/>
              <a:ext cx="887895" cy="2007702"/>
              <a:chOff x="987287" y="1311965"/>
              <a:chExt cx="887895" cy="2007702"/>
            </a:xfrm>
          </p:grpSpPr>
          <p:sp>
            <p:nvSpPr>
              <p:cNvPr id="47" name="Минус 46"/>
              <p:cNvSpPr/>
              <p:nvPr/>
            </p:nvSpPr>
            <p:spPr>
              <a:xfrm>
                <a:off x="993913" y="1311965"/>
                <a:ext cx="477078" cy="45719"/>
              </a:xfrm>
              <a:prstGeom prst="mathMinus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8" name="Минус 47"/>
              <p:cNvSpPr/>
              <p:nvPr/>
            </p:nvSpPr>
            <p:spPr>
              <a:xfrm>
                <a:off x="987287" y="2339008"/>
                <a:ext cx="477078" cy="45719"/>
              </a:xfrm>
              <a:prstGeom prst="mathMinus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9" name="Минус 48"/>
              <p:cNvSpPr/>
              <p:nvPr/>
            </p:nvSpPr>
            <p:spPr>
              <a:xfrm>
                <a:off x="1000539" y="3273948"/>
                <a:ext cx="477078" cy="45719"/>
              </a:xfrm>
              <a:prstGeom prst="mathMinus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51" name="Прямая соединительная линия 50"/>
              <p:cNvCxnSpPr>
                <a:stCxn id="47" idx="0"/>
                <a:endCxn id="49" idx="0"/>
              </p:cNvCxnSpPr>
              <p:nvPr/>
            </p:nvCxnSpPr>
            <p:spPr>
              <a:xfrm>
                <a:off x="1407754" y="1334825"/>
                <a:ext cx="6626" cy="1961983"/>
              </a:xfrm>
              <a:prstGeom prst="line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Минус 51"/>
              <p:cNvSpPr/>
              <p:nvPr/>
            </p:nvSpPr>
            <p:spPr>
              <a:xfrm>
                <a:off x="1398104" y="2352260"/>
                <a:ext cx="477078" cy="45719"/>
              </a:xfrm>
              <a:prstGeom prst="mathMinus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62" name="Группа 61"/>
            <p:cNvGrpSpPr/>
            <p:nvPr/>
          </p:nvGrpSpPr>
          <p:grpSpPr>
            <a:xfrm>
              <a:off x="861391" y="964428"/>
              <a:ext cx="443948" cy="2616972"/>
              <a:chOff x="708991" y="1133061"/>
              <a:chExt cx="443948" cy="2616972"/>
            </a:xfrm>
          </p:grpSpPr>
          <p:grpSp>
            <p:nvGrpSpPr>
              <p:cNvPr id="63" name="Группа 9"/>
              <p:cNvGrpSpPr/>
              <p:nvPr/>
            </p:nvGrpSpPr>
            <p:grpSpPr>
              <a:xfrm>
                <a:off x="715617" y="1133061"/>
                <a:ext cx="437322" cy="642067"/>
                <a:chOff x="576469" y="1530626"/>
                <a:chExt cx="437322" cy="642067"/>
              </a:xfrm>
            </p:grpSpPr>
            <p:sp>
              <p:nvSpPr>
                <p:cNvPr id="72" name="Багетная рамка 71"/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73" name="Прямоугольник 72"/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74" name="Прямоугольник 73"/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64" name="Группа 10"/>
              <p:cNvGrpSpPr/>
              <p:nvPr/>
            </p:nvGrpSpPr>
            <p:grpSpPr>
              <a:xfrm>
                <a:off x="708991" y="2150829"/>
                <a:ext cx="437322" cy="642067"/>
                <a:chOff x="576469" y="1530626"/>
                <a:chExt cx="437322" cy="642067"/>
              </a:xfrm>
            </p:grpSpPr>
            <p:sp>
              <p:nvSpPr>
                <p:cNvPr id="69" name="Багетная рамка 68"/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70" name="Прямоугольник 69"/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71" name="Прямоугольник 70"/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65" name="Группа 14"/>
              <p:cNvGrpSpPr/>
              <p:nvPr/>
            </p:nvGrpSpPr>
            <p:grpSpPr>
              <a:xfrm>
                <a:off x="715617" y="3107966"/>
                <a:ext cx="437322" cy="642067"/>
                <a:chOff x="576469" y="1530626"/>
                <a:chExt cx="437322" cy="642067"/>
              </a:xfrm>
            </p:grpSpPr>
            <p:sp>
              <p:nvSpPr>
                <p:cNvPr id="66" name="Багетная рамка 65"/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7" name="Прямоугольник 66"/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8" name="Прямоугольник 67"/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</p:grpSp>
      </p:grpSp>
      <p:grpSp>
        <p:nvGrpSpPr>
          <p:cNvPr id="86" name="Группа 85"/>
          <p:cNvGrpSpPr/>
          <p:nvPr/>
        </p:nvGrpSpPr>
        <p:grpSpPr>
          <a:xfrm>
            <a:off x="6533317" y="3992547"/>
            <a:ext cx="1736038" cy="2616972"/>
            <a:chOff x="6771857" y="971052"/>
            <a:chExt cx="1736038" cy="2616972"/>
          </a:xfrm>
        </p:grpSpPr>
        <p:grpSp>
          <p:nvGrpSpPr>
            <p:cNvPr id="24" name="Группа 23"/>
            <p:cNvGrpSpPr/>
            <p:nvPr/>
          </p:nvGrpSpPr>
          <p:grpSpPr>
            <a:xfrm>
              <a:off x="8063947" y="971052"/>
              <a:ext cx="443948" cy="2616972"/>
              <a:chOff x="708991" y="1133061"/>
              <a:chExt cx="443948" cy="2616972"/>
            </a:xfrm>
          </p:grpSpPr>
          <p:grpSp>
            <p:nvGrpSpPr>
              <p:cNvPr id="10" name="Группа 9"/>
              <p:cNvGrpSpPr/>
              <p:nvPr/>
            </p:nvGrpSpPr>
            <p:grpSpPr>
              <a:xfrm>
                <a:off x="715617" y="1133061"/>
                <a:ext cx="437322" cy="642067"/>
                <a:chOff x="576469" y="1530626"/>
                <a:chExt cx="437322" cy="642067"/>
              </a:xfrm>
            </p:grpSpPr>
            <p:sp>
              <p:nvSpPr>
                <p:cNvPr id="7" name="Багетная рамка 6"/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8" name="Прямоугольник 7"/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9" name="Прямоугольник 8"/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11" name="Группа 10"/>
              <p:cNvGrpSpPr/>
              <p:nvPr/>
            </p:nvGrpSpPr>
            <p:grpSpPr>
              <a:xfrm>
                <a:off x="708991" y="2150829"/>
                <a:ext cx="437322" cy="642067"/>
                <a:chOff x="576469" y="1530626"/>
                <a:chExt cx="437322" cy="642067"/>
              </a:xfrm>
            </p:grpSpPr>
            <p:sp>
              <p:nvSpPr>
                <p:cNvPr id="12" name="Багетная рамка 11"/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3" name="Прямоугольник 12"/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4" name="Прямоугольник 13"/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15" name="Группа 14"/>
              <p:cNvGrpSpPr/>
              <p:nvPr/>
            </p:nvGrpSpPr>
            <p:grpSpPr>
              <a:xfrm>
                <a:off x="715617" y="3107966"/>
                <a:ext cx="437322" cy="642067"/>
                <a:chOff x="576469" y="1530626"/>
                <a:chExt cx="437322" cy="642067"/>
              </a:xfrm>
            </p:grpSpPr>
            <p:sp>
              <p:nvSpPr>
                <p:cNvPr id="16" name="Багетная рамка 15"/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7" name="Прямоугольник 16"/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8" name="Прямоугольник 17"/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</p:grpSp>
        <p:grpSp>
          <p:nvGrpSpPr>
            <p:cNvPr id="75" name="Группа 74"/>
            <p:cNvGrpSpPr/>
            <p:nvPr/>
          </p:nvGrpSpPr>
          <p:grpSpPr>
            <a:xfrm>
              <a:off x="6771857" y="1901686"/>
              <a:ext cx="576469" cy="1232452"/>
              <a:chOff x="1888435" y="1769165"/>
              <a:chExt cx="576469" cy="1232452"/>
            </a:xfrm>
          </p:grpSpPr>
          <p:sp>
            <p:nvSpPr>
              <p:cNvPr id="76" name="Прямоугольник 75"/>
              <p:cNvSpPr/>
              <p:nvPr/>
            </p:nvSpPr>
            <p:spPr>
              <a:xfrm>
                <a:off x="1888435" y="1769165"/>
                <a:ext cx="576469" cy="655983"/>
              </a:xfrm>
              <a:prstGeom prst="rect">
                <a:avLst/>
              </a:prstGeom>
              <a:noFill/>
              <a:ln w="381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7" name="Блок-схема: магнитный диск 76"/>
              <p:cNvSpPr/>
              <p:nvPr/>
            </p:nvSpPr>
            <p:spPr>
              <a:xfrm>
                <a:off x="1948070" y="2643809"/>
                <a:ext cx="457200" cy="357808"/>
              </a:xfrm>
              <a:prstGeom prst="flowChartMagneticDisk">
                <a:avLst/>
              </a:prstGeom>
              <a:noFill/>
              <a:ln w="381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78" name="Прямая соединительная линия 77"/>
              <p:cNvCxnSpPr>
                <a:stCxn id="76" idx="2"/>
                <a:endCxn id="77" idx="1"/>
              </p:cNvCxnSpPr>
              <p:nvPr/>
            </p:nvCxnSpPr>
            <p:spPr>
              <a:xfrm rot="5400000">
                <a:off x="2067340" y="2534478"/>
                <a:ext cx="218661" cy="1588"/>
              </a:xfrm>
              <a:prstGeom prst="line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5" name="Группа 84"/>
            <p:cNvGrpSpPr/>
            <p:nvPr/>
          </p:nvGrpSpPr>
          <p:grpSpPr>
            <a:xfrm>
              <a:off x="7348327" y="1461055"/>
              <a:ext cx="947534" cy="2013664"/>
              <a:chOff x="7348327" y="1461055"/>
              <a:chExt cx="947534" cy="2013664"/>
            </a:xfrm>
          </p:grpSpPr>
          <p:sp>
            <p:nvSpPr>
              <p:cNvPr id="80" name="Минус 79"/>
              <p:cNvSpPr/>
              <p:nvPr/>
            </p:nvSpPr>
            <p:spPr>
              <a:xfrm>
                <a:off x="7818783" y="1461055"/>
                <a:ext cx="477078" cy="45719"/>
              </a:xfrm>
              <a:prstGeom prst="mathMinus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1" name="Минус 80"/>
              <p:cNvSpPr/>
              <p:nvPr/>
            </p:nvSpPr>
            <p:spPr>
              <a:xfrm>
                <a:off x="7812156" y="2488097"/>
                <a:ext cx="477078" cy="45719"/>
              </a:xfrm>
              <a:prstGeom prst="mathMinus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2" name="Минус 81"/>
              <p:cNvSpPr/>
              <p:nvPr/>
            </p:nvSpPr>
            <p:spPr>
              <a:xfrm>
                <a:off x="7805530" y="3429000"/>
                <a:ext cx="477078" cy="45719"/>
              </a:xfrm>
              <a:prstGeom prst="mathMinus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83" name="Прямая соединительная линия 82"/>
              <p:cNvCxnSpPr/>
              <p:nvPr/>
            </p:nvCxnSpPr>
            <p:spPr>
              <a:xfrm>
                <a:off x="7835059" y="1506773"/>
                <a:ext cx="6626" cy="1961983"/>
              </a:xfrm>
              <a:prstGeom prst="line">
                <a:avLst/>
              </a:prstGeom>
              <a:ln w="31750">
                <a:solidFill>
                  <a:schemeClr val="bg2"/>
                </a:solidFill>
              </a:ln>
              <a:scene3d>
                <a:camera prst="orthographicFront">
                  <a:rot lat="0" lon="1080000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Минус 83"/>
              <p:cNvSpPr/>
              <p:nvPr/>
            </p:nvSpPr>
            <p:spPr>
              <a:xfrm>
                <a:off x="7348327" y="2461593"/>
                <a:ext cx="477078" cy="45719"/>
              </a:xfrm>
              <a:prstGeom prst="mathMinus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grpSp>
        <p:nvGrpSpPr>
          <p:cNvPr id="88" name="Группа 87"/>
          <p:cNvGrpSpPr/>
          <p:nvPr/>
        </p:nvGrpSpPr>
        <p:grpSpPr>
          <a:xfrm>
            <a:off x="6486935" y="1103573"/>
            <a:ext cx="1736038" cy="2616972"/>
            <a:chOff x="6771857" y="971052"/>
            <a:chExt cx="1736038" cy="2616972"/>
          </a:xfrm>
        </p:grpSpPr>
        <p:grpSp>
          <p:nvGrpSpPr>
            <p:cNvPr id="89" name="Группа 23"/>
            <p:cNvGrpSpPr/>
            <p:nvPr/>
          </p:nvGrpSpPr>
          <p:grpSpPr>
            <a:xfrm>
              <a:off x="8063947" y="971052"/>
              <a:ext cx="443948" cy="2616972"/>
              <a:chOff x="708991" y="1133061"/>
              <a:chExt cx="443948" cy="2616972"/>
            </a:xfrm>
          </p:grpSpPr>
          <p:grpSp>
            <p:nvGrpSpPr>
              <p:cNvPr id="100" name="Группа 9"/>
              <p:cNvGrpSpPr/>
              <p:nvPr/>
            </p:nvGrpSpPr>
            <p:grpSpPr>
              <a:xfrm>
                <a:off x="715617" y="1133061"/>
                <a:ext cx="437322" cy="642067"/>
                <a:chOff x="576469" y="1530626"/>
                <a:chExt cx="437322" cy="642067"/>
              </a:xfrm>
            </p:grpSpPr>
            <p:sp>
              <p:nvSpPr>
                <p:cNvPr id="109" name="Багетная рамка 108"/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10" name="Прямоугольник 109"/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11" name="Прямоугольник 110"/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101" name="Группа 10"/>
              <p:cNvGrpSpPr/>
              <p:nvPr/>
            </p:nvGrpSpPr>
            <p:grpSpPr>
              <a:xfrm>
                <a:off x="708991" y="2150829"/>
                <a:ext cx="437322" cy="642067"/>
                <a:chOff x="576469" y="1530626"/>
                <a:chExt cx="437322" cy="642067"/>
              </a:xfrm>
            </p:grpSpPr>
            <p:sp>
              <p:nvSpPr>
                <p:cNvPr id="106" name="Багетная рамка 105"/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07" name="Прямоугольник 106"/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08" name="Прямоугольник 13"/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102" name="Группа 14"/>
              <p:cNvGrpSpPr/>
              <p:nvPr/>
            </p:nvGrpSpPr>
            <p:grpSpPr>
              <a:xfrm>
                <a:off x="715617" y="3107966"/>
                <a:ext cx="437322" cy="642067"/>
                <a:chOff x="576469" y="1530626"/>
                <a:chExt cx="437322" cy="642067"/>
              </a:xfrm>
            </p:grpSpPr>
            <p:sp>
              <p:nvSpPr>
                <p:cNvPr id="103" name="Багетная рамка 15"/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04" name="Прямоугольник 103"/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05" name="Прямоугольник 104"/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</p:grpSp>
        <p:grpSp>
          <p:nvGrpSpPr>
            <p:cNvPr id="90" name="Группа 74"/>
            <p:cNvGrpSpPr/>
            <p:nvPr/>
          </p:nvGrpSpPr>
          <p:grpSpPr>
            <a:xfrm>
              <a:off x="6771857" y="1901686"/>
              <a:ext cx="576469" cy="1232452"/>
              <a:chOff x="1888435" y="1769165"/>
              <a:chExt cx="576469" cy="1232452"/>
            </a:xfrm>
          </p:grpSpPr>
          <p:sp>
            <p:nvSpPr>
              <p:cNvPr id="97" name="Прямоугольник 96"/>
              <p:cNvSpPr/>
              <p:nvPr/>
            </p:nvSpPr>
            <p:spPr>
              <a:xfrm>
                <a:off x="1888435" y="1769165"/>
                <a:ext cx="576469" cy="655983"/>
              </a:xfrm>
              <a:prstGeom prst="rect">
                <a:avLst/>
              </a:prstGeom>
              <a:noFill/>
              <a:ln w="381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8" name="Блок-схема: магнитный диск 97"/>
              <p:cNvSpPr/>
              <p:nvPr/>
            </p:nvSpPr>
            <p:spPr>
              <a:xfrm>
                <a:off x="1948070" y="2643809"/>
                <a:ext cx="457200" cy="357808"/>
              </a:xfrm>
              <a:prstGeom prst="flowChartMagneticDisk">
                <a:avLst/>
              </a:prstGeom>
              <a:noFill/>
              <a:ln w="381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99" name="Прямая соединительная линия 98"/>
              <p:cNvCxnSpPr>
                <a:stCxn id="97" idx="2"/>
                <a:endCxn id="98" idx="1"/>
              </p:cNvCxnSpPr>
              <p:nvPr/>
            </p:nvCxnSpPr>
            <p:spPr>
              <a:xfrm rot="5400000">
                <a:off x="2067340" y="2534478"/>
                <a:ext cx="218661" cy="1588"/>
              </a:xfrm>
              <a:prstGeom prst="line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Группа 84"/>
            <p:cNvGrpSpPr/>
            <p:nvPr/>
          </p:nvGrpSpPr>
          <p:grpSpPr>
            <a:xfrm>
              <a:off x="7348327" y="1461055"/>
              <a:ext cx="947534" cy="2013664"/>
              <a:chOff x="7348327" y="1461055"/>
              <a:chExt cx="947534" cy="2013664"/>
            </a:xfrm>
          </p:grpSpPr>
          <p:sp>
            <p:nvSpPr>
              <p:cNvPr id="92" name="Минус 91"/>
              <p:cNvSpPr/>
              <p:nvPr/>
            </p:nvSpPr>
            <p:spPr>
              <a:xfrm>
                <a:off x="7818783" y="1461055"/>
                <a:ext cx="477078" cy="45719"/>
              </a:xfrm>
              <a:prstGeom prst="mathMinus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3" name="Минус 92"/>
              <p:cNvSpPr/>
              <p:nvPr/>
            </p:nvSpPr>
            <p:spPr>
              <a:xfrm>
                <a:off x="7812156" y="2488097"/>
                <a:ext cx="477078" cy="45719"/>
              </a:xfrm>
              <a:prstGeom prst="mathMinus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4" name="Минус 93"/>
              <p:cNvSpPr/>
              <p:nvPr/>
            </p:nvSpPr>
            <p:spPr>
              <a:xfrm>
                <a:off x="7805530" y="3429000"/>
                <a:ext cx="477078" cy="45719"/>
              </a:xfrm>
              <a:prstGeom prst="mathMinus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95" name="Прямая соединительная линия 94"/>
              <p:cNvCxnSpPr/>
              <p:nvPr/>
            </p:nvCxnSpPr>
            <p:spPr>
              <a:xfrm>
                <a:off x="7835059" y="1506773"/>
                <a:ext cx="6626" cy="1961983"/>
              </a:xfrm>
              <a:prstGeom prst="line">
                <a:avLst/>
              </a:prstGeom>
              <a:ln w="31750">
                <a:solidFill>
                  <a:schemeClr val="bg2"/>
                </a:solidFill>
              </a:ln>
              <a:scene3d>
                <a:camera prst="orthographicFront">
                  <a:rot lat="0" lon="1080000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Минус 95"/>
              <p:cNvSpPr/>
              <p:nvPr/>
            </p:nvSpPr>
            <p:spPr>
              <a:xfrm>
                <a:off x="7348327" y="2461593"/>
                <a:ext cx="477078" cy="45719"/>
              </a:xfrm>
              <a:prstGeom prst="mathMinus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grpSp>
        <p:nvGrpSpPr>
          <p:cNvPr id="113" name="Группа 112"/>
          <p:cNvGrpSpPr/>
          <p:nvPr/>
        </p:nvGrpSpPr>
        <p:grpSpPr>
          <a:xfrm>
            <a:off x="1232453" y="3975985"/>
            <a:ext cx="1742659" cy="2616972"/>
            <a:chOff x="861391" y="964428"/>
            <a:chExt cx="1742659" cy="2616972"/>
          </a:xfrm>
        </p:grpSpPr>
        <p:grpSp>
          <p:nvGrpSpPr>
            <p:cNvPr id="114" name="Группа 22"/>
            <p:cNvGrpSpPr/>
            <p:nvPr/>
          </p:nvGrpSpPr>
          <p:grpSpPr>
            <a:xfrm>
              <a:off x="2027581" y="1928191"/>
              <a:ext cx="576469" cy="1232452"/>
              <a:chOff x="1888435" y="1769165"/>
              <a:chExt cx="576469" cy="1232452"/>
            </a:xfrm>
          </p:grpSpPr>
          <p:sp>
            <p:nvSpPr>
              <p:cNvPr id="134" name="Прямоугольник 133"/>
              <p:cNvSpPr/>
              <p:nvPr/>
            </p:nvSpPr>
            <p:spPr>
              <a:xfrm>
                <a:off x="1888435" y="1769165"/>
                <a:ext cx="576469" cy="655983"/>
              </a:xfrm>
              <a:prstGeom prst="rect">
                <a:avLst/>
              </a:prstGeom>
              <a:noFill/>
              <a:ln w="381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5" name="Блок-схема: магнитный диск 134"/>
              <p:cNvSpPr/>
              <p:nvPr/>
            </p:nvSpPr>
            <p:spPr>
              <a:xfrm>
                <a:off x="1948070" y="2643809"/>
                <a:ext cx="457200" cy="357808"/>
              </a:xfrm>
              <a:prstGeom prst="flowChartMagneticDisk">
                <a:avLst/>
              </a:prstGeom>
              <a:noFill/>
              <a:ln w="381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36" name="Прямая соединительная линия 135"/>
              <p:cNvCxnSpPr>
                <a:stCxn id="134" idx="2"/>
                <a:endCxn id="135" idx="1"/>
              </p:cNvCxnSpPr>
              <p:nvPr/>
            </p:nvCxnSpPr>
            <p:spPr>
              <a:xfrm rot="5400000">
                <a:off x="2067340" y="2534478"/>
                <a:ext cx="218661" cy="1588"/>
              </a:xfrm>
              <a:prstGeom prst="line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5" name="Группа 52"/>
            <p:cNvGrpSpPr/>
            <p:nvPr/>
          </p:nvGrpSpPr>
          <p:grpSpPr>
            <a:xfrm>
              <a:off x="1146312" y="1461054"/>
              <a:ext cx="887895" cy="2007702"/>
              <a:chOff x="987287" y="1311965"/>
              <a:chExt cx="887895" cy="2007702"/>
            </a:xfrm>
          </p:grpSpPr>
          <p:sp>
            <p:nvSpPr>
              <p:cNvPr id="129" name="Минус 128"/>
              <p:cNvSpPr/>
              <p:nvPr/>
            </p:nvSpPr>
            <p:spPr>
              <a:xfrm>
                <a:off x="993913" y="1311965"/>
                <a:ext cx="477078" cy="45719"/>
              </a:xfrm>
              <a:prstGeom prst="mathMinus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0" name="Минус 129"/>
              <p:cNvSpPr/>
              <p:nvPr/>
            </p:nvSpPr>
            <p:spPr>
              <a:xfrm>
                <a:off x="987287" y="2339008"/>
                <a:ext cx="477078" cy="45719"/>
              </a:xfrm>
              <a:prstGeom prst="mathMinus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1" name="Минус 130"/>
              <p:cNvSpPr/>
              <p:nvPr/>
            </p:nvSpPr>
            <p:spPr>
              <a:xfrm>
                <a:off x="1000539" y="3273948"/>
                <a:ext cx="477078" cy="45719"/>
              </a:xfrm>
              <a:prstGeom prst="mathMinus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32" name="Прямая соединительная линия 131"/>
              <p:cNvCxnSpPr>
                <a:stCxn id="129" idx="0"/>
                <a:endCxn id="131" idx="0"/>
              </p:cNvCxnSpPr>
              <p:nvPr/>
            </p:nvCxnSpPr>
            <p:spPr>
              <a:xfrm>
                <a:off x="1407754" y="1334825"/>
                <a:ext cx="6626" cy="1961983"/>
              </a:xfrm>
              <a:prstGeom prst="line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Минус 132"/>
              <p:cNvSpPr/>
              <p:nvPr/>
            </p:nvSpPr>
            <p:spPr>
              <a:xfrm>
                <a:off x="1398104" y="2352260"/>
                <a:ext cx="477078" cy="45719"/>
              </a:xfrm>
              <a:prstGeom prst="mathMinus">
                <a:avLst/>
              </a:prstGeom>
              <a:ln w="317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16" name="Группа 61"/>
            <p:cNvGrpSpPr/>
            <p:nvPr/>
          </p:nvGrpSpPr>
          <p:grpSpPr>
            <a:xfrm>
              <a:off x="861391" y="964428"/>
              <a:ext cx="443948" cy="2616972"/>
              <a:chOff x="708991" y="1133061"/>
              <a:chExt cx="443948" cy="2616972"/>
            </a:xfrm>
          </p:grpSpPr>
          <p:grpSp>
            <p:nvGrpSpPr>
              <p:cNvPr id="117" name="Группа 9"/>
              <p:cNvGrpSpPr/>
              <p:nvPr/>
            </p:nvGrpSpPr>
            <p:grpSpPr>
              <a:xfrm>
                <a:off x="715617" y="1133061"/>
                <a:ext cx="437322" cy="642067"/>
                <a:chOff x="576469" y="1530626"/>
                <a:chExt cx="437322" cy="642067"/>
              </a:xfrm>
            </p:grpSpPr>
            <p:sp>
              <p:nvSpPr>
                <p:cNvPr id="126" name="Багетная рамка 125"/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27" name="Прямоугольник 126"/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28" name="Прямоугольник 127"/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118" name="Группа 10"/>
              <p:cNvGrpSpPr/>
              <p:nvPr/>
            </p:nvGrpSpPr>
            <p:grpSpPr>
              <a:xfrm>
                <a:off x="708991" y="2150829"/>
                <a:ext cx="437322" cy="642067"/>
                <a:chOff x="576469" y="1530626"/>
                <a:chExt cx="437322" cy="642067"/>
              </a:xfrm>
            </p:grpSpPr>
            <p:sp>
              <p:nvSpPr>
                <p:cNvPr id="123" name="Багетная рамка 122"/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24" name="Прямоугольник 123"/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25" name="Прямоугольник 124"/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119" name="Группа 14"/>
              <p:cNvGrpSpPr/>
              <p:nvPr/>
            </p:nvGrpSpPr>
            <p:grpSpPr>
              <a:xfrm>
                <a:off x="715617" y="3107966"/>
                <a:ext cx="437322" cy="642067"/>
                <a:chOff x="576469" y="1530626"/>
                <a:chExt cx="437322" cy="642067"/>
              </a:xfrm>
            </p:grpSpPr>
            <p:sp>
              <p:nvSpPr>
                <p:cNvPr id="120" name="Багетная рамка 119"/>
                <p:cNvSpPr/>
                <p:nvPr/>
              </p:nvSpPr>
              <p:spPr>
                <a:xfrm>
                  <a:off x="576469" y="1530626"/>
                  <a:ext cx="437322" cy="417444"/>
                </a:xfrm>
                <a:prstGeom prst="bevel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21" name="Прямоугольник 120"/>
                <p:cNvSpPr/>
                <p:nvPr/>
              </p:nvSpPr>
              <p:spPr>
                <a:xfrm>
                  <a:off x="655984" y="2126974"/>
                  <a:ext cx="318052" cy="4571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22" name="Прямоугольник 121"/>
                <p:cNvSpPr/>
                <p:nvPr/>
              </p:nvSpPr>
              <p:spPr>
                <a:xfrm>
                  <a:off x="775252" y="1967948"/>
                  <a:ext cx="59635" cy="13914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</p:grpSp>
      </p:grpSp>
      <p:sp>
        <p:nvSpPr>
          <p:cNvPr id="139" name="Полилиния 138"/>
          <p:cNvSpPr/>
          <p:nvPr/>
        </p:nvSpPr>
        <p:spPr>
          <a:xfrm>
            <a:off x="3240158" y="3170583"/>
            <a:ext cx="3279912" cy="1679713"/>
          </a:xfrm>
          <a:custGeom>
            <a:avLst/>
            <a:gdLst>
              <a:gd name="connsiteX0" fmla="*/ 384834 w 2929251"/>
              <a:gd name="connsiteY0" fmla="*/ 1172817 h 2335920"/>
              <a:gd name="connsiteX1" fmla="*/ 265564 w 2929251"/>
              <a:gd name="connsiteY1" fmla="*/ 1113183 h 2335920"/>
              <a:gd name="connsiteX2" fmla="*/ 146295 w 2929251"/>
              <a:gd name="connsiteY2" fmla="*/ 1053548 h 2335920"/>
              <a:gd name="connsiteX3" fmla="*/ 86660 w 2929251"/>
              <a:gd name="connsiteY3" fmla="*/ 1013791 h 2335920"/>
              <a:gd name="connsiteX4" fmla="*/ 66782 w 2929251"/>
              <a:gd name="connsiteY4" fmla="*/ 954156 h 2335920"/>
              <a:gd name="connsiteX5" fmla="*/ 27025 w 2929251"/>
              <a:gd name="connsiteY5" fmla="*/ 894522 h 2335920"/>
              <a:gd name="connsiteX6" fmla="*/ 7147 w 2929251"/>
              <a:gd name="connsiteY6" fmla="*/ 834887 h 2335920"/>
              <a:gd name="connsiteX7" fmla="*/ 46903 w 2929251"/>
              <a:gd name="connsiteY7" fmla="*/ 477078 h 2335920"/>
              <a:gd name="connsiteX8" fmla="*/ 66782 w 2929251"/>
              <a:gd name="connsiteY8" fmla="*/ 397565 h 2335920"/>
              <a:gd name="connsiteX9" fmla="*/ 86660 w 2929251"/>
              <a:gd name="connsiteY9" fmla="*/ 298174 h 2335920"/>
              <a:gd name="connsiteX10" fmla="*/ 126416 w 2929251"/>
              <a:gd name="connsiteY10" fmla="*/ 178904 h 2335920"/>
              <a:gd name="connsiteX11" fmla="*/ 146295 w 2929251"/>
              <a:gd name="connsiteY11" fmla="*/ 119269 h 2335920"/>
              <a:gd name="connsiteX12" fmla="*/ 305321 w 2929251"/>
              <a:gd name="connsiteY12" fmla="*/ 19878 h 2335920"/>
              <a:gd name="connsiteX13" fmla="*/ 364955 w 2929251"/>
              <a:gd name="connsiteY13" fmla="*/ 0 h 2335920"/>
              <a:gd name="connsiteX14" fmla="*/ 2014851 w 2929251"/>
              <a:gd name="connsiteY14" fmla="*/ 19878 h 2335920"/>
              <a:gd name="connsiteX15" fmla="*/ 2253390 w 2929251"/>
              <a:gd name="connsiteY15" fmla="*/ 139148 h 2335920"/>
              <a:gd name="connsiteX16" fmla="*/ 2313025 w 2929251"/>
              <a:gd name="connsiteY16" fmla="*/ 178904 h 2335920"/>
              <a:gd name="connsiteX17" fmla="*/ 2372660 w 2929251"/>
              <a:gd name="connsiteY17" fmla="*/ 218661 h 2335920"/>
              <a:gd name="connsiteX18" fmla="*/ 2412416 w 2929251"/>
              <a:gd name="connsiteY18" fmla="*/ 278296 h 2335920"/>
              <a:gd name="connsiteX19" fmla="*/ 2511808 w 2929251"/>
              <a:gd name="connsiteY19" fmla="*/ 377687 h 2335920"/>
              <a:gd name="connsiteX20" fmla="*/ 2611199 w 2929251"/>
              <a:gd name="connsiteY20" fmla="*/ 556591 h 2335920"/>
              <a:gd name="connsiteX21" fmla="*/ 2670834 w 2929251"/>
              <a:gd name="connsiteY21" fmla="*/ 596348 h 2335920"/>
              <a:gd name="connsiteX22" fmla="*/ 2690712 w 2929251"/>
              <a:gd name="connsiteY22" fmla="*/ 655983 h 2335920"/>
              <a:gd name="connsiteX23" fmla="*/ 2770225 w 2929251"/>
              <a:gd name="connsiteY23" fmla="*/ 775252 h 2335920"/>
              <a:gd name="connsiteX24" fmla="*/ 2790103 w 2929251"/>
              <a:gd name="connsiteY24" fmla="*/ 834887 h 2335920"/>
              <a:gd name="connsiteX25" fmla="*/ 2849738 w 2929251"/>
              <a:gd name="connsiteY25" fmla="*/ 874643 h 2335920"/>
              <a:gd name="connsiteX26" fmla="*/ 2909373 w 2929251"/>
              <a:gd name="connsiteY26" fmla="*/ 993913 h 2335920"/>
              <a:gd name="connsiteX27" fmla="*/ 2929251 w 2929251"/>
              <a:gd name="connsiteY27" fmla="*/ 1053548 h 2335920"/>
              <a:gd name="connsiteX28" fmla="*/ 2889495 w 2929251"/>
              <a:gd name="connsiteY28" fmla="*/ 1113183 h 2335920"/>
              <a:gd name="connsiteX29" fmla="*/ 2710590 w 2929251"/>
              <a:gd name="connsiteY29" fmla="*/ 1252330 h 2335920"/>
              <a:gd name="connsiteX30" fmla="*/ 2631077 w 2929251"/>
              <a:gd name="connsiteY30" fmla="*/ 1431235 h 2335920"/>
              <a:gd name="connsiteX31" fmla="*/ 2611199 w 2929251"/>
              <a:gd name="connsiteY31" fmla="*/ 1490869 h 2335920"/>
              <a:gd name="connsiteX32" fmla="*/ 2551564 w 2929251"/>
              <a:gd name="connsiteY32" fmla="*/ 1610139 h 2335920"/>
              <a:gd name="connsiteX33" fmla="*/ 2491929 w 2929251"/>
              <a:gd name="connsiteY33" fmla="*/ 1649896 h 2335920"/>
              <a:gd name="connsiteX34" fmla="*/ 2432295 w 2929251"/>
              <a:gd name="connsiteY34" fmla="*/ 1669774 h 2335920"/>
              <a:gd name="connsiteX35" fmla="*/ 2253390 w 2929251"/>
              <a:gd name="connsiteY35" fmla="*/ 1689652 h 2335920"/>
              <a:gd name="connsiteX36" fmla="*/ 2193755 w 2929251"/>
              <a:gd name="connsiteY36" fmla="*/ 1709530 h 2335920"/>
              <a:gd name="connsiteX37" fmla="*/ 2114242 w 2929251"/>
              <a:gd name="connsiteY37" fmla="*/ 1888435 h 2335920"/>
              <a:gd name="connsiteX38" fmla="*/ 2094364 w 2929251"/>
              <a:gd name="connsiteY38" fmla="*/ 1948069 h 2335920"/>
              <a:gd name="connsiteX39" fmla="*/ 2034729 w 2929251"/>
              <a:gd name="connsiteY39" fmla="*/ 2067339 h 2335920"/>
              <a:gd name="connsiteX40" fmla="*/ 1994973 w 2929251"/>
              <a:gd name="connsiteY40" fmla="*/ 2206487 h 2335920"/>
              <a:gd name="connsiteX41" fmla="*/ 1935338 w 2929251"/>
              <a:gd name="connsiteY41" fmla="*/ 2266122 h 2335920"/>
              <a:gd name="connsiteX42" fmla="*/ 1875703 w 2929251"/>
              <a:gd name="connsiteY42" fmla="*/ 2286000 h 2335920"/>
              <a:gd name="connsiteX43" fmla="*/ 1736555 w 2929251"/>
              <a:gd name="connsiteY43" fmla="*/ 2325756 h 2335920"/>
              <a:gd name="connsiteX44" fmla="*/ 1358869 w 2929251"/>
              <a:gd name="connsiteY44" fmla="*/ 2305878 h 2335920"/>
              <a:gd name="connsiteX45" fmla="*/ 1299234 w 2929251"/>
              <a:gd name="connsiteY45" fmla="*/ 2266122 h 2335920"/>
              <a:gd name="connsiteX46" fmla="*/ 1179964 w 2929251"/>
              <a:gd name="connsiteY46" fmla="*/ 2226365 h 2335920"/>
              <a:gd name="connsiteX47" fmla="*/ 1001060 w 2929251"/>
              <a:gd name="connsiteY47" fmla="*/ 2166730 h 2335920"/>
              <a:gd name="connsiteX48" fmla="*/ 941425 w 2929251"/>
              <a:gd name="connsiteY48" fmla="*/ 2146852 h 2335920"/>
              <a:gd name="connsiteX49" fmla="*/ 881790 w 2929251"/>
              <a:gd name="connsiteY49" fmla="*/ 2126974 h 2335920"/>
              <a:gd name="connsiteX50" fmla="*/ 722764 w 2929251"/>
              <a:gd name="connsiteY50" fmla="*/ 2107096 h 2335920"/>
              <a:gd name="connsiteX51" fmla="*/ 643251 w 2929251"/>
              <a:gd name="connsiteY51" fmla="*/ 2087217 h 2335920"/>
              <a:gd name="connsiteX52" fmla="*/ 543860 w 2929251"/>
              <a:gd name="connsiteY52" fmla="*/ 2067339 h 2335920"/>
              <a:gd name="connsiteX53" fmla="*/ 484225 w 2929251"/>
              <a:gd name="connsiteY53" fmla="*/ 2047461 h 2335920"/>
              <a:gd name="connsiteX54" fmla="*/ 424590 w 2929251"/>
              <a:gd name="connsiteY54" fmla="*/ 2007704 h 2335920"/>
              <a:gd name="connsiteX55" fmla="*/ 305321 w 2929251"/>
              <a:gd name="connsiteY55" fmla="*/ 1967948 h 2335920"/>
              <a:gd name="connsiteX56" fmla="*/ 245686 w 2929251"/>
              <a:gd name="connsiteY56" fmla="*/ 1709530 h 2335920"/>
              <a:gd name="connsiteX57" fmla="*/ 265564 w 2929251"/>
              <a:gd name="connsiteY57" fmla="*/ 1630017 h 2335920"/>
              <a:gd name="connsiteX58" fmla="*/ 345077 w 2929251"/>
              <a:gd name="connsiteY58" fmla="*/ 1510748 h 2335920"/>
              <a:gd name="connsiteX59" fmla="*/ 364955 w 2929251"/>
              <a:gd name="connsiteY59" fmla="*/ 1431235 h 2335920"/>
              <a:gd name="connsiteX60" fmla="*/ 404712 w 2929251"/>
              <a:gd name="connsiteY60" fmla="*/ 1311965 h 2335920"/>
              <a:gd name="connsiteX61" fmla="*/ 384834 w 2929251"/>
              <a:gd name="connsiteY61" fmla="*/ 1252330 h 2335920"/>
              <a:gd name="connsiteX62" fmla="*/ 384834 w 2929251"/>
              <a:gd name="connsiteY62" fmla="*/ 1172817 h 233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2929251" h="2335920">
                <a:moveTo>
                  <a:pt x="384834" y="1172817"/>
                </a:moveTo>
                <a:cubicBezTo>
                  <a:pt x="364956" y="1149626"/>
                  <a:pt x="430172" y="1195487"/>
                  <a:pt x="265564" y="1113183"/>
                </a:cubicBezTo>
                <a:cubicBezTo>
                  <a:pt x="111423" y="1036113"/>
                  <a:pt x="296189" y="1103513"/>
                  <a:pt x="146295" y="1053548"/>
                </a:cubicBezTo>
                <a:cubicBezTo>
                  <a:pt x="126417" y="1040296"/>
                  <a:pt x="101584" y="1032447"/>
                  <a:pt x="86660" y="1013791"/>
                </a:cubicBezTo>
                <a:cubicBezTo>
                  <a:pt x="73570" y="997429"/>
                  <a:pt x="76153" y="972897"/>
                  <a:pt x="66782" y="954156"/>
                </a:cubicBezTo>
                <a:cubicBezTo>
                  <a:pt x="56098" y="932788"/>
                  <a:pt x="40277" y="914400"/>
                  <a:pt x="27025" y="894522"/>
                </a:cubicBezTo>
                <a:cubicBezTo>
                  <a:pt x="20399" y="874644"/>
                  <a:pt x="7147" y="855841"/>
                  <a:pt x="7147" y="834887"/>
                </a:cubicBezTo>
                <a:cubicBezTo>
                  <a:pt x="7147" y="468155"/>
                  <a:pt x="0" y="641237"/>
                  <a:pt x="46903" y="477078"/>
                </a:cubicBezTo>
                <a:cubicBezTo>
                  <a:pt x="54408" y="450809"/>
                  <a:pt x="60855" y="424235"/>
                  <a:pt x="66782" y="397565"/>
                </a:cubicBezTo>
                <a:cubicBezTo>
                  <a:pt x="74111" y="364583"/>
                  <a:pt x="77770" y="330770"/>
                  <a:pt x="86660" y="298174"/>
                </a:cubicBezTo>
                <a:cubicBezTo>
                  <a:pt x="97686" y="257743"/>
                  <a:pt x="113164" y="218661"/>
                  <a:pt x="126416" y="178904"/>
                </a:cubicBezTo>
                <a:cubicBezTo>
                  <a:pt x="133042" y="159026"/>
                  <a:pt x="134672" y="136704"/>
                  <a:pt x="146295" y="119269"/>
                </a:cubicBezTo>
                <a:cubicBezTo>
                  <a:pt x="209297" y="24766"/>
                  <a:pt x="163387" y="67190"/>
                  <a:pt x="305321" y="19878"/>
                </a:cubicBezTo>
                <a:lnTo>
                  <a:pt x="364955" y="0"/>
                </a:lnTo>
                <a:cubicBezTo>
                  <a:pt x="914920" y="6626"/>
                  <a:pt x="1465158" y="1349"/>
                  <a:pt x="2014851" y="19878"/>
                </a:cubicBezTo>
                <a:cubicBezTo>
                  <a:pt x="2101533" y="22800"/>
                  <a:pt x="2188090" y="95615"/>
                  <a:pt x="2253390" y="139148"/>
                </a:cubicBezTo>
                <a:lnTo>
                  <a:pt x="2313025" y="178904"/>
                </a:lnTo>
                <a:lnTo>
                  <a:pt x="2372660" y="218661"/>
                </a:lnTo>
                <a:cubicBezTo>
                  <a:pt x="2385912" y="238539"/>
                  <a:pt x="2395523" y="261403"/>
                  <a:pt x="2412416" y="278296"/>
                </a:cubicBezTo>
                <a:cubicBezTo>
                  <a:pt x="2544942" y="410822"/>
                  <a:pt x="2405786" y="218656"/>
                  <a:pt x="2511808" y="377687"/>
                </a:cubicBezTo>
                <a:cubicBezTo>
                  <a:pt x="2532522" y="439831"/>
                  <a:pt x="2552610" y="517532"/>
                  <a:pt x="2611199" y="556591"/>
                </a:cubicBezTo>
                <a:lnTo>
                  <a:pt x="2670834" y="596348"/>
                </a:lnTo>
                <a:cubicBezTo>
                  <a:pt x="2677460" y="616226"/>
                  <a:pt x="2680536" y="637666"/>
                  <a:pt x="2690712" y="655983"/>
                </a:cubicBezTo>
                <a:cubicBezTo>
                  <a:pt x="2713917" y="697751"/>
                  <a:pt x="2755115" y="729923"/>
                  <a:pt x="2770225" y="775252"/>
                </a:cubicBezTo>
                <a:cubicBezTo>
                  <a:pt x="2776851" y="795130"/>
                  <a:pt x="2777013" y="818525"/>
                  <a:pt x="2790103" y="834887"/>
                </a:cubicBezTo>
                <a:cubicBezTo>
                  <a:pt x="2805027" y="853542"/>
                  <a:pt x="2829860" y="861391"/>
                  <a:pt x="2849738" y="874643"/>
                </a:cubicBezTo>
                <a:cubicBezTo>
                  <a:pt x="2899702" y="1024537"/>
                  <a:pt x="2832304" y="839774"/>
                  <a:pt x="2909373" y="993913"/>
                </a:cubicBezTo>
                <a:cubicBezTo>
                  <a:pt x="2918744" y="1012654"/>
                  <a:pt x="2922625" y="1033670"/>
                  <a:pt x="2929251" y="1053548"/>
                </a:cubicBezTo>
                <a:cubicBezTo>
                  <a:pt x="2915999" y="1073426"/>
                  <a:pt x="2907475" y="1097451"/>
                  <a:pt x="2889495" y="1113183"/>
                </a:cubicBezTo>
                <a:cubicBezTo>
                  <a:pt x="2753106" y="1232523"/>
                  <a:pt x="2800322" y="1144652"/>
                  <a:pt x="2710590" y="1252330"/>
                </a:cubicBezTo>
                <a:cubicBezTo>
                  <a:pt x="2658090" y="1315330"/>
                  <a:pt x="2659968" y="1344562"/>
                  <a:pt x="2631077" y="1431235"/>
                </a:cubicBezTo>
                <a:lnTo>
                  <a:pt x="2611199" y="1490869"/>
                </a:lnTo>
                <a:cubicBezTo>
                  <a:pt x="2595031" y="1539373"/>
                  <a:pt x="2590100" y="1571603"/>
                  <a:pt x="2551564" y="1610139"/>
                </a:cubicBezTo>
                <a:cubicBezTo>
                  <a:pt x="2534671" y="1627032"/>
                  <a:pt x="2513298" y="1639212"/>
                  <a:pt x="2491929" y="1649896"/>
                </a:cubicBezTo>
                <a:cubicBezTo>
                  <a:pt x="2473188" y="1659267"/>
                  <a:pt x="2452963" y="1666329"/>
                  <a:pt x="2432295" y="1669774"/>
                </a:cubicBezTo>
                <a:cubicBezTo>
                  <a:pt x="2373109" y="1679638"/>
                  <a:pt x="2313025" y="1683026"/>
                  <a:pt x="2253390" y="1689652"/>
                </a:cubicBezTo>
                <a:cubicBezTo>
                  <a:pt x="2233512" y="1696278"/>
                  <a:pt x="2210117" y="1696440"/>
                  <a:pt x="2193755" y="1709530"/>
                </a:cubicBezTo>
                <a:cubicBezTo>
                  <a:pt x="2150800" y="1743894"/>
                  <a:pt x="2126389" y="1851994"/>
                  <a:pt x="2114242" y="1888435"/>
                </a:cubicBezTo>
                <a:cubicBezTo>
                  <a:pt x="2107616" y="1908313"/>
                  <a:pt x="2105987" y="1930635"/>
                  <a:pt x="2094364" y="1948069"/>
                </a:cubicBezTo>
                <a:cubicBezTo>
                  <a:pt x="2050806" y="2013407"/>
                  <a:pt x="2055304" y="1995329"/>
                  <a:pt x="2034729" y="2067339"/>
                </a:cubicBezTo>
                <a:cubicBezTo>
                  <a:pt x="2031416" y="2078936"/>
                  <a:pt x="2006888" y="2188614"/>
                  <a:pt x="1994973" y="2206487"/>
                </a:cubicBezTo>
                <a:cubicBezTo>
                  <a:pt x="1979379" y="2229878"/>
                  <a:pt x="1958729" y="2250528"/>
                  <a:pt x="1935338" y="2266122"/>
                </a:cubicBezTo>
                <a:cubicBezTo>
                  <a:pt x="1917904" y="2277745"/>
                  <a:pt x="1895850" y="2280244"/>
                  <a:pt x="1875703" y="2286000"/>
                </a:cubicBezTo>
                <a:cubicBezTo>
                  <a:pt x="1700981" y="2335920"/>
                  <a:pt x="1879539" y="2278095"/>
                  <a:pt x="1736555" y="2325756"/>
                </a:cubicBezTo>
                <a:cubicBezTo>
                  <a:pt x="1610660" y="2319130"/>
                  <a:pt x="1483783" y="2322911"/>
                  <a:pt x="1358869" y="2305878"/>
                </a:cubicBezTo>
                <a:cubicBezTo>
                  <a:pt x="1335197" y="2302650"/>
                  <a:pt x="1321066" y="2275825"/>
                  <a:pt x="1299234" y="2266122"/>
                </a:cubicBezTo>
                <a:cubicBezTo>
                  <a:pt x="1260939" y="2249102"/>
                  <a:pt x="1219721" y="2239617"/>
                  <a:pt x="1179964" y="2226365"/>
                </a:cubicBezTo>
                <a:lnTo>
                  <a:pt x="1001060" y="2166730"/>
                </a:lnTo>
                <a:lnTo>
                  <a:pt x="941425" y="2146852"/>
                </a:lnTo>
                <a:cubicBezTo>
                  <a:pt x="921547" y="2140226"/>
                  <a:pt x="902582" y="2129573"/>
                  <a:pt x="881790" y="2126974"/>
                </a:cubicBezTo>
                <a:lnTo>
                  <a:pt x="722764" y="2107096"/>
                </a:lnTo>
                <a:cubicBezTo>
                  <a:pt x="696260" y="2100470"/>
                  <a:pt x="669921" y="2093144"/>
                  <a:pt x="643251" y="2087217"/>
                </a:cubicBezTo>
                <a:cubicBezTo>
                  <a:pt x="610269" y="2079888"/>
                  <a:pt x="576638" y="2075533"/>
                  <a:pt x="543860" y="2067339"/>
                </a:cubicBezTo>
                <a:cubicBezTo>
                  <a:pt x="523532" y="2062257"/>
                  <a:pt x="504103" y="2054087"/>
                  <a:pt x="484225" y="2047461"/>
                </a:cubicBezTo>
                <a:cubicBezTo>
                  <a:pt x="464347" y="2034209"/>
                  <a:pt x="446422" y="2017407"/>
                  <a:pt x="424590" y="2007704"/>
                </a:cubicBezTo>
                <a:cubicBezTo>
                  <a:pt x="386295" y="1990684"/>
                  <a:pt x="305321" y="1967948"/>
                  <a:pt x="305321" y="1967948"/>
                </a:cubicBezTo>
                <a:cubicBezTo>
                  <a:pt x="205639" y="1818424"/>
                  <a:pt x="213343" y="1887418"/>
                  <a:pt x="245686" y="1709530"/>
                </a:cubicBezTo>
                <a:cubicBezTo>
                  <a:pt x="250573" y="1682651"/>
                  <a:pt x="253346" y="1654453"/>
                  <a:pt x="265564" y="1630017"/>
                </a:cubicBezTo>
                <a:cubicBezTo>
                  <a:pt x="286932" y="1587280"/>
                  <a:pt x="345077" y="1510748"/>
                  <a:pt x="345077" y="1510748"/>
                </a:cubicBezTo>
                <a:cubicBezTo>
                  <a:pt x="351703" y="1484244"/>
                  <a:pt x="357105" y="1457403"/>
                  <a:pt x="364955" y="1431235"/>
                </a:cubicBezTo>
                <a:cubicBezTo>
                  <a:pt x="376997" y="1391095"/>
                  <a:pt x="404712" y="1311965"/>
                  <a:pt x="404712" y="1311965"/>
                </a:cubicBezTo>
                <a:cubicBezTo>
                  <a:pt x="398086" y="1292087"/>
                  <a:pt x="394205" y="1271071"/>
                  <a:pt x="384834" y="1252330"/>
                </a:cubicBezTo>
                <a:cubicBezTo>
                  <a:pt x="374150" y="1230962"/>
                  <a:pt x="404712" y="1196008"/>
                  <a:pt x="384834" y="1172817"/>
                </a:cubicBezTo>
                <a:close/>
              </a:path>
            </a:pathLst>
          </a:cu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0" name="TextBox 139"/>
          <p:cNvSpPr txBox="1"/>
          <p:nvPr/>
        </p:nvSpPr>
        <p:spPr>
          <a:xfrm>
            <a:off x="5400259" y="1424609"/>
            <a:ext cx="187518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rgbClr val="C00000"/>
                </a:solidFill>
              </a:rPr>
              <a:t>Новосибирск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069494" y="6261652"/>
            <a:ext cx="138485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solidFill>
                  <a:srgbClr val="C00000"/>
                </a:solidFill>
              </a:rPr>
              <a:t>Омск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647660" y="3737113"/>
            <a:ext cx="2792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Коммуникационная сеть</a:t>
            </a:r>
          </a:p>
        </p:txBody>
      </p:sp>
      <p:sp>
        <p:nvSpPr>
          <p:cNvPr id="148" name="Дуга 147"/>
          <p:cNvSpPr/>
          <p:nvPr/>
        </p:nvSpPr>
        <p:spPr>
          <a:xfrm>
            <a:off x="1530626" y="2464904"/>
            <a:ext cx="2703445" cy="1391479"/>
          </a:xfrm>
          <a:prstGeom prst="arc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0" name="Дуга 149"/>
          <p:cNvSpPr/>
          <p:nvPr/>
        </p:nvSpPr>
        <p:spPr>
          <a:xfrm>
            <a:off x="5227982" y="2405271"/>
            <a:ext cx="2405270" cy="1411356"/>
          </a:xfrm>
          <a:prstGeom prst="arc">
            <a:avLst>
              <a:gd name="adj1" fmla="val 10535471"/>
              <a:gd name="adj2" fmla="val 16254724"/>
            </a:avLst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1" name="Дуга 150"/>
          <p:cNvSpPr/>
          <p:nvPr/>
        </p:nvSpPr>
        <p:spPr>
          <a:xfrm>
            <a:off x="1868556" y="4088296"/>
            <a:ext cx="2385392" cy="1417981"/>
          </a:xfrm>
          <a:prstGeom prst="arc">
            <a:avLst>
              <a:gd name="adj1" fmla="val 21502180"/>
              <a:gd name="adj2" fmla="val 5875938"/>
            </a:avLst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2" name="Дуга 151"/>
          <p:cNvSpPr/>
          <p:nvPr/>
        </p:nvSpPr>
        <p:spPr>
          <a:xfrm>
            <a:off x="5201477" y="4081670"/>
            <a:ext cx="2392020" cy="1364973"/>
          </a:xfrm>
          <a:prstGeom prst="arc">
            <a:avLst>
              <a:gd name="adj1" fmla="val 5098107"/>
              <a:gd name="adj2" fmla="val 10769269"/>
            </a:avLst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358775" y="0"/>
            <a:ext cx="8785225" cy="668337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Характеристика системы</a:t>
            </a:r>
            <a:endParaRPr lang="ru-RU" sz="3600" i="1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107156" y="740834"/>
            <a:ext cx="9036844" cy="5788304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r>
              <a:rPr lang="ru-RU" sz="2600" dirty="0"/>
              <a:t>Каждый узел обладает :</a:t>
            </a:r>
            <a:endParaRPr lang="ru-RU" sz="2600" b="1" dirty="0"/>
          </a:p>
          <a:p>
            <a:pPr>
              <a:defRPr/>
            </a:pPr>
            <a:r>
              <a:rPr lang="ru-RU" sz="2600" dirty="0"/>
              <a:t>собственной СУБД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ru-RU" sz="2200" dirty="0"/>
              <a:t>собственным программным обеспечением для управления транзакциями (включая ПО для блокировок, протоколирования и восстановления) 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ru-RU" sz="2200" dirty="0"/>
              <a:t>собственным локальным диспетчером передачи данных</a:t>
            </a:r>
          </a:p>
          <a:p>
            <a:pPr>
              <a:defRPr/>
            </a:pPr>
            <a:r>
              <a:rPr lang="ru-RU" sz="2600" dirty="0"/>
              <a:t>собственными базами данных</a:t>
            </a:r>
          </a:p>
          <a:p>
            <a:pPr>
              <a:defRPr/>
            </a:pPr>
            <a:r>
              <a:rPr lang="ru-RU" sz="2600" dirty="0"/>
              <a:t>собственными пользователями</a:t>
            </a:r>
          </a:p>
          <a:p>
            <a:pPr>
              <a:buNone/>
              <a:defRPr/>
            </a:pPr>
            <a:endParaRPr lang="en-US" sz="2600" dirty="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2600" dirty="0"/>
              <a:t>Пользователь может </a:t>
            </a:r>
            <a:r>
              <a:rPr lang="ru-RU" sz="2600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на собственном узле </a:t>
            </a:r>
            <a:r>
              <a:rPr lang="ru-RU" sz="2600" dirty="0"/>
              <a:t>работать как будто </a:t>
            </a:r>
            <a:r>
              <a:rPr lang="ru-RU" sz="2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он </a:t>
            </a:r>
            <a:r>
              <a:rPr lang="ru-RU" sz="2600" b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не является </a:t>
            </a:r>
            <a:r>
              <a:rPr lang="ru-RU" sz="2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частью</a:t>
            </a:r>
            <a:r>
              <a:rPr lang="ru-RU" sz="2600" dirty="0"/>
              <a:t> распределенной системы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4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ED9A557-8EC9-42D6-9A60-E48A81B1A8CF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7173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358775" y="203200"/>
            <a:ext cx="8785225" cy="668337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Распределенная СУБД</a:t>
            </a:r>
            <a:endParaRPr lang="ru-RU" sz="3200" i="1" dirty="0">
              <a:solidFill>
                <a:schemeClr val="bg2"/>
              </a:solidFill>
            </a:endParaRPr>
          </a:p>
        </p:txBody>
      </p:sp>
      <p:sp>
        <p:nvSpPr>
          <p:cNvPr id="14" name="Объект 2"/>
          <p:cNvSpPr>
            <a:spLocks noGrp="1"/>
          </p:cNvSpPr>
          <p:nvPr>
            <p:ph idx="1"/>
          </p:nvPr>
        </p:nvSpPr>
        <p:spPr>
          <a:xfrm>
            <a:off x="107156" y="863600"/>
            <a:ext cx="9036844" cy="5994400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600" dirty="0"/>
              <a:t>Распределенная СУБД – способ </a:t>
            </a:r>
            <a:r>
              <a:rPr lang="ru-RU" sz="2600" b="1" dirty="0"/>
              <a:t>совместной работы </a:t>
            </a:r>
            <a:r>
              <a:rPr lang="ru-RU" sz="2600" dirty="0"/>
              <a:t>отдельных локальных СУБД</a:t>
            </a:r>
          </a:p>
          <a:p>
            <a:pPr>
              <a:lnSpc>
                <a:spcPct val="114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600" b="1" dirty="0"/>
              <a:t>Новый компонент программного обеспечения </a:t>
            </a:r>
            <a:r>
              <a:rPr lang="ru-RU" sz="2600" dirty="0"/>
              <a:t>на каждом узле (логическом продолжении локальной СУБД) поддерживает все необходимые функции совместной работы.</a:t>
            </a:r>
          </a:p>
          <a:p>
            <a:pPr>
              <a:lnSpc>
                <a:spcPct val="114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600" b="1" dirty="0"/>
              <a:t>Комбинация </a:t>
            </a:r>
            <a:r>
              <a:rPr lang="ru-RU" sz="2600" dirty="0"/>
              <a:t>нового ПО и существующей СУБД называется </a:t>
            </a:r>
            <a:r>
              <a:rPr lang="ru-RU" sz="2600" b="1" dirty="0"/>
              <a:t>распределенной системой управления базами данных.</a:t>
            </a:r>
          </a:p>
          <a:p>
            <a:pPr>
              <a:lnSpc>
                <a:spcPct val="114000"/>
              </a:lnSpc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600" dirty="0"/>
              <a:t>Узлы могут быть распределены географически, хотя достаточно логического распределения.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Номер слайда 2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E6670DD-E7F4-46C2-9366-78D15383F4FC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8197" name="Нижний колонтитул 2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 dirty="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06387" y="0"/>
            <a:ext cx="8531225" cy="55880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Преимущества и недостатки</a:t>
            </a:r>
            <a:endParaRPr lang="ru-RU" sz="3600" i="1" dirty="0">
              <a:solidFill>
                <a:schemeClr val="bg2"/>
              </a:solidFill>
            </a:endParaRPr>
          </a:p>
        </p:txBody>
      </p:sp>
      <p:sp>
        <p:nvSpPr>
          <p:cNvPr id="11" name="Содержимое 2"/>
          <p:cNvSpPr>
            <a:spLocks noGrp="1"/>
          </p:cNvSpPr>
          <p:nvPr>
            <p:ph idx="1"/>
          </p:nvPr>
        </p:nvSpPr>
        <p:spPr>
          <a:xfrm>
            <a:off x="129208" y="671342"/>
            <a:ext cx="9014792" cy="6082748"/>
          </a:xfrm>
        </p:spPr>
        <p:txBody>
          <a:bodyPr/>
          <a:lstStyle/>
          <a:p>
            <a:r>
              <a:rPr lang="ru-RU" dirty="0"/>
              <a:t>Преимущества.</a:t>
            </a:r>
          </a:p>
          <a:p>
            <a:pPr lvl="1" indent="-360000"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/>
              <a:t>В распределенной системе </a:t>
            </a:r>
            <a:r>
              <a:rPr lang="ru-RU" b="1" dirty="0"/>
              <a:t>легче отразить распределенную структуру крупных предприятий </a:t>
            </a:r>
            <a:r>
              <a:rPr lang="ru-RU" dirty="0"/>
              <a:t>с помощью распределенной БД (данные распределены по филиалам)</a:t>
            </a:r>
          </a:p>
          <a:p>
            <a:pPr lvl="1" indent="-360000">
              <a:buClr>
                <a:srgbClr val="C00000"/>
              </a:buClr>
              <a:buFont typeface="Wingdings" pitchFamily="2" charset="2"/>
              <a:buChar char="v"/>
            </a:pPr>
            <a:r>
              <a:rPr lang="ru-RU" b="1" dirty="0"/>
              <a:t>Эффективность обработки </a:t>
            </a:r>
            <a:r>
              <a:rPr lang="ru-RU" dirty="0"/>
              <a:t>(данные хранятся в близи того места, где они более всего необходимы) </a:t>
            </a:r>
          </a:p>
          <a:p>
            <a:pPr lvl="1" indent="-360000">
              <a:buClr>
                <a:srgbClr val="C00000"/>
              </a:buClr>
              <a:buFont typeface="Wingdings" pitchFamily="2" charset="2"/>
              <a:buChar char="v"/>
            </a:pPr>
            <a:r>
              <a:rPr lang="ru-RU" b="1" dirty="0"/>
              <a:t>Повышенная доступность </a:t>
            </a:r>
            <a:r>
              <a:rPr lang="ru-RU" dirty="0"/>
              <a:t>(можно по сети извлекать данные филиалов)</a:t>
            </a:r>
          </a:p>
          <a:p>
            <a:r>
              <a:rPr lang="ru-RU" dirty="0"/>
              <a:t>Недостаток – </a:t>
            </a:r>
            <a:r>
              <a:rPr lang="ru-RU" i="1" dirty="0"/>
              <a:t>сложность</a:t>
            </a:r>
            <a:r>
              <a:rPr lang="ru-RU" dirty="0"/>
              <a:t> распределенных систем. Но это для разработчика.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Содержимое 2"/>
          <p:cNvSpPr>
            <a:spLocks noGrp="1"/>
          </p:cNvSpPr>
          <p:nvPr>
            <p:ph idx="1"/>
          </p:nvPr>
        </p:nvSpPr>
        <p:spPr>
          <a:xfrm>
            <a:off x="220132" y="1066800"/>
            <a:ext cx="8923867" cy="5350933"/>
          </a:xfrm>
        </p:spPr>
        <p:txBody>
          <a:bodyPr lIns="36000" tIns="36000" rIns="36000" bIns="36000">
            <a:normAutofit/>
          </a:bodyPr>
          <a:lstStyle/>
          <a:p>
            <a:pPr>
              <a:lnSpc>
                <a:spcPct val="114000"/>
              </a:lnSpc>
              <a:defRPr/>
            </a:pPr>
            <a:r>
              <a:rPr lang="ru-RU" dirty="0">
                <a:solidFill>
                  <a:srgbClr val="7030A0"/>
                </a:solidFill>
              </a:rPr>
              <a:t>Для пользователя распределенная система должна выглядеть точно так же, как </a:t>
            </a:r>
            <a:br>
              <a:rPr lang="ru-RU" dirty="0">
                <a:solidFill>
                  <a:srgbClr val="7030A0"/>
                </a:solidFill>
              </a:rPr>
            </a:br>
            <a:r>
              <a:rPr lang="ru-RU" b="1" dirty="0">
                <a:solidFill>
                  <a:srgbClr val="7030A0"/>
                </a:solidFill>
              </a:rPr>
              <a:t>НЕ распределенная </a:t>
            </a:r>
            <a:r>
              <a:rPr lang="ru-RU" dirty="0">
                <a:solidFill>
                  <a:srgbClr val="7030A0"/>
                </a:solidFill>
              </a:rPr>
              <a:t>система</a:t>
            </a:r>
          </a:p>
          <a:p>
            <a:pPr>
              <a:lnSpc>
                <a:spcPct val="114000"/>
              </a:lnSpc>
              <a:defRPr/>
            </a:pPr>
            <a:r>
              <a:rPr lang="ru-RU" dirty="0"/>
              <a:t>Все связанные с распределением </a:t>
            </a:r>
            <a:r>
              <a:rPr lang="ru-RU" b="1" dirty="0"/>
              <a:t>проблемы должны быть внутренними </a:t>
            </a:r>
            <a:r>
              <a:rPr lang="ru-RU" dirty="0"/>
              <a:t>и возникать только на уровне разработчиков, а не на уровне пользователей.</a:t>
            </a:r>
          </a:p>
          <a:p>
            <a:pPr>
              <a:lnSpc>
                <a:spcPct val="114000"/>
              </a:lnSpc>
              <a:defRPr/>
            </a:pPr>
            <a:r>
              <a:rPr lang="ru-RU" dirty="0"/>
              <a:t>Пользователи – это конечные потребители и разработчики приложений.</a:t>
            </a:r>
          </a:p>
          <a:p>
            <a:pPr>
              <a:lnSpc>
                <a:spcPct val="114000"/>
              </a:lnSpc>
              <a:defRPr/>
            </a:pPr>
            <a:endParaRPr lang="ru-RU" dirty="0"/>
          </a:p>
          <a:p>
            <a:pPr>
              <a:lnSpc>
                <a:spcPct val="114000"/>
              </a:lnSpc>
              <a:defRPr/>
            </a:pPr>
            <a:endParaRPr lang="ru-RU" dirty="0"/>
          </a:p>
          <a:p>
            <a:pPr>
              <a:lnSpc>
                <a:spcPct val="114000"/>
              </a:lnSpc>
              <a:defRPr/>
            </a:pPr>
            <a:endParaRPr lang="ru-RU" dirty="0"/>
          </a:p>
          <a:p>
            <a:pPr>
              <a:lnSpc>
                <a:spcPct val="114000"/>
              </a:lnSpc>
              <a:defRPr/>
            </a:pPr>
            <a:endParaRPr lang="ru-RU" dirty="0"/>
          </a:p>
          <a:p>
            <a:pPr>
              <a:defRPr/>
            </a:pPr>
            <a:endParaRPr lang="ru-RU" dirty="0"/>
          </a:p>
          <a:p>
            <a:pPr>
              <a:defRPr/>
            </a:pPr>
            <a:endParaRPr lang="ru-RU" dirty="0"/>
          </a:p>
        </p:txBody>
      </p:sp>
      <p:sp>
        <p:nvSpPr>
          <p:cNvPr id="922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7682170-C053-4CAE-8747-7DB4F0CA5209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9221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358775" y="270933"/>
            <a:ext cx="8785225" cy="668337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Фундаментальный принцип</a:t>
            </a:r>
            <a:endParaRPr lang="ru-RU" sz="3600" i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68338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Правила или цели для РСБД</a:t>
            </a:r>
            <a:endParaRPr lang="ru-RU" sz="3200" dirty="0"/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3F1C8BE-85E6-4FFB-BF2D-31D6ED28687A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15" name="Содержимое 2"/>
          <p:cNvSpPr>
            <a:spLocks noGrp="1"/>
          </p:cNvSpPr>
          <p:nvPr>
            <p:ph idx="1"/>
          </p:nvPr>
        </p:nvSpPr>
        <p:spPr>
          <a:xfrm>
            <a:off x="284301" y="682486"/>
            <a:ext cx="8635109" cy="5877339"/>
          </a:xfrm>
        </p:spPr>
        <p:txBody>
          <a:bodyPr lIns="36000" tIns="36000" rIns="36000" bIns="36000">
            <a:normAutofit fontScale="70000" lnSpcReduction="20000"/>
          </a:bodyPr>
          <a:lstStyle/>
          <a:p>
            <a:pPr marL="514350" indent="-514350">
              <a:lnSpc>
                <a:spcPct val="114000"/>
              </a:lnSpc>
              <a:buFont typeface="+mj-lt"/>
              <a:buAutoNum type="arabicPeriod"/>
              <a:defRPr/>
            </a:pPr>
            <a:r>
              <a:rPr lang="ru-RU" dirty="0"/>
              <a:t>Локальная автономия</a:t>
            </a:r>
          </a:p>
          <a:p>
            <a:pPr marL="514350" indent="-514350">
              <a:lnSpc>
                <a:spcPct val="114000"/>
              </a:lnSpc>
              <a:buFont typeface="+mj-lt"/>
              <a:buAutoNum type="arabicPeriod"/>
              <a:defRPr/>
            </a:pPr>
            <a:r>
              <a:rPr lang="ru-RU" dirty="0"/>
              <a:t>Независимость от центрального узла</a:t>
            </a:r>
          </a:p>
          <a:p>
            <a:pPr marL="514350" indent="-514350">
              <a:lnSpc>
                <a:spcPct val="114000"/>
              </a:lnSpc>
              <a:buFont typeface="+mj-lt"/>
              <a:buAutoNum type="arabicPeriod"/>
              <a:defRPr/>
            </a:pPr>
            <a:r>
              <a:rPr lang="ru-RU" dirty="0"/>
              <a:t>Непрерывное функционирование</a:t>
            </a:r>
          </a:p>
          <a:p>
            <a:pPr marL="514350" indent="-514350">
              <a:lnSpc>
                <a:spcPct val="114000"/>
              </a:lnSpc>
              <a:buFont typeface="+mj-lt"/>
              <a:buAutoNum type="arabicPeriod"/>
              <a:defRPr/>
            </a:pPr>
            <a:r>
              <a:rPr lang="ru-RU" dirty="0"/>
              <a:t>Независимость от расположения</a:t>
            </a:r>
          </a:p>
          <a:p>
            <a:pPr marL="514350" indent="-514350">
              <a:lnSpc>
                <a:spcPct val="114000"/>
              </a:lnSpc>
              <a:buFont typeface="+mj-lt"/>
              <a:buAutoNum type="arabicPeriod"/>
              <a:defRPr/>
            </a:pPr>
            <a:r>
              <a:rPr lang="ru-RU" dirty="0"/>
              <a:t>Независимость от фрагментации</a:t>
            </a:r>
          </a:p>
          <a:p>
            <a:pPr marL="514350" indent="-514350">
              <a:lnSpc>
                <a:spcPct val="114000"/>
              </a:lnSpc>
              <a:buFont typeface="+mj-lt"/>
              <a:buAutoNum type="arabicPeriod"/>
              <a:defRPr/>
            </a:pPr>
            <a:r>
              <a:rPr lang="ru-RU" dirty="0"/>
              <a:t>Независимость от репликации</a:t>
            </a:r>
          </a:p>
          <a:p>
            <a:pPr marL="514350" indent="-514350">
              <a:lnSpc>
                <a:spcPct val="114000"/>
              </a:lnSpc>
              <a:buFont typeface="+mj-lt"/>
              <a:buAutoNum type="arabicPeriod"/>
              <a:defRPr/>
            </a:pPr>
            <a:r>
              <a:rPr lang="ru-RU" dirty="0"/>
              <a:t>Обработка распределенных запросов</a:t>
            </a:r>
          </a:p>
          <a:p>
            <a:pPr marL="514350" indent="-514350">
              <a:lnSpc>
                <a:spcPct val="114000"/>
              </a:lnSpc>
              <a:buFont typeface="+mj-lt"/>
              <a:buAutoNum type="arabicPeriod"/>
              <a:defRPr/>
            </a:pPr>
            <a:r>
              <a:rPr lang="ru-RU" dirty="0"/>
              <a:t>Управление распределенными транзакциями</a:t>
            </a:r>
          </a:p>
          <a:p>
            <a:pPr marL="514350" indent="-514350">
              <a:lnSpc>
                <a:spcPct val="114000"/>
              </a:lnSpc>
              <a:buFont typeface="+mj-lt"/>
              <a:buAutoNum type="arabicPeriod"/>
              <a:defRPr/>
            </a:pPr>
            <a:r>
              <a:rPr lang="ru-RU" dirty="0"/>
              <a:t>Независимость от аппаратного обеспечения</a:t>
            </a:r>
          </a:p>
          <a:p>
            <a:pPr marL="514350" indent="-514350">
              <a:lnSpc>
                <a:spcPct val="114000"/>
              </a:lnSpc>
              <a:buFont typeface="+mj-lt"/>
              <a:buAutoNum type="arabicPeriod"/>
              <a:defRPr/>
            </a:pPr>
            <a:r>
              <a:rPr lang="ru-RU" dirty="0"/>
              <a:t>Независимость от операционной системы</a:t>
            </a:r>
          </a:p>
          <a:p>
            <a:pPr marL="514350" indent="-514350">
              <a:lnSpc>
                <a:spcPct val="114000"/>
              </a:lnSpc>
              <a:buFont typeface="+mj-lt"/>
              <a:buAutoNum type="arabicPeriod"/>
              <a:defRPr/>
            </a:pPr>
            <a:r>
              <a:rPr lang="ru-RU" dirty="0"/>
              <a:t>Независимость от сети</a:t>
            </a:r>
          </a:p>
          <a:p>
            <a:pPr marL="514350" indent="-514350">
              <a:lnSpc>
                <a:spcPct val="114000"/>
              </a:lnSpc>
              <a:buFont typeface="+mj-lt"/>
              <a:buAutoNum type="arabicPeriod"/>
              <a:defRPr/>
            </a:pPr>
            <a:r>
              <a:rPr lang="ru-RU" dirty="0"/>
              <a:t>Независимость от СУБД</a:t>
            </a:r>
          </a:p>
          <a:p>
            <a:pPr>
              <a:lnSpc>
                <a:spcPct val="114000"/>
              </a:lnSpc>
              <a:buNone/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Введены в статье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4000"/>
              </a:lnSpc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Date C.J. What is a Distributed database Systems, Mass.: Addison-Wesley, 1990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4000"/>
              </a:lnSpc>
              <a:defRPr/>
            </a:pPr>
            <a:endParaRPr lang="ru-RU" dirty="0"/>
          </a:p>
          <a:p>
            <a:pPr>
              <a:lnSpc>
                <a:spcPct val="114000"/>
              </a:lnSpc>
              <a:defRPr/>
            </a:pPr>
            <a:endParaRPr lang="ru-RU" dirty="0"/>
          </a:p>
          <a:p>
            <a:pPr>
              <a:defRPr/>
            </a:pPr>
            <a:endParaRPr lang="ru-RU" dirty="0"/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8417" y="849536"/>
            <a:ext cx="8885583" cy="550627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Локальная автономия означает, что функционирование любого узла Х </a:t>
            </a:r>
            <a:br>
              <a:rPr lang="en-US" dirty="0"/>
            </a:br>
            <a:r>
              <a:rPr lang="ru-RU" b="1" dirty="0">
                <a:solidFill>
                  <a:schemeClr val="bg2"/>
                </a:solidFill>
              </a:rPr>
              <a:t>НЕ зависит </a:t>
            </a:r>
            <a:r>
              <a:rPr lang="ru-RU" dirty="0"/>
              <a:t>от выполнения операций на любом другом узле </a:t>
            </a:r>
            <a:r>
              <a:rPr lang="en-US" dirty="0"/>
              <a:t>Y.</a:t>
            </a:r>
          </a:p>
          <a:p>
            <a:r>
              <a:rPr lang="ru-RU" dirty="0"/>
              <a:t>Управление и владение данными осуществляется локально вместе с локальным ведением учета</a:t>
            </a:r>
          </a:p>
          <a:p>
            <a:r>
              <a:rPr lang="ru-RU" dirty="0"/>
              <a:t>Безопасность, целостность и структура хранения остаются </a:t>
            </a:r>
            <a:r>
              <a:rPr lang="ru-RU" u="sng" dirty="0"/>
              <a:t>под контролем локального узла</a:t>
            </a:r>
          </a:p>
          <a:p>
            <a:r>
              <a:rPr lang="ru-RU" dirty="0"/>
              <a:t>Узлы следует делать автономными в </a:t>
            </a:r>
            <a:r>
              <a:rPr lang="ru-RU" b="1" dirty="0">
                <a:solidFill>
                  <a:schemeClr val="bg2"/>
                </a:solidFill>
              </a:rPr>
              <a:t>максимально возможной степени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65085"/>
            <a:ext cx="8229600" cy="668338"/>
          </a:xfrm>
        </p:spPr>
        <p:txBody>
          <a:bodyPr/>
          <a:lstStyle/>
          <a:p>
            <a:pPr marL="514350" indent="-514350" algn="ctr">
              <a:lnSpc>
                <a:spcPct val="114000"/>
              </a:lnSpc>
              <a:defRPr/>
            </a:pPr>
            <a:r>
              <a:rPr lang="ru-RU" sz="3600" dirty="0">
                <a:solidFill>
                  <a:schemeClr val="bg2"/>
                </a:solidFill>
              </a:rPr>
              <a:t>Локальная автономия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72186"/>
            <a:ext cx="8229600" cy="675861"/>
          </a:xfrm>
        </p:spPr>
        <p:txBody>
          <a:bodyPr/>
          <a:lstStyle/>
          <a:p>
            <a:r>
              <a:rPr lang="ru-RU" sz="3600" dirty="0">
                <a:solidFill>
                  <a:schemeClr val="bg1"/>
                </a:solidFill>
              </a:rPr>
              <a:t>Независимость</a:t>
            </a:r>
            <a:r>
              <a:rPr lang="ru-RU" sz="3600" dirty="0">
                <a:solidFill>
                  <a:schemeClr val="bg2"/>
                </a:solidFill>
              </a:rPr>
              <a:t> от центрального узла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37938"/>
            <a:ext cx="9144000" cy="6120062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Узлы должны рассматриваться как равные.</a:t>
            </a:r>
          </a:p>
          <a:p>
            <a:r>
              <a:rPr lang="ru-RU" dirty="0"/>
              <a:t>НЕ должно быть «основного» узла, который: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dirty="0"/>
              <a:t> Обрабатывает запросы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dirty="0"/>
              <a:t>Управляет транзакциями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v"/>
            </a:pPr>
            <a:r>
              <a:rPr lang="ru-RU" dirty="0"/>
              <a:t>Управляет централизованным присвоением имен </a:t>
            </a:r>
          </a:p>
          <a:p>
            <a:r>
              <a:rPr lang="ru-RU" dirty="0"/>
              <a:t>Если автономность достигнута, то и независимость тоже</a:t>
            </a:r>
          </a:p>
          <a:p>
            <a:r>
              <a:rPr lang="ru-RU" dirty="0"/>
              <a:t>Но если полная автономность не достигнута, то НЕЗАВИСИМОСТЬ сама по себе важна.</a:t>
            </a:r>
          </a:p>
          <a:p>
            <a:r>
              <a:rPr lang="ru-RU" dirty="0"/>
              <a:t>Зависимость от центрального узла – « узкое  место» и уязвимость.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10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146469"/>
            <a:ext cx="8229600" cy="775252"/>
          </a:xfrm>
        </p:spPr>
        <p:txBody>
          <a:bodyPr/>
          <a:lstStyle/>
          <a:p>
            <a:pPr marL="514350" indent="-514350" algn="ctr">
              <a:lnSpc>
                <a:spcPct val="114000"/>
              </a:lnSpc>
              <a:defRPr/>
            </a:pPr>
            <a:r>
              <a:rPr lang="ru-RU" sz="3600" dirty="0">
                <a:solidFill>
                  <a:schemeClr val="bg1"/>
                </a:solidFill>
              </a:rPr>
              <a:t>Непрерывное</a:t>
            </a:r>
            <a:r>
              <a:rPr lang="ru-RU" sz="3600" dirty="0">
                <a:solidFill>
                  <a:schemeClr val="bg2"/>
                </a:solidFill>
              </a:rPr>
              <a:t> функционирование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11</a:t>
            </a:fld>
            <a:endParaRPr lang="ru-RU" dirty="0"/>
          </a:p>
        </p:txBody>
      </p:sp>
      <p:sp>
        <p:nvSpPr>
          <p:cNvPr id="7" name="Содержимое 2"/>
          <p:cNvSpPr>
            <a:spLocks noGrp="1"/>
          </p:cNvSpPr>
          <p:nvPr>
            <p:ph idx="1"/>
          </p:nvPr>
        </p:nvSpPr>
        <p:spPr>
          <a:xfrm>
            <a:off x="188843" y="892431"/>
            <a:ext cx="8766313" cy="572493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Преимущество распределенных систем  в обеспечении непрерывной работы бизнес процессов (надежность и доступность)</a:t>
            </a:r>
          </a:p>
          <a:p>
            <a:r>
              <a:rPr lang="ru-RU" b="1" dirty="0">
                <a:solidFill>
                  <a:schemeClr val="bg2"/>
                </a:solidFill>
              </a:rPr>
              <a:t>Надежность</a:t>
            </a:r>
            <a:r>
              <a:rPr lang="ru-RU" dirty="0"/>
              <a:t> – вероятность  того, что система исправна и работает в любой заданный момент</a:t>
            </a:r>
          </a:p>
          <a:p>
            <a:r>
              <a:rPr lang="ru-RU" b="1" dirty="0">
                <a:solidFill>
                  <a:schemeClr val="bg2"/>
                </a:solidFill>
              </a:rPr>
              <a:t>Доступность</a:t>
            </a:r>
            <a:r>
              <a:rPr lang="ru-RU" dirty="0"/>
              <a:t> – вероятность   того, что система исправна и работает в течение некоторого промежутка времени</a:t>
            </a:r>
          </a:p>
          <a:p>
            <a:r>
              <a:rPr lang="ru-RU" dirty="0"/>
              <a:t>Незапланированные выключения</a:t>
            </a:r>
          </a:p>
          <a:p>
            <a:r>
              <a:rPr lang="ru-RU" dirty="0"/>
              <a:t>В идеале следовало бы исключить </a:t>
            </a:r>
            <a:r>
              <a:rPr lang="ru-RU" b="1" dirty="0"/>
              <a:t>запланированные выключения </a:t>
            </a:r>
            <a:r>
              <a:rPr lang="ru-RU" dirty="0"/>
              <a:t>(обновление ПО, добавление узла)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12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188843" y="892431"/>
            <a:ext cx="8766313" cy="5724939"/>
          </a:xfrm>
        </p:spPr>
        <p:txBody>
          <a:bodyPr>
            <a:normAutofit/>
          </a:bodyPr>
          <a:lstStyle/>
          <a:p>
            <a:r>
              <a:rPr lang="ru-RU" dirty="0"/>
              <a:t>Следует обеспечить режим, при котором создается впечатление, что все данные хранятся на собственном узле.</a:t>
            </a:r>
          </a:p>
          <a:p>
            <a:r>
              <a:rPr lang="ru-RU" dirty="0"/>
              <a:t>Пользователь не должен знать в каком физическом месте хранятся данные</a:t>
            </a:r>
          </a:p>
          <a:p>
            <a:r>
              <a:rPr lang="ru-RU" dirty="0"/>
              <a:t>Упрощаются пользовательские программы</a:t>
            </a:r>
          </a:p>
          <a:p>
            <a:r>
              <a:rPr lang="ru-RU" dirty="0"/>
              <a:t>Обеспечивается миграция данных от узла к узлу без изменения программ</a:t>
            </a:r>
          </a:p>
          <a:p>
            <a:r>
              <a:rPr lang="ru-RU" dirty="0"/>
              <a:t>Расширение концепции (физической) независимости данных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457200" y="-160420"/>
            <a:ext cx="8229600" cy="775252"/>
          </a:xfrm>
        </p:spPr>
        <p:txBody>
          <a:bodyPr/>
          <a:lstStyle/>
          <a:p>
            <a:pPr marL="514350" indent="-514350" algn="ctr">
              <a:lnSpc>
                <a:spcPct val="114000"/>
              </a:lnSpc>
              <a:defRPr/>
            </a:pPr>
            <a:r>
              <a:rPr lang="ru-RU" sz="3600" dirty="0">
                <a:solidFill>
                  <a:schemeClr val="bg1"/>
                </a:solidFill>
              </a:rPr>
              <a:t>Независимость</a:t>
            </a:r>
            <a:r>
              <a:rPr lang="ru-RU" sz="3600" dirty="0">
                <a:solidFill>
                  <a:schemeClr val="bg2"/>
                </a:solidFill>
              </a:rPr>
              <a:t> от расположения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38539"/>
            <a:ext cx="8229600" cy="79513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Фрагментация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13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188843" y="1033670"/>
            <a:ext cx="8766313" cy="5565913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Фрагментация – разделение на части для повышения производительности</a:t>
            </a:r>
          </a:p>
          <a:p>
            <a:pPr>
              <a:buNone/>
            </a:pPr>
            <a:endParaRPr lang="ru-RU" sz="10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EMP</a:t>
            </a:r>
            <a:r>
              <a:rPr lang="ru-RU" sz="2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ru-RU" sz="2800" dirty="0"/>
              <a:t>(</a:t>
            </a:r>
            <a:r>
              <a:rPr lang="en-US" sz="2800" dirty="0"/>
              <a:t>EMP#</a:t>
            </a:r>
            <a:r>
              <a:rPr lang="en-US" sz="2800" b="1" dirty="0"/>
              <a:t>, </a:t>
            </a:r>
            <a:r>
              <a:rPr lang="en-US" sz="2800" dirty="0"/>
              <a:t>DEPT#, Salary)</a:t>
            </a:r>
          </a:p>
          <a:p>
            <a:pPr>
              <a:spcBef>
                <a:spcPts val="0"/>
              </a:spcBef>
              <a:buNone/>
            </a:pPr>
            <a:r>
              <a:rPr lang="ru-RU" sz="2200" dirty="0"/>
              <a:t>          	2000</a:t>
            </a:r>
            <a:r>
              <a:rPr lang="en-US" sz="2200" dirty="0"/>
              <a:t>2</a:t>
            </a:r>
            <a:r>
              <a:rPr lang="ru-RU" sz="2200" dirty="0"/>
              <a:t>	     </a:t>
            </a:r>
            <a:r>
              <a:rPr lang="en-US" sz="2200" dirty="0"/>
              <a:t>D2</a:t>
            </a:r>
            <a:r>
              <a:rPr lang="ru-RU" sz="2200" dirty="0"/>
              <a:t>	        35000</a:t>
            </a:r>
          </a:p>
          <a:p>
            <a:pPr>
              <a:spcBef>
                <a:spcPts val="0"/>
              </a:spcBef>
              <a:buNone/>
            </a:pPr>
            <a:r>
              <a:rPr lang="ru-RU" sz="2200" dirty="0"/>
              <a:t>              ……          …              …..</a:t>
            </a:r>
          </a:p>
          <a:p>
            <a:pPr>
              <a:buNone/>
            </a:pPr>
            <a:r>
              <a:rPr lang="en-US" sz="2800" dirty="0"/>
              <a:t>Fragment </a:t>
            </a:r>
            <a:r>
              <a:rPr lang="en-US" sz="2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EMP</a:t>
            </a:r>
            <a:r>
              <a:rPr lang="en-US" sz="2800" dirty="0"/>
              <a:t> INTO</a:t>
            </a:r>
          </a:p>
          <a:p>
            <a:pPr>
              <a:buNone/>
            </a:pPr>
            <a:r>
              <a:rPr lang="en-US" sz="2800" dirty="0">
                <a:solidFill>
                  <a:srgbClr val="6D1125"/>
                </a:solidFill>
              </a:rPr>
              <a:t>K_EMP</a:t>
            </a:r>
            <a:r>
              <a:rPr lang="en-US" sz="2800" dirty="0"/>
              <a:t> AT SITE ‘</a:t>
            </a:r>
            <a:r>
              <a:rPr lang="ru-RU" sz="2800" dirty="0">
                <a:solidFill>
                  <a:srgbClr val="6D1125"/>
                </a:solidFill>
              </a:rPr>
              <a:t>Кемерово</a:t>
            </a:r>
            <a:r>
              <a:rPr lang="en-US" sz="2800" dirty="0"/>
              <a:t>’ where DEPT# = ‘D1’ </a:t>
            </a:r>
            <a:r>
              <a:rPr lang="en-US" sz="2800" i="1" dirty="0"/>
              <a:t>OR</a:t>
            </a:r>
            <a:r>
              <a:rPr lang="en-US" sz="2800" dirty="0"/>
              <a:t> 						  DEPT# = ‘D3’ </a:t>
            </a:r>
            <a:endParaRPr lang="ru-RU" sz="2800" dirty="0"/>
          </a:p>
          <a:p>
            <a:pPr>
              <a:buNone/>
            </a:pPr>
            <a:r>
              <a:rPr lang="en-US" sz="2800" dirty="0">
                <a:solidFill>
                  <a:srgbClr val="6D1125"/>
                </a:solidFill>
              </a:rPr>
              <a:t>N_EMP</a:t>
            </a:r>
            <a:r>
              <a:rPr lang="en-US" sz="2800" dirty="0"/>
              <a:t> AT SITE ‘</a:t>
            </a:r>
            <a:r>
              <a:rPr lang="ru-RU" sz="2800" dirty="0">
                <a:solidFill>
                  <a:srgbClr val="6D1125"/>
                </a:solidFill>
              </a:rPr>
              <a:t>Новосибирск</a:t>
            </a:r>
            <a:r>
              <a:rPr lang="en-US" sz="2800" dirty="0"/>
              <a:t>’ where DEPT# = ‘D</a:t>
            </a:r>
            <a:r>
              <a:rPr lang="ru-RU" sz="2800" dirty="0"/>
              <a:t>2</a:t>
            </a:r>
            <a:r>
              <a:rPr lang="en-US" sz="2800" dirty="0"/>
              <a:t>’</a:t>
            </a:r>
            <a:endParaRPr lang="ru-RU" sz="2800" dirty="0"/>
          </a:p>
          <a:p>
            <a:pPr>
              <a:buNone/>
            </a:pPr>
            <a:endParaRPr lang="ru-RU" dirty="0"/>
          </a:p>
          <a:p>
            <a:r>
              <a:rPr lang="en-US" dirty="0"/>
              <a:t>2 </a:t>
            </a:r>
            <a:r>
              <a:rPr lang="ru-RU" dirty="0"/>
              <a:t>типа фрагментации – горизонтальная, вертикальная (реляционные операции)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Фрагменты</a:t>
            </a:r>
            <a:r>
              <a:rPr lang="ru-RU" dirty="0"/>
              <a:t> 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14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217267" y="830354"/>
            <a:ext cx="8766313" cy="5724939"/>
          </a:xfrm>
        </p:spPr>
        <p:txBody>
          <a:bodyPr>
            <a:normAutofit/>
          </a:bodyPr>
          <a:lstStyle/>
          <a:p>
            <a:r>
              <a:rPr lang="ru-RU" dirty="0"/>
              <a:t>Фрагмент – любое отношение, которое можно получить из исходного с помощью операций выборки и проекции</a:t>
            </a:r>
          </a:p>
          <a:p>
            <a:r>
              <a:rPr lang="ru-RU" dirty="0"/>
              <a:t>Все фрагменты отношения должны быть </a:t>
            </a:r>
            <a:r>
              <a:rPr lang="ru-RU" b="1" dirty="0"/>
              <a:t>независимы</a:t>
            </a:r>
            <a:r>
              <a:rPr lang="ru-RU" dirty="0"/>
              <a:t>. То есть ни один фрагмент не может быть выведен из других либо иметь выборку или проекцию, которая может быть выведена из других фрагментов</a:t>
            </a:r>
          </a:p>
          <a:p>
            <a:r>
              <a:rPr lang="ru-RU" dirty="0"/>
              <a:t>Проекции </a:t>
            </a:r>
            <a:r>
              <a:rPr lang="ru-RU" b="1" dirty="0"/>
              <a:t>не должны допускать потерю информации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15</a:t>
            </a:fld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733261" y="1234440"/>
          <a:ext cx="367747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EMP#</a:t>
                      </a:r>
                      <a:r>
                        <a:rPr lang="en-US" sz="1800" b="1" dirty="0"/>
                        <a:t>,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DEPT#,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Salary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457200" y="854765"/>
            <a:ext cx="8189843" cy="28823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457201" y="894523"/>
            <a:ext cx="1948069" cy="934278"/>
          </a:xfrm>
        </p:spPr>
        <p:txBody>
          <a:bodyPr/>
          <a:lstStyle/>
          <a:p>
            <a:pPr lvl="0">
              <a:defRPr/>
            </a:pPr>
            <a:r>
              <a:rPr lang="ru-RU" sz="2000" dirty="0">
                <a:solidFill>
                  <a:schemeClr val="bg2"/>
                </a:solidFill>
              </a:rPr>
              <a:t>Восприятие пользователя</a:t>
            </a:r>
          </a:p>
        </p:txBody>
      </p:sp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457200" y="377688"/>
            <a:ext cx="8229600" cy="477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3200" kern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Пример (горизонтальная фрагментация)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457200" y="3737113"/>
            <a:ext cx="4114799" cy="2663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4572000" y="3730487"/>
            <a:ext cx="4075043" cy="2663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636104" y="4199834"/>
          <a:ext cx="3664227" cy="1942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EMP#</a:t>
                      </a:r>
                      <a:r>
                        <a:rPr lang="en-US" sz="1800" b="1" dirty="0"/>
                        <a:t>,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DEPT#,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Salary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4823790" y="4173329"/>
          <a:ext cx="3664227" cy="1456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EMP#</a:t>
                      </a:r>
                      <a:r>
                        <a:rPr lang="en-US" sz="1800" b="1" dirty="0"/>
                        <a:t>,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DEPT#,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Salary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" name="Соединительная линия уступом 15"/>
          <p:cNvCxnSpPr/>
          <p:nvPr/>
        </p:nvCxnSpPr>
        <p:spPr>
          <a:xfrm rot="16200000" flipH="1">
            <a:off x="4437822" y="3563178"/>
            <a:ext cx="745435" cy="47707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ная линия уступом 17"/>
          <p:cNvCxnSpPr/>
          <p:nvPr/>
        </p:nvCxnSpPr>
        <p:spPr>
          <a:xfrm rot="5400000">
            <a:off x="3930927" y="3533361"/>
            <a:ext cx="745435" cy="53671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5981" y="3731151"/>
            <a:ext cx="230587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6D1125"/>
                </a:solidFill>
              </a:rPr>
              <a:t>Кемерово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883966" y="3764282"/>
            <a:ext cx="261730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6D1125"/>
                </a:solidFill>
              </a:rPr>
              <a:t>Новосибирск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9" grpId="0" build="p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16</a:t>
            </a:fld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733261" y="976022"/>
          <a:ext cx="367747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EMP#</a:t>
                      </a:r>
                      <a:r>
                        <a:rPr lang="en-US" sz="1800" b="1" dirty="0"/>
                        <a:t>,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DEPT#,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Salary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457200" y="854765"/>
            <a:ext cx="8189843" cy="25742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457201" y="894523"/>
            <a:ext cx="1948069" cy="934278"/>
          </a:xfrm>
        </p:spPr>
        <p:txBody>
          <a:bodyPr/>
          <a:lstStyle/>
          <a:p>
            <a:pPr lvl="0">
              <a:defRPr/>
            </a:pPr>
            <a:r>
              <a:rPr lang="ru-RU" sz="2000" dirty="0">
                <a:solidFill>
                  <a:schemeClr val="bg2"/>
                </a:solidFill>
              </a:rPr>
              <a:t>Восприятие пользователя</a:t>
            </a:r>
          </a:p>
        </p:txBody>
      </p:sp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457200" y="377688"/>
            <a:ext cx="8229600" cy="477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3200" kern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Пример (вертикальная фрагментация)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457200" y="3429001"/>
            <a:ext cx="4114799" cy="2971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4572000" y="3429001"/>
            <a:ext cx="4075043" cy="29651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Соединительная линия уступом 15"/>
          <p:cNvCxnSpPr/>
          <p:nvPr/>
        </p:nvCxnSpPr>
        <p:spPr>
          <a:xfrm rot="16200000" flipH="1">
            <a:off x="4400550" y="3227733"/>
            <a:ext cx="1118156" cy="77525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ная линия уступом 17"/>
          <p:cNvCxnSpPr/>
          <p:nvPr/>
        </p:nvCxnSpPr>
        <p:spPr>
          <a:xfrm rot="5400000">
            <a:off x="3525907" y="3148218"/>
            <a:ext cx="1138031" cy="95415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6102" y="3429000"/>
            <a:ext cx="230587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6D1125"/>
                </a:solidFill>
              </a:rPr>
              <a:t>Бухгалтерия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6579704" y="3429000"/>
            <a:ext cx="1669774" cy="487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6D1125"/>
                </a:solidFill>
              </a:rPr>
              <a:t>Кадры</a:t>
            </a:r>
            <a:endParaRPr lang="ru-RU" dirty="0"/>
          </a:p>
        </p:txBody>
      </p:sp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1076740" y="3951135"/>
          <a:ext cx="24516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EMP#</a:t>
                      </a:r>
                      <a:r>
                        <a:rPr lang="en-US" sz="1800" b="1" dirty="0"/>
                        <a:t>,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Salary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/>
        </p:nvGraphicFramePr>
        <p:xfrm>
          <a:off x="5509591" y="3995530"/>
          <a:ext cx="275976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9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04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EMP#</a:t>
                      </a:r>
                      <a:r>
                        <a:rPr lang="en-US" sz="1800" b="1" dirty="0"/>
                        <a:t>,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DEPT#,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0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0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0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0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 animBg="1"/>
      <p:bldP spid="12" grpId="0" animBg="1"/>
      <p:bldP spid="19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513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Операции</a:t>
            </a:r>
            <a:r>
              <a:rPr lang="ru-RU" dirty="0"/>
              <a:t> 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17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1" y="894522"/>
            <a:ext cx="9144000" cy="572493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Горизонтальная фрагментация – операция реляционной алгебры «селекция».</a:t>
            </a:r>
          </a:p>
          <a:p>
            <a:r>
              <a:rPr lang="ru-RU" dirty="0"/>
              <a:t>Обратная операция – «объединение».</a:t>
            </a:r>
          </a:p>
          <a:p>
            <a:r>
              <a:rPr lang="ru-RU" dirty="0"/>
              <a:t> Вертикальная фрагментация – операция реляционной алгебры «проекция». </a:t>
            </a:r>
          </a:p>
          <a:p>
            <a:r>
              <a:rPr lang="ru-RU" dirty="0"/>
              <a:t>Необходимость реконструкции исходного отношения БЕЗ потерь. </a:t>
            </a:r>
          </a:p>
          <a:p>
            <a:r>
              <a:rPr lang="ru-RU" dirty="0"/>
              <a:t>Обратная операция – «натуральное соединение».</a:t>
            </a:r>
          </a:p>
          <a:p>
            <a:r>
              <a:rPr lang="ru-RU" dirty="0"/>
              <a:t>Возможно использование скрытых атрибутов.</a:t>
            </a:r>
          </a:p>
          <a:p>
            <a:pPr>
              <a:buNone/>
            </a:pPr>
            <a:r>
              <a:rPr lang="en-US" dirty="0"/>
              <a:t>	EMP(</a:t>
            </a:r>
            <a:r>
              <a:rPr lang="en-US" dirty="0">
                <a:solidFill>
                  <a:srgbClr val="C00000"/>
                </a:solidFill>
              </a:rPr>
              <a:t>EMP#,DEPT#,</a:t>
            </a:r>
            <a:r>
              <a:rPr lang="en-US" dirty="0">
                <a:solidFill>
                  <a:srgbClr val="00B050"/>
                </a:solidFill>
              </a:rPr>
              <a:t>SALARY</a:t>
            </a:r>
            <a:r>
              <a:rPr lang="en-US" dirty="0"/>
              <a:t>) </a:t>
            </a:r>
            <a:r>
              <a:rPr lang="en-US" dirty="0">
                <a:sym typeface="Symbol"/>
              </a:rPr>
              <a:t></a:t>
            </a:r>
          </a:p>
          <a:p>
            <a:pPr>
              <a:buNone/>
            </a:pPr>
            <a:r>
              <a:rPr lang="en-US" dirty="0">
                <a:sym typeface="Symbol"/>
              </a:rPr>
              <a:t>	EMP1(TID,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EMP#,DEPT#</a:t>
            </a:r>
            <a:r>
              <a:rPr lang="en-US" dirty="0"/>
              <a:t>), EMP2(</a:t>
            </a:r>
            <a:r>
              <a:rPr lang="en-US" dirty="0">
                <a:sym typeface="Symbol"/>
              </a:rPr>
              <a:t>TID, </a:t>
            </a:r>
            <a:r>
              <a:rPr lang="en-US" dirty="0">
                <a:solidFill>
                  <a:srgbClr val="00B050"/>
                </a:solidFill>
              </a:rPr>
              <a:t>SALARY</a:t>
            </a:r>
            <a:r>
              <a:rPr lang="en-US" dirty="0"/>
              <a:t>)</a:t>
            </a:r>
            <a:r>
              <a:rPr lang="en-US" dirty="0">
                <a:sym typeface="Symbol"/>
              </a:rPr>
              <a:t> 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88758"/>
            <a:ext cx="8229600" cy="79513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Независимость от фрагментации</a:t>
            </a:r>
            <a:r>
              <a:rPr lang="ru-RU" dirty="0"/>
              <a:t> 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18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0" y="1222513"/>
            <a:ext cx="9143999" cy="4412973"/>
          </a:xfrm>
        </p:spPr>
        <p:txBody>
          <a:bodyPr>
            <a:normAutofit/>
          </a:bodyPr>
          <a:lstStyle/>
          <a:p>
            <a:r>
              <a:rPr lang="ru-RU" dirty="0"/>
              <a:t>Независимость от фрагментации предполагает, что данные для пользователя представляются в виде </a:t>
            </a:r>
            <a:r>
              <a:rPr lang="ru-RU" b="1" dirty="0"/>
              <a:t>логических фрагментов, </a:t>
            </a:r>
            <a:r>
              <a:rPr lang="ru-RU" dirty="0"/>
              <a:t>которые могут быть по разному разбиты на физические фрагменты. </a:t>
            </a:r>
          </a:p>
          <a:p>
            <a:pPr algn="just">
              <a:buNone/>
            </a:pPr>
            <a:endParaRPr lang="ru-RU" dirty="0"/>
          </a:p>
          <a:p>
            <a:r>
              <a:rPr lang="ru-RU" dirty="0"/>
              <a:t>Оптимизация с учетом </a:t>
            </a:r>
            <a:r>
              <a:rPr lang="ru-RU" b="1" dirty="0"/>
              <a:t>физических фрагментов</a:t>
            </a:r>
            <a:r>
              <a:rPr lang="ru-RU" dirty="0"/>
              <a:t> делается системой</a:t>
            </a:r>
            <a:r>
              <a:rPr lang="en-US" dirty="0"/>
              <a:t>.</a:t>
            </a:r>
            <a:endParaRPr lang="ru-RU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192505"/>
            <a:ext cx="8229600" cy="79513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1"/>
                </a:solidFill>
              </a:rPr>
              <a:t>Оптимизация </a:t>
            </a:r>
            <a:r>
              <a:rPr lang="ru-RU" sz="3600" dirty="0">
                <a:solidFill>
                  <a:schemeClr val="bg2"/>
                </a:solidFill>
              </a:rPr>
              <a:t>при фрагментации</a:t>
            </a:r>
            <a:r>
              <a:rPr lang="ru-RU" dirty="0"/>
              <a:t> 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19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80210" y="469154"/>
            <a:ext cx="9063790" cy="6216316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	</a:t>
            </a:r>
            <a:r>
              <a:rPr lang="ru-RU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Исходный запрос</a:t>
            </a:r>
          </a:p>
          <a:p>
            <a:pPr>
              <a:buNone/>
            </a:pPr>
            <a:r>
              <a:rPr lang="ru-RU" sz="2800" dirty="0"/>
              <a:t>	</a:t>
            </a:r>
            <a:r>
              <a:rPr lang="en-US" sz="2800" dirty="0"/>
              <a:t>Select *</a:t>
            </a:r>
            <a:r>
              <a:rPr lang="ru-RU" sz="2800" dirty="0"/>
              <a:t> </a:t>
            </a:r>
            <a:r>
              <a:rPr lang="en-US" sz="2800" dirty="0"/>
              <a:t>From </a:t>
            </a:r>
            <a:r>
              <a:rPr lang="en-US" sz="2800" dirty="0">
                <a:solidFill>
                  <a:schemeClr val="bg2"/>
                </a:solidFill>
              </a:rPr>
              <a:t>EMP</a:t>
            </a:r>
          </a:p>
          <a:p>
            <a:pPr>
              <a:buNone/>
            </a:pPr>
            <a:r>
              <a:rPr lang="en-US" sz="2800" dirty="0"/>
              <a:t>	Where SALARY &gt; 40000 and DEPT# = ‘D1’</a:t>
            </a:r>
            <a:endParaRPr lang="ru-RU" sz="2800" dirty="0"/>
          </a:p>
          <a:p>
            <a:pPr>
              <a:spcBef>
                <a:spcPts val="1200"/>
              </a:spcBef>
            </a:pPr>
            <a:endParaRPr lang="en-US" sz="1100" dirty="0"/>
          </a:p>
          <a:p>
            <a:pPr>
              <a:spcBef>
                <a:spcPts val="1200"/>
              </a:spcBef>
              <a:buNone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	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Так как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EMP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= </a:t>
            </a:r>
            <a:r>
              <a:rPr lang="ru-RU" b="1" dirty="0">
                <a:solidFill>
                  <a:srgbClr val="FF0000"/>
                </a:solidFill>
              </a:rPr>
              <a:t>К_</a:t>
            </a:r>
            <a:r>
              <a:rPr lang="en-US" b="1" dirty="0">
                <a:solidFill>
                  <a:srgbClr val="FF0000"/>
                </a:solidFill>
              </a:rPr>
              <a:t> EMP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union </a:t>
            </a:r>
            <a:r>
              <a:rPr lang="en-US" b="1" dirty="0">
                <a:solidFill>
                  <a:srgbClr val="00B050"/>
                </a:solidFill>
              </a:rPr>
              <a:t>N_EMP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, то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1200"/>
              </a:spcBef>
              <a:buNone/>
            </a:pPr>
            <a:endParaRPr lang="ru-RU" sz="3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ru-RU" sz="3400" dirty="0"/>
              <a:t>	</a:t>
            </a:r>
            <a:r>
              <a:rPr lang="en-US" sz="3400" dirty="0"/>
              <a:t>Select *</a:t>
            </a:r>
            <a:r>
              <a:rPr lang="ru-RU" sz="3400" dirty="0"/>
              <a:t> </a:t>
            </a:r>
            <a:r>
              <a:rPr lang="en-US" sz="3400" dirty="0"/>
              <a:t>From </a:t>
            </a:r>
            <a:r>
              <a:rPr lang="ru-RU" sz="3400" b="1" dirty="0">
                <a:solidFill>
                  <a:srgbClr val="FF0000"/>
                </a:solidFill>
              </a:rPr>
              <a:t>К_</a:t>
            </a:r>
            <a:r>
              <a:rPr lang="en-US" sz="3400" b="1" dirty="0">
                <a:solidFill>
                  <a:srgbClr val="FF0000"/>
                </a:solidFill>
              </a:rPr>
              <a:t> EMP</a:t>
            </a:r>
            <a:r>
              <a:rPr lang="ru-RU" sz="3400" b="1" dirty="0">
                <a:solidFill>
                  <a:srgbClr val="FF0000"/>
                </a:solidFill>
              </a:rPr>
              <a:t> </a:t>
            </a:r>
            <a:r>
              <a:rPr lang="en-US" sz="3400" dirty="0">
                <a:solidFill>
                  <a:schemeClr val="bg2"/>
                </a:solidFill>
              </a:rPr>
              <a:t>union </a:t>
            </a:r>
            <a:r>
              <a:rPr lang="en-US" sz="3400" b="1" dirty="0">
                <a:solidFill>
                  <a:srgbClr val="00B050"/>
                </a:solidFill>
              </a:rPr>
              <a:t>N_EMP</a:t>
            </a:r>
          </a:p>
          <a:p>
            <a:pPr>
              <a:buNone/>
            </a:pPr>
            <a:r>
              <a:rPr lang="en-US" sz="3400" dirty="0"/>
              <a:t>	Where SALARY &gt; 40000 and DEPT# = ‘D1’</a:t>
            </a:r>
            <a:endParaRPr lang="ru-RU" sz="3400" dirty="0"/>
          </a:p>
          <a:p>
            <a:pPr>
              <a:buNone/>
            </a:pPr>
            <a:r>
              <a:rPr lang="ru-RU" dirty="0"/>
              <a:t>	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  <a:r>
              <a:rPr lang="en-US" sz="3000" dirty="0"/>
              <a:t>Select *</a:t>
            </a:r>
            <a:r>
              <a:rPr lang="ru-RU" sz="3000" dirty="0"/>
              <a:t> </a:t>
            </a:r>
            <a:r>
              <a:rPr lang="en-US" sz="3000" b="1" dirty="0">
                <a:solidFill>
                  <a:srgbClr val="FF0000"/>
                </a:solidFill>
              </a:rPr>
              <a:t>From </a:t>
            </a:r>
            <a:r>
              <a:rPr lang="ru-RU" sz="3000" b="1" dirty="0">
                <a:solidFill>
                  <a:srgbClr val="FF0000"/>
                </a:solidFill>
              </a:rPr>
              <a:t>К_</a:t>
            </a:r>
            <a:r>
              <a:rPr lang="en-US" sz="3000" b="1" dirty="0">
                <a:solidFill>
                  <a:srgbClr val="FF0000"/>
                </a:solidFill>
              </a:rPr>
              <a:t> EMP</a:t>
            </a:r>
            <a:r>
              <a:rPr lang="ru-RU" sz="3000" b="1" dirty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r>
              <a:rPr lang="en-US" sz="3000" dirty="0"/>
              <a:t>	Where SALARY &gt; 40000 AND DEPT# = ‘D1’</a:t>
            </a:r>
            <a:r>
              <a:rPr lang="ru-RU" sz="3000" dirty="0"/>
              <a:t> </a:t>
            </a:r>
            <a:endParaRPr lang="en-US" sz="3000" dirty="0"/>
          </a:p>
          <a:p>
            <a:pPr>
              <a:buNone/>
            </a:pPr>
            <a:r>
              <a:rPr lang="en-US" sz="3000" dirty="0"/>
              <a:t>				AND (</a:t>
            </a:r>
            <a:r>
              <a:rPr lang="en-US" sz="3000" b="1" dirty="0">
                <a:solidFill>
                  <a:srgbClr val="FF0000"/>
                </a:solidFill>
              </a:rPr>
              <a:t>DEPT# = ‘D1’</a:t>
            </a:r>
            <a:r>
              <a:rPr lang="ru-RU" sz="3000" b="1" dirty="0">
                <a:solidFill>
                  <a:srgbClr val="FF0000"/>
                </a:solidFill>
              </a:rPr>
              <a:t> </a:t>
            </a:r>
            <a:r>
              <a:rPr lang="en-US" sz="3000" b="1" dirty="0">
                <a:solidFill>
                  <a:srgbClr val="FF0000"/>
                </a:solidFill>
              </a:rPr>
              <a:t>OR DEPT# = ‘D3’</a:t>
            </a:r>
            <a:r>
              <a:rPr lang="ru-RU" sz="3000" b="1" dirty="0">
                <a:solidFill>
                  <a:srgbClr val="FF0000"/>
                </a:solidFill>
              </a:rPr>
              <a:t> </a:t>
            </a:r>
            <a:r>
              <a:rPr lang="en-US" sz="3000" dirty="0"/>
              <a:t>)</a:t>
            </a:r>
            <a:endParaRPr lang="ru-RU" sz="3000" dirty="0"/>
          </a:p>
          <a:p>
            <a:pPr>
              <a:buNone/>
            </a:pPr>
            <a:r>
              <a:rPr lang="en-US" dirty="0">
                <a:solidFill>
                  <a:schemeClr val="bg2"/>
                </a:solidFill>
              </a:rPr>
              <a:t>		</a:t>
            </a:r>
            <a:r>
              <a:rPr lang="en-US" b="1" dirty="0">
                <a:solidFill>
                  <a:schemeClr val="bg2"/>
                </a:solidFill>
              </a:rPr>
              <a:t>UNION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sz="3000" dirty="0"/>
              <a:t>Select *</a:t>
            </a:r>
            <a:r>
              <a:rPr lang="ru-RU" sz="3000" dirty="0"/>
              <a:t> </a:t>
            </a:r>
            <a:r>
              <a:rPr lang="en-US" sz="3000" b="1" dirty="0">
                <a:solidFill>
                  <a:srgbClr val="00B050"/>
                </a:solidFill>
              </a:rPr>
              <a:t>From N</a:t>
            </a:r>
            <a:r>
              <a:rPr lang="ru-RU" sz="3000" b="1" dirty="0">
                <a:solidFill>
                  <a:srgbClr val="00B050"/>
                </a:solidFill>
              </a:rPr>
              <a:t>_</a:t>
            </a:r>
            <a:r>
              <a:rPr lang="en-US" sz="3000" b="1" dirty="0">
                <a:solidFill>
                  <a:srgbClr val="00B050"/>
                </a:solidFill>
              </a:rPr>
              <a:t> EMP</a:t>
            </a:r>
            <a:r>
              <a:rPr lang="ru-RU" sz="3000" b="1" dirty="0">
                <a:solidFill>
                  <a:srgbClr val="00B050"/>
                </a:solidFill>
              </a:rPr>
              <a:t> </a:t>
            </a:r>
          </a:p>
          <a:p>
            <a:pPr>
              <a:buNone/>
            </a:pPr>
            <a:r>
              <a:rPr lang="en-US" sz="3000" dirty="0"/>
              <a:t>	Where SALARY &gt; 40000 AND DEPT# = ‘D1’ </a:t>
            </a:r>
          </a:p>
          <a:p>
            <a:pPr>
              <a:buNone/>
            </a:pPr>
            <a:r>
              <a:rPr lang="en-US" sz="3000" dirty="0"/>
              <a:t>				AND (</a:t>
            </a:r>
            <a:r>
              <a:rPr lang="en-US" sz="3000" b="1" dirty="0">
                <a:solidFill>
                  <a:srgbClr val="00B050"/>
                </a:solidFill>
              </a:rPr>
              <a:t>DEPT# = ‘D2’</a:t>
            </a:r>
            <a:r>
              <a:rPr lang="en-US" sz="3000" dirty="0"/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sz="3000" dirty="0"/>
              <a:t>	</a:t>
            </a:r>
            <a:r>
              <a:rPr lang="en-US" sz="3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	</a:t>
            </a:r>
            <a:r>
              <a:rPr lang="ru-RU" sz="3000" dirty="0"/>
              <a:t>где </a:t>
            </a:r>
            <a:r>
              <a:rPr lang="en-US" sz="3000" dirty="0"/>
              <a:t>(</a:t>
            </a:r>
            <a:r>
              <a:rPr lang="en-US" sz="3000" b="1" dirty="0"/>
              <a:t>DEPT# = ‘D1 AND DEPT# = ‘D2’</a:t>
            </a:r>
            <a:r>
              <a:rPr lang="en-US" sz="3000" dirty="0"/>
              <a:t>) – </a:t>
            </a:r>
            <a:r>
              <a:rPr lang="ru-RU" sz="3000" dirty="0"/>
              <a:t>пустой результат по определению</a:t>
            </a:r>
            <a:r>
              <a:rPr lang="en-US" sz="3000" dirty="0"/>
              <a:t> </a:t>
            </a:r>
            <a:r>
              <a:rPr lang="ru-RU" sz="3000" dirty="0"/>
              <a:t>и следовательно 2-ой операнд </a:t>
            </a:r>
            <a:r>
              <a:rPr lang="en-US" sz="3000" dirty="0"/>
              <a:t>UNION</a:t>
            </a:r>
            <a:r>
              <a:rPr lang="ru-RU" sz="3000" dirty="0"/>
              <a:t> не выполняется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96956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1"/>
                </a:solidFill>
              </a:rPr>
              <a:t>6</a:t>
            </a:r>
            <a:r>
              <a:rPr lang="ru-RU" sz="3600" dirty="0">
                <a:solidFill>
                  <a:srgbClr val="0066FF"/>
                </a:solidFill>
              </a:rPr>
              <a:t>. </a:t>
            </a:r>
            <a:r>
              <a:rPr lang="ru-RU" sz="3600" dirty="0">
                <a:solidFill>
                  <a:schemeClr val="bg1"/>
                </a:solidFill>
              </a:rPr>
              <a:t>Независимость</a:t>
            </a:r>
            <a:r>
              <a:rPr lang="ru-RU" sz="3600" dirty="0">
                <a:solidFill>
                  <a:srgbClr val="0066FF"/>
                </a:solidFill>
              </a:rPr>
              <a:t> </a:t>
            </a:r>
            <a:r>
              <a:rPr lang="ru-RU" sz="3600" dirty="0">
                <a:solidFill>
                  <a:schemeClr val="bg2"/>
                </a:solidFill>
              </a:rPr>
              <a:t>от репликации</a:t>
            </a:r>
            <a:r>
              <a:rPr lang="ru-RU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20</a:t>
            </a:fld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536712" y="1834322"/>
          <a:ext cx="3664227" cy="1942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EMP#</a:t>
                      </a:r>
                      <a:r>
                        <a:rPr lang="en-US" sz="1800" b="1" dirty="0"/>
                        <a:t>,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DEPT#,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Salary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42000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D3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48000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530086" y="4113694"/>
          <a:ext cx="3664227" cy="1456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EMP#</a:t>
                      </a:r>
                      <a:r>
                        <a:rPr lang="en-US" sz="1800" b="1" dirty="0"/>
                        <a:t>,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DEPT#,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Salary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35000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4896679" y="1872699"/>
          <a:ext cx="3664227" cy="1456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EMP#</a:t>
                      </a:r>
                      <a:r>
                        <a:rPr lang="en-US" sz="1800" b="1" dirty="0"/>
                        <a:t>,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DEPT#,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Salary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35000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5022573" y="3805582"/>
          <a:ext cx="3664227" cy="1942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EMP#</a:t>
                      </a:r>
                      <a:r>
                        <a:rPr lang="en-US" sz="1800" b="1" dirty="0"/>
                        <a:t>,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DEPT#,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Salary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42000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D3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48000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96346" y="729533"/>
            <a:ext cx="23058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6D1125"/>
                </a:solidFill>
              </a:rPr>
              <a:t>Кемерово</a:t>
            </a:r>
          </a:p>
          <a:p>
            <a:r>
              <a:rPr lang="en-US" dirty="0"/>
              <a:t>K_EMP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298174" y="636104"/>
            <a:ext cx="4273826" cy="57646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4572000" y="646738"/>
            <a:ext cx="4273826" cy="5770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4969565" y="742785"/>
            <a:ext cx="37106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6D1125"/>
                </a:solidFill>
              </a:rPr>
              <a:t>Новосибирск</a:t>
            </a:r>
            <a:endParaRPr lang="en-US" dirty="0">
              <a:solidFill>
                <a:srgbClr val="6D1125"/>
              </a:solidFill>
            </a:endParaRPr>
          </a:p>
          <a:p>
            <a:r>
              <a:rPr lang="en-US" dirty="0"/>
              <a:t>N_EMP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417444" y="5764696"/>
            <a:ext cx="415455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KN_EMP = </a:t>
            </a:r>
            <a:r>
              <a:rPr lang="ru-RU" sz="2400" dirty="0"/>
              <a:t>Реплика </a:t>
            </a:r>
            <a:r>
              <a:rPr lang="en-US" sz="2400" dirty="0"/>
              <a:t>N_EMP</a:t>
            </a:r>
            <a:endParaRPr lang="ru-R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5400260" y="5857462"/>
            <a:ext cx="308113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Реплика </a:t>
            </a:r>
            <a:r>
              <a:rPr lang="en-US" dirty="0"/>
              <a:t>K_EMP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8756" y="-80211"/>
            <a:ext cx="8935453" cy="641685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1"/>
                </a:solidFill>
              </a:rPr>
              <a:t>Проблема</a:t>
            </a:r>
            <a:r>
              <a:rPr lang="ru-RU" sz="3600" dirty="0">
                <a:solidFill>
                  <a:schemeClr val="bg2"/>
                </a:solidFill>
              </a:rPr>
              <a:t> </a:t>
            </a:r>
            <a:r>
              <a:rPr lang="ru-RU" sz="3600" dirty="0">
                <a:solidFill>
                  <a:schemeClr val="bg1"/>
                </a:solidFill>
              </a:rPr>
              <a:t>распространения</a:t>
            </a:r>
            <a:r>
              <a:rPr lang="ru-RU" sz="3600" dirty="0">
                <a:solidFill>
                  <a:schemeClr val="bg2"/>
                </a:solidFill>
              </a:rPr>
              <a:t> обновлений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21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80211" y="834189"/>
            <a:ext cx="9143999" cy="635267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Репликации – особый вид воплощения идеи </a:t>
            </a:r>
            <a:r>
              <a:rPr lang="ru-RU" b="1" i="1" dirty="0"/>
              <a:t>управляемой избыточности </a:t>
            </a:r>
          </a:p>
          <a:p>
            <a:pPr>
              <a:lnSpc>
                <a:spcPct val="120000"/>
              </a:lnSpc>
            </a:pPr>
            <a:r>
              <a:rPr lang="ru-RU" dirty="0"/>
              <a:t>Все копии должны обновляться</a:t>
            </a:r>
          </a:p>
          <a:p>
            <a:pPr>
              <a:lnSpc>
                <a:spcPct val="120000"/>
              </a:lnSpc>
            </a:pPr>
            <a:r>
              <a:rPr lang="ru-RU" dirty="0"/>
              <a:t>Схема первичной копии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Одна копия каждого реплицируемого объекта называется </a:t>
            </a:r>
            <a:r>
              <a:rPr lang="ru-RU" i="1" u="sng" dirty="0"/>
              <a:t>первичной</a:t>
            </a:r>
            <a:r>
              <a:rPr lang="ru-RU" dirty="0"/>
              <a:t>, остальные – </a:t>
            </a:r>
            <a:r>
              <a:rPr lang="ru-RU" i="1" dirty="0"/>
              <a:t>вторичными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Первичные копии разных объектов находятся на разных узлах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Операция обновления считается завершенной, если обновлены все копии первичных объектов.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Узел, содержащий первичную копию несет ответственность за распространение обновлений на вторичные копии.</a:t>
            </a:r>
          </a:p>
          <a:p>
            <a:pPr>
              <a:lnSpc>
                <a:spcPct val="120000"/>
              </a:lnSpc>
            </a:pPr>
            <a:r>
              <a:rPr lang="ru-RU" dirty="0"/>
              <a:t>Отметим, что нарушается требование локальной автономии.</a:t>
            </a:r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7323" y="-1"/>
            <a:ext cx="8348868" cy="993913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Обработка распределенных запросов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22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1" y="795130"/>
            <a:ext cx="9144000" cy="5824331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sz="3100" b="1" dirty="0"/>
              <a:t>Производительность распределенной реляционная системы</a:t>
            </a:r>
          </a:p>
          <a:p>
            <a:pPr indent="0">
              <a:lnSpc>
                <a:spcPct val="120000"/>
              </a:lnSpc>
              <a:buNone/>
            </a:pPr>
            <a:r>
              <a:rPr lang="ru-RU" dirty="0"/>
              <a:t>Рассмотрим </a:t>
            </a:r>
            <a:r>
              <a:rPr lang="ru-RU" u="sng" dirty="0"/>
              <a:t>запрос</a:t>
            </a:r>
            <a:r>
              <a:rPr lang="ru-RU" dirty="0"/>
              <a:t> «Получить сведения о находящихся в Лондоне поставщиках </a:t>
            </a:r>
            <a:r>
              <a:rPr lang="ru-RU" dirty="0">
                <a:solidFill>
                  <a:srgbClr val="C00000"/>
                </a:solidFill>
              </a:rPr>
              <a:t>красных</a:t>
            </a:r>
            <a:r>
              <a:rPr lang="ru-RU" dirty="0"/>
              <a:t> деталей».</a:t>
            </a:r>
            <a:endParaRPr lang="ru-RU" i="1" dirty="0"/>
          </a:p>
          <a:p>
            <a:pPr lvl="1">
              <a:lnSpc>
                <a:spcPct val="120000"/>
              </a:lnSpc>
              <a:buFont typeface="Wingdings" pitchFamily="2" charset="2"/>
              <a:buChar char="q"/>
            </a:pPr>
            <a:r>
              <a:rPr lang="ru-RU" dirty="0"/>
              <a:t>Пусть пользователь в Нью-Йорке, а данные в Лондоне. И пусть ответ – </a:t>
            </a:r>
            <a:r>
              <a:rPr lang="en-US" dirty="0"/>
              <a:t>n </a:t>
            </a:r>
            <a:r>
              <a:rPr lang="ru-RU" dirty="0"/>
              <a:t>поставщиков.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q"/>
            </a:pPr>
            <a:r>
              <a:rPr lang="ru-RU" dirty="0"/>
              <a:t>Если система </a:t>
            </a:r>
            <a:r>
              <a:rPr lang="ru-RU" u="sng" dirty="0"/>
              <a:t>реляционная</a:t>
            </a:r>
            <a:r>
              <a:rPr lang="ru-RU" dirty="0"/>
              <a:t>, то запрос реализуется </a:t>
            </a:r>
            <a:r>
              <a:rPr lang="ru-RU" b="1" dirty="0"/>
              <a:t>2 сообщениями</a:t>
            </a:r>
            <a:r>
              <a:rPr lang="ru-RU" dirty="0"/>
              <a:t>: 1-ый запрос из Нью-Йорка в Лондон, 2-ой ответ из Лондона в Нью-Йорк (пересылается </a:t>
            </a:r>
            <a:r>
              <a:rPr lang="en-US" dirty="0"/>
              <a:t>n </a:t>
            </a:r>
            <a:r>
              <a:rPr lang="ru-RU" dirty="0"/>
              <a:t>кортежей)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q"/>
            </a:pPr>
            <a:r>
              <a:rPr lang="ru-RU" dirty="0"/>
              <a:t>Если система </a:t>
            </a:r>
            <a:r>
              <a:rPr lang="ru-RU" u="sng" dirty="0"/>
              <a:t>не реляционная</a:t>
            </a:r>
            <a:r>
              <a:rPr lang="ru-RU" dirty="0"/>
              <a:t>,  а работает в режиме последовательного доступа, то запрос реализуется </a:t>
            </a:r>
            <a:r>
              <a:rPr lang="ru-RU" b="1" dirty="0"/>
              <a:t>2</a:t>
            </a:r>
            <a:r>
              <a:rPr lang="en-US" b="1" dirty="0"/>
              <a:t>n</a:t>
            </a:r>
            <a:r>
              <a:rPr lang="ru-RU" b="1" dirty="0"/>
              <a:t> сообщениями</a:t>
            </a:r>
            <a:r>
              <a:rPr lang="ru-RU" dirty="0"/>
              <a:t>: </a:t>
            </a:r>
            <a:r>
              <a:rPr lang="en-US" dirty="0"/>
              <a:t>n</a:t>
            </a:r>
            <a:r>
              <a:rPr lang="ru-RU" dirty="0"/>
              <a:t> запросов из Нью-Йорка в Лондон, </a:t>
            </a:r>
            <a:r>
              <a:rPr lang="en-US" dirty="0"/>
              <a:t>n</a:t>
            </a:r>
            <a:r>
              <a:rPr lang="ru-RU" dirty="0"/>
              <a:t> ответов из Лондона в Нью-Йорк (пересылается по 1</a:t>
            </a:r>
            <a:r>
              <a:rPr lang="en-US" dirty="0"/>
              <a:t> </a:t>
            </a:r>
            <a:r>
              <a:rPr lang="ru-RU" dirty="0"/>
              <a:t>кортежу). 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q"/>
            </a:pPr>
            <a:r>
              <a:rPr lang="ru-RU" dirty="0"/>
              <a:t>ТО есть реляционная система может превосходить по производительности не</a:t>
            </a:r>
            <a:r>
              <a:rPr lang="en-US" dirty="0"/>
              <a:t> </a:t>
            </a:r>
            <a:r>
              <a:rPr lang="ru-RU" dirty="0"/>
              <a:t>реляционную на несколько порядков</a:t>
            </a:r>
          </a:p>
          <a:p>
            <a:pPr>
              <a:lnSpc>
                <a:spcPct val="120000"/>
              </a:lnSpc>
            </a:pPr>
            <a:r>
              <a:rPr lang="ru-RU" b="1" dirty="0"/>
              <a:t>Вопрос оптимизации для распределенной системы более важен</a:t>
            </a:r>
            <a:r>
              <a:rPr lang="ru-RU" dirty="0"/>
              <a:t>, чем для централизованной системы</a:t>
            </a:r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547" y="183728"/>
            <a:ext cx="8935453" cy="592650"/>
          </a:xfrm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B prst="slope"/>
          </a:sp3d>
        </p:spPr>
        <p:txBody>
          <a:bodyPr>
            <a:sp3d extrusionH="57150">
              <a:bevelT w="82550" h="38100" prst="coolSlant"/>
            </a:sp3d>
          </a:bodyPr>
          <a:lstStyle/>
          <a:p>
            <a:pPr algn="ctr"/>
            <a:r>
              <a:rPr lang="ru-RU" sz="32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Оптимизация запросов </a:t>
            </a:r>
            <a:r>
              <a:rPr lang="ru-RU" sz="3200" dirty="0">
                <a:solidFill>
                  <a:schemeClr val="bg2"/>
                </a:solidFill>
              </a:rPr>
              <a:t>в РБД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23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1" y="776378"/>
            <a:ext cx="9047748" cy="6003504"/>
          </a:xfrm>
        </p:spPr>
        <p:txBody>
          <a:bodyPr>
            <a:normAutofit fontScale="55000" lnSpcReduction="20000"/>
          </a:bodyPr>
          <a:lstStyle/>
          <a:p>
            <a:pPr lvl="1">
              <a:buNone/>
            </a:pPr>
            <a:r>
              <a:rPr lang="ru-RU" sz="3200" dirty="0"/>
              <a:t>Пусть в БД имеются следующие отношения, размещенные на 2-х узлах:</a:t>
            </a:r>
          </a:p>
          <a:p>
            <a:pPr>
              <a:buNone/>
            </a:pPr>
            <a:r>
              <a:rPr lang="ru-RU" dirty="0"/>
              <a:t>Поставщики </a:t>
            </a:r>
            <a:r>
              <a:rPr lang="en-US" b="1" dirty="0"/>
              <a:t>S (S#, CITY</a:t>
            </a:r>
            <a:r>
              <a:rPr lang="en-US" dirty="0"/>
              <a:t>) </a:t>
            </a:r>
            <a:r>
              <a:rPr lang="en-US" b="1" dirty="0"/>
              <a:t>10 000 </a:t>
            </a:r>
            <a:r>
              <a:rPr lang="ru-RU" dirty="0"/>
              <a:t>хранимых кортежей на </a:t>
            </a:r>
            <a:r>
              <a:rPr lang="ru-RU" b="1" dirty="0">
                <a:solidFill>
                  <a:srgbClr val="7030A0"/>
                </a:solidFill>
              </a:rPr>
              <a:t>узле А</a:t>
            </a:r>
          </a:p>
          <a:p>
            <a:pPr>
              <a:buNone/>
            </a:pPr>
            <a:r>
              <a:rPr lang="ru-RU" dirty="0"/>
              <a:t>Детали </a:t>
            </a:r>
            <a:r>
              <a:rPr lang="en-US" b="1" dirty="0"/>
              <a:t>P (P#, COLOR) 100 000 </a:t>
            </a:r>
            <a:r>
              <a:rPr lang="ru-RU" dirty="0"/>
              <a:t>хранимых кортежей </a:t>
            </a:r>
            <a:r>
              <a:rPr lang="ru-RU" b="1" dirty="0">
                <a:solidFill>
                  <a:srgbClr val="008000"/>
                </a:solidFill>
              </a:rPr>
              <a:t>на узле </a:t>
            </a:r>
            <a:r>
              <a:rPr lang="en-US" b="1" dirty="0">
                <a:solidFill>
                  <a:srgbClr val="008000"/>
                </a:solidFill>
              </a:rPr>
              <a:t>B</a:t>
            </a:r>
            <a:endParaRPr lang="ru-RU" b="1" dirty="0">
              <a:solidFill>
                <a:srgbClr val="008000"/>
              </a:solidFill>
            </a:endParaRPr>
          </a:p>
          <a:p>
            <a:pPr>
              <a:buNone/>
            </a:pPr>
            <a:r>
              <a:rPr lang="ru-RU" dirty="0"/>
              <a:t>Поставки </a:t>
            </a:r>
            <a:r>
              <a:rPr lang="en-US" b="1" dirty="0"/>
              <a:t>SP (S#, P#) 1 000 000 </a:t>
            </a:r>
            <a:r>
              <a:rPr lang="ru-RU" dirty="0"/>
              <a:t>хранимых кортежей </a:t>
            </a:r>
            <a:r>
              <a:rPr lang="ru-RU" b="1" dirty="0">
                <a:solidFill>
                  <a:srgbClr val="7030A0"/>
                </a:solidFill>
              </a:rPr>
              <a:t>на узле А</a:t>
            </a:r>
          </a:p>
          <a:p>
            <a:r>
              <a:rPr lang="ru-RU" i="1" dirty="0"/>
              <a:t>Допустим, что в БД</a:t>
            </a:r>
          </a:p>
          <a:p>
            <a:pPr>
              <a:buNone/>
            </a:pPr>
            <a:r>
              <a:rPr lang="ru-RU" dirty="0"/>
              <a:t>Количество деталей красного цвета 10</a:t>
            </a:r>
          </a:p>
          <a:p>
            <a:pPr>
              <a:buNone/>
            </a:pPr>
            <a:r>
              <a:rPr lang="ru-RU" dirty="0"/>
              <a:t>Количество поставок, выполненных поставщиками из Лондона 100 000</a:t>
            </a:r>
          </a:p>
          <a:p>
            <a:r>
              <a:rPr lang="ru-RU" i="1" dirty="0"/>
              <a:t>Предполагаемые параметры линий передачи данных</a:t>
            </a:r>
          </a:p>
          <a:p>
            <a:pPr>
              <a:buNone/>
            </a:pPr>
            <a:r>
              <a:rPr lang="ru-RU" dirty="0"/>
              <a:t>Скорость передачи данных 50 000 бит/с</a:t>
            </a:r>
          </a:p>
          <a:p>
            <a:pPr>
              <a:buNone/>
            </a:pPr>
            <a:r>
              <a:rPr lang="ru-RU" dirty="0"/>
              <a:t>Задержка доступа 0,1 с</a:t>
            </a:r>
            <a:endParaRPr lang="en-US" b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ru-RU" dirty="0"/>
              <a:t>Каждый хранимый кортеж = 25 байт(200 бит)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Рассмотрим различные алгоритмы выполнения </a:t>
            </a:r>
            <a:r>
              <a:rPr lang="ru-RU" u="sng" dirty="0"/>
              <a:t>запроса</a:t>
            </a:r>
            <a:r>
              <a:rPr lang="ru-RU" dirty="0"/>
              <a:t> </a:t>
            </a:r>
          </a:p>
          <a:p>
            <a:pPr>
              <a:buNone/>
            </a:pPr>
            <a:r>
              <a:rPr lang="ru-RU" dirty="0"/>
              <a:t>«Получить сведения о находящихся в Лондоне поставщиках </a:t>
            </a:r>
            <a:r>
              <a:rPr lang="ru-RU" dirty="0">
                <a:solidFill>
                  <a:srgbClr val="C00000"/>
                </a:solidFill>
              </a:rPr>
              <a:t>красных</a:t>
            </a:r>
            <a:r>
              <a:rPr lang="ru-RU" dirty="0"/>
              <a:t> деталей».</a:t>
            </a:r>
            <a:endParaRPr lang="ru-RU" i="1" dirty="0"/>
          </a:p>
          <a:p>
            <a:pPr lvl="1">
              <a:buNone/>
            </a:pPr>
            <a:r>
              <a:rPr lang="en-US" sz="3600" dirty="0"/>
              <a:t>Select S.S#</a:t>
            </a:r>
          </a:p>
          <a:p>
            <a:pPr lvl="1">
              <a:buNone/>
            </a:pPr>
            <a:r>
              <a:rPr lang="en-US" sz="3600" dirty="0"/>
              <a:t>From S, P, SP</a:t>
            </a:r>
          </a:p>
          <a:p>
            <a:pPr lvl="1">
              <a:buNone/>
            </a:pPr>
            <a:r>
              <a:rPr lang="en-US" sz="3600" dirty="0"/>
              <a:t>Where S.CITY = ‘London’ and</a:t>
            </a:r>
          </a:p>
          <a:p>
            <a:pPr lvl="4">
              <a:buNone/>
            </a:pPr>
            <a:r>
              <a:rPr lang="en-US" sz="3600" dirty="0"/>
              <a:t>S.S# = SP.S# and</a:t>
            </a:r>
          </a:p>
          <a:p>
            <a:pPr lvl="4">
              <a:buNone/>
            </a:pPr>
            <a:r>
              <a:rPr lang="en-US" sz="3600" dirty="0"/>
              <a:t>SP.P# = </a:t>
            </a:r>
            <a:r>
              <a:rPr lang="en-US" sz="3600" dirty="0" err="1"/>
              <a:t>p.P</a:t>
            </a:r>
            <a:r>
              <a:rPr lang="en-US" sz="3600" dirty="0"/>
              <a:t># and</a:t>
            </a:r>
          </a:p>
          <a:p>
            <a:pPr lvl="4">
              <a:buNone/>
            </a:pPr>
            <a:r>
              <a:rPr lang="en-US" sz="3600" dirty="0" err="1"/>
              <a:t>P.color</a:t>
            </a:r>
            <a:r>
              <a:rPr lang="en-US" sz="3600" dirty="0"/>
              <a:t> = ‘red’</a:t>
            </a:r>
            <a:endParaRPr lang="ru-RU" sz="3600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7323" y="-23308"/>
            <a:ext cx="8337709" cy="696167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Варианты выполнения запроса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24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0" y="519083"/>
            <a:ext cx="9023232" cy="6463608"/>
          </a:xfrm>
        </p:spPr>
        <p:txBody>
          <a:bodyPr>
            <a:normAutofit/>
          </a:bodyPr>
          <a:lstStyle/>
          <a:p>
            <a:pPr marL="180000" indent="-180000">
              <a:buFont typeface="Wingdings" pitchFamily="2" charset="2"/>
              <a:buChar char="v"/>
            </a:pPr>
            <a:r>
              <a:rPr lang="ru-RU" sz="1400" b="1" dirty="0"/>
              <a:t>Пересылка записей о деталях на узел А и обработка запроса на узле А.</a:t>
            </a:r>
          </a:p>
          <a:p>
            <a:pPr marL="180000" indent="-180000">
              <a:spcAft>
                <a:spcPts val="600"/>
              </a:spcAft>
              <a:buNone/>
            </a:pPr>
            <a:r>
              <a:rPr lang="ru-RU" sz="1400" dirty="0"/>
              <a:t>Т[1]   =  0,1  + ( 100000 * 200 ) / 50000 = 400  с   (приблизительно  6,67 мин)</a:t>
            </a:r>
          </a:p>
          <a:p>
            <a:pPr marL="180000" indent="-180000">
              <a:buFont typeface="Wingdings" pitchFamily="2" charset="2"/>
              <a:buChar char="v"/>
            </a:pPr>
            <a:r>
              <a:rPr lang="ru-RU" sz="1400" b="1" dirty="0"/>
              <a:t>Пересылка записей о поставщиках и поставках на узел В и обработка запроса на узле В.</a:t>
            </a:r>
          </a:p>
          <a:p>
            <a:pPr marL="180000" indent="-180000">
              <a:spcAft>
                <a:spcPts val="600"/>
              </a:spcAft>
              <a:buNone/>
            </a:pPr>
            <a:r>
              <a:rPr lang="ru-RU" sz="1400" dirty="0"/>
              <a:t>Т[2]   =  0,2  + (  ( 10000 + 1000000 )  * 200 ) / 50000  = 4040  с   (приблизительно  1,12 ч)</a:t>
            </a:r>
          </a:p>
          <a:p>
            <a:pPr marL="180000" indent="-180000">
              <a:lnSpc>
                <a:spcPct val="120000"/>
              </a:lnSpc>
              <a:buFont typeface="Wingdings" pitchFamily="2" charset="2"/>
              <a:buChar char="v"/>
            </a:pPr>
            <a:r>
              <a:rPr lang="ru-RU" sz="1400" b="1" dirty="0"/>
              <a:t>Соединение отношений Поставщиков и Поставок на узле А</a:t>
            </a:r>
            <a:r>
              <a:rPr lang="ru-RU" sz="1400" dirty="0"/>
              <a:t> (выбрать детали, поставляемые поставщиками из Лондона ). По оценке из 100000. Время не считаем. Далее выполняем серию запросов из узла А на узел В  имеет ли  каждая из 100000 деталей красный цвет.  Каждый из таких запросов требует передачи двух сообщений </a:t>
            </a:r>
            <a:r>
              <a:rPr lang="en-US" sz="1400" dirty="0"/>
              <a:t>: </a:t>
            </a:r>
            <a:r>
              <a:rPr lang="ru-RU" sz="1400" dirty="0"/>
              <a:t>вопрос и ответ.  Общее время такого 100000*2*0,1</a:t>
            </a:r>
            <a:br>
              <a:rPr lang="ru-RU" sz="1400" dirty="0"/>
            </a:br>
            <a:r>
              <a:rPr lang="ru-RU" sz="1400" dirty="0"/>
              <a:t>Время передачи этих сообщений будет мало по сравнению с задержкой доступа. </a:t>
            </a:r>
          </a:p>
          <a:p>
            <a:pPr marL="180000" indent="-180000">
              <a:spcAft>
                <a:spcPts val="600"/>
              </a:spcAft>
              <a:buNone/>
            </a:pPr>
            <a:r>
              <a:rPr lang="ru-RU" sz="1400" dirty="0"/>
              <a:t>Т[3] = 20000 с (приблизительно 5,5 6 ч)</a:t>
            </a:r>
          </a:p>
          <a:p>
            <a:pPr marL="180000" indent="-180000">
              <a:buFont typeface="Wingdings" pitchFamily="2" charset="2"/>
              <a:buChar char="v"/>
            </a:pPr>
            <a:r>
              <a:rPr lang="ru-RU" sz="1400" b="1" dirty="0"/>
              <a:t>Сокращение данных о деталях на узле </a:t>
            </a:r>
            <a:r>
              <a:rPr lang="en-US" sz="1400" b="1" dirty="0"/>
              <a:t>B</a:t>
            </a:r>
            <a:r>
              <a:rPr lang="ru-RU" sz="1400" b="1" dirty="0"/>
              <a:t> для определения только тех деталей, которые имеют красный цвет. </a:t>
            </a:r>
            <a:r>
              <a:rPr lang="ru-RU" sz="1400" dirty="0"/>
              <a:t>Их 10 по оценке. Затем для каждой из выбранных деталей проверка на узле А наличия поставок, связывающих эту деталь с поставщиком из Лондона. Каждая из таких проверок требует передачи двух сообщений. Время передачи этих сообщений также будет мало по сравнению с задержкой доступа.  </a:t>
            </a:r>
          </a:p>
          <a:p>
            <a:pPr marL="180000" indent="-180000">
              <a:spcAft>
                <a:spcPts val="600"/>
              </a:spcAft>
              <a:buNone/>
            </a:pPr>
            <a:r>
              <a:rPr lang="ru-RU" sz="1400" dirty="0"/>
              <a:t>Т[4] = 2 с (приблизительно) </a:t>
            </a:r>
          </a:p>
          <a:p>
            <a:pPr marL="180000" indent="-180000">
              <a:buFont typeface="Wingdings" pitchFamily="2" charset="2"/>
              <a:buChar char="v"/>
            </a:pPr>
            <a:r>
              <a:rPr lang="ru-RU" sz="1400" b="1" dirty="0"/>
              <a:t>Соединение отношений поставщиков и поставок на узле А</a:t>
            </a:r>
            <a:r>
              <a:rPr lang="ru-RU" sz="1400" dirty="0"/>
              <a:t>, сокращение результата для получения данных только о поставщиках из Лондона, получение проекции этих результатов по атрибутам </a:t>
            </a:r>
            <a:r>
              <a:rPr lang="en-US" sz="1400" dirty="0"/>
              <a:t>S</a:t>
            </a:r>
            <a:r>
              <a:rPr lang="ru-RU" sz="1400" dirty="0"/>
              <a:t># и Р# и пересылка результата на узел в. Завершение обработки на узле В.</a:t>
            </a:r>
          </a:p>
          <a:p>
            <a:pPr marL="180000" indent="-180000">
              <a:spcAft>
                <a:spcPts val="600"/>
              </a:spcAft>
              <a:buNone/>
            </a:pPr>
            <a:r>
              <a:rPr lang="ru-RU" sz="1400" dirty="0"/>
              <a:t>Т[5]   =  0,1  + (  100000 * 200 ) /  50000 = 400  с   (приблизительно  6,67 мин)</a:t>
            </a:r>
          </a:p>
          <a:p>
            <a:pPr marL="180000" indent="-180000">
              <a:buFont typeface="Wingdings" pitchFamily="2" charset="2"/>
              <a:buChar char="v"/>
            </a:pPr>
            <a:r>
              <a:rPr lang="ru-RU" sz="1400" b="1" dirty="0"/>
              <a:t>Сокращение данных о деталях на узле В </a:t>
            </a:r>
            <a:r>
              <a:rPr lang="ru-RU" sz="1400" dirty="0"/>
              <a:t>для получения сведений только о тех деталях, которые имеют красный цвет, и пересылка результата на узел А. Завершение обработки на узле А.</a:t>
            </a:r>
          </a:p>
          <a:p>
            <a:pPr marL="180000" indent="-180000">
              <a:buNone/>
            </a:pPr>
            <a:r>
              <a:rPr lang="ru-RU" sz="1400" dirty="0"/>
              <a:t>Т[6]   =  0,1  +  (  10  * 200  )  / 50000  = 0,1  с (приблизительно)</a:t>
            </a:r>
          </a:p>
          <a:p>
            <a:pPr marL="514350" indent="-514350">
              <a:buFont typeface="+mj-lt"/>
              <a:buAutoNum type="arabicPeriod"/>
            </a:pPr>
            <a:endParaRPr lang="ru-RU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7323" y="80210"/>
            <a:ext cx="8337709" cy="75398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Таблица результатов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25</a:t>
            </a:fld>
            <a:endParaRPr lang="ru-RU" dirty="0"/>
          </a:p>
        </p:txBody>
      </p:sp>
      <p:graphicFrame>
        <p:nvGraphicFramePr>
          <p:cNvPr id="8" name="Содержимое 7"/>
          <p:cNvGraphicFramePr>
            <a:graphicFrameLocks noGrp="1"/>
          </p:cNvGraphicFramePr>
          <p:nvPr>
            <p:ph idx="1"/>
          </p:nvPr>
        </p:nvGraphicFramePr>
        <p:xfrm>
          <a:off x="385011" y="946483"/>
          <a:ext cx="8470232" cy="5308985"/>
        </p:xfrm>
        <a:graphic>
          <a:graphicData uri="http://schemas.openxmlformats.org/drawingml/2006/table">
            <a:tbl>
              <a:tblPr/>
              <a:tblGrid>
                <a:gridCol w="99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3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b="1" dirty="0" err="1">
                          <a:latin typeface="Arial"/>
                          <a:ea typeface="Times New Roman"/>
                        </a:rPr>
                        <a:t>Страте-гия</a:t>
                      </a:r>
                      <a:endParaRPr lang="ru-RU" sz="1800" dirty="0">
                        <a:latin typeface="Arial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b="1" dirty="0">
                          <a:latin typeface="Arial"/>
                          <a:ea typeface="Times New Roman"/>
                        </a:rPr>
                        <a:t>Метод</a:t>
                      </a:r>
                      <a:endParaRPr lang="ru-RU" sz="1800" dirty="0">
                        <a:latin typeface="Arial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b="1" dirty="0">
                          <a:latin typeface="Arial"/>
                          <a:ea typeface="Times New Roman"/>
                        </a:rPr>
                        <a:t>Время передачи данных</a:t>
                      </a:r>
                      <a:endParaRPr lang="ru-RU" sz="1800" dirty="0">
                        <a:latin typeface="Arial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Arial"/>
                          <a:ea typeface="Times New Roman"/>
                        </a:rPr>
                        <a:t>1.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Arial"/>
                          <a:ea typeface="Times New Roman"/>
                        </a:rPr>
                        <a:t>Пересылка отношения Р на узел 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Arial"/>
                          <a:ea typeface="Times New Roman"/>
                        </a:rPr>
                        <a:t>6,67 мин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Arial"/>
                          <a:ea typeface="Times New Roman"/>
                        </a:rPr>
                        <a:t>2.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Arial"/>
                          <a:ea typeface="Times New Roman"/>
                        </a:rPr>
                        <a:t>Пересылка отношений </a:t>
                      </a:r>
                      <a:r>
                        <a:rPr lang="en-US" sz="2000" dirty="0">
                          <a:latin typeface="Arial"/>
                          <a:ea typeface="Times New Roman"/>
                        </a:rPr>
                        <a:t>S </a:t>
                      </a:r>
                      <a:r>
                        <a:rPr lang="ru-RU" sz="2000" dirty="0">
                          <a:latin typeface="Arial"/>
                          <a:ea typeface="Times New Roman"/>
                        </a:rPr>
                        <a:t>и </a:t>
                      </a:r>
                      <a:r>
                        <a:rPr lang="en-US" sz="2000" dirty="0">
                          <a:latin typeface="Arial"/>
                          <a:ea typeface="Times New Roman"/>
                        </a:rPr>
                        <a:t>SP </a:t>
                      </a:r>
                      <a:r>
                        <a:rPr lang="ru-RU" sz="2000" dirty="0">
                          <a:latin typeface="Arial"/>
                          <a:ea typeface="Times New Roman"/>
                        </a:rPr>
                        <a:t>на узел 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Arial"/>
                          <a:ea typeface="Times New Roman"/>
                        </a:rPr>
                        <a:t>1,12 </a:t>
                      </a:r>
                      <a:r>
                        <a:rPr lang="ru-RU" sz="2000" b="1">
                          <a:latin typeface="Arial"/>
                          <a:ea typeface="Times New Roman"/>
                        </a:rPr>
                        <a:t>ч</a:t>
                      </a:r>
                      <a:r>
                        <a:rPr lang="ru-RU" sz="2000">
                          <a:latin typeface="Arial"/>
                          <a:ea typeface="Times New Roman"/>
                        </a:rPr>
                        <a:t>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45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Arial"/>
                          <a:ea typeface="Times New Roman"/>
                        </a:rPr>
                        <a:t>3.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Arial"/>
                          <a:ea typeface="Times New Roman"/>
                        </a:rPr>
                        <a:t>Проверка деталей красного цвета для каждой поставки из Лондона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Arial"/>
                          <a:ea typeface="Times New Roman"/>
                        </a:rPr>
                        <a:t>5,56 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45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Arial"/>
                          <a:ea typeface="Times New Roman"/>
                        </a:rPr>
                        <a:t>4.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Arial"/>
                          <a:ea typeface="Times New Roman"/>
                        </a:rPr>
                        <a:t>Проверка поставщика из Лондона для каждой детали красного цвета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Arial"/>
                          <a:ea typeface="Times New Roman"/>
                        </a:rPr>
                        <a:t>2,00 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45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Arial"/>
                          <a:ea typeface="Times New Roman"/>
                        </a:rPr>
                        <a:t>5.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Arial"/>
                          <a:ea typeface="Times New Roman"/>
                        </a:rPr>
                        <a:t>Пересылка данных о поставках из Лондона на узел 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Arial"/>
                          <a:ea typeface="Times New Roman"/>
                        </a:rPr>
                        <a:t>6,67 мин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45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latin typeface="Arial"/>
                          <a:ea typeface="Times New Roman"/>
                        </a:rPr>
                        <a:t>6.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Arial"/>
                          <a:ea typeface="Times New Roman"/>
                        </a:rPr>
                        <a:t>Пересылка данных о деталях красного цвета на узел А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Arial"/>
                          <a:ea typeface="Times New Roman"/>
                        </a:rPr>
                        <a:t>0,10 с (наилучший вариант)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7566" y="238539"/>
            <a:ext cx="8348868" cy="715617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Управление каталогом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26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357810" y="1013790"/>
            <a:ext cx="8269356" cy="5605671"/>
          </a:xfrm>
        </p:spPr>
        <p:txBody>
          <a:bodyPr>
            <a:normAutofit lnSpcReduction="10000"/>
          </a:bodyPr>
          <a:lstStyle/>
          <a:p>
            <a:pPr marL="514350" indent="-514350">
              <a:buSzPct val="100000"/>
              <a:buFont typeface="+mj-lt"/>
              <a:buAutoNum type="arabicPeriod"/>
            </a:pPr>
            <a:r>
              <a:rPr lang="ru-RU" dirty="0"/>
              <a:t>Централизованный каталог</a:t>
            </a:r>
            <a:endParaRPr lang="ru-RU" i="1" dirty="0"/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dirty="0"/>
              <a:t>Полностью реплицированный каталог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dirty="0"/>
              <a:t>Секционированный каталог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dirty="0"/>
              <a:t>Комбинация 1 и 3</a:t>
            </a:r>
          </a:p>
          <a:p>
            <a:pPr marL="514350" indent="-514350">
              <a:buSzPct val="100000"/>
              <a:buNone/>
            </a:pPr>
            <a:endParaRPr lang="ru-RU" dirty="0"/>
          </a:p>
          <a:p>
            <a:r>
              <a:rPr lang="ru-RU" dirty="0"/>
              <a:t>Каталог системы </a:t>
            </a:r>
            <a:r>
              <a:rPr lang="en-US" dirty="0"/>
              <a:t>R*</a:t>
            </a:r>
            <a:r>
              <a:rPr lang="ru-RU" dirty="0"/>
              <a:t> </a:t>
            </a:r>
            <a:r>
              <a:rPr lang="en-US" dirty="0"/>
              <a:t>IBM</a:t>
            </a:r>
          </a:p>
          <a:p>
            <a:r>
              <a:rPr lang="ru-RU" dirty="0"/>
              <a:t>Порядок именования объектов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Печатное имя объекта – имя которое используют для доступа к объекту в БД (например, </a:t>
            </a:r>
            <a:r>
              <a:rPr lang="en-US" dirty="0"/>
              <a:t>SQL </a:t>
            </a:r>
            <a:r>
              <a:rPr lang="ru-RU" dirty="0"/>
              <a:t>запросах)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Системное имя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7566" y="0"/>
            <a:ext cx="8348868" cy="715617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Системное имя 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27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298175" y="626164"/>
            <a:ext cx="8488016" cy="5973419"/>
          </a:xfrm>
        </p:spPr>
        <p:txBody>
          <a:bodyPr>
            <a:normAutofit fontScale="85000" lnSpcReduction="10000"/>
          </a:bodyPr>
          <a:lstStyle/>
          <a:p>
            <a:pPr marL="514350" indent="-514350" algn="ctr">
              <a:buSzPct val="100000"/>
              <a:buNone/>
            </a:pPr>
            <a:r>
              <a:rPr lang="ru-RU" dirty="0"/>
              <a:t>4 компонента системного имени</a:t>
            </a:r>
            <a:endParaRPr lang="en-US" dirty="0"/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dirty="0"/>
              <a:t>Идентификатор </a:t>
            </a:r>
            <a:r>
              <a:rPr lang="ru-RU" i="1" dirty="0"/>
              <a:t>создателя</a:t>
            </a:r>
            <a:r>
              <a:rPr lang="ru-RU" dirty="0"/>
              <a:t> объекта</a:t>
            </a:r>
            <a:endParaRPr lang="ru-RU" i="1" dirty="0"/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dirty="0"/>
              <a:t>Идентификатор </a:t>
            </a:r>
            <a:r>
              <a:rPr lang="ru-RU" i="1" dirty="0"/>
              <a:t>узла</a:t>
            </a:r>
            <a:r>
              <a:rPr lang="ru-RU" dirty="0"/>
              <a:t> </a:t>
            </a:r>
            <a:r>
              <a:rPr lang="ru-RU" i="1" dirty="0"/>
              <a:t>создателя (</a:t>
            </a:r>
            <a:r>
              <a:rPr lang="ru-RU" dirty="0"/>
              <a:t>узел, на котором был</a:t>
            </a:r>
            <a:r>
              <a:rPr lang="ru-RU" i="1" dirty="0"/>
              <a:t> </a:t>
            </a:r>
            <a:r>
              <a:rPr lang="en-US" i="1" dirty="0"/>
              <a:t>CREATE </a:t>
            </a:r>
            <a:r>
              <a:rPr lang="ru-RU" dirty="0"/>
              <a:t>объекта</a:t>
            </a:r>
            <a:r>
              <a:rPr lang="en-US" dirty="0"/>
              <a:t>)</a:t>
            </a:r>
            <a:endParaRPr lang="ru-RU" i="1" dirty="0"/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dirty="0"/>
              <a:t>Локальное имя объекта, т.е. </a:t>
            </a:r>
            <a:r>
              <a:rPr lang="ru-RU" dirty="0" err="1"/>
              <a:t>неуточненное</a:t>
            </a:r>
            <a:r>
              <a:rPr lang="ru-RU" dirty="0"/>
              <a:t> имя объекта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dirty="0"/>
              <a:t>Идентификатор узла хранения, т.е. узла на котором объект хранился в исходном состоянии</a:t>
            </a:r>
          </a:p>
          <a:p>
            <a:pPr marL="514350" indent="-514350">
              <a:buSzPct val="100000"/>
              <a:buNone/>
            </a:pPr>
            <a:r>
              <a:rPr lang="ru-RU" dirty="0"/>
              <a:t>Так имя </a:t>
            </a:r>
          </a:p>
          <a:p>
            <a:pPr marL="514350" indent="-514350">
              <a:buSzPct val="100000"/>
              <a:buNone/>
            </a:pPr>
            <a:r>
              <a:rPr lang="en-US" dirty="0"/>
              <a:t>MARLIN @ NEWYORK . STATS @ LONDON</a:t>
            </a:r>
            <a:endParaRPr lang="ru-RU" dirty="0"/>
          </a:p>
          <a:p>
            <a:pPr>
              <a:buNone/>
            </a:pPr>
            <a:r>
              <a:rPr lang="ru-RU" dirty="0"/>
              <a:t>идентифицирует, например, отношение </a:t>
            </a:r>
            <a:r>
              <a:rPr lang="en-US" dirty="0"/>
              <a:t>STATS </a:t>
            </a:r>
            <a:r>
              <a:rPr lang="ru-RU" dirty="0"/>
              <a:t>, созданное пользователем </a:t>
            </a:r>
            <a:r>
              <a:rPr lang="en-US" dirty="0"/>
              <a:t>MARLIN</a:t>
            </a:r>
            <a:r>
              <a:rPr lang="ru-RU" dirty="0"/>
              <a:t> на узле </a:t>
            </a:r>
            <a:r>
              <a:rPr lang="en-US" dirty="0"/>
              <a:t>NEWYORK</a:t>
            </a:r>
            <a:r>
              <a:rPr lang="ru-RU" dirty="0"/>
              <a:t> и изначально находившееся на узле </a:t>
            </a:r>
            <a:r>
              <a:rPr lang="en-US" dirty="0"/>
              <a:t>LONDON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168" y="-114385"/>
            <a:ext cx="9144000" cy="715617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Управление</a:t>
            </a:r>
            <a:r>
              <a:rPr lang="ru-RU" sz="3200" dirty="0">
                <a:solidFill>
                  <a:schemeClr val="bg2"/>
                </a:solidFill>
              </a:rPr>
              <a:t>  распределенными транзакциями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28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0" y="561474"/>
            <a:ext cx="9143999" cy="597777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2 основных аспекта управления обработкой транзакции:</a:t>
            </a:r>
          </a:p>
          <a:p>
            <a:pPr marL="914400" lvl="1" indent="-514350">
              <a:lnSpc>
                <a:spcPct val="120000"/>
              </a:lnSpc>
              <a:buClr>
                <a:schemeClr val="bg2"/>
              </a:buClr>
              <a:buSzPct val="100000"/>
              <a:buFont typeface="Symbol" pitchFamily="18" charset="2"/>
              <a:buChar char=""/>
            </a:pPr>
            <a:r>
              <a:rPr lang="ru-RU" dirty="0"/>
              <a:t>Управление восстановлением</a:t>
            </a:r>
          </a:p>
          <a:p>
            <a:pPr marL="914400" lvl="1" indent="-514350">
              <a:lnSpc>
                <a:spcPct val="120000"/>
              </a:lnSpc>
              <a:buClr>
                <a:schemeClr val="bg2"/>
              </a:buClr>
              <a:buSzPct val="100000"/>
              <a:buFont typeface="Symbol" pitchFamily="18" charset="2"/>
              <a:buChar char=""/>
            </a:pPr>
            <a:r>
              <a:rPr lang="ru-RU" dirty="0"/>
              <a:t>Управление параллелизмом</a:t>
            </a:r>
          </a:p>
          <a:p>
            <a:pPr>
              <a:lnSpc>
                <a:spcPct val="120000"/>
              </a:lnSpc>
            </a:pPr>
            <a:r>
              <a:rPr lang="ru-RU" dirty="0"/>
              <a:t>В распределенной системе выполнение одной транзакции может быть связано с исполнением кода на </a:t>
            </a:r>
            <a:r>
              <a:rPr lang="ru-RU" b="1" dirty="0"/>
              <a:t>нескольких узлах</a:t>
            </a:r>
          </a:p>
          <a:p>
            <a:pPr>
              <a:lnSpc>
                <a:spcPct val="120000"/>
              </a:lnSpc>
            </a:pPr>
            <a:r>
              <a:rPr lang="ru-RU" dirty="0"/>
              <a:t>Говорят, что транзакция состоит из нескольких </a:t>
            </a:r>
            <a:r>
              <a:rPr lang="ru-RU" b="1" dirty="0"/>
              <a:t>агентов, </a:t>
            </a:r>
            <a:r>
              <a:rPr lang="ru-RU" dirty="0"/>
              <a:t>то есть процессов, выполняемых на данном узле по указанию </a:t>
            </a:r>
            <a:r>
              <a:rPr lang="ru-RU" i="1" dirty="0"/>
              <a:t>заданной</a:t>
            </a:r>
            <a:r>
              <a:rPr lang="ru-RU" dirty="0"/>
              <a:t> транзакции.</a:t>
            </a:r>
          </a:p>
          <a:p>
            <a:pPr>
              <a:lnSpc>
                <a:spcPct val="120000"/>
              </a:lnSpc>
            </a:pPr>
            <a:r>
              <a:rPr lang="ru-RU" dirty="0"/>
              <a:t>Системе необходимо указать, что некоторые 2 агента </a:t>
            </a:r>
            <a:r>
              <a:rPr lang="ru-RU" u="sng" dirty="0"/>
              <a:t>являются частями </a:t>
            </a:r>
            <a:r>
              <a:rPr lang="ru-RU" dirty="0"/>
              <a:t>одной и той же транзакции. Например, чтобы избежать тупиков.</a:t>
            </a:r>
          </a:p>
          <a:p>
            <a:pPr marL="514350" indent="-514350">
              <a:lnSpc>
                <a:spcPct val="120000"/>
              </a:lnSpc>
              <a:buSzPct val="100000"/>
              <a:buNone/>
            </a:pPr>
            <a:endParaRPr lang="ru-RU" dirty="0"/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168" y="-114385"/>
            <a:ext cx="9144000" cy="715617"/>
          </a:xfrm>
        </p:spPr>
        <p:txBody>
          <a:bodyPr/>
          <a:lstStyle/>
          <a:p>
            <a:pPr marL="342900" lvl="1" indent="-342900" algn="ctr">
              <a:lnSpc>
                <a:spcPct val="120000"/>
              </a:lnSpc>
            </a:pPr>
            <a:r>
              <a:rPr lang="ru-RU" sz="3600" dirty="0">
                <a:solidFill>
                  <a:schemeClr val="bg1"/>
                </a:solidFill>
              </a:rPr>
              <a:t>Управление</a:t>
            </a:r>
            <a:r>
              <a:rPr lang="ru-RU" sz="3600" dirty="0">
                <a:solidFill>
                  <a:schemeClr val="bg2"/>
                </a:solidFill>
              </a:rPr>
              <a:t> восстановлением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29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0" y="930440"/>
            <a:ext cx="9144000" cy="479658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Для подтверждения свойств </a:t>
            </a:r>
            <a:r>
              <a:rPr lang="en-US" dirty="0"/>
              <a:t>ACID</a:t>
            </a:r>
            <a:r>
              <a:rPr lang="ru-RU" dirty="0"/>
              <a:t> транзакции, в данном случае АТОМАРНОСТИ, система должна убедиться, что </a:t>
            </a:r>
            <a:r>
              <a:rPr lang="ru-RU" u="sng" dirty="0"/>
              <a:t>все агенты </a:t>
            </a:r>
            <a:r>
              <a:rPr lang="ru-RU" dirty="0"/>
              <a:t>заданного набора либо </a:t>
            </a:r>
            <a:r>
              <a:rPr lang="ru-RU" u="sng" dirty="0"/>
              <a:t>вместе завершены</a:t>
            </a:r>
            <a:r>
              <a:rPr lang="ru-RU" dirty="0"/>
              <a:t>, либо </a:t>
            </a:r>
            <a:r>
              <a:rPr lang="ru-RU" u="sng" dirty="0"/>
              <a:t>отменены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</a:pPr>
            <a:r>
              <a:rPr lang="ru-RU" dirty="0"/>
              <a:t>Для этой цели реализуется протокол </a:t>
            </a:r>
            <a:r>
              <a:rPr lang="ru-RU" b="1" dirty="0"/>
              <a:t>2-ух фазной фиксации.</a:t>
            </a:r>
          </a:p>
          <a:p>
            <a:pPr marL="514350" indent="-514350">
              <a:lnSpc>
                <a:spcPct val="120000"/>
              </a:lnSpc>
              <a:buSzPct val="100000"/>
              <a:buNone/>
            </a:pPr>
            <a:endParaRPr lang="ru-RU" dirty="0"/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168" y="-146469"/>
            <a:ext cx="9144000" cy="715617"/>
          </a:xfrm>
        </p:spPr>
        <p:txBody>
          <a:bodyPr/>
          <a:lstStyle/>
          <a:p>
            <a:pPr marL="342900" lvl="1" indent="-342900" algn="ctr">
              <a:lnSpc>
                <a:spcPct val="120000"/>
              </a:lnSpc>
            </a:pPr>
            <a:r>
              <a:rPr lang="ru-RU" sz="3600" dirty="0">
                <a:solidFill>
                  <a:schemeClr val="bg1"/>
                </a:solidFill>
              </a:rPr>
              <a:t>Протокол</a:t>
            </a:r>
            <a:r>
              <a:rPr lang="ru-RU" sz="3600" dirty="0"/>
              <a:t> </a:t>
            </a:r>
            <a:r>
              <a:rPr lang="ru-RU" sz="3600" dirty="0">
                <a:solidFill>
                  <a:schemeClr val="bg2"/>
                </a:solidFill>
              </a:rPr>
              <a:t>2-ух фазной фиксации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30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0" y="673768"/>
            <a:ext cx="9144000" cy="572703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ru-RU" b="1" dirty="0"/>
              <a:t>	</a:t>
            </a:r>
            <a:endParaRPr lang="ru-RU" dirty="0"/>
          </a:p>
          <a:p>
            <a:pPr marL="514350" indent="-514350">
              <a:lnSpc>
                <a:spcPct val="120000"/>
              </a:lnSpc>
              <a:buSzPct val="100000"/>
              <a:buNone/>
            </a:pPr>
            <a:endParaRPr lang="ru-RU" dirty="0"/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11E4FB-10EE-B0DB-C084-09A81FABB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39" y="1138335"/>
            <a:ext cx="8118013" cy="433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19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168" y="-178553"/>
            <a:ext cx="9144000" cy="715617"/>
          </a:xfrm>
        </p:spPr>
        <p:txBody>
          <a:bodyPr/>
          <a:lstStyle/>
          <a:p>
            <a:pPr marL="342900" lvl="1" indent="-342900" algn="ctr">
              <a:lnSpc>
                <a:spcPct val="120000"/>
              </a:lnSpc>
            </a:pPr>
            <a:r>
              <a:rPr lang="ru-RU" sz="3600" dirty="0">
                <a:solidFill>
                  <a:schemeClr val="bg1"/>
                </a:solidFill>
              </a:rPr>
              <a:t>Протокол</a:t>
            </a:r>
            <a:r>
              <a:rPr lang="ru-RU" sz="3600" dirty="0"/>
              <a:t> </a:t>
            </a:r>
            <a:r>
              <a:rPr lang="ru-RU" sz="3600" dirty="0">
                <a:solidFill>
                  <a:schemeClr val="bg2"/>
                </a:solidFill>
              </a:rPr>
              <a:t>2-ух фазной фиксации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31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0" y="673768"/>
            <a:ext cx="9144000" cy="572703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ru-RU" b="1" dirty="0"/>
              <a:t>	Первая фаза протокола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Транзакция посылает всем своим агентам сообщение «</a:t>
            </a:r>
            <a:r>
              <a:rPr lang="en-US" dirty="0"/>
              <a:t>ready</a:t>
            </a:r>
            <a:r>
              <a:rPr lang="ru-RU" dirty="0"/>
              <a:t>» - «готовность»</a:t>
            </a:r>
          </a:p>
          <a:p>
            <a:pPr>
              <a:lnSpc>
                <a:spcPct val="120000"/>
              </a:lnSpc>
            </a:pPr>
            <a:r>
              <a:rPr lang="ru-RU" dirty="0"/>
              <a:t>Получив сообщение «</a:t>
            </a:r>
            <a:r>
              <a:rPr lang="en-US" dirty="0"/>
              <a:t>ready</a:t>
            </a:r>
            <a:r>
              <a:rPr lang="ru-RU" dirty="0"/>
              <a:t>» агент возвращает сообщение «ОК», если нет препятствий к нормальному завершению его работы - «С</a:t>
            </a:r>
            <a:r>
              <a:rPr lang="en-US" dirty="0" err="1"/>
              <a:t>ommit</a:t>
            </a:r>
            <a:r>
              <a:rPr lang="ru-RU" dirty="0"/>
              <a:t>». В зависимости от протокола восстановления</a:t>
            </a:r>
            <a:r>
              <a:rPr lang="en-US" dirty="0"/>
              <a:t> </a:t>
            </a:r>
            <a:r>
              <a:rPr lang="ru-RU" dirty="0"/>
              <a:t>«</a:t>
            </a:r>
            <a:r>
              <a:rPr lang="en-US" dirty="0"/>
              <a:t>REDO</a:t>
            </a:r>
            <a:r>
              <a:rPr lang="ru-RU" dirty="0"/>
              <a:t>» или «</a:t>
            </a:r>
            <a:r>
              <a:rPr lang="en-US" dirty="0"/>
              <a:t>UNDO</a:t>
            </a:r>
            <a:r>
              <a:rPr lang="ru-RU" dirty="0"/>
              <a:t>» в системном журнале имеется информация для нормального завершения агента - «С</a:t>
            </a:r>
            <a:r>
              <a:rPr lang="en-US" dirty="0" err="1"/>
              <a:t>ommit</a:t>
            </a:r>
            <a:r>
              <a:rPr lang="ru-RU" dirty="0"/>
              <a:t>».</a:t>
            </a:r>
          </a:p>
          <a:p>
            <a:pPr>
              <a:lnSpc>
                <a:spcPct val="120000"/>
              </a:lnSpc>
            </a:pPr>
            <a:r>
              <a:rPr lang="ru-RU" dirty="0"/>
              <a:t>В противном случае агент возвращает запустившей его транзакции сообщение «</a:t>
            </a:r>
            <a:r>
              <a:rPr lang="en-US" dirty="0"/>
              <a:t>NO</a:t>
            </a:r>
            <a:r>
              <a:rPr lang="ru-RU" dirty="0"/>
              <a:t>».</a:t>
            </a:r>
          </a:p>
          <a:p>
            <a:pPr>
              <a:lnSpc>
                <a:spcPct val="120000"/>
              </a:lnSpc>
            </a:pPr>
            <a:r>
              <a:rPr lang="ru-RU" dirty="0"/>
              <a:t>Основная транзакция собирает ответы-сообщения от всех агентов.</a:t>
            </a:r>
            <a:endParaRPr lang="en-US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 marL="514350" indent="-514350">
              <a:lnSpc>
                <a:spcPct val="120000"/>
              </a:lnSpc>
              <a:buSzPct val="100000"/>
              <a:buNone/>
            </a:pPr>
            <a:endParaRPr lang="ru-RU" dirty="0"/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168" y="-146469"/>
            <a:ext cx="9144000" cy="715617"/>
          </a:xfrm>
        </p:spPr>
        <p:txBody>
          <a:bodyPr/>
          <a:lstStyle/>
          <a:p>
            <a:pPr marL="342900" lvl="1" indent="-342900" algn="ctr">
              <a:lnSpc>
                <a:spcPct val="120000"/>
              </a:lnSpc>
            </a:pPr>
            <a:r>
              <a:rPr lang="ru-RU" sz="3600" dirty="0">
                <a:solidFill>
                  <a:schemeClr val="bg1"/>
                </a:solidFill>
              </a:rPr>
              <a:t>Протокол</a:t>
            </a:r>
            <a:r>
              <a:rPr lang="ru-RU" sz="3600" dirty="0"/>
              <a:t> </a:t>
            </a:r>
            <a:r>
              <a:rPr lang="ru-RU" sz="3600" dirty="0">
                <a:solidFill>
                  <a:schemeClr val="bg2"/>
                </a:solidFill>
              </a:rPr>
              <a:t>2-ух фазной фиксации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F688F-E6B0-4FD2-A40D-BE0C1EDDAA0C}" type="slidenum">
              <a:rPr lang="ru-RU" smtClean="0"/>
              <a:pPr>
                <a:defRPr/>
              </a:pPr>
              <a:t>32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0" y="673768"/>
            <a:ext cx="9144000" cy="5727032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buNone/>
            </a:pPr>
            <a:r>
              <a:rPr lang="ru-RU" b="1" dirty="0"/>
              <a:t>	Вторая фаза протокола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</a:pPr>
            <a:r>
              <a:rPr lang="ru-RU" dirty="0"/>
              <a:t> Если все агенты ответили «ОК», транзакция посылает все своим агентам сообщение «</a:t>
            </a:r>
            <a:r>
              <a:rPr lang="en-US" dirty="0"/>
              <a:t>Commit</a:t>
            </a:r>
            <a:r>
              <a:rPr lang="ru-RU" dirty="0"/>
              <a:t>» - «Завершение» и завершает выполнение с командой «</a:t>
            </a:r>
            <a:r>
              <a:rPr lang="en-US" dirty="0"/>
              <a:t>Commit</a:t>
            </a:r>
            <a:r>
              <a:rPr lang="ru-RU" dirty="0"/>
              <a:t>»</a:t>
            </a:r>
          </a:p>
          <a:p>
            <a:pPr>
              <a:lnSpc>
                <a:spcPct val="120000"/>
              </a:lnSpc>
            </a:pPr>
            <a:r>
              <a:rPr lang="ru-RU" dirty="0"/>
              <a:t>Если хотя бы один агент ответил «</a:t>
            </a:r>
            <a:r>
              <a:rPr lang="en-US" dirty="0"/>
              <a:t>NO</a:t>
            </a:r>
            <a:r>
              <a:rPr lang="ru-RU" dirty="0"/>
              <a:t>», транзакция посылает все своим агентам сообщение «</a:t>
            </a:r>
            <a:r>
              <a:rPr lang="en-US" dirty="0"/>
              <a:t>Rollback</a:t>
            </a:r>
            <a:r>
              <a:rPr lang="ru-RU" dirty="0"/>
              <a:t>» - «Откат» и завершает выполнение с командой «</a:t>
            </a:r>
            <a:r>
              <a:rPr lang="en-US" dirty="0"/>
              <a:t>Rollback</a:t>
            </a:r>
            <a:r>
              <a:rPr lang="ru-RU"/>
              <a:t>» </a:t>
            </a:r>
            <a:endParaRPr lang="en-US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 marL="514350" indent="-514350">
              <a:lnSpc>
                <a:spcPct val="120000"/>
              </a:lnSpc>
              <a:buSzPct val="100000"/>
              <a:buNone/>
            </a:pPr>
            <a:endParaRPr lang="ru-RU" dirty="0"/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3542</TotalTime>
  <Words>2456</Words>
  <Application>Microsoft Office PowerPoint</Application>
  <PresentationFormat>Экран (4:3)</PresentationFormat>
  <Paragraphs>421</Paragraphs>
  <Slides>32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9" baseType="lpstr">
      <vt:lpstr>Arial</vt:lpstr>
      <vt:lpstr>Arial Black</vt:lpstr>
      <vt:lpstr>Calibri</vt:lpstr>
      <vt:lpstr>Symbol</vt:lpstr>
      <vt:lpstr>Times New Roman</vt:lpstr>
      <vt:lpstr>Wingdings</vt:lpstr>
      <vt:lpstr>Пиксел</vt:lpstr>
      <vt:lpstr>Распределенные  базы данных</vt:lpstr>
      <vt:lpstr>Предварительные определения</vt:lpstr>
      <vt:lpstr>Схематический пример распределенной системы баз данных</vt:lpstr>
      <vt:lpstr>Характеристика системы</vt:lpstr>
      <vt:lpstr>Распределенная СУБД</vt:lpstr>
      <vt:lpstr>Преимущества и недостатки</vt:lpstr>
      <vt:lpstr>Фундаментальный принцип</vt:lpstr>
      <vt:lpstr>Правила или цели для РСБД</vt:lpstr>
      <vt:lpstr>Локальная автономия</vt:lpstr>
      <vt:lpstr>Независимость от центрального узла</vt:lpstr>
      <vt:lpstr>Непрерывное функционирование</vt:lpstr>
      <vt:lpstr>Независимость от расположения</vt:lpstr>
      <vt:lpstr>Фрагментация</vt:lpstr>
      <vt:lpstr>Фрагменты </vt:lpstr>
      <vt:lpstr>Восприятие пользователя</vt:lpstr>
      <vt:lpstr>Восприятие пользователя</vt:lpstr>
      <vt:lpstr>Операции </vt:lpstr>
      <vt:lpstr>Независимость от фрагментации </vt:lpstr>
      <vt:lpstr>Оптимизация при фрагментации </vt:lpstr>
      <vt:lpstr>6. Независимость от репликации </vt:lpstr>
      <vt:lpstr>Проблема распространения обновлений</vt:lpstr>
      <vt:lpstr>Обработка распределенных запросов</vt:lpstr>
      <vt:lpstr>Оптимизация запросов в РБД</vt:lpstr>
      <vt:lpstr>Варианты выполнения запроса</vt:lpstr>
      <vt:lpstr>Таблица результатов</vt:lpstr>
      <vt:lpstr>Управление каталогом</vt:lpstr>
      <vt:lpstr>Системное имя </vt:lpstr>
      <vt:lpstr>Управление  распределенными транзакциями</vt:lpstr>
      <vt:lpstr>Управление восстановлением</vt:lpstr>
      <vt:lpstr>Протокол 2-ух фазной фиксации</vt:lpstr>
      <vt:lpstr>Протокол 2-ух фазной фиксации</vt:lpstr>
      <vt:lpstr>Протокол 2-ух фазной фиксации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Борис Николаевич Пищик</cp:lastModifiedBy>
  <cp:revision>318</cp:revision>
  <dcterms:created xsi:type="dcterms:W3CDTF">2012-10-04T16:47:37Z</dcterms:created>
  <dcterms:modified xsi:type="dcterms:W3CDTF">2024-03-21T05:09:27Z</dcterms:modified>
</cp:coreProperties>
</file>