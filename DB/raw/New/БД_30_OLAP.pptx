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7" r:id="rId1"/>
  </p:sldMasterIdLst>
  <p:notesMasterIdLst>
    <p:notesMasterId r:id="rId46"/>
  </p:notesMasterIdLst>
  <p:sldIdLst>
    <p:sldId id="256" r:id="rId2"/>
    <p:sldId id="297" r:id="rId3"/>
    <p:sldId id="300" r:id="rId4"/>
    <p:sldId id="257" r:id="rId5"/>
    <p:sldId id="299" r:id="rId6"/>
    <p:sldId id="303" r:id="rId7"/>
    <p:sldId id="266" r:id="rId8"/>
    <p:sldId id="301" r:id="rId9"/>
    <p:sldId id="295" r:id="rId10"/>
    <p:sldId id="298" r:id="rId11"/>
    <p:sldId id="269" r:id="rId12"/>
    <p:sldId id="281" r:id="rId13"/>
    <p:sldId id="267" r:id="rId14"/>
    <p:sldId id="261" r:id="rId15"/>
    <p:sldId id="258" r:id="rId16"/>
    <p:sldId id="268" r:id="rId17"/>
    <p:sldId id="259" r:id="rId18"/>
    <p:sldId id="262" r:id="rId19"/>
    <p:sldId id="284" r:id="rId20"/>
    <p:sldId id="285" r:id="rId21"/>
    <p:sldId id="263" r:id="rId22"/>
    <p:sldId id="283" r:id="rId23"/>
    <p:sldId id="264" r:id="rId24"/>
    <p:sldId id="286" r:id="rId25"/>
    <p:sldId id="287" r:id="rId26"/>
    <p:sldId id="288" r:id="rId27"/>
    <p:sldId id="296" r:id="rId28"/>
    <p:sldId id="302" r:id="rId29"/>
    <p:sldId id="304" r:id="rId30"/>
    <p:sldId id="305" r:id="rId31"/>
    <p:sldId id="306" r:id="rId32"/>
    <p:sldId id="307" r:id="rId33"/>
    <p:sldId id="308" r:id="rId34"/>
    <p:sldId id="309" r:id="rId35"/>
    <p:sldId id="311" r:id="rId36"/>
    <p:sldId id="310" r:id="rId37"/>
    <p:sldId id="312" r:id="rId38"/>
    <p:sldId id="313" r:id="rId39"/>
    <p:sldId id="291" r:id="rId40"/>
    <p:sldId id="292" r:id="rId41"/>
    <p:sldId id="289" r:id="rId42"/>
    <p:sldId id="293" r:id="rId43"/>
    <p:sldId id="294" r:id="rId44"/>
    <p:sldId id="290" r:id="rId45"/>
  </p:sldIdLst>
  <p:sldSz cx="9144000" cy="6858000" type="screen4x3"/>
  <p:notesSz cx="6858000" cy="9144000"/>
  <p:defaultTextStyle>
    <a:defPPr>
      <a:defRPr lang="ru-RU"/>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71" autoAdjust="0"/>
    <p:restoredTop sz="91226" autoAdjust="0"/>
  </p:normalViewPr>
  <p:slideViewPr>
    <p:cSldViewPr showGuides="1">
      <p:cViewPr>
        <p:scale>
          <a:sx n="93" d="100"/>
          <a:sy n="93" d="100"/>
        </p:scale>
        <p:origin x="438"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45005" cy="45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ru-RU"/>
          </a:p>
        </p:txBody>
      </p:sp>
      <p:sp>
        <p:nvSpPr>
          <p:cNvPr id="2969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ru-RU"/>
          </a:p>
        </p:txBody>
      </p:sp>
      <p:sp>
        <p:nvSpPr>
          <p:cNvPr id="297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970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2970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ru-RU"/>
          </a:p>
        </p:txBody>
      </p:sp>
      <p:sp>
        <p:nvSpPr>
          <p:cNvPr id="2970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2E4A306D-2755-42A6-9F34-F588ACB3E2B6}" type="slidenum">
              <a:rPr lang="ru-RU"/>
              <a:pPr/>
              <a:t>‹#›</a:t>
            </a:fld>
            <a:endParaRPr lang="ru-RU"/>
          </a:p>
        </p:txBody>
      </p:sp>
    </p:spTree>
    <p:extLst>
      <p:ext uri="{BB962C8B-B14F-4D97-AF65-F5344CB8AC3E}">
        <p14:creationId xmlns:p14="http://schemas.microsoft.com/office/powerpoint/2010/main" val="520889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Arial" charset="0"/>
      </a:defRPr>
    </a:lvl1pPr>
    <a:lvl2pPr marL="457200" algn="l" rtl="0" fontAlgn="base">
      <a:spcBef>
        <a:spcPct val="30000"/>
      </a:spcBef>
      <a:spcAft>
        <a:spcPct val="0"/>
      </a:spcAft>
      <a:defRPr sz="1200" kern="1200">
        <a:solidFill>
          <a:schemeClr val="tx1"/>
        </a:solidFill>
        <a:latin typeface="Arial" charset="0"/>
        <a:ea typeface="+mn-ea"/>
        <a:cs typeface="Arial" charset="0"/>
      </a:defRPr>
    </a:lvl2pPr>
    <a:lvl3pPr marL="914400" algn="l" rtl="0" fontAlgn="base">
      <a:spcBef>
        <a:spcPct val="30000"/>
      </a:spcBef>
      <a:spcAft>
        <a:spcPct val="0"/>
      </a:spcAft>
      <a:defRPr sz="1200" kern="1200">
        <a:solidFill>
          <a:schemeClr val="tx1"/>
        </a:solidFill>
        <a:latin typeface="Arial" charset="0"/>
        <a:ea typeface="+mn-ea"/>
        <a:cs typeface="Arial" charset="0"/>
      </a:defRPr>
    </a:lvl3pPr>
    <a:lvl4pPr marL="1371600" algn="l" rtl="0" fontAlgn="base">
      <a:spcBef>
        <a:spcPct val="30000"/>
      </a:spcBef>
      <a:spcAft>
        <a:spcPct val="0"/>
      </a:spcAft>
      <a:defRPr sz="1200" kern="1200">
        <a:solidFill>
          <a:schemeClr val="tx1"/>
        </a:solidFill>
        <a:latin typeface="Arial" charset="0"/>
        <a:ea typeface="+mn-ea"/>
        <a:cs typeface="Arial" charset="0"/>
      </a:defRPr>
    </a:lvl4pPr>
    <a:lvl5pPr marL="1828800" algn="l" rtl="0" fontAlgn="base">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9606F9-DA61-4CD1-88F0-08C8B4A9DCB5}" type="slidenum">
              <a:rPr lang="ru-RU"/>
              <a:pPr/>
              <a:t>2</a:t>
            </a:fld>
            <a:endParaRPr lang="ru-RU"/>
          </a:p>
        </p:txBody>
      </p:sp>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p:txBody>
          <a:bodyPr/>
          <a:lstStyle/>
          <a:p>
            <a:r>
              <a:rPr lang="ru-RU" sz="1200" b="0" i="0" kern="1200" dirty="0" err="1">
                <a:solidFill>
                  <a:schemeClr val="tx1"/>
                </a:solidFill>
                <a:latin typeface="Arial" charset="0"/>
                <a:ea typeface="+mn-ea"/>
                <a:cs typeface="Arial" charset="0"/>
              </a:rPr>
              <a:t>Data</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Mining</a:t>
            </a:r>
            <a:r>
              <a:rPr lang="ru-RU" sz="1200" b="0" i="0" kern="1200" dirty="0">
                <a:solidFill>
                  <a:schemeClr val="tx1"/>
                </a:solidFill>
                <a:latin typeface="Arial" charset="0"/>
                <a:ea typeface="+mn-ea"/>
                <a:cs typeface="Arial" charset="0"/>
              </a:rPr>
              <a:t> переводится как "добыча" или "раскопка данных". </a:t>
            </a:r>
          </a:p>
          <a:p>
            <a:r>
              <a:rPr lang="ru-RU" sz="1200" b="0" i="0" kern="1200" dirty="0">
                <a:solidFill>
                  <a:schemeClr val="tx1"/>
                </a:solidFill>
                <a:latin typeface="Arial" charset="0"/>
                <a:ea typeface="+mn-ea"/>
                <a:cs typeface="Arial" charset="0"/>
              </a:rPr>
              <a:t>Нередко рядом с </a:t>
            </a:r>
            <a:r>
              <a:rPr lang="ru-RU" sz="1200" b="0" i="0" kern="1200" dirty="0" err="1">
                <a:solidFill>
                  <a:schemeClr val="tx1"/>
                </a:solidFill>
                <a:latin typeface="Arial" charset="0"/>
                <a:ea typeface="+mn-ea"/>
                <a:cs typeface="Arial" charset="0"/>
              </a:rPr>
              <a:t>Data</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Mining</a:t>
            </a:r>
            <a:r>
              <a:rPr lang="ru-RU" sz="1200" b="0" i="0" kern="1200" dirty="0">
                <a:solidFill>
                  <a:schemeClr val="tx1"/>
                </a:solidFill>
                <a:latin typeface="Arial" charset="0"/>
                <a:ea typeface="+mn-ea"/>
                <a:cs typeface="Arial" charset="0"/>
              </a:rPr>
              <a:t> встречаются слова "обнаружение знаний в базах данных" (</a:t>
            </a:r>
            <a:r>
              <a:rPr lang="ru-RU" sz="1200" b="0" i="0" kern="1200" dirty="0" err="1">
                <a:solidFill>
                  <a:schemeClr val="tx1"/>
                </a:solidFill>
                <a:latin typeface="Arial" charset="0"/>
                <a:ea typeface="+mn-ea"/>
                <a:cs typeface="Arial" charset="0"/>
              </a:rPr>
              <a:t>knowledge</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discovery</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in</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databases</a:t>
            </a:r>
            <a:r>
              <a:rPr lang="ru-RU" sz="1200" b="0" i="0" kern="1200" dirty="0">
                <a:solidFill>
                  <a:schemeClr val="tx1"/>
                </a:solidFill>
                <a:latin typeface="Arial" charset="0"/>
                <a:ea typeface="+mn-ea"/>
                <a:cs typeface="Arial" charset="0"/>
              </a:rPr>
              <a:t>) и "интеллектуальный анализ данных". Их можно считать синонимами </a:t>
            </a:r>
            <a:r>
              <a:rPr lang="ru-RU" sz="1200" b="0" i="0" kern="1200" dirty="0" err="1">
                <a:solidFill>
                  <a:schemeClr val="tx1"/>
                </a:solidFill>
                <a:latin typeface="Arial" charset="0"/>
                <a:ea typeface="+mn-ea"/>
                <a:cs typeface="Arial" charset="0"/>
              </a:rPr>
              <a:t>Data</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Mining</a:t>
            </a:r>
            <a:r>
              <a:rPr lang="ru-RU" sz="1200" b="0" i="0" kern="1200" dirty="0">
                <a:solidFill>
                  <a:schemeClr val="tx1"/>
                </a:solidFill>
                <a:latin typeface="Arial" charset="0"/>
                <a:ea typeface="+mn-ea"/>
                <a:cs typeface="Arial" charset="0"/>
              </a:rPr>
              <a:t>. </a:t>
            </a:r>
          </a:p>
          <a:p>
            <a:r>
              <a:rPr lang="ru-RU" sz="1200" b="0" i="0" kern="1200" dirty="0">
                <a:solidFill>
                  <a:schemeClr val="tx1"/>
                </a:solidFill>
                <a:latin typeface="Arial" charset="0"/>
                <a:ea typeface="+mn-ea"/>
                <a:cs typeface="Arial" charset="0"/>
              </a:rPr>
              <a:t>Возникновение всех указанных терминов связано с новым витком в развитии средств и методов обработки данных.</a:t>
            </a:r>
          </a:p>
          <a:p>
            <a:r>
              <a:rPr lang="ru-RU" sz="1200" b="0" i="0" kern="1200" dirty="0">
                <a:solidFill>
                  <a:schemeClr val="tx1"/>
                </a:solidFill>
                <a:latin typeface="Arial" charset="0"/>
                <a:ea typeface="+mn-ea"/>
                <a:cs typeface="Arial" charset="0"/>
              </a:rPr>
              <a:t>До начала 90-х годов, казалось, не было особой нужды переосмысливать ситуацию в этой области. Все шло своим чередом в рамках направления, называемого прикладной статистикой (см. например, [1]). Теоретики проводили конференции и семинары, писали внушительные статьи и монографии, изобиловавшие аналитическими выкладками.</a:t>
            </a:r>
          </a:p>
          <a:p>
            <a:r>
              <a:rPr lang="ru-RU" sz="1200" b="0" i="0" kern="1200" dirty="0">
                <a:solidFill>
                  <a:schemeClr val="tx1"/>
                </a:solidFill>
                <a:latin typeface="Arial" charset="0"/>
                <a:ea typeface="+mn-ea"/>
                <a:cs typeface="Arial" charset="0"/>
              </a:rPr>
              <a:t>Вместе с тем, практики всегда знали, что попытки применить теоретические экзерсисы для решения реальных задач в большинстве случаев оказываются бесплодными. Но на озабоченность практиков до поры до времени можно было не обращать особого внимания — они решали главным образом свои частные проблемы обработки небольших локальных баз данных.</a:t>
            </a:r>
          </a:p>
          <a:p>
            <a:r>
              <a:rPr lang="ru-RU" sz="1200" b="0" i="0" kern="1200" dirty="0">
                <a:solidFill>
                  <a:schemeClr val="tx1"/>
                </a:solidFill>
                <a:latin typeface="Arial" charset="0"/>
                <a:ea typeface="+mn-ea"/>
                <a:cs typeface="Arial" charset="0"/>
              </a:rPr>
              <a:t>И вот прозвенел звонок. </a:t>
            </a:r>
          </a:p>
          <a:p>
            <a:r>
              <a:rPr lang="ru-RU" sz="1200" b="0" i="0" kern="1200" dirty="0">
                <a:solidFill>
                  <a:schemeClr val="tx1"/>
                </a:solidFill>
                <a:latin typeface="Arial" charset="0"/>
                <a:ea typeface="+mn-ea"/>
                <a:cs typeface="Arial" charset="0"/>
              </a:rPr>
              <a:t>В связи с совершенствованием технологий записи и хранения данных на людей обрушились колоссальные потоки информационной руды в самых различных областях. Деятельность любого предприятия (коммерческого, производственного, медицинского, научного и т.д.) теперь сопровождается регистрацией и записью всех подробностей его деятельности. Что делать с этой информацией? Стало ясно, что без продуктивной переработки потоки сырых данных образуют никому не нужную свалку.</a:t>
            </a:r>
          </a:p>
          <a:p>
            <a:r>
              <a:rPr lang="ru-RU" sz="1200" b="0" i="0" kern="1200" dirty="0">
                <a:solidFill>
                  <a:schemeClr val="tx1"/>
                </a:solidFill>
                <a:latin typeface="Arial" charset="0"/>
                <a:ea typeface="+mn-ea"/>
                <a:cs typeface="Arial" charset="0"/>
              </a:rPr>
              <a:t>Специфика современных требований к такой переработке следующие:</a:t>
            </a:r>
          </a:p>
          <a:p>
            <a:pPr>
              <a:buFont typeface="Symbol" pitchFamily="18" charset="2"/>
              <a:buChar char="-"/>
            </a:pPr>
            <a:r>
              <a:rPr lang="ru-RU" sz="1200" b="0" i="0" kern="1200" dirty="0">
                <a:solidFill>
                  <a:schemeClr val="tx1"/>
                </a:solidFill>
                <a:latin typeface="Arial" charset="0"/>
                <a:ea typeface="+mn-ea"/>
                <a:cs typeface="Arial" charset="0"/>
              </a:rPr>
              <a:t>Данные имеют неограниченный объем</a:t>
            </a:r>
          </a:p>
          <a:p>
            <a:pPr>
              <a:buFont typeface="Symbol" pitchFamily="18" charset="2"/>
              <a:buChar char="-"/>
            </a:pPr>
            <a:r>
              <a:rPr lang="ru-RU" sz="1200" b="0" i="0" kern="1200" dirty="0">
                <a:solidFill>
                  <a:schemeClr val="tx1"/>
                </a:solidFill>
                <a:latin typeface="Arial" charset="0"/>
                <a:ea typeface="+mn-ea"/>
                <a:cs typeface="Arial" charset="0"/>
              </a:rPr>
              <a:t>Данные являются разнородными (количественными, качественными, текстовыми)</a:t>
            </a:r>
          </a:p>
          <a:p>
            <a:pPr>
              <a:buFont typeface="Symbol" pitchFamily="18" charset="2"/>
              <a:buChar char="-"/>
            </a:pPr>
            <a:r>
              <a:rPr lang="ru-RU" sz="1200" b="0" i="0" kern="1200" dirty="0">
                <a:solidFill>
                  <a:schemeClr val="tx1"/>
                </a:solidFill>
                <a:latin typeface="Arial" charset="0"/>
                <a:ea typeface="+mn-ea"/>
                <a:cs typeface="Arial" charset="0"/>
              </a:rPr>
              <a:t>Результаты должны быть конкретны и понятны</a:t>
            </a:r>
          </a:p>
          <a:p>
            <a:pPr>
              <a:buFont typeface="Symbol" pitchFamily="18" charset="2"/>
              <a:buChar char="-"/>
            </a:pPr>
            <a:r>
              <a:rPr lang="ru-RU" sz="1200" b="0" i="0" kern="1200" dirty="0">
                <a:solidFill>
                  <a:schemeClr val="tx1"/>
                </a:solidFill>
                <a:latin typeface="Arial" charset="0"/>
                <a:ea typeface="+mn-ea"/>
                <a:cs typeface="Arial" charset="0"/>
              </a:rPr>
              <a:t>Инструменты для обработки сырых данных должны быть просты в использовании</a:t>
            </a:r>
          </a:p>
          <a:p>
            <a:r>
              <a:rPr lang="ru-RU" sz="1200" b="0" i="0" kern="1200" dirty="0">
                <a:solidFill>
                  <a:schemeClr val="tx1"/>
                </a:solidFill>
                <a:latin typeface="Arial" charset="0"/>
                <a:ea typeface="+mn-ea"/>
                <a:cs typeface="Arial" charset="0"/>
              </a:rPr>
              <a:t>Традиционная математическая статистика, долгое время претендовавшая на роль основного инструмента анализа данных, откровенно спасовала перед лицом возникших проблем. </a:t>
            </a:r>
          </a:p>
          <a:p>
            <a:r>
              <a:rPr lang="ru-RU" sz="1200" b="0" i="0" kern="1200" dirty="0">
                <a:solidFill>
                  <a:schemeClr val="tx1"/>
                </a:solidFill>
                <a:latin typeface="Arial" charset="0"/>
                <a:ea typeface="+mn-ea"/>
                <a:cs typeface="Arial" charset="0"/>
              </a:rPr>
              <a:t>Главная причина — </a:t>
            </a:r>
            <a:r>
              <a:rPr lang="ru-RU" sz="1200" b="0" i="1" kern="1200" dirty="0">
                <a:solidFill>
                  <a:schemeClr val="tx1"/>
                </a:solidFill>
                <a:latin typeface="Arial" charset="0"/>
                <a:ea typeface="+mn-ea"/>
                <a:cs typeface="Arial" charset="0"/>
              </a:rPr>
              <a:t>концепция усреднения по выборке</a:t>
            </a:r>
            <a:r>
              <a:rPr lang="ru-RU" sz="1200" b="0" i="0" kern="1200" dirty="0">
                <a:solidFill>
                  <a:schemeClr val="tx1"/>
                </a:solidFill>
                <a:latin typeface="Arial" charset="0"/>
                <a:ea typeface="+mn-ea"/>
                <a:cs typeface="Arial" charset="0"/>
              </a:rPr>
              <a:t>, приводящая к операциям над фиктивными величинами (типа средней температуры пациентов по больнице, средней высоты дома на улице, состоящей из дворцов и лачуг и т.п.). </a:t>
            </a:r>
          </a:p>
          <a:p>
            <a:r>
              <a:rPr lang="ru-RU" sz="1200" b="0" i="0" kern="1200" dirty="0">
                <a:solidFill>
                  <a:schemeClr val="tx1"/>
                </a:solidFill>
                <a:latin typeface="Arial" charset="0"/>
                <a:ea typeface="+mn-ea"/>
                <a:cs typeface="Arial" charset="0"/>
              </a:rPr>
              <a:t>Методы математической статистики оказались полезными главным образом для проверки заранее сформулированных гипотез (</a:t>
            </a:r>
            <a:r>
              <a:rPr lang="ru-RU" sz="1200" b="0" i="0" kern="1200" dirty="0" err="1">
                <a:solidFill>
                  <a:schemeClr val="tx1"/>
                </a:solidFill>
                <a:latin typeface="Arial" charset="0"/>
                <a:ea typeface="+mn-ea"/>
                <a:cs typeface="Arial" charset="0"/>
              </a:rPr>
              <a:t>verification-driven</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data</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mining</a:t>
            </a:r>
            <a:r>
              <a:rPr lang="ru-RU" sz="1200" b="0" i="0" kern="1200" dirty="0">
                <a:solidFill>
                  <a:schemeClr val="tx1"/>
                </a:solidFill>
                <a:latin typeface="Arial" charset="0"/>
                <a:ea typeface="+mn-ea"/>
                <a:cs typeface="Arial" charset="0"/>
              </a:rPr>
              <a:t>) и для “грубого” разведочного анализа, составляющего основу оперативной аналитической обработки данных (</a:t>
            </a:r>
            <a:r>
              <a:rPr lang="ru-RU" sz="1200" b="0" i="0" kern="1200" dirty="0" err="1">
                <a:solidFill>
                  <a:schemeClr val="tx1"/>
                </a:solidFill>
                <a:latin typeface="Arial" charset="0"/>
                <a:ea typeface="+mn-ea"/>
                <a:cs typeface="Arial" charset="0"/>
              </a:rPr>
              <a:t>online</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analytical</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processing</a:t>
            </a:r>
            <a:r>
              <a:rPr lang="ru-RU" sz="1200" b="0" i="0" kern="1200" dirty="0">
                <a:solidFill>
                  <a:schemeClr val="tx1"/>
                </a:solidFill>
                <a:latin typeface="Arial" charset="0"/>
                <a:ea typeface="+mn-ea"/>
                <a:cs typeface="Arial" charset="0"/>
              </a:rPr>
              <a:t>, OLAP).</a:t>
            </a:r>
          </a:p>
          <a:p>
            <a:r>
              <a:rPr lang="ru-RU" sz="1200" b="0" i="0" kern="1200" dirty="0">
                <a:solidFill>
                  <a:schemeClr val="tx1"/>
                </a:solidFill>
                <a:latin typeface="Arial" charset="0"/>
                <a:ea typeface="+mn-ea"/>
                <a:cs typeface="Arial" charset="0"/>
              </a:rPr>
              <a:t>В основу современной технологии </a:t>
            </a:r>
            <a:r>
              <a:rPr lang="ru-RU" sz="1200" b="0" i="0" kern="1200" dirty="0" err="1">
                <a:solidFill>
                  <a:schemeClr val="tx1"/>
                </a:solidFill>
                <a:latin typeface="Arial" charset="0"/>
                <a:ea typeface="+mn-ea"/>
                <a:cs typeface="Arial" charset="0"/>
              </a:rPr>
              <a:t>Data</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Mining</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discovery-driven</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data</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mining</a:t>
            </a:r>
            <a:r>
              <a:rPr lang="ru-RU" sz="1200" b="0" i="0" kern="1200" dirty="0">
                <a:solidFill>
                  <a:schemeClr val="tx1"/>
                </a:solidFill>
                <a:latin typeface="Arial" charset="0"/>
                <a:ea typeface="+mn-ea"/>
                <a:cs typeface="Arial" charset="0"/>
              </a:rPr>
              <a:t>) положена концепция шаблонов (паттернов), отражающих </a:t>
            </a:r>
            <a:r>
              <a:rPr lang="ru-RU" sz="1200" b="0" i="1" kern="1200" dirty="0">
                <a:solidFill>
                  <a:schemeClr val="tx1"/>
                </a:solidFill>
                <a:latin typeface="Arial" charset="0"/>
                <a:ea typeface="+mn-ea"/>
                <a:cs typeface="Arial" charset="0"/>
              </a:rPr>
              <a:t>фрагменты </a:t>
            </a:r>
            <a:r>
              <a:rPr lang="ru-RU" sz="1200" b="0" i="0" kern="1200" dirty="0" err="1">
                <a:solidFill>
                  <a:schemeClr val="tx1"/>
                </a:solidFill>
                <a:latin typeface="Arial" charset="0"/>
                <a:ea typeface="+mn-ea"/>
                <a:cs typeface="Arial" charset="0"/>
              </a:rPr>
              <a:t>многоаспектных</a:t>
            </a:r>
            <a:r>
              <a:rPr lang="ru-RU" sz="1200" b="0" i="0" kern="1200" dirty="0">
                <a:solidFill>
                  <a:schemeClr val="tx1"/>
                </a:solidFill>
                <a:latin typeface="Arial" charset="0"/>
                <a:ea typeface="+mn-ea"/>
                <a:cs typeface="Arial" charset="0"/>
              </a:rPr>
              <a:t> взаимоотношений в данных. Эти шаблоны представляют собой закономерности, свойственные</a:t>
            </a:r>
            <a:r>
              <a:rPr lang="ru-RU" sz="1200" b="0" i="1" kern="1200" dirty="0">
                <a:solidFill>
                  <a:schemeClr val="tx1"/>
                </a:solidFill>
                <a:latin typeface="Arial" charset="0"/>
                <a:ea typeface="+mn-ea"/>
                <a:cs typeface="Arial" charset="0"/>
              </a:rPr>
              <a:t> </a:t>
            </a:r>
            <a:r>
              <a:rPr lang="ru-RU" sz="1200" b="0" i="1" kern="1200" dirty="0" err="1">
                <a:solidFill>
                  <a:schemeClr val="tx1"/>
                </a:solidFill>
                <a:latin typeface="Arial" charset="0"/>
                <a:ea typeface="+mn-ea"/>
                <a:cs typeface="Arial" charset="0"/>
              </a:rPr>
              <a:t>подвыборкам</a:t>
            </a:r>
            <a:r>
              <a:rPr lang="ru-RU" sz="1200" b="0" i="1" kern="1200" dirty="0">
                <a:solidFill>
                  <a:schemeClr val="tx1"/>
                </a:solidFill>
                <a:latin typeface="Arial" charset="0"/>
                <a:ea typeface="+mn-ea"/>
                <a:cs typeface="Arial" charset="0"/>
              </a:rPr>
              <a:t> данных</a:t>
            </a:r>
            <a:r>
              <a:rPr lang="ru-RU" sz="1200" b="0" i="0" kern="1200" dirty="0">
                <a:solidFill>
                  <a:schemeClr val="tx1"/>
                </a:solidFill>
                <a:latin typeface="Arial" charset="0"/>
                <a:ea typeface="+mn-ea"/>
                <a:cs typeface="Arial" charset="0"/>
              </a:rPr>
              <a:t>, которые могут быть компактно выражены в понятной человеку форме. Поиск шаблонов производится методами, не ограниченными рамками априорных предположений о структуре выборке и виде распределений значений анализируемых показателей. Примеры заданий на такой поиск при использовании </a:t>
            </a:r>
            <a:r>
              <a:rPr lang="ru-RU" sz="1200" b="0" i="0" kern="1200" dirty="0" err="1">
                <a:solidFill>
                  <a:schemeClr val="tx1"/>
                </a:solidFill>
                <a:latin typeface="Arial" charset="0"/>
                <a:ea typeface="+mn-ea"/>
                <a:cs typeface="Arial" charset="0"/>
              </a:rPr>
              <a:t>Data</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Mining</a:t>
            </a:r>
            <a:r>
              <a:rPr lang="ru-RU" sz="1200" b="0" i="0" kern="1200" dirty="0">
                <a:solidFill>
                  <a:schemeClr val="tx1"/>
                </a:solidFill>
                <a:latin typeface="Arial" charset="0"/>
                <a:ea typeface="+mn-ea"/>
                <a:cs typeface="Arial" charset="0"/>
              </a:rPr>
              <a:t> приведены в табл. 1.</a:t>
            </a:r>
          </a:p>
          <a:p>
            <a:pPr marL="0" marR="0" indent="0" algn="l" defTabSz="914400" rtl="0" eaLnBrk="1" fontAlgn="base" latinLnBrk="0" hangingPunct="1">
              <a:lnSpc>
                <a:spcPct val="80000"/>
              </a:lnSpc>
              <a:spcBef>
                <a:spcPct val="30000"/>
              </a:spcBef>
              <a:spcAft>
                <a:spcPct val="0"/>
              </a:spcAft>
              <a:buClrTx/>
              <a:buSzTx/>
              <a:buFontTx/>
              <a:buNone/>
              <a:tabLst/>
              <a:defRPr/>
            </a:pPr>
            <a:endParaRPr lang="ru-RU" sz="1200" kern="1200" dirty="0">
              <a:solidFill>
                <a:schemeClr val="tx1"/>
              </a:solidFill>
              <a:latin typeface="Arial" charset="0"/>
              <a:ea typeface="+mn-ea"/>
              <a:cs typeface="Arial" charset="0"/>
            </a:endParaRPr>
          </a:p>
          <a:p>
            <a:pPr marL="0" marR="0" indent="0" algn="l" defTabSz="914400" rtl="0" eaLnBrk="1" fontAlgn="base" latinLnBrk="0" hangingPunct="1">
              <a:lnSpc>
                <a:spcPct val="80000"/>
              </a:lnSpc>
              <a:spcBef>
                <a:spcPct val="30000"/>
              </a:spcBef>
              <a:spcAft>
                <a:spcPct val="0"/>
              </a:spcAft>
              <a:buClrTx/>
              <a:buSzTx/>
              <a:buFontTx/>
              <a:buNone/>
              <a:tabLst/>
              <a:defRPr/>
            </a:pPr>
            <a:r>
              <a:rPr lang="ru-RU" sz="1200" kern="1200" dirty="0">
                <a:solidFill>
                  <a:schemeClr val="tx1"/>
                </a:solidFill>
                <a:latin typeface="Arial" charset="0"/>
                <a:ea typeface="+mn-ea"/>
                <a:cs typeface="Arial" charset="0"/>
              </a:rPr>
              <a:t>Интеллектуальные методы извлечения информации из массивов данных (</a:t>
            </a:r>
            <a:r>
              <a:rPr lang="ru-RU" sz="1200" kern="1200" dirty="0" err="1">
                <a:solidFill>
                  <a:schemeClr val="tx1"/>
                </a:solidFill>
                <a:latin typeface="Arial" charset="0"/>
                <a:ea typeface="+mn-ea"/>
                <a:cs typeface="Arial" charset="0"/>
              </a:rPr>
              <a:t>data</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mining</a:t>
            </a:r>
            <a:r>
              <a:rPr lang="ru-RU" sz="1200" kern="1200" dirty="0">
                <a:solidFill>
                  <a:schemeClr val="tx1"/>
                </a:solidFill>
                <a:latin typeface="Arial" charset="0"/>
                <a:ea typeface="+mn-ea"/>
                <a:cs typeface="Arial" charset="0"/>
              </a:rPr>
              <a:t>) дадут ответы на такие вопросы о вашем бизнесе, которые раньше не приходили вам в голову. Если вы правильно выберете инструментальные средства и эффективно их используете, потенциальная отдача от интеллектуального анализа и представления данных будет огромной. Приложения, реализующие подобные методы, могут стать надежным фундаментом при выработке деловой стратегии вашей организации - при анализе риска кредитования, выявлении злоупотреблений и мошенничества, планировании закупок для предприятий розничной торговли и внедрении новых телекоммуникационных продуктов и услуг. </a:t>
            </a:r>
          </a:p>
          <a:p>
            <a:pPr marL="0" marR="0" indent="0" algn="l" defTabSz="914400" rtl="0" eaLnBrk="1" fontAlgn="base" latinLnBrk="0" hangingPunct="1">
              <a:lnSpc>
                <a:spcPct val="80000"/>
              </a:lnSpc>
              <a:spcBef>
                <a:spcPct val="30000"/>
              </a:spcBef>
              <a:spcAft>
                <a:spcPct val="0"/>
              </a:spcAft>
              <a:buClrTx/>
              <a:buSzTx/>
              <a:buFontTx/>
              <a:buNone/>
              <a:tabLst/>
              <a:defRPr/>
            </a:pPr>
            <a:r>
              <a:rPr lang="ru-RU" sz="1200" kern="1200" dirty="0">
                <a:solidFill>
                  <a:schemeClr val="tx1"/>
                </a:solidFill>
                <a:latin typeface="Arial" charset="0"/>
                <a:ea typeface="+mn-ea"/>
                <a:cs typeface="Arial" charset="0"/>
              </a:rPr>
              <a:t>Традиционные запросы к базам данных способны дать ответы на простые вопросы типа: "Каковы были наши объемы продаж в январе 1995 г. в Северо-Восточном регионе?" </a:t>
            </a:r>
          </a:p>
          <a:p>
            <a:pPr marL="0" marR="0" indent="0" algn="l" defTabSz="914400" rtl="0" eaLnBrk="1" fontAlgn="base" latinLnBrk="0" hangingPunct="1">
              <a:lnSpc>
                <a:spcPct val="80000"/>
              </a:lnSpc>
              <a:spcBef>
                <a:spcPct val="30000"/>
              </a:spcBef>
              <a:spcAft>
                <a:spcPct val="0"/>
              </a:spcAft>
              <a:buClrTx/>
              <a:buSzTx/>
              <a:buFontTx/>
              <a:buNone/>
              <a:tabLst/>
              <a:defRPr/>
            </a:pPr>
            <a:r>
              <a:rPr lang="ru-RU" sz="1200" kern="1200" dirty="0">
                <a:solidFill>
                  <a:schemeClr val="tx1"/>
                </a:solidFill>
                <a:latin typeface="Arial" charset="0"/>
                <a:ea typeface="+mn-ea"/>
                <a:cs typeface="Arial" charset="0"/>
              </a:rPr>
              <a:t>Многомерный анализ данных, часто называемый оперативной аналитической обработкой (OLAP - </a:t>
            </a:r>
            <a:r>
              <a:rPr lang="ru-RU" sz="1200" kern="1200" dirty="0" err="1">
                <a:solidFill>
                  <a:schemeClr val="tx1"/>
                </a:solidFill>
                <a:latin typeface="Arial" charset="0"/>
                <a:ea typeface="+mn-ea"/>
                <a:cs typeface="Arial" charset="0"/>
              </a:rPr>
              <a:t>online</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analytical</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processing</a:t>
            </a:r>
            <a:r>
              <a:rPr lang="ru-RU" sz="1200" kern="1200" dirty="0">
                <a:solidFill>
                  <a:schemeClr val="tx1"/>
                </a:solidFill>
                <a:latin typeface="Arial" charset="0"/>
                <a:ea typeface="+mn-ea"/>
                <a:cs typeface="Arial" charset="0"/>
              </a:rPr>
              <a:t>), позволяет задавать гораздо более сложные вопросы, например сравнить итоги продаж с плановыми показателями за последние два года по кварталам и по регионам. </a:t>
            </a:r>
          </a:p>
          <a:p>
            <a:pPr marL="0" marR="0" indent="0" algn="l" defTabSz="914400" rtl="0" eaLnBrk="1" fontAlgn="base" latinLnBrk="0" hangingPunct="1">
              <a:lnSpc>
                <a:spcPct val="80000"/>
              </a:lnSpc>
              <a:spcBef>
                <a:spcPct val="30000"/>
              </a:spcBef>
              <a:spcAft>
                <a:spcPct val="0"/>
              </a:spcAft>
              <a:buClrTx/>
              <a:buSzTx/>
              <a:buFontTx/>
              <a:buNone/>
              <a:tabLst/>
              <a:defRPr/>
            </a:pPr>
            <a:r>
              <a:rPr lang="ru-RU" sz="1200" kern="1200" dirty="0">
                <a:solidFill>
                  <a:schemeClr val="tx1"/>
                </a:solidFill>
                <a:latin typeface="Arial" charset="0"/>
                <a:ea typeface="+mn-ea"/>
                <a:cs typeface="Arial" charset="0"/>
              </a:rPr>
              <a:t>Но в обоих случаях результаты представляют собой или некие выборки данных, или суммарные (агрегированные) показатели. </a:t>
            </a:r>
          </a:p>
          <a:p>
            <a:pPr>
              <a:lnSpc>
                <a:spcPct val="80000"/>
              </a:lnSpc>
            </a:pPr>
            <a:endParaRPr lang="ru-RU" sz="8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9606F9-DA61-4CD1-88F0-08C8B4A9DCB5}" type="slidenum">
              <a:rPr lang="ru-RU"/>
              <a:pPr/>
              <a:t>3</a:t>
            </a:fld>
            <a:endParaRPr lang="ru-RU"/>
          </a:p>
        </p:txBody>
      </p:sp>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p:txBody>
          <a:bodyPr/>
          <a:lstStyle/>
          <a:p>
            <a:r>
              <a:rPr lang="ru-RU" sz="1200" b="0" i="0" kern="1200" dirty="0" err="1">
                <a:solidFill>
                  <a:schemeClr val="tx1"/>
                </a:solidFill>
                <a:latin typeface="Arial" charset="0"/>
                <a:ea typeface="+mn-ea"/>
                <a:cs typeface="Arial" charset="0"/>
              </a:rPr>
              <a:t>Data</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Mining</a:t>
            </a:r>
            <a:r>
              <a:rPr lang="ru-RU" sz="1200" b="0" i="0" kern="1200" dirty="0">
                <a:solidFill>
                  <a:schemeClr val="tx1"/>
                </a:solidFill>
                <a:latin typeface="Arial" charset="0"/>
                <a:ea typeface="+mn-ea"/>
                <a:cs typeface="Arial" charset="0"/>
              </a:rPr>
              <a:t> переводится как "добыча" или "раскопка данных". </a:t>
            </a:r>
          </a:p>
          <a:p>
            <a:r>
              <a:rPr lang="ru-RU" sz="1200" b="0" i="0" kern="1200" dirty="0">
                <a:solidFill>
                  <a:schemeClr val="tx1"/>
                </a:solidFill>
                <a:latin typeface="Arial" charset="0"/>
                <a:ea typeface="+mn-ea"/>
                <a:cs typeface="Arial" charset="0"/>
              </a:rPr>
              <a:t>Нередко рядом с </a:t>
            </a:r>
            <a:r>
              <a:rPr lang="ru-RU" sz="1200" b="0" i="0" kern="1200" dirty="0" err="1">
                <a:solidFill>
                  <a:schemeClr val="tx1"/>
                </a:solidFill>
                <a:latin typeface="Arial" charset="0"/>
                <a:ea typeface="+mn-ea"/>
                <a:cs typeface="Arial" charset="0"/>
              </a:rPr>
              <a:t>Data</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Mining</a:t>
            </a:r>
            <a:r>
              <a:rPr lang="ru-RU" sz="1200" b="0" i="0" kern="1200" dirty="0">
                <a:solidFill>
                  <a:schemeClr val="tx1"/>
                </a:solidFill>
                <a:latin typeface="Arial" charset="0"/>
                <a:ea typeface="+mn-ea"/>
                <a:cs typeface="Arial" charset="0"/>
              </a:rPr>
              <a:t> встречаются слова "обнаружение знаний в базах данных" (</a:t>
            </a:r>
            <a:r>
              <a:rPr lang="ru-RU" sz="1200" b="0" i="0" kern="1200" dirty="0" err="1">
                <a:solidFill>
                  <a:schemeClr val="tx1"/>
                </a:solidFill>
                <a:latin typeface="Arial" charset="0"/>
                <a:ea typeface="+mn-ea"/>
                <a:cs typeface="Arial" charset="0"/>
              </a:rPr>
              <a:t>knowledge</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discovery</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in</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databases</a:t>
            </a:r>
            <a:r>
              <a:rPr lang="ru-RU" sz="1200" b="0" i="0" kern="1200" dirty="0">
                <a:solidFill>
                  <a:schemeClr val="tx1"/>
                </a:solidFill>
                <a:latin typeface="Arial" charset="0"/>
                <a:ea typeface="+mn-ea"/>
                <a:cs typeface="Arial" charset="0"/>
              </a:rPr>
              <a:t>) и "интеллектуальный анализ данных". Их можно считать синонимами </a:t>
            </a:r>
            <a:r>
              <a:rPr lang="ru-RU" sz="1200" b="0" i="0" kern="1200" dirty="0" err="1">
                <a:solidFill>
                  <a:schemeClr val="tx1"/>
                </a:solidFill>
                <a:latin typeface="Arial" charset="0"/>
                <a:ea typeface="+mn-ea"/>
                <a:cs typeface="Arial" charset="0"/>
              </a:rPr>
              <a:t>Data</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Mining</a:t>
            </a:r>
            <a:r>
              <a:rPr lang="ru-RU" sz="1200" b="0" i="0" kern="1200" dirty="0">
                <a:solidFill>
                  <a:schemeClr val="tx1"/>
                </a:solidFill>
                <a:latin typeface="Arial" charset="0"/>
                <a:ea typeface="+mn-ea"/>
                <a:cs typeface="Arial" charset="0"/>
              </a:rPr>
              <a:t>. </a:t>
            </a:r>
          </a:p>
          <a:p>
            <a:r>
              <a:rPr lang="ru-RU" sz="1200" b="0" i="0" kern="1200" dirty="0">
                <a:solidFill>
                  <a:schemeClr val="tx1"/>
                </a:solidFill>
                <a:latin typeface="Arial" charset="0"/>
                <a:ea typeface="+mn-ea"/>
                <a:cs typeface="Arial" charset="0"/>
              </a:rPr>
              <a:t>Возникновение всех указанных терминов связано с новым витком в развитии средств и методов обработки данных.</a:t>
            </a:r>
          </a:p>
          <a:p>
            <a:r>
              <a:rPr lang="ru-RU" sz="1200" b="0" i="0" kern="1200" dirty="0">
                <a:solidFill>
                  <a:schemeClr val="tx1"/>
                </a:solidFill>
                <a:latin typeface="Arial" charset="0"/>
                <a:ea typeface="+mn-ea"/>
                <a:cs typeface="Arial" charset="0"/>
              </a:rPr>
              <a:t>До начала 90-х годов, казалось, не было особой нужды переосмысливать ситуацию в этой области. Все шло своим чередом в рамках направления, называемого прикладной статистикой (см. например, [1]). Теоретики проводили конференции и семинары, писали внушительные статьи и монографии, изобиловавшие аналитическими выкладками.</a:t>
            </a:r>
          </a:p>
          <a:p>
            <a:r>
              <a:rPr lang="ru-RU" sz="1200" b="0" i="0" kern="1200" dirty="0">
                <a:solidFill>
                  <a:schemeClr val="tx1"/>
                </a:solidFill>
                <a:latin typeface="Arial" charset="0"/>
                <a:ea typeface="+mn-ea"/>
                <a:cs typeface="Arial" charset="0"/>
              </a:rPr>
              <a:t>Вместе с тем, практики всегда знали, что попытки применить теоретические экзерсисы для решения реальных задач в большинстве случаев оказываются бесплодными. Но на озабоченность практиков до поры до времени можно было не обращать особого внимания — они решали главным образом свои частные проблемы обработки небольших локальных баз данных.</a:t>
            </a:r>
          </a:p>
          <a:p>
            <a:r>
              <a:rPr lang="ru-RU" sz="1200" b="0" i="0" kern="1200" dirty="0">
                <a:solidFill>
                  <a:schemeClr val="tx1"/>
                </a:solidFill>
                <a:latin typeface="Arial" charset="0"/>
                <a:ea typeface="+mn-ea"/>
                <a:cs typeface="Arial" charset="0"/>
              </a:rPr>
              <a:t>И вот прозвенел звонок. </a:t>
            </a:r>
          </a:p>
          <a:p>
            <a:r>
              <a:rPr lang="ru-RU" sz="1200" b="0" i="0" kern="1200" dirty="0">
                <a:solidFill>
                  <a:schemeClr val="tx1"/>
                </a:solidFill>
                <a:latin typeface="Arial" charset="0"/>
                <a:ea typeface="+mn-ea"/>
                <a:cs typeface="Arial" charset="0"/>
              </a:rPr>
              <a:t>В связи с совершенствованием технологий записи и хранения данных на людей обрушились колоссальные потоки информационной руды в самых различных областях. Деятельность любого предприятия (коммерческого, производственного, медицинского, научного и т.д.) теперь сопровождается регистрацией и записью всех подробностей его деятельности. Что делать с этой информацией? Стало ясно, что без продуктивной переработки потоки сырых данных образуют никому не нужную свалку.</a:t>
            </a:r>
          </a:p>
          <a:p>
            <a:r>
              <a:rPr lang="ru-RU" sz="1200" b="0" i="0" kern="1200" dirty="0">
                <a:solidFill>
                  <a:schemeClr val="tx1"/>
                </a:solidFill>
                <a:latin typeface="Arial" charset="0"/>
                <a:ea typeface="+mn-ea"/>
                <a:cs typeface="Arial" charset="0"/>
              </a:rPr>
              <a:t>Специфика современных требований к такой переработке следующие:</a:t>
            </a:r>
          </a:p>
          <a:p>
            <a:pPr>
              <a:buFont typeface="Symbol" pitchFamily="18" charset="2"/>
              <a:buChar char="-"/>
            </a:pPr>
            <a:r>
              <a:rPr lang="ru-RU" sz="1200" b="0" i="0" kern="1200" dirty="0">
                <a:solidFill>
                  <a:schemeClr val="tx1"/>
                </a:solidFill>
                <a:latin typeface="Arial" charset="0"/>
                <a:ea typeface="+mn-ea"/>
                <a:cs typeface="Arial" charset="0"/>
              </a:rPr>
              <a:t>Данные имеют неограниченный объем</a:t>
            </a:r>
          </a:p>
          <a:p>
            <a:pPr>
              <a:buFont typeface="Symbol" pitchFamily="18" charset="2"/>
              <a:buChar char="-"/>
            </a:pPr>
            <a:r>
              <a:rPr lang="ru-RU" sz="1200" b="0" i="0" kern="1200" dirty="0">
                <a:solidFill>
                  <a:schemeClr val="tx1"/>
                </a:solidFill>
                <a:latin typeface="Arial" charset="0"/>
                <a:ea typeface="+mn-ea"/>
                <a:cs typeface="Arial" charset="0"/>
              </a:rPr>
              <a:t>Данные являются разнородными (количественными, качественными, текстовыми)</a:t>
            </a:r>
          </a:p>
          <a:p>
            <a:pPr>
              <a:buFont typeface="Symbol" pitchFamily="18" charset="2"/>
              <a:buChar char="-"/>
            </a:pPr>
            <a:r>
              <a:rPr lang="ru-RU" sz="1200" b="0" i="0" kern="1200" dirty="0">
                <a:solidFill>
                  <a:schemeClr val="tx1"/>
                </a:solidFill>
                <a:latin typeface="Arial" charset="0"/>
                <a:ea typeface="+mn-ea"/>
                <a:cs typeface="Arial" charset="0"/>
              </a:rPr>
              <a:t>Результаты должны быть конкретны и понятны</a:t>
            </a:r>
          </a:p>
          <a:p>
            <a:pPr>
              <a:buFont typeface="Symbol" pitchFamily="18" charset="2"/>
              <a:buChar char="-"/>
            </a:pPr>
            <a:r>
              <a:rPr lang="ru-RU" sz="1200" b="0" i="0" kern="1200" dirty="0">
                <a:solidFill>
                  <a:schemeClr val="tx1"/>
                </a:solidFill>
                <a:latin typeface="Arial" charset="0"/>
                <a:ea typeface="+mn-ea"/>
                <a:cs typeface="Arial" charset="0"/>
              </a:rPr>
              <a:t>Инструменты для обработки сырых данных должны быть просты в использовании</a:t>
            </a:r>
          </a:p>
          <a:p>
            <a:r>
              <a:rPr lang="ru-RU" sz="1200" b="0" i="0" kern="1200" dirty="0">
                <a:solidFill>
                  <a:schemeClr val="tx1"/>
                </a:solidFill>
                <a:latin typeface="Arial" charset="0"/>
                <a:ea typeface="+mn-ea"/>
                <a:cs typeface="Arial" charset="0"/>
              </a:rPr>
              <a:t>Традиционная математическая статистика, долгое время претендовавшая на роль основного инструмента анализа данных, откровенно спасовала перед лицом возникших проблем. </a:t>
            </a:r>
          </a:p>
          <a:p>
            <a:r>
              <a:rPr lang="ru-RU" sz="1200" b="0" i="0" kern="1200" dirty="0">
                <a:solidFill>
                  <a:schemeClr val="tx1"/>
                </a:solidFill>
                <a:latin typeface="Arial" charset="0"/>
                <a:ea typeface="+mn-ea"/>
                <a:cs typeface="Arial" charset="0"/>
              </a:rPr>
              <a:t>Главная причина — </a:t>
            </a:r>
            <a:r>
              <a:rPr lang="ru-RU" sz="1200" b="0" i="1" kern="1200" dirty="0">
                <a:solidFill>
                  <a:schemeClr val="tx1"/>
                </a:solidFill>
                <a:latin typeface="Arial" charset="0"/>
                <a:ea typeface="+mn-ea"/>
                <a:cs typeface="Arial" charset="0"/>
              </a:rPr>
              <a:t>концепция усреднения по выборке</a:t>
            </a:r>
            <a:r>
              <a:rPr lang="ru-RU" sz="1200" b="0" i="0" kern="1200" dirty="0">
                <a:solidFill>
                  <a:schemeClr val="tx1"/>
                </a:solidFill>
                <a:latin typeface="Arial" charset="0"/>
                <a:ea typeface="+mn-ea"/>
                <a:cs typeface="Arial" charset="0"/>
              </a:rPr>
              <a:t>, приводящая к операциям над фиктивными величинами (типа средней температуры пациентов по больнице, средней высоты дома на улице, состоящей из дворцов и лачуг и т.п.). </a:t>
            </a:r>
          </a:p>
          <a:p>
            <a:r>
              <a:rPr lang="ru-RU" sz="1200" b="0" i="0" kern="1200" dirty="0">
                <a:solidFill>
                  <a:schemeClr val="tx1"/>
                </a:solidFill>
                <a:latin typeface="Arial" charset="0"/>
                <a:ea typeface="+mn-ea"/>
                <a:cs typeface="Arial" charset="0"/>
              </a:rPr>
              <a:t>Методы математической статистики оказались полезными главным образом для проверки заранее сформулированных гипотез (</a:t>
            </a:r>
            <a:r>
              <a:rPr lang="ru-RU" sz="1200" b="0" i="0" kern="1200" dirty="0" err="1">
                <a:solidFill>
                  <a:schemeClr val="tx1"/>
                </a:solidFill>
                <a:latin typeface="Arial" charset="0"/>
                <a:ea typeface="+mn-ea"/>
                <a:cs typeface="Arial" charset="0"/>
              </a:rPr>
              <a:t>verification-driven</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data</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mining</a:t>
            </a:r>
            <a:r>
              <a:rPr lang="ru-RU" sz="1200" b="0" i="0" kern="1200" dirty="0">
                <a:solidFill>
                  <a:schemeClr val="tx1"/>
                </a:solidFill>
                <a:latin typeface="Arial" charset="0"/>
                <a:ea typeface="+mn-ea"/>
                <a:cs typeface="Arial" charset="0"/>
              </a:rPr>
              <a:t>) и для “грубого” разведочного анализа, составляющего основу оперативной аналитической обработки данных (</a:t>
            </a:r>
            <a:r>
              <a:rPr lang="ru-RU" sz="1200" b="0" i="0" kern="1200" dirty="0" err="1">
                <a:solidFill>
                  <a:schemeClr val="tx1"/>
                </a:solidFill>
                <a:latin typeface="Arial" charset="0"/>
                <a:ea typeface="+mn-ea"/>
                <a:cs typeface="Arial" charset="0"/>
              </a:rPr>
              <a:t>online</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analytical</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processing</a:t>
            </a:r>
            <a:r>
              <a:rPr lang="ru-RU" sz="1200" b="0" i="0" kern="1200" dirty="0">
                <a:solidFill>
                  <a:schemeClr val="tx1"/>
                </a:solidFill>
                <a:latin typeface="Arial" charset="0"/>
                <a:ea typeface="+mn-ea"/>
                <a:cs typeface="Arial" charset="0"/>
              </a:rPr>
              <a:t>, OLAP).</a:t>
            </a:r>
          </a:p>
          <a:p>
            <a:r>
              <a:rPr lang="ru-RU" sz="1200" b="0" i="0" kern="1200" dirty="0">
                <a:solidFill>
                  <a:schemeClr val="tx1"/>
                </a:solidFill>
                <a:latin typeface="Arial" charset="0"/>
                <a:ea typeface="+mn-ea"/>
                <a:cs typeface="Arial" charset="0"/>
              </a:rPr>
              <a:t>В основу современной технологии </a:t>
            </a:r>
            <a:r>
              <a:rPr lang="ru-RU" sz="1200" b="0" i="0" kern="1200" dirty="0" err="1">
                <a:solidFill>
                  <a:schemeClr val="tx1"/>
                </a:solidFill>
                <a:latin typeface="Arial" charset="0"/>
                <a:ea typeface="+mn-ea"/>
                <a:cs typeface="Arial" charset="0"/>
              </a:rPr>
              <a:t>Data</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Mining</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discovery-driven</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data</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mining</a:t>
            </a:r>
            <a:r>
              <a:rPr lang="ru-RU" sz="1200" b="0" i="0" kern="1200" dirty="0">
                <a:solidFill>
                  <a:schemeClr val="tx1"/>
                </a:solidFill>
                <a:latin typeface="Arial" charset="0"/>
                <a:ea typeface="+mn-ea"/>
                <a:cs typeface="Arial" charset="0"/>
              </a:rPr>
              <a:t>) положена концепция шаблонов (паттернов), отражающих </a:t>
            </a:r>
            <a:r>
              <a:rPr lang="ru-RU" sz="1200" b="0" i="1" kern="1200" dirty="0">
                <a:solidFill>
                  <a:schemeClr val="tx1"/>
                </a:solidFill>
                <a:latin typeface="Arial" charset="0"/>
                <a:ea typeface="+mn-ea"/>
                <a:cs typeface="Arial" charset="0"/>
              </a:rPr>
              <a:t>фрагменты </a:t>
            </a:r>
            <a:r>
              <a:rPr lang="ru-RU" sz="1200" b="0" i="0" kern="1200" dirty="0" err="1">
                <a:solidFill>
                  <a:schemeClr val="tx1"/>
                </a:solidFill>
                <a:latin typeface="Arial" charset="0"/>
                <a:ea typeface="+mn-ea"/>
                <a:cs typeface="Arial" charset="0"/>
              </a:rPr>
              <a:t>многоаспектных</a:t>
            </a:r>
            <a:r>
              <a:rPr lang="ru-RU" sz="1200" b="0" i="0" kern="1200" dirty="0">
                <a:solidFill>
                  <a:schemeClr val="tx1"/>
                </a:solidFill>
                <a:latin typeface="Arial" charset="0"/>
                <a:ea typeface="+mn-ea"/>
                <a:cs typeface="Arial" charset="0"/>
              </a:rPr>
              <a:t> взаимоотношений в данных. Эти шаблоны представляют собой закономерности, свойственные</a:t>
            </a:r>
            <a:r>
              <a:rPr lang="ru-RU" sz="1200" b="0" i="1" kern="1200" dirty="0">
                <a:solidFill>
                  <a:schemeClr val="tx1"/>
                </a:solidFill>
                <a:latin typeface="Arial" charset="0"/>
                <a:ea typeface="+mn-ea"/>
                <a:cs typeface="Arial" charset="0"/>
              </a:rPr>
              <a:t> </a:t>
            </a:r>
            <a:r>
              <a:rPr lang="ru-RU" sz="1200" b="0" i="1" kern="1200" dirty="0" err="1">
                <a:solidFill>
                  <a:schemeClr val="tx1"/>
                </a:solidFill>
                <a:latin typeface="Arial" charset="0"/>
                <a:ea typeface="+mn-ea"/>
                <a:cs typeface="Arial" charset="0"/>
              </a:rPr>
              <a:t>подвыборкам</a:t>
            </a:r>
            <a:r>
              <a:rPr lang="ru-RU" sz="1200" b="0" i="1" kern="1200" dirty="0">
                <a:solidFill>
                  <a:schemeClr val="tx1"/>
                </a:solidFill>
                <a:latin typeface="Arial" charset="0"/>
                <a:ea typeface="+mn-ea"/>
                <a:cs typeface="Arial" charset="0"/>
              </a:rPr>
              <a:t> данных</a:t>
            </a:r>
            <a:r>
              <a:rPr lang="ru-RU" sz="1200" b="0" i="0" kern="1200" dirty="0">
                <a:solidFill>
                  <a:schemeClr val="tx1"/>
                </a:solidFill>
                <a:latin typeface="Arial" charset="0"/>
                <a:ea typeface="+mn-ea"/>
                <a:cs typeface="Arial" charset="0"/>
              </a:rPr>
              <a:t>, которые могут быть компактно выражены в понятной человеку форме. Поиск шаблонов производится методами, не ограниченными рамками априорных предположений о структуре выборке и виде распределений значений анализируемых показателей. Примеры заданий на такой поиск при использовании </a:t>
            </a:r>
            <a:r>
              <a:rPr lang="ru-RU" sz="1200" b="0" i="0" kern="1200" dirty="0" err="1">
                <a:solidFill>
                  <a:schemeClr val="tx1"/>
                </a:solidFill>
                <a:latin typeface="Arial" charset="0"/>
                <a:ea typeface="+mn-ea"/>
                <a:cs typeface="Arial" charset="0"/>
              </a:rPr>
              <a:t>Data</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Mining</a:t>
            </a:r>
            <a:r>
              <a:rPr lang="ru-RU" sz="1200" b="0" i="0" kern="1200" dirty="0">
                <a:solidFill>
                  <a:schemeClr val="tx1"/>
                </a:solidFill>
                <a:latin typeface="Arial" charset="0"/>
                <a:ea typeface="+mn-ea"/>
                <a:cs typeface="Arial" charset="0"/>
              </a:rPr>
              <a:t> приведены в табл. 1.</a:t>
            </a:r>
          </a:p>
          <a:p>
            <a:pPr marL="0" marR="0" indent="0" algn="l" defTabSz="914400" rtl="0" eaLnBrk="1" fontAlgn="base" latinLnBrk="0" hangingPunct="1">
              <a:lnSpc>
                <a:spcPct val="80000"/>
              </a:lnSpc>
              <a:spcBef>
                <a:spcPct val="30000"/>
              </a:spcBef>
              <a:spcAft>
                <a:spcPct val="0"/>
              </a:spcAft>
              <a:buClrTx/>
              <a:buSzTx/>
              <a:buFontTx/>
              <a:buNone/>
              <a:tabLst/>
              <a:defRPr/>
            </a:pPr>
            <a:endParaRPr lang="ru-RU" sz="1200" kern="1200" dirty="0">
              <a:solidFill>
                <a:schemeClr val="tx1"/>
              </a:solidFill>
              <a:latin typeface="Arial" charset="0"/>
              <a:ea typeface="+mn-ea"/>
              <a:cs typeface="Arial" charset="0"/>
            </a:endParaRPr>
          </a:p>
          <a:p>
            <a:pPr marL="0" marR="0" indent="0" algn="l" defTabSz="914400" rtl="0" eaLnBrk="1" fontAlgn="base" latinLnBrk="0" hangingPunct="1">
              <a:lnSpc>
                <a:spcPct val="80000"/>
              </a:lnSpc>
              <a:spcBef>
                <a:spcPct val="30000"/>
              </a:spcBef>
              <a:spcAft>
                <a:spcPct val="0"/>
              </a:spcAft>
              <a:buClrTx/>
              <a:buSzTx/>
              <a:buFontTx/>
              <a:buNone/>
              <a:tabLst/>
              <a:defRPr/>
            </a:pPr>
            <a:r>
              <a:rPr lang="ru-RU" sz="1200" kern="1200" dirty="0">
                <a:solidFill>
                  <a:schemeClr val="tx1"/>
                </a:solidFill>
                <a:latin typeface="Arial" charset="0"/>
                <a:ea typeface="+mn-ea"/>
                <a:cs typeface="Arial" charset="0"/>
              </a:rPr>
              <a:t>Интеллектуальные методы извлечения информации из массивов данных (</a:t>
            </a:r>
            <a:r>
              <a:rPr lang="ru-RU" sz="1200" kern="1200" dirty="0" err="1">
                <a:solidFill>
                  <a:schemeClr val="tx1"/>
                </a:solidFill>
                <a:latin typeface="Arial" charset="0"/>
                <a:ea typeface="+mn-ea"/>
                <a:cs typeface="Arial" charset="0"/>
              </a:rPr>
              <a:t>data</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mining</a:t>
            </a:r>
            <a:r>
              <a:rPr lang="ru-RU" sz="1200" kern="1200" dirty="0">
                <a:solidFill>
                  <a:schemeClr val="tx1"/>
                </a:solidFill>
                <a:latin typeface="Arial" charset="0"/>
                <a:ea typeface="+mn-ea"/>
                <a:cs typeface="Arial" charset="0"/>
              </a:rPr>
              <a:t>) дадут ответы на такие вопросы о вашем бизнесе, которые раньше не приходили вам в голову. Если вы правильно выберете инструментальные средства и эффективно их используете, потенциальная отдача от интеллектуального анализа и представления данных будет огромной. Приложения, реализующие подобные методы, могут стать надежным фундаментом при выработке деловой стратегии вашей организации - при анализе риска кредитования, выявлении злоупотреблений и мошенничества, планировании закупок для предприятий розничной торговли и внедрении новых телекоммуникационных продуктов и услуг. </a:t>
            </a:r>
          </a:p>
          <a:p>
            <a:pPr marL="0" marR="0" indent="0" algn="l" defTabSz="914400" rtl="0" eaLnBrk="1" fontAlgn="base" latinLnBrk="0" hangingPunct="1">
              <a:lnSpc>
                <a:spcPct val="80000"/>
              </a:lnSpc>
              <a:spcBef>
                <a:spcPct val="30000"/>
              </a:spcBef>
              <a:spcAft>
                <a:spcPct val="0"/>
              </a:spcAft>
              <a:buClrTx/>
              <a:buSzTx/>
              <a:buFontTx/>
              <a:buNone/>
              <a:tabLst/>
              <a:defRPr/>
            </a:pPr>
            <a:r>
              <a:rPr lang="ru-RU" sz="1200" kern="1200" dirty="0">
                <a:solidFill>
                  <a:schemeClr val="tx1"/>
                </a:solidFill>
                <a:latin typeface="Arial" charset="0"/>
                <a:ea typeface="+mn-ea"/>
                <a:cs typeface="Arial" charset="0"/>
              </a:rPr>
              <a:t>Традиционные запросы к базам данных способны дать ответы на простые вопросы типа: "Каковы были наши объемы продаж в январе 1995 г. в Северо-Восточном регионе?" </a:t>
            </a:r>
          </a:p>
          <a:p>
            <a:pPr marL="0" marR="0" indent="0" algn="l" defTabSz="914400" rtl="0" eaLnBrk="1" fontAlgn="base" latinLnBrk="0" hangingPunct="1">
              <a:lnSpc>
                <a:spcPct val="80000"/>
              </a:lnSpc>
              <a:spcBef>
                <a:spcPct val="30000"/>
              </a:spcBef>
              <a:spcAft>
                <a:spcPct val="0"/>
              </a:spcAft>
              <a:buClrTx/>
              <a:buSzTx/>
              <a:buFontTx/>
              <a:buNone/>
              <a:tabLst/>
              <a:defRPr/>
            </a:pPr>
            <a:r>
              <a:rPr lang="ru-RU" sz="1200" kern="1200" dirty="0">
                <a:solidFill>
                  <a:schemeClr val="tx1"/>
                </a:solidFill>
                <a:latin typeface="Arial" charset="0"/>
                <a:ea typeface="+mn-ea"/>
                <a:cs typeface="Arial" charset="0"/>
              </a:rPr>
              <a:t>Многомерный анализ данных, часто называемый оперативной аналитической обработкой (OLAP - </a:t>
            </a:r>
            <a:r>
              <a:rPr lang="ru-RU" sz="1200" kern="1200" dirty="0" err="1">
                <a:solidFill>
                  <a:schemeClr val="tx1"/>
                </a:solidFill>
                <a:latin typeface="Arial" charset="0"/>
                <a:ea typeface="+mn-ea"/>
                <a:cs typeface="Arial" charset="0"/>
              </a:rPr>
              <a:t>online</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analytical</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processing</a:t>
            </a:r>
            <a:r>
              <a:rPr lang="ru-RU" sz="1200" kern="1200" dirty="0">
                <a:solidFill>
                  <a:schemeClr val="tx1"/>
                </a:solidFill>
                <a:latin typeface="Arial" charset="0"/>
                <a:ea typeface="+mn-ea"/>
                <a:cs typeface="Arial" charset="0"/>
              </a:rPr>
              <a:t>), позволяет задавать гораздо более сложные вопросы, например сравнить итоги продаж с плановыми показателями за последние два года по кварталам и по регионам. </a:t>
            </a:r>
          </a:p>
          <a:p>
            <a:pPr marL="0" marR="0" indent="0" algn="l" defTabSz="914400" rtl="0" eaLnBrk="1" fontAlgn="base" latinLnBrk="0" hangingPunct="1">
              <a:lnSpc>
                <a:spcPct val="80000"/>
              </a:lnSpc>
              <a:spcBef>
                <a:spcPct val="30000"/>
              </a:spcBef>
              <a:spcAft>
                <a:spcPct val="0"/>
              </a:spcAft>
              <a:buClrTx/>
              <a:buSzTx/>
              <a:buFontTx/>
              <a:buNone/>
              <a:tabLst/>
              <a:defRPr/>
            </a:pPr>
            <a:r>
              <a:rPr lang="ru-RU" sz="1200" kern="1200" dirty="0">
                <a:solidFill>
                  <a:schemeClr val="tx1"/>
                </a:solidFill>
                <a:latin typeface="Arial" charset="0"/>
                <a:ea typeface="+mn-ea"/>
                <a:cs typeface="Arial" charset="0"/>
              </a:rPr>
              <a:t>Но в обоих случаях результаты представляют собой или некие выборки данных, или суммарные (агрегированные) показатели. </a:t>
            </a:r>
          </a:p>
          <a:p>
            <a:pPr>
              <a:lnSpc>
                <a:spcPct val="80000"/>
              </a:lnSpc>
            </a:pPr>
            <a:endParaRPr lang="ru-RU" sz="800" dirty="0"/>
          </a:p>
        </p:txBody>
      </p:sp>
    </p:spTree>
    <p:extLst>
      <p:ext uri="{BB962C8B-B14F-4D97-AF65-F5344CB8AC3E}">
        <p14:creationId xmlns:p14="http://schemas.microsoft.com/office/powerpoint/2010/main" val="9022002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9606F9-DA61-4CD1-88F0-08C8B4A9DCB5}" type="slidenum">
              <a:rPr lang="ru-RU"/>
              <a:pPr/>
              <a:t>4</a:t>
            </a:fld>
            <a:endParaRPr lang="ru-RU"/>
          </a:p>
        </p:txBody>
      </p:sp>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p:txBody>
          <a:bodyPr/>
          <a:lstStyle/>
          <a:p>
            <a:r>
              <a:rPr lang="ru-RU" sz="1200" b="0" i="0" kern="1200" dirty="0" err="1">
                <a:solidFill>
                  <a:schemeClr val="tx1"/>
                </a:solidFill>
                <a:latin typeface="Arial" charset="0"/>
                <a:ea typeface="+mn-ea"/>
                <a:cs typeface="Arial" charset="0"/>
              </a:rPr>
              <a:t>Data</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Mining</a:t>
            </a:r>
            <a:r>
              <a:rPr lang="ru-RU" sz="1200" b="0" i="0" kern="1200" dirty="0">
                <a:solidFill>
                  <a:schemeClr val="tx1"/>
                </a:solidFill>
                <a:latin typeface="Arial" charset="0"/>
                <a:ea typeface="+mn-ea"/>
                <a:cs typeface="Arial" charset="0"/>
              </a:rPr>
              <a:t> переводится как "добыча" или "раскопка данных". </a:t>
            </a:r>
          </a:p>
          <a:p>
            <a:r>
              <a:rPr lang="ru-RU" sz="1200" b="0" i="0" kern="1200" dirty="0">
                <a:solidFill>
                  <a:schemeClr val="tx1"/>
                </a:solidFill>
                <a:latin typeface="Arial" charset="0"/>
                <a:ea typeface="+mn-ea"/>
                <a:cs typeface="Arial" charset="0"/>
              </a:rPr>
              <a:t>Нередко рядом с </a:t>
            </a:r>
            <a:r>
              <a:rPr lang="ru-RU" sz="1200" b="0" i="0" kern="1200" dirty="0" err="1">
                <a:solidFill>
                  <a:schemeClr val="tx1"/>
                </a:solidFill>
                <a:latin typeface="Arial" charset="0"/>
                <a:ea typeface="+mn-ea"/>
                <a:cs typeface="Arial" charset="0"/>
              </a:rPr>
              <a:t>Data</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Mining</a:t>
            </a:r>
            <a:r>
              <a:rPr lang="ru-RU" sz="1200" b="0" i="0" kern="1200" dirty="0">
                <a:solidFill>
                  <a:schemeClr val="tx1"/>
                </a:solidFill>
                <a:latin typeface="Arial" charset="0"/>
                <a:ea typeface="+mn-ea"/>
                <a:cs typeface="Arial" charset="0"/>
              </a:rPr>
              <a:t> встречаются слова "обнаружение знаний в базах данных" (</a:t>
            </a:r>
            <a:r>
              <a:rPr lang="ru-RU" sz="1200" b="0" i="0" kern="1200" dirty="0" err="1">
                <a:solidFill>
                  <a:schemeClr val="tx1"/>
                </a:solidFill>
                <a:latin typeface="Arial" charset="0"/>
                <a:ea typeface="+mn-ea"/>
                <a:cs typeface="Arial" charset="0"/>
              </a:rPr>
              <a:t>knowledge</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discovery</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in</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databases</a:t>
            </a:r>
            <a:r>
              <a:rPr lang="ru-RU" sz="1200" b="0" i="0" kern="1200" dirty="0">
                <a:solidFill>
                  <a:schemeClr val="tx1"/>
                </a:solidFill>
                <a:latin typeface="Arial" charset="0"/>
                <a:ea typeface="+mn-ea"/>
                <a:cs typeface="Arial" charset="0"/>
              </a:rPr>
              <a:t>) и "интеллектуальный анализ данных". Их можно считать синонимами </a:t>
            </a:r>
            <a:r>
              <a:rPr lang="ru-RU" sz="1200" b="0" i="0" kern="1200" dirty="0" err="1">
                <a:solidFill>
                  <a:schemeClr val="tx1"/>
                </a:solidFill>
                <a:latin typeface="Arial" charset="0"/>
                <a:ea typeface="+mn-ea"/>
                <a:cs typeface="Arial" charset="0"/>
              </a:rPr>
              <a:t>Data</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Mining</a:t>
            </a:r>
            <a:r>
              <a:rPr lang="ru-RU" sz="1200" b="0" i="0" kern="1200" dirty="0">
                <a:solidFill>
                  <a:schemeClr val="tx1"/>
                </a:solidFill>
                <a:latin typeface="Arial" charset="0"/>
                <a:ea typeface="+mn-ea"/>
                <a:cs typeface="Arial" charset="0"/>
              </a:rPr>
              <a:t>. </a:t>
            </a:r>
          </a:p>
          <a:p>
            <a:r>
              <a:rPr lang="ru-RU" sz="1200" b="0" i="0" kern="1200" dirty="0">
                <a:solidFill>
                  <a:schemeClr val="tx1"/>
                </a:solidFill>
                <a:latin typeface="Arial" charset="0"/>
                <a:ea typeface="+mn-ea"/>
                <a:cs typeface="Arial" charset="0"/>
              </a:rPr>
              <a:t>Возникновение всех указанных терминов связано с новым витком в развитии средств и методов обработки данных.</a:t>
            </a:r>
          </a:p>
          <a:p>
            <a:r>
              <a:rPr lang="ru-RU" sz="1200" b="0" i="0" kern="1200" dirty="0">
                <a:solidFill>
                  <a:schemeClr val="tx1"/>
                </a:solidFill>
                <a:latin typeface="Arial" charset="0"/>
                <a:ea typeface="+mn-ea"/>
                <a:cs typeface="Arial" charset="0"/>
              </a:rPr>
              <a:t>До начала 90-х годов, казалось, не было особой нужды переосмысливать ситуацию в этой области. Все шло своим чередом в рамках направления, называемого прикладной статистикой (см. например, [1]). Теоретики проводили конференции и семинары, писали внушительные статьи и монографии, изобиловавшие аналитическими выкладками.</a:t>
            </a:r>
          </a:p>
          <a:p>
            <a:r>
              <a:rPr lang="ru-RU" sz="1200" b="0" i="0" kern="1200" dirty="0">
                <a:solidFill>
                  <a:schemeClr val="tx1"/>
                </a:solidFill>
                <a:latin typeface="Arial" charset="0"/>
                <a:ea typeface="+mn-ea"/>
                <a:cs typeface="Arial" charset="0"/>
              </a:rPr>
              <a:t>Вместе с тем, практики всегда знали, что попытки применить теоретические экзерсисы для решения реальных задач в большинстве случаев оказываются бесплодными. Но на озабоченность практиков до поры до времени можно было не обращать особого внимания — они решали главным образом свои частные проблемы обработки небольших локальных баз данных.</a:t>
            </a:r>
          </a:p>
          <a:p>
            <a:r>
              <a:rPr lang="ru-RU" sz="1200" b="0" i="0" kern="1200" dirty="0">
                <a:solidFill>
                  <a:schemeClr val="tx1"/>
                </a:solidFill>
                <a:latin typeface="Arial" charset="0"/>
                <a:ea typeface="+mn-ea"/>
                <a:cs typeface="Arial" charset="0"/>
              </a:rPr>
              <a:t>И вот прозвенел звонок. </a:t>
            </a:r>
          </a:p>
          <a:p>
            <a:r>
              <a:rPr lang="ru-RU" sz="1200" b="0" i="0" kern="1200" dirty="0">
                <a:solidFill>
                  <a:schemeClr val="tx1"/>
                </a:solidFill>
                <a:latin typeface="Arial" charset="0"/>
                <a:ea typeface="+mn-ea"/>
                <a:cs typeface="Arial" charset="0"/>
              </a:rPr>
              <a:t>В связи с совершенствованием технологий записи и хранения данных на людей обрушились колоссальные потоки информационной руды в самых различных областях. Деятельность любого предприятия (коммерческого, производственного, медицинского, научного и т.д.) теперь сопровождается регистрацией и записью всех подробностей его деятельности. Что делать с этой информацией? Стало ясно, что без продуктивной переработки потоки сырых данных образуют никому не нужную свалку.</a:t>
            </a:r>
          </a:p>
          <a:p>
            <a:r>
              <a:rPr lang="ru-RU" sz="1200" b="0" i="0" kern="1200" dirty="0">
                <a:solidFill>
                  <a:schemeClr val="tx1"/>
                </a:solidFill>
                <a:latin typeface="Arial" charset="0"/>
                <a:ea typeface="+mn-ea"/>
                <a:cs typeface="Arial" charset="0"/>
              </a:rPr>
              <a:t>Специфика современных требований к такой переработке следующие:</a:t>
            </a:r>
          </a:p>
          <a:p>
            <a:pPr>
              <a:buFont typeface="Symbol" pitchFamily="18" charset="2"/>
              <a:buChar char="-"/>
            </a:pPr>
            <a:r>
              <a:rPr lang="ru-RU" sz="1200" b="0" i="0" kern="1200" dirty="0">
                <a:solidFill>
                  <a:schemeClr val="tx1"/>
                </a:solidFill>
                <a:latin typeface="Arial" charset="0"/>
                <a:ea typeface="+mn-ea"/>
                <a:cs typeface="Arial" charset="0"/>
              </a:rPr>
              <a:t>Данные имеют неограниченный объем</a:t>
            </a:r>
          </a:p>
          <a:p>
            <a:pPr>
              <a:buFont typeface="Symbol" pitchFamily="18" charset="2"/>
              <a:buChar char="-"/>
            </a:pPr>
            <a:r>
              <a:rPr lang="ru-RU" sz="1200" b="0" i="0" kern="1200" dirty="0">
                <a:solidFill>
                  <a:schemeClr val="tx1"/>
                </a:solidFill>
                <a:latin typeface="Arial" charset="0"/>
                <a:ea typeface="+mn-ea"/>
                <a:cs typeface="Arial" charset="0"/>
              </a:rPr>
              <a:t>Данные являются разнородными (количественными, качественными, текстовыми)</a:t>
            </a:r>
          </a:p>
          <a:p>
            <a:pPr>
              <a:buFont typeface="Symbol" pitchFamily="18" charset="2"/>
              <a:buChar char="-"/>
            </a:pPr>
            <a:r>
              <a:rPr lang="ru-RU" sz="1200" b="0" i="0" kern="1200" dirty="0">
                <a:solidFill>
                  <a:schemeClr val="tx1"/>
                </a:solidFill>
                <a:latin typeface="Arial" charset="0"/>
                <a:ea typeface="+mn-ea"/>
                <a:cs typeface="Arial" charset="0"/>
              </a:rPr>
              <a:t>Результаты должны быть конкретны и понятны</a:t>
            </a:r>
          </a:p>
          <a:p>
            <a:pPr>
              <a:buFont typeface="Symbol" pitchFamily="18" charset="2"/>
              <a:buChar char="-"/>
            </a:pPr>
            <a:r>
              <a:rPr lang="ru-RU" sz="1200" b="0" i="0" kern="1200" dirty="0">
                <a:solidFill>
                  <a:schemeClr val="tx1"/>
                </a:solidFill>
                <a:latin typeface="Arial" charset="0"/>
                <a:ea typeface="+mn-ea"/>
                <a:cs typeface="Arial" charset="0"/>
              </a:rPr>
              <a:t>Инструменты для обработки сырых данных должны быть просты в использовании</a:t>
            </a:r>
          </a:p>
          <a:p>
            <a:r>
              <a:rPr lang="ru-RU" sz="1200" b="0" i="0" kern="1200" dirty="0">
                <a:solidFill>
                  <a:schemeClr val="tx1"/>
                </a:solidFill>
                <a:latin typeface="Arial" charset="0"/>
                <a:ea typeface="+mn-ea"/>
                <a:cs typeface="Arial" charset="0"/>
              </a:rPr>
              <a:t>Традиционная математическая статистика, долгое время претендовавшая на роль основного инструмента анализа данных, откровенно спасовала перед лицом возникших проблем. </a:t>
            </a:r>
          </a:p>
          <a:p>
            <a:r>
              <a:rPr lang="ru-RU" sz="1200" b="0" i="0" kern="1200" dirty="0">
                <a:solidFill>
                  <a:schemeClr val="tx1"/>
                </a:solidFill>
                <a:latin typeface="Arial" charset="0"/>
                <a:ea typeface="+mn-ea"/>
                <a:cs typeface="Arial" charset="0"/>
              </a:rPr>
              <a:t>Главная причина — </a:t>
            </a:r>
            <a:r>
              <a:rPr lang="ru-RU" sz="1200" b="0" i="1" kern="1200" dirty="0">
                <a:solidFill>
                  <a:schemeClr val="tx1"/>
                </a:solidFill>
                <a:latin typeface="Arial" charset="0"/>
                <a:ea typeface="+mn-ea"/>
                <a:cs typeface="Arial" charset="0"/>
              </a:rPr>
              <a:t>концепция усреднения по выборке</a:t>
            </a:r>
            <a:r>
              <a:rPr lang="ru-RU" sz="1200" b="0" i="0" kern="1200" dirty="0">
                <a:solidFill>
                  <a:schemeClr val="tx1"/>
                </a:solidFill>
                <a:latin typeface="Arial" charset="0"/>
                <a:ea typeface="+mn-ea"/>
                <a:cs typeface="Arial" charset="0"/>
              </a:rPr>
              <a:t>, приводящая к операциям над фиктивными величинами (типа средней температуры пациентов по больнице, средней высоты дома на улице, состоящей из дворцов и лачуг и т.п.). </a:t>
            </a:r>
          </a:p>
          <a:p>
            <a:r>
              <a:rPr lang="ru-RU" sz="1200" b="0" i="0" kern="1200" dirty="0">
                <a:solidFill>
                  <a:schemeClr val="tx1"/>
                </a:solidFill>
                <a:latin typeface="Arial" charset="0"/>
                <a:ea typeface="+mn-ea"/>
                <a:cs typeface="Arial" charset="0"/>
              </a:rPr>
              <a:t>Методы математической статистики оказались полезными главным образом для проверки заранее сформулированных гипотез (</a:t>
            </a:r>
            <a:r>
              <a:rPr lang="ru-RU" sz="1200" b="0" i="0" kern="1200" dirty="0" err="1">
                <a:solidFill>
                  <a:schemeClr val="tx1"/>
                </a:solidFill>
                <a:latin typeface="Arial" charset="0"/>
                <a:ea typeface="+mn-ea"/>
                <a:cs typeface="Arial" charset="0"/>
              </a:rPr>
              <a:t>verification-driven</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data</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mining</a:t>
            </a:r>
            <a:r>
              <a:rPr lang="ru-RU" sz="1200" b="0" i="0" kern="1200" dirty="0">
                <a:solidFill>
                  <a:schemeClr val="tx1"/>
                </a:solidFill>
                <a:latin typeface="Arial" charset="0"/>
                <a:ea typeface="+mn-ea"/>
                <a:cs typeface="Arial" charset="0"/>
              </a:rPr>
              <a:t>) и для “грубого” разведочного анализа, составляющего основу оперативной аналитической обработки данных (</a:t>
            </a:r>
            <a:r>
              <a:rPr lang="ru-RU" sz="1200" b="0" i="0" kern="1200" dirty="0" err="1">
                <a:solidFill>
                  <a:schemeClr val="tx1"/>
                </a:solidFill>
                <a:latin typeface="Arial" charset="0"/>
                <a:ea typeface="+mn-ea"/>
                <a:cs typeface="Arial" charset="0"/>
              </a:rPr>
              <a:t>online</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analytical</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processing</a:t>
            </a:r>
            <a:r>
              <a:rPr lang="ru-RU" sz="1200" b="0" i="0" kern="1200" dirty="0">
                <a:solidFill>
                  <a:schemeClr val="tx1"/>
                </a:solidFill>
                <a:latin typeface="Arial" charset="0"/>
                <a:ea typeface="+mn-ea"/>
                <a:cs typeface="Arial" charset="0"/>
              </a:rPr>
              <a:t>, OLAP).</a:t>
            </a:r>
          </a:p>
          <a:p>
            <a:r>
              <a:rPr lang="ru-RU" sz="1200" b="0" i="0" kern="1200" dirty="0">
                <a:solidFill>
                  <a:schemeClr val="tx1"/>
                </a:solidFill>
                <a:latin typeface="Arial" charset="0"/>
                <a:ea typeface="+mn-ea"/>
                <a:cs typeface="Arial" charset="0"/>
              </a:rPr>
              <a:t>В основу современной технологии </a:t>
            </a:r>
            <a:r>
              <a:rPr lang="ru-RU" sz="1200" b="0" i="0" kern="1200" dirty="0" err="1">
                <a:solidFill>
                  <a:schemeClr val="tx1"/>
                </a:solidFill>
                <a:latin typeface="Arial" charset="0"/>
                <a:ea typeface="+mn-ea"/>
                <a:cs typeface="Arial" charset="0"/>
              </a:rPr>
              <a:t>Data</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Mining</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discovery-driven</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data</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mining</a:t>
            </a:r>
            <a:r>
              <a:rPr lang="ru-RU" sz="1200" b="0" i="0" kern="1200" dirty="0">
                <a:solidFill>
                  <a:schemeClr val="tx1"/>
                </a:solidFill>
                <a:latin typeface="Arial" charset="0"/>
                <a:ea typeface="+mn-ea"/>
                <a:cs typeface="Arial" charset="0"/>
              </a:rPr>
              <a:t>) положена концепция шаблонов (паттернов), отражающих </a:t>
            </a:r>
            <a:r>
              <a:rPr lang="ru-RU" sz="1200" b="0" i="1" kern="1200" dirty="0">
                <a:solidFill>
                  <a:schemeClr val="tx1"/>
                </a:solidFill>
                <a:latin typeface="Arial" charset="0"/>
                <a:ea typeface="+mn-ea"/>
                <a:cs typeface="Arial" charset="0"/>
              </a:rPr>
              <a:t>фрагменты </a:t>
            </a:r>
            <a:r>
              <a:rPr lang="ru-RU" sz="1200" b="0" i="0" kern="1200" dirty="0" err="1">
                <a:solidFill>
                  <a:schemeClr val="tx1"/>
                </a:solidFill>
                <a:latin typeface="Arial" charset="0"/>
                <a:ea typeface="+mn-ea"/>
                <a:cs typeface="Arial" charset="0"/>
              </a:rPr>
              <a:t>многоаспектных</a:t>
            </a:r>
            <a:r>
              <a:rPr lang="ru-RU" sz="1200" b="0" i="0" kern="1200" dirty="0">
                <a:solidFill>
                  <a:schemeClr val="tx1"/>
                </a:solidFill>
                <a:latin typeface="Arial" charset="0"/>
                <a:ea typeface="+mn-ea"/>
                <a:cs typeface="Arial" charset="0"/>
              </a:rPr>
              <a:t> взаимоотношений в данных. Эти шаблоны представляют собой закономерности, свойственные</a:t>
            </a:r>
            <a:r>
              <a:rPr lang="ru-RU" sz="1200" b="0" i="1" kern="1200" dirty="0">
                <a:solidFill>
                  <a:schemeClr val="tx1"/>
                </a:solidFill>
                <a:latin typeface="Arial" charset="0"/>
                <a:ea typeface="+mn-ea"/>
                <a:cs typeface="Arial" charset="0"/>
              </a:rPr>
              <a:t> </a:t>
            </a:r>
            <a:r>
              <a:rPr lang="ru-RU" sz="1200" b="0" i="1" kern="1200" dirty="0" err="1">
                <a:solidFill>
                  <a:schemeClr val="tx1"/>
                </a:solidFill>
                <a:latin typeface="Arial" charset="0"/>
                <a:ea typeface="+mn-ea"/>
                <a:cs typeface="Arial" charset="0"/>
              </a:rPr>
              <a:t>подвыборкам</a:t>
            </a:r>
            <a:r>
              <a:rPr lang="ru-RU" sz="1200" b="0" i="1" kern="1200" dirty="0">
                <a:solidFill>
                  <a:schemeClr val="tx1"/>
                </a:solidFill>
                <a:latin typeface="Arial" charset="0"/>
                <a:ea typeface="+mn-ea"/>
                <a:cs typeface="Arial" charset="0"/>
              </a:rPr>
              <a:t> данных</a:t>
            </a:r>
            <a:r>
              <a:rPr lang="ru-RU" sz="1200" b="0" i="0" kern="1200" dirty="0">
                <a:solidFill>
                  <a:schemeClr val="tx1"/>
                </a:solidFill>
                <a:latin typeface="Arial" charset="0"/>
                <a:ea typeface="+mn-ea"/>
                <a:cs typeface="Arial" charset="0"/>
              </a:rPr>
              <a:t>, которые могут быть компактно выражены в понятной человеку форме. Поиск шаблонов производится методами, не ограниченными рамками априорных предположений о структуре выборке и виде распределений значений анализируемых показателей. Примеры заданий на такой поиск при использовании </a:t>
            </a:r>
            <a:r>
              <a:rPr lang="ru-RU" sz="1200" b="0" i="0" kern="1200" dirty="0" err="1">
                <a:solidFill>
                  <a:schemeClr val="tx1"/>
                </a:solidFill>
                <a:latin typeface="Arial" charset="0"/>
                <a:ea typeface="+mn-ea"/>
                <a:cs typeface="Arial" charset="0"/>
              </a:rPr>
              <a:t>Data</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Mining</a:t>
            </a:r>
            <a:r>
              <a:rPr lang="ru-RU" sz="1200" b="0" i="0" kern="1200" dirty="0">
                <a:solidFill>
                  <a:schemeClr val="tx1"/>
                </a:solidFill>
                <a:latin typeface="Arial" charset="0"/>
                <a:ea typeface="+mn-ea"/>
                <a:cs typeface="Arial" charset="0"/>
              </a:rPr>
              <a:t> приведены в табл. 1.</a:t>
            </a:r>
          </a:p>
          <a:p>
            <a:pPr marL="0" marR="0" indent="0" algn="l" defTabSz="914400" rtl="0" eaLnBrk="1" fontAlgn="base" latinLnBrk="0" hangingPunct="1">
              <a:lnSpc>
                <a:spcPct val="80000"/>
              </a:lnSpc>
              <a:spcBef>
                <a:spcPct val="30000"/>
              </a:spcBef>
              <a:spcAft>
                <a:spcPct val="0"/>
              </a:spcAft>
              <a:buClrTx/>
              <a:buSzTx/>
              <a:buFontTx/>
              <a:buNone/>
              <a:tabLst/>
              <a:defRPr/>
            </a:pPr>
            <a:endParaRPr lang="ru-RU" sz="1200" kern="1200" dirty="0">
              <a:solidFill>
                <a:schemeClr val="tx1"/>
              </a:solidFill>
              <a:latin typeface="Arial" charset="0"/>
              <a:ea typeface="+mn-ea"/>
              <a:cs typeface="Arial" charset="0"/>
            </a:endParaRPr>
          </a:p>
          <a:p>
            <a:pPr marL="0" marR="0" indent="0" algn="l" defTabSz="914400" rtl="0" eaLnBrk="1" fontAlgn="base" latinLnBrk="0" hangingPunct="1">
              <a:lnSpc>
                <a:spcPct val="80000"/>
              </a:lnSpc>
              <a:spcBef>
                <a:spcPct val="30000"/>
              </a:spcBef>
              <a:spcAft>
                <a:spcPct val="0"/>
              </a:spcAft>
              <a:buClrTx/>
              <a:buSzTx/>
              <a:buFontTx/>
              <a:buNone/>
              <a:tabLst/>
              <a:defRPr/>
            </a:pPr>
            <a:r>
              <a:rPr lang="ru-RU" sz="1200" kern="1200" dirty="0">
                <a:solidFill>
                  <a:schemeClr val="tx1"/>
                </a:solidFill>
                <a:latin typeface="Arial" charset="0"/>
                <a:ea typeface="+mn-ea"/>
                <a:cs typeface="Arial" charset="0"/>
              </a:rPr>
              <a:t>Интеллектуальные методы извлечения информации из массивов данных (</a:t>
            </a:r>
            <a:r>
              <a:rPr lang="ru-RU" sz="1200" kern="1200" dirty="0" err="1">
                <a:solidFill>
                  <a:schemeClr val="tx1"/>
                </a:solidFill>
                <a:latin typeface="Arial" charset="0"/>
                <a:ea typeface="+mn-ea"/>
                <a:cs typeface="Arial" charset="0"/>
              </a:rPr>
              <a:t>data</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mining</a:t>
            </a:r>
            <a:r>
              <a:rPr lang="ru-RU" sz="1200" kern="1200" dirty="0">
                <a:solidFill>
                  <a:schemeClr val="tx1"/>
                </a:solidFill>
                <a:latin typeface="Arial" charset="0"/>
                <a:ea typeface="+mn-ea"/>
                <a:cs typeface="Arial" charset="0"/>
              </a:rPr>
              <a:t>) дадут ответы на такие вопросы о вашем бизнесе, которые раньше не приходили вам в голову. Если вы правильно выберете инструментальные средства и эффективно их используете, потенциальная отдача от интеллектуального анализа и представления данных будет огромной. Приложения, реализующие подобные методы, могут стать надежным фундаментом при выработке деловой стратегии вашей организации - при анализе риска кредитования, выявлении злоупотреблений и мошенничества, планировании закупок для предприятий розничной торговли и внедрении новых телекоммуникационных продуктов и услуг. </a:t>
            </a:r>
          </a:p>
          <a:p>
            <a:pPr marL="0" marR="0" indent="0" algn="l" defTabSz="914400" rtl="0" eaLnBrk="1" fontAlgn="base" latinLnBrk="0" hangingPunct="1">
              <a:lnSpc>
                <a:spcPct val="80000"/>
              </a:lnSpc>
              <a:spcBef>
                <a:spcPct val="30000"/>
              </a:spcBef>
              <a:spcAft>
                <a:spcPct val="0"/>
              </a:spcAft>
              <a:buClrTx/>
              <a:buSzTx/>
              <a:buFontTx/>
              <a:buNone/>
              <a:tabLst/>
              <a:defRPr/>
            </a:pPr>
            <a:r>
              <a:rPr lang="ru-RU" sz="1200" kern="1200" dirty="0">
                <a:solidFill>
                  <a:schemeClr val="tx1"/>
                </a:solidFill>
                <a:latin typeface="Arial" charset="0"/>
                <a:ea typeface="+mn-ea"/>
                <a:cs typeface="Arial" charset="0"/>
              </a:rPr>
              <a:t>Традиционные запросы к базам данных способны дать ответы на простые вопросы типа: "Каковы были наши объемы продаж в январе 1995 г. в Северо-Восточном регионе?" </a:t>
            </a:r>
          </a:p>
          <a:p>
            <a:pPr marL="0" marR="0" indent="0" algn="l" defTabSz="914400" rtl="0" eaLnBrk="1" fontAlgn="base" latinLnBrk="0" hangingPunct="1">
              <a:lnSpc>
                <a:spcPct val="80000"/>
              </a:lnSpc>
              <a:spcBef>
                <a:spcPct val="30000"/>
              </a:spcBef>
              <a:spcAft>
                <a:spcPct val="0"/>
              </a:spcAft>
              <a:buClrTx/>
              <a:buSzTx/>
              <a:buFontTx/>
              <a:buNone/>
              <a:tabLst/>
              <a:defRPr/>
            </a:pPr>
            <a:r>
              <a:rPr lang="ru-RU" sz="1200" kern="1200" dirty="0">
                <a:solidFill>
                  <a:schemeClr val="tx1"/>
                </a:solidFill>
                <a:latin typeface="Arial" charset="0"/>
                <a:ea typeface="+mn-ea"/>
                <a:cs typeface="Arial" charset="0"/>
              </a:rPr>
              <a:t>Многомерный анализ данных, часто называемый оперативной аналитической обработкой (OLAP - </a:t>
            </a:r>
            <a:r>
              <a:rPr lang="ru-RU" sz="1200" kern="1200" dirty="0" err="1">
                <a:solidFill>
                  <a:schemeClr val="tx1"/>
                </a:solidFill>
                <a:latin typeface="Arial" charset="0"/>
                <a:ea typeface="+mn-ea"/>
                <a:cs typeface="Arial" charset="0"/>
              </a:rPr>
              <a:t>online</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analytical</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processing</a:t>
            </a:r>
            <a:r>
              <a:rPr lang="ru-RU" sz="1200" kern="1200" dirty="0">
                <a:solidFill>
                  <a:schemeClr val="tx1"/>
                </a:solidFill>
                <a:latin typeface="Arial" charset="0"/>
                <a:ea typeface="+mn-ea"/>
                <a:cs typeface="Arial" charset="0"/>
              </a:rPr>
              <a:t>), позволяет задавать гораздо более сложные вопросы, например сравнить итоги продаж с плановыми показателями за последние два года по кварталам и по регионам. </a:t>
            </a:r>
          </a:p>
          <a:p>
            <a:pPr marL="0" marR="0" indent="0" algn="l" defTabSz="914400" rtl="0" eaLnBrk="1" fontAlgn="base" latinLnBrk="0" hangingPunct="1">
              <a:lnSpc>
                <a:spcPct val="80000"/>
              </a:lnSpc>
              <a:spcBef>
                <a:spcPct val="30000"/>
              </a:spcBef>
              <a:spcAft>
                <a:spcPct val="0"/>
              </a:spcAft>
              <a:buClrTx/>
              <a:buSzTx/>
              <a:buFontTx/>
              <a:buNone/>
              <a:tabLst/>
              <a:defRPr/>
            </a:pPr>
            <a:r>
              <a:rPr lang="ru-RU" sz="1200" kern="1200" dirty="0">
                <a:solidFill>
                  <a:schemeClr val="tx1"/>
                </a:solidFill>
                <a:latin typeface="Arial" charset="0"/>
                <a:ea typeface="+mn-ea"/>
                <a:cs typeface="Arial" charset="0"/>
              </a:rPr>
              <a:t>Но в обоих случаях результаты представляют собой или некие выборки данных, или суммарные (агрегированные) показатели. </a:t>
            </a:r>
          </a:p>
          <a:p>
            <a:pPr>
              <a:lnSpc>
                <a:spcPct val="80000"/>
              </a:lnSpc>
            </a:pPr>
            <a:endParaRPr lang="ru-RU" sz="8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9606F9-DA61-4CD1-88F0-08C8B4A9DCB5}" type="slidenum">
              <a:rPr lang="ru-RU"/>
              <a:pPr/>
              <a:t>5</a:t>
            </a:fld>
            <a:endParaRPr lang="ru-RU"/>
          </a:p>
        </p:txBody>
      </p:sp>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p:txBody>
          <a:bodyPr/>
          <a:lstStyle/>
          <a:p>
            <a:pPr algn="l"/>
            <a:r>
              <a:rPr lang="ru-RU" b="0" i="0" dirty="0">
                <a:solidFill>
                  <a:srgbClr val="333333"/>
                </a:solidFill>
                <a:effectLst/>
                <a:latin typeface="YS Text"/>
              </a:rPr>
              <a:t>Система поддержки принятия решений (СППР) (англ. </a:t>
            </a:r>
            <a:r>
              <a:rPr lang="ru-RU" b="0" i="0" dirty="0" err="1">
                <a:solidFill>
                  <a:srgbClr val="333333"/>
                </a:solidFill>
                <a:effectLst/>
                <a:latin typeface="YS Text"/>
              </a:rPr>
              <a:t>Decision</a:t>
            </a:r>
            <a:r>
              <a:rPr lang="ru-RU" b="0" i="0" dirty="0">
                <a:solidFill>
                  <a:srgbClr val="333333"/>
                </a:solidFill>
                <a:effectLst/>
                <a:latin typeface="YS Text"/>
              </a:rPr>
              <a:t> Support System, DSS) — компьютерная автоматизированная система, целью которой является помощь людям, принимающим решение в сложных условиях, для полного и объективного анализа предметной деятельности.</a:t>
            </a:r>
          </a:p>
          <a:p>
            <a:pPr algn="l"/>
            <a:r>
              <a:rPr lang="ru-RU" b="0" i="0" dirty="0">
                <a:solidFill>
                  <a:srgbClr val="333333"/>
                </a:solidFill>
                <a:effectLst/>
                <a:latin typeface="YS Text"/>
              </a:rPr>
              <a:t>Система выдаёт информацию (в печатной форме, на экране монитора или со звуком), основываясь на входных данных, помогающую людям быстро и точно оценить ситуацию и принять решение.</a:t>
            </a:r>
          </a:p>
          <a:p>
            <a:pPr algn="l"/>
            <a:endParaRPr lang="ru-RU" b="0" i="0" dirty="0">
              <a:solidFill>
                <a:srgbClr val="333333"/>
              </a:solidFill>
              <a:effectLst/>
              <a:latin typeface="YS Text"/>
            </a:endParaRPr>
          </a:p>
          <a:p>
            <a:r>
              <a:rPr lang="ru-RU" sz="1200" b="0" i="0" kern="1200" dirty="0">
                <a:solidFill>
                  <a:schemeClr val="tx1"/>
                </a:solidFill>
                <a:latin typeface="Arial" charset="0"/>
                <a:ea typeface="+mn-ea"/>
                <a:cs typeface="Arial" charset="0"/>
              </a:rPr>
              <a:t>Методы математической статистики оказались полезными главным образом для проверки заранее сформулированных гипотез (</a:t>
            </a:r>
            <a:r>
              <a:rPr lang="ru-RU" sz="1200" b="0" i="0" kern="1200" dirty="0" err="1">
                <a:solidFill>
                  <a:schemeClr val="tx1"/>
                </a:solidFill>
                <a:latin typeface="Arial" charset="0"/>
                <a:ea typeface="+mn-ea"/>
                <a:cs typeface="Arial" charset="0"/>
              </a:rPr>
              <a:t>verification-driven</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data</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mining</a:t>
            </a:r>
            <a:r>
              <a:rPr lang="ru-RU" sz="1200" b="0" i="0" kern="1200" dirty="0">
                <a:solidFill>
                  <a:schemeClr val="tx1"/>
                </a:solidFill>
                <a:latin typeface="Arial" charset="0"/>
                <a:ea typeface="+mn-ea"/>
                <a:cs typeface="Arial" charset="0"/>
              </a:rPr>
              <a:t>) и для “грубого” разведочного анализа, составляющего основу оперативной аналитической обработки данных (</a:t>
            </a:r>
            <a:r>
              <a:rPr lang="ru-RU" sz="1200" b="0" i="0" kern="1200" dirty="0" err="1">
                <a:solidFill>
                  <a:schemeClr val="tx1"/>
                </a:solidFill>
                <a:latin typeface="Arial" charset="0"/>
                <a:ea typeface="+mn-ea"/>
                <a:cs typeface="Arial" charset="0"/>
              </a:rPr>
              <a:t>online</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analytical</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processing</a:t>
            </a:r>
            <a:r>
              <a:rPr lang="ru-RU" sz="1200" b="0" i="0" kern="1200" dirty="0">
                <a:solidFill>
                  <a:schemeClr val="tx1"/>
                </a:solidFill>
                <a:latin typeface="Arial" charset="0"/>
                <a:ea typeface="+mn-ea"/>
                <a:cs typeface="Arial" charset="0"/>
              </a:rPr>
              <a:t>, OLAP).</a:t>
            </a:r>
          </a:p>
          <a:p>
            <a:pPr marL="0" marR="0" indent="0" algn="l" defTabSz="914400" rtl="0" eaLnBrk="1" fontAlgn="base" latinLnBrk="0" hangingPunct="1">
              <a:lnSpc>
                <a:spcPct val="80000"/>
              </a:lnSpc>
              <a:spcBef>
                <a:spcPct val="30000"/>
              </a:spcBef>
              <a:spcAft>
                <a:spcPct val="0"/>
              </a:spcAft>
              <a:buClrTx/>
              <a:buSzTx/>
              <a:buFontTx/>
              <a:buNone/>
              <a:tabLst/>
              <a:defRPr/>
            </a:pPr>
            <a:endParaRPr lang="ru-RU" sz="1200" kern="1200" dirty="0">
              <a:solidFill>
                <a:schemeClr val="tx1"/>
              </a:solidFill>
              <a:latin typeface="Arial" charset="0"/>
              <a:ea typeface="+mn-ea"/>
              <a:cs typeface="Arial" charset="0"/>
            </a:endParaRPr>
          </a:p>
          <a:p>
            <a:pPr marL="0" marR="0" indent="0" algn="l" defTabSz="914400" rtl="0" eaLnBrk="1" fontAlgn="base" latinLnBrk="0" hangingPunct="1">
              <a:lnSpc>
                <a:spcPct val="80000"/>
              </a:lnSpc>
              <a:spcBef>
                <a:spcPct val="30000"/>
              </a:spcBef>
              <a:spcAft>
                <a:spcPct val="0"/>
              </a:spcAft>
              <a:buClrTx/>
              <a:buSzTx/>
              <a:buFontTx/>
              <a:buNone/>
              <a:tabLst/>
              <a:defRPr/>
            </a:pPr>
            <a:r>
              <a:rPr lang="ru-RU" sz="1200" kern="1200" dirty="0">
                <a:solidFill>
                  <a:schemeClr val="tx1"/>
                </a:solidFill>
                <a:latin typeface="Arial" charset="0"/>
                <a:ea typeface="+mn-ea"/>
                <a:cs typeface="Arial" charset="0"/>
              </a:rPr>
              <a:t>Многомерный анализ данных, часто называемый оперативной аналитической обработкой (OLAP - </a:t>
            </a:r>
            <a:r>
              <a:rPr lang="ru-RU" sz="1200" kern="1200" dirty="0" err="1">
                <a:solidFill>
                  <a:schemeClr val="tx1"/>
                </a:solidFill>
                <a:latin typeface="Arial" charset="0"/>
                <a:ea typeface="+mn-ea"/>
                <a:cs typeface="Arial" charset="0"/>
              </a:rPr>
              <a:t>online</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analytical</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processing</a:t>
            </a:r>
            <a:r>
              <a:rPr lang="ru-RU" sz="1200" kern="1200" dirty="0">
                <a:solidFill>
                  <a:schemeClr val="tx1"/>
                </a:solidFill>
                <a:latin typeface="Arial" charset="0"/>
                <a:ea typeface="+mn-ea"/>
                <a:cs typeface="Arial" charset="0"/>
              </a:rPr>
              <a:t>), позволяет задавать гораздо более сложные вопросы, например сравнить итоги продаж с плановыми показателями за последние два года по кварталам и по регионам. </a:t>
            </a:r>
          </a:p>
          <a:p>
            <a:pPr marL="0" marR="0" indent="0" algn="l" defTabSz="914400" rtl="0" eaLnBrk="1" fontAlgn="base" latinLnBrk="0" hangingPunct="1">
              <a:lnSpc>
                <a:spcPct val="80000"/>
              </a:lnSpc>
              <a:spcBef>
                <a:spcPct val="30000"/>
              </a:spcBef>
              <a:spcAft>
                <a:spcPct val="0"/>
              </a:spcAft>
              <a:buClrTx/>
              <a:buSzTx/>
              <a:buFontTx/>
              <a:buNone/>
              <a:tabLst/>
              <a:defRPr/>
            </a:pPr>
            <a:r>
              <a:rPr lang="ru-RU" sz="1200" kern="1200" dirty="0">
                <a:solidFill>
                  <a:schemeClr val="tx1"/>
                </a:solidFill>
                <a:latin typeface="Arial" charset="0"/>
                <a:ea typeface="+mn-ea"/>
                <a:cs typeface="Arial" charset="0"/>
              </a:rPr>
              <a:t>Но в обоих случаях результаты представляют собой или некие выборки данных, или суммарные (агрегированные) показатели. </a:t>
            </a:r>
          </a:p>
          <a:p>
            <a:pPr marL="0" marR="0" indent="0" algn="l" defTabSz="914400" rtl="0" eaLnBrk="1" fontAlgn="base" latinLnBrk="0" hangingPunct="1">
              <a:lnSpc>
                <a:spcPct val="80000"/>
              </a:lnSpc>
              <a:spcBef>
                <a:spcPct val="30000"/>
              </a:spcBef>
              <a:spcAft>
                <a:spcPct val="0"/>
              </a:spcAft>
              <a:buClrTx/>
              <a:buSzTx/>
              <a:buFontTx/>
              <a:buNone/>
              <a:tabLst/>
              <a:defRPr/>
            </a:pPr>
            <a:endParaRPr lang="ru-RU" sz="1200" kern="1200" dirty="0">
              <a:solidFill>
                <a:schemeClr val="tx1"/>
              </a:solidFill>
              <a:latin typeface="Arial" charset="0"/>
              <a:ea typeface="+mn-ea"/>
              <a:cs typeface="Arial" charset="0"/>
            </a:endParaRPr>
          </a:p>
          <a:p>
            <a:pPr marL="0" marR="0" indent="0" algn="l" defTabSz="914400" rtl="0" eaLnBrk="1" fontAlgn="base" latinLnBrk="0" hangingPunct="1">
              <a:lnSpc>
                <a:spcPct val="80000"/>
              </a:lnSpc>
              <a:spcBef>
                <a:spcPct val="30000"/>
              </a:spcBef>
              <a:spcAft>
                <a:spcPct val="0"/>
              </a:spcAft>
              <a:buClrTx/>
              <a:buSzTx/>
              <a:buFontTx/>
              <a:buNone/>
              <a:tabLst/>
              <a:defRPr/>
            </a:pPr>
            <a:r>
              <a:rPr lang="ru-RU" b="1" i="0" dirty="0">
                <a:solidFill>
                  <a:srgbClr val="333333"/>
                </a:solidFill>
                <a:effectLst/>
                <a:latin typeface="YS Text"/>
              </a:rPr>
              <a:t>BI</a:t>
            </a:r>
            <a:r>
              <a:rPr lang="ru-RU" b="0" i="0" dirty="0">
                <a:solidFill>
                  <a:srgbClr val="333333"/>
                </a:solidFill>
                <a:effectLst/>
                <a:latin typeface="YS Text"/>
              </a:rPr>
              <a:t> (от англ. Business Intelligence, «бизнес-интеллект») — это набор средств, методологий и концепций для сбора, обработки и анализа данных, поступающих как из самой компании, так и из внешних источников. </a:t>
            </a:r>
          </a:p>
          <a:p>
            <a:pPr marL="0" marR="0" indent="0" algn="l" defTabSz="914400" rtl="0" eaLnBrk="1" fontAlgn="base" latinLnBrk="0" hangingPunct="1">
              <a:lnSpc>
                <a:spcPct val="80000"/>
              </a:lnSpc>
              <a:spcBef>
                <a:spcPct val="30000"/>
              </a:spcBef>
              <a:spcAft>
                <a:spcPct val="0"/>
              </a:spcAft>
              <a:buClrTx/>
              <a:buSzTx/>
              <a:buFontTx/>
              <a:buNone/>
              <a:tabLst/>
              <a:defRPr/>
            </a:pPr>
            <a:r>
              <a:rPr lang="ru-RU" b="1" i="0" dirty="0">
                <a:solidFill>
                  <a:srgbClr val="333333"/>
                </a:solidFill>
                <a:effectLst/>
                <a:latin typeface="YS Text"/>
              </a:rPr>
              <a:t>BI</a:t>
            </a:r>
            <a:r>
              <a:rPr lang="ru-RU" b="0" i="0" dirty="0">
                <a:solidFill>
                  <a:srgbClr val="333333"/>
                </a:solidFill>
                <a:effectLst/>
                <a:latin typeface="YS Text"/>
              </a:rPr>
              <a:t>-аналитик автоматизирует работу с уже обработанной информацией, выявляет в ней закономерности и тенденции и представляет выводы в виде понятных и наглядных таблиц, графиков и диаграмм.</a:t>
            </a:r>
            <a:endParaRPr lang="ru-RU" sz="1200" kern="1200" dirty="0">
              <a:solidFill>
                <a:schemeClr val="tx1"/>
              </a:solidFill>
              <a:latin typeface="Arial" charset="0"/>
              <a:ea typeface="+mn-ea"/>
              <a:cs typeface="Arial" charset="0"/>
            </a:endParaRPr>
          </a:p>
          <a:p>
            <a:pPr>
              <a:lnSpc>
                <a:spcPct val="80000"/>
              </a:lnSpc>
            </a:pPr>
            <a:endParaRPr lang="ru-RU" sz="800" dirty="0"/>
          </a:p>
        </p:txBody>
      </p:sp>
    </p:spTree>
    <p:extLst>
      <p:ext uri="{BB962C8B-B14F-4D97-AF65-F5344CB8AC3E}">
        <p14:creationId xmlns:p14="http://schemas.microsoft.com/office/powerpoint/2010/main" val="16428038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9606F9-DA61-4CD1-88F0-08C8B4A9DCB5}" type="slidenum">
              <a:rPr lang="ru-RU"/>
              <a:pPr/>
              <a:t>6</a:t>
            </a:fld>
            <a:endParaRPr lang="ru-RU"/>
          </a:p>
        </p:txBody>
      </p:sp>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p:txBody>
          <a:bodyPr/>
          <a:lstStyle/>
          <a:p>
            <a:pPr algn="l"/>
            <a:r>
              <a:rPr lang="ru-RU" b="0" i="0" dirty="0">
                <a:solidFill>
                  <a:srgbClr val="333333"/>
                </a:solidFill>
                <a:effectLst/>
                <a:latin typeface="YS Text"/>
              </a:rPr>
              <a:t>Система поддержки принятия решений (СППР) (англ. </a:t>
            </a:r>
            <a:r>
              <a:rPr lang="ru-RU" b="0" i="0" dirty="0" err="1">
                <a:solidFill>
                  <a:srgbClr val="333333"/>
                </a:solidFill>
                <a:effectLst/>
                <a:latin typeface="YS Text"/>
              </a:rPr>
              <a:t>Decision</a:t>
            </a:r>
            <a:r>
              <a:rPr lang="ru-RU" b="0" i="0" dirty="0">
                <a:solidFill>
                  <a:srgbClr val="333333"/>
                </a:solidFill>
                <a:effectLst/>
                <a:latin typeface="YS Text"/>
              </a:rPr>
              <a:t> Support System, DSS) — компьютерная автоматизированная система, целью которой является помощь людям, принимающим решение в сложных условиях, для полного и объективного анализа предметной деятельности.</a:t>
            </a:r>
          </a:p>
          <a:p>
            <a:pPr algn="l"/>
            <a:r>
              <a:rPr lang="ru-RU" b="0" i="0" dirty="0">
                <a:solidFill>
                  <a:srgbClr val="333333"/>
                </a:solidFill>
                <a:effectLst/>
                <a:latin typeface="YS Text"/>
              </a:rPr>
              <a:t>Система выдаёт информацию (в печатной форме, на экране монитора или со звуком), основываясь на входных данных, помогающую людям быстро и точно оценить ситуацию и принять решение.</a:t>
            </a:r>
          </a:p>
          <a:p>
            <a:pPr algn="l"/>
            <a:endParaRPr lang="ru-RU" b="0" i="0" dirty="0">
              <a:solidFill>
                <a:srgbClr val="333333"/>
              </a:solidFill>
              <a:effectLst/>
              <a:latin typeface="YS Text"/>
            </a:endParaRPr>
          </a:p>
          <a:p>
            <a:r>
              <a:rPr lang="ru-RU" sz="1200" b="0" i="0" kern="1200" dirty="0">
                <a:solidFill>
                  <a:schemeClr val="tx1"/>
                </a:solidFill>
                <a:latin typeface="Arial" charset="0"/>
                <a:ea typeface="+mn-ea"/>
                <a:cs typeface="Arial" charset="0"/>
              </a:rPr>
              <a:t>Методы математической статистики оказались полезными главным образом для проверки заранее сформулированных гипотез (</a:t>
            </a:r>
            <a:r>
              <a:rPr lang="ru-RU" sz="1200" b="0" i="0" kern="1200" dirty="0" err="1">
                <a:solidFill>
                  <a:schemeClr val="tx1"/>
                </a:solidFill>
                <a:latin typeface="Arial" charset="0"/>
                <a:ea typeface="+mn-ea"/>
                <a:cs typeface="Arial" charset="0"/>
              </a:rPr>
              <a:t>verification-driven</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data</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mining</a:t>
            </a:r>
            <a:r>
              <a:rPr lang="ru-RU" sz="1200" b="0" i="0" kern="1200" dirty="0">
                <a:solidFill>
                  <a:schemeClr val="tx1"/>
                </a:solidFill>
                <a:latin typeface="Arial" charset="0"/>
                <a:ea typeface="+mn-ea"/>
                <a:cs typeface="Arial" charset="0"/>
              </a:rPr>
              <a:t>) и для “грубого” разведочного анализа, составляющего основу оперативной аналитической обработки данных (</a:t>
            </a:r>
            <a:r>
              <a:rPr lang="ru-RU" sz="1200" b="0" i="0" kern="1200" dirty="0" err="1">
                <a:solidFill>
                  <a:schemeClr val="tx1"/>
                </a:solidFill>
                <a:latin typeface="Arial" charset="0"/>
                <a:ea typeface="+mn-ea"/>
                <a:cs typeface="Arial" charset="0"/>
              </a:rPr>
              <a:t>online</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analytical</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processing</a:t>
            </a:r>
            <a:r>
              <a:rPr lang="ru-RU" sz="1200" b="0" i="0" kern="1200" dirty="0">
                <a:solidFill>
                  <a:schemeClr val="tx1"/>
                </a:solidFill>
                <a:latin typeface="Arial" charset="0"/>
                <a:ea typeface="+mn-ea"/>
                <a:cs typeface="Arial" charset="0"/>
              </a:rPr>
              <a:t>, OLAP).</a:t>
            </a:r>
          </a:p>
          <a:p>
            <a:pPr marL="0" marR="0" indent="0" algn="l" defTabSz="914400" rtl="0" eaLnBrk="1" fontAlgn="base" latinLnBrk="0" hangingPunct="1">
              <a:lnSpc>
                <a:spcPct val="80000"/>
              </a:lnSpc>
              <a:spcBef>
                <a:spcPct val="30000"/>
              </a:spcBef>
              <a:spcAft>
                <a:spcPct val="0"/>
              </a:spcAft>
              <a:buClrTx/>
              <a:buSzTx/>
              <a:buFontTx/>
              <a:buNone/>
              <a:tabLst/>
              <a:defRPr/>
            </a:pPr>
            <a:endParaRPr lang="ru-RU" sz="1200" kern="1200" dirty="0">
              <a:solidFill>
                <a:schemeClr val="tx1"/>
              </a:solidFill>
              <a:latin typeface="Arial" charset="0"/>
              <a:ea typeface="+mn-ea"/>
              <a:cs typeface="Arial" charset="0"/>
            </a:endParaRPr>
          </a:p>
          <a:p>
            <a:pPr marL="0" marR="0" indent="0" algn="l" defTabSz="914400" rtl="0" eaLnBrk="1" fontAlgn="base" latinLnBrk="0" hangingPunct="1">
              <a:lnSpc>
                <a:spcPct val="80000"/>
              </a:lnSpc>
              <a:spcBef>
                <a:spcPct val="30000"/>
              </a:spcBef>
              <a:spcAft>
                <a:spcPct val="0"/>
              </a:spcAft>
              <a:buClrTx/>
              <a:buSzTx/>
              <a:buFontTx/>
              <a:buNone/>
              <a:tabLst/>
              <a:defRPr/>
            </a:pPr>
            <a:r>
              <a:rPr lang="ru-RU" sz="1200" kern="1200" dirty="0">
                <a:solidFill>
                  <a:schemeClr val="tx1"/>
                </a:solidFill>
                <a:latin typeface="Arial" charset="0"/>
                <a:ea typeface="+mn-ea"/>
                <a:cs typeface="Arial" charset="0"/>
              </a:rPr>
              <a:t>Многомерный анализ данных, часто называемый оперативной аналитической обработкой (OLAP - </a:t>
            </a:r>
            <a:r>
              <a:rPr lang="ru-RU" sz="1200" kern="1200" dirty="0" err="1">
                <a:solidFill>
                  <a:schemeClr val="tx1"/>
                </a:solidFill>
                <a:latin typeface="Arial" charset="0"/>
                <a:ea typeface="+mn-ea"/>
                <a:cs typeface="Arial" charset="0"/>
              </a:rPr>
              <a:t>online</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analytical</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processing</a:t>
            </a:r>
            <a:r>
              <a:rPr lang="ru-RU" sz="1200" kern="1200" dirty="0">
                <a:solidFill>
                  <a:schemeClr val="tx1"/>
                </a:solidFill>
                <a:latin typeface="Arial" charset="0"/>
                <a:ea typeface="+mn-ea"/>
                <a:cs typeface="Arial" charset="0"/>
              </a:rPr>
              <a:t>), позволяет задавать гораздо более сложные вопросы, например сравнить итоги продаж с плановыми показателями за последние два года по кварталам и по регионам. </a:t>
            </a:r>
          </a:p>
          <a:p>
            <a:pPr marL="0" marR="0" indent="0" algn="l" defTabSz="914400" rtl="0" eaLnBrk="1" fontAlgn="base" latinLnBrk="0" hangingPunct="1">
              <a:lnSpc>
                <a:spcPct val="80000"/>
              </a:lnSpc>
              <a:spcBef>
                <a:spcPct val="30000"/>
              </a:spcBef>
              <a:spcAft>
                <a:spcPct val="0"/>
              </a:spcAft>
              <a:buClrTx/>
              <a:buSzTx/>
              <a:buFontTx/>
              <a:buNone/>
              <a:tabLst/>
              <a:defRPr/>
            </a:pPr>
            <a:r>
              <a:rPr lang="ru-RU" sz="1200" kern="1200" dirty="0">
                <a:solidFill>
                  <a:schemeClr val="tx1"/>
                </a:solidFill>
                <a:latin typeface="Arial" charset="0"/>
                <a:ea typeface="+mn-ea"/>
                <a:cs typeface="Arial" charset="0"/>
              </a:rPr>
              <a:t>Но в обоих случаях результаты представляют собой или некие выборки данных, или суммарные (агрегированные) показатели. </a:t>
            </a:r>
          </a:p>
          <a:p>
            <a:pPr marL="0" marR="0" indent="0" algn="l" defTabSz="914400" rtl="0" eaLnBrk="1" fontAlgn="base" latinLnBrk="0" hangingPunct="1">
              <a:lnSpc>
                <a:spcPct val="80000"/>
              </a:lnSpc>
              <a:spcBef>
                <a:spcPct val="30000"/>
              </a:spcBef>
              <a:spcAft>
                <a:spcPct val="0"/>
              </a:spcAft>
              <a:buClrTx/>
              <a:buSzTx/>
              <a:buFontTx/>
              <a:buNone/>
              <a:tabLst/>
              <a:defRPr/>
            </a:pPr>
            <a:endParaRPr lang="ru-RU" sz="1200" kern="1200" dirty="0">
              <a:solidFill>
                <a:schemeClr val="tx1"/>
              </a:solidFill>
              <a:latin typeface="Arial" charset="0"/>
              <a:ea typeface="+mn-ea"/>
              <a:cs typeface="Arial" charset="0"/>
            </a:endParaRPr>
          </a:p>
          <a:p>
            <a:pPr marL="0" marR="0" indent="0" algn="l" defTabSz="914400" rtl="0" eaLnBrk="1" fontAlgn="base" latinLnBrk="0" hangingPunct="1">
              <a:lnSpc>
                <a:spcPct val="80000"/>
              </a:lnSpc>
              <a:spcBef>
                <a:spcPct val="30000"/>
              </a:spcBef>
              <a:spcAft>
                <a:spcPct val="0"/>
              </a:spcAft>
              <a:buClrTx/>
              <a:buSzTx/>
              <a:buFontTx/>
              <a:buNone/>
              <a:tabLst/>
              <a:defRPr/>
            </a:pPr>
            <a:r>
              <a:rPr lang="ru-RU" b="1" i="0" dirty="0">
                <a:solidFill>
                  <a:srgbClr val="333333"/>
                </a:solidFill>
                <a:effectLst/>
                <a:latin typeface="YS Text"/>
              </a:rPr>
              <a:t>BI</a:t>
            </a:r>
            <a:r>
              <a:rPr lang="ru-RU" b="0" i="0" dirty="0">
                <a:solidFill>
                  <a:srgbClr val="333333"/>
                </a:solidFill>
                <a:effectLst/>
                <a:latin typeface="YS Text"/>
              </a:rPr>
              <a:t> (от англ. Business Intelligence, «бизнес-интеллект») — это набор средств, методологий и концепций для сбора, обработки и анализа данных, поступающих как из самой компании, так и из внешних источников. </a:t>
            </a:r>
          </a:p>
          <a:p>
            <a:pPr marL="0" marR="0" indent="0" algn="l" defTabSz="914400" rtl="0" eaLnBrk="1" fontAlgn="base" latinLnBrk="0" hangingPunct="1">
              <a:lnSpc>
                <a:spcPct val="80000"/>
              </a:lnSpc>
              <a:spcBef>
                <a:spcPct val="30000"/>
              </a:spcBef>
              <a:spcAft>
                <a:spcPct val="0"/>
              </a:spcAft>
              <a:buClrTx/>
              <a:buSzTx/>
              <a:buFontTx/>
              <a:buNone/>
              <a:tabLst/>
              <a:defRPr/>
            </a:pPr>
            <a:r>
              <a:rPr lang="ru-RU" b="1" i="0" dirty="0">
                <a:solidFill>
                  <a:srgbClr val="333333"/>
                </a:solidFill>
                <a:effectLst/>
                <a:latin typeface="YS Text"/>
              </a:rPr>
              <a:t>BI</a:t>
            </a:r>
            <a:r>
              <a:rPr lang="ru-RU" b="0" i="0" dirty="0">
                <a:solidFill>
                  <a:srgbClr val="333333"/>
                </a:solidFill>
                <a:effectLst/>
                <a:latin typeface="YS Text"/>
              </a:rPr>
              <a:t>-аналитик автоматизирует работу с уже обработанной информацией, выявляет в ней закономерности и тенденции и представляет выводы в виде понятных и наглядных таблиц, графиков и диаграмм.</a:t>
            </a:r>
            <a:endParaRPr lang="ru-RU" sz="1200" kern="1200" dirty="0">
              <a:solidFill>
                <a:schemeClr val="tx1"/>
              </a:solidFill>
              <a:latin typeface="Arial" charset="0"/>
              <a:ea typeface="+mn-ea"/>
              <a:cs typeface="Arial" charset="0"/>
            </a:endParaRPr>
          </a:p>
          <a:p>
            <a:pPr>
              <a:lnSpc>
                <a:spcPct val="80000"/>
              </a:lnSpc>
            </a:pPr>
            <a:endParaRPr lang="ru-RU" sz="800" dirty="0"/>
          </a:p>
        </p:txBody>
      </p:sp>
    </p:spTree>
    <p:extLst>
      <p:ext uri="{BB962C8B-B14F-4D97-AF65-F5344CB8AC3E}">
        <p14:creationId xmlns:p14="http://schemas.microsoft.com/office/powerpoint/2010/main" val="14608265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47500" lnSpcReduction="20000"/>
          </a:bodyPr>
          <a:lstStyle/>
          <a:p>
            <a:r>
              <a:rPr lang="ru-RU" sz="1200" kern="1200" dirty="0">
                <a:solidFill>
                  <a:schemeClr val="tx1"/>
                </a:solidFill>
                <a:latin typeface="Arial" charset="0"/>
                <a:ea typeface="+mn-ea"/>
                <a:cs typeface="Arial" charset="0"/>
              </a:rPr>
              <a:t>Есть пять стандартных типов закономерностей, которые позволяют выявлять интеллектуальные методы анализа и представления данных: </a:t>
            </a:r>
          </a:p>
          <a:p>
            <a:pPr>
              <a:buFontTx/>
              <a:buChar char="-"/>
            </a:pPr>
            <a:r>
              <a:rPr lang="ru-RU" sz="1200" kern="1200" dirty="0">
                <a:solidFill>
                  <a:schemeClr val="tx1"/>
                </a:solidFill>
                <a:latin typeface="Arial" charset="0"/>
                <a:ea typeface="+mn-ea"/>
                <a:cs typeface="Arial" charset="0"/>
              </a:rPr>
              <a:t>ассоциация,</a:t>
            </a:r>
            <a:r>
              <a:rPr lang="ru-RU" sz="1200" kern="1200" baseline="0" dirty="0">
                <a:solidFill>
                  <a:schemeClr val="tx1"/>
                </a:solidFill>
                <a:latin typeface="Arial" charset="0"/>
                <a:ea typeface="+mn-ea"/>
                <a:cs typeface="Arial" charset="0"/>
              </a:rPr>
              <a:t> </a:t>
            </a:r>
          </a:p>
          <a:p>
            <a:pPr>
              <a:buFontTx/>
              <a:buChar char="-"/>
            </a:pPr>
            <a:r>
              <a:rPr lang="ru-RU" sz="1200" kern="1200" dirty="0">
                <a:solidFill>
                  <a:schemeClr val="tx1"/>
                </a:solidFill>
                <a:latin typeface="Arial" charset="0"/>
                <a:ea typeface="+mn-ea"/>
                <a:cs typeface="Arial" charset="0"/>
              </a:rPr>
              <a:t>последовательность, </a:t>
            </a:r>
          </a:p>
          <a:p>
            <a:pPr>
              <a:buFontTx/>
              <a:buChar char="-"/>
            </a:pPr>
            <a:r>
              <a:rPr lang="ru-RU" sz="1200" kern="1200" dirty="0">
                <a:solidFill>
                  <a:schemeClr val="tx1"/>
                </a:solidFill>
                <a:latin typeface="Arial" charset="0"/>
                <a:ea typeface="+mn-ea"/>
                <a:cs typeface="Arial" charset="0"/>
              </a:rPr>
              <a:t>классификация, </a:t>
            </a:r>
          </a:p>
          <a:p>
            <a:pPr>
              <a:buFontTx/>
              <a:buChar char="-"/>
            </a:pPr>
            <a:r>
              <a:rPr lang="ru-RU" sz="1200" kern="1200" dirty="0">
                <a:solidFill>
                  <a:schemeClr val="tx1"/>
                </a:solidFill>
                <a:latin typeface="Arial" charset="0"/>
                <a:ea typeface="+mn-ea"/>
                <a:cs typeface="Arial" charset="0"/>
              </a:rPr>
              <a:t>кластеризация и </a:t>
            </a:r>
          </a:p>
          <a:p>
            <a:pPr>
              <a:buFontTx/>
              <a:buChar char="-"/>
            </a:pPr>
            <a:r>
              <a:rPr lang="ru-RU" sz="1200" kern="1200" dirty="0">
                <a:solidFill>
                  <a:schemeClr val="tx1"/>
                </a:solidFill>
                <a:latin typeface="Arial" charset="0"/>
                <a:ea typeface="+mn-ea"/>
                <a:cs typeface="Arial" charset="0"/>
              </a:rPr>
              <a:t>прогнозирование. </a:t>
            </a:r>
          </a:p>
          <a:p>
            <a:pPr>
              <a:buFontTx/>
              <a:buNone/>
            </a:pPr>
            <a:r>
              <a:rPr lang="ru-RU" sz="1200" b="1" kern="1200" dirty="0">
                <a:solidFill>
                  <a:schemeClr val="tx1"/>
                </a:solidFill>
                <a:latin typeface="Arial" charset="0"/>
                <a:ea typeface="+mn-ea"/>
                <a:cs typeface="Arial" charset="0"/>
              </a:rPr>
              <a:t>Ассоциация</a:t>
            </a:r>
            <a:r>
              <a:rPr lang="ru-RU" sz="1200" kern="1200" dirty="0">
                <a:solidFill>
                  <a:schemeClr val="tx1"/>
                </a:solidFill>
                <a:latin typeface="Arial" charset="0"/>
                <a:ea typeface="+mn-ea"/>
                <a:cs typeface="Arial" charset="0"/>
              </a:rPr>
              <a:t> имеет место в том случае, если несколько событий связаны друг с другом. Например, исследование, проведенное в супермаркете, может показать, что 65% купивших кукурузные чипсы берут также и "кока-колу", а при наличии скидки за такой комплект "колу" приобретают в 85% случаев. Располагая этими сведениями, менеджерам легко оценить, насколько действенна предоставляемая скидка. </a:t>
            </a:r>
          </a:p>
          <a:p>
            <a:pPr>
              <a:buFontTx/>
              <a:buNone/>
            </a:pPr>
            <a:r>
              <a:rPr lang="ru-RU" sz="1200" kern="1200" dirty="0">
                <a:solidFill>
                  <a:schemeClr val="tx1"/>
                </a:solidFill>
                <a:latin typeface="Arial" charset="0"/>
                <a:ea typeface="+mn-ea"/>
                <a:cs typeface="Arial" charset="0"/>
              </a:rPr>
              <a:t>Если существует цепочка связанных во времени событий, то говорят о </a:t>
            </a:r>
            <a:r>
              <a:rPr lang="ru-RU" sz="1200" b="1" kern="1200" dirty="0">
                <a:solidFill>
                  <a:schemeClr val="tx1"/>
                </a:solidFill>
                <a:latin typeface="Arial" charset="0"/>
                <a:ea typeface="+mn-ea"/>
                <a:cs typeface="Arial" charset="0"/>
              </a:rPr>
              <a:t>последовательности</a:t>
            </a:r>
            <a:r>
              <a:rPr lang="ru-RU" sz="1200" kern="1200" dirty="0">
                <a:solidFill>
                  <a:schemeClr val="tx1"/>
                </a:solidFill>
                <a:latin typeface="Arial" charset="0"/>
                <a:ea typeface="+mn-ea"/>
                <a:cs typeface="Arial" charset="0"/>
              </a:rPr>
              <a:t>. После покупки дома в 45% случаев в течение месяца приобретается и новая кухонная плита, а в пределах двух недель 60% новоселов обзаводятся холодильником. </a:t>
            </a:r>
          </a:p>
          <a:p>
            <a:r>
              <a:rPr lang="ru-RU" sz="1200" kern="1200" dirty="0">
                <a:solidFill>
                  <a:schemeClr val="tx1"/>
                </a:solidFill>
                <a:latin typeface="Arial" charset="0"/>
                <a:ea typeface="+mn-ea"/>
                <a:cs typeface="Arial" charset="0"/>
              </a:rPr>
              <a:t>Вероятно, наиболее распространенной сегодня операцией интеллектуального анализа данных является </a:t>
            </a:r>
            <a:r>
              <a:rPr lang="ru-RU" sz="1200" b="1" kern="1200" dirty="0">
                <a:solidFill>
                  <a:schemeClr val="tx1"/>
                </a:solidFill>
                <a:latin typeface="Arial" charset="0"/>
                <a:ea typeface="+mn-ea"/>
                <a:cs typeface="Arial" charset="0"/>
              </a:rPr>
              <a:t>классификация</a:t>
            </a:r>
            <a:r>
              <a:rPr lang="ru-RU" sz="1200" kern="1200" dirty="0">
                <a:solidFill>
                  <a:schemeClr val="tx1"/>
                </a:solidFill>
                <a:latin typeface="Arial" charset="0"/>
                <a:ea typeface="+mn-ea"/>
                <a:cs typeface="Arial" charset="0"/>
              </a:rPr>
              <a:t>. С ее помощью выявляются признаки, характеризующие группу, к которой принадлежит тот или иной объект. Это делается посредством анализа уже классифицированных объектов и формулирования некоторого набора правил. </a:t>
            </a:r>
          </a:p>
          <a:p>
            <a:r>
              <a:rPr lang="ru-RU" sz="1200" kern="1200" dirty="0">
                <a:solidFill>
                  <a:schemeClr val="tx1"/>
                </a:solidFill>
                <a:latin typeface="Arial" charset="0"/>
                <a:ea typeface="+mn-ea"/>
                <a:cs typeface="Arial" charset="0"/>
              </a:rPr>
              <a:t>Во многих видах бизнеса болезненной проблемой считается потеря постоянных клиентов. В разных сферах (таких, как сотовая телефонная связь, фармацевтический бизнес или деятельность, связанная с кредитными карточками) ее обозначают различными терминами - "переменой моды", "истощением спроса" или "покупательской изменой", - но суть при этом одна. </a:t>
            </a:r>
          </a:p>
          <a:p>
            <a:r>
              <a:rPr lang="ru-RU" sz="1200" b="1" kern="1200" dirty="0">
                <a:solidFill>
                  <a:schemeClr val="tx1"/>
                </a:solidFill>
                <a:latin typeface="Arial" charset="0"/>
                <a:ea typeface="+mn-ea"/>
                <a:cs typeface="Arial" charset="0"/>
              </a:rPr>
              <a:t>Классификация</a:t>
            </a:r>
            <a:r>
              <a:rPr lang="ru-RU" sz="1200" kern="1200" dirty="0">
                <a:solidFill>
                  <a:schemeClr val="tx1"/>
                </a:solidFill>
                <a:latin typeface="Arial" charset="0"/>
                <a:ea typeface="+mn-ea"/>
                <a:cs typeface="Arial" charset="0"/>
              </a:rPr>
              <a:t> поможет вам выявить характеристики "неустойчивых" покупателей и создать модель, способную предсказать, кто именно склонен уйти к другому поставщику. Использовав ее, можно определить самые эффективные виды скидок и других выгодных предложений, которые будут наиболее действенны для тех или иных типов покупателей. Благодаря этому вам удастся удержать клиентов, потратив ровно столько денег, сколько необходимо. </a:t>
            </a:r>
          </a:p>
          <a:p>
            <a:r>
              <a:rPr lang="ru-RU" sz="1200" b="1" kern="1200" dirty="0">
                <a:solidFill>
                  <a:schemeClr val="tx1"/>
                </a:solidFill>
                <a:latin typeface="Arial" charset="0"/>
                <a:ea typeface="+mn-ea"/>
                <a:cs typeface="Arial" charset="0"/>
              </a:rPr>
              <a:t>Кластеризация</a:t>
            </a:r>
            <a:r>
              <a:rPr lang="ru-RU" sz="1200" kern="1200" dirty="0">
                <a:solidFill>
                  <a:schemeClr val="tx1"/>
                </a:solidFill>
                <a:latin typeface="Arial" charset="0"/>
                <a:ea typeface="+mn-ea"/>
                <a:cs typeface="Arial" charset="0"/>
              </a:rPr>
              <a:t> в чем-то аналогична классификации, но отличается от нее тем, что сами группы еще не сформированы. С помощью кластеризации интеллектуальные инструментальные средства поиска и анализа собственно и выделяют различные группы данных. Подобную процедуру можно применять в задачах выявления производственных дефектов или поиска родственных групп клиентов среди обладателей банковских карточек. </a:t>
            </a:r>
          </a:p>
          <a:p>
            <a:r>
              <a:rPr lang="ru-RU" sz="1200" b="0" i="0" kern="1200" dirty="0">
                <a:solidFill>
                  <a:schemeClr val="tx1"/>
                </a:solidFill>
                <a:latin typeface="Arial" charset="0"/>
                <a:ea typeface="+mn-ea"/>
                <a:cs typeface="Arial" charset="0"/>
              </a:rPr>
              <a:t>Кластеризация – </a:t>
            </a:r>
            <a:r>
              <a:rPr lang="ru-RU" sz="1200" b="1" i="0" kern="1200" dirty="0">
                <a:solidFill>
                  <a:schemeClr val="tx1"/>
                </a:solidFill>
                <a:latin typeface="Arial" charset="0"/>
                <a:ea typeface="+mn-ea"/>
                <a:cs typeface="Arial" charset="0"/>
              </a:rPr>
              <a:t>объединение в группы схожих объектов </a:t>
            </a:r>
            <a:r>
              <a:rPr lang="ru-RU" sz="1200" b="0" i="0" kern="1200" dirty="0">
                <a:solidFill>
                  <a:schemeClr val="tx1"/>
                </a:solidFill>
                <a:latin typeface="Arial" charset="0"/>
                <a:ea typeface="+mn-ea"/>
                <a:cs typeface="Arial" charset="0"/>
              </a:rPr>
              <a:t>– является одной из фундаментальных задач в области анализа данных и </a:t>
            </a:r>
            <a:r>
              <a:rPr lang="ru-RU" sz="1200" b="0" i="0" kern="1200" dirty="0" err="1">
                <a:solidFill>
                  <a:schemeClr val="tx1"/>
                </a:solidFill>
                <a:latin typeface="Arial" charset="0"/>
                <a:ea typeface="+mn-ea"/>
                <a:cs typeface="Arial" charset="0"/>
              </a:rPr>
              <a:t>Data</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Mining</a:t>
            </a:r>
            <a:r>
              <a:rPr lang="ru-RU" sz="1200" b="0" i="0" kern="1200" dirty="0">
                <a:solidFill>
                  <a:schemeClr val="tx1"/>
                </a:solidFill>
                <a:latin typeface="Arial" charset="0"/>
                <a:ea typeface="+mn-ea"/>
                <a:cs typeface="Arial" charset="0"/>
              </a:rPr>
              <a:t>. Список прикладных областей, где она применяется, широк: сегментация изображений, маркетинг, борьба с мошенничеством, прогнозирование, анализ текстов и многие другие. На современном этапе кластеризация часто выступает первым шагом при анализе данных. После выделения схожих групп применяются другие методы, для каждой группы строится отдельная модель.</a:t>
            </a:r>
          </a:p>
          <a:p>
            <a:r>
              <a:rPr lang="ru-RU" sz="1200" b="0" i="0" kern="1200" dirty="0">
                <a:solidFill>
                  <a:schemeClr val="tx1"/>
                </a:solidFill>
                <a:latin typeface="Arial" charset="0"/>
                <a:ea typeface="+mn-ea"/>
                <a:cs typeface="Arial" charset="0"/>
              </a:rPr>
              <a:t>Большинство алгоритмов кластеризации предполагают </a:t>
            </a:r>
            <a:r>
              <a:rPr lang="ru-RU" sz="1200" b="1" i="0" kern="1200" dirty="0">
                <a:solidFill>
                  <a:schemeClr val="tx1"/>
                </a:solidFill>
                <a:latin typeface="Arial" charset="0"/>
                <a:ea typeface="+mn-ea"/>
                <a:cs typeface="Arial" charset="0"/>
              </a:rPr>
              <a:t>сравнение объектов </a:t>
            </a:r>
            <a:r>
              <a:rPr lang="ru-RU" sz="1200" b="0" i="0" kern="1200" dirty="0">
                <a:solidFill>
                  <a:schemeClr val="tx1"/>
                </a:solidFill>
                <a:latin typeface="Arial" charset="0"/>
                <a:ea typeface="+mn-ea"/>
                <a:cs typeface="Arial" charset="0"/>
              </a:rPr>
              <a:t>между собой на основе </a:t>
            </a:r>
            <a:r>
              <a:rPr lang="ru-RU" sz="1200" b="1" i="0" kern="1200" dirty="0">
                <a:solidFill>
                  <a:schemeClr val="tx1"/>
                </a:solidFill>
                <a:latin typeface="Arial" charset="0"/>
                <a:ea typeface="+mn-ea"/>
                <a:cs typeface="Arial" charset="0"/>
              </a:rPr>
              <a:t>некоторой меры близости (сходства). </a:t>
            </a:r>
          </a:p>
          <a:p>
            <a:r>
              <a:rPr lang="ru-RU" sz="1200" b="1" i="0" kern="1200" dirty="0">
                <a:solidFill>
                  <a:schemeClr val="tx1"/>
                </a:solidFill>
                <a:latin typeface="Arial" charset="0"/>
                <a:ea typeface="+mn-ea"/>
                <a:cs typeface="Arial" charset="0"/>
              </a:rPr>
              <a:t>Мерой близости называется величина, имеющая предел и возрастающая с увеличением близости объектов</a:t>
            </a:r>
            <a:endParaRPr lang="ru-RU" sz="1200" b="1" kern="1200" dirty="0">
              <a:solidFill>
                <a:schemeClr val="tx1"/>
              </a:solidFill>
              <a:latin typeface="Arial" charset="0"/>
              <a:ea typeface="+mn-ea"/>
              <a:cs typeface="Arial" charset="0"/>
            </a:endParaRPr>
          </a:p>
          <a:p>
            <a:endParaRPr lang="ru-RU" sz="1200" kern="1200" dirty="0">
              <a:solidFill>
                <a:schemeClr val="tx1"/>
              </a:solidFill>
              <a:latin typeface="Arial" charset="0"/>
              <a:ea typeface="+mn-ea"/>
              <a:cs typeface="Arial" charset="0"/>
            </a:endParaRPr>
          </a:p>
          <a:p>
            <a:r>
              <a:rPr lang="ru-RU" sz="1200" kern="1200" dirty="0">
                <a:solidFill>
                  <a:schemeClr val="tx1"/>
                </a:solidFill>
                <a:latin typeface="Arial" charset="0"/>
                <a:ea typeface="+mn-ea"/>
                <a:cs typeface="Arial" charset="0"/>
              </a:rPr>
              <a:t>Все упомянутые типы приложений способны делать те или иные предсказания, скажем, будет ли заказчик возобновлять подписку. </a:t>
            </a:r>
          </a:p>
          <a:p>
            <a:endParaRPr lang="ru-RU" sz="1200" b="1" kern="1200" dirty="0">
              <a:solidFill>
                <a:schemeClr val="tx1"/>
              </a:solidFill>
              <a:latin typeface="Arial" charset="0"/>
              <a:ea typeface="+mn-ea"/>
              <a:cs typeface="Arial" charset="0"/>
            </a:endParaRPr>
          </a:p>
          <a:p>
            <a:r>
              <a:rPr lang="ru-RU" sz="1200" b="1" kern="1200" dirty="0">
                <a:solidFill>
                  <a:schemeClr val="tx1"/>
                </a:solidFill>
                <a:latin typeface="Arial" charset="0"/>
                <a:ea typeface="+mn-ea"/>
                <a:cs typeface="Arial" charset="0"/>
              </a:rPr>
              <a:t>Прогнозирование </a:t>
            </a:r>
            <a:r>
              <a:rPr lang="ru-RU" sz="1200" kern="1200" dirty="0">
                <a:solidFill>
                  <a:schemeClr val="tx1"/>
                </a:solidFill>
                <a:latin typeface="Arial" charset="0"/>
                <a:ea typeface="+mn-ea"/>
                <a:cs typeface="Arial" charset="0"/>
              </a:rPr>
              <a:t>- это несколько иная форма предсказания. Здесь на основе особенностей поведения данных оцениваются будущие значения непрерывно изменяющихся переменных, таких, например, как ежедневные объемы продаж. </a:t>
            </a:r>
          </a:p>
          <a:p>
            <a:endParaRPr lang="ru-RU" sz="1200" kern="1200" dirty="0">
              <a:solidFill>
                <a:schemeClr val="tx1"/>
              </a:solidFill>
              <a:latin typeface="Arial" charset="0"/>
              <a:ea typeface="+mn-ea"/>
              <a:cs typeface="Arial" charset="0"/>
            </a:endParaRPr>
          </a:p>
          <a:p>
            <a:r>
              <a:rPr lang="ru-RU" sz="1200" kern="1200" dirty="0">
                <a:solidFill>
                  <a:schemeClr val="tx1"/>
                </a:solidFill>
                <a:latin typeface="Arial" charset="0"/>
                <a:ea typeface="+mn-ea"/>
                <a:cs typeface="Arial" charset="0"/>
              </a:rPr>
              <a:t>Интеллектуальные средства анализа данных используют четыре основных метода: нейронные сети, деревья решений, индукцию правил и визуализацию данных. Иногда применяется их комбинация. </a:t>
            </a:r>
            <a:endParaRPr lang="ru-RU" dirty="0"/>
          </a:p>
        </p:txBody>
      </p:sp>
      <p:sp>
        <p:nvSpPr>
          <p:cNvPr id="4" name="Номер слайда 3"/>
          <p:cNvSpPr>
            <a:spLocks noGrp="1"/>
          </p:cNvSpPr>
          <p:nvPr>
            <p:ph type="sldNum" sz="quarter" idx="10"/>
          </p:nvPr>
        </p:nvSpPr>
        <p:spPr/>
        <p:txBody>
          <a:bodyPr/>
          <a:lstStyle/>
          <a:p>
            <a:fld id="{2E4A306D-2755-42A6-9F34-F588ACB3E2B6}" type="slidenum">
              <a:rPr lang="ru-RU" smtClean="0"/>
              <a:pPr/>
              <a:t>7</a:t>
            </a:fld>
            <a:endParaRPr lang="ru-R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47500" lnSpcReduction="20000"/>
          </a:bodyPr>
          <a:lstStyle/>
          <a:p>
            <a:r>
              <a:rPr lang="ru-RU" sz="1200" kern="1200" dirty="0">
                <a:solidFill>
                  <a:schemeClr val="tx1"/>
                </a:solidFill>
                <a:latin typeface="Arial" charset="0"/>
                <a:ea typeface="+mn-ea"/>
                <a:cs typeface="Arial" charset="0"/>
              </a:rPr>
              <a:t>Есть пять стандартных типов закономерностей, которые позволяют выявлять интеллектуальные методы анализа и представления данных: </a:t>
            </a:r>
          </a:p>
          <a:p>
            <a:pPr>
              <a:buFontTx/>
              <a:buChar char="-"/>
            </a:pPr>
            <a:r>
              <a:rPr lang="ru-RU" sz="1200" kern="1200" dirty="0">
                <a:solidFill>
                  <a:schemeClr val="tx1"/>
                </a:solidFill>
                <a:latin typeface="Arial" charset="0"/>
                <a:ea typeface="+mn-ea"/>
                <a:cs typeface="Arial" charset="0"/>
              </a:rPr>
              <a:t>ассоциация,</a:t>
            </a:r>
            <a:r>
              <a:rPr lang="ru-RU" sz="1200" kern="1200" baseline="0" dirty="0">
                <a:solidFill>
                  <a:schemeClr val="tx1"/>
                </a:solidFill>
                <a:latin typeface="Arial" charset="0"/>
                <a:ea typeface="+mn-ea"/>
                <a:cs typeface="Arial" charset="0"/>
              </a:rPr>
              <a:t> </a:t>
            </a:r>
          </a:p>
          <a:p>
            <a:pPr>
              <a:buFontTx/>
              <a:buChar char="-"/>
            </a:pPr>
            <a:r>
              <a:rPr lang="ru-RU" sz="1200" kern="1200" dirty="0">
                <a:solidFill>
                  <a:schemeClr val="tx1"/>
                </a:solidFill>
                <a:latin typeface="Arial" charset="0"/>
                <a:ea typeface="+mn-ea"/>
                <a:cs typeface="Arial" charset="0"/>
              </a:rPr>
              <a:t>последовательность, </a:t>
            </a:r>
          </a:p>
          <a:p>
            <a:pPr>
              <a:buFontTx/>
              <a:buChar char="-"/>
            </a:pPr>
            <a:r>
              <a:rPr lang="ru-RU" sz="1200" kern="1200" dirty="0">
                <a:solidFill>
                  <a:schemeClr val="tx1"/>
                </a:solidFill>
                <a:latin typeface="Arial" charset="0"/>
                <a:ea typeface="+mn-ea"/>
                <a:cs typeface="Arial" charset="0"/>
              </a:rPr>
              <a:t>классификация, </a:t>
            </a:r>
          </a:p>
          <a:p>
            <a:pPr>
              <a:buFontTx/>
              <a:buChar char="-"/>
            </a:pPr>
            <a:r>
              <a:rPr lang="ru-RU" sz="1200" kern="1200" dirty="0">
                <a:solidFill>
                  <a:schemeClr val="tx1"/>
                </a:solidFill>
                <a:latin typeface="Arial" charset="0"/>
                <a:ea typeface="+mn-ea"/>
                <a:cs typeface="Arial" charset="0"/>
              </a:rPr>
              <a:t>кластеризация и </a:t>
            </a:r>
          </a:p>
          <a:p>
            <a:pPr>
              <a:buFontTx/>
              <a:buChar char="-"/>
            </a:pPr>
            <a:r>
              <a:rPr lang="ru-RU" sz="1200" kern="1200" dirty="0">
                <a:solidFill>
                  <a:schemeClr val="tx1"/>
                </a:solidFill>
                <a:latin typeface="Arial" charset="0"/>
                <a:ea typeface="+mn-ea"/>
                <a:cs typeface="Arial" charset="0"/>
              </a:rPr>
              <a:t>прогнозирование. </a:t>
            </a:r>
          </a:p>
          <a:p>
            <a:pPr>
              <a:buFontTx/>
              <a:buNone/>
            </a:pPr>
            <a:r>
              <a:rPr lang="ru-RU" sz="1200" b="1" kern="1200" dirty="0">
                <a:solidFill>
                  <a:schemeClr val="tx1"/>
                </a:solidFill>
                <a:latin typeface="Arial" charset="0"/>
                <a:ea typeface="+mn-ea"/>
                <a:cs typeface="Arial" charset="0"/>
              </a:rPr>
              <a:t>Ассоциация</a:t>
            </a:r>
            <a:r>
              <a:rPr lang="ru-RU" sz="1200" kern="1200" dirty="0">
                <a:solidFill>
                  <a:schemeClr val="tx1"/>
                </a:solidFill>
                <a:latin typeface="Arial" charset="0"/>
                <a:ea typeface="+mn-ea"/>
                <a:cs typeface="Arial" charset="0"/>
              </a:rPr>
              <a:t> имеет место в том случае, если несколько событий связаны друг с другом. Например, исследование, проведенное в супермаркете, может показать, что 65% купивших кукурузные чипсы берут также и "кока-колу", а при наличии скидки за такой комплект "колу" приобретают в 85% случаев. Располагая этими сведениями, менеджерам легко оценить, насколько действенна предоставляемая скидка. </a:t>
            </a:r>
          </a:p>
          <a:p>
            <a:pPr>
              <a:buFontTx/>
              <a:buNone/>
            </a:pPr>
            <a:r>
              <a:rPr lang="ru-RU" sz="1200" kern="1200" dirty="0">
                <a:solidFill>
                  <a:schemeClr val="tx1"/>
                </a:solidFill>
                <a:latin typeface="Arial" charset="0"/>
                <a:ea typeface="+mn-ea"/>
                <a:cs typeface="Arial" charset="0"/>
              </a:rPr>
              <a:t>Если существует цепочка связанных во времени событий, то говорят о </a:t>
            </a:r>
            <a:r>
              <a:rPr lang="ru-RU" sz="1200" b="1" kern="1200" dirty="0">
                <a:solidFill>
                  <a:schemeClr val="tx1"/>
                </a:solidFill>
                <a:latin typeface="Arial" charset="0"/>
                <a:ea typeface="+mn-ea"/>
                <a:cs typeface="Arial" charset="0"/>
              </a:rPr>
              <a:t>последовательности</a:t>
            </a:r>
            <a:r>
              <a:rPr lang="ru-RU" sz="1200" kern="1200" dirty="0">
                <a:solidFill>
                  <a:schemeClr val="tx1"/>
                </a:solidFill>
                <a:latin typeface="Arial" charset="0"/>
                <a:ea typeface="+mn-ea"/>
                <a:cs typeface="Arial" charset="0"/>
              </a:rPr>
              <a:t>. После покупки дома в 45% случаев в течение месяца приобретается и новая кухонная плита, а в пределах двух недель 60% новоселов обзаводятся холодильником. </a:t>
            </a:r>
          </a:p>
          <a:p>
            <a:r>
              <a:rPr lang="ru-RU" sz="1200" kern="1200" dirty="0">
                <a:solidFill>
                  <a:schemeClr val="tx1"/>
                </a:solidFill>
                <a:latin typeface="Arial" charset="0"/>
                <a:ea typeface="+mn-ea"/>
                <a:cs typeface="Arial" charset="0"/>
              </a:rPr>
              <a:t>Вероятно, наиболее распространенной сегодня операцией интеллектуального анализа данных является </a:t>
            </a:r>
            <a:r>
              <a:rPr lang="ru-RU" sz="1200" b="1" kern="1200" dirty="0">
                <a:solidFill>
                  <a:schemeClr val="tx1"/>
                </a:solidFill>
                <a:latin typeface="Arial" charset="0"/>
                <a:ea typeface="+mn-ea"/>
                <a:cs typeface="Arial" charset="0"/>
              </a:rPr>
              <a:t>классификация</a:t>
            </a:r>
            <a:r>
              <a:rPr lang="ru-RU" sz="1200" kern="1200" dirty="0">
                <a:solidFill>
                  <a:schemeClr val="tx1"/>
                </a:solidFill>
                <a:latin typeface="Arial" charset="0"/>
                <a:ea typeface="+mn-ea"/>
                <a:cs typeface="Arial" charset="0"/>
              </a:rPr>
              <a:t>. С ее помощью выявляются признаки, характеризующие группу, к которой принадлежит тот или иной объект. Это делается посредством анализа уже классифицированных объектов и формулирования некоторого набора правил. </a:t>
            </a:r>
          </a:p>
          <a:p>
            <a:r>
              <a:rPr lang="ru-RU" sz="1200" kern="1200" dirty="0">
                <a:solidFill>
                  <a:schemeClr val="tx1"/>
                </a:solidFill>
                <a:latin typeface="Arial" charset="0"/>
                <a:ea typeface="+mn-ea"/>
                <a:cs typeface="Arial" charset="0"/>
              </a:rPr>
              <a:t>Во многих видах бизнеса болезненной проблемой считается потеря постоянных клиентов. В разных сферах (таких, как сотовая телефонная связь, фармацевтический бизнес или деятельность, связанная с кредитными карточками) ее обозначают различными терминами - "переменой моды", "истощением спроса" или "покупательской изменой", - но суть при этом одна. </a:t>
            </a:r>
          </a:p>
          <a:p>
            <a:r>
              <a:rPr lang="ru-RU" sz="1200" b="1" kern="1200" dirty="0">
                <a:solidFill>
                  <a:schemeClr val="tx1"/>
                </a:solidFill>
                <a:latin typeface="Arial" charset="0"/>
                <a:ea typeface="+mn-ea"/>
                <a:cs typeface="Arial" charset="0"/>
              </a:rPr>
              <a:t>Классификация</a:t>
            </a:r>
            <a:r>
              <a:rPr lang="ru-RU" sz="1200" kern="1200" dirty="0">
                <a:solidFill>
                  <a:schemeClr val="tx1"/>
                </a:solidFill>
                <a:latin typeface="Arial" charset="0"/>
                <a:ea typeface="+mn-ea"/>
                <a:cs typeface="Arial" charset="0"/>
              </a:rPr>
              <a:t> поможет вам выявить характеристики "неустойчивых" покупателей и создать модель, способную предсказать, кто именно склонен уйти к другому поставщику. Использовав ее, можно определить самые эффективные виды скидок и других выгодных предложений, которые будут наиболее действенны для тех или иных типов покупателей. Благодаря этому вам удастся удержать клиентов, потратив ровно столько денег, сколько необходимо. </a:t>
            </a:r>
          </a:p>
          <a:p>
            <a:r>
              <a:rPr lang="ru-RU" sz="1200" b="1" kern="1200" dirty="0">
                <a:solidFill>
                  <a:schemeClr val="tx1"/>
                </a:solidFill>
                <a:latin typeface="Arial" charset="0"/>
                <a:ea typeface="+mn-ea"/>
                <a:cs typeface="Arial" charset="0"/>
              </a:rPr>
              <a:t>Кластеризация</a:t>
            </a:r>
            <a:r>
              <a:rPr lang="ru-RU" sz="1200" kern="1200" dirty="0">
                <a:solidFill>
                  <a:schemeClr val="tx1"/>
                </a:solidFill>
                <a:latin typeface="Arial" charset="0"/>
                <a:ea typeface="+mn-ea"/>
                <a:cs typeface="Arial" charset="0"/>
              </a:rPr>
              <a:t> в чем-то аналогична классификации, но отличается от нее тем, что сами группы еще не сформированы. С помощью кластеризации интеллектуальные инструментальные средства поиска и анализа собственно и выделяют различные группы данных. Подобную процедуру можно применять в задачах выявления производственных дефектов или поиска родственных групп клиентов среди обладателей банковских карточек. </a:t>
            </a:r>
          </a:p>
          <a:p>
            <a:r>
              <a:rPr lang="ru-RU" sz="1200" b="0" i="0" kern="1200" dirty="0">
                <a:solidFill>
                  <a:schemeClr val="tx1"/>
                </a:solidFill>
                <a:latin typeface="Arial" charset="0"/>
                <a:ea typeface="+mn-ea"/>
                <a:cs typeface="Arial" charset="0"/>
              </a:rPr>
              <a:t>Кластеризация – </a:t>
            </a:r>
            <a:r>
              <a:rPr lang="ru-RU" sz="1200" b="1" i="0" kern="1200" dirty="0">
                <a:solidFill>
                  <a:schemeClr val="tx1"/>
                </a:solidFill>
                <a:latin typeface="Arial" charset="0"/>
                <a:ea typeface="+mn-ea"/>
                <a:cs typeface="Arial" charset="0"/>
              </a:rPr>
              <a:t>объединение в группы схожих объектов </a:t>
            </a:r>
            <a:r>
              <a:rPr lang="ru-RU" sz="1200" b="0" i="0" kern="1200" dirty="0">
                <a:solidFill>
                  <a:schemeClr val="tx1"/>
                </a:solidFill>
                <a:latin typeface="Arial" charset="0"/>
                <a:ea typeface="+mn-ea"/>
                <a:cs typeface="Arial" charset="0"/>
              </a:rPr>
              <a:t>– является одной из фундаментальных задач в области анализа данных и </a:t>
            </a:r>
            <a:r>
              <a:rPr lang="ru-RU" sz="1200" b="0" i="0" kern="1200" dirty="0" err="1">
                <a:solidFill>
                  <a:schemeClr val="tx1"/>
                </a:solidFill>
                <a:latin typeface="Arial" charset="0"/>
                <a:ea typeface="+mn-ea"/>
                <a:cs typeface="Arial" charset="0"/>
              </a:rPr>
              <a:t>Data</a:t>
            </a:r>
            <a:r>
              <a:rPr lang="ru-RU" sz="1200" b="0" i="0" kern="1200" dirty="0">
                <a:solidFill>
                  <a:schemeClr val="tx1"/>
                </a:solidFill>
                <a:latin typeface="Arial" charset="0"/>
                <a:ea typeface="+mn-ea"/>
                <a:cs typeface="Arial" charset="0"/>
              </a:rPr>
              <a:t> </a:t>
            </a:r>
            <a:r>
              <a:rPr lang="ru-RU" sz="1200" b="0" i="0" kern="1200" dirty="0" err="1">
                <a:solidFill>
                  <a:schemeClr val="tx1"/>
                </a:solidFill>
                <a:latin typeface="Arial" charset="0"/>
                <a:ea typeface="+mn-ea"/>
                <a:cs typeface="Arial" charset="0"/>
              </a:rPr>
              <a:t>Mining</a:t>
            </a:r>
            <a:r>
              <a:rPr lang="ru-RU" sz="1200" b="0" i="0" kern="1200" dirty="0">
                <a:solidFill>
                  <a:schemeClr val="tx1"/>
                </a:solidFill>
                <a:latin typeface="Arial" charset="0"/>
                <a:ea typeface="+mn-ea"/>
                <a:cs typeface="Arial" charset="0"/>
              </a:rPr>
              <a:t>. Список прикладных областей, где она применяется, широк: сегментация изображений, маркетинг, борьба с мошенничеством, прогнозирование, анализ текстов и многие другие. На современном этапе кластеризация часто выступает первым шагом при анализе данных. После выделения схожих групп применяются другие методы, для каждой группы строится отдельная модель.</a:t>
            </a:r>
          </a:p>
          <a:p>
            <a:r>
              <a:rPr lang="ru-RU" sz="1200" b="0" i="0" kern="1200" dirty="0">
                <a:solidFill>
                  <a:schemeClr val="tx1"/>
                </a:solidFill>
                <a:latin typeface="Arial" charset="0"/>
                <a:ea typeface="+mn-ea"/>
                <a:cs typeface="Arial" charset="0"/>
              </a:rPr>
              <a:t>Большинство алгоритмов кластеризации предполагают </a:t>
            </a:r>
            <a:r>
              <a:rPr lang="ru-RU" sz="1200" b="1" i="0" kern="1200" dirty="0">
                <a:solidFill>
                  <a:schemeClr val="tx1"/>
                </a:solidFill>
                <a:latin typeface="Arial" charset="0"/>
                <a:ea typeface="+mn-ea"/>
                <a:cs typeface="Arial" charset="0"/>
              </a:rPr>
              <a:t>сравнение объектов </a:t>
            </a:r>
            <a:r>
              <a:rPr lang="ru-RU" sz="1200" b="0" i="0" kern="1200" dirty="0">
                <a:solidFill>
                  <a:schemeClr val="tx1"/>
                </a:solidFill>
                <a:latin typeface="Arial" charset="0"/>
                <a:ea typeface="+mn-ea"/>
                <a:cs typeface="Arial" charset="0"/>
              </a:rPr>
              <a:t>между собой на основе </a:t>
            </a:r>
            <a:r>
              <a:rPr lang="ru-RU" sz="1200" b="1" i="0" kern="1200" dirty="0">
                <a:solidFill>
                  <a:schemeClr val="tx1"/>
                </a:solidFill>
                <a:latin typeface="Arial" charset="0"/>
                <a:ea typeface="+mn-ea"/>
                <a:cs typeface="Arial" charset="0"/>
              </a:rPr>
              <a:t>некоторой меры близости (сходства). </a:t>
            </a:r>
          </a:p>
          <a:p>
            <a:r>
              <a:rPr lang="ru-RU" sz="1200" b="1" i="0" kern="1200" dirty="0">
                <a:solidFill>
                  <a:schemeClr val="tx1"/>
                </a:solidFill>
                <a:latin typeface="Arial" charset="0"/>
                <a:ea typeface="+mn-ea"/>
                <a:cs typeface="Arial" charset="0"/>
              </a:rPr>
              <a:t>Мерой близости называется величина, имеющая предел и возрастающая с увеличением близости объектов</a:t>
            </a:r>
            <a:endParaRPr lang="ru-RU" sz="1200" b="1" kern="1200" dirty="0">
              <a:solidFill>
                <a:schemeClr val="tx1"/>
              </a:solidFill>
              <a:latin typeface="Arial" charset="0"/>
              <a:ea typeface="+mn-ea"/>
              <a:cs typeface="Arial" charset="0"/>
            </a:endParaRPr>
          </a:p>
          <a:p>
            <a:endParaRPr lang="ru-RU" sz="1200" kern="1200" dirty="0">
              <a:solidFill>
                <a:schemeClr val="tx1"/>
              </a:solidFill>
              <a:latin typeface="Arial" charset="0"/>
              <a:ea typeface="+mn-ea"/>
              <a:cs typeface="Arial" charset="0"/>
            </a:endParaRPr>
          </a:p>
          <a:p>
            <a:r>
              <a:rPr lang="ru-RU" sz="1200" kern="1200" dirty="0">
                <a:solidFill>
                  <a:schemeClr val="tx1"/>
                </a:solidFill>
                <a:latin typeface="Arial" charset="0"/>
                <a:ea typeface="+mn-ea"/>
                <a:cs typeface="Arial" charset="0"/>
              </a:rPr>
              <a:t>Все упомянутые типы приложений способны делать те или иные предсказания, скажем, будет ли заказчик возобновлять подписку. </a:t>
            </a:r>
          </a:p>
          <a:p>
            <a:endParaRPr lang="ru-RU" sz="1200" b="1" kern="1200" dirty="0">
              <a:solidFill>
                <a:schemeClr val="tx1"/>
              </a:solidFill>
              <a:latin typeface="Arial" charset="0"/>
              <a:ea typeface="+mn-ea"/>
              <a:cs typeface="Arial" charset="0"/>
            </a:endParaRPr>
          </a:p>
          <a:p>
            <a:r>
              <a:rPr lang="ru-RU" sz="1200" b="1" kern="1200" dirty="0">
                <a:solidFill>
                  <a:schemeClr val="tx1"/>
                </a:solidFill>
                <a:latin typeface="Arial" charset="0"/>
                <a:ea typeface="+mn-ea"/>
                <a:cs typeface="Arial" charset="0"/>
              </a:rPr>
              <a:t>Прогнозирование </a:t>
            </a:r>
            <a:r>
              <a:rPr lang="ru-RU" sz="1200" kern="1200" dirty="0">
                <a:solidFill>
                  <a:schemeClr val="tx1"/>
                </a:solidFill>
                <a:latin typeface="Arial" charset="0"/>
                <a:ea typeface="+mn-ea"/>
                <a:cs typeface="Arial" charset="0"/>
              </a:rPr>
              <a:t>- это несколько иная форма предсказания. Здесь на основе особенностей поведения данных оцениваются будущие значения непрерывно изменяющихся переменных, таких, например, как ежедневные объемы продаж. </a:t>
            </a:r>
          </a:p>
          <a:p>
            <a:endParaRPr lang="ru-RU" sz="1200" kern="1200" dirty="0">
              <a:solidFill>
                <a:schemeClr val="tx1"/>
              </a:solidFill>
              <a:latin typeface="Arial" charset="0"/>
              <a:ea typeface="+mn-ea"/>
              <a:cs typeface="Arial" charset="0"/>
            </a:endParaRPr>
          </a:p>
          <a:p>
            <a:r>
              <a:rPr lang="ru-RU" sz="1200" kern="1200" dirty="0">
                <a:solidFill>
                  <a:schemeClr val="tx1"/>
                </a:solidFill>
                <a:latin typeface="Arial" charset="0"/>
                <a:ea typeface="+mn-ea"/>
                <a:cs typeface="Arial" charset="0"/>
              </a:rPr>
              <a:t>Интеллектуальные средства анализа данных используют четыре основных метода: нейронные сети, деревья решений, индукцию правил и визуализацию данных. Иногда применяется их комбинация. </a:t>
            </a:r>
            <a:endParaRPr lang="ru-RU" dirty="0"/>
          </a:p>
        </p:txBody>
      </p:sp>
      <p:sp>
        <p:nvSpPr>
          <p:cNvPr id="4" name="Номер слайда 3"/>
          <p:cNvSpPr>
            <a:spLocks noGrp="1"/>
          </p:cNvSpPr>
          <p:nvPr>
            <p:ph type="sldNum" sz="quarter" idx="10"/>
          </p:nvPr>
        </p:nvSpPr>
        <p:spPr/>
        <p:txBody>
          <a:bodyPr/>
          <a:lstStyle/>
          <a:p>
            <a:fld id="{2E4A306D-2755-42A6-9F34-F588ACB3E2B6}" type="slidenum">
              <a:rPr lang="ru-RU" smtClean="0"/>
              <a:pPr/>
              <a:t>8</a:t>
            </a:fld>
            <a:endParaRPr lang="ru-RU"/>
          </a:p>
        </p:txBody>
      </p:sp>
    </p:spTree>
    <p:extLst>
      <p:ext uri="{BB962C8B-B14F-4D97-AF65-F5344CB8AC3E}">
        <p14:creationId xmlns:p14="http://schemas.microsoft.com/office/powerpoint/2010/main" val="7107329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9606F9-DA61-4CD1-88F0-08C8B4A9DCB5}" type="slidenum">
              <a:rPr lang="ru-RU"/>
              <a:pPr/>
              <a:t>9</a:t>
            </a:fld>
            <a:endParaRPr lang="ru-RU"/>
          </a:p>
        </p:txBody>
      </p:sp>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p:txBody>
          <a:bodyPr/>
          <a:lstStyle/>
          <a:p>
            <a:pPr lvl="0"/>
            <a:r>
              <a:rPr lang="ru-RU" sz="1200" b="1" kern="1200" dirty="0">
                <a:solidFill>
                  <a:schemeClr val="tx1"/>
                </a:solidFill>
                <a:latin typeface="Arial" charset="0"/>
                <a:ea typeface="+mn-ea"/>
                <a:cs typeface="Arial" charset="0"/>
              </a:rPr>
              <a:t>1. Концептуальное многомерное представление. </a:t>
            </a:r>
            <a:r>
              <a:rPr lang="ru-RU" sz="1200" kern="1200" dirty="0">
                <a:solidFill>
                  <a:schemeClr val="tx1"/>
                </a:solidFill>
                <a:latin typeface="Arial" charset="0"/>
                <a:ea typeface="+mn-ea"/>
                <a:cs typeface="Arial" charset="0"/>
              </a:rPr>
              <a:t>OLAP-модель должна быть многомерной в своей основе. Многомерная концептуальная схема или пользовательское представление облегчают моделирование и анализ так же, впрочем, как и вычисления. </a:t>
            </a:r>
          </a:p>
          <a:p>
            <a:pPr lvl="0"/>
            <a:br>
              <a:rPr lang="ru-RU" sz="1200" kern="1200" dirty="0">
                <a:solidFill>
                  <a:schemeClr val="tx1"/>
                </a:solidFill>
                <a:latin typeface="Arial" charset="0"/>
                <a:ea typeface="+mn-ea"/>
                <a:cs typeface="Arial" charset="0"/>
              </a:rPr>
            </a:br>
            <a:r>
              <a:rPr lang="ru-RU" sz="1200" b="1" kern="1200" dirty="0">
                <a:solidFill>
                  <a:schemeClr val="tx1"/>
                </a:solidFill>
                <a:latin typeface="Arial" charset="0"/>
                <a:ea typeface="+mn-ea"/>
                <a:cs typeface="Arial" charset="0"/>
              </a:rPr>
              <a:t>2. Прозрачность. </a:t>
            </a:r>
            <a:r>
              <a:rPr lang="ru-RU" sz="1200" kern="1200" dirty="0">
                <a:solidFill>
                  <a:schemeClr val="tx1"/>
                </a:solidFill>
                <a:latin typeface="Arial" charset="0"/>
                <a:ea typeface="+mn-ea"/>
                <a:cs typeface="Arial" charset="0"/>
              </a:rPr>
              <a:t>Пользователь способен получить все необходимые данные из OLAP-машины, даже не подозревая, откуда они берутся. Вне зависимости от того, является OLAP-продукт частью средств пользователя или нет, этот факт должен быть незаметен для пользователя. Если OLAP предоставляется клиент-серверными вычислениями, то этот факт также, по возможности, должен быть невидим для пользователя. OLAP должен предоставляться в контексте истинно открытой архитектуры, позволяя пользователю, где бы он ни находился, связываться при помощи аналитического инструмента с сервером. В дополнение к этому прозрачность должна достигаться и при взаимодействии аналитического инструмента с гомогенной и гетерогенной средами БД.</a:t>
            </a:r>
          </a:p>
          <a:p>
            <a:pPr lvl="0"/>
            <a:br>
              <a:rPr lang="ru-RU" sz="1200" kern="1200" dirty="0">
                <a:solidFill>
                  <a:schemeClr val="tx1"/>
                </a:solidFill>
                <a:latin typeface="Arial" charset="0"/>
                <a:ea typeface="+mn-ea"/>
                <a:cs typeface="Arial" charset="0"/>
              </a:rPr>
            </a:br>
            <a:r>
              <a:rPr lang="ru-RU" sz="1200" kern="1200" dirty="0">
                <a:solidFill>
                  <a:schemeClr val="tx1"/>
                </a:solidFill>
                <a:latin typeface="Arial" charset="0"/>
                <a:ea typeface="+mn-ea"/>
                <a:cs typeface="Arial" charset="0"/>
              </a:rPr>
              <a:t>3. </a:t>
            </a:r>
            <a:r>
              <a:rPr lang="ru-RU" sz="1200" b="1" kern="1200" dirty="0">
                <a:solidFill>
                  <a:schemeClr val="tx1"/>
                </a:solidFill>
                <a:latin typeface="Arial" charset="0"/>
                <a:ea typeface="+mn-ea"/>
                <a:cs typeface="Arial" charset="0"/>
              </a:rPr>
              <a:t>Доступность. </a:t>
            </a:r>
            <a:r>
              <a:rPr lang="ru-RU" sz="1200" kern="1200" dirty="0">
                <a:solidFill>
                  <a:schemeClr val="tx1"/>
                </a:solidFill>
                <a:latin typeface="Arial" charset="0"/>
                <a:ea typeface="+mn-ea"/>
                <a:cs typeface="Arial" charset="0"/>
              </a:rPr>
              <a:t>OLAP должен предоставлять свою собственную логическую схему для доступа в гетерогенной среде БД и выполнять соответствующие преобразования для предоставления данных пользователю. Более того, необходимо заранее позаботиться о том, где и как, и какие типы физической организации данных действительно будут использоваться. OLAP-система должна выполнять доступ только к действительно требующимся данным, а не применять общий принцип "кухонной воронки", который влечет ненужный ввод. </a:t>
            </a:r>
          </a:p>
          <a:p>
            <a:pPr lvl="0"/>
            <a:br>
              <a:rPr lang="ru-RU" sz="1200" kern="1200" dirty="0">
                <a:solidFill>
                  <a:schemeClr val="tx1"/>
                </a:solidFill>
                <a:latin typeface="Arial" charset="0"/>
                <a:ea typeface="+mn-ea"/>
                <a:cs typeface="Arial" charset="0"/>
              </a:rPr>
            </a:br>
            <a:r>
              <a:rPr lang="ru-RU" sz="1200" b="1" kern="1200" dirty="0">
                <a:solidFill>
                  <a:schemeClr val="tx1"/>
                </a:solidFill>
                <a:latin typeface="Arial" charset="0"/>
                <a:ea typeface="+mn-ea"/>
                <a:cs typeface="Arial" charset="0"/>
              </a:rPr>
              <a:t>4. Постоянная производительность при разработке отчетов. </a:t>
            </a:r>
            <a:r>
              <a:rPr lang="ru-RU" sz="1200" kern="1200" dirty="0">
                <a:solidFill>
                  <a:schemeClr val="tx1"/>
                </a:solidFill>
                <a:latin typeface="Arial" charset="0"/>
                <a:ea typeface="+mn-ea"/>
                <a:cs typeface="Arial" charset="0"/>
              </a:rPr>
              <a:t>Производительность формирования отчетов не должна существенно падать с ростом количества измерений и размеров базы данных. </a:t>
            </a:r>
          </a:p>
          <a:p>
            <a:pPr lvl="0"/>
            <a:br>
              <a:rPr lang="ru-RU" sz="1200" kern="1200" dirty="0">
                <a:solidFill>
                  <a:schemeClr val="tx1"/>
                </a:solidFill>
                <a:latin typeface="Arial" charset="0"/>
                <a:ea typeface="+mn-ea"/>
                <a:cs typeface="Arial" charset="0"/>
              </a:rPr>
            </a:br>
            <a:r>
              <a:rPr lang="ru-RU" sz="1200" b="1" kern="1200" dirty="0">
                <a:solidFill>
                  <a:schemeClr val="tx1"/>
                </a:solidFill>
                <a:latin typeface="Arial" charset="0"/>
                <a:ea typeface="+mn-ea"/>
                <a:cs typeface="Arial" charset="0"/>
              </a:rPr>
              <a:t>5. Клиент-серверная архитектура. </a:t>
            </a:r>
            <a:r>
              <a:rPr lang="ru-RU" sz="1200" kern="1200" dirty="0">
                <a:solidFill>
                  <a:schemeClr val="tx1"/>
                </a:solidFill>
                <a:latin typeface="Arial" charset="0"/>
                <a:ea typeface="+mn-ea"/>
                <a:cs typeface="Arial" charset="0"/>
              </a:rPr>
              <a:t>Требуется, чтобы продукт был не только клиент-серверным, но и чтобы серверный компонент был бы достаточно интеллектуальным для того, чтобы различные клиенты могли подключаться с минимумом усилий и программирования. </a:t>
            </a:r>
          </a:p>
          <a:p>
            <a:pPr lvl="0"/>
            <a:br>
              <a:rPr lang="ru-RU" sz="1200" kern="1200" dirty="0">
                <a:solidFill>
                  <a:schemeClr val="tx1"/>
                </a:solidFill>
                <a:latin typeface="Arial" charset="0"/>
                <a:ea typeface="+mn-ea"/>
                <a:cs typeface="Arial" charset="0"/>
              </a:rPr>
            </a:br>
            <a:r>
              <a:rPr lang="ru-RU" sz="1200" b="1" kern="1200" dirty="0">
                <a:solidFill>
                  <a:schemeClr val="tx1"/>
                </a:solidFill>
                <a:latin typeface="Arial" charset="0"/>
                <a:ea typeface="+mn-ea"/>
                <a:cs typeface="Arial" charset="0"/>
              </a:rPr>
              <a:t>6. Общая многомерность. </a:t>
            </a:r>
          </a:p>
          <a:p>
            <a:pPr lvl="0"/>
            <a:r>
              <a:rPr lang="ru-RU" b="0" i="0" dirty="0">
                <a:solidFill>
                  <a:srgbClr val="333333"/>
                </a:solidFill>
                <a:effectLst/>
                <a:latin typeface="YS Text"/>
              </a:rPr>
              <a:t>Измерение в OLAP-системах — это множество объектов (членов измерения или значений измерения) одного или нескольких типов, организованных в виде иерархической структуры и обеспечивающих информационный контекст типизированного показателя.</a:t>
            </a:r>
            <a:endParaRPr lang="ru-RU" sz="1200" b="1" kern="1200" dirty="0">
              <a:solidFill>
                <a:schemeClr val="tx1"/>
              </a:solidFill>
              <a:latin typeface="Arial" charset="0"/>
              <a:ea typeface="+mn-ea"/>
              <a:cs typeface="Arial" charset="0"/>
            </a:endParaRPr>
          </a:p>
          <a:p>
            <a:pPr lvl="0"/>
            <a:r>
              <a:rPr lang="ru-RU" sz="1200" kern="1200" dirty="0">
                <a:solidFill>
                  <a:schemeClr val="tx1"/>
                </a:solidFill>
                <a:latin typeface="Arial" charset="0"/>
                <a:ea typeface="+mn-ea"/>
                <a:cs typeface="Arial" charset="0"/>
              </a:rPr>
              <a:t>Все измерения должны быть равноправны, каждое измерение должно быть эквивалентно и в структуре, и в операционных возможностях. Правда, допускаются дополнительные операционные возможности для отдельных измерений (видимо, подразумевается время), но такие дополнительные функции должны быть предоставлены любому измерению. Не должно быть так, чтобы базовые структуры данных, вычислительные или отчетные форматы были более свойственны какому-то одному измерению. </a:t>
            </a:r>
          </a:p>
          <a:p>
            <a:pPr lvl="0"/>
            <a:br>
              <a:rPr lang="ru-RU" sz="1200" kern="1200" dirty="0">
                <a:solidFill>
                  <a:schemeClr val="tx1"/>
                </a:solidFill>
                <a:latin typeface="Arial" charset="0"/>
                <a:ea typeface="+mn-ea"/>
                <a:cs typeface="Arial" charset="0"/>
              </a:rPr>
            </a:br>
            <a:endParaRPr lang="ru-RU" sz="1200" kern="1200" dirty="0">
              <a:solidFill>
                <a:schemeClr val="tx1"/>
              </a:solidFill>
              <a:latin typeface="Arial" charset="0"/>
              <a:ea typeface="+mn-ea"/>
              <a:cs typeface="Arial"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9606F9-DA61-4CD1-88F0-08C8B4A9DCB5}" type="slidenum">
              <a:rPr lang="ru-RU"/>
              <a:pPr/>
              <a:t>10</a:t>
            </a:fld>
            <a:endParaRPr lang="ru-RU"/>
          </a:p>
        </p:txBody>
      </p:sp>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p:txBody>
          <a:bodyPr/>
          <a:lstStyle/>
          <a:p>
            <a:pPr lvl="0"/>
            <a:r>
              <a:rPr lang="ru-RU" sz="1200" b="1" kern="1200" dirty="0">
                <a:solidFill>
                  <a:schemeClr val="tx1"/>
                </a:solidFill>
                <a:latin typeface="Arial" charset="0"/>
                <a:ea typeface="+mn-ea"/>
                <a:cs typeface="Arial" charset="0"/>
              </a:rPr>
              <a:t>7.</a:t>
            </a:r>
            <a:r>
              <a:rPr lang="ru-RU" sz="1200" b="1" kern="1200" baseline="0" dirty="0">
                <a:solidFill>
                  <a:schemeClr val="tx1"/>
                </a:solidFill>
                <a:latin typeface="Arial" charset="0"/>
                <a:ea typeface="+mn-ea"/>
                <a:cs typeface="Arial" charset="0"/>
              </a:rPr>
              <a:t> </a:t>
            </a:r>
            <a:r>
              <a:rPr lang="ru-RU" sz="1200" b="1" kern="1200" dirty="0">
                <a:solidFill>
                  <a:schemeClr val="tx1"/>
                </a:solidFill>
                <a:latin typeface="Arial" charset="0"/>
                <a:ea typeface="+mn-ea"/>
                <a:cs typeface="Arial" charset="0"/>
              </a:rPr>
              <a:t>Динамическое управление разреженными матрицами. </a:t>
            </a:r>
            <a:r>
              <a:rPr lang="ru-RU" sz="1200" kern="1200" dirty="0">
                <a:solidFill>
                  <a:schemeClr val="tx1"/>
                </a:solidFill>
                <a:latin typeface="Arial" charset="0"/>
                <a:ea typeface="+mn-ea"/>
                <a:cs typeface="Arial" charset="0"/>
              </a:rPr>
              <a:t>OLAP системы должны автоматически настраивать свою физическую схему в зависимости от типа модели, объемов данных и разреженности базы данных. </a:t>
            </a:r>
          </a:p>
          <a:p>
            <a:pPr lvl="0"/>
            <a:br>
              <a:rPr lang="ru-RU" sz="1200" kern="1200" dirty="0">
                <a:solidFill>
                  <a:schemeClr val="tx1"/>
                </a:solidFill>
                <a:latin typeface="Arial" charset="0"/>
                <a:ea typeface="+mn-ea"/>
                <a:cs typeface="Arial" charset="0"/>
              </a:rPr>
            </a:br>
            <a:r>
              <a:rPr lang="ru-RU" sz="1200" b="1" kern="1200" dirty="0">
                <a:solidFill>
                  <a:schemeClr val="tx1"/>
                </a:solidFill>
                <a:latin typeface="Arial" charset="0"/>
                <a:ea typeface="+mn-ea"/>
                <a:cs typeface="Arial" charset="0"/>
              </a:rPr>
              <a:t>8.</a:t>
            </a:r>
            <a:r>
              <a:rPr lang="ru-RU" sz="1200" b="1" kern="1200" baseline="0" dirty="0">
                <a:solidFill>
                  <a:schemeClr val="tx1"/>
                </a:solidFill>
                <a:latin typeface="Arial" charset="0"/>
                <a:ea typeface="+mn-ea"/>
                <a:cs typeface="Arial" charset="0"/>
              </a:rPr>
              <a:t> </a:t>
            </a:r>
            <a:r>
              <a:rPr lang="ru-RU" sz="1200" b="1" kern="1200" dirty="0">
                <a:solidFill>
                  <a:schemeClr val="tx1"/>
                </a:solidFill>
                <a:latin typeface="Arial" charset="0"/>
                <a:ea typeface="+mn-ea"/>
                <a:cs typeface="Arial" charset="0"/>
              </a:rPr>
              <a:t>Многопользовательская поддержка</a:t>
            </a:r>
            <a:r>
              <a:rPr lang="ru-RU" sz="1200" kern="1200" dirty="0">
                <a:solidFill>
                  <a:schemeClr val="tx1"/>
                </a:solidFill>
                <a:latin typeface="Arial" charset="0"/>
                <a:ea typeface="+mn-ea"/>
                <a:cs typeface="Arial" charset="0"/>
              </a:rPr>
              <a:t>. OLAP-инструмент должен предоставлять возможности совместного доступа (запроса и дополнения), целостности и безопасности. </a:t>
            </a:r>
          </a:p>
          <a:p>
            <a:pPr lvl="0"/>
            <a:br>
              <a:rPr lang="ru-RU" sz="1200" kern="1200" dirty="0">
                <a:solidFill>
                  <a:schemeClr val="tx1"/>
                </a:solidFill>
                <a:latin typeface="Arial" charset="0"/>
                <a:ea typeface="+mn-ea"/>
                <a:cs typeface="Arial" charset="0"/>
              </a:rPr>
            </a:br>
            <a:r>
              <a:rPr lang="ru-RU" sz="1200" b="1" kern="1200" dirty="0">
                <a:solidFill>
                  <a:schemeClr val="tx1"/>
                </a:solidFill>
                <a:latin typeface="Arial" charset="0"/>
                <a:ea typeface="+mn-ea"/>
                <a:cs typeface="Arial" charset="0"/>
              </a:rPr>
              <a:t>9. Неограниченные перекрестные операции.</a:t>
            </a:r>
            <a:r>
              <a:rPr lang="ru-RU" sz="1200" kern="1200" dirty="0">
                <a:solidFill>
                  <a:schemeClr val="tx1"/>
                </a:solidFill>
                <a:latin typeface="Arial" charset="0"/>
                <a:ea typeface="+mn-ea"/>
                <a:cs typeface="Arial" charset="0"/>
              </a:rPr>
              <a:t> Все виды операций должны быть дозволены для любых измерений. </a:t>
            </a:r>
          </a:p>
          <a:p>
            <a:pPr lvl="0"/>
            <a:br>
              <a:rPr lang="ru-RU" sz="1200" kern="1200" dirty="0">
                <a:solidFill>
                  <a:schemeClr val="tx1"/>
                </a:solidFill>
                <a:latin typeface="Arial" charset="0"/>
                <a:ea typeface="+mn-ea"/>
                <a:cs typeface="Arial" charset="0"/>
              </a:rPr>
            </a:br>
            <a:r>
              <a:rPr lang="ru-RU" sz="1200" b="1" kern="1200" dirty="0">
                <a:solidFill>
                  <a:schemeClr val="tx1"/>
                </a:solidFill>
                <a:latin typeface="Arial" charset="0"/>
                <a:ea typeface="+mn-ea"/>
                <a:cs typeface="Arial" charset="0"/>
              </a:rPr>
              <a:t>10. Интуитивная манипуляция данными</a:t>
            </a:r>
            <a:r>
              <a:rPr lang="ru-RU" sz="1200" kern="1200" dirty="0">
                <a:solidFill>
                  <a:schemeClr val="tx1"/>
                </a:solidFill>
                <a:latin typeface="Arial" charset="0"/>
                <a:ea typeface="+mn-ea"/>
                <a:cs typeface="Arial" charset="0"/>
              </a:rPr>
              <a:t>. Манипулирование данными осуществлялось посредством прямых действий над ячейками в режиме просмотра без использования меню и множественных операций. </a:t>
            </a:r>
          </a:p>
          <a:p>
            <a:pPr lvl="0"/>
            <a:br>
              <a:rPr lang="ru-RU" sz="1200" kern="1200" dirty="0">
                <a:solidFill>
                  <a:schemeClr val="tx1"/>
                </a:solidFill>
                <a:latin typeface="Arial" charset="0"/>
                <a:ea typeface="+mn-ea"/>
                <a:cs typeface="Arial" charset="0"/>
              </a:rPr>
            </a:br>
            <a:r>
              <a:rPr lang="ru-RU" sz="1200" b="1" kern="1200" dirty="0">
                <a:solidFill>
                  <a:schemeClr val="tx1"/>
                </a:solidFill>
                <a:latin typeface="Arial" charset="0"/>
                <a:ea typeface="+mn-ea"/>
                <a:cs typeface="Arial" charset="0"/>
              </a:rPr>
              <a:t>11. Гибкие возможности получения отчетов</a:t>
            </a:r>
            <a:r>
              <a:rPr lang="ru-RU" sz="1200" kern="1200" dirty="0">
                <a:solidFill>
                  <a:schemeClr val="tx1"/>
                </a:solidFill>
                <a:latin typeface="Arial" charset="0"/>
                <a:ea typeface="+mn-ea"/>
                <a:cs typeface="Arial" charset="0"/>
              </a:rPr>
              <a:t>. Измерения должны быть размещены в отчете так, как это нужно пользователю. </a:t>
            </a:r>
          </a:p>
          <a:p>
            <a:pPr lvl="0"/>
            <a:br>
              <a:rPr lang="ru-RU" sz="1200" kern="1200" dirty="0">
                <a:solidFill>
                  <a:schemeClr val="tx1"/>
                </a:solidFill>
                <a:latin typeface="Arial" charset="0"/>
                <a:ea typeface="+mn-ea"/>
                <a:cs typeface="Arial" charset="0"/>
              </a:rPr>
            </a:br>
            <a:r>
              <a:rPr lang="ru-RU" sz="1200" b="1" kern="1200" dirty="0">
                <a:solidFill>
                  <a:schemeClr val="tx1"/>
                </a:solidFill>
                <a:latin typeface="Arial" charset="0"/>
                <a:ea typeface="+mn-ea"/>
                <a:cs typeface="Arial" charset="0"/>
              </a:rPr>
              <a:t>12. Неограниченная размерность и число уровней агрегации</a:t>
            </a:r>
            <a:r>
              <a:rPr lang="ru-RU" sz="1200" kern="1200" dirty="0">
                <a:solidFill>
                  <a:schemeClr val="tx1"/>
                </a:solidFill>
                <a:latin typeface="Arial" charset="0"/>
                <a:ea typeface="+mn-ea"/>
                <a:cs typeface="Arial" charset="0"/>
              </a:rPr>
              <a:t>. Исследование о возможном числе необходимых измерений, требующихся в аналитической модели, показало, что одновременно может использоваться до 19 измерений. Отсюда вытекает настоятельная рекомендация, чтобы аналитический инструмент был способен одновременно предоставить как минимум 15 измерений, а предпочтительнее 20. Более того, каждое из общих измерений не должно быть ограничено по числу определяемых пользователем-аналитиком уровней агрегации и путей консолидации.</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DE0ABB2-2A95-4B52-B987-3DEB54885FE3}" type="slidenum">
              <a:rPr lang="ru-RU"/>
              <a:pPr/>
              <a:t>15</a:t>
            </a:fld>
            <a:endParaRPr lang="ru-RU"/>
          </a:p>
        </p:txBody>
      </p:sp>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p:txBody>
          <a:bodyPr/>
          <a:lstStyle/>
          <a:p>
            <a:endParaRPr lang="ru-RU"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C96E1C-96D1-4BFD-ADC4-BDFD66D2172A}" type="slidenum">
              <a:rPr lang="ru-RU"/>
              <a:pPr/>
              <a:t>17</a:t>
            </a:fld>
            <a:endParaRPr lang="ru-RU"/>
          </a:p>
        </p:txBody>
      </p:sp>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p:txBody>
          <a:bodyPr/>
          <a:lstStyle/>
          <a:p>
            <a:endParaRPr lang="ru-RU"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1CE8C03-4E66-40D2-8A0F-814CCC6C0918}" type="slidenum">
              <a:rPr lang="ru-RU"/>
              <a:pPr/>
              <a:t>18</a:t>
            </a:fld>
            <a:endParaRPr lang="ru-RU"/>
          </a:p>
        </p:txBody>
      </p:sp>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p:txBody>
          <a:bodyPr/>
          <a:lstStyle/>
          <a:p>
            <a:pPr marL="228600" indent="-228600"/>
            <a:r>
              <a:rPr lang="ru-RU"/>
              <a:t>Язык </a:t>
            </a:r>
            <a:r>
              <a:rPr lang="en-US"/>
              <a:t>ODL </a:t>
            </a:r>
            <a:r>
              <a:rPr lang="ru-RU"/>
              <a:t>предлагает в распоряжение проектировщика баз данных систему определения типов, аналогичную тем, которые реализованы в С и других традиционных языках программирования. Система основана на наборе существующих </a:t>
            </a:r>
            <a:r>
              <a:rPr lang="ru-RU" i="1"/>
              <a:t>базовых типов </a:t>
            </a:r>
            <a:r>
              <a:rPr lang="ru-RU"/>
              <a:t>(</a:t>
            </a:r>
            <a:r>
              <a:rPr lang="en-US"/>
              <a:t>basic types</a:t>
            </a:r>
            <a:r>
              <a:rPr lang="ru-RU"/>
              <a:t>) и предусматривает возможность использования некоторых рекурсивных правил, позволяющих создавать сложные типы из более простых. К категории базовых относятся типы </a:t>
            </a:r>
            <a:r>
              <a:rPr lang="en-US"/>
              <a:t>ODL</a:t>
            </a:r>
            <a:r>
              <a:rPr lang="ru-RU"/>
              <a:t>, указанные ниже.</a:t>
            </a:r>
            <a:endParaRPr lang="ru-RU" i="1"/>
          </a:p>
          <a:p>
            <a:pPr marL="228600" indent="-228600"/>
            <a:r>
              <a:rPr lang="ru-RU" i="1"/>
              <a:t>Атомарные типы </a:t>
            </a:r>
            <a:r>
              <a:rPr lang="ru-RU"/>
              <a:t>(</a:t>
            </a:r>
            <a:r>
              <a:rPr lang="en-US"/>
              <a:t>atomic types</a:t>
            </a:r>
            <a:r>
              <a:rPr lang="ru-RU"/>
              <a:t>): </a:t>
            </a:r>
            <a:r>
              <a:rPr lang="en-US"/>
              <a:t>integer </a:t>
            </a:r>
            <a:r>
              <a:rPr lang="ru-RU"/>
              <a:t>(целое число), </a:t>
            </a:r>
            <a:r>
              <a:rPr lang="en-US"/>
              <a:t>float </a:t>
            </a:r>
            <a:r>
              <a:rPr lang="ru-RU"/>
              <a:t>(вещественное число с плавающей запятой), </a:t>
            </a:r>
            <a:r>
              <a:rPr lang="en-US"/>
              <a:t>character </a:t>
            </a:r>
            <a:r>
              <a:rPr lang="ru-RU"/>
              <a:t>(символ), </a:t>
            </a:r>
            <a:r>
              <a:rPr lang="en-US"/>
              <a:t>string </a:t>
            </a:r>
            <a:r>
              <a:rPr lang="ru-RU"/>
              <a:t>(строка символов) </a:t>
            </a:r>
            <a:r>
              <a:rPr lang="en-US"/>
              <a:t>boolean </a:t>
            </a:r>
            <a:r>
              <a:rPr lang="ru-RU"/>
              <a:t>(бинарное логическое значение) и </a:t>
            </a:r>
            <a:r>
              <a:rPr lang="ru-RU" i="1"/>
              <a:t>перечислимые типы </a:t>
            </a:r>
            <a:r>
              <a:rPr lang="ru-RU"/>
              <a:t>(</a:t>
            </a:r>
            <a:r>
              <a:rPr lang="en-US"/>
              <a:t>enumerations</a:t>
            </a:r>
            <a:r>
              <a:rPr lang="ru-RU"/>
              <a:t>). Последние представляют собой списки имен, обозначающих абстрактные зна­чения. Примером перечислимого типа может служить тип </a:t>
            </a:r>
            <a:r>
              <a:rPr lang="en-US"/>
              <a:t>Film</a:t>
            </a:r>
            <a:r>
              <a:rPr lang="ru-RU"/>
              <a:t>, объявление которого приведено в строке 5 на рис. 4.3 (см. с. 157).</a:t>
            </a:r>
            <a:endParaRPr lang="ru-RU" i="1"/>
          </a:p>
          <a:p>
            <a:pPr marL="228600" indent="-228600"/>
            <a:r>
              <a:rPr lang="ru-RU" i="1"/>
              <a:t>Классы </a:t>
            </a:r>
            <a:r>
              <a:rPr lang="ru-RU"/>
              <a:t>(</a:t>
            </a:r>
            <a:r>
              <a:rPr lang="en-US"/>
              <a:t>classes</a:t>
            </a:r>
            <a:r>
              <a:rPr lang="ru-RU"/>
              <a:t>), такие как </a:t>
            </a:r>
            <a:r>
              <a:rPr lang="en-US"/>
              <a:t>Movie </a:t>
            </a:r>
            <a:r>
              <a:rPr lang="ru-RU"/>
              <a:t>или </a:t>
            </a:r>
            <a:r>
              <a:rPr lang="en-US"/>
              <a:t>star</a:t>
            </a:r>
            <a:r>
              <a:rPr lang="ru-RU"/>
              <a:t>, — типы, по существу являющиеся структурами, которые содержат компоненты для каждого атрибута или связи, представленных в объявлении класса.</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1CE8C03-4E66-40D2-8A0F-814CCC6C0918}" type="slidenum">
              <a:rPr lang="ru-RU"/>
              <a:pPr/>
              <a:t>19</a:t>
            </a:fld>
            <a:endParaRPr lang="ru-RU"/>
          </a:p>
        </p:txBody>
      </p:sp>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p:txBody>
          <a:bodyPr/>
          <a:lstStyle/>
          <a:p>
            <a:pPr marL="228600" indent="-228600"/>
            <a:endParaRPr lang="ru-RU"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1CE8C03-4E66-40D2-8A0F-814CCC6C0918}" type="slidenum">
              <a:rPr lang="ru-RU"/>
              <a:pPr/>
              <a:t>20</a:t>
            </a:fld>
            <a:endParaRPr lang="ru-RU"/>
          </a:p>
        </p:txBody>
      </p:sp>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p:txBody>
          <a:bodyPr/>
          <a:lstStyle/>
          <a:p>
            <a:pPr marL="228600" indent="-228600"/>
            <a:endParaRPr lang="ru-RU"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4031A7-5245-409A-B3BC-A816C3A51C13}" type="slidenum">
              <a:rPr lang="ru-RU"/>
              <a:pPr/>
              <a:t>21</a:t>
            </a:fld>
            <a:endParaRPr lang="ru-RU"/>
          </a:p>
        </p:txBody>
      </p:sp>
      <p:sp>
        <p:nvSpPr>
          <p:cNvPr id="41986" name="Rectangle 2"/>
          <p:cNvSpPr>
            <a:spLocks noGrp="1" noRot="1" noChangeAspect="1" noChangeArrowheads="1" noTextEdit="1"/>
          </p:cNvSpPr>
          <p:nvPr>
            <p:ph type="sldImg"/>
          </p:nvPr>
        </p:nvSpPr>
        <p:spPr>
          <a:ln/>
        </p:spPr>
      </p:sp>
      <p:sp>
        <p:nvSpPr>
          <p:cNvPr id="41987" name="Rectangle 3"/>
          <p:cNvSpPr>
            <a:spLocks noGrp="1" noChangeArrowheads="1"/>
          </p:cNvSpPr>
          <p:nvPr>
            <p:ph type="body" idx="1"/>
          </p:nvPr>
        </p:nvSpPr>
        <p:spPr/>
        <p:txBody>
          <a:bodyPr/>
          <a:lstStyle/>
          <a:p>
            <a:pPr marL="228600" indent="-228600">
              <a:lnSpc>
                <a:spcPct val="90000"/>
              </a:lnSpc>
            </a:pPr>
            <a:endParaRPr lang="ru-RU"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736776-38A3-4248-A465-29A13CE7B969}" type="slidenum">
              <a:rPr lang="ru-RU"/>
              <a:pPr/>
              <a:t>22</a:t>
            </a:fld>
            <a:endParaRPr lang="ru-RU"/>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pPr>
              <a:lnSpc>
                <a:spcPct val="90000"/>
              </a:lnSpc>
            </a:pPr>
            <a:endParaRPr lang="ru-RU"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736776-38A3-4248-A465-29A13CE7B969}" type="slidenum">
              <a:rPr lang="ru-RU"/>
              <a:pPr/>
              <a:t>23</a:t>
            </a:fld>
            <a:endParaRPr lang="ru-RU"/>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pPr>
              <a:lnSpc>
                <a:spcPct val="90000"/>
              </a:lnSpc>
            </a:pPr>
            <a:r>
              <a:rPr lang="ru-RU"/>
              <a:t>(</a:t>
            </a:r>
            <a:r>
              <a:rPr lang="ru-RU" dirty="0"/>
              <a:t>массив). Пусть </a:t>
            </a:r>
            <a:r>
              <a:rPr lang="ru-RU" i="1" dirty="0"/>
              <a:t>Т- </a:t>
            </a:r>
            <a:r>
              <a:rPr lang="ru-RU" dirty="0"/>
              <a:t>произвольный тип и </a:t>
            </a:r>
            <a:r>
              <a:rPr lang="en-US" i="1" dirty="0" err="1"/>
              <a:t>i</a:t>
            </a:r>
            <a:r>
              <a:rPr lang="ru-RU" dirty="0"/>
              <a:t> - целое число; тогда А</a:t>
            </a:r>
            <a:r>
              <a:rPr lang="en-US" dirty="0" err="1"/>
              <a:t>rr</a:t>
            </a:r>
            <a:r>
              <a:rPr lang="ru-RU" dirty="0"/>
              <a:t>ау&lt;</a:t>
            </a:r>
            <a:r>
              <a:rPr lang="en-US" dirty="0"/>
              <a:t>T</a:t>
            </a:r>
            <a:r>
              <a:rPr lang="ru-RU" dirty="0"/>
              <a:t>,</a:t>
            </a:r>
            <a:r>
              <a:rPr lang="en-US" dirty="0" err="1"/>
              <a:t>i</a:t>
            </a:r>
            <a:r>
              <a:rPr lang="ru-RU" dirty="0"/>
              <a:t>&gt; представляет тип, значениями которого являются массивы из </a:t>
            </a:r>
            <a:r>
              <a:rPr lang="en-US" i="1" dirty="0" err="1"/>
              <a:t>i</a:t>
            </a:r>
            <a:r>
              <a:rPr lang="en-US" i="1" dirty="0"/>
              <a:t> </a:t>
            </a:r>
            <a:r>
              <a:rPr lang="ru-RU" dirty="0"/>
              <a:t>элементов типа </a:t>
            </a:r>
            <a:r>
              <a:rPr lang="en-US" dirty="0"/>
              <a:t>T</a:t>
            </a:r>
            <a:r>
              <a:rPr lang="ru-RU" dirty="0"/>
              <a:t>. Например, выражение </a:t>
            </a:r>
            <a:r>
              <a:rPr lang="en-US" dirty="0"/>
              <a:t>Array</a:t>
            </a:r>
            <a:r>
              <a:rPr lang="ru-RU" dirty="0"/>
              <a:t>&lt;</a:t>
            </a:r>
            <a:r>
              <a:rPr lang="en-US" dirty="0"/>
              <a:t>char</a:t>
            </a:r>
            <a:r>
              <a:rPr lang="ru-RU" dirty="0"/>
              <a:t>, 10 &gt; обозначает строки, состоящие из 10 символов.</a:t>
            </a:r>
          </a:p>
          <a:p>
            <a:pPr>
              <a:lnSpc>
                <a:spcPct val="90000"/>
              </a:lnSpc>
            </a:pPr>
            <a:r>
              <a:rPr lang="en-US" i="1" dirty="0"/>
              <a:t>Dictionary </a:t>
            </a:r>
            <a:r>
              <a:rPr lang="ru-RU" dirty="0"/>
              <a:t>(словарь). Пусть </a:t>
            </a:r>
            <a:r>
              <a:rPr lang="en-US" dirty="0"/>
              <a:t>T </a:t>
            </a:r>
            <a:r>
              <a:rPr lang="ru-RU" dirty="0"/>
              <a:t>и </a:t>
            </a:r>
            <a:r>
              <a:rPr lang="en-US" i="1" dirty="0"/>
              <a:t>S </a:t>
            </a:r>
            <a:r>
              <a:rPr lang="ru-RU" dirty="0"/>
              <a:t>- произвольные  типы; тогда </a:t>
            </a:r>
            <a:r>
              <a:rPr lang="en-US" dirty="0"/>
              <a:t>Dictionary</a:t>
            </a:r>
            <a:r>
              <a:rPr lang="ru-RU" dirty="0"/>
              <a:t>&lt; </a:t>
            </a:r>
            <a:r>
              <a:rPr lang="en-US" dirty="0"/>
              <a:t>T</a:t>
            </a:r>
            <a:r>
              <a:rPr lang="ru-RU" dirty="0"/>
              <a:t>,</a:t>
            </a:r>
            <a:r>
              <a:rPr lang="en-US" dirty="0"/>
              <a:t>S</a:t>
            </a:r>
            <a:r>
              <a:rPr lang="ru-RU" dirty="0"/>
              <a:t>&gt; представляет тип, значениями которого являются конечные множества пар вида </a:t>
            </a:r>
            <a:r>
              <a:rPr lang="ru-RU" i="1" dirty="0"/>
              <a:t>ключ/значения</a:t>
            </a:r>
            <a:r>
              <a:rPr lang="ru-RU" dirty="0"/>
              <a:t> (ключи относятся к типу Т, а значения – типу </a:t>
            </a:r>
            <a:r>
              <a:rPr lang="en-US" dirty="0"/>
              <a:t>S</a:t>
            </a:r>
            <a:r>
              <a:rPr lang="ru-RU" dirty="0"/>
              <a:t>).</a:t>
            </a:r>
            <a:r>
              <a:rPr lang="en-US" dirty="0"/>
              <a:t> </a:t>
            </a:r>
            <a:r>
              <a:rPr lang="ru-RU" dirty="0"/>
              <a:t>Словарь не должен содержать двух пар </a:t>
            </a:r>
            <a:r>
              <a:rPr lang="ru-RU" b="1" dirty="0"/>
              <a:t>с </a:t>
            </a:r>
            <a:r>
              <a:rPr lang="ru-RU" dirty="0"/>
              <a:t>одинаковым ключом. Словарь реализуются таким образом, чтобы операция поиска значения типа </a:t>
            </a:r>
            <a:r>
              <a:rPr lang="en-US" dirty="0"/>
              <a:t>S </a:t>
            </a:r>
            <a:r>
              <a:rPr lang="ru-RU" dirty="0"/>
              <a:t>по </a:t>
            </a:r>
            <a:r>
              <a:rPr lang="ru-RU" i="1" dirty="0"/>
              <a:t>задан</a:t>
            </a:r>
            <a:r>
              <a:rPr lang="ru-RU" dirty="0"/>
              <a:t>ному ключу типа Т выполнялась эффективно.</a:t>
            </a:r>
          </a:p>
          <a:p>
            <a:pPr>
              <a:lnSpc>
                <a:spcPct val="90000"/>
              </a:lnSpc>
            </a:pPr>
            <a:r>
              <a:rPr lang="ru-RU" dirty="0"/>
              <a:t> </a:t>
            </a:r>
            <a:r>
              <a:rPr lang="en-US" i="1" dirty="0"/>
              <a:t>Structure</a:t>
            </a:r>
            <a:r>
              <a:rPr lang="en-US" dirty="0"/>
              <a:t> </a:t>
            </a:r>
            <a:r>
              <a:rPr lang="ru-RU" dirty="0"/>
              <a:t>(структура). Пусть </a:t>
            </a:r>
            <a:r>
              <a:rPr lang="en-US" dirty="0"/>
              <a:t>T</a:t>
            </a:r>
            <a:r>
              <a:rPr lang="en-US" baseline="-15000" dirty="0"/>
              <a:t>1,</a:t>
            </a:r>
            <a:r>
              <a:rPr lang="ru-RU" dirty="0"/>
              <a:t> </a:t>
            </a:r>
            <a:r>
              <a:rPr lang="en-US" dirty="0"/>
              <a:t>T</a:t>
            </a:r>
            <a:r>
              <a:rPr lang="en-US" baseline="-25000" dirty="0"/>
              <a:t>2</a:t>
            </a:r>
            <a:r>
              <a:rPr lang="en-US" baseline="-15000" dirty="0"/>
              <a:t>,</a:t>
            </a:r>
            <a:r>
              <a:rPr lang="ru-RU" dirty="0"/>
              <a:t> </a:t>
            </a:r>
            <a:r>
              <a:rPr lang="en-US" dirty="0"/>
              <a:t>…</a:t>
            </a:r>
            <a:r>
              <a:rPr lang="ru-RU" dirty="0"/>
              <a:t>Т</a:t>
            </a:r>
            <a:r>
              <a:rPr lang="en-US" baseline="-10000" dirty="0"/>
              <a:t>n</a:t>
            </a:r>
            <a:r>
              <a:rPr lang="ru-RU" i="1" dirty="0"/>
              <a:t> </a:t>
            </a:r>
            <a:r>
              <a:rPr lang="ru-RU" dirty="0"/>
              <a:t>- произвольные типы, а </a:t>
            </a:r>
            <a:r>
              <a:rPr lang="en-US" dirty="0"/>
              <a:t>F</a:t>
            </a:r>
            <a:r>
              <a:rPr lang="en-US" baseline="-25000" dirty="0"/>
              <a:t>1</a:t>
            </a:r>
            <a:r>
              <a:rPr lang="en-US" dirty="0"/>
              <a:t>, F</a:t>
            </a:r>
            <a:r>
              <a:rPr lang="en-US" baseline="-25000" dirty="0"/>
              <a:t>2</a:t>
            </a:r>
            <a:r>
              <a:rPr lang="en-US" dirty="0"/>
              <a:t>, …, F</a:t>
            </a:r>
            <a:r>
              <a:rPr lang="en-US" baseline="-25000" dirty="0"/>
              <a:t>n</a:t>
            </a:r>
            <a:r>
              <a:rPr lang="ru-RU" dirty="0"/>
              <a:t> наименования полей; тогда выражение</a:t>
            </a:r>
          </a:p>
          <a:p>
            <a:pPr>
              <a:lnSpc>
                <a:spcPct val="90000"/>
              </a:lnSpc>
            </a:pPr>
            <a:r>
              <a:rPr lang="en-US" dirty="0"/>
              <a:t>Structure </a:t>
            </a:r>
            <a:r>
              <a:rPr lang="ru-RU" dirty="0"/>
              <a:t>N  </a:t>
            </a:r>
            <a:r>
              <a:rPr lang="en-US" dirty="0"/>
              <a:t>{T</a:t>
            </a:r>
            <a:r>
              <a:rPr lang="en-US" baseline="-25000" dirty="0"/>
              <a:t>i</a:t>
            </a:r>
            <a:r>
              <a:rPr lang="en-US" dirty="0"/>
              <a:t>  </a:t>
            </a:r>
            <a:r>
              <a:rPr lang="en-US" dirty="0" err="1"/>
              <a:t>F</a:t>
            </a:r>
            <a:r>
              <a:rPr lang="en-US" baseline="-25000" dirty="0" err="1"/>
              <a:t>i</a:t>
            </a:r>
            <a:r>
              <a:rPr lang="ru-RU" baseline="-25000" dirty="0"/>
              <a:t> </a:t>
            </a:r>
            <a:r>
              <a:rPr lang="ru-RU" dirty="0"/>
              <a:t>,</a:t>
            </a:r>
            <a:r>
              <a:rPr lang="en-US" dirty="0"/>
              <a:t> </a:t>
            </a:r>
            <a:r>
              <a:rPr lang="ru-RU" dirty="0"/>
              <a:t>Т</a:t>
            </a:r>
            <a:r>
              <a:rPr lang="ru-RU" baseline="-25000" dirty="0"/>
              <a:t>2</a:t>
            </a:r>
            <a:r>
              <a:rPr lang="ru-RU" dirty="0"/>
              <a:t> </a:t>
            </a:r>
            <a:r>
              <a:rPr lang="en-US" dirty="0"/>
              <a:t>F</a:t>
            </a:r>
            <a:r>
              <a:rPr lang="en-US" baseline="-25000" dirty="0"/>
              <a:t>2</a:t>
            </a:r>
            <a:r>
              <a:rPr lang="en-US" dirty="0"/>
              <a:t>, … </a:t>
            </a:r>
            <a:r>
              <a:rPr lang="ru-RU" dirty="0"/>
              <a:t>Т</a:t>
            </a:r>
            <a:r>
              <a:rPr lang="en-US" sz="1400" baseline="-25000" dirty="0"/>
              <a:t>n</a:t>
            </a:r>
            <a:r>
              <a:rPr lang="ru-RU" dirty="0"/>
              <a:t> </a:t>
            </a:r>
            <a:r>
              <a:rPr lang="en-US" dirty="0"/>
              <a:t>F</a:t>
            </a:r>
            <a:r>
              <a:rPr lang="en-US" baseline="-25000" dirty="0"/>
              <a:t>n</a:t>
            </a:r>
            <a:r>
              <a:rPr lang="en-US" dirty="0"/>
              <a:t>} </a:t>
            </a:r>
            <a:r>
              <a:rPr lang="ru-RU" dirty="0"/>
              <a:t>представляет тип с именем </a:t>
            </a:r>
            <a:r>
              <a:rPr lang="en-US" dirty="0"/>
              <a:t>N, </a:t>
            </a:r>
            <a:r>
              <a:rPr lang="ru-RU" dirty="0"/>
              <a:t>элементами которого являются структуры, состоящие из </a:t>
            </a:r>
            <a:r>
              <a:rPr lang="ru-RU" i="1" dirty="0" err="1"/>
              <a:t>п</a:t>
            </a:r>
            <a:r>
              <a:rPr lang="ru-RU" i="1" dirty="0"/>
              <a:t> </a:t>
            </a:r>
            <a:r>
              <a:rPr lang="ru-RU" dirty="0"/>
              <a:t>полей. Поле с номером </a:t>
            </a:r>
            <a:r>
              <a:rPr lang="en-US" i="1" dirty="0" err="1"/>
              <a:t>i</a:t>
            </a:r>
            <a:r>
              <a:rPr lang="ru-RU" dirty="0"/>
              <a:t> обозначается как </a:t>
            </a:r>
            <a:r>
              <a:rPr lang="en-US" i="1" dirty="0" err="1"/>
              <a:t>Fi</a:t>
            </a:r>
            <a:r>
              <a:rPr lang="en-US" i="1" dirty="0"/>
              <a:t> </a:t>
            </a:r>
            <a:r>
              <a:rPr lang="ru-RU" dirty="0"/>
              <a:t>и относится к типу </a:t>
            </a:r>
            <a:r>
              <a:rPr lang="en-US" i="1" dirty="0"/>
              <a:t>T.</a:t>
            </a:r>
            <a:r>
              <a:rPr lang="ru-RU" i="1" dirty="0"/>
              <a:t> </a:t>
            </a:r>
            <a:r>
              <a:rPr lang="ru-RU" dirty="0"/>
              <a:t>Например, строка 10 рис. 4.3 (см. с. 157) содержит объявление структуры </a:t>
            </a:r>
            <a:r>
              <a:rPr lang="en-US" dirty="0" err="1"/>
              <a:t>Addr</a:t>
            </a:r>
            <a:r>
              <a:rPr lang="en-US" dirty="0"/>
              <a:t> </a:t>
            </a:r>
            <a:r>
              <a:rPr lang="ru-RU" dirty="0"/>
              <a:t>с двумя полями типа </a:t>
            </a:r>
            <a:r>
              <a:rPr lang="en-US" dirty="0"/>
              <a:t>string, </a:t>
            </a:r>
            <a:r>
              <a:rPr lang="ru-RU" dirty="0"/>
              <a:t>названными как </a:t>
            </a:r>
            <a:r>
              <a:rPr lang="en-US" dirty="0"/>
              <a:t>street </a:t>
            </a:r>
            <a:r>
              <a:rPr lang="ru-RU" dirty="0"/>
              <a:t>и </a:t>
            </a:r>
            <a:r>
              <a:rPr lang="en-US" dirty="0"/>
              <a:t>city.</a:t>
            </a:r>
            <a:endParaRPr lang="ru-RU" dirty="0"/>
          </a:p>
          <a:p>
            <a:pPr>
              <a:lnSpc>
                <a:spcPct val="90000"/>
              </a:lnSpc>
            </a:pPr>
            <a:r>
              <a:rPr lang="ru-RU" dirty="0"/>
              <a:t>Пять типов — </a:t>
            </a:r>
            <a:r>
              <a:rPr lang="en-US" dirty="0"/>
              <a:t>Set, Bag, List, Array </a:t>
            </a:r>
            <a:r>
              <a:rPr lang="ru-RU" dirty="0"/>
              <a:t>и </a:t>
            </a:r>
            <a:r>
              <a:rPr lang="en-US" dirty="0"/>
              <a:t>Dictionary </a:t>
            </a:r>
            <a:r>
              <a:rPr lang="ru-RU" dirty="0"/>
              <a:t>— называют </a:t>
            </a:r>
            <a:r>
              <a:rPr lang="ru-RU" i="1" dirty="0"/>
              <a:t>типами коллекций </a:t>
            </a:r>
            <a:r>
              <a:rPr lang="en-US" dirty="0"/>
              <a:t>(collection types). </a:t>
            </a:r>
          </a:p>
          <a:p>
            <a:pPr>
              <a:lnSpc>
                <a:spcPct val="90000"/>
              </a:lnSpc>
            </a:pPr>
            <a:r>
              <a:rPr lang="ru-RU" dirty="0"/>
              <a:t>Существует несколько правил относительно того, какие типы могут быть поставлены в соответствие атрибутам, а какие — связям.</a:t>
            </a:r>
          </a:p>
          <a:p>
            <a:pPr>
              <a:lnSpc>
                <a:spcPct val="90000"/>
              </a:lnSpc>
            </a:pPr>
            <a:endParaRPr lang="ru-RU"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736776-38A3-4248-A465-29A13CE7B969}" type="slidenum">
              <a:rPr lang="ru-RU"/>
              <a:pPr/>
              <a:t>24</a:t>
            </a:fld>
            <a:endParaRPr lang="ru-RU"/>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pPr>
              <a:lnSpc>
                <a:spcPct val="90000"/>
              </a:lnSpc>
            </a:pPr>
            <a:endParaRPr lang="ru-RU"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736776-38A3-4248-A465-29A13CE7B969}" type="slidenum">
              <a:rPr lang="ru-RU"/>
              <a:pPr/>
              <a:t>25</a:t>
            </a:fld>
            <a:endParaRPr lang="ru-RU"/>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pPr>
              <a:lnSpc>
                <a:spcPct val="90000"/>
              </a:lnSpc>
            </a:pPr>
            <a:endParaRPr lang="ru-RU"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736776-38A3-4248-A465-29A13CE7B969}" type="slidenum">
              <a:rPr lang="ru-RU"/>
              <a:pPr/>
              <a:t>26</a:t>
            </a:fld>
            <a:endParaRPr lang="ru-RU"/>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r>
              <a:rPr lang="ru-RU" dirty="0"/>
              <a:t>Нужно отметить, что некоторые принципы управления данными в ХД и </a:t>
            </a:r>
            <a:r>
              <a:rPr lang="ru-RU" i="1" dirty="0"/>
              <a:t>БД</a:t>
            </a:r>
            <a:r>
              <a:rPr lang="ru-RU" dirty="0"/>
              <a:t> OLTP-систем имеют существенные отличия. </a:t>
            </a:r>
          </a:p>
          <a:p>
            <a:r>
              <a:rPr lang="ru-RU" dirty="0"/>
              <a:t>Так, например, характерный для OLTP-систем принцип, состоящий в том, что существует только одно правильно отображающее семантику </a:t>
            </a:r>
            <a:r>
              <a:rPr lang="ru-RU" i="1" dirty="0"/>
              <a:t>определение</a:t>
            </a:r>
            <a:r>
              <a:rPr lang="ru-RU" dirty="0"/>
              <a:t> данных в системе, не является верным для ХД. Это связано с различными временными горизонтами данных в системах, основанных на ХД.</a:t>
            </a:r>
          </a:p>
          <a:p>
            <a:pPr>
              <a:lnSpc>
                <a:spcPct val="90000"/>
              </a:lnSpc>
            </a:pPr>
            <a:endParaRPr lang="ru-RU"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736776-38A3-4248-A465-29A13CE7B969}" type="slidenum">
              <a:rPr lang="ru-RU"/>
              <a:pPr/>
              <a:t>27</a:t>
            </a:fld>
            <a:endParaRPr lang="ru-RU" dirty="0"/>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r>
              <a:rPr lang="ru-RU" sz="1200" b="1" i="0" kern="1200" dirty="0">
                <a:solidFill>
                  <a:schemeClr val="tx1"/>
                </a:solidFill>
                <a:latin typeface="Arial" charset="0"/>
                <a:ea typeface="+mn-ea"/>
                <a:cs typeface="Arial" charset="0"/>
              </a:rPr>
              <a:t>Функции метаданных в хранилище данных</a:t>
            </a:r>
          </a:p>
          <a:p>
            <a:r>
              <a:rPr lang="ru-RU" sz="1200" b="0" i="0" kern="1200" dirty="0">
                <a:solidFill>
                  <a:schemeClr val="tx1"/>
                </a:solidFill>
                <a:latin typeface="Arial" charset="0"/>
                <a:ea typeface="+mn-ea"/>
                <a:cs typeface="Arial" charset="0"/>
              </a:rPr>
              <a:t>Роль </a:t>
            </a:r>
            <a:r>
              <a:rPr lang="ru-RU" sz="1200" b="0" i="1" kern="1200" dirty="0">
                <a:solidFill>
                  <a:schemeClr val="tx1"/>
                </a:solidFill>
                <a:latin typeface="Arial" charset="0"/>
                <a:ea typeface="+mn-ea"/>
                <a:cs typeface="Arial" charset="0"/>
              </a:rPr>
              <a:t>метаданных</a:t>
            </a:r>
            <a:r>
              <a:rPr lang="ru-RU" sz="1200" b="0" i="0" kern="1200" dirty="0">
                <a:solidFill>
                  <a:schemeClr val="tx1"/>
                </a:solidFill>
                <a:latin typeface="Arial" charset="0"/>
                <a:ea typeface="+mn-ea"/>
                <a:cs typeface="Arial" charset="0"/>
              </a:rPr>
              <a:t> для ХД значительно важнее, чем в </a:t>
            </a:r>
            <a:r>
              <a:rPr lang="ru-RU" sz="1200" b="0" i="1" kern="1200" dirty="0">
                <a:solidFill>
                  <a:schemeClr val="tx1"/>
                </a:solidFill>
                <a:latin typeface="Arial" charset="0"/>
                <a:ea typeface="+mn-ea"/>
                <a:cs typeface="Arial" charset="0"/>
              </a:rPr>
              <a:t>системах операционной обработки данных</a:t>
            </a:r>
            <a:r>
              <a:rPr lang="ru-RU" sz="1200" b="0" i="0" kern="1200" dirty="0">
                <a:solidFill>
                  <a:schemeClr val="tx1"/>
                </a:solidFill>
                <a:latin typeface="Arial" charset="0"/>
                <a:ea typeface="+mn-ea"/>
                <a:cs typeface="Arial" charset="0"/>
              </a:rPr>
              <a:t>. </a:t>
            </a:r>
          </a:p>
          <a:p>
            <a:r>
              <a:rPr lang="ru-RU" sz="1200" b="0" i="0" kern="1200" dirty="0">
                <a:solidFill>
                  <a:schemeClr val="tx1"/>
                </a:solidFill>
                <a:latin typeface="Arial" charset="0"/>
                <a:ea typeface="+mn-ea"/>
                <a:cs typeface="Arial" charset="0"/>
              </a:rPr>
              <a:t>Если в </a:t>
            </a:r>
            <a:r>
              <a:rPr lang="ru-RU" sz="1200" b="0" i="1" kern="1200" dirty="0">
                <a:solidFill>
                  <a:schemeClr val="tx1"/>
                </a:solidFill>
                <a:latin typeface="Arial" charset="0"/>
                <a:ea typeface="+mn-ea"/>
                <a:cs typeface="Arial" charset="0"/>
              </a:rPr>
              <a:t>системах операционной обработки данных</a:t>
            </a:r>
            <a:r>
              <a:rPr lang="ru-RU" sz="1200" b="0" i="0" kern="1200" dirty="0">
                <a:solidFill>
                  <a:schemeClr val="tx1"/>
                </a:solidFill>
                <a:latin typeface="Arial" charset="0"/>
                <a:ea typeface="+mn-ea"/>
                <a:cs typeface="Arial" charset="0"/>
              </a:rPr>
              <a:t> </a:t>
            </a:r>
            <a:r>
              <a:rPr lang="ru-RU" sz="1200" b="0" i="1" kern="1200" dirty="0">
                <a:solidFill>
                  <a:schemeClr val="tx1"/>
                </a:solidFill>
                <a:latin typeface="Arial" charset="0"/>
                <a:ea typeface="+mn-ea"/>
                <a:cs typeface="Arial" charset="0"/>
              </a:rPr>
              <a:t>интерфейс</a:t>
            </a:r>
            <a:r>
              <a:rPr lang="ru-RU" sz="1200" b="0" i="0" kern="1200" dirty="0">
                <a:solidFill>
                  <a:schemeClr val="tx1"/>
                </a:solidFill>
                <a:latin typeface="Arial" charset="0"/>
                <a:ea typeface="+mn-ea"/>
                <a:cs typeface="Arial" charset="0"/>
              </a:rPr>
              <a:t> системы настроен на </a:t>
            </a:r>
            <a:r>
              <a:rPr lang="ru-RU" sz="1200" b="0" i="0" kern="1200" dirty="0" err="1">
                <a:solidFill>
                  <a:schemeClr val="tx1"/>
                </a:solidFill>
                <a:latin typeface="Arial" charset="0"/>
                <a:ea typeface="+mn-ea"/>
                <a:cs typeface="Arial" charset="0"/>
              </a:rPr>
              <a:t>бизнес-процедуры</a:t>
            </a:r>
            <a:r>
              <a:rPr lang="ru-RU" sz="1200" b="0" i="0" kern="1200" dirty="0">
                <a:solidFill>
                  <a:schemeClr val="tx1"/>
                </a:solidFill>
                <a:latin typeface="Arial" charset="0"/>
                <a:ea typeface="+mn-ea"/>
                <a:cs typeface="Arial" charset="0"/>
              </a:rPr>
              <a:t> обработки данных </a:t>
            </a:r>
            <a:r>
              <a:rPr lang="ru-RU" sz="1200" b="1" i="1" kern="1200" dirty="0">
                <a:solidFill>
                  <a:schemeClr val="tx1"/>
                </a:solidFill>
                <a:latin typeface="Arial" charset="0"/>
                <a:ea typeface="+mn-ea"/>
                <a:cs typeface="Arial" charset="0"/>
              </a:rPr>
              <a:t>конкретными специалистами </a:t>
            </a:r>
            <a:r>
              <a:rPr lang="ru-RU" sz="1200" b="0" i="0" kern="1200" dirty="0">
                <a:solidFill>
                  <a:schemeClr val="tx1"/>
                </a:solidFill>
                <a:latin typeface="Arial" charset="0"/>
                <a:ea typeface="+mn-ea"/>
                <a:cs typeface="Arial" charset="0"/>
              </a:rPr>
              <a:t>и понятен им после специального обучения, то </a:t>
            </a:r>
            <a:r>
              <a:rPr lang="ru-RU" sz="1200" b="0" i="1" kern="1200" dirty="0">
                <a:solidFill>
                  <a:schemeClr val="tx1"/>
                </a:solidFill>
                <a:latin typeface="Arial" charset="0"/>
                <a:ea typeface="+mn-ea"/>
                <a:cs typeface="Arial" charset="0"/>
              </a:rPr>
              <a:t>интерфейс</a:t>
            </a:r>
            <a:r>
              <a:rPr lang="ru-RU" sz="1200" b="0" i="0" kern="1200" dirty="0">
                <a:solidFill>
                  <a:schemeClr val="tx1"/>
                </a:solidFill>
                <a:latin typeface="Arial" charset="0"/>
                <a:ea typeface="+mn-ea"/>
                <a:cs typeface="Arial" charset="0"/>
              </a:rPr>
              <a:t> систем складирования данных конструируется таким образом, </a:t>
            </a:r>
          </a:p>
          <a:p>
            <a:r>
              <a:rPr lang="ru-RU" sz="1200" b="0" i="0" kern="1200" dirty="0">
                <a:solidFill>
                  <a:schemeClr val="tx1"/>
                </a:solidFill>
                <a:latin typeface="Arial" charset="0"/>
                <a:ea typeface="+mn-ea"/>
                <a:cs typeface="Arial" charset="0"/>
              </a:rPr>
              <a:t>чтобы, помимо всего прочего, отвечать на </a:t>
            </a:r>
            <a:r>
              <a:rPr lang="ru-RU" sz="1200" b="1" i="1" kern="1200" dirty="0" err="1">
                <a:solidFill>
                  <a:schemeClr val="tx1"/>
                </a:solidFill>
                <a:latin typeface="Arial" charset="0"/>
                <a:ea typeface="+mn-ea"/>
                <a:cs typeface="Arial" charset="0"/>
              </a:rPr>
              <a:t>непредопределенные</a:t>
            </a:r>
            <a:r>
              <a:rPr lang="ru-RU" sz="1200" b="1" i="1" kern="1200" dirty="0">
                <a:solidFill>
                  <a:schemeClr val="tx1"/>
                </a:solidFill>
                <a:latin typeface="Arial" charset="0"/>
                <a:ea typeface="+mn-ea"/>
                <a:cs typeface="Arial" charset="0"/>
              </a:rPr>
              <a:t> вопросы </a:t>
            </a:r>
            <a:r>
              <a:rPr lang="ru-RU" sz="1200" b="0" i="0" kern="1200" dirty="0">
                <a:solidFill>
                  <a:schemeClr val="tx1"/>
                </a:solidFill>
                <a:latin typeface="Arial" charset="0"/>
                <a:ea typeface="+mn-ea"/>
                <a:cs typeface="Arial" charset="0"/>
              </a:rPr>
              <a:t>(</a:t>
            </a:r>
            <a:r>
              <a:rPr lang="ru-RU" sz="1200" b="0" i="1" kern="1200" dirty="0" err="1">
                <a:solidFill>
                  <a:schemeClr val="tx1"/>
                </a:solidFill>
                <a:latin typeface="Arial" charset="0"/>
                <a:ea typeface="+mn-ea"/>
                <a:cs typeface="Arial" charset="0"/>
              </a:rPr>
              <a:t>ad</a:t>
            </a:r>
            <a:r>
              <a:rPr lang="ru-RU" sz="1200" b="0" i="1" kern="1200" dirty="0">
                <a:solidFill>
                  <a:schemeClr val="tx1"/>
                </a:solidFill>
                <a:latin typeface="Arial" charset="0"/>
                <a:ea typeface="+mn-ea"/>
                <a:cs typeface="Arial" charset="0"/>
              </a:rPr>
              <a:t> </a:t>
            </a:r>
            <a:r>
              <a:rPr lang="ru-RU" sz="1200" b="0" i="1" kern="1200" dirty="0" err="1">
                <a:solidFill>
                  <a:schemeClr val="tx1"/>
                </a:solidFill>
                <a:latin typeface="Arial" charset="0"/>
                <a:ea typeface="+mn-ea"/>
                <a:cs typeface="Arial" charset="0"/>
              </a:rPr>
              <a:t>hoc</a:t>
            </a:r>
            <a:r>
              <a:rPr lang="ru-RU" sz="1200" b="0" i="0" kern="1200" dirty="0">
                <a:solidFill>
                  <a:schemeClr val="tx1"/>
                </a:solidFill>
                <a:latin typeface="Arial" charset="0"/>
                <a:ea typeface="+mn-ea"/>
                <a:cs typeface="Arial" charset="0"/>
              </a:rPr>
              <a:t>). </a:t>
            </a:r>
          </a:p>
          <a:p>
            <a:r>
              <a:rPr lang="ru-RU" sz="1200" b="0" i="0" kern="1200" dirty="0">
                <a:solidFill>
                  <a:schemeClr val="tx1"/>
                </a:solidFill>
                <a:latin typeface="Arial" charset="0"/>
                <a:ea typeface="+mn-ea"/>
                <a:cs typeface="Arial" charset="0"/>
              </a:rPr>
              <a:t>Как правило, такие вопросы формулируются в терминах </a:t>
            </a:r>
            <a:r>
              <a:rPr lang="ru-RU" sz="1200" b="0" i="1" kern="1200" dirty="0">
                <a:solidFill>
                  <a:schemeClr val="tx1"/>
                </a:solidFill>
                <a:latin typeface="Arial" charset="0"/>
                <a:ea typeface="+mn-ea"/>
                <a:cs typeface="Arial" charset="0"/>
              </a:rPr>
              <a:t>предметной области</a:t>
            </a:r>
            <a:r>
              <a:rPr lang="ru-RU" sz="1200" b="0" i="0" kern="1200" dirty="0">
                <a:solidFill>
                  <a:schemeClr val="tx1"/>
                </a:solidFill>
                <a:latin typeface="Arial" charset="0"/>
                <a:ea typeface="+mn-ea"/>
                <a:cs typeface="Arial" charset="0"/>
              </a:rPr>
              <a:t> и бизнес-процессов, к тому же специалистами, для которых </a:t>
            </a:r>
            <a:r>
              <a:rPr lang="ru-RU" sz="1200" b="0" i="0" kern="1200" dirty="0" err="1">
                <a:solidFill>
                  <a:schemeClr val="tx1"/>
                </a:solidFill>
                <a:latin typeface="Arial" charset="0"/>
                <a:ea typeface="+mn-ea"/>
                <a:cs typeface="Arial" charset="0"/>
              </a:rPr>
              <a:t>ИТ-технологии</a:t>
            </a:r>
            <a:r>
              <a:rPr lang="ru-RU" sz="1200" b="0" i="0" kern="1200" dirty="0">
                <a:solidFill>
                  <a:schemeClr val="tx1"/>
                </a:solidFill>
                <a:latin typeface="Arial" charset="0"/>
                <a:ea typeface="+mn-ea"/>
                <a:cs typeface="Arial" charset="0"/>
              </a:rPr>
              <a:t> не являются основной профессией: аналитиками, менеджерами среднего и высшего уровня.</a:t>
            </a:r>
          </a:p>
          <a:p>
            <a:r>
              <a:rPr lang="ru-RU" sz="1200" b="0" i="0" kern="1200" dirty="0">
                <a:solidFill>
                  <a:schemeClr val="tx1"/>
                </a:solidFill>
                <a:latin typeface="Arial" charset="0"/>
                <a:ea typeface="+mn-ea"/>
                <a:cs typeface="Arial" charset="0"/>
              </a:rPr>
              <a:t>Таким образом, одним из главных аспектов использования </a:t>
            </a:r>
            <a:r>
              <a:rPr lang="ru-RU" sz="1200" b="0" i="1" kern="1200" dirty="0">
                <a:solidFill>
                  <a:schemeClr val="tx1"/>
                </a:solidFill>
                <a:latin typeface="Arial" charset="0"/>
                <a:ea typeface="+mn-ea"/>
                <a:cs typeface="Arial" charset="0"/>
              </a:rPr>
              <a:t>метаданных</a:t>
            </a:r>
            <a:r>
              <a:rPr lang="ru-RU" sz="1200" b="0" i="0" kern="1200" dirty="0">
                <a:solidFill>
                  <a:schemeClr val="tx1"/>
                </a:solidFill>
                <a:latin typeface="Arial" charset="0"/>
                <a:ea typeface="+mn-ea"/>
                <a:cs typeface="Arial" charset="0"/>
              </a:rPr>
              <a:t> в ХД является их предметная ориентация. Основные вопросы, на которые должны ответить </a:t>
            </a:r>
            <a:r>
              <a:rPr lang="ru-RU" sz="1200" b="0" i="1" kern="1200" dirty="0">
                <a:solidFill>
                  <a:schemeClr val="tx1"/>
                </a:solidFill>
                <a:latin typeface="Arial" charset="0"/>
                <a:ea typeface="+mn-ea"/>
                <a:cs typeface="Arial" charset="0"/>
              </a:rPr>
              <a:t>метаданные</a:t>
            </a:r>
            <a:r>
              <a:rPr lang="ru-RU" sz="1200" b="0" i="0" kern="1200" dirty="0">
                <a:solidFill>
                  <a:schemeClr val="tx1"/>
                </a:solidFill>
                <a:latin typeface="Arial" charset="0"/>
                <a:ea typeface="+mn-ea"/>
                <a:cs typeface="Arial" charset="0"/>
              </a:rPr>
              <a:t>, — это какие данные представлены в системе и как их получить в нужном для анализа данных виде.</a:t>
            </a:r>
          </a:p>
          <a:p>
            <a:r>
              <a:rPr lang="ru-RU" sz="1200" b="0" i="0" kern="1200" dirty="0">
                <a:solidFill>
                  <a:schemeClr val="tx1"/>
                </a:solidFill>
                <a:latin typeface="Arial" charset="0"/>
                <a:ea typeface="+mn-ea"/>
                <a:cs typeface="Arial" charset="0"/>
              </a:rPr>
              <a:t>Первой основной </a:t>
            </a:r>
            <a:r>
              <a:rPr lang="ru-RU" sz="1200" b="0" i="1" kern="1200" dirty="0">
                <a:solidFill>
                  <a:schemeClr val="tx1"/>
                </a:solidFill>
                <a:latin typeface="Arial" charset="0"/>
                <a:ea typeface="+mn-ea"/>
                <a:cs typeface="Arial" charset="0"/>
              </a:rPr>
              <a:t>функцией метаданных</a:t>
            </a:r>
            <a:r>
              <a:rPr lang="ru-RU" sz="1200" b="0" i="0" kern="1200" dirty="0">
                <a:solidFill>
                  <a:schemeClr val="tx1"/>
                </a:solidFill>
                <a:latin typeface="Arial" charset="0"/>
                <a:ea typeface="+mn-ea"/>
                <a:cs typeface="Arial" charset="0"/>
              </a:rPr>
              <a:t> в ХД является </a:t>
            </a:r>
            <a:r>
              <a:rPr lang="ru-RU" sz="1200" b="0" i="1" kern="1200" dirty="0">
                <a:solidFill>
                  <a:schemeClr val="tx1"/>
                </a:solidFill>
                <a:latin typeface="Arial" charset="0"/>
                <a:ea typeface="+mn-ea"/>
                <a:cs typeface="Arial" charset="0"/>
              </a:rPr>
              <a:t>представление соответствия данных источников и данных ХД</a:t>
            </a:r>
            <a:r>
              <a:rPr lang="ru-RU" sz="1200" b="0" i="0" kern="1200" dirty="0">
                <a:solidFill>
                  <a:schemeClr val="tx1"/>
                </a:solidFill>
                <a:latin typeface="Arial" charset="0"/>
                <a:ea typeface="+mn-ea"/>
                <a:cs typeface="Arial" charset="0"/>
              </a:rPr>
              <a:t>. </a:t>
            </a:r>
          </a:p>
          <a:p>
            <a:r>
              <a:rPr lang="ru-RU" sz="1200" b="0" i="0" kern="1200" dirty="0">
                <a:solidFill>
                  <a:schemeClr val="tx1"/>
                </a:solidFill>
                <a:latin typeface="Arial" charset="0"/>
                <a:ea typeface="+mn-ea"/>
                <a:cs typeface="Arial" charset="0"/>
              </a:rPr>
              <a:t>Как правило, это описание представляет собой фиксацию </a:t>
            </a:r>
            <a:r>
              <a:rPr lang="ru-RU" sz="1200" b="1" i="0" kern="1200" dirty="0">
                <a:solidFill>
                  <a:schemeClr val="tx1"/>
                </a:solidFill>
                <a:latin typeface="Arial" charset="0"/>
                <a:ea typeface="+mn-ea"/>
                <a:cs typeface="Arial" charset="0"/>
              </a:rPr>
              <a:t>взаимосвязи атрибутов данных источника и атрибутов данных ХД</a:t>
            </a:r>
            <a:r>
              <a:rPr lang="ru-RU" sz="1200" b="0" i="0" kern="1200" dirty="0">
                <a:solidFill>
                  <a:schemeClr val="tx1"/>
                </a:solidFill>
                <a:latin typeface="Arial" charset="0"/>
                <a:ea typeface="+mn-ea"/>
                <a:cs typeface="Arial" charset="0"/>
              </a:rPr>
              <a:t>, правила преобразования первых во вторые, изменение в наименовании данных, в их физических характеристиках и т. д.</a:t>
            </a:r>
          </a:p>
          <a:p>
            <a:r>
              <a:rPr lang="ru-RU" sz="1200" b="0" i="0" kern="1200" dirty="0">
                <a:solidFill>
                  <a:schemeClr val="tx1"/>
                </a:solidFill>
                <a:latin typeface="Arial" charset="0"/>
                <a:ea typeface="+mn-ea"/>
                <a:cs typeface="Arial" charset="0"/>
              </a:rPr>
              <a:t>Такая </a:t>
            </a:r>
            <a:r>
              <a:rPr lang="ru-RU" sz="1200" b="0" i="1" kern="1200" dirty="0">
                <a:solidFill>
                  <a:schemeClr val="tx1"/>
                </a:solidFill>
                <a:latin typeface="Arial" charset="0"/>
                <a:ea typeface="+mn-ea"/>
                <a:cs typeface="Arial" charset="0"/>
              </a:rPr>
              <a:t>информация</a:t>
            </a:r>
            <a:r>
              <a:rPr lang="ru-RU" sz="1200" b="0" i="0" kern="1200" dirty="0">
                <a:solidFill>
                  <a:schemeClr val="tx1"/>
                </a:solidFill>
                <a:latin typeface="Arial" charset="0"/>
                <a:ea typeface="+mn-ea"/>
                <a:cs typeface="Arial" charset="0"/>
              </a:rPr>
              <a:t> позволяет идентифицировать источники данных для ХД, правильность данных в ХД и их </a:t>
            </a:r>
            <a:r>
              <a:rPr lang="ru-RU" sz="1200" b="0" i="1" kern="1200" dirty="0">
                <a:solidFill>
                  <a:schemeClr val="tx1"/>
                </a:solidFill>
                <a:latin typeface="Arial" charset="0"/>
                <a:ea typeface="+mn-ea"/>
                <a:cs typeface="Arial" charset="0"/>
              </a:rPr>
              <a:t>корректность</a:t>
            </a:r>
            <a:r>
              <a:rPr lang="ru-RU" sz="1200" b="0" i="0" kern="1200" dirty="0">
                <a:solidFill>
                  <a:schemeClr val="tx1"/>
                </a:solidFill>
                <a:latin typeface="Arial" charset="0"/>
                <a:ea typeface="+mn-ea"/>
                <a:cs typeface="Arial" charset="0"/>
              </a:rPr>
              <a:t>.</a:t>
            </a:r>
          </a:p>
          <a:p>
            <a:r>
              <a:rPr lang="ru-RU" sz="1200" b="1" i="0" kern="1200" dirty="0">
                <a:solidFill>
                  <a:schemeClr val="tx1"/>
                </a:solidFill>
                <a:latin typeface="Arial" charset="0"/>
                <a:ea typeface="+mn-ea"/>
                <a:cs typeface="Arial" charset="0"/>
              </a:rPr>
              <a:t>Вторая основная </a:t>
            </a:r>
            <a:r>
              <a:rPr lang="ru-RU" sz="1200" b="1" i="1" kern="1200" dirty="0">
                <a:solidFill>
                  <a:schemeClr val="tx1"/>
                </a:solidFill>
                <a:latin typeface="Arial" charset="0"/>
                <a:ea typeface="+mn-ea"/>
                <a:cs typeface="Arial" charset="0"/>
              </a:rPr>
              <a:t>функция метаданных</a:t>
            </a:r>
            <a:r>
              <a:rPr lang="ru-RU" sz="1200" b="1" i="0" kern="1200" dirty="0">
                <a:solidFill>
                  <a:schemeClr val="tx1"/>
                </a:solidFill>
                <a:latin typeface="Arial" charset="0"/>
                <a:ea typeface="+mn-ea"/>
                <a:cs typeface="Arial" charset="0"/>
              </a:rPr>
              <a:t> в ХД — </a:t>
            </a:r>
            <a:r>
              <a:rPr lang="ru-RU" sz="1200" b="1" i="1" kern="1200" dirty="0">
                <a:solidFill>
                  <a:schemeClr val="tx1"/>
                </a:solidFill>
                <a:latin typeface="Arial" charset="0"/>
                <a:ea typeface="+mn-ea"/>
                <a:cs typeface="Arial" charset="0"/>
              </a:rPr>
              <a:t>управление данными во времени</a:t>
            </a:r>
            <a:r>
              <a:rPr lang="ru-RU" sz="1200" b="0" i="0" kern="1200" dirty="0">
                <a:solidFill>
                  <a:schemeClr val="tx1"/>
                </a:solidFill>
                <a:latin typeface="Arial" charset="0"/>
                <a:ea typeface="+mn-ea"/>
                <a:cs typeface="Arial" charset="0"/>
              </a:rPr>
              <a:t>. </a:t>
            </a:r>
          </a:p>
          <a:p>
            <a:r>
              <a:rPr lang="ru-RU" sz="1200" b="0" i="0" kern="1200" dirty="0">
                <a:solidFill>
                  <a:schemeClr val="tx1"/>
                </a:solidFill>
                <a:latin typeface="Arial" charset="0"/>
                <a:ea typeface="+mn-ea"/>
                <a:cs typeface="Arial" charset="0"/>
              </a:rPr>
              <a:t>Время жизни данных в ХД, как правило, 5-10 лет, а то и более. </a:t>
            </a:r>
          </a:p>
          <a:p>
            <a:r>
              <a:rPr lang="ru-RU" sz="1200" b="0" i="0" kern="1200" dirty="0">
                <a:solidFill>
                  <a:schemeClr val="tx1"/>
                </a:solidFill>
                <a:latin typeface="Arial" charset="0"/>
                <a:ea typeface="+mn-ea"/>
                <a:cs typeface="Arial" charset="0"/>
              </a:rPr>
              <a:t>А для систем операционной обработки данных время жизни данных — от нескольких дней до нескольких месяцев. Затем данные архивируются в случае необходимости.</a:t>
            </a:r>
          </a:p>
          <a:p>
            <a:r>
              <a:rPr lang="ru-RU" sz="1200" b="0" i="0" kern="1200" dirty="0">
                <a:solidFill>
                  <a:schemeClr val="tx1"/>
                </a:solidFill>
                <a:latin typeface="Arial" charset="0"/>
                <a:ea typeface="+mn-ea"/>
                <a:cs typeface="Arial" charset="0"/>
              </a:rPr>
              <a:t>Таким образом, временной горизонт данных в ХД гораздо больше, и это обстоятельство изменяет коренным образом некоторые принципы управления данными. </a:t>
            </a:r>
          </a:p>
          <a:p>
            <a:r>
              <a:rPr lang="ru-RU" sz="1200" b="0" i="0" kern="1200" dirty="0">
                <a:solidFill>
                  <a:schemeClr val="tx1"/>
                </a:solidFill>
                <a:latin typeface="Arial" charset="0"/>
                <a:ea typeface="+mn-ea"/>
                <a:cs typeface="Arial" charset="0"/>
              </a:rPr>
              <a:t>Например, в </a:t>
            </a:r>
            <a:r>
              <a:rPr lang="ru-RU" sz="1200" b="0" i="1" kern="1200" dirty="0">
                <a:solidFill>
                  <a:schemeClr val="tx1"/>
                </a:solidFill>
                <a:latin typeface="Arial" charset="0"/>
                <a:ea typeface="+mn-ea"/>
                <a:cs typeface="Arial" charset="0"/>
              </a:rPr>
              <a:t>системах операционной обработки данных</a:t>
            </a:r>
            <a:r>
              <a:rPr lang="ru-RU" sz="1200" b="0" i="0" kern="1200" dirty="0">
                <a:solidFill>
                  <a:schemeClr val="tx1"/>
                </a:solidFill>
                <a:latin typeface="Arial" charset="0"/>
                <a:ea typeface="+mn-ea"/>
                <a:cs typeface="Arial" charset="0"/>
              </a:rPr>
              <a:t> </a:t>
            </a:r>
            <a:r>
              <a:rPr lang="ru-RU" sz="1200" b="1" i="0" kern="1200" dirty="0">
                <a:solidFill>
                  <a:schemeClr val="tx1"/>
                </a:solidFill>
                <a:latin typeface="Arial" charset="0"/>
                <a:ea typeface="+mn-ea"/>
                <a:cs typeface="Arial" charset="0"/>
              </a:rPr>
              <a:t>в одно и то же время </a:t>
            </a:r>
            <a:r>
              <a:rPr lang="ru-RU" sz="1200" b="0" i="0" kern="1200" dirty="0">
                <a:solidFill>
                  <a:schemeClr val="tx1"/>
                </a:solidFill>
                <a:latin typeface="Arial" charset="0"/>
                <a:ea typeface="+mn-ea"/>
                <a:cs typeface="Arial" charset="0"/>
              </a:rPr>
              <a:t>существует только одно корректное </a:t>
            </a:r>
            <a:r>
              <a:rPr lang="ru-RU" sz="1200" b="0" i="1" kern="1200" dirty="0">
                <a:solidFill>
                  <a:schemeClr val="tx1"/>
                </a:solidFill>
                <a:latin typeface="Arial" charset="0"/>
                <a:ea typeface="+mn-ea"/>
                <a:cs typeface="Arial" charset="0"/>
              </a:rPr>
              <a:t>определение</a:t>
            </a:r>
            <a:r>
              <a:rPr lang="ru-RU" sz="1200" b="0" i="0" kern="1200" dirty="0">
                <a:solidFill>
                  <a:schemeClr val="tx1"/>
                </a:solidFill>
                <a:latin typeface="Arial" charset="0"/>
                <a:ea typeface="+mn-ea"/>
                <a:cs typeface="Arial" charset="0"/>
              </a:rPr>
              <a:t> данных. Для ХД это не так.</a:t>
            </a:r>
          </a:p>
          <a:p>
            <a:r>
              <a:rPr lang="ru-RU" sz="1200" b="0" i="1" kern="1200" dirty="0">
                <a:solidFill>
                  <a:schemeClr val="tx1"/>
                </a:solidFill>
                <a:latin typeface="Arial" charset="0"/>
                <a:ea typeface="+mn-ea"/>
                <a:cs typeface="Arial" charset="0"/>
              </a:rPr>
              <a:t>Структура данных</a:t>
            </a:r>
            <a:r>
              <a:rPr lang="ru-RU" sz="1200" b="0" i="0" kern="1200" dirty="0">
                <a:solidFill>
                  <a:schemeClr val="tx1"/>
                </a:solidFill>
                <a:latin typeface="Arial" charset="0"/>
                <a:ea typeface="+mn-ea"/>
                <a:cs typeface="Arial" charset="0"/>
              </a:rPr>
              <a:t> (схема или </a:t>
            </a:r>
            <a:r>
              <a:rPr lang="ru-RU" sz="1200" b="0" i="1" kern="1200" dirty="0">
                <a:solidFill>
                  <a:schemeClr val="tx1"/>
                </a:solidFill>
                <a:latin typeface="Arial" charset="0"/>
                <a:ea typeface="+mn-ea"/>
                <a:cs typeface="Arial" charset="0"/>
              </a:rPr>
              <a:t>модель данных</a:t>
            </a:r>
            <a:r>
              <a:rPr lang="ru-RU" sz="1200" b="0" i="0" kern="1200" dirty="0">
                <a:solidFill>
                  <a:schemeClr val="tx1"/>
                </a:solidFill>
                <a:latin typeface="Arial" charset="0"/>
                <a:ea typeface="+mn-ea"/>
                <a:cs typeface="Arial" charset="0"/>
              </a:rPr>
              <a:t>) в </a:t>
            </a:r>
            <a:r>
              <a:rPr lang="ru-RU" sz="1200" b="0" i="1" kern="1200" dirty="0">
                <a:solidFill>
                  <a:schemeClr val="tx1"/>
                </a:solidFill>
                <a:latin typeface="Arial" charset="0"/>
                <a:ea typeface="+mn-ea"/>
                <a:cs typeface="Arial" charset="0"/>
              </a:rPr>
              <a:t>системах операционной обработки данных</a:t>
            </a:r>
            <a:r>
              <a:rPr lang="ru-RU" sz="1200" b="0" i="0" kern="1200" dirty="0">
                <a:solidFill>
                  <a:schemeClr val="tx1"/>
                </a:solidFill>
                <a:latin typeface="Arial" charset="0"/>
                <a:ea typeface="+mn-ea"/>
                <a:cs typeface="Arial" charset="0"/>
              </a:rPr>
              <a:t> меняется во времени, т.е. данные в таких системах в разное время имеют различные формы представления. Хронология таких изменений должна быть зафиксирована в ХД.</a:t>
            </a:r>
          </a:p>
          <a:p>
            <a:r>
              <a:rPr lang="ru-RU" sz="1200" b="0" i="0" kern="1200" dirty="0">
                <a:solidFill>
                  <a:schemeClr val="tx1"/>
                </a:solidFill>
                <a:latin typeface="Arial" charset="0"/>
                <a:ea typeface="+mn-ea"/>
                <a:cs typeface="Arial" charset="0"/>
              </a:rPr>
              <a:t>Таким образом, в ХД одновременно может существовать несколько схем данных, отвечающих различным периодам эволюции источников данных. </a:t>
            </a:r>
          </a:p>
          <a:p>
            <a:r>
              <a:rPr lang="ru-RU" sz="1200" b="0" i="1" kern="1200" dirty="0">
                <a:solidFill>
                  <a:schemeClr val="tx1"/>
                </a:solidFill>
                <a:latin typeface="Arial" charset="0"/>
                <a:ea typeface="+mn-ea"/>
                <a:cs typeface="Arial" charset="0"/>
              </a:rPr>
              <a:t>Запись</a:t>
            </a:r>
            <a:r>
              <a:rPr lang="ru-RU" sz="1200" b="0" i="0" kern="1200" dirty="0">
                <a:solidFill>
                  <a:schemeClr val="tx1"/>
                </a:solidFill>
                <a:latin typeface="Arial" charset="0"/>
                <a:ea typeface="+mn-ea"/>
                <a:cs typeface="Arial" charset="0"/>
              </a:rPr>
              <a:t> о таких структурных изменениях сохраняется в </a:t>
            </a:r>
            <a:r>
              <a:rPr lang="ru-RU" sz="1200" b="0" i="1" kern="1200" dirty="0">
                <a:solidFill>
                  <a:schemeClr val="tx1"/>
                </a:solidFill>
                <a:latin typeface="Arial" charset="0"/>
                <a:ea typeface="+mn-ea"/>
                <a:cs typeface="Arial" charset="0"/>
              </a:rPr>
              <a:t>метаданных</a:t>
            </a:r>
            <a:r>
              <a:rPr lang="ru-RU" sz="1200" b="0" i="0" kern="1200" dirty="0">
                <a:solidFill>
                  <a:schemeClr val="tx1"/>
                </a:solidFill>
                <a:latin typeface="Arial" charset="0"/>
                <a:ea typeface="+mn-ea"/>
                <a:cs typeface="Arial" charset="0"/>
              </a:rPr>
              <a:t> ХД. На основании записей аналитики получают ответы на вопросы, какими данными и за какие периоды они располагают.</a:t>
            </a:r>
          </a:p>
          <a:p>
            <a:r>
              <a:rPr lang="ru-RU" sz="1200" b="1" i="0" kern="1200" dirty="0">
                <a:solidFill>
                  <a:schemeClr val="tx1"/>
                </a:solidFill>
                <a:latin typeface="Arial" charset="0"/>
                <a:ea typeface="+mn-ea"/>
                <a:cs typeface="Arial" charset="0"/>
              </a:rPr>
              <a:t>Третья, и немаловажная, </a:t>
            </a:r>
            <a:r>
              <a:rPr lang="ru-RU" sz="1200" b="1" i="1" kern="1200" dirty="0">
                <a:solidFill>
                  <a:schemeClr val="tx1"/>
                </a:solidFill>
                <a:latin typeface="Arial" charset="0"/>
                <a:ea typeface="+mn-ea"/>
                <a:cs typeface="Arial" charset="0"/>
              </a:rPr>
              <a:t>функция метаданных</a:t>
            </a:r>
            <a:r>
              <a:rPr lang="ru-RU" sz="1200" b="1" i="0" kern="1200" dirty="0">
                <a:solidFill>
                  <a:schemeClr val="tx1"/>
                </a:solidFill>
                <a:latin typeface="Arial" charset="0"/>
                <a:ea typeface="+mn-ea"/>
                <a:cs typeface="Arial" charset="0"/>
              </a:rPr>
              <a:t> в ХД — это </a:t>
            </a:r>
            <a:r>
              <a:rPr lang="ru-RU" sz="1200" b="1" i="1" kern="1200" dirty="0">
                <a:solidFill>
                  <a:schemeClr val="tx1"/>
                </a:solidFill>
                <a:latin typeface="Arial" charset="0"/>
                <a:ea typeface="+mn-ea"/>
                <a:cs typeface="Arial" charset="0"/>
              </a:rPr>
              <a:t>поддержка версионности</a:t>
            </a:r>
            <a:r>
              <a:rPr lang="ru-RU" sz="1200" b="1" i="0" kern="1200" dirty="0">
                <a:solidFill>
                  <a:schemeClr val="tx1"/>
                </a:solidFill>
                <a:latin typeface="Arial" charset="0"/>
                <a:ea typeface="+mn-ea"/>
                <a:cs typeface="Arial" charset="0"/>
              </a:rPr>
              <a:t>.</a:t>
            </a:r>
            <a:r>
              <a:rPr lang="ru-RU" sz="1200" b="0" i="0" kern="1200" dirty="0">
                <a:solidFill>
                  <a:schemeClr val="tx1"/>
                </a:solidFill>
                <a:latin typeface="Arial" charset="0"/>
                <a:ea typeface="+mn-ea"/>
                <a:cs typeface="Arial" charset="0"/>
              </a:rPr>
              <a:t> </a:t>
            </a:r>
          </a:p>
          <a:p>
            <a:r>
              <a:rPr lang="ru-RU" sz="1200" b="0" i="0" kern="1200" dirty="0">
                <a:solidFill>
                  <a:schemeClr val="tx1"/>
                </a:solidFill>
                <a:latin typeface="Arial" charset="0"/>
                <a:ea typeface="+mn-ea"/>
                <a:cs typeface="Arial" charset="0"/>
              </a:rPr>
              <a:t>Эта </a:t>
            </a:r>
            <a:r>
              <a:rPr lang="ru-RU" sz="1200" b="0" i="1" kern="1200" dirty="0">
                <a:solidFill>
                  <a:schemeClr val="tx1"/>
                </a:solidFill>
                <a:latin typeface="Arial" charset="0"/>
                <a:ea typeface="+mn-ea"/>
                <a:cs typeface="Arial" charset="0"/>
              </a:rPr>
              <a:t>функция</a:t>
            </a:r>
            <a:r>
              <a:rPr lang="ru-RU" sz="1200" b="0" i="0" kern="1200" dirty="0">
                <a:solidFill>
                  <a:schemeClr val="tx1"/>
                </a:solidFill>
                <a:latin typeface="Arial" charset="0"/>
                <a:ea typeface="+mn-ea"/>
                <a:cs typeface="Arial" charset="0"/>
              </a:rPr>
              <a:t> тесно связана с управлением данными с большим временным горизонтом. </a:t>
            </a:r>
          </a:p>
          <a:p>
            <a:r>
              <a:rPr lang="ru-RU" sz="1200" b="0" i="1" kern="1200" dirty="0">
                <a:solidFill>
                  <a:schemeClr val="tx1"/>
                </a:solidFill>
                <a:latin typeface="Arial" charset="0"/>
                <a:ea typeface="+mn-ea"/>
                <a:cs typeface="Arial" charset="0"/>
              </a:rPr>
              <a:t>Метаданные</a:t>
            </a:r>
            <a:r>
              <a:rPr lang="ru-RU" sz="1200" b="0" i="0" kern="1200" dirty="0">
                <a:solidFill>
                  <a:schemeClr val="tx1"/>
                </a:solidFill>
                <a:latin typeface="Arial" charset="0"/>
                <a:ea typeface="+mn-ea"/>
                <a:cs typeface="Arial" charset="0"/>
              </a:rPr>
              <a:t> должны отражать изменения внутренней структуры данных источников и, следовательно, должны сами изменяться, для того чтобы обеспечить непрерывность истории изменения структуры данных ХД.</a:t>
            </a:r>
          </a:p>
          <a:p>
            <a:r>
              <a:rPr lang="ru-RU" sz="1200" b="0" i="0" kern="1200" dirty="0">
                <a:solidFill>
                  <a:schemeClr val="tx1"/>
                </a:solidFill>
                <a:latin typeface="Arial" charset="0"/>
                <a:ea typeface="+mn-ea"/>
                <a:cs typeface="Arial" charset="0"/>
              </a:rPr>
              <a:t>Таким образом, </a:t>
            </a:r>
            <a:r>
              <a:rPr lang="ru-RU" sz="1200" b="0" i="1" kern="1200" dirty="0">
                <a:solidFill>
                  <a:schemeClr val="tx1"/>
                </a:solidFill>
                <a:latin typeface="Arial" charset="0"/>
                <a:ea typeface="+mn-ea"/>
                <a:cs typeface="Arial" charset="0"/>
              </a:rPr>
              <a:t>поддержка</a:t>
            </a:r>
            <a:r>
              <a:rPr lang="ru-RU" sz="1200" b="0" i="0" kern="1200" dirty="0">
                <a:solidFill>
                  <a:schemeClr val="tx1"/>
                </a:solidFill>
                <a:latin typeface="Arial" charset="0"/>
                <a:ea typeface="+mn-ea"/>
                <a:cs typeface="Arial" charset="0"/>
              </a:rPr>
              <a:t> версионности </a:t>
            </a:r>
            <a:r>
              <a:rPr lang="ru-RU" sz="1200" b="0" i="1" kern="1200" dirty="0">
                <a:solidFill>
                  <a:schemeClr val="tx1"/>
                </a:solidFill>
                <a:latin typeface="Arial" charset="0"/>
                <a:ea typeface="+mn-ea"/>
                <a:cs typeface="Arial" charset="0"/>
              </a:rPr>
              <a:t>метаданных</a:t>
            </a:r>
            <a:r>
              <a:rPr lang="ru-RU" sz="1200" b="0" i="0" kern="1200" dirty="0">
                <a:solidFill>
                  <a:schemeClr val="tx1"/>
                </a:solidFill>
                <a:latin typeface="Arial" charset="0"/>
                <a:ea typeface="+mn-ea"/>
                <a:cs typeface="Arial" charset="0"/>
              </a:rPr>
              <a:t> позволяет в каждый момент времени в прошлом обеспечить правильное описание модели данных, а аналитики получают возможность знать, какие данные, когда и как попали в ХД.</a:t>
            </a:r>
          </a:p>
          <a:p>
            <a:r>
              <a:rPr lang="ru-RU" sz="1200" b="1" i="0" kern="1200" dirty="0">
                <a:solidFill>
                  <a:schemeClr val="tx1"/>
                </a:solidFill>
                <a:latin typeface="Arial" charset="0"/>
                <a:ea typeface="+mn-ea"/>
                <a:cs typeface="Arial" charset="0"/>
              </a:rPr>
              <a:t>Четвертая основная </a:t>
            </a:r>
            <a:r>
              <a:rPr lang="ru-RU" sz="1200" b="1" i="1" kern="1200" dirty="0">
                <a:solidFill>
                  <a:schemeClr val="tx1"/>
                </a:solidFill>
                <a:latin typeface="Arial" charset="0"/>
                <a:ea typeface="+mn-ea"/>
                <a:cs typeface="Arial" charset="0"/>
              </a:rPr>
              <a:t>функция метаданных</a:t>
            </a:r>
            <a:r>
              <a:rPr lang="ru-RU" sz="1200" b="1" i="0" kern="1200" dirty="0">
                <a:solidFill>
                  <a:schemeClr val="tx1"/>
                </a:solidFill>
                <a:latin typeface="Arial" charset="0"/>
                <a:ea typeface="+mn-ea"/>
                <a:cs typeface="Arial" charset="0"/>
              </a:rPr>
              <a:t> в ХД — это </a:t>
            </a:r>
            <a:r>
              <a:rPr lang="ru-RU" sz="1200" b="1" i="1" kern="1200" dirty="0">
                <a:solidFill>
                  <a:schemeClr val="tx1"/>
                </a:solidFill>
                <a:latin typeface="Arial" charset="0"/>
                <a:ea typeface="+mn-ea"/>
                <a:cs typeface="Arial" charset="0"/>
              </a:rPr>
              <a:t>интерпретация данных в терминах бизнес-пользователей</a:t>
            </a:r>
            <a:r>
              <a:rPr lang="ru-RU" sz="1200" b="0" i="0" kern="1200" dirty="0">
                <a:solidFill>
                  <a:schemeClr val="tx1"/>
                </a:solidFill>
                <a:latin typeface="Arial" charset="0"/>
                <a:ea typeface="+mn-ea"/>
                <a:cs typeface="Arial" charset="0"/>
              </a:rPr>
              <a:t>. </a:t>
            </a:r>
          </a:p>
          <a:p>
            <a:r>
              <a:rPr lang="ru-RU" sz="1200" b="0" i="1" kern="1200" dirty="0">
                <a:solidFill>
                  <a:schemeClr val="tx1"/>
                </a:solidFill>
                <a:latin typeface="Arial" charset="0"/>
                <a:ea typeface="+mn-ea"/>
                <a:cs typeface="Arial" charset="0"/>
              </a:rPr>
              <a:t>Метаданные </a:t>
            </a:r>
            <a:r>
              <a:rPr lang="ru-RU" sz="1200" b="0" i="0" kern="1200" dirty="0">
                <a:solidFill>
                  <a:schemeClr val="tx1"/>
                </a:solidFill>
                <a:latin typeface="Arial" charset="0"/>
                <a:ea typeface="+mn-ea"/>
                <a:cs typeface="Arial" charset="0"/>
              </a:rPr>
              <a:t>должны поддерживать в запросах понятную для пользователя терминологию, независимо от того, какие правила наименования атрибутов были использованы проектировщиком ХД.</a:t>
            </a:r>
          </a:p>
          <a:p>
            <a:r>
              <a:rPr lang="ru-RU" sz="1200" b="1" i="0" kern="1200" dirty="0">
                <a:solidFill>
                  <a:schemeClr val="tx1"/>
                </a:solidFill>
                <a:latin typeface="Arial" charset="0"/>
                <a:ea typeface="+mn-ea"/>
                <a:cs typeface="Arial" charset="0"/>
              </a:rPr>
              <a:t>Пятая основная </a:t>
            </a:r>
            <a:r>
              <a:rPr lang="ru-RU" sz="1200" b="1" i="1" kern="1200" dirty="0">
                <a:solidFill>
                  <a:schemeClr val="tx1"/>
                </a:solidFill>
                <a:latin typeface="Arial" charset="0"/>
                <a:ea typeface="+mn-ea"/>
                <a:cs typeface="Arial" charset="0"/>
              </a:rPr>
              <a:t>функция метаданных</a:t>
            </a:r>
            <a:r>
              <a:rPr lang="ru-RU" sz="1200" b="1" i="0" kern="1200" dirty="0">
                <a:solidFill>
                  <a:schemeClr val="tx1"/>
                </a:solidFill>
                <a:latin typeface="Arial" charset="0"/>
                <a:ea typeface="+mn-ea"/>
                <a:cs typeface="Arial" charset="0"/>
              </a:rPr>
              <a:t> — </a:t>
            </a:r>
            <a:r>
              <a:rPr lang="ru-RU" sz="1200" b="1" i="1" kern="1200" dirty="0">
                <a:solidFill>
                  <a:schemeClr val="tx1"/>
                </a:solidFill>
                <a:latin typeface="Arial" charset="0"/>
                <a:ea typeface="+mn-ea"/>
                <a:cs typeface="Arial" charset="0"/>
              </a:rPr>
              <a:t>обеспечение открытости</a:t>
            </a:r>
            <a:r>
              <a:rPr lang="ru-RU" sz="1200" b="0" i="0" kern="1200" dirty="0">
                <a:solidFill>
                  <a:schemeClr val="tx1"/>
                </a:solidFill>
                <a:latin typeface="Arial" charset="0"/>
                <a:ea typeface="+mn-ea"/>
                <a:cs typeface="Arial" charset="0"/>
              </a:rPr>
              <a:t> (доступности другим информационным системам) </a:t>
            </a:r>
            <a:r>
              <a:rPr lang="ru-RU" sz="1200" b="0" i="1" kern="1200" dirty="0">
                <a:solidFill>
                  <a:schemeClr val="tx1"/>
                </a:solidFill>
                <a:latin typeface="Arial" charset="0"/>
                <a:ea typeface="+mn-ea"/>
                <a:cs typeface="Arial" charset="0"/>
              </a:rPr>
              <a:t>системы складирования данных для ее интеграции с другими аналитическими системами организации</a:t>
            </a:r>
            <a:r>
              <a:rPr lang="ru-RU" sz="1200" b="0" i="0" kern="1200" dirty="0">
                <a:solidFill>
                  <a:schemeClr val="tx1"/>
                </a:solidFill>
                <a:latin typeface="Arial" charset="0"/>
                <a:ea typeface="+mn-ea"/>
                <a:cs typeface="Arial" charset="0"/>
              </a:rPr>
              <a:t>. </a:t>
            </a:r>
            <a:r>
              <a:rPr lang="ru-RU" sz="1200" b="0" i="1" kern="1200" dirty="0">
                <a:solidFill>
                  <a:schemeClr val="tx1"/>
                </a:solidFill>
                <a:latin typeface="Arial" charset="0"/>
                <a:ea typeface="+mn-ea"/>
                <a:cs typeface="Arial" charset="0"/>
              </a:rPr>
              <a:t>Опрос</a:t>
            </a:r>
            <a:r>
              <a:rPr lang="ru-RU" sz="1200" b="0" i="0" kern="1200" dirty="0">
                <a:solidFill>
                  <a:schemeClr val="tx1"/>
                </a:solidFill>
                <a:latin typeface="Arial" charset="0"/>
                <a:ea typeface="+mn-ea"/>
                <a:cs typeface="Arial" charset="0"/>
              </a:rPr>
              <a:t> </a:t>
            </a:r>
            <a:r>
              <a:rPr lang="ru-RU" sz="1200" b="0" i="1" kern="1200" dirty="0">
                <a:solidFill>
                  <a:schemeClr val="tx1"/>
                </a:solidFill>
                <a:latin typeface="Arial" charset="0"/>
                <a:ea typeface="+mn-ea"/>
                <a:cs typeface="Arial" charset="0"/>
              </a:rPr>
              <a:t>метаданных</a:t>
            </a:r>
            <a:r>
              <a:rPr lang="ru-RU" sz="1200" b="0" i="0" kern="1200" dirty="0">
                <a:solidFill>
                  <a:schemeClr val="tx1"/>
                </a:solidFill>
                <a:latin typeface="Arial" charset="0"/>
                <a:ea typeface="+mn-ea"/>
                <a:cs typeface="Arial" charset="0"/>
              </a:rPr>
              <a:t> ХД другой системой позволяет последней выяснить структуру данных ХД и поддерживать </a:t>
            </a:r>
            <a:r>
              <a:rPr lang="ru-RU" sz="1200" b="0" i="1" kern="1200" dirty="0">
                <a:solidFill>
                  <a:schemeClr val="tx1"/>
                </a:solidFill>
                <a:latin typeface="Arial" charset="0"/>
                <a:ea typeface="+mn-ea"/>
                <a:cs typeface="Arial" charset="0"/>
              </a:rPr>
              <a:t>обмен данными</a:t>
            </a:r>
            <a:r>
              <a:rPr lang="ru-RU" sz="1200" b="0" i="0" kern="1200" dirty="0">
                <a:solidFill>
                  <a:schemeClr val="tx1"/>
                </a:solidFill>
                <a:latin typeface="Arial" charset="0"/>
                <a:ea typeface="+mn-ea"/>
                <a:cs typeface="Arial" charset="0"/>
              </a:rPr>
              <a:t> между системами.</a:t>
            </a:r>
          </a:p>
          <a:p>
            <a:br>
              <a:rPr lang="ru-RU" sz="1200" b="0" i="0" kern="1200" dirty="0">
                <a:solidFill>
                  <a:schemeClr val="tx1"/>
                </a:solidFill>
                <a:latin typeface="Arial" charset="0"/>
                <a:ea typeface="+mn-ea"/>
                <a:cs typeface="Arial" charset="0"/>
              </a:rPr>
            </a:br>
            <a:r>
              <a:rPr lang="ru-RU" sz="1200" b="1" i="0" kern="1200" dirty="0" err="1">
                <a:solidFill>
                  <a:schemeClr val="tx1"/>
                </a:solidFill>
                <a:latin typeface="Arial" charset="0"/>
                <a:ea typeface="+mn-ea"/>
                <a:cs typeface="Arial" charset="0"/>
              </a:rPr>
              <a:t>Cтандарт</a:t>
            </a:r>
            <a:r>
              <a:rPr lang="ru-RU" sz="1200" b="1" i="0" kern="1200" dirty="0">
                <a:solidFill>
                  <a:schemeClr val="tx1"/>
                </a:solidFill>
                <a:latin typeface="Arial" charset="0"/>
                <a:ea typeface="+mn-ea"/>
                <a:cs typeface="Arial" charset="0"/>
              </a:rPr>
              <a:t> обмена метаданными </a:t>
            </a:r>
            <a:r>
              <a:rPr lang="ru-RU" sz="1200" b="0" i="0" kern="1200" dirty="0">
                <a:solidFill>
                  <a:schemeClr val="tx1"/>
                </a:solidFill>
                <a:latin typeface="Arial" charset="0"/>
                <a:ea typeface="+mn-ea"/>
                <a:cs typeface="Arial" charset="0"/>
              </a:rPr>
              <a:t>между различными инструментальными средствами разработки, приложениями и </a:t>
            </a:r>
            <a:r>
              <a:rPr lang="ru-RU" sz="1200" b="0" i="0" kern="1200" dirty="0" err="1">
                <a:solidFill>
                  <a:schemeClr val="tx1"/>
                </a:solidFill>
                <a:latin typeface="Arial" charset="0"/>
                <a:ea typeface="+mn-ea"/>
                <a:cs typeface="Arial" charset="0"/>
              </a:rPr>
              <a:t>репозиториями</a:t>
            </a:r>
            <a:r>
              <a:rPr lang="ru-RU" sz="1200" b="0" i="0" kern="1200" dirty="0">
                <a:solidFill>
                  <a:schemeClr val="tx1"/>
                </a:solidFill>
                <a:latin typeface="Arial" charset="0"/>
                <a:ea typeface="+mn-ea"/>
                <a:cs typeface="Arial" charset="0"/>
              </a:rPr>
              <a:t> метаданных, разработанный консорциумом MDC. Действующая версия этого стандарта - MDIS 1.1 - принята в августе 1997 года. </a:t>
            </a:r>
          </a:p>
          <a:p>
            <a:r>
              <a:rPr lang="ru-RU" sz="1200" b="0" i="0" kern="1200" dirty="0">
                <a:solidFill>
                  <a:schemeClr val="tx1"/>
                </a:solidFill>
                <a:latin typeface="Arial" charset="0"/>
                <a:ea typeface="+mn-ea"/>
                <a:cs typeface="Arial" charset="0"/>
              </a:rPr>
              <a:t>Позднее консорциум разработал более совершенную технологию и представил ее в стандарте OIM [http://www.osp.ru/cio/2002/03/025.htm].</a:t>
            </a:r>
          </a:p>
          <a:p>
            <a:pPr>
              <a:lnSpc>
                <a:spcPct val="90000"/>
              </a:lnSpc>
            </a:pPr>
            <a:endParaRPr lang="ru-RU"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736776-38A3-4248-A465-29A13CE7B969}" type="slidenum">
              <a:rPr lang="ru-RU"/>
              <a:pPr/>
              <a:t>28</a:t>
            </a:fld>
            <a:endParaRPr lang="ru-RU" dirty="0"/>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pPr>
              <a:lnSpc>
                <a:spcPct val="90000"/>
              </a:lnSpc>
            </a:pPr>
            <a:r>
              <a:rPr lang="en-US" dirty="0"/>
              <a:t>http://repository.utm.md/bitstream/handle/5014/237/Conf_UTM_2017_I_pg254-258.pdf?sequence=1&amp;isAllowed=y</a:t>
            </a:r>
            <a:r>
              <a:rPr lang="ru-RU" dirty="0"/>
              <a:t> </a:t>
            </a:r>
          </a:p>
        </p:txBody>
      </p:sp>
    </p:spTree>
    <p:extLst>
      <p:ext uri="{BB962C8B-B14F-4D97-AF65-F5344CB8AC3E}">
        <p14:creationId xmlns:p14="http://schemas.microsoft.com/office/powerpoint/2010/main" val="29908091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736776-38A3-4248-A465-29A13CE7B969}" type="slidenum">
              <a:rPr lang="ru-RU"/>
              <a:pPr/>
              <a:t>29</a:t>
            </a:fld>
            <a:endParaRPr lang="ru-RU" dirty="0"/>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r>
              <a:rPr lang="ru-RU" sz="1200" b="1" i="0" kern="1200" dirty="0">
                <a:solidFill>
                  <a:schemeClr val="tx1"/>
                </a:solidFill>
                <a:latin typeface="Arial" charset="0"/>
                <a:ea typeface="+mn-ea"/>
                <a:cs typeface="Arial" charset="0"/>
              </a:rPr>
              <a:t>Функции метаданных в хранилище данных</a:t>
            </a:r>
          </a:p>
          <a:p>
            <a:r>
              <a:rPr lang="ru-RU" sz="1200" b="0" i="0" kern="1200" dirty="0">
                <a:solidFill>
                  <a:schemeClr val="tx1"/>
                </a:solidFill>
                <a:latin typeface="Arial" charset="0"/>
                <a:ea typeface="+mn-ea"/>
                <a:cs typeface="Arial" charset="0"/>
              </a:rPr>
              <a:t>Роль </a:t>
            </a:r>
            <a:r>
              <a:rPr lang="ru-RU" sz="1200" b="0" i="1" kern="1200" dirty="0">
                <a:solidFill>
                  <a:schemeClr val="tx1"/>
                </a:solidFill>
                <a:latin typeface="Arial" charset="0"/>
                <a:ea typeface="+mn-ea"/>
                <a:cs typeface="Arial" charset="0"/>
              </a:rPr>
              <a:t>метаданных</a:t>
            </a:r>
            <a:r>
              <a:rPr lang="ru-RU" sz="1200" b="0" i="0" kern="1200" dirty="0">
                <a:solidFill>
                  <a:schemeClr val="tx1"/>
                </a:solidFill>
                <a:latin typeface="Arial" charset="0"/>
                <a:ea typeface="+mn-ea"/>
                <a:cs typeface="Arial" charset="0"/>
              </a:rPr>
              <a:t> для ХД значительно важнее, чем в </a:t>
            </a:r>
            <a:r>
              <a:rPr lang="ru-RU" sz="1200" b="0" i="1" kern="1200" dirty="0">
                <a:solidFill>
                  <a:schemeClr val="tx1"/>
                </a:solidFill>
                <a:latin typeface="Arial" charset="0"/>
                <a:ea typeface="+mn-ea"/>
                <a:cs typeface="Arial" charset="0"/>
              </a:rPr>
              <a:t>системах операционной обработки данных</a:t>
            </a:r>
            <a:r>
              <a:rPr lang="ru-RU" sz="1200" b="0" i="0" kern="1200" dirty="0">
                <a:solidFill>
                  <a:schemeClr val="tx1"/>
                </a:solidFill>
                <a:latin typeface="Arial" charset="0"/>
                <a:ea typeface="+mn-ea"/>
                <a:cs typeface="Arial" charset="0"/>
              </a:rPr>
              <a:t>. </a:t>
            </a:r>
          </a:p>
          <a:p>
            <a:r>
              <a:rPr lang="ru-RU" sz="1200" b="0" i="0" kern="1200" dirty="0">
                <a:solidFill>
                  <a:schemeClr val="tx1"/>
                </a:solidFill>
                <a:latin typeface="Arial" charset="0"/>
                <a:ea typeface="+mn-ea"/>
                <a:cs typeface="Arial" charset="0"/>
              </a:rPr>
              <a:t>Если в </a:t>
            </a:r>
            <a:r>
              <a:rPr lang="ru-RU" sz="1200" b="0" i="1" kern="1200" dirty="0">
                <a:solidFill>
                  <a:schemeClr val="tx1"/>
                </a:solidFill>
                <a:latin typeface="Arial" charset="0"/>
                <a:ea typeface="+mn-ea"/>
                <a:cs typeface="Arial" charset="0"/>
              </a:rPr>
              <a:t>системах операционной обработки данных</a:t>
            </a:r>
            <a:r>
              <a:rPr lang="ru-RU" sz="1200" b="0" i="0" kern="1200" dirty="0">
                <a:solidFill>
                  <a:schemeClr val="tx1"/>
                </a:solidFill>
                <a:latin typeface="Arial" charset="0"/>
                <a:ea typeface="+mn-ea"/>
                <a:cs typeface="Arial" charset="0"/>
              </a:rPr>
              <a:t> </a:t>
            </a:r>
            <a:r>
              <a:rPr lang="ru-RU" sz="1200" b="0" i="1" kern="1200" dirty="0">
                <a:solidFill>
                  <a:schemeClr val="tx1"/>
                </a:solidFill>
                <a:latin typeface="Arial" charset="0"/>
                <a:ea typeface="+mn-ea"/>
                <a:cs typeface="Arial" charset="0"/>
              </a:rPr>
              <a:t>интерфейс</a:t>
            </a:r>
            <a:r>
              <a:rPr lang="ru-RU" sz="1200" b="0" i="0" kern="1200" dirty="0">
                <a:solidFill>
                  <a:schemeClr val="tx1"/>
                </a:solidFill>
                <a:latin typeface="Arial" charset="0"/>
                <a:ea typeface="+mn-ea"/>
                <a:cs typeface="Arial" charset="0"/>
              </a:rPr>
              <a:t> системы настроен на </a:t>
            </a:r>
            <a:r>
              <a:rPr lang="ru-RU" sz="1200" b="0" i="0" kern="1200" dirty="0" err="1">
                <a:solidFill>
                  <a:schemeClr val="tx1"/>
                </a:solidFill>
                <a:latin typeface="Arial" charset="0"/>
                <a:ea typeface="+mn-ea"/>
                <a:cs typeface="Arial" charset="0"/>
              </a:rPr>
              <a:t>бизнес-процедуры</a:t>
            </a:r>
            <a:r>
              <a:rPr lang="ru-RU" sz="1200" b="0" i="0" kern="1200" dirty="0">
                <a:solidFill>
                  <a:schemeClr val="tx1"/>
                </a:solidFill>
                <a:latin typeface="Arial" charset="0"/>
                <a:ea typeface="+mn-ea"/>
                <a:cs typeface="Arial" charset="0"/>
              </a:rPr>
              <a:t> обработки данных </a:t>
            </a:r>
            <a:r>
              <a:rPr lang="ru-RU" sz="1200" b="1" i="1" kern="1200" dirty="0">
                <a:solidFill>
                  <a:schemeClr val="tx1"/>
                </a:solidFill>
                <a:latin typeface="Arial" charset="0"/>
                <a:ea typeface="+mn-ea"/>
                <a:cs typeface="Arial" charset="0"/>
              </a:rPr>
              <a:t>конкретными специалистами </a:t>
            </a:r>
            <a:r>
              <a:rPr lang="ru-RU" sz="1200" b="0" i="0" kern="1200" dirty="0">
                <a:solidFill>
                  <a:schemeClr val="tx1"/>
                </a:solidFill>
                <a:latin typeface="Arial" charset="0"/>
                <a:ea typeface="+mn-ea"/>
                <a:cs typeface="Arial" charset="0"/>
              </a:rPr>
              <a:t>и понятен им после специального обучения, то </a:t>
            </a:r>
            <a:r>
              <a:rPr lang="ru-RU" sz="1200" b="0" i="1" kern="1200" dirty="0">
                <a:solidFill>
                  <a:schemeClr val="tx1"/>
                </a:solidFill>
                <a:latin typeface="Arial" charset="0"/>
                <a:ea typeface="+mn-ea"/>
                <a:cs typeface="Arial" charset="0"/>
              </a:rPr>
              <a:t>интерфейс</a:t>
            </a:r>
            <a:r>
              <a:rPr lang="ru-RU" sz="1200" b="0" i="0" kern="1200" dirty="0">
                <a:solidFill>
                  <a:schemeClr val="tx1"/>
                </a:solidFill>
                <a:latin typeface="Arial" charset="0"/>
                <a:ea typeface="+mn-ea"/>
                <a:cs typeface="Arial" charset="0"/>
              </a:rPr>
              <a:t> систем складирования данных конструируется таким образом, </a:t>
            </a:r>
          </a:p>
          <a:p>
            <a:r>
              <a:rPr lang="ru-RU" sz="1200" b="0" i="0" kern="1200" dirty="0">
                <a:solidFill>
                  <a:schemeClr val="tx1"/>
                </a:solidFill>
                <a:latin typeface="Arial" charset="0"/>
                <a:ea typeface="+mn-ea"/>
                <a:cs typeface="Arial" charset="0"/>
              </a:rPr>
              <a:t>чтобы, помимо всего прочего, отвечать на </a:t>
            </a:r>
            <a:r>
              <a:rPr lang="ru-RU" sz="1200" b="1" i="1" kern="1200" dirty="0" err="1">
                <a:solidFill>
                  <a:schemeClr val="tx1"/>
                </a:solidFill>
                <a:latin typeface="Arial" charset="0"/>
                <a:ea typeface="+mn-ea"/>
                <a:cs typeface="Arial" charset="0"/>
              </a:rPr>
              <a:t>непредопределенные</a:t>
            </a:r>
            <a:r>
              <a:rPr lang="ru-RU" sz="1200" b="1" i="1" kern="1200" dirty="0">
                <a:solidFill>
                  <a:schemeClr val="tx1"/>
                </a:solidFill>
                <a:latin typeface="Arial" charset="0"/>
                <a:ea typeface="+mn-ea"/>
                <a:cs typeface="Arial" charset="0"/>
              </a:rPr>
              <a:t> вопросы </a:t>
            </a:r>
            <a:r>
              <a:rPr lang="ru-RU" sz="1200" b="0" i="0" kern="1200" dirty="0">
                <a:solidFill>
                  <a:schemeClr val="tx1"/>
                </a:solidFill>
                <a:latin typeface="Arial" charset="0"/>
                <a:ea typeface="+mn-ea"/>
                <a:cs typeface="Arial" charset="0"/>
              </a:rPr>
              <a:t>(</a:t>
            </a:r>
            <a:r>
              <a:rPr lang="ru-RU" sz="1200" b="0" i="1" kern="1200" dirty="0" err="1">
                <a:solidFill>
                  <a:schemeClr val="tx1"/>
                </a:solidFill>
                <a:latin typeface="Arial" charset="0"/>
                <a:ea typeface="+mn-ea"/>
                <a:cs typeface="Arial" charset="0"/>
              </a:rPr>
              <a:t>ad</a:t>
            </a:r>
            <a:r>
              <a:rPr lang="ru-RU" sz="1200" b="0" i="1" kern="1200" dirty="0">
                <a:solidFill>
                  <a:schemeClr val="tx1"/>
                </a:solidFill>
                <a:latin typeface="Arial" charset="0"/>
                <a:ea typeface="+mn-ea"/>
                <a:cs typeface="Arial" charset="0"/>
              </a:rPr>
              <a:t> </a:t>
            </a:r>
            <a:r>
              <a:rPr lang="ru-RU" sz="1200" b="0" i="1" kern="1200" dirty="0" err="1">
                <a:solidFill>
                  <a:schemeClr val="tx1"/>
                </a:solidFill>
                <a:latin typeface="Arial" charset="0"/>
                <a:ea typeface="+mn-ea"/>
                <a:cs typeface="Arial" charset="0"/>
              </a:rPr>
              <a:t>hoc</a:t>
            </a:r>
            <a:r>
              <a:rPr lang="ru-RU" sz="1200" b="0" i="0" kern="1200" dirty="0">
                <a:solidFill>
                  <a:schemeClr val="tx1"/>
                </a:solidFill>
                <a:latin typeface="Arial" charset="0"/>
                <a:ea typeface="+mn-ea"/>
                <a:cs typeface="Arial" charset="0"/>
              </a:rPr>
              <a:t>). </a:t>
            </a:r>
          </a:p>
          <a:p>
            <a:r>
              <a:rPr lang="ru-RU" sz="1200" b="0" i="0" kern="1200" dirty="0">
                <a:solidFill>
                  <a:schemeClr val="tx1"/>
                </a:solidFill>
                <a:latin typeface="Arial" charset="0"/>
                <a:ea typeface="+mn-ea"/>
                <a:cs typeface="Arial" charset="0"/>
              </a:rPr>
              <a:t>Как правило, такие вопросы формулируются в терминах </a:t>
            </a:r>
            <a:r>
              <a:rPr lang="ru-RU" sz="1200" b="0" i="1" kern="1200" dirty="0">
                <a:solidFill>
                  <a:schemeClr val="tx1"/>
                </a:solidFill>
                <a:latin typeface="Arial" charset="0"/>
                <a:ea typeface="+mn-ea"/>
                <a:cs typeface="Arial" charset="0"/>
              </a:rPr>
              <a:t>предметной области</a:t>
            </a:r>
            <a:r>
              <a:rPr lang="ru-RU" sz="1200" b="0" i="0" kern="1200" dirty="0">
                <a:solidFill>
                  <a:schemeClr val="tx1"/>
                </a:solidFill>
                <a:latin typeface="Arial" charset="0"/>
                <a:ea typeface="+mn-ea"/>
                <a:cs typeface="Arial" charset="0"/>
              </a:rPr>
              <a:t> и бизнес-процессов, к тому же специалистами, для которых </a:t>
            </a:r>
            <a:r>
              <a:rPr lang="ru-RU" sz="1200" b="0" i="0" kern="1200" dirty="0" err="1">
                <a:solidFill>
                  <a:schemeClr val="tx1"/>
                </a:solidFill>
                <a:latin typeface="Arial" charset="0"/>
                <a:ea typeface="+mn-ea"/>
                <a:cs typeface="Arial" charset="0"/>
              </a:rPr>
              <a:t>ИТ-технологии</a:t>
            </a:r>
            <a:r>
              <a:rPr lang="ru-RU" sz="1200" b="0" i="0" kern="1200" dirty="0">
                <a:solidFill>
                  <a:schemeClr val="tx1"/>
                </a:solidFill>
                <a:latin typeface="Arial" charset="0"/>
                <a:ea typeface="+mn-ea"/>
                <a:cs typeface="Arial" charset="0"/>
              </a:rPr>
              <a:t> не являются основной профессией: аналитиками, менеджерами среднего и высшего уровня.</a:t>
            </a:r>
          </a:p>
          <a:p>
            <a:r>
              <a:rPr lang="ru-RU" sz="1200" b="0" i="0" kern="1200" dirty="0">
                <a:solidFill>
                  <a:schemeClr val="tx1"/>
                </a:solidFill>
                <a:latin typeface="Arial" charset="0"/>
                <a:ea typeface="+mn-ea"/>
                <a:cs typeface="Arial" charset="0"/>
              </a:rPr>
              <a:t>Таким образом, одним из главных аспектов использования </a:t>
            </a:r>
            <a:r>
              <a:rPr lang="ru-RU" sz="1200" b="0" i="1" kern="1200" dirty="0">
                <a:solidFill>
                  <a:schemeClr val="tx1"/>
                </a:solidFill>
                <a:latin typeface="Arial" charset="0"/>
                <a:ea typeface="+mn-ea"/>
                <a:cs typeface="Arial" charset="0"/>
              </a:rPr>
              <a:t>метаданных</a:t>
            </a:r>
            <a:r>
              <a:rPr lang="ru-RU" sz="1200" b="0" i="0" kern="1200" dirty="0">
                <a:solidFill>
                  <a:schemeClr val="tx1"/>
                </a:solidFill>
                <a:latin typeface="Arial" charset="0"/>
                <a:ea typeface="+mn-ea"/>
                <a:cs typeface="Arial" charset="0"/>
              </a:rPr>
              <a:t> в ХД является их предметная ориентация. Основные вопросы, на которые должны ответить </a:t>
            </a:r>
            <a:r>
              <a:rPr lang="ru-RU" sz="1200" b="0" i="1" kern="1200" dirty="0">
                <a:solidFill>
                  <a:schemeClr val="tx1"/>
                </a:solidFill>
                <a:latin typeface="Arial" charset="0"/>
                <a:ea typeface="+mn-ea"/>
                <a:cs typeface="Arial" charset="0"/>
              </a:rPr>
              <a:t>метаданные</a:t>
            </a:r>
            <a:r>
              <a:rPr lang="ru-RU" sz="1200" b="0" i="0" kern="1200" dirty="0">
                <a:solidFill>
                  <a:schemeClr val="tx1"/>
                </a:solidFill>
                <a:latin typeface="Arial" charset="0"/>
                <a:ea typeface="+mn-ea"/>
                <a:cs typeface="Arial" charset="0"/>
              </a:rPr>
              <a:t>, — это какие данные представлены в системе и как их получить в нужном для анализа данных виде.</a:t>
            </a:r>
          </a:p>
          <a:p>
            <a:r>
              <a:rPr lang="ru-RU" sz="1200" b="0" i="0" kern="1200" dirty="0">
                <a:solidFill>
                  <a:schemeClr val="tx1"/>
                </a:solidFill>
                <a:latin typeface="Arial" charset="0"/>
                <a:ea typeface="+mn-ea"/>
                <a:cs typeface="Arial" charset="0"/>
              </a:rPr>
              <a:t>Первой основной </a:t>
            </a:r>
            <a:r>
              <a:rPr lang="ru-RU" sz="1200" b="0" i="1" kern="1200" dirty="0">
                <a:solidFill>
                  <a:schemeClr val="tx1"/>
                </a:solidFill>
                <a:latin typeface="Arial" charset="0"/>
                <a:ea typeface="+mn-ea"/>
                <a:cs typeface="Arial" charset="0"/>
              </a:rPr>
              <a:t>функцией метаданных</a:t>
            </a:r>
            <a:r>
              <a:rPr lang="ru-RU" sz="1200" b="0" i="0" kern="1200" dirty="0">
                <a:solidFill>
                  <a:schemeClr val="tx1"/>
                </a:solidFill>
                <a:latin typeface="Arial" charset="0"/>
                <a:ea typeface="+mn-ea"/>
                <a:cs typeface="Arial" charset="0"/>
              </a:rPr>
              <a:t> в ХД является </a:t>
            </a:r>
            <a:r>
              <a:rPr lang="ru-RU" sz="1200" b="0" i="1" kern="1200" dirty="0">
                <a:solidFill>
                  <a:schemeClr val="tx1"/>
                </a:solidFill>
                <a:latin typeface="Arial" charset="0"/>
                <a:ea typeface="+mn-ea"/>
                <a:cs typeface="Arial" charset="0"/>
              </a:rPr>
              <a:t>представление соответствия данных источников и данных ХД</a:t>
            </a:r>
            <a:r>
              <a:rPr lang="ru-RU" sz="1200" b="0" i="0" kern="1200" dirty="0">
                <a:solidFill>
                  <a:schemeClr val="tx1"/>
                </a:solidFill>
                <a:latin typeface="Arial" charset="0"/>
                <a:ea typeface="+mn-ea"/>
                <a:cs typeface="Arial" charset="0"/>
              </a:rPr>
              <a:t>. </a:t>
            </a:r>
          </a:p>
          <a:p>
            <a:r>
              <a:rPr lang="ru-RU" sz="1200" b="0" i="0" kern="1200" dirty="0">
                <a:solidFill>
                  <a:schemeClr val="tx1"/>
                </a:solidFill>
                <a:latin typeface="Arial" charset="0"/>
                <a:ea typeface="+mn-ea"/>
                <a:cs typeface="Arial" charset="0"/>
              </a:rPr>
              <a:t>Как правило, это описание представляет собой фиксацию </a:t>
            </a:r>
            <a:r>
              <a:rPr lang="ru-RU" sz="1200" b="1" i="0" kern="1200" dirty="0">
                <a:solidFill>
                  <a:schemeClr val="tx1"/>
                </a:solidFill>
                <a:latin typeface="Arial" charset="0"/>
                <a:ea typeface="+mn-ea"/>
                <a:cs typeface="Arial" charset="0"/>
              </a:rPr>
              <a:t>взаимосвязи атрибутов данных источника и атрибутов данных ХД</a:t>
            </a:r>
            <a:r>
              <a:rPr lang="ru-RU" sz="1200" b="0" i="0" kern="1200" dirty="0">
                <a:solidFill>
                  <a:schemeClr val="tx1"/>
                </a:solidFill>
                <a:latin typeface="Arial" charset="0"/>
                <a:ea typeface="+mn-ea"/>
                <a:cs typeface="Arial" charset="0"/>
              </a:rPr>
              <a:t>, правила преобразования первых во вторые, изменение в наименовании данных, в их физических характеристиках и т. д.</a:t>
            </a:r>
          </a:p>
          <a:p>
            <a:r>
              <a:rPr lang="ru-RU" sz="1200" b="0" i="0" kern="1200" dirty="0">
                <a:solidFill>
                  <a:schemeClr val="tx1"/>
                </a:solidFill>
                <a:latin typeface="Arial" charset="0"/>
                <a:ea typeface="+mn-ea"/>
                <a:cs typeface="Arial" charset="0"/>
              </a:rPr>
              <a:t>Такая </a:t>
            </a:r>
            <a:r>
              <a:rPr lang="ru-RU" sz="1200" b="0" i="1" kern="1200" dirty="0">
                <a:solidFill>
                  <a:schemeClr val="tx1"/>
                </a:solidFill>
                <a:latin typeface="Arial" charset="0"/>
                <a:ea typeface="+mn-ea"/>
                <a:cs typeface="Arial" charset="0"/>
              </a:rPr>
              <a:t>информация</a:t>
            </a:r>
            <a:r>
              <a:rPr lang="ru-RU" sz="1200" b="0" i="0" kern="1200" dirty="0">
                <a:solidFill>
                  <a:schemeClr val="tx1"/>
                </a:solidFill>
                <a:latin typeface="Arial" charset="0"/>
                <a:ea typeface="+mn-ea"/>
                <a:cs typeface="Arial" charset="0"/>
              </a:rPr>
              <a:t> позволяет идентифицировать источники данных для ХД, правильность данных в ХД и их </a:t>
            </a:r>
            <a:r>
              <a:rPr lang="ru-RU" sz="1200" b="0" i="1" kern="1200" dirty="0">
                <a:solidFill>
                  <a:schemeClr val="tx1"/>
                </a:solidFill>
                <a:latin typeface="Arial" charset="0"/>
                <a:ea typeface="+mn-ea"/>
                <a:cs typeface="Arial" charset="0"/>
              </a:rPr>
              <a:t>корректность</a:t>
            </a:r>
            <a:r>
              <a:rPr lang="ru-RU" sz="1200" b="0" i="0" kern="1200" dirty="0">
                <a:solidFill>
                  <a:schemeClr val="tx1"/>
                </a:solidFill>
                <a:latin typeface="Arial" charset="0"/>
                <a:ea typeface="+mn-ea"/>
                <a:cs typeface="Arial" charset="0"/>
              </a:rPr>
              <a:t>.</a:t>
            </a:r>
          </a:p>
          <a:p>
            <a:r>
              <a:rPr lang="ru-RU" sz="1200" b="1" i="0" kern="1200" dirty="0">
                <a:solidFill>
                  <a:schemeClr val="tx1"/>
                </a:solidFill>
                <a:latin typeface="Arial" charset="0"/>
                <a:ea typeface="+mn-ea"/>
                <a:cs typeface="Arial" charset="0"/>
              </a:rPr>
              <a:t>Вторая основная </a:t>
            </a:r>
            <a:r>
              <a:rPr lang="ru-RU" sz="1200" b="1" i="1" kern="1200" dirty="0">
                <a:solidFill>
                  <a:schemeClr val="tx1"/>
                </a:solidFill>
                <a:latin typeface="Arial" charset="0"/>
                <a:ea typeface="+mn-ea"/>
                <a:cs typeface="Arial" charset="0"/>
              </a:rPr>
              <a:t>функция метаданных</a:t>
            </a:r>
            <a:r>
              <a:rPr lang="ru-RU" sz="1200" b="1" i="0" kern="1200" dirty="0">
                <a:solidFill>
                  <a:schemeClr val="tx1"/>
                </a:solidFill>
                <a:latin typeface="Arial" charset="0"/>
                <a:ea typeface="+mn-ea"/>
                <a:cs typeface="Arial" charset="0"/>
              </a:rPr>
              <a:t> в ХД — </a:t>
            </a:r>
            <a:r>
              <a:rPr lang="ru-RU" sz="1200" b="1" i="1" kern="1200" dirty="0">
                <a:solidFill>
                  <a:schemeClr val="tx1"/>
                </a:solidFill>
                <a:latin typeface="Arial" charset="0"/>
                <a:ea typeface="+mn-ea"/>
                <a:cs typeface="Arial" charset="0"/>
              </a:rPr>
              <a:t>управление данными во времени</a:t>
            </a:r>
            <a:r>
              <a:rPr lang="ru-RU" sz="1200" b="0" i="0" kern="1200" dirty="0">
                <a:solidFill>
                  <a:schemeClr val="tx1"/>
                </a:solidFill>
                <a:latin typeface="Arial" charset="0"/>
                <a:ea typeface="+mn-ea"/>
                <a:cs typeface="Arial" charset="0"/>
              </a:rPr>
              <a:t>. </a:t>
            </a:r>
          </a:p>
          <a:p>
            <a:r>
              <a:rPr lang="ru-RU" sz="1200" b="0" i="0" kern="1200" dirty="0">
                <a:solidFill>
                  <a:schemeClr val="tx1"/>
                </a:solidFill>
                <a:latin typeface="Arial" charset="0"/>
                <a:ea typeface="+mn-ea"/>
                <a:cs typeface="Arial" charset="0"/>
              </a:rPr>
              <a:t>Время жизни данных в ХД, как правило, 5-10 лет, а то и более. </a:t>
            </a:r>
          </a:p>
          <a:p>
            <a:r>
              <a:rPr lang="ru-RU" sz="1200" b="0" i="0" kern="1200" dirty="0">
                <a:solidFill>
                  <a:schemeClr val="tx1"/>
                </a:solidFill>
                <a:latin typeface="Arial" charset="0"/>
                <a:ea typeface="+mn-ea"/>
                <a:cs typeface="Arial" charset="0"/>
              </a:rPr>
              <a:t>А для систем операционной обработки данных время жизни данных — от нескольких дней до нескольких месяцев. Затем данные архивируются в случае необходимости.</a:t>
            </a:r>
          </a:p>
          <a:p>
            <a:r>
              <a:rPr lang="ru-RU" sz="1200" b="0" i="0" kern="1200" dirty="0">
                <a:solidFill>
                  <a:schemeClr val="tx1"/>
                </a:solidFill>
                <a:latin typeface="Arial" charset="0"/>
                <a:ea typeface="+mn-ea"/>
                <a:cs typeface="Arial" charset="0"/>
              </a:rPr>
              <a:t>Таким образом, временной горизонт данных в ХД гораздо больше, и это обстоятельство изменяет коренным образом некоторые принципы управления данными. </a:t>
            </a:r>
          </a:p>
          <a:p>
            <a:r>
              <a:rPr lang="ru-RU" sz="1200" b="0" i="0" kern="1200" dirty="0">
                <a:solidFill>
                  <a:schemeClr val="tx1"/>
                </a:solidFill>
                <a:latin typeface="Arial" charset="0"/>
                <a:ea typeface="+mn-ea"/>
                <a:cs typeface="Arial" charset="0"/>
              </a:rPr>
              <a:t>Например, в </a:t>
            </a:r>
            <a:r>
              <a:rPr lang="ru-RU" sz="1200" b="0" i="1" kern="1200" dirty="0">
                <a:solidFill>
                  <a:schemeClr val="tx1"/>
                </a:solidFill>
                <a:latin typeface="Arial" charset="0"/>
                <a:ea typeface="+mn-ea"/>
                <a:cs typeface="Arial" charset="0"/>
              </a:rPr>
              <a:t>системах операционной обработки данных</a:t>
            </a:r>
            <a:r>
              <a:rPr lang="ru-RU" sz="1200" b="0" i="0" kern="1200" dirty="0">
                <a:solidFill>
                  <a:schemeClr val="tx1"/>
                </a:solidFill>
                <a:latin typeface="Arial" charset="0"/>
                <a:ea typeface="+mn-ea"/>
                <a:cs typeface="Arial" charset="0"/>
              </a:rPr>
              <a:t> </a:t>
            </a:r>
            <a:r>
              <a:rPr lang="ru-RU" sz="1200" b="1" i="0" kern="1200" dirty="0">
                <a:solidFill>
                  <a:schemeClr val="tx1"/>
                </a:solidFill>
                <a:latin typeface="Arial" charset="0"/>
                <a:ea typeface="+mn-ea"/>
                <a:cs typeface="Arial" charset="0"/>
              </a:rPr>
              <a:t>в одно и то же время </a:t>
            </a:r>
            <a:r>
              <a:rPr lang="ru-RU" sz="1200" b="0" i="0" kern="1200" dirty="0">
                <a:solidFill>
                  <a:schemeClr val="tx1"/>
                </a:solidFill>
                <a:latin typeface="Arial" charset="0"/>
                <a:ea typeface="+mn-ea"/>
                <a:cs typeface="Arial" charset="0"/>
              </a:rPr>
              <a:t>существует только одно корректное </a:t>
            </a:r>
            <a:r>
              <a:rPr lang="ru-RU" sz="1200" b="0" i="1" kern="1200" dirty="0">
                <a:solidFill>
                  <a:schemeClr val="tx1"/>
                </a:solidFill>
                <a:latin typeface="Arial" charset="0"/>
                <a:ea typeface="+mn-ea"/>
                <a:cs typeface="Arial" charset="0"/>
              </a:rPr>
              <a:t>определение</a:t>
            </a:r>
            <a:r>
              <a:rPr lang="ru-RU" sz="1200" b="0" i="0" kern="1200" dirty="0">
                <a:solidFill>
                  <a:schemeClr val="tx1"/>
                </a:solidFill>
                <a:latin typeface="Arial" charset="0"/>
                <a:ea typeface="+mn-ea"/>
                <a:cs typeface="Arial" charset="0"/>
              </a:rPr>
              <a:t> данных. Для ХД это не так.</a:t>
            </a:r>
          </a:p>
          <a:p>
            <a:r>
              <a:rPr lang="ru-RU" sz="1200" b="0" i="1" kern="1200" dirty="0">
                <a:solidFill>
                  <a:schemeClr val="tx1"/>
                </a:solidFill>
                <a:latin typeface="Arial" charset="0"/>
                <a:ea typeface="+mn-ea"/>
                <a:cs typeface="Arial" charset="0"/>
              </a:rPr>
              <a:t>Структура данных</a:t>
            </a:r>
            <a:r>
              <a:rPr lang="ru-RU" sz="1200" b="0" i="0" kern="1200" dirty="0">
                <a:solidFill>
                  <a:schemeClr val="tx1"/>
                </a:solidFill>
                <a:latin typeface="Arial" charset="0"/>
                <a:ea typeface="+mn-ea"/>
                <a:cs typeface="Arial" charset="0"/>
              </a:rPr>
              <a:t> (схема или </a:t>
            </a:r>
            <a:r>
              <a:rPr lang="ru-RU" sz="1200" b="0" i="1" kern="1200" dirty="0">
                <a:solidFill>
                  <a:schemeClr val="tx1"/>
                </a:solidFill>
                <a:latin typeface="Arial" charset="0"/>
                <a:ea typeface="+mn-ea"/>
                <a:cs typeface="Arial" charset="0"/>
              </a:rPr>
              <a:t>модель данных</a:t>
            </a:r>
            <a:r>
              <a:rPr lang="ru-RU" sz="1200" b="0" i="0" kern="1200" dirty="0">
                <a:solidFill>
                  <a:schemeClr val="tx1"/>
                </a:solidFill>
                <a:latin typeface="Arial" charset="0"/>
                <a:ea typeface="+mn-ea"/>
                <a:cs typeface="Arial" charset="0"/>
              </a:rPr>
              <a:t>) в </a:t>
            </a:r>
            <a:r>
              <a:rPr lang="ru-RU" sz="1200" b="0" i="1" kern="1200" dirty="0">
                <a:solidFill>
                  <a:schemeClr val="tx1"/>
                </a:solidFill>
                <a:latin typeface="Arial" charset="0"/>
                <a:ea typeface="+mn-ea"/>
                <a:cs typeface="Arial" charset="0"/>
              </a:rPr>
              <a:t>системах операционной обработки данных</a:t>
            </a:r>
            <a:r>
              <a:rPr lang="ru-RU" sz="1200" b="0" i="0" kern="1200" dirty="0">
                <a:solidFill>
                  <a:schemeClr val="tx1"/>
                </a:solidFill>
                <a:latin typeface="Arial" charset="0"/>
                <a:ea typeface="+mn-ea"/>
                <a:cs typeface="Arial" charset="0"/>
              </a:rPr>
              <a:t> меняется во времени, т.е. данные в таких системах в разное время имеют различные формы представления. Хронология таких изменений должна быть зафиксирована в ХД.</a:t>
            </a:r>
          </a:p>
          <a:p>
            <a:r>
              <a:rPr lang="ru-RU" sz="1200" b="0" i="0" kern="1200" dirty="0">
                <a:solidFill>
                  <a:schemeClr val="tx1"/>
                </a:solidFill>
                <a:latin typeface="Arial" charset="0"/>
                <a:ea typeface="+mn-ea"/>
                <a:cs typeface="Arial" charset="0"/>
              </a:rPr>
              <a:t>Таким образом, в ХД одновременно может существовать несколько схем данных, отвечающих различным периодам эволюции источников данных. </a:t>
            </a:r>
          </a:p>
          <a:p>
            <a:r>
              <a:rPr lang="ru-RU" sz="1200" b="0" i="1" kern="1200" dirty="0">
                <a:solidFill>
                  <a:schemeClr val="tx1"/>
                </a:solidFill>
                <a:latin typeface="Arial" charset="0"/>
                <a:ea typeface="+mn-ea"/>
                <a:cs typeface="Arial" charset="0"/>
              </a:rPr>
              <a:t>Запись</a:t>
            </a:r>
            <a:r>
              <a:rPr lang="ru-RU" sz="1200" b="0" i="0" kern="1200" dirty="0">
                <a:solidFill>
                  <a:schemeClr val="tx1"/>
                </a:solidFill>
                <a:latin typeface="Arial" charset="0"/>
                <a:ea typeface="+mn-ea"/>
                <a:cs typeface="Arial" charset="0"/>
              </a:rPr>
              <a:t> о таких структурных изменениях сохраняется в </a:t>
            </a:r>
            <a:r>
              <a:rPr lang="ru-RU" sz="1200" b="0" i="1" kern="1200" dirty="0">
                <a:solidFill>
                  <a:schemeClr val="tx1"/>
                </a:solidFill>
                <a:latin typeface="Arial" charset="0"/>
                <a:ea typeface="+mn-ea"/>
                <a:cs typeface="Arial" charset="0"/>
              </a:rPr>
              <a:t>метаданных</a:t>
            </a:r>
            <a:r>
              <a:rPr lang="ru-RU" sz="1200" b="0" i="0" kern="1200" dirty="0">
                <a:solidFill>
                  <a:schemeClr val="tx1"/>
                </a:solidFill>
                <a:latin typeface="Arial" charset="0"/>
                <a:ea typeface="+mn-ea"/>
                <a:cs typeface="Arial" charset="0"/>
              </a:rPr>
              <a:t> ХД. На основании записей аналитики получают ответы на вопросы, какими данными и за какие периоды они располагают.</a:t>
            </a:r>
          </a:p>
          <a:p>
            <a:r>
              <a:rPr lang="ru-RU" sz="1200" b="1" i="0" kern="1200" dirty="0">
                <a:solidFill>
                  <a:schemeClr val="tx1"/>
                </a:solidFill>
                <a:latin typeface="Arial" charset="0"/>
                <a:ea typeface="+mn-ea"/>
                <a:cs typeface="Arial" charset="0"/>
              </a:rPr>
              <a:t>Третья, и немаловажная, </a:t>
            </a:r>
            <a:r>
              <a:rPr lang="ru-RU" sz="1200" b="1" i="1" kern="1200" dirty="0">
                <a:solidFill>
                  <a:schemeClr val="tx1"/>
                </a:solidFill>
                <a:latin typeface="Arial" charset="0"/>
                <a:ea typeface="+mn-ea"/>
                <a:cs typeface="Arial" charset="0"/>
              </a:rPr>
              <a:t>функция метаданных</a:t>
            </a:r>
            <a:r>
              <a:rPr lang="ru-RU" sz="1200" b="1" i="0" kern="1200" dirty="0">
                <a:solidFill>
                  <a:schemeClr val="tx1"/>
                </a:solidFill>
                <a:latin typeface="Arial" charset="0"/>
                <a:ea typeface="+mn-ea"/>
                <a:cs typeface="Arial" charset="0"/>
              </a:rPr>
              <a:t> в ХД — это </a:t>
            </a:r>
            <a:r>
              <a:rPr lang="ru-RU" sz="1200" b="1" i="1" kern="1200" dirty="0">
                <a:solidFill>
                  <a:schemeClr val="tx1"/>
                </a:solidFill>
                <a:latin typeface="Arial" charset="0"/>
                <a:ea typeface="+mn-ea"/>
                <a:cs typeface="Arial" charset="0"/>
              </a:rPr>
              <a:t>поддержка версионности</a:t>
            </a:r>
            <a:r>
              <a:rPr lang="ru-RU" sz="1200" b="1" i="0" kern="1200" dirty="0">
                <a:solidFill>
                  <a:schemeClr val="tx1"/>
                </a:solidFill>
                <a:latin typeface="Arial" charset="0"/>
                <a:ea typeface="+mn-ea"/>
                <a:cs typeface="Arial" charset="0"/>
              </a:rPr>
              <a:t>.</a:t>
            </a:r>
            <a:r>
              <a:rPr lang="ru-RU" sz="1200" b="0" i="0" kern="1200" dirty="0">
                <a:solidFill>
                  <a:schemeClr val="tx1"/>
                </a:solidFill>
                <a:latin typeface="Arial" charset="0"/>
                <a:ea typeface="+mn-ea"/>
                <a:cs typeface="Arial" charset="0"/>
              </a:rPr>
              <a:t> </a:t>
            </a:r>
          </a:p>
          <a:p>
            <a:r>
              <a:rPr lang="ru-RU" sz="1200" b="0" i="0" kern="1200" dirty="0">
                <a:solidFill>
                  <a:schemeClr val="tx1"/>
                </a:solidFill>
                <a:latin typeface="Arial" charset="0"/>
                <a:ea typeface="+mn-ea"/>
                <a:cs typeface="Arial" charset="0"/>
              </a:rPr>
              <a:t>Эта </a:t>
            </a:r>
            <a:r>
              <a:rPr lang="ru-RU" sz="1200" b="0" i="1" kern="1200" dirty="0">
                <a:solidFill>
                  <a:schemeClr val="tx1"/>
                </a:solidFill>
                <a:latin typeface="Arial" charset="0"/>
                <a:ea typeface="+mn-ea"/>
                <a:cs typeface="Arial" charset="0"/>
              </a:rPr>
              <a:t>функция</a:t>
            </a:r>
            <a:r>
              <a:rPr lang="ru-RU" sz="1200" b="0" i="0" kern="1200" dirty="0">
                <a:solidFill>
                  <a:schemeClr val="tx1"/>
                </a:solidFill>
                <a:latin typeface="Arial" charset="0"/>
                <a:ea typeface="+mn-ea"/>
                <a:cs typeface="Arial" charset="0"/>
              </a:rPr>
              <a:t> тесно связана с управлением данными с большим временным горизонтом. </a:t>
            </a:r>
          </a:p>
          <a:p>
            <a:r>
              <a:rPr lang="ru-RU" sz="1200" b="0" i="1" kern="1200" dirty="0">
                <a:solidFill>
                  <a:schemeClr val="tx1"/>
                </a:solidFill>
                <a:latin typeface="Arial" charset="0"/>
                <a:ea typeface="+mn-ea"/>
                <a:cs typeface="Arial" charset="0"/>
              </a:rPr>
              <a:t>Метаданные</a:t>
            </a:r>
            <a:r>
              <a:rPr lang="ru-RU" sz="1200" b="0" i="0" kern="1200" dirty="0">
                <a:solidFill>
                  <a:schemeClr val="tx1"/>
                </a:solidFill>
                <a:latin typeface="Arial" charset="0"/>
                <a:ea typeface="+mn-ea"/>
                <a:cs typeface="Arial" charset="0"/>
              </a:rPr>
              <a:t> должны отражать изменения внутренней структуры данных источников и, следовательно, должны сами изменяться, для того чтобы обеспечить непрерывность истории изменения структуры данных ХД.</a:t>
            </a:r>
          </a:p>
          <a:p>
            <a:r>
              <a:rPr lang="ru-RU" sz="1200" b="0" i="0" kern="1200" dirty="0">
                <a:solidFill>
                  <a:schemeClr val="tx1"/>
                </a:solidFill>
                <a:latin typeface="Arial" charset="0"/>
                <a:ea typeface="+mn-ea"/>
                <a:cs typeface="Arial" charset="0"/>
              </a:rPr>
              <a:t>Таким образом, </a:t>
            </a:r>
            <a:r>
              <a:rPr lang="ru-RU" sz="1200" b="0" i="1" kern="1200" dirty="0">
                <a:solidFill>
                  <a:schemeClr val="tx1"/>
                </a:solidFill>
                <a:latin typeface="Arial" charset="0"/>
                <a:ea typeface="+mn-ea"/>
                <a:cs typeface="Arial" charset="0"/>
              </a:rPr>
              <a:t>поддержка</a:t>
            </a:r>
            <a:r>
              <a:rPr lang="ru-RU" sz="1200" b="0" i="0" kern="1200" dirty="0">
                <a:solidFill>
                  <a:schemeClr val="tx1"/>
                </a:solidFill>
                <a:latin typeface="Arial" charset="0"/>
                <a:ea typeface="+mn-ea"/>
                <a:cs typeface="Arial" charset="0"/>
              </a:rPr>
              <a:t> версионности </a:t>
            </a:r>
            <a:r>
              <a:rPr lang="ru-RU" sz="1200" b="0" i="1" kern="1200" dirty="0">
                <a:solidFill>
                  <a:schemeClr val="tx1"/>
                </a:solidFill>
                <a:latin typeface="Arial" charset="0"/>
                <a:ea typeface="+mn-ea"/>
                <a:cs typeface="Arial" charset="0"/>
              </a:rPr>
              <a:t>метаданных</a:t>
            </a:r>
            <a:r>
              <a:rPr lang="ru-RU" sz="1200" b="0" i="0" kern="1200" dirty="0">
                <a:solidFill>
                  <a:schemeClr val="tx1"/>
                </a:solidFill>
                <a:latin typeface="Arial" charset="0"/>
                <a:ea typeface="+mn-ea"/>
                <a:cs typeface="Arial" charset="0"/>
              </a:rPr>
              <a:t> позволяет в каждый момент времени в прошлом обеспечить правильное описание модели данных, а аналитики получают возможность знать, какие данные, когда и как попали в ХД.</a:t>
            </a:r>
          </a:p>
          <a:p>
            <a:r>
              <a:rPr lang="ru-RU" sz="1200" b="1" i="0" kern="1200" dirty="0">
                <a:solidFill>
                  <a:schemeClr val="tx1"/>
                </a:solidFill>
                <a:latin typeface="Arial" charset="0"/>
                <a:ea typeface="+mn-ea"/>
                <a:cs typeface="Arial" charset="0"/>
              </a:rPr>
              <a:t>Четвертая основная </a:t>
            </a:r>
            <a:r>
              <a:rPr lang="ru-RU" sz="1200" b="1" i="1" kern="1200" dirty="0">
                <a:solidFill>
                  <a:schemeClr val="tx1"/>
                </a:solidFill>
                <a:latin typeface="Arial" charset="0"/>
                <a:ea typeface="+mn-ea"/>
                <a:cs typeface="Arial" charset="0"/>
              </a:rPr>
              <a:t>функция метаданных</a:t>
            </a:r>
            <a:r>
              <a:rPr lang="ru-RU" sz="1200" b="1" i="0" kern="1200" dirty="0">
                <a:solidFill>
                  <a:schemeClr val="tx1"/>
                </a:solidFill>
                <a:latin typeface="Arial" charset="0"/>
                <a:ea typeface="+mn-ea"/>
                <a:cs typeface="Arial" charset="0"/>
              </a:rPr>
              <a:t> в ХД — это </a:t>
            </a:r>
            <a:r>
              <a:rPr lang="ru-RU" sz="1200" b="1" i="1" kern="1200" dirty="0">
                <a:solidFill>
                  <a:schemeClr val="tx1"/>
                </a:solidFill>
                <a:latin typeface="Arial" charset="0"/>
                <a:ea typeface="+mn-ea"/>
                <a:cs typeface="Arial" charset="0"/>
              </a:rPr>
              <a:t>интерпретация данных в терминах бизнес-пользователей</a:t>
            </a:r>
            <a:r>
              <a:rPr lang="ru-RU" sz="1200" b="0" i="0" kern="1200" dirty="0">
                <a:solidFill>
                  <a:schemeClr val="tx1"/>
                </a:solidFill>
                <a:latin typeface="Arial" charset="0"/>
                <a:ea typeface="+mn-ea"/>
                <a:cs typeface="Arial" charset="0"/>
              </a:rPr>
              <a:t>. </a:t>
            </a:r>
          </a:p>
          <a:p>
            <a:r>
              <a:rPr lang="ru-RU" sz="1200" b="0" i="1" kern="1200" dirty="0">
                <a:solidFill>
                  <a:schemeClr val="tx1"/>
                </a:solidFill>
                <a:latin typeface="Arial" charset="0"/>
                <a:ea typeface="+mn-ea"/>
                <a:cs typeface="Arial" charset="0"/>
              </a:rPr>
              <a:t>Метаданные </a:t>
            </a:r>
            <a:r>
              <a:rPr lang="ru-RU" sz="1200" b="0" i="0" kern="1200" dirty="0">
                <a:solidFill>
                  <a:schemeClr val="tx1"/>
                </a:solidFill>
                <a:latin typeface="Arial" charset="0"/>
                <a:ea typeface="+mn-ea"/>
                <a:cs typeface="Arial" charset="0"/>
              </a:rPr>
              <a:t>должны поддерживать в запросах понятную для пользователя терминологию, независимо от того, какие правила наименования атрибутов были использованы проектировщиком ХД.</a:t>
            </a:r>
          </a:p>
          <a:p>
            <a:r>
              <a:rPr lang="ru-RU" sz="1200" b="1" i="0" kern="1200" dirty="0">
                <a:solidFill>
                  <a:schemeClr val="tx1"/>
                </a:solidFill>
                <a:latin typeface="Arial" charset="0"/>
                <a:ea typeface="+mn-ea"/>
                <a:cs typeface="Arial" charset="0"/>
              </a:rPr>
              <a:t>Пятая основная </a:t>
            </a:r>
            <a:r>
              <a:rPr lang="ru-RU" sz="1200" b="1" i="1" kern="1200" dirty="0">
                <a:solidFill>
                  <a:schemeClr val="tx1"/>
                </a:solidFill>
                <a:latin typeface="Arial" charset="0"/>
                <a:ea typeface="+mn-ea"/>
                <a:cs typeface="Arial" charset="0"/>
              </a:rPr>
              <a:t>функция метаданных</a:t>
            </a:r>
            <a:r>
              <a:rPr lang="ru-RU" sz="1200" b="1" i="0" kern="1200" dirty="0">
                <a:solidFill>
                  <a:schemeClr val="tx1"/>
                </a:solidFill>
                <a:latin typeface="Arial" charset="0"/>
                <a:ea typeface="+mn-ea"/>
                <a:cs typeface="Arial" charset="0"/>
              </a:rPr>
              <a:t> — </a:t>
            </a:r>
            <a:r>
              <a:rPr lang="ru-RU" sz="1200" b="1" i="1" kern="1200" dirty="0">
                <a:solidFill>
                  <a:schemeClr val="tx1"/>
                </a:solidFill>
                <a:latin typeface="Arial" charset="0"/>
                <a:ea typeface="+mn-ea"/>
                <a:cs typeface="Arial" charset="0"/>
              </a:rPr>
              <a:t>обеспечение открытости</a:t>
            </a:r>
            <a:r>
              <a:rPr lang="ru-RU" sz="1200" b="0" i="0" kern="1200" dirty="0">
                <a:solidFill>
                  <a:schemeClr val="tx1"/>
                </a:solidFill>
                <a:latin typeface="Arial" charset="0"/>
                <a:ea typeface="+mn-ea"/>
                <a:cs typeface="Arial" charset="0"/>
              </a:rPr>
              <a:t> (доступности другим информационным системам) </a:t>
            </a:r>
            <a:r>
              <a:rPr lang="ru-RU" sz="1200" b="0" i="1" kern="1200" dirty="0">
                <a:solidFill>
                  <a:schemeClr val="tx1"/>
                </a:solidFill>
                <a:latin typeface="Arial" charset="0"/>
                <a:ea typeface="+mn-ea"/>
                <a:cs typeface="Arial" charset="0"/>
              </a:rPr>
              <a:t>системы складирования данных для ее интеграции с другими аналитическими системами организации</a:t>
            </a:r>
            <a:r>
              <a:rPr lang="ru-RU" sz="1200" b="0" i="0" kern="1200" dirty="0">
                <a:solidFill>
                  <a:schemeClr val="tx1"/>
                </a:solidFill>
                <a:latin typeface="Arial" charset="0"/>
                <a:ea typeface="+mn-ea"/>
                <a:cs typeface="Arial" charset="0"/>
              </a:rPr>
              <a:t>. </a:t>
            </a:r>
            <a:r>
              <a:rPr lang="ru-RU" sz="1200" b="0" i="1" kern="1200" dirty="0">
                <a:solidFill>
                  <a:schemeClr val="tx1"/>
                </a:solidFill>
                <a:latin typeface="Arial" charset="0"/>
                <a:ea typeface="+mn-ea"/>
                <a:cs typeface="Arial" charset="0"/>
              </a:rPr>
              <a:t>Опрос</a:t>
            </a:r>
            <a:r>
              <a:rPr lang="ru-RU" sz="1200" b="0" i="0" kern="1200" dirty="0">
                <a:solidFill>
                  <a:schemeClr val="tx1"/>
                </a:solidFill>
                <a:latin typeface="Arial" charset="0"/>
                <a:ea typeface="+mn-ea"/>
                <a:cs typeface="Arial" charset="0"/>
              </a:rPr>
              <a:t> </a:t>
            </a:r>
            <a:r>
              <a:rPr lang="ru-RU" sz="1200" b="0" i="1" kern="1200" dirty="0">
                <a:solidFill>
                  <a:schemeClr val="tx1"/>
                </a:solidFill>
                <a:latin typeface="Arial" charset="0"/>
                <a:ea typeface="+mn-ea"/>
                <a:cs typeface="Arial" charset="0"/>
              </a:rPr>
              <a:t>метаданных</a:t>
            </a:r>
            <a:r>
              <a:rPr lang="ru-RU" sz="1200" b="0" i="0" kern="1200" dirty="0">
                <a:solidFill>
                  <a:schemeClr val="tx1"/>
                </a:solidFill>
                <a:latin typeface="Arial" charset="0"/>
                <a:ea typeface="+mn-ea"/>
                <a:cs typeface="Arial" charset="0"/>
              </a:rPr>
              <a:t> ХД другой системой позволяет последней выяснить структуру данных ХД и поддерживать </a:t>
            </a:r>
            <a:r>
              <a:rPr lang="ru-RU" sz="1200" b="0" i="1" kern="1200" dirty="0">
                <a:solidFill>
                  <a:schemeClr val="tx1"/>
                </a:solidFill>
                <a:latin typeface="Arial" charset="0"/>
                <a:ea typeface="+mn-ea"/>
                <a:cs typeface="Arial" charset="0"/>
              </a:rPr>
              <a:t>обмен данными</a:t>
            </a:r>
            <a:r>
              <a:rPr lang="ru-RU" sz="1200" b="0" i="0" kern="1200" dirty="0">
                <a:solidFill>
                  <a:schemeClr val="tx1"/>
                </a:solidFill>
                <a:latin typeface="Arial" charset="0"/>
                <a:ea typeface="+mn-ea"/>
                <a:cs typeface="Arial" charset="0"/>
              </a:rPr>
              <a:t> между системами.</a:t>
            </a:r>
          </a:p>
          <a:p>
            <a:br>
              <a:rPr lang="ru-RU" sz="1200" b="0" i="0" kern="1200" dirty="0">
                <a:solidFill>
                  <a:schemeClr val="tx1"/>
                </a:solidFill>
                <a:latin typeface="Arial" charset="0"/>
                <a:ea typeface="+mn-ea"/>
                <a:cs typeface="Arial" charset="0"/>
              </a:rPr>
            </a:br>
            <a:r>
              <a:rPr lang="ru-RU" sz="1200" b="1" i="0" kern="1200" dirty="0" err="1">
                <a:solidFill>
                  <a:schemeClr val="tx1"/>
                </a:solidFill>
                <a:latin typeface="Arial" charset="0"/>
                <a:ea typeface="+mn-ea"/>
                <a:cs typeface="Arial" charset="0"/>
              </a:rPr>
              <a:t>Cтандарт</a:t>
            </a:r>
            <a:r>
              <a:rPr lang="ru-RU" sz="1200" b="1" i="0" kern="1200" dirty="0">
                <a:solidFill>
                  <a:schemeClr val="tx1"/>
                </a:solidFill>
                <a:latin typeface="Arial" charset="0"/>
                <a:ea typeface="+mn-ea"/>
                <a:cs typeface="Arial" charset="0"/>
              </a:rPr>
              <a:t> обмена метаданными </a:t>
            </a:r>
            <a:r>
              <a:rPr lang="ru-RU" sz="1200" b="0" i="0" kern="1200" dirty="0">
                <a:solidFill>
                  <a:schemeClr val="tx1"/>
                </a:solidFill>
                <a:latin typeface="Arial" charset="0"/>
                <a:ea typeface="+mn-ea"/>
                <a:cs typeface="Arial" charset="0"/>
              </a:rPr>
              <a:t>между различными инструментальными средствами разработки, приложениями и </a:t>
            </a:r>
            <a:r>
              <a:rPr lang="ru-RU" sz="1200" b="0" i="0" kern="1200" dirty="0" err="1">
                <a:solidFill>
                  <a:schemeClr val="tx1"/>
                </a:solidFill>
                <a:latin typeface="Arial" charset="0"/>
                <a:ea typeface="+mn-ea"/>
                <a:cs typeface="Arial" charset="0"/>
              </a:rPr>
              <a:t>репозиториями</a:t>
            </a:r>
            <a:r>
              <a:rPr lang="ru-RU" sz="1200" b="0" i="0" kern="1200" dirty="0">
                <a:solidFill>
                  <a:schemeClr val="tx1"/>
                </a:solidFill>
                <a:latin typeface="Arial" charset="0"/>
                <a:ea typeface="+mn-ea"/>
                <a:cs typeface="Arial" charset="0"/>
              </a:rPr>
              <a:t> метаданных, разработанный консорциумом MDC. Действующая версия этого стандарта - MDIS 1.1 - принята в августе 1997 года. Позднее консорциум разработал более совершенную технологию и представил ее в стандарте OIM [http://www.osp.ru/cio/2002/03/025.htm].</a:t>
            </a:r>
          </a:p>
          <a:p>
            <a:pPr>
              <a:lnSpc>
                <a:spcPct val="90000"/>
              </a:lnSpc>
            </a:pPr>
            <a:endParaRPr lang="ru-RU" dirty="0"/>
          </a:p>
        </p:txBody>
      </p:sp>
    </p:spTree>
    <p:extLst>
      <p:ext uri="{BB962C8B-B14F-4D97-AF65-F5344CB8AC3E}">
        <p14:creationId xmlns:p14="http://schemas.microsoft.com/office/powerpoint/2010/main" val="10054415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736776-38A3-4248-A465-29A13CE7B969}" type="slidenum">
              <a:rPr lang="ru-RU"/>
              <a:pPr/>
              <a:t>30</a:t>
            </a:fld>
            <a:endParaRPr lang="ru-RU" dirty="0"/>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pPr algn="l"/>
            <a:r>
              <a:rPr lang="ru-RU" sz="1800" b="0" i="0" u="none" strike="noStrike" baseline="0" dirty="0">
                <a:latin typeface="TimesNewRoman"/>
              </a:rPr>
              <a:t>При таком сценарии конечные витрины данных создаются для обслуживания бизнес</a:t>
            </a:r>
            <a:r>
              <a:rPr lang="ru-RU" sz="1800" b="0" i="0" u="none" strike="noStrike" baseline="0" dirty="0">
                <a:latin typeface="Times-Roman"/>
              </a:rPr>
              <a:t>-</a:t>
            </a:r>
            <a:r>
              <a:rPr lang="ru-RU" sz="1800" b="0" i="0" u="none" strike="noStrike" baseline="0" dirty="0">
                <a:latin typeface="TimesNewRoman"/>
              </a:rPr>
              <a:t>отделов</a:t>
            </a:r>
          </a:p>
          <a:p>
            <a:pPr algn="l"/>
            <a:r>
              <a:rPr lang="ru-RU" sz="1800" b="0" i="0" u="none" strike="noStrike" baseline="0" dirty="0">
                <a:latin typeface="TimesNewRoman"/>
              </a:rPr>
              <a:t>или для реализации бизнес</a:t>
            </a:r>
            <a:r>
              <a:rPr lang="ru-RU" sz="1800" b="0" i="0" u="none" strike="noStrike" baseline="0" dirty="0">
                <a:latin typeface="Times-Roman"/>
              </a:rPr>
              <a:t>-</a:t>
            </a:r>
            <a:r>
              <a:rPr lang="ru-RU" sz="1800" b="0" i="0" u="none" strike="noStrike" baseline="0" dirty="0">
                <a:latin typeface="TimesNewRoman"/>
              </a:rPr>
              <a:t>функций и используют пространственную модель</a:t>
            </a:r>
            <a:r>
              <a:rPr lang="ru-RU" sz="1800" b="0" i="0" u="none" strike="noStrike" baseline="0" dirty="0">
                <a:latin typeface="Times-Roman"/>
              </a:rPr>
              <a:t>3 </a:t>
            </a:r>
            <a:r>
              <a:rPr lang="ru-RU" sz="1800" b="0" i="0" u="none" strike="noStrike" baseline="0" dirty="0">
                <a:latin typeface="TimesNewRoman"/>
              </a:rPr>
              <a:t>для структурирования</a:t>
            </a:r>
          </a:p>
          <a:p>
            <a:pPr algn="l"/>
            <a:r>
              <a:rPr lang="ru-RU" sz="1800" b="0" i="0" u="none" strike="noStrike" baseline="0" dirty="0">
                <a:latin typeface="TimesNewRoman"/>
              </a:rPr>
              <a:t>суммарных данных. Атомарные данные остаются доступными через нормализованное Хранилище</a:t>
            </a:r>
          </a:p>
          <a:p>
            <a:pPr algn="l"/>
            <a:r>
              <a:rPr lang="ru-RU" sz="1800" b="0" i="0" u="none" strike="noStrike" baseline="0" dirty="0">
                <a:latin typeface="TimesNewRoman"/>
              </a:rPr>
              <a:t>данных. Очевидно, что структура атомарных и суммарных данных при таком подходе существенно</a:t>
            </a:r>
          </a:p>
          <a:p>
            <a:pPr algn="l"/>
            <a:r>
              <a:rPr lang="ru-RU" sz="1800" b="0" i="0" u="none" strike="noStrike" baseline="0" dirty="0">
                <a:latin typeface="TimesNewRoman"/>
              </a:rPr>
              <a:t>различается.</a:t>
            </a:r>
            <a:endParaRPr lang="ru-RU" dirty="0"/>
          </a:p>
        </p:txBody>
      </p:sp>
    </p:spTree>
    <p:extLst>
      <p:ext uri="{BB962C8B-B14F-4D97-AF65-F5344CB8AC3E}">
        <p14:creationId xmlns:p14="http://schemas.microsoft.com/office/powerpoint/2010/main" val="4226573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736776-38A3-4248-A465-29A13CE7B969}" type="slidenum">
              <a:rPr lang="ru-RU"/>
              <a:pPr/>
              <a:t>31</a:t>
            </a:fld>
            <a:endParaRPr lang="ru-RU" dirty="0"/>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pPr>
              <a:lnSpc>
                <a:spcPct val="90000"/>
              </a:lnSpc>
            </a:pPr>
            <a:endParaRPr lang="ru-RU" dirty="0"/>
          </a:p>
        </p:txBody>
      </p:sp>
    </p:spTree>
    <p:extLst>
      <p:ext uri="{BB962C8B-B14F-4D97-AF65-F5344CB8AC3E}">
        <p14:creationId xmlns:p14="http://schemas.microsoft.com/office/powerpoint/2010/main" val="20098575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736776-38A3-4248-A465-29A13CE7B969}" type="slidenum">
              <a:rPr lang="ru-RU"/>
              <a:pPr/>
              <a:t>32</a:t>
            </a:fld>
            <a:endParaRPr lang="ru-RU" dirty="0"/>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pPr algn="l"/>
            <a:r>
              <a:rPr lang="ru-RU" sz="1800" b="0" i="0" u="none" strike="noStrike" baseline="0" dirty="0">
                <a:latin typeface="TimesNewRoman"/>
              </a:rPr>
              <a:t>При таком сценарии конечные витрины данных создаются для обслуживания бизнес</a:t>
            </a:r>
            <a:r>
              <a:rPr lang="ru-RU" sz="1800" b="0" i="0" u="none" strike="noStrike" baseline="0" dirty="0">
                <a:latin typeface="Times-Roman"/>
              </a:rPr>
              <a:t>-</a:t>
            </a:r>
            <a:r>
              <a:rPr lang="ru-RU" sz="1800" b="0" i="0" u="none" strike="noStrike" baseline="0" dirty="0">
                <a:latin typeface="TimesNewRoman"/>
              </a:rPr>
              <a:t>отделов</a:t>
            </a:r>
          </a:p>
          <a:p>
            <a:pPr algn="l"/>
            <a:r>
              <a:rPr lang="ru-RU" sz="1800" b="0" i="0" u="none" strike="noStrike" baseline="0" dirty="0">
                <a:latin typeface="TimesNewRoman"/>
              </a:rPr>
              <a:t>или для реализации бизнес</a:t>
            </a:r>
            <a:r>
              <a:rPr lang="ru-RU" sz="1800" b="0" i="0" u="none" strike="noStrike" baseline="0" dirty="0">
                <a:latin typeface="Times-Roman"/>
              </a:rPr>
              <a:t>-</a:t>
            </a:r>
            <a:r>
              <a:rPr lang="ru-RU" sz="1800" b="0" i="0" u="none" strike="noStrike" baseline="0" dirty="0">
                <a:latin typeface="TimesNewRoman"/>
              </a:rPr>
              <a:t>функций и используют пространственную модель</a:t>
            </a:r>
            <a:r>
              <a:rPr lang="ru-RU" sz="1800" b="0" i="0" u="none" strike="noStrike" baseline="0" dirty="0">
                <a:latin typeface="Times-Roman"/>
              </a:rPr>
              <a:t>3 </a:t>
            </a:r>
            <a:r>
              <a:rPr lang="ru-RU" sz="1800" b="0" i="0" u="none" strike="noStrike" baseline="0" dirty="0">
                <a:latin typeface="TimesNewRoman"/>
              </a:rPr>
              <a:t>для структурирования</a:t>
            </a:r>
          </a:p>
          <a:p>
            <a:pPr algn="l"/>
            <a:r>
              <a:rPr lang="ru-RU" sz="1800" b="0" i="0" u="none" strike="noStrike" baseline="0" dirty="0">
                <a:latin typeface="TimesNewRoman"/>
              </a:rPr>
              <a:t>суммарных данных. Атомарные данные остаются доступными через нормализованное Хранилище</a:t>
            </a:r>
          </a:p>
          <a:p>
            <a:pPr algn="l"/>
            <a:r>
              <a:rPr lang="ru-RU" sz="1800" b="0" i="0" u="none" strike="noStrike" baseline="0" dirty="0">
                <a:latin typeface="TimesNewRoman"/>
              </a:rPr>
              <a:t>данных. Очевидно, что структура атомарных и суммарных данных при таком подходе существенно</a:t>
            </a:r>
          </a:p>
          <a:p>
            <a:pPr algn="l"/>
            <a:r>
              <a:rPr lang="ru-RU" sz="1800" b="0" i="0" u="none" strike="noStrike" baseline="0" dirty="0">
                <a:latin typeface="TimesNewRoman"/>
              </a:rPr>
              <a:t>различается.</a:t>
            </a:r>
            <a:endParaRPr lang="ru-RU" dirty="0"/>
          </a:p>
        </p:txBody>
      </p:sp>
    </p:spTree>
    <p:extLst>
      <p:ext uri="{BB962C8B-B14F-4D97-AF65-F5344CB8AC3E}">
        <p14:creationId xmlns:p14="http://schemas.microsoft.com/office/powerpoint/2010/main" val="41909526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736776-38A3-4248-A465-29A13CE7B969}" type="slidenum">
              <a:rPr lang="ru-RU"/>
              <a:pPr/>
              <a:t>33</a:t>
            </a:fld>
            <a:endParaRPr lang="ru-RU" dirty="0"/>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pPr algn="l"/>
            <a:r>
              <a:rPr lang="ru-RU" sz="1800" b="0" i="0" u="none" strike="noStrike" baseline="0" dirty="0">
                <a:latin typeface="TimesNewRoman"/>
              </a:rPr>
              <a:t>При таком сценарии конечные витрины данных создаются для обслуживания бизнес</a:t>
            </a:r>
            <a:r>
              <a:rPr lang="ru-RU" sz="1800" b="0" i="0" u="none" strike="noStrike" baseline="0" dirty="0">
                <a:latin typeface="Times-Roman"/>
              </a:rPr>
              <a:t>-</a:t>
            </a:r>
            <a:r>
              <a:rPr lang="ru-RU" sz="1800" b="0" i="0" u="none" strike="noStrike" baseline="0" dirty="0">
                <a:latin typeface="TimesNewRoman"/>
              </a:rPr>
              <a:t>отделов</a:t>
            </a:r>
          </a:p>
          <a:p>
            <a:pPr algn="l"/>
            <a:r>
              <a:rPr lang="ru-RU" sz="1800" b="0" i="0" u="none" strike="noStrike" baseline="0" dirty="0">
                <a:latin typeface="TimesNewRoman"/>
              </a:rPr>
              <a:t>или для реализации бизнес</a:t>
            </a:r>
            <a:r>
              <a:rPr lang="ru-RU" sz="1800" b="0" i="0" u="none" strike="noStrike" baseline="0" dirty="0">
                <a:latin typeface="Times-Roman"/>
              </a:rPr>
              <a:t>-</a:t>
            </a:r>
            <a:r>
              <a:rPr lang="ru-RU" sz="1800" b="0" i="0" u="none" strike="noStrike" baseline="0" dirty="0">
                <a:latin typeface="TimesNewRoman"/>
              </a:rPr>
              <a:t>функций и используют пространственную модель</a:t>
            </a:r>
            <a:r>
              <a:rPr lang="ru-RU" sz="1800" b="0" i="0" u="none" strike="noStrike" baseline="0" dirty="0">
                <a:latin typeface="Times-Roman"/>
              </a:rPr>
              <a:t>3 </a:t>
            </a:r>
            <a:r>
              <a:rPr lang="ru-RU" sz="1800" b="0" i="0" u="none" strike="noStrike" baseline="0" dirty="0">
                <a:latin typeface="TimesNewRoman"/>
              </a:rPr>
              <a:t>для структурирования</a:t>
            </a:r>
          </a:p>
          <a:p>
            <a:pPr algn="l"/>
            <a:r>
              <a:rPr lang="ru-RU" sz="1800" b="0" i="0" u="none" strike="noStrike" baseline="0" dirty="0">
                <a:latin typeface="TimesNewRoman"/>
              </a:rPr>
              <a:t>суммарных данных. Атомарные данные остаются доступными через нормализованное Хранилище</a:t>
            </a:r>
          </a:p>
          <a:p>
            <a:pPr algn="l"/>
            <a:r>
              <a:rPr lang="ru-RU" sz="1800" b="0" i="0" u="none" strike="noStrike" baseline="0" dirty="0">
                <a:latin typeface="TimesNewRoman"/>
              </a:rPr>
              <a:t>данных. Очевидно, что структура атомарных и суммарных данных при таком подходе существенно</a:t>
            </a:r>
          </a:p>
          <a:p>
            <a:pPr algn="l"/>
            <a:r>
              <a:rPr lang="ru-RU" sz="1800" b="0" i="0" u="none" strike="noStrike" baseline="0" dirty="0">
                <a:latin typeface="TimesNewRoman"/>
              </a:rPr>
              <a:t>различается.</a:t>
            </a:r>
            <a:endParaRPr lang="ru-RU" dirty="0"/>
          </a:p>
        </p:txBody>
      </p:sp>
    </p:spTree>
    <p:extLst>
      <p:ext uri="{BB962C8B-B14F-4D97-AF65-F5344CB8AC3E}">
        <p14:creationId xmlns:p14="http://schemas.microsoft.com/office/powerpoint/2010/main" val="4785165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736776-38A3-4248-A465-29A13CE7B969}" type="slidenum">
              <a:rPr lang="ru-RU"/>
              <a:pPr/>
              <a:t>34</a:t>
            </a:fld>
            <a:endParaRPr lang="ru-RU" dirty="0"/>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pPr algn="l"/>
            <a:r>
              <a:rPr lang="ru-RU" sz="1800" b="0" i="0" u="none" strike="noStrike" baseline="0" dirty="0">
                <a:latin typeface="TimesNewRoman"/>
              </a:rPr>
              <a:t>В этой модели первичные данные преобразуются в информацию, пригодную для использования, на</a:t>
            </a:r>
          </a:p>
          <a:p>
            <a:pPr algn="l"/>
            <a:r>
              <a:rPr lang="ru-RU" sz="1800" b="0" i="0" u="none" strike="noStrike" baseline="0" dirty="0">
                <a:latin typeface="TimesNewRoman"/>
              </a:rPr>
              <a:t>этапе подготовки данных. При этом обязательно принимаются во внимание требования к скорости</a:t>
            </a:r>
          </a:p>
          <a:p>
            <a:pPr algn="l"/>
            <a:r>
              <a:rPr lang="ru-RU" sz="1800" b="0" i="0" u="none" strike="noStrike" baseline="0" dirty="0">
                <a:latin typeface="TimesNewRoman"/>
              </a:rPr>
              <a:t>обработки информации и качеству данных. Как и в модели Билла </a:t>
            </a:r>
            <a:r>
              <a:rPr lang="ru-RU" sz="1800" b="0" i="0" u="none" strike="noStrike" baseline="0" dirty="0" err="1">
                <a:latin typeface="TimesNewRoman"/>
              </a:rPr>
              <a:t>Инмона</a:t>
            </a:r>
            <a:r>
              <a:rPr lang="ru-RU" sz="1800" b="0" i="0" u="none" strike="noStrike" baseline="0" dirty="0">
                <a:latin typeface="TimesNewRoman"/>
              </a:rPr>
              <a:t>, подготовка данных</a:t>
            </a:r>
          </a:p>
          <a:p>
            <a:pPr algn="l"/>
            <a:r>
              <a:rPr lang="ru-RU" sz="1800" b="0" i="0" u="none" strike="noStrike" baseline="0" dirty="0">
                <a:latin typeface="TimesNewRoman"/>
              </a:rPr>
              <a:t>начинается со скоординированного извлечения данных из источников. Ряд операций совершается</a:t>
            </a:r>
            <a:endParaRPr lang="ru-RU" sz="1800" b="0" i="0" u="none" strike="noStrike" baseline="0" dirty="0">
              <a:latin typeface="Times-Roman"/>
            </a:endParaRPr>
          </a:p>
          <a:p>
            <a:pPr algn="l"/>
            <a:r>
              <a:rPr lang="ru-RU" sz="1800" b="0" i="0" u="none" strike="noStrike" baseline="0" dirty="0">
                <a:latin typeface="TimesNewRoman"/>
              </a:rPr>
              <a:t>централизованно, например, поддержание и хранение общих справочных данных, другие действия</a:t>
            </a:r>
          </a:p>
          <a:p>
            <a:pPr algn="l"/>
            <a:r>
              <a:rPr lang="ru-RU" sz="1800" b="0" i="0" u="none" strike="noStrike" baseline="0" dirty="0">
                <a:latin typeface="TimesNewRoman"/>
              </a:rPr>
              <a:t>могут быть распределенными.</a:t>
            </a:r>
          </a:p>
          <a:p>
            <a:pPr algn="l"/>
            <a:r>
              <a:rPr lang="ru-RU" sz="1800" b="0" i="0" u="none" strike="noStrike" baseline="0" dirty="0">
                <a:latin typeface="TimesNewRoman"/>
              </a:rPr>
              <a:t>Область представления </a:t>
            </a:r>
            <a:r>
              <a:rPr lang="ru-RU" sz="1800" b="0" i="0" u="none" strike="noStrike" baseline="0" dirty="0" err="1">
                <a:latin typeface="TimesNewRoman"/>
              </a:rPr>
              <a:t>пространственно</a:t>
            </a:r>
            <a:r>
              <a:rPr lang="ru-RU" sz="1800" b="0" i="0" u="none" strike="noStrike" baseline="0" dirty="0">
                <a:latin typeface="TimesNewRoman"/>
              </a:rPr>
              <a:t> структурирована, при этом она может быть</a:t>
            </a:r>
          </a:p>
          <a:p>
            <a:pPr algn="l"/>
            <a:r>
              <a:rPr lang="ru-RU" sz="1800" b="0" i="0" u="none" strike="noStrike" baseline="0" dirty="0">
                <a:latin typeface="TimesNewRoman"/>
              </a:rPr>
              <a:t>централизованной или распределенной. Пространственная модель Хранилища данных содержит ту же</a:t>
            </a:r>
          </a:p>
          <a:p>
            <a:pPr algn="l"/>
            <a:r>
              <a:rPr lang="ru-RU" sz="1800" b="0" i="0" u="none" strike="noStrike" baseline="0" dirty="0">
                <a:latin typeface="TimesNewRoman"/>
              </a:rPr>
              <a:t>атомарную информацию, что и нормализованная модель (см. подход Билла </a:t>
            </a:r>
            <a:r>
              <a:rPr lang="ru-RU" sz="1800" b="0" i="0" u="none" strike="noStrike" baseline="0" dirty="0" err="1">
                <a:latin typeface="TimesNewRoman"/>
              </a:rPr>
              <a:t>Инмона</a:t>
            </a:r>
            <a:r>
              <a:rPr lang="ru-RU" sz="1800" b="0" i="0" u="none" strike="noStrike" baseline="0" dirty="0">
                <a:latin typeface="TimesNewRoman"/>
              </a:rPr>
              <a:t>), но информация</a:t>
            </a:r>
          </a:p>
          <a:p>
            <a:pPr algn="l"/>
            <a:r>
              <a:rPr lang="ru-RU" sz="1800" b="0" i="0" u="none" strike="noStrike" baseline="0" dirty="0">
                <a:latin typeface="TimesNewRoman"/>
              </a:rPr>
              <a:t>структурирована по</a:t>
            </a:r>
            <a:r>
              <a:rPr lang="ru-RU" sz="1800" b="0" i="0" u="none" strike="noStrike" baseline="0" dirty="0">
                <a:latin typeface="Times-Roman"/>
              </a:rPr>
              <a:t>-</a:t>
            </a:r>
            <a:r>
              <a:rPr lang="ru-RU" sz="1800" b="0" i="0" u="none" strike="noStrike" baseline="0" dirty="0">
                <a:latin typeface="TimesNewRoman"/>
              </a:rPr>
              <a:t>другому, чтобы облегчить ее использование и выполнение запросов. Эта модель</a:t>
            </a:r>
          </a:p>
          <a:p>
            <a:pPr algn="l"/>
            <a:r>
              <a:rPr lang="ru-RU" sz="1800" b="0" i="0" u="none" strike="noStrike" baseline="0" dirty="0">
                <a:latin typeface="TimesNewRoman"/>
              </a:rPr>
              <a:t>включает как атомарные данные, так и обобщающую информацию (агрегаты в связанных таблицах или</a:t>
            </a:r>
          </a:p>
          <a:p>
            <a:pPr algn="l"/>
            <a:r>
              <a:rPr lang="ru-RU" sz="1800" b="0" i="0" u="none" strike="noStrike" baseline="0" dirty="0">
                <a:latin typeface="TimesNewRoman"/>
              </a:rPr>
              <a:t>многомерных кубах) в соответствии с требованиями производительности или пространственного</a:t>
            </a:r>
          </a:p>
          <a:p>
            <a:pPr algn="l"/>
            <a:r>
              <a:rPr lang="ru-RU" sz="1800" b="0" i="0" u="none" strike="noStrike" baseline="0" dirty="0">
                <a:latin typeface="TimesNewRoman"/>
              </a:rPr>
              <a:t>распределения данных. Запросы в процессе выполнения обращаются к все более низкому уровню</a:t>
            </a:r>
          </a:p>
          <a:p>
            <a:pPr algn="l"/>
            <a:r>
              <a:rPr lang="ru-RU" sz="1800" b="0" i="0" u="none" strike="noStrike" baseline="0" dirty="0">
                <a:latin typeface="TimesNewRoman"/>
              </a:rPr>
              <a:t>детализации без дополнительного перепрограммирования со стороны пользователей или</a:t>
            </a:r>
          </a:p>
          <a:p>
            <a:pPr algn="l"/>
            <a:r>
              <a:rPr lang="ru-RU" sz="1800" b="0" i="0" u="none" strike="noStrike" baseline="0" dirty="0">
                <a:latin typeface="TimesNewRoman"/>
              </a:rPr>
              <a:t>разработчиков приложения.</a:t>
            </a:r>
          </a:p>
          <a:p>
            <a:pPr algn="l"/>
            <a:endParaRPr lang="ru-RU" sz="1800" b="0" i="0" u="none" strike="noStrike" baseline="0" dirty="0">
              <a:latin typeface="TimesNewRoman"/>
            </a:endParaRPr>
          </a:p>
          <a:p>
            <a:pPr algn="l"/>
            <a:r>
              <a:rPr lang="ru-RU" sz="1800" b="0" i="0" u="none" strike="noStrike" baseline="0" dirty="0">
                <a:latin typeface="TimesNewRoman"/>
              </a:rPr>
              <a:t>В отличие от подхода Билла </a:t>
            </a:r>
            <a:r>
              <a:rPr lang="ru-RU" sz="1800" b="0" i="0" u="none" strike="noStrike" baseline="0" dirty="0" err="1">
                <a:latin typeface="TimesNewRoman"/>
              </a:rPr>
              <a:t>Инмона</a:t>
            </a:r>
            <a:r>
              <a:rPr lang="ru-RU" sz="1800" b="0" i="0" u="none" strike="noStrike" baseline="0" dirty="0">
                <a:latin typeface="TimesNewRoman"/>
              </a:rPr>
              <a:t>, пространственные модели строятся для обслуживания</a:t>
            </a:r>
          </a:p>
          <a:p>
            <a:pPr algn="l"/>
            <a:r>
              <a:rPr lang="ru-RU" sz="1800" b="0" i="0" u="none" strike="noStrike" baseline="0" dirty="0">
                <a:latin typeface="TimesNewRoman"/>
              </a:rPr>
              <a:t>бизнес</a:t>
            </a:r>
            <a:r>
              <a:rPr lang="ru-RU" sz="1800" b="0" i="0" u="none" strike="noStrike" baseline="0" dirty="0">
                <a:latin typeface="Times-Roman"/>
              </a:rPr>
              <a:t>-</a:t>
            </a:r>
            <a:r>
              <a:rPr lang="ru-RU" sz="1800" b="0" i="0" u="none" strike="noStrike" baseline="0" dirty="0">
                <a:latin typeface="TimesNewRoman"/>
              </a:rPr>
              <a:t>процессов (которые, в свою очередь, связаны с бизнес</a:t>
            </a:r>
            <a:r>
              <a:rPr lang="ru-RU" sz="1800" b="0" i="0" u="none" strike="noStrike" baseline="0" dirty="0">
                <a:latin typeface="Times-Roman"/>
              </a:rPr>
              <a:t>-</a:t>
            </a:r>
            <a:r>
              <a:rPr lang="ru-RU" sz="1800" b="0" i="0" u="none" strike="noStrike" baseline="0" dirty="0">
                <a:latin typeface="TimesNewRoman"/>
              </a:rPr>
              <a:t>показателями или бизнес</a:t>
            </a:r>
            <a:r>
              <a:rPr lang="ru-RU" sz="1800" b="0" i="0" u="none" strike="noStrike" baseline="0" dirty="0">
                <a:latin typeface="Times-Roman"/>
              </a:rPr>
              <a:t>-</a:t>
            </a:r>
            <a:r>
              <a:rPr lang="ru-RU" sz="1800" b="0" i="0" u="none" strike="noStrike" baseline="0" dirty="0">
                <a:latin typeface="TimesNewRoman"/>
              </a:rPr>
              <a:t>событиями), а</a:t>
            </a:r>
          </a:p>
          <a:p>
            <a:pPr algn="l"/>
            <a:r>
              <a:rPr lang="ru-RU" sz="1800" b="0" i="0" u="none" strike="noStrike" baseline="0" dirty="0">
                <a:latin typeface="TimesNewRoman"/>
              </a:rPr>
              <a:t>не бизнес</a:t>
            </a:r>
            <a:r>
              <a:rPr lang="ru-RU" sz="1800" b="0" i="0" u="none" strike="noStrike" baseline="0" dirty="0">
                <a:latin typeface="Times-Roman"/>
              </a:rPr>
              <a:t>-</a:t>
            </a:r>
            <a:r>
              <a:rPr lang="ru-RU" sz="1800" b="0" i="0" u="none" strike="noStrike" baseline="0" dirty="0">
                <a:latin typeface="TimesNewRoman"/>
              </a:rPr>
              <a:t>отделов. Например, данные о заказах, которые должны быть доступны для</a:t>
            </a:r>
          </a:p>
          <a:p>
            <a:pPr algn="l"/>
            <a:r>
              <a:rPr lang="ru-RU" sz="1800" b="0" i="0" u="none" strike="noStrike" baseline="0" dirty="0">
                <a:latin typeface="TimesNewRoman"/>
              </a:rPr>
              <a:t>общекорпоративного использования, вносятся в пространственное Хранилище данных только один</a:t>
            </a:r>
          </a:p>
          <a:p>
            <a:pPr algn="l"/>
            <a:r>
              <a:rPr lang="ru-RU" sz="1800" b="0" i="0" u="none" strike="noStrike" baseline="0" dirty="0">
                <a:latin typeface="TimesNewRoman"/>
              </a:rPr>
              <a:t>раз, в отличие от CIF</a:t>
            </a:r>
            <a:r>
              <a:rPr lang="ru-RU" sz="1800" b="0" i="0" u="none" strike="noStrike" baseline="0" dirty="0">
                <a:latin typeface="Times-Roman"/>
              </a:rPr>
              <a:t>-</a:t>
            </a:r>
            <a:r>
              <a:rPr lang="ru-RU" sz="1800" b="0" i="0" u="none" strike="noStrike" baseline="0" dirty="0">
                <a:latin typeface="TimesNewRoman"/>
              </a:rPr>
              <a:t>подхода, в котором их пришлось бы трижды копировать в витрины данных</a:t>
            </a:r>
          </a:p>
          <a:p>
            <a:pPr algn="l"/>
            <a:r>
              <a:rPr lang="ru-RU" sz="1800" b="0" i="0" u="none" strike="noStrike" baseline="0" dirty="0">
                <a:latin typeface="TimesNewRoman"/>
              </a:rPr>
              <a:t>отделов маркетинга, продаж и финансов. После того, как в Хранилище появляется информация об</a:t>
            </a:r>
          </a:p>
          <a:p>
            <a:pPr algn="l"/>
            <a:r>
              <a:rPr lang="ru-RU" sz="1800" b="0" i="0" u="none" strike="noStrike" baseline="0" dirty="0">
                <a:latin typeface="TimesNewRoman"/>
              </a:rPr>
              <a:t>основных бизнес</a:t>
            </a:r>
            <a:r>
              <a:rPr lang="ru-RU" sz="1800" b="0" i="0" u="none" strike="noStrike" baseline="0" dirty="0">
                <a:latin typeface="Times-Roman"/>
              </a:rPr>
              <a:t>-</a:t>
            </a:r>
            <a:r>
              <a:rPr lang="ru-RU" sz="1800" b="0" i="0" u="none" strike="noStrike" baseline="0" dirty="0">
                <a:latin typeface="TimesNewRoman"/>
              </a:rPr>
              <a:t>процессах, консолидированные пространственные модели могут выдавать их</a:t>
            </a:r>
          </a:p>
          <a:p>
            <a:pPr algn="l"/>
            <a:r>
              <a:rPr lang="ru-RU" sz="1800" b="0" i="0" u="none" strike="noStrike" baseline="0" dirty="0">
                <a:latin typeface="TimesNewRoman"/>
              </a:rPr>
              <a:t>перекрестные характеристики. Матрица корпоративного Хранилища данных с архитектурой шины</a:t>
            </a:r>
          </a:p>
          <a:p>
            <a:pPr algn="l"/>
            <a:r>
              <a:rPr lang="ru-RU" sz="1800" b="0" i="0" u="none" strike="noStrike" baseline="0" dirty="0">
                <a:latin typeface="TimesNewRoman"/>
              </a:rPr>
              <a:t>выявляет и усиливает связи между показателями бизнес</a:t>
            </a:r>
            <a:r>
              <a:rPr lang="ru-RU" sz="1800" b="0" i="0" u="none" strike="noStrike" baseline="0" dirty="0">
                <a:latin typeface="Times-Roman"/>
              </a:rPr>
              <a:t>-</a:t>
            </a:r>
            <a:r>
              <a:rPr lang="ru-RU" sz="1800" b="0" i="0" u="none" strike="noStrike" baseline="0" dirty="0">
                <a:latin typeface="TimesNewRoman"/>
              </a:rPr>
              <a:t>процессов (фактами) и описательными</a:t>
            </a:r>
          </a:p>
          <a:p>
            <a:pPr algn="l"/>
            <a:r>
              <a:rPr lang="ru-RU" sz="1800" b="0" i="0" u="none" strike="noStrike" baseline="0" dirty="0">
                <a:latin typeface="TimesNewRoman"/>
              </a:rPr>
              <a:t>атрибутами (измерениями).</a:t>
            </a:r>
          </a:p>
          <a:p>
            <a:pPr algn="l"/>
            <a:r>
              <a:rPr lang="ru-RU" sz="1800" b="0" i="0" u="none" strike="noStrike" baseline="0" dirty="0">
                <a:latin typeface="TimesNewRoman"/>
              </a:rPr>
              <a:t>Суммируя все вышесказанное, можно отметить типичные черты подхода Ральфа </a:t>
            </a:r>
            <a:r>
              <a:rPr lang="ru-RU" sz="1800" b="0" i="0" u="none" strike="noStrike" baseline="0" dirty="0" err="1">
                <a:latin typeface="TimesNewRoman"/>
              </a:rPr>
              <a:t>Кимболла</a:t>
            </a:r>
            <a:r>
              <a:rPr lang="ru-RU" sz="1800" b="0" i="0" u="none" strike="noStrike" baseline="0" dirty="0">
                <a:latin typeface="TimesNewRoman"/>
              </a:rPr>
              <a:t>.</a:t>
            </a:r>
          </a:p>
          <a:p>
            <a:pPr algn="l"/>
            <a:r>
              <a:rPr lang="ru-RU" sz="1800" b="0" i="0" u="none" strike="noStrike" baseline="0" dirty="0">
                <a:latin typeface="Times-Roman"/>
              </a:rPr>
              <a:t>1. </a:t>
            </a:r>
            <a:r>
              <a:rPr lang="ru-RU" sz="1800" b="0" i="0" u="none" strike="noStrike" baseline="0" dirty="0">
                <a:latin typeface="TimesNewRoman"/>
              </a:rPr>
              <a:t>Использование пространственной модели организации данных с архитектурой "звезда" (</a:t>
            </a:r>
            <a:r>
              <a:rPr lang="ru-RU" sz="1800" b="0" i="0" u="none" strike="noStrike" baseline="0" dirty="0" err="1">
                <a:latin typeface="TimesNewRoman"/>
              </a:rPr>
              <a:t>star</a:t>
            </a:r>
            <a:endParaRPr lang="ru-RU" sz="1800" b="0" i="0" u="none" strike="noStrike" baseline="0" dirty="0">
              <a:latin typeface="TimesNewRoman"/>
            </a:endParaRPr>
          </a:p>
          <a:p>
            <a:pPr algn="l"/>
            <a:r>
              <a:rPr lang="en-US" sz="1800" b="0" i="0" u="none" strike="noStrike" baseline="0" dirty="0">
                <a:latin typeface="Times-Roman"/>
              </a:rPr>
              <a:t>scheme).</a:t>
            </a:r>
          </a:p>
          <a:p>
            <a:pPr algn="l"/>
            <a:r>
              <a:rPr lang="ru-RU" sz="1800" b="0" i="0" u="none" strike="noStrike" baseline="0" dirty="0">
                <a:latin typeface="Times-Roman"/>
              </a:rPr>
              <a:t>2. </a:t>
            </a:r>
            <a:r>
              <a:rPr lang="ru-RU" sz="1800" b="0" i="0" u="none" strike="noStrike" baseline="0" dirty="0">
                <a:latin typeface="TimesNewRoman"/>
              </a:rPr>
              <a:t>Использование двухуровневой архитектуры, которая включает стадию подготовки данных,</a:t>
            </a:r>
          </a:p>
          <a:p>
            <a:pPr algn="l"/>
            <a:r>
              <a:rPr lang="ru-RU" sz="1800" b="0" i="0" u="none" strike="noStrike" baseline="0" dirty="0">
                <a:latin typeface="TimesNewRoman"/>
              </a:rPr>
              <a:t>недоступную для конечных пользователей, и Хранилище данных с архитектурой шины как таковое.</a:t>
            </a:r>
          </a:p>
          <a:p>
            <a:pPr algn="l"/>
            <a:r>
              <a:rPr lang="ru-RU" sz="1800" b="0" i="0" u="none" strike="noStrike" baseline="0" dirty="0">
                <a:latin typeface="TimesNewRoman"/>
              </a:rPr>
              <a:t>В состав последнего входят несколько витрин атомарных данных, несколько витрин агрегированных</a:t>
            </a:r>
          </a:p>
          <a:p>
            <a:pPr algn="l"/>
            <a:r>
              <a:rPr lang="ru-RU" sz="1800" b="0" i="0" u="none" strike="noStrike" baseline="0" dirty="0">
                <a:latin typeface="TimesNewRoman"/>
              </a:rPr>
              <a:t>данных и персональная витрина данных, но оно не содержит одного физически целостного или</a:t>
            </a:r>
          </a:p>
          <a:p>
            <a:pPr algn="l"/>
            <a:r>
              <a:rPr lang="ru-RU" sz="1800" b="0" i="0" u="none" strike="noStrike" baseline="0" dirty="0">
                <a:latin typeface="TimesNewRoman"/>
              </a:rPr>
              <a:t>централизованного Хранилища данных.</a:t>
            </a:r>
          </a:p>
          <a:p>
            <a:pPr algn="l"/>
            <a:r>
              <a:rPr lang="ru-RU" sz="1800" b="0" i="0" u="none" strike="noStrike" baseline="0" dirty="0">
                <a:latin typeface="Times-Roman"/>
              </a:rPr>
              <a:t>3. </a:t>
            </a:r>
            <a:r>
              <a:rPr lang="ru-RU" sz="1800" b="0" i="0" u="none" strike="noStrike" baseline="0" dirty="0">
                <a:latin typeface="TimesNewRoman"/>
              </a:rPr>
              <a:t>Хранилище данных с архитектурой шины обладает следующими характеристиками:</a:t>
            </a:r>
          </a:p>
          <a:p>
            <a:pPr algn="l"/>
            <a:r>
              <a:rPr lang="ru-RU" sz="1800" b="0" i="0" u="none" strike="noStrike" baseline="0" dirty="0">
                <a:latin typeface="TimesNewRoman"/>
              </a:rPr>
              <a:t>‒ оно пространственное;</a:t>
            </a:r>
          </a:p>
          <a:p>
            <a:pPr algn="l"/>
            <a:r>
              <a:rPr lang="ru-RU" sz="1800" b="0" i="0" u="none" strike="noStrike" baseline="0" dirty="0">
                <a:latin typeface="TimesNewRoman"/>
              </a:rPr>
              <a:t>‒ оно включает как данные о транзакциях, так и суммарные данные;</a:t>
            </a:r>
          </a:p>
          <a:p>
            <a:pPr algn="l"/>
            <a:r>
              <a:rPr lang="ru-RU" sz="1800" b="0" i="0" u="none" strike="noStrike" baseline="0" dirty="0">
                <a:latin typeface="TimesNewRoman"/>
              </a:rPr>
              <a:t>‒ оно включает витрины данных, посвященные только одной предметной области или</a:t>
            </a:r>
          </a:p>
          <a:p>
            <a:pPr algn="l"/>
            <a:r>
              <a:rPr lang="ru-RU" sz="1800" b="0" i="0" u="none" strike="noStrike" baseline="0" dirty="0">
                <a:latin typeface="TimesNewRoman"/>
              </a:rPr>
              <a:t>имеющие только одну таблицу фактов (</a:t>
            </a:r>
            <a:r>
              <a:rPr lang="ru-RU" sz="1800" b="0" i="0" u="none" strike="noStrike" baseline="0" dirty="0" err="1">
                <a:latin typeface="TimesNewRoman"/>
              </a:rPr>
              <a:t>fact</a:t>
            </a:r>
            <a:r>
              <a:rPr lang="ru-RU" sz="1800" b="0" i="0" u="none" strike="noStrike" baseline="0" dirty="0">
                <a:latin typeface="TimesNewRoman"/>
              </a:rPr>
              <a:t> </a:t>
            </a:r>
            <a:r>
              <a:rPr lang="ru-RU" sz="1800" b="0" i="0" u="none" strike="noStrike" baseline="0" dirty="0" err="1">
                <a:latin typeface="TimesNewRoman"/>
              </a:rPr>
              <a:t>table</a:t>
            </a:r>
            <a:r>
              <a:rPr lang="ru-RU" sz="1800" b="0" i="0" u="none" strike="noStrike" baseline="0" dirty="0">
                <a:latin typeface="TimesNewRoman"/>
              </a:rPr>
              <a:t>);</a:t>
            </a:r>
          </a:p>
          <a:p>
            <a:pPr algn="l"/>
            <a:r>
              <a:rPr lang="ru-RU" sz="1800" b="0" i="0" u="none" strike="noStrike" baseline="0" dirty="0">
                <a:latin typeface="TimesNewRoman"/>
              </a:rPr>
              <a:t>‒ оно может содержать множество витрин данных в пределах одной базы данных.</a:t>
            </a:r>
          </a:p>
          <a:p>
            <a:pPr algn="l"/>
            <a:r>
              <a:rPr lang="ru-RU" sz="1800" b="0" i="0" u="none" strike="noStrike" baseline="0" dirty="0">
                <a:latin typeface="Times-Roman"/>
              </a:rPr>
              <a:t>4. </a:t>
            </a:r>
            <a:r>
              <a:rPr lang="ru-RU" sz="1800" b="0" i="0" u="none" strike="noStrike" baseline="0" dirty="0">
                <a:latin typeface="TimesNewRoman"/>
              </a:rPr>
              <a:t>Хранилище данных не является единым физическим репозиторием (в отличие от подхода</a:t>
            </a:r>
          </a:p>
          <a:p>
            <a:pPr algn="l"/>
            <a:r>
              <a:rPr lang="ru-RU" sz="1800" b="0" i="0" u="none" strike="noStrike" baseline="0" dirty="0">
                <a:latin typeface="TimesNewRoman"/>
              </a:rPr>
              <a:t>Билла </a:t>
            </a:r>
            <a:r>
              <a:rPr lang="ru-RU" sz="1800" b="0" i="0" u="none" strike="noStrike" baseline="0" dirty="0" err="1">
                <a:latin typeface="TimesNewRoman"/>
              </a:rPr>
              <a:t>Инмона</a:t>
            </a:r>
            <a:r>
              <a:rPr lang="ru-RU" sz="1800" b="0" i="0" u="none" strike="noStrike" baseline="0" dirty="0">
                <a:latin typeface="TimesNewRoman"/>
              </a:rPr>
              <a:t>). Это "виртуальное" Хранилище. Это коллекция витрин данных, каждая из которых</a:t>
            </a:r>
          </a:p>
          <a:p>
            <a:pPr algn="l"/>
            <a:r>
              <a:rPr lang="ru-RU" sz="1800" b="0" i="0" u="none" strike="noStrike" baseline="0" dirty="0">
                <a:latin typeface="TimesNewRoman"/>
              </a:rPr>
              <a:t>имеет архитектуру типа "звезда".</a:t>
            </a:r>
            <a:endParaRPr lang="ru-RU" sz="3200" dirty="0">
              <a:latin typeface="+mn-lt"/>
              <a:cs typeface="+mn-cs"/>
            </a:endParaRPr>
          </a:p>
        </p:txBody>
      </p:sp>
    </p:spTree>
    <p:extLst>
      <p:ext uri="{BB962C8B-B14F-4D97-AF65-F5344CB8AC3E}">
        <p14:creationId xmlns:p14="http://schemas.microsoft.com/office/powerpoint/2010/main" val="5146578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736776-38A3-4248-A465-29A13CE7B969}" type="slidenum">
              <a:rPr lang="ru-RU"/>
              <a:pPr/>
              <a:t>35</a:t>
            </a:fld>
            <a:endParaRPr lang="ru-RU" dirty="0"/>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pPr algn="l"/>
            <a:r>
              <a:rPr lang="ru-RU" sz="1800" b="0" i="0" u="none" strike="noStrike" baseline="0" dirty="0">
                <a:latin typeface="TimesNewRoman"/>
              </a:rPr>
              <a:t>В этой модели первичные данные преобразуются в информацию, пригодную для использования, на</a:t>
            </a:r>
          </a:p>
          <a:p>
            <a:pPr algn="l"/>
            <a:r>
              <a:rPr lang="ru-RU" sz="1800" b="0" i="0" u="none" strike="noStrike" baseline="0" dirty="0">
                <a:latin typeface="TimesNewRoman"/>
              </a:rPr>
              <a:t>этапе подготовки данных. При этом обязательно принимаются во внимание требования к скорости</a:t>
            </a:r>
          </a:p>
          <a:p>
            <a:pPr algn="l"/>
            <a:r>
              <a:rPr lang="ru-RU" sz="1800" b="0" i="0" u="none" strike="noStrike" baseline="0" dirty="0">
                <a:latin typeface="TimesNewRoman"/>
              </a:rPr>
              <a:t>обработки информации и качеству данных. Как и в модели Билла </a:t>
            </a:r>
            <a:r>
              <a:rPr lang="ru-RU" sz="1800" b="0" i="0" u="none" strike="noStrike" baseline="0" dirty="0" err="1">
                <a:latin typeface="TimesNewRoman"/>
              </a:rPr>
              <a:t>Инмона</a:t>
            </a:r>
            <a:r>
              <a:rPr lang="ru-RU" sz="1800" b="0" i="0" u="none" strike="noStrike" baseline="0" dirty="0">
                <a:latin typeface="TimesNewRoman"/>
              </a:rPr>
              <a:t>, подготовка данных</a:t>
            </a:r>
          </a:p>
          <a:p>
            <a:pPr algn="l"/>
            <a:r>
              <a:rPr lang="ru-RU" sz="1800" b="0" i="0" u="none" strike="noStrike" baseline="0" dirty="0">
                <a:latin typeface="TimesNewRoman"/>
              </a:rPr>
              <a:t>начинается со скоординированного извлечения данных из источников. Ряд операций совершается</a:t>
            </a:r>
            <a:endParaRPr lang="ru-RU" sz="1800" b="0" i="0" u="none" strike="noStrike" baseline="0" dirty="0">
              <a:latin typeface="Times-Roman"/>
            </a:endParaRPr>
          </a:p>
          <a:p>
            <a:pPr algn="l"/>
            <a:r>
              <a:rPr lang="ru-RU" sz="1800" b="0" i="0" u="none" strike="noStrike" baseline="0" dirty="0">
                <a:latin typeface="TimesNewRoman"/>
              </a:rPr>
              <a:t>централизованно, например, поддержание и хранение общих справочных данных, другие действия</a:t>
            </a:r>
          </a:p>
          <a:p>
            <a:pPr algn="l"/>
            <a:r>
              <a:rPr lang="ru-RU" sz="1800" b="0" i="0" u="none" strike="noStrike" baseline="0" dirty="0">
                <a:latin typeface="TimesNewRoman"/>
              </a:rPr>
              <a:t>могут быть распределенными.</a:t>
            </a:r>
          </a:p>
          <a:p>
            <a:pPr algn="l"/>
            <a:r>
              <a:rPr lang="ru-RU" sz="1800" b="0" i="0" u="none" strike="noStrike" baseline="0" dirty="0">
                <a:latin typeface="TimesNewRoman"/>
              </a:rPr>
              <a:t>Область представления </a:t>
            </a:r>
            <a:r>
              <a:rPr lang="ru-RU" sz="1800" b="0" i="0" u="none" strike="noStrike" baseline="0" dirty="0" err="1">
                <a:latin typeface="TimesNewRoman"/>
              </a:rPr>
              <a:t>пространственно</a:t>
            </a:r>
            <a:r>
              <a:rPr lang="ru-RU" sz="1800" b="0" i="0" u="none" strike="noStrike" baseline="0" dirty="0">
                <a:latin typeface="TimesNewRoman"/>
              </a:rPr>
              <a:t> структурирована, при этом она может быть</a:t>
            </a:r>
          </a:p>
          <a:p>
            <a:pPr algn="l"/>
            <a:r>
              <a:rPr lang="ru-RU" sz="1800" b="0" i="0" u="none" strike="noStrike" baseline="0" dirty="0">
                <a:latin typeface="TimesNewRoman"/>
              </a:rPr>
              <a:t>централизованной или распределенной. Пространственная модель Хранилища данных содержит ту же</a:t>
            </a:r>
          </a:p>
          <a:p>
            <a:pPr algn="l"/>
            <a:r>
              <a:rPr lang="ru-RU" sz="1800" b="0" i="0" u="none" strike="noStrike" baseline="0" dirty="0">
                <a:latin typeface="TimesNewRoman"/>
              </a:rPr>
              <a:t>атомарную информацию, что и нормализованная модель (см. подход Билла </a:t>
            </a:r>
            <a:r>
              <a:rPr lang="ru-RU" sz="1800" b="0" i="0" u="none" strike="noStrike" baseline="0" dirty="0" err="1">
                <a:latin typeface="TimesNewRoman"/>
              </a:rPr>
              <a:t>Инмона</a:t>
            </a:r>
            <a:r>
              <a:rPr lang="ru-RU" sz="1800" b="0" i="0" u="none" strike="noStrike" baseline="0" dirty="0">
                <a:latin typeface="TimesNewRoman"/>
              </a:rPr>
              <a:t>), но информация</a:t>
            </a:r>
          </a:p>
          <a:p>
            <a:pPr algn="l"/>
            <a:r>
              <a:rPr lang="ru-RU" sz="1800" b="0" i="0" u="none" strike="noStrike" baseline="0" dirty="0">
                <a:latin typeface="TimesNewRoman"/>
              </a:rPr>
              <a:t>структурирована по</a:t>
            </a:r>
            <a:r>
              <a:rPr lang="ru-RU" sz="1800" b="0" i="0" u="none" strike="noStrike" baseline="0" dirty="0">
                <a:latin typeface="Times-Roman"/>
              </a:rPr>
              <a:t>-</a:t>
            </a:r>
            <a:r>
              <a:rPr lang="ru-RU" sz="1800" b="0" i="0" u="none" strike="noStrike" baseline="0" dirty="0">
                <a:latin typeface="TimesNewRoman"/>
              </a:rPr>
              <a:t>другому, чтобы облегчить ее использование и выполнение запросов. Эта модель</a:t>
            </a:r>
          </a:p>
          <a:p>
            <a:pPr algn="l"/>
            <a:r>
              <a:rPr lang="ru-RU" sz="1800" b="0" i="0" u="none" strike="noStrike" baseline="0" dirty="0">
                <a:latin typeface="TimesNewRoman"/>
              </a:rPr>
              <a:t>включает как атомарные данные, так и обобщающую информацию (агрегаты в связанных таблицах или</a:t>
            </a:r>
          </a:p>
          <a:p>
            <a:pPr algn="l"/>
            <a:r>
              <a:rPr lang="ru-RU" sz="1800" b="0" i="0" u="none" strike="noStrike" baseline="0" dirty="0">
                <a:latin typeface="TimesNewRoman"/>
              </a:rPr>
              <a:t>многомерных кубах) в соответствии с требованиями производительности или пространственного</a:t>
            </a:r>
          </a:p>
          <a:p>
            <a:pPr algn="l"/>
            <a:r>
              <a:rPr lang="ru-RU" sz="1800" b="0" i="0" u="none" strike="noStrike" baseline="0" dirty="0">
                <a:latin typeface="TimesNewRoman"/>
              </a:rPr>
              <a:t>распределения данных. Запросы в процессе выполнения обращаются к все более низкому уровню</a:t>
            </a:r>
          </a:p>
          <a:p>
            <a:pPr algn="l"/>
            <a:r>
              <a:rPr lang="ru-RU" sz="1800" b="0" i="0" u="none" strike="noStrike" baseline="0" dirty="0">
                <a:latin typeface="TimesNewRoman"/>
              </a:rPr>
              <a:t>детализации без дополнительного перепрограммирования со стороны пользователей или</a:t>
            </a:r>
          </a:p>
          <a:p>
            <a:pPr algn="l"/>
            <a:r>
              <a:rPr lang="ru-RU" sz="1800" b="0" i="0" u="none" strike="noStrike" baseline="0" dirty="0">
                <a:latin typeface="TimesNewRoman"/>
              </a:rPr>
              <a:t>разработчиков приложения.</a:t>
            </a:r>
          </a:p>
          <a:p>
            <a:pPr algn="l"/>
            <a:endParaRPr lang="ru-RU" sz="1800" b="0" i="0" u="none" strike="noStrike" baseline="0" dirty="0">
              <a:latin typeface="TimesNewRoman"/>
            </a:endParaRPr>
          </a:p>
          <a:p>
            <a:pPr algn="l"/>
            <a:r>
              <a:rPr lang="ru-RU" sz="1800" b="0" i="0" u="none" strike="noStrike" baseline="0" dirty="0">
                <a:latin typeface="TimesNewRoman"/>
              </a:rPr>
              <a:t>В отличие от подхода Билла </a:t>
            </a:r>
            <a:r>
              <a:rPr lang="ru-RU" sz="1800" b="0" i="0" u="none" strike="noStrike" baseline="0" dirty="0" err="1">
                <a:latin typeface="TimesNewRoman"/>
              </a:rPr>
              <a:t>Инмона</a:t>
            </a:r>
            <a:r>
              <a:rPr lang="ru-RU" sz="1800" b="0" i="0" u="none" strike="noStrike" baseline="0" dirty="0">
                <a:latin typeface="TimesNewRoman"/>
              </a:rPr>
              <a:t>, пространственные модели строятся для обслуживания</a:t>
            </a:r>
          </a:p>
          <a:p>
            <a:pPr algn="l"/>
            <a:r>
              <a:rPr lang="ru-RU" sz="1800" b="0" i="0" u="none" strike="noStrike" baseline="0" dirty="0">
                <a:latin typeface="TimesNewRoman"/>
              </a:rPr>
              <a:t>бизнес</a:t>
            </a:r>
            <a:r>
              <a:rPr lang="ru-RU" sz="1800" b="0" i="0" u="none" strike="noStrike" baseline="0" dirty="0">
                <a:latin typeface="Times-Roman"/>
              </a:rPr>
              <a:t>-</a:t>
            </a:r>
            <a:r>
              <a:rPr lang="ru-RU" sz="1800" b="0" i="0" u="none" strike="noStrike" baseline="0" dirty="0">
                <a:latin typeface="TimesNewRoman"/>
              </a:rPr>
              <a:t>процессов (которые, в свою очередь, связаны с бизнес</a:t>
            </a:r>
            <a:r>
              <a:rPr lang="ru-RU" sz="1800" b="0" i="0" u="none" strike="noStrike" baseline="0" dirty="0">
                <a:latin typeface="Times-Roman"/>
              </a:rPr>
              <a:t>-</a:t>
            </a:r>
            <a:r>
              <a:rPr lang="ru-RU" sz="1800" b="0" i="0" u="none" strike="noStrike" baseline="0" dirty="0">
                <a:latin typeface="TimesNewRoman"/>
              </a:rPr>
              <a:t>показателями или бизнес</a:t>
            </a:r>
            <a:r>
              <a:rPr lang="ru-RU" sz="1800" b="0" i="0" u="none" strike="noStrike" baseline="0" dirty="0">
                <a:latin typeface="Times-Roman"/>
              </a:rPr>
              <a:t>-</a:t>
            </a:r>
            <a:r>
              <a:rPr lang="ru-RU" sz="1800" b="0" i="0" u="none" strike="noStrike" baseline="0" dirty="0">
                <a:latin typeface="TimesNewRoman"/>
              </a:rPr>
              <a:t>событиями), а</a:t>
            </a:r>
          </a:p>
          <a:p>
            <a:pPr algn="l"/>
            <a:r>
              <a:rPr lang="ru-RU" sz="1800" b="0" i="0" u="none" strike="noStrike" baseline="0" dirty="0">
                <a:latin typeface="TimesNewRoman"/>
              </a:rPr>
              <a:t>не бизнес</a:t>
            </a:r>
            <a:r>
              <a:rPr lang="ru-RU" sz="1800" b="0" i="0" u="none" strike="noStrike" baseline="0" dirty="0">
                <a:latin typeface="Times-Roman"/>
              </a:rPr>
              <a:t>-</a:t>
            </a:r>
            <a:r>
              <a:rPr lang="ru-RU" sz="1800" b="0" i="0" u="none" strike="noStrike" baseline="0" dirty="0">
                <a:latin typeface="TimesNewRoman"/>
              </a:rPr>
              <a:t>отделов. Например, данные о заказах, которые должны быть доступны для</a:t>
            </a:r>
          </a:p>
          <a:p>
            <a:pPr algn="l"/>
            <a:r>
              <a:rPr lang="ru-RU" sz="1800" b="0" i="0" u="none" strike="noStrike" baseline="0" dirty="0">
                <a:latin typeface="TimesNewRoman"/>
              </a:rPr>
              <a:t>общекорпоративного использования, вносятся в пространственное Хранилище данных только один</a:t>
            </a:r>
          </a:p>
          <a:p>
            <a:pPr algn="l"/>
            <a:r>
              <a:rPr lang="ru-RU" sz="1800" b="0" i="0" u="none" strike="noStrike" baseline="0" dirty="0">
                <a:latin typeface="TimesNewRoman"/>
              </a:rPr>
              <a:t>раз, в отличие от CIF</a:t>
            </a:r>
            <a:r>
              <a:rPr lang="ru-RU" sz="1800" b="0" i="0" u="none" strike="noStrike" baseline="0" dirty="0">
                <a:latin typeface="Times-Roman"/>
              </a:rPr>
              <a:t>-</a:t>
            </a:r>
            <a:r>
              <a:rPr lang="ru-RU" sz="1800" b="0" i="0" u="none" strike="noStrike" baseline="0" dirty="0">
                <a:latin typeface="TimesNewRoman"/>
              </a:rPr>
              <a:t>подхода, в котором их пришлось бы трижды копировать в витрины данных</a:t>
            </a:r>
          </a:p>
          <a:p>
            <a:pPr algn="l"/>
            <a:r>
              <a:rPr lang="ru-RU" sz="1800" b="0" i="0" u="none" strike="noStrike" baseline="0" dirty="0">
                <a:latin typeface="TimesNewRoman"/>
              </a:rPr>
              <a:t>отделов маркетинга, продаж и финансов. После того, как в Хранилище появляется информация об</a:t>
            </a:r>
          </a:p>
          <a:p>
            <a:pPr algn="l"/>
            <a:r>
              <a:rPr lang="ru-RU" sz="1800" b="0" i="0" u="none" strike="noStrike" baseline="0" dirty="0">
                <a:latin typeface="TimesNewRoman"/>
              </a:rPr>
              <a:t>основных бизнес</a:t>
            </a:r>
            <a:r>
              <a:rPr lang="ru-RU" sz="1800" b="0" i="0" u="none" strike="noStrike" baseline="0" dirty="0">
                <a:latin typeface="Times-Roman"/>
              </a:rPr>
              <a:t>-</a:t>
            </a:r>
            <a:r>
              <a:rPr lang="ru-RU" sz="1800" b="0" i="0" u="none" strike="noStrike" baseline="0" dirty="0">
                <a:latin typeface="TimesNewRoman"/>
              </a:rPr>
              <a:t>процессах, консолидированные пространственные модели могут выдавать их</a:t>
            </a:r>
          </a:p>
          <a:p>
            <a:pPr algn="l"/>
            <a:r>
              <a:rPr lang="ru-RU" sz="1800" b="0" i="0" u="none" strike="noStrike" baseline="0" dirty="0">
                <a:latin typeface="TimesNewRoman"/>
              </a:rPr>
              <a:t>перекрестные характеристики. Матрица корпоративного Хранилища данных с архитектурой шины</a:t>
            </a:r>
          </a:p>
          <a:p>
            <a:pPr algn="l"/>
            <a:r>
              <a:rPr lang="ru-RU" sz="1800" b="0" i="0" u="none" strike="noStrike" baseline="0" dirty="0">
                <a:latin typeface="TimesNewRoman"/>
              </a:rPr>
              <a:t>выявляет и усиливает связи между показателями бизнес</a:t>
            </a:r>
            <a:r>
              <a:rPr lang="ru-RU" sz="1800" b="0" i="0" u="none" strike="noStrike" baseline="0" dirty="0">
                <a:latin typeface="Times-Roman"/>
              </a:rPr>
              <a:t>-</a:t>
            </a:r>
            <a:r>
              <a:rPr lang="ru-RU" sz="1800" b="0" i="0" u="none" strike="noStrike" baseline="0" dirty="0">
                <a:latin typeface="TimesNewRoman"/>
              </a:rPr>
              <a:t>процессов (фактами) и описательными</a:t>
            </a:r>
          </a:p>
          <a:p>
            <a:pPr algn="l"/>
            <a:r>
              <a:rPr lang="ru-RU" sz="1800" b="0" i="0" u="none" strike="noStrike" baseline="0" dirty="0">
                <a:latin typeface="TimesNewRoman"/>
              </a:rPr>
              <a:t>атрибутами (измерениями).</a:t>
            </a:r>
          </a:p>
          <a:p>
            <a:pPr algn="l"/>
            <a:r>
              <a:rPr lang="ru-RU" sz="1800" b="0" i="0" u="none" strike="noStrike" baseline="0" dirty="0">
                <a:latin typeface="TimesNewRoman"/>
              </a:rPr>
              <a:t>Суммируя все вышесказанное, можно отметить типичные черты подхода Ральфа </a:t>
            </a:r>
            <a:r>
              <a:rPr lang="ru-RU" sz="1800" b="0" i="0" u="none" strike="noStrike" baseline="0" dirty="0" err="1">
                <a:latin typeface="TimesNewRoman"/>
              </a:rPr>
              <a:t>Кимболла</a:t>
            </a:r>
            <a:r>
              <a:rPr lang="ru-RU" sz="1800" b="0" i="0" u="none" strike="noStrike" baseline="0" dirty="0">
                <a:latin typeface="TimesNewRoman"/>
              </a:rPr>
              <a:t>.</a:t>
            </a:r>
          </a:p>
          <a:p>
            <a:pPr algn="l"/>
            <a:r>
              <a:rPr lang="ru-RU" sz="1800" b="0" i="0" u="none" strike="noStrike" baseline="0" dirty="0">
                <a:latin typeface="Times-Roman"/>
              </a:rPr>
              <a:t>1. </a:t>
            </a:r>
            <a:r>
              <a:rPr lang="ru-RU" sz="1800" b="0" i="0" u="none" strike="noStrike" baseline="0" dirty="0">
                <a:latin typeface="TimesNewRoman"/>
              </a:rPr>
              <a:t>Использование пространственной модели организации данных с архитектурой "звезда" (</a:t>
            </a:r>
            <a:r>
              <a:rPr lang="ru-RU" sz="1800" b="0" i="0" u="none" strike="noStrike" baseline="0" dirty="0" err="1">
                <a:latin typeface="TimesNewRoman"/>
              </a:rPr>
              <a:t>star</a:t>
            </a:r>
            <a:endParaRPr lang="ru-RU" sz="1800" b="0" i="0" u="none" strike="noStrike" baseline="0" dirty="0">
              <a:latin typeface="TimesNewRoman"/>
            </a:endParaRPr>
          </a:p>
          <a:p>
            <a:pPr algn="l"/>
            <a:r>
              <a:rPr lang="en-US" sz="1800" b="0" i="0" u="none" strike="noStrike" baseline="0" dirty="0">
                <a:latin typeface="Times-Roman"/>
              </a:rPr>
              <a:t>scheme).</a:t>
            </a:r>
          </a:p>
          <a:p>
            <a:pPr algn="l"/>
            <a:r>
              <a:rPr lang="ru-RU" sz="1800" b="0" i="0" u="none" strike="noStrike" baseline="0" dirty="0">
                <a:latin typeface="Times-Roman"/>
              </a:rPr>
              <a:t>2. </a:t>
            </a:r>
            <a:r>
              <a:rPr lang="ru-RU" sz="1800" b="0" i="0" u="none" strike="noStrike" baseline="0" dirty="0">
                <a:latin typeface="TimesNewRoman"/>
              </a:rPr>
              <a:t>Использование двухуровневой архитектуры, которая включает стадию подготовки данных,</a:t>
            </a:r>
          </a:p>
          <a:p>
            <a:pPr algn="l"/>
            <a:r>
              <a:rPr lang="ru-RU" sz="1800" b="0" i="0" u="none" strike="noStrike" baseline="0" dirty="0">
                <a:latin typeface="TimesNewRoman"/>
              </a:rPr>
              <a:t>недоступную для конечных пользователей, и Хранилище данных с архитектурой шины как таковое.</a:t>
            </a:r>
          </a:p>
          <a:p>
            <a:pPr algn="l"/>
            <a:r>
              <a:rPr lang="ru-RU" sz="1800" b="0" i="0" u="none" strike="noStrike" baseline="0" dirty="0">
                <a:latin typeface="TimesNewRoman"/>
              </a:rPr>
              <a:t>В состав последнего входят несколько витрин атомарных данных, несколько витрин агрегированных</a:t>
            </a:r>
          </a:p>
          <a:p>
            <a:pPr algn="l"/>
            <a:r>
              <a:rPr lang="ru-RU" sz="1800" b="0" i="0" u="none" strike="noStrike" baseline="0" dirty="0">
                <a:latin typeface="TimesNewRoman"/>
              </a:rPr>
              <a:t>данных и персональная витрина данных, но оно не содержит одного физически целостного или</a:t>
            </a:r>
          </a:p>
          <a:p>
            <a:pPr algn="l"/>
            <a:r>
              <a:rPr lang="ru-RU" sz="1800" b="0" i="0" u="none" strike="noStrike" baseline="0" dirty="0">
                <a:latin typeface="TimesNewRoman"/>
              </a:rPr>
              <a:t>централизованного Хранилища данных.</a:t>
            </a:r>
          </a:p>
          <a:p>
            <a:pPr algn="l"/>
            <a:r>
              <a:rPr lang="ru-RU" sz="1800" b="0" i="0" u="none" strike="noStrike" baseline="0" dirty="0">
                <a:latin typeface="Times-Roman"/>
              </a:rPr>
              <a:t>3. </a:t>
            </a:r>
            <a:r>
              <a:rPr lang="ru-RU" sz="1800" b="0" i="0" u="none" strike="noStrike" baseline="0" dirty="0">
                <a:latin typeface="TimesNewRoman"/>
              </a:rPr>
              <a:t>Хранилище данных с архитектурой шины обладает следующими характеристиками:</a:t>
            </a:r>
          </a:p>
          <a:p>
            <a:pPr algn="l"/>
            <a:r>
              <a:rPr lang="ru-RU" sz="1800" b="0" i="0" u="none" strike="noStrike" baseline="0" dirty="0">
                <a:latin typeface="TimesNewRoman"/>
              </a:rPr>
              <a:t>‒ оно пространственное;</a:t>
            </a:r>
          </a:p>
          <a:p>
            <a:pPr algn="l"/>
            <a:r>
              <a:rPr lang="ru-RU" sz="1800" b="0" i="0" u="none" strike="noStrike" baseline="0" dirty="0">
                <a:latin typeface="TimesNewRoman"/>
              </a:rPr>
              <a:t>‒ оно включает как данные о транзакциях, так и суммарные данные;</a:t>
            </a:r>
          </a:p>
          <a:p>
            <a:pPr algn="l"/>
            <a:r>
              <a:rPr lang="ru-RU" sz="1800" b="0" i="0" u="none" strike="noStrike" baseline="0" dirty="0">
                <a:latin typeface="TimesNewRoman"/>
              </a:rPr>
              <a:t>‒ оно включает витрины данных, посвященные только одной предметной области или</a:t>
            </a:r>
          </a:p>
          <a:p>
            <a:pPr algn="l"/>
            <a:r>
              <a:rPr lang="ru-RU" sz="1800" b="0" i="0" u="none" strike="noStrike" baseline="0" dirty="0">
                <a:latin typeface="TimesNewRoman"/>
              </a:rPr>
              <a:t>имеющие только одну таблицу фактов (</a:t>
            </a:r>
            <a:r>
              <a:rPr lang="ru-RU" sz="1800" b="0" i="0" u="none" strike="noStrike" baseline="0" dirty="0" err="1">
                <a:latin typeface="TimesNewRoman"/>
              </a:rPr>
              <a:t>fact</a:t>
            </a:r>
            <a:r>
              <a:rPr lang="ru-RU" sz="1800" b="0" i="0" u="none" strike="noStrike" baseline="0" dirty="0">
                <a:latin typeface="TimesNewRoman"/>
              </a:rPr>
              <a:t> </a:t>
            </a:r>
            <a:r>
              <a:rPr lang="ru-RU" sz="1800" b="0" i="0" u="none" strike="noStrike" baseline="0" dirty="0" err="1">
                <a:latin typeface="TimesNewRoman"/>
              </a:rPr>
              <a:t>table</a:t>
            </a:r>
            <a:r>
              <a:rPr lang="ru-RU" sz="1800" b="0" i="0" u="none" strike="noStrike" baseline="0" dirty="0">
                <a:latin typeface="TimesNewRoman"/>
              </a:rPr>
              <a:t>);</a:t>
            </a:r>
          </a:p>
          <a:p>
            <a:pPr algn="l"/>
            <a:r>
              <a:rPr lang="ru-RU" sz="1800" b="0" i="0" u="none" strike="noStrike" baseline="0" dirty="0">
                <a:latin typeface="TimesNewRoman"/>
              </a:rPr>
              <a:t>‒ оно может содержать множество витрин данных в пределах одной базы данных.</a:t>
            </a:r>
          </a:p>
          <a:p>
            <a:pPr algn="l"/>
            <a:r>
              <a:rPr lang="ru-RU" sz="1800" b="0" i="0" u="none" strike="noStrike" baseline="0" dirty="0">
                <a:latin typeface="Times-Roman"/>
              </a:rPr>
              <a:t>4. </a:t>
            </a:r>
            <a:r>
              <a:rPr lang="ru-RU" sz="1800" b="0" i="0" u="none" strike="noStrike" baseline="0" dirty="0">
                <a:latin typeface="TimesNewRoman"/>
              </a:rPr>
              <a:t>Хранилище данных не является единым физическим репозиторием (в отличие от подхода</a:t>
            </a:r>
          </a:p>
          <a:p>
            <a:pPr algn="l"/>
            <a:r>
              <a:rPr lang="ru-RU" sz="1800" b="0" i="0" u="none" strike="noStrike" baseline="0" dirty="0">
                <a:latin typeface="TimesNewRoman"/>
              </a:rPr>
              <a:t>Билла </a:t>
            </a:r>
            <a:r>
              <a:rPr lang="ru-RU" sz="1800" b="0" i="0" u="none" strike="noStrike" baseline="0" dirty="0" err="1">
                <a:latin typeface="TimesNewRoman"/>
              </a:rPr>
              <a:t>Инмона</a:t>
            </a:r>
            <a:r>
              <a:rPr lang="ru-RU" sz="1800" b="0" i="0" u="none" strike="noStrike" baseline="0" dirty="0">
                <a:latin typeface="TimesNewRoman"/>
              </a:rPr>
              <a:t>). Это "виртуальное" Хранилище. Это коллекция витрин данных, каждая из которых</a:t>
            </a:r>
          </a:p>
          <a:p>
            <a:pPr algn="l"/>
            <a:r>
              <a:rPr lang="ru-RU" sz="1800" b="0" i="0" u="none" strike="noStrike" baseline="0" dirty="0">
                <a:latin typeface="TimesNewRoman"/>
              </a:rPr>
              <a:t>имеет архитектуру типа "звезда".</a:t>
            </a:r>
            <a:endParaRPr lang="ru-RU" sz="3200" dirty="0">
              <a:latin typeface="+mn-lt"/>
              <a:cs typeface="+mn-cs"/>
            </a:endParaRPr>
          </a:p>
        </p:txBody>
      </p:sp>
    </p:spTree>
    <p:extLst>
      <p:ext uri="{BB962C8B-B14F-4D97-AF65-F5344CB8AC3E}">
        <p14:creationId xmlns:p14="http://schemas.microsoft.com/office/powerpoint/2010/main" val="608963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736776-38A3-4248-A465-29A13CE7B969}" type="slidenum">
              <a:rPr lang="ru-RU"/>
              <a:pPr/>
              <a:t>36</a:t>
            </a:fld>
            <a:endParaRPr lang="ru-RU" dirty="0"/>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pPr algn="l"/>
            <a:r>
              <a:rPr lang="ru-RU" sz="1800" b="0" i="0" u="none" strike="noStrike" baseline="0" dirty="0">
                <a:latin typeface="TimesNewRoman"/>
              </a:rPr>
              <a:t>В этой модели первичные данные преобразуются в информацию, пригодную для использования, на</a:t>
            </a:r>
          </a:p>
          <a:p>
            <a:pPr algn="l"/>
            <a:r>
              <a:rPr lang="ru-RU" sz="1800" b="0" i="0" u="none" strike="noStrike" baseline="0" dirty="0">
                <a:latin typeface="TimesNewRoman"/>
              </a:rPr>
              <a:t>этапе подготовки данных. При этом обязательно принимаются во внимание требования к скорости</a:t>
            </a:r>
          </a:p>
          <a:p>
            <a:pPr algn="l"/>
            <a:r>
              <a:rPr lang="ru-RU" sz="1800" b="0" i="0" u="none" strike="noStrike" baseline="0" dirty="0">
                <a:latin typeface="TimesNewRoman"/>
              </a:rPr>
              <a:t>обработки информации и качеству данных. Как и в модели Билла </a:t>
            </a:r>
            <a:r>
              <a:rPr lang="ru-RU" sz="1800" b="0" i="0" u="none" strike="noStrike" baseline="0" dirty="0" err="1">
                <a:latin typeface="TimesNewRoman"/>
              </a:rPr>
              <a:t>Инмона</a:t>
            </a:r>
            <a:r>
              <a:rPr lang="ru-RU" sz="1800" b="0" i="0" u="none" strike="noStrike" baseline="0" dirty="0">
                <a:latin typeface="TimesNewRoman"/>
              </a:rPr>
              <a:t>, подготовка данных</a:t>
            </a:r>
          </a:p>
          <a:p>
            <a:pPr algn="l"/>
            <a:r>
              <a:rPr lang="ru-RU" sz="1800" b="0" i="0" u="none" strike="noStrike" baseline="0" dirty="0">
                <a:latin typeface="TimesNewRoman"/>
              </a:rPr>
              <a:t>начинается со скоординированного извлечения данных из источников. Ряд операций совершается</a:t>
            </a:r>
            <a:endParaRPr lang="ru-RU" sz="1800" b="0" i="0" u="none" strike="noStrike" baseline="0" dirty="0">
              <a:latin typeface="Times-Roman"/>
            </a:endParaRPr>
          </a:p>
          <a:p>
            <a:pPr algn="l"/>
            <a:r>
              <a:rPr lang="ru-RU" sz="1800" b="0" i="0" u="none" strike="noStrike" baseline="0" dirty="0">
                <a:latin typeface="TimesNewRoman"/>
              </a:rPr>
              <a:t>централизованно, например, поддержание и хранение общих справочных данных, другие действия</a:t>
            </a:r>
          </a:p>
          <a:p>
            <a:pPr algn="l"/>
            <a:r>
              <a:rPr lang="ru-RU" sz="1800" b="0" i="0" u="none" strike="noStrike" baseline="0" dirty="0">
                <a:latin typeface="TimesNewRoman"/>
              </a:rPr>
              <a:t>могут быть распределенными.</a:t>
            </a:r>
          </a:p>
          <a:p>
            <a:pPr algn="l"/>
            <a:r>
              <a:rPr lang="ru-RU" sz="1800" b="0" i="0" u="none" strike="noStrike" baseline="0" dirty="0">
                <a:latin typeface="TimesNewRoman"/>
              </a:rPr>
              <a:t>Область представления </a:t>
            </a:r>
            <a:r>
              <a:rPr lang="ru-RU" sz="1800" b="0" i="0" u="none" strike="noStrike" baseline="0" dirty="0" err="1">
                <a:latin typeface="TimesNewRoman"/>
              </a:rPr>
              <a:t>пространственно</a:t>
            </a:r>
            <a:r>
              <a:rPr lang="ru-RU" sz="1800" b="0" i="0" u="none" strike="noStrike" baseline="0" dirty="0">
                <a:latin typeface="TimesNewRoman"/>
              </a:rPr>
              <a:t> структурирована, при этом она может быть</a:t>
            </a:r>
          </a:p>
          <a:p>
            <a:pPr algn="l"/>
            <a:r>
              <a:rPr lang="ru-RU" sz="1800" b="0" i="0" u="none" strike="noStrike" baseline="0" dirty="0">
                <a:latin typeface="TimesNewRoman"/>
              </a:rPr>
              <a:t>централизованной или распределенной. Пространственная модель Хранилища данных содержит ту же</a:t>
            </a:r>
          </a:p>
          <a:p>
            <a:pPr algn="l"/>
            <a:r>
              <a:rPr lang="ru-RU" sz="1800" b="0" i="0" u="none" strike="noStrike" baseline="0" dirty="0">
                <a:latin typeface="TimesNewRoman"/>
              </a:rPr>
              <a:t>атомарную информацию, что и нормализованная модель (см. подход Билла </a:t>
            </a:r>
            <a:r>
              <a:rPr lang="ru-RU" sz="1800" b="0" i="0" u="none" strike="noStrike" baseline="0" dirty="0" err="1">
                <a:latin typeface="TimesNewRoman"/>
              </a:rPr>
              <a:t>Инмона</a:t>
            </a:r>
            <a:r>
              <a:rPr lang="ru-RU" sz="1800" b="0" i="0" u="none" strike="noStrike" baseline="0" dirty="0">
                <a:latin typeface="TimesNewRoman"/>
              </a:rPr>
              <a:t>), но информация</a:t>
            </a:r>
          </a:p>
          <a:p>
            <a:pPr algn="l"/>
            <a:r>
              <a:rPr lang="ru-RU" sz="1800" b="0" i="0" u="none" strike="noStrike" baseline="0" dirty="0">
                <a:latin typeface="TimesNewRoman"/>
              </a:rPr>
              <a:t>структурирована по</a:t>
            </a:r>
            <a:r>
              <a:rPr lang="ru-RU" sz="1800" b="0" i="0" u="none" strike="noStrike" baseline="0" dirty="0">
                <a:latin typeface="Times-Roman"/>
              </a:rPr>
              <a:t>-</a:t>
            </a:r>
            <a:r>
              <a:rPr lang="ru-RU" sz="1800" b="0" i="0" u="none" strike="noStrike" baseline="0" dirty="0">
                <a:latin typeface="TimesNewRoman"/>
              </a:rPr>
              <a:t>другому, чтобы облегчить ее использование и выполнение запросов. Эта модель</a:t>
            </a:r>
          </a:p>
          <a:p>
            <a:pPr algn="l"/>
            <a:r>
              <a:rPr lang="ru-RU" sz="1800" b="0" i="0" u="none" strike="noStrike" baseline="0" dirty="0">
                <a:latin typeface="TimesNewRoman"/>
              </a:rPr>
              <a:t>включает как атомарные данные, так и обобщающую информацию (агрегаты в связанных таблицах или</a:t>
            </a:r>
          </a:p>
          <a:p>
            <a:pPr algn="l"/>
            <a:r>
              <a:rPr lang="ru-RU" sz="1800" b="0" i="0" u="none" strike="noStrike" baseline="0" dirty="0">
                <a:latin typeface="TimesNewRoman"/>
              </a:rPr>
              <a:t>многомерных кубах) в соответствии с требованиями производительности или пространственного</a:t>
            </a:r>
          </a:p>
          <a:p>
            <a:pPr algn="l"/>
            <a:r>
              <a:rPr lang="ru-RU" sz="1800" b="0" i="0" u="none" strike="noStrike" baseline="0" dirty="0">
                <a:latin typeface="TimesNewRoman"/>
              </a:rPr>
              <a:t>распределения данных. Запросы в процессе выполнения обращаются к все более низкому уровню</a:t>
            </a:r>
          </a:p>
          <a:p>
            <a:pPr algn="l"/>
            <a:r>
              <a:rPr lang="ru-RU" sz="1800" b="0" i="0" u="none" strike="noStrike" baseline="0" dirty="0">
                <a:latin typeface="TimesNewRoman"/>
              </a:rPr>
              <a:t>детализации без дополнительного перепрограммирования со стороны пользователей или</a:t>
            </a:r>
          </a:p>
          <a:p>
            <a:pPr algn="l"/>
            <a:r>
              <a:rPr lang="ru-RU" sz="1800" b="0" i="0" u="none" strike="noStrike" baseline="0" dirty="0">
                <a:latin typeface="TimesNewRoman"/>
              </a:rPr>
              <a:t>разработчиков приложения.</a:t>
            </a:r>
          </a:p>
          <a:p>
            <a:pPr algn="l"/>
            <a:endParaRPr lang="ru-RU" sz="1800" b="0" i="0" u="none" strike="noStrike" baseline="0" dirty="0">
              <a:latin typeface="TimesNewRoman"/>
            </a:endParaRPr>
          </a:p>
          <a:p>
            <a:pPr algn="l"/>
            <a:r>
              <a:rPr lang="ru-RU" sz="1800" b="0" i="0" u="none" strike="noStrike" baseline="0" dirty="0">
                <a:latin typeface="TimesNewRoman"/>
              </a:rPr>
              <a:t>В отличие от подхода Билла </a:t>
            </a:r>
            <a:r>
              <a:rPr lang="ru-RU" sz="1800" b="0" i="0" u="none" strike="noStrike" baseline="0" dirty="0" err="1">
                <a:latin typeface="TimesNewRoman"/>
              </a:rPr>
              <a:t>Инмона</a:t>
            </a:r>
            <a:r>
              <a:rPr lang="ru-RU" sz="1800" b="0" i="0" u="none" strike="noStrike" baseline="0" dirty="0">
                <a:latin typeface="TimesNewRoman"/>
              </a:rPr>
              <a:t>, пространственные модели строятся для обслуживания</a:t>
            </a:r>
          </a:p>
          <a:p>
            <a:pPr algn="l"/>
            <a:r>
              <a:rPr lang="ru-RU" sz="1800" b="0" i="0" u="none" strike="noStrike" baseline="0" dirty="0">
                <a:latin typeface="TimesNewRoman"/>
              </a:rPr>
              <a:t>бизнес</a:t>
            </a:r>
            <a:r>
              <a:rPr lang="ru-RU" sz="1800" b="0" i="0" u="none" strike="noStrike" baseline="0" dirty="0">
                <a:latin typeface="Times-Roman"/>
              </a:rPr>
              <a:t>-</a:t>
            </a:r>
            <a:r>
              <a:rPr lang="ru-RU" sz="1800" b="0" i="0" u="none" strike="noStrike" baseline="0" dirty="0">
                <a:latin typeface="TimesNewRoman"/>
              </a:rPr>
              <a:t>процессов (которые, в свою очередь, связаны с бизнес</a:t>
            </a:r>
            <a:r>
              <a:rPr lang="ru-RU" sz="1800" b="0" i="0" u="none" strike="noStrike" baseline="0" dirty="0">
                <a:latin typeface="Times-Roman"/>
              </a:rPr>
              <a:t>-</a:t>
            </a:r>
            <a:r>
              <a:rPr lang="ru-RU" sz="1800" b="0" i="0" u="none" strike="noStrike" baseline="0" dirty="0">
                <a:latin typeface="TimesNewRoman"/>
              </a:rPr>
              <a:t>показателями или бизнес</a:t>
            </a:r>
            <a:r>
              <a:rPr lang="ru-RU" sz="1800" b="0" i="0" u="none" strike="noStrike" baseline="0" dirty="0">
                <a:latin typeface="Times-Roman"/>
              </a:rPr>
              <a:t>-</a:t>
            </a:r>
            <a:r>
              <a:rPr lang="ru-RU" sz="1800" b="0" i="0" u="none" strike="noStrike" baseline="0" dirty="0">
                <a:latin typeface="TimesNewRoman"/>
              </a:rPr>
              <a:t>событиями), а</a:t>
            </a:r>
          </a:p>
          <a:p>
            <a:pPr algn="l"/>
            <a:r>
              <a:rPr lang="ru-RU" sz="1800" b="0" i="0" u="none" strike="noStrike" baseline="0" dirty="0">
                <a:latin typeface="TimesNewRoman"/>
              </a:rPr>
              <a:t>не бизнес</a:t>
            </a:r>
            <a:r>
              <a:rPr lang="ru-RU" sz="1800" b="0" i="0" u="none" strike="noStrike" baseline="0" dirty="0">
                <a:latin typeface="Times-Roman"/>
              </a:rPr>
              <a:t>-</a:t>
            </a:r>
            <a:r>
              <a:rPr lang="ru-RU" sz="1800" b="0" i="0" u="none" strike="noStrike" baseline="0" dirty="0">
                <a:latin typeface="TimesNewRoman"/>
              </a:rPr>
              <a:t>отделов. Например, данные о заказах, которые должны быть доступны для</a:t>
            </a:r>
          </a:p>
          <a:p>
            <a:pPr algn="l"/>
            <a:r>
              <a:rPr lang="ru-RU" sz="1800" b="0" i="0" u="none" strike="noStrike" baseline="0" dirty="0">
                <a:latin typeface="TimesNewRoman"/>
              </a:rPr>
              <a:t>общекорпоративного использования, вносятся в пространственное Хранилище данных только один</a:t>
            </a:r>
          </a:p>
          <a:p>
            <a:pPr algn="l"/>
            <a:r>
              <a:rPr lang="ru-RU" sz="1800" b="0" i="0" u="none" strike="noStrike" baseline="0" dirty="0">
                <a:latin typeface="TimesNewRoman"/>
              </a:rPr>
              <a:t>раз, в отличие от CIF</a:t>
            </a:r>
            <a:r>
              <a:rPr lang="ru-RU" sz="1800" b="0" i="0" u="none" strike="noStrike" baseline="0" dirty="0">
                <a:latin typeface="Times-Roman"/>
              </a:rPr>
              <a:t>-</a:t>
            </a:r>
            <a:r>
              <a:rPr lang="ru-RU" sz="1800" b="0" i="0" u="none" strike="noStrike" baseline="0" dirty="0">
                <a:latin typeface="TimesNewRoman"/>
              </a:rPr>
              <a:t>подхода, в котором их пришлось бы трижды копировать в витрины данных</a:t>
            </a:r>
          </a:p>
          <a:p>
            <a:pPr algn="l"/>
            <a:r>
              <a:rPr lang="ru-RU" sz="1800" b="0" i="0" u="none" strike="noStrike" baseline="0" dirty="0">
                <a:latin typeface="TimesNewRoman"/>
              </a:rPr>
              <a:t>отделов маркетинга, продаж и финансов. После того, как в Хранилище появляется информация об</a:t>
            </a:r>
          </a:p>
          <a:p>
            <a:pPr algn="l"/>
            <a:r>
              <a:rPr lang="ru-RU" sz="1800" b="0" i="0" u="none" strike="noStrike" baseline="0" dirty="0">
                <a:latin typeface="TimesNewRoman"/>
              </a:rPr>
              <a:t>основных бизнес</a:t>
            </a:r>
            <a:r>
              <a:rPr lang="ru-RU" sz="1800" b="0" i="0" u="none" strike="noStrike" baseline="0" dirty="0">
                <a:latin typeface="Times-Roman"/>
              </a:rPr>
              <a:t>-</a:t>
            </a:r>
            <a:r>
              <a:rPr lang="ru-RU" sz="1800" b="0" i="0" u="none" strike="noStrike" baseline="0" dirty="0">
                <a:latin typeface="TimesNewRoman"/>
              </a:rPr>
              <a:t>процессах, консолидированные пространственные модели могут выдавать их</a:t>
            </a:r>
          </a:p>
          <a:p>
            <a:pPr algn="l"/>
            <a:r>
              <a:rPr lang="ru-RU" sz="1800" b="0" i="0" u="none" strike="noStrike" baseline="0" dirty="0">
                <a:latin typeface="TimesNewRoman"/>
              </a:rPr>
              <a:t>перекрестные характеристики. Матрица корпоративного Хранилища данных с архитектурой шины</a:t>
            </a:r>
          </a:p>
          <a:p>
            <a:pPr algn="l"/>
            <a:r>
              <a:rPr lang="ru-RU" sz="1800" b="0" i="0" u="none" strike="noStrike" baseline="0" dirty="0">
                <a:latin typeface="TimesNewRoman"/>
              </a:rPr>
              <a:t>выявляет и усиливает связи между показателями бизнес</a:t>
            </a:r>
            <a:r>
              <a:rPr lang="ru-RU" sz="1800" b="0" i="0" u="none" strike="noStrike" baseline="0" dirty="0">
                <a:latin typeface="Times-Roman"/>
              </a:rPr>
              <a:t>-</a:t>
            </a:r>
            <a:r>
              <a:rPr lang="ru-RU" sz="1800" b="0" i="0" u="none" strike="noStrike" baseline="0" dirty="0">
                <a:latin typeface="TimesNewRoman"/>
              </a:rPr>
              <a:t>процессов (фактами) и описательными</a:t>
            </a:r>
          </a:p>
          <a:p>
            <a:pPr algn="l"/>
            <a:r>
              <a:rPr lang="ru-RU" sz="1800" b="0" i="0" u="none" strike="noStrike" baseline="0" dirty="0">
                <a:latin typeface="TimesNewRoman"/>
              </a:rPr>
              <a:t>атрибутами (измерениями).</a:t>
            </a:r>
          </a:p>
          <a:p>
            <a:pPr algn="l"/>
            <a:r>
              <a:rPr lang="ru-RU" sz="1800" b="0" i="0" u="none" strike="noStrike" baseline="0" dirty="0">
                <a:latin typeface="TimesNewRoman"/>
              </a:rPr>
              <a:t>Суммируя все вышесказанное, можно отметить типичные черты подхода Ральфа </a:t>
            </a:r>
            <a:r>
              <a:rPr lang="ru-RU" sz="1800" b="0" i="0" u="none" strike="noStrike" baseline="0" dirty="0" err="1">
                <a:latin typeface="TimesNewRoman"/>
              </a:rPr>
              <a:t>Кимболла</a:t>
            </a:r>
            <a:r>
              <a:rPr lang="ru-RU" sz="1800" b="0" i="0" u="none" strike="noStrike" baseline="0" dirty="0">
                <a:latin typeface="TimesNewRoman"/>
              </a:rPr>
              <a:t>.</a:t>
            </a:r>
          </a:p>
          <a:p>
            <a:pPr algn="l"/>
            <a:r>
              <a:rPr lang="ru-RU" sz="1800" b="0" i="0" u="none" strike="noStrike" baseline="0" dirty="0">
                <a:latin typeface="Times-Roman"/>
              </a:rPr>
              <a:t>1. </a:t>
            </a:r>
            <a:r>
              <a:rPr lang="ru-RU" sz="1800" b="0" i="0" u="none" strike="noStrike" baseline="0" dirty="0">
                <a:latin typeface="TimesNewRoman"/>
              </a:rPr>
              <a:t>Использование пространственной модели организации данных с архитектурой "звезда" (</a:t>
            </a:r>
            <a:r>
              <a:rPr lang="ru-RU" sz="1800" b="0" i="0" u="none" strike="noStrike" baseline="0" dirty="0" err="1">
                <a:latin typeface="TimesNewRoman"/>
              </a:rPr>
              <a:t>star</a:t>
            </a:r>
            <a:endParaRPr lang="ru-RU" sz="1800" b="0" i="0" u="none" strike="noStrike" baseline="0" dirty="0">
              <a:latin typeface="TimesNewRoman"/>
            </a:endParaRPr>
          </a:p>
          <a:p>
            <a:pPr algn="l"/>
            <a:r>
              <a:rPr lang="en-US" sz="1800" b="0" i="0" u="none" strike="noStrike" baseline="0" dirty="0">
                <a:latin typeface="Times-Roman"/>
              </a:rPr>
              <a:t>scheme).</a:t>
            </a:r>
          </a:p>
          <a:p>
            <a:pPr algn="l"/>
            <a:r>
              <a:rPr lang="ru-RU" sz="1800" b="0" i="0" u="none" strike="noStrike" baseline="0" dirty="0">
                <a:latin typeface="Times-Roman"/>
              </a:rPr>
              <a:t>2. </a:t>
            </a:r>
            <a:r>
              <a:rPr lang="ru-RU" sz="1800" b="0" i="0" u="none" strike="noStrike" baseline="0" dirty="0">
                <a:latin typeface="TimesNewRoman"/>
              </a:rPr>
              <a:t>Использование двухуровневой архитектуры, которая включает стадию подготовки данных,</a:t>
            </a:r>
          </a:p>
          <a:p>
            <a:pPr algn="l"/>
            <a:r>
              <a:rPr lang="ru-RU" sz="1800" b="0" i="0" u="none" strike="noStrike" baseline="0" dirty="0">
                <a:latin typeface="TimesNewRoman"/>
              </a:rPr>
              <a:t>недоступную для конечных пользователей, и Хранилище данных с архитектурой шины как таковое.</a:t>
            </a:r>
          </a:p>
          <a:p>
            <a:pPr algn="l"/>
            <a:r>
              <a:rPr lang="ru-RU" sz="1800" b="0" i="0" u="none" strike="noStrike" baseline="0" dirty="0">
                <a:latin typeface="TimesNewRoman"/>
              </a:rPr>
              <a:t>В состав последнего входят несколько витрин атомарных данных, несколько витрин агрегированных</a:t>
            </a:r>
          </a:p>
          <a:p>
            <a:pPr algn="l"/>
            <a:r>
              <a:rPr lang="ru-RU" sz="1800" b="0" i="0" u="none" strike="noStrike" baseline="0" dirty="0">
                <a:latin typeface="TimesNewRoman"/>
              </a:rPr>
              <a:t>данных и персональная витрина данных, но оно не содержит одного физически целостного или</a:t>
            </a:r>
          </a:p>
          <a:p>
            <a:pPr algn="l"/>
            <a:r>
              <a:rPr lang="ru-RU" sz="1800" b="0" i="0" u="none" strike="noStrike" baseline="0" dirty="0">
                <a:latin typeface="TimesNewRoman"/>
              </a:rPr>
              <a:t>централизованного Хранилища данных.</a:t>
            </a:r>
          </a:p>
          <a:p>
            <a:pPr algn="l"/>
            <a:r>
              <a:rPr lang="ru-RU" sz="1800" b="0" i="0" u="none" strike="noStrike" baseline="0" dirty="0">
                <a:latin typeface="Times-Roman"/>
              </a:rPr>
              <a:t>3. </a:t>
            </a:r>
            <a:r>
              <a:rPr lang="ru-RU" sz="1800" b="0" i="0" u="none" strike="noStrike" baseline="0" dirty="0">
                <a:latin typeface="TimesNewRoman"/>
              </a:rPr>
              <a:t>Хранилище данных с архитектурой шины обладает следующими характеристиками:</a:t>
            </a:r>
          </a:p>
          <a:p>
            <a:pPr algn="l"/>
            <a:r>
              <a:rPr lang="ru-RU" sz="1800" b="0" i="0" u="none" strike="noStrike" baseline="0" dirty="0">
                <a:latin typeface="TimesNewRoman"/>
              </a:rPr>
              <a:t>‒ оно пространственное;</a:t>
            </a:r>
          </a:p>
          <a:p>
            <a:pPr algn="l"/>
            <a:r>
              <a:rPr lang="ru-RU" sz="1800" b="0" i="0" u="none" strike="noStrike" baseline="0" dirty="0">
                <a:latin typeface="TimesNewRoman"/>
              </a:rPr>
              <a:t>‒ оно включает как данные о транзакциях, так и суммарные данные;</a:t>
            </a:r>
          </a:p>
          <a:p>
            <a:pPr algn="l"/>
            <a:r>
              <a:rPr lang="ru-RU" sz="1800" b="0" i="0" u="none" strike="noStrike" baseline="0" dirty="0">
                <a:latin typeface="TimesNewRoman"/>
              </a:rPr>
              <a:t>‒ оно включает витрины данных, посвященные только одной предметной области или</a:t>
            </a:r>
          </a:p>
          <a:p>
            <a:pPr algn="l"/>
            <a:r>
              <a:rPr lang="ru-RU" sz="1800" b="0" i="0" u="none" strike="noStrike" baseline="0" dirty="0">
                <a:latin typeface="TimesNewRoman"/>
              </a:rPr>
              <a:t>имеющие только одну таблицу фактов (</a:t>
            </a:r>
            <a:r>
              <a:rPr lang="ru-RU" sz="1800" b="0" i="0" u="none" strike="noStrike" baseline="0" dirty="0" err="1">
                <a:latin typeface="TimesNewRoman"/>
              </a:rPr>
              <a:t>fact</a:t>
            </a:r>
            <a:r>
              <a:rPr lang="ru-RU" sz="1800" b="0" i="0" u="none" strike="noStrike" baseline="0" dirty="0">
                <a:latin typeface="TimesNewRoman"/>
              </a:rPr>
              <a:t> </a:t>
            </a:r>
            <a:r>
              <a:rPr lang="ru-RU" sz="1800" b="0" i="0" u="none" strike="noStrike" baseline="0" dirty="0" err="1">
                <a:latin typeface="TimesNewRoman"/>
              </a:rPr>
              <a:t>table</a:t>
            </a:r>
            <a:r>
              <a:rPr lang="ru-RU" sz="1800" b="0" i="0" u="none" strike="noStrike" baseline="0" dirty="0">
                <a:latin typeface="TimesNewRoman"/>
              </a:rPr>
              <a:t>);</a:t>
            </a:r>
          </a:p>
          <a:p>
            <a:pPr algn="l"/>
            <a:r>
              <a:rPr lang="ru-RU" sz="1800" b="0" i="0" u="none" strike="noStrike" baseline="0" dirty="0">
                <a:latin typeface="TimesNewRoman"/>
              </a:rPr>
              <a:t>‒ оно может содержать множество витрин данных в пределах одной базы данных.</a:t>
            </a:r>
          </a:p>
          <a:p>
            <a:pPr algn="l"/>
            <a:r>
              <a:rPr lang="ru-RU" sz="1800" b="0" i="0" u="none" strike="noStrike" baseline="0" dirty="0">
                <a:latin typeface="Times-Roman"/>
              </a:rPr>
              <a:t>4. </a:t>
            </a:r>
            <a:r>
              <a:rPr lang="ru-RU" sz="1800" b="0" i="0" u="none" strike="noStrike" baseline="0" dirty="0">
                <a:latin typeface="TimesNewRoman"/>
              </a:rPr>
              <a:t>Хранилище данных не является единым физическим репозиторием (в отличие от подхода</a:t>
            </a:r>
          </a:p>
          <a:p>
            <a:pPr algn="l"/>
            <a:r>
              <a:rPr lang="ru-RU" sz="1800" b="0" i="0" u="none" strike="noStrike" baseline="0" dirty="0">
                <a:latin typeface="TimesNewRoman"/>
              </a:rPr>
              <a:t>Билла </a:t>
            </a:r>
            <a:r>
              <a:rPr lang="ru-RU" sz="1800" b="0" i="0" u="none" strike="noStrike" baseline="0" dirty="0" err="1">
                <a:latin typeface="TimesNewRoman"/>
              </a:rPr>
              <a:t>Инмона</a:t>
            </a:r>
            <a:r>
              <a:rPr lang="ru-RU" sz="1800" b="0" i="0" u="none" strike="noStrike" baseline="0" dirty="0">
                <a:latin typeface="TimesNewRoman"/>
              </a:rPr>
              <a:t>). Это "виртуальное" Хранилище. Это коллекция витрин данных, каждая из которых</a:t>
            </a:r>
          </a:p>
          <a:p>
            <a:pPr algn="l"/>
            <a:r>
              <a:rPr lang="ru-RU" sz="1800" b="0" i="0" u="none" strike="noStrike" baseline="0" dirty="0">
                <a:latin typeface="TimesNewRoman"/>
              </a:rPr>
              <a:t>имеет архитектуру типа "звезда".</a:t>
            </a:r>
            <a:endParaRPr lang="ru-RU" sz="3200" dirty="0">
              <a:latin typeface="+mn-lt"/>
              <a:cs typeface="+mn-cs"/>
            </a:endParaRPr>
          </a:p>
        </p:txBody>
      </p:sp>
    </p:spTree>
    <p:extLst>
      <p:ext uri="{BB962C8B-B14F-4D97-AF65-F5344CB8AC3E}">
        <p14:creationId xmlns:p14="http://schemas.microsoft.com/office/powerpoint/2010/main" val="3150384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736776-38A3-4248-A465-29A13CE7B969}" type="slidenum">
              <a:rPr lang="ru-RU"/>
              <a:pPr/>
              <a:t>37</a:t>
            </a:fld>
            <a:endParaRPr lang="ru-RU" dirty="0"/>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pPr algn="l"/>
            <a:r>
              <a:rPr lang="ru-RU" sz="1800" b="0" i="0" u="none" strike="noStrike" baseline="0" dirty="0">
                <a:latin typeface="TimesNewRoman"/>
              </a:rPr>
              <a:t>В этой модели первичные данные преобразуются в информацию, пригодную для использования, на</a:t>
            </a:r>
          </a:p>
          <a:p>
            <a:pPr algn="l"/>
            <a:r>
              <a:rPr lang="ru-RU" sz="1800" b="0" i="0" u="none" strike="noStrike" baseline="0" dirty="0">
                <a:latin typeface="TimesNewRoman"/>
              </a:rPr>
              <a:t>этапе подготовки данных. При этом обязательно принимаются во внимание требования к скорости</a:t>
            </a:r>
          </a:p>
          <a:p>
            <a:pPr algn="l"/>
            <a:r>
              <a:rPr lang="ru-RU" sz="1800" b="0" i="0" u="none" strike="noStrike" baseline="0" dirty="0">
                <a:latin typeface="TimesNewRoman"/>
              </a:rPr>
              <a:t>обработки информации и качеству данных. Как и в модели Билла </a:t>
            </a:r>
            <a:r>
              <a:rPr lang="ru-RU" sz="1800" b="0" i="0" u="none" strike="noStrike" baseline="0" dirty="0" err="1">
                <a:latin typeface="TimesNewRoman"/>
              </a:rPr>
              <a:t>Инмона</a:t>
            </a:r>
            <a:r>
              <a:rPr lang="ru-RU" sz="1800" b="0" i="0" u="none" strike="noStrike" baseline="0" dirty="0">
                <a:latin typeface="TimesNewRoman"/>
              </a:rPr>
              <a:t>, подготовка данных</a:t>
            </a:r>
          </a:p>
          <a:p>
            <a:pPr algn="l"/>
            <a:r>
              <a:rPr lang="ru-RU" sz="1800" b="0" i="0" u="none" strike="noStrike" baseline="0" dirty="0">
                <a:latin typeface="TimesNewRoman"/>
              </a:rPr>
              <a:t>начинается со скоординированного извлечения данных из источников. Ряд операций совершается</a:t>
            </a:r>
            <a:endParaRPr lang="ru-RU" sz="1800" b="0" i="0" u="none" strike="noStrike" baseline="0" dirty="0">
              <a:latin typeface="Times-Roman"/>
            </a:endParaRPr>
          </a:p>
          <a:p>
            <a:pPr algn="l"/>
            <a:r>
              <a:rPr lang="ru-RU" sz="1800" b="0" i="0" u="none" strike="noStrike" baseline="0" dirty="0">
                <a:latin typeface="TimesNewRoman"/>
              </a:rPr>
              <a:t>централизованно, например, поддержание и хранение общих справочных данных, другие действия</a:t>
            </a:r>
          </a:p>
          <a:p>
            <a:pPr algn="l"/>
            <a:r>
              <a:rPr lang="ru-RU" sz="1800" b="0" i="0" u="none" strike="noStrike" baseline="0" dirty="0">
                <a:latin typeface="TimesNewRoman"/>
              </a:rPr>
              <a:t>могут быть распределенными.</a:t>
            </a:r>
          </a:p>
          <a:p>
            <a:pPr algn="l"/>
            <a:r>
              <a:rPr lang="ru-RU" sz="1800" b="0" i="0" u="none" strike="noStrike" baseline="0" dirty="0">
                <a:latin typeface="TimesNewRoman"/>
              </a:rPr>
              <a:t>Область представления </a:t>
            </a:r>
            <a:r>
              <a:rPr lang="ru-RU" sz="1800" b="0" i="0" u="none" strike="noStrike" baseline="0" dirty="0" err="1">
                <a:latin typeface="TimesNewRoman"/>
              </a:rPr>
              <a:t>пространственно</a:t>
            </a:r>
            <a:r>
              <a:rPr lang="ru-RU" sz="1800" b="0" i="0" u="none" strike="noStrike" baseline="0" dirty="0">
                <a:latin typeface="TimesNewRoman"/>
              </a:rPr>
              <a:t> структурирована, при этом она может быть</a:t>
            </a:r>
          </a:p>
          <a:p>
            <a:pPr algn="l"/>
            <a:r>
              <a:rPr lang="ru-RU" sz="1800" b="0" i="0" u="none" strike="noStrike" baseline="0" dirty="0">
                <a:latin typeface="TimesNewRoman"/>
              </a:rPr>
              <a:t>централизованной или распределенной. Пространственная модель Хранилища данных содержит ту же</a:t>
            </a:r>
          </a:p>
          <a:p>
            <a:pPr algn="l"/>
            <a:r>
              <a:rPr lang="ru-RU" sz="1800" b="0" i="0" u="none" strike="noStrike" baseline="0" dirty="0">
                <a:latin typeface="TimesNewRoman"/>
              </a:rPr>
              <a:t>атомарную информацию, что и нормализованная модель (см. подход Билла </a:t>
            </a:r>
            <a:r>
              <a:rPr lang="ru-RU" sz="1800" b="0" i="0" u="none" strike="noStrike" baseline="0" dirty="0" err="1">
                <a:latin typeface="TimesNewRoman"/>
              </a:rPr>
              <a:t>Инмона</a:t>
            </a:r>
            <a:r>
              <a:rPr lang="ru-RU" sz="1800" b="0" i="0" u="none" strike="noStrike" baseline="0" dirty="0">
                <a:latin typeface="TimesNewRoman"/>
              </a:rPr>
              <a:t>), но информация</a:t>
            </a:r>
          </a:p>
          <a:p>
            <a:pPr algn="l"/>
            <a:r>
              <a:rPr lang="ru-RU" sz="1800" b="0" i="0" u="none" strike="noStrike" baseline="0" dirty="0">
                <a:latin typeface="TimesNewRoman"/>
              </a:rPr>
              <a:t>структурирована по</a:t>
            </a:r>
            <a:r>
              <a:rPr lang="ru-RU" sz="1800" b="0" i="0" u="none" strike="noStrike" baseline="0" dirty="0">
                <a:latin typeface="Times-Roman"/>
              </a:rPr>
              <a:t>-</a:t>
            </a:r>
            <a:r>
              <a:rPr lang="ru-RU" sz="1800" b="0" i="0" u="none" strike="noStrike" baseline="0" dirty="0">
                <a:latin typeface="TimesNewRoman"/>
              </a:rPr>
              <a:t>другому, чтобы облегчить ее использование и выполнение запросов. Эта модель</a:t>
            </a:r>
          </a:p>
          <a:p>
            <a:pPr algn="l"/>
            <a:r>
              <a:rPr lang="ru-RU" sz="1800" b="0" i="0" u="none" strike="noStrike" baseline="0" dirty="0">
                <a:latin typeface="TimesNewRoman"/>
              </a:rPr>
              <a:t>включает как атомарные данные, так и обобщающую информацию (агрегаты в связанных таблицах или</a:t>
            </a:r>
          </a:p>
          <a:p>
            <a:pPr algn="l"/>
            <a:r>
              <a:rPr lang="ru-RU" sz="1800" b="0" i="0" u="none" strike="noStrike" baseline="0" dirty="0">
                <a:latin typeface="TimesNewRoman"/>
              </a:rPr>
              <a:t>многомерных кубах) в соответствии с требованиями производительности или пространственного</a:t>
            </a:r>
          </a:p>
          <a:p>
            <a:pPr algn="l"/>
            <a:r>
              <a:rPr lang="ru-RU" sz="1800" b="0" i="0" u="none" strike="noStrike" baseline="0" dirty="0">
                <a:latin typeface="TimesNewRoman"/>
              </a:rPr>
              <a:t>распределения данных. Запросы в процессе выполнения обращаются к все более низкому уровню</a:t>
            </a:r>
          </a:p>
          <a:p>
            <a:pPr algn="l"/>
            <a:r>
              <a:rPr lang="ru-RU" sz="1800" b="0" i="0" u="none" strike="noStrike" baseline="0" dirty="0">
                <a:latin typeface="TimesNewRoman"/>
              </a:rPr>
              <a:t>детализации без дополнительного перепрограммирования со стороны пользователей или</a:t>
            </a:r>
          </a:p>
          <a:p>
            <a:pPr algn="l"/>
            <a:r>
              <a:rPr lang="ru-RU" sz="1800" b="0" i="0" u="none" strike="noStrike" baseline="0" dirty="0">
                <a:latin typeface="TimesNewRoman"/>
              </a:rPr>
              <a:t>разработчиков приложения.</a:t>
            </a:r>
          </a:p>
          <a:p>
            <a:pPr algn="l"/>
            <a:endParaRPr lang="ru-RU" sz="1800" b="0" i="0" u="none" strike="noStrike" baseline="0" dirty="0">
              <a:latin typeface="TimesNewRoman"/>
            </a:endParaRPr>
          </a:p>
          <a:p>
            <a:pPr algn="l"/>
            <a:r>
              <a:rPr lang="ru-RU" sz="1800" b="0" i="0" u="none" strike="noStrike" baseline="0" dirty="0">
                <a:latin typeface="TimesNewRoman"/>
              </a:rPr>
              <a:t>В отличие от подхода Билла </a:t>
            </a:r>
            <a:r>
              <a:rPr lang="ru-RU" sz="1800" b="0" i="0" u="none" strike="noStrike" baseline="0" dirty="0" err="1">
                <a:latin typeface="TimesNewRoman"/>
              </a:rPr>
              <a:t>Инмона</a:t>
            </a:r>
            <a:r>
              <a:rPr lang="ru-RU" sz="1800" b="0" i="0" u="none" strike="noStrike" baseline="0" dirty="0">
                <a:latin typeface="TimesNewRoman"/>
              </a:rPr>
              <a:t>, пространственные модели строятся для обслуживания</a:t>
            </a:r>
          </a:p>
          <a:p>
            <a:pPr algn="l"/>
            <a:r>
              <a:rPr lang="ru-RU" sz="1800" b="0" i="0" u="none" strike="noStrike" baseline="0" dirty="0">
                <a:latin typeface="TimesNewRoman"/>
              </a:rPr>
              <a:t>бизнес</a:t>
            </a:r>
            <a:r>
              <a:rPr lang="ru-RU" sz="1800" b="0" i="0" u="none" strike="noStrike" baseline="0" dirty="0">
                <a:latin typeface="Times-Roman"/>
              </a:rPr>
              <a:t>-</a:t>
            </a:r>
            <a:r>
              <a:rPr lang="ru-RU" sz="1800" b="0" i="0" u="none" strike="noStrike" baseline="0" dirty="0">
                <a:latin typeface="TimesNewRoman"/>
              </a:rPr>
              <a:t>процессов (которые, в свою очередь, связаны с бизнес</a:t>
            </a:r>
            <a:r>
              <a:rPr lang="ru-RU" sz="1800" b="0" i="0" u="none" strike="noStrike" baseline="0" dirty="0">
                <a:latin typeface="Times-Roman"/>
              </a:rPr>
              <a:t>-</a:t>
            </a:r>
            <a:r>
              <a:rPr lang="ru-RU" sz="1800" b="0" i="0" u="none" strike="noStrike" baseline="0" dirty="0">
                <a:latin typeface="TimesNewRoman"/>
              </a:rPr>
              <a:t>показателями или бизнес</a:t>
            </a:r>
            <a:r>
              <a:rPr lang="ru-RU" sz="1800" b="0" i="0" u="none" strike="noStrike" baseline="0" dirty="0">
                <a:latin typeface="Times-Roman"/>
              </a:rPr>
              <a:t>-</a:t>
            </a:r>
            <a:r>
              <a:rPr lang="ru-RU" sz="1800" b="0" i="0" u="none" strike="noStrike" baseline="0" dirty="0">
                <a:latin typeface="TimesNewRoman"/>
              </a:rPr>
              <a:t>событиями), а</a:t>
            </a:r>
          </a:p>
          <a:p>
            <a:pPr algn="l"/>
            <a:r>
              <a:rPr lang="ru-RU" sz="1800" b="0" i="0" u="none" strike="noStrike" baseline="0" dirty="0">
                <a:latin typeface="TimesNewRoman"/>
              </a:rPr>
              <a:t>не бизнес</a:t>
            </a:r>
            <a:r>
              <a:rPr lang="ru-RU" sz="1800" b="0" i="0" u="none" strike="noStrike" baseline="0" dirty="0">
                <a:latin typeface="Times-Roman"/>
              </a:rPr>
              <a:t>-</a:t>
            </a:r>
            <a:r>
              <a:rPr lang="ru-RU" sz="1800" b="0" i="0" u="none" strike="noStrike" baseline="0" dirty="0">
                <a:latin typeface="TimesNewRoman"/>
              </a:rPr>
              <a:t>отделов. Например, данные о заказах, которые должны быть доступны для</a:t>
            </a:r>
          </a:p>
          <a:p>
            <a:pPr algn="l"/>
            <a:r>
              <a:rPr lang="ru-RU" sz="1800" b="0" i="0" u="none" strike="noStrike" baseline="0" dirty="0">
                <a:latin typeface="TimesNewRoman"/>
              </a:rPr>
              <a:t>общекорпоративного использования, вносятся в пространственное Хранилище данных только один</a:t>
            </a:r>
          </a:p>
          <a:p>
            <a:pPr algn="l"/>
            <a:r>
              <a:rPr lang="ru-RU" sz="1800" b="0" i="0" u="none" strike="noStrike" baseline="0" dirty="0">
                <a:latin typeface="TimesNewRoman"/>
              </a:rPr>
              <a:t>раз, в отличие от CIF</a:t>
            </a:r>
            <a:r>
              <a:rPr lang="ru-RU" sz="1800" b="0" i="0" u="none" strike="noStrike" baseline="0" dirty="0">
                <a:latin typeface="Times-Roman"/>
              </a:rPr>
              <a:t>-</a:t>
            </a:r>
            <a:r>
              <a:rPr lang="ru-RU" sz="1800" b="0" i="0" u="none" strike="noStrike" baseline="0" dirty="0">
                <a:latin typeface="TimesNewRoman"/>
              </a:rPr>
              <a:t>подхода, в котором их пришлось бы трижды копировать в витрины данных</a:t>
            </a:r>
          </a:p>
          <a:p>
            <a:pPr algn="l"/>
            <a:r>
              <a:rPr lang="ru-RU" sz="1800" b="0" i="0" u="none" strike="noStrike" baseline="0" dirty="0">
                <a:latin typeface="TimesNewRoman"/>
              </a:rPr>
              <a:t>отделов маркетинга, продаж и финансов. После того, как в Хранилище появляется информация об</a:t>
            </a:r>
          </a:p>
          <a:p>
            <a:pPr algn="l"/>
            <a:r>
              <a:rPr lang="ru-RU" sz="1800" b="0" i="0" u="none" strike="noStrike" baseline="0" dirty="0">
                <a:latin typeface="TimesNewRoman"/>
              </a:rPr>
              <a:t>основных бизнес</a:t>
            </a:r>
            <a:r>
              <a:rPr lang="ru-RU" sz="1800" b="0" i="0" u="none" strike="noStrike" baseline="0" dirty="0">
                <a:latin typeface="Times-Roman"/>
              </a:rPr>
              <a:t>-</a:t>
            </a:r>
            <a:r>
              <a:rPr lang="ru-RU" sz="1800" b="0" i="0" u="none" strike="noStrike" baseline="0" dirty="0">
                <a:latin typeface="TimesNewRoman"/>
              </a:rPr>
              <a:t>процессах, консолидированные пространственные модели могут выдавать их</a:t>
            </a:r>
          </a:p>
          <a:p>
            <a:pPr algn="l"/>
            <a:r>
              <a:rPr lang="ru-RU" sz="1800" b="0" i="0" u="none" strike="noStrike" baseline="0" dirty="0">
                <a:latin typeface="TimesNewRoman"/>
              </a:rPr>
              <a:t>перекрестные характеристики. Матрица корпоративного Хранилища данных с архитектурой шины</a:t>
            </a:r>
          </a:p>
          <a:p>
            <a:pPr algn="l"/>
            <a:r>
              <a:rPr lang="ru-RU" sz="1800" b="0" i="0" u="none" strike="noStrike" baseline="0" dirty="0">
                <a:latin typeface="TimesNewRoman"/>
              </a:rPr>
              <a:t>выявляет и усиливает связи между показателями бизнес</a:t>
            </a:r>
            <a:r>
              <a:rPr lang="ru-RU" sz="1800" b="0" i="0" u="none" strike="noStrike" baseline="0" dirty="0">
                <a:latin typeface="Times-Roman"/>
              </a:rPr>
              <a:t>-</a:t>
            </a:r>
            <a:r>
              <a:rPr lang="ru-RU" sz="1800" b="0" i="0" u="none" strike="noStrike" baseline="0" dirty="0">
                <a:latin typeface="TimesNewRoman"/>
              </a:rPr>
              <a:t>процессов (фактами) и описательными</a:t>
            </a:r>
          </a:p>
          <a:p>
            <a:pPr algn="l"/>
            <a:r>
              <a:rPr lang="ru-RU" sz="1800" b="0" i="0" u="none" strike="noStrike" baseline="0" dirty="0">
                <a:latin typeface="TimesNewRoman"/>
              </a:rPr>
              <a:t>атрибутами (измерениями).</a:t>
            </a:r>
          </a:p>
          <a:p>
            <a:pPr algn="l"/>
            <a:r>
              <a:rPr lang="ru-RU" sz="1800" b="0" i="0" u="none" strike="noStrike" baseline="0" dirty="0">
                <a:latin typeface="TimesNewRoman"/>
              </a:rPr>
              <a:t>Суммируя все вышесказанное, можно отметить типичные черты подхода Ральфа </a:t>
            </a:r>
            <a:r>
              <a:rPr lang="ru-RU" sz="1800" b="0" i="0" u="none" strike="noStrike" baseline="0" dirty="0" err="1">
                <a:latin typeface="TimesNewRoman"/>
              </a:rPr>
              <a:t>Кимболла</a:t>
            </a:r>
            <a:r>
              <a:rPr lang="ru-RU" sz="1800" b="0" i="0" u="none" strike="noStrike" baseline="0" dirty="0">
                <a:latin typeface="TimesNewRoman"/>
              </a:rPr>
              <a:t>.</a:t>
            </a:r>
          </a:p>
          <a:p>
            <a:pPr algn="l"/>
            <a:r>
              <a:rPr lang="ru-RU" sz="1800" b="0" i="0" u="none" strike="noStrike" baseline="0" dirty="0">
                <a:latin typeface="Times-Roman"/>
              </a:rPr>
              <a:t>1. </a:t>
            </a:r>
            <a:r>
              <a:rPr lang="ru-RU" sz="1800" b="0" i="0" u="none" strike="noStrike" baseline="0" dirty="0">
                <a:latin typeface="TimesNewRoman"/>
              </a:rPr>
              <a:t>Использование пространственной модели организации данных с архитектурой "звезда" (</a:t>
            </a:r>
            <a:r>
              <a:rPr lang="ru-RU" sz="1800" b="0" i="0" u="none" strike="noStrike" baseline="0" dirty="0" err="1">
                <a:latin typeface="TimesNewRoman"/>
              </a:rPr>
              <a:t>star</a:t>
            </a:r>
            <a:endParaRPr lang="ru-RU" sz="1800" b="0" i="0" u="none" strike="noStrike" baseline="0" dirty="0">
              <a:latin typeface="TimesNewRoman"/>
            </a:endParaRPr>
          </a:p>
          <a:p>
            <a:pPr algn="l"/>
            <a:r>
              <a:rPr lang="en-US" sz="1800" b="0" i="0" u="none" strike="noStrike" baseline="0" dirty="0">
                <a:latin typeface="Times-Roman"/>
              </a:rPr>
              <a:t>scheme).</a:t>
            </a:r>
          </a:p>
          <a:p>
            <a:pPr algn="l"/>
            <a:r>
              <a:rPr lang="ru-RU" sz="1800" b="0" i="0" u="none" strike="noStrike" baseline="0" dirty="0">
                <a:latin typeface="Times-Roman"/>
              </a:rPr>
              <a:t>2. </a:t>
            </a:r>
            <a:r>
              <a:rPr lang="ru-RU" sz="1800" b="0" i="0" u="none" strike="noStrike" baseline="0" dirty="0">
                <a:latin typeface="TimesNewRoman"/>
              </a:rPr>
              <a:t>Использование двухуровневой архитектуры, которая включает стадию подготовки данных,</a:t>
            </a:r>
          </a:p>
          <a:p>
            <a:pPr algn="l"/>
            <a:r>
              <a:rPr lang="ru-RU" sz="1800" b="0" i="0" u="none" strike="noStrike" baseline="0" dirty="0">
                <a:latin typeface="TimesNewRoman"/>
              </a:rPr>
              <a:t>недоступную для конечных пользователей, и Хранилище данных с архитектурой шины как таковое.</a:t>
            </a:r>
          </a:p>
          <a:p>
            <a:pPr algn="l"/>
            <a:r>
              <a:rPr lang="ru-RU" sz="1800" b="0" i="0" u="none" strike="noStrike" baseline="0" dirty="0">
                <a:latin typeface="TimesNewRoman"/>
              </a:rPr>
              <a:t>В состав последнего входят несколько витрин атомарных данных, несколько витрин агрегированных</a:t>
            </a:r>
          </a:p>
          <a:p>
            <a:pPr algn="l"/>
            <a:r>
              <a:rPr lang="ru-RU" sz="1800" b="0" i="0" u="none" strike="noStrike" baseline="0" dirty="0">
                <a:latin typeface="TimesNewRoman"/>
              </a:rPr>
              <a:t>данных и персональная витрина данных, но оно не содержит одного физически целостного или</a:t>
            </a:r>
          </a:p>
          <a:p>
            <a:pPr algn="l"/>
            <a:r>
              <a:rPr lang="ru-RU" sz="1800" b="0" i="0" u="none" strike="noStrike" baseline="0" dirty="0">
                <a:latin typeface="TimesNewRoman"/>
              </a:rPr>
              <a:t>централизованного Хранилища данных.</a:t>
            </a:r>
          </a:p>
          <a:p>
            <a:pPr algn="l"/>
            <a:r>
              <a:rPr lang="ru-RU" sz="1800" b="0" i="0" u="none" strike="noStrike" baseline="0" dirty="0">
                <a:latin typeface="Times-Roman"/>
              </a:rPr>
              <a:t>3. </a:t>
            </a:r>
            <a:r>
              <a:rPr lang="ru-RU" sz="1800" b="0" i="0" u="none" strike="noStrike" baseline="0" dirty="0">
                <a:latin typeface="TimesNewRoman"/>
              </a:rPr>
              <a:t>Хранилище данных с архитектурой шины обладает следующими характеристиками:</a:t>
            </a:r>
          </a:p>
          <a:p>
            <a:pPr algn="l"/>
            <a:r>
              <a:rPr lang="ru-RU" sz="1800" b="0" i="0" u="none" strike="noStrike" baseline="0" dirty="0">
                <a:latin typeface="TimesNewRoman"/>
              </a:rPr>
              <a:t>‒ оно пространственное;</a:t>
            </a:r>
          </a:p>
          <a:p>
            <a:pPr algn="l"/>
            <a:r>
              <a:rPr lang="ru-RU" sz="1800" b="0" i="0" u="none" strike="noStrike" baseline="0" dirty="0">
                <a:latin typeface="TimesNewRoman"/>
              </a:rPr>
              <a:t>‒ оно включает как данные о транзакциях, так и суммарные данные;</a:t>
            </a:r>
          </a:p>
          <a:p>
            <a:pPr algn="l"/>
            <a:r>
              <a:rPr lang="ru-RU" sz="1800" b="0" i="0" u="none" strike="noStrike" baseline="0" dirty="0">
                <a:latin typeface="TimesNewRoman"/>
              </a:rPr>
              <a:t>‒ оно включает витрины данных, посвященные только одной предметной области или</a:t>
            </a:r>
          </a:p>
          <a:p>
            <a:pPr algn="l"/>
            <a:r>
              <a:rPr lang="ru-RU" sz="1800" b="0" i="0" u="none" strike="noStrike" baseline="0" dirty="0">
                <a:latin typeface="TimesNewRoman"/>
              </a:rPr>
              <a:t>имеющие только одну таблицу фактов (</a:t>
            </a:r>
            <a:r>
              <a:rPr lang="ru-RU" sz="1800" b="0" i="0" u="none" strike="noStrike" baseline="0" dirty="0" err="1">
                <a:latin typeface="TimesNewRoman"/>
              </a:rPr>
              <a:t>fact</a:t>
            </a:r>
            <a:r>
              <a:rPr lang="ru-RU" sz="1800" b="0" i="0" u="none" strike="noStrike" baseline="0" dirty="0">
                <a:latin typeface="TimesNewRoman"/>
              </a:rPr>
              <a:t> </a:t>
            </a:r>
            <a:r>
              <a:rPr lang="ru-RU" sz="1800" b="0" i="0" u="none" strike="noStrike" baseline="0" dirty="0" err="1">
                <a:latin typeface="TimesNewRoman"/>
              </a:rPr>
              <a:t>table</a:t>
            </a:r>
            <a:r>
              <a:rPr lang="ru-RU" sz="1800" b="0" i="0" u="none" strike="noStrike" baseline="0" dirty="0">
                <a:latin typeface="TimesNewRoman"/>
              </a:rPr>
              <a:t>);</a:t>
            </a:r>
          </a:p>
          <a:p>
            <a:pPr algn="l"/>
            <a:r>
              <a:rPr lang="ru-RU" sz="1800" b="0" i="0" u="none" strike="noStrike" baseline="0" dirty="0">
                <a:latin typeface="TimesNewRoman"/>
              </a:rPr>
              <a:t>‒ оно может содержать множество витрин данных в пределах одной базы данных.</a:t>
            </a:r>
          </a:p>
          <a:p>
            <a:pPr algn="l"/>
            <a:r>
              <a:rPr lang="ru-RU" sz="1800" b="0" i="0" u="none" strike="noStrike" baseline="0" dirty="0">
                <a:latin typeface="Times-Roman"/>
              </a:rPr>
              <a:t>4. </a:t>
            </a:r>
            <a:r>
              <a:rPr lang="ru-RU" sz="1800" b="0" i="0" u="none" strike="noStrike" baseline="0" dirty="0">
                <a:latin typeface="TimesNewRoman"/>
              </a:rPr>
              <a:t>Хранилище данных не является единым физическим репозиторием (в отличие от подхода</a:t>
            </a:r>
          </a:p>
          <a:p>
            <a:pPr algn="l"/>
            <a:r>
              <a:rPr lang="ru-RU" sz="1800" b="0" i="0" u="none" strike="noStrike" baseline="0" dirty="0">
                <a:latin typeface="TimesNewRoman"/>
              </a:rPr>
              <a:t>Билла </a:t>
            </a:r>
            <a:r>
              <a:rPr lang="ru-RU" sz="1800" b="0" i="0" u="none" strike="noStrike" baseline="0" dirty="0" err="1">
                <a:latin typeface="TimesNewRoman"/>
              </a:rPr>
              <a:t>Инмона</a:t>
            </a:r>
            <a:r>
              <a:rPr lang="ru-RU" sz="1800" b="0" i="0" u="none" strike="noStrike" baseline="0" dirty="0">
                <a:latin typeface="TimesNewRoman"/>
              </a:rPr>
              <a:t>). Это "виртуальное" Хранилище. Это коллекция витрин данных, каждая из которых</a:t>
            </a:r>
          </a:p>
          <a:p>
            <a:pPr algn="l"/>
            <a:r>
              <a:rPr lang="ru-RU" sz="1800" b="0" i="0" u="none" strike="noStrike" baseline="0" dirty="0">
                <a:latin typeface="TimesNewRoman"/>
              </a:rPr>
              <a:t>имеет архитектуру типа "звезда".</a:t>
            </a:r>
            <a:endParaRPr lang="ru-RU" sz="3200" dirty="0">
              <a:latin typeface="+mn-lt"/>
              <a:cs typeface="+mn-cs"/>
            </a:endParaRPr>
          </a:p>
        </p:txBody>
      </p:sp>
    </p:spTree>
    <p:extLst>
      <p:ext uri="{BB962C8B-B14F-4D97-AF65-F5344CB8AC3E}">
        <p14:creationId xmlns:p14="http://schemas.microsoft.com/office/powerpoint/2010/main" val="25310303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736776-38A3-4248-A465-29A13CE7B969}" type="slidenum">
              <a:rPr lang="ru-RU"/>
              <a:pPr/>
              <a:t>38</a:t>
            </a:fld>
            <a:endParaRPr lang="ru-RU" dirty="0"/>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pPr algn="l"/>
            <a:r>
              <a:rPr lang="ru-RU" sz="1800" b="0" i="0" u="none" strike="noStrike" baseline="0" dirty="0">
                <a:latin typeface="TimesNewRoman"/>
              </a:rPr>
              <a:t>В этой модели первичные данные преобразуются в информацию, пригодную для использования, на</a:t>
            </a:r>
          </a:p>
          <a:p>
            <a:pPr algn="l"/>
            <a:r>
              <a:rPr lang="ru-RU" sz="1800" b="0" i="0" u="none" strike="noStrike" baseline="0" dirty="0">
                <a:latin typeface="TimesNewRoman"/>
              </a:rPr>
              <a:t>этапе подготовки данных. При этом обязательно принимаются во внимание требования к скорости</a:t>
            </a:r>
          </a:p>
          <a:p>
            <a:pPr algn="l"/>
            <a:r>
              <a:rPr lang="ru-RU" sz="1800" b="0" i="0" u="none" strike="noStrike" baseline="0" dirty="0">
                <a:latin typeface="TimesNewRoman"/>
              </a:rPr>
              <a:t>обработки информации и качеству данных. Как и в модели Билла </a:t>
            </a:r>
            <a:r>
              <a:rPr lang="ru-RU" sz="1800" b="0" i="0" u="none" strike="noStrike" baseline="0" dirty="0" err="1">
                <a:latin typeface="TimesNewRoman"/>
              </a:rPr>
              <a:t>Инмона</a:t>
            </a:r>
            <a:r>
              <a:rPr lang="ru-RU" sz="1800" b="0" i="0" u="none" strike="noStrike" baseline="0" dirty="0">
                <a:latin typeface="TimesNewRoman"/>
              </a:rPr>
              <a:t>, подготовка данных</a:t>
            </a:r>
          </a:p>
          <a:p>
            <a:pPr algn="l"/>
            <a:r>
              <a:rPr lang="ru-RU" sz="1800" b="0" i="0" u="none" strike="noStrike" baseline="0" dirty="0">
                <a:latin typeface="TimesNewRoman"/>
              </a:rPr>
              <a:t>начинается со скоординированного извлечения данных из источников. Ряд операций совершается</a:t>
            </a:r>
            <a:endParaRPr lang="ru-RU" sz="1800" b="0" i="0" u="none" strike="noStrike" baseline="0" dirty="0">
              <a:latin typeface="Times-Roman"/>
            </a:endParaRPr>
          </a:p>
          <a:p>
            <a:pPr algn="l"/>
            <a:r>
              <a:rPr lang="ru-RU" sz="1800" b="0" i="0" u="none" strike="noStrike" baseline="0" dirty="0">
                <a:latin typeface="TimesNewRoman"/>
              </a:rPr>
              <a:t>централизованно, например, поддержание и хранение общих справочных данных, другие действия</a:t>
            </a:r>
          </a:p>
          <a:p>
            <a:pPr algn="l"/>
            <a:r>
              <a:rPr lang="ru-RU" sz="1800" b="0" i="0" u="none" strike="noStrike" baseline="0" dirty="0">
                <a:latin typeface="TimesNewRoman"/>
              </a:rPr>
              <a:t>могут быть распределенными.</a:t>
            </a:r>
          </a:p>
          <a:p>
            <a:pPr algn="l"/>
            <a:r>
              <a:rPr lang="ru-RU" sz="1800" b="0" i="0" u="none" strike="noStrike" baseline="0" dirty="0">
                <a:latin typeface="TimesNewRoman"/>
              </a:rPr>
              <a:t>Область представления </a:t>
            </a:r>
            <a:r>
              <a:rPr lang="ru-RU" sz="1800" b="0" i="0" u="none" strike="noStrike" baseline="0" dirty="0" err="1">
                <a:latin typeface="TimesNewRoman"/>
              </a:rPr>
              <a:t>пространственно</a:t>
            </a:r>
            <a:r>
              <a:rPr lang="ru-RU" sz="1800" b="0" i="0" u="none" strike="noStrike" baseline="0" dirty="0">
                <a:latin typeface="TimesNewRoman"/>
              </a:rPr>
              <a:t> структурирована, при этом она может быть</a:t>
            </a:r>
          </a:p>
          <a:p>
            <a:pPr algn="l"/>
            <a:r>
              <a:rPr lang="ru-RU" sz="1800" b="0" i="0" u="none" strike="noStrike" baseline="0" dirty="0">
                <a:latin typeface="TimesNewRoman"/>
              </a:rPr>
              <a:t>централизованной или распределенной. Пространственная модель Хранилища данных содержит ту же</a:t>
            </a:r>
          </a:p>
          <a:p>
            <a:pPr algn="l"/>
            <a:r>
              <a:rPr lang="ru-RU" sz="1800" b="0" i="0" u="none" strike="noStrike" baseline="0" dirty="0">
                <a:latin typeface="TimesNewRoman"/>
              </a:rPr>
              <a:t>атомарную информацию, что и нормализованная модель (см. подход Билла </a:t>
            </a:r>
            <a:r>
              <a:rPr lang="ru-RU" sz="1800" b="0" i="0" u="none" strike="noStrike" baseline="0" dirty="0" err="1">
                <a:latin typeface="TimesNewRoman"/>
              </a:rPr>
              <a:t>Инмона</a:t>
            </a:r>
            <a:r>
              <a:rPr lang="ru-RU" sz="1800" b="0" i="0" u="none" strike="noStrike" baseline="0" dirty="0">
                <a:latin typeface="TimesNewRoman"/>
              </a:rPr>
              <a:t>), но информация</a:t>
            </a:r>
          </a:p>
          <a:p>
            <a:pPr algn="l"/>
            <a:r>
              <a:rPr lang="ru-RU" sz="1800" b="0" i="0" u="none" strike="noStrike" baseline="0" dirty="0">
                <a:latin typeface="TimesNewRoman"/>
              </a:rPr>
              <a:t>структурирована по</a:t>
            </a:r>
            <a:r>
              <a:rPr lang="ru-RU" sz="1800" b="0" i="0" u="none" strike="noStrike" baseline="0" dirty="0">
                <a:latin typeface="Times-Roman"/>
              </a:rPr>
              <a:t>-</a:t>
            </a:r>
            <a:r>
              <a:rPr lang="ru-RU" sz="1800" b="0" i="0" u="none" strike="noStrike" baseline="0" dirty="0">
                <a:latin typeface="TimesNewRoman"/>
              </a:rPr>
              <a:t>другому, чтобы облегчить ее использование и выполнение запросов. Эта модель</a:t>
            </a:r>
          </a:p>
          <a:p>
            <a:pPr algn="l"/>
            <a:r>
              <a:rPr lang="ru-RU" sz="1800" b="0" i="0" u="none" strike="noStrike" baseline="0" dirty="0">
                <a:latin typeface="TimesNewRoman"/>
              </a:rPr>
              <a:t>включает как атомарные данные, так и обобщающую информацию (агрегаты в связанных таблицах или</a:t>
            </a:r>
          </a:p>
          <a:p>
            <a:pPr algn="l"/>
            <a:r>
              <a:rPr lang="ru-RU" sz="1800" b="0" i="0" u="none" strike="noStrike" baseline="0" dirty="0">
                <a:latin typeface="TimesNewRoman"/>
              </a:rPr>
              <a:t>многомерных кубах) в соответствии с требованиями производительности или пространственного</a:t>
            </a:r>
          </a:p>
          <a:p>
            <a:pPr algn="l"/>
            <a:r>
              <a:rPr lang="ru-RU" sz="1800" b="0" i="0" u="none" strike="noStrike" baseline="0" dirty="0">
                <a:latin typeface="TimesNewRoman"/>
              </a:rPr>
              <a:t>распределения данных. Запросы в процессе выполнения обращаются к все более низкому уровню</a:t>
            </a:r>
          </a:p>
          <a:p>
            <a:pPr algn="l"/>
            <a:r>
              <a:rPr lang="ru-RU" sz="1800" b="0" i="0" u="none" strike="noStrike" baseline="0" dirty="0">
                <a:latin typeface="TimesNewRoman"/>
              </a:rPr>
              <a:t>детализации без дополнительного перепрограммирования со стороны пользователей или</a:t>
            </a:r>
          </a:p>
          <a:p>
            <a:pPr algn="l"/>
            <a:r>
              <a:rPr lang="ru-RU" sz="1800" b="0" i="0" u="none" strike="noStrike" baseline="0" dirty="0">
                <a:latin typeface="TimesNewRoman"/>
              </a:rPr>
              <a:t>разработчиков приложения.</a:t>
            </a:r>
          </a:p>
          <a:p>
            <a:pPr algn="l"/>
            <a:endParaRPr lang="ru-RU" sz="1800" b="0" i="0" u="none" strike="noStrike" baseline="0" dirty="0">
              <a:latin typeface="TimesNewRoman"/>
            </a:endParaRPr>
          </a:p>
          <a:p>
            <a:pPr algn="l"/>
            <a:r>
              <a:rPr lang="ru-RU" sz="1800" b="0" i="0" u="none" strike="noStrike" baseline="0" dirty="0">
                <a:latin typeface="TimesNewRoman"/>
              </a:rPr>
              <a:t>В отличие от подхода Билла </a:t>
            </a:r>
            <a:r>
              <a:rPr lang="ru-RU" sz="1800" b="0" i="0" u="none" strike="noStrike" baseline="0" dirty="0" err="1">
                <a:latin typeface="TimesNewRoman"/>
              </a:rPr>
              <a:t>Инмона</a:t>
            </a:r>
            <a:r>
              <a:rPr lang="ru-RU" sz="1800" b="0" i="0" u="none" strike="noStrike" baseline="0" dirty="0">
                <a:latin typeface="TimesNewRoman"/>
              </a:rPr>
              <a:t>, пространственные модели строятся для обслуживания</a:t>
            </a:r>
          </a:p>
          <a:p>
            <a:pPr algn="l"/>
            <a:r>
              <a:rPr lang="ru-RU" sz="1800" b="0" i="0" u="none" strike="noStrike" baseline="0" dirty="0">
                <a:latin typeface="TimesNewRoman"/>
              </a:rPr>
              <a:t>бизнес</a:t>
            </a:r>
            <a:r>
              <a:rPr lang="ru-RU" sz="1800" b="0" i="0" u="none" strike="noStrike" baseline="0" dirty="0">
                <a:latin typeface="Times-Roman"/>
              </a:rPr>
              <a:t>-</a:t>
            </a:r>
            <a:r>
              <a:rPr lang="ru-RU" sz="1800" b="0" i="0" u="none" strike="noStrike" baseline="0" dirty="0">
                <a:latin typeface="TimesNewRoman"/>
              </a:rPr>
              <a:t>процессов (которые, в свою очередь, связаны с бизнес</a:t>
            </a:r>
            <a:r>
              <a:rPr lang="ru-RU" sz="1800" b="0" i="0" u="none" strike="noStrike" baseline="0" dirty="0">
                <a:latin typeface="Times-Roman"/>
              </a:rPr>
              <a:t>-</a:t>
            </a:r>
            <a:r>
              <a:rPr lang="ru-RU" sz="1800" b="0" i="0" u="none" strike="noStrike" baseline="0" dirty="0">
                <a:latin typeface="TimesNewRoman"/>
              </a:rPr>
              <a:t>показателями или бизнес</a:t>
            </a:r>
            <a:r>
              <a:rPr lang="ru-RU" sz="1800" b="0" i="0" u="none" strike="noStrike" baseline="0" dirty="0">
                <a:latin typeface="Times-Roman"/>
              </a:rPr>
              <a:t>-</a:t>
            </a:r>
            <a:r>
              <a:rPr lang="ru-RU" sz="1800" b="0" i="0" u="none" strike="noStrike" baseline="0" dirty="0">
                <a:latin typeface="TimesNewRoman"/>
              </a:rPr>
              <a:t>событиями), а</a:t>
            </a:r>
          </a:p>
          <a:p>
            <a:pPr algn="l"/>
            <a:r>
              <a:rPr lang="ru-RU" sz="1800" b="0" i="0" u="none" strike="noStrike" baseline="0" dirty="0">
                <a:latin typeface="TimesNewRoman"/>
              </a:rPr>
              <a:t>не бизнес</a:t>
            </a:r>
            <a:r>
              <a:rPr lang="ru-RU" sz="1800" b="0" i="0" u="none" strike="noStrike" baseline="0" dirty="0">
                <a:latin typeface="Times-Roman"/>
              </a:rPr>
              <a:t>-</a:t>
            </a:r>
            <a:r>
              <a:rPr lang="ru-RU" sz="1800" b="0" i="0" u="none" strike="noStrike" baseline="0" dirty="0">
                <a:latin typeface="TimesNewRoman"/>
              </a:rPr>
              <a:t>отделов. Например, данные о заказах, которые должны быть доступны для</a:t>
            </a:r>
          </a:p>
          <a:p>
            <a:pPr algn="l"/>
            <a:r>
              <a:rPr lang="ru-RU" sz="1800" b="0" i="0" u="none" strike="noStrike" baseline="0" dirty="0">
                <a:latin typeface="TimesNewRoman"/>
              </a:rPr>
              <a:t>общекорпоративного использования, вносятся в пространственное Хранилище данных только один</a:t>
            </a:r>
          </a:p>
          <a:p>
            <a:pPr algn="l"/>
            <a:r>
              <a:rPr lang="ru-RU" sz="1800" b="0" i="0" u="none" strike="noStrike" baseline="0" dirty="0">
                <a:latin typeface="TimesNewRoman"/>
              </a:rPr>
              <a:t>раз, в отличие от CIF</a:t>
            </a:r>
            <a:r>
              <a:rPr lang="ru-RU" sz="1800" b="0" i="0" u="none" strike="noStrike" baseline="0" dirty="0">
                <a:latin typeface="Times-Roman"/>
              </a:rPr>
              <a:t>-</a:t>
            </a:r>
            <a:r>
              <a:rPr lang="ru-RU" sz="1800" b="0" i="0" u="none" strike="noStrike" baseline="0" dirty="0">
                <a:latin typeface="TimesNewRoman"/>
              </a:rPr>
              <a:t>подхода, в котором их пришлось бы трижды копировать в витрины данных</a:t>
            </a:r>
          </a:p>
          <a:p>
            <a:pPr algn="l"/>
            <a:r>
              <a:rPr lang="ru-RU" sz="1800" b="0" i="0" u="none" strike="noStrike" baseline="0" dirty="0">
                <a:latin typeface="TimesNewRoman"/>
              </a:rPr>
              <a:t>отделов маркетинга, продаж и финансов. После того, как в Хранилище появляется информация об</a:t>
            </a:r>
          </a:p>
          <a:p>
            <a:pPr algn="l"/>
            <a:r>
              <a:rPr lang="ru-RU" sz="1800" b="0" i="0" u="none" strike="noStrike" baseline="0" dirty="0">
                <a:latin typeface="TimesNewRoman"/>
              </a:rPr>
              <a:t>основных бизнес</a:t>
            </a:r>
            <a:r>
              <a:rPr lang="ru-RU" sz="1800" b="0" i="0" u="none" strike="noStrike" baseline="0" dirty="0">
                <a:latin typeface="Times-Roman"/>
              </a:rPr>
              <a:t>-</a:t>
            </a:r>
            <a:r>
              <a:rPr lang="ru-RU" sz="1800" b="0" i="0" u="none" strike="noStrike" baseline="0" dirty="0">
                <a:latin typeface="TimesNewRoman"/>
              </a:rPr>
              <a:t>процессах, консолидированные пространственные модели могут выдавать их</a:t>
            </a:r>
          </a:p>
          <a:p>
            <a:pPr algn="l"/>
            <a:r>
              <a:rPr lang="ru-RU" sz="1800" b="0" i="0" u="none" strike="noStrike" baseline="0" dirty="0">
                <a:latin typeface="TimesNewRoman"/>
              </a:rPr>
              <a:t>перекрестные характеристики. Матрица корпоративного Хранилища данных с архитектурой шины</a:t>
            </a:r>
          </a:p>
          <a:p>
            <a:pPr algn="l"/>
            <a:r>
              <a:rPr lang="ru-RU" sz="1800" b="0" i="0" u="none" strike="noStrike" baseline="0" dirty="0">
                <a:latin typeface="TimesNewRoman"/>
              </a:rPr>
              <a:t>выявляет и усиливает связи между показателями бизнес</a:t>
            </a:r>
            <a:r>
              <a:rPr lang="ru-RU" sz="1800" b="0" i="0" u="none" strike="noStrike" baseline="0" dirty="0">
                <a:latin typeface="Times-Roman"/>
              </a:rPr>
              <a:t>-</a:t>
            </a:r>
            <a:r>
              <a:rPr lang="ru-RU" sz="1800" b="0" i="0" u="none" strike="noStrike" baseline="0" dirty="0">
                <a:latin typeface="TimesNewRoman"/>
              </a:rPr>
              <a:t>процессов (фактами) и описательными</a:t>
            </a:r>
          </a:p>
          <a:p>
            <a:pPr algn="l"/>
            <a:r>
              <a:rPr lang="ru-RU" sz="1800" b="0" i="0" u="none" strike="noStrike" baseline="0" dirty="0">
                <a:latin typeface="TimesNewRoman"/>
              </a:rPr>
              <a:t>атрибутами (измерениями).</a:t>
            </a:r>
          </a:p>
          <a:p>
            <a:pPr algn="l"/>
            <a:r>
              <a:rPr lang="ru-RU" sz="1800" b="0" i="0" u="none" strike="noStrike" baseline="0" dirty="0">
                <a:latin typeface="TimesNewRoman"/>
              </a:rPr>
              <a:t>Суммируя все вышесказанное, можно отметить типичные черты подхода Ральфа </a:t>
            </a:r>
            <a:r>
              <a:rPr lang="ru-RU" sz="1800" b="0" i="0" u="none" strike="noStrike" baseline="0" dirty="0" err="1">
                <a:latin typeface="TimesNewRoman"/>
              </a:rPr>
              <a:t>Кимболла</a:t>
            </a:r>
            <a:r>
              <a:rPr lang="ru-RU" sz="1800" b="0" i="0" u="none" strike="noStrike" baseline="0" dirty="0">
                <a:latin typeface="TimesNewRoman"/>
              </a:rPr>
              <a:t>.</a:t>
            </a:r>
          </a:p>
          <a:p>
            <a:pPr algn="l"/>
            <a:r>
              <a:rPr lang="ru-RU" sz="1800" b="0" i="0" u="none" strike="noStrike" baseline="0" dirty="0">
                <a:latin typeface="Times-Roman"/>
              </a:rPr>
              <a:t>1. </a:t>
            </a:r>
            <a:r>
              <a:rPr lang="ru-RU" sz="1800" b="0" i="0" u="none" strike="noStrike" baseline="0" dirty="0">
                <a:latin typeface="TimesNewRoman"/>
              </a:rPr>
              <a:t>Использование пространственной модели организации данных с архитектурой "звезда" (</a:t>
            </a:r>
            <a:r>
              <a:rPr lang="ru-RU" sz="1800" b="0" i="0" u="none" strike="noStrike" baseline="0" dirty="0" err="1">
                <a:latin typeface="TimesNewRoman"/>
              </a:rPr>
              <a:t>star</a:t>
            </a:r>
            <a:endParaRPr lang="ru-RU" sz="1800" b="0" i="0" u="none" strike="noStrike" baseline="0" dirty="0">
              <a:latin typeface="TimesNewRoman"/>
            </a:endParaRPr>
          </a:p>
          <a:p>
            <a:pPr algn="l"/>
            <a:r>
              <a:rPr lang="en-US" sz="1800" b="0" i="0" u="none" strike="noStrike" baseline="0" dirty="0">
                <a:latin typeface="Times-Roman"/>
              </a:rPr>
              <a:t>scheme).</a:t>
            </a:r>
          </a:p>
          <a:p>
            <a:pPr algn="l"/>
            <a:r>
              <a:rPr lang="ru-RU" sz="1800" b="0" i="0" u="none" strike="noStrike" baseline="0" dirty="0">
                <a:latin typeface="Times-Roman"/>
              </a:rPr>
              <a:t>2. </a:t>
            </a:r>
            <a:r>
              <a:rPr lang="ru-RU" sz="1800" b="0" i="0" u="none" strike="noStrike" baseline="0" dirty="0">
                <a:latin typeface="TimesNewRoman"/>
              </a:rPr>
              <a:t>Использование двухуровневой архитектуры, которая включает стадию подготовки данных,</a:t>
            </a:r>
          </a:p>
          <a:p>
            <a:pPr algn="l"/>
            <a:r>
              <a:rPr lang="ru-RU" sz="1800" b="0" i="0" u="none" strike="noStrike" baseline="0" dirty="0">
                <a:latin typeface="TimesNewRoman"/>
              </a:rPr>
              <a:t>недоступную для конечных пользователей, и Хранилище данных с архитектурой шины как таковое.</a:t>
            </a:r>
          </a:p>
          <a:p>
            <a:pPr algn="l"/>
            <a:r>
              <a:rPr lang="ru-RU" sz="1800" b="0" i="0" u="none" strike="noStrike" baseline="0" dirty="0">
                <a:latin typeface="TimesNewRoman"/>
              </a:rPr>
              <a:t>В состав последнего входят несколько витрин атомарных данных, несколько витрин агрегированных</a:t>
            </a:r>
          </a:p>
          <a:p>
            <a:pPr algn="l"/>
            <a:r>
              <a:rPr lang="ru-RU" sz="1800" b="0" i="0" u="none" strike="noStrike" baseline="0" dirty="0">
                <a:latin typeface="TimesNewRoman"/>
              </a:rPr>
              <a:t>данных и персональная витрина данных, но оно не содержит одного физически целостного или</a:t>
            </a:r>
          </a:p>
          <a:p>
            <a:pPr algn="l"/>
            <a:r>
              <a:rPr lang="ru-RU" sz="1800" b="0" i="0" u="none" strike="noStrike" baseline="0" dirty="0">
                <a:latin typeface="TimesNewRoman"/>
              </a:rPr>
              <a:t>централизованного Хранилища данных.</a:t>
            </a:r>
          </a:p>
          <a:p>
            <a:pPr algn="l"/>
            <a:r>
              <a:rPr lang="ru-RU" sz="1800" b="0" i="0" u="none" strike="noStrike" baseline="0" dirty="0">
                <a:latin typeface="Times-Roman"/>
              </a:rPr>
              <a:t>3. </a:t>
            </a:r>
            <a:r>
              <a:rPr lang="ru-RU" sz="1800" b="0" i="0" u="none" strike="noStrike" baseline="0" dirty="0">
                <a:latin typeface="TimesNewRoman"/>
              </a:rPr>
              <a:t>Хранилище данных с архитектурой шины обладает следующими характеристиками:</a:t>
            </a:r>
          </a:p>
          <a:p>
            <a:pPr algn="l"/>
            <a:r>
              <a:rPr lang="ru-RU" sz="1800" b="0" i="0" u="none" strike="noStrike" baseline="0" dirty="0">
                <a:latin typeface="TimesNewRoman"/>
              </a:rPr>
              <a:t>‒ оно пространственное;</a:t>
            </a:r>
          </a:p>
          <a:p>
            <a:pPr algn="l"/>
            <a:r>
              <a:rPr lang="ru-RU" sz="1800" b="0" i="0" u="none" strike="noStrike" baseline="0" dirty="0">
                <a:latin typeface="TimesNewRoman"/>
              </a:rPr>
              <a:t>‒ оно включает как данные о транзакциях, так и суммарные данные;</a:t>
            </a:r>
          </a:p>
          <a:p>
            <a:pPr algn="l"/>
            <a:r>
              <a:rPr lang="ru-RU" sz="1800" b="0" i="0" u="none" strike="noStrike" baseline="0" dirty="0">
                <a:latin typeface="TimesNewRoman"/>
              </a:rPr>
              <a:t>‒ оно включает витрины данных, посвященные только одной предметной области или</a:t>
            </a:r>
          </a:p>
          <a:p>
            <a:pPr algn="l"/>
            <a:r>
              <a:rPr lang="ru-RU" sz="1800" b="0" i="0" u="none" strike="noStrike" baseline="0" dirty="0">
                <a:latin typeface="TimesNewRoman"/>
              </a:rPr>
              <a:t>имеющие только одну таблицу фактов (</a:t>
            </a:r>
            <a:r>
              <a:rPr lang="ru-RU" sz="1800" b="0" i="0" u="none" strike="noStrike" baseline="0" dirty="0" err="1">
                <a:latin typeface="TimesNewRoman"/>
              </a:rPr>
              <a:t>fact</a:t>
            </a:r>
            <a:r>
              <a:rPr lang="ru-RU" sz="1800" b="0" i="0" u="none" strike="noStrike" baseline="0" dirty="0">
                <a:latin typeface="TimesNewRoman"/>
              </a:rPr>
              <a:t> </a:t>
            </a:r>
            <a:r>
              <a:rPr lang="ru-RU" sz="1800" b="0" i="0" u="none" strike="noStrike" baseline="0" dirty="0" err="1">
                <a:latin typeface="TimesNewRoman"/>
              </a:rPr>
              <a:t>table</a:t>
            </a:r>
            <a:r>
              <a:rPr lang="ru-RU" sz="1800" b="0" i="0" u="none" strike="noStrike" baseline="0" dirty="0">
                <a:latin typeface="TimesNewRoman"/>
              </a:rPr>
              <a:t>);</a:t>
            </a:r>
          </a:p>
          <a:p>
            <a:pPr algn="l"/>
            <a:r>
              <a:rPr lang="ru-RU" sz="1800" b="0" i="0" u="none" strike="noStrike" baseline="0" dirty="0">
                <a:latin typeface="TimesNewRoman"/>
              </a:rPr>
              <a:t>‒ оно может содержать множество витрин данных в пределах одной базы данных.</a:t>
            </a:r>
          </a:p>
          <a:p>
            <a:pPr algn="l"/>
            <a:r>
              <a:rPr lang="ru-RU" sz="1800" b="0" i="0" u="none" strike="noStrike" baseline="0" dirty="0">
                <a:latin typeface="Times-Roman"/>
              </a:rPr>
              <a:t>4. </a:t>
            </a:r>
            <a:r>
              <a:rPr lang="ru-RU" sz="1800" b="0" i="0" u="none" strike="noStrike" baseline="0" dirty="0">
                <a:latin typeface="TimesNewRoman"/>
              </a:rPr>
              <a:t>Хранилище данных не является единым физическим репозиторием (в отличие от подхода</a:t>
            </a:r>
          </a:p>
          <a:p>
            <a:pPr algn="l"/>
            <a:r>
              <a:rPr lang="ru-RU" sz="1800" b="0" i="0" u="none" strike="noStrike" baseline="0" dirty="0">
                <a:latin typeface="TimesNewRoman"/>
              </a:rPr>
              <a:t>Билла </a:t>
            </a:r>
            <a:r>
              <a:rPr lang="ru-RU" sz="1800" b="0" i="0" u="none" strike="noStrike" baseline="0" dirty="0" err="1">
                <a:latin typeface="TimesNewRoman"/>
              </a:rPr>
              <a:t>Инмона</a:t>
            </a:r>
            <a:r>
              <a:rPr lang="ru-RU" sz="1800" b="0" i="0" u="none" strike="noStrike" baseline="0" dirty="0">
                <a:latin typeface="TimesNewRoman"/>
              </a:rPr>
              <a:t>). Это "виртуальное" Хранилище. Это коллекция витрин данных, каждая из которых</a:t>
            </a:r>
          </a:p>
          <a:p>
            <a:pPr algn="l"/>
            <a:r>
              <a:rPr lang="ru-RU" sz="1800" b="0" i="0" u="none" strike="noStrike" baseline="0" dirty="0">
                <a:latin typeface="TimesNewRoman"/>
              </a:rPr>
              <a:t>имеет архитектуру типа "звезда".</a:t>
            </a:r>
            <a:endParaRPr lang="ru-RU" sz="3200" dirty="0">
              <a:latin typeface="+mn-lt"/>
              <a:cs typeface="+mn-cs"/>
            </a:endParaRPr>
          </a:p>
        </p:txBody>
      </p:sp>
    </p:spTree>
    <p:extLst>
      <p:ext uri="{BB962C8B-B14F-4D97-AF65-F5344CB8AC3E}">
        <p14:creationId xmlns:p14="http://schemas.microsoft.com/office/powerpoint/2010/main" val="12202128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9606F9-DA61-4CD1-88F0-08C8B4A9DCB5}" type="slidenum">
              <a:rPr lang="ru-RU"/>
              <a:pPr/>
              <a:t>39</a:t>
            </a:fld>
            <a:endParaRPr lang="ru-RU"/>
          </a:p>
        </p:txBody>
      </p:sp>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p:txBody>
          <a:bodyPr/>
          <a:lstStyle/>
          <a:p>
            <a:r>
              <a:rPr lang="ru-RU" sz="1200" kern="1200" dirty="0">
                <a:solidFill>
                  <a:schemeClr val="tx1"/>
                </a:solidFill>
                <a:latin typeface="Arial" charset="0"/>
                <a:ea typeface="+mn-ea"/>
                <a:cs typeface="Arial" charset="0"/>
              </a:rPr>
              <a:t>Что делать с этой информацией? Стало ясно, что без продуктивной переработки потоки сырых данных образуют никому не нужную свалку.</a:t>
            </a:r>
          </a:p>
          <a:p>
            <a:r>
              <a:rPr lang="ru-RU" sz="1200" kern="1200" dirty="0">
                <a:solidFill>
                  <a:schemeClr val="tx1"/>
                </a:solidFill>
                <a:latin typeface="Arial" charset="0"/>
                <a:ea typeface="+mn-ea"/>
                <a:cs typeface="Arial" charset="0"/>
              </a:rPr>
              <a:t>Специфика современных требований к такой переработке следующие:</a:t>
            </a:r>
          </a:p>
          <a:p>
            <a:pPr lvl="0">
              <a:buFont typeface="Symbol" pitchFamily="18" charset="2"/>
              <a:buChar char="-"/>
            </a:pPr>
            <a:r>
              <a:rPr lang="ru-RU" sz="1200" kern="1200" dirty="0">
                <a:solidFill>
                  <a:schemeClr val="tx1"/>
                </a:solidFill>
                <a:latin typeface="Arial" charset="0"/>
                <a:ea typeface="+mn-ea"/>
                <a:cs typeface="Arial" charset="0"/>
              </a:rPr>
              <a:t>Данные имеют неограниченный объем</a:t>
            </a:r>
          </a:p>
          <a:p>
            <a:pPr lvl="0">
              <a:buFont typeface="Symbol" pitchFamily="18" charset="2"/>
              <a:buChar char="-"/>
            </a:pPr>
            <a:r>
              <a:rPr lang="ru-RU" sz="1200" kern="1200" dirty="0">
                <a:solidFill>
                  <a:schemeClr val="tx1"/>
                </a:solidFill>
                <a:latin typeface="Arial" charset="0"/>
                <a:ea typeface="+mn-ea"/>
                <a:cs typeface="Arial" charset="0"/>
              </a:rPr>
              <a:t>Данные являются разнородными (количественными, качественными, текстовыми)</a:t>
            </a:r>
          </a:p>
          <a:p>
            <a:pPr lvl="0">
              <a:buFont typeface="Symbol" pitchFamily="18" charset="2"/>
              <a:buChar char="-"/>
            </a:pPr>
            <a:r>
              <a:rPr lang="ru-RU" sz="1200" kern="1200" dirty="0">
                <a:solidFill>
                  <a:schemeClr val="tx1"/>
                </a:solidFill>
                <a:latin typeface="Arial" charset="0"/>
                <a:ea typeface="+mn-ea"/>
                <a:cs typeface="Arial" charset="0"/>
              </a:rPr>
              <a:t>Результаты должны быть конкретны и понятны</a:t>
            </a:r>
          </a:p>
          <a:p>
            <a:pPr lvl="0">
              <a:buFont typeface="Symbol" pitchFamily="18" charset="2"/>
              <a:buChar char="-"/>
            </a:pPr>
            <a:r>
              <a:rPr lang="ru-RU" sz="1200" kern="1200" dirty="0">
                <a:solidFill>
                  <a:schemeClr val="tx1"/>
                </a:solidFill>
                <a:latin typeface="Arial" charset="0"/>
                <a:ea typeface="+mn-ea"/>
                <a:cs typeface="Arial" charset="0"/>
              </a:rPr>
              <a:t>Инструменты для обработки сырых данных должны быть просты в использовании</a:t>
            </a:r>
          </a:p>
          <a:p>
            <a:r>
              <a:rPr lang="ru-RU" sz="1200" kern="1200" dirty="0">
                <a:solidFill>
                  <a:schemeClr val="tx1"/>
                </a:solidFill>
                <a:latin typeface="Arial" charset="0"/>
                <a:ea typeface="+mn-ea"/>
                <a:cs typeface="Arial" charset="0"/>
              </a:rPr>
              <a:t>Традиционная математическая статистика, долгое время претендовавшая на роль основного инструмента анализа данных, откровенно спасовала перед лицом возникших проблем. Главная причина — </a:t>
            </a:r>
            <a:r>
              <a:rPr lang="ru-RU" sz="1200" i="1" kern="1200" dirty="0">
                <a:solidFill>
                  <a:schemeClr val="tx1"/>
                </a:solidFill>
                <a:latin typeface="Arial" charset="0"/>
                <a:ea typeface="+mn-ea"/>
                <a:cs typeface="Arial" charset="0"/>
              </a:rPr>
              <a:t>концепция усреднения по выборке</a:t>
            </a:r>
            <a:r>
              <a:rPr lang="ru-RU" sz="1200" kern="1200" dirty="0">
                <a:solidFill>
                  <a:schemeClr val="tx1"/>
                </a:solidFill>
                <a:latin typeface="Arial" charset="0"/>
                <a:ea typeface="+mn-ea"/>
                <a:cs typeface="Arial" charset="0"/>
              </a:rPr>
              <a:t>, приводящая к операциям над фиктивными величинами (типа средней температуры пациентов по больнице, средней высоты дома на улице, состоящей из дворцов и лачуг и т.п.). Методы математической статистики оказались полезными главным образом для проверки заранее сформулированных гипотез (</a:t>
            </a:r>
            <a:r>
              <a:rPr lang="ru-RU" sz="1200" kern="1200" dirty="0" err="1">
                <a:solidFill>
                  <a:schemeClr val="tx1"/>
                </a:solidFill>
                <a:latin typeface="Arial" charset="0"/>
                <a:ea typeface="+mn-ea"/>
                <a:cs typeface="Arial" charset="0"/>
              </a:rPr>
              <a:t>verification-driven</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data</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mining</a:t>
            </a:r>
            <a:r>
              <a:rPr lang="ru-RU" sz="1200" kern="1200" dirty="0">
                <a:solidFill>
                  <a:schemeClr val="tx1"/>
                </a:solidFill>
                <a:latin typeface="Arial" charset="0"/>
                <a:ea typeface="+mn-ea"/>
                <a:cs typeface="Arial" charset="0"/>
              </a:rPr>
              <a:t>) и для “грубого” разведочного анализа, составляющего основу оперативной аналитической обработки данных (</a:t>
            </a:r>
            <a:r>
              <a:rPr lang="ru-RU" sz="1200" kern="1200" dirty="0" err="1">
                <a:solidFill>
                  <a:schemeClr val="tx1"/>
                </a:solidFill>
                <a:latin typeface="Arial" charset="0"/>
                <a:ea typeface="+mn-ea"/>
                <a:cs typeface="Arial" charset="0"/>
              </a:rPr>
              <a:t>online</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analytical</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processing</a:t>
            </a:r>
            <a:r>
              <a:rPr lang="ru-RU" sz="1200" kern="1200" dirty="0">
                <a:solidFill>
                  <a:schemeClr val="tx1"/>
                </a:solidFill>
                <a:latin typeface="Arial" charset="0"/>
                <a:ea typeface="+mn-ea"/>
                <a:cs typeface="Arial" charset="0"/>
              </a:rPr>
              <a:t>, OLAP).</a:t>
            </a:r>
          </a:p>
          <a:p>
            <a:r>
              <a:rPr lang="ru-RU" sz="1200" kern="1200" dirty="0">
                <a:solidFill>
                  <a:schemeClr val="tx1"/>
                </a:solidFill>
                <a:latin typeface="Arial" charset="0"/>
                <a:ea typeface="+mn-ea"/>
                <a:cs typeface="Arial" charset="0"/>
              </a:rPr>
              <a:t>В основу современной технологии </a:t>
            </a:r>
            <a:r>
              <a:rPr lang="ru-RU" sz="1200" kern="1200" dirty="0" err="1">
                <a:solidFill>
                  <a:schemeClr val="tx1"/>
                </a:solidFill>
                <a:latin typeface="Arial" charset="0"/>
                <a:ea typeface="+mn-ea"/>
                <a:cs typeface="Arial" charset="0"/>
              </a:rPr>
              <a:t>Data</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Mining</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discovery-driven</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data</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mining</a:t>
            </a:r>
            <a:r>
              <a:rPr lang="ru-RU" sz="1200" kern="1200" dirty="0">
                <a:solidFill>
                  <a:schemeClr val="tx1"/>
                </a:solidFill>
                <a:latin typeface="Arial" charset="0"/>
                <a:ea typeface="+mn-ea"/>
                <a:cs typeface="Arial" charset="0"/>
              </a:rPr>
              <a:t>) положена концепция шаблонов (паттернов), отражающих </a:t>
            </a:r>
            <a:r>
              <a:rPr lang="ru-RU" sz="1200" i="1" kern="1200" dirty="0">
                <a:solidFill>
                  <a:schemeClr val="tx1"/>
                </a:solidFill>
                <a:latin typeface="Arial" charset="0"/>
                <a:ea typeface="+mn-ea"/>
                <a:cs typeface="Arial" charset="0"/>
              </a:rPr>
              <a:t>фрагменты </a:t>
            </a:r>
            <a:r>
              <a:rPr lang="ru-RU" sz="1200" kern="1200" dirty="0" err="1">
                <a:solidFill>
                  <a:schemeClr val="tx1"/>
                </a:solidFill>
                <a:latin typeface="Arial" charset="0"/>
                <a:ea typeface="+mn-ea"/>
                <a:cs typeface="Arial" charset="0"/>
              </a:rPr>
              <a:t>многоаспектных</a:t>
            </a:r>
            <a:r>
              <a:rPr lang="ru-RU" sz="1200" kern="1200" dirty="0">
                <a:solidFill>
                  <a:schemeClr val="tx1"/>
                </a:solidFill>
                <a:latin typeface="Arial" charset="0"/>
                <a:ea typeface="+mn-ea"/>
                <a:cs typeface="Arial" charset="0"/>
              </a:rPr>
              <a:t> взаимоотношений в данных. Эти шаблоны представляют собой закономерности, свойственные</a:t>
            </a:r>
            <a:r>
              <a:rPr lang="ru-RU" sz="1200" i="1" kern="1200" dirty="0">
                <a:solidFill>
                  <a:schemeClr val="tx1"/>
                </a:solidFill>
                <a:latin typeface="Arial" charset="0"/>
                <a:ea typeface="+mn-ea"/>
                <a:cs typeface="Arial" charset="0"/>
              </a:rPr>
              <a:t> </a:t>
            </a:r>
            <a:r>
              <a:rPr lang="ru-RU" sz="1200" i="1" kern="1200" dirty="0" err="1">
                <a:solidFill>
                  <a:schemeClr val="tx1"/>
                </a:solidFill>
                <a:latin typeface="Arial" charset="0"/>
                <a:ea typeface="+mn-ea"/>
                <a:cs typeface="Arial" charset="0"/>
              </a:rPr>
              <a:t>подвыборкам</a:t>
            </a:r>
            <a:r>
              <a:rPr lang="ru-RU" sz="1200" i="1" kern="1200" dirty="0">
                <a:solidFill>
                  <a:schemeClr val="tx1"/>
                </a:solidFill>
                <a:latin typeface="Arial" charset="0"/>
                <a:ea typeface="+mn-ea"/>
                <a:cs typeface="Arial" charset="0"/>
              </a:rPr>
              <a:t> данных</a:t>
            </a:r>
            <a:r>
              <a:rPr lang="ru-RU" sz="1200" kern="1200" dirty="0">
                <a:solidFill>
                  <a:schemeClr val="tx1"/>
                </a:solidFill>
                <a:latin typeface="Arial" charset="0"/>
                <a:ea typeface="+mn-ea"/>
                <a:cs typeface="Arial" charset="0"/>
              </a:rPr>
              <a:t>, которые могут быть компактно выражены в понятной человеку форме. Поиск шаблонов производится методами, не ограниченными рамками априорных предположений о структуре выборке и виде распределений значений анализируемых показателей. Примеры заданий на такой поиск при использовании </a:t>
            </a:r>
            <a:r>
              <a:rPr lang="ru-RU" sz="1200" kern="1200" dirty="0" err="1">
                <a:solidFill>
                  <a:schemeClr val="tx1"/>
                </a:solidFill>
                <a:latin typeface="Arial" charset="0"/>
                <a:ea typeface="+mn-ea"/>
                <a:cs typeface="Arial" charset="0"/>
              </a:rPr>
              <a:t>Data</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Mining</a:t>
            </a:r>
            <a:r>
              <a:rPr lang="ru-RU" sz="1200" kern="1200" dirty="0">
                <a:solidFill>
                  <a:schemeClr val="tx1"/>
                </a:solidFill>
                <a:latin typeface="Arial" charset="0"/>
                <a:ea typeface="+mn-ea"/>
                <a:cs typeface="Arial" charset="0"/>
              </a:rPr>
              <a:t> приведены в табл. 1.</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9606F9-DA61-4CD1-88F0-08C8B4A9DCB5}" type="slidenum">
              <a:rPr lang="ru-RU"/>
              <a:pPr/>
              <a:t>40</a:t>
            </a:fld>
            <a:endParaRPr lang="ru-RU"/>
          </a:p>
        </p:txBody>
      </p:sp>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p:txBody>
          <a:bodyPr/>
          <a:lstStyle/>
          <a:p>
            <a:r>
              <a:rPr lang="ru-RU" sz="1200" kern="1200" dirty="0">
                <a:solidFill>
                  <a:schemeClr val="tx1"/>
                </a:solidFill>
                <a:latin typeface="Arial" charset="0"/>
                <a:ea typeface="+mn-ea"/>
                <a:cs typeface="Arial" charset="0"/>
              </a:rPr>
              <a:t>Что делать с этой информацией? Стало ясно, что без продуктивной переработки потоки сырых данных образуют никому не нужную свалку.</a:t>
            </a:r>
          </a:p>
          <a:p>
            <a:r>
              <a:rPr lang="ru-RU" sz="1200" kern="1200" dirty="0">
                <a:solidFill>
                  <a:schemeClr val="tx1"/>
                </a:solidFill>
                <a:latin typeface="Arial" charset="0"/>
                <a:ea typeface="+mn-ea"/>
                <a:cs typeface="Arial" charset="0"/>
              </a:rPr>
              <a:t>Специфика современных требований к такой переработке следующие:</a:t>
            </a:r>
          </a:p>
          <a:p>
            <a:pPr lvl="0">
              <a:buFont typeface="Symbol" pitchFamily="18" charset="2"/>
              <a:buChar char="-"/>
            </a:pPr>
            <a:r>
              <a:rPr lang="ru-RU" sz="1200" kern="1200" dirty="0">
                <a:solidFill>
                  <a:schemeClr val="tx1"/>
                </a:solidFill>
                <a:latin typeface="Arial" charset="0"/>
                <a:ea typeface="+mn-ea"/>
                <a:cs typeface="Arial" charset="0"/>
              </a:rPr>
              <a:t>Данные имеют неограниченный объем</a:t>
            </a:r>
          </a:p>
          <a:p>
            <a:pPr lvl="0">
              <a:buFont typeface="Symbol" pitchFamily="18" charset="2"/>
              <a:buChar char="-"/>
            </a:pPr>
            <a:r>
              <a:rPr lang="ru-RU" sz="1200" kern="1200" dirty="0">
                <a:solidFill>
                  <a:schemeClr val="tx1"/>
                </a:solidFill>
                <a:latin typeface="Arial" charset="0"/>
                <a:ea typeface="+mn-ea"/>
                <a:cs typeface="Arial" charset="0"/>
              </a:rPr>
              <a:t>Данные являются разнородными (количественными, качественными, текстовыми)</a:t>
            </a:r>
          </a:p>
          <a:p>
            <a:pPr lvl="0">
              <a:buFont typeface="Symbol" pitchFamily="18" charset="2"/>
              <a:buChar char="-"/>
            </a:pPr>
            <a:r>
              <a:rPr lang="ru-RU" sz="1200" kern="1200" dirty="0">
                <a:solidFill>
                  <a:schemeClr val="tx1"/>
                </a:solidFill>
                <a:latin typeface="Arial" charset="0"/>
                <a:ea typeface="+mn-ea"/>
                <a:cs typeface="Arial" charset="0"/>
              </a:rPr>
              <a:t>Результаты должны быть конкретны и понятны</a:t>
            </a:r>
          </a:p>
          <a:p>
            <a:pPr lvl="0">
              <a:buFont typeface="Symbol" pitchFamily="18" charset="2"/>
              <a:buChar char="-"/>
            </a:pPr>
            <a:r>
              <a:rPr lang="ru-RU" sz="1200" kern="1200" dirty="0">
                <a:solidFill>
                  <a:schemeClr val="tx1"/>
                </a:solidFill>
                <a:latin typeface="Arial" charset="0"/>
                <a:ea typeface="+mn-ea"/>
                <a:cs typeface="Arial" charset="0"/>
              </a:rPr>
              <a:t>Инструменты для обработки сырых данных должны быть просты в использовании</a:t>
            </a:r>
          </a:p>
          <a:p>
            <a:r>
              <a:rPr lang="ru-RU" sz="1200" kern="1200" dirty="0">
                <a:solidFill>
                  <a:schemeClr val="tx1"/>
                </a:solidFill>
                <a:latin typeface="Arial" charset="0"/>
                <a:ea typeface="+mn-ea"/>
                <a:cs typeface="Arial" charset="0"/>
              </a:rPr>
              <a:t>Традиционная математическая статистика, долгое время претендовавшая на роль основного инструмента анализа данных, откровенно спасовала перед лицом возникших проблем. Главная причина — </a:t>
            </a:r>
            <a:r>
              <a:rPr lang="ru-RU" sz="1200" i="1" kern="1200" dirty="0">
                <a:solidFill>
                  <a:schemeClr val="tx1"/>
                </a:solidFill>
                <a:latin typeface="Arial" charset="0"/>
                <a:ea typeface="+mn-ea"/>
                <a:cs typeface="Arial" charset="0"/>
              </a:rPr>
              <a:t>концепция усреднения по выборке</a:t>
            </a:r>
            <a:r>
              <a:rPr lang="ru-RU" sz="1200" kern="1200" dirty="0">
                <a:solidFill>
                  <a:schemeClr val="tx1"/>
                </a:solidFill>
                <a:latin typeface="Arial" charset="0"/>
                <a:ea typeface="+mn-ea"/>
                <a:cs typeface="Arial" charset="0"/>
              </a:rPr>
              <a:t>, приводящая к операциям над фиктивными величинами (типа средней температуры пациентов по больнице, средней высоты дома на улице, состоящей из дворцов и лачуг и т.п.). Методы математической статистики оказались полезными главным образом для проверки заранее сформулированных гипотез (</a:t>
            </a:r>
            <a:r>
              <a:rPr lang="ru-RU" sz="1200" kern="1200" dirty="0" err="1">
                <a:solidFill>
                  <a:schemeClr val="tx1"/>
                </a:solidFill>
                <a:latin typeface="Arial" charset="0"/>
                <a:ea typeface="+mn-ea"/>
                <a:cs typeface="Arial" charset="0"/>
              </a:rPr>
              <a:t>verification-driven</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data</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mining</a:t>
            </a:r>
            <a:r>
              <a:rPr lang="ru-RU" sz="1200" kern="1200" dirty="0">
                <a:solidFill>
                  <a:schemeClr val="tx1"/>
                </a:solidFill>
                <a:latin typeface="Arial" charset="0"/>
                <a:ea typeface="+mn-ea"/>
                <a:cs typeface="Arial" charset="0"/>
              </a:rPr>
              <a:t>) и для “грубого” разведочного анализа, составляющего основу оперативной аналитической обработки данных (</a:t>
            </a:r>
            <a:r>
              <a:rPr lang="ru-RU" sz="1200" kern="1200" dirty="0" err="1">
                <a:solidFill>
                  <a:schemeClr val="tx1"/>
                </a:solidFill>
                <a:latin typeface="Arial" charset="0"/>
                <a:ea typeface="+mn-ea"/>
                <a:cs typeface="Arial" charset="0"/>
              </a:rPr>
              <a:t>online</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analytical</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processing</a:t>
            </a:r>
            <a:r>
              <a:rPr lang="ru-RU" sz="1200" kern="1200" dirty="0">
                <a:solidFill>
                  <a:schemeClr val="tx1"/>
                </a:solidFill>
                <a:latin typeface="Arial" charset="0"/>
                <a:ea typeface="+mn-ea"/>
                <a:cs typeface="Arial" charset="0"/>
              </a:rPr>
              <a:t>, OLAP).</a:t>
            </a:r>
          </a:p>
          <a:p>
            <a:r>
              <a:rPr lang="ru-RU" sz="1200" kern="1200" dirty="0">
                <a:solidFill>
                  <a:schemeClr val="tx1"/>
                </a:solidFill>
                <a:latin typeface="Arial" charset="0"/>
                <a:ea typeface="+mn-ea"/>
                <a:cs typeface="Arial" charset="0"/>
              </a:rPr>
              <a:t>В основу современной технологии </a:t>
            </a:r>
            <a:r>
              <a:rPr lang="ru-RU" sz="1200" kern="1200" dirty="0" err="1">
                <a:solidFill>
                  <a:schemeClr val="tx1"/>
                </a:solidFill>
                <a:latin typeface="Arial" charset="0"/>
                <a:ea typeface="+mn-ea"/>
                <a:cs typeface="Arial" charset="0"/>
              </a:rPr>
              <a:t>Data</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Mining</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discovery-driven</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data</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mining</a:t>
            </a:r>
            <a:r>
              <a:rPr lang="ru-RU" sz="1200" kern="1200" dirty="0">
                <a:solidFill>
                  <a:schemeClr val="tx1"/>
                </a:solidFill>
                <a:latin typeface="Arial" charset="0"/>
                <a:ea typeface="+mn-ea"/>
                <a:cs typeface="Arial" charset="0"/>
              </a:rPr>
              <a:t>) положена концепция шаблонов (паттернов), отражающих </a:t>
            </a:r>
            <a:r>
              <a:rPr lang="ru-RU" sz="1200" i="1" kern="1200" dirty="0">
                <a:solidFill>
                  <a:schemeClr val="tx1"/>
                </a:solidFill>
                <a:latin typeface="Arial" charset="0"/>
                <a:ea typeface="+mn-ea"/>
                <a:cs typeface="Arial" charset="0"/>
              </a:rPr>
              <a:t>фрагменты </a:t>
            </a:r>
            <a:r>
              <a:rPr lang="ru-RU" sz="1200" kern="1200" dirty="0" err="1">
                <a:solidFill>
                  <a:schemeClr val="tx1"/>
                </a:solidFill>
                <a:latin typeface="Arial" charset="0"/>
                <a:ea typeface="+mn-ea"/>
                <a:cs typeface="Arial" charset="0"/>
              </a:rPr>
              <a:t>многоаспектных</a:t>
            </a:r>
            <a:r>
              <a:rPr lang="ru-RU" sz="1200" kern="1200" dirty="0">
                <a:solidFill>
                  <a:schemeClr val="tx1"/>
                </a:solidFill>
                <a:latin typeface="Arial" charset="0"/>
                <a:ea typeface="+mn-ea"/>
                <a:cs typeface="Arial" charset="0"/>
              </a:rPr>
              <a:t> взаимоотношений в данных. Эти шаблоны представляют собой закономерности, свойственные</a:t>
            </a:r>
            <a:r>
              <a:rPr lang="ru-RU" sz="1200" i="1" kern="1200" dirty="0">
                <a:solidFill>
                  <a:schemeClr val="tx1"/>
                </a:solidFill>
                <a:latin typeface="Arial" charset="0"/>
                <a:ea typeface="+mn-ea"/>
                <a:cs typeface="Arial" charset="0"/>
              </a:rPr>
              <a:t> </a:t>
            </a:r>
            <a:r>
              <a:rPr lang="ru-RU" sz="1200" i="1" kern="1200" dirty="0" err="1">
                <a:solidFill>
                  <a:schemeClr val="tx1"/>
                </a:solidFill>
                <a:latin typeface="Arial" charset="0"/>
                <a:ea typeface="+mn-ea"/>
                <a:cs typeface="Arial" charset="0"/>
              </a:rPr>
              <a:t>подвыборкам</a:t>
            </a:r>
            <a:r>
              <a:rPr lang="ru-RU" sz="1200" i="1" kern="1200" dirty="0">
                <a:solidFill>
                  <a:schemeClr val="tx1"/>
                </a:solidFill>
                <a:latin typeface="Arial" charset="0"/>
                <a:ea typeface="+mn-ea"/>
                <a:cs typeface="Arial" charset="0"/>
              </a:rPr>
              <a:t> данных</a:t>
            </a:r>
            <a:r>
              <a:rPr lang="ru-RU" sz="1200" kern="1200" dirty="0">
                <a:solidFill>
                  <a:schemeClr val="tx1"/>
                </a:solidFill>
                <a:latin typeface="Arial" charset="0"/>
                <a:ea typeface="+mn-ea"/>
                <a:cs typeface="Arial" charset="0"/>
              </a:rPr>
              <a:t>, которые могут быть компактно выражены в понятной человеку форме. Поиск шаблонов производится методами, не ограниченными рамками априорных предположений о структуре выборке и виде распределений значений анализируемых показателей. Примеры заданий на такой поиск при использовании </a:t>
            </a:r>
            <a:r>
              <a:rPr lang="ru-RU" sz="1200" kern="1200" dirty="0" err="1">
                <a:solidFill>
                  <a:schemeClr val="tx1"/>
                </a:solidFill>
                <a:latin typeface="Arial" charset="0"/>
                <a:ea typeface="+mn-ea"/>
                <a:cs typeface="Arial" charset="0"/>
              </a:rPr>
              <a:t>Data</a:t>
            </a:r>
            <a:r>
              <a:rPr lang="ru-RU" sz="1200" kern="1200" dirty="0">
                <a:solidFill>
                  <a:schemeClr val="tx1"/>
                </a:solidFill>
                <a:latin typeface="Arial" charset="0"/>
                <a:ea typeface="+mn-ea"/>
                <a:cs typeface="Arial" charset="0"/>
              </a:rPr>
              <a:t> </a:t>
            </a:r>
            <a:r>
              <a:rPr lang="ru-RU" sz="1200" kern="1200" dirty="0" err="1">
                <a:solidFill>
                  <a:schemeClr val="tx1"/>
                </a:solidFill>
                <a:latin typeface="Arial" charset="0"/>
                <a:ea typeface="+mn-ea"/>
                <a:cs typeface="Arial" charset="0"/>
              </a:rPr>
              <a:t>Mining</a:t>
            </a:r>
            <a:r>
              <a:rPr lang="ru-RU" sz="1200" kern="1200" dirty="0">
                <a:solidFill>
                  <a:schemeClr val="tx1"/>
                </a:solidFill>
                <a:latin typeface="Arial" charset="0"/>
                <a:ea typeface="+mn-ea"/>
                <a:cs typeface="Arial" charset="0"/>
              </a:rPr>
              <a:t> приведены в табл. 1.</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736776-38A3-4248-A465-29A13CE7B969}" type="slidenum">
              <a:rPr lang="ru-RU"/>
              <a:pPr/>
              <a:t>41</a:t>
            </a:fld>
            <a:endParaRPr lang="ru-RU"/>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pPr>
              <a:lnSpc>
                <a:spcPct val="90000"/>
              </a:lnSpc>
            </a:pPr>
            <a:r>
              <a:rPr lang="ru-RU" sz="1200" dirty="0"/>
              <a:t>К обществу пришло понимание, что сырые данные (</a:t>
            </a:r>
            <a:r>
              <a:rPr lang="ru-RU" sz="1200" dirty="0" err="1"/>
              <a:t>raw</a:t>
            </a:r>
            <a:r>
              <a:rPr lang="ru-RU" sz="1200" dirty="0"/>
              <a:t> </a:t>
            </a:r>
            <a:r>
              <a:rPr lang="ru-RU" sz="1200" dirty="0" err="1"/>
              <a:t>data</a:t>
            </a:r>
            <a:r>
              <a:rPr lang="ru-RU" sz="1200" dirty="0"/>
              <a:t>) содержат глубинный пласт знаний, при грамотной раскопке которого могут быть обнаружены настоящие самородки</a:t>
            </a:r>
            <a:endParaRPr lang="ru-RU"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736776-38A3-4248-A465-29A13CE7B969}" type="slidenum">
              <a:rPr lang="ru-RU"/>
              <a:pPr/>
              <a:t>42</a:t>
            </a:fld>
            <a:endParaRPr lang="ru-RU"/>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pPr>
              <a:lnSpc>
                <a:spcPct val="90000"/>
              </a:lnSpc>
            </a:pPr>
            <a:endParaRPr lang="ru-RU"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736776-38A3-4248-A465-29A13CE7B969}" type="slidenum">
              <a:rPr lang="ru-RU"/>
              <a:pPr/>
              <a:t>43</a:t>
            </a:fld>
            <a:endParaRPr lang="ru-RU"/>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pPr>
              <a:lnSpc>
                <a:spcPct val="90000"/>
              </a:lnSpc>
            </a:pPr>
            <a:endParaRPr lang="ru-RU"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736776-38A3-4248-A465-29A13CE7B969}" type="slidenum">
              <a:rPr lang="ru-RU"/>
              <a:pPr/>
              <a:t>44</a:t>
            </a:fld>
            <a:endParaRPr lang="ru-RU"/>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pPr>
              <a:lnSpc>
                <a:spcPct val="90000"/>
              </a:lnSpc>
            </a:pPr>
            <a:endParaRPr lang="ru-RU"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28674" name="Group 2"/>
          <p:cNvGrpSpPr>
            <a:grpSpLocks/>
          </p:cNvGrpSpPr>
          <p:nvPr/>
        </p:nvGrpSpPr>
        <p:grpSpPr bwMode="auto">
          <a:xfrm>
            <a:off x="0" y="0"/>
            <a:ext cx="9144000" cy="6858000"/>
            <a:chOff x="0" y="0"/>
            <a:chExt cx="5760" cy="4320"/>
          </a:xfrm>
        </p:grpSpPr>
        <p:sp>
          <p:nvSpPr>
            <p:cNvPr id="2867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endParaRPr lang="ru-RU" sz="2400">
                <a:latin typeface="Times New Roman" pitchFamily="18" charset="0"/>
              </a:endParaRPr>
            </a:p>
          </p:txBody>
        </p:sp>
        <p:sp>
          <p:nvSpPr>
            <p:cNvPr id="28676" name="Rectangle 4"/>
            <p:cNvSpPr>
              <a:spLocks noChangeArrowheads="1"/>
            </p:cNvSpPr>
            <p:nvPr/>
          </p:nvSpPr>
          <p:spPr bwMode="hidden">
            <a:xfrm>
              <a:off x="1081" y="1065"/>
              <a:ext cx="4679" cy="1596"/>
            </a:xfrm>
            <a:prstGeom prst="rect">
              <a:avLst/>
            </a:prstGeom>
            <a:solidFill>
              <a:schemeClr val="bg2"/>
            </a:solidFill>
            <a:ln w="9525">
              <a:noFill/>
              <a:miter lim="800000"/>
              <a:headEnd/>
              <a:tailEnd/>
            </a:ln>
          </p:spPr>
          <p:txBody>
            <a:bodyPr/>
            <a:lstStyle/>
            <a:p>
              <a:endParaRPr lang="ru-RU" sz="2400">
                <a:latin typeface="Times New Roman" pitchFamily="18" charset="0"/>
              </a:endParaRPr>
            </a:p>
          </p:txBody>
        </p:sp>
        <p:grpSp>
          <p:nvGrpSpPr>
            <p:cNvPr id="28677" name="Group 5"/>
            <p:cNvGrpSpPr>
              <a:grpSpLocks/>
            </p:cNvGrpSpPr>
            <p:nvPr/>
          </p:nvGrpSpPr>
          <p:grpSpPr bwMode="auto">
            <a:xfrm>
              <a:off x="0" y="672"/>
              <a:ext cx="1806" cy="1989"/>
              <a:chOff x="0" y="672"/>
              <a:chExt cx="1806" cy="1989"/>
            </a:xfrm>
          </p:grpSpPr>
          <p:sp>
            <p:nvSpPr>
              <p:cNvPr id="28678" name="Rectangle 6"/>
              <p:cNvSpPr>
                <a:spLocks noChangeArrowheads="1"/>
              </p:cNvSpPr>
              <p:nvPr userDrawn="1"/>
            </p:nvSpPr>
            <p:spPr bwMode="auto">
              <a:xfrm>
                <a:off x="361" y="2257"/>
                <a:ext cx="363" cy="404"/>
              </a:xfrm>
              <a:prstGeom prst="rect">
                <a:avLst/>
              </a:prstGeom>
              <a:solidFill>
                <a:schemeClr val="accent2"/>
              </a:solidFill>
              <a:ln w="9525">
                <a:noFill/>
                <a:miter lim="800000"/>
                <a:headEnd/>
                <a:tailEnd/>
              </a:ln>
            </p:spPr>
            <p:txBody>
              <a:bodyPr/>
              <a:lstStyle/>
              <a:p>
                <a:endParaRPr lang="ru-RU" sz="2400">
                  <a:latin typeface="Times New Roman" pitchFamily="18" charset="0"/>
                </a:endParaRPr>
              </a:p>
            </p:txBody>
          </p:sp>
          <p:sp>
            <p:nvSpPr>
              <p:cNvPr id="28679" name="Rectangle 7"/>
              <p:cNvSpPr>
                <a:spLocks noChangeArrowheads="1"/>
              </p:cNvSpPr>
              <p:nvPr userDrawn="1"/>
            </p:nvSpPr>
            <p:spPr bwMode="auto">
              <a:xfrm>
                <a:off x="1081" y="1065"/>
                <a:ext cx="362" cy="405"/>
              </a:xfrm>
              <a:prstGeom prst="rect">
                <a:avLst/>
              </a:prstGeom>
              <a:solidFill>
                <a:schemeClr val="folHlink"/>
              </a:solidFill>
              <a:ln w="9525">
                <a:noFill/>
                <a:miter lim="800000"/>
                <a:headEnd/>
                <a:tailEnd/>
              </a:ln>
            </p:spPr>
            <p:txBody>
              <a:bodyPr/>
              <a:lstStyle/>
              <a:p>
                <a:endParaRPr lang="ru-RU" sz="2400">
                  <a:latin typeface="Times New Roman" pitchFamily="18" charset="0"/>
                </a:endParaRPr>
              </a:p>
            </p:txBody>
          </p:sp>
          <p:sp>
            <p:nvSpPr>
              <p:cNvPr id="28680" name="Rectangle 8"/>
              <p:cNvSpPr>
                <a:spLocks noChangeArrowheads="1"/>
              </p:cNvSpPr>
              <p:nvPr userDrawn="1"/>
            </p:nvSpPr>
            <p:spPr bwMode="auto">
              <a:xfrm>
                <a:off x="1437" y="672"/>
                <a:ext cx="369" cy="400"/>
              </a:xfrm>
              <a:prstGeom prst="rect">
                <a:avLst/>
              </a:prstGeom>
              <a:solidFill>
                <a:schemeClr val="folHlink"/>
              </a:solidFill>
              <a:ln w="9525">
                <a:noFill/>
                <a:miter lim="800000"/>
                <a:headEnd/>
                <a:tailEnd/>
              </a:ln>
            </p:spPr>
            <p:txBody>
              <a:bodyPr/>
              <a:lstStyle/>
              <a:p>
                <a:endParaRPr lang="ru-RU" sz="2400">
                  <a:latin typeface="Times New Roman" pitchFamily="18" charset="0"/>
                </a:endParaRPr>
              </a:p>
            </p:txBody>
          </p:sp>
          <p:sp>
            <p:nvSpPr>
              <p:cNvPr id="28681" name="Rectangle 9"/>
              <p:cNvSpPr>
                <a:spLocks noChangeArrowheads="1"/>
              </p:cNvSpPr>
              <p:nvPr userDrawn="1"/>
            </p:nvSpPr>
            <p:spPr bwMode="auto">
              <a:xfrm>
                <a:off x="719" y="2257"/>
                <a:ext cx="368" cy="404"/>
              </a:xfrm>
              <a:prstGeom prst="rect">
                <a:avLst/>
              </a:prstGeom>
              <a:solidFill>
                <a:schemeClr val="bg2"/>
              </a:solidFill>
              <a:ln w="9525">
                <a:noFill/>
                <a:miter lim="800000"/>
                <a:headEnd/>
                <a:tailEnd/>
              </a:ln>
            </p:spPr>
            <p:txBody>
              <a:bodyPr/>
              <a:lstStyle/>
              <a:p>
                <a:endParaRPr lang="ru-RU" sz="2400">
                  <a:latin typeface="Times New Roman" pitchFamily="18" charset="0"/>
                </a:endParaRPr>
              </a:p>
            </p:txBody>
          </p:sp>
          <p:sp>
            <p:nvSpPr>
              <p:cNvPr id="28682" name="Rectangle 10"/>
              <p:cNvSpPr>
                <a:spLocks noChangeArrowheads="1"/>
              </p:cNvSpPr>
              <p:nvPr userDrawn="1"/>
            </p:nvSpPr>
            <p:spPr bwMode="auto">
              <a:xfrm>
                <a:off x="1437" y="1065"/>
                <a:ext cx="369" cy="405"/>
              </a:xfrm>
              <a:prstGeom prst="rect">
                <a:avLst/>
              </a:prstGeom>
              <a:solidFill>
                <a:schemeClr val="accent2"/>
              </a:solidFill>
              <a:ln w="9525">
                <a:noFill/>
                <a:miter lim="800000"/>
                <a:headEnd/>
                <a:tailEnd/>
              </a:ln>
            </p:spPr>
            <p:txBody>
              <a:bodyPr/>
              <a:lstStyle/>
              <a:p>
                <a:endParaRPr lang="ru-RU" sz="2400">
                  <a:latin typeface="Times New Roman" pitchFamily="18" charset="0"/>
                </a:endParaRPr>
              </a:p>
            </p:txBody>
          </p:sp>
          <p:sp>
            <p:nvSpPr>
              <p:cNvPr id="28683" name="Rectangle 11"/>
              <p:cNvSpPr>
                <a:spLocks noChangeArrowheads="1"/>
              </p:cNvSpPr>
              <p:nvPr userDrawn="1"/>
            </p:nvSpPr>
            <p:spPr bwMode="auto">
              <a:xfrm>
                <a:off x="719" y="1464"/>
                <a:ext cx="368" cy="399"/>
              </a:xfrm>
              <a:prstGeom prst="rect">
                <a:avLst/>
              </a:prstGeom>
              <a:solidFill>
                <a:schemeClr val="folHlink"/>
              </a:solidFill>
              <a:ln w="9525">
                <a:noFill/>
                <a:miter lim="800000"/>
                <a:headEnd/>
                <a:tailEnd/>
              </a:ln>
            </p:spPr>
            <p:txBody>
              <a:bodyPr/>
              <a:lstStyle/>
              <a:p>
                <a:endParaRPr lang="ru-RU" sz="2400">
                  <a:latin typeface="Times New Roman" pitchFamily="18" charset="0"/>
                </a:endParaRPr>
              </a:p>
            </p:txBody>
          </p:sp>
          <p:sp>
            <p:nvSpPr>
              <p:cNvPr id="28684" name="Rectangle 12"/>
              <p:cNvSpPr>
                <a:spLocks noChangeArrowheads="1"/>
              </p:cNvSpPr>
              <p:nvPr userDrawn="1"/>
            </p:nvSpPr>
            <p:spPr bwMode="auto">
              <a:xfrm>
                <a:off x="0" y="1464"/>
                <a:ext cx="367" cy="399"/>
              </a:xfrm>
              <a:prstGeom prst="rect">
                <a:avLst/>
              </a:prstGeom>
              <a:solidFill>
                <a:schemeClr val="bg2"/>
              </a:solidFill>
              <a:ln w="9525">
                <a:noFill/>
                <a:miter lim="800000"/>
                <a:headEnd/>
                <a:tailEnd/>
              </a:ln>
            </p:spPr>
            <p:txBody>
              <a:bodyPr/>
              <a:lstStyle/>
              <a:p>
                <a:endParaRPr lang="ru-RU" sz="2400">
                  <a:latin typeface="Times New Roman" pitchFamily="18" charset="0"/>
                </a:endParaRPr>
              </a:p>
            </p:txBody>
          </p:sp>
          <p:sp>
            <p:nvSpPr>
              <p:cNvPr id="28685" name="Rectangle 13"/>
              <p:cNvSpPr>
                <a:spLocks noChangeArrowheads="1"/>
              </p:cNvSpPr>
              <p:nvPr userDrawn="1"/>
            </p:nvSpPr>
            <p:spPr bwMode="auto">
              <a:xfrm>
                <a:off x="1081" y="1464"/>
                <a:ext cx="362" cy="399"/>
              </a:xfrm>
              <a:prstGeom prst="rect">
                <a:avLst/>
              </a:prstGeom>
              <a:solidFill>
                <a:schemeClr val="accent2"/>
              </a:solidFill>
              <a:ln w="9525">
                <a:noFill/>
                <a:miter lim="800000"/>
                <a:headEnd/>
                <a:tailEnd/>
              </a:ln>
            </p:spPr>
            <p:txBody>
              <a:bodyPr/>
              <a:lstStyle/>
              <a:p>
                <a:endParaRPr lang="ru-RU" sz="2400">
                  <a:latin typeface="Times New Roman" pitchFamily="18" charset="0"/>
                </a:endParaRPr>
              </a:p>
            </p:txBody>
          </p:sp>
          <p:sp>
            <p:nvSpPr>
              <p:cNvPr id="28686" name="Rectangle 14"/>
              <p:cNvSpPr>
                <a:spLocks noChangeArrowheads="1"/>
              </p:cNvSpPr>
              <p:nvPr userDrawn="1"/>
            </p:nvSpPr>
            <p:spPr bwMode="auto">
              <a:xfrm>
                <a:off x="361" y="1857"/>
                <a:ext cx="363" cy="406"/>
              </a:xfrm>
              <a:prstGeom prst="rect">
                <a:avLst/>
              </a:prstGeom>
              <a:solidFill>
                <a:schemeClr val="folHlink"/>
              </a:solidFill>
              <a:ln w="9525">
                <a:noFill/>
                <a:miter lim="800000"/>
                <a:headEnd/>
                <a:tailEnd/>
              </a:ln>
            </p:spPr>
            <p:txBody>
              <a:bodyPr/>
              <a:lstStyle/>
              <a:p>
                <a:endParaRPr lang="ru-RU" sz="2400">
                  <a:latin typeface="Times New Roman" pitchFamily="18" charset="0"/>
                </a:endParaRPr>
              </a:p>
            </p:txBody>
          </p:sp>
          <p:sp>
            <p:nvSpPr>
              <p:cNvPr id="28687" name="Rectangle 15"/>
              <p:cNvSpPr>
                <a:spLocks noChangeArrowheads="1"/>
              </p:cNvSpPr>
              <p:nvPr userDrawn="1"/>
            </p:nvSpPr>
            <p:spPr bwMode="auto">
              <a:xfrm>
                <a:off x="719" y="1857"/>
                <a:ext cx="368" cy="406"/>
              </a:xfrm>
              <a:prstGeom prst="rect">
                <a:avLst/>
              </a:prstGeom>
              <a:solidFill>
                <a:schemeClr val="accent2"/>
              </a:solidFill>
              <a:ln w="9525">
                <a:noFill/>
                <a:miter lim="800000"/>
                <a:headEnd/>
                <a:tailEnd/>
              </a:ln>
            </p:spPr>
            <p:txBody>
              <a:bodyPr/>
              <a:lstStyle/>
              <a:p>
                <a:endParaRPr lang="ru-RU" sz="2400">
                  <a:latin typeface="Times New Roman" pitchFamily="18" charset="0"/>
                </a:endParaRPr>
              </a:p>
            </p:txBody>
          </p:sp>
        </p:grpSp>
      </p:grpSp>
      <p:sp>
        <p:nvSpPr>
          <p:cNvPr id="28688" name="Rectangle 16"/>
          <p:cNvSpPr>
            <a:spLocks noGrp="1" noChangeArrowheads="1"/>
          </p:cNvSpPr>
          <p:nvPr>
            <p:ph type="dt" sz="half" idx="2"/>
          </p:nvPr>
        </p:nvSpPr>
        <p:spPr>
          <a:xfrm>
            <a:off x="457200" y="6248400"/>
            <a:ext cx="2133600" cy="457200"/>
          </a:xfrm>
        </p:spPr>
        <p:txBody>
          <a:bodyPr/>
          <a:lstStyle>
            <a:lvl1pPr>
              <a:defRPr/>
            </a:lvl1pPr>
          </a:lstStyle>
          <a:p>
            <a:endParaRPr lang="ru-RU"/>
          </a:p>
        </p:txBody>
      </p:sp>
      <p:sp>
        <p:nvSpPr>
          <p:cNvPr id="28689" name="Rectangle 17"/>
          <p:cNvSpPr>
            <a:spLocks noGrp="1" noChangeArrowheads="1"/>
          </p:cNvSpPr>
          <p:nvPr>
            <p:ph type="ftr" sz="quarter" idx="3"/>
          </p:nvPr>
        </p:nvSpPr>
        <p:spPr/>
        <p:txBody>
          <a:bodyPr/>
          <a:lstStyle>
            <a:lvl1pPr>
              <a:defRPr/>
            </a:lvl1pPr>
          </a:lstStyle>
          <a:p>
            <a:endParaRPr lang="ru-RU"/>
          </a:p>
        </p:txBody>
      </p:sp>
      <p:sp>
        <p:nvSpPr>
          <p:cNvPr id="28690" name="Rectangle 18"/>
          <p:cNvSpPr>
            <a:spLocks noGrp="1" noChangeArrowheads="1"/>
          </p:cNvSpPr>
          <p:nvPr>
            <p:ph type="sldNum" sz="quarter" idx="4"/>
          </p:nvPr>
        </p:nvSpPr>
        <p:spPr/>
        <p:txBody>
          <a:bodyPr/>
          <a:lstStyle>
            <a:lvl1pPr>
              <a:defRPr/>
            </a:lvl1pPr>
          </a:lstStyle>
          <a:p>
            <a:fld id="{19C70FCF-20CD-45B4-BC70-7CBC48995034}" type="slidenum">
              <a:rPr lang="ru-RU"/>
              <a:pPr/>
              <a:t>‹#›</a:t>
            </a:fld>
            <a:endParaRPr lang="ru-RU"/>
          </a:p>
        </p:txBody>
      </p:sp>
      <p:sp>
        <p:nvSpPr>
          <p:cNvPr id="28691"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ru-RU"/>
              <a:t>Образец заголовка</a:t>
            </a:r>
          </a:p>
        </p:txBody>
      </p:sp>
      <p:sp>
        <p:nvSpPr>
          <p:cNvPr id="28692"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ru-RU"/>
              <a:t>Образец подзаголовка</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Нижний колонтитул 3"/>
          <p:cNvSpPr>
            <a:spLocks noGrp="1"/>
          </p:cNvSpPr>
          <p:nvPr>
            <p:ph type="ftr" sz="quarter" idx="10"/>
          </p:nvPr>
        </p:nvSpPr>
        <p:spPr/>
        <p:txBody>
          <a:bodyPr/>
          <a:lstStyle>
            <a:lvl1pPr>
              <a:defRPr/>
            </a:lvl1pPr>
          </a:lstStyle>
          <a:p>
            <a:endParaRPr lang="ru-RU"/>
          </a:p>
        </p:txBody>
      </p:sp>
      <p:sp>
        <p:nvSpPr>
          <p:cNvPr id="5" name="Номер слайда 4"/>
          <p:cNvSpPr>
            <a:spLocks noGrp="1"/>
          </p:cNvSpPr>
          <p:nvPr>
            <p:ph type="sldNum" sz="quarter" idx="11"/>
          </p:nvPr>
        </p:nvSpPr>
        <p:spPr/>
        <p:txBody>
          <a:bodyPr/>
          <a:lstStyle>
            <a:lvl1pPr>
              <a:defRPr/>
            </a:lvl1pPr>
          </a:lstStyle>
          <a:p>
            <a:fld id="{4DC7491D-CDB9-48BE-BADB-11210BC61B1D}" type="slidenum">
              <a:rPr lang="ru-RU"/>
              <a:pPr/>
              <a:t>‹#›</a:t>
            </a:fld>
            <a:endParaRPr lang="ru-RU"/>
          </a:p>
        </p:txBody>
      </p:sp>
      <p:sp>
        <p:nvSpPr>
          <p:cNvPr id="6" name="Дата 5"/>
          <p:cNvSpPr>
            <a:spLocks noGrp="1"/>
          </p:cNvSpPr>
          <p:nvPr>
            <p:ph type="dt" sz="half" idx="12"/>
          </p:nvPr>
        </p:nvSpPr>
        <p:spPr/>
        <p:txBody>
          <a:bodyPr/>
          <a:lstStyle>
            <a:lvl1pPr>
              <a:defRPr/>
            </a:lvl1pPr>
          </a:lstStyle>
          <a:p>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a:t>Образец текста</a:t>
            </a:r>
          </a:p>
        </p:txBody>
      </p:sp>
      <p:sp>
        <p:nvSpPr>
          <p:cNvPr id="4" name="Нижний колонтитул 3"/>
          <p:cNvSpPr>
            <a:spLocks noGrp="1"/>
          </p:cNvSpPr>
          <p:nvPr>
            <p:ph type="ftr" sz="quarter" idx="10"/>
          </p:nvPr>
        </p:nvSpPr>
        <p:spPr/>
        <p:txBody>
          <a:bodyPr/>
          <a:lstStyle>
            <a:lvl1pPr>
              <a:defRPr/>
            </a:lvl1pPr>
          </a:lstStyle>
          <a:p>
            <a:endParaRPr lang="ru-RU"/>
          </a:p>
        </p:txBody>
      </p:sp>
      <p:sp>
        <p:nvSpPr>
          <p:cNvPr id="5" name="Номер слайда 4"/>
          <p:cNvSpPr>
            <a:spLocks noGrp="1"/>
          </p:cNvSpPr>
          <p:nvPr>
            <p:ph type="sldNum" sz="quarter" idx="11"/>
          </p:nvPr>
        </p:nvSpPr>
        <p:spPr/>
        <p:txBody>
          <a:bodyPr/>
          <a:lstStyle>
            <a:lvl1pPr>
              <a:defRPr/>
            </a:lvl1pPr>
          </a:lstStyle>
          <a:p>
            <a:fld id="{8FF4BC4D-2CEF-484F-B51A-3A5BD2275604}" type="slidenum">
              <a:rPr lang="ru-RU"/>
              <a:pPr/>
              <a:t>‹#›</a:t>
            </a:fld>
            <a:endParaRPr lang="ru-RU"/>
          </a:p>
        </p:txBody>
      </p:sp>
      <p:sp>
        <p:nvSpPr>
          <p:cNvPr id="6" name="Дата 5"/>
          <p:cNvSpPr>
            <a:spLocks noGrp="1"/>
          </p:cNvSpPr>
          <p:nvPr>
            <p:ph type="dt" sz="half" idx="12"/>
          </p:nvPr>
        </p:nvSpPr>
        <p:spPr/>
        <p:txBody>
          <a:bodyPr/>
          <a:lstStyle>
            <a:lvl1pPr>
              <a:defRPr/>
            </a:lvl1pPr>
          </a:lstStyle>
          <a:p>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Нижний колонтитул 4"/>
          <p:cNvSpPr>
            <a:spLocks noGrp="1"/>
          </p:cNvSpPr>
          <p:nvPr>
            <p:ph type="ftr" sz="quarter" idx="10"/>
          </p:nvPr>
        </p:nvSpPr>
        <p:spPr/>
        <p:txBody>
          <a:bodyPr/>
          <a:lstStyle>
            <a:lvl1pPr>
              <a:defRPr/>
            </a:lvl1pPr>
          </a:lstStyle>
          <a:p>
            <a:endParaRPr lang="ru-RU"/>
          </a:p>
        </p:txBody>
      </p:sp>
      <p:sp>
        <p:nvSpPr>
          <p:cNvPr id="6" name="Номер слайда 5"/>
          <p:cNvSpPr>
            <a:spLocks noGrp="1"/>
          </p:cNvSpPr>
          <p:nvPr>
            <p:ph type="sldNum" sz="quarter" idx="11"/>
          </p:nvPr>
        </p:nvSpPr>
        <p:spPr/>
        <p:txBody>
          <a:bodyPr/>
          <a:lstStyle>
            <a:lvl1pPr>
              <a:defRPr/>
            </a:lvl1pPr>
          </a:lstStyle>
          <a:p>
            <a:fld id="{86358EEA-48FD-43A2-A1A2-444959D395D9}" type="slidenum">
              <a:rPr lang="ru-RU"/>
              <a:pPr/>
              <a:t>‹#›</a:t>
            </a:fld>
            <a:endParaRPr lang="ru-RU"/>
          </a:p>
        </p:txBody>
      </p:sp>
      <p:sp>
        <p:nvSpPr>
          <p:cNvPr id="7" name="Дата 6"/>
          <p:cNvSpPr>
            <a:spLocks noGrp="1"/>
          </p:cNvSpPr>
          <p:nvPr>
            <p:ph type="dt" sz="half" idx="12"/>
          </p:nvPr>
        </p:nvSpPr>
        <p:spPr/>
        <p:txBody>
          <a:bodyPr/>
          <a:lstStyle>
            <a:lvl1pPr>
              <a:defRPr/>
            </a:lvl1pPr>
          </a:lstStyle>
          <a:p>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Нижний колонтитул 6"/>
          <p:cNvSpPr>
            <a:spLocks noGrp="1"/>
          </p:cNvSpPr>
          <p:nvPr>
            <p:ph type="ftr" sz="quarter" idx="10"/>
          </p:nvPr>
        </p:nvSpPr>
        <p:spPr/>
        <p:txBody>
          <a:bodyPr/>
          <a:lstStyle>
            <a:lvl1pPr>
              <a:defRPr/>
            </a:lvl1pPr>
          </a:lstStyle>
          <a:p>
            <a:endParaRPr lang="ru-RU"/>
          </a:p>
        </p:txBody>
      </p:sp>
      <p:sp>
        <p:nvSpPr>
          <p:cNvPr id="8" name="Номер слайда 7"/>
          <p:cNvSpPr>
            <a:spLocks noGrp="1"/>
          </p:cNvSpPr>
          <p:nvPr>
            <p:ph type="sldNum" sz="quarter" idx="11"/>
          </p:nvPr>
        </p:nvSpPr>
        <p:spPr/>
        <p:txBody>
          <a:bodyPr/>
          <a:lstStyle>
            <a:lvl1pPr>
              <a:defRPr/>
            </a:lvl1pPr>
          </a:lstStyle>
          <a:p>
            <a:fld id="{C276935B-8AF2-4CF0-A1B5-A510AD32F120}" type="slidenum">
              <a:rPr lang="ru-RU"/>
              <a:pPr/>
              <a:t>‹#›</a:t>
            </a:fld>
            <a:endParaRPr lang="ru-RU"/>
          </a:p>
        </p:txBody>
      </p:sp>
      <p:sp>
        <p:nvSpPr>
          <p:cNvPr id="9" name="Дата 8"/>
          <p:cNvSpPr>
            <a:spLocks noGrp="1"/>
          </p:cNvSpPr>
          <p:nvPr>
            <p:ph type="dt" sz="half" idx="12"/>
          </p:nvPr>
        </p:nvSpPr>
        <p:spPr/>
        <p:txBody>
          <a:bodyPr/>
          <a:lstStyle>
            <a:lvl1pPr>
              <a:defRPr/>
            </a:lvl1pPr>
          </a:lstStyle>
          <a:p>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Нижний колонтитул 2"/>
          <p:cNvSpPr>
            <a:spLocks noGrp="1"/>
          </p:cNvSpPr>
          <p:nvPr>
            <p:ph type="ftr" sz="quarter" idx="10"/>
          </p:nvPr>
        </p:nvSpPr>
        <p:spPr/>
        <p:txBody>
          <a:bodyPr/>
          <a:lstStyle>
            <a:lvl1pPr>
              <a:defRPr/>
            </a:lvl1pPr>
          </a:lstStyle>
          <a:p>
            <a:endParaRPr lang="ru-RU"/>
          </a:p>
        </p:txBody>
      </p:sp>
      <p:sp>
        <p:nvSpPr>
          <p:cNvPr id="4" name="Номер слайда 3"/>
          <p:cNvSpPr>
            <a:spLocks noGrp="1"/>
          </p:cNvSpPr>
          <p:nvPr>
            <p:ph type="sldNum" sz="quarter" idx="11"/>
          </p:nvPr>
        </p:nvSpPr>
        <p:spPr/>
        <p:txBody>
          <a:bodyPr/>
          <a:lstStyle>
            <a:lvl1pPr>
              <a:defRPr/>
            </a:lvl1pPr>
          </a:lstStyle>
          <a:p>
            <a:fld id="{A81FB91A-32F8-4DE2-AD58-E71D72D47917}" type="slidenum">
              <a:rPr lang="ru-RU"/>
              <a:pPr/>
              <a:t>‹#›</a:t>
            </a:fld>
            <a:endParaRPr lang="ru-RU"/>
          </a:p>
        </p:txBody>
      </p:sp>
      <p:sp>
        <p:nvSpPr>
          <p:cNvPr id="5" name="Дата 4"/>
          <p:cNvSpPr>
            <a:spLocks noGrp="1"/>
          </p:cNvSpPr>
          <p:nvPr>
            <p:ph type="dt" sz="half" idx="12"/>
          </p:nvPr>
        </p:nvSpPr>
        <p:spPr/>
        <p:txBody>
          <a:bodyPr/>
          <a:lstStyle>
            <a:lvl1pPr>
              <a:defRPr/>
            </a:lvl1pPr>
          </a:lstStyle>
          <a:p>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Нижний колонтитул 1"/>
          <p:cNvSpPr>
            <a:spLocks noGrp="1"/>
          </p:cNvSpPr>
          <p:nvPr>
            <p:ph type="ftr" sz="quarter" idx="10"/>
          </p:nvPr>
        </p:nvSpPr>
        <p:spPr/>
        <p:txBody>
          <a:bodyPr/>
          <a:lstStyle>
            <a:lvl1pPr>
              <a:defRPr/>
            </a:lvl1pPr>
          </a:lstStyle>
          <a:p>
            <a:endParaRPr lang="ru-RU"/>
          </a:p>
        </p:txBody>
      </p:sp>
      <p:sp>
        <p:nvSpPr>
          <p:cNvPr id="3" name="Номер слайда 2"/>
          <p:cNvSpPr>
            <a:spLocks noGrp="1"/>
          </p:cNvSpPr>
          <p:nvPr>
            <p:ph type="sldNum" sz="quarter" idx="11"/>
          </p:nvPr>
        </p:nvSpPr>
        <p:spPr/>
        <p:txBody>
          <a:bodyPr/>
          <a:lstStyle>
            <a:lvl1pPr>
              <a:defRPr/>
            </a:lvl1pPr>
          </a:lstStyle>
          <a:p>
            <a:fld id="{7086CA52-C75E-4E17-BC57-4E415DE8DED9}" type="slidenum">
              <a:rPr lang="ru-RU"/>
              <a:pPr/>
              <a:t>‹#›</a:t>
            </a:fld>
            <a:endParaRPr lang="ru-RU"/>
          </a:p>
        </p:txBody>
      </p:sp>
      <p:sp>
        <p:nvSpPr>
          <p:cNvPr id="4" name="Дата 3"/>
          <p:cNvSpPr>
            <a:spLocks noGrp="1"/>
          </p:cNvSpPr>
          <p:nvPr>
            <p:ph type="dt" sz="half" idx="12"/>
          </p:nvPr>
        </p:nvSpPr>
        <p:spPr/>
        <p:txBody>
          <a:bodyPr/>
          <a:lstStyle>
            <a:lvl1pPr>
              <a:defRPr/>
            </a:lvl1pPr>
          </a:lstStyle>
          <a:p>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Нижний колонтитул 4"/>
          <p:cNvSpPr>
            <a:spLocks noGrp="1"/>
          </p:cNvSpPr>
          <p:nvPr>
            <p:ph type="ftr" sz="quarter" idx="10"/>
          </p:nvPr>
        </p:nvSpPr>
        <p:spPr/>
        <p:txBody>
          <a:bodyPr/>
          <a:lstStyle>
            <a:lvl1pPr>
              <a:defRPr/>
            </a:lvl1pPr>
          </a:lstStyle>
          <a:p>
            <a:endParaRPr lang="ru-RU"/>
          </a:p>
        </p:txBody>
      </p:sp>
      <p:sp>
        <p:nvSpPr>
          <p:cNvPr id="6" name="Номер слайда 5"/>
          <p:cNvSpPr>
            <a:spLocks noGrp="1"/>
          </p:cNvSpPr>
          <p:nvPr>
            <p:ph type="sldNum" sz="quarter" idx="11"/>
          </p:nvPr>
        </p:nvSpPr>
        <p:spPr/>
        <p:txBody>
          <a:bodyPr/>
          <a:lstStyle>
            <a:lvl1pPr>
              <a:defRPr/>
            </a:lvl1pPr>
          </a:lstStyle>
          <a:p>
            <a:fld id="{EFBF7382-D93D-4C21-95FB-281F343424B5}" type="slidenum">
              <a:rPr lang="ru-RU"/>
              <a:pPr/>
              <a:t>‹#›</a:t>
            </a:fld>
            <a:endParaRPr lang="ru-RU"/>
          </a:p>
        </p:txBody>
      </p:sp>
      <p:sp>
        <p:nvSpPr>
          <p:cNvPr id="7" name="Дата 6"/>
          <p:cNvSpPr>
            <a:spLocks noGrp="1"/>
          </p:cNvSpPr>
          <p:nvPr>
            <p:ph type="dt" sz="half" idx="12"/>
          </p:nvPr>
        </p:nvSpPr>
        <p:spPr/>
        <p:txBody>
          <a:bodyPr/>
          <a:lstStyle>
            <a:lvl1pPr>
              <a:defRPr/>
            </a:lvl1pPr>
          </a:lstStyle>
          <a:p>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Нижний колонтитул 4"/>
          <p:cNvSpPr>
            <a:spLocks noGrp="1"/>
          </p:cNvSpPr>
          <p:nvPr>
            <p:ph type="ftr" sz="quarter" idx="10"/>
          </p:nvPr>
        </p:nvSpPr>
        <p:spPr/>
        <p:txBody>
          <a:bodyPr/>
          <a:lstStyle>
            <a:lvl1pPr>
              <a:defRPr/>
            </a:lvl1pPr>
          </a:lstStyle>
          <a:p>
            <a:endParaRPr lang="ru-RU"/>
          </a:p>
        </p:txBody>
      </p:sp>
      <p:sp>
        <p:nvSpPr>
          <p:cNvPr id="6" name="Номер слайда 5"/>
          <p:cNvSpPr>
            <a:spLocks noGrp="1"/>
          </p:cNvSpPr>
          <p:nvPr>
            <p:ph type="sldNum" sz="quarter" idx="11"/>
          </p:nvPr>
        </p:nvSpPr>
        <p:spPr/>
        <p:txBody>
          <a:bodyPr/>
          <a:lstStyle>
            <a:lvl1pPr>
              <a:defRPr/>
            </a:lvl1pPr>
          </a:lstStyle>
          <a:p>
            <a:fld id="{61204B6A-3225-4CDE-8197-0A4A1C42740D}" type="slidenum">
              <a:rPr lang="ru-RU"/>
              <a:pPr/>
              <a:t>‹#›</a:t>
            </a:fld>
            <a:endParaRPr lang="ru-RU"/>
          </a:p>
        </p:txBody>
      </p:sp>
      <p:sp>
        <p:nvSpPr>
          <p:cNvPr id="7" name="Дата 6"/>
          <p:cNvSpPr>
            <a:spLocks noGrp="1"/>
          </p:cNvSpPr>
          <p:nvPr>
            <p:ph type="dt" sz="half" idx="12"/>
          </p:nvPr>
        </p:nvSpPr>
        <p:spPr/>
        <p:txBody>
          <a:bodyPr/>
          <a:lstStyle>
            <a:lvl1pPr>
              <a:defRPr/>
            </a:lvl1pPr>
          </a:lstStyle>
          <a:p>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Нижний колонтитул 3"/>
          <p:cNvSpPr>
            <a:spLocks noGrp="1"/>
          </p:cNvSpPr>
          <p:nvPr>
            <p:ph type="ftr" sz="quarter" idx="10"/>
          </p:nvPr>
        </p:nvSpPr>
        <p:spPr/>
        <p:txBody>
          <a:bodyPr/>
          <a:lstStyle>
            <a:lvl1pPr>
              <a:defRPr/>
            </a:lvl1pPr>
          </a:lstStyle>
          <a:p>
            <a:endParaRPr lang="ru-RU"/>
          </a:p>
        </p:txBody>
      </p:sp>
      <p:sp>
        <p:nvSpPr>
          <p:cNvPr id="5" name="Номер слайда 4"/>
          <p:cNvSpPr>
            <a:spLocks noGrp="1"/>
          </p:cNvSpPr>
          <p:nvPr>
            <p:ph type="sldNum" sz="quarter" idx="11"/>
          </p:nvPr>
        </p:nvSpPr>
        <p:spPr/>
        <p:txBody>
          <a:bodyPr/>
          <a:lstStyle>
            <a:lvl1pPr>
              <a:defRPr/>
            </a:lvl1pPr>
          </a:lstStyle>
          <a:p>
            <a:fld id="{1C04791B-D497-4894-8101-35920CD74B82}" type="slidenum">
              <a:rPr lang="ru-RU"/>
              <a:pPr/>
              <a:t>‹#›</a:t>
            </a:fld>
            <a:endParaRPr lang="ru-RU"/>
          </a:p>
        </p:txBody>
      </p:sp>
      <p:sp>
        <p:nvSpPr>
          <p:cNvPr id="6" name="Дата 5"/>
          <p:cNvSpPr>
            <a:spLocks noGrp="1"/>
          </p:cNvSpPr>
          <p:nvPr>
            <p:ph type="dt" sz="half" idx="12"/>
          </p:nvPr>
        </p:nvSpPr>
        <p:spPr/>
        <p:txBody>
          <a:bodyPr/>
          <a:lstStyle>
            <a:lvl1pPr>
              <a:defRPr/>
            </a:lvl1pPr>
          </a:lstStyle>
          <a:p>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457200"/>
            <a:ext cx="2057400" cy="5410200"/>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457200"/>
            <a:ext cx="6019800" cy="5410200"/>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Нижний колонтитул 3"/>
          <p:cNvSpPr>
            <a:spLocks noGrp="1"/>
          </p:cNvSpPr>
          <p:nvPr>
            <p:ph type="ftr" sz="quarter" idx="10"/>
          </p:nvPr>
        </p:nvSpPr>
        <p:spPr/>
        <p:txBody>
          <a:bodyPr/>
          <a:lstStyle>
            <a:lvl1pPr>
              <a:defRPr/>
            </a:lvl1pPr>
          </a:lstStyle>
          <a:p>
            <a:endParaRPr lang="ru-RU"/>
          </a:p>
        </p:txBody>
      </p:sp>
      <p:sp>
        <p:nvSpPr>
          <p:cNvPr id="5" name="Номер слайда 4"/>
          <p:cNvSpPr>
            <a:spLocks noGrp="1"/>
          </p:cNvSpPr>
          <p:nvPr>
            <p:ph type="sldNum" sz="quarter" idx="11"/>
          </p:nvPr>
        </p:nvSpPr>
        <p:spPr/>
        <p:txBody>
          <a:bodyPr/>
          <a:lstStyle>
            <a:lvl1pPr>
              <a:defRPr/>
            </a:lvl1pPr>
          </a:lstStyle>
          <a:p>
            <a:fld id="{94196529-2CF6-4103-933F-0B348FE2E307}" type="slidenum">
              <a:rPr lang="ru-RU"/>
              <a:pPr/>
              <a:t>‹#›</a:t>
            </a:fld>
            <a:endParaRPr lang="ru-RU"/>
          </a:p>
        </p:txBody>
      </p:sp>
      <p:sp>
        <p:nvSpPr>
          <p:cNvPr id="6" name="Дата 5"/>
          <p:cNvSpPr>
            <a:spLocks noGrp="1"/>
          </p:cNvSpPr>
          <p:nvPr>
            <p:ph type="dt" sz="half" idx="12"/>
          </p:nvPr>
        </p:nvSpPr>
        <p:spPr/>
        <p:txBody>
          <a:bodyPr/>
          <a:lstStyle>
            <a:lvl1pPr>
              <a:defRPr/>
            </a:lvl1pPr>
          </a:lstStyle>
          <a:p>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vl1pPr>
          </a:lstStyle>
          <a:p>
            <a:endParaRPr lang="ru-RU"/>
          </a:p>
        </p:txBody>
      </p:sp>
      <p:sp>
        <p:nvSpPr>
          <p:cNvPr id="27651" name="Rectangle 3"/>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Black" pitchFamily="34" charset="0"/>
              </a:defRPr>
            </a:lvl1pPr>
          </a:lstStyle>
          <a:p>
            <a:fld id="{59CCB720-D373-4B28-BD66-091D9DBE31D7}" type="slidenum">
              <a:rPr lang="ru-RU"/>
              <a:pPr/>
              <a:t>‹#›</a:t>
            </a:fld>
            <a:endParaRPr lang="ru-RU"/>
          </a:p>
        </p:txBody>
      </p:sp>
      <p:grpSp>
        <p:nvGrpSpPr>
          <p:cNvPr id="27652" name="Group 4"/>
          <p:cNvGrpSpPr>
            <a:grpSpLocks/>
          </p:cNvGrpSpPr>
          <p:nvPr/>
        </p:nvGrpSpPr>
        <p:grpSpPr bwMode="auto">
          <a:xfrm>
            <a:off x="0" y="0"/>
            <a:ext cx="9144000" cy="546100"/>
            <a:chOff x="0" y="0"/>
            <a:chExt cx="5760" cy="344"/>
          </a:xfrm>
        </p:grpSpPr>
        <p:sp>
          <p:nvSpPr>
            <p:cNvPr id="27653"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endParaRPr lang="ru-RU" sz="2400">
                <a:latin typeface="Times New Roman" pitchFamily="18" charset="0"/>
              </a:endParaRPr>
            </a:p>
          </p:txBody>
        </p:sp>
        <p:sp>
          <p:nvSpPr>
            <p:cNvPr id="27654"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headEnd/>
              <a:tailEnd/>
            </a:ln>
          </p:spPr>
          <p:txBody>
            <a:bodyPr/>
            <a:lstStyle/>
            <a:p>
              <a:endParaRPr lang="ru-RU" sz="2400">
                <a:latin typeface="Times New Roman" pitchFamily="18" charset="0"/>
              </a:endParaRPr>
            </a:p>
          </p:txBody>
        </p:sp>
        <p:sp>
          <p:nvSpPr>
            <p:cNvPr id="27655" name="Rectangle 7"/>
            <p:cNvSpPr>
              <a:spLocks noChangeArrowheads="1"/>
            </p:cNvSpPr>
            <p:nvPr/>
          </p:nvSpPr>
          <p:spPr bwMode="auto">
            <a:xfrm>
              <a:off x="258" y="85"/>
              <a:ext cx="87" cy="89"/>
            </a:xfrm>
            <a:prstGeom prst="rect">
              <a:avLst/>
            </a:prstGeom>
            <a:solidFill>
              <a:schemeClr val="folHlink"/>
            </a:solidFill>
            <a:ln w="9525">
              <a:noFill/>
              <a:miter lim="800000"/>
              <a:headEnd/>
              <a:tailEnd/>
            </a:ln>
          </p:spPr>
          <p:txBody>
            <a:bodyPr/>
            <a:lstStyle/>
            <a:p>
              <a:endParaRPr lang="ru-RU">
                <a:solidFill>
                  <a:schemeClr val="hlink"/>
                </a:solidFill>
              </a:endParaRPr>
            </a:p>
          </p:txBody>
        </p:sp>
        <p:sp>
          <p:nvSpPr>
            <p:cNvPr id="27656" name="Rectangle 8"/>
            <p:cNvSpPr>
              <a:spLocks noChangeArrowheads="1"/>
            </p:cNvSpPr>
            <p:nvPr/>
          </p:nvSpPr>
          <p:spPr bwMode="auto">
            <a:xfrm>
              <a:off x="345" y="0"/>
              <a:ext cx="88" cy="87"/>
            </a:xfrm>
            <a:prstGeom prst="rect">
              <a:avLst/>
            </a:prstGeom>
            <a:solidFill>
              <a:schemeClr val="folHlink"/>
            </a:solidFill>
            <a:ln w="9525">
              <a:noFill/>
              <a:miter lim="800000"/>
              <a:headEnd/>
              <a:tailEnd/>
            </a:ln>
          </p:spPr>
          <p:txBody>
            <a:bodyPr/>
            <a:lstStyle/>
            <a:p>
              <a:endParaRPr lang="ru-RU">
                <a:solidFill>
                  <a:schemeClr val="hlink"/>
                </a:solidFill>
              </a:endParaRPr>
            </a:p>
          </p:txBody>
        </p:sp>
        <p:sp>
          <p:nvSpPr>
            <p:cNvPr id="27657" name="Rectangle 9"/>
            <p:cNvSpPr>
              <a:spLocks noChangeArrowheads="1"/>
            </p:cNvSpPr>
            <p:nvPr/>
          </p:nvSpPr>
          <p:spPr bwMode="auto">
            <a:xfrm>
              <a:off x="345" y="85"/>
              <a:ext cx="88" cy="89"/>
            </a:xfrm>
            <a:prstGeom prst="rect">
              <a:avLst/>
            </a:prstGeom>
            <a:solidFill>
              <a:schemeClr val="accent2"/>
            </a:solidFill>
            <a:ln w="9525">
              <a:noFill/>
              <a:miter lim="800000"/>
              <a:headEnd/>
              <a:tailEnd/>
            </a:ln>
          </p:spPr>
          <p:txBody>
            <a:bodyPr/>
            <a:lstStyle/>
            <a:p>
              <a:endParaRPr lang="ru-RU">
                <a:solidFill>
                  <a:schemeClr val="accent2"/>
                </a:solidFill>
              </a:endParaRPr>
            </a:p>
          </p:txBody>
        </p:sp>
        <p:sp>
          <p:nvSpPr>
            <p:cNvPr id="27658" name="Rectangle 10"/>
            <p:cNvSpPr>
              <a:spLocks noChangeArrowheads="1"/>
            </p:cNvSpPr>
            <p:nvPr/>
          </p:nvSpPr>
          <p:spPr bwMode="auto">
            <a:xfrm>
              <a:off x="173" y="173"/>
              <a:ext cx="86" cy="87"/>
            </a:xfrm>
            <a:prstGeom prst="rect">
              <a:avLst/>
            </a:prstGeom>
            <a:solidFill>
              <a:schemeClr val="folHlink"/>
            </a:solidFill>
            <a:ln w="9525">
              <a:noFill/>
              <a:miter lim="800000"/>
              <a:headEnd/>
              <a:tailEnd/>
            </a:ln>
          </p:spPr>
          <p:txBody>
            <a:bodyPr/>
            <a:lstStyle/>
            <a:p>
              <a:endParaRPr lang="ru-RU">
                <a:solidFill>
                  <a:schemeClr val="hlink"/>
                </a:solidFill>
              </a:endParaRPr>
            </a:p>
          </p:txBody>
        </p:sp>
        <p:sp>
          <p:nvSpPr>
            <p:cNvPr id="27659" name="Rectangle 11"/>
            <p:cNvSpPr>
              <a:spLocks noChangeArrowheads="1"/>
            </p:cNvSpPr>
            <p:nvPr/>
          </p:nvSpPr>
          <p:spPr bwMode="auto">
            <a:xfrm>
              <a:off x="83" y="86"/>
              <a:ext cx="89" cy="87"/>
            </a:xfrm>
            <a:prstGeom prst="rect">
              <a:avLst/>
            </a:prstGeom>
            <a:solidFill>
              <a:schemeClr val="bg2"/>
            </a:solidFill>
            <a:ln w="9525">
              <a:noFill/>
              <a:miter lim="800000"/>
              <a:headEnd/>
              <a:tailEnd/>
            </a:ln>
          </p:spPr>
          <p:txBody>
            <a:bodyPr/>
            <a:lstStyle/>
            <a:p>
              <a:endParaRPr lang="ru-RU" sz="2400">
                <a:latin typeface="Times New Roman" pitchFamily="18" charset="0"/>
              </a:endParaRPr>
            </a:p>
          </p:txBody>
        </p:sp>
        <p:sp>
          <p:nvSpPr>
            <p:cNvPr id="27660" name="Rectangle 12"/>
            <p:cNvSpPr>
              <a:spLocks noChangeArrowheads="1"/>
            </p:cNvSpPr>
            <p:nvPr/>
          </p:nvSpPr>
          <p:spPr bwMode="auto">
            <a:xfrm>
              <a:off x="258" y="171"/>
              <a:ext cx="87" cy="87"/>
            </a:xfrm>
            <a:prstGeom prst="rect">
              <a:avLst/>
            </a:prstGeom>
            <a:solidFill>
              <a:schemeClr val="accent2"/>
            </a:solidFill>
            <a:ln w="9525">
              <a:noFill/>
              <a:miter lim="800000"/>
              <a:headEnd/>
              <a:tailEnd/>
            </a:ln>
          </p:spPr>
          <p:txBody>
            <a:bodyPr/>
            <a:lstStyle/>
            <a:p>
              <a:endParaRPr lang="ru-RU">
                <a:solidFill>
                  <a:schemeClr val="accent2"/>
                </a:solidFill>
              </a:endParaRPr>
            </a:p>
          </p:txBody>
        </p:sp>
        <p:sp>
          <p:nvSpPr>
            <p:cNvPr id="27661" name="Rectangle 13"/>
            <p:cNvSpPr>
              <a:spLocks noChangeArrowheads="1"/>
            </p:cNvSpPr>
            <p:nvPr/>
          </p:nvSpPr>
          <p:spPr bwMode="auto">
            <a:xfrm>
              <a:off x="173" y="258"/>
              <a:ext cx="86" cy="86"/>
            </a:xfrm>
            <a:prstGeom prst="rect">
              <a:avLst/>
            </a:prstGeom>
            <a:solidFill>
              <a:schemeClr val="accent2"/>
            </a:solidFill>
            <a:ln w="9525">
              <a:noFill/>
              <a:miter lim="800000"/>
              <a:headEnd/>
              <a:tailEnd/>
            </a:ln>
          </p:spPr>
          <p:txBody>
            <a:bodyPr/>
            <a:lstStyle/>
            <a:p>
              <a:endParaRPr lang="ru-RU">
                <a:solidFill>
                  <a:schemeClr val="accent2"/>
                </a:solidFill>
              </a:endParaRPr>
            </a:p>
          </p:txBody>
        </p:sp>
      </p:grpSp>
      <p:sp>
        <p:nvSpPr>
          <p:cNvPr id="27662" name="Rectangle 14"/>
          <p:cNvSpPr>
            <a:spLocks noGrp="1" noChangeArrowheads="1"/>
          </p:cNvSpPr>
          <p:nvPr>
            <p:ph type="title"/>
          </p:nvPr>
        </p:nvSpPr>
        <p:spPr bwMode="auto">
          <a:xfrm>
            <a:off x="457200" y="457200"/>
            <a:ext cx="8229600" cy="13716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ru-RU"/>
              <a:t>Образец заголовка</a:t>
            </a:r>
          </a:p>
        </p:txBody>
      </p:sp>
      <p:sp>
        <p:nvSpPr>
          <p:cNvPr id="27663" name="Rectangle 15"/>
          <p:cNvSpPr>
            <a:spLocks noGrp="1" noChangeArrowheads="1"/>
          </p:cNvSpPr>
          <p:nvPr>
            <p:ph type="body" idx="1"/>
          </p:nvPr>
        </p:nvSpPr>
        <p:spPr bwMode="auto">
          <a:xfrm>
            <a:off x="457200" y="1981200"/>
            <a:ext cx="8229600" cy="3886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27664" name="Rectangle 16"/>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ru-RU"/>
          </a:p>
        </p:txBody>
      </p: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hf hdr="0" ftr="0" dt="0"/>
  <p:txStyles>
    <p:titleStyle>
      <a:lvl1pPr algn="l" rtl="0" fontAlgn="base">
        <a:spcBef>
          <a:spcPct val="0"/>
        </a:spcBef>
        <a:spcAft>
          <a:spcPct val="0"/>
        </a:spcAft>
        <a:defRPr sz="4400">
          <a:solidFill>
            <a:schemeClr val="tx1"/>
          </a:solidFill>
          <a:latin typeface="+mj-lt"/>
          <a:ea typeface="+mj-ea"/>
          <a:cs typeface="+mj-cs"/>
        </a:defRPr>
      </a:lvl1pPr>
      <a:lvl2pPr algn="l" rtl="0" fontAlgn="base">
        <a:spcBef>
          <a:spcPct val="0"/>
        </a:spcBef>
        <a:spcAft>
          <a:spcPct val="0"/>
        </a:spcAft>
        <a:defRPr sz="4400">
          <a:solidFill>
            <a:schemeClr val="tx1"/>
          </a:solidFill>
          <a:latin typeface="Arial" charset="0"/>
          <a:cs typeface="Arial" charset="0"/>
        </a:defRPr>
      </a:lvl2pPr>
      <a:lvl3pPr algn="l" rtl="0" fontAlgn="base">
        <a:spcBef>
          <a:spcPct val="0"/>
        </a:spcBef>
        <a:spcAft>
          <a:spcPct val="0"/>
        </a:spcAft>
        <a:defRPr sz="4400">
          <a:solidFill>
            <a:schemeClr val="tx1"/>
          </a:solidFill>
          <a:latin typeface="Arial" charset="0"/>
          <a:cs typeface="Arial" charset="0"/>
        </a:defRPr>
      </a:lvl3pPr>
      <a:lvl4pPr algn="l" rtl="0" fontAlgn="base">
        <a:spcBef>
          <a:spcPct val="0"/>
        </a:spcBef>
        <a:spcAft>
          <a:spcPct val="0"/>
        </a:spcAft>
        <a:defRPr sz="4400">
          <a:solidFill>
            <a:schemeClr val="tx1"/>
          </a:solidFill>
          <a:latin typeface="Arial" charset="0"/>
          <a:cs typeface="Arial" charset="0"/>
        </a:defRPr>
      </a:lvl4pPr>
      <a:lvl5pPr algn="l" rtl="0" fontAlgn="base">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p:titleStyle>
    <p:body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cs typeface="+mn-cs"/>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cs typeface="+mn-cs"/>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cs typeface="+mn-cs"/>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7.wmf"/><Relationship Id="rId13" Type="http://schemas.openxmlformats.org/officeDocument/2006/relationships/image" Target="../media/image12.wmf"/><Relationship Id="rId3" Type="http://schemas.openxmlformats.org/officeDocument/2006/relationships/image" Target="../media/image2.wmf"/><Relationship Id="rId7" Type="http://schemas.openxmlformats.org/officeDocument/2006/relationships/image" Target="../media/image6.wmf"/><Relationship Id="rId12" Type="http://schemas.openxmlformats.org/officeDocument/2006/relationships/image" Target="../media/image11.wmf"/><Relationship Id="rId2" Type="http://schemas.openxmlformats.org/officeDocument/2006/relationships/image" Target="../media/image1.wmf"/><Relationship Id="rId1" Type="http://schemas.openxmlformats.org/officeDocument/2006/relationships/slideLayout" Target="../slideLayouts/slideLayout2.xml"/><Relationship Id="rId6" Type="http://schemas.openxmlformats.org/officeDocument/2006/relationships/image" Target="../media/image5.wmf"/><Relationship Id="rId11" Type="http://schemas.openxmlformats.org/officeDocument/2006/relationships/image" Target="../media/image10.wmf"/><Relationship Id="rId5" Type="http://schemas.openxmlformats.org/officeDocument/2006/relationships/image" Target="../media/image4.wmf"/><Relationship Id="rId10" Type="http://schemas.openxmlformats.org/officeDocument/2006/relationships/image" Target="../media/image9.jpeg"/><Relationship Id="rId4" Type="http://schemas.openxmlformats.org/officeDocument/2006/relationships/image" Target="../media/image3.wmf"/><Relationship Id="rId9" Type="http://schemas.openxmlformats.org/officeDocument/2006/relationships/image" Target="../media/image8.jpeg"/><Relationship Id="rId14" Type="http://schemas.openxmlformats.org/officeDocument/2006/relationships/image" Target="../media/image13.jpeg"/></Relationships>
</file>

<file path=ppt/slides/_rels/slide13.xml.rels><?xml version="1.0" encoding="UTF-8" standalone="yes"?>
<Relationships xmlns="http://schemas.openxmlformats.org/package/2006/relationships"><Relationship Id="rId3" Type="http://schemas.openxmlformats.org/officeDocument/2006/relationships/image" Target="../media/image15.wmf"/><Relationship Id="rId7" Type="http://schemas.openxmlformats.org/officeDocument/2006/relationships/image" Target="../media/image19.jpeg"/><Relationship Id="rId2" Type="http://schemas.openxmlformats.org/officeDocument/2006/relationships/image" Target="../media/image14.wmf"/><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wmf"/><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609600" y="2628900"/>
            <a:ext cx="8534400" cy="1600200"/>
          </a:xfrm>
        </p:spPr>
        <p:txBody>
          <a:bodyPr/>
          <a:lstStyle/>
          <a:p>
            <a:pPr algn="ctr"/>
            <a:r>
              <a:rPr lang="ru-RU" sz="4000" dirty="0"/>
              <a:t>Системы, ориентированные на анализ данных</a:t>
            </a:r>
          </a:p>
        </p:txBody>
      </p:sp>
      <p:sp>
        <p:nvSpPr>
          <p:cNvPr id="6147" name="Rectangle 3"/>
          <p:cNvSpPr>
            <a:spLocks noGrp="1" noChangeArrowheads="1"/>
          </p:cNvSpPr>
          <p:nvPr>
            <p:ph type="subTitle" idx="1"/>
          </p:nvPr>
        </p:nvSpPr>
        <p:spPr>
          <a:xfrm>
            <a:off x="1061610" y="4267199"/>
            <a:ext cx="7920880" cy="2267145"/>
          </a:xfrm>
        </p:spPr>
        <p:txBody>
          <a:bodyPr>
            <a:normAutofit fontScale="47500" lnSpcReduction="20000"/>
          </a:bodyPr>
          <a:lstStyle/>
          <a:p>
            <a:endParaRPr lang="ru-RU" i="1" dirty="0"/>
          </a:p>
          <a:p>
            <a:r>
              <a:rPr lang="ru-RU" dirty="0"/>
              <a:t>В.В. Корнеев, А.Ф. Гареев, С.В. Васютин, В.В. </a:t>
            </a:r>
            <a:r>
              <a:rPr lang="ru-RU" dirty="0" err="1"/>
              <a:t>Райх</a:t>
            </a:r>
            <a:endParaRPr lang="ru-RU" dirty="0"/>
          </a:p>
          <a:p>
            <a:r>
              <a:rPr lang="ru-RU" dirty="0"/>
              <a:t>Базы данных. Интеллектуальная обработка информации</a:t>
            </a:r>
          </a:p>
          <a:p>
            <a:r>
              <a:rPr lang="ru-RU" dirty="0"/>
              <a:t>Москва, 2001</a:t>
            </a:r>
          </a:p>
          <a:p>
            <a:r>
              <a:rPr lang="ru-RU" dirty="0"/>
              <a:t>Э. </a:t>
            </a:r>
            <a:r>
              <a:rPr lang="ru-RU" dirty="0" err="1"/>
              <a:t>Спирли</a:t>
            </a:r>
            <a:r>
              <a:rPr lang="ru-RU" dirty="0"/>
              <a:t> </a:t>
            </a:r>
          </a:p>
          <a:p>
            <a:r>
              <a:rPr lang="ru-RU" dirty="0"/>
              <a:t>Корпоративные хранилища данных. Том 1.Планирование, разработка, реализация "Вильямс", 2001 </a:t>
            </a:r>
          </a:p>
          <a:p>
            <a:r>
              <a:rPr lang="ru-RU" dirty="0"/>
              <a:t>К. Дж. </a:t>
            </a:r>
            <a:r>
              <a:rPr lang="ru-RU" dirty="0" err="1"/>
              <a:t>Дейт</a:t>
            </a:r>
            <a:endParaRPr lang="ru-RU" dirty="0"/>
          </a:p>
          <a:p>
            <a:r>
              <a:rPr lang="ru-RU" dirty="0"/>
              <a:t>Введение в системы баз данных.  Восьмое издание. 2005</a:t>
            </a:r>
            <a:r>
              <a:rPr lang="ru-RU"/>
              <a:t>, глава </a:t>
            </a:r>
            <a:r>
              <a:rPr lang="ru-RU" dirty="0"/>
              <a:t>22</a:t>
            </a:r>
          </a:p>
          <a:p>
            <a:endParaRPr lang="ru-R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0" y="0"/>
            <a:ext cx="9144000" cy="673099"/>
          </a:xfrm>
        </p:spPr>
        <p:txBody>
          <a:bodyPr/>
          <a:lstStyle/>
          <a:p>
            <a:pPr algn="ctr"/>
            <a:r>
              <a:rPr lang="ru-RU" sz="3200" dirty="0"/>
              <a:t>Системы операционной обработки - </a:t>
            </a:r>
            <a:r>
              <a:rPr lang="en-US" sz="3200" dirty="0">
                <a:solidFill>
                  <a:schemeClr val="bg2"/>
                </a:solidFill>
              </a:rPr>
              <a:t>OLTP </a:t>
            </a:r>
            <a:endParaRPr lang="ru-RU" sz="3200" dirty="0">
              <a:solidFill>
                <a:schemeClr val="bg2"/>
              </a:solidFill>
            </a:endParaRPr>
          </a:p>
        </p:txBody>
      </p:sp>
      <p:sp>
        <p:nvSpPr>
          <p:cNvPr id="23555" name="Rectangle 3"/>
          <p:cNvSpPr>
            <a:spLocks noGrp="1" noChangeArrowheads="1"/>
          </p:cNvSpPr>
          <p:nvPr>
            <p:ph type="body" idx="1"/>
          </p:nvPr>
        </p:nvSpPr>
        <p:spPr>
          <a:xfrm>
            <a:off x="0" y="642460"/>
            <a:ext cx="8982490" cy="6164740"/>
          </a:xfrm>
        </p:spPr>
        <p:txBody>
          <a:bodyPr lIns="72000" rIns="72000">
            <a:normAutofit lnSpcReduction="10000"/>
          </a:bodyPr>
          <a:lstStyle/>
          <a:p>
            <a:r>
              <a:rPr lang="ru-RU" sz="2400" dirty="0"/>
              <a:t>К середине </a:t>
            </a:r>
            <a:r>
              <a:rPr lang="ru-RU" sz="2400" b="1" dirty="0"/>
              <a:t>80-х годов завершился первый этап </a:t>
            </a:r>
            <a:r>
              <a:rPr lang="ru-RU" sz="2400" dirty="0"/>
              <a:t>оснащения бизнеса и органов государственного управления средствами вычислительной техники</a:t>
            </a:r>
          </a:p>
          <a:p>
            <a:r>
              <a:rPr lang="ru-RU" sz="2400" kern="1200" dirty="0">
                <a:cs typeface="Arial" charset="0"/>
              </a:rPr>
              <a:t>В связи с совершенствованием технологий записи и хранения данных к началу 90-х годов на людей </a:t>
            </a:r>
            <a:r>
              <a:rPr lang="ru-RU" sz="2400" b="1" kern="1200" dirty="0">
                <a:cs typeface="Arial" charset="0"/>
              </a:rPr>
              <a:t>обрушились колоссальные потоки информационной руды </a:t>
            </a:r>
            <a:r>
              <a:rPr lang="ru-RU" sz="2400" kern="1200" dirty="0">
                <a:cs typeface="Arial" charset="0"/>
              </a:rPr>
              <a:t>в самых различных областях.</a:t>
            </a:r>
          </a:p>
          <a:p>
            <a:r>
              <a:rPr lang="ru-RU" sz="2400" kern="1200" dirty="0">
                <a:cs typeface="Arial" charset="0"/>
              </a:rPr>
              <a:t>Деятельность любого предприятия (коммерческого, производственного, медицинского, научного и т.д.) теперь </a:t>
            </a:r>
            <a:r>
              <a:rPr lang="ru-RU" sz="2400" b="1" kern="1200" dirty="0">
                <a:cs typeface="Arial" charset="0"/>
              </a:rPr>
              <a:t>сопровождается регистрацией и записью всех подробностей </a:t>
            </a:r>
            <a:r>
              <a:rPr lang="ru-RU" sz="2400" kern="1200" dirty="0">
                <a:cs typeface="Arial" charset="0"/>
              </a:rPr>
              <a:t>его деятельности. </a:t>
            </a:r>
          </a:p>
          <a:p>
            <a:r>
              <a:rPr lang="ru-RU" sz="2400" kern="1200" dirty="0">
                <a:cs typeface="Arial" charset="0"/>
              </a:rPr>
              <a:t>Это делается в </a:t>
            </a:r>
            <a:r>
              <a:rPr lang="ru-RU" sz="2400" dirty="0"/>
              <a:t>системах операционной обработки данных </a:t>
            </a:r>
            <a:r>
              <a:rPr lang="en-US" sz="2400" dirty="0"/>
              <a:t>(</a:t>
            </a:r>
            <a:r>
              <a:rPr lang="en-US" sz="2400" b="1" dirty="0"/>
              <a:t>Online Transaction Processing - OLTP</a:t>
            </a:r>
            <a:r>
              <a:rPr lang="en-US" sz="2400" dirty="0"/>
              <a:t>)</a:t>
            </a:r>
            <a:r>
              <a:rPr lang="ru-RU" sz="2400" dirty="0"/>
              <a:t> </a:t>
            </a:r>
          </a:p>
          <a:p>
            <a:r>
              <a:rPr lang="ru-RU" sz="2400" dirty="0"/>
              <a:t>Накопились </a:t>
            </a:r>
            <a:r>
              <a:rPr lang="ru-RU" sz="2400" b="1" dirty="0"/>
              <a:t>большие объемы </a:t>
            </a:r>
            <a:r>
              <a:rPr lang="ru-RU" sz="2400" dirty="0"/>
              <a:t>информации. </a:t>
            </a:r>
          </a:p>
          <a:p>
            <a:r>
              <a:rPr lang="ru-RU" sz="2400" kern="1200" dirty="0">
                <a:latin typeface="Arial" charset="0"/>
                <a:cs typeface="Arial" charset="0"/>
              </a:rPr>
              <a:t>Стало ясно, что без продуктивной переработки </a:t>
            </a:r>
            <a:r>
              <a:rPr lang="ru-RU" sz="2800" b="1" i="1" kern="1200" dirty="0">
                <a:solidFill>
                  <a:schemeClr val="bg2">
                    <a:lumMod val="60000"/>
                    <a:lumOff val="40000"/>
                  </a:schemeClr>
                </a:solidFill>
                <a:latin typeface="Times New Roman" pitchFamily="18" charset="0"/>
                <a:cs typeface="Times New Roman" pitchFamily="18" charset="0"/>
              </a:rPr>
              <a:t>потоки сырых данных</a:t>
            </a:r>
            <a:r>
              <a:rPr lang="ru-RU" sz="2400" b="1" i="1" kern="1200" dirty="0">
                <a:solidFill>
                  <a:schemeClr val="bg2">
                    <a:lumMod val="60000"/>
                    <a:lumOff val="40000"/>
                  </a:schemeClr>
                </a:solidFill>
                <a:latin typeface="Times New Roman" pitchFamily="18" charset="0"/>
                <a:cs typeface="Times New Roman" pitchFamily="18" charset="0"/>
              </a:rPr>
              <a:t> </a:t>
            </a:r>
            <a:r>
              <a:rPr lang="ru-RU" sz="2400" kern="1200" dirty="0">
                <a:latin typeface="Arial" charset="0"/>
                <a:cs typeface="Arial" charset="0"/>
              </a:rPr>
              <a:t>образуют никому не нужную свалку.</a:t>
            </a:r>
            <a:endParaRPr lang="ru-RU" sz="2400" dirty="0"/>
          </a:p>
        </p:txBody>
      </p:sp>
      <p:sp>
        <p:nvSpPr>
          <p:cNvPr id="6" name="Номер слайда 5"/>
          <p:cNvSpPr>
            <a:spLocks noGrp="1"/>
          </p:cNvSpPr>
          <p:nvPr>
            <p:ph type="sldNum" sz="quarter" idx="11"/>
          </p:nvPr>
        </p:nvSpPr>
        <p:spPr>
          <a:xfrm>
            <a:off x="8235950" y="6470650"/>
            <a:ext cx="603250" cy="336550"/>
          </a:xfrm>
        </p:spPr>
        <p:txBody>
          <a:bodyPr/>
          <a:lstStyle/>
          <a:p>
            <a:fld id="{4DC7491D-CDB9-48BE-BADB-11210BC61B1D}" type="slidenum">
              <a:rPr lang="ru-RU" smtClean="0"/>
              <a:pPr/>
              <a:t>2</a:t>
            </a:fld>
            <a:endParaRPr lang="ru-R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wipe(up)">
                                      <p:cBhvr>
                                        <p:cTn id="7" dur="500"/>
                                        <p:tgtEl>
                                          <p:spTgt spid="235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3555">
                                            <p:txEl>
                                              <p:pRg st="1" end="1"/>
                                            </p:txEl>
                                          </p:spTgt>
                                        </p:tgtEl>
                                        <p:attrNameLst>
                                          <p:attrName>style.visibility</p:attrName>
                                        </p:attrNameLst>
                                      </p:cBhvr>
                                      <p:to>
                                        <p:strVal val="visible"/>
                                      </p:to>
                                    </p:set>
                                    <p:animEffect transition="in" filter="wipe(up)">
                                      <p:cBhvr>
                                        <p:cTn id="12" dur="500"/>
                                        <p:tgtEl>
                                          <p:spTgt spid="235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3555">
                                            <p:txEl>
                                              <p:pRg st="2" end="2"/>
                                            </p:txEl>
                                          </p:spTgt>
                                        </p:tgtEl>
                                        <p:attrNameLst>
                                          <p:attrName>style.visibility</p:attrName>
                                        </p:attrNameLst>
                                      </p:cBhvr>
                                      <p:to>
                                        <p:strVal val="visible"/>
                                      </p:to>
                                    </p:set>
                                    <p:animEffect transition="in" filter="wipe(up)">
                                      <p:cBhvr>
                                        <p:cTn id="17" dur="500"/>
                                        <p:tgtEl>
                                          <p:spTgt spid="235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3555">
                                            <p:txEl>
                                              <p:pRg st="3" end="3"/>
                                            </p:txEl>
                                          </p:spTgt>
                                        </p:tgtEl>
                                        <p:attrNameLst>
                                          <p:attrName>style.visibility</p:attrName>
                                        </p:attrNameLst>
                                      </p:cBhvr>
                                      <p:to>
                                        <p:strVal val="visible"/>
                                      </p:to>
                                    </p:set>
                                    <p:animEffect transition="in" filter="wipe(up)">
                                      <p:cBhvr>
                                        <p:cTn id="22" dur="500"/>
                                        <p:tgtEl>
                                          <p:spTgt spid="2355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3555">
                                            <p:txEl>
                                              <p:pRg st="4" end="4"/>
                                            </p:txEl>
                                          </p:spTgt>
                                        </p:tgtEl>
                                        <p:attrNameLst>
                                          <p:attrName>style.visibility</p:attrName>
                                        </p:attrNameLst>
                                      </p:cBhvr>
                                      <p:to>
                                        <p:strVal val="visible"/>
                                      </p:to>
                                    </p:set>
                                    <p:animEffect transition="in" filter="wipe(up)">
                                      <p:cBhvr>
                                        <p:cTn id="27" dur="500"/>
                                        <p:tgtEl>
                                          <p:spTgt spid="2355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3555">
                                            <p:txEl>
                                              <p:pRg st="5" end="5"/>
                                            </p:txEl>
                                          </p:spTgt>
                                        </p:tgtEl>
                                        <p:attrNameLst>
                                          <p:attrName>style.visibility</p:attrName>
                                        </p:attrNameLst>
                                      </p:cBhvr>
                                      <p:to>
                                        <p:strVal val="visible"/>
                                      </p:to>
                                    </p:set>
                                    <p:animEffect transition="in" filter="wipe(up)">
                                      <p:cBhvr>
                                        <p:cTn id="32" dur="500"/>
                                        <p:tgtEl>
                                          <p:spTgt spid="2355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22185" y="323655"/>
            <a:ext cx="9144000" cy="897570"/>
          </a:xfrm>
        </p:spPr>
        <p:txBody>
          <a:bodyPr/>
          <a:lstStyle/>
          <a:p>
            <a:pPr algn="ctr"/>
            <a:r>
              <a:rPr lang="en-US" sz="3200" kern="1200" dirty="0">
                <a:latin typeface="Arial" charset="0"/>
                <a:cs typeface="Arial" charset="0"/>
              </a:rPr>
              <a:t>C</a:t>
            </a:r>
            <a:r>
              <a:rPr lang="ru-RU" sz="3200" kern="1200" dirty="0" err="1">
                <a:latin typeface="Arial" charset="0"/>
                <a:cs typeface="Arial" charset="0"/>
              </a:rPr>
              <a:t>овременные</a:t>
            </a:r>
            <a:r>
              <a:rPr lang="ru-RU" sz="3200" kern="1200" dirty="0">
                <a:latin typeface="Arial" charset="0"/>
                <a:cs typeface="Arial" charset="0"/>
              </a:rPr>
              <a:t> требования к переработке данных</a:t>
            </a:r>
            <a:endParaRPr lang="ru-RU" sz="3200" dirty="0">
              <a:solidFill>
                <a:schemeClr val="bg2"/>
              </a:solidFill>
            </a:endParaRPr>
          </a:p>
        </p:txBody>
      </p:sp>
      <p:sp>
        <p:nvSpPr>
          <p:cNvPr id="23555" name="Rectangle 3"/>
          <p:cNvSpPr>
            <a:spLocks noGrp="1" noChangeArrowheads="1"/>
          </p:cNvSpPr>
          <p:nvPr>
            <p:ph type="body" idx="1"/>
          </p:nvPr>
        </p:nvSpPr>
        <p:spPr>
          <a:xfrm>
            <a:off x="308325" y="1362190"/>
            <a:ext cx="8530875" cy="5276735"/>
          </a:xfrm>
        </p:spPr>
        <p:txBody>
          <a:bodyPr lIns="72000" rIns="72000">
            <a:normAutofit/>
          </a:bodyPr>
          <a:lstStyle/>
          <a:p>
            <a:pPr>
              <a:lnSpc>
                <a:spcPct val="150000"/>
              </a:lnSpc>
            </a:pPr>
            <a:r>
              <a:rPr lang="ru-RU" sz="2800" kern="1200" dirty="0">
                <a:cs typeface="Arial" charset="0"/>
              </a:rPr>
              <a:t>Данные имеют неограниченный объем</a:t>
            </a:r>
          </a:p>
          <a:p>
            <a:pPr>
              <a:lnSpc>
                <a:spcPct val="150000"/>
              </a:lnSpc>
            </a:pPr>
            <a:r>
              <a:rPr lang="ru-RU" sz="2800" kern="1200" dirty="0">
                <a:cs typeface="Arial" charset="0"/>
              </a:rPr>
              <a:t>Данные являются разнородными (количественными, качественными, текстовыми)</a:t>
            </a:r>
          </a:p>
          <a:p>
            <a:pPr>
              <a:lnSpc>
                <a:spcPct val="150000"/>
              </a:lnSpc>
            </a:pPr>
            <a:r>
              <a:rPr lang="ru-RU" sz="2800" kern="1200" dirty="0">
                <a:cs typeface="Arial" charset="0"/>
              </a:rPr>
              <a:t>Результаты должны быть конкретны и понятны</a:t>
            </a:r>
          </a:p>
          <a:p>
            <a:pPr>
              <a:lnSpc>
                <a:spcPct val="150000"/>
              </a:lnSpc>
            </a:pPr>
            <a:r>
              <a:rPr lang="ru-RU" sz="2800" kern="1200" dirty="0">
                <a:cs typeface="Arial" charset="0"/>
              </a:rPr>
              <a:t>Инструменты для обработки сырых данных должны быть просты в использовании</a:t>
            </a:r>
          </a:p>
        </p:txBody>
      </p:sp>
      <p:sp>
        <p:nvSpPr>
          <p:cNvPr id="6" name="Номер слайда 5"/>
          <p:cNvSpPr>
            <a:spLocks noGrp="1"/>
          </p:cNvSpPr>
          <p:nvPr>
            <p:ph type="sldNum" sz="quarter" idx="11"/>
          </p:nvPr>
        </p:nvSpPr>
        <p:spPr>
          <a:xfrm>
            <a:off x="8235950" y="6470650"/>
            <a:ext cx="603250" cy="336550"/>
          </a:xfrm>
        </p:spPr>
        <p:txBody>
          <a:bodyPr/>
          <a:lstStyle/>
          <a:p>
            <a:fld id="{4DC7491D-CDB9-48BE-BADB-11210BC61B1D}" type="slidenum">
              <a:rPr lang="ru-RU" smtClean="0"/>
              <a:pPr/>
              <a:t>3</a:t>
            </a:fld>
            <a:endParaRPr lang="ru-RU" dirty="0"/>
          </a:p>
        </p:txBody>
      </p:sp>
    </p:spTree>
    <p:extLst>
      <p:ext uri="{BB962C8B-B14F-4D97-AF65-F5344CB8AC3E}">
        <p14:creationId xmlns:p14="http://schemas.microsoft.com/office/powerpoint/2010/main" val="3216564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wipe(up)">
                                      <p:cBhvr>
                                        <p:cTn id="7" dur="500"/>
                                        <p:tgtEl>
                                          <p:spTgt spid="235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3555">
                                            <p:txEl>
                                              <p:pRg st="1" end="1"/>
                                            </p:txEl>
                                          </p:spTgt>
                                        </p:tgtEl>
                                        <p:attrNameLst>
                                          <p:attrName>style.visibility</p:attrName>
                                        </p:attrNameLst>
                                      </p:cBhvr>
                                      <p:to>
                                        <p:strVal val="visible"/>
                                      </p:to>
                                    </p:set>
                                    <p:animEffect transition="in" filter="wipe(up)">
                                      <p:cBhvr>
                                        <p:cTn id="12" dur="500"/>
                                        <p:tgtEl>
                                          <p:spTgt spid="235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3555">
                                            <p:txEl>
                                              <p:pRg st="2" end="2"/>
                                            </p:txEl>
                                          </p:spTgt>
                                        </p:tgtEl>
                                        <p:attrNameLst>
                                          <p:attrName>style.visibility</p:attrName>
                                        </p:attrNameLst>
                                      </p:cBhvr>
                                      <p:to>
                                        <p:strVal val="visible"/>
                                      </p:to>
                                    </p:set>
                                    <p:animEffect transition="in" filter="wipe(up)">
                                      <p:cBhvr>
                                        <p:cTn id="17" dur="500"/>
                                        <p:tgtEl>
                                          <p:spTgt spid="235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3555">
                                            <p:txEl>
                                              <p:pRg st="3" end="3"/>
                                            </p:txEl>
                                          </p:spTgt>
                                        </p:tgtEl>
                                        <p:attrNameLst>
                                          <p:attrName>style.visibility</p:attrName>
                                        </p:attrNameLst>
                                      </p:cBhvr>
                                      <p:to>
                                        <p:strVal val="visible"/>
                                      </p:to>
                                    </p:set>
                                    <p:animEffect transition="in" filter="wipe(up)">
                                      <p:cBhvr>
                                        <p:cTn id="22" dur="500"/>
                                        <p:tgtEl>
                                          <p:spTgt spid="2355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386535" y="88901"/>
            <a:ext cx="8141515" cy="673099"/>
          </a:xfrm>
        </p:spPr>
        <p:txBody>
          <a:bodyPr/>
          <a:lstStyle/>
          <a:p>
            <a:pPr algn="ctr"/>
            <a:r>
              <a:rPr lang="ru-RU" sz="2800" dirty="0">
                <a:solidFill>
                  <a:srgbClr val="7030A0"/>
                </a:solidFill>
              </a:rPr>
              <a:t>Проблемы</a:t>
            </a:r>
            <a:r>
              <a:rPr lang="ru-RU" sz="2800" b="1" dirty="0">
                <a:solidFill>
                  <a:srgbClr val="7030A0"/>
                </a:solidFill>
              </a:rPr>
              <a:t> </a:t>
            </a:r>
            <a:r>
              <a:rPr lang="ru-RU" sz="2800" kern="1200" dirty="0">
                <a:solidFill>
                  <a:srgbClr val="7030A0"/>
                </a:solidFill>
                <a:latin typeface="Arial" charset="0"/>
                <a:cs typeface="Arial" charset="0"/>
              </a:rPr>
              <a:t>инструмента для анализа данных</a:t>
            </a:r>
            <a:endParaRPr lang="ru-RU" sz="2800" dirty="0">
              <a:solidFill>
                <a:srgbClr val="7030A0"/>
              </a:solidFill>
            </a:endParaRPr>
          </a:p>
        </p:txBody>
      </p:sp>
      <p:sp>
        <p:nvSpPr>
          <p:cNvPr id="23555" name="Rectangle 3"/>
          <p:cNvSpPr>
            <a:spLocks noGrp="1" noChangeArrowheads="1"/>
          </p:cNvSpPr>
          <p:nvPr>
            <p:ph type="body" idx="1"/>
          </p:nvPr>
        </p:nvSpPr>
        <p:spPr>
          <a:xfrm>
            <a:off x="133350" y="717550"/>
            <a:ext cx="9010650" cy="5962650"/>
          </a:xfrm>
        </p:spPr>
        <p:txBody>
          <a:bodyPr lIns="72000" rIns="72000">
            <a:normAutofit/>
          </a:bodyPr>
          <a:lstStyle/>
          <a:p>
            <a:pPr>
              <a:lnSpc>
                <a:spcPct val="120000"/>
              </a:lnSpc>
            </a:pPr>
            <a:r>
              <a:rPr lang="ru-RU" sz="1800" kern="1200" dirty="0">
                <a:latin typeface="Arial" charset="0"/>
                <a:cs typeface="Arial" charset="0"/>
              </a:rPr>
              <a:t>Традиционная математическая статистика, долгое время претендовавшая на роль основного инструмента анализа данных, откровенно спасовала перед лицом возникших проблем. </a:t>
            </a:r>
          </a:p>
          <a:p>
            <a:pPr>
              <a:lnSpc>
                <a:spcPct val="120000"/>
              </a:lnSpc>
            </a:pPr>
            <a:r>
              <a:rPr lang="ru-RU" sz="1800" kern="1200" dirty="0">
                <a:latin typeface="Arial" charset="0"/>
                <a:cs typeface="Arial" charset="0"/>
              </a:rPr>
              <a:t>Главная причина — </a:t>
            </a:r>
            <a:r>
              <a:rPr lang="ru-RU" sz="1800" i="1" kern="1200" dirty="0">
                <a:latin typeface="Arial" charset="0"/>
                <a:cs typeface="Arial" charset="0"/>
              </a:rPr>
              <a:t>концепция усреднения по выборке</a:t>
            </a:r>
            <a:r>
              <a:rPr lang="ru-RU" sz="1800" kern="1200" dirty="0">
                <a:latin typeface="Arial" charset="0"/>
                <a:cs typeface="Arial" charset="0"/>
              </a:rPr>
              <a:t>, приводящая к операциям над фиктивными величинами (типа средней температуры пациентов по больнице, средней высоты дома на улице, состоящей из дворцов и лачуг и т.п.). </a:t>
            </a:r>
          </a:p>
          <a:p>
            <a:pPr>
              <a:lnSpc>
                <a:spcPct val="120000"/>
              </a:lnSpc>
            </a:pPr>
            <a:r>
              <a:rPr lang="ru-RU" sz="1800" kern="1200" dirty="0">
                <a:latin typeface="Arial" charset="0"/>
                <a:cs typeface="Arial" charset="0"/>
              </a:rPr>
              <a:t>В основу современной технологии анализа данных положена концепция шаблонов (паттернов), отражающих фрагменты многоаспектных взаимоотношений в данных. </a:t>
            </a:r>
          </a:p>
          <a:p>
            <a:pPr>
              <a:lnSpc>
                <a:spcPct val="120000"/>
              </a:lnSpc>
            </a:pPr>
            <a:r>
              <a:rPr lang="ru-RU" sz="1800" kern="1200" dirty="0">
                <a:latin typeface="Arial" charset="0"/>
                <a:cs typeface="Arial" charset="0"/>
              </a:rPr>
              <a:t>Эти шаблоны представляют собой закономерности, свойственные </a:t>
            </a:r>
            <a:r>
              <a:rPr lang="ru-RU" sz="1800" kern="1200" dirty="0" err="1">
                <a:latin typeface="Arial" charset="0"/>
                <a:cs typeface="Arial" charset="0"/>
              </a:rPr>
              <a:t>подвыборкам</a:t>
            </a:r>
            <a:r>
              <a:rPr lang="ru-RU" sz="1800" kern="1200" dirty="0">
                <a:latin typeface="Arial" charset="0"/>
                <a:cs typeface="Arial" charset="0"/>
              </a:rPr>
              <a:t> данных, и</a:t>
            </a:r>
            <a:r>
              <a:rPr lang="en-US" sz="1800" kern="1200" dirty="0">
                <a:latin typeface="Arial" charset="0"/>
                <a:cs typeface="Arial" charset="0"/>
              </a:rPr>
              <a:t> </a:t>
            </a:r>
            <a:r>
              <a:rPr lang="ru-RU" sz="1800" kern="1200" dirty="0">
                <a:latin typeface="Arial" charset="0"/>
                <a:cs typeface="Arial" charset="0"/>
              </a:rPr>
              <a:t>, таким образом, правила предметной области, которые могут быть компактно выражены в понятной человеку форме. </a:t>
            </a:r>
          </a:p>
          <a:p>
            <a:pPr>
              <a:lnSpc>
                <a:spcPct val="120000"/>
              </a:lnSpc>
            </a:pPr>
            <a:r>
              <a:rPr lang="ru-RU" sz="1800" kern="1200" dirty="0">
                <a:latin typeface="Arial" charset="0"/>
                <a:cs typeface="Arial" charset="0"/>
              </a:rPr>
              <a:t>Правила можно использовать для планирования, принятия решений (анализ рисков) и прогнозирования</a:t>
            </a:r>
          </a:p>
        </p:txBody>
      </p:sp>
      <p:sp>
        <p:nvSpPr>
          <p:cNvPr id="6" name="Номер слайда 5"/>
          <p:cNvSpPr>
            <a:spLocks noGrp="1"/>
          </p:cNvSpPr>
          <p:nvPr>
            <p:ph type="sldNum" sz="quarter" idx="11"/>
          </p:nvPr>
        </p:nvSpPr>
        <p:spPr>
          <a:xfrm>
            <a:off x="8235950" y="6470650"/>
            <a:ext cx="603250" cy="336550"/>
          </a:xfrm>
        </p:spPr>
        <p:txBody>
          <a:bodyPr/>
          <a:lstStyle/>
          <a:p>
            <a:fld id="{4DC7491D-CDB9-48BE-BADB-11210BC61B1D}" type="slidenum">
              <a:rPr lang="ru-RU" smtClean="0"/>
              <a:pPr/>
              <a:t>4</a:t>
            </a:fld>
            <a:endParaRPr lang="ru-R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wipe(up)">
                                      <p:cBhvr>
                                        <p:cTn id="7" dur="500"/>
                                        <p:tgtEl>
                                          <p:spTgt spid="235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3555">
                                            <p:txEl>
                                              <p:pRg st="1" end="1"/>
                                            </p:txEl>
                                          </p:spTgt>
                                        </p:tgtEl>
                                        <p:attrNameLst>
                                          <p:attrName>style.visibility</p:attrName>
                                        </p:attrNameLst>
                                      </p:cBhvr>
                                      <p:to>
                                        <p:strVal val="visible"/>
                                      </p:to>
                                    </p:set>
                                    <p:animEffect transition="in" filter="wipe(up)">
                                      <p:cBhvr>
                                        <p:cTn id="12" dur="500"/>
                                        <p:tgtEl>
                                          <p:spTgt spid="235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3555">
                                            <p:txEl>
                                              <p:pRg st="2" end="2"/>
                                            </p:txEl>
                                          </p:spTgt>
                                        </p:tgtEl>
                                        <p:attrNameLst>
                                          <p:attrName>style.visibility</p:attrName>
                                        </p:attrNameLst>
                                      </p:cBhvr>
                                      <p:to>
                                        <p:strVal val="visible"/>
                                      </p:to>
                                    </p:set>
                                    <p:animEffect transition="in" filter="wipe(up)">
                                      <p:cBhvr>
                                        <p:cTn id="17" dur="500"/>
                                        <p:tgtEl>
                                          <p:spTgt spid="235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3555">
                                            <p:txEl>
                                              <p:pRg st="3" end="3"/>
                                            </p:txEl>
                                          </p:spTgt>
                                        </p:tgtEl>
                                        <p:attrNameLst>
                                          <p:attrName>style.visibility</p:attrName>
                                        </p:attrNameLst>
                                      </p:cBhvr>
                                      <p:to>
                                        <p:strVal val="visible"/>
                                      </p:to>
                                    </p:set>
                                    <p:animEffect transition="in" filter="wipe(up)">
                                      <p:cBhvr>
                                        <p:cTn id="22" dur="500"/>
                                        <p:tgtEl>
                                          <p:spTgt spid="2355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3555">
                                            <p:txEl>
                                              <p:pRg st="4" end="4"/>
                                            </p:txEl>
                                          </p:spTgt>
                                        </p:tgtEl>
                                        <p:attrNameLst>
                                          <p:attrName>style.visibility</p:attrName>
                                        </p:attrNameLst>
                                      </p:cBhvr>
                                      <p:to>
                                        <p:strVal val="visible"/>
                                      </p:to>
                                    </p:set>
                                    <p:animEffect transition="in" filter="wipe(up)">
                                      <p:cBhvr>
                                        <p:cTn id="27" dur="500"/>
                                        <p:tgtEl>
                                          <p:spTgt spid="235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202378" y="345766"/>
            <a:ext cx="8636822" cy="673099"/>
          </a:xfrm>
        </p:spPr>
        <p:txBody>
          <a:bodyPr/>
          <a:lstStyle/>
          <a:p>
            <a:r>
              <a:rPr lang="ru-RU" sz="2800" b="1" dirty="0">
                <a:solidFill>
                  <a:schemeClr val="accent1">
                    <a:lumMod val="25000"/>
                  </a:schemeClr>
                </a:solidFill>
              </a:rPr>
              <a:t>Системы поддержки принятия решений - СППР</a:t>
            </a:r>
          </a:p>
        </p:txBody>
      </p:sp>
      <p:sp>
        <p:nvSpPr>
          <p:cNvPr id="23555" name="Rectangle 3"/>
          <p:cNvSpPr>
            <a:spLocks noGrp="1" noChangeArrowheads="1"/>
          </p:cNvSpPr>
          <p:nvPr>
            <p:ph type="body" idx="1"/>
          </p:nvPr>
        </p:nvSpPr>
        <p:spPr>
          <a:xfrm>
            <a:off x="365092" y="1043955"/>
            <a:ext cx="8488848" cy="5594970"/>
          </a:xfrm>
        </p:spPr>
        <p:txBody>
          <a:bodyPr lIns="72000" rIns="72000">
            <a:normAutofit fontScale="85000" lnSpcReduction="20000"/>
          </a:bodyPr>
          <a:lstStyle/>
          <a:p>
            <a:pPr>
              <a:lnSpc>
                <a:spcPct val="120000"/>
              </a:lnSpc>
            </a:pPr>
            <a:r>
              <a:rPr lang="ru-RU" sz="2600" b="1" dirty="0"/>
              <a:t>Системы поддержки принятия решений </a:t>
            </a:r>
            <a:r>
              <a:rPr lang="ru-RU" sz="2600" dirty="0"/>
              <a:t>– </a:t>
            </a:r>
            <a:r>
              <a:rPr lang="ru-RU" sz="3000" i="1" dirty="0">
                <a:solidFill>
                  <a:schemeClr val="bg2"/>
                </a:solidFill>
                <a:latin typeface="Times New Roman" pitchFamily="18" charset="0"/>
                <a:cs typeface="Times New Roman" pitchFamily="18" charset="0"/>
              </a:rPr>
              <a:t>вычислительные системы </a:t>
            </a:r>
            <a:r>
              <a:rPr lang="ru-RU" sz="3000" dirty="0"/>
              <a:t>для </a:t>
            </a:r>
            <a:r>
              <a:rPr lang="ru-RU" sz="3000" i="1" dirty="0">
                <a:solidFill>
                  <a:schemeClr val="bg2"/>
                </a:solidFill>
                <a:latin typeface="Times New Roman" pitchFamily="18" charset="0"/>
                <a:cs typeface="Times New Roman" pitchFamily="18" charset="0"/>
              </a:rPr>
              <a:t>анализа данных и получения информации для принятия решений в сфере управления </a:t>
            </a:r>
            <a:r>
              <a:rPr lang="ru-RU" sz="2600" dirty="0"/>
              <a:t>(</a:t>
            </a:r>
            <a:r>
              <a:rPr lang="ru-RU" sz="2600" b="1" dirty="0"/>
              <a:t>СППР</a:t>
            </a:r>
            <a:r>
              <a:rPr lang="ru-RU" sz="2600" dirty="0"/>
              <a:t>)</a:t>
            </a:r>
            <a:r>
              <a:rPr lang="en-US" sz="2600" dirty="0"/>
              <a:t>. </a:t>
            </a:r>
            <a:r>
              <a:rPr lang="ru-RU" sz="2600" dirty="0" err="1"/>
              <a:t>OnLine</a:t>
            </a:r>
            <a:r>
              <a:rPr lang="ru-RU" sz="2600" dirty="0"/>
              <a:t> </a:t>
            </a:r>
            <a:r>
              <a:rPr lang="ru-RU" sz="2600" dirty="0" err="1"/>
              <a:t>Analytical</a:t>
            </a:r>
            <a:r>
              <a:rPr lang="ru-RU" sz="2600" dirty="0"/>
              <a:t> Processing </a:t>
            </a:r>
            <a:r>
              <a:rPr lang="en-US" sz="2600" dirty="0"/>
              <a:t>- </a:t>
            </a:r>
            <a:r>
              <a:rPr lang="en-US" sz="2600" b="1" dirty="0"/>
              <a:t>OLAP</a:t>
            </a:r>
            <a:r>
              <a:rPr lang="ru-RU" sz="2600" dirty="0"/>
              <a:t>, </a:t>
            </a:r>
            <a:r>
              <a:rPr lang="en-US" sz="2600" dirty="0"/>
              <a:t>BI (Business Intelligence, «</a:t>
            </a:r>
            <a:r>
              <a:rPr lang="ru-RU" sz="2600" dirty="0"/>
              <a:t>бизнес-интеллект»</a:t>
            </a:r>
            <a:r>
              <a:rPr lang="en-US" sz="2600" dirty="0"/>
              <a:t>)</a:t>
            </a:r>
            <a:endParaRPr lang="ru-RU" sz="2600" dirty="0"/>
          </a:p>
          <a:p>
            <a:pPr>
              <a:lnSpc>
                <a:spcPct val="120000"/>
              </a:lnSpc>
            </a:pPr>
            <a:r>
              <a:rPr lang="ru-RU" sz="2600" dirty="0"/>
              <a:t>Основная задача СППР - предоставить аналитикам инструмент для выполнения анализа данных. </a:t>
            </a:r>
          </a:p>
          <a:p>
            <a:pPr>
              <a:lnSpc>
                <a:spcPct val="120000"/>
              </a:lnSpc>
            </a:pPr>
            <a:r>
              <a:rPr lang="ru-RU" sz="2600" dirty="0"/>
              <a:t>Необходимо отметить, что для эффективного использования СППР ее пользователь - аналитик должен обладать соответствующей квалификацией. </a:t>
            </a:r>
          </a:p>
          <a:p>
            <a:pPr>
              <a:lnSpc>
                <a:spcPct val="120000"/>
              </a:lnSpc>
            </a:pPr>
            <a:r>
              <a:rPr lang="ru-RU" sz="2600" dirty="0"/>
              <a:t>Система </a:t>
            </a:r>
            <a:r>
              <a:rPr lang="ru-RU" sz="2600" b="1" dirty="0"/>
              <a:t>не генерирует правильные решения</a:t>
            </a:r>
            <a:r>
              <a:rPr lang="ru-RU" sz="2600" dirty="0"/>
              <a:t>, а только предоставляет аналитику данные в соответствующем виде (отчеты, таблицы, графики и т. п.) для изучения и анализа.</a:t>
            </a:r>
          </a:p>
          <a:p>
            <a:pPr>
              <a:lnSpc>
                <a:spcPct val="120000"/>
              </a:lnSpc>
            </a:pPr>
            <a:r>
              <a:rPr lang="ru-RU" sz="2600" dirty="0"/>
              <a:t>СППР решают три основные задачи: </a:t>
            </a:r>
            <a:r>
              <a:rPr lang="ru-RU" sz="2600" b="1" dirty="0"/>
              <a:t>сбор, хранение и анализ хранимой информации. </a:t>
            </a:r>
          </a:p>
        </p:txBody>
      </p:sp>
      <p:sp>
        <p:nvSpPr>
          <p:cNvPr id="6" name="Номер слайда 5"/>
          <p:cNvSpPr>
            <a:spLocks noGrp="1"/>
          </p:cNvSpPr>
          <p:nvPr>
            <p:ph type="sldNum" sz="quarter" idx="11"/>
          </p:nvPr>
        </p:nvSpPr>
        <p:spPr>
          <a:xfrm>
            <a:off x="8235950" y="6470650"/>
            <a:ext cx="603250" cy="336550"/>
          </a:xfrm>
        </p:spPr>
        <p:txBody>
          <a:bodyPr/>
          <a:lstStyle/>
          <a:p>
            <a:fld id="{4DC7491D-CDB9-48BE-BADB-11210BC61B1D}" type="slidenum">
              <a:rPr lang="ru-RU" smtClean="0"/>
              <a:pPr/>
              <a:t>5</a:t>
            </a:fld>
            <a:endParaRPr lang="ru-RU" dirty="0"/>
          </a:p>
        </p:txBody>
      </p:sp>
      <p:sp>
        <p:nvSpPr>
          <p:cNvPr id="2" name="Rectangle 1"/>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Основная задача СППР </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4" name="Rectangle 3"/>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предоставить аналитикам </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5" name="Rectangle 4"/>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инструмент для выполнения анализа данных. </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Необходимо отметить, что для эффективного </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8" name="Rectangle 6"/>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использования СППР ее пользователь</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9" name="Rectangle 7"/>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10" name="Rectangle 8"/>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аналитик </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11" name="Rectangle 9"/>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должен обладать соответствующей квалификацией. </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12" name="Rectangle 10"/>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Система не генерирует правильные решения, а только </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13" name="Rectangle 11"/>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предоставляет аналитику данные в соответствующем </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14" name="Rectangle 12"/>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виде (отчеты, таблицы, графики и т. п.) для изучения и </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15" name="Rectangle 13"/>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анализа.</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16" name="Rectangle 14"/>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СППР решают три основные задачи: сбор, хранение и </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17" name="Rectangle 15"/>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анализ хранимой информации. </a:t>
            </a:r>
            <a:endParaRPr kumimoji="0" lang="ru-RU" altLang="ru-RU"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0" marR="0" lvl="0" indent="0" algn="ctr" defTabSz="914400" rtl="0" eaLnBrk="0" fontAlgn="t" latinLnBrk="0" hangingPunct="0">
              <a:lnSpc>
                <a:spcPct val="100000"/>
              </a:lnSpc>
              <a:spcBef>
                <a:spcPct val="0"/>
              </a:spcBef>
              <a:spcAft>
                <a:spcPct val="0"/>
              </a:spcAft>
              <a:buClrTx/>
              <a:buSzTx/>
              <a:buFontTx/>
              <a:buNone/>
              <a:tabLst/>
            </a:pPr>
            <a:br>
              <a:rPr kumimoji="0" lang="ru-RU" altLang="ru-RU"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b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68753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wipe(up)">
                                      <p:cBhvr>
                                        <p:cTn id="7" dur="500"/>
                                        <p:tgtEl>
                                          <p:spTgt spid="235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3555">
                                            <p:txEl>
                                              <p:pRg st="1" end="1"/>
                                            </p:txEl>
                                          </p:spTgt>
                                        </p:tgtEl>
                                        <p:attrNameLst>
                                          <p:attrName>style.visibility</p:attrName>
                                        </p:attrNameLst>
                                      </p:cBhvr>
                                      <p:to>
                                        <p:strVal val="visible"/>
                                      </p:to>
                                    </p:set>
                                    <p:animEffect transition="in" filter="wipe(up)">
                                      <p:cBhvr>
                                        <p:cTn id="12" dur="500"/>
                                        <p:tgtEl>
                                          <p:spTgt spid="235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3555">
                                            <p:txEl>
                                              <p:pRg st="2" end="2"/>
                                            </p:txEl>
                                          </p:spTgt>
                                        </p:tgtEl>
                                        <p:attrNameLst>
                                          <p:attrName>style.visibility</p:attrName>
                                        </p:attrNameLst>
                                      </p:cBhvr>
                                      <p:to>
                                        <p:strVal val="visible"/>
                                      </p:to>
                                    </p:set>
                                    <p:animEffect transition="in" filter="wipe(up)">
                                      <p:cBhvr>
                                        <p:cTn id="17" dur="500"/>
                                        <p:tgtEl>
                                          <p:spTgt spid="235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3555">
                                            <p:txEl>
                                              <p:pRg st="3" end="3"/>
                                            </p:txEl>
                                          </p:spTgt>
                                        </p:tgtEl>
                                        <p:attrNameLst>
                                          <p:attrName>style.visibility</p:attrName>
                                        </p:attrNameLst>
                                      </p:cBhvr>
                                      <p:to>
                                        <p:strVal val="visible"/>
                                      </p:to>
                                    </p:set>
                                    <p:animEffect transition="in" filter="wipe(up)">
                                      <p:cBhvr>
                                        <p:cTn id="22" dur="500"/>
                                        <p:tgtEl>
                                          <p:spTgt spid="2355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3555">
                                            <p:txEl>
                                              <p:pRg st="4" end="4"/>
                                            </p:txEl>
                                          </p:spTgt>
                                        </p:tgtEl>
                                        <p:attrNameLst>
                                          <p:attrName>style.visibility</p:attrName>
                                        </p:attrNameLst>
                                      </p:cBhvr>
                                      <p:to>
                                        <p:strVal val="visible"/>
                                      </p:to>
                                    </p:set>
                                    <p:animEffect transition="in" filter="wipe(up)">
                                      <p:cBhvr>
                                        <p:cTn id="27" dur="500"/>
                                        <p:tgtEl>
                                          <p:spTgt spid="235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202378" y="345766"/>
            <a:ext cx="8636822" cy="673099"/>
          </a:xfrm>
        </p:spPr>
        <p:txBody>
          <a:bodyPr/>
          <a:lstStyle/>
          <a:p>
            <a:pPr algn="ctr"/>
            <a:r>
              <a:rPr lang="ru-RU" sz="3200" dirty="0">
                <a:solidFill>
                  <a:schemeClr val="accent1">
                    <a:lumMod val="25000"/>
                  </a:schemeClr>
                </a:solidFill>
              </a:rPr>
              <a:t>Системы</a:t>
            </a:r>
            <a:r>
              <a:rPr lang="ru-RU" sz="3200" b="1" dirty="0">
                <a:solidFill>
                  <a:schemeClr val="accent1">
                    <a:lumMod val="25000"/>
                  </a:schemeClr>
                </a:solidFill>
              </a:rPr>
              <a:t> </a:t>
            </a:r>
            <a:r>
              <a:rPr lang="ru-RU" sz="3200" dirty="0">
                <a:solidFill>
                  <a:schemeClr val="bg2"/>
                </a:solidFill>
              </a:rPr>
              <a:t>Business </a:t>
            </a:r>
            <a:r>
              <a:rPr lang="ru-RU" sz="3200" dirty="0" err="1">
                <a:solidFill>
                  <a:schemeClr val="bg2"/>
                </a:solidFill>
              </a:rPr>
              <a:t>intelligence</a:t>
            </a:r>
            <a:r>
              <a:rPr lang="ru-RU" sz="3200" dirty="0">
                <a:solidFill>
                  <a:schemeClr val="bg2"/>
                </a:solidFill>
              </a:rPr>
              <a:t> </a:t>
            </a:r>
            <a:endParaRPr lang="ru-RU" sz="3200" b="1" dirty="0">
              <a:solidFill>
                <a:schemeClr val="bg2"/>
              </a:solidFill>
            </a:endParaRPr>
          </a:p>
        </p:txBody>
      </p:sp>
      <p:sp>
        <p:nvSpPr>
          <p:cNvPr id="23555" name="Rectangle 3"/>
          <p:cNvSpPr>
            <a:spLocks noGrp="1" noChangeArrowheads="1"/>
          </p:cNvSpPr>
          <p:nvPr>
            <p:ph type="body" idx="1"/>
          </p:nvPr>
        </p:nvSpPr>
        <p:spPr>
          <a:xfrm>
            <a:off x="365092" y="1043955"/>
            <a:ext cx="8488848" cy="5594970"/>
          </a:xfrm>
        </p:spPr>
        <p:txBody>
          <a:bodyPr lIns="72000" rIns="72000">
            <a:normAutofit fontScale="85000" lnSpcReduction="10000"/>
          </a:bodyPr>
          <a:lstStyle/>
          <a:p>
            <a:r>
              <a:rPr lang="ru-RU" dirty="0"/>
              <a:t>Business </a:t>
            </a:r>
            <a:r>
              <a:rPr lang="ru-RU" dirty="0" err="1"/>
              <a:t>intelligence</a:t>
            </a:r>
            <a:r>
              <a:rPr lang="ru-RU" dirty="0"/>
              <a:t> (сокращённо BI) — это методы и инструменты для перевода необработанной информации в осмысленную, удобную форму. </a:t>
            </a:r>
          </a:p>
          <a:p>
            <a:r>
              <a:rPr lang="ru-RU" dirty="0"/>
              <a:t>Эти данные используются для бизнес-анализа. </a:t>
            </a:r>
          </a:p>
          <a:p>
            <a:r>
              <a:rPr lang="ru-RU" dirty="0"/>
              <a:t>Технологии BI обрабатывают большие объёмы неструктурированных данных, чтобы найти стратегические возможности для бизнеса.</a:t>
            </a:r>
          </a:p>
          <a:p>
            <a:r>
              <a:rPr lang="ru-RU" dirty="0"/>
              <a:t>Цель BI — интерпретировать большое количество данных, заостряя внимание лишь на ключевых факторах эффективности, моделируя исход различных вариантов действий, отслеживая результаты принятия решений.</a:t>
            </a:r>
          </a:p>
        </p:txBody>
      </p:sp>
      <p:sp>
        <p:nvSpPr>
          <p:cNvPr id="6" name="Номер слайда 5"/>
          <p:cNvSpPr>
            <a:spLocks noGrp="1"/>
          </p:cNvSpPr>
          <p:nvPr>
            <p:ph type="sldNum" sz="quarter" idx="11"/>
          </p:nvPr>
        </p:nvSpPr>
        <p:spPr>
          <a:xfrm>
            <a:off x="8235950" y="6470650"/>
            <a:ext cx="603250" cy="336550"/>
          </a:xfrm>
        </p:spPr>
        <p:txBody>
          <a:bodyPr/>
          <a:lstStyle/>
          <a:p>
            <a:fld id="{4DC7491D-CDB9-48BE-BADB-11210BC61B1D}" type="slidenum">
              <a:rPr lang="ru-RU" smtClean="0"/>
              <a:pPr/>
              <a:t>6</a:t>
            </a:fld>
            <a:endParaRPr lang="ru-RU" dirty="0"/>
          </a:p>
        </p:txBody>
      </p:sp>
      <p:sp>
        <p:nvSpPr>
          <p:cNvPr id="2" name="Rectangle 1"/>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Основная задача СППР </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4" name="Rectangle 3"/>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предоставить аналитикам </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5" name="Rectangle 4"/>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инструмент для выполнения анализа данных. </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Необходимо отметить, что для эффективного </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8" name="Rectangle 6"/>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использования СППР ее пользователь</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9" name="Rectangle 7"/>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10" name="Rectangle 8"/>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аналитик </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11" name="Rectangle 9"/>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должен обладать соответствующей квалификацией. </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12" name="Rectangle 10"/>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Система не генерирует правильные решения, а только </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13" name="Rectangle 11"/>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предоставляет аналитику данные в соответствующем </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14" name="Rectangle 12"/>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виде (отчеты, таблицы, графики и т. п.) для изучения и </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15" name="Rectangle 13"/>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анализа.</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16" name="Rectangle 14"/>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a:ln>
                  <a:noFill/>
                </a:ln>
                <a:solidFill>
                  <a:srgbClr val="000000"/>
                </a:solidFill>
                <a:effectLst/>
                <a:latin typeface="Arial" panose="020B0604020202020204" pitchFamily="34" charset="0"/>
                <a:cs typeface="Arial" panose="020B0604020202020204" pitchFamily="34" charset="0"/>
              </a:rPr>
              <a:t>СППР решают три основные задачи: сбор, хранение и </a:t>
            </a:r>
            <a:endParaRPr kumimoji="0" lang="ru-RU" altLang="ru-RU" sz="1200" b="0" i="0" u="none" strike="noStrike" cap="none" normalizeH="0" baseline="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17" name="Rectangle 15"/>
          <p:cNvSpPr>
            <a:spLocks noChangeArrowheads="1"/>
          </p:cNvSpPr>
          <p:nvPr/>
        </p:nvSpPr>
        <p:spPr bwMode="auto">
          <a:xfrm>
            <a:off x="152400" y="152400"/>
            <a:ext cx="3795713"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9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анализ хранимой информации. </a:t>
            </a:r>
            <a:endParaRPr kumimoji="0" lang="ru-RU" altLang="ru-RU"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0" marR="0" lvl="0" indent="0" algn="ctr" defTabSz="914400" rtl="0" eaLnBrk="0" fontAlgn="t" latinLnBrk="0" hangingPunct="0">
              <a:lnSpc>
                <a:spcPct val="100000"/>
              </a:lnSpc>
              <a:spcBef>
                <a:spcPct val="0"/>
              </a:spcBef>
              <a:spcAft>
                <a:spcPct val="0"/>
              </a:spcAft>
              <a:buClrTx/>
              <a:buSzTx/>
              <a:buFontTx/>
              <a:buNone/>
              <a:tabLst/>
            </a:pPr>
            <a:br>
              <a:rPr kumimoji="0" lang="ru-RU" altLang="ru-RU"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b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80440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wipe(up)">
                                      <p:cBhvr>
                                        <p:cTn id="7" dur="500"/>
                                        <p:tgtEl>
                                          <p:spTgt spid="235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3555">
                                            <p:txEl>
                                              <p:pRg st="1" end="1"/>
                                            </p:txEl>
                                          </p:spTgt>
                                        </p:tgtEl>
                                        <p:attrNameLst>
                                          <p:attrName>style.visibility</p:attrName>
                                        </p:attrNameLst>
                                      </p:cBhvr>
                                      <p:to>
                                        <p:strVal val="visible"/>
                                      </p:to>
                                    </p:set>
                                    <p:animEffect transition="in" filter="wipe(up)">
                                      <p:cBhvr>
                                        <p:cTn id="12" dur="500"/>
                                        <p:tgtEl>
                                          <p:spTgt spid="235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3555">
                                            <p:txEl>
                                              <p:pRg st="2" end="2"/>
                                            </p:txEl>
                                          </p:spTgt>
                                        </p:tgtEl>
                                        <p:attrNameLst>
                                          <p:attrName>style.visibility</p:attrName>
                                        </p:attrNameLst>
                                      </p:cBhvr>
                                      <p:to>
                                        <p:strVal val="visible"/>
                                      </p:to>
                                    </p:set>
                                    <p:animEffect transition="in" filter="wipe(up)">
                                      <p:cBhvr>
                                        <p:cTn id="17" dur="500"/>
                                        <p:tgtEl>
                                          <p:spTgt spid="235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3555">
                                            <p:txEl>
                                              <p:pRg st="3" end="3"/>
                                            </p:txEl>
                                          </p:spTgt>
                                        </p:tgtEl>
                                        <p:attrNameLst>
                                          <p:attrName>style.visibility</p:attrName>
                                        </p:attrNameLst>
                                      </p:cBhvr>
                                      <p:to>
                                        <p:strVal val="visible"/>
                                      </p:to>
                                    </p:set>
                                    <p:animEffect transition="in" filter="wipe(up)">
                                      <p:cBhvr>
                                        <p:cTn id="22" dur="500"/>
                                        <p:tgtEl>
                                          <p:spTgt spid="2355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457200" y="95250"/>
            <a:ext cx="8229600" cy="609600"/>
          </a:xfrm>
        </p:spPr>
        <p:txBody>
          <a:bodyPr/>
          <a:lstStyle/>
          <a:p>
            <a:pPr algn="ctr"/>
            <a:r>
              <a:rPr lang="ru-RU" sz="3200" dirty="0">
                <a:solidFill>
                  <a:schemeClr val="bg2"/>
                </a:solidFill>
              </a:rPr>
              <a:t>Особенности СППР</a:t>
            </a:r>
          </a:p>
        </p:txBody>
      </p:sp>
      <p:sp>
        <p:nvSpPr>
          <p:cNvPr id="46083" name="Rectangle 3"/>
          <p:cNvSpPr>
            <a:spLocks noGrp="1" noChangeArrowheads="1"/>
          </p:cNvSpPr>
          <p:nvPr>
            <p:ph type="body" idx="1"/>
          </p:nvPr>
        </p:nvSpPr>
        <p:spPr>
          <a:xfrm>
            <a:off x="381000" y="683695"/>
            <a:ext cx="8763000" cy="6019800"/>
          </a:xfrm>
        </p:spPr>
        <p:txBody>
          <a:bodyPr>
            <a:noAutofit/>
          </a:bodyPr>
          <a:lstStyle/>
          <a:p>
            <a:pPr>
              <a:lnSpc>
                <a:spcPct val="120000"/>
              </a:lnSpc>
            </a:pPr>
            <a:r>
              <a:rPr lang="ru-RU" sz="2000" dirty="0"/>
              <a:t>Стандартные 5 типов закономерностей, </a:t>
            </a:r>
            <a:r>
              <a:rPr lang="ru-RU" sz="2000" kern="1200" dirty="0">
                <a:latin typeface="Arial" charset="0"/>
                <a:cs typeface="Arial" charset="0"/>
              </a:rPr>
              <a:t>которые позволяют выявлять интеллектуальные методы анализа и представления данных:</a:t>
            </a:r>
            <a:endParaRPr lang="ru-RU" sz="2000" dirty="0"/>
          </a:p>
          <a:p>
            <a:pPr lvl="1">
              <a:lnSpc>
                <a:spcPct val="120000"/>
              </a:lnSpc>
              <a:buClr>
                <a:schemeClr val="bg2"/>
              </a:buClr>
              <a:buFont typeface="Wingdings" pitchFamily="2" charset="2"/>
              <a:buChar char="v"/>
            </a:pPr>
            <a:r>
              <a:rPr lang="ru-RU" sz="1800" dirty="0"/>
              <a:t>Ассоциация (связь событий: </a:t>
            </a:r>
            <a:r>
              <a:rPr lang="ru-RU" sz="1800" kern="1200" dirty="0">
                <a:latin typeface="Arial" charset="0"/>
                <a:cs typeface="Arial" charset="0"/>
              </a:rPr>
              <a:t>65% купивших кукурузные чипсы берут также и "кока-колу"</a:t>
            </a:r>
            <a:r>
              <a:rPr lang="ru-RU" sz="1800" dirty="0"/>
              <a:t>)</a:t>
            </a:r>
          </a:p>
          <a:p>
            <a:pPr lvl="1">
              <a:lnSpc>
                <a:spcPct val="120000"/>
              </a:lnSpc>
              <a:buClr>
                <a:schemeClr val="bg2"/>
              </a:buClr>
              <a:buFont typeface="Wingdings" pitchFamily="2" charset="2"/>
              <a:buChar char="v"/>
            </a:pPr>
            <a:r>
              <a:rPr lang="ru-RU" sz="1800" dirty="0"/>
              <a:t>Последовательность (</a:t>
            </a:r>
            <a:r>
              <a:rPr lang="ru-RU" sz="1800" kern="1200" dirty="0">
                <a:latin typeface="Arial" charset="0"/>
                <a:cs typeface="Arial" charset="0"/>
              </a:rPr>
              <a:t>цепочка связанных во времени событий</a:t>
            </a:r>
            <a:r>
              <a:rPr lang="ru-RU" sz="1800" dirty="0"/>
              <a:t>)</a:t>
            </a:r>
          </a:p>
          <a:p>
            <a:pPr lvl="1">
              <a:lnSpc>
                <a:spcPct val="120000"/>
              </a:lnSpc>
              <a:buClr>
                <a:schemeClr val="bg2"/>
              </a:buClr>
              <a:buFont typeface="Wingdings" pitchFamily="2" charset="2"/>
              <a:buChar char="v"/>
            </a:pPr>
            <a:r>
              <a:rPr lang="ru-RU" sz="1800" dirty="0"/>
              <a:t>Классификация (</a:t>
            </a:r>
            <a:r>
              <a:rPr lang="ru-RU" sz="1800" kern="1200" dirty="0">
                <a:latin typeface="Arial" charset="0"/>
                <a:cs typeface="Arial" charset="0"/>
              </a:rPr>
              <a:t>признаки, характеризующие группу, к которой принадлежит тот или иной объект</a:t>
            </a:r>
            <a:r>
              <a:rPr lang="ru-RU" sz="1800" dirty="0"/>
              <a:t>)</a:t>
            </a:r>
          </a:p>
          <a:p>
            <a:pPr lvl="1">
              <a:lnSpc>
                <a:spcPct val="120000"/>
              </a:lnSpc>
              <a:buClr>
                <a:schemeClr val="bg2"/>
              </a:buClr>
              <a:buFont typeface="Wingdings" pitchFamily="2" charset="2"/>
              <a:buChar char="v"/>
            </a:pPr>
            <a:r>
              <a:rPr lang="ru-RU" sz="1800" dirty="0"/>
              <a:t>Кластеризация (</a:t>
            </a:r>
            <a:r>
              <a:rPr lang="ru-RU" sz="1800" kern="1200" dirty="0">
                <a:latin typeface="Arial" charset="0"/>
                <a:cs typeface="Arial" charset="0"/>
              </a:rPr>
              <a:t>объединение в группы схожих объектов. Алгоритмы кластеризации предполагают сравнение объектов между собой на основе некоторой меры близости (сходства).</a:t>
            </a:r>
          </a:p>
          <a:p>
            <a:pPr lvl="1">
              <a:lnSpc>
                <a:spcPct val="120000"/>
              </a:lnSpc>
              <a:buClr>
                <a:schemeClr val="bg2"/>
              </a:buClr>
              <a:buFont typeface="Wingdings" pitchFamily="2" charset="2"/>
              <a:buChar char="v"/>
            </a:pPr>
            <a:r>
              <a:rPr lang="ru-RU" sz="1800" dirty="0"/>
              <a:t>Прогнозирование </a:t>
            </a:r>
            <a:r>
              <a:rPr lang="ru-RU" sz="1800" kern="1200" dirty="0">
                <a:latin typeface="Arial" charset="0"/>
                <a:cs typeface="Arial" charset="0"/>
              </a:rPr>
              <a:t>(на основе особенностей поведения данных оцениваются будущие значения)</a:t>
            </a:r>
          </a:p>
          <a:p>
            <a:pPr>
              <a:lnSpc>
                <a:spcPct val="120000"/>
              </a:lnSpc>
            </a:pPr>
            <a:r>
              <a:rPr lang="ru-RU" sz="2000" kern="1200" dirty="0">
                <a:latin typeface="Arial" charset="0"/>
                <a:cs typeface="Arial" charset="0"/>
              </a:rPr>
              <a:t>Интеллектуальные средства анализа данных используют четыре основных метода: </a:t>
            </a:r>
            <a:r>
              <a:rPr lang="ru-RU" sz="2000" b="1" kern="1200" dirty="0">
                <a:latin typeface="Arial" charset="0"/>
                <a:cs typeface="Arial" charset="0"/>
              </a:rPr>
              <a:t>нейронные сети, деревья решений, индукцию правил и визуализацию данных</a:t>
            </a:r>
            <a:r>
              <a:rPr lang="ru-RU" sz="2000" kern="1200" dirty="0">
                <a:latin typeface="Arial" charset="0"/>
                <a:cs typeface="Arial" charset="0"/>
              </a:rPr>
              <a:t>. Иногда применяется их комбинация. </a:t>
            </a:r>
            <a:endParaRPr lang="ru-RU" sz="2000" dirty="0"/>
          </a:p>
          <a:p>
            <a:pPr>
              <a:lnSpc>
                <a:spcPct val="120000"/>
              </a:lnSpc>
            </a:pPr>
            <a:r>
              <a:rPr lang="ru-RU" sz="2000" dirty="0"/>
              <a:t>Запросы </a:t>
            </a:r>
          </a:p>
          <a:p>
            <a:pPr lvl="1">
              <a:lnSpc>
                <a:spcPct val="120000"/>
              </a:lnSpc>
              <a:buClr>
                <a:schemeClr val="bg2"/>
              </a:buClr>
              <a:buFont typeface="Wingdings" pitchFamily="2" charset="2"/>
              <a:buChar char="v"/>
            </a:pPr>
            <a:r>
              <a:rPr lang="ru-RU" sz="2000" dirty="0"/>
              <a:t>В </a:t>
            </a:r>
            <a:r>
              <a:rPr lang="en-US" sz="2000" dirty="0"/>
              <a:t>OLTP </a:t>
            </a:r>
            <a:r>
              <a:rPr lang="ru-RU" sz="2000" dirty="0"/>
              <a:t>«Получить сведения о счете клиента банка»</a:t>
            </a:r>
          </a:p>
          <a:p>
            <a:pPr lvl="1">
              <a:lnSpc>
                <a:spcPct val="120000"/>
              </a:lnSpc>
              <a:buClr>
                <a:schemeClr val="bg2"/>
              </a:buClr>
              <a:buFont typeface="Wingdings" pitchFamily="2" charset="2"/>
              <a:buChar char="v"/>
            </a:pPr>
            <a:r>
              <a:rPr lang="ru-RU" sz="2000" dirty="0"/>
              <a:t>В </a:t>
            </a:r>
            <a:r>
              <a:rPr lang="en-US" sz="2000" dirty="0"/>
              <a:t>OLAP </a:t>
            </a:r>
            <a:r>
              <a:rPr lang="ru-RU" sz="2000" dirty="0"/>
              <a:t>« Найти среднее значение промежутка времени между выставлением счета и оплатой его клиентом в текущем и прошедшем году для разных групп клиентов» </a:t>
            </a:r>
          </a:p>
          <a:p>
            <a:pPr>
              <a:lnSpc>
                <a:spcPct val="120000"/>
              </a:lnSpc>
            </a:pPr>
            <a:r>
              <a:rPr lang="ru-RU" sz="2000" dirty="0"/>
              <a:t>Трудно или невозможно сформировать запрос  в СППР на </a:t>
            </a:r>
            <a:r>
              <a:rPr lang="en-US" sz="2000" dirty="0"/>
              <a:t>SQL</a:t>
            </a:r>
          </a:p>
          <a:p>
            <a:pPr>
              <a:lnSpc>
                <a:spcPct val="120000"/>
              </a:lnSpc>
            </a:pPr>
            <a:r>
              <a:rPr lang="ru-RU" sz="2000" dirty="0"/>
              <a:t>Организация данных в СППР</a:t>
            </a:r>
          </a:p>
          <a:p>
            <a:pPr lvl="1">
              <a:lnSpc>
                <a:spcPct val="120000"/>
              </a:lnSpc>
              <a:buClr>
                <a:schemeClr val="bg2"/>
              </a:buClr>
              <a:buFont typeface="Wingdings" pitchFamily="2" charset="2"/>
              <a:buChar char="v"/>
            </a:pPr>
            <a:r>
              <a:rPr lang="ru-RU" sz="2000" dirty="0"/>
              <a:t>Данные практически не обновляются (</a:t>
            </a:r>
            <a:r>
              <a:rPr lang="en-US" sz="2000" dirty="0"/>
              <a:t>update - </a:t>
            </a:r>
            <a:r>
              <a:rPr lang="en-US" sz="2000" dirty="0">
                <a:solidFill>
                  <a:schemeClr val="bg2">
                    <a:lumMod val="60000"/>
                    <a:lumOff val="40000"/>
                  </a:schemeClr>
                </a:solidFill>
              </a:rPr>
              <a:t>insert</a:t>
            </a:r>
            <a:r>
              <a:rPr lang="en-US" sz="2000" dirty="0"/>
              <a:t>)</a:t>
            </a:r>
            <a:endParaRPr lang="ru-RU" sz="2000" dirty="0"/>
          </a:p>
          <a:p>
            <a:pPr lvl="1">
              <a:lnSpc>
                <a:spcPct val="120000"/>
              </a:lnSpc>
              <a:buClr>
                <a:schemeClr val="bg2"/>
              </a:buClr>
              <a:buFont typeface="Wingdings" pitchFamily="2" charset="2"/>
              <a:buChar char="v"/>
            </a:pPr>
            <a:r>
              <a:rPr lang="ru-RU" sz="2000" dirty="0"/>
              <a:t>Выполнение запросов требует хронологической упорядоченности данных</a:t>
            </a:r>
          </a:p>
          <a:p>
            <a:pPr lvl="1">
              <a:lnSpc>
                <a:spcPct val="120000"/>
              </a:lnSpc>
              <a:buClr>
                <a:schemeClr val="bg2"/>
              </a:buClr>
              <a:buFont typeface="Wingdings" pitchFamily="2" charset="2"/>
              <a:buChar char="v"/>
            </a:pPr>
            <a:r>
              <a:rPr lang="ru-RU" sz="2000" dirty="0"/>
              <a:t>Данные для анализа НЕ детальные, а агрегированные</a:t>
            </a:r>
          </a:p>
        </p:txBody>
      </p:sp>
      <p:sp>
        <p:nvSpPr>
          <p:cNvPr id="6" name="Номер слайда 5"/>
          <p:cNvSpPr>
            <a:spLocks noGrp="1"/>
          </p:cNvSpPr>
          <p:nvPr>
            <p:ph type="sldNum" sz="quarter" idx="11"/>
          </p:nvPr>
        </p:nvSpPr>
        <p:spPr/>
        <p:txBody>
          <a:bodyPr/>
          <a:lstStyle/>
          <a:p>
            <a:fld id="{4DC7491D-CDB9-48BE-BADB-11210BC61B1D}" type="slidenum">
              <a:rPr lang="ru-RU" smtClean="0"/>
              <a:pPr/>
              <a:t>7</a:t>
            </a:fld>
            <a:endParaRPr lang="ru-R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fade">
                                      <p:cBhvr>
                                        <p:cTn id="7" dur="1000"/>
                                        <p:tgtEl>
                                          <p:spTgt spid="46083">
                                            <p:txEl>
                                              <p:pRg st="0" end="0"/>
                                            </p:txEl>
                                          </p:spTgt>
                                        </p:tgtEl>
                                      </p:cBhvr>
                                    </p:animEffect>
                                    <p:anim calcmode="lin" valueType="num">
                                      <p:cBhvr>
                                        <p:cTn id="8" dur="1000" fill="hold"/>
                                        <p:tgtEl>
                                          <p:spTgt spid="4608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608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6083">
                                            <p:txEl>
                                              <p:pRg st="1" end="1"/>
                                            </p:txEl>
                                          </p:spTgt>
                                        </p:tgtEl>
                                        <p:attrNameLst>
                                          <p:attrName>style.visibility</p:attrName>
                                        </p:attrNameLst>
                                      </p:cBhvr>
                                      <p:to>
                                        <p:strVal val="visible"/>
                                      </p:to>
                                    </p:set>
                                    <p:animEffect transition="in" filter="fade">
                                      <p:cBhvr>
                                        <p:cTn id="14" dur="1000"/>
                                        <p:tgtEl>
                                          <p:spTgt spid="46083">
                                            <p:txEl>
                                              <p:pRg st="1" end="1"/>
                                            </p:txEl>
                                          </p:spTgt>
                                        </p:tgtEl>
                                      </p:cBhvr>
                                    </p:animEffect>
                                    <p:anim calcmode="lin" valueType="num">
                                      <p:cBhvr>
                                        <p:cTn id="15" dur="1000" fill="hold"/>
                                        <p:tgtEl>
                                          <p:spTgt spid="4608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608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6083">
                                            <p:txEl>
                                              <p:pRg st="2" end="2"/>
                                            </p:txEl>
                                          </p:spTgt>
                                        </p:tgtEl>
                                        <p:attrNameLst>
                                          <p:attrName>style.visibility</p:attrName>
                                        </p:attrNameLst>
                                      </p:cBhvr>
                                      <p:to>
                                        <p:strVal val="visible"/>
                                      </p:to>
                                    </p:set>
                                    <p:animEffect transition="in" filter="fade">
                                      <p:cBhvr>
                                        <p:cTn id="21" dur="1000"/>
                                        <p:tgtEl>
                                          <p:spTgt spid="46083">
                                            <p:txEl>
                                              <p:pRg st="2" end="2"/>
                                            </p:txEl>
                                          </p:spTgt>
                                        </p:tgtEl>
                                      </p:cBhvr>
                                    </p:animEffect>
                                    <p:anim calcmode="lin" valueType="num">
                                      <p:cBhvr>
                                        <p:cTn id="22" dur="1000" fill="hold"/>
                                        <p:tgtEl>
                                          <p:spTgt spid="4608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608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6083">
                                            <p:txEl>
                                              <p:pRg st="3" end="3"/>
                                            </p:txEl>
                                          </p:spTgt>
                                        </p:tgtEl>
                                        <p:attrNameLst>
                                          <p:attrName>style.visibility</p:attrName>
                                        </p:attrNameLst>
                                      </p:cBhvr>
                                      <p:to>
                                        <p:strVal val="visible"/>
                                      </p:to>
                                    </p:set>
                                    <p:animEffect transition="in" filter="fade">
                                      <p:cBhvr>
                                        <p:cTn id="28" dur="1000"/>
                                        <p:tgtEl>
                                          <p:spTgt spid="46083">
                                            <p:txEl>
                                              <p:pRg st="3" end="3"/>
                                            </p:txEl>
                                          </p:spTgt>
                                        </p:tgtEl>
                                      </p:cBhvr>
                                    </p:animEffect>
                                    <p:anim calcmode="lin" valueType="num">
                                      <p:cBhvr>
                                        <p:cTn id="29" dur="1000" fill="hold"/>
                                        <p:tgtEl>
                                          <p:spTgt spid="4608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608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6083">
                                            <p:txEl>
                                              <p:pRg st="4" end="4"/>
                                            </p:txEl>
                                          </p:spTgt>
                                        </p:tgtEl>
                                        <p:attrNameLst>
                                          <p:attrName>style.visibility</p:attrName>
                                        </p:attrNameLst>
                                      </p:cBhvr>
                                      <p:to>
                                        <p:strVal val="visible"/>
                                      </p:to>
                                    </p:set>
                                    <p:animEffect transition="in" filter="fade">
                                      <p:cBhvr>
                                        <p:cTn id="35" dur="1000"/>
                                        <p:tgtEl>
                                          <p:spTgt spid="46083">
                                            <p:txEl>
                                              <p:pRg st="4" end="4"/>
                                            </p:txEl>
                                          </p:spTgt>
                                        </p:tgtEl>
                                      </p:cBhvr>
                                    </p:animEffect>
                                    <p:anim calcmode="lin" valueType="num">
                                      <p:cBhvr>
                                        <p:cTn id="36" dur="1000" fill="hold"/>
                                        <p:tgtEl>
                                          <p:spTgt spid="4608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608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6083">
                                            <p:txEl>
                                              <p:pRg st="5" end="5"/>
                                            </p:txEl>
                                          </p:spTgt>
                                        </p:tgtEl>
                                        <p:attrNameLst>
                                          <p:attrName>style.visibility</p:attrName>
                                        </p:attrNameLst>
                                      </p:cBhvr>
                                      <p:to>
                                        <p:strVal val="visible"/>
                                      </p:to>
                                    </p:set>
                                    <p:animEffect transition="in" filter="fade">
                                      <p:cBhvr>
                                        <p:cTn id="42" dur="1000"/>
                                        <p:tgtEl>
                                          <p:spTgt spid="46083">
                                            <p:txEl>
                                              <p:pRg st="5" end="5"/>
                                            </p:txEl>
                                          </p:spTgt>
                                        </p:tgtEl>
                                      </p:cBhvr>
                                    </p:animEffect>
                                    <p:anim calcmode="lin" valueType="num">
                                      <p:cBhvr>
                                        <p:cTn id="43" dur="1000" fill="hold"/>
                                        <p:tgtEl>
                                          <p:spTgt spid="4608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4608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46083">
                                            <p:txEl>
                                              <p:pRg st="6" end="6"/>
                                            </p:txEl>
                                          </p:spTgt>
                                        </p:tgtEl>
                                        <p:attrNameLst>
                                          <p:attrName>style.visibility</p:attrName>
                                        </p:attrNameLst>
                                      </p:cBhvr>
                                      <p:to>
                                        <p:strVal val="visible"/>
                                      </p:to>
                                    </p:set>
                                    <p:animEffect transition="in" filter="fade">
                                      <p:cBhvr>
                                        <p:cTn id="49" dur="1000"/>
                                        <p:tgtEl>
                                          <p:spTgt spid="46083">
                                            <p:txEl>
                                              <p:pRg st="6" end="6"/>
                                            </p:txEl>
                                          </p:spTgt>
                                        </p:tgtEl>
                                      </p:cBhvr>
                                    </p:animEffect>
                                    <p:anim calcmode="lin" valueType="num">
                                      <p:cBhvr>
                                        <p:cTn id="50" dur="1000" fill="hold"/>
                                        <p:tgtEl>
                                          <p:spTgt spid="4608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4608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46083">
                                            <p:txEl>
                                              <p:pRg st="7" end="7"/>
                                            </p:txEl>
                                          </p:spTgt>
                                        </p:tgtEl>
                                        <p:attrNameLst>
                                          <p:attrName>style.visibility</p:attrName>
                                        </p:attrNameLst>
                                      </p:cBhvr>
                                      <p:to>
                                        <p:strVal val="visible"/>
                                      </p:to>
                                    </p:set>
                                    <p:animEffect transition="in" filter="fade">
                                      <p:cBhvr>
                                        <p:cTn id="56" dur="1000"/>
                                        <p:tgtEl>
                                          <p:spTgt spid="46083">
                                            <p:txEl>
                                              <p:pRg st="7" end="7"/>
                                            </p:txEl>
                                          </p:spTgt>
                                        </p:tgtEl>
                                      </p:cBhvr>
                                    </p:animEffect>
                                    <p:anim calcmode="lin" valueType="num">
                                      <p:cBhvr>
                                        <p:cTn id="57" dur="1000" fill="hold"/>
                                        <p:tgtEl>
                                          <p:spTgt spid="4608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4608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46083">
                                            <p:txEl>
                                              <p:pRg st="8" end="8"/>
                                            </p:txEl>
                                          </p:spTgt>
                                        </p:tgtEl>
                                        <p:attrNameLst>
                                          <p:attrName>style.visibility</p:attrName>
                                        </p:attrNameLst>
                                      </p:cBhvr>
                                      <p:to>
                                        <p:strVal val="visible"/>
                                      </p:to>
                                    </p:set>
                                    <p:animEffect transition="in" filter="fade">
                                      <p:cBhvr>
                                        <p:cTn id="63" dur="1000"/>
                                        <p:tgtEl>
                                          <p:spTgt spid="46083">
                                            <p:txEl>
                                              <p:pRg st="8" end="8"/>
                                            </p:txEl>
                                          </p:spTgt>
                                        </p:tgtEl>
                                      </p:cBhvr>
                                    </p:animEffect>
                                    <p:anim calcmode="lin" valueType="num">
                                      <p:cBhvr>
                                        <p:cTn id="64" dur="1000" fill="hold"/>
                                        <p:tgtEl>
                                          <p:spTgt spid="4608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4608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46083">
                                            <p:txEl>
                                              <p:pRg st="9" end="9"/>
                                            </p:txEl>
                                          </p:spTgt>
                                        </p:tgtEl>
                                        <p:attrNameLst>
                                          <p:attrName>style.visibility</p:attrName>
                                        </p:attrNameLst>
                                      </p:cBhvr>
                                      <p:to>
                                        <p:strVal val="visible"/>
                                      </p:to>
                                    </p:set>
                                    <p:animEffect transition="in" filter="fade">
                                      <p:cBhvr>
                                        <p:cTn id="70" dur="1000"/>
                                        <p:tgtEl>
                                          <p:spTgt spid="46083">
                                            <p:txEl>
                                              <p:pRg st="9" end="9"/>
                                            </p:txEl>
                                          </p:spTgt>
                                        </p:tgtEl>
                                      </p:cBhvr>
                                    </p:animEffect>
                                    <p:anim calcmode="lin" valueType="num">
                                      <p:cBhvr>
                                        <p:cTn id="71" dur="1000" fill="hold"/>
                                        <p:tgtEl>
                                          <p:spTgt spid="4608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4608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46083">
                                            <p:txEl>
                                              <p:pRg st="10" end="10"/>
                                            </p:txEl>
                                          </p:spTgt>
                                        </p:tgtEl>
                                        <p:attrNameLst>
                                          <p:attrName>style.visibility</p:attrName>
                                        </p:attrNameLst>
                                      </p:cBhvr>
                                      <p:to>
                                        <p:strVal val="visible"/>
                                      </p:to>
                                    </p:set>
                                    <p:animEffect transition="in" filter="fade">
                                      <p:cBhvr>
                                        <p:cTn id="77" dur="1000"/>
                                        <p:tgtEl>
                                          <p:spTgt spid="46083">
                                            <p:txEl>
                                              <p:pRg st="10" end="10"/>
                                            </p:txEl>
                                          </p:spTgt>
                                        </p:tgtEl>
                                      </p:cBhvr>
                                    </p:animEffect>
                                    <p:anim calcmode="lin" valueType="num">
                                      <p:cBhvr>
                                        <p:cTn id="78" dur="1000" fill="hold"/>
                                        <p:tgtEl>
                                          <p:spTgt spid="46083">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4608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46083">
                                            <p:txEl>
                                              <p:pRg st="11" end="11"/>
                                            </p:txEl>
                                          </p:spTgt>
                                        </p:tgtEl>
                                        <p:attrNameLst>
                                          <p:attrName>style.visibility</p:attrName>
                                        </p:attrNameLst>
                                      </p:cBhvr>
                                      <p:to>
                                        <p:strVal val="visible"/>
                                      </p:to>
                                    </p:set>
                                    <p:animEffect transition="in" filter="fade">
                                      <p:cBhvr>
                                        <p:cTn id="84" dur="1000"/>
                                        <p:tgtEl>
                                          <p:spTgt spid="46083">
                                            <p:txEl>
                                              <p:pRg st="11" end="11"/>
                                            </p:txEl>
                                          </p:spTgt>
                                        </p:tgtEl>
                                      </p:cBhvr>
                                    </p:animEffect>
                                    <p:anim calcmode="lin" valueType="num">
                                      <p:cBhvr>
                                        <p:cTn id="85" dur="1000" fill="hold"/>
                                        <p:tgtEl>
                                          <p:spTgt spid="46083">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4608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46083">
                                            <p:txEl>
                                              <p:pRg st="12" end="12"/>
                                            </p:txEl>
                                          </p:spTgt>
                                        </p:tgtEl>
                                        <p:attrNameLst>
                                          <p:attrName>style.visibility</p:attrName>
                                        </p:attrNameLst>
                                      </p:cBhvr>
                                      <p:to>
                                        <p:strVal val="visible"/>
                                      </p:to>
                                    </p:set>
                                    <p:animEffect transition="in" filter="fade">
                                      <p:cBhvr>
                                        <p:cTn id="91" dur="1000"/>
                                        <p:tgtEl>
                                          <p:spTgt spid="46083">
                                            <p:txEl>
                                              <p:pRg st="12" end="12"/>
                                            </p:txEl>
                                          </p:spTgt>
                                        </p:tgtEl>
                                      </p:cBhvr>
                                    </p:animEffect>
                                    <p:anim calcmode="lin" valueType="num">
                                      <p:cBhvr>
                                        <p:cTn id="92" dur="1000" fill="hold"/>
                                        <p:tgtEl>
                                          <p:spTgt spid="46083">
                                            <p:txEl>
                                              <p:pRg st="12" end="12"/>
                                            </p:txEl>
                                          </p:spTgt>
                                        </p:tgtEl>
                                        <p:attrNameLst>
                                          <p:attrName>ppt_x</p:attrName>
                                        </p:attrNameLst>
                                      </p:cBhvr>
                                      <p:tavLst>
                                        <p:tav tm="0">
                                          <p:val>
                                            <p:strVal val="#ppt_x"/>
                                          </p:val>
                                        </p:tav>
                                        <p:tav tm="100000">
                                          <p:val>
                                            <p:strVal val="#ppt_x"/>
                                          </p:val>
                                        </p:tav>
                                      </p:tavLst>
                                    </p:anim>
                                    <p:anim calcmode="lin" valueType="num">
                                      <p:cBhvr>
                                        <p:cTn id="93" dur="1000" fill="hold"/>
                                        <p:tgtEl>
                                          <p:spTgt spid="4608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46083">
                                            <p:txEl>
                                              <p:pRg st="13" end="13"/>
                                            </p:txEl>
                                          </p:spTgt>
                                        </p:tgtEl>
                                        <p:attrNameLst>
                                          <p:attrName>style.visibility</p:attrName>
                                        </p:attrNameLst>
                                      </p:cBhvr>
                                      <p:to>
                                        <p:strVal val="visible"/>
                                      </p:to>
                                    </p:set>
                                    <p:animEffect transition="in" filter="fade">
                                      <p:cBhvr>
                                        <p:cTn id="98" dur="1000"/>
                                        <p:tgtEl>
                                          <p:spTgt spid="46083">
                                            <p:txEl>
                                              <p:pRg st="13" end="13"/>
                                            </p:txEl>
                                          </p:spTgt>
                                        </p:tgtEl>
                                      </p:cBhvr>
                                    </p:animEffect>
                                    <p:anim calcmode="lin" valueType="num">
                                      <p:cBhvr>
                                        <p:cTn id="99" dur="1000" fill="hold"/>
                                        <p:tgtEl>
                                          <p:spTgt spid="46083">
                                            <p:txEl>
                                              <p:pRg st="13" end="13"/>
                                            </p:txEl>
                                          </p:spTgt>
                                        </p:tgtEl>
                                        <p:attrNameLst>
                                          <p:attrName>ppt_x</p:attrName>
                                        </p:attrNameLst>
                                      </p:cBhvr>
                                      <p:tavLst>
                                        <p:tav tm="0">
                                          <p:val>
                                            <p:strVal val="#ppt_x"/>
                                          </p:val>
                                        </p:tav>
                                        <p:tav tm="100000">
                                          <p:val>
                                            <p:strVal val="#ppt_x"/>
                                          </p:val>
                                        </p:tav>
                                      </p:tavLst>
                                    </p:anim>
                                    <p:anim calcmode="lin" valueType="num">
                                      <p:cBhvr>
                                        <p:cTn id="100" dur="1000" fill="hold"/>
                                        <p:tgtEl>
                                          <p:spTgt spid="46083">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46083">
                                            <p:txEl>
                                              <p:pRg st="14" end="14"/>
                                            </p:txEl>
                                          </p:spTgt>
                                        </p:tgtEl>
                                        <p:attrNameLst>
                                          <p:attrName>style.visibility</p:attrName>
                                        </p:attrNameLst>
                                      </p:cBhvr>
                                      <p:to>
                                        <p:strVal val="visible"/>
                                      </p:to>
                                    </p:set>
                                    <p:animEffect transition="in" filter="fade">
                                      <p:cBhvr>
                                        <p:cTn id="105" dur="1000"/>
                                        <p:tgtEl>
                                          <p:spTgt spid="46083">
                                            <p:txEl>
                                              <p:pRg st="14" end="14"/>
                                            </p:txEl>
                                          </p:spTgt>
                                        </p:tgtEl>
                                      </p:cBhvr>
                                    </p:animEffect>
                                    <p:anim calcmode="lin" valueType="num">
                                      <p:cBhvr>
                                        <p:cTn id="106" dur="1000" fill="hold"/>
                                        <p:tgtEl>
                                          <p:spTgt spid="46083">
                                            <p:txEl>
                                              <p:pRg st="14" end="14"/>
                                            </p:txEl>
                                          </p:spTgt>
                                        </p:tgtEl>
                                        <p:attrNameLst>
                                          <p:attrName>ppt_x</p:attrName>
                                        </p:attrNameLst>
                                      </p:cBhvr>
                                      <p:tavLst>
                                        <p:tav tm="0">
                                          <p:val>
                                            <p:strVal val="#ppt_x"/>
                                          </p:val>
                                        </p:tav>
                                        <p:tav tm="100000">
                                          <p:val>
                                            <p:strVal val="#ppt_x"/>
                                          </p:val>
                                        </p:tav>
                                      </p:tavLst>
                                    </p:anim>
                                    <p:anim calcmode="lin" valueType="num">
                                      <p:cBhvr>
                                        <p:cTn id="107" dur="1000" fill="hold"/>
                                        <p:tgtEl>
                                          <p:spTgt spid="46083">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457200" y="95250"/>
            <a:ext cx="8229600" cy="609600"/>
          </a:xfrm>
        </p:spPr>
        <p:txBody>
          <a:bodyPr/>
          <a:lstStyle/>
          <a:p>
            <a:pPr algn="ctr"/>
            <a:r>
              <a:rPr lang="ru-RU" sz="3200" dirty="0">
                <a:solidFill>
                  <a:schemeClr val="bg2"/>
                </a:solidFill>
              </a:rPr>
              <a:t>Особенности СППР</a:t>
            </a:r>
          </a:p>
        </p:txBody>
      </p:sp>
      <p:sp>
        <p:nvSpPr>
          <p:cNvPr id="46083" name="Rectangle 3"/>
          <p:cNvSpPr>
            <a:spLocks noGrp="1" noChangeArrowheads="1"/>
          </p:cNvSpPr>
          <p:nvPr>
            <p:ph type="body" idx="1"/>
          </p:nvPr>
        </p:nvSpPr>
        <p:spPr>
          <a:xfrm>
            <a:off x="381000" y="683695"/>
            <a:ext cx="8763000" cy="6019800"/>
          </a:xfrm>
        </p:spPr>
        <p:txBody>
          <a:bodyPr>
            <a:noAutofit/>
          </a:bodyPr>
          <a:lstStyle/>
          <a:p>
            <a:pPr>
              <a:lnSpc>
                <a:spcPct val="120000"/>
              </a:lnSpc>
            </a:pPr>
            <a:r>
              <a:rPr lang="ru-RU" sz="2000" kern="1200" dirty="0">
                <a:latin typeface="Arial" charset="0"/>
                <a:cs typeface="Arial" charset="0"/>
              </a:rPr>
              <a:t>Интеллектуальные средства анализа данных используют четыре основных метода: </a:t>
            </a:r>
            <a:r>
              <a:rPr lang="ru-RU" sz="2000" b="1" kern="1200" dirty="0">
                <a:latin typeface="Arial" charset="0"/>
                <a:cs typeface="Arial" charset="0"/>
              </a:rPr>
              <a:t>нейронные сети, деревья решений, индукцию правил и визуализацию данных</a:t>
            </a:r>
            <a:r>
              <a:rPr lang="ru-RU" sz="2000" kern="1200" dirty="0">
                <a:latin typeface="Arial" charset="0"/>
                <a:cs typeface="Arial" charset="0"/>
              </a:rPr>
              <a:t>. Иногда применяется их комбинация. </a:t>
            </a:r>
            <a:endParaRPr lang="ru-RU" sz="2000" dirty="0"/>
          </a:p>
          <a:p>
            <a:pPr>
              <a:lnSpc>
                <a:spcPct val="120000"/>
              </a:lnSpc>
            </a:pPr>
            <a:r>
              <a:rPr lang="ru-RU" sz="2000" dirty="0"/>
              <a:t>Запросы </a:t>
            </a:r>
          </a:p>
          <a:p>
            <a:pPr lvl="1">
              <a:lnSpc>
                <a:spcPct val="120000"/>
              </a:lnSpc>
              <a:buClr>
                <a:schemeClr val="bg2"/>
              </a:buClr>
              <a:buFont typeface="Wingdings" pitchFamily="2" charset="2"/>
              <a:buChar char="v"/>
            </a:pPr>
            <a:r>
              <a:rPr lang="ru-RU" sz="2000" dirty="0"/>
              <a:t>В </a:t>
            </a:r>
            <a:r>
              <a:rPr lang="en-US" sz="2000" dirty="0"/>
              <a:t>OLTP </a:t>
            </a:r>
            <a:r>
              <a:rPr lang="ru-RU" sz="2000" dirty="0"/>
              <a:t>«Получить сведения о счете клиента банка»</a:t>
            </a:r>
          </a:p>
          <a:p>
            <a:pPr lvl="1">
              <a:lnSpc>
                <a:spcPct val="120000"/>
              </a:lnSpc>
              <a:buClr>
                <a:schemeClr val="bg2"/>
              </a:buClr>
              <a:buFont typeface="Wingdings" pitchFamily="2" charset="2"/>
              <a:buChar char="v"/>
            </a:pPr>
            <a:r>
              <a:rPr lang="ru-RU" sz="2000" dirty="0"/>
              <a:t>В </a:t>
            </a:r>
            <a:r>
              <a:rPr lang="en-US" sz="2000" dirty="0"/>
              <a:t>OLAP </a:t>
            </a:r>
            <a:r>
              <a:rPr lang="ru-RU" sz="2000" dirty="0"/>
              <a:t>« Найти среднее значение промежутка времени между выставлением счета и оплатой его клиентом в текущем и прошедшем году для разных групп клиентов» </a:t>
            </a:r>
          </a:p>
          <a:p>
            <a:pPr>
              <a:lnSpc>
                <a:spcPct val="120000"/>
              </a:lnSpc>
            </a:pPr>
            <a:r>
              <a:rPr lang="ru-RU" sz="2000" dirty="0"/>
              <a:t>Трудно или невозможно сформировать запрос  в СППР на </a:t>
            </a:r>
            <a:r>
              <a:rPr lang="en-US" sz="2000" dirty="0"/>
              <a:t>SQL</a:t>
            </a:r>
          </a:p>
          <a:p>
            <a:pPr>
              <a:lnSpc>
                <a:spcPct val="120000"/>
              </a:lnSpc>
            </a:pPr>
            <a:r>
              <a:rPr lang="ru-RU" sz="2000" dirty="0"/>
              <a:t>Организация данных в СППР</a:t>
            </a:r>
          </a:p>
          <a:p>
            <a:pPr lvl="1">
              <a:lnSpc>
                <a:spcPct val="120000"/>
              </a:lnSpc>
              <a:buClr>
                <a:schemeClr val="bg2"/>
              </a:buClr>
              <a:buFont typeface="Wingdings" pitchFamily="2" charset="2"/>
              <a:buChar char="v"/>
            </a:pPr>
            <a:r>
              <a:rPr lang="ru-RU" sz="2000" dirty="0"/>
              <a:t>Данные практически не обновляются (</a:t>
            </a:r>
            <a:r>
              <a:rPr lang="en-US" sz="2000" dirty="0"/>
              <a:t>update - </a:t>
            </a:r>
            <a:r>
              <a:rPr lang="en-US" sz="2000" dirty="0">
                <a:solidFill>
                  <a:schemeClr val="bg2">
                    <a:lumMod val="60000"/>
                    <a:lumOff val="40000"/>
                  </a:schemeClr>
                </a:solidFill>
              </a:rPr>
              <a:t>insert</a:t>
            </a:r>
            <a:r>
              <a:rPr lang="en-US" sz="2000" dirty="0"/>
              <a:t>)</a:t>
            </a:r>
            <a:endParaRPr lang="ru-RU" sz="2000" dirty="0"/>
          </a:p>
          <a:p>
            <a:pPr lvl="1">
              <a:lnSpc>
                <a:spcPct val="120000"/>
              </a:lnSpc>
              <a:buClr>
                <a:schemeClr val="bg2"/>
              </a:buClr>
              <a:buFont typeface="Wingdings" pitchFamily="2" charset="2"/>
              <a:buChar char="v"/>
            </a:pPr>
            <a:r>
              <a:rPr lang="ru-RU" sz="2000" dirty="0"/>
              <a:t>Выполнение запросов требует хронологической упорядоченности данных</a:t>
            </a:r>
          </a:p>
          <a:p>
            <a:pPr lvl="1">
              <a:lnSpc>
                <a:spcPct val="120000"/>
              </a:lnSpc>
              <a:buClr>
                <a:schemeClr val="bg2"/>
              </a:buClr>
              <a:buFont typeface="Wingdings" pitchFamily="2" charset="2"/>
              <a:buChar char="v"/>
            </a:pPr>
            <a:r>
              <a:rPr lang="ru-RU" sz="2000" dirty="0"/>
              <a:t>Данные для анализа НЕ детальные, а агрегированные</a:t>
            </a:r>
          </a:p>
        </p:txBody>
      </p:sp>
      <p:sp>
        <p:nvSpPr>
          <p:cNvPr id="6" name="Номер слайда 5"/>
          <p:cNvSpPr>
            <a:spLocks noGrp="1"/>
          </p:cNvSpPr>
          <p:nvPr>
            <p:ph type="sldNum" sz="quarter" idx="11"/>
          </p:nvPr>
        </p:nvSpPr>
        <p:spPr/>
        <p:txBody>
          <a:bodyPr/>
          <a:lstStyle/>
          <a:p>
            <a:fld id="{4DC7491D-CDB9-48BE-BADB-11210BC61B1D}" type="slidenum">
              <a:rPr lang="ru-RU" smtClean="0"/>
              <a:pPr/>
              <a:t>8</a:t>
            </a:fld>
            <a:endParaRPr lang="ru-RU"/>
          </a:p>
        </p:txBody>
      </p:sp>
    </p:spTree>
    <p:extLst>
      <p:ext uri="{BB962C8B-B14F-4D97-AF65-F5344CB8AC3E}">
        <p14:creationId xmlns:p14="http://schemas.microsoft.com/office/powerpoint/2010/main" val="2421951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fade">
                                      <p:cBhvr>
                                        <p:cTn id="7" dur="1000"/>
                                        <p:tgtEl>
                                          <p:spTgt spid="46083">
                                            <p:txEl>
                                              <p:pRg st="0" end="0"/>
                                            </p:txEl>
                                          </p:spTgt>
                                        </p:tgtEl>
                                      </p:cBhvr>
                                    </p:animEffect>
                                    <p:anim calcmode="lin" valueType="num">
                                      <p:cBhvr>
                                        <p:cTn id="8" dur="1000" fill="hold"/>
                                        <p:tgtEl>
                                          <p:spTgt spid="4608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608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6083">
                                            <p:txEl>
                                              <p:pRg st="1" end="1"/>
                                            </p:txEl>
                                          </p:spTgt>
                                        </p:tgtEl>
                                        <p:attrNameLst>
                                          <p:attrName>style.visibility</p:attrName>
                                        </p:attrNameLst>
                                      </p:cBhvr>
                                      <p:to>
                                        <p:strVal val="visible"/>
                                      </p:to>
                                    </p:set>
                                    <p:animEffect transition="in" filter="fade">
                                      <p:cBhvr>
                                        <p:cTn id="14" dur="1000"/>
                                        <p:tgtEl>
                                          <p:spTgt spid="46083">
                                            <p:txEl>
                                              <p:pRg st="1" end="1"/>
                                            </p:txEl>
                                          </p:spTgt>
                                        </p:tgtEl>
                                      </p:cBhvr>
                                    </p:animEffect>
                                    <p:anim calcmode="lin" valueType="num">
                                      <p:cBhvr>
                                        <p:cTn id="15" dur="1000" fill="hold"/>
                                        <p:tgtEl>
                                          <p:spTgt spid="4608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608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6083">
                                            <p:txEl>
                                              <p:pRg st="2" end="2"/>
                                            </p:txEl>
                                          </p:spTgt>
                                        </p:tgtEl>
                                        <p:attrNameLst>
                                          <p:attrName>style.visibility</p:attrName>
                                        </p:attrNameLst>
                                      </p:cBhvr>
                                      <p:to>
                                        <p:strVal val="visible"/>
                                      </p:to>
                                    </p:set>
                                    <p:animEffect transition="in" filter="fade">
                                      <p:cBhvr>
                                        <p:cTn id="21" dur="1000"/>
                                        <p:tgtEl>
                                          <p:spTgt spid="46083">
                                            <p:txEl>
                                              <p:pRg st="2" end="2"/>
                                            </p:txEl>
                                          </p:spTgt>
                                        </p:tgtEl>
                                      </p:cBhvr>
                                    </p:animEffect>
                                    <p:anim calcmode="lin" valueType="num">
                                      <p:cBhvr>
                                        <p:cTn id="22" dur="1000" fill="hold"/>
                                        <p:tgtEl>
                                          <p:spTgt spid="4608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608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6083">
                                            <p:txEl>
                                              <p:pRg st="3" end="3"/>
                                            </p:txEl>
                                          </p:spTgt>
                                        </p:tgtEl>
                                        <p:attrNameLst>
                                          <p:attrName>style.visibility</p:attrName>
                                        </p:attrNameLst>
                                      </p:cBhvr>
                                      <p:to>
                                        <p:strVal val="visible"/>
                                      </p:to>
                                    </p:set>
                                    <p:animEffect transition="in" filter="fade">
                                      <p:cBhvr>
                                        <p:cTn id="28" dur="1000"/>
                                        <p:tgtEl>
                                          <p:spTgt spid="46083">
                                            <p:txEl>
                                              <p:pRg st="3" end="3"/>
                                            </p:txEl>
                                          </p:spTgt>
                                        </p:tgtEl>
                                      </p:cBhvr>
                                    </p:animEffect>
                                    <p:anim calcmode="lin" valueType="num">
                                      <p:cBhvr>
                                        <p:cTn id="29" dur="1000" fill="hold"/>
                                        <p:tgtEl>
                                          <p:spTgt spid="4608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608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6083">
                                            <p:txEl>
                                              <p:pRg st="4" end="4"/>
                                            </p:txEl>
                                          </p:spTgt>
                                        </p:tgtEl>
                                        <p:attrNameLst>
                                          <p:attrName>style.visibility</p:attrName>
                                        </p:attrNameLst>
                                      </p:cBhvr>
                                      <p:to>
                                        <p:strVal val="visible"/>
                                      </p:to>
                                    </p:set>
                                    <p:animEffect transition="in" filter="fade">
                                      <p:cBhvr>
                                        <p:cTn id="35" dur="1000"/>
                                        <p:tgtEl>
                                          <p:spTgt spid="46083">
                                            <p:txEl>
                                              <p:pRg st="4" end="4"/>
                                            </p:txEl>
                                          </p:spTgt>
                                        </p:tgtEl>
                                      </p:cBhvr>
                                    </p:animEffect>
                                    <p:anim calcmode="lin" valueType="num">
                                      <p:cBhvr>
                                        <p:cTn id="36" dur="1000" fill="hold"/>
                                        <p:tgtEl>
                                          <p:spTgt spid="4608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608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6083">
                                            <p:txEl>
                                              <p:pRg st="5" end="5"/>
                                            </p:txEl>
                                          </p:spTgt>
                                        </p:tgtEl>
                                        <p:attrNameLst>
                                          <p:attrName>style.visibility</p:attrName>
                                        </p:attrNameLst>
                                      </p:cBhvr>
                                      <p:to>
                                        <p:strVal val="visible"/>
                                      </p:to>
                                    </p:set>
                                    <p:animEffect transition="in" filter="fade">
                                      <p:cBhvr>
                                        <p:cTn id="42" dur="1000"/>
                                        <p:tgtEl>
                                          <p:spTgt spid="46083">
                                            <p:txEl>
                                              <p:pRg st="5" end="5"/>
                                            </p:txEl>
                                          </p:spTgt>
                                        </p:tgtEl>
                                      </p:cBhvr>
                                    </p:animEffect>
                                    <p:anim calcmode="lin" valueType="num">
                                      <p:cBhvr>
                                        <p:cTn id="43" dur="1000" fill="hold"/>
                                        <p:tgtEl>
                                          <p:spTgt spid="4608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4608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46083">
                                            <p:txEl>
                                              <p:pRg st="6" end="6"/>
                                            </p:txEl>
                                          </p:spTgt>
                                        </p:tgtEl>
                                        <p:attrNameLst>
                                          <p:attrName>style.visibility</p:attrName>
                                        </p:attrNameLst>
                                      </p:cBhvr>
                                      <p:to>
                                        <p:strVal val="visible"/>
                                      </p:to>
                                    </p:set>
                                    <p:animEffect transition="in" filter="fade">
                                      <p:cBhvr>
                                        <p:cTn id="49" dur="1000"/>
                                        <p:tgtEl>
                                          <p:spTgt spid="46083">
                                            <p:txEl>
                                              <p:pRg st="6" end="6"/>
                                            </p:txEl>
                                          </p:spTgt>
                                        </p:tgtEl>
                                      </p:cBhvr>
                                    </p:animEffect>
                                    <p:anim calcmode="lin" valueType="num">
                                      <p:cBhvr>
                                        <p:cTn id="50" dur="1000" fill="hold"/>
                                        <p:tgtEl>
                                          <p:spTgt spid="4608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4608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46083">
                                            <p:txEl>
                                              <p:pRg st="7" end="7"/>
                                            </p:txEl>
                                          </p:spTgt>
                                        </p:tgtEl>
                                        <p:attrNameLst>
                                          <p:attrName>style.visibility</p:attrName>
                                        </p:attrNameLst>
                                      </p:cBhvr>
                                      <p:to>
                                        <p:strVal val="visible"/>
                                      </p:to>
                                    </p:set>
                                    <p:animEffect transition="in" filter="fade">
                                      <p:cBhvr>
                                        <p:cTn id="56" dur="1000"/>
                                        <p:tgtEl>
                                          <p:spTgt spid="46083">
                                            <p:txEl>
                                              <p:pRg st="7" end="7"/>
                                            </p:txEl>
                                          </p:spTgt>
                                        </p:tgtEl>
                                      </p:cBhvr>
                                    </p:animEffect>
                                    <p:anim calcmode="lin" valueType="num">
                                      <p:cBhvr>
                                        <p:cTn id="57" dur="1000" fill="hold"/>
                                        <p:tgtEl>
                                          <p:spTgt spid="4608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4608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46083">
                                            <p:txEl>
                                              <p:pRg st="8" end="8"/>
                                            </p:txEl>
                                          </p:spTgt>
                                        </p:tgtEl>
                                        <p:attrNameLst>
                                          <p:attrName>style.visibility</p:attrName>
                                        </p:attrNameLst>
                                      </p:cBhvr>
                                      <p:to>
                                        <p:strVal val="visible"/>
                                      </p:to>
                                    </p:set>
                                    <p:animEffect transition="in" filter="fade">
                                      <p:cBhvr>
                                        <p:cTn id="63" dur="1000"/>
                                        <p:tgtEl>
                                          <p:spTgt spid="46083">
                                            <p:txEl>
                                              <p:pRg st="8" end="8"/>
                                            </p:txEl>
                                          </p:spTgt>
                                        </p:tgtEl>
                                      </p:cBhvr>
                                    </p:animEffect>
                                    <p:anim calcmode="lin" valueType="num">
                                      <p:cBhvr>
                                        <p:cTn id="64" dur="1000" fill="hold"/>
                                        <p:tgtEl>
                                          <p:spTgt spid="4608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4608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527050" y="0"/>
            <a:ext cx="8312150" cy="673099"/>
          </a:xfrm>
        </p:spPr>
        <p:txBody>
          <a:bodyPr/>
          <a:lstStyle/>
          <a:p>
            <a:pPr algn="ctr"/>
            <a:r>
              <a:rPr lang="ru-RU" sz="3600" dirty="0" err="1">
                <a:solidFill>
                  <a:srgbClr val="C00000"/>
                </a:solidFill>
              </a:rPr>
              <a:t>OnLine</a:t>
            </a:r>
            <a:r>
              <a:rPr lang="ru-RU" sz="3600" dirty="0">
                <a:solidFill>
                  <a:srgbClr val="C00000"/>
                </a:solidFill>
              </a:rPr>
              <a:t> </a:t>
            </a:r>
            <a:r>
              <a:rPr lang="ru-RU" sz="3600" dirty="0" err="1">
                <a:solidFill>
                  <a:srgbClr val="C00000"/>
                </a:solidFill>
              </a:rPr>
              <a:t>Analytical</a:t>
            </a:r>
            <a:r>
              <a:rPr lang="ru-RU" sz="3600" dirty="0">
                <a:solidFill>
                  <a:srgbClr val="C00000"/>
                </a:solidFill>
              </a:rPr>
              <a:t> </a:t>
            </a:r>
            <a:r>
              <a:rPr lang="ru-RU" sz="3600" dirty="0" err="1">
                <a:solidFill>
                  <a:srgbClr val="C00000"/>
                </a:solidFill>
              </a:rPr>
              <a:t>Processing</a:t>
            </a:r>
            <a:r>
              <a:rPr lang="ru-RU" sz="3600" dirty="0">
                <a:solidFill>
                  <a:srgbClr val="C00000"/>
                </a:solidFill>
              </a:rPr>
              <a:t> </a:t>
            </a:r>
            <a:r>
              <a:rPr lang="en-US" sz="3600" dirty="0">
                <a:solidFill>
                  <a:schemeClr val="bg2"/>
                </a:solidFill>
              </a:rPr>
              <a:t>- OLAP</a:t>
            </a:r>
            <a:endParaRPr lang="ru-RU" sz="3600" dirty="0">
              <a:solidFill>
                <a:schemeClr val="bg2"/>
              </a:solidFill>
            </a:endParaRPr>
          </a:p>
        </p:txBody>
      </p:sp>
      <p:sp>
        <p:nvSpPr>
          <p:cNvPr id="23555" name="Rectangle 3"/>
          <p:cNvSpPr>
            <a:spLocks noGrp="1" noChangeArrowheads="1"/>
          </p:cNvSpPr>
          <p:nvPr>
            <p:ph type="body" idx="1"/>
          </p:nvPr>
        </p:nvSpPr>
        <p:spPr>
          <a:xfrm>
            <a:off x="133350" y="717550"/>
            <a:ext cx="8839200" cy="5962650"/>
          </a:xfrm>
        </p:spPr>
        <p:txBody>
          <a:bodyPr lIns="72000" rIns="72000">
            <a:normAutofit fontScale="92500" lnSpcReduction="10000"/>
          </a:bodyPr>
          <a:lstStyle/>
          <a:p>
            <a:pPr>
              <a:lnSpc>
                <a:spcPct val="120000"/>
              </a:lnSpc>
              <a:buNone/>
            </a:pPr>
            <a:r>
              <a:rPr lang="ru-RU" sz="2400" dirty="0"/>
              <a:t>Термин OLAP введён в 1993 г. Э. Коддом</a:t>
            </a:r>
            <a:endParaRPr lang="ru-RU" sz="2400" b="1" dirty="0"/>
          </a:p>
          <a:p>
            <a:pPr algn="ctr">
              <a:lnSpc>
                <a:spcPct val="120000"/>
              </a:lnSpc>
              <a:buNone/>
            </a:pPr>
            <a:r>
              <a:rPr lang="ru-RU" sz="2000" b="1" dirty="0"/>
              <a:t>12 правил</a:t>
            </a:r>
          </a:p>
          <a:p>
            <a:pPr marL="914400" lvl="1" indent="-457200">
              <a:lnSpc>
                <a:spcPct val="120000"/>
              </a:lnSpc>
              <a:buClr>
                <a:srgbClr val="C00000"/>
              </a:buClr>
              <a:buFont typeface="+mj-lt"/>
              <a:buAutoNum type="arabicPeriod"/>
            </a:pPr>
            <a:r>
              <a:rPr lang="ru-RU" sz="2000" b="1" dirty="0">
                <a:solidFill>
                  <a:schemeClr val="bg2"/>
                </a:solidFill>
                <a:cs typeface="Times New Roman" pitchFamily="18" charset="0"/>
              </a:rPr>
              <a:t>Концептуальное многомерное представление </a:t>
            </a:r>
          </a:p>
          <a:p>
            <a:pPr marL="914400" lvl="1" indent="-457200">
              <a:lnSpc>
                <a:spcPct val="120000"/>
              </a:lnSpc>
              <a:buClr>
                <a:srgbClr val="C00000"/>
              </a:buClr>
              <a:buFont typeface="+mj-lt"/>
              <a:buAutoNum type="arabicPeriod"/>
            </a:pPr>
            <a:r>
              <a:rPr lang="ru-RU" sz="2000" b="1" dirty="0">
                <a:solidFill>
                  <a:schemeClr val="bg2"/>
                </a:solidFill>
                <a:cs typeface="Times New Roman" pitchFamily="18" charset="0"/>
              </a:rPr>
              <a:t>Прозрачность</a:t>
            </a:r>
            <a:r>
              <a:rPr lang="ru-RU" sz="2000" dirty="0">
                <a:solidFill>
                  <a:schemeClr val="bg2"/>
                </a:solidFill>
                <a:cs typeface="Times New Roman" pitchFamily="18" charset="0"/>
              </a:rPr>
              <a:t> (</a:t>
            </a:r>
            <a:r>
              <a:rPr lang="ru-RU" sz="2000" kern="1200" dirty="0">
                <a:cs typeface="Arial" charset="0"/>
              </a:rPr>
              <a:t>Пользователь способен получить все необходимые данные из OLAP-машины, даже не подозревая, откуда они берутся</a:t>
            </a:r>
            <a:r>
              <a:rPr lang="ru-RU" sz="2000" dirty="0">
                <a:solidFill>
                  <a:schemeClr val="bg2"/>
                </a:solidFill>
                <a:cs typeface="Times New Roman" pitchFamily="18" charset="0"/>
              </a:rPr>
              <a:t>)</a:t>
            </a:r>
          </a:p>
          <a:p>
            <a:pPr marL="914400" lvl="1" indent="-457200">
              <a:lnSpc>
                <a:spcPct val="120000"/>
              </a:lnSpc>
              <a:buClr>
                <a:srgbClr val="C00000"/>
              </a:buClr>
              <a:buFont typeface="+mj-lt"/>
              <a:buAutoNum type="arabicPeriod"/>
            </a:pPr>
            <a:r>
              <a:rPr lang="ru-RU" sz="2000" b="1" dirty="0">
                <a:solidFill>
                  <a:schemeClr val="bg2"/>
                </a:solidFill>
                <a:cs typeface="Times New Roman" pitchFamily="18" charset="0"/>
              </a:rPr>
              <a:t>Доступность</a:t>
            </a:r>
            <a:r>
              <a:rPr lang="ru-RU" sz="2000" dirty="0">
                <a:solidFill>
                  <a:schemeClr val="bg2"/>
                </a:solidFill>
                <a:cs typeface="Times New Roman" pitchFamily="18" charset="0"/>
              </a:rPr>
              <a:t> (</a:t>
            </a:r>
            <a:r>
              <a:rPr lang="ru-RU" sz="2000" kern="1200" dirty="0">
                <a:cs typeface="Arial" charset="0"/>
              </a:rPr>
              <a:t>предоставляет свою собственную логическую схему для доступа в гетерогенной среде БД</a:t>
            </a:r>
            <a:r>
              <a:rPr lang="ru-RU" sz="2000" dirty="0">
                <a:solidFill>
                  <a:schemeClr val="bg2"/>
                </a:solidFill>
                <a:cs typeface="Times New Roman" pitchFamily="18" charset="0"/>
              </a:rPr>
              <a:t>)</a:t>
            </a:r>
          </a:p>
          <a:p>
            <a:pPr marL="914400" lvl="1" indent="-457200">
              <a:lnSpc>
                <a:spcPct val="120000"/>
              </a:lnSpc>
              <a:buClr>
                <a:srgbClr val="C00000"/>
              </a:buClr>
              <a:buFont typeface="+mj-lt"/>
              <a:buAutoNum type="arabicPeriod"/>
            </a:pPr>
            <a:r>
              <a:rPr lang="ru-RU" sz="2000" b="1" dirty="0">
                <a:solidFill>
                  <a:schemeClr val="bg2"/>
                </a:solidFill>
                <a:cs typeface="Times New Roman" pitchFamily="18" charset="0"/>
              </a:rPr>
              <a:t>Постоянная производительность при разработке отчетов</a:t>
            </a:r>
          </a:p>
          <a:p>
            <a:pPr marL="914400" lvl="1" indent="-457200">
              <a:lnSpc>
                <a:spcPct val="120000"/>
              </a:lnSpc>
              <a:buClr>
                <a:srgbClr val="C00000"/>
              </a:buClr>
              <a:buFont typeface="+mj-lt"/>
              <a:buAutoNum type="arabicPeriod"/>
            </a:pPr>
            <a:r>
              <a:rPr lang="ru-RU" sz="2000" b="1" kern="1200" dirty="0">
                <a:solidFill>
                  <a:schemeClr val="bg2"/>
                </a:solidFill>
                <a:cs typeface="Arial" charset="0"/>
              </a:rPr>
              <a:t>Клиент-серверная архитектура </a:t>
            </a:r>
            <a:r>
              <a:rPr lang="ru-RU" sz="2000" kern="1200" dirty="0">
                <a:solidFill>
                  <a:schemeClr val="bg2"/>
                </a:solidFill>
                <a:cs typeface="Arial" charset="0"/>
              </a:rPr>
              <a:t>(</a:t>
            </a:r>
            <a:r>
              <a:rPr lang="ru-RU" sz="2000" kern="1200" dirty="0">
                <a:cs typeface="Arial" charset="0"/>
              </a:rPr>
              <a:t>сервер достаточно интеллектуальный, чтобы подключение других компонентов требовало минимум усилий </a:t>
            </a:r>
            <a:r>
              <a:rPr lang="ru-RU" sz="2000" kern="1200" dirty="0">
                <a:solidFill>
                  <a:schemeClr val="bg2"/>
                </a:solidFill>
                <a:cs typeface="Arial" charset="0"/>
              </a:rPr>
              <a:t>)</a:t>
            </a:r>
          </a:p>
          <a:p>
            <a:pPr marL="914400" lvl="1" indent="-457200">
              <a:lnSpc>
                <a:spcPct val="120000"/>
              </a:lnSpc>
              <a:buClr>
                <a:srgbClr val="C00000"/>
              </a:buClr>
              <a:buFont typeface="+mj-lt"/>
              <a:buAutoNum type="arabicPeriod"/>
            </a:pPr>
            <a:r>
              <a:rPr lang="ru-RU" sz="2000" b="1" kern="1200" dirty="0">
                <a:solidFill>
                  <a:schemeClr val="bg2"/>
                </a:solidFill>
                <a:cs typeface="Arial" charset="0"/>
              </a:rPr>
              <a:t>Общая многомерность </a:t>
            </a:r>
            <a:r>
              <a:rPr lang="ru-RU" sz="2000" kern="1200" dirty="0">
                <a:cs typeface="Arial" charset="0"/>
              </a:rPr>
              <a:t>(Все измерения должны быть равноправны). Измерение в OLAP-системах — это множество объектов (членов измерения или значений измерения) одного или нескольких типов, организованных в виде иерархической структуры и обеспечивающих информационный контекст типизированного показателя (время, средняя зарплата, прожиточный минимум и т.д.)</a:t>
            </a:r>
          </a:p>
        </p:txBody>
      </p:sp>
      <p:sp>
        <p:nvSpPr>
          <p:cNvPr id="6" name="Номер слайда 5"/>
          <p:cNvSpPr>
            <a:spLocks noGrp="1"/>
          </p:cNvSpPr>
          <p:nvPr>
            <p:ph type="sldNum" sz="quarter" idx="11"/>
          </p:nvPr>
        </p:nvSpPr>
        <p:spPr>
          <a:xfrm>
            <a:off x="8235950" y="6470650"/>
            <a:ext cx="603250" cy="336550"/>
          </a:xfrm>
        </p:spPr>
        <p:txBody>
          <a:bodyPr/>
          <a:lstStyle/>
          <a:p>
            <a:fld id="{4DC7491D-CDB9-48BE-BADB-11210BC61B1D}" type="slidenum">
              <a:rPr lang="ru-RU" smtClean="0"/>
              <a:pPr/>
              <a:t>9</a:t>
            </a:fld>
            <a:endParaRPr lang="ru-R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wipe(up)">
                                      <p:cBhvr>
                                        <p:cTn id="7" dur="500"/>
                                        <p:tgtEl>
                                          <p:spTgt spid="235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3555">
                                            <p:txEl>
                                              <p:pRg st="1" end="1"/>
                                            </p:txEl>
                                          </p:spTgt>
                                        </p:tgtEl>
                                        <p:attrNameLst>
                                          <p:attrName>style.visibility</p:attrName>
                                        </p:attrNameLst>
                                      </p:cBhvr>
                                      <p:to>
                                        <p:strVal val="visible"/>
                                      </p:to>
                                    </p:set>
                                    <p:animEffect transition="in" filter="wipe(up)">
                                      <p:cBhvr>
                                        <p:cTn id="12" dur="500"/>
                                        <p:tgtEl>
                                          <p:spTgt spid="23555">
                                            <p:txEl>
                                              <p:pRg st="1" end="1"/>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23555">
                                            <p:txEl>
                                              <p:pRg st="2" end="2"/>
                                            </p:txEl>
                                          </p:spTgt>
                                        </p:tgtEl>
                                        <p:attrNameLst>
                                          <p:attrName>style.visibility</p:attrName>
                                        </p:attrNameLst>
                                      </p:cBhvr>
                                      <p:to>
                                        <p:strVal val="visible"/>
                                      </p:to>
                                    </p:set>
                                    <p:animEffect transition="in" filter="wipe(up)">
                                      <p:cBhvr>
                                        <p:cTn id="15" dur="500"/>
                                        <p:tgtEl>
                                          <p:spTgt spid="23555">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23555">
                                            <p:txEl>
                                              <p:pRg st="3" end="3"/>
                                            </p:txEl>
                                          </p:spTgt>
                                        </p:tgtEl>
                                        <p:attrNameLst>
                                          <p:attrName>style.visibility</p:attrName>
                                        </p:attrNameLst>
                                      </p:cBhvr>
                                      <p:to>
                                        <p:strVal val="visible"/>
                                      </p:to>
                                    </p:set>
                                    <p:animEffect transition="in" filter="wipe(up)">
                                      <p:cBhvr>
                                        <p:cTn id="18" dur="500"/>
                                        <p:tgtEl>
                                          <p:spTgt spid="23555">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23555">
                                            <p:txEl>
                                              <p:pRg st="4" end="4"/>
                                            </p:txEl>
                                          </p:spTgt>
                                        </p:tgtEl>
                                        <p:attrNameLst>
                                          <p:attrName>style.visibility</p:attrName>
                                        </p:attrNameLst>
                                      </p:cBhvr>
                                      <p:to>
                                        <p:strVal val="visible"/>
                                      </p:to>
                                    </p:set>
                                    <p:animEffect transition="in" filter="wipe(up)">
                                      <p:cBhvr>
                                        <p:cTn id="21" dur="500"/>
                                        <p:tgtEl>
                                          <p:spTgt spid="23555">
                                            <p:txEl>
                                              <p:pRg st="4" end="4"/>
                                            </p:txEl>
                                          </p:spTgt>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23555">
                                            <p:txEl>
                                              <p:pRg st="5" end="5"/>
                                            </p:txEl>
                                          </p:spTgt>
                                        </p:tgtEl>
                                        <p:attrNameLst>
                                          <p:attrName>style.visibility</p:attrName>
                                        </p:attrNameLst>
                                      </p:cBhvr>
                                      <p:to>
                                        <p:strVal val="visible"/>
                                      </p:to>
                                    </p:set>
                                    <p:animEffect transition="in" filter="wipe(up)">
                                      <p:cBhvr>
                                        <p:cTn id="24" dur="500"/>
                                        <p:tgtEl>
                                          <p:spTgt spid="23555">
                                            <p:txEl>
                                              <p:pRg st="5" end="5"/>
                                            </p:txEl>
                                          </p:spTgt>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23555">
                                            <p:txEl>
                                              <p:pRg st="6" end="6"/>
                                            </p:txEl>
                                          </p:spTgt>
                                        </p:tgtEl>
                                        <p:attrNameLst>
                                          <p:attrName>style.visibility</p:attrName>
                                        </p:attrNameLst>
                                      </p:cBhvr>
                                      <p:to>
                                        <p:strVal val="visible"/>
                                      </p:to>
                                    </p:set>
                                    <p:animEffect transition="in" filter="wipe(up)">
                                      <p:cBhvr>
                                        <p:cTn id="27" dur="500"/>
                                        <p:tgtEl>
                                          <p:spTgt spid="23555">
                                            <p:txEl>
                                              <p:pRg st="6" end="6"/>
                                            </p:txEl>
                                          </p:spTgt>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23555">
                                            <p:txEl>
                                              <p:pRg st="7" end="7"/>
                                            </p:txEl>
                                          </p:spTgt>
                                        </p:tgtEl>
                                        <p:attrNameLst>
                                          <p:attrName>style.visibility</p:attrName>
                                        </p:attrNameLst>
                                      </p:cBhvr>
                                      <p:to>
                                        <p:strVal val="visible"/>
                                      </p:to>
                                    </p:set>
                                    <p:animEffect transition="in" filter="wipe(up)">
                                      <p:cBhvr>
                                        <p:cTn id="30" dur="500"/>
                                        <p:tgtEl>
                                          <p:spTgt spid="2355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527050" y="0"/>
            <a:ext cx="8312150" cy="673099"/>
          </a:xfrm>
        </p:spPr>
        <p:txBody>
          <a:bodyPr/>
          <a:lstStyle/>
          <a:p>
            <a:pPr algn="ctr"/>
            <a:r>
              <a:rPr lang="ru-RU" sz="3600" dirty="0" err="1">
                <a:solidFill>
                  <a:srgbClr val="C00000"/>
                </a:solidFill>
              </a:rPr>
              <a:t>OnLine</a:t>
            </a:r>
            <a:r>
              <a:rPr lang="ru-RU" sz="3600" dirty="0">
                <a:solidFill>
                  <a:srgbClr val="C00000"/>
                </a:solidFill>
              </a:rPr>
              <a:t> </a:t>
            </a:r>
            <a:r>
              <a:rPr lang="ru-RU" sz="3600" dirty="0" err="1">
                <a:solidFill>
                  <a:srgbClr val="C00000"/>
                </a:solidFill>
              </a:rPr>
              <a:t>Analytical</a:t>
            </a:r>
            <a:r>
              <a:rPr lang="ru-RU" sz="3600" dirty="0">
                <a:solidFill>
                  <a:srgbClr val="C00000"/>
                </a:solidFill>
              </a:rPr>
              <a:t> </a:t>
            </a:r>
            <a:r>
              <a:rPr lang="ru-RU" sz="3600" dirty="0" err="1">
                <a:solidFill>
                  <a:srgbClr val="C00000"/>
                </a:solidFill>
              </a:rPr>
              <a:t>Processing</a:t>
            </a:r>
            <a:r>
              <a:rPr lang="ru-RU" sz="3600" dirty="0">
                <a:solidFill>
                  <a:srgbClr val="C00000"/>
                </a:solidFill>
              </a:rPr>
              <a:t> </a:t>
            </a:r>
            <a:r>
              <a:rPr lang="en-US" sz="3600" dirty="0">
                <a:solidFill>
                  <a:schemeClr val="bg2"/>
                </a:solidFill>
              </a:rPr>
              <a:t>- OLAP</a:t>
            </a:r>
            <a:endParaRPr lang="ru-RU" sz="3600" dirty="0">
              <a:solidFill>
                <a:schemeClr val="bg2"/>
              </a:solidFill>
            </a:endParaRPr>
          </a:p>
        </p:txBody>
      </p:sp>
      <p:sp>
        <p:nvSpPr>
          <p:cNvPr id="23555" name="Rectangle 3"/>
          <p:cNvSpPr>
            <a:spLocks noGrp="1" noChangeArrowheads="1"/>
          </p:cNvSpPr>
          <p:nvPr>
            <p:ph type="body" idx="1"/>
          </p:nvPr>
        </p:nvSpPr>
        <p:spPr>
          <a:xfrm>
            <a:off x="133350" y="717550"/>
            <a:ext cx="8839200" cy="5962650"/>
          </a:xfrm>
        </p:spPr>
        <p:txBody>
          <a:bodyPr lIns="72000" rIns="72000">
            <a:normAutofit/>
          </a:bodyPr>
          <a:lstStyle/>
          <a:p>
            <a:pPr marL="914400" lvl="1" indent="-457200">
              <a:lnSpc>
                <a:spcPct val="120000"/>
              </a:lnSpc>
              <a:buClr>
                <a:srgbClr val="C00000"/>
              </a:buClr>
              <a:buFont typeface="+mj-lt"/>
              <a:buAutoNum type="arabicPeriod" startAt="7"/>
            </a:pPr>
            <a:r>
              <a:rPr lang="ru-RU" sz="1800" b="1" kern="1200" dirty="0">
                <a:solidFill>
                  <a:schemeClr val="bg2"/>
                </a:solidFill>
                <a:cs typeface="Arial" charset="0"/>
              </a:rPr>
              <a:t>Динамическое управление разреженными матрицами </a:t>
            </a:r>
            <a:r>
              <a:rPr lang="ru-RU" sz="1800" kern="1200" dirty="0">
                <a:solidFill>
                  <a:schemeClr val="bg2"/>
                </a:solidFill>
                <a:cs typeface="Arial" charset="0"/>
              </a:rPr>
              <a:t>(</a:t>
            </a:r>
            <a:r>
              <a:rPr lang="ru-RU" sz="1800" kern="1200" dirty="0">
                <a:latin typeface="Arial" charset="0"/>
                <a:cs typeface="Arial" charset="0"/>
              </a:rPr>
              <a:t>OLAP системы должны автоматически настраивать свою физическую схему</a:t>
            </a:r>
            <a:r>
              <a:rPr lang="ru-RU" sz="1800" kern="1200" dirty="0">
                <a:solidFill>
                  <a:schemeClr val="bg2"/>
                </a:solidFill>
                <a:cs typeface="Arial" charset="0"/>
              </a:rPr>
              <a:t>)</a:t>
            </a:r>
          </a:p>
          <a:p>
            <a:pPr marL="914400" lvl="1" indent="-457200">
              <a:lnSpc>
                <a:spcPct val="120000"/>
              </a:lnSpc>
              <a:buClr>
                <a:srgbClr val="C00000"/>
              </a:buClr>
              <a:buFont typeface="+mj-lt"/>
              <a:buAutoNum type="arabicPeriod" startAt="7"/>
            </a:pPr>
            <a:r>
              <a:rPr lang="ru-RU" sz="1800" b="1" kern="1200" dirty="0">
                <a:solidFill>
                  <a:schemeClr val="bg2"/>
                </a:solidFill>
                <a:cs typeface="Arial" charset="0"/>
              </a:rPr>
              <a:t>Многопользовательская поддержка</a:t>
            </a:r>
          </a:p>
          <a:p>
            <a:pPr marL="914400" lvl="1" indent="-457200">
              <a:lnSpc>
                <a:spcPct val="120000"/>
              </a:lnSpc>
              <a:buClr>
                <a:srgbClr val="C00000"/>
              </a:buClr>
              <a:buFont typeface="+mj-lt"/>
              <a:buAutoNum type="arabicPeriod" startAt="7"/>
            </a:pPr>
            <a:r>
              <a:rPr lang="ru-RU" sz="1800" b="1" kern="1200" dirty="0">
                <a:solidFill>
                  <a:schemeClr val="bg2"/>
                </a:solidFill>
                <a:cs typeface="Arial" charset="0"/>
              </a:rPr>
              <a:t>Неограниченные перекрестные операции </a:t>
            </a:r>
            <a:r>
              <a:rPr lang="ru-RU" sz="1800" kern="1200" dirty="0">
                <a:solidFill>
                  <a:schemeClr val="bg2"/>
                </a:solidFill>
                <a:cs typeface="Arial" charset="0"/>
              </a:rPr>
              <a:t>(</a:t>
            </a:r>
            <a:r>
              <a:rPr lang="ru-RU" sz="1800" kern="1200" dirty="0">
                <a:latin typeface="Arial" charset="0"/>
                <a:cs typeface="Arial" charset="0"/>
              </a:rPr>
              <a:t>Все виды операций должны быть дозволены для любых измерений</a:t>
            </a:r>
            <a:r>
              <a:rPr lang="ru-RU" sz="1800" kern="1200" dirty="0">
                <a:solidFill>
                  <a:schemeClr val="bg2"/>
                </a:solidFill>
                <a:cs typeface="Arial" charset="0"/>
              </a:rPr>
              <a:t>)</a:t>
            </a:r>
          </a:p>
          <a:p>
            <a:pPr marL="914400" lvl="1" indent="-457200">
              <a:lnSpc>
                <a:spcPct val="120000"/>
              </a:lnSpc>
              <a:buClr>
                <a:srgbClr val="C00000"/>
              </a:buClr>
              <a:buFont typeface="+mj-lt"/>
              <a:buAutoNum type="arabicPeriod" startAt="7"/>
            </a:pPr>
            <a:r>
              <a:rPr lang="ru-RU" sz="1800" b="1" kern="1200" dirty="0">
                <a:solidFill>
                  <a:schemeClr val="bg2"/>
                </a:solidFill>
                <a:cs typeface="Arial" charset="0"/>
              </a:rPr>
              <a:t>Интуитивная манипуляция данными </a:t>
            </a:r>
            <a:r>
              <a:rPr lang="ru-RU" sz="1800" kern="1200" dirty="0">
                <a:solidFill>
                  <a:schemeClr val="bg2"/>
                </a:solidFill>
                <a:cs typeface="Arial" charset="0"/>
              </a:rPr>
              <a:t>(</a:t>
            </a:r>
            <a:r>
              <a:rPr lang="ru-RU" sz="1800" kern="1200" dirty="0">
                <a:latin typeface="Arial" charset="0"/>
                <a:cs typeface="Arial" charset="0"/>
              </a:rPr>
              <a:t>Манипулирование данными осуществляется в режиме просмотра </a:t>
            </a:r>
            <a:r>
              <a:rPr lang="ru-RU" sz="1800" kern="1200" dirty="0">
                <a:solidFill>
                  <a:schemeClr val="bg2"/>
                </a:solidFill>
                <a:cs typeface="Arial" charset="0"/>
              </a:rPr>
              <a:t>)</a:t>
            </a:r>
          </a:p>
          <a:p>
            <a:pPr marL="914400" lvl="1" indent="-457200">
              <a:lnSpc>
                <a:spcPct val="120000"/>
              </a:lnSpc>
              <a:buClr>
                <a:srgbClr val="C00000"/>
              </a:buClr>
              <a:buFont typeface="+mj-lt"/>
              <a:buAutoNum type="arabicPeriod" startAt="7"/>
            </a:pPr>
            <a:r>
              <a:rPr lang="ru-RU" sz="1800" b="1" kern="1200" dirty="0">
                <a:solidFill>
                  <a:schemeClr val="bg2"/>
                </a:solidFill>
                <a:cs typeface="Arial" charset="0"/>
              </a:rPr>
              <a:t>Гибкие возможности получения отчетов </a:t>
            </a:r>
            <a:r>
              <a:rPr lang="ru-RU" sz="1800" kern="1200" dirty="0">
                <a:solidFill>
                  <a:schemeClr val="bg2"/>
                </a:solidFill>
                <a:cs typeface="Arial" charset="0"/>
              </a:rPr>
              <a:t>(</a:t>
            </a:r>
            <a:r>
              <a:rPr lang="ru-RU" sz="1800" kern="1200" dirty="0">
                <a:latin typeface="Arial" charset="0"/>
                <a:cs typeface="Arial" charset="0"/>
              </a:rPr>
              <a:t>Измерения должны быть размещены в отчете так, как это нужно пользователю</a:t>
            </a:r>
            <a:r>
              <a:rPr lang="ru-RU" sz="1800" kern="1200" dirty="0">
                <a:solidFill>
                  <a:schemeClr val="bg2"/>
                </a:solidFill>
                <a:cs typeface="Arial" charset="0"/>
              </a:rPr>
              <a:t>)</a:t>
            </a:r>
          </a:p>
          <a:p>
            <a:pPr marL="914400" lvl="1" indent="-457200">
              <a:lnSpc>
                <a:spcPct val="120000"/>
              </a:lnSpc>
              <a:buClr>
                <a:srgbClr val="C00000"/>
              </a:buClr>
              <a:buFont typeface="+mj-lt"/>
              <a:buAutoNum type="arabicPeriod" startAt="7"/>
            </a:pPr>
            <a:r>
              <a:rPr lang="ru-RU" sz="1800" b="1" kern="1200" dirty="0">
                <a:solidFill>
                  <a:schemeClr val="bg2"/>
                </a:solidFill>
                <a:cs typeface="Arial" charset="0"/>
              </a:rPr>
              <a:t>Неограниченная размерность и число уровней агрегации </a:t>
            </a:r>
            <a:r>
              <a:rPr lang="ru-RU" sz="1800" kern="1200" dirty="0">
                <a:solidFill>
                  <a:schemeClr val="bg2"/>
                </a:solidFill>
                <a:cs typeface="Arial" charset="0"/>
              </a:rPr>
              <a:t>(</a:t>
            </a:r>
            <a:r>
              <a:rPr lang="ru-RU" sz="1800" kern="1200" dirty="0">
                <a:latin typeface="Arial" charset="0"/>
                <a:cs typeface="Arial" charset="0"/>
              </a:rPr>
              <a:t>Исследование о возможном числе необходимых измерений, требующихся в аналитической модели, показало, что одновременно может использоваться до 19 измерений. Отсюда вытекает настоятельная рекомендация, чтобы аналитический инструмент был способен одновременно предоставить как минимум 15 измерений, а предпочтительнее 20.</a:t>
            </a:r>
            <a:r>
              <a:rPr lang="ru-RU" sz="1800" kern="1200" dirty="0">
                <a:solidFill>
                  <a:schemeClr val="bg2"/>
                </a:solidFill>
                <a:cs typeface="Arial" charset="0"/>
              </a:rPr>
              <a:t>)</a:t>
            </a:r>
            <a:endParaRPr lang="ru-RU" sz="1800" dirty="0">
              <a:solidFill>
                <a:schemeClr val="bg2"/>
              </a:solidFill>
            </a:endParaRPr>
          </a:p>
        </p:txBody>
      </p:sp>
      <p:sp>
        <p:nvSpPr>
          <p:cNvPr id="6" name="Номер слайда 5"/>
          <p:cNvSpPr>
            <a:spLocks noGrp="1"/>
          </p:cNvSpPr>
          <p:nvPr>
            <p:ph type="sldNum" sz="quarter" idx="11"/>
          </p:nvPr>
        </p:nvSpPr>
        <p:spPr>
          <a:xfrm>
            <a:off x="8235950" y="6470650"/>
            <a:ext cx="603250" cy="336550"/>
          </a:xfrm>
        </p:spPr>
        <p:txBody>
          <a:bodyPr/>
          <a:lstStyle/>
          <a:p>
            <a:fld id="{4DC7491D-CDB9-48BE-BADB-11210BC61B1D}" type="slidenum">
              <a:rPr lang="ru-RU" smtClean="0"/>
              <a:pPr/>
              <a:t>10</a:t>
            </a:fld>
            <a:endParaRPr lang="ru-R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wipe(up)">
                                      <p:cBhvr>
                                        <p:cTn id="7" dur="500"/>
                                        <p:tgtEl>
                                          <p:spTgt spid="23555">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3555">
                                            <p:txEl>
                                              <p:pRg st="1" end="1"/>
                                            </p:txEl>
                                          </p:spTgt>
                                        </p:tgtEl>
                                        <p:attrNameLst>
                                          <p:attrName>style.visibility</p:attrName>
                                        </p:attrNameLst>
                                      </p:cBhvr>
                                      <p:to>
                                        <p:strVal val="visible"/>
                                      </p:to>
                                    </p:set>
                                    <p:animEffect transition="in" filter="wipe(up)">
                                      <p:cBhvr>
                                        <p:cTn id="10" dur="500"/>
                                        <p:tgtEl>
                                          <p:spTgt spid="23555">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3555">
                                            <p:txEl>
                                              <p:pRg st="2" end="2"/>
                                            </p:txEl>
                                          </p:spTgt>
                                        </p:tgtEl>
                                        <p:attrNameLst>
                                          <p:attrName>style.visibility</p:attrName>
                                        </p:attrNameLst>
                                      </p:cBhvr>
                                      <p:to>
                                        <p:strVal val="visible"/>
                                      </p:to>
                                    </p:set>
                                    <p:animEffect transition="in" filter="wipe(up)">
                                      <p:cBhvr>
                                        <p:cTn id="13" dur="500"/>
                                        <p:tgtEl>
                                          <p:spTgt spid="23555">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23555">
                                            <p:txEl>
                                              <p:pRg st="3" end="3"/>
                                            </p:txEl>
                                          </p:spTgt>
                                        </p:tgtEl>
                                        <p:attrNameLst>
                                          <p:attrName>style.visibility</p:attrName>
                                        </p:attrNameLst>
                                      </p:cBhvr>
                                      <p:to>
                                        <p:strVal val="visible"/>
                                      </p:to>
                                    </p:set>
                                    <p:animEffect transition="in" filter="wipe(up)">
                                      <p:cBhvr>
                                        <p:cTn id="16" dur="500"/>
                                        <p:tgtEl>
                                          <p:spTgt spid="23555">
                                            <p:txEl>
                                              <p:pRg st="3" end="3"/>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23555">
                                            <p:txEl>
                                              <p:pRg st="4" end="4"/>
                                            </p:txEl>
                                          </p:spTgt>
                                        </p:tgtEl>
                                        <p:attrNameLst>
                                          <p:attrName>style.visibility</p:attrName>
                                        </p:attrNameLst>
                                      </p:cBhvr>
                                      <p:to>
                                        <p:strVal val="visible"/>
                                      </p:to>
                                    </p:set>
                                    <p:animEffect transition="in" filter="wipe(up)">
                                      <p:cBhvr>
                                        <p:cTn id="19" dur="500"/>
                                        <p:tgtEl>
                                          <p:spTgt spid="23555">
                                            <p:txEl>
                                              <p:pRg st="4" end="4"/>
                                            </p:txEl>
                                          </p:spTgt>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23555">
                                            <p:txEl>
                                              <p:pRg st="5" end="5"/>
                                            </p:txEl>
                                          </p:spTgt>
                                        </p:tgtEl>
                                        <p:attrNameLst>
                                          <p:attrName>style.visibility</p:attrName>
                                        </p:attrNameLst>
                                      </p:cBhvr>
                                      <p:to>
                                        <p:strVal val="visible"/>
                                      </p:to>
                                    </p:set>
                                    <p:animEffect transition="in" filter="wipe(up)">
                                      <p:cBhvr>
                                        <p:cTn id="22" dur="500"/>
                                        <p:tgtEl>
                                          <p:spTgt spid="2355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457200" y="0"/>
            <a:ext cx="8229600" cy="762000"/>
          </a:xfrm>
        </p:spPr>
        <p:txBody>
          <a:bodyPr/>
          <a:lstStyle/>
          <a:p>
            <a:pPr algn="ctr"/>
            <a:r>
              <a:rPr lang="ru-RU" sz="3600" dirty="0">
                <a:solidFill>
                  <a:schemeClr val="bg2"/>
                </a:solidFill>
              </a:rPr>
              <a:t>Хранилища</a:t>
            </a:r>
          </a:p>
        </p:txBody>
      </p:sp>
      <p:sp>
        <p:nvSpPr>
          <p:cNvPr id="49155" name="Rectangle 3"/>
          <p:cNvSpPr>
            <a:spLocks noGrp="1" noChangeArrowheads="1"/>
          </p:cNvSpPr>
          <p:nvPr>
            <p:ph type="body" idx="1"/>
          </p:nvPr>
        </p:nvSpPr>
        <p:spPr>
          <a:xfrm>
            <a:off x="-1" y="762000"/>
            <a:ext cx="9144001" cy="6267400"/>
          </a:xfrm>
        </p:spPr>
        <p:txBody>
          <a:bodyPr>
            <a:normAutofit fontScale="77500" lnSpcReduction="20000"/>
          </a:bodyPr>
          <a:lstStyle/>
          <a:p>
            <a:pPr>
              <a:lnSpc>
                <a:spcPct val="120000"/>
              </a:lnSpc>
            </a:pPr>
            <a:r>
              <a:rPr lang="ru-RU" sz="2300" dirty="0"/>
              <a:t>Билл </a:t>
            </a:r>
            <a:r>
              <a:rPr lang="ru-RU" sz="2300" dirty="0" err="1"/>
              <a:t>Инмон</a:t>
            </a:r>
            <a:r>
              <a:rPr lang="ru-RU" sz="2300" dirty="0"/>
              <a:t> (</a:t>
            </a:r>
            <a:r>
              <a:rPr lang="en-US" sz="2300" dirty="0"/>
              <a:t>Bill </a:t>
            </a:r>
            <a:r>
              <a:rPr lang="en-US" sz="2300" dirty="0" err="1"/>
              <a:t>Inmon</a:t>
            </a:r>
            <a:r>
              <a:rPr lang="en-US" sz="2300" dirty="0"/>
              <a:t>)</a:t>
            </a:r>
            <a:r>
              <a:rPr lang="ru-RU" sz="2300" dirty="0"/>
              <a:t>, начало 90-х. </a:t>
            </a:r>
            <a:r>
              <a:rPr lang="en-US" sz="2300" dirty="0"/>
              <a:t>“Building the Data Warehouse”</a:t>
            </a:r>
            <a:endParaRPr lang="ru-RU" sz="2300" dirty="0"/>
          </a:p>
          <a:p>
            <a:pPr>
              <a:lnSpc>
                <a:spcPct val="120000"/>
              </a:lnSpc>
            </a:pPr>
            <a:r>
              <a:rPr lang="en-US" sz="2000" dirty="0"/>
              <a:t>Data Warehouse </a:t>
            </a:r>
            <a:r>
              <a:rPr lang="ru-RU" sz="2000" dirty="0"/>
              <a:t>– хранилище данных</a:t>
            </a:r>
            <a:r>
              <a:rPr lang="en-US" sz="2000" dirty="0"/>
              <a:t>.  </a:t>
            </a:r>
            <a:br>
              <a:rPr lang="ru-RU" sz="2000" dirty="0"/>
            </a:br>
            <a:r>
              <a:rPr lang="ru-RU" sz="2000" b="1" dirty="0"/>
              <a:t>Предметно-ориентированный</a:t>
            </a:r>
            <a:r>
              <a:rPr lang="ru-RU" sz="2000" dirty="0"/>
              <a:t>, </a:t>
            </a:r>
            <a:r>
              <a:rPr lang="ru-RU" sz="2000" b="1" dirty="0"/>
              <a:t>интегрированный</a:t>
            </a:r>
            <a:r>
              <a:rPr lang="ru-RU" sz="2000" dirty="0"/>
              <a:t>, </a:t>
            </a:r>
            <a:r>
              <a:rPr lang="ru-RU" sz="2000" b="1" dirty="0"/>
              <a:t>неизменяемый</a:t>
            </a:r>
            <a:r>
              <a:rPr lang="ru-RU" sz="2000" dirty="0"/>
              <a:t> и </a:t>
            </a:r>
            <a:r>
              <a:rPr lang="ru-RU" sz="2000" b="1" dirty="0"/>
              <a:t>поддерживающий хронологию </a:t>
            </a:r>
            <a:r>
              <a:rPr lang="ru-RU" sz="2000" b="1" dirty="0">
                <a:solidFill>
                  <a:schemeClr val="bg2"/>
                </a:solidFill>
              </a:rPr>
              <a:t>набор данных</a:t>
            </a:r>
            <a:r>
              <a:rPr lang="ru-RU" sz="2000" dirty="0"/>
              <a:t>, предназначенный для принятия управленческих решений</a:t>
            </a:r>
          </a:p>
          <a:p>
            <a:r>
              <a:rPr lang="ru-RU" sz="2000" dirty="0"/>
              <a:t>Более общее определение будет звучать, как «</a:t>
            </a:r>
            <a:r>
              <a:rPr lang="ru-RU" sz="2000" dirty="0" err="1"/>
              <a:t>храни́лище</a:t>
            </a:r>
            <a:r>
              <a:rPr lang="ru-RU" sz="2000" dirty="0"/>
              <a:t> </a:t>
            </a:r>
            <a:r>
              <a:rPr lang="ru-RU" sz="2000" dirty="0" err="1"/>
              <a:t>да́нных</a:t>
            </a:r>
            <a:r>
              <a:rPr lang="ru-RU" sz="2000" dirty="0"/>
              <a:t> (англ. </a:t>
            </a:r>
            <a:r>
              <a:rPr lang="ru-RU" sz="2000" i="1" dirty="0"/>
              <a:t>Data </a:t>
            </a:r>
            <a:r>
              <a:rPr lang="ru-RU" sz="2000" i="1" dirty="0" err="1"/>
              <a:t>Warehouse</a:t>
            </a:r>
            <a:r>
              <a:rPr lang="ru-RU" sz="2000" dirty="0"/>
              <a:t>) — предметно-ориентированная информационная база данных, специально разработанная и предназначенная для подготовки отчётов и бизнес-анализа с целью поддержки принятия решений в организации. </a:t>
            </a:r>
          </a:p>
          <a:p>
            <a:r>
              <a:rPr lang="ru-RU" sz="2000" dirty="0"/>
              <a:t>Строится на базе систем управления базами данных и систем поддержки принятия решений. </a:t>
            </a:r>
          </a:p>
          <a:p>
            <a:r>
              <a:rPr lang="ru-RU" sz="2000" dirty="0"/>
              <a:t>Данные, поступающие в хранилище данных, как правило, доступны только для чтения»</a:t>
            </a:r>
          </a:p>
          <a:p>
            <a:pPr>
              <a:lnSpc>
                <a:spcPct val="120000"/>
              </a:lnSpc>
            </a:pPr>
            <a:r>
              <a:rPr lang="ru-RU" sz="2000" dirty="0"/>
              <a:t>Концепция ХД – подготовка данных для анализа</a:t>
            </a:r>
          </a:p>
          <a:p>
            <a:pPr lvl="1">
              <a:lnSpc>
                <a:spcPct val="120000"/>
              </a:lnSpc>
              <a:buClr>
                <a:schemeClr val="bg2"/>
              </a:buClr>
              <a:buFont typeface="Wingdings" pitchFamily="2" charset="2"/>
              <a:buChar char="Ø"/>
            </a:pPr>
            <a:r>
              <a:rPr lang="ru-RU" sz="2000" dirty="0"/>
              <a:t>Интеграция и согласование данных из разных источников</a:t>
            </a:r>
          </a:p>
          <a:p>
            <a:pPr lvl="1">
              <a:lnSpc>
                <a:spcPct val="120000"/>
              </a:lnSpc>
              <a:buClr>
                <a:schemeClr val="bg2"/>
              </a:buClr>
              <a:buFont typeface="Wingdings" pitchFamily="2" charset="2"/>
              <a:buChar char="Ø"/>
            </a:pPr>
            <a:r>
              <a:rPr lang="ru-RU" sz="2000" dirty="0"/>
              <a:t>Разделение наборов данных </a:t>
            </a:r>
            <a:r>
              <a:rPr lang="en-US" sz="2000" dirty="0"/>
              <a:t>OLTP </a:t>
            </a:r>
            <a:r>
              <a:rPr lang="ru-RU" sz="2000" dirty="0"/>
              <a:t>и </a:t>
            </a:r>
            <a:r>
              <a:rPr lang="en-US" sz="2000" dirty="0"/>
              <a:t>OLAP</a:t>
            </a:r>
            <a:endParaRPr lang="ru-RU" sz="2000" dirty="0"/>
          </a:p>
          <a:p>
            <a:pPr marL="342900" lvl="1" indent="-342900">
              <a:lnSpc>
                <a:spcPct val="120000"/>
              </a:lnSpc>
              <a:buClr>
                <a:schemeClr val="bg2"/>
              </a:buClr>
              <a:buSzPct val="75000"/>
              <a:buFont typeface="Wingdings" pitchFamily="2" charset="2"/>
              <a:buChar char="n"/>
            </a:pPr>
            <a:r>
              <a:rPr lang="ru-RU" sz="2000" dirty="0">
                <a:ea typeface="+mn-ea"/>
              </a:rPr>
              <a:t>Цели: </a:t>
            </a:r>
          </a:p>
          <a:p>
            <a:pPr lvl="1">
              <a:lnSpc>
                <a:spcPct val="120000"/>
              </a:lnSpc>
              <a:buClr>
                <a:schemeClr val="bg2"/>
              </a:buClr>
              <a:buFont typeface="Wingdings" pitchFamily="2" charset="2"/>
              <a:buChar char="Ø"/>
            </a:pPr>
            <a:r>
              <a:rPr lang="ru-RU" sz="2000" dirty="0"/>
              <a:t>Своевременное обеспечение аналитиков всей информацией, необходимой для выработки решений,</a:t>
            </a:r>
          </a:p>
          <a:p>
            <a:pPr lvl="1">
              <a:lnSpc>
                <a:spcPct val="120000"/>
              </a:lnSpc>
              <a:buClr>
                <a:schemeClr val="bg2"/>
              </a:buClr>
              <a:buFont typeface="Wingdings" pitchFamily="2" charset="2"/>
              <a:buChar char="Ø"/>
            </a:pPr>
            <a:r>
              <a:rPr lang="ru-RU" sz="2000" dirty="0"/>
              <a:t>Создание </a:t>
            </a:r>
            <a:r>
              <a:rPr lang="ru-RU" sz="2000" b="1" dirty="0"/>
              <a:t>единой модели данных организации</a:t>
            </a:r>
            <a:r>
              <a:rPr lang="ru-RU" sz="2000" dirty="0"/>
              <a:t>,</a:t>
            </a:r>
          </a:p>
          <a:p>
            <a:pPr lvl="1">
              <a:lnSpc>
                <a:spcPct val="120000"/>
              </a:lnSpc>
              <a:buClr>
                <a:schemeClr val="bg2"/>
              </a:buClr>
              <a:buFont typeface="Wingdings" pitchFamily="2" charset="2"/>
              <a:buChar char="Ø"/>
            </a:pPr>
            <a:r>
              <a:rPr lang="ru-RU" sz="2000" dirty="0"/>
              <a:t>Создание единого, интегрированного источника данных, предоставляющего удобный доступ к разнородной информации и гарантирующего одинаковый ответ на одинаковый вопрос из разных аналитических подсистем (единый «источник истины»)</a:t>
            </a:r>
          </a:p>
        </p:txBody>
      </p:sp>
      <p:sp>
        <p:nvSpPr>
          <p:cNvPr id="6" name="Номер слайда 5"/>
          <p:cNvSpPr>
            <a:spLocks noGrp="1"/>
          </p:cNvSpPr>
          <p:nvPr>
            <p:ph type="sldNum" sz="quarter" idx="11"/>
          </p:nvPr>
        </p:nvSpPr>
        <p:spPr>
          <a:xfrm>
            <a:off x="8172450" y="6248400"/>
            <a:ext cx="514350" cy="381000"/>
          </a:xfrm>
        </p:spPr>
        <p:txBody>
          <a:bodyPr/>
          <a:lstStyle/>
          <a:p>
            <a:fld id="{4DC7491D-CDB9-48BE-BADB-11210BC61B1D}" type="slidenum">
              <a:rPr lang="ru-RU" smtClean="0"/>
              <a:pPr/>
              <a:t>11</a:t>
            </a:fld>
            <a:endParaRPr lang="ru-R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Effect transition="in" filter="wipe(down)">
                                      <p:cBhvr>
                                        <p:cTn id="7" dur="500"/>
                                        <p:tgtEl>
                                          <p:spTgt spid="491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9155">
                                            <p:txEl>
                                              <p:pRg st="1" end="1"/>
                                            </p:txEl>
                                          </p:spTgt>
                                        </p:tgtEl>
                                        <p:attrNameLst>
                                          <p:attrName>style.visibility</p:attrName>
                                        </p:attrNameLst>
                                      </p:cBhvr>
                                      <p:to>
                                        <p:strVal val="visible"/>
                                      </p:to>
                                    </p:set>
                                    <p:animEffect transition="in" filter="wipe(down)">
                                      <p:cBhvr>
                                        <p:cTn id="12" dur="500"/>
                                        <p:tgtEl>
                                          <p:spTgt spid="491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9155">
                                            <p:txEl>
                                              <p:pRg st="2" end="2"/>
                                            </p:txEl>
                                          </p:spTgt>
                                        </p:tgtEl>
                                        <p:attrNameLst>
                                          <p:attrName>style.visibility</p:attrName>
                                        </p:attrNameLst>
                                      </p:cBhvr>
                                      <p:to>
                                        <p:strVal val="visible"/>
                                      </p:to>
                                    </p:set>
                                    <p:animEffect transition="in" filter="wipe(down)">
                                      <p:cBhvr>
                                        <p:cTn id="17" dur="500"/>
                                        <p:tgtEl>
                                          <p:spTgt spid="491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9155">
                                            <p:txEl>
                                              <p:pRg st="3" end="3"/>
                                            </p:txEl>
                                          </p:spTgt>
                                        </p:tgtEl>
                                        <p:attrNameLst>
                                          <p:attrName>style.visibility</p:attrName>
                                        </p:attrNameLst>
                                      </p:cBhvr>
                                      <p:to>
                                        <p:strVal val="visible"/>
                                      </p:to>
                                    </p:set>
                                    <p:animEffect transition="in" filter="wipe(down)">
                                      <p:cBhvr>
                                        <p:cTn id="22" dur="500"/>
                                        <p:tgtEl>
                                          <p:spTgt spid="4915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9155">
                                            <p:txEl>
                                              <p:pRg st="4" end="4"/>
                                            </p:txEl>
                                          </p:spTgt>
                                        </p:tgtEl>
                                        <p:attrNameLst>
                                          <p:attrName>style.visibility</p:attrName>
                                        </p:attrNameLst>
                                      </p:cBhvr>
                                      <p:to>
                                        <p:strVal val="visible"/>
                                      </p:to>
                                    </p:set>
                                    <p:animEffect transition="in" filter="wipe(down)">
                                      <p:cBhvr>
                                        <p:cTn id="27" dur="500"/>
                                        <p:tgtEl>
                                          <p:spTgt spid="4915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49155">
                                            <p:txEl>
                                              <p:pRg st="5" end="5"/>
                                            </p:txEl>
                                          </p:spTgt>
                                        </p:tgtEl>
                                        <p:attrNameLst>
                                          <p:attrName>style.visibility</p:attrName>
                                        </p:attrNameLst>
                                      </p:cBhvr>
                                      <p:to>
                                        <p:strVal val="visible"/>
                                      </p:to>
                                    </p:set>
                                    <p:animEffect transition="in" filter="wipe(down)">
                                      <p:cBhvr>
                                        <p:cTn id="32" dur="500"/>
                                        <p:tgtEl>
                                          <p:spTgt spid="4915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49155">
                                            <p:txEl>
                                              <p:pRg st="6" end="6"/>
                                            </p:txEl>
                                          </p:spTgt>
                                        </p:tgtEl>
                                        <p:attrNameLst>
                                          <p:attrName>style.visibility</p:attrName>
                                        </p:attrNameLst>
                                      </p:cBhvr>
                                      <p:to>
                                        <p:strVal val="visible"/>
                                      </p:to>
                                    </p:set>
                                    <p:animEffect transition="in" filter="wipe(down)">
                                      <p:cBhvr>
                                        <p:cTn id="37" dur="500"/>
                                        <p:tgtEl>
                                          <p:spTgt spid="4915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49155">
                                            <p:txEl>
                                              <p:pRg st="7" end="7"/>
                                            </p:txEl>
                                          </p:spTgt>
                                        </p:tgtEl>
                                        <p:attrNameLst>
                                          <p:attrName>style.visibility</p:attrName>
                                        </p:attrNameLst>
                                      </p:cBhvr>
                                      <p:to>
                                        <p:strVal val="visible"/>
                                      </p:to>
                                    </p:set>
                                    <p:animEffect transition="in" filter="wipe(down)">
                                      <p:cBhvr>
                                        <p:cTn id="42" dur="500"/>
                                        <p:tgtEl>
                                          <p:spTgt spid="4915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49155">
                                            <p:txEl>
                                              <p:pRg st="8" end="8"/>
                                            </p:txEl>
                                          </p:spTgt>
                                        </p:tgtEl>
                                        <p:attrNameLst>
                                          <p:attrName>style.visibility</p:attrName>
                                        </p:attrNameLst>
                                      </p:cBhvr>
                                      <p:to>
                                        <p:strVal val="visible"/>
                                      </p:to>
                                    </p:set>
                                    <p:animEffect transition="in" filter="wipe(down)">
                                      <p:cBhvr>
                                        <p:cTn id="47" dur="500"/>
                                        <p:tgtEl>
                                          <p:spTgt spid="4915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49155">
                                            <p:txEl>
                                              <p:pRg st="9" end="9"/>
                                            </p:txEl>
                                          </p:spTgt>
                                        </p:tgtEl>
                                        <p:attrNameLst>
                                          <p:attrName>style.visibility</p:attrName>
                                        </p:attrNameLst>
                                      </p:cBhvr>
                                      <p:to>
                                        <p:strVal val="visible"/>
                                      </p:to>
                                    </p:set>
                                    <p:animEffect transition="in" filter="wipe(down)">
                                      <p:cBhvr>
                                        <p:cTn id="52" dur="500"/>
                                        <p:tgtEl>
                                          <p:spTgt spid="4915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49155">
                                            <p:txEl>
                                              <p:pRg st="10" end="10"/>
                                            </p:txEl>
                                          </p:spTgt>
                                        </p:tgtEl>
                                        <p:attrNameLst>
                                          <p:attrName>style.visibility</p:attrName>
                                        </p:attrNameLst>
                                      </p:cBhvr>
                                      <p:to>
                                        <p:strVal val="visible"/>
                                      </p:to>
                                    </p:set>
                                    <p:animEffect transition="in" filter="wipe(down)">
                                      <p:cBhvr>
                                        <p:cTn id="57" dur="500"/>
                                        <p:tgtEl>
                                          <p:spTgt spid="49155">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49155">
                                            <p:txEl>
                                              <p:pRg st="11" end="11"/>
                                            </p:txEl>
                                          </p:spTgt>
                                        </p:tgtEl>
                                        <p:attrNameLst>
                                          <p:attrName>style.visibility</p:attrName>
                                        </p:attrNameLst>
                                      </p:cBhvr>
                                      <p:to>
                                        <p:strVal val="visible"/>
                                      </p:to>
                                    </p:set>
                                    <p:animEffect transition="in" filter="wipe(down)">
                                      <p:cBhvr>
                                        <p:cTn id="62" dur="500"/>
                                        <p:tgtEl>
                                          <p:spTgt spid="4915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39007" y="233645"/>
            <a:ext cx="8865985" cy="914400"/>
          </a:xfrm>
        </p:spPr>
        <p:txBody>
          <a:bodyPr/>
          <a:lstStyle/>
          <a:p>
            <a:pPr algn="ctr"/>
            <a:r>
              <a:rPr lang="ru-RU" sz="2800" dirty="0">
                <a:solidFill>
                  <a:schemeClr val="bg2"/>
                </a:solidFill>
              </a:rPr>
              <a:t>Схема промышленного производства </a:t>
            </a:r>
            <a:r>
              <a:rPr lang="ru-RU" sz="2400" dirty="0">
                <a:solidFill>
                  <a:schemeClr val="bg2"/>
                </a:solidFill>
              </a:rPr>
              <a:t>(упрощенная)</a:t>
            </a:r>
          </a:p>
        </p:txBody>
      </p:sp>
      <p:sp>
        <p:nvSpPr>
          <p:cNvPr id="6" name="Номер слайда 5"/>
          <p:cNvSpPr>
            <a:spLocks noGrp="1"/>
          </p:cNvSpPr>
          <p:nvPr>
            <p:ph type="sldNum" sz="quarter" idx="11"/>
          </p:nvPr>
        </p:nvSpPr>
        <p:spPr/>
        <p:txBody>
          <a:bodyPr/>
          <a:lstStyle/>
          <a:p>
            <a:fld id="{4DC7491D-CDB9-48BE-BADB-11210BC61B1D}" type="slidenum">
              <a:rPr lang="ru-RU" smtClean="0"/>
              <a:pPr/>
              <a:t>12</a:t>
            </a:fld>
            <a:endParaRPr lang="ru-RU"/>
          </a:p>
        </p:txBody>
      </p:sp>
      <p:pic>
        <p:nvPicPr>
          <p:cNvPr id="2" name="Picture 2" descr="C:\Users\Борис\AppData\Local\Microsoft\Windows\Temporary Internet Files\Content.IE5\E9LL8X0M\MC900183434[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11125" y="1294363"/>
            <a:ext cx="1260140" cy="1258878"/>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Борис\AppData\Local\Microsoft\Windows\Temporary Internet Files\Content.IE5\VBZ64EZ1\MC900279050[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9594" y="1268760"/>
            <a:ext cx="1427171" cy="131008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Program Files\Microsoft Office\MEDIA\CAGCAT10\j0285360.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05023" y="1268760"/>
            <a:ext cx="1097047" cy="135293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Users\Борис\AppData\Local\Microsoft\Windows\Temporary Internet Files\Content.IE5\VBZ64EZ1\MC900167992[1].wm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35771" y="3132537"/>
            <a:ext cx="1646319" cy="1007251"/>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C:\Users\Борис\AppData\Local\Microsoft\Windows\Temporary Internet Files\Content.IE5\7EWD2USM\MC900089278[1].wm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22558" y="3924055"/>
            <a:ext cx="1427171" cy="13644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Users\Борис\AppData\Local\Microsoft\Windows\Temporary Internet Files\Content.IE5\E9LL8X0M\MC900089314[1].wmf"/>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536253" y="4491537"/>
            <a:ext cx="1826971" cy="141000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C:\Users\Борис\AppData\Local\Microsoft\Windows\Temporary Internet Files\Content.IE5\7EWD2USM\MC900217904[1].wmf"/>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668693" y="3854048"/>
            <a:ext cx="1818742" cy="1486814"/>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descr="C:\Users\Борис\AppData\Local\Microsoft\Windows\Temporary Internet Files\Content.IE5\E9LL8X0M\MP900387507[1].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239291" y="5767808"/>
            <a:ext cx="585065" cy="82018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C:\Users\Борис\AppData\Local\Microsoft\Windows\Temporary Internet Files\Content.IE5\VBZ64EZ1\MP900387497[1].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361102" y="5809035"/>
            <a:ext cx="1108720" cy="790887"/>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13" descr="C:\Users\Борис\AppData\Local\Microsoft\Windows\Temporary Internet Files\Content.IE5\JFONPBD3\MC900295450[1].wmf"/>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636143" y="5856503"/>
            <a:ext cx="713586" cy="816996"/>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C:\Users\Борис\AppData\Local\Microsoft\Windows\Temporary Internet Files\Content.IE5\7EWD2USM\MC900347899[1].wmf"/>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319708" y="5873452"/>
            <a:ext cx="812032" cy="790887"/>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descr="C:\Users\Борис\AppData\Local\Microsoft\Windows\Temporary Internet Files\Content.IE5\E9LL8X0M\MC900439941[1].wmf"/>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961582" y="5782457"/>
            <a:ext cx="615725" cy="844044"/>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C:\Users\Борис\AppData\Local\Microsoft\Windows\Temporary Internet Files\Content.IE5\VBZ64EZ1\MP900442440[1].jp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3096640" y="5782457"/>
            <a:ext cx="742884" cy="881882"/>
          </a:xfrm>
          <a:prstGeom prst="rect">
            <a:avLst/>
          </a:prstGeom>
          <a:noFill/>
          <a:extLst>
            <a:ext uri="{909E8E84-426E-40DD-AFC4-6F175D3DCCD1}">
              <a14:hiddenFill xmlns:a14="http://schemas.microsoft.com/office/drawing/2010/main">
                <a:solidFill>
                  <a:srgbClr val="FFFFFF"/>
                </a:solidFill>
              </a14:hiddenFill>
            </a:ext>
          </a:extLst>
        </p:spPr>
      </p:pic>
      <p:sp>
        <p:nvSpPr>
          <p:cNvPr id="3" name="Стрелка вниз 2"/>
          <p:cNvSpPr/>
          <p:nvPr/>
        </p:nvSpPr>
        <p:spPr>
          <a:xfrm rot="18660000">
            <a:off x="2826905" y="2130298"/>
            <a:ext cx="108889" cy="1404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Стрелка вниз 21"/>
          <p:cNvSpPr/>
          <p:nvPr/>
        </p:nvSpPr>
        <p:spPr>
          <a:xfrm rot="13740000" flipV="1">
            <a:off x="6203016" y="2097341"/>
            <a:ext cx="108000" cy="1404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Стрелка вниз 22"/>
          <p:cNvSpPr/>
          <p:nvPr/>
        </p:nvSpPr>
        <p:spPr>
          <a:xfrm>
            <a:off x="4509005" y="2591955"/>
            <a:ext cx="108000" cy="432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extBox 3"/>
          <p:cNvSpPr txBox="1"/>
          <p:nvPr/>
        </p:nvSpPr>
        <p:spPr>
          <a:xfrm>
            <a:off x="463337" y="935813"/>
            <a:ext cx="1172805" cy="369332"/>
          </a:xfrm>
          <a:prstGeom prst="rect">
            <a:avLst/>
          </a:prstGeom>
          <a:noFill/>
        </p:spPr>
        <p:txBody>
          <a:bodyPr wrap="square" rtlCol="0">
            <a:spAutoFit/>
          </a:bodyPr>
          <a:lstStyle/>
          <a:p>
            <a:r>
              <a:rPr lang="ru-RU" dirty="0"/>
              <a:t>Завод А</a:t>
            </a:r>
          </a:p>
        </p:txBody>
      </p:sp>
      <p:sp>
        <p:nvSpPr>
          <p:cNvPr id="26" name="TextBox 25"/>
          <p:cNvSpPr txBox="1"/>
          <p:nvPr/>
        </p:nvSpPr>
        <p:spPr>
          <a:xfrm>
            <a:off x="3985596" y="935813"/>
            <a:ext cx="1172805" cy="369332"/>
          </a:xfrm>
          <a:prstGeom prst="rect">
            <a:avLst/>
          </a:prstGeom>
          <a:noFill/>
        </p:spPr>
        <p:txBody>
          <a:bodyPr wrap="square" rtlCol="0">
            <a:spAutoFit/>
          </a:bodyPr>
          <a:lstStyle/>
          <a:p>
            <a:r>
              <a:rPr lang="ru-RU" dirty="0"/>
              <a:t>Завод Б</a:t>
            </a:r>
          </a:p>
        </p:txBody>
      </p:sp>
      <p:sp>
        <p:nvSpPr>
          <p:cNvPr id="27" name="TextBox 26"/>
          <p:cNvSpPr txBox="1"/>
          <p:nvPr/>
        </p:nvSpPr>
        <p:spPr>
          <a:xfrm>
            <a:off x="7732358" y="935813"/>
            <a:ext cx="1172805" cy="369332"/>
          </a:xfrm>
          <a:prstGeom prst="rect">
            <a:avLst/>
          </a:prstGeom>
          <a:noFill/>
        </p:spPr>
        <p:txBody>
          <a:bodyPr wrap="square" rtlCol="0">
            <a:spAutoFit/>
          </a:bodyPr>
          <a:lstStyle/>
          <a:p>
            <a:r>
              <a:rPr lang="ru-RU" dirty="0"/>
              <a:t>Завод В</a:t>
            </a:r>
          </a:p>
        </p:txBody>
      </p:sp>
      <p:sp>
        <p:nvSpPr>
          <p:cNvPr id="28" name="TextBox 27"/>
          <p:cNvSpPr txBox="1"/>
          <p:nvPr/>
        </p:nvSpPr>
        <p:spPr>
          <a:xfrm>
            <a:off x="3852618" y="3543233"/>
            <a:ext cx="1438759" cy="461665"/>
          </a:xfrm>
          <a:prstGeom prst="rect">
            <a:avLst/>
          </a:prstGeom>
          <a:noFill/>
        </p:spPr>
        <p:txBody>
          <a:bodyPr wrap="square" rtlCol="0">
            <a:spAutoFit/>
          </a:bodyPr>
          <a:lstStyle/>
          <a:p>
            <a:r>
              <a:rPr lang="ru-RU" sz="2400" b="1" dirty="0">
                <a:solidFill>
                  <a:srgbClr val="FF0000"/>
                </a:solidFill>
              </a:rPr>
              <a:t>СКЛАД</a:t>
            </a:r>
          </a:p>
        </p:txBody>
      </p:sp>
      <p:sp>
        <p:nvSpPr>
          <p:cNvPr id="29" name="Стрелка вниз 28"/>
          <p:cNvSpPr/>
          <p:nvPr/>
        </p:nvSpPr>
        <p:spPr>
          <a:xfrm rot="14144506" flipV="1">
            <a:off x="3009664" y="3630408"/>
            <a:ext cx="100329" cy="11949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Стрелка вниз 29"/>
          <p:cNvSpPr/>
          <p:nvPr/>
        </p:nvSpPr>
        <p:spPr>
          <a:xfrm rot="18660000">
            <a:off x="5948377" y="3664642"/>
            <a:ext cx="108889" cy="1242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Стрелка вниз 30"/>
          <p:cNvSpPr/>
          <p:nvPr/>
        </p:nvSpPr>
        <p:spPr>
          <a:xfrm>
            <a:off x="4494742" y="4085038"/>
            <a:ext cx="108000" cy="396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8" name="Прямая со стрелкой 7"/>
          <p:cNvCxnSpPr/>
          <p:nvPr/>
        </p:nvCxnSpPr>
        <p:spPr>
          <a:xfrm flipH="1">
            <a:off x="656565" y="5340862"/>
            <a:ext cx="494084" cy="47934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5" name="Прямая со стрелкой 34"/>
          <p:cNvCxnSpPr/>
          <p:nvPr/>
        </p:nvCxnSpPr>
        <p:spPr>
          <a:xfrm>
            <a:off x="1421650" y="5340862"/>
            <a:ext cx="467035" cy="452357"/>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1" name="Прямая со стрелкой 40"/>
          <p:cNvCxnSpPr/>
          <p:nvPr/>
        </p:nvCxnSpPr>
        <p:spPr>
          <a:xfrm flipH="1">
            <a:off x="3776434" y="5938227"/>
            <a:ext cx="494084" cy="47934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2" name="Прямая со стрелкой 41"/>
          <p:cNvCxnSpPr/>
          <p:nvPr/>
        </p:nvCxnSpPr>
        <p:spPr>
          <a:xfrm>
            <a:off x="4421085" y="5938227"/>
            <a:ext cx="467035" cy="452357"/>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3" name="Прямая со стрелкой 42"/>
          <p:cNvCxnSpPr/>
          <p:nvPr/>
        </p:nvCxnSpPr>
        <p:spPr>
          <a:xfrm flipH="1">
            <a:off x="6879696" y="5431907"/>
            <a:ext cx="494084" cy="47934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4" name="Прямая со стрелкой 43"/>
          <p:cNvCxnSpPr/>
          <p:nvPr/>
        </p:nvCxnSpPr>
        <p:spPr>
          <a:xfrm>
            <a:off x="7801066" y="5404146"/>
            <a:ext cx="467035" cy="452357"/>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0" y="304800"/>
            <a:ext cx="9144000" cy="990600"/>
          </a:xfrm>
        </p:spPr>
        <p:txBody>
          <a:bodyPr/>
          <a:lstStyle/>
          <a:p>
            <a:pPr algn="ctr"/>
            <a:r>
              <a:rPr lang="ru-RU" sz="3200" dirty="0">
                <a:solidFill>
                  <a:schemeClr val="bg2"/>
                </a:solidFill>
              </a:rPr>
              <a:t>Схема аналитической системы</a:t>
            </a:r>
            <a:br>
              <a:rPr lang="ru-RU" sz="3200" dirty="0">
                <a:solidFill>
                  <a:schemeClr val="bg2"/>
                </a:solidFill>
              </a:rPr>
            </a:br>
            <a:r>
              <a:rPr lang="ru-RU" sz="3200" dirty="0">
                <a:solidFill>
                  <a:schemeClr val="bg2"/>
                </a:solidFill>
              </a:rPr>
              <a:t>(упрощенная)</a:t>
            </a:r>
            <a:endParaRPr lang="ru-RU" sz="3200" dirty="0"/>
          </a:p>
        </p:txBody>
      </p:sp>
      <p:sp>
        <p:nvSpPr>
          <p:cNvPr id="6" name="Номер слайда 5"/>
          <p:cNvSpPr>
            <a:spLocks noGrp="1"/>
          </p:cNvSpPr>
          <p:nvPr>
            <p:ph type="sldNum" sz="quarter" idx="11"/>
          </p:nvPr>
        </p:nvSpPr>
        <p:spPr/>
        <p:txBody>
          <a:bodyPr/>
          <a:lstStyle/>
          <a:p>
            <a:fld id="{4DC7491D-CDB9-48BE-BADB-11210BC61B1D}" type="slidenum">
              <a:rPr lang="ru-RU" smtClean="0"/>
              <a:pPr/>
              <a:t>13</a:t>
            </a:fld>
            <a:endParaRPr lang="ru-RU"/>
          </a:p>
        </p:txBody>
      </p:sp>
      <p:grpSp>
        <p:nvGrpSpPr>
          <p:cNvPr id="4" name="Группа 3"/>
          <p:cNvGrpSpPr/>
          <p:nvPr/>
        </p:nvGrpSpPr>
        <p:grpSpPr>
          <a:xfrm>
            <a:off x="746575" y="1583795"/>
            <a:ext cx="1935215" cy="900100"/>
            <a:chOff x="746575" y="1583795"/>
            <a:chExt cx="1935215" cy="900100"/>
          </a:xfrm>
        </p:grpSpPr>
        <p:sp>
          <p:nvSpPr>
            <p:cNvPr id="2" name="Цилиндр 1"/>
            <p:cNvSpPr/>
            <p:nvPr/>
          </p:nvSpPr>
          <p:spPr>
            <a:xfrm>
              <a:off x="746575" y="1583795"/>
              <a:ext cx="1890209" cy="900100"/>
            </a:xfrm>
            <a:prstGeom prst="can">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TextBox 2"/>
            <p:cNvSpPr txBox="1"/>
            <p:nvPr/>
          </p:nvSpPr>
          <p:spPr>
            <a:xfrm>
              <a:off x="836585" y="1943835"/>
              <a:ext cx="1845205" cy="369332"/>
            </a:xfrm>
            <a:prstGeom prst="rect">
              <a:avLst/>
            </a:prstGeom>
            <a:noFill/>
          </p:spPr>
          <p:txBody>
            <a:bodyPr wrap="square" rtlCol="0">
              <a:spAutoFit/>
            </a:bodyPr>
            <a:lstStyle/>
            <a:p>
              <a:r>
                <a:rPr lang="en-US" b="1" dirty="0"/>
                <a:t>OLTP</a:t>
              </a:r>
              <a:r>
                <a:rPr lang="ru-RU" b="1" dirty="0"/>
                <a:t> система</a:t>
              </a:r>
            </a:p>
          </p:txBody>
        </p:sp>
      </p:grpSp>
      <p:grpSp>
        <p:nvGrpSpPr>
          <p:cNvPr id="9" name="Группа 8"/>
          <p:cNvGrpSpPr/>
          <p:nvPr/>
        </p:nvGrpSpPr>
        <p:grpSpPr>
          <a:xfrm>
            <a:off x="3613588" y="1594416"/>
            <a:ext cx="1890209" cy="900100"/>
            <a:chOff x="746575" y="1583795"/>
            <a:chExt cx="1890209" cy="900100"/>
          </a:xfrm>
        </p:grpSpPr>
        <p:sp>
          <p:nvSpPr>
            <p:cNvPr id="10" name="Цилиндр 9"/>
            <p:cNvSpPr/>
            <p:nvPr/>
          </p:nvSpPr>
          <p:spPr>
            <a:xfrm>
              <a:off x="746575" y="1583795"/>
              <a:ext cx="1890209" cy="900100"/>
            </a:xfrm>
            <a:prstGeom prst="can">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p:cNvSpPr txBox="1"/>
            <p:nvPr/>
          </p:nvSpPr>
          <p:spPr>
            <a:xfrm>
              <a:off x="759882" y="1837564"/>
              <a:ext cx="1845205" cy="646331"/>
            </a:xfrm>
            <a:prstGeom prst="rect">
              <a:avLst/>
            </a:prstGeom>
            <a:noFill/>
          </p:spPr>
          <p:txBody>
            <a:bodyPr wrap="square" rtlCol="0">
              <a:spAutoFit/>
            </a:bodyPr>
            <a:lstStyle/>
            <a:p>
              <a:pPr algn="ctr"/>
              <a:r>
                <a:rPr lang="ru-RU" b="1" dirty="0"/>
                <a:t>Электронные архивы</a:t>
              </a:r>
            </a:p>
          </p:txBody>
        </p:sp>
      </p:grpSp>
      <p:sp>
        <p:nvSpPr>
          <p:cNvPr id="5" name="Молния 4"/>
          <p:cNvSpPr/>
          <p:nvPr/>
        </p:nvSpPr>
        <p:spPr>
          <a:xfrm rot="4125590">
            <a:off x="7133125" y="1271895"/>
            <a:ext cx="689537" cy="1343881"/>
          </a:xfrm>
          <a:prstGeom prst="lightningBol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p:cNvSpPr txBox="1"/>
          <p:nvPr/>
        </p:nvSpPr>
        <p:spPr>
          <a:xfrm>
            <a:off x="6105240" y="1433680"/>
            <a:ext cx="2745305" cy="1200329"/>
          </a:xfrm>
          <a:prstGeom prst="rect">
            <a:avLst/>
          </a:prstGeom>
          <a:noFill/>
        </p:spPr>
        <p:txBody>
          <a:bodyPr wrap="square" rtlCol="0">
            <a:spAutoFit/>
          </a:bodyPr>
          <a:lstStyle/>
          <a:p>
            <a:pPr algn="ctr"/>
            <a:r>
              <a:rPr lang="ru-RU" b="1" dirty="0"/>
              <a:t>Поставщики информации: радио, телевидение, интернет</a:t>
            </a:r>
          </a:p>
        </p:txBody>
      </p:sp>
      <p:sp>
        <p:nvSpPr>
          <p:cNvPr id="12" name="Цилиндр 11"/>
          <p:cNvSpPr/>
          <p:nvPr/>
        </p:nvSpPr>
        <p:spPr>
          <a:xfrm>
            <a:off x="3029316" y="3095468"/>
            <a:ext cx="3150350" cy="855095"/>
          </a:xfrm>
          <a:prstGeom prst="can">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TextBox 13"/>
          <p:cNvSpPr txBox="1"/>
          <p:nvPr/>
        </p:nvSpPr>
        <p:spPr>
          <a:xfrm>
            <a:off x="3054344" y="3383995"/>
            <a:ext cx="3272851" cy="461665"/>
          </a:xfrm>
          <a:prstGeom prst="rect">
            <a:avLst/>
          </a:prstGeom>
          <a:noFill/>
        </p:spPr>
        <p:txBody>
          <a:bodyPr wrap="square" rtlCol="0">
            <a:spAutoFit/>
          </a:bodyPr>
          <a:lstStyle/>
          <a:p>
            <a:r>
              <a:rPr lang="ru-RU" sz="2400" b="1" dirty="0"/>
              <a:t>Хранилище данных</a:t>
            </a:r>
          </a:p>
        </p:txBody>
      </p:sp>
      <p:pic>
        <p:nvPicPr>
          <p:cNvPr id="15" name="Picture 2" descr="C:\Program Files\Microsoft Office\MEDIA\CAGCAT10\j019538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01833" y="5639608"/>
            <a:ext cx="827259" cy="84452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C:\Program Files\Microsoft Office\MEDIA\CAGCAT10\j0292020.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1529" y="5647377"/>
            <a:ext cx="934517" cy="88696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Users\Борис\AppData\Local\Microsoft\Windows\Temporary Internet Files\Content.IE5\VBZ64EZ1\MC900441540[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70486" y="5589240"/>
            <a:ext cx="1087213" cy="1072113"/>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C:\Users\Борис\AppData\Local\Microsoft\Windows\Temporary Internet Files\Content.IE5\JFONPBD3\MC900354299[1].wm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46648" y="5639608"/>
            <a:ext cx="1010613" cy="844529"/>
          </a:xfrm>
          <a:prstGeom prst="rect">
            <a:avLst/>
          </a:prstGeom>
          <a:noFill/>
          <a:extLst>
            <a:ext uri="{909E8E84-426E-40DD-AFC4-6F175D3DCCD1}">
              <a14:hiddenFill xmlns:a14="http://schemas.microsoft.com/office/drawing/2010/main">
                <a:solidFill>
                  <a:srgbClr val="FFFFFF"/>
                </a:solidFill>
              </a14:hiddenFill>
            </a:ext>
          </a:extLst>
        </p:spPr>
      </p:pic>
      <p:sp>
        <p:nvSpPr>
          <p:cNvPr id="16" name="server"/>
          <p:cNvSpPr>
            <a:spLocks noEditPoints="1" noChangeArrowheads="1"/>
          </p:cNvSpPr>
          <p:nvPr/>
        </p:nvSpPr>
        <p:spPr bwMode="auto">
          <a:xfrm>
            <a:off x="1089235" y="4644135"/>
            <a:ext cx="1124857" cy="569932"/>
          </a:xfrm>
          <a:custGeom>
            <a:avLst/>
            <a:gdLst>
              <a:gd name="T0" fmla="*/ 0 w 21600"/>
              <a:gd name="T1" fmla="*/ 0 h 21600"/>
              <a:gd name="T2" fmla="*/ 10800 w 21600"/>
              <a:gd name="T3" fmla="*/ 0 h 21600"/>
              <a:gd name="T4" fmla="*/ 21600 w 21600"/>
              <a:gd name="T5" fmla="*/ 0 h 21600"/>
              <a:gd name="T6" fmla="*/ 21600 w 21600"/>
              <a:gd name="T7" fmla="*/ 10800 h 21600"/>
              <a:gd name="T8" fmla="*/ 21600 w 21600"/>
              <a:gd name="T9" fmla="*/ 21600 h 21600"/>
              <a:gd name="T10" fmla="*/ 10800 w 21600"/>
              <a:gd name="T11" fmla="*/ 21600 h 21600"/>
              <a:gd name="T12" fmla="*/ 0 w 21600"/>
              <a:gd name="T13" fmla="*/ 21600 h 21600"/>
              <a:gd name="T14" fmla="*/ 0 w 21600"/>
              <a:gd name="T15" fmla="*/ 10800 h 21600"/>
              <a:gd name="T16" fmla="*/ 761 w 21600"/>
              <a:gd name="T17" fmla="*/ 22454 h 21600"/>
              <a:gd name="T18" fmla="*/ 21069 w 21600"/>
              <a:gd name="T19" fmla="*/ 28282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0" y="0"/>
                </a:moveTo>
                <a:lnTo>
                  <a:pt x="21600" y="0"/>
                </a:lnTo>
                <a:lnTo>
                  <a:pt x="21600" y="21600"/>
                </a:lnTo>
                <a:lnTo>
                  <a:pt x="0" y="21600"/>
                </a:lnTo>
                <a:lnTo>
                  <a:pt x="0" y="0"/>
                </a:lnTo>
                <a:close/>
              </a:path>
              <a:path w="21600" h="21600" extrusionOk="0">
                <a:moveTo>
                  <a:pt x="1662" y="1709"/>
                </a:moveTo>
                <a:lnTo>
                  <a:pt x="9046" y="1709"/>
                </a:lnTo>
                <a:lnTo>
                  <a:pt x="9046" y="2331"/>
                </a:lnTo>
                <a:lnTo>
                  <a:pt x="1662" y="2331"/>
                </a:lnTo>
                <a:lnTo>
                  <a:pt x="1662" y="1709"/>
                </a:lnTo>
                <a:moveTo>
                  <a:pt x="0" y="4351"/>
                </a:moveTo>
                <a:lnTo>
                  <a:pt x="10892" y="4351"/>
                </a:lnTo>
                <a:lnTo>
                  <a:pt x="10892" y="14141"/>
                </a:lnTo>
                <a:lnTo>
                  <a:pt x="21600" y="14141"/>
                </a:lnTo>
                <a:moveTo>
                  <a:pt x="11631" y="1243"/>
                </a:moveTo>
                <a:lnTo>
                  <a:pt x="20492" y="1243"/>
                </a:lnTo>
                <a:lnTo>
                  <a:pt x="20492" y="1554"/>
                </a:lnTo>
                <a:lnTo>
                  <a:pt x="11631" y="1554"/>
                </a:lnTo>
                <a:lnTo>
                  <a:pt x="11631" y="1243"/>
                </a:lnTo>
                <a:moveTo>
                  <a:pt x="11631" y="3263"/>
                </a:moveTo>
                <a:lnTo>
                  <a:pt x="20492" y="3263"/>
                </a:lnTo>
                <a:lnTo>
                  <a:pt x="20492" y="3574"/>
                </a:lnTo>
                <a:lnTo>
                  <a:pt x="11631" y="3574"/>
                </a:lnTo>
                <a:lnTo>
                  <a:pt x="11631" y="3263"/>
                </a:lnTo>
                <a:moveTo>
                  <a:pt x="11631" y="6060"/>
                </a:moveTo>
                <a:lnTo>
                  <a:pt x="20492" y="6060"/>
                </a:lnTo>
                <a:lnTo>
                  <a:pt x="20492" y="6371"/>
                </a:lnTo>
                <a:lnTo>
                  <a:pt x="11631" y="6371"/>
                </a:lnTo>
                <a:lnTo>
                  <a:pt x="11631" y="6060"/>
                </a:lnTo>
                <a:moveTo>
                  <a:pt x="11631" y="8081"/>
                </a:moveTo>
                <a:lnTo>
                  <a:pt x="20308" y="8081"/>
                </a:lnTo>
                <a:lnTo>
                  <a:pt x="20308" y="8391"/>
                </a:lnTo>
                <a:lnTo>
                  <a:pt x="11631" y="8391"/>
                </a:lnTo>
                <a:lnTo>
                  <a:pt x="11631" y="8081"/>
                </a:lnTo>
                <a:moveTo>
                  <a:pt x="11631" y="4196"/>
                </a:moveTo>
                <a:lnTo>
                  <a:pt x="12369" y="4196"/>
                </a:lnTo>
                <a:lnTo>
                  <a:pt x="12369" y="4817"/>
                </a:lnTo>
                <a:lnTo>
                  <a:pt x="11631" y="4817"/>
                </a:lnTo>
                <a:lnTo>
                  <a:pt x="11631" y="4196"/>
                </a:lnTo>
                <a:moveTo>
                  <a:pt x="14400" y="4196"/>
                </a:moveTo>
                <a:lnTo>
                  <a:pt x="15138" y="4196"/>
                </a:lnTo>
                <a:lnTo>
                  <a:pt x="15138" y="4817"/>
                </a:lnTo>
                <a:lnTo>
                  <a:pt x="14400" y="4817"/>
                </a:lnTo>
                <a:lnTo>
                  <a:pt x="14400" y="4196"/>
                </a:lnTo>
                <a:moveTo>
                  <a:pt x="16985" y="4196"/>
                </a:moveTo>
                <a:lnTo>
                  <a:pt x="17723" y="4196"/>
                </a:lnTo>
                <a:lnTo>
                  <a:pt x="17723" y="4817"/>
                </a:lnTo>
                <a:lnTo>
                  <a:pt x="16985" y="4817"/>
                </a:lnTo>
                <a:lnTo>
                  <a:pt x="16985" y="4196"/>
                </a:lnTo>
                <a:moveTo>
                  <a:pt x="19754" y="4196"/>
                </a:moveTo>
                <a:lnTo>
                  <a:pt x="20492" y="4196"/>
                </a:lnTo>
                <a:lnTo>
                  <a:pt x="20492" y="4817"/>
                </a:lnTo>
                <a:lnTo>
                  <a:pt x="19754" y="4817"/>
                </a:lnTo>
                <a:lnTo>
                  <a:pt x="19754" y="4196"/>
                </a:lnTo>
                <a:moveTo>
                  <a:pt x="11631" y="9635"/>
                </a:moveTo>
                <a:lnTo>
                  <a:pt x="12369" y="9635"/>
                </a:lnTo>
                <a:lnTo>
                  <a:pt x="12369" y="10256"/>
                </a:lnTo>
                <a:lnTo>
                  <a:pt x="11631" y="10256"/>
                </a:lnTo>
                <a:lnTo>
                  <a:pt x="11631" y="9635"/>
                </a:lnTo>
                <a:moveTo>
                  <a:pt x="14400" y="9635"/>
                </a:moveTo>
                <a:lnTo>
                  <a:pt x="15138" y="9635"/>
                </a:lnTo>
                <a:lnTo>
                  <a:pt x="15138" y="10256"/>
                </a:lnTo>
                <a:lnTo>
                  <a:pt x="14400" y="10256"/>
                </a:lnTo>
                <a:lnTo>
                  <a:pt x="14400" y="9635"/>
                </a:lnTo>
                <a:moveTo>
                  <a:pt x="16985" y="9635"/>
                </a:moveTo>
                <a:lnTo>
                  <a:pt x="17723" y="9635"/>
                </a:lnTo>
                <a:lnTo>
                  <a:pt x="17723" y="10256"/>
                </a:lnTo>
                <a:lnTo>
                  <a:pt x="16985" y="10256"/>
                </a:lnTo>
                <a:lnTo>
                  <a:pt x="16985" y="9635"/>
                </a:lnTo>
                <a:moveTo>
                  <a:pt x="19754" y="9635"/>
                </a:moveTo>
                <a:lnTo>
                  <a:pt x="20492" y="9635"/>
                </a:lnTo>
                <a:lnTo>
                  <a:pt x="20492" y="10256"/>
                </a:lnTo>
                <a:lnTo>
                  <a:pt x="19754" y="10256"/>
                </a:lnTo>
                <a:lnTo>
                  <a:pt x="19754" y="9635"/>
                </a:lnTo>
                <a:moveTo>
                  <a:pt x="10892" y="14141"/>
                </a:moveTo>
                <a:lnTo>
                  <a:pt x="10892" y="15384"/>
                </a:lnTo>
                <a:lnTo>
                  <a:pt x="10892" y="20046"/>
                </a:lnTo>
                <a:lnTo>
                  <a:pt x="10892" y="21600"/>
                </a:lnTo>
                <a:lnTo>
                  <a:pt x="10892" y="14141"/>
                </a:lnTo>
                <a:moveTo>
                  <a:pt x="10892" y="4351"/>
                </a:moveTo>
                <a:lnTo>
                  <a:pt x="10892" y="3574"/>
                </a:lnTo>
                <a:lnTo>
                  <a:pt x="10892" y="932"/>
                </a:lnTo>
                <a:lnTo>
                  <a:pt x="10892" y="0"/>
                </a:lnTo>
                <a:lnTo>
                  <a:pt x="10892" y="4351"/>
                </a:lnTo>
              </a:path>
            </a:pathLst>
          </a:custGeom>
          <a:solidFill>
            <a:srgbClr val="FFFFCC"/>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ru-RU"/>
          </a:p>
        </p:txBody>
      </p:sp>
      <p:sp>
        <p:nvSpPr>
          <p:cNvPr id="22" name="server"/>
          <p:cNvSpPr>
            <a:spLocks noEditPoints="1" noChangeArrowheads="1"/>
          </p:cNvSpPr>
          <p:nvPr/>
        </p:nvSpPr>
        <p:spPr bwMode="auto">
          <a:xfrm>
            <a:off x="3994564" y="4644135"/>
            <a:ext cx="1162501" cy="569932"/>
          </a:xfrm>
          <a:custGeom>
            <a:avLst/>
            <a:gdLst>
              <a:gd name="T0" fmla="*/ 0 w 21600"/>
              <a:gd name="T1" fmla="*/ 0 h 21600"/>
              <a:gd name="T2" fmla="*/ 10800 w 21600"/>
              <a:gd name="T3" fmla="*/ 0 h 21600"/>
              <a:gd name="T4" fmla="*/ 21600 w 21600"/>
              <a:gd name="T5" fmla="*/ 0 h 21600"/>
              <a:gd name="T6" fmla="*/ 21600 w 21600"/>
              <a:gd name="T7" fmla="*/ 10800 h 21600"/>
              <a:gd name="T8" fmla="*/ 21600 w 21600"/>
              <a:gd name="T9" fmla="*/ 21600 h 21600"/>
              <a:gd name="T10" fmla="*/ 10800 w 21600"/>
              <a:gd name="T11" fmla="*/ 21600 h 21600"/>
              <a:gd name="T12" fmla="*/ 0 w 21600"/>
              <a:gd name="T13" fmla="*/ 21600 h 21600"/>
              <a:gd name="T14" fmla="*/ 0 w 21600"/>
              <a:gd name="T15" fmla="*/ 10800 h 21600"/>
              <a:gd name="T16" fmla="*/ 761 w 21600"/>
              <a:gd name="T17" fmla="*/ 22454 h 21600"/>
              <a:gd name="T18" fmla="*/ 21069 w 21600"/>
              <a:gd name="T19" fmla="*/ 28282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0" y="0"/>
                </a:moveTo>
                <a:lnTo>
                  <a:pt x="21600" y="0"/>
                </a:lnTo>
                <a:lnTo>
                  <a:pt x="21600" y="21600"/>
                </a:lnTo>
                <a:lnTo>
                  <a:pt x="0" y="21600"/>
                </a:lnTo>
                <a:lnTo>
                  <a:pt x="0" y="0"/>
                </a:lnTo>
                <a:close/>
              </a:path>
              <a:path w="21600" h="21600" extrusionOk="0">
                <a:moveTo>
                  <a:pt x="1662" y="1709"/>
                </a:moveTo>
                <a:lnTo>
                  <a:pt x="9046" y="1709"/>
                </a:lnTo>
                <a:lnTo>
                  <a:pt x="9046" y="2331"/>
                </a:lnTo>
                <a:lnTo>
                  <a:pt x="1662" y="2331"/>
                </a:lnTo>
                <a:lnTo>
                  <a:pt x="1662" y="1709"/>
                </a:lnTo>
                <a:moveTo>
                  <a:pt x="0" y="4351"/>
                </a:moveTo>
                <a:lnTo>
                  <a:pt x="10892" y="4351"/>
                </a:lnTo>
                <a:lnTo>
                  <a:pt x="10892" y="14141"/>
                </a:lnTo>
                <a:lnTo>
                  <a:pt x="21600" y="14141"/>
                </a:lnTo>
                <a:moveTo>
                  <a:pt x="11631" y="1243"/>
                </a:moveTo>
                <a:lnTo>
                  <a:pt x="20492" y="1243"/>
                </a:lnTo>
                <a:lnTo>
                  <a:pt x="20492" y="1554"/>
                </a:lnTo>
                <a:lnTo>
                  <a:pt x="11631" y="1554"/>
                </a:lnTo>
                <a:lnTo>
                  <a:pt x="11631" y="1243"/>
                </a:lnTo>
                <a:moveTo>
                  <a:pt x="11631" y="3263"/>
                </a:moveTo>
                <a:lnTo>
                  <a:pt x="20492" y="3263"/>
                </a:lnTo>
                <a:lnTo>
                  <a:pt x="20492" y="3574"/>
                </a:lnTo>
                <a:lnTo>
                  <a:pt x="11631" y="3574"/>
                </a:lnTo>
                <a:lnTo>
                  <a:pt x="11631" y="3263"/>
                </a:lnTo>
                <a:moveTo>
                  <a:pt x="11631" y="6060"/>
                </a:moveTo>
                <a:lnTo>
                  <a:pt x="20492" y="6060"/>
                </a:lnTo>
                <a:lnTo>
                  <a:pt x="20492" y="6371"/>
                </a:lnTo>
                <a:lnTo>
                  <a:pt x="11631" y="6371"/>
                </a:lnTo>
                <a:lnTo>
                  <a:pt x="11631" y="6060"/>
                </a:lnTo>
                <a:moveTo>
                  <a:pt x="11631" y="8081"/>
                </a:moveTo>
                <a:lnTo>
                  <a:pt x="20308" y="8081"/>
                </a:lnTo>
                <a:lnTo>
                  <a:pt x="20308" y="8391"/>
                </a:lnTo>
                <a:lnTo>
                  <a:pt x="11631" y="8391"/>
                </a:lnTo>
                <a:lnTo>
                  <a:pt x="11631" y="8081"/>
                </a:lnTo>
                <a:moveTo>
                  <a:pt x="11631" y="4196"/>
                </a:moveTo>
                <a:lnTo>
                  <a:pt x="12369" y="4196"/>
                </a:lnTo>
                <a:lnTo>
                  <a:pt x="12369" y="4817"/>
                </a:lnTo>
                <a:lnTo>
                  <a:pt x="11631" y="4817"/>
                </a:lnTo>
                <a:lnTo>
                  <a:pt x="11631" y="4196"/>
                </a:lnTo>
                <a:moveTo>
                  <a:pt x="14400" y="4196"/>
                </a:moveTo>
                <a:lnTo>
                  <a:pt x="15138" y="4196"/>
                </a:lnTo>
                <a:lnTo>
                  <a:pt x="15138" y="4817"/>
                </a:lnTo>
                <a:lnTo>
                  <a:pt x="14400" y="4817"/>
                </a:lnTo>
                <a:lnTo>
                  <a:pt x="14400" y="4196"/>
                </a:lnTo>
                <a:moveTo>
                  <a:pt x="16985" y="4196"/>
                </a:moveTo>
                <a:lnTo>
                  <a:pt x="17723" y="4196"/>
                </a:lnTo>
                <a:lnTo>
                  <a:pt x="17723" y="4817"/>
                </a:lnTo>
                <a:lnTo>
                  <a:pt x="16985" y="4817"/>
                </a:lnTo>
                <a:lnTo>
                  <a:pt x="16985" y="4196"/>
                </a:lnTo>
                <a:moveTo>
                  <a:pt x="19754" y="4196"/>
                </a:moveTo>
                <a:lnTo>
                  <a:pt x="20492" y="4196"/>
                </a:lnTo>
                <a:lnTo>
                  <a:pt x="20492" y="4817"/>
                </a:lnTo>
                <a:lnTo>
                  <a:pt x="19754" y="4817"/>
                </a:lnTo>
                <a:lnTo>
                  <a:pt x="19754" y="4196"/>
                </a:lnTo>
                <a:moveTo>
                  <a:pt x="11631" y="9635"/>
                </a:moveTo>
                <a:lnTo>
                  <a:pt x="12369" y="9635"/>
                </a:lnTo>
                <a:lnTo>
                  <a:pt x="12369" y="10256"/>
                </a:lnTo>
                <a:lnTo>
                  <a:pt x="11631" y="10256"/>
                </a:lnTo>
                <a:lnTo>
                  <a:pt x="11631" y="9635"/>
                </a:lnTo>
                <a:moveTo>
                  <a:pt x="14400" y="9635"/>
                </a:moveTo>
                <a:lnTo>
                  <a:pt x="15138" y="9635"/>
                </a:lnTo>
                <a:lnTo>
                  <a:pt x="15138" y="10256"/>
                </a:lnTo>
                <a:lnTo>
                  <a:pt x="14400" y="10256"/>
                </a:lnTo>
                <a:lnTo>
                  <a:pt x="14400" y="9635"/>
                </a:lnTo>
                <a:moveTo>
                  <a:pt x="16985" y="9635"/>
                </a:moveTo>
                <a:lnTo>
                  <a:pt x="17723" y="9635"/>
                </a:lnTo>
                <a:lnTo>
                  <a:pt x="17723" y="10256"/>
                </a:lnTo>
                <a:lnTo>
                  <a:pt x="16985" y="10256"/>
                </a:lnTo>
                <a:lnTo>
                  <a:pt x="16985" y="9635"/>
                </a:lnTo>
                <a:moveTo>
                  <a:pt x="19754" y="9635"/>
                </a:moveTo>
                <a:lnTo>
                  <a:pt x="20492" y="9635"/>
                </a:lnTo>
                <a:lnTo>
                  <a:pt x="20492" y="10256"/>
                </a:lnTo>
                <a:lnTo>
                  <a:pt x="19754" y="10256"/>
                </a:lnTo>
                <a:lnTo>
                  <a:pt x="19754" y="9635"/>
                </a:lnTo>
                <a:moveTo>
                  <a:pt x="10892" y="14141"/>
                </a:moveTo>
                <a:lnTo>
                  <a:pt x="10892" y="15384"/>
                </a:lnTo>
                <a:lnTo>
                  <a:pt x="10892" y="20046"/>
                </a:lnTo>
                <a:lnTo>
                  <a:pt x="10892" y="21600"/>
                </a:lnTo>
                <a:lnTo>
                  <a:pt x="10892" y="14141"/>
                </a:lnTo>
                <a:moveTo>
                  <a:pt x="10892" y="4351"/>
                </a:moveTo>
                <a:lnTo>
                  <a:pt x="10892" y="3574"/>
                </a:lnTo>
                <a:lnTo>
                  <a:pt x="10892" y="932"/>
                </a:lnTo>
                <a:lnTo>
                  <a:pt x="10892" y="0"/>
                </a:lnTo>
                <a:lnTo>
                  <a:pt x="10892" y="4351"/>
                </a:lnTo>
              </a:path>
            </a:pathLst>
          </a:custGeom>
          <a:solidFill>
            <a:srgbClr val="FFFFCC"/>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ru-RU"/>
          </a:p>
        </p:txBody>
      </p:sp>
      <p:sp>
        <p:nvSpPr>
          <p:cNvPr id="23" name="server"/>
          <p:cNvSpPr>
            <a:spLocks noEditPoints="1" noChangeArrowheads="1"/>
          </p:cNvSpPr>
          <p:nvPr/>
        </p:nvSpPr>
        <p:spPr bwMode="auto">
          <a:xfrm>
            <a:off x="6462210" y="4644135"/>
            <a:ext cx="1162501" cy="569932"/>
          </a:xfrm>
          <a:custGeom>
            <a:avLst/>
            <a:gdLst>
              <a:gd name="T0" fmla="*/ 0 w 21600"/>
              <a:gd name="T1" fmla="*/ 0 h 21600"/>
              <a:gd name="T2" fmla="*/ 10800 w 21600"/>
              <a:gd name="T3" fmla="*/ 0 h 21600"/>
              <a:gd name="T4" fmla="*/ 21600 w 21600"/>
              <a:gd name="T5" fmla="*/ 0 h 21600"/>
              <a:gd name="T6" fmla="*/ 21600 w 21600"/>
              <a:gd name="T7" fmla="*/ 10800 h 21600"/>
              <a:gd name="T8" fmla="*/ 21600 w 21600"/>
              <a:gd name="T9" fmla="*/ 21600 h 21600"/>
              <a:gd name="T10" fmla="*/ 10800 w 21600"/>
              <a:gd name="T11" fmla="*/ 21600 h 21600"/>
              <a:gd name="T12" fmla="*/ 0 w 21600"/>
              <a:gd name="T13" fmla="*/ 21600 h 21600"/>
              <a:gd name="T14" fmla="*/ 0 w 21600"/>
              <a:gd name="T15" fmla="*/ 10800 h 21600"/>
              <a:gd name="T16" fmla="*/ 761 w 21600"/>
              <a:gd name="T17" fmla="*/ 22454 h 21600"/>
              <a:gd name="T18" fmla="*/ 21069 w 21600"/>
              <a:gd name="T19" fmla="*/ 28282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0" y="0"/>
                </a:moveTo>
                <a:lnTo>
                  <a:pt x="21600" y="0"/>
                </a:lnTo>
                <a:lnTo>
                  <a:pt x="21600" y="21600"/>
                </a:lnTo>
                <a:lnTo>
                  <a:pt x="0" y="21600"/>
                </a:lnTo>
                <a:lnTo>
                  <a:pt x="0" y="0"/>
                </a:lnTo>
                <a:close/>
              </a:path>
              <a:path w="21600" h="21600" extrusionOk="0">
                <a:moveTo>
                  <a:pt x="1662" y="1709"/>
                </a:moveTo>
                <a:lnTo>
                  <a:pt x="9046" y="1709"/>
                </a:lnTo>
                <a:lnTo>
                  <a:pt x="9046" y="2331"/>
                </a:lnTo>
                <a:lnTo>
                  <a:pt x="1662" y="2331"/>
                </a:lnTo>
                <a:lnTo>
                  <a:pt x="1662" y="1709"/>
                </a:lnTo>
                <a:moveTo>
                  <a:pt x="0" y="4351"/>
                </a:moveTo>
                <a:lnTo>
                  <a:pt x="10892" y="4351"/>
                </a:lnTo>
                <a:lnTo>
                  <a:pt x="10892" y="14141"/>
                </a:lnTo>
                <a:lnTo>
                  <a:pt x="21600" y="14141"/>
                </a:lnTo>
                <a:moveTo>
                  <a:pt x="11631" y="1243"/>
                </a:moveTo>
                <a:lnTo>
                  <a:pt x="20492" y="1243"/>
                </a:lnTo>
                <a:lnTo>
                  <a:pt x="20492" y="1554"/>
                </a:lnTo>
                <a:lnTo>
                  <a:pt x="11631" y="1554"/>
                </a:lnTo>
                <a:lnTo>
                  <a:pt x="11631" y="1243"/>
                </a:lnTo>
                <a:moveTo>
                  <a:pt x="11631" y="3263"/>
                </a:moveTo>
                <a:lnTo>
                  <a:pt x="20492" y="3263"/>
                </a:lnTo>
                <a:lnTo>
                  <a:pt x="20492" y="3574"/>
                </a:lnTo>
                <a:lnTo>
                  <a:pt x="11631" y="3574"/>
                </a:lnTo>
                <a:lnTo>
                  <a:pt x="11631" y="3263"/>
                </a:lnTo>
                <a:moveTo>
                  <a:pt x="11631" y="6060"/>
                </a:moveTo>
                <a:lnTo>
                  <a:pt x="20492" y="6060"/>
                </a:lnTo>
                <a:lnTo>
                  <a:pt x="20492" y="6371"/>
                </a:lnTo>
                <a:lnTo>
                  <a:pt x="11631" y="6371"/>
                </a:lnTo>
                <a:lnTo>
                  <a:pt x="11631" y="6060"/>
                </a:lnTo>
                <a:moveTo>
                  <a:pt x="11631" y="8081"/>
                </a:moveTo>
                <a:lnTo>
                  <a:pt x="20308" y="8081"/>
                </a:lnTo>
                <a:lnTo>
                  <a:pt x="20308" y="8391"/>
                </a:lnTo>
                <a:lnTo>
                  <a:pt x="11631" y="8391"/>
                </a:lnTo>
                <a:lnTo>
                  <a:pt x="11631" y="8081"/>
                </a:lnTo>
                <a:moveTo>
                  <a:pt x="11631" y="4196"/>
                </a:moveTo>
                <a:lnTo>
                  <a:pt x="12369" y="4196"/>
                </a:lnTo>
                <a:lnTo>
                  <a:pt x="12369" y="4817"/>
                </a:lnTo>
                <a:lnTo>
                  <a:pt x="11631" y="4817"/>
                </a:lnTo>
                <a:lnTo>
                  <a:pt x="11631" y="4196"/>
                </a:lnTo>
                <a:moveTo>
                  <a:pt x="14400" y="4196"/>
                </a:moveTo>
                <a:lnTo>
                  <a:pt x="15138" y="4196"/>
                </a:lnTo>
                <a:lnTo>
                  <a:pt x="15138" y="4817"/>
                </a:lnTo>
                <a:lnTo>
                  <a:pt x="14400" y="4817"/>
                </a:lnTo>
                <a:lnTo>
                  <a:pt x="14400" y="4196"/>
                </a:lnTo>
                <a:moveTo>
                  <a:pt x="16985" y="4196"/>
                </a:moveTo>
                <a:lnTo>
                  <a:pt x="17723" y="4196"/>
                </a:lnTo>
                <a:lnTo>
                  <a:pt x="17723" y="4817"/>
                </a:lnTo>
                <a:lnTo>
                  <a:pt x="16985" y="4817"/>
                </a:lnTo>
                <a:lnTo>
                  <a:pt x="16985" y="4196"/>
                </a:lnTo>
                <a:moveTo>
                  <a:pt x="19754" y="4196"/>
                </a:moveTo>
                <a:lnTo>
                  <a:pt x="20492" y="4196"/>
                </a:lnTo>
                <a:lnTo>
                  <a:pt x="20492" y="4817"/>
                </a:lnTo>
                <a:lnTo>
                  <a:pt x="19754" y="4817"/>
                </a:lnTo>
                <a:lnTo>
                  <a:pt x="19754" y="4196"/>
                </a:lnTo>
                <a:moveTo>
                  <a:pt x="11631" y="9635"/>
                </a:moveTo>
                <a:lnTo>
                  <a:pt x="12369" y="9635"/>
                </a:lnTo>
                <a:lnTo>
                  <a:pt x="12369" y="10256"/>
                </a:lnTo>
                <a:lnTo>
                  <a:pt x="11631" y="10256"/>
                </a:lnTo>
                <a:lnTo>
                  <a:pt x="11631" y="9635"/>
                </a:lnTo>
                <a:moveTo>
                  <a:pt x="14400" y="9635"/>
                </a:moveTo>
                <a:lnTo>
                  <a:pt x="15138" y="9635"/>
                </a:lnTo>
                <a:lnTo>
                  <a:pt x="15138" y="10256"/>
                </a:lnTo>
                <a:lnTo>
                  <a:pt x="14400" y="10256"/>
                </a:lnTo>
                <a:lnTo>
                  <a:pt x="14400" y="9635"/>
                </a:lnTo>
                <a:moveTo>
                  <a:pt x="16985" y="9635"/>
                </a:moveTo>
                <a:lnTo>
                  <a:pt x="17723" y="9635"/>
                </a:lnTo>
                <a:lnTo>
                  <a:pt x="17723" y="10256"/>
                </a:lnTo>
                <a:lnTo>
                  <a:pt x="16985" y="10256"/>
                </a:lnTo>
                <a:lnTo>
                  <a:pt x="16985" y="9635"/>
                </a:lnTo>
                <a:moveTo>
                  <a:pt x="19754" y="9635"/>
                </a:moveTo>
                <a:lnTo>
                  <a:pt x="20492" y="9635"/>
                </a:lnTo>
                <a:lnTo>
                  <a:pt x="20492" y="10256"/>
                </a:lnTo>
                <a:lnTo>
                  <a:pt x="19754" y="10256"/>
                </a:lnTo>
                <a:lnTo>
                  <a:pt x="19754" y="9635"/>
                </a:lnTo>
                <a:moveTo>
                  <a:pt x="10892" y="14141"/>
                </a:moveTo>
                <a:lnTo>
                  <a:pt x="10892" y="15384"/>
                </a:lnTo>
                <a:lnTo>
                  <a:pt x="10892" y="20046"/>
                </a:lnTo>
                <a:lnTo>
                  <a:pt x="10892" y="21600"/>
                </a:lnTo>
                <a:lnTo>
                  <a:pt x="10892" y="14141"/>
                </a:lnTo>
                <a:moveTo>
                  <a:pt x="10892" y="4351"/>
                </a:moveTo>
                <a:lnTo>
                  <a:pt x="10892" y="3574"/>
                </a:lnTo>
                <a:lnTo>
                  <a:pt x="10892" y="932"/>
                </a:lnTo>
                <a:lnTo>
                  <a:pt x="10892" y="0"/>
                </a:lnTo>
                <a:lnTo>
                  <a:pt x="10892" y="4351"/>
                </a:lnTo>
              </a:path>
            </a:pathLst>
          </a:custGeom>
          <a:solidFill>
            <a:srgbClr val="FFFFCC"/>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ru-RU"/>
          </a:p>
        </p:txBody>
      </p:sp>
      <p:sp>
        <p:nvSpPr>
          <p:cNvPr id="17" name="TextBox 16"/>
          <p:cNvSpPr txBox="1"/>
          <p:nvPr/>
        </p:nvSpPr>
        <p:spPr>
          <a:xfrm>
            <a:off x="386535" y="3997804"/>
            <a:ext cx="2552771" cy="646331"/>
          </a:xfrm>
          <a:prstGeom prst="rect">
            <a:avLst/>
          </a:prstGeom>
          <a:noFill/>
        </p:spPr>
        <p:txBody>
          <a:bodyPr wrap="square" rtlCol="0">
            <a:spAutoFit/>
          </a:bodyPr>
          <a:lstStyle/>
          <a:p>
            <a:pPr algn="ctr"/>
            <a:r>
              <a:rPr lang="ru-RU" dirty="0"/>
              <a:t>Клиентские приложения-киоски</a:t>
            </a:r>
          </a:p>
        </p:txBody>
      </p:sp>
      <p:sp>
        <p:nvSpPr>
          <p:cNvPr id="27" name="TextBox 26"/>
          <p:cNvSpPr txBox="1"/>
          <p:nvPr/>
        </p:nvSpPr>
        <p:spPr>
          <a:xfrm>
            <a:off x="3324374" y="3997804"/>
            <a:ext cx="2552771" cy="646331"/>
          </a:xfrm>
          <a:prstGeom prst="rect">
            <a:avLst/>
          </a:prstGeom>
          <a:noFill/>
        </p:spPr>
        <p:txBody>
          <a:bodyPr wrap="square" rtlCol="0">
            <a:spAutoFit/>
          </a:bodyPr>
          <a:lstStyle/>
          <a:p>
            <a:pPr algn="ctr"/>
            <a:r>
              <a:rPr lang="ru-RU" dirty="0"/>
              <a:t>Клиентские приложения-киоски</a:t>
            </a:r>
          </a:p>
        </p:txBody>
      </p:sp>
      <p:sp>
        <p:nvSpPr>
          <p:cNvPr id="28" name="TextBox 27"/>
          <p:cNvSpPr txBox="1"/>
          <p:nvPr/>
        </p:nvSpPr>
        <p:spPr>
          <a:xfrm>
            <a:off x="5889659" y="3997804"/>
            <a:ext cx="2552771" cy="646331"/>
          </a:xfrm>
          <a:prstGeom prst="rect">
            <a:avLst/>
          </a:prstGeom>
          <a:noFill/>
        </p:spPr>
        <p:txBody>
          <a:bodyPr wrap="square" rtlCol="0">
            <a:spAutoFit/>
          </a:bodyPr>
          <a:lstStyle/>
          <a:p>
            <a:pPr algn="ctr"/>
            <a:r>
              <a:rPr lang="ru-RU" dirty="0"/>
              <a:t>Клиентские приложения-киоски</a:t>
            </a:r>
          </a:p>
        </p:txBody>
      </p:sp>
      <p:pic>
        <p:nvPicPr>
          <p:cNvPr id="2055" name="Picture 7" descr="C:\Users\Борис\AppData\Local\Microsoft\Windows\Temporary Internet Files\Content.IE5\7EWD2USM\MP900422593[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176845" y="5642571"/>
            <a:ext cx="1230979" cy="820333"/>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C:\Users\Борис\AppData\Local\Microsoft\Windows\Temporary Internet Files\Content.IE5\E9LL8X0M\MP900422589[1].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590554" y="5642573"/>
            <a:ext cx="1230979" cy="820332"/>
          </a:xfrm>
          <a:prstGeom prst="rect">
            <a:avLst/>
          </a:prstGeom>
          <a:noFill/>
          <a:extLst>
            <a:ext uri="{909E8E84-426E-40DD-AFC4-6F175D3DCCD1}">
              <a14:hiddenFill xmlns:a14="http://schemas.microsoft.com/office/drawing/2010/main">
                <a:solidFill>
                  <a:srgbClr val="FFFFFF"/>
                </a:solidFill>
              </a14:hiddenFill>
            </a:ext>
          </a:extLst>
        </p:spPr>
      </p:pic>
      <p:sp>
        <p:nvSpPr>
          <p:cNvPr id="18" name="Стрелка вниз 17"/>
          <p:cNvSpPr/>
          <p:nvPr/>
        </p:nvSpPr>
        <p:spPr>
          <a:xfrm rot="18632155">
            <a:off x="2365790" y="2438746"/>
            <a:ext cx="108000" cy="1006639"/>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 name="Стрелка вниз 31"/>
          <p:cNvSpPr/>
          <p:nvPr/>
        </p:nvSpPr>
        <p:spPr>
          <a:xfrm rot="2940000">
            <a:off x="6597954" y="2395018"/>
            <a:ext cx="108000" cy="1008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3" name="Стрелка вниз 32"/>
          <p:cNvSpPr/>
          <p:nvPr/>
        </p:nvSpPr>
        <p:spPr>
          <a:xfrm>
            <a:off x="4482554" y="2634009"/>
            <a:ext cx="108000" cy="36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4" name="Стрелка вниз 33"/>
          <p:cNvSpPr/>
          <p:nvPr/>
        </p:nvSpPr>
        <p:spPr>
          <a:xfrm rot="2940000">
            <a:off x="2754060" y="3900245"/>
            <a:ext cx="108000" cy="36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5" name="Стрелка вниз 34"/>
          <p:cNvSpPr/>
          <p:nvPr/>
        </p:nvSpPr>
        <p:spPr>
          <a:xfrm>
            <a:off x="4526995" y="4014105"/>
            <a:ext cx="108000" cy="36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6" name="Стрелка вниз 35"/>
          <p:cNvSpPr/>
          <p:nvPr/>
        </p:nvSpPr>
        <p:spPr>
          <a:xfrm rot="18632155">
            <a:off x="6329934" y="3857077"/>
            <a:ext cx="108000" cy="36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Номер слайда 5"/>
          <p:cNvSpPr>
            <a:spLocks noGrp="1"/>
          </p:cNvSpPr>
          <p:nvPr>
            <p:ph type="sldNum" sz="quarter" idx="11"/>
          </p:nvPr>
        </p:nvSpPr>
        <p:spPr/>
        <p:txBody>
          <a:bodyPr/>
          <a:lstStyle/>
          <a:p>
            <a:fld id="{4DC7491D-CDB9-48BE-BADB-11210BC61B1D}" type="slidenum">
              <a:rPr lang="ru-RU" smtClean="0"/>
              <a:pPr/>
              <a:t>14</a:t>
            </a:fld>
            <a:endParaRPr lang="ru-RU"/>
          </a:p>
        </p:txBody>
      </p:sp>
      <p:sp>
        <p:nvSpPr>
          <p:cNvPr id="3" name="TextBox 2"/>
          <p:cNvSpPr txBox="1"/>
          <p:nvPr/>
        </p:nvSpPr>
        <p:spPr>
          <a:xfrm>
            <a:off x="527050" y="0"/>
            <a:ext cx="8616950" cy="533400"/>
          </a:xfrm>
          <a:prstGeom prst="rect">
            <a:avLst/>
          </a:prstGeom>
          <a:noFill/>
        </p:spPr>
        <p:txBody>
          <a:bodyPr wrap="square" rtlCol="0">
            <a:spAutoFit/>
          </a:bodyPr>
          <a:lstStyle/>
          <a:p>
            <a:r>
              <a:rPr lang="ru-RU" sz="2800" dirty="0">
                <a:solidFill>
                  <a:schemeClr val="bg2">
                    <a:lumMod val="20000"/>
                    <a:lumOff val="80000"/>
                  </a:schemeClr>
                </a:solidFill>
              </a:rPr>
              <a:t>Концептуальная </a:t>
            </a:r>
            <a:r>
              <a:rPr lang="ru-RU" sz="2800" dirty="0">
                <a:solidFill>
                  <a:schemeClr val="bg2"/>
                </a:solidFill>
              </a:rPr>
              <a:t>архитектура Хранилища</a:t>
            </a:r>
            <a:r>
              <a:rPr lang="ru-RU" dirty="0">
                <a:solidFill>
                  <a:schemeClr val="bg2"/>
                </a:solidFill>
              </a:rPr>
              <a:t> </a:t>
            </a:r>
            <a:r>
              <a:rPr lang="ru-RU" sz="2800" dirty="0">
                <a:solidFill>
                  <a:schemeClr val="bg2"/>
                </a:solidFill>
              </a:rPr>
              <a:t>данных</a:t>
            </a:r>
          </a:p>
        </p:txBody>
      </p:sp>
      <p:pic>
        <p:nvPicPr>
          <p:cNvPr id="1026" name="Picture 2" descr="C:\Users\Boris\Dropbox\Базы_Данных_лекции\Лекция_2_12\рис 6_1.jpg"/>
          <p:cNvPicPr>
            <a:picLocks noChangeAspect="1" noChangeArrowheads="1"/>
          </p:cNvPicPr>
          <p:nvPr/>
        </p:nvPicPr>
        <p:blipFill>
          <a:blip r:embed="rId2" cstate="print"/>
          <a:srcRect/>
          <a:stretch>
            <a:fillRect/>
          </a:stretch>
        </p:blipFill>
        <p:spPr bwMode="auto">
          <a:xfrm>
            <a:off x="838200" y="661072"/>
            <a:ext cx="7467600" cy="6196928"/>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200" y="0"/>
            <a:ext cx="8229600" cy="609600"/>
          </a:xfrm>
        </p:spPr>
        <p:txBody>
          <a:bodyPr/>
          <a:lstStyle/>
          <a:p>
            <a:pPr algn="ctr"/>
            <a:r>
              <a:rPr lang="ru-RU" sz="3600" dirty="0">
                <a:solidFill>
                  <a:schemeClr val="bg2"/>
                </a:solidFill>
              </a:rPr>
              <a:t>Свойства хранилищ</a:t>
            </a:r>
          </a:p>
        </p:txBody>
      </p:sp>
      <p:sp>
        <p:nvSpPr>
          <p:cNvPr id="31747" name="Rectangle 3"/>
          <p:cNvSpPr>
            <a:spLocks noGrp="1" noChangeArrowheads="1"/>
          </p:cNvSpPr>
          <p:nvPr>
            <p:ph type="body" idx="1"/>
          </p:nvPr>
        </p:nvSpPr>
        <p:spPr>
          <a:xfrm>
            <a:off x="161510" y="683695"/>
            <a:ext cx="8839200" cy="5943600"/>
          </a:xfrm>
        </p:spPr>
        <p:txBody>
          <a:bodyPr/>
          <a:lstStyle/>
          <a:p>
            <a:pPr>
              <a:lnSpc>
                <a:spcPct val="90000"/>
              </a:lnSpc>
            </a:pPr>
            <a:r>
              <a:rPr lang="ru-RU" sz="2800" dirty="0"/>
              <a:t>Ориентация на предметную область. Представление для аналитика</a:t>
            </a:r>
          </a:p>
          <a:p>
            <a:pPr lvl="1">
              <a:lnSpc>
                <a:spcPct val="90000"/>
              </a:lnSpc>
              <a:buClr>
                <a:srgbClr val="C00000"/>
              </a:buClr>
              <a:buFont typeface="Wingdings" pitchFamily="2" charset="2"/>
              <a:buChar char="v"/>
            </a:pPr>
            <a:r>
              <a:rPr lang="en-US" sz="2400" i="1" dirty="0">
                <a:solidFill>
                  <a:schemeClr val="bg2"/>
                </a:solidFill>
              </a:rPr>
              <a:t>OLTP – </a:t>
            </a:r>
            <a:r>
              <a:rPr lang="ru-RU" sz="2400" i="1" dirty="0">
                <a:solidFill>
                  <a:schemeClr val="bg2"/>
                </a:solidFill>
              </a:rPr>
              <a:t>сделка. Заявки</a:t>
            </a:r>
          </a:p>
          <a:p>
            <a:pPr lvl="1">
              <a:lnSpc>
                <a:spcPct val="90000"/>
              </a:lnSpc>
              <a:buClr>
                <a:srgbClr val="C00000"/>
              </a:buClr>
              <a:buFont typeface="Wingdings" pitchFamily="2" charset="2"/>
              <a:buChar char="v"/>
            </a:pPr>
            <a:r>
              <a:rPr lang="en-US" sz="2400" i="1" dirty="0">
                <a:solidFill>
                  <a:schemeClr val="bg2"/>
                </a:solidFill>
              </a:rPr>
              <a:t>OLAP – </a:t>
            </a:r>
            <a:r>
              <a:rPr lang="ru-RU" sz="2400" i="1" dirty="0">
                <a:solidFill>
                  <a:schemeClr val="bg2"/>
                </a:solidFill>
              </a:rPr>
              <a:t>клиенты, товары, производители</a:t>
            </a:r>
          </a:p>
          <a:p>
            <a:pPr>
              <a:lnSpc>
                <a:spcPct val="90000"/>
              </a:lnSpc>
            </a:pPr>
            <a:r>
              <a:rPr lang="ru-RU" sz="2800" dirty="0" err="1"/>
              <a:t>Интегрированность</a:t>
            </a:r>
            <a:r>
              <a:rPr lang="ru-RU" sz="2800" dirty="0"/>
              <a:t>: </a:t>
            </a:r>
          </a:p>
          <a:p>
            <a:pPr lvl="1">
              <a:lnSpc>
                <a:spcPct val="90000"/>
              </a:lnSpc>
              <a:buClr>
                <a:srgbClr val="C00000"/>
              </a:buClr>
              <a:buFont typeface="Wingdings" pitchFamily="2" charset="2"/>
              <a:buChar char="v"/>
            </a:pPr>
            <a:r>
              <a:rPr lang="ru-RU" sz="2400" i="1" dirty="0">
                <a:solidFill>
                  <a:schemeClr val="bg2"/>
                </a:solidFill>
              </a:rPr>
              <a:t>разные домены для одинаковых атрибутов («январь», «</a:t>
            </a:r>
            <a:r>
              <a:rPr lang="ru-RU" sz="2400" i="1" dirty="0" err="1">
                <a:solidFill>
                  <a:schemeClr val="bg2"/>
                </a:solidFill>
              </a:rPr>
              <a:t>янв</a:t>
            </a:r>
            <a:r>
              <a:rPr lang="ru-RU" sz="2400" i="1" dirty="0">
                <a:solidFill>
                  <a:schemeClr val="bg2"/>
                </a:solidFill>
              </a:rPr>
              <a:t>», 01)</a:t>
            </a:r>
          </a:p>
          <a:p>
            <a:pPr lvl="1">
              <a:lnSpc>
                <a:spcPct val="90000"/>
              </a:lnSpc>
              <a:buClr>
                <a:srgbClr val="C00000"/>
              </a:buClr>
              <a:buFont typeface="Wingdings" pitchFamily="2" charset="2"/>
              <a:buChar char="v"/>
            </a:pPr>
            <a:r>
              <a:rPr lang="ru-RU" sz="2400" i="1" dirty="0">
                <a:solidFill>
                  <a:schemeClr val="bg2"/>
                </a:solidFill>
              </a:rPr>
              <a:t>нужно проверять на непротиворечивость и целостность</a:t>
            </a:r>
          </a:p>
          <a:p>
            <a:pPr>
              <a:lnSpc>
                <a:spcPct val="90000"/>
              </a:lnSpc>
            </a:pPr>
            <a:r>
              <a:rPr lang="ru-RU" sz="2800" dirty="0"/>
              <a:t>Неизменяемость данных</a:t>
            </a:r>
          </a:p>
          <a:p>
            <a:pPr lvl="1">
              <a:lnSpc>
                <a:spcPct val="90000"/>
              </a:lnSpc>
              <a:buClr>
                <a:srgbClr val="C00000"/>
              </a:buClr>
              <a:buFont typeface="Wingdings" pitchFamily="2" charset="2"/>
              <a:buChar char="v"/>
            </a:pPr>
            <a:r>
              <a:rPr lang="ru-RU" sz="2400" i="1" dirty="0">
                <a:solidFill>
                  <a:schemeClr val="bg2"/>
                </a:solidFill>
              </a:rPr>
              <a:t>неактуальны схемы блокировок, </a:t>
            </a:r>
          </a:p>
          <a:p>
            <a:pPr lvl="1">
              <a:lnSpc>
                <a:spcPct val="90000"/>
              </a:lnSpc>
              <a:buClr>
                <a:srgbClr val="C00000"/>
              </a:buClr>
              <a:buFont typeface="Wingdings" pitchFamily="2" charset="2"/>
              <a:buChar char="v"/>
            </a:pPr>
            <a:r>
              <a:rPr lang="ru-RU" sz="2400" i="1" dirty="0">
                <a:solidFill>
                  <a:schemeClr val="bg2"/>
                </a:solidFill>
              </a:rPr>
              <a:t>нет понятия транзакции</a:t>
            </a:r>
          </a:p>
          <a:p>
            <a:pPr marL="342900" lvl="5" indent="-342900">
              <a:lnSpc>
                <a:spcPct val="90000"/>
              </a:lnSpc>
              <a:buSzPct val="75000"/>
              <a:buFont typeface="Wingdings" pitchFamily="2" charset="2"/>
              <a:buChar char="n"/>
            </a:pPr>
            <a:r>
              <a:rPr lang="ru-RU" sz="2800" dirty="0">
                <a:ea typeface="+mn-ea"/>
              </a:rPr>
              <a:t>Поддержка хронологии</a:t>
            </a:r>
          </a:p>
          <a:p>
            <a:pPr lvl="1">
              <a:lnSpc>
                <a:spcPct val="90000"/>
              </a:lnSpc>
              <a:buClr>
                <a:srgbClr val="C00000"/>
              </a:buClr>
              <a:buFont typeface="Wingdings" pitchFamily="2" charset="2"/>
              <a:buChar char="v"/>
            </a:pPr>
            <a:r>
              <a:rPr lang="ru-RU" sz="2400" i="1" dirty="0">
                <a:solidFill>
                  <a:schemeClr val="bg2"/>
                </a:solidFill>
              </a:rPr>
              <a:t>Ключевые атрибуты: «дата» или «время»</a:t>
            </a:r>
          </a:p>
        </p:txBody>
      </p:sp>
      <p:sp>
        <p:nvSpPr>
          <p:cNvPr id="6" name="Номер слайда 5"/>
          <p:cNvSpPr>
            <a:spLocks noGrp="1"/>
          </p:cNvSpPr>
          <p:nvPr>
            <p:ph type="sldNum" sz="quarter" idx="11"/>
          </p:nvPr>
        </p:nvSpPr>
        <p:spPr/>
        <p:txBody>
          <a:bodyPr/>
          <a:lstStyle/>
          <a:p>
            <a:fld id="{4DC7491D-CDB9-48BE-BADB-11210BC61B1D}" type="slidenum">
              <a:rPr lang="ru-RU" smtClean="0"/>
              <a:pPr/>
              <a:t>15</a:t>
            </a:fld>
            <a:endParaRPr lang="ru-RU"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4" presetClass="entr" presetSubtype="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fade">
                                      <p:cBhvr>
                                        <p:cTn id="7" dur="500"/>
                                        <p:tgtEl>
                                          <p:spTgt spid="31747">
                                            <p:txEl>
                                              <p:pRg st="0" end="0"/>
                                            </p:txEl>
                                          </p:spTgt>
                                        </p:tgtEl>
                                      </p:cBhvr>
                                    </p:animEffect>
                                    <p:anim calcmode="lin" valueType="num">
                                      <p:cBhvr>
                                        <p:cTn id="8" dur="500" fill="hold"/>
                                        <p:tgtEl>
                                          <p:spTgt spid="31747">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31747">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31747">
                                            <p:txEl>
                                              <p:pRg st="1" end="1"/>
                                            </p:txEl>
                                          </p:spTgt>
                                        </p:tgtEl>
                                        <p:attrNameLst>
                                          <p:attrName>style.visibility</p:attrName>
                                        </p:attrNameLst>
                                      </p:cBhvr>
                                      <p:to>
                                        <p:strVal val="visible"/>
                                      </p:to>
                                    </p:set>
                                    <p:animEffect transition="in" filter="fade">
                                      <p:cBhvr>
                                        <p:cTn id="14" dur="500"/>
                                        <p:tgtEl>
                                          <p:spTgt spid="31747">
                                            <p:txEl>
                                              <p:pRg st="1" end="1"/>
                                            </p:txEl>
                                          </p:spTgt>
                                        </p:tgtEl>
                                      </p:cBhvr>
                                    </p:animEffect>
                                    <p:anim calcmode="lin" valueType="num">
                                      <p:cBhvr>
                                        <p:cTn id="15" dur="500" fill="hold"/>
                                        <p:tgtEl>
                                          <p:spTgt spid="31747">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31747">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31747">
                                            <p:txEl>
                                              <p:pRg st="2" end="2"/>
                                            </p:txEl>
                                          </p:spTgt>
                                        </p:tgtEl>
                                        <p:attrNameLst>
                                          <p:attrName>style.visibility</p:attrName>
                                        </p:attrNameLst>
                                      </p:cBhvr>
                                      <p:to>
                                        <p:strVal val="visible"/>
                                      </p:to>
                                    </p:set>
                                    <p:animEffect transition="in" filter="fade">
                                      <p:cBhvr>
                                        <p:cTn id="21" dur="500"/>
                                        <p:tgtEl>
                                          <p:spTgt spid="31747">
                                            <p:txEl>
                                              <p:pRg st="2" end="2"/>
                                            </p:txEl>
                                          </p:spTgt>
                                        </p:tgtEl>
                                      </p:cBhvr>
                                    </p:animEffect>
                                    <p:anim calcmode="lin" valueType="num">
                                      <p:cBhvr>
                                        <p:cTn id="22" dur="500" fill="hold"/>
                                        <p:tgtEl>
                                          <p:spTgt spid="31747">
                                            <p:txEl>
                                              <p:pRg st="2" end="2"/>
                                            </p:txEl>
                                          </p:spTgt>
                                        </p:tgtEl>
                                        <p:attrNameLst>
                                          <p:attrName>ppt_x</p:attrName>
                                        </p:attrNameLst>
                                      </p:cBhvr>
                                      <p:tavLst>
                                        <p:tav tm="0">
                                          <p:val>
                                            <p:strVal val="#ppt_x"/>
                                          </p:val>
                                        </p:tav>
                                        <p:tav tm="100000">
                                          <p:val>
                                            <p:strVal val="#ppt_x"/>
                                          </p:val>
                                        </p:tav>
                                      </p:tavLst>
                                    </p:anim>
                                    <p:anim calcmode="lin" valueType="num">
                                      <p:cBhvr>
                                        <p:cTn id="23" dur="500" fill="hold"/>
                                        <p:tgtEl>
                                          <p:spTgt spid="31747">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31747">
                                            <p:txEl>
                                              <p:pRg st="3" end="3"/>
                                            </p:txEl>
                                          </p:spTgt>
                                        </p:tgtEl>
                                        <p:attrNameLst>
                                          <p:attrName>style.visibility</p:attrName>
                                        </p:attrNameLst>
                                      </p:cBhvr>
                                      <p:to>
                                        <p:strVal val="visible"/>
                                      </p:to>
                                    </p:set>
                                    <p:animEffect transition="in" filter="fade">
                                      <p:cBhvr>
                                        <p:cTn id="28" dur="500"/>
                                        <p:tgtEl>
                                          <p:spTgt spid="31747">
                                            <p:txEl>
                                              <p:pRg st="3" end="3"/>
                                            </p:txEl>
                                          </p:spTgt>
                                        </p:tgtEl>
                                      </p:cBhvr>
                                    </p:animEffect>
                                    <p:anim calcmode="lin" valueType="num">
                                      <p:cBhvr>
                                        <p:cTn id="29" dur="500" fill="hold"/>
                                        <p:tgtEl>
                                          <p:spTgt spid="31747">
                                            <p:txEl>
                                              <p:pRg st="3" end="3"/>
                                            </p:txEl>
                                          </p:spTgt>
                                        </p:tgtEl>
                                        <p:attrNameLst>
                                          <p:attrName>ppt_x</p:attrName>
                                        </p:attrNameLst>
                                      </p:cBhvr>
                                      <p:tavLst>
                                        <p:tav tm="0">
                                          <p:val>
                                            <p:strVal val="#ppt_x"/>
                                          </p:val>
                                        </p:tav>
                                        <p:tav tm="100000">
                                          <p:val>
                                            <p:strVal val="#ppt_x"/>
                                          </p:val>
                                        </p:tav>
                                      </p:tavLst>
                                    </p:anim>
                                    <p:anim calcmode="lin" valueType="num">
                                      <p:cBhvr>
                                        <p:cTn id="30" dur="500" fill="hold"/>
                                        <p:tgtEl>
                                          <p:spTgt spid="31747">
                                            <p:txEl>
                                              <p:pRg st="3" end="3"/>
                                            </p:txEl>
                                          </p:spTgt>
                                        </p:tgtEl>
                                        <p:attrNameLst>
                                          <p:attrName>ppt_y</p:attrName>
                                        </p:attrNameLst>
                                      </p:cBhvr>
                                      <p:tavLst>
                                        <p:tav tm="0">
                                          <p:val>
                                            <p:strVal val="#ppt_y+.05"/>
                                          </p:val>
                                        </p:tav>
                                        <p:tav tm="100000">
                                          <p:val>
                                            <p:strVal val="#ppt_y"/>
                                          </p:val>
                                        </p:tav>
                                      </p:tavLst>
                                    </p:anim>
                                  </p:childTnLst>
                                </p:cTn>
                              </p:par>
                              <p:par>
                                <p:cTn id="31" presetID="44" presetClass="entr" presetSubtype="0" fill="hold" grpId="0" nodeType="withEffect">
                                  <p:stCondLst>
                                    <p:cond delay="0"/>
                                  </p:stCondLst>
                                  <p:childTnLst>
                                    <p:set>
                                      <p:cBhvr>
                                        <p:cTn id="32" dur="1" fill="hold">
                                          <p:stCondLst>
                                            <p:cond delay="0"/>
                                          </p:stCondLst>
                                        </p:cTn>
                                        <p:tgtEl>
                                          <p:spTgt spid="31747">
                                            <p:txEl>
                                              <p:pRg st="4" end="4"/>
                                            </p:txEl>
                                          </p:spTgt>
                                        </p:tgtEl>
                                        <p:attrNameLst>
                                          <p:attrName>style.visibility</p:attrName>
                                        </p:attrNameLst>
                                      </p:cBhvr>
                                      <p:to>
                                        <p:strVal val="visible"/>
                                      </p:to>
                                    </p:set>
                                    <p:animEffect transition="in" filter="fade">
                                      <p:cBhvr>
                                        <p:cTn id="33" dur="500"/>
                                        <p:tgtEl>
                                          <p:spTgt spid="31747">
                                            <p:txEl>
                                              <p:pRg st="4" end="4"/>
                                            </p:txEl>
                                          </p:spTgt>
                                        </p:tgtEl>
                                      </p:cBhvr>
                                    </p:animEffect>
                                    <p:anim calcmode="lin" valueType="num">
                                      <p:cBhvr>
                                        <p:cTn id="34" dur="500" fill="hold"/>
                                        <p:tgtEl>
                                          <p:spTgt spid="31747">
                                            <p:txEl>
                                              <p:pRg st="4" end="4"/>
                                            </p:txEl>
                                          </p:spTgt>
                                        </p:tgtEl>
                                        <p:attrNameLst>
                                          <p:attrName>ppt_x</p:attrName>
                                        </p:attrNameLst>
                                      </p:cBhvr>
                                      <p:tavLst>
                                        <p:tav tm="0">
                                          <p:val>
                                            <p:strVal val="#ppt_x"/>
                                          </p:val>
                                        </p:tav>
                                        <p:tav tm="100000">
                                          <p:val>
                                            <p:strVal val="#ppt_x"/>
                                          </p:val>
                                        </p:tav>
                                      </p:tavLst>
                                    </p:anim>
                                    <p:anim calcmode="lin" valueType="num">
                                      <p:cBhvr>
                                        <p:cTn id="35" dur="500" fill="hold"/>
                                        <p:tgtEl>
                                          <p:spTgt spid="31747">
                                            <p:txEl>
                                              <p:pRg st="4" end="4"/>
                                            </p:txEl>
                                          </p:spTgt>
                                        </p:tgtEl>
                                        <p:attrNameLst>
                                          <p:attrName>ppt_y</p:attrName>
                                        </p:attrNameLst>
                                      </p:cBhvr>
                                      <p:tavLst>
                                        <p:tav tm="0">
                                          <p:val>
                                            <p:strVal val="#ppt_y+.05"/>
                                          </p:val>
                                        </p:tav>
                                        <p:tav tm="100000">
                                          <p:val>
                                            <p:strVal val="#ppt_y"/>
                                          </p:val>
                                        </p:tav>
                                      </p:tavLst>
                                    </p:anim>
                                  </p:childTnLst>
                                </p:cTn>
                              </p:par>
                              <p:par>
                                <p:cTn id="36" presetID="44" presetClass="entr" presetSubtype="0" fill="hold" grpId="0" nodeType="withEffect">
                                  <p:stCondLst>
                                    <p:cond delay="0"/>
                                  </p:stCondLst>
                                  <p:childTnLst>
                                    <p:set>
                                      <p:cBhvr>
                                        <p:cTn id="37" dur="1" fill="hold">
                                          <p:stCondLst>
                                            <p:cond delay="0"/>
                                          </p:stCondLst>
                                        </p:cTn>
                                        <p:tgtEl>
                                          <p:spTgt spid="31747">
                                            <p:txEl>
                                              <p:pRg st="5" end="5"/>
                                            </p:txEl>
                                          </p:spTgt>
                                        </p:tgtEl>
                                        <p:attrNameLst>
                                          <p:attrName>style.visibility</p:attrName>
                                        </p:attrNameLst>
                                      </p:cBhvr>
                                      <p:to>
                                        <p:strVal val="visible"/>
                                      </p:to>
                                    </p:set>
                                    <p:animEffect transition="in" filter="fade">
                                      <p:cBhvr>
                                        <p:cTn id="38" dur="500"/>
                                        <p:tgtEl>
                                          <p:spTgt spid="31747">
                                            <p:txEl>
                                              <p:pRg st="5" end="5"/>
                                            </p:txEl>
                                          </p:spTgt>
                                        </p:tgtEl>
                                      </p:cBhvr>
                                    </p:animEffect>
                                    <p:anim calcmode="lin" valueType="num">
                                      <p:cBhvr>
                                        <p:cTn id="39" dur="500" fill="hold"/>
                                        <p:tgtEl>
                                          <p:spTgt spid="31747">
                                            <p:txEl>
                                              <p:pRg st="5" end="5"/>
                                            </p:txEl>
                                          </p:spTgt>
                                        </p:tgtEl>
                                        <p:attrNameLst>
                                          <p:attrName>ppt_x</p:attrName>
                                        </p:attrNameLst>
                                      </p:cBhvr>
                                      <p:tavLst>
                                        <p:tav tm="0">
                                          <p:val>
                                            <p:strVal val="#ppt_x"/>
                                          </p:val>
                                        </p:tav>
                                        <p:tav tm="100000">
                                          <p:val>
                                            <p:strVal val="#ppt_x"/>
                                          </p:val>
                                        </p:tav>
                                      </p:tavLst>
                                    </p:anim>
                                    <p:anim calcmode="lin" valueType="num">
                                      <p:cBhvr>
                                        <p:cTn id="40" dur="500" fill="hold"/>
                                        <p:tgtEl>
                                          <p:spTgt spid="31747">
                                            <p:txEl>
                                              <p:pRg st="5" end="5"/>
                                            </p:txEl>
                                          </p:spTgt>
                                        </p:tgtEl>
                                        <p:attrNameLst>
                                          <p:attrName>ppt_y</p:attrName>
                                        </p:attrNameLst>
                                      </p:cBhvr>
                                      <p:tavLst>
                                        <p:tav tm="0">
                                          <p:val>
                                            <p:strVal val="#ppt_y+.05"/>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4" presetClass="entr" presetSubtype="0" fill="hold" grpId="0" nodeType="clickEffect">
                                  <p:stCondLst>
                                    <p:cond delay="0"/>
                                  </p:stCondLst>
                                  <p:childTnLst>
                                    <p:set>
                                      <p:cBhvr>
                                        <p:cTn id="44" dur="1" fill="hold">
                                          <p:stCondLst>
                                            <p:cond delay="0"/>
                                          </p:stCondLst>
                                        </p:cTn>
                                        <p:tgtEl>
                                          <p:spTgt spid="31747">
                                            <p:txEl>
                                              <p:pRg st="6" end="6"/>
                                            </p:txEl>
                                          </p:spTgt>
                                        </p:tgtEl>
                                        <p:attrNameLst>
                                          <p:attrName>style.visibility</p:attrName>
                                        </p:attrNameLst>
                                      </p:cBhvr>
                                      <p:to>
                                        <p:strVal val="visible"/>
                                      </p:to>
                                    </p:set>
                                    <p:animEffect transition="in" filter="fade">
                                      <p:cBhvr>
                                        <p:cTn id="45" dur="500"/>
                                        <p:tgtEl>
                                          <p:spTgt spid="31747">
                                            <p:txEl>
                                              <p:pRg st="6" end="6"/>
                                            </p:txEl>
                                          </p:spTgt>
                                        </p:tgtEl>
                                      </p:cBhvr>
                                    </p:animEffect>
                                    <p:anim calcmode="lin" valueType="num">
                                      <p:cBhvr>
                                        <p:cTn id="46" dur="500" fill="hold"/>
                                        <p:tgtEl>
                                          <p:spTgt spid="31747">
                                            <p:txEl>
                                              <p:pRg st="6" end="6"/>
                                            </p:txEl>
                                          </p:spTgt>
                                        </p:tgtEl>
                                        <p:attrNameLst>
                                          <p:attrName>ppt_x</p:attrName>
                                        </p:attrNameLst>
                                      </p:cBhvr>
                                      <p:tavLst>
                                        <p:tav tm="0">
                                          <p:val>
                                            <p:strVal val="#ppt_x"/>
                                          </p:val>
                                        </p:tav>
                                        <p:tav tm="100000">
                                          <p:val>
                                            <p:strVal val="#ppt_x"/>
                                          </p:val>
                                        </p:tav>
                                      </p:tavLst>
                                    </p:anim>
                                    <p:anim calcmode="lin" valueType="num">
                                      <p:cBhvr>
                                        <p:cTn id="47" dur="500" fill="hold"/>
                                        <p:tgtEl>
                                          <p:spTgt spid="31747">
                                            <p:txEl>
                                              <p:pRg st="6" end="6"/>
                                            </p:txEl>
                                          </p:spTgt>
                                        </p:tgtEl>
                                        <p:attrNameLst>
                                          <p:attrName>ppt_y</p:attrName>
                                        </p:attrNameLst>
                                      </p:cBhvr>
                                      <p:tavLst>
                                        <p:tav tm="0">
                                          <p:val>
                                            <p:strVal val="#ppt_y+.05"/>
                                          </p:val>
                                        </p:tav>
                                        <p:tav tm="100000">
                                          <p:val>
                                            <p:strVal val="#ppt_y"/>
                                          </p:val>
                                        </p:tav>
                                      </p:tavLst>
                                    </p:anim>
                                  </p:childTnLst>
                                </p:cTn>
                              </p:par>
                              <p:par>
                                <p:cTn id="48" presetID="44" presetClass="entr" presetSubtype="0" fill="hold" grpId="0" nodeType="withEffect">
                                  <p:stCondLst>
                                    <p:cond delay="0"/>
                                  </p:stCondLst>
                                  <p:childTnLst>
                                    <p:set>
                                      <p:cBhvr>
                                        <p:cTn id="49" dur="1" fill="hold">
                                          <p:stCondLst>
                                            <p:cond delay="0"/>
                                          </p:stCondLst>
                                        </p:cTn>
                                        <p:tgtEl>
                                          <p:spTgt spid="31747">
                                            <p:txEl>
                                              <p:pRg st="7" end="7"/>
                                            </p:txEl>
                                          </p:spTgt>
                                        </p:tgtEl>
                                        <p:attrNameLst>
                                          <p:attrName>style.visibility</p:attrName>
                                        </p:attrNameLst>
                                      </p:cBhvr>
                                      <p:to>
                                        <p:strVal val="visible"/>
                                      </p:to>
                                    </p:set>
                                    <p:animEffect transition="in" filter="fade">
                                      <p:cBhvr>
                                        <p:cTn id="50" dur="500"/>
                                        <p:tgtEl>
                                          <p:spTgt spid="31747">
                                            <p:txEl>
                                              <p:pRg st="7" end="7"/>
                                            </p:txEl>
                                          </p:spTgt>
                                        </p:tgtEl>
                                      </p:cBhvr>
                                    </p:animEffect>
                                    <p:anim calcmode="lin" valueType="num">
                                      <p:cBhvr>
                                        <p:cTn id="51" dur="500" fill="hold"/>
                                        <p:tgtEl>
                                          <p:spTgt spid="31747">
                                            <p:txEl>
                                              <p:pRg st="7" end="7"/>
                                            </p:txEl>
                                          </p:spTgt>
                                        </p:tgtEl>
                                        <p:attrNameLst>
                                          <p:attrName>ppt_x</p:attrName>
                                        </p:attrNameLst>
                                      </p:cBhvr>
                                      <p:tavLst>
                                        <p:tav tm="0">
                                          <p:val>
                                            <p:strVal val="#ppt_x"/>
                                          </p:val>
                                        </p:tav>
                                        <p:tav tm="100000">
                                          <p:val>
                                            <p:strVal val="#ppt_x"/>
                                          </p:val>
                                        </p:tav>
                                      </p:tavLst>
                                    </p:anim>
                                    <p:anim calcmode="lin" valueType="num">
                                      <p:cBhvr>
                                        <p:cTn id="52" dur="500" fill="hold"/>
                                        <p:tgtEl>
                                          <p:spTgt spid="31747">
                                            <p:txEl>
                                              <p:pRg st="7" end="7"/>
                                            </p:txEl>
                                          </p:spTgt>
                                        </p:tgtEl>
                                        <p:attrNameLst>
                                          <p:attrName>ppt_y</p:attrName>
                                        </p:attrNameLst>
                                      </p:cBhvr>
                                      <p:tavLst>
                                        <p:tav tm="0">
                                          <p:val>
                                            <p:strVal val="#ppt_y+.05"/>
                                          </p:val>
                                        </p:tav>
                                        <p:tav tm="100000">
                                          <p:val>
                                            <p:strVal val="#ppt_y"/>
                                          </p:val>
                                        </p:tav>
                                      </p:tavLst>
                                    </p:anim>
                                  </p:childTnLst>
                                </p:cTn>
                              </p:par>
                              <p:par>
                                <p:cTn id="53" presetID="44" presetClass="entr" presetSubtype="0" fill="hold" grpId="0" nodeType="withEffect">
                                  <p:stCondLst>
                                    <p:cond delay="0"/>
                                  </p:stCondLst>
                                  <p:childTnLst>
                                    <p:set>
                                      <p:cBhvr>
                                        <p:cTn id="54" dur="1" fill="hold">
                                          <p:stCondLst>
                                            <p:cond delay="0"/>
                                          </p:stCondLst>
                                        </p:cTn>
                                        <p:tgtEl>
                                          <p:spTgt spid="31747">
                                            <p:txEl>
                                              <p:pRg st="8" end="8"/>
                                            </p:txEl>
                                          </p:spTgt>
                                        </p:tgtEl>
                                        <p:attrNameLst>
                                          <p:attrName>style.visibility</p:attrName>
                                        </p:attrNameLst>
                                      </p:cBhvr>
                                      <p:to>
                                        <p:strVal val="visible"/>
                                      </p:to>
                                    </p:set>
                                    <p:animEffect transition="in" filter="fade">
                                      <p:cBhvr>
                                        <p:cTn id="55" dur="500"/>
                                        <p:tgtEl>
                                          <p:spTgt spid="31747">
                                            <p:txEl>
                                              <p:pRg st="8" end="8"/>
                                            </p:txEl>
                                          </p:spTgt>
                                        </p:tgtEl>
                                      </p:cBhvr>
                                    </p:animEffect>
                                    <p:anim calcmode="lin" valueType="num">
                                      <p:cBhvr>
                                        <p:cTn id="56" dur="500" fill="hold"/>
                                        <p:tgtEl>
                                          <p:spTgt spid="31747">
                                            <p:txEl>
                                              <p:pRg st="8" end="8"/>
                                            </p:txEl>
                                          </p:spTgt>
                                        </p:tgtEl>
                                        <p:attrNameLst>
                                          <p:attrName>ppt_x</p:attrName>
                                        </p:attrNameLst>
                                      </p:cBhvr>
                                      <p:tavLst>
                                        <p:tav tm="0">
                                          <p:val>
                                            <p:strVal val="#ppt_x"/>
                                          </p:val>
                                        </p:tav>
                                        <p:tav tm="100000">
                                          <p:val>
                                            <p:strVal val="#ppt_x"/>
                                          </p:val>
                                        </p:tav>
                                      </p:tavLst>
                                    </p:anim>
                                    <p:anim calcmode="lin" valueType="num">
                                      <p:cBhvr>
                                        <p:cTn id="57" dur="500" fill="hold"/>
                                        <p:tgtEl>
                                          <p:spTgt spid="31747">
                                            <p:txEl>
                                              <p:pRg st="8" end="8"/>
                                            </p:txEl>
                                          </p:spTgt>
                                        </p:tgtEl>
                                        <p:attrNameLst>
                                          <p:attrName>ppt_y</p:attrName>
                                        </p:attrNameLst>
                                      </p:cBhvr>
                                      <p:tavLst>
                                        <p:tav tm="0">
                                          <p:val>
                                            <p:strVal val="#ppt_y+.05"/>
                                          </p:val>
                                        </p:tav>
                                        <p:tav tm="100000">
                                          <p:val>
                                            <p:strVal val="#ppt_y"/>
                                          </p:val>
                                        </p:tav>
                                      </p:tavLst>
                                    </p:anim>
                                  </p:childTnLst>
                                </p:cTn>
                              </p:par>
                              <p:par>
                                <p:cTn id="58" presetID="44" presetClass="entr" presetSubtype="0" fill="hold" grpId="0" nodeType="withEffect">
                                  <p:stCondLst>
                                    <p:cond delay="0"/>
                                  </p:stCondLst>
                                  <p:childTnLst>
                                    <p:set>
                                      <p:cBhvr>
                                        <p:cTn id="59" dur="1" fill="hold">
                                          <p:stCondLst>
                                            <p:cond delay="0"/>
                                          </p:stCondLst>
                                        </p:cTn>
                                        <p:tgtEl>
                                          <p:spTgt spid="31747">
                                            <p:txEl>
                                              <p:pRg st="9" end="9"/>
                                            </p:txEl>
                                          </p:spTgt>
                                        </p:tgtEl>
                                        <p:attrNameLst>
                                          <p:attrName>style.visibility</p:attrName>
                                        </p:attrNameLst>
                                      </p:cBhvr>
                                      <p:to>
                                        <p:strVal val="visible"/>
                                      </p:to>
                                    </p:set>
                                    <p:animEffect transition="in" filter="fade">
                                      <p:cBhvr>
                                        <p:cTn id="60" dur="500"/>
                                        <p:tgtEl>
                                          <p:spTgt spid="31747">
                                            <p:txEl>
                                              <p:pRg st="9" end="9"/>
                                            </p:txEl>
                                          </p:spTgt>
                                        </p:tgtEl>
                                      </p:cBhvr>
                                    </p:animEffect>
                                    <p:anim calcmode="lin" valueType="num">
                                      <p:cBhvr>
                                        <p:cTn id="61" dur="500" fill="hold"/>
                                        <p:tgtEl>
                                          <p:spTgt spid="31747">
                                            <p:txEl>
                                              <p:pRg st="9" end="9"/>
                                            </p:txEl>
                                          </p:spTgt>
                                        </p:tgtEl>
                                        <p:attrNameLst>
                                          <p:attrName>ppt_x</p:attrName>
                                        </p:attrNameLst>
                                      </p:cBhvr>
                                      <p:tavLst>
                                        <p:tav tm="0">
                                          <p:val>
                                            <p:strVal val="#ppt_x"/>
                                          </p:val>
                                        </p:tav>
                                        <p:tav tm="100000">
                                          <p:val>
                                            <p:strVal val="#ppt_x"/>
                                          </p:val>
                                        </p:tav>
                                      </p:tavLst>
                                    </p:anim>
                                    <p:anim calcmode="lin" valueType="num">
                                      <p:cBhvr>
                                        <p:cTn id="62" dur="500" fill="hold"/>
                                        <p:tgtEl>
                                          <p:spTgt spid="31747">
                                            <p:txEl>
                                              <p:pRg st="9" end="9"/>
                                            </p:txEl>
                                          </p:spTgt>
                                        </p:tgtEl>
                                        <p:attrNameLst>
                                          <p:attrName>ppt_y</p:attrName>
                                        </p:attrNameLst>
                                      </p:cBhvr>
                                      <p:tavLst>
                                        <p:tav tm="0">
                                          <p:val>
                                            <p:strVal val="#ppt_y+.05"/>
                                          </p:val>
                                        </p:tav>
                                        <p:tav tm="100000">
                                          <p:val>
                                            <p:strVal val="#ppt_y"/>
                                          </p:val>
                                        </p:tav>
                                      </p:tavLst>
                                    </p:anim>
                                  </p:childTnLst>
                                </p:cTn>
                              </p:par>
                              <p:par>
                                <p:cTn id="63" presetID="44" presetClass="entr" presetSubtype="0" fill="hold" grpId="0" nodeType="withEffect">
                                  <p:stCondLst>
                                    <p:cond delay="0"/>
                                  </p:stCondLst>
                                  <p:childTnLst>
                                    <p:set>
                                      <p:cBhvr>
                                        <p:cTn id="64" dur="1" fill="hold">
                                          <p:stCondLst>
                                            <p:cond delay="0"/>
                                          </p:stCondLst>
                                        </p:cTn>
                                        <p:tgtEl>
                                          <p:spTgt spid="31747">
                                            <p:txEl>
                                              <p:pRg st="10" end="10"/>
                                            </p:txEl>
                                          </p:spTgt>
                                        </p:tgtEl>
                                        <p:attrNameLst>
                                          <p:attrName>style.visibility</p:attrName>
                                        </p:attrNameLst>
                                      </p:cBhvr>
                                      <p:to>
                                        <p:strVal val="visible"/>
                                      </p:to>
                                    </p:set>
                                    <p:animEffect transition="in" filter="fade">
                                      <p:cBhvr>
                                        <p:cTn id="65" dur="500"/>
                                        <p:tgtEl>
                                          <p:spTgt spid="31747">
                                            <p:txEl>
                                              <p:pRg st="10" end="10"/>
                                            </p:txEl>
                                          </p:spTgt>
                                        </p:tgtEl>
                                      </p:cBhvr>
                                    </p:animEffect>
                                    <p:anim calcmode="lin" valueType="num">
                                      <p:cBhvr>
                                        <p:cTn id="66" dur="500" fill="hold"/>
                                        <p:tgtEl>
                                          <p:spTgt spid="31747">
                                            <p:txEl>
                                              <p:pRg st="10" end="10"/>
                                            </p:txEl>
                                          </p:spTgt>
                                        </p:tgtEl>
                                        <p:attrNameLst>
                                          <p:attrName>ppt_x</p:attrName>
                                        </p:attrNameLst>
                                      </p:cBhvr>
                                      <p:tavLst>
                                        <p:tav tm="0">
                                          <p:val>
                                            <p:strVal val="#ppt_x"/>
                                          </p:val>
                                        </p:tav>
                                        <p:tav tm="100000">
                                          <p:val>
                                            <p:strVal val="#ppt_x"/>
                                          </p:val>
                                        </p:tav>
                                      </p:tavLst>
                                    </p:anim>
                                    <p:anim calcmode="lin" valueType="num">
                                      <p:cBhvr>
                                        <p:cTn id="67" dur="500" fill="hold"/>
                                        <p:tgtEl>
                                          <p:spTgt spid="31747">
                                            <p:txEl>
                                              <p:pRg st="10" end="10"/>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457200" y="-127000"/>
            <a:ext cx="8229600" cy="990600"/>
          </a:xfrm>
        </p:spPr>
        <p:txBody>
          <a:bodyPr/>
          <a:lstStyle/>
          <a:p>
            <a:pPr algn="ctr"/>
            <a:r>
              <a:rPr lang="ru-RU" sz="3600" dirty="0">
                <a:solidFill>
                  <a:schemeClr val="bg2"/>
                </a:solidFill>
              </a:rPr>
              <a:t>Свойства данных в </a:t>
            </a:r>
            <a:r>
              <a:rPr lang="en-US" sz="3600" dirty="0">
                <a:solidFill>
                  <a:schemeClr val="bg2"/>
                </a:solidFill>
              </a:rPr>
              <a:t>OLTP </a:t>
            </a:r>
            <a:r>
              <a:rPr lang="ru-RU" sz="3600" dirty="0">
                <a:solidFill>
                  <a:schemeClr val="bg2"/>
                </a:solidFill>
              </a:rPr>
              <a:t>и</a:t>
            </a:r>
            <a:r>
              <a:rPr lang="en-US" sz="3600" dirty="0">
                <a:solidFill>
                  <a:schemeClr val="bg2"/>
                </a:solidFill>
              </a:rPr>
              <a:t> OLAP</a:t>
            </a:r>
            <a:endParaRPr lang="ru-RU" sz="3600" dirty="0">
              <a:solidFill>
                <a:schemeClr val="bg2"/>
              </a:solidFill>
            </a:endParaRPr>
          </a:p>
        </p:txBody>
      </p:sp>
      <p:sp>
        <p:nvSpPr>
          <p:cNvPr id="6" name="Номер слайда 5"/>
          <p:cNvSpPr>
            <a:spLocks noGrp="1"/>
          </p:cNvSpPr>
          <p:nvPr>
            <p:ph type="sldNum" sz="quarter" idx="11"/>
          </p:nvPr>
        </p:nvSpPr>
        <p:spPr/>
        <p:txBody>
          <a:bodyPr/>
          <a:lstStyle/>
          <a:p>
            <a:fld id="{4DC7491D-CDB9-48BE-BADB-11210BC61B1D}" type="slidenum">
              <a:rPr lang="ru-RU" smtClean="0"/>
              <a:pPr/>
              <a:t>16</a:t>
            </a:fld>
            <a:endParaRPr lang="ru-RU"/>
          </a:p>
        </p:txBody>
      </p:sp>
      <p:graphicFrame>
        <p:nvGraphicFramePr>
          <p:cNvPr id="8" name="Таблица 7"/>
          <p:cNvGraphicFramePr>
            <a:graphicFrameLocks noGrp="1"/>
          </p:cNvGraphicFramePr>
          <p:nvPr/>
        </p:nvGraphicFramePr>
        <p:xfrm>
          <a:off x="381000" y="1295400"/>
          <a:ext cx="8382000" cy="5208477"/>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20000"/>
                    </a:ext>
                  </a:extLst>
                </a:gridCol>
                <a:gridCol w="2794000">
                  <a:extLst>
                    <a:ext uri="{9D8B030D-6E8A-4147-A177-3AD203B41FA5}">
                      <a16:colId xmlns:a16="http://schemas.microsoft.com/office/drawing/2014/main" val="20001"/>
                    </a:ext>
                  </a:extLst>
                </a:gridCol>
                <a:gridCol w="2794000">
                  <a:extLst>
                    <a:ext uri="{9D8B030D-6E8A-4147-A177-3AD203B41FA5}">
                      <a16:colId xmlns:a16="http://schemas.microsoft.com/office/drawing/2014/main" val="20002"/>
                    </a:ext>
                  </a:extLst>
                </a:gridCol>
              </a:tblGrid>
              <a:tr h="800925">
                <a:tc>
                  <a:txBody>
                    <a:bodyPr/>
                    <a:lstStyle/>
                    <a:p>
                      <a:pPr algn="ctr"/>
                      <a:r>
                        <a:rPr lang="ru-RU" sz="2800" dirty="0"/>
                        <a:t>Свойство</a:t>
                      </a:r>
                    </a:p>
                  </a:txBody>
                  <a:tcPr>
                    <a:lnB w="12700" cap="flat" cmpd="sng" algn="ctr">
                      <a:solidFill>
                        <a:schemeClr val="tx1"/>
                      </a:solidFill>
                      <a:prstDash val="solid"/>
                      <a:round/>
                      <a:headEnd type="none" w="med" len="med"/>
                      <a:tailEnd type="none" w="med" len="med"/>
                    </a:lnB>
                  </a:tcPr>
                </a:tc>
                <a:tc>
                  <a:txBody>
                    <a:bodyPr/>
                    <a:lstStyle/>
                    <a:p>
                      <a:pPr algn="ctr"/>
                      <a:r>
                        <a:rPr lang="en-US" sz="2800" dirty="0"/>
                        <a:t>OLTP</a:t>
                      </a:r>
                      <a:endParaRPr lang="ru-RU" sz="2800" dirty="0"/>
                    </a:p>
                  </a:txBody>
                  <a:tcPr>
                    <a:lnB w="12700" cap="flat" cmpd="sng" algn="ctr">
                      <a:solidFill>
                        <a:schemeClr val="tx1"/>
                      </a:solidFill>
                      <a:prstDash val="solid"/>
                      <a:round/>
                      <a:headEnd type="none" w="med" len="med"/>
                      <a:tailEnd type="none" w="med" len="med"/>
                    </a:lnB>
                  </a:tcPr>
                </a:tc>
                <a:tc>
                  <a:txBody>
                    <a:bodyPr/>
                    <a:lstStyle/>
                    <a:p>
                      <a:pPr algn="ctr"/>
                      <a:r>
                        <a:rPr lang="en-US" sz="2800" dirty="0"/>
                        <a:t>OLAP</a:t>
                      </a:r>
                      <a:endParaRPr lang="ru-RU" sz="2800"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032304">
                <a:tc>
                  <a:txBody>
                    <a:bodyPr/>
                    <a:lstStyle/>
                    <a:p>
                      <a:r>
                        <a:rPr lang="ru-RU" sz="2000" dirty="0"/>
                        <a:t>Назначение данных</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2000" dirty="0"/>
                        <a:t>Оперативный поиск, несложные запросы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2000" dirty="0"/>
                        <a:t>Аналитическая обработка, прогнозирование,</a:t>
                      </a:r>
                      <a:r>
                        <a:rPr lang="ru-RU" sz="2000" baseline="0" dirty="0"/>
                        <a:t> моделирование</a:t>
                      </a:r>
                      <a:endParaRPr lang="ru-RU"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032304">
                <a:tc>
                  <a:txBody>
                    <a:bodyPr/>
                    <a:lstStyle/>
                    <a:p>
                      <a:r>
                        <a:rPr lang="ru-RU" sz="2000" dirty="0"/>
                        <a:t>Уровень агрегации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2000" dirty="0"/>
                        <a:t>Детализированные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2000" dirty="0"/>
                        <a:t>Агрегированные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032304">
                <a:tc>
                  <a:txBody>
                    <a:bodyPr/>
                    <a:lstStyle/>
                    <a:p>
                      <a:r>
                        <a:rPr lang="ru-RU" sz="2000" dirty="0"/>
                        <a:t>Период хранения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2000" dirty="0"/>
                        <a:t>От нескольких месяцев до года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2000" dirty="0"/>
                        <a:t>От нескольких лет до десятков лет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032304">
                <a:tc>
                  <a:txBody>
                    <a:bodyPr/>
                    <a:lstStyle/>
                    <a:p>
                      <a:r>
                        <a:rPr lang="ru-RU" sz="2000" dirty="0"/>
                        <a:t>Частота обновления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2000" dirty="0"/>
                        <a:t>Высокая, обновление мелкими порциями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2000" dirty="0"/>
                        <a:t>Малая,</a:t>
                      </a:r>
                      <a:r>
                        <a:rPr lang="ru-RU" sz="2000" baseline="0" dirty="0"/>
                        <a:t> обновление большими порциями</a:t>
                      </a:r>
                      <a:endParaRPr lang="ru-RU"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48130"/>
                                        </p:tgtEl>
                                        <p:attrNameLst>
                                          <p:attrName>style.visibility</p:attrName>
                                        </p:attrNameLst>
                                      </p:cBhvr>
                                      <p:to>
                                        <p:strVal val="visible"/>
                                      </p:to>
                                    </p:set>
                                    <p:anim calcmode="lin" valueType="num">
                                      <p:cBhvr>
                                        <p:cTn id="7" dur="1000" fill="hold"/>
                                        <p:tgtEl>
                                          <p:spTgt spid="48130"/>
                                        </p:tgtEl>
                                        <p:attrNameLst>
                                          <p:attrName>ppt_x</p:attrName>
                                        </p:attrNameLst>
                                      </p:cBhvr>
                                      <p:tavLst>
                                        <p:tav tm="0">
                                          <p:val>
                                            <p:strVal val="#ppt_x-.2"/>
                                          </p:val>
                                        </p:tav>
                                        <p:tav tm="100000">
                                          <p:val>
                                            <p:strVal val="#ppt_x"/>
                                          </p:val>
                                        </p:tav>
                                      </p:tavLst>
                                    </p:anim>
                                    <p:anim calcmode="lin" valueType="num">
                                      <p:cBhvr>
                                        <p:cTn id="8" dur="1000" fill="hold"/>
                                        <p:tgtEl>
                                          <p:spTgt spid="48130"/>
                                        </p:tgtEl>
                                        <p:attrNameLst>
                                          <p:attrName>ppt_y</p:attrName>
                                        </p:attrNameLst>
                                      </p:cBhvr>
                                      <p:tavLst>
                                        <p:tav tm="0">
                                          <p:val>
                                            <p:strVal val="#ppt_y"/>
                                          </p:val>
                                        </p:tav>
                                        <p:tav tm="100000">
                                          <p:val>
                                            <p:strVal val="#ppt_y"/>
                                          </p:val>
                                        </p:tav>
                                      </p:tavLst>
                                    </p:anim>
                                    <p:animEffect transition="in" filter="wipe(right)" prLst="gradientSize: 0.1">
                                      <p:cBhvr>
                                        <p:cTn id="9" dur="1000"/>
                                        <p:tgtEl>
                                          <p:spTgt spid="48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457200" y="228600"/>
            <a:ext cx="8229600" cy="990600"/>
          </a:xfrm>
        </p:spPr>
        <p:txBody>
          <a:bodyPr/>
          <a:lstStyle/>
          <a:p>
            <a:pPr algn="ctr"/>
            <a:r>
              <a:rPr lang="ru-RU" sz="3600" dirty="0">
                <a:solidFill>
                  <a:schemeClr val="bg2"/>
                </a:solidFill>
              </a:rPr>
              <a:t>Задачи при создании ХД</a:t>
            </a:r>
          </a:p>
        </p:txBody>
      </p:sp>
      <p:sp>
        <p:nvSpPr>
          <p:cNvPr id="33795" name="Rectangle 3"/>
          <p:cNvSpPr>
            <a:spLocks noGrp="1" noChangeArrowheads="1"/>
          </p:cNvSpPr>
          <p:nvPr>
            <p:ph type="body" idx="1"/>
          </p:nvPr>
        </p:nvSpPr>
        <p:spPr>
          <a:xfrm>
            <a:off x="260350" y="1143000"/>
            <a:ext cx="8667750" cy="5257800"/>
          </a:xfrm>
        </p:spPr>
        <p:txBody>
          <a:bodyPr>
            <a:normAutofit fontScale="85000" lnSpcReduction="10000"/>
          </a:bodyPr>
          <a:lstStyle/>
          <a:p>
            <a:pPr>
              <a:lnSpc>
                <a:spcPct val="150000"/>
              </a:lnSpc>
            </a:pPr>
            <a:r>
              <a:rPr lang="ru-RU" dirty="0"/>
              <a:t>Выбор </a:t>
            </a:r>
            <a:r>
              <a:rPr lang="ru-RU" b="1" dirty="0"/>
              <a:t>оптимальной структуры хранения </a:t>
            </a:r>
            <a:r>
              <a:rPr lang="ru-RU" dirty="0"/>
              <a:t>с точки зрения обеспечения приемлемого времени отклика на аналитические запросы и требуемого объема памяти</a:t>
            </a:r>
          </a:p>
          <a:p>
            <a:pPr>
              <a:lnSpc>
                <a:spcPct val="150000"/>
              </a:lnSpc>
            </a:pPr>
            <a:r>
              <a:rPr lang="ru-RU" dirty="0"/>
              <a:t>Первоначальное </a:t>
            </a:r>
            <a:r>
              <a:rPr lang="ru-RU" b="1" dirty="0"/>
              <a:t>заполнение и последующие пополнения </a:t>
            </a:r>
            <a:r>
              <a:rPr lang="ru-RU" dirty="0"/>
              <a:t>хранилища данными</a:t>
            </a:r>
          </a:p>
          <a:p>
            <a:pPr>
              <a:lnSpc>
                <a:spcPct val="150000"/>
              </a:lnSpc>
            </a:pPr>
            <a:r>
              <a:rPr lang="ru-RU" dirty="0"/>
              <a:t>Обеспечение </a:t>
            </a:r>
            <a:r>
              <a:rPr lang="ru-RU" b="1" dirty="0"/>
              <a:t>удобства доступа </a:t>
            </a:r>
            <a:r>
              <a:rPr lang="ru-RU" dirty="0"/>
              <a:t>пользователей </a:t>
            </a:r>
            <a:r>
              <a:rPr lang="ru-RU" b="1" dirty="0"/>
              <a:t>к данным</a:t>
            </a:r>
          </a:p>
        </p:txBody>
      </p:sp>
      <p:sp>
        <p:nvSpPr>
          <p:cNvPr id="6" name="Номер слайда 5"/>
          <p:cNvSpPr>
            <a:spLocks noGrp="1"/>
          </p:cNvSpPr>
          <p:nvPr>
            <p:ph type="sldNum" sz="quarter" idx="11"/>
          </p:nvPr>
        </p:nvSpPr>
        <p:spPr/>
        <p:txBody>
          <a:bodyPr/>
          <a:lstStyle/>
          <a:p>
            <a:fld id="{4DC7491D-CDB9-48BE-BADB-11210BC61B1D}" type="slidenum">
              <a:rPr lang="ru-RU" smtClean="0"/>
              <a:pPr/>
              <a:t>17</a:t>
            </a:fld>
            <a:endParaRPr lang="ru-R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wipe(up)">
                                      <p:cBhvr>
                                        <p:cTn id="7" dur="500"/>
                                        <p:tgtEl>
                                          <p:spTgt spid="337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3795">
                                            <p:txEl>
                                              <p:pRg st="1" end="1"/>
                                            </p:txEl>
                                          </p:spTgt>
                                        </p:tgtEl>
                                        <p:attrNameLst>
                                          <p:attrName>style.visibility</p:attrName>
                                        </p:attrNameLst>
                                      </p:cBhvr>
                                      <p:to>
                                        <p:strVal val="visible"/>
                                      </p:to>
                                    </p:set>
                                    <p:animEffect transition="in" filter="wipe(up)">
                                      <p:cBhvr>
                                        <p:cTn id="12" dur="500"/>
                                        <p:tgtEl>
                                          <p:spTgt spid="337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3795">
                                            <p:txEl>
                                              <p:pRg st="2" end="2"/>
                                            </p:txEl>
                                          </p:spTgt>
                                        </p:tgtEl>
                                        <p:attrNameLst>
                                          <p:attrName>style.visibility</p:attrName>
                                        </p:attrNameLst>
                                      </p:cBhvr>
                                      <p:to>
                                        <p:strVal val="visible"/>
                                      </p:to>
                                    </p:set>
                                    <p:animEffect transition="in" filter="wipe(up)">
                                      <p:cBhvr>
                                        <p:cTn id="17" dur="500"/>
                                        <p:tgtEl>
                                          <p:spTgt spid="337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457200" y="228600"/>
            <a:ext cx="8229600" cy="533400"/>
          </a:xfrm>
        </p:spPr>
        <p:txBody>
          <a:bodyPr/>
          <a:lstStyle/>
          <a:p>
            <a:pPr algn="ctr"/>
            <a:r>
              <a:rPr lang="ru-RU" sz="3600" dirty="0">
                <a:solidFill>
                  <a:schemeClr val="bg2"/>
                </a:solidFill>
              </a:rPr>
              <a:t>Модели данных для ХД</a:t>
            </a:r>
          </a:p>
        </p:txBody>
      </p:sp>
      <p:sp>
        <p:nvSpPr>
          <p:cNvPr id="38915" name="Rectangle 3"/>
          <p:cNvSpPr>
            <a:spLocks noGrp="1" noChangeArrowheads="1"/>
          </p:cNvSpPr>
          <p:nvPr>
            <p:ph type="body" idx="1"/>
          </p:nvPr>
        </p:nvSpPr>
        <p:spPr>
          <a:xfrm>
            <a:off x="393700" y="850900"/>
            <a:ext cx="8293100" cy="5778500"/>
          </a:xfrm>
        </p:spPr>
        <p:txBody>
          <a:bodyPr>
            <a:normAutofit fontScale="85000" lnSpcReduction="10000"/>
          </a:bodyPr>
          <a:lstStyle/>
          <a:p>
            <a:r>
              <a:rPr lang="ru-RU" dirty="0"/>
              <a:t>Задачи, решаемые </a:t>
            </a:r>
            <a:r>
              <a:rPr lang="en-US" dirty="0"/>
              <a:t>OLTP</a:t>
            </a:r>
            <a:r>
              <a:rPr lang="ru-RU" dirty="0"/>
              <a:t> и </a:t>
            </a:r>
            <a:r>
              <a:rPr lang="en-US" dirty="0"/>
              <a:t>OLAP </a:t>
            </a:r>
            <a:r>
              <a:rPr lang="ru-RU" dirty="0"/>
              <a:t>(аналитическими системами) – СУЩЕСТВЕННО различны</a:t>
            </a:r>
            <a:endParaRPr lang="en-US" dirty="0"/>
          </a:p>
          <a:p>
            <a:r>
              <a:rPr lang="ru-RU" sz="2800" dirty="0"/>
              <a:t>Количество транзакций – скорость выполнения сложных запросов.</a:t>
            </a:r>
          </a:p>
          <a:p>
            <a:r>
              <a:rPr lang="ru-RU" sz="2800" dirty="0"/>
              <a:t>Особенность </a:t>
            </a:r>
            <a:r>
              <a:rPr lang="en-US" sz="2800" dirty="0"/>
              <a:t>OLAP (</a:t>
            </a:r>
            <a:r>
              <a:rPr lang="ru-RU" sz="2800" dirty="0"/>
              <a:t>СППР) </a:t>
            </a:r>
            <a:r>
              <a:rPr lang="en-US" sz="2800" dirty="0"/>
              <a:t>– </a:t>
            </a:r>
            <a:r>
              <a:rPr lang="ru-RU" sz="2800" dirty="0"/>
              <a:t>загрузка, обновление данных происходят РЕДКО, БОЛЬШИМИ порциями</a:t>
            </a:r>
          </a:p>
          <a:p>
            <a:r>
              <a:rPr lang="ru-RU" sz="2800" dirty="0"/>
              <a:t>Поэтому не предусматриваются средства на обеспечение целостности, восстановления, устранения взаимных блокировок</a:t>
            </a:r>
          </a:p>
          <a:p>
            <a:r>
              <a:rPr lang="ru-RU" sz="2800" dirty="0"/>
              <a:t>2 подхода: </a:t>
            </a:r>
            <a:endParaRPr lang="en-US" sz="2800" dirty="0"/>
          </a:p>
          <a:p>
            <a:r>
              <a:rPr lang="ru-RU" sz="2800" b="1" dirty="0">
                <a:solidFill>
                  <a:srgbClr val="0070C0"/>
                </a:solidFill>
              </a:rPr>
              <a:t>Многомерная модель (</a:t>
            </a:r>
            <a:r>
              <a:rPr lang="en-US" sz="2800" b="1" dirty="0">
                <a:solidFill>
                  <a:srgbClr val="0070C0"/>
                </a:solidFill>
              </a:rPr>
              <a:t>Multidimensional OLAP – MOLAP</a:t>
            </a:r>
            <a:r>
              <a:rPr lang="ru-RU" sz="2800" b="1" dirty="0">
                <a:solidFill>
                  <a:srgbClr val="0070C0"/>
                </a:solidFill>
              </a:rPr>
              <a:t>)</a:t>
            </a:r>
          </a:p>
          <a:p>
            <a:r>
              <a:rPr lang="ru-RU" sz="2800" b="1" dirty="0">
                <a:solidFill>
                  <a:srgbClr val="0070C0"/>
                </a:solidFill>
              </a:rPr>
              <a:t>Реляционная модель (</a:t>
            </a:r>
            <a:r>
              <a:rPr lang="en-US" sz="2800" b="1" dirty="0">
                <a:solidFill>
                  <a:srgbClr val="0070C0"/>
                </a:solidFill>
              </a:rPr>
              <a:t>Relational OLAP – ROLAP</a:t>
            </a:r>
            <a:r>
              <a:rPr lang="ru-RU" sz="2800" b="1" dirty="0">
                <a:solidFill>
                  <a:srgbClr val="0070C0"/>
                </a:solidFill>
              </a:rPr>
              <a:t>)</a:t>
            </a:r>
            <a:endParaRPr lang="en-US" sz="2800" b="1" dirty="0">
              <a:solidFill>
                <a:srgbClr val="0070C0"/>
              </a:solidFill>
            </a:endParaRPr>
          </a:p>
          <a:p>
            <a:endParaRPr lang="ru-RU" sz="2800" dirty="0"/>
          </a:p>
        </p:txBody>
      </p:sp>
      <p:sp>
        <p:nvSpPr>
          <p:cNvPr id="6" name="Номер слайда 5"/>
          <p:cNvSpPr>
            <a:spLocks noGrp="1"/>
          </p:cNvSpPr>
          <p:nvPr>
            <p:ph type="sldNum" sz="quarter" idx="11"/>
          </p:nvPr>
        </p:nvSpPr>
        <p:spPr>
          <a:xfrm>
            <a:off x="8172450" y="6248400"/>
            <a:ext cx="514350" cy="609600"/>
          </a:xfrm>
        </p:spPr>
        <p:txBody>
          <a:bodyPr/>
          <a:lstStyle/>
          <a:p>
            <a:fld id="{4DC7491D-CDB9-48BE-BADB-11210BC61B1D}" type="slidenum">
              <a:rPr lang="ru-RU" smtClean="0"/>
              <a:pPr/>
              <a:t>18</a:t>
            </a:fld>
            <a:endParaRPr lang="ru-R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Effect transition="in" filter="wipe(up)">
                                      <p:cBhvr>
                                        <p:cTn id="7" dur="500"/>
                                        <p:tgtEl>
                                          <p:spTgt spid="389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8915">
                                            <p:txEl>
                                              <p:pRg st="1" end="1"/>
                                            </p:txEl>
                                          </p:spTgt>
                                        </p:tgtEl>
                                        <p:attrNameLst>
                                          <p:attrName>style.visibility</p:attrName>
                                        </p:attrNameLst>
                                      </p:cBhvr>
                                      <p:to>
                                        <p:strVal val="visible"/>
                                      </p:to>
                                    </p:set>
                                    <p:animEffect transition="in" filter="wipe(up)">
                                      <p:cBhvr>
                                        <p:cTn id="12" dur="500"/>
                                        <p:tgtEl>
                                          <p:spTgt spid="389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8915">
                                            <p:txEl>
                                              <p:pRg st="2" end="2"/>
                                            </p:txEl>
                                          </p:spTgt>
                                        </p:tgtEl>
                                        <p:attrNameLst>
                                          <p:attrName>style.visibility</p:attrName>
                                        </p:attrNameLst>
                                      </p:cBhvr>
                                      <p:to>
                                        <p:strVal val="visible"/>
                                      </p:to>
                                    </p:set>
                                    <p:animEffect transition="in" filter="wipe(up)">
                                      <p:cBhvr>
                                        <p:cTn id="17" dur="500"/>
                                        <p:tgtEl>
                                          <p:spTgt spid="389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8915">
                                            <p:txEl>
                                              <p:pRg st="3" end="3"/>
                                            </p:txEl>
                                          </p:spTgt>
                                        </p:tgtEl>
                                        <p:attrNameLst>
                                          <p:attrName>style.visibility</p:attrName>
                                        </p:attrNameLst>
                                      </p:cBhvr>
                                      <p:to>
                                        <p:strVal val="visible"/>
                                      </p:to>
                                    </p:set>
                                    <p:animEffect transition="in" filter="wipe(up)">
                                      <p:cBhvr>
                                        <p:cTn id="22" dur="500"/>
                                        <p:tgtEl>
                                          <p:spTgt spid="389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8915">
                                            <p:txEl>
                                              <p:pRg st="4" end="4"/>
                                            </p:txEl>
                                          </p:spTgt>
                                        </p:tgtEl>
                                        <p:attrNameLst>
                                          <p:attrName>style.visibility</p:attrName>
                                        </p:attrNameLst>
                                      </p:cBhvr>
                                      <p:to>
                                        <p:strVal val="visible"/>
                                      </p:to>
                                    </p:set>
                                    <p:animEffect transition="in" filter="wipe(up)">
                                      <p:cBhvr>
                                        <p:cTn id="27" dur="500"/>
                                        <p:tgtEl>
                                          <p:spTgt spid="3891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8915">
                                            <p:txEl>
                                              <p:pRg st="5" end="5"/>
                                            </p:txEl>
                                          </p:spTgt>
                                        </p:tgtEl>
                                        <p:attrNameLst>
                                          <p:attrName>style.visibility</p:attrName>
                                        </p:attrNameLst>
                                      </p:cBhvr>
                                      <p:to>
                                        <p:strVal val="visible"/>
                                      </p:to>
                                    </p:set>
                                    <p:animEffect transition="in" filter="wipe(up)">
                                      <p:cBhvr>
                                        <p:cTn id="32" dur="500"/>
                                        <p:tgtEl>
                                          <p:spTgt spid="3891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8915">
                                            <p:txEl>
                                              <p:pRg st="6" end="6"/>
                                            </p:txEl>
                                          </p:spTgt>
                                        </p:tgtEl>
                                        <p:attrNameLst>
                                          <p:attrName>style.visibility</p:attrName>
                                        </p:attrNameLst>
                                      </p:cBhvr>
                                      <p:to>
                                        <p:strVal val="visible"/>
                                      </p:to>
                                    </p:set>
                                    <p:animEffect transition="in" filter="wipe(up)">
                                      <p:cBhvr>
                                        <p:cTn id="37" dur="500"/>
                                        <p:tgtEl>
                                          <p:spTgt spid="389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0" y="184150"/>
            <a:ext cx="9144000" cy="533400"/>
          </a:xfrm>
        </p:spPr>
        <p:txBody>
          <a:bodyPr/>
          <a:lstStyle/>
          <a:p>
            <a:pPr algn="ctr"/>
            <a:r>
              <a:rPr lang="ru-RU" sz="2800" dirty="0">
                <a:solidFill>
                  <a:schemeClr val="bg1"/>
                </a:solidFill>
              </a:rPr>
              <a:t>Пример хранилища</a:t>
            </a:r>
            <a:r>
              <a:rPr lang="ru-RU" sz="2800" dirty="0">
                <a:solidFill>
                  <a:schemeClr val="bg2"/>
                </a:solidFill>
              </a:rPr>
              <a:t>: социально-экономическая обстановка в России </a:t>
            </a:r>
          </a:p>
        </p:txBody>
      </p:sp>
      <p:sp>
        <p:nvSpPr>
          <p:cNvPr id="38915" name="Rectangle 3"/>
          <p:cNvSpPr>
            <a:spLocks noGrp="1" noChangeArrowheads="1"/>
          </p:cNvSpPr>
          <p:nvPr>
            <p:ph type="body" idx="1"/>
          </p:nvPr>
        </p:nvSpPr>
        <p:spPr>
          <a:xfrm>
            <a:off x="358775" y="946150"/>
            <a:ext cx="8426450" cy="5638800"/>
          </a:xfrm>
        </p:spPr>
        <p:txBody>
          <a:bodyPr>
            <a:normAutofit fontScale="85000" lnSpcReduction="10000"/>
          </a:bodyPr>
          <a:lstStyle/>
          <a:p>
            <a:r>
              <a:rPr lang="ru-RU" sz="2800" dirty="0"/>
              <a:t>Социально-экономическая обстановка в России характеризуется многими параметрами, в том числе:</a:t>
            </a:r>
          </a:p>
          <a:p>
            <a:pPr lvl="1">
              <a:buClr>
                <a:srgbClr val="C00000"/>
              </a:buClr>
              <a:buFont typeface="Wingdings" pitchFamily="2" charset="2"/>
              <a:buChar char="Ø"/>
            </a:pPr>
            <a:r>
              <a:rPr lang="ru-RU" sz="2400" dirty="0"/>
              <a:t>Объем промышленного производства,</a:t>
            </a:r>
          </a:p>
          <a:p>
            <a:pPr lvl="1">
              <a:buClr>
                <a:srgbClr val="C00000"/>
              </a:buClr>
              <a:buFont typeface="Wingdings" pitchFamily="2" charset="2"/>
              <a:buChar char="Ø"/>
            </a:pPr>
            <a:r>
              <a:rPr lang="ru-RU" sz="2400" dirty="0"/>
              <a:t>Индекс потребительских цен и др.</a:t>
            </a:r>
          </a:p>
          <a:p>
            <a:r>
              <a:rPr lang="ru-RU" sz="2800" dirty="0"/>
              <a:t>Госкомстат собирает эти данные для различных субъектов РФ помесячно, поквартально, за год</a:t>
            </a:r>
          </a:p>
          <a:p>
            <a:r>
              <a:rPr lang="ru-RU" sz="2800" dirty="0"/>
              <a:t>В хранилище должны попасть факты вида: </a:t>
            </a:r>
            <a:br>
              <a:rPr lang="en-US" sz="2800" dirty="0"/>
            </a:br>
            <a:r>
              <a:rPr lang="ru-RU" sz="2800" dirty="0"/>
              <a:t>«</a:t>
            </a:r>
            <a:r>
              <a:rPr lang="ru-RU" sz="2800" dirty="0">
                <a:solidFill>
                  <a:srgbClr val="FF0000"/>
                </a:solidFill>
              </a:rPr>
              <a:t>Название параметра </a:t>
            </a:r>
            <a:r>
              <a:rPr lang="ru-RU" sz="2800" dirty="0"/>
              <a:t>в</a:t>
            </a:r>
            <a:r>
              <a:rPr lang="ru-RU" sz="2800" dirty="0">
                <a:solidFill>
                  <a:srgbClr val="00B050"/>
                </a:solidFill>
              </a:rPr>
              <a:t> субъекте РФ </a:t>
            </a:r>
            <a:r>
              <a:rPr lang="ru-RU" sz="2800" dirty="0"/>
              <a:t>в </a:t>
            </a:r>
            <a:r>
              <a:rPr lang="ru-RU" sz="2800" dirty="0">
                <a:solidFill>
                  <a:srgbClr val="7030A0"/>
                </a:solidFill>
              </a:rPr>
              <a:t>момент времени </a:t>
            </a:r>
            <a:r>
              <a:rPr lang="ru-RU" sz="2800" dirty="0"/>
              <a:t>был равен </a:t>
            </a:r>
            <a:r>
              <a:rPr lang="en-US" sz="2800" dirty="0"/>
              <a:t>{</a:t>
            </a:r>
            <a:r>
              <a:rPr lang="ru-RU" sz="2800" b="1" i="1" dirty="0"/>
              <a:t>значение</a:t>
            </a:r>
            <a:r>
              <a:rPr lang="en-US" sz="2800" dirty="0"/>
              <a:t>}</a:t>
            </a:r>
            <a:r>
              <a:rPr lang="ru-RU" sz="2800" dirty="0"/>
              <a:t>»</a:t>
            </a:r>
          </a:p>
          <a:p>
            <a:pPr marL="0" indent="0">
              <a:spcBef>
                <a:spcPts val="600"/>
              </a:spcBef>
              <a:buNone/>
            </a:pPr>
            <a:r>
              <a:rPr lang="ru-RU" sz="2800" b="1" dirty="0">
                <a:solidFill>
                  <a:schemeClr val="accent1">
                    <a:lumMod val="50000"/>
                  </a:schemeClr>
                </a:solidFill>
                <a:latin typeface="Times New Roman" pitchFamily="18" charset="0"/>
                <a:cs typeface="Times New Roman" pitchFamily="18" charset="0"/>
              </a:rPr>
              <a:t>Индекс потребительских цен в Москве в декабре 1996г. равен 101%</a:t>
            </a:r>
          </a:p>
          <a:p>
            <a:pPr marL="0" indent="360000">
              <a:spcBef>
                <a:spcPts val="600"/>
              </a:spcBef>
              <a:buNone/>
            </a:pPr>
            <a:r>
              <a:rPr lang="ru-RU" sz="2800" dirty="0"/>
              <a:t>Так как число возможных параметров, субъектов РФ и моментов времени конечно, данные можно представить в виде гиперкуба в 3-х мерном пространстве (</a:t>
            </a:r>
            <a:r>
              <a:rPr lang="en-US" sz="2800" dirty="0"/>
              <a:t>P,S,T)</a:t>
            </a:r>
            <a:r>
              <a:rPr lang="ru-RU" sz="2800" dirty="0"/>
              <a:t>. </a:t>
            </a:r>
            <a:br>
              <a:rPr lang="ru-RU" sz="2800" dirty="0"/>
            </a:br>
            <a:r>
              <a:rPr lang="en-US" sz="2800" dirty="0"/>
              <a:t>P – </a:t>
            </a:r>
            <a:r>
              <a:rPr lang="ru-RU" sz="2800" dirty="0"/>
              <a:t>параметр, </a:t>
            </a:r>
            <a:r>
              <a:rPr lang="en-US" sz="2800" dirty="0"/>
              <a:t>S </a:t>
            </a:r>
            <a:r>
              <a:rPr lang="ru-RU" sz="2800" dirty="0"/>
              <a:t>– субъект, </a:t>
            </a:r>
            <a:r>
              <a:rPr lang="en-US" sz="2800" dirty="0"/>
              <a:t>T – </a:t>
            </a:r>
            <a:r>
              <a:rPr lang="ru-RU" sz="2800" dirty="0"/>
              <a:t>момент времени</a:t>
            </a:r>
          </a:p>
        </p:txBody>
      </p:sp>
      <p:sp>
        <p:nvSpPr>
          <p:cNvPr id="6" name="Номер слайда 5"/>
          <p:cNvSpPr>
            <a:spLocks noGrp="1"/>
          </p:cNvSpPr>
          <p:nvPr>
            <p:ph type="sldNum" sz="quarter" idx="11"/>
          </p:nvPr>
        </p:nvSpPr>
        <p:spPr/>
        <p:txBody>
          <a:bodyPr/>
          <a:lstStyle/>
          <a:p>
            <a:fld id="{4DC7491D-CDB9-48BE-BADB-11210BC61B1D}" type="slidenum">
              <a:rPr lang="ru-RU" smtClean="0"/>
              <a:pPr/>
              <a:t>19</a:t>
            </a:fld>
            <a:endParaRPr lang="ru-R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Effect transition="in" filter="wipe(up)">
                                      <p:cBhvr>
                                        <p:cTn id="7" dur="500"/>
                                        <p:tgtEl>
                                          <p:spTgt spid="38915">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8915">
                                            <p:txEl>
                                              <p:pRg st="1" end="1"/>
                                            </p:txEl>
                                          </p:spTgt>
                                        </p:tgtEl>
                                        <p:attrNameLst>
                                          <p:attrName>style.visibility</p:attrName>
                                        </p:attrNameLst>
                                      </p:cBhvr>
                                      <p:to>
                                        <p:strVal val="visible"/>
                                      </p:to>
                                    </p:set>
                                    <p:animEffect transition="in" filter="wipe(up)">
                                      <p:cBhvr>
                                        <p:cTn id="10" dur="500"/>
                                        <p:tgtEl>
                                          <p:spTgt spid="38915">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8915">
                                            <p:txEl>
                                              <p:pRg st="2" end="2"/>
                                            </p:txEl>
                                          </p:spTgt>
                                        </p:tgtEl>
                                        <p:attrNameLst>
                                          <p:attrName>style.visibility</p:attrName>
                                        </p:attrNameLst>
                                      </p:cBhvr>
                                      <p:to>
                                        <p:strVal val="visible"/>
                                      </p:to>
                                    </p:set>
                                    <p:animEffect transition="in" filter="wipe(up)">
                                      <p:cBhvr>
                                        <p:cTn id="13" dur="500"/>
                                        <p:tgtEl>
                                          <p:spTgt spid="3891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38915">
                                            <p:txEl>
                                              <p:pRg st="3" end="3"/>
                                            </p:txEl>
                                          </p:spTgt>
                                        </p:tgtEl>
                                        <p:attrNameLst>
                                          <p:attrName>style.visibility</p:attrName>
                                        </p:attrNameLst>
                                      </p:cBhvr>
                                      <p:to>
                                        <p:strVal val="visible"/>
                                      </p:to>
                                    </p:set>
                                    <p:animEffect transition="in" filter="wipe(up)">
                                      <p:cBhvr>
                                        <p:cTn id="18" dur="500"/>
                                        <p:tgtEl>
                                          <p:spTgt spid="3891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38915">
                                            <p:txEl>
                                              <p:pRg st="4" end="4"/>
                                            </p:txEl>
                                          </p:spTgt>
                                        </p:tgtEl>
                                        <p:attrNameLst>
                                          <p:attrName>style.visibility</p:attrName>
                                        </p:attrNameLst>
                                      </p:cBhvr>
                                      <p:to>
                                        <p:strVal val="visible"/>
                                      </p:to>
                                    </p:set>
                                    <p:animEffect transition="in" filter="wipe(up)">
                                      <p:cBhvr>
                                        <p:cTn id="23" dur="500"/>
                                        <p:tgtEl>
                                          <p:spTgt spid="38915">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38915">
                                            <p:txEl>
                                              <p:pRg st="5" end="5"/>
                                            </p:txEl>
                                          </p:spTgt>
                                        </p:tgtEl>
                                        <p:attrNameLst>
                                          <p:attrName>style.visibility</p:attrName>
                                        </p:attrNameLst>
                                      </p:cBhvr>
                                      <p:to>
                                        <p:strVal val="visible"/>
                                      </p:to>
                                    </p:set>
                                    <p:animEffect transition="in" filter="wipe(up)">
                                      <p:cBhvr>
                                        <p:cTn id="28" dur="500"/>
                                        <p:tgtEl>
                                          <p:spTgt spid="38915">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38915">
                                            <p:txEl>
                                              <p:pRg st="6" end="6"/>
                                            </p:txEl>
                                          </p:spTgt>
                                        </p:tgtEl>
                                        <p:attrNameLst>
                                          <p:attrName>style.visibility</p:attrName>
                                        </p:attrNameLst>
                                      </p:cBhvr>
                                      <p:to>
                                        <p:strVal val="visible"/>
                                      </p:to>
                                    </p:set>
                                    <p:animEffect transition="in" filter="wipe(up)">
                                      <p:cBhvr>
                                        <p:cTn id="33" dur="500"/>
                                        <p:tgtEl>
                                          <p:spTgt spid="389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0" y="184150"/>
            <a:ext cx="9144000" cy="533400"/>
          </a:xfrm>
        </p:spPr>
        <p:txBody>
          <a:bodyPr/>
          <a:lstStyle/>
          <a:p>
            <a:pPr algn="ctr"/>
            <a:r>
              <a:rPr lang="ru-RU" sz="2800" dirty="0">
                <a:solidFill>
                  <a:schemeClr val="accent2">
                    <a:lumMod val="75000"/>
                  </a:schemeClr>
                </a:solidFill>
              </a:rPr>
              <a:t>Представление данных в виде гиперкуба</a:t>
            </a:r>
          </a:p>
        </p:txBody>
      </p:sp>
      <p:sp>
        <p:nvSpPr>
          <p:cNvPr id="6" name="Номер слайда 5"/>
          <p:cNvSpPr>
            <a:spLocks noGrp="1"/>
          </p:cNvSpPr>
          <p:nvPr>
            <p:ph type="sldNum" sz="quarter" idx="11"/>
          </p:nvPr>
        </p:nvSpPr>
        <p:spPr/>
        <p:txBody>
          <a:bodyPr/>
          <a:lstStyle/>
          <a:p>
            <a:fld id="{4DC7491D-CDB9-48BE-BADB-11210BC61B1D}" type="slidenum">
              <a:rPr lang="ru-RU" smtClean="0"/>
              <a:pPr/>
              <a:t>20</a:t>
            </a:fld>
            <a:endParaRPr lang="ru-RU"/>
          </a:p>
        </p:txBody>
      </p:sp>
      <p:grpSp>
        <p:nvGrpSpPr>
          <p:cNvPr id="2" name="Группа 41"/>
          <p:cNvGrpSpPr/>
          <p:nvPr/>
        </p:nvGrpSpPr>
        <p:grpSpPr>
          <a:xfrm>
            <a:off x="2393950" y="939800"/>
            <a:ext cx="4311650" cy="4445000"/>
            <a:chOff x="1327150" y="2978948"/>
            <a:chExt cx="3244850" cy="3240001"/>
          </a:xfrm>
        </p:grpSpPr>
        <p:sp>
          <p:nvSpPr>
            <p:cNvPr id="4" name="Куб 3"/>
            <p:cNvSpPr/>
            <p:nvPr/>
          </p:nvSpPr>
          <p:spPr>
            <a:xfrm>
              <a:off x="1327150" y="2978949"/>
              <a:ext cx="3240000" cy="3240000"/>
            </a:xfrm>
            <a:prstGeom prst="cub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2" name="Прямая соединительная линия 11"/>
            <p:cNvCxnSpPr/>
            <p:nvPr/>
          </p:nvCxnSpPr>
          <p:spPr>
            <a:xfrm>
              <a:off x="1736685" y="3789040"/>
              <a:ext cx="0" cy="2429909"/>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p:cNvCxnSpPr/>
            <p:nvPr/>
          </p:nvCxnSpPr>
          <p:spPr>
            <a:xfrm>
              <a:off x="2141730" y="3789040"/>
              <a:ext cx="0" cy="2429909"/>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2" name="Прямая соединительная линия 31"/>
            <p:cNvCxnSpPr/>
            <p:nvPr/>
          </p:nvCxnSpPr>
          <p:spPr>
            <a:xfrm>
              <a:off x="2546775" y="3789040"/>
              <a:ext cx="0" cy="2429909"/>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3" name="Прямая соединительная линия 32"/>
            <p:cNvCxnSpPr/>
            <p:nvPr/>
          </p:nvCxnSpPr>
          <p:spPr>
            <a:xfrm>
              <a:off x="2951820" y="3789040"/>
              <a:ext cx="0" cy="2429909"/>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4" name="Прямая соединительная линия 33"/>
            <p:cNvCxnSpPr/>
            <p:nvPr/>
          </p:nvCxnSpPr>
          <p:spPr>
            <a:xfrm>
              <a:off x="3356865" y="3789040"/>
              <a:ext cx="0" cy="2429909"/>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5" name="Прямая соединительная линия 34"/>
            <p:cNvCxnSpPr/>
            <p:nvPr/>
          </p:nvCxnSpPr>
          <p:spPr>
            <a:xfrm>
              <a:off x="3896925" y="3654386"/>
              <a:ext cx="0" cy="2429909"/>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6" name="Прямая соединительная линия 35"/>
            <p:cNvCxnSpPr/>
            <p:nvPr/>
          </p:nvCxnSpPr>
          <p:spPr>
            <a:xfrm>
              <a:off x="4031940" y="3519371"/>
              <a:ext cx="0" cy="2429909"/>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7" name="Прямая соединительная линия 36"/>
            <p:cNvCxnSpPr/>
            <p:nvPr/>
          </p:nvCxnSpPr>
          <p:spPr>
            <a:xfrm>
              <a:off x="4166955" y="3384356"/>
              <a:ext cx="0" cy="2429909"/>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8" name="Прямая соединительная линия 37"/>
            <p:cNvCxnSpPr/>
            <p:nvPr/>
          </p:nvCxnSpPr>
          <p:spPr>
            <a:xfrm>
              <a:off x="4301970" y="3248980"/>
              <a:ext cx="0" cy="2429909"/>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9" name="Прямая соединительная линия 38"/>
            <p:cNvCxnSpPr/>
            <p:nvPr/>
          </p:nvCxnSpPr>
          <p:spPr>
            <a:xfrm>
              <a:off x="4436985" y="3113965"/>
              <a:ext cx="0" cy="2429909"/>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0" name="Прямая соединительная линия 39"/>
            <p:cNvCxnSpPr/>
            <p:nvPr/>
          </p:nvCxnSpPr>
          <p:spPr>
            <a:xfrm>
              <a:off x="1466655" y="3654386"/>
              <a:ext cx="2430269" cy="0"/>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7" name="Прямая соединительная линия 46"/>
            <p:cNvCxnSpPr/>
            <p:nvPr/>
          </p:nvCxnSpPr>
          <p:spPr>
            <a:xfrm>
              <a:off x="1601671" y="3519010"/>
              <a:ext cx="2430269" cy="0"/>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8" name="Прямая соединительная линия 47"/>
            <p:cNvCxnSpPr/>
            <p:nvPr/>
          </p:nvCxnSpPr>
          <p:spPr>
            <a:xfrm>
              <a:off x="1736686" y="3383995"/>
              <a:ext cx="2430269" cy="0"/>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9" name="Прямая соединительная линия 48"/>
            <p:cNvCxnSpPr/>
            <p:nvPr/>
          </p:nvCxnSpPr>
          <p:spPr>
            <a:xfrm>
              <a:off x="1871701" y="3248980"/>
              <a:ext cx="2430269" cy="0"/>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0" name="Прямая соединительная линия 49"/>
            <p:cNvCxnSpPr/>
            <p:nvPr/>
          </p:nvCxnSpPr>
          <p:spPr>
            <a:xfrm>
              <a:off x="2006716" y="3113965"/>
              <a:ext cx="2430269" cy="0"/>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1" name="Прямая соединительная линия 50"/>
            <p:cNvCxnSpPr/>
            <p:nvPr/>
          </p:nvCxnSpPr>
          <p:spPr>
            <a:xfrm>
              <a:off x="1331640" y="4194085"/>
              <a:ext cx="2430269" cy="0"/>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2" name="Прямая соединительная линия 51"/>
            <p:cNvCxnSpPr/>
            <p:nvPr/>
          </p:nvCxnSpPr>
          <p:spPr>
            <a:xfrm>
              <a:off x="1331640" y="4599130"/>
              <a:ext cx="2430269" cy="0"/>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3" name="Прямая соединительная линия 52"/>
            <p:cNvCxnSpPr/>
            <p:nvPr/>
          </p:nvCxnSpPr>
          <p:spPr>
            <a:xfrm>
              <a:off x="1331640" y="5004175"/>
              <a:ext cx="2430269" cy="0"/>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4" name="Прямая соединительная линия 53"/>
            <p:cNvCxnSpPr/>
            <p:nvPr/>
          </p:nvCxnSpPr>
          <p:spPr>
            <a:xfrm>
              <a:off x="1331640" y="5409220"/>
              <a:ext cx="2430269" cy="0"/>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5" name="Прямая соединительная линия 54"/>
            <p:cNvCxnSpPr/>
            <p:nvPr/>
          </p:nvCxnSpPr>
          <p:spPr>
            <a:xfrm>
              <a:off x="1331640" y="5814265"/>
              <a:ext cx="2430269" cy="0"/>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6" name="Прямая соединительная линия 55"/>
            <p:cNvCxnSpPr/>
            <p:nvPr/>
          </p:nvCxnSpPr>
          <p:spPr>
            <a:xfrm flipV="1">
              <a:off x="1736685" y="2978949"/>
              <a:ext cx="810089" cy="810092"/>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1" name="Прямая соединительная линия 60"/>
            <p:cNvCxnSpPr/>
            <p:nvPr/>
          </p:nvCxnSpPr>
          <p:spPr>
            <a:xfrm flipV="1">
              <a:off x="2141731" y="2978948"/>
              <a:ext cx="810089" cy="810092"/>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2" name="Прямая соединительная линия 61"/>
            <p:cNvCxnSpPr/>
            <p:nvPr/>
          </p:nvCxnSpPr>
          <p:spPr>
            <a:xfrm flipV="1">
              <a:off x="2546776" y="2978948"/>
              <a:ext cx="810089" cy="810092"/>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3" name="Прямая соединительная линия 62"/>
            <p:cNvCxnSpPr/>
            <p:nvPr/>
          </p:nvCxnSpPr>
          <p:spPr>
            <a:xfrm flipV="1">
              <a:off x="2951821" y="2978950"/>
              <a:ext cx="810089" cy="810092"/>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4" name="Прямая соединительная линия 63"/>
            <p:cNvCxnSpPr/>
            <p:nvPr/>
          </p:nvCxnSpPr>
          <p:spPr>
            <a:xfrm flipV="1">
              <a:off x="3356866" y="2978948"/>
              <a:ext cx="810089" cy="810092"/>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5" name="Прямая соединительная линия 64"/>
            <p:cNvCxnSpPr/>
            <p:nvPr/>
          </p:nvCxnSpPr>
          <p:spPr>
            <a:xfrm flipV="1">
              <a:off x="3761911" y="3383993"/>
              <a:ext cx="810089" cy="810092"/>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6" name="Прямая соединительная линия 65"/>
            <p:cNvCxnSpPr/>
            <p:nvPr/>
          </p:nvCxnSpPr>
          <p:spPr>
            <a:xfrm flipV="1">
              <a:off x="3761910" y="3789218"/>
              <a:ext cx="810089" cy="810092"/>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7" name="Прямая соединительная линия 66"/>
            <p:cNvCxnSpPr/>
            <p:nvPr/>
          </p:nvCxnSpPr>
          <p:spPr>
            <a:xfrm flipV="1">
              <a:off x="3761911" y="4194085"/>
              <a:ext cx="810089" cy="810092"/>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8" name="Прямая соединительная линия 67"/>
            <p:cNvCxnSpPr/>
            <p:nvPr/>
          </p:nvCxnSpPr>
          <p:spPr>
            <a:xfrm flipV="1">
              <a:off x="3761910" y="4599128"/>
              <a:ext cx="810089" cy="810092"/>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9" name="Прямая соединительная линия 68"/>
            <p:cNvCxnSpPr/>
            <p:nvPr/>
          </p:nvCxnSpPr>
          <p:spPr>
            <a:xfrm flipV="1">
              <a:off x="3761910" y="5004173"/>
              <a:ext cx="810089" cy="810092"/>
            </a:xfrm>
            <a:prstGeom prst="line">
              <a:avLst/>
            </a:prstGeom>
            <a:ln w="63500" cmpd="dbl">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41" name="TextBox 40"/>
          <p:cNvSpPr txBox="1"/>
          <p:nvPr/>
        </p:nvSpPr>
        <p:spPr>
          <a:xfrm>
            <a:off x="615950" y="2095500"/>
            <a:ext cx="1778000" cy="338554"/>
          </a:xfrm>
          <a:prstGeom prst="rect">
            <a:avLst/>
          </a:prstGeom>
          <a:noFill/>
        </p:spPr>
        <p:txBody>
          <a:bodyPr wrap="square" rtlCol="0">
            <a:spAutoFit/>
          </a:bodyPr>
          <a:lstStyle/>
          <a:p>
            <a:r>
              <a:rPr lang="ru-RU" sz="1600" b="1" dirty="0"/>
              <a:t>Субъект  РФ </a:t>
            </a:r>
            <a:r>
              <a:rPr lang="en-US" sz="1600" b="1" dirty="0"/>
              <a:t>N</a:t>
            </a:r>
            <a:endParaRPr lang="ru-RU" sz="1600" b="1" dirty="0"/>
          </a:p>
        </p:txBody>
      </p:sp>
      <p:sp>
        <p:nvSpPr>
          <p:cNvPr id="42" name="TextBox 41"/>
          <p:cNvSpPr txBox="1"/>
          <p:nvPr/>
        </p:nvSpPr>
        <p:spPr>
          <a:xfrm>
            <a:off x="615950" y="4895850"/>
            <a:ext cx="1778000" cy="338554"/>
          </a:xfrm>
          <a:prstGeom prst="rect">
            <a:avLst/>
          </a:prstGeom>
          <a:noFill/>
        </p:spPr>
        <p:txBody>
          <a:bodyPr wrap="square" rtlCol="0">
            <a:spAutoFit/>
          </a:bodyPr>
          <a:lstStyle/>
          <a:p>
            <a:r>
              <a:rPr lang="ru-RU" sz="1600" b="1" dirty="0"/>
              <a:t>Субъект  РФ 1</a:t>
            </a:r>
          </a:p>
        </p:txBody>
      </p:sp>
      <p:sp>
        <p:nvSpPr>
          <p:cNvPr id="43" name="TextBox 42"/>
          <p:cNvSpPr txBox="1"/>
          <p:nvPr/>
        </p:nvSpPr>
        <p:spPr>
          <a:xfrm>
            <a:off x="615950" y="4348718"/>
            <a:ext cx="1778000" cy="338554"/>
          </a:xfrm>
          <a:prstGeom prst="rect">
            <a:avLst/>
          </a:prstGeom>
          <a:noFill/>
        </p:spPr>
        <p:txBody>
          <a:bodyPr wrap="square" rtlCol="0">
            <a:spAutoFit/>
          </a:bodyPr>
          <a:lstStyle/>
          <a:p>
            <a:r>
              <a:rPr lang="ru-RU" sz="1600" b="1" dirty="0"/>
              <a:t>Субъект  РФ 2</a:t>
            </a:r>
          </a:p>
        </p:txBody>
      </p:sp>
      <p:sp>
        <p:nvSpPr>
          <p:cNvPr id="44" name="TextBox 43"/>
          <p:cNvSpPr txBox="1"/>
          <p:nvPr/>
        </p:nvSpPr>
        <p:spPr>
          <a:xfrm>
            <a:off x="215900" y="2228850"/>
            <a:ext cx="492443" cy="2161421"/>
          </a:xfrm>
          <a:prstGeom prst="rect">
            <a:avLst/>
          </a:prstGeom>
          <a:noFill/>
        </p:spPr>
        <p:txBody>
          <a:bodyPr vert="vert270" wrap="square" rtlCol="0">
            <a:spAutoFit/>
          </a:bodyPr>
          <a:lstStyle/>
          <a:p>
            <a:r>
              <a:rPr lang="ru-RU" sz="2000" b="1" dirty="0">
                <a:solidFill>
                  <a:srgbClr val="00B050"/>
                </a:solidFill>
              </a:rPr>
              <a:t>Субъекты  РФ</a:t>
            </a:r>
          </a:p>
        </p:txBody>
      </p:sp>
      <p:sp>
        <p:nvSpPr>
          <p:cNvPr id="45" name="TextBox 44"/>
          <p:cNvSpPr txBox="1"/>
          <p:nvPr/>
        </p:nvSpPr>
        <p:spPr>
          <a:xfrm>
            <a:off x="2452013" y="5162550"/>
            <a:ext cx="430887" cy="1473200"/>
          </a:xfrm>
          <a:prstGeom prst="rect">
            <a:avLst/>
          </a:prstGeom>
          <a:noFill/>
        </p:spPr>
        <p:txBody>
          <a:bodyPr vert="vert270" wrap="square" rtlCol="0">
            <a:spAutoFit/>
          </a:bodyPr>
          <a:lstStyle/>
          <a:p>
            <a:r>
              <a:rPr lang="ru-RU" sz="1600" b="1" dirty="0"/>
              <a:t>Параметр 1</a:t>
            </a:r>
          </a:p>
        </p:txBody>
      </p:sp>
      <p:sp>
        <p:nvSpPr>
          <p:cNvPr id="46" name="TextBox 45"/>
          <p:cNvSpPr txBox="1"/>
          <p:nvPr/>
        </p:nvSpPr>
        <p:spPr>
          <a:xfrm>
            <a:off x="2985413" y="5162550"/>
            <a:ext cx="430887" cy="1473200"/>
          </a:xfrm>
          <a:prstGeom prst="rect">
            <a:avLst/>
          </a:prstGeom>
          <a:noFill/>
        </p:spPr>
        <p:txBody>
          <a:bodyPr vert="vert270" wrap="square" rtlCol="0">
            <a:spAutoFit/>
          </a:bodyPr>
          <a:lstStyle/>
          <a:p>
            <a:r>
              <a:rPr lang="ru-RU" sz="1600" b="1" dirty="0"/>
              <a:t>Параметр 2</a:t>
            </a:r>
          </a:p>
        </p:txBody>
      </p:sp>
      <p:sp>
        <p:nvSpPr>
          <p:cNvPr id="57" name="TextBox 56"/>
          <p:cNvSpPr txBox="1"/>
          <p:nvPr/>
        </p:nvSpPr>
        <p:spPr>
          <a:xfrm>
            <a:off x="5105400" y="5295900"/>
            <a:ext cx="430887" cy="1473200"/>
          </a:xfrm>
          <a:prstGeom prst="rect">
            <a:avLst/>
          </a:prstGeom>
          <a:noFill/>
        </p:spPr>
        <p:txBody>
          <a:bodyPr vert="vert270" wrap="square" rtlCol="0">
            <a:spAutoFit/>
          </a:bodyPr>
          <a:lstStyle/>
          <a:p>
            <a:r>
              <a:rPr lang="ru-RU" sz="1600" b="1" dirty="0"/>
              <a:t>Параметр </a:t>
            </a:r>
            <a:r>
              <a:rPr lang="en-US" sz="1600" b="1" dirty="0"/>
              <a:t> N</a:t>
            </a:r>
            <a:endParaRPr lang="ru-RU" sz="1600" b="1" dirty="0"/>
          </a:p>
        </p:txBody>
      </p:sp>
      <p:sp>
        <p:nvSpPr>
          <p:cNvPr id="58" name="TextBox 57"/>
          <p:cNvSpPr txBox="1"/>
          <p:nvPr/>
        </p:nvSpPr>
        <p:spPr>
          <a:xfrm>
            <a:off x="3371850" y="6273800"/>
            <a:ext cx="1778000" cy="369332"/>
          </a:xfrm>
          <a:prstGeom prst="rect">
            <a:avLst/>
          </a:prstGeom>
          <a:noFill/>
        </p:spPr>
        <p:txBody>
          <a:bodyPr wrap="square" rtlCol="0">
            <a:spAutoFit/>
          </a:bodyPr>
          <a:lstStyle/>
          <a:p>
            <a:r>
              <a:rPr lang="ru-RU" b="1" dirty="0">
                <a:solidFill>
                  <a:srgbClr val="FF0000"/>
                </a:solidFill>
              </a:rPr>
              <a:t>Параметры</a:t>
            </a:r>
          </a:p>
        </p:txBody>
      </p:sp>
      <p:sp>
        <p:nvSpPr>
          <p:cNvPr id="59" name="TextBox 58"/>
          <p:cNvSpPr txBox="1"/>
          <p:nvPr/>
        </p:nvSpPr>
        <p:spPr>
          <a:xfrm>
            <a:off x="5772150" y="5179596"/>
            <a:ext cx="1778000" cy="338554"/>
          </a:xfrm>
          <a:prstGeom prst="rect">
            <a:avLst/>
          </a:prstGeom>
          <a:noFill/>
        </p:spPr>
        <p:txBody>
          <a:bodyPr wrap="square" rtlCol="0">
            <a:spAutoFit/>
          </a:bodyPr>
          <a:lstStyle/>
          <a:p>
            <a:r>
              <a:rPr lang="ru-RU" sz="1600" b="1" dirty="0"/>
              <a:t>Январь 1991</a:t>
            </a:r>
          </a:p>
        </p:txBody>
      </p:sp>
      <p:sp>
        <p:nvSpPr>
          <p:cNvPr id="60" name="TextBox 59"/>
          <p:cNvSpPr txBox="1"/>
          <p:nvPr/>
        </p:nvSpPr>
        <p:spPr>
          <a:xfrm>
            <a:off x="6083300" y="4940300"/>
            <a:ext cx="1778000" cy="338554"/>
          </a:xfrm>
          <a:prstGeom prst="rect">
            <a:avLst/>
          </a:prstGeom>
          <a:noFill/>
        </p:spPr>
        <p:txBody>
          <a:bodyPr wrap="square" rtlCol="0">
            <a:spAutoFit/>
          </a:bodyPr>
          <a:lstStyle/>
          <a:p>
            <a:r>
              <a:rPr lang="ru-RU" sz="1600" b="1" dirty="0"/>
              <a:t>Февраль 1991</a:t>
            </a:r>
          </a:p>
        </p:txBody>
      </p:sp>
      <p:sp>
        <p:nvSpPr>
          <p:cNvPr id="70" name="TextBox 69"/>
          <p:cNvSpPr txBox="1"/>
          <p:nvPr/>
        </p:nvSpPr>
        <p:spPr>
          <a:xfrm>
            <a:off x="6750050" y="4184650"/>
            <a:ext cx="1778000" cy="338554"/>
          </a:xfrm>
          <a:prstGeom prst="rect">
            <a:avLst/>
          </a:prstGeom>
          <a:noFill/>
        </p:spPr>
        <p:txBody>
          <a:bodyPr wrap="square" rtlCol="0">
            <a:spAutoFit/>
          </a:bodyPr>
          <a:lstStyle/>
          <a:p>
            <a:r>
              <a:rPr lang="ru-RU" sz="1600" b="1" dirty="0"/>
              <a:t>Март 1999</a:t>
            </a:r>
          </a:p>
        </p:txBody>
      </p:sp>
      <p:sp>
        <p:nvSpPr>
          <p:cNvPr id="71" name="TextBox 70"/>
          <p:cNvSpPr txBox="1"/>
          <p:nvPr/>
        </p:nvSpPr>
        <p:spPr>
          <a:xfrm rot="18461425">
            <a:off x="7191933" y="4548908"/>
            <a:ext cx="1778000" cy="400110"/>
          </a:xfrm>
          <a:prstGeom prst="rect">
            <a:avLst/>
          </a:prstGeom>
          <a:noFill/>
        </p:spPr>
        <p:txBody>
          <a:bodyPr wrap="square" rtlCol="0">
            <a:spAutoFit/>
          </a:bodyPr>
          <a:lstStyle/>
          <a:p>
            <a:r>
              <a:rPr lang="ru-RU" sz="2000" b="1" dirty="0">
                <a:solidFill>
                  <a:srgbClr val="7030A0"/>
                </a:solidFill>
              </a:rPr>
              <a:t>Время</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104900" y="0"/>
            <a:ext cx="6934200" cy="609600"/>
          </a:xfrm>
        </p:spPr>
        <p:txBody>
          <a:bodyPr/>
          <a:lstStyle/>
          <a:p>
            <a:pPr algn="ctr"/>
            <a:r>
              <a:rPr lang="ru-RU" sz="3200" dirty="0">
                <a:solidFill>
                  <a:schemeClr val="bg2"/>
                </a:solidFill>
              </a:rPr>
              <a:t>Многомерная модель данных</a:t>
            </a:r>
          </a:p>
        </p:txBody>
      </p:sp>
      <p:sp>
        <p:nvSpPr>
          <p:cNvPr id="6" name="Номер слайда 5"/>
          <p:cNvSpPr>
            <a:spLocks noGrp="1"/>
          </p:cNvSpPr>
          <p:nvPr>
            <p:ph type="sldNum" sz="quarter" idx="11"/>
          </p:nvPr>
        </p:nvSpPr>
        <p:spPr/>
        <p:txBody>
          <a:bodyPr/>
          <a:lstStyle/>
          <a:p>
            <a:fld id="{4DC7491D-CDB9-48BE-BADB-11210BC61B1D}" type="slidenum">
              <a:rPr lang="ru-RU" smtClean="0"/>
              <a:pPr/>
              <a:t>21</a:t>
            </a:fld>
            <a:endParaRPr lang="ru-RU"/>
          </a:p>
        </p:txBody>
      </p:sp>
      <p:sp>
        <p:nvSpPr>
          <p:cNvPr id="7" name="Rectangle 3"/>
          <p:cNvSpPr txBox="1">
            <a:spLocks noChangeArrowheads="1"/>
          </p:cNvSpPr>
          <p:nvPr/>
        </p:nvSpPr>
        <p:spPr bwMode="auto">
          <a:xfrm>
            <a:off x="304800" y="647700"/>
            <a:ext cx="8534400" cy="62103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rmAutofit fontScale="85000" lnSpcReduction="10000"/>
          </a:bodyPr>
          <a:lstStyle/>
          <a:p>
            <a:pPr marL="342900" marR="0" lvl="0" indent="-342900" algn="l" defTabSz="914400" rtl="0" eaLnBrk="1" fontAlgn="base" latinLnBrk="0" hangingPunct="1">
              <a:lnSpc>
                <a:spcPct val="120000"/>
              </a:lnSpc>
              <a:spcBef>
                <a:spcPct val="20000"/>
              </a:spcBef>
              <a:spcAft>
                <a:spcPct val="0"/>
              </a:spcAft>
              <a:buClr>
                <a:schemeClr val="bg2"/>
              </a:buClr>
              <a:buSzPct val="75000"/>
              <a:buFont typeface="Wingdings" pitchFamily="2" charset="2"/>
              <a:buChar char="n"/>
              <a:tabLst/>
              <a:defRPr/>
            </a:pPr>
            <a:r>
              <a:rPr kumimoji="0" lang="ru-RU" sz="3200" b="0" i="0" u="none" strike="noStrike" kern="0" cap="none" spc="0" normalizeH="0" baseline="0" noProof="0" dirty="0">
                <a:ln>
                  <a:noFill/>
                </a:ln>
                <a:solidFill>
                  <a:schemeClr val="tx1"/>
                </a:solidFill>
                <a:effectLst/>
                <a:uLnTx/>
                <a:uFillTx/>
                <a:latin typeface="+mn-lt"/>
                <a:ea typeface="+mn-ea"/>
                <a:cs typeface="+mn-cs"/>
              </a:rPr>
              <a:t>Данные хранятся</a:t>
            </a:r>
            <a:r>
              <a:rPr kumimoji="0" lang="ru-RU" sz="3200" b="0" i="0" u="none" strike="noStrike" kern="0" cap="none" spc="0" normalizeH="0" noProof="0" dirty="0">
                <a:ln>
                  <a:noFill/>
                </a:ln>
                <a:solidFill>
                  <a:schemeClr val="tx1"/>
                </a:solidFill>
                <a:effectLst/>
                <a:uLnTx/>
                <a:uFillTx/>
                <a:latin typeface="+mn-lt"/>
                <a:ea typeface="+mn-ea"/>
                <a:cs typeface="+mn-cs"/>
              </a:rPr>
              <a:t> не в виде плоских таблиц, а виде упорядоченных многомерных массивов</a:t>
            </a:r>
          </a:p>
          <a:p>
            <a:pPr marL="342900" marR="0" lvl="0" indent="-342900" algn="l" defTabSz="914400" rtl="0" eaLnBrk="1" fontAlgn="base" latinLnBrk="0" hangingPunct="1">
              <a:lnSpc>
                <a:spcPct val="120000"/>
              </a:lnSpc>
              <a:spcBef>
                <a:spcPct val="20000"/>
              </a:spcBef>
              <a:spcAft>
                <a:spcPct val="0"/>
              </a:spcAft>
              <a:buClr>
                <a:schemeClr val="bg2"/>
              </a:buClr>
              <a:buSzPct val="75000"/>
              <a:buFont typeface="Wingdings" pitchFamily="2" charset="2"/>
              <a:buChar char="n"/>
              <a:tabLst/>
              <a:defRPr/>
            </a:pPr>
            <a:r>
              <a:rPr lang="ru-RU" sz="3200" kern="0" baseline="0" dirty="0">
                <a:latin typeface="+mn-lt"/>
                <a:cs typeface="+mn-cs"/>
              </a:rPr>
              <a:t>Многомерной хранение реализуется физически</a:t>
            </a:r>
            <a:endParaRPr kumimoji="0" lang="en-US" sz="32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20000"/>
              </a:lnSpc>
              <a:spcBef>
                <a:spcPct val="20000"/>
              </a:spcBef>
              <a:spcAft>
                <a:spcPct val="0"/>
              </a:spcAft>
              <a:buClr>
                <a:schemeClr val="bg2"/>
              </a:buClr>
              <a:buSzPct val="75000"/>
              <a:buFont typeface="Wingdings" pitchFamily="2" charset="2"/>
              <a:buChar char="n"/>
              <a:tabLst/>
              <a:defRPr/>
            </a:pPr>
            <a:r>
              <a:rPr kumimoji="0" lang="ru-RU" sz="3200" b="0" i="0" u="none" strike="noStrike" kern="0" cap="none" spc="0" normalizeH="0" baseline="0" noProof="0" dirty="0">
                <a:ln>
                  <a:noFill/>
                </a:ln>
                <a:solidFill>
                  <a:schemeClr val="tx1"/>
                </a:solidFill>
                <a:effectLst/>
                <a:uLnTx/>
                <a:uFillTx/>
                <a:latin typeface="+mn-lt"/>
                <a:ea typeface="+mn-ea"/>
                <a:cs typeface="+mn-cs"/>
              </a:rPr>
              <a:t>Среднее время ответа в 10-100 раз быстрее, чем в реляционной</a:t>
            </a:r>
            <a:r>
              <a:rPr kumimoji="0" lang="ru-RU" sz="3200" b="0" i="0" u="none" strike="noStrike" kern="0" cap="none" spc="0" normalizeH="0" noProof="0" dirty="0">
                <a:ln>
                  <a:noFill/>
                </a:ln>
                <a:solidFill>
                  <a:schemeClr val="tx1"/>
                </a:solidFill>
                <a:effectLst/>
                <a:uLnTx/>
                <a:uFillTx/>
                <a:latin typeface="+mn-lt"/>
                <a:ea typeface="+mn-ea"/>
                <a:cs typeface="+mn-cs"/>
              </a:rPr>
              <a:t> СУБД</a:t>
            </a:r>
            <a:endParaRPr kumimoji="0" lang="en-US" sz="32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20000"/>
              </a:lnSpc>
              <a:spcBef>
                <a:spcPct val="20000"/>
              </a:spcBef>
              <a:spcAft>
                <a:spcPct val="0"/>
              </a:spcAft>
              <a:buClr>
                <a:schemeClr val="bg2"/>
              </a:buClr>
              <a:buSzPct val="75000"/>
              <a:buFont typeface="Wingdings" pitchFamily="2" charset="2"/>
              <a:buChar char="n"/>
              <a:tabLst/>
              <a:defRPr/>
            </a:pPr>
            <a:r>
              <a:rPr kumimoji="0" lang="ru-RU" sz="3200" b="0" i="0" u="none" strike="noStrike" kern="0" cap="none" spc="0" normalizeH="0" baseline="0" noProof="0" dirty="0">
                <a:ln>
                  <a:noFill/>
                </a:ln>
                <a:solidFill>
                  <a:schemeClr val="tx1"/>
                </a:solidFill>
                <a:effectLst/>
                <a:uLnTx/>
                <a:uFillTx/>
                <a:latin typeface="+mn-lt"/>
                <a:ea typeface="+mn-ea"/>
                <a:cs typeface="+mn-cs"/>
              </a:rPr>
              <a:t>Основные понятия – измерение и значение</a:t>
            </a:r>
          </a:p>
          <a:p>
            <a:pPr marL="342900" marR="0" lvl="0" indent="-342900" algn="l" defTabSz="914400" rtl="0" eaLnBrk="1" fontAlgn="base" latinLnBrk="0" hangingPunct="1">
              <a:lnSpc>
                <a:spcPct val="120000"/>
              </a:lnSpc>
              <a:spcBef>
                <a:spcPct val="20000"/>
              </a:spcBef>
              <a:spcAft>
                <a:spcPct val="0"/>
              </a:spcAft>
              <a:buClr>
                <a:schemeClr val="bg2"/>
              </a:buClr>
              <a:buSzPct val="75000"/>
              <a:buFont typeface="Wingdings" pitchFamily="2" charset="2"/>
              <a:buChar char="n"/>
              <a:tabLst/>
              <a:defRPr/>
            </a:pPr>
            <a:r>
              <a:rPr lang="ru-RU" sz="3200" kern="0" dirty="0">
                <a:latin typeface="+mn-lt"/>
                <a:cs typeface="+mn-cs"/>
              </a:rPr>
              <a:t>Измерение – множество образующее одну из граней гиперкуба. Индексы для идентификации конкретных значений</a:t>
            </a:r>
          </a:p>
          <a:p>
            <a:pPr marL="342900" marR="0" lvl="0" indent="-342900" algn="l" defTabSz="914400" rtl="0" eaLnBrk="1" fontAlgn="base" latinLnBrk="0" hangingPunct="1">
              <a:lnSpc>
                <a:spcPct val="120000"/>
              </a:lnSpc>
              <a:spcBef>
                <a:spcPct val="20000"/>
              </a:spcBef>
              <a:spcAft>
                <a:spcPct val="0"/>
              </a:spcAft>
              <a:buClr>
                <a:schemeClr val="bg2"/>
              </a:buClr>
              <a:buSzPct val="75000"/>
              <a:buFont typeface="Wingdings" pitchFamily="2" charset="2"/>
              <a:buChar char="n"/>
              <a:tabLst/>
              <a:defRPr/>
            </a:pPr>
            <a:r>
              <a:rPr lang="ru-RU" sz="3200" kern="0" dirty="0">
                <a:latin typeface="+mn-lt"/>
                <a:cs typeface="+mn-cs"/>
              </a:rPr>
              <a:t>Операции: сечение, вращение, детализация, свертка </a:t>
            </a:r>
            <a:endParaRPr kumimoji="0" lang="ru-RU" sz="32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up)">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up)">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up)">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up)">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wipe(up)">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wipe(up)">
                                      <p:cBhvr>
                                        <p:cTn id="32"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52400" y="304800"/>
            <a:ext cx="8763000" cy="609600"/>
          </a:xfrm>
        </p:spPr>
        <p:txBody>
          <a:bodyPr/>
          <a:lstStyle/>
          <a:p>
            <a:pPr algn="ctr"/>
            <a:r>
              <a:rPr lang="ru-RU" sz="3200" dirty="0">
                <a:solidFill>
                  <a:schemeClr val="bg2"/>
                </a:solidFill>
              </a:rPr>
              <a:t>Реляционная модель хранилища данных</a:t>
            </a:r>
          </a:p>
        </p:txBody>
      </p:sp>
      <p:sp>
        <p:nvSpPr>
          <p:cNvPr id="43011" name="Rectangle 3"/>
          <p:cNvSpPr>
            <a:spLocks noGrp="1" noChangeArrowheads="1"/>
          </p:cNvSpPr>
          <p:nvPr>
            <p:ph type="body" idx="1"/>
          </p:nvPr>
        </p:nvSpPr>
        <p:spPr>
          <a:xfrm>
            <a:off x="0" y="1073150"/>
            <a:ext cx="9144000" cy="5492750"/>
          </a:xfrm>
        </p:spPr>
        <p:txBody>
          <a:bodyPr>
            <a:normAutofit fontScale="85000" lnSpcReduction="10000"/>
          </a:bodyPr>
          <a:lstStyle/>
          <a:p>
            <a:pPr>
              <a:lnSpc>
                <a:spcPct val="110000"/>
              </a:lnSpc>
            </a:pPr>
            <a:r>
              <a:rPr lang="en-US" sz="2400" dirty="0"/>
              <a:t>Relational OLAP – ROLAP </a:t>
            </a:r>
            <a:endParaRPr lang="ru-RU" sz="2400" dirty="0"/>
          </a:p>
          <a:p>
            <a:pPr>
              <a:lnSpc>
                <a:spcPct val="110000"/>
              </a:lnSpc>
            </a:pPr>
            <a:r>
              <a:rPr lang="ru-RU" sz="2400" dirty="0"/>
              <a:t>В отличие от многомерных реляционные СУБД способны хранить огромные объемы данных</a:t>
            </a:r>
          </a:p>
          <a:p>
            <a:pPr>
              <a:lnSpc>
                <a:spcPct val="110000"/>
              </a:lnSpc>
            </a:pPr>
            <a:r>
              <a:rPr lang="ru-RU" sz="2400" dirty="0"/>
              <a:t>Однако они проигрывают в скорости выполнения аналитических запросов</a:t>
            </a:r>
          </a:p>
          <a:p>
            <a:pPr>
              <a:lnSpc>
                <a:spcPct val="110000"/>
              </a:lnSpc>
            </a:pPr>
            <a:r>
              <a:rPr lang="ru-RU" sz="2400" dirty="0"/>
              <a:t>Для организации хранилища используются иерархические структуры:</a:t>
            </a:r>
          </a:p>
          <a:p>
            <a:pPr lvl="1">
              <a:lnSpc>
                <a:spcPct val="110000"/>
              </a:lnSpc>
              <a:buClr>
                <a:schemeClr val="bg2"/>
              </a:buClr>
              <a:buFont typeface="Wingdings" pitchFamily="2" charset="2"/>
              <a:buChar char="v"/>
            </a:pPr>
            <a:r>
              <a:rPr lang="ru-RU" sz="2000" dirty="0"/>
              <a:t>«Звезда» - одноуровневая структура</a:t>
            </a:r>
          </a:p>
          <a:p>
            <a:pPr lvl="1">
              <a:lnSpc>
                <a:spcPct val="110000"/>
              </a:lnSpc>
              <a:buClr>
                <a:schemeClr val="bg2"/>
              </a:buClr>
              <a:buFont typeface="Wingdings" pitchFamily="2" charset="2"/>
              <a:buChar char="v"/>
            </a:pPr>
            <a:r>
              <a:rPr lang="ru-RU" sz="2000" dirty="0"/>
              <a:t>«Снежинка» - многоуровневая структура</a:t>
            </a:r>
          </a:p>
          <a:p>
            <a:pPr>
              <a:lnSpc>
                <a:spcPct val="110000"/>
              </a:lnSpc>
            </a:pPr>
            <a:r>
              <a:rPr lang="ru-RU" sz="2400" dirty="0"/>
              <a:t>В  структуре «Звезда» используются 2 типа таблиц:</a:t>
            </a:r>
          </a:p>
          <a:p>
            <a:pPr lvl="1">
              <a:lnSpc>
                <a:spcPct val="110000"/>
              </a:lnSpc>
              <a:buClr>
                <a:schemeClr val="bg2"/>
              </a:buClr>
              <a:buFont typeface="Wingdings" pitchFamily="2" charset="2"/>
              <a:buChar char="v"/>
            </a:pPr>
            <a:r>
              <a:rPr lang="ru-RU" sz="2000" dirty="0"/>
              <a:t>Таблица фактов (</a:t>
            </a:r>
            <a:r>
              <a:rPr lang="ru-RU" sz="2000" dirty="0" err="1"/>
              <a:t>фактологическая</a:t>
            </a:r>
            <a:r>
              <a:rPr lang="ru-RU" sz="2000" dirty="0"/>
              <a:t>)</a:t>
            </a:r>
          </a:p>
          <a:p>
            <a:pPr lvl="1">
              <a:lnSpc>
                <a:spcPct val="110000"/>
              </a:lnSpc>
              <a:buClr>
                <a:schemeClr val="bg2"/>
              </a:buClr>
              <a:buFont typeface="Wingdings" pitchFamily="2" charset="2"/>
              <a:buChar char="v"/>
            </a:pPr>
            <a:r>
              <a:rPr lang="ru-RU" sz="2000" dirty="0"/>
              <a:t>Несколько справочных таблиц (таблицы измерений)</a:t>
            </a:r>
            <a:endParaRPr lang="en-US" sz="2000" dirty="0"/>
          </a:p>
          <a:p>
            <a:pPr>
              <a:lnSpc>
                <a:spcPct val="110000"/>
              </a:lnSpc>
            </a:pPr>
            <a:r>
              <a:rPr lang="ru-RU" sz="2400" dirty="0"/>
              <a:t>В таблице фактов содержатся данные наиболее интенсивно используемые для анализа данных. Запись в этой таблице соответствует ячейке гиперкуба.</a:t>
            </a:r>
          </a:p>
          <a:p>
            <a:pPr>
              <a:lnSpc>
                <a:spcPct val="110000"/>
              </a:lnSpc>
            </a:pPr>
            <a:r>
              <a:rPr lang="ru-RU" sz="2400" dirty="0"/>
              <a:t>В  справочных таблицах содержатся значения измерений гиперкуба</a:t>
            </a:r>
          </a:p>
        </p:txBody>
      </p:sp>
      <p:sp>
        <p:nvSpPr>
          <p:cNvPr id="6" name="Номер слайда 5"/>
          <p:cNvSpPr>
            <a:spLocks noGrp="1"/>
          </p:cNvSpPr>
          <p:nvPr>
            <p:ph type="sldNum" sz="quarter" idx="11"/>
          </p:nvPr>
        </p:nvSpPr>
        <p:spPr>
          <a:xfrm>
            <a:off x="7994650" y="6248400"/>
            <a:ext cx="692150" cy="381000"/>
          </a:xfrm>
        </p:spPr>
        <p:txBody>
          <a:bodyPr/>
          <a:lstStyle/>
          <a:p>
            <a:fld id="{4DC7491D-CDB9-48BE-BADB-11210BC61B1D}" type="slidenum">
              <a:rPr lang="ru-RU" smtClean="0"/>
              <a:pPr/>
              <a:t>22</a:t>
            </a:fld>
            <a:endParaRPr lang="ru-R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wipe(up)">
                                      <p:cBhvr>
                                        <p:cTn id="7" dur="500"/>
                                        <p:tgtEl>
                                          <p:spTgt spid="430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3011">
                                            <p:txEl>
                                              <p:pRg st="1" end="1"/>
                                            </p:txEl>
                                          </p:spTgt>
                                        </p:tgtEl>
                                        <p:attrNameLst>
                                          <p:attrName>style.visibility</p:attrName>
                                        </p:attrNameLst>
                                      </p:cBhvr>
                                      <p:to>
                                        <p:strVal val="visible"/>
                                      </p:to>
                                    </p:set>
                                    <p:animEffect transition="in" filter="wipe(up)">
                                      <p:cBhvr>
                                        <p:cTn id="12" dur="500"/>
                                        <p:tgtEl>
                                          <p:spTgt spid="430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3011">
                                            <p:txEl>
                                              <p:pRg st="2" end="2"/>
                                            </p:txEl>
                                          </p:spTgt>
                                        </p:tgtEl>
                                        <p:attrNameLst>
                                          <p:attrName>style.visibility</p:attrName>
                                        </p:attrNameLst>
                                      </p:cBhvr>
                                      <p:to>
                                        <p:strVal val="visible"/>
                                      </p:to>
                                    </p:set>
                                    <p:animEffect transition="in" filter="wipe(up)">
                                      <p:cBhvr>
                                        <p:cTn id="17" dur="500"/>
                                        <p:tgtEl>
                                          <p:spTgt spid="430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3011">
                                            <p:txEl>
                                              <p:pRg st="3" end="3"/>
                                            </p:txEl>
                                          </p:spTgt>
                                        </p:tgtEl>
                                        <p:attrNameLst>
                                          <p:attrName>style.visibility</p:attrName>
                                        </p:attrNameLst>
                                      </p:cBhvr>
                                      <p:to>
                                        <p:strVal val="visible"/>
                                      </p:to>
                                    </p:set>
                                    <p:animEffect transition="in" filter="wipe(up)">
                                      <p:cBhvr>
                                        <p:cTn id="22" dur="500"/>
                                        <p:tgtEl>
                                          <p:spTgt spid="43011">
                                            <p:txEl>
                                              <p:pRg st="3" end="3"/>
                                            </p:txEl>
                                          </p:spTgt>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43011">
                                            <p:txEl>
                                              <p:pRg st="4" end="4"/>
                                            </p:txEl>
                                          </p:spTgt>
                                        </p:tgtEl>
                                        <p:attrNameLst>
                                          <p:attrName>style.visibility</p:attrName>
                                        </p:attrNameLst>
                                      </p:cBhvr>
                                      <p:to>
                                        <p:strVal val="visible"/>
                                      </p:to>
                                    </p:set>
                                    <p:animEffect transition="in" filter="wipe(up)">
                                      <p:cBhvr>
                                        <p:cTn id="25" dur="500"/>
                                        <p:tgtEl>
                                          <p:spTgt spid="43011">
                                            <p:txEl>
                                              <p:pRg st="4" end="4"/>
                                            </p:txEl>
                                          </p:spTgt>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43011">
                                            <p:txEl>
                                              <p:pRg st="5" end="5"/>
                                            </p:txEl>
                                          </p:spTgt>
                                        </p:tgtEl>
                                        <p:attrNameLst>
                                          <p:attrName>style.visibility</p:attrName>
                                        </p:attrNameLst>
                                      </p:cBhvr>
                                      <p:to>
                                        <p:strVal val="visible"/>
                                      </p:to>
                                    </p:set>
                                    <p:animEffect transition="in" filter="wipe(up)">
                                      <p:cBhvr>
                                        <p:cTn id="28" dur="500"/>
                                        <p:tgtEl>
                                          <p:spTgt spid="43011">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43011">
                                            <p:txEl>
                                              <p:pRg st="6" end="6"/>
                                            </p:txEl>
                                          </p:spTgt>
                                        </p:tgtEl>
                                        <p:attrNameLst>
                                          <p:attrName>style.visibility</p:attrName>
                                        </p:attrNameLst>
                                      </p:cBhvr>
                                      <p:to>
                                        <p:strVal val="visible"/>
                                      </p:to>
                                    </p:set>
                                    <p:animEffect transition="in" filter="wipe(up)">
                                      <p:cBhvr>
                                        <p:cTn id="33" dur="500"/>
                                        <p:tgtEl>
                                          <p:spTgt spid="43011">
                                            <p:txEl>
                                              <p:pRg st="6" end="6"/>
                                            </p:txEl>
                                          </p:spTgt>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43011">
                                            <p:txEl>
                                              <p:pRg st="7" end="7"/>
                                            </p:txEl>
                                          </p:spTgt>
                                        </p:tgtEl>
                                        <p:attrNameLst>
                                          <p:attrName>style.visibility</p:attrName>
                                        </p:attrNameLst>
                                      </p:cBhvr>
                                      <p:to>
                                        <p:strVal val="visible"/>
                                      </p:to>
                                    </p:set>
                                    <p:animEffect transition="in" filter="wipe(up)">
                                      <p:cBhvr>
                                        <p:cTn id="36" dur="500"/>
                                        <p:tgtEl>
                                          <p:spTgt spid="43011">
                                            <p:txEl>
                                              <p:pRg st="7" end="7"/>
                                            </p:txEl>
                                          </p:spTgt>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43011">
                                            <p:txEl>
                                              <p:pRg st="8" end="8"/>
                                            </p:txEl>
                                          </p:spTgt>
                                        </p:tgtEl>
                                        <p:attrNameLst>
                                          <p:attrName>style.visibility</p:attrName>
                                        </p:attrNameLst>
                                      </p:cBhvr>
                                      <p:to>
                                        <p:strVal val="visible"/>
                                      </p:to>
                                    </p:set>
                                    <p:animEffect transition="in" filter="wipe(up)">
                                      <p:cBhvr>
                                        <p:cTn id="39" dur="500"/>
                                        <p:tgtEl>
                                          <p:spTgt spid="43011">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43011">
                                            <p:txEl>
                                              <p:pRg st="9" end="9"/>
                                            </p:txEl>
                                          </p:spTgt>
                                        </p:tgtEl>
                                        <p:attrNameLst>
                                          <p:attrName>style.visibility</p:attrName>
                                        </p:attrNameLst>
                                      </p:cBhvr>
                                      <p:to>
                                        <p:strVal val="visible"/>
                                      </p:to>
                                    </p:set>
                                    <p:animEffect transition="in" filter="wipe(up)">
                                      <p:cBhvr>
                                        <p:cTn id="44" dur="500"/>
                                        <p:tgtEl>
                                          <p:spTgt spid="43011">
                                            <p:txEl>
                                              <p:pRg st="9" end="9"/>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43011">
                                            <p:txEl>
                                              <p:pRg st="10" end="10"/>
                                            </p:txEl>
                                          </p:spTgt>
                                        </p:tgtEl>
                                        <p:attrNameLst>
                                          <p:attrName>style.visibility</p:attrName>
                                        </p:attrNameLst>
                                      </p:cBhvr>
                                      <p:to>
                                        <p:strVal val="visible"/>
                                      </p:to>
                                    </p:set>
                                    <p:animEffect transition="in" filter="wipe(up)">
                                      <p:cBhvr>
                                        <p:cTn id="49" dur="500"/>
                                        <p:tgtEl>
                                          <p:spTgt spid="4301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90500" y="0"/>
            <a:ext cx="8763000" cy="609600"/>
          </a:xfrm>
        </p:spPr>
        <p:txBody>
          <a:bodyPr/>
          <a:lstStyle/>
          <a:p>
            <a:pPr algn="ctr"/>
            <a:r>
              <a:rPr lang="ru-RU" sz="3200" dirty="0">
                <a:solidFill>
                  <a:schemeClr val="bg2"/>
                </a:solidFill>
              </a:rPr>
              <a:t>Пример: </a:t>
            </a:r>
            <a:r>
              <a:rPr lang="en-US" sz="3200" dirty="0">
                <a:solidFill>
                  <a:schemeClr val="bg2"/>
                </a:solidFill>
              </a:rPr>
              <a:t>ROLAP</a:t>
            </a:r>
            <a:r>
              <a:rPr lang="ru-RU" sz="3200" dirty="0">
                <a:solidFill>
                  <a:schemeClr val="bg2"/>
                </a:solidFill>
              </a:rPr>
              <a:t> – «Звезда»</a:t>
            </a:r>
          </a:p>
        </p:txBody>
      </p:sp>
      <p:sp>
        <p:nvSpPr>
          <p:cNvPr id="6" name="Номер слайда 5"/>
          <p:cNvSpPr>
            <a:spLocks noGrp="1"/>
          </p:cNvSpPr>
          <p:nvPr>
            <p:ph type="sldNum" sz="quarter" idx="11"/>
          </p:nvPr>
        </p:nvSpPr>
        <p:spPr/>
        <p:txBody>
          <a:bodyPr/>
          <a:lstStyle/>
          <a:p>
            <a:fld id="{4DC7491D-CDB9-48BE-BADB-11210BC61B1D}" type="slidenum">
              <a:rPr lang="ru-RU" smtClean="0"/>
              <a:pPr/>
              <a:t>23</a:t>
            </a:fld>
            <a:endParaRPr lang="ru-RU"/>
          </a:p>
        </p:txBody>
      </p:sp>
      <p:graphicFrame>
        <p:nvGraphicFramePr>
          <p:cNvPr id="11" name="Таблица 10"/>
          <p:cNvGraphicFramePr>
            <a:graphicFrameLocks noGrp="1"/>
          </p:cNvGraphicFramePr>
          <p:nvPr/>
        </p:nvGraphicFramePr>
        <p:xfrm>
          <a:off x="527050" y="1428750"/>
          <a:ext cx="2114550" cy="2494705"/>
        </p:xfrm>
        <a:graphic>
          <a:graphicData uri="http://schemas.openxmlformats.org/drawingml/2006/table">
            <a:tbl>
              <a:tblPr firstRow="1" bandRow="1">
                <a:tableStyleId>{5C22544A-7EE6-4342-B048-85BDC9FD1C3A}</a:tableStyleId>
              </a:tblPr>
              <a:tblGrid>
                <a:gridCol w="2114550">
                  <a:extLst>
                    <a:ext uri="{9D8B030D-6E8A-4147-A177-3AD203B41FA5}">
                      <a16:colId xmlns:a16="http://schemas.microsoft.com/office/drawing/2014/main" val="20000"/>
                    </a:ext>
                  </a:extLst>
                </a:gridCol>
              </a:tblGrid>
              <a:tr h="38311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PARAMETR_ID</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83117">
                <a:tc>
                  <a:txBody>
                    <a:bodyPr/>
                    <a:lstStyle/>
                    <a:p>
                      <a:pPr algn="ctr"/>
                      <a:r>
                        <a:rPr lang="ru-RU" sz="1600" dirty="0"/>
                        <a:t>Название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83117">
                <a:tc>
                  <a:txBody>
                    <a:bodyPr/>
                    <a:lstStyle/>
                    <a:p>
                      <a:pPr algn="ctr"/>
                      <a:r>
                        <a:rPr lang="ru-RU" sz="1600" dirty="0"/>
                        <a:t>Единицы измерения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83117">
                <a:tc>
                  <a:txBody>
                    <a:bodyPr/>
                    <a:lstStyle/>
                    <a:p>
                      <a:pPr algn="ctr"/>
                      <a:r>
                        <a:rPr lang="ru-RU" sz="1600" dirty="0"/>
                        <a:t>Тип параметра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83117">
                <a:tc>
                  <a:txBody>
                    <a:bodyPr/>
                    <a:lstStyle/>
                    <a:p>
                      <a:pPr algn="ctr"/>
                      <a:r>
                        <a:rPr lang="ru-RU" sz="1600" dirty="0"/>
                        <a:t>Источник данных</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83117">
                <a:tc>
                  <a:txBody>
                    <a:bodyPr/>
                    <a:lstStyle/>
                    <a:p>
                      <a:pPr algn="ctr"/>
                      <a:r>
                        <a:rPr lang="ru-RU" sz="1600" dirty="0"/>
                        <a:t>Комментарий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2" name="Таблица 11"/>
          <p:cNvGraphicFramePr>
            <a:graphicFrameLocks noGrp="1"/>
          </p:cNvGraphicFramePr>
          <p:nvPr/>
        </p:nvGraphicFramePr>
        <p:xfrm>
          <a:off x="3514725" y="2534284"/>
          <a:ext cx="2114550" cy="1789431"/>
        </p:xfrm>
        <a:graphic>
          <a:graphicData uri="http://schemas.openxmlformats.org/drawingml/2006/table">
            <a:tbl>
              <a:tblPr firstRow="1" bandRow="1">
                <a:tableStyleId>{5C22544A-7EE6-4342-B048-85BDC9FD1C3A}</a:tableStyleId>
              </a:tblPr>
              <a:tblGrid>
                <a:gridCol w="2114550">
                  <a:extLst>
                    <a:ext uri="{9D8B030D-6E8A-4147-A177-3AD203B41FA5}">
                      <a16:colId xmlns:a16="http://schemas.microsoft.com/office/drawing/2014/main" val="20000"/>
                    </a:ext>
                  </a:extLst>
                </a:gridCol>
              </a:tblGrid>
              <a:tr h="38311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PARAMETR_ID</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83117">
                <a:tc>
                  <a:txBody>
                    <a:bodyPr/>
                    <a:lstStyle/>
                    <a:p>
                      <a:pPr algn="ctr"/>
                      <a:r>
                        <a:rPr lang="en-US" b="1" dirty="0">
                          <a:solidFill>
                            <a:schemeClr val="bg1"/>
                          </a:solidFill>
                        </a:rPr>
                        <a:t>REGION</a:t>
                      </a:r>
                      <a:r>
                        <a:rPr lang="en-US" b="1" baseline="0" dirty="0">
                          <a:solidFill>
                            <a:schemeClr val="bg1"/>
                          </a:solidFill>
                        </a:rPr>
                        <a:t>_ID</a:t>
                      </a:r>
                      <a:endParaRPr lang="ru-RU"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extLst>
                  <a:ext uri="{0D108BD9-81ED-4DB2-BD59-A6C34878D82A}">
                    <a16:rowId xmlns:a16="http://schemas.microsoft.com/office/drawing/2014/main" val="10001"/>
                  </a:ext>
                </a:extLst>
              </a:tr>
              <a:tr h="383117">
                <a:tc>
                  <a:txBody>
                    <a:bodyPr/>
                    <a:lstStyle/>
                    <a:p>
                      <a:pPr algn="ctr"/>
                      <a:r>
                        <a:rPr lang="en-US" sz="1600" dirty="0"/>
                        <a:t>PERIOD_ID</a:t>
                      </a:r>
                      <a:endParaRPr lang="ru-RU"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83117">
                <a:tc>
                  <a:txBody>
                    <a:bodyPr/>
                    <a:lstStyle/>
                    <a:p>
                      <a:pPr algn="ctr"/>
                      <a:r>
                        <a:rPr lang="ru-RU" dirty="0"/>
                        <a:t>Значение параметра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13" name="Таблица 12"/>
          <p:cNvGraphicFramePr>
            <a:graphicFrameLocks noGrp="1"/>
          </p:cNvGraphicFramePr>
          <p:nvPr/>
        </p:nvGraphicFramePr>
        <p:xfrm>
          <a:off x="6261100" y="1028700"/>
          <a:ext cx="2489200" cy="1915585"/>
        </p:xfrm>
        <a:graphic>
          <a:graphicData uri="http://schemas.openxmlformats.org/drawingml/2006/table">
            <a:tbl>
              <a:tblPr firstRow="1" bandRow="1">
                <a:tableStyleId>{5C22544A-7EE6-4342-B048-85BDC9FD1C3A}</a:tableStyleId>
              </a:tblPr>
              <a:tblGrid>
                <a:gridCol w="2489200">
                  <a:extLst>
                    <a:ext uri="{9D8B030D-6E8A-4147-A177-3AD203B41FA5}">
                      <a16:colId xmlns:a16="http://schemas.microsoft.com/office/drawing/2014/main" val="20000"/>
                    </a:ext>
                  </a:extLst>
                </a:gridCol>
              </a:tblGrid>
              <a:tr h="383117">
                <a:tc>
                  <a:txBody>
                    <a:bodyPr/>
                    <a:lstStyle/>
                    <a:p>
                      <a:pPr algn="ctr"/>
                      <a:r>
                        <a:rPr lang="en-US" dirty="0"/>
                        <a:t>REGION</a:t>
                      </a:r>
                      <a:r>
                        <a:rPr lang="en-US" baseline="0" dirty="0"/>
                        <a:t>_ID</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83117">
                <a:tc>
                  <a:txBody>
                    <a:bodyPr/>
                    <a:lstStyle/>
                    <a:p>
                      <a:pPr algn="ctr"/>
                      <a:r>
                        <a:rPr lang="ru-RU" sz="1600" dirty="0"/>
                        <a:t>Название субъекта</a:t>
                      </a:r>
                      <a:r>
                        <a:rPr lang="ru-RU" sz="1600" baseline="0" dirty="0"/>
                        <a:t> РФ</a:t>
                      </a:r>
                      <a:endParaRPr lang="ru-RU"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83117">
                <a:tc>
                  <a:txBody>
                    <a:bodyPr/>
                    <a:lstStyle/>
                    <a:p>
                      <a:pPr algn="ctr"/>
                      <a:r>
                        <a:rPr lang="ru-RU" sz="1600" dirty="0"/>
                        <a:t>Подчиненность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83117">
                <a:tc>
                  <a:txBody>
                    <a:bodyPr/>
                    <a:lstStyle/>
                    <a:p>
                      <a:pPr algn="ctr"/>
                      <a:r>
                        <a:rPr lang="ru-RU" sz="1600" dirty="0"/>
                        <a:t>Описание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83117">
                <a:tc>
                  <a:txBody>
                    <a:bodyPr/>
                    <a:lstStyle/>
                    <a:p>
                      <a:pPr algn="ctr"/>
                      <a:r>
                        <a:rPr lang="ru-RU" sz="1600" dirty="0"/>
                        <a:t>Комментарий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14" name="Таблица 13"/>
          <p:cNvGraphicFramePr>
            <a:graphicFrameLocks noGrp="1"/>
          </p:cNvGraphicFramePr>
          <p:nvPr/>
        </p:nvGraphicFramePr>
        <p:xfrm>
          <a:off x="6261100" y="3873500"/>
          <a:ext cx="2400300" cy="2298702"/>
        </p:xfrm>
        <a:graphic>
          <a:graphicData uri="http://schemas.openxmlformats.org/drawingml/2006/table">
            <a:tbl>
              <a:tblPr firstRow="1" bandRow="1">
                <a:tableStyleId>{5C22544A-7EE6-4342-B048-85BDC9FD1C3A}</a:tableStyleId>
              </a:tblPr>
              <a:tblGrid>
                <a:gridCol w="2400300">
                  <a:extLst>
                    <a:ext uri="{9D8B030D-6E8A-4147-A177-3AD203B41FA5}">
                      <a16:colId xmlns:a16="http://schemas.microsoft.com/office/drawing/2014/main" val="20000"/>
                    </a:ext>
                  </a:extLst>
                </a:gridCol>
              </a:tblGrid>
              <a:tr h="383117">
                <a:tc>
                  <a:txBody>
                    <a:bodyPr/>
                    <a:lstStyle/>
                    <a:p>
                      <a:pPr algn="ctr"/>
                      <a:r>
                        <a:rPr lang="en-US" sz="1800" dirty="0"/>
                        <a:t>PERIOD_ID</a:t>
                      </a:r>
                      <a:endParaRPr lang="ru-RU"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83117">
                <a:tc>
                  <a:txBody>
                    <a:bodyPr/>
                    <a:lstStyle/>
                    <a:p>
                      <a:pPr algn="ctr"/>
                      <a:r>
                        <a:rPr lang="ru-RU" sz="1600" dirty="0"/>
                        <a:t>Описание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83117">
                <a:tc>
                  <a:txBody>
                    <a:bodyPr/>
                    <a:lstStyle/>
                    <a:p>
                      <a:pPr algn="ctr"/>
                      <a:r>
                        <a:rPr lang="ru-RU" sz="1600" dirty="0"/>
                        <a:t>Год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83117">
                <a:tc>
                  <a:txBody>
                    <a:bodyPr/>
                    <a:lstStyle/>
                    <a:p>
                      <a:pPr algn="ctr"/>
                      <a:r>
                        <a:rPr lang="ru-RU" sz="1600" dirty="0"/>
                        <a:t>Квартал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83117">
                <a:tc>
                  <a:txBody>
                    <a:bodyPr/>
                    <a:lstStyle/>
                    <a:p>
                      <a:pPr algn="ctr"/>
                      <a:r>
                        <a:rPr lang="ru-RU" sz="1600" dirty="0"/>
                        <a:t>Месяц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83117">
                <a:tc>
                  <a:txBody>
                    <a:bodyPr/>
                    <a:lstStyle/>
                    <a:p>
                      <a:pPr algn="ctr"/>
                      <a:r>
                        <a:rPr lang="ru-RU" sz="1600" dirty="0"/>
                        <a:t>День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5" name="TextBox 14"/>
          <p:cNvSpPr txBox="1"/>
          <p:nvPr/>
        </p:nvSpPr>
        <p:spPr>
          <a:xfrm>
            <a:off x="482600" y="762000"/>
            <a:ext cx="2222500" cy="338554"/>
          </a:xfrm>
          <a:prstGeom prst="rect">
            <a:avLst/>
          </a:prstGeom>
          <a:noFill/>
        </p:spPr>
        <p:txBody>
          <a:bodyPr wrap="square" rtlCol="0">
            <a:spAutoFit/>
          </a:bodyPr>
          <a:lstStyle/>
          <a:p>
            <a:r>
              <a:rPr lang="ru-RU" sz="1600" dirty="0"/>
              <a:t>Справочная таблица</a:t>
            </a:r>
          </a:p>
        </p:txBody>
      </p:sp>
      <p:sp>
        <p:nvSpPr>
          <p:cNvPr id="16" name="TextBox 15"/>
          <p:cNvSpPr txBox="1"/>
          <p:nvPr/>
        </p:nvSpPr>
        <p:spPr>
          <a:xfrm>
            <a:off x="6438900" y="584200"/>
            <a:ext cx="2222500" cy="338554"/>
          </a:xfrm>
          <a:prstGeom prst="rect">
            <a:avLst/>
          </a:prstGeom>
          <a:noFill/>
        </p:spPr>
        <p:txBody>
          <a:bodyPr wrap="square" rtlCol="0">
            <a:spAutoFit/>
          </a:bodyPr>
          <a:lstStyle/>
          <a:p>
            <a:r>
              <a:rPr lang="ru-RU" sz="1600" dirty="0"/>
              <a:t>Справочная таблица</a:t>
            </a:r>
          </a:p>
        </p:txBody>
      </p:sp>
      <p:sp>
        <p:nvSpPr>
          <p:cNvPr id="17" name="TextBox 16"/>
          <p:cNvSpPr txBox="1"/>
          <p:nvPr/>
        </p:nvSpPr>
        <p:spPr>
          <a:xfrm>
            <a:off x="6527800" y="3357146"/>
            <a:ext cx="2222500" cy="338554"/>
          </a:xfrm>
          <a:prstGeom prst="rect">
            <a:avLst/>
          </a:prstGeom>
          <a:noFill/>
        </p:spPr>
        <p:txBody>
          <a:bodyPr wrap="square" rtlCol="0">
            <a:spAutoFit/>
          </a:bodyPr>
          <a:lstStyle/>
          <a:p>
            <a:r>
              <a:rPr lang="ru-RU" sz="1600" dirty="0"/>
              <a:t>Справочная таблица</a:t>
            </a:r>
          </a:p>
        </p:txBody>
      </p:sp>
      <p:sp>
        <p:nvSpPr>
          <p:cNvPr id="18" name="TextBox 17"/>
          <p:cNvSpPr txBox="1"/>
          <p:nvPr/>
        </p:nvSpPr>
        <p:spPr>
          <a:xfrm>
            <a:off x="3460750" y="1873250"/>
            <a:ext cx="2222500" cy="584775"/>
          </a:xfrm>
          <a:prstGeom prst="rect">
            <a:avLst/>
          </a:prstGeom>
          <a:noFill/>
        </p:spPr>
        <p:txBody>
          <a:bodyPr wrap="square" rtlCol="0">
            <a:spAutoFit/>
          </a:bodyPr>
          <a:lstStyle/>
          <a:p>
            <a:pPr algn="ctr"/>
            <a:r>
              <a:rPr lang="ru-RU" sz="1600" dirty="0" err="1"/>
              <a:t>Фактологическая</a:t>
            </a:r>
            <a:r>
              <a:rPr lang="ru-RU" sz="1600" dirty="0"/>
              <a:t> таблица</a:t>
            </a:r>
          </a:p>
        </p:txBody>
      </p:sp>
      <p:cxnSp>
        <p:nvCxnSpPr>
          <p:cNvPr id="20" name="Соединительная линия уступом 19"/>
          <p:cNvCxnSpPr/>
          <p:nvPr/>
        </p:nvCxnSpPr>
        <p:spPr>
          <a:xfrm>
            <a:off x="2393950" y="1562100"/>
            <a:ext cx="1333500" cy="1200150"/>
          </a:xfrm>
          <a:prstGeom prst="bentConnector3">
            <a:avLst>
              <a:gd name="adj1" fmla="val 50000"/>
            </a:avLst>
          </a:prstGeom>
          <a:ln w="25400"/>
        </p:spPr>
        <p:style>
          <a:lnRef idx="1">
            <a:schemeClr val="accent1"/>
          </a:lnRef>
          <a:fillRef idx="0">
            <a:schemeClr val="accent1"/>
          </a:fillRef>
          <a:effectRef idx="0">
            <a:schemeClr val="accent1"/>
          </a:effectRef>
          <a:fontRef idx="minor">
            <a:schemeClr val="tx1"/>
          </a:fontRef>
        </p:style>
      </p:cxnSp>
      <p:cxnSp>
        <p:nvCxnSpPr>
          <p:cNvPr id="42" name="Соединительная линия уступом 41"/>
          <p:cNvCxnSpPr/>
          <p:nvPr/>
        </p:nvCxnSpPr>
        <p:spPr>
          <a:xfrm>
            <a:off x="5594350" y="3429000"/>
            <a:ext cx="844550" cy="711200"/>
          </a:xfrm>
          <a:prstGeom prst="bentConnector3">
            <a:avLst>
              <a:gd name="adj1" fmla="val 50000"/>
            </a:avLst>
          </a:prstGeom>
          <a:ln w="25400"/>
        </p:spPr>
        <p:style>
          <a:lnRef idx="1">
            <a:schemeClr val="accent1"/>
          </a:lnRef>
          <a:fillRef idx="0">
            <a:schemeClr val="accent1"/>
          </a:fillRef>
          <a:effectRef idx="0">
            <a:schemeClr val="accent1"/>
          </a:effectRef>
          <a:fontRef idx="minor">
            <a:schemeClr val="tx1"/>
          </a:fontRef>
        </p:style>
      </p:cxnSp>
      <p:cxnSp>
        <p:nvCxnSpPr>
          <p:cNvPr id="63" name="Соединительная линия уступом 62"/>
          <p:cNvCxnSpPr/>
          <p:nvPr/>
        </p:nvCxnSpPr>
        <p:spPr>
          <a:xfrm rot="10800000" flipV="1">
            <a:off x="4572000" y="1250950"/>
            <a:ext cx="2044700" cy="1955800"/>
          </a:xfrm>
          <a:prstGeom prst="bentConnector3">
            <a:avLst>
              <a:gd name="adj1" fmla="val 36177"/>
            </a:avLst>
          </a:prstGeom>
          <a:ln w="254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90500" y="0"/>
            <a:ext cx="8763000" cy="609600"/>
          </a:xfrm>
        </p:spPr>
        <p:txBody>
          <a:bodyPr/>
          <a:lstStyle/>
          <a:p>
            <a:pPr algn="ctr"/>
            <a:r>
              <a:rPr lang="ru-RU" sz="3200" dirty="0">
                <a:solidFill>
                  <a:schemeClr val="bg2"/>
                </a:solidFill>
              </a:rPr>
              <a:t>Пример: </a:t>
            </a:r>
            <a:r>
              <a:rPr lang="en-US" sz="3200" dirty="0">
                <a:solidFill>
                  <a:schemeClr val="bg2"/>
                </a:solidFill>
              </a:rPr>
              <a:t>ROLAP</a:t>
            </a:r>
            <a:r>
              <a:rPr lang="ru-RU" sz="3200" dirty="0">
                <a:solidFill>
                  <a:schemeClr val="bg2"/>
                </a:solidFill>
              </a:rPr>
              <a:t> – «Снежинка»</a:t>
            </a:r>
          </a:p>
        </p:txBody>
      </p:sp>
      <p:sp>
        <p:nvSpPr>
          <p:cNvPr id="6" name="Номер слайда 5"/>
          <p:cNvSpPr>
            <a:spLocks noGrp="1"/>
          </p:cNvSpPr>
          <p:nvPr>
            <p:ph type="sldNum" sz="quarter" idx="11"/>
          </p:nvPr>
        </p:nvSpPr>
        <p:spPr>
          <a:xfrm>
            <a:off x="8216900" y="6248400"/>
            <a:ext cx="469900" cy="381000"/>
          </a:xfrm>
        </p:spPr>
        <p:txBody>
          <a:bodyPr/>
          <a:lstStyle/>
          <a:p>
            <a:fld id="{4DC7491D-CDB9-48BE-BADB-11210BC61B1D}" type="slidenum">
              <a:rPr lang="ru-RU" smtClean="0"/>
              <a:pPr/>
              <a:t>24</a:t>
            </a:fld>
            <a:endParaRPr lang="ru-RU"/>
          </a:p>
        </p:txBody>
      </p:sp>
      <p:graphicFrame>
        <p:nvGraphicFramePr>
          <p:cNvPr id="11" name="Таблица 10"/>
          <p:cNvGraphicFramePr>
            <a:graphicFrameLocks noGrp="1"/>
          </p:cNvGraphicFramePr>
          <p:nvPr/>
        </p:nvGraphicFramePr>
        <p:xfrm>
          <a:off x="527050" y="1073150"/>
          <a:ext cx="2311400" cy="2298702"/>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20000"/>
                    </a:ext>
                  </a:extLst>
                </a:gridCol>
              </a:tblGrid>
              <a:tr h="38311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PARAMETR_ID</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83117">
                <a:tc>
                  <a:txBody>
                    <a:bodyPr/>
                    <a:lstStyle/>
                    <a:p>
                      <a:pPr algn="ctr"/>
                      <a:r>
                        <a:rPr lang="ru-RU" sz="1600" dirty="0"/>
                        <a:t>Название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83117">
                <a:tc>
                  <a:txBody>
                    <a:bodyPr/>
                    <a:lstStyle/>
                    <a:p>
                      <a:pPr algn="ctr"/>
                      <a:r>
                        <a:rPr lang="ru-RU" sz="1600" dirty="0"/>
                        <a:t>Единицы измерения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8311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rPr>
                        <a:t>PARAMTYPE_ID</a:t>
                      </a:r>
                      <a:endParaRPr lang="ru-RU" sz="16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3"/>
                  </a:ext>
                </a:extLst>
              </a:tr>
              <a:tr h="38311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rPr>
                        <a:t>DATASOURCE_ID</a:t>
                      </a:r>
                      <a:endParaRPr lang="ru-RU" sz="16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4"/>
                  </a:ext>
                </a:extLst>
              </a:tr>
              <a:tr h="383117">
                <a:tc>
                  <a:txBody>
                    <a:bodyPr/>
                    <a:lstStyle/>
                    <a:p>
                      <a:pPr algn="ctr"/>
                      <a:r>
                        <a:rPr lang="ru-RU" sz="1600" dirty="0"/>
                        <a:t>Комментарий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2" name="Таблица 11"/>
          <p:cNvGraphicFramePr>
            <a:graphicFrameLocks noGrp="1"/>
          </p:cNvGraphicFramePr>
          <p:nvPr/>
        </p:nvGraphicFramePr>
        <p:xfrm>
          <a:off x="3514725" y="1695450"/>
          <a:ext cx="2114550" cy="1789431"/>
        </p:xfrm>
        <a:graphic>
          <a:graphicData uri="http://schemas.openxmlformats.org/drawingml/2006/table">
            <a:tbl>
              <a:tblPr firstRow="1" bandRow="1">
                <a:tableStyleId>{5C22544A-7EE6-4342-B048-85BDC9FD1C3A}</a:tableStyleId>
              </a:tblPr>
              <a:tblGrid>
                <a:gridCol w="2114550">
                  <a:extLst>
                    <a:ext uri="{9D8B030D-6E8A-4147-A177-3AD203B41FA5}">
                      <a16:colId xmlns:a16="http://schemas.microsoft.com/office/drawing/2014/main" val="20000"/>
                    </a:ext>
                  </a:extLst>
                </a:gridCol>
              </a:tblGrid>
              <a:tr h="38311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PARAMETR_ID</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83117">
                <a:tc>
                  <a:txBody>
                    <a:bodyPr/>
                    <a:lstStyle/>
                    <a:p>
                      <a:pPr algn="ctr"/>
                      <a:r>
                        <a:rPr lang="en-US" b="1" dirty="0">
                          <a:solidFill>
                            <a:schemeClr val="bg1"/>
                          </a:solidFill>
                        </a:rPr>
                        <a:t>REGION</a:t>
                      </a:r>
                      <a:r>
                        <a:rPr lang="en-US" b="1" baseline="0" dirty="0">
                          <a:solidFill>
                            <a:schemeClr val="bg1"/>
                          </a:solidFill>
                        </a:rPr>
                        <a:t>_ID</a:t>
                      </a:r>
                      <a:endParaRPr lang="ru-RU"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383117">
                <a:tc>
                  <a:txBody>
                    <a:bodyPr/>
                    <a:lstStyle/>
                    <a:p>
                      <a:pPr algn="ctr"/>
                      <a:r>
                        <a:rPr lang="en-US" sz="1800" b="1" dirty="0">
                          <a:solidFill>
                            <a:schemeClr val="bg1"/>
                          </a:solidFill>
                        </a:rPr>
                        <a:t>PERIOD_ID</a:t>
                      </a:r>
                      <a:endParaRPr lang="ru-RU" sz="18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383117">
                <a:tc>
                  <a:txBody>
                    <a:bodyPr/>
                    <a:lstStyle/>
                    <a:p>
                      <a:pPr algn="ctr"/>
                      <a:r>
                        <a:rPr lang="ru-RU" dirty="0"/>
                        <a:t>Значение параметра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13" name="Таблица 12"/>
          <p:cNvGraphicFramePr>
            <a:graphicFrameLocks noGrp="1"/>
          </p:cNvGraphicFramePr>
          <p:nvPr/>
        </p:nvGraphicFramePr>
        <p:xfrm>
          <a:off x="6261100" y="939800"/>
          <a:ext cx="2489200" cy="1915585"/>
        </p:xfrm>
        <a:graphic>
          <a:graphicData uri="http://schemas.openxmlformats.org/drawingml/2006/table">
            <a:tbl>
              <a:tblPr firstRow="1" bandRow="1">
                <a:tableStyleId>{5C22544A-7EE6-4342-B048-85BDC9FD1C3A}</a:tableStyleId>
              </a:tblPr>
              <a:tblGrid>
                <a:gridCol w="2489200">
                  <a:extLst>
                    <a:ext uri="{9D8B030D-6E8A-4147-A177-3AD203B41FA5}">
                      <a16:colId xmlns:a16="http://schemas.microsoft.com/office/drawing/2014/main" val="20000"/>
                    </a:ext>
                  </a:extLst>
                </a:gridCol>
              </a:tblGrid>
              <a:tr h="383117">
                <a:tc>
                  <a:txBody>
                    <a:bodyPr/>
                    <a:lstStyle/>
                    <a:p>
                      <a:pPr algn="ctr"/>
                      <a:r>
                        <a:rPr lang="en-US" dirty="0"/>
                        <a:t>REGION</a:t>
                      </a:r>
                      <a:r>
                        <a:rPr lang="en-US" baseline="0" dirty="0"/>
                        <a:t>_ID</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83117">
                <a:tc>
                  <a:txBody>
                    <a:bodyPr/>
                    <a:lstStyle/>
                    <a:p>
                      <a:pPr algn="ctr"/>
                      <a:r>
                        <a:rPr lang="ru-RU" sz="1600" dirty="0"/>
                        <a:t>Название субъекта</a:t>
                      </a:r>
                      <a:r>
                        <a:rPr lang="ru-RU" sz="1600" baseline="0" dirty="0"/>
                        <a:t> РФ</a:t>
                      </a:r>
                      <a:endParaRPr lang="ru-RU"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83117">
                <a:tc>
                  <a:txBody>
                    <a:bodyPr/>
                    <a:lstStyle/>
                    <a:p>
                      <a:pPr algn="ctr"/>
                      <a:r>
                        <a:rPr lang="ru-RU" sz="1600" dirty="0"/>
                        <a:t>Подчиненность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83117">
                <a:tc>
                  <a:txBody>
                    <a:bodyPr/>
                    <a:lstStyle/>
                    <a:p>
                      <a:pPr algn="ctr"/>
                      <a:r>
                        <a:rPr lang="ru-RU" sz="1600" dirty="0"/>
                        <a:t>Описание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83117">
                <a:tc>
                  <a:txBody>
                    <a:bodyPr/>
                    <a:lstStyle/>
                    <a:p>
                      <a:pPr algn="ctr"/>
                      <a:r>
                        <a:rPr lang="ru-RU" sz="1600" dirty="0"/>
                        <a:t>Комментарий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14" name="Таблица 13"/>
          <p:cNvGraphicFramePr>
            <a:graphicFrameLocks noGrp="1"/>
          </p:cNvGraphicFramePr>
          <p:nvPr/>
        </p:nvGraphicFramePr>
        <p:xfrm>
          <a:off x="6261100" y="3206750"/>
          <a:ext cx="2400300" cy="2298702"/>
        </p:xfrm>
        <a:graphic>
          <a:graphicData uri="http://schemas.openxmlformats.org/drawingml/2006/table">
            <a:tbl>
              <a:tblPr firstRow="1" bandRow="1">
                <a:tableStyleId>{5C22544A-7EE6-4342-B048-85BDC9FD1C3A}</a:tableStyleId>
              </a:tblPr>
              <a:tblGrid>
                <a:gridCol w="2400300">
                  <a:extLst>
                    <a:ext uri="{9D8B030D-6E8A-4147-A177-3AD203B41FA5}">
                      <a16:colId xmlns:a16="http://schemas.microsoft.com/office/drawing/2014/main" val="20000"/>
                    </a:ext>
                  </a:extLst>
                </a:gridCol>
              </a:tblGrid>
              <a:tr h="383117">
                <a:tc>
                  <a:txBody>
                    <a:bodyPr/>
                    <a:lstStyle/>
                    <a:p>
                      <a:pPr algn="ctr"/>
                      <a:r>
                        <a:rPr lang="en-US" sz="1800" dirty="0"/>
                        <a:t>PERIOD_ID</a:t>
                      </a:r>
                      <a:endParaRPr lang="ru-RU"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83117">
                <a:tc>
                  <a:txBody>
                    <a:bodyPr/>
                    <a:lstStyle/>
                    <a:p>
                      <a:pPr algn="ctr"/>
                      <a:r>
                        <a:rPr lang="ru-RU" sz="1600" dirty="0"/>
                        <a:t>Описание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83117">
                <a:tc>
                  <a:txBody>
                    <a:bodyPr/>
                    <a:lstStyle/>
                    <a:p>
                      <a:pPr algn="ctr"/>
                      <a:r>
                        <a:rPr lang="ru-RU" sz="1600" dirty="0"/>
                        <a:t>Год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83117">
                <a:tc>
                  <a:txBody>
                    <a:bodyPr/>
                    <a:lstStyle/>
                    <a:p>
                      <a:pPr algn="ctr"/>
                      <a:r>
                        <a:rPr lang="en-US" sz="1600" b="1" dirty="0">
                          <a:solidFill>
                            <a:schemeClr val="bg1"/>
                          </a:solidFill>
                        </a:rPr>
                        <a:t>QUARTER_ID</a:t>
                      </a:r>
                      <a:endParaRPr lang="ru-RU" sz="16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383117">
                <a:tc>
                  <a:txBody>
                    <a:bodyPr/>
                    <a:lstStyle/>
                    <a:p>
                      <a:pPr algn="ctr"/>
                      <a:r>
                        <a:rPr lang="en-US" sz="1600" b="1" dirty="0">
                          <a:solidFill>
                            <a:schemeClr val="bg1"/>
                          </a:solidFill>
                        </a:rPr>
                        <a:t>MONTH_ID</a:t>
                      </a:r>
                      <a:endParaRPr lang="ru-RU" sz="16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r h="383117">
                <a:tc>
                  <a:txBody>
                    <a:bodyPr/>
                    <a:lstStyle/>
                    <a:p>
                      <a:pPr algn="ctr"/>
                      <a:r>
                        <a:rPr lang="ru-RU" sz="1600" dirty="0"/>
                        <a:t>День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8" name="TextBox 17"/>
          <p:cNvSpPr txBox="1"/>
          <p:nvPr/>
        </p:nvSpPr>
        <p:spPr>
          <a:xfrm>
            <a:off x="3460750" y="984250"/>
            <a:ext cx="2222500" cy="584775"/>
          </a:xfrm>
          <a:prstGeom prst="rect">
            <a:avLst/>
          </a:prstGeom>
          <a:noFill/>
        </p:spPr>
        <p:txBody>
          <a:bodyPr wrap="square" rtlCol="0">
            <a:spAutoFit/>
          </a:bodyPr>
          <a:lstStyle/>
          <a:p>
            <a:pPr algn="ctr"/>
            <a:r>
              <a:rPr lang="ru-RU" sz="1600" dirty="0" err="1"/>
              <a:t>Фактологическая</a:t>
            </a:r>
            <a:r>
              <a:rPr lang="ru-RU" sz="1600" dirty="0"/>
              <a:t> таблица</a:t>
            </a:r>
          </a:p>
        </p:txBody>
      </p:sp>
      <p:cxnSp>
        <p:nvCxnSpPr>
          <p:cNvPr id="20" name="Соединительная линия уступом 19"/>
          <p:cNvCxnSpPr/>
          <p:nvPr/>
        </p:nvCxnSpPr>
        <p:spPr>
          <a:xfrm>
            <a:off x="2571750" y="1295400"/>
            <a:ext cx="1111250" cy="622300"/>
          </a:xfrm>
          <a:prstGeom prst="bentConnector3">
            <a:avLst>
              <a:gd name="adj1" fmla="val 50000"/>
            </a:avLst>
          </a:prstGeom>
          <a:ln w="25400"/>
        </p:spPr>
        <p:style>
          <a:lnRef idx="1">
            <a:schemeClr val="accent1"/>
          </a:lnRef>
          <a:fillRef idx="0">
            <a:schemeClr val="accent1"/>
          </a:fillRef>
          <a:effectRef idx="0">
            <a:schemeClr val="accent1"/>
          </a:effectRef>
          <a:fontRef idx="minor">
            <a:schemeClr val="tx1"/>
          </a:fontRef>
        </p:style>
      </p:cxnSp>
      <p:cxnSp>
        <p:nvCxnSpPr>
          <p:cNvPr id="42" name="Соединительная линия уступом 41"/>
          <p:cNvCxnSpPr/>
          <p:nvPr/>
        </p:nvCxnSpPr>
        <p:spPr>
          <a:xfrm>
            <a:off x="5549900" y="2628900"/>
            <a:ext cx="844550" cy="801688"/>
          </a:xfrm>
          <a:prstGeom prst="bentConnector3">
            <a:avLst>
              <a:gd name="adj1" fmla="val 50000"/>
            </a:avLst>
          </a:prstGeom>
          <a:ln w="25400"/>
        </p:spPr>
        <p:style>
          <a:lnRef idx="1">
            <a:schemeClr val="accent1"/>
          </a:lnRef>
          <a:fillRef idx="0">
            <a:schemeClr val="accent1"/>
          </a:fillRef>
          <a:effectRef idx="0">
            <a:schemeClr val="accent1"/>
          </a:effectRef>
          <a:fontRef idx="minor">
            <a:schemeClr val="tx1"/>
          </a:fontRef>
        </p:style>
      </p:cxnSp>
      <p:cxnSp>
        <p:nvCxnSpPr>
          <p:cNvPr id="63" name="Соединительная линия уступом 62"/>
          <p:cNvCxnSpPr/>
          <p:nvPr/>
        </p:nvCxnSpPr>
        <p:spPr>
          <a:xfrm rot="10800000" flipV="1">
            <a:off x="5016500" y="1250950"/>
            <a:ext cx="1600200" cy="1111250"/>
          </a:xfrm>
          <a:prstGeom prst="bentConnector3">
            <a:avLst>
              <a:gd name="adj1" fmla="val 40649"/>
            </a:avLst>
          </a:prstGeom>
          <a:ln w="25400"/>
        </p:spPr>
        <p:style>
          <a:lnRef idx="1">
            <a:schemeClr val="accent1"/>
          </a:lnRef>
          <a:fillRef idx="0">
            <a:schemeClr val="accent1"/>
          </a:fillRef>
          <a:effectRef idx="0">
            <a:schemeClr val="accent1"/>
          </a:effectRef>
          <a:fontRef idx="minor">
            <a:schemeClr val="tx1"/>
          </a:fontRef>
        </p:style>
      </p:cxnSp>
      <p:graphicFrame>
        <p:nvGraphicFramePr>
          <p:cNvPr id="27" name="Таблица 26"/>
          <p:cNvGraphicFramePr>
            <a:graphicFrameLocks noGrp="1"/>
          </p:cNvGraphicFramePr>
          <p:nvPr/>
        </p:nvGraphicFramePr>
        <p:xfrm>
          <a:off x="527050" y="3740150"/>
          <a:ext cx="2311400" cy="962237"/>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20000"/>
                    </a:ext>
                  </a:extLst>
                </a:gridCol>
              </a:tblGrid>
              <a:tr h="38311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PARAMTYPE_ID</a:t>
                      </a:r>
                      <a:endParaRPr lang="ru-R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83117">
                <a:tc>
                  <a:txBody>
                    <a:bodyPr/>
                    <a:lstStyle/>
                    <a:p>
                      <a:pPr algn="ctr"/>
                      <a:r>
                        <a:rPr lang="ru-RU" sz="1600" dirty="0"/>
                        <a:t>Описание</a:t>
                      </a:r>
                      <a:r>
                        <a:rPr lang="ru-RU" sz="1600" baseline="0" dirty="0"/>
                        <a:t> типа </a:t>
                      </a:r>
                      <a:r>
                        <a:rPr lang="ru-RU" sz="1600" dirty="0"/>
                        <a:t>параметра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28" name="Таблица 27"/>
          <p:cNvGraphicFramePr>
            <a:graphicFrameLocks noGrp="1"/>
          </p:cNvGraphicFramePr>
          <p:nvPr/>
        </p:nvGraphicFramePr>
        <p:xfrm>
          <a:off x="527050" y="4984750"/>
          <a:ext cx="2301875" cy="1541357"/>
        </p:xfrm>
        <a:graphic>
          <a:graphicData uri="http://schemas.openxmlformats.org/drawingml/2006/table">
            <a:tbl>
              <a:tblPr firstRow="1" bandRow="1">
                <a:tableStyleId>{5C22544A-7EE6-4342-B048-85BDC9FD1C3A}</a:tableStyleId>
              </a:tblPr>
              <a:tblGrid>
                <a:gridCol w="2301875">
                  <a:extLst>
                    <a:ext uri="{9D8B030D-6E8A-4147-A177-3AD203B41FA5}">
                      <a16:colId xmlns:a16="http://schemas.microsoft.com/office/drawing/2014/main" val="20000"/>
                    </a:ext>
                  </a:extLst>
                </a:gridCol>
              </a:tblGrid>
              <a:tr h="38311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DATASOURCE_ID</a:t>
                      </a:r>
                      <a:endParaRPr lang="ru-RU"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83117">
                <a:tc>
                  <a:txBody>
                    <a:bodyPr/>
                    <a:lstStyle/>
                    <a:p>
                      <a:pPr algn="ctr"/>
                      <a:r>
                        <a:rPr lang="ru-RU" sz="1600" dirty="0"/>
                        <a:t>Описание</a:t>
                      </a:r>
                      <a:r>
                        <a:rPr lang="ru-RU" sz="1600" baseline="0" dirty="0"/>
                        <a:t> источника данных</a:t>
                      </a:r>
                      <a:endParaRPr lang="ru-RU"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83117">
                <a:tc>
                  <a:txBody>
                    <a:bodyPr/>
                    <a:lstStyle/>
                    <a:p>
                      <a:pPr algn="ctr"/>
                      <a:r>
                        <a:rPr lang="ru-RU" sz="1600" dirty="0"/>
                        <a:t>Период поступления данных</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pSp>
        <p:nvGrpSpPr>
          <p:cNvPr id="39" name="Группа 38"/>
          <p:cNvGrpSpPr/>
          <p:nvPr/>
        </p:nvGrpSpPr>
        <p:grpSpPr>
          <a:xfrm>
            <a:off x="215900" y="2406650"/>
            <a:ext cx="444500" cy="1512094"/>
            <a:chOff x="304006" y="2406650"/>
            <a:chExt cx="356394" cy="1512094"/>
          </a:xfrm>
        </p:grpSpPr>
        <p:cxnSp>
          <p:nvCxnSpPr>
            <p:cNvPr id="31" name="Прямая соединительная линия 30"/>
            <p:cNvCxnSpPr/>
            <p:nvPr/>
          </p:nvCxnSpPr>
          <p:spPr>
            <a:xfrm rot="5400000">
              <a:off x="-450850" y="3162300"/>
              <a:ext cx="1511300" cy="158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4" name="Прямая соединительная линия 33"/>
            <p:cNvCxnSpPr/>
            <p:nvPr/>
          </p:nvCxnSpPr>
          <p:spPr>
            <a:xfrm rot="10800000">
              <a:off x="304800" y="2406650"/>
              <a:ext cx="355600" cy="158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8" name="Прямая соединительная линия 37"/>
            <p:cNvCxnSpPr/>
            <p:nvPr/>
          </p:nvCxnSpPr>
          <p:spPr>
            <a:xfrm rot="10800000">
              <a:off x="304800" y="3916362"/>
              <a:ext cx="355600" cy="1588"/>
            </a:xfrm>
            <a:prstGeom prst="line">
              <a:avLst/>
            </a:prstGeom>
            <a:ln w="25400"/>
          </p:spPr>
          <p:style>
            <a:lnRef idx="1">
              <a:schemeClr val="accent1"/>
            </a:lnRef>
            <a:fillRef idx="0">
              <a:schemeClr val="accent1"/>
            </a:fillRef>
            <a:effectRef idx="0">
              <a:schemeClr val="accent1"/>
            </a:effectRef>
            <a:fontRef idx="minor">
              <a:schemeClr val="tx1"/>
            </a:fontRef>
          </p:style>
        </p:cxnSp>
      </p:grpSp>
      <p:grpSp>
        <p:nvGrpSpPr>
          <p:cNvPr id="45" name="Группа 44"/>
          <p:cNvGrpSpPr/>
          <p:nvPr/>
        </p:nvGrpSpPr>
        <p:grpSpPr>
          <a:xfrm>
            <a:off x="2838450" y="2895600"/>
            <a:ext cx="311150" cy="2311400"/>
            <a:chOff x="2838450" y="2895600"/>
            <a:chExt cx="223838" cy="2311400"/>
          </a:xfrm>
        </p:grpSpPr>
        <p:cxnSp>
          <p:nvCxnSpPr>
            <p:cNvPr id="32" name="Прямая соединительная линия 31"/>
            <p:cNvCxnSpPr/>
            <p:nvPr/>
          </p:nvCxnSpPr>
          <p:spPr>
            <a:xfrm rot="5400000">
              <a:off x="1905794" y="4050506"/>
              <a:ext cx="2311400" cy="158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0" name="Прямая соединительная линия 39"/>
            <p:cNvCxnSpPr/>
            <p:nvPr/>
          </p:nvCxnSpPr>
          <p:spPr>
            <a:xfrm rot="10800000">
              <a:off x="2838450" y="2895600"/>
              <a:ext cx="222250" cy="158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4" name="Прямая соединительная линия 43"/>
            <p:cNvCxnSpPr/>
            <p:nvPr/>
          </p:nvCxnSpPr>
          <p:spPr>
            <a:xfrm rot="10800000">
              <a:off x="2838451" y="5205412"/>
              <a:ext cx="222250" cy="1588"/>
            </a:xfrm>
            <a:prstGeom prst="line">
              <a:avLst/>
            </a:prstGeom>
            <a:ln w="25400"/>
          </p:spPr>
          <p:style>
            <a:lnRef idx="1">
              <a:schemeClr val="accent1"/>
            </a:lnRef>
            <a:fillRef idx="0">
              <a:schemeClr val="accent1"/>
            </a:fillRef>
            <a:effectRef idx="0">
              <a:schemeClr val="accent1"/>
            </a:effectRef>
            <a:fontRef idx="minor">
              <a:schemeClr val="tx1"/>
            </a:fontRef>
          </p:style>
        </p:cxnSp>
      </p:grpSp>
      <p:graphicFrame>
        <p:nvGraphicFramePr>
          <p:cNvPr id="49" name="Таблица 48"/>
          <p:cNvGraphicFramePr>
            <a:graphicFrameLocks noGrp="1"/>
          </p:cNvGraphicFramePr>
          <p:nvPr/>
        </p:nvGraphicFramePr>
        <p:xfrm>
          <a:off x="3421062" y="4095750"/>
          <a:ext cx="2301875" cy="1131994"/>
        </p:xfrm>
        <a:graphic>
          <a:graphicData uri="http://schemas.openxmlformats.org/drawingml/2006/table">
            <a:tbl>
              <a:tblPr firstRow="1" bandRow="1">
                <a:tableStyleId>{5C22544A-7EE6-4342-B048-85BDC9FD1C3A}</a:tableStyleId>
              </a:tblPr>
              <a:tblGrid>
                <a:gridCol w="2301875">
                  <a:extLst>
                    <a:ext uri="{9D8B030D-6E8A-4147-A177-3AD203B41FA5}">
                      <a16:colId xmlns:a16="http://schemas.microsoft.com/office/drawing/2014/main" val="20000"/>
                    </a:ext>
                  </a:extLst>
                </a:gridCol>
              </a:tblGrid>
              <a:tr h="135467">
                <a:tc>
                  <a:txBody>
                    <a:bodyPr/>
                    <a:lstStyle/>
                    <a:p>
                      <a:pPr algn="ctr"/>
                      <a:r>
                        <a:rPr lang="en-US" sz="1800" b="1" dirty="0">
                          <a:solidFill>
                            <a:schemeClr val="bg1"/>
                          </a:solidFill>
                        </a:rPr>
                        <a:t>QUARTER_ID</a:t>
                      </a:r>
                      <a:endParaRPr lang="ru-RU" sz="18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83117">
                <a:tc>
                  <a:txBody>
                    <a:bodyPr/>
                    <a:lstStyle/>
                    <a:p>
                      <a:pPr algn="ctr"/>
                      <a:r>
                        <a:rPr lang="ru-RU" sz="1600" dirty="0"/>
                        <a:t>Название</a:t>
                      </a:r>
                      <a:r>
                        <a:rPr lang="ru-RU" sz="1600" baseline="0" dirty="0"/>
                        <a:t> квартала</a:t>
                      </a:r>
                      <a:endParaRPr lang="ru-RU"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83117">
                <a:tc>
                  <a:txBody>
                    <a:bodyPr/>
                    <a:lstStyle/>
                    <a:p>
                      <a:pPr algn="ctr"/>
                      <a:r>
                        <a:rPr lang="ru-RU" sz="1600" dirty="0"/>
                        <a:t>Комментарий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50" name="Таблица 49"/>
          <p:cNvGraphicFramePr>
            <a:graphicFrameLocks noGrp="1"/>
          </p:cNvGraphicFramePr>
          <p:nvPr/>
        </p:nvGraphicFramePr>
        <p:xfrm>
          <a:off x="3416300" y="5473700"/>
          <a:ext cx="2301875" cy="1131994"/>
        </p:xfrm>
        <a:graphic>
          <a:graphicData uri="http://schemas.openxmlformats.org/drawingml/2006/table">
            <a:tbl>
              <a:tblPr firstRow="1" bandRow="1">
                <a:tableStyleId>{5C22544A-7EE6-4342-B048-85BDC9FD1C3A}</a:tableStyleId>
              </a:tblPr>
              <a:tblGrid>
                <a:gridCol w="2301875">
                  <a:extLst>
                    <a:ext uri="{9D8B030D-6E8A-4147-A177-3AD203B41FA5}">
                      <a16:colId xmlns:a16="http://schemas.microsoft.com/office/drawing/2014/main" val="20000"/>
                    </a:ext>
                  </a:extLst>
                </a:gridCol>
              </a:tblGrid>
              <a:tr h="135467">
                <a:tc>
                  <a:txBody>
                    <a:bodyPr/>
                    <a:lstStyle/>
                    <a:p>
                      <a:pPr algn="ctr"/>
                      <a:r>
                        <a:rPr lang="en-US" sz="1800" b="1" dirty="0">
                          <a:solidFill>
                            <a:schemeClr val="bg1"/>
                          </a:solidFill>
                        </a:rPr>
                        <a:t>MONTH_ID</a:t>
                      </a:r>
                      <a:endParaRPr lang="ru-RU" sz="18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83117">
                <a:tc>
                  <a:txBody>
                    <a:bodyPr/>
                    <a:lstStyle/>
                    <a:p>
                      <a:pPr algn="ctr"/>
                      <a:r>
                        <a:rPr lang="ru-RU" sz="1600" dirty="0"/>
                        <a:t>Название</a:t>
                      </a:r>
                      <a:r>
                        <a:rPr lang="ru-RU" sz="1600" baseline="0" dirty="0"/>
                        <a:t> месяца</a:t>
                      </a:r>
                      <a:endParaRPr lang="ru-RU"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83117">
                <a:tc>
                  <a:txBody>
                    <a:bodyPr/>
                    <a:lstStyle/>
                    <a:p>
                      <a:pPr algn="ctr"/>
                      <a:r>
                        <a:rPr lang="ru-RU" sz="1600" dirty="0"/>
                        <a:t>Комментарий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cxnSp>
        <p:nvCxnSpPr>
          <p:cNvPr id="57" name="Соединительная линия уступом 56"/>
          <p:cNvCxnSpPr/>
          <p:nvPr/>
        </p:nvCxnSpPr>
        <p:spPr>
          <a:xfrm>
            <a:off x="5416550" y="4229100"/>
            <a:ext cx="1155700" cy="355600"/>
          </a:xfrm>
          <a:prstGeom prst="bentConnector3">
            <a:avLst>
              <a:gd name="adj1" fmla="val 50000"/>
            </a:avLst>
          </a:prstGeom>
          <a:ln w="25400"/>
        </p:spPr>
        <p:style>
          <a:lnRef idx="1">
            <a:schemeClr val="accent1"/>
          </a:lnRef>
          <a:fillRef idx="0">
            <a:schemeClr val="accent1"/>
          </a:fillRef>
          <a:effectRef idx="0">
            <a:schemeClr val="accent1"/>
          </a:effectRef>
          <a:fontRef idx="minor">
            <a:schemeClr val="tx1"/>
          </a:fontRef>
        </p:style>
      </p:cxnSp>
      <p:cxnSp>
        <p:nvCxnSpPr>
          <p:cNvPr id="60" name="Соединительная линия уступом 59"/>
          <p:cNvCxnSpPr/>
          <p:nvPr/>
        </p:nvCxnSpPr>
        <p:spPr>
          <a:xfrm flipV="1">
            <a:off x="5549900" y="4941888"/>
            <a:ext cx="977900" cy="754062"/>
          </a:xfrm>
          <a:prstGeom prst="bentConnector3">
            <a:avLst>
              <a:gd name="adj1" fmla="val 46600"/>
            </a:avLst>
          </a:prstGeom>
          <a:ln w="254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52400" y="139700"/>
            <a:ext cx="8763000" cy="609600"/>
          </a:xfrm>
        </p:spPr>
        <p:txBody>
          <a:bodyPr/>
          <a:lstStyle/>
          <a:p>
            <a:pPr algn="ctr"/>
            <a:r>
              <a:rPr lang="ru-RU" sz="2800" dirty="0">
                <a:solidFill>
                  <a:schemeClr val="bg2"/>
                </a:solidFill>
              </a:rPr>
              <a:t>Построение систем на основе хранилища данных</a:t>
            </a:r>
          </a:p>
        </p:txBody>
      </p:sp>
      <p:sp>
        <p:nvSpPr>
          <p:cNvPr id="43011" name="Rectangle 3"/>
          <p:cNvSpPr>
            <a:spLocks noGrp="1" noChangeArrowheads="1"/>
          </p:cNvSpPr>
          <p:nvPr>
            <p:ph type="body" idx="1"/>
          </p:nvPr>
        </p:nvSpPr>
        <p:spPr>
          <a:xfrm>
            <a:off x="0" y="673100"/>
            <a:ext cx="9144000" cy="5848350"/>
          </a:xfrm>
        </p:spPr>
        <p:txBody>
          <a:bodyPr>
            <a:noAutofit/>
          </a:bodyPr>
          <a:lstStyle/>
          <a:p>
            <a:pPr>
              <a:lnSpc>
                <a:spcPct val="90000"/>
              </a:lnSpc>
            </a:pPr>
            <a:r>
              <a:rPr lang="ru-RU" sz="2000" dirty="0"/>
              <a:t>Архитектура Клиент-Сервер</a:t>
            </a:r>
          </a:p>
          <a:p>
            <a:pPr>
              <a:lnSpc>
                <a:spcPct val="90000"/>
              </a:lnSpc>
            </a:pPr>
            <a:r>
              <a:rPr lang="ru-RU" sz="2000" dirty="0"/>
              <a:t>Мощные многопроцессорные вычислительные системы (</a:t>
            </a:r>
            <a:r>
              <a:rPr lang="en-US" sz="2000" dirty="0"/>
              <a:t>IBM, HP, DEC, NCR </a:t>
            </a:r>
            <a:r>
              <a:rPr lang="ru-RU" sz="2000" dirty="0"/>
              <a:t> и др.)</a:t>
            </a:r>
          </a:p>
          <a:p>
            <a:pPr>
              <a:lnSpc>
                <a:spcPct val="90000"/>
              </a:lnSpc>
            </a:pPr>
            <a:r>
              <a:rPr lang="ru-RU" sz="2000" dirty="0"/>
              <a:t>СУБД, поддерживающая параллельную обработку запросов (</a:t>
            </a:r>
            <a:r>
              <a:rPr lang="en-US" sz="2000" dirty="0" err="1"/>
              <a:t>Teradata</a:t>
            </a:r>
            <a:r>
              <a:rPr lang="en-US" sz="2000" dirty="0"/>
              <a:t>, DB</a:t>
            </a:r>
            <a:r>
              <a:rPr lang="ru-RU" sz="2000" dirty="0"/>
              <a:t>/</a:t>
            </a:r>
            <a:r>
              <a:rPr lang="en-US" sz="2000" dirty="0"/>
              <a:t>2, Oracle</a:t>
            </a:r>
            <a:r>
              <a:rPr lang="ru-RU" sz="2000" dirty="0"/>
              <a:t> и др.)</a:t>
            </a:r>
          </a:p>
          <a:p>
            <a:pPr>
              <a:lnSpc>
                <a:spcPct val="90000"/>
              </a:lnSpc>
            </a:pPr>
            <a:r>
              <a:rPr lang="ru-RU" sz="2000" dirty="0"/>
              <a:t>Киоски данных реализуются с использованием серверов многомерных данных </a:t>
            </a:r>
            <a:r>
              <a:rPr lang="en-US" sz="2000" dirty="0"/>
              <a:t>Oracle Express, </a:t>
            </a:r>
            <a:r>
              <a:rPr lang="en-US" sz="2000" dirty="0" err="1"/>
              <a:t>Essbase</a:t>
            </a:r>
            <a:r>
              <a:rPr lang="en-US" sz="2000" dirty="0"/>
              <a:t> (Arbor Software), </a:t>
            </a:r>
            <a:r>
              <a:rPr lang="en-US" sz="2000" dirty="0" err="1"/>
              <a:t>Gentium</a:t>
            </a:r>
            <a:r>
              <a:rPr lang="en-US" sz="2000" dirty="0"/>
              <a:t> (Planning Sciences) </a:t>
            </a:r>
            <a:r>
              <a:rPr lang="ru-RU" sz="2000" dirty="0"/>
              <a:t>и др.</a:t>
            </a:r>
          </a:p>
          <a:p>
            <a:pPr>
              <a:lnSpc>
                <a:spcPct val="90000"/>
              </a:lnSpc>
            </a:pPr>
            <a:r>
              <a:rPr lang="ru-RU" sz="2000" dirty="0"/>
              <a:t>В зависимости от объема хранилища делятся на</a:t>
            </a:r>
          </a:p>
          <a:p>
            <a:pPr>
              <a:lnSpc>
                <a:spcPct val="90000"/>
              </a:lnSpc>
              <a:buNone/>
            </a:pPr>
            <a:r>
              <a:rPr lang="ru-RU" sz="2000" dirty="0"/>
              <a:t>.</a:t>
            </a:r>
          </a:p>
          <a:p>
            <a:pPr>
              <a:lnSpc>
                <a:spcPct val="90000"/>
              </a:lnSpc>
            </a:pPr>
            <a:endParaRPr lang="ru-RU" sz="2000" dirty="0"/>
          </a:p>
          <a:p>
            <a:pPr>
              <a:lnSpc>
                <a:spcPct val="90000"/>
              </a:lnSpc>
            </a:pPr>
            <a:endParaRPr lang="ru-RU" sz="2000" dirty="0"/>
          </a:p>
          <a:p>
            <a:pPr>
              <a:lnSpc>
                <a:spcPct val="90000"/>
              </a:lnSpc>
            </a:pPr>
            <a:endParaRPr lang="ru-RU" sz="2000" dirty="0"/>
          </a:p>
          <a:p>
            <a:pPr>
              <a:lnSpc>
                <a:spcPct val="90000"/>
              </a:lnSpc>
            </a:pPr>
            <a:endParaRPr lang="ru-RU" sz="2000" dirty="0"/>
          </a:p>
          <a:p>
            <a:pPr>
              <a:lnSpc>
                <a:spcPct val="90000"/>
              </a:lnSpc>
            </a:pPr>
            <a:endParaRPr lang="ru-RU" sz="2000" dirty="0"/>
          </a:p>
          <a:p>
            <a:pPr>
              <a:lnSpc>
                <a:spcPct val="90000"/>
              </a:lnSpc>
            </a:pPr>
            <a:endParaRPr lang="ru-RU" sz="2000" dirty="0"/>
          </a:p>
          <a:p>
            <a:pPr>
              <a:lnSpc>
                <a:spcPct val="90000"/>
              </a:lnSpc>
            </a:pPr>
            <a:endParaRPr lang="ru-RU" sz="2000" dirty="0"/>
          </a:p>
          <a:p>
            <a:pPr>
              <a:lnSpc>
                <a:spcPct val="90000"/>
              </a:lnSpc>
            </a:pPr>
            <a:r>
              <a:rPr lang="ru-RU" sz="2000" dirty="0"/>
              <a:t>Соотношение между используемой и  задействованной 1:5 или даже 10</a:t>
            </a:r>
          </a:p>
        </p:txBody>
      </p:sp>
      <p:sp>
        <p:nvSpPr>
          <p:cNvPr id="6" name="Номер слайда 5"/>
          <p:cNvSpPr>
            <a:spLocks noGrp="1"/>
          </p:cNvSpPr>
          <p:nvPr>
            <p:ph type="sldNum" sz="quarter" idx="11"/>
          </p:nvPr>
        </p:nvSpPr>
        <p:spPr>
          <a:xfrm>
            <a:off x="7994650" y="6248400"/>
            <a:ext cx="692150" cy="381000"/>
          </a:xfrm>
        </p:spPr>
        <p:txBody>
          <a:bodyPr/>
          <a:lstStyle/>
          <a:p>
            <a:fld id="{4DC7491D-CDB9-48BE-BADB-11210BC61B1D}" type="slidenum">
              <a:rPr lang="ru-RU" smtClean="0"/>
              <a:pPr/>
              <a:t>25</a:t>
            </a:fld>
            <a:endParaRPr lang="ru-RU" dirty="0"/>
          </a:p>
        </p:txBody>
      </p:sp>
      <p:graphicFrame>
        <p:nvGraphicFramePr>
          <p:cNvPr id="5" name="Таблица 4"/>
          <p:cNvGraphicFramePr>
            <a:graphicFrameLocks noGrp="1"/>
          </p:cNvGraphicFramePr>
          <p:nvPr/>
        </p:nvGraphicFramePr>
        <p:xfrm>
          <a:off x="1092200" y="3609340"/>
          <a:ext cx="6959600" cy="2397760"/>
        </p:xfrm>
        <a:graphic>
          <a:graphicData uri="http://schemas.openxmlformats.org/drawingml/2006/table">
            <a:tbl>
              <a:tblPr firstRow="1" bandRow="1">
                <a:tableStyleId>{5C22544A-7EE6-4342-B048-85BDC9FD1C3A}</a:tableStyleId>
              </a:tblPr>
              <a:tblGrid>
                <a:gridCol w="2319867">
                  <a:extLst>
                    <a:ext uri="{9D8B030D-6E8A-4147-A177-3AD203B41FA5}">
                      <a16:colId xmlns:a16="http://schemas.microsoft.com/office/drawing/2014/main" val="20000"/>
                    </a:ext>
                  </a:extLst>
                </a:gridCol>
                <a:gridCol w="2105866">
                  <a:extLst>
                    <a:ext uri="{9D8B030D-6E8A-4147-A177-3AD203B41FA5}">
                      <a16:colId xmlns:a16="http://schemas.microsoft.com/office/drawing/2014/main" val="20001"/>
                    </a:ext>
                  </a:extLst>
                </a:gridCol>
                <a:gridCol w="2533867">
                  <a:extLst>
                    <a:ext uri="{9D8B030D-6E8A-4147-A177-3AD203B41FA5}">
                      <a16:colId xmlns:a16="http://schemas.microsoft.com/office/drawing/2014/main" val="20002"/>
                    </a:ext>
                  </a:extLst>
                </a:gridCol>
              </a:tblGrid>
              <a:tr h="370840">
                <a:tc>
                  <a:txBody>
                    <a:bodyPr/>
                    <a:lstStyle/>
                    <a:p>
                      <a:r>
                        <a:rPr lang="ru-RU" dirty="0"/>
                        <a:t>Тип хранилища</a:t>
                      </a:r>
                    </a:p>
                  </a:txBody>
                  <a:tcPr/>
                </a:tc>
                <a:tc>
                  <a:txBody>
                    <a:bodyPr/>
                    <a:lstStyle/>
                    <a:p>
                      <a:r>
                        <a:rPr lang="ru-RU" dirty="0"/>
                        <a:t>Объем данных</a:t>
                      </a:r>
                    </a:p>
                  </a:txBody>
                  <a:tcPr/>
                </a:tc>
                <a:tc>
                  <a:txBody>
                    <a:bodyPr/>
                    <a:lstStyle/>
                    <a:p>
                      <a:r>
                        <a:rPr lang="ru-RU" dirty="0"/>
                        <a:t>Число строк в </a:t>
                      </a:r>
                      <a:r>
                        <a:rPr lang="ru-RU" dirty="0" err="1"/>
                        <a:t>фактологической</a:t>
                      </a:r>
                      <a:r>
                        <a:rPr lang="ru-RU" baseline="0" dirty="0"/>
                        <a:t> таблице</a:t>
                      </a:r>
                      <a:endParaRPr lang="ru-RU" dirty="0"/>
                    </a:p>
                  </a:txBody>
                  <a:tcPr/>
                </a:tc>
                <a:extLst>
                  <a:ext uri="{0D108BD9-81ED-4DB2-BD59-A6C34878D82A}">
                    <a16:rowId xmlns:a16="http://schemas.microsoft.com/office/drawing/2014/main" val="10000"/>
                  </a:ext>
                </a:extLst>
              </a:tr>
              <a:tr h="370840">
                <a:tc>
                  <a:txBody>
                    <a:bodyPr/>
                    <a:lstStyle/>
                    <a:p>
                      <a:r>
                        <a:rPr lang="ru-RU" dirty="0"/>
                        <a:t>Маленькое</a:t>
                      </a:r>
                    </a:p>
                  </a:txBody>
                  <a:tcPr/>
                </a:tc>
                <a:tc>
                  <a:txBody>
                    <a:bodyPr/>
                    <a:lstStyle/>
                    <a:p>
                      <a:r>
                        <a:rPr lang="ru-RU" dirty="0"/>
                        <a:t>До 3 Гбайт</a:t>
                      </a:r>
                    </a:p>
                  </a:txBody>
                  <a:tcPr/>
                </a:tc>
                <a:tc>
                  <a:txBody>
                    <a:bodyPr/>
                    <a:lstStyle/>
                    <a:p>
                      <a:r>
                        <a:rPr lang="ru-RU" dirty="0"/>
                        <a:t>До 10</a:t>
                      </a:r>
                      <a:r>
                        <a:rPr lang="ru-RU" baseline="30000" dirty="0"/>
                        <a:t>7</a:t>
                      </a:r>
                      <a:r>
                        <a:rPr lang="ru-RU" dirty="0"/>
                        <a:t>  строк</a:t>
                      </a:r>
                    </a:p>
                  </a:txBody>
                  <a:tcPr/>
                </a:tc>
                <a:extLst>
                  <a:ext uri="{0D108BD9-81ED-4DB2-BD59-A6C34878D82A}">
                    <a16:rowId xmlns:a16="http://schemas.microsoft.com/office/drawing/2014/main" val="10001"/>
                  </a:ext>
                </a:extLst>
              </a:tr>
              <a:tr h="370840">
                <a:tc>
                  <a:txBody>
                    <a:bodyPr/>
                    <a:lstStyle/>
                    <a:p>
                      <a:r>
                        <a:rPr lang="ru-RU" dirty="0"/>
                        <a:t>Среднее</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a:t>До 25 Гбайт</a:t>
                      </a:r>
                    </a:p>
                  </a:txBody>
                  <a:tcPr/>
                </a:tc>
                <a:tc>
                  <a:txBody>
                    <a:bodyPr/>
                    <a:lstStyle/>
                    <a:p>
                      <a:r>
                        <a:rPr lang="ru-RU" dirty="0"/>
                        <a:t>До 10</a:t>
                      </a:r>
                      <a:r>
                        <a:rPr lang="ru-RU" baseline="30000" dirty="0"/>
                        <a:t>8  </a:t>
                      </a:r>
                      <a:r>
                        <a:rPr lang="ru-RU" dirty="0"/>
                        <a:t>строк</a:t>
                      </a:r>
                    </a:p>
                  </a:txBody>
                  <a:tcPr/>
                </a:tc>
                <a:extLst>
                  <a:ext uri="{0D108BD9-81ED-4DB2-BD59-A6C34878D82A}">
                    <a16:rowId xmlns:a16="http://schemas.microsoft.com/office/drawing/2014/main" val="10002"/>
                  </a:ext>
                </a:extLst>
              </a:tr>
              <a:tr h="370840">
                <a:tc>
                  <a:txBody>
                    <a:bodyPr/>
                    <a:lstStyle/>
                    <a:p>
                      <a:r>
                        <a:rPr lang="ru-RU" dirty="0"/>
                        <a:t>Большое</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a:t>До 200 Гбайт</a:t>
                      </a:r>
                    </a:p>
                  </a:txBody>
                  <a:tcPr/>
                </a:tc>
                <a:tc>
                  <a:txBody>
                    <a:bodyPr/>
                    <a:lstStyle/>
                    <a:p>
                      <a:r>
                        <a:rPr lang="ru-RU" dirty="0"/>
                        <a:t>До 10</a:t>
                      </a:r>
                      <a:r>
                        <a:rPr lang="ru-RU" baseline="30000" dirty="0"/>
                        <a:t>9</a:t>
                      </a:r>
                      <a:r>
                        <a:rPr lang="ru-RU" dirty="0"/>
                        <a:t>  строк</a:t>
                      </a:r>
                    </a:p>
                  </a:txBody>
                  <a:tcPr/>
                </a:tc>
                <a:extLst>
                  <a:ext uri="{0D108BD9-81ED-4DB2-BD59-A6C34878D82A}">
                    <a16:rowId xmlns:a16="http://schemas.microsoft.com/office/drawing/2014/main" val="10003"/>
                  </a:ext>
                </a:extLst>
              </a:tr>
              <a:tr h="370840">
                <a:tc>
                  <a:txBody>
                    <a:bodyPr/>
                    <a:lstStyle/>
                    <a:p>
                      <a:r>
                        <a:rPr lang="ru-RU" dirty="0"/>
                        <a:t>Сверхбольшое</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a:t>Свыше 200 Гбайт</a:t>
                      </a:r>
                    </a:p>
                  </a:txBody>
                  <a:tcPr/>
                </a:tc>
                <a:tc>
                  <a:txBody>
                    <a:bodyPr/>
                    <a:lstStyle/>
                    <a:p>
                      <a:endParaRPr lang="ru-RU" dirty="0"/>
                    </a:p>
                  </a:txBody>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wipe(up)">
                                      <p:cBhvr>
                                        <p:cTn id="7" dur="500"/>
                                        <p:tgtEl>
                                          <p:spTgt spid="430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3011">
                                            <p:txEl>
                                              <p:pRg st="1" end="1"/>
                                            </p:txEl>
                                          </p:spTgt>
                                        </p:tgtEl>
                                        <p:attrNameLst>
                                          <p:attrName>style.visibility</p:attrName>
                                        </p:attrNameLst>
                                      </p:cBhvr>
                                      <p:to>
                                        <p:strVal val="visible"/>
                                      </p:to>
                                    </p:set>
                                    <p:animEffect transition="in" filter="wipe(up)">
                                      <p:cBhvr>
                                        <p:cTn id="12" dur="500"/>
                                        <p:tgtEl>
                                          <p:spTgt spid="430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3011">
                                            <p:txEl>
                                              <p:pRg st="2" end="2"/>
                                            </p:txEl>
                                          </p:spTgt>
                                        </p:tgtEl>
                                        <p:attrNameLst>
                                          <p:attrName>style.visibility</p:attrName>
                                        </p:attrNameLst>
                                      </p:cBhvr>
                                      <p:to>
                                        <p:strVal val="visible"/>
                                      </p:to>
                                    </p:set>
                                    <p:animEffect transition="in" filter="wipe(up)">
                                      <p:cBhvr>
                                        <p:cTn id="17" dur="500"/>
                                        <p:tgtEl>
                                          <p:spTgt spid="430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3011">
                                            <p:txEl>
                                              <p:pRg st="3" end="3"/>
                                            </p:txEl>
                                          </p:spTgt>
                                        </p:tgtEl>
                                        <p:attrNameLst>
                                          <p:attrName>style.visibility</p:attrName>
                                        </p:attrNameLst>
                                      </p:cBhvr>
                                      <p:to>
                                        <p:strVal val="visible"/>
                                      </p:to>
                                    </p:set>
                                    <p:animEffect transition="in" filter="wipe(up)">
                                      <p:cBhvr>
                                        <p:cTn id="22" dur="500"/>
                                        <p:tgtEl>
                                          <p:spTgt spid="430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3011">
                                            <p:txEl>
                                              <p:pRg st="4" end="4"/>
                                            </p:txEl>
                                          </p:spTgt>
                                        </p:tgtEl>
                                        <p:attrNameLst>
                                          <p:attrName>style.visibility</p:attrName>
                                        </p:attrNameLst>
                                      </p:cBhvr>
                                      <p:to>
                                        <p:strVal val="visible"/>
                                      </p:to>
                                    </p:set>
                                    <p:animEffect transition="in" filter="wipe(up)">
                                      <p:cBhvr>
                                        <p:cTn id="27" dur="500"/>
                                        <p:tgtEl>
                                          <p:spTgt spid="430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up)">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43011">
                                            <p:txEl>
                                              <p:pRg st="13" end="13"/>
                                            </p:txEl>
                                          </p:spTgt>
                                        </p:tgtEl>
                                        <p:attrNameLst>
                                          <p:attrName>style.visibility</p:attrName>
                                        </p:attrNameLst>
                                      </p:cBhvr>
                                      <p:to>
                                        <p:strVal val="visible"/>
                                      </p:to>
                                    </p:set>
                                    <p:animEffect transition="in" filter="wipe(up)">
                                      <p:cBhvr>
                                        <p:cTn id="37" dur="500"/>
                                        <p:tgtEl>
                                          <p:spTgt spid="43011">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52400" y="139700"/>
            <a:ext cx="8763000" cy="609600"/>
          </a:xfrm>
        </p:spPr>
        <p:txBody>
          <a:bodyPr/>
          <a:lstStyle/>
          <a:p>
            <a:pPr algn="ctr"/>
            <a:r>
              <a:rPr lang="ru-RU" sz="2800" dirty="0">
                <a:solidFill>
                  <a:schemeClr val="bg2"/>
                </a:solidFill>
              </a:rPr>
              <a:t>Метаданные хранилища данных</a:t>
            </a:r>
          </a:p>
        </p:txBody>
      </p:sp>
      <p:sp>
        <p:nvSpPr>
          <p:cNvPr id="43011" name="Rectangle 3"/>
          <p:cNvSpPr>
            <a:spLocks noGrp="1" noChangeArrowheads="1"/>
          </p:cNvSpPr>
          <p:nvPr>
            <p:ph type="body" idx="1"/>
          </p:nvPr>
        </p:nvSpPr>
        <p:spPr>
          <a:xfrm>
            <a:off x="0" y="673100"/>
            <a:ext cx="9144000" cy="5848350"/>
          </a:xfrm>
        </p:spPr>
        <p:txBody>
          <a:bodyPr>
            <a:normAutofit fontScale="55000" lnSpcReduction="20000"/>
          </a:bodyPr>
          <a:lstStyle/>
          <a:p>
            <a:pPr>
              <a:lnSpc>
                <a:spcPct val="120000"/>
              </a:lnSpc>
            </a:pPr>
            <a:r>
              <a:rPr lang="ru-RU" sz="3600" dirty="0">
                <a:solidFill>
                  <a:schemeClr val="bg2"/>
                </a:solidFill>
              </a:rPr>
              <a:t>Метаданные – </a:t>
            </a:r>
            <a:r>
              <a:rPr lang="ru-RU" sz="3600" dirty="0"/>
              <a:t>высокоуровневые средства отображения информационной модели СППР </a:t>
            </a:r>
          </a:p>
          <a:p>
            <a:pPr>
              <a:lnSpc>
                <a:spcPct val="120000"/>
              </a:lnSpc>
            </a:pPr>
            <a:r>
              <a:rPr lang="ru-RU" sz="3600" dirty="0"/>
              <a:t>Метаданные должны содержать:</a:t>
            </a:r>
          </a:p>
          <a:p>
            <a:pPr lvl="1">
              <a:lnSpc>
                <a:spcPct val="120000"/>
              </a:lnSpc>
              <a:buClr>
                <a:schemeClr val="bg2"/>
              </a:buClr>
              <a:buFont typeface="Wingdings" pitchFamily="2" charset="2"/>
              <a:buChar char="v"/>
            </a:pPr>
            <a:r>
              <a:rPr lang="ru-RU" dirty="0"/>
              <a:t>идентификацию объектов ХД и их атрибутов;</a:t>
            </a:r>
          </a:p>
          <a:p>
            <a:pPr lvl="1">
              <a:lnSpc>
                <a:spcPct val="120000"/>
              </a:lnSpc>
              <a:buClr>
                <a:schemeClr val="bg2"/>
              </a:buClr>
              <a:buFont typeface="Wingdings" pitchFamily="2" charset="2"/>
              <a:buChar char="v"/>
            </a:pPr>
            <a:r>
              <a:rPr lang="ru-RU" dirty="0"/>
              <a:t>идентификацию источников данных;</a:t>
            </a:r>
          </a:p>
          <a:p>
            <a:pPr lvl="1">
              <a:lnSpc>
                <a:spcPct val="120000"/>
              </a:lnSpc>
              <a:buClr>
                <a:schemeClr val="bg2"/>
              </a:buClr>
              <a:buFont typeface="Wingdings" pitchFamily="2" charset="2"/>
              <a:buChar char="v"/>
            </a:pPr>
            <a:r>
              <a:rPr lang="ru-RU" dirty="0"/>
              <a:t>описании семантики данных источников и данных ХД;</a:t>
            </a:r>
          </a:p>
          <a:p>
            <a:pPr lvl="1">
              <a:lnSpc>
                <a:spcPct val="120000"/>
              </a:lnSpc>
              <a:buClr>
                <a:schemeClr val="bg2"/>
              </a:buClr>
              <a:buFont typeface="Wingdings" pitchFamily="2" charset="2"/>
              <a:buChar char="v"/>
            </a:pPr>
            <a:r>
              <a:rPr lang="ru-RU" dirty="0"/>
              <a:t>описании алгоритмов преобразования и агрегации данных;</a:t>
            </a:r>
          </a:p>
          <a:p>
            <a:pPr lvl="1">
              <a:lnSpc>
                <a:spcPct val="120000"/>
              </a:lnSpc>
              <a:buClr>
                <a:schemeClr val="bg2"/>
              </a:buClr>
              <a:buFont typeface="Wingdings" pitchFamily="2" charset="2"/>
              <a:buChar char="v"/>
            </a:pPr>
            <a:r>
              <a:rPr lang="ru-RU" dirty="0"/>
              <a:t>Методы загрузки</a:t>
            </a:r>
          </a:p>
          <a:p>
            <a:pPr lvl="1">
              <a:lnSpc>
                <a:spcPct val="120000"/>
              </a:lnSpc>
              <a:buClr>
                <a:schemeClr val="bg2"/>
              </a:buClr>
              <a:buFont typeface="Wingdings" pitchFamily="2" charset="2"/>
              <a:buChar char="v"/>
            </a:pPr>
            <a:r>
              <a:rPr lang="ru-RU" dirty="0"/>
              <a:t>Методы обобщения</a:t>
            </a:r>
          </a:p>
          <a:p>
            <a:pPr lvl="1">
              <a:lnSpc>
                <a:spcPct val="120000"/>
              </a:lnSpc>
              <a:buClr>
                <a:schemeClr val="bg2"/>
              </a:buClr>
              <a:buFont typeface="Wingdings" pitchFamily="2" charset="2"/>
              <a:buChar char="v"/>
            </a:pPr>
            <a:r>
              <a:rPr lang="ru-RU" dirty="0"/>
              <a:t>Средства доступа</a:t>
            </a:r>
          </a:p>
          <a:p>
            <a:pPr lvl="1">
              <a:lnSpc>
                <a:spcPct val="120000"/>
              </a:lnSpc>
              <a:buClr>
                <a:schemeClr val="bg2"/>
              </a:buClr>
              <a:buFont typeface="Wingdings" pitchFamily="2" charset="2"/>
              <a:buChar char="v"/>
            </a:pPr>
            <a:r>
              <a:rPr lang="ru-RU" dirty="0"/>
              <a:t>Правила предоставления информации</a:t>
            </a:r>
          </a:p>
          <a:p>
            <a:pPr lvl="1">
              <a:lnSpc>
                <a:spcPct val="120000"/>
              </a:lnSpc>
              <a:buClr>
                <a:schemeClr val="bg2"/>
              </a:buClr>
              <a:buFont typeface="Wingdings" pitchFamily="2" charset="2"/>
              <a:buChar char="v"/>
            </a:pPr>
            <a:r>
              <a:rPr lang="ru-RU" dirty="0"/>
              <a:t>Оценки приблизительных затрат времени на получение ответа на запрос</a:t>
            </a:r>
          </a:p>
          <a:p>
            <a:pPr>
              <a:lnSpc>
                <a:spcPct val="120000"/>
              </a:lnSpc>
            </a:pPr>
            <a:r>
              <a:rPr lang="ru-RU" dirty="0"/>
              <a:t>Принципы управления данными в ХД и </a:t>
            </a:r>
            <a:r>
              <a:rPr lang="ru-RU" i="1" dirty="0"/>
              <a:t>БД</a:t>
            </a:r>
            <a:r>
              <a:rPr lang="ru-RU" dirty="0"/>
              <a:t> OLTP-систем имеют существенные отличия. </a:t>
            </a:r>
          </a:p>
          <a:p>
            <a:pPr>
              <a:lnSpc>
                <a:spcPct val="120000"/>
              </a:lnSpc>
            </a:pPr>
            <a:r>
              <a:rPr lang="ru-RU" dirty="0"/>
              <a:t>Характерный для OLTP-систем принцип, состоящий в том, что существует </a:t>
            </a:r>
            <a:r>
              <a:rPr lang="ru-RU" b="1" dirty="0"/>
              <a:t>только одно правильно отображающее семантику </a:t>
            </a:r>
            <a:r>
              <a:rPr lang="ru-RU" b="1" i="1" dirty="0"/>
              <a:t>определение</a:t>
            </a:r>
            <a:r>
              <a:rPr lang="ru-RU" b="1" dirty="0"/>
              <a:t> данн</a:t>
            </a:r>
            <a:r>
              <a:rPr lang="ru-RU" dirty="0"/>
              <a:t>ых в системе, не является верным для ХД. </a:t>
            </a:r>
          </a:p>
          <a:p>
            <a:pPr>
              <a:lnSpc>
                <a:spcPct val="120000"/>
              </a:lnSpc>
            </a:pPr>
            <a:r>
              <a:rPr lang="ru-RU" dirty="0"/>
              <a:t>Это связано с различными временными горизонтами данных в системах, основанных на ХД.</a:t>
            </a:r>
          </a:p>
        </p:txBody>
      </p:sp>
      <p:sp>
        <p:nvSpPr>
          <p:cNvPr id="6" name="Номер слайда 5"/>
          <p:cNvSpPr>
            <a:spLocks noGrp="1"/>
          </p:cNvSpPr>
          <p:nvPr>
            <p:ph type="sldNum" sz="quarter" idx="11"/>
          </p:nvPr>
        </p:nvSpPr>
        <p:spPr>
          <a:xfrm>
            <a:off x="7994650" y="6248400"/>
            <a:ext cx="692150" cy="381000"/>
          </a:xfrm>
        </p:spPr>
        <p:txBody>
          <a:bodyPr/>
          <a:lstStyle/>
          <a:p>
            <a:fld id="{4DC7491D-CDB9-48BE-BADB-11210BC61B1D}" type="slidenum">
              <a:rPr lang="ru-RU" smtClean="0"/>
              <a:pPr/>
              <a:t>26</a:t>
            </a:fld>
            <a:endParaRPr lang="ru-R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wipe(up)">
                                      <p:cBhvr>
                                        <p:cTn id="7" dur="500"/>
                                        <p:tgtEl>
                                          <p:spTgt spid="430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3011">
                                            <p:txEl>
                                              <p:pRg st="1" end="1"/>
                                            </p:txEl>
                                          </p:spTgt>
                                        </p:tgtEl>
                                        <p:attrNameLst>
                                          <p:attrName>style.visibility</p:attrName>
                                        </p:attrNameLst>
                                      </p:cBhvr>
                                      <p:to>
                                        <p:strVal val="visible"/>
                                      </p:to>
                                    </p:set>
                                    <p:animEffect transition="in" filter="wipe(up)">
                                      <p:cBhvr>
                                        <p:cTn id="12" dur="500"/>
                                        <p:tgtEl>
                                          <p:spTgt spid="43011">
                                            <p:txEl>
                                              <p:pRg st="1" end="1"/>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43011">
                                            <p:txEl>
                                              <p:pRg st="2" end="2"/>
                                            </p:txEl>
                                          </p:spTgt>
                                        </p:tgtEl>
                                        <p:attrNameLst>
                                          <p:attrName>style.visibility</p:attrName>
                                        </p:attrNameLst>
                                      </p:cBhvr>
                                      <p:to>
                                        <p:strVal val="visible"/>
                                      </p:to>
                                    </p:set>
                                    <p:animEffect transition="in" filter="wipe(up)">
                                      <p:cBhvr>
                                        <p:cTn id="15" dur="500"/>
                                        <p:tgtEl>
                                          <p:spTgt spid="43011">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43011">
                                            <p:txEl>
                                              <p:pRg st="3" end="3"/>
                                            </p:txEl>
                                          </p:spTgt>
                                        </p:tgtEl>
                                        <p:attrNameLst>
                                          <p:attrName>style.visibility</p:attrName>
                                        </p:attrNameLst>
                                      </p:cBhvr>
                                      <p:to>
                                        <p:strVal val="visible"/>
                                      </p:to>
                                    </p:set>
                                    <p:animEffect transition="in" filter="wipe(up)">
                                      <p:cBhvr>
                                        <p:cTn id="18" dur="500"/>
                                        <p:tgtEl>
                                          <p:spTgt spid="43011">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43011">
                                            <p:txEl>
                                              <p:pRg st="4" end="4"/>
                                            </p:txEl>
                                          </p:spTgt>
                                        </p:tgtEl>
                                        <p:attrNameLst>
                                          <p:attrName>style.visibility</p:attrName>
                                        </p:attrNameLst>
                                      </p:cBhvr>
                                      <p:to>
                                        <p:strVal val="visible"/>
                                      </p:to>
                                    </p:set>
                                    <p:animEffect transition="in" filter="wipe(up)">
                                      <p:cBhvr>
                                        <p:cTn id="21" dur="500"/>
                                        <p:tgtEl>
                                          <p:spTgt spid="43011">
                                            <p:txEl>
                                              <p:pRg st="4" end="4"/>
                                            </p:txEl>
                                          </p:spTgt>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43011">
                                            <p:txEl>
                                              <p:pRg st="5" end="5"/>
                                            </p:txEl>
                                          </p:spTgt>
                                        </p:tgtEl>
                                        <p:attrNameLst>
                                          <p:attrName>style.visibility</p:attrName>
                                        </p:attrNameLst>
                                      </p:cBhvr>
                                      <p:to>
                                        <p:strVal val="visible"/>
                                      </p:to>
                                    </p:set>
                                    <p:animEffect transition="in" filter="wipe(up)">
                                      <p:cBhvr>
                                        <p:cTn id="24" dur="500"/>
                                        <p:tgtEl>
                                          <p:spTgt spid="43011">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43011">
                                            <p:txEl>
                                              <p:pRg st="6" end="6"/>
                                            </p:txEl>
                                          </p:spTgt>
                                        </p:tgtEl>
                                        <p:attrNameLst>
                                          <p:attrName>style.visibility</p:attrName>
                                        </p:attrNameLst>
                                      </p:cBhvr>
                                      <p:to>
                                        <p:strVal val="visible"/>
                                      </p:to>
                                    </p:set>
                                    <p:animEffect transition="in" filter="wipe(up)">
                                      <p:cBhvr>
                                        <p:cTn id="29" dur="500"/>
                                        <p:tgtEl>
                                          <p:spTgt spid="43011">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43011">
                                            <p:txEl>
                                              <p:pRg st="7" end="7"/>
                                            </p:txEl>
                                          </p:spTgt>
                                        </p:tgtEl>
                                        <p:attrNameLst>
                                          <p:attrName>style.visibility</p:attrName>
                                        </p:attrNameLst>
                                      </p:cBhvr>
                                      <p:to>
                                        <p:strVal val="visible"/>
                                      </p:to>
                                    </p:set>
                                    <p:animEffect transition="in" filter="wipe(up)">
                                      <p:cBhvr>
                                        <p:cTn id="34" dur="500"/>
                                        <p:tgtEl>
                                          <p:spTgt spid="43011">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43011">
                                            <p:txEl>
                                              <p:pRg st="8" end="8"/>
                                            </p:txEl>
                                          </p:spTgt>
                                        </p:tgtEl>
                                        <p:attrNameLst>
                                          <p:attrName>style.visibility</p:attrName>
                                        </p:attrNameLst>
                                      </p:cBhvr>
                                      <p:to>
                                        <p:strVal val="visible"/>
                                      </p:to>
                                    </p:set>
                                    <p:animEffect transition="in" filter="wipe(up)">
                                      <p:cBhvr>
                                        <p:cTn id="39" dur="500"/>
                                        <p:tgtEl>
                                          <p:spTgt spid="43011">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43011">
                                            <p:txEl>
                                              <p:pRg st="9" end="9"/>
                                            </p:txEl>
                                          </p:spTgt>
                                        </p:tgtEl>
                                        <p:attrNameLst>
                                          <p:attrName>style.visibility</p:attrName>
                                        </p:attrNameLst>
                                      </p:cBhvr>
                                      <p:to>
                                        <p:strVal val="visible"/>
                                      </p:to>
                                    </p:set>
                                    <p:animEffect transition="in" filter="wipe(up)">
                                      <p:cBhvr>
                                        <p:cTn id="44" dur="500"/>
                                        <p:tgtEl>
                                          <p:spTgt spid="43011">
                                            <p:txEl>
                                              <p:pRg st="9" end="9"/>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43011">
                                            <p:txEl>
                                              <p:pRg st="10" end="10"/>
                                            </p:txEl>
                                          </p:spTgt>
                                        </p:tgtEl>
                                        <p:attrNameLst>
                                          <p:attrName>style.visibility</p:attrName>
                                        </p:attrNameLst>
                                      </p:cBhvr>
                                      <p:to>
                                        <p:strVal val="visible"/>
                                      </p:to>
                                    </p:set>
                                    <p:animEffect transition="in" filter="wipe(up)">
                                      <p:cBhvr>
                                        <p:cTn id="49" dur="500"/>
                                        <p:tgtEl>
                                          <p:spTgt spid="4301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52400" y="139700"/>
            <a:ext cx="8763000" cy="609600"/>
          </a:xfrm>
        </p:spPr>
        <p:txBody>
          <a:bodyPr/>
          <a:lstStyle/>
          <a:p>
            <a:pPr algn="ctr"/>
            <a:r>
              <a:rPr lang="ru-RU" sz="2800" dirty="0">
                <a:solidFill>
                  <a:schemeClr val="bg2"/>
                </a:solidFill>
              </a:rPr>
              <a:t>Функции метаданных в хранилище данных</a:t>
            </a:r>
          </a:p>
        </p:txBody>
      </p:sp>
      <p:sp>
        <p:nvSpPr>
          <p:cNvPr id="43011" name="Rectangle 3"/>
          <p:cNvSpPr>
            <a:spLocks noGrp="1" noChangeArrowheads="1"/>
          </p:cNvSpPr>
          <p:nvPr>
            <p:ph type="body" idx="1"/>
          </p:nvPr>
        </p:nvSpPr>
        <p:spPr>
          <a:xfrm>
            <a:off x="0" y="958850"/>
            <a:ext cx="9144000" cy="5226050"/>
          </a:xfrm>
        </p:spPr>
        <p:txBody>
          <a:bodyPr>
            <a:normAutofit fontScale="70000" lnSpcReduction="20000"/>
          </a:bodyPr>
          <a:lstStyle/>
          <a:p>
            <a:pPr>
              <a:lnSpc>
                <a:spcPct val="120000"/>
              </a:lnSpc>
            </a:pPr>
            <a:r>
              <a:rPr lang="ru-RU" sz="2800" dirty="0"/>
              <a:t>Роль </a:t>
            </a:r>
            <a:r>
              <a:rPr lang="ru-RU" sz="2800" i="1" dirty="0"/>
              <a:t>метаданных</a:t>
            </a:r>
            <a:r>
              <a:rPr lang="ru-RU" sz="2800" dirty="0"/>
              <a:t> для ХД значительно важнее, чем в </a:t>
            </a:r>
            <a:r>
              <a:rPr lang="ru-RU" sz="2800" i="1" dirty="0"/>
              <a:t>системах операционной обработки данных</a:t>
            </a:r>
            <a:r>
              <a:rPr lang="ru-RU" sz="2800" dirty="0"/>
              <a:t>.</a:t>
            </a:r>
          </a:p>
          <a:p>
            <a:pPr>
              <a:lnSpc>
                <a:spcPct val="120000"/>
              </a:lnSpc>
            </a:pPr>
            <a:r>
              <a:rPr lang="ru-RU" sz="3600" dirty="0"/>
              <a:t>Основные функции метаданных:</a:t>
            </a:r>
          </a:p>
          <a:p>
            <a:pPr lvl="1">
              <a:lnSpc>
                <a:spcPct val="120000"/>
              </a:lnSpc>
              <a:buClr>
                <a:schemeClr val="bg2"/>
              </a:buClr>
              <a:buFont typeface="Wingdings" pitchFamily="2" charset="2"/>
              <a:buChar char="v"/>
            </a:pPr>
            <a:r>
              <a:rPr lang="ru-RU" dirty="0"/>
              <a:t>представление соответствия данных источников и данных ХД</a:t>
            </a:r>
          </a:p>
          <a:p>
            <a:pPr lvl="1">
              <a:lnSpc>
                <a:spcPct val="120000"/>
              </a:lnSpc>
              <a:buClr>
                <a:schemeClr val="bg2"/>
              </a:buClr>
              <a:buFont typeface="Wingdings" pitchFamily="2" charset="2"/>
              <a:buChar char="v"/>
            </a:pPr>
            <a:r>
              <a:rPr lang="ru-RU" dirty="0"/>
              <a:t>управление данными во времени</a:t>
            </a:r>
          </a:p>
          <a:p>
            <a:pPr lvl="1">
              <a:lnSpc>
                <a:spcPct val="120000"/>
              </a:lnSpc>
              <a:buClr>
                <a:schemeClr val="bg2"/>
              </a:buClr>
              <a:buFont typeface="Wingdings" pitchFamily="2" charset="2"/>
              <a:buChar char="v"/>
            </a:pPr>
            <a:r>
              <a:rPr lang="ru-RU" dirty="0"/>
              <a:t>поддержка версионности</a:t>
            </a:r>
          </a:p>
          <a:p>
            <a:pPr lvl="1">
              <a:lnSpc>
                <a:spcPct val="120000"/>
              </a:lnSpc>
              <a:buClr>
                <a:schemeClr val="bg2"/>
              </a:buClr>
              <a:buFont typeface="Wingdings" pitchFamily="2" charset="2"/>
              <a:buChar char="v"/>
            </a:pPr>
            <a:r>
              <a:rPr lang="ru-RU" dirty="0"/>
              <a:t>интерпретация данных в терминах бизнес-пользователей</a:t>
            </a:r>
          </a:p>
          <a:p>
            <a:pPr lvl="1">
              <a:lnSpc>
                <a:spcPct val="120000"/>
              </a:lnSpc>
              <a:buClr>
                <a:schemeClr val="bg2"/>
              </a:buClr>
              <a:buFont typeface="Wingdings" pitchFamily="2" charset="2"/>
              <a:buChar char="v"/>
            </a:pPr>
            <a:r>
              <a:rPr lang="ru-RU" dirty="0"/>
              <a:t>обеспечение открытости (доступности другим информационным системам) системы складирования данных </a:t>
            </a:r>
          </a:p>
          <a:p>
            <a:pPr>
              <a:lnSpc>
                <a:spcPct val="120000"/>
              </a:lnSpc>
            </a:pPr>
            <a:r>
              <a:rPr lang="ru-RU" dirty="0"/>
              <a:t>Репозиторий метаданных</a:t>
            </a:r>
          </a:p>
          <a:p>
            <a:pPr>
              <a:lnSpc>
                <a:spcPct val="120000"/>
              </a:lnSpc>
            </a:pPr>
            <a:r>
              <a:rPr lang="ru-RU" dirty="0"/>
              <a:t>Стандарт обмена метаданными </a:t>
            </a:r>
            <a:r>
              <a:rPr lang="en-US" b="1" dirty="0"/>
              <a:t>MDIS</a:t>
            </a:r>
            <a:r>
              <a:rPr lang="ru-RU" b="1" dirty="0"/>
              <a:t> </a:t>
            </a:r>
            <a:r>
              <a:rPr lang="ru-RU" dirty="0"/>
              <a:t>для интеграции средств от разных производителей </a:t>
            </a:r>
            <a:r>
              <a:rPr lang="ru-RU" kern="1200" dirty="0">
                <a:latin typeface="Arial" charset="0"/>
                <a:cs typeface="Arial" charset="0"/>
              </a:rPr>
              <a:t>[http://www.osp.ru/cio/2002/03/025.htm</a:t>
            </a:r>
            <a:endParaRPr lang="ru-RU" dirty="0"/>
          </a:p>
        </p:txBody>
      </p:sp>
      <p:sp>
        <p:nvSpPr>
          <p:cNvPr id="6" name="Номер слайда 5"/>
          <p:cNvSpPr>
            <a:spLocks noGrp="1"/>
          </p:cNvSpPr>
          <p:nvPr>
            <p:ph type="sldNum" sz="quarter" idx="11"/>
          </p:nvPr>
        </p:nvSpPr>
        <p:spPr>
          <a:xfrm>
            <a:off x="7994650" y="6248400"/>
            <a:ext cx="692150" cy="381000"/>
          </a:xfrm>
        </p:spPr>
        <p:txBody>
          <a:bodyPr/>
          <a:lstStyle/>
          <a:p>
            <a:fld id="{4DC7491D-CDB9-48BE-BADB-11210BC61B1D}" type="slidenum">
              <a:rPr lang="ru-RU" smtClean="0"/>
              <a:pPr/>
              <a:t>27</a:t>
            </a:fld>
            <a:endParaRPr lang="ru-R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wipe(up)">
                                      <p:cBhvr>
                                        <p:cTn id="7" dur="500"/>
                                        <p:tgtEl>
                                          <p:spTgt spid="430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3011">
                                            <p:txEl>
                                              <p:pRg st="1" end="1"/>
                                            </p:txEl>
                                          </p:spTgt>
                                        </p:tgtEl>
                                        <p:attrNameLst>
                                          <p:attrName>style.visibility</p:attrName>
                                        </p:attrNameLst>
                                      </p:cBhvr>
                                      <p:to>
                                        <p:strVal val="visible"/>
                                      </p:to>
                                    </p:set>
                                    <p:animEffect transition="in" filter="wipe(up)">
                                      <p:cBhvr>
                                        <p:cTn id="12" dur="500"/>
                                        <p:tgtEl>
                                          <p:spTgt spid="430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3011">
                                            <p:txEl>
                                              <p:pRg st="2" end="2"/>
                                            </p:txEl>
                                          </p:spTgt>
                                        </p:tgtEl>
                                        <p:attrNameLst>
                                          <p:attrName>style.visibility</p:attrName>
                                        </p:attrNameLst>
                                      </p:cBhvr>
                                      <p:to>
                                        <p:strVal val="visible"/>
                                      </p:to>
                                    </p:set>
                                    <p:animEffect transition="in" filter="wipe(up)">
                                      <p:cBhvr>
                                        <p:cTn id="17" dur="500"/>
                                        <p:tgtEl>
                                          <p:spTgt spid="43011">
                                            <p:txEl>
                                              <p:pRg st="2" end="2"/>
                                            </p:txEl>
                                          </p:spTgt>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43011">
                                            <p:txEl>
                                              <p:pRg st="3" end="3"/>
                                            </p:txEl>
                                          </p:spTgt>
                                        </p:tgtEl>
                                        <p:attrNameLst>
                                          <p:attrName>style.visibility</p:attrName>
                                        </p:attrNameLst>
                                      </p:cBhvr>
                                      <p:to>
                                        <p:strVal val="visible"/>
                                      </p:to>
                                    </p:set>
                                    <p:animEffect transition="in" filter="wipe(up)">
                                      <p:cBhvr>
                                        <p:cTn id="20" dur="500"/>
                                        <p:tgtEl>
                                          <p:spTgt spid="43011">
                                            <p:txEl>
                                              <p:pRg st="3" end="3"/>
                                            </p:txEl>
                                          </p:spTgt>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43011">
                                            <p:txEl>
                                              <p:pRg st="4" end="4"/>
                                            </p:txEl>
                                          </p:spTgt>
                                        </p:tgtEl>
                                        <p:attrNameLst>
                                          <p:attrName>style.visibility</p:attrName>
                                        </p:attrNameLst>
                                      </p:cBhvr>
                                      <p:to>
                                        <p:strVal val="visible"/>
                                      </p:to>
                                    </p:set>
                                    <p:animEffect transition="in" filter="wipe(up)">
                                      <p:cBhvr>
                                        <p:cTn id="23" dur="500"/>
                                        <p:tgtEl>
                                          <p:spTgt spid="43011">
                                            <p:txEl>
                                              <p:pRg st="4" end="4"/>
                                            </p:txEl>
                                          </p:spTgt>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43011">
                                            <p:txEl>
                                              <p:pRg st="5" end="5"/>
                                            </p:txEl>
                                          </p:spTgt>
                                        </p:tgtEl>
                                        <p:attrNameLst>
                                          <p:attrName>style.visibility</p:attrName>
                                        </p:attrNameLst>
                                      </p:cBhvr>
                                      <p:to>
                                        <p:strVal val="visible"/>
                                      </p:to>
                                    </p:set>
                                    <p:animEffect transition="in" filter="wipe(up)">
                                      <p:cBhvr>
                                        <p:cTn id="26" dur="500"/>
                                        <p:tgtEl>
                                          <p:spTgt spid="43011">
                                            <p:txEl>
                                              <p:pRg st="5" end="5"/>
                                            </p:txEl>
                                          </p:spTgt>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43011">
                                            <p:txEl>
                                              <p:pRg st="6" end="6"/>
                                            </p:txEl>
                                          </p:spTgt>
                                        </p:tgtEl>
                                        <p:attrNameLst>
                                          <p:attrName>style.visibility</p:attrName>
                                        </p:attrNameLst>
                                      </p:cBhvr>
                                      <p:to>
                                        <p:strVal val="visible"/>
                                      </p:to>
                                    </p:set>
                                    <p:animEffect transition="in" filter="wipe(up)">
                                      <p:cBhvr>
                                        <p:cTn id="29" dur="500"/>
                                        <p:tgtEl>
                                          <p:spTgt spid="43011">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43011">
                                            <p:txEl>
                                              <p:pRg st="7" end="7"/>
                                            </p:txEl>
                                          </p:spTgt>
                                        </p:tgtEl>
                                        <p:attrNameLst>
                                          <p:attrName>style.visibility</p:attrName>
                                        </p:attrNameLst>
                                      </p:cBhvr>
                                      <p:to>
                                        <p:strVal val="visible"/>
                                      </p:to>
                                    </p:set>
                                    <p:animEffect transition="in" filter="wipe(up)">
                                      <p:cBhvr>
                                        <p:cTn id="34" dur="500"/>
                                        <p:tgtEl>
                                          <p:spTgt spid="43011">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43011">
                                            <p:txEl>
                                              <p:pRg st="8" end="8"/>
                                            </p:txEl>
                                          </p:spTgt>
                                        </p:tgtEl>
                                        <p:attrNameLst>
                                          <p:attrName>style.visibility</p:attrName>
                                        </p:attrNameLst>
                                      </p:cBhvr>
                                      <p:to>
                                        <p:strVal val="visible"/>
                                      </p:to>
                                    </p:set>
                                    <p:animEffect transition="in" filter="wipe(up)">
                                      <p:cBhvr>
                                        <p:cTn id="39" dur="500"/>
                                        <p:tgtEl>
                                          <p:spTgt spid="430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90500" y="285750"/>
            <a:ext cx="8763000" cy="609600"/>
          </a:xfrm>
        </p:spPr>
        <p:txBody>
          <a:bodyPr/>
          <a:lstStyle/>
          <a:p>
            <a:pPr algn="ctr"/>
            <a:r>
              <a:rPr lang="ru-RU" sz="2800" b="1" i="0" u="none" strike="noStrike" baseline="0" dirty="0">
                <a:solidFill>
                  <a:schemeClr val="bg2"/>
                </a:solidFill>
                <a:latin typeface="+mn-lt"/>
              </a:rPr>
              <a:t>Концепции построения Хранилищ Данных</a:t>
            </a:r>
            <a:endParaRPr lang="ru-RU" sz="2800" dirty="0">
              <a:solidFill>
                <a:schemeClr val="bg2"/>
              </a:solidFill>
              <a:latin typeface="+mn-lt"/>
            </a:endParaRPr>
          </a:p>
        </p:txBody>
      </p:sp>
      <p:sp>
        <p:nvSpPr>
          <p:cNvPr id="43011" name="Rectangle 3"/>
          <p:cNvSpPr>
            <a:spLocks noGrp="1" noChangeArrowheads="1"/>
          </p:cNvSpPr>
          <p:nvPr>
            <p:ph type="body" idx="1"/>
          </p:nvPr>
        </p:nvSpPr>
        <p:spPr>
          <a:xfrm>
            <a:off x="0" y="908720"/>
            <a:ext cx="9144000" cy="5899150"/>
          </a:xfrm>
        </p:spPr>
        <p:txBody>
          <a:bodyPr>
            <a:normAutofit fontScale="62500" lnSpcReduction="20000"/>
          </a:bodyPr>
          <a:lstStyle/>
          <a:p>
            <a:pPr>
              <a:lnSpc>
                <a:spcPct val="120000"/>
              </a:lnSpc>
            </a:pPr>
            <a:r>
              <a:rPr lang="ru-RU" dirty="0" err="1"/>
              <a:t>Инмона</a:t>
            </a:r>
            <a:r>
              <a:rPr lang="ru-RU" dirty="0"/>
              <a:t> и Кимбалла можно назвать двумя полюсами </a:t>
            </a:r>
            <a:r>
              <a:rPr lang="ru-RU" dirty="0" err="1"/>
              <a:t>data</a:t>
            </a:r>
            <a:r>
              <a:rPr lang="ru-RU" dirty="0"/>
              <a:t> </a:t>
            </a:r>
            <a:r>
              <a:rPr lang="ru-RU" dirty="0" err="1"/>
              <a:t>warehousing</a:t>
            </a:r>
            <a:r>
              <a:rPr lang="ru-RU" dirty="0"/>
              <a:t>.</a:t>
            </a:r>
            <a:r>
              <a:rPr lang="ru-RU" sz="2800" dirty="0"/>
              <a:t>.</a:t>
            </a:r>
          </a:p>
          <a:p>
            <a:r>
              <a:rPr lang="ru-RU" dirty="0"/>
              <a:t>Основой технологического подхода </a:t>
            </a:r>
            <a:r>
              <a:rPr lang="ru-RU" dirty="0" err="1"/>
              <a:t>Инмона</a:t>
            </a:r>
            <a:r>
              <a:rPr lang="ru-RU" dirty="0"/>
              <a:t> служит единая корпоративная информационная матрица (</a:t>
            </a:r>
            <a:r>
              <a:rPr lang="en-US" dirty="0"/>
              <a:t>Corporate Information Factory, CIF), </a:t>
            </a:r>
            <a:r>
              <a:rPr lang="ru-RU" dirty="0"/>
              <a:t>а Кимбалл «ставит» на шину хранилищ данных (</a:t>
            </a:r>
            <a:r>
              <a:rPr lang="en-US" dirty="0"/>
              <a:t>Data</a:t>
            </a:r>
            <a:r>
              <a:rPr lang="ru-RU" dirty="0"/>
              <a:t> </a:t>
            </a:r>
            <a:r>
              <a:rPr lang="en-US" dirty="0"/>
              <a:t>Warehouse Bus).</a:t>
            </a:r>
            <a:endParaRPr lang="ru-RU" dirty="0"/>
          </a:p>
          <a:p>
            <a:r>
              <a:rPr lang="ru-RU" dirty="0"/>
              <a:t>С прагматической точки зрения, эти подходы не противоречат друг другу, более того, они имеют много общего. </a:t>
            </a:r>
          </a:p>
          <a:p>
            <a:pPr lvl="1"/>
            <a:r>
              <a:rPr lang="ru-RU" dirty="0"/>
              <a:t>Предприятиям требуется хранить, анализировать и интерпретировать данные для принятия решений. </a:t>
            </a:r>
          </a:p>
          <a:p>
            <a:pPr lvl="1"/>
            <a:r>
              <a:rPr lang="ru-RU" dirty="0"/>
              <a:t>Предприятиям необходимо развивать обратные связи между средствами накопления данных и системами принятия решений. </a:t>
            </a:r>
          </a:p>
          <a:p>
            <a:pPr lvl="1"/>
            <a:r>
              <a:rPr lang="ru-RU" dirty="0"/>
              <a:t>Оба подхода соответствуют этим критериям.</a:t>
            </a:r>
          </a:p>
          <a:p>
            <a:r>
              <a:rPr lang="ru-RU" dirty="0"/>
              <a:t>Более того, у </a:t>
            </a:r>
            <a:r>
              <a:rPr lang="ru-RU" dirty="0" err="1"/>
              <a:t>Инмона</a:t>
            </a:r>
            <a:r>
              <a:rPr lang="ru-RU" dirty="0"/>
              <a:t> и Кимбалла сходные взгляды на витрины данных. Они сходятся в том, что наличие разрозненных витрин данных не решает проблему информированности предприятия. </a:t>
            </a:r>
          </a:p>
          <a:p>
            <a:r>
              <a:rPr lang="ru-RU" dirty="0"/>
              <a:t>Но в вопросах интеграции данных они занимают противоположные позиции.</a:t>
            </a:r>
          </a:p>
          <a:p>
            <a:pPr lvl="1"/>
            <a:r>
              <a:rPr lang="ru-RU" dirty="0"/>
              <a:t>Кимбалл считает возможным объединить с помощью шины отдельные витрины данных в информационную инфраструктуру, имеющую топологию </a:t>
            </a:r>
            <a:r>
              <a:rPr lang="ru-RU" i="1" dirty="0"/>
              <a:t>звезды</a:t>
            </a:r>
            <a:r>
              <a:rPr lang="ru-RU" dirty="0"/>
              <a:t>, </a:t>
            </a:r>
          </a:p>
          <a:p>
            <a:pPr lvl="1"/>
            <a:r>
              <a:rPr lang="ru-RU" dirty="0" err="1"/>
              <a:t>Инмон</a:t>
            </a:r>
            <a:r>
              <a:rPr lang="ru-RU" dirty="0"/>
              <a:t> считает необходимым загружать все данные в </a:t>
            </a:r>
            <a:r>
              <a:rPr lang="ru-RU" i="1" dirty="0"/>
              <a:t>единое хранилище</a:t>
            </a:r>
            <a:r>
              <a:rPr lang="ru-RU" dirty="0"/>
              <a:t>.</a:t>
            </a:r>
          </a:p>
        </p:txBody>
      </p:sp>
      <p:sp>
        <p:nvSpPr>
          <p:cNvPr id="6" name="Номер слайда 5"/>
          <p:cNvSpPr>
            <a:spLocks noGrp="1"/>
          </p:cNvSpPr>
          <p:nvPr>
            <p:ph type="sldNum" sz="quarter" idx="11"/>
          </p:nvPr>
        </p:nvSpPr>
        <p:spPr>
          <a:xfrm>
            <a:off x="7994650" y="6248400"/>
            <a:ext cx="692150" cy="381000"/>
          </a:xfrm>
        </p:spPr>
        <p:txBody>
          <a:bodyPr/>
          <a:lstStyle/>
          <a:p>
            <a:fld id="{4DC7491D-CDB9-48BE-BADB-11210BC61B1D}" type="slidenum">
              <a:rPr lang="ru-RU" smtClean="0"/>
              <a:pPr/>
              <a:t>28</a:t>
            </a:fld>
            <a:endParaRPr lang="ru-RU" dirty="0"/>
          </a:p>
        </p:txBody>
      </p:sp>
    </p:spTree>
    <p:extLst>
      <p:ext uri="{BB962C8B-B14F-4D97-AF65-F5344CB8AC3E}">
        <p14:creationId xmlns:p14="http://schemas.microsoft.com/office/powerpoint/2010/main" val="1903604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wipe(up)">
                                      <p:cBhvr>
                                        <p:cTn id="7" dur="500"/>
                                        <p:tgtEl>
                                          <p:spTgt spid="430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52400" y="139700"/>
            <a:ext cx="8763000" cy="609600"/>
          </a:xfrm>
        </p:spPr>
        <p:txBody>
          <a:bodyPr/>
          <a:lstStyle/>
          <a:p>
            <a:pPr algn="ctr"/>
            <a:r>
              <a:rPr lang="ru-RU" sz="2800" b="1" i="0" u="none" strike="noStrike" baseline="0" dirty="0">
                <a:solidFill>
                  <a:schemeClr val="bg2"/>
                </a:solidFill>
                <a:latin typeface="+mn-lt"/>
              </a:rPr>
              <a:t>Обработка данных без Хранилищ Данных</a:t>
            </a:r>
            <a:endParaRPr lang="ru-RU" sz="2800" dirty="0">
              <a:solidFill>
                <a:schemeClr val="bg2"/>
              </a:solidFill>
              <a:latin typeface="+mn-lt"/>
            </a:endParaRPr>
          </a:p>
        </p:txBody>
      </p:sp>
      <p:sp>
        <p:nvSpPr>
          <p:cNvPr id="43011" name="Rectangle 3"/>
          <p:cNvSpPr>
            <a:spLocks noGrp="1" noChangeArrowheads="1"/>
          </p:cNvSpPr>
          <p:nvPr>
            <p:ph type="body" idx="1"/>
          </p:nvPr>
        </p:nvSpPr>
        <p:spPr>
          <a:xfrm>
            <a:off x="0" y="749300"/>
            <a:ext cx="9144000" cy="5054600"/>
          </a:xfrm>
        </p:spPr>
        <p:txBody>
          <a:bodyPr>
            <a:normAutofit/>
          </a:bodyPr>
          <a:lstStyle/>
          <a:p>
            <a:pPr marL="0" indent="0">
              <a:buNone/>
            </a:pPr>
            <a:r>
              <a:rPr lang="ru-RU" sz="2000" dirty="0"/>
              <a:t>Без использования корпоративного хранилища картина накопления и представления данных выглядит так, как показано </a:t>
            </a:r>
          </a:p>
          <a:p>
            <a:endParaRPr lang="ru-RU" dirty="0"/>
          </a:p>
          <a:p>
            <a:endParaRPr lang="ru-RU" dirty="0"/>
          </a:p>
          <a:p>
            <a:endParaRPr lang="ru-RU" dirty="0"/>
          </a:p>
          <a:p>
            <a:pPr marL="0" indent="0">
              <a:buNone/>
            </a:pPr>
            <a:endParaRPr lang="ru-RU" dirty="0"/>
          </a:p>
        </p:txBody>
      </p:sp>
      <p:sp>
        <p:nvSpPr>
          <p:cNvPr id="6" name="Номер слайда 5"/>
          <p:cNvSpPr>
            <a:spLocks noGrp="1"/>
          </p:cNvSpPr>
          <p:nvPr>
            <p:ph type="sldNum" sz="quarter" idx="11"/>
          </p:nvPr>
        </p:nvSpPr>
        <p:spPr>
          <a:xfrm>
            <a:off x="7994650" y="6248400"/>
            <a:ext cx="692150" cy="381000"/>
          </a:xfrm>
        </p:spPr>
        <p:txBody>
          <a:bodyPr/>
          <a:lstStyle/>
          <a:p>
            <a:fld id="{4DC7491D-CDB9-48BE-BADB-11210BC61B1D}" type="slidenum">
              <a:rPr lang="ru-RU" smtClean="0"/>
              <a:pPr/>
              <a:t>29</a:t>
            </a:fld>
            <a:endParaRPr lang="ru-RU" dirty="0"/>
          </a:p>
        </p:txBody>
      </p:sp>
      <p:pic>
        <p:nvPicPr>
          <p:cNvPr id="3" name="Рисунок 2">
            <a:extLst>
              <a:ext uri="{FF2B5EF4-FFF2-40B4-BE49-F238E27FC236}">
                <a16:creationId xmlns:a16="http://schemas.microsoft.com/office/drawing/2014/main" id="{5D44410F-FCFB-9481-6420-F0982C21E470}"/>
              </a:ext>
            </a:extLst>
          </p:cNvPr>
          <p:cNvPicPr>
            <a:picLocks noChangeAspect="1"/>
          </p:cNvPicPr>
          <p:nvPr/>
        </p:nvPicPr>
        <p:blipFill>
          <a:blip r:embed="rId3"/>
          <a:stretch>
            <a:fillRect/>
          </a:stretch>
        </p:blipFill>
        <p:spPr>
          <a:xfrm>
            <a:off x="1339513" y="1583795"/>
            <a:ext cx="6112807" cy="4658255"/>
          </a:xfrm>
          <a:prstGeom prst="rect">
            <a:avLst/>
          </a:prstGeom>
        </p:spPr>
      </p:pic>
    </p:spTree>
    <p:extLst>
      <p:ext uri="{BB962C8B-B14F-4D97-AF65-F5344CB8AC3E}">
        <p14:creationId xmlns:p14="http://schemas.microsoft.com/office/powerpoint/2010/main" val="25910151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52400" y="139700"/>
            <a:ext cx="8763000" cy="609600"/>
          </a:xfrm>
        </p:spPr>
        <p:txBody>
          <a:bodyPr/>
          <a:lstStyle/>
          <a:p>
            <a:pPr algn="ctr"/>
            <a:r>
              <a:rPr lang="ru-RU" sz="2800" i="0" u="none" strike="noStrike" baseline="0" dirty="0">
                <a:solidFill>
                  <a:schemeClr val="bg2"/>
                </a:solidFill>
                <a:latin typeface="+mn-lt"/>
              </a:rPr>
              <a:t>Корпоративная Информационная Фабрика (</a:t>
            </a:r>
            <a:r>
              <a:rPr lang="ru-RU" sz="2800" i="0" u="none" strike="noStrike" baseline="0" dirty="0" err="1">
                <a:solidFill>
                  <a:schemeClr val="bg2"/>
                </a:solidFill>
                <a:latin typeface="+mn-lt"/>
              </a:rPr>
              <a:t>Инмон</a:t>
            </a:r>
            <a:r>
              <a:rPr lang="ru-RU" sz="2800" i="0" u="none" strike="noStrike" baseline="0" dirty="0">
                <a:solidFill>
                  <a:schemeClr val="bg2"/>
                </a:solidFill>
                <a:latin typeface="+mn-lt"/>
              </a:rPr>
              <a:t>)</a:t>
            </a:r>
            <a:endParaRPr lang="ru-RU" sz="2800" dirty="0">
              <a:solidFill>
                <a:schemeClr val="bg2"/>
              </a:solidFill>
              <a:latin typeface="+mn-lt"/>
            </a:endParaRPr>
          </a:p>
        </p:txBody>
      </p:sp>
      <p:sp>
        <p:nvSpPr>
          <p:cNvPr id="43011" name="Rectangle 3"/>
          <p:cNvSpPr>
            <a:spLocks noGrp="1" noChangeArrowheads="1"/>
          </p:cNvSpPr>
          <p:nvPr>
            <p:ph type="body" idx="1"/>
          </p:nvPr>
        </p:nvSpPr>
        <p:spPr>
          <a:xfrm>
            <a:off x="0" y="749300"/>
            <a:ext cx="8991600" cy="5575300"/>
          </a:xfrm>
        </p:spPr>
        <p:txBody>
          <a:bodyPr>
            <a:normAutofit/>
          </a:bodyPr>
          <a:lstStyle/>
          <a:p>
            <a:endParaRPr lang="ru-RU" dirty="0"/>
          </a:p>
          <a:p>
            <a:endParaRPr lang="ru-RU" dirty="0"/>
          </a:p>
          <a:p>
            <a:endParaRPr lang="ru-RU" dirty="0"/>
          </a:p>
          <a:p>
            <a:pPr marL="0" indent="0">
              <a:buNone/>
            </a:pPr>
            <a:endParaRPr lang="ru-RU" dirty="0"/>
          </a:p>
        </p:txBody>
      </p:sp>
      <p:sp>
        <p:nvSpPr>
          <p:cNvPr id="6" name="Номер слайда 5"/>
          <p:cNvSpPr>
            <a:spLocks noGrp="1"/>
          </p:cNvSpPr>
          <p:nvPr>
            <p:ph type="sldNum" sz="quarter" idx="11"/>
          </p:nvPr>
        </p:nvSpPr>
        <p:spPr>
          <a:xfrm>
            <a:off x="7994650" y="6248400"/>
            <a:ext cx="692150" cy="381000"/>
          </a:xfrm>
        </p:spPr>
        <p:txBody>
          <a:bodyPr/>
          <a:lstStyle/>
          <a:p>
            <a:fld id="{4DC7491D-CDB9-48BE-BADB-11210BC61B1D}" type="slidenum">
              <a:rPr lang="ru-RU" smtClean="0"/>
              <a:pPr/>
              <a:t>30</a:t>
            </a:fld>
            <a:endParaRPr lang="ru-RU" dirty="0"/>
          </a:p>
        </p:txBody>
      </p:sp>
      <p:sp>
        <p:nvSpPr>
          <p:cNvPr id="2" name="TextBox 1">
            <a:extLst>
              <a:ext uri="{FF2B5EF4-FFF2-40B4-BE49-F238E27FC236}">
                <a16:creationId xmlns:a16="http://schemas.microsoft.com/office/drawing/2014/main" id="{A3739D13-40A3-2F1B-9D62-D6F4ABD6F155}"/>
              </a:ext>
            </a:extLst>
          </p:cNvPr>
          <p:cNvSpPr txBox="1"/>
          <p:nvPr/>
        </p:nvSpPr>
        <p:spPr>
          <a:xfrm>
            <a:off x="455355" y="765445"/>
            <a:ext cx="8231445" cy="5575300"/>
          </a:xfrm>
          <a:prstGeom prst="rect">
            <a:avLst/>
          </a:prstGeom>
          <a:noFill/>
        </p:spPr>
        <p:txBody>
          <a:bodyPr wrap="square" rtlCol="0">
            <a:normAutofit fontScale="85000" lnSpcReduction="20000"/>
          </a:bodyPr>
          <a:lstStyle/>
          <a:p>
            <a:pPr marL="342900" indent="-342900">
              <a:spcBef>
                <a:spcPct val="20000"/>
              </a:spcBef>
              <a:buClr>
                <a:schemeClr val="bg2"/>
              </a:buClr>
              <a:buSzPct val="75000"/>
              <a:buFont typeface="Wingdings" pitchFamily="2" charset="2"/>
              <a:buChar char="n"/>
            </a:pPr>
            <a:r>
              <a:rPr lang="ru-RU" sz="3200" dirty="0">
                <a:latin typeface="+mn-lt"/>
                <a:cs typeface="+mn-cs"/>
              </a:rPr>
              <a:t>Работа такого Хранилища начинается со скоординированного извлечения данных из источников. </a:t>
            </a:r>
          </a:p>
          <a:p>
            <a:pPr marL="342900" indent="-342900">
              <a:spcBef>
                <a:spcPct val="20000"/>
              </a:spcBef>
              <a:buClr>
                <a:schemeClr val="bg2"/>
              </a:buClr>
              <a:buSzPct val="75000"/>
              <a:buFont typeface="Wingdings" pitchFamily="2" charset="2"/>
              <a:buChar char="n"/>
            </a:pPr>
            <a:r>
              <a:rPr lang="ru-RU" sz="3200" dirty="0">
                <a:latin typeface="+mn-lt"/>
                <a:cs typeface="+mn-cs"/>
              </a:rPr>
              <a:t>После этого загружается реляционная база данных в третьей нормальной формой, содержащая атомарные данные. </a:t>
            </a:r>
          </a:p>
          <a:p>
            <a:pPr marL="342900" indent="-342900">
              <a:spcBef>
                <a:spcPct val="20000"/>
              </a:spcBef>
              <a:buClr>
                <a:schemeClr val="bg2"/>
              </a:buClr>
              <a:buSzPct val="75000"/>
              <a:buFont typeface="Wingdings" pitchFamily="2" charset="2"/>
              <a:buChar char="n"/>
            </a:pPr>
            <a:r>
              <a:rPr lang="ru-RU" sz="3200" dirty="0">
                <a:latin typeface="+mn-lt"/>
                <a:cs typeface="+mn-cs"/>
              </a:rPr>
              <a:t>Получившееся нормализованное Хранилище используется для того, чтобы наполнить информацией дополнительные репозитории презентационных данных, т.е. данных, подготовленных для анализа. </a:t>
            </a:r>
          </a:p>
          <a:p>
            <a:pPr marL="342900" indent="-342900">
              <a:spcBef>
                <a:spcPct val="20000"/>
              </a:spcBef>
              <a:buClr>
                <a:schemeClr val="bg2"/>
              </a:buClr>
              <a:buSzPct val="75000"/>
              <a:buFont typeface="Wingdings" pitchFamily="2" charset="2"/>
              <a:buChar char="n"/>
            </a:pPr>
            <a:r>
              <a:rPr lang="ru-RU" sz="3200" dirty="0">
                <a:latin typeface="+mn-lt"/>
                <a:cs typeface="+mn-cs"/>
              </a:rPr>
              <a:t>Эти репозитории, в частности, включают специализированные Хранилища для изучения и "добычи" данных (Data Mining), а также витрины данных.</a:t>
            </a:r>
          </a:p>
        </p:txBody>
      </p:sp>
    </p:spTree>
    <p:extLst>
      <p:ext uri="{BB962C8B-B14F-4D97-AF65-F5344CB8AC3E}">
        <p14:creationId xmlns:p14="http://schemas.microsoft.com/office/powerpoint/2010/main" val="4079104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52400" y="139700"/>
            <a:ext cx="8763000" cy="609600"/>
          </a:xfrm>
        </p:spPr>
        <p:txBody>
          <a:bodyPr/>
          <a:lstStyle/>
          <a:p>
            <a:pPr algn="ctr"/>
            <a:r>
              <a:rPr lang="ru-RU" sz="2800" i="0" u="none" strike="noStrike" baseline="0" dirty="0">
                <a:solidFill>
                  <a:schemeClr val="bg2"/>
                </a:solidFill>
                <a:latin typeface="+mn-lt"/>
              </a:rPr>
              <a:t>Корпоративная Информационная Фабрика (</a:t>
            </a:r>
            <a:r>
              <a:rPr lang="ru-RU" sz="2800" i="0" u="none" strike="noStrike" baseline="0" dirty="0" err="1">
                <a:solidFill>
                  <a:schemeClr val="bg2"/>
                </a:solidFill>
                <a:latin typeface="+mn-lt"/>
              </a:rPr>
              <a:t>Инмон</a:t>
            </a:r>
            <a:r>
              <a:rPr lang="ru-RU" sz="2800" i="0" u="none" strike="noStrike" baseline="0" dirty="0">
                <a:solidFill>
                  <a:schemeClr val="bg2"/>
                </a:solidFill>
                <a:latin typeface="+mn-lt"/>
              </a:rPr>
              <a:t>)</a:t>
            </a:r>
            <a:endParaRPr lang="ru-RU" sz="2800" dirty="0">
              <a:solidFill>
                <a:schemeClr val="bg2"/>
              </a:solidFill>
              <a:latin typeface="+mn-lt"/>
            </a:endParaRPr>
          </a:p>
        </p:txBody>
      </p:sp>
      <p:sp>
        <p:nvSpPr>
          <p:cNvPr id="43011" name="Rectangle 3"/>
          <p:cNvSpPr>
            <a:spLocks noGrp="1" noChangeArrowheads="1"/>
          </p:cNvSpPr>
          <p:nvPr>
            <p:ph type="body" idx="1"/>
          </p:nvPr>
        </p:nvSpPr>
        <p:spPr>
          <a:xfrm>
            <a:off x="0" y="749300"/>
            <a:ext cx="8991600" cy="5575300"/>
          </a:xfrm>
        </p:spPr>
        <p:txBody>
          <a:bodyPr>
            <a:normAutofit/>
          </a:bodyPr>
          <a:lstStyle/>
          <a:p>
            <a:endParaRPr lang="ru-RU" dirty="0"/>
          </a:p>
          <a:p>
            <a:endParaRPr lang="ru-RU" dirty="0"/>
          </a:p>
          <a:p>
            <a:endParaRPr lang="ru-RU" dirty="0"/>
          </a:p>
          <a:p>
            <a:pPr marL="0" indent="0">
              <a:buNone/>
            </a:pPr>
            <a:endParaRPr lang="ru-RU" dirty="0"/>
          </a:p>
        </p:txBody>
      </p:sp>
      <p:sp>
        <p:nvSpPr>
          <p:cNvPr id="6" name="Номер слайда 5"/>
          <p:cNvSpPr>
            <a:spLocks noGrp="1"/>
          </p:cNvSpPr>
          <p:nvPr>
            <p:ph type="sldNum" sz="quarter" idx="11"/>
          </p:nvPr>
        </p:nvSpPr>
        <p:spPr>
          <a:xfrm>
            <a:off x="7994650" y="6248400"/>
            <a:ext cx="692150" cy="381000"/>
          </a:xfrm>
        </p:spPr>
        <p:txBody>
          <a:bodyPr/>
          <a:lstStyle/>
          <a:p>
            <a:fld id="{4DC7491D-CDB9-48BE-BADB-11210BC61B1D}" type="slidenum">
              <a:rPr lang="ru-RU" smtClean="0"/>
              <a:pPr/>
              <a:t>31</a:t>
            </a:fld>
            <a:endParaRPr lang="ru-RU" dirty="0"/>
          </a:p>
        </p:txBody>
      </p:sp>
      <p:pic>
        <p:nvPicPr>
          <p:cNvPr id="4" name="Рисунок 3">
            <a:extLst>
              <a:ext uri="{FF2B5EF4-FFF2-40B4-BE49-F238E27FC236}">
                <a16:creationId xmlns:a16="http://schemas.microsoft.com/office/drawing/2014/main" id="{7F690DD7-D5C9-E03C-E554-487B65646770}"/>
              </a:ext>
            </a:extLst>
          </p:cNvPr>
          <p:cNvPicPr>
            <a:picLocks noChangeAspect="1"/>
          </p:cNvPicPr>
          <p:nvPr/>
        </p:nvPicPr>
        <p:blipFill>
          <a:blip r:embed="rId3"/>
          <a:stretch>
            <a:fillRect/>
          </a:stretch>
        </p:blipFill>
        <p:spPr>
          <a:xfrm>
            <a:off x="631734" y="984250"/>
            <a:ext cx="7708991" cy="4889500"/>
          </a:xfrm>
          <a:prstGeom prst="rect">
            <a:avLst/>
          </a:prstGeom>
        </p:spPr>
      </p:pic>
    </p:spTree>
    <p:extLst>
      <p:ext uri="{BB962C8B-B14F-4D97-AF65-F5344CB8AC3E}">
        <p14:creationId xmlns:p14="http://schemas.microsoft.com/office/powerpoint/2010/main" val="27601144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52400" y="139700"/>
            <a:ext cx="8763000" cy="609600"/>
          </a:xfrm>
        </p:spPr>
        <p:txBody>
          <a:bodyPr/>
          <a:lstStyle/>
          <a:p>
            <a:pPr algn="ctr"/>
            <a:r>
              <a:rPr lang="ru-RU" sz="2800" i="0" u="none" strike="noStrike" baseline="0" dirty="0">
                <a:solidFill>
                  <a:schemeClr val="bg2"/>
                </a:solidFill>
                <a:latin typeface="+mn-lt"/>
              </a:rPr>
              <a:t>Корпоративная Информационная Фабрика (</a:t>
            </a:r>
            <a:r>
              <a:rPr lang="ru-RU" sz="2800" i="0" u="none" strike="noStrike" baseline="0" dirty="0" err="1">
                <a:solidFill>
                  <a:schemeClr val="bg2"/>
                </a:solidFill>
                <a:latin typeface="+mn-lt"/>
              </a:rPr>
              <a:t>Инмон</a:t>
            </a:r>
            <a:r>
              <a:rPr lang="ru-RU" sz="2800" i="0" u="none" strike="noStrike" baseline="0" dirty="0">
                <a:solidFill>
                  <a:schemeClr val="bg2"/>
                </a:solidFill>
                <a:latin typeface="+mn-lt"/>
              </a:rPr>
              <a:t>)</a:t>
            </a:r>
            <a:endParaRPr lang="ru-RU" sz="2800" dirty="0">
              <a:solidFill>
                <a:schemeClr val="bg2"/>
              </a:solidFill>
              <a:latin typeface="+mn-lt"/>
            </a:endParaRPr>
          </a:p>
        </p:txBody>
      </p:sp>
      <p:sp>
        <p:nvSpPr>
          <p:cNvPr id="43011" name="Rectangle 3"/>
          <p:cNvSpPr>
            <a:spLocks noGrp="1" noChangeArrowheads="1"/>
          </p:cNvSpPr>
          <p:nvPr>
            <p:ph type="body" idx="1"/>
          </p:nvPr>
        </p:nvSpPr>
        <p:spPr>
          <a:xfrm>
            <a:off x="0" y="749300"/>
            <a:ext cx="8991600" cy="5575300"/>
          </a:xfrm>
        </p:spPr>
        <p:txBody>
          <a:bodyPr>
            <a:normAutofit/>
          </a:bodyPr>
          <a:lstStyle/>
          <a:p>
            <a:endParaRPr lang="ru-RU" dirty="0"/>
          </a:p>
          <a:p>
            <a:endParaRPr lang="ru-RU" dirty="0"/>
          </a:p>
          <a:p>
            <a:endParaRPr lang="ru-RU" dirty="0"/>
          </a:p>
          <a:p>
            <a:pPr marL="0" indent="0">
              <a:buNone/>
            </a:pPr>
            <a:endParaRPr lang="ru-RU" dirty="0"/>
          </a:p>
        </p:txBody>
      </p:sp>
      <p:sp>
        <p:nvSpPr>
          <p:cNvPr id="6" name="Номер слайда 5"/>
          <p:cNvSpPr>
            <a:spLocks noGrp="1"/>
          </p:cNvSpPr>
          <p:nvPr>
            <p:ph type="sldNum" sz="quarter" idx="11"/>
          </p:nvPr>
        </p:nvSpPr>
        <p:spPr>
          <a:xfrm>
            <a:off x="7994650" y="6248400"/>
            <a:ext cx="692150" cy="381000"/>
          </a:xfrm>
        </p:spPr>
        <p:txBody>
          <a:bodyPr/>
          <a:lstStyle/>
          <a:p>
            <a:fld id="{4DC7491D-CDB9-48BE-BADB-11210BC61B1D}" type="slidenum">
              <a:rPr lang="ru-RU" smtClean="0"/>
              <a:pPr/>
              <a:t>32</a:t>
            </a:fld>
            <a:endParaRPr lang="ru-RU" dirty="0"/>
          </a:p>
        </p:txBody>
      </p:sp>
      <p:sp>
        <p:nvSpPr>
          <p:cNvPr id="2" name="TextBox 1">
            <a:extLst>
              <a:ext uri="{FF2B5EF4-FFF2-40B4-BE49-F238E27FC236}">
                <a16:creationId xmlns:a16="http://schemas.microsoft.com/office/drawing/2014/main" id="{A3739D13-40A3-2F1B-9D62-D6F4ABD6F155}"/>
              </a:ext>
            </a:extLst>
          </p:cNvPr>
          <p:cNvSpPr txBox="1"/>
          <p:nvPr/>
        </p:nvSpPr>
        <p:spPr>
          <a:xfrm>
            <a:off x="457200" y="773705"/>
            <a:ext cx="8231445" cy="5888230"/>
          </a:xfrm>
          <a:prstGeom prst="rect">
            <a:avLst/>
          </a:prstGeom>
          <a:noFill/>
        </p:spPr>
        <p:txBody>
          <a:bodyPr wrap="square" rtlCol="0">
            <a:normAutofit fontScale="92500" lnSpcReduction="20000"/>
          </a:bodyPr>
          <a:lstStyle/>
          <a:p>
            <a:pPr algn="l">
              <a:lnSpc>
                <a:spcPct val="120000"/>
              </a:lnSpc>
            </a:pPr>
            <a:r>
              <a:rPr lang="ru-RU" sz="1800" b="0" i="0" u="none" strike="noStrike" baseline="0" dirty="0">
                <a:latin typeface="+mn-lt"/>
              </a:rPr>
              <a:t>В качестве отличительных характеристик </a:t>
            </a:r>
            <a:r>
              <a:rPr lang="ru-RU" sz="1800" b="1" i="0" u="none" strike="noStrike" baseline="0" dirty="0">
                <a:latin typeface="+mn-lt"/>
              </a:rPr>
              <a:t>подхода Билла </a:t>
            </a:r>
            <a:r>
              <a:rPr lang="ru-RU" sz="1800" b="1" i="0" u="none" strike="noStrike" baseline="0" dirty="0" err="1">
                <a:latin typeface="+mn-lt"/>
              </a:rPr>
              <a:t>Инмона</a:t>
            </a:r>
            <a:r>
              <a:rPr lang="ru-RU" sz="1800" b="1" i="0" u="none" strike="noStrike" baseline="0" dirty="0">
                <a:latin typeface="+mn-lt"/>
              </a:rPr>
              <a:t> </a:t>
            </a:r>
            <a:r>
              <a:rPr lang="ru-RU" sz="1800" b="0" i="0" u="none" strike="noStrike" baseline="0" dirty="0">
                <a:latin typeface="+mn-lt"/>
              </a:rPr>
              <a:t>к архитектуре Хранилищ</a:t>
            </a:r>
            <a:r>
              <a:rPr lang="en-US" sz="1800" b="0" i="0" u="none" strike="noStrike" baseline="0" dirty="0">
                <a:latin typeface="+mn-lt"/>
              </a:rPr>
              <a:t> </a:t>
            </a:r>
            <a:r>
              <a:rPr lang="ru-RU" sz="1800" b="0" i="0" u="none" strike="noStrike" baseline="0" dirty="0">
                <a:latin typeface="+mn-lt"/>
              </a:rPr>
              <a:t>данных можно назвать следующие пять характеристик.</a:t>
            </a:r>
          </a:p>
          <a:p>
            <a:pPr marL="342900" indent="-342900" algn="l">
              <a:lnSpc>
                <a:spcPct val="120000"/>
              </a:lnSpc>
              <a:buFont typeface="+mj-lt"/>
              <a:buAutoNum type="arabicPeriod"/>
            </a:pPr>
            <a:r>
              <a:rPr lang="ru-RU" sz="1800" b="0" i="0" u="none" strike="noStrike" baseline="0" dirty="0">
                <a:latin typeface="+mn-lt"/>
              </a:rPr>
              <a:t>Использование реляционной модели организации атомарных данных и пространственной -</a:t>
            </a:r>
            <a:r>
              <a:rPr lang="en-US" sz="1800" b="0" i="0" u="none" strike="noStrike" baseline="0" dirty="0">
                <a:latin typeface="+mn-lt"/>
              </a:rPr>
              <a:t> </a:t>
            </a:r>
            <a:r>
              <a:rPr lang="ru-RU" sz="1800" b="0" i="0" u="none" strike="noStrike" baseline="0" dirty="0">
                <a:latin typeface="+mn-lt"/>
              </a:rPr>
              <a:t>для организации суммарных данных.</a:t>
            </a:r>
            <a:endParaRPr lang="en-US" sz="1800" b="0" i="0" u="none" strike="noStrike" baseline="0" dirty="0">
              <a:latin typeface="+mn-lt"/>
            </a:endParaRPr>
          </a:p>
          <a:p>
            <a:pPr marL="342900" indent="-342900" algn="l">
              <a:lnSpc>
                <a:spcPct val="120000"/>
              </a:lnSpc>
              <a:buFont typeface="+mj-lt"/>
              <a:buAutoNum type="arabicPeriod"/>
            </a:pPr>
            <a:r>
              <a:rPr lang="ru-RU" sz="1800" b="0" i="0" u="none" strike="noStrike" baseline="0" dirty="0">
                <a:latin typeface="+mn-lt"/>
              </a:rPr>
              <a:t>Использование итеративного или "спирального" подхода при создании больших Хранилищ</a:t>
            </a:r>
            <a:r>
              <a:rPr lang="en-US" sz="1800" b="0" i="0" u="none" strike="noStrike" baseline="0" dirty="0">
                <a:latin typeface="+mn-lt"/>
              </a:rPr>
              <a:t> </a:t>
            </a:r>
            <a:r>
              <a:rPr lang="ru-RU" sz="1800" b="0" i="0" u="none" strike="noStrike" baseline="0" dirty="0">
                <a:latin typeface="+mn-lt"/>
              </a:rPr>
              <a:t>данных, т.е. "строительство" Хранилища не сразу, а по частям. </a:t>
            </a:r>
            <a:endParaRPr lang="en-US" sz="1800" b="0" i="0" u="none" strike="noStrike" baseline="0" dirty="0">
              <a:latin typeface="+mn-lt"/>
            </a:endParaRPr>
          </a:p>
          <a:p>
            <a:pPr marL="742950" lvl="1" indent="-285750">
              <a:lnSpc>
                <a:spcPct val="120000"/>
              </a:lnSpc>
              <a:buFont typeface="Wingdings" panose="05000000000000000000" pitchFamily="2" charset="2"/>
              <a:buChar char="Ø"/>
            </a:pPr>
            <a:r>
              <a:rPr lang="ru-RU" sz="1500" b="0" i="0" u="none" strike="noStrike" baseline="0" dirty="0">
                <a:latin typeface="+mn-lt"/>
              </a:rPr>
              <a:t>Это позволяет при необходимости</a:t>
            </a:r>
            <a:r>
              <a:rPr lang="en-US" sz="1500" b="0" i="0" u="none" strike="noStrike" baseline="0" dirty="0">
                <a:latin typeface="+mn-lt"/>
              </a:rPr>
              <a:t> </a:t>
            </a:r>
            <a:r>
              <a:rPr lang="ru-RU" sz="1500" b="0" i="0" u="none" strike="noStrike" baseline="0" dirty="0">
                <a:latin typeface="+mn-lt"/>
              </a:rPr>
              <a:t>вносить изменения в небольшие блоки данных или программных кодов и избавляет от</a:t>
            </a:r>
            <a:r>
              <a:rPr lang="en-US" sz="1500" b="0" i="0" u="none" strike="noStrike" baseline="0" dirty="0">
                <a:latin typeface="+mn-lt"/>
              </a:rPr>
              <a:t> </a:t>
            </a:r>
            <a:r>
              <a:rPr lang="ru-RU" sz="1500" b="0" i="0" u="none" strike="noStrike" baseline="0" dirty="0">
                <a:latin typeface="+mn-lt"/>
              </a:rPr>
              <a:t>необходимости перепрограммировать значительные объемы данных в Хранилище. </a:t>
            </a:r>
            <a:endParaRPr lang="en-US" sz="1500" b="0" i="0" u="none" strike="noStrike" baseline="0" dirty="0">
              <a:latin typeface="+mn-lt"/>
            </a:endParaRPr>
          </a:p>
          <a:p>
            <a:pPr marL="742950" lvl="1" indent="-285750">
              <a:lnSpc>
                <a:spcPct val="120000"/>
              </a:lnSpc>
              <a:buFont typeface="Wingdings" panose="05000000000000000000" pitchFamily="2" charset="2"/>
              <a:buChar char="Ø"/>
            </a:pPr>
            <a:r>
              <a:rPr lang="ru-RU" sz="1500" b="0" i="0" u="none" strike="noStrike" baseline="0" dirty="0">
                <a:latin typeface="+mn-lt"/>
              </a:rPr>
              <a:t>То же самое</a:t>
            </a:r>
            <a:r>
              <a:rPr lang="en-US" sz="1500" b="0" i="0" u="none" strike="noStrike" baseline="0" dirty="0">
                <a:latin typeface="+mn-lt"/>
              </a:rPr>
              <a:t> </a:t>
            </a:r>
            <a:r>
              <a:rPr lang="ru-RU" sz="1500" b="0" i="0" u="none" strike="noStrike" baseline="0" dirty="0">
                <a:latin typeface="+mn-lt"/>
              </a:rPr>
              <a:t>можно сказать и о потенциальных ошибках: они также будут локализованы в пределах сравнительно</a:t>
            </a:r>
            <a:r>
              <a:rPr lang="en-US" sz="1500" b="0" i="0" u="none" strike="noStrike" baseline="0" dirty="0">
                <a:latin typeface="+mn-lt"/>
              </a:rPr>
              <a:t> </a:t>
            </a:r>
            <a:r>
              <a:rPr lang="ru-RU" sz="1500" b="0" i="0" u="none" strike="noStrike" baseline="0" dirty="0">
                <a:latin typeface="+mn-lt"/>
              </a:rPr>
              <a:t>небольшого массива без риска испортить все Хранилище.</a:t>
            </a:r>
          </a:p>
          <a:p>
            <a:pPr marL="342900" indent="-342900" algn="l">
              <a:lnSpc>
                <a:spcPct val="120000"/>
              </a:lnSpc>
              <a:buFont typeface="+mj-lt"/>
              <a:buAutoNum type="arabicPeriod"/>
            </a:pPr>
            <a:r>
              <a:rPr lang="ru-RU" sz="1800" b="0" i="0" u="none" strike="noStrike" baseline="0" dirty="0">
                <a:latin typeface="+mn-lt"/>
              </a:rPr>
              <a:t>Использование третьей нормальной формы для организации атомарных данных, что</a:t>
            </a:r>
            <a:r>
              <a:rPr lang="en-US" sz="1800" b="0" i="0" u="none" strike="noStrike" baseline="0" dirty="0">
                <a:latin typeface="+mn-lt"/>
              </a:rPr>
              <a:t> </a:t>
            </a:r>
            <a:r>
              <a:rPr lang="ru-RU" sz="1800" b="0" i="0" u="none" strike="noStrike" baseline="0" dirty="0">
                <a:latin typeface="+mn-lt"/>
              </a:rPr>
              <a:t>обеспечивает высокую степень детальности интегрированных данных и, соответственно,</a:t>
            </a:r>
            <a:r>
              <a:rPr lang="en-US" sz="1800" b="0" i="0" u="none" strike="noStrike" baseline="0" dirty="0">
                <a:latin typeface="+mn-lt"/>
              </a:rPr>
              <a:t> </a:t>
            </a:r>
            <a:r>
              <a:rPr lang="ru-RU" sz="1800" b="0" i="0" u="none" strike="noStrike" baseline="0" dirty="0">
                <a:latin typeface="+mn-lt"/>
              </a:rPr>
              <a:t>предоставляет корпорациям широкие возможности для манипулирования ими и изменения формата и</a:t>
            </a:r>
            <a:r>
              <a:rPr lang="en-US" sz="1800" b="0" i="0" u="none" strike="noStrike" baseline="0" dirty="0">
                <a:latin typeface="+mn-lt"/>
              </a:rPr>
              <a:t> </a:t>
            </a:r>
            <a:r>
              <a:rPr lang="ru-RU" sz="1800" b="0" i="0" u="none" strike="noStrike" baseline="0" dirty="0">
                <a:latin typeface="+mn-lt"/>
              </a:rPr>
              <a:t>способа представления данных по мере необходимости.</a:t>
            </a:r>
          </a:p>
          <a:p>
            <a:pPr marL="342900" indent="-342900" algn="l">
              <a:lnSpc>
                <a:spcPct val="120000"/>
              </a:lnSpc>
              <a:buFont typeface="+mj-lt"/>
              <a:buAutoNum type="arabicPeriod"/>
            </a:pPr>
            <a:r>
              <a:rPr lang="ru-RU" sz="1800" b="0" i="0" u="none" strike="noStrike" baseline="0" dirty="0">
                <a:latin typeface="+mn-lt"/>
              </a:rPr>
              <a:t>Хранилище данных - это проект корпоративного масштаба, охватывающий все отделы и</a:t>
            </a:r>
            <a:r>
              <a:rPr lang="en-US" sz="1800" b="0" i="0" u="none" strike="noStrike" baseline="0" dirty="0">
                <a:latin typeface="+mn-lt"/>
              </a:rPr>
              <a:t> </a:t>
            </a:r>
            <a:r>
              <a:rPr lang="ru-RU" sz="1800" b="0" i="0" u="none" strike="noStrike" baseline="0" dirty="0">
                <a:latin typeface="+mn-lt"/>
              </a:rPr>
              <a:t>обслуживающий нужды всех пользователей корпорации.</a:t>
            </a:r>
          </a:p>
          <a:p>
            <a:pPr marL="342900" indent="-342900" algn="l">
              <a:lnSpc>
                <a:spcPct val="120000"/>
              </a:lnSpc>
              <a:buFont typeface="+mj-lt"/>
              <a:buAutoNum type="arabicPeriod"/>
            </a:pPr>
            <a:r>
              <a:rPr lang="ru-RU" sz="1800" b="0" i="0" u="none" strike="noStrike" baseline="0" dirty="0">
                <a:latin typeface="+mn-lt"/>
              </a:rPr>
              <a:t>Хранилище данных - это не механическая коллекция витрин данных, а физически</a:t>
            </a:r>
            <a:r>
              <a:rPr lang="en-US" sz="1800" b="0" i="0" u="none" strike="noStrike" baseline="0" dirty="0">
                <a:latin typeface="+mn-lt"/>
              </a:rPr>
              <a:t> </a:t>
            </a:r>
            <a:r>
              <a:rPr lang="ru-RU" sz="1800" b="0" i="0" u="none" strike="noStrike" baseline="0" dirty="0">
                <a:latin typeface="+mn-lt"/>
              </a:rPr>
              <a:t>целостный объект.</a:t>
            </a:r>
            <a:endParaRPr lang="ru-RU" sz="3200" dirty="0">
              <a:latin typeface="+mn-lt"/>
              <a:cs typeface="+mn-cs"/>
            </a:endParaRPr>
          </a:p>
        </p:txBody>
      </p:sp>
    </p:spTree>
    <p:extLst>
      <p:ext uri="{BB962C8B-B14F-4D97-AF65-F5344CB8AC3E}">
        <p14:creationId xmlns:p14="http://schemas.microsoft.com/office/powerpoint/2010/main" val="1438804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up)">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up)">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wipe(up)">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wipe(up)">
                                      <p:cBhvr>
                                        <p:cTn id="4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type="body" idx="1"/>
          </p:nvPr>
        </p:nvSpPr>
        <p:spPr>
          <a:xfrm>
            <a:off x="0" y="749300"/>
            <a:ext cx="8991600" cy="5575300"/>
          </a:xfrm>
        </p:spPr>
        <p:txBody>
          <a:bodyPr>
            <a:normAutofit/>
          </a:bodyPr>
          <a:lstStyle/>
          <a:p>
            <a:endParaRPr lang="ru-RU" dirty="0"/>
          </a:p>
          <a:p>
            <a:endParaRPr lang="ru-RU" dirty="0"/>
          </a:p>
          <a:p>
            <a:endParaRPr lang="ru-RU" dirty="0"/>
          </a:p>
          <a:p>
            <a:pPr marL="0" indent="0">
              <a:buNone/>
            </a:pPr>
            <a:endParaRPr lang="ru-RU" dirty="0"/>
          </a:p>
        </p:txBody>
      </p:sp>
      <p:sp>
        <p:nvSpPr>
          <p:cNvPr id="6" name="Номер слайда 5"/>
          <p:cNvSpPr>
            <a:spLocks noGrp="1"/>
          </p:cNvSpPr>
          <p:nvPr>
            <p:ph type="sldNum" sz="quarter" idx="11"/>
          </p:nvPr>
        </p:nvSpPr>
        <p:spPr>
          <a:xfrm>
            <a:off x="7994650" y="6248400"/>
            <a:ext cx="692150" cy="381000"/>
          </a:xfrm>
        </p:spPr>
        <p:txBody>
          <a:bodyPr/>
          <a:lstStyle/>
          <a:p>
            <a:fld id="{4DC7491D-CDB9-48BE-BADB-11210BC61B1D}" type="slidenum">
              <a:rPr lang="ru-RU" smtClean="0"/>
              <a:pPr/>
              <a:t>33</a:t>
            </a:fld>
            <a:endParaRPr lang="ru-RU" dirty="0"/>
          </a:p>
        </p:txBody>
      </p:sp>
      <p:sp>
        <p:nvSpPr>
          <p:cNvPr id="2" name="TextBox 1">
            <a:extLst>
              <a:ext uri="{FF2B5EF4-FFF2-40B4-BE49-F238E27FC236}">
                <a16:creationId xmlns:a16="http://schemas.microsoft.com/office/drawing/2014/main" id="{A3739D13-40A3-2F1B-9D62-D6F4ABD6F155}"/>
              </a:ext>
            </a:extLst>
          </p:cNvPr>
          <p:cNvSpPr txBox="1"/>
          <p:nvPr/>
        </p:nvSpPr>
        <p:spPr>
          <a:xfrm>
            <a:off x="152400" y="985232"/>
            <a:ext cx="8763000" cy="6089173"/>
          </a:xfrm>
          <a:prstGeom prst="rect">
            <a:avLst/>
          </a:prstGeom>
          <a:noFill/>
        </p:spPr>
        <p:txBody>
          <a:bodyPr wrap="square" rtlCol="0">
            <a:normAutofit lnSpcReduction="10000"/>
          </a:bodyPr>
          <a:lstStyle/>
          <a:p>
            <a:pPr marL="342900" indent="-342900">
              <a:lnSpc>
                <a:spcPct val="120000"/>
              </a:lnSpc>
              <a:spcBef>
                <a:spcPct val="20000"/>
              </a:spcBef>
              <a:buClr>
                <a:schemeClr val="bg2"/>
              </a:buClr>
              <a:buSzPct val="75000"/>
              <a:buFont typeface="Wingdings" pitchFamily="2" charset="2"/>
              <a:buChar char="n"/>
            </a:pPr>
            <a:r>
              <a:rPr lang="ru-RU" sz="1600" dirty="0">
                <a:latin typeface="+mn-lt"/>
                <a:cs typeface="+mn-cs"/>
              </a:rPr>
              <a:t>В этой модели</a:t>
            </a:r>
            <a:r>
              <a:rPr lang="en-US" sz="1600" dirty="0">
                <a:latin typeface="+mn-lt"/>
                <a:cs typeface="+mn-cs"/>
              </a:rPr>
              <a:t> </a:t>
            </a:r>
            <a:r>
              <a:rPr lang="ru-RU" sz="1600" dirty="0">
                <a:latin typeface="+mn-lt"/>
                <a:cs typeface="+mn-cs"/>
              </a:rPr>
              <a:t>первичные данные преобразуются в информацию, пригодную для использования, на этапе подготовки данных. </a:t>
            </a:r>
          </a:p>
          <a:p>
            <a:pPr marL="342900" indent="-342900">
              <a:lnSpc>
                <a:spcPct val="120000"/>
              </a:lnSpc>
              <a:spcBef>
                <a:spcPct val="20000"/>
              </a:spcBef>
              <a:buClr>
                <a:schemeClr val="bg2"/>
              </a:buClr>
              <a:buSzPct val="75000"/>
              <a:buFont typeface="Wingdings" pitchFamily="2" charset="2"/>
              <a:buChar char="n"/>
            </a:pPr>
            <a:r>
              <a:rPr lang="ru-RU" sz="1600" dirty="0">
                <a:latin typeface="+mn-lt"/>
                <a:cs typeface="+mn-cs"/>
              </a:rPr>
              <a:t>При этом обязательно принимаются во внимание требования к скорости обработки информации и качеству данных. </a:t>
            </a:r>
          </a:p>
          <a:p>
            <a:pPr marL="342900" indent="-342900">
              <a:lnSpc>
                <a:spcPct val="120000"/>
              </a:lnSpc>
              <a:spcBef>
                <a:spcPct val="20000"/>
              </a:spcBef>
              <a:buClr>
                <a:schemeClr val="bg2"/>
              </a:buClr>
              <a:buSzPct val="75000"/>
              <a:buFont typeface="Wingdings" pitchFamily="2" charset="2"/>
              <a:buChar char="n"/>
            </a:pPr>
            <a:r>
              <a:rPr lang="ru-RU" sz="1600" dirty="0">
                <a:latin typeface="+mn-lt"/>
                <a:cs typeface="+mn-cs"/>
              </a:rPr>
              <a:t>Как и в модели Билла </a:t>
            </a:r>
            <a:r>
              <a:rPr lang="ru-RU" sz="1600" dirty="0" err="1">
                <a:latin typeface="+mn-lt"/>
                <a:cs typeface="+mn-cs"/>
              </a:rPr>
              <a:t>Инмона</a:t>
            </a:r>
            <a:r>
              <a:rPr lang="ru-RU" sz="1600" dirty="0">
                <a:latin typeface="+mn-lt"/>
                <a:cs typeface="+mn-cs"/>
              </a:rPr>
              <a:t>, подготовка данных начинается со скоординированного извлечения данных из источников. Ряд операций совершается централизованно, например, поддержание и хранение общих справочных данных, другие действия могут быть распределенными.</a:t>
            </a:r>
          </a:p>
          <a:p>
            <a:pPr marL="342900" indent="-342900">
              <a:lnSpc>
                <a:spcPct val="120000"/>
              </a:lnSpc>
              <a:spcBef>
                <a:spcPct val="20000"/>
              </a:spcBef>
              <a:buClr>
                <a:schemeClr val="bg2"/>
              </a:buClr>
              <a:buSzPct val="75000"/>
              <a:buFont typeface="Wingdings" pitchFamily="2" charset="2"/>
              <a:buChar char="n"/>
            </a:pPr>
            <a:r>
              <a:rPr lang="ru-RU" sz="1600" dirty="0">
                <a:latin typeface="+mn-lt"/>
                <a:cs typeface="+mn-cs"/>
              </a:rPr>
              <a:t>Область представления </a:t>
            </a:r>
            <a:r>
              <a:rPr lang="ru-RU" sz="1600" dirty="0" err="1">
                <a:latin typeface="+mn-lt"/>
                <a:cs typeface="+mn-cs"/>
              </a:rPr>
              <a:t>пространственно</a:t>
            </a:r>
            <a:r>
              <a:rPr lang="ru-RU" sz="1600" dirty="0">
                <a:latin typeface="+mn-lt"/>
                <a:cs typeface="+mn-cs"/>
              </a:rPr>
              <a:t> структурирована, при этом она может быть централизованной или распределенной. </a:t>
            </a:r>
          </a:p>
          <a:p>
            <a:pPr marL="342900" indent="-342900">
              <a:lnSpc>
                <a:spcPct val="120000"/>
              </a:lnSpc>
              <a:spcBef>
                <a:spcPct val="20000"/>
              </a:spcBef>
              <a:buClr>
                <a:schemeClr val="bg2"/>
              </a:buClr>
              <a:buSzPct val="75000"/>
              <a:buFont typeface="Wingdings" pitchFamily="2" charset="2"/>
              <a:buChar char="n"/>
            </a:pPr>
            <a:r>
              <a:rPr lang="ru-RU" sz="1600" dirty="0">
                <a:latin typeface="+mn-lt"/>
                <a:cs typeface="+mn-cs"/>
              </a:rPr>
              <a:t>Пространственная модель Хранилища данных содержит ту же атомарную информацию, что и нормализованная модель (см. подход Билла </a:t>
            </a:r>
            <a:r>
              <a:rPr lang="ru-RU" sz="1600" dirty="0" err="1">
                <a:latin typeface="+mn-lt"/>
                <a:cs typeface="+mn-cs"/>
              </a:rPr>
              <a:t>Инмона</a:t>
            </a:r>
            <a:r>
              <a:rPr lang="ru-RU" sz="1600" dirty="0">
                <a:latin typeface="+mn-lt"/>
                <a:cs typeface="+mn-cs"/>
              </a:rPr>
              <a:t>), но информация структурирована по-другому, чтобы облегчить ее использование и выполнение запросов. </a:t>
            </a:r>
          </a:p>
          <a:p>
            <a:pPr marL="342900" indent="-342900">
              <a:lnSpc>
                <a:spcPct val="120000"/>
              </a:lnSpc>
              <a:spcBef>
                <a:spcPct val="20000"/>
              </a:spcBef>
              <a:buClr>
                <a:schemeClr val="bg2"/>
              </a:buClr>
              <a:buSzPct val="75000"/>
              <a:buFont typeface="Wingdings" pitchFamily="2" charset="2"/>
              <a:buChar char="n"/>
            </a:pPr>
            <a:r>
              <a:rPr lang="ru-RU" sz="1600" dirty="0">
                <a:latin typeface="+mn-lt"/>
                <a:cs typeface="+mn-cs"/>
              </a:rPr>
              <a:t>Эта модель включает как атомарные данные, так и обобщающую информацию (агрегаты в связанных таблицах или многомерных кубах) в соответствии с требованиями производительности или пространственного распределения данных. </a:t>
            </a:r>
          </a:p>
          <a:p>
            <a:pPr marL="342900" indent="-342900">
              <a:lnSpc>
                <a:spcPct val="120000"/>
              </a:lnSpc>
              <a:spcBef>
                <a:spcPct val="20000"/>
              </a:spcBef>
              <a:buClr>
                <a:schemeClr val="bg2"/>
              </a:buClr>
              <a:buSzPct val="75000"/>
              <a:buFont typeface="Wingdings" pitchFamily="2" charset="2"/>
              <a:buChar char="n"/>
            </a:pPr>
            <a:r>
              <a:rPr lang="ru-RU" sz="1600" dirty="0">
                <a:latin typeface="+mn-lt"/>
                <a:cs typeface="+mn-cs"/>
              </a:rPr>
              <a:t>Запросы в процессе выполнения обращаются к все более низкому уровню детализации без дополнительного перепрограммирования со стороны пользователей или разработчиков приложения.</a:t>
            </a:r>
          </a:p>
          <a:p>
            <a:pPr algn="l">
              <a:lnSpc>
                <a:spcPct val="120000"/>
              </a:lnSpc>
            </a:pPr>
            <a:endParaRPr lang="ru-RU" sz="1600" b="0" i="0" u="none" strike="noStrike" baseline="0" dirty="0">
              <a:latin typeface="+mn-lt"/>
            </a:endParaRPr>
          </a:p>
          <a:p>
            <a:pPr algn="l">
              <a:lnSpc>
                <a:spcPct val="120000"/>
              </a:lnSpc>
            </a:pPr>
            <a:endParaRPr lang="ru-RU" sz="1600" dirty="0">
              <a:latin typeface="+mn-lt"/>
              <a:cs typeface="+mn-cs"/>
            </a:endParaRPr>
          </a:p>
        </p:txBody>
      </p:sp>
      <p:sp>
        <p:nvSpPr>
          <p:cNvPr id="4" name="Заголовок 3">
            <a:extLst>
              <a:ext uri="{FF2B5EF4-FFF2-40B4-BE49-F238E27FC236}">
                <a16:creationId xmlns:a16="http://schemas.microsoft.com/office/drawing/2014/main" id="{8A884A9D-AE16-1FB6-F1D6-D75D546583D3}"/>
              </a:ext>
            </a:extLst>
          </p:cNvPr>
          <p:cNvSpPr>
            <a:spLocks noGrp="1"/>
          </p:cNvSpPr>
          <p:nvPr>
            <p:ph type="title"/>
          </p:nvPr>
        </p:nvSpPr>
        <p:spPr>
          <a:xfrm>
            <a:off x="0" y="318609"/>
            <a:ext cx="8991600" cy="666623"/>
          </a:xfrm>
        </p:spPr>
        <p:txBody>
          <a:bodyPr/>
          <a:lstStyle/>
          <a:p>
            <a:pPr algn="ctr"/>
            <a:r>
              <a:rPr lang="ru-RU" sz="2800" kern="0" dirty="0">
                <a:solidFill>
                  <a:schemeClr val="bg2"/>
                </a:solidFill>
                <a:latin typeface="+mn-lt"/>
              </a:rPr>
              <a:t>Хранилище данных </a:t>
            </a:r>
            <a:r>
              <a:rPr lang="en-US" sz="2800" kern="0" dirty="0">
                <a:solidFill>
                  <a:schemeClr val="bg2"/>
                </a:solidFill>
                <a:latin typeface="+mn-lt"/>
              </a:rPr>
              <a:t>c</a:t>
            </a:r>
            <a:r>
              <a:rPr lang="ru-RU" sz="2800" kern="0" dirty="0">
                <a:solidFill>
                  <a:schemeClr val="bg2"/>
                </a:solidFill>
                <a:latin typeface="+mn-lt"/>
              </a:rPr>
              <a:t> шинной топологией (</a:t>
            </a:r>
            <a:r>
              <a:rPr lang="en-US" sz="2400" b="1" i="0" dirty="0">
                <a:solidFill>
                  <a:schemeClr val="bg2"/>
                </a:solidFill>
                <a:effectLst/>
                <a:highlight>
                  <a:srgbClr val="FFFFFF"/>
                </a:highlight>
                <a:latin typeface="+mn-lt"/>
              </a:rPr>
              <a:t>Ralph</a:t>
            </a:r>
            <a:r>
              <a:rPr lang="en-US" sz="2400" b="0" i="0" dirty="0">
                <a:solidFill>
                  <a:schemeClr val="bg2"/>
                </a:solidFill>
                <a:effectLst/>
                <a:highlight>
                  <a:srgbClr val="FFFFFF"/>
                </a:highlight>
                <a:latin typeface="+mn-lt"/>
              </a:rPr>
              <a:t> </a:t>
            </a:r>
            <a:r>
              <a:rPr lang="en-US" sz="2400" b="1" i="0" dirty="0">
                <a:solidFill>
                  <a:schemeClr val="bg2"/>
                </a:solidFill>
                <a:effectLst/>
                <a:highlight>
                  <a:srgbClr val="FFFFFF"/>
                </a:highlight>
                <a:latin typeface="+mn-lt"/>
              </a:rPr>
              <a:t>Kimball</a:t>
            </a:r>
            <a:r>
              <a:rPr lang="ru-RU" sz="2800" kern="0" dirty="0">
                <a:solidFill>
                  <a:schemeClr val="bg2"/>
                </a:solidFill>
                <a:latin typeface="+mn-lt"/>
              </a:rPr>
              <a:t>)</a:t>
            </a:r>
            <a:endParaRPr lang="ru-RU" sz="2800" dirty="0"/>
          </a:p>
        </p:txBody>
      </p:sp>
    </p:spTree>
    <p:extLst>
      <p:ext uri="{BB962C8B-B14F-4D97-AF65-F5344CB8AC3E}">
        <p14:creationId xmlns:p14="http://schemas.microsoft.com/office/powerpoint/2010/main" val="1849161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up)">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up)">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wipe(up)">
                                      <p:cBhvr>
                                        <p:cTn id="37"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0" y="444499"/>
            <a:ext cx="9144000" cy="689245"/>
          </a:xfrm>
        </p:spPr>
        <p:txBody>
          <a:bodyPr/>
          <a:lstStyle/>
          <a:p>
            <a:pPr algn="ctr"/>
            <a:r>
              <a:rPr lang="ru-RU" sz="2400" b="1" i="0" u="none" strike="noStrike" baseline="0" dirty="0">
                <a:solidFill>
                  <a:schemeClr val="bg2"/>
                </a:solidFill>
                <a:latin typeface="+mn-lt"/>
              </a:rPr>
              <a:t>Характерные свойства подхода </a:t>
            </a:r>
            <a:r>
              <a:rPr lang="ru-RU" sz="2400" b="1" i="0" u="none" strike="noStrike" baseline="0" dirty="0" err="1">
                <a:solidFill>
                  <a:schemeClr val="bg2"/>
                </a:solidFill>
                <a:latin typeface="+mn-lt"/>
              </a:rPr>
              <a:t>Кимболла</a:t>
            </a:r>
            <a:endParaRPr lang="ru-RU" sz="2400" dirty="0">
              <a:solidFill>
                <a:schemeClr val="bg2"/>
              </a:solidFill>
              <a:latin typeface="+mn-lt"/>
            </a:endParaRPr>
          </a:p>
        </p:txBody>
      </p:sp>
      <p:sp>
        <p:nvSpPr>
          <p:cNvPr id="43011" name="Rectangle 3"/>
          <p:cNvSpPr>
            <a:spLocks noGrp="1" noChangeArrowheads="1"/>
          </p:cNvSpPr>
          <p:nvPr>
            <p:ph type="body" idx="1"/>
          </p:nvPr>
        </p:nvSpPr>
        <p:spPr>
          <a:xfrm>
            <a:off x="0" y="1427864"/>
            <a:ext cx="8991600" cy="4896735"/>
          </a:xfrm>
        </p:spPr>
        <p:txBody>
          <a:bodyPr>
            <a:normAutofit/>
          </a:bodyPr>
          <a:lstStyle/>
          <a:p>
            <a:pPr marL="0" indent="0">
              <a:buNone/>
            </a:pPr>
            <a:endParaRPr lang="ru-RU" dirty="0"/>
          </a:p>
          <a:p>
            <a:endParaRPr lang="ru-RU" dirty="0"/>
          </a:p>
          <a:p>
            <a:endParaRPr lang="ru-RU" dirty="0"/>
          </a:p>
          <a:p>
            <a:pPr marL="0" indent="0">
              <a:buNone/>
            </a:pPr>
            <a:endParaRPr lang="ru-RU" dirty="0"/>
          </a:p>
        </p:txBody>
      </p:sp>
      <p:sp>
        <p:nvSpPr>
          <p:cNvPr id="6" name="Номер слайда 5"/>
          <p:cNvSpPr>
            <a:spLocks noGrp="1"/>
          </p:cNvSpPr>
          <p:nvPr>
            <p:ph type="sldNum" sz="quarter" idx="11"/>
          </p:nvPr>
        </p:nvSpPr>
        <p:spPr>
          <a:xfrm>
            <a:off x="7994650" y="6248400"/>
            <a:ext cx="692150" cy="381000"/>
          </a:xfrm>
        </p:spPr>
        <p:txBody>
          <a:bodyPr/>
          <a:lstStyle/>
          <a:p>
            <a:fld id="{4DC7491D-CDB9-48BE-BADB-11210BC61B1D}" type="slidenum">
              <a:rPr lang="ru-RU" smtClean="0"/>
              <a:pPr/>
              <a:t>34</a:t>
            </a:fld>
            <a:endParaRPr lang="ru-RU" dirty="0"/>
          </a:p>
        </p:txBody>
      </p:sp>
      <p:sp>
        <p:nvSpPr>
          <p:cNvPr id="2" name="TextBox 1">
            <a:extLst>
              <a:ext uri="{FF2B5EF4-FFF2-40B4-BE49-F238E27FC236}">
                <a16:creationId xmlns:a16="http://schemas.microsoft.com/office/drawing/2014/main" id="{A3739D13-40A3-2F1B-9D62-D6F4ABD6F155}"/>
              </a:ext>
            </a:extLst>
          </p:cNvPr>
          <p:cNvSpPr txBox="1"/>
          <p:nvPr/>
        </p:nvSpPr>
        <p:spPr>
          <a:xfrm>
            <a:off x="285750" y="1123062"/>
            <a:ext cx="8572500" cy="5506338"/>
          </a:xfrm>
          <a:prstGeom prst="rect">
            <a:avLst/>
          </a:prstGeom>
          <a:noFill/>
        </p:spPr>
        <p:txBody>
          <a:bodyPr wrap="square" rtlCol="0">
            <a:normAutofit lnSpcReduction="10000"/>
          </a:bodyPr>
          <a:lstStyle/>
          <a:p>
            <a:pPr algn="l"/>
            <a:endParaRPr lang="ru-RU" sz="2000" b="0" i="0" u="none" strike="noStrike" baseline="0" dirty="0">
              <a:latin typeface="+mn-lt"/>
            </a:endParaRPr>
          </a:p>
          <a:p>
            <a:pPr marL="342900" indent="-342900">
              <a:spcBef>
                <a:spcPct val="20000"/>
              </a:spcBef>
              <a:buClr>
                <a:schemeClr val="bg2"/>
              </a:buClr>
              <a:buSzPct val="75000"/>
              <a:buFont typeface="Wingdings" pitchFamily="2" charset="2"/>
              <a:buChar char="n"/>
            </a:pPr>
            <a:r>
              <a:rPr lang="ru-RU" sz="2000" dirty="0">
                <a:latin typeface="+mn-lt"/>
                <a:cs typeface="+mn-cs"/>
              </a:rPr>
              <a:t>В отличие от подхода Билла </a:t>
            </a:r>
            <a:r>
              <a:rPr lang="ru-RU" sz="2000" dirty="0" err="1">
                <a:latin typeface="+mn-lt"/>
                <a:cs typeface="+mn-cs"/>
              </a:rPr>
              <a:t>Инмона</a:t>
            </a:r>
            <a:r>
              <a:rPr lang="ru-RU" sz="2000" dirty="0">
                <a:latin typeface="+mn-lt"/>
                <a:cs typeface="+mn-cs"/>
              </a:rPr>
              <a:t>, пространственные модели строятся для обслуживания </a:t>
            </a:r>
            <a:r>
              <a:rPr lang="ru-RU" sz="2000" b="1" dirty="0">
                <a:latin typeface="+mn-lt"/>
                <a:cs typeface="+mn-cs"/>
              </a:rPr>
              <a:t>бизнес-процессов</a:t>
            </a:r>
            <a:r>
              <a:rPr lang="ru-RU" sz="2000" dirty="0">
                <a:latin typeface="+mn-lt"/>
                <a:cs typeface="+mn-cs"/>
              </a:rPr>
              <a:t> (которые, в свою очередь, связаны с бизнес-показателями или бизнес-событиями), а </a:t>
            </a:r>
            <a:r>
              <a:rPr lang="ru-RU" sz="2000" b="1" dirty="0">
                <a:latin typeface="+mn-lt"/>
                <a:cs typeface="+mn-cs"/>
              </a:rPr>
              <a:t>не бизнес-отделов</a:t>
            </a:r>
            <a:r>
              <a:rPr lang="ru-RU" sz="2000" dirty="0">
                <a:latin typeface="+mn-lt"/>
                <a:cs typeface="+mn-cs"/>
              </a:rPr>
              <a:t>. </a:t>
            </a:r>
          </a:p>
          <a:p>
            <a:pPr marL="342900" indent="-342900">
              <a:spcBef>
                <a:spcPct val="20000"/>
              </a:spcBef>
              <a:buClr>
                <a:schemeClr val="bg2"/>
              </a:buClr>
              <a:buSzPct val="75000"/>
              <a:buFont typeface="Wingdings" pitchFamily="2" charset="2"/>
              <a:buChar char="n"/>
            </a:pPr>
            <a:r>
              <a:rPr lang="ru-RU" sz="2000" dirty="0">
                <a:latin typeface="+mn-lt"/>
                <a:cs typeface="+mn-cs"/>
              </a:rPr>
              <a:t>Например, данные о заказах, которые должны быть доступны для общекорпоративного использования, вносятся в пространственное Хранилище данных только один раз, в отличие от CIF-подхода, в котором их пришлось бы трижды копировать в витрины данных отделов маркетинга, продаж и финансов. </a:t>
            </a:r>
          </a:p>
          <a:p>
            <a:pPr marL="342900" indent="-342900">
              <a:spcBef>
                <a:spcPct val="20000"/>
              </a:spcBef>
              <a:buClr>
                <a:schemeClr val="bg2"/>
              </a:buClr>
              <a:buSzPct val="75000"/>
              <a:buFont typeface="Wingdings" pitchFamily="2" charset="2"/>
              <a:buChar char="n"/>
            </a:pPr>
            <a:r>
              <a:rPr lang="ru-RU" sz="2000" dirty="0">
                <a:latin typeface="+mn-lt"/>
                <a:cs typeface="+mn-cs"/>
              </a:rPr>
              <a:t>После того, как в Хранилище появляется информация об основных бизнес-процессах, консолидированные пространственные модели могут выдавать их перекрестные характеристики.</a:t>
            </a:r>
          </a:p>
          <a:p>
            <a:pPr marL="342900" indent="-342900">
              <a:spcBef>
                <a:spcPct val="20000"/>
              </a:spcBef>
              <a:buClr>
                <a:schemeClr val="bg2"/>
              </a:buClr>
              <a:buSzPct val="75000"/>
              <a:buFont typeface="Wingdings" pitchFamily="2" charset="2"/>
              <a:buChar char="n"/>
            </a:pPr>
            <a:r>
              <a:rPr lang="ru-RU" sz="2000" dirty="0">
                <a:latin typeface="+mn-lt"/>
                <a:cs typeface="+mn-cs"/>
              </a:rPr>
              <a:t> </a:t>
            </a:r>
            <a:r>
              <a:rPr lang="ru-RU" sz="2000" b="1" dirty="0">
                <a:latin typeface="+mn-lt"/>
                <a:cs typeface="+mn-cs"/>
              </a:rPr>
              <a:t>Матрица корпоративного Хранилища данных с архитектурой шины выявляет и усиливает связи между показателями бизнес-процессов</a:t>
            </a:r>
            <a:r>
              <a:rPr lang="ru-RU" sz="2000" dirty="0">
                <a:latin typeface="+mn-lt"/>
                <a:cs typeface="+mn-cs"/>
              </a:rPr>
              <a:t> (фактами) и описательными атрибутами (измерениями).</a:t>
            </a:r>
          </a:p>
        </p:txBody>
      </p:sp>
    </p:spTree>
    <p:extLst>
      <p:ext uri="{BB962C8B-B14F-4D97-AF65-F5344CB8AC3E}">
        <p14:creationId xmlns:p14="http://schemas.microsoft.com/office/powerpoint/2010/main" val="27098850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52400" y="139700"/>
            <a:ext cx="8763000" cy="609600"/>
          </a:xfrm>
        </p:spPr>
        <p:txBody>
          <a:bodyPr/>
          <a:lstStyle/>
          <a:p>
            <a:pPr algn="ctr"/>
            <a:r>
              <a:rPr lang="ru-RU" sz="1800" b="1" i="0" u="none" strike="noStrike" baseline="0" dirty="0">
                <a:latin typeface="TimesNewRoman,Bold"/>
              </a:rPr>
              <a:t>Хранилище Данных С Шинной Топологией (Data </a:t>
            </a:r>
            <a:r>
              <a:rPr lang="ru-RU" sz="1800" b="1" i="0" u="none" strike="noStrike" baseline="0" dirty="0" err="1">
                <a:latin typeface="TimesNewRoman,Bold"/>
              </a:rPr>
              <a:t>Warehouse</a:t>
            </a:r>
            <a:r>
              <a:rPr lang="ru-RU" sz="1800" b="1" i="0" u="none" strike="noStrike" baseline="0" dirty="0">
                <a:latin typeface="TimesNewRoman,Bold"/>
              </a:rPr>
              <a:t> </a:t>
            </a:r>
            <a:r>
              <a:rPr lang="ru-RU" sz="1800" b="1" i="0" u="none" strike="noStrike" baseline="0" dirty="0" err="1">
                <a:latin typeface="TimesNewRoman,Bold"/>
              </a:rPr>
              <a:t>Bus</a:t>
            </a:r>
            <a:r>
              <a:rPr lang="ru-RU" sz="1800" b="1" i="0" u="none" strike="noStrike" baseline="0" dirty="0">
                <a:latin typeface="TimesNewRoman,Bold"/>
              </a:rPr>
              <a:t>)</a:t>
            </a:r>
            <a:endParaRPr lang="ru-RU" sz="2800" dirty="0">
              <a:solidFill>
                <a:schemeClr val="bg2"/>
              </a:solidFill>
              <a:latin typeface="+mn-lt"/>
            </a:endParaRPr>
          </a:p>
        </p:txBody>
      </p:sp>
      <p:sp>
        <p:nvSpPr>
          <p:cNvPr id="43011" name="Rectangle 3"/>
          <p:cNvSpPr>
            <a:spLocks noGrp="1" noChangeArrowheads="1"/>
          </p:cNvSpPr>
          <p:nvPr>
            <p:ph type="body" idx="1"/>
          </p:nvPr>
        </p:nvSpPr>
        <p:spPr>
          <a:xfrm>
            <a:off x="0" y="749300"/>
            <a:ext cx="8991600" cy="5575300"/>
          </a:xfrm>
        </p:spPr>
        <p:txBody>
          <a:bodyPr>
            <a:normAutofit/>
          </a:bodyPr>
          <a:lstStyle/>
          <a:p>
            <a:endParaRPr lang="ru-RU" dirty="0"/>
          </a:p>
          <a:p>
            <a:endParaRPr lang="ru-RU" dirty="0"/>
          </a:p>
          <a:p>
            <a:endParaRPr lang="ru-RU" dirty="0"/>
          </a:p>
          <a:p>
            <a:pPr marL="0" indent="0">
              <a:buNone/>
            </a:pPr>
            <a:endParaRPr lang="ru-RU" dirty="0"/>
          </a:p>
        </p:txBody>
      </p:sp>
      <p:sp>
        <p:nvSpPr>
          <p:cNvPr id="6" name="Номер слайда 5"/>
          <p:cNvSpPr>
            <a:spLocks noGrp="1"/>
          </p:cNvSpPr>
          <p:nvPr>
            <p:ph type="sldNum" sz="quarter" idx="11"/>
          </p:nvPr>
        </p:nvSpPr>
        <p:spPr>
          <a:xfrm>
            <a:off x="7994650" y="6248400"/>
            <a:ext cx="692150" cy="381000"/>
          </a:xfrm>
        </p:spPr>
        <p:txBody>
          <a:bodyPr/>
          <a:lstStyle/>
          <a:p>
            <a:fld id="{4DC7491D-CDB9-48BE-BADB-11210BC61B1D}" type="slidenum">
              <a:rPr lang="ru-RU" smtClean="0"/>
              <a:pPr/>
              <a:t>35</a:t>
            </a:fld>
            <a:endParaRPr lang="ru-RU" dirty="0"/>
          </a:p>
        </p:txBody>
      </p:sp>
      <p:sp>
        <p:nvSpPr>
          <p:cNvPr id="2" name="TextBox 1">
            <a:extLst>
              <a:ext uri="{FF2B5EF4-FFF2-40B4-BE49-F238E27FC236}">
                <a16:creationId xmlns:a16="http://schemas.microsoft.com/office/drawing/2014/main" id="{A3739D13-40A3-2F1B-9D62-D6F4ABD6F155}"/>
              </a:ext>
            </a:extLst>
          </p:cNvPr>
          <p:cNvSpPr txBox="1"/>
          <p:nvPr/>
        </p:nvSpPr>
        <p:spPr>
          <a:xfrm>
            <a:off x="228600" y="533400"/>
            <a:ext cx="8763000" cy="5575300"/>
          </a:xfrm>
          <a:prstGeom prst="rect">
            <a:avLst/>
          </a:prstGeom>
          <a:noFill/>
        </p:spPr>
        <p:txBody>
          <a:bodyPr wrap="square" rtlCol="0">
            <a:normAutofit/>
          </a:bodyPr>
          <a:lstStyle/>
          <a:p>
            <a:pPr algn="l"/>
            <a:endParaRPr lang="ru-RU" sz="1800" b="0" i="0" u="none" strike="noStrike" baseline="0" dirty="0">
              <a:latin typeface="TimesNewRoman"/>
            </a:endParaRPr>
          </a:p>
        </p:txBody>
      </p:sp>
      <p:pic>
        <p:nvPicPr>
          <p:cNvPr id="4" name="Рисунок 3">
            <a:extLst>
              <a:ext uri="{FF2B5EF4-FFF2-40B4-BE49-F238E27FC236}">
                <a16:creationId xmlns:a16="http://schemas.microsoft.com/office/drawing/2014/main" id="{209D80A4-50ED-2B61-EFEF-2E56D09AE5A2}"/>
              </a:ext>
            </a:extLst>
          </p:cNvPr>
          <p:cNvPicPr>
            <a:picLocks noChangeAspect="1"/>
          </p:cNvPicPr>
          <p:nvPr/>
        </p:nvPicPr>
        <p:blipFill>
          <a:blip r:embed="rId3"/>
          <a:stretch>
            <a:fillRect/>
          </a:stretch>
        </p:blipFill>
        <p:spPr>
          <a:xfrm>
            <a:off x="806553" y="889000"/>
            <a:ext cx="7607093" cy="4292077"/>
          </a:xfrm>
          <a:prstGeom prst="rect">
            <a:avLst/>
          </a:prstGeom>
        </p:spPr>
      </p:pic>
    </p:spTree>
    <p:extLst>
      <p:ext uri="{BB962C8B-B14F-4D97-AF65-F5344CB8AC3E}">
        <p14:creationId xmlns:p14="http://schemas.microsoft.com/office/powerpoint/2010/main" val="25268419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52400" y="139700"/>
            <a:ext cx="8763000" cy="609600"/>
          </a:xfrm>
        </p:spPr>
        <p:txBody>
          <a:bodyPr/>
          <a:lstStyle/>
          <a:p>
            <a:pPr algn="ctr"/>
            <a:r>
              <a:rPr lang="ru-RU" sz="2800" dirty="0">
                <a:solidFill>
                  <a:schemeClr val="bg2"/>
                </a:solidFill>
              </a:rPr>
              <a:t>типичные черты подхода Ральфа </a:t>
            </a:r>
            <a:r>
              <a:rPr lang="ru-RU" sz="2800" dirty="0" err="1">
                <a:solidFill>
                  <a:schemeClr val="bg2"/>
                </a:solidFill>
              </a:rPr>
              <a:t>Кимболла</a:t>
            </a:r>
            <a:endParaRPr lang="ru-RU" sz="2800" dirty="0">
              <a:solidFill>
                <a:schemeClr val="bg2"/>
              </a:solidFill>
              <a:latin typeface="+mn-lt"/>
            </a:endParaRPr>
          </a:p>
        </p:txBody>
      </p:sp>
      <p:sp>
        <p:nvSpPr>
          <p:cNvPr id="43011" name="Rectangle 3"/>
          <p:cNvSpPr>
            <a:spLocks noGrp="1" noChangeArrowheads="1"/>
          </p:cNvSpPr>
          <p:nvPr>
            <p:ph type="body" idx="1"/>
          </p:nvPr>
        </p:nvSpPr>
        <p:spPr>
          <a:xfrm>
            <a:off x="0" y="749300"/>
            <a:ext cx="8991600" cy="5575300"/>
          </a:xfrm>
        </p:spPr>
        <p:txBody>
          <a:bodyPr>
            <a:normAutofit/>
          </a:bodyPr>
          <a:lstStyle/>
          <a:p>
            <a:endParaRPr lang="ru-RU" dirty="0"/>
          </a:p>
          <a:p>
            <a:endParaRPr lang="ru-RU" dirty="0"/>
          </a:p>
          <a:p>
            <a:endParaRPr lang="ru-RU" dirty="0"/>
          </a:p>
          <a:p>
            <a:pPr marL="0" indent="0">
              <a:buNone/>
            </a:pPr>
            <a:endParaRPr lang="ru-RU" dirty="0"/>
          </a:p>
        </p:txBody>
      </p:sp>
      <p:sp>
        <p:nvSpPr>
          <p:cNvPr id="6" name="Номер слайда 5"/>
          <p:cNvSpPr>
            <a:spLocks noGrp="1"/>
          </p:cNvSpPr>
          <p:nvPr>
            <p:ph type="sldNum" sz="quarter" idx="11"/>
          </p:nvPr>
        </p:nvSpPr>
        <p:spPr>
          <a:xfrm>
            <a:off x="7994650" y="6248400"/>
            <a:ext cx="692150" cy="381000"/>
          </a:xfrm>
        </p:spPr>
        <p:txBody>
          <a:bodyPr/>
          <a:lstStyle/>
          <a:p>
            <a:fld id="{4DC7491D-CDB9-48BE-BADB-11210BC61B1D}" type="slidenum">
              <a:rPr lang="ru-RU" smtClean="0"/>
              <a:pPr/>
              <a:t>36</a:t>
            </a:fld>
            <a:endParaRPr lang="ru-RU" dirty="0"/>
          </a:p>
        </p:txBody>
      </p:sp>
      <p:sp>
        <p:nvSpPr>
          <p:cNvPr id="2" name="TextBox 1">
            <a:extLst>
              <a:ext uri="{FF2B5EF4-FFF2-40B4-BE49-F238E27FC236}">
                <a16:creationId xmlns:a16="http://schemas.microsoft.com/office/drawing/2014/main" id="{A3739D13-40A3-2F1B-9D62-D6F4ABD6F155}"/>
              </a:ext>
            </a:extLst>
          </p:cNvPr>
          <p:cNvSpPr txBox="1"/>
          <p:nvPr/>
        </p:nvSpPr>
        <p:spPr>
          <a:xfrm>
            <a:off x="457200" y="846330"/>
            <a:ext cx="8534400" cy="5575300"/>
          </a:xfrm>
          <a:prstGeom prst="rect">
            <a:avLst/>
          </a:prstGeom>
          <a:noFill/>
        </p:spPr>
        <p:txBody>
          <a:bodyPr wrap="square" rtlCol="0">
            <a:normAutofit/>
          </a:bodyPr>
          <a:lstStyle/>
          <a:p>
            <a:pPr algn="l">
              <a:lnSpc>
                <a:spcPct val="120000"/>
              </a:lnSpc>
            </a:pPr>
            <a:r>
              <a:rPr lang="ru-RU" sz="1600" b="0" i="0" u="none" strike="noStrike" baseline="0" dirty="0">
                <a:latin typeface="+mn-lt"/>
              </a:rPr>
              <a:t>Суммируя все вышесказанное, можно отметить типичные черты подхода Ральфа </a:t>
            </a:r>
            <a:r>
              <a:rPr lang="ru-RU" sz="1600" b="0" i="0" u="none" strike="noStrike" baseline="0" dirty="0" err="1">
                <a:latin typeface="+mn-lt"/>
              </a:rPr>
              <a:t>Кимболла</a:t>
            </a:r>
            <a:r>
              <a:rPr lang="ru-RU" sz="1600" b="0" i="0" u="none" strike="noStrike" baseline="0" dirty="0">
                <a:latin typeface="+mn-lt"/>
              </a:rPr>
              <a:t>.</a:t>
            </a:r>
          </a:p>
          <a:p>
            <a:pPr marL="285750" indent="-285750" algn="l">
              <a:lnSpc>
                <a:spcPct val="120000"/>
              </a:lnSpc>
              <a:buSzPct val="120000"/>
              <a:buFont typeface="Wingdings" panose="05000000000000000000" pitchFamily="2" charset="2"/>
              <a:buChar char="§"/>
            </a:pPr>
            <a:r>
              <a:rPr lang="ru-RU" sz="1600" b="0" i="0" u="none" strike="noStrike" baseline="0" dirty="0">
                <a:latin typeface="+mn-lt"/>
              </a:rPr>
              <a:t>Использование пространственной модели организации данных с архитектурой "звезда" (</a:t>
            </a:r>
            <a:r>
              <a:rPr lang="ru-RU" sz="1600" b="0" i="0" u="none" strike="noStrike" baseline="0" dirty="0" err="1">
                <a:latin typeface="+mn-lt"/>
              </a:rPr>
              <a:t>star</a:t>
            </a:r>
            <a:r>
              <a:rPr lang="en-US" sz="1600" b="0" i="0" u="none" strike="noStrike" baseline="0" dirty="0">
                <a:latin typeface="+mn-lt"/>
              </a:rPr>
              <a:t> scheme).</a:t>
            </a:r>
          </a:p>
          <a:p>
            <a:pPr marL="285750" indent="-285750" algn="l">
              <a:lnSpc>
                <a:spcPct val="120000"/>
              </a:lnSpc>
              <a:buSzPct val="120000"/>
              <a:buFont typeface="Wingdings" panose="05000000000000000000" pitchFamily="2" charset="2"/>
              <a:buChar char="§"/>
            </a:pPr>
            <a:r>
              <a:rPr lang="ru-RU" sz="1600" b="0" i="0" u="none" strike="noStrike" baseline="0" dirty="0">
                <a:latin typeface="+mn-lt"/>
              </a:rPr>
              <a:t>Использование двухуровневой архитектуры, которая включает </a:t>
            </a:r>
          </a:p>
          <a:p>
            <a:pPr marL="742950" lvl="1" indent="-285750">
              <a:lnSpc>
                <a:spcPct val="120000"/>
              </a:lnSpc>
              <a:buSzPct val="120000"/>
              <a:buFont typeface="Wingdings" panose="05000000000000000000" pitchFamily="2" charset="2"/>
              <a:buChar char="§"/>
            </a:pPr>
            <a:r>
              <a:rPr lang="ru-RU" sz="1600" b="0" i="0" u="none" strike="noStrike" baseline="0" dirty="0">
                <a:latin typeface="+mn-lt"/>
              </a:rPr>
              <a:t>стадию подготовки данных, недоступную для конечных пользователей, и </a:t>
            </a:r>
          </a:p>
          <a:p>
            <a:pPr marL="742950" lvl="1" indent="-285750">
              <a:lnSpc>
                <a:spcPct val="120000"/>
              </a:lnSpc>
              <a:buSzPct val="120000"/>
              <a:buFont typeface="Wingdings" panose="05000000000000000000" pitchFamily="2" charset="2"/>
              <a:buChar char="§"/>
            </a:pPr>
            <a:r>
              <a:rPr lang="ru-RU" sz="1600" b="0" i="0" u="none" strike="noStrike" baseline="0" dirty="0">
                <a:latin typeface="+mn-lt"/>
              </a:rPr>
              <a:t>Хранилище данных с архитектурой шины как таковое.</a:t>
            </a:r>
          </a:p>
          <a:p>
            <a:pPr marL="285750" indent="-285750" algn="l">
              <a:lnSpc>
                <a:spcPct val="120000"/>
              </a:lnSpc>
              <a:buSzPct val="120000"/>
              <a:buFont typeface="Wingdings" panose="05000000000000000000" pitchFamily="2" charset="2"/>
              <a:buChar char="§"/>
            </a:pPr>
            <a:r>
              <a:rPr lang="ru-RU" sz="1600" b="0" i="0" u="none" strike="noStrike" baseline="0" dirty="0">
                <a:latin typeface="+mn-lt"/>
              </a:rPr>
              <a:t>В состав последнего входят несколько витрин атомарных данных, несколько витрин агрегированных</a:t>
            </a:r>
            <a:r>
              <a:rPr lang="en-US" sz="1600" b="0" i="0" u="none" strike="noStrike" baseline="0" dirty="0">
                <a:latin typeface="+mn-lt"/>
              </a:rPr>
              <a:t> </a:t>
            </a:r>
            <a:r>
              <a:rPr lang="ru-RU" sz="1600" b="0" i="0" u="none" strike="noStrike" baseline="0" dirty="0">
                <a:latin typeface="+mn-lt"/>
              </a:rPr>
              <a:t>данных и персональная витрина данных.</a:t>
            </a:r>
          </a:p>
          <a:p>
            <a:pPr marL="285750" indent="-285750" algn="l">
              <a:lnSpc>
                <a:spcPct val="120000"/>
              </a:lnSpc>
              <a:buSzPct val="120000"/>
              <a:buFont typeface="Wingdings" panose="05000000000000000000" pitchFamily="2" charset="2"/>
              <a:buChar char="§"/>
            </a:pPr>
            <a:r>
              <a:rPr lang="ru-RU" sz="1600" b="0" i="0" u="none" strike="noStrike" baseline="0" dirty="0">
                <a:latin typeface="+mn-lt"/>
              </a:rPr>
              <a:t>Хранилище данных с архитектурой шины обладает следующими характеристиками:</a:t>
            </a:r>
          </a:p>
          <a:p>
            <a:pPr lvl="1">
              <a:lnSpc>
                <a:spcPct val="120000"/>
              </a:lnSpc>
              <a:buSzPct val="120000"/>
            </a:pPr>
            <a:r>
              <a:rPr lang="ru-RU" sz="1600" b="0" i="0" u="none" strike="noStrike" baseline="0" dirty="0">
                <a:latin typeface="+mn-lt"/>
              </a:rPr>
              <a:t>‒ оно пространственное;</a:t>
            </a:r>
          </a:p>
          <a:p>
            <a:pPr lvl="1">
              <a:lnSpc>
                <a:spcPct val="120000"/>
              </a:lnSpc>
              <a:buSzPct val="120000"/>
            </a:pPr>
            <a:r>
              <a:rPr lang="ru-RU" sz="1600" b="0" i="0" u="none" strike="noStrike" baseline="0" dirty="0">
                <a:latin typeface="+mn-lt"/>
              </a:rPr>
              <a:t>‒ оно включает как данные о транзакциях, так и суммарные данные;</a:t>
            </a:r>
            <a:endParaRPr lang="ru-RU" sz="1600" dirty="0">
              <a:latin typeface="+mn-lt"/>
            </a:endParaRPr>
          </a:p>
          <a:p>
            <a:pPr lvl="1">
              <a:lnSpc>
                <a:spcPct val="120000"/>
              </a:lnSpc>
              <a:buSzPct val="120000"/>
            </a:pPr>
            <a:r>
              <a:rPr lang="ru-RU" sz="1600" b="0" i="0" u="none" strike="noStrike" baseline="0" dirty="0">
                <a:latin typeface="+mn-lt"/>
              </a:rPr>
              <a:t>‒ оно включает витрины данных, посвященные только одной предметной области или имеющие только одну таблицу фактов (</a:t>
            </a:r>
            <a:r>
              <a:rPr lang="ru-RU" sz="1600" b="0" i="0" u="none" strike="noStrike" baseline="0" dirty="0" err="1">
                <a:latin typeface="+mn-lt"/>
              </a:rPr>
              <a:t>fact</a:t>
            </a:r>
            <a:r>
              <a:rPr lang="ru-RU" sz="1600" b="0" i="0" u="none" strike="noStrike" baseline="0" dirty="0">
                <a:latin typeface="+mn-lt"/>
              </a:rPr>
              <a:t> </a:t>
            </a:r>
            <a:r>
              <a:rPr lang="ru-RU" sz="1600" b="0" i="0" u="none" strike="noStrike" baseline="0" dirty="0" err="1">
                <a:latin typeface="+mn-lt"/>
              </a:rPr>
              <a:t>table</a:t>
            </a:r>
            <a:r>
              <a:rPr lang="ru-RU" sz="1600" b="0" i="0" u="none" strike="noStrike" baseline="0" dirty="0">
                <a:latin typeface="+mn-lt"/>
              </a:rPr>
              <a:t>);</a:t>
            </a:r>
          </a:p>
          <a:p>
            <a:pPr lvl="1">
              <a:lnSpc>
                <a:spcPct val="120000"/>
              </a:lnSpc>
              <a:buSzPct val="120000"/>
            </a:pPr>
            <a:r>
              <a:rPr lang="ru-RU" sz="1600" b="0" i="0" u="none" strike="noStrike" baseline="0" dirty="0">
                <a:latin typeface="+mn-lt"/>
              </a:rPr>
              <a:t>‒ оно может содержать множество витрин данных в пределах одной базы данных.</a:t>
            </a:r>
          </a:p>
          <a:p>
            <a:pPr marL="285750" indent="-285750" algn="l">
              <a:lnSpc>
                <a:spcPct val="120000"/>
              </a:lnSpc>
              <a:buSzPct val="120000"/>
              <a:buFont typeface="Wingdings" panose="05000000000000000000" pitchFamily="2" charset="2"/>
              <a:buChar char="§"/>
            </a:pPr>
            <a:r>
              <a:rPr lang="ru-RU" sz="1600" b="0" i="0" u="none" strike="noStrike" baseline="0" dirty="0">
                <a:latin typeface="+mn-lt"/>
              </a:rPr>
              <a:t>Хранилище данных </a:t>
            </a:r>
            <a:r>
              <a:rPr lang="ru-RU" sz="1600" b="1" i="0" u="none" strike="noStrike" baseline="0" dirty="0">
                <a:latin typeface="+mn-lt"/>
              </a:rPr>
              <a:t>не является единым физическим репозиторием </a:t>
            </a:r>
            <a:r>
              <a:rPr lang="ru-RU" sz="1600" b="0" i="0" u="none" strike="noStrike" baseline="0" dirty="0">
                <a:latin typeface="+mn-lt"/>
              </a:rPr>
              <a:t>(в отличие от подхода</a:t>
            </a:r>
            <a:r>
              <a:rPr lang="en-US" sz="1600" b="0" i="0" u="none" strike="noStrike" baseline="0" dirty="0">
                <a:latin typeface="+mn-lt"/>
              </a:rPr>
              <a:t> </a:t>
            </a:r>
            <a:r>
              <a:rPr lang="ru-RU" sz="1600" b="0" i="0" u="none" strike="noStrike" baseline="0" dirty="0">
                <a:latin typeface="+mn-lt"/>
              </a:rPr>
              <a:t>Билла </a:t>
            </a:r>
            <a:r>
              <a:rPr lang="ru-RU" sz="1600" b="0" i="0" u="none" strike="noStrike" baseline="0" dirty="0" err="1">
                <a:latin typeface="+mn-lt"/>
              </a:rPr>
              <a:t>Инмона</a:t>
            </a:r>
            <a:r>
              <a:rPr lang="ru-RU" sz="1600" b="0" i="0" u="none" strike="noStrike" baseline="0" dirty="0">
                <a:latin typeface="+mn-lt"/>
              </a:rPr>
              <a:t>). </a:t>
            </a:r>
            <a:r>
              <a:rPr lang="ru-RU" sz="1600" b="1" i="0" u="none" strike="noStrike" baseline="0" dirty="0">
                <a:latin typeface="+mn-lt"/>
              </a:rPr>
              <a:t>Это "виртуальное" Хранилище. Это коллекция витрин данных, каждая из которых имеет архитектуру типа "звезда".</a:t>
            </a:r>
            <a:endParaRPr lang="ru-RU" sz="1600" b="1" dirty="0">
              <a:latin typeface="+mn-lt"/>
              <a:cs typeface="+mn-cs"/>
            </a:endParaRPr>
          </a:p>
        </p:txBody>
      </p:sp>
    </p:spTree>
    <p:extLst>
      <p:ext uri="{BB962C8B-B14F-4D97-AF65-F5344CB8AC3E}">
        <p14:creationId xmlns:p14="http://schemas.microsoft.com/office/powerpoint/2010/main" val="3326995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down)">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down)">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down)">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down)">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down)">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wipe(down)">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wipe(down)">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wipe(down)">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wipe(down)">
                                      <p:cBhvr>
                                        <p:cTn id="52" dur="500"/>
                                        <p:tgtEl>
                                          <p:spTgt spid="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2">
                                            <p:txEl>
                                              <p:pRg st="10" end="10"/>
                                            </p:txEl>
                                          </p:spTgt>
                                        </p:tgtEl>
                                        <p:attrNameLst>
                                          <p:attrName>style.visibility</p:attrName>
                                        </p:attrNameLst>
                                      </p:cBhvr>
                                      <p:to>
                                        <p:strVal val="visible"/>
                                      </p:to>
                                    </p:set>
                                    <p:animEffect transition="in" filter="wipe(down)">
                                      <p:cBhvr>
                                        <p:cTn id="57" dur="500"/>
                                        <p:tgtEl>
                                          <p:spTgt spid="2">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2">
                                            <p:txEl>
                                              <p:pRg st="11" end="11"/>
                                            </p:txEl>
                                          </p:spTgt>
                                        </p:tgtEl>
                                        <p:attrNameLst>
                                          <p:attrName>style.visibility</p:attrName>
                                        </p:attrNameLst>
                                      </p:cBhvr>
                                      <p:to>
                                        <p:strVal val="visible"/>
                                      </p:to>
                                    </p:set>
                                    <p:animEffect transition="in" filter="wipe(down)">
                                      <p:cBhvr>
                                        <p:cTn id="62" dur="500"/>
                                        <p:tgtEl>
                                          <p:spTgt spid="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52400" y="139700"/>
            <a:ext cx="8763000" cy="609600"/>
          </a:xfrm>
        </p:spPr>
        <p:txBody>
          <a:bodyPr/>
          <a:lstStyle/>
          <a:p>
            <a:pPr algn="ctr"/>
            <a:r>
              <a:rPr lang="ru-RU" sz="2800" kern="1200" dirty="0">
                <a:solidFill>
                  <a:schemeClr val="bg2"/>
                </a:solidFill>
                <a:latin typeface="+mn-lt"/>
                <a:ea typeface="+mn-ea"/>
                <a:cs typeface="Arial" charset="0"/>
              </a:rPr>
              <a:t>Факторы выбора одного из подходов</a:t>
            </a:r>
          </a:p>
        </p:txBody>
      </p:sp>
      <p:sp>
        <p:nvSpPr>
          <p:cNvPr id="43011" name="Rectangle 3"/>
          <p:cNvSpPr>
            <a:spLocks noGrp="1" noChangeArrowheads="1"/>
          </p:cNvSpPr>
          <p:nvPr>
            <p:ph type="body" idx="1"/>
          </p:nvPr>
        </p:nvSpPr>
        <p:spPr>
          <a:xfrm>
            <a:off x="0" y="749300"/>
            <a:ext cx="8991600" cy="5575300"/>
          </a:xfrm>
        </p:spPr>
        <p:txBody>
          <a:bodyPr>
            <a:normAutofit/>
          </a:bodyPr>
          <a:lstStyle/>
          <a:p>
            <a:endParaRPr lang="ru-RU" dirty="0"/>
          </a:p>
          <a:p>
            <a:endParaRPr lang="ru-RU" dirty="0"/>
          </a:p>
          <a:p>
            <a:endParaRPr lang="ru-RU" dirty="0"/>
          </a:p>
          <a:p>
            <a:pPr marL="0" indent="0">
              <a:buNone/>
            </a:pPr>
            <a:endParaRPr lang="ru-RU" dirty="0"/>
          </a:p>
        </p:txBody>
      </p:sp>
      <p:sp>
        <p:nvSpPr>
          <p:cNvPr id="6" name="Номер слайда 5"/>
          <p:cNvSpPr>
            <a:spLocks noGrp="1"/>
          </p:cNvSpPr>
          <p:nvPr>
            <p:ph type="sldNum" sz="quarter" idx="11"/>
          </p:nvPr>
        </p:nvSpPr>
        <p:spPr>
          <a:xfrm>
            <a:off x="7994650" y="6248400"/>
            <a:ext cx="692150" cy="381000"/>
          </a:xfrm>
        </p:spPr>
        <p:txBody>
          <a:bodyPr/>
          <a:lstStyle/>
          <a:p>
            <a:fld id="{4DC7491D-CDB9-48BE-BADB-11210BC61B1D}" type="slidenum">
              <a:rPr lang="ru-RU" smtClean="0"/>
              <a:pPr/>
              <a:t>37</a:t>
            </a:fld>
            <a:endParaRPr lang="ru-RU" dirty="0"/>
          </a:p>
        </p:txBody>
      </p:sp>
      <p:sp>
        <p:nvSpPr>
          <p:cNvPr id="2" name="TextBox 1">
            <a:extLst>
              <a:ext uri="{FF2B5EF4-FFF2-40B4-BE49-F238E27FC236}">
                <a16:creationId xmlns:a16="http://schemas.microsoft.com/office/drawing/2014/main" id="{A3739D13-40A3-2F1B-9D62-D6F4ABD6F155}"/>
              </a:ext>
            </a:extLst>
          </p:cNvPr>
          <p:cNvSpPr txBox="1"/>
          <p:nvPr/>
        </p:nvSpPr>
        <p:spPr>
          <a:xfrm>
            <a:off x="152400" y="844999"/>
            <a:ext cx="8534400" cy="5575300"/>
          </a:xfrm>
          <a:prstGeom prst="rect">
            <a:avLst/>
          </a:prstGeom>
          <a:noFill/>
        </p:spPr>
        <p:txBody>
          <a:bodyPr wrap="square" rtlCol="0">
            <a:normAutofit/>
          </a:bodyPr>
          <a:lstStyle/>
          <a:p>
            <a:pPr marL="285750" indent="-285750" algn="l">
              <a:buFont typeface="Arial" panose="020B0604020202020204" pitchFamily="34" charset="0"/>
              <a:buChar char="•"/>
            </a:pPr>
            <a:r>
              <a:rPr lang="ru-RU" sz="2800" b="0" i="0" u="none" strike="noStrike" baseline="0" dirty="0">
                <a:latin typeface="+mn-lt"/>
              </a:rPr>
              <a:t>Метод </a:t>
            </a:r>
            <a:r>
              <a:rPr lang="ru-RU" sz="2800" b="0" i="0" u="none" strike="noStrike" baseline="0" dirty="0" err="1">
                <a:latin typeface="+mn-lt"/>
              </a:rPr>
              <a:t>Инмона</a:t>
            </a:r>
            <a:r>
              <a:rPr lang="ru-RU" sz="2800" b="0" i="0" u="none" strike="noStrike" baseline="0" dirty="0">
                <a:latin typeface="+mn-lt"/>
              </a:rPr>
              <a:t> является подходящим для </a:t>
            </a:r>
            <a:r>
              <a:rPr lang="ru-RU" sz="2800" b="1" i="0" u="none" strike="noStrike" baseline="0" dirty="0">
                <a:latin typeface="+mn-lt"/>
              </a:rPr>
              <a:t>стабильных предприятий</a:t>
            </a:r>
            <a:r>
              <a:rPr lang="ru-RU" sz="2800" b="0" i="0" u="none" strike="noStrike" baseline="0" dirty="0">
                <a:latin typeface="+mn-lt"/>
              </a:rPr>
              <a:t>, которые могут позволить себе </a:t>
            </a:r>
            <a:r>
              <a:rPr lang="ru-RU" sz="2800" b="1" i="0" u="none" strike="noStrike" baseline="0" dirty="0">
                <a:latin typeface="+mn-lt"/>
              </a:rPr>
              <a:t>время, необходимое для проектирования и связанных с этим, расходов</a:t>
            </a:r>
            <a:r>
              <a:rPr lang="ru-RU" sz="2800" b="0" i="0" u="none" strike="noStrike" baseline="0" dirty="0">
                <a:latin typeface="+mn-lt"/>
              </a:rPr>
              <a:t>. </a:t>
            </a:r>
            <a:r>
              <a:rPr lang="ru-RU" sz="2800" dirty="0">
                <a:latin typeface="+mn-lt"/>
              </a:rPr>
              <a:t>П</a:t>
            </a:r>
            <a:r>
              <a:rPr lang="ru-RU" sz="2800" b="0" i="0" u="none" strike="noStrike" baseline="0" dirty="0">
                <a:latin typeface="+mn-lt"/>
              </a:rPr>
              <a:t>ри изменении бизнес-условий, они не меняют дизайн; вместо этого они приспосабливают их к существующим моделям. </a:t>
            </a:r>
          </a:p>
          <a:p>
            <a:pPr marL="285750" indent="-285750" algn="l">
              <a:buFont typeface="Arial" panose="020B0604020202020204" pitchFamily="34" charset="0"/>
              <a:buChar char="•"/>
            </a:pPr>
            <a:r>
              <a:rPr lang="ru-RU" sz="2800" b="0" i="0" u="none" strike="noStrike" baseline="0" dirty="0">
                <a:latin typeface="+mn-lt"/>
              </a:rPr>
              <a:t>Однако, </a:t>
            </a:r>
            <a:r>
              <a:rPr lang="ru-RU" sz="2800" b="1" i="0" u="none" strike="noStrike" baseline="0" dirty="0">
                <a:latin typeface="+mn-lt"/>
              </a:rPr>
              <a:t>если локальной оптимизации достаточно</a:t>
            </a:r>
            <a:r>
              <a:rPr lang="ru-RU" sz="2800" b="0" i="0" u="none" strike="noStrike" baseline="0" dirty="0">
                <a:latin typeface="+mn-lt"/>
              </a:rPr>
              <a:t>, и акцент делается на быстрое достижение цели, </a:t>
            </a:r>
            <a:r>
              <a:rPr lang="ru-RU" sz="2800" b="1" i="0" u="none" strike="noStrike" baseline="0" dirty="0">
                <a:latin typeface="+mn-lt"/>
              </a:rPr>
              <a:t>то целесообразно использовать архитектуру </a:t>
            </a:r>
            <a:r>
              <a:rPr lang="ru-RU" sz="2800" b="1" i="0" u="none" strike="noStrike" baseline="0" dirty="0" err="1">
                <a:latin typeface="+mn-lt"/>
              </a:rPr>
              <a:t>Кимболла</a:t>
            </a:r>
            <a:r>
              <a:rPr lang="ru-RU" sz="2800" b="0" i="0" u="none" strike="noStrike" baseline="0" dirty="0">
                <a:latin typeface="+mn-lt"/>
              </a:rPr>
              <a:t>.</a:t>
            </a:r>
            <a:endParaRPr lang="ru-RU" sz="2800" dirty="0">
              <a:latin typeface="+mn-lt"/>
              <a:cs typeface="+mn-cs"/>
            </a:endParaRPr>
          </a:p>
        </p:txBody>
      </p:sp>
    </p:spTree>
    <p:extLst>
      <p:ext uri="{BB962C8B-B14F-4D97-AF65-F5344CB8AC3E}">
        <p14:creationId xmlns:p14="http://schemas.microsoft.com/office/powerpoint/2010/main" val="2289409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52400" y="139700"/>
            <a:ext cx="8763000" cy="609600"/>
          </a:xfrm>
        </p:spPr>
        <p:txBody>
          <a:bodyPr/>
          <a:lstStyle/>
          <a:p>
            <a:pPr algn="ctr"/>
            <a:r>
              <a:rPr lang="ru-RU" sz="2800" kern="1200" dirty="0">
                <a:solidFill>
                  <a:schemeClr val="bg2"/>
                </a:solidFill>
                <a:latin typeface="+mn-lt"/>
                <a:ea typeface="+mn-ea"/>
                <a:cs typeface="Arial" charset="0"/>
              </a:rPr>
              <a:t>Факторы выбора одного из подходов</a:t>
            </a:r>
          </a:p>
        </p:txBody>
      </p:sp>
      <p:sp>
        <p:nvSpPr>
          <p:cNvPr id="43011" name="Rectangle 3"/>
          <p:cNvSpPr>
            <a:spLocks noGrp="1" noChangeArrowheads="1"/>
          </p:cNvSpPr>
          <p:nvPr>
            <p:ph type="body" idx="1"/>
          </p:nvPr>
        </p:nvSpPr>
        <p:spPr>
          <a:xfrm>
            <a:off x="0" y="749300"/>
            <a:ext cx="8991600" cy="5575300"/>
          </a:xfrm>
        </p:spPr>
        <p:txBody>
          <a:bodyPr>
            <a:normAutofit/>
          </a:bodyPr>
          <a:lstStyle/>
          <a:p>
            <a:endParaRPr lang="ru-RU" dirty="0"/>
          </a:p>
          <a:p>
            <a:endParaRPr lang="ru-RU" dirty="0"/>
          </a:p>
          <a:p>
            <a:endParaRPr lang="ru-RU" dirty="0"/>
          </a:p>
          <a:p>
            <a:pPr marL="0" indent="0">
              <a:buNone/>
            </a:pPr>
            <a:endParaRPr lang="ru-RU" dirty="0"/>
          </a:p>
        </p:txBody>
      </p:sp>
      <p:sp>
        <p:nvSpPr>
          <p:cNvPr id="6" name="Номер слайда 5"/>
          <p:cNvSpPr>
            <a:spLocks noGrp="1"/>
          </p:cNvSpPr>
          <p:nvPr>
            <p:ph type="sldNum" sz="quarter" idx="11"/>
          </p:nvPr>
        </p:nvSpPr>
        <p:spPr>
          <a:xfrm>
            <a:off x="7994650" y="6248400"/>
            <a:ext cx="692150" cy="381000"/>
          </a:xfrm>
        </p:spPr>
        <p:txBody>
          <a:bodyPr/>
          <a:lstStyle/>
          <a:p>
            <a:fld id="{4DC7491D-CDB9-48BE-BADB-11210BC61B1D}" type="slidenum">
              <a:rPr lang="ru-RU" smtClean="0"/>
              <a:pPr/>
              <a:t>38</a:t>
            </a:fld>
            <a:endParaRPr lang="ru-RU" dirty="0"/>
          </a:p>
        </p:txBody>
      </p:sp>
      <p:sp>
        <p:nvSpPr>
          <p:cNvPr id="2" name="TextBox 1">
            <a:extLst>
              <a:ext uri="{FF2B5EF4-FFF2-40B4-BE49-F238E27FC236}">
                <a16:creationId xmlns:a16="http://schemas.microsoft.com/office/drawing/2014/main" id="{A3739D13-40A3-2F1B-9D62-D6F4ABD6F155}"/>
              </a:ext>
            </a:extLst>
          </p:cNvPr>
          <p:cNvSpPr txBox="1"/>
          <p:nvPr/>
        </p:nvSpPr>
        <p:spPr>
          <a:xfrm>
            <a:off x="152400" y="844999"/>
            <a:ext cx="8534400" cy="5575300"/>
          </a:xfrm>
          <a:prstGeom prst="rect">
            <a:avLst/>
          </a:prstGeom>
          <a:noFill/>
        </p:spPr>
        <p:txBody>
          <a:bodyPr wrap="square" rtlCol="0">
            <a:normAutofit lnSpcReduction="10000"/>
          </a:bodyPr>
          <a:lstStyle/>
          <a:p>
            <a:pPr indent="457200" algn="just"/>
            <a:r>
              <a:rPr lang="ru-RU" dirty="0"/>
              <a:t>Различия обоих подходов по конкретным отделам:</a:t>
            </a:r>
          </a:p>
          <a:p>
            <a:pPr indent="457200" algn="just"/>
            <a:r>
              <a:rPr lang="ru-RU" i="1" u="sng" dirty="0"/>
              <a:t>Страхование</a:t>
            </a:r>
            <a:r>
              <a:rPr lang="ru-RU" i="1" dirty="0"/>
              <a:t>: </a:t>
            </a:r>
            <a:r>
              <a:rPr lang="ru-RU" dirty="0"/>
              <a:t>Очень важно получить общую картину по отношению к отдельным клиентам, группам, истории претензий, тенденций смертности, демографии, рентабельности каждого плана и агентов и т.д. Все аспекты взаимосвязаны, и поэтому </a:t>
            </a:r>
            <a:r>
              <a:rPr lang="ru-RU" b="1" dirty="0"/>
              <a:t>подходит для архитектуры </a:t>
            </a:r>
            <a:r>
              <a:rPr lang="ru-RU" b="1" dirty="0" err="1"/>
              <a:t>Инмона</a:t>
            </a:r>
            <a:r>
              <a:rPr lang="ru-RU" dirty="0"/>
              <a:t>.</a:t>
            </a:r>
          </a:p>
          <a:p>
            <a:pPr indent="457200" algn="just"/>
            <a:r>
              <a:rPr lang="ru-RU" i="1" u="sng" dirty="0"/>
              <a:t>Маркетинг</a:t>
            </a:r>
            <a:r>
              <a:rPr lang="ru-RU" i="1" dirty="0"/>
              <a:t>: </a:t>
            </a:r>
            <a:r>
              <a:rPr lang="ru-RU" dirty="0"/>
              <a:t>Это специализированное подразделение, которое не требуют предприятия склада. Требуются только витрины данных. Следовательно, </a:t>
            </a:r>
            <a:r>
              <a:rPr lang="ru-RU" b="1" dirty="0"/>
              <a:t>предпочтительна архитектура Кимбалла</a:t>
            </a:r>
            <a:r>
              <a:rPr lang="ru-RU" dirty="0"/>
              <a:t>.</a:t>
            </a:r>
          </a:p>
          <a:p>
            <a:pPr indent="457200" algn="just"/>
            <a:r>
              <a:rPr lang="ru-RU" i="1" u="sng" dirty="0"/>
              <a:t>CRM в банках</a:t>
            </a:r>
            <a:r>
              <a:rPr lang="ru-RU" i="1" dirty="0"/>
              <a:t>: </a:t>
            </a:r>
            <a:r>
              <a:rPr lang="ru-RU" dirty="0"/>
              <a:t>Особое внимание уделяется таким параметрам, как проданные продукты, повышение и снижение цен на уровне клиента. Это не обязательно для получения общей картины бизнеса. Например, нет необходимости связать детали клиента с казначейским департаментом, занимающимся валютными операциями и правилами. </a:t>
            </a:r>
            <a:r>
              <a:rPr lang="ru-RU" b="1" dirty="0"/>
              <a:t>Поскольку цели ограничены, вы можете использовать метод Кимбалла</a:t>
            </a:r>
            <a:r>
              <a:rPr lang="ru-RU" dirty="0"/>
              <a:t>. </a:t>
            </a:r>
          </a:p>
          <a:p>
            <a:pPr indent="457200" algn="just"/>
            <a:r>
              <a:rPr lang="ru-RU" dirty="0"/>
              <a:t>Однако, если </a:t>
            </a:r>
            <a:r>
              <a:rPr lang="ru-RU" b="1" dirty="0"/>
              <a:t>все процессы и подразделения в банке должны быть связаны, предпочтителен выбор дизайна </a:t>
            </a:r>
            <a:r>
              <a:rPr lang="ru-RU" b="1" dirty="0" err="1"/>
              <a:t>Инмона</a:t>
            </a:r>
            <a:r>
              <a:rPr lang="ru-RU" dirty="0"/>
              <a:t>.</a:t>
            </a:r>
          </a:p>
          <a:p>
            <a:pPr indent="457200" algn="just"/>
            <a:r>
              <a:rPr lang="ru-RU" i="1" u="sng" dirty="0"/>
              <a:t>Производство: </a:t>
            </a:r>
            <a:r>
              <a:rPr lang="ru-RU" dirty="0"/>
              <a:t>присутствует множество функций, независимо от используемого бюджета. Таким образом, там, где присутствует системная зависимость, </a:t>
            </a:r>
            <a:r>
              <a:rPr lang="ru-RU" b="1" dirty="0"/>
              <a:t>необходимо использовать модель предприятия</a:t>
            </a:r>
            <a:r>
              <a:rPr lang="ru-RU" dirty="0"/>
              <a:t>. </a:t>
            </a:r>
            <a:r>
              <a:rPr lang="ru-RU" b="1" dirty="0"/>
              <a:t>Для таких случаев метод </a:t>
            </a:r>
            <a:r>
              <a:rPr lang="ru-RU" b="1" dirty="0" err="1"/>
              <a:t>Инмона</a:t>
            </a:r>
            <a:r>
              <a:rPr lang="ru-RU" b="1" dirty="0"/>
              <a:t> является идеальным.</a:t>
            </a:r>
            <a:endParaRPr lang="ru-RU" sz="2800" b="1" dirty="0">
              <a:latin typeface="+mn-lt"/>
              <a:cs typeface="+mn-cs"/>
            </a:endParaRPr>
          </a:p>
        </p:txBody>
      </p:sp>
    </p:spTree>
    <p:extLst>
      <p:ext uri="{BB962C8B-B14F-4D97-AF65-F5344CB8AC3E}">
        <p14:creationId xmlns:p14="http://schemas.microsoft.com/office/powerpoint/2010/main" val="2924651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up)">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up)">
                                      <p:cBhvr>
                                        <p:cTn id="3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938212" y="-82549"/>
            <a:ext cx="7767638" cy="711200"/>
          </a:xfrm>
        </p:spPr>
        <p:txBody>
          <a:bodyPr/>
          <a:lstStyle/>
          <a:p>
            <a:pPr algn="ctr"/>
            <a:r>
              <a:rPr lang="en-US" sz="3200" dirty="0">
                <a:solidFill>
                  <a:schemeClr val="bg2"/>
                </a:solidFill>
              </a:rPr>
              <a:t>Data Mining</a:t>
            </a:r>
            <a:endParaRPr lang="ru-RU" sz="3200" dirty="0">
              <a:solidFill>
                <a:schemeClr val="bg2"/>
              </a:solidFill>
            </a:endParaRPr>
          </a:p>
        </p:txBody>
      </p:sp>
      <p:sp>
        <p:nvSpPr>
          <p:cNvPr id="23555" name="Rectangle 3"/>
          <p:cNvSpPr>
            <a:spLocks noGrp="1" noChangeArrowheads="1"/>
          </p:cNvSpPr>
          <p:nvPr>
            <p:ph type="body" idx="1"/>
          </p:nvPr>
        </p:nvSpPr>
        <p:spPr>
          <a:xfrm>
            <a:off x="225025" y="773705"/>
            <a:ext cx="8532440" cy="5670630"/>
          </a:xfrm>
        </p:spPr>
        <p:txBody>
          <a:bodyPr>
            <a:noAutofit/>
          </a:bodyPr>
          <a:lstStyle/>
          <a:p>
            <a:pPr>
              <a:lnSpc>
                <a:spcPct val="90000"/>
              </a:lnSpc>
              <a:spcBef>
                <a:spcPts val="600"/>
              </a:spcBef>
            </a:pPr>
            <a:r>
              <a:rPr lang="ru-RU" sz="2000" b="1" dirty="0" err="1"/>
              <a:t>Data</a:t>
            </a:r>
            <a:r>
              <a:rPr lang="ru-RU" sz="2000" b="1" dirty="0"/>
              <a:t> </a:t>
            </a:r>
            <a:r>
              <a:rPr lang="ru-RU" sz="2000" b="1" dirty="0" err="1"/>
              <a:t>Mining</a:t>
            </a:r>
            <a:r>
              <a:rPr lang="ru-RU" sz="2000" b="1" dirty="0"/>
              <a:t> </a:t>
            </a:r>
            <a:r>
              <a:rPr lang="ru-RU" sz="2000" dirty="0"/>
              <a:t>— это </a:t>
            </a:r>
            <a:r>
              <a:rPr lang="ru-RU" sz="2000" b="1" dirty="0"/>
              <a:t>процесс обнаружения в сырых данных </a:t>
            </a:r>
            <a:r>
              <a:rPr lang="ru-RU" sz="2000" dirty="0"/>
              <a:t>ранее </a:t>
            </a:r>
            <a:r>
              <a:rPr lang="ru-RU" sz="2000" b="1" dirty="0"/>
              <a:t>неизвестных, нетривиальных, практически полезных и доступных интерпретации знаний</a:t>
            </a:r>
            <a:r>
              <a:rPr lang="ru-RU" sz="2000" dirty="0"/>
              <a:t>, необходимых для принятия решений в различных сферах человеческой деятельности</a:t>
            </a:r>
            <a:r>
              <a:rPr lang="en-US" sz="2000" dirty="0"/>
              <a:t> </a:t>
            </a:r>
            <a:r>
              <a:rPr lang="ru-RU" sz="2000" dirty="0"/>
              <a:t>(</a:t>
            </a:r>
            <a:r>
              <a:rPr lang="ru-RU" sz="2000" dirty="0">
                <a:solidFill>
                  <a:schemeClr val="bg2"/>
                </a:solidFill>
              </a:rPr>
              <a:t>Григорий </a:t>
            </a:r>
            <a:r>
              <a:rPr lang="ru-RU" sz="2000" dirty="0" err="1">
                <a:solidFill>
                  <a:schemeClr val="bg2"/>
                </a:solidFill>
              </a:rPr>
              <a:t>Пиатецкий-Шапиро</a:t>
            </a:r>
            <a:r>
              <a:rPr lang="ru-RU" sz="2000" dirty="0">
                <a:solidFill>
                  <a:schemeClr val="bg2"/>
                </a:solidFill>
              </a:rPr>
              <a:t> — один из основателей этого направления</a:t>
            </a:r>
            <a:r>
              <a:rPr lang="ru-RU" sz="2000" dirty="0"/>
              <a:t>).</a:t>
            </a:r>
          </a:p>
          <a:p>
            <a:pPr>
              <a:spcBef>
                <a:spcPts val="600"/>
              </a:spcBef>
            </a:pPr>
            <a:r>
              <a:rPr lang="ru-RU" sz="2000" kern="1200" dirty="0">
                <a:latin typeface="Arial" charset="0"/>
                <a:cs typeface="Arial" charset="0"/>
              </a:rPr>
              <a:t>В основу современной технологии </a:t>
            </a:r>
            <a:r>
              <a:rPr lang="ru-RU" sz="2000" kern="1200" dirty="0" err="1">
                <a:latin typeface="Arial" charset="0"/>
                <a:cs typeface="Arial" charset="0"/>
              </a:rPr>
              <a:t>Data</a:t>
            </a:r>
            <a:r>
              <a:rPr lang="ru-RU" sz="2000" kern="1200" dirty="0">
                <a:latin typeface="Arial" charset="0"/>
                <a:cs typeface="Arial" charset="0"/>
              </a:rPr>
              <a:t> </a:t>
            </a:r>
            <a:r>
              <a:rPr lang="ru-RU" sz="2000" kern="1200" dirty="0" err="1">
                <a:latin typeface="Arial" charset="0"/>
                <a:cs typeface="Arial" charset="0"/>
              </a:rPr>
              <a:t>Mining</a:t>
            </a:r>
            <a:r>
              <a:rPr lang="ru-RU" sz="2000" kern="1200" dirty="0">
                <a:latin typeface="Arial" charset="0"/>
                <a:cs typeface="Arial" charset="0"/>
              </a:rPr>
              <a:t> (</a:t>
            </a:r>
            <a:r>
              <a:rPr lang="ru-RU" sz="2000" kern="1200" dirty="0" err="1">
                <a:latin typeface="Arial" charset="0"/>
                <a:cs typeface="Arial" charset="0"/>
              </a:rPr>
              <a:t>discovery-driven</a:t>
            </a:r>
            <a:r>
              <a:rPr lang="ru-RU" sz="2000" kern="1200" dirty="0">
                <a:latin typeface="Arial" charset="0"/>
                <a:cs typeface="Arial" charset="0"/>
              </a:rPr>
              <a:t> </a:t>
            </a:r>
            <a:r>
              <a:rPr lang="ru-RU" sz="2000" kern="1200" dirty="0" err="1">
                <a:latin typeface="Arial" charset="0"/>
                <a:cs typeface="Arial" charset="0"/>
              </a:rPr>
              <a:t>data</a:t>
            </a:r>
            <a:r>
              <a:rPr lang="ru-RU" sz="2000" kern="1200" dirty="0">
                <a:latin typeface="Arial" charset="0"/>
                <a:cs typeface="Arial" charset="0"/>
              </a:rPr>
              <a:t> </a:t>
            </a:r>
            <a:r>
              <a:rPr lang="ru-RU" sz="2000" kern="1200" dirty="0" err="1">
                <a:latin typeface="Arial" charset="0"/>
                <a:cs typeface="Arial" charset="0"/>
              </a:rPr>
              <a:t>mining</a:t>
            </a:r>
            <a:r>
              <a:rPr lang="ru-RU" sz="2000" kern="1200" dirty="0">
                <a:latin typeface="Arial" charset="0"/>
                <a:cs typeface="Arial" charset="0"/>
              </a:rPr>
              <a:t>) положена </a:t>
            </a:r>
            <a:r>
              <a:rPr lang="ru-RU" sz="2000" b="1" kern="1200" dirty="0">
                <a:latin typeface="Arial" charset="0"/>
                <a:cs typeface="Arial" charset="0"/>
              </a:rPr>
              <a:t>концепция шаблонов </a:t>
            </a:r>
            <a:r>
              <a:rPr lang="ru-RU" sz="2000" kern="1200" dirty="0">
                <a:latin typeface="Arial" charset="0"/>
                <a:cs typeface="Arial" charset="0"/>
              </a:rPr>
              <a:t>(паттернов), отражающих </a:t>
            </a:r>
            <a:r>
              <a:rPr lang="ru-RU" sz="2000" b="1" i="1" kern="1200" dirty="0">
                <a:latin typeface="Arial" charset="0"/>
                <a:cs typeface="Arial" charset="0"/>
              </a:rPr>
              <a:t>фрагменты</a:t>
            </a:r>
            <a:r>
              <a:rPr lang="ru-RU" sz="2000" i="1" kern="1200" dirty="0">
                <a:latin typeface="Arial" charset="0"/>
                <a:cs typeface="Arial" charset="0"/>
              </a:rPr>
              <a:t> </a:t>
            </a:r>
            <a:r>
              <a:rPr lang="ru-RU" sz="2000" kern="1200" dirty="0" err="1">
                <a:latin typeface="Arial" charset="0"/>
                <a:cs typeface="Arial" charset="0"/>
              </a:rPr>
              <a:t>многоаспектных</a:t>
            </a:r>
            <a:r>
              <a:rPr lang="ru-RU" sz="2000" kern="1200" dirty="0">
                <a:latin typeface="Arial" charset="0"/>
                <a:cs typeface="Arial" charset="0"/>
              </a:rPr>
              <a:t> </a:t>
            </a:r>
            <a:r>
              <a:rPr lang="ru-RU" sz="2000" b="1" kern="1200" dirty="0">
                <a:latin typeface="Arial" charset="0"/>
                <a:cs typeface="Arial" charset="0"/>
              </a:rPr>
              <a:t>взаимоотношений</a:t>
            </a:r>
            <a:r>
              <a:rPr lang="ru-RU" sz="2000" kern="1200" dirty="0">
                <a:latin typeface="Arial" charset="0"/>
                <a:cs typeface="Arial" charset="0"/>
              </a:rPr>
              <a:t> </a:t>
            </a:r>
            <a:r>
              <a:rPr lang="ru-RU" sz="2000" b="1" kern="1200" dirty="0">
                <a:latin typeface="Arial" charset="0"/>
                <a:cs typeface="Arial" charset="0"/>
              </a:rPr>
              <a:t>в</a:t>
            </a:r>
            <a:r>
              <a:rPr lang="ru-RU" sz="2000" kern="1200" dirty="0">
                <a:latin typeface="Arial" charset="0"/>
                <a:cs typeface="Arial" charset="0"/>
              </a:rPr>
              <a:t> </a:t>
            </a:r>
            <a:r>
              <a:rPr lang="ru-RU" sz="2000" b="1" kern="1200" dirty="0">
                <a:latin typeface="Arial" charset="0"/>
                <a:cs typeface="Arial" charset="0"/>
              </a:rPr>
              <a:t>данных</a:t>
            </a:r>
            <a:r>
              <a:rPr lang="ru-RU" sz="2000" kern="1200" dirty="0">
                <a:latin typeface="Arial" charset="0"/>
                <a:cs typeface="Arial" charset="0"/>
              </a:rPr>
              <a:t>. </a:t>
            </a:r>
          </a:p>
          <a:p>
            <a:pPr>
              <a:spcBef>
                <a:spcPts val="600"/>
              </a:spcBef>
            </a:pPr>
            <a:r>
              <a:rPr lang="ru-RU" sz="2000" kern="1200" dirty="0">
                <a:latin typeface="Arial" charset="0"/>
                <a:cs typeface="Arial" charset="0"/>
              </a:rPr>
              <a:t>Шаблоны представляют собой закономерности, свойственные</a:t>
            </a:r>
            <a:r>
              <a:rPr lang="ru-RU" sz="2000" i="1" kern="1200" dirty="0">
                <a:latin typeface="Arial" charset="0"/>
                <a:cs typeface="Arial" charset="0"/>
              </a:rPr>
              <a:t> </a:t>
            </a:r>
            <a:r>
              <a:rPr lang="ru-RU" sz="2000" i="1" kern="1200" dirty="0" err="1">
                <a:latin typeface="Arial" charset="0"/>
                <a:cs typeface="Arial" charset="0"/>
              </a:rPr>
              <a:t>подвыборкам</a:t>
            </a:r>
            <a:r>
              <a:rPr lang="ru-RU" sz="2000" i="1" kern="1200" dirty="0">
                <a:latin typeface="Arial" charset="0"/>
                <a:cs typeface="Arial" charset="0"/>
              </a:rPr>
              <a:t> данных</a:t>
            </a:r>
            <a:r>
              <a:rPr lang="ru-RU" sz="2000" kern="1200" dirty="0">
                <a:latin typeface="Arial" charset="0"/>
                <a:cs typeface="Arial" charset="0"/>
              </a:rPr>
              <a:t>, которые могут быть компактно выражены в понятной человеку форме. </a:t>
            </a:r>
          </a:p>
          <a:p>
            <a:pPr>
              <a:lnSpc>
                <a:spcPct val="90000"/>
              </a:lnSpc>
              <a:spcBef>
                <a:spcPts val="600"/>
              </a:spcBef>
            </a:pPr>
            <a:r>
              <a:rPr lang="ru-RU" sz="2000" kern="1200" dirty="0">
                <a:latin typeface="Arial" charset="0"/>
                <a:cs typeface="Arial" charset="0"/>
              </a:rPr>
              <a:t>Поиск шаблонов производится методами, не ограниченными рамками априорных предположений о структуре выборке и виде распределений значений анализируемых показателей.</a:t>
            </a:r>
            <a:endParaRPr lang="ru-RU" sz="2000" dirty="0"/>
          </a:p>
        </p:txBody>
      </p:sp>
      <p:sp>
        <p:nvSpPr>
          <p:cNvPr id="6" name="Номер слайда 5"/>
          <p:cNvSpPr>
            <a:spLocks noGrp="1"/>
          </p:cNvSpPr>
          <p:nvPr>
            <p:ph type="sldNum" sz="quarter" idx="11"/>
          </p:nvPr>
        </p:nvSpPr>
        <p:spPr/>
        <p:txBody>
          <a:bodyPr/>
          <a:lstStyle/>
          <a:p>
            <a:fld id="{4DC7491D-CDB9-48BE-BADB-11210BC61B1D}" type="slidenum">
              <a:rPr lang="ru-RU" smtClean="0"/>
              <a:pPr/>
              <a:t>39</a:t>
            </a:fld>
            <a:endParaRPr lang="ru-R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wipe(up)">
                                      <p:cBhvr>
                                        <p:cTn id="7" dur="500"/>
                                        <p:tgtEl>
                                          <p:spTgt spid="235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3555">
                                            <p:txEl>
                                              <p:pRg st="1" end="1"/>
                                            </p:txEl>
                                          </p:spTgt>
                                        </p:tgtEl>
                                        <p:attrNameLst>
                                          <p:attrName>style.visibility</p:attrName>
                                        </p:attrNameLst>
                                      </p:cBhvr>
                                      <p:to>
                                        <p:strVal val="visible"/>
                                      </p:to>
                                    </p:set>
                                    <p:animEffect transition="in" filter="wipe(up)">
                                      <p:cBhvr>
                                        <p:cTn id="12" dur="500"/>
                                        <p:tgtEl>
                                          <p:spTgt spid="235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3555">
                                            <p:txEl>
                                              <p:pRg st="2" end="2"/>
                                            </p:txEl>
                                          </p:spTgt>
                                        </p:tgtEl>
                                        <p:attrNameLst>
                                          <p:attrName>style.visibility</p:attrName>
                                        </p:attrNameLst>
                                      </p:cBhvr>
                                      <p:to>
                                        <p:strVal val="visible"/>
                                      </p:to>
                                    </p:set>
                                    <p:animEffect transition="in" filter="wipe(up)">
                                      <p:cBhvr>
                                        <p:cTn id="17" dur="500"/>
                                        <p:tgtEl>
                                          <p:spTgt spid="235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3555">
                                            <p:txEl>
                                              <p:pRg st="3" end="3"/>
                                            </p:txEl>
                                          </p:spTgt>
                                        </p:tgtEl>
                                        <p:attrNameLst>
                                          <p:attrName>style.visibility</p:attrName>
                                        </p:attrNameLst>
                                      </p:cBhvr>
                                      <p:to>
                                        <p:strVal val="visible"/>
                                      </p:to>
                                    </p:set>
                                    <p:animEffect transition="in" filter="wipe(up)">
                                      <p:cBhvr>
                                        <p:cTn id="22" dur="500"/>
                                        <p:tgtEl>
                                          <p:spTgt spid="2355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938212" y="88901"/>
            <a:ext cx="7767638" cy="806449"/>
          </a:xfrm>
        </p:spPr>
        <p:txBody>
          <a:bodyPr/>
          <a:lstStyle/>
          <a:p>
            <a:pPr algn="ctr"/>
            <a:r>
              <a:rPr lang="en-US" sz="3600" dirty="0">
                <a:solidFill>
                  <a:schemeClr val="bg2"/>
                </a:solidFill>
              </a:rPr>
              <a:t>OLAP</a:t>
            </a:r>
            <a:r>
              <a:rPr lang="ru-RU" sz="3600" dirty="0">
                <a:solidFill>
                  <a:schemeClr val="bg2"/>
                </a:solidFill>
              </a:rPr>
              <a:t> - </a:t>
            </a:r>
            <a:r>
              <a:rPr lang="en-US" sz="3600" dirty="0">
                <a:solidFill>
                  <a:schemeClr val="bg2"/>
                </a:solidFill>
              </a:rPr>
              <a:t>Data Mining</a:t>
            </a:r>
            <a:endParaRPr lang="ru-RU" sz="3600" dirty="0">
              <a:solidFill>
                <a:schemeClr val="bg2"/>
              </a:solidFill>
            </a:endParaRPr>
          </a:p>
        </p:txBody>
      </p:sp>
      <p:sp>
        <p:nvSpPr>
          <p:cNvPr id="6" name="Номер слайда 5"/>
          <p:cNvSpPr>
            <a:spLocks noGrp="1"/>
          </p:cNvSpPr>
          <p:nvPr>
            <p:ph type="sldNum" sz="quarter" idx="11"/>
          </p:nvPr>
        </p:nvSpPr>
        <p:spPr/>
        <p:txBody>
          <a:bodyPr/>
          <a:lstStyle/>
          <a:p>
            <a:fld id="{4DC7491D-CDB9-48BE-BADB-11210BC61B1D}" type="slidenum">
              <a:rPr lang="ru-RU" smtClean="0"/>
              <a:pPr/>
              <a:t>40</a:t>
            </a:fld>
            <a:endParaRPr lang="ru-RU"/>
          </a:p>
        </p:txBody>
      </p:sp>
      <p:graphicFrame>
        <p:nvGraphicFramePr>
          <p:cNvPr id="7" name="Таблица 6"/>
          <p:cNvGraphicFramePr>
            <a:graphicFrameLocks noGrp="1"/>
          </p:cNvGraphicFramePr>
          <p:nvPr/>
        </p:nvGraphicFramePr>
        <p:xfrm>
          <a:off x="260350" y="939800"/>
          <a:ext cx="8534400" cy="5723096"/>
        </p:xfrm>
        <a:graphic>
          <a:graphicData uri="http://schemas.openxmlformats.org/drawingml/2006/table">
            <a:tbl>
              <a:tblPr/>
              <a:tblGrid>
                <a:gridCol w="4267200">
                  <a:extLst>
                    <a:ext uri="{9D8B030D-6E8A-4147-A177-3AD203B41FA5}">
                      <a16:colId xmlns:a16="http://schemas.microsoft.com/office/drawing/2014/main" val="20000"/>
                    </a:ext>
                  </a:extLst>
                </a:gridCol>
                <a:gridCol w="4267200">
                  <a:extLst>
                    <a:ext uri="{9D8B030D-6E8A-4147-A177-3AD203B41FA5}">
                      <a16:colId xmlns:a16="http://schemas.microsoft.com/office/drawing/2014/main" val="20001"/>
                    </a:ext>
                  </a:extLst>
                </a:gridCol>
              </a:tblGrid>
              <a:tr h="355124">
                <a:tc>
                  <a:txBody>
                    <a:bodyPr/>
                    <a:lstStyle/>
                    <a:p>
                      <a:pPr algn="l"/>
                      <a:r>
                        <a:rPr lang="en-US" sz="2000" b="0" dirty="0"/>
                        <a:t>OLAP</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00"/>
                    </a:solidFill>
                  </a:tcPr>
                </a:tc>
                <a:tc>
                  <a:txBody>
                    <a:bodyPr/>
                    <a:lstStyle/>
                    <a:p>
                      <a:pPr algn="l"/>
                      <a:r>
                        <a:rPr lang="en-US" sz="2000" b="0" dirty="0"/>
                        <a:t>Data Mining</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0"/>
                  </a:ext>
                </a:extLst>
              </a:tr>
              <a:tr h="1420495">
                <a:tc>
                  <a:txBody>
                    <a:bodyPr/>
                    <a:lstStyle/>
                    <a:p>
                      <a:pPr algn="l"/>
                      <a:r>
                        <a:rPr lang="ru-RU" sz="2000" b="0" dirty="0"/>
                        <a:t>Каковы средние показатели травматизма для курящих и некурящих?</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00FF"/>
                    </a:solidFill>
                  </a:tcPr>
                </a:tc>
                <a:tc>
                  <a:txBody>
                    <a:bodyPr/>
                    <a:lstStyle/>
                    <a:p>
                      <a:pPr algn="l"/>
                      <a:r>
                        <a:rPr lang="ru-RU" sz="2000" b="0" dirty="0"/>
                        <a:t>Встречаются ли точные шаблоны в описаниях людей, подверженных повышенному травматизму?</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1"/>
                  </a:ext>
                </a:extLst>
              </a:tr>
              <a:tr h="2485866">
                <a:tc>
                  <a:txBody>
                    <a:bodyPr/>
                    <a:lstStyle/>
                    <a:p>
                      <a:pPr algn="l"/>
                      <a:r>
                        <a:rPr lang="ru-RU" sz="2000" b="0"/>
                        <a:t>Каковы средние размеры телефонных счетов существующих клиентов в сравнении со счетами бывших клиентов (отказавшихся от услуг телефонной компании)?</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00FF"/>
                    </a:solidFill>
                  </a:tcPr>
                </a:tc>
                <a:tc>
                  <a:txBody>
                    <a:bodyPr/>
                    <a:lstStyle/>
                    <a:p>
                      <a:pPr algn="l"/>
                      <a:r>
                        <a:rPr lang="ru-RU" sz="2000" b="0" dirty="0"/>
                        <a:t>Имеются ли характерные портреты клиентов, которые, по всей вероятности, собираются отказаться от услуг телефонной компании?</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2"/>
                  </a:ext>
                </a:extLst>
              </a:tr>
              <a:tr h="1420495">
                <a:tc>
                  <a:txBody>
                    <a:bodyPr/>
                    <a:lstStyle/>
                    <a:p>
                      <a:pPr algn="l"/>
                      <a:r>
                        <a:rPr lang="ru-RU" sz="2000" b="0"/>
                        <a:t>Какова средняя величина ежедневных покупок по украденной и не украденной кредитной карточке?</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00FF"/>
                    </a:solidFill>
                  </a:tcPr>
                </a:tc>
                <a:tc>
                  <a:txBody>
                    <a:bodyPr/>
                    <a:lstStyle/>
                    <a:p>
                      <a:pPr algn="l"/>
                      <a:r>
                        <a:rPr lang="ru-RU" sz="2000" b="0" dirty="0"/>
                        <a:t>Существуют ли стереотипные схемы покупок для случаев мошенничества с кредитными карточками?</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52400" y="139700"/>
            <a:ext cx="8763000" cy="609600"/>
          </a:xfrm>
        </p:spPr>
        <p:txBody>
          <a:bodyPr/>
          <a:lstStyle/>
          <a:p>
            <a:pPr algn="ctr"/>
            <a:r>
              <a:rPr lang="ru-RU" sz="2800" dirty="0">
                <a:solidFill>
                  <a:schemeClr val="bg2"/>
                </a:solidFill>
              </a:rPr>
              <a:t>Методы аналитической обработки данных в ХД</a:t>
            </a:r>
          </a:p>
        </p:txBody>
      </p:sp>
      <p:sp>
        <p:nvSpPr>
          <p:cNvPr id="6" name="Номер слайда 5"/>
          <p:cNvSpPr>
            <a:spLocks noGrp="1"/>
          </p:cNvSpPr>
          <p:nvPr>
            <p:ph type="sldNum" sz="quarter" idx="11"/>
          </p:nvPr>
        </p:nvSpPr>
        <p:spPr>
          <a:xfrm>
            <a:off x="7994650" y="6248400"/>
            <a:ext cx="692150" cy="381000"/>
          </a:xfrm>
        </p:spPr>
        <p:txBody>
          <a:bodyPr/>
          <a:lstStyle/>
          <a:p>
            <a:fld id="{4DC7491D-CDB9-48BE-BADB-11210BC61B1D}" type="slidenum">
              <a:rPr lang="ru-RU" smtClean="0"/>
              <a:pPr/>
              <a:t>41</a:t>
            </a:fld>
            <a:endParaRPr lang="ru-RU" dirty="0"/>
          </a:p>
        </p:txBody>
      </p:sp>
      <p:pic>
        <p:nvPicPr>
          <p:cNvPr id="9218" name="Picture 2" descr="http://www.inftech.webservis.ru/it/database/datamining/images/ar2small002.jpg"/>
          <p:cNvPicPr>
            <a:picLocks noChangeAspect="1" noChangeArrowheads="1"/>
          </p:cNvPicPr>
          <p:nvPr/>
        </p:nvPicPr>
        <p:blipFill>
          <a:blip r:embed="rId3" cstate="print"/>
          <a:srcRect/>
          <a:stretch>
            <a:fillRect/>
          </a:stretch>
        </p:blipFill>
        <p:spPr bwMode="auto">
          <a:xfrm>
            <a:off x="527050" y="1873250"/>
            <a:ext cx="7867650" cy="4754459"/>
          </a:xfrm>
          <a:prstGeom prst="rect">
            <a:avLst/>
          </a:prstGeom>
          <a:noFill/>
        </p:spPr>
      </p:pic>
      <p:sp>
        <p:nvSpPr>
          <p:cNvPr id="7" name="TextBox 6"/>
          <p:cNvSpPr txBox="1"/>
          <p:nvPr/>
        </p:nvSpPr>
        <p:spPr>
          <a:xfrm>
            <a:off x="0" y="614798"/>
            <a:ext cx="9144000" cy="1125101"/>
          </a:xfrm>
          <a:prstGeom prst="rect">
            <a:avLst/>
          </a:prstGeom>
          <a:noFill/>
        </p:spPr>
        <p:txBody>
          <a:bodyPr wrap="square" rtlCol="0">
            <a:noAutofit/>
          </a:bodyPr>
          <a:lstStyle/>
          <a:p>
            <a:pPr indent="-457200">
              <a:buClr>
                <a:srgbClr val="C00000"/>
              </a:buClr>
              <a:buFont typeface="Wingdings" pitchFamily="2" charset="2"/>
              <a:buChar char="v"/>
            </a:pPr>
            <a:r>
              <a:rPr lang="ru-RU" dirty="0"/>
              <a:t>Важное положение </a:t>
            </a:r>
            <a:r>
              <a:rPr lang="ru-RU" dirty="0" err="1"/>
              <a:t>Data</a:t>
            </a:r>
            <a:r>
              <a:rPr lang="ru-RU" dirty="0"/>
              <a:t> </a:t>
            </a:r>
            <a:r>
              <a:rPr lang="ru-RU" dirty="0" err="1"/>
              <a:t>Mining</a:t>
            </a:r>
            <a:r>
              <a:rPr lang="ru-RU" dirty="0"/>
              <a:t> — </a:t>
            </a:r>
            <a:r>
              <a:rPr lang="ru-RU" dirty="0">
                <a:solidFill>
                  <a:srgbClr val="FF0000"/>
                </a:solidFill>
              </a:rPr>
              <a:t>нетривиальность</a:t>
            </a:r>
            <a:r>
              <a:rPr lang="ru-RU" dirty="0"/>
              <a:t> разыскиваемых шаблонов.</a:t>
            </a:r>
            <a:endParaRPr lang="en-US" dirty="0"/>
          </a:p>
          <a:p>
            <a:pPr indent="-457200">
              <a:buClr>
                <a:srgbClr val="C00000"/>
              </a:buClr>
              <a:buFont typeface="Wingdings" pitchFamily="2" charset="2"/>
              <a:buChar char="v"/>
            </a:pPr>
            <a:r>
              <a:rPr lang="ru-RU" dirty="0"/>
              <a:t> Это означает, что найденные шаблоны должны отражать неочевидные, </a:t>
            </a:r>
            <a:r>
              <a:rPr lang="ru-RU" dirty="0">
                <a:solidFill>
                  <a:srgbClr val="FF0000"/>
                </a:solidFill>
              </a:rPr>
              <a:t>неожиданные (</a:t>
            </a:r>
            <a:r>
              <a:rPr lang="ru-RU" dirty="0" err="1">
                <a:solidFill>
                  <a:srgbClr val="FF0000"/>
                </a:solidFill>
              </a:rPr>
              <a:t>unexpected</a:t>
            </a:r>
            <a:r>
              <a:rPr lang="ru-RU" dirty="0">
                <a:solidFill>
                  <a:srgbClr val="FF0000"/>
                </a:solidFill>
              </a:rPr>
              <a:t>) регулярности </a:t>
            </a:r>
            <a:r>
              <a:rPr lang="ru-RU" dirty="0"/>
              <a:t>в данных, составляющие так называемые скрытые знания (</a:t>
            </a:r>
            <a:r>
              <a:rPr lang="ru-RU" dirty="0" err="1"/>
              <a:t>hidden</a:t>
            </a:r>
            <a:r>
              <a:rPr lang="ru-RU" dirty="0"/>
              <a:t> </a:t>
            </a:r>
            <a:r>
              <a:rPr lang="ru-RU" dirty="0" err="1"/>
              <a:t>knowledge</a:t>
            </a:r>
            <a:r>
              <a:rPr lang="ru-RU" dirty="0"/>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52400" y="139700"/>
            <a:ext cx="8763000" cy="609600"/>
          </a:xfrm>
        </p:spPr>
        <p:txBody>
          <a:bodyPr/>
          <a:lstStyle/>
          <a:p>
            <a:pPr algn="ctr"/>
            <a:r>
              <a:rPr lang="ru-RU" sz="2800" dirty="0">
                <a:solidFill>
                  <a:schemeClr val="bg2"/>
                </a:solidFill>
              </a:rPr>
              <a:t>Классы систем </a:t>
            </a:r>
            <a:r>
              <a:rPr lang="en-US" sz="2800" dirty="0">
                <a:solidFill>
                  <a:schemeClr val="bg2"/>
                </a:solidFill>
              </a:rPr>
              <a:t>Data Mining</a:t>
            </a:r>
          </a:p>
        </p:txBody>
      </p:sp>
      <p:sp>
        <p:nvSpPr>
          <p:cNvPr id="43011" name="Rectangle 3"/>
          <p:cNvSpPr>
            <a:spLocks noGrp="1" noChangeArrowheads="1"/>
          </p:cNvSpPr>
          <p:nvPr>
            <p:ph type="body" idx="1"/>
          </p:nvPr>
        </p:nvSpPr>
        <p:spPr>
          <a:xfrm>
            <a:off x="0" y="673100"/>
            <a:ext cx="9144000" cy="1466850"/>
          </a:xfrm>
        </p:spPr>
        <p:txBody>
          <a:bodyPr>
            <a:normAutofit/>
          </a:bodyPr>
          <a:lstStyle/>
          <a:p>
            <a:pPr>
              <a:lnSpc>
                <a:spcPct val="120000"/>
              </a:lnSpc>
            </a:pPr>
            <a:r>
              <a:rPr lang="ru-RU" sz="2800" dirty="0" err="1"/>
              <a:t>Data</a:t>
            </a:r>
            <a:r>
              <a:rPr lang="ru-RU" sz="2800" dirty="0"/>
              <a:t> </a:t>
            </a:r>
            <a:r>
              <a:rPr lang="ru-RU" sz="2800" dirty="0" err="1"/>
              <a:t>Mining</a:t>
            </a:r>
            <a:r>
              <a:rPr lang="ru-RU" sz="2800" dirty="0"/>
              <a:t> является </a:t>
            </a:r>
            <a:r>
              <a:rPr lang="ru-RU" sz="2800" dirty="0" err="1"/>
              <a:t>мультидисциплинарной</a:t>
            </a:r>
            <a:r>
              <a:rPr lang="ru-RU" sz="2800" dirty="0"/>
              <a:t> областью </a:t>
            </a:r>
            <a:endParaRPr lang="en-US" sz="2800" dirty="0"/>
          </a:p>
        </p:txBody>
      </p:sp>
      <p:sp>
        <p:nvSpPr>
          <p:cNvPr id="6" name="Номер слайда 5"/>
          <p:cNvSpPr>
            <a:spLocks noGrp="1"/>
          </p:cNvSpPr>
          <p:nvPr>
            <p:ph type="sldNum" sz="quarter" idx="11"/>
          </p:nvPr>
        </p:nvSpPr>
        <p:spPr>
          <a:xfrm>
            <a:off x="7994650" y="6248400"/>
            <a:ext cx="692150" cy="381000"/>
          </a:xfrm>
        </p:spPr>
        <p:txBody>
          <a:bodyPr/>
          <a:lstStyle/>
          <a:p>
            <a:fld id="{4DC7491D-CDB9-48BE-BADB-11210BC61B1D}" type="slidenum">
              <a:rPr lang="ru-RU" smtClean="0"/>
              <a:pPr/>
              <a:t>42</a:t>
            </a:fld>
            <a:endParaRPr lang="ru-RU" dirty="0"/>
          </a:p>
        </p:txBody>
      </p:sp>
      <p:pic>
        <p:nvPicPr>
          <p:cNvPr id="56322" name="Picture 2" descr="http://www.inftech.webservis.ru/it/database/datamining/images/ar2small005.jpg"/>
          <p:cNvPicPr>
            <a:picLocks noChangeAspect="1" noChangeArrowheads="1"/>
          </p:cNvPicPr>
          <p:nvPr/>
        </p:nvPicPr>
        <p:blipFill>
          <a:blip r:embed="rId3" cstate="print"/>
          <a:srcRect/>
          <a:stretch>
            <a:fillRect/>
          </a:stretch>
        </p:blipFill>
        <p:spPr bwMode="auto">
          <a:xfrm>
            <a:off x="1371600" y="1651000"/>
            <a:ext cx="7156450" cy="4825183"/>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52400" y="139700"/>
            <a:ext cx="8763000" cy="609600"/>
          </a:xfrm>
        </p:spPr>
        <p:txBody>
          <a:bodyPr/>
          <a:lstStyle/>
          <a:p>
            <a:pPr algn="ctr"/>
            <a:r>
              <a:rPr lang="ru-RU" sz="2800" dirty="0">
                <a:solidFill>
                  <a:schemeClr val="bg2"/>
                </a:solidFill>
              </a:rPr>
              <a:t>Методы аналитической обработки данных в ХД</a:t>
            </a:r>
          </a:p>
        </p:txBody>
      </p:sp>
      <p:sp>
        <p:nvSpPr>
          <p:cNvPr id="43011" name="Rectangle 3"/>
          <p:cNvSpPr>
            <a:spLocks noGrp="1" noChangeArrowheads="1"/>
          </p:cNvSpPr>
          <p:nvPr>
            <p:ph type="body" idx="1"/>
          </p:nvPr>
        </p:nvSpPr>
        <p:spPr>
          <a:xfrm>
            <a:off x="0" y="673100"/>
            <a:ext cx="9144000" cy="5848350"/>
          </a:xfrm>
        </p:spPr>
        <p:txBody>
          <a:bodyPr>
            <a:normAutofit fontScale="92500"/>
          </a:bodyPr>
          <a:lstStyle/>
          <a:p>
            <a:pPr>
              <a:lnSpc>
                <a:spcPct val="120000"/>
              </a:lnSpc>
            </a:pPr>
            <a:r>
              <a:rPr lang="ru-RU" sz="2800" dirty="0"/>
              <a:t>В аналитических системах для обработки данных используется очень широкая номенклатура методов.</a:t>
            </a:r>
          </a:p>
          <a:p>
            <a:pPr>
              <a:lnSpc>
                <a:spcPct val="120000"/>
              </a:lnSpc>
            </a:pPr>
            <a:r>
              <a:rPr lang="ru-RU" sz="2800" u="sng" dirty="0"/>
              <a:t>Традиционные статистические методы </a:t>
            </a:r>
            <a:r>
              <a:rPr lang="ru-RU" sz="2800" dirty="0"/>
              <a:t>регрессионного, факторного, дисперсионного анализа, анализа временных рядов</a:t>
            </a:r>
          </a:p>
          <a:p>
            <a:pPr>
              <a:lnSpc>
                <a:spcPct val="120000"/>
              </a:lnSpc>
            </a:pPr>
            <a:r>
              <a:rPr lang="ru-RU" sz="2800" dirty="0"/>
              <a:t> </a:t>
            </a:r>
            <a:r>
              <a:rPr lang="ru-RU" sz="2800" u="sng" dirty="0"/>
              <a:t>Современные методы, основанные на искусственном интеллекте</a:t>
            </a:r>
            <a:r>
              <a:rPr lang="ru-RU" sz="2800" dirty="0"/>
              <a:t>: нейронные сети, нечеткую логику, генетические алгоритмы, методы извлечения знаний. </a:t>
            </a:r>
          </a:p>
          <a:p>
            <a:pPr>
              <a:lnSpc>
                <a:spcPct val="120000"/>
              </a:lnSpc>
            </a:pPr>
            <a:r>
              <a:rPr lang="ru-RU" sz="2800" dirty="0"/>
              <a:t>В совокупности они именуются </a:t>
            </a:r>
            <a:r>
              <a:rPr lang="ru-RU" sz="2800" i="1" dirty="0"/>
              <a:t>методами интеллектуального анализа данных</a:t>
            </a:r>
            <a:r>
              <a:rPr lang="ru-RU" sz="2800" dirty="0"/>
              <a:t> (ИАД) – </a:t>
            </a:r>
            <a:br>
              <a:rPr lang="en-US" sz="2800" dirty="0"/>
            </a:br>
            <a:r>
              <a:rPr lang="en-US" sz="3500" dirty="0">
                <a:solidFill>
                  <a:schemeClr val="bg2"/>
                </a:solidFill>
              </a:rPr>
              <a:t>Data Mining</a:t>
            </a:r>
            <a:endParaRPr lang="ru-RU" sz="3500" dirty="0">
              <a:solidFill>
                <a:schemeClr val="bg2"/>
              </a:solidFill>
            </a:endParaRPr>
          </a:p>
        </p:txBody>
      </p:sp>
      <p:sp>
        <p:nvSpPr>
          <p:cNvPr id="6" name="Номер слайда 5"/>
          <p:cNvSpPr>
            <a:spLocks noGrp="1"/>
          </p:cNvSpPr>
          <p:nvPr>
            <p:ph type="sldNum" sz="quarter" idx="11"/>
          </p:nvPr>
        </p:nvSpPr>
        <p:spPr>
          <a:xfrm>
            <a:off x="7994650" y="6248400"/>
            <a:ext cx="692150" cy="381000"/>
          </a:xfrm>
        </p:spPr>
        <p:txBody>
          <a:bodyPr/>
          <a:lstStyle/>
          <a:p>
            <a:fld id="{4DC7491D-CDB9-48BE-BADB-11210BC61B1D}" type="slidenum">
              <a:rPr lang="ru-RU" smtClean="0"/>
              <a:pPr/>
              <a:t>43</a:t>
            </a:fld>
            <a:endParaRPr lang="ru-R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wipe(up)">
                                      <p:cBhvr>
                                        <p:cTn id="7" dur="500"/>
                                        <p:tgtEl>
                                          <p:spTgt spid="430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3011">
                                            <p:txEl>
                                              <p:pRg st="1" end="1"/>
                                            </p:txEl>
                                          </p:spTgt>
                                        </p:tgtEl>
                                        <p:attrNameLst>
                                          <p:attrName>style.visibility</p:attrName>
                                        </p:attrNameLst>
                                      </p:cBhvr>
                                      <p:to>
                                        <p:strVal val="visible"/>
                                      </p:to>
                                    </p:set>
                                    <p:animEffect transition="in" filter="wipe(up)">
                                      <p:cBhvr>
                                        <p:cTn id="12" dur="500"/>
                                        <p:tgtEl>
                                          <p:spTgt spid="430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3011">
                                            <p:txEl>
                                              <p:pRg st="2" end="2"/>
                                            </p:txEl>
                                          </p:spTgt>
                                        </p:tgtEl>
                                        <p:attrNameLst>
                                          <p:attrName>style.visibility</p:attrName>
                                        </p:attrNameLst>
                                      </p:cBhvr>
                                      <p:to>
                                        <p:strVal val="visible"/>
                                      </p:to>
                                    </p:set>
                                    <p:animEffect transition="in" filter="wipe(up)">
                                      <p:cBhvr>
                                        <p:cTn id="17" dur="500"/>
                                        <p:tgtEl>
                                          <p:spTgt spid="430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3011">
                                            <p:txEl>
                                              <p:pRg st="3" end="3"/>
                                            </p:txEl>
                                          </p:spTgt>
                                        </p:tgtEl>
                                        <p:attrNameLst>
                                          <p:attrName>style.visibility</p:attrName>
                                        </p:attrNameLst>
                                      </p:cBhvr>
                                      <p:to>
                                        <p:strVal val="visible"/>
                                      </p:to>
                                    </p:set>
                                    <p:animEffect transition="in" filter="wipe(up)">
                                      <p:cBhvr>
                                        <p:cTn id="22" dur="500"/>
                                        <p:tgtEl>
                                          <p:spTgt spid="430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52400" y="139700"/>
            <a:ext cx="8763000" cy="609600"/>
          </a:xfrm>
        </p:spPr>
        <p:txBody>
          <a:bodyPr/>
          <a:lstStyle/>
          <a:p>
            <a:pPr algn="ctr"/>
            <a:r>
              <a:rPr lang="ru-RU" sz="2800" dirty="0">
                <a:solidFill>
                  <a:schemeClr val="bg2"/>
                </a:solidFill>
              </a:rPr>
              <a:t>Методы аналитической обработки данных в ХД</a:t>
            </a:r>
          </a:p>
        </p:txBody>
      </p:sp>
      <p:sp>
        <p:nvSpPr>
          <p:cNvPr id="43011" name="Rectangle 3"/>
          <p:cNvSpPr>
            <a:spLocks noGrp="1" noChangeArrowheads="1"/>
          </p:cNvSpPr>
          <p:nvPr>
            <p:ph type="body" idx="1"/>
          </p:nvPr>
        </p:nvSpPr>
        <p:spPr>
          <a:xfrm>
            <a:off x="108520" y="911020"/>
            <a:ext cx="9144000" cy="5848350"/>
          </a:xfrm>
        </p:spPr>
        <p:txBody>
          <a:bodyPr>
            <a:normAutofit fontScale="92500" lnSpcReduction="10000"/>
          </a:bodyPr>
          <a:lstStyle/>
          <a:p>
            <a:pPr>
              <a:buNone/>
            </a:pPr>
            <a:r>
              <a:rPr lang="ru-RU" sz="2800" dirty="0"/>
              <a:t>В большинстве случаев средства анализа данных в СППР на основе ХД используются для решения следующих задач:</a:t>
            </a:r>
          </a:p>
          <a:p>
            <a:pPr lvl="0"/>
            <a:r>
              <a:rPr lang="ru-RU" sz="2800" dirty="0"/>
              <a:t>выделение в данных групп, сходных по некоторым признакам записей (</a:t>
            </a:r>
            <a:r>
              <a:rPr lang="ru-RU" sz="2800" b="1" dirty="0"/>
              <a:t>кластерный анализ</a:t>
            </a:r>
            <a:r>
              <a:rPr lang="ru-RU" sz="2800" dirty="0"/>
              <a:t>);</a:t>
            </a:r>
          </a:p>
          <a:p>
            <a:pPr lvl="0">
              <a:lnSpc>
                <a:spcPct val="110000"/>
              </a:lnSpc>
            </a:pPr>
            <a:r>
              <a:rPr lang="ru-RU" sz="2800" b="1" dirty="0"/>
              <a:t>нахождение и аппроксимация зависимостей</a:t>
            </a:r>
            <a:r>
              <a:rPr lang="ru-RU" sz="2800" dirty="0"/>
              <a:t>, связывающих анализируемые параметры или события, а также поиск параметров, наиболее значимых в терминах конкретной задачи;</a:t>
            </a:r>
          </a:p>
          <a:p>
            <a:pPr lvl="0"/>
            <a:r>
              <a:rPr lang="ru-RU" sz="2800" dirty="0"/>
              <a:t>поиск данных, существенно отклоняющихся от выявленных закономерностей (</a:t>
            </a:r>
            <a:r>
              <a:rPr lang="ru-RU" sz="2800" b="1" dirty="0"/>
              <a:t>анализ аномалий</a:t>
            </a:r>
            <a:r>
              <a:rPr lang="ru-RU" sz="2800" dirty="0"/>
              <a:t>);</a:t>
            </a:r>
          </a:p>
          <a:p>
            <a:r>
              <a:rPr lang="ru-RU" sz="2800" b="1" dirty="0"/>
              <a:t>прогнозирование развития объектов </a:t>
            </a:r>
            <a:r>
              <a:rPr lang="ru-RU" sz="2800" dirty="0"/>
              <a:t>различной природы на основе хранящейся ретроспективной информации об их состоянии в прошлом.</a:t>
            </a:r>
          </a:p>
          <a:p>
            <a:pPr lvl="0"/>
            <a:endParaRPr lang="ru-RU" sz="2800" dirty="0"/>
          </a:p>
        </p:txBody>
      </p:sp>
      <p:sp>
        <p:nvSpPr>
          <p:cNvPr id="6" name="Номер слайда 5"/>
          <p:cNvSpPr>
            <a:spLocks noGrp="1"/>
          </p:cNvSpPr>
          <p:nvPr>
            <p:ph type="sldNum" sz="quarter" idx="11"/>
          </p:nvPr>
        </p:nvSpPr>
        <p:spPr>
          <a:xfrm>
            <a:off x="7994650" y="6248400"/>
            <a:ext cx="692150" cy="381000"/>
          </a:xfrm>
        </p:spPr>
        <p:txBody>
          <a:bodyPr/>
          <a:lstStyle/>
          <a:p>
            <a:fld id="{4DC7491D-CDB9-48BE-BADB-11210BC61B1D}" type="slidenum">
              <a:rPr lang="ru-RU" smtClean="0"/>
              <a:pPr/>
              <a:t>44</a:t>
            </a:fld>
            <a:endParaRPr lang="ru-R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wipe(up)">
                                      <p:cBhvr>
                                        <p:cTn id="7" dur="500"/>
                                        <p:tgtEl>
                                          <p:spTgt spid="430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3011">
                                            <p:txEl>
                                              <p:pRg st="1" end="1"/>
                                            </p:txEl>
                                          </p:spTgt>
                                        </p:tgtEl>
                                        <p:attrNameLst>
                                          <p:attrName>style.visibility</p:attrName>
                                        </p:attrNameLst>
                                      </p:cBhvr>
                                      <p:to>
                                        <p:strVal val="visible"/>
                                      </p:to>
                                    </p:set>
                                    <p:animEffect transition="in" filter="wipe(up)">
                                      <p:cBhvr>
                                        <p:cTn id="12" dur="500"/>
                                        <p:tgtEl>
                                          <p:spTgt spid="430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3011">
                                            <p:txEl>
                                              <p:pRg st="2" end="2"/>
                                            </p:txEl>
                                          </p:spTgt>
                                        </p:tgtEl>
                                        <p:attrNameLst>
                                          <p:attrName>style.visibility</p:attrName>
                                        </p:attrNameLst>
                                      </p:cBhvr>
                                      <p:to>
                                        <p:strVal val="visible"/>
                                      </p:to>
                                    </p:set>
                                    <p:animEffect transition="in" filter="wipe(up)">
                                      <p:cBhvr>
                                        <p:cTn id="17" dur="500"/>
                                        <p:tgtEl>
                                          <p:spTgt spid="430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3011">
                                            <p:txEl>
                                              <p:pRg st="3" end="3"/>
                                            </p:txEl>
                                          </p:spTgt>
                                        </p:tgtEl>
                                        <p:attrNameLst>
                                          <p:attrName>style.visibility</p:attrName>
                                        </p:attrNameLst>
                                      </p:cBhvr>
                                      <p:to>
                                        <p:strVal val="visible"/>
                                      </p:to>
                                    </p:set>
                                    <p:animEffect transition="in" filter="wipe(up)">
                                      <p:cBhvr>
                                        <p:cTn id="22" dur="500"/>
                                        <p:tgtEl>
                                          <p:spTgt spid="430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3011">
                                            <p:txEl>
                                              <p:pRg st="4" end="4"/>
                                            </p:txEl>
                                          </p:spTgt>
                                        </p:tgtEl>
                                        <p:attrNameLst>
                                          <p:attrName>style.visibility</p:attrName>
                                        </p:attrNameLst>
                                      </p:cBhvr>
                                      <p:to>
                                        <p:strVal val="visible"/>
                                      </p:to>
                                    </p:set>
                                    <p:animEffect transition="in" filter="wipe(up)">
                                      <p:cBhvr>
                                        <p:cTn id="27" dur="500"/>
                                        <p:tgtEl>
                                          <p:spTgt spid="430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theme/theme1.xml><?xml version="1.0" encoding="utf-8"?>
<a:theme xmlns:a="http://schemas.openxmlformats.org/drawingml/2006/main" name="Пиксел">
  <a:themeElements>
    <a:clrScheme name="Пиксел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Пиксел">
      <a:majorFont>
        <a:latin typeface="Arial"/>
        <a:ea typeface=""/>
        <a:cs typeface="Arial"/>
      </a:majorFont>
      <a:minorFont>
        <a:latin typeface="Arial"/>
        <a:ea typeface=""/>
        <a:cs typeface="Arial"/>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Пиксел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Пиксел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Пиксел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Пиксел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Пиксел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Пиксел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Пиксел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Пиксел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Пиксел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Пиксел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Пиксел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Пиксел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Тема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4389</TotalTime>
  <Words>12845</Words>
  <Application>Microsoft Office PowerPoint</Application>
  <PresentationFormat>Экран (4:3)</PresentationFormat>
  <Paragraphs>980</Paragraphs>
  <Slides>44</Slides>
  <Notes>38</Notes>
  <HiddenSlides>0</HiddenSlides>
  <MMClips>0</MMClips>
  <ScaleCrop>false</ScaleCrop>
  <HeadingPairs>
    <vt:vector size="6" baseType="variant">
      <vt:variant>
        <vt:lpstr>Использованные шрифты</vt:lpstr>
      </vt:variant>
      <vt:variant>
        <vt:i4>9</vt:i4>
      </vt:variant>
      <vt:variant>
        <vt:lpstr>Тема</vt:lpstr>
      </vt:variant>
      <vt:variant>
        <vt:i4>1</vt:i4>
      </vt:variant>
      <vt:variant>
        <vt:lpstr>Заголовки слайдов</vt:lpstr>
      </vt:variant>
      <vt:variant>
        <vt:i4>44</vt:i4>
      </vt:variant>
    </vt:vector>
  </HeadingPairs>
  <TitlesOfParts>
    <vt:vector size="54" baseType="lpstr">
      <vt:lpstr>Arial</vt:lpstr>
      <vt:lpstr>Arial Black</vt:lpstr>
      <vt:lpstr>Symbol</vt:lpstr>
      <vt:lpstr>Times New Roman</vt:lpstr>
      <vt:lpstr>TimesNewRoman</vt:lpstr>
      <vt:lpstr>TimesNewRoman,Bold</vt:lpstr>
      <vt:lpstr>Times-Roman</vt:lpstr>
      <vt:lpstr>Wingdings</vt:lpstr>
      <vt:lpstr>YS Text</vt:lpstr>
      <vt:lpstr>Пиксел</vt:lpstr>
      <vt:lpstr>Системы, ориентированные на анализ данных</vt:lpstr>
      <vt:lpstr>Системы операционной обработки - OLTP </vt:lpstr>
      <vt:lpstr>Cовременные требования к переработке данных</vt:lpstr>
      <vt:lpstr>Проблемы инструмента для анализа данных</vt:lpstr>
      <vt:lpstr>Системы поддержки принятия решений - СППР</vt:lpstr>
      <vt:lpstr>Системы Business intelligence </vt:lpstr>
      <vt:lpstr>Особенности СППР</vt:lpstr>
      <vt:lpstr>Особенности СППР</vt:lpstr>
      <vt:lpstr>OnLine Analytical Processing - OLAP</vt:lpstr>
      <vt:lpstr>OnLine Analytical Processing - OLAP</vt:lpstr>
      <vt:lpstr>Хранилища</vt:lpstr>
      <vt:lpstr>Схема промышленного производства (упрощенная)</vt:lpstr>
      <vt:lpstr>Схема аналитической системы (упрощенная)</vt:lpstr>
      <vt:lpstr>Презентация PowerPoint</vt:lpstr>
      <vt:lpstr>Свойства хранилищ</vt:lpstr>
      <vt:lpstr>Свойства данных в OLTP и OLAP</vt:lpstr>
      <vt:lpstr>Задачи при создании ХД</vt:lpstr>
      <vt:lpstr>Модели данных для ХД</vt:lpstr>
      <vt:lpstr>Пример хранилища: социально-экономическая обстановка в России </vt:lpstr>
      <vt:lpstr>Представление данных в виде гиперкуба</vt:lpstr>
      <vt:lpstr>Многомерная модель данных</vt:lpstr>
      <vt:lpstr>Реляционная модель хранилища данных</vt:lpstr>
      <vt:lpstr>Пример: ROLAP – «Звезда»</vt:lpstr>
      <vt:lpstr>Пример: ROLAP – «Снежинка»</vt:lpstr>
      <vt:lpstr>Построение систем на основе хранилища данных</vt:lpstr>
      <vt:lpstr>Метаданные хранилища данных</vt:lpstr>
      <vt:lpstr>Функции метаданных в хранилище данных</vt:lpstr>
      <vt:lpstr>Концепции построения Хранилищ Данных</vt:lpstr>
      <vt:lpstr>Обработка данных без Хранилищ Данных</vt:lpstr>
      <vt:lpstr>Корпоративная Информационная Фабрика (Инмон)</vt:lpstr>
      <vt:lpstr>Корпоративная Информационная Фабрика (Инмон)</vt:lpstr>
      <vt:lpstr>Корпоративная Информационная Фабрика (Инмон)</vt:lpstr>
      <vt:lpstr>Хранилище данных c шинной топологией (Ralph Kimball)</vt:lpstr>
      <vt:lpstr>Характерные свойства подхода Кимболла</vt:lpstr>
      <vt:lpstr>Хранилище Данных С Шинной Топологией (Data Warehouse Bus)</vt:lpstr>
      <vt:lpstr>типичные черты подхода Ральфа Кимболла</vt:lpstr>
      <vt:lpstr>Факторы выбора одного из подходов</vt:lpstr>
      <vt:lpstr>Факторы выбора одного из подходов</vt:lpstr>
      <vt:lpstr>Data Mining</vt:lpstr>
      <vt:lpstr>OLAP - Data Mining</vt:lpstr>
      <vt:lpstr>Методы аналитической обработки данных в ХД</vt:lpstr>
      <vt:lpstr>Классы систем Data Mining</vt:lpstr>
      <vt:lpstr>Методы аналитической обработки данных в ХД</vt:lpstr>
      <vt:lpstr>Методы аналитической обработки данных в ХД</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Vista</dc:creator>
  <cp:lastModifiedBy>Борис Николаевич Пищик</cp:lastModifiedBy>
  <cp:revision>253</cp:revision>
  <cp:lastPrinted>1601-01-01T00:00:00Z</cp:lastPrinted>
  <dcterms:created xsi:type="dcterms:W3CDTF">2010-05-11T09:25:46Z</dcterms:created>
  <dcterms:modified xsi:type="dcterms:W3CDTF">2024-04-09T14:28:05Z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