
<file path=[Content_Types].xml><?xml version="1.0" encoding="utf-8"?>
<Types xmlns="http://schemas.openxmlformats.org/package/2006/content-types">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23"/>
  </p:notesMasterIdLst>
  <p:sldIdLst>
    <p:sldId id="256" r:id="rId2"/>
    <p:sldId id="278" r:id="rId3"/>
    <p:sldId id="300" r:id="rId4"/>
    <p:sldId id="273" r:id="rId5"/>
    <p:sldId id="299" r:id="rId6"/>
    <p:sldId id="317" r:id="rId7"/>
    <p:sldId id="275" r:id="rId8"/>
    <p:sldId id="298" r:id="rId9"/>
    <p:sldId id="305" r:id="rId10"/>
    <p:sldId id="306" r:id="rId11"/>
    <p:sldId id="307" r:id="rId12"/>
    <p:sldId id="311" r:id="rId13"/>
    <p:sldId id="308" r:id="rId14"/>
    <p:sldId id="309" r:id="rId15"/>
    <p:sldId id="310" r:id="rId16"/>
    <p:sldId id="312" r:id="rId17"/>
    <p:sldId id="314" r:id="rId18"/>
    <p:sldId id="313" r:id="rId19"/>
    <p:sldId id="290" r:id="rId20"/>
    <p:sldId id="318" r:id="rId21"/>
    <p:sldId id="319" r:id="rId22"/>
  </p:sldIdLst>
  <p:sldSz cx="9144000" cy="6858000" type="screen4x3"/>
  <p:notesSz cx="6858000" cy="9144000"/>
  <p:defaultTextStyle>
    <a:defPPr>
      <a:defRPr lang="ru-RU"/>
    </a:defPPr>
    <a:lvl1pPr algn="l" rtl="0" fontAlgn="base">
      <a:lnSpc>
        <a:spcPct val="90000"/>
      </a:lnSpc>
      <a:spcBef>
        <a:spcPct val="20000"/>
      </a:spcBef>
      <a:spcAft>
        <a:spcPct val="0"/>
      </a:spcAft>
      <a:buClr>
        <a:schemeClr val="bg2"/>
      </a:buClr>
      <a:buSzPct val="75000"/>
      <a:buFont typeface="Wingdings" pitchFamily="2" charset="2"/>
      <a:defRPr sz="2800" kern="1200">
        <a:solidFill>
          <a:schemeClr val="tx1"/>
        </a:solidFill>
        <a:latin typeface="Arial" charset="0"/>
        <a:ea typeface="+mn-ea"/>
        <a:cs typeface="Arial" charset="0"/>
      </a:defRPr>
    </a:lvl1pPr>
    <a:lvl2pPr marL="457200" algn="l" rtl="0" fontAlgn="base">
      <a:lnSpc>
        <a:spcPct val="90000"/>
      </a:lnSpc>
      <a:spcBef>
        <a:spcPct val="20000"/>
      </a:spcBef>
      <a:spcAft>
        <a:spcPct val="0"/>
      </a:spcAft>
      <a:buClr>
        <a:schemeClr val="bg2"/>
      </a:buClr>
      <a:buSzPct val="75000"/>
      <a:buFont typeface="Wingdings" pitchFamily="2" charset="2"/>
      <a:defRPr sz="2800" kern="1200">
        <a:solidFill>
          <a:schemeClr val="tx1"/>
        </a:solidFill>
        <a:latin typeface="Arial" charset="0"/>
        <a:ea typeface="+mn-ea"/>
        <a:cs typeface="Arial" charset="0"/>
      </a:defRPr>
    </a:lvl2pPr>
    <a:lvl3pPr marL="914400" algn="l" rtl="0" fontAlgn="base">
      <a:lnSpc>
        <a:spcPct val="90000"/>
      </a:lnSpc>
      <a:spcBef>
        <a:spcPct val="20000"/>
      </a:spcBef>
      <a:spcAft>
        <a:spcPct val="0"/>
      </a:spcAft>
      <a:buClr>
        <a:schemeClr val="bg2"/>
      </a:buClr>
      <a:buSzPct val="75000"/>
      <a:buFont typeface="Wingdings" pitchFamily="2" charset="2"/>
      <a:defRPr sz="2800" kern="1200">
        <a:solidFill>
          <a:schemeClr val="tx1"/>
        </a:solidFill>
        <a:latin typeface="Arial" charset="0"/>
        <a:ea typeface="+mn-ea"/>
        <a:cs typeface="Arial" charset="0"/>
      </a:defRPr>
    </a:lvl3pPr>
    <a:lvl4pPr marL="1371600" algn="l" rtl="0" fontAlgn="base">
      <a:lnSpc>
        <a:spcPct val="90000"/>
      </a:lnSpc>
      <a:spcBef>
        <a:spcPct val="20000"/>
      </a:spcBef>
      <a:spcAft>
        <a:spcPct val="0"/>
      </a:spcAft>
      <a:buClr>
        <a:schemeClr val="bg2"/>
      </a:buClr>
      <a:buSzPct val="75000"/>
      <a:buFont typeface="Wingdings" pitchFamily="2" charset="2"/>
      <a:defRPr sz="2800" kern="1200">
        <a:solidFill>
          <a:schemeClr val="tx1"/>
        </a:solidFill>
        <a:latin typeface="Arial" charset="0"/>
        <a:ea typeface="+mn-ea"/>
        <a:cs typeface="Arial" charset="0"/>
      </a:defRPr>
    </a:lvl4pPr>
    <a:lvl5pPr marL="1828800" algn="l" rtl="0" fontAlgn="base">
      <a:lnSpc>
        <a:spcPct val="90000"/>
      </a:lnSpc>
      <a:spcBef>
        <a:spcPct val="20000"/>
      </a:spcBef>
      <a:spcAft>
        <a:spcPct val="0"/>
      </a:spcAft>
      <a:buClr>
        <a:schemeClr val="bg2"/>
      </a:buClr>
      <a:buSzPct val="75000"/>
      <a:buFont typeface="Wingdings" pitchFamily="2" charset="2"/>
      <a:defRPr sz="2800" kern="1200">
        <a:solidFill>
          <a:schemeClr val="tx1"/>
        </a:solidFill>
        <a:latin typeface="Arial" charset="0"/>
        <a:ea typeface="+mn-ea"/>
        <a:cs typeface="Arial" charset="0"/>
      </a:defRPr>
    </a:lvl5pPr>
    <a:lvl6pPr marL="2286000" algn="l" defTabSz="914400" rtl="0" eaLnBrk="1" latinLnBrk="0" hangingPunct="1">
      <a:defRPr sz="2800" kern="1200">
        <a:solidFill>
          <a:schemeClr val="tx1"/>
        </a:solidFill>
        <a:latin typeface="Arial" charset="0"/>
        <a:ea typeface="+mn-ea"/>
        <a:cs typeface="Arial" charset="0"/>
      </a:defRPr>
    </a:lvl6pPr>
    <a:lvl7pPr marL="2743200" algn="l" defTabSz="914400" rtl="0" eaLnBrk="1" latinLnBrk="0" hangingPunct="1">
      <a:defRPr sz="2800" kern="1200">
        <a:solidFill>
          <a:schemeClr val="tx1"/>
        </a:solidFill>
        <a:latin typeface="Arial" charset="0"/>
        <a:ea typeface="+mn-ea"/>
        <a:cs typeface="Arial" charset="0"/>
      </a:defRPr>
    </a:lvl7pPr>
    <a:lvl8pPr marL="3200400" algn="l" defTabSz="914400" rtl="0" eaLnBrk="1" latinLnBrk="0" hangingPunct="1">
      <a:defRPr sz="2800" kern="1200">
        <a:solidFill>
          <a:schemeClr val="tx1"/>
        </a:solidFill>
        <a:latin typeface="Arial" charset="0"/>
        <a:ea typeface="+mn-ea"/>
        <a:cs typeface="Arial" charset="0"/>
      </a:defRPr>
    </a:lvl8pPr>
    <a:lvl9pPr marL="3657600" algn="l" defTabSz="914400" rtl="0" eaLnBrk="1" latinLnBrk="0" hangingPunct="1">
      <a:defRPr sz="28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3333FF"/>
    <a:srgbClr val="DE411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306" autoAdjust="0"/>
  </p:normalViewPr>
  <p:slideViewPr>
    <p:cSldViewPr>
      <p:cViewPr varScale="1">
        <p:scale>
          <a:sx n="92" d="100"/>
          <a:sy n="92" d="100"/>
        </p:scale>
        <p:origin x="1344" y="96"/>
      </p:cViewPr>
      <p:guideLst>
        <p:guide orient="horz" pos="2160"/>
        <p:guide pos="2880"/>
      </p:guideLst>
    </p:cSldViewPr>
  </p:slideViewPr>
  <p:notesTextViewPr>
    <p:cViewPr>
      <p:scale>
        <a:sx n="100" d="100"/>
        <a:sy n="100" d="100"/>
      </p:scale>
      <p:origin x="0" y="0"/>
    </p:cViewPr>
  </p:notesText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6ACAF02E-25A7-4D4E-83BC-70C07FAFAF69}" type="datetimeFigureOut">
              <a:rPr lang="ru-RU"/>
              <a:pPr>
                <a:defRPr/>
              </a:pPr>
              <a:t>03.03.2022</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ru-RU" noProof="0" smtClean="0"/>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noProof="0" smtClean="0"/>
              <a:t>Образец текста</a:t>
            </a:r>
          </a:p>
          <a:p>
            <a:pPr lvl="1"/>
            <a:r>
              <a:rPr lang="ru-RU" noProof="0" smtClean="0"/>
              <a:t>Второй уровень</a:t>
            </a:r>
          </a:p>
          <a:p>
            <a:pPr lvl="2"/>
            <a:r>
              <a:rPr lang="ru-RU" noProof="0" smtClean="0"/>
              <a:t>Третий уровень</a:t>
            </a:r>
          </a:p>
          <a:p>
            <a:pPr lvl="3"/>
            <a:r>
              <a:rPr lang="ru-RU" noProof="0" smtClean="0"/>
              <a:t>Четвертый уровень</a:t>
            </a:r>
          </a:p>
          <a:p>
            <a:pPr lvl="4"/>
            <a:r>
              <a:rPr lang="ru-RU" noProof="0" smtClean="0"/>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EF60F46B-D2DB-4569-A89C-1B96B7CD04F1}" type="slidenum">
              <a:rPr lang="ru-RU"/>
              <a:pPr>
                <a:defRPr/>
              </a:pPr>
              <a:t>‹#›</a:t>
            </a:fld>
            <a:endParaRPr lang="ru-RU"/>
          </a:p>
        </p:txBody>
      </p:sp>
    </p:spTree>
    <p:extLst>
      <p:ext uri="{BB962C8B-B14F-4D97-AF65-F5344CB8AC3E}">
        <p14:creationId xmlns:p14="http://schemas.microsoft.com/office/powerpoint/2010/main" val="42761202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Образ слайда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ru-RU" dirty="0" smtClean="0"/>
          </a:p>
        </p:txBody>
      </p:sp>
      <p:sp>
        <p:nvSpPr>
          <p:cNvPr id="20484"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fld id="{E3F88F7D-B5C4-48A8-84B8-914A52354A04}" type="slidenum">
              <a:rPr lang="ru-RU" sz="1200" smtClean="0"/>
              <a:pPr eaLnBrk="1" hangingPunct="1"/>
              <a:t>2</a:t>
            </a:fld>
            <a:endParaRPr lang="ru-RU" sz="1200"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Образ слайда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ru-RU" dirty="0" smtClean="0"/>
              <a:t>Если используется </a:t>
            </a:r>
            <a:r>
              <a:rPr lang="ru-RU" b="1" dirty="0" smtClean="0"/>
              <a:t>первый вариант</a:t>
            </a:r>
            <a:r>
              <a:rPr lang="ru-RU" dirty="0" smtClean="0"/>
              <a:t>, то указатель может ссылаться на </a:t>
            </a:r>
            <a:r>
              <a:rPr lang="ru-RU" dirty="0" err="1" smtClean="0"/>
              <a:t>субблок</a:t>
            </a:r>
            <a:r>
              <a:rPr lang="ru-RU" dirty="0" smtClean="0"/>
              <a:t> или блок, в котором она содержится. В последнем случае для нахождения требуемой записи (записей) необходим поиск блока. Таким образом, записи файла являются закрепленными, по крайней мере, внутри блока. Указатель может также ссылаться на участок, содержащий требуемую запись (записи), если в применяемой организации записей фиксированной длины предусмотрены участки. Тогда для поиска записи необходим просмотр полного участка. Однако записи при этом не закрепляются (за исключением закрепления внутри участка), если на данный файл нет иных указателей, кроме указателей во вторичном индексе.</a:t>
            </a:r>
          </a:p>
          <a:p>
            <a:r>
              <a:rPr lang="ru-RU" dirty="0" smtClean="0"/>
              <a:t>При использовании </a:t>
            </a:r>
            <a:r>
              <a:rPr lang="ru-RU" b="1" dirty="0" smtClean="0"/>
              <a:t>второго варианта</a:t>
            </a:r>
            <a:r>
              <a:rPr lang="ru-RU" dirty="0" smtClean="0"/>
              <a:t> записи главного файла не закрепляются указателями из вторичного индекса. Однако в отличие от первого варианта в данном случае потребуется </a:t>
            </a:r>
            <a:r>
              <a:rPr lang="ru-RU" i="1" dirty="0" smtClean="0"/>
              <a:t>несколько дополнительных доступов к блокам</a:t>
            </a:r>
            <a:r>
              <a:rPr lang="ru-RU" dirty="0" smtClean="0"/>
              <a:t> для выполнения поиска записи </a:t>
            </a:r>
            <a:r>
              <a:rPr lang="ru-RU" i="1" dirty="0" smtClean="0"/>
              <a:t>по </a:t>
            </a:r>
            <a:r>
              <a:rPr lang="ru-RU" dirty="0" smtClean="0"/>
              <a:t>заданному значению ее ключа. В то же время при первом варианте мы непосредственно приходим к этой записи или по крайней мере к содержащему ее блоку или участку.</a:t>
            </a:r>
          </a:p>
        </p:txBody>
      </p:sp>
      <p:sp>
        <p:nvSpPr>
          <p:cNvPr id="21508" name="Номер слайда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fld id="{C6B92E7C-DFE6-4EB9-ACC4-88E59AC276A1}" type="slidenum">
              <a:rPr lang="ru-RU" sz="1200" smtClean="0"/>
              <a:pPr eaLnBrk="1" hangingPunct="1"/>
              <a:t>9</a:t>
            </a:fld>
            <a:endParaRPr lang="ru-RU" sz="120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lnSpc>
                  <a:spcPct val="100000"/>
                </a:lnSpc>
                <a:spcBef>
                  <a:spcPct val="0"/>
                </a:spcBef>
                <a:buClrTx/>
                <a:buSzTx/>
                <a:buFontTx/>
                <a:buNone/>
                <a:defRPr/>
              </a:pPr>
              <a:endParaRPr lang="ru-RU"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grpSp>
      </p:grpSp>
      <p:sp>
        <p:nvSpPr>
          <p:cNvPr id="5139"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ru-RU" noProof="0" smtClean="0"/>
              <a:t>Образец заголовка</a:t>
            </a:r>
          </a:p>
        </p:txBody>
      </p:sp>
      <p:sp>
        <p:nvSpPr>
          <p:cNvPr id="5140"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ru-RU" noProof="0" smtClean="0"/>
              <a:t>Образец подзаголовка</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ru-RU"/>
          </a:p>
        </p:txBody>
      </p:sp>
      <p:sp>
        <p:nvSpPr>
          <p:cNvPr id="19" name="Rectangle 17"/>
          <p:cNvSpPr>
            <a:spLocks noGrp="1" noChangeArrowheads="1"/>
          </p:cNvSpPr>
          <p:nvPr>
            <p:ph type="ftr" sz="quarter" idx="11"/>
          </p:nvPr>
        </p:nvSpPr>
        <p:spPr/>
        <p:txBody>
          <a:bodyPr/>
          <a:lstStyle>
            <a:lvl1pPr>
              <a:defRPr/>
            </a:lvl1pPr>
          </a:lstStyle>
          <a:p>
            <a:pPr>
              <a:defRPr/>
            </a:pPr>
            <a:endParaRPr lang="ru-RU"/>
          </a:p>
        </p:txBody>
      </p:sp>
      <p:sp>
        <p:nvSpPr>
          <p:cNvPr id="20" name="Rectangle 18"/>
          <p:cNvSpPr>
            <a:spLocks noGrp="1" noChangeArrowheads="1"/>
          </p:cNvSpPr>
          <p:nvPr>
            <p:ph type="sldNum" sz="quarter" idx="12"/>
          </p:nvPr>
        </p:nvSpPr>
        <p:spPr/>
        <p:txBody>
          <a:bodyPr/>
          <a:lstStyle>
            <a:lvl1pPr>
              <a:defRPr/>
            </a:lvl1pPr>
          </a:lstStyle>
          <a:p>
            <a:pPr>
              <a:defRPr/>
            </a:pPr>
            <a:fld id="{0358AC55-A198-4071-BEF4-20574650281F}" type="slidenum">
              <a:rPr lang="ru-RU"/>
              <a:pPr>
                <a:defRPr/>
              </a:pPr>
              <a:t>‹#›</a:t>
            </a:fld>
            <a:endParaRPr lang="ru-RU"/>
          </a:p>
        </p:txBody>
      </p:sp>
    </p:spTree>
    <p:extLst>
      <p:ext uri="{BB962C8B-B14F-4D97-AF65-F5344CB8AC3E}">
        <p14:creationId xmlns:p14="http://schemas.microsoft.com/office/powerpoint/2010/main" val="3104248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Rectangle 2"/>
          <p:cNvSpPr>
            <a:spLocks noGrp="1" noChangeArrowheads="1"/>
          </p:cNvSpPr>
          <p:nvPr>
            <p:ph type="ftr" sz="quarter" idx="10"/>
          </p:nvPr>
        </p:nvSpPr>
        <p:spPr>
          <a:ln/>
        </p:spPr>
        <p:txBody>
          <a:bodyPr/>
          <a:lstStyle>
            <a:lvl1pPr>
              <a:defRPr/>
            </a:lvl1pPr>
          </a:lstStyle>
          <a:p>
            <a:pPr>
              <a:defRPr/>
            </a:pPr>
            <a:endParaRPr lang="ru-RU"/>
          </a:p>
        </p:txBody>
      </p:sp>
      <p:sp>
        <p:nvSpPr>
          <p:cNvPr id="5" name="Rectangle 3"/>
          <p:cNvSpPr>
            <a:spLocks noGrp="1" noChangeArrowheads="1"/>
          </p:cNvSpPr>
          <p:nvPr>
            <p:ph type="sldNum" sz="quarter" idx="11"/>
          </p:nvPr>
        </p:nvSpPr>
        <p:spPr>
          <a:ln/>
        </p:spPr>
        <p:txBody>
          <a:bodyPr/>
          <a:lstStyle>
            <a:lvl1pPr>
              <a:defRPr/>
            </a:lvl1pPr>
          </a:lstStyle>
          <a:p>
            <a:pPr>
              <a:defRPr/>
            </a:pPr>
            <a:fld id="{460CD48F-9E11-40D4-8CAB-15E06A1AF6CB}" type="slidenum">
              <a:rPr lang="ru-RU"/>
              <a:pPr>
                <a:defRPr/>
              </a:pPr>
              <a:t>‹#›</a:t>
            </a:fld>
            <a:endParaRPr lang="ru-RU"/>
          </a:p>
        </p:txBody>
      </p:sp>
      <p:sp>
        <p:nvSpPr>
          <p:cNvPr id="6"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2596663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smtClean="0"/>
              <a:t>Образец текста</a:t>
            </a:r>
          </a:p>
        </p:txBody>
      </p:sp>
      <p:sp>
        <p:nvSpPr>
          <p:cNvPr id="4" name="Rectangle 2"/>
          <p:cNvSpPr>
            <a:spLocks noGrp="1" noChangeArrowheads="1"/>
          </p:cNvSpPr>
          <p:nvPr>
            <p:ph type="ftr" sz="quarter" idx="10"/>
          </p:nvPr>
        </p:nvSpPr>
        <p:spPr>
          <a:ln/>
        </p:spPr>
        <p:txBody>
          <a:bodyPr/>
          <a:lstStyle>
            <a:lvl1pPr>
              <a:defRPr/>
            </a:lvl1pPr>
          </a:lstStyle>
          <a:p>
            <a:pPr>
              <a:defRPr/>
            </a:pPr>
            <a:endParaRPr lang="ru-RU"/>
          </a:p>
        </p:txBody>
      </p:sp>
      <p:sp>
        <p:nvSpPr>
          <p:cNvPr id="5" name="Rectangle 3"/>
          <p:cNvSpPr>
            <a:spLocks noGrp="1" noChangeArrowheads="1"/>
          </p:cNvSpPr>
          <p:nvPr>
            <p:ph type="sldNum" sz="quarter" idx="11"/>
          </p:nvPr>
        </p:nvSpPr>
        <p:spPr>
          <a:ln/>
        </p:spPr>
        <p:txBody>
          <a:bodyPr/>
          <a:lstStyle>
            <a:lvl1pPr>
              <a:defRPr/>
            </a:lvl1pPr>
          </a:lstStyle>
          <a:p>
            <a:pPr>
              <a:defRPr/>
            </a:pPr>
            <a:fld id="{DCA0D949-ADA6-437C-98F0-FFB71355CD1B}" type="slidenum">
              <a:rPr lang="ru-RU"/>
              <a:pPr>
                <a:defRPr/>
              </a:pPr>
              <a:t>‹#›</a:t>
            </a:fld>
            <a:endParaRPr lang="ru-RU"/>
          </a:p>
        </p:txBody>
      </p:sp>
      <p:sp>
        <p:nvSpPr>
          <p:cNvPr id="6"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4292710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Rectangle 2"/>
          <p:cNvSpPr>
            <a:spLocks noGrp="1" noChangeArrowheads="1"/>
          </p:cNvSpPr>
          <p:nvPr>
            <p:ph type="ftr" sz="quarter" idx="10"/>
          </p:nvPr>
        </p:nvSpPr>
        <p:spPr>
          <a:ln/>
        </p:spPr>
        <p:txBody>
          <a:bodyPr/>
          <a:lstStyle>
            <a:lvl1pPr>
              <a:defRPr/>
            </a:lvl1pPr>
          </a:lstStyle>
          <a:p>
            <a:pPr>
              <a:defRPr/>
            </a:pPr>
            <a:endParaRPr lang="ru-RU"/>
          </a:p>
        </p:txBody>
      </p:sp>
      <p:sp>
        <p:nvSpPr>
          <p:cNvPr id="6" name="Rectangle 3"/>
          <p:cNvSpPr>
            <a:spLocks noGrp="1" noChangeArrowheads="1"/>
          </p:cNvSpPr>
          <p:nvPr>
            <p:ph type="sldNum" sz="quarter" idx="11"/>
          </p:nvPr>
        </p:nvSpPr>
        <p:spPr>
          <a:ln/>
        </p:spPr>
        <p:txBody>
          <a:bodyPr/>
          <a:lstStyle>
            <a:lvl1pPr>
              <a:defRPr/>
            </a:lvl1pPr>
          </a:lstStyle>
          <a:p>
            <a:pPr>
              <a:defRPr/>
            </a:pPr>
            <a:fld id="{E7CDA6B3-E76E-492D-B648-2716B487C17A}" type="slidenum">
              <a:rPr lang="ru-RU"/>
              <a:pPr>
                <a:defRPr/>
              </a:pPr>
              <a:t>‹#›</a:t>
            </a:fld>
            <a:endParaRPr lang="ru-RU"/>
          </a:p>
        </p:txBody>
      </p:sp>
      <p:sp>
        <p:nvSpPr>
          <p:cNvPr id="7"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4103649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Rectangle 2"/>
          <p:cNvSpPr>
            <a:spLocks noGrp="1" noChangeArrowheads="1"/>
          </p:cNvSpPr>
          <p:nvPr>
            <p:ph type="ftr" sz="quarter" idx="10"/>
          </p:nvPr>
        </p:nvSpPr>
        <p:spPr>
          <a:ln/>
        </p:spPr>
        <p:txBody>
          <a:bodyPr/>
          <a:lstStyle>
            <a:lvl1pPr>
              <a:defRPr/>
            </a:lvl1pPr>
          </a:lstStyle>
          <a:p>
            <a:pPr>
              <a:defRPr/>
            </a:pPr>
            <a:endParaRPr lang="ru-RU"/>
          </a:p>
        </p:txBody>
      </p:sp>
      <p:sp>
        <p:nvSpPr>
          <p:cNvPr id="8" name="Rectangle 3"/>
          <p:cNvSpPr>
            <a:spLocks noGrp="1" noChangeArrowheads="1"/>
          </p:cNvSpPr>
          <p:nvPr>
            <p:ph type="sldNum" sz="quarter" idx="11"/>
          </p:nvPr>
        </p:nvSpPr>
        <p:spPr>
          <a:ln/>
        </p:spPr>
        <p:txBody>
          <a:bodyPr/>
          <a:lstStyle>
            <a:lvl1pPr>
              <a:defRPr/>
            </a:lvl1pPr>
          </a:lstStyle>
          <a:p>
            <a:pPr>
              <a:defRPr/>
            </a:pPr>
            <a:fld id="{BAC71044-224C-4585-98F9-B95DDA4F8E52}" type="slidenum">
              <a:rPr lang="ru-RU"/>
              <a:pPr>
                <a:defRPr/>
              </a:pPr>
              <a:t>‹#›</a:t>
            </a:fld>
            <a:endParaRPr lang="ru-RU"/>
          </a:p>
        </p:txBody>
      </p:sp>
      <p:sp>
        <p:nvSpPr>
          <p:cNvPr id="9"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3584370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Rectangle 2"/>
          <p:cNvSpPr>
            <a:spLocks noGrp="1" noChangeArrowheads="1"/>
          </p:cNvSpPr>
          <p:nvPr>
            <p:ph type="ftr" sz="quarter" idx="10"/>
          </p:nvPr>
        </p:nvSpPr>
        <p:spPr>
          <a:ln/>
        </p:spPr>
        <p:txBody>
          <a:bodyPr/>
          <a:lstStyle>
            <a:lvl1pPr>
              <a:defRPr/>
            </a:lvl1pPr>
          </a:lstStyle>
          <a:p>
            <a:pPr>
              <a:defRPr/>
            </a:pPr>
            <a:endParaRPr lang="ru-RU"/>
          </a:p>
        </p:txBody>
      </p:sp>
      <p:sp>
        <p:nvSpPr>
          <p:cNvPr id="4" name="Rectangle 3"/>
          <p:cNvSpPr>
            <a:spLocks noGrp="1" noChangeArrowheads="1"/>
          </p:cNvSpPr>
          <p:nvPr>
            <p:ph type="sldNum" sz="quarter" idx="11"/>
          </p:nvPr>
        </p:nvSpPr>
        <p:spPr>
          <a:ln/>
        </p:spPr>
        <p:txBody>
          <a:bodyPr/>
          <a:lstStyle>
            <a:lvl1pPr>
              <a:defRPr/>
            </a:lvl1pPr>
          </a:lstStyle>
          <a:p>
            <a:pPr>
              <a:defRPr/>
            </a:pPr>
            <a:fld id="{4CB88447-CD6E-44B4-8CCD-CD559ECEAF42}" type="slidenum">
              <a:rPr lang="ru-RU"/>
              <a:pPr>
                <a:defRPr/>
              </a:pPr>
              <a:t>‹#›</a:t>
            </a:fld>
            <a:endParaRPr lang="ru-RU"/>
          </a:p>
        </p:txBody>
      </p:sp>
      <p:sp>
        <p:nvSpPr>
          <p:cNvPr id="5"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2008520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ru-RU"/>
          </a:p>
        </p:txBody>
      </p:sp>
      <p:sp>
        <p:nvSpPr>
          <p:cNvPr id="3" name="Rectangle 3"/>
          <p:cNvSpPr>
            <a:spLocks noGrp="1" noChangeArrowheads="1"/>
          </p:cNvSpPr>
          <p:nvPr>
            <p:ph type="sldNum" sz="quarter" idx="11"/>
          </p:nvPr>
        </p:nvSpPr>
        <p:spPr>
          <a:ln/>
        </p:spPr>
        <p:txBody>
          <a:bodyPr/>
          <a:lstStyle>
            <a:lvl1pPr>
              <a:defRPr/>
            </a:lvl1pPr>
          </a:lstStyle>
          <a:p>
            <a:pPr>
              <a:defRPr/>
            </a:pPr>
            <a:fld id="{C06D3837-1022-42E2-98E1-179BE47253D4}" type="slidenum">
              <a:rPr lang="ru-RU"/>
              <a:pPr>
                <a:defRPr/>
              </a:pPr>
              <a:t>‹#›</a:t>
            </a:fld>
            <a:endParaRPr lang="ru-RU"/>
          </a:p>
        </p:txBody>
      </p:sp>
      <p:sp>
        <p:nvSpPr>
          <p:cNvPr id="4"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2215976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Rectangle 2"/>
          <p:cNvSpPr>
            <a:spLocks noGrp="1" noChangeArrowheads="1"/>
          </p:cNvSpPr>
          <p:nvPr>
            <p:ph type="ftr" sz="quarter" idx="10"/>
          </p:nvPr>
        </p:nvSpPr>
        <p:spPr>
          <a:ln/>
        </p:spPr>
        <p:txBody>
          <a:bodyPr/>
          <a:lstStyle>
            <a:lvl1pPr>
              <a:defRPr/>
            </a:lvl1pPr>
          </a:lstStyle>
          <a:p>
            <a:pPr>
              <a:defRPr/>
            </a:pPr>
            <a:endParaRPr lang="ru-RU"/>
          </a:p>
        </p:txBody>
      </p:sp>
      <p:sp>
        <p:nvSpPr>
          <p:cNvPr id="6" name="Rectangle 3"/>
          <p:cNvSpPr>
            <a:spLocks noGrp="1" noChangeArrowheads="1"/>
          </p:cNvSpPr>
          <p:nvPr>
            <p:ph type="sldNum" sz="quarter" idx="11"/>
          </p:nvPr>
        </p:nvSpPr>
        <p:spPr>
          <a:ln/>
        </p:spPr>
        <p:txBody>
          <a:bodyPr/>
          <a:lstStyle>
            <a:lvl1pPr>
              <a:defRPr/>
            </a:lvl1pPr>
          </a:lstStyle>
          <a:p>
            <a:pPr>
              <a:defRPr/>
            </a:pPr>
            <a:fld id="{D588ACCD-B5A3-4F69-84CD-FC1850311194}" type="slidenum">
              <a:rPr lang="ru-RU"/>
              <a:pPr>
                <a:defRPr/>
              </a:pPr>
              <a:t>‹#›</a:t>
            </a:fld>
            <a:endParaRPr lang="ru-RU"/>
          </a:p>
        </p:txBody>
      </p:sp>
      <p:sp>
        <p:nvSpPr>
          <p:cNvPr id="7"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4094690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smtClean="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Rectangle 2"/>
          <p:cNvSpPr>
            <a:spLocks noGrp="1" noChangeArrowheads="1"/>
          </p:cNvSpPr>
          <p:nvPr>
            <p:ph type="ftr" sz="quarter" idx="10"/>
          </p:nvPr>
        </p:nvSpPr>
        <p:spPr>
          <a:ln/>
        </p:spPr>
        <p:txBody>
          <a:bodyPr/>
          <a:lstStyle>
            <a:lvl1pPr>
              <a:defRPr/>
            </a:lvl1pPr>
          </a:lstStyle>
          <a:p>
            <a:pPr>
              <a:defRPr/>
            </a:pPr>
            <a:endParaRPr lang="ru-RU"/>
          </a:p>
        </p:txBody>
      </p:sp>
      <p:sp>
        <p:nvSpPr>
          <p:cNvPr id="6" name="Rectangle 3"/>
          <p:cNvSpPr>
            <a:spLocks noGrp="1" noChangeArrowheads="1"/>
          </p:cNvSpPr>
          <p:nvPr>
            <p:ph type="sldNum" sz="quarter" idx="11"/>
          </p:nvPr>
        </p:nvSpPr>
        <p:spPr>
          <a:ln/>
        </p:spPr>
        <p:txBody>
          <a:bodyPr/>
          <a:lstStyle>
            <a:lvl1pPr>
              <a:defRPr/>
            </a:lvl1pPr>
          </a:lstStyle>
          <a:p>
            <a:pPr>
              <a:defRPr/>
            </a:pPr>
            <a:fld id="{639C5C09-A67D-4D5E-907A-961BB6CD717F}" type="slidenum">
              <a:rPr lang="ru-RU"/>
              <a:pPr>
                <a:defRPr/>
              </a:pPr>
              <a:t>‹#›</a:t>
            </a:fld>
            <a:endParaRPr lang="ru-RU"/>
          </a:p>
        </p:txBody>
      </p:sp>
      <p:sp>
        <p:nvSpPr>
          <p:cNvPr id="7"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1532347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Rectangle 2"/>
          <p:cNvSpPr>
            <a:spLocks noGrp="1" noChangeArrowheads="1"/>
          </p:cNvSpPr>
          <p:nvPr>
            <p:ph type="ftr" sz="quarter" idx="10"/>
          </p:nvPr>
        </p:nvSpPr>
        <p:spPr>
          <a:ln/>
        </p:spPr>
        <p:txBody>
          <a:bodyPr/>
          <a:lstStyle>
            <a:lvl1pPr>
              <a:defRPr/>
            </a:lvl1pPr>
          </a:lstStyle>
          <a:p>
            <a:pPr>
              <a:defRPr/>
            </a:pPr>
            <a:endParaRPr lang="ru-RU"/>
          </a:p>
        </p:txBody>
      </p:sp>
      <p:sp>
        <p:nvSpPr>
          <p:cNvPr id="5" name="Rectangle 3"/>
          <p:cNvSpPr>
            <a:spLocks noGrp="1" noChangeArrowheads="1"/>
          </p:cNvSpPr>
          <p:nvPr>
            <p:ph type="sldNum" sz="quarter" idx="11"/>
          </p:nvPr>
        </p:nvSpPr>
        <p:spPr>
          <a:ln/>
        </p:spPr>
        <p:txBody>
          <a:bodyPr/>
          <a:lstStyle>
            <a:lvl1pPr>
              <a:defRPr/>
            </a:lvl1pPr>
          </a:lstStyle>
          <a:p>
            <a:pPr>
              <a:defRPr/>
            </a:pPr>
            <a:fld id="{8DCABA58-A8E9-4C70-BEFC-F9584471F83B}" type="slidenum">
              <a:rPr lang="ru-RU"/>
              <a:pPr>
                <a:defRPr/>
              </a:pPr>
              <a:t>‹#›</a:t>
            </a:fld>
            <a:endParaRPr lang="ru-RU"/>
          </a:p>
        </p:txBody>
      </p:sp>
      <p:sp>
        <p:nvSpPr>
          <p:cNvPr id="6"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3526203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457200"/>
            <a:ext cx="2057400" cy="5410200"/>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457200"/>
            <a:ext cx="6019800" cy="5410200"/>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Rectangle 2"/>
          <p:cNvSpPr>
            <a:spLocks noGrp="1" noChangeArrowheads="1"/>
          </p:cNvSpPr>
          <p:nvPr>
            <p:ph type="ftr" sz="quarter" idx="10"/>
          </p:nvPr>
        </p:nvSpPr>
        <p:spPr>
          <a:ln/>
        </p:spPr>
        <p:txBody>
          <a:bodyPr/>
          <a:lstStyle>
            <a:lvl1pPr>
              <a:defRPr/>
            </a:lvl1pPr>
          </a:lstStyle>
          <a:p>
            <a:pPr>
              <a:defRPr/>
            </a:pPr>
            <a:endParaRPr lang="ru-RU"/>
          </a:p>
        </p:txBody>
      </p:sp>
      <p:sp>
        <p:nvSpPr>
          <p:cNvPr id="5" name="Rectangle 3"/>
          <p:cNvSpPr>
            <a:spLocks noGrp="1" noChangeArrowheads="1"/>
          </p:cNvSpPr>
          <p:nvPr>
            <p:ph type="sldNum" sz="quarter" idx="11"/>
          </p:nvPr>
        </p:nvSpPr>
        <p:spPr>
          <a:ln/>
        </p:spPr>
        <p:txBody>
          <a:bodyPr/>
          <a:lstStyle>
            <a:lvl1pPr>
              <a:defRPr/>
            </a:lvl1pPr>
          </a:lstStyle>
          <a:p>
            <a:pPr>
              <a:defRPr/>
            </a:pPr>
            <a:fld id="{2D59492F-524D-49B7-8799-7287E446DD42}" type="slidenum">
              <a:rPr lang="ru-RU"/>
              <a:pPr>
                <a:defRPr/>
              </a:pPr>
              <a:t>‹#›</a:t>
            </a:fld>
            <a:endParaRPr lang="ru-RU"/>
          </a:p>
        </p:txBody>
      </p:sp>
      <p:sp>
        <p:nvSpPr>
          <p:cNvPr id="6"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27482837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Заголовок и таблиц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57200"/>
            <a:ext cx="8229600" cy="1371600"/>
          </a:xfrm>
        </p:spPr>
        <p:txBody>
          <a:bodyPr/>
          <a:lstStyle/>
          <a:p>
            <a:r>
              <a:rPr lang="ru-RU" smtClean="0"/>
              <a:t>Образец заголовка</a:t>
            </a:r>
            <a:endParaRPr lang="ru-RU"/>
          </a:p>
        </p:txBody>
      </p:sp>
      <p:sp>
        <p:nvSpPr>
          <p:cNvPr id="3" name="Таблица 2"/>
          <p:cNvSpPr>
            <a:spLocks noGrp="1"/>
          </p:cNvSpPr>
          <p:nvPr>
            <p:ph type="tbl" idx="1"/>
          </p:nvPr>
        </p:nvSpPr>
        <p:spPr>
          <a:xfrm>
            <a:off x="457200" y="1981200"/>
            <a:ext cx="8229600" cy="3886200"/>
          </a:xfrm>
        </p:spPr>
        <p:txBody>
          <a:bodyPr/>
          <a:lstStyle/>
          <a:p>
            <a:pPr lvl="0"/>
            <a:endParaRPr lang="ru-RU" noProof="0" smtClean="0"/>
          </a:p>
        </p:txBody>
      </p:sp>
      <p:sp>
        <p:nvSpPr>
          <p:cNvPr id="4" name="Rectangle 2"/>
          <p:cNvSpPr>
            <a:spLocks noGrp="1" noChangeArrowheads="1"/>
          </p:cNvSpPr>
          <p:nvPr>
            <p:ph type="ftr" sz="quarter" idx="10"/>
          </p:nvPr>
        </p:nvSpPr>
        <p:spPr>
          <a:ln/>
        </p:spPr>
        <p:txBody>
          <a:bodyPr/>
          <a:lstStyle>
            <a:lvl1pPr>
              <a:defRPr/>
            </a:lvl1pPr>
          </a:lstStyle>
          <a:p>
            <a:pPr>
              <a:defRPr/>
            </a:pPr>
            <a:endParaRPr lang="ru-RU"/>
          </a:p>
        </p:txBody>
      </p:sp>
      <p:sp>
        <p:nvSpPr>
          <p:cNvPr id="5" name="Rectangle 3"/>
          <p:cNvSpPr>
            <a:spLocks noGrp="1" noChangeArrowheads="1"/>
          </p:cNvSpPr>
          <p:nvPr>
            <p:ph type="sldNum" sz="quarter" idx="11"/>
          </p:nvPr>
        </p:nvSpPr>
        <p:spPr>
          <a:ln/>
        </p:spPr>
        <p:txBody>
          <a:bodyPr/>
          <a:lstStyle>
            <a:lvl1pPr>
              <a:defRPr/>
            </a:lvl1pPr>
          </a:lstStyle>
          <a:p>
            <a:pPr>
              <a:defRPr/>
            </a:pPr>
            <a:fld id="{F1CDD903-0693-4882-BFCE-5539B28B9F54}" type="slidenum">
              <a:rPr lang="ru-RU"/>
              <a:pPr>
                <a:defRPr/>
              </a:pPr>
              <a:t>‹#›</a:t>
            </a:fld>
            <a:endParaRPr lang="ru-RU"/>
          </a:p>
        </p:txBody>
      </p:sp>
      <p:sp>
        <p:nvSpPr>
          <p:cNvPr id="6"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4014542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Заголовок, текст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57200"/>
            <a:ext cx="8229600" cy="1371600"/>
          </a:xfrm>
        </p:spPr>
        <p:txBody>
          <a:bodyPr/>
          <a:lstStyle/>
          <a:p>
            <a:r>
              <a:rPr lang="ru-RU" smtClean="0"/>
              <a:t>Образец заголовка</a:t>
            </a:r>
            <a:endParaRPr lang="ru-RU"/>
          </a:p>
        </p:txBody>
      </p:sp>
      <p:sp>
        <p:nvSpPr>
          <p:cNvPr id="3" name="Текст 2"/>
          <p:cNvSpPr>
            <a:spLocks noGrp="1"/>
          </p:cNvSpPr>
          <p:nvPr>
            <p:ph type="body" sz="half" idx="1"/>
          </p:nvPr>
        </p:nvSpPr>
        <p:spPr>
          <a:xfrm>
            <a:off x="457200" y="1981200"/>
            <a:ext cx="4038600" cy="3886200"/>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981200"/>
            <a:ext cx="4038600" cy="3886200"/>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Rectangle 2"/>
          <p:cNvSpPr>
            <a:spLocks noGrp="1" noChangeArrowheads="1"/>
          </p:cNvSpPr>
          <p:nvPr>
            <p:ph type="ftr" sz="quarter" idx="10"/>
          </p:nvPr>
        </p:nvSpPr>
        <p:spPr>
          <a:ln/>
        </p:spPr>
        <p:txBody>
          <a:bodyPr/>
          <a:lstStyle>
            <a:lvl1pPr>
              <a:defRPr/>
            </a:lvl1pPr>
          </a:lstStyle>
          <a:p>
            <a:pPr>
              <a:defRPr/>
            </a:pPr>
            <a:endParaRPr lang="ru-RU"/>
          </a:p>
        </p:txBody>
      </p:sp>
      <p:sp>
        <p:nvSpPr>
          <p:cNvPr id="6" name="Rectangle 3"/>
          <p:cNvSpPr>
            <a:spLocks noGrp="1" noChangeArrowheads="1"/>
          </p:cNvSpPr>
          <p:nvPr>
            <p:ph type="sldNum" sz="quarter" idx="11"/>
          </p:nvPr>
        </p:nvSpPr>
        <p:spPr>
          <a:ln/>
        </p:spPr>
        <p:txBody>
          <a:bodyPr/>
          <a:lstStyle>
            <a:lvl1pPr>
              <a:defRPr/>
            </a:lvl1pPr>
          </a:lstStyle>
          <a:p>
            <a:pPr>
              <a:defRPr/>
            </a:pPr>
            <a:fld id="{DC1CEC95-724E-4587-B8D1-E33094A617B4}" type="slidenum">
              <a:rPr lang="ru-RU"/>
              <a:pPr>
                <a:defRPr/>
              </a:pPr>
              <a:t>‹#›</a:t>
            </a:fld>
            <a:endParaRPr lang="ru-RU"/>
          </a:p>
        </p:txBody>
      </p:sp>
      <p:sp>
        <p:nvSpPr>
          <p:cNvPr id="7" name="Rectangle 16"/>
          <p:cNvSpPr>
            <a:spLocks noGrp="1" noChangeArrowheads="1"/>
          </p:cNvSpPr>
          <p:nvPr>
            <p:ph type="dt" sz="half" idx="12"/>
          </p:nvPr>
        </p:nvSpPr>
        <p:spPr>
          <a:ln/>
        </p:spPr>
        <p:txBody>
          <a:bodyPr/>
          <a:lstStyle>
            <a:lvl1pPr>
              <a:defRPr/>
            </a:lvl1pPr>
          </a:lstStyle>
          <a:p>
            <a:pPr>
              <a:defRPr/>
            </a:pPr>
            <a:endParaRPr lang="ru-RU"/>
          </a:p>
        </p:txBody>
      </p:sp>
    </p:spTree>
    <p:extLst>
      <p:ext uri="{BB962C8B-B14F-4D97-AF65-F5344CB8AC3E}">
        <p14:creationId xmlns:p14="http://schemas.microsoft.com/office/powerpoint/2010/main" val="1047437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ftr" sz="quarter" idx="3"/>
          </p:nvPr>
        </p:nvSpPr>
        <p:spPr bwMode="auto">
          <a:xfrm>
            <a:off x="3124200" y="6248400"/>
            <a:ext cx="28956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ctr">
              <a:lnSpc>
                <a:spcPct val="100000"/>
              </a:lnSpc>
              <a:spcBef>
                <a:spcPct val="0"/>
              </a:spcBef>
              <a:buClrTx/>
              <a:buSzTx/>
              <a:buFontTx/>
              <a:buNone/>
              <a:defRPr sz="1200"/>
            </a:lvl1pPr>
          </a:lstStyle>
          <a:p>
            <a:pPr>
              <a:defRPr/>
            </a:pPr>
            <a:endParaRPr lang="ru-RU"/>
          </a:p>
        </p:txBody>
      </p:sp>
      <p:sp>
        <p:nvSpPr>
          <p:cNvPr id="4099" name="Rectangle 3"/>
          <p:cNvSpPr>
            <a:spLocks noGrp="1" noChangeArrowheads="1"/>
          </p:cNvSpPr>
          <p:nvPr>
            <p:ph type="sldNum" sz="quarter" idx="4"/>
          </p:nvPr>
        </p:nvSpPr>
        <p:spPr bwMode="auto">
          <a:xfrm>
            <a:off x="6553200" y="6248400"/>
            <a:ext cx="21336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SzTx/>
              <a:buFontTx/>
              <a:buNone/>
              <a:defRPr sz="1200">
                <a:latin typeface="Arial Black" pitchFamily="34" charset="0"/>
              </a:defRPr>
            </a:lvl1pPr>
          </a:lstStyle>
          <a:p>
            <a:pPr>
              <a:defRPr/>
            </a:pPr>
            <a:fld id="{E15F4648-6BB7-439B-9DED-2E1915C672D1}" type="slidenum">
              <a:rPr lang="ru-RU"/>
              <a:pPr>
                <a:defRPr/>
              </a:pPr>
              <a:t>‹#›</a:t>
            </a:fld>
            <a:endParaRPr lang="ru-RU"/>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lnSpc>
                  <a:spcPct val="100000"/>
                </a:lnSpc>
                <a:spcBef>
                  <a:spcPct val="0"/>
                </a:spcBef>
                <a:buClrTx/>
                <a:buSzTx/>
                <a:buFontTx/>
                <a:buNone/>
                <a:defRPr/>
              </a:pPr>
              <a:endParaRPr lang="ru-RU" sz="240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w="9525">
              <a:noFill/>
              <a:miter lim="800000"/>
              <a:headEnd/>
              <a:tailEnd/>
            </a:ln>
          </p:spPr>
          <p:txBody>
            <a:bodyPr/>
            <a:lstStyle/>
            <a:p>
              <a:pPr>
                <a:lnSpc>
                  <a:spcPct val="100000"/>
                </a:lnSpc>
                <a:spcBef>
                  <a:spcPct val="0"/>
                </a:spcBef>
                <a:buClrTx/>
                <a:buSzTx/>
                <a:buFontTx/>
                <a:buNone/>
                <a:defRPr/>
              </a:pPr>
              <a:endParaRPr lang="ru-RU" sz="1800">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w="9525">
              <a:noFill/>
              <a:miter lim="800000"/>
              <a:headEnd/>
              <a:tailEnd/>
            </a:ln>
          </p:spPr>
          <p:txBody>
            <a:bodyPr/>
            <a:lstStyle/>
            <a:p>
              <a:pPr>
                <a:lnSpc>
                  <a:spcPct val="100000"/>
                </a:lnSpc>
                <a:spcBef>
                  <a:spcPct val="0"/>
                </a:spcBef>
                <a:buClrTx/>
                <a:buSzTx/>
                <a:buFontTx/>
                <a:buNone/>
                <a:defRPr/>
              </a:pPr>
              <a:endParaRPr lang="ru-RU" sz="1800">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w="9525">
              <a:noFill/>
              <a:miter lim="800000"/>
              <a:headEnd/>
              <a:tailEnd/>
            </a:ln>
          </p:spPr>
          <p:txBody>
            <a:bodyPr/>
            <a:lstStyle/>
            <a:p>
              <a:pPr>
                <a:lnSpc>
                  <a:spcPct val="100000"/>
                </a:lnSpc>
                <a:spcBef>
                  <a:spcPct val="0"/>
                </a:spcBef>
                <a:buClrTx/>
                <a:buSzTx/>
                <a:buFontTx/>
                <a:buNone/>
                <a:defRPr/>
              </a:pPr>
              <a:endParaRPr lang="ru-RU" sz="1800">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w="9525">
              <a:noFill/>
              <a:miter lim="800000"/>
              <a:headEnd/>
              <a:tailEnd/>
            </a:ln>
          </p:spPr>
          <p:txBody>
            <a:bodyPr/>
            <a:lstStyle/>
            <a:p>
              <a:pPr>
                <a:lnSpc>
                  <a:spcPct val="100000"/>
                </a:lnSpc>
                <a:spcBef>
                  <a:spcPct val="0"/>
                </a:spcBef>
                <a:buClrTx/>
                <a:buSzTx/>
                <a:buFontTx/>
                <a:buNone/>
                <a:defRPr/>
              </a:pPr>
              <a:endParaRPr lang="ru-RU" sz="1800">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w="9525">
              <a:noFill/>
              <a:miter lim="800000"/>
              <a:headEnd/>
              <a:tailEnd/>
            </a:ln>
          </p:spPr>
          <p:txBody>
            <a:bodyPr/>
            <a:lstStyle/>
            <a:p>
              <a:pPr>
                <a:lnSpc>
                  <a:spcPct val="100000"/>
                </a:lnSpc>
                <a:spcBef>
                  <a:spcPct val="0"/>
                </a:spcBef>
                <a:buClrTx/>
                <a:buSzTx/>
                <a:buFontTx/>
                <a:buNone/>
                <a:defRPr/>
              </a:pPr>
              <a:endParaRPr lang="ru-RU" sz="240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w="9525">
              <a:noFill/>
              <a:miter lim="800000"/>
              <a:headEnd/>
              <a:tailEnd/>
            </a:ln>
          </p:spPr>
          <p:txBody>
            <a:bodyPr/>
            <a:lstStyle/>
            <a:p>
              <a:pPr>
                <a:lnSpc>
                  <a:spcPct val="100000"/>
                </a:lnSpc>
                <a:spcBef>
                  <a:spcPct val="0"/>
                </a:spcBef>
                <a:buClrTx/>
                <a:buSzTx/>
                <a:buFontTx/>
                <a:buNone/>
                <a:defRPr/>
              </a:pPr>
              <a:endParaRPr lang="ru-RU" sz="1800">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w="9525">
              <a:noFill/>
              <a:miter lim="800000"/>
              <a:headEnd/>
              <a:tailEnd/>
            </a:ln>
          </p:spPr>
          <p:txBody>
            <a:bodyPr/>
            <a:lstStyle/>
            <a:p>
              <a:pPr>
                <a:lnSpc>
                  <a:spcPct val="100000"/>
                </a:lnSpc>
                <a:spcBef>
                  <a:spcPct val="0"/>
                </a:spcBef>
                <a:buClrTx/>
                <a:buSzTx/>
                <a:buFontTx/>
                <a:buNone/>
                <a:defRPr/>
              </a:pPr>
              <a:endParaRPr lang="ru-RU" sz="1800">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ru-RU" smtClean="0"/>
              <a:t>Образец заголовка</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p>
        </p:txBody>
      </p:sp>
      <p:sp>
        <p:nvSpPr>
          <p:cNvPr id="4112" name="Rectangle 16"/>
          <p:cNvSpPr>
            <a:spLocks noGrp="1" noChangeArrowheads="1"/>
          </p:cNvSpPr>
          <p:nvPr>
            <p:ph type="dt" sz="half" idx="2"/>
          </p:nvPr>
        </p:nvSpPr>
        <p:spPr bwMode="auto">
          <a:xfrm>
            <a:off x="457200" y="6245225"/>
            <a:ext cx="2133600" cy="47625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nSpc>
                <a:spcPct val="100000"/>
              </a:lnSpc>
              <a:spcBef>
                <a:spcPct val="0"/>
              </a:spcBef>
              <a:buClrTx/>
              <a:buSzTx/>
              <a:buFontTx/>
              <a:buNone/>
              <a:defRPr sz="1200"/>
            </a:lvl1pPr>
          </a:lstStyle>
          <a:p>
            <a:pPr>
              <a:defRPr/>
            </a:pPr>
            <a:endParaRPr lang="ru-RU"/>
          </a:p>
        </p:txBody>
      </p:sp>
    </p:spTree>
  </p:cSld>
  <p:clrMap bg1="lt1" tx1="dk1" bg2="lt2" tx2="dk2" accent1="accent1" accent2="accent2" accent3="accent3" accent4="accent4" accent5="accent5" accent6="accent6" hlink="hlink" folHlink="folHlink"/>
  <p:sldLayoutIdLst>
    <p:sldLayoutId id="2147483853"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 id="2147483851" r:id="rId12"/>
    <p:sldLayoutId id="2147483852" r:id="rId13"/>
  </p:sldLayoutIdLst>
  <p:hf hdr="0" dt="0"/>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cs typeface="+mn-cs"/>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cs typeface="+mn-cs"/>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cs typeface="+mn-cs"/>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411288" y="1844675"/>
            <a:ext cx="7732712" cy="2305050"/>
          </a:xfrm>
        </p:spPr>
        <p:txBody>
          <a:bodyPr/>
          <a:lstStyle/>
          <a:p>
            <a:pPr algn="ctr" eaLnBrk="1" hangingPunct="1">
              <a:spcAft>
                <a:spcPct val="150000"/>
              </a:spcAft>
            </a:pPr>
            <a:r>
              <a:rPr lang="ru-RU" dirty="0" smtClean="0"/>
              <a:t>Модель</a:t>
            </a:r>
            <a:br>
              <a:rPr lang="ru-RU" dirty="0" smtClean="0"/>
            </a:br>
            <a:r>
              <a:rPr lang="ru-RU" sz="4000" dirty="0" smtClean="0"/>
              <a:t>внешней памяти</a:t>
            </a:r>
            <a:br>
              <a:rPr lang="ru-RU" sz="4000" dirty="0" smtClean="0"/>
            </a:br>
            <a:r>
              <a:rPr lang="ru-RU" sz="4000" dirty="0" smtClean="0"/>
              <a:t>часть 2</a:t>
            </a:r>
          </a:p>
        </p:txBody>
      </p:sp>
      <p:sp>
        <p:nvSpPr>
          <p:cNvPr id="3075" name="Rectangle 3"/>
          <p:cNvSpPr>
            <a:spLocks noGrp="1" noChangeArrowheads="1"/>
          </p:cNvSpPr>
          <p:nvPr>
            <p:ph type="subTitle" idx="1"/>
          </p:nvPr>
        </p:nvSpPr>
        <p:spPr>
          <a:xfrm>
            <a:off x="1428750" y="4292600"/>
            <a:ext cx="7715250" cy="1752600"/>
          </a:xfrm>
        </p:spPr>
        <p:txBody>
          <a:bodyPr/>
          <a:lstStyle/>
          <a:p>
            <a:pPr eaLnBrk="1" hangingPunct="1"/>
            <a:r>
              <a:rPr lang="ru-RU" dirty="0" smtClean="0"/>
              <a:t>Дж. Ульман </a:t>
            </a:r>
          </a:p>
          <a:p>
            <a:pPr eaLnBrk="1" hangingPunct="1"/>
            <a:r>
              <a:rPr lang="ru-RU" dirty="0" smtClean="0"/>
              <a:t>Основы систем баз данных. Глава 2</a:t>
            </a:r>
          </a:p>
          <a:p>
            <a:pPr eaLnBrk="1" hangingPunct="1"/>
            <a:endParaRPr lang="ru-RU"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96850" y="214313"/>
            <a:ext cx="8750300" cy="828675"/>
          </a:xfrm>
        </p:spPr>
        <p:txBody>
          <a:bodyPr/>
          <a:lstStyle/>
          <a:p>
            <a:pPr algn="ctr"/>
            <a:r>
              <a:rPr lang="ru-RU" sz="3600" dirty="0" smtClean="0">
                <a:solidFill>
                  <a:schemeClr val="bg2"/>
                </a:solidFill>
              </a:rPr>
              <a:t>Файлы с записями переменной длины</a:t>
            </a:r>
          </a:p>
        </p:txBody>
      </p:sp>
      <p:sp>
        <p:nvSpPr>
          <p:cNvPr id="39939" name="Rectangle 3"/>
          <p:cNvSpPr>
            <a:spLocks noGrp="1" noChangeArrowheads="1"/>
          </p:cNvSpPr>
          <p:nvPr>
            <p:ph type="body" idx="1"/>
          </p:nvPr>
        </p:nvSpPr>
        <p:spPr>
          <a:xfrm>
            <a:off x="214313" y="1000125"/>
            <a:ext cx="8715375" cy="5500688"/>
          </a:xfrm>
        </p:spPr>
        <p:txBody>
          <a:bodyPr/>
          <a:lstStyle/>
          <a:p>
            <a:pPr marL="609600" indent="-609600">
              <a:lnSpc>
                <a:spcPct val="90000"/>
              </a:lnSpc>
              <a:defRPr/>
            </a:pPr>
            <a:r>
              <a:rPr lang="ru-RU" sz="2800" dirty="0" smtClean="0"/>
              <a:t>Используются для хранения отображения </a:t>
            </a:r>
            <a:r>
              <a:rPr lang="en-US" sz="2800" dirty="0" smtClean="0"/>
              <a:t>M:N</a:t>
            </a:r>
            <a:r>
              <a:rPr lang="ru-RU" sz="2800" dirty="0" smtClean="0"/>
              <a:t>.</a:t>
            </a:r>
          </a:p>
          <a:p>
            <a:pPr marL="0" indent="-609600">
              <a:lnSpc>
                <a:spcPct val="90000"/>
              </a:lnSpc>
              <a:defRPr/>
            </a:pPr>
            <a:r>
              <a:rPr lang="ru-RU" sz="2800" dirty="0" smtClean="0"/>
              <a:t>Пусть </a:t>
            </a:r>
            <a:r>
              <a:rPr lang="ru-RU" sz="2800" dirty="0" smtClean="0">
                <a:solidFill>
                  <a:srgbClr val="00B050"/>
                </a:solidFill>
              </a:rPr>
              <a:t>каждому элементу </a:t>
            </a:r>
            <a:r>
              <a:rPr lang="ru-RU" sz="2800" dirty="0" smtClean="0"/>
              <a:t>множества Е1 соответствует </a:t>
            </a:r>
            <a:r>
              <a:rPr lang="ru-RU" sz="2800" dirty="0" smtClean="0">
                <a:solidFill>
                  <a:srgbClr val="7030A0"/>
                </a:solidFill>
              </a:rPr>
              <a:t>множество элементов </a:t>
            </a:r>
            <a:r>
              <a:rPr lang="ru-RU" sz="2800" dirty="0" smtClean="0"/>
              <a:t>Е2 .</a:t>
            </a:r>
          </a:p>
          <a:p>
            <a:pPr marL="0" indent="-609600">
              <a:lnSpc>
                <a:spcPct val="90000"/>
              </a:lnSpc>
              <a:defRPr/>
            </a:pPr>
            <a:r>
              <a:rPr lang="ru-RU" sz="2800" dirty="0" smtClean="0"/>
              <a:t>Тогда можно организовать файл из записей переменной длины, так чтобы </a:t>
            </a:r>
            <a:r>
              <a:rPr lang="ru-RU" sz="2800" b="1" dirty="0" smtClean="0"/>
              <a:t>одно поле </a:t>
            </a:r>
            <a:r>
              <a:rPr lang="ru-RU" sz="2800" dirty="0" smtClean="0"/>
              <a:t>содержало объект  из </a:t>
            </a:r>
            <a:r>
              <a:rPr lang="ru-RU" sz="2800" b="1" dirty="0" smtClean="0"/>
              <a:t>Е1</a:t>
            </a:r>
            <a:r>
              <a:rPr lang="ru-RU" sz="2800" dirty="0" smtClean="0"/>
              <a:t>, а </a:t>
            </a:r>
            <a:r>
              <a:rPr lang="ru-RU" sz="2800" b="1" dirty="0" smtClean="0"/>
              <a:t>другие несколько </a:t>
            </a:r>
            <a:r>
              <a:rPr lang="ru-RU" sz="2800" dirty="0" smtClean="0"/>
              <a:t>полей – объекты из </a:t>
            </a:r>
            <a:r>
              <a:rPr lang="ru-RU" sz="2800" b="1" dirty="0" smtClean="0"/>
              <a:t>Е2</a:t>
            </a:r>
            <a:endParaRPr lang="en-US" sz="2800" b="1" dirty="0" smtClean="0"/>
          </a:p>
          <a:p>
            <a:pPr marL="609600" indent="-609600">
              <a:lnSpc>
                <a:spcPct val="90000"/>
              </a:lnSpc>
              <a:buFont typeface="Wingdings" pitchFamily="2" charset="2"/>
              <a:buNone/>
              <a:defRPr/>
            </a:pPr>
            <a:endParaRPr lang="ru-RU" sz="2800" dirty="0" smtClean="0"/>
          </a:p>
        </p:txBody>
      </p:sp>
      <p:sp>
        <p:nvSpPr>
          <p:cNvPr id="4100" name="Номер слайда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fld id="{4A1C581E-B64F-4678-B7BA-307BF7CF6815}" type="slidenum">
              <a:rPr lang="ru-RU" sz="1200" smtClean="0">
                <a:latin typeface="Arial Black" pitchFamily="34" charset="0"/>
              </a:rPr>
              <a:pPr eaLnBrk="1" hangingPunct="1"/>
              <a:t>2</a:t>
            </a:fld>
            <a:endParaRPr lang="ru-RU" sz="1200" dirty="0" smtClean="0">
              <a:latin typeface="Arial Black" pitchFamily="34" charset="0"/>
            </a:endParaRPr>
          </a:p>
        </p:txBody>
      </p:sp>
      <p:sp>
        <p:nvSpPr>
          <p:cNvPr id="4101" name="Нижний колонтитул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endParaRPr lang="ru-RU" sz="1200" dirty="0" smtClean="0"/>
          </a:p>
        </p:txBody>
      </p:sp>
      <p:grpSp>
        <p:nvGrpSpPr>
          <p:cNvPr id="4102" name="Группа 13"/>
          <p:cNvGrpSpPr>
            <a:grpSpLocks/>
          </p:cNvGrpSpPr>
          <p:nvPr/>
        </p:nvGrpSpPr>
        <p:grpSpPr bwMode="auto">
          <a:xfrm>
            <a:off x="214313" y="4572000"/>
            <a:ext cx="7215187" cy="479425"/>
            <a:chOff x="214282" y="4572008"/>
            <a:chExt cx="7215238" cy="480131"/>
          </a:xfrm>
        </p:grpSpPr>
        <p:sp>
          <p:nvSpPr>
            <p:cNvPr id="4118" name="TextBox 6"/>
            <p:cNvSpPr txBox="1">
              <a:spLocks noChangeArrowheads="1"/>
            </p:cNvSpPr>
            <p:nvPr/>
          </p:nvSpPr>
          <p:spPr bwMode="auto">
            <a:xfrm>
              <a:off x="214282" y="4572008"/>
              <a:ext cx="4214842" cy="480131"/>
            </a:xfrm>
            <a:prstGeom prst="rect">
              <a:avLst/>
            </a:prstGeom>
            <a:solidFill>
              <a:schemeClr val="accent6">
                <a:lumMod val="20000"/>
                <a:lumOff val="80000"/>
              </a:schemeClr>
            </a:solidFill>
            <a:ln w="28575">
              <a:solidFill>
                <a:srgbClr val="FFC000"/>
              </a:solidFill>
              <a:miter lim="800000"/>
              <a:headEnd/>
              <a:tailEnd/>
            </a:ln>
            <a:extLst/>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dirty="0"/>
                <a:t>Новосибирская область</a:t>
              </a:r>
            </a:p>
          </p:txBody>
        </p:sp>
        <p:sp>
          <p:nvSpPr>
            <p:cNvPr id="4119" name="TextBox 9"/>
            <p:cNvSpPr txBox="1">
              <a:spLocks noChangeArrowheads="1"/>
            </p:cNvSpPr>
            <p:nvPr/>
          </p:nvSpPr>
          <p:spPr bwMode="auto">
            <a:xfrm>
              <a:off x="4429124" y="4572008"/>
              <a:ext cx="1000132" cy="480131"/>
            </a:xfrm>
            <a:prstGeom prst="rect">
              <a:avLst/>
            </a:prstGeom>
            <a:solidFill>
              <a:schemeClr val="accent1"/>
            </a:solidFill>
            <a:ln w="19050">
              <a:solidFill>
                <a:schemeClr val="tx1"/>
              </a:solidFill>
              <a:miter lim="800000"/>
              <a:headEnd/>
              <a:tailEnd/>
            </a:ln>
            <a:extLst/>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dirty="0"/>
                <a:t>М 51</a:t>
              </a:r>
            </a:p>
          </p:txBody>
        </p:sp>
        <p:sp>
          <p:nvSpPr>
            <p:cNvPr id="4120" name="TextBox 11"/>
            <p:cNvSpPr txBox="1">
              <a:spLocks noChangeArrowheads="1"/>
            </p:cNvSpPr>
            <p:nvPr/>
          </p:nvSpPr>
          <p:spPr bwMode="auto">
            <a:xfrm>
              <a:off x="5429256" y="4572008"/>
              <a:ext cx="1000132" cy="480131"/>
            </a:xfrm>
            <a:prstGeom prst="rect">
              <a:avLst/>
            </a:prstGeom>
            <a:solidFill>
              <a:schemeClr val="accent1"/>
            </a:solidFill>
            <a:ln w="19050">
              <a:solidFill>
                <a:schemeClr val="tx1"/>
              </a:solidFill>
              <a:miter lim="800000"/>
              <a:headEnd/>
              <a:tailEnd/>
            </a:ln>
            <a:extLst/>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dirty="0"/>
                <a:t>М 52</a:t>
              </a:r>
            </a:p>
          </p:txBody>
        </p:sp>
        <p:sp>
          <p:nvSpPr>
            <p:cNvPr id="4121" name="TextBox 12"/>
            <p:cNvSpPr txBox="1">
              <a:spLocks noChangeArrowheads="1"/>
            </p:cNvSpPr>
            <p:nvPr/>
          </p:nvSpPr>
          <p:spPr bwMode="auto">
            <a:xfrm>
              <a:off x="6429388" y="4572008"/>
              <a:ext cx="1000132" cy="480131"/>
            </a:xfrm>
            <a:prstGeom prst="rect">
              <a:avLst/>
            </a:prstGeom>
            <a:solidFill>
              <a:schemeClr val="accent1"/>
            </a:solidFill>
            <a:ln w="19050">
              <a:solidFill>
                <a:schemeClr val="tx2"/>
              </a:solidFill>
              <a:miter lim="800000"/>
              <a:headEnd/>
              <a:tailEnd/>
            </a:ln>
            <a:extLst/>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dirty="0"/>
                <a:t>М 53</a:t>
              </a:r>
            </a:p>
          </p:txBody>
        </p:sp>
      </p:grpSp>
      <p:sp>
        <p:nvSpPr>
          <p:cNvPr id="4103" name="TextBox 14"/>
          <p:cNvSpPr txBox="1">
            <a:spLocks noChangeArrowheads="1"/>
          </p:cNvSpPr>
          <p:nvPr/>
        </p:nvSpPr>
        <p:spPr bwMode="auto">
          <a:xfrm>
            <a:off x="285750" y="4071938"/>
            <a:ext cx="40005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sz="2000" dirty="0">
                <a:solidFill>
                  <a:schemeClr val="bg2"/>
                </a:solidFill>
              </a:rPr>
              <a:t>Название субъекта федерации</a:t>
            </a:r>
          </a:p>
        </p:txBody>
      </p:sp>
      <p:sp>
        <p:nvSpPr>
          <p:cNvPr id="4104" name="TextBox 15"/>
          <p:cNvSpPr txBox="1">
            <a:spLocks noChangeArrowheads="1"/>
          </p:cNvSpPr>
          <p:nvPr/>
        </p:nvSpPr>
        <p:spPr bwMode="auto">
          <a:xfrm>
            <a:off x="4786313" y="4071938"/>
            <a:ext cx="2286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sz="2000" dirty="0">
                <a:solidFill>
                  <a:schemeClr val="bg2"/>
                </a:solidFill>
              </a:rPr>
              <a:t>Магистрали в СФ</a:t>
            </a:r>
          </a:p>
        </p:txBody>
      </p:sp>
      <p:sp>
        <p:nvSpPr>
          <p:cNvPr id="4105" name="TextBox 16"/>
          <p:cNvSpPr txBox="1">
            <a:spLocks noChangeArrowheads="1"/>
          </p:cNvSpPr>
          <p:nvPr/>
        </p:nvSpPr>
        <p:spPr bwMode="auto">
          <a:xfrm>
            <a:off x="7572375" y="4643438"/>
            <a:ext cx="1357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sz="2000" dirty="0">
                <a:solidFill>
                  <a:schemeClr val="bg2"/>
                </a:solidFill>
              </a:rPr>
              <a:t>запись</a:t>
            </a:r>
          </a:p>
        </p:txBody>
      </p:sp>
      <p:grpSp>
        <p:nvGrpSpPr>
          <p:cNvPr id="4106" name="Группа 17"/>
          <p:cNvGrpSpPr>
            <a:grpSpLocks/>
          </p:cNvGrpSpPr>
          <p:nvPr/>
        </p:nvGrpSpPr>
        <p:grpSpPr bwMode="auto">
          <a:xfrm>
            <a:off x="357188" y="5429250"/>
            <a:ext cx="4929187" cy="341313"/>
            <a:chOff x="214282" y="4571997"/>
            <a:chExt cx="6382712" cy="287022"/>
          </a:xfrm>
        </p:grpSpPr>
        <p:sp>
          <p:nvSpPr>
            <p:cNvPr id="4114" name="TextBox 18"/>
            <p:cNvSpPr txBox="1">
              <a:spLocks noChangeArrowheads="1"/>
            </p:cNvSpPr>
            <p:nvPr/>
          </p:nvSpPr>
          <p:spPr bwMode="auto">
            <a:xfrm>
              <a:off x="214282" y="4572008"/>
              <a:ext cx="3607619" cy="287011"/>
            </a:xfrm>
            <a:prstGeom prst="rect">
              <a:avLst/>
            </a:prstGeom>
            <a:solidFill>
              <a:srgbClr val="92D050"/>
            </a:solidFill>
            <a:ln w="6350">
              <a:solidFill>
                <a:schemeClr val="tx1"/>
              </a:solidFill>
              <a:miter lim="800000"/>
              <a:headEnd/>
              <a:tailEnd/>
            </a:ln>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sz="1800" dirty="0"/>
                <a:t>Новосибирская область</a:t>
              </a:r>
            </a:p>
          </p:txBody>
        </p:sp>
        <p:sp>
          <p:nvSpPr>
            <p:cNvPr id="4115" name="TextBox 19"/>
            <p:cNvSpPr txBox="1">
              <a:spLocks noChangeArrowheads="1"/>
            </p:cNvSpPr>
            <p:nvPr/>
          </p:nvSpPr>
          <p:spPr bwMode="auto">
            <a:xfrm>
              <a:off x="3821902" y="4572008"/>
              <a:ext cx="925031" cy="287011"/>
            </a:xfrm>
            <a:prstGeom prst="rect">
              <a:avLst/>
            </a:prstGeom>
            <a:solidFill>
              <a:srgbClr val="92D050"/>
            </a:solidFill>
            <a:ln w="6350">
              <a:solidFill>
                <a:schemeClr val="tx1"/>
              </a:solidFill>
              <a:miter lim="800000"/>
              <a:headEnd/>
              <a:tailEnd/>
            </a:ln>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sz="1800" dirty="0"/>
                <a:t>М 51</a:t>
              </a:r>
            </a:p>
          </p:txBody>
        </p:sp>
        <p:sp>
          <p:nvSpPr>
            <p:cNvPr id="4116" name="TextBox 20"/>
            <p:cNvSpPr txBox="1">
              <a:spLocks noChangeArrowheads="1"/>
            </p:cNvSpPr>
            <p:nvPr/>
          </p:nvSpPr>
          <p:spPr bwMode="auto">
            <a:xfrm>
              <a:off x="4764333" y="4572008"/>
              <a:ext cx="907629" cy="287011"/>
            </a:xfrm>
            <a:prstGeom prst="rect">
              <a:avLst/>
            </a:prstGeom>
            <a:solidFill>
              <a:srgbClr val="92D050"/>
            </a:solidFill>
            <a:ln w="6350">
              <a:solidFill>
                <a:schemeClr val="tx1"/>
              </a:solidFill>
              <a:miter lim="800000"/>
              <a:headEnd/>
              <a:tailEnd/>
            </a:ln>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sz="1800" dirty="0"/>
                <a:t>М 52</a:t>
              </a:r>
            </a:p>
          </p:txBody>
        </p:sp>
        <p:sp>
          <p:nvSpPr>
            <p:cNvPr id="4117" name="TextBox 21"/>
            <p:cNvSpPr txBox="1">
              <a:spLocks noChangeArrowheads="1"/>
            </p:cNvSpPr>
            <p:nvPr/>
          </p:nvSpPr>
          <p:spPr bwMode="auto">
            <a:xfrm>
              <a:off x="5671963" y="4571997"/>
              <a:ext cx="925031" cy="287011"/>
            </a:xfrm>
            <a:prstGeom prst="rect">
              <a:avLst/>
            </a:prstGeom>
            <a:solidFill>
              <a:srgbClr val="92D050"/>
            </a:solidFill>
            <a:ln w="6350">
              <a:solidFill>
                <a:schemeClr val="tx1"/>
              </a:solidFill>
              <a:miter lim="800000"/>
              <a:headEnd/>
              <a:tailEnd/>
            </a:ln>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sz="1800" dirty="0"/>
                <a:t>М 53</a:t>
              </a:r>
            </a:p>
          </p:txBody>
        </p:sp>
      </p:grpSp>
      <p:sp>
        <p:nvSpPr>
          <p:cNvPr id="24" name="TextBox 23"/>
          <p:cNvSpPr txBox="1"/>
          <p:nvPr/>
        </p:nvSpPr>
        <p:spPr>
          <a:xfrm>
            <a:off x="5286375" y="5429250"/>
            <a:ext cx="1928813" cy="341313"/>
          </a:xfrm>
          <a:prstGeom prst="rect">
            <a:avLst/>
          </a:prstGeom>
          <a:solidFill>
            <a:schemeClr val="accent2">
              <a:lumMod val="40000"/>
              <a:lumOff val="60000"/>
            </a:schemeClr>
          </a:solidFill>
          <a:ln w="9525" cmpd="sng">
            <a:solidFill>
              <a:schemeClr val="tx1"/>
            </a:solidFill>
            <a:miter lim="800000"/>
          </a:ln>
        </p:spPr>
        <p:txBody>
          <a:bodyPr>
            <a:spAutoFit/>
          </a:bodyPr>
          <a:lstStyle/>
          <a:p>
            <a:pPr>
              <a:defRPr/>
            </a:pPr>
            <a:r>
              <a:rPr lang="ru-RU" sz="1800" dirty="0"/>
              <a:t>Омская область</a:t>
            </a:r>
          </a:p>
        </p:txBody>
      </p:sp>
      <p:sp>
        <p:nvSpPr>
          <p:cNvPr id="26" name="TextBox 25"/>
          <p:cNvSpPr txBox="1"/>
          <p:nvPr/>
        </p:nvSpPr>
        <p:spPr>
          <a:xfrm>
            <a:off x="7215188" y="5429250"/>
            <a:ext cx="701675" cy="341313"/>
          </a:xfrm>
          <a:prstGeom prst="rect">
            <a:avLst/>
          </a:prstGeom>
          <a:solidFill>
            <a:schemeClr val="accent2">
              <a:lumMod val="40000"/>
              <a:lumOff val="60000"/>
            </a:schemeClr>
          </a:solidFill>
          <a:ln w="6350">
            <a:solidFill>
              <a:schemeClr val="tx1"/>
            </a:solidFill>
            <a:miter lim="800000"/>
          </a:ln>
        </p:spPr>
        <p:txBody>
          <a:bodyPr>
            <a:spAutoFit/>
          </a:bodyPr>
          <a:lstStyle/>
          <a:p>
            <a:pPr>
              <a:defRPr/>
            </a:pPr>
            <a:r>
              <a:rPr lang="ru-RU" sz="1800" dirty="0"/>
              <a:t>М 51</a:t>
            </a:r>
          </a:p>
        </p:txBody>
      </p:sp>
      <p:sp>
        <p:nvSpPr>
          <p:cNvPr id="4109" name="TextBox 28"/>
          <p:cNvSpPr txBox="1">
            <a:spLocks noChangeArrowheads="1"/>
          </p:cNvSpPr>
          <p:nvPr/>
        </p:nvSpPr>
        <p:spPr bwMode="auto">
          <a:xfrm>
            <a:off x="8572500" y="5429250"/>
            <a:ext cx="5715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dirty="0"/>
              <a:t>…</a:t>
            </a:r>
          </a:p>
        </p:txBody>
      </p:sp>
      <p:sp>
        <p:nvSpPr>
          <p:cNvPr id="4110" name="TextBox 29"/>
          <p:cNvSpPr txBox="1">
            <a:spLocks noChangeArrowheads="1"/>
          </p:cNvSpPr>
          <p:nvPr/>
        </p:nvSpPr>
        <p:spPr bwMode="auto">
          <a:xfrm>
            <a:off x="428625" y="5929313"/>
            <a:ext cx="2214563" cy="341312"/>
          </a:xfrm>
          <a:prstGeom prst="rect">
            <a:avLst/>
          </a:prstGeom>
          <a:solidFill>
            <a:srgbClr val="FFFF00"/>
          </a:solidFill>
          <a:ln w="9525">
            <a:solidFill>
              <a:schemeClr val="tx1"/>
            </a:solidFill>
            <a:miter lim="800000"/>
            <a:headEnd/>
            <a:tailEnd/>
          </a:ln>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sz="1800" dirty="0"/>
              <a:t>Иркутская область</a:t>
            </a:r>
          </a:p>
        </p:txBody>
      </p:sp>
      <p:sp>
        <p:nvSpPr>
          <p:cNvPr id="4111" name="TextBox 30"/>
          <p:cNvSpPr txBox="1">
            <a:spLocks noChangeArrowheads="1"/>
          </p:cNvSpPr>
          <p:nvPr/>
        </p:nvSpPr>
        <p:spPr bwMode="auto">
          <a:xfrm>
            <a:off x="2643188" y="5929313"/>
            <a:ext cx="701675" cy="341312"/>
          </a:xfrm>
          <a:prstGeom prst="rect">
            <a:avLst/>
          </a:prstGeom>
          <a:solidFill>
            <a:srgbClr val="FFFF00"/>
          </a:solidFill>
          <a:ln w="6350">
            <a:solidFill>
              <a:schemeClr val="tx1"/>
            </a:solidFill>
            <a:miter lim="800000"/>
            <a:headEnd/>
            <a:tailEnd/>
          </a:ln>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sz="1800" dirty="0"/>
              <a:t>М 53</a:t>
            </a:r>
          </a:p>
        </p:txBody>
      </p:sp>
      <p:sp>
        <p:nvSpPr>
          <p:cNvPr id="4112" name="TextBox 33"/>
          <p:cNvSpPr txBox="1">
            <a:spLocks noChangeArrowheads="1"/>
          </p:cNvSpPr>
          <p:nvPr/>
        </p:nvSpPr>
        <p:spPr bwMode="auto">
          <a:xfrm>
            <a:off x="4071938" y="5929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sz="2000" dirty="0">
                <a:solidFill>
                  <a:schemeClr val="bg2"/>
                </a:solidFill>
              </a:rPr>
              <a:t>файл</a:t>
            </a:r>
          </a:p>
        </p:txBody>
      </p:sp>
      <p:sp>
        <p:nvSpPr>
          <p:cNvPr id="35" name="TextBox 34"/>
          <p:cNvSpPr txBox="1"/>
          <p:nvPr/>
        </p:nvSpPr>
        <p:spPr>
          <a:xfrm>
            <a:off x="7858125" y="5429250"/>
            <a:ext cx="701675" cy="341313"/>
          </a:xfrm>
          <a:prstGeom prst="rect">
            <a:avLst/>
          </a:prstGeom>
          <a:solidFill>
            <a:schemeClr val="accent2">
              <a:lumMod val="40000"/>
              <a:lumOff val="60000"/>
            </a:schemeClr>
          </a:solidFill>
          <a:ln w="6350">
            <a:solidFill>
              <a:schemeClr val="tx1"/>
            </a:solidFill>
            <a:miter lim="800000"/>
          </a:ln>
        </p:spPr>
        <p:txBody>
          <a:bodyPr>
            <a:spAutoFit/>
          </a:bodyPr>
          <a:lstStyle/>
          <a:p>
            <a:pPr>
              <a:defRPr/>
            </a:pPr>
            <a:r>
              <a:rPr lang="ru-RU" sz="1800" dirty="0"/>
              <a:t>М 52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wipe(down)">
                                      <p:cBhvr>
                                        <p:cTn id="7" dur="500"/>
                                        <p:tgtEl>
                                          <p:spTgt spid="399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9939">
                                            <p:txEl>
                                              <p:pRg st="1" end="1"/>
                                            </p:txEl>
                                          </p:spTgt>
                                        </p:tgtEl>
                                        <p:attrNameLst>
                                          <p:attrName>style.visibility</p:attrName>
                                        </p:attrNameLst>
                                      </p:cBhvr>
                                      <p:to>
                                        <p:strVal val="visible"/>
                                      </p:to>
                                    </p:set>
                                    <p:animEffect transition="in" filter="wipe(down)">
                                      <p:cBhvr>
                                        <p:cTn id="12" dur="500"/>
                                        <p:tgtEl>
                                          <p:spTgt spid="399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9939">
                                            <p:txEl>
                                              <p:pRg st="2" end="2"/>
                                            </p:txEl>
                                          </p:spTgt>
                                        </p:tgtEl>
                                        <p:attrNameLst>
                                          <p:attrName>style.visibility</p:attrName>
                                        </p:attrNameLst>
                                      </p:cBhvr>
                                      <p:to>
                                        <p:strVal val="visible"/>
                                      </p:to>
                                    </p:set>
                                    <p:animEffect transition="in" filter="wipe(down)">
                                      <p:cBhvr>
                                        <p:cTn id="17" dur="500"/>
                                        <p:tgtEl>
                                          <p:spTgt spid="399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103"/>
                                        </p:tgtEl>
                                        <p:attrNameLst>
                                          <p:attrName>style.visibility</p:attrName>
                                        </p:attrNameLst>
                                      </p:cBhvr>
                                      <p:to>
                                        <p:strVal val="visible"/>
                                      </p:to>
                                    </p:set>
                                    <p:animEffect transition="in" filter="wipe(down)">
                                      <p:cBhvr>
                                        <p:cTn id="22" dur="500"/>
                                        <p:tgtEl>
                                          <p:spTgt spid="4103"/>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4104"/>
                                        </p:tgtEl>
                                        <p:attrNameLst>
                                          <p:attrName>style.visibility</p:attrName>
                                        </p:attrNameLst>
                                      </p:cBhvr>
                                      <p:to>
                                        <p:strVal val="visible"/>
                                      </p:to>
                                    </p:set>
                                    <p:animEffect transition="in" filter="wipe(down)">
                                      <p:cBhvr>
                                        <p:cTn id="25" dur="500"/>
                                        <p:tgtEl>
                                          <p:spTgt spid="410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4102"/>
                                        </p:tgtEl>
                                        <p:attrNameLst>
                                          <p:attrName>style.visibility</p:attrName>
                                        </p:attrNameLst>
                                      </p:cBhvr>
                                      <p:to>
                                        <p:strVal val="visible"/>
                                      </p:to>
                                    </p:set>
                                    <p:animEffect transition="in" filter="wipe(down)">
                                      <p:cBhvr>
                                        <p:cTn id="30" dur="500"/>
                                        <p:tgtEl>
                                          <p:spTgt spid="410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4105"/>
                                        </p:tgtEl>
                                        <p:attrNameLst>
                                          <p:attrName>style.visibility</p:attrName>
                                        </p:attrNameLst>
                                      </p:cBhvr>
                                      <p:to>
                                        <p:strVal val="visible"/>
                                      </p:to>
                                    </p:set>
                                    <p:animEffect transition="in" filter="wipe(down)">
                                      <p:cBhvr>
                                        <p:cTn id="35" dur="500"/>
                                        <p:tgtEl>
                                          <p:spTgt spid="410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4106"/>
                                        </p:tgtEl>
                                        <p:attrNameLst>
                                          <p:attrName>style.visibility</p:attrName>
                                        </p:attrNameLst>
                                      </p:cBhvr>
                                      <p:to>
                                        <p:strVal val="visible"/>
                                      </p:to>
                                    </p:set>
                                    <p:animEffect transition="in" filter="wipe(down)">
                                      <p:cBhvr>
                                        <p:cTn id="40" dur="500"/>
                                        <p:tgtEl>
                                          <p:spTgt spid="4106"/>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wipe(down)">
                                      <p:cBhvr>
                                        <p:cTn id="43" dur="500"/>
                                        <p:tgtEl>
                                          <p:spTgt spid="24"/>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wipe(down)">
                                      <p:cBhvr>
                                        <p:cTn id="46" dur="500"/>
                                        <p:tgtEl>
                                          <p:spTgt spid="26"/>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wipe(down)">
                                      <p:cBhvr>
                                        <p:cTn id="49" dur="500"/>
                                        <p:tgtEl>
                                          <p:spTgt spid="35"/>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4109"/>
                                        </p:tgtEl>
                                        <p:attrNameLst>
                                          <p:attrName>style.visibility</p:attrName>
                                        </p:attrNameLst>
                                      </p:cBhvr>
                                      <p:to>
                                        <p:strVal val="visible"/>
                                      </p:to>
                                    </p:set>
                                    <p:animEffect transition="in" filter="wipe(down)">
                                      <p:cBhvr>
                                        <p:cTn id="52" dur="500"/>
                                        <p:tgtEl>
                                          <p:spTgt spid="4109"/>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4110"/>
                                        </p:tgtEl>
                                        <p:attrNameLst>
                                          <p:attrName>style.visibility</p:attrName>
                                        </p:attrNameLst>
                                      </p:cBhvr>
                                      <p:to>
                                        <p:strVal val="visible"/>
                                      </p:to>
                                    </p:set>
                                    <p:animEffect transition="in" filter="wipe(down)">
                                      <p:cBhvr>
                                        <p:cTn id="55" dur="500"/>
                                        <p:tgtEl>
                                          <p:spTgt spid="4110"/>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4111"/>
                                        </p:tgtEl>
                                        <p:attrNameLst>
                                          <p:attrName>style.visibility</p:attrName>
                                        </p:attrNameLst>
                                      </p:cBhvr>
                                      <p:to>
                                        <p:strVal val="visible"/>
                                      </p:to>
                                    </p:set>
                                    <p:animEffect transition="in" filter="wipe(down)">
                                      <p:cBhvr>
                                        <p:cTn id="58" dur="500"/>
                                        <p:tgtEl>
                                          <p:spTgt spid="4111"/>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4112"/>
                                        </p:tgtEl>
                                        <p:attrNameLst>
                                          <p:attrName>style.visibility</p:attrName>
                                        </p:attrNameLst>
                                      </p:cBhvr>
                                      <p:to>
                                        <p:strVal val="visible"/>
                                      </p:to>
                                    </p:set>
                                    <p:animEffect transition="in" filter="wipe(down)">
                                      <p:cBhvr>
                                        <p:cTn id="63" dur="500"/>
                                        <p:tgtEl>
                                          <p:spTgt spid="4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P spid="4103" grpId="0"/>
      <p:bldP spid="4104" grpId="0"/>
      <p:bldP spid="4105" grpId="0"/>
      <p:bldP spid="24" grpId="0" animBg="1"/>
      <p:bldP spid="26" grpId="0" animBg="1"/>
      <p:bldP spid="4109" grpId="0"/>
      <p:bldP spid="4110" grpId="0" animBg="1"/>
      <p:bldP spid="4111" grpId="0" animBg="1"/>
      <p:bldP spid="4112" grpId="0"/>
      <p:bldP spid="3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Заголовок 1"/>
          <p:cNvSpPr>
            <a:spLocks noGrp="1"/>
          </p:cNvSpPr>
          <p:nvPr>
            <p:ph type="title"/>
          </p:nvPr>
        </p:nvSpPr>
        <p:spPr>
          <a:xfrm>
            <a:off x="714375" y="285750"/>
            <a:ext cx="7715250" cy="757238"/>
          </a:xfrm>
        </p:spPr>
        <p:txBody>
          <a:bodyPr/>
          <a:lstStyle/>
          <a:p>
            <a:r>
              <a:rPr lang="ru-RU" sz="3600" dirty="0" smtClean="0">
                <a:solidFill>
                  <a:schemeClr val="bg2"/>
                </a:solidFill>
              </a:rPr>
              <a:t>Формат записи переменной длины</a:t>
            </a:r>
            <a:endParaRPr lang="ru-RU" sz="3600" dirty="0" smtClean="0"/>
          </a:p>
        </p:txBody>
      </p:sp>
      <p:sp>
        <p:nvSpPr>
          <p:cNvPr id="5123" name="Содержимое 2"/>
          <p:cNvSpPr>
            <a:spLocks noGrp="1"/>
          </p:cNvSpPr>
          <p:nvPr>
            <p:ph idx="1"/>
          </p:nvPr>
        </p:nvSpPr>
        <p:spPr>
          <a:xfrm>
            <a:off x="457200" y="1071563"/>
            <a:ext cx="8401050" cy="5072062"/>
          </a:xfrm>
        </p:spPr>
        <p:txBody>
          <a:bodyPr/>
          <a:lstStyle/>
          <a:p>
            <a:pPr marL="609600" indent="-609600">
              <a:lnSpc>
                <a:spcPct val="90000"/>
              </a:lnSpc>
              <a:buFont typeface="Wingdings" pitchFamily="2" charset="2"/>
              <a:buChar char="q"/>
            </a:pPr>
            <a:r>
              <a:rPr lang="ru-RU" sz="2800" dirty="0" smtClean="0"/>
              <a:t>Формат записи переменной длины есть список «элементов». </a:t>
            </a:r>
          </a:p>
          <a:p>
            <a:pPr marL="609600" indent="-609600">
              <a:lnSpc>
                <a:spcPct val="90000"/>
              </a:lnSpc>
              <a:buFont typeface="Wingdings" pitchFamily="2" charset="2"/>
              <a:buChar char="q"/>
            </a:pPr>
            <a:r>
              <a:rPr lang="ru-RU" sz="2800" dirty="0" smtClean="0"/>
              <a:t>Элемент – это либо имя единственного поля, либо формат записи переменной длины (повторяющаяся группа 0 и более записей переменной длины с таким форматом).</a:t>
            </a:r>
          </a:p>
          <a:p>
            <a:pPr marL="609600" indent="-609600">
              <a:lnSpc>
                <a:spcPct val="90000"/>
              </a:lnSpc>
              <a:buFont typeface="Wingdings" pitchFamily="2" charset="2"/>
              <a:buChar char="q"/>
            </a:pPr>
            <a:r>
              <a:rPr lang="ru-RU" sz="2800" dirty="0" smtClean="0"/>
              <a:t>Формат записей переменной длины можно представлять регулярными выражениями</a:t>
            </a:r>
          </a:p>
          <a:p>
            <a:pPr marL="609600" indent="-609600">
              <a:lnSpc>
                <a:spcPct val="90000"/>
              </a:lnSpc>
              <a:buFont typeface="Wingdings" pitchFamily="2" charset="2"/>
              <a:buNone/>
            </a:pPr>
            <a:r>
              <a:rPr lang="ru-RU" sz="2800" u="sng" dirty="0" smtClean="0">
                <a:solidFill>
                  <a:srgbClr val="002060"/>
                </a:solidFill>
              </a:rPr>
              <a:t>Примеры</a:t>
            </a:r>
          </a:p>
          <a:p>
            <a:pPr marL="609600" indent="-609600">
              <a:lnSpc>
                <a:spcPct val="90000"/>
              </a:lnSpc>
              <a:buFont typeface="Wingdings" pitchFamily="2" charset="2"/>
              <a:buNone/>
            </a:pPr>
            <a:r>
              <a:rPr lang="ru-RU" sz="2800" dirty="0" smtClean="0"/>
              <a:t>Область (Шоссе)* </a:t>
            </a:r>
          </a:p>
          <a:p>
            <a:pPr marL="609600" indent="-609600">
              <a:lnSpc>
                <a:spcPct val="90000"/>
              </a:lnSpc>
              <a:buFont typeface="Wingdings" pitchFamily="2" charset="2"/>
              <a:buNone/>
            </a:pPr>
            <a:r>
              <a:rPr lang="ru-RU" sz="2800" dirty="0" smtClean="0"/>
              <a:t>Область Население (Шоссе)*</a:t>
            </a:r>
          </a:p>
          <a:p>
            <a:pPr marL="609600" indent="-609600">
              <a:lnSpc>
                <a:spcPct val="90000"/>
              </a:lnSpc>
              <a:buFont typeface="Wingdings" pitchFamily="2" charset="2"/>
              <a:buNone/>
            </a:pPr>
            <a:r>
              <a:rPr lang="ru-RU" sz="2800" dirty="0" smtClean="0"/>
              <a:t>Область Население (Шоссе Длина (Терминал)*)*</a:t>
            </a:r>
          </a:p>
          <a:p>
            <a:pPr marL="609600" indent="-609600">
              <a:lnSpc>
                <a:spcPct val="90000"/>
              </a:lnSpc>
              <a:buFont typeface="Wingdings" pitchFamily="2" charset="2"/>
              <a:buNone/>
            </a:pPr>
            <a:endParaRPr lang="ru-RU" sz="2800" dirty="0" smtClean="0"/>
          </a:p>
        </p:txBody>
      </p:sp>
      <p:sp>
        <p:nvSpPr>
          <p:cNvPr id="5124" name="Номер слайда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fld id="{A753612B-0C07-43BE-9603-25D69BDCCF3A}" type="slidenum">
              <a:rPr lang="ru-RU" sz="1200" smtClean="0">
                <a:latin typeface="Arial Black" pitchFamily="34" charset="0"/>
              </a:rPr>
              <a:pPr eaLnBrk="1" hangingPunct="1"/>
              <a:t>3</a:t>
            </a:fld>
            <a:endParaRPr lang="ru-RU" sz="1200" dirty="0" smtClean="0">
              <a:latin typeface="Arial Black"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wipe(down)">
                                      <p:cBhvr>
                                        <p:cTn id="7" dur="5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wipe(down)">
                                      <p:cBhvr>
                                        <p:cTn id="12" dur="500"/>
                                        <p:tgtEl>
                                          <p:spTgt spid="5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animEffect transition="in" filter="wipe(up)">
                                      <p:cBhvr>
                                        <p:cTn id="17" dur="500"/>
                                        <p:tgtEl>
                                          <p:spTgt spid="51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123">
                                            <p:txEl>
                                              <p:pRg st="3" end="3"/>
                                            </p:txEl>
                                          </p:spTgt>
                                        </p:tgtEl>
                                        <p:attrNameLst>
                                          <p:attrName>style.visibility</p:attrName>
                                        </p:attrNameLst>
                                      </p:cBhvr>
                                      <p:to>
                                        <p:strVal val="visible"/>
                                      </p:to>
                                    </p:set>
                                    <p:animEffect transition="in" filter="wipe(down)">
                                      <p:cBhvr>
                                        <p:cTn id="22" dur="500"/>
                                        <p:tgtEl>
                                          <p:spTgt spid="51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123">
                                            <p:txEl>
                                              <p:pRg st="4" end="4"/>
                                            </p:txEl>
                                          </p:spTgt>
                                        </p:tgtEl>
                                        <p:attrNameLst>
                                          <p:attrName>style.visibility</p:attrName>
                                        </p:attrNameLst>
                                      </p:cBhvr>
                                      <p:to>
                                        <p:strVal val="visible"/>
                                      </p:to>
                                    </p:set>
                                    <p:animEffect transition="in" filter="wipe(down)">
                                      <p:cBhvr>
                                        <p:cTn id="27" dur="500"/>
                                        <p:tgtEl>
                                          <p:spTgt spid="512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5123">
                                            <p:txEl>
                                              <p:pRg st="5" end="5"/>
                                            </p:txEl>
                                          </p:spTgt>
                                        </p:tgtEl>
                                        <p:attrNameLst>
                                          <p:attrName>style.visibility</p:attrName>
                                        </p:attrNameLst>
                                      </p:cBhvr>
                                      <p:to>
                                        <p:strVal val="visible"/>
                                      </p:to>
                                    </p:set>
                                    <p:animEffect transition="in" filter="wipe(down)">
                                      <p:cBhvr>
                                        <p:cTn id="32" dur="500"/>
                                        <p:tgtEl>
                                          <p:spTgt spid="512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5123">
                                            <p:txEl>
                                              <p:pRg st="6" end="6"/>
                                            </p:txEl>
                                          </p:spTgt>
                                        </p:tgtEl>
                                        <p:attrNameLst>
                                          <p:attrName>style.visibility</p:attrName>
                                        </p:attrNameLst>
                                      </p:cBhvr>
                                      <p:to>
                                        <p:strVal val="visible"/>
                                      </p:to>
                                    </p:set>
                                    <p:animEffect transition="in" filter="wipe(down)">
                                      <p:cBhvr>
                                        <p:cTn id="37" dur="500"/>
                                        <p:tgtEl>
                                          <p:spTgt spid="512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Заголовок 1"/>
          <p:cNvSpPr>
            <a:spLocks noGrp="1"/>
          </p:cNvSpPr>
          <p:nvPr>
            <p:ph type="title"/>
          </p:nvPr>
        </p:nvSpPr>
        <p:spPr>
          <a:xfrm>
            <a:off x="179388" y="228600"/>
            <a:ext cx="8785225" cy="668338"/>
          </a:xfrm>
        </p:spPr>
        <p:txBody>
          <a:bodyPr/>
          <a:lstStyle/>
          <a:p>
            <a:pPr algn="ctr"/>
            <a:r>
              <a:rPr lang="ru-RU" sz="3600" dirty="0" smtClean="0">
                <a:solidFill>
                  <a:schemeClr val="bg2"/>
                </a:solidFill>
              </a:rPr>
              <a:t>Хранение записей переменной длины</a:t>
            </a:r>
            <a:endParaRPr lang="ru-RU" sz="3600" i="1" dirty="0" smtClean="0">
              <a:solidFill>
                <a:schemeClr val="bg2"/>
              </a:solidFill>
            </a:endParaRPr>
          </a:p>
        </p:txBody>
      </p:sp>
      <p:sp>
        <p:nvSpPr>
          <p:cNvPr id="6147" name="Объект 2"/>
          <p:cNvSpPr>
            <a:spLocks noGrp="1"/>
          </p:cNvSpPr>
          <p:nvPr>
            <p:ph idx="1"/>
          </p:nvPr>
        </p:nvSpPr>
        <p:spPr>
          <a:xfrm>
            <a:off x="0" y="1028700"/>
            <a:ext cx="9144000" cy="5589587"/>
          </a:xfrm>
        </p:spPr>
        <p:txBody>
          <a:bodyPr/>
          <a:lstStyle/>
          <a:p>
            <a:pPr algn="ctr">
              <a:buFont typeface="Wingdings" pitchFamily="2" charset="2"/>
              <a:buNone/>
            </a:pPr>
            <a:r>
              <a:rPr lang="ru-RU" sz="2800" b="1" dirty="0" smtClean="0"/>
              <a:t>Метод зарезервированного пространства</a:t>
            </a:r>
          </a:p>
          <a:p>
            <a:pPr>
              <a:buFont typeface="Wingdings" pitchFamily="2" charset="2"/>
              <a:buNone/>
            </a:pPr>
            <a:r>
              <a:rPr lang="ru-RU" sz="2400" dirty="0" smtClean="0"/>
              <a:t>Если количество повторений известно, то можно перейти к записям с фиксированной длиной.</a:t>
            </a:r>
          </a:p>
          <a:p>
            <a:pPr>
              <a:buFont typeface="Wingdings" pitchFamily="2" charset="2"/>
              <a:buNone/>
            </a:pPr>
            <a:r>
              <a:rPr lang="ru-RU" sz="2400" u="sng" dirty="0" smtClean="0"/>
              <a:t>Пример</a:t>
            </a:r>
            <a:r>
              <a:rPr lang="ru-RU" sz="2400" dirty="0" smtClean="0"/>
              <a:t> </a:t>
            </a:r>
          </a:p>
          <a:p>
            <a:pPr>
              <a:buFont typeface="Wingdings" pitchFamily="2" charset="2"/>
              <a:buNone/>
            </a:pPr>
            <a:r>
              <a:rPr lang="ru-RU" sz="2000" dirty="0" smtClean="0"/>
              <a:t>Область Население (Шоссе Длина (Терминал1 Терминал2) )*</a:t>
            </a:r>
          </a:p>
          <a:p>
            <a:pPr>
              <a:buFont typeface="Wingdings" pitchFamily="2" charset="2"/>
              <a:buNone/>
            </a:pPr>
            <a:r>
              <a:rPr lang="ru-RU" sz="2000" dirty="0" smtClean="0"/>
              <a:t>или </a:t>
            </a:r>
          </a:p>
          <a:p>
            <a:pPr>
              <a:buFont typeface="Wingdings" pitchFamily="2" charset="2"/>
              <a:buNone/>
            </a:pPr>
            <a:r>
              <a:rPr lang="ru-RU" sz="2000" dirty="0" smtClean="0"/>
              <a:t>Область Население </a:t>
            </a:r>
            <a:r>
              <a:rPr lang="ru-RU" sz="2000" dirty="0" smtClean="0">
                <a:solidFill>
                  <a:srgbClr val="C00000"/>
                </a:solidFill>
              </a:rPr>
              <a:t>счетчик</a:t>
            </a:r>
          </a:p>
          <a:p>
            <a:pPr>
              <a:buFont typeface="Wingdings" pitchFamily="2" charset="2"/>
              <a:buNone/>
            </a:pPr>
            <a:r>
              <a:rPr lang="ru-RU" sz="2000" dirty="0" smtClean="0"/>
              <a:t>	Шоссе1   Длина1    Терминал1.1  Терминал1.2</a:t>
            </a:r>
          </a:p>
          <a:p>
            <a:pPr>
              <a:buFont typeface="Wingdings" pitchFamily="2" charset="2"/>
              <a:buNone/>
            </a:pPr>
            <a:r>
              <a:rPr lang="ru-RU" sz="2000" dirty="0" smtClean="0"/>
              <a:t>…</a:t>
            </a:r>
          </a:p>
          <a:p>
            <a:pPr>
              <a:buFont typeface="Wingdings" pitchFamily="2" charset="2"/>
              <a:buNone/>
            </a:pPr>
            <a:r>
              <a:rPr lang="ru-RU" sz="2000" dirty="0" smtClean="0"/>
              <a:t>	Шоссе10 Длина10 Терминал10.1 Терминал10.2</a:t>
            </a:r>
          </a:p>
          <a:p>
            <a:pPr>
              <a:buFont typeface="Wingdings" pitchFamily="2" charset="2"/>
              <a:buNone/>
            </a:pPr>
            <a:endParaRPr lang="ru-RU" sz="2000" dirty="0" smtClean="0"/>
          </a:p>
          <a:p>
            <a:pPr marL="0">
              <a:buFont typeface="Wingdings" pitchFamily="2" charset="2"/>
              <a:buNone/>
            </a:pPr>
            <a:r>
              <a:rPr lang="ru-RU" sz="2000" dirty="0" smtClean="0"/>
              <a:t>Хорошо применять когда </a:t>
            </a:r>
            <a:r>
              <a:rPr lang="ru-RU" sz="2000" b="1" dirty="0" smtClean="0"/>
              <a:t>среднее</a:t>
            </a:r>
            <a:r>
              <a:rPr lang="ru-RU" sz="2000" dirty="0" smtClean="0"/>
              <a:t> </a:t>
            </a:r>
            <a:r>
              <a:rPr lang="ru-RU" sz="2000" b="1" dirty="0" smtClean="0"/>
              <a:t>количество </a:t>
            </a:r>
            <a:r>
              <a:rPr lang="ru-RU" sz="2000" dirty="0" smtClean="0"/>
              <a:t>повторяющихся</a:t>
            </a:r>
            <a:r>
              <a:rPr lang="ru-RU" sz="2000" b="1" dirty="0" smtClean="0"/>
              <a:t> </a:t>
            </a:r>
            <a:r>
              <a:rPr lang="ru-RU" sz="2000" dirty="0" smtClean="0"/>
              <a:t>элементов</a:t>
            </a:r>
            <a:r>
              <a:rPr lang="ru-RU" sz="2000" b="1" dirty="0" smtClean="0"/>
              <a:t> </a:t>
            </a:r>
            <a:r>
              <a:rPr lang="ru-RU" sz="2000" dirty="0" smtClean="0"/>
              <a:t>в списке </a:t>
            </a:r>
            <a:r>
              <a:rPr lang="ru-RU" sz="2000" b="1" dirty="0" smtClean="0"/>
              <a:t>близко к максимальному значению </a:t>
            </a:r>
            <a:r>
              <a:rPr lang="ru-RU" sz="2000" dirty="0" smtClean="0"/>
              <a:t>количества таких элементов для разных объектов.</a:t>
            </a:r>
          </a:p>
        </p:txBody>
      </p:sp>
      <p:sp>
        <p:nvSpPr>
          <p:cNvPr id="6148" name="Номер слайда 1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fld id="{324A5D18-D5AE-4EC3-B6F2-102204C148BB}" type="slidenum">
              <a:rPr lang="ru-RU" sz="1200" smtClean="0">
                <a:latin typeface="Arial Black" pitchFamily="34" charset="0"/>
              </a:rPr>
              <a:pPr eaLnBrk="1" hangingPunct="1"/>
              <a:t>4</a:t>
            </a:fld>
            <a:endParaRPr lang="ru-RU" sz="1200" dirty="0" smtClean="0">
              <a:latin typeface="Arial Black"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wipe(down)">
                                      <p:cBhvr>
                                        <p:cTn id="7" dur="5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Effect transition="in" filter="wipe(down)">
                                      <p:cBhvr>
                                        <p:cTn id="12" dur="500"/>
                                        <p:tgtEl>
                                          <p:spTgt spid="61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147">
                                            <p:txEl>
                                              <p:pRg st="2" end="2"/>
                                            </p:txEl>
                                          </p:spTgt>
                                        </p:tgtEl>
                                        <p:attrNameLst>
                                          <p:attrName>style.visibility</p:attrName>
                                        </p:attrNameLst>
                                      </p:cBhvr>
                                      <p:to>
                                        <p:strVal val="visible"/>
                                      </p:to>
                                    </p:set>
                                    <p:animEffect transition="in" filter="wipe(down)">
                                      <p:cBhvr>
                                        <p:cTn id="17" dur="500"/>
                                        <p:tgtEl>
                                          <p:spTgt spid="61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147">
                                            <p:txEl>
                                              <p:pRg st="3" end="3"/>
                                            </p:txEl>
                                          </p:spTgt>
                                        </p:tgtEl>
                                        <p:attrNameLst>
                                          <p:attrName>style.visibility</p:attrName>
                                        </p:attrNameLst>
                                      </p:cBhvr>
                                      <p:to>
                                        <p:strVal val="visible"/>
                                      </p:to>
                                    </p:set>
                                    <p:animEffect transition="in" filter="wipe(down)">
                                      <p:cBhvr>
                                        <p:cTn id="22" dur="500"/>
                                        <p:tgtEl>
                                          <p:spTgt spid="61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147">
                                            <p:txEl>
                                              <p:pRg st="4" end="4"/>
                                            </p:txEl>
                                          </p:spTgt>
                                        </p:tgtEl>
                                        <p:attrNameLst>
                                          <p:attrName>style.visibility</p:attrName>
                                        </p:attrNameLst>
                                      </p:cBhvr>
                                      <p:to>
                                        <p:strVal val="visible"/>
                                      </p:to>
                                    </p:set>
                                    <p:animEffect transition="in" filter="wipe(down)">
                                      <p:cBhvr>
                                        <p:cTn id="27" dur="500"/>
                                        <p:tgtEl>
                                          <p:spTgt spid="61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147">
                                            <p:txEl>
                                              <p:pRg st="5" end="5"/>
                                            </p:txEl>
                                          </p:spTgt>
                                        </p:tgtEl>
                                        <p:attrNameLst>
                                          <p:attrName>style.visibility</p:attrName>
                                        </p:attrNameLst>
                                      </p:cBhvr>
                                      <p:to>
                                        <p:strVal val="visible"/>
                                      </p:to>
                                    </p:set>
                                    <p:animEffect transition="in" filter="wipe(down)">
                                      <p:cBhvr>
                                        <p:cTn id="32" dur="500"/>
                                        <p:tgtEl>
                                          <p:spTgt spid="614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147">
                                            <p:txEl>
                                              <p:pRg st="6" end="6"/>
                                            </p:txEl>
                                          </p:spTgt>
                                        </p:tgtEl>
                                        <p:attrNameLst>
                                          <p:attrName>style.visibility</p:attrName>
                                        </p:attrNameLst>
                                      </p:cBhvr>
                                      <p:to>
                                        <p:strVal val="visible"/>
                                      </p:to>
                                    </p:set>
                                    <p:animEffect transition="in" filter="wipe(down)">
                                      <p:cBhvr>
                                        <p:cTn id="37" dur="500"/>
                                        <p:tgtEl>
                                          <p:spTgt spid="614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6147">
                                            <p:txEl>
                                              <p:pRg st="7" end="7"/>
                                            </p:txEl>
                                          </p:spTgt>
                                        </p:tgtEl>
                                        <p:attrNameLst>
                                          <p:attrName>style.visibility</p:attrName>
                                        </p:attrNameLst>
                                      </p:cBhvr>
                                      <p:to>
                                        <p:strVal val="visible"/>
                                      </p:to>
                                    </p:set>
                                    <p:animEffect transition="in" filter="wipe(down)">
                                      <p:cBhvr>
                                        <p:cTn id="42" dur="500"/>
                                        <p:tgtEl>
                                          <p:spTgt spid="614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6147">
                                            <p:txEl>
                                              <p:pRg st="8" end="8"/>
                                            </p:txEl>
                                          </p:spTgt>
                                        </p:tgtEl>
                                        <p:attrNameLst>
                                          <p:attrName>style.visibility</p:attrName>
                                        </p:attrNameLst>
                                      </p:cBhvr>
                                      <p:to>
                                        <p:strVal val="visible"/>
                                      </p:to>
                                    </p:set>
                                    <p:animEffect transition="in" filter="wipe(down)">
                                      <p:cBhvr>
                                        <p:cTn id="47" dur="500"/>
                                        <p:tgtEl>
                                          <p:spTgt spid="614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6147">
                                            <p:txEl>
                                              <p:pRg st="10" end="10"/>
                                            </p:txEl>
                                          </p:spTgt>
                                        </p:tgtEl>
                                        <p:attrNameLst>
                                          <p:attrName>style.visibility</p:attrName>
                                        </p:attrNameLst>
                                      </p:cBhvr>
                                      <p:to>
                                        <p:strVal val="visible"/>
                                      </p:to>
                                    </p:set>
                                    <p:animEffect transition="in" filter="wipe(down)">
                                      <p:cBhvr>
                                        <p:cTn id="52" dur="500"/>
                                        <p:tgtEl>
                                          <p:spTgt spid="614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Заголовок 1"/>
          <p:cNvSpPr>
            <a:spLocks noGrp="1"/>
          </p:cNvSpPr>
          <p:nvPr>
            <p:ph type="title"/>
          </p:nvPr>
        </p:nvSpPr>
        <p:spPr>
          <a:xfrm>
            <a:off x="457200" y="228600"/>
            <a:ext cx="8229600" cy="539750"/>
          </a:xfrm>
        </p:spPr>
        <p:txBody>
          <a:bodyPr/>
          <a:lstStyle/>
          <a:p>
            <a:pPr algn="ctr"/>
            <a:r>
              <a:rPr lang="ru-RU" sz="4000" dirty="0" smtClean="0"/>
              <a:t>Метод указателей</a:t>
            </a:r>
          </a:p>
        </p:txBody>
      </p:sp>
      <p:sp>
        <p:nvSpPr>
          <p:cNvPr id="7171" name="Содержимое 2"/>
          <p:cNvSpPr>
            <a:spLocks noGrp="1"/>
          </p:cNvSpPr>
          <p:nvPr>
            <p:ph idx="1"/>
          </p:nvPr>
        </p:nvSpPr>
        <p:spPr>
          <a:xfrm>
            <a:off x="428624" y="717550"/>
            <a:ext cx="8455025" cy="5783263"/>
          </a:xfrm>
        </p:spPr>
        <p:txBody>
          <a:bodyPr>
            <a:normAutofit/>
          </a:bodyPr>
          <a:lstStyle/>
          <a:p>
            <a:pPr>
              <a:lnSpc>
                <a:spcPct val="150000"/>
              </a:lnSpc>
            </a:pPr>
            <a:r>
              <a:rPr lang="ru-RU" sz="2800" dirty="0" smtClean="0"/>
              <a:t>Пример</a:t>
            </a:r>
          </a:p>
          <a:p>
            <a:pPr>
              <a:lnSpc>
                <a:spcPct val="150000"/>
              </a:lnSpc>
              <a:buNone/>
            </a:pPr>
            <a:r>
              <a:rPr lang="ru-RU" sz="2400" b="1" dirty="0" smtClean="0"/>
              <a:t>Область Население (Шоссе Длина (Терминал)*)*</a:t>
            </a:r>
          </a:p>
          <a:p>
            <a:pPr>
              <a:lnSpc>
                <a:spcPct val="150000"/>
              </a:lnSpc>
              <a:buNone/>
            </a:pPr>
            <a:r>
              <a:rPr lang="ru-RU" sz="2400" dirty="0" smtClean="0"/>
              <a:t>Будет представлено 3 файлами с блоками фикс. длины:</a:t>
            </a:r>
          </a:p>
          <a:p>
            <a:pPr marL="457200" indent="-457200">
              <a:lnSpc>
                <a:spcPct val="150000"/>
              </a:lnSpc>
              <a:buFont typeface="+mj-lt"/>
              <a:buAutoNum type="arabicPeriod"/>
            </a:pPr>
            <a:r>
              <a:rPr lang="ru-RU" sz="2400" dirty="0" smtClean="0">
                <a:solidFill>
                  <a:schemeClr val="bg2"/>
                </a:solidFill>
              </a:rPr>
              <a:t>Область Население </a:t>
            </a:r>
            <a:r>
              <a:rPr lang="ru-RU" sz="2400" dirty="0" smtClean="0">
                <a:solidFill>
                  <a:srgbClr val="C00000"/>
                </a:solidFill>
              </a:rPr>
              <a:t>Указатель-Шоссе</a:t>
            </a:r>
          </a:p>
          <a:p>
            <a:pPr marL="457200" indent="-457200">
              <a:lnSpc>
                <a:spcPct val="150000"/>
              </a:lnSpc>
              <a:buFont typeface="+mj-lt"/>
              <a:buAutoNum type="arabicPeriod"/>
            </a:pPr>
            <a:r>
              <a:rPr lang="ru-RU" sz="2400" dirty="0" smtClean="0">
                <a:solidFill>
                  <a:schemeClr val="bg2"/>
                </a:solidFill>
              </a:rPr>
              <a:t>Шоссе Длина </a:t>
            </a:r>
            <a:r>
              <a:rPr lang="ru-RU" sz="2400" dirty="0" err="1" smtClean="0">
                <a:solidFill>
                  <a:srgbClr val="C00000"/>
                </a:solidFill>
              </a:rPr>
              <a:t>Указатель-Терминалов</a:t>
            </a:r>
            <a:endParaRPr lang="ru-RU" sz="2400" dirty="0" smtClean="0">
              <a:solidFill>
                <a:srgbClr val="C00000"/>
              </a:solidFill>
            </a:endParaRPr>
          </a:p>
          <a:p>
            <a:pPr marL="457200" indent="-457200">
              <a:lnSpc>
                <a:spcPct val="150000"/>
              </a:lnSpc>
              <a:buFont typeface="+mj-lt"/>
              <a:buAutoNum type="arabicPeriod"/>
            </a:pPr>
            <a:r>
              <a:rPr lang="ru-RU" sz="2400" dirty="0" smtClean="0"/>
              <a:t>Терминал</a:t>
            </a:r>
          </a:p>
          <a:p>
            <a:r>
              <a:rPr lang="ru-RU" sz="3000" dirty="0" smtClean="0"/>
              <a:t>Оптимальный метод по занимаемому пространству (памяти).</a:t>
            </a:r>
          </a:p>
          <a:p>
            <a:r>
              <a:rPr lang="ru-RU" sz="3000" dirty="0" smtClean="0"/>
              <a:t>Может проигрывать по скорости доступа</a:t>
            </a:r>
          </a:p>
        </p:txBody>
      </p:sp>
      <p:sp>
        <p:nvSpPr>
          <p:cNvPr id="7172" name="Номер слайда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fld id="{9A4564C9-D691-43CF-8167-DCA075E17E0F}" type="slidenum">
              <a:rPr lang="ru-RU" sz="1200" smtClean="0">
                <a:latin typeface="Arial Black" pitchFamily="34" charset="0"/>
              </a:rPr>
              <a:pPr eaLnBrk="1" hangingPunct="1"/>
              <a:t>5</a:t>
            </a:fld>
            <a:endParaRPr lang="ru-RU" sz="1200" smtClean="0">
              <a:latin typeface="Arial Black" pitchFamily="34" charset="0"/>
            </a:endParaRPr>
          </a:p>
        </p:txBody>
      </p:sp>
      <p:sp>
        <p:nvSpPr>
          <p:cNvPr id="7173" name="Нижний колонтитул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endParaRPr lang="ru-RU" sz="120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Заголовок 1"/>
          <p:cNvSpPr>
            <a:spLocks noGrp="1"/>
          </p:cNvSpPr>
          <p:nvPr>
            <p:ph type="title"/>
          </p:nvPr>
        </p:nvSpPr>
        <p:spPr>
          <a:xfrm>
            <a:off x="521550" y="98630"/>
            <a:ext cx="8229600" cy="539750"/>
          </a:xfrm>
        </p:spPr>
        <p:txBody>
          <a:bodyPr/>
          <a:lstStyle/>
          <a:p>
            <a:pPr algn="ctr"/>
            <a:r>
              <a:rPr lang="ru-RU" sz="3600" dirty="0" smtClean="0"/>
              <a:t>Метод указателей</a:t>
            </a:r>
          </a:p>
        </p:txBody>
      </p:sp>
      <p:sp>
        <p:nvSpPr>
          <p:cNvPr id="7171" name="Содержимое 2"/>
          <p:cNvSpPr>
            <a:spLocks noGrp="1"/>
          </p:cNvSpPr>
          <p:nvPr>
            <p:ph idx="1"/>
          </p:nvPr>
        </p:nvSpPr>
        <p:spPr>
          <a:xfrm>
            <a:off x="476545" y="683695"/>
            <a:ext cx="8407104" cy="5817118"/>
          </a:xfrm>
        </p:spPr>
        <p:txBody>
          <a:bodyPr>
            <a:normAutofit/>
          </a:bodyPr>
          <a:lstStyle/>
          <a:p>
            <a:pPr>
              <a:lnSpc>
                <a:spcPct val="150000"/>
              </a:lnSpc>
            </a:pPr>
            <a:r>
              <a:rPr lang="ru-RU" sz="2800" dirty="0" smtClean="0">
                <a:solidFill>
                  <a:schemeClr val="bg2"/>
                </a:solidFill>
              </a:rPr>
              <a:t>Пример</a:t>
            </a:r>
          </a:p>
        </p:txBody>
      </p:sp>
      <p:sp>
        <p:nvSpPr>
          <p:cNvPr id="7172" name="Номер слайда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fld id="{9A4564C9-D691-43CF-8167-DCA075E17E0F}" type="slidenum">
              <a:rPr lang="ru-RU" sz="1200" smtClean="0">
                <a:latin typeface="Arial Black" pitchFamily="34" charset="0"/>
              </a:rPr>
              <a:pPr eaLnBrk="1" hangingPunct="1"/>
              <a:t>6</a:t>
            </a:fld>
            <a:endParaRPr lang="ru-RU" sz="1200" smtClean="0">
              <a:latin typeface="Arial Black" pitchFamily="34" charset="0"/>
            </a:endParaRPr>
          </a:p>
        </p:txBody>
      </p:sp>
      <p:sp>
        <p:nvSpPr>
          <p:cNvPr id="7173" name="Нижний колонтитул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endParaRPr lang="ru-RU" sz="1200" smtClean="0"/>
          </a:p>
        </p:txBody>
      </p:sp>
      <p:grpSp>
        <p:nvGrpSpPr>
          <p:cNvPr id="17" name="Группа 16"/>
          <p:cNvGrpSpPr/>
          <p:nvPr/>
        </p:nvGrpSpPr>
        <p:grpSpPr>
          <a:xfrm>
            <a:off x="2276745" y="1268760"/>
            <a:ext cx="4635515" cy="341632"/>
            <a:chOff x="1601670" y="1358770"/>
            <a:chExt cx="4635515" cy="341632"/>
          </a:xfrm>
        </p:grpSpPr>
        <p:sp>
          <p:nvSpPr>
            <p:cNvPr id="9" name="TextBox 8"/>
            <p:cNvSpPr txBox="1"/>
            <p:nvPr/>
          </p:nvSpPr>
          <p:spPr>
            <a:xfrm>
              <a:off x="1601670" y="1358770"/>
              <a:ext cx="540060" cy="341632"/>
            </a:xfrm>
            <a:prstGeom prst="rect">
              <a:avLst/>
            </a:prstGeom>
            <a:noFill/>
            <a:ln w="19050">
              <a:solidFill>
                <a:schemeClr val="tx1"/>
              </a:solidFill>
              <a:miter lim="800000"/>
            </a:ln>
          </p:spPr>
          <p:txBody>
            <a:bodyPr wrap="square" rtlCol="0">
              <a:spAutoFit/>
            </a:bodyPr>
            <a:lstStyle/>
            <a:p>
              <a:r>
                <a:rPr lang="ru-RU" sz="1800" dirty="0" smtClean="0"/>
                <a:t>…</a:t>
              </a:r>
              <a:endParaRPr lang="ru-RU" sz="1800" dirty="0"/>
            </a:p>
          </p:txBody>
        </p:sp>
        <p:sp>
          <p:nvSpPr>
            <p:cNvPr id="10" name="TextBox 9"/>
            <p:cNvSpPr txBox="1"/>
            <p:nvPr/>
          </p:nvSpPr>
          <p:spPr>
            <a:xfrm>
              <a:off x="2141730" y="1358770"/>
              <a:ext cx="1800200" cy="341632"/>
            </a:xfrm>
            <a:prstGeom prst="rect">
              <a:avLst/>
            </a:prstGeom>
            <a:noFill/>
            <a:ln w="19050">
              <a:solidFill>
                <a:schemeClr val="tx1"/>
              </a:solidFill>
              <a:miter lim="800000"/>
            </a:ln>
          </p:spPr>
          <p:txBody>
            <a:bodyPr wrap="square" rtlCol="0">
              <a:spAutoFit/>
            </a:bodyPr>
            <a:lstStyle/>
            <a:p>
              <a:r>
                <a:rPr lang="ru-RU" sz="1800" dirty="0" smtClean="0"/>
                <a:t>Новосибирск</a:t>
              </a:r>
              <a:endParaRPr lang="ru-RU" sz="1800" dirty="0"/>
            </a:p>
          </p:txBody>
        </p:sp>
        <p:sp>
          <p:nvSpPr>
            <p:cNvPr id="11" name="TextBox 10"/>
            <p:cNvSpPr txBox="1"/>
            <p:nvPr/>
          </p:nvSpPr>
          <p:spPr>
            <a:xfrm>
              <a:off x="3941930" y="1358770"/>
              <a:ext cx="1215135" cy="341632"/>
            </a:xfrm>
            <a:prstGeom prst="rect">
              <a:avLst/>
            </a:prstGeom>
            <a:noFill/>
            <a:ln w="19050">
              <a:solidFill>
                <a:schemeClr val="tx1"/>
              </a:solidFill>
              <a:miter lim="800000"/>
            </a:ln>
          </p:spPr>
          <p:txBody>
            <a:bodyPr wrap="square" rtlCol="0">
              <a:spAutoFit/>
            </a:bodyPr>
            <a:lstStyle/>
            <a:p>
              <a:r>
                <a:rPr lang="ru-RU" sz="1800" smtClean="0"/>
                <a:t>1 600 </a:t>
              </a:r>
              <a:r>
                <a:rPr lang="ru-RU" sz="1800" dirty="0" smtClean="0"/>
                <a:t>000</a:t>
              </a:r>
              <a:endParaRPr lang="ru-RU" sz="1800" dirty="0"/>
            </a:p>
          </p:txBody>
        </p:sp>
        <p:sp>
          <p:nvSpPr>
            <p:cNvPr id="12" name="TextBox 11"/>
            <p:cNvSpPr txBox="1"/>
            <p:nvPr/>
          </p:nvSpPr>
          <p:spPr>
            <a:xfrm>
              <a:off x="5157065" y="1358771"/>
              <a:ext cx="540060" cy="340927"/>
            </a:xfrm>
            <a:prstGeom prst="rect">
              <a:avLst/>
            </a:prstGeom>
            <a:noFill/>
            <a:ln w="19050">
              <a:solidFill>
                <a:schemeClr val="tx1"/>
              </a:solidFill>
              <a:miter lim="800000"/>
            </a:ln>
          </p:spPr>
          <p:txBody>
            <a:bodyPr wrap="square" rtlCol="0">
              <a:spAutoFit/>
            </a:bodyPr>
            <a:lstStyle/>
            <a:p>
              <a:pPr algn="ctr">
                <a:lnSpc>
                  <a:spcPct val="42000"/>
                </a:lnSpc>
                <a:spcBef>
                  <a:spcPts val="0"/>
                </a:spcBef>
              </a:pPr>
              <a:r>
                <a:rPr lang="ru-RU" sz="3200" dirty="0" smtClean="0"/>
                <a:t>.</a:t>
              </a:r>
              <a:endParaRPr lang="ru-RU" sz="3200" dirty="0"/>
            </a:p>
          </p:txBody>
        </p:sp>
        <p:sp>
          <p:nvSpPr>
            <p:cNvPr id="13" name="TextBox 12"/>
            <p:cNvSpPr txBox="1"/>
            <p:nvPr/>
          </p:nvSpPr>
          <p:spPr>
            <a:xfrm>
              <a:off x="5697125" y="1358770"/>
              <a:ext cx="540060" cy="341632"/>
            </a:xfrm>
            <a:prstGeom prst="rect">
              <a:avLst/>
            </a:prstGeom>
            <a:noFill/>
            <a:ln w="19050">
              <a:solidFill>
                <a:schemeClr val="tx1"/>
              </a:solidFill>
              <a:miter lim="800000"/>
            </a:ln>
          </p:spPr>
          <p:txBody>
            <a:bodyPr wrap="square" rtlCol="0">
              <a:spAutoFit/>
            </a:bodyPr>
            <a:lstStyle/>
            <a:p>
              <a:r>
                <a:rPr lang="ru-RU" sz="1800" dirty="0" smtClean="0"/>
                <a:t>…</a:t>
              </a:r>
              <a:endParaRPr lang="ru-RU" sz="1800" dirty="0"/>
            </a:p>
          </p:txBody>
        </p:sp>
      </p:grpSp>
      <p:sp>
        <p:nvSpPr>
          <p:cNvPr id="14" name="TextBox 13"/>
          <p:cNvSpPr txBox="1"/>
          <p:nvPr/>
        </p:nvSpPr>
        <p:spPr>
          <a:xfrm>
            <a:off x="1196625" y="1403775"/>
            <a:ext cx="1170130" cy="474169"/>
          </a:xfrm>
          <a:prstGeom prst="rect">
            <a:avLst/>
          </a:prstGeom>
          <a:noFill/>
        </p:spPr>
        <p:txBody>
          <a:bodyPr wrap="square" rtlCol="0">
            <a:spAutoFit/>
          </a:bodyPr>
          <a:lstStyle/>
          <a:p>
            <a:pPr>
              <a:lnSpc>
                <a:spcPct val="50000"/>
              </a:lnSpc>
              <a:spcBef>
                <a:spcPts val="0"/>
              </a:spcBef>
            </a:pPr>
            <a:r>
              <a:rPr lang="ru-RU" sz="1800" dirty="0" smtClean="0"/>
              <a:t>Блок файла</a:t>
            </a:r>
            <a:r>
              <a:rPr lang="ru-RU" dirty="0" smtClean="0"/>
              <a:t> </a:t>
            </a:r>
            <a:endParaRPr lang="ru-RU" dirty="0"/>
          </a:p>
        </p:txBody>
      </p:sp>
      <p:sp>
        <p:nvSpPr>
          <p:cNvPr id="18" name="TextBox 17"/>
          <p:cNvSpPr txBox="1"/>
          <p:nvPr/>
        </p:nvSpPr>
        <p:spPr>
          <a:xfrm>
            <a:off x="2591780" y="2393885"/>
            <a:ext cx="495055" cy="341632"/>
          </a:xfrm>
          <a:prstGeom prst="rect">
            <a:avLst/>
          </a:prstGeom>
          <a:noFill/>
          <a:ln w="19050">
            <a:solidFill>
              <a:schemeClr val="tx1"/>
            </a:solidFill>
            <a:miter lim="800000"/>
          </a:ln>
        </p:spPr>
        <p:txBody>
          <a:bodyPr wrap="square" rtlCol="0">
            <a:spAutoFit/>
          </a:bodyPr>
          <a:lstStyle/>
          <a:p>
            <a:pPr algn="ctr"/>
            <a:r>
              <a:rPr lang="ru-RU" sz="1800" dirty="0" smtClean="0"/>
              <a:t>11</a:t>
            </a:r>
            <a:endParaRPr lang="ru-RU" sz="1800" dirty="0"/>
          </a:p>
        </p:txBody>
      </p:sp>
      <p:sp>
        <p:nvSpPr>
          <p:cNvPr id="19" name="TextBox 18"/>
          <p:cNvSpPr txBox="1"/>
          <p:nvPr/>
        </p:nvSpPr>
        <p:spPr>
          <a:xfrm>
            <a:off x="2141730" y="2393885"/>
            <a:ext cx="450050" cy="337208"/>
          </a:xfrm>
          <a:prstGeom prst="rect">
            <a:avLst/>
          </a:prstGeom>
          <a:noFill/>
          <a:ln w="19050">
            <a:solidFill>
              <a:schemeClr val="tx1"/>
            </a:solidFill>
            <a:miter lim="800000"/>
          </a:ln>
        </p:spPr>
        <p:txBody>
          <a:bodyPr wrap="square" rtlCol="0">
            <a:spAutoFit/>
          </a:bodyPr>
          <a:lstStyle/>
          <a:p>
            <a:pPr algn="ctr">
              <a:lnSpc>
                <a:spcPct val="41000"/>
              </a:lnSpc>
              <a:spcBef>
                <a:spcPts val="0"/>
              </a:spcBef>
            </a:pPr>
            <a:r>
              <a:rPr lang="ru-RU" sz="3200" dirty="0" smtClean="0"/>
              <a:t>.</a:t>
            </a:r>
            <a:endParaRPr lang="ru-RU" sz="3200" dirty="0"/>
          </a:p>
        </p:txBody>
      </p:sp>
      <p:sp>
        <p:nvSpPr>
          <p:cNvPr id="20" name="TextBox 19"/>
          <p:cNvSpPr txBox="1"/>
          <p:nvPr/>
        </p:nvSpPr>
        <p:spPr>
          <a:xfrm>
            <a:off x="3086834" y="2393885"/>
            <a:ext cx="765085" cy="341632"/>
          </a:xfrm>
          <a:prstGeom prst="rect">
            <a:avLst/>
          </a:prstGeom>
          <a:noFill/>
          <a:ln w="19050">
            <a:solidFill>
              <a:schemeClr val="tx1"/>
            </a:solidFill>
            <a:miter lim="800000"/>
          </a:ln>
        </p:spPr>
        <p:txBody>
          <a:bodyPr wrap="square" rtlCol="0">
            <a:spAutoFit/>
          </a:bodyPr>
          <a:lstStyle/>
          <a:p>
            <a:r>
              <a:rPr lang="ru-RU" sz="1800" dirty="0" smtClean="0"/>
              <a:t>М 51</a:t>
            </a:r>
            <a:endParaRPr lang="ru-RU" sz="1800" dirty="0"/>
          </a:p>
        </p:txBody>
      </p:sp>
      <p:sp>
        <p:nvSpPr>
          <p:cNvPr id="21" name="TextBox 20"/>
          <p:cNvSpPr txBox="1"/>
          <p:nvPr/>
        </p:nvSpPr>
        <p:spPr>
          <a:xfrm>
            <a:off x="3851920" y="2393885"/>
            <a:ext cx="765085" cy="341632"/>
          </a:xfrm>
          <a:prstGeom prst="rect">
            <a:avLst/>
          </a:prstGeom>
          <a:noFill/>
          <a:ln w="19050">
            <a:solidFill>
              <a:schemeClr val="tx1"/>
            </a:solidFill>
            <a:miter lim="800000"/>
          </a:ln>
        </p:spPr>
        <p:txBody>
          <a:bodyPr wrap="square" rtlCol="0">
            <a:spAutoFit/>
          </a:bodyPr>
          <a:lstStyle/>
          <a:p>
            <a:r>
              <a:rPr lang="ru-RU" sz="1800" dirty="0" smtClean="0"/>
              <a:t>750</a:t>
            </a:r>
            <a:endParaRPr lang="ru-RU" sz="1800" dirty="0"/>
          </a:p>
        </p:txBody>
      </p:sp>
      <p:sp>
        <p:nvSpPr>
          <p:cNvPr id="25" name="TextBox 24"/>
          <p:cNvSpPr txBox="1"/>
          <p:nvPr/>
        </p:nvSpPr>
        <p:spPr>
          <a:xfrm>
            <a:off x="5832140" y="2393885"/>
            <a:ext cx="765085" cy="341632"/>
          </a:xfrm>
          <a:prstGeom prst="rect">
            <a:avLst/>
          </a:prstGeom>
          <a:noFill/>
          <a:ln w="19050">
            <a:solidFill>
              <a:schemeClr val="tx1"/>
            </a:solidFill>
            <a:miter lim="800000"/>
          </a:ln>
        </p:spPr>
        <p:txBody>
          <a:bodyPr wrap="square" rtlCol="0">
            <a:spAutoFit/>
          </a:bodyPr>
          <a:lstStyle/>
          <a:p>
            <a:r>
              <a:rPr lang="ru-RU" sz="1800" dirty="0" smtClean="0"/>
              <a:t>930</a:t>
            </a:r>
            <a:endParaRPr lang="ru-RU" sz="1800" dirty="0"/>
          </a:p>
        </p:txBody>
      </p:sp>
      <p:sp>
        <p:nvSpPr>
          <p:cNvPr id="26" name="TextBox 25"/>
          <p:cNvSpPr txBox="1"/>
          <p:nvPr/>
        </p:nvSpPr>
        <p:spPr>
          <a:xfrm>
            <a:off x="5067055" y="2393885"/>
            <a:ext cx="765085" cy="341632"/>
          </a:xfrm>
          <a:prstGeom prst="rect">
            <a:avLst/>
          </a:prstGeom>
          <a:noFill/>
          <a:ln w="19050">
            <a:solidFill>
              <a:schemeClr val="tx1"/>
            </a:solidFill>
            <a:miter lim="800000"/>
          </a:ln>
        </p:spPr>
        <p:txBody>
          <a:bodyPr wrap="square" rtlCol="0">
            <a:spAutoFit/>
          </a:bodyPr>
          <a:lstStyle/>
          <a:p>
            <a:r>
              <a:rPr lang="ru-RU" sz="1800" dirty="0" smtClean="0"/>
              <a:t>М 52</a:t>
            </a:r>
            <a:endParaRPr lang="ru-RU" sz="1800" dirty="0"/>
          </a:p>
        </p:txBody>
      </p:sp>
      <p:sp>
        <p:nvSpPr>
          <p:cNvPr id="28" name="TextBox 27"/>
          <p:cNvSpPr txBox="1"/>
          <p:nvPr/>
        </p:nvSpPr>
        <p:spPr>
          <a:xfrm>
            <a:off x="4617005" y="2393885"/>
            <a:ext cx="450050" cy="337208"/>
          </a:xfrm>
          <a:prstGeom prst="rect">
            <a:avLst/>
          </a:prstGeom>
          <a:noFill/>
          <a:ln w="19050">
            <a:solidFill>
              <a:schemeClr val="tx1"/>
            </a:solidFill>
            <a:miter lim="800000"/>
          </a:ln>
        </p:spPr>
        <p:txBody>
          <a:bodyPr wrap="square" rtlCol="0">
            <a:spAutoFit/>
          </a:bodyPr>
          <a:lstStyle/>
          <a:p>
            <a:pPr algn="ctr">
              <a:lnSpc>
                <a:spcPct val="41000"/>
              </a:lnSpc>
              <a:spcBef>
                <a:spcPts val="0"/>
              </a:spcBef>
            </a:pPr>
            <a:r>
              <a:rPr lang="ru-RU" sz="3200" dirty="0" smtClean="0"/>
              <a:t>.</a:t>
            </a:r>
            <a:endParaRPr lang="ru-RU" sz="3200" dirty="0"/>
          </a:p>
        </p:txBody>
      </p:sp>
      <p:sp>
        <p:nvSpPr>
          <p:cNvPr id="29" name="TextBox 28"/>
          <p:cNvSpPr txBox="1"/>
          <p:nvPr/>
        </p:nvSpPr>
        <p:spPr>
          <a:xfrm>
            <a:off x="2591780" y="3068960"/>
            <a:ext cx="495055" cy="341632"/>
          </a:xfrm>
          <a:prstGeom prst="rect">
            <a:avLst/>
          </a:prstGeom>
          <a:noFill/>
          <a:ln w="19050">
            <a:solidFill>
              <a:schemeClr val="tx1"/>
            </a:solidFill>
            <a:miter lim="800000"/>
          </a:ln>
        </p:spPr>
        <p:txBody>
          <a:bodyPr wrap="square" rtlCol="0">
            <a:spAutoFit/>
          </a:bodyPr>
          <a:lstStyle/>
          <a:p>
            <a:pPr algn="ctr"/>
            <a:r>
              <a:rPr lang="ru-RU" sz="1800" dirty="0" smtClean="0"/>
              <a:t>10</a:t>
            </a:r>
            <a:endParaRPr lang="ru-RU" sz="1800" dirty="0"/>
          </a:p>
        </p:txBody>
      </p:sp>
      <p:sp>
        <p:nvSpPr>
          <p:cNvPr id="30" name="TextBox 29"/>
          <p:cNvSpPr txBox="1"/>
          <p:nvPr/>
        </p:nvSpPr>
        <p:spPr>
          <a:xfrm>
            <a:off x="2141730" y="3068960"/>
            <a:ext cx="450050" cy="337208"/>
          </a:xfrm>
          <a:prstGeom prst="rect">
            <a:avLst/>
          </a:prstGeom>
          <a:noFill/>
          <a:ln w="19050">
            <a:solidFill>
              <a:schemeClr val="tx1"/>
            </a:solidFill>
            <a:miter lim="800000"/>
          </a:ln>
        </p:spPr>
        <p:txBody>
          <a:bodyPr wrap="square" rtlCol="0">
            <a:spAutoFit/>
          </a:bodyPr>
          <a:lstStyle/>
          <a:p>
            <a:pPr algn="ctr">
              <a:lnSpc>
                <a:spcPct val="41000"/>
              </a:lnSpc>
              <a:spcBef>
                <a:spcPts val="0"/>
              </a:spcBef>
            </a:pPr>
            <a:r>
              <a:rPr lang="ru-RU" sz="3200" dirty="0" smtClean="0"/>
              <a:t>.</a:t>
            </a:r>
            <a:endParaRPr lang="ru-RU" sz="3200" dirty="0"/>
          </a:p>
        </p:txBody>
      </p:sp>
      <p:sp>
        <p:nvSpPr>
          <p:cNvPr id="31" name="TextBox 30"/>
          <p:cNvSpPr txBox="1"/>
          <p:nvPr/>
        </p:nvSpPr>
        <p:spPr>
          <a:xfrm>
            <a:off x="3086834" y="3068960"/>
            <a:ext cx="765085" cy="341632"/>
          </a:xfrm>
          <a:prstGeom prst="rect">
            <a:avLst/>
          </a:prstGeom>
          <a:noFill/>
          <a:ln w="19050">
            <a:solidFill>
              <a:schemeClr val="tx1"/>
            </a:solidFill>
            <a:miter lim="800000"/>
          </a:ln>
        </p:spPr>
        <p:txBody>
          <a:bodyPr wrap="square" rtlCol="0">
            <a:spAutoFit/>
          </a:bodyPr>
          <a:lstStyle/>
          <a:p>
            <a:r>
              <a:rPr lang="ru-RU" sz="1800" dirty="0" smtClean="0"/>
              <a:t>М 53</a:t>
            </a:r>
            <a:endParaRPr lang="ru-RU" sz="1800" dirty="0"/>
          </a:p>
        </p:txBody>
      </p:sp>
      <p:sp>
        <p:nvSpPr>
          <p:cNvPr id="32" name="TextBox 31"/>
          <p:cNvSpPr txBox="1"/>
          <p:nvPr/>
        </p:nvSpPr>
        <p:spPr>
          <a:xfrm>
            <a:off x="3851920" y="3068960"/>
            <a:ext cx="765085" cy="341632"/>
          </a:xfrm>
          <a:prstGeom prst="rect">
            <a:avLst/>
          </a:prstGeom>
          <a:noFill/>
          <a:ln w="19050">
            <a:solidFill>
              <a:schemeClr val="tx1"/>
            </a:solidFill>
            <a:miter lim="800000"/>
          </a:ln>
        </p:spPr>
        <p:txBody>
          <a:bodyPr wrap="square" rtlCol="0">
            <a:spAutoFit/>
          </a:bodyPr>
          <a:lstStyle/>
          <a:p>
            <a:r>
              <a:rPr lang="ru-RU" sz="1800" dirty="0" smtClean="0"/>
              <a:t>670</a:t>
            </a:r>
            <a:endParaRPr lang="ru-RU" sz="1800" dirty="0"/>
          </a:p>
        </p:txBody>
      </p:sp>
      <p:sp>
        <p:nvSpPr>
          <p:cNvPr id="33" name="TextBox 32"/>
          <p:cNvSpPr txBox="1"/>
          <p:nvPr/>
        </p:nvSpPr>
        <p:spPr>
          <a:xfrm>
            <a:off x="5832140" y="3068960"/>
            <a:ext cx="765085" cy="341632"/>
          </a:xfrm>
          <a:prstGeom prst="rect">
            <a:avLst/>
          </a:prstGeom>
          <a:noFill/>
          <a:ln w="19050">
            <a:solidFill>
              <a:schemeClr val="tx1"/>
            </a:solidFill>
            <a:miter lim="800000"/>
          </a:ln>
        </p:spPr>
        <p:txBody>
          <a:bodyPr wrap="square" rtlCol="0">
            <a:spAutoFit/>
          </a:bodyPr>
          <a:lstStyle/>
          <a:p>
            <a:r>
              <a:rPr lang="ru-RU" sz="1800" dirty="0" smtClean="0"/>
              <a:t> </a:t>
            </a:r>
            <a:endParaRPr lang="ru-RU" sz="1800" dirty="0"/>
          </a:p>
        </p:txBody>
      </p:sp>
      <p:sp>
        <p:nvSpPr>
          <p:cNvPr id="34" name="TextBox 33"/>
          <p:cNvSpPr txBox="1"/>
          <p:nvPr/>
        </p:nvSpPr>
        <p:spPr>
          <a:xfrm>
            <a:off x="5067055" y="3068960"/>
            <a:ext cx="765085" cy="341632"/>
          </a:xfrm>
          <a:prstGeom prst="rect">
            <a:avLst/>
          </a:prstGeom>
          <a:noFill/>
          <a:ln w="19050">
            <a:solidFill>
              <a:schemeClr val="tx1"/>
            </a:solidFill>
            <a:miter lim="800000"/>
          </a:ln>
        </p:spPr>
        <p:txBody>
          <a:bodyPr wrap="square" rtlCol="0">
            <a:spAutoFit/>
          </a:bodyPr>
          <a:lstStyle/>
          <a:p>
            <a:r>
              <a:rPr lang="ru-RU" sz="1800" dirty="0" smtClean="0"/>
              <a:t> </a:t>
            </a:r>
            <a:endParaRPr lang="ru-RU" sz="1800" dirty="0"/>
          </a:p>
        </p:txBody>
      </p:sp>
      <p:sp>
        <p:nvSpPr>
          <p:cNvPr id="35" name="TextBox 34"/>
          <p:cNvSpPr txBox="1"/>
          <p:nvPr/>
        </p:nvSpPr>
        <p:spPr>
          <a:xfrm>
            <a:off x="4617005" y="3068960"/>
            <a:ext cx="450050" cy="337208"/>
          </a:xfrm>
          <a:prstGeom prst="rect">
            <a:avLst/>
          </a:prstGeom>
          <a:noFill/>
          <a:ln w="19050">
            <a:solidFill>
              <a:schemeClr val="tx1"/>
            </a:solidFill>
            <a:miter lim="800000"/>
          </a:ln>
        </p:spPr>
        <p:txBody>
          <a:bodyPr wrap="square" rtlCol="0">
            <a:spAutoFit/>
          </a:bodyPr>
          <a:lstStyle/>
          <a:p>
            <a:pPr algn="ctr">
              <a:lnSpc>
                <a:spcPct val="41000"/>
              </a:lnSpc>
              <a:spcBef>
                <a:spcPts val="0"/>
              </a:spcBef>
            </a:pPr>
            <a:r>
              <a:rPr lang="ru-RU" sz="3200" dirty="0" smtClean="0"/>
              <a:t>.</a:t>
            </a:r>
            <a:endParaRPr lang="ru-RU" sz="3200" dirty="0"/>
          </a:p>
        </p:txBody>
      </p:sp>
      <p:sp>
        <p:nvSpPr>
          <p:cNvPr id="36" name="TextBox 35"/>
          <p:cNvSpPr txBox="1"/>
          <p:nvPr/>
        </p:nvSpPr>
        <p:spPr>
          <a:xfrm>
            <a:off x="6597225" y="2393885"/>
            <a:ext cx="450050" cy="337208"/>
          </a:xfrm>
          <a:prstGeom prst="rect">
            <a:avLst/>
          </a:prstGeom>
          <a:noFill/>
          <a:ln w="19050">
            <a:solidFill>
              <a:schemeClr val="tx1"/>
            </a:solidFill>
            <a:miter lim="800000"/>
          </a:ln>
        </p:spPr>
        <p:txBody>
          <a:bodyPr wrap="square" rtlCol="0">
            <a:spAutoFit/>
          </a:bodyPr>
          <a:lstStyle/>
          <a:p>
            <a:pPr algn="ctr">
              <a:lnSpc>
                <a:spcPct val="41000"/>
              </a:lnSpc>
              <a:spcBef>
                <a:spcPts val="0"/>
              </a:spcBef>
            </a:pPr>
            <a:r>
              <a:rPr lang="ru-RU" sz="3200" dirty="0" smtClean="0"/>
              <a:t>.</a:t>
            </a:r>
            <a:endParaRPr lang="ru-RU" sz="3200" dirty="0"/>
          </a:p>
        </p:txBody>
      </p:sp>
      <p:sp>
        <p:nvSpPr>
          <p:cNvPr id="37" name="TextBox 36"/>
          <p:cNvSpPr txBox="1"/>
          <p:nvPr/>
        </p:nvSpPr>
        <p:spPr>
          <a:xfrm>
            <a:off x="6597225" y="3068960"/>
            <a:ext cx="450050" cy="337208"/>
          </a:xfrm>
          <a:prstGeom prst="rect">
            <a:avLst/>
          </a:prstGeom>
          <a:noFill/>
          <a:ln w="19050">
            <a:solidFill>
              <a:schemeClr val="tx1"/>
            </a:solidFill>
            <a:miter lim="800000"/>
          </a:ln>
        </p:spPr>
        <p:txBody>
          <a:bodyPr wrap="square" rtlCol="0">
            <a:spAutoFit/>
          </a:bodyPr>
          <a:lstStyle/>
          <a:p>
            <a:pPr algn="ctr">
              <a:lnSpc>
                <a:spcPct val="41000"/>
              </a:lnSpc>
              <a:spcBef>
                <a:spcPts val="0"/>
              </a:spcBef>
            </a:pPr>
            <a:r>
              <a:rPr lang="ru-RU" sz="3200" dirty="0" smtClean="0"/>
              <a:t>.</a:t>
            </a:r>
            <a:endParaRPr lang="ru-RU" sz="3200" dirty="0"/>
          </a:p>
        </p:txBody>
      </p:sp>
      <p:sp>
        <p:nvSpPr>
          <p:cNvPr id="50" name="Выгнутая влево стрелка 49"/>
          <p:cNvSpPr/>
          <p:nvPr/>
        </p:nvSpPr>
        <p:spPr>
          <a:xfrm>
            <a:off x="2051720" y="2573905"/>
            <a:ext cx="270030" cy="720080"/>
          </a:xfrm>
          <a:prstGeom prst="curvedRightArrow">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cxnSp>
        <p:nvCxnSpPr>
          <p:cNvPr id="52" name="Shape 51"/>
          <p:cNvCxnSpPr/>
          <p:nvPr/>
        </p:nvCxnSpPr>
        <p:spPr>
          <a:xfrm rot="10800000" flipV="1">
            <a:off x="2141730" y="1493784"/>
            <a:ext cx="3960442" cy="855096"/>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Заголовок 1"/>
          <p:cNvSpPr>
            <a:spLocks noGrp="1"/>
          </p:cNvSpPr>
          <p:nvPr>
            <p:ph type="title"/>
          </p:nvPr>
        </p:nvSpPr>
        <p:spPr>
          <a:xfrm>
            <a:off x="457200" y="457200"/>
            <a:ext cx="8229600" cy="614363"/>
          </a:xfrm>
        </p:spPr>
        <p:txBody>
          <a:bodyPr/>
          <a:lstStyle/>
          <a:p>
            <a:pPr algn="ctr">
              <a:defRPr/>
            </a:pPr>
            <a:r>
              <a:rPr lang="ru-RU" sz="3600" dirty="0" smtClean="0">
                <a:solidFill>
                  <a:schemeClr val="accent1">
                    <a:lumMod val="25000"/>
                  </a:schemeClr>
                </a:solidFill>
              </a:rPr>
              <a:t>Комбинированный метод</a:t>
            </a:r>
          </a:p>
        </p:txBody>
      </p:sp>
      <p:sp>
        <p:nvSpPr>
          <p:cNvPr id="8196" name="Номер слайда 22"/>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fld id="{AA34E23C-217E-48D0-BE17-0D7E3F031CD6}" type="slidenum">
              <a:rPr lang="ru-RU" sz="1200" smtClean="0">
                <a:latin typeface="Arial Black" pitchFamily="34" charset="0"/>
              </a:rPr>
              <a:pPr eaLnBrk="1" hangingPunct="1"/>
              <a:t>7</a:t>
            </a:fld>
            <a:endParaRPr lang="ru-RU" sz="1200" smtClean="0">
              <a:latin typeface="Arial Black" pitchFamily="34" charset="0"/>
            </a:endParaRPr>
          </a:p>
        </p:txBody>
      </p:sp>
      <p:sp>
        <p:nvSpPr>
          <p:cNvPr id="8197" name="Нижний колонтитул 2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endParaRPr lang="ru-RU" sz="1200" smtClean="0"/>
          </a:p>
        </p:txBody>
      </p:sp>
      <p:sp>
        <p:nvSpPr>
          <p:cNvPr id="6" name="Содержимое 2"/>
          <p:cNvSpPr>
            <a:spLocks noGrp="1"/>
          </p:cNvSpPr>
          <p:nvPr>
            <p:ph idx="1"/>
          </p:nvPr>
        </p:nvSpPr>
        <p:spPr>
          <a:xfrm>
            <a:off x="215900" y="1206500"/>
            <a:ext cx="8756650" cy="5143500"/>
          </a:xfrm>
        </p:spPr>
        <p:txBody>
          <a:bodyPr>
            <a:normAutofit/>
          </a:bodyPr>
          <a:lstStyle/>
          <a:p>
            <a:pPr>
              <a:lnSpc>
                <a:spcPct val="150000"/>
              </a:lnSpc>
            </a:pPr>
            <a:r>
              <a:rPr lang="ru-RU" sz="2400" dirty="0" smtClean="0"/>
              <a:t>Пример</a:t>
            </a:r>
          </a:p>
          <a:p>
            <a:pPr>
              <a:lnSpc>
                <a:spcPct val="150000"/>
              </a:lnSpc>
              <a:buNone/>
            </a:pPr>
            <a:r>
              <a:rPr lang="ru-RU" sz="2400" b="1" dirty="0" smtClean="0"/>
              <a:t>Область Население (Шоссе Длина (Терминал)*)*</a:t>
            </a:r>
          </a:p>
          <a:p>
            <a:pPr>
              <a:lnSpc>
                <a:spcPct val="150000"/>
              </a:lnSpc>
              <a:buNone/>
            </a:pPr>
            <a:r>
              <a:rPr lang="ru-RU" sz="2400" dirty="0" smtClean="0"/>
              <a:t>Будет представлено 2 файлами с блоками фикс. длины:</a:t>
            </a:r>
            <a:r>
              <a:rPr lang="ru-RU" sz="2400" b="1" dirty="0" smtClean="0"/>
              <a:t> </a:t>
            </a:r>
          </a:p>
          <a:p>
            <a:pPr marL="457200" indent="-457200">
              <a:lnSpc>
                <a:spcPct val="150000"/>
              </a:lnSpc>
              <a:buFont typeface="+mj-lt"/>
              <a:buAutoNum type="arabicPeriod"/>
            </a:pPr>
            <a:r>
              <a:rPr lang="ru-RU" sz="2400" dirty="0" smtClean="0"/>
              <a:t>Область Население Указатель-Шоссе</a:t>
            </a:r>
          </a:p>
          <a:p>
            <a:pPr marL="457200" indent="-457200">
              <a:lnSpc>
                <a:spcPct val="150000"/>
              </a:lnSpc>
              <a:buFont typeface="+mj-lt"/>
              <a:buAutoNum type="arabicPeriod"/>
            </a:pPr>
            <a:r>
              <a:rPr lang="ru-RU" sz="2400" dirty="0" smtClean="0"/>
              <a:t>Шоссе Длина Терминал 1, Терминал 2</a:t>
            </a:r>
          </a:p>
          <a:p>
            <a:pPr>
              <a:lnSpc>
                <a:spcPct val="150000"/>
              </a:lnSpc>
            </a:pPr>
            <a:endParaRPr lang="ru-RU" sz="2400" dirty="0" smtClean="0"/>
          </a:p>
          <a:p>
            <a:r>
              <a:rPr lang="ru-RU" sz="2400" dirty="0" smtClean="0"/>
              <a:t>Позволяет использовать оптимальные характеристики предыдущих методов</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57200"/>
            <a:ext cx="8229600" cy="757238"/>
          </a:xfrm>
        </p:spPr>
        <p:txBody>
          <a:bodyPr/>
          <a:lstStyle/>
          <a:p>
            <a:pPr algn="ctr">
              <a:defRPr/>
            </a:pPr>
            <a:r>
              <a:rPr lang="ru-RU" sz="3600" dirty="0" smtClean="0">
                <a:solidFill>
                  <a:schemeClr val="accent1">
                    <a:lumMod val="25000"/>
                  </a:schemeClr>
                </a:solidFill>
              </a:rPr>
              <a:t>Вторичные индексы</a:t>
            </a:r>
            <a:endParaRPr lang="ru-RU" sz="3600" dirty="0">
              <a:solidFill>
                <a:schemeClr val="accent1">
                  <a:lumMod val="25000"/>
                </a:schemeClr>
              </a:solidFill>
            </a:endParaRPr>
          </a:p>
        </p:txBody>
      </p:sp>
      <p:sp>
        <p:nvSpPr>
          <p:cNvPr id="9219" name="Содержимое 2"/>
          <p:cNvSpPr>
            <a:spLocks noGrp="1"/>
          </p:cNvSpPr>
          <p:nvPr>
            <p:ph idx="1"/>
          </p:nvPr>
        </p:nvSpPr>
        <p:spPr>
          <a:xfrm>
            <a:off x="177800" y="1214438"/>
            <a:ext cx="8788400" cy="4857750"/>
          </a:xfrm>
        </p:spPr>
        <p:txBody>
          <a:bodyPr/>
          <a:lstStyle/>
          <a:p>
            <a:pPr>
              <a:defRPr/>
            </a:pPr>
            <a:r>
              <a:rPr lang="ru-RU" sz="2800" dirty="0" smtClean="0"/>
              <a:t>Пусть имеется </a:t>
            </a:r>
            <a:r>
              <a:rPr lang="ru-RU" sz="2800" dirty="0" smtClean="0"/>
              <a:t>файл</a:t>
            </a:r>
            <a:r>
              <a:rPr lang="en-US" sz="2800" dirty="0" smtClean="0"/>
              <a:t> </a:t>
            </a:r>
            <a:r>
              <a:rPr lang="ru-RU" sz="2800" dirty="0" smtClean="0"/>
              <a:t>ОФ</a:t>
            </a:r>
            <a:r>
              <a:rPr lang="ru-RU" sz="2800" dirty="0" smtClean="0"/>
              <a:t>, </a:t>
            </a:r>
            <a:r>
              <a:rPr lang="ru-RU" sz="2800" dirty="0" smtClean="0"/>
              <a:t>записи которого содержат некоторое поле </a:t>
            </a:r>
            <a:r>
              <a:rPr lang="en-US" sz="2800" b="1" i="1" dirty="0" smtClean="0"/>
              <a:t>F</a:t>
            </a:r>
            <a:r>
              <a:rPr lang="ru-RU" sz="2800" i="1" dirty="0" smtClean="0"/>
              <a:t>. </a:t>
            </a:r>
            <a:endParaRPr lang="ru-RU" sz="2800" dirty="0" smtClean="0"/>
          </a:p>
          <a:p>
            <a:pPr>
              <a:defRPr/>
            </a:pPr>
            <a:r>
              <a:rPr lang="ru-RU" sz="2800" dirty="0" smtClean="0"/>
              <a:t>Пусть это поле принимает возможные значения из </a:t>
            </a:r>
            <a:r>
              <a:rPr lang="ru-RU" sz="2800" i="1" dirty="0" smtClean="0"/>
              <a:t>множества значений </a:t>
            </a:r>
            <a:r>
              <a:rPr lang="en-US" sz="2800" b="1" i="1" dirty="0" smtClean="0"/>
              <a:t>D</a:t>
            </a:r>
            <a:r>
              <a:rPr lang="ru-RU" sz="2800" i="1" dirty="0" smtClean="0"/>
              <a:t>, </a:t>
            </a:r>
            <a:r>
              <a:rPr lang="ru-RU" sz="2800" i="1" u="sng" dirty="0" smtClean="0"/>
              <a:t>домена </a:t>
            </a:r>
            <a:r>
              <a:rPr lang="ru-RU" sz="2800" u="sng" dirty="0" smtClean="0"/>
              <a:t>для </a:t>
            </a:r>
            <a:r>
              <a:rPr lang="en-US" sz="2800" b="1" i="1" u="sng" dirty="0" smtClean="0"/>
              <a:t>F</a:t>
            </a:r>
            <a:r>
              <a:rPr lang="ru-RU" sz="2800" i="1" dirty="0" smtClean="0"/>
              <a:t>.</a:t>
            </a:r>
          </a:p>
          <a:p>
            <a:pPr>
              <a:defRPr/>
            </a:pPr>
            <a:r>
              <a:rPr lang="ru-RU" sz="2800" i="1" dirty="0" smtClean="0"/>
              <a:t> </a:t>
            </a:r>
            <a:r>
              <a:rPr lang="ru-RU" sz="2800" dirty="0" smtClean="0"/>
              <a:t>Поле </a:t>
            </a:r>
            <a:r>
              <a:rPr lang="en-US" sz="2800" b="1" i="1" dirty="0" smtClean="0"/>
              <a:t>F</a:t>
            </a:r>
            <a:r>
              <a:rPr lang="en-US" sz="2800" i="1" dirty="0" smtClean="0"/>
              <a:t> </a:t>
            </a:r>
            <a:r>
              <a:rPr lang="ru-RU" sz="2800" dirty="0" smtClean="0"/>
              <a:t>может быть элементом множества полей, которое </a:t>
            </a:r>
            <a:r>
              <a:rPr lang="ru-RU" sz="2800" i="1" dirty="0" smtClean="0"/>
              <a:t>образует ключ</a:t>
            </a:r>
            <a:r>
              <a:rPr lang="ru-RU" sz="2800" dirty="0" smtClean="0"/>
              <a:t>, или оно может в ключ не входить</a:t>
            </a:r>
          </a:p>
          <a:p>
            <a:pPr indent="0">
              <a:buFont typeface="Wingdings" pitchFamily="2" charset="2"/>
              <a:buNone/>
              <a:defRPr/>
            </a:pPr>
            <a:r>
              <a:rPr lang="ru-RU" sz="2800" b="1" i="1" dirty="0" smtClean="0"/>
              <a:t>Вторичный индекс</a:t>
            </a:r>
            <a:r>
              <a:rPr lang="ru-RU" sz="2800" i="1" dirty="0" smtClean="0"/>
              <a:t> </a:t>
            </a:r>
            <a:r>
              <a:rPr lang="ru-RU" sz="2800" dirty="0" smtClean="0"/>
              <a:t>по полю </a:t>
            </a:r>
            <a:r>
              <a:rPr lang="en-US" sz="2800" b="1" i="1" dirty="0" smtClean="0"/>
              <a:t>F</a:t>
            </a:r>
            <a:r>
              <a:rPr lang="en-US" sz="2800" i="1" dirty="0" smtClean="0"/>
              <a:t> </a:t>
            </a:r>
            <a:r>
              <a:rPr lang="ru-RU" sz="2800" dirty="0" smtClean="0"/>
              <a:t>представляет собой </a:t>
            </a:r>
            <a:r>
              <a:rPr lang="ru-RU" sz="2800" b="1" u="sng" dirty="0" smtClean="0"/>
              <a:t>связь между доменом</a:t>
            </a:r>
            <a:r>
              <a:rPr lang="ru-RU" sz="2800" b="1" i="1" dirty="0" smtClean="0"/>
              <a:t> </a:t>
            </a:r>
            <a:r>
              <a:rPr lang="en-US" sz="2800" b="1" i="1" dirty="0" smtClean="0"/>
              <a:t>D</a:t>
            </a:r>
            <a:r>
              <a:rPr lang="ru-RU" sz="2800" dirty="0" smtClean="0"/>
              <a:t> и </a:t>
            </a:r>
            <a:r>
              <a:rPr lang="ru-RU" sz="2800" b="1" u="sng" dirty="0" smtClean="0"/>
              <a:t>множеством записей</a:t>
            </a:r>
            <a:r>
              <a:rPr lang="ru-RU" sz="2800" dirty="0" smtClean="0"/>
              <a:t> рассматриваемого файла.</a:t>
            </a:r>
          </a:p>
        </p:txBody>
      </p:sp>
      <p:sp>
        <p:nvSpPr>
          <p:cNvPr id="9220" name="Номер слайда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fld id="{3E8A7FC5-36E4-4DD2-9F77-BF55948FA512}" type="slidenum">
              <a:rPr lang="ru-RU" sz="1200" smtClean="0">
                <a:latin typeface="Arial Black" pitchFamily="34" charset="0"/>
              </a:rPr>
              <a:pPr eaLnBrk="1" hangingPunct="1"/>
              <a:t>8</a:t>
            </a:fld>
            <a:endParaRPr lang="ru-RU" sz="1200" smtClean="0">
              <a:latin typeface="Arial Black" pitchFamily="34" charset="0"/>
            </a:endParaRPr>
          </a:p>
        </p:txBody>
      </p:sp>
      <p:sp>
        <p:nvSpPr>
          <p:cNvPr id="9221" name="Нижний колонтитул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endParaRPr lang="ru-RU" sz="1200" smtClean="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wipe(up)">
                                      <p:cBhvr>
                                        <p:cTn id="7" dur="500"/>
                                        <p:tgtEl>
                                          <p:spTgt spid="92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wipe(up)">
                                      <p:cBhvr>
                                        <p:cTn id="12" dur="500"/>
                                        <p:tgtEl>
                                          <p:spTgt spid="92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wipe(up)">
                                      <p:cBhvr>
                                        <p:cTn id="17" dur="500"/>
                                        <p:tgtEl>
                                          <p:spTgt spid="92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9219">
                                            <p:txEl>
                                              <p:pRg st="3" end="3"/>
                                            </p:txEl>
                                          </p:spTgt>
                                        </p:tgtEl>
                                        <p:attrNameLst>
                                          <p:attrName>style.visibility</p:attrName>
                                        </p:attrNameLst>
                                      </p:cBhvr>
                                      <p:to>
                                        <p:strVal val="visible"/>
                                      </p:to>
                                    </p:set>
                                    <p:animEffect transition="in" filter="wipe(up)">
                                      <p:cBhvr>
                                        <p:cTn id="22" dur="500"/>
                                        <p:tgtEl>
                                          <p:spTgt spid="92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57200"/>
            <a:ext cx="8229600" cy="614363"/>
          </a:xfrm>
        </p:spPr>
        <p:txBody>
          <a:bodyPr/>
          <a:lstStyle/>
          <a:p>
            <a:pPr algn="ctr">
              <a:defRPr/>
            </a:pPr>
            <a:r>
              <a:rPr lang="ru-RU" sz="3600" dirty="0" smtClean="0">
                <a:solidFill>
                  <a:schemeClr val="accent1">
                    <a:lumMod val="25000"/>
                  </a:schemeClr>
                </a:solidFill>
              </a:rPr>
              <a:t>Вторичные индексы</a:t>
            </a:r>
            <a:endParaRPr lang="ru-RU" sz="3600" dirty="0"/>
          </a:p>
        </p:txBody>
      </p:sp>
      <p:sp>
        <p:nvSpPr>
          <p:cNvPr id="3" name="Содержимое 2"/>
          <p:cNvSpPr>
            <a:spLocks noGrp="1"/>
          </p:cNvSpPr>
          <p:nvPr>
            <p:ph idx="1"/>
          </p:nvPr>
        </p:nvSpPr>
        <p:spPr>
          <a:xfrm>
            <a:off x="0" y="1214438"/>
            <a:ext cx="8915400" cy="5072062"/>
          </a:xfrm>
        </p:spPr>
        <p:txBody>
          <a:bodyPr>
            <a:normAutofit fontScale="85000" lnSpcReduction="20000"/>
          </a:bodyPr>
          <a:lstStyle/>
          <a:p>
            <a:pPr>
              <a:lnSpc>
                <a:spcPct val="120000"/>
              </a:lnSpc>
              <a:defRPr/>
            </a:pPr>
            <a:r>
              <a:rPr lang="ru-RU" sz="2800" dirty="0" smtClean="0"/>
              <a:t>Файл с вторичным индексом по полю </a:t>
            </a:r>
            <a:r>
              <a:rPr lang="en-US" sz="2800" b="1" i="1" dirty="0" smtClean="0"/>
              <a:t>F</a:t>
            </a:r>
            <a:r>
              <a:rPr lang="en-US" sz="2800" i="1" dirty="0" smtClean="0"/>
              <a:t> </a:t>
            </a:r>
            <a:r>
              <a:rPr lang="ru-RU" sz="2800" dirty="0" smtClean="0"/>
              <a:t>называют </a:t>
            </a:r>
            <a:r>
              <a:rPr lang="ru-RU" sz="2800" b="1" i="1" dirty="0" smtClean="0"/>
              <a:t>инвертированным</a:t>
            </a:r>
            <a:r>
              <a:rPr lang="ru-RU" sz="2800" i="1" dirty="0" smtClean="0"/>
              <a:t> </a:t>
            </a:r>
            <a:r>
              <a:rPr lang="ru-RU" sz="2800" dirty="0" smtClean="0"/>
              <a:t>(по полю </a:t>
            </a:r>
            <a:r>
              <a:rPr lang="en-US" sz="2800" i="1" dirty="0" smtClean="0"/>
              <a:t>F</a:t>
            </a:r>
            <a:r>
              <a:rPr lang="ru-RU" sz="2800" i="1" dirty="0" smtClean="0"/>
              <a:t>).</a:t>
            </a:r>
          </a:p>
          <a:p>
            <a:pPr>
              <a:lnSpc>
                <a:spcPct val="120000"/>
              </a:lnSpc>
              <a:defRPr/>
            </a:pPr>
            <a:r>
              <a:rPr lang="ru-RU" sz="2800" i="1" dirty="0" smtClean="0"/>
              <a:t>Вторичный индекс</a:t>
            </a:r>
            <a:r>
              <a:rPr lang="ru-RU" sz="2800" dirty="0"/>
              <a:t> </a:t>
            </a:r>
            <a:r>
              <a:rPr lang="ru-RU" sz="2800" dirty="0" smtClean="0"/>
              <a:t>– файл, содержащий</a:t>
            </a:r>
            <a:r>
              <a:rPr lang="ru-RU" sz="2800" dirty="0" smtClean="0"/>
              <a:t> записи переменной длины со следующей структурой  </a:t>
            </a:r>
            <a:r>
              <a:rPr lang="en-US" sz="2800" dirty="0" smtClean="0"/>
              <a:t>&lt;</a:t>
            </a:r>
            <a:r>
              <a:rPr lang="ru-RU" sz="2800" b="1" dirty="0" smtClean="0"/>
              <a:t>ЗНАЧЕНИЕ</a:t>
            </a:r>
            <a:r>
              <a:rPr lang="ru-RU" sz="2800" dirty="0" smtClean="0"/>
              <a:t> </a:t>
            </a:r>
            <a:r>
              <a:rPr lang="ru-RU" sz="2800" dirty="0" smtClean="0"/>
              <a:t>(</a:t>
            </a:r>
            <a:r>
              <a:rPr lang="ru-RU" sz="2800" dirty="0" smtClean="0">
                <a:solidFill>
                  <a:schemeClr val="bg2">
                    <a:lumMod val="60000"/>
                    <a:lumOff val="40000"/>
                  </a:schemeClr>
                </a:solidFill>
              </a:rPr>
              <a:t>ЗАПИСЬ ОФ</a:t>
            </a:r>
            <a:r>
              <a:rPr lang="en-US" sz="2800" dirty="0" smtClean="0">
                <a:solidFill>
                  <a:schemeClr val="bg2">
                    <a:lumMod val="60000"/>
                    <a:lumOff val="40000"/>
                  </a:schemeClr>
                </a:solidFill>
              </a:rPr>
              <a:t> </a:t>
            </a:r>
            <a:r>
              <a:rPr lang="ru-RU" sz="2800" dirty="0" smtClean="0"/>
              <a:t>)*</a:t>
            </a:r>
            <a:r>
              <a:rPr lang="en-US" sz="2800" dirty="0" smtClean="0"/>
              <a:t>&gt;</a:t>
            </a:r>
            <a:endParaRPr lang="ru-RU" sz="2800" dirty="0" smtClean="0"/>
          </a:p>
          <a:p>
            <a:pPr>
              <a:lnSpc>
                <a:spcPct val="120000"/>
              </a:lnSpc>
              <a:defRPr/>
            </a:pPr>
            <a:r>
              <a:rPr lang="ru-RU" sz="2800" dirty="0" smtClean="0"/>
              <a:t>П</a:t>
            </a:r>
            <a:r>
              <a:rPr lang="ru-RU" sz="2800" dirty="0" smtClean="0"/>
              <a:t>оле </a:t>
            </a:r>
            <a:r>
              <a:rPr lang="ru-RU" sz="2800" b="1" dirty="0" smtClean="0"/>
              <a:t>ЗНАЧЕНИЕ</a:t>
            </a:r>
            <a:r>
              <a:rPr lang="ru-RU" sz="2800" dirty="0" smtClean="0"/>
              <a:t> </a:t>
            </a:r>
            <a:r>
              <a:rPr lang="ru-RU" sz="2800" dirty="0" smtClean="0"/>
              <a:t>содержит </a:t>
            </a:r>
            <a:r>
              <a:rPr lang="ru-RU" sz="2800" b="1" dirty="0" smtClean="0"/>
              <a:t>элемент</a:t>
            </a:r>
            <a:r>
              <a:rPr lang="ru-RU" sz="2800" b="1" dirty="0"/>
              <a:t> </a:t>
            </a:r>
            <a:r>
              <a:rPr lang="ru-RU" sz="2800" dirty="0" smtClean="0"/>
              <a:t>множества </a:t>
            </a:r>
            <a:r>
              <a:rPr lang="en-US" sz="2800" b="1" i="1" dirty="0" smtClean="0"/>
              <a:t>D</a:t>
            </a:r>
            <a:r>
              <a:rPr lang="ru-RU" sz="2800" i="1" dirty="0" smtClean="0"/>
              <a:t>.</a:t>
            </a:r>
            <a:endParaRPr lang="ru-RU" sz="2800" dirty="0" smtClean="0"/>
          </a:p>
          <a:p>
            <a:pPr>
              <a:lnSpc>
                <a:spcPct val="120000"/>
              </a:lnSpc>
              <a:defRPr/>
            </a:pPr>
            <a:r>
              <a:rPr lang="ru-RU" sz="2800" smtClean="0"/>
              <a:t>Поле </a:t>
            </a:r>
            <a:r>
              <a:rPr lang="ru-RU" sz="2800" smtClean="0">
                <a:solidFill>
                  <a:schemeClr val="bg2">
                    <a:lumMod val="60000"/>
                    <a:lumOff val="40000"/>
                  </a:schemeClr>
                </a:solidFill>
              </a:rPr>
              <a:t>ЗАПИСЬ </a:t>
            </a:r>
            <a:r>
              <a:rPr lang="ru-RU" sz="2800" dirty="0" smtClean="0">
                <a:solidFill>
                  <a:schemeClr val="bg2">
                    <a:lumMod val="60000"/>
                    <a:lumOff val="40000"/>
                  </a:schemeClr>
                </a:solidFill>
              </a:rPr>
              <a:t>ОФ</a:t>
            </a:r>
            <a:r>
              <a:rPr lang="ru-RU" sz="2800" dirty="0" smtClean="0"/>
              <a:t> </a:t>
            </a:r>
            <a:r>
              <a:rPr lang="ru-RU" sz="2800" dirty="0" smtClean="0"/>
              <a:t>может быть </a:t>
            </a:r>
          </a:p>
          <a:p>
            <a:pPr lvl="1">
              <a:lnSpc>
                <a:spcPct val="120000"/>
              </a:lnSpc>
              <a:buClr>
                <a:srgbClr val="C00000"/>
              </a:buClr>
              <a:buFont typeface="Wingdings" pitchFamily="2" charset="2"/>
              <a:buChar char="v"/>
              <a:defRPr/>
            </a:pPr>
            <a:r>
              <a:rPr lang="ru-RU" dirty="0" smtClean="0">
                <a:ea typeface="+mn-ea"/>
              </a:rPr>
              <a:t>либо </a:t>
            </a:r>
            <a:r>
              <a:rPr lang="ru-RU" b="1" dirty="0" smtClean="0">
                <a:ea typeface="+mn-ea"/>
              </a:rPr>
              <a:t>указателем на запись</a:t>
            </a:r>
            <a:r>
              <a:rPr lang="ru-RU" dirty="0" smtClean="0">
                <a:ea typeface="+mn-ea"/>
              </a:rPr>
              <a:t> с заданным значением в поле </a:t>
            </a:r>
            <a:r>
              <a:rPr lang="en-US" b="1" i="1" dirty="0" smtClean="0">
                <a:ea typeface="+mn-ea"/>
              </a:rPr>
              <a:t>F</a:t>
            </a:r>
            <a:r>
              <a:rPr lang="ru-RU" i="1" dirty="0" smtClean="0">
                <a:ea typeface="+mn-ea"/>
              </a:rPr>
              <a:t>, </a:t>
            </a:r>
            <a:endParaRPr lang="ru-RU" dirty="0" smtClean="0">
              <a:ea typeface="+mn-ea"/>
            </a:endParaRPr>
          </a:p>
          <a:p>
            <a:pPr lvl="1">
              <a:lnSpc>
                <a:spcPct val="120000"/>
              </a:lnSpc>
              <a:buClr>
                <a:srgbClr val="C00000"/>
              </a:buClr>
              <a:buFont typeface="Wingdings" pitchFamily="2" charset="2"/>
              <a:buChar char="v"/>
              <a:defRPr/>
            </a:pPr>
            <a:r>
              <a:rPr lang="ru-RU" dirty="0" smtClean="0">
                <a:ea typeface="+mn-ea"/>
              </a:rPr>
              <a:t>либо </a:t>
            </a:r>
            <a:r>
              <a:rPr lang="ru-RU" b="1" dirty="0" smtClean="0">
                <a:ea typeface="+mn-ea"/>
              </a:rPr>
              <a:t>значением ключа для записи</a:t>
            </a:r>
            <a:r>
              <a:rPr lang="ru-RU" dirty="0" smtClean="0">
                <a:ea typeface="+mn-ea"/>
              </a:rPr>
              <a:t> с требуемым значением в поле </a:t>
            </a:r>
            <a:r>
              <a:rPr lang="en-US" b="1" i="1" dirty="0" smtClean="0">
                <a:ea typeface="+mn-ea"/>
              </a:rPr>
              <a:t>F</a:t>
            </a:r>
            <a:r>
              <a:rPr lang="ru-RU" i="1" dirty="0" smtClean="0">
                <a:ea typeface="+mn-ea"/>
              </a:rPr>
              <a:t>.</a:t>
            </a:r>
            <a:endParaRPr lang="ru-RU" dirty="0" smtClean="0">
              <a:ea typeface="+mn-ea"/>
            </a:endParaRPr>
          </a:p>
          <a:p>
            <a:pPr>
              <a:lnSpc>
                <a:spcPct val="120000"/>
              </a:lnSpc>
              <a:buFont typeface="Wingdings" pitchFamily="2" charset="2"/>
              <a:buNone/>
              <a:defRPr/>
            </a:pPr>
            <a:r>
              <a:rPr lang="en-US" i="1" dirty="0" smtClean="0"/>
              <a:t> </a:t>
            </a:r>
            <a:endParaRPr lang="ru-RU" dirty="0"/>
          </a:p>
        </p:txBody>
      </p:sp>
      <p:sp>
        <p:nvSpPr>
          <p:cNvPr id="10244" name="Нижний колонтитул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endParaRPr lang="ru-RU" sz="1200" smtClean="0"/>
          </a:p>
        </p:txBody>
      </p:sp>
      <p:sp>
        <p:nvSpPr>
          <p:cNvPr id="10245" name="Номер слайда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fld id="{98FA341D-FE69-4195-95B8-651DD43508AD}" type="slidenum">
              <a:rPr lang="ru-RU" sz="1200" smtClean="0">
                <a:latin typeface="Arial Black" pitchFamily="34" charset="0"/>
              </a:rPr>
              <a:pPr eaLnBrk="1" hangingPunct="1"/>
              <a:t>9</a:t>
            </a:fld>
            <a:endParaRPr lang="ru-RU" sz="1200" smtClean="0">
              <a:latin typeface="Arial Black"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up)">
                                      <p:cBhvr>
                                        <p:cTn id="25" dur="500"/>
                                        <p:tgtEl>
                                          <p:spTgt spid="3">
                                            <p:txEl>
                                              <p:pRg st="4" end="4"/>
                                            </p:txEl>
                                          </p:spTgt>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up)">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wipe(up)">
                                      <p:cBhvr>
                                        <p:cTn id="3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Заголовок 1"/>
          <p:cNvSpPr>
            <a:spLocks noGrp="1"/>
          </p:cNvSpPr>
          <p:nvPr>
            <p:ph type="title"/>
          </p:nvPr>
        </p:nvSpPr>
        <p:spPr>
          <a:xfrm>
            <a:off x="457200" y="500063"/>
            <a:ext cx="8229600" cy="757237"/>
          </a:xfrm>
        </p:spPr>
        <p:txBody>
          <a:bodyPr/>
          <a:lstStyle/>
          <a:p>
            <a:pPr algn="ctr"/>
            <a:r>
              <a:rPr lang="ru-RU" sz="3600" smtClean="0">
                <a:solidFill>
                  <a:schemeClr val="bg2"/>
                </a:solidFill>
              </a:rPr>
              <a:t>Пример вторичного индекса</a:t>
            </a:r>
          </a:p>
        </p:txBody>
      </p:sp>
      <p:sp>
        <p:nvSpPr>
          <p:cNvPr id="11267" name="Содержимое 2"/>
          <p:cNvSpPr>
            <a:spLocks noGrp="1"/>
          </p:cNvSpPr>
          <p:nvPr>
            <p:ph idx="1"/>
          </p:nvPr>
        </p:nvSpPr>
        <p:spPr>
          <a:xfrm>
            <a:off x="457200" y="1428750"/>
            <a:ext cx="8686800" cy="4857750"/>
          </a:xfrm>
        </p:spPr>
        <p:txBody>
          <a:bodyPr/>
          <a:lstStyle/>
          <a:p>
            <a:pPr>
              <a:buFont typeface="Wingdings" pitchFamily="2" charset="2"/>
              <a:buNone/>
            </a:pPr>
            <a:r>
              <a:rPr lang="ru-RU" dirty="0" smtClean="0"/>
              <a:t>Должность (Сотрудник)*</a:t>
            </a:r>
          </a:p>
          <a:p>
            <a:pPr>
              <a:buFont typeface="Wingdings" pitchFamily="2" charset="2"/>
              <a:buNone/>
            </a:pPr>
            <a:endParaRPr lang="ru-RU" i="1" dirty="0" smtClean="0"/>
          </a:p>
          <a:p>
            <a:pPr>
              <a:buFont typeface="Wingdings" pitchFamily="2" charset="2"/>
              <a:buNone/>
            </a:pPr>
            <a:endParaRPr lang="ru-RU" i="1" dirty="0" smtClean="0"/>
          </a:p>
          <a:p>
            <a:pPr>
              <a:buFont typeface="Wingdings" pitchFamily="2" charset="2"/>
              <a:buNone/>
            </a:pPr>
            <a:endParaRPr lang="ru-RU" i="1" dirty="0" smtClean="0"/>
          </a:p>
          <a:p>
            <a:pPr>
              <a:buFont typeface="Wingdings" pitchFamily="2" charset="2"/>
              <a:buNone/>
            </a:pPr>
            <a:endParaRPr lang="ru-RU" i="1" dirty="0" smtClean="0"/>
          </a:p>
          <a:p>
            <a:pPr>
              <a:buFont typeface="Wingdings" pitchFamily="2" charset="2"/>
              <a:buNone/>
            </a:pPr>
            <a:endParaRPr lang="ru-RU" i="1" dirty="0" smtClean="0"/>
          </a:p>
          <a:p>
            <a:pPr>
              <a:buFont typeface="Wingdings" pitchFamily="2" charset="2"/>
              <a:buNone/>
            </a:pPr>
            <a:endParaRPr lang="ru-RU" i="1" dirty="0" smtClean="0"/>
          </a:p>
          <a:p>
            <a:pPr>
              <a:buFont typeface="Wingdings" pitchFamily="2" charset="2"/>
              <a:buNone/>
            </a:pPr>
            <a:r>
              <a:rPr lang="ru-RU" dirty="0" smtClean="0"/>
              <a:t>Проект (Сотрудник)*, Возраст (Сотрудник)*</a:t>
            </a:r>
          </a:p>
          <a:p>
            <a:pPr>
              <a:buFont typeface="Wingdings" pitchFamily="2" charset="2"/>
              <a:buNone/>
            </a:pPr>
            <a:endParaRPr lang="ru-RU" dirty="0" smtClean="0"/>
          </a:p>
          <a:p>
            <a:pPr>
              <a:buFont typeface="Wingdings" pitchFamily="2" charset="2"/>
              <a:buNone/>
            </a:pPr>
            <a:endParaRPr lang="ru-RU" i="1" dirty="0" smtClean="0"/>
          </a:p>
        </p:txBody>
      </p:sp>
      <p:sp>
        <p:nvSpPr>
          <p:cNvPr id="11268" name="Нижний колонтитул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endParaRPr lang="ru-RU" sz="1200" smtClean="0"/>
          </a:p>
        </p:txBody>
      </p:sp>
      <p:sp>
        <p:nvSpPr>
          <p:cNvPr id="11269" name="Номер слайда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fld id="{653F5436-4311-4DF1-9797-C1B2462530A5}" type="slidenum">
              <a:rPr lang="ru-RU" sz="1200" smtClean="0">
                <a:latin typeface="Arial Black" pitchFamily="34" charset="0"/>
              </a:rPr>
              <a:pPr eaLnBrk="1" hangingPunct="1"/>
              <a:t>10</a:t>
            </a:fld>
            <a:endParaRPr lang="ru-RU" sz="1200" smtClean="0">
              <a:latin typeface="Arial Black" pitchFamily="34" charset="0"/>
            </a:endParaRPr>
          </a:p>
        </p:txBody>
      </p:sp>
      <p:graphicFrame>
        <p:nvGraphicFramePr>
          <p:cNvPr id="6" name="Таблица 5"/>
          <p:cNvGraphicFramePr>
            <a:graphicFrameLocks noGrp="1"/>
          </p:cNvGraphicFramePr>
          <p:nvPr/>
        </p:nvGraphicFramePr>
        <p:xfrm>
          <a:off x="214313" y="2286000"/>
          <a:ext cx="2643187" cy="2963863"/>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928687">
                  <a:extLst>
                    <a:ext uri="{9D8B030D-6E8A-4147-A177-3AD203B41FA5}">
                      <a16:colId xmlns:a16="http://schemas.microsoft.com/office/drawing/2014/main" val="20001"/>
                    </a:ext>
                  </a:extLst>
                </a:gridCol>
              </a:tblGrid>
              <a:tr h="728065">
                <a:tc>
                  <a:txBody>
                    <a:bodyPr/>
                    <a:lstStyle/>
                    <a:p>
                      <a:r>
                        <a:rPr lang="ru-RU" sz="1800" dirty="0" smtClean="0">
                          <a:solidFill>
                            <a:schemeClr val="tx1"/>
                          </a:solidFill>
                        </a:rPr>
                        <a:t>Инженер</a:t>
                      </a:r>
                      <a:endParaRPr lang="ru-RU" sz="1800" dirty="0">
                        <a:solidFill>
                          <a:schemeClr val="tx1"/>
                        </a:solidFill>
                      </a:endParaRPr>
                    </a:p>
                  </a:txBody>
                  <a:tcPr marL="91439" marR="91439"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800" dirty="0"/>
                    </a:p>
                  </a:txBody>
                  <a:tcPr marL="91439" marR="91439"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728065">
                <a:tc>
                  <a:txBody>
                    <a:bodyPr/>
                    <a:lstStyle/>
                    <a:p>
                      <a:r>
                        <a:rPr lang="ru-RU" sz="1800" b="1" dirty="0" smtClean="0"/>
                        <a:t>Ст. инженер</a:t>
                      </a:r>
                      <a:endParaRPr lang="ru-RU" sz="1800" b="1" dirty="0"/>
                    </a:p>
                  </a:txBody>
                  <a:tcPr marL="91439" marR="91439"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800" dirty="0"/>
                    </a:p>
                  </a:txBody>
                  <a:tcPr marL="91439" marR="91439"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762200">
                <a:tc>
                  <a:txBody>
                    <a:bodyPr/>
                    <a:lstStyle/>
                    <a:p>
                      <a:r>
                        <a:rPr lang="ru-RU" sz="4400" dirty="0" smtClean="0"/>
                        <a:t>…</a:t>
                      </a:r>
                      <a:endParaRPr lang="ru-RU" sz="4400" dirty="0"/>
                    </a:p>
                  </a:txBody>
                  <a:tcPr marL="91439" marR="91439"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800"/>
                    </a:p>
                  </a:txBody>
                  <a:tcPr marL="91439" marR="91439"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74553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sz="1800" b="1" dirty="0" smtClean="0"/>
                        <a:t>Программист</a:t>
                      </a:r>
                      <a:endParaRPr lang="ru-RU" sz="1800" dirty="0"/>
                    </a:p>
                  </a:txBody>
                  <a:tcPr marL="91439" marR="91439"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ru-RU" sz="1800" dirty="0"/>
                    </a:p>
                  </a:txBody>
                  <a:tcPr marL="91439" marR="91439" marT="45732" marB="4573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11287" name="TextBox 6"/>
          <p:cNvSpPr txBox="1">
            <a:spLocks noChangeArrowheads="1"/>
          </p:cNvSpPr>
          <p:nvPr/>
        </p:nvSpPr>
        <p:spPr bwMode="auto">
          <a:xfrm>
            <a:off x="3071813" y="2428875"/>
            <a:ext cx="1714500" cy="3698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sz="2000"/>
              <a:t>1210,Иванов</a:t>
            </a:r>
          </a:p>
        </p:txBody>
      </p:sp>
      <p:sp>
        <p:nvSpPr>
          <p:cNvPr id="11288" name="TextBox 7"/>
          <p:cNvSpPr txBox="1">
            <a:spLocks noChangeArrowheads="1"/>
          </p:cNvSpPr>
          <p:nvPr/>
        </p:nvSpPr>
        <p:spPr bwMode="auto">
          <a:xfrm>
            <a:off x="4857750" y="2428875"/>
            <a:ext cx="1714500" cy="3698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sz="2000"/>
              <a:t>1211,Петров</a:t>
            </a:r>
          </a:p>
        </p:txBody>
      </p:sp>
      <p:sp>
        <p:nvSpPr>
          <p:cNvPr id="11289" name="TextBox 8"/>
          <p:cNvSpPr txBox="1">
            <a:spLocks noChangeArrowheads="1"/>
          </p:cNvSpPr>
          <p:nvPr/>
        </p:nvSpPr>
        <p:spPr bwMode="auto">
          <a:xfrm>
            <a:off x="7000875" y="2428875"/>
            <a:ext cx="1928813" cy="3698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sz="2000"/>
              <a:t>1232,Сидоров</a:t>
            </a:r>
          </a:p>
        </p:txBody>
      </p:sp>
      <p:sp>
        <p:nvSpPr>
          <p:cNvPr id="12" name="Круговая стрелка 11"/>
          <p:cNvSpPr/>
          <p:nvPr/>
        </p:nvSpPr>
        <p:spPr>
          <a:xfrm>
            <a:off x="2500313" y="2000250"/>
            <a:ext cx="857250" cy="785813"/>
          </a:xfrm>
          <a:prstGeom prst="circular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a:solidFill>
                <a:schemeClr val="tx1"/>
              </a:solidFill>
            </a:endParaRPr>
          </a:p>
        </p:txBody>
      </p:sp>
      <p:sp>
        <p:nvSpPr>
          <p:cNvPr id="18" name="Круговая стрелка 17"/>
          <p:cNvSpPr/>
          <p:nvPr/>
        </p:nvSpPr>
        <p:spPr>
          <a:xfrm>
            <a:off x="4357688" y="2143125"/>
            <a:ext cx="857250" cy="571500"/>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a:solidFill>
                <a:schemeClr val="tx1"/>
              </a:solidFill>
            </a:endParaRPr>
          </a:p>
        </p:txBody>
      </p:sp>
      <p:sp>
        <p:nvSpPr>
          <p:cNvPr id="19" name="Круговая стрелка 18"/>
          <p:cNvSpPr/>
          <p:nvPr/>
        </p:nvSpPr>
        <p:spPr>
          <a:xfrm>
            <a:off x="6357938" y="2143125"/>
            <a:ext cx="857250" cy="571500"/>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a:solidFill>
                <a:schemeClr val="tx1"/>
              </a:solidFill>
            </a:endParaRPr>
          </a:p>
        </p:txBody>
      </p:sp>
      <p:sp>
        <p:nvSpPr>
          <p:cNvPr id="11293" name="TextBox 19"/>
          <p:cNvSpPr txBox="1">
            <a:spLocks noChangeArrowheads="1"/>
          </p:cNvSpPr>
          <p:nvPr/>
        </p:nvSpPr>
        <p:spPr bwMode="auto">
          <a:xfrm>
            <a:off x="6572250" y="2428875"/>
            <a:ext cx="500063"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dirty="0"/>
              <a:t>…</a:t>
            </a:r>
          </a:p>
        </p:txBody>
      </p:sp>
      <p:sp>
        <p:nvSpPr>
          <p:cNvPr id="11294" name="TextBox 20"/>
          <p:cNvSpPr txBox="1">
            <a:spLocks noChangeArrowheads="1"/>
          </p:cNvSpPr>
          <p:nvPr/>
        </p:nvSpPr>
        <p:spPr bwMode="auto">
          <a:xfrm>
            <a:off x="3071813" y="3244850"/>
            <a:ext cx="1714500" cy="3683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sz="2000"/>
              <a:t>1301,Попов</a:t>
            </a:r>
          </a:p>
        </p:txBody>
      </p:sp>
      <p:sp>
        <p:nvSpPr>
          <p:cNvPr id="11295" name="TextBox 21"/>
          <p:cNvSpPr txBox="1">
            <a:spLocks noChangeArrowheads="1"/>
          </p:cNvSpPr>
          <p:nvPr/>
        </p:nvSpPr>
        <p:spPr bwMode="auto">
          <a:xfrm>
            <a:off x="4929188" y="3244850"/>
            <a:ext cx="1714500" cy="3683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sz="2000"/>
              <a:t>1315,Пяткин</a:t>
            </a:r>
          </a:p>
        </p:txBody>
      </p:sp>
      <p:sp>
        <p:nvSpPr>
          <p:cNvPr id="24" name="Круговая стрелка 23"/>
          <p:cNvSpPr/>
          <p:nvPr/>
        </p:nvSpPr>
        <p:spPr>
          <a:xfrm>
            <a:off x="2500313" y="2857500"/>
            <a:ext cx="857250" cy="785813"/>
          </a:xfrm>
          <a:prstGeom prst="circular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a:solidFill>
                <a:schemeClr val="tx1"/>
              </a:solidFill>
            </a:endParaRPr>
          </a:p>
        </p:txBody>
      </p:sp>
      <p:sp>
        <p:nvSpPr>
          <p:cNvPr id="25" name="Круговая стрелка 24"/>
          <p:cNvSpPr/>
          <p:nvPr/>
        </p:nvSpPr>
        <p:spPr>
          <a:xfrm>
            <a:off x="4500563" y="2970213"/>
            <a:ext cx="857250" cy="571500"/>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a:solidFill>
                <a:schemeClr val="tx1"/>
              </a:solidFill>
            </a:endParaRPr>
          </a:p>
        </p:txBody>
      </p:sp>
      <p:sp>
        <p:nvSpPr>
          <p:cNvPr id="11298" name="TextBox 25"/>
          <p:cNvSpPr txBox="1">
            <a:spLocks noChangeArrowheads="1"/>
          </p:cNvSpPr>
          <p:nvPr/>
        </p:nvSpPr>
        <p:spPr bwMode="auto">
          <a:xfrm>
            <a:off x="3000375" y="4643438"/>
            <a:ext cx="1714500" cy="3698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sz="2000"/>
              <a:t>1410,Фомин</a:t>
            </a:r>
          </a:p>
        </p:txBody>
      </p:sp>
      <p:sp>
        <p:nvSpPr>
          <p:cNvPr id="11299" name="TextBox 26"/>
          <p:cNvSpPr txBox="1">
            <a:spLocks noChangeArrowheads="1"/>
          </p:cNvSpPr>
          <p:nvPr/>
        </p:nvSpPr>
        <p:spPr bwMode="auto">
          <a:xfrm>
            <a:off x="4786313" y="4643438"/>
            <a:ext cx="1714500" cy="3698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sz="2000"/>
              <a:t>1411,Петров</a:t>
            </a:r>
          </a:p>
        </p:txBody>
      </p:sp>
      <p:sp>
        <p:nvSpPr>
          <p:cNvPr id="11300" name="TextBox 27"/>
          <p:cNvSpPr txBox="1">
            <a:spLocks noChangeArrowheads="1"/>
          </p:cNvSpPr>
          <p:nvPr/>
        </p:nvSpPr>
        <p:spPr bwMode="auto">
          <a:xfrm>
            <a:off x="6929438" y="4643438"/>
            <a:ext cx="1928812" cy="3698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sz="2000"/>
              <a:t>1455,Фокин</a:t>
            </a:r>
          </a:p>
        </p:txBody>
      </p:sp>
      <p:sp>
        <p:nvSpPr>
          <p:cNvPr id="11301" name="TextBox 28"/>
          <p:cNvSpPr txBox="1">
            <a:spLocks noChangeArrowheads="1"/>
          </p:cNvSpPr>
          <p:nvPr/>
        </p:nvSpPr>
        <p:spPr bwMode="auto">
          <a:xfrm>
            <a:off x="6500813" y="4643438"/>
            <a:ext cx="5000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r>
              <a:rPr lang="ru-RU"/>
              <a:t>…</a:t>
            </a:r>
          </a:p>
        </p:txBody>
      </p:sp>
      <p:sp>
        <p:nvSpPr>
          <p:cNvPr id="30" name="Круговая стрелка 29"/>
          <p:cNvSpPr/>
          <p:nvPr/>
        </p:nvSpPr>
        <p:spPr>
          <a:xfrm>
            <a:off x="2500313" y="4214813"/>
            <a:ext cx="857250" cy="785812"/>
          </a:xfrm>
          <a:prstGeom prst="circular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a:solidFill>
                <a:schemeClr val="tx1"/>
              </a:solidFill>
            </a:endParaRPr>
          </a:p>
        </p:txBody>
      </p:sp>
      <p:sp>
        <p:nvSpPr>
          <p:cNvPr id="31" name="Круговая стрелка 30"/>
          <p:cNvSpPr/>
          <p:nvPr/>
        </p:nvSpPr>
        <p:spPr>
          <a:xfrm>
            <a:off x="4357688" y="4286250"/>
            <a:ext cx="857250" cy="571500"/>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a:solidFill>
                <a:schemeClr val="tx1"/>
              </a:solidFill>
            </a:endParaRPr>
          </a:p>
        </p:txBody>
      </p:sp>
      <p:sp>
        <p:nvSpPr>
          <p:cNvPr id="32" name="Круговая стрелка 31"/>
          <p:cNvSpPr/>
          <p:nvPr/>
        </p:nvSpPr>
        <p:spPr>
          <a:xfrm>
            <a:off x="6143625" y="4286250"/>
            <a:ext cx="857250" cy="571500"/>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wipe(down)">
                                      <p:cBhvr>
                                        <p:cTn id="7" dur="500"/>
                                        <p:tgtEl>
                                          <p:spTgt spid="11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1287"/>
                                        </p:tgtEl>
                                        <p:attrNameLst>
                                          <p:attrName>style.visibility</p:attrName>
                                        </p:attrNameLst>
                                      </p:cBhvr>
                                      <p:to>
                                        <p:strVal val="visible"/>
                                      </p:to>
                                    </p:set>
                                    <p:animEffect transition="in" filter="wipe(down)">
                                      <p:cBhvr>
                                        <p:cTn id="22" dur="500"/>
                                        <p:tgtEl>
                                          <p:spTgt spid="1128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1288"/>
                                        </p:tgtEl>
                                        <p:attrNameLst>
                                          <p:attrName>style.visibility</p:attrName>
                                        </p:attrNameLst>
                                      </p:cBhvr>
                                      <p:to>
                                        <p:strVal val="visible"/>
                                      </p:to>
                                    </p:set>
                                    <p:animEffect transition="in" filter="wipe(down)">
                                      <p:cBhvr>
                                        <p:cTn id="32" dur="500"/>
                                        <p:tgtEl>
                                          <p:spTgt spid="1128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down)">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1289"/>
                                        </p:tgtEl>
                                        <p:attrNameLst>
                                          <p:attrName>style.visibility</p:attrName>
                                        </p:attrNameLst>
                                      </p:cBhvr>
                                      <p:to>
                                        <p:strVal val="visible"/>
                                      </p:to>
                                    </p:set>
                                    <p:animEffect transition="in" filter="wipe(down)">
                                      <p:cBhvr>
                                        <p:cTn id="42" dur="500"/>
                                        <p:tgtEl>
                                          <p:spTgt spid="1128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left)">
                                      <p:cBhvr>
                                        <p:cTn id="47" dur="500"/>
                                        <p:tgtEl>
                                          <p:spTgt spid="24"/>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1294"/>
                                        </p:tgtEl>
                                        <p:attrNameLst>
                                          <p:attrName>style.visibility</p:attrName>
                                        </p:attrNameLst>
                                      </p:cBhvr>
                                      <p:to>
                                        <p:strVal val="visible"/>
                                      </p:to>
                                    </p:set>
                                    <p:animEffect transition="in" filter="wipe(left)">
                                      <p:cBhvr>
                                        <p:cTn id="50" dur="500"/>
                                        <p:tgtEl>
                                          <p:spTgt spid="11294"/>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wipe(left)">
                                      <p:cBhvr>
                                        <p:cTn id="53" dur="500"/>
                                        <p:tgtEl>
                                          <p:spTgt spid="25"/>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11295"/>
                                        </p:tgtEl>
                                        <p:attrNameLst>
                                          <p:attrName>style.visibility</p:attrName>
                                        </p:attrNameLst>
                                      </p:cBhvr>
                                      <p:to>
                                        <p:strVal val="visible"/>
                                      </p:to>
                                    </p:set>
                                    <p:animEffect transition="in" filter="wipe(left)">
                                      <p:cBhvr>
                                        <p:cTn id="56" dur="500"/>
                                        <p:tgtEl>
                                          <p:spTgt spid="1129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wipe(left)">
                                      <p:cBhvr>
                                        <p:cTn id="61" dur="500"/>
                                        <p:tgtEl>
                                          <p:spTgt spid="30"/>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11298"/>
                                        </p:tgtEl>
                                        <p:attrNameLst>
                                          <p:attrName>style.visibility</p:attrName>
                                        </p:attrNameLst>
                                      </p:cBhvr>
                                      <p:to>
                                        <p:strVal val="visible"/>
                                      </p:to>
                                    </p:set>
                                    <p:animEffect transition="in" filter="wipe(left)">
                                      <p:cBhvr>
                                        <p:cTn id="64" dur="500"/>
                                        <p:tgtEl>
                                          <p:spTgt spid="11298"/>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wipe(left)">
                                      <p:cBhvr>
                                        <p:cTn id="67" dur="500"/>
                                        <p:tgtEl>
                                          <p:spTgt spid="31"/>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11299"/>
                                        </p:tgtEl>
                                        <p:attrNameLst>
                                          <p:attrName>style.visibility</p:attrName>
                                        </p:attrNameLst>
                                      </p:cBhvr>
                                      <p:to>
                                        <p:strVal val="visible"/>
                                      </p:to>
                                    </p:set>
                                    <p:animEffect transition="in" filter="wipe(left)">
                                      <p:cBhvr>
                                        <p:cTn id="70" dur="500"/>
                                        <p:tgtEl>
                                          <p:spTgt spid="11299"/>
                                        </p:tgtEl>
                                      </p:cBhvr>
                                    </p:animEffect>
                                  </p:childTnLst>
                                </p:cTn>
                              </p:par>
                              <p:par>
                                <p:cTn id="71" presetID="22" presetClass="entr" presetSubtype="8"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wipe(left)">
                                      <p:cBhvr>
                                        <p:cTn id="73" dur="500"/>
                                        <p:tgtEl>
                                          <p:spTgt spid="32"/>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11301"/>
                                        </p:tgtEl>
                                        <p:attrNameLst>
                                          <p:attrName>style.visibility</p:attrName>
                                        </p:attrNameLst>
                                      </p:cBhvr>
                                      <p:to>
                                        <p:strVal val="visible"/>
                                      </p:to>
                                    </p:set>
                                    <p:animEffect transition="in" filter="wipe(left)">
                                      <p:cBhvr>
                                        <p:cTn id="76" dur="500"/>
                                        <p:tgtEl>
                                          <p:spTgt spid="11301"/>
                                        </p:tgtEl>
                                      </p:cBhvr>
                                    </p:animEffect>
                                  </p:childTnLst>
                                </p:cTn>
                              </p:par>
                              <p:par>
                                <p:cTn id="77" presetID="22" presetClass="entr" presetSubtype="8" fill="hold" grpId="0" nodeType="withEffect">
                                  <p:stCondLst>
                                    <p:cond delay="0"/>
                                  </p:stCondLst>
                                  <p:childTnLst>
                                    <p:set>
                                      <p:cBhvr>
                                        <p:cTn id="78" dur="1" fill="hold">
                                          <p:stCondLst>
                                            <p:cond delay="0"/>
                                          </p:stCondLst>
                                        </p:cTn>
                                        <p:tgtEl>
                                          <p:spTgt spid="11300"/>
                                        </p:tgtEl>
                                        <p:attrNameLst>
                                          <p:attrName>style.visibility</p:attrName>
                                        </p:attrNameLst>
                                      </p:cBhvr>
                                      <p:to>
                                        <p:strVal val="visible"/>
                                      </p:to>
                                    </p:set>
                                    <p:animEffect transition="in" filter="wipe(left)">
                                      <p:cBhvr>
                                        <p:cTn id="79" dur="500"/>
                                        <p:tgtEl>
                                          <p:spTgt spid="11300"/>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11267">
                                            <p:txEl>
                                              <p:pRg st="7" end="7"/>
                                            </p:txEl>
                                          </p:spTgt>
                                        </p:tgtEl>
                                        <p:attrNameLst>
                                          <p:attrName>style.visibility</p:attrName>
                                        </p:attrNameLst>
                                      </p:cBhvr>
                                      <p:to>
                                        <p:strVal val="visible"/>
                                      </p:to>
                                    </p:set>
                                    <p:animEffect transition="in" filter="wipe(left)">
                                      <p:cBhvr>
                                        <p:cTn id="84" dur="500"/>
                                        <p:tgtEl>
                                          <p:spTgt spid="1126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87" grpId="0" animBg="1"/>
      <p:bldP spid="11288" grpId="0" animBg="1"/>
      <p:bldP spid="11289" grpId="0" animBg="1"/>
      <p:bldP spid="12" grpId="0" animBg="1"/>
      <p:bldP spid="18" grpId="0" animBg="1"/>
      <p:bldP spid="19" grpId="0" animBg="1"/>
      <p:bldP spid="11294" grpId="0" animBg="1"/>
      <p:bldP spid="11295" grpId="0" animBg="1"/>
      <p:bldP spid="24" grpId="0" animBg="1"/>
      <p:bldP spid="25" grpId="0" animBg="1"/>
      <p:bldP spid="11298" grpId="0" animBg="1"/>
      <p:bldP spid="11299" grpId="0" animBg="1"/>
      <p:bldP spid="11300" grpId="0" animBg="1"/>
      <p:bldP spid="11301" grpId="0"/>
      <p:bldP spid="30" grpId="0" animBg="1"/>
      <p:bldP spid="31" grpId="0" animBg="1"/>
      <p:bldP spid="3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206515" y="984251"/>
            <a:ext cx="8937485" cy="5645150"/>
          </a:xfrm>
        </p:spPr>
        <p:txBody>
          <a:bodyPr>
            <a:normAutofit/>
          </a:bodyPr>
          <a:lstStyle/>
          <a:p>
            <a:pPr>
              <a:defRPr/>
            </a:pPr>
            <a:r>
              <a:rPr lang="ru-RU" sz="2800" dirty="0" smtClean="0"/>
              <a:t>Обобщенная формулировка задачи поиска: </a:t>
            </a:r>
            <a:r>
              <a:rPr lang="ru-RU" sz="2800" dirty="0" smtClean="0">
                <a:latin typeface="Arial"/>
                <a:cs typeface="Arial"/>
              </a:rPr>
              <a:t>“</a:t>
            </a:r>
            <a:r>
              <a:rPr lang="ru-RU" sz="2800" dirty="0" smtClean="0"/>
              <a:t>Найти записи, в которых поле </a:t>
            </a:r>
            <a:r>
              <a:rPr lang="en-US" sz="2800" b="1" i="1" dirty="0" smtClean="0">
                <a:latin typeface="Times New Roman" pitchFamily="18" charset="0"/>
                <a:cs typeface="Times New Roman" pitchFamily="18" charset="0"/>
              </a:rPr>
              <a:t>F</a:t>
            </a:r>
            <a:r>
              <a:rPr lang="ru-RU" sz="2800" b="1" i="1" baseline="-25000" dirty="0" smtClean="0">
                <a:latin typeface="Times New Roman" pitchFamily="18" charset="0"/>
                <a:cs typeface="Times New Roman" pitchFamily="18" charset="0"/>
              </a:rPr>
              <a:t>1</a:t>
            </a:r>
            <a:r>
              <a:rPr lang="ru-RU" sz="2800" i="1" dirty="0" smtClean="0">
                <a:latin typeface="Times New Roman" pitchFamily="18" charset="0"/>
                <a:cs typeface="Times New Roman" pitchFamily="18" charset="0"/>
              </a:rPr>
              <a:t>  </a:t>
            </a:r>
            <a:r>
              <a:rPr lang="ru-RU" sz="2800" i="1" dirty="0" smtClean="0"/>
              <a:t>имеет</a:t>
            </a:r>
            <a:r>
              <a:rPr lang="ru-RU" sz="2800" dirty="0" smtClean="0"/>
              <a:t> значение </a:t>
            </a:r>
            <a:r>
              <a:rPr lang="en-US" b="1" i="1" dirty="0" smtClean="0">
                <a:latin typeface="Times New Roman" pitchFamily="18" charset="0"/>
                <a:cs typeface="Times New Roman" pitchFamily="18" charset="0"/>
              </a:rPr>
              <a:t>v</a:t>
            </a:r>
            <a:r>
              <a:rPr lang="ru-RU" b="1" i="1" baseline="-25000" dirty="0" smtClean="0">
                <a:latin typeface="Times New Roman" pitchFamily="18" charset="0"/>
                <a:cs typeface="Times New Roman" pitchFamily="18" charset="0"/>
              </a:rPr>
              <a:t>1</a:t>
            </a:r>
            <a:r>
              <a:rPr lang="ru-RU" i="1" dirty="0" smtClean="0">
                <a:latin typeface="Times New Roman" pitchFamily="18" charset="0"/>
                <a:cs typeface="Times New Roman" pitchFamily="18" charset="0"/>
              </a:rPr>
              <a:t> </a:t>
            </a:r>
            <a:r>
              <a:rPr lang="ru-RU" sz="2800" i="1" dirty="0" smtClean="0"/>
              <a:t>,</a:t>
            </a:r>
            <a:r>
              <a:rPr lang="en-US" sz="2800" i="1" dirty="0" smtClean="0"/>
              <a:t> </a:t>
            </a:r>
            <a:r>
              <a:rPr lang="ru-RU" sz="2800" dirty="0" smtClean="0"/>
              <a:t>поле </a:t>
            </a:r>
            <a:r>
              <a:rPr lang="en-US" b="1" i="1" dirty="0" smtClean="0">
                <a:latin typeface="Times New Roman" pitchFamily="18" charset="0"/>
                <a:cs typeface="Times New Roman" pitchFamily="18" charset="0"/>
              </a:rPr>
              <a:t>F</a:t>
            </a:r>
            <a:r>
              <a:rPr lang="ru-RU" b="1" i="1" baseline="-25000" dirty="0" smtClean="0">
                <a:latin typeface="Times New Roman" pitchFamily="18" charset="0"/>
                <a:cs typeface="Times New Roman" pitchFamily="18" charset="0"/>
              </a:rPr>
              <a:t>2</a:t>
            </a:r>
            <a:r>
              <a:rPr lang="ru-RU" b="1" i="1" dirty="0" smtClean="0">
                <a:latin typeface="Times New Roman" pitchFamily="18" charset="0"/>
                <a:cs typeface="Times New Roman" pitchFamily="18" charset="0"/>
              </a:rPr>
              <a:t> </a:t>
            </a:r>
            <a:r>
              <a:rPr lang="ru-RU" b="1" i="1" dirty="0" smtClean="0"/>
              <a:t>– </a:t>
            </a:r>
            <a:r>
              <a:rPr lang="en-US" b="1" i="1" dirty="0" smtClean="0">
                <a:latin typeface="Times New Roman" pitchFamily="18" charset="0"/>
                <a:cs typeface="Times New Roman" pitchFamily="18" charset="0"/>
              </a:rPr>
              <a:t>v</a:t>
            </a:r>
            <a:r>
              <a:rPr lang="ru-RU" b="1" i="1" baseline="-25000" dirty="0" smtClean="0">
                <a:latin typeface="Times New Roman" pitchFamily="18" charset="0"/>
                <a:cs typeface="Times New Roman" pitchFamily="18" charset="0"/>
              </a:rPr>
              <a:t>2</a:t>
            </a:r>
            <a:r>
              <a:rPr lang="ru-RU" b="1" i="1" dirty="0" smtClean="0">
                <a:latin typeface="Times New Roman" pitchFamily="18" charset="0"/>
                <a:cs typeface="Times New Roman" pitchFamily="18" charset="0"/>
              </a:rPr>
              <a:t> </a:t>
            </a:r>
            <a:r>
              <a:rPr lang="ru-RU" sz="2800" i="1" dirty="0" smtClean="0"/>
              <a:t>,</a:t>
            </a:r>
            <a:r>
              <a:rPr lang="ru-RU" sz="2800" dirty="0" smtClean="0"/>
              <a:t>... , поле </a:t>
            </a:r>
            <a:r>
              <a:rPr lang="en-US" b="1" i="1" dirty="0" err="1" smtClean="0">
                <a:latin typeface="Times New Roman" pitchFamily="18" charset="0"/>
                <a:cs typeface="Times New Roman" pitchFamily="18" charset="0"/>
              </a:rPr>
              <a:t>F</a:t>
            </a:r>
            <a:r>
              <a:rPr lang="en-US" b="1" i="1" baseline="-25000" dirty="0" err="1" smtClean="0">
                <a:latin typeface="Times New Roman" pitchFamily="18" charset="0"/>
                <a:cs typeface="Times New Roman" pitchFamily="18" charset="0"/>
              </a:rPr>
              <a:t>k</a:t>
            </a:r>
            <a:r>
              <a:rPr lang="ru-RU" b="1" i="1" dirty="0" smtClean="0"/>
              <a:t> – </a:t>
            </a:r>
            <a:r>
              <a:rPr lang="en-US" b="1" i="1" dirty="0" smtClean="0">
                <a:latin typeface="Times New Roman" pitchFamily="18" charset="0"/>
                <a:cs typeface="Times New Roman" pitchFamily="18" charset="0"/>
              </a:rPr>
              <a:t>v</a:t>
            </a:r>
            <a:r>
              <a:rPr lang="ru-RU" b="1" i="1" baseline="-25000" dirty="0" smtClean="0">
                <a:latin typeface="Times New Roman" pitchFamily="18" charset="0"/>
                <a:cs typeface="Times New Roman" pitchFamily="18" charset="0"/>
              </a:rPr>
              <a:t>к</a:t>
            </a:r>
            <a:r>
              <a:rPr lang="ru-RU" b="1" i="1" dirty="0" smtClean="0">
                <a:latin typeface="Times New Roman" pitchFamily="18" charset="0"/>
                <a:cs typeface="Times New Roman" pitchFamily="18" charset="0"/>
              </a:rPr>
              <a:t> </a:t>
            </a:r>
          </a:p>
          <a:p>
            <a:pPr>
              <a:defRPr/>
            </a:pPr>
            <a:r>
              <a:rPr lang="ru-RU" sz="2800" dirty="0" smtClean="0"/>
              <a:t>Если </a:t>
            </a:r>
            <a:r>
              <a:rPr lang="en-US" b="1" i="1" dirty="0" smtClean="0">
                <a:latin typeface="Times New Roman" pitchFamily="18" charset="0"/>
                <a:cs typeface="Times New Roman" pitchFamily="18" charset="0"/>
              </a:rPr>
              <a:t>S</a:t>
            </a:r>
            <a:r>
              <a:rPr lang="en-US" b="1" i="1" baseline="-25000" dirty="0" smtClean="0">
                <a:latin typeface="Times New Roman" pitchFamily="18" charset="0"/>
                <a:cs typeface="Times New Roman" pitchFamily="18" charset="0"/>
              </a:rPr>
              <a:t>i</a:t>
            </a:r>
            <a:r>
              <a:rPr lang="en-US" i="1" dirty="0" smtClean="0">
                <a:latin typeface="Times New Roman" pitchFamily="18" charset="0"/>
                <a:cs typeface="Times New Roman" pitchFamily="18" charset="0"/>
              </a:rPr>
              <a:t> </a:t>
            </a:r>
            <a:r>
              <a:rPr lang="ru-RU" sz="2800" dirty="0" smtClean="0"/>
              <a:t>- есть множество записей со значением </a:t>
            </a:r>
            <a:r>
              <a:rPr lang="en-US" b="1" i="1" dirty="0" smtClean="0">
                <a:latin typeface="Times New Roman" pitchFamily="18" charset="0"/>
                <a:cs typeface="Times New Roman" pitchFamily="18" charset="0"/>
              </a:rPr>
              <a:t>v</a:t>
            </a:r>
            <a:r>
              <a:rPr lang="en-US" b="1" i="1" baseline="-25000" dirty="0" smtClean="0">
                <a:latin typeface="Times New Roman" pitchFamily="18" charset="0"/>
                <a:cs typeface="Times New Roman" pitchFamily="18" charset="0"/>
              </a:rPr>
              <a:t>i</a:t>
            </a:r>
            <a:r>
              <a:rPr lang="en-US" sz="2800" b="1" i="1" baseline="-25000" dirty="0" smtClean="0">
                <a:latin typeface="Times New Roman" pitchFamily="18" charset="0"/>
                <a:cs typeface="Times New Roman" pitchFamily="18" charset="0"/>
              </a:rPr>
              <a:t> </a:t>
            </a:r>
            <a:r>
              <a:rPr lang="ru-RU" sz="2800" i="1" baseline="-25000" dirty="0" smtClean="0">
                <a:latin typeface="Times New Roman" pitchFamily="18" charset="0"/>
                <a:cs typeface="Times New Roman" pitchFamily="18" charset="0"/>
              </a:rPr>
              <a:t> </a:t>
            </a:r>
            <a:r>
              <a:rPr lang="ru-RU" sz="2800" dirty="0" smtClean="0"/>
              <a:t>в поле </a:t>
            </a:r>
            <a:r>
              <a:rPr lang="en-US" b="1" i="1" dirty="0" err="1" smtClean="0">
                <a:latin typeface="Times New Roman" pitchFamily="18" charset="0"/>
                <a:cs typeface="Times New Roman" pitchFamily="18" charset="0"/>
              </a:rPr>
              <a:t>F</a:t>
            </a:r>
            <a:r>
              <a:rPr lang="en-US" b="1" i="1" baseline="-25000" dirty="0" err="1" smtClean="0">
                <a:latin typeface="Times New Roman" pitchFamily="18" charset="0"/>
                <a:cs typeface="Times New Roman" pitchFamily="18" charset="0"/>
              </a:rPr>
              <a:t>i</a:t>
            </a:r>
            <a:r>
              <a:rPr lang="en-US" i="1" dirty="0" smtClean="0">
                <a:latin typeface="Times New Roman" pitchFamily="18" charset="0"/>
                <a:cs typeface="Times New Roman" pitchFamily="18" charset="0"/>
              </a:rPr>
              <a:t> </a:t>
            </a:r>
            <a:r>
              <a:rPr lang="ru-RU" sz="2800" i="1" dirty="0" smtClean="0">
                <a:latin typeface="Times New Roman" pitchFamily="18" charset="0"/>
                <a:cs typeface="Times New Roman" pitchFamily="18" charset="0"/>
              </a:rPr>
              <a:t> </a:t>
            </a:r>
            <a:r>
              <a:rPr lang="ru-RU" sz="2800" dirty="0" smtClean="0"/>
              <a:t>для </a:t>
            </a:r>
            <a:r>
              <a:rPr lang="en-US" sz="2800" i="1" dirty="0" smtClean="0">
                <a:latin typeface="Times New Roman" pitchFamily="18" charset="0"/>
                <a:cs typeface="Times New Roman" pitchFamily="18" charset="0"/>
              </a:rPr>
              <a:t> </a:t>
            </a:r>
            <a:r>
              <a:rPr lang="en-US" sz="2800" i="1" dirty="0" err="1" smtClean="0">
                <a:latin typeface="Times New Roman" pitchFamily="18" charset="0"/>
                <a:cs typeface="Times New Roman" pitchFamily="18" charset="0"/>
              </a:rPr>
              <a:t>i</a:t>
            </a:r>
            <a:r>
              <a:rPr lang="ru-RU" sz="2800" i="1" dirty="0" smtClean="0">
                <a:latin typeface="Times New Roman" pitchFamily="18" charset="0"/>
                <a:cs typeface="Times New Roman" pitchFamily="18" charset="0"/>
              </a:rPr>
              <a:t> = 1,2, ..., </a:t>
            </a:r>
            <a:r>
              <a:rPr lang="en-US" sz="2800" i="1" dirty="0" smtClean="0">
                <a:latin typeface="Times New Roman" pitchFamily="18" charset="0"/>
                <a:cs typeface="Times New Roman" pitchFamily="18" charset="0"/>
              </a:rPr>
              <a:t>k</a:t>
            </a:r>
            <a:r>
              <a:rPr lang="ru-RU" sz="2800" i="1" dirty="0" smtClean="0">
                <a:latin typeface="Times New Roman" pitchFamily="18" charset="0"/>
                <a:cs typeface="Times New Roman" pitchFamily="18" charset="0"/>
              </a:rPr>
              <a:t>, </a:t>
            </a:r>
            <a:r>
              <a:rPr lang="ru-RU" sz="2800" dirty="0" smtClean="0"/>
              <a:t>то требуемое множество записей можно получить как пересечение </a:t>
            </a:r>
            <a:r>
              <a:rPr lang="en-US" b="1" dirty="0" smtClean="0">
                <a:latin typeface="Times New Roman" pitchFamily="18" charset="0"/>
                <a:cs typeface="Times New Roman" pitchFamily="18" charset="0"/>
              </a:rPr>
              <a:t>S</a:t>
            </a:r>
            <a:r>
              <a:rPr lang="ru-RU" b="1" baseline="-25000" dirty="0" smtClean="0">
                <a:latin typeface="Times New Roman" pitchFamily="18" charset="0"/>
                <a:cs typeface="Times New Roman" pitchFamily="18" charset="0"/>
              </a:rPr>
              <a:t>1</a:t>
            </a:r>
            <a:r>
              <a:rPr lang="ru-RU" b="1" dirty="0" smtClean="0">
                <a:latin typeface="Times New Roman" pitchFamily="18" charset="0"/>
                <a:cs typeface="Times New Roman" pitchFamily="18" charset="0"/>
              </a:rPr>
              <a:t> </a:t>
            </a:r>
            <a:r>
              <a:rPr lang="ru-RU" b="1" dirty="0" smtClean="0">
                <a:latin typeface="Times New Roman" pitchFamily="18" charset="0"/>
                <a:cs typeface="Times New Roman" pitchFamily="18" charset="0"/>
                <a:sym typeface="Symbol"/>
              </a:rPr>
              <a:t></a:t>
            </a:r>
            <a:r>
              <a:rPr lang="ru-RU" b="1"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S</a:t>
            </a:r>
            <a:r>
              <a:rPr lang="ru-RU" b="1" baseline="-25000" dirty="0" smtClean="0">
                <a:latin typeface="Times New Roman" pitchFamily="18" charset="0"/>
                <a:cs typeface="Times New Roman" pitchFamily="18" charset="0"/>
              </a:rPr>
              <a:t>2</a:t>
            </a:r>
            <a:r>
              <a:rPr lang="ru-RU" b="1" dirty="0" smtClean="0">
                <a:latin typeface="Times New Roman" pitchFamily="18" charset="0"/>
                <a:cs typeface="Times New Roman" pitchFamily="18" charset="0"/>
              </a:rPr>
              <a:t> </a:t>
            </a:r>
            <a:r>
              <a:rPr lang="ru-RU" b="1" dirty="0" smtClean="0">
                <a:latin typeface="Times New Roman" pitchFamily="18" charset="0"/>
                <a:cs typeface="Times New Roman" pitchFamily="18" charset="0"/>
                <a:sym typeface="Symbol"/>
              </a:rPr>
              <a:t></a:t>
            </a:r>
            <a:r>
              <a:rPr lang="ru-RU" b="1" dirty="0" smtClean="0">
                <a:latin typeface="Times New Roman" pitchFamily="18" charset="0"/>
                <a:cs typeface="Times New Roman" pitchFamily="18" charset="0"/>
              </a:rPr>
              <a:t>  ... </a:t>
            </a:r>
            <a:r>
              <a:rPr lang="ru-RU" b="1" dirty="0" smtClean="0">
                <a:latin typeface="Times New Roman" pitchFamily="18" charset="0"/>
                <a:cs typeface="Times New Roman" pitchFamily="18" charset="0"/>
                <a:sym typeface="Symbol"/>
              </a:rPr>
              <a:t></a:t>
            </a:r>
            <a:r>
              <a:rPr lang="en-US" b="1" dirty="0" err="1" smtClean="0">
                <a:latin typeface="Times New Roman" pitchFamily="18" charset="0"/>
                <a:cs typeface="Times New Roman" pitchFamily="18" charset="0"/>
              </a:rPr>
              <a:t>S</a:t>
            </a:r>
            <a:r>
              <a:rPr lang="en-US" b="1" baseline="-25000" dirty="0" err="1" smtClean="0">
                <a:latin typeface="Times New Roman" pitchFamily="18" charset="0"/>
                <a:cs typeface="Times New Roman" pitchFamily="18" charset="0"/>
              </a:rPr>
              <a:t>k</a:t>
            </a:r>
            <a:r>
              <a:rPr lang="ru-RU" sz="2800" i="1" dirty="0" smtClean="0"/>
              <a:t>. </a:t>
            </a:r>
          </a:p>
          <a:p>
            <a:pPr>
              <a:defRPr/>
            </a:pPr>
            <a:r>
              <a:rPr lang="ru-RU" sz="2800" dirty="0" smtClean="0"/>
              <a:t>Имеется два метода решения этой задачи, использованием:</a:t>
            </a:r>
          </a:p>
          <a:p>
            <a:pPr lvl="1">
              <a:buClr>
                <a:srgbClr val="C00000"/>
              </a:buClr>
              <a:buFont typeface="Wingdings" pitchFamily="2" charset="2"/>
              <a:buChar char="v"/>
              <a:defRPr/>
            </a:pPr>
            <a:r>
              <a:rPr lang="ru-RU" dirty="0" smtClean="0">
                <a:ea typeface="+mn-ea"/>
              </a:rPr>
              <a:t>множественных вторичных индексов</a:t>
            </a:r>
          </a:p>
          <a:p>
            <a:pPr lvl="1">
              <a:buClr>
                <a:srgbClr val="C00000"/>
              </a:buClr>
              <a:buFont typeface="Wingdings" pitchFamily="2" charset="2"/>
              <a:buChar char="v"/>
              <a:defRPr/>
            </a:pPr>
            <a:r>
              <a:rPr lang="ru-RU" dirty="0" smtClean="0">
                <a:ea typeface="+mn-ea"/>
              </a:rPr>
              <a:t>специальной формы функции хеширования</a:t>
            </a:r>
            <a:endParaRPr lang="ru-RU" dirty="0"/>
          </a:p>
        </p:txBody>
      </p:sp>
      <p:sp>
        <p:nvSpPr>
          <p:cNvPr id="12291" name="Нижний колонтитул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endParaRPr lang="ru-RU" sz="1200" smtClean="0"/>
          </a:p>
        </p:txBody>
      </p:sp>
      <p:sp>
        <p:nvSpPr>
          <p:cNvPr id="12292" name="Номер слайда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fld id="{AD7D7535-8BB0-4F8E-9F8F-06801DF2135D}" type="slidenum">
              <a:rPr lang="ru-RU" sz="1200" smtClean="0">
                <a:latin typeface="Arial Black" pitchFamily="34" charset="0"/>
              </a:rPr>
              <a:pPr eaLnBrk="1" hangingPunct="1"/>
              <a:t>11</a:t>
            </a:fld>
            <a:endParaRPr lang="ru-RU" sz="1200" smtClean="0">
              <a:latin typeface="Arial Black" pitchFamily="34" charset="0"/>
            </a:endParaRPr>
          </a:p>
        </p:txBody>
      </p:sp>
      <p:sp>
        <p:nvSpPr>
          <p:cNvPr id="12293" name="Заголовок 1"/>
          <p:cNvSpPr>
            <a:spLocks noGrp="1"/>
          </p:cNvSpPr>
          <p:nvPr>
            <p:ph type="title"/>
          </p:nvPr>
        </p:nvSpPr>
        <p:spPr>
          <a:xfrm>
            <a:off x="457200" y="285750"/>
            <a:ext cx="8229600" cy="668338"/>
          </a:xfrm>
        </p:spPr>
        <p:txBody>
          <a:bodyPr/>
          <a:lstStyle/>
          <a:p>
            <a:pPr algn="ctr"/>
            <a:r>
              <a:rPr lang="ru-RU" sz="3600" smtClean="0">
                <a:solidFill>
                  <a:schemeClr val="bg2"/>
                </a:solidFill>
              </a:rPr>
              <a:t>Поиск по частичному соответствию</a:t>
            </a:r>
            <a:endParaRPr lang="ru-RU" sz="36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Заголовок 1"/>
          <p:cNvSpPr>
            <a:spLocks noGrp="1"/>
          </p:cNvSpPr>
          <p:nvPr>
            <p:ph type="title"/>
          </p:nvPr>
        </p:nvSpPr>
        <p:spPr>
          <a:xfrm>
            <a:off x="457200" y="457200"/>
            <a:ext cx="8229600" cy="900113"/>
          </a:xfrm>
        </p:spPr>
        <p:txBody>
          <a:bodyPr/>
          <a:lstStyle/>
          <a:p>
            <a:pPr algn="ctr"/>
            <a:r>
              <a:rPr lang="ru-RU" sz="3600" smtClean="0">
                <a:solidFill>
                  <a:schemeClr val="bg2"/>
                </a:solidFill>
              </a:rPr>
              <a:t>Пример</a:t>
            </a:r>
            <a:r>
              <a:rPr lang="ru-RU" sz="6000" u="sng" smtClean="0"/>
              <a:t/>
            </a:r>
            <a:br>
              <a:rPr lang="ru-RU" sz="6000" u="sng" smtClean="0"/>
            </a:br>
            <a:endParaRPr lang="ru-RU" smtClean="0"/>
          </a:p>
        </p:txBody>
      </p:sp>
      <p:sp>
        <p:nvSpPr>
          <p:cNvPr id="3" name="Содержимое 2"/>
          <p:cNvSpPr>
            <a:spLocks noGrp="1"/>
          </p:cNvSpPr>
          <p:nvPr>
            <p:ph idx="1"/>
          </p:nvPr>
        </p:nvSpPr>
        <p:spPr>
          <a:xfrm>
            <a:off x="1" y="984250"/>
            <a:ext cx="9144000" cy="5511800"/>
          </a:xfrm>
        </p:spPr>
        <p:txBody>
          <a:bodyPr>
            <a:normAutofit fontScale="92500" lnSpcReduction="10000"/>
          </a:bodyPr>
          <a:lstStyle/>
          <a:p>
            <a:pPr>
              <a:lnSpc>
                <a:spcPct val="110000"/>
              </a:lnSpc>
              <a:defRPr/>
            </a:pPr>
            <a:r>
              <a:rPr lang="ru-RU" dirty="0" smtClean="0"/>
              <a:t>Если файл с записями данных о сотрудниках имеет поля:</a:t>
            </a:r>
          </a:p>
          <a:p>
            <a:pPr lvl="1">
              <a:lnSpc>
                <a:spcPct val="110000"/>
              </a:lnSpc>
              <a:buClr>
                <a:schemeClr val="bg2"/>
              </a:buClr>
              <a:buFont typeface="Wingdings" pitchFamily="2" charset="2"/>
              <a:buChar char="v"/>
              <a:defRPr/>
            </a:pPr>
            <a:r>
              <a:rPr lang="ru-RU" dirty="0" smtClean="0">
                <a:ea typeface="+mn-ea"/>
              </a:rPr>
              <a:t>ТН,  -- ключ</a:t>
            </a:r>
          </a:p>
          <a:p>
            <a:pPr lvl="1">
              <a:lnSpc>
                <a:spcPct val="110000"/>
              </a:lnSpc>
              <a:buClr>
                <a:schemeClr val="bg2"/>
              </a:buClr>
              <a:buFont typeface="Wingdings" pitchFamily="2" charset="2"/>
              <a:buChar char="v"/>
              <a:defRPr/>
            </a:pPr>
            <a:r>
              <a:rPr lang="ru-RU" dirty="0" smtClean="0">
                <a:ea typeface="+mn-ea"/>
              </a:rPr>
              <a:t>ФИО, </a:t>
            </a:r>
          </a:p>
          <a:p>
            <a:pPr lvl="1">
              <a:lnSpc>
                <a:spcPct val="110000"/>
              </a:lnSpc>
              <a:buClr>
                <a:schemeClr val="bg2"/>
              </a:buClr>
              <a:buFont typeface="Wingdings" pitchFamily="2" charset="2"/>
              <a:buChar char="v"/>
              <a:defRPr/>
            </a:pPr>
            <a:r>
              <a:rPr lang="ru-RU" dirty="0" smtClean="0">
                <a:solidFill>
                  <a:srgbClr val="FF0000"/>
                </a:solidFill>
                <a:ea typeface="+mn-ea"/>
              </a:rPr>
              <a:t>должность</a:t>
            </a:r>
            <a:r>
              <a:rPr lang="ru-RU" dirty="0" smtClean="0">
                <a:ea typeface="+mn-ea"/>
              </a:rPr>
              <a:t>, </a:t>
            </a:r>
          </a:p>
          <a:p>
            <a:pPr lvl="1">
              <a:lnSpc>
                <a:spcPct val="110000"/>
              </a:lnSpc>
              <a:buClr>
                <a:schemeClr val="bg2"/>
              </a:buClr>
              <a:buFont typeface="Wingdings" pitchFamily="2" charset="2"/>
              <a:buChar char="v"/>
              <a:defRPr/>
            </a:pPr>
            <a:r>
              <a:rPr lang="ru-RU" dirty="0" smtClean="0">
                <a:solidFill>
                  <a:srgbClr val="FF0000"/>
                </a:solidFill>
                <a:ea typeface="+mn-ea"/>
              </a:rPr>
              <a:t>проект</a:t>
            </a:r>
            <a:r>
              <a:rPr lang="ru-RU" dirty="0" smtClean="0">
                <a:ea typeface="+mn-ea"/>
              </a:rPr>
              <a:t>, </a:t>
            </a:r>
          </a:p>
          <a:p>
            <a:pPr lvl="1">
              <a:lnSpc>
                <a:spcPct val="110000"/>
              </a:lnSpc>
              <a:buClr>
                <a:schemeClr val="bg2"/>
              </a:buClr>
              <a:buFont typeface="Wingdings" pitchFamily="2" charset="2"/>
              <a:buChar char="v"/>
              <a:defRPr/>
            </a:pPr>
            <a:r>
              <a:rPr lang="ru-RU" dirty="0" smtClean="0">
                <a:solidFill>
                  <a:srgbClr val="FF0000"/>
                </a:solidFill>
                <a:ea typeface="+mn-ea"/>
              </a:rPr>
              <a:t>возраст</a:t>
            </a:r>
          </a:p>
          <a:p>
            <a:pPr marL="0" indent="0">
              <a:lnSpc>
                <a:spcPct val="110000"/>
              </a:lnSpc>
              <a:spcBef>
                <a:spcPts val="600"/>
              </a:spcBef>
              <a:buNone/>
              <a:defRPr/>
            </a:pPr>
            <a:r>
              <a:rPr lang="ru-RU" dirty="0" smtClean="0"/>
              <a:t> то весьма вероятен запрос: </a:t>
            </a:r>
            <a:r>
              <a:rPr lang="ru-RU" dirty="0" smtClean="0">
                <a:latin typeface="Arial"/>
                <a:cs typeface="Arial"/>
              </a:rPr>
              <a:t>“</a:t>
            </a:r>
            <a:r>
              <a:rPr lang="ru-RU" dirty="0" smtClean="0"/>
              <a:t>Найти сотрудников, работающих в должности «ст. инженер» над проектом =«Эльбрус» в  возрасте не старше </a:t>
            </a:r>
            <a:r>
              <a:rPr lang="en-US" dirty="0" smtClean="0"/>
              <a:t>35</a:t>
            </a:r>
            <a:r>
              <a:rPr lang="ru-RU" dirty="0" smtClean="0"/>
              <a:t> лет.</a:t>
            </a:r>
          </a:p>
          <a:p>
            <a:pPr>
              <a:lnSpc>
                <a:spcPct val="110000"/>
              </a:lnSpc>
              <a:defRPr/>
            </a:pPr>
            <a:endParaRPr lang="ru-RU" dirty="0"/>
          </a:p>
        </p:txBody>
      </p:sp>
      <p:sp>
        <p:nvSpPr>
          <p:cNvPr id="13317" name="Номер слайда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fld id="{55F65DB5-FE48-423F-80FF-70784B8D1DB9}" type="slidenum">
              <a:rPr lang="ru-RU" sz="1200" smtClean="0">
                <a:latin typeface="Arial Black" pitchFamily="34" charset="0"/>
              </a:rPr>
              <a:pPr eaLnBrk="1" hangingPunct="1"/>
              <a:t>12</a:t>
            </a:fld>
            <a:endParaRPr lang="ru-RU" sz="1200" smtClean="0">
              <a:latin typeface="Arial Black"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Содержимое 2"/>
          <p:cNvSpPr>
            <a:spLocks noGrp="1"/>
          </p:cNvSpPr>
          <p:nvPr>
            <p:ph idx="1"/>
          </p:nvPr>
        </p:nvSpPr>
        <p:spPr>
          <a:xfrm>
            <a:off x="438150" y="1162050"/>
            <a:ext cx="8544340" cy="5333999"/>
          </a:xfrm>
        </p:spPr>
        <p:txBody>
          <a:bodyPr>
            <a:normAutofit/>
          </a:bodyPr>
          <a:lstStyle/>
          <a:p>
            <a:pPr>
              <a:buFont typeface="Wingdings" pitchFamily="2" charset="2"/>
              <a:buNone/>
            </a:pPr>
            <a:r>
              <a:rPr lang="ru-RU" i="1" dirty="0" smtClean="0"/>
              <a:t>	</a:t>
            </a:r>
            <a:r>
              <a:rPr lang="ru-RU" sz="2800" i="1" u="sng" dirty="0" smtClean="0"/>
              <a:t>Задача:</a:t>
            </a:r>
            <a:r>
              <a:rPr lang="ru-RU" sz="2800" i="1" dirty="0" smtClean="0"/>
              <a:t> </a:t>
            </a:r>
            <a:r>
              <a:rPr lang="ru-RU" sz="2800" dirty="0" smtClean="0"/>
              <a:t>найти записи </a:t>
            </a:r>
            <a:r>
              <a:rPr lang="en-US" sz="2800" i="1" dirty="0" smtClean="0"/>
              <a:t>S</a:t>
            </a:r>
            <a:r>
              <a:rPr lang="ru-RU" sz="2800" i="1" baseline="-25000" dirty="0" smtClean="0"/>
              <a:t>1</a:t>
            </a:r>
            <a:r>
              <a:rPr lang="ru-RU" sz="2800" i="1" dirty="0" smtClean="0"/>
              <a:t> </a:t>
            </a:r>
            <a:r>
              <a:rPr lang="ru-RU" sz="2800" dirty="0" smtClean="0">
                <a:sym typeface="Symbol" pitchFamily="18" charset="2"/>
              </a:rPr>
              <a:t></a:t>
            </a:r>
            <a:r>
              <a:rPr lang="ru-RU" sz="2800" dirty="0" smtClean="0"/>
              <a:t> </a:t>
            </a:r>
            <a:r>
              <a:rPr lang="en-US" sz="2800" i="1" dirty="0" smtClean="0"/>
              <a:t>S</a:t>
            </a:r>
            <a:r>
              <a:rPr lang="ru-RU" sz="2800" i="1" baseline="-25000" dirty="0" smtClean="0"/>
              <a:t>2</a:t>
            </a:r>
            <a:r>
              <a:rPr lang="ru-RU" sz="2800" i="1" dirty="0" smtClean="0"/>
              <a:t> </a:t>
            </a:r>
            <a:r>
              <a:rPr lang="ru-RU" sz="2800" dirty="0" smtClean="0">
                <a:sym typeface="Symbol" pitchFamily="18" charset="2"/>
              </a:rPr>
              <a:t></a:t>
            </a:r>
            <a:r>
              <a:rPr lang="ru-RU" sz="2800" dirty="0" smtClean="0"/>
              <a:t>  ... </a:t>
            </a:r>
            <a:r>
              <a:rPr lang="ru-RU" sz="2800" dirty="0" smtClean="0">
                <a:sym typeface="Symbol" pitchFamily="18" charset="2"/>
              </a:rPr>
              <a:t></a:t>
            </a:r>
            <a:r>
              <a:rPr lang="en-US" sz="2800" i="1" dirty="0" err="1" smtClean="0"/>
              <a:t>S</a:t>
            </a:r>
            <a:r>
              <a:rPr lang="en-US" sz="2800" i="1" baseline="-25000" dirty="0" err="1" smtClean="0"/>
              <a:t>k</a:t>
            </a:r>
            <a:endParaRPr lang="ru-RU" sz="2800" dirty="0" smtClean="0"/>
          </a:p>
          <a:p>
            <a:r>
              <a:rPr lang="ru-RU" sz="2400" dirty="0" smtClean="0"/>
              <a:t>Не обязательно фактически искать все записи из </a:t>
            </a:r>
            <a:r>
              <a:rPr lang="en-US" sz="2400" i="1" dirty="0" smtClean="0"/>
              <a:t>S</a:t>
            </a:r>
            <a:r>
              <a:rPr lang="ru-RU" sz="2400" i="1" baseline="-25000" dirty="0" smtClean="0"/>
              <a:t>1</a:t>
            </a:r>
            <a:r>
              <a:rPr lang="en-US" sz="2400" i="1" dirty="0" smtClean="0"/>
              <a:t> </a:t>
            </a:r>
            <a:r>
              <a:rPr lang="ru-RU" sz="2400" dirty="0" smtClean="0"/>
              <a:t>затем — из </a:t>
            </a:r>
            <a:r>
              <a:rPr lang="en-US" sz="2400" i="1" dirty="0" smtClean="0"/>
              <a:t>S</a:t>
            </a:r>
            <a:r>
              <a:rPr lang="ru-RU" sz="2400" i="1" baseline="-25000" dirty="0" smtClean="0"/>
              <a:t>2</a:t>
            </a:r>
            <a:r>
              <a:rPr lang="ru-RU" sz="2400" dirty="0" smtClean="0"/>
              <a:t> и т. д. Множества </a:t>
            </a:r>
            <a:r>
              <a:rPr lang="en-US" sz="2400" i="1" dirty="0" smtClean="0"/>
              <a:t>S</a:t>
            </a:r>
            <a:r>
              <a:rPr lang="en-US" sz="2400" i="1" baseline="-25000" dirty="0" smtClean="0"/>
              <a:t>i </a:t>
            </a:r>
            <a:r>
              <a:rPr lang="en-US" sz="2400" i="1" dirty="0" smtClean="0"/>
              <a:t> </a:t>
            </a:r>
            <a:r>
              <a:rPr lang="ru-RU" sz="2400" dirty="0" smtClean="0"/>
              <a:t>могут оказаться большими. </a:t>
            </a:r>
            <a:endParaRPr lang="ru-RU" sz="2400" baseline="-25000" dirty="0" smtClean="0"/>
          </a:p>
          <a:p>
            <a:r>
              <a:rPr lang="ru-RU" sz="2400" dirty="0" smtClean="0"/>
              <a:t>Можно использовать </a:t>
            </a:r>
            <a:r>
              <a:rPr lang="ru-RU" sz="2400" b="1" dirty="0" smtClean="0"/>
              <a:t>вторичные индексы </a:t>
            </a:r>
            <a:r>
              <a:rPr lang="ru-RU" sz="2400" dirty="0" smtClean="0"/>
              <a:t>по некоторым или всем полям </a:t>
            </a:r>
            <a:r>
              <a:rPr lang="en-US" sz="2400" i="1" dirty="0" smtClean="0"/>
              <a:t>F</a:t>
            </a:r>
            <a:r>
              <a:rPr lang="en-US" sz="2400" i="1" baseline="-25000" dirty="0" smtClean="0"/>
              <a:t>i</a:t>
            </a:r>
            <a:r>
              <a:rPr lang="ru-RU" sz="2400" i="1" baseline="-25000" dirty="0" smtClean="0"/>
              <a:t>        </a:t>
            </a:r>
            <a:endParaRPr lang="ru-RU" sz="2400" i="1" dirty="0" smtClean="0"/>
          </a:p>
          <a:p>
            <a:r>
              <a:rPr lang="ru-RU" sz="2400" dirty="0" smtClean="0"/>
              <a:t>Когда эти множества не слишком велики, </a:t>
            </a:r>
            <a:r>
              <a:rPr lang="ru-RU" sz="2400" i="1" dirty="0" smtClean="0"/>
              <a:t>их </a:t>
            </a:r>
            <a:r>
              <a:rPr lang="ru-RU" sz="2400" b="1" i="1" dirty="0" smtClean="0"/>
              <a:t>пересечение может быть построено в основной памяти</a:t>
            </a:r>
            <a:r>
              <a:rPr lang="ru-RU" sz="2400" b="1" dirty="0" smtClean="0"/>
              <a:t>.</a:t>
            </a:r>
            <a:r>
              <a:rPr lang="ru-RU" sz="2400" dirty="0" smtClean="0"/>
              <a:t> </a:t>
            </a:r>
          </a:p>
          <a:p>
            <a:r>
              <a:rPr lang="ru-RU" sz="2400" dirty="0" smtClean="0"/>
              <a:t>По каждому значению индекса (</a:t>
            </a:r>
            <a:r>
              <a:rPr lang="ru-RU" sz="2400" i="1" dirty="0" smtClean="0"/>
              <a:t>указатель или ключ</a:t>
            </a:r>
            <a:r>
              <a:rPr lang="ru-RU" sz="2400" dirty="0" smtClean="0"/>
              <a:t>) в пересечении проверяем, имеет ли связываемая с этим индексом запись заданные значения в оставшихся полях, для которых не существует вторичного индекса</a:t>
            </a:r>
          </a:p>
          <a:p>
            <a:endParaRPr lang="ru-RU" sz="2800" dirty="0" smtClean="0"/>
          </a:p>
        </p:txBody>
      </p:sp>
      <p:sp>
        <p:nvSpPr>
          <p:cNvPr id="14340" name="Номер слайда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fld id="{AA3F9F5A-0C0A-482F-AE62-C9D8CDCC7726}" type="slidenum">
              <a:rPr lang="ru-RU" sz="1200" smtClean="0">
                <a:latin typeface="Arial Black" pitchFamily="34" charset="0"/>
              </a:rPr>
              <a:pPr eaLnBrk="1" hangingPunct="1"/>
              <a:t>13</a:t>
            </a:fld>
            <a:endParaRPr lang="ru-RU" sz="1200" smtClean="0">
              <a:latin typeface="Arial Black" pitchFamily="34" charset="0"/>
            </a:endParaRPr>
          </a:p>
        </p:txBody>
      </p:sp>
      <p:sp>
        <p:nvSpPr>
          <p:cNvPr id="14341" name="Заголовок 1"/>
          <p:cNvSpPr>
            <a:spLocks noGrp="1"/>
          </p:cNvSpPr>
          <p:nvPr>
            <p:ph type="title"/>
          </p:nvPr>
        </p:nvSpPr>
        <p:spPr>
          <a:xfrm>
            <a:off x="365125" y="285750"/>
            <a:ext cx="8493125" cy="785813"/>
          </a:xfrm>
        </p:spPr>
        <p:txBody>
          <a:bodyPr/>
          <a:lstStyle/>
          <a:p>
            <a:pPr algn="ctr"/>
            <a:r>
              <a:rPr lang="ru-RU" sz="3600" dirty="0" smtClean="0">
                <a:solidFill>
                  <a:schemeClr val="bg2"/>
                </a:solidFill>
              </a:rPr>
              <a:t>Использование множественных вторичных индексов</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338">
                                            <p:txEl>
                                              <p:pRg st="0" end="0"/>
                                            </p:txEl>
                                          </p:spTgt>
                                        </p:tgtEl>
                                        <p:attrNameLst>
                                          <p:attrName>style.visibility</p:attrName>
                                        </p:attrNameLst>
                                      </p:cBhvr>
                                      <p:to>
                                        <p:strVal val="visible"/>
                                      </p:to>
                                    </p:set>
                                    <p:animEffect transition="in" filter="wipe(down)">
                                      <p:cBhvr>
                                        <p:cTn id="7" dur="500"/>
                                        <p:tgtEl>
                                          <p:spTgt spid="143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4338">
                                            <p:txEl>
                                              <p:pRg st="1" end="1"/>
                                            </p:txEl>
                                          </p:spTgt>
                                        </p:tgtEl>
                                        <p:attrNameLst>
                                          <p:attrName>style.visibility</p:attrName>
                                        </p:attrNameLst>
                                      </p:cBhvr>
                                      <p:to>
                                        <p:strVal val="visible"/>
                                      </p:to>
                                    </p:set>
                                    <p:animEffect transition="in" filter="wipe(down)">
                                      <p:cBhvr>
                                        <p:cTn id="12" dur="500"/>
                                        <p:tgtEl>
                                          <p:spTgt spid="1433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4338">
                                            <p:txEl>
                                              <p:pRg st="2" end="2"/>
                                            </p:txEl>
                                          </p:spTgt>
                                        </p:tgtEl>
                                        <p:attrNameLst>
                                          <p:attrName>style.visibility</p:attrName>
                                        </p:attrNameLst>
                                      </p:cBhvr>
                                      <p:to>
                                        <p:strVal val="visible"/>
                                      </p:to>
                                    </p:set>
                                    <p:animEffect transition="in" filter="wipe(down)">
                                      <p:cBhvr>
                                        <p:cTn id="17" dur="500"/>
                                        <p:tgtEl>
                                          <p:spTgt spid="1433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4338">
                                            <p:txEl>
                                              <p:pRg st="3" end="3"/>
                                            </p:txEl>
                                          </p:spTgt>
                                        </p:tgtEl>
                                        <p:attrNameLst>
                                          <p:attrName>style.visibility</p:attrName>
                                        </p:attrNameLst>
                                      </p:cBhvr>
                                      <p:to>
                                        <p:strVal val="visible"/>
                                      </p:to>
                                    </p:set>
                                    <p:animEffect transition="in" filter="wipe(down)">
                                      <p:cBhvr>
                                        <p:cTn id="22" dur="500"/>
                                        <p:tgtEl>
                                          <p:spTgt spid="1433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4338">
                                            <p:txEl>
                                              <p:pRg st="4" end="4"/>
                                            </p:txEl>
                                          </p:spTgt>
                                        </p:tgtEl>
                                        <p:attrNameLst>
                                          <p:attrName>style.visibility</p:attrName>
                                        </p:attrNameLst>
                                      </p:cBhvr>
                                      <p:to>
                                        <p:strVal val="visible"/>
                                      </p:to>
                                    </p:set>
                                    <p:animEffect transition="in" filter="wipe(down)">
                                      <p:cBhvr>
                                        <p:cTn id="27" dur="500"/>
                                        <p:tgtEl>
                                          <p:spTgt spid="1433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57200" y="1428750"/>
            <a:ext cx="8525290" cy="5022850"/>
          </a:xfrm>
        </p:spPr>
        <p:txBody>
          <a:bodyPr/>
          <a:lstStyle/>
          <a:p>
            <a:pPr>
              <a:defRPr/>
            </a:pPr>
            <a:r>
              <a:rPr lang="ru-RU" sz="2800" dirty="0" smtClean="0"/>
              <a:t>Если заданы индексы (</a:t>
            </a:r>
            <a:r>
              <a:rPr lang="ru-RU" sz="2800" b="1" i="1" dirty="0" smtClean="0"/>
              <a:t>указатели </a:t>
            </a:r>
            <a:r>
              <a:rPr lang="ru-RU" sz="2800" i="1" dirty="0" smtClean="0"/>
              <a:t>на </a:t>
            </a:r>
            <a:r>
              <a:rPr lang="ru-RU" sz="2800" b="1" i="1" dirty="0" smtClean="0"/>
              <a:t>блоки</a:t>
            </a:r>
            <a:r>
              <a:rPr lang="ru-RU" sz="2800" i="1" dirty="0" smtClean="0"/>
              <a:t> или </a:t>
            </a:r>
            <a:r>
              <a:rPr lang="ru-RU" sz="2800" b="1" i="1" dirty="0" smtClean="0"/>
              <a:t>участки</a:t>
            </a:r>
            <a:r>
              <a:rPr lang="ru-RU" sz="2800" dirty="0" smtClean="0"/>
              <a:t>, а </a:t>
            </a:r>
            <a:r>
              <a:rPr lang="ru-RU" sz="2800" dirty="0" smtClean="0">
                <a:solidFill>
                  <a:schemeClr val="accent1">
                    <a:lumMod val="50000"/>
                  </a:schemeClr>
                </a:solidFill>
              </a:rPr>
              <a:t>не на индивидуальные записи</a:t>
            </a:r>
            <a:r>
              <a:rPr lang="ru-RU" sz="2800" dirty="0" smtClean="0"/>
              <a:t>, то необходимо рассмотреть </a:t>
            </a:r>
            <a:r>
              <a:rPr lang="ru-RU" sz="2800" b="1" i="1" dirty="0" smtClean="0"/>
              <a:t>каждую запись в блоке или участке, </a:t>
            </a:r>
            <a:r>
              <a:rPr lang="ru-RU" sz="2800" dirty="0" smtClean="0"/>
              <a:t>так как возможен </a:t>
            </a:r>
            <a:r>
              <a:rPr lang="ru-RU" sz="2800" b="1" dirty="0" smtClean="0"/>
              <a:t>ЛОЖНЫЙ РЕЗУЛЬТАТ</a:t>
            </a:r>
            <a:endParaRPr lang="ru-RU" sz="2800" b="1" i="1" dirty="0" smtClean="0"/>
          </a:p>
          <a:p>
            <a:pPr>
              <a:defRPr/>
            </a:pPr>
            <a:r>
              <a:rPr lang="ru-RU" sz="2800" dirty="0" smtClean="0"/>
              <a:t>Блок, может содержать запись со значением </a:t>
            </a:r>
            <a:r>
              <a:rPr lang="en-US" sz="2800" i="1" dirty="0" smtClean="0"/>
              <a:t>v</a:t>
            </a:r>
            <a:r>
              <a:rPr lang="ru-RU" sz="2800" i="1" baseline="-25000" dirty="0" smtClean="0"/>
              <a:t>1</a:t>
            </a:r>
            <a:r>
              <a:rPr lang="ru-RU" sz="2800" i="1" dirty="0" smtClean="0"/>
              <a:t> </a:t>
            </a:r>
            <a:r>
              <a:rPr lang="ru-RU" sz="2800" dirty="0" smtClean="0"/>
              <a:t>в поле </a:t>
            </a:r>
            <a:r>
              <a:rPr lang="en-US" sz="2800" i="1" dirty="0" smtClean="0"/>
              <a:t>F</a:t>
            </a:r>
            <a:r>
              <a:rPr lang="ru-RU" sz="2800" i="1" baseline="-25000" dirty="0" smtClean="0"/>
              <a:t>1 </a:t>
            </a:r>
            <a:r>
              <a:rPr lang="ru-RU" sz="2800" dirty="0" smtClean="0"/>
              <a:t> и отличную от нее запись со значением </a:t>
            </a:r>
            <a:r>
              <a:rPr lang="en-US" sz="2800" i="1" dirty="0" smtClean="0"/>
              <a:t>v</a:t>
            </a:r>
            <a:r>
              <a:rPr lang="ru-RU" sz="2800" i="1" baseline="-25000" dirty="0" smtClean="0"/>
              <a:t>2</a:t>
            </a:r>
            <a:r>
              <a:rPr lang="ru-RU" sz="2800" i="1" dirty="0" smtClean="0"/>
              <a:t> </a:t>
            </a:r>
            <a:r>
              <a:rPr lang="ru-RU" sz="2800" dirty="0" smtClean="0"/>
              <a:t>в поле </a:t>
            </a:r>
            <a:r>
              <a:rPr lang="en-US" sz="2800" i="1" dirty="0" smtClean="0"/>
              <a:t>F</a:t>
            </a:r>
            <a:r>
              <a:rPr lang="ru-RU" sz="2800" i="1" baseline="-25000" dirty="0" smtClean="0"/>
              <a:t>2</a:t>
            </a:r>
          </a:p>
          <a:p>
            <a:pPr lvl="1">
              <a:defRPr/>
            </a:pPr>
            <a:r>
              <a:rPr lang="ru-RU" sz="2400" dirty="0" smtClean="0">
                <a:ea typeface="+mn-ea"/>
              </a:rPr>
              <a:t>указатель на блок содержался бы в </a:t>
            </a:r>
            <a:r>
              <a:rPr lang="en-US" sz="2400" i="1" dirty="0" smtClean="0">
                <a:ea typeface="+mn-ea"/>
              </a:rPr>
              <a:t>S</a:t>
            </a:r>
            <a:r>
              <a:rPr lang="ru-RU" sz="2400" i="1" baseline="-25000" dirty="0" smtClean="0">
                <a:ea typeface="+mn-ea"/>
              </a:rPr>
              <a:t>1</a:t>
            </a:r>
            <a:r>
              <a:rPr lang="ru-RU" sz="2400" i="1" dirty="0" smtClean="0">
                <a:ea typeface="+mn-ea"/>
              </a:rPr>
              <a:t> </a:t>
            </a:r>
            <a:r>
              <a:rPr lang="ru-RU" sz="2400" dirty="0" smtClean="0">
                <a:ea typeface="+mn-ea"/>
                <a:sym typeface="Symbol"/>
              </a:rPr>
              <a:t></a:t>
            </a:r>
            <a:r>
              <a:rPr lang="ru-RU" sz="2400" dirty="0" smtClean="0">
                <a:ea typeface="+mn-ea"/>
              </a:rPr>
              <a:t> </a:t>
            </a:r>
            <a:r>
              <a:rPr lang="en-US" sz="2400" i="1" dirty="0" smtClean="0">
                <a:ea typeface="+mn-ea"/>
              </a:rPr>
              <a:t>S</a:t>
            </a:r>
            <a:r>
              <a:rPr lang="ru-RU" sz="2400" i="1" baseline="-25000" dirty="0" smtClean="0">
                <a:ea typeface="+mn-ea"/>
              </a:rPr>
              <a:t>2</a:t>
            </a:r>
            <a:r>
              <a:rPr lang="ru-RU" sz="2400" dirty="0" smtClean="0">
                <a:ea typeface="+mn-ea"/>
              </a:rPr>
              <a:t>,</a:t>
            </a:r>
            <a:endParaRPr lang="ru-RU" sz="2400" b="1" i="1" dirty="0" smtClean="0">
              <a:ea typeface="+mn-ea"/>
            </a:endParaRPr>
          </a:p>
          <a:p>
            <a:pPr lvl="1">
              <a:defRPr/>
            </a:pPr>
            <a:r>
              <a:rPr lang="ru-RU" sz="2400" dirty="0" smtClean="0">
                <a:ea typeface="+mn-ea"/>
              </a:rPr>
              <a:t>хотя на самом деле </a:t>
            </a:r>
            <a:r>
              <a:rPr lang="ru-RU" sz="2400" b="1" dirty="0" smtClean="0">
                <a:ea typeface="+mn-ea"/>
              </a:rPr>
              <a:t>ни одна запись </a:t>
            </a:r>
            <a:r>
              <a:rPr lang="ru-RU" sz="2400" dirty="0" smtClean="0">
                <a:ea typeface="+mn-ea"/>
              </a:rPr>
              <a:t>в блоке не имеет значения </a:t>
            </a:r>
            <a:r>
              <a:rPr lang="en-US" sz="2400" i="1" dirty="0" smtClean="0">
                <a:ea typeface="+mn-ea"/>
              </a:rPr>
              <a:t>v</a:t>
            </a:r>
            <a:r>
              <a:rPr lang="ru-RU" sz="2400" i="1" baseline="-25000" dirty="0" smtClean="0">
                <a:ea typeface="+mn-ea"/>
              </a:rPr>
              <a:t>1</a:t>
            </a:r>
            <a:r>
              <a:rPr lang="ru-RU" sz="2400" i="1" dirty="0" smtClean="0">
                <a:ea typeface="+mn-ea"/>
              </a:rPr>
              <a:t> </a:t>
            </a:r>
            <a:r>
              <a:rPr lang="ru-RU" sz="2400" dirty="0" smtClean="0">
                <a:ea typeface="+mn-ea"/>
              </a:rPr>
              <a:t>в поле </a:t>
            </a:r>
            <a:r>
              <a:rPr lang="en-US" sz="2400" i="1" dirty="0" smtClean="0">
                <a:ea typeface="+mn-ea"/>
              </a:rPr>
              <a:t>F</a:t>
            </a:r>
            <a:r>
              <a:rPr lang="ru-RU" sz="2400" i="1" baseline="-25000" dirty="0" smtClean="0">
                <a:ea typeface="+mn-ea"/>
              </a:rPr>
              <a:t>1</a:t>
            </a:r>
            <a:r>
              <a:rPr lang="ru-RU" sz="2400" i="1" dirty="0" smtClean="0">
                <a:ea typeface="+mn-ea"/>
              </a:rPr>
              <a:t> </a:t>
            </a:r>
            <a:r>
              <a:rPr lang="ru-RU" sz="2400" dirty="0" smtClean="0">
                <a:ea typeface="+mn-ea"/>
              </a:rPr>
              <a:t>и значения </a:t>
            </a:r>
            <a:r>
              <a:rPr lang="en-US" sz="2400" i="1" dirty="0" smtClean="0">
                <a:ea typeface="+mn-ea"/>
              </a:rPr>
              <a:t>v</a:t>
            </a:r>
            <a:r>
              <a:rPr lang="ru-RU" sz="2400" i="1" baseline="-25000" dirty="0" smtClean="0">
                <a:ea typeface="+mn-ea"/>
              </a:rPr>
              <a:t>2</a:t>
            </a:r>
            <a:r>
              <a:rPr lang="ru-RU" sz="2400" i="1" dirty="0" smtClean="0">
                <a:ea typeface="+mn-ea"/>
              </a:rPr>
              <a:t> </a:t>
            </a:r>
            <a:r>
              <a:rPr lang="ru-RU" sz="2400" dirty="0" smtClean="0">
                <a:ea typeface="+mn-ea"/>
              </a:rPr>
              <a:t> в поле </a:t>
            </a:r>
            <a:r>
              <a:rPr lang="en-US" sz="2400" i="1" dirty="0" smtClean="0">
                <a:ea typeface="+mn-ea"/>
              </a:rPr>
              <a:t>F</a:t>
            </a:r>
            <a:r>
              <a:rPr lang="ru-RU" sz="2400" i="1" baseline="-25000" dirty="0" smtClean="0">
                <a:ea typeface="+mn-ea"/>
              </a:rPr>
              <a:t>2</a:t>
            </a:r>
            <a:r>
              <a:rPr lang="ru-RU" sz="2400" i="1" dirty="0" smtClean="0">
                <a:ea typeface="+mn-ea"/>
              </a:rPr>
              <a:t>.</a:t>
            </a:r>
            <a:endParaRPr lang="ru-RU" sz="2400" b="1" dirty="0"/>
          </a:p>
        </p:txBody>
      </p:sp>
      <p:sp>
        <p:nvSpPr>
          <p:cNvPr id="15363" name="Нижний колонтитул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endParaRPr lang="ru-RU" sz="1200" smtClean="0"/>
          </a:p>
        </p:txBody>
      </p:sp>
      <p:sp>
        <p:nvSpPr>
          <p:cNvPr id="15364" name="Номер слайда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fld id="{7C431B10-8F63-4FC6-BD72-D94D17D65AB7}" type="slidenum">
              <a:rPr lang="ru-RU" sz="1200" smtClean="0">
                <a:latin typeface="Arial Black" pitchFamily="34" charset="0"/>
              </a:rPr>
              <a:pPr eaLnBrk="1" hangingPunct="1"/>
              <a:t>14</a:t>
            </a:fld>
            <a:endParaRPr lang="ru-RU" sz="1200" smtClean="0">
              <a:latin typeface="Arial Black" pitchFamily="34" charset="0"/>
            </a:endParaRPr>
          </a:p>
        </p:txBody>
      </p:sp>
      <p:sp>
        <p:nvSpPr>
          <p:cNvPr id="15365" name="Заголовок 1"/>
          <p:cNvSpPr>
            <a:spLocks noGrp="1"/>
          </p:cNvSpPr>
          <p:nvPr>
            <p:ph type="title"/>
          </p:nvPr>
        </p:nvSpPr>
        <p:spPr>
          <a:xfrm>
            <a:off x="365125" y="285750"/>
            <a:ext cx="8493125" cy="785813"/>
          </a:xfrm>
        </p:spPr>
        <p:txBody>
          <a:bodyPr/>
          <a:lstStyle/>
          <a:p>
            <a:pPr algn="ctr"/>
            <a:r>
              <a:rPr lang="ru-RU" sz="3600" smtClean="0">
                <a:solidFill>
                  <a:schemeClr val="bg2"/>
                </a:solidFill>
              </a:rPr>
              <a:t>Использование множественных вторичных индексов</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Содержимое 2"/>
          <p:cNvSpPr>
            <a:spLocks noGrp="1"/>
          </p:cNvSpPr>
          <p:nvPr>
            <p:ph idx="1"/>
          </p:nvPr>
        </p:nvSpPr>
        <p:spPr>
          <a:xfrm>
            <a:off x="296526" y="1206500"/>
            <a:ext cx="8369638" cy="5192830"/>
          </a:xfrm>
        </p:spPr>
        <p:txBody>
          <a:bodyPr/>
          <a:lstStyle/>
          <a:p>
            <a:r>
              <a:rPr lang="ru-RU" sz="2400" dirty="0" smtClean="0"/>
              <a:t>С целью минимизации размера списка указателей, с которыми предстоит иметь дело, следует сначала получить </a:t>
            </a:r>
            <a:r>
              <a:rPr lang="ru-RU" sz="2400" b="1" dirty="0" smtClean="0"/>
              <a:t>наименьшее множество </a:t>
            </a:r>
            <a:r>
              <a:rPr lang="en-US" sz="2400" b="1" i="1" dirty="0" smtClean="0"/>
              <a:t>S</a:t>
            </a:r>
            <a:r>
              <a:rPr lang="en-US" sz="2400" b="1" i="1" baseline="-25000" dirty="0" smtClean="0"/>
              <a:t>i</a:t>
            </a:r>
            <a:r>
              <a:rPr lang="en-US" sz="2400" b="1" i="1" dirty="0" smtClean="0"/>
              <a:t> </a:t>
            </a:r>
            <a:r>
              <a:rPr lang="ru-RU" sz="2400" dirty="0" smtClean="0"/>
              <a:t>среди </a:t>
            </a:r>
            <a:r>
              <a:rPr lang="ru-RU" sz="2400" b="1" dirty="0" smtClean="0"/>
              <a:t>всех полей </a:t>
            </a:r>
            <a:r>
              <a:rPr lang="en-US" sz="2400" b="1" i="1" dirty="0" err="1" smtClean="0"/>
              <a:t>F</a:t>
            </a:r>
            <a:r>
              <a:rPr lang="en-US" sz="2400" b="1" i="1" baseline="-25000" dirty="0" err="1" smtClean="0"/>
              <a:t>i</a:t>
            </a:r>
            <a:r>
              <a:rPr lang="ru-RU" sz="2400" b="1" i="1" baseline="-25000" dirty="0" smtClean="0"/>
              <a:t> </a:t>
            </a:r>
            <a:r>
              <a:rPr lang="ru-RU" sz="2400" dirty="0" smtClean="0"/>
              <a:t>,</a:t>
            </a:r>
            <a:r>
              <a:rPr lang="ru-RU" sz="2400" b="1" i="1" dirty="0" smtClean="0"/>
              <a:t> </a:t>
            </a:r>
            <a:r>
              <a:rPr lang="ru-RU" sz="2400" dirty="0" smtClean="0"/>
              <a:t>имеющих вторичный индекс</a:t>
            </a:r>
          </a:p>
          <a:p>
            <a:r>
              <a:rPr lang="ru-RU" sz="2400" dirty="0" smtClean="0"/>
              <a:t>Эвристически можно выбирать поле </a:t>
            </a:r>
            <a:r>
              <a:rPr lang="en-US" sz="2400" b="1" i="1" dirty="0" err="1" smtClean="0"/>
              <a:t>F</a:t>
            </a:r>
            <a:r>
              <a:rPr lang="en-US" sz="2400" b="1" i="1" baseline="-25000" dirty="0" err="1" smtClean="0"/>
              <a:t>i</a:t>
            </a:r>
            <a:r>
              <a:rPr lang="en-US" sz="2400" b="1" i="1" dirty="0" smtClean="0"/>
              <a:t> </a:t>
            </a:r>
            <a:r>
              <a:rPr lang="ru-RU" sz="2400" dirty="0" smtClean="0"/>
              <a:t>с </a:t>
            </a:r>
            <a:r>
              <a:rPr lang="ru-RU" sz="2400" b="1" dirty="0" smtClean="0"/>
              <a:t>наибольшим</a:t>
            </a:r>
            <a:r>
              <a:rPr lang="ru-RU" sz="2400" dirty="0" smtClean="0"/>
              <a:t> множеством </a:t>
            </a:r>
            <a:r>
              <a:rPr lang="ru-RU" sz="2400" b="1" dirty="0" smtClean="0"/>
              <a:t>различных значений</a:t>
            </a:r>
            <a:r>
              <a:rPr lang="ru-RU" sz="2400" dirty="0" smtClean="0"/>
              <a:t>, представленных в базе данных, если, конечно, такая статистика известна или может быть предсказана.</a:t>
            </a:r>
          </a:p>
          <a:p>
            <a:r>
              <a:rPr lang="ru-RU" sz="2400" dirty="0" smtClean="0"/>
              <a:t>В примере выше можно предположить, что вторичный индекс по полю «должность» будет содержать наименьший список указателей.</a:t>
            </a:r>
          </a:p>
          <a:p>
            <a:r>
              <a:rPr lang="ru-RU" sz="2400" b="1" i="1" dirty="0" smtClean="0"/>
              <a:t>В случае очень больших файлов</a:t>
            </a:r>
            <a:r>
              <a:rPr lang="ru-RU" sz="2400" dirty="0" smtClean="0"/>
              <a:t> метод </a:t>
            </a:r>
            <a:r>
              <a:rPr lang="ru-RU" sz="2400" b="1" dirty="0" smtClean="0"/>
              <a:t>поиска по частичному соответствию не рекомендуется.</a:t>
            </a:r>
            <a:endParaRPr lang="ru-RU" sz="2400" dirty="0" smtClean="0"/>
          </a:p>
        </p:txBody>
      </p:sp>
      <p:sp>
        <p:nvSpPr>
          <p:cNvPr id="16387" name="Нижний колонтитул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endParaRPr lang="ru-RU" sz="1200" smtClean="0"/>
          </a:p>
        </p:txBody>
      </p:sp>
      <p:sp>
        <p:nvSpPr>
          <p:cNvPr id="16388" name="Номер слайда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fld id="{A49ABFA1-96A4-426B-A162-74D2B76B0F49}" type="slidenum">
              <a:rPr lang="ru-RU" sz="1200" smtClean="0">
                <a:latin typeface="Arial Black" pitchFamily="34" charset="0"/>
              </a:rPr>
              <a:pPr eaLnBrk="1" hangingPunct="1"/>
              <a:t>15</a:t>
            </a:fld>
            <a:endParaRPr lang="ru-RU" sz="1200" smtClean="0">
              <a:latin typeface="Arial Black" pitchFamily="34" charset="0"/>
            </a:endParaRPr>
          </a:p>
        </p:txBody>
      </p:sp>
      <p:sp>
        <p:nvSpPr>
          <p:cNvPr id="16389" name="Заголовок 1"/>
          <p:cNvSpPr>
            <a:spLocks noGrp="1"/>
          </p:cNvSpPr>
          <p:nvPr>
            <p:ph type="title"/>
          </p:nvPr>
        </p:nvSpPr>
        <p:spPr>
          <a:xfrm>
            <a:off x="365125" y="285750"/>
            <a:ext cx="8493125" cy="785813"/>
          </a:xfrm>
        </p:spPr>
        <p:txBody>
          <a:bodyPr/>
          <a:lstStyle/>
          <a:p>
            <a:pPr algn="ctr"/>
            <a:r>
              <a:rPr lang="ru-RU" sz="3600" smtClean="0">
                <a:solidFill>
                  <a:schemeClr val="bg2"/>
                </a:solidFill>
              </a:rPr>
              <a:t>Использование множественных вторичных индексов</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Заголовок 1"/>
          <p:cNvSpPr>
            <a:spLocks noGrp="1"/>
          </p:cNvSpPr>
          <p:nvPr>
            <p:ph type="title"/>
          </p:nvPr>
        </p:nvSpPr>
        <p:spPr>
          <a:xfrm>
            <a:off x="457200" y="184150"/>
            <a:ext cx="8229600" cy="685800"/>
          </a:xfrm>
        </p:spPr>
        <p:txBody>
          <a:bodyPr/>
          <a:lstStyle/>
          <a:p>
            <a:r>
              <a:rPr lang="ru-RU" sz="3600" dirty="0" smtClean="0">
                <a:solidFill>
                  <a:schemeClr val="bg2"/>
                </a:solidFill>
              </a:rPr>
              <a:t>Функции раздельного хеширования</a:t>
            </a:r>
            <a:endParaRPr lang="ru-RU" dirty="0" smtClean="0"/>
          </a:p>
        </p:txBody>
      </p:sp>
      <p:sp>
        <p:nvSpPr>
          <p:cNvPr id="17411" name="Содержимое 2"/>
          <p:cNvSpPr>
            <a:spLocks noGrp="1"/>
          </p:cNvSpPr>
          <p:nvPr>
            <p:ph idx="1"/>
          </p:nvPr>
        </p:nvSpPr>
        <p:spPr>
          <a:xfrm>
            <a:off x="323528" y="1028700"/>
            <a:ext cx="8820472" cy="5378450"/>
          </a:xfrm>
        </p:spPr>
        <p:txBody>
          <a:bodyPr>
            <a:normAutofit/>
          </a:bodyPr>
          <a:lstStyle/>
          <a:p>
            <a:r>
              <a:rPr lang="ru-RU" sz="2800" dirty="0" smtClean="0"/>
              <a:t>Все поля принимаем за КЛЮЧ</a:t>
            </a:r>
          </a:p>
          <a:p>
            <a:r>
              <a:rPr lang="ru-RU" sz="2800" dirty="0" err="1" smtClean="0"/>
              <a:t>Хэшируем</a:t>
            </a:r>
            <a:r>
              <a:rPr lang="ru-RU" sz="2800" dirty="0" smtClean="0"/>
              <a:t> записи, используя полное множество ключей</a:t>
            </a:r>
          </a:p>
          <a:p>
            <a:r>
              <a:rPr lang="ru-RU" sz="2800" dirty="0"/>
              <a:t>«Хитрость» состоит в </a:t>
            </a:r>
            <a:r>
              <a:rPr lang="ru-RU" sz="2800" b="1" i="1" dirty="0"/>
              <a:t>разбиении битов номера </a:t>
            </a:r>
            <a:r>
              <a:rPr lang="ru-RU" sz="2800" i="1" dirty="0"/>
              <a:t>участка</a:t>
            </a:r>
            <a:r>
              <a:rPr lang="ru-RU" sz="2800" dirty="0"/>
              <a:t> на несколько частей таким образом, чтобы каждое поле определяло одну из частей</a:t>
            </a:r>
            <a:r>
              <a:rPr lang="ru-RU" sz="2800" dirty="0" smtClean="0"/>
              <a:t>.</a:t>
            </a:r>
          </a:p>
          <a:p>
            <a:r>
              <a:rPr lang="ru-RU" sz="2800" dirty="0" smtClean="0"/>
              <a:t>Тогда </a:t>
            </a:r>
            <a:r>
              <a:rPr lang="ru-RU" sz="2800" dirty="0"/>
              <a:t>всякий раз, </a:t>
            </a:r>
            <a:r>
              <a:rPr lang="ru-RU" sz="2800" i="1" dirty="0"/>
              <a:t>когда известно одно или более полей, мы уже что-либо знаем о номерах участков</a:t>
            </a:r>
            <a:r>
              <a:rPr lang="ru-RU" sz="2800" dirty="0"/>
              <a:t>, в которых может находиться требуемая запись (записи</a:t>
            </a:r>
            <a:r>
              <a:rPr lang="ru-RU" sz="2800" dirty="0" smtClean="0"/>
              <a:t>).</a:t>
            </a:r>
          </a:p>
        </p:txBody>
      </p:sp>
      <p:sp>
        <p:nvSpPr>
          <p:cNvPr id="17413" name="Номер слайда 4"/>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fld id="{2E7C2879-6476-4B2C-9881-87D216CE684F}" type="slidenum">
              <a:rPr lang="ru-RU" sz="1200" smtClean="0">
                <a:latin typeface="Arial Black" pitchFamily="34" charset="0"/>
              </a:rPr>
              <a:pPr eaLnBrk="1" hangingPunct="1"/>
              <a:t>16</a:t>
            </a:fld>
            <a:endParaRPr lang="ru-RU" sz="1200" smtClean="0">
              <a:latin typeface="Arial Black"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251520" y="908720"/>
            <a:ext cx="8685965" cy="5595655"/>
          </a:xfrm>
        </p:spPr>
        <p:txBody>
          <a:bodyPr>
            <a:normAutofit fontScale="92500" lnSpcReduction="10000"/>
          </a:bodyPr>
          <a:lstStyle/>
          <a:p>
            <a:pPr marL="0" indent="342900" algn="just">
              <a:lnSpc>
                <a:spcPct val="110000"/>
              </a:lnSpc>
              <a:spcBef>
                <a:spcPts val="0"/>
              </a:spcBef>
              <a:buNone/>
            </a:pPr>
            <a:r>
              <a:rPr lang="ru-RU" sz="2600" dirty="0" smtClean="0">
                <a:latin typeface="Times New Roman" pitchFamily="18" charset="0"/>
                <a:cs typeface="Times New Roman" pitchFamily="18" charset="0"/>
              </a:rPr>
              <a:t>Предположим, что число участков является степенью 2, </a:t>
            </a:r>
            <a:br>
              <a:rPr lang="ru-RU" sz="2600" dirty="0" smtClean="0">
                <a:latin typeface="Times New Roman" pitchFamily="18" charset="0"/>
                <a:cs typeface="Times New Roman" pitchFamily="18" charset="0"/>
              </a:rPr>
            </a:br>
            <a:r>
              <a:rPr lang="ru-RU" sz="2600" dirty="0" smtClean="0">
                <a:latin typeface="Times New Roman" pitchFamily="18" charset="0"/>
                <a:cs typeface="Times New Roman" pitchFamily="18" charset="0"/>
              </a:rPr>
              <a:t>например,  2</a:t>
            </a:r>
            <a:r>
              <a:rPr lang="ru-RU" sz="2600" baseline="30000" dirty="0" smtClean="0">
                <a:latin typeface="Times New Roman" pitchFamily="18" charset="0"/>
                <a:cs typeface="Times New Roman" pitchFamily="18" charset="0"/>
              </a:rPr>
              <a:t>в </a:t>
            </a:r>
            <a:r>
              <a:rPr lang="ru-RU" sz="2600" dirty="0" smtClean="0">
                <a:latin typeface="Times New Roman" pitchFamily="18" charset="0"/>
                <a:cs typeface="Times New Roman" pitchFamily="18" charset="0"/>
              </a:rPr>
              <a:t>и, что логический </a:t>
            </a:r>
            <a:r>
              <a:rPr lang="ru-RU" sz="2600" dirty="0">
                <a:latin typeface="Times New Roman" pitchFamily="18" charset="0"/>
                <a:cs typeface="Times New Roman" pitchFamily="18" charset="0"/>
              </a:rPr>
              <a:t>адрес участка есть последовательность </a:t>
            </a:r>
            <a:r>
              <a:rPr lang="ru-RU" sz="2600" b="1" dirty="0" smtClean="0">
                <a:latin typeface="Times New Roman" pitchFamily="18" charset="0"/>
                <a:cs typeface="Times New Roman" pitchFamily="18" charset="0"/>
              </a:rPr>
              <a:t>В</a:t>
            </a:r>
            <a:r>
              <a:rPr lang="ru-RU" sz="2600" dirty="0" smtClean="0">
                <a:latin typeface="Times New Roman" pitchFamily="18" charset="0"/>
                <a:cs typeface="Times New Roman" pitchFamily="18" charset="0"/>
              </a:rPr>
              <a:t> бит.</a:t>
            </a:r>
          </a:p>
          <a:p>
            <a:pPr marL="0" indent="342900" algn="just">
              <a:lnSpc>
                <a:spcPct val="110000"/>
              </a:lnSpc>
              <a:spcBef>
                <a:spcPts val="0"/>
              </a:spcBef>
              <a:buNone/>
            </a:pPr>
            <a:r>
              <a:rPr lang="ru-RU" sz="2600" dirty="0" smtClean="0">
                <a:latin typeface="Times New Roman" pitchFamily="18" charset="0"/>
                <a:cs typeface="Times New Roman" pitchFamily="18" charset="0"/>
              </a:rPr>
              <a:t>Разделим В бит адреса участка на группы – по одной группе для каждого поля.</a:t>
            </a:r>
          </a:p>
          <a:p>
            <a:pPr marL="0" indent="342900" algn="just">
              <a:lnSpc>
                <a:spcPct val="110000"/>
              </a:lnSpc>
              <a:spcBef>
                <a:spcPts val="0"/>
              </a:spcBef>
              <a:buNone/>
            </a:pPr>
            <a:r>
              <a:rPr lang="ru-RU" sz="2600" dirty="0" smtClean="0">
                <a:latin typeface="Times New Roman" pitchFamily="18" charset="0"/>
                <a:cs typeface="Times New Roman" pitchFamily="18" charset="0"/>
              </a:rPr>
              <a:t>Если </a:t>
            </a:r>
            <a:r>
              <a:rPr lang="ru-RU" sz="2600" dirty="0">
                <a:latin typeface="Times New Roman" pitchFamily="18" charset="0"/>
                <a:cs typeface="Times New Roman" pitchFamily="18" charset="0"/>
              </a:rPr>
              <a:t>имеются поля </a:t>
            </a:r>
            <a:r>
              <a:rPr lang="en-US" sz="2600" i="1" dirty="0">
                <a:latin typeface="Times New Roman" pitchFamily="18" charset="0"/>
                <a:cs typeface="Times New Roman" pitchFamily="18" charset="0"/>
              </a:rPr>
              <a:t>F</a:t>
            </a:r>
            <a:r>
              <a:rPr lang="ru-RU" sz="2600" i="1" baseline="-25000" dirty="0">
                <a:latin typeface="Times New Roman" pitchFamily="18" charset="0"/>
                <a:cs typeface="Times New Roman" pitchFamily="18" charset="0"/>
              </a:rPr>
              <a:t>1</a:t>
            </a:r>
            <a:r>
              <a:rPr lang="ru-RU" sz="2600" i="1" dirty="0">
                <a:latin typeface="Times New Roman" pitchFamily="18" charset="0"/>
                <a:cs typeface="Times New Roman" pitchFamily="18" charset="0"/>
              </a:rPr>
              <a:t>, </a:t>
            </a:r>
            <a:r>
              <a:rPr lang="en-US" sz="2600" i="1" dirty="0">
                <a:latin typeface="Times New Roman" pitchFamily="18" charset="0"/>
                <a:cs typeface="Times New Roman" pitchFamily="18" charset="0"/>
              </a:rPr>
              <a:t>F</a:t>
            </a:r>
            <a:r>
              <a:rPr lang="ru-RU" sz="2600" i="1" baseline="-25000" dirty="0">
                <a:latin typeface="Times New Roman" pitchFamily="18" charset="0"/>
                <a:cs typeface="Times New Roman" pitchFamily="18" charset="0"/>
              </a:rPr>
              <a:t>2</a:t>
            </a:r>
            <a:r>
              <a:rPr lang="ru-RU" sz="2600" i="1" dirty="0">
                <a:latin typeface="Times New Roman" pitchFamily="18" charset="0"/>
                <a:cs typeface="Times New Roman" pitchFamily="18" charset="0"/>
              </a:rPr>
              <a:t>, ..., </a:t>
            </a:r>
            <a:r>
              <a:rPr lang="en-US" sz="2600" i="1" dirty="0" err="1">
                <a:latin typeface="Times New Roman" pitchFamily="18" charset="0"/>
                <a:cs typeface="Times New Roman" pitchFamily="18" charset="0"/>
              </a:rPr>
              <a:t>F</a:t>
            </a:r>
            <a:r>
              <a:rPr lang="en-US" sz="2600" i="1" baseline="-25000" dirty="0" err="1">
                <a:latin typeface="Times New Roman" pitchFamily="18" charset="0"/>
                <a:cs typeface="Times New Roman" pitchFamily="18" charset="0"/>
              </a:rPr>
              <a:t>k</a:t>
            </a:r>
            <a:r>
              <a:rPr lang="en-US" sz="2600" i="1" dirty="0">
                <a:latin typeface="Times New Roman" pitchFamily="18" charset="0"/>
                <a:cs typeface="Times New Roman" pitchFamily="18" charset="0"/>
              </a:rPr>
              <a:t> </a:t>
            </a:r>
            <a:r>
              <a:rPr lang="ru-RU" sz="2600" i="1" dirty="0" smtClean="0">
                <a:latin typeface="Times New Roman" pitchFamily="18" charset="0"/>
                <a:cs typeface="Times New Roman" pitchFamily="18" charset="0"/>
              </a:rPr>
              <a:t>, </a:t>
            </a:r>
            <a:r>
              <a:rPr lang="ru-RU" sz="2600" dirty="0" smtClean="0">
                <a:latin typeface="Times New Roman" pitchFamily="18" charset="0"/>
                <a:cs typeface="Times New Roman" pitchFamily="18" charset="0"/>
              </a:rPr>
              <a:t>то для поля </a:t>
            </a:r>
            <a:r>
              <a:rPr lang="en-US" sz="2600" b="1" i="1" dirty="0">
                <a:latin typeface="Times New Roman" pitchFamily="18" charset="0"/>
                <a:cs typeface="Times New Roman" pitchFamily="18" charset="0"/>
              </a:rPr>
              <a:t>F</a:t>
            </a:r>
            <a:r>
              <a:rPr lang="en-US" sz="2600" b="1" i="1" baseline="-25000" dirty="0">
                <a:latin typeface="Times New Roman" pitchFamily="18" charset="0"/>
                <a:cs typeface="Times New Roman" pitchFamily="18" charset="0"/>
              </a:rPr>
              <a:t>i</a:t>
            </a:r>
            <a:r>
              <a:rPr lang="en-US" sz="2600" b="1" i="1" dirty="0">
                <a:latin typeface="Times New Roman" pitchFamily="18" charset="0"/>
                <a:cs typeface="Times New Roman" pitchFamily="18" charset="0"/>
              </a:rPr>
              <a:t> </a:t>
            </a:r>
            <a:r>
              <a:rPr lang="ru-RU" sz="2600" b="1" i="1" dirty="0">
                <a:latin typeface="Times New Roman" pitchFamily="18" charset="0"/>
                <a:cs typeface="Times New Roman" pitchFamily="18" charset="0"/>
              </a:rPr>
              <a:t>назначается </a:t>
            </a:r>
            <a:r>
              <a:rPr lang="en-US" sz="2600" b="1" i="1" dirty="0">
                <a:latin typeface="Times New Roman" pitchFamily="18" charset="0"/>
                <a:cs typeface="Times New Roman" pitchFamily="18" charset="0"/>
              </a:rPr>
              <a:t>b</a:t>
            </a:r>
            <a:r>
              <a:rPr lang="en-US" sz="2600" b="1" i="1" baseline="-25000" dirty="0">
                <a:latin typeface="Times New Roman" pitchFamily="18" charset="0"/>
                <a:cs typeface="Times New Roman" pitchFamily="18" charset="0"/>
              </a:rPr>
              <a:t>i</a:t>
            </a:r>
            <a:r>
              <a:rPr lang="en-US" sz="2600" b="1" i="1" dirty="0">
                <a:latin typeface="Times New Roman" pitchFamily="18" charset="0"/>
                <a:cs typeface="Times New Roman" pitchFamily="18" charset="0"/>
              </a:rPr>
              <a:t> </a:t>
            </a:r>
            <a:r>
              <a:rPr lang="ru-RU" sz="2600" b="1" i="1" dirty="0" smtClean="0">
                <a:latin typeface="Times New Roman" pitchFamily="18" charset="0"/>
                <a:cs typeface="Times New Roman" pitchFamily="18" charset="0"/>
              </a:rPr>
              <a:t>бит</a:t>
            </a:r>
            <a:r>
              <a:rPr lang="ru-RU" sz="2600" dirty="0" smtClean="0">
                <a:latin typeface="Times New Roman" pitchFamily="18" charset="0"/>
                <a:cs typeface="Times New Roman" pitchFamily="18" charset="0"/>
              </a:rPr>
              <a:t> и номер участка записи </a:t>
            </a:r>
            <a:r>
              <a:rPr lang="ru-RU" sz="2600" i="1" dirty="0" smtClean="0">
                <a:latin typeface="Times New Roman" pitchFamily="18" charset="0"/>
                <a:cs typeface="Times New Roman" pitchFamily="18" charset="0"/>
              </a:rPr>
              <a:t>(</a:t>
            </a:r>
            <a:r>
              <a:rPr lang="en-US" sz="2600" i="1" dirty="0">
                <a:latin typeface="Times New Roman" pitchFamily="18" charset="0"/>
                <a:cs typeface="Times New Roman" pitchFamily="18" charset="0"/>
              </a:rPr>
              <a:t>v</a:t>
            </a:r>
            <a:r>
              <a:rPr lang="ru-RU" sz="2600" i="1" baseline="-25000" dirty="0">
                <a:latin typeface="Times New Roman" pitchFamily="18" charset="0"/>
                <a:cs typeface="Times New Roman" pitchFamily="18" charset="0"/>
              </a:rPr>
              <a:t>1</a:t>
            </a:r>
            <a:r>
              <a:rPr lang="ru-RU" sz="2600" i="1" dirty="0">
                <a:latin typeface="Times New Roman" pitchFamily="18" charset="0"/>
                <a:cs typeface="Times New Roman" pitchFamily="18" charset="0"/>
              </a:rPr>
              <a:t> </a:t>
            </a:r>
            <a:r>
              <a:rPr lang="en-US" sz="2600" i="1" dirty="0">
                <a:latin typeface="Times New Roman" pitchFamily="18" charset="0"/>
                <a:cs typeface="Times New Roman" pitchFamily="18" charset="0"/>
              </a:rPr>
              <a:t>v</a:t>
            </a:r>
            <a:r>
              <a:rPr lang="ru-RU" sz="2600" i="1" baseline="-25000" dirty="0">
                <a:latin typeface="Times New Roman" pitchFamily="18" charset="0"/>
                <a:cs typeface="Times New Roman" pitchFamily="18" charset="0"/>
              </a:rPr>
              <a:t>2</a:t>
            </a:r>
            <a:r>
              <a:rPr lang="ru-RU" sz="2600" i="1" dirty="0">
                <a:latin typeface="Times New Roman" pitchFamily="18" charset="0"/>
                <a:cs typeface="Times New Roman" pitchFamily="18" charset="0"/>
              </a:rPr>
              <a:t>, </a:t>
            </a:r>
            <a:r>
              <a:rPr lang="ru-RU" sz="2600" dirty="0">
                <a:latin typeface="Times New Roman" pitchFamily="18" charset="0"/>
                <a:cs typeface="Times New Roman" pitchFamily="18" charset="0"/>
              </a:rPr>
              <a:t>..., </a:t>
            </a:r>
            <a:r>
              <a:rPr lang="en-US" sz="2600" i="1" dirty="0" err="1">
                <a:latin typeface="Times New Roman" pitchFamily="18" charset="0"/>
                <a:cs typeface="Times New Roman" pitchFamily="18" charset="0"/>
              </a:rPr>
              <a:t>v</a:t>
            </a:r>
            <a:r>
              <a:rPr lang="en-US" sz="2600" i="1" baseline="-25000" dirty="0" err="1">
                <a:latin typeface="Times New Roman" pitchFamily="18" charset="0"/>
                <a:cs typeface="Times New Roman" pitchFamily="18" charset="0"/>
              </a:rPr>
              <a:t>k</a:t>
            </a:r>
            <a:r>
              <a:rPr lang="ru-RU" sz="2600" i="1" dirty="0">
                <a:latin typeface="Times New Roman" pitchFamily="18" charset="0"/>
                <a:cs typeface="Times New Roman" pitchFamily="18" charset="0"/>
              </a:rPr>
              <a:t>), </a:t>
            </a:r>
            <a:r>
              <a:rPr lang="ru-RU" sz="2600" dirty="0">
                <a:latin typeface="Times New Roman" pitchFamily="18" charset="0"/>
                <a:cs typeface="Times New Roman" pitchFamily="18" charset="0"/>
              </a:rPr>
              <a:t>где </a:t>
            </a:r>
            <a:r>
              <a:rPr lang="en-US" sz="2600" b="1" i="1" dirty="0">
                <a:latin typeface="Times New Roman" pitchFamily="18" charset="0"/>
                <a:cs typeface="Times New Roman" pitchFamily="18" charset="0"/>
              </a:rPr>
              <a:t>v</a:t>
            </a:r>
            <a:r>
              <a:rPr lang="en-US" sz="2600" b="1" i="1" baseline="-25000" dirty="0">
                <a:latin typeface="Times New Roman" pitchFamily="18" charset="0"/>
                <a:cs typeface="Times New Roman" pitchFamily="18" charset="0"/>
              </a:rPr>
              <a:t>i</a:t>
            </a:r>
            <a:r>
              <a:rPr lang="en-US" sz="2600" i="1" dirty="0">
                <a:latin typeface="Times New Roman" pitchFamily="18" charset="0"/>
                <a:cs typeface="Times New Roman" pitchFamily="18" charset="0"/>
              </a:rPr>
              <a:t> </a:t>
            </a:r>
            <a:r>
              <a:rPr lang="ru-RU" sz="2600" dirty="0">
                <a:latin typeface="Times New Roman" pitchFamily="18" charset="0"/>
                <a:cs typeface="Times New Roman" pitchFamily="18" charset="0"/>
              </a:rPr>
              <a:t>есть значение поля </a:t>
            </a:r>
            <a:r>
              <a:rPr lang="en-US" sz="2600" b="1" i="1" dirty="0" err="1">
                <a:latin typeface="Times New Roman" pitchFamily="18" charset="0"/>
                <a:cs typeface="Times New Roman" pitchFamily="18" charset="0"/>
              </a:rPr>
              <a:t>F</a:t>
            </a:r>
            <a:r>
              <a:rPr lang="en-US" sz="2600" b="1" i="1" baseline="-25000" dirty="0" err="1">
                <a:latin typeface="Times New Roman" pitchFamily="18" charset="0"/>
                <a:cs typeface="Times New Roman" pitchFamily="18" charset="0"/>
              </a:rPr>
              <a:t>i</a:t>
            </a:r>
            <a:r>
              <a:rPr lang="en-US" sz="2600" i="1" dirty="0">
                <a:latin typeface="Times New Roman" pitchFamily="18" charset="0"/>
                <a:cs typeface="Times New Roman" pitchFamily="18" charset="0"/>
              </a:rPr>
              <a:t> </a:t>
            </a:r>
            <a:r>
              <a:rPr lang="ru-RU" sz="2600" i="1" dirty="0" smtClean="0">
                <a:latin typeface="Times New Roman" pitchFamily="18" charset="0"/>
                <a:cs typeface="Times New Roman" pitchFamily="18" charset="0"/>
              </a:rPr>
              <a:t>, </a:t>
            </a:r>
            <a:r>
              <a:rPr lang="ru-RU" sz="2600" dirty="0" smtClean="0">
                <a:latin typeface="Times New Roman" pitchFamily="18" charset="0"/>
                <a:cs typeface="Times New Roman" pitchFamily="18" charset="0"/>
              </a:rPr>
              <a:t>определяется </a:t>
            </a:r>
            <a:r>
              <a:rPr lang="ru-RU" sz="2600" dirty="0">
                <a:latin typeface="Times New Roman" pitchFamily="18" charset="0"/>
                <a:cs typeface="Times New Roman" pitchFamily="18" charset="0"/>
              </a:rPr>
              <a:t>путем вычисления </a:t>
            </a:r>
            <a:r>
              <a:rPr lang="en-US" sz="2600" i="1" dirty="0">
                <a:latin typeface="Times New Roman" pitchFamily="18" charset="0"/>
                <a:cs typeface="Times New Roman" pitchFamily="18" charset="0"/>
              </a:rPr>
              <a:t>h</a:t>
            </a:r>
            <a:r>
              <a:rPr lang="en-US" sz="2600" i="1" baseline="-25000" dirty="0">
                <a:latin typeface="Times New Roman" pitchFamily="18" charset="0"/>
                <a:cs typeface="Times New Roman" pitchFamily="18" charset="0"/>
              </a:rPr>
              <a:t>i</a:t>
            </a:r>
            <a:r>
              <a:rPr lang="ru-RU" sz="2600" i="1" dirty="0">
                <a:latin typeface="Times New Roman" pitchFamily="18" charset="0"/>
                <a:cs typeface="Times New Roman" pitchFamily="18" charset="0"/>
              </a:rPr>
              <a:t> (</a:t>
            </a:r>
            <a:r>
              <a:rPr lang="en-US" sz="2600" i="1" dirty="0">
                <a:latin typeface="Times New Roman" pitchFamily="18" charset="0"/>
                <a:cs typeface="Times New Roman" pitchFamily="18" charset="0"/>
              </a:rPr>
              <a:t>v</a:t>
            </a:r>
            <a:r>
              <a:rPr lang="en-US" sz="2600" i="1" baseline="-25000" dirty="0">
                <a:latin typeface="Times New Roman" pitchFamily="18" charset="0"/>
                <a:cs typeface="Times New Roman" pitchFamily="18" charset="0"/>
              </a:rPr>
              <a:t>i</a:t>
            </a:r>
            <a:r>
              <a:rPr lang="ru-RU" sz="2600" i="1" dirty="0">
                <a:latin typeface="Times New Roman" pitchFamily="18" charset="0"/>
                <a:cs typeface="Times New Roman" pitchFamily="18" charset="0"/>
              </a:rPr>
              <a:t>) </a:t>
            </a:r>
            <a:r>
              <a:rPr lang="ru-RU" sz="2600" dirty="0">
                <a:latin typeface="Times New Roman" pitchFamily="18" charset="0"/>
                <a:cs typeface="Times New Roman" pitchFamily="18" charset="0"/>
              </a:rPr>
              <a:t>для </a:t>
            </a:r>
            <a:r>
              <a:rPr lang="en-US" sz="2600" i="1" dirty="0" err="1">
                <a:latin typeface="Times New Roman" pitchFamily="18" charset="0"/>
                <a:cs typeface="Times New Roman" pitchFamily="18" charset="0"/>
              </a:rPr>
              <a:t>i</a:t>
            </a:r>
            <a:r>
              <a:rPr lang="ru-RU" sz="2600" i="1" dirty="0">
                <a:latin typeface="Times New Roman" pitchFamily="18" charset="0"/>
                <a:cs typeface="Times New Roman" pitchFamily="18" charset="0"/>
              </a:rPr>
              <a:t> = 1,2,</a:t>
            </a:r>
            <a:r>
              <a:rPr lang="ru-RU" sz="2600" dirty="0">
                <a:latin typeface="Times New Roman" pitchFamily="18" charset="0"/>
                <a:cs typeface="Times New Roman" pitchFamily="18" charset="0"/>
              </a:rPr>
              <a:t> ..., </a:t>
            </a:r>
            <a:r>
              <a:rPr lang="en-US" sz="2600" i="1" dirty="0">
                <a:latin typeface="Times New Roman" pitchFamily="18" charset="0"/>
                <a:cs typeface="Times New Roman" pitchFamily="18" charset="0"/>
              </a:rPr>
              <a:t>k</a:t>
            </a:r>
            <a:r>
              <a:rPr lang="ru-RU" sz="2600" i="1" dirty="0">
                <a:latin typeface="Times New Roman" pitchFamily="18" charset="0"/>
                <a:cs typeface="Times New Roman" pitchFamily="18" charset="0"/>
              </a:rPr>
              <a:t>. </a:t>
            </a:r>
            <a:endParaRPr lang="en-US" sz="2600" i="1" dirty="0" smtClean="0">
              <a:latin typeface="Times New Roman" pitchFamily="18" charset="0"/>
              <a:cs typeface="Times New Roman" pitchFamily="18" charset="0"/>
            </a:endParaRPr>
          </a:p>
          <a:p>
            <a:pPr marL="0" indent="342900">
              <a:lnSpc>
                <a:spcPct val="110000"/>
              </a:lnSpc>
              <a:spcBef>
                <a:spcPts val="0"/>
              </a:spcBef>
              <a:buNone/>
            </a:pPr>
            <a:r>
              <a:rPr lang="ru-RU" sz="2600" dirty="0" smtClean="0">
                <a:latin typeface="Times New Roman" pitchFamily="18" charset="0"/>
                <a:cs typeface="Times New Roman" pitchFamily="18" charset="0"/>
              </a:rPr>
              <a:t>Здесь </a:t>
            </a:r>
            <a:r>
              <a:rPr lang="en-US" sz="2600" i="1" dirty="0">
                <a:latin typeface="Times New Roman" pitchFamily="18" charset="0"/>
                <a:cs typeface="Times New Roman" pitchFamily="18" charset="0"/>
              </a:rPr>
              <a:t>h</a:t>
            </a:r>
            <a:r>
              <a:rPr lang="en-US" sz="2600" i="1" baseline="-25000" dirty="0">
                <a:latin typeface="Times New Roman" pitchFamily="18" charset="0"/>
                <a:cs typeface="Times New Roman" pitchFamily="18" charset="0"/>
              </a:rPr>
              <a:t>i</a:t>
            </a:r>
            <a:r>
              <a:rPr lang="en-US" sz="2600" i="1" dirty="0">
                <a:latin typeface="Times New Roman" pitchFamily="18" charset="0"/>
                <a:cs typeface="Times New Roman" pitchFamily="18" charset="0"/>
              </a:rPr>
              <a:t> </a:t>
            </a:r>
            <a:r>
              <a:rPr lang="ru-RU" sz="2600" dirty="0">
                <a:latin typeface="Times New Roman" pitchFamily="18" charset="0"/>
                <a:cs typeface="Times New Roman" pitchFamily="18" charset="0"/>
              </a:rPr>
              <a:t>— функция </a:t>
            </a:r>
            <a:r>
              <a:rPr lang="ru-RU" sz="2600" dirty="0" smtClean="0">
                <a:latin typeface="Times New Roman" pitchFamily="18" charset="0"/>
                <a:cs typeface="Times New Roman" pitchFamily="18" charset="0"/>
              </a:rPr>
              <a:t>хеширования </a:t>
            </a:r>
            <a:r>
              <a:rPr lang="ru-RU" sz="2600" dirty="0">
                <a:latin typeface="Times New Roman" pitchFamily="18" charset="0"/>
                <a:cs typeface="Times New Roman" pitchFamily="18" charset="0"/>
              </a:rPr>
              <a:t>для значений поля </a:t>
            </a:r>
            <a:r>
              <a:rPr lang="en-US" sz="2600" i="1" dirty="0" err="1">
                <a:latin typeface="Times New Roman" pitchFamily="18" charset="0"/>
                <a:cs typeface="Times New Roman" pitchFamily="18" charset="0"/>
              </a:rPr>
              <a:t>F</a:t>
            </a:r>
            <a:r>
              <a:rPr lang="en-US" sz="2600" i="1" baseline="-25000" dirty="0" err="1">
                <a:latin typeface="Times New Roman" pitchFamily="18" charset="0"/>
                <a:cs typeface="Times New Roman" pitchFamily="18" charset="0"/>
              </a:rPr>
              <a:t>i</a:t>
            </a:r>
            <a:r>
              <a:rPr lang="en-US" sz="2600" i="1" dirty="0">
                <a:latin typeface="Times New Roman" pitchFamily="18" charset="0"/>
                <a:cs typeface="Times New Roman" pitchFamily="18" charset="0"/>
              </a:rPr>
              <a:t> </a:t>
            </a:r>
            <a:r>
              <a:rPr lang="ru-RU" sz="2600" i="1" dirty="0" smtClean="0">
                <a:latin typeface="Times New Roman" pitchFamily="18" charset="0"/>
                <a:cs typeface="Times New Roman" pitchFamily="18" charset="0"/>
              </a:rPr>
              <a:t>, </a:t>
            </a:r>
            <a:r>
              <a:rPr lang="ru-RU" sz="2600" dirty="0" smtClean="0">
                <a:latin typeface="Times New Roman" pitchFamily="18" charset="0"/>
                <a:cs typeface="Times New Roman" pitchFamily="18" charset="0"/>
              </a:rPr>
              <a:t>а </a:t>
            </a:r>
            <a:r>
              <a:rPr lang="ru-RU" sz="2600" dirty="0">
                <a:latin typeface="Times New Roman" pitchFamily="18" charset="0"/>
                <a:cs typeface="Times New Roman" pitchFamily="18" charset="0"/>
              </a:rPr>
              <a:t>значение, продуцируемое </a:t>
            </a:r>
            <a:r>
              <a:rPr lang="en-US" sz="2600" i="1" dirty="0">
                <a:latin typeface="Times New Roman" pitchFamily="18" charset="0"/>
                <a:cs typeface="Times New Roman" pitchFamily="18" charset="0"/>
              </a:rPr>
              <a:t>h</a:t>
            </a:r>
            <a:r>
              <a:rPr lang="en-US" sz="2600" i="1" baseline="-25000" dirty="0">
                <a:latin typeface="Times New Roman" pitchFamily="18" charset="0"/>
                <a:cs typeface="Times New Roman" pitchFamily="18" charset="0"/>
              </a:rPr>
              <a:t>i </a:t>
            </a:r>
            <a:r>
              <a:rPr lang="ru-RU" sz="2600" i="1" baseline="-25000" dirty="0" smtClean="0">
                <a:latin typeface="Times New Roman" pitchFamily="18" charset="0"/>
                <a:cs typeface="Times New Roman" pitchFamily="18" charset="0"/>
              </a:rPr>
              <a:t> </a:t>
            </a:r>
            <a:r>
              <a:rPr lang="ru-RU" sz="2600" dirty="0" smtClean="0">
                <a:latin typeface="Times New Roman" pitchFamily="18" charset="0"/>
                <a:cs typeface="Times New Roman" pitchFamily="18" charset="0"/>
              </a:rPr>
              <a:t>является </a:t>
            </a:r>
            <a:r>
              <a:rPr lang="ru-RU" sz="2600" dirty="0">
                <a:latin typeface="Times New Roman" pitchFamily="18" charset="0"/>
                <a:cs typeface="Times New Roman" pitchFamily="18" charset="0"/>
              </a:rPr>
              <a:t>целым числом, </a:t>
            </a:r>
            <a:r>
              <a:rPr lang="ru-RU" sz="2600" dirty="0" smtClean="0">
                <a:latin typeface="Times New Roman" pitchFamily="18" charset="0"/>
                <a:cs typeface="Times New Roman" pitchFamily="18" charset="0"/>
              </a:rPr>
              <a:t>принадлежащим </a:t>
            </a:r>
            <a:r>
              <a:rPr lang="ru-RU" sz="2600" dirty="0">
                <a:latin typeface="Times New Roman" pitchFamily="18" charset="0"/>
                <a:cs typeface="Times New Roman" pitchFamily="18" charset="0"/>
              </a:rPr>
              <a:t>диапазону от </a:t>
            </a:r>
            <a:r>
              <a:rPr lang="ru-RU" sz="2600" dirty="0" smtClean="0">
                <a:latin typeface="Times New Roman" pitchFamily="18" charset="0"/>
                <a:cs typeface="Times New Roman" pitchFamily="18" charset="0"/>
              </a:rPr>
              <a:t>0 </a:t>
            </a:r>
            <a:r>
              <a:rPr lang="ru-RU" sz="2600" dirty="0">
                <a:latin typeface="Times New Roman" pitchFamily="18" charset="0"/>
                <a:cs typeface="Times New Roman" pitchFamily="18" charset="0"/>
              </a:rPr>
              <a:t>до </a:t>
            </a:r>
            <a:r>
              <a:rPr lang="ru-RU" sz="2600" i="1" dirty="0">
                <a:latin typeface="Times New Roman" pitchFamily="18" charset="0"/>
                <a:cs typeface="Times New Roman" pitchFamily="18" charset="0"/>
              </a:rPr>
              <a:t>2</a:t>
            </a:r>
            <a:r>
              <a:rPr lang="en-US" sz="2600" i="1" baseline="30000" dirty="0">
                <a:latin typeface="Times New Roman" pitchFamily="18" charset="0"/>
                <a:cs typeface="Times New Roman" pitchFamily="18" charset="0"/>
              </a:rPr>
              <a:t>b</a:t>
            </a:r>
            <a:r>
              <a:rPr lang="en-US" sz="2600" i="1" baseline="15000" dirty="0">
                <a:latin typeface="Times New Roman" pitchFamily="18" charset="0"/>
                <a:cs typeface="Times New Roman" pitchFamily="18" charset="0"/>
              </a:rPr>
              <a:t>i</a:t>
            </a:r>
            <a:r>
              <a:rPr lang="en-US" sz="2600" i="1" dirty="0">
                <a:latin typeface="Times New Roman" pitchFamily="18" charset="0"/>
                <a:cs typeface="Times New Roman" pitchFamily="18" charset="0"/>
              </a:rPr>
              <a:t> </a:t>
            </a:r>
            <a:r>
              <a:rPr lang="ru-RU" sz="2600" dirty="0" smtClean="0">
                <a:latin typeface="Times New Roman" pitchFamily="18" charset="0"/>
                <a:cs typeface="Times New Roman" pitchFamily="18" charset="0"/>
              </a:rPr>
              <a:t>-1. </a:t>
            </a:r>
          </a:p>
          <a:p>
            <a:pPr marL="0" indent="342900">
              <a:lnSpc>
                <a:spcPct val="110000"/>
              </a:lnSpc>
              <a:spcBef>
                <a:spcPts val="0"/>
              </a:spcBef>
              <a:buNone/>
            </a:pPr>
            <a:r>
              <a:rPr lang="ru-RU" sz="2400" dirty="0" smtClean="0">
                <a:latin typeface="Times New Roman" pitchFamily="18" charset="0"/>
                <a:cs typeface="Times New Roman" pitchFamily="18" charset="0"/>
              </a:rPr>
              <a:t>Таким образом, значение </a:t>
            </a:r>
            <a:r>
              <a:rPr lang="en-US" sz="2400" i="1" dirty="0" smtClean="0">
                <a:latin typeface="Times New Roman" pitchFamily="18" charset="0"/>
                <a:cs typeface="Times New Roman" pitchFamily="18" charset="0"/>
              </a:rPr>
              <a:t>h</a:t>
            </a:r>
            <a:r>
              <a:rPr lang="en-US" sz="2400" i="1" baseline="-25000" dirty="0" smtClean="0">
                <a:latin typeface="Times New Roman" pitchFamily="18" charset="0"/>
                <a:cs typeface="Times New Roman" pitchFamily="18" charset="0"/>
              </a:rPr>
              <a:t>i</a:t>
            </a:r>
            <a:r>
              <a:rPr lang="ru-RU" sz="2400" i="1"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v</a:t>
            </a:r>
            <a:r>
              <a:rPr lang="en-US" sz="2400" i="1" baseline="-25000" dirty="0" smtClean="0">
                <a:latin typeface="Times New Roman" pitchFamily="18" charset="0"/>
                <a:cs typeface="Times New Roman" pitchFamily="18" charset="0"/>
              </a:rPr>
              <a:t>i</a:t>
            </a:r>
            <a:r>
              <a:rPr lang="ru-RU" sz="2400" i="1"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представляет собой последовательность </a:t>
            </a:r>
            <a:r>
              <a:rPr lang="en-US" sz="2400" i="1" dirty="0" smtClean="0">
                <a:latin typeface="Times New Roman" pitchFamily="18" charset="0"/>
                <a:cs typeface="Times New Roman" pitchFamily="18" charset="0"/>
              </a:rPr>
              <a:t>b</a:t>
            </a:r>
            <a:r>
              <a:rPr lang="en-US" sz="2400" i="1" baseline="-25000" dirty="0" smtClean="0">
                <a:latin typeface="Times New Roman" pitchFamily="18" charset="0"/>
                <a:cs typeface="Times New Roman" pitchFamily="18" charset="0"/>
              </a:rPr>
              <a:t>i</a:t>
            </a:r>
            <a:r>
              <a:rPr lang="en-US" sz="2400" i="1"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бит.</a:t>
            </a:r>
          </a:p>
          <a:p>
            <a:pPr marL="0" indent="342900">
              <a:lnSpc>
                <a:spcPct val="110000"/>
              </a:lnSpc>
              <a:spcBef>
                <a:spcPts val="0"/>
              </a:spcBef>
              <a:buNone/>
            </a:pPr>
            <a:r>
              <a:rPr lang="ru-RU" sz="2400" dirty="0" smtClean="0">
                <a:latin typeface="Times New Roman" pitchFamily="18" charset="0"/>
                <a:cs typeface="Times New Roman" pitchFamily="18" charset="0"/>
              </a:rPr>
              <a:t>В качестве логического адреса участка для записи </a:t>
            </a:r>
            <a:r>
              <a:rPr lang="ru-RU" sz="2400" i="1"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v</a:t>
            </a:r>
            <a:r>
              <a:rPr lang="ru-RU" sz="2400" i="1" baseline="-25000" dirty="0" smtClean="0">
                <a:latin typeface="Times New Roman" pitchFamily="18" charset="0"/>
                <a:cs typeface="Times New Roman" pitchFamily="18" charset="0"/>
              </a:rPr>
              <a:t>1</a:t>
            </a:r>
            <a:r>
              <a:rPr lang="ru-RU" sz="2400" i="1"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v</a:t>
            </a:r>
            <a:r>
              <a:rPr lang="ru-RU" sz="2400" i="1" baseline="-25000" dirty="0" smtClean="0">
                <a:latin typeface="Times New Roman" pitchFamily="18" charset="0"/>
                <a:cs typeface="Times New Roman" pitchFamily="18" charset="0"/>
              </a:rPr>
              <a:t>2</a:t>
            </a:r>
            <a:r>
              <a:rPr lang="ru-RU" sz="2400" i="1"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 </a:t>
            </a:r>
            <a:r>
              <a:rPr lang="en-US" sz="2400" i="1" dirty="0" err="1" smtClean="0">
                <a:latin typeface="Times New Roman" pitchFamily="18" charset="0"/>
                <a:cs typeface="Times New Roman" pitchFamily="18" charset="0"/>
              </a:rPr>
              <a:t>v</a:t>
            </a:r>
            <a:r>
              <a:rPr lang="en-US" sz="2400" i="1" baseline="-25000" dirty="0" err="1" smtClean="0">
                <a:latin typeface="Times New Roman" pitchFamily="18" charset="0"/>
                <a:cs typeface="Times New Roman" pitchFamily="18" charset="0"/>
              </a:rPr>
              <a:t>k</a:t>
            </a:r>
            <a:r>
              <a:rPr lang="ru-RU" sz="2400" i="1"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принимается последовательность </a:t>
            </a:r>
            <a:r>
              <a:rPr lang="ru-RU" sz="2400" b="1" i="1" dirty="0" smtClean="0">
                <a:latin typeface="Times New Roman" pitchFamily="18" charset="0"/>
                <a:cs typeface="Times New Roman" pitchFamily="18" charset="0"/>
              </a:rPr>
              <a:t>В</a:t>
            </a:r>
            <a:r>
              <a:rPr lang="ru-RU" sz="2400" i="1"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бит </a:t>
            </a:r>
            <a:r>
              <a:rPr lang="en-US" sz="2400" b="1" i="1" dirty="0" smtClean="0">
                <a:latin typeface="Times New Roman" pitchFamily="18" charset="0"/>
                <a:cs typeface="Times New Roman" pitchFamily="18" charset="0"/>
              </a:rPr>
              <a:t>h</a:t>
            </a:r>
            <a:r>
              <a:rPr lang="ru-RU" sz="2400" b="1" i="1" baseline="-25000" dirty="0" smtClean="0">
                <a:latin typeface="Times New Roman" pitchFamily="18" charset="0"/>
                <a:cs typeface="Times New Roman" pitchFamily="18" charset="0"/>
              </a:rPr>
              <a:t>1</a:t>
            </a:r>
            <a:r>
              <a:rPr lang="ru-RU" sz="2400" b="1" i="1" dirty="0" smtClean="0">
                <a:latin typeface="Times New Roman" pitchFamily="18" charset="0"/>
                <a:cs typeface="Times New Roman" pitchFamily="18" charset="0"/>
              </a:rPr>
              <a:t>(</a:t>
            </a:r>
            <a:r>
              <a:rPr lang="en-US" sz="2400" b="1" i="1" dirty="0" smtClean="0">
                <a:latin typeface="Times New Roman" pitchFamily="18" charset="0"/>
                <a:cs typeface="Times New Roman" pitchFamily="18" charset="0"/>
              </a:rPr>
              <a:t>v</a:t>
            </a:r>
            <a:r>
              <a:rPr lang="ru-RU" sz="2400" b="1" i="1" baseline="-25000" dirty="0" smtClean="0">
                <a:latin typeface="Times New Roman" pitchFamily="18" charset="0"/>
                <a:cs typeface="Times New Roman" pitchFamily="18" charset="0"/>
              </a:rPr>
              <a:t>1</a:t>
            </a:r>
            <a:r>
              <a:rPr lang="ru-RU" sz="2400" b="1" i="1" dirty="0" smtClean="0">
                <a:latin typeface="Times New Roman" pitchFamily="18" charset="0"/>
                <a:cs typeface="Times New Roman" pitchFamily="18" charset="0"/>
              </a:rPr>
              <a:t>)</a:t>
            </a:r>
            <a:r>
              <a:rPr lang="en-US" sz="2400" b="1" i="1" dirty="0" smtClean="0">
                <a:latin typeface="Times New Roman" pitchFamily="18" charset="0"/>
                <a:cs typeface="Times New Roman" pitchFamily="18" charset="0"/>
              </a:rPr>
              <a:t>h</a:t>
            </a:r>
            <a:r>
              <a:rPr lang="ru-RU" sz="2400" b="1" i="1" baseline="-25000" dirty="0" smtClean="0">
                <a:latin typeface="Times New Roman" pitchFamily="18" charset="0"/>
                <a:cs typeface="Times New Roman" pitchFamily="18" charset="0"/>
              </a:rPr>
              <a:t>2</a:t>
            </a:r>
            <a:r>
              <a:rPr lang="ru-RU" sz="2400" b="1" i="1" dirty="0" smtClean="0">
                <a:latin typeface="Times New Roman" pitchFamily="18" charset="0"/>
                <a:cs typeface="Times New Roman" pitchFamily="18" charset="0"/>
              </a:rPr>
              <a:t>(</a:t>
            </a:r>
            <a:r>
              <a:rPr lang="en-US" sz="2400" b="1" i="1" dirty="0" smtClean="0">
                <a:latin typeface="Times New Roman" pitchFamily="18" charset="0"/>
                <a:cs typeface="Times New Roman" pitchFamily="18" charset="0"/>
              </a:rPr>
              <a:t>v</a:t>
            </a:r>
            <a:r>
              <a:rPr lang="ru-RU" sz="2400" b="1" i="1" baseline="-25000" dirty="0" smtClean="0">
                <a:latin typeface="Times New Roman" pitchFamily="18" charset="0"/>
                <a:cs typeface="Times New Roman" pitchFamily="18" charset="0"/>
              </a:rPr>
              <a:t>2</a:t>
            </a:r>
            <a:r>
              <a:rPr lang="ru-RU" sz="2400" b="1" i="1" dirty="0" smtClean="0">
                <a:latin typeface="Times New Roman" pitchFamily="18" charset="0"/>
                <a:cs typeface="Times New Roman" pitchFamily="18" charset="0"/>
              </a:rPr>
              <a:t>) ...</a:t>
            </a:r>
            <a:r>
              <a:rPr lang="en-US" sz="2400" b="1" i="1" dirty="0" err="1" smtClean="0">
                <a:latin typeface="Times New Roman" pitchFamily="18" charset="0"/>
                <a:cs typeface="Times New Roman" pitchFamily="18" charset="0"/>
              </a:rPr>
              <a:t>h</a:t>
            </a:r>
            <a:r>
              <a:rPr lang="en-US" sz="2400" b="1" i="1" baseline="-25000" dirty="0" err="1" smtClean="0">
                <a:latin typeface="Times New Roman" pitchFamily="18" charset="0"/>
                <a:cs typeface="Times New Roman" pitchFamily="18" charset="0"/>
              </a:rPr>
              <a:t>k</a:t>
            </a:r>
            <a:r>
              <a:rPr lang="ru-RU" sz="2400" b="1" i="1" dirty="0" smtClean="0">
                <a:latin typeface="Times New Roman" pitchFamily="18" charset="0"/>
                <a:cs typeface="Times New Roman" pitchFamily="18" charset="0"/>
              </a:rPr>
              <a:t>(</a:t>
            </a:r>
            <a:r>
              <a:rPr lang="en-US" sz="2400" b="1" i="1" dirty="0" err="1" smtClean="0">
                <a:latin typeface="Times New Roman" pitchFamily="18" charset="0"/>
                <a:cs typeface="Times New Roman" pitchFamily="18" charset="0"/>
              </a:rPr>
              <a:t>v</a:t>
            </a:r>
            <a:r>
              <a:rPr lang="en-US" sz="2400" b="1" i="1" baseline="-25000" dirty="0" err="1" smtClean="0">
                <a:latin typeface="Times New Roman" pitchFamily="18" charset="0"/>
                <a:cs typeface="Times New Roman" pitchFamily="18" charset="0"/>
              </a:rPr>
              <a:t>k</a:t>
            </a:r>
            <a:r>
              <a:rPr lang="ru-RU" sz="2400" b="1" i="1" dirty="0" smtClean="0">
                <a:latin typeface="Times New Roman" pitchFamily="18" charset="0"/>
                <a:cs typeface="Times New Roman" pitchFamily="18" charset="0"/>
              </a:rPr>
              <a:t>).</a:t>
            </a:r>
            <a:endParaRPr lang="ru-RU" sz="2400" b="1" dirty="0">
              <a:latin typeface="Times New Roman" pitchFamily="18" charset="0"/>
              <a:cs typeface="Times New Roman" pitchFamily="18" charset="0"/>
            </a:endParaRPr>
          </a:p>
          <a:p>
            <a:pPr>
              <a:lnSpc>
                <a:spcPct val="110000"/>
              </a:lnSpc>
            </a:pPr>
            <a:endParaRPr lang="ru-RU" sz="2400" dirty="0">
              <a:latin typeface="Times New Roman" pitchFamily="18" charset="0"/>
              <a:cs typeface="Times New Roman" pitchFamily="18" charset="0"/>
            </a:endParaRPr>
          </a:p>
        </p:txBody>
      </p:sp>
      <p:sp>
        <p:nvSpPr>
          <p:cNvPr id="5" name="Номер слайда 4"/>
          <p:cNvSpPr>
            <a:spLocks noGrp="1"/>
          </p:cNvSpPr>
          <p:nvPr>
            <p:ph type="sldNum" sz="quarter" idx="11"/>
          </p:nvPr>
        </p:nvSpPr>
        <p:spPr>
          <a:xfrm>
            <a:off x="8083550" y="6248400"/>
            <a:ext cx="603250" cy="381000"/>
          </a:xfrm>
        </p:spPr>
        <p:txBody>
          <a:bodyPr/>
          <a:lstStyle/>
          <a:p>
            <a:pPr>
              <a:defRPr/>
            </a:pPr>
            <a:fld id="{460CD48F-9E11-40D4-8CAB-15E06A1AF6CB}" type="slidenum">
              <a:rPr lang="ru-RU" smtClean="0"/>
              <a:pPr>
                <a:defRPr/>
              </a:pPr>
              <a:t>17</a:t>
            </a:fld>
            <a:endParaRPr lang="ru-RU" dirty="0"/>
          </a:p>
        </p:txBody>
      </p:sp>
      <p:sp>
        <p:nvSpPr>
          <p:cNvPr id="6" name="Заголовок 1"/>
          <p:cNvSpPr>
            <a:spLocks noGrp="1"/>
          </p:cNvSpPr>
          <p:nvPr>
            <p:ph type="title"/>
          </p:nvPr>
        </p:nvSpPr>
        <p:spPr>
          <a:xfrm>
            <a:off x="457200" y="184150"/>
            <a:ext cx="8229600" cy="685800"/>
          </a:xfrm>
        </p:spPr>
        <p:txBody>
          <a:bodyPr/>
          <a:lstStyle/>
          <a:p>
            <a:pPr algn="ctr"/>
            <a:r>
              <a:rPr lang="ru-RU" sz="3200" dirty="0" smtClean="0">
                <a:solidFill>
                  <a:schemeClr val="bg2"/>
                </a:solidFill>
              </a:rPr>
              <a:t>Функции раздельного хеширования (2)</a:t>
            </a:r>
            <a:endParaRPr lang="ru-RU" sz="3200" dirty="0" smtClean="0"/>
          </a:p>
        </p:txBody>
      </p:sp>
    </p:spTree>
    <p:extLst>
      <p:ext uri="{BB962C8B-B14F-4D97-AF65-F5344CB8AC3E}">
        <p14:creationId xmlns:p14="http://schemas.microsoft.com/office/powerpoint/2010/main" val="35102676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82600" y="0"/>
            <a:ext cx="8229600" cy="527050"/>
          </a:xfrm>
        </p:spPr>
        <p:txBody>
          <a:bodyPr/>
          <a:lstStyle/>
          <a:p>
            <a:pPr algn="ctr"/>
            <a:r>
              <a:rPr lang="ru-RU" sz="3600" dirty="0" smtClean="0">
                <a:solidFill>
                  <a:schemeClr val="bg2"/>
                </a:solidFill>
              </a:rPr>
              <a:t>Пример</a:t>
            </a:r>
            <a:endParaRPr lang="ru-RU" sz="3600" dirty="0">
              <a:solidFill>
                <a:schemeClr val="bg2"/>
              </a:solidFill>
            </a:endParaRPr>
          </a:p>
        </p:txBody>
      </p:sp>
      <p:sp>
        <p:nvSpPr>
          <p:cNvPr id="3" name="Объект 2"/>
          <p:cNvSpPr>
            <a:spLocks noGrp="1"/>
          </p:cNvSpPr>
          <p:nvPr>
            <p:ph idx="1"/>
          </p:nvPr>
        </p:nvSpPr>
        <p:spPr>
          <a:xfrm>
            <a:off x="246348" y="539750"/>
            <a:ext cx="8592852" cy="6140450"/>
          </a:xfrm>
        </p:spPr>
        <p:txBody>
          <a:bodyPr>
            <a:normAutofit fontScale="92500"/>
          </a:bodyPr>
          <a:lstStyle/>
          <a:p>
            <a:pPr marL="0">
              <a:spcBef>
                <a:spcPts val="0"/>
              </a:spcBef>
              <a:buNone/>
            </a:pPr>
            <a:r>
              <a:rPr lang="ru-RU" sz="2000" dirty="0" smtClean="0">
                <a:latin typeface="Times New Roman" pitchFamily="18" charset="0"/>
                <a:cs typeface="Times New Roman" pitchFamily="18" charset="0"/>
              </a:rPr>
              <a:t>Пусть запись с 3-мя полями:</a:t>
            </a:r>
            <a:endParaRPr lang="ru-RU" sz="2000" dirty="0">
              <a:latin typeface="Times New Roman" pitchFamily="18" charset="0"/>
              <a:cs typeface="Times New Roman" pitchFamily="18" charset="0"/>
            </a:endParaRPr>
          </a:p>
          <a:p>
            <a:pPr marL="400050" lvl="2">
              <a:spcBef>
                <a:spcPts val="0"/>
              </a:spcBef>
              <a:buNone/>
            </a:pPr>
            <a:r>
              <a:rPr lang="ru-RU" sz="1600" dirty="0" smtClean="0">
                <a:latin typeface="Times New Roman" pitchFamily="18" charset="0"/>
                <a:cs typeface="Times New Roman" pitchFamily="18" charset="0"/>
              </a:rPr>
              <a:t>НОМЕР_СЛУЖАЩЕГО	</a:t>
            </a:r>
            <a:r>
              <a:rPr lang="en-US" sz="1600" dirty="0" smtClean="0">
                <a:latin typeface="Times New Roman" pitchFamily="18" charset="0"/>
                <a:cs typeface="Times New Roman" pitchFamily="18" charset="0"/>
              </a:rPr>
              <a:t>INT</a:t>
            </a:r>
            <a:r>
              <a:rPr lang="ru-RU" sz="1600" dirty="0" smtClean="0">
                <a:latin typeface="Times New Roman" pitchFamily="18" charset="0"/>
                <a:cs typeface="Times New Roman" pitchFamily="18" charset="0"/>
              </a:rPr>
              <a:t> </a:t>
            </a:r>
            <a:r>
              <a:rPr lang="ru-RU" sz="1600" dirty="0">
                <a:latin typeface="Times New Roman" pitchFamily="18" charset="0"/>
                <a:cs typeface="Times New Roman" pitchFamily="18" charset="0"/>
              </a:rPr>
              <a:t>(5) </a:t>
            </a:r>
          </a:p>
          <a:p>
            <a:pPr marL="400050" lvl="2">
              <a:spcBef>
                <a:spcPts val="0"/>
              </a:spcBef>
              <a:buNone/>
            </a:pPr>
            <a:r>
              <a:rPr lang="ru-RU" sz="1600" dirty="0">
                <a:latin typeface="Times New Roman" pitchFamily="18" charset="0"/>
                <a:cs typeface="Times New Roman" pitchFamily="18" charset="0"/>
              </a:rPr>
              <a:t>НОМЕР_СБ 		</a:t>
            </a:r>
            <a:r>
              <a:rPr lang="en-US" sz="1600" dirty="0" smtClean="0">
                <a:latin typeface="Times New Roman" pitchFamily="18" charset="0"/>
                <a:cs typeface="Times New Roman" pitchFamily="18" charset="0"/>
              </a:rPr>
              <a:t>INT</a:t>
            </a:r>
            <a:r>
              <a:rPr lang="ru-RU" sz="1600" dirty="0" smtClean="0">
                <a:latin typeface="Times New Roman" pitchFamily="18" charset="0"/>
                <a:cs typeface="Times New Roman" pitchFamily="18" charset="0"/>
              </a:rPr>
              <a:t> </a:t>
            </a:r>
            <a:r>
              <a:rPr lang="ru-RU" sz="1600" dirty="0">
                <a:latin typeface="Times New Roman" pitchFamily="18" charset="0"/>
                <a:cs typeface="Times New Roman" pitchFamily="18" charset="0"/>
              </a:rPr>
              <a:t>(9)  </a:t>
            </a:r>
            <a:r>
              <a:rPr lang="ru-RU" sz="1600" dirty="0" smtClean="0">
                <a:latin typeface="Times New Roman" pitchFamily="18" charset="0"/>
                <a:cs typeface="Times New Roman" pitchFamily="18" charset="0"/>
              </a:rPr>
              <a:t>/* </a:t>
            </a:r>
            <a:r>
              <a:rPr lang="ru-RU" sz="1600" dirty="0">
                <a:latin typeface="Times New Roman" pitchFamily="18" charset="0"/>
                <a:cs typeface="Times New Roman" pitchFamily="18" charset="0"/>
              </a:rPr>
              <a:t>Номер </a:t>
            </a:r>
            <a:r>
              <a:rPr lang="ru-RU" sz="1600" dirty="0" smtClean="0">
                <a:latin typeface="Times New Roman" pitchFamily="18" charset="0"/>
                <a:cs typeface="Times New Roman" pitchFamily="18" charset="0"/>
              </a:rPr>
              <a:t>социальной безопасности  </a:t>
            </a:r>
            <a:r>
              <a:rPr lang="ru-RU" sz="1600" dirty="0">
                <a:latin typeface="Times New Roman" pitchFamily="18" charset="0"/>
                <a:cs typeface="Times New Roman" pitchFamily="18" charset="0"/>
              </a:rPr>
              <a:t>*/ </a:t>
            </a:r>
          </a:p>
          <a:p>
            <a:pPr marL="400050" lvl="2">
              <a:spcBef>
                <a:spcPts val="0"/>
              </a:spcBef>
              <a:buNone/>
            </a:pPr>
            <a:r>
              <a:rPr lang="ru-RU" sz="1600" dirty="0" smtClean="0">
                <a:latin typeface="Times New Roman" pitchFamily="18" charset="0"/>
                <a:cs typeface="Times New Roman" pitchFamily="18" charset="0"/>
              </a:rPr>
              <a:t>ОТДЕЛ			</a:t>
            </a:r>
            <a:r>
              <a:rPr lang="en-US" sz="1600" dirty="0" smtClean="0">
                <a:latin typeface="Times New Roman" pitchFamily="18" charset="0"/>
                <a:cs typeface="Times New Roman" pitchFamily="18" charset="0"/>
              </a:rPr>
              <a:t>CHAR</a:t>
            </a:r>
            <a:r>
              <a:rPr lang="ru-RU" sz="1600" dirty="0" smtClean="0">
                <a:latin typeface="Times New Roman" pitchFamily="18" charset="0"/>
                <a:cs typeface="Times New Roman" pitchFamily="18" charset="0"/>
              </a:rPr>
              <a:t>  </a:t>
            </a:r>
            <a:r>
              <a:rPr lang="ru-RU" sz="1600" dirty="0">
                <a:latin typeface="Times New Roman" pitchFamily="18" charset="0"/>
                <a:cs typeface="Times New Roman" pitchFamily="18" charset="0"/>
              </a:rPr>
              <a:t>(10)</a:t>
            </a:r>
          </a:p>
          <a:p>
            <a:pPr marL="0" indent="0">
              <a:spcBef>
                <a:spcPts val="0"/>
              </a:spcBef>
              <a:buNone/>
            </a:pPr>
            <a:r>
              <a:rPr lang="ru-RU" sz="2000" dirty="0" smtClean="0">
                <a:latin typeface="Times New Roman" pitchFamily="18" charset="0"/>
                <a:cs typeface="Times New Roman" pitchFamily="18" charset="0"/>
              </a:rPr>
              <a:t>необходимо хранить в 2</a:t>
            </a:r>
            <a:r>
              <a:rPr lang="ru-RU" sz="2000" baseline="30000" dirty="0" smtClean="0">
                <a:latin typeface="Times New Roman" pitchFamily="18" charset="0"/>
                <a:cs typeface="Times New Roman" pitchFamily="18" charset="0"/>
              </a:rPr>
              <a:t>9</a:t>
            </a:r>
            <a:r>
              <a:rPr lang="ru-RU" sz="2000" dirty="0" smtClean="0">
                <a:latin typeface="Times New Roman" pitchFamily="18" charset="0"/>
                <a:cs typeface="Times New Roman" pitchFamily="18" charset="0"/>
              </a:rPr>
              <a:t> = 512 участках. </a:t>
            </a:r>
          </a:p>
          <a:p>
            <a:pPr marL="0" indent="0">
              <a:spcBef>
                <a:spcPts val="600"/>
              </a:spcBef>
              <a:buNone/>
            </a:pPr>
            <a:r>
              <a:rPr lang="ru-RU" sz="2000" dirty="0" smtClean="0">
                <a:latin typeface="Times New Roman" pitchFamily="18" charset="0"/>
                <a:cs typeface="Times New Roman" pitchFamily="18" charset="0"/>
              </a:rPr>
              <a:t>Предположим также, что из </a:t>
            </a:r>
            <a:r>
              <a:rPr lang="ru-RU" sz="2000" b="1" dirty="0" smtClean="0">
                <a:latin typeface="Times New Roman" pitchFamily="18" charset="0"/>
                <a:cs typeface="Times New Roman" pitchFamily="18" charset="0"/>
              </a:rPr>
              <a:t>девяти</a:t>
            </a:r>
            <a:r>
              <a:rPr lang="ru-RU" sz="2000" dirty="0" smtClean="0">
                <a:latin typeface="Times New Roman" pitchFamily="18" charset="0"/>
                <a:cs typeface="Times New Roman" pitchFamily="18" charset="0"/>
              </a:rPr>
              <a:t> </a:t>
            </a:r>
            <a:r>
              <a:rPr lang="ru-RU" sz="2000" b="1" dirty="0" smtClean="0">
                <a:latin typeface="Times New Roman" pitchFamily="18" charset="0"/>
                <a:cs typeface="Times New Roman" pitchFamily="18" charset="0"/>
              </a:rPr>
              <a:t>бит адреса участков </a:t>
            </a:r>
          </a:p>
          <a:p>
            <a:pPr marL="0" lvl="2" indent="0">
              <a:spcBef>
                <a:spcPts val="0"/>
              </a:spcBef>
              <a:buNone/>
            </a:pPr>
            <a:r>
              <a:rPr lang="ru-RU" sz="2000" b="1" dirty="0" smtClean="0">
                <a:latin typeface="Times New Roman" pitchFamily="18" charset="0"/>
                <a:cs typeface="Times New Roman" pitchFamily="18" charset="0"/>
              </a:rPr>
              <a:t>четыре </a:t>
            </a:r>
            <a:r>
              <a:rPr lang="ru-RU" sz="2000" dirty="0" smtClean="0">
                <a:latin typeface="Times New Roman" pitchFamily="18" charset="0"/>
                <a:cs typeface="Times New Roman" pitchFamily="18" charset="0"/>
              </a:rPr>
              <a:t>соответствуют </a:t>
            </a:r>
            <a:r>
              <a:rPr lang="ru-RU" sz="2000" b="1" dirty="0" smtClean="0">
                <a:latin typeface="Times New Roman" pitchFamily="18" charset="0"/>
                <a:cs typeface="Times New Roman" pitchFamily="18" charset="0"/>
              </a:rPr>
              <a:t>первому полю</a:t>
            </a:r>
            <a:r>
              <a:rPr lang="ru-RU" sz="2000" dirty="0" smtClean="0">
                <a:latin typeface="Times New Roman" pitchFamily="18" charset="0"/>
                <a:cs typeface="Times New Roman" pitchFamily="18" charset="0"/>
              </a:rPr>
              <a:t>, </a:t>
            </a:r>
            <a:r>
              <a:rPr lang="ru-RU" sz="2000" b="1" dirty="0" smtClean="0">
                <a:latin typeface="Times New Roman" pitchFamily="18" charset="0"/>
                <a:cs typeface="Times New Roman" pitchFamily="18" charset="0"/>
              </a:rPr>
              <a:t>три</a:t>
            </a:r>
            <a:r>
              <a:rPr lang="ru-RU" sz="2000" dirty="0" smtClean="0">
                <a:latin typeface="Times New Roman" pitchFamily="18" charset="0"/>
                <a:cs typeface="Times New Roman" pitchFamily="18" charset="0"/>
              </a:rPr>
              <a:t> — </a:t>
            </a:r>
            <a:r>
              <a:rPr lang="ru-RU" sz="2000" b="1" dirty="0" smtClean="0">
                <a:latin typeface="Times New Roman" pitchFamily="18" charset="0"/>
                <a:cs typeface="Times New Roman" pitchFamily="18" charset="0"/>
              </a:rPr>
              <a:t>второму</a:t>
            </a:r>
            <a:r>
              <a:rPr lang="ru-RU" sz="2000" dirty="0" smtClean="0">
                <a:latin typeface="Times New Roman" pitchFamily="18" charset="0"/>
                <a:cs typeface="Times New Roman" pitchFamily="18" charset="0"/>
              </a:rPr>
              <a:t> и </a:t>
            </a:r>
            <a:r>
              <a:rPr lang="ru-RU" sz="2000" b="1" dirty="0" smtClean="0">
                <a:latin typeface="Times New Roman" pitchFamily="18" charset="0"/>
                <a:cs typeface="Times New Roman" pitchFamily="18" charset="0"/>
              </a:rPr>
              <a:t>два</a:t>
            </a:r>
            <a:r>
              <a:rPr lang="ru-RU" sz="2000" dirty="0" smtClean="0">
                <a:latin typeface="Times New Roman" pitchFamily="18" charset="0"/>
                <a:cs typeface="Times New Roman" pitchFamily="18" charset="0"/>
              </a:rPr>
              <a:t> — </a:t>
            </a:r>
            <a:r>
              <a:rPr lang="ru-RU" sz="2000" b="1" dirty="0" smtClean="0">
                <a:latin typeface="Times New Roman" pitchFamily="18" charset="0"/>
                <a:cs typeface="Times New Roman" pitchFamily="18" charset="0"/>
              </a:rPr>
              <a:t>третьему. </a:t>
            </a:r>
            <a:r>
              <a:rPr lang="ru-RU" sz="2000" dirty="0" smtClean="0">
                <a:latin typeface="Times New Roman" pitchFamily="18" charset="0"/>
                <a:cs typeface="Times New Roman" pitchFamily="18" charset="0"/>
              </a:rPr>
              <a:t>То есть номера участков для первого поля будут в диапазоне от 0 до 2</a:t>
            </a:r>
            <a:r>
              <a:rPr lang="ru-RU" sz="2000" baseline="30000" dirty="0" smtClean="0">
                <a:latin typeface="Times New Roman" pitchFamily="18" charset="0"/>
                <a:cs typeface="Times New Roman" pitchFamily="18" charset="0"/>
              </a:rPr>
              <a:t>4 </a:t>
            </a:r>
            <a:r>
              <a:rPr lang="ru-RU" sz="2000" dirty="0" smtClean="0">
                <a:latin typeface="Times New Roman" pitchFamily="18" charset="0"/>
                <a:cs typeface="Times New Roman" pitchFamily="18" charset="0"/>
              </a:rPr>
              <a:t>, второго – от  0 до 2</a:t>
            </a:r>
            <a:r>
              <a:rPr lang="ru-RU" sz="2000" baseline="30000" dirty="0" smtClean="0">
                <a:latin typeface="Times New Roman" pitchFamily="18" charset="0"/>
                <a:cs typeface="Times New Roman" pitchFamily="18" charset="0"/>
              </a:rPr>
              <a:t>3 </a:t>
            </a:r>
            <a:r>
              <a:rPr lang="ru-RU" sz="2000" dirty="0" smtClean="0">
                <a:latin typeface="Times New Roman" pitchFamily="18" charset="0"/>
                <a:cs typeface="Times New Roman" pitchFamily="18" charset="0"/>
              </a:rPr>
              <a:t>, третье – от 0 до 2</a:t>
            </a:r>
            <a:r>
              <a:rPr lang="ru-RU" sz="2000" baseline="30000" dirty="0" smtClean="0">
                <a:latin typeface="Times New Roman" pitchFamily="18" charset="0"/>
                <a:cs typeface="Times New Roman" pitchFamily="18" charset="0"/>
              </a:rPr>
              <a:t>2 </a:t>
            </a:r>
            <a:r>
              <a:rPr lang="ru-RU" sz="2000" dirty="0" smtClean="0">
                <a:latin typeface="Times New Roman" pitchFamily="18" charset="0"/>
                <a:cs typeface="Times New Roman" pitchFamily="18" charset="0"/>
              </a:rPr>
              <a:t> .</a:t>
            </a:r>
            <a:endParaRPr lang="ru-RU" sz="2000" baseline="30000" dirty="0" smtClean="0">
              <a:latin typeface="Times New Roman" pitchFamily="18" charset="0"/>
              <a:cs typeface="Times New Roman" pitchFamily="18" charset="0"/>
            </a:endParaRPr>
          </a:p>
          <a:p>
            <a:pPr marL="0">
              <a:spcBef>
                <a:spcPts val="0"/>
              </a:spcBef>
              <a:buNone/>
            </a:pPr>
            <a:endParaRPr lang="ru-RU" sz="2000" dirty="0" smtClean="0">
              <a:latin typeface="Times New Roman" pitchFamily="18" charset="0"/>
              <a:cs typeface="Times New Roman" pitchFamily="18" charset="0"/>
            </a:endParaRPr>
          </a:p>
          <a:p>
            <a:pPr marL="0">
              <a:spcBef>
                <a:spcPts val="0"/>
              </a:spcBef>
              <a:buNone/>
            </a:pPr>
            <a:r>
              <a:rPr lang="ru-RU" sz="2000" dirty="0" smtClean="0">
                <a:latin typeface="Times New Roman" pitchFamily="18" charset="0"/>
                <a:cs typeface="Times New Roman" pitchFamily="18" charset="0"/>
              </a:rPr>
              <a:t>Пусть (58651,130326734,СДЕЛКИ), тогда </a:t>
            </a:r>
          </a:p>
          <a:p>
            <a:pPr marL="0" indent="-514350">
              <a:spcBef>
                <a:spcPts val="0"/>
              </a:spcBef>
              <a:buClrTx/>
              <a:buSzPct val="80000"/>
              <a:buAutoNum type="arabicPeriod"/>
            </a:pPr>
            <a:r>
              <a:rPr lang="ru-RU" sz="2000" dirty="0" smtClean="0">
                <a:latin typeface="Times New Roman" pitchFamily="18" charset="0"/>
                <a:cs typeface="Times New Roman" pitchFamily="18" charset="0"/>
              </a:rPr>
              <a:t>58651/16, получаем остаток 11, или </a:t>
            </a:r>
            <a:r>
              <a:rPr lang="ru-RU" sz="2000" b="1" dirty="0" smtClean="0">
                <a:latin typeface="Times New Roman" pitchFamily="18" charset="0"/>
                <a:cs typeface="Times New Roman" pitchFamily="18" charset="0"/>
              </a:rPr>
              <a:t>1011,</a:t>
            </a:r>
          </a:p>
          <a:p>
            <a:pPr marL="0" indent="-514350">
              <a:spcBef>
                <a:spcPts val="0"/>
              </a:spcBef>
              <a:buClrTx/>
              <a:buSzPct val="80000"/>
              <a:buAutoNum type="arabicPeriod"/>
            </a:pPr>
            <a:r>
              <a:rPr lang="ru-RU" sz="2000" dirty="0" smtClean="0">
                <a:latin typeface="Times New Roman" pitchFamily="18" charset="0"/>
                <a:cs typeface="Times New Roman" pitchFamily="18" charset="0"/>
              </a:rPr>
              <a:t>130326734/8, получаем остаток 6, или </a:t>
            </a:r>
            <a:r>
              <a:rPr lang="ru-RU" sz="2000" b="1" dirty="0" smtClean="0">
                <a:latin typeface="Times New Roman" pitchFamily="18" charset="0"/>
                <a:cs typeface="Times New Roman" pitchFamily="18" charset="0"/>
              </a:rPr>
              <a:t>110 </a:t>
            </a:r>
          </a:p>
          <a:p>
            <a:pPr marL="0" indent="-514350">
              <a:spcBef>
                <a:spcPts val="0"/>
              </a:spcBef>
              <a:buClrTx/>
              <a:buSzPct val="80000"/>
              <a:buAutoNum type="arabicPeriod"/>
            </a:pPr>
            <a:r>
              <a:rPr lang="ru-RU" sz="2000" dirty="0" smtClean="0">
                <a:latin typeface="Times New Roman" pitchFamily="18" charset="0"/>
                <a:cs typeface="Times New Roman" pitchFamily="18" charset="0"/>
              </a:rPr>
              <a:t>Длина «СДЕЛКИ» по модулю 4 равна 2, или </a:t>
            </a:r>
            <a:r>
              <a:rPr lang="ru-RU" sz="2000" b="1" dirty="0" smtClean="0">
                <a:latin typeface="Times New Roman" pitchFamily="18" charset="0"/>
                <a:cs typeface="Times New Roman" pitchFamily="18" charset="0"/>
              </a:rPr>
              <a:t>10 </a:t>
            </a:r>
          </a:p>
          <a:p>
            <a:pPr marL="0" indent="-514350">
              <a:spcBef>
                <a:spcPts val="0"/>
              </a:spcBef>
              <a:buClrTx/>
              <a:buSzPct val="80000"/>
              <a:buNone/>
            </a:pPr>
            <a:endParaRPr lang="ru-RU" sz="2000" dirty="0" smtClean="0">
              <a:latin typeface="Times New Roman" pitchFamily="18" charset="0"/>
              <a:cs typeface="Times New Roman" pitchFamily="18" charset="0"/>
            </a:endParaRPr>
          </a:p>
          <a:p>
            <a:pPr marL="0" indent="-514350">
              <a:spcBef>
                <a:spcPts val="0"/>
              </a:spcBef>
              <a:buClrTx/>
              <a:buSzPct val="80000"/>
              <a:buNone/>
            </a:pPr>
            <a:r>
              <a:rPr lang="ru-RU" sz="2000" dirty="0" smtClean="0">
                <a:latin typeface="Times New Roman" pitchFamily="18" charset="0"/>
                <a:cs typeface="Times New Roman" pitchFamily="18" charset="0"/>
              </a:rPr>
              <a:t>Таким образом, номер участка, в котором будет находиться эта запись, есть двоичное число = 101111010  или 572</a:t>
            </a:r>
            <a:r>
              <a:rPr lang="ru-RU" sz="2000" baseline="-25000" dirty="0" smtClean="0">
                <a:latin typeface="Times New Roman" pitchFamily="18" charset="0"/>
                <a:cs typeface="Times New Roman" pitchFamily="18" charset="0"/>
              </a:rPr>
              <a:t>8   </a:t>
            </a:r>
            <a:r>
              <a:rPr lang="ru-RU" sz="2000" dirty="0" smtClean="0">
                <a:latin typeface="Times New Roman" pitchFamily="18" charset="0"/>
                <a:cs typeface="Times New Roman" pitchFamily="18" charset="0"/>
              </a:rPr>
              <a:t>или 378</a:t>
            </a:r>
            <a:r>
              <a:rPr lang="ru-RU" sz="2000" baseline="-25000" dirty="0" smtClean="0">
                <a:latin typeface="Times New Roman" pitchFamily="18" charset="0"/>
                <a:cs typeface="Times New Roman" pitchFamily="18" charset="0"/>
              </a:rPr>
              <a:t>10</a:t>
            </a:r>
          </a:p>
          <a:p>
            <a:pPr marL="0" indent="0">
              <a:spcBef>
                <a:spcPts val="0"/>
              </a:spcBef>
              <a:buClrTx/>
              <a:buSzPct val="80000"/>
              <a:buNone/>
            </a:pPr>
            <a:r>
              <a:rPr lang="ru-RU" sz="2000" dirty="0" smtClean="0">
                <a:latin typeface="Times New Roman" pitchFamily="18" charset="0"/>
                <a:cs typeface="Times New Roman" pitchFamily="18" charset="0"/>
              </a:rPr>
              <a:t>В том случае, когда </a:t>
            </a:r>
            <a:r>
              <a:rPr lang="ru-RU" sz="2000" b="1" dirty="0" smtClean="0">
                <a:latin typeface="Times New Roman" pitchFamily="18" charset="0"/>
                <a:cs typeface="Times New Roman" pitchFamily="18" charset="0"/>
              </a:rPr>
              <a:t>задано значение </a:t>
            </a:r>
            <a:r>
              <a:rPr lang="ru-RU" sz="2000" dirty="0" smtClean="0">
                <a:latin typeface="Times New Roman" pitchFamily="18" charset="0"/>
                <a:cs typeface="Times New Roman" pitchFamily="18" charset="0"/>
              </a:rPr>
              <a:t>поля </a:t>
            </a:r>
            <a:r>
              <a:rPr lang="en-US" sz="2000" i="1" dirty="0" err="1" smtClean="0">
                <a:latin typeface="Times New Roman" pitchFamily="18" charset="0"/>
                <a:cs typeface="Times New Roman" pitchFamily="18" charset="0"/>
              </a:rPr>
              <a:t>F</a:t>
            </a:r>
            <a:r>
              <a:rPr lang="en-US" sz="2000" i="1" baseline="-25000" dirty="0" err="1" smtClean="0">
                <a:latin typeface="Times New Roman" pitchFamily="18" charset="0"/>
                <a:cs typeface="Times New Roman" pitchFamily="18" charset="0"/>
              </a:rPr>
              <a:t>i</a:t>
            </a:r>
            <a:r>
              <a:rPr lang="ru-RU" sz="2000" i="1" baseline="-25000" dirty="0" smtClean="0">
                <a:latin typeface="Times New Roman" pitchFamily="18" charset="0"/>
                <a:cs typeface="Times New Roman" pitchFamily="18" charset="0"/>
              </a:rPr>
              <a:t> </a:t>
            </a:r>
            <a:r>
              <a:rPr lang="ru-RU" sz="2000" i="1" dirty="0" smtClean="0">
                <a:latin typeface="Times New Roman" pitchFamily="18" charset="0"/>
                <a:cs typeface="Times New Roman" pitchFamily="18" charset="0"/>
              </a:rPr>
              <a:t>, </a:t>
            </a:r>
            <a:r>
              <a:rPr lang="ru-RU" sz="2000" dirty="0" smtClean="0">
                <a:latin typeface="Times New Roman" pitchFamily="18" charset="0"/>
                <a:cs typeface="Times New Roman" pitchFamily="18" charset="0"/>
              </a:rPr>
              <a:t>можно вычислить </a:t>
            </a:r>
            <a:r>
              <a:rPr lang="en-US" sz="2000" i="1" dirty="0" smtClean="0">
                <a:latin typeface="Times New Roman" pitchFamily="18" charset="0"/>
                <a:cs typeface="Times New Roman" pitchFamily="18" charset="0"/>
              </a:rPr>
              <a:t>b</a:t>
            </a:r>
            <a:r>
              <a:rPr lang="en-US" sz="2000" i="1" baseline="-25000" dirty="0"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 </a:t>
            </a:r>
            <a:r>
              <a:rPr lang="ru-RU" sz="2000" dirty="0" smtClean="0">
                <a:latin typeface="Times New Roman" pitchFamily="18" charset="0"/>
                <a:cs typeface="Times New Roman" pitchFamily="18" charset="0"/>
              </a:rPr>
              <a:t>бит адреса участка, независимо от того, известны или не известны значения других полей. </a:t>
            </a:r>
          </a:p>
          <a:p>
            <a:pPr marL="0" indent="0">
              <a:spcBef>
                <a:spcPts val="0"/>
              </a:spcBef>
              <a:buClrTx/>
              <a:buSzPct val="80000"/>
              <a:buNone/>
            </a:pPr>
            <a:r>
              <a:rPr lang="ru-RU" sz="2000" dirty="0" smtClean="0">
                <a:latin typeface="Times New Roman" pitchFamily="18" charset="0"/>
                <a:cs typeface="Times New Roman" pitchFamily="18" charset="0"/>
              </a:rPr>
              <a:t>Чтобы найти отдел, где работает служащий с номером 58651 нужно </a:t>
            </a:r>
            <a:r>
              <a:rPr lang="ru-RU" sz="2000" smtClean="0">
                <a:latin typeface="Times New Roman" pitchFamily="18" charset="0"/>
                <a:cs typeface="Times New Roman" pitchFamily="18" charset="0"/>
              </a:rPr>
              <a:t>просмотреть  только 2</a:t>
            </a:r>
            <a:r>
              <a:rPr lang="ru-RU" sz="2000" baseline="30000" smtClean="0">
                <a:latin typeface="Times New Roman" pitchFamily="18" charset="0"/>
                <a:cs typeface="Times New Roman" pitchFamily="18" charset="0"/>
              </a:rPr>
              <a:t>3</a:t>
            </a:r>
            <a:r>
              <a:rPr lang="ru-RU" sz="2000" smtClean="0">
                <a:latin typeface="Times New Roman" pitchFamily="18" charset="0"/>
                <a:cs typeface="Times New Roman" pitchFamily="18" charset="0"/>
              </a:rPr>
              <a:t> </a:t>
            </a:r>
            <a:r>
              <a:rPr lang="ru-RU" sz="2000" dirty="0" smtClean="0">
                <a:latin typeface="Times New Roman" pitchFamily="18" charset="0"/>
                <a:cs typeface="Times New Roman" pitchFamily="18" charset="0"/>
              </a:rPr>
              <a:t>2</a:t>
            </a:r>
            <a:r>
              <a:rPr lang="ru-RU" sz="2000" baseline="30000" dirty="0" smtClean="0">
                <a:latin typeface="Times New Roman" pitchFamily="18" charset="0"/>
                <a:cs typeface="Times New Roman" pitchFamily="18" charset="0"/>
              </a:rPr>
              <a:t>2</a:t>
            </a:r>
            <a:r>
              <a:rPr lang="ru-RU" sz="2000" dirty="0" smtClean="0">
                <a:latin typeface="Times New Roman" pitchFamily="18" charset="0"/>
                <a:cs typeface="Times New Roman" pitchFamily="18" charset="0"/>
              </a:rPr>
              <a:t>=2</a:t>
            </a:r>
            <a:r>
              <a:rPr lang="ru-RU" sz="2000" baseline="30000" dirty="0" smtClean="0">
                <a:latin typeface="Times New Roman" pitchFamily="18" charset="0"/>
                <a:cs typeface="Times New Roman" pitchFamily="18" charset="0"/>
              </a:rPr>
              <a:t>5</a:t>
            </a:r>
            <a:r>
              <a:rPr lang="ru-RU" sz="2000" dirty="0" smtClean="0">
                <a:latin typeface="Times New Roman" pitchFamily="18" charset="0"/>
                <a:cs typeface="Times New Roman" pitchFamily="18" charset="0"/>
              </a:rPr>
              <a:t>=32 участка. 3 бита – второе поле, 2 бита – третье.</a:t>
            </a:r>
          </a:p>
          <a:p>
            <a:pPr marL="0">
              <a:spcBef>
                <a:spcPts val="0"/>
              </a:spcBef>
              <a:buNone/>
            </a:pPr>
            <a:endParaRPr lang="ru-RU" sz="2000" dirty="0">
              <a:latin typeface="Times New Roman" pitchFamily="18" charset="0"/>
              <a:cs typeface="Times New Roman" pitchFamily="18" charset="0"/>
            </a:endParaRPr>
          </a:p>
        </p:txBody>
      </p:sp>
      <p:sp>
        <p:nvSpPr>
          <p:cNvPr id="5" name="Номер слайда 4"/>
          <p:cNvSpPr>
            <a:spLocks noGrp="1"/>
          </p:cNvSpPr>
          <p:nvPr>
            <p:ph type="sldNum" sz="quarter" idx="11"/>
          </p:nvPr>
        </p:nvSpPr>
        <p:spPr/>
        <p:txBody>
          <a:bodyPr/>
          <a:lstStyle/>
          <a:p>
            <a:pPr>
              <a:defRPr/>
            </a:pPr>
            <a:fld id="{460CD48F-9E11-40D4-8CAB-15E06A1AF6CB}" type="slidenum">
              <a:rPr lang="ru-RU" smtClean="0"/>
              <a:pPr>
                <a:defRPr/>
              </a:pPr>
              <a:t>18</a:t>
            </a:fld>
            <a:endParaRPr lang="ru-RU"/>
          </a:p>
        </p:txBody>
      </p:sp>
    </p:spTree>
    <p:extLst>
      <p:ext uri="{BB962C8B-B14F-4D97-AF65-F5344CB8AC3E}">
        <p14:creationId xmlns:p14="http://schemas.microsoft.com/office/powerpoint/2010/main" val="143432861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Заголовок 1"/>
          <p:cNvSpPr>
            <a:spLocks noGrp="1"/>
          </p:cNvSpPr>
          <p:nvPr>
            <p:ph type="title"/>
          </p:nvPr>
        </p:nvSpPr>
        <p:spPr>
          <a:xfrm>
            <a:off x="476545" y="0"/>
            <a:ext cx="8229600" cy="668338"/>
          </a:xfrm>
        </p:spPr>
        <p:txBody>
          <a:bodyPr/>
          <a:lstStyle/>
          <a:p>
            <a:pPr algn="ctr"/>
            <a:r>
              <a:rPr lang="ru-RU" sz="3600" dirty="0" smtClean="0">
                <a:solidFill>
                  <a:schemeClr val="bg2"/>
                </a:solidFill>
              </a:rPr>
              <a:t>Оптимизация бит между ключами</a:t>
            </a:r>
            <a:endParaRPr lang="ru-RU" sz="3600" dirty="0" smtClean="0"/>
          </a:p>
        </p:txBody>
      </p:sp>
      <p:sp>
        <p:nvSpPr>
          <p:cNvPr id="3" name="Объект 2"/>
          <p:cNvSpPr>
            <a:spLocks noGrp="1"/>
          </p:cNvSpPr>
          <p:nvPr>
            <p:ph idx="1"/>
          </p:nvPr>
        </p:nvSpPr>
        <p:spPr>
          <a:xfrm>
            <a:off x="161510" y="773704"/>
            <a:ext cx="8730970" cy="5715635"/>
          </a:xfrm>
        </p:spPr>
        <p:txBody>
          <a:bodyPr/>
          <a:lstStyle/>
          <a:p>
            <a:pPr algn="just">
              <a:buFont typeface="Wingdings" pitchFamily="2" charset="2"/>
              <a:buNone/>
            </a:pPr>
            <a:r>
              <a:rPr lang="ru-RU" sz="2800" u="sng" dirty="0" smtClean="0"/>
              <a:t>Теорема 1.</a:t>
            </a:r>
            <a:r>
              <a:rPr lang="ru-RU" sz="2800" dirty="0" smtClean="0"/>
              <a:t> </a:t>
            </a:r>
          </a:p>
          <a:p>
            <a:pPr marL="0" indent="457200" algn="just">
              <a:spcBef>
                <a:spcPts val="0"/>
              </a:spcBef>
              <a:buFont typeface="Wingdings" pitchFamily="2" charset="2"/>
              <a:buNone/>
            </a:pPr>
            <a:r>
              <a:rPr lang="ru-RU" sz="2400" dirty="0" smtClean="0">
                <a:latin typeface="Times New Roman" pitchFamily="18" charset="0"/>
                <a:cs typeface="Times New Roman" pitchFamily="18" charset="0"/>
              </a:rPr>
              <a:t>Пусть при спецификации значения некоторого поля (из запроса) все его значения являются </a:t>
            </a:r>
            <a:r>
              <a:rPr lang="ru-RU" sz="2400" i="1" dirty="0" smtClean="0">
                <a:latin typeface="Times New Roman" pitchFamily="18" charset="0"/>
                <a:cs typeface="Times New Roman" pitchFamily="18" charset="0"/>
              </a:rPr>
              <a:t>равновероятными</a:t>
            </a:r>
            <a:r>
              <a:rPr lang="ru-RU" sz="2400" dirty="0" smtClean="0">
                <a:latin typeface="Times New Roman" pitchFamily="18" charset="0"/>
                <a:cs typeface="Times New Roman" pitchFamily="18" charset="0"/>
              </a:rPr>
              <a:t>. </a:t>
            </a:r>
          </a:p>
          <a:p>
            <a:pPr marL="0" indent="457200" algn="just">
              <a:spcBef>
                <a:spcPts val="0"/>
              </a:spcBef>
              <a:buFont typeface="Wingdings" pitchFamily="2" charset="2"/>
              <a:buNone/>
            </a:pPr>
            <a:r>
              <a:rPr lang="ru-RU" sz="2400" dirty="0" smtClean="0">
                <a:latin typeface="Times New Roman" pitchFamily="18" charset="0"/>
                <a:cs typeface="Times New Roman" pitchFamily="18" charset="0"/>
              </a:rPr>
              <a:t>Тогда </a:t>
            </a:r>
            <a:r>
              <a:rPr lang="ru-RU" sz="2400" b="1" dirty="0" smtClean="0">
                <a:latin typeface="Times New Roman" pitchFamily="18" charset="0"/>
                <a:cs typeface="Times New Roman" pitchFamily="18" charset="0"/>
              </a:rPr>
              <a:t>минимум математического ожидания числа просматриваемых для обработки запроса участков </a:t>
            </a:r>
            <a:r>
              <a:rPr lang="ru-RU" sz="2400" dirty="0" smtClean="0">
                <a:latin typeface="Times New Roman" pitchFamily="18" charset="0"/>
                <a:cs typeface="Times New Roman" pitchFamily="18" charset="0"/>
              </a:rPr>
              <a:t>достигается в том случае, когда </a:t>
            </a:r>
            <a:r>
              <a:rPr lang="ru-RU" sz="2400" b="1" dirty="0" smtClean="0">
                <a:latin typeface="Times New Roman" pitchFamily="18" charset="0"/>
                <a:cs typeface="Times New Roman" pitchFamily="18" charset="0"/>
              </a:rPr>
              <a:t>адрес участка </a:t>
            </a:r>
          </a:p>
          <a:p>
            <a:pPr marL="0" indent="0" algn="just">
              <a:spcBef>
                <a:spcPts val="0"/>
              </a:spcBef>
              <a:buFont typeface="Wingdings" pitchFamily="2" charset="2"/>
              <a:buNone/>
            </a:pPr>
            <a:r>
              <a:rPr lang="ru-RU" sz="2400" b="1"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для записи </a:t>
            </a:r>
            <a:r>
              <a:rPr lang="ru-RU" sz="2400" i="1"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v</a:t>
            </a:r>
            <a:r>
              <a:rPr lang="ru-RU" sz="2400" i="1" baseline="-25000" dirty="0" smtClean="0">
                <a:latin typeface="Times New Roman" pitchFamily="18" charset="0"/>
                <a:cs typeface="Times New Roman" pitchFamily="18" charset="0"/>
              </a:rPr>
              <a:t>1</a:t>
            </a:r>
            <a:r>
              <a:rPr lang="ru-RU" sz="2400" i="1"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v</a:t>
            </a:r>
            <a:r>
              <a:rPr lang="ru-RU" sz="2400" i="1" baseline="-25000" dirty="0" smtClean="0">
                <a:latin typeface="Times New Roman" pitchFamily="18" charset="0"/>
                <a:cs typeface="Times New Roman" pitchFamily="18" charset="0"/>
              </a:rPr>
              <a:t>2</a:t>
            </a:r>
            <a:r>
              <a:rPr lang="ru-RU" sz="2400" i="1" dirty="0" smtClean="0">
                <a:latin typeface="Times New Roman" pitchFamily="18" charset="0"/>
                <a:cs typeface="Times New Roman" pitchFamily="18" charset="0"/>
              </a:rPr>
              <a:t>, ..., </a:t>
            </a:r>
            <a:r>
              <a:rPr lang="en-US" sz="2400" i="1" dirty="0" err="1" smtClean="0">
                <a:latin typeface="Times New Roman" pitchFamily="18" charset="0"/>
                <a:cs typeface="Times New Roman" pitchFamily="18" charset="0"/>
              </a:rPr>
              <a:t>v</a:t>
            </a:r>
            <a:r>
              <a:rPr lang="en-US" sz="2400" i="1" baseline="-25000" dirty="0" err="1" smtClean="0">
                <a:latin typeface="Times New Roman" pitchFamily="18" charset="0"/>
                <a:cs typeface="Times New Roman" pitchFamily="18" charset="0"/>
              </a:rPr>
              <a:t>k</a:t>
            </a:r>
            <a:r>
              <a:rPr lang="ru-RU" sz="2400" i="1"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выражается как</a:t>
            </a:r>
          </a:p>
          <a:p>
            <a:pPr>
              <a:buFont typeface="Wingdings" pitchFamily="2" charset="2"/>
              <a:buNone/>
            </a:pPr>
            <a:r>
              <a:rPr lang="ru-RU" sz="2400" i="1" dirty="0" smtClean="0">
                <a:latin typeface="Times New Roman" pitchFamily="18" charset="0"/>
                <a:cs typeface="Times New Roman" pitchFamily="18" charset="0"/>
              </a:rPr>
              <a:t>	</a:t>
            </a:r>
            <a:r>
              <a:rPr lang="en-US" sz="2400" i="1" dirty="0" err="1" smtClean="0">
                <a:latin typeface="Times New Roman" pitchFamily="18" charset="0"/>
                <a:cs typeface="Times New Roman" pitchFamily="18" charset="0"/>
              </a:rPr>
              <a:t>h</a:t>
            </a:r>
            <a:r>
              <a:rPr lang="en-US" sz="2400" i="1" baseline="-25000" dirty="0" err="1" smtClean="0">
                <a:latin typeface="Times New Roman" pitchFamily="18" charset="0"/>
                <a:cs typeface="Times New Roman" pitchFamily="18" charset="0"/>
              </a:rPr>
              <a:t>k</a:t>
            </a:r>
            <a:r>
              <a:rPr lang="ru-RU" sz="2400" i="1" dirty="0" smtClean="0">
                <a:latin typeface="Times New Roman" pitchFamily="18" charset="0"/>
                <a:cs typeface="Times New Roman" pitchFamily="18" charset="0"/>
              </a:rPr>
              <a:t> (</a:t>
            </a:r>
            <a:r>
              <a:rPr lang="en-US" sz="2400" i="1" dirty="0" err="1" smtClean="0">
                <a:latin typeface="Times New Roman" pitchFamily="18" charset="0"/>
                <a:cs typeface="Times New Roman" pitchFamily="18" charset="0"/>
              </a:rPr>
              <a:t>v</a:t>
            </a:r>
            <a:r>
              <a:rPr lang="en-US" sz="2400" i="1" baseline="-25000" dirty="0" err="1" smtClean="0">
                <a:latin typeface="Times New Roman" pitchFamily="18" charset="0"/>
                <a:cs typeface="Times New Roman" pitchFamily="18" charset="0"/>
              </a:rPr>
              <a:t>k</a:t>
            </a:r>
            <a:r>
              <a:rPr lang="ru-RU" sz="2400" i="1" dirty="0" smtClean="0">
                <a:latin typeface="Times New Roman" pitchFamily="18" charset="0"/>
                <a:cs typeface="Times New Roman" pitchFamily="18" charset="0"/>
              </a:rPr>
              <a:t>) +</a:t>
            </a:r>
            <a:r>
              <a:rPr lang="en-US" sz="2400" i="1" dirty="0" err="1" smtClean="0">
                <a:latin typeface="Times New Roman" pitchFamily="18" charset="0"/>
                <a:cs typeface="Times New Roman" pitchFamily="18" charset="0"/>
              </a:rPr>
              <a:t>n</a:t>
            </a:r>
            <a:r>
              <a:rPr lang="en-US" sz="2400" i="1" baseline="-25000" dirty="0" err="1" smtClean="0">
                <a:latin typeface="Times New Roman" pitchFamily="18" charset="0"/>
                <a:cs typeface="Times New Roman" pitchFamily="18" charset="0"/>
              </a:rPr>
              <a:t>k</a:t>
            </a:r>
            <a:r>
              <a:rPr lang="ru-RU" sz="2400" i="1" dirty="0" smtClean="0">
                <a:latin typeface="Times New Roman" pitchFamily="18" charset="0"/>
                <a:cs typeface="Times New Roman" pitchFamily="18" charset="0"/>
              </a:rPr>
              <a:t> (</a:t>
            </a:r>
            <a:r>
              <a:rPr lang="en-US" sz="2400" i="1" dirty="0" err="1" smtClean="0">
                <a:latin typeface="Times New Roman" pitchFamily="18" charset="0"/>
                <a:cs typeface="Times New Roman" pitchFamily="18" charset="0"/>
              </a:rPr>
              <a:t>h</a:t>
            </a:r>
            <a:r>
              <a:rPr lang="en-US" sz="2400" i="1" baseline="-25000" dirty="0" err="1" smtClean="0">
                <a:latin typeface="Times New Roman" pitchFamily="18" charset="0"/>
                <a:cs typeface="Times New Roman" pitchFamily="18" charset="0"/>
              </a:rPr>
              <a:t>k</a:t>
            </a:r>
            <a:r>
              <a:rPr lang="ru-RU" sz="2400" i="1" baseline="-25000" dirty="0" smtClean="0">
                <a:latin typeface="Times New Roman" pitchFamily="18" charset="0"/>
                <a:cs typeface="Times New Roman" pitchFamily="18" charset="0"/>
              </a:rPr>
              <a:t>-1</a:t>
            </a:r>
            <a:r>
              <a:rPr lang="ru-RU" sz="2400" i="1" dirty="0" smtClean="0">
                <a:latin typeface="Times New Roman" pitchFamily="18" charset="0"/>
                <a:cs typeface="Times New Roman" pitchFamily="18" charset="0"/>
              </a:rPr>
              <a:t> (</a:t>
            </a:r>
            <a:r>
              <a:rPr lang="en-US" sz="2400" i="1" dirty="0" err="1" smtClean="0">
                <a:latin typeface="Times New Roman" pitchFamily="18" charset="0"/>
                <a:cs typeface="Times New Roman" pitchFamily="18" charset="0"/>
              </a:rPr>
              <a:t>v</a:t>
            </a:r>
            <a:r>
              <a:rPr lang="en-US" sz="2400" i="1" baseline="-25000" dirty="0" err="1" smtClean="0">
                <a:latin typeface="Times New Roman" pitchFamily="18" charset="0"/>
                <a:cs typeface="Times New Roman" pitchFamily="18" charset="0"/>
              </a:rPr>
              <a:t>k</a:t>
            </a:r>
            <a:r>
              <a:rPr lang="ru-RU" sz="2400" i="1" baseline="-25000" dirty="0" smtClean="0">
                <a:latin typeface="Times New Roman" pitchFamily="18" charset="0"/>
                <a:cs typeface="Times New Roman" pitchFamily="18" charset="0"/>
              </a:rPr>
              <a:t>-1</a:t>
            </a:r>
            <a:r>
              <a:rPr lang="ru-RU" sz="2400" i="1" dirty="0" smtClean="0">
                <a:latin typeface="Times New Roman" pitchFamily="18" charset="0"/>
                <a:cs typeface="Times New Roman" pitchFamily="18" charset="0"/>
              </a:rPr>
              <a:t>) + </a:t>
            </a:r>
            <a:r>
              <a:rPr lang="en-US" sz="2400" i="1" dirty="0" err="1" smtClean="0">
                <a:latin typeface="Times New Roman" pitchFamily="18" charset="0"/>
                <a:cs typeface="Times New Roman" pitchFamily="18" charset="0"/>
              </a:rPr>
              <a:t>n</a:t>
            </a:r>
            <a:r>
              <a:rPr lang="en-US" sz="2400" i="1" baseline="-25000" dirty="0" err="1" smtClean="0">
                <a:latin typeface="Times New Roman" pitchFamily="18" charset="0"/>
                <a:cs typeface="Times New Roman" pitchFamily="18" charset="0"/>
              </a:rPr>
              <a:t>k</a:t>
            </a:r>
            <a:r>
              <a:rPr lang="ru-RU" sz="2400" i="1" baseline="-25000" dirty="0" smtClean="0">
                <a:latin typeface="Times New Roman" pitchFamily="18" charset="0"/>
                <a:cs typeface="Times New Roman" pitchFamily="18" charset="0"/>
              </a:rPr>
              <a:t>-1</a:t>
            </a:r>
            <a:r>
              <a:rPr lang="ru-RU" sz="2400" i="1"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a:t>
            </a:r>
            <a:r>
              <a:rPr lang="en-US" sz="2400" i="1" dirty="0" err="1" smtClean="0">
                <a:latin typeface="Times New Roman" pitchFamily="18" charset="0"/>
                <a:cs typeface="Times New Roman" pitchFamily="18" charset="0"/>
              </a:rPr>
              <a:t>h</a:t>
            </a:r>
            <a:r>
              <a:rPr lang="en-US" sz="2400" i="1" baseline="-25000" dirty="0" err="1" smtClean="0">
                <a:latin typeface="Times New Roman" pitchFamily="18" charset="0"/>
                <a:cs typeface="Times New Roman" pitchFamily="18" charset="0"/>
              </a:rPr>
              <a:t>k</a:t>
            </a:r>
            <a:r>
              <a:rPr lang="ru-RU" sz="2400" i="1" baseline="-25000" dirty="0" smtClean="0">
                <a:latin typeface="Times New Roman" pitchFamily="18" charset="0"/>
                <a:cs typeface="Times New Roman" pitchFamily="18" charset="0"/>
              </a:rPr>
              <a:t>-2</a:t>
            </a:r>
            <a:r>
              <a:rPr lang="ru-RU" sz="2400" i="1" dirty="0" smtClean="0">
                <a:latin typeface="Times New Roman" pitchFamily="18" charset="0"/>
                <a:cs typeface="Times New Roman" pitchFamily="18" charset="0"/>
              </a:rPr>
              <a:t> (</a:t>
            </a:r>
            <a:r>
              <a:rPr lang="en-US" sz="2400" i="1" dirty="0" err="1" smtClean="0">
                <a:latin typeface="Times New Roman" pitchFamily="18" charset="0"/>
                <a:cs typeface="Times New Roman" pitchFamily="18" charset="0"/>
              </a:rPr>
              <a:t>v</a:t>
            </a:r>
            <a:r>
              <a:rPr lang="en-US" sz="2400" i="1" baseline="-25000" dirty="0" err="1" smtClean="0">
                <a:latin typeface="Times New Roman" pitchFamily="18" charset="0"/>
                <a:cs typeface="Times New Roman" pitchFamily="18" charset="0"/>
              </a:rPr>
              <a:t>k</a:t>
            </a:r>
            <a:r>
              <a:rPr lang="ru-RU" sz="2400" i="1" baseline="-25000" dirty="0" smtClean="0">
                <a:latin typeface="Times New Roman" pitchFamily="18" charset="0"/>
                <a:cs typeface="Times New Roman" pitchFamily="18" charset="0"/>
              </a:rPr>
              <a:t>-2</a:t>
            </a:r>
            <a:r>
              <a:rPr lang="ru-RU" sz="2400" i="1" dirty="0" smtClean="0">
                <a:latin typeface="Times New Roman" pitchFamily="18" charset="0"/>
                <a:cs typeface="Times New Roman" pitchFamily="18" charset="0"/>
              </a:rPr>
              <a:t>))</a:t>
            </a:r>
            <a:r>
              <a:rPr lang="ru-RU" sz="2400" dirty="0" smtClean="0">
                <a:latin typeface="Times New Roman" pitchFamily="18" charset="0"/>
                <a:cs typeface="Times New Roman" pitchFamily="18" charset="0"/>
              </a:rPr>
              <a:t> + ••• </a:t>
            </a:r>
            <a:r>
              <a:rPr lang="ru-RU" sz="2400" i="1"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n</a:t>
            </a:r>
            <a:r>
              <a:rPr lang="ru-RU" sz="2400" i="1" baseline="-25000" dirty="0" smtClean="0">
                <a:latin typeface="Times New Roman" pitchFamily="18" charset="0"/>
                <a:cs typeface="Times New Roman" pitchFamily="18" charset="0"/>
              </a:rPr>
              <a:t>2</a:t>
            </a:r>
            <a:r>
              <a:rPr lang="ru-RU" sz="2400" i="1"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h</a:t>
            </a:r>
            <a:r>
              <a:rPr lang="ru-RU" sz="2400" i="1" baseline="-25000" dirty="0" smtClean="0">
                <a:latin typeface="Times New Roman" pitchFamily="18" charset="0"/>
                <a:cs typeface="Times New Roman" pitchFamily="18" charset="0"/>
              </a:rPr>
              <a:t>1</a:t>
            </a:r>
            <a:r>
              <a:rPr lang="ru-RU" sz="2400" i="1"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v</a:t>
            </a:r>
            <a:r>
              <a:rPr lang="ru-RU" sz="2400" i="1" baseline="-25000" dirty="0" smtClean="0">
                <a:latin typeface="Times New Roman" pitchFamily="18" charset="0"/>
                <a:cs typeface="Times New Roman" pitchFamily="18" charset="0"/>
              </a:rPr>
              <a:t>1</a:t>
            </a:r>
            <a:r>
              <a:rPr lang="ru-RU" sz="2400" i="1"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a:t>
            </a:r>
            <a:r>
              <a:rPr lang="ru-RU" sz="2400" b="1" dirty="0" smtClean="0">
                <a:latin typeface="Times New Roman" pitchFamily="18" charset="0"/>
                <a:cs typeface="Times New Roman" pitchFamily="18" charset="0"/>
              </a:rPr>
              <a:t>1</a:t>
            </a:r>
            <a:r>
              <a:rPr lang="ru-RU" sz="2400" dirty="0" smtClean="0">
                <a:latin typeface="Times New Roman" pitchFamily="18" charset="0"/>
                <a:cs typeface="Times New Roman" pitchFamily="18" charset="0"/>
              </a:rPr>
              <a:t>)</a:t>
            </a:r>
          </a:p>
          <a:p>
            <a:pPr marL="0" indent="0" algn="just">
              <a:spcBef>
                <a:spcPts val="0"/>
              </a:spcBef>
              <a:buNone/>
            </a:pPr>
            <a:r>
              <a:rPr lang="ru-RU" sz="2400" dirty="0" smtClean="0">
                <a:latin typeface="Times New Roman" pitchFamily="18" charset="0"/>
                <a:cs typeface="Times New Roman" pitchFamily="18" charset="0"/>
              </a:rPr>
              <a:t>где функция хеширования </a:t>
            </a:r>
            <a:r>
              <a:rPr lang="en-US" sz="2400" i="1" dirty="0" smtClean="0">
                <a:latin typeface="Times New Roman" pitchFamily="18" charset="0"/>
                <a:cs typeface="Times New Roman" pitchFamily="18" charset="0"/>
              </a:rPr>
              <a:t>h</a:t>
            </a:r>
            <a:r>
              <a:rPr lang="en-US" sz="2400" i="1" baseline="-25000" dirty="0" smtClean="0">
                <a:latin typeface="Times New Roman" pitchFamily="18" charset="0"/>
                <a:cs typeface="Times New Roman" pitchFamily="18" charset="0"/>
              </a:rPr>
              <a:t>i</a:t>
            </a:r>
            <a:r>
              <a:rPr lang="ru-RU" sz="2400" i="1"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v</a:t>
            </a:r>
            <a:r>
              <a:rPr lang="en-US" sz="2400" i="1" baseline="-25000" dirty="0" smtClean="0">
                <a:latin typeface="Times New Roman" pitchFamily="18" charset="0"/>
                <a:cs typeface="Times New Roman" pitchFamily="18" charset="0"/>
              </a:rPr>
              <a:t>i</a:t>
            </a:r>
            <a:r>
              <a:rPr lang="ru-RU" sz="2400" i="1"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изменяется от 0 до </a:t>
            </a:r>
            <a:r>
              <a:rPr lang="en-US" sz="2400" i="1" dirty="0" err="1" smtClean="0">
                <a:latin typeface="Times New Roman" pitchFamily="18" charset="0"/>
                <a:cs typeface="Times New Roman" pitchFamily="18" charset="0"/>
              </a:rPr>
              <a:t>n</a:t>
            </a:r>
            <a:r>
              <a:rPr lang="en-US" sz="2400" i="1" baseline="-25000" dirty="0" err="1" smtClean="0">
                <a:latin typeface="Times New Roman" pitchFamily="18" charset="0"/>
                <a:cs typeface="Times New Roman" pitchFamily="18" charset="0"/>
              </a:rPr>
              <a:t>i</a:t>
            </a:r>
            <a:r>
              <a:rPr lang="en-US" sz="2400" i="1" baseline="-25000" dirty="0" smtClean="0">
                <a:latin typeface="Times New Roman" pitchFamily="18" charset="0"/>
                <a:cs typeface="Times New Roman" pitchFamily="18" charset="0"/>
              </a:rPr>
              <a:t> </a:t>
            </a:r>
            <a:br>
              <a:rPr lang="en-US" sz="2400" i="1" baseline="-25000" dirty="0" smtClean="0">
                <a:latin typeface="Times New Roman" pitchFamily="18" charset="0"/>
                <a:cs typeface="Times New Roman" pitchFamily="18" charset="0"/>
              </a:rPr>
            </a:br>
            <a:r>
              <a:rPr lang="ru-RU" sz="2400" dirty="0" smtClean="0">
                <a:latin typeface="Times New Roman" pitchFamily="18" charset="0"/>
                <a:cs typeface="Times New Roman" pitchFamily="18" charset="0"/>
              </a:rPr>
              <a:t>и </a:t>
            </a:r>
            <a:r>
              <a:rPr lang="en-US" sz="2400" i="1" dirty="0" smtClean="0">
                <a:latin typeface="Times New Roman" pitchFamily="18" charset="0"/>
                <a:cs typeface="Times New Roman" pitchFamily="18" charset="0"/>
              </a:rPr>
              <a:t>n</a:t>
            </a:r>
            <a:r>
              <a:rPr lang="ru-RU" sz="2400" i="1" baseline="-25000" dirty="0" smtClean="0">
                <a:latin typeface="Times New Roman" pitchFamily="18" charset="0"/>
                <a:cs typeface="Times New Roman" pitchFamily="18" charset="0"/>
              </a:rPr>
              <a:t>1</a:t>
            </a:r>
            <a:r>
              <a:rPr lang="ru-RU" sz="2400" dirty="0" smtClean="0">
                <a:latin typeface="Times New Roman" pitchFamily="18" charset="0"/>
                <a:cs typeface="Times New Roman" pitchFamily="18" charset="0"/>
              </a:rPr>
              <a:t>,</a:t>
            </a:r>
            <a:r>
              <a:rPr lang="ru-RU" sz="2400" i="1"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n</a:t>
            </a:r>
            <a:r>
              <a:rPr lang="ru-RU" sz="2400" i="1" baseline="-25000" dirty="0" smtClean="0">
                <a:latin typeface="Times New Roman" pitchFamily="18" charset="0"/>
                <a:cs typeface="Times New Roman" pitchFamily="18" charset="0"/>
              </a:rPr>
              <a:t>2</a:t>
            </a:r>
            <a:r>
              <a:rPr lang="ru-RU" sz="2400" dirty="0" smtClean="0">
                <a:latin typeface="Times New Roman" pitchFamily="18" charset="0"/>
                <a:cs typeface="Times New Roman" pitchFamily="18" charset="0"/>
              </a:rPr>
              <a:t>, ..., </a:t>
            </a:r>
            <a:r>
              <a:rPr lang="en-US" sz="2400" i="1" dirty="0" err="1" smtClean="0">
                <a:latin typeface="Times New Roman" pitchFamily="18" charset="0"/>
                <a:cs typeface="Times New Roman" pitchFamily="18" charset="0"/>
              </a:rPr>
              <a:t>n</a:t>
            </a:r>
            <a:r>
              <a:rPr lang="en-US" sz="2400" i="1" baseline="-25000" dirty="0" err="1" smtClean="0">
                <a:latin typeface="Times New Roman" pitchFamily="18" charset="0"/>
                <a:cs typeface="Times New Roman" pitchFamily="18" charset="0"/>
              </a:rPr>
              <a:t>k</a:t>
            </a:r>
            <a:r>
              <a:rPr lang="en-US" sz="2400" i="1"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выбираются таким образом, чтобы </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ru-RU" sz="2400" b="1" dirty="0" smtClean="0">
                <a:latin typeface="Times New Roman" pitchFamily="18" charset="0"/>
                <a:cs typeface="Times New Roman" pitchFamily="18" charset="0"/>
              </a:rPr>
              <a:t>их произведение было равно числу участков.</a:t>
            </a:r>
            <a:r>
              <a:rPr lang="en-US" sz="2400" dirty="0" smtClean="0">
                <a:latin typeface="Times New Roman" pitchFamily="18" charset="0"/>
                <a:cs typeface="Times New Roman" pitchFamily="18" charset="0"/>
              </a:rPr>
              <a:t> </a:t>
            </a:r>
            <a:endParaRPr lang="ru-RU" sz="2400" dirty="0" smtClean="0">
              <a:latin typeface="Times New Roman" pitchFamily="18" charset="0"/>
              <a:cs typeface="Times New Roman" pitchFamily="18" charset="0"/>
            </a:endParaRPr>
          </a:p>
          <a:p>
            <a:pPr marL="0" indent="457200" algn="just">
              <a:spcBef>
                <a:spcPts val="0"/>
              </a:spcBef>
              <a:buFont typeface="Wingdings" pitchFamily="2" charset="2"/>
              <a:buNone/>
            </a:pPr>
            <a:r>
              <a:rPr lang="ru-RU" sz="2400" dirty="0" smtClean="0">
                <a:latin typeface="Times New Roman" pitchFamily="18" charset="0"/>
                <a:cs typeface="Times New Roman" pitchFamily="18" charset="0"/>
              </a:rPr>
              <a:t>Формула (1) является обобщением подхода, когда номером  участка  является совокупность бит, вычисляемых отдельно для  различных полей. </a:t>
            </a:r>
            <a:r>
              <a:rPr lang="en-US" sz="2400"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В обозначениях, принятых ранее   </a:t>
            </a:r>
            <a:r>
              <a:rPr lang="en-US" sz="2400" i="1" dirty="0" err="1" smtClean="0">
                <a:latin typeface="Times New Roman" pitchFamily="18" charset="0"/>
                <a:cs typeface="Times New Roman" pitchFamily="18" charset="0"/>
              </a:rPr>
              <a:t>n</a:t>
            </a:r>
            <a:r>
              <a:rPr lang="en-US" sz="2400" i="1" baseline="-25000" dirty="0" err="1" smtClean="0">
                <a:latin typeface="Times New Roman" pitchFamily="18" charset="0"/>
                <a:cs typeface="Times New Roman" pitchFamily="18" charset="0"/>
              </a:rPr>
              <a:t>i</a:t>
            </a:r>
            <a:r>
              <a:rPr lang="en-US" sz="2400" i="1" dirty="0" smtClean="0">
                <a:latin typeface="Times New Roman" pitchFamily="18" charset="0"/>
                <a:cs typeface="Times New Roman" pitchFamily="18" charset="0"/>
              </a:rPr>
              <a:t> = 2</a:t>
            </a:r>
            <a:r>
              <a:rPr lang="en-US" sz="2400" i="1" baseline="40000" dirty="0" smtClean="0">
                <a:latin typeface="Times New Roman" pitchFamily="18" charset="0"/>
                <a:cs typeface="Times New Roman" pitchFamily="18" charset="0"/>
              </a:rPr>
              <a:t>b</a:t>
            </a:r>
            <a:r>
              <a:rPr lang="en-US" sz="2000" i="1" baseline="40000" dirty="0" smtClean="0">
                <a:latin typeface="Times New Roman" pitchFamily="18" charset="0"/>
                <a:cs typeface="Times New Roman" pitchFamily="18" charset="0"/>
              </a:rPr>
              <a:t>i</a:t>
            </a:r>
            <a:endParaRPr lang="ru-RU" sz="2000" i="1" baseline="40000" dirty="0" smtClean="0">
              <a:latin typeface="Times New Roman" pitchFamily="18" charset="0"/>
              <a:cs typeface="Times New Roman" pitchFamily="18" charset="0"/>
            </a:endParaRPr>
          </a:p>
        </p:txBody>
      </p:sp>
      <p:sp>
        <p:nvSpPr>
          <p:cNvPr id="18436" name="Номер слайда 3"/>
          <p:cNvSpPr>
            <a:spLocks noGrp="1"/>
          </p:cNvSpPr>
          <p:nvPr>
            <p:ph type="sldNum" sz="quarter" idx="11"/>
          </p:nvPr>
        </p:nvSpPr>
        <p:spPr>
          <a:xfrm>
            <a:off x="7452320" y="6399330"/>
            <a:ext cx="1234480" cy="3062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fld id="{E58BBDE3-7FF1-42D7-90A7-F40A286820F2}" type="slidenum">
              <a:rPr lang="ru-RU" sz="1200" smtClean="0">
                <a:latin typeface="Arial Black" pitchFamily="34" charset="0"/>
              </a:rPr>
              <a:pPr eaLnBrk="1" hangingPunct="1"/>
              <a:t>19</a:t>
            </a:fld>
            <a:endParaRPr lang="ru-RU" sz="1200" dirty="0" smtClean="0">
              <a:latin typeface="Arial Black" pitchFamily="34" charset="0"/>
            </a:endParaRPr>
          </a:p>
        </p:txBody>
      </p:sp>
      <p:sp>
        <p:nvSpPr>
          <p:cNvPr id="18437" name="Нижний колонтитул 4"/>
          <p:cNvSpPr>
            <a:spLocks noGrp="1"/>
          </p:cNvSpPr>
          <p:nvPr>
            <p:ph type="ftr" sz="quarter" idx="10"/>
          </p:nvPr>
        </p:nvSpPr>
        <p:spPr>
          <a:xfrm>
            <a:off x="3124200" y="6534344"/>
            <a:ext cx="2797950" cy="17125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endParaRPr lang="ru-RU" sz="1200" dirty="0"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
                                  </p:iterate>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
                                  </p:iterate>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0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
                                  </p:iterate>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10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lt">
                                    <p:tmPct val="10000"/>
                                  </p:iterate>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1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lt">
                                    <p:tmPct val="10000"/>
                                  </p:iterate>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Заголовок 1"/>
          <p:cNvSpPr>
            <a:spLocks noGrp="1"/>
          </p:cNvSpPr>
          <p:nvPr>
            <p:ph type="title"/>
          </p:nvPr>
        </p:nvSpPr>
        <p:spPr>
          <a:xfrm>
            <a:off x="468313" y="476250"/>
            <a:ext cx="8229600" cy="668338"/>
          </a:xfrm>
        </p:spPr>
        <p:txBody>
          <a:bodyPr/>
          <a:lstStyle/>
          <a:p>
            <a:pPr algn="ctr"/>
            <a:r>
              <a:rPr lang="ru-RU" sz="3600" dirty="0" smtClean="0">
                <a:solidFill>
                  <a:schemeClr val="bg2"/>
                </a:solidFill>
              </a:rPr>
              <a:t>Оптимизация бит между ключами</a:t>
            </a:r>
            <a:endParaRPr lang="ru-RU" sz="3600" dirty="0" smtClean="0"/>
          </a:p>
        </p:txBody>
      </p:sp>
      <p:sp>
        <p:nvSpPr>
          <p:cNvPr id="3" name="Объект 2"/>
          <p:cNvSpPr>
            <a:spLocks noGrp="1"/>
          </p:cNvSpPr>
          <p:nvPr>
            <p:ph idx="1"/>
          </p:nvPr>
        </p:nvSpPr>
        <p:spPr>
          <a:xfrm>
            <a:off x="161510" y="1043735"/>
            <a:ext cx="8811040" cy="5496765"/>
          </a:xfrm>
        </p:spPr>
        <p:txBody>
          <a:bodyPr>
            <a:normAutofit fontScale="92500" lnSpcReduction="10000"/>
          </a:bodyPr>
          <a:lstStyle/>
          <a:p>
            <a:pPr marL="0" indent="0" algn="just">
              <a:spcBef>
                <a:spcPts val="0"/>
              </a:spcBef>
              <a:buFont typeface="Wingdings" pitchFamily="2" charset="2"/>
              <a:buChar char="v"/>
            </a:pPr>
            <a:r>
              <a:rPr lang="ru-RU" sz="2400" dirty="0" smtClean="0">
                <a:latin typeface="Times New Roman" pitchFamily="18" charset="0"/>
                <a:cs typeface="Times New Roman" pitchFamily="18" charset="0"/>
              </a:rPr>
              <a:t>Заметим, что если брать в качестве номера участка значение</a:t>
            </a:r>
          </a:p>
          <a:p>
            <a:pPr marL="0" indent="0" algn="ctr">
              <a:spcBef>
                <a:spcPts val="0"/>
              </a:spcBef>
              <a:buNone/>
            </a:pPr>
            <a:r>
              <a:rPr lang="en-US" sz="2400" b="1" i="1" dirty="0" smtClean="0">
                <a:latin typeface="Times New Roman" pitchFamily="18" charset="0"/>
                <a:cs typeface="Times New Roman" pitchFamily="18" charset="0"/>
              </a:rPr>
              <a:t>h</a:t>
            </a:r>
            <a:r>
              <a:rPr lang="ru-RU" sz="2400" b="1" i="1" baseline="-25000" dirty="0" smtClean="0">
                <a:latin typeface="Times New Roman" pitchFamily="18" charset="0"/>
                <a:cs typeface="Times New Roman" pitchFamily="18" charset="0"/>
              </a:rPr>
              <a:t>1</a:t>
            </a:r>
            <a:r>
              <a:rPr lang="ru-RU" sz="2400" b="1" i="1" dirty="0" smtClean="0">
                <a:latin typeface="Times New Roman" pitchFamily="18" charset="0"/>
                <a:cs typeface="Times New Roman" pitchFamily="18" charset="0"/>
              </a:rPr>
              <a:t>(</a:t>
            </a:r>
            <a:r>
              <a:rPr lang="en-US" sz="2400" b="1" i="1" dirty="0" smtClean="0">
                <a:latin typeface="Times New Roman" pitchFamily="18" charset="0"/>
                <a:cs typeface="Times New Roman" pitchFamily="18" charset="0"/>
              </a:rPr>
              <a:t>v</a:t>
            </a:r>
            <a:r>
              <a:rPr lang="ru-RU" sz="2400" b="1" i="1" baseline="-25000" dirty="0" smtClean="0">
                <a:latin typeface="Times New Roman" pitchFamily="18" charset="0"/>
                <a:cs typeface="Times New Roman" pitchFamily="18" charset="0"/>
              </a:rPr>
              <a:t>1</a:t>
            </a:r>
            <a:r>
              <a:rPr lang="ru-RU" sz="2400" b="1" i="1" dirty="0" smtClean="0">
                <a:latin typeface="Times New Roman" pitchFamily="18" charset="0"/>
                <a:cs typeface="Times New Roman" pitchFamily="18" charset="0"/>
              </a:rPr>
              <a:t>)</a:t>
            </a:r>
            <a:r>
              <a:rPr lang="en-US" sz="2400" b="1" i="1" dirty="0" smtClean="0">
                <a:latin typeface="Times New Roman" pitchFamily="18" charset="0"/>
                <a:cs typeface="Times New Roman" pitchFamily="18" charset="0"/>
              </a:rPr>
              <a:t>h</a:t>
            </a:r>
            <a:r>
              <a:rPr lang="ru-RU" sz="2400" b="1" i="1" baseline="-25000" dirty="0" smtClean="0">
                <a:latin typeface="Times New Roman" pitchFamily="18" charset="0"/>
                <a:cs typeface="Times New Roman" pitchFamily="18" charset="0"/>
              </a:rPr>
              <a:t>2</a:t>
            </a:r>
            <a:r>
              <a:rPr lang="ru-RU" sz="2400" b="1" i="1" dirty="0" smtClean="0">
                <a:latin typeface="Times New Roman" pitchFamily="18" charset="0"/>
                <a:cs typeface="Times New Roman" pitchFamily="18" charset="0"/>
              </a:rPr>
              <a:t>(</a:t>
            </a:r>
            <a:r>
              <a:rPr lang="en-US" sz="2400" b="1" i="1" dirty="0" smtClean="0">
                <a:latin typeface="Times New Roman" pitchFamily="18" charset="0"/>
                <a:cs typeface="Times New Roman" pitchFamily="18" charset="0"/>
              </a:rPr>
              <a:t>v</a:t>
            </a:r>
            <a:r>
              <a:rPr lang="ru-RU" sz="2400" b="1" i="1" baseline="-25000" dirty="0" smtClean="0">
                <a:latin typeface="Times New Roman" pitchFamily="18" charset="0"/>
                <a:cs typeface="Times New Roman" pitchFamily="18" charset="0"/>
              </a:rPr>
              <a:t>2</a:t>
            </a:r>
            <a:r>
              <a:rPr lang="ru-RU" sz="2400" b="1" i="1" dirty="0" smtClean="0">
                <a:latin typeface="Times New Roman" pitchFamily="18" charset="0"/>
                <a:cs typeface="Times New Roman" pitchFamily="18" charset="0"/>
              </a:rPr>
              <a:t>) ...</a:t>
            </a:r>
            <a:r>
              <a:rPr lang="en-US" sz="2400" b="1" i="1" dirty="0" err="1" smtClean="0">
                <a:latin typeface="Times New Roman" pitchFamily="18" charset="0"/>
                <a:cs typeface="Times New Roman" pitchFamily="18" charset="0"/>
              </a:rPr>
              <a:t>h</a:t>
            </a:r>
            <a:r>
              <a:rPr lang="en-US" sz="2400" b="1" i="1" baseline="-25000" dirty="0" err="1" smtClean="0">
                <a:latin typeface="Times New Roman" pitchFamily="18" charset="0"/>
                <a:cs typeface="Times New Roman" pitchFamily="18" charset="0"/>
              </a:rPr>
              <a:t>k</a:t>
            </a:r>
            <a:r>
              <a:rPr lang="ru-RU" sz="2400" b="1" i="1" dirty="0" smtClean="0">
                <a:latin typeface="Times New Roman" pitchFamily="18" charset="0"/>
                <a:cs typeface="Times New Roman" pitchFamily="18" charset="0"/>
              </a:rPr>
              <a:t>(</a:t>
            </a:r>
            <a:r>
              <a:rPr lang="en-US" sz="2400" b="1" i="1" dirty="0" err="1" smtClean="0">
                <a:latin typeface="Times New Roman" pitchFamily="18" charset="0"/>
                <a:cs typeface="Times New Roman" pitchFamily="18" charset="0"/>
              </a:rPr>
              <a:t>v</a:t>
            </a:r>
            <a:r>
              <a:rPr lang="en-US" sz="2400" b="1" i="1" baseline="-25000" dirty="0" err="1" smtClean="0">
                <a:latin typeface="Times New Roman" pitchFamily="18" charset="0"/>
                <a:cs typeface="Times New Roman" pitchFamily="18" charset="0"/>
              </a:rPr>
              <a:t>k</a:t>
            </a:r>
            <a:r>
              <a:rPr lang="ru-RU" sz="2400" b="1" i="1"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a:t>
            </a:r>
            <a:r>
              <a:rPr lang="ru-RU" sz="2400" b="1" dirty="0" smtClean="0">
                <a:latin typeface="Times New Roman" pitchFamily="18" charset="0"/>
                <a:cs typeface="Times New Roman" pitchFamily="18" charset="0"/>
              </a:rPr>
              <a:t>2</a:t>
            </a:r>
            <a:r>
              <a:rPr lang="ru-RU" sz="2400" dirty="0" smtClean="0">
                <a:latin typeface="Times New Roman" pitchFamily="18" charset="0"/>
                <a:cs typeface="Times New Roman" pitchFamily="18" charset="0"/>
              </a:rPr>
              <a:t>) </a:t>
            </a:r>
            <a:r>
              <a:rPr lang="ru-RU" sz="2400" b="1" i="1" dirty="0" smtClean="0">
                <a:latin typeface="Times New Roman" pitchFamily="18" charset="0"/>
                <a:cs typeface="Times New Roman" pitchFamily="18" charset="0"/>
              </a:rPr>
              <a:t>, </a:t>
            </a:r>
          </a:p>
          <a:p>
            <a:pPr marL="0" indent="0" algn="just">
              <a:spcBef>
                <a:spcPts val="0"/>
              </a:spcBef>
              <a:buNone/>
            </a:pPr>
            <a:r>
              <a:rPr lang="ru-RU" sz="2400" dirty="0" smtClean="0">
                <a:latin typeface="Times New Roman" pitchFamily="18" charset="0"/>
                <a:cs typeface="Times New Roman" pitchFamily="18" charset="0"/>
              </a:rPr>
              <a:t>   как мы условились раньше, </a:t>
            </a:r>
            <a:r>
              <a:rPr lang="ru-RU" sz="2400" b="1" i="1" dirty="0" smtClean="0">
                <a:latin typeface="Times New Roman" pitchFamily="18" charset="0"/>
                <a:cs typeface="Times New Roman" pitchFamily="18" charset="0"/>
              </a:rPr>
              <a:t>то оптимума не будет </a:t>
            </a:r>
            <a:br>
              <a:rPr lang="ru-RU" sz="2400" b="1" i="1" dirty="0" smtClean="0">
                <a:latin typeface="Times New Roman" pitchFamily="18" charset="0"/>
                <a:cs typeface="Times New Roman" pitchFamily="18" charset="0"/>
              </a:rPr>
            </a:br>
            <a:r>
              <a:rPr lang="ru-RU" sz="2400" b="1" i="1" dirty="0" smtClean="0">
                <a:latin typeface="Times New Roman" pitchFamily="18" charset="0"/>
                <a:cs typeface="Times New Roman" pitchFamily="18" charset="0"/>
              </a:rPr>
              <a:t>   (теорема 1), </a:t>
            </a:r>
            <a:r>
              <a:rPr lang="ru-RU" sz="2400" dirty="0" smtClean="0">
                <a:latin typeface="Times New Roman" pitchFamily="18" charset="0"/>
                <a:cs typeface="Times New Roman" pitchFamily="18" charset="0"/>
              </a:rPr>
              <a:t>но </a:t>
            </a:r>
            <a:r>
              <a:rPr lang="ru-RU" sz="2400" b="1" i="1"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вместе с тем простота использования</a:t>
            </a:r>
          </a:p>
          <a:p>
            <a:pPr marL="0" indent="0" algn="just">
              <a:spcBef>
                <a:spcPts val="0"/>
              </a:spcBef>
              <a:buNone/>
            </a:pPr>
            <a:r>
              <a:rPr lang="ru-RU" sz="2400" dirty="0" smtClean="0">
                <a:latin typeface="Times New Roman" pitchFamily="18" charset="0"/>
                <a:cs typeface="Times New Roman" pitchFamily="18" charset="0"/>
              </a:rPr>
              <a:t>   выражения (2) вместо формулы (1) заслуживает внимания.</a:t>
            </a:r>
          </a:p>
          <a:p>
            <a:pPr marL="180000" indent="-180000" algn="just">
              <a:spcBef>
                <a:spcPts val="0"/>
              </a:spcBef>
              <a:buFont typeface="Wingdings" pitchFamily="2" charset="2"/>
              <a:buChar char="v"/>
            </a:pPr>
            <a:r>
              <a:rPr lang="ru-RU" sz="2400" dirty="0" smtClean="0">
                <a:latin typeface="Times New Roman" pitchFamily="18" charset="0"/>
                <a:cs typeface="Times New Roman" pitchFamily="18" charset="0"/>
              </a:rPr>
              <a:t>Теорема поддерживает подход к построению адресов участков как конкатенации значений </a:t>
            </a:r>
            <a:r>
              <a:rPr lang="ru-RU" sz="2400" dirty="0" err="1" smtClean="0">
                <a:latin typeface="Times New Roman" pitchFamily="18" charset="0"/>
                <a:cs typeface="Times New Roman" pitchFamily="18" charset="0"/>
              </a:rPr>
              <a:t>Хэш</a:t>
            </a:r>
            <a:r>
              <a:rPr lang="en-US" sz="2400" dirty="0" smtClean="0">
                <a:latin typeface="Times New Roman" pitchFamily="18" charset="0"/>
                <a:cs typeface="Times New Roman" pitchFamily="18" charset="0"/>
              </a:rPr>
              <a:t>-</a:t>
            </a:r>
            <a:r>
              <a:rPr lang="ru-RU" sz="2400" dirty="0" smtClean="0">
                <a:latin typeface="Times New Roman" pitchFamily="18" charset="0"/>
                <a:cs typeface="Times New Roman" pitchFamily="18" charset="0"/>
              </a:rPr>
              <a:t>функций для отдельных полей.</a:t>
            </a:r>
          </a:p>
          <a:p>
            <a:pPr marL="180000" indent="-180000" algn="just">
              <a:spcBef>
                <a:spcPts val="0"/>
              </a:spcBef>
              <a:buFont typeface="Wingdings" pitchFamily="2" charset="2"/>
              <a:buChar char="v"/>
            </a:pPr>
            <a:r>
              <a:rPr lang="ru-RU" sz="2400" dirty="0" smtClean="0">
                <a:latin typeface="Times New Roman" pitchFamily="18" charset="0"/>
                <a:cs typeface="Times New Roman" pitchFamily="18" charset="0"/>
              </a:rPr>
              <a:t>Однако она не дает ответа на вопрос какие должны быть значения </a:t>
            </a:r>
            <a:r>
              <a:rPr lang="en-US" sz="2400" i="1" dirty="0" err="1" smtClean="0">
                <a:latin typeface="Times New Roman" pitchFamily="18" charset="0"/>
                <a:cs typeface="Times New Roman" pitchFamily="18" charset="0"/>
              </a:rPr>
              <a:t>n</a:t>
            </a:r>
            <a:r>
              <a:rPr lang="en-US" sz="2400" i="1" baseline="-25000" dirty="0" err="1" smtClean="0">
                <a:latin typeface="Times New Roman" pitchFamily="18" charset="0"/>
                <a:cs typeface="Times New Roman" pitchFamily="18" charset="0"/>
              </a:rPr>
              <a:t>i</a:t>
            </a:r>
            <a:r>
              <a:rPr lang="en-US" sz="2400" i="1" baseline="-250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 (</a:t>
            </a:r>
            <a:r>
              <a:rPr lang="ru-RU" sz="2400" i="1" dirty="0" smtClean="0">
                <a:latin typeface="Times New Roman" pitchFamily="18" charset="0"/>
                <a:cs typeface="Times New Roman" pitchFamily="18" charset="0"/>
              </a:rPr>
              <a:t>ранее мы ограничивали их степенями 2: </a:t>
            </a:r>
            <a:r>
              <a:rPr lang="en-US" sz="2400" i="1" dirty="0" err="1" smtClean="0">
                <a:latin typeface="Times New Roman" pitchFamily="18" charset="0"/>
                <a:cs typeface="Times New Roman" pitchFamily="18" charset="0"/>
              </a:rPr>
              <a:t>n</a:t>
            </a:r>
            <a:r>
              <a:rPr lang="en-US" sz="2400" i="1" baseline="-25000" dirty="0" err="1" smtClean="0">
                <a:latin typeface="Times New Roman" pitchFamily="18" charset="0"/>
                <a:cs typeface="Times New Roman" pitchFamily="18" charset="0"/>
              </a:rPr>
              <a:t>i</a:t>
            </a:r>
            <a:r>
              <a:rPr lang="en-US" sz="2400" i="1" baseline="-250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 = 2</a:t>
            </a:r>
            <a:r>
              <a:rPr lang="en-US" sz="2400" i="1" baseline="30000" dirty="0" smtClean="0">
                <a:latin typeface="Times New Roman" pitchFamily="18" charset="0"/>
                <a:cs typeface="Times New Roman" pitchFamily="18" charset="0"/>
              </a:rPr>
              <a:t>b</a:t>
            </a:r>
            <a:r>
              <a:rPr lang="en-US" sz="2400" i="1" baseline="20000" dirty="0" smtClean="0">
                <a:latin typeface="Times New Roman" pitchFamily="18" charset="0"/>
                <a:cs typeface="Times New Roman" pitchFamily="18" charset="0"/>
              </a:rPr>
              <a:t>i </a:t>
            </a:r>
            <a:r>
              <a:rPr lang="en-US" sz="2400" i="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или значения </a:t>
            </a:r>
            <a:r>
              <a:rPr lang="en-US" sz="2400" i="1" dirty="0" smtClean="0">
                <a:latin typeface="Times New Roman" pitchFamily="18" charset="0"/>
                <a:cs typeface="Times New Roman" pitchFamily="18" charset="0"/>
              </a:rPr>
              <a:t>b</a:t>
            </a:r>
            <a:r>
              <a:rPr lang="en-US" sz="2400" i="1" baseline="30000" dirty="0" smtClean="0">
                <a:latin typeface="Times New Roman" pitchFamily="18" charset="0"/>
                <a:cs typeface="Times New Roman" pitchFamily="18" charset="0"/>
              </a:rPr>
              <a:t>i</a:t>
            </a:r>
            <a:r>
              <a:rPr lang="ru-RU" sz="2400" i="1" baseline="30000" dirty="0" smtClean="0">
                <a:latin typeface="Times New Roman" pitchFamily="18" charset="0"/>
                <a:cs typeface="Times New Roman" pitchFamily="18" charset="0"/>
              </a:rPr>
              <a:t> </a:t>
            </a:r>
            <a:r>
              <a:rPr lang="ru-RU" sz="2400" i="1" dirty="0" smtClean="0">
                <a:latin typeface="Times New Roman" pitchFamily="18" charset="0"/>
                <a:cs typeface="Times New Roman" pitchFamily="18" charset="0"/>
              </a:rPr>
              <a:t>. </a:t>
            </a:r>
          </a:p>
          <a:p>
            <a:pPr marL="180000" indent="-180000" algn="just">
              <a:spcBef>
                <a:spcPts val="0"/>
              </a:spcBef>
              <a:buFont typeface="Wingdings" pitchFamily="2" charset="2"/>
              <a:buChar char="v"/>
            </a:pPr>
            <a:r>
              <a:rPr lang="ru-RU" sz="2400" dirty="0" smtClean="0">
                <a:latin typeface="Times New Roman" pitchFamily="18" charset="0"/>
                <a:cs typeface="Times New Roman" pitchFamily="18" charset="0"/>
              </a:rPr>
              <a:t>Очевидно</a:t>
            </a:r>
            <a:r>
              <a:rPr lang="ru-RU" sz="2400" i="1"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b</a:t>
            </a:r>
            <a:r>
              <a:rPr lang="en-US" sz="2400" i="1" baseline="30000" dirty="0" smtClean="0">
                <a:latin typeface="Times New Roman" pitchFamily="18" charset="0"/>
                <a:cs typeface="Times New Roman" pitchFamily="18" charset="0"/>
              </a:rPr>
              <a:t>i</a:t>
            </a:r>
            <a:r>
              <a:rPr lang="ru-RU" sz="2400" i="1"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зависят от частот, с  которыми различные поля специфицируются (используются для поиска ) в запросах</a:t>
            </a:r>
            <a:r>
              <a:rPr lang="ru-RU" sz="2400" i="1" dirty="0" smtClean="0">
                <a:latin typeface="Times New Roman" pitchFamily="18" charset="0"/>
                <a:cs typeface="Times New Roman" pitchFamily="18" charset="0"/>
              </a:rPr>
              <a:t>.</a:t>
            </a:r>
          </a:p>
          <a:p>
            <a:pPr marL="180000" indent="-180000" algn="just">
              <a:spcBef>
                <a:spcPts val="0"/>
              </a:spcBef>
              <a:buFont typeface="Wingdings" pitchFamily="2" charset="2"/>
              <a:buChar char="v"/>
            </a:pPr>
            <a:r>
              <a:rPr lang="ru-RU" sz="2400" dirty="0" smtClean="0">
                <a:latin typeface="Times New Roman" pitchFamily="18" charset="0"/>
                <a:cs typeface="Times New Roman" pitchFamily="18" charset="0"/>
              </a:rPr>
              <a:t>Например, если во всех запросах специфицируется только поле </a:t>
            </a:r>
            <a:r>
              <a:rPr lang="en-US" sz="2400" i="1" dirty="0" smtClean="0">
                <a:latin typeface="Times New Roman" pitchFamily="18" charset="0"/>
                <a:cs typeface="Times New Roman" pitchFamily="18" charset="0"/>
              </a:rPr>
              <a:t>F</a:t>
            </a:r>
            <a:r>
              <a:rPr lang="en-US" sz="2400" i="1" baseline="-25000" dirty="0" smtClean="0">
                <a:latin typeface="Times New Roman" pitchFamily="18" charset="0"/>
                <a:cs typeface="Times New Roman" pitchFamily="18" charset="0"/>
              </a:rPr>
              <a:t>1</a:t>
            </a:r>
            <a:r>
              <a:rPr lang="en-US" sz="2400" i="1"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то очевидно, что </a:t>
            </a:r>
            <a:r>
              <a:rPr lang="en-US" sz="2400" i="1" dirty="0" smtClean="0">
                <a:latin typeface="Times New Roman" pitchFamily="18" charset="0"/>
                <a:cs typeface="Times New Roman" pitchFamily="18" charset="0"/>
              </a:rPr>
              <a:t>b</a:t>
            </a:r>
            <a:r>
              <a:rPr lang="en-US" sz="2400" i="1" baseline="-25000" dirty="0" smtClean="0">
                <a:latin typeface="Times New Roman" pitchFamily="18" charset="0"/>
                <a:cs typeface="Times New Roman" pitchFamily="18" charset="0"/>
              </a:rPr>
              <a:t>1 </a:t>
            </a:r>
            <a:r>
              <a:rPr lang="en-US" sz="2400" i="1" dirty="0" smtClean="0">
                <a:latin typeface="Times New Roman" pitchFamily="18" charset="0"/>
                <a:cs typeface="Times New Roman" pitchFamily="18" charset="0"/>
              </a:rPr>
              <a:t>= B</a:t>
            </a:r>
            <a:r>
              <a:rPr lang="ru-RU" sz="2400" i="1" dirty="0" smtClean="0">
                <a:latin typeface="Times New Roman" pitchFamily="18" charset="0"/>
                <a:cs typeface="Times New Roman" pitchFamily="18" charset="0"/>
              </a:rPr>
              <a:t>, а </a:t>
            </a:r>
            <a:r>
              <a:rPr lang="en-US" sz="2400" i="1" dirty="0" smtClean="0">
                <a:latin typeface="Times New Roman" pitchFamily="18" charset="0"/>
                <a:cs typeface="Times New Roman" pitchFamily="18" charset="0"/>
              </a:rPr>
              <a:t>b</a:t>
            </a:r>
            <a:r>
              <a:rPr lang="ru-RU" sz="2400" i="1" baseline="-25000" dirty="0" smtClean="0">
                <a:latin typeface="Times New Roman" pitchFamily="18" charset="0"/>
                <a:cs typeface="Times New Roman" pitchFamily="18" charset="0"/>
              </a:rPr>
              <a:t>2</a:t>
            </a:r>
            <a:r>
              <a:rPr lang="ru-RU" sz="2400" i="1" dirty="0" smtClean="0">
                <a:latin typeface="Times New Roman" pitchFamily="18" charset="0"/>
                <a:cs typeface="Times New Roman" pitchFamily="18" charset="0"/>
              </a:rPr>
              <a:t>=</a:t>
            </a:r>
            <a:r>
              <a:rPr lang="en-US" sz="2400" i="1" baseline="-250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b</a:t>
            </a:r>
            <a:r>
              <a:rPr lang="ru-RU" sz="2400" i="1" baseline="-25000" dirty="0" smtClean="0">
                <a:latin typeface="Times New Roman" pitchFamily="18" charset="0"/>
                <a:cs typeface="Times New Roman" pitchFamily="18" charset="0"/>
              </a:rPr>
              <a:t>3</a:t>
            </a:r>
            <a:r>
              <a:rPr lang="ru-RU" sz="2400" i="1" dirty="0" smtClean="0">
                <a:latin typeface="Times New Roman" pitchFamily="18" charset="0"/>
                <a:cs typeface="Times New Roman" pitchFamily="18" charset="0"/>
              </a:rPr>
              <a:t> = … =</a:t>
            </a:r>
            <a:r>
              <a:rPr lang="en-US" sz="2400" i="1" baseline="-25000" dirty="0" smtClean="0">
                <a:latin typeface="Times New Roman" pitchFamily="18" charset="0"/>
                <a:cs typeface="Times New Roman" pitchFamily="18" charset="0"/>
              </a:rPr>
              <a:t> </a:t>
            </a:r>
            <a:r>
              <a:rPr lang="en-US" sz="2400" i="1" dirty="0" err="1" smtClean="0">
                <a:latin typeface="Times New Roman" pitchFamily="18" charset="0"/>
                <a:cs typeface="Times New Roman" pitchFamily="18" charset="0"/>
              </a:rPr>
              <a:t>b</a:t>
            </a:r>
            <a:r>
              <a:rPr lang="en-US" sz="2400" i="1" baseline="-25000" dirty="0" err="1" smtClean="0">
                <a:latin typeface="Times New Roman" pitchFamily="18" charset="0"/>
                <a:cs typeface="Times New Roman" pitchFamily="18" charset="0"/>
              </a:rPr>
              <a:t>k</a:t>
            </a:r>
            <a:r>
              <a:rPr lang="en-US" sz="2400" i="1" baseline="-250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 =0. </a:t>
            </a:r>
            <a:r>
              <a:rPr lang="ru-RU" sz="2400" dirty="0" smtClean="0">
                <a:latin typeface="Times New Roman" pitchFamily="18" charset="0"/>
                <a:cs typeface="Times New Roman" pitchFamily="18" charset="0"/>
              </a:rPr>
              <a:t>Это ситуация, когда </a:t>
            </a:r>
            <a:r>
              <a:rPr lang="ru-RU" sz="2400" dirty="0" err="1" smtClean="0">
                <a:latin typeface="Times New Roman" pitchFamily="18" charset="0"/>
                <a:cs typeface="Times New Roman" pitchFamily="18" charset="0"/>
              </a:rPr>
              <a:t>хэширование</a:t>
            </a:r>
            <a:r>
              <a:rPr lang="ru-RU" sz="2400" dirty="0" smtClean="0">
                <a:latin typeface="Times New Roman" pitchFamily="18" charset="0"/>
                <a:cs typeface="Times New Roman" pitchFamily="18" charset="0"/>
              </a:rPr>
              <a:t> идет по одному ключу.</a:t>
            </a:r>
          </a:p>
          <a:p>
            <a:pPr marL="180000" indent="-180000" algn="just">
              <a:spcBef>
                <a:spcPts val="0"/>
              </a:spcBef>
              <a:buFont typeface="Wingdings" pitchFamily="2" charset="2"/>
              <a:buChar char="v"/>
            </a:pPr>
            <a:r>
              <a:rPr lang="ru-RU" sz="2400" dirty="0" smtClean="0">
                <a:latin typeface="Times New Roman" pitchFamily="18" charset="0"/>
                <a:cs typeface="Times New Roman" pitchFamily="18" charset="0"/>
              </a:rPr>
              <a:t>С другой стороны, если для первой половины запросов специфицируется только поле </a:t>
            </a:r>
            <a:r>
              <a:rPr lang="en-US" sz="2400" i="1" dirty="0" smtClean="0">
                <a:latin typeface="Times New Roman" pitchFamily="18" charset="0"/>
                <a:cs typeface="Times New Roman" pitchFamily="18" charset="0"/>
              </a:rPr>
              <a:t>F</a:t>
            </a:r>
            <a:r>
              <a:rPr lang="en-US" sz="2400" i="1" baseline="-25000" dirty="0" smtClean="0">
                <a:latin typeface="Times New Roman" pitchFamily="18" charset="0"/>
                <a:cs typeface="Times New Roman" pitchFamily="18" charset="0"/>
              </a:rPr>
              <a:t>1</a:t>
            </a:r>
            <a:r>
              <a:rPr lang="en-US" sz="2400" i="1"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а для второй – только </a:t>
            </a:r>
            <a:r>
              <a:rPr lang="en-US" sz="2400" i="1" dirty="0" smtClean="0">
                <a:latin typeface="Times New Roman" pitchFamily="18" charset="0"/>
                <a:cs typeface="Times New Roman" pitchFamily="18" charset="0"/>
              </a:rPr>
              <a:t>F</a:t>
            </a:r>
            <a:r>
              <a:rPr lang="ru-RU" sz="2400" i="1" baseline="-25000" dirty="0" smtClean="0">
                <a:latin typeface="Times New Roman" pitchFamily="18" charset="0"/>
                <a:cs typeface="Times New Roman" pitchFamily="18" charset="0"/>
              </a:rPr>
              <a:t>2</a:t>
            </a:r>
            <a:r>
              <a:rPr lang="ru-RU" sz="2400" i="1" dirty="0" smtClean="0">
                <a:latin typeface="Times New Roman" pitchFamily="18" charset="0"/>
                <a:cs typeface="Times New Roman" pitchFamily="18" charset="0"/>
              </a:rPr>
              <a:t>  и</a:t>
            </a:r>
            <a:r>
              <a:rPr lang="en-US" sz="2400" i="1" dirty="0" smtClean="0">
                <a:latin typeface="Times New Roman" pitchFamily="18" charset="0"/>
                <a:cs typeface="Times New Roman" pitchFamily="18" charset="0"/>
              </a:rPr>
              <a:t> F</a:t>
            </a:r>
            <a:r>
              <a:rPr lang="ru-RU" sz="2400" i="1" baseline="-25000" dirty="0" smtClean="0">
                <a:latin typeface="Times New Roman" pitchFamily="18" charset="0"/>
                <a:cs typeface="Times New Roman" pitchFamily="18" charset="0"/>
              </a:rPr>
              <a:t>3</a:t>
            </a:r>
            <a:r>
              <a:rPr lang="en-US" sz="2400" i="1" dirty="0" smtClean="0">
                <a:latin typeface="Times New Roman" pitchFamily="18" charset="0"/>
                <a:cs typeface="Times New Roman" pitchFamily="18" charset="0"/>
              </a:rPr>
              <a:t>, </a:t>
            </a:r>
            <a:r>
              <a:rPr lang="ru-RU" sz="2400" dirty="0" smtClean="0">
                <a:latin typeface="Times New Roman" pitchFamily="18" charset="0"/>
                <a:cs typeface="Times New Roman" pitchFamily="18" charset="0"/>
              </a:rPr>
              <a:t>то наилучшее решение принять </a:t>
            </a:r>
            <a:r>
              <a:rPr lang="en-US" sz="2400" i="1" dirty="0" smtClean="0">
                <a:latin typeface="Times New Roman" pitchFamily="18" charset="0"/>
                <a:cs typeface="Times New Roman" pitchFamily="18" charset="0"/>
              </a:rPr>
              <a:t>b</a:t>
            </a:r>
            <a:r>
              <a:rPr lang="en-US" sz="2400" i="1" baseline="-25000" dirty="0" smtClean="0">
                <a:latin typeface="Times New Roman" pitchFamily="18" charset="0"/>
                <a:cs typeface="Times New Roman" pitchFamily="18" charset="0"/>
              </a:rPr>
              <a:t>1 </a:t>
            </a:r>
            <a:r>
              <a:rPr lang="en-US" sz="2400" i="1" dirty="0" smtClean="0">
                <a:latin typeface="Times New Roman" pitchFamily="18" charset="0"/>
                <a:cs typeface="Times New Roman" pitchFamily="18" charset="0"/>
              </a:rPr>
              <a:t>= B</a:t>
            </a:r>
            <a:r>
              <a:rPr lang="ru-RU" sz="2400" i="1" dirty="0" smtClean="0">
                <a:latin typeface="Times New Roman" pitchFamily="18" charset="0"/>
                <a:cs typeface="Times New Roman" pitchFamily="18" charset="0"/>
              </a:rPr>
              <a:t>/2, </a:t>
            </a:r>
            <a:r>
              <a:rPr lang="en-US" sz="2400" i="1" dirty="0" smtClean="0">
                <a:latin typeface="Times New Roman" pitchFamily="18" charset="0"/>
                <a:cs typeface="Times New Roman" pitchFamily="18" charset="0"/>
              </a:rPr>
              <a:t>b</a:t>
            </a:r>
            <a:r>
              <a:rPr lang="ru-RU" sz="2400" i="1" baseline="-25000" dirty="0" smtClean="0">
                <a:latin typeface="Times New Roman" pitchFamily="18" charset="0"/>
                <a:cs typeface="Times New Roman" pitchFamily="18" charset="0"/>
              </a:rPr>
              <a:t>2</a:t>
            </a:r>
            <a:r>
              <a:rPr lang="ru-RU" sz="2400" i="1" dirty="0" smtClean="0">
                <a:latin typeface="Times New Roman" pitchFamily="18" charset="0"/>
                <a:cs typeface="Times New Roman" pitchFamily="18" charset="0"/>
              </a:rPr>
              <a:t>=</a:t>
            </a:r>
            <a:r>
              <a:rPr lang="en-US" sz="2400" i="1" baseline="-250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b</a:t>
            </a:r>
            <a:r>
              <a:rPr lang="ru-RU" sz="2400" i="1" baseline="-25000" dirty="0" smtClean="0">
                <a:latin typeface="Times New Roman" pitchFamily="18" charset="0"/>
                <a:cs typeface="Times New Roman" pitchFamily="18" charset="0"/>
              </a:rPr>
              <a:t>3</a:t>
            </a:r>
            <a:r>
              <a:rPr lang="ru-RU" sz="2400" i="1"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 B</a:t>
            </a:r>
            <a:r>
              <a:rPr lang="ru-RU" sz="2400" i="1" dirty="0" smtClean="0">
                <a:latin typeface="Times New Roman" pitchFamily="18" charset="0"/>
                <a:cs typeface="Times New Roman" pitchFamily="18" charset="0"/>
              </a:rPr>
              <a:t>/4 и </a:t>
            </a:r>
            <a:r>
              <a:rPr lang="en-US" sz="2400" i="1" dirty="0" smtClean="0">
                <a:latin typeface="Times New Roman" pitchFamily="18" charset="0"/>
                <a:cs typeface="Times New Roman" pitchFamily="18" charset="0"/>
              </a:rPr>
              <a:t>b</a:t>
            </a:r>
            <a:r>
              <a:rPr lang="en-US" sz="2400" i="1" baseline="-25000" dirty="0" smtClean="0">
                <a:latin typeface="Times New Roman" pitchFamily="18" charset="0"/>
                <a:cs typeface="Times New Roman" pitchFamily="18" charset="0"/>
              </a:rPr>
              <a:t>i </a:t>
            </a:r>
            <a:r>
              <a:rPr lang="en-US" sz="2400" i="1" dirty="0" smtClean="0">
                <a:latin typeface="Times New Roman" pitchFamily="18" charset="0"/>
                <a:cs typeface="Times New Roman" pitchFamily="18" charset="0"/>
              </a:rPr>
              <a:t> =0 </a:t>
            </a:r>
            <a:r>
              <a:rPr lang="ru-RU" sz="2400" dirty="0" smtClean="0">
                <a:latin typeface="Times New Roman" pitchFamily="18" charset="0"/>
                <a:cs typeface="Times New Roman" pitchFamily="18" charset="0"/>
              </a:rPr>
              <a:t>для </a:t>
            </a:r>
            <a:r>
              <a:rPr lang="en-US" sz="2400" i="1" dirty="0" err="1" smtClean="0">
                <a:latin typeface="Times New Roman" pitchFamily="18" charset="0"/>
                <a:cs typeface="Times New Roman" pitchFamily="18" charset="0"/>
              </a:rPr>
              <a:t>i</a:t>
            </a:r>
            <a:r>
              <a:rPr lang="en-US" sz="2400" i="1" dirty="0" smtClean="0">
                <a:latin typeface="Times New Roman" pitchFamily="18" charset="0"/>
                <a:cs typeface="Times New Roman" pitchFamily="18" charset="0"/>
              </a:rPr>
              <a:t> &gt; 3</a:t>
            </a:r>
            <a:r>
              <a:rPr lang="ru-RU" sz="2400" dirty="0" smtClean="0">
                <a:latin typeface="Times New Roman" pitchFamily="18" charset="0"/>
                <a:cs typeface="Times New Roman" pitchFamily="18" charset="0"/>
              </a:rPr>
              <a:t>.</a:t>
            </a:r>
            <a:r>
              <a:rPr lang="en-US" sz="2400" dirty="0" smtClean="0">
                <a:latin typeface="Times New Roman" pitchFamily="18" charset="0"/>
                <a:cs typeface="Times New Roman" pitchFamily="18" charset="0"/>
              </a:rPr>
              <a:t> </a:t>
            </a:r>
            <a:endParaRPr lang="ru-RU" sz="2400" dirty="0" smtClean="0">
              <a:latin typeface="Times New Roman" pitchFamily="18" charset="0"/>
              <a:cs typeface="Times New Roman" pitchFamily="18" charset="0"/>
            </a:endParaRPr>
          </a:p>
          <a:p>
            <a:pPr marL="180000" indent="-180000" algn="just">
              <a:spcBef>
                <a:spcPts val="0"/>
              </a:spcBef>
              <a:buFont typeface="Wingdings" pitchFamily="2" charset="2"/>
              <a:buChar char="ü"/>
            </a:pPr>
            <a:endParaRPr lang="ru-RU" sz="2400" i="1" dirty="0" smtClean="0">
              <a:latin typeface="Times New Roman" pitchFamily="18" charset="0"/>
              <a:cs typeface="Times New Roman" pitchFamily="18" charset="0"/>
            </a:endParaRPr>
          </a:p>
        </p:txBody>
      </p:sp>
      <p:sp>
        <p:nvSpPr>
          <p:cNvPr id="18436" name="Номер слайда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fld id="{E58BBDE3-7FF1-42D7-90A7-F40A286820F2}" type="slidenum">
              <a:rPr lang="ru-RU" sz="1200" smtClean="0">
                <a:latin typeface="Arial Black" pitchFamily="34" charset="0"/>
              </a:rPr>
              <a:pPr eaLnBrk="1" hangingPunct="1"/>
              <a:t>20</a:t>
            </a:fld>
            <a:endParaRPr lang="ru-RU" sz="1200" dirty="0" smtClean="0">
              <a:latin typeface="Arial Black"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
                                  </p:iterate>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
                                  </p:iterate>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
                                  </p:iterate>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lt">
                                    <p:tmPct val="10000"/>
                                  </p:iterate>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1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lt">
                                    <p:tmPct val="10000"/>
                                  </p:iterate>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1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lt">
                                    <p:tmPct val="10000"/>
                                  </p:iterate>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1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iterate type="lt">
                                    <p:tmPct val="10000"/>
                                  </p:iterate>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left)">
                                      <p:cBhvr>
                                        <p:cTn id="47" dur="1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Заголовок 1"/>
          <p:cNvSpPr>
            <a:spLocks noGrp="1"/>
          </p:cNvSpPr>
          <p:nvPr>
            <p:ph type="title"/>
          </p:nvPr>
        </p:nvSpPr>
        <p:spPr>
          <a:xfrm>
            <a:off x="468313" y="476250"/>
            <a:ext cx="8229600" cy="374650"/>
          </a:xfrm>
        </p:spPr>
        <p:txBody>
          <a:bodyPr/>
          <a:lstStyle/>
          <a:p>
            <a:pPr algn="ctr"/>
            <a:r>
              <a:rPr lang="ru-RU" sz="3600" dirty="0" smtClean="0">
                <a:solidFill>
                  <a:schemeClr val="bg2"/>
                </a:solidFill>
              </a:rPr>
              <a:t>Оптимизация бит между ключами</a:t>
            </a:r>
            <a:endParaRPr lang="ru-RU" sz="3600" dirty="0" smtClean="0"/>
          </a:p>
        </p:txBody>
      </p:sp>
      <p:sp>
        <p:nvSpPr>
          <p:cNvPr id="3" name="Объект 2"/>
          <p:cNvSpPr>
            <a:spLocks noGrp="1"/>
          </p:cNvSpPr>
          <p:nvPr>
            <p:ph idx="1"/>
          </p:nvPr>
        </p:nvSpPr>
        <p:spPr>
          <a:xfrm>
            <a:off x="171450" y="939800"/>
            <a:ext cx="8667750" cy="5734050"/>
          </a:xfrm>
        </p:spPr>
        <p:txBody>
          <a:bodyPr>
            <a:normAutofit fontScale="77500" lnSpcReduction="20000"/>
          </a:bodyPr>
          <a:lstStyle/>
          <a:p>
            <a:pPr marL="0" indent="0" algn="just">
              <a:lnSpc>
                <a:spcPct val="120000"/>
              </a:lnSpc>
              <a:spcBef>
                <a:spcPts val="0"/>
              </a:spcBef>
              <a:buFont typeface="Wingdings" pitchFamily="2" charset="2"/>
              <a:buNone/>
            </a:pPr>
            <a:r>
              <a:rPr lang="ru-RU" sz="3400" dirty="0" smtClean="0">
                <a:latin typeface="Times New Roman" pitchFamily="18" charset="0"/>
                <a:cs typeface="Times New Roman" pitchFamily="18" charset="0"/>
              </a:rPr>
              <a:t>В нескольких частных случаях формула для </a:t>
            </a:r>
            <a:r>
              <a:rPr lang="en-US" sz="3400" i="1" dirty="0" smtClean="0">
                <a:latin typeface="Times New Roman" pitchFamily="18" charset="0"/>
                <a:cs typeface="Times New Roman" pitchFamily="18" charset="0"/>
              </a:rPr>
              <a:t>b</a:t>
            </a:r>
            <a:r>
              <a:rPr lang="en-US" sz="3400" i="1" baseline="-25000" dirty="0" smtClean="0">
                <a:latin typeface="Times New Roman" pitchFamily="18" charset="0"/>
                <a:cs typeface="Times New Roman" pitchFamily="18" charset="0"/>
              </a:rPr>
              <a:t>i</a:t>
            </a:r>
            <a:r>
              <a:rPr lang="en-US" sz="3400" i="1" dirty="0" smtClean="0">
                <a:latin typeface="Times New Roman" pitchFamily="18" charset="0"/>
                <a:cs typeface="Times New Roman" pitchFamily="18" charset="0"/>
              </a:rPr>
              <a:t> </a:t>
            </a:r>
            <a:r>
              <a:rPr lang="ru-RU" sz="3400" dirty="0" smtClean="0">
                <a:latin typeface="Times New Roman" pitchFamily="18" charset="0"/>
                <a:cs typeface="Times New Roman" pitchFamily="18" charset="0"/>
              </a:rPr>
              <a:t>может быть получена в конечном виде.</a:t>
            </a:r>
            <a:endParaRPr lang="ru-RU" sz="3400" baseline="-25000" dirty="0" smtClean="0">
              <a:latin typeface="Times New Roman" pitchFamily="18" charset="0"/>
              <a:cs typeface="Times New Roman" pitchFamily="18" charset="0"/>
            </a:endParaRPr>
          </a:p>
          <a:p>
            <a:pPr algn="just">
              <a:lnSpc>
                <a:spcPct val="120000"/>
              </a:lnSpc>
              <a:buFont typeface="Wingdings" pitchFamily="2" charset="2"/>
              <a:buNone/>
            </a:pPr>
            <a:r>
              <a:rPr lang="ru-RU" sz="3400" u="sng" dirty="0" smtClean="0">
                <a:latin typeface="Times New Roman" pitchFamily="18" charset="0"/>
                <a:cs typeface="Times New Roman" pitchFamily="18" charset="0"/>
              </a:rPr>
              <a:t>Теорема 2</a:t>
            </a:r>
          </a:p>
          <a:p>
            <a:pPr marL="0" indent="0" algn="just">
              <a:lnSpc>
                <a:spcPct val="120000"/>
              </a:lnSpc>
              <a:spcBef>
                <a:spcPts val="0"/>
              </a:spcBef>
              <a:buNone/>
            </a:pPr>
            <a:r>
              <a:rPr lang="ru-RU" sz="3400" dirty="0" smtClean="0">
                <a:latin typeface="Times New Roman" pitchFamily="18" charset="0"/>
                <a:cs typeface="Times New Roman" pitchFamily="18" charset="0"/>
              </a:rPr>
              <a:t>Если во всех запросах специфицируется  только одно поле, причем </a:t>
            </a:r>
            <a:r>
              <a:rPr lang="en-US" sz="3400" i="1" dirty="0" smtClean="0">
                <a:latin typeface="Times New Roman" pitchFamily="18" charset="0"/>
                <a:cs typeface="Times New Roman" pitchFamily="18" charset="0"/>
              </a:rPr>
              <a:t>p</a:t>
            </a:r>
            <a:r>
              <a:rPr lang="en-US" sz="3400" i="1" baseline="-25000" dirty="0" smtClean="0">
                <a:latin typeface="Times New Roman" pitchFamily="18" charset="0"/>
                <a:cs typeface="Times New Roman" pitchFamily="18" charset="0"/>
              </a:rPr>
              <a:t>i</a:t>
            </a:r>
            <a:r>
              <a:rPr lang="en-US" sz="3400" dirty="0" smtClean="0">
                <a:latin typeface="Times New Roman" pitchFamily="18" charset="0"/>
                <a:cs typeface="Times New Roman" pitchFamily="18" charset="0"/>
              </a:rPr>
              <a:t> – </a:t>
            </a:r>
            <a:r>
              <a:rPr lang="ru-RU" sz="3400" dirty="0" smtClean="0">
                <a:latin typeface="Times New Roman" pitchFamily="18" charset="0"/>
                <a:cs typeface="Times New Roman" pitchFamily="18" charset="0"/>
              </a:rPr>
              <a:t>вероятность того, что специфицируется поле </a:t>
            </a:r>
            <a:r>
              <a:rPr lang="en-US" sz="3400" i="1" dirty="0" err="1" smtClean="0">
                <a:latin typeface="Times New Roman" pitchFamily="18" charset="0"/>
                <a:cs typeface="Times New Roman" pitchFamily="18" charset="0"/>
              </a:rPr>
              <a:t>F</a:t>
            </a:r>
            <a:r>
              <a:rPr lang="en-US" sz="3400" i="1" baseline="-25000" dirty="0" err="1" smtClean="0">
                <a:latin typeface="Times New Roman" pitchFamily="18" charset="0"/>
                <a:cs typeface="Times New Roman" pitchFamily="18" charset="0"/>
              </a:rPr>
              <a:t>i</a:t>
            </a:r>
            <a:r>
              <a:rPr lang="ru-RU" sz="3400" dirty="0" smtClean="0">
                <a:latin typeface="Times New Roman" pitchFamily="18" charset="0"/>
                <a:cs typeface="Times New Roman" pitchFamily="18" charset="0"/>
              </a:rPr>
              <a:t> и </a:t>
            </a:r>
            <a:r>
              <a:rPr lang="ru-RU" sz="3400" i="1" dirty="0" smtClean="0">
                <a:latin typeface="Times New Roman" pitchFamily="18" charset="0"/>
                <a:cs typeface="Times New Roman" pitchFamily="18" charset="0"/>
              </a:rPr>
              <a:t>0</a:t>
            </a:r>
            <a:r>
              <a:rPr lang="en-US" sz="3400" i="1" dirty="0" smtClean="0">
                <a:latin typeface="Times New Roman" pitchFamily="18" charset="0"/>
                <a:cs typeface="Times New Roman" pitchFamily="18" charset="0"/>
              </a:rPr>
              <a:t> </a:t>
            </a:r>
            <a:r>
              <a:rPr lang="ru-RU" sz="3400" i="1" dirty="0" smtClean="0">
                <a:latin typeface="Times New Roman" pitchFamily="18" charset="0"/>
                <a:cs typeface="Times New Roman" pitchFamily="18" charset="0"/>
              </a:rPr>
              <a:t>≤</a:t>
            </a:r>
            <a:r>
              <a:rPr lang="en-US" sz="3400" i="1" dirty="0" smtClean="0">
                <a:latin typeface="Times New Roman" pitchFamily="18" charset="0"/>
                <a:cs typeface="Times New Roman" pitchFamily="18" charset="0"/>
              </a:rPr>
              <a:t> b</a:t>
            </a:r>
            <a:r>
              <a:rPr lang="en-US" sz="3400" i="1" baseline="-25000" dirty="0" smtClean="0">
                <a:latin typeface="Times New Roman" pitchFamily="18" charset="0"/>
                <a:cs typeface="Times New Roman" pitchFamily="18" charset="0"/>
              </a:rPr>
              <a:t>i </a:t>
            </a:r>
            <a:r>
              <a:rPr lang="en-US" sz="3400" i="1" dirty="0" smtClean="0">
                <a:latin typeface="Times New Roman" pitchFamily="18" charset="0"/>
                <a:cs typeface="Times New Roman" pitchFamily="18" charset="0"/>
                <a:sym typeface="Symbol"/>
              </a:rPr>
              <a:t> B</a:t>
            </a:r>
            <a:r>
              <a:rPr lang="ru-RU" sz="3400" i="1" dirty="0" smtClean="0">
                <a:latin typeface="Times New Roman" pitchFamily="18" charset="0"/>
                <a:cs typeface="Times New Roman" pitchFamily="18" charset="0"/>
                <a:sym typeface="Symbol"/>
              </a:rPr>
              <a:t> </a:t>
            </a:r>
            <a:r>
              <a:rPr lang="ru-RU" sz="3400" dirty="0" smtClean="0">
                <a:latin typeface="Times New Roman" pitchFamily="18" charset="0"/>
                <a:cs typeface="Times New Roman" pitchFamily="18" charset="0"/>
                <a:sym typeface="Symbol"/>
              </a:rPr>
              <a:t>для всех </a:t>
            </a:r>
            <a:r>
              <a:rPr lang="en-US" sz="3400" i="1" dirty="0" err="1" smtClean="0">
                <a:latin typeface="Times New Roman" pitchFamily="18" charset="0"/>
                <a:cs typeface="Times New Roman" pitchFamily="18" charset="0"/>
                <a:sym typeface="Symbol"/>
              </a:rPr>
              <a:t>i</a:t>
            </a:r>
            <a:r>
              <a:rPr lang="ru-RU" sz="3400" i="1" smtClean="0">
                <a:latin typeface="Times New Roman" pitchFamily="18" charset="0"/>
                <a:cs typeface="Times New Roman" pitchFamily="18" charset="0"/>
                <a:sym typeface="Symbol"/>
              </a:rPr>
              <a:t> </a:t>
            </a:r>
            <a:r>
              <a:rPr lang="ru-RU" sz="3400" smtClean="0">
                <a:latin typeface="Times New Roman" pitchFamily="18" charset="0"/>
                <a:cs typeface="Times New Roman" pitchFamily="18" charset="0"/>
                <a:sym typeface="Symbol"/>
              </a:rPr>
              <a:t>, то математическое </a:t>
            </a:r>
            <a:r>
              <a:rPr lang="ru-RU" sz="3400" dirty="0" smtClean="0">
                <a:latin typeface="Times New Roman" pitchFamily="18" charset="0"/>
                <a:cs typeface="Times New Roman" pitchFamily="18" charset="0"/>
                <a:sym typeface="Symbol"/>
              </a:rPr>
              <a:t>ожидание числа просматриваемых участков минимизируется при</a:t>
            </a:r>
          </a:p>
          <a:p>
            <a:pPr marL="0" indent="0" algn="just">
              <a:lnSpc>
                <a:spcPct val="120000"/>
              </a:lnSpc>
              <a:spcBef>
                <a:spcPts val="0"/>
              </a:spcBef>
              <a:buFont typeface="Wingdings" pitchFamily="2" charset="2"/>
              <a:buNone/>
            </a:pPr>
            <a:endParaRPr lang="ru-RU" sz="2800" dirty="0" smtClean="0">
              <a:latin typeface="Times New Roman" pitchFamily="18" charset="0"/>
              <a:cs typeface="Times New Roman" pitchFamily="18" charset="0"/>
              <a:sym typeface="Symbol"/>
            </a:endParaRPr>
          </a:p>
          <a:p>
            <a:pPr marL="0" indent="0" algn="just">
              <a:lnSpc>
                <a:spcPct val="120000"/>
              </a:lnSpc>
              <a:spcBef>
                <a:spcPts val="0"/>
              </a:spcBef>
              <a:buFont typeface="Wingdings" pitchFamily="2" charset="2"/>
              <a:buNone/>
            </a:pPr>
            <a:endParaRPr lang="ru-RU" sz="2800" dirty="0" smtClean="0">
              <a:latin typeface="Times New Roman" pitchFamily="18" charset="0"/>
              <a:cs typeface="Times New Roman" pitchFamily="18" charset="0"/>
              <a:sym typeface="Symbol"/>
            </a:endParaRPr>
          </a:p>
          <a:p>
            <a:pPr marL="0" indent="0" algn="just">
              <a:lnSpc>
                <a:spcPct val="120000"/>
              </a:lnSpc>
              <a:spcBef>
                <a:spcPts val="0"/>
              </a:spcBef>
              <a:buFont typeface="Wingdings" pitchFamily="2" charset="2"/>
              <a:buNone/>
            </a:pPr>
            <a:endParaRPr lang="en-US" sz="2800" dirty="0" smtClean="0">
              <a:latin typeface="Times New Roman" pitchFamily="18" charset="0"/>
              <a:cs typeface="Times New Roman" pitchFamily="18" charset="0"/>
              <a:sym typeface="Symbol"/>
            </a:endParaRPr>
          </a:p>
          <a:p>
            <a:pPr marL="0" indent="0" algn="just">
              <a:lnSpc>
                <a:spcPct val="120000"/>
              </a:lnSpc>
              <a:spcBef>
                <a:spcPts val="0"/>
              </a:spcBef>
              <a:buFont typeface="Wingdings" pitchFamily="2" charset="2"/>
              <a:buNone/>
            </a:pPr>
            <a:endParaRPr lang="en-US" sz="2800" dirty="0" smtClean="0">
              <a:latin typeface="Times New Roman" pitchFamily="18" charset="0"/>
              <a:cs typeface="Times New Roman" pitchFamily="18" charset="0"/>
              <a:sym typeface="Symbol"/>
            </a:endParaRPr>
          </a:p>
          <a:p>
            <a:pPr marL="0" indent="0" algn="just">
              <a:lnSpc>
                <a:spcPct val="120000"/>
              </a:lnSpc>
              <a:spcBef>
                <a:spcPts val="0"/>
              </a:spcBef>
              <a:buFont typeface="Wingdings" pitchFamily="2" charset="2"/>
              <a:buNone/>
            </a:pPr>
            <a:endParaRPr lang="en-US" sz="2800" dirty="0" smtClean="0">
              <a:latin typeface="Times New Roman" pitchFamily="18" charset="0"/>
              <a:cs typeface="Times New Roman" pitchFamily="18" charset="0"/>
              <a:sym typeface="Symbol"/>
            </a:endParaRPr>
          </a:p>
          <a:p>
            <a:pPr marL="0" indent="0" algn="just">
              <a:lnSpc>
                <a:spcPct val="120000"/>
              </a:lnSpc>
              <a:spcBef>
                <a:spcPts val="0"/>
              </a:spcBef>
              <a:buFont typeface="Wingdings" pitchFamily="2" charset="2"/>
              <a:buNone/>
            </a:pPr>
            <a:r>
              <a:rPr lang="ru-RU" sz="3100" dirty="0" smtClean="0">
                <a:latin typeface="Times New Roman" pitchFamily="18" charset="0"/>
                <a:cs typeface="Times New Roman" pitchFamily="18" charset="0"/>
                <a:sym typeface="Symbol"/>
              </a:rPr>
              <a:t>где </a:t>
            </a:r>
            <a:r>
              <a:rPr lang="en-US" sz="3100" i="1" dirty="0" smtClean="0">
                <a:latin typeface="Times New Roman" pitchFamily="18" charset="0"/>
                <a:cs typeface="Times New Roman" pitchFamily="18" charset="0"/>
                <a:sym typeface="Symbol"/>
              </a:rPr>
              <a:t>k </a:t>
            </a:r>
            <a:r>
              <a:rPr lang="en-US" sz="3100" dirty="0" smtClean="0">
                <a:latin typeface="Times New Roman" pitchFamily="18" charset="0"/>
                <a:cs typeface="Times New Roman" pitchFamily="18" charset="0"/>
                <a:sym typeface="Symbol"/>
              </a:rPr>
              <a:t>– </a:t>
            </a:r>
            <a:r>
              <a:rPr lang="ru-RU" sz="3100" dirty="0" smtClean="0">
                <a:latin typeface="Times New Roman" pitchFamily="18" charset="0"/>
                <a:cs typeface="Times New Roman" pitchFamily="18" charset="0"/>
                <a:sym typeface="Symbol"/>
              </a:rPr>
              <a:t>число полей и </a:t>
            </a:r>
            <a:r>
              <a:rPr lang="en-US" sz="3100" i="1" dirty="0" smtClean="0">
                <a:latin typeface="Times New Roman" pitchFamily="18" charset="0"/>
                <a:cs typeface="Times New Roman" pitchFamily="18" charset="0"/>
                <a:sym typeface="Symbol"/>
              </a:rPr>
              <a:t>2</a:t>
            </a:r>
            <a:r>
              <a:rPr lang="en-US" sz="3100" i="1" baseline="30000" dirty="0" smtClean="0">
                <a:latin typeface="Times New Roman" pitchFamily="18" charset="0"/>
                <a:cs typeface="Times New Roman" pitchFamily="18" charset="0"/>
                <a:sym typeface="Symbol"/>
              </a:rPr>
              <a:t>B</a:t>
            </a:r>
            <a:r>
              <a:rPr lang="ru-RU" sz="3100" i="1" baseline="30000" dirty="0" smtClean="0">
                <a:latin typeface="Times New Roman" pitchFamily="18" charset="0"/>
                <a:cs typeface="Times New Roman" pitchFamily="18" charset="0"/>
                <a:sym typeface="Symbol"/>
              </a:rPr>
              <a:t> </a:t>
            </a:r>
            <a:r>
              <a:rPr lang="ru-RU" sz="3100" i="1" dirty="0" smtClean="0">
                <a:latin typeface="Times New Roman" pitchFamily="18" charset="0"/>
                <a:cs typeface="Times New Roman" pitchFamily="18" charset="0"/>
                <a:sym typeface="Symbol"/>
              </a:rPr>
              <a:t>– </a:t>
            </a:r>
            <a:r>
              <a:rPr lang="ru-RU" sz="3100" dirty="0" smtClean="0">
                <a:latin typeface="Times New Roman" pitchFamily="18" charset="0"/>
                <a:cs typeface="Times New Roman" pitchFamily="18" charset="0"/>
                <a:sym typeface="Symbol"/>
              </a:rPr>
              <a:t>число участков. </a:t>
            </a:r>
          </a:p>
          <a:p>
            <a:pPr marL="0" indent="0" algn="just">
              <a:lnSpc>
                <a:spcPct val="120000"/>
              </a:lnSpc>
              <a:spcBef>
                <a:spcPts val="0"/>
              </a:spcBef>
              <a:buFont typeface="Wingdings" pitchFamily="2" charset="2"/>
              <a:buNone/>
            </a:pPr>
            <a:r>
              <a:rPr lang="ru-RU" sz="3100" dirty="0" smtClean="0">
                <a:latin typeface="Times New Roman" pitchFamily="18" charset="0"/>
                <a:cs typeface="Times New Roman" pitchFamily="18" charset="0"/>
                <a:sym typeface="Symbol"/>
              </a:rPr>
              <a:t>Заметим, что только последний терм –– </a:t>
            </a:r>
            <a:r>
              <a:rPr lang="en-US" sz="3100" i="1" dirty="0" smtClean="0">
                <a:latin typeface="Times New Roman" pitchFamily="18" charset="0"/>
                <a:cs typeface="Times New Roman" pitchFamily="18" charset="0"/>
                <a:sym typeface="Symbol"/>
              </a:rPr>
              <a:t>log</a:t>
            </a:r>
            <a:r>
              <a:rPr lang="en-US" sz="3100" i="1" baseline="-25000" dirty="0" smtClean="0">
                <a:latin typeface="Times New Roman" pitchFamily="18" charset="0"/>
                <a:cs typeface="Times New Roman" pitchFamily="18" charset="0"/>
                <a:sym typeface="Symbol"/>
              </a:rPr>
              <a:t>2</a:t>
            </a:r>
            <a:r>
              <a:rPr lang="en-US" sz="3100" i="1" dirty="0" smtClean="0">
                <a:latin typeface="Times New Roman" pitchFamily="18" charset="0"/>
                <a:cs typeface="Times New Roman" pitchFamily="18" charset="0"/>
                <a:sym typeface="Symbol"/>
              </a:rPr>
              <a:t>p</a:t>
            </a:r>
            <a:r>
              <a:rPr lang="en-US" sz="3100" i="1" baseline="-25000" dirty="0" smtClean="0">
                <a:latin typeface="Times New Roman" pitchFamily="18" charset="0"/>
                <a:cs typeface="Times New Roman" pitchFamily="18" charset="0"/>
                <a:sym typeface="Symbol"/>
              </a:rPr>
              <a:t>i </a:t>
            </a:r>
            <a:r>
              <a:rPr lang="ru-RU" sz="3100" i="1" baseline="-25000" dirty="0" smtClean="0">
                <a:latin typeface="Times New Roman" pitchFamily="18" charset="0"/>
                <a:cs typeface="Times New Roman" pitchFamily="18" charset="0"/>
                <a:sym typeface="Symbol"/>
              </a:rPr>
              <a:t> </a:t>
            </a:r>
            <a:r>
              <a:rPr lang="en-US" sz="3100" i="1" dirty="0" smtClean="0">
                <a:latin typeface="Times New Roman" pitchFamily="18" charset="0"/>
                <a:cs typeface="Times New Roman" pitchFamily="18" charset="0"/>
                <a:sym typeface="Symbol"/>
              </a:rPr>
              <a:t>– </a:t>
            </a:r>
            <a:r>
              <a:rPr lang="ru-RU" sz="3100" dirty="0" smtClean="0">
                <a:latin typeface="Times New Roman" pitchFamily="18" charset="0"/>
                <a:cs typeface="Times New Roman" pitchFamily="18" charset="0"/>
                <a:sym typeface="Symbol"/>
              </a:rPr>
              <a:t>зависит </a:t>
            </a:r>
            <a:r>
              <a:rPr lang="ru-RU" sz="3100" i="1" dirty="0" smtClean="0">
                <a:latin typeface="Times New Roman" pitchFamily="18" charset="0"/>
                <a:cs typeface="Times New Roman" pitchFamily="18" charset="0"/>
                <a:sym typeface="Symbol"/>
              </a:rPr>
              <a:t> </a:t>
            </a:r>
            <a:r>
              <a:rPr lang="ru-RU" sz="3100" dirty="0" smtClean="0">
                <a:latin typeface="Times New Roman" pitchFamily="18" charset="0"/>
                <a:cs typeface="Times New Roman" pitchFamily="18" charset="0"/>
                <a:sym typeface="Symbol"/>
              </a:rPr>
              <a:t>от</a:t>
            </a:r>
            <a:r>
              <a:rPr lang="ru-RU" sz="3100" i="1" dirty="0" smtClean="0">
                <a:latin typeface="Times New Roman" pitchFamily="18" charset="0"/>
                <a:cs typeface="Times New Roman" pitchFamily="18" charset="0"/>
                <a:sym typeface="Symbol"/>
              </a:rPr>
              <a:t> </a:t>
            </a:r>
            <a:r>
              <a:rPr lang="en-US" sz="3100" i="1" dirty="0" err="1" smtClean="0">
                <a:latin typeface="Times New Roman" pitchFamily="18" charset="0"/>
                <a:cs typeface="Times New Roman" pitchFamily="18" charset="0"/>
                <a:sym typeface="Symbol"/>
              </a:rPr>
              <a:t>i</a:t>
            </a:r>
            <a:endParaRPr lang="ru-RU" sz="3100" i="1" baseline="-25000" dirty="0" smtClean="0">
              <a:latin typeface="Times New Roman" pitchFamily="18" charset="0"/>
              <a:cs typeface="Times New Roman" pitchFamily="18" charset="0"/>
              <a:sym typeface="Symbol"/>
            </a:endParaRPr>
          </a:p>
        </p:txBody>
      </p:sp>
      <p:sp>
        <p:nvSpPr>
          <p:cNvPr id="18436" name="Номер слайда 3"/>
          <p:cNvSpPr>
            <a:spLocks noGrp="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charset="0"/>
                <a:cs typeface="Arial" charset="0"/>
              </a:defRPr>
            </a:lvl1pPr>
            <a:lvl2pPr marL="742950" indent="-285750" eaLnBrk="0" hangingPunct="0">
              <a:defRPr sz="2800">
                <a:solidFill>
                  <a:schemeClr val="tx1"/>
                </a:solidFill>
                <a:latin typeface="Arial" charset="0"/>
                <a:cs typeface="Arial" charset="0"/>
              </a:defRPr>
            </a:lvl2pPr>
            <a:lvl3pPr marL="1143000" indent="-228600" eaLnBrk="0" hangingPunct="0">
              <a:defRPr sz="2800">
                <a:solidFill>
                  <a:schemeClr val="tx1"/>
                </a:solidFill>
                <a:latin typeface="Arial" charset="0"/>
                <a:cs typeface="Arial" charset="0"/>
              </a:defRPr>
            </a:lvl3pPr>
            <a:lvl4pPr marL="1600200" indent="-228600" eaLnBrk="0" hangingPunct="0">
              <a:defRPr sz="2800">
                <a:solidFill>
                  <a:schemeClr val="tx1"/>
                </a:solidFill>
                <a:latin typeface="Arial" charset="0"/>
                <a:cs typeface="Arial" charset="0"/>
              </a:defRPr>
            </a:lvl4pPr>
            <a:lvl5pPr marL="2057400" indent="-228600" eaLnBrk="0" hangingPunct="0">
              <a:defRPr sz="2800">
                <a:solidFill>
                  <a:schemeClr val="tx1"/>
                </a:solidFill>
                <a:latin typeface="Arial" charset="0"/>
                <a:cs typeface="Arial" charset="0"/>
              </a:defRPr>
            </a:lvl5pPr>
            <a:lvl6pPr marL="25146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6pPr>
            <a:lvl7pPr marL="29718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7pPr>
            <a:lvl8pPr marL="34290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8pPr>
            <a:lvl9pPr marL="3886200" indent="-228600" eaLnBrk="0" fontAlgn="base" hangingPunct="0">
              <a:lnSpc>
                <a:spcPct val="90000"/>
              </a:lnSpc>
              <a:spcBef>
                <a:spcPct val="20000"/>
              </a:spcBef>
              <a:spcAft>
                <a:spcPct val="0"/>
              </a:spcAft>
              <a:buClr>
                <a:schemeClr val="bg2"/>
              </a:buClr>
              <a:buSzPct val="75000"/>
              <a:buFont typeface="Wingdings" pitchFamily="2" charset="2"/>
              <a:defRPr sz="2800">
                <a:solidFill>
                  <a:schemeClr val="tx1"/>
                </a:solidFill>
                <a:latin typeface="Arial" charset="0"/>
                <a:cs typeface="Arial" charset="0"/>
              </a:defRPr>
            </a:lvl9pPr>
          </a:lstStyle>
          <a:p>
            <a:pPr eaLnBrk="1" hangingPunct="1"/>
            <a:fld id="{E58BBDE3-7FF1-42D7-90A7-F40A286820F2}" type="slidenum">
              <a:rPr lang="ru-RU" sz="1200" smtClean="0">
                <a:latin typeface="Arial Black" pitchFamily="34" charset="0"/>
              </a:rPr>
              <a:pPr eaLnBrk="1" hangingPunct="1"/>
              <a:t>21</a:t>
            </a:fld>
            <a:endParaRPr lang="ru-RU" sz="1200" smtClean="0">
              <a:latin typeface="Arial Black" pitchFamily="34" charset="0"/>
            </a:endParaRPr>
          </a:p>
        </p:txBody>
      </p:sp>
      <p:graphicFrame>
        <p:nvGraphicFramePr>
          <p:cNvPr id="6" name="Объект 5"/>
          <p:cNvGraphicFramePr>
            <a:graphicFrameLocks noChangeAspect="1"/>
          </p:cNvGraphicFramePr>
          <p:nvPr/>
        </p:nvGraphicFramePr>
        <p:xfrm>
          <a:off x="2571750" y="3917950"/>
          <a:ext cx="4222750" cy="1450371"/>
        </p:xfrm>
        <a:graphic>
          <a:graphicData uri="http://schemas.openxmlformats.org/presentationml/2006/ole">
            <mc:AlternateContent xmlns:mc="http://schemas.openxmlformats.org/markup-compatibility/2006">
              <mc:Choice xmlns:v="urn:schemas-microsoft-com:vml" Requires="v">
                <p:oleObj spid="_x0000_s1028" name="Формула" r:id="rId3" imgW="2145960" imgH="736560" progId="">
                  <p:embed/>
                </p:oleObj>
              </mc:Choice>
              <mc:Fallback>
                <p:oleObj name="Формула" r:id="rId3" imgW="2145960" imgH="73656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1750" y="3917950"/>
                        <a:ext cx="4222750" cy="14503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10000"/>
                                  </p:iterate>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
                                  </p:iterate>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lt">
                                    <p:tmPct val="10000"/>
                                  </p:iterate>
                                  <p:childTnLst>
                                    <p:set>
                                      <p:cBhvr>
                                        <p:cTn id="21" dur="1" fill="hold">
                                          <p:stCondLst>
                                            <p:cond delay="0"/>
                                          </p:stCondLst>
                                        </p:cTn>
                                        <p:tgtEl>
                                          <p:spTgt spid="3">
                                            <p:txEl>
                                              <p:pRg st="8" end="8"/>
                                            </p:txEl>
                                          </p:spTgt>
                                        </p:tgtEl>
                                        <p:attrNameLst>
                                          <p:attrName>style.visibility</p:attrName>
                                        </p:attrNameLst>
                                      </p:cBhvr>
                                      <p:to>
                                        <p:strVal val="visible"/>
                                      </p:to>
                                    </p:set>
                                    <p:animEffect transition="in" filter="wipe(left)">
                                      <p:cBhvr>
                                        <p:cTn id="22" dur="1000"/>
                                        <p:tgtEl>
                                          <p:spTgt spid="3">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lt">
                                    <p:tmPct val="10000"/>
                                  </p:iterate>
                                  <p:childTnLst>
                                    <p:set>
                                      <p:cBhvr>
                                        <p:cTn id="26" dur="1" fill="hold">
                                          <p:stCondLst>
                                            <p:cond delay="0"/>
                                          </p:stCondLst>
                                        </p:cTn>
                                        <p:tgtEl>
                                          <p:spTgt spid="3">
                                            <p:txEl>
                                              <p:pRg st="9" end="9"/>
                                            </p:txEl>
                                          </p:spTgt>
                                        </p:tgtEl>
                                        <p:attrNameLst>
                                          <p:attrName>style.visibility</p:attrName>
                                        </p:attrNameLst>
                                      </p:cBhvr>
                                      <p:to>
                                        <p:strVal val="visible"/>
                                      </p:to>
                                    </p:set>
                                    <p:animEffect transition="in" filter="wipe(left)">
                                      <p:cBhvr>
                                        <p:cTn id="27" dur="1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Пиксел">
  <a:themeElements>
    <a:clrScheme name="Пиксел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Пиксел">
      <a:majorFont>
        <a:latin typeface="Arial"/>
        <a:ea typeface=""/>
        <a:cs typeface="Arial"/>
      </a:majorFont>
      <a:minorFont>
        <a:latin typeface="Arial"/>
        <a:ea typeface=""/>
        <a:cs typeface="Arial"/>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Пиксел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Пиксел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Пиксел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Пиксел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Пиксел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Пиксел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Пиксел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Пиксел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Пиксел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Пиксел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Пиксел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Пиксел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2504</TotalTime>
  <Words>2044</Words>
  <Application>Microsoft Office PowerPoint</Application>
  <PresentationFormat>Экран (4:3)</PresentationFormat>
  <Paragraphs>234</Paragraphs>
  <Slides>21</Slides>
  <Notes>2</Notes>
  <HiddenSlides>0</HiddenSlides>
  <MMClips>0</MMClips>
  <ScaleCrop>false</ScaleCrop>
  <HeadingPairs>
    <vt:vector size="8" baseType="variant">
      <vt:variant>
        <vt:lpstr>Использованные шрифты</vt:lpstr>
      </vt:variant>
      <vt:variant>
        <vt:i4>6</vt:i4>
      </vt:variant>
      <vt:variant>
        <vt:lpstr>Тема</vt:lpstr>
      </vt:variant>
      <vt:variant>
        <vt:i4>1</vt:i4>
      </vt:variant>
      <vt:variant>
        <vt:lpstr>Внедренные серверы OLE</vt:lpstr>
      </vt:variant>
      <vt:variant>
        <vt:i4>1</vt:i4>
      </vt:variant>
      <vt:variant>
        <vt:lpstr>Заголовки слайдов</vt:lpstr>
      </vt:variant>
      <vt:variant>
        <vt:i4>21</vt:i4>
      </vt:variant>
    </vt:vector>
  </HeadingPairs>
  <TitlesOfParts>
    <vt:vector size="29" baseType="lpstr">
      <vt:lpstr>Arial</vt:lpstr>
      <vt:lpstr>Arial Black</vt:lpstr>
      <vt:lpstr>Calibri</vt:lpstr>
      <vt:lpstr>Symbol</vt:lpstr>
      <vt:lpstr>Times New Roman</vt:lpstr>
      <vt:lpstr>Wingdings</vt:lpstr>
      <vt:lpstr>Пиксел</vt:lpstr>
      <vt:lpstr>Формула</vt:lpstr>
      <vt:lpstr>Модель внешней памяти часть 2</vt:lpstr>
      <vt:lpstr>Файлы с записями переменной длины</vt:lpstr>
      <vt:lpstr>Формат записи переменной длины</vt:lpstr>
      <vt:lpstr>Хранение записей переменной длины</vt:lpstr>
      <vt:lpstr>Метод указателей</vt:lpstr>
      <vt:lpstr>Метод указателей</vt:lpstr>
      <vt:lpstr>Комбинированный метод</vt:lpstr>
      <vt:lpstr>Вторичные индексы</vt:lpstr>
      <vt:lpstr>Вторичные индексы</vt:lpstr>
      <vt:lpstr>Пример вторичного индекса</vt:lpstr>
      <vt:lpstr>Поиск по частичному соответствию</vt:lpstr>
      <vt:lpstr>Пример </vt:lpstr>
      <vt:lpstr>Использование множественных вторичных индексов</vt:lpstr>
      <vt:lpstr>Использование множественных вторичных индексов</vt:lpstr>
      <vt:lpstr>Использование множественных вторичных индексов</vt:lpstr>
      <vt:lpstr>Функции раздельного хеширования</vt:lpstr>
      <vt:lpstr>Функции раздельного хеширования (2)</vt:lpstr>
      <vt:lpstr>Пример</vt:lpstr>
      <vt:lpstr>Оптимизация бит между ключами</vt:lpstr>
      <vt:lpstr>Оптимизация бит между ключами</vt:lpstr>
      <vt:lpstr>Оптимизация бит между ключами</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Реляционная модель</dc:title>
  <dc:creator>Борис</dc:creator>
  <cp:lastModifiedBy>Казаков Виталий Геннадьевич</cp:lastModifiedBy>
  <cp:revision>223</cp:revision>
  <dcterms:created xsi:type="dcterms:W3CDTF">2012-10-04T16:47:37Z</dcterms:created>
  <dcterms:modified xsi:type="dcterms:W3CDTF">2022-03-03T04:44:01Z</dcterms:modified>
</cp:coreProperties>
</file>