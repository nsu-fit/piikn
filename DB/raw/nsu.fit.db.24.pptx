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78" r:id="rId1"/>
    <p:sldMasterId id="2147483685" r:id="rId2"/>
  </p:sldMasterIdLst>
  <p:notesMasterIdLst>
    <p:notesMasterId r:id="rId39"/>
  </p:notesMasterIdLst>
  <p:sldIdLst>
    <p:sldId id="514" r:id="rId3"/>
    <p:sldId id="524" r:id="rId4"/>
    <p:sldId id="526" r:id="rId5"/>
    <p:sldId id="527" r:id="rId6"/>
    <p:sldId id="528" r:id="rId7"/>
    <p:sldId id="529" r:id="rId8"/>
    <p:sldId id="530" r:id="rId9"/>
    <p:sldId id="531" r:id="rId10"/>
    <p:sldId id="532" r:id="rId11"/>
    <p:sldId id="533" r:id="rId12"/>
    <p:sldId id="534" r:id="rId13"/>
    <p:sldId id="535" r:id="rId14"/>
    <p:sldId id="536" r:id="rId15"/>
    <p:sldId id="537" r:id="rId16"/>
    <p:sldId id="538" r:id="rId17"/>
    <p:sldId id="539" r:id="rId18"/>
    <p:sldId id="540" r:id="rId19"/>
    <p:sldId id="541" r:id="rId20"/>
    <p:sldId id="542" r:id="rId21"/>
    <p:sldId id="543" r:id="rId22"/>
    <p:sldId id="544" r:id="rId23"/>
    <p:sldId id="545" r:id="rId24"/>
    <p:sldId id="546" r:id="rId25"/>
    <p:sldId id="547" r:id="rId26"/>
    <p:sldId id="548" r:id="rId27"/>
    <p:sldId id="549" r:id="rId28"/>
    <p:sldId id="550" r:id="rId29"/>
    <p:sldId id="551" r:id="rId30"/>
    <p:sldId id="552" r:id="rId31"/>
    <p:sldId id="553" r:id="rId32"/>
    <p:sldId id="554" r:id="rId33"/>
    <p:sldId id="555" r:id="rId34"/>
    <p:sldId id="556" r:id="rId35"/>
    <p:sldId id="557" r:id="rId36"/>
    <p:sldId id="558" r:id="rId37"/>
    <p:sldId id="559" r:id="rId38"/>
  </p:sldIdLst>
  <p:sldSz cx="9144000" cy="5143500" type="screen16x9"/>
  <p:notesSz cx="6858000" cy="9144000"/>
  <p:embeddedFontLst>
    <p:embeddedFont>
      <p:font typeface="Acrom" panose="020B0604020202020204" charset="-52"/>
      <p:regular r:id="rId40"/>
    </p:embeddedFont>
    <p:embeddedFont>
      <p:font typeface="Acrom Bold" panose="020B0604020202020204" charset="-52"/>
      <p:bold r:id="rId41"/>
    </p:embeddedFont>
    <p:embeddedFont>
      <p:font typeface="Acrom ExtraBold" panose="020B0604020202020204" charset="-52"/>
      <p:bold r:id="rId42"/>
    </p:embeddedFont>
    <p:embeddedFont>
      <p:font typeface="Aptos Narrow" panose="020B0004020202020204" pitchFamily="34" charset="0"/>
      <p:regular r:id="rId43"/>
      <p:bold r:id="rId44"/>
      <p:italic r:id="rId45"/>
      <p:boldItalic r:id="rId46"/>
    </p:embeddedFont>
    <p:embeddedFont>
      <p:font typeface="Cascadia Code SemiBold" panose="020B0609020000020004" pitchFamily="49" charset="0"/>
      <p:bold r:id="rId47"/>
      <p:boldItalic r:id="rId4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D8FC5EF-6076-40D9-AF9D-DF341323974E}">
          <p14:sldIdLst>
            <p14:sldId id="514"/>
          </p14:sldIdLst>
        </p14:section>
        <p14:section name="Literature" id="{B9960BE5-F3B4-48C0-BA4B-65F190ECCD4C}">
          <p14:sldIdLst>
            <p14:sldId id="524"/>
            <p14:sldId id="526"/>
            <p14:sldId id="527"/>
            <p14:sldId id="528"/>
            <p14:sldId id="529"/>
            <p14:sldId id="530"/>
            <p14:sldId id="531"/>
            <p14:sldId id="532"/>
            <p14:sldId id="533"/>
            <p14:sldId id="534"/>
            <p14:sldId id="535"/>
            <p14:sldId id="536"/>
            <p14:sldId id="537"/>
            <p14:sldId id="538"/>
            <p14:sldId id="539"/>
            <p14:sldId id="540"/>
            <p14:sldId id="541"/>
            <p14:sldId id="542"/>
            <p14:sldId id="543"/>
            <p14:sldId id="544"/>
            <p14:sldId id="545"/>
            <p14:sldId id="546"/>
            <p14:sldId id="547"/>
            <p14:sldId id="548"/>
            <p14:sldId id="549"/>
            <p14:sldId id="550"/>
            <p14:sldId id="551"/>
            <p14:sldId id="552"/>
            <p14:sldId id="553"/>
            <p14:sldId id="554"/>
            <p14:sldId id="555"/>
            <p14:sldId id="556"/>
            <p14:sldId id="557"/>
            <p14:sldId id="558"/>
            <p14:sldId id="55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F9E38"/>
    <a:srgbClr val="0000CC"/>
    <a:srgbClr val="C1F3FF"/>
    <a:srgbClr val="FFFF00"/>
    <a:srgbClr val="5D5DAE"/>
    <a:srgbClr val="FF0000"/>
    <a:srgbClr val="C20808"/>
    <a:srgbClr val="90D1DC"/>
    <a:srgbClr val="8FAADC"/>
    <a:srgbClr val="E9EB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4599F94E-CEE6-441E-89CC-EB005ECD8F06}">
      <a14:m xmlns:a14="http://schemas.microsoft.com/office/drawing/2010/main">
        <m:mathPr xmlns:m="http://schemas.openxmlformats.org/officeDocument/2006/math">
          <m:brkBin m:val="repeat"/>
          <m:brkBinSub m:val="+-"/>
        </m:mathPr>
      </a14:m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E8034E78-7F5D-4C2E-B375-FC64B27BC917}" styleName="Темный стиль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173" autoAdjust="0"/>
    <p:restoredTop sz="94673" autoAdjust="0"/>
  </p:normalViewPr>
  <p:slideViewPr>
    <p:cSldViewPr>
      <p:cViewPr>
        <p:scale>
          <a:sx n="100" d="100"/>
          <a:sy n="100" d="100"/>
        </p:scale>
        <p:origin x="1032" y="64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3.fntdata"/><Relationship Id="rId47" Type="http://schemas.openxmlformats.org/officeDocument/2006/relationships/font" Target="fonts/font8.fntdata"/><Relationship Id="rId50" Type="http://schemas.openxmlformats.org/officeDocument/2006/relationships/viewProps" Target="viewProps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font" Target="fonts/font1.fntdata"/><Relationship Id="rId45" Type="http://schemas.openxmlformats.org/officeDocument/2006/relationships/font" Target="fonts/font6.fntdata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5.fntdata"/><Relationship Id="rId52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4.fntdata"/><Relationship Id="rId48" Type="http://schemas.openxmlformats.org/officeDocument/2006/relationships/font" Target="fonts/font9.fntdata"/><Relationship Id="rId8" Type="http://schemas.openxmlformats.org/officeDocument/2006/relationships/slide" Target="slides/slide6.xml"/><Relationship Id="rId51" Type="http://schemas.openxmlformats.org/officeDocument/2006/relationships/theme" Target="theme/theme1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font" Target="fonts/font7.fntdata"/><Relationship Id="rId20" Type="http://schemas.openxmlformats.org/officeDocument/2006/relationships/slide" Target="slides/slide1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420F6-EE28-447A-BA82-F9AA48FF3F8C}" type="datetimeFigureOut">
              <a:rPr lang="ru-RU" smtClean="0"/>
              <a:pPr/>
              <a:t>05.05.2025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235E2C8-E51C-40F3-9A72-4A3C3DEE5088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66225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431743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1702279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FEB103-9EB9-6452-E4A7-BC5DCA73B1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2D83BD4-10BD-9A8A-7CC5-3545D8FBBE5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D55CAC-7A16-1122-EF0F-1A3A76A5DB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D4034E-E146-648A-F2E9-8C6393FC7A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484668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4EE330-B08B-063F-A4F5-F0D0673DC5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B1EA618-892A-8413-A993-91758E9696C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A8227C-9110-466B-0713-11E6F399FB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D60A8D-8C61-148D-F741-5A85506729A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3755345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6095822-2784-E41A-0B67-80C527517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6A20D8B-4990-9BE5-0D3A-0DADFBCDEC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B51F5E8-849F-3B12-F4C8-A347B8529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E282F-5162-CBE7-C6F5-7AB8A3346EE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225398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E5455B3-F8F2-36F4-468F-FACF095C26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7159BE-301B-69BA-60CA-916655B754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D20EB5F-5833-53D7-5D36-FF41F260FC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D046481-0902-EAF5-31EC-D9A73117820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011448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440B7A-A242-E061-ABAB-3883BFEFCF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A41D379-73C1-97AC-4307-D0BB337953C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15A66A-7681-9C92-AF6D-BE94EF2AB76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D34DAE-B38C-6324-761C-97A72FDAFE3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02375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FD2C17-EE65-4902-05B1-287EA094AD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BA52C1F-95EB-15A6-9C63-4162C9988D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9B078EE-7D54-358F-7E12-3FE271E1D74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267BA0-5C97-4DE1-6633-6AA51F33C82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4537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34C34C-9D4E-EEBE-489A-412EFE8DCF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DB1DC3D-938E-03E7-AC8F-6E217394226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B513F3-B9DA-0F18-E02D-BE29623DBF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B11EDB-9FB9-2788-D6B5-7779FD50D4B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207536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C62F7-D649-05D3-C0C0-B71E9F0E66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026F510-53DA-5B4E-D528-29648096326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73362EF-8DB6-752B-E439-0A6B9ADC0BE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E50CE1-7CDA-A4F1-E3CD-8B33AC6B6F4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49974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64C0A0-742E-9240-D119-5A6FFF4E75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35B702-8BE3-369B-A0A8-40D0CF9D52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6F474D3-6FF8-E551-2B57-6BF68820DE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618DCE7-40F1-B210-899A-3E91ADD176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9349017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4C960C-9AC3-715B-DD08-1DBFDD0E85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448DB8F-7FB3-BE05-E914-108AA995C0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3F7614-5A41-6533-6FFA-B7E005342C7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8B7DBF-E95E-FECF-1B48-27A1C59DD18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4961376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684E1-3C73-C8C9-E8DA-F106E69977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C1BE582-FBC4-13A6-D9B5-EB8EE5F6541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2CABF76-F8E8-1F3D-1BB8-38F03CDD19B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5DDDA8-3470-672A-1606-210AF33EB7A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036599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F46B-004C-29A4-EA36-2F1E220BE2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040B122-3551-7B76-872B-89F4873B1B5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BD2D5D9-9AA7-AD20-2DA4-9A04CE353F3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4037F8-F591-6541-1C9E-2CADE4243C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523359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EC4D20-C997-ECB5-C3FC-167DE03325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C76D12-E453-1381-B4B3-EDC71EA9A7E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63564F6-3BFA-496C-82DA-913B2D7D63D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63AF1-E0E9-C418-751D-4A0E5B85AE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751742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56DDA4-0FB0-95F0-3BBF-F9D1B04310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F8F0B0C-FD02-FEB1-2ACB-7B69308D545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A127CD7-5F31-D0D3-D898-D09080708E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E8D99A0-DB71-7AA7-E984-620E7EFC59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19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1991067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004C92-0399-7084-AFD5-5DECBC75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823B37E-D8DA-B6D3-C8A7-0D99D2E407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B9F8FA-FEBF-6087-BC78-29BBB019FF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CFFE9F6-62E9-73FF-A7A5-0FF4BD9050F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6670291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82BB1C-5B0C-ED71-4EA6-CD01A05241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2302E7-DC97-30B0-D7DD-248A5C2F0A9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B22F9DE-2D3D-439C-3538-CF607088BD6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75EF72-6893-3AC7-904B-F685A7293E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30159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388D6-DEF0-B884-8328-9A408B72D1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3629C89-C747-2C1C-F95A-916F9C8FA7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EA23D4-AD8A-04D6-2375-C0189D0EDF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0D46080-783A-54AF-7B50-51C3932A163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975142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44DAF6-2D69-A14D-6A3E-1103EB5096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19D9343-2F15-0C6B-CD7F-3EEEEC47303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0AB509-C7F4-1EAF-FA56-9EBFA884F0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26557E-A879-D0CC-BB42-B916376F5FC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740225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B180CE-0B13-9F61-8775-92FC4C8A6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263D629-7A7E-FF8B-DF98-B4B0EF5714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192A70-5337-A7EC-2D6C-96D2A00C87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895E49-D0FF-B7C0-4222-3D963F1352A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593379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3058B6-FAB9-6C7B-AB7D-214AE5F852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863E4C3-C2DB-059B-5D63-9F03383264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5D9D1ED-390D-FDA3-DFFB-04831205DF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065E67C-0838-2A3D-4CC8-BD8B7B2F84D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96135042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D766AA-DAB8-842B-8BD4-3B3A40FAF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9FF81B4-BD95-7038-EF27-D0D31188CAE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79F567-EF6B-22C1-40A1-D62F2B4FFD3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4051CE-A490-5CC7-3F11-95117623576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1664503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C67A3E-A532-219D-BEDF-481A594F60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ADC21F-F73D-9AE1-7464-900F9E6630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A0A4730-DBE1-DF2A-7B1E-14104CC117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358D15-73E5-D587-5568-0A5E394FE45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4838910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FFA61B-AFE4-C322-A08C-BC3F6A4E43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69C7D5-CDD5-AA9D-87F3-735296A1F0B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D914DB2-FD8C-74EF-03C7-602E8730C1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EF99E6-BD57-0900-C66B-3E3CD16B1D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80619905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D11889-1F0C-2CB8-58A1-1D9D596C20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D6F28B8-2C81-ABF5-D9D0-7CC8C2DEB58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2DF48B7-6056-5E93-F368-C9A2B4DEBB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7B273C9-BD64-32BE-1B0A-329B01C08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29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7150618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278B7-F14C-1694-D6F9-238454CED6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110B52-F524-1C29-D701-0B8197F269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7B045E8-FB7C-B1C7-70A1-83CB4A127E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F615BE-4D81-1F9E-B89E-D575C3032C4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9911616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039398-503E-6145-5DFC-C11FDBAD13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B35811-B5E4-D1AA-01E4-1C687E698F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CEA77D9-9033-49BB-8353-A0197E37F9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876EC9-A3D3-74B8-758C-03BC0FBCF6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31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231205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9AEE19-D572-1091-7639-27AD8E6CAD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FF339F9-37C9-11B0-3E54-FFCF1EC651E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5D0A657-DBFB-B361-2079-721DCE5BEC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337EDC-02DF-BC00-BDCB-6B0D4A23586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75160443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0C328F-5EF6-A301-A77C-AB8554EC7A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5CF7F05-7EE9-C1B0-C7E5-7C12622BBBC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8DF4FF5-54C8-B428-C728-F0C18E6052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473484-4546-15F5-73AC-388FA6A8C6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00960380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11F141-5691-A8A6-9DF7-C3094CD5AE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6A29E89-899D-52D7-4887-4366B10A8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138B508-AD91-03E1-6631-8A2263CB8E2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F88172-13A0-DF37-4F76-CA839C4840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80431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6BE752-F7E6-BD33-AF78-B71C4CC69F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814172-14F5-3788-958D-5339A0DE74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6694595-319B-2EC8-0CBD-220A429D7AA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A2957E-506B-2E70-14A9-DAA2677D1A3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73765604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59575B-89FD-665D-63EB-6DAD4B2D5A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1D93041-0486-54B0-B0BC-62431321CE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F8B242E-7433-64CE-7C54-A0EF1AE7DEF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32BE6-D4A3-3D5C-8DBA-92E84F3C2C3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235E2C8-E51C-40F3-9A72-4A3C3DEE5088}" type="slidenum">
              <a:rPr lang="ru-RU" smtClean="0"/>
              <a:pPr/>
              <a:t>36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501031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microsoft.com/office/2007/relationships/hdphoto" Target="../media/hdphoto2.wdp"/><Relationship Id="rId7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gif"/><Relationship Id="rId3" Type="http://schemas.openxmlformats.org/officeDocument/2006/relationships/image" Target="../media/image9.png"/><Relationship Id="rId7" Type="http://schemas.openxmlformats.org/officeDocument/2006/relationships/image" Target="../media/image2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8424" y="4443958"/>
            <a:ext cx="393193" cy="31394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sp>
        <p:nvSpPr>
          <p:cNvPr id="43" name="Текст 39"/>
          <p:cNvSpPr>
            <a:spLocks noGrp="1"/>
          </p:cNvSpPr>
          <p:nvPr>
            <p:ph type="body" sz="quarter" idx="11"/>
          </p:nvPr>
        </p:nvSpPr>
        <p:spPr>
          <a:xfrm>
            <a:off x="350838" y="2066925"/>
            <a:ext cx="7605712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8"/>
              </a:buBlip>
              <a:defRPr sz="2000">
                <a:solidFill>
                  <a:schemeClr val="bg1"/>
                </a:solidFill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8"/>
              </a:buBlip>
              <a:defRPr sz="1800">
                <a:solidFill>
                  <a:schemeClr val="bg1"/>
                </a:solidFill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8"/>
              </a:buBlip>
              <a:defRPr sz="1600">
                <a:solidFill>
                  <a:schemeClr val="bg1"/>
                </a:solidFill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8"/>
              </a:buBlip>
              <a:defRPr sz="1400">
                <a:solidFill>
                  <a:schemeClr val="bg1"/>
                </a:solidFill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2" name="Текст 37"/>
          <p:cNvSpPr>
            <a:spLocks noGrp="1"/>
          </p:cNvSpPr>
          <p:nvPr>
            <p:ph type="body" sz="quarter" idx="10" hasCustomPrompt="1"/>
          </p:nvPr>
        </p:nvSpPr>
        <p:spPr>
          <a:xfrm>
            <a:off x="350838" y="1419225"/>
            <a:ext cx="2945436" cy="383169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bg1"/>
                </a:solidFill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41" name="Заголовок 34"/>
          <p:cNvSpPr>
            <a:spLocks noGrp="1"/>
          </p:cNvSpPr>
          <p:nvPr>
            <p:ph type="title" hasCustomPrompt="1"/>
          </p:nvPr>
        </p:nvSpPr>
        <p:spPr>
          <a:xfrm>
            <a:off x="351237" y="716531"/>
            <a:ext cx="7749155" cy="369332"/>
          </a:xfrm>
          <a:noFill/>
        </p:spPr>
        <p:txBody>
          <a:bodyPr wrap="square" rtlCol="0">
            <a:spAutoFit/>
          </a:bodyPr>
          <a:lstStyle>
            <a:lvl1pPr algn="l">
              <a:defRPr lang="ru-RU" sz="1800">
                <a:solidFill>
                  <a:srgbClr val="262626"/>
                </a:solidFill>
                <a:latin typeface="Acrom ExtraBold" pitchFamily="50" charset="-52"/>
                <a:ea typeface="+mn-ea"/>
                <a:cs typeface="+mn-cs"/>
              </a:defRPr>
            </a:lvl1pPr>
          </a:lstStyle>
          <a:p>
            <a:pPr marL="0" lvl="0" algn="l"/>
            <a:r>
              <a:rPr lang="ru-RU" dirty="0"/>
              <a:t>ОБРАЗЕЦ ЗАГОЛОВКА</a:t>
            </a:r>
          </a:p>
        </p:txBody>
      </p:sp>
    </p:spTree>
    <p:extLst>
      <p:ext uri="{BB962C8B-B14F-4D97-AF65-F5344CB8AC3E}">
        <p14:creationId xmlns:p14="http://schemas.microsoft.com/office/powerpoint/2010/main" val="12159761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3F31863B-D2C1-455A-9EA1-E26FFC62CD1F}" type="datetime1">
              <a:rPr lang="ru-RU" smtClean="0"/>
              <a:t>05.05.2025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2066925"/>
            <a:ext cx="8541643" cy="23050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901085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ingleConten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ate Placeholder 2">
            <a:extLst>
              <a:ext uri="{FF2B5EF4-FFF2-40B4-BE49-F238E27FC236}">
                <a16:creationId xmlns:a16="http://schemas.microsoft.com/office/drawing/2014/main" id="{8F2C7FDD-BB90-2EAC-CC9A-84AFF7FA844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77501038-3FD5-4508-A3B2-A3E2BAE5DE49}" type="datetime1">
              <a:rPr lang="ru-RU" smtClean="0"/>
              <a:t>05.05.2025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493A3844-29DE-1B73-0A9B-B5DA2AF0C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15" name="Slide Number Placeholder">
            <a:extLst>
              <a:ext uri="{FF2B5EF4-FFF2-40B4-BE49-F238E27FC236}">
                <a16:creationId xmlns:a16="http://schemas.microsoft.com/office/drawing/2014/main" id="{BB41C1D9-2BAB-F0D1-B591-D5133BE925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7" y="1419225"/>
            <a:ext cx="8541643" cy="2952750"/>
          </a:xfrm>
        </p:spPr>
        <p:txBody>
          <a:bodyPr>
            <a:normAutofit/>
          </a:bodyPr>
          <a:lstStyle>
            <a:lvl1pPr marL="342900" indent="-342900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742950" indent="-285750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1143000" indent="-228600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6002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2057400" indent="-228600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4E30BB8-E4F2-DF31-04C2-E55E5F8993F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41898079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">
            <a:extLst>
              <a:ext uri="{FF2B5EF4-FFF2-40B4-BE49-F238E27FC236}">
                <a16:creationId xmlns:a16="http://schemas.microsoft.com/office/drawing/2014/main" id="{1D48A0FE-9536-29C0-B7D0-1F66CF43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0838" y="4858733"/>
            <a:ext cx="1124818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fld id="{06694701-841A-4648-9226-979284EF9C69}" type="datetime1">
              <a:rPr lang="ru-RU" smtClean="0"/>
              <a:t>05.05.2025</a:t>
            </a:fld>
            <a:endParaRPr lang="en-US" dirty="0"/>
          </a:p>
        </p:txBody>
      </p:sp>
      <p:sp>
        <p:nvSpPr>
          <p:cNvPr id="4" name="Footer Placeholder">
            <a:extLst>
              <a:ext uri="{FF2B5EF4-FFF2-40B4-BE49-F238E27FC236}">
                <a16:creationId xmlns:a16="http://schemas.microsoft.com/office/drawing/2014/main" id="{D5AF862F-6F41-B134-6BBE-BEEB446634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547664" y="4858733"/>
            <a:ext cx="6048671" cy="274637"/>
          </a:xfrm>
        </p:spPr>
        <p:txBody>
          <a:bodyPr/>
          <a:lstStyle>
            <a:lvl1pPr>
              <a:defRPr>
                <a:latin typeface="Acrom" panose="020B0604020202020204" charset="-52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">
            <a:extLst>
              <a:ext uri="{FF2B5EF4-FFF2-40B4-BE49-F238E27FC236}">
                <a16:creationId xmlns:a16="http://schemas.microsoft.com/office/drawing/2014/main" id="{74E2BD42-6F67-28EC-EADC-8BA241124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 wrap="none" lIns="0" tIns="0" rIns="0" bIns="0"/>
          <a:lstStyle>
            <a:lvl1pPr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C12E5AAC-331B-4A22-A01D-802D40030460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Подзаголовок 2">
            <a:extLst>
              <a:ext uri="{FF2B5EF4-FFF2-40B4-BE49-F238E27FC236}">
                <a16:creationId xmlns:a16="http://schemas.microsoft.com/office/drawing/2014/main" id="{B421E783-F97A-5F3F-D1CC-6D20305A2868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572000" y="1433513"/>
            <a:ext cx="4321175" cy="36830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+mj-lt"/>
              </a:defRPr>
            </a:lvl1pPr>
          </a:lstStyle>
          <a:p>
            <a:pPr lvl="0"/>
            <a:r>
              <a:rPr lang="ru-RU" dirty="0"/>
              <a:t>ПОДЗАГОЛОВОК</a:t>
            </a:r>
            <a:endParaRPr lang="en-US" dirty="0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2066923"/>
            <a:ext cx="4321175" cy="2305051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8BBB94-2676-906E-39F4-A268322BC7B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028564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5365DC2F-61D5-9AAB-975D-7A0D222728BC}"/>
              </a:ext>
            </a:extLst>
          </p:cNvPr>
          <p:cNvSpPr>
            <a:spLocks noGrp="1"/>
          </p:cNvSpPr>
          <p:nvPr>
            <p:ph type="dt" sz="half" idx="17"/>
          </p:nvPr>
        </p:nvSpPr>
        <p:spPr>
          <a:xfrm>
            <a:off x="350838" y="4858732"/>
            <a:ext cx="1124818" cy="274637"/>
          </a:xfrm>
        </p:spPr>
        <p:txBody>
          <a:bodyPr/>
          <a:lstStyle/>
          <a:p>
            <a:fld id="{533F0968-48E1-48DF-98AF-E00A7EFE6F72}" type="datetime1">
              <a:rPr lang="ru-RU" smtClean="0"/>
              <a:t>05.05.2025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C272CE33-125F-A707-F331-AEF3B91CC83A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>
          <a:xfrm>
            <a:off x="1547664" y="4858733"/>
            <a:ext cx="6048671" cy="274637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2" name="Slide Number Placeholder">
            <a:extLst>
              <a:ext uri="{FF2B5EF4-FFF2-40B4-BE49-F238E27FC236}">
                <a16:creationId xmlns:a16="http://schemas.microsoft.com/office/drawing/2014/main" id="{6BFD863C-0DDE-E649-2043-41D74C4E0E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BD5C77E5-19BC-410D-82EA-404658A4611A}" type="slidenum">
              <a:rPr lang="en-US" smtClean="0"/>
              <a:t>‹#›</a:t>
            </a:fld>
            <a:endParaRPr lang="en-US"/>
          </a:p>
        </p:txBody>
      </p:sp>
      <p:sp>
        <p:nvSpPr>
          <p:cNvPr id="19" name="Содержимое 2">
            <a:extLst>
              <a:ext uri="{FF2B5EF4-FFF2-40B4-BE49-F238E27FC236}">
                <a16:creationId xmlns:a16="http://schemas.microsoft.com/office/drawing/2014/main" id="{A8E2E46F-99FE-B8FD-A9AD-66EF67979455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572000" y="1419225"/>
            <a:ext cx="4321175" cy="2952750"/>
          </a:xfrm>
        </p:spPr>
        <p:txBody>
          <a:bodyPr/>
          <a:lstStyle>
            <a:lvl1pPr marL="228600" indent="-228600">
              <a:defRPr lang="en-US" sz="20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823913" indent="-285750">
              <a:defRPr lang="en-US" sz="18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555625" indent="-285750">
              <a:defRPr lang="en-US" sz="16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093788" indent="-285750">
              <a:defRPr lang="en-US" sz="1400" kern="1200" dirty="0" smtClean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1363662" indent="-285750">
              <a:defRPr lang="en-US" sz="1400" kern="1200" dirty="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</a:lstStyle>
          <a:p>
            <a:pPr marL="269875" lvl="0" indent="-269875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2"/>
              </a:buBlip>
            </a:pPr>
            <a:r>
              <a:rPr lang="en-US" dirty="0"/>
              <a:t>Click to edit Master text styles</a:t>
            </a:r>
          </a:p>
          <a:p>
            <a:pPr marL="538163" lvl="1" indent="-268288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Second level</a:t>
            </a:r>
          </a:p>
          <a:p>
            <a:pPr marL="808038" lvl="2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Third level</a:t>
            </a:r>
          </a:p>
          <a:p>
            <a:pPr marL="1077913" lvl="3" indent="-2698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Fourth level</a:t>
            </a:r>
          </a:p>
          <a:p>
            <a:pPr marL="1254125" lvl="4" indent="-176213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2"/>
              </a:buBlip>
            </a:pPr>
            <a:r>
              <a:rPr lang="en-US" dirty="0"/>
              <a:t>Fifth level</a:t>
            </a:r>
          </a:p>
        </p:txBody>
      </p:sp>
      <p:sp>
        <p:nvSpPr>
          <p:cNvPr id="6" name="Содержимое 1">
            <a:extLst>
              <a:ext uri="{FF2B5EF4-FFF2-40B4-BE49-F238E27FC236}">
                <a16:creationId xmlns:a16="http://schemas.microsoft.com/office/drawing/2014/main" id="{5D55A141-82CC-750A-BEF7-7D6BD35ABA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2066925"/>
            <a:ext cx="3933130" cy="2305050"/>
          </a:xfrm>
        </p:spPr>
        <p:txBody>
          <a:bodyPr>
            <a:normAutofit/>
          </a:bodyPr>
          <a:lstStyle>
            <a:lvl1pPr marL="269875" indent="-269875">
              <a:buFontTx/>
              <a:buBlip>
                <a:blip r:embed="rId2"/>
              </a:buBlip>
              <a:defRPr sz="2000">
                <a:latin typeface="Acrom" panose="00000500000000000000" pitchFamily="50" charset="-52"/>
              </a:defRPr>
            </a:lvl1pPr>
            <a:lvl2pPr marL="538163" indent="-268288">
              <a:buFontTx/>
              <a:buBlip>
                <a:blip r:embed="rId2"/>
              </a:buBlip>
              <a:defRPr sz="1800">
                <a:latin typeface="Acrom" panose="00000500000000000000" pitchFamily="50" charset="-52"/>
              </a:defRPr>
            </a:lvl2pPr>
            <a:lvl3pPr marL="808038" indent="-269875">
              <a:buFontTx/>
              <a:buBlip>
                <a:blip r:embed="rId2"/>
              </a:buBlip>
              <a:defRPr sz="1600">
                <a:latin typeface="Acrom" panose="00000500000000000000" pitchFamily="50" charset="-52"/>
              </a:defRPr>
            </a:lvl3pPr>
            <a:lvl4pPr marL="1077913" indent="-269875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4pPr>
            <a:lvl5pPr marL="1254125" indent="-176213">
              <a:buFontTx/>
              <a:buBlip>
                <a:blip r:embed="rId2"/>
              </a:buBlip>
              <a:defRPr sz="1400">
                <a:latin typeface="Acrom" panose="00000500000000000000" pitchFamily="50" charset="-52"/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/>
              <a:t>Четвертый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7" name="Subtitle 1">
            <a:extLst>
              <a:ext uri="{FF2B5EF4-FFF2-40B4-BE49-F238E27FC236}">
                <a16:creationId xmlns:a16="http://schemas.microsoft.com/office/drawing/2014/main" id="{99A19190-EA56-57A0-2B5F-CD186ADC9A2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50838" y="1419225"/>
            <a:ext cx="3933130" cy="383169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cap="all" baseline="0">
                <a:latin typeface="Acrom Bold" panose="00000800000000000000" pitchFamily="50" charset="-52"/>
              </a:defRPr>
            </a:lvl1pPr>
          </a:lstStyle>
          <a:p>
            <a:pPr lvl="0"/>
            <a:r>
              <a:rPr lang="ru-RU" dirty="0"/>
              <a:t>ПОДЗАГОЛОВОК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53C6FBF-E5DA-665A-B020-D02706ACF4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235" y="716531"/>
            <a:ext cx="8541939" cy="369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0682440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/>
          <p:cNvSpPr/>
          <p:nvPr/>
        </p:nvSpPr>
        <p:spPr bwMode="auto">
          <a:xfrm>
            <a:off x="0" y="0"/>
            <a:ext cx="9144000" cy="1639491"/>
          </a:xfrm>
          <a:custGeom>
            <a:avLst/>
            <a:gdLst/>
            <a:ahLst/>
            <a:cxnLst/>
            <a:rect l="0" t="0" r="r" b="b"/>
            <a:pathLst>
              <a:path w="5760" h="1377">
                <a:moveTo>
                  <a:pt x="5760" y="0"/>
                </a:moveTo>
                <a:lnTo>
                  <a:pt x="0" y="0"/>
                </a:lnTo>
                <a:lnTo>
                  <a:pt x="0" y="1189"/>
                </a:lnTo>
                <a:lnTo>
                  <a:pt x="943" y="1189"/>
                </a:lnTo>
                <a:lnTo>
                  <a:pt x="1123" y="1369"/>
                </a:lnTo>
                <a:lnTo>
                  <a:pt x="1123" y="1369"/>
                </a:lnTo>
                <a:lnTo>
                  <a:pt x="1127" y="1371"/>
                </a:lnTo>
                <a:lnTo>
                  <a:pt x="1133" y="1374"/>
                </a:lnTo>
                <a:lnTo>
                  <a:pt x="1139" y="1377"/>
                </a:lnTo>
                <a:lnTo>
                  <a:pt x="1144" y="1377"/>
                </a:lnTo>
                <a:lnTo>
                  <a:pt x="1150" y="1377"/>
                </a:lnTo>
                <a:lnTo>
                  <a:pt x="1155" y="1374"/>
                </a:lnTo>
                <a:lnTo>
                  <a:pt x="1161" y="1371"/>
                </a:lnTo>
                <a:lnTo>
                  <a:pt x="1165" y="1369"/>
                </a:lnTo>
                <a:lnTo>
                  <a:pt x="1345" y="1189"/>
                </a:lnTo>
                <a:lnTo>
                  <a:pt x="5760" y="1189"/>
                </a:lnTo>
                <a:lnTo>
                  <a:pt x="5760" y="0"/>
                </a:lnTo>
                <a:close/>
              </a:path>
            </a:pathLst>
          </a:custGeom>
          <a:ln/>
          <a:extLs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7500" y="335391"/>
            <a:ext cx="7928999" cy="72783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14034" y="1666716"/>
            <a:ext cx="7915931" cy="272738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24AD1B-8CAD-42B1-B997-0EDD160981B3}" type="datetimeFigureOut">
              <a:rPr lang="en-US" smtClean="0"/>
              <a:t>5/5/2025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07BB24-8304-434B-8625-ECAE65742F7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02082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FCA8B4-969C-4179-E89C-015DCFCBC69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1">
            <a:extLst>
              <a:ext uri="{FF2B5EF4-FFF2-40B4-BE49-F238E27FC236}">
                <a16:creationId xmlns:a16="http://schemas.microsoft.com/office/drawing/2014/main" id="{C645F276-4CFE-ED6C-14E6-FFA499B33C39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/>
        <p:txBody>
          <a:bodyPr wrap="square"/>
          <a:lstStyle>
            <a:lvl1pPr>
              <a:defRPr/>
            </a:lvl1pPr>
          </a:lstStyle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871426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вершающи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</p:spPr>
      </p:pic>
      <p:pic>
        <p:nvPicPr>
          <p:cNvPr id="7" name="Рисунок 6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4262628"/>
            <a:ext cx="9144000" cy="880872"/>
          </a:xfrm>
          <a:prstGeom prst="rect">
            <a:avLst/>
          </a:prstGeom>
        </p:spPr>
      </p:pic>
      <p:pic>
        <p:nvPicPr>
          <p:cNvPr id="8" name="Рисунок 7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16216" y="555526"/>
            <a:ext cx="1990348" cy="603505"/>
          </a:xfrm>
          <a:prstGeom prst="rect">
            <a:avLst/>
          </a:prstGeom>
        </p:spPr>
      </p:pic>
      <p:pic>
        <p:nvPicPr>
          <p:cNvPr id="9" name="Рисунок 8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2787774"/>
            <a:ext cx="307849" cy="307849"/>
          </a:xfrm>
          <a:prstGeom prst="rect">
            <a:avLst/>
          </a:prstGeom>
        </p:spPr>
      </p:pic>
      <p:sp>
        <p:nvSpPr>
          <p:cNvPr id="10" name="TextBox 9"/>
          <p:cNvSpPr txBox="1"/>
          <p:nvPr userDrawn="1"/>
        </p:nvSpPr>
        <p:spPr>
          <a:xfrm>
            <a:off x="726456" y="2248774"/>
            <a:ext cx="594746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>
                <a:solidFill>
                  <a:schemeClr val="bg1"/>
                </a:solidFill>
                <a:latin typeface="Acrom" pitchFamily="50" charset="-52"/>
              </a:rPr>
              <a:t>РОССИЯ, 630090, НОВОСИБИРСК, 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УЛ</a:t>
            </a:r>
            <a:r>
              <a:rPr lang="ru-RU" sz="1600">
                <a:solidFill>
                  <a:schemeClr val="bg1"/>
                </a:solidFill>
                <a:latin typeface="Acrom" pitchFamily="50" charset="-52"/>
              </a:rPr>
              <a:t>. ПИРОГОВА, </a:t>
            </a:r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2</a:t>
            </a:r>
            <a:endParaRPr lang="en-US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726456" y="3924074"/>
            <a:ext cx="207018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WWW.NSU.RU/N/</a:t>
            </a:r>
          </a:p>
        </p:txBody>
      </p:sp>
      <p:pic>
        <p:nvPicPr>
          <p:cNvPr id="12" name="Рисунок 11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19777" y="2787774"/>
            <a:ext cx="307849" cy="307849"/>
          </a:xfrm>
          <a:prstGeom prst="rect">
            <a:avLst/>
          </a:prstGeom>
        </p:spPr>
      </p:pic>
      <p:sp>
        <p:nvSpPr>
          <p:cNvPr id="13" name="TextBox 12"/>
          <p:cNvSpPr txBox="1"/>
          <p:nvPr userDrawn="1"/>
        </p:nvSpPr>
        <p:spPr>
          <a:xfrm>
            <a:off x="3632215" y="3075806"/>
            <a:ext cx="8242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>
                <a:solidFill>
                  <a:schemeClr val="bg1"/>
                </a:solidFill>
                <a:latin typeface="Acrom" pitchFamily="50" charset="-52"/>
              </a:rPr>
              <a:t>nsu24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4" name="Рисунок 13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4088" y="2787774"/>
            <a:ext cx="310897" cy="307849"/>
          </a:xfrm>
          <a:prstGeom prst="rect">
            <a:avLst/>
          </a:prstGeom>
        </p:spPr>
      </p:pic>
      <p:sp>
        <p:nvSpPr>
          <p:cNvPr id="15" name="TextBox 14"/>
          <p:cNvSpPr txBox="1"/>
          <p:nvPr userDrawn="1"/>
        </p:nvSpPr>
        <p:spPr>
          <a:xfrm>
            <a:off x="5274608" y="3075806"/>
            <a:ext cx="165397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1600" dirty="0">
                <a:solidFill>
                  <a:schemeClr val="bg1"/>
                </a:solidFill>
                <a:latin typeface="Acrom" pitchFamily="50" charset="-52"/>
              </a:rPr>
              <a:t>@</a:t>
            </a:r>
            <a:r>
              <a:rPr lang="ru-RU" sz="1600" dirty="0" err="1">
                <a:solidFill>
                  <a:schemeClr val="bg1"/>
                </a:solidFill>
                <a:latin typeface="Acrom" pitchFamily="50" charset="-52"/>
              </a:rPr>
              <a:t>nsuniversity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  <p:pic>
        <p:nvPicPr>
          <p:cNvPr id="16" name="Рисунок 15"/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584" y="557032"/>
            <a:ext cx="966976" cy="96697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02376" y="3072368"/>
            <a:ext cx="222464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 err="1">
                <a:solidFill>
                  <a:schemeClr val="bg1"/>
                </a:solidFill>
                <a:latin typeface="Acrom" pitchFamily="50" charset="-52"/>
              </a:rPr>
              <a:t>nsuniversity.official</a:t>
            </a:r>
            <a:endParaRPr lang="ru-RU" sz="1600" dirty="0">
              <a:solidFill>
                <a:schemeClr val="bg1"/>
              </a:solidFill>
              <a:latin typeface="Acrom" pitchFamily="50" charset="-52"/>
            </a:endParaRPr>
          </a:p>
        </p:txBody>
      </p:sp>
    </p:spTree>
    <p:extLst>
      <p:ext uri="{BB962C8B-B14F-4D97-AF65-F5344CB8AC3E}">
        <p14:creationId xmlns:p14="http://schemas.microsoft.com/office/powerpoint/2010/main" val="42384436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jpeg"/><Relationship Id="rId13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12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4.png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2.jpg"/><Relationship Id="rId14" Type="http://schemas.openxmlformats.org/officeDocument/2006/relationships/image" Target="../media/image6.png"/></Relationships>
</file>

<file path=ppt/slideMasters/_rels/slideMaster2.xml.rels><?xml version="1.0" encoding="UTF-8" standalone="yes"?>
<Relationships xmlns="http://schemas.openxmlformats.org/package/2006/relationships"><Relationship Id="rId8" Type="http://schemas.microsoft.com/office/2007/relationships/hdphoto" Target="../media/hdphoto4.wdp"/><Relationship Id="rId3" Type="http://schemas.openxmlformats.org/officeDocument/2006/relationships/theme" Target="../theme/theme2.xml"/><Relationship Id="rId7" Type="http://schemas.openxmlformats.org/officeDocument/2006/relationships/image" Target="../media/image16.png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microsoft.com/office/2007/relationships/hdphoto" Target="../media/hdphoto3.wdp"/><Relationship Id="rId5" Type="http://schemas.openxmlformats.org/officeDocument/2006/relationships/image" Target="../media/image15.png"/><Relationship Id="rId10" Type="http://schemas.openxmlformats.org/officeDocument/2006/relationships/image" Target="../media/image18.png"/><Relationship Id="rId4" Type="http://schemas.openxmlformats.org/officeDocument/2006/relationships/image" Target="../media/image14.jpeg"/><Relationship Id="rId9" Type="http://schemas.openxmlformats.org/officeDocument/2006/relationships/image" Target="../media/image17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>
          <a:blip r:embed="rId8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Background">
            <a:extLst>
              <a:ext uri="{FF2B5EF4-FFF2-40B4-BE49-F238E27FC236}">
                <a16:creationId xmlns:a16="http://schemas.microsoft.com/office/drawing/2014/main" id="{9B33D274-B6B1-E2DB-BE57-EEB1AA1C8EF1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4" y="0"/>
            <a:ext cx="9141291" cy="5143499"/>
          </a:xfrm>
          <a:prstGeom prst="rect">
            <a:avLst/>
          </a:prstGeom>
          <a:noFill/>
        </p:spPr>
      </p:pic>
      <p:pic>
        <p:nvPicPr>
          <p:cNvPr id="15" name="BottomGutter">
            <a:extLst>
              <a:ext uri="{FF2B5EF4-FFF2-40B4-BE49-F238E27FC236}">
                <a16:creationId xmlns:a16="http://schemas.microsoft.com/office/drawing/2014/main" id="{C050C21E-2DCE-7642-AC5B-F79436CC620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6856"/>
          <a:stretch/>
        </p:blipFill>
        <p:spPr>
          <a:xfrm>
            <a:off x="1" y="4499190"/>
            <a:ext cx="9143998" cy="644310"/>
          </a:xfrm>
          <a:prstGeom prst="rect">
            <a:avLst/>
          </a:prstGeom>
        </p:spPr>
      </p:pic>
      <p:pic>
        <p:nvPicPr>
          <p:cNvPr id="7" name="TopGutter">
            <a:extLst>
              <a:ext uri="{FF2B5EF4-FFF2-40B4-BE49-F238E27FC236}">
                <a16:creationId xmlns:a16="http://schemas.microsoft.com/office/drawing/2014/main" id="{858D3652-D041-9F6C-9E85-EE8258D7A38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print">
            <a:extLst>
              <a:ext uri="{BEBA8EAE-BF5A-486C-A8C5-ECC9F3942E4B}">
                <a14:imgProps xmlns:a14="http://schemas.microsoft.com/office/drawing/2010/main">
                  <a14:imgLayer r:embed="rId12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" y="0"/>
            <a:ext cx="9143996" cy="1237488"/>
          </a:xfrm>
          <a:prstGeom prst="rect">
            <a:avLst/>
          </a:prstGeom>
        </p:spPr>
      </p:pic>
      <p:sp>
        <p:nvSpPr>
          <p:cNvPr id="4" name="Date Placeholder">
            <a:extLst>
              <a:ext uri="{FF2B5EF4-FFF2-40B4-BE49-F238E27FC236}">
                <a16:creationId xmlns:a16="http://schemas.microsoft.com/office/drawing/2014/main" id="{F6631BE6-C540-9F06-1408-D5DAFE4CC77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351236" y="4858733"/>
            <a:ext cx="1124420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1579037-CC8E-4534-B7F6-0A122AB3349B}" type="datetime1">
              <a:rPr lang="ru-RU" smtClean="0"/>
              <a:t>05.05.2025</a:t>
            </a:fld>
            <a:endParaRPr lang="en-US" dirty="0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8203AFB7-5C34-3102-5A43-1D87CB96B0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547664" y="4858733"/>
            <a:ext cx="6048672" cy="27463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843316F-8F60-660A-EB0D-F436D4FDA7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95306" y="4682109"/>
            <a:ext cx="394546" cy="313943"/>
          </a:xfrm>
          <a:prstGeom prst="rect">
            <a:avLst/>
          </a:prstGeom>
        </p:spPr>
        <p:txBody>
          <a:bodyPr vert="horz" wrap="none" lIns="0" tIns="0" rIns="0" bIns="0" rtlCol="0" anchor="ctr"/>
          <a:lstStyle>
            <a:lvl1pPr algn="r">
              <a:defRPr sz="3400">
                <a:solidFill>
                  <a:srgbClr val="898989"/>
                </a:solidFill>
                <a:latin typeface="Acrom ExtraBold" panose="020B0604020202020204" charset="-52"/>
              </a:defRPr>
            </a:lvl1pPr>
          </a:lstStyle>
          <a:p>
            <a:fld id="{BD5C77E5-19BC-410D-82EA-404658A4611A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Text Placeholder">
            <a:extLst>
              <a:ext uri="{FF2B5EF4-FFF2-40B4-BE49-F238E27FC236}">
                <a16:creationId xmlns:a16="http://schemas.microsoft.com/office/drawing/2014/main" id="{F01035C1-6DDC-A5E1-CB54-AEB8F2B5E8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51236" y="1370013"/>
            <a:ext cx="8164114" cy="32623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itle">
            <a:extLst>
              <a:ext uri="{FF2B5EF4-FFF2-40B4-BE49-F238E27FC236}">
                <a16:creationId xmlns:a16="http://schemas.microsoft.com/office/drawing/2014/main" id="{59F61F2A-946C-4ED4-F435-7300619472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dirty="0"/>
              <a:t>ЗАГОЛОВОК</a:t>
            </a:r>
            <a:endParaRPr lang="en-US" dirty="0"/>
          </a:p>
        </p:txBody>
      </p:sp>
      <p:pic>
        <p:nvPicPr>
          <p:cNvPr id="12" name="ЗвёздочкаЗаголовка">
            <a:extLst>
              <a:ext uri="{FF2B5EF4-FFF2-40B4-BE49-F238E27FC236}">
                <a16:creationId xmlns:a16="http://schemas.microsoft.com/office/drawing/2014/main" id="{FB3F1185-8665-1B69-1268-F2D4AEFABB60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4472" y="778547"/>
            <a:ext cx="131064" cy="124968"/>
          </a:xfrm>
          <a:prstGeom prst="rect">
            <a:avLst/>
          </a:prstGeom>
        </p:spPr>
      </p:pic>
      <p:pic>
        <p:nvPicPr>
          <p:cNvPr id="14" name="ЗвёздочкаНомера">
            <a:extLst>
              <a:ext uri="{FF2B5EF4-FFF2-40B4-BE49-F238E27FC236}">
                <a16:creationId xmlns:a16="http://schemas.microsoft.com/office/drawing/2014/main" id="{405211ED-D317-9A6C-C87D-2F05449DEA0D}"/>
              </a:ext>
            </a:extLst>
          </p:cNvPr>
          <p:cNvPicPr>
            <a:picLocks noChangeAspect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3773" b="56441"/>
          <a:stretch/>
        </p:blipFill>
        <p:spPr>
          <a:xfrm>
            <a:off x="8750038" y="4680520"/>
            <a:ext cx="142442" cy="1367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84426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82" r:id="rId2"/>
    <p:sldLayoutId id="2147483684" r:id="rId3"/>
    <p:sldLayoutId id="2147483683" r:id="rId4"/>
    <p:sldLayoutId id="2147483680" r:id="rId5"/>
    <p:sldLayoutId id="2147483687" r:id="rId6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1800" kern="1200" cap="all" baseline="0">
          <a:solidFill>
            <a:schemeClr val="bg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 userDrawn="1">
          <p15:clr>
            <a:srgbClr val="F26B43"/>
          </p15:clr>
        </p15:guide>
        <p15:guide id="2" pos="288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Рисунок 12">
            <a:extLst>
              <a:ext uri="{FF2B5EF4-FFF2-40B4-BE49-F238E27FC236}">
                <a16:creationId xmlns:a16="http://schemas.microsoft.com/office/drawing/2014/main" id="{A774F97C-D077-5D46-222E-2516201CB63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51746" y="0"/>
            <a:ext cx="5192253" cy="5143500"/>
          </a:xfrm>
          <a:prstGeom prst="rect">
            <a:avLst/>
          </a:prstGeom>
        </p:spPr>
      </p:pic>
      <p:pic>
        <p:nvPicPr>
          <p:cNvPr id="8" name="Asterisk">
            <a:extLst>
              <a:ext uri="{FF2B5EF4-FFF2-40B4-BE49-F238E27FC236}">
                <a16:creationId xmlns:a16="http://schemas.microsoft.com/office/drawing/2014/main" id="{D333FEBB-EBF5-7FBD-4829-084774DD9550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0352" y="483518"/>
            <a:ext cx="896114" cy="850394"/>
          </a:xfrm>
          <a:prstGeom prst="rect">
            <a:avLst/>
          </a:prstGeom>
        </p:spPr>
      </p:pic>
      <p:pic>
        <p:nvPicPr>
          <p:cNvPr id="9" name="Рисунок 15">
            <a:extLst>
              <a:ext uri="{FF2B5EF4-FFF2-40B4-BE49-F238E27FC236}">
                <a16:creationId xmlns:a16="http://schemas.microsoft.com/office/drawing/2014/main" id="{0BD73755-EB14-577B-F4C9-A77F7FCF8772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3952085" cy="5143499"/>
          </a:xfrm>
          <a:prstGeom prst="rect">
            <a:avLst/>
          </a:prstGeom>
        </p:spPr>
      </p:pic>
      <p:pic>
        <p:nvPicPr>
          <p:cNvPr id="10" name="Рисунок 16">
            <a:extLst>
              <a:ext uri="{FF2B5EF4-FFF2-40B4-BE49-F238E27FC236}">
                <a16:creationId xmlns:a16="http://schemas.microsoft.com/office/drawing/2014/main" id="{327461AB-451C-E280-61A3-E51A2A202B98}"/>
              </a:ext>
            </a:extLst>
          </p:cNvPr>
          <p:cNvPicPr>
            <a:picLocks noChangeAspect="1"/>
          </p:cNvPicPr>
          <p:nvPr userDrawn="1"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339502"/>
            <a:ext cx="3206503" cy="3185166"/>
          </a:xfrm>
          <a:prstGeom prst="rect">
            <a:avLst/>
          </a:prstGeom>
        </p:spPr>
      </p:pic>
      <p:pic>
        <p:nvPicPr>
          <p:cNvPr id="11" name="Рисунок 17">
            <a:extLst>
              <a:ext uri="{FF2B5EF4-FFF2-40B4-BE49-F238E27FC236}">
                <a16:creationId xmlns:a16="http://schemas.microsoft.com/office/drawing/2014/main" id="{F78A891D-02CC-B741-9D04-F6A91F88DC3E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790" y="4229069"/>
            <a:ext cx="1655067" cy="502921"/>
          </a:xfrm>
          <a:prstGeom prst="rect">
            <a:avLst/>
          </a:prstGeom>
        </p:spPr>
      </p:pic>
      <p:sp>
        <p:nvSpPr>
          <p:cNvPr id="2" name="Title">
            <a:extLst>
              <a:ext uri="{FF2B5EF4-FFF2-40B4-BE49-F238E27FC236}">
                <a16:creationId xmlns:a16="http://schemas.microsoft.com/office/drawing/2014/main" id="{973725AA-F208-BAB1-BC9D-BCA5F8833D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04362" y="1677262"/>
            <a:ext cx="4332104" cy="1847406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ru-RU" dirty="0"/>
              <a:t>ОБРАЗЕЦ ЗАГОЛОВКА</a:t>
            </a:r>
            <a:endParaRPr lang="en-US" dirty="0"/>
          </a:p>
        </p:txBody>
      </p:sp>
      <p:sp>
        <p:nvSpPr>
          <p:cNvPr id="14" name="Subtitle 1">
            <a:extLst>
              <a:ext uri="{FF2B5EF4-FFF2-40B4-BE49-F238E27FC236}">
                <a16:creationId xmlns:a16="http://schemas.microsoft.com/office/drawing/2014/main" id="{46B62068-49A8-7B4B-4EC6-41C46C4BA9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04362" y="3524667"/>
            <a:ext cx="4332104" cy="9192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dirty="0"/>
              <a:t>ОБРАЗЕЦ ПОДЗАГОЛОВКА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4731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58" r:id="rId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Acrom ExtraBold" panose="020B0604020202020204" charset="-52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 cap="all" baseline="0">
          <a:solidFill>
            <a:schemeClr val="tx1"/>
          </a:solidFill>
          <a:latin typeface="+mj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1620">
          <p15:clr>
            <a:srgbClr val="F26B43"/>
          </p15:clr>
        </p15:guide>
        <p15:guide id="2" pos="288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04362" y="1677262"/>
            <a:ext cx="3523722" cy="535531"/>
          </a:xfrm>
        </p:spPr>
        <p:txBody>
          <a:bodyPr wrap="none">
            <a:spAutoFit/>
          </a:bodyPr>
          <a:lstStyle/>
          <a:p>
            <a:r>
              <a:rPr lang="ru-RU" sz="3200" dirty="0"/>
              <a:t>БАЗЫ ДАННЫХ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55D118-EC03-3BAF-711F-6D2F5AAC6F6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304362" y="3524667"/>
            <a:ext cx="4332104" cy="1423347"/>
          </a:xfrm>
        </p:spPr>
        <p:txBody>
          <a:bodyPr>
            <a:normAutofit fontScale="92500" lnSpcReduction="1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4407532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6A26515-82F9-BFED-C2A0-1967B2EA701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eaLnBrk="1" hangingPunct="1"/>
            <a:r>
              <a:rPr lang="ru-RU" dirty="0"/>
              <a:t>Г. Гарсия-Молина, Дж. Ульман, Дж. </a:t>
            </a:r>
            <a:r>
              <a:rPr lang="ru-RU" dirty="0" err="1"/>
              <a:t>Уидом</a:t>
            </a:r>
            <a:r>
              <a:rPr lang="ru-RU" dirty="0"/>
              <a:t>. </a:t>
            </a:r>
            <a:br>
              <a:rPr lang="ru-RU" dirty="0"/>
            </a:br>
            <a:r>
              <a:rPr lang="ru-RU" b="1" dirty="0"/>
              <a:t>Системы баз данных, </a:t>
            </a:r>
            <a:r>
              <a:rPr lang="ru-RU" dirty="0">
                <a:solidFill>
                  <a:schemeClr val="tx1"/>
                </a:solidFill>
                <a:highlight>
                  <a:srgbClr val="C1F3FF"/>
                </a:highlight>
              </a:rPr>
              <a:t>Глава 17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F6A67C-FF6B-9762-ACBF-04B1A1F1E33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ru-RU" dirty="0"/>
              <a:t>ЛИТЕРАТУРА</a:t>
            </a:r>
            <a:endParaRPr lang="en-US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2118199-88F4-C870-1F8E-8EA926A2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561457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A507D-5449-5BCC-9FCE-040831BBBF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03BDF6E-7B66-7CE0-6FF4-5DE4C7B5E6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DC26736-BDDE-AFF2-3CA5-E6EF0BD345A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/>
          </a:bodyPr>
          <a:lstStyle/>
          <a:p>
            <a:pPr>
              <a:lnSpc>
                <a:spcPct val="150000"/>
              </a:lnSpc>
            </a:pPr>
            <a:r>
              <a:rPr lang="ru-RU" dirty="0"/>
              <a:t>Ошибочные элементы данных</a:t>
            </a:r>
          </a:p>
          <a:p>
            <a:pPr>
              <a:lnSpc>
                <a:spcPct val="150000"/>
              </a:lnSpc>
            </a:pPr>
            <a:r>
              <a:rPr lang="ru-RU" dirty="0"/>
              <a:t>Разрушение носителя</a:t>
            </a:r>
            <a:endParaRPr lang="en-US" dirty="0"/>
          </a:p>
          <a:p>
            <a:pPr>
              <a:lnSpc>
                <a:spcPct val="150000"/>
              </a:lnSpc>
            </a:pPr>
            <a:r>
              <a:rPr lang="ru-RU" dirty="0"/>
              <a:t>Катастрофа</a:t>
            </a:r>
          </a:p>
          <a:p>
            <a:pPr>
              <a:lnSpc>
                <a:spcPct val="150000"/>
              </a:lnSpc>
            </a:pPr>
            <a:r>
              <a:rPr lang="ru-RU" dirty="0"/>
              <a:t>Сбой системы</a:t>
            </a:r>
            <a:endParaRPr lang="ru-RU" altLang="ru-RU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BE3899-87E1-1F59-C9F6-7AE85DC9D4A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Виды отказов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41B5472-3844-5817-77E2-E1140EBFD6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3021874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6E80BC-CF98-4A12-907B-7D252CFAE4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5B7A2D-1B2F-37E0-0A6A-C5BCE52DF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9A218F-EAE2-42BF-7D4D-876D5E0BA2C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79725"/>
          </a:xfrm>
        </p:spPr>
        <p:txBody>
          <a:bodyPr numCol="1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Средства СУБД для выявления ошибок – ограничения  базы данных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Типы данных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Шаблоны представления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err="1"/>
              <a:t>Primary</a:t>
            </a:r>
            <a:r>
              <a:rPr lang="ru-RU" dirty="0"/>
              <a:t> </a:t>
            </a:r>
            <a:r>
              <a:rPr lang="ru-RU" dirty="0" err="1"/>
              <a:t>key</a:t>
            </a:r>
            <a:endParaRPr lang="ru-RU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Foreign </a:t>
            </a:r>
            <a:r>
              <a:rPr lang="ru-RU" dirty="0" err="1"/>
              <a:t>key</a:t>
            </a:r>
            <a:endParaRPr lang="ru-RU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/>
              <a:t>Check ()</a:t>
            </a:r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err="1"/>
              <a:t>Assertions</a:t>
            </a:r>
            <a:endParaRPr lang="ru-RU" dirty="0"/>
          </a:p>
          <a:p>
            <a:pPr lvl="1">
              <a:lnSpc>
                <a:spcPct val="120000"/>
              </a:lnSpc>
              <a:spcBef>
                <a:spcPts val="0"/>
              </a:spcBef>
            </a:pPr>
            <a:r>
              <a:rPr lang="ru-RU" dirty="0" err="1"/>
              <a:t>Triggers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Некоторые ошибки в данных выявить автоматизированным способом невозможно: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неправильно введенный в БД телефонный номер,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ошибка в текстовом поле – фамилия, описание объекта хранения и т.д.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 Ограничения БД выполнены , но 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BBCAC91-F527-CF18-606E-ADD895DCA36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Ошибочные элементы данных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5477687E-C6A3-FB2B-9B70-9A99BD51A0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16183232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5D9EA-2309-EE25-EC3A-AED15DE21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1804D64-DBF3-DE1F-CFD1-7EFEB1E4FE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6BC7D4-A235-78E7-C995-8A36EFD3F16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625157"/>
          </a:xfrm>
        </p:spPr>
        <p:txBody>
          <a:bodyPr numCol="1">
            <a:normAutofit fontScale="85000" lnSpcReduction="10000"/>
          </a:bodyPr>
          <a:lstStyle/>
          <a:p>
            <a:pPr>
              <a:lnSpc>
                <a:spcPct val="110000"/>
              </a:lnSpc>
              <a:defRPr/>
            </a:pPr>
            <a:r>
              <a:rPr lang="ru-RU" dirty="0"/>
              <a:t>Локальное разрушение носителя – проверка контрольных сумм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Последствия серьезных повреждений (поломка головок, повреждение большой поверхности)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Применение </a:t>
            </a:r>
            <a:r>
              <a:rPr lang="en-US" dirty="0"/>
              <a:t>RAID</a:t>
            </a:r>
            <a:r>
              <a:rPr lang="ru-RU" dirty="0"/>
              <a:t> массивов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Ведение  архива – копия БД на третичных устройствах хранения (ленты, оптические диски), </a:t>
            </a:r>
            <a:r>
              <a:rPr lang="ru-RU" b="1" dirty="0"/>
              <a:t>регламент ведения архива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Сохранение дополнительных копий БД, распределяемых по нескольким точкам локальной или глобальной сети в режиме </a:t>
            </a:r>
            <a:r>
              <a:rPr lang="en-US" i="1" dirty="0"/>
              <a:t>on-line</a:t>
            </a:r>
            <a:r>
              <a:rPr lang="ru-RU" i="1" dirty="0"/>
              <a:t> </a:t>
            </a:r>
            <a:r>
              <a:rPr lang="ru-RU" b="1" i="1" dirty="0"/>
              <a:t>репликации</a:t>
            </a:r>
            <a:endParaRPr lang="ru-RU" b="1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50E803-2B6E-FDBF-59BA-0E2AEF99E6D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Разрушения носителя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96E282F-B275-4B2F-A152-90E6E9D4C9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17278639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F77FED-4339-942C-0351-0E5B3365D9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01C59B-3CB0-7539-BD85-0A7641EC7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FAE9F7-91B3-3127-562D-14EEE7A1A9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625157"/>
          </a:xfrm>
        </p:spPr>
        <p:txBody>
          <a:bodyPr numCol="1">
            <a:normAutofit fontScale="925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ru-RU" dirty="0"/>
              <a:t>Отказы системы, обусловленные </a:t>
            </a:r>
            <a:r>
              <a:rPr lang="ru-RU" b="1" dirty="0"/>
              <a:t>полной</a:t>
            </a:r>
            <a:r>
              <a:rPr lang="ru-RU" dirty="0"/>
              <a:t> потерей носителя с базой банных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Взрыв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Пожар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Наводнение 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Акты вандализма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RAID </a:t>
            </a:r>
            <a:r>
              <a:rPr lang="ru-RU" b="1" dirty="0"/>
              <a:t>не состоятелен</a:t>
            </a:r>
            <a:r>
              <a:rPr lang="ru-RU" dirty="0"/>
              <a:t>, так как теряются все носители</a:t>
            </a:r>
          </a:p>
          <a:p>
            <a:pPr>
              <a:lnSpc>
                <a:spcPct val="110000"/>
              </a:lnSpc>
              <a:defRPr/>
            </a:pPr>
            <a:r>
              <a:rPr lang="ru-RU" b="1" dirty="0"/>
              <a:t>Архив и распределенные копии </a:t>
            </a:r>
            <a:r>
              <a:rPr lang="ru-RU" dirty="0"/>
              <a:t>все еще способны помочь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436694-901F-4767-6C7E-CD447537BC6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Катастрофа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C11BEF1-0C7F-8F87-16B9-5EC3335E33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6160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F4BE9-5925-652D-F173-7EE1F86526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92357B7-B4D0-BD66-A06A-24322D033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FD370-DC49-DE1F-8F8A-CC2517A9438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625157"/>
          </a:xfrm>
        </p:spPr>
        <p:txBody>
          <a:bodyPr numCol="1">
            <a:normAutofit fontScale="70000" lnSpcReduction="20000"/>
          </a:bodyPr>
          <a:lstStyle/>
          <a:p>
            <a:pPr>
              <a:lnSpc>
                <a:spcPct val="110000"/>
              </a:lnSpc>
              <a:defRPr/>
            </a:pPr>
            <a:r>
              <a:rPr lang="ru-RU" dirty="0"/>
              <a:t>Причины сбоев системы (</a:t>
            </a:r>
            <a:r>
              <a:rPr lang="ru-RU" dirty="0" err="1"/>
              <a:t>system</a:t>
            </a:r>
            <a:r>
              <a:rPr lang="ru-RU" dirty="0"/>
              <a:t> </a:t>
            </a:r>
            <a:r>
              <a:rPr lang="ru-RU" dirty="0" err="1"/>
              <a:t>failure</a:t>
            </a:r>
            <a:r>
              <a:rPr lang="ru-RU" dirty="0"/>
              <a:t>)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Потеря электропитания</a:t>
            </a:r>
          </a:p>
          <a:p>
            <a:pPr lvl="1">
              <a:lnSpc>
                <a:spcPct val="110000"/>
              </a:lnSpc>
              <a:defRPr/>
            </a:pPr>
            <a:r>
              <a:rPr lang="ru-RU" dirty="0"/>
              <a:t>Ошибки в программном обеспечении (деление на ноль, разыменование </a:t>
            </a:r>
            <a:r>
              <a:rPr lang="en-US" dirty="0"/>
              <a:t>null </a:t>
            </a:r>
            <a:r>
              <a:rPr lang="ru-RU" dirty="0"/>
              <a:t>указателя, …)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Транзакции – как единицы целостности данных в БД.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Промежуточные данные транзакций хранятся в ОП. При сбоях они теряются.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Трудно понять какая часть транзакции выполнилась и сохранена на диске.</a:t>
            </a:r>
          </a:p>
          <a:p>
            <a:pPr>
              <a:lnSpc>
                <a:spcPct val="110000"/>
              </a:lnSpc>
              <a:defRPr/>
            </a:pPr>
            <a:r>
              <a:rPr lang="ru-RU" dirty="0"/>
              <a:t>Основная стратегия преодоления последствий системных сбоев – ведение </a:t>
            </a:r>
            <a:r>
              <a:rPr lang="ru-RU" b="1" u="sng" dirty="0"/>
              <a:t>протокола</a:t>
            </a:r>
            <a:r>
              <a:rPr lang="ru-RU" b="1" dirty="0"/>
              <a:t> всех изменений в БД</a:t>
            </a:r>
            <a:r>
              <a:rPr lang="ru-RU" dirty="0"/>
              <a:t>, используя о</a:t>
            </a:r>
            <a:r>
              <a:rPr lang="ru-RU" b="1" dirty="0"/>
              <a:t>тдельный файл на энергонезависимом носителе</a:t>
            </a:r>
            <a:r>
              <a:rPr lang="ru-RU" dirty="0"/>
              <a:t> – (системный) </a:t>
            </a:r>
            <a:r>
              <a:rPr lang="ru-RU" b="1" dirty="0"/>
              <a:t>журнал транзакций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EAA727C-8BFF-19FE-F06F-583950ABE78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Сбой системы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6576947-D5CE-2309-2EF3-DABA557D6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6269635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77C8235-8864-E605-88FF-14AB4BB0A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BE27F-EDDE-506D-7E63-D6A1EBCAEC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Структура СУБД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866D1DC-82B9-6293-E277-486B4A4CB1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  <a:endParaRPr lang="en-US" dirty="0"/>
          </a:p>
        </p:txBody>
      </p:sp>
      <p:sp>
        <p:nvSpPr>
          <p:cNvPr id="6" name="Номер слайда 2">
            <a:extLst>
              <a:ext uri="{FF2B5EF4-FFF2-40B4-BE49-F238E27FC236}">
                <a16:creationId xmlns:a16="http://schemas.microsoft.com/office/drawing/2014/main" id="{8D312193-B18A-82BF-3B84-43DDA1C1638A}"/>
              </a:ext>
            </a:extLst>
          </p:cNvPr>
          <p:cNvSpPr txBox="1">
            <a:spLocks/>
          </p:cNvSpPr>
          <p:nvPr/>
        </p:nvSpPr>
        <p:spPr>
          <a:xfrm>
            <a:off x="6606086" y="4584468"/>
            <a:ext cx="2085163" cy="219530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lIns="91440" tIns="45720" rIns="91440" bIns="45720" rtlCol="0" anchor="ctr"/>
          <a:lstStyle>
            <a:defPPr>
              <a:defRPr lang="ru-RU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Acrom" panose="020B0604020202020204" charset="-52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8612963-D6F5-4ABB-AED0-6576D3967645}" type="slidenum">
              <a:rPr lang="ru-RU" sz="1050" smtClean="0"/>
              <a:pPr/>
              <a:t>8</a:t>
            </a:fld>
            <a:endParaRPr lang="ru-RU" sz="105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78490A-86AD-3415-17CA-0889BCB7A249}"/>
              </a:ext>
            </a:extLst>
          </p:cNvPr>
          <p:cNvSpPr txBox="1"/>
          <p:nvPr/>
        </p:nvSpPr>
        <p:spPr>
          <a:xfrm>
            <a:off x="951677" y="1875192"/>
            <a:ext cx="2110963" cy="184611"/>
          </a:xfrm>
          <a:prstGeom prst="rect">
            <a:avLst/>
          </a:prstGeom>
          <a:noFill/>
        </p:spPr>
        <p:txBody>
          <a:bodyPr wrap="square" lIns="0" tIns="18000" rIns="0" bIns="18000" rtlCol="0">
            <a:normAutofit lnSpcReduction="10000"/>
          </a:bodyPr>
          <a:lstStyle/>
          <a:p>
            <a:pPr algn="ctr"/>
            <a:r>
              <a:rPr lang="ru-RU" sz="1050" b="1" dirty="0"/>
              <a:t>Пользователь</a:t>
            </a:r>
            <a:r>
              <a:rPr lang="en-US" sz="1050" b="1" dirty="0"/>
              <a:t>/</a:t>
            </a:r>
            <a:r>
              <a:rPr lang="ru-RU" sz="1050" b="1" dirty="0"/>
              <a:t>приложение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3AEC2D-C06D-79EF-85C3-2F5BEA8341AF}"/>
              </a:ext>
            </a:extLst>
          </p:cNvPr>
          <p:cNvSpPr txBox="1"/>
          <p:nvPr/>
        </p:nvSpPr>
        <p:spPr>
          <a:xfrm>
            <a:off x="6030806" y="1851670"/>
            <a:ext cx="2804067" cy="184611"/>
          </a:xfrm>
          <a:prstGeom prst="rect">
            <a:avLst/>
          </a:prstGeom>
          <a:noFill/>
        </p:spPr>
        <p:txBody>
          <a:bodyPr wrap="square" lIns="0" tIns="0" rIns="0" bIns="0" rtlCol="0">
            <a:normAutofit/>
          </a:bodyPr>
          <a:lstStyle/>
          <a:p>
            <a:pPr algn="ctr"/>
            <a:r>
              <a:rPr lang="ru-RU" sz="1100" b="1" dirty="0"/>
              <a:t>Администратор базы данных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C4CDCA-17A6-4BA7-A40C-B7DE2EA76605}"/>
              </a:ext>
            </a:extLst>
          </p:cNvPr>
          <p:cNvSpPr txBox="1"/>
          <p:nvPr/>
        </p:nvSpPr>
        <p:spPr>
          <a:xfrm>
            <a:off x="959656" y="2169571"/>
            <a:ext cx="2110963" cy="2765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050" b="1" dirty="0"/>
              <a:t>Компилятор запросов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8059C66-F41D-1539-9DFB-8F4F686971CD}"/>
              </a:ext>
            </a:extLst>
          </p:cNvPr>
          <p:cNvSpPr txBox="1"/>
          <p:nvPr/>
        </p:nvSpPr>
        <p:spPr>
          <a:xfrm>
            <a:off x="959656" y="2608629"/>
            <a:ext cx="2110963" cy="2765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050" b="1" dirty="0"/>
              <a:t>Исполняющая машина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5B7BDC6-F092-090E-DE13-EE79BB2D89C9}"/>
              </a:ext>
            </a:extLst>
          </p:cNvPr>
          <p:cNvSpPr txBox="1"/>
          <p:nvPr/>
        </p:nvSpPr>
        <p:spPr>
          <a:xfrm>
            <a:off x="959656" y="3057274"/>
            <a:ext cx="2110963" cy="2765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050" b="1" dirty="0"/>
              <a:t>Менеджер ресурсов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B2B6873D-CE32-625D-5F20-5B5534E39F4F}"/>
              </a:ext>
            </a:extLst>
          </p:cNvPr>
          <p:cNvSpPr txBox="1"/>
          <p:nvPr/>
        </p:nvSpPr>
        <p:spPr>
          <a:xfrm>
            <a:off x="959656" y="3510271"/>
            <a:ext cx="2110963" cy="2765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/>
          </a:bodyPr>
          <a:lstStyle/>
          <a:p>
            <a:pPr algn="ctr"/>
            <a:r>
              <a:rPr lang="ru-RU" sz="1050" b="1" dirty="0"/>
              <a:t>Менеджер буферов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7EDD53E-C343-B2F9-BA9B-5A9C798B6438}"/>
              </a:ext>
            </a:extLst>
          </p:cNvPr>
          <p:cNvSpPr txBox="1"/>
          <p:nvPr/>
        </p:nvSpPr>
        <p:spPr>
          <a:xfrm>
            <a:off x="959656" y="3972850"/>
            <a:ext cx="2110963" cy="2765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>
            <a:normAutofit fontScale="92500"/>
          </a:bodyPr>
          <a:lstStyle/>
          <a:p>
            <a:pPr algn="ctr"/>
            <a:r>
              <a:rPr lang="ru-RU" sz="1050" b="1" dirty="0"/>
              <a:t>Менеджер хранения данных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D9963BC-961B-A832-2AD0-903FFAEA6693}"/>
              </a:ext>
            </a:extLst>
          </p:cNvPr>
          <p:cNvSpPr txBox="1"/>
          <p:nvPr/>
        </p:nvSpPr>
        <p:spPr>
          <a:xfrm>
            <a:off x="4111343" y="2169571"/>
            <a:ext cx="1595788" cy="287550"/>
          </a:xfrm>
          <a:prstGeom prst="rect">
            <a:avLst/>
          </a:prstGeom>
          <a:noFill/>
          <a:ln w="25400">
            <a:solidFill>
              <a:srgbClr val="00CC00"/>
            </a:solidFill>
          </a:ln>
        </p:spPr>
        <p:txBody>
          <a:bodyPr wrap="square" lIns="0" tIns="18000" rIns="0" bIns="18000" rtlCol="0">
            <a:normAutofit fontScale="92500" lnSpcReduction="20000"/>
          </a:bodyPr>
          <a:lstStyle/>
          <a:p>
            <a:pPr algn="ctr"/>
            <a:r>
              <a:rPr lang="ru-RU" sz="1050" b="1" dirty="0">
                <a:solidFill>
                  <a:srgbClr val="00CC00"/>
                </a:solidFill>
              </a:rPr>
              <a:t>Менеджер транзакций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9DB0D17-8650-95CC-3333-FEC1BB22EAAB}"/>
              </a:ext>
            </a:extLst>
          </p:cNvPr>
          <p:cNvSpPr txBox="1"/>
          <p:nvPr/>
        </p:nvSpPr>
        <p:spPr>
          <a:xfrm>
            <a:off x="3843341" y="2740275"/>
            <a:ext cx="2110963" cy="380288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lIns="0" tIns="18000" rIns="0" bIns="18000" rtlCol="0">
            <a:normAutofit fontScale="92500"/>
          </a:bodyPr>
          <a:lstStyle/>
          <a:p>
            <a:pPr algn="ctr"/>
            <a:r>
              <a:rPr lang="ru-RU" sz="1050" b="1" dirty="0">
                <a:solidFill>
                  <a:srgbClr val="00CC00"/>
                </a:solidFill>
              </a:rPr>
              <a:t>Менеджер протоколирования и восстановления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9352088-671B-7B2A-FCD3-E4EC90FDB23D}"/>
              </a:ext>
            </a:extLst>
          </p:cNvPr>
          <p:cNvSpPr txBox="1"/>
          <p:nvPr/>
        </p:nvSpPr>
        <p:spPr>
          <a:xfrm>
            <a:off x="4108672" y="4006904"/>
            <a:ext cx="1550577" cy="279568"/>
          </a:xfrm>
          <a:prstGeom prst="rect">
            <a:avLst/>
          </a:prstGeom>
          <a:noFill/>
          <a:ln w="19050" cmpd="dbl">
            <a:solidFill>
              <a:srgbClr val="008000"/>
            </a:solidFill>
          </a:ln>
        </p:spPr>
        <p:txBody>
          <a:bodyPr wrap="square" rtlCol="0" anchor="ctr">
            <a:normAutofit/>
          </a:bodyPr>
          <a:lstStyle/>
          <a:p>
            <a:pPr algn="ctr"/>
            <a:r>
              <a:rPr lang="ru-RU" sz="1050" b="1" dirty="0">
                <a:solidFill>
                  <a:srgbClr val="00CC00"/>
                </a:solidFill>
              </a:rPr>
              <a:t>Буферы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B7985E6-559C-D041-A255-887462E95FD3}"/>
              </a:ext>
            </a:extLst>
          </p:cNvPr>
          <p:cNvSpPr txBox="1"/>
          <p:nvPr/>
        </p:nvSpPr>
        <p:spPr>
          <a:xfrm>
            <a:off x="6584806" y="2172182"/>
            <a:ext cx="2110963" cy="276573"/>
          </a:xfrm>
          <a:prstGeom prst="rect">
            <a:avLst/>
          </a:prstGeom>
          <a:noFill/>
          <a:ln w="25400">
            <a:solidFill>
              <a:schemeClr val="tx1"/>
            </a:solidFill>
          </a:ln>
        </p:spPr>
        <p:txBody>
          <a:bodyPr wrap="square" lIns="0" tIns="18000" rIns="0" bIns="18000" rtlCol="0" anchor="ctr">
            <a:normAutofit/>
          </a:bodyPr>
          <a:lstStyle/>
          <a:p>
            <a:pPr algn="ctr"/>
            <a:r>
              <a:rPr lang="ru-RU" sz="1050" b="1" dirty="0"/>
              <a:t>Компилятор </a:t>
            </a:r>
            <a:r>
              <a:rPr lang="en-US" sz="1050" b="1" dirty="0"/>
              <a:t>DDL</a:t>
            </a:r>
            <a:endParaRPr lang="ru-RU" sz="1050" b="1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06B778A-DB49-7668-F2A2-D9005E10D7DC}"/>
              </a:ext>
            </a:extLst>
          </p:cNvPr>
          <p:cNvSpPr txBox="1"/>
          <p:nvPr/>
        </p:nvSpPr>
        <p:spPr>
          <a:xfrm>
            <a:off x="6606086" y="2795856"/>
            <a:ext cx="1909264" cy="325081"/>
          </a:xfrm>
          <a:prstGeom prst="rect">
            <a:avLst/>
          </a:prstGeom>
          <a:noFill/>
          <a:ln w="25400">
            <a:solidFill>
              <a:srgbClr val="008000"/>
            </a:solidFill>
          </a:ln>
        </p:spPr>
        <p:txBody>
          <a:bodyPr wrap="square" lIns="0" tIns="18000" rIns="0" bIns="18000" rtlCol="0" anchor="ctr">
            <a:normAutofit/>
          </a:bodyPr>
          <a:lstStyle/>
          <a:p>
            <a:pPr algn="ctr">
              <a:lnSpc>
                <a:spcPct val="100000"/>
              </a:lnSpc>
              <a:spcBef>
                <a:spcPts val="600"/>
              </a:spcBef>
            </a:pPr>
            <a:r>
              <a:rPr lang="ru-RU" sz="1050" b="1" dirty="0">
                <a:solidFill>
                  <a:srgbClr val="00CC00"/>
                </a:solidFill>
              </a:rPr>
              <a:t>Планировщик заданий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1314F71-AF04-8202-009F-B90D18313FCB}"/>
              </a:ext>
            </a:extLst>
          </p:cNvPr>
          <p:cNvSpPr txBox="1"/>
          <p:nvPr/>
        </p:nvSpPr>
        <p:spPr>
          <a:xfrm>
            <a:off x="6773639" y="3412368"/>
            <a:ext cx="1550577" cy="279568"/>
          </a:xfrm>
          <a:prstGeom prst="rect">
            <a:avLst/>
          </a:prstGeom>
          <a:noFill/>
          <a:ln w="28575" cmpd="dbl">
            <a:solidFill>
              <a:schemeClr val="tx1"/>
            </a:solidFill>
          </a:ln>
        </p:spPr>
        <p:txBody>
          <a:bodyPr wrap="square" rtlCol="0" anchor="ctr">
            <a:normAutofit fontScale="85000" lnSpcReduction="10000"/>
          </a:bodyPr>
          <a:lstStyle/>
          <a:p>
            <a:pPr algn="ctr"/>
            <a:r>
              <a:rPr lang="ru-RU" sz="1050" b="1" dirty="0"/>
              <a:t>Таблицы блокировок</a:t>
            </a:r>
          </a:p>
        </p:txBody>
      </p:sp>
      <p:cxnSp>
        <p:nvCxnSpPr>
          <p:cNvPr id="20" name="Прямая со стрелкой 20">
            <a:extLst>
              <a:ext uri="{FF2B5EF4-FFF2-40B4-BE49-F238E27FC236}">
                <a16:creationId xmlns:a16="http://schemas.microsoft.com/office/drawing/2014/main" id="{4F0E907B-EB1A-3975-9BF4-F333C2D53379}"/>
              </a:ext>
            </a:extLst>
          </p:cNvPr>
          <p:cNvCxnSpPr>
            <a:cxnSpLocks/>
          </p:cNvCxnSpPr>
          <p:nvPr/>
        </p:nvCxnSpPr>
        <p:spPr>
          <a:xfrm rot="5400000">
            <a:off x="1928708" y="2101339"/>
            <a:ext cx="172858" cy="5759"/>
          </a:xfrm>
          <a:prstGeom prst="straightConnector1">
            <a:avLst/>
          </a:prstGeom>
          <a:ln w="25400">
            <a:solidFill>
              <a:schemeClr val="tx1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Прямая со стрелкой 22">
            <a:extLst>
              <a:ext uri="{FF2B5EF4-FFF2-40B4-BE49-F238E27FC236}">
                <a16:creationId xmlns:a16="http://schemas.microsoft.com/office/drawing/2014/main" id="{336311C9-91F4-CDC9-51F3-B8E9E45CCD6F}"/>
              </a:ext>
            </a:extLst>
          </p:cNvPr>
          <p:cNvCxnSpPr>
            <a:cxnSpLocks/>
          </p:cNvCxnSpPr>
          <p:nvPr/>
        </p:nvCxnSpPr>
        <p:spPr>
          <a:xfrm rot="5400000">
            <a:off x="1928708" y="2511659"/>
            <a:ext cx="172858" cy="5759"/>
          </a:xfrm>
          <a:prstGeom prst="straightConnector1">
            <a:avLst/>
          </a:prstGeom>
          <a:ln w="25400">
            <a:solidFill>
              <a:schemeClr val="tx1"/>
            </a:solidFill>
            <a:headEnd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3">
            <a:extLst>
              <a:ext uri="{FF2B5EF4-FFF2-40B4-BE49-F238E27FC236}">
                <a16:creationId xmlns:a16="http://schemas.microsoft.com/office/drawing/2014/main" id="{1DCC3AED-2F49-6157-1288-1AA8DF1B17AA}"/>
              </a:ext>
            </a:extLst>
          </p:cNvPr>
          <p:cNvCxnSpPr>
            <a:cxnSpLocks/>
          </p:cNvCxnSpPr>
          <p:nvPr/>
        </p:nvCxnSpPr>
        <p:spPr>
          <a:xfrm rot="5400000">
            <a:off x="1928708" y="2953341"/>
            <a:ext cx="172858" cy="5759"/>
          </a:xfrm>
          <a:prstGeom prst="straightConnector1">
            <a:avLst/>
          </a:prstGeom>
          <a:ln w="2540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4">
            <a:extLst>
              <a:ext uri="{FF2B5EF4-FFF2-40B4-BE49-F238E27FC236}">
                <a16:creationId xmlns:a16="http://schemas.microsoft.com/office/drawing/2014/main" id="{C7414FA9-EBC2-8A0E-4611-309D76EC89E4}"/>
              </a:ext>
            </a:extLst>
          </p:cNvPr>
          <p:cNvCxnSpPr>
            <a:cxnSpLocks/>
          </p:cNvCxnSpPr>
          <p:nvPr/>
        </p:nvCxnSpPr>
        <p:spPr>
          <a:xfrm rot="5400000">
            <a:off x="1928708" y="3410705"/>
            <a:ext cx="172858" cy="5759"/>
          </a:xfrm>
          <a:prstGeom prst="straightConnector1">
            <a:avLst/>
          </a:prstGeom>
          <a:ln w="2540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5">
            <a:extLst>
              <a:ext uri="{FF2B5EF4-FFF2-40B4-BE49-F238E27FC236}">
                <a16:creationId xmlns:a16="http://schemas.microsoft.com/office/drawing/2014/main" id="{D4AB895A-4296-78DC-73E9-4C115CCCBBFE}"/>
              </a:ext>
            </a:extLst>
          </p:cNvPr>
          <p:cNvCxnSpPr>
            <a:cxnSpLocks/>
          </p:cNvCxnSpPr>
          <p:nvPr/>
        </p:nvCxnSpPr>
        <p:spPr>
          <a:xfrm rot="5400000">
            <a:off x="1916634" y="3884952"/>
            <a:ext cx="197006" cy="1552"/>
          </a:xfrm>
          <a:prstGeom prst="straightConnector1">
            <a:avLst/>
          </a:prstGeom>
          <a:ln w="2540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6">
            <a:extLst>
              <a:ext uri="{FF2B5EF4-FFF2-40B4-BE49-F238E27FC236}">
                <a16:creationId xmlns:a16="http://schemas.microsoft.com/office/drawing/2014/main" id="{F2913A8B-A36F-CDEB-D44A-37BB97468C37}"/>
              </a:ext>
            </a:extLst>
          </p:cNvPr>
          <p:cNvCxnSpPr>
            <a:cxnSpLocks/>
          </p:cNvCxnSpPr>
          <p:nvPr/>
        </p:nvCxnSpPr>
        <p:spPr>
          <a:xfrm rot="5400000">
            <a:off x="1928708" y="4341113"/>
            <a:ext cx="172858" cy="5759"/>
          </a:xfrm>
          <a:prstGeom prst="straightConnector1">
            <a:avLst/>
          </a:prstGeom>
          <a:ln w="25400">
            <a:solidFill>
              <a:schemeClr val="tx1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Цилиндр 13">
            <a:extLst>
              <a:ext uri="{FF2B5EF4-FFF2-40B4-BE49-F238E27FC236}">
                <a16:creationId xmlns:a16="http://schemas.microsoft.com/office/drawing/2014/main" id="{56DB4830-A10A-23F7-A1B4-D4525A4FCFCA}"/>
              </a:ext>
            </a:extLst>
          </p:cNvPr>
          <p:cNvSpPr/>
          <p:nvPr/>
        </p:nvSpPr>
        <p:spPr>
          <a:xfrm>
            <a:off x="1153411" y="4398913"/>
            <a:ext cx="1723452" cy="405085"/>
          </a:xfrm>
          <a:prstGeom prst="can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050" b="1" dirty="0">
                <a:solidFill>
                  <a:schemeClr val="tx1"/>
                </a:solidFill>
              </a:rPr>
              <a:t>Носитель данных</a:t>
            </a:r>
          </a:p>
        </p:txBody>
      </p:sp>
      <p:cxnSp>
        <p:nvCxnSpPr>
          <p:cNvPr id="29" name="Прямая со стрелкой 29">
            <a:extLst>
              <a:ext uri="{FF2B5EF4-FFF2-40B4-BE49-F238E27FC236}">
                <a16:creationId xmlns:a16="http://schemas.microsoft.com/office/drawing/2014/main" id="{DD7AF217-723B-5B2B-0ED9-0B53FC846B50}"/>
              </a:ext>
            </a:extLst>
          </p:cNvPr>
          <p:cNvCxnSpPr>
            <a:cxnSpLocks/>
            <a:stCxn id="7" idx="3"/>
            <a:endCxn id="14" idx="0"/>
          </p:cNvCxnSpPr>
          <p:nvPr/>
        </p:nvCxnSpPr>
        <p:spPr>
          <a:xfrm>
            <a:off x="3062640" y="1967498"/>
            <a:ext cx="1846597" cy="202073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Прямая со стрелкой 31">
            <a:extLst>
              <a:ext uri="{FF2B5EF4-FFF2-40B4-BE49-F238E27FC236}">
                <a16:creationId xmlns:a16="http://schemas.microsoft.com/office/drawing/2014/main" id="{A1A91745-7DF5-CA41-4009-8B34CECCB21A}"/>
              </a:ext>
            </a:extLst>
          </p:cNvPr>
          <p:cNvCxnSpPr>
            <a:cxnSpLocks/>
            <a:stCxn id="14" idx="2"/>
            <a:endCxn id="15" idx="0"/>
          </p:cNvCxnSpPr>
          <p:nvPr/>
        </p:nvCxnSpPr>
        <p:spPr>
          <a:xfrm flipH="1">
            <a:off x="4898823" y="2457121"/>
            <a:ext cx="10414" cy="283154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3">
            <a:extLst>
              <a:ext uri="{FF2B5EF4-FFF2-40B4-BE49-F238E27FC236}">
                <a16:creationId xmlns:a16="http://schemas.microsoft.com/office/drawing/2014/main" id="{469BDBE4-72EF-C5CF-DAB5-6A5CCD9575AE}"/>
              </a:ext>
            </a:extLst>
          </p:cNvPr>
          <p:cNvCxnSpPr>
            <a:cxnSpLocks/>
            <a:endCxn id="18" idx="0"/>
          </p:cNvCxnSpPr>
          <p:nvPr/>
        </p:nvCxnSpPr>
        <p:spPr>
          <a:xfrm>
            <a:off x="5321476" y="2457121"/>
            <a:ext cx="2239242" cy="338735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5">
            <a:extLst>
              <a:ext uri="{FF2B5EF4-FFF2-40B4-BE49-F238E27FC236}">
                <a16:creationId xmlns:a16="http://schemas.microsoft.com/office/drawing/2014/main" id="{FBD64362-5BB4-973A-AC1E-F03688F12D26}"/>
              </a:ext>
            </a:extLst>
          </p:cNvPr>
          <p:cNvCxnSpPr/>
          <p:nvPr/>
        </p:nvCxnSpPr>
        <p:spPr>
          <a:xfrm rot="10800000" flipV="1">
            <a:off x="2866628" y="2457121"/>
            <a:ext cx="4681413" cy="151508"/>
          </a:xfrm>
          <a:prstGeom prst="straightConnector1">
            <a:avLst/>
          </a:prstGeom>
          <a:ln w="254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Дуга 90">
            <a:extLst>
              <a:ext uri="{FF2B5EF4-FFF2-40B4-BE49-F238E27FC236}">
                <a16:creationId xmlns:a16="http://schemas.microsoft.com/office/drawing/2014/main" id="{280CC16C-56A5-A040-53C7-EB7FB6A5B036}"/>
              </a:ext>
            </a:extLst>
          </p:cNvPr>
          <p:cNvSpPr/>
          <p:nvPr/>
        </p:nvSpPr>
        <p:spPr>
          <a:xfrm rot="11003944">
            <a:off x="2839262" y="2361855"/>
            <a:ext cx="4413529" cy="1361205"/>
          </a:xfrm>
          <a:prstGeom prst="arc">
            <a:avLst>
              <a:gd name="adj1" fmla="val 10804519"/>
              <a:gd name="adj2" fmla="val 27615"/>
            </a:avLst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ru-RU" sz="1050"/>
          </a:p>
        </p:txBody>
      </p:sp>
      <p:cxnSp>
        <p:nvCxnSpPr>
          <p:cNvPr id="34" name="Прямая со стрелкой 91">
            <a:extLst>
              <a:ext uri="{FF2B5EF4-FFF2-40B4-BE49-F238E27FC236}">
                <a16:creationId xmlns:a16="http://schemas.microsoft.com/office/drawing/2014/main" id="{8C7F7B4B-BFCC-A4F9-7943-545E9BF1649B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 flipH="1">
            <a:off x="7548928" y="3120937"/>
            <a:ext cx="11790" cy="291431"/>
          </a:xfrm>
          <a:prstGeom prst="straightConnector1">
            <a:avLst/>
          </a:prstGeom>
          <a:ln w="25400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Скругленная соединительная линия 96">
            <a:extLst>
              <a:ext uri="{FF2B5EF4-FFF2-40B4-BE49-F238E27FC236}">
                <a16:creationId xmlns:a16="http://schemas.microsoft.com/office/drawing/2014/main" id="{DC97560B-BAAF-D590-F1E6-984BF9FFC727}"/>
              </a:ext>
            </a:extLst>
          </p:cNvPr>
          <p:cNvCxnSpPr>
            <a:endCxn id="16" idx="3"/>
          </p:cNvCxnSpPr>
          <p:nvPr/>
        </p:nvCxnSpPr>
        <p:spPr>
          <a:xfrm rot="5400000">
            <a:off x="6178868" y="1937503"/>
            <a:ext cx="1689567" cy="2728803"/>
          </a:xfrm>
          <a:prstGeom prst="curvedConnector2">
            <a:avLst/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DC0BEA85-EA70-B465-AD31-23EB370E5A03}"/>
              </a:ext>
            </a:extLst>
          </p:cNvPr>
          <p:cNvSpPr txBox="1"/>
          <p:nvPr/>
        </p:nvSpPr>
        <p:spPr>
          <a:xfrm>
            <a:off x="7015672" y="2553800"/>
            <a:ext cx="1675577" cy="1256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05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метаданные</a:t>
            </a:r>
          </a:p>
        </p:txBody>
      </p:sp>
      <p:cxnSp>
        <p:nvCxnSpPr>
          <p:cNvPr id="37" name="Скругленная соединительная линия 96">
            <a:extLst>
              <a:ext uri="{FF2B5EF4-FFF2-40B4-BE49-F238E27FC236}">
                <a16:creationId xmlns:a16="http://schemas.microsoft.com/office/drawing/2014/main" id="{30FA5E16-4FB0-3793-54C0-FECDF2B1D62D}"/>
              </a:ext>
            </a:extLst>
          </p:cNvPr>
          <p:cNvCxnSpPr>
            <a:cxnSpLocks/>
          </p:cNvCxnSpPr>
          <p:nvPr/>
        </p:nvCxnSpPr>
        <p:spPr>
          <a:xfrm rot="16200000" flipH="1">
            <a:off x="3019911" y="2322095"/>
            <a:ext cx="1544533" cy="1771330"/>
          </a:xfrm>
          <a:prstGeom prst="curvedConnector3">
            <a:avLst>
              <a:gd name="adj1" fmla="val 50000"/>
            </a:avLst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Скругленная соединительная линия 96">
            <a:extLst>
              <a:ext uri="{FF2B5EF4-FFF2-40B4-BE49-F238E27FC236}">
                <a16:creationId xmlns:a16="http://schemas.microsoft.com/office/drawing/2014/main" id="{9D000489-02E3-B259-D20B-29183C953DDB}"/>
              </a:ext>
            </a:extLst>
          </p:cNvPr>
          <p:cNvCxnSpPr/>
          <p:nvPr/>
        </p:nvCxnSpPr>
        <p:spPr>
          <a:xfrm rot="16200000" flipH="1">
            <a:off x="2896493" y="2584607"/>
            <a:ext cx="1137112" cy="1707481"/>
          </a:xfrm>
          <a:prstGeom prst="curvedConnector3">
            <a:avLst>
              <a:gd name="adj1" fmla="val 50000"/>
            </a:avLst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121">
            <a:extLst>
              <a:ext uri="{FF2B5EF4-FFF2-40B4-BE49-F238E27FC236}">
                <a16:creationId xmlns:a16="http://schemas.microsoft.com/office/drawing/2014/main" id="{239F0C6D-CABD-65F6-F9CF-397526D58343}"/>
              </a:ext>
            </a:extLst>
          </p:cNvPr>
          <p:cNvCxnSpPr>
            <a:cxnSpLocks/>
            <a:stCxn id="15" idx="2"/>
            <a:endCxn id="16" idx="0"/>
          </p:cNvCxnSpPr>
          <p:nvPr/>
        </p:nvCxnSpPr>
        <p:spPr>
          <a:xfrm flipH="1">
            <a:off x="4883961" y="3120563"/>
            <a:ext cx="14862" cy="886341"/>
          </a:xfrm>
          <a:prstGeom prst="straightConnector1">
            <a:avLst/>
          </a:prstGeom>
          <a:ln w="25400"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>
            <a:extLst>
              <a:ext uri="{FF2B5EF4-FFF2-40B4-BE49-F238E27FC236}">
                <a16:creationId xmlns:a16="http://schemas.microsoft.com/office/drawing/2014/main" id="{46408AAA-2204-F014-25D3-C87D0D8427D7}"/>
              </a:ext>
            </a:extLst>
          </p:cNvPr>
          <p:cNvSpPr txBox="1"/>
          <p:nvPr/>
        </p:nvSpPr>
        <p:spPr>
          <a:xfrm>
            <a:off x="4669863" y="3412368"/>
            <a:ext cx="1360943" cy="356469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ru-RU" sz="1050" b="1" dirty="0"/>
              <a:t>Страницы протокола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6541AD3A-C946-66F8-5CB7-D41F421A5E72}"/>
              </a:ext>
            </a:extLst>
          </p:cNvPr>
          <p:cNvSpPr txBox="1"/>
          <p:nvPr/>
        </p:nvSpPr>
        <p:spPr>
          <a:xfrm>
            <a:off x="3062640" y="3513701"/>
            <a:ext cx="1360943" cy="356469"/>
          </a:xfrm>
          <a:prstGeom prst="rect">
            <a:avLst/>
          </a:prstGeom>
          <a:noFill/>
        </p:spPr>
        <p:txBody>
          <a:bodyPr wrap="square" rtlCol="0">
            <a:normAutofit fontScale="92500" lnSpcReduction="10000"/>
          </a:bodyPr>
          <a:lstStyle/>
          <a:p>
            <a:pPr algn="ctr"/>
            <a:r>
              <a:rPr lang="ru-RU" sz="10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Данные, индексы, метаданные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438DD141-8873-F432-41E1-054F501DB29C}"/>
              </a:ext>
            </a:extLst>
          </p:cNvPr>
          <p:cNvSpPr txBox="1"/>
          <p:nvPr/>
        </p:nvSpPr>
        <p:spPr>
          <a:xfrm rot="21446171">
            <a:off x="2787346" y="2406739"/>
            <a:ext cx="1705888" cy="356469"/>
          </a:xfrm>
          <a:prstGeom prst="rect">
            <a:avLst/>
          </a:prstGeom>
          <a:noFill/>
        </p:spPr>
        <p:txBody>
          <a:bodyPr wrap="square" rtlCol="0">
            <a:normAutofit fontScale="92500" lnSpcReduction="20000"/>
          </a:bodyPr>
          <a:lstStyle/>
          <a:p>
            <a:pPr algn="ctr"/>
            <a:r>
              <a:rPr lang="ru-RU" sz="1050" b="1" dirty="0"/>
              <a:t>Метаданные, статистика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5AF6AEC-7BA7-8CB8-86B8-437AD12877E2}"/>
              </a:ext>
            </a:extLst>
          </p:cNvPr>
          <p:cNvSpPr txBox="1"/>
          <p:nvPr/>
        </p:nvSpPr>
        <p:spPr>
          <a:xfrm>
            <a:off x="105078" y="1990779"/>
            <a:ext cx="1836000" cy="162406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r"/>
            <a:r>
              <a:rPr lang="ru-RU" sz="1050" b="1" dirty="0">
                <a:solidFill>
                  <a:srgbClr val="FF0000"/>
                </a:solidFill>
              </a:rPr>
              <a:t>Запросы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3202D3C-4C0E-4584-B339-FAE1A0B97E57}"/>
              </a:ext>
            </a:extLst>
          </p:cNvPr>
          <p:cNvSpPr txBox="1"/>
          <p:nvPr/>
        </p:nvSpPr>
        <p:spPr>
          <a:xfrm>
            <a:off x="105078" y="2430057"/>
            <a:ext cx="1836000" cy="195994"/>
          </a:xfrm>
          <a:prstGeom prst="rect">
            <a:avLst/>
          </a:prstGeom>
          <a:noFill/>
        </p:spPr>
        <p:txBody>
          <a:bodyPr wrap="square" lIns="0" tIns="18000" rIns="0" bIns="18000" rtlCol="0">
            <a:noAutofit/>
          </a:bodyPr>
          <a:lstStyle/>
          <a:p>
            <a:pPr algn="r"/>
            <a:r>
              <a:rPr lang="ru-RU" sz="1050" b="1" dirty="0">
                <a:solidFill>
                  <a:srgbClr val="FF0000"/>
                </a:solidFill>
              </a:rPr>
              <a:t>План запроса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0E77044-58B7-C317-2605-C07D075A6B22}"/>
              </a:ext>
            </a:extLst>
          </p:cNvPr>
          <p:cNvSpPr txBox="1"/>
          <p:nvPr/>
        </p:nvSpPr>
        <p:spPr>
          <a:xfrm>
            <a:off x="105078" y="2863691"/>
            <a:ext cx="1836000" cy="195994"/>
          </a:xfrm>
          <a:prstGeom prst="rect">
            <a:avLst/>
          </a:prstGeom>
          <a:noFill/>
        </p:spPr>
        <p:txBody>
          <a:bodyPr wrap="square" lIns="0" tIns="18000" rIns="0" bIns="18000" rtlCol="0">
            <a:noAutofit/>
          </a:bodyPr>
          <a:lstStyle/>
          <a:p>
            <a:pPr algn="r"/>
            <a:r>
              <a:rPr lang="ru-RU" sz="700" b="1" dirty="0">
                <a:solidFill>
                  <a:srgbClr val="FF0000"/>
                </a:solidFill>
              </a:rPr>
              <a:t>Запросы индексов, файлов, записей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FCBE7DFA-75E8-31A4-AB55-08ABFD183860}"/>
              </a:ext>
            </a:extLst>
          </p:cNvPr>
          <p:cNvSpPr txBox="1"/>
          <p:nvPr/>
        </p:nvSpPr>
        <p:spPr>
          <a:xfrm>
            <a:off x="105078" y="3305374"/>
            <a:ext cx="1836000" cy="195994"/>
          </a:xfrm>
          <a:prstGeom prst="rect">
            <a:avLst/>
          </a:prstGeom>
          <a:noFill/>
        </p:spPr>
        <p:txBody>
          <a:bodyPr wrap="square" lIns="0" tIns="18000" rIns="0" bIns="18000" rtlCol="0">
            <a:noAutofit/>
          </a:bodyPr>
          <a:lstStyle/>
          <a:p>
            <a:pPr algn="r"/>
            <a:r>
              <a:rPr lang="ru-RU" sz="1050" b="1" dirty="0">
                <a:solidFill>
                  <a:srgbClr val="FF0000"/>
                </a:solidFill>
              </a:rPr>
              <a:t>Страничные команды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02D23F7-E606-E43F-2FB8-17A54C5EE6B4}"/>
              </a:ext>
            </a:extLst>
          </p:cNvPr>
          <p:cNvSpPr txBox="1"/>
          <p:nvPr/>
        </p:nvSpPr>
        <p:spPr>
          <a:xfrm>
            <a:off x="7527199" y="2009777"/>
            <a:ext cx="1355559" cy="159794"/>
          </a:xfrm>
          <a:prstGeom prst="rect">
            <a:avLst/>
          </a:prstGeom>
          <a:noFill/>
        </p:spPr>
        <p:txBody>
          <a:bodyPr wrap="square" lIns="0" tIns="18000" rIns="0" bIns="18000" rtlCol="0" anchor="ctr">
            <a:normAutofit fontScale="92500" lnSpcReduction="10000"/>
          </a:bodyPr>
          <a:lstStyle/>
          <a:p>
            <a:pPr algn="ctr"/>
            <a:r>
              <a:rPr lang="ru-RU" sz="1000" b="1" dirty="0">
                <a:solidFill>
                  <a:srgbClr val="FF0000"/>
                </a:solidFill>
              </a:rPr>
              <a:t>Команды </a:t>
            </a:r>
            <a:r>
              <a:rPr lang="en-US" sz="1000" b="1" dirty="0">
                <a:solidFill>
                  <a:srgbClr val="FF0000"/>
                </a:solidFill>
              </a:rPr>
              <a:t>DDL</a:t>
            </a:r>
            <a:endParaRPr lang="ru-RU" sz="1000" b="1" dirty="0">
              <a:solidFill>
                <a:srgbClr val="FF0000"/>
              </a:solidFill>
            </a:endParaRPr>
          </a:p>
        </p:txBody>
      </p:sp>
      <p:cxnSp>
        <p:nvCxnSpPr>
          <p:cNvPr id="48" name="Прямая со стрелкой 132">
            <a:extLst>
              <a:ext uri="{FF2B5EF4-FFF2-40B4-BE49-F238E27FC236}">
                <a16:creationId xmlns:a16="http://schemas.microsoft.com/office/drawing/2014/main" id="{103F0482-35DC-FA9A-F40F-0D22AF979A57}"/>
              </a:ext>
            </a:extLst>
          </p:cNvPr>
          <p:cNvCxnSpPr/>
          <p:nvPr/>
        </p:nvCxnSpPr>
        <p:spPr>
          <a:xfrm rot="5400000">
            <a:off x="7378633" y="2088269"/>
            <a:ext cx="172858" cy="5759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F6DD2D98-7071-F898-AFE8-DC00845931E7}"/>
              </a:ext>
            </a:extLst>
          </p:cNvPr>
          <p:cNvSpPr txBox="1"/>
          <p:nvPr/>
        </p:nvSpPr>
        <p:spPr>
          <a:xfrm>
            <a:off x="105078" y="3766074"/>
            <a:ext cx="1836000" cy="195994"/>
          </a:xfrm>
          <a:prstGeom prst="rect">
            <a:avLst/>
          </a:prstGeom>
          <a:noFill/>
        </p:spPr>
        <p:txBody>
          <a:bodyPr wrap="square" lIns="0" tIns="18000" rIns="0" bIns="18000" rtlCol="0">
            <a:noAutofit/>
          </a:bodyPr>
          <a:lstStyle/>
          <a:p>
            <a:pPr algn="r"/>
            <a:r>
              <a:rPr lang="ru-RU" sz="1050" b="1" dirty="0">
                <a:solidFill>
                  <a:srgbClr val="FF0000"/>
                </a:solidFill>
              </a:rPr>
              <a:t>Чтение, запись страниц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3F57BD78-C576-00B2-C927-A758FD5B204D}"/>
              </a:ext>
            </a:extLst>
          </p:cNvPr>
          <p:cNvSpPr txBox="1"/>
          <p:nvPr/>
        </p:nvSpPr>
        <p:spPr>
          <a:xfrm rot="427211">
            <a:off x="2992770" y="1881801"/>
            <a:ext cx="1986334" cy="159794"/>
          </a:xfrm>
          <a:prstGeom prst="rect">
            <a:avLst/>
          </a:prstGeom>
          <a:noFill/>
        </p:spPr>
        <p:txBody>
          <a:bodyPr wrap="square" lIns="0" tIns="18000" rIns="0" bIns="18000" rtlCol="0" anchor="ctr">
            <a:noAutofit/>
          </a:bodyPr>
          <a:lstStyle/>
          <a:p>
            <a:pPr algn="ctr"/>
            <a:r>
              <a:rPr lang="ru-RU" sz="1050" b="1" dirty="0">
                <a:solidFill>
                  <a:srgbClr val="FF0000"/>
                </a:solidFill>
              </a:rPr>
              <a:t>Команды транзакций</a:t>
            </a:r>
          </a:p>
        </p:txBody>
      </p:sp>
    </p:spTree>
    <p:extLst>
      <p:ext uri="{BB962C8B-B14F-4D97-AF65-F5344CB8AC3E}">
        <p14:creationId xmlns:p14="http://schemas.microsoft.com/office/powerpoint/2010/main" val="34994578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C166C8-C394-38F4-75DD-8DF328D390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1858A1D-37B9-9FDD-6445-E54133FFFB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2E5AAC-331B-4A22-A01D-802D40030460}" type="slidenum">
              <a:rPr lang="en-US" smtClean="0"/>
              <a:pPr/>
              <a:t>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252DE8-7C1A-EAC9-F4B9-72710E4069C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ru-RU" dirty="0"/>
              <a:t>Взаимодействие компонент СУБД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446545F-B4A0-5F4F-43BB-3D01F85641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  <a:endParaRPr lang="en-US" dirty="0"/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D437D714-91D1-11AC-B506-245FB2110C5B}"/>
              </a:ext>
            </a:extLst>
          </p:cNvPr>
          <p:cNvGrpSpPr/>
          <p:nvPr/>
        </p:nvGrpSpPr>
        <p:grpSpPr>
          <a:xfrm>
            <a:off x="633759" y="1898165"/>
            <a:ext cx="7975798" cy="2700872"/>
            <a:chOff x="414508" y="942152"/>
            <a:chExt cx="8597412" cy="5430094"/>
          </a:xfrm>
        </p:grpSpPr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F02BAC9F-32EB-F7DA-DD65-ECD413F7D65F}"/>
                </a:ext>
              </a:extLst>
            </p:cNvPr>
            <p:cNvSpPr txBox="1"/>
            <p:nvPr/>
          </p:nvSpPr>
          <p:spPr>
            <a:xfrm>
              <a:off x="414508" y="2162522"/>
              <a:ext cx="1789044" cy="83535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/>
                <a:t>Процессор запросов</a:t>
              </a:r>
            </a:p>
          </p:txBody>
        </p: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BA914EC4-458D-68E7-7143-72300E4FC00B}"/>
                </a:ext>
              </a:extLst>
            </p:cNvPr>
            <p:cNvSpPr txBox="1"/>
            <p:nvPr/>
          </p:nvSpPr>
          <p:spPr>
            <a:xfrm>
              <a:off x="2857533" y="2214640"/>
              <a:ext cx="2332382" cy="754919"/>
            </a:xfrm>
            <a:prstGeom prst="rect">
              <a:avLst/>
            </a:prstGeom>
            <a:solidFill>
              <a:srgbClr val="FFFF00"/>
            </a:solidFill>
            <a:ln w="12700"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ru-RU" sz="1050" dirty="0"/>
                <a:t>Менеджер транзакций</a:t>
              </a:r>
            </a:p>
          </p:txBody>
        </p:sp>
        <p:sp>
          <p:nvSpPr>
            <p:cNvPr id="28" name="TextBox 27">
              <a:extLst>
                <a:ext uri="{FF2B5EF4-FFF2-40B4-BE49-F238E27FC236}">
                  <a16:creationId xmlns:a16="http://schemas.microsoft.com/office/drawing/2014/main" id="{D90D8D8A-8366-E0D9-37C7-01E8C952B731}"/>
                </a:ext>
              </a:extLst>
            </p:cNvPr>
            <p:cNvSpPr txBox="1"/>
            <p:nvPr/>
          </p:nvSpPr>
          <p:spPr>
            <a:xfrm>
              <a:off x="3007083" y="3474893"/>
              <a:ext cx="2039317" cy="5104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/>
                <a:t>Менеджер буферов</a:t>
              </a:r>
            </a:p>
          </p:txBody>
        </p:sp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BD99733F-163B-021B-0596-8F9B18C2DF0D}"/>
                </a:ext>
              </a:extLst>
            </p:cNvPr>
            <p:cNvSpPr txBox="1"/>
            <p:nvPr/>
          </p:nvSpPr>
          <p:spPr>
            <a:xfrm>
              <a:off x="6109694" y="1083426"/>
              <a:ext cx="2897876" cy="51049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050" dirty="0"/>
                <a:t>Планировщик заданий</a:t>
              </a:r>
            </a:p>
          </p:txBody>
        </p:sp>
        <p:sp>
          <p:nvSpPr>
            <p:cNvPr id="53" name="Блок-схема: магнитный диск 13">
              <a:extLst>
                <a:ext uri="{FF2B5EF4-FFF2-40B4-BE49-F238E27FC236}">
                  <a16:creationId xmlns:a16="http://schemas.microsoft.com/office/drawing/2014/main" id="{67A6089A-233F-F470-F3C1-708B5D94AED1}"/>
                </a:ext>
              </a:extLst>
            </p:cNvPr>
            <p:cNvSpPr/>
            <p:nvPr/>
          </p:nvSpPr>
          <p:spPr>
            <a:xfrm>
              <a:off x="4381933" y="5590368"/>
              <a:ext cx="1630017" cy="781878"/>
            </a:xfrm>
            <a:prstGeom prst="flowChartMagneticDisk">
              <a:avLst/>
            </a:prstGeom>
            <a:noFill/>
            <a:ln w="38100" cmpd="dbl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ru-RU" sz="900" b="1" dirty="0">
                  <a:solidFill>
                    <a:schemeClr val="tx1"/>
                  </a:solidFill>
                </a:rPr>
                <a:t>протокол</a:t>
              </a:r>
            </a:p>
          </p:txBody>
        </p:sp>
        <p:cxnSp>
          <p:nvCxnSpPr>
            <p:cNvPr id="55" name="Прямая со стрелкой 17">
              <a:extLst>
                <a:ext uri="{FF2B5EF4-FFF2-40B4-BE49-F238E27FC236}">
                  <a16:creationId xmlns:a16="http://schemas.microsoft.com/office/drawing/2014/main" id="{914DD223-8F7D-3B30-DDF0-3447E48AE7EF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2203552" y="2948264"/>
              <a:ext cx="803530" cy="781878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Прямая со стрелкой 18">
              <a:extLst>
                <a:ext uri="{FF2B5EF4-FFF2-40B4-BE49-F238E27FC236}">
                  <a16:creationId xmlns:a16="http://schemas.microsoft.com/office/drawing/2014/main" id="{C1960BB5-5B34-5488-3165-B924A6305042}"/>
                </a:ext>
              </a:extLst>
            </p:cNvPr>
            <p:cNvCxnSpPr>
              <a:cxnSpLocks/>
              <a:stCxn id="26" idx="2"/>
              <a:endCxn id="28" idx="0"/>
            </p:cNvCxnSpPr>
            <p:nvPr/>
          </p:nvCxnSpPr>
          <p:spPr>
            <a:xfrm>
              <a:off x="4023724" y="2969559"/>
              <a:ext cx="3017" cy="505334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none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Прямая со стрелкой 30">
              <a:extLst>
                <a:ext uri="{FF2B5EF4-FFF2-40B4-BE49-F238E27FC236}">
                  <a16:creationId xmlns:a16="http://schemas.microsoft.com/office/drawing/2014/main" id="{E0B206DC-9CE7-4ED9-8846-7E2338B6D268}"/>
                </a:ext>
              </a:extLst>
            </p:cNvPr>
            <p:cNvCxnSpPr>
              <a:cxnSpLocks/>
              <a:stCxn id="26" idx="1"/>
              <a:endCxn id="3" idx="3"/>
            </p:cNvCxnSpPr>
            <p:nvPr/>
          </p:nvCxnSpPr>
          <p:spPr>
            <a:xfrm flipH="1" flipV="1">
              <a:off x="2203552" y="2580200"/>
              <a:ext cx="653980" cy="11900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Прямая со стрелкой 31">
              <a:extLst>
                <a:ext uri="{FF2B5EF4-FFF2-40B4-BE49-F238E27FC236}">
                  <a16:creationId xmlns:a16="http://schemas.microsoft.com/office/drawing/2014/main" id="{567C6FAD-6696-3182-10B6-E8399DCFFD36}"/>
                </a:ext>
              </a:extLst>
            </p:cNvPr>
            <p:cNvCxnSpPr>
              <a:cxnSpLocks/>
              <a:stCxn id="26" idx="3"/>
              <a:endCxn id="62" idx="1"/>
            </p:cNvCxnSpPr>
            <p:nvPr/>
          </p:nvCxnSpPr>
          <p:spPr>
            <a:xfrm flipV="1">
              <a:off x="5189915" y="2592098"/>
              <a:ext cx="919780" cy="2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Прямая со стрелкой 32">
              <a:extLst>
                <a:ext uri="{FF2B5EF4-FFF2-40B4-BE49-F238E27FC236}">
                  <a16:creationId xmlns:a16="http://schemas.microsoft.com/office/drawing/2014/main" id="{886FD97B-492A-225F-EADB-C3323C4DC0FA}"/>
                </a:ext>
              </a:extLst>
            </p:cNvPr>
            <p:cNvCxnSpPr>
              <a:cxnSpLocks/>
              <a:stCxn id="51" idx="1"/>
            </p:cNvCxnSpPr>
            <p:nvPr/>
          </p:nvCxnSpPr>
          <p:spPr>
            <a:xfrm flipH="1">
              <a:off x="5189914" y="1338674"/>
              <a:ext cx="919780" cy="80756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Прямая со стрелкой 53">
              <a:extLst>
                <a:ext uri="{FF2B5EF4-FFF2-40B4-BE49-F238E27FC236}">
                  <a16:creationId xmlns:a16="http://schemas.microsoft.com/office/drawing/2014/main" id="{623FB59A-85FE-1275-8B7C-C1F3C3E66908}"/>
                </a:ext>
              </a:extLst>
            </p:cNvPr>
            <p:cNvCxnSpPr>
              <a:cxnSpLocks/>
              <a:endCxn id="28" idx="3"/>
            </p:cNvCxnSpPr>
            <p:nvPr/>
          </p:nvCxnSpPr>
          <p:spPr>
            <a:xfrm flipH="1">
              <a:off x="5046399" y="2922580"/>
              <a:ext cx="1060280" cy="807562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 w="lg" len="med"/>
              <a:tailEnd type="arrow" w="lg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Прямая со стрелкой 101">
              <a:extLst>
                <a:ext uri="{FF2B5EF4-FFF2-40B4-BE49-F238E27FC236}">
                  <a16:creationId xmlns:a16="http://schemas.microsoft.com/office/drawing/2014/main" id="{52444CF8-545C-F49B-5C24-CE756BE8C79E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2608087" y="4990395"/>
              <a:ext cx="815008" cy="73226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F16CDCB0-1F35-02C0-4233-0E7876ADEC2C}"/>
                </a:ext>
              </a:extLst>
            </p:cNvPr>
            <p:cNvSpPr txBox="1"/>
            <p:nvPr/>
          </p:nvSpPr>
          <p:spPr>
            <a:xfrm>
              <a:off x="6109695" y="2214638"/>
              <a:ext cx="2902225" cy="754919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</p:spPr>
          <p:txBody>
            <a:bodyPr wrap="square" rtlCol="0">
              <a:noAutofit/>
            </a:bodyPr>
            <a:lstStyle/>
            <a:p>
              <a:pPr algn="ctr"/>
              <a:r>
                <a:rPr lang="ru-RU" sz="1050" dirty="0"/>
                <a:t>Менеджер протоколирования и восстановления</a:t>
              </a:r>
            </a:p>
          </p:txBody>
        </p:sp>
        <p:cxnSp>
          <p:nvCxnSpPr>
            <p:cNvPr id="63" name="Прямая со стрелкой 65">
              <a:extLst>
                <a:ext uri="{FF2B5EF4-FFF2-40B4-BE49-F238E27FC236}">
                  <a16:creationId xmlns:a16="http://schemas.microsoft.com/office/drawing/2014/main" id="{4CC6CD05-6040-2363-08B9-852D444FDAA7}"/>
                </a:ext>
              </a:extLst>
            </p:cNvPr>
            <p:cNvCxnSpPr>
              <a:cxnSpLocks/>
            </p:cNvCxnSpPr>
            <p:nvPr/>
          </p:nvCxnSpPr>
          <p:spPr>
            <a:xfrm>
              <a:off x="4582066" y="4990395"/>
              <a:ext cx="620831" cy="71302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6" name="TextBox 65">
              <a:extLst>
                <a:ext uri="{FF2B5EF4-FFF2-40B4-BE49-F238E27FC236}">
                  <a16:creationId xmlns:a16="http://schemas.microsoft.com/office/drawing/2014/main" id="{80A71A42-18D9-6473-2E5D-5654BD445D4F}"/>
                </a:ext>
              </a:extLst>
            </p:cNvPr>
            <p:cNvSpPr txBox="1"/>
            <p:nvPr/>
          </p:nvSpPr>
          <p:spPr>
            <a:xfrm>
              <a:off x="2331090" y="942152"/>
              <a:ext cx="3397148" cy="618785"/>
            </a:xfrm>
            <a:prstGeom prst="rect">
              <a:avLst/>
            </a:prstGeom>
            <a:noFill/>
            <a:ln w="25400" cmpd="dbl">
              <a:solidFill>
                <a:schemeClr val="accent1">
                  <a:lumMod val="25000"/>
                </a:schemeClr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700" b="1" dirty="0"/>
                <a:t>Адресное пространство транзакции</a:t>
              </a:r>
              <a:br>
                <a:rPr lang="ru-RU" sz="700" b="1" dirty="0"/>
              </a:br>
              <a:r>
                <a:rPr lang="ru-RU" sz="700" b="1" dirty="0"/>
                <a:t>(в прикладной программе)</a:t>
              </a:r>
            </a:p>
          </p:txBody>
        </p:sp>
        <p:cxnSp>
          <p:nvCxnSpPr>
            <p:cNvPr id="67" name="Прямая со стрелкой 90">
              <a:extLst>
                <a:ext uri="{FF2B5EF4-FFF2-40B4-BE49-F238E27FC236}">
                  <a16:creationId xmlns:a16="http://schemas.microsoft.com/office/drawing/2014/main" id="{6BE60D06-598D-C55D-FC84-61EC9D8C6733}"/>
                </a:ext>
              </a:extLst>
            </p:cNvPr>
            <p:cNvCxnSpPr>
              <a:cxnSpLocks/>
              <a:stCxn id="26" idx="0"/>
              <a:endCxn id="66" idx="2"/>
            </p:cNvCxnSpPr>
            <p:nvPr/>
          </p:nvCxnSpPr>
          <p:spPr>
            <a:xfrm flipV="1">
              <a:off x="4023724" y="1560937"/>
              <a:ext cx="5939" cy="653703"/>
            </a:xfrm>
            <a:prstGeom prst="straightConnector1">
              <a:avLst/>
            </a:prstGeom>
            <a:ln w="12700">
              <a:solidFill>
                <a:schemeClr val="tx1"/>
              </a:solidFill>
              <a:headEnd type="arrow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19A13F6A-5893-CEE1-A67A-CC51BC8C8FDE}"/>
                </a:ext>
              </a:extLst>
            </p:cNvPr>
            <p:cNvSpPr txBox="1"/>
            <p:nvPr/>
          </p:nvSpPr>
          <p:spPr>
            <a:xfrm>
              <a:off x="3258679" y="4379840"/>
              <a:ext cx="1586596" cy="582238"/>
            </a:xfrm>
            <a:prstGeom prst="rect">
              <a:avLst/>
            </a:prstGeom>
            <a:noFill/>
            <a:ln w="19050" cmpd="dbl">
              <a:solidFill>
                <a:srgbClr val="008000"/>
              </a:solidFill>
            </a:ln>
          </p:spPr>
          <p:txBody>
            <a:bodyPr wrap="square" rtlCol="0" anchor="ctr">
              <a:normAutofit/>
            </a:bodyPr>
            <a:lstStyle/>
            <a:p>
              <a:pPr algn="ctr"/>
              <a:r>
                <a:rPr lang="ru-RU" sz="800" b="1" dirty="0">
                  <a:solidFill>
                    <a:srgbClr val="00CC00"/>
                  </a:solidFill>
                </a:rPr>
                <a:t>Буферы</a:t>
              </a:r>
            </a:p>
          </p:txBody>
        </p:sp>
      </p:grpSp>
      <p:sp>
        <p:nvSpPr>
          <p:cNvPr id="70" name="Блок-схема: магнитный диск 13">
            <a:extLst>
              <a:ext uri="{FF2B5EF4-FFF2-40B4-BE49-F238E27FC236}">
                <a16:creationId xmlns:a16="http://schemas.microsoft.com/office/drawing/2014/main" id="{C3B44AB4-2E0B-0710-08E0-CC935CD397AE}"/>
              </a:ext>
            </a:extLst>
          </p:cNvPr>
          <p:cNvSpPr/>
          <p:nvPr/>
        </p:nvSpPr>
        <p:spPr>
          <a:xfrm>
            <a:off x="1912656" y="4186726"/>
            <a:ext cx="1512163" cy="388898"/>
          </a:xfrm>
          <a:prstGeom prst="flowChartMagneticDisk">
            <a:avLst/>
          </a:prstGeom>
          <a:noFill/>
          <a:ln w="38100" cmpd="dbl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900" b="1" dirty="0">
                <a:solidFill>
                  <a:schemeClr val="tx1"/>
                </a:solidFill>
              </a:rPr>
              <a:t>данные</a:t>
            </a:r>
          </a:p>
        </p:txBody>
      </p:sp>
    </p:spTree>
    <p:extLst>
      <p:ext uri="{BB962C8B-B14F-4D97-AF65-F5344CB8AC3E}">
        <p14:creationId xmlns:p14="http://schemas.microsoft.com/office/powerpoint/2010/main" val="2630786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0E13C3-B650-B678-8C7A-DE2700B429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2BCDCC-1D37-6FA2-16C8-E0302189E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2BE97C-E010-81BB-5147-2C665AA639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Ответственность за корректное поведение транзакций возлагается на </a:t>
            </a:r>
            <a:r>
              <a:rPr lang="ru-RU" sz="1400" b="1" dirty="0"/>
              <a:t>менеджер транзакций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Менеджер транзакций выполняет ряд функций и взаимодействует</a:t>
            </a:r>
          </a:p>
          <a:p>
            <a:pPr marL="541338" lvl="1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с </a:t>
            </a:r>
            <a:r>
              <a:rPr lang="ru-RU" sz="1200" b="1" dirty="0"/>
              <a:t>менеджером протоколирования</a:t>
            </a:r>
            <a:r>
              <a:rPr lang="ru-RU" sz="1200" dirty="0"/>
              <a:t> (в результате пополняется файл протокола – </a:t>
            </a:r>
            <a:r>
              <a:rPr lang="ru-RU" sz="1200" b="1" dirty="0"/>
              <a:t>системный журнал</a:t>
            </a:r>
            <a:r>
              <a:rPr lang="ru-RU" sz="1200" dirty="0"/>
              <a:t>)</a:t>
            </a:r>
          </a:p>
          <a:p>
            <a:pPr marL="541338" lvl="1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с </a:t>
            </a:r>
            <a:r>
              <a:rPr lang="ru-RU" sz="1200" b="1" dirty="0"/>
              <a:t>планировщиком заданий</a:t>
            </a:r>
            <a:r>
              <a:rPr lang="ru-RU" sz="1200" dirty="0"/>
              <a:t>, гарантирующим единовременное безошибочное выполнение нескольких транзакций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Менеджер транзакций  </a:t>
            </a:r>
          </a:p>
          <a:p>
            <a:pPr marL="541338" lvl="1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обращается к </a:t>
            </a:r>
            <a:r>
              <a:rPr lang="ru-RU" sz="1200" b="1" dirty="0"/>
              <a:t>процессору запросов</a:t>
            </a:r>
            <a:r>
              <a:rPr lang="ru-RU" sz="1200" dirty="0"/>
              <a:t> с требованиями выполнения операций, составляющих транзакцию,</a:t>
            </a:r>
          </a:p>
          <a:p>
            <a:pPr marL="541338" lvl="1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отсылает </a:t>
            </a:r>
            <a:r>
              <a:rPr lang="ru-RU" sz="1200" b="1" dirty="0"/>
              <a:t>менеджеру протоколирования</a:t>
            </a:r>
            <a:r>
              <a:rPr lang="ru-RU" sz="1200" dirty="0"/>
              <a:t> сообщения о результатах этих операций,</a:t>
            </a:r>
          </a:p>
          <a:p>
            <a:pPr marL="541338" lvl="1" indent="-182563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запрашивает  данные с диска и возвращает содержимое буферов СУБД из ОП на диск при посредничестве </a:t>
            </a:r>
            <a:r>
              <a:rPr lang="ru-RU" sz="1200" b="1" dirty="0"/>
              <a:t>менеджера буферов.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349585-7678-5E82-E437-9F7D9A876C1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Менеджер транзакций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EF3B3B64-BE43-51F3-C749-F7C9DC40B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6857640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5E3BF4-6EF0-8517-847C-6E1E0AF97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A723E45-1DF6-58DC-90D9-5383B1F00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D1CEC3-7AFF-1420-4001-791264053D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Транзакция – </a:t>
            </a:r>
            <a:r>
              <a:rPr lang="ru-RU" sz="1400" b="1" dirty="0"/>
              <a:t>неделимая единица</a:t>
            </a:r>
            <a:r>
              <a:rPr lang="ru-RU" sz="1400" dirty="0"/>
              <a:t> работы, изменяющая содержимое БД.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В </a:t>
            </a:r>
            <a:r>
              <a:rPr lang="ru-RU" sz="1400" i="1" dirty="0" err="1"/>
              <a:t>Embedded</a:t>
            </a:r>
            <a:r>
              <a:rPr lang="ru-RU" sz="1400" i="1" dirty="0"/>
              <a:t> SQL </a:t>
            </a:r>
            <a:r>
              <a:rPr lang="ru-RU" sz="1400" dirty="0"/>
              <a:t>программист сам контролирует границы транзакции, которая может включать как действия операторов включающего языка, так и SQL операторы над БД.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В типичной реализации </a:t>
            </a:r>
            <a:r>
              <a:rPr lang="ru-RU" sz="1400" i="1" dirty="0" err="1"/>
              <a:t>Embedded</a:t>
            </a:r>
            <a:r>
              <a:rPr lang="ru-RU" sz="1400" i="1" dirty="0"/>
              <a:t> SQL  </a:t>
            </a:r>
            <a:r>
              <a:rPr lang="ru-RU" sz="1400" dirty="0"/>
              <a:t>транзакция активизируется любой операцией на БД и заканчивается операторами COMMIT или ROLLBACK 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Транзакции обязаны обеспечивать следующие гарантии: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b="1" dirty="0"/>
              <a:t>Атомарности (</a:t>
            </a:r>
            <a:r>
              <a:rPr lang="ru-RU" sz="1200" b="1" dirty="0" err="1"/>
              <a:t>Atomicity</a:t>
            </a:r>
            <a:r>
              <a:rPr lang="ru-RU" sz="1200" b="1" dirty="0"/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Согласованности (</a:t>
            </a:r>
            <a:r>
              <a:rPr lang="ru-RU" sz="1200" dirty="0" err="1"/>
              <a:t>Consistency</a:t>
            </a:r>
            <a:r>
              <a:rPr lang="ru-RU" sz="1200" dirty="0"/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dirty="0"/>
              <a:t>Изоляции (</a:t>
            </a:r>
            <a:r>
              <a:rPr lang="ru-RU" sz="1200" dirty="0" err="1"/>
              <a:t>Isolation</a:t>
            </a:r>
            <a:r>
              <a:rPr lang="ru-RU" sz="1200" dirty="0"/>
              <a:t>)</a:t>
            </a:r>
          </a:p>
          <a:p>
            <a:pPr lvl="1"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200" b="1" dirty="0"/>
              <a:t>Долговечности (</a:t>
            </a:r>
            <a:r>
              <a:rPr lang="ru-RU" sz="1200" b="1" dirty="0" err="1"/>
              <a:t>Durability</a:t>
            </a:r>
            <a:r>
              <a:rPr lang="ru-RU" sz="1200" b="1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DF0061-7DA7-4284-6D61-3E3B5F77ED4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7B26092-89C2-3283-2701-F38D4FB444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12961276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AFC44D-7E47-21BF-FEB6-1E13B3390B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CF9FFE-980C-5596-63B8-2258F5775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54CED5-255F-CFAB-28B3-F272B52A35C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Транзакция – неделимая единица работы, изменяющая содержимое БД.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В </a:t>
            </a:r>
            <a:r>
              <a:rPr lang="ru-RU" sz="1400" i="1" dirty="0" err="1"/>
              <a:t>Embedded</a:t>
            </a:r>
            <a:r>
              <a:rPr lang="ru-RU" sz="1400" i="1" dirty="0"/>
              <a:t> SQL </a:t>
            </a:r>
            <a:r>
              <a:rPr lang="ru-RU" sz="1400" dirty="0"/>
              <a:t>программист сам контролирует границы транзакции, которая может включать как действия операторов включающего языка, так и SQL операторы над БД.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В типичной реализации </a:t>
            </a:r>
            <a:r>
              <a:rPr lang="ru-RU" sz="1400" i="1" dirty="0" err="1"/>
              <a:t>Embedded</a:t>
            </a:r>
            <a:r>
              <a:rPr lang="ru-RU" sz="1400" i="1" dirty="0"/>
              <a:t> SQL  </a:t>
            </a:r>
            <a:r>
              <a:rPr lang="ru-RU" sz="1400" dirty="0"/>
              <a:t>транзакция активизируется любой операцией на БД и заканчивается операторами COMMIT или ROLLBACK 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Транзакции обязаны обеспечивать следующие гарантии: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b="1" dirty="0"/>
              <a:t>Атомарности (</a:t>
            </a:r>
            <a:r>
              <a:rPr lang="ru-RU" sz="1400" b="1" dirty="0" err="1"/>
              <a:t>Atomicity</a:t>
            </a:r>
            <a:r>
              <a:rPr lang="ru-RU" sz="1400" b="1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Согласованности (</a:t>
            </a:r>
            <a:r>
              <a:rPr lang="ru-RU" sz="1400" dirty="0" err="1"/>
              <a:t>Consistency</a:t>
            </a:r>
            <a:r>
              <a:rPr lang="ru-RU" sz="14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dirty="0"/>
              <a:t>Изоляции (</a:t>
            </a:r>
            <a:r>
              <a:rPr lang="ru-RU" sz="1400" dirty="0" err="1"/>
              <a:t>Isolation</a:t>
            </a:r>
            <a:r>
              <a:rPr lang="ru-RU" sz="14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  <a:defRPr/>
            </a:pPr>
            <a:r>
              <a:rPr lang="ru-RU" sz="1400" b="1" dirty="0"/>
              <a:t>Долговечности (</a:t>
            </a:r>
            <a:r>
              <a:rPr lang="ru-RU" sz="1400" b="1" dirty="0" err="1"/>
              <a:t>Durability</a:t>
            </a:r>
            <a:r>
              <a:rPr lang="ru-RU" sz="1400" b="1" dirty="0"/>
              <a:t>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805F61-5B82-1056-ABF6-DB397A64EE7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Транзакции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F7A517E-EF28-43E5-C8F5-3D6E7797F3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5893655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E75EC8-BCAF-31CD-5E95-26ED1D06B4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0FA1347-2297-C702-C57D-20D8ACDE67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174BF8-AD0B-A740-2652-07EF15A1C53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Что значит </a:t>
            </a:r>
            <a:r>
              <a:rPr lang="ru-RU" i="1" dirty="0"/>
              <a:t>корректное</a:t>
            </a:r>
            <a:r>
              <a:rPr lang="ru-RU" dirty="0"/>
              <a:t> выполнение транзакции ?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Будем считать, что БД состоит из «</a:t>
            </a:r>
            <a:r>
              <a:rPr lang="ru-RU" b="1" dirty="0"/>
              <a:t>элементов</a:t>
            </a:r>
            <a:r>
              <a:rPr lang="ru-RU" dirty="0"/>
              <a:t>», которые обладают </a:t>
            </a:r>
            <a:r>
              <a:rPr lang="ru-RU" b="1" dirty="0"/>
              <a:t>значениями</a:t>
            </a:r>
            <a:r>
              <a:rPr lang="ru-RU" dirty="0"/>
              <a:t> и которые могут считываться и </a:t>
            </a:r>
            <a:r>
              <a:rPr lang="ru-RU" b="1" dirty="0"/>
              <a:t>обрабатываться транзакциями</a:t>
            </a:r>
            <a:r>
              <a:rPr lang="ru-RU" dirty="0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разных системах это: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Отношение или класс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Дисковый блок или страница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Отдельный кортеж отношения или объект класса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База данных имеет </a:t>
            </a:r>
            <a:r>
              <a:rPr lang="ru-RU" b="1" dirty="0"/>
              <a:t>состояние</a:t>
            </a:r>
            <a:r>
              <a:rPr lang="ru-RU" dirty="0"/>
              <a:t> – совокупность значений всех ее элементов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Одни </a:t>
            </a:r>
            <a:r>
              <a:rPr lang="ru-RU" b="1" dirty="0"/>
              <a:t>состояния</a:t>
            </a:r>
            <a:r>
              <a:rPr lang="ru-RU" dirty="0"/>
              <a:t> трактуются как </a:t>
            </a:r>
            <a:r>
              <a:rPr lang="ru-RU" b="1" dirty="0"/>
              <a:t>согласованные (удовлетворяют всем ограничениям БД)</a:t>
            </a:r>
            <a:r>
              <a:rPr lang="ru-RU" dirty="0"/>
              <a:t>, другие – </a:t>
            </a:r>
            <a:r>
              <a:rPr lang="ru-RU" b="1" dirty="0"/>
              <a:t>нет.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Существует очевидная опасность </a:t>
            </a:r>
            <a:r>
              <a:rPr lang="ru-RU" b="1" dirty="0">
                <a:solidFill>
                  <a:srgbClr val="C00000"/>
                </a:solidFill>
              </a:rPr>
              <a:t>нарушения свойства согласованности</a:t>
            </a:r>
            <a:r>
              <a:rPr lang="ru-RU" dirty="0"/>
              <a:t> при выполнении операций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Выполнение транзакции можно считать </a:t>
            </a:r>
            <a:r>
              <a:rPr lang="ru-RU" b="1" dirty="0"/>
              <a:t>корректным</a:t>
            </a:r>
            <a:r>
              <a:rPr lang="ru-RU" dirty="0"/>
              <a:t>, если после завершения транзакции  </a:t>
            </a:r>
            <a:r>
              <a:rPr lang="ru-RU" b="1" dirty="0"/>
              <a:t>БД</a:t>
            </a:r>
            <a:r>
              <a:rPr lang="ru-RU" dirty="0"/>
              <a:t> находится в </a:t>
            </a:r>
            <a:r>
              <a:rPr lang="ru-RU" b="1" dirty="0"/>
              <a:t>согласованном состоянии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900C6A3-6C9A-4A5E-2B5D-F9B7A6A278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Условия выполнения транзакций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608E849-3F61-9B25-13DF-944439E9B7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178401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11EC18-B253-9A9E-48C2-9BDFB1D322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4B62954-0CAD-DDDD-9E9C-19471205E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D01FA-4BF5-9EA6-F4B7-9EC5B28E66D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1">
            <a:normAutofit lnSpcReduction="10000"/>
          </a:bodyPr>
          <a:lstStyle/>
          <a:p>
            <a:pPr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В процессе выполнения транзакция имеет дело с тремя адресными пространствами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Пространство </a:t>
            </a:r>
            <a:r>
              <a:rPr lang="ru-RU" dirty="0">
                <a:solidFill>
                  <a:srgbClr val="C00000"/>
                </a:solidFill>
              </a:rPr>
              <a:t>дисковых блоков</a:t>
            </a:r>
            <a:r>
              <a:rPr lang="ru-RU" dirty="0"/>
              <a:t>, содержащее элементы базы данных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Пространство адресов оперативной или виртуальной памяти (</a:t>
            </a:r>
            <a:r>
              <a:rPr lang="ru-RU" dirty="0">
                <a:solidFill>
                  <a:schemeClr val="accent6">
                    <a:lumMod val="50000"/>
                  </a:schemeClr>
                </a:solidFill>
              </a:rPr>
              <a:t>буферы СУБД</a:t>
            </a:r>
            <a:r>
              <a:rPr lang="ru-RU" dirty="0"/>
              <a:t>), управляемое менеджером буферов</a:t>
            </a:r>
          </a:p>
          <a:p>
            <a:pPr lvl="1">
              <a:lnSpc>
                <a:spcPct val="110000"/>
              </a:lnSpc>
              <a:spcBef>
                <a:spcPts val="600"/>
              </a:spcBef>
            </a:pPr>
            <a:r>
              <a:rPr lang="ru-RU" dirty="0"/>
              <a:t>Собственное </a:t>
            </a:r>
            <a:r>
              <a:rPr lang="ru-RU" dirty="0">
                <a:solidFill>
                  <a:schemeClr val="accent1"/>
                </a:solidFill>
              </a:rPr>
              <a:t>локальное</a:t>
            </a:r>
            <a:r>
              <a:rPr lang="ru-RU" dirty="0"/>
              <a:t> адресное пространство транзакции (в прикладной программе)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A33C57-75CC-8A57-4C54-689F6003A5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Перемещение данных транзакцией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D8832598-6841-B4F2-A897-1FF99D7FB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42401555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9C4005-ADAD-3BA9-6A4C-A24EFAA8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06911C4-6043-5E0F-B831-8B3E9E6F59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EAFE6-16CA-BB92-520F-65A0A35CD5E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1"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INPUT(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en-US" dirty="0"/>
              <a:t>) – </a:t>
            </a:r>
            <a:r>
              <a:rPr lang="ru-RU" b="1" dirty="0"/>
              <a:t>копировать дисковый блок</a:t>
            </a:r>
            <a:r>
              <a:rPr lang="ru-RU" dirty="0"/>
              <a:t>, содержащий элемент базы данных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dirty="0"/>
              <a:t>, </a:t>
            </a:r>
            <a:r>
              <a:rPr lang="ru-RU" b="1" dirty="0"/>
              <a:t>в буфер ОП СУБД</a:t>
            </a:r>
          </a:p>
          <a:p>
            <a:pPr>
              <a:lnSpc>
                <a:spcPct val="120000"/>
              </a:lnSpc>
            </a:pPr>
            <a:r>
              <a:rPr lang="en-US" dirty="0"/>
              <a:t>READ(</a:t>
            </a:r>
            <a:r>
              <a:rPr lang="en-US" dirty="0">
                <a:solidFill>
                  <a:srgbClr val="FF0000"/>
                </a:solidFill>
              </a:rPr>
              <a:t>X,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) – </a:t>
            </a:r>
            <a:r>
              <a:rPr lang="ru-RU" b="1" dirty="0"/>
              <a:t>копировать элемент базы данных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в локальную переменную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="1" dirty="0"/>
              <a:t> </a:t>
            </a:r>
            <a:r>
              <a:rPr lang="ru-RU" dirty="0"/>
              <a:t>транзакции; если блок с элементом Х еще не загружен в буфер ОП, то вначале выполнить </a:t>
            </a:r>
            <a:r>
              <a:rPr lang="en-US" dirty="0"/>
              <a:t>INPUT(</a:t>
            </a:r>
            <a:r>
              <a:rPr lang="ru-RU" dirty="0"/>
              <a:t>Х</a:t>
            </a:r>
            <a:r>
              <a:rPr lang="en-US" dirty="0"/>
              <a:t>)</a:t>
            </a:r>
            <a:endParaRPr lang="ru-RU" dirty="0"/>
          </a:p>
          <a:p>
            <a:pPr>
              <a:lnSpc>
                <a:spcPct val="120000"/>
              </a:lnSpc>
            </a:pPr>
            <a:r>
              <a:rPr lang="en-US" dirty="0"/>
              <a:t>WRITE(</a:t>
            </a:r>
            <a:r>
              <a:rPr lang="en-US" dirty="0">
                <a:solidFill>
                  <a:srgbClr val="FF0000"/>
                </a:solidFill>
              </a:rPr>
              <a:t>X,</a:t>
            </a:r>
            <a:r>
              <a:rPr lang="ru-RU" dirty="0">
                <a:solidFill>
                  <a:srgbClr val="FF0000"/>
                </a:solidFill>
              </a:rPr>
              <a:t>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dirty="0"/>
              <a:t>) – </a:t>
            </a:r>
            <a:r>
              <a:rPr lang="ru-RU" b="1" dirty="0"/>
              <a:t>копировать</a:t>
            </a:r>
            <a:r>
              <a:rPr lang="en-US" b="1" dirty="0"/>
              <a:t> </a:t>
            </a:r>
            <a:r>
              <a:rPr lang="ru-RU" b="1" dirty="0"/>
              <a:t>значение локальной переменной </a:t>
            </a:r>
            <a:r>
              <a:rPr lang="en-US" dirty="0">
                <a:solidFill>
                  <a:srgbClr val="FF0000"/>
                </a:solidFill>
              </a:rPr>
              <a:t>t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ru-RU" b="1" dirty="0"/>
              <a:t>в буфер памяти</a:t>
            </a:r>
            <a:r>
              <a:rPr lang="ru-RU" dirty="0"/>
              <a:t>, соответствующий элементу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dirty="0"/>
              <a:t>; если блок с элементом Х еще не загружен в буфер ОП, то вначале выполнить </a:t>
            </a:r>
            <a:r>
              <a:rPr lang="en-US" dirty="0"/>
              <a:t>INPUT(</a:t>
            </a:r>
            <a:r>
              <a:rPr lang="ru-RU" dirty="0"/>
              <a:t>Х</a:t>
            </a:r>
            <a:r>
              <a:rPr lang="en-US" dirty="0"/>
              <a:t>)</a:t>
            </a:r>
            <a:r>
              <a:rPr lang="ru-RU" dirty="0"/>
              <a:t>, а затем присвоить значение </a:t>
            </a:r>
            <a:r>
              <a:rPr lang="en-US" dirty="0"/>
              <a:t>t </a:t>
            </a:r>
            <a:r>
              <a:rPr lang="ru-RU" dirty="0"/>
              <a:t>элементу Х</a:t>
            </a:r>
          </a:p>
          <a:p>
            <a:pPr>
              <a:lnSpc>
                <a:spcPct val="120000"/>
              </a:lnSpc>
            </a:pPr>
            <a:r>
              <a:rPr lang="en-US" dirty="0"/>
              <a:t>OUTPUT (</a:t>
            </a:r>
            <a:r>
              <a:rPr lang="en-US" dirty="0">
                <a:solidFill>
                  <a:srgbClr val="FF0000"/>
                </a:solidFill>
              </a:rPr>
              <a:t>X</a:t>
            </a:r>
            <a:r>
              <a:rPr lang="en-US" dirty="0"/>
              <a:t>) – </a:t>
            </a:r>
            <a:r>
              <a:rPr lang="ru-RU" b="1" dirty="0"/>
              <a:t>копировать блок с элементом базы данных </a:t>
            </a:r>
            <a:r>
              <a:rPr lang="ru-RU" dirty="0">
                <a:solidFill>
                  <a:srgbClr val="FF0000"/>
                </a:solidFill>
              </a:rPr>
              <a:t>Х</a:t>
            </a:r>
            <a:r>
              <a:rPr lang="ru-RU" dirty="0"/>
              <a:t> </a:t>
            </a:r>
            <a:r>
              <a:rPr lang="ru-RU" b="1" dirty="0"/>
              <a:t>из буфера ОП СУБД на диск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62DFE8-D970-BFD6-BD5E-9927D2EBCB5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Базовые операции транзакций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D9D22FA-F913-03F8-AB6C-9B96BD500A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745402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DED30F-5964-9469-0E70-10C62E1B5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CB1644A-E227-1263-2ACB-BAB1A4EAA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6F7223-09F8-8450-6FDA-DAB129DCD5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 fontScale="47500" lnSpcReduction="20000"/>
          </a:bodyPr>
          <a:lstStyle/>
          <a:p>
            <a:pPr>
              <a:lnSpc>
                <a:spcPct val="120000"/>
              </a:lnSpc>
              <a:buNone/>
            </a:pPr>
            <a:r>
              <a:rPr lang="ru-RU" sz="3100" dirty="0"/>
              <a:t>Механизм протоколирования обязан </a:t>
            </a:r>
            <a:r>
              <a:rPr lang="ru-RU" sz="3100" u="sng" dirty="0"/>
              <a:t>гарантировать выполнение следующего условия: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Транзакция считается </a:t>
            </a:r>
            <a:r>
              <a:rPr lang="ru-RU" sz="3100" b="1" u="sng" dirty="0"/>
              <a:t>завершенной</a:t>
            </a:r>
            <a:r>
              <a:rPr lang="ru-RU" sz="3100" dirty="0"/>
              <a:t> только в том случае, если значение Х </a:t>
            </a:r>
            <a:r>
              <a:rPr lang="ru-RU" sz="3100" b="1" dirty="0">
                <a:solidFill>
                  <a:schemeClr val="accent1"/>
                </a:solidFill>
              </a:rPr>
              <a:t>сохранено атомарным способом</a:t>
            </a:r>
            <a:r>
              <a:rPr lang="ru-RU" sz="3100" b="1" dirty="0">
                <a:solidFill>
                  <a:schemeClr val="bg2">
                    <a:lumMod val="60000"/>
                    <a:lumOff val="40000"/>
                  </a:schemeClr>
                </a:solidFill>
              </a:rPr>
              <a:t>:</a:t>
            </a:r>
            <a:r>
              <a:rPr lang="ru-RU" sz="3100" dirty="0">
                <a:solidFill>
                  <a:schemeClr val="bg2">
                    <a:lumMod val="60000"/>
                    <a:lumOff val="40000"/>
                  </a:schemeClr>
                </a:solidFill>
              </a:rPr>
              <a:t> </a:t>
            </a:r>
            <a:r>
              <a:rPr lang="ru-RU" sz="3100" dirty="0"/>
              <a:t>либо на диск </a:t>
            </a:r>
            <a:r>
              <a:rPr lang="ru-RU" sz="3100" b="1" dirty="0"/>
              <a:t>записаны все блоки </a:t>
            </a:r>
            <a:r>
              <a:rPr lang="ru-RU" sz="3100" dirty="0"/>
              <a:t>Х, либо </a:t>
            </a:r>
            <a:r>
              <a:rPr lang="ru-RU" sz="3100" b="1" dirty="0"/>
              <a:t>не записан ни один</a:t>
            </a:r>
            <a:r>
              <a:rPr lang="ru-RU" sz="3100" dirty="0"/>
              <a:t>.</a:t>
            </a:r>
          </a:p>
          <a:p>
            <a:pPr marL="0" indent="0">
              <a:lnSpc>
                <a:spcPct val="120000"/>
              </a:lnSpc>
              <a:buNone/>
            </a:pPr>
            <a:r>
              <a:rPr lang="ru-RU" sz="3100" dirty="0"/>
              <a:t>Будем считать, что размер элемента данных не превосходит ОДНОГО блока</a:t>
            </a:r>
          </a:p>
          <a:p>
            <a:pPr>
              <a:lnSpc>
                <a:spcPct val="120000"/>
              </a:lnSpc>
            </a:pPr>
            <a:r>
              <a:rPr lang="ru-RU" sz="3100" dirty="0"/>
              <a:t>Команды активизируются </a:t>
            </a:r>
            <a:r>
              <a:rPr lang="ru-RU" sz="3100" b="1" dirty="0"/>
              <a:t>различными подсистемами </a:t>
            </a:r>
            <a:r>
              <a:rPr lang="ru-RU" sz="3100" dirty="0"/>
              <a:t>СУБД:</a:t>
            </a:r>
          </a:p>
          <a:p>
            <a:pPr marL="541338" lvl="1" indent="-182563">
              <a:lnSpc>
                <a:spcPct val="120000"/>
              </a:lnSpc>
            </a:pPr>
            <a:r>
              <a:rPr lang="en-US" sz="2900" dirty="0"/>
              <a:t>READ</a:t>
            </a:r>
            <a:r>
              <a:rPr lang="ru-RU" sz="2900" dirty="0"/>
              <a:t>,</a:t>
            </a:r>
            <a:r>
              <a:rPr lang="en-US" sz="2900" dirty="0"/>
              <a:t> WRITE – </a:t>
            </a:r>
            <a:r>
              <a:rPr lang="ru-RU" sz="2900" dirty="0"/>
              <a:t>в теле транзакции, </a:t>
            </a:r>
            <a:endParaRPr lang="ru-RU" sz="2500" dirty="0"/>
          </a:p>
          <a:p>
            <a:pPr marL="541338" lvl="1" indent="-182563">
              <a:lnSpc>
                <a:spcPct val="120000"/>
              </a:lnSpc>
            </a:pPr>
            <a:r>
              <a:rPr lang="en-US" sz="2900" dirty="0"/>
              <a:t>INPUT, OUTPUT – </a:t>
            </a:r>
            <a:r>
              <a:rPr lang="ru-RU" sz="2900" dirty="0"/>
              <a:t>менеджером буферов </a:t>
            </a:r>
          </a:p>
          <a:p>
            <a:pPr marL="541338" lvl="1" indent="-182563">
              <a:lnSpc>
                <a:spcPct val="120000"/>
              </a:lnSpc>
            </a:pPr>
            <a:r>
              <a:rPr lang="en-US" sz="2900" dirty="0"/>
              <a:t>OUTPUT </a:t>
            </a:r>
            <a:r>
              <a:rPr lang="ru-RU" sz="2900" dirty="0"/>
              <a:t>– менеджером  буферов, в отдельных случаях и менеджером протоколирования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DB5A20-C514-7878-506A-1C3C043A798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Базовые операции транзакций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92F117-4727-3757-E15E-0A51C7ECF9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5271844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95E18F-A52A-6442-8421-905F4BBE6C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C08FE6E-C81B-ABAD-F8F8-3DCD2FC0B2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32FFAD-4E2A-967C-095E-D988D628B24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4149154" cy="2714154"/>
          </a:xfrm>
        </p:spPr>
        <p:txBody>
          <a:bodyPr numCol="1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Пусть транзакция Т состоит из следующих операций:</a:t>
            </a:r>
          </a:p>
          <a:p>
            <a:pPr marL="45720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 := А * 2;</a:t>
            </a:r>
          </a:p>
          <a:p>
            <a:pPr marL="45720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 := В * 2;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Транзакцию можно представить в виде последовательности базовых операций:</a:t>
            </a:r>
          </a:p>
          <a:p>
            <a:pPr marL="457200" lvl="1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INPUT(A); INPUT(B);</a:t>
            </a:r>
            <a:b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READ(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t)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:=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* 2;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WRITE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А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t)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  <a:b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READ(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t)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:=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* 2;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WRITE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В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t)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;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Менеджер буферов должен  в нужный момент выполнить </a:t>
            </a:r>
            <a:r>
              <a:rPr lang="en-US" dirty="0"/>
              <a:t>OUTPUT(A), OUTPUT(B)</a:t>
            </a:r>
            <a:endParaRPr lang="ru-RU" sz="29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1027E49-4871-01A9-C74E-5C84A62D6EF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Пример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71ACCFAF-F5AC-6F66-E80C-43FB260CA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  <p:graphicFrame>
        <p:nvGraphicFramePr>
          <p:cNvPr id="6" name="Таблица 1">
            <a:extLst>
              <a:ext uri="{FF2B5EF4-FFF2-40B4-BE49-F238E27FC236}">
                <a16:creationId xmlns:a16="http://schemas.microsoft.com/office/drawing/2014/main" id="{62DE2EFD-AD36-5F0B-FA9A-D20A1354EC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2074339"/>
              </p:ext>
            </p:extLst>
          </p:nvPr>
        </p:nvGraphicFramePr>
        <p:xfrm>
          <a:off x="4743325" y="1487187"/>
          <a:ext cx="4149155" cy="280368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646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3531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36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30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29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95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4867"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Операция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в</a:t>
                      </a:r>
                      <a:r>
                        <a:rPr lang="ru-RU" sz="1100" b="1" baseline="0" dirty="0">
                          <a:latin typeface="Aptos Narrow" panose="020B0004020202020204" pitchFamily="34" charset="0"/>
                        </a:rPr>
                        <a:t> памяти Т</a:t>
                      </a:r>
                      <a:endParaRPr lang="ru-RU" sz="1100" b="1" i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в буфере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</a:t>
                      </a:r>
                      <a:r>
                        <a:rPr lang="ru-RU" sz="1100" b="1" dirty="0" err="1">
                          <a:latin typeface="Aptos Narrow" panose="020B0004020202020204" pitchFamily="34" charset="0"/>
                        </a:rPr>
                        <a:t>в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буфере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на диске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на диске</a:t>
                      </a: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807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36000" marB="36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36000" marB="36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86790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9AE753-5A43-3A86-E087-DB33C30DCA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93DFB2-8EFD-ECCD-EA4B-920573687C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994D8A-C850-AA98-ADDC-28C1E90CB6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 fontScale="625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Протокол или </a:t>
            </a:r>
            <a:r>
              <a:rPr lang="ru-RU" b="1" dirty="0"/>
              <a:t>журнал транзакций</a:t>
            </a:r>
            <a:r>
              <a:rPr lang="ru-RU" dirty="0"/>
              <a:t> (</a:t>
            </a:r>
            <a:r>
              <a:rPr lang="ru-RU" dirty="0" err="1"/>
              <a:t>log</a:t>
            </a:r>
            <a:r>
              <a:rPr lang="ru-RU" dirty="0"/>
              <a:t>) – файл, открытый </a:t>
            </a:r>
            <a:r>
              <a:rPr lang="ru-RU" b="1" dirty="0"/>
              <a:t>только для пополнения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Менеджер протоколирования сохраняет в журнале информацию о каждом событии при исполнении транзакций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Блок протокола сначала создается в ОП и обрабатывается менеджером буферов, как и все другие блоки. Сохранение происходит в наиболее «подходящие» моменты времени.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Записи протокола: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T&gt; </a:t>
            </a:r>
            <a:r>
              <a:rPr lang="ru-RU" dirty="0"/>
              <a:t>– выполнение транзакции Т начато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 </a:t>
            </a:r>
            <a:r>
              <a:rPr lang="ru-RU" dirty="0"/>
              <a:t>– транзакция Т успешно завершена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&lt;ABORT T&gt; </a:t>
            </a:r>
            <a:r>
              <a:rPr lang="ru-RU" dirty="0"/>
              <a:t> – выполнение транзакции Т преждевременно остановлено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dirty="0"/>
              <a:t>– транзакция Т изменила </a:t>
            </a:r>
            <a:r>
              <a:rPr lang="ru-RU" b="1" dirty="0"/>
              <a:t>прежнее</a:t>
            </a:r>
            <a:r>
              <a:rPr lang="ru-RU" dirty="0"/>
              <a:t> значение </a:t>
            </a:r>
            <a:r>
              <a:rPr lang="ru-RU" b="1" dirty="0"/>
              <a:t>v</a:t>
            </a:r>
            <a:r>
              <a:rPr lang="ru-RU" dirty="0"/>
              <a:t> элемента базы данных 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E8566F-95EF-11C4-20FE-F1F1D833748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отмены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51205A6-2297-93C1-5967-4192C507F9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9313863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71443-EFDA-D70F-9A3E-2DE8800821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AEAE1C-C8CA-1760-5C83-7585858BD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19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3E1FDC-87D1-EF44-EE67-903AF261CA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 fontScale="62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Деятельность менеджера буферов регламентируется правилами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U1: </a:t>
            </a:r>
            <a:r>
              <a:rPr lang="ru-RU" dirty="0"/>
              <a:t>Если транзакция T модифицирует элемент базы данных - Х, запись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</a:t>
            </a:r>
            <a:r>
              <a:rPr lang="ru-RU" dirty="0"/>
              <a:t> должна быть занесена в протокол </a:t>
            </a:r>
            <a:r>
              <a:rPr lang="ru-RU" b="1" dirty="0"/>
              <a:t>до сохранения </a:t>
            </a:r>
            <a:r>
              <a:rPr lang="ru-RU" dirty="0"/>
              <a:t>нового значения элемента Х </a:t>
            </a:r>
            <a:r>
              <a:rPr lang="ru-RU" b="1" dirty="0"/>
              <a:t>на диск</a:t>
            </a:r>
            <a:endParaRPr lang="ru-RU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b="1" dirty="0"/>
              <a:t>U2: </a:t>
            </a:r>
            <a:r>
              <a:rPr lang="ru-RU" dirty="0"/>
              <a:t>При фиксации результатов транзакции Т запись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dirty="0"/>
              <a:t> следует помещать в протокол </a:t>
            </a:r>
            <a:r>
              <a:rPr lang="ru-RU" b="1" dirty="0"/>
              <a:t>только после </a:t>
            </a:r>
            <a:r>
              <a:rPr lang="ru-RU" dirty="0"/>
              <a:t>«сбрасывания» </a:t>
            </a:r>
            <a:r>
              <a:rPr lang="ru-RU" b="1" dirty="0"/>
              <a:t>всех</a:t>
            </a:r>
            <a:r>
              <a:rPr lang="ru-RU" dirty="0"/>
              <a:t> измененных Т значений элементов базы данных на диск</a:t>
            </a:r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dirty="0"/>
              <a:t>Таким образом, информация, имеющая отношение к действиям в рамках одной транзакции должна сохраняться на диске в следующем порядке: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Записи </a:t>
            </a:r>
            <a:r>
              <a:rPr lang="ru-RU" b="1" dirty="0"/>
              <a:t>протокола</a:t>
            </a:r>
            <a:r>
              <a:rPr lang="ru-RU" dirty="0"/>
              <a:t>, свидетельствующие об изменениях, внесенных в БД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Новые значения </a:t>
            </a:r>
            <a:r>
              <a:rPr lang="ru-RU" b="1" dirty="0"/>
              <a:t>элементов БД </a:t>
            </a:r>
            <a:r>
              <a:rPr lang="ru-RU" dirty="0"/>
              <a:t>как таковых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Запись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dirty="0"/>
              <a:t> протокола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60F4C2-11D8-837B-FBF6-268F0D4C50B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отмены. Правила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D9426E7-9B17-C2F3-4F45-1E0A4559D9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8110640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 bldLvl="2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93D4C-D380-30D9-B5EC-E1C117108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DC1DA0B-51C2-1BAD-88CD-1BCFA5348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20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BDAD16-E90A-82D6-A12C-8F4CE4835423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отмены. Пример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F79E9B3-C620-76CB-368A-9959781335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  <p:graphicFrame>
        <p:nvGraphicFramePr>
          <p:cNvPr id="6" name="Таблица 1">
            <a:extLst>
              <a:ext uri="{FF2B5EF4-FFF2-40B4-BE49-F238E27FC236}">
                <a16:creationId xmlns:a16="http://schemas.microsoft.com/office/drawing/2014/main" id="{FF53ABAE-954B-E0DE-0CBD-765341887B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5045099"/>
              </p:ext>
            </p:extLst>
          </p:nvPr>
        </p:nvGraphicFramePr>
        <p:xfrm>
          <a:off x="395536" y="1714951"/>
          <a:ext cx="7461524" cy="3054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1622">
                  <a:extLst>
                    <a:ext uri="{9D8B030D-6E8A-4147-A177-3AD203B41FA5}">
                      <a16:colId xmlns:a16="http://schemas.microsoft.com/office/drawing/2014/main" val="330293268"/>
                    </a:ext>
                  </a:extLst>
                </a:gridCol>
                <a:gridCol w="1175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178982472"/>
                    </a:ext>
                  </a:extLst>
                </a:gridCol>
              </a:tblGrid>
              <a:tr h="125981"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№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Операция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в</a:t>
                      </a:r>
                      <a:r>
                        <a:rPr lang="ru-RU" sz="1100" b="1" baseline="0" dirty="0">
                          <a:latin typeface="Aptos Narrow" panose="020B0004020202020204" pitchFamily="34" charset="0"/>
                        </a:rPr>
                        <a:t> памяти Т</a:t>
                      </a:r>
                      <a:endParaRPr lang="ru-RU" sz="1100" b="1" i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в буфере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</a:t>
                      </a:r>
                      <a:r>
                        <a:rPr lang="ru-RU" sz="1100" b="1" dirty="0" err="1">
                          <a:latin typeface="Aptos Narrow" panose="020B0004020202020204" pitchFamily="34" charset="0"/>
                        </a:rPr>
                        <a:t>в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буфере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на диске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на диске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Протокол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&lt;START T&gt;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571371635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&lt;UPDATE T,A,5&gt;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&lt;UPDATE T,B,8&gt;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FLUSH LOG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722531356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12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13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&lt;COMMIT T&gt;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400543497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14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FLUSH LOG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2437288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112550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37BD17-0951-2723-F92C-7EAD372EB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9E71CC0-48EA-0A84-BE0E-2D0206FB3E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B9E6AF-F8A7-0EFF-17AB-D15695D0B1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 fontScale="70000" lnSpcReduction="2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Задача менеджера восстановления – распределить транзакции по 2-ум категориям: 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зафиксированные (</a:t>
            </a:r>
            <a:r>
              <a:rPr lang="ru-RU" dirty="0" err="1"/>
              <a:t>committed</a:t>
            </a:r>
            <a:r>
              <a:rPr lang="ru-RU" dirty="0"/>
              <a:t>)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не зафиксированные (</a:t>
            </a:r>
            <a:r>
              <a:rPr lang="ru-RU" dirty="0" err="1"/>
              <a:t>uncommitted</a:t>
            </a:r>
            <a:r>
              <a:rPr lang="ru-RU" dirty="0"/>
              <a:t>)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в журнале есть запись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dirty="0"/>
              <a:t>, то на основании правила U2 можно утверждать, что все изменения Т сохранены на диске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запись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T&gt;</a:t>
            </a:r>
            <a:r>
              <a:rPr lang="ru-RU" dirty="0"/>
              <a:t> есть, но нет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dirty="0"/>
              <a:t>, то транзакция расценивается как незавершенная и подлежит отмене (UNDO)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При этом по правилу U1, если Т изменяла данные, то в протоколе есть запись 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 </a:t>
            </a:r>
            <a:r>
              <a:rPr lang="ru-RU" dirty="0"/>
              <a:t>и можно вернуть в БД старое значение Х</a:t>
            </a:r>
            <a:r>
              <a:rPr lang="en-US" dirty="0"/>
              <a:t>,</a:t>
            </a:r>
            <a:r>
              <a:rPr lang="ru-RU" dirty="0"/>
              <a:t> равное </a:t>
            </a:r>
            <a:r>
              <a:rPr lang="ru-RU" b="1" dirty="0"/>
              <a:t>v</a:t>
            </a:r>
            <a:r>
              <a:rPr lang="ru-RU" dirty="0"/>
              <a:t>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0A9F56-646B-387C-27FA-DA382A4FC1C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отмены. восстановление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69679F-8C7F-6104-76B0-47393CF4A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9777904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43238C-559D-49FE-20B6-576A265F33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F5D3F76-2451-6C32-795F-3C08C70D1B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695FC8-35C7-7EA5-99D3-E47D2D03BCA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1">
            <a:normAutofit fontScale="85000" lnSpcReduction="10000"/>
          </a:bodyPr>
          <a:lstStyle/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Менеджер восстановления сканирует журнал от конца, перемещаясь к началу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Менеджер «запоминает», какие транзакции помечены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dirty="0"/>
              <a:t> или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&lt;ABORT T&gt;</a:t>
            </a:r>
            <a:r>
              <a:rPr lang="ru-RU" dirty="0"/>
              <a:t> 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Встречая запись вида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</a:t>
            </a:r>
            <a:r>
              <a:rPr lang="ru-RU" dirty="0"/>
              <a:t>  он делает следующее: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если Т была завершена, то ничего не делает</a:t>
            </a:r>
          </a:p>
          <a:p>
            <a:pPr lvl="1">
              <a:lnSpc>
                <a:spcPct val="120000"/>
              </a:lnSpc>
              <a:spcBef>
                <a:spcPts val="600"/>
              </a:spcBef>
            </a:pPr>
            <a:r>
              <a:rPr lang="ru-RU" dirty="0"/>
              <a:t>в противном случае Т трактуется как незавершенная и значение v должно  быть возвращено элементу 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E26C18-7B23-4E1E-B34B-991527570C5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отмены. восстановление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54002F3-08A5-372C-D635-A20D3B9F28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71735082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60F113-3565-2893-3FCE-15AA8DE0BA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A822DFC-28DE-0881-4E41-D1809DB9F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23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67218C-8360-BF8F-FC71-543577CD793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 fontScale="92500" lnSpcReduction="10000"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Сканирование полного журнала занимает </a:t>
            </a:r>
            <a:r>
              <a:rPr lang="ru-RU" sz="1400" b="1" dirty="0"/>
              <a:t>всё больше времени </a:t>
            </a:r>
            <a:r>
              <a:rPr lang="ru-RU" sz="1400" dirty="0"/>
              <a:t>с каждым рестартом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Удобный способ оптимизации – введение контрольных точек (</a:t>
            </a:r>
            <a:r>
              <a:rPr lang="ru-RU" sz="1400" dirty="0" err="1"/>
              <a:t>check</a:t>
            </a:r>
            <a:r>
              <a:rPr lang="ru-RU" sz="1400" dirty="0"/>
              <a:t> </a:t>
            </a:r>
            <a:r>
              <a:rPr lang="ru-RU" sz="1400" dirty="0" err="1"/>
              <a:t>point</a:t>
            </a:r>
            <a:r>
              <a:rPr lang="en-US" sz="1400" dirty="0"/>
              <a:t>s</a:t>
            </a:r>
            <a:r>
              <a:rPr lang="ru-RU" sz="1400" dirty="0"/>
              <a:t>)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В самом простом случае для ввода КТ нужно: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1200" b="1" dirty="0"/>
              <a:t>Приостановить</a:t>
            </a:r>
            <a:r>
              <a:rPr lang="ru-RU" sz="1200" dirty="0"/>
              <a:t> прием запросов на активацию новых транзакций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1200" b="1" dirty="0"/>
              <a:t>Дождаться</a:t>
            </a:r>
            <a:r>
              <a:rPr lang="en-US" sz="1200" dirty="0"/>
              <a:t>,</a:t>
            </a:r>
            <a:r>
              <a:rPr lang="ru-RU" sz="1200" dirty="0"/>
              <a:t> пока все действующие транзакции не выполнят операции фиксации или прерывания и не сохранят в протоколе записи </a:t>
            </a:r>
            <a:br>
              <a:rPr lang="ru-RU" sz="1200" dirty="0"/>
            </a:b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…&gt;</a:t>
            </a:r>
            <a:r>
              <a:rPr lang="ru-RU" sz="1200" dirty="0"/>
              <a:t> или 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&lt;ABORT…&gt;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Осуществить «</a:t>
            </a:r>
            <a:r>
              <a:rPr lang="ru-RU" sz="1200" b="1" dirty="0"/>
              <a:t>сброс</a:t>
            </a:r>
            <a:r>
              <a:rPr lang="ru-RU" sz="1200" dirty="0"/>
              <a:t>» протокола из буферов на диск командой 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FLUSH LOG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Внести в протокол запись вида 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CHECKPOINT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sz="1200" dirty="0"/>
              <a:t>  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Возобновить прием транзакций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Любая транзакция приступившая к работе до введения КТ будет гарантированно завершена – правило U2.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Протокол после записи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CHECKPOINT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sz="1400" dirty="0"/>
              <a:t> будет содержать только записи, относящиеся к «новым» транзакциям.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Часть протокола до записи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CHECKPOINT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ru-RU" sz="1400" dirty="0"/>
              <a:t> сканировать не нужно, и она может быть удалена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5D4D0A-2A61-78B0-5283-1405191B7DA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Ускорение восстановления. Контрольные точки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A09645D1-F95C-B8EB-76BF-1EF8109D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1950571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D0C013-76E4-9A62-8BC9-6C0EECD70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357277AA-5687-2F3C-63EF-88FEBA916A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39BDD5B-0B13-0B44-96B6-34200D662AA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>
            <a:normAutofit/>
          </a:bodyPr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У предыдущей схемы введения контрольных точек есть один недостаток – приостановка приёма новых транзакций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На практике обычно применяется техника </a:t>
            </a:r>
            <a:r>
              <a:rPr lang="ru-RU" sz="1400" b="1" dirty="0"/>
              <a:t>динамических контрольных точек</a:t>
            </a:r>
            <a:r>
              <a:rPr lang="ru-RU" sz="1400" dirty="0"/>
              <a:t>:</a:t>
            </a:r>
          </a:p>
          <a:p>
            <a:pPr marL="541338" lvl="1" indent="-182563">
              <a:lnSpc>
                <a:spcPct val="120000"/>
              </a:lnSpc>
              <a:buClr>
                <a:srgbClr val="5F9E38"/>
              </a:buClr>
              <a:buSzPct val="100000"/>
              <a:buFont typeface="+mj-lt"/>
              <a:buAutoNum type="arabicPeriod"/>
            </a:pPr>
            <a:r>
              <a:rPr lang="ru-RU" sz="1300" dirty="0"/>
              <a:t>Внести в протокол запись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 (T</a:t>
            </a:r>
            <a:r>
              <a:rPr lang="ru-RU" sz="13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, </a:t>
            </a:r>
            <a:r>
              <a:rPr lang="ru-RU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,T</a:t>
            </a:r>
            <a:r>
              <a:rPr lang="en-US" sz="13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r>
              <a:rPr lang="en-US" sz="1300" dirty="0"/>
              <a:t> </a:t>
            </a:r>
            <a:r>
              <a:rPr lang="ru-RU" sz="1300" dirty="0"/>
              <a:t> и посредством команды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FLUSH</a:t>
            </a:r>
            <a:r>
              <a:rPr lang="ru-RU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LOG</a:t>
            </a:r>
            <a:r>
              <a:rPr lang="ru-RU" sz="1300" dirty="0"/>
              <a:t> «сбросить» протокол на диск. </a:t>
            </a:r>
            <a:r>
              <a:rPr lang="en-US" sz="1300" dirty="0"/>
              <a:t>T</a:t>
            </a:r>
            <a:r>
              <a:rPr lang="ru-RU" sz="1300" baseline="-25000" dirty="0"/>
              <a:t>1</a:t>
            </a:r>
            <a:r>
              <a:rPr lang="en-US" sz="1300" dirty="0"/>
              <a:t> , </a:t>
            </a:r>
            <a:r>
              <a:rPr lang="ru-RU" sz="1300" dirty="0"/>
              <a:t>… </a:t>
            </a:r>
            <a:r>
              <a:rPr lang="en-US" sz="1300" dirty="0"/>
              <a:t>,T</a:t>
            </a:r>
            <a:r>
              <a:rPr lang="en-US" sz="1300" baseline="-25000" dirty="0"/>
              <a:t>k</a:t>
            </a:r>
            <a:r>
              <a:rPr lang="ru-RU" sz="1300" dirty="0"/>
              <a:t>  - имена транзакций, активных на момент начала КТ</a:t>
            </a:r>
          </a:p>
          <a:p>
            <a:pPr marL="541338" lvl="1" indent="-182563">
              <a:lnSpc>
                <a:spcPct val="120000"/>
              </a:lnSpc>
              <a:buClr>
                <a:srgbClr val="5F9E38"/>
              </a:buClr>
              <a:buSzPct val="100000"/>
              <a:buFont typeface="+mj-lt"/>
              <a:buAutoNum type="arabicPeriod"/>
            </a:pPr>
            <a:r>
              <a:rPr lang="ru-RU" sz="1300" dirty="0"/>
              <a:t>Дождаться момента фиксации (</a:t>
            </a:r>
            <a:r>
              <a:rPr lang="en-US" sz="1300" dirty="0"/>
              <a:t>commit) </a:t>
            </a:r>
            <a:r>
              <a:rPr lang="ru-RU" sz="1300" dirty="0"/>
              <a:t>или отмены (</a:t>
            </a:r>
            <a:r>
              <a:rPr lang="en-US" sz="1300" dirty="0"/>
              <a:t>abort</a:t>
            </a:r>
            <a:r>
              <a:rPr lang="ru-RU" sz="1300" dirty="0"/>
              <a:t>)</a:t>
            </a:r>
            <a:r>
              <a:rPr lang="en-US" sz="1300" dirty="0"/>
              <a:t> </a:t>
            </a:r>
            <a:r>
              <a:rPr lang="ru-RU" sz="1300" dirty="0"/>
              <a:t>всех транзакций </a:t>
            </a:r>
            <a:r>
              <a:rPr lang="en-US" sz="1300" dirty="0"/>
              <a:t>T</a:t>
            </a:r>
            <a:r>
              <a:rPr lang="ru-RU" sz="1300" baseline="-25000" dirty="0"/>
              <a:t>1</a:t>
            </a:r>
            <a:r>
              <a:rPr lang="en-US" sz="1300" dirty="0"/>
              <a:t>, </a:t>
            </a:r>
            <a:r>
              <a:rPr lang="ru-RU" sz="1300" dirty="0"/>
              <a:t>…</a:t>
            </a:r>
            <a:r>
              <a:rPr lang="en-US" sz="1300" dirty="0"/>
              <a:t>,</a:t>
            </a:r>
            <a:r>
              <a:rPr lang="ru-RU" sz="1300" dirty="0"/>
              <a:t> </a:t>
            </a:r>
            <a:r>
              <a:rPr lang="en-US" sz="1300" dirty="0"/>
              <a:t>T</a:t>
            </a:r>
            <a:r>
              <a:rPr lang="en-US" sz="1300" baseline="-25000" dirty="0"/>
              <a:t>k</a:t>
            </a:r>
            <a:r>
              <a:rPr lang="ru-RU" sz="1300" dirty="0"/>
              <a:t>, </a:t>
            </a:r>
            <a:r>
              <a:rPr lang="ru-RU" sz="1300" b="1" dirty="0">
                <a:cs typeface="Courier New" pitchFamily="49" charset="0"/>
              </a:rPr>
              <a:t>не запрещая возможности старта новых </a:t>
            </a:r>
            <a:r>
              <a:rPr lang="ru-RU" sz="1300" dirty="0">
                <a:cs typeface="Courier New" pitchFamily="49" charset="0"/>
              </a:rPr>
              <a:t>транзакций</a:t>
            </a:r>
          </a:p>
          <a:p>
            <a:pPr marL="541338" lvl="1" indent="-182563">
              <a:lnSpc>
                <a:spcPct val="120000"/>
              </a:lnSpc>
              <a:buClr>
                <a:srgbClr val="5F9E38"/>
              </a:buClr>
              <a:buSzPct val="100000"/>
              <a:buFont typeface="+mj-lt"/>
              <a:buAutoNum type="arabicPeriod"/>
            </a:pPr>
            <a:r>
              <a:rPr lang="ru-RU" sz="1300" dirty="0"/>
              <a:t>По завершении работы всех транзакций </a:t>
            </a:r>
            <a:r>
              <a:rPr lang="en-US" sz="1300" dirty="0"/>
              <a:t>T</a:t>
            </a:r>
            <a:r>
              <a:rPr lang="ru-RU" sz="1300" baseline="-25000" dirty="0"/>
              <a:t>1</a:t>
            </a:r>
            <a:r>
              <a:rPr lang="en-US" sz="1300" dirty="0"/>
              <a:t> , </a:t>
            </a:r>
            <a:r>
              <a:rPr lang="ru-RU" sz="1300" dirty="0"/>
              <a:t>… </a:t>
            </a:r>
            <a:r>
              <a:rPr lang="en-US" sz="1300" dirty="0"/>
              <a:t>,T</a:t>
            </a:r>
            <a:r>
              <a:rPr lang="en-US" sz="1300" baseline="-25000" dirty="0"/>
              <a:t>k</a:t>
            </a:r>
            <a:r>
              <a:rPr lang="ru-RU" sz="1300" dirty="0"/>
              <a:t>  сохранить в протоколе запись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&lt;END CKPT&gt;</a:t>
            </a:r>
            <a:r>
              <a:rPr lang="en-US" sz="1300" dirty="0"/>
              <a:t> </a:t>
            </a:r>
            <a:r>
              <a:rPr lang="ru-RU" sz="1300" dirty="0"/>
              <a:t> и инициировать команду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FLUSH </a:t>
            </a:r>
            <a:r>
              <a:rPr lang="ru-RU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3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LOG</a:t>
            </a:r>
            <a:r>
              <a:rPr lang="ru-RU" sz="1300" dirty="0"/>
              <a:t> </a:t>
            </a:r>
            <a:endParaRPr lang="ru-RU" dirty="0">
              <a:cs typeface="Courier New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2202DB-3102-8A8F-B01E-96300F14205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Динамические (</a:t>
            </a:r>
            <a:r>
              <a:rPr lang="en-US" dirty="0"/>
              <a:t>NONQUIESCENT) </a:t>
            </a:r>
            <a:r>
              <a:rPr lang="ru-RU" dirty="0"/>
              <a:t>Контрольные точки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3611E7CC-7196-08C0-7FFB-224A9AE942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97907463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8ECD74-E7B6-DE63-5418-53F4168A0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B8E5B51-9867-1B7B-BA37-D516FD729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11A142A-6737-95D6-2107-00BCB783903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14154"/>
          </a:xfrm>
        </p:spPr>
        <p:txBody>
          <a:bodyPr numCol="2" spcCol="180000">
            <a:normAutofit fontScale="77500" lnSpcReduction="20000"/>
          </a:bodyPr>
          <a:lstStyle/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400" dirty="0"/>
              <a:t>Как обычно, менеджер восстановления сканирует журнал </a:t>
            </a:r>
            <a:r>
              <a:rPr lang="ru-RU" sz="1400" b="1" dirty="0"/>
              <a:t>от конца к началу</a:t>
            </a:r>
            <a:r>
              <a:rPr lang="ru-RU" sz="1400" dirty="0"/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400" dirty="0"/>
              <a:t>Заслуживают внимания </a:t>
            </a:r>
            <a:r>
              <a:rPr lang="ru-RU" sz="1400" u="sng" dirty="0"/>
              <a:t>2 ситуации</a:t>
            </a:r>
            <a:r>
              <a:rPr lang="ru-RU" sz="1400" dirty="0"/>
              <a:t>: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b="1" dirty="0"/>
              <a:t>Первой</a:t>
            </a:r>
            <a:r>
              <a:rPr lang="ru-RU" sz="1400" dirty="0"/>
              <a:t> встречается запись </a:t>
            </a:r>
            <a:r>
              <a:rPr lang="en-US" sz="14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&lt;END CKPT&gt;</a:t>
            </a:r>
            <a:r>
              <a:rPr lang="en-US" sz="1400" dirty="0"/>
              <a:t>.</a:t>
            </a:r>
            <a:r>
              <a:rPr lang="ru-RU" sz="1400" dirty="0"/>
              <a:t> Значит, все незавершенные транзакции начали выполняться после внесения записи </a:t>
            </a:r>
            <a:r>
              <a:rPr lang="en-US" sz="1400" dirty="0"/>
              <a:t>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(T</a:t>
            </a:r>
            <a:r>
              <a:rPr lang="ru-RU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,T</a:t>
            </a:r>
            <a:r>
              <a:rPr lang="en-US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r>
              <a:rPr lang="ru-RU" sz="1400" dirty="0"/>
              <a:t>. </a:t>
            </a:r>
          </a:p>
          <a:p>
            <a:pPr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400" dirty="0"/>
              <a:t>	Следовательно достаточно просканировать журнал до записи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 (T</a:t>
            </a:r>
            <a:r>
              <a:rPr lang="ru-RU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,T</a:t>
            </a:r>
            <a:r>
              <a:rPr lang="en-US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r>
              <a:rPr lang="ru-RU" sz="1400" dirty="0"/>
              <a:t> и восстановить значения элементов данных, измененные незавершенными транзакциями </a:t>
            </a:r>
            <a:r>
              <a:rPr lang="en-US" sz="1400" dirty="0">
                <a:cs typeface="Times New Roman" panose="02020603050405020304" pitchFamily="18" charset="0"/>
              </a:rPr>
              <a:t>T</a:t>
            </a:r>
            <a:r>
              <a:rPr lang="en-US" sz="1400" baseline="-25000" dirty="0">
                <a:cs typeface="Times New Roman" panose="02020603050405020304" pitchFamily="18" charset="0"/>
              </a:rPr>
              <a:t>i </a:t>
            </a:r>
            <a:r>
              <a:rPr lang="en-US" sz="1400" dirty="0">
                <a:cs typeface="Times New Roman" panose="02020603050405020304" pitchFamily="18" charset="0"/>
              </a:rPr>
              <a:t> ( i &gt; k )</a:t>
            </a:r>
            <a:r>
              <a:rPr lang="ru-RU" sz="1400" dirty="0"/>
              <a:t>, запущенными после этой записи (см.п.2 протокола ДКТ).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b="1" dirty="0"/>
              <a:t>Первой</a:t>
            </a:r>
            <a:r>
              <a:rPr lang="ru-RU" sz="1400" dirty="0"/>
              <a:t> встречается запись </a:t>
            </a:r>
            <a:r>
              <a:rPr lang="en-US" sz="14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 (T</a:t>
            </a:r>
            <a:r>
              <a:rPr lang="ru-RU" sz="1400" b="1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, </a:t>
            </a:r>
            <a:r>
              <a:rPr lang="ru-RU" sz="14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 </a:t>
            </a:r>
            <a:r>
              <a:rPr lang="en-US" sz="14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,T</a:t>
            </a:r>
            <a:r>
              <a:rPr lang="en-US" sz="1400" b="1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</a:t>
            </a:r>
            <a:r>
              <a:rPr lang="en-US" sz="1400" b="1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r>
              <a:rPr lang="ru-RU" sz="1400" dirty="0"/>
              <a:t>. </a:t>
            </a:r>
          </a:p>
          <a:p>
            <a:pPr marL="358775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400" dirty="0"/>
              <a:t>Следовательно, сбой произошел в </a:t>
            </a:r>
            <a:r>
              <a:rPr lang="ru-RU" sz="1400" b="1" dirty="0"/>
              <a:t>момент введения контрольной точки</a:t>
            </a:r>
            <a:r>
              <a:rPr lang="ru-RU" sz="1400" dirty="0"/>
              <a:t>. Незавершенными окажутся только такие из числа </a:t>
            </a:r>
            <a:r>
              <a:rPr lang="en-US" sz="1400" dirty="0"/>
              <a:t>T</a:t>
            </a:r>
            <a:r>
              <a:rPr lang="ru-RU" sz="1400" baseline="-25000" dirty="0"/>
              <a:t>1</a:t>
            </a:r>
            <a:r>
              <a:rPr lang="en-US" sz="1400" dirty="0"/>
              <a:t> , </a:t>
            </a:r>
            <a:r>
              <a:rPr lang="ru-RU" sz="1400" dirty="0"/>
              <a:t>… </a:t>
            </a:r>
            <a:r>
              <a:rPr lang="en-US" sz="1400" dirty="0"/>
              <a:t>,T</a:t>
            </a:r>
            <a:r>
              <a:rPr lang="en-US" sz="1400" baseline="-25000" dirty="0"/>
              <a:t>k</a:t>
            </a:r>
            <a:r>
              <a:rPr lang="ru-RU" sz="1400" baseline="-25000" dirty="0"/>
              <a:t> </a:t>
            </a:r>
            <a:r>
              <a:rPr lang="ru-RU" sz="1400" dirty="0"/>
              <a:t>, которые упоминались в записях журнала до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 (T</a:t>
            </a:r>
            <a:r>
              <a:rPr lang="ru-RU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,T</a:t>
            </a:r>
            <a:r>
              <a:rPr lang="en-US" sz="1400" baseline="-25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k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400" dirty="0"/>
              <a:t>и не успели зафиксировать свои результаты. Поэтому восстановление ведем только до</a:t>
            </a:r>
            <a:r>
              <a:rPr lang="en-US" sz="1400" dirty="0"/>
              <a:t> </a:t>
            </a:r>
            <a:r>
              <a:rPr lang="ru-RU" sz="1400" dirty="0"/>
              <a:t>записи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T&gt;</a:t>
            </a:r>
            <a:r>
              <a:rPr lang="ru-RU" sz="1400" dirty="0"/>
              <a:t> самой первой транзакции из </a:t>
            </a:r>
            <a:r>
              <a:rPr lang="en-US" sz="1400" dirty="0"/>
              <a:t>T</a:t>
            </a:r>
            <a:r>
              <a:rPr lang="ru-RU" sz="1400" baseline="-25000" dirty="0"/>
              <a:t>1</a:t>
            </a:r>
            <a:r>
              <a:rPr lang="en-US" sz="1400" dirty="0"/>
              <a:t> , </a:t>
            </a:r>
            <a:r>
              <a:rPr lang="ru-RU" sz="1400" dirty="0"/>
              <a:t>… </a:t>
            </a:r>
            <a:r>
              <a:rPr lang="en-US" sz="1400" dirty="0"/>
              <a:t>,T</a:t>
            </a:r>
            <a:r>
              <a:rPr lang="en-US" sz="1400" baseline="-25000" dirty="0"/>
              <a:t>k</a:t>
            </a:r>
            <a:r>
              <a:rPr lang="en-US" sz="1400" dirty="0"/>
              <a:t> </a:t>
            </a:r>
            <a:endParaRPr lang="ru-RU" sz="1400" dirty="0"/>
          </a:p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400" dirty="0"/>
              <a:t>Уместно заметить, что как только в протоколе сохранена запись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&lt;END CKPT&gt;</a:t>
            </a:r>
            <a:r>
              <a:rPr lang="ru-RU" sz="1400" dirty="0"/>
              <a:t>, часть протокола до ПРЕДЫДУЩЕЙ записи 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…</a:t>
            </a:r>
            <a: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en-US" sz="1400" dirty="0"/>
              <a:t> </a:t>
            </a:r>
            <a:r>
              <a:rPr lang="ru-RU" sz="1400" dirty="0"/>
              <a:t>может быть безбоязненно удалена</a:t>
            </a:r>
            <a:r>
              <a:rPr lang="en-US" sz="1400" dirty="0"/>
              <a:t>.</a:t>
            </a:r>
            <a:r>
              <a:rPr lang="ru-RU" sz="1400" dirty="0"/>
              <a:t> 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A2FC304-5318-B841-F7B7-DC26FEB3152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Восстановление по журналу отмены с ДКТ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BA055B8C-696E-AD9C-4C88-6B037657E7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9054128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B24E54-4BF0-077C-179D-526C2DFFF3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46B689AB-B0C4-D3D7-F38F-F3DC4C8E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6CF63D-F31A-E704-163B-9505EFB7416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2420961" cy="2714154"/>
          </a:xfrm>
        </p:spPr>
        <p:txBody>
          <a:bodyPr numCol="1" spcCol="180000">
            <a:normAutofit fontScale="925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4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ru-RU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4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A, 5&gt;</a:t>
            </a:r>
            <a:br>
              <a:rPr lang="ru-RU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4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ru-RU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4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B, 10&gt;</a:t>
            </a:r>
            <a:b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CKPT(T</a:t>
            </a:r>
            <a:r>
              <a:rPr lang="ru-RU" sz="14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sz="14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br>
              <a:rPr lang="ru-RU" sz="14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4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C, 15&gt;</a:t>
            </a:r>
            <a:b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400" b="1" baseline="-25000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4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D, 20&gt;</a:t>
            </a:r>
            <a:b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</a:t>
            </a:r>
            <a:r>
              <a:rPr lang="en-US" sz="14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en-US" sz="14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400" b="1" baseline="-25000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E, 25&gt;</a:t>
            </a:r>
            <a:b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</a:t>
            </a:r>
            <a:r>
              <a:rPr lang="en-US" sz="14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en-US" sz="14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&lt;END CKPT&gt;</a:t>
            </a:r>
            <a:br>
              <a:rPr lang="en-US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400" b="1" baseline="-25000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r>
              <a:rPr lang="en-US" sz="14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F, 30&gt;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89E8B-B0E4-33A3-B102-043B86A79D3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Восстановление по журналу отмены с ДКТ. Пример 1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F892FC37-0554-6813-BA43-64E8469AD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  <p:sp>
        <p:nvSpPr>
          <p:cNvPr id="6" name="Стрелка вверх 6">
            <a:extLst>
              <a:ext uri="{FF2B5EF4-FFF2-40B4-BE49-F238E27FC236}">
                <a16:creationId xmlns:a16="http://schemas.microsoft.com/office/drawing/2014/main" id="{F9D2DBE7-04D4-0BBB-7712-E867FC6B16CD}"/>
              </a:ext>
            </a:extLst>
          </p:cNvPr>
          <p:cNvSpPr/>
          <p:nvPr/>
        </p:nvSpPr>
        <p:spPr>
          <a:xfrm>
            <a:off x="102235" y="2715766"/>
            <a:ext cx="297180" cy="1656184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073B02-9B30-0923-9AA5-5F297830FF36}"/>
              </a:ext>
            </a:extLst>
          </p:cNvPr>
          <p:cNvSpPr txBox="1">
            <a:spLocks/>
          </p:cNvSpPr>
          <p:nvPr/>
        </p:nvSpPr>
        <p:spPr>
          <a:xfrm>
            <a:off x="2411760" y="1801812"/>
            <a:ext cx="6481415" cy="2714154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rmAutofit fontScale="92500" lnSpcReduction="20000"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None/>
            </a:pPr>
            <a:r>
              <a:rPr lang="ru-RU" sz="1400" dirty="0"/>
              <a:t>Сканируя журнал обнаруживаем, что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b="1" dirty="0">
                <a:solidFill>
                  <a:schemeClr val="accent2"/>
                </a:solidFill>
              </a:rPr>
              <a:t>Т</a:t>
            </a:r>
            <a:r>
              <a:rPr lang="ru-RU" sz="1400" b="1" baseline="-25000" dirty="0">
                <a:solidFill>
                  <a:schemeClr val="accent2"/>
                </a:solidFill>
              </a:rPr>
              <a:t>3</a:t>
            </a:r>
            <a:r>
              <a:rPr lang="ru-RU" sz="1400" dirty="0"/>
              <a:t> не завершена и подлежит отмене. </a:t>
            </a:r>
            <a:r>
              <a:rPr lang="ru-RU" sz="1400" dirty="0">
                <a:solidFill>
                  <a:schemeClr val="accent2"/>
                </a:solidFill>
              </a:rPr>
              <a:t>Записываем 30 в F</a:t>
            </a:r>
            <a:r>
              <a:rPr lang="ru-RU" sz="1400" dirty="0"/>
              <a:t>.</a:t>
            </a: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dirty="0"/>
              <a:t>Так как первая встретившаяся запись ДКТ -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&lt;END CKPT&gt;</a:t>
            </a:r>
            <a:r>
              <a:rPr lang="ru-RU" sz="1400" dirty="0"/>
              <a:t>, то остальные незафиксированные транзакции стартовали после </a:t>
            </a:r>
            <a:r>
              <a:rPr lang="ru-RU" sz="14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 …&gt;. </a:t>
            </a:r>
            <a:r>
              <a:rPr lang="ru-RU" sz="1400" dirty="0"/>
              <a:t>Сканируем до </a:t>
            </a: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CKPT(T</a:t>
            </a:r>
            <a:r>
              <a:rPr lang="ru-RU" sz="14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sz="14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4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endParaRPr lang="ru-RU" sz="14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dirty="0"/>
              <a:t>Вычёркиваем </a:t>
            </a:r>
            <a:r>
              <a:rPr lang="en-US" sz="1400" b="1" dirty="0">
                <a:solidFill>
                  <a:srgbClr val="00B050"/>
                </a:solidFill>
              </a:rPr>
              <a:t>T</a:t>
            </a:r>
            <a:r>
              <a:rPr lang="ru-RU" sz="1400" b="1" baseline="-25000" dirty="0">
                <a:solidFill>
                  <a:srgbClr val="00B050"/>
                </a:solidFill>
              </a:rPr>
              <a:t>2</a:t>
            </a:r>
            <a:r>
              <a:rPr lang="en-US" sz="1400" b="1" dirty="0">
                <a:solidFill>
                  <a:srgbClr val="00B050"/>
                </a:solidFill>
              </a:rPr>
              <a:t> </a:t>
            </a:r>
            <a:r>
              <a:rPr lang="ru-RU" sz="1400" dirty="0"/>
              <a:t>из списка транзакций для отмены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dirty="0">
                <a:solidFill>
                  <a:schemeClr val="accent2"/>
                </a:solidFill>
              </a:rPr>
              <a:t>Записываем 25 в </a:t>
            </a:r>
            <a:r>
              <a:rPr lang="en-US" sz="1400" dirty="0">
                <a:solidFill>
                  <a:schemeClr val="accent2"/>
                </a:solidFill>
              </a:rPr>
              <a:t>E</a:t>
            </a:r>
            <a:endParaRPr lang="ru-RU" sz="1400" dirty="0">
              <a:solidFill>
                <a:schemeClr val="accent2"/>
              </a:solidFill>
            </a:endParaRPr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dirty="0"/>
              <a:t>Вычёркиваем </a:t>
            </a:r>
            <a:r>
              <a:rPr lang="en-US" sz="1400" b="1" dirty="0">
                <a:solidFill>
                  <a:schemeClr val="accent1"/>
                </a:solidFill>
              </a:rPr>
              <a:t>T</a:t>
            </a:r>
            <a:r>
              <a:rPr lang="ru-RU" sz="1400" b="1" baseline="-25000" dirty="0">
                <a:solidFill>
                  <a:schemeClr val="accent1"/>
                </a:solidFill>
              </a:rPr>
              <a:t>1</a:t>
            </a:r>
            <a:r>
              <a:rPr lang="en-US" sz="1400" dirty="0"/>
              <a:t> </a:t>
            </a:r>
            <a:r>
              <a:rPr lang="ru-RU" sz="1400" dirty="0"/>
              <a:t>из списка транзакций для отмены</a:t>
            </a:r>
            <a:endParaRPr lang="en-US" sz="1400" dirty="0"/>
          </a:p>
          <a:p>
            <a:pPr>
              <a:lnSpc>
                <a:spcPct val="120000"/>
              </a:lnSpc>
              <a:spcBef>
                <a:spcPts val="600"/>
              </a:spcBef>
            </a:pPr>
            <a:r>
              <a:rPr lang="ru-RU" sz="1400" dirty="0"/>
              <a:t>Обнаруживаем, что других кроме </a:t>
            </a:r>
            <a:r>
              <a:rPr lang="ru-RU" sz="1400" b="1" dirty="0">
                <a:solidFill>
                  <a:schemeClr val="accent2"/>
                </a:solidFill>
              </a:rPr>
              <a:t>Т</a:t>
            </a:r>
            <a:r>
              <a:rPr lang="ru-RU" sz="1400" b="1" baseline="-25000" dirty="0">
                <a:solidFill>
                  <a:schemeClr val="accent2"/>
                </a:solidFill>
              </a:rPr>
              <a:t>3</a:t>
            </a:r>
            <a:r>
              <a:rPr lang="ru-RU" sz="1400" dirty="0"/>
              <a:t> незавершенных транзакций нет</a:t>
            </a:r>
          </a:p>
        </p:txBody>
      </p:sp>
    </p:spTree>
    <p:extLst>
      <p:ext uri="{BB962C8B-B14F-4D97-AF65-F5344CB8AC3E}">
        <p14:creationId xmlns:p14="http://schemas.microsoft.com/office/powerpoint/2010/main" val="7926487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98DBA-0F1D-EA10-2892-55BA336F10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DA97ACB-2572-425F-4D98-0DF31DA833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27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F2295C6-3E0E-201C-5660-50A1512156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9" y="1801812"/>
            <a:ext cx="2420961" cy="2714154"/>
          </a:xfrm>
        </p:spPr>
        <p:txBody>
          <a:bodyPr numCol="1" spcCol="180000">
            <a:no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3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ru-RU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3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A, 5&gt;</a:t>
            </a:r>
            <a:br>
              <a:rPr lang="ru-RU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3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ru-RU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3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B, 10&gt;</a:t>
            </a:r>
            <a:b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CKPT(T</a:t>
            </a:r>
            <a:r>
              <a:rPr lang="ru-RU" sz="13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sz="13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br>
              <a:rPr lang="ru-RU" sz="13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3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C, 15&gt;</a:t>
            </a:r>
            <a:b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300" b="1" baseline="-25000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r>
              <a:rPr lang="en-US" sz="13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en-US" sz="13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3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D, 20&gt;</a:t>
            </a:r>
            <a:b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</a:t>
            </a:r>
            <a:r>
              <a:rPr lang="en-US" sz="1300" b="1" baseline="-25000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br>
              <a:rPr lang="en-US" sz="1300" b="1" dirty="0">
                <a:solidFill>
                  <a:srgbClr val="00B05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r>
              <a:rPr lang="en-US" sz="13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&lt;UPDATE T</a:t>
            </a:r>
            <a:r>
              <a:rPr lang="en-US" sz="1300" b="1" baseline="-25000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3</a:t>
            </a:r>
            <a:r>
              <a:rPr lang="en-US" sz="13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E, 25&gt;</a:t>
            </a:r>
            <a:br>
              <a:rPr lang="en-US" sz="1300" b="1" dirty="0">
                <a:solidFill>
                  <a:schemeClr val="accent2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</a:br>
            <a:endParaRPr lang="en-US" sz="1300" b="1" dirty="0">
              <a:solidFill>
                <a:schemeClr val="accent2"/>
              </a:solidFill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60D394-202D-7CA0-7954-FE80CADA76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Восстановление по журналу отмены с ДКТ. Пример 2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270DE02E-FC9D-CF80-2D68-A646818891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  <p:sp>
        <p:nvSpPr>
          <p:cNvPr id="6" name="Стрелка вверх 6">
            <a:extLst>
              <a:ext uri="{FF2B5EF4-FFF2-40B4-BE49-F238E27FC236}">
                <a16:creationId xmlns:a16="http://schemas.microsoft.com/office/drawing/2014/main" id="{109E681D-F69B-0CAC-D24E-2670EAC88901}"/>
              </a:ext>
            </a:extLst>
          </p:cNvPr>
          <p:cNvSpPr/>
          <p:nvPr/>
        </p:nvSpPr>
        <p:spPr>
          <a:xfrm>
            <a:off x="102235" y="2355726"/>
            <a:ext cx="297180" cy="1440160"/>
          </a:xfrm>
          <a:prstGeom prst="up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24757953-7A26-71A7-4F1F-64D58B62069C}"/>
              </a:ext>
            </a:extLst>
          </p:cNvPr>
          <p:cNvSpPr txBox="1">
            <a:spLocks/>
          </p:cNvSpPr>
          <p:nvPr/>
        </p:nvSpPr>
        <p:spPr>
          <a:xfrm>
            <a:off x="2411760" y="1801812"/>
            <a:ext cx="6481415" cy="2714154"/>
          </a:xfrm>
          <a:prstGeom prst="rect">
            <a:avLst/>
          </a:prstGeom>
        </p:spPr>
        <p:txBody>
          <a:bodyPr vert="horz" lIns="91440" tIns="45720" rIns="91440" bIns="45720" numCol="1" spcCol="180000" rtlCol="0">
            <a:normAutofit/>
          </a:bodyPr>
          <a:lstStyle>
            <a:lvl1pPr marL="342900" indent="-3429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Blip>
                <a:blip r:embed="rId3"/>
              </a:buBlip>
              <a:defRPr sz="20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8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6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Tx/>
              <a:buBlip>
                <a:blip r:embed="rId3"/>
              </a:buBlip>
              <a:defRPr sz="1400" kern="1200">
                <a:solidFill>
                  <a:schemeClr val="tx1"/>
                </a:solidFill>
                <a:latin typeface="Acrom" panose="00000500000000000000" pitchFamily="50" charset="-52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300" dirty="0"/>
              <a:t>Сканируя журнал обнаруживаем, что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300" b="1" dirty="0">
                <a:solidFill>
                  <a:schemeClr val="accent2"/>
                </a:solidFill>
              </a:rPr>
              <a:t>Т</a:t>
            </a:r>
            <a:r>
              <a:rPr lang="ru-RU" sz="1300" b="1" baseline="-25000" dirty="0">
                <a:solidFill>
                  <a:schemeClr val="accent2"/>
                </a:solidFill>
              </a:rPr>
              <a:t>3</a:t>
            </a:r>
            <a:r>
              <a:rPr lang="ru-RU" sz="1300" dirty="0"/>
              <a:t> не завершена и подлежит отмене. </a:t>
            </a:r>
            <a:r>
              <a:rPr lang="ru-RU" sz="1300" dirty="0">
                <a:solidFill>
                  <a:schemeClr val="accent2"/>
                </a:solidFill>
              </a:rPr>
              <a:t>Записываем 25 в </a:t>
            </a:r>
            <a:r>
              <a:rPr lang="en-US" sz="1300" dirty="0">
                <a:solidFill>
                  <a:schemeClr val="accent2"/>
                </a:solidFill>
              </a:rPr>
              <a:t>E</a:t>
            </a:r>
            <a:r>
              <a:rPr lang="ru-RU" sz="1300" dirty="0"/>
              <a:t>.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300" dirty="0"/>
              <a:t>Вычёркиваем </a:t>
            </a:r>
            <a:r>
              <a:rPr lang="en-US" sz="1300" b="1" dirty="0">
                <a:solidFill>
                  <a:srgbClr val="00B050"/>
                </a:solidFill>
              </a:rPr>
              <a:t>T</a:t>
            </a:r>
            <a:r>
              <a:rPr lang="ru-RU" sz="1300" b="1" baseline="-25000" dirty="0">
                <a:solidFill>
                  <a:srgbClr val="00B050"/>
                </a:solidFill>
              </a:rPr>
              <a:t>1</a:t>
            </a:r>
            <a:r>
              <a:rPr lang="en-US" sz="1300" dirty="0"/>
              <a:t> </a:t>
            </a:r>
            <a:r>
              <a:rPr lang="ru-RU" sz="1300" dirty="0"/>
              <a:t>из списка транзакций для отмены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300" b="1" dirty="0">
                <a:solidFill>
                  <a:schemeClr val="accent1"/>
                </a:solidFill>
              </a:rPr>
              <a:t>Т</a:t>
            </a:r>
            <a:r>
              <a:rPr lang="ru-RU" sz="1300" b="1" baseline="-25000" dirty="0">
                <a:solidFill>
                  <a:schemeClr val="accent1"/>
                </a:solidFill>
              </a:rPr>
              <a:t>2</a:t>
            </a:r>
            <a:r>
              <a:rPr lang="ru-RU" sz="1300" dirty="0"/>
              <a:t> не завершена и подлежит отмене. </a:t>
            </a:r>
            <a:r>
              <a:rPr lang="ru-RU" sz="1300" dirty="0">
                <a:solidFill>
                  <a:schemeClr val="accent1"/>
                </a:solidFill>
              </a:rPr>
              <a:t>Записываем 15 в </a:t>
            </a:r>
            <a:r>
              <a:rPr lang="en-US" sz="1300" dirty="0">
                <a:solidFill>
                  <a:schemeClr val="accent1"/>
                </a:solidFill>
              </a:rPr>
              <a:t>C</a:t>
            </a:r>
            <a:endParaRPr lang="ru-RU" sz="13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300" dirty="0"/>
              <a:t>Так как первая встретившаяся запись ДКТ - </a:t>
            </a:r>
            <a:r>
              <a:rPr lang="en-US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CKPT(T</a:t>
            </a:r>
            <a:r>
              <a:rPr lang="ru-RU" sz="13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1</a:t>
            </a:r>
            <a:r>
              <a:rPr lang="ru-RU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, </a:t>
            </a:r>
            <a:r>
              <a:rPr lang="en-US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</a:t>
            </a:r>
            <a:r>
              <a:rPr lang="ru-RU" sz="1300" b="1" baseline="-25000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rgbClr val="7030A0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)&gt;</a:t>
            </a:r>
            <a:r>
              <a:rPr lang="ru-RU" sz="1300" dirty="0"/>
              <a:t>, то анализировать нужно только </a:t>
            </a:r>
            <a:r>
              <a:rPr lang="en-US" sz="1300" b="1" dirty="0">
                <a:solidFill>
                  <a:srgbClr val="00B050"/>
                </a:solidFill>
              </a:rPr>
              <a:t>T</a:t>
            </a:r>
            <a:r>
              <a:rPr lang="ru-RU" sz="1300" b="1" baseline="-25000" dirty="0">
                <a:solidFill>
                  <a:srgbClr val="00B050"/>
                </a:solidFill>
              </a:rPr>
              <a:t>1  </a:t>
            </a:r>
            <a:r>
              <a:rPr lang="ru-RU" sz="1300" dirty="0"/>
              <a:t>и </a:t>
            </a:r>
            <a:r>
              <a:rPr lang="ru-RU" sz="1300" b="1" dirty="0">
                <a:solidFill>
                  <a:schemeClr val="accent1"/>
                </a:solidFill>
              </a:rPr>
              <a:t>Т</a:t>
            </a:r>
            <a:r>
              <a:rPr lang="ru-RU" sz="1300" b="1" baseline="-25000" dirty="0">
                <a:solidFill>
                  <a:schemeClr val="accent1"/>
                </a:solidFill>
              </a:rPr>
              <a:t>2</a:t>
            </a:r>
            <a:r>
              <a:rPr lang="ru-RU" sz="1300" dirty="0">
                <a:latin typeface="+mn-lt"/>
                <a:cs typeface="Cascadia Code SemiBold" panose="020B0609020000020004" pitchFamily="49" charset="0"/>
              </a:rPr>
              <a:t>. Первая из них завершена, так что с</a:t>
            </a:r>
            <a:r>
              <a:rPr lang="ru-RU" sz="1300" dirty="0"/>
              <a:t>канируем до 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3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endParaRPr lang="ru-RU" sz="1300" dirty="0">
              <a:latin typeface="Cascadia Code SemiBold" panose="020B0609020000020004" pitchFamily="49" charset="0"/>
              <a:cs typeface="Cascadia Code SemiBold" panose="020B06090200000200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300" dirty="0">
                <a:solidFill>
                  <a:schemeClr val="accent1"/>
                </a:solidFill>
              </a:rPr>
              <a:t>Записываем 10 в </a:t>
            </a:r>
            <a:r>
              <a:rPr lang="en-US" sz="1300" dirty="0">
                <a:solidFill>
                  <a:schemeClr val="accent1"/>
                </a:solidFill>
              </a:rPr>
              <a:t>B</a:t>
            </a:r>
            <a:endParaRPr lang="ru-RU" sz="1300" dirty="0">
              <a:solidFill>
                <a:schemeClr val="accent1"/>
              </a:solidFill>
            </a:endParaRP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ru-RU" sz="1300" dirty="0"/>
              <a:t>Обнаруживаем</a:t>
            </a:r>
            <a:r>
              <a:rPr lang="en-US" sz="1300" dirty="0"/>
              <a:t> 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</a:t>
            </a:r>
            <a:r>
              <a:rPr lang="en-US" sz="1300" b="1" baseline="-25000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2</a:t>
            </a:r>
            <a:r>
              <a:rPr lang="en-US" sz="1300" b="1" dirty="0">
                <a:solidFill>
                  <a:schemeClr val="accent1"/>
                </a:solidFill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&gt;</a:t>
            </a:r>
            <a:r>
              <a:rPr lang="en-US" sz="1300" dirty="0"/>
              <a:t>,</a:t>
            </a:r>
            <a:r>
              <a:rPr lang="ru-RU" sz="1300" dirty="0"/>
              <a:t> на этом восстановление завершено</a:t>
            </a:r>
          </a:p>
        </p:txBody>
      </p:sp>
    </p:spTree>
    <p:extLst>
      <p:ext uri="{BB962C8B-B14F-4D97-AF65-F5344CB8AC3E}">
        <p14:creationId xmlns:p14="http://schemas.microsoft.com/office/powerpoint/2010/main" val="37499945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6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ACF766-531D-939E-D0D3-0AC1D1772A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C0F744A-3B43-DCBF-FD07-AE75CB3676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28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D654AD-6D66-19DF-3258-85EF4D98AFF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2">
            <a:noAutofit/>
          </a:bodyPr>
          <a:lstStyle/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Правило </a:t>
            </a:r>
            <a:r>
              <a:rPr lang="en-US" sz="1100" b="1" dirty="0"/>
              <a:t>U2</a:t>
            </a:r>
            <a:r>
              <a:rPr lang="en-US" sz="1100" dirty="0"/>
              <a:t> </a:t>
            </a:r>
            <a:r>
              <a:rPr lang="ru-RU" sz="1100" dirty="0"/>
              <a:t>создаёт значительную нагрузку на устройство вывода в момент фиксации транзакции. Это ограничение можно обойти при использовании журнала повтора.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Записи протокола: 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&lt;START T&gt; </a:t>
            </a:r>
            <a:r>
              <a:rPr lang="ru-RU" sz="1000" dirty="0"/>
              <a:t>– выполнение транзакции Т начато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 </a:t>
            </a:r>
            <a:r>
              <a:rPr lang="ru-RU" sz="1000" dirty="0"/>
              <a:t>– транзакция Т успешно завершена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&lt;ABORT T&gt; </a:t>
            </a:r>
            <a:r>
              <a:rPr lang="ru-RU" sz="1000" dirty="0"/>
              <a:t> – выполнение транзакции Т преждевременно остановлено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</a:t>
            </a:r>
            <a:r>
              <a:rPr lang="en-US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</a:t>
            </a:r>
            <a:r>
              <a:rPr lang="ru-RU" sz="1000" dirty="0"/>
              <a:t>– транзакция Т сохранила </a:t>
            </a:r>
            <a:r>
              <a:rPr lang="ru-RU" sz="1000" b="1" dirty="0"/>
              <a:t>новое</a:t>
            </a:r>
            <a:r>
              <a:rPr lang="ru-RU" sz="1000" dirty="0"/>
              <a:t> значение </a:t>
            </a:r>
            <a:r>
              <a:rPr lang="ru-RU" sz="1000" b="1" dirty="0"/>
              <a:t>v</a:t>
            </a:r>
            <a:r>
              <a:rPr lang="ru-RU" sz="1000" dirty="0"/>
              <a:t> в элемент базы данных Х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endParaRPr lang="ru-RU" sz="1000" dirty="0"/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endParaRPr lang="ru-RU" sz="1000" dirty="0"/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endParaRPr lang="ru-RU" sz="1000" dirty="0"/>
          </a:p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Менеджер буферов обязан выполнять одно правило </a:t>
            </a:r>
            <a:r>
              <a:rPr lang="en-US" sz="1100" dirty="0"/>
              <a:t>R1: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/>
              <a:t>Прежде</a:t>
            </a:r>
            <a:r>
              <a:rPr lang="en-US" sz="1000" dirty="0"/>
              <a:t>,</a:t>
            </a:r>
            <a:r>
              <a:rPr lang="ru-RU" sz="1000" dirty="0"/>
              <a:t> чем транзакция Т сможет модифицировать элемент Х базы данных на диске, необходимо внести в копию протокола на диске </a:t>
            </a:r>
            <a:r>
              <a:rPr lang="ru-RU" sz="1000" b="1" dirty="0"/>
              <a:t>все записи</a:t>
            </a:r>
            <a:r>
              <a:rPr lang="ru-RU" sz="1000" dirty="0"/>
              <a:t>, имеющие отношение к операции модификации Х: </a:t>
            </a:r>
          </a:p>
          <a:p>
            <a:pPr marL="358775" lvl="1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1000" dirty="0"/>
              <a:t>записи </a:t>
            </a: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</a:t>
            </a:r>
            <a:r>
              <a:rPr lang="ru-RU" sz="1000" dirty="0"/>
              <a:t> и запись фиксации </a:t>
            </a: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 </a:t>
            </a:r>
            <a:r>
              <a:rPr lang="ru-RU" sz="1000" dirty="0"/>
              <a:t>.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Таким образом, информация, имеющая отношение к действиям в рамках одной транзакции должна сохраняться на диске в следующем порядке: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/>
              <a:t>Записи обновления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/>
              <a:t>Запись </a:t>
            </a:r>
            <a:r>
              <a:rPr lang="ru-RU" sz="10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 </a:t>
            </a:r>
            <a:endParaRPr lang="ru-RU" sz="1000" dirty="0"/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000" dirty="0"/>
              <a:t>Модифицированные значения элементов базы данных как таковые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6C6E8A-5DFF-0A85-E634-B6434749D69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повтора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08F82B6-3B9D-7879-30B1-5F56DC973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19986294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47F0E4-628C-B2F6-C71F-5D3C4942A5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D9B4B3E-022F-F83B-2A2D-0E122D201C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29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F0179D-0322-DF21-7427-352CF238018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повтора. Пример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420AB68-EF77-2845-4EC6-059A7D3E2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  <p:graphicFrame>
        <p:nvGraphicFramePr>
          <p:cNvPr id="6" name="Таблица 1">
            <a:extLst>
              <a:ext uri="{FF2B5EF4-FFF2-40B4-BE49-F238E27FC236}">
                <a16:creationId xmlns:a16="http://schemas.microsoft.com/office/drawing/2014/main" id="{143506A0-132F-778D-0C36-FC70A046766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175806"/>
              </p:ext>
            </p:extLst>
          </p:nvPr>
        </p:nvGraphicFramePr>
        <p:xfrm>
          <a:off x="395536" y="1714951"/>
          <a:ext cx="7461524" cy="285096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1622">
                  <a:extLst>
                    <a:ext uri="{9D8B030D-6E8A-4147-A177-3AD203B41FA5}">
                      <a16:colId xmlns:a16="http://schemas.microsoft.com/office/drawing/2014/main" val="330293268"/>
                    </a:ext>
                  </a:extLst>
                </a:gridCol>
                <a:gridCol w="1175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178982472"/>
                    </a:ext>
                  </a:extLst>
                </a:gridCol>
              </a:tblGrid>
              <a:tr h="125981"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№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Операция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в</a:t>
                      </a:r>
                      <a:r>
                        <a:rPr lang="ru-RU" sz="1100" b="1" baseline="0" dirty="0">
                          <a:latin typeface="Aptos Narrow" panose="020B0004020202020204" pitchFamily="34" charset="0"/>
                        </a:rPr>
                        <a:t> памяти Т</a:t>
                      </a:r>
                      <a:endParaRPr lang="ru-RU" sz="1100" b="1" i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в буфере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</a:t>
                      </a:r>
                      <a:r>
                        <a:rPr lang="ru-RU" sz="1100" b="1" dirty="0" err="1">
                          <a:latin typeface="Aptos Narrow" panose="020B0004020202020204" pitchFamily="34" charset="0"/>
                        </a:rPr>
                        <a:t>в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буфере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на диске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на диске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Протокол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&lt;START T&gt;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571371635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&lt;UPDATE T,A,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&lt;UPDATE T,B,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16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&lt;COMMIT T&gt;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216099440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FLUSH LOG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722531356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>
                          <a:latin typeface="Aptos Narrow" panose="020B0004020202020204" pitchFamily="34" charset="0"/>
                        </a:rPr>
                        <a:t>12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13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3077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89658-F047-EB1C-0901-304DED1A6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B940F79-2C00-EA10-76D1-5455B32924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30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E1E639D-C693-0157-B256-B2422E8E40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2" spcCol="180000">
            <a:normAutofit/>
          </a:bodyPr>
          <a:lstStyle/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Важное следствие правила R1 (REDO) состоит в следующем: </a:t>
            </a:r>
            <a:br>
              <a:rPr lang="ru-RU" sz="1200" dirty="0"/>
            </a:br>
            <a:r>
              <a:rPr lang="ru-RU" sz="1200" dirty="0"/>
              <a:t>можно с уверенностью сказать, что никакие изменения, внесенные Т, не сохранены на диск, пока в журнал не записано 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sz="1200" dirty="0"/>
              <a:t>,.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В ходе восстановления БД в режиме повтора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незавершенные транзакции трактуются как и не существовавшие вовсе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для завершенных транзакций новые значения затронутых транзакцией элементов воссоздаются на диске, независимо от того, делалось ли это прежде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endParaRPr lang="en-US" sz="1200" dirty="0"/>
          </a:p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Для восстановления данных с помощью журнала повтора нужно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Идентифицировать все зафиксированные транзакции</a:t>
            </a:r>
          </a:p>
          <a:p>
            <a:pPr marL="358775" lvl="1" indent="-176213">
              <a:lnSpc>
                <a:spcPct val="100000"/>
              </a:lnSpc>
              <a:spcBef>
                <a:spcPts val="600"/>
              </a:spcBef>
            </a:pPr>
            <a:r>
              <a:rPr lang="ru-RU" sz="1100" dirty="0"/>
              <a:t>Сканировать протокол от начала к концу. Встречая  очередную запись </a:t>
            </a:r>
            <a:r>
              <a:rPr 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sz="11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v&gt;</a:t>
            </a:r>
            <a:r>
              <a:rPr lang="ru-RU" sz="1100" dirty="0"/>
              <a:t> :</a:t>
            </a:r>
          </a:p>
          <a:p>
            <a:pPr marL="541338" lvl="2" indent="-182563">
              <a:lnSpc>
                <a:spcPct val="100000"/>
              </a:lnSpc>
              <a:spcBef>
                <a:spcPts val="600"/>
              </a:spcBef>
            </a:pPr>
            <a:r>
              <a:rPr lang="ru-RU" sz="1050" dirty="0"/>
              <a:t>игнорировать ее, если Т  является незавершенной транзакцией</a:t>
            </a:r>
          </a:p>
          <a:p>
            <a:pPr marL="541338" lvl="2" indent="-182563">
              <a:lnSpc>
                <a:spcPct val="100000"/>
              </a:lnSpc>
              <a:spcBef>
                <a:spcPts val="600"/>
              </a:spcBef>
            </a:pPr>
            <a:r>
              <a:rPr lang="ru-RU" sz="1050" dirty="0"/>
              <a:t>сохранять на диске значение v элемента Х, если Т завершена</a:t>
            </a:r>
          </a:p>
          <a:p>
            <a:pPr marL="182563" indent="-182563">
              <a:lnSpc>
                <a:spcPct val="100000"/>
              </a:lnSpc>
              <a:spcBef>
                <a:spcPts val="600"/>
              </a:spcBef>
            </a:pPr>
            <a:r>
              <a:rPr lang="ru-RU" sz="1200" dirty="0"/>
              <a:t>Для каждой незафиксированной транзакции Т сохранить в журнале запись 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&lt;ABORT T&gt;</a:t>
            </a:r>
            <a:r>
              <a:rPr lang="ru-RU" sz="1200" dirty="0"/>
              <a:t> и выполнить команду </a:t>
            </a:r>
            <a:r>
              <a:rPr lang="ru-RU" sz="12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&lt;FLUSH LOG&gt;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508145B-41A0-4E52-56E4-F0157BA017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повтора. восстановление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1A7C1704-CFFD-AF9E-2A21-BE191CAB9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34539068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83ECEC-4407-7E93-2940-4C64474771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B4F2021-F089-FFF1-606E-F468426B0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31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2ACB57-9687-756D-8E36-1D06E47AAC9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1" spcCol="180000">
            <a:normAutofit fontScale="85000" lnSpcReduction="10000"/>
          </a:bodyPr>
          <a:lstStyle/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Режим «UNDO» (отмена) требует, чтобы измененные данные сохранялись на диске непосредственно в момент завершения транзакции, что может вызвать задержку операции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Режим «REDO» (повтор) предполагает удержание модифицированных блоков в буферах до фиксации транзакции (</a:t>
            </a:r>
            <a:r>
              <a:rPr lang="ru-RU" sz="1800" dirty="0" err="1"/>
              <a:t>commit</a:t>
            </a:r>
            <a:r>
              <a:rPr lang="ru-RU" sz="1800" dirty="0"/>
              <a:t>), что может вызвать увеличение потребности в оперативной памяти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Журнал </a:t>
            </a:r>
            <a:r>
              <a:rPr lang="ru-RU" sz="1800" b="1" dirty="0"/>
              <a:t>повтора/отмены</a:t>
            </a:r>
            <a:r>
              <a:rPr lang="ru-RU" sz="1800" dirty="0"/>
              <a:t> одновременно содержит информацию для повтора и для отмены изменений</a:t>
            </a:r>
            <a:endParaRPr lang="en-US" sz="1800" dirty="0"/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Синонимы: </a:t>
            </a:r>
            <a:r>
              <a:rPr lang="en-US" sz="1800" dirty="0"/>
              <a:t>Write-ahead logging (</a:t>
            </a:r>
            <a:r>
              <a:rPr lang="en-US" sz="1800" b="1" dirty="0"/>
              <a:t>WAL</a:t>
            </a:r>
            <a:r>
              <a:rPr lang="en-US" sz="1800" dirty="0"/>
              <a:t>), Algorithms for Recovery and Isolation Exploiting Semantics (</a:t>
            </a:r>
            <a:r>
              <a:rPr lang="en-US" sz="1800" b="1" dirty="0"/>
              <a:t>ARIES</a:t>
            </a:r>
            <a:r>
              <a:rPr lang="en-US" sz="1800" dirty="0"/>
              <a:t>)</a:t>
            </a:r>
            <a:endParaRPr lang="ru-RU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D230A9-77A3-DECF-5423-2493C15757AD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повтора/ОТМЕНЫ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AFAB32-CAB2-978C-FF39-8440675029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761667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FEDBE8-1498-CBD2-C271-8EBB6DEBA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25290B5D-4F8C-8B6C-8BB4-E11F2D752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32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851AFD-F258-EF3E-7115-0325B665A5E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1" spcCol="180000">
            <a:normAutofit fontScale="85000" lnSpcReduction="10000"/>
          </a:bodyPr>
          <a:lstStyle/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Записи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v, w&gt;</a:t>
            </a:r>
            <a:r>
              <a:rPr lang="en-US" sz="1800" dirty="0"/>
              <a:t> </a:t>
            </a:r>
            <a:r>
              <a:rPr lang="ru-RU" sz="1800" dirty="0"/>
              <a:t>– Т изменила прежнее значение </a:t>
            </a:r>
            <a:r>
              <a:rPr lang="ru-RU" sz="1800" b="1" dirty="0"/>
              <a:t>v</a:t>
            </a:r>
            <a:r>
              <a:rPr lang="ru-RU" sz="1800" dirty="0"/>
              <a:t> элемента базы данных </a:t>
            </a:r>
            <a:r>
              <a:rPr lang="ru-RU" sz="1800" b="1" dirty="0"/>
              <a:t>Х</a:t>
            </a:r>
            <a:r>
              <a:rPr lang="ru-RU" sz="1800" dirty="0"/>
              <a:t> на новое </a:t>
            </a:r>
            <a:r>
              <a:rPr lang="ru-RU" sz="1800" b="1" dirty="0"/>
              <a:t>w</a:t>
            </a:r>
            <a:r>
              <a:rPr lang="ru-RU" sz="1800" dirty="0"/>
              <a:t>.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Правило </a:t>
            </a:r>
            <a:r>
              <a:rPr lang="ru-RU" sz="1800" b="1" dirty="0"/>
              <a:t>UR1</a:t>
            </a:r>
            <a:r>
              <a:rPr lang="ru-RU" sz="1800" dirty="0"/>
              <a:t>: прежде чем транзакция Т сможет модифицировать элемент базы данных Х  на диске , необходимо внести в копию протокола на диске соответствующую запись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T, X, v, w&gt;</a:t>
            </a:r>
            <a:r>
              <a:rPr lang="ru-RU" sz="1800" dirty="0"/>
              <a:t>. 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Правило UR1 поддерживает ограничения, действующие одновременно в режимах «REDO» и «UNDO».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Так</a:t>
            </a:r>
            <a:r>
              <a:rPr lang="en-US" sz="1800" dirty="0"/>
              <a:t>,</a:t>
            </a:r>
            <a:r>
              <a:rPr lang="ru-RU" sz="1800" dirty="0"/>
              <a:t> запись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T&gt;</a:t>
            </a:r>
            <a:r>
              <a:rPr lang="ru-RU" sz="1800" dirty="0"/>
              <a:t>  допускается включать в протокол</a:t>
            </a:r>
            <a:r>
              <a:rPr lang="en-US" sz="1800" dirty="0"/>
              <a:t> </a:t>
            </a:r>
            <a:r>
              <a:rPr lang="ru-RU" sz="1800" dirty="0"/>
              <a:t>как</a:t>
            </a:r>
            <a:br>
              <a:rPr lang="ru-RU" sz="1800" dirty="0"/>
            </a:br>
            <a:r>
              <a:rPr lang="ru-RU" sz="1800" b="1" dirty="0"/>
              <a:t>до,</a:t>
            </a:r>
            <a:r>
              <a:rPr lang="ru-RU" sz="1800" dirty="0"/>
              <a:t> так и </a:t>
            </a:r>
            <a:r>
              <a:rPr lang="ru-RU" sz="1800" b="1" dirty="0"/>
              <a:t>после</a:t>
            </a:r>
            <a:r>
              <a:rPr lang="ru-RU" sz="1800" dirty="0"/>
              <a:t> внесения изменений в содержимое элементов базы данных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ED5530-6FF4-CF11-A675-BEAD3AB5C64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повтора/ОТМЕНЫ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324A055-0812-4DCD-FC1A-8F8A1E803B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30465801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DE5F11-23DC-004E-9C6B-74C20D6070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8901E3C-51DC-CFCC-8EB2-6D4F35456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33</a:t>
            </a:fld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F7BB38-AEA4-7CB7-CBD9-9F1894A1510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Использование журнала повтора/отмены. Пример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60AE0FE6-3A68-C59B-20A2-0D6DBBF00F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  <p:graphicFrame>
        <p:nvGraphicFramePr>
          <p:cNvPr id="6" name="Таблица 1">
            <a:extLst>
              <a:ext uri="{FF2B5EF4-FFF2-40B4-BE49-F238E27FC236}">
                <a16:creationId xmlns:a16="http://schemas.microsoft.com/office/drawing/2014/main" id="{DBE6BB05-59BA-59B0-474D-F9B67A26B1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25497470"/>
              </p:ext>
            </p:extLst>
          </p:nvPr>
        </p:nvGraphicFramePr>
        <p:xfrm>
          <a:off x="395536" y="1714951"/>
          <a:ext cx="7461524" cy="30546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81622">
                  <a:extLst>
                    <a:ext uri="{9D8B030D-6E8A-4147-A177-3AD203B41FA5}">
                      <a16:colId xmlns:a16="http://schemas.microsoft.com/office/drawing/2014/main" val="330293268"/>
                    </a:ext>
                  </a:extLst>
                </a:gridCol>
                <a:gridCol w="11752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208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8152">
                  <a:extLst>
                    <a:ext uri="{9D8B030D-6E8A-4147-A177-3AD203B41FA5}">
                      <a16:colId xmlns:a16="http://schemas.microsoft.com/office/drawing/2014/main" val="3178982472"/>
                    </a:ext>
                  </a:extLst>
                </a:gridCol>
              </a:tblGrid>
              <a:tr h="125981"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№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Операция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в</a:t>
                      </a:r>
                      <a:r>
                        <a:rPr lang="ru-RU" sz="1100" b="1" baseline="0" dirty="0">
                          <a:latin typeface="Aptos Narrow" panose="020B0004020202020204" pitchFamily="34" charset="0"/>
                        </a:rPr>
                        <a:t> памяти Т</a:t>
                      </a:r>
                      <a:endParaRPr lang="ru-RU" sz="1100" b="1" i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в буфере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</a:t>
                      </a:r>
                      <a:r>
                        <a:rPr lang="ru-RU" sz="1100" b="1" dirty="0" err="1">
                          <a:latin typeface="Aptos Narrow" panose="020B0004020202020204" pitchFamily="34" charset="0"/>
                        </a:rPr>
                        <a:t>в</a:t>
                      </a: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 буфере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А на диске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В на диске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Протокол</a:t>
                      </a: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&lt;START T&gt;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571371635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INPUT(B)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6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WRITE(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А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&lt;UPDATE T,A,5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,10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7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READ(B,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8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:=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 t</a:t>
                      </a:r>
                      <a:r>
                        <a:rPr lang="en-US" sz="1100" b="0" baseline="0" dirty="0">
                          <a:latin typeface="Aptos Narrow" panose="020B0004020202020204" pitchFamily="34" charset="0"/>
                        </a:rPr>
                        <a:t> * 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2; 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>
                          <a:latin typeface="Aptos Narrow" panose="020B0004020202020204" pitchFamily="34" charset="0"/>
                        </a:rPr>
                        <a:t>5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9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WRITE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(B,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 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t)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5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&lt;UPDATE T,B,8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,16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10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FLUSH LOG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3722531356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OUTPUT(A)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1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8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2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&lt;COMMIT T&gt;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400543497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3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FLUSH LOG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55873947"/>
                  </a:ext>
                </a:extLst>
              </a:tr>
              <a:tr h="12598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</a:t>
                      </a:r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4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OUTPUT(B)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0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0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100" b="0" dirty="0">
                          <a:latin typeface="Aptos Narrow" panose="020B0004020202020204" pitchFamily="34" charset="0"/>
                        </a:rPr>
                        <a:t>10</a:t>
                      </a: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100" b="1" dirty="0">
                          <a:latin typeface="Aptos Narrow" panose="020B0004020202020204" pitchFamily="34" charset="0"/>
                        </a:rPr>
                        <a:t>16</a:t>
                      </a:r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tc>
                  <a:txBody>
                    <a:bodyPr/>
                    <a:lstStyle/>
                    <a:p>
                      <a:pPr algn="ctr"/>
                      <a:endParaRPr lang="ru-RU" sz="1100" b="1" dirty="0">
                        <a:latin typeface="Aptos Narrow" panose="020B0004020202020204" pitchFamily="34" charset="0"/>
                      </a:endParaRPr>
                    </a:p>
                  </a:txBody>
                  <a:tcPr marL="36000" marR="36000" marT="18000" marB="18000"/>
                </a:tc>
                <a:extLst>
                  <a:ext uri="{0D108BD9-81ED-4DB2-BD59-A6C34878D82A}">
                    <a16:rowId xmlns:a16="http://schemas.microsoft.com/office/drawing/2014/main" val="276888451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696881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6EEC1-D1CA-5881-1366-645932DE0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0F3709D-184A-61CD-1B47-3D5710D8CE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34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09292-BE46-0950-4A12-E4CA785E7C0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2" spcCol="180000">
            <a:normAutofit fontScale="92500" lnSpcReduction="10000"/>
          </a:bodyPr>
          <a:lstStyle/>
          <a:p>
            <a:pPr marL="361950" indent="-36195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Стратегия восстановления в режиме “</a:t>
            </a:r>
            <a:r>
              <a:rPr lang="ru-RU" sz="1800" dirty="0" err="1"/>
              <a:t>undo</a:t>
            </a:r>
            <a:r>
              <a:rPr lang="ru-RU" sz="1800" dirty="0"/>
              <a:t>/</a:t>
            </a:r>
            <a:r>
              <a:rPr lang="ru-RU" sz="1800" dirty="0" err="1"/>
              <a:t>redo</a:t>
            </a:r>
            <a:r>
              <a:rPr lang="ru-RU" sz="1800" dirty="0"/>
              <a:t>” состоит в следующем:</a:t>
            </a:r>
          </a:p>
          <a:p>
            <a:pPr marL="582613" lvl="1" indent="-182563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повторить операции всех зафиксированных транзакций в порядке от более ранних к более поздним;</a:t>
            </a:r>
          </a:p>
          <a:p>
            <a:pPr marL="582613" lvl="1" indent="-182563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отменить результаты всех незавершенных транзакций в обратном порядке</a:t>
            </a:r>
          </a:p>
          <a:p>
            <a:pPr marL="361950" indent="-36195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Обе группы операций одинаково важны</a:t>
            </a:r>
          </a:p>
          <a:p>
            <a:pPr marL="361950" indent="-361950">
              <a:lnSpc>
                <a:spcPct val="100000"/>
              </a:lnSpc>
              <a:spcBef>
                <a:spcPts val="600"/>
              </a:spcBef>
            </a:pPr>
            <a:r>
              <a:rPr lang="ru-RU" sz="1800" dirty="0"/>
              <a:t>Протокол разрешает гибкое изменение порядка взаимной очередности поступления на диск записей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&lt;COMMIT …&gt;</a:t>
            </a:r>
            <a:r>
              <a:rPr lang="ru-RU" sz="1800" dirty="0"/>
              <a:t>, поэтому могут быть:</a:t>
            </a:r>
          </a:p>
          <a:p>
            <a:pPr marL="582613" lvl="1" indent="-182563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ЗАФИКСИРОВАННЫЕ транзакции, у которых не все результаты отображены на ДИСК</a:t>
            </a:r>
          </a:p>
          <a:p>
            <a:pPr marL="582613" lvl="1" indent="-182563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НЕЗАВЕРШЕННЫЕ транзакции, у которых наоборот все изменения уже сохранены на ДИСК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14F43F-6290-A8E8-741E-456C114FCC2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Восстановление с журналом повтора/отмены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810F0E7D-3786-5D18-DF0A-96581866C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5222758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3C5A35-C418-9814-8A6C-673BE966E8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BE8BAE7F-6B3F-4A8E-5017-5CDE6BC57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35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E4060A-DBD3-48F0-1799-DDCFD27BD1B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880296"/>
          </a:xfrm>
        </p:spPr>
        <p:txBody>
          <a:bodyPr numCol="2" spcCol="180000">
            <a:normAutofit fontScale="70000" lnSpcReduction="20000"/>
          </a:bodyPr>
          <a:lstStyle/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Во время восстановления система может вновь выйти из строя. Возникает вопрос о корректности в этом случае процедур восстановления.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Оказывается, что процедуры восстановления в этом случае можно просто повторить.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Свойства всех протоколов таковы, что соответствующие процедуры восстановления идемпотентны, то есть их повторное применение приводит к тем же результатам, что и однократное выполнение.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Например, журнал отмены сохраняет предыдущие значения элементов данных 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Если журнал во время сбоя не пострадал, то процедуру восстановления можно повторить. </a:t>
            </a:r>
          </a:p>
          <a:p>
            <a:pPr marL="361950" indent="-361950">
              <a:lnSpc>
                <a:spcPct val="120000"/>
              </a:lnSpc>
              <a:spcBef>
                <a:spcPts val="600"/>
              </a:spcBef>
            </a:pPr>
            <a:r>
              <a:rPr lang="ru-RU" sz="1800" dirty="0"/>
              <a:t>По значению записи 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&lt;</a:t>
            </a:r>
            <a:r>
              <a:rPr lang="en-US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UPDATE</a:t>
            </a:r>
            <a:r>
              <a:rPr lang="ru-RU" sz="1800" dirty="0">
                <a:latin typeface="Cascadia Code SemiBold" panose="020B0609020000020004" pitchFamily="49" charset="0"/>
                <a:cs typeface="Cascadia Code SemiBold" panose="020B0609020000020004" pitchFamily="49" charset="0"/>
              </a:rPr>
              <a:t> T, X, v&gt;</a:t>
            </a:r>
            <a:r>
              <a:rPr lang="ru-RU" sz="1800" dirty="0"/>
              <a:t> в протоколе менеджер восстановления вправе присвоить элементу Х значение v, не принимая во внимание, что Х уже содержит это значение.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8E8C71-F5FC-E0A7-4006-DEE58D986F1E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Отказы во время восстановления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9E096DAF-427D-56D9-8E68-8FAF74717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2539918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E7CE6F-19D3-F672-0FCA-A22A7CD8B2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9C18CA9E-6404-8E20-F705-B38BCDF27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396659" y="4682108"/>
            <a:ext cx="393193" cy="313944"/>
          </a:xfrm>
        </p:spPr>
        <p:txBody>
          <a:bodyPr/>
          <a:lstStyle/>
          <a:p>
            <a:fld id="{C12E5AAC-331B-4A22-A01D-802D40030460}" type="slidenum">
              <a:rPr lang="en-US" smtClean="0"/>
              <a:pPr/>
              <a:t>36</a:t>
            </a:fld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640B161-87AC-734A-287B-1466082C514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50838" y="1801812"/>
            <a:ext cx="8542337" cy="2786162"/>
          </a:xfrm>
        </p:spPr>
        <p:txBody>
          <a:bodyPr numCol="2" spcCol="180000">
            <a:noAutofit/>
          </a:bodyPr>
          <a:lstStyle/>
          <a:p>
            <a:pPr marL="361950" indent="-361950">
              <a:lnSpc>
                <a:spcPct val="100000"/>
              </a:lnSpc>
              <a:spcBef>
                <a:spcPts val="600"/>
              </a:spcBef>
            </a:pPr>
            <a:r>
              <a:rPr lang="ru-RU" sz="1600" dirty="0"/>
              <a:t>Создание архивной копии большой БД может занимать длительное время. За это время в БД могут быть внесены изменения</a:t>
            </a:r>
          </a:p>
          <a:p>
            <a:pPr marL="361950" indent="-361950">
              <a:lnSpc>
                <a:spcPct val="100000"/>
              </a:lnSpc>
              <a:spcBef>
                <a:spcPts val="600"/>
              </a:spcBef>
            </a:pPr>
            <a:r>
              <a:rPr lang="ru-RU" sz="1600" dirty="0"/>
              <a:t>Варианты: 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Блокировать модификации данных на время архивирования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Воспользоваться журналом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endParaRPr lang="ru-RU" sz="1400" dirty="0"/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endParaRPr lang="ru-RU" sz="1400" dirty="0"/>
          </a:p>
          <a:p>
            <a:pPr marL="361950" indent="-361950">
              <a:lnSpc>
                <a:spcPct val="100000"/>
              </a:lnSpc>
              <a:spcBef>
                <a:spcPts val="600"/>
              </a:spcBef>
            </a:pPr>
            <a:r>
              <a:rPr lang="ru-RU" sz="1600" dirty="0"/>
              <a:t>Процедура: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Занести в журнал запись BEGIN DUMP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Выполнить процедуру КТ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Построить полный или инкрементальный архив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Добавить в архив порцию журнала вплоть до окончания контрольной точки</a:t>
            </a:r>
          </a:p>
          <a:p>
            <a:pPr marL="762000" lvl="1" indent="-361950">
              <a:lnSpc>
                <a:spcPct val="100000"/>
              </a:lnSpc>
              <a:spcBef>
                <a:spcPts val="600"/>
              </a:spcBef>
            </a:pPr>
            <a:r>
              <a:rPr lang="ru-RU" sz="1400" dirty="0"/>
              <a:t>Внести в журнал запись END DUMP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E177C-56F9-2BA5-4C22-39808D09E0AA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0837" y="1419225"/>
            <a:ext cx="8541643" cy="383169"/>
          </a:xfrm>
        </p:spPr>
        <p:txBody>
          <a:bodyPr>
            <a:normAutofit/>
          </a:bodyPr>
          <a:lstStyle/>
          <a:p>
            <a:r>
              <a:rPr lang="ru-RU" dirty="0"/>
              <a:t>Защита от катастроф: динамическое Архивирование</a:t>
            </a:r>
            <a:endParaRPr lang="en-US" dirty="0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C7CC3CA7-C2DE-ECE6-F6E2-F759D4D57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236" y="716531"/>
            <a:ext cx="8164114" cy="36933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Профилактика и устранение последствий системных отказов</a:t>
            </a:r>
          </a:p>
        </p:txBody>
      </p:sp>
    </p:spTree>
    <p:extLst>
      <p:ext uri="{BB962C8B-B14F-4D97-AF65-F5344CB8AC3E}">
        <p14:creationId xmlns:p14="http://schemas.microsoft.com/office/powerpoint/2010/main" val="1845805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 bldLvl="2"/>
    </p:bldLst>
  </p:timing>
</p:sld>
</file>

<file path=ppt/theme/theme1.xml><?xml version="1.0" encoding="utf-8"?>
<a:theme xmlns:a="http://schemas.openxmlformats.org/drawingml/2006/main" name="NSU Conten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SU Captions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NSU">
      <a:majorFont>
        <a:latin typeface="Acrom Bold"/>
        <a:ea typeface=""/>
        <a:cs typeface=""/>
      </a:majorFont>
      <a:minorFont>
        <a:latin typeface="Acro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18438</TotalTime>
  <Words>3930</Words>
  <Application>Microsoft Office PowerPoint</Application>
  <PresentationFormat>On-screen Show (16:9)</PresentationFormat>
  <Paragraphs>690</Paragraphs>
  <Slides>36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36</vt:i4>
      </vt:variant>
    </vt:vector>
  </HeadingPairs>
  <TitlesOfParts>
    <vt:vector size="47" baseType="lpstr">
      <vt:lpstr>Acrom</vt:lpstr>
      <vt:lpstr>Aptos Narrow</vt:lpstr>
      <vt:lpstr>Courier New</vt:lpstr>
      <vt:lpstr>Acrom ExtraBold</vt:lpstr>
      <vt:lpstr>Acrom Bold</vt:lpstr>
      <vt:lpstr>Cascadia Code SemiBold</vt:lpstr>
      <vt:lpstr>Arial</vt:lpstr>
      <vt:lpstr>Times New Roman</vt:lpstr>
      <vt:lpstr>Calibri</vt:lpstr>
      <vt:lpstr>NSU Content</vt:lpstr>
      <vt:lpstr>NSU Captions</vt:lpstr>
      <vt:lpstr>БАЗЫ ДАННЫХ</vt:lpstr>
      <vt:lpstr>PowerPoint Presentation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  <vt:lpstr>Профилактика и устранение последствий системных отказов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Master</dc:creator>
  <cp:lastModifiedBy>Anton Zlygostev</cp:lastModifiedBy>
  <cp:revision>900</cp:revision>
  <dcterms:created xsi:type="dcterms:W3CDTF">2016-08-15T04:55:12Z</dcterms:created>
  <dcterms:modified xsi:type="dcterms:W3CDTF">2025-05-05T17:52:08Z</dcterms:modified>
</cp:coreProperties>
</file>