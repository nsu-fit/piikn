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8"/>
  </p:notesMasterIdLst>
  <p:sldIdLst>
    <p:sldId id="514" r:id="rId3"/>
    <p:sldId id="524" r:id="rId4"/>
    <p:sldId id="526" r:id="rId5"/>
    <p:sldId id="527" r:id="rId6"/>
    <p:sldId id="528" r:id="rId7"/>
    <p:sldId id="529" r:id="rId8"/>
    <p:sldId id="530" r:id="rId9"/>
    <p:sldId id="531" r:id="rId10"/>
    <p:sldId id="532" r:id="rId11"/>
    <p:sldId id="533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41" r:id="rId20"/>
    <p:sldId id="542" r:id="rId21"/>
    <p:sldId id="543" r:id="rId22"/>
    <p:sldId id="544" r:id="rId23"/>
    <p:sldId id="545" r:id="rId24"/>
    <p:sldId id="546" r:id="rId25"/>
    <p:sldId id="547" r:id="rId26"/>
    <p:sldId id="548" r:id="rId27"/>
    <p:sldId id="549" r:id="rId28"/>
    <p:sldId id="550" r:id="rId29"/>
    <p:sldId id="551" r:id="rId30"/>
    <p:sldId id="552" r:id="rId31"/>
    <p:sldId id="553" r:id="rId32"/>
    <p:sldId id="554" r:id="rId33"/>
    <p:sldId id="555" r:id="rId34"/>
    <p:sldId id="556" r:id="rId35"/>
    <p:sldId id="557" r:id="rId36"/>
    <p:sldId id="558" r:id="rId37"/>
  </p:sldIdLst>
  <p:sldSz cx="9144000" cy="5143500" type="screen16x9"/>
  <p:notesSz cx="6858000" cy="9144000"/>
  <p:embeddedFontLst>
    <p:embeddedFont>
      <p:font typeface="Acrom" panose="020B0604020202020204" charset="-52"/>
      <p:regular r:id="rId39"/>
    </p:embeddedFont>
    <p:embeddedFont>
      <p:font typeface="Acrom Bold" panose="020B0604020202020204" charset="-52"/>
      <p:bold r:id="rId40"/>
    </p:embeddedFont>
    <p:embeddedFont>
      <p:font typeface="Acrom ExtraBold" panose="020B0604020202020204" charset="-52"/>
      <p:bold r:id="rId41"/>
    </p:embeddedFont>
    <p:embeddedFont>
      <p:font typeface="Aptos Narrow" panose="020B0004020202020204" pitchFamily="34" charset="0"/>
      <p:regular r:id="rId42"/>
      <p:bold r:id="rId43"/>
      <p:italic r:id="rId44"/>
      <p:boldItalic r:id="rId45"/>
    </p:embeddedFont>
    <p:embeddedFont>
      <p:font typeface="Cascadia Code SemiBold" panose="020B0609020000020004" pitchFamily="49" charset="0"/>
      <p:bold r:id="rId46"/>
      <p:boldItalic r:id="rId4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3300"/>
    <a:srgbClr val="000000"/>
    <a:srgbClr val="5B9BD5"/>
    <a:srgbClr val="70AD47"/>
    <a:srgbClr val="D2DEEF"/>
    <a:srgbClr val="EAEFF7"/>
    <a:srgbClr val="EBF1E9"/>
    <a:srgbClr val="D5E3CF"/>
    <a:srgbClr val="C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repeat"/>
          <m:brkBinSub m:val="+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3" autoAdjust="0"/>
    <p:restoredTop sz="94673" autoAdjust="0"/>
  </p:normalViewPr>
  <p:slideViewPr>
    <p:cSldViewPr>
      <p:cViewPr>
        <p:scale>
          <a:sx n="125" d="100"/>
          <a:sy n="125" d="100"/>
        </p:scale>
        <p:origin x="414" y="22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26.05.2025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02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2E25-D307-FC99-4433-8B50E038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7461C-A58C-43D3-6495-088BAA4AF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ECD73-CDC1-9685-8356-57CBB6B91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5B94B-0C61-1A41-B13D-CEAAA1A43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177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D7EB-C3A1-F8AF-528F-1F071979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20ECD-9B7D-A4C5-7702-8689DEC67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4DA31-F317-1204-EFBE-51164A051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5D950-0D32-5E19-1D14-BCD347F00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480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EAC2-1AA6-92EE-3E70-0BB6E0F33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B1F66-9FE4-0283-17CE-6486545C1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0D289-0DBE-E3B7-C1C7-55C2BC47B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3CDF-4C3B-342E-EB1F-C2FCD8702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89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9FF7-C198-7B25-D453-EF4DE37CE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AEF47-A8C6-A519-A13E-1F839EA9E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DB389-7430-78B1-6AAB-7304B75A8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F912F-ECE5-6B1B-E467-6195C5886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374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BEF5-2DEB-93A9-92A0-8E240DC4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F3341-63E8-E999-DE7E-451EB0D4A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CB72A-4EC4-4A5D-C512-B4E05D892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7CF21-00AA-4964-D712-271DF9E17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093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21DE4-F663-2C37-F320-BA81261A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96ABF-D169-29E8-B968-836B4149D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FD86C-E5DB-8607-005A-A7F090569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80C9F-D3E8-F9A9-D82F-ADD73EA28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49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DA53-D05A-D652-DB4F-0FC72A65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96BEF-D1AC-8292-F9BF-8498E2D7C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9E60D-8048-6E63-EB63-AEBEBE3DE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630FB-F711-31A4-79DD-3413EFD38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981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1A3C-F313-2609-ED5C-FC5EC194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C92D2-BDC2-4340-7420-DC76FC8B9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30B38-76BF-37E2-2CF3-F7CCDFE84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9A455-1643-C769-B8E6-D0A5B5E75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41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F417-BC2D-9D78-CE4E-05F9BC0D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88452-E2FC-B58A-89C3-597298F4E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0BA28-A335-9813-FD03-22E65C05D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86A28-1596-D86E-89B3-464187D72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18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C15D-7F49-74DC-50E1-752ED7A88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F5D17-2BEC-F689-CAE4-498490912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1DD48-A56C-083C-F2F2-964AF0E6E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9C29E-7F06-3B48-4B8F-96CCFFF8D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557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068C-7828-B9B2-9C22-07EA2116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A9A90-DD97-1594-CD76-EAC556476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09294-19B4-D729-78D6-FC13396FB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3C711-E282-4470-DE46-C948F20ED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554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7CB2-B495-7DA1-7353-405A3CA9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076A1-DD61-2F43-8F87-00BDC0ABE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A6701-D41A-D08E-0A1C-CA33D6CB7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4C3DE-AF48-2D5B-CA1C-77814C0D1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406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EBE4-3450-842C-60BE-9F4411ED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FBBC9-23F6-0B8F-2B70-332B8A01E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CEA45-E4EA-B0A4-2370-E5F008A86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F8417-FCA8-E790-2A8F-2F3C1721F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349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E8DF-E4FE-5FBC-EFEA-AFCE85A1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4B1DB-F7D5-991D-7B09-EB7964BDC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06E54-24C2-5755-BC22-59A8638CA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D6B59-F18D-AEA4-DDD7-4FB3A94D3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876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C7C9-3127-CA30-14FD-31FB25885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61DDA-C453-5DF3-09F7-D3A066942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902D1-EB65-9F9D-E5D5-8929E276C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2F0A-CD23-6744-0578-4D8344BE6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33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A4A2-7E02-2B49-2469-569F72C7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F65AA-C52C-D694-B906-2B505B65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9D229-21FC-821E-3D83-744AD9175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9983D-5E23-2068-0F8E-8D1C073FE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3154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F654-58DA-AF7E-2504-2212A138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E6A1E-4FC1-378B-2E9D-DB718F8F4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CE95E-863A-0E8B-308B-C6958B815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37CFE-2505-439C-418F-C545F025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037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4CA6-3CF0-9BB8-362D-F42C6931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AB7BB-BCBE-4C99-C042-DF4D0BB78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58358-27DB-11B6-D7E5-D9CA8E94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7AC9D-8C6C-1022-92BA-D2AAFAB1B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6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5065-2D3E-A7D4-C35C-1115D0BB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CB16C-1022-7F53-EA12-02E9E7C21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C0DBC-E7EC-9DFB-15F5-97CEDBD98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7CE74-76F8-D9A8-4B88-8FFD3DB29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925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B91A-B492-0E48-6337-7E98662A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48F64-C859-F237-D161-D5234D55C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11202-8BDB-4517-F010-C48A016BB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B1503-1E45-D468-2823-ED6776A0E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532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5886-3A65-3609-DF1B-325639B4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74ACA-3943-FA6B-0C0D-EFE569E3C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9241A-8DF1-3341-B418-20725988F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9F553-9659-F49E-0402-CB4C3DAA0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296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579C-05ED-9861-9DFA-F4D1D651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2543A-F5FD-4F44-020C-D188661EA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B14A5-B473-AFA9-DC0D-AE7113CDC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91563-5F0E-54F1-3CF8-83A1F01CB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923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DC407-E910-0BF8-1FE8-6367F184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348D0-733C-10F7-6FB6-B7AA98B35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0D046-A199-0AB1-E49A-6D09D5D1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71465-904F-0F4B-C40F-31D3AD1D1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3751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9C3B-41B9-7024-C1B7-4360C01C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ACBF6-414D-FC0C-CF84-FEED460BC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64CB6-8DA6-F573-5C3D-8E1C111AB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668EA-F837-0689-0EF6-608BD14DF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622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D075A-4DBF-40E7-7E82-F09E2F6A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FEE26-D339-661A-AFAF-E30B07B19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BE59C-64AB-D7EC-EFD9-4E9C4855B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BA153-F129-814B-EB80-7F8C43BAF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711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C3944-BC42-9778-C4C4-97361F8F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765EB-A878-84F3-375F-9E46F898E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0BA35-1268-3C66-117A-28A70E0B5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3F39C-E867-7A63-F3AC-83247A895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0085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74F1-6F9A-A9A5-59F0-AC28A787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1A0A6-7562-45EA-382B-18E85C156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304D-11E5-AE3F-264E-E7503493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BB69-CD6B-5904-350B-8FA5525A3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5043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480D-0DDC-D989-9C90-C39E54EA0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51EEC-1D63-34C0-6234-D49C1B616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77659-7834-C06C-1AB3-29CE13ADE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127B2-5365-1C4D-3188-6075EB745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5497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1BCD-4B6C-9A6B-6F26-13077A94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A25FA-1F40-4A2C-BD74-253F8EE92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D1196-8933-3624-CDC7-785E49E22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7B704-349F-085A-391F-1B7791402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826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A2D5-A405-32C3-4EAC-89CF597B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13E0D-F207-1E18-AD26-8AE98D2EE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8631D-BE0B-8327-B0C4-A902F04E7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5053F-4E66-5036-29C9-2831B3AEC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4088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D3C0-D68A-B504-38A4-2D784ED8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4FD62-757E-2A7F-A891-FA66190AF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07E2E-D4DD-3FDB-DA94-E9658B35D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AD98-9AE9-4B0F-4476-F773F29F3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1185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9631-B8EB-7738-2572-D9D0DDAB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5EF61-4BBF-93D1-E98A-39D8159B8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A6CD1-FA49-329B-4F05-B45102550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2FC60-5CDD-75CB-0C97-8371F1B53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94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26.05.2025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26.05.2025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26.05.2025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26.05.2025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>
                <a:solidFill>
                  <a:schemeClr val="bg1"/>
                </a:solidFill>
                <a:latin typeface="Acrom" pitchFamily="50" charset="-52"/>
              </a:rPr>
              <a:t>РОССИЯ, 630090, НОВОСИБИРСК, 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УЛ</a:t>
            </a:r>
            <a:r>
              <a:rPr lang="ru-RU" sz="1600">
                <a:solidFill>
                  <a:schemeClr val="bg1"/>
                </a:solidFill>
                <a:latin typeface="Acrom" pitchFamily="50" charset="-52"/>
              </a:rPr>
              <a:t>. ПИРОГОВА, 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26.05.2025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524667"/>
            <a:ext cx="4332104" cy="1423347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</a:t>
            </a:r>
            <a:br>
              <a:rPr lang="ru-RU" dirty="0"/>
            </a:br>
            <a:r>
              <a:rPr lang="ru-RU" dirty="0"/>
              <a:t>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dirty="0"/>
              <a:t>К. Дж. </a:t>
            </a:r>
            <a:r>
              <a:rPr lang="ru-RU" dirty="0" err="1"/>
              <a:t>Дейт</a:t>
            </a:r>
            <a:r>
              <a:rPr lang="ru-RU" dirty="0"/>
              <a:t>. </a:t>
            </a:r>
            <a:r>
              <a:rPr lang="ru-RU" b="1" dirty="0"/>
              <a:t>Введение в системы баз данных</a:t>
            </a:r>
            <a:r>
              <a:rPr lang="ru-RU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C1F3FF"/>
                </a:highlight>
              </a:rPr>
              <a:t>Глава 21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507D-5449-5BCC-9FCE-040831BB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BDF6E-7B66-7CE0-6FF4-5DE4C7B5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26736-BDDE-AFF2-3CA5-E6EF0BD34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Системы распределенных баз данных состоят из набора узлов, связанных сетью, в которой: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Каждый узел обладает своей </a:t>
            </a:r>
            <a:r>
              <a:rPr lang="ru-RU" u="sng" dirty="0"/>
              <a:t>собственной СУБД</a:t>
            </a:r>
            <a:endParaRPr lang="ru-RU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Узлы работают согласованно, так что пользователь может получить доступ к данным на любом узле, как будто они находятся на ЕГО узле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Таким образом, «распределенная база данных» – это тип виртуального объекта, части которого физически находятся в “реальных” базах данных на узлах сети.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Распределенная БД – фактически,  это логическая единица всех этих реальных БД </a:t>
            </a:r>
            <a:endParaRPr lang="ru-RU" alt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E3899-87E1-1F59-C9F6-7AE85DC9D4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Предварительные определения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1B5472-3844-5817-77E2-E1140EBF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30218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8E4E-07D1-2DB2-07D4-4FA504F7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D1FE5E-2F19-331B-423E-4C019CEC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0A3D0-354F-5A74-8A0D-AF2CB5139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A817C2-2EE1-C478-1603-83E9DD65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772615-433D-54AF-67C9-C328384D01B4}"/>
              </a:ext>
            </a:extLst>
          </p:cNvPr>
          <p:cNvSpPr txBox="1"/>
          <p:nvPr/>
        </p:nvSpPr>
        <p:spPr>
          <a:xfrm>
            <a:off x="1365612" y="2005290"/>
            <a:ext cx="1488773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050" b="1" dirty="0">
                <a:solidFill>
                  <a:srgbClr val="C00000"/>
                </a:solidFill>
              </a:rPr>
              <a:t>Кемерово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6642E-24A7-E684-D009-B50D77007228}"/>
              </a:ext>
            </a:extLst>
          </p:cNvPr>
          <p:cNvSpPr txBox="1"/>
          <p:nvPr/>
        </p:nvSpPr>
        <p:spPr>
          <a:xfrm>
            <a:off x="1423551" y="4433867"/>
            <a:ext cx="106021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050" b="1" dirty="0">
                <a:solidFill>
                  <a:srgbClr val="C00000"/>
                </a:solidFill>
              </a:rPr>
              <a:t>Томск</a:t>
            </a:r>
          </a:p>
        </p:txBody>
      </p:sp>
      <p:grpSp>
        <p:nvGrpSpPr>
          <p:cNvPr id="11" name="Группа 111">
            <a:extLst>
              <a:ext uri="{FF2B5EF4-FFF2-40B4-BE49-F238E27FC236}">
                <a16:creationId xmlns:a16="http://schemas.microsoft.com/office/drawing/2014/main" id="{E1D346FE-4C39-315F-2E58-234480533A40}"/>
              </a:ext>
            </a:extLst>
          </p:cNvPr>
          <p:cNvGrpSpPr/>
          <p:nvPr/>
        </p:nvGrpSpPr>
        <p:grpSpPr>
          <a:xfrm>
            <a:off x="358061" y="1834834"/>
            <a:ext cx="1977509" cy="1308486"/>
            <a:chOff x="861391" y="964428"/>
            <a:chExt cx="1742659" cy="2616972"/>
          </a:xfrm>
        </p:grpSpPr>
        <p:grpSp>
          <p:nvGrpSpPr>
            <p:cNvPr id="12" name="Группа 22">
              <a:extLst>
                <a:ext uri="{FF2B5EF4-FFF2-40B4-BE49-F238E27FC236}">
                  <a16:creationId xmlns:a16="http://schemas.microsoft.com/office/drawing/2014/main" id="{07A0487B-5663-7BC6-B426-690356AE15CF}"/>
                </a:ext>
              </a:extLst>
            </p:cNvPr>
            <p:cNvGrpSpPr/>
            <p:nvPr/>
          </p:nvGrpSpPr>
          <p:grpSpPr>
            <a:xfrm>
              <a:off x="2027581" y="1928191"/>
              <a:ext cx="576469" cy="1232452"/>
              <a:chOff x="1888435" y="1769165"/>
              <a:chExt cx="576469" cy="1232452"/>
            </a:xfrm>
          </p:grpSpPr>
          <p:sp>
            <p:nvSpPr>
              <p:cNvPr id="32" name="Прямоугольник 18">
                <a:extLst>
                  <a:ext uri="{FF2B5EF4-FFF2-40B4-BE49-F238E27FC236}">
                    <a16:creationId xmlns:a16="http://schemas.microsoft.com/office/drawing/2014/main" id="{334046EE-28E7-4A08-6C42-A66737E81BF6}"/>
                  </a:ext>
                </a:extLst>
              </p:cNvPr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33" name="Блок-схема: магнитный диск 19">
                <a:extLst>
                  <a:ext uri="{FF2B5EF4-FFF2-40B4-BE49-F238E27FC236}">
                    <a16:creationId xmlns:a16="http://schemas.microsoft.com/office/drawing/2014/main" id="{93D81758-C547-6515-3EE8-F9B0669FBB39}"/>
                  </a:ext>
                </a:extLst>
              </p:cNvPr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34" name="Прямая соединительная линия 21">
                <a:extLst>
                  <a:ext uri="{FF2B5EF4-FFF2-40B4-BE49-F238E27FC236}">
                    <a16:creationId xmlns:a16="http://schemas.microsoft.com/office/drawing/2014/main" id="{595FB056-5FC9-6344-EF4D-11722D9F94AB}"/>
                  </a:ext>
                </a:extLst>
              </p:cNvPr>
              <p:cNvCxnSpPr>
                <a:stCxn id="32" idx="2"/>
                <a:endCxn id="33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Группа 52">
              <a:extLst>
                <a:ext uri="{FF2B5EF4-FFF2-40B4-BE49-F238E27FC236}">
                  <a16:creationId xmlns:a16="http://schemas.microsoft.com/office/drawing/2014/main" id="{4A6B5749-CB5A-CCEF-D96B-9243771A6808}"/>
                </a:ext>
              </a:extLst>
            </p:cNvPr>
            <p:cNvGrpSpPr/>
            <p:nvPr/>
          </p:nvGrpSpPr>
          <p:grpSpPr>
            <a:xfrm>
              <a:off x="1146312" y="1461054"/>
              <a:ext cx="887895" cy="2007702"/>
              <a:chOff x="987287" y="1311965"/>
              <a:chExt cx="887895" cy="2007702"/>
            </a:xfrm>
          </p:grpSpPr>
          <p:sp>
            <p:nvSpPr>
              <p:cNvPr id="27" name="Минус 46">
                <a:extLst>
                  <a:ext uri="{FF2B5EF4-FFF2-40B4-BE49-F238E27FC236}">
                    <a16:creationId xmlns:a16="http://schemas.microsoft.com/office/drawing/2014/main" id="{8230FC2C-7BE5-0FC2-B6F4-9BDA83A36A5D}"/>
                  </a:ext>
                </a:extLst>
              </p:cNvPr>
              <p:cNvSpPr/>
              <p:nvPr/>
            </p:nvSpPr>
            <p:spPr>
              <a:xfrm>
                <a:off x="993913" y="1311965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28" name="Минус 47">
                <a:extLst>
                  <a:ext uri="{FF2B5EF4-FFF2-40B4-BE49-F238E27FC236}">
                    <a16:creationId xmlns:a16="http://schemas.microsoft.com/office/drawing/2014/main" id="{5F5AC555-E384-AA15-B64E-A621E2CB52A5}"/>
                  </a:ext>
                </a:extLst>
              </p:cNvPr>
              <p:cNvSpPr/>
              <p:nvPr/>
            </p:nvSpPr>
            <p:spPr>
              <a:xfrm>
                <a:off x="987287" y="2339008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29" name="Минус 48">
                <a:extLst>
                  <a:ext uri="{FF2B5EF4-FFF2-40B4-BE49-F238E27FC236}">
                    <a16:creationId xmlns:a16="http://schemas.microsoft.com/office/drawing/2014/main" id="{9845C1D2-BC44-2322-12D7-4CB131C38B2D}"/>
                  </a:ext>
                </a:extLst>
              </p:cNvPr>
              <p:cNvSpPr/>
              <p:nvPr/>
            </p:nvSpPr>
            <p:spPr>
              <a:xfrm>
                <a:off x="1000539" y="3273948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30" name="Прямая соединительная линия 50">
                <a:extLst>
                  <a:ext uri="{FF2B5EF4-FFF2-40B4-BE49-F238E27FC236}">
                    <a16:creationId xmlns:a16="http://schemas.microsoft.com/office/drawing/2014/main" id="{36C6304C-EE43-0FA0-2E07-3799D58292C2}"/>
                  </a:ext>
                </a:extLst>
              </p:cNvPr>
              <p:cNvCxnSpPr>
                <a:stCxn id="27" idx="0"/>
                <a:endCxn id="29" idx="0"/>
              </p:cNvCxnSpPr>
              <p:nvPr/>
            </p:nvCxnSpPr>
            <p:spPr>
              <a:xfrm>
                <a:off x="1407754" y="1334825"/>
                <a:ext cx="6626" cy="1961983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Минус 51">
                <a:extLst>
                  <a:ext uri="{FF2B5EF4-FFF2-40B4-BE49-F238E27FC236}">
                    <a16:creationId xmlns:a16="http://schemas.microsoft.com/office/drawing/2014/main" id="{82EF597B-7BBE-44A8-C0CD-165B252C00B2}"/>
                  </a:ext>
                </a:extLst>
              </p:cNvPr>
              <p:cNvSpPr/>
              <p:nvPr/>
            </p:nvSpPr>
            <p:spPr>
              <a:xfrm>
                <a:off x="1398104" y="2352260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</p:grpSp>
        <p:grpSp>
          <p:nvGrpSpPr>
            <p:cNvPr id="14" name="Группа 61">
              <a:extLst>
                <a:ext uri="{FF2B5EF4-FFF2-40B4-BE49-F238E27FC236}">
                  <a16:creationId xmlns:a16="http://schemas.microsoft.com/office/drawing/2014/main" id="{F9B991D7-DA11-2387-6694-0B743FE2E28F}"/>
                </a:ext>
              </a:extLst>
            </p:cNvPr>
            <p:cNvGrpSpPr/>
            <p:nvPr/>
          </p:nvGrpSpPr>
          <p:grpSpPr>
            <a:xfrm>
              <a:off x="861391" y="964428"/>
              <a:ext cx="443948" cy="2616972"/>
              <a:chOff x="708991" y="1133061"/>
              <a:chExt cx="443948" cy="2616972"/>
            </a:xfrm>
          </p:grpSpPr>
          <p:grpSp>
            <p:nvGrpSpPr>
              <p:cNvPr id="15" name="Группа 9">
                <a:extLst>
                  <a:ext uri="{FF2B5EF4-FFF2-40B4-BE49-F238E27FC236}">
                    <a16:creationId xmlns:a16="http://schemas.microsoft.com/office/drawing/2014/main" id="{96667C65-A7E4-6F42-FCAF-E84485DD01ED}"/>
                  </a:ext>
                </a:extLst>
              </p:cNvPr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24" name="Багетная рамка 71">
                  <a:extLst>
                    <a:ext uri="{FF2B5EF4-FFF2-40B4-BE49-F238E27FC236}">
                      <a16:creationId xmlns:a16="http://schemas.microsoft.com/office/drawing/2014/main" id="{69F5AA34-184A-244C-69B7-3794D9CE5E53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25" name="Прямоугольник 72">
                  <a:extLst>
                    <a:ext uri="{FF2B5EF4-FFF2-40B4-BE49-F238E27FC236}">
                      <a16:creationId xmlns:a16="http://schemas.microsoft.com/office/drawing/2014/main" id="{DB912B94-DE1F-421D-17AF-7F7F2FF1EC86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26" name="Прямоугольник 73">
                  <a:extLst>
                    <a:ext uri="{FF2B5EF4-FFF2-40B4-BE49-F238E27FC236}">
                      <a16:creationId xmlns:a16="http://schemas.microsoft.com/office/drawing/2014/main" id="{13B93D9E-6C02-100E-415A-2B7ED5E70E51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16" name="Группа 10">
                <a:extLst>
                  <a:ext uri="{FF2B5EF4-FFF2-40B4-BE49-F238E27FC236}">
                    <a16:creationId xmlns:a16="http://schemas.microsoft.com/office/drawing/2014/main" id="{B5D2FAE7-2587-D1BF-D99D-20F67B9F2A56}"/>
                  </a:ext>
                </a:extLst>
              </p:cNvPr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21" name="Багетная рамка 68">
                  <a:extLst>
                    <a:ext uri="{FF2B5EF4-FFF2-40B4-BE49-F238E27FC236}">
                      <a16:creationId xmlns:a16="http://schemas.microsoft.com/office/drawing/2014/main" id="{4068C94C-188B-5C6B-AE00-45B948889472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22" name="Прямоугольник 69">
                  <a:extLst>
                    <a:ext uri="{FF2B5EF4-FFF2-40B4-BE49-F238E27FC236}">
                      <a16:creationId xmlns:a16="http://schemas.microsoft.com/office/drawing/2014/main" id="{0279B101-90AA-2620-F14B-CE27CE69C83A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23" name="Прямоугольник 70">
                  <a:extLst>
                    <a:ext uri="{FF2B5EF4-FFF2-40B4-BE49-F238E27FC236}">
                      <a16:creationId xmlns:a16="http://schemas.microsoft.com/office/drawing/2014/main" id="{3A41FF2C-5F34-C71F-5389-7344B4C02A9E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17" name="Группа 14">
                <a:extLst>
                  <a:ext uri="{FF2B5EF4-FFF2-40B4-BE49-F238E27FC236}">
                    <a16:creationId xmlns:a16="http://schemas.microsoft.com/office/drawing/2014/main" id="{6A4D2097-A35D-47E7-59A0-5F5FEF8A9A49}"/>
                  </a:ext>
                </a:extLst>
              </p:cNvPr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18" name="Багетная рамка 65">
                  <a:extLst>
                    <a:ext uri="{FF2B5EF4-FFF2-40B4-BE49-F238E27FC236}">
                      <a16:creationId xmlns:a16="http://schemas.microsoft.com/office/drawing/2014/main" id="{9FECDC51-ACC2-CF21-81A8-E02F59ECE5DE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19" name="Прямоугольник 66">
                  <a:extLst>
                    <a:ext uri="{FF2B5EF4-FFF2-40B4-BE49-F238E27FC236}">
                      <a16:creationId xmlns:a16="http://schemas.microsoft.com/office/drawing/2014/main" id="{F9277E6E-11BD-4984-EABF-E191CD4318FE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20" name="Прямоугольник 67">
                  <a:extLst>
                    <a:ext uri="{FF2B5EF4-FFF2-40B4-BE49-F238E27FC236}">
                      <a16:creationId xmlns:a16="http://schemas.microsoft.com/office/drawing/2014/main" id="{67EEC92C-FF48-97FE-9D89-F4BA1D57217D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</p:grpSp>
      </p:grpSp>
      <p:grpSp>
        <p:nvGrpSpPr>
          <p:cNvPr id="35" name="Группа 85">
            <a:extLst>
              <a:ext uri="{FF2B5EF4-FFF2-40B4-BE49-F238E27FC236}">
                <a16:creationId xmlns:a16="http://schemas.microsoft.com/office/drawing/2014/main" id="{8CC5B45A-479C-E781-AA4B-0CAB638A5E36}"/>
              </a:ext>
            </a:extLst>
          </p:cNvPr>
          <p:cNvGrpSpPr/>
          <p:nvPr/>
        </p:nvGrpSpPr>
        <p:grpSpPr>
          <a:xfrm>
            <a:off x="6456007" y="3285946"/>
            <a:ext cx="1969995" cy="1308486"/>
            <a:chOff x="6771857" y="971052"/>
            <a:chExt cx="1736038" cy="2616972"/>
          </a:xfrm>
        </p:grpSpPr>
        <p:grpSp>
          <p:nvGrpSpPr>
            <p:cNvPr id="36" name="Группа 23">
              <a:extLst>
                <a:ext uri="{FF2B5EF4-FFF2-40B4-BE49-F238E27FC236}">
                  <a16:creationId xmlns:a16="http://schemas.microsoft.com/office/drawing/2014/main" id="{FB451532-ECDE-436E-13D5-210345FDE578}"/>
                </a:ext>
              </a:extLst>
            </p:cNvPr>
            <p:cNvGrpSpPr/>
            <p:nvPr/>
          </p:nvGrpSpPr>
          <p:grpSpPr>
            <a:xfrm>
              <a:off x="8063947" y="971052"/>
              <a:ext cx="443948" cy="2616972"/>
              <a:chOff x="708991" y="1133061"/>
              <a:chExt cx="443948" cy="2616972"/>
            </a:xfrm>
          </p:grpSpPr>
          <p:grpSp>
            <p:nvGrpSpPr>
              <p:cNvPr id="47" name="Группа 9">
                <a:extLst>
                  <a:ext uri="{FF2B5EF4-FFF2-40B4-BE49-F238E27FC236}">
                    <a16:creationId xmlns:a16="http://schemas.microsoft.com/office/drawing/2014/main" id="{87A35A22-9BAF-2B4B-7CBE-739FC2E091BE}"/>
                  </a:ext>
                </a:extLst>
              </p:cNvPr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56" name="Багетная рамка 6">
                  <a:extLst>
                    <a:ext uri="{FF2B5EF4-FFF2-40B4-BE49-F238E27FC236}">
                      <a16:creationId xmlns:a16="http://schemas.microsoft.com/office/drawing/2014/main" id="{12B009EE-1147-C2F3-E73A-A9377591B4F1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57" name="Прямоугольник 7">
                  <a:extLst>
                    <a:ext uri="{FF2B5EF4-FFF2-40B4-BE49-F238E27FC236}">
                      <a16:creationId xmlns:a16="http://schemas.microsoft.com/office/drawing/2014/main" id="{A8479E63-DC3F-1A00-B1B3-8DC0DCE73B6F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58" name="Прямоугольник 8">
                  <a:extLst>
                    <a:ext uri="{FF2B5EF4-FFF2-40B4-BE49-F238E27FC236}">
                      <a16:creationId xmlns:a16="http://schemas.microsoft.com/office/drawing/2014/main" id="{14AC16AC-CA83-8A13-3B0C-3B733A3F0655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48" name="Группа 10">
                <a:extLst>
                  <a:ext uri="{FF2B5EF4-FFF2-40B4-BE49-F238E27FC236}">
                    <a16:creationId xmlns:a16="http://schemas.microsoft.com/office/drawing/2014/main" id="{C3C8DB84-A412-910F-E8E9-8767A15A099C}"/>
                  </a:ext>
                </a:extLst>
              </p:cNvPr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53" name="Багетная рамка 11">
                  <a:extLst>
                    <a:ext uri="{FF2B5EF4-FFF2-40B4-BE49-F238E27FC236}">
                      <a16:creationId xmlns:a16="http://schemas.microsoft.com/office/drawing/2014/main" id="{61E18FA8-CEE8-972C-B5A9-E304EB2121F0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54" name="Прямоугольник 12">
                  <a:extLst>
                    <a:ext uri="{FF2B5EF4-FFF2-40B4-BE49-F238E27FC236}">
                      <a16:creationId xmlns:a16="http://schemas.microsoft.com/office/drawing/2014/main" id="{06549880-FB82-FB23-2370-9709A4F1AA81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55" name="Прямоугольник 13">
                  <a:extLst>
                    <a:ext uri="{FF2B5EF4-FFF2-40B4-BE49-F238E27FC236}">
                      <a16:creationId xmlns:a16="http://schemas.microsoft.com/office/drawing/2014/main" id="{88FA0E2B-F0A6-8EFC-140F-3CF36B8FA581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49" name="Группа 14">
                <a:extLst>
                  <a:ext uri="{FF2B5EF4-FFF2-40B4-BE49-F238E27FC236}">
                    <a16:creationId xmlns:a16="http://schemas.microsoft.com/office/drawing/2014/main" id="{2778A391-D1B2-338F-F0CF-D77DDDB89130}"/>
                  </a:ext>
                </a:extLst>
              </p:cNvPr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50" name="Багетная рамка 15">
                  <a:extLst>
                    <a:ext uri="{FF2B5EF4-FFF2-40B4-BE49-F238E27FC236}">
                      <a16:creationId xmlns:a16="http://schemas.microsoft.com/office/drawing/2014/main" id="{4867A3D0-8B3E-1A43-1CF3-B5E4A2915337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51" name="Прямоугольник 16">
                  <a:extLst>
                    <a:ext uri="{FF2B5EF4-FFF2-40B4-BE49-F238E27FC236}">
                      <a16:creationId xmlns:a16="http://schemas.microsoft.com/office/drawing/2014/main" id="{AE715A54-7130-2C4C-C062-D542D51DB9B3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52" name="Прямоугольник 17">
                  <a:extLst>
                    <a:ext uri="{FF2B5EF4-FFF2-40B4-BE49-F238E27FC236}">
                      <a16:creationId xmlns:a16="http://schemas.microsoft.com/office/drawing/2014/main" id="{95A6945B-E9A6-950C-491C-96DC0F08C8E0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</p:grpSp>
        <p:grpSp>
          <p:nvGrpSpPr>
            <p:cNvPr id="37" name="Группа 74">
              <a:extLst>
                <a:ext uri="{FF2B5EF4-FFF2-40B4-BE49-F238E27FC236}">
                  <a16:creationId xmlns:a16="http://schemas.microsoft.com/office/drawing/2014/main" id="{585D76BC-7B6F-CF7C-5662-0A3A5CE8F6CC}"/>
                </a:ext>
              </a:extLst>
            </p:cNvPr>
            <p:cNvGrpSpPr/>
            <p:nvPr/>
          </p:nvGrpSpPr>
          <p:grpSpPr>
            <a:xfrm>
              <a:off x="6771857" y="1901686"/>
              <a:ext cx="576469" cy="1232452"/>
              <a:chOff x="1888435" y="1769165"/>
              <a:chExt cx="576469" cy="1232452"/>
            </a:xfrm>
          </p:grpSpPr>
          <p:sp>
            <p:nvSpPr>
              <p:cNvPr id="44" name="Прямоугольник 75">
                <a:extLst>
                  <a:ext uri="{FF2B5EF4-FFF2-40B4-BE49-F238E27FC236}">
                    <a16:creationId xmlns:a16="http://schemas.microsoft.com/office/drawing/2014/main" id="{A15F4D9C-D70D-FE43-989E-19D6C7A88F5F}"/>
                  </a:ext>
                </a:extLst>
              </p:cNvPr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45" name="Блок-схема: магнитный диск 76">
                <a:extLst>
                  <a:ext uri="{FF2B5EF4-FFF2-40B4-BE49-F238E27FC236}">
                    <a16:creationId xmlns:a16="http://schemas.microsoft.com/office/drawing/2014/main" id="{5B031B2B-17B8-28F8-F6E9-2D9DBFF3A2CB}"/>
                  </a:ext>
                </a:extLst>
              </p:cNvPr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46" name="Прямая соединительная линия 77">
                <a:extLst>
                  <a:ext uri="{FF2B5EF4-FFF2-40B4-BE49-F238E27FC236}">
                    <a16:creationId xmlns:a16="http://schemas.microsoft.com/office/drawing/2014/main" id="{2AF9DBA0-5EBD-46D1-38D0-E2274F3ECF97}"/>
                  </a:ext>
                </a:extLst>
              </p:cNvPr>
              <p:cNvCxnSpPr>
                <a:stCxn id="44" idx="2"/>
                <a:endCxn id="45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Группа 84">
              <a:extLst>
                <a:ext uri="{FF2B5EF4-FFF2-40B4-BE49-F238E27FC236}">
                  <a16:creationId xmlns:a16="http://schemas.microsoft.com/office/drawing/2014/main" id="{52EF07D4-A2F9-5A57-B0C8-3409A59BFBB8}"/>
                </a:ext>
              </a:extLst>
            </p:cNvPr>
            <p:cNvGrpSpPr/>
            <p:nvPr/>
          </p:nvGrpSpPr>
          <p:grpSpPr>
            <a:xfrm>
              <a:off x="7348327" y="1461055"/>
              <a:ext cx="947534" cy="2013664"/>
              <a:chOff x="7348327" y="1461055"/>
              <a:chExt cx="947534" cy="2013664"/>
            </a:xfrm>
          </p:grpSpPr>
          <p:sp>
            <p:nvSpPr>
              <p:cNvPr id="39" name="Минус 79">
                <a:extLst>
                  <a:ext uri="{FF2B5EF4-FFF2-40B4-BE49-F238E27FC236}">
                    <a16:creationId xmlns:a16="http://schemas.microsoft.com/office/drawing/2014/main" id="{5D813B78-D8D7-A125-7D1A-5C6DC33D27C8}"/>
                  </a:ext>
                </a:extLst>
              </p:cNvPr>
              <p:cNvSpPr/>
              <p:nvPr/>
            </p:nvSpPr>
            <p:spPr>
              <a:xfrm>
                <a:off x="7818783" y="1461055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40" name="Минус 80">
                <a:extLst>
                  <a:ext uri="{FF2B5EF4-FFF2-40B4-BE49-F238E27FC236}">
                    <a16:creationId xmlns:a16="http://schemas.microsoft.com/office/drawing/2014/main" id="{4EE91208-E3E8-6A6E-0248-D8E8358AF9A5}"/>
                  </a:ext>
                </a:extLst>
              </p:cNvPr>
              <p:cNvSpPr/>
              <p:nvPr/>
            </p:nvSpPr>
            <p:spPr>
              <a:xfrm>
                <a:off x="7812156" y="2488097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41" name="Минус 81">
                <a:extLst>
                  <a:ext uri="{FF2B5EF4-FFF2-40B4-BE49-F238E27FC236}">
                    <a16:creationId xmlns:a16="http://schemas.microsoft.com/office/drawing/2014/main" id="{A9D4CF26-CCBF-6AEC-8260-19E24656B8A6}"/>
                  </a:ext>
                </a:extLst>
              </p:cNvPr>
              <p:cNvSpPr/>
              <p:nvPr/>
            </p:nvSpPr>
            <p:spPr>
              <a:xfrm>
                <a:off x="7805530" y="3429000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42" name="Прямая соединительная линия 82">
                <a:extLst>
                  <a:ext uri="{FF2B5EF4-FFF2-40B4-BE49-F238E27FC236}">
                    <a16:creationId xmlns:a16="http://schemas.microsoft.com/office/drawing/2014/main" id="{AAE39778-1B2E-E0B9-8D00-422C30929123}"/>
                  </a:ext>
                </a:extLst>
              </p:cNvPr>
              <p:cNvCxnSpPr/>
              <p:nvPr/>
            </p:nvCxnSpPr>
            <p:spPr>
              <a:xfrm>
                <a:off x="7835059" y="1506773"/>
                <a:ext cx="6626" cy="1961983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Минус 83">
                <a:extLst>
                  <a:ext uri="{FF2B5EF4-FFF2-40B4-BE49-F238E27FC236}">
                    <a16:creationId xmlns:a16="http://schemas.microsoft.com/office/drawing/2014/main" id="{1E515690-EDC4-2B6A-9E31-21F613456FC7}"/>
                  </a:ext>
                </a:extLst>
              </p:cNvPr>
              <p:cNvSpPr/>
              <p:nvPr/>
            </p:nvSpPr>
            <p:spPr>
              <a:xfrm>
                <a:off x="7348327" y="2461593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</p:grpSp>
      </p:grpSp>
      <p:grpSp>
        <p:nvGrpSpPr>
          <p:cNvPr id="59" name="Группа 87">
            <a:extLst>
              <a:ext uri="{FF2B5EF4-FFF2-40B4-BE49-F238E27FC236}">
                <a16:creationId xmlns:a16="http://schemas.microsoft.com/office/drawing/2014/main" id="{056F8BDD-AB60-8739-31F6-8B6D28A9A65B}"/>
              </a:ext>
            </a:extLst>
          </p:cNvPr>
          <p:cNvGrpSpPr/>
          <p:nvPr/>
        </p:nvGrpSpPr>
        <p:grpSpPr>
          <a:xfrm>
            <a:off x="6403374" y="1841459"/>
            <a:ext cx="1969995" cy="1308486"/>
            <a:chOff x="6771857" y="971052"/>
            <a:chExt cx="1736038" cy="2616972"/>
          </a:xfrm>
        </p:grpSpPr>
        <p:grpSp>
          <p:nvGrpSpPr>
            <p:cNvPr id="60" name="Группа 23">
              <a:extLst>
                <a:ext uri="{FF2B5EF4-FFF2-40B4-BE49-F238E27FC236}">
                  <a16:creationId xmlns:a16="http://schemas.microsoft.com/office/drawing/2014/main" id="{0F5F22B0-1949-6AFF-A4AC-1275900243EC}"/>
                </a:ext>
              </a:extLst>
            </p:cNvPr>
            <p:cNvGrpSpPr/>
            <p:nvPr/>
          </p:nvGrpSpPr>
          <p:grpSpPr>
            <a:xfrm>
              <a:off x="8063947" y="971052"/>
              <a:ext cx="443948" cy="2616972"/>
              <a:chOff x="708991" y="1133061"/>
              <a:chExt cx="443948" cy="2616972"/>
            </a:xfrm>
          </p:grpSpPr>
          <p:grpSp>
            <p:nvGrpSpPr>
              <p:cNvPr id="71" name="Группа 9">
                <a:extLst>
                  <a:ext uri="{FF2B5EF4-FFF2-40B4-BE49-F238E27FC236}">
                    <a16:creationId xmlns:a16="http://schemas.microsoft.com/office/drawing/2014/main" id="{09DF4F8E-B606-E8A6-1C8F-DBB7323DF3AC}"/>
                  </a:ext>
                </a:extLst>
              </p:cNvPr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80" name="Багетная рамка 108">
                  <a:extLst>
                    <a:ext uri="{FF2B5EF4-FFF2-40B4-BE49-F238E27FC236}">
                      <a16:creationId xmlns:a16="http://schemas.microsoft.com/office/drawing/2014/main" id="{6A418BEA-CC5D-831C-17B2-735078EC3A89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81" name="Прямоугольник 109">
                  <a:extLst>
                    <a:ext uri="{FF2B5EF4-FFF2-40B4-BE49-F238E27FC236}">
                      <a16:creationId xmlns:a16="http://schemas.microsoft.com/office/drawing/2014/main" id="{88382DAC-4295-95CE-D919-114044BA758C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82" name="Прямоугольник 110">
                  <a:extLst>
                    <a:ext uri="{FF2B5EF4-FFF2-40B4-BE49-F238E27FC236}">
                      <a16:creationId xmlns:a16="http://schemas.microsoft.com/office/drawing/2014/main" id="{CCF917D2-B943-1E68-E5ED-5D16D5E1B458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72" name="Группа 10">
                <a:extLst>
                  <a:ext uri="{FF2B5EF4-FFF2-40B4-BE49-F238E27FC236}">
                    <a16:creationId xmlns:a16="http://schemas.microsoft.com/office/drawing/2014/main" id="{52A241C3-3E21-BE01-549E-CA2DC69DE46C}"/>
                  </a:ext>
                </a:extLst>
              </p:cNvPr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77" name="Багетная рамка 105">
                  <a:extLst>
                    <a:ext uri="{FF2B5EF4-FFF2-40B4-BE49-F238E27FC236}">
                      <a16:creationId xmlns:a16="http://schemas.microsoft.com/office/drawing/2014/main" id="{E6494BA3-C467-0512-93E4-890412B10794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78" name="Прямоугольник 106">
                  <a:extLst>
                    <a:ext uri="{FF2B5EF4-FFF2-40B4-BE49-F238E27FC236}">
                      <a16:creationId xmlns:a16="http://schemas.microsoft.com/office/drawing/2014/main" id="{D1E98320-48CE-058C-5367-3A7C43411874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79" name="Прямоугольник 13">
                  <a:extLst>
                    <a:ext uri="{FF2B5EF4-FFF2-40B4-BE49-F238E27FC236}">
                      <a16:creationId xmlns:a16="http://schemas.microsoft.com/office/drawing/2014/main" id="{F357D8A9-3328-ACDB-9B61-6F1D58B6E838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73" name="Группа 14">
                <a:extLst>
                  <a:ext uri="{FF2B5EF4-FFF2-40B4-BE49-F238E27FC236}">
                    <a16:creationId xmlns:a16="http://schemas.microsoft.com/office/drawing/2014/main" id="{4D961A3C-4246-05B8-B9E8-31CC23450E77}"/>
                  </a:ext>
                </a:extLst>
              </p:cNvPr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74" name="Багетная рамка 15">
                  <a:extLst>
                    <a:ext uri="{FF2B5EF4-FFF2-40B4-BE49-F238E27FC236}">
                      <a16:creationId xmlns:a16="http://schemas.microsoft.com/office/drawing/2014/main" id="{0CD9D713-EDB7-CB5A-C5BC-95B1DB117710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75" name="Прямоугольник 103">
                  <a:extLst>
                    <a:ext uri="{FF2B5EF4-FFF2-40B4-BE49-F238E27FC236}">
                      <a16:creationId xmlns:a16="http://schemas.microsoft.com/office/drawing/2014/main" id="{A0DBCBCD-3B3B-DFC7-9722-78B6DC09B2BE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76" name="Прямоугольник 104">
                  <a:extLst>
                    <a:ext uri="{FF2B5EF4-FFF2-40B4-BE49-F238E27FC236}">
                      <a16:creationId xmlns:a16="http://schemas.microsoft.com/office/drawing/2014/main" id="{7B13D5CC-BA62-2FB7-E8B1-E626B9C23769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</p:grpSp>
        <p:grpSp>
          <p:nvGrpSpPr>
            <p:cNvPr id="61" name="Группа 74">
              <a:extLst>
                <a:ext uri="{FF2B5EF4-FFF2-40B4-BE49-F238E27FC236}">
                  <a16:creationId xmlns:a16="http://schemas.microsoft.com/office/drawing/2014/main" id="{DAA1FD6A-8161-FA47-1F5A-61095AF4D861}"/>
                </a:ext>
              </a:extLst>
            </p:cNvPr>
            <p:cNvGrpSpPr/>
            <p:nvPr/>
          </p:nvGrpSpPr>
          <p:grpSpPr>
            <a:xfrm>
              <a:off x="6771857" y="1901686"/>
              <a:ext cx="576469" cy="1232452"/>
              <a:chOff x="1888435" y="1769165"/>
              <a:chExt cx="576469" cy="1232452"/>
            </a:xfrm>
          </p:grpSpPr>
          <p:sp>
            <p:nvSpPr>
              <p:cNvPr id="68" name="Прямоугольник 96">
                <a:extLst>
                  <a:ext uri="{FF2B5EF4-FFF2-40B4-BE49-F238E27FC236}">
                    <a16:creationId xmlns:a16="http://schemas.microsoft.com/office/drawing/2014/main" id="{CB1B9554-B926-0784-7500-DD79411597AE}"/>
                  </a:ext>
                </a:extLst>
              </p:cNvPr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69" name="Блок-схема: магнитный диск 97">
                <a:extLst>
                  <a:ext uri="{FF2B5EF4-FFF2-40B4-BE49-F238E27FC236}">
                    <a16:creationId xmlns:a16="http://schemas.microsoft.com/office/drawing/2014/main" id="{E261187F-56FA-F27E-5D33-4A92F78F134D}"/>
                  </a:ext>
                </a:extLst>
              </p:cNvPr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70" name="Прямая соединительная линия 98">
                <a:extLst>
                  <a:ext uri="{FF2B5EF4-FFF2-40B4-BE49-F238E27FC236}">
                    <a16:creationId xmlns:a16="http://schemas.microsoft.com/office/drawing/2014/main" id="{ECDC4047-C615-5C7E-560F-ADDA9F3F1846}"/>
                  </a:ext>
                </a:extLst>
              </p:cNvPr>
              <p:cNvCxnSpPr>
                <a:stCxn id="68" idx="2"/>
                <a:endCxn id="69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Группа 84">
              <a:extLst>
                <a:ext uri="{FF2B5EF4-FFF2-40B4-BE49-F238E27FC236}">
                  <a16:creationId xmlns:a16="http://schemas.microsoft.com/office/drawing/2014/main" id="{E413E5A6-E033-E135-B915-429EB48F3EFD}"/>
                </a:ext>
              </a:extLst>
            </p:cNvPr>
            <p:cNvGrpSpPr/>
            <p:nvPr/>
          </p:nvGrpSpPr>
          <p:grpSpPr>
            <a:xfrm>
              <a:off x="7348327" y="1461055"/>
              <a:ext cx="947534" cy="2013664"/>
              <a:chOff x="7348327" y="1461055"/>
              <a:chExt cx="947534" cy="2013664"/>
            </a:xfrm>
          </p:grpSpPr>
          <p:sp>
            <p:nvSpPr>
              <p:cNvPr id="63" name="Минус 91">
                <a:extLst>
                  <a:ext uri="{FF2B5EF4-FFF2-40B4-BE49-F238E27FC236}">
                    <a16:creationId xmlns:a16="http://schemas.microsoft.com/office/drawing/2014/main" id="{AFCAE049-1F27-37BC-1AE5-8507B4B40E27}"/>
                  </a:ext>
                </a:extLst>
              </p:cNvPr>
              <p:cNvSpPr/>
              <p:nvPr/>
            </p:nvSpPr>
            <p:spPr>
              <a:xfrm>
                <a:off x="7818783" y="1461055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64" name="Минус 92">
                <a:extLst>
                  <a:ext uri="{FF2B5EF4-FFF2-40B4-BE49-F238E27FC236}">
                    <a16:creationId xmlns:a16="http://schemas.microsoft.com/office/drawing/2014/main" id="{51CA500F-9376-1190-EE65-977AE882C18B}"/>
                  </a:ext>
                </a:extLst>
              </p:cNvPr>
              <p:cNvSpPr/>
              <p:nvPr/>
            </p:nvSpPr>
            <p:spPr>
              <a:xfrm>
                <a:off x="7812156" y="2488097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65" name="Минус 93">
                <a:extLst>
                  <a:ext uri="{FF2B5EF4-FFF2-40B4-BE49-F238E27FC236}">
                    <a16:creationId xmlns:a16="http://schemas.microsoft.com/office/drawing/2014/main" id="{DF5D7F9D-F08E-9770-D531-23FD090845E1}"/>
                  </a:ext>
                </a:extLst>
              </p:cNvPr>
              <p:cNvSpPr/>
              <p:nvPr/>
            </p:nvSpPr>
            <p:spPr>
              <a:xfrm>
                <a:off x="7805530" y="3429000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66" name="Прямая соединительная линия 94">
                <a:extLst>
                  <a:ext uri="{FF2B5EF4-FFF2-40B4-BE49-F238E27FC236}">
                    <a16:creationId xmlns:a16="http://schemas.microsoft.com/office/drawing/2014/main" id="{BDB87C2C-7144-E3C5-696D-D824EC0DBAC1}"/>
                  </a:ext>
                </a:extLst>
              </p:cNvPr>
              <p:cNvCxnSpPr/>
              <p:nvPr/>
            </p:nvCxnSpPr>
            <p:spPr>
              <a:xfrm>
                <a:off x="7835059" y="1506773"/>
                <a:ext cx="6626" cy="1961983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Минус 95">
                <a:extLst>
                  <a:ext uri="{FF2B5EF4-FFF2-40B4-BE49-F238E27FC236}">
                    <a16:creationId xmlns:a16="http://schemas.microsoft.com/office/drawing/2014/main" id="{426BBF90-AEBA-6A48-EC81-9A35826AED88}"/>
                  </a:ext>
                </a:extLst>
              </p:cNvPr>
              <p:cNvSpPr/>
              <p:nvPr/>
            </p:nvSpPr>
            <p:spPr>
              <a:xfrm>
                <a:off x="7348327" y="2461593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</p:grpSp>
      </p:grpSp>
      <p:grpSp>
        <p:nvGrpSpPr>
          <p:cNvPr id="83" name="Группа 112">
            <a:extLst>
              <a:ext uri="{FF2B5EF4-FFF2-40B4-BE49-F238E27FC236}">
                <a16:creationId xmlns:a16="http://schemas.microsoft.com/office/drawing/2014/main" id="{FC91E489-E65E-6689-9F49-50EC295B7EB9}"/>
              </a:ext>
            </a:extLst>
          </p:cNvPr>
          <p:cNvGrpSpPr/>
          <p:nvPr/>
        </p:nvGrpSpPr>
        <p:grpSpPr>
          <a:xfrm>
            <a:off x="440771" y="3277665"/>
            <a:ext cx="1977509" cy="1308486"/>
            <a:chOff x="861391" y="964428"/>
            <a:chExt cx="1742659" cy="2616972"/>
          </a:xfrm>
        </p:grpSpPr>
        <p:grpSp>
          <p:nvGrpSpPr>
            <p:cNvPr id="84" name="Группа 22">
              <a:extLst>
                <a:ext uri="{FF2B5EF4-FFF2-40B4-BE49-F238E27FC236}">
                  <a16:creationId xmlns:a16="http://schemas.microsoft.com/office/drawing/2014/main" id="{E0BD67AA-DB95-9755-2EDD-B2457F01E3E9}"/>
                </a:ext>
              </a:extLst>
            </p:cNvPr>
            <p:cNvGrpSpPr/>
            <p:nvPr/>
          </p:nvGrpSpPr>
          <p:grpSpPr>
            <a:xfrm>
              <a:off x="2027581" y="1928191"/>
              <a:ext cx="576469" cy="1232452"/>
              <a:chOff x="1888435" y="1769165"/>
              <a:chExt cx="576469" cy="1232452"/>
            </a:xfrm>
          </p:grpSpPr>
          <p:sp>
            <p:nvSpPr>
              <p:cNvPr id="104" name="Прямоугольник 133">
                <a:extLst>
                  <a:ext uri="{FF2B5EF4-FFF2-40B4-BE49-F238E27FC236}">
                    <a16:creationId xmlns:a16="http://schemas.microsoft.com/office/drawing/2014/main" id="{87E26EE9-CEAF-4FA4-0905-EFFA7EDA2E84}"/>
                  </a:ext>
                </a:extLst>
              </p:cNvPr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105" name="Блок-схема: магнитный диск 134">
                <a:extLst>
                  <a:ext uri="{FF2B5EF4-FFF2-40B4-BE49-F238E27FC236}">
                    <a16:creationId xmlns:a16="http://schemas.microsoft.com/office/drawing/2014/main" id="{8744FF62-95AF-2F98-2EF3-79236D14F204}"/>
                  </a:ext>
                </a:extLst>
              </p:cNvPr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106" name="Прямая соединительная линия 135">
                <a:extLst>
                  <a:ext uri="{FF2B5EF4-FFF2-40B4-BE49-F238E27FC236}">
                    <a16:creationId xmlns:a16="http://schemas.microsoft.com/office/drawing/2014/main" id="{1D487D90-0ACC-56F1-2631-515FB8B31180}"/>
                  </a:ext>
                </a:extLst>
              </p:cNvPr>
              <p:cNvCxnSpPr>
                <a:stCxn id="104" idx="2"/>
                <a:endCxn id="105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Группа 52">
              <a:extLst>
                <a:ext uri="{FF2B5EF4-FFF2-40B4-BE49-F238E27FC236}">
                  <a16:creationId xmlns:a16="http://schemas.microsoft.com/office/drawing/2014/main" id="{76AF84B0-B190-D1C1-0E89-9F720A27C4FE}"/>
                </a:ext>
              </a:extLst>
            </p:cNvPr>
            <p:cNvGrpSpPr/>
            <p:nvPr/>
          </p:nvGrpSpPr>
          <p:grpSpPr>
            <a:xfrm>
              <a:off x="1146312" y="1461054"/>
              <a:ext cx="887895" cy="2007702"/>
              <a:chOff x="987287" y="1311965"/>
              <a:chExt cx="887895" cy="2007702"/>
            </a:xfrm>
          </p:grpSpPr>
          <p:sp>
            <p:nvSpPr>
              <p:cNvPr id="99" name="Минус 128">
                <a:extLst>
                  <a:ext uri="{FF2B5EF4-FFF2-40B4-BE49-F238E27FC236}">
                    <a16:creationId xmlns:a16="http://schemas.microsoft.com/office/drawing/2014/main" id="{2EA95817-FFEF-6E80-A1E1-BF8660A9167E}"/>
                  </a:ext>
                </a:extLst>
              </p:cNvPr>
              <p:cNvSpPr/>
              <p:nvPr/>
            </p:nvSpPr>
            <p:spPr>
              <a:xfrm>
                <a:off x="993913" y="1311965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100" name="Минус 129">
                <a:extLst>
                  <a:ext uri="{FF2B5EF4-FFF2-40B4-BE49-F238E27FC236}">
                    <a16:creationId xmlns:a16="http://schemas.microsoft.com/office/drawing/2014/main" id="{8DBDB96F-4A91-B8F3-ED90-10BDED99176A}"/>
                  </a:ext>
                </a:extLst>
              </p:cNvPr>
              <p:cNvSpPr/>
              <p:nvPr/>
            </p:nvSpPr>
            <p:spPr>
              <a:xfrm>
                <a:off x="987287" y="2339008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sp>
            <p:nvSpPr>
              <p:cNvPr id="101" name="Минус 130">
                <a:extLst>
                  <a:ext uri="{FF2B5EF4-FFF2-40B4-BE49-F238E27FC236}">
                    <a16:creationId xmlns:a16="http://schemas.microsoft.com/office/drawing/2014/main" id="{ADEDEAB5-BB39-1FEC-7794-437A6B576DA0}"/>
                  </a:ext>
                </a:extLst>
              </p:cNvPr>
              <p:cNvSpPr/>
              <p:nvPr/>
            </p:nvSpPr>
            <p:spPr>
              <a:xfrm>
                <a:off x="1000539" y="3273948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102" name="Прямая соединительная линия 131">
                <a:extLst>
                  <a:ext uri="{FF2B5EF4-FFF2-40B4-BE49-F238E27FC236}">
                    <a16:creationId xmlns:a16="http://schemas.microsoft.com/office/drawing/2014/main" id="{460BA7CF-498D-0B8F-72F2-55A846E53EA5}"/>
                  </a:ext>
                </a:extLst>
              </p:cNvPr>
              <p:cNvCxnSpPr>
                <a:stCxn id="99" idx="0"/>
                <a:endCxn id="101" idx="0"/>
              </p:cNvCxnSpPr>
              <p:nvPr/>
            </p:nvCxnSpPr>
            <p:spPr>
              <a:xfrm>
                <a:off x="1407754" y="1334825"/>
                <a:ext cx="6626" cy="1961983"/>
              </a:xfrm>
              <a:prstGeom prst="line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Минус 132">
                <a:extLst>
                  <a:ext uri="{FF2B5EF4-FFF2-40B4-BE49-F238E27FC236}">
                    <a16:creationId xmlns:a16="http://schemas.microsoft.com/office/drawing/2014/main" id="{7DA6DD67-1FC6-67A8-E006-48E97F315C11}"/>
                  </a:ext>
                </a:extLst>
              </p:cNvPr>
              <p:cNvSpPr/>
              <p:nvPr/>
            </p:nvSpPr>
            <p:spPr>
              <a:xfrm>
                <a:off x="1398104" y="2352260"/>
                <a:ext cx="477078" cy="45719"/>
              </a:xfrm>
              <a:prstGeom prst="mathMinus">
                <a:avLst/>
              </a:prstGeom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</p:grpSp>
        <p:grpSp>
          <p:nvGrpSpPr>
            <p:cNvPr id="86" name="Группа 61">
              <a:extLst>
                <a:ext uri="{FF2B5EF4-FFF2-40B4-BE49-F238E27FC236}">
                  <a16:creationId xmlns:a16="http://schemas.microsoft.com/office/drawing/2014/main" id="{3AD721B4-2EEE-F015-26E2-EDF99F5F3FCB}"/>
                </a:ext>
              </a:extLst>
            </p:cNvPr>
            <p:cNvGrpSpPr/>
            <p:nvPr/>
          </p:nvGrpSpPr>
          <p:grpSpPr>
            <a:xfrm>
              <a:off x="861391" y="964428"/>
              <a:ext cx="443948" cy="2616972"/>
              <a:chOff x="708991" y="1133061"/>
              <a:chExt cx="443948" cy="2616972"/>
            </a:xfrm>
          </p:grpSpPr>
          <p:grpSp>
            <p:nvGrpSpPr>
              <p:cNvPr id="87" name="Группа 9">
                <a:extLst>
                  <a:ext uri="{FF2B5EF4-FFF2-40B4-BE49-F238E27FC236}">
                    <a16:creationId xmlns:a16="http://schemas.microsoft.com/office/drawing/2014/main" id="{FC1AE97C-28E5-8130-3CD5-1E2D1F00CD1C}"/>
                  </a:ext>
                </a:extLst>
              </p:cNvPr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96" name="Багетная рамка 125">
                  <a:extLst>
                    <a:ext uri="{FF2B5EF4-FFF2-40B4-BE49-F238E27FC236}">
                      <a16:creationId xmlns:a16="http://schemas.microsoft.com/office/drawing/2014/main" id="{2E020292-41D4-5432-B92A-03C5A8264315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97" name="Прямоугольник 126">
                  <a:extLst>
                    <a:ext uri="{FF2B5EF4-FFF2-40B4-BE49-F238E27FC236}">
                      <a16:creationId xmlns:a16="http://schemas.microsoft.com/office/drawing/2014/main" id="{936DEEF7-B290-149A-9B06-F7693A1FEA37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98" name="Прямоугольник 127">
                  <a:extLst>
                    <a:ext uri="{FF2B5EF4-FFF2-40B4-BE49-F238E27FC236}">
                      <a16:creationId xmlns:a16="http://schemas.microsoft.com/office/drawing/2014/main" id="{D0BE9E73-C1F8-B49A-BD93-2B336A5DEEA1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88" name="Группа 10">
                <a:extLst>
                  <a:ext uri="{FF2B5EF4-FFF2-40B4-BE49-F238E27FC236}">
                    <a16:creationId xmlns:a16="http://schemas.microsoft.com/office/drawing/2014/main" id="{555DAA03-80BF-578E-9185-C603C4B21954}"/>
                  </a:ext>
                </a:extLst>
              </p:cNvPr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93" name="Багетная рамка 122">
                  <a:extLst>
                    <a:ext uri="{FF2B5EF4-FFF2-40B4-BE49-F238E27FC236}">
                      <a16:creationId xmlns:a16="http://schemas.microsoft.com/office/drawing/2014/main" id="{F9EFC472-73EA-1F02-081E-E5B750B17927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94" name="Прямоугольник 123">
                  <a:extLst>
                    <a:ext uri="{FF2B5EF4-FFF2-40B4-BE49-F238E27FC236}">
                      <a16:creationId xmlns:a16="http://schemas.microsoft.com/office/drawing/2014/main" id="{869E15B1-5156-B9F5-AE56-6D068DE635D8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95" name="Прямоугольник 124">
                  <a:extLst>
                    <a:ext uri="{FF2B5EF4-FFF2-40B4-BE49-F238E27FC236}">
                      <a16:creationId xmlns:a16="http://schemas.microsoft.com/office/drawing/2014/main" id="{EEF4998F-2503-A601-FF21-CEF8090299E9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  <p:grpSp>
            <p:nvGrpSpPr>
              <p:cNvPr id="89" name="Группа 14">
                <a:extLst>
                  <a:ext uri="{FF2B5EF4-FFF2-40B4-BE49-F238E27FC236}">
                    <a16:creationId xmlns:a16="http://schemas.microsoft.com/office/drawing/2014/main" id="{E5F9AC61-4202-0600-BE11-3FDC4E16F0B1}"/>
                  </a:ext>
                </a:extLst>
              </p:cNvPr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90" name="Багетная рамка 119">
                  <a:extLst>
                    <a:ext uri="{FF2B5EF4-FFF2-40B4-BE49-F238E27FC236}">
                      <a16:creationId xmlns:a16="http://schemas.microsoft.com/office/drawing/2014/main" id="{EAD27BA2-CFE9-FBF5-DA80-9A5F61CD2C90}"/>
                    </a:ext>
                  </a:extLst>
                </p:cNvPr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91" name="Прямоугольник 120">
                  <a:extLst>
                    <a:ext uri="{FF2B5EF4-FFF2-40B4-BE49-F238E27FC236}">
                      <a16:creationId xmlns:a16="http://schemas.microsoft.com/office/drawing/2014/main" id="{F5216D53-1277-2918-15D1-7B5AF9B73915}"/>
                    </a:ext>
                  </a:extLst>
                </p:cNvPr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  <p:sp>
              <p:nvSpPr>
                <p:cNvPr id="92" name="Прямоугольник 121">
                  <a:extLst>
                    <a:ext uri="{FF2B5EF4-FFF2-40B4-BE49-F238E27FC236}">
                      <a16:creationId xmlns:a16="http://schemas.microsoft.com/office/drawing/2014/main" id="{E8115A14-862C-09AC-9F13-A38375FDB10A}"/>
                    </a:ext>
                  </a:extLst>
                </p:cNvPr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050"/>
                </a:p>
              </p:txBody>
            </p:sp>
          </p:grpSp>
        </p:grpSp>
      </p:grpSp>
      <p:sp>
        <p:nvSpPr>
          <p:cNvPr id="107" name="Полилиния 138">
            <a:extLst>
              <a:ext uri="{FF2B5EF4-FFF2-40B4-BE49-F238E27FC236}">
                <a16:creationId xmlns:a16="http://schemas.microsoft.com/office/drawing/2014/main" id="{2F61621C-05DF-1C0F-976C-4E55D2862119}"/>
              </a:ext>
            </a:extLst>
          </p:cNvPr>
          <p:cNvSpPr/>
          <p:nvPr/>
        </p:nvSpPr>
        <p:spPr>
          <a:xfrm>
            <a:off x="2719044" y="2874964"/>
            <a:ext cx="3721930" cy="839857"/>
          </a:xfrm>
          <a:custGeom>
            <a:avLst/>
            <a:gdLst>
              <a:gd name="connsiteX0" fmla="*/ 384834 w 2929251"/>
              <a:gd name="connsiteY0" fmla="*/ 1172817 h 2335920"/>
              <a:gd name="connsiteX1" fmla="*/ 265564 w 2929251"/>
              <a:gd name="connsiteY1" fmla="*/ 1113183 h 2335920"/>
              <a:gd name="connsiteX2" fmla="*/ 146295 w 2929251"/>
              <a:gd name="connsiteY2" fmla="*/ 1053548 h 2335920"/>
              <a:gd name="connsiteX3" fmla="*/ 86660 w 2929251"/>
              <a:gd name="connsiteY3" fmla="*/ 1013791 h 2335920"/>
              <a:gd name="connsiteX4" fmla="*/ 66782 w 2929251"/>
              <a:gd name="connsiteY4" fmla="*/ 954156 h 2335920"/>
              <a:gd name="connsiteX5" fmla="*/ 27025 w 2929251"/>
              <a:gd name="connsiteY5" fmla="*/ 894522 h 2335920"/>
              <a:gd name="connsiteX6" fmla="*/ 7147 w 2929251"/>
              <a:gd name="connsiteY6" fmla="*/ 834887 h 2335920"/>
              <a:gd name="connsiteX7" fmla="*/ 46903 w 2929251"/>
              <a:gd name="connsiteY7" fmla="*/ 477078 h 2335920"/>
              <a:gd name="connsiteX8" fmla="*/ 66782 w 2929251"/>
              <a:gd name="connsiteY8" fmla="*/ 397565 h 2335920"/>
              <a:gd name="connsiteX9" fmla="*/ 86660 w 2929251"/>
              <a:gd name="connsiteY9" fmla="*/ 298174 h 2335920"/>
              <a:gd name="connsiteX10" fmla="*/ 126416 w 2929251"/>
              <a:gd name="connsiteY10" fmla="*/ 178904 h 2335920"/>
              <a:gd name="connsiteX11" fmla="*/ 146295 w 2929251"/>
              <a:gd name="connsiteY11" fmla="*/ 119269 h 2335920"/>
              <a:gd name="connsiteX12" fmla="*/ 305321 w 2929251"/>
              <a:gd name="connsiteY12" fmla="*/ 19878 h 2335920"/>
              <a:gd name="connsiteX13" fmla="*/ 364955 w 2929251"/>
              <a:gd name="connsiteY13" fmla="*/ 0 h 2335920"/>
              <a:gd name="connsiteX14" fmla="*/ 2014851 w 2929251"/>
              <a:gd name="connsiteY14" fmla="*/ 19878 h 2335920"/>
              <a:gd name="connsiteX15" fmla="*/ 2253390 w 2929251"/>
              <a:gd name="connsiteY15" fmla="*/ 139148 h 2335920"/>
              <a:gd name="connsiteX16" fmla="*/ 2313025 w 2929251"/>
              <a:gd name="connsiteY16" fmla="*/ 178904 h 2335920"/>
              <a:gd name="connsiteX17" fmla="*/ 2372660 w 2929251"/>
              <a:gd name="connsiteY17" fmla="*/ 218661 h 2335920"/>
              <a:gd name="connsiteX18" fmla="*/ 2412416 w 2929251"/>
              <a:gd name="connsiteY18" fmla="*/ 278296 h 2335920"/>
              <a:gd name="connsiteX19" fmla="*/ 2511808 w 2929251"/>
              <a:gd name="connsiteY19" fmla="*/ 377687 h 2335920"/>
              <a:gd name="connsiteX20" fmla="*/ 2611199 w 2929251"/>
              <a:gd name="connsiteY20" fmla="*/ 556591 h 2335920"/>
              <a:gd name="connsiteX21" fmla="*/ 2670834 w 2929251"/>
              <a:gd name="connsiteY21" fmla="*/ 596348 h 2335920"/>
              <a:gd name="connsiteX22" fmla="*/ 2690712 w 2929251"/>
              <a:gd name="connsiteY22" fmla="*/ 655983 h 2335920"/>
              <a:gd name="connsiteX23" fmla="*/ 2770225 w 2929251"/>
              <a:gd name="connsiteY23" fmla="*/ 775252 h 2335920"/>
              <a:gd name="connsiteX24" fmla="*/ 2790103 w 2929251"/>
              <a:gd name="connsiteY24" fmla="*/ 834887 h 2335920"/>
              <a:gd name="connsiteX25" fmla="*/ 2849738 w 2929251"/>
              <a:gd name="connsiteY25" fmla="*/ 874643 h 2335920"/>
              <a:gd name="connsiteX26" fmla="*/ 2909373 w 2929251"/>
              <a:gd name="connsiteY26" fmla="*/ 993913 h 2335920"/>
              <a:gd name="connsiteX27" fmla="*/ 2929251 w 2929251"/>
              <a:gd name="connsiteY27" fmla="*/ 1053548 h 2335920"/>
              <a:gd name="connsiteX28" fmla="*/ 2889495 w 2929251"/>
              <a:gd name="connsiteY28" fmla="*/ 1113183 h 2335920"/>
              <a:gd name="connsiteX29" fmla="*/ 2710590 w 2929251"/>
              <a:gd name="connsiteY29" fmla="*/ 1252330 h 2335920"/>
              <a:gd name="connsiteX30" fmla="*/ 2631077 w 2929251"/>
              <a:gd name="connsiteY30" fmla="*/ 1431235 h 2335920"/>
              <a:gd name="connsiteX31" fmla="*/ 2611199 w 2929251"/>
              <a:gd name="connsiteY31" fmla="*/ 1490869 h 2335920"/>
              <a:gd name="connsiteX32" fmla="*/ 2551564 w 2929251"/>
              <a:gd name="connsiteY32" fmla="*/ 1610139 h 2335920"/>
              <a:gd name="connsiteX33" fmla="*/ 2491929 w 2929251"/>
              <a:gd name="connsiteY33" fmla="*/ 1649896 h 2335920"/>
              <a:gd name="connsiteX34" fmla="*/ 2432295 w 2929251"/>
              <a:gd name="connsiteY34" fmla="*/ 1669774 h 2335920"/>
              <a:gd name="connsiteX35" fmla="*/ 2253390 w 2929251"/>
              <a:gd name="connsiteY35" fmla="*/ 1689652 h 2335920"/>
              <a:gd name="connsiteX36" fmla="*/ 2193755 w 2929251"/>
              <a:gd name="connsiteY36" fmla="*/ 1709530 h 2335920"/>
              <a:gd name="connsiteX37" fmla="*/ 2114242 w 2929251"/>
              <a:gd name="connsiteY37" fmla="*/ 1888435 h 2335920"/>
              <a:gd name="connsiteX38" fmla="*/ 2094364 w 2929251"/>
              <a:gd name="connsiteY38" fmla="*/ 1948069 h 2335920"/>
              <a:gd name="connsiteX39" fmla="*/ 2034729 w 2929251"/>
              <a:gd name="connsiteY39" fmla="*/ 2067339 h 2335920"/>
              <a:gd name="connsiteX40" fmla="*/ 1994973 w 2929251"/>
              <a:gd name="connsiteY40" fmla="*/ 2206487 h 2335920"/>
              <a:gd name="connsiteX41" fmla="*/ 1935338 w 2929251"/>
              <a:gd name="connsiteY41" fmla="*/ 2266122 h 2335920"/>
              <a:gd name="connsiteX42" fmla="*/ 1875703 w 2929251"/>
              <a:gd name="connsiteY42" fmla="*/ 2286000 h 2335920"/>
              <a:gd name="connsiteX43" fmla="*/ 1736555 w 2929251"/>
              <a:gd name="connsiteY43" fmla="*/ 2325756 h 2335920"/>
              <a:gd name="connsiteX44" fmla="*/ 1358869 w 2929251"/>
              <a:gd name="connsiteY44" fmla="*/ 2305878 h 2335920"/>
              <a:gd name="connsiteX45" fmla="*/ 1299234 w 2929251"/>
              <a:gd name="connsiteY45" fmla="*/ 2266122 h 2335920"/>
              <a:gd name="connsiteX46" fmla="*/ 1179964 w 2929251"/>
              <a:gd name="connsiteY46" fmla="*/ 2226365 h 2335920"/>
              <a:gd name="connsiteX47" fmla="*/ 1001060 w 2929251"/>
              <a:gd name="connsiteY47" fmla="*/ 2166730 h 2335920"/>
              <a:gd name="connsiteX48" fmla="*/ 941425 w 2929251"/>
              <a:gd name="connsiteY48" fmla="*/ 2146852 h 2335920"/>
              <a:gd name="connsiteX49" fmla="*/ 881790 w 2929251"/>
              <a:gd name="connsiteY49" fmla="*/ 2126974 h 2335920"/>
              <a:gd name="connsiteX50" fmla="*/ 722764 w 2929251"/>
              <a:gd name="connsiteY50" fmla="*/ 2107096 h 2335920"/>
              <a:gd name="connsiteX51" fmla="*/ 643251 w 2929251"/>
              <a:gd name="connsiteY51" fmla="*/ 2087217 h 2335920"/>
              <a:gd name="connsiteX52" fmla="*/ 543860 w 2929251"/>
              <a:gd name="connsiteY52" fmla="*/ 2067339 h 2335920"/>
              <a:gd name="connsiteX53" fmla="*/ 484225 w 2929251"/>
              <a:gd name="connsiteY53" fmla="*/ 2047461 h 2335920"/>
              <a:gd name="connsiteX54" fmla="*/ 424590 w 2929251"/>
              <a:gd name="connsiteY54" fmla="*/ 2007704 h 2335920"/>
              <a:gd name="connsiteX55" fmla="*/ 305321 w 2929251"/>
              <a:gd name="connsiteY55" fmla="*/ 1967948 h 2335920"/>
              <a:gd name="connsiteX56" fmla="*/ 245686 w 2929251"/>
              <a:gd name="connsiteY56" fmla="*/ 1709530 h 2335920"/>
              <a:gd name="connsiteX57" fmla="*/ 265564 w 2929251"/>
              <a:gd name="connsiteY57" fmla="*/ 1630017 h 2335920"/>
              <a:gd name="connsiteX58" fmla="*/ 345077 w 2929251"/>
              <a:gd name="connsiteY58" fmla="*/ 1510748 h 2335920"/>
              <a:gd name="connsiteX59" fmla="*/ 364955 w 2929251"/>
              <a:gd name="connsiteY59" fmla="*/ 1431235 h 2335920"/>
              <a:gd name="connsiteX60" fmla="*/ 404712 w 2929251"/>
              <a:gd name="connsiteY60" fmla="*/ 1311965 h 2335920"/>
              <a:gd name="connsiteX61" fmla="*/ 384834 w 2929251"/>
              <a:gd name="connsiteY61" fmla="*/ 1252330 h 2335920"/>
              <a:gd name="connsiteX62" fmla="*/ 384834 w 2929251"/>
              <a:gd name="connsiteY62" fmla="*/ 1172817 h 233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929251" h="2335920">
                <a:moveTo>
                  <a:pt x="384834" y="1172817"/>
                </a:moveTo>
                <a:cubicBezTo>
                  <a:pt x="364956" y="1149626"/>
                  <a:pt x="430172" y="1195487"/>
                  <a:pt x="265564" y="1113183"/>
                </a:cubicBezTo>
                <a:cubicBezTo>
                  <a:pt x="111423" y="1036113"/>
                  <a:pt x="296189" y="1103513"/>
                  <a:pt x="146295" y="1053548"/>
                </a:cubicBezTo>
                <a:cubicBezTo>
                  <a:pt x="126417" y="1040296"/>
                  <a:pt x="101584" y="1032447"/>
                  <a:pt x="86660" y="1013791"/>
                </a:cubicBezTo>
                <a:cubicBezTo>
                  <a:pt x="73570" y="997429"/>
                  <a:pt x="76153" y="972897"/>
                  <a:pt x="66782" y="954156"/>
                </a:cubicBezTo>
                <a:cubicBezTo>
                  <a:pt x="56098" y="932788"/>
                  <a:pt x="40277" y="914400"/>
                  <a:pt x="27025" y="894522"/>
                </a:cubicBezTo>
                <a:cubicBezTo>
                  <a:pt x="20399" y="874644"/>
                  <a:pt x="7147" y="855841"/>
                  <a:pt x="7147" y="834887"/>
                </a:cubicBezTo>
                <a:cubicBezTo>
                  <a:pt x="7147" y="468155"/>
                  <a:pt x="0" y="641237"/>
                  <a:pt x="46903" y="477078"/>
                </a:cubicBezTo>
                <a:cubicBezTo>
                  <a:pt x="54408" y="450809"/>
                  <a:pt x="60855" y="424235"/>
                  <a:pt x="66782" y="397565"/>
                </a:cubicBezTo>
                <a:cubicBezTo>
                  <a:pt x="74111" y="364583"/>
                  <a:pt x="77770" y="330770"/>
                  <a:pt x="86660" y="298174"/>
                </a:cubicBezTo>
                <a:cubicBezTo>
                  <a:pt x="97686" y="257743"/>
                  <a:pt x="113164" y="218661"/>
                  <a:pt x="126416" y="178904"/>
                </a:cubicBezTo>
                <a:cubicBezTo>
                  <a:pt x="133042" y="159026"/>
                  <a:pt x="134672" y="136704"/>
                  <a:pt x="146295" y="119269"/>
                </a:cubicBezTo>
                <a:cubicBezTo>
                  <a:pt x="209297" y="24766"/>
                  <a:pt x="163387" y="67190"/>
                  <a:pt x="305321" y="19878"/>
                </a:cubicBezTo>
                <a:lnTo>
                  <a:pt x="364955" y="0"/>
                </a:lnTo>
                <a:cubicBezTo>
                  <a:pt x="914920" y="6626"/>
                  <a:pt x="1465158" y="1349"/>
                  <a:pt x="2014851" y="19878"/>
                </a:cubicBezTo>
                <a:cubicBezTo>
                  <a:pt x="2101533" y="22800"/>
                  <a:pt x="2188090" y="95615"/>
                  <a:pt x="2253390" y="139148"/>
                </a:cubicBezTo>
                <a:lnTo>
                  <a:pt x="2313025" y="178904"/>
                </a:lnTo>
                <a:lnTo>
                  <a:pt x="2372660" y="218661"/>
                </a:lnTo>
                <a:cubicBezTo>
                  <a:pt x="2385912" y="238539"/>
                  <a:pt x="2395523" y="261403"/>
                  <a:pt x="2412416" y="278296"/>
                </a:cubicBezTo>
                <a:cubicBezTo>
                  <a:pt x="2544942" y="410822"/>
                  <a:pt x="2405786" y="218656"/>
                  <a:pt x="2511808" y="377687"/>
                </a:cubicBezTo>
                <a:cubicBezTo>
                  <a:pt x="2532522" y="439831"/>
                  <a:pt x="2552610" y="517532"/>
                  <a:pt x="2611199" y="556591"/>
                </a:cubicBezTo>
                <a:lnTo>
                  <a:pt x="2670834" y="596348"/>
                </a:lnTo>
                <a:cubicBezTo>
                  <a:pt x="2677460" y="616226"/>
                  <a:pt x="2680536" y="637666"/>
                  <a:pt x="2690712" y="655983"/>
                </a:cubicBezTo>
                <a:cubicBezTo>
                  <a:pt x="2713917" y="697751"/>
                  <a:pt x="2755115" y="729923"/>
                  <a:pt x="2770225" y="775252"/>
                </a:cubicBezTo>
                <a:cubicBezTo>
                  <a:pt x="2776851" y="795130"/>
                  <a:pt x="2777013" y="818525"/>
                  <a:pt x="2790103" y="834887"/>
                </a:cubicBezTo>
                <a:cubicBezTo>
                  <a:pt x="2805027" y="853542"/>
                  <a:pt x="2829860" y="861391"/>
                  <a:pt x="2849738" y="874643"/>
                </a:cubicBezTo>
                <a:cubicBezTo>
                  <a:pt x="2899702" y="1024537"/>
                  <a:pt x="2832304" y="839774"/>
                  <a:pt x="2909373" y="993913"/>
                </a:cubicBezTo>
                <a:cubicBezTo>
                  <a:pt x="2918744" y="1012654"/>
                  <a:pt x="2922625" y="1033670"/>
                  <a:pt x="2929251" y="1053548"/>
                </a:cubicBezTo>
                <a:cubicBezTo>
                  <a:pt x="2915999" y="1073426"/>
                  <a:pt x="2907475" y="1097451"/>
                  <a:pt x="2889495" y="1113183"/>
                </a:cubicBezTo>
                <a:cubicBezTo>
                  <a:pt x="2753106" y="1232523"/>
                  <a:pt x="2800322" y="1144652"/>
                  <a:pt x="2710590" y="1252330"/>
                </a:cubicBezTo>
                <a:cubicBezTo>
                  <a:pt x="2658090" y="1315330"/>
                  <a:pt x="2659968" y="1344562"/>
                  <a:pt x="2631077" y="1431235"/>
                </a:cubicBezTo>
                <a:lnTo>
                  <a:pt x="2611199" y="1490869"/>
                </a:lnTo>
                <a:cubicBezTo>
                  <a:pt x="2595031" y="1539373"/>
                  <a:pt x="2590100" y="1571603"/>
                  <a:pt x="2551564" y="1610139"/>
                </a:cubicBezTo>
                <a:cubicBezTo>
                  <a:pt x="2534671" y="1627032"/>
                  <a:pt x="2513298" y="1639212"/>
                  <a:pt x="2491929" y="1649896"/>
                </a:cubicBezTo>
                <a:cubicBezTo>
                  <a:pt x="2473188" y="1659267"/>
                  <a:pt x="2452963" y="1666329"/>
                  <a:pt x="2432295" y="1669774"/>
                </a:cubicBezTo>
                <a:cubicBezTo>
                  <a:pt x="2373109" y="1679638"/>
                  <a:pt x="2313025" y="1683026"/>
                  <a:pt x="2253390" y="1689652"/>
                </a:cubicBezTo>
                <a:cubicBezTo>
                  <a:pt x="2233512" y="1696278"/>
                  <a:pt x="2210117" y="1696440"/>
                  <a:pt x="2193755" y="1709530"/>
                </a:cubicBezTo>
                <a:cubicBezTo>
                  <a:pt x="2150800" y="1743894"/>
                  <a:pt x="2126389" y="1851994"/>
                  <a:pt x="2114242" y="1888435"/>
                </a:cubicBezTo>
                <a:cubicBezTo>
                  <a:pt x="2107616" y="1908313"/>
                  <a:pt x="2105987" y="1930635"/>
                  <a:pt x="2094364" y="1948069"/>
                </a:cubicBezTo>
                <a:cubicBezTo>
                  <a:pt x="2050806" y="2013407"/>
                  <a:pt x="2055304" y="1995329"/>
                  <a:pt x="2034729" y="2067339"/>
                </a:cubicBezTo>
                <a:cubicBezTo>
                  <a:pt x="2031416" y="2078936"/>
                  <a:pt x="2006888" y="2188614"/>
                  <a:pt x="1994973" y="2206487"/>
                </a:cubicBezTo>
                <a:cubicBezTo>
                  <a:pt x="1979379" y="2229878"/>
                  <a:pt x="1958729" y="2250528"/>
                  <a:pt x="1935338" y="2266122"/>
                </a:cubicBezTo>
                <a:cubicBezTo>
                  <a:pt x="1917904" y="2277745"/>
                  <a:pt x="1895850" y="2280244"/>
                  <a:pt x="1875703" y="2286000"/>
                </a:cubicBezTo>
                <a:cubicBezTo>
                  <a:pt x="1700981" y="2335920"/>
                  <a:pt x="1879539" y="2278095"/>
                  <a:pt x="1736555" y="2325756"/>
                </a:cubicBezTo>
                <a:cubicBezTo>
                  <a:pt x="1610660" y="2319130"/>
                  <a:pt x="1483783" y="2322911"/>
                  <a:pt x="1358869" y="2305878"/>
                </a:cubicBezTo>
                <a:cubicBezTo>
                  <a:pt x="1335197" y="2302650"/>
                  <a:pt x="1321066" y="2275825"/>
                  <a:pt x="1299234" y="2266122"/>
                </a:cubicBezTo>
                <a:cubicBezTo>
                  <a:pt x="1260939" y="2249102"/>
                  <a:pt x="1219721" y="2239617"/>
                  <a:pt x="1179964" y="2226365"/>
                </a:cubicBezTo>
                <a:lnTo>
                  <a:pt x="1001060" y="2166730"/>
                </a:lnTo>
                <a:lnTo>
                  <a:pt x="941425" y="2146852"/>
                </a:lnTo>
                <a:cubicBezTo>
                  <a:pt x="921547" y="2140226"/>
                  <a:pt x="902582" y="2129573"/>
                  <a:pt x="881790" y="2126974"/>
                </a:cubicBezTo>
                <a:lnTo>
                  <a:pt x="722764" y="2107096"/>
                </a:lnTo>
                <a:cubicBezTo>
                  <a:pt x="696260" y="2100470"/>
                  <a:pt x="669921" y="2093144"/>
                  <a:pt x="643251" y="2087217"/>
                </a:cubicBezTo>
                <a:cubicBezTo>
                  <a:pt x="610269" y="2079888"/>
                  <a:pt x="576638" y="2075533"/>
                  <a:pt x="543860" y="2067339"/>
                </a:cubicBezTo>
                <a:cubicBezTo>
                  <a:pt x="523532" y="2062257"/>
                  <a:pt x="504103" y="2054087"/>
                  <a:pt x="484225" y="2047461"/>
                </a:cubicBezTo>
                <a:cubicBezTo>
                  <a:pt x="464347" y="2034209"/>
                  <a:pt x="446422" y="2017407"/>
                  <a:pt x="424590" y="2007704"/>
                </a:cubicBezTo>
                <a:cubicBezTo>
                  <a:pt x="386295" y="1990684"/>
                  <a:pt x="305321" y="1967948"/>
                  <a:pt x="305321" y="1967948"/>
                </a:cubicBezTo>
                <a:cubicBezTo>
                  <a:pt x="205639" y="1818424"/>
                  <a:pt x="213343" y="1887418"/>
                  <a:pt x="245686" y="1709530"/>
                </a:cubicBezTo>
                <a:cubicBezTo>
                  <a:pt x="250573" y="1682651"/>
                  <a:pt x="253346" y="1654453"/>
                  <a:pt x="265564" y="1630017"/>
                </a:cubicBezTo>
                <a:cubicBezTo>
                  <a:pt x="286932" y="1587280"/>
                  <a:pt x="345077" y="1510748"/>
                  <a:pt x="345077" y="1510748"/>
                </a:cubicBezTo>
                <a:cubicBezTo>
                  <a:pt x="351703" y="1484244"/>
                  <a:pt x="357105" y="1457403"/>
                  <a:pt x="364955" y="1431235"/>
                </a:cubicBezTo>
                <a:cubicBezTo>
                  <a:pt x="376997" y="1391095"/>
                  <a:pt x="404712" y="1311965"/>
                  <a:pt x="404712" y="1311965"/>
                </a:cubicBezTo>
                <a:cubicBezTo>
                  <a:pt x="398086" y="1292087"/>
                  <a:pt x="394205" y="1271071"/>
                  <a:pt x="384834" y="1252330"/>
                </a:cubicBezTo>
                <a:cubicBezTo>
                  <a:pt x="374150" y="1230962"/>
                  <a:pt x="404712" y="1196008"/>
                  <a:pt x="384834" y="1172817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7357921-2592-C00E-5E1F-F0F2D8F815EB}"/>
              </a:ext>
            </a:extLst>
          </p:cNvPr>
          <p:cNvSpPr txBox="1"/>
          <p:nvPr/>
        </p:nvSpPr>
        <p:spPr>
          <a:xfrm>
            <a:off x="5993259" y="2001977"/>
            <a:ext cx="13048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ru-RU" sz="1050" b="1" dirty="0">
                <a:solidFill>
                  <a:srgbClr val="C00000"/>
                </a:solidFill>
              </a:rPr>
              <a:t>Новосибирск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ACF0041-EA71-2211-4F4E-8CB8C51E91B0}"/>
              </a:ext>
            </a:extLst>
          </p:cNvPr>
          <p:cNvSpPr txBox="1"/>
          <p:nvPr/>
        </p:nvSpPr>
        <p:spPr>
          <a:xfrm>
            <a:off x="6393952" y="4420498"/>
            <a:ext cx="1107207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ru-RU" sz="1050" b="1" dirty="0">
                <a:solidFill>
                  <a:srgbClr val="C00000"/>
                </a:solidFill>
              </a:rPr>
              <a:t>Омск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8D569E1-6D65-0550-1166-9BFE523FABDC}"/>
              </a:ext>
            </a:extLst>
          </p:cNvPr>
          <p:cNvSpPr txBox="1"/>
          <p:nvPr/>
        </p:nvSpPr>
        <p:spPr>
          <a:xfrm>
            <a:off x="3181463" y="3158229"/>
            <a:ext cx="3169283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/>
              <a:t>Коммуникационная сеть</a:t>
            </a:r>
          </a:p>
        </p:txBody>
      </p:sp>
      <p:sp>
        <p:nvSpPr>
          <p:cNvPr id="111" name="Дуга 147">
            <a:extLst>
              <a:ext uri="{FF2B5EF4-FFF2-40B4-BE49-F238E27FC236}">
                <a16:creationId xmlns:a16="http://schemas.microsoft.com/office/drawing/2014/main" id="{ABF53C8A-E704-4A1C-8A6C-CBC8478B4FF0}"/>
              </a:ext>
            </a:extLst>
          </p:cNvPr>
          <p:cNvSpPr/>
          <p:nvPr/>
        </p:nvSpPr>
        <p:spPr>
          <a:xfrm>
            <a:off x="779127" y="2522124"/>
            <a:ext cx="3067775" cy="695740"/>
          </a:xfrm>
          <a:prstGeom prst="arc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sp>
        <p:nvSpPr>
          <p:cNvPr id="112" name="Дуга 149">
            <a:extLst>
              <a:ext uri="{FF2B5EF4-FFF2-40B4-BE49-F238E27FC236}">
                <a16:creationId xmlns:a16="http://schemas.microsoft.com/office/drawing/2014/main" id="{99383C3C-BA25-A944-54D9-6CFE23200242}"/>
              </a:ext>
            </a:extLst>
          </p:cNvPr>
          <p:cNvSpPr/>
          <p:nvPr/>
        </p:nvSpPr>
        <p:spPr>
          <a:xfrm>
            <a:off x="4974758" y="2492308"/>
            <a:ext cx="2729417" cy="705678"/>
          </a:xfrm>
          <a:prstGeom prst="arc">
            <a:avLst>
              <a:gd name="adj1" fmla="val 10745540"/>
              <a:gd name="adj2" fmla="val 16254724"/>
            </a:avLst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sp>
        <p:nvSpPr>
          <p:cNvPr id="113" name="Дуга 150">
            <a:extLst>
              <a:ext uri="{FF2B5EF4-FFF2-40B4-BE49-F238E27FC236}">
                <a16:creationId xmlns:a16="http://schemas.microsoft.com/office/drawing/2014/main" id="{988C365E-9562-3BF6-DE22-353FF4D45C5B}"/>
              </a:ext>
            </a:extLst>
          </p:cNvPr>
          <p:cNvSpPr/>
          <p:nvPr/>
        </p:nvSpPr>
        <p:spPr>
          <a:xfrm>
            <a:off x="1162598" y="3333820"/>
            <a:ext cx="2706860" cy="708991"/>
          </a:xfrm>
          <a:prstGeom prst="arc">
            <a:avLst>
              <a:gd name="adj1" fmla="val 21502180"/>
              <a:gd name="adj2" fmla="val 5875938"/>
            </a:avLst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sp>
        <p:nvSpPr>
          <p:cNvPr id="114" name="Дуга 151">
            <a:extLst>
              <a:ext uri="{FF2B5EF4-FFF2-40B4-BE49-F238E27FC236}">
                <a16:creationId xmlns:a16="http://schemas.microsoft.com/office/drawing/2014/main" id="{D708F45B-9130-4AD6-46BC-E9F52EF618C6}"/>
              </a:ext>
            </a:extLst>
          </p:cNvPr>
          <p:cNvSpPr/>
          <p:nvPr/>
        </p:nvSpPr>
        <p:spPr>
          <a:xfrm>
            <a:off x="4944681" y="3330507"/>
            <a:ext cx="2714381" cy="682487"/>
          </a:xfrm>
          <a:prstGeom prst="arc">
            <a:avLst>
              <a:gd name="adj1" fmla="val 5098107"/>
              <a:gd name="adj2" fmla="val 10769269"/>
            </a:avLst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</p:spTree>
    <p:extLst>
      <p:ext uri="{BB962C8B-B14F-4D97-AF65-F5344CB8AC3E}">
        <p14:creationId xmlns:p14="http://schemas.microsoft.com/office/powerpoint/2010/main" val="197326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A2C0-60D9-A618-63B8-C72A7F25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295103-42AF-513F-0E06-4AD6FBAB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F2244-79FF-FEEE-210E-A812A36E64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Каждый узел обладает 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собственной СУБД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собственным программным обеспечением для управления транзакциями (включая ПО для блокировок, протоколирования и восстановления)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собственным локальным диспетчером передачи данных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собственными базами данных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собственными пользователями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Пользователь может </a:t>
            </a:r>
            <a:r>
              <a:rPr lang="ru-RU" i="1" dirty="0"/>
              <a:t>на собственном узле </a:t>
            </a:r>
            <a:r>
              <a:rPr lang="ru-RU" dirty="0"/>
              <a:t>работать так, как будто он </a:t>
            </a:r>
            <a:r>
              <a:rPr lang="ru-RU" b="1" dirty="0"/>
              <a:t>не является</a:t>
            </a:r>
            <a:r>
              <a:rPr lang="ru-RU" dirty="0"/>
              <a:t> частью распределенной системы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9DF85-DF98-8703-C3B5-F6C935246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Характеристика системы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76DFD2-B02A-AF31-9F2B-0DDCD638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03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775F9-2C3D-1AB3-59B7-9F9B8CF9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D059D-8062-E1FA-5317-FE9DBAB0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7B20B-C6B7-753D-AD94-7F77D02D9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Распределенная СУБД – способ </a:t>
            </a:r>
            <a:r>
              <a:rPr lang="ru-RU" b="1" dirty="0"/>
              <a:t>совместной работы</a:t>
            </a:r>
            <a:r>
              <a:rPr lang="ru-RU" dirty="0"/>
              <a:t> отдельных локальных СУБД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Новый компонент программного обеспечения</a:t>
            </a:r>
            <a:r>
              <a:rPr lang="ru-RU" dirty="0"/>
              <a:t> на каждом узле (логическом продолжении локальной СУБД) поддерживает все необходимые функции совместной работы.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Комбинация</a:t>
            </a:r>
            <a:r>
              <a:rPr lang="ru-RU" dirty="0"/>
              <a:t> нового ПО и существующей СУБД называется </a:t>
            </a:r>
            <a:r>
              <a:rPr lang="ru-RU" b="1" dirty="0"/>
              <a:t>распределенной системой управления базами данных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Узлы могут быть распределены географически, хотя достаточно логического распределения.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F3325-B802-2B49-E57E-CFA12444F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Распределенная СУБД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281AFB-A7DD-12F9-2FEF-08193DC48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27165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B9C9-F73A-6B15-4659-01C2D068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134D71-D837-5BE1-8F39-71D1912A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03B4B-7D45-811C-3BA1-56B98C43DD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Преимущества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распределенной системе легче отразить </a:t>
            </a:r>
            <a:r>
              <a:rPr lang="ru-RU" b="1" dirty="0"/>
              <a:t>распределенную структуру крупных предприятий</a:t>
            </a:r>
            <a:r>
              <a:rPr lang="ru-RU" dirty="0"/>
              <a:t> с помощью распределенной БД (данные распределены по филиалам)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Эффективность обработки</a:t>
            </a:r>
            <a:r>
              <a:rPr lang="ru-RU" dirty="0"/>
              <a:t> (данные хранятся в близи того места, где они более всего необходимы)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Повышенная доступность</a:t>
            </a:r>
            <a:r>
              <a:rPr lang="ru-RU" dirty="0"/>
              <a:t> (можно по сети извлекать данные филиалов)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Недостаток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Сложность</a:t>
            </a:r>
            <a:r>
              <a:rPr lang="ru-RU" dirty="0"/>
              <a:t> распределенных систем для разработчика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Конфликты между доступностью и согласованностью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84C0E-ED67-2D9C-5BA0-2378358FE1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Преимущества и недостатки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5B99F2-8B1E-F54A-8F8F-E9EE1208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83405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4C90-AFDC-ECFF-656F-3678EA80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0BFA0-FF0D-9E19-6DE1-72F06B25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A8259-D26C-6AC9-BE23-15BB51A8D9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Для пользователя распределенная система должна выглядеть точно так же, как </a:t>
            </a:r>
            <a:br>
              <a:rPr lang="ru-RU" dirty="0"/>
            </a:br>
            <a:r>
              <a:rPr lang="ru-RU" b="1" dirty="0"/>
              <a:t>НЕ распределенная </a:t>
            </a:r>
            <a:r>
              <a:rPr lang="ru-RU" dirty="0"/>
              <a:t>система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Все связанные с распределением </a:t>
            </a:r>
            <a:r>
              <a:rPr lang="ru-RU" b="1" dirty="0"/>
              <a:t>проблемы должны быть внутренними</a:t>
            </a:r>
            <a:r>
              <a:rPr lang="ru-RU" dirty="0"/>
              <a:t> и возникать только на уровне разработчиков, а не на уровне пользователей.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Пользователи – это конечные потребители и разработчики приложений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A524D-E5B4-7035-3144-9B4DFBA82C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Фундаментальный принцип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B78233-F205-20B9-E857-4DB189EF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95431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F11F-4FD8-3FE4-78F8-9FC042BF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3E06BC-6F80-2087-873E-815DCCDB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FF679-5109-E953-8E26-5BF94A7A01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 fontScale="77500" lnSpcReduction="20000"/>
          </a:bodyPr>
          <a:lstStyle/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Локальная автономия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центрального узла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Непрерывное функционирование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расположения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фрагментации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репликации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Обработка распределенных запросов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Управление распределенными транзакциями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аппаратного обеспечения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операционной системы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сети</a:t>
            </a:r>
          </a:p>
          <a:p>
            <a:pPr marL="266700" indent="-26670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Font typeface="+mj-lt"/>
              <a:buAutoNum type="arabicPeriod"/>
            </a:pPr>
            <a:r>
              <a:rPr lang="ru-RU" dirty="0"/>
              <a:t>Независимость от СУБД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Clr>
                <a:srgbClr val="5F9E38"/>
              </a:buClr>
              <a:buNone/>
            </a:pPr>
            <a:r>
              <a:rPr lang="en-US" sz="1300" dirty="0" err="1"/>
              <a:t>Введены</a:t>
            </a:r>
            <a:r>
              <a:rPr lang="en-US" sz="1300" dirty="0"/>
              <a:t> в </a:t>
            </a:r>
            <a:r>
              <a:rPr lang="en-US" sz="1300" dirty="0" err="1"/>
              <a:t>статье</a:t>
            </a:r>
            <a:r>
              <a:rPr lang="en-US" sz="1300" dirty="0"/>
              <a:t> Date C.J. What is a Distributed database Systems, Mass.: Addison-Wesley, 1990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24BAA-6230-94E1-9F0F-42CADEDE3A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Правила или цели для РСБД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3B5FAA-0C7C-8145-AD8E-04B82954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23542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3E14-FB90-C667-D0AB-02C163A0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47518-7BC6-166D-0976-5FAFC113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1E5CD-2ABD-33D6-3C78-4B529F4FA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/>
          </a:bodyPr>
          <a:lstStyle/>
          <a:p>
            <a:r>
              <a:rPr lang="ru-RU" dirty="0"/>
              <a:t>Локальная автономия означает, что функционирование любого узла Х </a:t>
            </a:r>
            <a:r>
              <a:rPr lang="ru-RU" b="1" dirty="0"/>
              <a:t>НЕ зависит</a:t>
            </a:r>
            <a:r>
              <a:rPr lang="ru-RU" b="1" dirty="0">
                <a:solidFill>
                  <a:schemeClr val="bg2"/>
                </a:solidFill>
              </a:rPr>
              <a:t> </a:t>
            </a:r>
            <a:r>
              <a:rPr lang="ru-RU" dirty="0"/>
              <a:t>от выполнения операций на любом другом узле </a:t>
            </a:r>
            <a:r>
              <a:rPr lang="en-US" dirty="0"/>
              <a:t>Y.</a:t>
            </a:r>
          </a:p>
          <a:p>
            <a:r>
              <a:rPr lang="ru-RU" dirty="0"/>
              <a:t>Управление и владение данными осуществляется локально вместе с локальным ведением учета</a:t>
            </a:r>
          </a:p>
          <a:p>
            <a:r>
              <a:rPr lang="ru-RU" dirty="0"/>
              <a:t>Безопасность, целостность и структура хранения остаются </a:t>
            </a:r>
            <a:r>
              <a:rPr lang="ru-RU" u="sng" dirty="0"/>
              <a:t>под контролем локального узла</a:t>
            </a:r>
          </a:p>
          <a:p>
            <a:r>
              <a:rPr lang="ru-RU" dirty="0"/>
              <a:t>Узлы следует делать автономными в </a:t>
            </a:r>
            <a:r>
              <a:rPr lang="ru-RU" b="1" dirty="0"/>
              <a:t>максимально возможной степени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A87DC-FF8B-1B00-8209-B184FADC46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1. Локальная автономия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CAE794-8454-990C-199B-E46BE812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08712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6C728-21A4-48A5-3DD2-D27A95E9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49CB41-A3AC-6855-3C29-DC40B714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7B654-522E-F60E-3C95-B40519C654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Узлы должны рассматриваться как равные.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НЕ должно быть «основного» узла, который: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Обрабатывает запросы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Управляет транзакциями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Управляет централизованным присвоением имен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автономность достигнута, то и независимость тоже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Но если полная автономность не достигнута, то НЕЗАВИСИМОСТЬ сама по себе важна.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Зависимость от центрального узла – « узкое  место» и уязвимость.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899B7-E789-49A2-7800-E9F24F905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2. Независимость от центрального узла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CC52A6-B467-9F79-56CD-A1788DF5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82065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DCDC-76FB-61DB-3218-32F4562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385FAC-4898-33F7-2B3B-84E28063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9DD1F-9344-AD67-B79C-6E93342215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Преимущество распределенных систем  в обеспечении непрерывной работы бизнес процессов (надежность и доступность)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Надежность</a:t>
            </a:r>
            <a:r>
              <a:rPr lang="ru-RU" dirty="0"/>
              <a:t> – вероятность  того, что система исправна и работает в любой заданный момент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Доступность</a:t>
            </a:r>
            <a:r>
              <a:rPr lang="ru-RU" dirty="0"/>
              <a:t> – вероятность   того, что система исправна и работает в течение некоторого промежутка времени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Незапланированные выключения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идеале следовало бы исключить </a:t>
            </a:r>
            <a:r>
              <a:rPr lang="ru-RU" b="1" dirty="0"/>
              <a:t>запланированные выключения </a:t>
            </a:r>
            <a:r>
              <a:rPr lang="ru-RU" dirty="0"/>
              <a:t>(обновление ПО, добавление узла)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42764-30E6-A07F-F2F9-5877FEA59A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3. Непрерывное функционирование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098D07-1587-987B-4944-04ED3FC6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73717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3C56-890C-E67B-B673-635FD1AE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AE11D8-2622-BE50-2AE7-9445CB29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DA743-442D-E560-7F94-486F6344E7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925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Следует обеспечить режим, при котором создается впечатление, что все данные хранятся на собственном узле.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Пользователь не должен знать в каком физическом месте хранятся данные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Упрощаются пользовательские программы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Обеспечивается миграция данных от узла к узлу без изменения программ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Расширение концепции (физической) независимости данных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5637D-1135-4E56-801B-A6BB17463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4. Независимость от расположения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B96273-8914-13D6-CA87-36E5B442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15775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DB7B-D4C0-7BBE-A429-249246FF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ED2B4E-A269-209F-EA6A-85395BDB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9534-07AD-75A1-C1E6-7841121AF0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Фрагментация – разделение на части для повышения производительности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endParaRPr lang="ru-RU" sz="8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(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EMP#, DEPT#, Salary)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2000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35000</a:t>
            </a:r>
            <a:b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.....     ..   .....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Fragment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INTO</a:t>
            </a:r>
            <a:br>
              <a:rPr lang="ru-RU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solidFill>
                  <a:srgbClr val="6D1125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K_EMP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 SITE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Кемерово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'D1'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i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OR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'D3'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solidFill>
                  <a:srgbClr val="6D1125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N_EMP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 SITE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Новосибирск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endParaRPr lang="ru-RU" dirty="0">
              <a:solidFill>
                <a:srgbClr val="7030A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2 </a:t>
            </a:r>
            <a:r>
              <a:rPr lang="ru-RU" dirty="0"/>
              <a:t>типа фрагментации – горизонтальная, вертикальная (реляционные операции)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748DD-0806-BAD4-4C1C-C34DE0C49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5. Независимость от фрагментации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171B98-3175-D97A-E79D-0FA66277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92136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7738-AF3D-C70E-EE89-7F32E166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39ECD9-12B9-39C6-B1C2-6E0CC6FD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2097B-AA82-2526-12F4-1A592359D6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/>
          </a:bodyPr>
          <a:lstStyle/>
          <a:p>
            <a:r>
              <a:rPr lang="ru-RU" dirty="0"/>
              <a:t>Фрагмент – любое отношение, которое можно получить из исходного с помощью операций выборки и проекции</a:t>
            </a:r>
          </a:p>
          <a:p>
            <a:r>
              <a:rPr lang="ru-RU" dirty="0"/>
              <a:t>Все фрагменты отношения должны быть </a:t>
            </a:r>
            <a:r>
              <a:rPr lang="ru-RU" b="1" dirty="0"/>
              <a:t>независимы</a:t>
            </a:r>
            <a:r>
              <a:rPr lang="ru-RU" dirty="0"/>
              <a:t>. То есть ни один фрагмент не может быть выведен из других либо иметь выборку или проекцию, которая может быть выведена из других фрагментов</a:t>
            </a:r>
          </a:p>
          <a:p>
            <a:r>
              <a:rPr lang="ru-RU" dirty="0"/>
              <a:t>Проекции </a:t>
            </a:r>
            <a:r>
              <a:rPr lang="ru-RU" b="1" dirty="0"/>
              <a:t>не должны допускать потерю информации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38998-2DD7-B913-81E4-DAE89ACEBF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5. Независимость от фрагментации</a:t>
            </a:r>
            <a:r>
              <a:rPr lang="en-US" dirty="0"/>
              <a:t>. </a:t>
            </a:r>
            <a:r>
              <a:rPr lang="ru-RU" dirty="0"/>
              <a:t>Фрагменты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FACA06-FC26-AE0E-DF51-B1904D42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89257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CC891-BF5B-4A11-033E-4EF3F268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B96954F3-2C20-73EB-F9C1-5AF585829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090939"/>
              </p:ext>
            </p:extLst>
          </p:nvPr>
        </p:nvGraphicFramePr>
        <p:xfrm>
          <a:off x="395536" y="2129834"/>
          <a:ext cx="1851939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40000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10002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42000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Таблица 5">
            <a:extLst>
              <a:ext uri="{FF2B5EF4-FFF2-40B4-BE49-F238E27FC236}">
                <a16:creationId xmlns:a16="http://schemas.microsoft.com/office/drawing/2014/main" id="{13694B74-6B27-6FD6-E570-EEB8805B4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88509"/>
              </p:ext>
            </p:extLst>
          </p:nvPr>
        </p:nvGraphicFramePr>
        <p:xfrm>
          <a:off x="395536" y="2129834"/>
          <a:ext cx="1851939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40000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10002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42000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5ED798-F3C6-32FB-9B67-A8542043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DA3A0-40C8-FEA1-9512-F40855DB1B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Пример: Горизонтальная фрагментация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E1B1CA-AFE7-08A6-DAF1-2F0C8ADB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7A444-FC73-8F30-BF5A-015A0E224155}"/>
              </a:ext>
            </a:extLst>
          </p:cNvPr>
          <p:cNvSpPr txBox="1"/>
          <p:nvPr/>
        </p:nvSpPr>
        <p:spPr>
          <a:xfrm>
            <a:off x="350837" y="1835309"/>
            <a:ext cx="2294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Восприятие пользователя</a:t>
            </a:r>
            <a:endParaRPr lang="en-US" sz="1200" dirty="0"/>
          </a:p>
        </p:txBody>
      </p:sp>
      <p:graphicFrame>
        <p:nvGraphicFramePr>
          <p:cNvPr id="10" name="Таблица 5">
            <a:extLst>
              <a:ext uri="{FF2B5EF4-FFF2-40B4-BE49-F238E27FC236}">
                <a16:creationId xmlns:a16="http://schemas.microsoft.com/office/drawing/2014/main" id="{4D82A73D-7E13-EF26-A959-4C2D9EEBD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35522"/>
              </p:ext>
            </p:extLst>
          </p:nvPr>
        </p:nvGraphicFramePr>
        <p:xfrm>
          <a:off x="3131840" y="2129834"/>
          <a:ext cx="1851939" cy="1036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10001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10002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42000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066CB8D-1951-E204-1D05-4833CF00BE52}"/>
              </a:ext>
            </a:extLst>
          </p:cNvPr>
          <p:cNvSpPr txBox="1"/>
          <p:nvPr/>
        </p:nvSpPr>
        <p:spPr>
          <a:xfrm>
            <a:off x="3087141" y="1835309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Кемерово</a:t>
            </a:r>
            <a:endParaRPr lang="en-US" sz="1200" dirty="0"/>
          </a:p>
        </p:txBody>
      </p:sp>
      <p:graphicFrame>
        <p:nvGraphicFramePr>
          <p:cNvPr id="12" name="Таблица 5">
            <a:extLst>
              <a:ext uri="{FF2B5EF4-FFF2-40B4-BE49-F238E27FC236}">
                <a16:creationId xmlns:a16="http://schemas.microsoft.com/office/drawing/2014/main" id="{5FBE6F23-8291-2A31-070D-62A12AEEF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1975"/>
              </p:ext>
            </p:extLst>
          </p:nvPr>
        </p:nvGraphicFramePr>
        <p:xfrm>
          <a:off x="5724128" y="2129834"/>
          <a:ext cx="1851939" cy="777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D576E5-EE8D-BA90-8E05-8B057DE05828}"/>
              </a:ext>
            </a:extLst>
          </p:cNvPr>
          <p:cNvSpPr txBox="1"/>
          <p:nvPr/>
        </p:nvSpPr>
        <p:spPr>
          <a:xfrm>
            <a:off x="5679429" y="1835309"/>
            <a:ext cx="1247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Новосибирск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326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CAFF-3D71-406A-0A5B-3C287A6E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0942E566-6C5A-FC30-F3B4-121F58F2C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81834"/>
              </p:ext>
            </p:extLst>
          </p:nvPr>
        </p:nvGraphicFramePr>
        <p:xfrm>
          <a:off x="395536" y="2129834"/>
          <a:ext cx="1851939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40000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10002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42000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758CB-129A-ADBC-AEB2-CB4069F6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79EA0-06CA-56AC-BF45-3803556BF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Пример: ВЕРТИКАЛЬНАЯ фрагментация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C95FC6-9F18-2AF3-08F8-22A9EC04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77472-536A-2C67-CAC0-E097D3F67223}"/>
              </a:ext>
            </a:extLst>
          </p:cNvPr>
          <p:cNvSpPr txBox="1"/>
          <p:nvPr/>
        </p:nvSpPr>
        <p:spPr>
          <a:xfrm>
            <a:off x="350837" y="1835309"/>
            <a:ext cx="21194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Восприятие пользователя</a:t>
            </a:r>
            <a:endParaRPr lang="en-US" sz="1100" dirty="0"/>
          </a:p>
        </p:txBody>
      </p:sp>
      <p:graphicFrame>
        <p:nvGraphicFramePr>
          <p:cNvPr id="10" name="Таблица 5">
            <a:extLst>
              <a:ext uri="{FF2B5EF4-FFF2-40B4-BE49-F238E27FC236}">
                <a16:creationId xmlns:a16="http://schemas.microsoft.com/office/drawing/2014/main" id="{28B82D1B-804F-9D01-F786-A502932D6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487372"/>
              </p:ext>
            </p:extLst>
          </p:nvPr>
        </p:nvGraphicFramePr>
        <p:xfrm>
          <a:off x="3851920" y="2129834"/>
          <a:ext cx="1234626" cy="1554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40000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10002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42000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9644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4972005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D63E10-157A-567B-C5F3-F5198EA57379}"/>
              </a:ext>
            </a:extLst>
          </p:cNvPr>
          <p:cNvSpPr txBox="1"/>
          <p:nvPr/>
        </p:nvSpPr>
        <p:spPr>
          <a:xfrm>
            <a:off x="3807221" y="1835309"/>
            <a:ext cx="11288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Бухгалтерия</a:t>
            </a:r>
            <a:endParaRPr lang="en-US" sz="1100" dirty="0"/>
          </a:p>
        </p:txBody>
      </p:sp>
      <p:graphicFrame>
        <p:nvGraphicFramePr>
          <p:cNvPr id="12" name="Таблица 5">
            <a:extLst>
              <a:ext uri="{FF2B5EF4-FFF2-40B4-BE49-F238E27FC236}">
                <a16:creationId xmlns:a16="http://schemas.microsoft.com/office/drawing/2014/main" id="{7868350D-C002-A37A-640A-C8F1E6DA1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681425"/>
              </p:ext>
            </p:extLst>
          </p:nvPr>
        </p:nvGraphicFramePr>
        <p:xfrm>
          <a:off x="5724128" y="2129834"/>
          <a:ext cx="1234626" cy="1554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10002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8699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7734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65021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2334D8-07DD-38E1-053F-49CAFBF9647B}"/>
              </a:ext>
            </a:extLst>
          </p:cNvPr>
          <p:cNvSpPr txBox="1"/>
          <p:nvPr/>
        </p:nvSpPr>
        <p:spPr>
          <a:xfrm>
            <a:off x="5679429" y="1835309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Кадры</a:t>
            </a:r>
            <a:endParaRPr lang="en-US" sz="1100" dirty="0"/>
          </a:p>
        </p:txBody>
      </p:sp>
      <p:graphicFrame>
        <p:nvGraphicFramePr>
          <p:cNvPr id="3" name="Таблица 5">
            <a:extLst>
              <a:ext uri="{FF2B5EF4-FFF2-40B4-BE49-F238E27FC236}">
                <a16:creationId xmlns:a16="http://schemas.microsoft.com/office/drawing/2014/main" id="{5DC3D683-DD85-421A-95B1-4A729BDB5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60035"/>
              </p:ext>
            </p:extLst>
          </p:nvPr>
        </p:nvGraphicFramePr>
        <p:xfrm>
          <a:off x="395536" y="2129834"/>
          <a:ext cx="1851939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40000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10002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D1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42000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3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FD47-5986-83AE-6C7F-BAF329B8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963A8F-2CB8-FB0C-1AAF-C97C7DA2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1848B-F8D8-9C70-4E8D-54CF6DB060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Горизонтальная фрагментация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Операция реляционной алгебры «отбор».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Обратная операция – «объединение».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Вертикальная фрагментация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Операция реляционной алгебры «проекция».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Необходимость реконструкции исходного отношения БЕЗ потерь.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Обратная операция – «натуральное соединение».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Возможно использование скрытых атрибутов.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EMP(</a:t>
            </a:r>
            <a:r>
              <a:rPr lang="en-US" b="1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EMP#,DEPT#,</a:t>
            </a:r>
            <a:r>
              <a:rPr lang="en-US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SALARY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 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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	EMP1(</a:t>
            </a:r>
            <a:r>
              <a:rPr lang="en-US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TID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,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EMP#,DEPT#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), EMP2(</a:t>
            </a:r>
            <a:r>
              <a:rPr lang="en-US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TID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SALARY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r>
              <a:rPr lang="en-US" b="1" dirty="0">
                <a:latin typeface="Cascadia Code SemiBold" panose="020B0609020000020004" pitchFamily="49" charset="0"/>
                <a:cs typeface="Cascadia Code SemiBold" panose="020B0609020000020004" pitchFamily="49" charset="0"/>
                <a:sym typeface="Symbol"/>
              </a:rPr>
              <a:t> </a:t>
            </a:r>
            <a:endParaRPr lang="ru-RU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4E033-7E0A-EAFE-56B5-844319265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5. Независимость от фрагментации</a:t>
            </a:r>
            <a:r>
              <a:rPr lang="en-US" dirty="0"/>
              <a:t>. </a:t>
            </a:r>
            <a:r>
              <a:rPr lang="ru-RU" dirty="0"/>
              <a:t>операции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EC0F78-05A7-8554-BC75-249997D8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23783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3B89-DA7B-9637-AED3-0D2C9900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7F356C-1277-356E-0BB9-A9FF8AB2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9446C-1936-2F9D-CBE9-F46F3C524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Независимость от фрагментации предполагает, что данные для пользователя представляются в виде </a:t>
            </a:r>
            <a:r>
              <a:rPr lang="ru-RU" b="1" dirty="0"/>
              <a:t>логических фрагментов, </a:t>
            </a:r>
            <a:r>
              <a:rPr lang="ru-RU" dirty="0"/>
              <a:t>которые могут быть по разному разбиты на физические фрагменты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Оптимизация с учетом </a:t>
            </a:r>
            <a:r>
              <a:rPr lang="ru-RU" b="1" dirty="0"/>
              <a:t>физических фрагментов</a:t>
            </a:r>
            <a:r>
              <a:rPr lang="ru-RU" dirty="0"/>
              <a:t> делается системой</a:t>
            </a:r>
            <a:endParaRPr lang="ru-RU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Исходный запрос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*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EMP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SALARY &gt; 40000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'D1'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Так как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 =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К_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 union N_EMP</a:t>
            </a:r>
            <a:r>
              <a:rPr lang="en-US" dirty="0"/>
              <a:t>, </a:t>
            </a:r>
            <a:r>
              <a:rPr lang="ru-RU" dirty="0"/>
              <a:t>то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*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К_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union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N_EMP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SALARY &gt; 40000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'D1'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*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К_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EMP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SALARY &gt; 40000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'D1'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(DEPT#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'D1'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OR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'D3'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UNION</a:t>
            </a:r>
            <a:b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*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N_EMP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SALARY &gt; 40000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'D1'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DEPT#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'D2'</a:t>
            </a:r>
            <a:endParaRPr lang="en-US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F379B-6B02-7BAD-3FCF-3B6205BA03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5. Независимость от фрагментации</a:t>
            </a:r>
            <a:r>
              <a:rPr lang="en-US" dirty="0"/>
              <a:t>. </a:t>
            </a:r>
            <a:r>
              <a:rPr lang="ru-RU" dirty="0"/>
              <a:t>оптимизация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255553-A3D2-0F8E-17DD-81050AD4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07B6E-95DA-6EAE-35C6-0B09C0DB1003}"/>
              </a:ext>
            </a:extLst>
          </p:cNvPr>
          <p:cNvSpPr/>
          <p:nvPr/>
        </p:nvSpPr>
        <p:spPr>
          <a:xfrm>
            <a:off x="5508104" y="3448546"/>
            <a:ext cx="2592288" cy="216000"/>
          </a:xfrm>
          <a:prstGeom prst="rect">
            <a:avLst/>
          </a:prstGeom>
          <a:solidFill>
            <a:srgbClr val="00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F64B7-39AD-A5C6-8A93-8D506493B1ED}"/>
              </a:ext>
            </a:extLst>
          </p:cNvPr>
          <p:cNvSpPr/>
          <p:nvPr/>
        </p:nvSpPr>
        <p:spPr>
          <a:xfrm>
            <a:off x="4095750" y="3795886"/>
            <a:ext cx="2500313" cy="21600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27894-F28B-DB9F-C2D8-D2D448CA5F24}"/>
              </a:ext>
            </a:extLst>
          </p:cNvPr>
          <p:cNvSpPr/>
          <p:nvPr/>
        </p:nvSpPr>
        <p:spPr>
          <a:xfrm>
            <a:off x="2555776" y="3795886"/>
            <a:ext cx="4040287" cy="21600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9C4781-24DF-01E4-762F-70DE7DC9BF0C}"/>
              </a:ext>
            </a:extLst>
          </p:cNvPr>
          <p:cNvSpPr/>
          <p:nvPr/>
        </p:nvSpPr>
        <p:spPr>
          <a:xfrm>
            <a:off x="422846" y="3795886"/>
            <a:ext cx="6173217" cy="21600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2820C-2E2A-FD5C-5F2A-E81BC451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6219F-F242-8BAF-BB44-5007041E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06E2-84D4-2A53-7A23-FD7A07D981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en-US" dirty="0"/>
              <a:t>6</a:t>
            </a:r>
            <a:r>
              <a:rPr lang="ru-RU" dirty="0"/>
              <a:t>. Независимость от репликации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F9316F-FCB6-AB50-4D84-1BD23CE1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graphicFrame>
        <p:nvGraphicFramePr>
          <p:cNvPr id="12" name="Таблица 5">
            <a:extLst>
              <a:ext uri="{FF2B5EF4-FFF2-40B4-BE49-F238E27FC236}">
                <a16:creationId xmlns:a16="http://schemas.microsoft.com/office/drawing/2014/main" id="{53EDC01C-4974-0A91-5D12-E6F43F998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764391"/>
              </p:ext>
            </p:extLst>
          </p:nvPr>
        </p:nvGraphicFramePr>
        <p:xfrm>
          <a:off x="1078773" y="2199265"/>
          <a:ext cx="2500011" cy="1219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33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10001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40000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10002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42000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Таблица 5">
            <a:extLst>
              <a:ext uri="{FF2B5EF4-FFF2-40B4-BE49-F238E27FC236}">
                <a16:creationId xmlns:a16="http://schemas.microsoft.com/office/drawing/2014/main" id="{1CFE59F7-2866-9396-E732-1F86B51BE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9491"/>
              </p:ext>
            </p:extLst>
          </p:nvPr>
        </p:nvGraphicFramePr>
        <p:xfrm>
          <a:off x="1078773" y="3570614"/>
          <a:ext cx="2500011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3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EMP#</a:t>
                      </a:r>
                      <a:r>
                        <a:rPr lang="en-US" sz="1400" b="1" dirty="0">
                          <a:latin typeface="Aptos Narrow" panose="020B0004020202020204" pitchFamily="34" charset="0"/>
                        </a:rPr>
                        <a:t> 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C59349A-A608-F961-49F0-CA639F4C367C}"/>
              </a:ext>
            </a:extLst>
          </p:cNvPr>
          <p:cNvSpPr txBox="1"/>
          <p:nvPr/>
        </p:nvSpPr>
        <p:spPr>
          <a:xfrm>
            <a:off x="1835696" y="180239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Кемерово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165F3F-7097-5694-AEC5-A51F919B0EB1}"/>
              </a:ext>
            </a:extLst>
          </p:cNvPr>
          <p:cNvSpPr txBox="1"/>
          <p:nvPr/>
        </p:nvSpPr>
        <p:spPr>
          <a:xfrm>
            <a:off x="5679429" y="1835309"/>
            <a:ext cx="1247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Новосибирск</a:t>
            </a:r>
            <a:endParaRPr lang="en-US" sz="1200" dirty="0"/>
          </a:p>
        </p:txBody>
      </p:sp>
      <p:graphicFrame>
        <p:nvGraphicFramePr>
          <p:cNvPr id="16" name="Таблица 5">
            <a:extLst>
              <a:ext uri="{FF2B5EF4-FFF2-40B4-BE49-F238E27FC236}">
                <a16:creationId xmlns:a16="http://schemas.microsoft.com/office/drawing/2014/main" id="{A0306F09-B9B8-7EC9-89A9-9C92EF46D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713440"/>
              </p:ext>
            </p:extLst>
          </p:nvPr>
        </p:nvGraphicFramePr>
        <p:xfrm>
          <a:off x="5004048" y="3265814"/>
          <a:ext cx="2500011" cy="1219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33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EMP#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10001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40000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10002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42000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30001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D3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48000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Таблица 5">
            <a:extLst>
              <a:ext uri="{FF2B5EF4-FFF2-40B4-BE49-F238E27FC236}">
                <a16:creationId xmlns:a16="http://schemas.microsoft.com/office/drawing/2014/main" id="{82044531-19C0-5EA0-0577-D152552BE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98961"/>
              </p:ext>
            </p:extLst>
          </p:nvPr>
        </p:nvGraphicFramePr>
        <p:xfrm>
          <a:off x="5004048" y="2199265"/>
          <a:ext cx="2500011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3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EMP#</a:t>
                      </a:r>
                      <a:r>
                        <a:rPr lang="en-US" sz="1400" b="1" dirty="0">
                          <a:latin typeface="Aptos Narrow" panose="020B0004020202020204" pitchFamily="34" charset="0"/>
                        </a:rPr>
                        <a:t> 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DEPT# 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Salary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20001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30000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20002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D2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 Narrow" panose="020B0004020202020204" pitchFamily="34" charset="0"/>
                        </a:rPr>
                        <a:t>35000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0B47E4E-CFA7-BD51-3D21-94746B3EDA7F}"/>
              </a:ext>
            </a:extLst>
          </p:cNvPr>
          <p:cNvSpPr txBox="1"/>
          <p:nvPr/>
        </p:nvSpPr>
        <p:spPr>
          <a:xfrm>
            <a:off x="358703" y="2248720"/>
            <a:ext cx="720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K_EMP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8264F-C6E3-7C4D-722D-88270AC826FE}"/>
              </a:ext>
            </a:extLst>
          </p:cNvPr>
          <p:cNvSpPr txBox="1"/>
          <p:nvPr/>
        </p:nvSpPr>
        <p:spPr>
          <a:xfrm>
            <a:off x="244890" y="3598415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KN_EMP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B19F2F-4686-CF8F-C284-744C748E8902}"/>
              </a:ext>
            </a:extLst>
          </p:cNvPr>
          <p:cNvSpPr txBox="1"/>
          <p:nvPr/>
        </p:nvSpPr>
        <p:spPr>
          <a:xfrm>
            <a:off x="7500199" y="2248719"/>
            <a:ext cx="720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N_EMP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EC139E-3E83-3DA4-90B4-59418649F60B}"/>
              </a:ext>
            </a:extLst>
          </p:cNvPr>
          <p:cNvSpPr txBox="1"/>
          <p:nvPr/>
        </p:nvSpPr>
        <p:spPr>
          <a:xfrm>
            <a:off x="7500199" y="3279965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NK_EMP</a:t>
            </a:r>
          </a:p>
        </p:txBody>
      </p:sp>
    </p:spTree>
    <p:extLst>
      <p:ext uri="{BB962C8B-B14F-4D97-AF65-F5344CB8AC3E}">
        <p14:creationId xmlns:p14="http://schemas.microsoft.com/office/powerpoint/2010/main" val="117564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0" grpId="0"/>
      <p:bldP spid="21" grpId="0"/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6C1B-4EB7-9F0F-A7DD-482EA0C6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0FE90-03F6-BF2A-2BD6-5812C600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2E652-9983-AA15-5B6D-6F904AAF1F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Репликации – особый вид воплощения идеи </a:t>
            </a:r>
            <a:r>
              <a:rPr lang="ru-RU" b="1" dirty="0"/>
              <a:t>управляемой избыточности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Все копии должны обновляться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Схема первичной копии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Одна копия каждого реплицируемого объекта называется </a:t>
            </a:r>
            <a:r>
              <a:rPr lang="ru-RU" b="1" dirty="0"/>
              <a:t>первичной</a:t>
            </a:r>
            <a:r>
              <a:rPr lang="ru-RU" dirty="0"/>
              <a:t>, остальные – </a:t>
            </a:r>
            <a:r>
              <a:rPr lang="ru-RU" b="1" dirty="0"/>
              <a:t>вторичными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Первичные копии разных объектов находятся на разных узлах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Операция обновления считается завершенной, если обновлены все копии первичных объектов.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Узел, содержащий первичную копию, несет ответственность за распространение обновлений на вторичные копии.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Отметим, что нарушается требование </a:t>
            </a:r>
            <a:r>
              <a:rPr lang="ru-RU" b="1" dirty="0"/>
              <a:t>локальной автономии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1FABD-3FFE-58DB-C19E-3C0485E106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en-US" dirty="0"/>
              <a:t>6</a:t>
            </a:r>
            <a:r>
              <a:rPr lang="ru-RU" dirty="0"/>
              <a:t>. Репликация. Проблема распространения обновлений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5983D3-7B59-0607-3669-81F1F152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0539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7D0C-6AB0-5FF5-57B1-3DC83A76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2F67E0-F959-8F16-6F27-F21F6AEB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F4134-8384-A769-D43E-67CCF3E482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Рассмотрим </a:t>
            </a:r>
            <a:r>
              <a:rPr lang="ru-RU" u="sng" dirty="0"/>
              <a:t>запрос</a:t>
            </a:r>
            <a:r>
              <a:rPr lang="ru-RU" dirty="0"/>
              <a:t> «Получить сведения о находящихся в Лондоне поставщиках </a:t>
            </a:r>
            <a:r>
              <a:rPr lang="ru-RU" dirty="0">
                <a:solidFill>
                  <a:srgbClr val="C00000"/>
                </a:solidFill>
              </a:rPr>
              <a:t>красных</a:t>
            </a:r>
            <a:r>
              <a:rPr lang="ru-RU" dirty="0"/>
              <a:t> деталей».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Пусть пользователь в Нью-Йорке, а данные в Лондоне. И пусть ответ –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поставщиков.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система </a:t>
            </a:r>
            <a:r>
              <a:rPr lang="ru-RU" b="1" dirty="0"/>
              <a:t>реляционная</a:t>
            </a:r>
            <a:r>
              <a:rPr lang="ru-RU" dirty="0"/>
              <a:t>, то запрос реализуется двумя сообщениями: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запрос из Нью-Йорка в Лондон,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ответ из Лондона в Нью-Йорк (пересылается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кортежей)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система </a:t>
            </a:r>
            <a:r>
              <a:rPr lang="ru-RU" b="1" dirty="0"/>
              <a:t>не реляционная</a:t>
            </a:r>
            <a:r>
              <a:rPr lang="ru-RU" dirty="0"/>
              <a:t>,  а работает в режиме последовательного доступа, то запрос реализуется 2n сообщениями: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n</a:t>
            </a:r>
            <a:r>
              <a:rPr lang="ru-RU" dirty="0"/>
              <a:t> запросов из Нью-Йорка в Лондон,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n</a:t>
            </a:r>
            <a:r>
              <a:rPr lang="ru-RU" dirty="0"/>
              <a:t> ответов из Лондона в Нью-Йорк (пересылается по 1 кортежу).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Реляционная система может превосходить по производительности не реляционную на несколько порядков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Вопрос оптимизации для распределенной системы более важен</a:t>
            </a:r>
            <a:r>
              <a:rPr lang="ru-RU" dirty="0"/>
              <a:t>, чем для централизованной системы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F52FD-E18B-A236-70CB-D03347C15B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7. Обработка распределенных запросов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294159-B2F5-3511-2B7C-E4E4F25F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20587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E2BB-C351-B278-52CB-3EAD5841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EFD8-E5E7-4556-5054-E264B9E6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D9E0B-068E-E5B8-C6BF-471E55F1B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Пусть в БД имеются следующие отношения, размещенные на 2-х узлах: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Поставщики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S(S#, CITY)</a:t>
            </a:r>
            <a:r>
              <a:rPr lang="ru-RU" dirty="0"/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10 000</a:t>
            </a:r>
            <a:r>
              <a:rPr lang="ru-RU" dirty="0"/>
              <a:t> хранимых кортежей на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узле А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Детали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P(P#, COLOR) 100 000</a:t>
            </a:r>
            <a:r>
              <a:rPr lang="ru-RU" dirty="0"/>
              <a:t> хранимых кортежей на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узле B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Поставки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SP (S#, P#) 1 000 000</a:t>
            </a:r>
            <a:r>
              <a:rPr lang="ru-RU" dirty="0"/>
              <a:t> хранимых кортежей на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узле А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Допустим, что в БД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Количество деталей красного цвета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Количество поставок, выполненных поставщиками из Лондона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100 000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Предполагаемые параметры линий передачи данных: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Скорость передачи данных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50 000 </a:t>
            </a:r>
            <a:r>
              <a:rPr lang="ru-RU" dirty="0"/>
              <a:t>бит/с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Задержка доступа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0,1</a:t>
            </a:r>
            <a:r>
              <a:rPr lang="ru-RU" dirty="0"/>
              <a:t> с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Средний размер кортежа =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25</a:t>
            </a:r>
            <a:r>
              <a:rPr lang="ru-RU" dirty="0"/>
              <a:t> байт(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200</a:t>
            </a:r>
            <a:r>
              <a:rPr lang="ru-RU" dirty="0"/>
              <a:t> бит)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Рассмотрим различные алгоритмы выполнения запроса  «Получить сведения о находящихся в Лондоне поставщиках красных деталей».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elect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S.S#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lang="ru-RU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rom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join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S.S# = SP.S#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join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SP.P# =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.P#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</a:t>
            </a:r>
            <a:r>
              <a:rPr lang="ru-RU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here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S.CITY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London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ru-RU" dirty="0" err="1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P.color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dirty="0" err="1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red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endParaRPr lang="ru-RU" dirty="0">
              <a:solidFill>
                <a:srgbClr val="7030A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D6A30-BE6A-CE70-7821-8FE5F32FBD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7. Обработка распределенных запросов. Оптимизация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367B5C-A51E-1283-C158-A990E1EA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89391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64C6-167E-4946-C72B-08DF9CE9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8775B-A503-102F-E150-D2A60BA1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FD913-231D-4981-BEC1-5B88178513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074194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elect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S.S# </a:t>
            </a: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lang="ru-RU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rom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 </a:t>
            </a: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join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S.S# = SP.S#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join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 </a:t>
            </a: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SP.P# =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.P# </a:t>
            </a:r>
            <a:b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</a:t>
            </a:r>
            <a:r>
              <a:rPr lang="ru-RU" sz="14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here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S.CITY = </a:t>
            </a:r>
            <a:r>
              <a:rPr lang="en-US" sz="14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sz="14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London</a:t>
            </a:r>
            <a:r>
              <a:rPr lang="en-US" sz="14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400" dirty="0" err="1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4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P.color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4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sz="1400" dirty="0" err="1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red</a:t>
            </a:r>
            <a:r>
              <a:rPr lang="en-US" sz="14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endParaRPr lang="ru-RU" sz="1400" dirty="0"/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400" dirty="0"/>
              <a:t>Пересылка записей о деталях на узел А и обработка запроса на узле А.</a:t>
            </a:r>
            <a:br>
              <a:rPr lang="ru-RU" sz="1400" dirty="0"/>
            </a:b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en-US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 0,1 + (100000 * 200) / 50000 = 400</a:t>
            </a:r>
            <a:r>
              <a:rPr lang="ru-RU" sz="1400" dirty="0"/>
              <a:t>с   (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~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6,67</a:t>
            </a:r>
            <a:r>
              <a:rPr lang="ru-RU" sz="1400" dirty="0"/>
              <a:t> мин)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400" dirty="0"/>
              <a:t>Пересылка записей о поставщиках и поставках на узел В и обработка запроса на узле В.</a:t>
            </a:r>
            <a:br>
              <a:rPr lang="ru-RU" sz="1400" dirty="0"/>
            </a:b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 0,2 + ((10000 + 1000000) * 200) / 50000  = 4040с (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~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1,12 ч)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400" dirty="0"/>
              <a:t>Соединение отношений Поставщиков и Поставок на узле А (выбрать детали, поставляемые поставщиками из Лондона). По оценке их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100000</a:t>
            </a:r>
            <a:r>
              <a:rPr lang="ru-RU" sz="1400" dirty="0"/>
              <a:t>. Время не считаем. Далее выполняем серию запросов из узла А на узел В - имеет ли  каждая из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100000</a:t>
            </a:r>
            <a:r>
              <a:rPr lang="ru-RU" sz="1400" dirty="0"/>
              <a:t> деталей красный цвет.  Каждый из таких запросов требует передачи двух сообщений : вопрос и ответ.  Общее время выполнения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100000*2*0,1с</a:t>
            </a:r>
            <a:r>
              <a:rPr lang="ru-RU" sz="1400" dirty="0">
                <a:latin typeface="+mn-lt"/>
                <a:cs typeface="Cascadia Code SemiBold" panose="020B0609020000020004" pitchFamily="49" charset="0"/>
              </a:rPr>
              <a:t>. </a:t>
            </a:r>
            <a:r>
              <a:rPr lang="ru-RU" sz="1400" dirty="0"/>
              <a:t>Время передачи этих сообщений будет мало по сравнению с задержкой доступа. </a:t>
            </a:r>
            <a:br>
              <a:rPr lang="ru-RU" sz="1400" dirty="0"/>
            </a:b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20000с (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~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5,56 ч)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endParaRPr lang="ru-RU" sz="1400" dirty="0">
              <a:solidFill>
                <a:schemeClr val="accent2">
                  <a:lumMod val="75000"/>
                </a:schemeClr>
              </a:solidFill>
              <a:latin typeface="+mn-lt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577F8-23D1-5765-82F3-271C384C81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7. Обработка распределенных запросов. Варианты</a:t>
            </a:r>
            <a:r>
              <a:rPr lang="en-US" dirty="0"/>
              <a:t> 1-3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8343B2-0EB5-7CA9-D97D-D6AE14B3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24534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CBB23-348D-185D-E92F-AAFCB20A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A1322-F5D2-CFDD-0135-C2E7E9CB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74970-B0EB-DD58-2F6A-E7EE1B2E06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elect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S.S# </a:t>
            </a: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lang="ru-RU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rom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 </a:t>
            </a: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join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S.S# = SP.S#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join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 </a:t>
            </a: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SP.P# = 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.P# </a:t>
            </a:r>
            <a:b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</a:t>
            </a:r>
            <a:r>
              <a:rPr lang="ru-RU" sz="105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here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S.CITY = </a:t>
            </a:r>
            <a:r>
              <a:rPr lang="en-US" sz="105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sz="105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London</a:t>
            </a:r>
            <a:r>
              <a:rPr lang="en-US" sz="105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050" dirty="0" err="1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05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P.color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05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sz="1050" dirty="0" err="1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red</a:t>
            </a:r>
            <a:r>
              <a:rPr lang="en-US" sz="105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endParaRPr lang="ru-RU" sz="1050" dirty="0"/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 startAt="4"/>
            </a:pPr>
            <a:r>
              <a:rPr lang="ru-RU" sz="1050" dirty="0"/>
              <a:t>Сокращение данных о деталях на узле B для определения только тех деталей, которые имеют красный цвет. Их 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</a:t>
            </a:r>
            <a:r>
              <a:rPr lang="ru-RU" sz="1050" dirty="0"/>
              <a:t> по оценке. Затем для каждой из выбранных деталей проверка на узле А наличия поставок, связывающих эту деталь с поставщиком из Лондона. Каждая из таких проверок требует передачи двух сообщений. Время передачи этих сообщений также будет мало по сравнению с задержкой доступа.  </a:t>
            </a:r>
            <a:br>
              <a:rPr lang="ru-RU" sz="1050" dirty="0"/>
            </a:b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sz="105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4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2с </a:t>
            </a:r>
            <a:r>
              <a:rPr lang="ru-RU" sz="1050" dirty="0"/>
              <a:t>(приблизительно) 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 startAt="4"/>
            </a:pPr>
            <a:r>
              <a:rPr lang="ru-RU" sz="1050" dirty="0"/>
              <a:t>Соединение отношений поставщиков и поставок на узле А, сокращение результата для получения данных только о поставщиках из Лондона, получение проекции этих результатов по атрибутам 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S#</a:t>
            </a:r>
            <a:r>
              <a:rPr lang="ru-RU" sz="1050" dirty="0"/>
              <a:t> и 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Р#</a:t>
            </a:r>
            <a:r>
              <a:rPr lang="ru-RU" sz="1050" dirty="0"/>
              <a:t> и пересылка результата на узел в. Завершение обработки на узле В.</a:t>
            </a:r>
            <a:br>
              <a:rPr lang="ru-RU" sz="1050" dirty="0"/>
            </a:b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en-US" sz="105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0,1 + (100000 * 200) / 50000 = 400с   </a:t>
            </a:r>
            <a:r>
              <a:rPr lang="ru-RU" sz="1050" dirty="0">
                <a:cs typeface="Cascadia Code SemiBold" panose="020B0609020000020004" pitchFamily="49" charset="0"/>
              </a:rPr>
              <a:t>(</a:t>
            </a:r>
            <a:r>
              <a:rPr lang="en-US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~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6,67 </a:t>
            </a:r>
            <a:r>
              <a:rPr lang="ru-RU" sz="1050" dirty="0">
                <a:cs typeface="Cascadia Code SemiBold" panose="020B0609020000020004" pitchFamily="49" charset="0"/>
              </a:rPr>
              <a:t>мин)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 startAt="4"/>
            </a:pPr>
            <a:r>
              <a:rPr lang="ru-RU" sz="1050" dirty="0"/>
              <a:t>Сокращение данных о деталях на узле В для получения сведений только о тех деталях, которые имеют красный цвет, и пересылка результата на узел А. Завершение обработки на узле А.</a:t>
            </a:r>
            <a:br>
              <a:rPr lang="ru-RU" sz="1050" dirty="0"/>
            </a:b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en-US" sz="105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ru-RU" sz="105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0,1 + (10 * 200) / 50000 = 0,1с </a:t>
            </a:r>
            <a:r>
              <a:rPr lang="ru-RU" sz="1050" dirty="0">
                <a:cs typeface="Cascadia Code SemiBold" panose="020B0609020000020004" pitchFamily="49" charset="0"/>
              </a:rPr>
              <a:t>(приблизительно)</a:t>
            </a:r>
            <a:endParaRPr lang="ru-RU" sz="1050" dirty="0">
              <a:solidFill>
                <a:schemeClr val="accent2">
                  <a:lumMod val="75000"/>
                </a:schemeClr>
              </a:solidFill>
              <a:latin typeface="+mn-lt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50AE9-0239-3D34-F64B-D5746AFD97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7. Обработка распределенных запросов. Варианты</a:t>
            </a:r>
            <a:r>
              <a:rPr lang="en-US" dirty="0"/>
              <a:t> 4-6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E335B4-BFD5-7CFA-FD76-A5EDE464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204950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6750-7D8C-3F9A-772D-0B53A778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8ECBEC-436F-DE87-7CE9-8173C9A7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32DCF-21DC-B719-1507-A041A8518F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7. Обработка распределенных запросов. Таблица итогов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B5937D-6D76-49CC-EBE5-EFF6FF39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23FC54-1125-F217-D33A-B270F9658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180634"/>
              </p:ext>
            </p:extLst>
          </p:nvPr>
        </p:nvGraphicFramePr>
        <p:xfrm>
          <a:off x="350838" y="1809107"/>
          <a:ext cx="8541642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4739">
                  <a:extLst>
                    <a:ext uri="{9D8B030D-6E8A-4147-A177-3AD203B41FA5}">
                      <a16:colId xmlns:a16="http://schemas.microsoft.com/office/drawing/2014/main" val="3655717726"/>
                    </a:ext>
                  </a:extLst>
                </a:gridCol>
                <a:gridCol w="5289689">
                  <a:extLst>
                    <a:ext uri="{9D8B030D-6E8A-4147-A177-3AD203B41FA5}">
                      <a16:colId xmlns:a16="http://schemas.microsoft.com/office/drawing/2014/main" val="265291520"/>
                    </a:ext>
                  </a:extLst>
                </a:gridCol>
                <a:gridCol w="2847214">
                  <a:extLst>
                    <a:ext uri="{9D8B030D-6E8A-4147-A177-3AD203B41FA5}">
                      <a16:colId xmlns:a16="http://schemas.microsoft.com/office/drawing/2014/main" val="3411271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№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ptos Narrow" panose="020B0004020202020204" pitchFamily="34" charset="0"/>
                        </a:rPr>
                        <a:t>Метод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Время передачи данных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12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88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</a:b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0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011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469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b="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8504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</a:b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48633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651639-8960-3718-00D3-ACCFEF9AD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70588"/>
              </p:ext>
            </p:extLst>
          </p:nvPr>
        </p:nvGraphicFramePr>
        <p:xfrm>
          <a:off x="350838" y="1809107"/>
          <a:ext cx="8541642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4739">
                  <a:extLst>
                    <a:ext uri="{9D8B030D-6E8A-4147-A177-3AD203B41FA5}">
                      <a16:colId xmlns:a16="http://schemas.microsoft.com/office/drawing/2014/main" val="3655717726"/>
                    </a:ext>
                  </a:extLst>
                </a:gridCol>
                <a:gridCol w="5289689">
                  <a:extLst>
                    <a:ext uri="{9D8B030D-6E8A-4147-A177-3AD203B41FA5}">
                      <a16:colId xmlns:a16="http://schemas.microsoft.com/office/drawing/2014/main" val="265291520"/>
                    </a:ext>
                  </a:extLst>
                </a:gridCol>
                <a:gridCol w="2847214">
                  <a:extLst>
                    <a:ext uri="{9D8B030D-6E8A-4147-A177-3AD203B41FA5}">
                      <a16:colId xmlns:a16="http://schemas.microsoft.com/office/drawing/2014/main" val="3411271167"/>
                    </a:ext>
                  </a:extLst>
                </a:gridCol>
              </a:tblGrid>
              <a:tr h="217700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№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ptos Narrow" panose="020B0004020202020204" pitchFamily="34" charset="0"/>
                        </a:rPr>
                        <a:t>Метод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Время передачи данных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12377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882054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</a:b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01271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011665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469574"/>
                  </a:ext>
                </a:extLst>
              </a:tr>
              <a:tr h="160976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b="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8504093"/>
                  </a:ext>
                </a:extLst>
              </a:tr>
              <a:tr h="31665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3.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деталей красного цвета для каждой поставки из Лондона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5,56 ч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48633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5F46F5-DFDE-110D-FCE2-1B434239A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33943"/>
              </p:ext>
            </p:extLst>
          </p:nvPr>
        </p:nvGraphicFramePr>
        <p:xfrm>
          <a:off x="350838" y="1809107"/>
          <a:ext cx="8541642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4739">
                  <a:extLst>
                    <a:ext uri="{9D8B030D-6E8A-4147-A177-3AD203B41FA5}">
                      <a16:colId xmlns:a16="http://schemas.microsoft.com/office/drawing/2014/main" val="3655717726"/>
                    </a:ext>
                  </a:extLst>
                </a:gridCol>
                <a:gridCol w="5289689">
                  <a:extLst>
                    <a:ext uri="{9D8B030D-6E8A-4147-A177-3AD203B41FA5}">
                      <a16:colId xmlns:a16="http://schemas.microsoft.com/office/drawing/2014/main" val="265291520"/>
                    </a:ext>
                  </a:extLst>
                </a:gridCol>
                <a:gridCol w="2847214">
                  <a:extLst>
                    <a:ext uri="{9D8B030D-6E8A-4147-A177-3AD203B41FA5}">
                      <a16:colId xmlns:a16="http://schemas.microsoft.com/office/drawing/2014/main" val="3411271167"/>
                    </a:ext>
                  </a:extLst>
                </a:gridCol>
              </a:tblGrid>
              <a:tr h="217700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№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ptos Narrow" panose="020B0004020202020204" pitchFamily="34" charset="0"/>
                        </a:rPr>
                        <a:t>Метод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Время передачи данных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12377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882054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</a:b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01271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011665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469574"/>
                  </a:ext>
                </a:extLst>
              </a:tr>
              <a:tr h="160976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2.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отношений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и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SP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latin typeface="Aptos Narrow" panose="020B0004020202020204" pitchFamily="34" charset="0"/>
                          <a:ea typeface="Times New Roman"/>
                        </a:rPr>
                        <a:t>1,12 ч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8504093"/>
                  </a:ext>
                </a:extLst>
              </a:tr>
              <a:tr h="31665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3.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деталей красного цвета для каждой поставки из Лондона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5,56 ч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48633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8DD29C5-E41B-5023-AD3F-D70EC38D0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50808"/>
              </p:ext>
            </p:extLst>
          </p:nvPr>
        </p:nvGraphicFramePr>
        <p:xfrm>
          <a:off x="350838" y="1809107"/>
          <a:ext cx="8541642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4739">
                  <a:extLst>
                    <a:ext uri="{9D8B030D-6E8A-4147-A177-3AD203B41FA5}">
                      <a16:colId xmlns:a16="http://schemas.microsoft.com/office/drawing/2014/main" val="3655717726"/>
                    </a:ext>
                  </a:extLst>
                </a:gridCol>
                <a:gridCol w="5289689">
                  <a:extLst>
                    <a:ext uri="{9D8B030D-6E8A-4147-A177-3AD203B41FA5}">
                      <a16:colId xmlns:a16="http://schemas.microsoft.com/office/drawing/2014/main" val="265291520"/>
                    </a:ext>
                  </a:extLst>
                </a:gridCol>
                <a:gridCol w="2847214">
                  <a:extLst>
                    <a:ext uri="{9D8B030D-6E8A-4147-A177-3AD203B41FA5}">
                      <a16:colId xmlns:a16="http://schemas.microsoft.com/office/drawing/2014/main" val="3411271167"/>
                    </a:ext>
                  </a:extLst>
                </a:gridCol>
              </a:tblGrid>
              <a:tr h="217700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№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ptos Narrow" panose="020B0004020202020204" pitchFamily="34" charset="0"/>
                        </a:rPr>
                        <a:t>Метод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Время передачи данных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12377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882054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</a:b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01271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1.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отношения Р на узел 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011665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данных о поставках из Лондона 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469574"/>
                  </a:ext>
                </a:extLst>
              </a:tr>
              <a:tr h="160976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2.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отношений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и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SP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latin typeface="Aptos Narrow" panose="020B0004020202020204" pitchFamily="34" charset="0"/>
                          <a:ea typeface="Times New Roman"/>
                        </a:rPr>
                        <a:t>1,12 ч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8504093"/>
                  </a:ext>
                </a:extLst>
              </a:tr>
              <a:tr h="31665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3.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деталей красного цвета для каждой поставки из Лондона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5,56 ч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48633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78303C-4272-7218-69E2-CEBDF1A81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989152"/>
              </p:ext>
            </p:extLst>
          </p:nvPr>
        </p:nvGraphicFramePr>
        <p:xfrm>
          <a:off x="350838" y="1809107"/>
          <a:ext cx="8541642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4739">
                  <a:extLst>
                    <a:ext uri="{9D8B030D-6E8A-4147-A177-3AD203B41FA5}">
                      <a16:colId xmlns:a16="http://schemas.microsoft.com/office/drawing/2014/main" val="3655717726"/>
                    </a:ext>
                  </a:extLst>
                </a:gridCol>
                <a:gridCol w="5289689">
                  <a:extLst>
                    <a:ext uri="{9D8B030D-6E8A-4147-A177-3AD203B41FA5}">
                      <a16:colId xmlns:a16="http://schemas.microsoft.com/office/drawing/2014/main" val="265291520"/>
                    </a:ext>
                  </a:extLst>
                </a:gridCol>
                <a:gridCol w="2847214">
                  <a:extLst>
                    <a:ext uri="{9D8B030D-6E8A-4147-A177-3AD203B41FA5}">
                      <a16:colId xmlns:a16="http://schemas.microsoft.com/office/drawing/2014/main" val="3411271167"/>
                    </a:ext>
                  </a:extLst>
                </a:gridCol>
              </a:tblGrid>
              <a:tr h="217700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№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ptos Narrow" panose="020B0004020202020204" pitchFamily="34" charset="0"/>
                        </a:rPr>
                        <a:t>Метод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Время передачи данных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12377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dirty="0">
                        <a:latin typeface="Aptos Narrow" panose="020B0004020202020204" pitchFamily="34" charset="0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882054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4.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поставщика из Лондона для каждой детали красного цвета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2,00 с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01271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1.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отношения Р на узел 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011665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данных о поставках из Лондона 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469574"/>
                  </a:ext>
                </a:extLst>
              </a:tr>
              <a:tr h="160976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2.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отношений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и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SP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latin typeface="Aptos Narrow" panose="020B0004020202020204" pitchFamily="34" charset="0"/>
                          <a:ea typeface="Times New Roman"/>
                        </a:rPr>
                        <a:t>1,12 ч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8504093"/>
                  </a:ext>
                </a:extLst>
              </a:tr>
              <a:tr h="31665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3.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деталей красного цвета для каждой поставки из Лондона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5,56 ч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4863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1F821D-71CE-E9BD-4E5E-2DA6B6066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253067"/>
              </p:ext>
            </p:extLst>
          </p:nvPr>
        </p:nvGraphicFramePr>
        <p:xfrm>
          <a:off x="350838" y="1809107"/>
          <a:ext cx="8541642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4739">
                  <a:extLst>
                    <a:ext uri="{9D8B030D-6E8A-4147-A177-3AD203B41FA5}">
                      <a16:colId xmlns:a16="http://schemas.microsoft.com/office/drawing/2014/main" val="3655717726"/>
                    </a:ext>
                  </a:extLst>
                </a:gridCol>
                <a:gridCol w="5289689">
                  <a:extLst>
                    <a:ext uri="{9D8B030D-6E8A-4147-A177-3AD203B41FA5}">
                      <a16:colId xmlns:a16="http://schemas.microsoft.com/office/drawing/2014/main" val="265291520"/>
                    </a:ext>
                  </a:extLst>
                </a:gridCol>
                <a:gridCol w="2847214">
                  <a:extLst>
                    <a:ext uri="{9D8B030D-6E8A-4147-A177-3AD203B41FA5}">
                      <a16:colId xmlns:a16="http://schemas.microsoft.com/office/drawing/2014/main" val="3411271167"/>
                    </a:ext>
                  </a:extLst>
                </a:gridCol>
              </a:tblGrid>
              <a:tr h="217700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№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ptos Narrow" panose="020B0004020202020204" pitchFamily="34" charset="0"/>
                        </a:rPr>
                        <a:t>Метод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ptos Narrow" panose="020B0004020202020204" pitchFamily="34" charset="0"/>
                        </a:rPr>
                        <a:t>Время передачи данных</a:t>
                      </a:r>
                      <a:endParaRPr lang="en-US" sz="16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12377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данных о деталях красного цвета на узел А 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0,10 с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882054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4.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поставщика из Лондона для каждой детали красного цвета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2,00 с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01271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1.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отношения Р на узел 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011665"/>
                  </a:ext>
                </a:extLst>
              </a:tr>
              <a:tr h="15832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данных о поставках из Лондона 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469574"/>
                  </a:ext>
                </a:extLst>
              </a:tr>
              <a:tr h="160976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2.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Пересылка отношений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и </a:t>
                      </a:r>
                      <a:r>
                        <a:rPr lang="en-US" sz="1600" dirty="0">
                          <a:latin typeface="Aptos Narrow" panose="020B0004020202020204" pitchFamily="34" charset="0"/>
                          <a:ea typeface="Times New Roman"/>
                        </a:rPr>
                        <a:t>SP </a:t>
                      </a: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на узел 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latin typeface="Aptos Narrow" panose="020B0004020202020204" pitchFamily="34" charset="0"/>
                          <a:ea typeface="Times New Roman"/>
                        </a:rPr>
                        <a:t>1,12 ч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8504093"/>
                  </a:ext>
                </a:extLst>
              </a:tr>
              <a:tr h="31665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3.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Проверка деталей красного цвета для каждой поставки из Лондона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Aptos Narrow" panose="020B0004020202020204" pitchFamily="34" charset="0"/>
                          <a:ea typeface="Times New Roman"/>
                        </a:rPr>
                        <a:t>5,56 ч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486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64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F0C2-63E7-8F95-431B-26783DBE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D5976A-8E3A-C313-4BE9-25ECC8E0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3ACBF-3C6C-D76C-691D-A9B7E1E245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995686"/>
            <a:ext cx="8542337" cy="2376289"/>
          </a:xfrm>
        </p:spPr>
        <p:txBody>
          <a:bodyPr numCol="1">
            <a:normAutofit fontScale="62500" lnSpcReduction="20000"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Централизованный каталог</a:t>
            </a:r>
            <a:endParaRPr lang="ru-RU" i="1" dirty="0"/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Полностью реплицированный каталог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Секционированный каталог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Комбинация 1 и 3</a:t>
            </a:r>
          </a:p>
          <a:p>
            <a:pPr marL="514350" indent="-514350">
              <a:buSzPct val="100000"/>
              <a:buNone/>
            </a:pPr>
            <a:endParaRPr lang="ru-RU" dirty="0"/>
          </a:p>
          <a:p>
            <a:r>
              <a:rPr lang="ru-RU" dirty="0"/>
              <a:t>Каталог системы </a:t>
            </a:r>
            <a:r>
              <a:rPr lang="en-US" dirty="0"/>
              <a:t>R*</a:t>
            </a:r>
            <a:r>
              <a:rPr lang="ru-RU" dirty="0"/>
              <a:t> </a:t>
            </a:r>
            <a:r>
              <a:rPr lang="en-US" dirty="0"/>
              <a:t>IBM</a:t>
            </a:r>
          </a:p>
          <a:p>
            <a:r>
              <a:rPr lang="ru-RU" dirty="0"/>
              <a:t>Порядок именования объектов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Печатное имя объекта – имя которое используют для доступа к объекту в БД (например, </a:t>
            </a:r>
            <a:r>
              <a:rPr lang="en-US" dirty="0"/>
              <a:t>SQL </a:t>
            </a:r>
            <a:r>
              <a:rPr lang="ru-RU" dirty="0"/>
              <a:t>запросах)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Системное имя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976E8-BED1-E87F-E571-AFC4BFF061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Управление каталогом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4557A2-0CDC-5619-8A33-3E1E94E4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999795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63405-37EA-77E1-EFB1-6F997C0A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4ED9AD-161A-67EE-42CE-A8A20C84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7FED1-A99D-AEC3-DC11-DF906C538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074194"/>
          </a:xfrm>
        </p:spPr>
        <p:txBody>
          <a:bodyPr numCol="2">
            <a:normAutofit fontScale="92500" lnSpcReduction="20000"/>
          </a:bodyPr>
          <a:lstStyle/>
          <a:p>
            <a:pPr marL="228600" indent="-228600">
              <a:lnSpc>
                <a:spcPct val="12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Централизованный каталог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Полностью реплицированный каталог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Секционированный каталог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Комбинация 1 и 3</a:t>
            </a: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SzPct val="100000"/>
              <a:buNone/>
            </a:pPr>
            <a:endParaRPr lang="ru-RU" dirty="0"/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SzPct val="100000"/>
              <a:buNone/>
            </a:pPr>
            <a:endParaRPr lang="ru-RU" dirty="0"/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SzPct val="100000"/>
              <a:buNone/>
            </a:pP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Каталог </a:t>
            </a:r>
            <a:r>
              <a:rPr lang="en-US" dirty="0"/>
              <a:t>System</a:t>
            </a:r>
            <a:r>
              <a:rPr lang="ru-RU" dirty="0"/>
              <a:t> </a:t>
            </a:r>
            <a:r>
              <a:rPr lang="en-US" dirty="0"/>
              <a:t>R*</a:t>
            </a:r>
            <a:r>
              <a:rPr lang="ru-RU" dirty="0"/>
              <a:t> </a:t>
            </a:r>
            <a:r>
              <a:rPr lang="en-US" dirty="0"/>
              <a:t>IBM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Порядок именования объектов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Пользовательское имя объекта – имя которое используют для доступа к объекту в БД (например, </a:t>
            </a:r>
            <a:r>
              <a:rPr lang="en-US" dirty="0"/>
              <a:t>SQL </a:t>
            </a:r>
            <a:r>
              <a:rPr lang="ru-RU" dirty="0"/>
              <a:t>запросах)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Общесистемное имя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endParaRPr lang="ru-RU" sz="1400" dirty="0">
              <a:solidFill>
                <a:schemeClr val="accent2">
                  <a:lumMod val="75000"/>
                </a:schemeClr>
              </a:solidFill>
              <a:latin typeface="+mn-lt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24A93-4A75-92E5-242B-D235CF7205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Управление каталогом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726420-3BCB-5C02-462D-ADE2FDD4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12877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8D5E-90E5-A081-0B81-53ADE09B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A7271F-10E6-7D2A-FFA8-8274FB3B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192BC-15BE-076C-FAEC-D31758DBDB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2" spcCol="180000">
            <a:normAutofit fontScale="85000" lnSpcReduction="10000"/>
          </a:bodyPr>
          <a:lstStyle/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Идентификатор создателя объекта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Идентификатор узла создателя (узел, на котором был CREATE объекта)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Локальное имя объекта, т.е. неуточненное имя объекта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r>
              <a:rPr lang="ru-RU" sz="1900" dirty="0"/>
              <a:t>Идентификатор узла хранения, т.е. узла на котором объект хранился в исходном состоянии</a:t>
            </a:r>
          </a:p>
          <a:p>
            <a:pPr marL="514350" indent="-514350">
              <a:lnSpc>
                <a:spcPct val="110000"/>
              </a:lnSpc>
              <a:buSzPct val="100000"/>
              <a:buNone/>
            </a:pPr>
            <a:r>
              <a:rPr lang="ru-RU" dirty="0"/>
              <a:t>Так, имя </a:t>
            </a:r>
          </a:p>
          <a:p>
            <a:pPr marL="514350" indent="-514350">
              <a:lnSpc>
                <a:spcPct val="110000"/>
              </a:lnSpc>
              <a:buSzPct val="100000"/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MARLIN@</a:t>
            </a:r>
            <a:r>
              <a:rPr lang="en-US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NEWYORK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STATS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@</a:t>
            </a:r>
            <a:r>
              <a:rPr lang="en-US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LONDON</a:t>
            </a:r>
            <a:endParaRPr lang="ru-RU" dirty="0">
              <a:solidFill>
                <a:schemeClr val="accent2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/>
              <a:t>идентифицирует отношение </a:t>
            </a:r>
            <a:r>
              <a:rPr lang="en-US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STATS</a:t>
            </a:r>
            <a:r>
              <a:rPr lang="ru-RU" dirty="0"/>
              <a:t>, созданное пользователем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MARLIN</a:t>
            </a:r>
            <a:r>
              <a:rPr lang="ru-RU" dirty="0"/>
              <a:t> на узле </a:t>
            </a:r>
            <a:r>
              <a:rPr lang="en-US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NEWYORK</a:t>
            </a:r>
            <a:r>
              <a:rPr lang="ru-RU" dirty="0"/>
              <a:t> и изначально находившееся на узле </a:t>
            </a:r>
            <a:r>
              <a:rPr lang="en-US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LONDON</a:t>
            </a:r>
            <a:endParaRPr lang="ru-RU" dirty="0">
              <a:solidFill>
                <a:schemeClr val="accent2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ru-RU" dirty="0"/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endParaRPr lang="ru-RU" sz="1400" dirty="0">
              <a:solidFill>
                <a:schemeClr val="accent2">
                  <a:lumMod val="75000"/>
                </a:schemeClr>
              </a:solidFill>
              <a:latin typeface="+mn-lt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B80A4-1924-B707-A96A-04CD41A0D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Управление каталогом. </a:t>
            </a:r>
            <a:r>
              <a:rPr lang="en-US" dirty="0"/>
              <a:t>System R*. </a:t>
            </a:r>
            <a:r>
              <a:rPr lang="ru-RU" dirty="0" err="1"/>
              <a:t>общеСистемное</a:t>
            </a:r>
            <a:r>
              <a:rPr lang="ru-RU" dirty="0"/>
              <a:t> имя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B2E62F-C7E9-2A83-A79F-2975F280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7609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3E92-A1FF-1463-66BA-9A827A2D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D704F6-ACFB-1008-B307-30F41CF2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3FE1C-29DB-3595-68E2-4F21E8E97A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2" spcCol="180000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2 основных аспекта управления обработкой транзакции: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Управление восстановлением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Управление параллелизмом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распределенной системе выполнение одной транзакции может быть связано с исполнением кода на </a:t>
            </a:r>
            <a:r>
              <a:rPr lang="ru-RU" b="1" dirty="0"/>
              <a:t>нескольких узлах</a:t>
            </a:r>
            <a:endParaRPr lang="en-US" b="1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b="1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Говорят, что транзакция состоит из нескольких </a:t>
            </a:r>
            <a:r>
              <a:rPr lang="ru-RU" b="1" dirty="0"/>
              <a:t>агентов, </a:t>
            </a:r>
            <a:r>
              <a:rPr lang="ru-RU" dirty="0"/>
              <a:t>то есть процессов, выполняемых на данном узле по указанию </a:t>
            </a:r>
            <a:r>
              <a:rPr lang="ru-RU" i="1" dirty="0"/>
              <a:t>заданной</a:t>
            </a:r>
            <a:r>
              <a:rPr lang="ru-RU" dirty="0"/>
              <a:t> транзакции.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Системе необходимо указать, что некоторые 2 агента </a:t>
            </a:r>
            <a:r>
              <a:rPr lang="ru-RU" u="sng" dirty="0"/>
              <a:t>являются частями </a:t>
            </a:r>
            <a:r>
              <a:rPr lang="ru-RU" dirty="0"/>
              <a:t>одной и той же транзакции. Например, чтобы избежать тупиков.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endParaRPr lang="ru-RU" sz="1400" dirty="0">
              <a:solidFill>
                <a:schemeClr val="accent2">
                  <a:lumMod val="75000"/>
                </a:schemeClr>
              </a:solidFill>
              <a:latin typeface="+mn-lt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AAB3F-FF2B-E525-F924-B53D1A688F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Управление  распределенными транзакциями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CCD28E-2073-B153-776A-C0921539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9245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C767-EDF1-BD47-B581-3A5BD475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EEDEC-FB33-AAA8-8E93-B1346934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6A89E-2F18-8A1B-EB6E-17FE5B5B9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4221161" cy="2880296"/>
          </a:xfrm>
        </p:spPr>
        <p:txBody>
          <a:bodyPr numCol="1" spcCol="180000"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Для подтверждения свойств </a:t>
            </a:r>
            <a:r>
              <a:rPr lang="en-US" dirty="0"/>
              <a:t>ACID</a:t>
            </a:r>
            <a:r>
              <a:rPr lang="ru-RU" dirty="0"/>
              <a:t> транзакции, в данном случае АТОМАРНОСТИ, система должна убедиться, что </a:t>
            </a:r>
            <a:r>
              <a:rPr lang="ru-RU" u="sng" dirty="0"/>
              <a:t>все агенты </a:t>
            </a:r>
            <a:r>
              <a:rPr lang="ru-RU" dirty="0"/>
              <a:t>заданного набора либо </a:t>
            </a:r>
            <a:r>
              <a:rPr lang="ru-RU" u="sng" dirty="0"/>
              <a:t>вместе зафиксированы</a:t>
            </a:r>
            <a:r>
              <a:rPr lang="ru-RU" dirty="0"/>
              <a:t>, либо </a:t>
            </a:r>
            <a:r>
              <a:rPr lang="ru-RU" u="sng" dirty="0"/>
              <a:t>отменены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Для этой цели реализуется протокол </a:t>
            </a:r>
            <a:r>
              <a:rPr lang="ru-RU" b="1" dirty="0"/>
              <a:t>двухфазной фиксации (2</a:t>
            </a:r>
            <a:r>
              <a:rPr lang="en-US" b="1" dirty="0"/>
              <a:t>PC)</a:t>
            </a:r>
            <a:r>
              <a:rPr lang="ru-RU" b="1" dirty="0"/>
              <a:t>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dirty="0"/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70AD47"/>
              </a:buClr>
              <a:buFont typeface="+mj-lt"/>
              <a:buAutoNum type="arabicPeriod"/>
            </a:pPr>
            <a:endParaRPr lang="ru-RU" sz="1400" dirty="0">
              <a:solidFill>
                <a:schemeClr val="accent2">
                  <a:lumMod val="75000"/>
                </a:schemeClr>
              </a:solidFill>
              <a:latin typeface="+mn-lt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41EB6-D301-E8C6-8076-CCE811ADD1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fontScale="92500"/>
          </a:bodyPr>
          <a:lstStyle/>
          <a:p>
            <a:r>
              <a:rPr lang="ru-RU" dirty="0"/>
              <a:t>Управление  распределенными транзакциями</a:t>
            </a:r>
            <a:r>
              <a:rPr lang="en-US" dirty="0"/>
              <a:t>. </a:t>
            </a:r>
            <a:r>
              <a:rPr lang="ru-RU" dirty="0"/>
              <a:t>Восстановление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F3930A-FA89-80E9-09B0-C9D17E44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3DF45B-807F-BC15-07E4-4BE84C8ED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540" y="1995686"/>
            <a:ext cx="3892312" cy="208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6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D8DE-5038-2FD2-9FB8-6A299ADC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21BB77-7AD4-2F05-D77D-7A349A73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6E6B9-4967-3DD6-3101-8FBA1521E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4149153" cy="2880296"/>
          </a:xfrm>
        </p:spPr>
        <p:txBody>
          <a:bodyPr numCol="1" spcCol="180000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dirty="0"/>
              <a:t>Первая фаза протокола</a:t>
            </a: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Транзакция посылает всем своим агентам сообщение «</a:t>
            </a:r>
            <a:r>
              <a:rPr lang="en-US" dirty="0"/>
              <a:t>ready</a:t>
            </a:r>
            <a:r>
              <a:rPr lang="ru-RU" dirty="0"/>
              <a:t>» - «приготовиться»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Получив сообщение «</a:t>
            </a:r>
            <a:r>
              <a:rPr lang="en-US" dirty="0"/>
              <a:t>ready</a:t>
            </a:r>
            <a:r>
              <a:rPr lang="ru-RU" dirty="0"/>
              <a:t>» агент возвращает сообщение «ОК», если нет препятствий к нормальному завершению его работы. В системный журнал узла заносится информация для нормального завершения агента - «</a:t>
            </a:r>
            <a:r>
              <a:rPr lang="en-US" dirty="0"/>
              <a:t>Commit</a:t>
            </a:r>
            <a:r>
              <a:rPr lang="ru-RU" dirty="0"/>
              <a:t>».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противном случае агент возвращает запустившей его транзакции сообщение «</a:t>
            </a:r>
            <a:r>
              <a:rPr lang="en-US" dirty="0"/>
              <a:t>NO</a:t>
            </a:r>
            <a:r>
              <a:rPr lang="ru-RU" dirty="0"/>
              <a:t>».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Основная транзакция собирает ответные сообщения от всех агентов.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E01D4-6B54-7FCF-3B4B-00E7C69198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fontScale="92500"/>
          </a:bodyPr>
          <a:lstStyle/>
          <a:p>
            <a:r>
              <a:rPr lang="ru-RU" dirty="0"/>
              <a:t>Управление  распределенными транзакциями</a:t>
            </a:r>
            <a:r>
              <a:rPr lang="en-US" dirty="0"/>
              <a:t>. </a:t>
            </a:r>
            <a:r>
              <a:rPr lang="ru-RU" dirty="0"/>
              <a:t>Восстановление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CA84E2-E1E1-4CD1-BF37-12597D65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795A96A4-46CC-F48C-07FA-275A5534EB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540" y="1995686"/>
            <a:ext cx="3892312" cy="208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5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CCA1-2A26-1E37-2085-E518BC88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152D79-0824-9788-4219-3F90EACD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FA6A3-FA1C-DEB6-4B72-D2A383322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4149153" cy="2880296"/>
          </a:xfrm>
        </p:spPr>
        <p:txBody>
          <a:bodyPr numCol="1" spcCol="180000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dirty="0"/>
              <a:t>Первая фаза протокола</a:t>
            </a:r>
            <a:endParaRPr lang="ru-RU" dirty="0"/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Транзакция посылает всем своим агентам сообщение «</a:t>
            </a:r>
            <a:r>
              <a:rPr lang="en-US" dirty="0"/>
              <a:t>ready</a:t>
            </a:r>
            <a:r>
              <a:rPr lang="ru-RU" dirty="0"/>
              <a:t>» - «приготовиться»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Получив сообщение «</a:t>
            </a:r>
            <a:r>
              <a:rPr lang="en-US" dirty="0"/>
              <a:t>ready</a:t>
            </a:r>
            <a:r>
              <a:rPr lang="ru-RU" dirty="0"/>
              <a:t>» агент возвращает сообщение «ОК», если нет препятствий к нормальному завершению его работы. В системный журнал узла заносится информация для нормального завершения агента - «</a:t>
            </a:r>
            <a:r>
              <a:rPr lang="en-US" dirty="0"/>
              <a:t>Commit</a:t>
            </a:r>
            <a:r>
              <a:rPr lang="ru-RU" dirty="0"/>
              <a:t>».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противном случае агент возвращает запустившей его транзакции сообщение «</a:t>
            </a:r>
            <a:r>
              <a:rPr lang="en-US" dirty="0"/>
              <a:t>NO</a:t>
            </a:r>
            <a:r>
              <a:rPr lang="ru-RU" dirty="0"/>
              <a:t>».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Основная транзакция собирает ответные сообщения от всех агентов.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913C5-0293-E02D-3F33-4F34496E0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fontScale="92500"/>
          </a:bodyPr>
          <a:lstStyle/>
          <a:p>
            <a:r>
              <a:rPr lang="ru-RU" dirty="0"/>
              <a:t>Управление  распределенными транзакциями</a:t>
            </a:r>
            <a:r>
              <a:rPr lang="en-US" dirty="0"/>
              <a:t>. </a:t>
            </a:r>
            <a:r>
              <a:rPr lang="ru-RU" dirty="0"/>
              <a:t>Восстановление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09DF36-C2DA-DA64-8EB6-83BB8709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A091275-9AAC-985E-951F-B1E247BF61EC}"/>
              </a:ext>
            </a:extLst>
          </p:cNvPr>
          <p:cNvSpPr txBox="1">
            <a:spLocks/>
          </p:cNvSpPr>
          <p:nvPr/>
        </p:nvSpPr>
        <p:spPr>
          <a:xfrm>
            <a:off x="4739135" y="1804074"/>
            <a:ext cx="4149153" cy="2279844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dirty="0"/>
              <a:t>Вторая фаза протокола</a:t>
            </a:r>
            <a:r>
              <a:rPr lang="ru-RU" dirty="0"/>
              <a:t>.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все агенты ответили «ОК», транзакция посылает все своим агентам сообщение «</a:t>
            </a:r>
            <a:r>
              <a:rPr lang="en-US" dirty="0"/>
              <a:t>Commit</a:t>
            </a:r>
            <a:r>
              <a:rPr lang="ru-RU" dirty="0"/>
              <a:t>» - «Фиксация» и завершает выполнение с командой «</a:t>
            </a:r>
            <a:r>
              <a:rPr lang="en-US" dirty="0"/>
              <a:t>Commit</a:t>
            </a:r>
            <a:r>
              <a:rPr lang="ru-RU" dirty="0"/>
              <a:t>»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хотя бы один агент ответил «</a:t>
            </a:r>
            <a:r>
              <a:rPr lang="en-US" dirty="0"/>
              <a:t>NO</a:t>
            </a:r>
            <a:r>
              <a:rPr lang="ru-RU" dirty="0"/>
              <a:t>», транзакция посылает все своим агентам сообщение «</a:t>
            </a:r>
            <a:r>
              <a:rPr lang="en-US" dirty="0"/>
              <a:t>Rollback</a:t>
            </a:r>
            <a:r>
              <a:rPr lang="ru-RU" dirty="0"/>
              <a:t>» - «Откат» и завершает выполнение с командой «</a:t>
            </a:r>
            <a:r>
              <a:rPr lang="en-US" dirty="0"/>
              <a:t>Rollback</a:t>
            </a:r>
            <a:r>
              <a:rPr lang="ru-RU" dirty="0"/>
              <a:t>»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9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64532-F759-C36B-B100-2136EEF5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512E54-5400-CCDD-24AE-8ECEA7FA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C530A-3D32-D25C-56E4-998303D21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8325617" cy="2880296"/>
          </a:xfrm>
        </p:spPr>
        <p:txBody>
          <a:bodyPr numCol="2" spcCol="180000">
            <a:normAutofit fontScale="70000" lnSpcReduction="20000"/>
          </a:bodyPr>
          <a:lstStyle/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распределенных системах запросы на управление блокировками становятся сообщениями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для объекта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/>
              <a:t> </a:t>
            </a:r>
            <a:r>
              <a:rPr lang="ru-RU" dirty="0"/>
              <a:t>существует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en-US" dirty="0"/>
              <a:t> </a:t>
            </a:r>
            <a:r>
              <a:rPr lang="ru-RU" dirty="0"/>
              <a:t>дубликатов на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en-US" dirty="0">
                <a:latin typeface="+mn-lt"/>
                <a:cs typeface="Cascadia Code SemiBold" panose="020B0609020000020004" pitchFamily="49" charset="0"/>
              </a:rPr>
              <a:t> </a:t>
            </a:r>
            <a:r>
              <a:rPr lang="ru-RU" dirty="0"/>
              <a:t>узлах, то для его обновления нужно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en-US" dirty="0"/>
              <a:t> </a:t>
            </a:r>
            <a:r>
              <a:rPr lang="ru-RU" dirty="0"/>
              <a:t>сообщений:</a:t>
            </a:r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запросов на блокировку</a:t>
            </a:r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разрешений на блокировку</a:t>
            </a:r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сообщений об обновлении</a:t>
            </a:r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подтверждений</a:t>
            </a:r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запросов на снятие блокировки</a:t>
            </a:r>
          </a:p>
          <a:p>
            <a:pPr marL="182563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Обычно выбирается стратегия </a:t>
            </a:r>
            <a:r>
              <a:rPr lang="ru-RU" b="1" dirty="0"/>
              <a:t>первичной копии: </a:t>
            </a:r>
            <a:r>
              <a:rPr lang="ru-RU" dirty="0"/>
              <a:t>все операции блокировки объекта будет обрабатывать узел, содержащий его первичную копию. Количество сообщений будет сокращено до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+3</a:t>
            </a:r>
            <a:r>
              <a:rPr lang="en-US" dirty="0"/>
              <a:t>:</a:t>
            </a:r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dirty="0"/>
              <a:t> запрос блокировки</a:t>
            </a:r>
            <a:endParaRPr lang="en-US" dirty="0"/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dirty="0"/>
              <a:t> разрешение блокировки</a:t>
            </a:r>
            <a:endParaRPr lang="en-US" dirty="0"/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en-US" dirty="0"/>
              <a:t> </a:t>
            </a:r>
            <a:r>
              <a:rPr lang="ru-RU" dirty="0"/>
              <a:t>обновлений</a:t>
            </a:r>
            <a:endParaRPr lang="en-US" dirty="0"/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dirty="0"/>
              <a:t> подтверждений</a:t>
            </a:r>
            <a:endParaRPr lang="en-US" dirty="0"/>
          </a:p>
          <a:p>
            <a:pPr marL="582613" lvl="1" indent="-182563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dirty="0"/>
              <a:t> запрос на снятие блокировки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1CDAE-4FEC-02A0-D8EA-D7206047CA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Управление параллельностью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351EB5-D8CB-B555-9A3E-1EF4114A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7164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F6C-7E7C-2E0B-875C-839D01C5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B1E57C-8D05-AB88-62C6-F252EAB4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05A709-3B90-C27A-55B5-60F47D3672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70376"/>
            <a:ext cx="8541643" cy="26015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5A88D-F6D2-EA70-E000-4A62DC329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Управление параллельностью</a:t>
            </a:r>
            <a:r>
              <a:rPr lang="en-US" dirty="0"/>
              <a:t>. </a:t>
            </a:r>
            <a:r>
              <a:rPr lang="ru-RU" dirty="0"/>
              <a:t>Глобальная взаимоблокировка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5E43EA-D5BC-C235-70FF-14839E66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/>
          </a:bodyPr>
          <a:lstStyle/>
          <a:p>
            <a:r>
              <a:rPr lang="ru-RU" dirty="0"/>
              <a:t>Распределенные  базы данных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129C5-3D5A-B21B-5D7F-5D352F7336EE}"/>
              </a:ext>
            </a:extLst>
          </p:cNvPr>
          <p:cNvSpPr/>
          <p:nvPr/>
        </p:nvSpPr>
        <p:spPr>
          <a:xfrm>
            <a:off x="350836" y="1770376"/>
            <a:ext cx="3285059" cy="2601599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Узел </a:t>
            </a:r>
            <a:r>
              <a:rPr lang="en-US" dirty="0"/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70F43-B280-7903-A20E-7086718F0A55}"/>
              </a:ext>
            </a:extLst>
          </p:cNvPr>
          <p:cNvSpPr/>
          <p:nvPr/>
        </p:nvSpPr>
        <p:spPr>
          <a:xfrm>
            <a:off x="5623053" y="1765802"/>
            <a:ext cx="3285059" cy="2601599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Узел </a:t>
            </a:r>
            <a:r>
              <a:rPr lang="en-US" dirty="0"/>
              <a:t>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A1091E-738C-04B9-D5A7-DA23C1D9E8F5}"/>
              </a:ext>
            </a:extLst>
          </p:cNvPr>
          <p:cNvSpPr/>
          <p:nvPr/>
        </p:nvSpPr>
        <p:spPr>
          <a:xfrm>
            <a:off x="1349988" y="2341198"/>
            <a:ext cx="1944216" cy="38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19DBE2-FA1D-7941-665E-FDBD99E02E39}"/>
              </a:ext>
            </a:extLst>
          </p:cNvPr>
          <p:cNvSpPr/>
          <p:nvPr/>
        </p:nvSpPr>
        <p:spPr>
          <a:xfrm>
            <a:off x="1349988" y="3575240"/>
            <a:ext cx="1944999" cy="38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33CE75-343D-D819-CFF0-2FA9E451B451}"/>
              </a:ext>
            </a:extLst>
          </p:cNvPr>
          <p:cNvSpPr/>
          <p:nvPr/>
        </p:nvSpPr>
        <p:spPr>
          <a:xfrm>
            <a:off x="5849796" y="2341198"/>
            <a:ext cx="1944216" cy="38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3E994A-3036-110D-5A32-C1B0F2B6119A}"/>
              </a:ext>
            </a:extLst>
          </p:cNvPr>
          <p:cNvSpPr/>
          <p:nvPr/>
        </p:nvSpPr>
        <p:spPr>
          <a:xfrm>
            <a:off x="5849796" y="3575240"/>
            <a:ext cx="1944216" cy="38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3C1128-E7B0-4209-0445-81EFA6693031}"/>
              </a:ext>
            </a:extLst>
          </p:cNvPr>
          <p:cNvSpPr txBox="1"/>
          <p:nvPr/>
        </p:nvSpPr>
        <p:spPr>
          <a:xfrm>
            <a:off x="1349988" y="2133382"/>
            <a:ext cx="1944215" cy="26161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ru-RU" sz="1100" dirty="0"/>
              <a:t>Владеет блокировкой </a:t>
            </a:r>
            <a:r>
              <a:rPr lang="en-US" sz="1100" dirty="0"/>
              <a:t>Lx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A4B1BAC-A48E-276F-44A5-1DC13BD4DFF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294204" y="2532492"/>
            <a:ext cx="25555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28D472-1A0F-2D21-239D-75B3A6842985}"/>
              </a:ext>
            </a:extLst>
          </p:cNvPr>
          <p:cNvSpPr txBox="1"/>
          <p:nvPr/>
        </p:nvSpPr>
        <p:spPr>
          <a:xfrm>
            <a:off x="3649550" y="2296111"/>
            <a:ext cx="1944215" cy="43088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ru-RU" sz="1100" dirty="0"/>
              <a:t>Ожидает завершения транзакции 	</a:t>
            </a:r>
            <a:r>
              <a:rPr lang="en-US" sz="1100" dirty="0"/>
              <a:t>T1y</a:t>
            </a:r>
          </a:p>
        </p:txBody>
      </p:sp>
      <p:cxnSp>
        <p:nvCxnSpPr>
          <p:cNvPr id="27" name="Connector: Elbow 19">
            <a:extLst>
              <a:ext uri="{FF2B5EF4-FFF2-40B4-BE49-F238E27FC236}">
                <a16:creationId xmlns:a16="http://schemas.microsoft.com/office/drawing/2014/main" id="{B019FAF4-7333-4CE5-AC4A-3270361431A3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H="1" flipV="1">
            <a:off x="2322096" y="2723786"/>
            <a:ext cx="392" cy="851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D85585-5542-4DE2-45E9-DD17EEBE90D0}"/>
              </a:ext>
            </a:extLst>
          </p:cNvPr>
          <p:cNvSpPr txBox="1"/>
          <p:nvPr/>
        </p:nvSpPr>
        <p:spPr>
          <a:xfrm>
            <a:off x="355419" y="2797386"/>
            <a:ext cx="1944215" cy="60016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/>
            <a:r>
              <a:rPr lang="ru-RU" sz="1100" dirty="0"/>
              <a:t>Ожидает освобождения блокировки </a:t>
            </a:r>
            <a:r>
              <a:rPr lang="en-US" sz="1100" dirty="0"/>
              <a:t>Lx</a:t>
            </a:r>
            <a:r>
              <a:rPr lang="ru-RU" sz="1100" dirty="0"/>
              <a:t> транзакцией </a:t>
            </a:r>
            <a:r>
              <a:rPr lang="en-US" sz="1100" dirty="0"/>
              <a:t>T1x</a:t>
            </a:r>
          </a:p>
        </p:txBody>
      </p:sp>
      <p:cxnSp>
        <p:nvCxnSpPr>
          <p:cNvPr id="32" name="Connector: Elbow 19">
            <a:extLst>
              <a:ext uri="{FF2B5EF4-FFF2-40B4-BE49-F238E27FC236}">
                <a16:creationId xmlns:a16="http://schemas.microsoft.com/office/drawing/2014/main" id="{659C3442-7C8A-CFBC-EB80-B90868BD3F90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6821904" y="2723786"/>
            <a:ext cx="0" cy="851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34BB659-84A0-5FFC-A243-C2359CA34C61}"/>
              </a:ext>
            </a:extLst>
          </p:cNvPr>
          <p:cNvSpPr txBox="1"/>
          <p:nvPr/>
        </p:nvSpPr>
        <p:spPr>
          <a:xfrm>
            <a:off x="6948265" y="2822418"/>
            <a:ext cx="1944215" cy="60016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ru-RU" sz="1100" dirty="0"/>
              <a:t>Ожидает освобождения блокировки </a:t>
            </a:r>
            <a:r>
              <a:rPr lang="en-US" sz="1100" dirty="0"/>
              <a:t>Ly</a:t>
            </a:r>
            <a:r>
              <a:rPr lang="ru-RU" sz="1100" dirty="0"/>
              <a:t> транзакцией </a:t>
            </a:r>
            <a:r>
              <a:rPr lang="en-US" sz="1100" dirty="0"/>
              <a:t>T2y</a:t>
            </a:r>
          </a:p>
        </p:txBody>
      </p:sp>
      <p:cxnSp>
        <p:nvCxnSpPr>
          <p:cNvPr id="38" name="Connector: Elbow 19">
            <a:extLst>
              <a:ext uri="{FF2B5EF4-FFF2-40B4-BE49-F238E27FC236}">
                <a16:creationId xmlns:a16="http://schemas.microsoft.com/office/drawing/2014/main" id="{9000A6C1-F0F3-9717-0B00-2E93C3B89FD5}"/>
              </a:ext>
            </a:extLst>
          </p:cNvPr>
          <p:cNvCxnSpPr>
            <a:cxnSpLocks/>
            <a:stCxn id="17" idx="1"/>
            <a:endCxn id="14" idx="3"/>
          </p:cNvCxnSpPr>
          <p:nvPr/>
        </p:nvCxnSpPr>
        <p:spPr>
          <a:xfrm flipH="1">
            <a:off x="3294987" y="3766534"/>
            <a:ext cx="2554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075D1AA-4102-3FE9-5031-AD4AF6DFB3D9}"/>
              </a:ext>
            </a:extLst>
          </p:cNvPr>
          <p:cNvSpPr txBox="1"/>
          <p:nvPr/>
        </p:nvSpPr>
        <p:spPr>
          <a:xfrm>
            <a:off x="3657366" y="3540158"/>
            <a:ext cx="1944215" cy="43088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ru-RU" sz="1100" dirty="0"/>
              <a:t>Ожидает завершения транзакции 	</a:t>
            </a:r>
            <a:r>
              <a:rPr lang="en-US" sz="1100" dirty="0"/>
              <a:t>T2x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555BF8-9D06-9970-F5DB-ED817E2A0002}"/>
              </a:ext>
            </a:extLst>
          </p:cNvPr>
          <p:cNvSpPr txBox="1"/>
          <p:nvPr/>
        </p:nvSpPr>
        <p:spPr>
          <a:xfrm>
            <a:off x="5853245" y="3986881"/>
            <a:ext cx="1944215" cy="26161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ru-RU" sz="1100" dirty="0"/>
              <a:t>Владеет блокировкой </a:t>
            </a:r>
            <a:r>
              <a:rPr lang="en-US" sz="1100" dirty="0"/>
              <a:t>Ly</a:t>
            </a:r>
          </a:p>
        </p:txBody>
      </p:sp>
    </p:spTree>
    <p:extLst>
      <p:ext uri="{BB962C8B-B14F-4D97-AF65-F5344CB8AC3E}">
        <p14:creationId xmlns:p14="http://schemas.microsoft.com/office/powerpoint/2010/main" val="1343778730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18777</TotalTime>
  <Words>3099</Words>
  <Application>Microsoft Office PowerPoint</Application>
  <PresentationFormat>On-screen Show (16:9)</PresentationFormat>
  <Paragraphs>592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Cascadia Code SemiBold</vt:lpstr>
      <vt:lpstr>Acrom ExtraBold</vt:lpstr>
      <vt:lpstr>Arial</vt:lpstr>
      <vt:lpstr>Aptos Narrow</vt:lpstr>
      <vt:lpstr>Calibri</vt:lpstr>
      <vt:lpstr>Wingdings</vt:lpstr>
      <vt:lpstr>Acrom</vt:lpstr>
      <vt:lpstr>Acrom Bold</vt:lpstr>
      <vt:lpstr>NSU Content</vt:lpstr>
      <vt:lpstr>NSU Captions</vt:lpstr>
      <vt:lpstr>БАЗЫ ДАННЫХ</vt:lpstr>
      <vt:lpstr>PowerPoint Presentation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  <vt:lpstr>Распределенные  базы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906</cp:revision>
  <dcterms:created xsi:type="dcterms:W3CDTF">2016-08-15T04:55:12Z</dcterms:created>
  <dcterms:modified xsi:type="dcterms:W3CDTF">2025-05-26T17:09:08Z</dcterms:modified>
</cp:coreProperties>
</file>