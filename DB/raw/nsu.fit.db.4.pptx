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19"/>
  </p:notesMasterIdLst>
  <p:sldIdLst>
    <p:sldId id="514" r:id="rId3"/>
    <p:sldId id="524" r:id="rId4"/>
    <p:sldId id="257" r:id="rId5"/>
    <p:sldId id="260" r:id="rId6"/>
    <p:sldId id="261" r:id="rId7"/>
    <p:sldId id="258" r:id="rId8"/>
    <p:sldId id="259" r:id="rId9"/>
    <p:sldId id="262" r:id="rId10"/>
    <p:sldId id="266" r:id="rId11"/>
    <p:sldId id="264" r:id="rId12"/>
    <p:sldId id="263" r:id="rId13"/>
    <p:sldId id="265" r:id="rId14"/>
    <p:sldId id="526" r:id="rId15"/>
    <p:sldId id="527" r:id="rId16"/>
    <p:sldId id="528" r:id="rId17"/>
    <p:sldId id="529" r:id="rId18"/>
  </p:sldIdLst>
  <p:sldSz cx="9144000" cy="5143500" type="screen16x9"/>
  <p:notesSz cx="6858000" cy="9144000"/>
  <p:embeddedFontLst>
    <p:embeddedFont>
      <p:font typeface="Acrom" panose="020B0604020202020204" charset="-52"/>
      <p:regular r:id="rId20"/>
    </p:embeddedFont>
    <p:embeddedFont>
      <p:font typeface="Acrom Bold" panose="020B0604020202020204" charset="-52"/>
      <p:bold r:id="rId21"/>
    </p:embeddedFont>
    <p:embeddedFont>
      <p:font typeface="Acrom ExtraBold" panose="020B0604020202020204" charset="-52"/>
      <p:bold r:id="rId22"/>
    </p:embeddedFont>
    <p:embeddedFont>
      <p:font typeface="Cambria Math" panose="02040503050406030204" pitchFamily="18" charset="0"/>
      <p:regular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257"/>
            <p14:sldId id="260"/>
            <p14:sldId id="261"/>
            <p14:sldId id="258"/>
            <p14:sldId id="259"/>
            <p14:sldId id="262"/>
            <p14:sldId id="266"/>
            <p14:sldId id="264"/>
            <p14:sldId id="263"/>
            <p14:sldId id="265"/>
            <p14:sldId id="526"/>
            <p14:sldId id="527"/>
            <p14:sldId id="528"/>
            <p14:sldId id="5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3FF"/>
    <a:srgbClr val="90D1DC"/>
    <a:srgbClr val="8FAADC"/>
    <a:srgbClr val="E9EBF5"/>
    <a:srgbClr val="5F9E38"/>
    <a:srgbClr val="9292FB"/>
    <a:srgbClr val="007D9A"/>
    <a:srgbClr val="50852F"/>
    <a:srgbClr val="6CB64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73" autoAdjust="0"/>
    <p:restoredTop sz="92373" autoAdjust="0"/>
  </p:normalViewPr>
  <p:slideViewPr>
    <p:cSldViewPr>
      <p:cViewPr varScale="1">
        <p:scale>
          <a:sx n="141" d="100"/>
          <a:sy n="141" d="100"/>
        </p:scale>
        <p:origin x="690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09.10.2024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09.10.2024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09.10.2024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09.10.2024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09.10.2024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09.10.2024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Реляционная модель данных </a:t>
            </a:r>
            <a:r>
              <a:rPr lang="ru-RU"/>
              <a:t>ч.2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eaLnBrk="1" hangingPunct="1"/>
            <a:r>
              <a:rPr lang="ru-RU" sz="2000" dirty="0"/>
              <a:t>Дж. Ульман, </a:t>
            </a:r>
            <a:r>
              <a:rPr lang="ru-RU" sz="2000" b="1" dirty="0"/>
              <a:t>Основы систем баз данных</a:t>
            </a:r>
            <a:r>
              <a:rPr lang="ru-RU" sz="2000" dirty="0"/>
              <a:t>, </a:t>
            </a:r>
            <a:r>
              <a:rPr lang="ru-RU" sz="2000" dirty="0">
                <a:solidFill>
                  <a:schemeClr val="tx1"/>
                </a:solidFill>
                <a:highlight>
                  <a:srgbClr val="C1F3FF"/>
                </a:highlight>
              </a:rPr>
              <a:t>Глава </a:t>
            </a:r>
            <a:r>
              <a:rPr lang="en-US" sz="2000">
                <a:solidFill>
                  <a:schemeClr val="tx1"/>
                </a:solidFill>
                <a:highlight>
                  <a:srgbClr val="C1F3FF"/>
                </a:highlight>
              </a:rPr>
              <a:t>4</a:t>
            </a:r>
            <a:endParaRPr lang="en-US" dirty="0">
              <a:solidFill>
                <a:schemeClr val="tx1"/>
              </a:solidFill>
              <a:highlight>
                <a:srgbClr val="C1F3FF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0B65D-ED77-415F-B19E-1A8DF1EB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AC0B-EBAF-4B75-8BFF-76E0C2B931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622"/>
            <a:ext cx="8541643" cy="3096344"/>
          </a:xfrm>
        </p:spPr>
        <p:txBody>
          <a:bodyPr numCol="2" spcCol="180000">
            <a:normAutofit fontScale="92500" lnSpcReduction="10000"/>
          </a:bodyPr>
          <a:lstStyle/>
          <a:p>
            <a:pPr marL="0" indent="0">
              <a:buNone/>
            </a:pPr>
            <a:r>
              <a:rPr lang="ru-RU" sz="1900" b="1" dirty="0"/>
              <a:t>Реляционное исчисление</a:t>
            </a:r>
            <a:r>
              <a:rPr lang="ru-RU" sz="1900" dirty="0"/>
              <a:t> — прикладная ветвь формальной теории, носящей название «исчисления предикатов первого порядка». </a:t>
            </a:r>
          </a:p>
          <a:p>
            <a:pPr marL="0" indent="0">
              <a:buNone/>
            </a:pPr>
            <a:r>
              <a:rPr lang="ru-RU" sz="1900" dirty="0"/>
              <a:t>В основе исчисления лежит понятие </a:t>
            </a:r>
            <a:r>
              <a:rPr lang="ru-RU" sz="1900" b="1" dirty="0"/>
              <a:t>переменной</a:t>
            </a:r>
            <a:r>
              <a:rPr lang="ru-RU" sz="1900" dirty="0"/>
              <a:t> с определенной для неё областью допустимых значений и понятие </a:t>
            </a:r>
            <a:r>
              <a:rPr lang="ru-RU" sz="1900" b="1" dirty="0"/>
              <a:t>правильно построенной формулы</a:t>
            </a:r>
            <a:r>
              <a:rPr lang="ru-RU" sz="1900" dirty="0"/>
              <a:t>, опирающейся на </a:t>
            </a:r>
            <a:r>
              <a:rPr lang="ru-RU" sz="1900" b="1" dirty="0"/>
              <a:t>переменные</a:t>
            </a:r>
            <a:r>
              <a:rPr lang="ru-RU" sz="1900" dirty="0"/>
              <a:t>, </a:t>
            </a:r>
            <a:r>
              <a:rPr lang="ru-RU" sz="1900" b="1" dirty="0"/>
              <a:t>предикаты</a:t>
            </a:r>
            <a:r>
              <a:rPr lang="ru-RU" sz="1900" dirty="0"/>
              <a:t> и </a:t>
            </a:r>
            <a:r>
              <a:rPr lang="ru-RU" sz="1900" b="1" dirty="0"/>
              <a:t>кванторы</a:t>
            </a:r>
            <a:r>
              <a:rPr lang="ru-RU" sz="1900" dirty="0"/>
              <a:t>. </a:t>
            </a:r>
          </a:p>
          <a:p>
            <a:pPr marL="0" indent="0">
              <a:buNone/>
            </a:pPr>
            <a:r>
              <a:rPr lang="ru-RU" sz="1900" dirty="0"/>
              <a:t>Наряду с реляционной алгеброй является способом получения результирующего отношения в реляционной модели данных. </a:t>
            </a:r>
          </a:p>
          <a:p>
            <a:pPr marL="0" indent="0">
              <a:buNone/>
            </a:pPr>
            <a:r>
              <a:rPr lang="ru-RU" sz="1900" dirty="0"/>
              <a:t>В зависимости от того, что является областью определения переменной, различают:</a:t>
            </a:r>
          </a:p>
          <a:p>
            <a:r>
              <a:rPr lang="ru-RU" sz="1900" dirty="0"/>
              <a:t>Исчисление кортежей</a:t>
            </a:r>
          </a:p>
          <a:p>
            <a:r>
              <a:rPr lang="ru-RU" sz="1900" dirty="0"/>
              <a:t>Исчисление доменов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F6714-6390-4D70-AC47-7ADE07AE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87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0E73E-4BA1-475A-A122-BE2F7D1E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33B565-A550-4682-B951-43A63ECD6A3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– множество названий атрибутов. </a:t>
                </a:r>
                <a:br>
                  <a:rPr lang="ru-RU" dirty="0"/>
                </a:br>
                <a:r>
                  <a:rPr lang="en-US" dirty="0"/>
                  <a:t>{“supplier”, “article”, “s#”, “</a:t>
                </a:r>
                <a:r>
                  <a:rPr lang="en-US" dirty="0" err="1"/>
                  <a:t>sname</a:t>
                </a:r>
                <a:r>
                  <a:rPr lang="en-US" dirty="0"/>
                  <a:t>”, “p#”, “</a:t>
                </a:r>
                <a:r>
                  <a:rPr lang="en-US" dirty="0" err="1"/>
                  <a:t>pname</a:t>
                </a:r>
                <a:r>
                  <a:rPr lang="en-US" dirty="0"/>
                  <a:t>”}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множество названий отношений</a:t>
                </a:r>
                <a:r>
                  <a:rPr lang="en-US" dirty="0"/>
                  <a:t>. </a:t>
                </a:r>
                <a:br>
                  <a:rPr lang="ru-RU" dirty="0"/>
                </a:br>
                <a:r>
                  <a:rPr lang="en-US" dirty="0"/>
                  <a:t>{“Supplier”, “Product”, “Supplies”}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ru-RU" dirty="0"/>
                  <a:t> - функция, сопоставляющая каждому названию отношений список атрибутов. </a:t>
                </a:r>
                <a:br>
                  <a:rPr lang="en-US" dirty="0"/>
                </a:br>
                <a:r>
                  <a:rPr lang="en-US" dirty="0"/>
                  <a:t>h(“Supplier”)=“s#”, “</a:t>
                </a:r>
                <a:r>
                  <a:rPr lang="en-US" dirty="0" err="1"/>
                  <a:t>sname</a:t>
                </a:r>
                <a:r>
                  <a:rPr lang="en-US" dirty="0"/>
                  <a:t>”)</a:t>
                </a:r>
                <a:br>
                  <a:rPr lang="en-US" dirty="0"/>
                </a:br>
                <a:r>
                  <a:rPr lang="en-US" dirty="0"/>
                  <a:t>h(“Product”)= {“p#”, “</a:t>
                </a:r>
                <a:r>
                  <a:rPr lang="en-US" dirty="0" err="1"/>
                  <a:t>pname</a:t>
                </a:r>
                <a:r>
                  <a:rPr lang="en-US" dirty="0"/>
                  <a:t>”}</a:t>
                </a:r>
                <a:br>
                  <a:rPr lang="en-US" dirty="0"/>
                </a:br>
                <a:r>
                  <a:rPr lang="en-US" dirty="0"/>
                  <a:t>h(“Supplies”)={“s#”, “p#”}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33B565-A550-4682-B951-43A63ECD6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E42560E-4CD1-43DC-95B3-8324CC50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Исчисление кортежей: база данных 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04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0E73E-4BA1-475A-A122-BE2F7D1E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33B565-A550-4682-B951-43A63ECD6A3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7" y="1419224"/>
                <a:ext cx="8541643" cy="3576828"/>
              </a:xfrm>
            </p:spPr>
            <p:txBody>
              <a:bodyPr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множество значений атрибутов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⇸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dirty="0"/>
                  <a:t> – кортеж над </a:t>
                </a:r>
                <a:r>
                  <a:rPr lang="en-US" dirty="0"/>
                  <a:t>D; </a:t>
                </a:r>
                <a:r>
                  <a:rPr lang="ru-RU" dirty="0"/>
                  <a:t>сопоставляет некоторым атрибутам из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значения из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br>
                  <a:rPr lang="ru-RU" dirty="0"/>
                </a:br>
                <a:r>
                  <a:rPr lang="en-US" dirty="0"/>
                  <a:t>{“s#”:1, “</a:t>
                </a:r>
                <a:r>
                  <a:rPr lang="en-US" dirty="0" err="1"/>
                  <a:t>sname</a:t>
                </a:r>
                <a:r>
                  <a:rPr lang="en-US" dirty="0"/>
                  <a:t>”:”IBM”}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множество всех возможных кортежей над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ru-RU" dirty="0"/>
              </a:p>
              <a:p>
                <a:r>
                  <a:rPr lang="ru-RU" b="1" dirty="0"/>
                  <a:t>Схема</a:t>
                </a:r>
                <a:r>
                  <a:rPr lang="ru-RU" dirty="0"/>
                  <a:t> базы данных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/>
                      <m:t>S</m:t>
                    </m:r>
                    <m:r>
                      <m:rPr>
                        <m:nor/>
                      </m:rPr>
                      <a:rPr lang="en-US"/>
                      <m:t> = (</m:t>
                    </m:r>
                    <m:r>
                      <m:rPr>
                        <m:nor/>
                      </m:rPr>
                      <a:rPr lang="en-US" i="1"/>
                      <m:t>D</m:t>
                    </m:r>
                    <m:r>
                      <m:rPr>
                        <m:nor/>
                      </m:rPr>
                      <a:rPr lang="en-US"/>
                      <m:t>, </m:t>
                    </m:r>
                    <m:r>
                      <m:rPr>
                        <m:nor/>
                      </m:rPr>
                      <a:rPr lang="en-US" i="1"/>
                      <m:t>R</m:t>
                    </m:r>
                    <m:r>
                      <m:rPr>
                        <m:nor/>
                      </m:rPr>
                      <a:rPr lang="en-US"/>
                      <m:t>, </m:t>
                    </m:r>
                    <m:r>
                      <m:rPr>
                        <m:nor/>
                      </m:rPr>
                      <a:rPr lang="en-US" i="1"/>
                      <m:t>h</m:t>
                    </m:r>
                    <m:r>
                      <m:rPr>
                        <m:nor/>
                      </m:rPr>
                      <a:rPr lang="en-US"/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комбинация домена, имен отношений, и схем этих отношений</a:t>
                </a:r>
              </a:p>
              <a:p>
                <a:r>
                  <a:rPr lang="ru-RU" b="1" dirty="0"/>
                  <a:t>База данных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- c</a:t>
                </a:r>
                <a:r>
                  <a:rPr lang="ru-RU" dirty="0" err="1"/>
                  <a:t>опоставляет</a:t>
                </a:r>
                <a:r>
                  <a:rPr lang="ru-RU" dirty="0"/>
                  <a:t> каждому имени отношения какое-то подмножество множества всех возможных кортежей.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33B565-A550-4682-B951-43A63ECD6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7" y="1419224"/>
                <a:ext cx="8541643" cy="3576828"/>
              </a:xfrm>
              <a:blipFill>
                <a:blip r:embed="rId2"/>
                <a:stretch>
                  <a:fillRect t="-1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E42560E-4CD1-43DC-95B3-8324CC50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Исчисление кортежей: база данных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2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F5168-8508-492F-B81C-708D5874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217B33-07E8-416E-B9AA-9A181140EAA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запрос: </a:t>
                </a:r>
                <a:endParaRPr lang="en-US" dirty="0"/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имя переменной,</a:t>
                </a:r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 – схема,</a:t>
                </a:r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ru-RU" dirty="0"/>
                  <a:t> - формула (предикат), который отображает любые значения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истину/ложь.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Примеры запросов:</a:t>
                </a:r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𝑤𝑎𝑔𝑒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𝐸𝑚𝑝𝑙𝑜𝑦𝑒𝑒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𝑤𝑎𝑔𝑒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50000 }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 | ∃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 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𝑤𝑎𝑔𝑒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 (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𝐸𝑚𝑝𝑙𝑜𝑦𝑒𝑒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𝑤𝑎𝑔𝑒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50000 ∧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) }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300038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𝑠𝑢𝑝𝑝𝑙𝑖𝑒𝑟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𝑎𝑟𝑡𝑖𝑐𝑙𝑒</m:t>
                            </m:r>
                          </m:e>
                        </m:d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#,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𝑠𝑛𝑎𝑚𝑒</m:t>
                        </m:r>
                      </m:e>
                    </m:d>
                  </m:oMath>
                </a14:m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:br>
                  <a:rPr lang="ru-RU" i="1" dirty="0">
                    <a:latin typeface="Cambria Math" panose="02040503050406030204" pitchFamily="18" charset="0"/>
                  </a:rPr>
                </a:br>
                <a:r>
                  <a:rPr lang="ru-RU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𝑆𝑢𝑝𝑝𝑙𝑖𝑒𝑟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𝑠𝑢𝑝𝑝𝑙𝑖𝑒𝑟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 </m:t>
                    </m:r>
                  </m:oMath>
                </a14:m>
                <a:br>
                  <a:rPr lang="ru-RU" i="1" dirty="0">
                    <a:latin typeface="Cambria Math" panose="02040503050406030204" pitchFamily="18" charset="0"/>
                  </a:rPr>
                </a:br>
                <a:r>
                  <a:rPr lang="ru-RU" i="1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 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#,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 (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𝑃𝑟𝑜𝑑𝑢𝑐𝑡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𝑎𝑟𝑡𝑖𝑐𝑙𝑒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 </m:t>
                    </m:r>
                  </m:oMath>
                </a14:m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:br>
                  <a:rPr lang="ru-RU" i="1" dirty="0">
                    <a:latin typeface="Cambria Math" panose="02040503050406030204" pitchFamily="18" charset="0"/>
                  </a:rPr>
                </a:br>
                <a:r>
                  <a:rPr lang="ru-RU" i="1" dirty="0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 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#,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#} (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𝑆𝑢𝑝𝑝𝑙𝑖𝑒𝑠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#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# ∧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#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# ))) 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217B33-07E8-416E-B9AA-9A181140EA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00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14900A4-ADD6-48D7-B341-BF31BB1B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Исчисление кортежей: запросы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07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BBF96-606B-41C1-A2B1-A2110D129D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B67C2F0-7E43-E673-B38B-FFA811450063}"/>
                  </a:ext>
                </a:extLst>
              </p:cNvPr>
              <p:cNvSpPr>
                <a:spLocks noGrp="1"/>
              </p:cNvSpPr>
              <p:nvPr>
                <p:ph sz="quarter" idx="16"/>
              </p:nvPr>
            </p:nvSpPr>
            <p:spPr>
              <a:xfrm>
                <a:off x="4572000" y="1419224"/>
                <a:ext cx="4321175" cy="3312765"/>
              </a:xfrm>
            </p:spPr>
            <p:txBody>
              <a:bodyPr>
                <a:normAutofit/>
              </a:bodyPr>
              <a:lstStyle/>
              <a:p>
                <a:pPr marL="266700" marR="0" lvl="0" indent="-2667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Атомы:</a:t>
                </a:r>
              </a:p>
              <a:p>
                <a:pPr marL="541338" marR="0" lvl="1" indent="-274638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kumimoji="0" lang="en-US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d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</a:t>
                </a:r>
                <a:b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</a:br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кортеж 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содержит атрибут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</a:t>
                </a:r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и значение атрибута равно константе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d</m:t>
                    </m:r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crom" panose="00000500000000000000" pitchFamily="50" charset="-52"/>
                  <a:ea typeface="+mn-ea"/>
                  <a:cs typeface="+mn-cs"/>
                </a:endParaRPr>
              </a:p>
              <a:p>
                <a:pPr marL="541338" marR="0" lvl="1" indent="-274638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</a:t>
                </a:r>
                <a:b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</a:br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кортеж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содержит атрибут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, кортеж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</m:oMath>
                </a14:m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содержит атрибут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,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</a:t>
                </a:r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значения этих атрибутов в этих кортежах совпадают</a:t>
                </a:r>
              </a:p>
              <a:p>
                <a:pPr marL="541338" marR="0" lvl="1" indent="-274638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d>
                      <m:d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</a:t>
                </a:r>
                <a:b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</a:br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отношение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 </a:t>
                </a:r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содержит кортеж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kumimoji="0" lang="ru-RU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𝑑𝑏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𝑅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crom" panose="00000500000000000000" pitchFamily="50" charset="-52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B67C2F0-7E43-E673-B38B-FFA811450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6"/>
              </p:nvPr>
            </p:nvSpPr>
            <p:spPr>
              <a:xfrm>
                <a:off x="4572000" y="1419224"/>
                <a:ext cx="4321175" cy="3312765"/>
              </a:xfrm>
              <a:blipFill>
                <a:blip r:embed="rId3"/>
                <a:stretch>
                  <a:fillRect t="-2026" r="-1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ECC6FE-28AE-45AA-AD9C-543DCCDDF2E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8" y="1419225"/>
                <a:ext cx="3933130" cy="2952750"/>
              </a:xfrm>
            </p:spPr>
            <p:txBody>
              <a:bodyPr numCol="1" anchor="t">
                <a:normAutofit/>
              </a:bodyPr>
              <a:lstStyle/>
              <a:p>
                <a:pPr marL="266700" indent="-266700"/>
                <a:r>
                  <a:rPr lang="ru-RU" sz="1800" dirty="0"/>
                  <a:t>Переменные: </a:t>
                </a:r>
              </a:p>
              <a:p>
                <a:pPr marL="541338" lvl="1" indent="-274638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sz="1600" dirty="0"/>
                  <a:t> – множество названий реляционных переменных</a:t>
                </a:r>
              </a:p>
              <a:p>
                <a:pPr marL="541338" lvl="1" indent="-274638"/>
                <a:r>
                  <a:rPr lang="en-US" sz="1600" i="1" dirty="0"/>
                  <a:t>type</a:t>
                </a:r>
                <a:r>
                  <a:rPr lang="en-US" sz="1600" dirty="0"/>
                  <a:t> : </a:t>
                </a:r>
                <a:r>
                  <a:rPr lang="en-US" sz="1600" i="1" dirty="0"/>
                  <a:t>V</a:t>
                </a:r>
                <a:r>
                  <a:rPr lang="en-US" sz="1600" dirty="0"/>
                  <a:t> ⇸ 2</a:t>
                </a:r>
                <a:r>
                  <a:rPr lang="en-US" sz="1600" i="1" baseline="30000" dirty="0"/>
                  <a:t>C </a:t>
                </a:r>
                <a:r>
                  <a:rPr lang="ru-RU" sz="1600" dirty="0"/>
                  <a:t>– функция, сопоставляющая тип некоторым переменным</a:t>
                </a:r>
              </a:p>
              <a:p>
                <a:pPr marL="266700" indent="-266700"/>
                <a:endParaRPr lang="en-US" sz="1800" dirty="0"/>
              </a:p>
              <a:p>
                <a:pPr marL="266700" indent="-266700"/>
                <a:endParaRPr lang="en-US" sz="1800" dirty="0"/>
              </a:p>
              <a:p>
                <a:pPr marL="266700" indent="-266700"/>
                <a:endParaRPr lang="en-US" sz="1800" dirty="0"/>
              </a:p>
              <a:p>
                <a:pPr marL="266700" indent="-266700"/>
                <a:endParaRPr lang="en-US" sz="1800" dirty="0"/>
              </a:p>
              <a:p>
                <a:pPr marL="266700" indent="-266700"/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ECC6FE-28AE-45AA-AD9C-543DCCDDF2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8" y="1419225"/>
                <a:ext cx="3933130" cy="2952750"/>
              </a:xfrm>
              <a:blipFill>
                <a:blip r:embed="rId4"/>
                <a:stretch>
                  <a:fillRect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7FF62C9-3678-48FE-8711-BC75DF49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Исчисление кортежей: формулы</a:t>
            </a:r>
            <a:r>
              <a:rPr lang="en-US" dirty="0"/>
              <a:t> (1)</a:t>
            </a:r>
          </a:p>
        </p:txBody>
      </p:sp>
    </p:spTree>
    <p:extLst>
      <p:ext uri="{BB962C8B-B14F-4D97-AF65-F5344CB8AC3E}">
        <p14:creationId xmlns:p14="http://schemas.microsoft.com/office/powerpoint/2010/main" val="936703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6D24D-C09C-455F-9C07-6AF589CC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DE692B-618D-4F5E-9643-59F6B791CB7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>
                <a:normAutofit/>
              </a:bodyPr>
              <a:lstStyle/>
              <a:p>
                <a:r>
                  <a:rPr lang="ru-RU" dirty="0"/>
                  <a:t>Любой атом является формулой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конъюнкция формул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дизъюнкция формул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отрицание формулы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квантор существования кортежа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типа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, удовлетворяющего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квантор всеобщности для кортежей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типа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, удовлетворяющих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DE692B-618D-4F5E-9643-59F6B791C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2273" b="-2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7137D9D-6BC1-41BF-9A4A-342FC858C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Исчисление кортежей: формулы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764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3FBC0-D12D-44E8-916F-23E630EA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00775-D4A3-4D14-8CC1-6031DCB321D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>
                <a:normAutofit/>
              </a:bodyPr>
              <a:lstStyle/>
              <a:p>
                <a:r>
                  <a:rPr lang="ru-RU" dirty="0"/>
                  <a:t>Возможность использовать произвольные переменные позволяет строить бессмысленные запросы:</a:t>
                </a:r>
              </a:p>
              <a:p>
                <a:pPr marL="358775" indent="-358775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𝑛𝑎𝑚𝑒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𝑤𝑎𝑔𝑒</m:t>
                              </m:r>
                            </m:e>
                          </m:d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𝑤𝑎𝑔𝑒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= 50000∧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𝑃𝑒𝑡𝑒𝑟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e>
                      </m:d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Решение: потребовать «связывать» все переменные, кроме переменной в левой части запроса. </a:t>
                </a:r>
                <a:br>
                  <a:rPr lang="en-US" dirty="0"/>
                </a:br>
                <a:r>
                  <a:rPr lang="ru-RU" dirty="0"/>
                  <a:t>«Связывать» - помещать внутрь кванторов всеобщности либо существования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00775-D4A3-4D14-8CC1-6031DCB32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2273" r="-1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FDB4B5A-82FC-4D0F-8465-961E42AA8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Безопасные формулы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6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3714-DD98-4DC4-8589-4B73F7D8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154457-2E74-4EDB-A482-B6361CAF3AD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𝑤𝑎𝑔𝑒</m:t>
                            </m:r>
                          </m:e>
                        </m:d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𝐸𝑚𝑝𝑙𝑜𝑦𝑒𝑒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𝑤𝑎𝑔𝑒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= 50000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</m:e>
                        </m:d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∃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: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𝑤𝑎𝑔𝑒</m:t>
                            </m:r>
                          </m:e>
                        </m:d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𝐸𝑚𝑝𝑙𝑜𝑦𝑒𝑒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 ∧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𝑤𝑎𝑔𝑒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= 50000 ∧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=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/>
                  <a:t> </a:t>
                </a:r>
                <a:br>
                  <a:rPr lang="ru-RU" dirty="0"/>
                </a:b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𝑠𝑢𝑝𝑝𝑙𝑖𝑒𝑟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𝑎𝑟𝑡𝑖𝑐𝑙𝑒</m:t>
                              </m:r>
                            </m:e>
                          </m:d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∃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#,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𝑠𝑛𝑎𝑚𝑒</m:t>
                              </m:r>
                            </m:e>
                          </m:d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𝑆𝑢𝑝𝑝𝑙𝑖𝑒𝑟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 ∧ 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𝑠𝑛𝑎𝑚𝑒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=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𝑠𝑢𝑝𝑝𝑙𝑖𝑒𝑟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∧</m:t>
                                  </m:r>
                                  <m:r>
                                    <m:rPr>
                                      <m:nor/>
                                    </m:r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∃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: 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#,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𝑝𝑛𝑎𝑚𝑒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𝑃𝑟𝑜𝑑𝑢𝑐𝑡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∧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𝑝𝑛𝑎𝑚𝑒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=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𝑎𝑟𝑡𝑖𝑐𝑙𝑒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∧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ru-RU" i="1" dirty="0">
                                              <a:latin typeface="Cambria Math" panose="02040503050406030204" pitchFamily="18" charset="0"/>
                                            </a:rPr>
                                            <m:t>        </m:t>
                                          </m:r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∃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: </m:t>
                                          </m:r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#,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#</m:t>
                                              </m:r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eqArr>
                                                <m:eqArr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eqArr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𝑆𝑢𝑝𝑝𝑙𝑖𝑒𝑠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) ∧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.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# = 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.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# ∧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.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# = 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.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#</m:t>
                                                  </m:r>
                                                </m:e>
                                              </m:eqArr>
                                            </m:e>
                                          </m:d>
                                        </m:e>
                                      </m:eqArr>
                                    </m:e>
                                  </m:d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br>
                  <a:rPr lang="ru-RU" i="1" dirty="0">
                    <a:latin typeface="Cambria Math" panose="02040503050406030204" pitchFamily="18" charset="0"/>
                  </a:rPr>
                </a:br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:r>
                  <a:rPr lang="ru-RU" dirty="0"/>
                  <a:t>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154457-2E74-4EDB-A482-B6361CAF3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5741545-BDE4-4A51-A7F4-9F8C28BC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Исчисление кортежей: примеры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7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6AE76-88B1-47DB-9B28-D568682E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E42103-C632-47AB-9E4A-FBCC8CE4F94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запрос на поиск комбинаций скалярных переменных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, которые удовлетворяют предикату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Предикат строится тем же способом, что и в исчислении кортежей.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E42103-C632-47AB-9E4A-FBCC8CE4F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785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EE445AB-C3B9-4DFA-A0F2-BB683CDC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Исчисление доменов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143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AF0CF-8A5E-4458-9090-81728A1B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 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 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 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h𝑒𝑎𝑑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h𝑒𝑎𝑑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…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h𝑒𝑎𝑑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…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207" r="-1713" b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93DA28D-A518-4475-AC65-848BAEB3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Эквивалентность реляционной алгебры и реляционного исчисления</a:t>
            </a:r>
            <a:r>
              <a:rPr lang="en-US" dirty="0"/>
              <a:t> 1/</a:t>
            </a:r>
            <a:r>
              <a:rPr lang="ru-RU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667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AF0CF-8A5E-4458-9090-81728A1B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>
                <a:normAutofit fontScale="92500" lnSpcReduction="20000"/>
              </a:bodyPr>
              <a:lstStyle/>
              <a:p>
                <a:pPr marL="266700" indent="-266700"/>
                <a:r>
                  <a:rPr lang="ru-RU" dirty="0"/>
                  <a:t>Теорема 1. </a:t>
                </a:r>
                <a:endParaRPr lang="en-US" dirty="0"/>
              </a:p>
              <a:p>
                <a:pPr marL="266700" lvl="1" indent="0">
                  <a:buNone/>
                </a:pPr>
                <a:r>
                  <a:rPr lang="ru-RU" dirty="0"/>
                  <a:t>Если E – выражение реляционной алгебры, то существует эквивалентное ему безопасное выражение в реляционном исчислении с переменными-кортежами.</a:t>
                </a:r>
              </a:p>
              <a:p>
                <a:pPr marL="266700" indent="-266700"/>
                <a:r>
                  <a:rPr lang="ru-RU" dirty="0"/>
                  <a:t>Доказательство. </a:t>
                </a:r>
                <a:endParaRPr lang="en-US" dirty="0"/>
              </a:p>
              <a:p>
                <a:pPr marL="266700" lvl="1" indent="0">
                  <a:buNone/>
                </a:pPr>
                <a:r>
                  <a:rPr lang="ru-RU" dirty="0"/>
                  <a:t>Индукция по числу вхождений операторов в E.</a:t>
                </a:r>
                <a:r>
                  <a:rPr lang="en-US" dirty="0"/>
                  <a:t> </a:t>
                </a:r>
              </a:p>
              <a:p>
                <a:pPr marL="266700" indent="-266700"/>
                <a:r>
                  <a:rPr lang="ru-RU" dirty="0"/>
                  <a:t>Базис. Нуль операторов.</a:t>
                </a:r>
              </a:p>
              <a:p>
                <a:pPr marL="358775" lvl="1" indent="0">
                  <a:buNone/>
                </a:pPr>
                <a:r>
                  <a:rPr lang="ru-RU" dirty="0"/>
                  <a:t>Тогда Е – либо постоянное выражение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, либо переменная R, обозначающая отношение.</a:t>
                </a:r>
              </a:p>
              <a:p>
                <a:pPr lvl="1"/>
                <a:r>
                  <a:rPr lang="ru-RU" dirty="0"/>
                  <a:t>В первом случае Е эквивалентно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∨…∨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В последнем случае Е эквивалентно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ru-RU" dirty="0"/>
                  <a:t>, которое безопасно.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93DA28D-A518-4475-AC65-848BAEB3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Эквивалентность реляционной алгебры и реляционного исчисления</a:t>
            </a:r>
            <a:r>
              <a:rPr lang="en-US" dirty="0"/>
              <a:t> 2/</a:t>
            </a:r>
            <a:r>
              <a:rPr lang="ru-RU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678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AF0CF-8A5E-4458-9090-81728A1B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7" y="1419622"/>
                <a:ext cx="8541643" cy="2952750"/>
              </a:xfrm>
            </p:spPr>
            <p:txBody>
              <a:bodyPr anchor="t">
                <a:normAutofit/>
              </a:bodyPr>
              <a:lstStyle/>
              <a:p>
                <a:pPr marL="266700" indent="-266700"/>
                <a:r>
                  <a:rPr lang="ru-RU" dirty="0"/>
                  <a:t>Индукция. </a:t>
                </a:r>
                <a:endParaRPr lang="en-US" dirty="0"/>
              </a:p>
              <a:p>
                <a:pPr marL="400050" lvl="1" indent="0">
                  <a:buNone/>
                </a:pPr>
                <a:r>
                  <a:rPr lang="ru-RU" dirty="0"/>
                  <a:t>Предположим, что Е имеет не менее одного оператора и теорема истинна для выражений с числом вхождений операторов меньшим, чем в Е.</a:t>
                </a:r>
              </a:p>
              <a:p>
                <a:pPr marL="666750" lvl="1" indent="-266700"/>
                <a:r>
                  <a:rPr lang="ru-RU" dirty="0"/>
                  <a:t>Случай 1.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marL="800100" lvl="2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эквивалентно безопасному выражению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endParaRPr lang="ru-RU" dirty="0"/>
              </a:p>
              <a:p>
                <a:pPr marL="800100" lvl="2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эквивалентно безопасному выражению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endParaRPr lang="ru-RU" dirty="0"/>
              </a:p>
              <a:p>
                <a:pPr marL="800100" lvl="2" indent="0">
                  <a:buNone/>
                </a:pPr>
                <a:r>
                  <a:rPr lang="ru-RU" dirty="0"/>
                  <a:t>Тогда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строим эквивалентное выражение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7" y="1419622"/>
                <a:ext cx="8541643" cy="2952750"/>
              </a:xfrm>
              <a:blipFill>
                <a:blip r:embed="rId2"/>
                <a:stretch>
                  <a:fillRect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93DA28D-A518-4475-AC65-848BAEB3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Эквивалентность реляционной алгебры и реляционного исчисления</a:t>
            </a:r>
            <a:r>
              <a:rPr lang="en-US" dirty="0"/>
              <a:t> 3/</a:t>
            </a:r>
            <a:r>
              <a:rPr lang="ru-RU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28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AF0CF-8A5E-4458-9090-81728A1B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7" y="1419622"/>
                <a:ext cx="8541643" cy="3262486"/>
              </a:xfrm>
            </p:spPr>
            <p:txBody>
              <a:bodyPr anchor="t">
                <a:normAutofit/>
              </a:bodyPr>
              <a:lstStyle/>
              <a:p>
                <a:pPr marL="666750" lvl="1" indent="-266700"/>
                <a:r>
                  <a:rPr lang="ru-RU" dirty="0"/>
                  <a:t>Случай </a:t>
                </a:r>
                <a:r>
                  <a:rPr lang="en-US" dirty="0"/>
                  <a:t>2</a:t>
                </a:r>
                <a:r>
                  <a:rPr lang="ru-RU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marL="715963" lvl="2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эквивалентно безопасному выражению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endParaRPr lang="ru-RU" dirty="0"/>
              </a:p>
              <a:p>
                <a:pPr marL="715963" lvl="2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эквивалентно безопасному выражению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endParaRPr lang="ru-RU" dirty="0"/>
              </a:p>
              <a:p>
                <a:pPr marL="715963" lvl="2" indent="0">
                  <a:buNone/>
                </a:pPr>
                <a:r>
                  <a:rPr lang="ru-RU" dirty="0"/>
                  <a:t>Тогда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строим эквивалентное выражение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∧¬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666750" marR="0" lvl="1" indent="-2667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Случай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3</a:t>
                </a: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.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𝐸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.</a:t>
                </a:r>
              </a:p>
              <a:p>
                <a:pPr marL="715963" lvl="2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степени </a:t>
                </a:r>
                <a:r>
                  <a:rPr lang="en-US" dirty="0"/>
                  <a:t>k </a:t>
                </a:r>
                <a:r>
                  <a:rPr lang="ru-RU" dirty="0"/>
                  <a:t>эквивалентно безопасному выражению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endParaRPr lang="ru-RU" dirty="0"/>
              </a:p>
              <a:p>
                <a:pPr marL="715963" lvl="2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степени </a:t>
                </a:r>
                <a:r>
                  <a:rPr lang="en-US" dirty="0"/>
                  <a:t>s </a:t>
                </a:r>
                <a:r>
                  <a:rPr lang="ru-RU" dirty="0"/>
                  <a:t>эквивалентно безопасному выражению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endParaRPr lang="ru-RU" dirty="0"/>
              </a:p>
              <a:p>
                <a:pPr marL="715963" lvl="2" indent="0">
                  <a:buNone/>
                </a:pP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эквивалентно выражению </a:t>
                </a:r>
                <a:endParaRPr lang="en-US" dirty="0"/>
              </a:p>
              <a:p>
                <a:pPr marL="715963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15963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∧…∧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15963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 </m:t>
                      </m:r>
                    </m:oMath>
                  </m:oMathPara>
                </a14:m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7" y="1419622"/>
                <a:ext cx="8541643" cy="3262486"/>
              </a:xfrm>
              <a:blipFill>
                <a:blip r:embed="rId3"/>
                <a:stretch>
                  <a:fillRect t="-2056" b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93DA28D-A518-4475-AC65-848BAEB3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Эквивалентность реляционной алгебры и реляционного исчисления</a:t>
            </a:r>
            <a:r>
              <a:rPr lang="en-US" dirty="0"/>
              <a:t> 4/</a:t>
            </a:r>
            <a:r>
              <a:rPr lang="ru-RU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421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AF0CF-8A5E-4458-9090-81728A1B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7" y="1419622"/>
                <a:ext cx="8541643" cy="3262486"/>
              </a:xfrm>
            </p:spPr>
            <p:txBody>
              <a:bodyPr anchor="t">
                <a:normAutofit/>
              </a:bodyPr>
              <a:lstStyle/>
              <a:p>
                <a:pPr marL="666750" lvl="1" indent="-266700"/>
                <a:r>
                  <a:rPr lang="ru-RU" dirty="0"/>
                  <a:t>Случай </a:t>
                </a:r>
                <a:r>
                  <a:rPr lang="en-US" dirty="0"/>
                  <a:t>4</a:t>
                </a:r>
                <a:r>
                  <a:rPr lang="ru-RU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715963" lvl="2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степени </a:t>
                </a:r>
                <a:r>
                  <a:rPr lang="en-US" dirty="0"/>
                  <a:t>n </a:t>
                </a:r>
                <a:r>
                  <a:rPr lang="ru-RU" dirty="0"/>
                  <a:t>эквивалентно безопасному выражению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endParaRPr lang="ru-RU" dirty="0"/>
              </a:p>
              <a:p>
                <a:pPr marL="715963" lvl="2" indent="0">
                  <a:buNone/>
                </a:pPr>
                <a:r>
                  <a:rPr lang="ru-RU" dirty="0"/>
                  <a:t>Тогда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эквивалентное выражение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∧…∧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666750" marR="0" lvl="1" indent="-2667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Случай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5</a:t>
                </a: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.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l-G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crom" panose="00000500000000000000" pitchFamily="50" charset="-52"/>
                    <a:ea typeface="+mn-ea"/>
                    <a:cs typeface="+mn-cs"/>
                  </a:rPr>
                  <a:t>.</a:t>
                </a:r>
              </a:p>
              <a:p>
                <a:pPr marL="715963" lvl="2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эквивалентно безопасному выражению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endParaRPr lang="ru-RU" dirty="0"/>
              </a:p>
              <a:p>
                <a:pPr marL="715963" lvl="2" indent="0">
                  <a:buNone/>
                </a:pP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эквивалентно выражению </a:t>
                </a:r>
                <a:endParaRPr lang="en-US" dirty="0"/>
              </a:p>
              <a:p>
                <a:pPr marL="715963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′}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15963" lvl="2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построена заменой в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соответствующих атрибутов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атрибуты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FAF8A9-D2FE-4F04-B542-5816B97B2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7" y="1419622"/>
                <a:ext cx="8541643" cy="3262486"/>
              </a:xfrm>
              <a:blipFill>
                <a:blip r:embed="rId3"/>
                <a:stretch>
                  <a:fillRect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93DA28D-A518-4475-AC65-848BAEB3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Эквивалентность реляционной алгебры и реляционного исчисления</a:t>
            </a:r>
            <a:r>
              <a:rPr lang="en-US" dirty="0"/>
              <a:t> 5/</a:t>
            </a:r>
            <a:r>
              <a:rPr lang="ru-RU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932923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15634</TotalTime>
  <Words>1146</Words>
  <Application>Microsoft Office PowerPoint</Application>
  <PresentationFormat>On-screen Show (16:9)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Acrom</vt:lpstr>
      <vt:lpstr>Calibri</vt:lpstr>
      <vt:lpstr>Acrom Bold</vt:lpstr>
      <vt:lpstr>Cambria Math</vt:lpstr>
      <vt:lpstr>Arial</vt:lpstr>
      <vt:lpstr>Acrom ExtraBold</vt:lpstr>
      <vt:lpstr>NSU Content</vt:lpstr>
      <vt:lpstr>NSU Captions</vt:lpstr>
      <vt:lpstr>БАЗЫ ДАННЫХ</vt:lpstr>
      <vt:lpstr>PowerPoint Presentation</vt:lpstr>
      <vt:lpstr>Определение</vt:lpstr>
      <vt:lpstr>Исчисление кортежей: база данных (1)</vt:lpstr>
      <vt:lpstr>Исчисление кортежей: база данных (2)</vt:lpstr>
      <vt:lpstr>Исчисление кортежей: запросы</vt:lpstr>
      <vt:lpstr>Исчисление кортежей: формулы (1)</vt:lpstr>
      <vt:lpstr>Исчисление кортежей: формулы (2)</vt:lpstr>
      <vt:lpstr>Безопасные формулы</vt:lpstr>
      <vt:lpstr>Исчисление кортежей: примеры</vt:lpstr>
      <vt:lpstr>Исчисление доменов</vt:lpstr>
      <vt:lpstr>Эквивалентность реляционной алгебры и реляционного исчисления 1/5</vt:lpstr>
      <vt:lpstr>Эквивалентность реляционной алгебры и реляционного исчисления 2/5</vt:lpstr>
      <vt:lpstr>Эквивалентность реляционной алгебры и реляционного исчисления 3/5</vt:lpstr>
      <vt:lpstr>Эквивалентность реляционной алгебры и реляционного исчисления 4/5</vt:lpstr>
      <vt:lpstr>Эквивалентность реляционной алгебры и реляционного исчисления 5/5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781</cp:revision>
  <dcterms:created xsi:type="dcterms:W3CDTF">2016-08-15T04:55:12Z</dcterms:created>
  <dcterms:modified xsi:type="dcterms:W3CDTF">2024-10-09T14:06:28Z</dcterms:modified>
</cp:coreProperties>
</file>