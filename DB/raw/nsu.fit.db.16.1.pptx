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32"/>
  </p:notesMasterIdLst>
  <p:sldIdLst>
    <p:sldId id="514" r:id="rId3"/>
    <p:sldId id="524" r:id="rId4"/>
    <p:sldId id="586" r:id="rId5"/>
    <p:sldId id="587" r:id="rId6"/>
    <p:sldId id="654" r:id="rId7"/>
    <p:sldId id="621" r:id="rId8"/>
    <p:sldId id="622" r:id="rId9"/>
    <p:sldId id="655" r:id="rId10"/>
    <p:sldId id="656" r:id="rId11"/>
    <p:sldId id="657" r:id="rId12"/>
    <p:sldId id="658" r:id="rId13"/>
    <p:sldId id="659" r:id="rId14"/>
    <p:sldId id="660" r:id="rId15"/>
    <p:sldId id="661" r:id="rId16"/>
    <p:sldId id="662" r:id="rId17"/>
    <p:sldId id="663" r:id="rId18"/>
    <p:sldId id="664" r:id="rId19"/>
    <p:sldId id="665" r:id="rId20"/>
    <p:sldId id="666" r:id="rId21"/>
    <p:sldId id="667" r:id="rId22"/>
    <p:sldId id="668" r:id="rId23"/>
    <p:sldId id="669" r:id="rId24"/>
    <p:sldId id="670" r:id="rId25"/>
    <p:sldId id="671" r:id="rId26"/>
    <p:sldId id="672" r:id="rId27"/>
    <p:sldId id="673" r:id="rId28"/>
    <p:sldId id="674" r:id="rId29"/>
    <p:sldId id="675" r:id="rId30"/>
    <p:sldId id="676" r:id="rId31"/>
  </p:sldIdLst>
  <p:sldSz cx="9144000" cy="5143500" type="screen16x9"/>
  <p:notesSz cx="6858000" cy="9144000"/>
  <p:embeddedFontLst>
    <p:embeddedFont>
      <p:font typeface="Acrom" panose="020B0604020202020204" charset="-52"/>
      <p:regular r:id="rId33"/>
    </p:embeddedFont>
    <p:embeddedFont>
      <p:font typeface="Acrom Bold" panose="020B0604020202020204" charset="-52"/>
      <p:bold r:id="rId34"/>
    </p:embeddedFont>
    <p:embeddedFont>
      <p:font typeface="Acrom ExtraBold" panose="020B0604020202020204" charset="-52"/>
      <p:bold r:id="rId35"/>
    </p:embeddedFont>
    <p:embeddedFont>
      <p:font typeface="Aptos Narrow" panose="020B0004020202020204" pitchFamily="34" charset="0"/>
      <p:regular r:id="rId36"/>
      <p:bold r:id="rId37"/>
      <p:italic r:id="rId38"/>
      <p:boldItalic r:id="rId39"/>
    </p:embeddedFont>
    <p:embeddedFont>
      <p:font typeface="Arial Black" panose="020B0A04020102020204" pitchFamily="34" charset="0"/>
      <p:bold r:id="rId40"/>
    </p:embeddedFont>
    <p:embeddedFont>
      <p:font typeface="Cascadia Code SemiBold" panose="020B0609020000020004" pitchFamily="49" charset="0"/>
      <p:bold r:id="rId41"/>
      <p:boldItalic r:id="rId4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  <p14:sldId id="524"/>
            <p14:sldId id="586"/>
            <p14:sldId id="587"/>
            <p14:sldId id="654"/>
            <p14:sldId id="621"/>
            <p14:sldId id="622"/>
            <p14:sldId id="655"/>
            <p14:sldId id="656"/>
            <p14:sldId id="657"/>
            <p14:sldId id="658"/>
            <p14:sldId id="659"/>
            <p14:sldId id="660"/>
            <p14:sldId id="661"/>
            <p14:sldId id="662"/>
            <p14:sldId id="663"/>
            <p14:sldId id="664"/>
            <p14:sldId id="665"/>
            <p14:sldId id="666"/>
            <p14:sldId id="667"/>
            <p14:sldId id="668"/>
            <p14:sldId id="669"/>
            <p14:sldId id="670"/>
            <p14:sldId id="671"/>
            <p14:sldId id="672"/>
            <p14:sldId id="673"/>
            <p14:sldId id="674"/>
            <p14:sldId id="675"/>
            <p14:sldId id="676"/>
          </p14:sldIdLst>
        </p14:section>
        <p14:section name="Literature" id="{B9960BE5-F3B4-48C0-BA4B-65F190ECCD4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F3FF"/>
    <a:srgbClr val="FBE5D6"/>
    <a:srgbClr val="FEFEFE"/>
    <a:srgbClr val="FF0000"/>
    <a:srgbClr val="C20808"/>
    <a:srgbClr val="F0F0F0"/>
    <a:srgbClr val="B8B8B8"/>
    <a:srgbClr val="DBF2F3"/>
    <a:srgbClr val="D6D6FE"/>
    <a:srgbClr val="929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13" autoAdjust="0"/>
    <p:restoredTop sz="70097" autoAdjust="0"/>
  </p:normalViewPr>
  <p:slideViewPr>
    <p:cSldViewPr>
      <p:cViewPr varScale="1">
        <p:scale>
          <a:sx n="97" d="100"/>
          <a:sy n="97" d="100"/>
        </p:scale>
        <p:origin x="1140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7.fntdata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03.03.2025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/index.php?title=%D0%A0%D0%B0%D1%81%D0%BF%D1%80%D0%B5%D0%B4%D0%B5%D0%BB%D1%91%D0%BD%D0%BD%D1%8B%D0%B5_%D0%BF%D1%80%D0%B8%D0%BB%D0%BE%D0%B6%D0%B5%D0%BD%D0%B8%D1%8F&amp;action=edit&amp;redlink=1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odmg.org/" TargetMode="External"/><Relationship Id="rId5" Type="http://schemas.openxmlformats.org/officeDocument/2006/relationships/hyperlink" Target="https://ru.wikipedia.org/wiki/%D0%98%D0%BD%D1%84%D0%BE%D1%80%D0%BC%D0%B0%D1%86%D0%B8%D0%BE%D0%BD%D0%BD%D1%8B%D0%B5_%D1%82%D0%B5%D1%85%D0%BD%D0%BE%D0%BB%D0%BE%D0%B3%D0%B8%D0%B8" TargetMode="External"/><Relationship Id="rId4" Type="http://schemas.openxmlformats.org/officeDocument/2006/relationships/hyperlink" Target="https://ru.wikipedia.org/wiki/Object_Management_Group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dmg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174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508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6018A-1A7B-AC95-7D83-B6F1D3E8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73E57-5AA4-3901-A3D3-7A1140BEA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3DC50-4CC2-907B-5671-ECB069127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998F9-A928-D0BB-F3F2-88FB27827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3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A707C-7860-5214-CE6B-D6D9DF468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B3630-9EBE-3A0F-0156-E771F0496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09193-7854-AADB-AE37-F4CD3B0F6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4D9CE-7B0F-0F1A-A89D-398837C79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652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8F7D-7AB2-4CBF-C244-0B43839DE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438FD9-E0E8-CD53-9F5D-6F264043E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F7FE7-0B63-D633-1B7B-062B0E3A3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 то же время, ОО-модели присущ и ряд недостатков: </a:t>
            </a:r>
          </a:p>
          <a:p>
            <a:pPr lvl="1">
              <a:buFont typeface="Arial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отсутствуют мощные непроцедурные средства извлечения объектов из базы. Все запросы приходится писать на процедурных языках, проблема их оптимизации возлагается на программиста. </a:t>
            </a:r>
          </a:p>
          <a:p>
            <a:pPr lvl="1">
              <a:buFont typeface="Arial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вместо чисто декларативных ограничений целостности (типа явного объявления первичных и внешних ключей реляционных таблиц с помощью ключевых слов PRIMARY KEY и REFERENCES) или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полудекларативных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триггеров для обеспечения внутренней целостности приходится писать процедурный код.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Очевидно, что оба эти недостатка связаны с отсутствием развитых средств манипулирования данными.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Эта задача решается двумя способами </a:t>
            </a:r>
          </a:p>
          <a:p>
            <a:pPr>
              <a:buFontTx/>
              <a:buChar char="-"/>
            </a:pP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расширение ОО-языков в сторону управления данными (стандарт ODMG), </a:t>
            </a:r>
          </a:p>
          <a:p>
            <a:pPr>
              <a:buFontTx/>
              <a:buChar char="-"/>
            </a:pP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либо добавление объектных свойств в реляционные СУБД.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06B44-7CCA-220D-324A-31D31FF13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7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Развитие производства ряда коммерческих объектно-ориентированных СУБД выдвинуло на повестку дня в начале 90-х гг. вопрос </a:t>
            </a:r>
            <a:r>
              <a:rPr lang="ru-RU" altLang="ru-RU" b="1" dirty="0"/>
              <a:t>о необходимости стандартизации модели данных и языковых средств</a:t>
            </a:r>
            <a:r>
              <a:rPr lang="ru-RU" altLang="ru-RU" dirty="0"/>
              <a:t> для таких систем с тем, чтобы обеспечить </a:t>
            </a:r>
            <a:r>
              <a:rPr lang="ru-RU" altLang="ru-RU" b="1" dirty="0"/>
              <a:t>переносимость приложений между средами различных объектных СУБД</a:t>
            </a:r>
            <a:r>
              <a:rPr lang="ru-RU" altLang="ru-RU" dirty="0"/>
              <a:t>, а также их интероперабельность. </a:t>
            </a:r>
          </a:p>
          <a:p>
            <a:r>
              <a:rPr lang="ru-RU" altLang="ru-RU" dirty="0"/>
              <a:t>Именно с целью организации практической деятельности по созданию стандартов для объектных систем баз данных в июне 1991 г. был учрежден индустриальный консорциум </a:t>
            </a:r>
            <a:r>
              <a:rPr lang="en-US" altLang="ru-RU" dirty="0"/>
              <a:t>Object Database Management Group</a:t>
            </a:r>
            <a:r>
              <a:rPr lang="ru-RU" altLang="ru-RU" dirty="0"/>
              <a:t> (</a:t>
            </a:r>
            <a:r>
              <a:rPr lang="en-US" altLang="ru-RU" dirty="0"/>
              <a:t>ODMG</a:t>
            </a:r>
            <a:r>
              <a:rPr lang="ru-RU" altLang="ru-RU" dirty="0"/>
              <a:t>), который объединил всех ведущих поставщиков объектных СУБД и стал "законодателем мод" в этой области.</a:t>
            </a:r>
          </a:p>
          <a:p>
            <a:r>
              <a:rPr lang="ru-RU" altLang="ru-RU" dirty="0"/>
              <a:t>В качестве исходной платформы для разработки своего стандарта объект­ных СУБД консорциум ODMG использовал:</a:t>
            </a:r>
          </a:p>
          <a:p>
            <a:r>
              <a:rPr lang="ru-RU" altLang="ru-RU" dirty="0"/>
              <a:t>• Манифест систем объектно-ориентированных баз данных, в котором бы­ли определены основные свойства ООСУБД;</a:t>
            </a:r>
          </a:p>
          <a:p>
            <a:r>
              <a:rPr lang="ru-RU" altLang="ru-RU" dirty="0"/>
              <a:t>• объектную модель и язык определения интерфейсов (</a:t>
            </a:r>
            <a:r>
              <a:rPr lang="en-US" altLang="ru-RU" dirty="0"/>
              <a:t>IDL</a:t>
            </a:r>
            <a:r>
              <a:rPr lang="ru-RU" altLang="ru-RU" dirty="0"/>
              <a:t>) стандарта OMG </a:t>
            </a:r>
            <a:r>
              <a:rPr lang="en-US" altLang="ru-RU" dirty="0"/>
              <a:t>CORBA</a:t>
            </a:r>
            <a:r>
              <a:rPr lang="ru-RU" altLang="ru-RU" dirty="0"/>
              <a:t> 1.0, обеспечивающего создание распределенных неоднородных </a:t>
            </a:r>
            <a:r>
              <a:rPr lang="ru-RU" altLang="ru-RU" dirty="0" err="1"/>
              <a:t>интероперабельных</a:t>
            </a:r>
            <a:r>
              <a:rPr lang="ru-RU" altLang="ru-RU" dirty="0"/>
              <a:t> объектных сред;</a:t>
            </a:r>
          </a:p>
          <a:p>
            <a:r>
              <a:rPr lang="ru-RU" altLang="ru-RU" dirty="0"/>
              <a:t>• проект стандарта </a:t>
            </a:r>
            <a:r>
              <a:rPr lang="en-US" altLang="ru-RU" dirty="0"/>
              <a:t>SQL</a:t>
            </a:r>
            <a:r>
              <a:rPr lang="ru-RU" altLang="ru-RU" dirty="0"/>
              <a:t>2 (в этот период завершались работы над </a:t>
            </a:r>
            <a:r>
              <a:rPr lang="en-US" altLang="ru-RU" dirty="0"/>
              <a:t>SQL</a:t>
            </a:r>
            <a:r>
              <a:rPr lang="ru-RU" altLang="ru-RU" dirty="0"/>
              <a:t>-92).</a:t>
            </a:r>
          </a:p>
          <a:p>
            <a:pPr eaLnBrk="1" hangingPunct="1">
              <a:lnSpc>
                <a:spcPct val="80000"/>
              </a:lnSpc>
            </a:pPr>
            <a:r>
              <a:rPr lang="ru-RU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Common Object </a:t>
            </a:r>
            <a:r>
              <a:rPr lang="ru-RU" sz="1200" b="0" i="1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Request</a:t>
            </a:r>
            <a:r>
              <a:rPr lang="ru-RU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Broker</a:t>
            </a:r>
            <a:r>
              <a:rPr lang="ru-RU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 Architecture</a:t>
            </a:r>
            <a:r>
              <a:rPr lang="ru-RU" sz="1200" b="0" i="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 — общая архитектура брокера объектных запросов; типовая архитектура опосредованных запросов к объектам) — технологический стандарт написания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  <a:hlinkClick r:id="rId3" tooltip="Распределённые приложения (страница отсутствует)"/>
              </a:rPr>
              <a:t>распределённых приложений</a:t>
            </a:r>
            <a:r>
              <a:rPr lang="ru-RU" sz="1200" b="0" i="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, продвигаемый консорциумом (рабочей группой)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  <a:hlinkClick r:id="rId4" tooltip="Object Management Group"/>
              </a:rPr>
              <a:t>OMG</a:t>
            </a:r>
            <a:r>
              <a:rPr lang="ru-RU" sz="1200" b="0" i="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 и соответствующая ему </a:t>
            </a:r>
            <a:r>
              <a:rPr lang="ru-RU" sz="1200" b="0" i="0" u="none" strike="noStrike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  <a:hlinkClick r:id="rId5" tooltip="Информационные технологии"/>
              </a:rPr>
              <a:t>информационная технология</a:t>
            </a:r>
            <a:r>
              <a:rPr lang="ru-RU" sz="1200" b="0" i="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.</a:t>
            </a:r>
            <a:endParaRPr lang="ru-RU" altLang="ru-RU" dirty="0">
              <a:hlinkClick r:id="rId6"/>
            </a:endParaRP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Главные требования к разрабатываемому </a:t>
            </a:r>
            <a:r>
              <a:rPr lang="en-US" altLang="ru-RU" dirty="0"/>
              <a:t>ODMG</a:t>
            </a:r>
            <a:r>
              <a:rPr lang="ru-RU" altLang="ru-RU" dirty="0"/>
              <a:t> стандарту заключались в обеспечении </a:t>
            </a:r>
            <a:r>
              <a:rPr lang="ru-RU" altLang="ru-RU" i="1" dirty="0"/>
              <a:t>переносимости приложений</a:t>
            </a:r>
            <a:r>
              <a:rPr lang="ru-RU" altLang="ru-RU" dirty="0"/>
              <a:t> между средами различных ООСУБД и </a:t>
            </a:r>
            <a:r>
              <a:rPr lang="ru-RU" altLang="ru-RU" i="1" dirty="0" err="1"/>
              <a:t>интероперабелъности</a:t>
            </a:r>
            <a:r>
              <a:rPr lang="ru-RU" altLang="ru-RU" i="1" dirty="0"/>
              <a:t> с архитектурой</a:t>
            </a:r>
            <a:r>
              <a:rPr lang="ru-RU" altLang="ru-RU" dirty="0"/>
              <a:t> </a:t>
            </a:r>
            <a:r>
              <a:rPr lang="en-US" altLang="ru-RU" dirty="0"/>
              <a:t>CORBA</a:t>
            </a:r>
            <a:r>
              <a:rPr lang="ru-RU" altLang="ru-RU" dirty="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В </a:t>
            </a:r>
            <a:r>
              <a:rPr lang="ru-RU" altLang="ru-RU" b="1" dirty="0"/>
              <a:t>августе 1993 г</a:t>
            </a:r>
            <a:r>
              <a:rPr lang="ru-RU" altLang="ru-RU" dirty="0"/>
              <a:t>. консорциум опубликовал </a:t>
            </a:r>
            <a:r>
              <a:rPr lang="ru-RU" altLang="ru-RU" b="1" dirty="0"/>
              <a:t>первую версию стандарта — </a:t>
            </a:r>
            <a:r>
              <a:rPr lang="en-US" altLang="ru-RU" b="1" dirty="0"/>
              <a:t>ODMG</a:t>
            </a:r>
            <a:r>
              <a:rPr lang="ru-RU" altLang="ru-RU" b="1" dirty="0"/>
              <a:t>-93 </a:t>
            </a:r>
            <a:r>
              <a:rPr lang="en-US" altLang="ru-RU" dirty="0"/>
              <a:t>Release</a:t>
            </a:r>
            <a:r>
              <a:rPr lang="ru-RU" altLang="ru-RU" dirty="0"/>
              <a:t> 1.0.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В ней содержались спецификации объектной модели, языка определения объектов, объектного языка запросов и связывания для объектных языков программирования </a:t>
            </a:r>
            <a:r>
              <a:rPr lang="en-US" altLang="ru-RU" dirty="0"/>
              <a:t>Smalltalk</a:t>
            </a:r>
            <a:r>
              <a:rPr lang="ru-RU" altLang="ru-RU" dirty="0"/>
              <a:t> и C++. При этом объектная модель ODMG представляла собой расширение модели-ядра стандарта </a:t>
            </a:r>
            <a:r>
              <a:rPr lang="en-US" altLang="ru-RU" dirty="0"/>
              <a:t>OMG</a:t>
            </a:r>
            <a:r>
              <a:rPr lang="ru-RU" altLang="ru-RU" dirty="0"/>
              <a:t> CORBA, а язык определения объектов </a:t>
            </a:r>
            <a:r>
              <a:rPr lang="en-US" altLang="ru-RU" dirty="0"/>
              <a:t>ODL</a:t>
            </a:r>
            <a:r>
              <a:rPr lang="ru-RU" altLang="ru-RU" dirty="0"/>
              <a:t> — соответственно расширение языка определения интерфейсов </a:t>
            </a:r>
            <a:r>
              <a:rPr lang="en-US" altLang="ru-RU" dirty="0"/>
              <a:t>OMG IDL</a:t>
            </a:r>
            <a:r>
              <a:rPr lang="ru-RU" altLang="ru-RU" dirty="0"/>
              <a:t>, Благодаря этому обеспечивалась естественная возможность интеграции систем баз данных, основанных на стандарте ODMG, в среду объектных технологий CORBA. Язык запросов </a:t>
            </a:r>
            <a:r>
              <a:rPr lang="en-US" altLang="ru-RU" dirty="0"/>
              <a:t>OQL</a:t>
            </a:r>
            <a:r>
              <a:rPr lang="ru-RU" altLang="ru-RU" dirty="0"/>
              <a:t> в стандарте явился результатом адаптации неко­торого фрагмента языка </a:t>
            </a:r>
            <a:r>
              <a:rPr lang="en-US" altLang="ru-RU" dirty="0"/>
              <a:t>SQL</a:t>
            </a:r>
            <a:r>
              <a:rPr lang="ru-RU" altLang="ru-RU" dirty="0"/>
              <a:t> к объектной модели ODMG.</a:t>
            </a:r>
          </a:p>
          <a:p>
            <a:r>
              <a:rPr lang="ru-RU" altLang="ru-RU" dirty="0"/>
              <a:t>С их появлением спецификации ODMG-93 сразу же приобрели статус </a:t>
            </a:r>
            <a:r>
              <a:rPr lang="ru-RU" altLang="ru-RU" i="1" dirty="0"/>
              <a:t>стандарта де-факто,</a:t>
            </a:r>
            <a:r>
              <a:rPr lang="ru-RU" altLang="ru-RU" dirty="0"/>
              <a:t> поскольку в их создании участвовали все ведущие произ­водители объектных СУБД, которые поддерживали этот стандарт собственны­ми программными продуктами.</a:t>
            </a:r>
          </a:p>
          <a:p>
            <a:r>
              <a:rPr lang="ru-RU" altLang="ru-RU" dirty="0"/>
              <a:t>В последующие годы появились промежуточная версия стандарта ODMG </a:t>
            </a:r>
            <a:r>
              <a:rPr lang="en-US" altLang="ru-RU" dirty="0"/>
              <a:t>Release</a:t>
            </a:r>
            <a:r>
              <a:rPr lang="ru-RU" altLang="ru-RU" dirty="0"/>
              <a:t> 1.1 (февраль 1994 г.) и одобренная в ноябре 1995 г. версия ODMG </a:t>
            </a:r>
            <a:r>
              <a:rPr lang="en-US" altLang="ru-RU" dirty="0"/>
              <a:t>Release</a:t>
            </a:r>
            <a:r>
              <a:rPr lang="ru-RU" altLang="ru-RU" dirty="0"/>
              <a:t> 1.2.</a:t>
            </a:r>
          </a:p>
          <a:p>
            <a:endParaRPr lang="ru-RU" altLang="ru-RU" dirty="0"/>
          </a:p>
          <a:p>
            <a:r>
              <a:rPr lang="ru-RU" altLang="ru-RU" dirty="0"/>
              <a:t>Следующая существенно дополненная с функциональной точки зрения версия стандарта — ODMG 2.0 была принята в июле 1997 г. К сожалению, в результате заключительного редактирования в ней появился ряд некорректностей, связанных с описанием базовой объектной модели стандарта, которые привели к ее рассогласованию с языковыми спецификациями. Это не помешало, однако, некоторым поставщикам объектных СУБД активно реализовать ряд програм­мных продуктов СУБД, основанных на данной версии стандарта.</a:t>
            </a:r>
          </a:p>
          <a:p>
            <a:pPr eaLnBrk="1" hangingPunct="1">
              <a:lnSpc>
                <a:spcPct val="80000"/>
              </a:lnSpc>
            </a:pPr>
            <a:endParaRPr lang="ru-RU" altLang="ru-RU" dirty="0"/>
          </a:p>
          <a:p>
            <a:pPr eaLnBrk="1" hangingPunct="1">
              <a:lnSpc>
                <a:spcPct val="80000"/>
              </a:lnSpc>
            </a:pPr>
            <a:endParaRPr lang="ru-RU" altLang="ru-RU" dirty="0">
              <a:hlinkClick r:id="rId6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536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5DE88-51E3-65E3-9987-78644D9E8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2A316-412F-AE0F-FF65-91F9F45E1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F8C109-172D-2451-C0A8-AE5D86D30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Завершив этап своей деятельности, связанной с созданием версии стандарта ODMG 2.0, консорциум существенно изменил стратегию и содержание работ. В пресс-релизе от 27 апреля 1998 г. ODMG объявила о расширении сферы своей деятельности. </a:t>
            </a:r>
            <a:endParaRPr lang="en-US" altLang="ru-RU" dirty="0"/>
          </a:p>
          <a:p>
            <a:r>
              <a:rPr lang="ru-RU" altLang="ru-RU" dirty="0"/>
              <a:t>Наряду с поддержкой и развитием имеющегося стандарта предполагалось сосредоточить усилия на разработке спецификаций стандартов </a:t>
            </a:r>
            <a:r>
              <a:rPr lang="ru-RU" altLang="ru-RU" i="1" dirty="0"/>
              <a:t>«универсального хранения объектов»</a:t>
            </a:r>
            <a:r>
              <a:rPr lang="ru-RU" altLang="ru-RU" dirty="0"/>
              <a:t> для различных объектных языков программирования. </a:t>
            </a:r>
            <a:endParaRPr lang="en-US" altLang="ru-RU" dirty="0"/>
          </a:p>
          <a:p>
            <a:r>
              <a:rPr lang="ru-RU" altLang="ru-RU" dirty="0"/>
              <a:t>По мнению руководства ODMG, неотложная необходимость в этом вызвана, прежде всего, появлением и широким распространением языка </a:t>
            </a:r>
            <a:r>
              <a:rPr lang="en-US" altLang="ru-RU" dirty="0"/>
              <a:t>Java</a:t>
            </a:r>
            <a:r>
              <a:rPr lang="ru-RU" altLang="ru-RU" dirty="0"/>
              <a:t>. </a:t>
            </a:r>
            <a:endParaRPr lang="en-US" altLang="ru-RU" dirty="0"/>
          </a:p>
          <a:p>
            <a:r>
              <a:rPr lang="ru-RU" altLang="ru-RU" dirty="0"/>
              <a:t>Создание и использование таких стандартов позволили бы исключить потребность в средствах отображения объектов языков программирования в различные форматы хранения, облегчить перенос приложений из среды одного про­дукта, соответствующего стандарту ODMG, в среду другого такого же продукта.</a:t>
            </a:r>
          </a:p>
          <a:p>
            <a:r>
              <a:rPr lang="ru-RU" altLang="ru-RU" dirty="0"/>
              <a:t>Стремясь подчеркнуть, что новая поставленная задача будет весьма значимой в деятельности ODMG и что она важна не только в рамках систем баз данных, консорциум </a:t>
            </a:r>
            <a:r>
              <a:rPr lang="en-US" altLang="ru-RU" dirty="0"/>
              <a:t>Object </a:t>
            </a:r>
            <a:r>
              <a:rPr lang="en-US" altLang="ru-RU" i="1" u="sng" dirty="0"/>
              <a:t>Database</a:t>
            </a:r>
            <a:r>
              <a:rPr lang="en-US" altLang="ru-RU" dirty="0"/>
              <a:t> Management Group</a:t>
            </a:r>
            <a:r>
              <a:rPr lang="ru-RU" altLang="ru-RU" dirty="0"/>
              <a:t> объявил об изменении своего названия. Теперь (с апреля 1998 г.) аббревиатура ODMG расшифровывается как </a:t>
            </a:r>
            <a:r>
              <a:rPr lang="en-US" altLang="ru-RU" dirty="0"/>
              <a:t>Object </a:t>
            </a:r>
            <a:r>
              <a:rPr lang="en-US" altLang="ru-RU" i="1" u="sng" dirty="0"/>
              <a:t>Data </a:t>
            </a:r>
            <a:r>
              <a:rPr lang="en-US" altLang="ru-RU" dirty="0"/>
              <a:t>Management Group</a:t>
            </a:r>
            <a:r>
              <a:rPr lang="ru-RU" altLang="ru-RU" dirty="0"/>
              <a:t>.</a:t>
            </a:r>
          </a:p>
          <a:p>
            <a:r>
              <a:rPr lang="ru-RU" altLang="ru-RU" dirty="0"/>
              <a:t>Для реализации своих намерений в указанном направлении ODMG начал в 1998 г. тесно сотрудничать с компаниями </a:t>
            </a:r>
            <a:r>
              <a:rPr lang="en-US" altLang="ru-RU" dirty="0"/>
              <a:t>Sun</a:t>
            </a:r>
            <a:r>
              <a:rPr lang="ru-RU" altLang="ru-RU" dirty="0"/>
              <a:t>, </a:t>
            </a:r>
            <a:r>
              <a:rPr lang="en-US" altLang="ru-RU" dirty="0"/>
              <a:t>Novell</a:t>
            </a:r>
            <a:r>
              <a:rPr lang="ru-RU" altLang="ru-RU" dirty="0"/>
              <a:t> и </a:t>
            </a:r>
            <a:r>
              <a:rPr lang="en-US" altLang="ru-RU" dirty="0"/>
              <a:t>Secant Technologies</a:t>
            </a:r>
            <a:r>
              <a:rPr lang="ru-RU" altLang="ru-RU" dirty="0"/>
              <a:t> с целью выработки спецификаций сервиса </a:t>
            </a:r>
            <a:r>
              <a:rPr lang="en-US" altLang="ru-RU" dirty="0"/>
              <a:t>OMG</a:t>
            </a:r>
            <a:r>
              <a:rPr lang="ru-RU" altLang="ru-RU" dirty="0"/>
              <a:t> долговременно хранимых объ­ектов версии 2 (</a:t>
            </a:r>
            <a:r>
              <a:rPr lang="en-US" altLang="ru-RU" dirty="0"/>
              <a:t>OMG Persistent State Service</a:t>
            </a:r>
            <a:r>
              <a:rPr lang="ru-RU" altLang="ru-RU" dirty="0"/>
              <a:t> 2.0). Эти спецификации были представлены в OMG в качестве претендента на новый стандарт одного из 16 объектных сервисов, входящих в состав разработанной консорциу­мом архитектуры </a:t>
            </a:r>
            <a:r>
              <a:rPr lang="en-US" altLang="ru-RU" dirty="0"/>
              <a:t>CORBA</a:t>
            </a:r>
            <a:r>
              <a:rPr lang="ru-RU" altLang="ru-RU" dirty="0"/>
              <a:t>.</a:t>
            </a:r>
          </a:p>
          <a:p>
            <a:r>
              <a:rPr lang="ru-RU" altLang="ru-RU" dirty="0"/>
              <a:t>В составе </a:t>
            </a:r>
            <a:r>
              <a:rPr lang="en-US" altLang="ru-RU" dirty="0"/>
              <a:t>ODMG</a:t>
            </a:r>
            <a:r>
              <a:rPr lang="ru-RU" altLang="ru-RU" dirty="0"/>
              <a:t> были учреждены три новые рабочие группы. </a:t>
            </a:r>
          </a:p>
          <a:p>
            <a:r>
              <a:rPr lang="ru-RU" altLang="ru-RU" b="1" dirty="0"/>
              <a:t>Одна</a:t>
            </a:r>
            <a:r>
              <a:rPr lang="ru-RU" altLang="ru-RU" dirty="0"/>
              <a:t> из них должна была обеспечить </a:t>
            </a:r>
            <a:r>
              <a:rPr lang="ru-RU" altLang="ru-RU" b="1" dirty="0"/>
              <a:t>интеграцию спецификаций сервиса долговременного хранения объектов </a:t>
            </a:r>
            <a:r>
              <a:rPr lang="ru-RU" altLang="ru-RU" dirty="0"/>
              <a:t>будущего стандарта ODMG с разрабатываемой компанией </a:t>
            </a:r>
            <a:r>
              <a:rPr lang="en-US" altLang="ru-RU" dirty="0"/>
              <a:t>Sun</a:t>
            </a:r>
            <a:r>
              <a:rPr lang="ru-RU" altLang="ru-RU" dirty="0"/>
              <a:t> новой спецификацией ее компонентной модели </a:t>
            </a:r>
            <a:r>
              <a:rPr lang="en-US" altLang="ru-RU" dirty="0"/>
              <a:t>Enterprise JavaBeans</a:t>
            </a:r>
            <a:r>
              <a:rPr lang="ru-RU" altLang="ru-RU" dirty="0"/>
              <a:t> (</a:t>
            </a:r>
            <a:r>
              <a:rPr lang="en-US" altLang="ru-RU" dirty="0"/>
              <a:t>EJB</a:t>
            </a:r>
            <a:r>
              <a:rPr lang="ru-RU" altLang="ru-RU" dirty="0"/>
              <a:t> 2.0). </a:t>
            </a:r>
          </a:p>
          <a:p>
            <a:r>
              <a:rPr lang="ru-RU" altLang="ru-RU" dirty="0"/>
              <a:t>На </a:t>
            </a:r>
            <a:r>
              <a:rPr lang="ru-RU" altLang="ru-RU" b="1" dirty="0"/>
              <a:t>две другие </a:t>
            </a:r>
            <a:r>
              <a:rPr lang="ru-RU" altLang="ru-RU" dirty="0"/>
              <a:t>рабочие группы возлагались </a:t>
            </a:r>
            <a:r>
              <a:rPr lang="ru-RU" altLang="ru-RU" b="1" dirty="0"/>
              <a:t>задачи разработки стандартного отображения между объектной и реляционной моделями </a:t>
            </a:r>
            <a:r>
              <a:rPr lang="ru-RU" altLang="ru-RU" dirty="0"/>
              <a:t>данных, а также </a:t>
            </a:r>
            <a:r>
              <a:rPr lang="ru-RU" altLang="ru-RU" b="1" dirty="0"/>
              <a:t>связывания для среды, основанной на новом языке разметки </a:t>
            </a:r>
            <a:r>
              <a:rPr lang="en-US" altLang="ru-RU" b="1" dirty="0"/>
              <a:t>XML</a:t>
            </a:r>
            <a:r>
              <a:rPr lang="ru-RU" altLang="ru-RU" dirty="0"/>
              <a:t>. </a:t>
            </a:r>
          </a:p>
          <a:p>
            <a:r>
              <a:rPr lang="ru-RU" altLang="ru-RU" dirty="0"/>
              <a:t>Начались также работы по созданию средств сертификации для реализации предложенной ODMG спецификации связывания для </a:t>
            </a:r>
            <a:r>
              <a:rPr lang="en-US" altLang="ru-RU" dirty="0"/>
              <a:t>Java</a:t>
            </a:r>
            <a:r>
              <a:rPr lang="ru-RU" altLang="ru-RU" dirty="0"/>
              <a:t>, которые предпола­галось включить в следующую версию стандарта.</a:t>
            </a:r>
          </a:p>
          <a:p>
            <a:r>
              <a:rPr lang="ru-RU" altLang="ru-RU" dirty="0"/>
              <a:t>Важно заметить, что ODMG предложила сообществу </a:t>
            </a:r>
            <a:r>
              <a:rPr lang="en-US" altLang="ru-RU" dirty="0"/>
              <a:t>Java</a:t>
            </a:r>
            <a:r>
              <a:rPr lang="ru-RU" altLang="ru-RU" dirty="0"/>
              <a:t> использовать спе­цификации связывания </a:t>
            </a:r>
            <a:r>
              <a:rPr lang="en-US" altLang="ru-RU" dirty="0"/>
              <a:t>Java</a:t>
            </a:r>
            <a:r>
              <a:rPr lang="ru-RU" altLang="ru-RU" dirty="0"/>
              <a:t> из стандарта ODMG как основу начавшегося про­цесса разработки спецификаций </a:t>
            </a:r>
            <a:r>
              <a:rPr lang="en-US" altLang="ru-RU" dirty="0"/>
              <a:t>Java Data Object Specification</a:t>
            </a:r>
            <a:r>
              <a:rPr lang="ru-RU" altLang="ru-RU" dirty="0"/>
              <a:t> (</a:t>
            </a:r>
            <a:r>
              <a:rPr lang="en-US" altLang="ru-RU" dirty="0"/>
              <a:t>JDO</a:t>
            </a:r>
            <a:r>
              <a:rPr lang="ru-RU" altLang="ru-RU" dirty="0"/>
              <a:t>). </a:t>
            </a:r>
          </a:p>
          <a:p>
            <a:r>
              <a:rPr lang="ru-RU" altLang="ru-RU" dirty="0"/>
              <a:t>Речь идет о создании для </a:t>
            </a:r>
            <a:r>
              <a:rPr lang="en-US" altLang="ru-RU" dirty="0"/>
              <a:t>Java</a:t>
            </a:r>
            <a:r>
              <a:rPr lang="ru-RU" altLang="ru-RU" dirty="0"/>
              <a:t> спецификаций нового </a:t>
            </a:r>
            <a:r>
              <a:rPr lang="en-US" altLang="ru-RU" dirty="0"/>
              <a:t>API</a:t>
            </a:r>
            <a:r>
              <a:rPr lang="ru-RU" altLang="ru-RU" dirty="0"/>
              <a:t> высокого уровня, который позволял бы программисту полностью обходиться средствами </a:t>
            </a:r>
            <a:r>
              <a:rPr lang="en-US" altLang="ru-RU" dirty="0"/>
              <a:t>Java</a:t>
            </a:r>
            <a:r>
              <a:rPr lang="ru-RU" altLang="ru-RU" dirty="0"/>
              <a:t> и не обращаться к механизмам других языков, например к </a:t>
            </a:r>
            <a:r>
              <a:rPr lang="en-US" altLang="ru-RU" dirty="0"/>
              <a:t>SQL</a:t>
            </a:r>
            <a:r>
              <a:rPr lang="ru-RU" altLang="ru-RU" dirty="0"/>
              <a:t>, в случае использования части 1 </a:t>
            </a:r>
            <a:r>
              <a:rPr lang="en-US" altLang="ru-RU" dirty="0"/>
              <a:t>SQLJ</a:t>
            </a:r>
            <a:r>
              <a:rPr lang="ru-RU" altLang="ru-RU" dirty="0"/>
              <a:t>. При этом предполагается обеспечить </a:t>
            </a:r>
            <a:r>
              <a:rPr lang="ru-RU" altLang="ru-RU" i="1" dirty="0"/>
              <a:t>прозрачность</a:t>
            </a:r>
            <a:r>
              <a:rPr lang="ru-RU" altLang="ru-RU" dirty="0"/>
              <a:t> обращений к базе данных для доступа к долговременно хранимым объектам, </a:t>
            </a:r>
            <a:r>
              <a:rPr lang="ru-RU" altLang="ru-RU" i="1" dirty="0"/>
              <a:t>транзакционную семантику</a:t>
            </a:r>
            <a:r>
              <a:rPr lang="ru-RU" altLang="ru-RU" dirty="0"/>
              <a:t> для обработки объектов такого рода, а также интерпретацию данных </a:t>
            </a:r>
            <a:r>
              <a:rPr lang="ru-RU" altLang="ru-RU" i="1" dirty="0"/>
              <a:t>реляционных баз данных как объектов </a:t>
            </a:r>
            <a:r>
              <a:rPr lang="en-US" altLang="ru-RU" i="1" dirty="0"/>
              <a:t>Java</a:t>
            </a:r>
            <a:r>
              <a:rPr lang="ru-RU" altLang="ru-RU" dirty="0"/>
              <a:t> и другие возможности.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Развивая новые направления своей расширенной сферы деятельности, ODMG вместе с тем продолжал работу над следующей версией поддерживаемо­го консорциумом стандарта — ODMG 3.0. Работа была завершена в конце 1999 г., а в январе 2000 г. этот стандарт был опубликован издательством </a:t>
            </a:r>
            <a:r>
              <a:rPr lang="en-US" altLang="ru-RU" dirty="0"/>
              <a:t>Morgan Kaufmann Publishers</a:t>
            </a:r>
            <a:r>
              <a:rPr lang="ru-RU" altLang="ru-RU" dirty="0"/>
              <a:t> под названием </a:t>
            </a:r>
            <a:r>
              <a:rPr lang="en-US" altLang="ru-RU" i="1" dirty="0"/>
              <a:t>The Object Data Standard</a:t>
            </a:r>
            <a:r>
              <a:rPr lang="ru-RU" altLang="ru-RU" i="1" dirty="0"/>
              <a:t>: </a:t>
            </a:r>
            <a:r>
              <a:rPr lang="en-US" altLang="ru-RU" i="1" dirty="0"/>
              <a:t>ODMG</a:t>
            </a:r>
            <a:r>
              <a:rPr lang="ru-RU" altLang="ru-RU" i="1" dirty="0"/>
              <a:t> 3.0</a:t>
            </a:r>
            <a:r>
              <a:rPr lang="ru-RU" altLang="ru-RU" dirty="0"/>
              <a:t>. Это название в большей мере соответствует новой миссии ODMG, чем прежнее </a:t>
            </a:r>
            <a:r>
              <a:rPr lang="ru-RU" altLang="ru-RU" i="1" dirty="0"/>
              <a:t>(</a:t>
            </a:r>
            <a:r>
              <a:rPr lang="en-US" altLang="ru-RU" i="1" dirty="0"/>
              <a:t>Object Database Standard</a:t>
            </a:r>
            <a:r>
              <a:rPr lang="ru-RU" altLang="ru-RU" i="1" dirty="0"/>
              <a:t>).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dirty="0"/>
              <a:t>В отличие от предыдущих версий стандарта ODMG не публиковала проект ODMG 3.0 на своем Web-сайте для свободного предварительного ознакомления с ним заинтересованных специалистов.</a:t>
            </a:r>
          </a:p>
          <a:p>
            <a:pPr eaLnBrk="1" hangingPunct="1">
              <a:lnSpc>
                <a:spcPct val="80000"/>
              </a:lnSpc>
            </a:pPr>
            <a:endParaRPr lang="ru-RU" altLang="ru-RU" dirty="0"/>
          </a:p>
          <a:p>
            <a:pPr eaLnBrk="1" hangingPunct="1">
              <a:lnSpc>
                <a:spcPct val="80000"/>
              </a:lnSpc>
            </a:pPr>
            <a:endParaRPr lang="ru-RU" altLang="ru-RU" dirty="0">
              <a:hlinkClick r:id="rId3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53548-6552-2ACB-EE5D-9B3A9F675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757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75710-6D68-A6F4-DCF7-6F2574A9B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784D0-23E0-F818-D267-E832EB85A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5D1A1-A5DA-5691-3353-610EF1A4C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Далее рассматриваются опубликованные ODMG версии стандартов для объектных баз данных. Перед этим необходимо коснуться важного вопроса о подходе ODMG к оценке соответствия программных продуктов стандартам консорциума.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Нужно здесь отметить, что ODMG решает этот вопрос нетрадиционным образом. Во-первых, предлагается дифференцированно оценивать соответствие продуктов отдельным компонентам стандарта. При этом различаются два понятия — «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 х-сертифицированный»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x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certified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) продукт и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«ODMG х-соответствующий»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x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compliant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) продукт, где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х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означает один из компонентов стандарта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OQL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, связывание для языков C++,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Smalltalk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Java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). Первое понятие означает, что рассматриваемый программный продукт удовлетворяет всему набору разработанных ODMG тестов сертификации для компонента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х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рассматриваемого стандарта. </a:t>
            </a:r>
            <a:endParaRPr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Arial" charset="0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Вторая характе­ристика понимается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OQL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как синоним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х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-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сертифицированности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продукта. </a:t>
            </a:r>
            <a:endParaRPr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Arial" charset="0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Что же касается компонентов стандарта, определяющих связывания для языков программирования, то в этом случае для присваивания продукту харак­теристики "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х-соответствующий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" достаточно, чтобы тестам удовлетворяло хотя бы подмножество спецификаций связывания 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OML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или OQL) для этого языка программирования.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Наряду с указанными выше оценками соответствия стандарту ODMG пред­лагается также использовать характеристику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"ODMG-соответствующий"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для продуктов, которые являются "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ODMG х-соответствующими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" для одного или более компонентов 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х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стандарта консорциума.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Заметим, что никакой информации о существе указанных тестов, способе их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получения и о процедуре сертификации ODMG не сообщает. 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7348E-A6B9-E853-51A1-DDF2DA309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131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17D80-DFD7-96AE-C6A4-CF3C7D562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15667-7123-6A28-8D6C-FF43654C1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8428D-E728-E1B6-F023-876A45ED9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AFECC-DA03-7172-5797-C23F87173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106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E5A1C-AF88-34AB-EAD5-3653C937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597EF-504C-1883-D7C5-4292A9F4F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4BC08-343D-61C7-3C0F-D3CEF5B97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Стандарт на хранение объектов ODMG 2.0 разработан на основе трех существующих стандартов: управление базами данных (SQL), объекты (стандарты OMG - Object Management Group) и стандарты на объектно-ориентированные языки программирования (C++, </a:t>
            </a:r>
            <a:r>
              <a:rPr lang="ru-RU" altLang="ru-RU" dirty="0" err="1"/>
              <a:t>Smalltalk</a:t>
            </a:r>
            <a:r>
              <a:rPr lang="ru-RU" altLang="ru-RU" dirty="0"/>
              <a:t>, Java).</a:t>
            </a:r>
          </a:p>
          <a:p>
            <a:pPr eaLnBrk="1" hangingPunct="1"/>
            <a:r>
              <a:rPr lang="ru-RU" altLang="ru-RU" b="1" dirty="0"/>
              <a:t>Объектная модель</a:t>
            </a:r>
            <a:r>
              <a:rPr lang="ru-RU" altLang="ru-RU" dirty="0"/>
              <a:t> - унифицированная основа всего стандарта. Она расширяет объектную модель консорциума OMG (см. параграф 6.3.1) за счет введения таких свойств как связи и транзакции для обеспечения функциональности, требуемой при взаимодействии с базами данных. </a:t>
            </a:r>
          </a:p>
          <a:p>
            <a:pPr eaLnBrk="1" hangingPunct="1"/>
            <a:r>
              <a:rPr lang="ru-RU" altLang="ru-RU" dirty="0"/>
              <a:t>Ключевые концепции объектной модели ODMG: </a:t>
            </a:r>
          </a:p>
          <a:p>
            <a:pPr eaLnBrk="1" hangingPunct="1"/>
            <a:r>
              <a:rPr lang="ru-RU" altLang="ru-RU" dirty="0"/>
              <a:t>- наделение объектов такими свойствами как атрибуты и связи </a:t>
            </a:r>
          </a:p>
          <a:p>
            <a:pPr eaLnBrk="1" hangingPunct="1"/>
            <a:r>
              <a:rPr lang="ru-RU" altLang="ru-RU" dirty="0"/>
              <a:t>- методы объектов (поведение) </a:t>
            </a:r>
          </a:p>
          <a:p>
            <a:pPr eaLnBrk="1" hangingPunct="1"/>
            <a:r>
              <a:rPr lang="ru-RU" altLang="ru-RU" dirty="0"/>
              <a:t>- множественное наследование </a:t>
            </a:r>
          </a:p>
          <a:p>
            <a:pPr eaLnBrk="1" hangingPunct="1"/>
            <a:r>
              <a:rPr lang="ru-RU" altLang="ru-RU" dirty="0"/>
              <a:t>- идентификаторы объектов (ключи) </a:t>
            </a:r>
          </a:p>
          <a:p>
            <a:pPr eaLnBrk="1" hangingPunct="1"/>
            <a:r>
              <a:rPr lang="ru-RU" altLang="ru-RU" dirty="0"/>
              <a:t>- определение таких совокупностей объектов как списки, наборы, массивы и т.д. </a:t>
            </a:r>
          </a:p>
          <a:p>
            <a:pPr eaLnBrk="1" hangingPunct="1"/>
            <a:r>
              <a:rPr lang="ru-RU" altLang="ru-RU" dirty="0"/>
              <a:t>- блокировка объектов и изоляция доступа </a:t>
            </a:r>
          </a:p>
          <a:p>
            <a:pPr eaLnBrk="1" hangingPunct="1"/>
            <a:r>
              <a:rPr lang="ru-RU" altLang="ru-RU" dirty="0"/>
              <a:t>- операции над базой данных 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1E731-C49A-DC95-8716-705BC7A79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0133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9F1BE-974E-D1B1-59AA-D11A04656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A4C3E0-4C41-CC45-D30E-0D29BF831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E973D-33E1-7D40-A5E2-2CB6D7BF8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Стандарт на хранение объектов ODMG 2.0 разработан на основе трех существующих стандартов: управление базами данных (SQL), объекты (стандарты OMG - Object Management Group) и стандарты на объектно-ориентированные языки программирования (C++, </a:t>
            </a:r>
            <a:r>
              <a:rPr lang="ru-RU" altLang="ru-RU" dirty="0" err="1"/>
              <a:t>Smalltalk</a:t>
            </a:r>
            <a:r>
              <a:rPr lang="ru-RU" altLang="ru-RU" dirty="0"/>
              <a:t>, Java).</a:t>
            </a:r>
          </a:p>
          <a:p>
            <a:pPr eaLnBrk="1" hangingPunct="1"/>
            <a:r>
              <a:rPr lang="ru-RU" altLang="ru-RU" b="1" dirty="0"/>
              <a:t>Объектная модель</a:t>
            </a:r>
            <a:r>
              <a:rPr lang="ru-RU" altLang="ru-RU" dirty="0"/>
              <a:t> - унифицированная основа всего стандарта. Она расширяет объектную модель консорциума OMG (см. параграф 6.3.1) за счет введения таких свойств как связи и транзакции для обеспечения функциональности, требуемой при взаимодействии с базами данных. </a:t>
            </a:r>
          </a:p>
          <a:p>
            <a:pPr eaLnBrk="1" hangingPunct="1"/>
            <a:r>
              <a:rPr lang="ru-RU" altLang="ru-RU" dirty="0"/>
              <a:t>Ключевые концепции объектной модели ODMG: </a:t>
            </a:r>
          </a:p>
          <a:p>
            <a:pPr eaLnBrk="1" hangingPunct="1"/>
            <a:r>
              <a:rPr lang="ru-RU" altLang="ru-RU" dirty="0"/>
              <a:t>- наделение объектов такими свойствами как атрибуты и связи </a:t>
            </a:r>
          </a:p>
          <a:p>
            <a:pPr eaLnBrk="1" hangingPunct="1"/>
            <a:r>
              <a:rPr lang="ru-RU" altLang="ru-RU" dirty="0"/>
              <a:t>- методы объектов (поведение) </a:t>
            </a:r>
          </a:p>
          <a:p>
            <a:pPr eaLnBrk="1" hangingPunct="1"/>
            <a:r>
              <a:rPr lang="ru-RU" altLang="ru-RU" dirty="0"/>
              <a:t>- множественное наследование </a:t>
            </a:r>
          </a:p>
          <a:p>
            <a:pPr eaLnBrk="1" hangingPunct="1"/>
            <a:r>
              <a:rPr lang="ru-RU" altLang="ru-RU" dirty="0"/>
              <a:t>- идентификаторы объектов (ключи) </a:t>
            </a:r>
          </a:p>
          <a:p>
            <a:pPr eaLnBrk="1" hangingPunct="1"/>
            <a:r>
              <a:rPr lang="ru-RU" altLang="ru-RU" dirty="0"/>
              <a:t>- определение таких совокупностей объектов как списки, наборы, массивы и т.д. </a:t>
            </a:r>
          </a:p>
          <a:p>
            <a:pPr eaLnBrk="1" hangingPunct="1"/>
            <a:r>
              <a:rPr lang="ru-RU" altLang="ru-RU" dirty="0"/>
              <a:t>- блокировка объектов и изоляция доступа </a:t>
            </a:r>
          </a:p>
          <a:p>
            <a:pPr eaLnBrk="1" hangingPunct="1"/>
            <a:r>
              <a:rPr lang="ru-RU" altLang="ru-RU" dirty="0"/>
              <a:t>- операции над базой данных 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4AB0B-621A-A066-F1CA-1D2AAF507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7714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D9634-B8BE-ECDC-C975-2D538579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E312B-186D-045F-395B-5EDC33322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3412E-BF27-668F-4317-987DE2EEF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6608B-D4CC-B079-1AC7-7932EDF8B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63168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D3A13-062F-A37C-567F-BA001852D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DFF31F-9AA1-6A15-005E-FC0D21D54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FF50F-27F6-B021-7858-C6824389C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359A1-F062-5047-555E-DC66561FD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889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8FBB6-5AA9-198A-EF47-DA409A354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2CD7C-129B-92D5-688D-02D50D6E8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9EA35-6698-0FB8-F040-B23672E7A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16B76-C05C-1F8A-3F12-D49C0CFF3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985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240BD-C29C-6187-AEE3-8EBE599C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ED2AC-837E-7C66-FC90-19519B42F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9838A-C53D-442B-CDD5-28A889FEF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b="1" dirty="0"/>
              <a:t>Язык описания объектов</a:t>
            </a:r>
            <a:r>
              <a:rPr lang="ru-RU" altLang="ru-RU" dirty="0"/>
              <a:t> (ODL - Object </a:t>
            </a:r>
            <a:r>
              <a:rPr lang="ru-RU" altLang="ru-RU" dirty="0" err="1"/>
              <a:t>Defifnition</a:t>
            </a:r>
            <a:r>
              <a:rPr lang="ru-RU" altLang="ru-RU" dirty="0"/>
              <a:t> Language) - средство определения схемы базы данных (по аналогии с DDL в реляционных СУБД). ODL является расширением IDL (Interface Definition Language - язык описания интерфейсов) модели OMG и предоставляет средства для определения объектных типов, их атрибутов, связей и методов. ODL создает слой абстрактных описаний так, что схема базы данных становится независима как от языка программирования, так и от СУБД. ODL рассматривает только описание объектных типов данных, не вдаваясь в детали реализации их методов. Это позволяет переносить схему БД между различными ODMG-совместимыми СУБД и языками программирования, а также транслировать ее в другие DDL. 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253E8-CED7-9460-1BCC-8BFE41E5C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1601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A2CE7-B258-E5AB-33AD-660B98A9F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AB21D-94C8-BCE8-19A4-6D4A14553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3E393-B3C2-F633-2BB5-ADF0B2B81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/>
            <a:r>
              <a:rPr lang="ru-RU" altLang="ru-RU" dirty="0"/>
              <a:t>Язык </a:t>
            </a:r>
            <a:r>
              <a:rPr lang="en-US" altLang="ru-RU" dirty="0"/>
              <a:t>ODL </a:t>
            </a:r>
            <a:r>
              <a:rPr lang="ru-RU" altLang="ru-RU" dirty="0"/>
              <a:t>предлагает в распоряжение проектировщика баз данных систему определения типов, аналогичную тем, которые реализованы в С и других традиционных языках программирования. Система основана на наборе существующих </a:t>
            </a:r>
            <a:r>
              <a:rPr lang="ru-RU" altLang="ru-RU" i="1" dirty="0"/>
              <a:t>базовых типов </a:t>
            </a:r>
            <a:r>
              <a:rPr lang="ru-RU" altLang="ru-RU" dirty="0"/>
              <a:t>(</a:t>
            </a:r>
            <a:r>
              <a:rPr lang="en-US" altLang="ru-RU" dirty="0"/>
              <a:t>basic types</a:t>
            </a:r>
            <a:r>
              <a:rPr lang="ru-RU" altLang="ru-RU" dirty="0"/>
              <a:t>) и предусматривает возможность использования некоторых рекурсивных правил, позволяющих создавать сложные типы из более простых. К категории базовых относятся типы </a:t>
            </a:r>
            <a:r>
              <a:rPr lang="en-US" altLang="ru-RU" dirty="0"/>
              <a:t>ODL</a:t>
            </a:r>
            <a:r>
              <a:rPr lang="ru-RU" altLang="ru-RU" dirty="0"/>
              <a:t>, указанные ниже.</a:t>
            </a:r>
            <a:endParaRPr lang="ru-RU" altLang="ru-RU" i="1" dirty="0"/>
          </a:p>
          <a:p>
            <a:pPr marL="228600" indent="-228600" eaLnBrk="1" hangingPunct="1"/>
            <a:r>
              <a:rPr lang="ru-RU" altLang="ru-RU" i="1" dirty="0"/>
              <a:t>Атомарные типы </a:t>
            </a:r>
            <a:r>
              <a:rPr lang="ru-RU" altLang="ru-RU" dirty="0"/>
              <a:t>(</a:t>
            </a:r>
            <a:r>
              <a:rPr lang="en-US" altLang="ru-RU" dirty="0"/>
              <a:t>atomic types</a:t>
            </a:r>
            <a:r>
              <a:rPr lang="ru-RU" altLang="ru-RU" dirty="0"/>
              <a:t>): </a:t>
            </a:r>
            <a:r>
              <a:rPr lang="en-US" altLang="ru-RU" dirty="0"/>
              <a:t>integer </a:t>
            </a:r>
            <a:r>
              <a:rPr lang="ru-RU" altLang="ru-RU" dirty="0"/>
              <a:t>(целое число), </a:t>
            </a:r>
            <a:r>
              <a:rPr lang="en-US" altLang="ru-RU" dirty="0"/>
              <a:t>float </a:t>
            </a:r>
            <a:r>
              <a:rPr lang="ru-RU" altLang="ru-RU" dirty="0"/>
              <a:t>(вещественное число с плавающей запятой), </a:t>
            </a:r>
            <a:r>
              <a:rPr lang="en-US" altLang="ru-RU" dirty="0"/>
              <a:t>character </a:t>
            </a:r>
            <a:r>
              <a:rPr lang="ru-RU" altLang="ru-RU" dirty="0"/>
              <a:t>(символ), </a:t>
            </a:r>
            <a:r>
              <a:rPr lang="en-US" altLang="ru-RU" dirty="0"/>
              <a:t>string </a:t>
            </a:r>
            <a:r>
              <a:rPr lang="ru-RU" altLang="ru-RU" dirty="0"/>
              <a:t>(строка символов) </a:t>
            </a:r>
            <a:r>
              <a:rPr lang="en-US" altLang="ru-RU" dirty="0" err="1"/>
              <a:t>boolean</a:t>
            </a:r>
            <a:r>
              <a:rPr lang="en-US" altLang="ru-RU" dirty="0"/>
              <a:t> </a:t>
            </a:r>
            <a:r>
              <a:rPr lang="ru-RU" altLang="ru-RU" dirty="0"/>
              <a:t>(бинарное логическое значение) и </a:t>
            </a:r>
            <a:r>
              <a:rPr lang="ru-RU" altLang="ru-RU" i="1" dirty="0"/>
              <a:t>перечислимые типы </a:t>
            </a:r>
            <a:r>
              <a:rPr lang="ru-RU" altLang="ru-RU" dirty="0"/>
              <a:t>(</a:t>
            </a:r>
            <a:r>
              <a:rPr lang="en-US" altLang="ru-RU" dirty="0"/>
              <a:t>enumerations</a:t>
            </a:r>
            <a:r>
              <a:rPr lang="ru-RU" altLang="ru-RU" dirty="0"/>
              <a:t>). Последние представляют собой списки имен, обозначающих абстрактные зна­чения. Примером перечислимого типа может служить тип </a:t>
            </a:r>
            <a:r>
              <a:rPr lang="en-US" altLang="ru-RU" dirty="0"/>
              <a:t>Film</a:t>
            </a:r>
            <a:r>
              <a:rPr lang="ru-RU" altLang="ru-RU" dirty="0"/>
              <a:t>, объявление которого приведено в строке 5 на рис. 4.3 (см. с. 157).</a:t>
            </a:r>
            <a:endParaRPr lang="ru-RU" altLang="ru-RU" i="1" dirty="0"/>
          </a:p>
          <a:p>
            <a:pPr marL="228600" indent="-228600" eaLnBrk="1" hangingPunct="1"/>
            <a:r>
              <a:rPr lang="ru-RU" altLang="ru-RU" i="1" dirty="0"/>
              <a:t>Классы </a:t>
            </a:r>
            <a:r>
              <a:rPr lang="ru-RU" altLang="ru-RU" dirty="0"/>
              <a:t>(</a:t>
            </a:r>
            <a:r>
              <a:rPr lang="en-US" altLang="ru-RU" dirty="0"/>
              <a:t>classes</a:t>
            </a:r>
            <a:r>
              <a:rPr lang="ru-RU" altLang="ru-RU" dirty="0"/>
              <a:t>), такие как </a:t>
            </a:r>
            <a:r>
              <a:rPr lang="en-US" altLang="ru-RU" dirty="0"/>
              <a:t>Movie </a:t>
            </a:r>
            <a:r>
              <a:rPr lang="ru-RU" altLang="ru-RU" dirty="0"/>
              <a:t>или </a:t>
            </a:r>
            <a:r>
              <a:rPr lang="en-US" altLang="ru-RU" dirty="0"/>
              <a:t>star</a:t>
            </a:r>
            <a:r>
              <a:rPr lang="ru-RU" altLang="ru-RU" dirty="0"/>
              <a:t>, — типы, по существу являющиеся структурами, которые содержат компоненты для каждого атрибута или связи, представленных в объявлении класса.</a:t>
            </a:r>
          </a:p>
          <a:p>
            <a:pPr marL="228600" indent="-228600" eaLnBrk="1" hangingPunct="1"/>
            <a:endParaRPr lang="ru-RU" altLang="ru-RU" dirty="0"/>
          </a:p>
          <a:p>
            <a:pPr marL="228600" indent="-228600" eaLnBrk="1" hangingPunct="1"/>
            <a:endParaRPr lang="ru-RU" alt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F1315-CA4E-BCA5-AE5B-DF81B5264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1437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0D0D7-56C5-A84F-AF81-9DF2A6EF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2E860-7B62-CDC8-1258-33F4E852C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DD252-BB56-E07D-084C-BDD5497C2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</a:pPr>
            <a:r>
              <a:rPr lang="en-US" altLang="ru-RU" i="1" dirty="0"/>
              <a:t>Set </a:t>
            </a:r>
            <a:r>
              <a:rPr lang="ru-RU" altLang="ru-RU" dirty="0"/>
              <a:t>(множество). Пусть Т — произвольный тип; тогда выражение </a:t>
            </a:r>
            <a:r>
              <a:rPr lang="en-US" altLang="ru-RU" dirty="0"/>
              <a:t>set</a:t>
            </a:r>
            <a:r>
              <a:rPr lang="ru-RU" altLang="ru-RU" dirty="0"/>
              <a:t>&lt;</a:t>
            </a:r>
            <a:r>
              <a:rPr lang="en-US" altLang="ru-RU" dirty="0"/>
              <a:t>T</a:t>
            </a:r>
            <a:r>
              <a:rPr lang="ru-RU" altLang="ru-RU" dirty="0"/>
              <a:t>&gt; представляет тип, значениями которого являются конечные множества элементов типа Т. Примеры объявлений этого типа содержатся в строках 6, 11 и 15 рис. 4.3.</a:t>
            </a:r>
            <a:endParaRPr lang="en-US" altLang="ru-RU" i="1" dirty="0"/>
          </a:p>
          <a:p>
            <a:pPr marL="228600" indent="-228600" eaLnBrk="1" hangingPunct="1">
              <a:lnSpc>
                <a:spcPct val="90000"/>
              </a:lnSpc>
            </a:pPr>
            <a:r>
              <a:rPr lang="en-US" altLang="ru-RU" i="1" dirty="0"/>
              <a:t>Bag </a:t>
            </a:r>
            <a:r>
              <a:rPr lang="ru-RU" altLang="ru-RU" dirty="0"/>
              <a:t>(мультимножество). Пусть </a:t>
            </a:r>
            <a:r>
              <a:rPr lang="ru-RU" altLang="ru-RU" i="1" dirty="0"/>
              <a:t>Т </a:t>
            </a:r>
            <a:r>
              <a:rPr lang="ru-RU" altLang="ru-RU" dirty="0"/>
              <a:t>— произвольный тип; тогда выражение </a:t>
            </a:r>
            <a:r>
              <a:rPr lang="en-US" altLang="ru-RU" dirty="0"/>
              <a:t>Bag</a:t>
            </a:r>
            <a:r>
              <a:rPr lang="ru-RU" altLang="ru-RU" dirty="0"/>
              <a:t>&lt;</a:t>
            </a:r>
            <a:r>
              <a:rPr lang="en-US" altLang="ru-RU" dirty="0"/>
              <a:t>T</a:t>
            </a:r>
            <a:r>
              <a:rPr lang="ru-RU" altLang="ru-RU" dirty="0"/>
              <a:t>&gt; представляет тип, значениями которого являются конечные мультимножества элементов типа </a:t>
            </a:r>
            <a:r>
              <a:rPr lang="ru-RU" altLang="ru-RU" i="1" dirty="0"/>
              <a:t>Т. </a:t>
            </a:r>
            <a:r>
              <a:rPr lang="ru-RU" altLang="ru-RU" dirty="0"/>
              <a:t>Мультимножество допускает возможность включения одина­ковых элементов. Например, {</a:t>
            </a:r>
            <a:r>
              <a:rPr lang="en-US" altLang="ru-RU" dirty="0"/>
              <a:t>1,</a:t>
            </a:r>
            <a:r>
              <a:rPr lang="ru-RU" altLang="ru-RU" dirty="0"/>
              <a:t>2,1} представляет собой мультимножество, но не множество, поскольку элемент 1 присутствует дважды.</a:t>
            </a:r>
            <a:endParaRPr lang="en-US" altLang="ru-RU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74B7C-6D02-E4CB-A6B7-B8D914481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797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5253B-FB5B-D8E6-4C2A-B63B930D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6F0ECD-65E4-574A-3F64-BA16D19B1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C179F-83B0-1F17-47FC-7F4AF51A9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</a:pPr>
            <a:r>
              <a:rPr lang="en-US" altLang="ru-RU" i="1" dirty="0"/>
              <a:t>List </a:t>
            </a:r>
            <a:r>
              <a:rPr lang="ru-RU" altLang="ru-RU" dirty="0"/>
              <a:t>(список). Пусть </a:t>
            </a:r>
            <a:r>
              <a:rPr lang="ru-RU" altLang="ru-RU" i="1" dirty="0"/>
              <a:t>Т </a:t>
            </a:r>
            <a:r>
              <a:rPr lang="ru-RU" altLang="ru-RU" dirty="0"/>
              <a:t>- произвольный тип; тогда выражение </a:t>
            </a:r>
            <a:r>
              <a:rPr lang="en-US" altLang="ru-RU" dirty="0"/>
              <a:t>List</a:t>
            </a:r>
            <a:r>
              <a:rPr lang="ru-RU" altLang="ru-RU" dirty="0"/>
              <a:t>&lt;</a:t>
            </a:r>
            <a:r>
              <a:rPr lang="en-US" altLang="ru-RU" dirty="0"/>
              <a:t>T</a:t>
            </a:r>
            <a:r>
              <a:rPr lang="ru-RU" altLang="ru-RU" dirty="0"/>
              <a:t>&gt; представляет тип, значениями которого являются конечные списки, состоящие из нулевого или любого другого количества элементов типа </a:t>
            </a:r>
            <a:r>
              <a:rPr lang="ru-RU" altLang="ru-RU" i="1" dirty="0"/>
              <a:t>Т. </a:t>
            </a:r>
            <a:r>
              <a:rPr lang="ru-RU" altLang="ru-RU" dirty="0"/>
              <a:t>Для обозначения типа </a:t>
            </a:r>
            <a:r>
              <a:rPr lang="en-US" altLang="ru-RU" dirty="0"/>
              <a:t>List</a:t>
            </a:r>
            <a:r>
              <a:rPr lang="ru-RU" altLang="ru-RU" dirty="0"/>
              <a:t>&lt;</a:t>
            </a:r>
            <a:r>
              <a:rPr lang="en-US" altLang="ru-RU" dirty="0"/>
              <a:t>char</a:t>
            </a:r>
            <a:r>
              <a:rPr lang="ru-RU" altLang="ru-RU" dirty="0"/>
              <a:t>&gt; существует сокращенная форма записи - </a:t>
            </a:r>
            <a:r>
              <a:rPr lang="en-US" altLang="ru-RU" dirty="0"/>
              <a:t>string</a:t>
            </a:r>
            <a:r>
              <a:rPr lang="ru-RU" altLang="ru-RU" dirty="0"/>
              <a:t>.</a:t>
            </a:r>
            <a:endParaRPr lang="en-US" altLang="ru-RU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ru-RU" i="1" dirty="0"/>
              <a:t>Array </a:t>
            </a:r>
            <a:r>
              <a:rPr lang="ru-RU" altLang="ru-RU" dirty="0"/>
              <a:t>(массив). Пусть </a:t>
            </a:r>
            <a:r>
              <a:rPr lang="ru-RU" altLang="ru-RU" i="1" dirty="0"/>
              <a:t>Т- </a:t>
            </a:r>
            <a:r>
              <a:rPr lang="ru-RU" altLang="ru-RU" dirty="0"/>
              <a:t>произвольный тип и </a:t>
            </a:r>
            <a:r>
              <a:rPr lang="en-US" altLang="ru-RU" i="1" dirty="0"/>
              <a:t>i</a:t>
            </a:r>
            <a:r>
              <a:rPr lang="ru-RU" altLang="ru-RU" dirty="0"/>
              <a:t> - целое число; тогда А</a:t>
            </a:r>
            <a:r>
              <a:rPr lang="en-US" altLang="ru-RU" dirty="0" err="1"/>
              <a:t>rr</a:t>
            </a:r>
            <a:r>
              <a:rPr lang="ru-RU" altLang="ru-RU" dirty="0"/>
              <a:t>ау&lt;</a:t>
            </a:r>
            <a:r>
              <a:rPr lang="en-US" altLang="ru-RU" dirty="0"/>
              <a:t>T</a:t>
            </a:r>
            <a:r>
              <a:rPr lang="ru-RU" altLang="ru-RU" dirty="0"/>
              <a:t>,</a:t>
            </a:r>
            <a:r>
              <a:rPr lang="en-US" altLang="ru-RU" dirty="0"/>
              <a:t>i</a:t>
            </a:r>
            <a:r>
              <a:rPr lang="ru-RU" altLang="ru-RU" dirty="0"/>
              <a:t>&gt; представляет тип, значениями которого являются массивы из </a:t>
            </a:r>
            <a:r>
              <a:rPr lang="en-US" altLang="ru-RU" i="1" dirty="0"/>
              <a:t>i </a:t>
            </a:r>
            <a:r>
              <a:rPr lang="ru-RU" altLang="ru-RU" dirty="0"/>
              <a:t>элементов типа </a:t>
            </a:r>
            <a:r>
              <a:rPr lang="en-US" altLang="ru-RU" dirty="0"/>
              <a:t>T</a:t>
            </a:r>
            <a:r>
              <a:rPr lang="ru-RU" altLang="ru-RU" dirty="0"/>
              <a:t>. Например, выражение </a:t>
            </a:r>
            <a:r>
              <a:rPr lang="en-US" altLang="ru-RU" dirty="0"/>
              <a:t>Array</a:t>
            </a:r>
            <a:r>
              <a:rPr lang="ru-RU" altLang="ru-RU" dirty="0"/>
              <a:t>&lt;</a:t>
            </a:r>
            <a:r>
              <a:rPr lang="en-US" altLang="ru-RU" dirty="0"/>
              <a:t>char</a:t>
            </a:r>
            <a:r>
              <a:rPr lang="ru-RU" altLang="ru-RU" dirty="0"/>
              <a:t>, 10 &gt; обозначает строки, состоящие из 10 символов.</a:t>
            </a:r>
          </a:p>
          <a:p>
            <a:pPr marL="228600" indent="-228600" eaLnBrk="1" hangingPunct="1">
              <a:lnSpc>
                <a:spcPct val="90000"/>
              </a:lnSpc>
            </a:pPr>
            <a:endParaRPr lang="en-US" altLang="ru-RU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CC4AE-2B0D-DBE7-3E66-A90D08067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2651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89239-12E0-00DD-1A9E-BA89F6237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99D84-EBD3-643C-44B9-D21EC551A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6B7D4-7958-5E04-BDB9-8C3E032D7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ru-RU" i="1" dirty="0"/>
              <a:t>Dictionary </a:t>
            </a:r>
            <a:r>
              <a:rPr lang="ru-RU" altLang="ru-RU" dirty="0"/>
              <a:t>(словарь). Пусть </a:t>
            </a:r>
            <a:r>
              <a:rPr lang="en-US" altLang="ru-RU" dirty="0"/>
              <a:t>T </a:t>
            </a:r>
            <a:r>
              <a:rPr lang="ru-RU" altLang="ru-RU" dirty="0"/>
              <a:t>и </a:t>
            </a:r>
            <a:r>
              <a:rPr lang="en-US" altLang="ru-RU" i="1" dirty="0"/>
              <a:t>S </a:t>
            </a:r>
            <a:r>
              <a:rPr lang="ru-RU" altLang="ru-RU" dirty="0"/>
              <a:t>- произвольные  типы; тогда </a:t>
            </a:r>
            <a:r>
              <a:rPr lang="en-US" altLang="ru-RU" dirty="0"/>
              <a:t>Dictionary</a:t>
            </a:r>
            <a:r>
              <a:rPr lang="ru-RU" altLang="ru-RU" dirty="0"/>
              <a:t>&lt; </a:t>
            </a:r>
            <a:r>
              <a:rPr lang="en-US" altLang="ru-RU" dirty="0"/>
              <a:t>T</a:t>
            </a:r>
            <a:r>
              <a:rPr lang="ru-RU" altLang="ru-RU" dirty="0"/>
              <a:t>,</a:t>
            </a:r>
            <a:r>
              <a:rPr lang="en-US" altLang="ru-RU" dirty="0"/>
              <a:t>S</a:t>
            </a:r>
            <a:r>
              <a:rPr lang="ru-RU" altLang="ru-RU" dirty="0"/>
              <a:t>&gt; представляет тип, значениями которого являются конечные множества пар вида </a:t>
            </a:r>
            <a:r>
              <a:rPr lang="ru-RU" altLang="ru-RU" i="1" dirty="0"/>
              <a:t>ключ/значения</a:t>
            </a:r>
            <a:r>
              <a:rPr lang="ru-RU" altLang="ru-RU" dirty="0"/>
              <a:t> (ключи относятся к типу Т, а значения – типу </a:t>
            </a:r>
            <a:r>
              <a:rPr lang="en-US" altLang="ru-RU" dirty="0"/>
              <a:t>S</a:t>
            </a:r>
            <a:r>
              <a:rPr lang="ru-RU" altLang="ru-RU" dirty="0"/>
              <a:t>).</a:t>
            </a:r>
            <a:r>
              <a:rPr lang="en-US" altLang="ru-RU" dirty="0"/>
              <a:t> </a:t>
            </a:r>
            <a:r>
              <a:rPr lang="ru-RU" altLang="ru-RU" dirty="0"/>
              <a:t>Словарь не должен содержать двух пар </a:t>
            </a:r>
            <a:r>
              <a:rPr lang="ru-RU" altLang="ru-RU" b="1" dirty="0"/>
              <a:t>с </a:t>
            </a:r>
            <a:r>
              <a:rPr lang="ru-RU" altLang="ru-RU" dirty="0"/>
              <a:t>одинаковым ключом. Словарь реализуются таким образом, чтобы операция поиска значения типа </a:t>
            </a:r>
            <a:r>
              <a:rPr lang="en-US" altLang="ru-RU" dirty="0"/>
              <a:t>S </a:t>
            </a:r>
            <a:r>
              <a:rPr lang="ru-RU" altLang="ru-RU" dirty="0"/>
              <a:t>по </a:t>
            </a:r>
            <a:r>
              <a:rPr lang="ru-RU" altLang="ru-RU" i="1" dirty="0"/>
              <a:t>задан</a:t>
            </a:r>
            <a:r>
              <a:rPr lang="ru-RU" altLang="ru-RU" dirty="0"/>
              <a:t>ному ключу типа Т выполнялась эффективно.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dirty="0"/>
              <a:t> </a:t>
            </a:r>
            <a:r>
              <a:rPr lang="en-US" altLang="ru-RU" i="1" dirty="0"/>
              <a:t>Structure</a:t>
            </a:r>
            <a:r>
              <a:rPr lang="en-US" altLang="ru-RU" dirty="0"/>
              <a:t> </a:t>
            </a:r>
            <a:r>
              <a:rPr lang="ru-RU" altLang="ru-RU" dirty="0"/>
              <a:t>(структура). Пусть </a:t>
            </a:r>
            <a:r>
              <a:rPr lang="en-US" altLang="ru-RU" dirty="0"/>
              <a:t>T</a:t>
            </a:r>
            <a:r>
              <a:rPr lang="en-US" altLang="ru-RU" baseline="-15000" dirty="0"/>
              <a:t>1,</a:t>
            </a:r>
            <a:r>
              <a:rPr lang="ru-RU" altLang="ru-RU" dirty="0"/>
              <a:t> </a:t>
            </a:r>
            <a:r>
              <a:rPr lang="en-US" altLang="ru-RU" dirty="0"/>
              <a:t>T</a:t>
            </a:r>
            <a:r>
              <a:rPr lang="en-US" altLang="ru-RU" baseline="-25000" dirty="0"/>
              <a:t>2</a:t>
            </a:r>
            <a:r>
              <a:rPr lang="en-US" altLang="ru-RU" baseline="-15000" dirty="0"/>
              <a:t>,</a:t>
            </a:r>
            <a:r>
              <a:rPr lang="ru-RU" altLang="ru-RU" dirty="0"/>
              <a:t> </a:t>
            </a:r>
            <a:r>
              <a:rPr lang="en-US" altLang="ru-RU" dirty="0"/>
              <a:t>…</a:t>
            </a:r>
            <a:r>
              <a:rPr lang="ru-RU" altLang="ru-RU" dirty="0"/>
              <a:t>Т</a:t>
            </a:r>
            <a:r>
              <a:rPr lang="en-US" altLang="ru-RU" baseline="-10000" dirty="0"/>
              <a:t>n</a:t>
            </a:r>
            <a:r>
              <a:rPr lang="ru-RU" altLang="ru-RU" i="1" dirty="0"/>
              <a:t> </a:t>
            </a:r>
            <a:r>
              <a:rPr lang="ru-RU" altLang="ru-RU" dirty="0"/>
              <a:t>- произвольные типы, а </a:t>
            </a:r>
            <a:r>
              <a:rPr lang="en-US" altLang="ru-RU" dirty="0"/>
              <a:t>F</a:t>
            </a:r>
            <a:r>
              <a:rPr lang="en-US" altLang="ru-RU" baseline="-25000" dirty="0"/>
              <a:t>1</a:t>
            </a:r>
            <a:r>
              <a:rPr lang="en-US" altLang="ru-RU" dirty="0"/>
              <a:t>, F</a:t>
            </a:r>
            <a:r>
              <a:rPr lang="en-US" altLang="ru-RU" baseline="-25000" dirty="0"/>
              <a:t>2</a:t>
            </a:r>
            <a:r>
              <a:rPr lang="en-US" altLang="ru-RU" dirty="0"/>
              <a:t>, …, </a:t>
            </a:r>
            <a:r>
              <a:rPr lang="en-US" altLang="ru-RU" dirty="0" err="1"/>
              <a:t>F</a:t>
            </a:r>
            <a:r>
              <a:rPr lang="en-US" altLang="ru-RU" baseline="-25000" dirty="0" err="1"/>
              <a:t>n</a:t>
            </a:r>
            <a:r>
              <a:rPr lang="ru-RU" altLang="ru-RU" dirty="0"/>
              <a:t> наименования полей; тогда выражение</a:t>
            </a:r>
          </a:p>
          <a:p>
            <a:pPr eaLnBrk="1" hangingPunct="1">
              <a:lnSpc>
                <a:spcPct val="90000"/>
              </a:lnSpc>
            </a:pPr>
            <a:r>
              <a:rPr lang="en-US" altLang="ru-RU" dirty="0"/>
              <a:t>Structure </a:t>
            </a:r>
            <a:r>
              <a:rPr lang="ru-RU" altLang="ru-RU" dirty="0"/>
              <a:t>N  </a:t>
            </a:r>
            <a:r>
              <a:rPr lang="en-US" altLang="ru-RU" dirty="0"/>
              <a:t>{T</a:t>
            </a:r>
            <a:r>
              <a:rPr lang="en-US" altLang="ru-RU" baseline="-25000" dirty="0"/>
              <a:t>i</a:t>
            </a:r>
            <a:r>
              <a:rPr lang="en-US" altLang="ru-RU" dirty="0"/>
              <a:t>  F</a:t>
            </a:r>
            <a:r>
              <a:rPr lang="en-US" altLang="ru-RU" baseline="-25000" dirty="0"/>
              <a:t>i</a:t>
            </a:r>
            <a:r>
              <a:rPr lang="ru-RU" altLang="ru-RU" baseline="-25000" dirty="0"/>
              <a:t> </a:t>
            </a:r>
            <a:r>
              <a:rPr lang="ru-RU" altLang="ru-RU" dirty="0"/>
              <a:t>,</a:t>
            </a:r>
            <a:r>
              <a:rPr lang="en-US" altLang="ru-RU" dirty="0"/>
              <a:t> </a:t>
            </a:r>
            <a:r>
              <a:rPr lang="ru-RU" altLang="ru-RU" dirty="0"/>
              <a:t>Т</a:t>
            </a:r>
            <a:r>
              <a:rPr lang="ru-RU" altLang="ru-RU" baseline="-25000" dirty="0"/>
              <a:t>2</a:t>
            </a:r>
            <a:r>
              <a:rPr lang="ru-RU" altLang="ru-RU" dirty="0"/>
              <a:t> </a:t>
            </a:r>
            <a:r>
              <a:rPr lang="en-US" altLang="ru-RU" dirty="0"/>
              <a:t>F</a:t>
            </a:r>
            <a:r>
              <a:rPr lang="en-US" altLang="ru-RU" baseline="-25000" dirty="0"/>
              <a:t>2</a:t>
            </a:r>
            <a:r>
              <a:rPr lang="en-US" altLang="ru-RU" dirty="0"/>
              <a:t>, … </a:t>
            </a:r>
            <a:r>
              <a:rPr lang="ru-RU" altLang="ru-RU" dirty="0"/>
              <a:t>Т</a:t>
            </a:r>
            <a:r>
              <a:rPr lang="en-US" altLang="ru-RU" sz="1400" baseline="-25000" dirty="0"/>
              <a:t>n</a:t>
            </a:r>
            <a:r>
              <a:rPr lang="ru-RU" altLang="ru-RU" dirty="0"/>
              <a:t> </a:t>
            </a:r>
            <a:r>
              <a:rPr lang="en-US" altLang="ru-RU" dirty="0" err="1"/>
              <a:t>F</a:t>
            </a:r>
            <a:r>
              <a:rPr lang="en-US" altLang="ru-RU" baseline="-25000" dirty="0" err="1"/>
              <a:t>n</a:t>
            </a:r>
            <a:r>
              <a:rPr lang="en-US" altLang="ru-RU" dirty="0"/>
              <a:t>} </a:t>
            </a:r>
            <a:r>
              <a:rPr lang="ru-RU" altLang="ru-RU" dirty="0"/>
              <a:t>представляет тип с именем </a:t>
            </a:r>
            <a:r>
              <a:rPr lang="en-US" altLang="ru-RU" dirty="0"/>
              <a:t>N, </a:t>
            </a:r>
            <a:r>
              <a:rPr lang="ru-RU" altLang="ru-RU" dirty="0"/>
              <a:t>элементами которого являются структуры, состоящие из </a:t>
            </a:r>
            <a:r>
              <a:rPr lang="ru-RU" altLang="ru-RU" i="1" dirty="0"/>
              <a:t>п </a:t>
            </a:r>
            <a:r>
              <a:rPr lang="ru-RU" altLang="ru-RU" dirty="0"/>
              <a:t>полей. Поле с номером </a:t>
            </a:r>
            <a:r>
              <a:rPr lang="en-US" altLang="ru-RU" i="1" dirty="0"/>
              <a:t>i</a:t>
            </a:r>
            <a:r>
              <a:rPr lang="ru-RU" altLang="ru-RU" dirty="0"/>
              <a:t> обозначается как </a:t>
            </a:r>
            <a:r>
              <a:rPr lang="en-US" altLang="ru-RU" i="1" dirty="0"/>
              <a:t>Fi </a:t>
            </a:r>
            <a:r>
              <a:rPr lang="ru-RU" altLang="ru-RU" dirty="0"/>
              <a:t>и относится к типу </a:t>
            </a:r>
            <a:r>
              <a:rPr lang="en-US" altLang="ru-RU" i="1" dirty="0"/>
              <a:t>T.</a:t>
            </a:r>
            <a:r>
              <a:rPr lang="ru-RU" altLang="ru-RU" i="1" dirty="0"/>
              <a:t> </a:t>
            </a:r>
            <a:r>
              <a:rPr lang="ru-RU" altLang="ru-RU" dirty="0"/>
              <a:t>Например, строка 10 рис. 4.3 (см. с. 157) содержит объявление структуры </a:t>
            </a:r>
            <a:r>
              <a:rPr lang="en-US" altLang="ru-RU" dirty="0" err="1"/>
              <a:t>Addr</a:t>
            </a:r>
            <a:r>
              <a:rPr lang="en-US" altLang="ru-RU" dirty="0"/>
              <a:t> </a:t>
            </a:r>
            <a:r>
              <a:rPr lang="ru-RU" altLang="ru-RU" dirty="0"/>
              <a:t>с двумя полями типа </a:t>
            </a:r>
            <a:r>
              <a:rPr lang="en-US" altLang="ru-RU" dirty="0"/>
              <a:t>string, </a:t>
            </a:r>
            <a:r>
              <a:rPr lang="ru-RU" altLang="ru-RU" dirty="0"/>
              <a:t>названными как </a:t>
            </a:r>
            <a:r>
              <a:rPr lang="en-US" altLang="ru-RU" dirty="0"/>
              <a:t>street </a:t>
            </a:r>
            <a:r>
              <a:rPr lang="ru-RU" altLang="ru-RU" dirty="0"/>
              <a:t>и </a:t>
            </a:r>
            <a:r>
              <a:rPr lang="en-US" altLang="ru-RU" dirty="0"/>
              <a:t>city.</a:t>
            </a:r>
            <a:endParaRPr lang="ru-RU" altLang="ru-RU" dirty="0"/>
          </a:p>
          <a:p>
            <a:pPr eaLnBrk="1" hangingPunct="1">
              <a:lnSpc>
                <a:spcPct val="90000"/>
              </a:lnSpc>
            </a:pPr>
            <a:r>
              <a:rPr lang="ru-RU" altLang="ru-RU" dirty="0"/>
              <a:t>Пять типов — </a:t>
            </a:r>
            <a:r>
              <a:rPr lang="en-US" altLang="ru-RU" dirty="0"/>
              <a:t>Set, Bag, List, Array </a:t>
            </a:r>
            <a:r>
              <a:rPr lang="ru-RU" altLang="ru-RU" dirty="0"/>
              <a:t>и </a:t>
            </a:r>
            <a:r>
              <a:rPr lang="en-US" altLang="ru-RU" dirty="0"/>
              <a:t>Dictionary </a:t>
            </a:r>
            <a:r>
              <a:rPr lang="ru-RU" altLang="ru-RU" dirty="0"/>
              <a:t>— называют </a:t>
            </a:r>
            <a:r>
              <a:rPr lang="ru-RU" altLang="ru-RU" i="1" dirty="0"/>
              <a:t>типами коллекций </a:t>
            </a:r>
            <a:r>
              <a:rPr lang="en-US" altLang="ru-RU" dirty="0"/>
              <a:t>(collection types). 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dirty="0"/>
              <a:t>Существует несколько правил относительно того, какие типы могут быть поставлены в соответствие атрибутам, а какие — связям.</a:t>
            </a:r>
          </a:p>
          <a:p>
            <a:pPr eaLnBrk="1" hangingPunct="1">
              <a:lnSpc>
                <a:spcPct val="90000"/>
              </a:lnSpc>
            </a:pPr>
            <a:endParaRPr lang="ru-RU" alt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B3007-BAAE-7E5C-D75F-B09585518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2202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CFC2C-D846-FE4A-00D8-AA4C03467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96356-3A90-A00E-CCB1-7BCDAA320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07C4F5-FF0F-3A24-1657-F2BF0E33E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ru-RU" i="1" dirty="0"/>
              <a:t>Dictionary </a:t>
            </a:r>
            <a:r>
              <a:rPr lang="ru-RU" altLang="ru-RU" dirty="0"/>
              <a:t>(словарь). Пусть </a:t>
            </a:r>
            <a:r>
              <a:rPr lang="en-US" altLang="ru-RU" dirty="0"/>
              <a:t>T </a:t>
            </a:r>
            <a:r>
              <a:rPr lang="ru-RU" altLang="ru-RU" dirty="0"/>
              <a:t>и </a:t>
            </a:r>
            <a:r>
              <a:rPr lang="en-US" altLang="ru-RU" i="1" dirty="0"/>
              <a:t>S </a:t>
            </a:r>
            <a:r>
              <a:rPr lang="ru-RU" altLang="ru-RU" dirty="0"/>
              <a:t>- произвольные  типы; тогда </a:t>
            </a:r>
            <a:r>
              <a:rPr lang="en-US" altLang="ru-RU" dirty="0"/>
              <a:t>Dictionary</a:t>
            </a:r>
            <a:r>
              <a:rPr lang="ru-RU" altLang="ru-RU" dirty="0"/>
              <a:t>&lt; </a:t>
            </a:r>
            <a:r>
              <a:rPr lang="en-US" altLang="ru-RU" dirty="0"/>
              <a:t>T</a:t>
            </a:r>
            <a:r>
              <a:rPr lang="ru-RU" altLang="ru-RU" dirty="0"/>
              <a:t>,</a:t>
            </a:r>
            <a:r>
              <a:rPr lang="en-US" altLang="ru-RU" dirty="0"/>
              <a:t>S</a:t>
            </a:r>
            <a:r>
              <a:rPr lang="ru-RU" altLang="ru-RU" dirty="0"/>
              <a:t>&gt; представляет тип, значениями которого являются конечные множества пар вида </a:t>
            </a:r>
            <a:r>
              <a:rPr lang="ru-RU" altLang="ru-RU" i="1" dirty="0"/>
              <a:t>ключ/значения</a:t>
            </a:r>
            <a:r>
              <a:rPr lang="ru-RU" altLang="ru-RU" dirty="0"/>
              <a:t> (ключи относятся к типу Т, а значения – типу </a:t>
            </a:r>
            <a:r>
              <a:rPr lang="en-US" altLang="ru-RU" dirty="0"/>
              <a:t>S</a:t>
            </a:r>
            <a:r>
              <a:rPr lang="ru-RU" altLang="ru-RU" dirty="0"/>
              <a:t>).</a:t>
            </a:r>
            <a:r>
              <a:rPr lang="en-US" altLang="ru-RU" dirty="0"/>
              <a:t> </a:t>
            </a:r>
            <a:r>
              <a:rPr lang="ru-RU" altLang="ru-RU" dirty="0"/>
              <a:t>Словарь не должен содержать двух пар </a:t>
            </a:r>
            <a:r>
              <a:rPr lang="ru-RU" altLang="ru-RU" b="1" dirty="0"/>
              <a:t>с </a:t>
            </a:r>
            <a:r>
              <a:rPr lang="ru-RU" altLang="ru-RU" dirty="0"/>
              <a:t>одинаковым ключом. Словарь реализуются таким образом, чтобы операция поиска значения типа </a:t>
            </a:r>
            <a:r>
              <a:rPr lang="en-US" altLang="ru-RU" dirty="0"/>
              <a:t>S </a:t>
            </a:r>
            <a:r>
              <a:rPr lang="ru-RU" altLang="ru-RU" dirty="0"/>
              <a:t>по </a:t>
            </a:r>
            <a:r>
              <a:rPr lang="ru-RU" altLang="ru-RU" i="1" dirty="0"/>
              <a:t>задан</a:t>
            </a:r>
            <a:r>
              <a:rPr lang="ru-RU" altLang="ru-RU" dirty="0"/>
              <a:t>ному ключу типа Т выполнялась эффективно.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dirty="0"/>
              <a:t> </a:t>
            </a:r>
            <a:r>
              <a:rPr lang="en-US" altLang="ru-RU" i="1" dirty="0"/>
              <a:t>Structure</a:t>
            </a:r>
            <a:r>
              <a:rPr lang="en-US" altLang="ru-RU" dirty="0"/>
              <a:t> </a:t>
            </a:r>
            <a:r>
              <a:rPr lang="ru-RU" altLang="ru-RU" dirty="0"/>
              <a:t>(структура). Пусть </a:t>
            </a:r>
            <a:r>
              <a:rPr lang="en-US" altLang="ru-RU" dirty="0"/>
              <a:t>T</a:t>
            </a:r>
            <a:r>
              <a:rPr lang="en-US" altLang="ru-RU" baseline="-15000" dirty="0"/>
              <a:t>1,</a:t>
            </a:r>
            <a:r>
              <a:rPr lang="ru-RU" altLang="ru-RU" dirty="0"/>
              <a:t> </a:t>
            </a:r>
            <a:r>
              <a:rPr lang="en-US" altLang="ru-RU" dirty="0"/>
              <a:t>T</a:t>
            </a:r>
            <a:r>
              <a:rPr lang="en-US" altLang="ru-RU" baseline="-25000" dirty="0"/>
              <a:t>2</a:t>
            </a:r>
            <a:r>
              <a:rPr lang="en-US" altLang="ru-RU" baseline="-15000" dirty="0"/>
              <a:t>,</a:t>
            </a:r>
            <a:r>
              <a:rPr lang="ru-RU" altLang="ru-RU" dirty="0"/>
              <a:t> </a:t>
            </a:r>
            <a:r>
              <a:rPr lang="en-US" altLang="ru-RU" dirty="0"/>
              <a:t>…</a:t>
            </a:r>
            <a:r>
              <a:rPr lang="ru-RU" altLang="ru-RU" dirty="0"/>
              <a:t>Т</a:t>
            </a:r>
            <a:r>
              <a:rPr lang="en-US" altLang="ru-RU" baseline="-10000" dirty="0"/>
              <a:t>n</a:t>
            </a:r>
            <a:r>
              <a:rPr lang="ru-RU" altLang="ru-RU" i="1" dirty="0"/>
              <a:t> </a:t>
            </a:r>
            <a:r>
              <a:rPr lang="ru-RU" altLang="ru-RU" dirty="0"/>
              <a:t>- произвольные типы, а </a:t>
            </a:r>
            <a:r>
              <a:rPr lang="en-US" altLang="ru-RU" dirty="0"/>
              <a:t>F</a:t>
            </a:r>
            <a:r>
              <a:rPr lang="en-US" altLang="ru-RU" baseline="-25000" dirty="0"/>
              <a:t>1</a:t>
            </a:r>
            <a:r>
              <a:rPr lang="en-US" altLang="ru-RU" dirty="0"/>
              <a:t>, F</a:t>
            </a:r>
            <a:r>
              <a:rPr lang="en-US" altLang="ru-RU" baseline="-25000" dirty="0"/>
              <a:t>2</a:t>
            </a:r>
            <a:r>
              <a:rPr lang="en-US" altLang="ru-RU" dirty="0"/>
              <a:t>, …, </a:t>
            </a:r>
            <a:r>
              <a:rPr lang="en-US" altLang="ru-RU" dirty="0" err="1"/>
              <a:t>F</a:t>
            </a:r>
            <a:r>
              <a:rPr lang="en-US" altLang="ru-RU" baseline="-25000" dirty="0" err="1"/>
              <a:t>n</a:t>
            </a:r>
            <a:r>
              <a:rPr lang="ru-RU" altLang="ru-RU" dirty="0"/>
              <a:t> наименования полей; тогда выражение</a:t>
            </a:r>
          </a:p>
          <a:p>
            <a:pPr eaLnBrk="1" hangingPunct="1">
              <a:lnSpc>
                <a:spcPct val="90000"/>
              </a:lnSpc>
            </a:pPr>
            <a:r>
              <a:rPr lang="en-US" altLang="ru-RU" dirty="0"/>
              <a:t>Structure </a:t>
            </a:r>
            <a:r>
              <a:rPr lang="ru-RU" altLang="ru-RU" dirty="0"/>
              <a:t>N  </a:t>
            </a:r>
            <a:r>
              <a:rPr lang="en-US" altLang="ru-RU" dirty="0"/>
              <a:t>{T</a:t>
            </a:r>
            <a:r>
              <a:rPr lang="en-US" altLang="ru-RU" baseline="-25000" dirty="0"/>
              <a:t>i</a:t>
            </a:r>
            <a:r>
              <a:rPr lang="en-US" altLang="ru-RU" dirty="0"/>
              <a:t>  F</a:t>
            </a:r>
            <a:r>
              <a:rPr lang="en-US" altLang="ru-RU" baseline="-25000" dirty="0"/>
              <a:t>i</a:t>
            </a:r>
            <a:r>
              <a:rPr lang="ru-RU" altLang="ru-RU" baseline="-25000" dirty="0"/>
              <a:t> </a:t>
            </a:r>
            <a:r>
              <a:rPr lang="ru-RU" altLang="ru-RU" dirty="0"/>
              <a:t>,</a:t>
            </a:r>
            <a:r>
              <a:rPr lang="en-US" altLang="ru-RU" dirty="0"/>
              <a:t> </a:t>
            </a:r>
            <a:r>
              <a:rPr lang="ru-RU" altLang="ru-RU" dirty="0"/>
              <a:t>Т</a:t>
            </a:r>
            <a:r>
              <a:rPr lang="ru-RU" altLang="ru-RU" baseline="-25000" dirty="0"/>
              <a:t>2</a:t>
            </a:r>
            <a:r>
              <a:rPr lang="ru-RU" altLang="ru-RU" dirty="0"/>
              <a:t> </a:t>
            </a:r>
            <a:r>
              <a:rPr lang="en-US" altLang="ru-RU" dirty="0"/>
              <a:t>F</a:t>
            </a:r>
            <a:r>
              <a:rPr lang="en-US" altLang="ru-RU" baseline="-25000" dirty="0"/>
              <a:t>2</a:t>
            </a:r>
            <a:r>
              <a:rPr lang="en-US" altLang="ru-RU" dirty="0"/>
              <a:t>, … </a:t>
            </a:r>
            <a:r>
              <a:rPr lang="ru-RU" altLang="ru-RU" dirty="0"/>
              <a:t>Т</a:t>
            </a:r>
            <a:r>
              <a:rPr lang="en-US" altLang="ru-RU" sz="1400" baseline="-25000" dirty="0"/>
              <a:t>n</a:t>
            </a:r>
            <a:r>
              <a:rPr lang="ru-RU" altLang="ru-RU" dirty="0"/>
              <a:t> </a:t>
            </a:r>
            <a:r>
              <a:rPr lang="en-US" altLang="ru-RU" dirty="0" err="1"/>
              <a:t>F</a:t>
            </a:r>
            <a:r>
              <a:rPr lang="en-US" altLang="ru-RU" baseline="-25000" dirty="0" err="1"/>
              <a:t>n</a:t>
            </a:r>
            <a:r>
              <a:rPr lang="en-US" altLang="ru-RU" dirty="0"/>
              <a:t>} </a:t>
            </a:r>
            <a:r>
              <a:rPr lang="ru-RU" altLang="ru-RU" dirty="0"/>
              <a:t>представляет тип с именем </a:t>
            </a:r>
            <a:r>
              <a:rPr lang="en-US" altLang="ru-RU" dirty="0"/>
              <a:t>N, </a:t>
            </a:r>
            <a:r>
              <a:rPr lang="ru-RU" altLang="ru-RU" dirty="0"/>
              <a:t>элементами которого являются структуры, состоящие из </a:t>
            </a:r>
            <a:r>
              <a:rPr lang="ru-RU" altLang="ru-RU" i="1" dirty="0"/>
              <a:t>п </a:t>
            </a:r>
            <a:r>
              <a:rPr lang="ru-RU" altLang="ru-RU" dirty="0"/>
              <a:t>полей. Поле с номером </a:t>
            </a:r>
            <a:r>
              <a:rPr lang="en-US" altLang="ru-RU" i="1" dirty="0"/>
              <a:t>i</a:t>
            </a:r>
            <a:r>
              <a:rPr lang="ru-RU" altLang="ru-RU" dirty="0"/>
              <a:t> обозначается как </a:t>
            </a:r>
            <a:r>
              <a:rPr lang="en-US" altLang="ru-RU" i="1" dirty="0"/>
              <a:t>Fi </a:t>
            </a:r>
            <a:r>
              <a:rPr lang="ru-RU" altLang="ru-RU" dirty="0"/>
              <a:t>и относится к типу </a:t>
            </a:r>
            <a:r>
              <a:rPr lang="en-US" altLang="ru-RU" i="1" dirty="0"/>
              <a:t>T.</a:t>
            </a:r>
            <a:r>
              <a:rPr lang="ru-RU" altLang="ru-RU" i="1" dirty="0"/>
              <a:t> </a:t>
            </a:r>
            <a:r>
              <a:rPr lang="ru-RU" altLang="ru-RU" dirty="0"/>
              <a:t>Например, строка 10 рис. 4.3 (см. с. 157) содержит объявление структуры </a:t>
            </a:r>
            <a:r>
              <a:rPr lang="en-US" altLang="ru-RU" dirty="0" err="1"/>
              <a:t>Addr</a:t>
            </a:r>
            <a:r>
              <a:rPr lang="en-US" altLang="ru-RU" dirty="0"/>
              <a:t> </a:t>
            </a:r>
            <a:r>
              <a:rPr lang="ru-RU" altLang="ru-RU" dirty="0"/>
              <a:t>с двумя полями типа </a:t>
            </a:r>
            <a:r>
              <a:rPr lang="en-US" altLang="ru-RU" dirty="0"/>
              <a:t>string, </a:t>
            </a:r>
            <a:r>
              <a:rPr lang="ru-RU" altLang="ru-RU" dirty="0"/>
              <a:t>названными как </a:t>
            </a:r>
            <a:r>
              <a:rPr lang="en-US" altLang="ru-RU" dirty="0"/>
              <a:t>street </a:t>
            </a:r>
            <a:r>
              <a:rPr lang="ru-RU" altLang="ru-RU" dirty="0"/>
              <a:t>и </a:t>
            </a:r>
            <a:r>
              <a:rPr lang="en-US" altLang="ru-RU" dirty="0"/>
              <a:t>city.</a:t>
            </a:r>
            <a:endParaRPr lang="ru-RU" altLang="ru-RU" dirty="0"/>
          </a:p>
          <a:p>
            <a:pPr eaLnBrk="1" hangingPunct="1">
              <a:lnSpc>
                <a:spcPct val="90000"/>
              </a:lnSpc>
            </a:pPr>
            <a:r>
              <a:rPr lang="ru-RU" altLang="ru-RU" dirty="0"/>
              <a:t>Пять типов — </a:t>
            </a:r>
            <a:r>
              <a:rPr lang="en-US" altLang="ru-RU" dirty="0"/>
              <a:t>Set, Bag, List, Array </a:t>
            </a:r>
            <a:r>
              <a:rPr lang="ru-RU" altLang="ru-RU" dirty="0"/>
              <a:t>и </a:t>
            </a:r>
            <a:r>
              <a:rPr lang="en-US" altLang="ru-RU" dirty="0"/>
              <a:t>Dictionary </a:t>
            </a:r>
            <a:r>
              <a:rPr lang="ru-RU" altLang="ru-RU" dirty="0"/>
              <a:t>— называют </a:t>
            </a:r>
            <a:r>
              <a:rPr lang="ru-RU" altLang="ru-RU" i="1" dirty="0"/>
              <a:t>типами коллекций </a:t>
            </a:r>
            <a:r>
              <a:rPr lang="en-US" altLang="ru-RU" dirty="0"/>
              <a:t>(collection types). 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dirty="0"/>
              <a:t>Существует несколько правил относительно того, какие типы могут быть поставлены в соответствие атрибутам, а какие — связям.</a:t>
            </a:r>
          </a:p>
          <a:p>
            <a:pPr eaLnBrk="1" hangingPunct="1">
              <a:lnSpc>
                <a:spcPct val="90000"/>
              </a:lnSpc>
            </a:pPr>
            <a:endParaRPr lang="ru-RU" alt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46B5C-BB7C-732B-975E-05337AF47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9478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32FB6-90B0-568B-A2D8-A4AA4227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C274F9-1F4B-F0FE-22DD-5FDA25F76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571BD-E87A-4EF8-F6E4-86A03E100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ru-RU" i="1" dirty="0"/>
              <a:t>Dictionary </a:t>
            </a:r>
            <a:r>
              <a:rPr lang="ru-RU" altLang="ru-RU" dirty="0"/>
              <a:t>(словарь). Пусть </a:t>
            </a:r>
            <a:r>
              <a:rPr lang="en-US" altLang="ru-RU" dirty="0"/>
              <a:t>T </a:t>
            </a:r>
            <a:r>
              <a:rPr lang="ru-RU" altLang="ru-RU" dirty="0"/>
              <a:t>и </a:t>
            </a:r>
            <a:r>
              <a:rPr lang="en-US" altLang="ru-RU" i="1" dirty="0"/>
              <a:t>S </a:t>
            </a:r>
            <a:r>
              <a:rPr lang="ru-RU" altLang="ru-RU" dirty="0"/>
              <a:t>- произвольные  типы; тогда </a:t>
            </a:r>
            <a:r>
              <a:rPr lang="en-US" altLang="ru-RU" dirty="0"/>
              <a:t>Dictionary</a:t>
            </a:r>
            <a:r>
              <a:rPr lang="ru-RU" altLang="ru-RU" dirty="0"/>
              <a:t>&lt; </a:t>
            </a:r>
            <a:r>
              <a:rPr lang="en-US" altLang="ru-RU" dirty="0"/>
              <a:t>T</a:t>
            </a:r>
            <a:r>
              <a:rPr lang="ru-RU" altLang="ru-RU" dirty="0"/>
              <a:t>,</a:t>
            </a:r>
            <a:r>
              <a:rPr lang="en-US" altLang="ru-RU" dirty="0"/>
              <a:t>S</a:t>
            </a:r>
            <a:r>
              <a:rPr lang="ru-RU" altLang="ru-RU" dirty="0"/>
              <a:t>&gt; представляет тип, значениями которого являются конечные множества пар вида </a:t>
            </a:r>
            <a:r>
              <a:rPr lang="ru-RU" altLang="ru-RU" i="1" dirty="0"/>
              <a:t>ключ/значения</a:t>
            </a:r>
            <a:r>
              <a:rPr lang="ru-RU" altLang="ru-RU" dirty="0"/>
              <a:t> (ключи относятся к типу Т, а значения – типу </a:t>
            </a:r>
            <a:r>
              <a:rPr lang="en-US" altLang="ru-RU" dirty="0"/>
              <a:t>S</a:t>
            </a:r>
            <a:r>
              <a:rPr lang="ru-RU" altLang="ru-RU" dirty="0"/>
              <a:t>).</a:t>
            </a:r>
            <a:r>
              <a:rPr lang="en-US" altLang="ru-RU" dirty="0"/>
              <a:t> </a:t>
            </a:r>
            <a:r>
              <a:rPr lang="ru-RU" altLang="ru-RU" dirty="0"/>
              <a:t>Словарь не должен содержать двух пар </a:t>
            </a:r>
            <a:r>
              <a:rPr lang="ru-RU" altLang="ru-RU" b="1" dirty="0"/>
              <a:t>с </a:t>
            </a:r>
            <a:r>
              <a:rPr lang="ru-RU" altLang="ru-RU" dirty="0"/>
              <a:t>одинаковым ключом. Словарь реализуются таким образом, чтобы операция поиска значения типа </a:t>
            </a:r>
            <a:r>
              <a:rPr lang="en-US" altLang="ru-RU" dirty="0"/>
              <a:t>S </a:t>
            </a:r>
            <a:r>
              <a:rPr lang="ru-RU" altLang="ru-RU" dirty="0"/>
              <a:t>по </a:t>
            </a:r>
            <a:r>
              <a:rPr lang="ru-RU" altLang="ru-RU" i="1" dirty="0"/>
              <a:t>задан</a:t>
            </a:r>
            <a:r>
              <a:rPr lang="ru-RU" altLang="ru-RU" dirty="0"/>
              <a:t>ному ключу типа Т выполнялась эффективно.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dirty="0"/>
              <a:t> </a:t>
            </a:r>
            <a:r>
              <a:rPr lang="en-US" altLang="ru-RU" i="1" dirty="0"/>
              <a:t>Structure</a:t>
            </a:r>
            <a:r>
              <a:rPr lang="en-US" altLang="ru-RU" dirty="0"/>
              <a:t> </a:t>
            </a:r>
            <a:r>
              <a:rPr lang="ru-RU" altLang="ru-RU" dirty="0"/>
              <a:t>(структура). Пусть </a:t>
            </a:r>
            <a:r>
              <a:rPr lang="en-US" altLang="ru-RU" dirty="0"/>
              <a:t>T</a:t>
            </a:r>
            <a:r>
              <a:rPr lang="en-US" altLang="ru-RU" baseline="-15000" dirty="0"/>
              <a:t>1,</a:t>
            </a:r>
            <a:r>
              <a:rPr lang="ru-RU" altLang="ru-RU" dirty="0"/>
              <a:t> </a:t>
            </a:r>
            <a:r>
              <a:rPr lang="en-US" altLang="ru-RU" dirty="0"/>
              <a:t>T</a:t>
            </a:r>
            <a:r>
              <a:rPr lang="en-US" altLang="ru-RU" baseline="-25000" dirty="0"/>
              <a:t>2</a:t>
            </a:r>
            <a:r>
              <a:rPr lang="en-US" altLang="ru-RU" baseline="-15000" dirty="0"/>
              <a:t>,</a:t>
            </a:r>
            <a:r>
              <a:rPr lang="ru-RU" altLang="ru-RU" dirty="0"/>
              <a:t> </a:t>
            </a:r>
            <a:r>
              <a:rPr lang="en-US" altLang="ru-RU" dirty="0"/>
              <a:t>…</a:t>
            </a:r>
            <a:r>
              <a:rPr lang="ru-RU" altLang="ru-RU" dirty="0"/>
              <a:t>Т</a:t>
            </a:r>
            <a:r>
              <a:rPr lang="en-US" altLang="ru-RU" baseline="-10000" dirty="0"/>
              <a:t>n</a:t>
            </a:r>
            <a:r>
              <a:rPr lang="ru-RU" altLang="ru-RU" i="1" dirty="0"/>
              <a:t> </a:t>
            </a:r>
            <a:r>
              <a:rPr lang="ru-RU" altLang="ru-RU" dirty="0"/>
              <a:t>- произвольные типы, а </a:t>
            </a:r>
            <a:r>
              <a:rPr lang="en-US" altLang="ru-RU" dirty="0"/>
              <a:t>F</a:t>
            </a:r>
            <a:r>
              <a:rPr lang="en-US" altLang="ru-RU" baseline="-25000" dirty="0"/>
              <a:t>1</a:t>
            </a:r>
            <a:r>
              <a:rPr lang="en-US" altLang="ru-RU" dirty="0"/>
              <a:t>, F</a:t>
            </a:r>
            <a:r>
              <a:rPr lang="en-US" altLang="ru-RU" baseline="-25000" dirty="0"/>
              <a:t>2</a:t>
            </a:r>
            <a:r>
              <a:rPr lang="en-US" altLang="ru-RU" dirty="0"/>
              <a:t>, …, </a:t>
            </a:r>
            <a:r>
              <a:rPr lang="en-US" altLang="ru-RU" dirty="0" err="1"/>
              <a:t>F</a:t>
            </a:r>
            <a:r>
              <a:rPr lang="en-US" altLang="ru-RU" baseline="-25000" dirty="0" err="1"/>
              <a:t>n</a:t>
            </a:r>
            <a:r>
              <a:rPr lang="ru-RU" altLang="ru-RU" dirty="0"/>
              <a:t> наименования полей; тогда выражение</a:t>
            </a:r>
          </a:p>
          <a:p>
            <a:pPr eaLnBrk="1" hangingPunct="1">
              <a:lnSpc>
                <a:spcPct val="90000"/>
              </a:lnSpc>
            </a:pPr>
            <a:r>
              <a:rPr lang="en-US" altLang="ru-RU" dirty="0"/>
              <a:t>Structure </a:t>
            </a:r>
            <a:r>
              <a:rPr lang="ru-RU" altLang="ru-RU" dirty="0"/>
              <a:t>N  </a:t>
            </a:r>
            <a:r>
              <a:rPr lang="en-US" altLang="ru-RU" dirty="0"/>
              <a:t>{T</a:t>
            </a:r>
            <a:r>
              <a:rPr lang="en-US" altLang="ru-RU" baseline="-25000" dirty="0"/>
              <a:t>i</a:t>
            </a:r>
            <a:r>
              <a:rPr lang="en-US" altLang="ru-RU" dirty="0"/>
              <a:t>  F</a:t>
            </a:r>
            <a:r>
              <a:rPr lang="en-US" altLang="ru-RU" baseline="-25000" dirty="0"/>
              <a:t>i</a:t>
            </a:r>
            <a:r>
              <a:rPr lang="ru-RU" altLang="ru-RU" baseline="-25000" dirty="0"/>
              <a:t> </a:t>
            </a:r>
            <a:r>
              <a:rPr lang="ru-RU" altLang="ru-RU" dirty="0"/>
              <a:t>,</a:t>
            </a:r>
            <a:r>
              <a:rPr lang="en-US" altLang="ru-RU" dirty="0"/>
              <a:t> </a:t>
            </a:r>
            <a:r>
              <a:rPr lang="ru-RU" altLang="ru-RU" dirty="0"/>
              <a:t>Т</a:t>
            </a:r>
            <a:r>
              <a:rPr lang="ru-RU" altLang="ru-RU" baseline="-25000" dirty="0"/>
              <a:t>2</a:t>
            </a:r>
            <a:r>
              <a:rPr lang="ru-RU" altLang="ru-RU" dirty="0"/>
              <a:t> </a:t>
            </a:r>
            <a:r>
              <a:rPr lang="en-US" altLang="ru-RU" dirty="0"/>
              <a:t>F</a:t>
            </a:r>
            <a:r>
              <a:rPr lang="en-US" altLang="ru-RU" baseline="-25000" dirty="0"/>
              <a:t>2</a:t>
            </a:r>
            <a:r>
              <a:rPr lang="en-US" altLang="ru-RU" dirty="0"/>
              <a:t>, … </a:t>
            </a:r>
            <a:r>
              <a:rPr lang="ru-RU" altLang="ru-RU" dirty="0"/>
              <a:t>Т</a:t>
            </a:r>
            <a:r>
              <a:rPr lang="en-US" altLang="ru-RU" sz="1400" baseline="-25000" dirty="0"/>
              <a:t>n</a:t>
            </a:r>
            <a:r>
              <a:rPr lang="ru-RU" altLang="ru-RU" dirty="0"/>
              <a:t> </a:t>
            </a:r>
            <a:r>
              <a:rPr lang="en-US" altLang="ru-RU" dirty="0" err="1"/>
              <a:t>F</a:t>
            </a:r>
            <a:r>
              <a:rPr lang="en-US" altLang="ru-RU" baseline="-25000" dirty="0" err="1"/>
              <a:t>n</a:t>
            </a:r>
            <a:r>
              <a:rPr lang="en-US" altLang="ru-RU" dirty="0"/>
              <a:t>} </a:t>
            </a:r>
            <a:r>
              <a:rPr lang="ru-RU" altLang="ru-RU" dirty="0"/>
              <a:t>представляет тип с именем </a:t>
            </a:r>
            <a:r>
              <a:rPr lang="en-US" altLang="ru-RU" dirty="0"/>
              <a:t>N, </a:t>
            </a:r>
            <a:r>
              <a:rPr lang="ru-RU" altLang="ru-RU" dirty="0"/>
              <a:t>элементами которого являются структуры, состоящие из </a:t>
            </a:r>
            <a:r>
              <a:rPr lang="ru-RU" altLang="ru-RU" i="1" dirty="0"/>
              <a:t>п </a:t>
            </a:r>
            <a:r>
              <a:rPr lang="ru-RU" altLang="ru-RU" dirty="0"/>
              <a:t>полей. Поле с номером </a:t>
            </a:r>
            <a:r>
              <a:rPr lang="en-US" altLang="ru-RU" i="1" dirty="0"/>
              <a:t>i</a:t>
            </a:r>
            <a:r>
              <a:rPr lang="ru-RU" altLang="ru-RU" dirty="0"/>
              <a:t> обозначается как </a:t>
            </a:r>
            <a:r>
              <a:rPr lang="en-US" altLang="ru-RU" i="1" dirty="0"/>
              <a:t>Fi </a:t>
            </a:r>
            <a:r>
              <a:rPr lang="ru-RU" altLang="ru-RU" dirty="0"/>
              <a:t>и относится к типу </a:t>
            </a:r>
            <a:r>
              <a:rPr lang="en-US" altLang="ru-RU" i="1" dirty="0"/>
              <a:t>T.</a:t>
            </a:r>
            <a:r>
              <a:rPr lang="ru-RU" altLang="ru-RU" i="1" dirty="0"/>
              <a:t> </a:t>
            </a:r>
            <a:r>
              <a:rPr lang="ru-RU" altLang="ru-RU" dirty="0"/>
              <a:t>Например, строка 10 рис. 4.3 (см. с. 157) содержит объявление структуры </a:t>
            </a:r>
            <a:r>
              <a:rPr lang="en-US" altLang="ru-RU" dirty="0" err="1"/>
              <a:t>Addr</a:t>
            </a:r>
            <a:r>
              <a:rPr lang="en-US" altLang="ru-RU" dirty="0"/>
              <a:t> </a:t>
            </a:r>
            <a:r>
              <a:rPr lang="ru-RU" altLang="ru-RU" dirty="0"/>
              <a:t>с двумя полями типа </a:t>
            </a:r>
            <a:r>
              <a:rPr lang="en-US" altLang="ru-RU" dirty="0"/>
              <a:t>string, </a:t>
            </a:r>
            <a:r>
              <a:rPr lang="ru-RU" altLang="ru-RU" dirty="0"/>
              <a:t>названными как </a:t>
            </a:r>
            <a:r>
              <a:rPr lang="en-US" altLang="ru-RU" dirty="0"/>
              <a:t>street </a:t>
            </a:r>
            <a:r>
              <a:rPr lang="ru-RU" altLang="ru-RU" dirty="0"/>
              <a:t>и </a:t>
            </a:r>
            <a:r>
              <a:rPr lang="en-US" altLang="ru-RU" dirty="0"/>
              <a:t>city.</a:t>
            </a:r>
            <a:endParaRPr lang="ru-RU" altLang="ru-RU" dirty="0"/>
          </a:p>
          <a:p>
            <a:pPr eaLnBrk="1" hangingPunct="1">
              <a:lnSpc>
                <a:spcPct val="90000"/>
              </a:lnSpc>
            </a:pPr>
            <a:r>
              <a:rPr lang="ru-RU" altLang="ru-RU" dirty="0"/>
              <a:t>Пять типов — </a:t>
            </a:r>
            <a:r>
              <a:rPr lang="en-US" altLang="ru-RU" dirty="0"/>
              <a:t>Set, Bag, List, Array </a:t>
            </a:r>
            <a:r>
              <a:rPr lang="ru-RU" altLang="ru-RU" dirty="0"/>
              <a:t>и </a:t>
            </a:r>
            <a:r>
              <a:rPr lang="en-US" altLang="ru-RU" dirty="0"/>
              <a:t>Dictionary </a:t>
            </a:r>
            <a:r>
              <a:rPr lang="ru-RU" altLang="ru-RU" dirty="0"/>
              <a:t>— называют </a:t>
            </a:r>
            <a:r>
              <a:rPr lang="ru-RU" altLang="ru-RU" i="1" dirty="0"/>
              <a:t>типами коллекций </a:t>
            </a:r>
            <a:r>
              <a:rPr lang="en-US" altLang="ru-RU" dirty="0"/>
              <a:t>(collection types). 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dirty="0"/>
              <a:t>Существует несколько правил относительно того, какие типы могут быть поставлены в соответствие атрибутам, а какие — связям.</a:t>
            </a:r>
          </a:p>
          <a:p>
            <a:pPr eaLnBrk="1" hangingPunct="1">
              <a:lnSpc>
                <a:spcPct val="90000"/>
              </a:lnSpc>
            </a:pPr>
            <a:endParaRPr lang="ru-RU" alt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3D47F-2DBF-0322-EA6D-C0FB70726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7402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1C96D-83CD-E9AD-20FA-3E717562C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DF9D1-3418-400F-2B3D-A0912F728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A7A48-A022-6EB1-36E4-7AAA91C3A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ru-RU" i="1" dirty="0"/>
              <a:t>Dictionary </a:t>
            </a:r>
            <a:r>
              <a:rPr lang="ru-RU" altLang="ru-RU" dirty="0"/>
              <a:t>(словарь). Пусть </a:t>
            </a:r>
            <a:r>
              <a:rPr lang="en-US" altLang="ru-RU" dirty="0"/>
              <a:t>T </a:t>
            </a:r>
            <a:r>
              <a:rPr lang="ru-RU" altLang="ru-RU" dirty="0"/>
              <a:t>и </a:t>
            </a:r>
            <a:r>
              <a:rPr lang="en-US" altLang="ru-RU" i="1" dirty="0"/>
              <a:t>S </a:t>
            </a:r>
            <a:r>
              <a:rPr lang="ru-RU" altLang="ru-RU" dirty="0"/>
              <a:t>- произвольные  типы; тогда </a:t>
            </a:r>
            <a:r>
              <a:rPr lang="en-US" altLang="ru-RU" dirty="0"/>
              <a:t>Dictionary</a:t>
            </a:r>
            <a:r>
              <a:rPr lang="ru-RU" altLang="ru-RU" dirty="0"/>
              <a:t>&lt; </a:t>
            </a:r>
            <a:r>
              <a:rPr lang="en-US" altLang="ru-RU" dirty="0"/>
              <a:t>T</a:t>
            </a:r>
            <a:r>
              <a:rPr lang="ru-RU" altLang="ru-RU" dirty="0"/>
              <a:t>,</a:t>
            </a:r>
            <a:r>
              <a:rPr lang="en-US" altLang="ru-RU" dirty="0"/>
              <a:t>S</a:t>
            </a:r>
            <a:r>
              <a:rPr lang="ru-RU" altLang="ru-RU" dirty="0"/>
              <a:t>&gt; представляет тип, значениями которого являются конечные множества пар вида </a:t>
            </a:r>
            <a:r>
              <a:rPr lang="ru-RU" altLang="ru-RU" i="1" dirty="0"/>
              <a:t>ключ/значения</a:t>
            </a:r>
            <a:r>
              <a:rPr lang="ru-RU" altLang="ru-RU" dirty="0"/>
              <a:t> (ключи относятся к типу Т, а значения – типу </a:t>
            </a:r>
            <a:r>
              <a:rPr lang="en-US" altLang="ru-RU" dirty="0"/>
              <a:t>S</a:t>
            </a:r>
            <a:r>
              <a:rPr lang="ru-RU" altLang="ru-RU" dirty="0"/>
              <a:t>).</a:t>
            </a:r>
            <a:r>
              <a:rPr lang="en-US" altLang="ru-RU" dirty="0"/>
              <a:t> </a:t>
            </a:r>
            <a:r>
              <a:rPr lang="ru-RU" altLang="ru-RU" dirty="0"/>
              <a:t>Словарь не должен содержать двух пар </a:t>
            </a:r>
            <a:r>
              <a:rPr lang="ru-RU" altLang="ru-RU" b="1" dirty="0"/>
              <a:t>с </a:t>
            </a:r>
            <a:r>
              <a:rPr lang="ru-RU" altLang="ru-RU" dirty="0"/>
              <a:t>одинаковым ключом. Словарь реализуются таким образом, чтобы операция поиска значения типа </a:t>
            </a:r>
            <a:r>
              <a:rPr lang="en-US" altLang="ru-RU" dirty="0"/>
              <a:t>S </a:t>
            </a:r>
            <a:r>
              <a:rPr lang="ru-RU" altLang="ru-RU" dirty="0"/>
              <a:t>по </a:t>
            </a:r>
            <a:r>
              <a:rPr lang="ru-RU" altLang="ru-RU" i="1" dirty="0"/>
              <a:t>задан</a:t>
            </a:r>
            <a:r>
              <a:rPr lang="ru-RU" altLang="ru-RU" dirty="0"/>
              <a:t>ному ключу типа Т выполнялась эффективно.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dirty="0"/>
              <a:t> </a:t>
            </a:r>
            <a:r>
              <a:rPr lang="en-US" altLang="ru-RU" i="1" dirty="0"/>
              <a:t>Structure</a:t>
            </a:r>
            <a:r>
              <a:rPr lang="en-US" altLang="ru-RU" dirty="0"/>
              <a:t> </a:t>
            </a:r>
            <a:r>
              <a:rPr lang="ru-RU" altLang="ru-RU" dirty="0"/>
              <a:t>(структура). Пусть </a:t>
            </a:r>
            <a:r>
              <a:rPr lang="en-US" altLang="ru-RU" dirty="0"/>
              <a:t>T</a:t>
            </a:r>
            <a:r>
              <a:rPr lang="en-US" altLang="ru-RU" baseline="-15000" dirty="0"/>
              <a:t>1,</a:t>
            </a:r>
            <a:r>
              <a:rPr lang="ru-RU" altLang="ru-RU" dirty="0"/>
              <a:t> </a:t>
            </a:r>
            <a:r>
              <a:rPr lang="en-US" altLang="ru-RU" dirty="0"/>
              <a:t>T</a:t>
            </a:r>
            <a:r>
              <a:rPr lang="en-US" altLang="ru-RU" baseline="-25000" dirty="0"/>
              <a:t>2</a:t>
            </a:r>
            <a:r>
              <a:rPr lang="en-US" altLang="ru-RU" baseline="-15000" dirty="0"/>
              <a:t>,</a:t>
            </a:r>
            <a:r>
              <a:rPr lang="ru-RU" altLang="ru-RU" dirty="0"/>
              <a:t> </a:t>
            </a:r>
            <a:r>
              <a:rPr lang="en-US" altLang="ru-RU" dirty="0"/>
              <a:t>…</a:t>
            </a:r>
            <a:r>
              <a:rPr lang="ru-RU" altLang="ru-RU" dirty="0"/>
              <a:t>Т</a:t>
            </a:r>
            <a:r>
              <a:rPr lang="en-US" altLang="ru-RU" baseline="-10000" dirty="0"/>
              <a:t>n</a:t>
            </a:r>
            <a:r>
              <a:rPr lang="ru-RU" altLang="ru-RU" i="1" dirty="0"/>
              <a:t> </a:t>
            </a:r>
            <a:r>
              <a:rPr lang="ru-RU" altLang="ru-RU" dirty="0"/>
              <a:t>- произвольные типы, а </a:t>
            </a:r>
            <a:r>
              <a:rPr lang="en-US" altLang="ru-RU" dirty="0"/>
              <a:t>F</a:t>
            </a:r>
            <a:r>
              <a:rPr lang="en-US" altLang="ru-RU" baseline="-25000" dirty="0"/>
              <a:t>1</a:t>
            </a:r>
            <a:r>
              <a:rPr lang="en-US" altLang="ru-RU" dirty="0"/>
              <a:t>, F</a:t>
            </a:r>
            <a:r>
              <a:rPr lang="en-US" altLang="ru-RU" baseline="-25000" dirty="0"/>
              <a:t>2</a:t>
            </a:r>
            <a:r>
              <a:rPr lang="en-US" altLang="ru-RU" dirty="0"/>
              <a:t>, …, </a:t>
            </a:r>
            <a:r>
              <a:rPr lang="en-US" altLang="ru-RU" dirty="0" err="1"/>
              <a:t>F</a:t>
            </a:r>
            <a:r>
              <a:rPr lang="en-US" altLang="ru-RU" baseline="-25000" dirty="0" err="1"/>
              <a:t>n</a:t>
            </a:r>
            <a:r>
              <a:rPr lang="ru-RU" altLang="ru-RU" dirty="0"/>
              <a:t> наименования полей; тогда выражение</a:t>
            </a:r>
          </a:p>
          <a:p>
            <a:pPr eaLnBrk="1" hangingPunct="1">
              <a:lnSpc>
                <a:spcPct val="90000"/>
              </a:lnSpc>
            </a:pPr>
            <a:r>
              <a:rPr lang="en-US" altLang="ru-RU" dirty="0"/>
              <a:t>Structure </a:t>
            </a:r>
            <a:r>
              <a:rPr lang="ru-RU" altLang="ru-RU" dirty="0"/>
              <a:t>N  </a:t>
            </a:r>
            <a:r>
              <a:rPr lang="en-US" altLang="ru-RU" dirty="0"/>
              <a:t>{T</a:t>
            </a:r>
            <a:r>
              <a:rPr lang="en-US" altLang="ru-RU" baseline="-25000" dirty="0"/>
              <a:t>i</a:t>
            </a:r>
            <a:r>
              <a:rPr lang="en-US" altLang="ru-RU" dirty="0"/>
              <a:t>  F</a:t>
            </a:r>
            <a:r>
              <a:rPr lang="en-US" altLang="ru-RU" baseline="-25000" dirty="0"/>
              <a:t>i</a:t>
            </a:r>
            <a:r>
              <a:rPr lang="ru-RU" altLang="ru-RU" baseline="-25000" dirty="0"/>
              <a:t> </a:t>
            </a:r>
            <a:r>
              <a:rPr lang="ru-RU" altLang="ru-RU" dirty="0"/>
              <a:t>,</a:t>
            </a:r>
            <a:r>
              <a:rPr lang="en-US" altLang="ru-RU" dirty="0"/>
              <a:t> </a:t>
            </a:r>
            <a:r>
              <a:rPr lang="ru-RU" altLang="ru-RU" dirty="0"/>
              <a:t>Т</a:t>
            </a:r>
            <a:r>
              <a:rPr lang="ru-RU" altLang="ru-RU" baseline="-25000" dirty="0"/>
              <a:t>2</a:t>
            </a:r>
            <a:r>
              <a:rPr lang="ru-RU" altLang="ru-RU" dirty="0"/>
              <a:t> </a:t>
            </a:r>
            <a:r>
              <a:rPr lang="en-US" altLang="ru-RU" dirty="0"/>
              <a:t>F</a:t>
            </a:r>
            <a:r>
              <a:rPr lang="en-US" altLang="ru-RU" baseline="-25000" dirty="0"/>
              <a:t>2</a:t>
            </a:r>
            <a:r>
              <a:rPr lang="en-US" altLang="ru-RU" dirty="0"/>
              <a:t>, … </a:t>
            </a:r>
            <a:r>
              <a:rPr lang="ru-RU" altLang="ru-RU" dirty="0"/>
              <a:t>Т</a:t>
            </a:r>
            <a:r>
              <a:rPr lang="en-US" altLang="ru-RU" sz="1400" baseline="-25000" dirty="0"/>
              <a:t>n</a:t>
            </a:r>
            <a:r>
              <a:rPr lang="ru-RU" altLang="ru-RU" dirty="0"/>
              <a:t> </a:t>
            </a:r>
            <a:r>
              <a:rPr lang="en-US" altLang="ru-RU" dirty="0" err="1"/>
              <a:t>F</a:t>
            </a:r>
            <a:r>
              <a:rPr lang="en-US" altLang="ru-RU" baseline="-25000" dirty="0" err="1"/>
              <a:t>n</a:t>
            </a:r>
            <a:r>
              <a:rPr lang="en-US" altLang="ru-RU" dirty="0"/>
              <a:t>} </a:t>
            </a:r>
            <a:r>
              <a:rPr lang="ru-RU" altLang="ru-RU" dirty="0"/>
              <a:t>представляет тип с именем </a:t>
            </a:r>
            <a:r>
              <a:rPr lang="en-US" altLang="ru-RU" dirty="0"/>
              <a:t>N, </a:t>
            </a:r>
            <a:r>
              <a:rPr lang="ru-RU" altLang="ru-RU" dirty="0"/>
              <a:t>элементами которого являются структуры, состоящие из </a:t>
            </a:r>
            <a:r>
              <a:rPr lang="ru-RU" altLang="ru-RU" i="1" dirty="0"/>
              <a:t>п </a:t>
            </a:r>
            <a:r>
              <a:rPr lang="ru-RU" altLang="ru-RU" dirty="0"/>
              <a:t>полей. Поле с номером </a:t>
            </a:r>
            <a:r>
              <a:rPr lang="en-US" altLang="ru-RU" i="1" dirty="0"/>
              <a:t>i</a:t>
            </a:r>
            <a:r>
              <a:rPr lang="ru-RU" altLang="ru-RU" dirty="0"/>
              <a:t> обозначается как </a:t>
            </a:r>
            <a:r>
              <a:rPr lang="en-US" altLang="ru-RU" i="1" dirty="0"/>
              <a:t>Fi </a:t>
            </a:r>
            <a:r>
              <a:rPr lang="ru-RU" altLang="ru-RU" dirty="0"/>
              <a:t>и относится к типу </a:t>
            </a:r>
            <a:r>
              <a:rPr lang="en-US" altLang="ru-RU" i="1" dirty="0"/>
              <a:t>T.</a:t>
            </a:r>
            <a:r>
              <a:rPr lang="ru-RU" altLang="ru-RU" i="1" dirty="0"/>
              <a:t> </a:t>
            </a:r>
            <a:r>
              <a:rPr lang="ru-RU" altLang="ru-RU" dirty="0"/>
              <a:t>Например, строка 10 рис. 4.3 (см. с. 157) содержит объявление структуры </a:t>
            </a:r>
            <a:r>
              <a:rPr lang="en-US" altLang="ru-RU" dirty="0" err="1"/>
              <a:t>Addr</a:t>
            </a:r>
            <a:r>
              <a:rPr lang="en-US" altLang="ru-RU" dirty="0"/>
              <a:t> </a:t>
            </a:r>
            <a:r>
              <a:rPr lang="ru-RU" altLang="ru-RU" dirty="0"/>
              <a:t>с двумя полями типа </a:t>
            </a:r>
            <a:r>
              <a:rPr lang="en-US" altLang="ru-RU" dirty="0"/>
              <a:t>string, </a:t>
            </a:r>
            <a:r>
              <a:rPr lang="ru-RU" altLang="ru-RU" dirty="0"/>
              <a:t>названными как </a:t>
            </a:r>
            <a:r>
              <a:rPr lang="en-US" altLang="ru-RU" dirty="0"/>
              <a:t>street </a:t>
            </a:r>
            <a:r>
              <a:rPr lang="ru-RU" altLang="ru-RU" dirty="0"/>
              <a:t>и </a:t>
            </a:r>
            <a:r>
              <a:rPr lang="en-US" altLang="ru-RU" dirty="0"/>
              <a:t>city.</a:t>
            </a:r>
            <a:endParaRPr lang="ru-RU" altLang="ru-RU" dirty="0"/>
          </a:p>
          <a:p>
            <a:pPr eaLnBrk="1" hangingPunct="1">
              <a:lnSpc>
                <a:spcPct val="90000"/>
              </a:lnSpc>
            </a:pPr>
            <a:r>
              <a:rPr lang="ru-RU" altLang="ru-RU" dirty="0"/>
              <a:t>Пять типов — </a:t>
            </a:r>
            <a:r>
              <a:rPr lang="en-US" altLang="ru-RU" dirty="0"/>
              <a:t>Set, Bag, List, Array </a:t>
            </a:r>
            <a:r>
              <a:rPr lang="ru-RU" altLang="ru-RU" dirty="0"/>
              <a:t>и </a:t>
            </a:r>
            <a:r>
              <a:rPr lang="en-US" altLang="ru-RU" dirty="0"/>
              <a:t>Dictionary </a:t>
            </a:r>
            <a:r>
              <a:rPr lang="ru-RU" altLang="ru-RU" dirty="0"/>
              <a:t>— называют </a:t>
            </a:r>
            <a:r>
              <a:rPr lang="ru-RU" altLang="ru-RU" i="1" dirty="0"/>
              <a:t>типами коллекций </a:t>
            </a:r>
            <a:r>
              <a:rPr lang="en-US" altLang="ru-RU" dirty="0"/>
              <a:t>(collection types). 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dirty="0"/>
              <a:t>Существует несколько правил относительно того, какие типы могут быть поставлены в соответствие атрибутам, а какие — связям.</a:t>
            </a:r>
          </a:p>
          <a:p>
            <a:pPr eaLnBrk="1" hangingPunct="1">
              <a:lnSpc>
                <a:spcPct val="90000"/>
              </a:lnSpc>
            </a:pPr>
            <a:endParaRPr lang="ru-RU" alt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5BC31-3AC4-430A-8BC4-E37EE96D5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912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AC431-707E-9144-8324-5E708DF1C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4D6A3-D30E-F3C0-D63E-4ECAA6E48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AB55B-43FA-0420-D328-6CF22D57B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ru-RU" alt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33B9A-122E-865C-17C4-702FB0B28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3681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1FD68-6BA5-7CC0-03B2-B958B2054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E4518-359D-D537-508C-9A4FAE10E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FD794E-05B2-30C0-5B1C-8FBDE435E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ru-RU" alt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8541C-232F-877F-BEC6-FD3F7886F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8816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5536C-1BF8-0EF3-1CEF-B1DED15A6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CE132-D5B0-A78B-DB75-11626CD90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4CE77-AC04-8104-85F4-EA9B99019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ru-RU" alt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6C4F5-8D19-EEB8-A2C1-7A67B8C42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8582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27344-9BB1-D0B3-B556-774C8366D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3BA1D-87D0-8899-3EF5-A7FF69C02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BD78C-334C-6C18-6132-C8C345DAE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b="1" dirty="0"/>
              <a:t>Язык объектных запросов</a:t>
            </a:r>
            <a:r>
              <a:rPr lang="ru-RU" altLang="ru-RU" dirty="0"/>
              <a:t> (OQL - Object </a:t>
            </a:r>
            <a:r>
              <a:rPr lang="ru-RU" altLang="ru-RU" dirty="0" err="1"/>
              <a:t>Query</a:t>
            </a:r>
            <a:r>
              <a:rPr lang="ru-RU" altLang="ru-RU" dirty="0"/>
              <a:t> Language) - SQL - подобный декларативный язык, который предоставляет эффективные средства для извлечения объектов из базы данных, включая высокоуровневые примитивы для наборов объектов и объектных структур. </a:t>
            </a:r>
          </a:p>
          <a:p>
            <a:pPr eaLnBrk="1" hangingPunct="1"/>
            <a:r>
              <a:rPr lang="ru-RU" altLang="ru-RU" dirty="0"/>
              <a:t>Синтаксис оператора SELECT, определенный SQL-92, является подмножеством OQL, это гарантирует, что SELECT-утверждения, выполняемые над реляционными таблицами, сохранят работоспособность и с наборами объектов ODMG.</a:t>
            </a:r>
          </a:p>
          <a:p>
            <a:pPr eaLnBrk="1" hangingPunct="1"/>
            <a:r>
              <a:rPr lang="ru-RU" altLang="ru-RU" dirty="0"/>
              <a:t> </a:t>
            </a:r>
          </a:p>
          <a:p>
            <a:pPr eaLnBrk="1" hangingPunct="1"/>
            <a:r>
              <a:rPr lang="ru-RU" altLang="ru-RU" dirty="0"/>
              <a:t>OQL-запросы могут вызываться из ОО-языка, точно также из OQL-запросов могут делаться обращения к процедурам, написанным на OO-языке. OQL предоставляет средства обеспечения целостности объектов (вызов объектных методов и использование собственных операторов изменения данных). </a:t>
            </a:r>
          </a:p>
          <a:p>
            <a:pPr eaLnBrk="1" hangingPunct="1"/>
            <a:r>
              <a:rPr lang="ru-RU" altLang="ru-RU" b="1" dirty="0"/>
              <a:t>Связывание с ОО-языками</a:t>
            </a:r>
            <a:r>
              <a:rPr lang="ru-RU" altLang="ru-RU" dirty="0"/>
              <a:t>. Стандарт связывания с C++, </a:t>
            </a:r>
            <a:r>
              <a:rPr lang="ru-RU" altLang="ru-RU" dirty="0" err="1"/>
              <a:t>Smalltalk</a:t>
            </a:r>
            <a:r>
              <a:rPr lang="ru-RU" altLang="ru-RU" dirty="0"/>
              <a:t> и Java определяет Object </a:t>
            </a:r>
            <a:r>
              <a:rPr lang="ru-RU" altLang="ru-RU" dirty="0" err="1"/>
              <a:t>Manipulation</a:t>
            </a:r>
            <a:r>
              <a:rPr lang="ru-RU" altLang="ru-RU" dirty="0"/>
              <a:t> Language (OML) - язык манипулирования объектами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C9EAE-B001-5AD2-E3D6-4D362DA7B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8489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84F65-D075-57F2-2950-DF38430C5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B06B1-9028-4153-72DD-EABD3AEEC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63D8B-0F08-A2C3-A866-A37803E7E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b="1" dirty="0"/>
              <a:t>Язык объектных запросов</a:t>
            </a:r>
            <a:r>
              <a:rPr lang="ru-RU" altLang="ru-RU" dirty="0"/>
              <a:t> (OQL - Object </a:t>
            </a:r>
            <a:r>
              <a:rPr lang="ru-RU" altLang="ru-RU" dirty="0" err="1"/>
              <a:t>Query</a:t>
            </a:r>
            <a:r>
              <a:rPr lang="ru-RU" altLang="ru-RU" dirty="0"/>
              <a:t> Language) - SQL - подобный декларативный язык, который предоставляет эффективные средства для извлечения объектов из базы данных, включая высокоуровневые примитивы для наборов объектов и объектных структур. </a:t>
            </a:r>
          </a:p>
          <a:p>
            <a:pPr eaLnBrk="1" hangingPunct="1"/>
            <a:r>
              <a:rPr lang="ru-RU" altLang="ru-RU" dirty="0"/>
              <a:t>Синтаксис оператора SELECT, определенный SQL-92, является подмножеством OQL, это гарантирует, что SELECT-утверждения, выполняемые над реляционными таблицами, сохранят работоспособность и с наборами объектов ODMG.</a:t>
            </a:r>
          </a:p>
          <a:p>
            <a:pPr eaLnBrk="1" hangingPunct="1"/>
            <a:r>
              <a:rPr lang="ru-RU" altLang="ru-RU" dirty="0"/>
              <a:t> </a:t>
            </a:r>
          </a:p>
          <a:p>
            <a:pPr eaLnBrk="1" hangingPunct="1"/>
            <a:r>
              <a:rPr lang="ru-RU" altLang="ru-RU" dirty="0"/>
              <a:t>OQL-запросы могут вызываться из ОО-языка, точно также из OQL-запросов могут делаться обращения к процедурам, написанным на OO-языке. OQL предоставляет средства обеспечения целостности объектов (вызов объектных методов и использование собственных операторов изменения данных). </a:t>
            </a:r>
          </a:p>
          <a:p>
            <a:pPr eaLnBrk="1" hangingPunct="1"/>
            <a:r>
              <a:rPr lang="ru-RU" altLang="ru-RU" b="1" dirty="0"/>
              <a:t>Связывание с ОО-языками</a:t>
            </a:r>
            <a:r>
              <a:rPr lang="ru-RU" altLang="ru-RU" dirty="0"/>
              <a:t>. Стандарт связывания с C++, </a:t>
            </a:r>
            <a:r>
              <a:rPr lang="ru-RU" altLang="ru-RU" dirty="0" err="1"/>
              <a:t>Smalltalk</a:t>
            </a:r>
            <a:r>
              <a:rPr lang="ru-RU" altLang="ru-RU" dirty="0"/>
              <a:t> и Java определяет Object </a:t>
            </a:r>
            <a:r>
              <a:rPr lang="ru-RU" altLang="ru-RU" dirty="0" err="1"/>
              <a:t>Manipulation</a:t>
            </a:r>
            <a:r>
              <a:rPr lang="ru-RU" altLang="ru-RU" dirty="0"/>
              <a:t> Language (OML) - язык манипулирования объектами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6FCF0-720C-7617-260F-359600B4E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1068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68B18-DEF4-2895-A4C3-2A630B83D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4D00BD-E0A6-68A7-E195-EFB6F941E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D1C8E-26C3-5F6F-479A-D4CEDB750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b="1" dirty="0"/>
              <a:t>Язык объектных запросов</a:t>
            </a:r>
            <a:r>
              <a:rPr lang="ru-RU" altLang="ru-RU" dirty="0"/>
              <a:t> (OQL - Object </a:t>
            </a:r>
            <a:r>
              <a:rPr lang="ru-RU" altLang="ru-RU" dirty="0" err="1"/>
              <a:t>Query</a:t>
            </a:r>
            <a:r>
              <a:rPr lang="ru-RU" altLang="ru-RU" dirty="0"/>
              <a:t> Language) - SQL - подобный декларативный язык, который предоставляет эффективные средства для извлечения объектов из базы данных, включая высокоуровневые примитивы для наборов объектов и объектных структур. </a:t>
            </a:r>
          </a:p>
          <a:p>
            <a:pPr eaLnBrk="1" hangingPunct="1"/>
            <a:r>
              <a:rPr lang="ru-RU" altLang="ru-RU" dirty="0"/>
              <a:t>Синтаксис оператора SELECT, определенный SQL-92, является подмножеством OQL, это гарантирует, что SELECT-утверждения, выполняемые над реляционными таблицами, сохранят работоспособность и с наборами объектов ODMG.</a:t>
            </a:r>
          </a:p>
          <a:p>
            <a:pPr eaLnBrk="1" hangingPunct="1"/>
            <a:r>
              <a:rPr lang="ru-RU" altLang="ru-RU" dirty="0"/>
              <a:t> </a:t>
            </a:r>
          </a:p>
          <a:p>
            <a:pPr eaLnBrk="1" hangingPunct="1"/>
            <a:r>
              <a:rPr lang="ru-RU" altLang="ru-RU" dirty="0"/>
              <a:t>OQL-запросы могут вызываться из ОО-языка, точно также из OQL-запросов могут делаться обращения к процедурам, написанным на OO-языке. OQL предоставляет средства обеспечения целостности объектов (вызов объектных методов и использование собственных операторов изменения данных). </a:t>
            </a:r>
          </a:p>
          <a:p>
            <a:pPr eaLnBrk="1" hangingPunct="1"/>
            <a:r>
              <a:rPr lang="ru-RU" altLang="ru-RU" b="1" dirty="0"/>
              <a:t>Связывание с ОО-языками</a:t>
            </a:r>
            <a:r>
              <a:rPr lang="ru-RU" altLang="ru-RU" dirty="0"/>
              <a:t>. Стандарт связывания с C++, </a:t>
            </a:r>
            <a:r>
              <a:rPr lang="ru-RU" altLang="ru-RU" dirty="0" err="1"/>
              <a:t>Smalltalk</a:t>
            </a:r>
            <a:r>
              <a:rPr lang="ru-RU" altLang="ru-RU" dirty="0"/>
              <a:t> и Java определяет Object </a:t>
            </a:r>
            <a:r>
              <a:rPr lang="ru-RU" altLang="ru-RU" dirty="0" err="1"/>
              <a:t>Manipulation</a:t>
            </a:r>
            <a:r>
              <a:rPr lang="ru-RU" altLang="ru-RU" dirty="0"/>
              <a:t> Language (OML) - язык манипулирования объектами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C0344-7781-DB17-99BC-B79E06AF0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56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F31863B-D2C1-455A-9EA1-E26FFC62CD1F}" type="datetime1">
              <a:rPr lang="ru-RU" smtClean="0"/>
              <a:t>03.03.2025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77501038-3FD5-4508-A3B2-A3E2BAE5DE49}" type="datetime1">
              <a:rPr lang="ru-RU" smtClean="0"/>
              <a:t>03.03.2025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8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06694701-841A-4648-9226-979284EF9C69}" type="datetime1">
              <a:rPr lang="ru-RU" smtClean="0"/>
              <a:t>03.03.2025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33F0968-48E1-48DF-98AF-E00A7EFE6F72}" type="datetime1">
              <a:rPr lang="ru-RU" smtClean="0"/>
              <a:t>03.03.2025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72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2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7609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1.xml"/><Relationship Id="rId7" Type="http://schemas.microsoft.com/office/2007/relationships/hdphoto" Target="../media/hdphoto3.wdp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14.jpeg"/><Relationship Id="rId10" Type="http://schemas.openxmlformats.org/officeDocument/2006/relationships/image" Target="../media/image17.png"/><Relationship Id="rId4" Type="http://schemas.openxmlformats.org/officeDocument/2006/relationships/theme" Target="../theme/theme2.xml"/><Relationship Id="rId9" Type="http://schemas.microsoft.com/office/2007/relationships/hdphoto" Target="../media/hdphoto4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0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9037-CC8E-4534-B7F6-0A122AB3349B}" type="datetime1">
              <a:rPr lang="ru-RU" smtClean="0"/>
              <a:t>03.03.2025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4" r:id="rId3"/>
    <p:sldLayoutId id="2147483683" r:id="rId4"/>
    <p:sldLayoutId id="2147483680" r:id="rId5"/>
    <p:sldLayoutId id="2147483687" r:id="rId6"/>
    <p:sldLayoutId id="2147483688" r:id="rId7"/>
    <p:sldLayoutId id="2147483689" r:id="rId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 cap="all" baseline="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  <p:sldLayoutId id="214748369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citforum.ru/database/classics/oo_manifesto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osp.ru/dbms/1996/01/13031463" TargetMode="External"/><Relationship Id="rId4" Type="http://schemas.openxmlformats.org/officeDocument/2006/relationships/hyperlink" Target="https://intuit.ru/studies/courses/571/427/lecture/9705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4362" y="3147814"/>
            <a:ext cx="4332104" cy="1728193"/>
          </a:xfrm>
        </p:spPr>
        <p:txBody>
          <a:bodyPr>
            <a:normAutofit/>
          </a:bodyPr>
          <a:lstStyle/>
          <a:p>
            <a:r>
              <a:rPr lang="ru-RU" altLang="ru-RU" dirty="0"/>
              <a:t>объектная модель</a:t>
            </a:r>
            <a:r>
              <a:rPr lang="en-US" altLang="ru-RU" dirty="0"/>
              <a:t> </a:t>
            </a:r>
            <a:r>
              <a:rPr lang="ru-RU" altLang="ru-RU" dirty="0"/>
              <a:t>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26515-82F9-BFED-C2A0-1967B2EA7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8397626" cy="2305050"/>
          </a:xfrm>
        </p:spPr>
        <p:txBody>
          <a:bodyPr/>
          <a:lstStyle/>
          <a:p>
            <a:r>
              <a:rPr lang="ru-RU" altLang="ru-RU" sz="2000" b="1" dirty="0"/>
              <a:t>Г. Гарсия –Молина, Дж. Ульман, Дж. </a:t>
            </a:r>
            <a:r>
              <a:rPr lang="ru-RU" altLang="ru-RU" sz="2000" b="1" dirty="0" err="1"/>
              <a:t>Уидом</a:t>
            </a:r>
            <a:r>
              <a:rPr lang="ru-RU" altLang="ru-RU" sz="2000" b="1" dirty="0"/>
              <a:t> Системы баз данных. </a:t>
            </a:r>
            <a:r>
              <a:rPr lang="ru-RU" altLang="ru-RU" sz="2000" b="1" dirty="0">
                <a:solidFill>
                  <a:schemeClr val="tx1"/>
                </a:solidFill>
                <a:highlight>
                  <a:srgbClr val="C1F3FF"/>
                </a:highlight>
              </a:rPr>
              <a:t>Глава 4</a:t>
            </a:r>
          </a:p>
          <a:p>
            <a:pPr eaLnBrk="1" hangingPunct="1"/>
            <a:endParaRPr lang="ru-RU"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118199-88F4-C870-1F8E-8EA926A2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4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9AEFFB-0F83-E5E8-CCAB-D6B1B0B33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419DD-B1BA-C731-7F3B-BF3D6582A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929596"/>
          </a:xfrm>
        </p:spPr>
        <p:txBody>
          <a:bodyPr numCol="2">
            <a:normAutofit fontScale="92500"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ru-RU" altLang="ru-RU" sz="1400" dirty="0"/>
              <a:t>Практически безраздельная монополия реляционных систем баз данных в 80-е гг. 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ru-RU" altLang="ru-RU" sz="1400" dirty="0"/>
              <a:t>Распространенность ООП и ООЯП после 1983г. – опубликование языка С++ и появление систем программирования, реализующих язык. Необходимость в обеспечении эффективной </a:t>
            </a:r>
            <a:r>
              <a:rPr lang="ru-RU" altLang="ru-RU" sz="1400" i="1" dirty="0"/>
              <a:t>среды хранения объектных данных</a:t>
            </a:r>
            <a:r>
              <a:rPr lang="ru-RU" altLang="ru-RU" sz="1400" dirty="0"/>
              <a:t> для поддержки многочисленных прикладных программных систем, реализованных средствами объектных языков. 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ru-RU" altLang="ru-RU" sz="1400" dirty="0"/>
              <a:t>Ограниченность типов данных реляционной модели данных для нетрадиционных для того времени приложений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ru-RU" altLang="ru-RU" sz="1400" dirty="0"/>
              <a:t>Несоответствие типов данных ООЯП и типов данных СУБД (реляционной модели)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ru-RU" altLang="ru-RU" sz="1400" dirty="0"/>
              <a:t>Манифест объектно-ориентированных баз данных (с чистого листа) 1989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ru-RU" altLang="ru-RU" sz="1400" dirty="0"/>
              <a:t>Манифест систем баз данных третьего поколения (преемственность) 1990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9FFE9-27B4-1434-7CBC-9EE1CC414D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Предпосылки ООБД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4DDAFA-371C-EADF-F048-CDF673DE1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Объектная модель</a:t>
            </a:r>
            <a:r>
              <a:rPr lang="en-US" altLang="ru-RU" dirty="0"/>
              <a:t> </a:t>
            </a:r>
            <a:r>
              <a:rPr lang="ru-RU" altLang="ru-RU" dirty="0"/>
              <a:t>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827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675F9-6AC7-EAB2-E11D-61CFC3E75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92143E-5C0A-C128-5AC6-371C9718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D842F-B541-E191-8B31-2EB2285AA7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2">
            <a:normAutofit fontScale="40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sz="3600" dirty="0">
                <a:latin typeface="+mn-lt"/>
              </a:rPr>
              <a:t>Применение объектной модели предпочтительнее для баз данных с большим количеством сложных связей: перекрестных ссылок, ссылок, связывающих несколько объектов с несколькими (</a:t>
            </a:r>
            <a:r>
              <a:rPr lang="ru-RU" sz="3600" dirty="0" err="1">
                <a:latin typeface="+mn-lt"/>
              </a:rPr>
              <a:t>many-to-many</a:t>
            </a:r>
            <a:r>
              <a:rPr lang="ru-RU" sz="3600" dirty="0">
                <a:latin typeface="+mn-lt"/>
              </a:rPr>
              <a:t> </a:t>
            </a:r>
            <a:r>
              <a:rPr lang="ru-RU" sz="3600" dirty="0" err="1">
                <a:latin typeface="+mn-lt"/>
              </a:rPr>
              <a:t>relationships</a:t>
            </a:r>
            <a:r>
              <a:rPr lang="ru-RU" sz="3600" dirty="0">
                <a:latin typeface="+mn-lt"/>
              </a:rPr>
              <a:t>) двунаправленными ссылками</a:t>
            </a:r>
          </a:p>
          <a:p>
            <a:pPr>
              <a:lnSpc>
                <a:spcPct val="120000"/>
              </a:lnSpc>
              <a:defRPr/>
            </a:pPr>
            <a:r>
              <a:rPr lang="ru-RU" sz="3600" dirty="0">
                <a:latin typeface="+mn-lt"/>
              </a:rPr>
              <a:t>В отличие от реляционной модели, в ООБД хранятся не записи, а объекты. ОО-подход представляет более развитые средства для отображения реального мира, чем реляционная модель</a:t>
            </a:r>
          </a:p>
          <a:p>
            <a:pPr>
              <a:lnSpc>
                <a:spcPct val="120000"/>
              </a:lnSpc>
              <a:defRPr/>
            </a:pPr>
            <a:r>
              <a:rPr lang="ru-RU" sz="3600" kern="1200" dirty="0">
                <a:latin typeface="+mn-lt"/>
                <a:cs typeface="Arial" charset="0"/>
              </a:rPr>
              <a:t>В реляционной модели все отношения принадлежат одному уровню. </a:t>
            </a:r>
            <a:r>
              <a:rPr lang="ru-RU" sz="3600" dirty="0">
                <a:latin typeface="+mn-lt"/>
              </a:rPr>
              <a:t>ОО-модель можно рассматривать послойно, на разных уровнях абстракции.</a:t>
            </a:r>
          </a:p>
          <a:p>
            <a:pPr>
              <a:lnSpc>
                <a:spcPct val="120000"/>
              </a:lnSpc>
              <a:defRPr/>
            </a:pPr>
            <a:r>
              <a:rPr lang="ru-RU" sz="3600" dirty="0">
                <a:latin typeface="+mn-lt"/>
              </a:rPr>
              <a:t>Имеется возможность определения новых типов данных и операций с ними.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CF39C-1FE1-21F4-4162-3D44AEF27C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solidFill>
                  <a:schemeClr val="accent5">
                    <a:lumMod val="25000"/>
                  </a:schemeClr>
                </a:solidFill>
              </a:rPr>
              <a:t>Преимущества</a:t>
            </a:r>
            <a:r>
              <a:rPr lang="ru-RU" altLang="ru-RU" dirty="0">
                <a:solidFill>
                  <a:schemeClr val="bg2"/>
                </a:solidFill>
              </a:rPr>
              <a:t> </a:t>
            </a:r>
            <a:r>
              <a:rPr lang="ru-RU" altLang="ru-RU" dirty="0">
                <a:solidFill>
                  <a:schemeClr val="accent5">
                    <a:lumMod val="25000"/>
                  </a:schemeClr>
                </a:solidFill>
              </a:rPr>
              <a:t>ООБД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7FB45A-B8A4-B3C4-635E-597FE04E6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939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1557D-435E-5B92-CBC7-E05119B5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08DEE7-6D37-C2C8-BDA5-131C2861B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3809A-C927-F579-EAC3-CDA0889E52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solidFill>
                  <a:schemeClr val="accent5">
                    <a:lumMod val="25000"/>
                  </a:schemeClr>
                </a:solidFill>
              </a:rPr>
              <a:t>Преимущества</a:t>
            </a:r>
            <a:r>
              <a:rPr lang="ru-RU" altLang="ru-RU" dirty="0">
                <a:solidFill>
                  <a:schemeClr val="bg2"/>
                </a:solidFill>
              </a:rPr>
              <a:t> </a:t>
            </a:r>
            <a:r>
              <a:rPr lang="ru-RU" altLang="ru-RU" dirty="0">
                <a:solidFill>
                  <a:schemeClr val="accent5">
                    <a:lumMod val="25000"/>
                  </a:schemeClr>
                </a:solidFill>
              </a:rPr>
              <a:t>ООБД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A046AD-F457-25B1-5027-2942C0113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CF8DEB-07DF-E175-B12D-8164FEDA84DF}"/>
              </a:ext>
            </a:extLst>
          </p:cNvPr>
          <p:cNvSpPr/>
          <p:nvPr/>
        </p:nvSpPr>
        <p:spPr>
          <a:xfrm>
            <a:off x="3239853" y="3025094"/>
            <a:ext cx="936104" cy="3831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ООП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0EFC3C-C79B-9FDB-E6A7-D27640752FEB}"/>
              </a:ext>
            </a:extLst>
          </p:cNvPr>
          <p:cNvSpPr/>
          <p:nvPr/>
        </p:nvSpPr>
        <p:spPr>
          <a:xfrm>
            <a:off x="4968045" y="3025093"/>
            <a:ext cx="936104" cy="3831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СУБД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EE2411-AAE2-08DD-DE47-EEA7F8914F53}"/>
              </a:ext>
            </a:extLst>
          </p:cNvPr>
          <p:cNvSpPr txBox="1"/>
          <p:nvPr/>
        </p:nvSpPr>
        <p:spPr>
          <a:xfrm>
            <a:off x="302035" y="2637599"/>
            <a:ext cx="1923924" cy="369332"/>
          </a:xfrm>
          <a:prstGeom prst="accentCallout1">
            <a:avLst>
              <a:gd name="adj1" fmla="val 54762"/>
              <a:gd name="adj2" fmla="val 101730"/>
              <a:gd name="adj3" fmla="val 130507"/>
              <a:gd name="adj4" fmla="val 14694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наследование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7CBB2-9C93-AE0D-CFB5-D6105FDE2552}"/>
              </a:ext>
            </a:extLst>
          </p:cNvPr>
          <p:cNvSpPr txBox="1"/>
          <p:nvPr/>
        </p:nvSpPr>
        <p:spPr>
          <a:xfrm>
            <a:off x="302035" y="3426917"/>
            <a:ext cx="1898276" cy="369332"/>
          </a:xfrm>
          <a:prstGeom prst="accentCallout1">
            <a:avLst>
              <a:gd name="adj1" fmla="val 45759"/>
              <a:gd name="adj2" fmla="val 102162"/>
              <a:gd name="adj3" fmla="val -27046"/>
              <a:gd name="adj4" fmla="val 14886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инкапсуляция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F0CB3B-054A-4F7D-92B8-9B8258E4A0E3}"/>
              </a:ext>
            </a:extLst>
          </p:cNvPr>
          <p:cNvSpPr txBox="1"/>
          <p:nvPr/>
        </p:nvSpPr>
        <p:spPr>
          <a:xfrm>
            <a:off x="302035" y="1848281"/>
            <a:ext cx="2874505" cy="369332"/>
          </a:xfrm>
          <a:prstGeom prst="accentCallout1">
            <a:avLst>
              <a:gd name="adj1" fmla="val 52512"/>
              <a:gd name="adj2" fmla="val 101584"/>
              <a:gd name="adj3" fmla="val 285808"/>
              <a:gd name="adj4" fmla="val 11909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идентифицируемость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57C95E-B4A1-52D1-E45C-8C9FE40B828B}"/>
              </a:ext>
            </a:extLst>
          </p:cNvPr>
          <p:cNvSpPr txBox="1"/>
          <p:nvPr/>
        </p:nvSpPr>
        <p:spPr>
          <a:xfrm>
            <a:off x="302035" y="4216236"/>
            <a:ext cx="1906291" cy="369332"/>
          </a:xfrm>
          <a:prstGeom prst="accentCallout1">
            <a:avLst>
              <a:gd name="adj1" fmla="val 43508"/>
              <a:gd name="adj2" fmla="val 101290"/>
              <a:gd name="adj3" fmla="val -173344"/>
              <a:gd name="adj4" fmla="val 15665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полиморфизм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E3DFA0-B2F7-33F3-6B1B-BF62A19FB8E3}"/>
              </a:ext>
            </a:extLst>
          </p:cNvPr>
          <p:cNvSpPr txBox="1"/>
          <p:nvPr/>
        </p:nvSpPr>
        <p:spPr>
          <a:xfrm>
            <a:off x="5148064" y="1478949"/>
            <a:ext cx="1697901" cy="369332"/>
          </a:xfrm>
          <a:prstGeom prst="accentCallout1">
            <a:avLst>
              <a:gd name="adj1" fmla="val 52419"/>
              <a:gd name="adj2" fmla="val -340"/>
              <a:gd name="adj3" fmla="val 381002"/>
              <a:gd name="adj4" fmla="val -6079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целостность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027379-A2D1-4BCB-8947-4A3586432F6C}"/>
              </a:ext>
            </a:extLst>
          </p:cNvPr>
          <p:cNvSpPr txBox="1"/>
          <p:nvPr/>
        </p:nvSpPr>
        <p:spPr>
          <a:xfrm>
            <a:off x="6981363" y="1476637"/>
            <a:ext cx="1871026" cy="369332"/>
          </a:xfrm>
          <a:prstGeom prst="accentCallout1">
            <a:avLst>
              <a:gd name="adj1" fmla="val 52419"/>
              <a:gd name="adj2" fmla="val -340"/>
              <a:gd name="adj3" fmla="val 392631"/>
              <a:gd name="adj4" fmla="val -90949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безопасность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9B0B18-0140-F704-1DC6-44D4B83B8E12}"/>
              </a:ext>
            </a:extLst>
          </p:cNvPr>
          <p:cNvSpPr txBox="1"/>
          <p:nvPr/>
        </p:nvSpPr>
        <p:spPr>
          <a:xfrm>
            <a:off x="6910811" y="1969648"/>
            <a:ext cx="1879041" cy="369332"/>
          </a:xfrm>
          <a:prstGeom prst="accentCallout1">
            <a:avLst>
              <a:gd name="adj1" fmla="val 52419"/>
              <a:gd name="adj2" fmla="val -340"/>
              <a:gd name="adj3" fmla="val 222825"/>
              <a:gd name="adj4" fmla="val -48082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версионность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5B62CE-9A45-49BA-1274-93C616FA6407}"/>
              </a:ext>
            </a:extLst>
          </p:cNvPr>
          <p:cNvSpPr txBox="1"/>
          <p:nvPr/>
        </p:nvSpPr>
        <p:spPr>
          <a:xfrm>
            <a:off x="6770139" y="2437638"/>
            <a:ext cx="1757212" cy="369332"/>
          </a:xfrm>
          <a:prstGeom prst="accentCallout1">
            <a:avLst>
              <a:gd name="adj1" fmla="val 52419"/>
              <a:gd name="adj2" fmla="val -340"/>
              <a:gd name="adj3" fmla="val 129825"/>
              <a:gd name="adj4" fmla="val -36306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атомарность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13F27D-A773-FFBB-35EF-D227218BD94F}"/>
              </a:ext>
            </a:extLst>
          </p:cNvPr>
          <p:cNvSpPr txBox="1"/>
          <p:nvPr/>
        </p:nvSpPr>
        <p:spPr>
          <a:xfrm>
            <a:off x="5178188" y="4414942"/>
            <a:ext cx="2454518" cy="369332"/>
          </a:xfrm>
          <a:prstGeom prst="accentCallout1">
            <a:avLst>
              <a:gd name="adj1" fmla="val 52419"/>
              <a:gd name="adj2" fmla="val -340"/>
              <a:gd name="adj3" fmla="val -232546"/>
              <a:gd name="adj4" fmla="val -414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долговременность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F310FF-7F69-89AD-0216-BC85689F9263}"/>
              </a:ext>
            </a:extLst>
          </p:cNvPr>
          <p:cNvSpPr txBox="1"/>
          <p:nvPr/>
        </p:nvSpPr>
        <p:spPr>
          <a:xfrm>
            <a:off x="5525360" y="4037088"/>
            <a:ext cx="2871299" cy="369332"/>
          </a:xfrm>
          <a:prstGeom prst="accentCallout1">
            <a:avLst>
              <a:gd name="adj1" fmla="val 52419"/>
              <a:gd name="adj2" fmla="val -340"/>
              <a:gd name="adj3" fmla="val -99751"/>
              <a:gd name="adj4" fmla="val -1131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устойчивость к сбоям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501CB5-3466-4A9E-456C-2EBF241BF733}"/>
              </a:ext>
            </a:extLst>
          </p:cNvPr>
          <p:cNvSpPr txBox="1"/>
          <p:nvPr/>
        </p:nvSpPr>
        <p:spPr>
          <a:xfrm>
            <a:off x="6265029" y="3659234"/>
            <a:ext cx="2089033" cy="369332"/>
          </a:xfrm>
          <a:prstGeom prst="accentCallout1">
            <a:avLst>
              <a:gd name="adj1" fmla="val 52419"/>
              <a:gd name="adj2" fmla="val -340"/>
              <a:gd name="adj3" fmla="val -14223"/>
              <a:gd name="adj4" fmla="val -33878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архивирование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3848F2-ACBF-0740-94DC-BB2FDDAC7324}"/>
              </a:ext>
            </a:extLst>
          </p:cNvPr>
          <p:cNvSpPr txBox="1"/>
          <p:nvPr/>
        </p:nvSpPr>
        <p:spPr>
          <a:xfrm>
            <a:off x="6770139" y="2886771"/>
            <a:ext cx="1226618" cy="369332"/>
          </a:xfrm>
          <a:prstGeom prst="borderCallout1">
            <a:avLst>
              <a:gd name="adj1" fmla="val 43508"/>
              <a:gd name="adj2" fmla="val -1255"/>
              <a:gd name="adj3" fmla="val 69735"/>
              <a:gd name="adj4" fmla="val -63756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запросы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F99196-1E6B-4160-B578-54F319AA04C6}"/>
              </a:ext>
            </a:extLst>
          </p:cNvPr>
          <p:cNvSpPr txBox="1"/>
          <p:nvPr/>
        </p:nvSpPr>
        <p:spPr>
          <a:xfrm>
            <a:off x="6405360" y="3264625"/>
            <a:ext cx="1795684" cy="369332"/>
          </a:xfrm>
          <a:prstGeom prst="accentCallout1">
            <a:avLst>
              <a:gd name="adj1" fmla="val 52419"/>
              <a:gd name="adj2" fmla="val -340"/>
              <a:gd name="adj3" fmla="val -14223"/>
              <a:gd name="adj4" fmla="val -33878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параллелизм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Cross 23">
            <a:extLst>
              <a:ext uri="{FF2B5EF4-FFF2-40B4-BE49-F238E27FC236}">
                <a16:creationId xmlns:a16="http://schemas.microsoft.com/office/drawing/2014/main" id="{A3487A4A-B180-0841-A571-CECB491DBEDD}"/>
              </a:ext>
            </a:extLst>
          </p:cNvPr>
          <p:cNvSpPr/>
          <p:nvPr/>
        </p:nvSpPr>
        <p:spPr>
          <a:xfrm>
            <a:off x="4461168" y="3108677"/>
            <a:ext cx="216000" cy="216000"/>
          </a:xfrm>
          <a:prstGeom prst="plus">
            <a:avLst>
              <a:gd name="adj" fmla="val 41128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734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42032-4B62-7FCB-AF70-3488B7F89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BDAAE4-A97E-6437-8DEB-E2CA0206F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BBB5B-22E4-2B19-4C32-59CBEF2B0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253611" cy="2785579"/>
          </a:xfrm>
        </p:spPr>
        <p:txBody>
          <a:bodyPr numCol="1">
            <a:normAutofit fontScale="25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sz="4800" dirty="0"/>
              <a:t>отсутствуют мощные непроцедурные средства извлечения объектов из базы. Все запросы пишутся на процедурных языках, проблема их оптимизации возлагается на программиста.</a:t>
            </a:r>
          </a:p>
          <a:p>
            <a:pPr>
              <a:lnSpc>
                <a:spcPct val="120000"/>
              </a:lnSpc>
              <a:defRPr/>
            </a:pPr>
            <a:r>
              <a:rPr lang="ru-RU" sz="4800" dirty="0"/>
              <a:t>вместо декларативных ограничений целостности (типа явного объявления первичных и внешних ключей реляционных таблиц (PRIMARY KEY и REFERENCES) или полу-декларативных триггеров для обеспечения внутренней целостности приходится </a:t>
            </a:r>
            <a:r>
              <a:rPr lang="ru-RU" sz="4800" b="1" dirty="0"/>
              <a:t>писать процедурный код</a:t>
            </a:r>
            <a:r>
              <a:rPr lang="ru-RU" sz="4800" dirty="0"/>
              <a:t>.</a:t>
            </a:r>
          </a:p>
          <a:p>
            <a:pPr indent="0">
              <a:lnSpc>
                <a:spcPct val="120000"/>
              </a:lnSpc>
              <a:buNone/>
              <a:defRPr/>
            </a:pPr>
            <a:r>
              <a:rPr lang="ru-RU" sz="4800" b="1" dirty="0"/>
              <a:t>Очевидно, что оба эти недостатка связаны с отсутствием развитых средств манипулирования данными. </a:t>
            </a:r>
          </a:p>
          <a:p>
            <a:pPr>
              <a:lnSpc>
                <a:spcPct val="120000"/>
              </a:lnSpc>
              <a:buNone/>
              <a:defRPr/>
            </a:pPr>
            <a:r>
              <a:rPr lang="ru-RU" sz="4800" b="1" dirty="0"/>
              <a:t>Эта проблема решается двумя способами</a:t>
            </a:r>
          </a:p>
          <a:p>
            <a:pPr>
              <a:lnSpc>
                <a:spcPct val="120000"/>
              </a:lnSpc>
              <a:defRPr/>
            </a:pPr>
            <a:r>
              <a:rPr lang="ru-RU" sz="4800" dirty="0"/>
              <a:t>Расширение ОО-языков в сторону управления данными (стандарт ODMG)</a:t>
            </a:r>
          </a:p>
          <a:p>
            <a:pPr>
              <a:lnSpc>
                <a:spcPct val="120000"/>
              </a:lnSpc>
              <a:defRPr/>
            </a:pPr>
            <a:r>
              <a:rPr lang="ru-RU" sz="4800" dirty="0"/>
              <a:t>Добавление объектных свойств в реляционные СУБД (SQL-3, а также так называемые объектно-реляционных СУБД).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33E79-0282-3C3F-1F63-D74D34D047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Недостатки ООБД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6B23FA-C1A0-EC75-31E1-96FEAC831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47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5798A0-1C2C-8FD9-E57D-0486D4F91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E406E-9250-6A46-DD82-507DCA21A8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>
            <a:normAutofit fontScale="47500" lnSpcReduction="20000"/>
          </a:bodyPr>
          <a:lstStyle/>
          <a:p>
            <a:pPr marL="177800" indent="-177800" eaLnBrk="1" hangingPunct="1">
              <a:lnSpc>
                <a:spcPct val="120000"/>
              </a:lnSpc>
              <a:spcBef>
                <a:spcPts val="300"/>
              </a:spcBef>
              <a:defRPr/>
            </a:pPr>
            <a:r>
              <a:rPr lang="en-US" altLang="ru-RU" sz="2400" dirty="0"/>
              <a:t>ODMG </a:t>
            </a:r>
            <a:r>
              <a:rPr lang="ru-RU" sz="2400" kern="1200" dirty="0"/>
              <a:t>объединил всех ведущих поставщиков объектных СУБД  с целью </a:t>
            </a:r>
            <a:r>
              <a:rPr lang="ru-RU" altLang="ru-RU" sz="2400" dirty="0"/>
              <a:t>разработки стандартов ОСУБД </a:t>
            </a:r>
            <a:r>
              <a:rPr lang="en-US" altLang="ru-RU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ru-RU" altLang="ru-RU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июнь 1991)</a:t>
            </a:r>
          </a:p>
          <a:p>
            <a:pPr marL="177800" indent="-177800" eaLnBrk="1" hangingPunct="1">
              <a:lnSpc>
                <a:spcPct val="120000"/>
              </a:lnSpc>
              <a:spcBef>
                <a:spcPts val="300"/>
              </a:spcBef>
              <a:defRPr/>
            </a:pPr>
            <a:r>
              <a:rPr lang="ru-RU" altLang="ru-RU" sz="2400" dirty="0"/>
              <a:t>Исходная платформа разработки своего стандарта:</a:t>
            </a:r>
          </a:p>
          <a:p>
            <a:pPr marL="361950" lvl="1" indent="-184150" eaLnBrk="1" hangingPunct="1">
              <a:lnSpc>
                <a:spcPct val="120000"/>
              </a:lnSpc>
              <a:spcBef>
                <a:spcPts val="300"/>
              </a:spcBef>
              <a:defRPr/>
            </a:pPr>
            <a:r>
              <a:rPr lang="ru-RU" altLang="ru-RU" sz="2000" dirty="0">
                <a:hlinkClick r:id="rId3"/>
              </a:rPr>
              <a:t>Манифест объектно-ориентированных баз данных</a:t>
            </a:r>
            <a:endParaRPr lang="ru-RU" altLang="ru-RU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61950" lvl="1" indent="-184150" eaLnBrk="1" hangingPunct="1">
              <a:lnSpc>
                <a:spcPct val="120000"/>
              </a:lnSpc>
              <a:spcBef>
                <a:spcPts val="300"/>
              </a:spcBef>
              <a:defRPr/>
            </a:pPr>
            <a:r>
              <a:rPr lang="ru-RU" altLang="ru-RU" sz="2000" dirty="0">
                <a:latin typeface="+mn-lt"/>
              </a:rPr>
              <a:t>Объектная модель и язык определения интерфейсов стандарта </a:t>
            </a:r>
            <a:r>
              <a:rPr lang="en-US" sz="2000" kern="1200" dirty="0">
                <a:latin typeface="+mn-lt"/>
                <a:cs typeface="Arial" charset="0"/>
                <a:hlinkClick r:id="rId4"/>
              </a:rPr>
              <a:t>OMG </a:t>
            </a:r>
            <a:r>
              <a:rPr lang="en-US" altLang="ru-RU" sz="2000" dirty="0">
                <a:latin typeface="+mn-lt"/>
                <a:hlinkClick r:id="rId4"/>
              </a:rPr>
              <a:t>CORBA</a:t>
            </a:r>
            <a:endParaRPr lang="en-US" altLang="ru-RU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61950" lvl="1" indent="-184150" eaLnBrk="1" hangingPunct="1">
              <a:lnSpc>
                <a:spcPct val="120000"/>
              </a:lnSpc>
              <a:spcBef>
                <a:spcPts val="300"/>
              </a:spcBef>
              <a:defRPr/>
            </a:pPr>
            <a:r>
              <a:rPr lang="ru-RU" altLang="ru-RU" sz="2000" dirty="0"/>
              <a:t>Проект стандарта </a:t>
            </a:r>
            <a:r>
              <a:rPr lang="en-US" altLang="ru-RU" sz="2000" dirty="0"/>
              <a:t>SQL-92</a:t>
            </a:r>
            <a:endParaRPr lang="ru-RU" altLang="ru-RU" sz="2000" dirty="0"/>
          </a:p>
          <a:p>
            <a:pPr marL="177800" indent="-177800" eaLnBrk="1" hangingPunct="1">
              <a:lnSpc>
                <a:spcPct val="120000"/>
              </a:lnSpc>
              <a:spcBef>
                <a:spcPts val="300"/>
              </a:spcBef>
              <a:defRPr/>
            </a:pPr>
            <a:r>
              <a:rPr lang="ru-RU" altLang="ru-RU" sz="2400" dirty="0"/>
              <a:t>Задача</a:t>
            </a:r>
            <a:r>
              <a:rPr lang="en-US" altLang="ru-RU" sz="2400" dirty="0"/>
              <a:t> </a:t>
            </a:r>
            <a:r>
              <a:rPr lang="ru-RU" altLang="ru-RU" sz="2400" dirty="0"/>
              <a:t>стандарта: переносимость приложений между различными ОСУБД, согласование с архитектурой </a:t>
            </a:r>
            <a:r>
              <a:rPr lang="en-US" altLang="ru-RU" sz="2400" dirty="0"/>
              <a:t>CORBA</a:t>
            </a:r>
            <a:endParaRPr lang="ru-RU" altLang="ru-RU" sz="2400" dirty="0"/>
          </a:p>
          <a:p>
            <a:pPr marL="177800" indent="-177800" eaLnBrk="1" hangingPunct="1">
              <a:lnSpc>
                <a:spcPct val="120000"/>
              </a:lnSpc>
              <a:spcBef>
                <a:spcPts val="300"/>
              </a:spcBef>
              <a:defRPr/>
            </a:pPr>
            <a:endParaRPr lang="ru-RU" altLang="ru-RU" sz="2400" dirty="0"/>
          </a:p>
          <a:p>
            <a:pPr marL="177800" indent="-177800" eaLnBrk="1" hangingPunct="1">
              <a:lnSpc>
                <a:spcPct val="120000"/>
              </a:lnSpc>
              <a:spcBef>
                <a:spcPts val="300"/>
              </a:spcBef>
              <a:defRPr/>
            </a:pPr>
            <a:endParaRPr lang="ru-RU" altLang="ru-RU" sz="2400" dirty="0"/>
          </a:p>
          <a:p>
            <a:pPr marL="177800" indent="-177800" eaLnBrk="1" hangingPunct="1">
              <a:lnSpc>
                <a:spcPct val="120000"/>
              </a:lnSpc>
              <a:spcBef>
                <a:spcPts val="300"/>
              </a:spcBef>
              <a:defRPr/>
            </a:pPr>
            <a:endParaRPr lang="ru-RU" altLang="ru-RU" sz="2400" dirty="0"/>
          </a:p>
          <a:p>
            <a:pPr marL="177800" indent="-177800" eaLnBrk="1" hangingPunct="1">
              <a:lnSpc>
                <a:spcPct val="120000"/>
              </a:lnSpc>
              <a:spcBef>
                <a:spcPts val="300"/>
              </a:spcBef>
              <a:defRPr/>
            </a:pPr>
            <a:endParaRPr lang="ru-RU" altLang="ru-RU" sz="2400" dirty="0"/>
          </a:p>
          <a:p>
            <a:pPr marL="177800" indent="-177800" eaLnBrk="1" hangingPunct="1">
              <a:lnSpc>
                <a:spcPct val="120000"/>
              </a:lnSpc>
              <a:spcBef>
                <a:spcPts val="300"/>
              </a:spcBef>
              <a:defRPr/>
            </a:pPr>
            <a:r>
              <a:rPr lang="ru-RU" altLang="ru-RU" sz="2400" dirty="0"/>
              <a:t>1993 (</a:t>
            </a:r>
            <a:r>
              <a:rPr lang="ru-RU" altLang="ru-RU" sz="2400" dirty="0" err="1"/>
              <a:t>авг</a:t>
            </a:r>
            <a:r>
              <a:rPr lang="ru-RU" altLang="ru-RU" sz="2400" dirty="0"/>
              <a:t>) – первая  версия стандарта </a:t>
            </a:r>
            <a:r>
              <a:rPr lang="en-US" altLang="ru-RU" sz="2400" dirty="0">
                <a:hlinkClick r:id="rId5"/>
              </a:rPr>
              <a:t>ODMG-93</a:t>
            </a:r>
            <a:r>
              <a:rPr lang="ru-RU" altLang="ru-RU" sz="2400" dirty="0"/>
              <a:t> (стандарт де факто) содержала </a:t>
            </a:r>
            <a:r>
              <a:rPr lang="ru-RU" sz="2400" kern="1200" dirty="0"/>
              <a:t>спецификации </a:t>
            </a:r>
            <a:r>
              <a:rPr lang="ru-RU" altLang="ru-RU" sz="2400" dirty="0"/>
              <a:t>:</a:t>
            </a:r>
          </a:p>
          <a:p>
            <a:pPr marL="361950" lvl="1" indent="-184150">
              <a:lnSpc>
                <a:spcPct val="120000"/>
              </a:lnSpc>
              <a:spcBef>
                <a:spcPts val="300"/>
              </a:spcBef>
              <a:buClr>
                <a:srgbClr val="FF0000"/>
              </a:buClr>
              <a:defRPr/>
            </a:pPr>
            <a:r>
              <a:rPr lang="ru-RU" sz="2100" dirty="0"/>
              <a:t>объектной модели — расширение модели-ядра стандарта </a:t>
            </a:r>
            <a:r>
              <a:rPr lang="en-US" sz="2100" dirty="0"/>
              <a:t>OMG</a:t>
            </a:r>
            <a:r>
              <a:rPr lang="ru-RU" sz="2100" dirty="0"/>
              <a:t> CORBA, </a:t>
            </a:r>
          </a:p>
          <a:p>
            <a:pPr marL="361950" lvl="1" indent="-184150">
              <a:lnSpc>
                <a:spcPct val="120000"/>
              </a:lnSpc>
              <a:spcBef>
                <a:spcPts val="300"/>
              </a:spcBef>
              <a:buClr>
                <a:srgbClr val="FF0000"/>
              </a:buClr>
              <a:defRPr/>
            </a:pPr>
            <a:r>
              <a:rPr lang="ru-RU" sz="2100" dirty="0"/>
              <a:t>языка определения объектов </a:t>
            </a:r>
            <a:r>
              <a:rPr lang="en-US" sz="2100" dirty="0"/>
              <a:t>ODL</a:t>
            </a:r>
            <a:r>
              <a:rPr lang="ru-RU" sz="2100" dirty="0"/>
              <a:t> — расширение языка определения интерфейсов </a:t>
            </a:r>
            <a:r>
              <a:rPr lang="en-US" sz="2100" dirty="0"/>
              <a:t>OMG IDL</a:t>
            </a:r>
            <a:r>
              <a:rPr lang="ru-RU" sz="2100" dirty="0"/>
              <a:t>, </a:t>
            </a:r>
          </a:p>
          <a:p>
            <a:pPr marL="361950" lvl="1" indent="-184150">
              <a:lnSpc>
                <a:spcPct val="120000"/>
              </a:lnSpc>
              <a:spcBef>
                <a:spcPts val="300"/>
              </a:spcBef>
              <a:buClr>
                <a:srgbClr val="FF0000"/>
              </a:buClr>
              <a:defRPr/>
            </a:pPr>
            <a:r>
              <a:rPr lang="ru-RU" sz="2100" dirty="0"/>
              <a:t>объектного языка запросов </a:t>
            </a:r>
            <a:r>
              <a:rPr lang="en-US" sz="2100" dirty="0"/>
              <a:t>OQL</a:t>
            </a:r>
            <a:r>
              <a:rPr lang="ru-RU" sz="2100" dirty="0"/>
              <a:t> — адаптация некоторого фрагмента языка </a:t>
            </a:r>
            <a:r>
              <a:rPr lang="en-US" sz="2100" dirty="0"/>
              <a:t>SQL</a:t>
            </a:r>
            <a:r>
              <a:rPr lang="ru-RU" sz="2100" dirty="0"/>
              <a:t> к объектной модели ODMG., </a:t>
            </a:r>
          </a:p>
          <a:p>
            <a:pPr marL="361950" lvl="1" indent="-184150">
              <a:lnSpc>
                <a:spcPct val="120000"/>
              </a:lnSpc>
              <a:spcBef>
                <a:spcPts val="300"/>
              </a:spcBef>
              <a:buClr>
                <a:srgbClr val="FF0000"/>
              </a:buClr>
              <a:defRPr/>
            </a:pPr>
            <a:r>
              <a:rPr lang="ru-RU" sz="2100" dirty="0"/>
              <a:t>связывания для объектных языков программирования </a:t>
            </a:r>
            <a:r>
              <a:rPr lang="en-US" sz="2100" dirty="0"/>
              <a:t>Smalltalk</a:t>
            </a:r>
            <a:r>
              <a:rPr lang="ru-RU" sz="2100" dirty="0"/>
              <a:t> </a:t>
            </a:r>
            <a:r>
              <a:rPr lang="ru-RU" sz="2000" kern="1200" dirty="0">
                <a:ea typeface="+mn-ea"/>
              </a:rPr>
              <a:t>и C++. </a:t>
            </a:r>
          </a:p>
          <a:p>
            <a:pPr marL="177800" indent="-177800" eaLnBrk="1" hangingPunct="1">
              <a:lnSpc>
                <a:spcPct val="120000"/>
              </a:lnSpc>
              <a:spcBef>
                <a:spcPts val="300"/>
              </a:spcBef>
              <a:defRPr/>
            </a:pPr>
            <a:r>
              <a:rPr lang="ru-RU" sz="2400" dirty="0"/>
              <a:t>Таким образом обеспечивалась естественная возможность интеграции систем баз данных, основанных на стандарте ODMG, в среду объектных технологий CORBA</a:t>
            </a:r>
            <a:endParaRPr lang="ru-RU" altLang="ru-RU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8C803-E115-DFC8-8EED-488CE7C29E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Консорциум</a:t>
            </a:r>
            <a:r>
              <a:rPr lang="en-US" dirty="0"/>
              <a:t> Object </a:t>
            </a:r>
            <a:r>
              <a:rPr lang="en-US" u="sng" dirty="0"/>
              <a:t>Database</a:t>
            </a:r>
            <a:r>
              <a:rPr lang="en-US" dirty="0"/>
              <a:t> Management Group (ODMG)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7BAD0E2-3EE7-C909-FECF-F76E5D09A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370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86FA9-A0A5-A4AA-45E5-D6A64DE7E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B99DA8-F436-350D-11A3-01CE5B40A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54151-96D6-63F7-391C-2D52A8C397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>
            <a:normAutofit fontScale="40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1997(июль) – </a:t>
            </a:r>
            <a:r>
              <a:rPr lang="ru-RU" sz="2400" i="1" kern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существенно дополненная </a:t>
            </a:r>
            <a:r>
              <a:rPr lang="ru-RU" sz="2400" kern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с </a:t>
            </a:r>
            <a:r>
              <a:rPr lang="ru-RU" sz="2400" kern="1200" spc="-6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функциональной</a:t>
            </a:r>
            <a:r>
              <a:rPr lang="ru-RU" sz="2400" kern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ru-RU" sz="2400" kern="1200" dirty="0"/>
              <a:t>точки зрения версия стандарта</a:t>
            </a:r>
            <a:r>
              <a:rPr lang="ru-RU" altLang="ru-RU" sz="2400" dirty="0"/>
              <a:t> </a:t>
            </a:r>
            <a:r>
              <a:rPr lang="en-US" altLang="ru-RU" sz="2400" dirty="0"/>
              <a:t>ODMG</a:t>
            </a:r>
            <a:r>
              <a:rPr lang="ru-RU" altLang="ru-RU" sz="2400" dirty="0"/>
              <a:t> 2.0. </a:t>
            </a:r>
            <a:br>
              <a:rPr lang="ru-RU" altLang="ru-RU" sz="2400" dirty="0"/>
            </a:br>
            <a:r>
              <a:rPr lang="ru-RU" altLang="ru-RU" sz="2400" kern="1200" dirty="0"/>
              <a:t>В</a:t>
            </a:r>
            <a:r>
              <a:rPr lang="ru-RU" sz="2400" kern="1200" dirty="0"/>
              <a:t> результате заключительного редактирования в ней появился </a:t>
            </a:r>
            <a:r>
              <a:rPr lang="ru-RU" sz="2400" b="1" i="1" kern="1200" dirty="0"/>
              <a:t>ряд некорректностей</a:t>
            </a:r>
            <a:r>
              <a:rPr lang="ru-RU" sz="2400" kern="1200" dirty="0"/>
              <a:t>, связанных с описанием </a:t>
            </a:r>
            <a:r>
              <a:rPr lang="ru-RU" sz="2400" b="1" kern="1200" dirty="0"/>
              <a:t>базовой объектной модели</a:t>
            </a:r>
            <a:r>
              <a:rPr lang="ru-RU" sz="2400" kern="1200" dirty="0"/>
              <a:t> стандарта, которые привели к ее рассогласованию с языковыми спецификациями</a:t>
            </a:r>
            <a:endParaRPr lang="ru-RU" altLang="ru-RU" sz="2400" dirty="0"/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С апреля 1998г, изменено название </a:t>
            </a:r>
            <a:r>
              <a:rPr lang="en-US" altLang="ru-RU" sz="2400" dirty="0"/>
              <a:t>Object </a:t>
            </a:r>
            <a:r>
              <a:rPr lang="en-US" altLang="ru-RU" sz="2400" b="1" u="sng" dirty="0"/>
              <a:t>Data</a:t>
            </a:r>
            <a:r>
              <a:rPr lang="en-US" altLang="ru-RU" sz="2400" dirty="0"/>
              <a:t> Management Group (ODMG)</a:t>
            </a:r>
            <a:r>
              <a:rPr lang="ru-RU" altLang="ru-RU" sz="2400" dirty="0"/>
              <a:t> </a:t>
            </a:r>
            <a:r>
              <a:rPr lang="ru-RU" altLang="ru-RU" sz="2400" b="1" dirty="0"/>
              <a:t>стандарт универсального хранения объектов (</a:t>
            </a:r>
            <a:r>
              <a:rPr lang="ru-RU" altLang="ru-RU" sz="2400" dirty="0"/>
              <a:t>изменение стратегии и содержания работ</a:t>
            </a:r>
            <a:r>
              <a:rPr lang="ru-RU" altLang="ru-RU" sz="2400" b="1" dirty="0"/>
              <a:t>)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Сотрудничество с </a:t>
            </a:r>
            <a:r>
              <a:rPr lang="en-US" altLang="ru-RU" sz="2400" dirty="0"/>
              <a:t>Sun</a:t>
            </a:r>
            <a:r>
              <a:rPr lang="ru-RU" altLang="ru-RU" sz="2400" dirty="0"/>
              <a:t>, </a:t>
            </a:r>
            <a:r>
              <a:rPr lang="en-US" altLang="ru-RU" sz="2400" dirty="0"/>
              <a:t>Novell</a:t>
            </a:r>
            <a:r>
              <a:rPr lang="ru-RU" altLang="ru-RU" sz="2400" dirty="0"/>
              <a:t> и </a:t>
            </a:r>
            <a:r>
              <a:rPr lang="en-US" altLang="ru-RU" sz="2400" dirty="0"/>
              <a:t>Secant Technologies</a:t>
            </a:r>
            <a:r>
              <a:rPr lang="ru-RU" altLang="ru-RU" sz="2400" dirty="0"/>
              <a:t> для выработки </a:t>
            </a:r>
            <a:r>
              <a:rPr lang="ru-RU" altLang="ru-RU" sz="2400" b="1" dirty="0"/>
              <a:t>спецификаций сервиса </a:t>
            </a:r>
            <a:r>
              <a:rPr lang="en-US" altLang="ru-RU" sz="2400" b="1" dirty="0"/>
              <a:t>OMG</a:t>
            </a:r>
            <a:r>
              <a:rPr lang="ru-RU" altLang="ru-RU" sz="2400" b="1" dirty="0"/>
              <a:t> долговременно хранимых объектов </a:t>
            </a:r>
            <a:r>
              <a:rPr lang="ru-RU" altLang="ru-RU" sz="2400" dirty="0"/>
              <a:t>версии 2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ODMG предложила сообществу </a:t>
            </a:r>
            <a:r>
              <a:rPr lang="en-US" altLang="ru-RU" sz="2400" dirty="0"/>
              <a:t>Java</a:t>
            </a:r>
            <a:r>
              <a:rPr lang="ru-RU" altLang="ru-RU" sz="2400" dirty="0"/>
              <a:t> </a:t>
            </a:r>
            <a:r>
              <a:rPr lang="ru-RU" altLang="ru-RU" sz="2400" b="1" dirty="0"/>
              <a:t>использовать спецификации связывания </a:t>
            </a:r>
            <a:r>
              <a:rPr lang="en-US" altLang="ru-RU" sz="2400" b="1" dirty="0"/>
              <a:t>Java</a:t>
            </a:r>
            <a:r>
              <a:rPr lang="ru-RU" altLang="ru-RU" sz="2400" b="1" dirty="0"/>
              <a:t> из стандарта ODMG </a:t>
            </a:r>
            <a:r>
              <a:rPr lang="ru-RU" altLang="ru-RU" sz="2400" dirty="0"/>
              <a:t>как основу начавшегося процесса разработки спецификаций </a:t>
            </a:r>
            <a:r>
              <a:rPr lang="en-US" altLang="ru-RU" sz="2400" dirty="0"/>
              <a:t>Java Data Object Specification</a:t>
            </a:r>
            <a:r>
              <a:rPr lang="ru-RU" altLang="ru-RU" sz="2400" dirty="0"/>
              <a:t> (</a:t>
            </a:r>
            <a:r>
              <a:rPr lang="en-US" altLang="ru-RU" sz="2400" dirty="0"/>
              <a:t>JDO</a:t>
            </a:r>
            <a:r>
              <a:rPr lang="ru-RU" altLang="ru-RU" sz="2400" dirty="0"/>
              <a:t>).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Предполагалось обеспечить </a:t>
            </a:r>
            <a:r>
              <a:rPr lang="ru-RU" altLang="ru-RU" sz="2400" b="1" i="1" dirty="0"/>
              <a:t>прозрачность</a:t>
            </a:r>
            <a:r>
              <a:rPr lang="ru-RU" altLang="ru-RU" sz="2400" b="1" dirty="0"/>
              <a:t> обращений к базе данных </a:t>
            </a:r>
            <a:r>
              <a:rPr lang="ru-RU" altLang="ru-RU" sz="2400" dirty="0"/>
              <a:t>для доступа к долговременно хранимым объектам, </a:t>
            </a:r>
            <a:r>
              <a:rPr lang="ru-RU" altLang="ru-RU" sz="2400" b="1" i="1" dirty="0"/>
              <a:t>транзакционную семантику</a:t>
            </a:r>
            <a:r>
              <a:rPr lang="ru-RU" altLang="ru-RU" sz="2400" dirty="0"/>
              <a:t> для обработки объектов такого рода, а также </a:t>
            </a:r>
            <a:r>
              <a:rPr lang="ru-RU" altLang="ru-RU" sz="2400" b="1" dirty="0"/>
              <a:t>интерпретацию данных </a:t>
            </a:r>
            <a:r>
              <a:rPr lang="ru-RU" altLang="ru-RU" sz="2400" b="1" i="1" dirty="0"/>
              <a:t>реляционных баз данных как объектов </a:t>
            </a:r>
            <a:r>
              <a:rPr lang="en-US" altLang="ru-RU" sz="2400" b="1" i="1" dirty="0"/>
              <a:t>Java</a:t>
            </a:r>
            <a:r>
              <a:rPr lang="ru-RU" altLang="ru-RU" sz="2400" dirty="0"/>
              <a:t> и другие возможности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ru-RU" altLang="ru-RU" sz="2400" dirty="0"/>
              <a:t>Январь 2000.</a:t>
            </a:r>
            <a:br>
              <a:rPr lang="ru-RU" altLang="ru-RU" sz="2400" dirty="0"/>
            </a:br>
            <a:r>
              <a:rPr lang="en-US" altLang="ru-RU" sz="2400" dirty="0"/>
              <a:t>The </a:t>
            </a:r>
            <a:r>
              <a:rPr lang="en-US" altLang="ru-RU" sz="2400" b="1" dirty="0"/>
              <a:t>Object </a:t>
            </a:r>
            <a:r>
              <a:rPr lang="en-US" altLang="ru-RU" sz="2400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</a:t>
            </a:r>
            <a:r>
              <a:rPr lang="en-US" altLang="ru-RU" sz="2400" b="1" dirty="0"/>
              <a:t> Standard: ODMG 3.0</a:t>
            </a:r>
            <a:r>
              <a:rPr lang="ru-RU" altLang="ru-RU" sz="2400" dirty="0"/>
              <a:t>. </a:t>
            </a:r>
            <a:r>
              <a:rPr lang="ru-RU" altLang="ru-RU" sz="2400" kern="1200" dirty="0"/>
              <a:t>О</a:t>
            </a:r>
            <a:r>
              <a:rPr lang="ru-RU" sz="2400" kern="1200" dirty="0"/>
              <a:t>публикован издательством </a:t>
            </a:r>
            <a:r>
              <a:rPr lang="en-US" sz="2400" kern="1200" dirty="0"/>
              <a:t>Morgan Kaufmann Publishers</a:t>
            </a:r>
            <a:r>
              <a:rPr lang="ru-RU" sz="2400" kern="1200" dirty="0"/>
              <a:t>.</a:t>
            </a:r>
            <a:endParaRPr lang="ru-RU" altLang="ru-RU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6A462-4CDE-564B-8B3E-3B5B7DCC2B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Стандарты</a:t>
            </a:r>
            <a:r>
              <a:rPr lang="en-US" dirty="0"/>
              <a:t> Object </a:t>
            </a:r>
            <a:r>
              <a:rPr lang="en-US" u="sng" dirty="0"/>
              <a:t>Data</a:t>
            </a:r>
            <a:r>
              <a:rPr lang="en-US" dirty="0"/>
              <a:t> Management Group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47638E-9F97-A2AB-B545-0F83E365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179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BA21A-43B8-1EA8-BF32-0FC7BB4E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D766FC-D7D9-0684-97DF-0353386B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BD697-CB58-0E10-B40E-11A9683A8A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>
            <a:normAutofit fontScale="700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altLang="ru-RU" sz="1600" dirty="0"/>
              <a:t>Предлагается дифференцированно оценивать соответствие продуктов отдельным компонентам стандарта</a:t>
            </a:r>
            <a:endParaRPr lang="en-US" altLang="ru-RU" sz="1600" dirty="0"/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altLang="ru-RU" sz="1600" dirty="0"/>
              <a:t>СУ</a:t>
            </a:r>
            <a:r>
              <a:rPr lang="en-US" altLang="ru-RU" sz="1600" dirty="0"/>
              <a:t>O</a:t>
            </a:r>
            <a:r>
              <a:rPr lang="ru-RU" altLang="ru-RU" sz="1600" dirty="0"/>
              <a:t>БД может быть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ru-RU" sz="1600" dirty="0"/>
              <a:t>ODMG </a:t>
            </a:r>
            <a:r>
              <a:rPr lang="en-US" altLang="ru-RU" sz="1600" b="1" dirty="0"/>
              <a:t>x</a:t>
            </a:r>
            <a:r>
              <a:rPr lang="ru-RU" altLang="ru-RU" sz="1600" b="1" dirty="0"/>
              <a:t>-сертифицированной </a:t>
            </a:r>
            <a:r>
              <a:rPr lang="ru-RU" sz="1600" dirty="0"/>
              <a:t>(</a:t>
            </a:r>
            <a:r>
              <a:rPr lang="en-US" sz="1600" dirty="0"/>
              <a:t>ODMG </a:t>
            </a:r>
            <a:r>
              <a:rPr lang="en-US" sz="1600" i="1" dirty="0"/>
              <a:t>x</a:t>
            </a:r>
            <a:r>
              <a:rPr lang="ru-RU" sz="1600" dirty="0"/>
              <a:t>-</a:t>
            </a:r>
            <a:r>
              <a:rPr lang="en-US" sz="1600" dirty="0"/>
              <a:t>certified</a:t>
            </a:r>
            <a:r>
              <a:rPr lang="ru-RU" sz="1600" dirty="0"/>
              <a:t>)</a:t>
            </a:r>
            <a:r>
              <a:rPr lang="en-US" altLang="ru-RU" sz="1600" dirty="0"/>
              <a:t>,</a:t>
            </a:r>
            <a:r>
              <a:rPr lang="ru-RU" altLang="ru-RU" sz="1600" dirty="0"/>
              <a:t> </a:t>
            </a:r>
            <a:r>
              <a:rPr lang="ru-RU" sz="1600" dirty="0"/>
              <a:t>удовлетворяет </a:t>
            </a:r>
            <a:r>
              <a:rPr lang="ru-RU" sz="1600" b="1" dirty="0"/>
              <a:t>всему набору разработанных ODMG тестов </a:t>
            </a:r>
            <a:r>
              <a:rPr lang="ru-RU" sz="1600" dirty="0"/>
              <a:t>сертификации </a:t>
            </a:r>
            <a:r>
              <a:rPr lang="ru-RU" sz="1600" b="1" dirty="0"/>
              <a:t>для компонента </a:t>
            </a:r>
            <a:r>
              <a:rPr lang="ru-RU" sz="1600" b="1" i="1" dirty="0"/>
              <a:t>Х</a:t>
            </a:r>
            <a:r>
              <a:rPr lang="ru-RU" sz="1600" b="1" dirty="0"/>
              <a:t> </a:t>
            </a:r>
            <a:r>
              <a:rPr lang="ru-RU" sz="1600" dirty="0"/>
              <a:t>рассматриваемого стандарта</a:t>
            </a:r>
            <a:endParaRPr lang="ru-RU" altLang="ru-RU" sz="1600" dirty="0"/>
          </a:p>
          <a:p>
            <a:pPr eaLnBrk="1" hangingPunct="1">
              <a:lnSpc>
                <a:spcPct val="120000"/>
              </a:lnSpc>
            </a:pPr>
            <a:r>
              <a:rPr lang="en-US" altLang="ru-RU" sz="1600" dirty="0"/>
              <a:t>ODMG</a:t>
            </a:r>
            <a:r>
              <a:rPr lang="ru-RU" altLang="ru-RU" sz="1600" dirty="0"/>
              <a:t> </a:t>
            </a:r>
            <a:r>
              <a:rPr lang="en-US" altLang="ru-RU" sz="1600" b="1" dirty="0"/>
              <a:t>x</a:t>
            </a:r>
            <a:r>
              <a:rPr lang="ru-RU" altLang="ru-RU" sz="1600" b="1" dirty="0"/>
              <a:t>-соответствующей </a:t>
            </a:r>
            <a:r>
              <a:rPr lang="ru-RU" sz="1600" dirty="0"/>
              <a:t>(</a:t>
            </a:r>
            <a:r>
              <a:rPr lang="en-US" sz="1600" dirty="0"/>
              <a:t>ODMG </a:t>
            </a:r>
            <a:r>
              <a:rPr lang="en-US" sz="1600" i="1" dirty="0"/>
              <a:t>x</a:t>
            </a:r>
            <a:r>
              <a:rPr lang="ru-RU" sz="1600" dirty="0"/>
              <a:t>-</a:t>
            </a:r>
            <a:r>
              <a:rPr lang="en-US" sz="1600" dirty="0"/>
              <a:t>compliant</a:t>
            </a:r>
            <a:r>
              <a:rPr lang="ru-RU" sz="1600" dirty="0"/>
              <a:t>)</a:t>
            </a:r>
            <a:r>
              <a:rPr lang="en-US" altLang="ru-RU" sz="1600" dirty="0"/>
              <a:t>,</a:t>
            </a:r>
            <a:r>
              <a:rPr lang="ru-RU" sz="1600" dirty="0"/>
              <a:t> для </a:t>
            </a:r>
            <a:r>
              <a:rPr lang="en-US" sz="1600" dirty="0"/>
              <a:t>ODL</a:t>
            </a:r>
            <a:r>
              <a:rPr lang="ru-RU" sz="1600" dirty="0"/>
              <a:t> и </a:t>
            </a:r>
            <a:r>
              <a:rPr lang="en-US" sz="1600" dirty="0"/>
              <a:t>OQL</a:t>
            </a:r>
            <a:r>
              <a:rPr lang="ru-RU" sz="1600" dirty="0"/>
              <a:t> это синоним </a:t>
            </a:r>
            <a:r>
              <a:rPr lang="ru-RU" sz="1600" i="1" dirty="0"/>
              <a:t>Х</a:t>
            </a:r>
            <a:r>
              <a:rPr lang="ru-RU" sz="1600" dirty="0"/>
              <a:t>-</a:t>
            </a:r>
            <a:r>
              <a:rPr lang="ru-RU" sz="1600" dirty="0" err="1"/>
              <a:t>сертифицированности</a:t>
            </a:r>
            <a:r>
              <a:rPr lang="ru-RU" sz="1600" dirty="0"/>
              <a:t> </a:t>
            </a:r>
            <a:endParaRPr lang="en-US" altLang="ru-RU" sz="1600" dirty="0"/>
          </a:p>
          <a:p>
            <a:pPr eaLnBrk="1" hangingPunct="1">
              <a:lnSpc>
                <a:spcPct val="120000"/>
              </a:lnSpc>
            </a:pPr>
            <a:r>
              <a:rPr lang="en-US" altLang="ru-RU" sz="1600" b="1" dirty="0"/>
              <a:t> </a:t>
            </a:r>
            <a:r>
              <a:rPr lang="ru-RU" altLang="ru-RU" sz="1600" b="1" dirty="0"/>
              <a:t>Х означает </a:t>
            </a:r>
            <a:r>
              <a:rPr lang="ru-RU" altLang="ru-RU" sz="1600" dirty="0"/>
              <a:t>один из компонентов стандарта </a:t>
            </a:r>
            <a:r>
              <a:rPr lang="en-US" altLang="ru-RU" sz="1600" dirty="0"/>
              <a:t>ODMG</a:t>
            </a:r>
            <a:r>
              <a:rPr lang="ru-RU" altLang="ru-RU" sz="1600" dirty="0"/>
              <a:t>:</a:t>
            </a:r>
          </a:p>
          <a:p>
            <a:pPr lvl="1" eaLnBrk="1" hangingPunct="1">
              <a:lnSpc>
                <a:spcPct val="120000"/>
              </a:lnSpc>
            </a:pPr>
            <a:r>
              <a:rPr lang="ru-RU" altLang="ru-RU" sz="1600" dirty="0"/>
              <a:t>Язык </a:t>
            </a:r>
            <a:r>
              <a:rPr lang="en-US" altLang="ru-RU" sz="1600" dirty="0"/>
              <a:t>ODL, </a:t>
            </a:r>
            <a:endParaRPr lang="ru-RU" altLang="ru-RU" sz="1600" dirty="0"/>
          </a:p>
          <a:p>
            <a:pPr lvl="1" eaLnBrk="1" hangingPunct="1">
              <a:lnSpc>
                <a:spcPct val="120000"/>
              </a:lnSpc>
            </a:pPr>
            <a:r>
              <a:rPr lang="ru-RU" altLang="ru-RU" sz="1600" dirty="0"/>
              <a:t>Язык </a:t>
            </a:r>
            <a:r>
              <a:rPr lang="en-US" altLang="ru-RU" sz="1600" dirty="0"/>
              <a:t>OQL,</a:t>
            </a:r>
            <a:endParaRPr lang="ru-RU" altLang="ru-RU" sz="1600" dirty="0"/>
          </a:p>
          <a:p>
            <a:pPr lvl="1" eaLnBrk="1" hangingPunct="1">
              <a:lnSpc>
                <a:spcPct val="120000"/>
              </a:lnSpc>
            </a:pPr>
            <a:r>
              <a:rPr lang="ru-RU" altLang="ru-RU" sz="1600" dirty="0"/>
              <a:t>Связывание для С++</a:t>
            </a:r>
            <a:r>
              <a:rPr lang="en-US" altLang="ru-RU" sz="1600" dirty="0"/>
              <a:t>, </a:t>
            </a:r>
            <a:r>
              <a:rPr lang="en-US" altLang="ru-RU" sz="1600" dirty="0" err="1"/>
              <a:t>Smaltalk</a:t>
            </a:r>
            <a:r>
              <a:rPr lang="en-US" altLang="ru-RU" sz="1600" dirty="0"/>
              <a:t>, Java</a:t>
            </a:r>
            <a:endParaRPr lang="ru-RU" altLang="ru-RU" sz="1600" dirty="0"/>
          </a:p>
          <a:p>
            <a:pPr eaLnBrk="1" hangingPunct="1">
              <a:lnSpc>
                <a:spcPct val="120000"/>
              </a:lnSpc>
            </a:pPr>
            <a:r>
              <a:rPr lang="en-US" altLang="ru-RU" sz="1600" dirty="0"/>
              <a:t>ODMG</a:t>
            </a:r>
            <a:r>
              <a:rPr lang="ru-RU" altLang="ru-RU" sz="1600" dirty="0"/>
              <a:t>-соответствующей, если продукт </a:t>
            </a:r>
            <a:r>
              <a:rPr lang="ru-RU" sz="1600" dirty="0"/>
              <a:t>являются "</a:t>
            </a:r>
            <a:r>
              <a:rPr lang="ru-RU" sz="1600" i="1" dirty="0"/>
              <a:t>ODMG х-соответствующими</a:t>
            </a:r>
            <a:r>
              <a:rPr lang="ru-RU" sz="1600" dirty="0"/>
              <a:t>" для одного или более компонентов </a:t>
            </a:r>
            <a:r>
              <a:rPr lang="ru-RU" sz="1600" i="1" dirty="0"/>
              <a:t>х</a:t>
            </a:r>
            <a:r>
              <a:rPr lang="ru-RU" sz="1600" dirty="0"/>
              <a:t> стандарта консорциума.</a:t>
            </a:r>
            <a:endParaRPr lang="ru-RU" altLang="ru-RU" sz="16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ru-RU" sz="1600" dirty="0"/>
              <a:t>ODMG</a:t>
            </a:r>
            <a:r>
              <a:rPr lang="ru-RU" altLang="ru-RU" sz="1600" dirty="0"/>
              <a:t>-соответствующие системы: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ru-RU" sz="1600" dirty="0"/>
              <a:t>Jasmine (Computer Associates),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ru-RU" sz="1600" dirty="0"/>
              <a:t>TITANIUM (Micro Data Base Systems)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ru-RU" sz="1600" dirty="0"/>
              <a:t>Orient (Orient Inc.), POET (Poet Inc.), Versant (Versant Inc.)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ru-RU" sz="1600" dirty="0" err="1"/>
              <a:t>JavaBlend</a:t>
            </a:r>
            <a:r>
              <a:rPr lang="en-US" altLang="ru-RU" sz="1600" dirty="0"/>
              <a:t> ( Sun Microsystems-Oracle)</a:t>
            </a:r>
            <a:endParaRPr lang="ru-RU" altLang="ru-RU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8B40C-79F7-8EB6-695D-C80E0B6994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ODMG-</a:t>
            </a:r>
            <a:r>
              <a:rPr lang="ru-RU" dirty="0"/>
              <a:t>соответствие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F9F247-C491-85A0-9AED-AE2B7FF0A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194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55D5D-52AC-5249-4B04-3C0750526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F3954-445C-5BE8-0842-856D08546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3A520-05FB-C7FA-443B-EF0A93BB34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Структура СУОБД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6BCBDF-079C-E41D-0C54-146679AD9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A5456534-588F-9DE5-5EAB-9D7C850F9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7" y="1889646"/>
            <a:ext cx="1649347" cy="5795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100" b="1" dirty="0">
                <a:latin typeface="Aptos Narrow" panose="020B0004020202020204" pitchFamily="34" charset="0"/>
              </a:rPr>
              <a:t>Определения на </a:t>
            </a:r>
            <a:r>
              <a:rPr lang="en-US" altLang="ru-RU" sz="1100" b="1" dirty="0">
                <a:latin typeface="Aptos Narrow" panose="020B0004020202020204" pitchFamily="34" charset="0"/>
              </a:rPr>
              <a:t>ODL</a:t>
            </a:r>
            <a:r>
              <a:rPr lang="ru-RU" altLang="ru-RU" sz="1100" b="1" dirty="0">
                <a:latin typeface="Aptos Narrow" panose="020B0004020202020204" pitchFamily="34" charset="0"/>
              </a:rPr>
              <a:t> или на ЯП</a:t>
            </a:r>
            <a:r>
              <a:rPr lang="en-US" altLang="ru-RU" sz="1100" b="1" dirty="0">
                <a:latin typeface="Aptos Narrow" panose="020B0004020202020204" pitchFamily="34" charset="0"/>
              </a:rPr>
              <a:t> ODL</a:t>
            </a:r>
            <a:endParaRPr lang="ru-RU" altLang="ru-RU" sz="1100" b="1" dirty="0">
              <a:latin typeface="Aptos Narrow" panose="020B0004020202020204" pitchFamily="34" charset="0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EE8CF368-EEC0-BB8B-15B3-A0ABA847A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7" y="3450888"/>
            <a:ext cx="1649347" cy="60016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100" b="1" dirty="0">
                <a:latin typeface="Aptos Narrow" panose="020B0004020202020204" pitchFamily="34" charset="0"/>
              </a:rPr>
              <a:t>Исходный текст программы на </a:t>
            </a:r>
            <a:r>
              <a:rPr lang="en-US" altLang="ru-RU" sz="1100" b="1" dirty="0">
                <a:latin typeface="Aptos Narrow" panose="020B0004020202020204" pitchFamily="34" charset="0"/>
              </a:rPr>
              <a:t>[</a:t>
            </a:r>
            <a:r>
              <a:rPr lang="ru-RU" altLang="ru-RU" sz="1100" b="1" dirty="0">
                <a:latin typeface="Aptos Narrow" panose="020B0004020202020204" pitchFamily="34" charset="0"/>
              </a:rPr>
              <a:t>расширенном</a:t>
            </a:r>
            <a:r>
              <a:rPr lang="en-US" altLang="ru-RU" sz="1100" b="1" dirty="0">
                <a:latin typeface="Aptos Narrow" panose="020B0004020202020204" pitchFamily="34" charset="0"/>
              </a:rPr>
              <a:t>]</a:t>
            </a:r>
            <a:r>
              <a:rPr lang="ru-RU" altLang="ru-RU" sz="1100" b="1" dirty="0">
                <a:latin typeface="Aptos Narrow" panose="020B0004020202020204" pitchFamily="34" charset="0"/>
              </a:rPr>
              <a:t> ЯП</a:t>
            </a:r>
          </a:p>
        </p:txBody>
      </p:sp>
      <p:sp>
        <p:nvSpPr>
          <p:cNvPr id="9" name="Овал 6">
            <a:extLst>
              <a:ext uri="{FF2B5EF4-FFF2-40B4-BE49-F238E27FC236}">
                <a16:creationId xmlns:a16="http://schemas.microsoft.com/office/drawing/2014/main" id="{C080ABF2-B4E1-2DC8-CBD3-BBD9B1F811D4}"/>
              </a:ext>
            </a:extLst>
          </p:cNvPr>
          <p:cNvSpPr/>
          <p:nvPr/>
        </p:nvSpPr>
        <p:spPr bwMode="auto">
          <a:xfrm>
            <a:off x="2538732" y="1956512"/>
            <a:ext cx="1758572" cy="44576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100" b="1" dirty="0">
                <a:solidFill>
                  <a:schemeClr val="tx1"/>
                </a:solidFill>
                <a:latin typeface="Aptos Narrow" panose="020B0004020202020204" pitchFamily="34" charset="0"/>
              </a:rPr>
              <a:t>Процессор</a:t>
            </a:r>
            <a:r>
              <a:rPr lang="ru-RU" altLang="ru-RU" sz="11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ru-RU" altLang="ru-RU" sz="1100" b="1" dirty="0">
                <a:solidFill>
                  <a:schemeClr val="tx1"/>
                </a:solidFill>
                <a:latin typeface="Aptos Narrow" panose="020B0004020202020204" pitchFamily="34" charset="0"/>
              </a:rPr>
              <a:t>определений</a:t>
            </a:r>
          </a:p>
        </p:txBody>
      </p:sp>
      <p:sp>
        <p:nvSpPr>
          <p:cNvPr id="12" name="Овал 10">
            <a:extLst>
              <a:ext uri="{FF2B5EF4-FFF2-40B4-BE49-F238E27FC236}">
                <a16:creationId xmlns:a16="http://schemas.microsoft.com/office/drawing/2014/main" id="{1CD96306-19A2-6D06-1D99-A50B411B1A4D}"/>
              </a:ext>
            </a:extLst>
          </p:cNvPr>
          <p:cNvSpPr/>
          <p:nvPr/>
        </p:nvSpPr>
        <p:spPr bwMode="auto">
          <a:xfrm>
            <a:off x="2548768" y="3560869"/>
            <a:ext cx="1738501" cy="38020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altLang="ru-RU" sz="1100" b="1" dirty="0">
                <a:solidFill>
                  <a:schemeClr val="tx1"/>
                </a:solidFill>
                <a:latin typeface="Aptos Narrow" panose="020B0004020202020204" pitchFamily="34" charset="0"/>
              </a:rPr>
              <a:t>Компилятор ЯП</a:t>
            </a:r>
          </a:p>
        </p:txBody>
      </p:sp>
      <p:sp>
        <p:nvSpPr>
          <p:cNvPr id="15" name="Овал 13">
            <a:extLst>
              <a:ext uri="{FF2B5EF4-FFF2-40B4-BE49-F238E27FC236}">
                <a16:creationId xmlns:a16="http://schemas.microsoft.com/office/drawing/2014/main" id="{9B369C05-2017-198B-81FC-008EA325E889}"/>
              </a:ext>
            </a:extLst>
          </p:cNvPr>
          <p:cNvSpPr/>
          <p:nvPr/>
        </p:nvSpPr>
        <p:spPr bwMode="auto">
          <a:xfrm>
            <a:off x="5933827" y="3594947"/>
            <a:ext cx="1095779" cy="31203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altLang="ru-RU" sz="1100" b="1" dirty="0">
                <a:solidFill>
                  <a:schemeClr val="tx1"/>
                </a:solidFill>
                <a:latin typeface="Aptos Narrow" panose="020B0004020202020204" pitchFamily="34" charset="0"/>
              </a:rPr>
              <a:t>Редактор связей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8237496B-3145-E638-9215-2A8FE7717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2659" y="3560867"/>
            <a:ext cx="1095778" cy="380201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100" b="1" dirty="0">
                <a:latin typeface="Aptos Narrow" panose="020B0004020202020204" pitchFamily="34" charset="0"/>
              </a:rPr>
              <a:t>Бинарный код программы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C250889D-68DB-2635-0D6F-77770C84F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8777" y="3572658"/>
            <a:ext cx="1183043" cy="35661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100" b="1" dirty="0">
                <a:latin typeface="Aptos Narrow" panose="020B0004020202020204" pitchFamily="34" charset="0"/>
              </a:rPr>
              <a:t>Исполняемая программа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1B4D2C50-5A7C-D10C-E58E-32A99DA7F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524" y="2716026"/>
            <a:ext cx="802385" cy="44576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100" b="1">
                <a:latin typeface="Aptos Narrow" panose="020B0004020202020204" pitchFamily="34" charset="0"/>
              </a:rPr>
              <a:t>СУОБД </a:t>
            </a:r>
            <a:r>
              <a:rPr lang="en-US" altLang="ru-RU" sz="1100" b="1">
                <a:latin typeface="Aptos Narrow" panose="020B0004020202020204" pitchFamily="34" charset="0"/>
              </a:rPr>
              <a:t>runtime</a:t>
            </a:r>
            <a:endParaRPr lang="ru-RU" altLang="ru-RU" sz="1100" b="1">
              <a:latin typeface="Aptos Narrow" panose="020B0004020202020204" pitchFamily="34" charset="0"/>
            </a:endParaRPr>
          </a:p>
        </p:txBody>
      </p:sp>
      <p:sp>
        <p:nvSpPr>
          <p:cNvPr id="20" name="Блок-схема: магнитный диск 18">
            <a:extLst>
              <a:ext uri="{FF2B5EF4-FFF2-40B4-BE49-F238E27FC236}">
                <a16:creationId xmlns:a16="http://schemas.microsoft.com/office/drawing/2014/main" id="{9826B7EA-5EFD-4946-1E7A-1717277F0D07}"/>
              </a:ext>
            </a:extLst>
          </p:cNvPr>
          <p:cNvSpPr/>
          <p:nvPr/>
        </p:nvSpPr>
        <p:spPr>
          <a:xfrm>
            <a:off x="7519951" y="1845069"/>
            <a:ext cx="980693" cy="668654"/>
          </a:xfrm>
          <a:prstGeom prst="flowChartMagneticDisk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altLang="ru-RU" sz="1100" b="1" dirty="0">
                <a:solidFill>
                  <a:schemeClr val="tx1"/>
                </a:solidFill>
                <a:latin typeface="Aptos Narrow" panose="020B0004020202020204" pitchFamily="34" charset="0"/>
              </a:rPr>
              <a:t>База данных</a:t>
            </a: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F3A0E3C8-CE80-B41D-9F0E-CE661396D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704" y="1917786"/>
            <a:ext cx="106984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100" b="1" dirty="0">
                <a:latin typeface="Aptos Narrow" panose="020B0004020202020204" pitchFamily="34" charset="0"/>
              </a:rPr>
              <a:t>Метаданные</a:t>
            </a:r>
          </a:p>
        </p:txBody>
      </p:sp>
      <p:sp>
        <p:nvSpPr>
          <p:cNvPr id="33" name="Номер слайда 1">
            <a:extLst>
              <a:ext uri="{FF2B5EF4-FFF2-40B4-BE49-F238E27FC236}">
                <a16:creationId xmlns:a16="http://schemas.microsoft.com/office/drawing/2014/main" id="{3EE7C8D9-8F60-8DDA-33F1-B5D96DA8BFB1}"/>
              </a:ext>
            </a:extLst>
          </p:cNvPr>
          <p:cNvSpPr txBox="1">
            <a:spLocks/>
          </p:cNvSpPr>
          <p:nvPr/>
        </p:nvSpPr>
        <p:spPr>
          <a:xfrm>
            <a:off x="5206398" y="4789049"/>
            <a:ext cx="1248154" cy="2674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0" latinLnBrk="0" hangingPunct="0">
              <a:defRPr sz="12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21764520-C02E-4D5C-86D2-98310984C2D8}" type="slidenum">
              <a:rPr lang="ru-RU" altLang="ru-RU" sz="900" smtClean="0">
                <a:latin typeface="Arial Black" pitchFamily="34" charset="0"/>
              </a:rPr>
              <a:pPr eaLnBrk="1" hangingPunct="1"/>
              <a:t>10</a:t>
            </a:fld>
            <a:endParaRPr lang="ru-RU" altLang="ru-RU" sz="900">
              <a:latin typeface="Arial Black" pitchFamily="34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CF2D3BE-9C55-3C8E-03E0-BC511D27E19C}"/>
              </a:ext>
            </a:extLst>
          </p:cNvPr>
          <p:cNvCxnSpPr>
            <a:cxnSpLocks/>
            <a:stCxn id="6" idx="3"/>
            <a:endCxn id="9" idx="2"/>
          </p:cNvCxnSpPr>
          <p:nvPr/>
        </p:nvCxnSpPr>
        <p:spPr>
          <a:xfrm>
            <a:off x="2000184" y="2179396"/>
            <a:ext cx="538548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5">
            <a:extLst>
              <a:ext uri="{FF2B5EF4-FFF2-40B4-BE49-F238E27FC236}">
                <a16:creationId xmlns:a16="http://schemas.microsoft.com/office/drawing/2014/main" id="{D5A71520-B4A6-A36F-1679-2C55EFBC338A}"/>
              </a:ext>
            </a:extLst>
          </p:cNvPr>
          <p:cNvCxnSpPr>
            <a:cxnSpLocks/>
            <a:stCxn id="9" idx="4"/>
            <a:endCxn id="12" idx="0"/>
          </p:cNvCxnSpPr>
          <p:nvPr/>
        </p:nvCxnSpPr>
        <p:spPr>
          <a:xfrm rot="16200000" flipH="1">
            <a:off x="2838724" y="2981574"/>
            <a:ext cx="1158588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35">
            <a:extLst>
              <a:ext uri="{FF2B5EF4-FFF2-40B4-BE49-F238E27FC236}">
                <a16:creationId xmlns:a16="http://schemas.microsoft.com/office/drawing/2014/main" id="{B78C718C-DC14-B8E7-F336-801A6D1CE06C}"/>
              </a:ext>
            </a:extLst>
          </p:cNvPr>
          <p:cNvCxnSpPr>
            <a:cxnSpLocks/>
            <a:stCxn id="7" idx="3"/>
            <a:endCxn id="12" idx="2"/>
          </p:cNvCxnSpPr>
          <p:nvPr/>
        </p:nvCxnSpPr>
        <p:spPr>
          <a:xfrm>
            <a:off x="2000184" y="3750970"/>
            <a:ext cx="5485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35">
            <a:extLst>
              <a:ext uri="{FF2B5EF4-FFF2-40B4-BE49-F238E27FC236}">
                <a16:creationId xmlns:a16="http://schemas.microsoft.com/office/drawing/2014/main" id="{AAFDE71D-D90C-5A82-B517-BDB3C0BE7170}"/>
              </a:ext>
            </a:extLst>
          </p:cNvPr>
          <p:cNvCxnSpPr>
            <a:cxnSpLocks/>
            <a:stCxn id="12" idx="6"/>
            <a:endCxn id="17" idx="1"/>
          </p:cNvCxnSpPr>
          <p:nvPr/>
        </p:nvCxnSpPr>
        <p:spPr>
          <a:xfrm flipV="1">
            <a:off x="4287269" y="3750968"/>
            <a:ext cx="275390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35">
            <a:extLst>
              <a:ext uri="{FF2B5EF4-FFF2-40B4-BE49-F238E27FC236}">
                <a16:creationId xmlns:a16="http://schemas.microsoft.com/office/drawing/2014/main" id="{EB1AA2A3-4CD0-994C-7825-C06B52C9E9B0}"/>
              </a:ext>
            </a:extLst>
          </p:cNvPr>
          <p:cNvCxnSpPr>
            <a:cxnSpLocks/>
            <a:stCxn id="17" idx="3"/>
            <a:endCxn id="15" idx="2"/>
          </p:cNvCxnSpPr>
          <p:nvPr/>
        </p:nvCxnSpPr>
        <p:spPr>
          <a:xfrm flipV="1">
            <a:off x="5658437" y="3750967"/>
            <a:ext cx="275390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35">
            <a:extLst>
              <a:ext uri="{FF2B5EF4-FFF2-40B4-BE49-F238E27FC236}">
                <a16:creationId xmlns:a16="http://schemas.microsoft.com/office/drawing/2014/main" id="{38205429-B27C-8ABE-EACB-62C6DED10B11}"/>
              </a:ext>
            </a:extLst>
          </p:cNvPr>
          <p:cNvCxnSpPr>
            <a:cxnSpLocks/>
            <a:stCxn id="15" idx="6"/>
            <a:endCxn id="18" idx="1"/>
          </p:cNvCxnSpPr>
          <p:nvPr/>
        </p:nvCxnSpPr>
        <p:spPr>
          <a:xfrm flipV="1">
            <a:off x="7029606" y="3750966"/>
            <a:ext cx="38917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35">
            <a:extLst>
              <a:ext uri="{FF2B5EF4-FFF2-40B4-BE49-F238E27FC236}">
                <a16:creationId xmlns:a16="http://schemas.microsoft.com/office/drawing/2014/main" id="{60CA1A8B-D8AC-8263-1AFC-91543E1093F9}"/>
              </a:ext>
            </a:extLst>
          </p:cNvPr>
          <p:cNvCxnSpPr>
            <a:cxnSpLocks/>
            <a:stCxn id="9" idx="6"/>
            <a:endCxn id="20" idx="2"/>
          </p:cNvCxnSpPr>
          <p:nvPr/>
        </p:nvCxnSpPr>
        <p:spPr>
          <a:xfrm flipV="1">
            <a:off x="4297304" y="2179396"/>
            <a:ext cx="322264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35">
            <a:extLst>
              <a:ext uri="{FF2B5EF4-FFF2-40B4-BE49-F238E27FC236}">
                <a16:creationId xmlns:a16="http://schemas.microsoft.com/office/drawing/2014/main" id="{BB4400D4-18B2-4898-BBCA-D370E6C71F21}"/>
              </a:ext>
            </a:extLst>
          </p:cNvPr>
          <p:cNvCxnSpPr>
            <a:cxnSpLocks/>
            <a:stCxn id="19" idx="2"/>
            <a:endCxn id="15" idx="0"/>
          </p:cNvCxnSpPr>
          <p:nvPr/>
        </p:nvCxnSpPr>
        <p:spPr>
          <a:xfrm>
            <a:off x="6481717" y="3161795"/>
            <a:ext cx="0" cy="4331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35">
            <a:extLst>
              <a:ext uri="{FF2B5EF4-FFF2-40B4-BE49-F238E27FC236}">
                <a16:creationId xmlns:a16="http://schemas.microsoft.com/office/drawing/2014/main" id="{D81BA1F8-FA72-F984-E107-2E19B7D13097}"/>
              </a:ext>
            </a:extLst>
          </p:cNvPr>
          <p:cNvCxnSpPr>
            <a:cxnSpLocks/>
            <a:stCxn id="20" idx="3"/>
          </p:cNvCxnSpPr>
          <p:nvPr/>
        </p:nvCxnSpPr>
        <p:spPr>
          <a:xfrm flipH="1">
            <a:off x="8003950" y="2513723"/>
            <a:ext cx="6348" cy="106528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4" name="TextBox 30">
            <a:extLst>
              <a:ext uri="{FF2B5EF4-FFF2-40B4-BE49-F238E27FC236}">
                <a16:creationId xmlns:a16="http://schemas.microsoft.com/office/drawing/2014/main" id="{66AA43AC-DB76-5060-51EB-85E6F8C6B60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628614" y="2827746"/>
            <a:ext cx="75067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100" b="1" dirty="0">
                <a:latin typeface="Aptos Narrow" panose="020B0004020202020204" pitchFamily="34" charset="0"/>
              </a:rPr>
              <a:t>Доступ к данным</a:t>
            </a:r>
          </a:p>
        </p:txBody>
      </p:sp>
    </p:spTree>
    <p:extLst>
      <p:ext uri="{BB962C8B-B14F-4D97-AF65-F5344CB8AC3E}">
        <p14:creationId xmlns:p14="http://schemas.microsoft.com/office/powerpoint/2010/main" val="3991181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889E1-5923-BE20-3510-4F5B605EA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F41B0A-FC84-5D2E-E437-E11F5785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E13CA-757F-6560-6E26-6583BEA932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>
            <a:normAutofit fontScale="62500" lnSpcReduction="20000"/>
          </a:bodyPr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ru-RU" altLang="ru-RU" sz="2400" dirty="0"/>
              <a:t>Стандарт </a:t>
            </a:r>
            <a:r>
              <a:rPr lang="ru-RU" altLang="ru-RU" sz="2400" b="1" dirty="0"/>
              <a:t>на хранение объектов </a:t>
            </a:r>
            <a:r>
              <a:rPr lang="ru-RU" altLang="ru-RU" sz="2400" dirty="0"/>
              <a:t>ODMG 2.0 разработан на основе трех существующих стандартов: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altLang="ru-RU" sz="2200" dirty="0"/>
              <a:t>управление базами данных (SQL),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</a:pPr>
            <a:r>
              <a:rPr lang="ru-RU" altLang="ru-RU" sz="2200" dirty="0"/>
              <a:t>объекты (стандарты OMG - Object Management Group) и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</a:pPr>
            <a:r>
              <a:rPr lang="ru-RU" altLang="ru-RU" sz="2200" dirty="0"/>
              <a:t>стандарты на объектно-ориентированные языки программирования (C++, </a:t>
            </a:r>
            <a:r>
              <a:rPr lang="ru-RU" altLang="ru-RU" sz="2200" dirty="0" err="1"/>
              <a:t>Smalltalk</a:t>
            </a:r>
            <a:r>
              <a:rPr lang="ru-RU" altLang="ru-RU" sz="2200" dirty="0"/>
              <a:t>, Java).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</a:pPr>
            <a:endParaRPr lang="ru-RU" alt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</a:pPr>
            <a:endParaRPr lang="ru-RU" alt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</a:pPr>
            <a:endParaRPr lang="ru-RU" altLang="ru-RU" sz="2200" dirty="0"/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ru-RU" altLang="ru-RU" sz="2400" dirty="0"/>
              <a:t>Ключевые </a:t>
            </a:r>
            <a:r>
              <a:rPr lang="ru-RU" altLang="ru-RU" sz="2400" b="1" dirty="0"/>
              <a:t>концепции объектной модели </a:t>
            </a:r>
            <a:r>
              <a:rPr lang="ru-RU" altLang="ru-RU" sz="2400" dirty="0"/>
              <a:t>ODMG: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</a:pPr>
            <a:r>
              <a:rPr lang="ru-RU" altLang="ru-RU" sz="2200" dirty="0"/>
              <a:t>наделение объектов такими свойствами как атрибуты и связи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</a:pPr>
            <a:r>
              <a:rPr lang="ru-RU" altLang="ru-RU" sz="2200" dirty="0"/>
              <a:t>методы объектов (поведение)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</a:pPr>
            <a:r>
              <a:rPr lang="ru-RU" altLang="ru-RU" sz="2200" dirty="0"/>
              <a:t>множественное наследование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</a:pPr>
            <a:r>
              <a:rPr lang="ru-RU" altLang="ru-RU" sz="2200" dirty="0"/>
              <a:t>идентификаторы объектов (ключи)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</a:pPr>
            <a:r>
              <a:rPr lang="ru-RU" altLang="ru-RU" sz="2200" dirty="0"/>
              <a:t>определение таких совокупностей объектов как списки, наборы, массивы и т.д.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</a:pPr>
            <a:r>
              <a:rPr lang="ru-RU" altLang="ru-RU" sz="2200" dirty="0"/>
              <a:t>блокировка объектов и изоляция доступа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</a:pPr>
            <a:r>
              <a:rPr lang="ru-RU" altLang="ru-RU" sz="2200" dirty="0"/>
              <a:t>операции над базой данных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B5645-A562-E9A4-2611-7FF6FDC97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Концепции объектной модели </a:t>
            </a:r>
            <a:r>
              <a:rPr lang="en-US" dirty="0"/>
              <a:t>ODMG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28F886-3A27-E932-25DB-A71AAEED7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080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2F0F8-EDE6-C36A-8380-AF42F571D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C8D8E4-B2F7-00AB-1A9D-9271988C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0D0B7-74BE-C644-A6FE-E579EC528C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>
            <a:normAutofit fontScale="55000" lnSpcReduction="20000"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ru-RU" altLang="ru-RU" sz="3600" dirty="0">
                <a:solidFill>
                  <a:srgbClr val="FF0000"/>
                </a:solidFill>
              </a:rPr>
              <a:t>Объектная модель</a:t>
            </a:r>
            <a:r>
              <a:rPr lang="ru-RU" altLang="ru-RU" sz="3600" dirty="0"/>
              <a:t>, </a:t>
            </a:r>
            <a:r>
              <a:rPr lang="ru-RU" sz="3600" dirty="0"/>
              <a:t>которую должны поддерживать ООСУБД</a:t>
            </a:r>
            <a:endParaRPr lang="ru-RU" altLang="ru-RU" sz="3600" dirty="0"/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ru-RU" altLang="ru-RU" sz="3600" dirty="0">
                <a:solidFill>
                  <a:srgbClr val="FF0000"/>
                </a:solidFill>
              </a:rPr>
              <a:t>Язык определения объектов </a:t>
            </a:r>
            <a:r>
              <a:rPr lang="en-US" altLang="ru-RU" sz="3600" dirty="0">
                <a:solidFill>
                  <a:srgbClr val="FF0000"/>
                </a:solidFill>
              </a:rPr>
              <a:t>ODL</a:t>
            </a:r>
            <a:r>
              <a:rPr lang="ru-RU" altLang="ru-RU" sz="3600" dirty="0"/>
              <a:t>, </a:t>
            </a:r>
            <a:r>
              <a:rPr lang="ru-RU" sz="3600" dirty="0"/>
              <a:t>опирающийся на эту модель </a:t>
            </a:r>
            <a:endParaRPr lang="ru-RU" altLang="ru-RU" sz="3600" dirty="0"/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ru-RU" altLang="ru-RU" sz="3600" dirty="0">
                <a:solidFill>
                  <a:srgbClr val="FF0000"/>
                </a:solidFill>
              </a:rPr>
              <a:t>Объектный язык запросов </a:t>
            </a:r>
            <a:r>
              <a:rPr lang="en-US" altLang="ru-RU" sz="3600" dirty="0">
                <a:solidFill>
                  <a:srgbClr val="FF0000"/>
                </a:solidFill>
              </a:rPr>
              <a:t>OQL </a:t>
            </a:r>
            <a:r>
              <a:rPr lang="ru-RU" altLang="ru-RU" sz="3600" dirty="0"/>
              <a:t>(</a:t>
            </a:r>
            <a:r>
              <a:rPr lang="en-US" altLang="ru-RU" sz="3600" dirty="0" err="1"/>
              <a:t>SQL&amp;Object</a:t>
            </a:r>
            <a:r>
              <a:rPr lang="en-US" altLang="ru-RU" sz="3600" dirty="0"/>
              <a:t> Model)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ru-RU" altLang="ru-RU" sz="3600" dirty="0">
                <a:solidFill>
                  <a:srgbClr val="FF0000"/>
                </a:solidFill>
              </a:rPr>
              <a:t>Язык манипулирования данными </a:t>
            </a:r>
            <a:r>
              <a:rPr lang="en-US" altLang="ru-RU" sz="3600" dirty="0">
                <a:solidFill>
                  <a:srgbClr val="FF0000"/>
                </a:solidFill>
              </a:rPr>
              <a:t>(OML) </a:t>
            </a:r>
            <a:r>
              <a:rPr lang="en-US" altLang="ru-RU" sz="3600" dirty="0"/>
              <a:t>– </a:t>
            </a:r>
            <a:r>
              <a:rPr lang="ru-RU" altLang="ru-RU" sz="3600" dirty="0"/>
              <a:t>отображение объектной модели </a:t>
            </a:r>
            <a:r>
              <a:rPr lang="en-US" altLang="ru-RU" sz="3600" dirty="0"/>
              <a:t>ODMG</a:t>
            </a:r>
            <a:r>
              <a:rPr lang="ru-RU" altLang="ru-RU" sz="3600" dirty="0"/>
              <a:t> в ООЯП (</a:t>
            </a:r>
            <a:r>
              <a:rPr lang="en-US" altLang="ru-RU" sz="3600" dirty="0"/>
              <a:t>Smalltalk, C++)</a:t>
            </a:r>
            <a:r>
              <a:rPr lang="ru-RU" altLang="ru-RU" sz="3600" dirty="0"/>
              <a:t> – часто называют связыванием с ЯП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9AABC-48E0-405A-176B-8EF893C251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Компоненты стандарта </a:t>
            </a:r>
            <a:r>
              <a:rPr lang="en-US" dirty="0"/>
              <a:t>ODMG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9AA7911-5BD0-3574-2DD4-D3F5DD98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870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DCF2D-1DC4-9E55-E16E-60B51F5AF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8D1314-E22F-6D9C-10B5-15E76FD6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2B524-A7E3-BB08-46EF-8DEF2CB9C8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>
            <a:normAutofit fontScale="32500" lnSpcReduction="20000"/>
          </a:bodyPr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ru-RU" altLang="ru-RU" sz="3700" b="1" dirty="0">
                <a:latin typeface="+mn-lt"/>
              </a:rPr>
              <a:t>Объектная модель</a:t>
            </a:r>
            <a:r>
              <a:rPr lang="ru-RU" altLang="ru-RU" sz="3700" dirty="0">
                <a:latin typeface="+mn-lt"/>
              </a:rPr>
              <a:t> - унифицированная основа всего стандарта. 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ru-RU" altLang="ru-RU" sz="3700" dirty="0">
                <a:latin typeface="+mn-lt"/>
              </a:rPr>
              <a:t>Она расширяет объектную модель консорциума OMG за счет введения таких свойств как </a:t>
            </a:r>
            <a:r>
              <a:rPr lang="ru-RU" altLang="ru-RU" sz="3700" b="1" i="1" dirty="0">
                <a:latin typeface="+mn-lt"/>
                <a:cs typeface="Times New Roman" pitchFamily="18" charset="0"/>
              </a:rPr>
              <a:t>связи</a:t>
            </a:r>
            <a:r>
              <a:rPr lang="ru-RU" altLang="ru-RU" sz="3700" i="1" dirty="0">
                <a:solidFill>
                  <a:schemeClr val="bg2"/>
                </a:solidFill>
                <a:latin typeface="+mn-lt"/>
              </a:rPr>
              <a:t> </a:t>
            </a:r>
            <a:r>
              <a:rPr lang="ru-RU" altLang="ru-RU" sz="3700" dirty="0">
                <a:latin typeface="+mn-lt"/>
              </a:rPr>
              <a:t>и понятия </a:t>
            </a:r>
            <a:r>
              <a:rPr lang="ru-RU" altLang="ru-RU" sz="3700" b="1" i="1" dirty="0">
                <a:latin typeface="+mn-lt"/>
                <a:cs typeface="Times New Roman" pitchFamily="18" charset="0"/>
              </a:rPr>
              <a:t>транзакции</a:t>
            </a:r>
            <a:r>
              <a:rPr lang="ru-RU" altLang="ru-RU" sz="3700" i="1" dirty="0">
                <a:solidFill>
                  <a:schemeClr val="bg2"/>
                </a:solidFill>
                <a:latin typeface="+mn-lt"/>
              </a:rPr>
              <a:t> </a:t>
            </a:r>
            <a:r>
              <a:rPr lang="ru-RU" altLang="ru-RU" sz="3700" dirty="0">
                <a:latin typeface="+mn-lt"/>
              </a:rPr>
              <a:t>для обеспечения функциональности, требуемой при взаимодействии с базами данных. 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ru-RU" altLang="ru-RU" sz="3700" dirty="0">
                <a:latin typeface="+mn-lt"/>
              </a:rPr>
              <a:t>Модель определяет 2 вида примитивов моделирования: </a:t>
            </a:r>
            <a:br>
              <a:rPr lang="en-US" altLang="ru-RU" sz="3700" dirty="0">
                <a:latin typeface="+mn-lt"/>
              </a:rPr>
            </a:br>
            <a:r>
              <a:rPr lang="ru-RU" altLang="ru-RU" sz="3700" b="1" i="1" dirty="0">
                <a:latin typeface="+mn-lt"/>
                <a:cs typeface="Times New Roman" pitchFamily="18" charset="0"/>
              </a:rPr>
              <a:t>объекты</a:t>
            </a:r>
            <a:r>
              <a:rPr lang="ru-RU" altLang="ru-RU" sz="3700" b="1" i="1" dirty="0">
                <a:solidFill>
                  <a:schemeClr val="bg2"/>
                </a:solidFill>
                <a:latin typeface="+mn-lt"/>
                <a:cs typeface="Times New Roman" pitchFamily="18" charset="0"/>
              </a:rPr>
              <a:t> </a:t>
            </a:r>
            <a:r>
              <a:rPr lang="ru-RU" altLang="ru-RU" sz="3700" dirty="0">
                <a:latin typeface="+mn-lt"/>
              </a:rPr>
              <a:t>(изменчивые типы)</a:t>
            </a:r>
            <a:r>
              <a:rPr lang="ru-RU" altLang="ru-RU" sz="3700" b="1" i="1" dirty="0">
                <a:solidFill>
                  <a:schemeClr val="bg2"/>
                </a:solidFill>
                <a:latin typeface="+mn-lt"/>
                <a:cs typeface="Times New Roman" pitchFamily="18" charset="0"/>
              </a:rPr>
              <a:t>, </a:t>
            </a:r>
            <a:r>
              <a:rPr lang="ru-RU" altLang="ru-RU" sz="3700" b="1" i="1" dirty="0">
                <a:latin typeface="+mn-lt"/>
                <a:cs typeface="Times New Roman" pitchFamily="18" charset="0"/>
              </a:rPr>
              <a:t>литералы</a:t>
            </a:r>
            <a:r>
              <a:rPr lang="ru-RU" altLang="ru-RU" sz="3700" b="1" i="1" dirty="0">
                <a:solidFill>
                  <a:schemeClr val="bg2"/>
                </a:solidFill>
                <a:latin typeface="+mn-lt"/>
                <a:cs typeface="Times New Roman" pitchFamily="18" charset="0"/>
              </a:rPr>
              <a:t> </a:t>
            </a:r>
            <a:r>
              <a:rPr lang="ru-RU" altLang="ru-RU" sz="3700" dirty="0">
                <a:latin typeface="+mn-lt"/>
              </a:rPr>
              <a:t>(неизменчивые типы)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ru-RU" altLang="ru-RU" sz="3700" dirty="0">
                <a:latin typeface="+mn-lt"/>
              </a:rPr>
              <a:t>Примитивы</a:t>
            </a:r>
            <a:r>
              <a:rPr lang="en-US" altLang="ru-RU" sz="3700" dirty="0">
                <a:latin typeface="+mn-lt"/>
              </a:rPr>
              <a:t> </a:t>
            </a:r>
            <a:r>
              <a:rPr lang="ru-RU" altLang="ru-RU" sz="3700" dirty="0">
                <a:latin typeface="+mn-lt"/>
              </a:rPr>
              <a:t>обоих видов могут быть: </a:t>
            </a:r>
            <a:r>
              <a:rPr lang="ru-RU" altLang="ru-RU" sz="3700" b="1" i="1" dirty="0">
                <a:latin typeface="+mn-lt"/>
                <a:cs typeface="Times New Roman" pitchFamily="18" charset="0"/>
              </a:rPr>
              <a:t>атомарные</a:t>
            </a:r>
            <a:r>
              <a:rPr lang="ru-RU" altLang="ru-RU" sz="3700" b="1" i="1" dirty="0">
                <a:solidFill>
                  <a:schemeClr val="bg2"/>
                </a:solidFill>
                <a:latin typeface="+mn-lt"/>
                <a:cs typeface="Times New Roman" pitchFamily="18" charset="0"/>
              </a:rPr>
              <a:t>, </a:t>
            </a:r>
            <a:r>
              <a:rPr lang="ru-RU" altLang="ru-RU" sz="3700" b="1" i="1" dirty="0">
                <a:latin typeface="+mn-lt"/>
                <a:cs typeface="Times New Roman" pitchFamily="18" charset="0"/>
              </a:rPr>
              <a:t>коллекции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ru-RU" altLang="ru-RU" sz="3700" dirty="0">
                <a:latin typeface="+mn-lt"/>
              </a:rPr>
              <a:t>Каждый объект имеет </a:t>
            </a:r>
            <a:r>
              <a:rPr lang="ru-RU" altLang="ru-RU" sz="3700" b="1" i="1" dirty="0">
                <a:latin typeface="+mn-lt"/>
                <a:cs typeface="Times New Roman" pitchFamily="18" charset="0"/>
              </a:rPr>
              <a:t>уникальный идентификатор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ru-RU" altLang="ru-RU" sz="3700" dirty="0">
                <a:latin typeface="+mn-lt"/>
              </a:rPr>
              <a:t>Литералы </a:t>
            </a:r>
            <a:r>
              <a:rPr lang="ru-RU" altLang="ru-RU" sz="3700" b="1" i="1" dirty="0">
                <a:latin typeface="+mn-lt"/>
                <a:cs typeface="Times New Roman" pitchFamily="18" charset="0"/>
              </a:rPr>
              <a:t>не имеют уникального идентификатора</a:t>
            </a:r>
            <a:r>
              <a:rPr lang="ru-RU" altLang="ru-RU" sz="3700" dirty="0">
                <a:latin typeface="+mn-lt"/>
              </a:rPr>
              <a:t>, т.е. самоидентифицируемы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ru-RU" altLang="ru-RU" sz="3700" dirty="0">
                <a:latin typeface="+mn-lt"/>
              </a:rPr>
              <a:t>Объекты и литералы обладают </a:t>
            </a:r>
            <a:r>
              <a:rPr lang="ru-RU" altLang="ru-RU" sz="3700" b="1" i="1" dirty="0">
                <a:latin typeface="+mn-lt"/>
                <a:cs typeface="Times New Roman" pitchFamily="18" charset="0"/>
              </a:rPr>
              <a:t>типами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ru-RU" altLang="ru-RU" sz="3700" dirty="0">
                <a:latin typeface="+mn-lt"/>
              </a:rPr>
              <a:t>Между </a:t>
            </a:r>
            <a:r>
              <a:rPr lang="ru-RU" altLang="ru-RU" sz="3700" b="1" i="1" dirty="0">
                <a:latin typeface="+mn-lt"/>
                <a:cs typeface="Times New Roman" pitchFamily="18" charset="0"/>
              </a:rPr>
              <a:t>типами</a:t>
            </a:r>
            <a:r>
              <a:rPr lang="ru-RU" altLang="ru-RU" sz="3700" dirty="0">
                <a:latin typeface="+mn-lt"/>
              </a:rPr>
              <a:t> могут устанавливаться </a:t>
            </a:r>
            <a:r>
              <a:rPr lang="ru-RU" altLang="ru-RU" sz="3700" b="1" i="1" dirty="0">
                <a:latin typeface="+mn-lt"/>
                <a:cs typeface="Times New Roman" pitchFamily="18" charset="0"/>
              </a:rPr>
              <a:t>бинарные</a:t>
            </a:r>
            <a:r>
              <a:rPr lang="ru-RU" altLang="ru-RU" sz="3700" dirty="0">
                <a:latin typeface="+mn-lt"/>
              </a:rPr>
              <a:t> </a:t>
            </a:r>
            <a:r>
              <a:rPr lang="ru-RU" altLang="ru-RU" sz="3700" b="1" i="1" dirty="0">
                <a:latin typeface="+mn-lt"/>
                <a:cs typeface="Times New Roman" pitchFamily="18" charset="0"/>
              </a:rPr>
              <a:t>связи</a:t>
            </a:r>
            <a:r>
              <a:rPr lang="en-US" altLang="ru-RU" sz="3700" b="1" i="1" dirty="0">
                <a:latin typeface="+mn-lt"/>
                <a:cs typeface="Times New Roman" pitchFamily="18" charset="0"/>
              </a:rPr>
              <a:t> </a:t>
            </a:r>
            <a:r>
              <a:rPr lang="en-US" altLang="ru-RU" sz="3700" b="1" i="1" dirty="0">
                <a:solidFill>
                  <a:schemeClr val="bg2"/>
                </a:solidFill>
                <a:latin typeface="+mn-lt"/>
                <a:cs typeface="Times New Roman" pitchFamily="18" charset="0"/>
              </a:rPr>
              <a:t>(</a:t>
            </a:r>
            <a:r>
              <a:rPr lang="ru-RU" sz="3700" dirty="0">
                <a:latin typeface="+mn-lt"/>
                <a:cs typeface="Times New Roman" panose="02020603050405020304" pitchFamily="18" charset="0"/>
              </a:rPr>
              <a:t>вида 1:1, 1:</a:t>
            </a:r>
            <a:r>
              <a:rPr lang="en-US" sz="3700" dirty="0">
                <a:latin typeface="+mn-lt"/>
                <a:cs typeface="Times New Roman" panose="02020603050405020304" pitchFamily="18" charset="0"/>
              </a:rPr>
              <a:t>n </a:t>
            </a:r>
            <a:r>
              <a:rPr lang="ru-RU" sz="3700" dirty="0">
                <a:latin typeface="+mn-lt"/>
                <a:cs typeface="Times New Roman" panose="02020603050405020304" pitchFamily="18" charset="0"/>
              </a:rPr>
              <a:t>и </a:t>
            </a:r>
            <a:r>
              <a:rPr lang="en-US" sz="3700" dirty="0">
                <a:latin typeface="+mn-lt"/>
                <a:cs typeface="Times New Roman" panose="02020603050405020304" pitchFamily="18" charset="0"/>
              </a:rPr>
              <a:t>n:m</a:t>
            </a:r>
            <a:r>
              <a:rPr lang="en-US" altLang="ru-RU" sz="3700" b="1" i="1" dirty="0">
                <a:solidFill>
                  <a:schemeClr val="bg2"/>
                </a:solidFill>
                <a:latin typeface="+mn-lt"/>
                <a:cs typeface="Times New Roman" pitchFamily="18" charset="0"/>
              </a:rPr>
              <a:t>)</a:t>
            </a:r>
            <a:endParaRPr lang="ru-RU" altLang="ru-RU" sz="3700" b="1" i="1" dirty="0">
              <a:solidFill>
                <a:schemeClr val="bg2"/>
              </a:solidFill>
              <a:latin typeface="+mn-lt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ru-RU" sz="3700" dirty="0">
                <a:latin typeface="+mn-lt"/>
              </a:rPr>
              <a:t>Состояние элементов данного типа определяется соответствующими им </a:t>
            </a:r>
            <a:r>
              <a:rPr lang="ru-RU" altLang="ru-RU" sz="3700" b="1" i="1" dirty="0">
                <a:latin typeface="+mn-lt"/>
                <a:cs typeface="Times New Roman" pitchFamily="18" charset="0"/>
              </a:rPr>
              <a:t>значениями его свойств </a:t>
            </a:r>
            <a:r>
              <a:rPr lang="ru-RU" sz="3700" dirty="0">
                <a:latin typeface="+mn-lt"/>
              </a:rPr>
              <a:t>(общих для всего типа) </a:t>
            </a:r>
            <a:r>
              <a:rPr lang="ru-RU" altLang="ru-RU" sz="3700" b="1" i="1" dirty="0">
                <a:latin typeface="+mn-lt"/>
                <a:cs typeface="Times New Roman" pitchFamily="18" charset="0"/>
              </a:rPr>
              <a:t>— атрибутов или бинарных связей </a:t>
            </a:r>
            <a:r>
              <a:rPr lang="ru-RU" sz="3700" i="1" dirty="0">
                <a:latin typeface="+mn-lt"/>
              </a:rPr>
              <a:t>с</a:t>
            </a:r>
            <a:r>
              <a:rPr lang="ru-RU" sz="3700" dirty="0">
                <a:latin typeface="+mn-lt"/>
              </a:rPr>
              <a:t> экземплярами других типов. 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ru-RU" sz="3700" dirty="0">
                <a:latin typeface="+mn-lt"/>
              </a:rPr>
              <a:t>Поведение экземпляров типа определяется </a:t>
            </a:r>
            <a:r>
              <a:rPr lang="ru-RU" altLang="ru-RU" sz="3700" b="1" i="1" dirty="0">
                <a:latin typeface="+mn-lt"/>
                <a:cs typeface="Times New Roman" pitchFamily="18" charset="0"/>
              </a:rPr>
              <a:t>набором операций</a:t>
            </a:r>
            <a:r>
              <a:rPr lang="ru-RU" sz="3700" i="1" dirty="0">
                <a:latin typeface="+mn-lt"/>
              </a:rPr>
              <a:t>,</a:t>
            </a:r>
            <a:r>
              <a:rPr lang="ru-RU" sz="3700" dirty="0">
                <a:latin typeface="+mn-lt"/>
              </a:rPr>
              <a:t> задаваемых их сигнатурами, и этот набор также является общим для всех экземпляров данного типа</a:t>
            </a:r>
            <a:r>
              <a:rPr lang="ru-RU" sz="3600" dirty="0">
                <a:latin typeface="+mn-lt"/>
              </a:rPr>
              <a:t>. </a:t>
            </a:r>
            <a:endParaRPr lang="ru-RU" altLang="ru-RU" sz="3600" b="1" i="1" dirty="0">
              <a:solidFill>
                <a:schemeClr val="bg2"/>
              </a:solidFill>
              <a:latin typeface="+mn-lt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endParaRPr lang="ru-RU" altLang="ru-RU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6EA5B-05E1-9910-EE91-7E391402C2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Компоненты стандарта </a:t>
            </a:r>
            <a:r>
              <a:rPr lang="en-US" dirty="0"/>
              <a:t>ODMG</a:t>
            </a:r>
            <a:r>
              <a:rPr lang="ru-RU" dirty="0"/>
              <a:t>. Объектная модель (1)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272E57-C74C-3162-4BC3-9F72A32B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525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4C25A-A0C7-AABA-6867-4710E3217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DF04C4-341C-774B-E86C-82952DED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E475C-EE7B-4219-7EA2-759240AED8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>
            <a:normAutofit fontScale="62500" lnSpcReduction="20000"/>
          </a:bodyPr>
          <a:lstStyle/>
          <a:p>
            <a:pPr marL="177800" indent="-177800" eaLnBrk="1" hangingPunct="1">
              <a:lnSpc>
                <a:spcPct val="120000"/>
              </a:lnSpc>
              <a:spcBef>
                <a:spcPts val="300"/>
              </a:spcBef>
            </a:pPr>
            <a:r>
              <a:rPr lang="ru-RU" sz="2400" dirty="0">
                <a:latin typeface="+mn-lt"/>
              </a:rPr>
              <a:t>Типы в объектной модели </a:t>
            </a:r>
            <a:r>
              <a:rPr lang="en-US" sz="2400" dirty="0">
                <a:latin typeface="+mn-lt"/>
              </a:rPr>
              <a:t>ODMG</a:t>
            </a:r>
            <a:r>
              <a:rPr lang="ru-RU" sz="2400" dirty="0">
                <a:latin typeface="+mn-lt"/>
              </a:rPr>
              <a:t> сами являются </a:t>
            </a:r>
            <a:r>
              <a:rPr lang="ru-RU" sz="2300" b="1" i="1" dirty="0">
                <a:latin typeface="+mn-lt"/>
                <a:cs typeface="Times New Roman" panose="02020603050405020304" pitchFamily="18" charset="0"/>
              </a:rPr>
              <a:t>объектами</a:t>
            </a:r>
            <a:r>
              <a:rPr lang="ru-RU" sz="2300" b="1" i="1" dirty="0">
                <a:solidFill>
                  <a:schemeClr val="bg2"/>
                </a:solidFill>
                <a:latin typeface="+mn-lt"/>
                <a:cs typeface="Times New Roman" pitchFamily="18" charset="0"/>
              </a:rPr>
              <a:t> </a:t>
            </a:r>
            <a:r>
              <a:rPr lang="ru-RU" sz="2400" dirty="0">
                <a:latin typeface="+mn-lt"/>
              </a:rPr>
              <a:t>и имеют собственные свойства</a:t>
            </a:r>
            <a:r>
              <a:rPr lang="ru-RU" sz="2400" dirty="0">
                <a:solidFill>
                  <a:schemeClr val="bg2"/>
                </a:solidFill>
                <a:latin typeface="+mn-lt"/>
                <a:cs typeface="Times New Roman" pitchFamily="18" charset="0"/>
              </a:rPr>
              <a:t>:</a:t>
            </a:r>
          </a:p>
          <a:p>
            <a:pPr marL="361950" lvl="1" indent="-184150">
              <a:lnSpc>
                <a:spcPct val="120000"/>
              </a:lnSpc>
              <a:spcBef>
                <a:spcPts val="300"/>
              </a:spcBef>
            </a:pPr>
            <a:r>
              <a:rPr lang="ru-RU" sz="2100" i="1" dirty="0">
                <a:latin typeface="+mn-lt"/>
              </a:rPr>
              <a:t>список </a:t>
            </a:r>
            <a:r>
              <a:rPr lang="ru-RU" sz="2100" i="1" dirty="0" err="1">
                <a:latin typeface="+mn-lt"/>
              </a:rPr>
              <a:t>супертипов</a:t>
            </a:r>
            <a:r>
              <a:rPr lang="ru-RU" sz="2100" dirty="0">
                <a:latin typeface="+mn-lt"/>
              </a:rPr>
              <a:t> данного типа</a:t>
            </a:r>
            <a:r>
              <a:rPr lang="en-US" sz="2100" dirty="0">
                <a:latin typeface="+mn-lt"/>
              </a:rPr>
              <a:t> (</a:t>
            </a:r>
            <a:r>
              <a:rPr lang="ru-RU" sz="2100" dirty="0">
                <a:latin typeface="+mn-lt"/>
              </a:rPr>
              <a:t>множественное наследование возможно</a:t>
            </a:r>
            <a:r>
              <a:rPr lang="en-US" sz="2100" dirty="0">
                <a:latin typeface="+mn-lt"/>
              </a:rPr>
              <a:t>)</a:t>
            </a:r>
            <a:endParaRPr lang="ru-RU" sz="2100" dirty="0">
              <a:latin typeface="+mn-lt"/>
            </a:endParaRPr>
          </a:p>
          <a:p>
            <a:pPr marL="361950" lvl="1" indent="-184150">
              <a:lnSpc>
                <a:spcPct val="120000"/>
              </a:lnSpc>
              <a:spcBef>
                <a:spcPts val="300"/>
              </a:spcBef>
              <a:buClr>
                <a:srgbClr val="C00000"/>
              </a:buClr>
            </a:pPr>
            <a:r>
              <a:rPr lang="ru-RU" sz="2100" i="1" dirty="0">
                <a:latin typeface="+mn-lt"/>
              </a:rPr>
              <a:t>экстент </a:t>
            </a:r>
            <a:r>
              <a:rPr lang="ru-RU" sz="2100" dirty="0">
                <a:latin typeface="+mn-lt"/>
              </a:rPr>
              <a:t>— множество экземпляров данного типа в базе данных</a:t>
            </a:r>
          </a:p>
          <a:p>
            <a:pPr marL="361950" lvl="1" indent="-184150">
              <a:lnSpc>
                <a:spcPct val="120000"/>
              </a:lnSpc>
              <a:spcBef>
                <a:spcPts val="300"/>
              </a:spcBef>
              <a:buClr>
                <a:srgbClr val="C00000"/>
              </a:buClr>
            </a:pPr>
            <a:r>
              <a:rPr lang="ru-RU" sz="2100" i="1" dirty="0">
                <a:latin typeface="+mn-lt"/>
              </a:rPr>
              <a:t>ключ </a:t>
            </a:r>
            <a:r>
              <a:rPr lang="ru-RU" sz="2100" dirty="0">
                <a:latin typeface="+mn-lt"/>
              </a:rPr>
              <a:t>— факультативное свойство, обеспечивающее возможность идентификации экземпляров типа значениями заданного набора свойств объекта</a:t>
            </a:r>
          </a:p>
          <a:p>
            <a:pPr marL="177800" lvl="1" indent="-177800">
              <a:lnSpc>
                <a:spcPct val="120000"/>
              </a:lnSpc>
              <a:spcBef>
                <a:spcPts val="300"/>
              </a:spcBef>
              <a:buClr>
                <a:schemeClr val="bg2"/>
              </a:buClr>
              <a:buSzPct val="75000"/>
            </a:pPr>
            <a:r>
              <a:rPr lang="ru-RU" sz="2300" dirty="0">
                <a:latin typeface="+mn-lt"/>
              </a:rPr>
              <a:t>В модели </a:t>
            </a:r>
            <a:r>
              <a:rPr lang="en-US" altLang="ru-RU" sz="2300" dirty="0">
                <a:latin typeface="+mn-lt"/>
              </a:rPr>
              <a:t>ODMG </a:t>
            </a:r>
            <a:r>
              <a:rPr lang="ru-RU" sz="2300" dirty="0">
                <a:latin typeface="+mn-lt"/>
              </a:rPr>
              <a:t>предусматриваются 2 вида объектных типов:</a:t>
            </a:r>
          </a:p>
          <a:p>
            <a:pPr marL="361950" lvl="1" indent="-184150">
              <a:lnSpc>
                <a:spcPct val="120000"/>
              </a:lnSpc>
              <a:spcBef>
                <a:spcPts val="300"/>
              </a:spcBef>
              <a:buClr>
                <a:srgbClr val="C00000"/>
              </a:buClr>
            </a:pPr>
            <a:r>
              <a:rPr lang="ru-RU" sz="2100" i="1" dirty="0">
                <a:latin typeface="+mn-lt"/>
              </a:rPr>
              <a:t>типы-интерфейсы </a:t>
            </a:r>
            <a:r>
              <a:rPr lang="ru-RU" sz="2100" dirty="0">
                <a:latin typeface="+mn-lt"/>
              </a:rPr>
              <a:t>(они не могут порождать экземпляров)</a:t>
            </a:r>
          </a:p>
          <a:p>
            <a:pPr marL="361950" lvl="1" indent="-184150">
              <a:lnSpc>
                <a:spcPct val="120000"/>
              </a:lnSpc>
              <a:spcBef>
                <a:spcPts val="300"/>
              </a:spcBef>
              <a:buClr>
                <a:srgbClr val="C00000"/>
              </a:buClr>
            </a:pPr>
            <a:r>
              <a:rPr lang="ru-RU" sz="2100" i="1" dirty="0">
                <a:latin typeface="+mn-lt"/>
              </a:rPr>
              <a:t>типы-классы, </a:t>
            </a:r>
            <a:r>
              <a:rPr lang="ru-RU" sz="2100" dirty="0">
                <a:latin typeface="+mn-lt"/>
              </a:rPr>
              <a:t>которые могут порождать экземпляры. </a:t>
            </a:r>
          </a:p>
          <a:p>
            <a:pPr marL="177800" lvl="1" indent="-177800">
              <a:lnSpc>
                <a:spcPct val="120000"/>
              </a:lnSpc>
              <a:spcBef>
                <a:spcPts val="300"/>
              </a:spcBef>
              <a:buClr>
                <a:srgbClr val="C00000"/>
              </a:buClr>
              <a:buSzPct val="75000"/>
            </a:pPr>
            <a:r>
              <a:rPr lang="ru-RU" sz="2400" dirty="0">
                <a:latin typeface="+mn-lt"/>
              </a:rPr>
              <a:t>Между классами может устанавливаться транзитивное бинарное отношение простого наследования, обозначаемого в синтаксисе языка определения объектов (</a:t>
            </a:r>
            <a:r>
              <a:rPr lang="en-US" sz="2400" dirty="0">
                <a:latin typeface="+mn-lt"/>
              </a:rPr>
              <a:t>ODL</a:t>
            </a:r>
            <a:r>
              <a:rPr lang="ru-RU" sz="2400" dirty="0">
                <a:latin typeface="+mn-lt"/>
              </a:rPr>
              <a:t>) ключевым словом </a:t>
            </a:r>
            <a:r>
              <a:rPr lang="en-US" sz="2400" dirty="0">
                <a:latin typeface="+mn-lt"/>
              </a:rPr>
              <a:t>EXTENDS</a:t>
            </a:r>
            <a:r>
              <a:rPr lang="ru-RU" sz="2400" dirty="0">
                <a:latin typeface="+mn-lt"/>
              </a:rPr>
              <a:t>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A9479-99CE-B0A8-5656-99C34C4F30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Компоненты стандарта </a:t>
            </a:r>
            <a:r>
              <a:rPr lang="en-US" dirty="0"/>
              <a:t>ODMG</a:t>
            </a:r>
            <a:r>
              <a:rPr lang="ru-RU" dirty="0"/>
              <a:t>. Объектная модель (2)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5148108-22C0-E934-C2BA-7EDCC1C15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49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41FA4-B69F-BC3F-E5A3-582B3E43A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74F29B-6F5D-436B-C044-CFA9FA351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44FAD-6D22-3C77-CA86-C96EBB27B6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>
            <a:normAutofit fontScale="70000" lnSpcReduction="20000"/>
          </a:bodyPr>
          <a:lstStyle/>
          <a:p>
            <a:pPr marL="177800" lvl="1" indent="-177800">
              <a:lnSpc>
                <a:spcPct val="120000"/>
              </a:lnSpc>
              <a:spcBef>
                <a:spcPts val="300"/>
              </a:spcBef>
              <a:buClr>
                <a:srgbClr val="C00000"/>
              </a:buClr>
              <a:buSzPct val="75000"/>
            </a:pPr>
            <a:r>
              <a:rPr lang="ru-RU" sz="2400" dirty="0">
                <a:latin typeface="+mn-lt"/>
              </a:rPr>
              <a:t>Свойства типов-интерфейсов могут наследоваться другими интерфейсами и классами</a:t>
            </a:r>
          </a:p>
          <a:p>
            <a:pPr marL="177800" lvl="1" indent="-177800">
              <a:lnSpc>
                <a:spcPct val="120000"/>
              </a:lnSpc>
              <a:spcBef>
                <a:spcPts val="300"/>
              </a:spcBef>
              <a:buClr>
                <a:srgbClr val="C00000"/>
              </a:buClr>
              <a:buSzPct val="75000"/>
            </a:pPr>
            <a:r>
              <a:rPr lang="ru-RU" sz="2400" dirty="0">
                <a:latin typeface="+mn-lt"/>
              </a:rPr>
              <a:t>Интерфейсы не могут наследовать от классов</a:t>
            </a:r>
          </a:p>
          <a:p>
            <a:pPr marL="177800" lvl="1" indent="-177800">
              <a:lnSpc>
                <a:spcPct val="120000"/>
              </a:lnSpc>
              <a:spcBef>
                <a:spcPts val="300"/>
              </a:spcBef>
              <a:buClr>
                <a:srgbClr val="C00000"/>
              </a:buClr>
              <a:buSzPct val="75000"/>
            </a:pPr>
            <a:r>
              <a:rPr lang="ru-RU" sz="2400" dirty="0">
                <a:latin typeface="+mn-lt"/>
              </a:rPr>
              <a:t>В стандарте ODMG </a:t>
            </a:r>
          </a:p>
          <a:p>
            <a:pPr marL="361950" lvl="1" indent="-184150">
              <a:lnSpc>
                <a:spcPct val="120000"/>
              </a:lnSpc>
              <a:spcBef>
                <a:spcPts val="300"/>
              </a:spcBef>
              <a:buClr>
                <a:srgbClr val="C00000"/>
              </a:buClr>
            </a:pPr>
            <a:r>
              <a:rPr lang="ru-RU" sz="2100" dirty="0">
                <a:latin typeface="+mn-lt"/>
              </a:rPr>
              <a:t>определение типа-интерфейса представляет собой спецификацию только поведения объектного типа.</a:t>
            </a:r>
          </a:p>
          <a:p>
            <a:pPr marL="361950" lvl="1" indent="-184150">
              <a:lnSpc>
                <a:spcPct val="120000"/>
              </a:lnSpc>
              <a:spcBef>
                <a:spcPts val="300"/>
              </a:spcBef>
              <a:buClr>
                <a:srgbClr val="C00000"/>
              </a:buClr>
            </a:pPr>
            <a:r>
              <a:rPr lang="ru-RU" sz="2100" dirty="0">
                <a:latin typeface="+mn-lt"/>
              </a:rPr>
              <a:t>определение типа-класса специфицирует не только поведение, но и состояние объектного типа. </a:t>
            </a:r>
          </a:p>
          <a:p>
            <a:pPr marL="361950" lvl="1" indent="-184150">
              <a:lnSpc>
                <a:spcPct val="120000"/>
              </a:lnSpc>
              <a:spcBef>
                <a:spcPts val="300"/>
              </a:spcBef>
              <a:buClr>
                <a:srgbClr val="C00000"/>
              </a:buClr>
            </a:pPr>
            <a:r>
              <a:rPr lang="ru-RU" sz="2100" dirty="0">
                <a:latin typeface="+mn-lt"/>
              </a:rPr>
              <a:t>определение литерала специфицирует лишь состояние литерального типа.</a:t>
            </a:r>
            <a:endParaRPr lang="ru-RU" sz="1700" dirty="0">
              <a:latin typeface="+mn-lt"/>
            </a:endParaRPr>
          </a:p>
          <a:p>
            <a:pPr marL="177800" lvl="1" indent="-177800">
              <a:lnSpc>
                <a:spcPct val="120000"/>
              </a:lnSpc>
              <a:spcBef>
                <a:spcPts val="300"/>
              </a:spcBef>
              <a:buClr>
                <a:srgbClr val="C00000"/>
              </a:buClr>
              <a:buSzPct val="75000"/>
            </a:pPr>
            <a:r>
              <a:rPr lang="ru-RU" sz="2500" dirty="0">
                <a:latin typeface="+mn-lt"/>
              </a:rPr>
              <a:t>Для интерфейса может иметься несколько реализации. </a:t>
            </a:r>
          </a:p>
          <a:p>
            <a:pPr marL="0" lvl="1" indent="0">
              <a:lnSpc>
                <a:spcPct val="120000"/>
              </a:lnSpc>
              <a:spcBef>
                <a:spcPts val="300"/>
              </a:spcBef>
              <a:buClr>
                <a:srgbClr val="C00000"/>
              </a:buClr>
              <a:buSzPct val="75000"/>
              <a:buNone/>
            </a:pPr>
            <a:endParaRPr lang="ru-RU" altLang="ru-RU" sz="2400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0C5BD-1E4F-5BC1-F40D-9EEBB171A9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Компоненты стандарта </a:t>
            </a:r>
            <a:r>
              <a:rPr lang="en-US" dirty="0"/>
              <a:t>ODMG</a:t>
            </a:r>
            <a:r>
              <a:rPr lang="ru-RU" dirty="0"/>
              <a:t>. Объектная модель (3)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A5CF49D-3423-C19E-9FF9-8EC897BF2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267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95FAB-11FE-270D-34EC-04435D26E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6DA592-0BE9-E507-6D8C-8C3BD096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7A58E-EBD2-4970-093A-4EB7ED73B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>
            <a:normAutofit fontScale="550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altLang="ru-RU" sz="2400" dirty="0">
                <a:latin typeface="+mn-lt"/>
              </a:rPr>
              <a:t>ODL  (</a:t>
            </a:r>
            <a:r>
              <a:rPr lang="ru-RU" altLang="ru-RU" sz="2400" dirty="0">
                <a:latin typeface="+mn-lt"/>
                <a:cs typeface="Times New Roman" pitchFamily="18" charset="0"/>
              </a:rPr>
              <a:t>Object Definition Language </a:t>
            </a:r>
            <a:r>
              <a:rPr lang="ru-RU" altLang="ru-RU" sz="2400" i="1" dirty="0">
                <a:latin typeface="+mn-lt"/>
                <a:cs typeface="Times New Roman" pitchFamily="18" charset="0"/>
              </a:rPr>
              <a:t>– язык определения объектов</a:t>
            </a:r>
            <a:r>
              <a:rPr lang="ru-RU" altLang="ru-RU" sz="2400" dirty="0">
                <a:latin typeface="+mn-lt"/>
              </a:rPr>
              <a:t>) </a:t>
            </a:r>
            <a:r>
              <a:rPr lang="ru-RU" altLang="ru-RU" sz="2400" dirty="0"/>
              <a:t>- средство определения схемы базы данных</a:t>
            </a:r>
            <a:endParaRPr lang="en-US" altLang="ru-RU" sz="2400" dirty="0"/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/>
              <a:t>ODL является расширением </a:t>
            </a:r>
            <a:r>
              <a:rPr lang="ru-RU" altLang="ru-RU" sz="2400" dirty="0">
                <a:latin typeface="+mn-lt"/>
              </a:rPr>
              <a:t>IDL (</a:t>
            </a:r>
            <a:r>
              <a:rPr lang="ru-RU" altLang="ru-RU" sz="2400" dirty="0">
                <a:latin typeface="+mn-lt"/>
                <a:cs typeface="Times New Roman" pitchFamily="18" charset="0"/>
              </a:rPr>
              <a:t>Interface Definition Language  - </a:t>
            </a:r>
            <a:r>
              <a:rPr lang="ru-RU" altLang="ru-RU" sz="2400" i="1" dirty="0">
                <a:latin typeface="+mn-lt"/>
                <a:cs typeface="Times New Roman" pitchFamily="18" charset="0"/>
              </a:rPr>
              <a:t>язык определения интерфейсов</a:t>
            </a:r>
            <a:r>
              <a:rPr lang="en-US" altLang="ru-RU" sz="2400" dirty="0">
                <a:latin typeface="+mn-lt"/>
              </a:rPr>
              <a:t>) </a:t>
            </a:r>
            <a:r>
              <a:rPr lang="ru-RU" altLang="ru-RU" sz="2400" dirty="0"/>
              <a:t>модели OMG </a:t>
            </a:r>
            <a:endParaRPr lang="en-US" altLang="ru-RU" sz="2400" dirty="0"/>
          </a:p>
          <a:p>
            <a:pPr eaLnBrk="1" hangingPunct="1">
              <a:lnSpc>
                <a:spcPct val="120000"/>
              </a:lnSpc>
            </a:pPr>
            <a:r>
              <a:rPr lang="en-US" altLang="ru-RU" sz="2400" dirty="0"/>
              <a:t>ODL </a:t>
            </a:r>
            <a:r>
              <a:rPr lang="ru-RU" altLang="ru-RU" sz="2400" dirty="0"/>
              <a:t>предоставляет средства для определения </a:t>
            </a:r>
            <a:r>
              <a:rPr lang="ru-RU" altLang="ru-RU" sz="2400" u="sng" dirty="0"/>
              <a:t>объектных типов</a:t>
            </a:r>
            <a:r>
              <a:rPr lang="ru-RU" altLang="ru-RU" sz="2400" dirty="0"/>
              <a:t>, их </a:t>
            </a:r>
            <a:r>
              <a:rPr lang="ru-RU" altLang="ru-RU" sz="2400" i="1" dirty="0"/>
              <a:t>атрибутов</a:t>
            </a:r>
            <a:r>
              <a:rPr lang="ru-RU" altLang="ru-RU" sz="2400" dirty="0"/>
              <a:t>, </a:t>
            </a:r>
            <a:r>
              <a:rPr lang="ru-RU" altLang="ru-RU" sz="2400" i="1" dirty="0"/>
              <a:t>связей</a:t>
            </a:r>
            <a:r>
              <a:rPr lang="ru-RU" altLang="ru-RU" sz="2400" dirty="0"/>
              <a:t> и </a:t>
            </a:r>
            <a:r>
              <a:rPr lang="ru-RU" altLang="ru-RU" sz="2400" i="1" dirty="0"/>
              <a:t>методов</a:t>
            </a:r>
            <a:endParaRPr lang="en-US" altLang="ru-RU" sz="2400" i="1" dirty="0"/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/>
              <a:t>ODL создает слой </a:t>
            </a:r>
            <a:r>
              <a:rPr lang="ru-RU" altLang="ru-RU" sz="2400" i="1" dirty="0">
                <a:solidFill>
                  <a:schemeClr val="accent5">
                    <a:lumMod val="50000"/>
                  </a:schemeClr>
                </a:solidFill>
              </a:rPr>
              <a:t>абстрактных описаний </a:t>
            </a:r>
            <a:r>
              <a:rPr lang="ru-RU" altLang="ru-RU" sz="2400" dirty="0"/>
              <a:t>так, что </a:t>
            </a:r>
            <a:r>
              <a:rPr lang="ru-RU" altLang="ru-RU" sz="2400" b="1" dirty="0"/>
              <a:t>схема базы данных</a:t>
            </a:r>
            <a:r>
              <a:rPr lang="ru-RU" altLang="ru-RU" sz="2400" dirty="0"/>
              <a:t> становится </a:t>
            </a:r>
            <a:r>
              <a:rPr lang="ru-RU" altLang="ru-RU" sz="2400" b="1" dirty="0"/>
              <a:t>независима</a:t>
            </a:r>
            <a:r>
              <a:rPr lang="ru-RU" altLang="ru-RU" sz="2400" dirty="0"/>
              <a:t> как от </a:t>
            </a:r>
            <a:r>
              <a:rPr lang="ru-RU" altLang="ru-RU" sz="2400" b="1" dirty="0"/>
              <a:t>языка программирования</a:t>
            </a:r>
            <a:r>
              <a:rPr lang="en-US" altLang="ru-RU" sz="2400" b="1" dirty="0"/>
              <a:t>,</a:t>
            </a:r>
            <a:r>
              <a:rPr lang="ru-RU" altLang="ru-RU" sz="2400" b="1" dirty="0"/>
              <a:t> </a:t>
            </a:r>
            <a:r>
              <a:rPr lang="ru-RU" altLang="ru-RU" sz="2400" dirty="0"/>
              <a:t>так и от </a:t>
            </a:r>
            <a:r>
              <a:rPr lang="ru-RU" altLang="ru-RU" sz="2400" b="1" dirty="0"/>
              <a:t>СУБД</a:t>
            </a:r>
          </a:p>
          <a:p>
            <a:pPr eaLnBrk="1" hangingPunct="1">
              <a:lnSpc>
                <a:spcPct val="120000"/>
              </a:lnSpc>
            </a:pPr>
            <a:r>
              <a:rPr lang="ru-RU" altLang="ru-RU" sz="2400" dirty="0"/>
              <a:t>ODL рассматривает </a:t>
            </a:r>
            <a:r>
              <a:rPr lang="ru-RU" altLang="ru-RU" sz="2400" i="1" dirty="0">
                <a:solidFill>
                  <a:schemeClr val="accent5">
                    <a:lumMod val="50000"/>
                  </a:schemeClr>
                </a:solidFill>
              </a:rPr>
              <a:t>только описание объектных типов </a:t>
            </a:r>
            <a:r>
              <a:rPr lang="ru-RU" altLang="ru-RU" sz="2400" dirty="0"/>
              <a:t>данных, не вдаваясь в детали реализации их методов</a:t>
            </a:r>
          </a:p>
          <a:p>
            <a:pPr eaLnBrk="1" hangingPunct="1">
              <a:lnSpc>
                <a:spcPct val="120000"/>
              </a:lnSpc>
            </a:pPr>
            <a:r>
              <a:rPr lang="ru-RU" sz="2400" dirty="0"/>
              <a:t>Это позволяет </a:t>
            </a:r>
            <a:r>
              <a:rPr lang="ru-RU" sz="2400" i="1" dirty="0">
                <a:solidFill>
                  <a:schemeClr val="accent5">
                    <a:lumMod val="50000"/>
                  </a:schemeClr>
                </a:solidFill>
              </a:rPr>
              <a:t>переносить схему БД </a:t>
            </a:r>
            <a:r>
              <a:rPr lang="ru-RU" sz="2400" dirty="0"/>
              <a:t>между различными ODMG-совместимыми СУБД и языками программирования, а также транслировать ее в другие DDL. </a:t>
            </a:r>
            <a:endParaRPr lang="ru-RU" altLang="ru-RU" sz="2400" dirty="0"/>
          </a:p>
          <a:p>
            <a:pPr marL="0" lvl="1" indent="0">
              <a:lnSpc>
                <a:spcPct val="120000"/>
              </a:lnSpc>
              <a:spcBef>
                <a:spcPts val="300"/>
              </a:spcBef>
              <a:buClr>
                <a:srgbClr val="C00000"/>
              </a:buClr>
              <a:buSzPct val="75000"/>
              <a:buNone/>
            </a:pPr>
            <a:endParaRPr lang="ru-RU" altLang="ru-RU" sz="2400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3138D-19CD-B891-B11D-F69FE89FAE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Компоненты стандарта </a:t>
            </a:r>
            <a:r>
              <a:rPr lang="en-US" dirty="0"/>
              <a:t>ODMG</a:t>
            </a:r>
            <a:r>
              <a:rPr lang="ru-RU" dirty="0"/>
              <a:t>. Язык описания объектов (</a:t>
            </a:r>
            <a:r>
              <a:rPr lang="en-US" dirty="0"/>
              <a:t>ODL)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74EEE9-D27A-5448-B73E-CD13B75A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806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BA092-AC00-79FB-BB2D-80FD77F1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5E0821-138C-DD9B-B2B6-42BCD33A2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CBE31-7CC3-20C9-4F2F-94D9A75673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>
            <a:normAutofit fontScale="6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altLang="ru-RU" sz="2400" b="1" i="1" dirty="0"/>
              <a:t>Атомарные типы</a:t>
            </a:r>
            <a:r>
              <a:rPr lang="ru-RU" altLang="ru-RU" sz="2400" i="1" dirty="0"/>
              <a:t> </a:t>
            </a:r>
            <a:r>
              <a:rPr lang="ru-RU" altLang="ru-RU" sz="2400" dirty="0"/>
              <a:t>(</a:t>
            </a:r>
            <a:r>
              <a:rPr lang="en-US" altLang="ru-RU" sz="2400" dirty="0"/>
              <a:t>atomic types</a:t>
            </a:r>
            <a:r>
              <a:rPr lang="ru-RU" altLang="ru-RU" sz="2400" dirty="0"/>
              <a:t>):</a:t>
            </a:r>
            <a:endParaRPr lang="en-US" altLang="ru-RU" sz="2200" dirty="0"/>
          </a:p>
          <a:p>
            <a:pPr marL="541338" lvl="1" indent="-274638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</a:pPr>
            <a:r>
              <a:rPr lang="en-US" altLang="ru-RU" sz="2200" dirty="0"/>
              <a:t>integer </a:t>
            </a:r>
            <a:r>
              <a:rPr lang="ru-RU" altLang="ru-RU" sz="2200" dirty="0"/>
              <a:t>(целое число)</a:t>
            </a:r>
            <a:endParaRPr lang="en-US" altLang="ru-RU" sz="2200" dirty="0"/>
          </a:p>
          <a:p>
            <a:pPr marL="541338" lvl="1" indent="-274638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</a:pPr>
            <a:r>
              <a:rPr lang="en-US" altLang="ru-RU" sz="2200" dirty="0"/>
              <a:t>float </a:t>
            </a:r>
            <a:r>
              <a:rPr lang="ru-RU" altLang="ru-RU" sz="2200" dirty="0"/>
              <a:t>(вещественное число с плавающей запятой)</a:t>
            </a:r>
            <a:endParaRPr lang="en-US" altLang="ru-RU" sz="2200" dirty="0"/>
          </a:p>
          <a:p>
            <a:pPr marL="541338" lvl="1" indent="-274638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</a:pPr>
            <a:r>
              <a:rPr lang="en-US" altLang="ru-RU" sz="2200" dirty="0"/>
              <a:t>character </a:t>
            </a:r>
            <a:r>
              <a:rPr lang="ru-RU" altLang="ru-RU" sz="2200" dirty="0"/>
              <a:t>(символ)</a:t>
            </a:r>
            <a:endParaRPr lang="en-US" altLang="ru-RU" sz="2200" dirty="0"/>
          </a:p>
          <a:p>
            <a:pPr marL="541338" lvl="1" indent="-274638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</a:pPr>
            <a:r>
              <a:rPr lang="en-US" altLang="ru-RU" sz="2200" dirty="0"/>
              <a:t>string </a:t>
            </a:r>
            <a:r>
              <a:rPr lang="ru-RU" altLang="ru-RU" sz="2200" dirty="0"/>
              <a:t>(строка символов)</a:t>
            </a:r>
            <a:endParaRPr lang="en-US" altLang="ru-RU" sz="2200" dirty="0"/>
          </a:p>
          <a:p>
            <a:pPr marL="541338" lvl="1" indent="-274638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</a:pPr>
            <a:r>
              <a:rPr lang="en-US" altLang="ru-RU" sz="2200" dirty="0" err="1"/>
              <a:t>boolean</a:t>
            </a:r>
            <a:r>
              <a:rPr lang="en-US" altLang="ru-RU" sz="2200" dirty="0"/>
              <a:t> </a:t>
            </a:r>
            <a:r>
              <a:rPr lang="ru-RU" altLang="ru-RU" sz="2200" dirty="0"/>
              <a:t>(бинарное логическое значение)</a:t>
            </a:r>
            <a:endParaRPr lang="en-US" altLang="ru-RU" sz="2200" dirty="0"/>
          </a:p>
          <a:p>
            <a:pPr marL="541338" lvl="1" indent="-274638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</a:pPr>
            <a:r>
              <a:rPr lang="en-US" altLang="ru-RU" sz="2200" dirty="0"/>
              <a:t>enumerations</a:t>
            </a:r>
            <a:r>
              <a:rPr lang="ru-RU" altLang="ru-RU" sz="2200" dirty="0"/>
              <a:t> (перечислимые типы)</a:t>
            </a:r>
          </a:p>
          <a:p>
            <a:pPr marL="541338" lvl="1" indent="-274638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</a:pPr>
            <a:endParaRPr lang="en-US" altLang="ru-RU" sz="2200" dirty="0"/>
          </a:p>
          <a:p>
            <a:pPr eaLnBrk="1" hangingPunct="1">
              <a:lnSpc>
                <a:spcPct val="120000"/>
              </a:lnSpc>
            </a:pPr>
            <a:r>
              <a:rPr lang="ru-RU" altLang="ru-RU" sz="2400" b="1" i="1" dirty="0"/>
              <a:t>Классы</a:t>
            </a:r>
            <a:r>
              <a:rPr lang="ru-RU" altLang="ru-RU" sz="2400" i="1" dirty="0"/>
              <a:t> </a:t>
            </a:r>
            <a:r>
              <a:rPr lang="ru-RU" altLang="ru-RU" sz="2400" dirty="0"/>
              <a:t>(</a:t>
            </a:r>
            <a:r>
              <a:rPr lang="en-US" altLang="ru-RU" sz="2400" dirty="0"/>
              <a:t>classes</a:t>
            </a:r>
            <a:r>
              <a:rPr lang="ru-RU" altLang="ru-RU" sz="2400" dirty="0"/>
              <a:t>)</a:t>
            </a:r>
            <a:r>
              <a:rPr lang="en-US" altLang="ru-RU" sz="2400" dirty="0"/>
              <a:t> – </a:t>
            </a:r>
            <a:r>
              <a:rPr lang="ru-RU" altLang="ru-RU" sz="2400" dirty="0"/>
              <a:t>структуры, содержащие </a:t>
            </a:r>
            <a:r>
              <a:rPr lang="ru-RU" altLang="ru-RU" sz="2400" b="1" dirty="0"/>
              <a:t>компоненты</a:t>
            </a:r>
            <a:r>
              <a:rPr lang="ru-RU" altLang="ru-RU" sz="2400" dirty="0"/>
              <a:t> </a:t>
            </a:r>
          </a:p>
          <a:p>
            <a:pPr marL="541338" lvl="1" indent="-274638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</a:pPr>
            <a:r>
              <a:rPr lang="ru-RU" altLang="ru-RU" sz="2200" dirty="0"/>
              <a:t>атрибуты – значения, описывающие характеристики объекта</a:t>
            </a:r>
          </a:p>
          <a:p>
            <a:pPr marL="541338" lvl="1" indent="-274638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</a:pPr>
            <a:r>
              <a:rPr lang="ru-RU" altLang="ru-RU" sz="2200" dirty="0"/>
              <a:t>связи – соединения между объектом текущего класса и другими объектами</a:t>
            </a:r>
          </a:p>
          <a:p>
            <a:pPr marL="541338" lvl="1" indent="-274638">
              <a:lnSpc>
                <a:spcPct val="120000"/>
              </a:lnSpc>
              <a:buClr>
                <a:schemeClr val="bg2">
                  <a:lumMod val="60000"/>
                  <a:lumOff val="40000"/>
                </a:schemeClr>
              </a:buClr>
            </a:pPr>
            <a:r>
              <a:rPr lang="ru-RU" altLang="ru-RU" sz="2200" dirty="0"/>
              <a:t>методы – функции, которые допускают применение в контексте объекта класса</a:t>
            </a:r>
          </a:p>
          <a:p>
            <a:pPr marL="0" lvl="1" indent="0">
              <a:lnSpc>
                <a:spcPct val="120000"/>
              </a:lnSpc>
              <a:spcBef>
                <a:spcPts val="300"/>
              </a:spcBef>
              <a:buClr>
                <a:srgbClr val="C00000"/>
              </a:buClr>
              <a:buSzPct val="75000"/>
              <a:buNone/>
            </a:pPr>
            <a:endParaRPr lang="ru-RU" altLang="ru-RU" sz="2400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FEE57-B2FD-076A-D62A-F2D199315B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Типы данных в ODL (базовые)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3FBF4E-276F-FD5A-C53E-A8027F199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019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23748-8B6C-4B34-6370-E6EEAC5F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9AD0B2-EE5A-8C86-E60E-0B7006F6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76307-2A3E-79E9-D1A1-FB1FDEBF4F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>
            <a:normAutofit/>
          </a:bodyPr>
          <a:lstStyle/>
          <a:p>
            <a:pPr marL="266700" indent="-266700"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ru-RU" sz="1600" b="1" i="1" dirty="0"/>
              <a:t>Set </a:t>
            </a:r>
            <a:r>
              <a:rPr lang="ru-RU" altLang="ru-RU" sz="1600" b="1" dirty="0"/>
              <a:t>(множество).</a:t>
            </a:r>
            <a:r>
              <a:rPr lang="ru-RU" altLang="ru-RU" sz="1600" dirty="0"/>
              <a:t> Пусть </a:t>
            </a:r>
            <a:r>
              <a:rPr lang="ru-RU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</a:t>
            </a:r>
            <a:r>
              <a:rPr lang="ru-RU" altLang="ru-RU" sz="1600" dirty="0"/>
              <a:t>— произвольный тип; тогда выражение </a:t>
            </a:r>
            <a:r>
              <a:rPr lang="en-US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</a:t>
            </a:r>
            <a:r>
              <a:rPr lang="ru-RU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r>
              <a:rPr lang="ru-RU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r>
              <a:rPr lang="ru-RU" altLang="ru-RU" sz="1600" dirty="0"/>
              <a:t> представляет тип, значениями которого являются </a:t>
            </a:r>
            <a:r>
              <a:rPr lang="ru-RU" altLang="ru-RU" sz="1600" b="1" dirty="0"/>
              <a:t>конечные множества элементов типа Т</a:t>
            </a:r>
            <a:r>
              <a:rPr lang="ru-RU" altLang="ru-RU" sz="1600" dirty="0"/>
              <a:t>. </a:t>
            </a:r>
          </a:p>
          <a:p>
            <a:pPr marL="266700" indent="-266700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ru-RU" sz="1600" b="1" i="1" dirty="0"/>
              <a:t>Bag </a:t>
            </a:r>
            <a:r>
              <a:rPr lang="ru-RU" altLang="ru-RU" sz="1600" b="1" dirty="0"/>
              <a:t>(мультимножество).</a:t>
            </a:r>
            <a:r>
              <a:rPr lang="ru-RU" altLang="ru-RU" sz="1600" dirty="0"/>
              <a:t> Пусть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</a:t>
            </a:r>
            <a:r>
              <a:rPr lang="ru-RU" altLang="ru-RU" sz="1600" i="1" dirty="0"/>
              <a:t> </a:t>
            </a:r>
            <a:r>
              <a:rPr lang="ru-RU" altLang="ru-RU" sz="1600" dirty="0"/>
              <a:t>— произвольный тип; тогда выражение </a:t>
            </a:r>
            <a:r>
              <a:rPr lang="en-US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Bag&lt;T&gt;</a:t>
            </a:r>
            <a:r>
              <a:rPr lang="ru-RU" altLang="ru-RU" sz="1600" dirty="0"/>
              <a:t> представляет тип, значениями которого являются </a:t>
            </a:r>
            <a:r>
              <a:rPr lang="ru-RU" altLang="ru-RU" sz="1600" b="1" dirty="0"/>
              <a:t>конечные мультимножества элементов типа</a:t>
            </a:r>
            <a:r>
              <a:rPr lang="ru-RU" altLang="ru-RU" sz="1600" dirty="0"/>
              <a:t> </a:t>
            </a:r>
            <a:r>
              <a:rPr lang="ru-RU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</a:t>
            </a:r>
            <a:r>
              <a:rPr lang="ru-RU" altLang="ru-RU" sz="1600" i="1" dirty="0"/>
              <a:t>. </a:t>
            </a:r>
            <a:r>
              <a:rPr lang="ru-RU" altLang="ru-RU" sz="1600" dirty="0"/>
              <a:t>Мультимножество допускает возможность включения одинаковых элементов. </a:t>
            </a:r>
            <a:br>
              <a:rPr lang="en-US" altLang="ru-RU" sz="1600" dirty="0"/>
            </a:br>
            <a:r>
              <a:rPr lang="ru-RU" altLang="ru-RU" sz="1600" dirty="0"/>
              <a:t>Например, </a:t>
            </a:r>
            <a:r>
              <a:rPr lang="ru-RU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{1</a:t>
            </a:r>
            <a:r>
              <a:rPr lang="en-US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  <a:r>
              <a:rPr lang="ru-RU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2,1}</a:t>
            </a:r>
            <a:r>
              <a:rPr lang="ru-RU" altLang="ru-RU" sz="1600" dirty="0"/>
              <a:t> представляет собой мультимножество, но не множество, поскольку элемент </a:t>
            </a:r>
            <a:r>
              <a:rPr lang="ru-RU" altLang="ru-RU" sz="1600" b="1" dirty="0"/>
              <a:t>1</a:t>
            </a:r>
            <a:r>
              <a:rPr lang="ru-RU" altLang="ru-RU" sz="1600" dirty="0"/>
              <a:t> присутствует </a:t>
            </a:r>
            <a:r>
              <a:rPr lang="ru-RU" altLang="ru-RU" sz="1600" b="1" dirty="0"/>
              <a:t>дважды</a:t>
            </a:r>
            <a:r>
              <a:rPr lang="ru-RU" altLang="ru-RU" sz="1600" dirty="0"/>
              <a:t>.</a:t>
            </a:r>
            <a:endParaRPr lang="en-US" altLang="ru-RU" sz="1600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2F230-31A7-0D14-64CC-4C144C2FA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Типы данных в ODL (структурные) (1)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B92911-B119-87E7-42AF-41F620CDA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726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26582-2B72-E804-7977-E891B9A93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146350-D588-BB6F-A030-38EBE0D1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6592B-6887-DC3D-E7F8-FA8E3A2C78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73612"/>
          </a:xfrm>
        </p:spPr>
        <p:txBody>
          <a:bodyPr numCol="2" spcCol="180000">
            <a:noAutofit/>
          </a:bodyPr>
          <a:lstStyle/>
          <a:p>
            <a:pPr marL="266700" indent="-266700"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ru-RU" sz="1600" b="1" i="1" dirty="0"/>
              <a:t>List </a:t>
            </a:r>
            <a:r>
              <a:rPr lang="ru-RU" altLang="ru-RU" sz="1600" b="1" dirty="0"/>
              <a:t>(список</a:t>
            </a:r>
            <a:r>
              <a:rPr lang="ru-RU" altLang="ru-RU" sz="1600" dirty="0"/>
              <a:t>). Пусть </a:t>
            </a:r>
            <a:r>
              <a:rPr lang="ru-RU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</a:t>
            </a:r>
            <a:r>
              <a:rPr lang="ru-RU" altLang="ru-RU" sz="1600" i="1" dirty="0"/>
              <a:t> </a:t>
            </a:r>
            <a:r>
              <a:rPr lang="ru-RU" altLang="ru-RU" sz="1600" dirty="0"/>
              <a:t>- произвольный тип; </a:t>
            </a:r>
            <a:br>
              <a:rPr lang="en-US" altLang="ru-RU" sz="1600" dirty="0"/>
            </a:br>
            <a:r>
              <a:rPr lang="ru-RU" altLang="ru-RU" sz="1600" dirty="0"/>
              <a:t>тогда выражение </a:t>
            </a:r>
            <a:r>
              <a:rPr lang="en-US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List</a:t>
            </a:r>
            <a:r>
              <a:rPr lang="ru-RU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r>
              <a:rPr lang="ru-RU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r>
              <a:rPr lang="ru-RU" altLang="ru-RU" sz="1600" dirty="0"/>
              <a:t> представляет тип, значениями которого являются конечные списки, состоящие из нулевого или любого другого количества элементов типа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</a:t>
            </a:r>
            <a:r>
              <a:rPr lang="ru-RU" altLang="ru-RU" sz="1600" i="1" dirty="0"/>
              <a:t>.</a:t>
            </a:r>
            <a:br>
              <a:rPr lang="ru-RU" altLang="ru-RU" sz="1600" i="1" dirty="0"/>
            </a:br>
            <a:r>
              <a:rPr lang="ru-RU" altLang="ru-RU" sz="1600" dirty="0"/>
              <a:t>Для обозначения типа </a:t>
            </a:r>
            <a:r>
              <a:rPr lang="en-US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List</a:t>
            </a:r>
            <a:r>
              <a:rPr lang="ru-RU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char</a:t>
            </a:r>
            <a:r>
              <a:rPr lang="ru-RU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1600" dirty="0"/>
              <a:t>существует сокращенная форма записи - </a:t>
            </a:r>
            <a:r>
              <a:rPr lang="en-US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string</a:t>
            </a:r>
            <a:r>
              <a:rPr lang="ru-RU" altLang="ru-RU" sz="1600" dirty="0"/>
              <a:t>.</a:t>
            </a:r>
            <a:endParaRPr lang="en-US" altLang="ru-RU" sz="1600" dirty="0"/>
          </a:p>
          <a:p>
            <a:pPr marL="266700" indent="-266700"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ru-RU" sz="1600" b="1" i="1" dirty="0"/>
              <a:t>Array </a:t>
            </a:r>
            <a:r>
              <a:rPr lang="ru-RU" altLang="ru-RU" sz="1600" b="1" dirty="0"/>
              <a:t>(массив).</a:t>
            </a:r>
            <a:r>
              <a:rPr lang="ru-RU" altLang="ru-RU" sz="1600" dirty="0"/>
              <a:t> Пусть </a:t>
            </a:r>
            <a:r>
              <a:rPr lang="ru-RU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</a:t>
            </a:r>
            <a:r>
              <a:rPr lang="ru-RU" altLang="ru-RU" sz="1600" i="1" dirty="0"/>
              <a:t> </a:t>
            </a:r>
            <a:r>
              <a:rPr lang="ru-RU" altLang="ru-RU" sz="1600" dirty="0"/>
              <a:t>- произвольный тип и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 </a:t>
            </a:r>
            <a:r>
              <a:rPr lang="ru-RU" altLang="ru-RU" sz="1600" dirty="0"/>
              <a:t>- целое число; тогда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</a:t>
            </a:r>
            <a:r>
              <a:rPr lang="en-US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rr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ау&lt;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r>
              <a:rPr lang="ru-RU" altLang="ru-RU" sz="1600" dirty="0"/>
              <a:t> представляет тип, значениями которого являются массивы из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</a:t>
            </a:r>
            <a:r>
              <a:rPr lang="en-US" altLang="ru-RU" sz="1600" i="1" dirty="0"/>
              <a:t> </a:t>
            </a:r>
            <a:r>
              <a:rPr lang="ru-RU" altLang="ru-RU" sz="1600" dirty="0"/>
              <a:t>элементов типа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r>
              <a:rPr lang="ru-RU" altLang="ru-RU" sz="1600" dirty="0"/>
              <a:t>. Например, выражение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Array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char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,10&gt; </a:t>
            </a:r>
            <a:r>
              <a:rPr lang="ru-RU" altLang="ru-RU" sz="1600" dirty="0"/>
              <a:t>обозначает строки, состоящие из 10 символов.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53FC2-F430-685F-06A1-7B59712027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Типы данных в ODL (структурные) (</a:t>
            </a:r>
            <a:r>
              <a:rPr lang="en-US" dirty="0"/>
              <a:t>2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A980C1-6DFA-1006-47DC-3340B6D8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33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F18F9-C2E5-1DFD-1177-97AB43D24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DB378F-E344-1E6A-B9E2-82AA4018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10BE5-30E6-FA69-3C67-15330F7735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001604"/>
          </a:xfrm>
        </p:spPr>
        <p:txBody>
          <a:bodyPr numCol="2" spcCol="180000"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ru-RU" sz="1600" b="1" i="1" dirty="0"/>
              <a:t>Dictionary </a:t>
            </a:r>
            <a:r>
              <a:rPr lang="ru-RU" altLang="ru-RU" sz="1600" b="1" dirty="0"/>
              <a:t>(словарь).</a:t>
            </a:r>
            <a:r>
              <a:rPr lang="ru-RU" altLang="ru-RU" sz="1600" dirty="0"/>
              <a:t> Пусть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r>
              <a:rPr lang="en-US" altLang="ru-RU" sz="1600" dirty="0"/>
              <a:t> </a:t>
            </a:r>
            <a:r>
              <a:rPr lang="ru-RU" altLang="ru-RU" sz="1600" dirty="0"/>
              <a:t>и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</a:t>
            </a:r>
            <a:r>
              <a:rPr lang="en-US" altLang="ru-RU" sz="1600" i="1" dirty="0"/>
              <a:t> –</a:t>
            </a:r>
            <a:r>
              <a:rPr lang="ru-RU" altLang="ru-RU" sz="1600" dirty="0"/>
              <a:t> произвольные типы; тогда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Dictionary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r>
              <a:rPr lang="ru-RU" altLang="ru-RU" sz="1600" dirty="0"/>
              <a:t> представляет тип, значениями которого являются конечные множества пар вида </a:t>
            </a:r>
            <a:r>
              <a:rPr lang="ru-RU" altLang="ru-RU" sz="1600" b="1" i="1" dirty="0"/>
              <a:t>ключ/значения</a:t>
            </a:r>
            <a:r>
              <a:rPr lang="ru-RU" altLang="ru-RU" sz="1600" i="1" dirty="0"/>
              <a:t> </a:t>
            </a:r>
            <a:r>
              <a:rPr lang="ru-RU" altLang="ru-RU" sz="1600" dirty="0"/>
              <a:t>(</a:t>
            </a:r>
            <a:r>
              <a:rPr lang="ru-RU" altLang="ru-RU" sz="1600" b="1" dirty="0"/>
              <a:t>ключи</a:t>
            </a:r>
            <a:r>
              <a:rPr lang="ru-RU" altLang="ru-RU" sz="1600" dirty="0"/>
              <a:t> относятся к </a:t>
            </a:r>
            <a:r>
              <a:rPr lang="ru-RU" altLang="ru-RU" sz="1600" b="1" dirty="0"/>
              <a:t>типу </a:t>
            </a:r>
            <a:r>
              <a:rPr lang="ru-RU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</a:t>
            </a:r>
            <a:r>
              <a:rPr lang="ru-RU" altLang="ru-RU" sz="1600" dirty="0"/>
              <a:t>, а </a:t>
            </a:r>
            <a:r>
              <a:rPr lang="ru-RU" altLang="ru-RU" sz="1600" b="1" dirty="0"/>
              <a:t>значения </a:t>
            </a:r>
            <a:r>
              <a:rPr lang="ru-RU" altLang="ru-RU" sz="1600" dirty="0"/>
              <a:t>– </a:t>
            </a:r>
            <a:r>
              <a:rPr lang="ru-RU" altLang="ru-RU" sz="1600" b="1" dirty="0"/>
              <a:t>типу </a:t>
            </a:r>
            <a:r>
              <a:rPr lang="en-US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</a:t>
            </a:r>
            <a:r>
              <a:rPr lang="ru-RU" altLang="ru-RU" sz="1600" dirty="0"/>
              <a:t>).</a:t>
            </a:r>
            <a:endParaRPr lang="en-US" altLang="ru-RU" sz="1600" dirty="0"/>
          </a:p>
          <a:p>
            <a:pPr eaLnBrk="1" hangingPunct="1">
              <a:lnSpc>
                <a:spcPct val="100000"/>
              </a:lnSpc>
              <a:spcBef>
                <a:spcPts val="600"/>
              </a:spcBef>
            </a:pPr>
            <a:endParaRPr lang="en-US" altLang="ru-RU" sz="1600" dirty="0"/>
          </a:p>
          <a:p>
            <a:pPr eaLnBrk="1" hangingPunct="1">
              <a:lnSpc>
                <a:spcPct val="100000"/>
              </a:lnSpc>
              <a:spcBef>
                <a:spcPts val="600"/>
              </a:spcBef>
            </a:pPr>
            <a:endParaRPr lang="ru-RU" altLang="ru-RU" sz="1600" dirty="0"/>
          </a:p>
          <a:p>
            <a:pPr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ru-RU" sz="1600" b="1" i="1" dirty="0"/>
              <a:t>Structure</a:t>
            </a:r>
            <a:r>
              <a:rPr lang="en-US" altLang="ru-RU" sz="1600" b="1" dirty="0"/>
              <a:t> </a:t>
            </a:r>
            <a:r>
              <a:rPr lang="ru-RU" altLang="ru-RU" sz="1600" b="1" dirty="0"/>
              <a:t>(структура).</a:t>
            </a:r>
            <a:br>
              <a:rPr lang="en-US" altLang="ru-RU" sz="1600" dirty="0"/>
            </a:b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Structure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{T</a:t>
            </a:r>
            <a:r>
              <a:rPr lang="en-US" altLang="ru-RU" sz="16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F</a:t>
            </a:r>
            <a:r>
              <a:rPr lang="en-US" altLang="ru-RU" sz="16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…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</a:t>
            </a:r>
            <a:r>
              <a:rPr lang="en-US" altLang="ru-RU" sz="16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</a:t>
            </a:r>
            <a:r>
              <a:rPr lang="en-US" altLang="ru-RU" sz="1600" baseline="-25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} </a:t>
            </a:r>
            <a:br>
              <a:rPr lang="en-US" altLang="ru-RU" sz="1600" dirty="0"/>
            </a:br>
            <a:r>
              <a:rPr lang="en-US" altLang="ru-RU" sz="1600" dirty="0"/>
              <a:t>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r>
              <a:rPr lang="en-US" altLang="ru-RU" sz="1600" baseline="-1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1,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r>
              <a:rPr lang="en-US" altLang="ru-RU" sz="16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altLang="ru-RU" sz="1600" baseline="-1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… </a:t>
            </a:r>
            <a:r>
              <a:rPr lang="ru-RU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</a:t>
            </a:r>
            <a:r>
              <a:rPr lang="en-US" altLang="ru-RU" sz="1600" baseline="-10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ru-RU" altLang="ru-RU" sz="1600" i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1600" dirty="0"/>
              <a:t>- произвольные типы, </a:t>
            </a:r>
            <a:br>
              <a:rPr lang="en-US" altLang="ru-RU" sz="1600" dirty="0"/>
            </a:br>
            <a:r>
              <a:rPr lang="ru-RU" altLang="ru-RU" sz="1600" dirty="0"/>
              <a:t> 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</a:t>
            </a:r>
            <a:r>
              <a:rPr lang="en-US" altLang="ru-RU" sz="16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F</a:t>
            </a:r>
            <a:r>
              <a:rPr lang="en-US" altLang="ru-RU" sz="16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…, </a:t>
            </a:r>
            <a:r>
              <a:rPr lang="en-US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</a:t>
            </a:r>
            <a:r>
              <a:rPr lang="en-US" altLang="ru-RU" sz="1600" baseline="-25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</a:t>
            </a:r>
            <a:r>
              <a:rPr lang="ru-RU" altLang="ru-RU" sz="1600" dirty="0"/>
              <a:t> </a:t>
            </a:r>
            <a:r>
              <a:rPr lang="en-US" altLang="ru-RU" sz="1600" dirty="0"/>
              <a:t>– </a:t>
            </a:r>
            <a:r>
              <a:rPr lang="ru-RU" altLang="ru-RU" sz="1600" dirty="0"/>
              <a:t>наименования</a:t>
            </a:r>
            <a:r>
              <a:rPr lang="en-US" altLang="ru-RU" sz="1600" dirty="0"/>
              <a:t> </a:t>
            </a:r>
            <a:r>
              <a:rPr lang="ru-RU" altLang="ru-RU" sz="1600" dirty="0"/>
              <a:t>полей</a:t>
            </a:r>
            <a:r>
              <a:rPr lang="en-US" altLang="ru-RU" sz="1600" dirty="0"/>
              <a:t>.</a:t>
            </a:r>
            <a:endParaRPr lang="ru-RU" altLang="ru-RU" sz="1600" dirty="0"/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75000"/>
              <a:buNone/>
            </a:pPr>
            <a:endParaRPr lang="ru-RU" altLang="ru-RU" sz="1600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22636-95F8-E140-FE53-8B11BCF85C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Типы данных в ODL (структурные) (</a:t>
            </a:r>
            <a:r>
              <a:rPr lang="en-US" dirty="0"/>
              <a:t>3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DF4464-9B91-0953-8C76-9E4857B6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432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AC86C-8230-2B6B-C4AC-13FA05CB5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099D4D-3A31-B2A1-D015-9E6FD917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8CF90-C29B-B790-D526-A148361ADF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</a:t>
            </a:r>
            <a:r>
              <a:rPr lang="en-US" dirty="0"/>
              <a:t>ODL. ER-</a:t>
            </a:r>
            <a:r>
              <a:rPr lang="ru-RU" dirty="0"/>
              <a:t>диаграмма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911531-DB1C-48A0-AFFE-FBB08D90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57D06016-4032-5754-A9B2-820B74AA17C5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2895600"/>
            <a:ext cx="1295400" cy="457200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altLang="ru-RU" sz="2400" dirty="0">
                <a:latin typeface="Aptos Narrow" panose="020B0004020202020204" pitchFamily="34" charset="0"/>
              </a:rPr>
              <a:t>Movies</a:t>
            </a:r>
            <a:endParaRPr lang="ru-RU" altLang="ru-RU" sz="2400" dirty="0">
              <a:latin typeface="Aptos Narrow" panose="020B0004020202020204" pitchFamily="34" charset="0"/>
            </a:endParaRPr>
          </a:p>
        </p:txBody>
      </p:sp>
      <p:sp>
        <p:nvSpPr>
          <p:cNvPr id="41" name="Text Box 4">
            <a:extLst>
              <a:ext uri="{FF2B5EF4-FFF2-40B4-BE49-F238E27FC236}">
                <a16:creationId xmlns:a16="http://schemas.microsoft.com/office/drawing/2014/main" id="{E01F4204-85D2-23BA-E744-151779F7C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2133600"/>
            <a:ext cx="990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400" dirty="0">
                <a:latin typeface="Aptos Narrow" panose="020B0004020202020204" pitchFamily="34" charset="0"/>
              </a:rPr>
              <a:t>Stars</a:t>
            </a:r>
            <a:endParaRPr lang="ru-RU" altLang="ru-RU" sz="2400" dirty="0">
              <a:latin typeface="Aptos Narrow" panose="020B0004020202020204" pitchFamily="34" charset="0"/>
            </a:endParaRPr>
          </a:p>
        </p:txBody>
      </p:sp>
      <p:sp>
        <p:nvSpPr>
          <p:cNvPr id="42" name="Text Box 5">
            <a:extLst>
              <a:ext uri="{FF2B5EF4-FFF2-40B4-BE49-F238E27FC236}">
                <a16:creationId xmlns:a16="http://schemas.microsoft.com/office/drawing/2014/main" id="{4949C081-AB91-4C35-F0F3-1F9845C4E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062" y="3508878"/>
            <a:ext cx="1371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2400" dirty="0">
                <a:latin typeface="Aptos Narrow" panose="020B0004020202020204" pitchFamily="34" charset="0"/>
              </a:rPr>
              <a:t>Studios</a:t>
            </a:r>
            <a:endParaRPr lang="ru-RU" altLang="ru-RU" sz="2400" dirty="0">
              <a:latin typeface="Aptos Narrow" panose="020B0004020202020204" pitchFamily="34" charset="0"/>
            </a:endParaRPr>
          </a:p>
        </p:txBody>
      </p:sp>
      <p:sp>
        <p:nvSpPr>
          <p:cNvPr id="43" name="Oval 6">
            <a:extLst>
              <a:ext uri="{FF2B5EF4-FFF2-40B4-BE49-F238E27FC236}">
                <a16:creationId xmlns:a16="http://schemas.microsoft.com/office/drawing/2014/main" id="{B7091F05-5587-5E91-4B37-3E42FA9B3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905000"/>
            <a:ext cx="762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u="sng" dirty="0">
                <a:latin typeface="Aptos Narrow" panose="020B0004020202020204" pitchFamily="34" charset="0"/>
              </a:rPr>
              <a:t>title</a:t>
            </a:r>
            <a:endParaRPr lang="ru-RU" altLang="ru-RU" sz="1800" dirty="0">
              <a:latin typeface="Aptos Narrow" panose="020B0004020202020204" pitchFamily="34" charset="0"/>
            </a:endParaRPr>
          </a:p>
        </p:txBody>
      </p:sp>
      <p:sp>
        <p:nvSpPr>
          <p:cNvPr id="47" name="Oval 10">
            <a:extLst>
              <a:ext uri="{FF2B5EF4-FFF2-40B4-BE49-F238E27FC236}">
                <a16:creationId xmlns:a16="http://schemas.microsoft.com/office/drawing/2014/main" id="{86161EED-E265-821C-3F74-3A617E8C7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905000"/>
            <a:ext cx="762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u="sng" dirty="0">
                <a:latin typeface="Aptos Narrow" panose="020B0004020202020204" pitchFamily="34" charset="0"/>
              </a:rPr>
              <a:t>year</a:t>
            </a:r>
            <a:endParaRPr lang="ru-RU" altLang="ru-RU" sz="1800" dirty="0">
              <a:latin typeface="Aptos Narrow" panose="020B0004020202020204" pitchFamily="34" charset="0"/>
            </a:endParaRPr>
          </a:p>
        </p:txBody>
      </p:sp>
      <p:sp>
        <p:nvSpPr>
          <p:cNvPr id="49" name="Oval 12">
            <a:extLst>
              <a:ext uri="{FF2B5EF4-FFF2-40B4-BE49-F238E27FC236}">
                <a16:creationId xmlns:a16="http://schemas.microsoft.com/office/drawing/2014/main" id="{AD4C3A53-6BB9-E217-4DCB-6C0010ED9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886200"/>
            <a:ext cx="1143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en-US" altLang="ru-RU" sz="1800" dirty="0">
                <a:latin typeface="Aptos Narrow" panose="020B0004020202020204" pitchFamily="34" charset="0"/>
              </a:rPr>
              <a:t>length</a:t>
            </a:r>
            <a:endParaRPr lang="ru-RU" altLang="ru-RU" sz="1800" dirty="0">
              <a:latin typeface="Aptos Narrow" panose="020B0004020202020204" pitchFamily="34" charset="0"/>
            </a:endParaRPr>
          </a:p>
        </p:txBody>
      </p:sp>
      <p:sp>
        <p:nvSpPr>
          <p:cNvPr id="50" name="Oval 13">
            <a:extLst>
              <a:ext uri="{FF2B5EF4-FFF2-40B4-BE49-F238E27FC236}">
                <a16:creationId xmlns:a16="http://schemas.microsoft.com/office/drawing/2014/main" id="{32DEEA0C-9746-2845-39A2-93CDD0860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886200"/>
            <a:ext cx="1524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dirty="0" err="1">
                <a:latin typeface="Aptos Narrow" panose="020B0004020202020204" pitchFamily="34" charset="0"/>
              </a:rPr>
              <a:t>filmType</a:t>
            </a:r>
            <a:endParaRPr lang="ru-RU" altLang="ru-RU" sz="1800" dirty="0">
              <a:latin typeface="Aptos Narrow" panose="020B0004020202020204" pitchFamily="34" charset="0"/>
            </a:endParaRPr>
          </a:p>
        </p:txBody>
      </p:sp>
      <p:sp>
        <p:nvSpPr>
          <p:cNvPr id="55" name="AutoShape 18">
            <a:extLst>
              <a:ext uri="{FF2B5EF4-FFF2-40B4-BE49-F238E27FC236}">
                <a16:creationId xmlns:a16="http://schemas.microsoft.com/office/drawing/2014/main" id="{D2FFA396-7F96-24B6-00AA-F2B25698F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101" y="3361241"/>
            <a:ext cx="1219200" cy="7620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ru-RU" sz="1800" dirty="0">
                <a:latin typeface="Aptos Narrow" panose="020B0004020202020204" pitchFamily="34" charset="0"/>
              </a:rPr>
              <a:t>Owns</a:t>
            </a:r>
            <a:endParaRPr lang="ru-RU" altLang="ru-RU" sz="1800" dirty="0">
              <a:latin typeface="Aptos Narrow" panose="020B0004020202020204" pitchFamily="34" charset="0"/>
            </a:endParaRPr>
          </a:p>
        </p:txBody>
      </p:sp>
      <p:sp>
        <p:nvSpPr>
          <p:cNvPr id="56" name="AutoShape 19">
            <a:extLst>
              <a:ext uri="{FF2B5EF4-FFF2-40B4-BE49-F238E27FC236}">
                <a16:creationId xmlns:a16="http://schemas.microsoft.com/office/drawing/2014/main" id="{D7459D5F-464B-43E5-77E3-3634480E3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981200"/>
            <a:ext cx="1219200" cy="7620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1800" dirty="0">
                <a:latin typeface="Aptos Narrow" panose="020B0004020202020204" pitchFamily="34" charset="0"/>
              </a:rPr>
              <a:t>Star-in</a:t>
            </a:r>
            <a:endParaRPr lang="ru-RU" altLang="ru-RU" sz="1800" dirty="0">
              <a:latin typeface="Aptos Narrow" panose="020B0004020202020204" pitchFamily="34" charset="0"/>
            </a:endParaRPr>
          </a:p>
        </p:txBody>
      </p:sp>
      <p:sp>
        <p:nvSpPr>
          <p:cNvPr id="63" name="Oval 26">
            <a:extLst>
              <a:ext uri="{FF2B5EF4-FFF2-40B4-BE49-F238E27FC236}">
                <a16:creationId xmlns:a16="http://schemas.microsoft.com/office/drawing/2014/main" id="{BB85A3AA-DA6C-4690-6DCA-E6AF9D0A1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3075" y="2911410"/>
            <a:ext cx="9144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u="sng" dirty="0">
                <a:latin typeface="Aptos Narrow" panose="020B0004020202020204" pitchFamily="34" charset="0"/>
              </a:rPr>
              <a:t>name</a:t>
            </a:r>
            <a:endParaRPr lang="ru-RU" altLang="ru-RU" sz="1800" dirty="0">
              <a:latin typeface="Aptos Narrow" panose="020B0004020202020204" pitchFamily="34" charset="0"/>
            </a:endParaRPr>
          </a:p>
        </p:txBody>
      </p:sp>
      <p:sp>
        <p:nvSpPr>
          <p:cNvPr id="65" name="Oval 28">
            <a:extLst>
              <a:ext uri="{FF2B5EF4-FFF2-40B4-BE49-F238E27FC236}">
                <a16:creationId xmlns:a16="http://schemas.microsoft.com/office/drawing/2014/main" id="{5801FE49-E0DD-96E7-B325-081C3356A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1447800"/>
            <a:ext cx="9144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u="sng" dirty="0">
                <a:latin typeface="Aptos Narrow" panose="020B0004020202020204" pitchFamily="34" charset="0"/>
              </a:rPr>
              <a:t>name</a:t>
            </a:r>
            <a:endParaRPr lang="ru-RU" altLang="ru-RU" sz="1800" dirty="0">
              <a:latin typeface="Aptos Narrow" panose="020B0004020202020204" pitchFamily="34" charset="0"/>
            </a:endParaRPr>
          </a:p>
        </p:txBody>
      </p:sp>
      <p:sp>
        <p:nvSpPr>
          <p:cNvPr id="67" name="Oval 30">
            <a:extLst>
              <a:ext uri="{FF2B5EF4-FFF2-40B4-BE49-F238E27FC236}">
                <a16:creationId xmlns:a16="http://schemas.microsoft.com/office/drawing/2014/main" id="{3D20BD6A-4FF0-E31A-6FD7-0F34D0CA8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447800"/>
            <a:ext cx="1066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dirty="0">
                <a:latin typeface="Aptos Narrow" panose="020B0004020202020204" pitchFamily="34" charset="0"/>
              </a:rPr>
              <a:t>address</a:t>
            </a:r>
            <a:endParaRPr lang="ru-RU" altLang="ru-RU" sz="1800" dirty="0">
              <a:latin typeface="Aptos Narrow" panose="020B0004020202020204" pitchFamily="34" charset="0"/>
            </a:endParaRPr>
          </a:p>
        </p:txBody>
      </p:sp>
      <p:sp>
        <p:nvSpPr>
          <p:cNvPr id="73" name="Oval 36">
            <a:extLst>
              <a:ext uri="{FF2B5EF4-FFF2-40B4-BE49-F238E27FC236}">
                <a16:creationId xmlns:a16="http://schemas.microsoft.com/office/drawing/2014/main" id="{2538DE3A-8356-E093-8FF1-649DD6162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3259" y="3932741"/>
            <a:ext cx="1066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ru-RU" sz="1800" dirty="0">
                <a:latin typeface="Aptos Narrow" panose="020B0004020202020204" pitchFamily="34" charset="0"/>
              </a:rPr>
              <a:t>address</a:t>
            </a:r>
            <a:endParaRPr lang="ru-RU" altLang="ru-RU" sz="1800" dirty="0">
              <a:latin typeface="Aptos Narrow" panose="020B0004020202020204" pitchFamily="34" charset="0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25C90B5-34FF-FF93-E527-DFAD394F40B9}"/>
              </a:ext>
            </a:extLst>
          </p:cNvPr>
          <p:cNvCxnSpPr>
            <a:stCxn id="43" idx="4"/>
          </p:cNvCxnSpPr>
          <p:nvPr/>
        </p:nvCxnSpPr>
        <p:spPr>
          <a:xfrm>
            <a:off x="914400" y="2286000"/>
            <a:ext cx="266700" cy="609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A5110EA-7EF1-306F-3194-83F6634F1079}"/>
              </a:ext>
            </a:extLst>
          </p:cNvPr>
          <p:cNvCxnSpPr>
            <a:cxnSpLocks/>
            <a:stCxn id="47" idx="3"/>
          </p:cNvCxnSpPr>
          <p:nvPr/>
        </p:nvCxnSpPr>
        <p:spPr>
          <a:xfrm flipH="1">
            <a:off x="1990725" y="2230204"/>
            <a:ext cx="254467" cy="6653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5EBB4B4-D112-011B-8DF6-DE1033D64AA0}"/>
              </a:ext>
            </a:extLst>
          </p:cNvPr>
          <p:cNvCxnSpPr>
            <a:cxnSpLocks/>
            <a:stCxn id="56" idx="1"/>
            <a:endCxn id="40" idx="3"/>
          </p:cNvCxnSpPr>
          <p:nvPr/>
        </p:nvCxnSpPr>
        <p:spPr>
          <a:xfrm flipH="1">
            <a:off x="2286000" y="2362200"/>
            <a:ext cx="1828800" cy="76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903A36E-6821-F605-CC27-8CF248887B52}"/>
              </a:ext>
            </a:extLst>
          </p:cNvPr>
          <p:cNvCxnSpPr>
            <a:cxnSpLocks/>
            <a:stCxn id="55" idx="1"/>
            <a:endCxn id="40" idx="3"/>
          </p:cNvCxnSpPr>
          <p:nvPr/>
        </p:nvCxnSpPr>
        <p:spPr>
          <a:xfrm flipH="1" flipV="1">
            <a:off x="2286000" y="3124200"/>
            <a:ext cx="1562101" cy="6180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7DE5CB5-C5B1-EE5D-CDB2-C6FE0B5F9CC5}"/>
              </a:ext>
            </a:extLst>
          </p:cNvPr>
          <p:cNvCxnSpPr>
            <a:cxnSpLocks/>
            <a:stCxn id="50" idx="0"/>
          </p:cNvCxnSpPr>
          <p:nvPr/>
        </p:nvCxnSpPr>
        <p:spPr>
          <a:xfrm flipH="1" flipV="1">
            <a:off x="2057400" y="3352800"/>
            <a:ext cx="457200" cy="533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5D71593-5E1A-A330-281F-FE38170B2274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952500" y="3352800"/>
            <a:ext cx="419101" cy="533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5EAE9FF-ED83-14DE-F3EE-E4BE9109A01A}"/>
              </a:ext>
            </a:extLst>
          </p:cNvPr>
          <p:cNvCxnSpPr>
            <a:stCxn id="55" idx="3"/>
            <a:endCxn id="42" idx="1"/>
          </p:cNvCxnSpPr>
          <p:nvPr/>
        </p:nvCxnSpPr>
        <p:spPr>
          <a:xfrm>
            <a:off x="5067301" y="3742241"/>
            <a:ext cx="11477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5551E53-7DE5-D764-0717-406E5CF5B320}"/>
              </a:ext>
            </a:extLst>
          </p:cNvPr>
          <p:cNvCxnSpPr>
            <a:cxnSpLocks/>
            <a:stCxn id="56" idx="3"/>
            <a:endCxn id="41" idx="1"/>
          </p:cNvCxnSpPr>
          <p:nvPr/>
        </p:nvCxnSpPr>
        <p:spPr>
          <a:xfrm>
            <a:off x="5334000" y="2362200"/>
            <a:ext cx="1219200" cy="47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AB57E7E1-A6E5-153C-989F-1B70ECFB3B3C}"/>
              </a:ext>
            </a:extLst>
          </p:cNvPr>
          <p:cNvCxnSpPr>
            <a:cxnSpLocks/>
            <a:stCxn id="65" idx="5"/>
          </p:cNvCxnSpPr>
          <p:nvPr/>
        </p:nvCxnSpPr>
        <p:spPr>
          <a:xfrm>
            <a:off x="6724089" y="1773004"/>
            <a:ext cx="172011" cy="3605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ED9EB02-1DF3-5B83-EA63-9B58F11CEEDD}"/>
              </a:ext>
            </a:extLst>
          </p:cNvPr>
          <p:cNvCxnSpPr>
            <a:cxnSpLocks/>
            <a:endCxn id="67" idx="3"/>
          </p:cNvCxnSpPr>
          <p:nvPr/>
        </p:nvCxnSpPr>
        <p:spPr>
          <a:xfrm flipV="1">
            <a:off x="7315200" y="1773004"/>
            <a:ext cx="156229" cy="3605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949F247-9957-5EA0-E55B-76ED1ECA15D6}"/>
              </a:ext>
            </a:extLst>
          </p:cNvPr>
          <p:cNvCxnSpPr>
            <a:cxnSpLocks/>
            <a:stCxn id="42" idx="3"/>
            <a:endCxn id="63" idx="4"/>
          </p:cNvCxnSpPr>
          <p:nvPr/>
        </p:nvCxnSpPr>
        <p:spPr>
          <a:xfrm flipV="1">
            <a:off x="7586662" y="3216210"/>
            <a:ext cx="673613" cy="5260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000FA2E7-5914-0146-2BB7-031549A867ED}"/>
              </a:ext>
            </a:extLst>
          </p:cNvPr>
          <p:cNvCxnSpPr>
            <a:cxnSpLocks/>
            <a:stCxn id="73" idx="1"/>
            <a:endCxn id="42" idx="3"/>
          </p:cNvCxnSpPr>
          <p:nvPr/>
        </p:nvCxnSpPr>
        <p:spPr>
          <a:xfrm flipH="1" flipV="1">
            <a:off x="7586662" y="3742241"/>
            <a:ext cx="432826" cy="2462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Oval 26">
            <a:extLst>
              <a:ext uri="{FF2B5EF4-FFF2-40B4-BE49-F238E27FC236}">
                <a16:creationId xmlns:a16="http://schemas.microsoft.com/office/drawing/2014/main" id="{B85E3B60-2515-22EE-1296-0D17B160B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7642" y="2939305"/>
            <a:ext cx="1130813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dirty="0">
                <a:latin typeface="Aptos Narrow" panose="020B0004020202020204" pitchFamily="34" charset="0"/>
              </a:rPr>
              <a:t>birthdate</a:t>
            </a:r>
            <a:endParaRPr lang="ru-RU" altLang="ru-RU" sz="1800" dirty="0">
              <a:latin typeface="Aptos Narrow" panose="020B0004020202020204" pitchFamily="34" charset="0"/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D75E1683-B58A-F532-2188-E8B593F26328}"/>
              </a:ext>
            </a:extLst>
          </p:cNvPr>
          <p:cNvCxnSpPr>
            <a:cxnSpLocks/>
            <a:stCxn id="41" idx="2"/>
            <a:endCxn id="137" idx="0"/>
          </p:cNvCxnSpPr>
          <p:nvPr/>
        </p:nvCxnSpPr>
        <p:spPr>
          <a:xfrm flipH="1">
            <a:off x="6913049" y="2600325"/>
            <a:ext cx="135451" cy="3389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682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E856F-7D6B-9CFF-11EA-1E313220B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B1415C-1F33-9A64-94BE-815BBA7B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CA88BAF-3F3E-B9A1-0333-8E3FCAA75B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1813"/>
            <a:ext cx="8541643" cy="257016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class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Movie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{ </a:t>
            </a:r>
            <a:b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attribute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000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string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title;</a:t>
            </a:r>
            <a:b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attribute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000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integer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year;</a:t>
            </a:r>
            <a:b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attribute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000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integer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length;</a:t>
            </a:r>
            <a:b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attribute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0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enum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Film {color, </a:t>
            </a:r>
            <a:r>
              <a:rPr lang="en-US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blackAndWhite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} </a:t>
            </a:r>
            <a:r>
              <a:rPr lang="en-US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filmType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b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};</a:t>
            </a:r>
            <a:endParaRPr lang="ru-RU" altLang="ru-RU" sz="20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129AB-A201-FDB2-FF3C-79FD6AF8F6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 fontScale="92500"/>
          </a:bodyPr>
          <a:lstStyle/>
          <a:p>
            <a:r>
              <a:rPr lang="ru-RU" dirty="0"/>
              <a:t>Пример </a:t>
            </a:r>
            <a:r>
              <a:rPr lang="en-US" dirty="0"/>
              <a:t>ODL. </a:t>
            </a:r>
            <a:r>
              <a:rPr lang="ru-RU" altLang="ru-RU" dirty="0"/>
              <a:t>Объявление класса </a:t>
            </a:r>
            <a:r>
              <a:rPr lang="en-US" altLang="ru-RU" dirty="0"/>
              <a:t>Movie </a:t>
            </a:r>
            <a:r>
              <a:rPr lang="ru-RU" altLang="ru-RU" dirty="0"/>
              <a:t>на языке </a:t>
            </a:r>
            <a:r>
              <a:rPr lang="en-US" altLang="ru-RU" dirty="0"/>
              <a:t>ODL</a:t>
            </a:r>
            <a:r>
              <a:rPr lang="ru-RU" altLang="ru-RU" dirty="0"/>
              <a:t> (атрибуты)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EE09D2-A957-2EED-C11B-7AE78D7E1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770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A2E44-60FC-B89C-70E7-2A8464DD2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4F8082-1D2B-8788-02C6-8C5F6A00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35A426-EF28-A3F8-2D6D-49BF6AADDD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1813"/>
            <a:ext cx="8541643" cy="257016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class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Movie (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extent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Movies 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key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(title, year)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  <a:endParaRPr lang="ru-RU" altLang="ru-RU" sz="20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{ </a:t>
            </a:r>
            <a:b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attribute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000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string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title;</a:t>
            </a:r>
            <a:b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attribute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000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integer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year;</a:t>
            </a:r>
            <a:b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attribute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000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integer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length;</a:t>
            </a:r>
            <a:b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attribute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0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enum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Film {color, </a:t>
            </a:r>
            <a:r>
              <a:rPr lang="en-US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blackAndWhite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} </a:t>
            </a:r>
            <a:r>
              <a:rPr lang="en-US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filmType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b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};</a:t>
            </a:r>
            <a:endParaRPr lang="ru-RU" altLang="ru-RU" sz="20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2CABB-4492-0E1B-7B9D-ED5DD8E206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altLang="ru-RU" dirty="0"/>
              <a:t>Объявление класса </a:t>
            </a:r>
            <a:r>
              <a:rPr lang="en-US" altLang="ru-RU" dirty="0"/>
              <a:t>Movie </a:t>
            </a:r>
            <a:r>
              <a:rPr lang="ru-RU" altLang="ru-RU" dirty="0"/>
              <a:t>на языке </a:t>
            </a:r>
            <a:r>
              <a:rPr lang="en-US" altLang="ru-RU" dirty="0"/>
              <a:t>ODL</a:t>
            </a:r>
            <a:r>
              <a:rPr lang="ru-RU" altLang="ru-RU" dirty="0"/>
              <a:t> (экстент, ключ)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99967C-3B31-A80B-DC10-DA3C3A323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463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0E81C-02D7-8FDF-3CFC-F6E53CEF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1CFB47-2AD7-CBE2-AD47-39AFAA2F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C9AF35-0E31-2A24-B685-3633AB9F71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1812"/>
            <a:ext cx="8541643" cy="3002185"/>
          </a:xfrm>
        </p:spPr>
        <p:txBody>
          <a:bodyPr>
            <a:normAutofit/>
          </a:bodyPr>
          <a:lstStyle/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class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Star (</a:t>
            </a: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extent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Stars </a:t>
            </a: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key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name )</a:t>
            </a:r>
            <a:endParaRPr lang="ru-RU" altLang="ru-RU" sz="16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{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attribute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1600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string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16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name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attribute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Struct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Addr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{</a:t>
            </a:r>
            <a:r>
              <a:rPr lang="en-US" altLang="ru-RU" sz="1600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string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street, </a:t>
            </a:r>
            <a:r>
              <a:rPr lang="en-US" altLang="ru-RU" sz="1600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string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city} address; 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}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-------------------------------------------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class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Star (</a:t>
            </a: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extent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Stars </a:t>
            </a: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key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name )</a:t>
            </a:r>
            <a:endParaRPr lang="ru-RU" altLang="ru-RU" sz="16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{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attribute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1600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string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name;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attribute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Set&lt;</a:t>
            </a: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Struct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16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Addr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{</a:t>
            </a:r>
            <a:r>
              <a:rPr lang="en-US" altLang="ru-RU" sz="1600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string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street, </a:t>
            </a:r>
            <a:r>
              <a:rPr lang="en-US" altLang="ru-RU" sz="1600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string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city}&gt; address; 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16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attribute</a:t>
            </a: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Date birthdate;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16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}</a:t>
            </a:r>
            <a:endParaRPr lang="ru-RU" altLang="ru-RU" sz="16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F29E8-E2E6-4047-20A5-7DAA10A3F1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altLang="ru-RU" dirty="0"/>
              <a:t>Объявление класса </a:t>
            </a:r>
            <a:r>
              <a:rPr lang="en-US" altLang="ru-RU" dirty="0"/>
              <a:t>Star </a:t>
            </a:r>
            <a:endParaRPr lang="ru-RU" altLang="ru-R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C08B92A-EC7E-A5B7-3E65-814F5C500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33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049AF-529A-C1E5-539F-29A611227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EE583B-07D0-7892-75B8-D5D50A0E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F658CD-B558-5445-06DC-6D9966CCC2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1813"/>
            <a:ext cx="8541643" cy="3074194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class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Movie { </a:t>
            </a:r>
            <a:b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…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relationship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Set&lt;Star&gt; </a:t>
            </a:r>
            <a:r>
              <a:rPr lang="en-US" altLang="ru-RU" dirty="0" err="1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starsOf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inverse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Star::</a:t>
            </a:r>
            <a:r>
              <a:rPr lang="en-US" altLang="ru-RU" dirty="0" err="1">
                <a:solidFill>
                  <a:srgbClr val="C0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starredIn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b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relationship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Studio </a:t>
            </a:r>
            <a:r>
              <a:rPr lang="en-US" altLang="ru-RU" dirty="0" err="1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ownedBy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inverse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Studio::</a:t>
            </a:r>
            <a:r>
              <a:rPr lang="en-US" altLang="ru-RU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owns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b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};</a:t>
            </a:r>
            <a:endParaRPr lang="ru-RU" dirty="0"/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class Star (extent Stars key name ) {</a:t>
            </a:r>
            <a:endParaRPr lang="ru-RU" altLang="ru-RU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ru-RU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…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relationship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Set&lt;Movie&gt; </a:t>
            </a:r>
            <a:r>
              <a:rPr lang="en-US" altLang="ru-RU" dirty="0" err="1">
                <a:solidFill>
                  <a:srgbClr val="C0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starredIn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inverse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Movie::</a:t>
            </a:r>
            <a:r>
              <a:rPr lang="en-US" altLang="ru-RU" dirty="0" err="1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starsOf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endParaRPr lang="ru-RU" altLang="ru-RU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};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class Studio {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relationship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Set&lt;Movie&gt; </a:t>
            </a:r>
            <a:r>
              <a:rPr lang="en-US" altLang="ru-RU" sz="20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owns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inverse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Movie::</a:t>
            </a:r>
            <a:r>
              <a:rPr lang="en-US" altLang="ru-RU" sz="2000" dirty="0" err="1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ownedBy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};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534E8-0D6C-F5A1-D464-C0F82193AE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altLang="ru-RU" dirty="0"/>
              <a:t>Объявление связей (</a:t>
            </a:r>
            <a:r>
              <a:rPr lang="ru-RU" altLang="ru-RU" dirty="0" err="1"/>
              <a:t>n:m</a:t>
            </a:r>
            <a:r>
              <a:rPr lang="ru-RU" altLang="ru-RU" dirty="0"/>
              <a:t>, 1:m, m:1)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49835D-4370-84D7-BCF0-128150F08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609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4AA88-2579-3F87-4E1F-86AEB60E2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DAB74-1935-F39F-1BB0-352B841E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ACB462F-04BA-18F9-59D9-499609D6D0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1813"/>
            <a:ext cx="8541643" cy="3002186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ru-RU" altLang="ru-RU" sz="20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class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Movie 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extent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Movies 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key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(title, year) ) 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{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altLang="ru-RU" sz="20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attribute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2000" dirty="0" err="1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string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title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altLang="ru-RU" sz="20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attribute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2000" dirty="0" err="1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integer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year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altLang="ru-RU" sz="20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attribute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2000" dirty="0" err="1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integer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length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altLang="ru-RU" sz="20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attribute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enum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Film {</a:t>
            </a:r>
            <a:r>
              <a:rPr lang="ru-RU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color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</a:t>
            </a:r>
            <a:r>
              <a:rPr lang="ru-RU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blackAndWhite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} </a:t>
            </a:r>
            <a:r>
              <a:rPr lang="ru-RU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filmType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altLang="ru-RU" sz="20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relationship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&lt;Star&gt; </a:t>
            </a:r>
            <a:r>
              <a:rPr lang="ru-RU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starsOf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inverse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Star::</a:t>
            </a:r>
            <a:r>
              <a:rPr lang="en-US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starredln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endParaRPr lang="ru-RU" altLang="ru-RU" sz="20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altLang="ru-RU" sz="20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relationship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Studio </a:t>
            </a:r>
            <a:r>
              <a:rPr lang="ru-RU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ownedBy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inverse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Studio::owns;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000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float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lengthlnHours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() 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raises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(</a:t>
            </a:r>
            <a:r>
              <a:rPr lang="en-US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noLengthFound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);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000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void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starNames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out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Set&lt;String&gt;);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000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void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otherMovies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Star, 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out</a:t>
            </a: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Set&lt;Movie&gt;) </a:t>
            </a:r>
            <a:r>
              <a:rPr lang="ru-RU" altLang="ru-RU" sz="2000" dirty="0" err="1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raises</a:t>
            </a:r>
            <a:r>
              <a:rPr lang="en-US" alt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ru-RU" altLang="ru-RU" sz="20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noSuchStar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);</a:t>
            </a:r>
            <a:endParaRPr lang="en-US" altLang="ru-RU" sz="20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};</a:t>
            </a:r>
            <a:r>
              <a:rPr lang="ru-RU" alt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67A76-FCCD-D042-8915-053F29A8D9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altLang="ru-RU" dirty="0"/>
              <a:t>Полное объявление класса Movie на языке ODL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7DE4D9-4F99-F417-F3C5-92AC8830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7897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1D12D-62ED-063B-A384-38824102A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0D81F9-6620-506C-5ACA-2380B3F7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83BCA9-7D06-9B68-8FD6-843B455CFD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1532" y="1923677"/>
            <a:ext cx="8541643" cy="2503859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ru-RU" altLang="ru-RU" sz="2000" dirty="0"/>
              <a:t>Object </a:t>
            </a:r>
            <a:r>
              <a:rPr lang="ru-RU" altLang="ru-RU" sz="2000" dirty="0" err="1"/>
              <a:t>Query</a:t>
            </a:r>
            <a:r>
              <a:rPr lang="ru-RU" altLang="ru-RU" sz="2000" dirty="0"/>
              <a:t> Language – SQL-подобный декларативный язык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ru-RU" altLang="ru-RU" sz="2000" dirty="0"/>
              <a:t>SELECT, определенный SQL-92, является подмножеством OQL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ru-RU" altLang="ru-RU" sz="2000" dirty="0"/>
              <a:t>OQL-запросы могут вызываться из ОО-языка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ru-RU" altLang="ru-RU" sz="2000" dirty="0"/>
              <a:t>из OQL-запросов могут делаться обращения к процедурам, написанным на OO-языке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A03E8-C932-05F3-D4D1-B9BBB78986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 fontScale="92500"/>
          </a:bodyPr>
          <a:lstStyle/>
          <a:p>
            <a:r>
              <a:rPr lang="ru-RU" dirty="0"/>
              <a:t>Компоненты стандарта </a:t>
            </a:r>
            <a:r>
              <a:rPr lang="en-US" dirty="0"/>
              <a:t>ODMG</a:t>
            </a:r>
            <a:r>
              <a:rPr lang="ru-RU" dirty="0"/>
              <a:t>. Язык объектных запросов (</a:t>
            </a:r>
            <a:r>
              <a:rPr lang="en-US" dirty="0"/>
              <a:t>OQL)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7A3E20-7D65-3BD2-8866-BA2089FA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7639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7A80A-2A2D-192E-04D3-03D9CB21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6AABD1-177E-1E72-6F54-5FEE44256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5F387C0-E313-17F0-5D97-17D72BEC9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1532" y="1923677"/>
            <a:ext cx="8541643" cy="2503859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ru-RU" altLang="ru-RU" dirty="0"/>
              <a:t>Найти названия фильмов с длительностью больше 1,6 часа</a:t>
            </a:r>
          </a:p>
          <a:p>
            <a:pPr eaLnBrk="1" hangingPunct="1">
              <a:buFont typeface="Wingdings" pitchFamily="2" charset="2"/>
              <a:buNone/>
            </a:pPr>
            <a:endParaRPr lang="ru-RU" altLang="ru-RU" dirty="0"/>
          </a:p>
          <a:p>
            <a:pPr eaLnBrk="1" hangingPunct="1">
              <a:buFont typeface="Wingdings" pitchFamily="2" charset="2"/>
              <a:buNone/>
            </a:pP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SELECT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DISTINCT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dirty="0" err="1">
                <a:solidFill>
                  <a:schemeClr val="accent5">
                    <a:lumMod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</a:t>
            </a:r>
            <a:r>
              <a:rPr lang="en-US" altLang="ru-RU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.title</a:t>
            </a:r>
            <a:endParaRPr lang="en-US" altLang="ru-RU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FROM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Movies 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WHERE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m.length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&gt; 1,</a:t>
            </a:r>
            <a:r>
              <a:rPr lang="ru-RU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95C7F-200D-041E-6B5B-0EBB9B7112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Компоненты стандарта </a:t>
            </a:r>
            <a:r>
              <a:rPr lang="en-US" dirty="0"/>
              <a:t>ODMG</a:t>
            </a:r>
            <a:r>
              <a:rPr lang="ru-RU" dirty="0"/>
              <a:t>. </a:t>
            </a:r>
            <a:r>
              <a:rPr lang="ru-RU" dirty="0" err="1"/>
              <a:t>ПримерЫ</a:t>
            </a:r>
            <a:r>
              <a:rPr lang="ru-RU" dirty="0"/>
              <a:t> </a:t>
            </a:r>
            <a:r>
              <a:rPr lang="en-US" dirty="0"/>
              <a:t>OQL</a:t>
            </a:r>
            <a:r>
              <a:rPr lang="ru-RU" dirty="0"/>
              <a:t> (1)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75A0BD-0CA3-3E9C-572B-0D29275BD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6205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0A7E5-0DAB-14F4-AD79-DAAAE0B6B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DB6D33-3B21-B160-5189-F8A0E3213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F6C5FD-C432-3E4D-DEC3-E49EBE48B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1532" y="1923677"/>
            <a:ext cx="8541643" cy="2880321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ru-RU" altLang="ru-RU" sz="2000" dirty="0"/>
              <a:t>Найти названия фильмов с участием актера </a:t>
            </a:r>
            <a:r>
              <a:rPr lang="en-US" altLang="ru-RU" sz="2000" dirty="0"/>
              <a:t>Jackie Chan,</a:t>
            </a:r>
            <a:r>
              <a:rPr lang="ru-RU" altLang="ru-RU" sz="2000" dirty="0"/>
              <a:t> снятых на студии</a:t>
            </a:r>
            <a:r>
              <a:rPr lang="en-US" altLang="ru-RU" sz="2000" dirty="0"/>
              <a:t> </a:t>
            </a:r>
            <a:r>
              <a:rPr lang="en-US" b="0" i="0" dirty="0">
                <a:solidFill>
                  <a:srgbClr val="040C28"/>
                </a:solidFill>
                <a:effectLst/>
                <a:latin typeface="+mn-lt"/>
              </a:rPr>
              <a:t>Golden Harvest</a:t>
            </a:r>
            <a:endParaRPr lang="ru-RU" altLang="ru-RU" dirty="0">
              <a:latin typeface="+mn-lt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</a:pPr>
            <a:endParaRPr lang="ru-RU" altLang="ru-RU" dirty="0"/>
          </a:p>
          <a:p>
            <a:pPr marL="0" indent="0" eaLnBrk="1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SELECT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m.title</a:t>
            </a:r>
            <a:b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FROM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	Movies m, Studios s, Stars </a:t>
            </a:r>
            <a:r>
              <a:rPr lang="en-US" altLang="ru-RU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</a:t>
            </a:r>
            <a:b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WHERE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	st.name = </a:t>
            </a:r>
            <a:r>
              <a:rPr lang="en-US" altLang="ru-RU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'Jackie Chan'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b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and </a:t>
            </a:r>
            <a:r>
              <a:rPr lang="en-US" altLang="ru-RU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m.starsOf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b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and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s.name = </a:t>
            </a:r>
            <a:r>
              <a:rPr lang="en-US" altLang="ru-RU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'Golden Harvest'</a:t>
            </a:r>
            <a:b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alt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and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altLang="ru-RU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m.ownedBy</a:t>
            </a:r>
            <a:r>
              <a:rPr lang="en-US" alt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72BFD-8632-438E-CA87-1B2B5D84A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Компоненты стандарта </a:t>
            </a:r>
            <a:r>
              <a:rPr lang="en-US" dirty="0"/>
              <a:t>ODMG</a:t>
            </a:r>
            <a:r>
              <a:rPr lang="ru-RU" dirty="0"/>
              <a:t>. </a:t>
            </a:r>
            <a:r>
              <a:rPr lang="ru-RU" dirty="0" err="1"/>
              <a:t>ПримерЫ</a:t>
            </a:r>
            <a:r>
              <a:rPr lang="ru-RU" dirty="0"/>
              <a:t> </a:t>
            </a:r>
            <a:r>
              <a:rPr lang="en-US" dirty="0"/>
              <a:t>OQL</a:t>
            </a:r>
            <a:r>
              <a:rPr lang="ru-RU" dirty="0"/>
              <a:t> (1)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9F9489-6AE4-5342-B598-2509C2AC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Объектная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574079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18863</TotalTime>
  <Words>5832</Words>
  <Application>Microsoft Office PowerPoint</Application>
  <PresentationFormat>On-screen Show (16:9)</PresentationFormat>
  <Paragraphs>429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Aptos Narrow</vt:lpstr>
      <vt:lpstr>Acrom Bold</vt:lpstr>
      <vt:lpstr>Arial Black</vt:lpstr>
      <vt:lpstr>Acrom ExtraBold</vt:lpstr>
      <vt:lpstr>Arial</vt:lpstr>
      <vt:lpstr>Cascadia Code SemiBold</vt:lpstr>
      <vt:lpstr>Acrom</vt:lpstr>
      <vt:lpstr>Calibri</vt:lpstr>
      <vt:lpstr>Wingdings</vt:lpstr>
      <vt:lpstr>NSU Content</vt:lpstr>
      <vt:lpstr>NSU Captions</vt:lpstr>
      <vt:lpstr>БАЗЫ ДАННЫХ</vt:lpstr>
      <vt:lpstr>PowerPoint Presentation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  <vt:lpstr>Объектная модель данных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939</cp:revision>
  <dcterms:created xsi:type="dcterms:W3CDTF">2016-08-15T04:55:12Z</dcterms:created>
  <dcterms:modified xsi:type="dcterms:W3CDTF">2025-03-03T17:18:50Z</dcterms:modified>
</cp:coreProperties>
</file>