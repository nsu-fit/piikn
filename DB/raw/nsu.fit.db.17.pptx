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16"/>
  </p:notesMasterIdLst>
  <p:sldIdLst>
    <p:sldId id="514" r:id="rId3"/>
    <p:sldId id="524" r:id="rId4"/>
    <p:sldId id="586" r:id="rId5"/>
    <p:sldId id="688" r:id="rId6"/>
    <p:sldId id="689" r:id="rId7"/>
    <p:sldId id="690" r:id="rId8"/>
    <p:sldId id="691" r:id="rId9"/>
    <p:sldId id="692" r:id="rId10"/>
    <p:sldId id="693" r:id="rId11"/>
    <p:sldId id="694" r:id="rId12"/>
    <p:sldId id="695" r:id="rId13"/>
    <p:sldId id="696" r:id="rId14"/>
    <p:sldId id="697" r:id="rId15"/>
  </p:sldIdLst>
  <p:sldSz cx="9144000" cy="5143500" type="screen16x9"/>
  <p:notesSz cx="6858000" cy="9144000"/>
  <p:embeddedFontLst>
    <p:embeddedFont>
      <p:font typeface="Acrom" panose="020B0604020202020204" charset="-52"/>
      <p:regular r:id="rId17"/>
    </p:embeddedFont>
    <p:embeddedFont>
      <p:font typeface="Acrom Bold" panose="020B0604020202020204" charset="-52"/>
      <p:bold r:id="rId18"/>
    </p:embeddedFont>
    <p:embeddedFont>
      <p:font typeface="Acrom ExtraBold" panose="020B0604020202020204" charset="-52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86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3FF"/>
    <a:srgbClr val="FBE5D6"/>
    <a:srgbClr val="FEFEFE"/>
    <a:srgbClr val="FF0000"/>
    <a:srgbClr val="C20808"/>
    <a:srgbClr val="F0F0F0"/>
    <a:srgbClr val="B8B8B8"/>
    <a:srgbClr val="DBF2F3"/>
    <a:srgbClr val="D6D6FE"/>
    <a:srgbClr val="929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94915" autoAdjust="0"/>
  </p:normalViewPr>
  <p:slideViewPr>
    <p:cSldViewPr>
      <p:cViewPr varScale="1">
        <p:scale>
          <a:sx n="134" d="100"/>
          <a:sy n="134" d="100"/>
        </p:scale>
        <p:origin x="91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62F5-FF97-3F61-8D98-576569B2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1891F-7B86-7174-260B-D35F14D7A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EFE28-B952-2D81-EB83-A5971EBCC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F1982-2E1C-71E6-8D91-F382016B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62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0153-28A2-E783-0E50-59E21769C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2AC03-D687-81C5-E304-361369A6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21D28-06FA-93FE-D01C-9B362E6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64787-839C-19A9-FCCD-DDA0D9A65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377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9335-CBB8-EA10-E123-67D48348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B4D14-DEEB-1716-6E76-6BC5CAD42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DCAE5-291F-E59B-AA44-C59D6A2A3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2EC00-B637-143F-2E30-1AFCAAD0D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618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B0AF-2077-EBFA-1C32-8D5E5BFC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E138E-FC75-B211-E6D6-A21AAF218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544E6-D6B9-2691-B689-CAEB4FBA4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B39B6-1774-F214-2586-DE6B5B03A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272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32B2-0897-32C9-18C7-6EBC5FF6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DA819-0E38-BEFA-0440-118AD9BE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37E5C-41F4-E447-A585-48E9FC509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A27BE-0E7E-8BE8-8E99-B16882BEB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384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698-2069-6DFF-508B-4088455D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BE0FC-806E-60FC-9CF0-544D6C465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955D5-C17E-18AC-FB90-6FF31B30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0EC2F-434D-1D80-527E-D941AADCA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955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B1F2-FFE2-B929-E3BA-AB100614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C58B0-D662-E5ED-2C23-3B720FDA1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43D32-B7A9-E841-1BBF-A6D31F01A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C8131-F42F-4E21-B03B-7E9B4434F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06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7BF7-E215-2746-D33E-9F1752FE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94108-E933-4C86-C612-5467225AA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659A2-1188-852D-0FB0-CAB4E8981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1990B-C65B-0D89-AEC0-C5EF164D7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572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C684-4889-ED1B-B1F6-69E1851A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F0FF8-CFCC-F033-F660-1B9BAB0F5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6AFCB-64D9-B866-DFF9-4CA3852EC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5FBB9-7FB5-D827-3A0A-ECA57E3FF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386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7554-10E4-41B6-293F-7041E01B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0B5B-8C53-03BD-9210-E2976DA49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06678-A93E-7049-8832-E364DD349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BAAF6-D83F-F5B9-73AB-6C516511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0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03.02.2026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03.02.2026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03.02.2026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03.02.2026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4453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03.02.2026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altLang="ru-RU" sz="2000" dirty="0" err="1"/>
              <a:t>Полуструктурированная</a:t>
            </a:r>
            <a:r>
              <a:rPr lang="ru-RU" altLang="ru-RU" sz="2000" dirty="0"/>
              <a:t> модель данных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8397626" cy="2305050"/>
          </a:xfrm>
        </p:spPr>
        <p:txBody>
          <a:bodyPr/>
          <a:lstStyle/>
          <a:p>
            <a:r>
              <a:rPr lang="ru-RU" altLang="ru-RU" sz="2000" b="1" dirty="0"/>
              <a:t>Г. Гарсия –Молина, Дж. Ульман, Дж. </a:t>
            </a:r>
            <a:r>
              <a:rPr lang="ru-RU" altLang="ru-RU" sz="2000" b="1" dirty="0" err="1"/>
              <a:t>Уидом</a:t>
            </a:r>
            <a:r>
              <a:rPr lang="ru-RU" altLang="ru-RU" sz="2000" b="1" dirty="0"/>
              <a:t> Системы баз данных. </a:t>
            </a:r>
            <a:r>
              <a:rPr lang="ru-RU" altLang="ru-RU" sz="2000" b="1" dirty="0">
                <a:solidFill>
                  <a:schemeClr val="tx1"/>
                </a:solidFill>
                <a:highlight>
                  <a:srgbClr val="C1F3FF"/>
                </a:highlight>
              </a:rPr>
              <a:t>Раздел 4</a:t>
            </a:r>
            <a:r>
              <a:rPr lang="ru-RU" altLang="ru-RU" b="1" dirty="0">
                <a:solidFill>
                  <a:schemeClr val="tx1"/>
                </a:solidFill>
                <a:highlight>
                  <a:srgbClr val="C1F3FF"/>
                </a:highlight>
              </a:rPr>
              <a:t>.6</a:t>
            </a:r>
            <a:endParaRPr lang="ru-RU" altLang="ru-RU" sz="2000" b="1" dirty="0">
              <a:solidFill>
                <a:schemeClr val="tx1"/>
              </a:solidFill>
              <a:highlight>
                <a:srgbClr val="C1F3FF"/>
              </a:highlight>
            </a:endParaRPr>
          </a:p>
          <a:p>
            <a:pPr eaLnBrk="1" hangingPunct="1"/>
            <a:endParaRPr lang="ru-RU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AEFFB-0F83-E5E8-CCAB-D6B1B0B3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419DD-B1BA-C731-7F3B-BF3D6582A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 numCol="2">
            <a:normAutofit lnSpcReduction="10000"/>
          </a:bodyPr>
          <a:lstStyle/>
          <a:p>
            <a:pPr marL="0" lvl="1" indent="0" eaLnBrk="1" hangingPunct="1">
              <a:lnSpc>
                <a:spcPct val="100000"/>
              </a:lnSpc>
              <a:spcBef>
                <a:spcPts val="1000"/>
              </a:spcBef>
              <a:buSzPct val="110000"/>
              <a:buNone/>
            </a:pPr>
            <a:r>
              <a:rPr lang="ru-RU" altLang="ru-RU" sz="2000" dirty="0"/>
              <a:t>Модель </a:t>
            </a:r>
            <a:r>
              <a:rPr lang="ru-RU" altLang="ru-RU" sz="2000" dirty="0" err="1"/>
              <a:t>полуструктурированных</a:t>
            </a:r>
            <a:r>
              <a:rPr lang="ru-RU" altLang="ru-RU" sz="2000" dirty="0"/>
              <a:t> данных (</a:t>
            </a:r>
            <a:r>
              <a:rPr lang="en-US" altLang="ru-RU" sz="2000" dirty="0" err="1"/>
              <a:t>semistructured</a:t>
            </a:r>
            <a:r>
              <a:rPr lang="ru-RU" altLang="ru-RU" sz="2000" dirty="0"/>
              <a:t> </a:t>
            </a:r>
            <a:r>
              <a:rPr lang="en-US" altLang="ru-RU" sz="2000" dirty="0"/>
              <a:t>data) </a:t>
            </a:r>
            <a:r>
              <a:rPr lang="ru-RU" altLang="ru-RU" sz="2000" dirty="0"/>
              <a:t>в системе баз данных играет особую роль</a:t>
            </a:r>
          </a:p>
          <a:p>
            <a:pPr marL="271463" indent="-271463" eaLnBrk="1" hangingPunct="1">
              <a:lnSpc>
                <a:spcPct val="100000"/>
              </a:lnSpc>
              <a:buSzPct val="110000"/>
              <a:buFont typeface="+mj-lt"/>
              <a:buAutoNum type="arabicPeriod"/>
            </a:pPr>
            <a:r>
              <a:rPr lang="ru-RU" altLang="ru-RU" dirty="0"/>
              <a:t>Модель выполняет функцию </a:t>
            </a:r>
            <a:r>
              <a:rPr lang="ru-RU" altLang="ru-RU" dirty="0">
                <a:solidFill>
                  <a:schemeClr val="accent1"/>
                </a:solidFill>
              </a:rPr>
              <a:t>удобного средства интеграции данных. </a:t>
            </a:r>
            <a:r>
              <a:rPr lang="ru-RU" altLang="ru-RU" dirty="0"/>
              <a:t>Она дает возможность описывать схожую информацию, находящуюся в базах данных с разными схемами, с помощью одних и тех же терминов.</a:t>
            </a:r>
          </a:p>
          <a:p>
            <a:pPr marL="271463" indent="-271463" eaLnBrk="1" hangingPunct="1">
              <a:lnSpc>
                <a:spcPct val="100000"/>
              </a:lnSpc>
              <a:buSzPct val="110000"/>
              <a:buFont typeface="+mj-lt"/>
              <a:buAutoNum type="arabicPeriod"/>
            </a:pPr>
            <a:r>
              <a:rPr lang="ru-RU" altLang="ru-RU" dirty="0"/>
              <a:t>Модель </a:t>
            </a:r>
            <a:r>
              <a:rPr lang="ru-RU" altLang="ru-RU" dirty="0">
                <a:solidFill>
                  <a:schemeClr val="accent1"/>
                </a:solidFill>
              </a:rPr>
              <a:t>пригодна для представления документов </a:t>
            </a:r>
            <a:r>
              <a:rPr lang="ru-RU" altLang="ru-RU" dirty="0"/>
              <a:t>в инструментальных системах, подобных </a:t>
            </a:r>
            <a:r>
              <a:rPr lang="en-US" altLang="ru-RU" dirty="0">
                <a:solidFill>
                  <a:schemeClr val="accent1"/>
                </a:solidFill>
              </a:rPr>
              <a:t>XML</a:t>
            </a:r>
            <a:r>
              <a:rPr lang="en-US" altLang="ru-RU" dirty="0"/>
              <a:t>,</a:t>
            </a:r>
            <a:r>
              <a:rPr lang="ru-RU" altLang="ru-RU" dirty="0"/>
              <a:t> которые используются для доступа к данным в среде </a:t>
            </a:r>
            <a:r>
              <a:rPr lang="en-US" altLang="ru-RU" dirty="0"/>
              <a:t>WEB.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4DDAFA-371C-EADF-F048-CDF673DE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2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8523-37C8-7F3D-351D-50BA6EF3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D2B6B-3882-AE56-68E8-6BB56FAC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EC6FC-1075-16CA-6D91-DC3134273E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 numCol="2"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Для моделирования предметной области в разных моделях используются разные понятия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В </a:t>
            </a:r>
            <a:r>
              <a:rPr lang="en-US" altLang="ru-RU" sz="1200" dirty="0"/>
              <a:t>ER</a:t>
            </a:r>
            <a:r>
              <a:rPr lang="ru-RU" altLang="ru-RU" sz="1200" dirty="0"/>
              <a:t> модели два понятия: </a:t>
            </a:r>
            <a:r>
              <a:rPr lang="ru-RU" altLang="ru-RU" sz="1200" b="1" dirty="0"/>
              <a:t>сущность, связь</a:t>
            </a:r>
            <a:r>
              <a:rPr lang="ru-RU" altLang="ru-RU" sz="1200" dirty="0"/>
              <a:t>. В каждом конкретном случае используется то понятие, которое является наиболее близким природе объектов, подлежащих воспроизведению в рамках информационной системы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В реляционной модели – это понятие </a:t>
            </a:r>
            <a:r>
              <a:rPr lang="ru-RU" altLang="ru-RU" sz="1200" b="1" dirty="0"/>
              <a:t>отношения</a:t>
            </a:r>
            <a:r>
              <a:rPr lang="ru-RU" altLang="ru-RU" sz="1200" dirty="0"/>
              <a:t>, которое используется для отображения и сущностей и связей. </a:t>
            </a:r>
            <a:endParaRPr lang="en-US" altLang="ru-RU" sz="1200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В объектной модели – это понятия </a:t>
            </a:r>
            <a:r>
              <a:rPr lang="ru-RU" altLang="ru-RU" sz="1200" b="1" dirty="0"/>
              <a:t>класс и связь</a:t>
            </a:r>
            <a:r>
              <a:rPr lang="ru-RU" altLang="ru-RU" sz="1200" dirty="0"/>
              <a:t>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Модель </a:t>
            </a:r>
            <a:r>
              <a:rPr lang="ru-RU" altLang="ru-RU" sz="1200" dirty="0" err="1"/>
              <a:t>полуструктурированных</a:t>
            </a:r>
            <a:r>
              <a:rPr lang="ru-RU" altLang="ru-RU" sz="1200" dirty="0"/>
              <a:t> данных можно представить как сочетание (слияние) концепций – «класс и связь» и «класс и отношение», подобно тому как  два понятия «сущность» и «связь» сливаются в реляционной модели в одно понятие «отношения».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Все выше упомянутые модели задают структуру хранимых данных в виде </a:t>
            </a:r>
            <a:r>
              <a:rPr lang="ru-RU" altLang="ru-RU" sz="1200" b="1" dirty="0"/>
              <a:t>схем: </a:t>
            </a:r>
            <a:r>
              <a:rPr lang="en-US" altLang="ru-RU" sz="1200" b="1" dirty="0"/>
              <a:t>ER</a:t>
            </a:r>
            <a:r>
              <a:rPr lang="ru-RU" altLang="ru-RU" sz="1200" b="1" dirty="0"/>
              <a:t>-диаграмм, схем отношений или </a:t>
            </a:r>
            <a:r>
              <a:rPr lang="en-US" altLang="ru-RU" sz="1200" b="1" dirty="0"/>
              <a:t>ODL </a:t>
            </a:r>
            <a:r>
              <a:rPr lang="ru-RU" altLang="ru-RU" sz="1200" b="1" dirty="0"/>
              <a:t>объявлений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Модель </a:t>
            </a:r>
            <a:r>
              <a:rPr lang="ru-RU" altLang="ru-RU" sz="1200" dirty="0" err="1"/>
              <a:t>полуструктурированных</a:t>
            </a:r>
            <a:r>
              <a:rPr lang="ru-RU" altLang="ru-RU" sz="1200" dirty="0"/>
              <a:t> данных </a:t>
            </a:r>
            <a:r>
              <a:rPr lang="ru-RU" altLang="ru-RU" sz="1200" b="1" dirty="0"/>
              <a:t>не укладывается ни в к какую «схему»</a:t>
            </a:r>
            <a:r>
              <a:rPr lang="ru-RU" altLang="ru-RU" sz="1200" dirty="0"/>
              <a:t>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/>
              <a:t>Данные сами по себе несут информацию о том, как их следует представлять и «схема» способна </a:t>
            </a:r>
            <a:r>
              <a:rPr lang="ru-RU" altLang="ru-RU" sz="1200" b="1" dirty="0"/>
              <a:t>изменяться произвольно</a:t>
            </a:r>
            <a:r>
              <a:rPr lang="ru-RU" altLang="ru-RU" sz="1200" dirty="0"/>
              <a:t>, как со временем, так и в контексте конкретной базы данных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089089-5BE9-32A1-B8BB-F59D1C13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42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9655-BBAA-33D1-EE38-CA6CCC04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054D6C-6F40-012C-8B43-0D18DBBD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1514-F6E2-6B2B-BAD1-C1CE478A2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664321"/>
          </a:xfrm>
        </p:spPr>
        <p:txBody>
          <a:bodyPr numCol="2"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Базу данных, содержащую </a:t>
            </a:r>
            <a:r>
              <a:rPr lang="ru-RU" sz="1200" dirty="0" err="1">
                <a:latin typeface="+mn-lt"/>
              </a:rPr>
              <a:t>полуструктурированные</a:t>
            </a:r>
            <a:r>
              <a:rPr lang="en-US" sz="1200" dirty="0">
                <a:latin typeface="+mn-lt"/>
              </a:rPr>
              <a:t> </a:t>
            </a:r>
            <a:r>
              <a:rPr lang="ru-RU" sz="1200" dirty="0">
                <a:latin typeface="+mn-lt"/>
              </a:rPr>
              <a:t>данные, можно представить </a:t>
            </a:r>
            <a:r>
              <a:rPr lang="ru-RU" sz="1200" b="1" dirty="0">
                <a:latin typeface="+mn-lt"/>
              </a:rPr>
              <a:t>набором вершин графа</a:t>
            </a:r>
            <a:r>
              <a:rPr lang="ru-RU" sz="1200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Каждая вершина является либо </a:t>
            </a:r>
            <a:r>
              <a:rPr lang="ru-RU" sz="1200" b="1" dirty="0">
                <a:latin typeface="+mn-lt"/>
              </a:rPr>
              <a:t>оконечной</a:t>
            </a:r>
            <a:r>
              <a:rPr lang="ru-RU" sz="1200" i="1" dirty="0">
                <a:latin typeface="+mn-lt"/>
              </a:rPr>
              <a:t> </a:t>
            </a:r>
            <a:r>
              <a:rPr lang="ru-RU" sz="1200" dirty="0">
                <a:latin typeface="+mn-lt"/>
              </a:rPr>
              <a:t>(листом), либо </a:t>
            </a:r>
            <a:r>
              <a:rPr lang="ru-RU" sz="1200" b="1" dirty="0">
                <a:latin typeface="+mn-lt"/>
              </a:rPr>
              <a:t>промежуточной</a:t>
            </a:r>
            <a:r>
              <a:rPr lang="ru-RU" sz="1200" dirty="0">
                <a:latin typeface="+mn-lt"/>
              </a:rPr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Оконечным вершинам поставлены в соответствие </a:t>
            </a:r>
            <a:r>
              <a:rPr lang="ru-RU" sz="1200" b="1" dirty="0">
                <a:latin typeface="+mn-lt"/>
              </a:rPr>
              <a:t>метки</a:t>
            </a:r>
            <a:r>
              <a:rPr lang="ru-RU" sz="1200" dirty="0">
                <a:latin typeface="+mn-lt"/>
              </a:rPr>
              <a:t> – элементы  данных </a:t>
            </a:r>
            <a:r>
              <a:rPr lang="ru-RU" sz="1200" b="1" dirty="0">
                <a:latin typeface="+mn-lt"/>
              </a:rPr>
              <a:t>атомарных типов </a:t>
            </a:r>
            <a:r>
              <a:rPr lang="ru-RU" sz="1200" dirty="0">
                <a:latin typeface="+mn-lt"/>
              </a:rPr>
              <a:t>(число, строка и т.п.)</a:t>
            </a:r>
          </a:p>
          <a:p>
            <a:pPr>
              <a:lnSpc>
                <a:spcPct val="120000"/>
              </a:lnSpc>
              <a:defRPr/>
            </a:pPr>
            <a:r>
              <a:rPr lang="ru-RU" sz="1200" kern="1200" dirty="0">
                <a:latin typeface="+mn-lt"/>
                <a:cs typeface="Arial" charset="0"/>
              </a:rPr>
              <a:t>Из промежуточных вершин исходят </a:t>
            </a:r>
            <a:r>
              <a:rPr lang="ru-RU" sz="1200" b="1" kern="1200" dirty="0">
                <a:latin typeface="+mn-lt"/>
                <a:cs typeface="Arial" charset="0"/>
              </a:rPr>
              <a:t>одна или несколько дуг.</a:t>
            </a:r>
            <a:endParaRPr lang="ru-RU" sz="1200" b="1" dirty="0">
              <a:latin typeface="+mn-lt"/>
            </a:endParaRPr>
          </a:p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Каждая дуга снабжена </a:t>
            </a:r>
            <a:r>
              <a:rPr lang="ru-RU" sz="1200" b="1" dirty="0">
                <a:latin typeface="+mn-lt"/>
              </a:rPr>
              <a:t>меткой</a:t>
            </a:r>
            <a:r>
              <a:rPr lang="ru-RU" sz="1200" dirty="0">
                <a:latin typeface="+mn-lt"/>
              </a:rPr>
              <a:t>, описывающей в каком </a:t>
            </a:r>
            <a:r>
              <a:rPr lang="ru-RU" sz="1200" b="1" dirty="0">
                <a:latin typeface="+mn-lt"/>
              </a:rPr>
              <a:t>отношении</a:t>
            </a:r>
            <a:r>
              <a:rPr lang="ru-RU" sz="1200" dirty="0">
                <a:latin typeface="+mn-lt"/>
              </a:rPr>
              <a:t> находятся соединенные вершины.</a:t>
            </a:r>
          </a:p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Одна из </a:t>
            </a:r>
            <a:r>
              <a:rPr lang="ru-RU" sz="1200" b="1" dirty="0">
                <a:latin typeface="+mn-lt"/>
              </a:rPr>
              <a:t>промежуточных </a:t>
            </a:r>
            <a:r>
              <a:rPr lang="ru-RU" sz="1200" dirty="0">
                <a:latin typeface="+mn-lt"/>
              </a:rPr>
              <a:t>вершин является </a:t>
            </a:r>
            <a:r>
              <a:rPr lang="ru-RU" sz="1200" b="1" dirty="0">
                <a:latin typeface="+mn-lt"/>
              </a:rPr>
              <a:t>корневой</a:t>
            </a:r>
            <a:r>
              <a:rPr lang="ru-RU" sz="1200" dirty="0">
                <a:latin typeface="+mn-lt"/>
              </a:rPr>
              <a:t>. Она не имеет входящих дуг и представляет </a:t>
            </a:r>
            <a:r>
              <a:rPr lang="ru-RU" sz="1200" b="1" dirty="0">
                <a:latin typeface="+mn-lt"/>
              </a:rPr>
              <a:t>базу данных в  целом.</a:t>
            </a:r>
          </a:p>
          <a:p>
            <a:pPr>
              <a:lnSpc>
                <a:spcPct val="120000"/>
              </a:lnSpc>
              <a:defRPr/>
            </a:pPr>
            <a:r>
              <a:rPr lang="ru-RU" sz="1200" dirty="0">
                <a:latin typeface="+mn-lt"/>
              </a:rPr>
              <a:t>Каждая вершина должна быть достижима из корня, хотя структура графа о общем случае </a:t>
            </a:r>
            <a:r>
              <a:rPr lang="ru-RU" sz="1200" b="1" dirty="0">
                <a:latin typeface="+mn-lt"/>
              </a:rPr>
              <a:t>не обязательно дерево.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FC02-20ED-F6A8-3E73-BCAE96BBFF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Представление данных. Граф. 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4FC880-D24D-DC45-78C6-D75D5E18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22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45B6-72B4-EECE-0EA8-AE463738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B8B4E-C82E-E4F0-3962-C78595DF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F319E-3DD2-F46A-CF1D-148416915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4005139" cy="2664321"/>
          </a:xfrm>
        </p:spPr>
        <p:txBody>
          <a:bodyPr numCol="1">
            <a:normAutofit/>
          </a:bodyPr>
          <a:lstStyle/>
          <a:p>
            <a:r>
              <a:rPr lang="ru-RU" sz="1400" dirty="0"/>
              <a:t>Граф, описывающий «</a:t>
            </a:r>
            <a:r>
              <a:rPr lang="ru-RU" sz="1400" dirty="0" err="1"/>
              <a:t>полуструктурированную</a:t>
            </a:r>
            <a:r>
              <a:rPr lang="ru-RU" sz="1400" dirty="0"/>
              <a:t>» базу данных об актерах и кинофильмах. </a:t>
            </a:r>
            <a:endParaRPr lang="en-US" sz="1400" dirty="0"/>
          </a:p>
          <a:p>
            <a:r>
              <a:rPr lang="ru-RU" sz="1400" dirty="0"/>
              <a:t>Корень </a:t>
            </a:r>
            <a:r>
              <a:rPr lang="en-US" sz="1400" b="1" dirty="0"/>
              <a:t>Root</a:t>
            </a:r>
            <a:r>
              <a:rPr lang="ru-RU" sz="1400" b="1" dirty="0"/>
              <a:t> </a:t>
            </a:r>
            <a:r>
              <a:rPr lang="ru-RU" sz="1400" dirty="0"/>
              <a:t>– точка входа в базу данных, представляет всю информацию в целом.</a:t>
            </a:r>
            <a:endParaRPr lang="en-US" sz="1400" dirty="0"/>
          </a:p>
          <a:p>
            <a:r>
              <a:rPr lang="ru-RU" sz="1400" dirty="0"/>
              <a:t>Основные объекты – «</a:t>
            </a:r>
            <a:r>
              <a:rPr lang="ru-RU" sz="1400" b="1" dirty="0"/>
              <a:t>актеры</a:t>
            </a:r>
            <a:r>
              <a:rPr lang="ru-RU" sz="1400" dirty="0"/>
              <a:t>» и «</a:t>
            </a:r>
            <a:r>
              <a:rPr lang="ru-RU" sz="1400" b="1" dirty="0"/>
              <a:t>кинофильмы</a:t>
            </a:r>
            <a:r>
              <a:rPr lang="ru-RU" sz="1400" dirty="0"/>
              <a:t>» - </a:t>
            </a:r>
            <a:r>
              <a:rPr lang="ru-RU" sz="1400" b="1" dirty="0"/>
              <a:t>дочерние вершины </a:t>
            </a:r>
            <a:r>
              <a:rPr lang="en-US" sz="1400" dirty="0"/>
              <a:t>Root.</a:t>
            </a:r>
            <a:endParaRPr lang="ru-RU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DF5D5-E65B-A5C5-2F16-7F1F520157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Представление данных. Пример. 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E60D9C-9F6C-CA12-D71B-0611089B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  <p:pic>
        <p:nvPicPr>
          <p:cNvPr id="7" name="Рисунок 2">
            <a:extLst>
              <a:ext uri="{FF2B5EF4-FFF2-40B4-BE49-F238E27FC236}">
                <a16:creationId xmlns:a16="http://schemas.microsoft.com/office/drawing/2014/main" id="{F9168502-2C33-A959-1FB6-73C45236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1618549"/>
            <a:ext cx="4804845" cy="27839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32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82FC-8EB4-6618-FF0A-64416C7D6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2ABFB-744A-980A-ABE3-C33175E1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7EED8-F159-465E-EBB7-74538BE9C8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808312"/>
          </a:xfrm>
        </p:spPr>
        <p:txBody>
          <a:bodyPr numCol="2">
            <a:normAutofit lnSpcReduction="10000"/>
          </a:bodyPr>
          <a:lstStyle/>
          <a:p>
            <a:pPr marL="179388" indent="-179388">
              <a:lnSpc>
                <a:spcPct val="110000"/>
              </a:lnSpc>
              <a:spcBef>
                <a:spcPts val="600"/>
              </a:spcBef>
              <a:defRPr/>
            </a:pPr>
            <a:r>
              <a:rPr lang="ru-RU" sz="1400" dirty="0"/>
              <a:t>Оконечные вершины имеют </a:t>
            </a:r>
            <a:r>
              <a:rPr lang="ru-RU" sz="1400" b="1" dirty="0"/>
              <a:t>метки </a:t>
            </a:r>
            <a:r>
              <a:rPr lang="ru-RU" sz="1400" dirty="0"/>
              <a:t>и интерпретируются как </a:t>
            </a:r>
            <a:r>
              <a:rPr lang="ru-RU" sz="1400" b="1" dirty="0"/>
              <a:t>содержимое атрибутов, объектов вышестоящих вершин.</a:t>
            </a:r>
            <a:endParaRPr lang="ru-RU" sz="1400" dirty="0"/>
          </a:p>
          <a:p>
            <a:pPr marL="179388" indent="-179388">
              <a:lnSpc>
                <a:spcPct val="110000"/>
              </a:lnSpc>
              <a:spcBef>
                <a:spcPts val="600"/>
              </a:spcBef>
              <a:defRPr/>
            </a:pPr>
            <a:r>
              <a:rPr lang="ru-RU" sz="1400" dirty="0"/>
              <a:t>Промежуточные вершины не обязаны иметь метки. На рисунке слайда метки промежуточных вершин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/>
              <a:t>введены для удобства идентификации вершины.</a:t>
            </a:r>
          </a:p>
          <a:p>
            <a:pPr marL="179388" indent="-179388">
              <a:lnSpc>
                <a:spcPct val="110000"/>
              </a:lnSpc>
              <a:spcBef>
                <a:spcPts val="600"/>
              </a:spcBef>
              <a:defRPr/>
            </a:pPr>
            <a:r>
              <a:rPr lang="ru-RU" sz="1400" dirty="0"/>
              <a:t>Так вершину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можно трактовать как объект-кинофильм </a:t>
            </a:r>
            <a:r>
              <a:rPr lang="en-US" sz="1400" dirty="0">
                <a:cs typeface="Times New Roman" panose="02020603050405020304" pitchFamily="18" charset="0"/>
              </a:rPr>
              <a:t>“Star Wars” </a:t>
            </a:r>
            <a:r>
              <a:rPr lang="ru-RU" sz="1400" dirty="0">
                <a:cs typeface="Times New Roman" panose="02020603050405020304" pitchFamily="18" charset="0"/>
              </a:rPr>
              <a:t>с дочерними вершинами-значениями для атрибутов </a:t>
            </a:r>
            <a:r>
              <a:rPr lang="en-US" sz="1400" dirty="0">
                <a:cs typeface="Times New Roman" panose="02020603050405020304" pitchFamily="18" charset="0"/>
              </a:rPr>
              <a:t>“title” - Star Wars </a:t>
            </a:r>
            <a:r>
              <a:rPr lang="ru-RU" sz="1400" dirty="0">
                <a:cs typeface="Times New Roman" panose="02020603050405020304" pitchFamily="18" charset="0"/>
              </a:rPr>
              <a:t>и </a:t>
            </a:r>
            <a:r>
              <a:rPr lang="en-US" sz="1400" dirty="0">
                <a:cs typeface="Times New Roman" panose="02020603050405020304" pitchFamily="18" charset="0"/>
              </a:rPr>
              <a:t>“year” – 1977</a:t>
            </a:r>
            <a:r>
              <a:rPr lang="ru-RU" sz="1400" dirty="0">
                <a:cs typeface="Times New Roman" panose="02020603050405020304" pitchFamily="18" charset="0"/>
              </a:rPr>
              <a:t>.</a:t>
            </a:r>
          </a:p>
          <a:p>
            <a:pPr marL="179388" indent="-179388">
              <a:lnSpc>
                <a:spcPct val="110000"/>
              </a:lnSpc>
              <a:spcBef>
                <a:spcPts val="600"/>
              </a:spcBef>
              <a:defRPr/>
            </a:pPr>
            <a:r>
              <a:rPr lang="ru-RU" sz="1400" dirty="0">
                <a:cs typeface="Times New Roman" panose="02020603050405020304" pitchFamily="18" charset="0"/>
              </a:rPr>
              <a:t>Метки, которыми обозначены дуги графа, выполняют две функции, объединяя информацию, содержащуюся в объявлениях классов и связях.</a:t>
            </a:r>
          </a:p>
          <a:p>
            <a:pPr marL="179388" indent="-179388">
              <a:lnSpc>
                <a:spcPct val="110000"/>
              </a:lnSpc>
              <a:spcBef>
                <a:spcPts val="600"/>
              </a:spcBef>
              <a:defRPr/>
            </a:pPr>
            <a:r>
              <a:rPr lang="ru-RU" sz="1400" dirty="0">
                <a:cs typeface="Times New Roman" panose="02020603050405020304" pitchFamily="18" charset="0"/>
              </a:rPr>
              <a:t>Если вершина </a:t>
            </a:r>
            <a:r>
              <a:rPr lang="en-US" sz="1400" dirty="0">
                <a:cs typeface="Times New Roman" panose="02020603050405020304" pitchFamily="18" charset="0"/>
              </a:rPr>
              <a:t>N </a:t>
            </a:r>
            <a:r>
              <a:rPr lang="ru-RU" sz="1400" dirty="0">
                <a:cs typeface="Times New Roman" panose="02020603050405020304" pitchFamily="18" charset="0"/>
              </a:rPr>
              <a:t>соединена с вершиной </a:t>
            </a:r>
            <a:r>
              <a:rPr lang="en-US" sz="1400" dirty="0">
                <a:cs typeface="Times New Roman" panose="02020603050405020304" pitchFamily="18" charset="0"/>
              </a:rPr>
              <a:t>M </a:t>
            </a:r>
            <a:r>
              <a:rPr lang="ru-RU" sz="1400" dirty="0">
                <a:cs typeface="Times New Roman" panose="02020603050405020304" pitchFamily="18" charset="0"/>
              </a:rPr>
              <a:t>дугой </a:t>
            </a:r>
            <a:r>
              <a:rPr lang="en-US" sz="1400" dirty="0">
                <a:cs typeface="Times New Roman" panose="02020603050405020304" pitchFamily="18" charset="0"/>
              </a:rPr>
              <a:t>L</a:t>
            </a:r>
            <a:r>
              <a:rPr lang="ru-RU" sz="1400" dirty="0">
                <a:cs typeface="Times New Roman" panose="02020603050405020304" pitchFamily="18" charset="0"/>
              </a:rPr>
              <a:t>, то это может означать:</a:t>
            </a:r>
          </a:p>
          <a:p>
            <a:pPr marL="357188" indent="-179388">
              <a:lnSpc>
                <a:spcPct val="110000"/>
              </a:lnSpc>
              <a:spcBef>
                <a:spcPts val="600"/>
              </a:spcBef>
              <a:buSzPct val="86000"/>
              <a:buFont typeface="+mj-lt"/>
              <a:buAutoNum type="arabicPeriod"/>
              <a:defRPr/>
            </a:pPr>
            <a:r>
              <a:rPr lang="ru-RU" sz="1400" dirty="0">
                <a:latin typeface="+mn-lt"/>
                <a:cs typeface="Times New Roman" panose="02020603050405020304" pitchFamily="18" charset="0"/>
              </a:rPr>
              <a:t>что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L 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есть имя атрибута или поля, если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N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 объект или структура, а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M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 – один из атрибутов этого объекта</a:t>
            </a:r>
          </a:p>
          <a:p>
            <a:pPr marL="357188" indent="-179388">
              <a:lnSpc>
                <a:spcPct val="110000"/>
              </a:lnSpc>
              <a:spcBef>
                <a:spcPts val="600"/>
              </a:spcBef>
              <a:buSzPct val="86000"/>
              <a:buFont typeface="+mj-lt"/>
              <a:buAutoNum type="arabicPeriod"/>
              <a:defRPr/>
            </a:pPr>
            <a:r>
              <a:rPr lang="ru-RU" sz="1400" dirty="0">
                <a:latin typeface="+mn-lt"/>
                <a:cs typeface="Times New Roman" panose="02020603050405020304" pitchFamily="18" charset="0"/>
              </a:rPr>
              <a:t>что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L 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есть связь между объектами, если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N 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и 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M </a:t>
            </a:r>
            <a:r>
              <a:rPr lang="ru-RU" sz="1400" dirty="0">
                <a:latin typeface="+mn-lt"/>
                <a:cs typeface="Times New Roman" panose="02020603050405020304" pitchFamily="18" charset="0"/>
              </a:rPr>
              <a:t>- объекты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5855F-DC6E-79AA-3172-76F52FBE2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Интерпретация вершин и дуг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250E27-AB7E-FE3F-73D3-9982D592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6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01DD-B278-9FA2-88E0-BE52AC3F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4CCE4A-2A6D-C407-1284-0588F702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4C6C0-2F7A-2B32-EB58-24BC01C37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4581203" cy="2808312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ru-RU" sz="1400" dirty="0"/>
              <a:t>Вершина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/>
              <a:t>моделирует объект класса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ru-RU" sz="1400" dirty="0"/>
              <a:t>, соответствующий актрисе </a:t>
            </a:r>
            <a:r>
              <a:rPr lang="en-US" sz="1400" dirty="0"/>
              <a:t>Carrie Fisher.</a:t>
            </a:r>
          </a:p>
          <a:p>
            <a:pPr marL="0" indent="0">
              <a:buNone/>
            </a:pPr>
            <a:r>
              <a:rPr lang="ru-RU" sz="1400" dirty="0"/>
              <a:t>Из вершины выходит дуга с меткой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1400" dirty="0"/>
              <a:t>, которая представляет атрибут </a:t>
            </a:r>
            <a:r>
              <a:rPr lang="en-US" sz="1400" dirty="0"/>
              <a:t>“name”</a:t>
            </a:r>
            <a:r>
              <a:rPr lang="ru-RU" sz="1400" dirty="0"/>
              <a:t>, и приводит к вершине «содержащей» имя актрисы - </a:t>
            </a:r>
            <a:r>
              <a:rPr lang="en-US" sz="1400" dirty="0"/>
              <a:t>Carrie Fisher</a:t>
            </a:r>
            <a:r>
              <a:rPr lang="ru-RU" sz="1400" dirty="0"/>
              <a:t>. </a:t>
            </a:r>
          </a:p>
          <a:p>
            <a:pPr marL="0" indent="0">
              <a:buNone/>
            </a:pPr>
            <a:r>
              <a:rPr lang="ru-RU" sz="1400" dirty="0"/>
              <a:t>Из вершины</a:t>
            </a:r>
            <a:r>
              <a:rPr lang="en-US" sz="1400" dirty="0"/>
              <a:t> </a:t>
            </a:r>
            <a:r>
              <a:rPr lang="ru-RU" sz="1400" dirty="0"/>
              <a:t>также выходят две дуги с метками 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ru-RU" sz="1400" dirty="0"/>
              <a:t>, которые представляют два адреса актрисы.</a:t>
            </a:r>
          </a:p>
          <a:p>
            <a:pPr marL="0" indent="0">
              <a:buNone/>
            </a:pPr>
            <a:r>
              <a:rPr lang="ru-RU" sz="1400" dirty="0"/>
              <a:t>Дуги в совокупности соответствуют атрибуту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sz="1400" dirty="0"/>
              <a:t> </a:t>
            </a:r>
            <a:r>
              <a:rPr lang="ru-RU" sz="1400" dirty="0"/>
              <a:t>типа </a:t>
            </a:r>
            <a:r>
              <a:rPr lang="en-US" sz="1400" dirty="0"/>
              <a:t>Set.</a:t>
            </a:r>
          </a:p>
          <a:p>
            <a:pPr marL="0" indent="0">
              <a:buNone/>
            </a:pPr>
            <a:r>
              <a:rPr lang="ru-RU" sz="1400" dirty="0"/>
              <a:t>В свою очередь каждый адрес – это </a:t>
            </a:r>
            <a:br>
              <a:rPr lang="ru-RU" sz="1400" dirty="0"/>
            </a:br>
            <a:r>
              <a:rPr lang="ru-RU" sz="1400" dirty="0"/>
              <a:t>структура из 2-х полей: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 </a:t>
            </a:r>
            <a:r>
              <a:rPr lang="ru-RU" sz="1400" dirty="0"/>
              <a:t>и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43BB4-83DE-EA0B-29C2-B924E7D475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Интерпретация вершин и дуг (2)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03955F-74DB-1BE6-7C0C-E0773C78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52EA9C02-E2B1-2361-509B-CF28BE60C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537154"/>
            <a:ext cx="3218057" cy="31100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901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4A45-7C2C-573D-B78B-179FF331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4948F-F1F7-E758-69AD-C524A066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D9FFF-93D0-A82A-332F-D0F4628F8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3717107" cy="2664321"/>
          </a:xfrm>
        </p:spPr>
        <p:txBody>
          <a:bodyPr numCol="1">
            <a:normAutofit/>
          </a:bodyPr>
          <a:lstStyle/>
          <a:p>
            <a:pPr marL="179388" indent="-179388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Граф также содержит дуги, которые можно интерпретировать как связи объектов.</a:t>
            </a:r>
          </a:p>
          <a:p>
            <a:pPr marL="179388" indent="-179388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Например, дуга с меткой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starredIn</a:t>
            </a:r>
            <a:r>
              <a:rPr lang="ru-RU" sz="1200" dirty="0"/>
              <a:t> соединяет вершины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/>
              <a:t>и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ru-RU" sz="1200" dirty="0"/>
              <a:t> в направлении от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/>
              <a:t>к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ru-RU" sz="1200" dirty="0"/>
              <a:t>.</a:t>
            </a:r>
          </a:p>
          <a:p>
            <a:pPr marL="179388" indent="-179388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Из вершины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/>
              <a:t>исходит такая же дуга, а из вершины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sz="1200" dirty="0"/>
              <a:t> – </a:t>
            </a:r>
            <a:r>
              <a:rPr lang="ru-RU" sz="1200" dirty="0"/>
              <a:t>дуги с метками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starsOf</a:t>
            </a:r>
            <a:r>
              <a:rPr lang="ru-RU" sz="1200" dirty="0"/>
              <a:t> </a:t>
            </a:r>
            <a:r>
              <a:rPr lang="en-US" sz="1200" dirty="0"/>
              <a:t>, </a:t>
            </a:r>
            <a:r>
              <a:rPr lang="ru-RU" sz="1200" dirty="0"/>
              <a:t>направленные к вершинам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/>
              <a:t>и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ru-RU" sz="1200" dirty="0"/>
              <a:t> </a:t>
            </a:r>
          </a:p>
          <a:p>
            <a:pPr marL="179388" indent="-179388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Дуги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starredIn</a:t>
            </a:r>
            <a:r>
              <a:rPr lang="ru-RU" sz="1200" dirty="0"/>
              <a:t> представляют элементы одноименной связи класса </a:t>
            </a:r>
            <a:r>
              <a:rPr lang="en-US" sz="1200" dirty="0"/>
              <a:t>Star</a:t>
            </a:r>
            <a:r>
              <a:rPr lang="ru-RU" sz="1200" dirty="0"/>
              <a:t>, а дуги – обратной связи 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starsOf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+mn-lt"/>
                <a:cs typeface="Times New Roman" panose="02020603050405020304" pitchFamily="18" charset="0"/>
              </a:rPr>
              <a:t>класса 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Movie.</a:t>
            </a:r>
            <a:endParaRPr lang="en-US" sz="12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F0C45-9102-40BD-31E1-8F9538D261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Интерпретация вершин и дуг (3)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3C1D97-A8FF-9230-2375-A57B995C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  <p:pic>
        <p:nvPicPr>
          <p:cNvPr id="7" name="Рисунок 2">
            <a:extLst>
              <a:ext uri="{FF2B5EF4-FFF2-40B4-BE49-F238E27FC236}">
                <a16:creationId xmlns:a16="http://schemas.microsoft.com/office/drawing/2014/main" id="{596B53F3-DF60-454C-7C45-0C017C5F6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1618549"/>
            <a:ext cx="4804845" cy="27839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202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3BC9-A2D5-05A1-E9F0-C706281C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22E910-A9E8-A7AB-AC30-E5C1E284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77680-3E54-EBB1-ED17-F43596DC2E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880320"/>
          </a:xfrm>
        </p:spPr>
        <p:txBody>
          <a:bodyPr numCol="2"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200" dirty="0"/>
              <a:t>В отличие от ранее указанных моделей, данные в «</a:t>
            </a:r>
            <a:r>
              <a:rPr lang="ru-RU" sz="1200" dirty="0" err="1"/>
              <a:t>полуструктурированной</a:t>
            </a:r>
            <a:r>
              <a:rPr lang="ru-RU" sz="1200" dirty="0"/>
              <a:t>» модели</a:t>
            </a:r>
            <a:r>
              <a:rPr lang="en-US" sz="1200" dirty="0"/>
              <a:t> </a:t>
            </a:r>
            <a:r>
              <a:rPr lang="ru-RU" sz="1200" dirty="0"/>
              <a:t>данных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самодостаточны: </a:t>
            </a:r>
            <a:r>
              <a:rPr lang="ru-RU" sz="1200" dirty="0">
                <a:cs typeface="Times New Roman" panose="02020603050405020304" pitchFamily="18" charset="0"/>
              </a:rPr>
              <a:t>схема представления данных содержится в них самих.</a:t>
            </a:r>
            <a:endParaRPr lang="ru-RU" altLang="ru-RU" sz="12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200" dirty="0"/>
              <a:t>Каждая вершина графа, кроме корневой обладает одной или несколькими входящими дугами, и метка, которой снабжена дуга указывает на функцию, выполняемую вершиной по отношению к вершине на другом конце дуги.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200" dirty="0"/>
              <a:t>Такой подход дает гибкость при развитии системы. Не нужно переопределять структуру базы данных.</a:t>
            </a:r>
            <a:endParaRPr lang="ru-RU" altLang="ru-RU" sz="1100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200" dirty="0"/>
              <a:t>Однако при фиксированной схеме данных можно предусмотреть структуры хранения, которые гарантируют высокую эффективность обработки запросов. И в целом считается, что для хранения больших объемов информации выгоды от фиксированной структуры перевешивают выигрыш в гибкости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200" dirty="0"/>
              <a:t>Гибкость модели </a:t>
            </a:r>
            <a:r>
              <a:rPr lang="ru-RU" sz="1200" dirty="0" err="1"/>
              <a:t>полуструктурированных</a:t>
            </a:r>
            <a:r>
              <a:rPr lang="ru-RU" sz="1200" dirty="0"/>
              <a:t> данных, однако, важна в приложениях двух категорий: системы хранения документов, инструмент интеграции информации.</a:t>
            </a:r>
            <a:endParaRPr lang="ru-RU" sz="1200" kern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B233-51F1-3305-7385-FE42E6434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Характеристика  модели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137B7D-EF20-2322-CBA0-949F44CC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9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C788-E2DC-AD3C-C18E-DD30A1952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D7299-A1FA-E827-606A-A96F2032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40D4F-89F5-EB29-53EE-9860C6927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880320"/>
          </a:xfrm>
        </p:spPr>
        <p:txBody>
          <a:bodyPr numCol="2"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400" dirty="0"/>
              <a:t>Рост числа баз данных порождает стремление использовать их совместно и также эффективно как будто данные хранятся в одной базе.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400" dirty="0"/>
              <a:t>Описание даже одинаковых предметных областей в разных базах данных нередко значительно отличаются. Например, данные отдела кадров могут иметь разные структуры</a:t>
            </a:r>
            <a:endParaRPr lang="ru-RU" altLang="ru-RU" sz="1400" b="1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400" dirty="0"/>
              <a:t>Базы данных могут использовать разные модели данных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altLang="ru-RU" sz="1400" dirty="0"/>
              <a:t>Базы данных со временем обрастают большим количеством приложений, переделывать которые для изменяющейся структуры просто нерентабельно. Этот эффект называют проблемой «унаследованных баз данных».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endParaRPr lang="ru-RU" sz="1400" kern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66BE0-10EF-3E75-122F-E96151C50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Проблема интеграции информации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F992AC-FBA6-2780-42C1-11604937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36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693B-1536-AB83-EB1D-8E9FD546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F877EC-EBFC-F7D1-024A-0C0353E1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EB441-E13D-4F13-A0D9-B1BC736C2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4005139" cy="2880320"/>
          </a:xfrm>
        </p:spPr>
        <p:txBody>
          <a:bodyPr numCol="1"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1400" dirty="0"/>
              <a:t>Одним из решений этой проблемы может быть использование некоторого </a:t>
            </a:r>
            <a:r>
              <a:rPr lang="ru-RU" altLang="ru-RU" sz="1400" i="1" dirty="0"/>
              <a:t>интерфейса</a:t>
            </a:r>
            <a:r>
              <a:rPr lang="ru-RU" altLang="ru-RU" sz="1400" dirty="0"/>
              <a:t>, поддерживающего модель </a:t>
            </a:r>
            <a:r>
              <a:rPr lang="ru-RU" altLang="ru-RU" sz="1400" dirty="0" err="1"/>
              <a:t>полуструктурированных</a:t>
            </a:r>
            <a:r>
              <a:rPr lang="ru-RU" altLang="ru-RU" sz="1400" dirty="0"/>
              <a:t> данных, и связывающего разные базы данных.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1400" dirty="0"/>
              <a:t>Унаследованные БД связаны в единое целое с помощью интерфейса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1400" dirty="0"/>
              <a:t>Каждая из систем, тем не менее, остается в неприкосновенности и по прежнему работает с традиционными приложениями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endParaRPr lang="ru-RU" sz="1400" kern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4E1C3-9A66-5C26-CBA0-A884D4D15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41477"/>
            <a:ext cx="8541643" cy="383169"/>
          </a:xfrm>
        </p:spPr>
        <p:txBody>
          <a:bodyPr/>
          <a:lstStyle/>
          <a:p>
            <a:r>
              <a:rPr lang="ru-RU" dirty="0"/>
              <a:t>интеграция информации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5D7649-3AC7-F687-4325-DCF2D7D4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  <p:pic>
        <p:nvPicPr>
          <p:cNvPr id="6" name="Рисунок 2">
            <a:extLst>
              <a:ext uri="{FF2B5EF4-FFF2-40B4-BE49-F238E27FC236}">
                <a16:creationId xmlns:a16="http://schemas.microsoft.com/office/drawing/2014/main" id="{2D387FC9-50BA-160E-C07D-BA8C539B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60" y="1624646"/>
            <a:ext cx="4438920" cy="26316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84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FC5A-28E1-38AB-FCA9-A8C91263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8AC146-4200-44D7-7D10-6B7721EA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497D3-0ED0-E5D5-6D62-C4E3E9C675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586707"/>
            <a:ext cx="8542337" cy="2840830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dirty="0"/>
              <a:t>Для обеспечения гибкости интеграции интерфейс должен поддерживать модель </a:t>
            </a:r>
            <a:r>
              <a:rPr lang="ru-RU" dirty="0" err="1"/>
              <a:t>полуструктурированных</a:t>
            </a:r>
            <a:r>
              <a:rPr lang="en-US" dirty="0"/>
              <a:t> </a:t>
            </a:r>
            <a:r>
              <a:rPr lang="ru-RU" dirty="0"/>
              <a:t>данных</a:t>
            </a:r>
            <a:r>
              <a:rPr lang="ru-RU" altLang="ru-RU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dirty="0"/>
              <a:t>Пользователь обращается к интерфейсу средствами языка запросов, соответствующих природе этих данных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 err="1"/>
              <a:t>Полуструктурированные</a:t>
            </a:r>
            <a:r>
              <a:rPr lang="en-US" dirty="0"/>
              <a:t> </a:t>
            </a:r>
            <a:r>
              <a:rPr lang="ru-RU" dirty="0"/>
              <a:t>данные могут быть получены путем трансляции из баз-источников  </a:t>
            </a:r>
            <a:r>
              <a:rPr lang="ru-RU" altLang="ru-RU" dirty="0"/>
              <a:t>с помощью специальных компонентов, называемых оболочками (</a:t>
            </a:r>
            <a:r>
              <a:rPr lang="en-US" altLang="ru-RU" dirty="0"/>
              <a:t>wrappers)</a:t>
            </a:r>
            <a:r>
              <a:rPr lang="ru-RU" altLang="ru-RU" dirty="0"/>
              <a:t>.</a:t>
            </a:r>
            <a:endParaRPr lang="en-US" alt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dirty="0"/>
              <a:t>С дугой стороны, интерфейс может и не поддерживать собственно модель </a:t>
            </a:r>
            <a:r>
              <a:rPr lang="ru-RU" dirty="0" err="1"/>
              <a:t>полуструктурированных</a:t>
            </a:r>
            <a:r>
              <a:rPr lang="en-US" dirty="0"/>
              <a:t> </a:t>
            </a:r>
            <a:r>
              <a:rPr lang="ru-RU" dirty="0"/>
              <a:t>данных, а просто преобразовывать поданный ему запрос в запрос к базам-источникам, учитывая их специфику</a:t>
            </a:r>
            <a:endParaRPr lang="ru-RU" alt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5A929-AE1A-F380-8541-AF0565A89F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8" y="1204119"/>
            <a:ext cx="8542337" cy="382588"/>
          </a:xfrm>
        </p:spPr>
        <p:txBody>
          <a:bodyPr/>
          <a:lstStyle/>
          <a:p>
            <a:r>
              <a:rPr lang="ru-RU" dirty="0" err="1"/>
              <a:t>Полуструктурированный</a:t>
            </a:r>
            <a:r>
              <a:rPr lang="ru-RU" dirty="0"/>
              <a:t> Интерфейс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8C9441-30E1-8A88-EBDD-7B61FEDB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 err="1"/>
              <a:t>Полуструктурированные</a:t>
            </a:r>
            <a:r>
              <a:rPr lang="ru-RU" altLang="ru-RU" dirty="0"/>
              <a:t>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39027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18935</TotalTime>
  <Words>1117</Words>
  <Application>Microsoft Office PowerPoint</Application>
  <PresentationFormat>On-screen Show (16:9)</PresentationFormat>
  <Paragraphs>100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Acrom Bold</vt:lpstr>
      <vt:lpstr>Calibri</vt:lpstr>
      <vt:lpstr>Times New Roman</vt:lpstr>
      <vt:lpstr>Acrom ExtraBold</vt:lpstr>
      <vt:lpstr>Acrom</vt:lpstr>
      <vt:lpstr>NSU Content</vt:lpstr>
      <vt:lpstr>NSU Captions</vt:lpstr>
      <vt:lpstr>БАЗЫ ДАННЫХ</vt:lpstr>
      <vt:lpstr>PowerPoint Presentation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  <vt:lpstr>Полуструктурированные данные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948</cp:revision>
  <dcterms:created xsi:type="dcterms:W3CDTF">2016-08-15T04:55:12Z</dcterms:created>
  <dcterms:modified xsi:type="dcterms:W3CDTF">2026-02-03T06:09:57Z</dcterms:modified>
</cp:coreProperties>
</file>