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8" r:id="rId1"/>
    <p:sldMasterId id="2147483685" r:id="rId2"/>
  </p:sldMasterIdLst>
  <p:notesMasterIdLst>
    <p:notesMasterId r:id="rId13"/>
  </p:notesMasterIdLst>
  <p:sldIdLst>
    <p:sldId id="514" r:id="rId3"/>
    <p:sldId id="339" r:id="rId4"/>
    <p:sldId id="526" r:id="rId5"/>
    <p:sldId id="527" r:id="rId6"/>
    <p:sldId id="528" r:id="rId7"/>
    <p:sldId id="529" r:id="rId8"/>
    <p:sldId id="530" r:id="rId9"/>
    <p:sldId id="531" r:id="rId10"/>
    <p:sldId id="532" r:id="rId11"/>
    <p:sldId id="533" r:id="rId12"/>
  </p:sldIdLst>
  <p:sldSz cx="9144000" cy="5143500" type="screen16x9"/>
  <p:notesSz cx="6858000" cy="9144000"/>
  <p:embeddedFontLst>
    <p:embeddedFont>
      <p:font typeface="Acrom" panose="020B0604020202020204" charset="-52"/>
      <p:regular r:id="rId14"/>
    </p:embeddedFont>
    <p:embeddedFont>
      <p:font typeface="Acrom Bold" panose="020B0604020202020204" charset="-52"/>
      <p:bold r:id="rId15"/>
    </p:embeddedFont>
    <p:embeddedFont>
      <p:font typeface="Acrom ExtraBold" panose="020B0604020202020204" charset="-52"/>
      <p:bold r:id="rId16"/>
    </p:embeddedFon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Wingdings 2" panose="05020102010507070707" pitchFamily="18" charset="2"/>
      <p:regular r:id="rId21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D8FC5EF-6076-40D9-AF9D-DF341323974E}">
          <p14:sldIdLst>
            <p14:sldId id="514"/>
          </p14:sldIdLst>
        </p14:section>
        <p14:section name="Literature" id="{B9960BE5-F3B4-48C0-BA4B-65F190ECCD4C}">
          <p14:sldIdLst>
            <p14:sldId id="339"/>
            <p14:sldId id="526"/>
            <p14:sldId id="527"/>
            <p14:sldId id="528"/>
            <p14:sldId id="529"/>
            <p14:sldId id="530"/>
            <p14:sldId id="531"/>
            <p14:sldId id="532"/>
            <p14:sldId id="53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E5D6"/>
    <a:srgbClr val="F0F0F0"/>
    <a:srgbClr val="B8B8B8"/>
    <a:srgbClr val="FEFEFE"/>
    <a:srgbClr val="DBF2F3"/>
    <a:srgbClr val="D6D6FE"/>
    <a:srgbClr val="9292FB"/>
    <a:srgbClr val="C1F3FF"/>
    <a:srgbClr val="C20808"/>
    <a:srgbClr val="90D1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73" autoAdjust="0"/>
    <p:restoredTop sz="83051" autoAdjust="0"/>
  </p:normalViewPr>
  <p:slideViewPr>
    <p:cSldViewPr>
      <p:cViewPr>
        <p:scale>
          <a:sx n="125" d="100"/>
          <a:sy n="125" d="100"/>
        </p:scale>
        <p:origin x="414" y="-18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1.xml"/><Relationship Id="rId21" Type="http://schemas.openxmlformats.org/officeDocument/2006/relationships/font" Target="fonts/font8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420F6-EE28-447A-BA82-F9AA48FF3F8C}" type="datetimeFigureOut">
              <a:rPr lang="ru-RU" smtClean="0"/>
              <a:pPr/>
              <a:t>04.12.2024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5E2C8-E51C-40F3-9A72-4A3C3DEE508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6622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3652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88970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2350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microsoft.com/office/2007/relationships/hdphoto" Target="../media/hdphoto2.wdp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gif"/><Relationship Id="rId3" Type="http://schemas.openxmlformats.org/officeDocument/2006/relationships/image" Target="../media/image9.png"/><Relationship Id="rId7" Type="http://schemas.openxmlformats.org/officeDocument/2006/relationships/image" Target="../media/image23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Content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sp>
        <p:nvSpPr>
          <p:cNvPr id="43" name="Текст 39"/>
          <p:cNvSpPr>
            <a:spLocks noGrp="1"/>
          </p:cNvSpPr>
          <p:nvPr>
            <p:ph type="body" sz="quarter" idx="11"/>
          </p:nvPr>
        </p:nvSpPr>
        <p:spPr>
          <a:xfrm>
            <a:off x="350838" y="2066925"/>
            <a:ext cx="7605712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8"/>
              </a:buBlip>
              <a:defRPr sz="2000">
                <a:solidFill>
                  <a:schemeClr val="bg1"/>
                </a:solidFill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8"/>
              </a:buBlip>
              <a:defRPr sz="1800">
                <a:solidFill>
                  <a:schemeClr val="bg1"/>
                </a:solidFill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8"/>
              </a:buBlip>
              <a:defRPr sz="1600">
                <a:solidFill>
                  <a:schemeClr val="bg1"/>
                </a:solidFill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2" name="Текст 37"/>
          <p:cNvSpPr>
            <a:spLocks noGrp="1"/>
          </p:cNvSpPr>
          <p:nvPr>
            <p:ph type="body" sz="quarter" idx="10" hasCustomPrompt="1"/>
          </p:nvPr>
        </p:nvSpPr>
        <p:spPr>
          <a:xfrm>
            <a:off x="350838" y="1419225"/>
            <a:ext cx="2945436" cy="383169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Заголовок 34"/>
          <p:cNvSpPr>
            <a:spLocks noGrp="1"/>
          </p:cNvSpPr>
          <p:nvPr>
            <p:ph type="title" hasCustomPrompt="1"/>
          </p:nvPr>
        </p:nvSpPr>
        <p:spPr>
          <a:xfrm>
            <a:off x="351237" y="716531"/>
            <a:ext cx="7749155" cy="369332"/>
          </a:xfrm>
          <a:noFill/>
        </p:spPr>
        <p:txBody>
          <a:bodyPr wrap="square" rtlCol="0">
            <a:spAutoFit/>
          </a:bodyPr>
          <a:lstStyle>
            <a:lvl1pPr algn="l">
              <a:defRPr lang="ru-RU" sz="1800">
                <a:solidFill>
                  <a:srgbClr val="262626"/>
                </a:solidFill>
                <a:latin typeface="Acrom ExtraBold" pitchFamily="50" charset="-52"/>
                <a:ea typeface="+mn-ea"/>
                <a:cs typeface="+mn-cs"/>
              </a:defRPr>
            </a:lvl1pPr>
          </a:lstStyle>
          <a:p>
            <a:pPr marL="0" lvl="0" algn="l"/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21597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Conten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8F2C7FDD-BB90-2EAC-CC9A-84AFF7FA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3F31863B-D2C1-455A-9EA1-E26FFC62CD1F}" type="datetime1">
              <a:rPr lang="ru-RU" smtClean="0"/>
              <a:t>04.12.2024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493A3844-29DE-1B73-0A9B-B5DA2AF0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BB41C1D9-2BAB-F0D1-B591-D5133BE92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2066925"/>
            <a:ext cx="8541643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30BB8-E4F2-DF31-04C2-E55E5F899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0108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ngleConten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8F2C7FDD-BB90-2EAC-CC9A-84AFF7FA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77501038-3FD5-4508-A3B2-A3E2BAE5DE49}" type="datetime1">
              <a:rPr lang="ru-RU" smtClean="0"/>
              <a:t>04.12.2024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493A3844-29DE-1B73-0A9B-B5DA2AF0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BB41C1D9-2BAB-F0D1-B591-D5133BE92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5"/>
            <a:ext cx="8541643" cy="29527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30BB8-E4F2-DF31-04C2-E55E5F899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9807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">
            <a:extLst>
              <a:ext uri="{FF2B5EF4-FFF2-40B4-BE49-F238E27FC236}">
                <a16:creationId xmlns:a16="http://schemas.microsoft.com/office/drawing/2014/main" id="{1D48A0FE-9536-29C0-B7D0-1F66CF436D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06694701-841A-4648-9226-979284EF9C69}" type="datetime1">
              <a:rPr lang="ru-RU" smtClean="0"/>
              <a:t>04.12.2024</a:t>
            </a:fld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5AF862F-6F41-B134-6BBE-BEEB44663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4E2BD42-6F67-28EC-EADC-8BA241124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B421E783-F97A-5F3F-D1CC-6D20305A28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0" y="1433513"/>
            <a:ext cx="4321175" cy="3683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19" name="Содержимое 2">
            <a:extLst>
              <a:ext uri="{FF2B5EF4-FFF2-40B4-BE49-F238E27FC236}">
                <a16:creationId xmlns:a16="http://schemas.microsoft.com/office/drawing/2014/main" id="{A8E2E46F-99FE-B8FD-A9AD-66EF6797945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2066923"/>
            <a:ext cx="4321175" cy="2305051"/>
          </a:xfrm>
        </p:spPr>
        <p:txBody>
          <a:bodyPr/>
          <a:lstStyle>
            <a:lvl1pPr marL="228600" indent="-228600">
              <a:defRPr lang="en-US" sz="20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823913" indent="-285750">
              <a:defRPr lang="en-US" sz="18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555625" indent="-285750">
              <a:defRPr lang="en-US" sz="16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093788" indent="-285750">
              <a:defRPr lang="en-US" sz="14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1363662" indent="-285750">
              <a:defRPr lang="en-US" sz="1400" kern="1200" dirty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</a:lstStyle>
          <a:p>
            <a:pPr marL="269875" lvl="0" indent="-2698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marL="538163" lvl="1" indent="-2682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marL="808038" lvl="2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marL="1077913" lvl="3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marL="1254125" lvl="4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2066925"/>
            <a:ext cx="3933130" cy="2305050"/>
          </a:xfrm>
        </p:spPr>
        <p:txBody>
          <a:bodyPr>
            <a:normAutofit/>
          </a:bodyPr>
          <a:lstStyle>
            <a:lvl1pPr marL="269875" indent="-269875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538163" indent="-268288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808038" indent="-269875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077913" indent="-269875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1254125" indent="-176213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8" y="1419225"/>
            <a:ext cx="3933130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8BBB94-2676-906E-39F4-A268322BC7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2856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5365DC2F-61D5-9AAB-975D-7A0D222728B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350838" y="4858732"/>
            <a:ext cx="1124818" cy="274637"/>
          </a:xfrm>
        </p:spPr>
        <p:txBody>
          <a:bodyPr/>
          <a:lstStyle/>
          <a:p>
            <a:fld id="{533F0968-48E1-48DF-98AF-E00A7EFE6F72}" type="datetime1">
              <a:rPr lang="ru-RU" smtClean="0"/>
              <a:t>04.12.2024</a:t>
            </a:fld>
            <a:endParaRPr lang="en-US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C272CE33-125F-A707-F331-AEF3B91CC83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1547664" y="4858733"/>
            <a:ext cx="6048671" cy="27463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2" name="Slide Number Placeholder">
            <a:extLst>
              <a:ext uri="{FF2B5EF4-FFF2-40B4-BE49-F238E27FC236}">
                <a16:creationId xmlns:a16="http://schemas.microsoft.com/office/drawing/2014/main" id="{6BFD863C-0DDE-E649-2043-41D74C4E0ED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D5C77E5-19BC-410D-82EA-404658A4611A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Содержимое 2">
            <a:extLst>
              <a:ext uri="{FF2B5EF4-FFF2-40B4-BE49-F238E27FC236}">
                <a16:creationId xmlns:a16="http://schemas.microsoft.com/office/drawing/2014/main" id="{A8E2E46F-99FE-B8FD-A9AD-66EF6797945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1419225"/>
            <a:ext cx="4321175" cy="2952750"/>
          </a:xfrm>
        </p:spPr>
        <p:txBody>
          <a:bodyPr/>
          <a:lstStyle>
            <a:lvl1pPr marL="228600" indent="-228600">
              <a:defRPr lang="en-US" sz="20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823913" indent="-285750">
              <a:defRPr lang="en-US" sz="18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555625" indent="-285750">
              <a:defRPr lang="en-US" sz="16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093788" indent="-285750">
              <a:defRPr lang="en-US" sz="14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1363662" indent="-285750">
              <a:defRPr lang="en-US" sz="1400" kern="1200" dirty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</a:lstStyle>
          <a:p>
            <a:pPr marL="269875" lvl="0" indent="-2698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marL="538163" lvl="1" indent="-2682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marL="808038" lvl="2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marL="1077913" lvl="3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marL="1254125" lvl="4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2066925"/>
            <a:ext cx="3933130" cy="2305050"/>
          </a:xfrm>
        </p:spPr>
        <p:txBody>
          <a:bodyPr>
            <a:normAutofit/>
          </a:bodyPr>
          <a:lstStyle>
            <a:lvl1pPr marL="269875" indent="-269875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538163" indent="-268288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808038" indent="-269875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077913" indent="-269875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1254125" indent="-176213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8" y="1419225"/>
            <a:ext cx="3933130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3C6FBF-E5DA-665A-B020-D02706ACF4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235" y="716531"/>
            <a:ext cx="8541939" cy="369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8244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335391"/>
            <a:ext cx="7928999" cy="7278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034" y="1666716"/>
            <a:ext cx="7915931" cy="27273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4AD1B-8CAD-42B1-B997-0EDD160981B3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BB24-8304-434B-8625-ECAE65742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208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046" y="1631156"/>
            <a:ext cx="3892393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047" y="2063354"/>
            <a:ext cx="3892392" cy="233243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62" y="1631156"/>
            <a:ext cx="3895937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62" y="2063354"/>
            <a:ext cx="3895937" cy="233243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4AD1B-8CAD-42B1-B997-0EDD160981B3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BB24-8304-434B-8625-ECAE65742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672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4034" y="1666716"/>
            <a:ext cx="3889405" cy="27290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62" y="1666715"/>
            <a:ext cx="3895937" cy="272907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4AD1B-8CAD-42B1-B997-0EDD160981B3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BB24-8304-434B-8625-ECAE65742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222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CA8B4-969C-4179-E89C-015DCFCBC6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1">
            <a:extLst>
              <a:ext uri="{FF2B5EF4-FFF2-40B4-BE49-F238E27FC236}">
                <a16:creationId xmlns:a16="http://schemas.microsoft.com/office/drawing/2014/main" id="{C645F276-4CFE-ED6C-14E6-FFA499B33C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/>
        <p:txBody>
          <a:bodyPr wrap="square"/>
          <a:lstStyle>
            <a:lvl1pPr>
              <a:defRPr/>
            </a:lvl1pPr>
          </a:lstStyle>
          <a:p>
            <a:pPr lvl="0"/>
            <a:r>
              <a:rPr lang="ru-RU" dirty="0"/>
              <a:t>ОБРАЗЕЦ ПОДЗАГОЛОВКА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142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вершающ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555526"/>
            <a:ext cx="1990348" cy="60350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787774"/>
            <a:ext cx="307849" cy="307849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726456" y="2248774"/>
            <a:ext cx="59474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crom" pitchFamily="50" charset="-52"/>
              </a:rPr>
              <a:t>РОССИЯ, 630090, НОВОСИБИРСК, УЛ. ПИРОГОВА, 2</a:t>
            </a:r>
            <a:endParaRPr lang="en-US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726456" y="3924074"/>
            <a:ext cx="20701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crom" pitchFamily="50" charset="-52"/>
              </a:rPr>
              <a:t>WWW.NSU.RU/N/</a:t>
            </a:r>
          </a:p>
        </p:txBody>
      </p: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777" y="2787774"/>
            <a:ext cx="307849" cy="307849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3632215" y="3075806"/>
            <a:ext cx="824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crom" pitchFamily="50" charset="-52"/>
              </a:rPr>
              <a:t>nsu24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2787774"/>
            <a:ext cx="310897" cy="307849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5274608" y="3075806"/>
            <a:ext cx="1653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crom" pitchFamily="50" charset="-52"/>
              </a:rPr>
              <a:t>@</a:t>
            </a:r>
            <a:r>
              <a:rPr lang="ru-RU" sz="1600" dirty="0" err="1">
                <a:solidFill>
                  <a:schemeClr val="bg1"/>
                </a:solidFill>
                <a:latin typeface="Acrom" pitchFamily="50" charset="-52"/>
              </a:rPr>
              <a:t>nsuniversity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557032"/>
            <a:ext cx="966976" cy="966976"/>
          </a:xfrm>
          <a:prstGeom prst="rect">
            <a:avLst/>
          </a:prstGeom>
        </p:spPr>
      </p:pic>
      <p:sp>
        <p:nvSpPr>
          <p:cNvPr id="17" name="TextBox 16"/>
          <p:cNvSpPr txBox="1"/>
          <p:nvPr userDrawn="1"/>
        </p:nvSpPr>
        <p:spPr>
          <a:xfrm>
            <a:off x="702376" y="3072368"/>
            <a:ext cx="22246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Acrom" pitchFamily="50" charset="-52"/>
              </a:rPr>
              <a:t>nsuniversity.official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238443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5.png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14" Type="http://schemas.microsoft.com/office/2007/relationships/hdphoto" Target="../media/hdphoto1.wdp"/></Relationships>
</file>

<file path=ppt/slideMasters/_rels/slideMaster2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theme" Target="../theme/theme2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microsoft.com/office/2007/relationships/hdphoto" Target="../media/hdphoto3.wdp"/><Relationship Id="rId5" Type="http://schemas.openxmlformats.org/officeDocument/2006/relationships/image" Target="../media/image15.png"/><Relationship Id="rId10" Type="http://schemas.openxmlformats.org/officeDocument/2006/relationships/image" Target="../media/image18.png"/><Relationship Id="rId4" Type="http://schemas.openxmlformats.org/officeDocument/2006/relationships/image" Target="../media/image14.jpeg"/><Relationship Id="rId9" Type="http://schemas.openxmlformats.org/officeDocument/2006/relationships/image" Target="../media/image1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10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>
            <a:extLst>
              <a:ext uri="{FF2B5EF4-FFF2-40B4-BE49-F238E27FC236}">
                <a16:creationId xmlns:a16="http://schemas.microsoft.com/office/drawing/2014/main" id="{9B33D274-B6B1-E2DB-BE57-EEB1AA1C8EF1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  <a:noFill/>
        </p:spPr>
      </p:pic>
      <p:pic>
        <p:nvPicPr>
          <p:cNvPr id="15" name="BottomGutter">
            <a:extLst>
              <a:ext uri="{FF2B5EF4-FFF2-40B4-BE49-F238E27FC236}">
                <a16:creationId xmlns:a16="http://schemas.microsoft.com/office/drawing/2014/main" id="{C050C21E-2DCE-7642-AC5B-F79436CC620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856"/>
          <a:stretch/>
        </p:blipFill>
        <p:spPr>
          <a:xfrm>
            <a:off x="1" y="4499190"/>
            <a:ext cx="9143998" cy="644310"/>
          </a:xfrm>
          <a:prstGeom prst="rect">
            <a:avLst/>
          </a:prstGeom>
        </p:spPr>
      </p:pic>
      <p:pic>
        <p:nvPicPr>
          <p:cNvPr id="7" name="TopGutter">
            <a:extLst>
              <a:ext uri="{FF2B5EF4-FFF2-40B4-BE49-F238E27FC236}">
                <a16:creationId xmlns:a16="http://schemas.microsoft.com/office/drawing/2014/main" id="{858D3652-D041-9F6C-9E85-EE8258D7A38B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sp>
        <p:nvSpPr>
          <p:cNvPr id="4" name="Date Placeholder">
            <a:extLst>
              <a:ext uri="{FF2B5EF4-FFF2-40B4-BE49-F238E27FC236}">
                <a16:creationId xmlns:a16="http://schemas.microsoft.com/office/drawing/2014/main" id="{F6631BE6-C540-9F06-1408-D5DAFE4CC7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1236" y="4858733"/>
            <a:ext cx="112442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579037-CC8E-4534-B7F6-0A122AB3349B}" type="datetime1">
              <a:rPr lang="ru-RU" smtClean="0"/>
              <a:t>04.12.2024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8203AFB7-5C34-3102-5A43-1D87CB96B0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7664" y="4858733"/>
            <a:ext cx="6048672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43316F-8F60-660A-EB0D-F436D4FDA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5306" y="4682109"/>
            <a:ext cx="394546" cy="313943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BD5C77E5-19BC-410D-82EA-404658A4611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F01035C1-6DDC-A5E1-CB54-AEB8F2B5E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236" y="1370013"/>
            <a:ext cx="8164114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59F61F2A-946C-4ED4-F435-730061947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pic>
        <p:nvPicPr>
          <p:cNvPr id="12" name="ЗвёздочкаЗаголовка">
            <a:extLst>
              <a:ext uri="{FF2B5EF4-FFF2-40B4-BE49-F238E27FC236}">
                <a16:creationId xmlns:a16="http://schemas.microsoft.com/office/drawing/2014/main" id="{FB3F1185-8665-1B69-1268-F2D4AEFABB60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pic>
        <p:nvPicPr>
          <p:cNvPr id="14" name="ЗвёздочкаНомера">
            <a:extLst>
              <a:ext uri="{FF2B5EF4-FFF2-40B4-BE49-F238E27FC236}">
                <a16:creationId xmlns:a16="http://schemas.microsoft.com/office/drawing/2014/main" id="{405211ED-D317-9A6C-C87D-2F05449DEA0D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773" b="56441"/>
          <a:stretch/>
        </p:blipFill>
        <p:spPr>
          <a:xfrm>
            <a:off x="8750038" y="4680520"/>
            <a:ext cx="142442" cy="13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42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82" r:id="rId2"/>
    <p:sldLayoutId id="2147483684" r:id="rId3"/>
    <p:sldLayoutId id="2147483683" r:id="rId4"/>
    <p:sldLayoutId id="2147483680" r:id="rId5"/>
    <p:sldLayoutId id="2147483687" r:id="rId6"/>
    <p:sldLayoutId id="2147483688" r:id="rId7"/>
    <p:sldLayoutId id="2147483689" r:id="rId8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1800" kern="1200" cap="all" baseline="0">
          <a:solidFill>
            <a:schemeClr val="bg1"/>
          </a:solidFill>
          <a:latin typeface="Acrom ExtraBold" panose="020B0604020202020204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12">
            <a:extLst>
              <a:ext uri="{FF2B5EF4-FFF2-40B4-BE49-F238E27FC236}">
                <a16:creationId xmlns:a16="http://schemas.microsoft.com/office/drawing/2014/main" id="{A774F97C-D077-5D46-222E-2516201CB63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1746" y="0"/>
            <a:ext cx="5192253" cy="5143500"/>
          </a:xfrm>
          <a:prstGeom prst="rect">
            <a:avLst/>
          </a:prstGeom>
        </p:spPr>
      </p:pic>
      <p:pic>
        <p:nvPicPr>
          <p:cNvPr id="8" name="Asterisk">
            <a:extLst>
              <a:ext uri="{FF2B5EF4-FFF2-40B4-BE49-F238E27FC236}">
                <a16:creationId xmlns:a16="http://schemas.microsoft.com/office/drawing/2014/main" id="{D333FEBB-EBF5-7FBD-4829-084774DD955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483518"/>
            <a:ext cx="896114" cy="850394"/>
          </a:xfrm>
          <a:prstGeom prst="rect">
            <a:avLst/>
          </a:prstGeom>
        </p:spPr>
      </p:pic>
      <p:pic>
        <p:nvPicPr>
          <p:cNvPr id="9" name="Рисунок 15">
            <a:extLst>
              <a:ext uri="{FF2B5EF4-FFF2-40B4-BE49-F238E27FC236}">
                <a16:creationId xmlns:a16="http://schemas.microsoft.com/office/drawing/2014/main" id="{0BD73755-EB14-577B-F4C9-A77F7FCF877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52085" cy="5143499"/>
          </a:xfrm>
          <a:prstGeom prst="rect">
            <a:avLst/>
          </a:prstGeom>
        </p:spPr>
      </p:pic>
      <p:pic>
        <p:nvPicPr>
          <p:cNvPr id="10" name="Рисунок 16">
            <a:extLst>
              <a:ext uri="{FF2B5EF4-FFF2-40B4-BE49-F238E27FC236}">
                <a16:creationId xmlns:a16="http://schemas.microsoft.com/office/drawing/2014/main" id="{327461AB-451C-E280-61A3-E51A2A202B98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90" y="339502"/>
            <a:ext cx="3206503" cy="3185166"/>
          </a:xfrm>
          <a:prstGeom prst="rect">
            <a:avLst/>
          </a:prstGeom>
        </p:spPr>
      </p:pic>
      <p:pic>
        <p:nvPicPr>
          <p:cNvPr id="11" name="Рисунок 17">
            <a:extLst>
              <a:ext uri="{FF2B5EF4-FFF2-40B4-BE49-F238E27FC236}">
                <a16:creationId xmlns:a16="http://schemas.microsoft.com/office/drawing/2014/main" id="{F78A891D-02CC-B741-9D04-F6A91F88DC3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90" y="4229069"/>
            <a:ext cx="1655067" cy="502921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973725AA-F208-BAB1-BC9D-BCA5F8833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362" y="1677262"/>
            <a:ext cx="4332104" cy="18474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14" name="Subtitle 1">
            <a:extLst>
              <a:ext uri="{FF2B5EF4-FFF2-40B4-BE49-F238E27FC236}">
                <a16:creationId xmlns:a16="http://schemas.microsoft.com/office/drawing/2014/main" id="{46B62068-49A8-7B4B-4EC6-41C46C4BA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04362" y="3524667"/>
            <a:ext cx="4332104" cy="9192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ПОДЗАГОЛОВКА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47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58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Acrom ExtraBold" panose="020B0604020202020204" charset="-52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cap="all" baseline="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04362" y="1677262"/>
            <a:ext cx="3523722" cy="535531"/>
          </a:xfrm>
        </p:spPr>
        <p:txBody>
          <a:bodyPr wrap="none">
            <a:spAutoFit/>
          </a:bodyPr>
          <a:lstStyle/>
          <a:p>
            <a:r>
              <a:rPr lang="ru-RU" sz="3200" dirty="0"/>
              <a:t>БАЗЫ ДАННЫХ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55D118-EC03-3BAF-711F-6D2F5AAC6F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04362" y="3147814"/>
            <a:ext cx="4332104" cy="1728193"/>
          </a:xfrm>
        </p:spPr>
        <p:txBody>
          <a:bodyPr>
            <a:normAutofit/>
          </a:bodyPr>
          <a:lstStyle/>
          <a:p>
            <a:r>
              <a:rPr lang="ru-RU" dirty="0"/>
              <a:t>Современные методики взаимодействия С </a:t>
            </a:r>
            <a:r>
              <a:rPr lang="en-US" dirty="0"/>
              <a:t>SQL</a:t>
            </a:r>
          </a:p>
        </p:txBody>
      </p:sp>
    </p:spTree>
    <p:extLst>
      <p:ext uri="{BB962C8B-B14F-4D97-AF65-F5344CB8AC3E}">
        <p14:creationId xmlns:p14="http://schemas.microsoft.com/office/powerpoint/2010/main" val="2440753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8FA8B0D-F8CB-41BE-9914-1BDDE721258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r>
              <a:rPr lang="ru-RU" dirty="0"/>
              <a:t>Слой хранения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35F493-B3BE-4572-BC94-6F20A0999FCF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/>
          </a:bodyPr>
          <a:lstStyle/>
          <a:p>
            <a:pPr lvl="0"/>
            <a:r>
              <a:rPr lang="ru-RU" noProof="0" dirty="0"/>
              <a:t>РСУБД</a:t>
            </a:r>
            <a:r>
              <a:rPr lang="en-US" noProof="0" dirty="0"/>
              <a:t>: </a:t>
            </a:r>
            <a:r>
              <a:rPr lang="ru-RU" noProof="0" dirty="0"/>
              <a:t>таблицы</a:t>
            </a:r>
            <a:r>
              <a:rPr lang="en-US" noProof="0" dirty="0"/>
              <a:t>, </a:t>
            </a:r>
            <a:r>
              <a:rPr lang="ru-RU" noProof="0" dirty="0"/>
              <a:t>кортежи</a:t>
            </a:r>
            <a:r>
              <a:rPr lang="en-US" noProof="0" dirty="0"/>
              <a:t>, </a:t>
            </a:r>
            <a:r>
              <a:rPr lang="ru-RU" noProof="0" dirty="0"/>
              <a:t>схемы</a:t>
            </a:r>
            <a:r>
              <a:rPr lang="en-US" noProof="0" dirty="0"/>
              <a:t>, </a:t>
            </a:r>
            <a:r>
              <a:rPr lang="ru-RU" noProof="0" dirty="0"/>
              <a:t>ограничения</a:t>
            </a:r>
            <a:endParaRPr lang="en-US" noProof="0" dirty="0"/>
          </a:p>
          <a:p>
            <a:pPr lvl="0"/>
            <a:r>
              <a:rPr lang="ru-RU" noProof="0" dirty="0"/>
              <a:t>Триггеры, представления, хранимые процедуры</a:t>
            </a:r>
            <a:endParaRPr lang="en-US" noProof="0" dirty="0"/>
          </a:p>
          <a:p>
            <a:pPr lvl="0"/>
            <a:r>
              <a:rPr lang="ru-RU" noProof="0" dirty="0"/>
              <a:t>Пользовательские типы и функции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3DB0BF-B573-45DE-9CD8-A5235AC1AB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/>
              <a:t>ООП</a:t>
            </a:r>
            <a:r>
              <a:rPr lang="en-US" dirty="0"/>
              <a:t>: </a:t>
            </a:r>
            <a:r>
              <a:rPr lang="ru-RU" dirty="0"/>
              <a:t>объекты</a:t>
            </a:r>
            <a:r>
              <a:rPr lang="en-US" dirty="0"/>
              <a:t>, </a:t>
            </a:r>
            <a:r>
              <a:rPr lang="ru-RU" dirty="0"/>
              <a:t>классы</a:t>
            </a:r>
            <a:r>
              <a:rPr lang="en-US" dirty="0"/>
              <a:t>, </a:t>
            </a:r>
            <a:r>
              <a:rPr lang="ru-RU" dirty="0"/>
              <a:t>пространства имён, пакеты</a:t>
            </a:r>
            <a:r>
              <a:rPr lang="en-US" dirty="0"/>
              <a:t>, </a:t>
            </a:r>
            <a:r>
              <a:rPr lang="ru-RU" dirty="0"/>
              <a:t>модули</a:t>
            </a:r>
            <a:endParaRPr lang="en-US" dirty="0"/>
          </a:p>
          <a:p>
            <a:r>
              <a:rPr lang="ru-RU" dirty="0"/>
              <a:t>ФП</a:t>
            </a:r>
            <a:r>
              <a:rPr lang="en-US" dirty="0"/>
              <a:t>: </a:t>
            </a:r>
            <a:r>
              <a:rPr lang="ru-RU" dirty="0"/>
              <a:t>лямбда-функции</a:t>
            </a:r>
            <a:r>
              <a:rPr lang="en-US" dirty="0"/>
              <a:t>, </a:t>
            </a:r>
            <a:r>
              <a:rPr lang="ru-RU" dirty="0"/>
              <a:t>замыкания</a:t>
            </a:r>
            <a:r>
              <a:rPr lang="en-US" dirty="0"/>
              <a:t>, </a:t>
            </a:r>
            <a:r>
              <a:rPr lang="ru-RU" dirty="0"/>
              <a:t>алгебраические типы</a:t>
            </a:r>
            <a:r>
              <a:rPr lang="en-US" dirty="0"/>
              <a:t>, </a:t>
            </a:r>
            <a:r>
              <a:rPr lang="ru-RU" dirty="0"/>
              <a:t>зависимые типы, автоматический вывод типов</a:t>
            </a:r>
            <a:endParaRPr lang="en-US" dirty="0"/>
          </a:p>
          <a:p>
            <a:r>
              <a:rPr lang="ru-RU" dirty="0"/>
              <a:t>Динамическое программирование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F86338-B6E2-4540-8435-E53ABE90A1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Слой обработки</a:t>
            </a:r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D1779D-F69E-42FF-8B49-64B7ED439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Обработка данных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7C96920-ED3D-6703-97AA-0EE8B7E03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515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D45376-F832-913B-598B-AF6EA23FF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00C1C4-FC1E-3D08-F38E-F8FC8F82F2F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dirty="0"/>
              <a:t>РСУБД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C2A8F1-5915-4987-A47E-97B2E694FC2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1801811"/>
            <a:ext cx="4321175" cy="2570163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CREATE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PROCEDURE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TransferMoney</a:t>
            </a:r>
            <a:r>
              <a:rPr lang="ru-RU" dirty="0">
                <a:latin typeface="Consolas" panose="020B0609020204030204" pitchFamily="49" charset="0"/>
              </a:rPr>
              <a:t>(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sourceId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</a:rPr>
              <a:t>,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targetId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</a:rPr>
              <a:t>,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amount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decimal</a:t>
            </a: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latin typeface="Consolas" panose="020B0609020204030204" pitchFamily="49" charset="0"/>
              </a:rPr>
              <a:t>18</a:t>
            </a: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ru-RU" dirty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AS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BEGIN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TRANSACTION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UPDATE</a:t>
            </a:r>
            <a:r>
              <a:rPr lang="en-US" dirty="0">
                <a:latin typeface="Consolas" panose="020B0609020204030204" pitchFamily="49" charset="0"/>
              </a:rPr>
              <a:t> Accounts 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 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SET</a:t>
            </a:r>
            <a:r>
              <a:rPr lang="en-US" dirty="0">
                <a:latin typeface="Consolas" panose="020B0609020204030204" pitchFamily="49" charset="0"/>
              </a:rPr>
              <a:t> Balance </a:t>
            </a: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</a:rPr>
              <a:t> Balance </a:t>
            </a: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</a:rPr>
              <a:t>–</a:t>
            </a:r>
            <a:r>
              <a:rPr lang="en-US" dirty="0">
                <a:latin typeface="Consolas" panose="020B0609020204030204" pitchFamily="49" charset="0"/>
              </a:rPr>
              <a:t> amount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 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WHERE</a:t>
            </a:r>
            <a:r>
              <a:rPr lang="en-US" dirty="0">
                <a:latin typeface="Consolas" panose="020B0609020204030204" pitchFamily="49" charset="0"/>
              </a:rPr>
              <a:t> ID </a:t>
            </a: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sourceId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UPDATE</a:t>
            </a:r>
            <a:r>
              <a:rPr lang="en-US" dirty="0">
                <a:latin typeface="Consolas" panose="020B0609020204030204" pitchFamily="49" charset="0"/>
              </a:rPr>
              <a:t> Accounts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nsolas" panose="020B0609020204030204" pitchFamily="49" charset="0"/>
              </a:rPr>
              <a:t>     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SET</a:t>
            </a:r>
            <a:r>
              <a:rPr lang="en-US" dirty="0">
                <a:latin typeface="Consolas" panose="020B0609020204030204" pitchFamily="49" charset="0"/>
              </a:rPr>
              <a:t> Balance </a:t>
            </a: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</a:rPr>
              <a:t> Balance </a:t>
            </a: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</a:rPr>
              <a:t>+</a:t>
            </a:r>
            <a:r>
              <a:rPr lang="en-US" dirty="0">
                <a:latin typeface="Consolas" panose="020B0609020204030204" pitchFamily="49" charset="0"/>
              </a:rPr>
              <a:t> amount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nsolas" panose="020B0609020204030204" pitchFamily="49" charset="0"/>
              </a:rPr>
              <a:t>     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WHERE</a:t>
            </a:r>
            <a:r>
              <a:rPr lang="en-US" dirty="0">
                <a:latin typeface="Consolas" panose="020B0609020204030204" pitchFamily="49" charset="0"/>
              </a:rPr>
              <a:t> ID </a:t>
            </a: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targetId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COMMIT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TRANSACTION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7A3A9F-F15F-C915-2D91-83887F7A7E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3"/>
            <a:ext cx="3933130" cy="2570161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void</a:t>
            </a:r>
            <a:r>
              <a:rPr lang="en-US" sz="1100" dirty="0">
                <a:latin typeface="Consolas" panose="020B0609020204030204" pitchFamily="49" charset="0"/>
              </a:rPr>
              <a:t> Transfer(</a:t>
            </a:r>
            <a:br>
              <a:rPr lang="en-US" sz="1100" dirty="0">
                <a:latin typeface="Consolas" panose="020B0609020204030204" pitchFamily="49" charset="0"/>
              </a:rPr>
            </a:br>
            <a:r>
              <a:rPr lang="en-US" sz="1100" dirty="0">
                <a:latin typeface="Consolas" panose="020B0609020204030204" pitchFamily="49" charset="0"/>
              </a:rPr>
              <a:t>  </a:t>
            </a:r>
            <a:r>
              <a:rPr lang="en-US" sz="1100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sourceId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  <a:br>
              <a:rPr lang="en-US" sz="1100" dirty="0">
                <a:latin typeface="Consolas" panose="020B0609020204030204" pitchFamily="49" charset="0"/>
              </a:rPr>
            </a:br>
            <a:r>
              <a:rPr lang="en-US" sz="1100" dirty="0">
                <a:latin typeface="Consolas" panose="020B0609020204030204" pitchFamily="49" charset="0"/>
              </a:rPr>
              <a:t>  </a:t>
            </a:r>
            <a:r>
              <a:rPr lang="en-US" sz="1100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targetId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  <a:br>
              <a:rPr lang="en-US" sz="1100" dirty="0">
                <a:latin typeface="Consolas" panose="020B0609020204030204" pitchFamily="49" charset="0"/>
              </a:rPr>
            </a:br>
            <a:r>
              <a:rPr lang="en-US" sz="1100" dirty="0">
                <a:latin typeface="Consolas" panose="020B0609020204030204" pitchFamily="49" charset="0"/>
              </a:rPr>
              <a:t>  </a:t>
            </a:r>
            <a:r>
              <a:rPr lang="en-US" sz="1100" b="1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BigDecimal</a:t>
            </a:r>
            <a:r>
              <a:rPr lang="en-US" sz="1100" dirty="0">
                <a:latin typeface="Consolas" panose="020B0609020204030204" pitchFamily="49" charset="0"/>
              </a:rPr>
              <a:t> amount)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latin typeface="Consolas" panose="020B0609020204030204" pitchFamily="49" charset="0"/>
              </a:rPr>
              <a:t>  </a:t>
            </a:r>
            <a:r>
              <a:rPr lang="en-US" sz="1100" b="1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CallableStatement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stmt</a:t>
            </a:r>
            <a:r>
              <a:rPr lang="en-US" sz="1100" dirty="0">
                <a:latin typeface="Consolas" panose="020B0609020204030204" pitchFamily="49" charset="0"/>
              </a:rPr>
              <a:t> = _</a:t>
            </a:r>
            <a:r>
              <a:rPr lang="en-US" sz="1100" dirty="0" err="1">
                <a:latin typeface="Consolas" panose="020B0609020204030204" pitchFamily="49" charset="0"/>
              </a:rPr>
              <a:t>conn.prepareCall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br>
              <a:rPr lang="en-US" sz="1100" dirty="0">
                <a:latin typeface="Consolas" panose="020B0609020204030204" pitchFamily="49" charset="0"/>
              </a:rPr>
            </a:br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"{call 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TransferMoney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(?, ?, ?)}"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latin typeface="Consolas" panose="020B0609020204030204" pitchFamily="49" charset="0"/>
              </a:rPr>
              <a:t>  </a:t>
            </a:r>
            <a:r>
              <a:rPr lang="en-US" sz="1100" dirty="0" err="1">
                <a:latin typeface="Consolas" panose="020B0609020204030204" pitchFamily="49" charset="0"/>
              </a:rPr>
              <a:t>stmt.setInt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  <a:r>
              <a:rPr lang="en-US" sz="1100" dirty="0" err="1">
                <a:latin typeface="Consolas" panose="020B0609020204030204" pitchFamily="49" charset="0"/>
              </a:rPr>
              <a:t>sourceId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latin typeface="Consolas" panose="020B0609020204030204" pitchFamily="49" charset="0"/>
              </a:rPr>
              <a:t>  </a:t>
            </a:r>
            <a:r>
              <a:rPr lang="en-US" sz="1100" dirty="0" err="1">
                <a:latin typeface="Consolas" panose="020B0609020204030204" pitchFamily="49" charset="0"/>
              </a:rPr>
              <a:t>stmt.setInt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2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  <a:r>
              <a:rPr lang="en-US" sz="1100" dirty="0" err="1">
                <a:latin typeface="Consolas" panose="020B0609020204030204" pitchFamily="49" charset="0"/>
              </a:rPr>
              <a:t>targetId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latin typeface="Consolas" panose="020B0609020204030204" pitchFamily="49" charset="0"/>
              </a:rPr>
              <a:t>  </a:t>
            </a:r>
            <a:r>
              <a:rPr lang="en-US" sz="1100" dirty="0" err="1">
                <a:latin typeface="Consolas" panose="020B0609020204030204" pitchFamily="49" charset="0"/>
              </a:rPr>
              <a:t>stmt.setBigDecimal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3</a:t>
            </a:r>
            <a:r>
              <a:rPr lang="en-US" sz="1100" dirty="0">
                <a:latin typeface="Consolas" panose="020B0609020204030204" pitchFamily="49" charset="0"/>
              </a:rPr>
              <a:t>, amount);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latin typeface="Consolas" panose="020B0609020204030204" pitchFamily="49" charset="0"/>
              </a:rPr>
              <a:t>  </a:t>
            </a:r>
            <a:r>
              <a:rPr lang="en-US" sz="1100" dirty="0" err="1">
                <a:latin typeface="Consolas" panose="020B0609020204030204" pitchFamily="49" charset="0"/>
              </a:rPr>
              <a:t>stmt.execute</a:t>
            </a:r>
            <a:r>
              <a:rPr lang="en-US" sz="1100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latin typeface="Consolas" panose="020B0609020204030204" pitchFamily="49" charset="0"/>
              </a:rPr>
              <a:t>}</a:t>
            </a:r>
            <a:endParaRPr lang="en-US" sz="11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D8A5220-6900-D03D-31DF-C851707707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Сервер приложений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87E79D5-0F6B-619F-C672-085DB449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Пример: Перевод Денег. Попытка 1</a:t>
            </a:r>
            <a:r>
              <a:rPr lang="en-US" dirty="0"/>
              <a:t>: </a:t>
            </a:r>
            <a:r>
              <a:rPr lang="ru-RU" dirty="0"/>
              <a:t>Хранимая процедура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559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6D703-6664-0A8E-505B-C67AFB193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504738-BF25-EA7B-3275-0DAEA66F5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EAA6EF-3153-3EF6-5A4F-4CB55F1DB6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1521" y="1490400"/>
            <a:ext cx="8712968" cy="288032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 2" charset="2"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public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void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Transfer(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int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sourceId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,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int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targetId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,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BigDecimal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amount)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throws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IllegalArgumentExce</a:t>
            </a:r>
            <a:r>
              <a:rPr lang="en-US" sz="1100" b="1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ption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{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None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if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amount.compareTo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0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) &lt; 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0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)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None/>
              <a:defRPr/>
            </a:pPr>
            <a:r>
              <a:rPr lang="en-US" sz="1100" dirty="0">
                <a:latin typeface="Consolas" panose="020B0609020204030204" pitchFamily="49" charset="0"/>
              </a:rPr>
              <a:t>   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throw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new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IllegalArgumentExce</a:t>
            </a:r>
            <a:r>
              <a:rPr lang="en-US" sz="1100" b="1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ption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"Invalid transfer amount"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  <a:endParaRPr kumimoji="0" lang="en-US" sz="11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 2" charset="2"/>
              <a:buNone/>
              <a:tabLst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try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PreparedStatement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readSt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= _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conn.prepareStatement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</a:rPr>
              <a:t>"SELECT Balance FROM Accounts WHERE ID = ?"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);</a:t>
            </a:r>
            <a:b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</a:b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    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PreparedStatement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updSt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= _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conn.prepareStatement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</a:rPr>
              <a:t>"UPDATE Accounts SET Balance = Balance + ? WHERE</a:t>
            </a: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</a:rPr>
              <a:t>ID=?"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)) </a:t>
            </a: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 2" charset="2"/>
              <a:buNone/>
              <a:tabLst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 {</a:t>
            </a:r>
            <a:b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</a:b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   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readSt.setInt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0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, 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sourceId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); </a:t>
            </a: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 2" charset="2"/>
              <a:buNone/>
              <a:tabLst/>
              <a:defRPr/>
            </a:pPr>
            <a:r>
              <a:rPr lang="en-US" sz="1100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ResultSet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rs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= 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readSt.executeQuery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(); </a:t>
            </a:r>
            <a:br>
              <a:rPr kumimoji="0" lang="ru-RU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</a:b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  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BigDecimal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sourceBal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= 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rs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[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0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].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getBigDecimal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0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);</a:t>
            </a: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 2" charset="2"/>
              <a:buNone/>
              <a:tabLst/>
              <a:defRPr/>
            </a:pPr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if</a:t>
            </a:r>
            <a:r>
              <a:rPr lang="en-US" sz="1100" dirty="0">
                <a:latin typeface="Consolas" panose="020B0609020204030204" pitchFamily="49" charset="0"/>
              </a:rPr>
              <a:t> (</a:t>
            </a:r>
            <a:r>
              <a:rPr lang="en-US" sz="1100" dirty="0" err="1">
                <a:latin typeface="Consolas" panose="020B0609020204030204" pitchFamily="49" charset="0"/>
              </a:rPr>
              <a:t>sourceBal.compareTo</a:t>
            </a:r>
            <a:r>
              <a:rPr lang="en-US" sz="1100" dirty="0">
                <a:latin typeface="Consolas" panose="020B0609020204030204" pitchFamily="49" charset="0"/>
              </a:rPr>
              <a:t>(amount) &lt; </a:t>
            </a:r>
            <a:r>
              <a:rPr lang="en-US" sz="11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0</a:t>
            </a:r>
            <a:r>
              <a:rPr lang="en-US" sz="1100" dirty="0">
                <a:latin typeface="Consolas" panose="020B0609020204030204" pitchFamily="49" charset="0"/>
              </a:rPr>
              <a:t>)</a:t>
            </a: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 2" charset="2"/>
              <a:buNone/>
              <a:tabLst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   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throw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new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IllegalArgumentExce</a:t>
            </a:r>
            <a:r>
              <a:rPr lang="en-US" sz="1100" b="1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ption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"Insufficient funds"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 2" charset="2"/>
              <a:buNone/>
              <a:tabLst/>
              <a:defRPr/>
            </a:pPr>
            <a:endParaRPr lang="en-US" sz="1100" dirty="0">
              <a:latin typeface="Consolas" panose="020B0609020204030204" pitchFamily="49" charset="0"/>
            </a:endParaRP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 2" charset="2"/>
              <a:buNone/>
              <a:tabLst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   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updSt.setInt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(1, 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sourceId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); 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updSt.setBigDecimal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(0, 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amount.negate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()); 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updSt.execute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None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   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updSt.setInt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(1, 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targetId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); 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updSt.setBigDecimal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</a:t>
            </a:r>
            <a:r>
              <a:rPr lang="en-US" sz="1100" dirty="0">
                <a:latin typeface="Consolas" panose="020B0609020204030204" pitchFamily="49" charset="0"/>
              </a:rPr>
              <a:t>0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, amount);          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updSt.execute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();</a:t>
            </a: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 2" charset="2"/>
              <a:buNone/>
              <a:tabLst/>
              <a:defRPr/>
            </a:pPr>
            <a:r>
              <a:rPr lang="en-US" sz="1100" dirty="0">
                <a:latin typeface="Consolas" panose="020B0609020204030204" pitchFamily="49" charset="0"/>
              </a:rPr>
              <a:t>    _</a:t>
            </a:r>
            <a:r>
              <a:rPr lang="en-US" sz="1100" dirty="0" err="1">
                <a:latin typeface="Consolas" panose="020B0609020204030204" pitchFamily="49" charset="0"/>
              </a:rPr>
              <a:t>conn.commit</a:t>
            </a:r>
            <a:r>
              <a:rPr lang="en-US" sz="1100" dirty="0">
                <a:latin typeface="Consolas" panose="020B0609020204030204" pitchFamily="49" charset="0"/>
              </a:rPr>
              <a:t>();</a:t>
            </a: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 2" charset="2"/>
              <a:buNone/>
              <a:tabLst/>
              <a:defRPr/>
            </a:pPr>
            <a:r>
              <a:rPr lang="en-US" sz="1100" dirty="0">
                <a:latin typeface="Consolas" panose="020B0609020204030204" pitchFamily="49" charset="0"/>
              </a:rPr>
              <a:t>  }</a:t>
            </a:r>
            <a:br>
              <a:rPr lang="en-US" sz="1100" dirty="0">
                <a:latin typeface="Consolas" panose="020B0609020204030204" pitchFamily="49" charset="0"/>
              </a:rPr>
            </a:br>
            <a:r>
              <a:rPr lang="en-US" sz="1100" dirty="0">
                <a:latin typeface="Consolas" panose="020B0609020204030204" pitchFamily="49" charset="0"/>
              </a:rPr>
              <a:t>  </a:t>
            </a: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catch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Exception</a:t>
            </a:r>
            <a:r>
              <a:rPr lang="en-US" sz="1100" dirty="0">
                <a:latin typeface="Consolas" panose="020B0609020204030204" pitchFamily="49" charset="0"/>
              </a:rPr>
              <a:t> e) { _</a:t>
            </a:r>
            <a:r>
              <a:rPr lang="en-US" sz="1100" dirty="0" err="1">
                <a:latin typeface="Consolas" panose="020B0609020204030204" pitchFamily="49" charset="0"/>
              </a:rPr>
              <a:t>conn.rollback</a:t>
            </a:r>
            <a:r>
              <a:rPr lang="en-US" sz="1100" dirty="0">
                <a:latin typeface="Consolas" panose="020B0609020204030204" pitchFamily="49" charset="0"/>
              </a:rPr>
              <a:t>(); </a:t>
            </a: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throw</a:t>
            </a:r>
            <a:r>
              <a:rPr lang="en-US" sz="1100" dirty="0">
                <a:latin typeface="Consolas" panose="020B0609020204030204" pitchFamily="49" charset="0"/>
              </a:rPr>
              <a:t> e;}</a:t>
            </a: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 2" charset="2"/>
              <a:buNone/>
              <a:tabLst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B354508-9355-08E7-E024-E7C1A8DD2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Пример: Перевод Денег. Попытка 2: </a:t>
            </a:r>
            <a:r>
              <a:rPr lang="en-US" dirty="0"/>
              <a:t>JDBC</a:t>
            </a:r>
          </a:p>
        </p:txBody>
      </p:sp>
    </p:spTree>
    <p:extLst>
      <p:ext uri="{BB962C8B-B14F-4D97-AF65-F5344CB8AC3E}">
        <p14:creationId xmlns:p14="http://schemas.microsoft.com/office/powerpoint/2010/main" val="1709216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D98CD-7D98-B2A5-8A4E-8862710E7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2930F3-B510-91C6-AEDE-0475061A7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1C0A8-0F8F-BD66-2DB4-4C5CF881C5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1521" y="1491630"/>
            <a:ext cx="8712968" cy="259228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 2" charset="2"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public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void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Transfer(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int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sourceId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,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int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targetId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,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BigDecimal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amount)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throws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IllegalArgumentException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{</a:t>
            </a: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 2" charset="2"/>
              <a:buNone/>
              <a:tabLst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if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amount.compareTo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(0) &lt; 0) </a:t>
            </a: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 2" charset="2"/>
              <a:buNone/>
              <a:tabLst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  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throw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new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IllegalArgumentException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</a:rPr>
              <a:t>"Invalid transfer amount"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);</a:t>
            </a: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 2" charset="2"/>
              <a:buNone/>
              <a:tabLst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try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(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Session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session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= 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sessionFactory.openSession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())</a:t>
            </a: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 2" charset="2"/>
              <a:buNone/>
              <a:tabLst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 {  </a:t>
            </a:r>
            <a:b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</a:b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   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session.beginTransaction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();</a:t>
            </a: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 2" charset="2"/>
              <a:buNone/>
              <a:tabLst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 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Account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source = (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Account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)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session.get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Account.class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, 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sourceId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);</a:t>
            </a: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 2" charset="2"/>
              <a:buNone/>
              <a:tabLst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 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Account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target = (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Account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)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session.get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Account.class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, 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targetId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);</a:t>
            </a: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 2" charset="2"/>
              <a:buNone/>
              <a:tabLst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 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if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(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source.getBalance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().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compareTo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(amount) &lt; 0)</a:t>
            </a: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 2" charset="2"/>
              <a:buNone/>
              <a:tabLst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   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throw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new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IllegalArgumentException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</a:rPr>
              <a:t>"Insufficient funds"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);</a:t>
            </a: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 2" charset="2"/>
              <a:buNone/>
              <a:tabLst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   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source.setBalance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source.getBalance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().subtract(amount)); 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session.Save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(source);</a:t>
            </a: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 2" charset="2"/>
              <a:buNone/>
              <a:tabLst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   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target.setBalance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target.getBalance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().add(amount)); 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session.Save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(target);</a:t>
            </a:r>
            <a:b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</a:b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   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session.getTransaction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().commit();</a:t>
            </a: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 2" charset="2"/>
              <a:buNone/>
              <a:tabLst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 }</a:t>
            </a:r>
            <a:b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</a:b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catch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Exception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e) { 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session.getTransaction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().rollback();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throw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e;}</a:t>
            </a: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 2" charset="2"/>
              <a:buNone/>
              <a:tabLst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C8D27F1-CD9A-687E-8254-9FF2C5653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Пример: Перевод Денег. Попытка </a:t>
            </a:r>
            <a:r>
              <a:rPr lang="en-US" dirty="0"/>
              <a:t>3: ORM (Hibernate)</a:t>
            </a:r>
          </a:p>
        </p:txBody>
      </p:sp>
    </p:spTree>
    <p:extLst>
      <p:ext uri="{BB962C8B-B14F-4D97-AF65-F5344CB8AC3E}">
        <p14:creationId xmlns:p14="http://schemas.microsoft.com/office/powerpoint/2010/main" val="831212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AACF1-3814-88E0-2194-291D87AA1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D5A202-883C-BED8-041C-9AD45369B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A89E25-BAF0-6D6A-16C8-0C5DFB3142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1521" y="1491630"/>
            <a:ext cx="8712968" cy="259228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 2" charset="2"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public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void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Transfer(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int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sourceId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,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int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targetId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,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BigDecimal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amount)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throws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IllegalArgumentException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{</a:t>
            </a: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 2" charset="2"/>
              <a:buNone/>
              <a:tabLst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if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amount.compareTo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(0) &lt; 0) </a:t>
            </a: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 2" charset="2"/>
              <a:buNone/>
              <a:tabLst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  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throw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new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IllegalArgumentException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</a:rPr>
              <a:t>"Invalid transfer amount"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);</a:t>
            </a: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 2" charset="2"/>
              <a:buNone/>
              <a:tabLst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try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{</a:t>
            </a:r>
            <a:b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</a:b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   _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repository.beginTransaction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();</a:t>
            </a:r>
            <a:b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</a:b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 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Account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source = _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repository.accounts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().get(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sourceId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);</a:t>
            </a: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 2" charset="2"/>
              <a:buNone/>
              <a:tabLst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 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Account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target = _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repository.accounts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().get(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targetId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);</a:t>
            </a: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 2" charset="2"/>
              <a:buNone/>
              <a:tabLst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   if (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source.getBalance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().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compareTo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(amount) &lt; 0)</a:t>
            </a: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 2" charset="2"/>
              <a:buNone/>
              <a:tabLst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   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throw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new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IllegalArgumentException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</a:rPr>
              <a:t>"Insufficient funds"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);</a:t>
            </a: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 2" charset="2"/>
              <a:buNone/>
              <a:tabLst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   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source.decreaseBalance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(amount); </a:t>
            </a: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 2" charset="2"/>
              <a:buNone/>
              <a:tabLst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   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target.increaseBalance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(amount); </a:t>
            </a:r>
            <a:b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</a:b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   _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repository.getTransaction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().commit();</a:t>
            </a: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 2" charset="2"/>
              <a:buNone/>
              <a:tabLst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 }</a:t>
            </a:r>
            <a:b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</a:b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catch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Exception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e) {_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repository.getTransaction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().rollback();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throw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e;}</a:t>
            </a: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 2" charset="2"/>
              <a:buNone/>
              <a:tabLst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778646A-322B-3C01-FCC7-9D65D70AE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Пример: Перевод Денег. Попытка </a:t>
            </a:r>
            <a:r>
              <a:rPr lang="en-US" dirty="0"/>
              <a:t>4: </a:t>
            </a:r>
            <a:r>
              <a:rPr lang="ru-RU" dirty="0"/>
              <a:t>Улучшенный </a:t>
            </a:r>
            <a:r>
              <a:rPr lang="en-US" dirty="0"/>
              <a:t>ORM</a:t>
            </a:r>
          </a:p>
        </p:txBody>
      </p:sp>
    </p:spTree>
    <p:extLst>
      <p:ext uri="{BB962C8B-B14F-4D97-AF65-F5344CB8AC3E}">
        <p14:creationId xmlns:p14="http://schemas.microsoft.com/office/powerpoint/2010/main" val="1238507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1F844-73F7-70F0-6832-DFEF154D8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3B869D-3B8E-FCDE-2A65-E6779BFB2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3E8C95-8097-C36F-8B09-0BAFDC923B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dirty="0"/>
              <a:t>Хранимая процедура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311B7C-D14B-1A30-561F-62C073F5D3E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1801811"/>
            <a:ext cx="4321175" cy="2570163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CREATE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PROCEDURE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TransferMoney</a:t>
            </a:r>
            <a:r>
              <a:rPr lang="ru-RU" dirty="0">
                <a:latin typeface="Consolas" panose="020B0609020204030204" pitchFamily="49" charset="0"/>
              </a:rPr>
              <a:t>(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source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</a:rPr>
              <a:t>,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target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</a:rPr>
              <a:t>,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amount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decimal</a:t>
            </a: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latin typeface="Consolas" panose="020B0609020204030204" pitchFamily="49" charset="0"/>
              </a:rPr>
              <a:t>18</a:t>
            </a: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ru-RU" dirty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AS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BEGIN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TRANSACTION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UPDATE</a:t>
            </a:r>
            <a:r>
              <a:rPr lang="en-US" dirty="0">
                <a:latin typeface="Consolas" panose="020B0609020204030204" pitchFamily="49" charset="0"/>
              </a:rPr>
              <a:t> Accounts 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 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SET</a:t>
            </a:r>
            <a:r>
              <a:rPr lang="en-US" dirty="0">
                <a:latin typeface="Consolas" panose="020B0609020204030204" pitchFamily="49" charset="0"/>
              </a:rPr>
              <a:t> Balance </a:t>
            </a: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</a:rPr>
              <a:t> Balance </a:t>
            </a: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</a:rPr>
              <a:t>–</a:t>
            </a:r>
            <a:r>
              <a:rPr lang="en-US" dirty="0">
                <a:latin typeface="Consolas" panose="020B0609020204030204" pitchFamily="49" charset="0"/>
              </a:rPr>
              <a:t> amount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 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WHERE</a:t>
            </a:r>
            <a:r>
              <a:rPr lang="en-US" dirty="0">
                <a:latin typeface="Consolas" panose="020B0609020204030204" pitchFamily="49" charset="0"/>
              </a:rPr>
              <a:t> ID </a:t>
            </a: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</a:rPr>
              <a:t> source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UPDATE</a:t>
            </a:r>
            <a:r>
              <a:rPr lang="en-US" dirty="0">
                <a:latin typeface="Consolas" panose="020B0609020204030204" pitchFamily="49" charset="0"/>
              </a:rPr>
              <a:t> Accounts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nsolas" panose="020B0609020204030204" pitchFamily="49" charset="0"/>
              </a:rPr>
              <a:t>     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SET</a:t>
            </a:r>
            <a:r>
              <a:rPr lang="en-US" dirty="0">
                <a:latin typeface="Consolas" panose="020B0609020204030204" pitchFamily="49" charset="0"/>
              </a:rPr>
              <a:t> Balance </a:t>
            </a: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</a:rPr>
              <a:t> Balance </a:t>
            </a: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</a:rPr>
              <a:t>+</a:t>
            </a:r>
            <a:r>
              <a:rPr lang="en-US" dirty="0">
                <a:latin typeface="Consolas" panose="020B0609020204030204" pitchFamily="49" charset="0"/>
              </a:rPr>
              <a:t> amount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nsolas" panose="020B0609020204030204" pitchFamily="49" charset="0"/>
              </a:rPr>
              <a:t>     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WHERE</a:t>
            </a:r>
            <a:r>
              <a:rPr lang="en-US" dirty="0">
                <a:latin typeface="Consolas" panose="020B0609020204030204" pitchFamily="49" charset="0"/>
              </a:rPr>
              <a:t> ID </a:t>
            </a: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</a:rPr>
              <a:t> target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COMMIT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TRANSACTION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689092-BC6A-BA63-9377-1E8134AB5F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3"/>
            <a:ext cx="3933130" cy="1994073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chemeClr val="accent6"/>
                </a:solidFill>
                <a:latin typeface="Consolas" panose="020B0609020204030204" pitchFamily="49" charset="0"/>
              </a:rPr>
              <a:t>BEGIN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chemeClr val="accent6"/>
                </a:solidFill>
                <a:latin typeface="Consolas" panose="020B0609020204030204" pitchFamily="49" charset="0"/>
              </a:rPr>
              <a:t>TRANSACTION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--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var(--ff-mono)"/>
              </a:rPr>
              <a:t> </a:t>
            </a: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roundtrip delay...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chemeClr val="accent6"/>
                </a:solidFill>
                <a:latin typeface="Consolas" panose="020B0609020204030204" pitchFamily="49" charset="0"/>
              </a:rPr>
              <a:t>SELECT</a:t>
            </a:r>
            <a:r>
              <a:rPr lang="en-US" sz="1050" dirty="0">
                <a:latin typeface="Consolas" panose="020B0609020204030204" pitchFamily="49" charset="0"/>
              </a:rPr>
              <a:t> * </a:t>
            </a:r>
            <a:r>
              <a:rPr lang="en-US" sz="1050" dirty="0">
                <a:solidFill>
                  <a:schemeClr val="accent6"/>
                </a:solidFill>
                <a:latin typeface="Consolas" panose="020B0609020204030204" pitchFamily="49" charset="0"/>
              </a:rPr>
              <a:t>FROM</a:t>
            </a:r>
            <a:r>
              <a:rPr lang="en-US" sz="1050" dirty="0">
                <a:latin typeface="Consolas" panose="020B0609020204030204" pitchFamily="49" charset="0"/>
              </a:rPr>
              <a:t> Accounts </a:t>
            </a:r>
            <a:r>
              <a:rPr lang="en-US" sz="1050" dirty="0">
                <a:solidFill>
                  <a:schemeClr val="accent6"/>
                </a:solidFill>
                <a:latin typeface="Consolas" panose="020B0609020204030204" pitchFamily="49" charset="0"/>
              </a:rPr>
              <a:t>WHERE</a:t>
            </a:r>
            <a:r>
              <a:rPr lang="en-US" sz="1050" dirty="0">
                <a:latin typeface="Consolas" panose="020B0609020204030204" pitchFamily="49" charset="0"/>
              </a:rPr>
              <a:t> ID </a:t>
            </a:r>
            <a:r>
              <a:rPr lang="en-US" sz="1050" dirty="0">
                <a:solidFill>
                  <a:schemeClr val="accent5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latin typeface="Consolas" panose="020B0609020204030204" pitchFamily="49" charset="0"/>
              </a:rPr>
              <a:t> ?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-- roundtrip delay ...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chemeClr val="accent6"/>
                </a:solidFill>
                <a:latin typeface="Consolas" panose="020B0609020204030204" pitchFamily="49" charset="0"/>
              </a:rPr>
              <a:t>SELECT</a:t>
            </a:r>
            <a:r>
              <a:rPr lang="en-US" sz="1050" dirty="0">
                <a:latin typeface="Consolas" panose="020B0609020204030204" pitchFamily="49" charset="0"/>
              </a:rPr>
              <a:t> * </a:t>
            </a:r>
            <a:r>
              <a:rPr lang="en-US" sz="1050" dirty="0">
                <a:solidFill>
                  <a:schemeClr val="accent6"/>
                </a:solidFill>
                <a:latin typeface="Consolas" panose="020B0609020204030204" pitchFamily="49" charset="0"/>
              </a:rPr>
              <a:t>FROM</a:t>
            </a:r>
            <a:r>
              <a:rPr lang="en-US" sz="1050" dirty="0">
                <a:latin typeface="Consolas" panose="020B0609020204030204" pitchFamily="49" charset="0"/>
              </a:rPr>
              <a:t> Accounts </a:t>
            </a:r>
            <a:r>
              <a:rPr lang="en-US" sz="1050" dirty="0">
                <a:solidFill>
                  <a:schemeClr val="accent6"/>
                </a:solidFill>
                <a:latin typeface="Consolas" panose="020B0609020204030204" pitchFamily="49" charset="0"/>
              </a:rPr>
              <a:t>WHERE</a:t>
            </a:r>
            <a:r>
              <a:rPr lang="en-US" sz="1050" dirty="0">
                <a:latin typeface="Consolas" panose="020B0609020204030204" pitchFamily="49" charset="0"/>
              </a:rPr>
              <a:t> ID </a:t>
            </a:r>
            <a:r>
              <a:rPr lang="en-US" sz="1050" dirty="0">
                <a:solidFill>
                  <a:schemeClr val="accent5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latin typeface="Consolas" panose="020B0609020204030204" pitchFamily="49" charset="0"/>
              </a:rPr>
              <a:t> ?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-- roundtrip delay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chemeClr val="accent6"/>
                </a:solidFill>
                <a:latin typeface="Consolas" panose="020B0609020204030204" pitchFamily="49" charset="0"/>
              </a:rPr>
              <a:t>UPDATE</a:t>
            </a:r>
            <a:r>
              <a:rPr lang="en-US" sz="1050" dirty="0">
                <a:latin typeface="Consolas" panose="020B0609020204030204" pitchFamily="49" charset="0"/>
              </a:rPr>
              <a:t> Accounts </a:t>
            </a:r>
            <a:r>
              <a:rPr lang="en-US" sz="1050" dirty="0">
                <a:solidFill>
                  <a:schemeClr val="accent6"/>
                </a:solidFill>
                <a:latin typeface="Consolas" panose="020B0609020204030204" pitchFamily="49" charset="0"/>
              </a:rPr>
              <a:t>SET</a:t>
            </a:r>
            <a:r>
              <a:rPr lang="en-US" sz="1050" dirty="0">
                <a:latin typeface="Consolas" panose="020B0609020204030204" pitchFamily="49" charset="0"/>
              </a:rPr>
              <a:t> Balance </a:t>
            </a:r>
            <a:r>
              <a:rPr lang="en-US" sz="1050" dirty="0">
                <a:solidFill>
                  <a:schemeClr val="accent5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latin typeface="Consolas" panose="020B0609020204030204" pitchFamily="49" charset="0"/>
              </a:rPr>
              <a:t> ? </a:t>
            </a:r>
            <a:r>
              <a:rPr lang="en-US" sz="1050" dirty="0">
                <a:solidFill>
                  <a:schemeClr val="accent6"/>
                </a:solidFill>
                <a:latin typeface="Consolas" panose="020B0609020204030204" pitchFamily="49" charset="0"/>
              </a:rPr>
              <a:t>WHERE</a:t>
            </a:r>
            <a:r>
              <a:rPr lang="en-US" sz="1050" dirty="0">
                <a:latin typeface="Consolas" panose="020B0609020204030204" pitchFamily="49" charset="0"/>
              </a:rPr>
              <a:t> ID </a:t>
            </a:r>
            <a:r>
              <a:rPr lang="en-US" sz="1050" dirty="0">
                <a:solidFill>
                  <a:schemeClr val="accent5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latin typeface="Consolas" panose="020B0609020204030204" pitchFamily="49" charset="0"/>
              </a:rPr>
              <a:t> ?</a:t>
            </a:r>
            <a:br>
              <a:rPr lang="en-US" sz="1050" dirty="0">
                <a:latin typeface="Consolas" panose="020B0609020204030204" pitchFamily="49" charset="0"/>
              </a:rPr>
            </a:b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-- roundtrip delay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chemeClr val="accent6"/>
                </a:solidFill>
                <a:latin typeface="Consolas" panose="020B0609020204030204" pitchFamily="49" charset="0"/>
              </a:rPr>
              <a:t>UPDATE</a:t>
            </a:r>
            <a:r>
              <a:rPr lang="en-US" sz="1050" dirty="0">
                <a:latin typeface="Consolas" panose="020B0609020204030204" pitchFamily="49" charset="0"/>
              </a:rPr>
              <a:t> Accounts </a:t>
            </a:r>
            <a:r>
              <a:rPr lang="en-US" sz="1050" dirty="0">
                <a:solidFill>
                  <a:schemeClr val="accent6"/>
                </a:solidFill>
                <a:latin typeface="Consolas" panose="020B0609020204030204" pitchFamily="49" charset="0"/>
              </a:rPr>
              <a:t>SET</a:t>
            </a:r>
            <a:r>
              <a:rPr lang="en-US" sz="1050" dirty="0">
                <a:latin typeface="Consolas" panose="020B0609020204030204" pitchFamily="49" charset="0"/>
              </a:rPr>
              <a:t> Balance </a:t>
            </a:r>
            <a:r>
              <a:rPr lang="en-US" sz="1050" dirty="0">
                <a:solidFill>
                  <a:schemeClr val="accent5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latin typeface="Consolas" panose="020B0609020204030204" pitchFamily="49" charset="0"/>
              </a:rPr>
              <a:t> ? </a:t>
            </a:r>
            <a:r>
              <a:rPr lang="en-US" sz="1050" dirty="0">
                <a:solidFill>
                  <a:schemeClr val="accent6"/>
                </a:solidFill>
                <a:latin typeface="Consolas" panose="020B0609020204030204" pitchFamily="49" charset="0"/>
              </a:rPr>
              <a:t>WHERE</a:t>
            </a:r>
            <a:r>
              <a:rPr lang="en-US" sz="1050" dirty="0">
                <a:latin typeface="Consolas" panose="020B0609020204030204" pitchFamily="49" charset="0"/>
              </a:rPr>
              <a:t> ID </a:t>
            </a:r>
            <a:r>
              <a:rPr lang="en-US" sz="1050" dirty="0">
                <a:solidFill>
                  <a:schemeClr val="accent5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latin typeface="Consolas" panose="020B0609020204030204" pitchFamily="49" charset="0"/>
              </a:rPr>
              <a:t> ?</a:t>
            </a:r>
            <a:br>
              <a:rPr lang="en-US" sz="1050" dirty="0">
                <a:latin typeface="Consolas" panose="020B0609020204030204" pitchFamily="49" charset="0"/>
              </a:rPr>
            </a:b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-- roundtrip delay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chemeClr val="accent6"/>
                </a:solidFill>
                <a:latin typeface="Consolas" panose="020B0609020204030204" pitchFamily="49" charset="0"/>
              </a:rPr>
              <a:t>COMMIT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chemeClr val="accent6"/>
                </a:solidFill>
                <a:latin typeface="Consolas" panose="020B0609020204030204" pitchFamily="49" charset="0"/>
              </a:rPr>
              <a:t>TRANSACTION</a:t>
            </a:r>
            <a:endParaRPr lang="en-US" sz="11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67FCF19-8207-E733-E9A4-421BC3637D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ORM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374FB28-7655-A347-C8FA-9C9439BDE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5" y="716531"/>
            <a:ext cx="8541939" cy="369332"/>
          </a:xfrm>
        </p:spPr>
        <p:txBody>
          <a:bodyPr>
            <a:normAutofit/>
          </a:bodyPr>
          <a:lstStyle/>
          <a:p>
            <a:r>
              <a:rPr lang="ru-RU" dirty="0"/>
              <a:t>Пример: Перевод Денег. </a:t>
            </a:r>
            <a:r>
              <a:rPr lang="en-US" dirty="0"/>
              <a:t>“</a:t>
            </a:r>
            <a:r>
              <a:rPr lang="ru-RU" dirty="0"/>
              <a:t>Улучшенный</a:t>
            </a:r>
            <a:r>
              <a:rPr lang="en-US" dirty="0"/>
              <a:t>“ ORM </a:t>
            </a:r>
            <a:r>
              <a:rPr lang="ru-RU" dirty="0"/>
              <a:t>глазами РСУБД</a:t>
            </a:r>
            <a:endParaRPr lang="en-US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97A60E43-751B-F93F-352A-AAAE3C94B2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2433"/>
            <a:ext cx="24046" cy="92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6963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CD865-C83F-0883-2F24-9D3A401F1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7B8A9A-743E-3C37-3B10-4818D6021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EBE6DF-468A-1583-FF19-5E26162B3CD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Hibernate/JPA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D5AB71-F851-2A6F-4E8C-D2FFD1DDAE6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1801811"/>
            <a:ext cx="4392488" cy="2164347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Criteria</a:t>
            </a:r>
            <a:r>
              <a:rPr lang="en-US" sz="2000" dirty="0">
                <a:latin typeface="Consolas" panose="020B0609020204030204" pitchFamily="49" charset="0"/>
              </a:rPr>
              <a:t> crit = </a:t>
            </a:r>
            <a:r>
              <a:rPr lang="en-US" sz="2000" dirty="0" err="1">
                <a:latin typeface="Consolas" panose="020B0609020204030204" pitchFamily="49" charset="0"/>
              </a:rPr>
              <a:t>session.createCriteria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Employee</a:t>
            </a:r>
            <a:r>
              <a:rPr lang="en-US" sz="2000" dirty="0" err="1">
                <a:latin typeface="Consolas" panose="020B0609020204030204" pitchFamily="49" charset="0"/>
              </a:rPr>
              <a:t>.class</a:t>
            </a:r>
            <a:r>
              <a:rPr lang="en-US" sz="2000" dirty="0">
                <a:latin typeface="Consolas" panose="020B0609020204030204" pitchFamily="49" charset="0"/>
              </a:rPr>
              <a:t>);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     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ProjectionList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pList</a:t>
            </a:r>
            <a:r>
              <a:rPr lang="en-US" sz="2000" dirty="0">
                <a:latin typeface="Consolas" panose="020B0609020204030204" pitchFamily="49" charset="0"/>
              </a:rPr>
              <a:t> = 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Projections</a:t>
            </a:r>
            <a:r>
              <a:rPr lang="en-US" sz="2000" dirty="0" err="1">
                <a:latin typeface="Consolas" panose="020B0609020204030204" pitchFamily="49" charset="0"/>
              </a:rPr>
              <a:t>.projectionList</a:t>
            </a:r>
            <a:r>
              <a:rPr lang="en-US" sz="2000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latin typeface="Consolas" panose="020B0609020204030204" pitchFamily="49" charset="0"/>
              </a:rPr>
              <a:t>pList.add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Projections</a:t>
            </a:r>
            <a:r>
              <a:rPr lang="en-US" sz="2000" dirty="0" err="1">
                <a:latin typeface="Consolas" panose="020B0609020204030204" pitchFamily="49" charset="0"/>
              </a:rPr>
              <a:t>.property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7030A0"/>
                </a:solidFill>
                <a:latin typeface="Consolas" panose="020B0609020204030204" pitchFamily="49" charset="0"/>
              </a:rPr>
              <a:t>"salary"</a:t>
            </a:r>
            <a:r>
              <a:rPr lang="en-US" sz="2000" dirty="0">
                <a:latin typeface="Consolas" panose="020B0609020204030204" pitchFamily="49" charset="0"/>
              </a:rPr>
              <a:t>));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latin typeface="Consolas" panose="020B0609020204030204" pitchFamily="49" charset="0"/>
              </a:rPr>
              <a:t>pList.add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Projections</a:t>
            </a:r>
            <a:r>
              <a:rPr lang="en-US" sz="2000" dirty="0" err="1">
                <a:latin typeface="Consolas" panose="020B0609020204030204" pitchFamily="49" charset="0"/>
              </a:rPr>
              <a:t>.property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7030A0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 err="1">
                <a:solidFill>
                  <a:srgbClr val="7030A0"/>
                </a:solidFill>
                <a:latin typeface="Consolas" panose="020B0609020204030204" pitchFamily="49" charset="0"/>
              </a:rPr>
              <a:t>departmentId</a:t>
            </a:r>
            <a:r>
              <a:rPr lang="en-US" sz="2000" dirty="0">
                <a:solidFill>
                  <a:srgbClr val="7030A0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>
                <a:latin typeface="Consolas" panose="020B0609020204030204" pitchFamily="49" charset="0"/>
              </a:rPr>
              <a:t>));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latin typeface="Consolas" panose="020B0609020204030204" pitchFamily="49" charset="0"/>
              </a:rPr>
              <a:t>pList.add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Projections</a:t>
            </a:r>
            <a:r>
              <a:rPr lang="en-US" sz="2000" dirty="0" err="1">
                <a:latin typeface="Consolas" panose="020B0609020204030204" pitchFamily="49" charset="0"/>
              </a:rPr>
              <a:t>.property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7030A0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 err="1">
                <a:solidFill>
                  <a:srgbClr val="7030A0"/>
                </a:solidFill>
                <a:latin typeface="Consolas" panose="020B0609020204030204" pitchFamily="49" charset="0"/>
              </a:rPr>
              <a:t>employeeName</a:t>
            </a:r>
            <a:r>
              <a:rPr lang="en-US" sz="2000" dirty="0">
                <a:solidFill>
                  <a:srgbClr val="7030A0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>
                <a:latin typeface="Consolas" panose="020B0609020204030204" pitchFamily="49" charset="0"/>
              </a:rPr>
              <a:t>));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latin typeface="Consolas" panose="020B0609020204030204" pitchFamily="49" charset="0"/>
              </a:rPr>
              <a:t>crit.setProjection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pList</a:t>
            </a:r>
            <a:r>
              <a:rPr lang="en-US" sz="2000" dirty="0">
                <a:latin typeface="Consolas" panose="020B0609020204030204" pitchFamily="49" charset="0"/>
              </a:rPr>
              <a:t>);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     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latin typeface="Consolas" panose="020B0609020204030204" pitchFamily="49" charset="0"/>
              </a:rPr>
              <a:t> (obj : </a:t>
            </a:r>
            <a:r>
              <a:rPr lang="en-US" sz="2000" dirty="0" err="1">
                <a:latin typeface="Consolas" panose="020B0609020204030204" pitchFamily="49" charset="0"/>
              </a:rPr>
              <a:t>crit.list</a:t>
            </a:r>
            <a:r>
              <a:rPr lang="en-US" sz="2000" dirty="0">
                <a:latin typeface="Consolas" panose="020B0609020204030204" pitchFamily="49" charset="0"/>
              </a:rPr>
              <a:t>())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Consolas" panose="020B0609020204030204" pitchFamily="49" charset="0"/>
              </a:rPr>
              <a:t>  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System</a:t>
            </a:r>
            <a:r>
              <a:rPr lang="en-US" sz="2000" dirty="0" err="1">
                <a:latin typeface="Consolas" panose="020B0609020204030204" pitchFamily="49" charset="0"/>
              </a:rPr>
              <a:t>.out.println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7030A0"/>
                </a:solidFill>
                <a:latin typeface="Consolas" panose="020B0609020204030204" pitchFamily="49" charset="0"/>
              </a:rPr>
              <a:t>" Salary: "</a:t>
            </a:r>
            <a:r>
              <a:rPr lang="en-US" sz="2000" dirty="0">
                <a:latin typeface="Consolas" panose="020B0609020204030204" pitchFamily="49" charset="0"/>
              </a:rPr>
              <a:t> + obj[0] 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                   + </a:t>
            </a:r>
            <a:r>
              <a:rPr lang="en-US" sz="2000" dirty="0">
                <a:solidFill>
                  <a:srgbClr val="7030A0"/>
                </a:solidFill>
                <a:latin typeface="Consolas" panose="020B0609020204030204" pitchFamily="49" charset="0"/>
              </a:rPr>
              <a:t>" Dept: "</a:t>
            </a:r>
            <a:r>
              <a:rPr lang="en-US" sz="2000" dirty="0">
                <a:latin typeface="Consolas" panose="020B0609020204030204" pitchFamily="49" charset="0"/>
              </a:rPr>
              <a:t> + obj[1] 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                   + </a:t>
            </a:r>
            <a:r>
              <a:rPr lang="en-US" sz="2000" dirty="0">
                <a:solidFill>
                  <a:srgbClr val="7030A0"/>
                </a:solidFill>
                <a:latin typeface="Consolas" panose="020B0609020204030204" pitchFamily="49" charset="0"/>
              </a:rPr>
              <a:t>" Name: "</a:t>
            </a:r>
            <a:r>
              <a:rPr lang="en-US" sz="2000" dirty="0">
                <a:latin typeface="Consolas" panose="020B0609020204030204" pitchFamily="49" charset="0"/>
              </a:rPr>
              <a:t> + obj[2]);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03E7FD-726F-62DE-848B-F04AE28EA2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3"/>
            <a:ext cx="3789114" cy="2164345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Consolas" panose="020B0609020204030204" pitchFamily="49" charset="0"/>
              </a:rPr>
              <a:t>SELECT</a:t>
            </a:r>
            <a:r>
              <a:rPr lang="en-US" sz="1000" dirty="0">
                <a:latin typeface="Consolas" panose="020B0609020204030204" pitchFamily="49" charset="0"/>
              </a:rPr>
              <a:t> salary, </a:t>
            </a:r>
            <a:r>
              <a:rPr lang="en-US" sz="1000" dirty="0" err="1">
                <a:latin typeface="Consolas" panose="020B0609020204030204" pitchFamily="49" charset="0"/>
              </a:rPr>
              <a:t>departmentId</a:t>
            </a:r>
            <a:r>
              <a:rPr lang="en-US" sz="1000" dirty="0">
                <a:latin typeface="Consolas" panose="020B0609020204030204" pitchFamily="49" charset="0"/>
              </a:rPr>
              <a:t>, </a:t>
            </a:r>
            <a:r>
              <a:rPr lang="en-US" sz="1000" dirty="0" err="1">
                <a:latin typeface="Consolas" panose="020B0609020204030204" pitchFamily="49" charset="0"/>
              </a:rPr>
              <a:t>employeeName</a:t>
            </a:r>
            <a:r>
              <a:rPr lang="en-US" sz="1000" dirty="0">
                <a:latin typeface="Consolas" panose="020B0609020204030204" pitchFamily="49" charset="0"/>
              </a:rPr>
              <a:t> </a:t>
            </a:r>
            <a:br>
              <a:rPr lang="en-US" sz="1000" dirty="0">
                <a:latin typeface="Consolas" panose="020B0609020204030204" pitchFamily="49" charset="0"/>
              </a:rPr>
            </a:br>
            <a:r>
              <a:rPr lang="en-US" sz="1000" dirty="0">
                <a:solidFill>
                  <a:schemeClr val="accent6"/>
                </a:solidFill>
                <a:latin typeface="Consolas" panose="020B0609020204030204" pitchFamily="49" charset="0"/>
              </a:rPr>
              <a:t>FROM</a:t>
            </a:r>
            <a:r>
              <a:rPr lang="en-US" sz="1000" dirty="0">
                <a:latin typeface="Consolas" panose="020B0609020204030204" pitchFamily="49" charset="0"/>
              </a:rPr>
              <a:t> Employees;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2526B35-5B07-919F-A0EE-36DFBAD93F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SQL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7F5D143-CE79-B003-3612-B4207D76A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5" y="716531"/>
            <a:ext cx="8541939" cy="369332"/>
          </a:xfrm>
        </p:spPr>
        <p:txBody>
          <a:bodyPr>
            <a:normAutofit/>
          </a:bodyPr>
          <a:lstStyle/>
          <a:p>
            <a:r>
              <a:rPr lang="ru-RU" dirty="0"/>
              <a:t>Ограничения номинативной типизации: Проекции</a:t>
            </a:r>
            <a:endParaRPr lang="en-US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DF5CDADA-F80F-E7AD-A894-97BDB1983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2433"/>
            <a:ext cx="24046" cy="92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764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602DE-F3AA-08DC-777B-17496CC3B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45CF42-7DBD-FD72-B5BA-06AE70121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89210B-2BE2-6E25-2606-C72225DC351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Linq2DB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924C53-CD12-D354-6563-7CA4395CF4F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1801811"/>
            <a:ext cx="4392488" cy="2570163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using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db</a:t>
            </a:r>
            <a:r>
              <a:rPr lang="en-US" sz="1100" dirty="0">
                <a:latin typeface="Consolas" panose="020B0609020204030204" pitchFamily="49" charset="0"/>
              </a:rPr>
              <a:t> = </a:t>
            </a: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new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AccountsDB</a:t>
            </a:r>
            <a:r>
              <a:rPr lang="en-US" sz="1100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using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sz="1100" dirty="0">
                <a:latin typeface="Consolas" panose="020B0609020204030204" pitchFamily="49" charset="0"/>
              </a:rPr>
              <a:t> tr = </a:t>
            </a:r>
            <a:r>
              <a:rPr lang="en-US" sz="1100" dirty="0" err="1">
                <a:latin typeface="Consolas" panose="020B0609020204030204" pitchFamily="49" charset="0"/>
              </a:rPr>
              <a:t>db.BeginTransaction</a:t>
            </a:r>
            <a:r>
              <a:rPr lang="en-US" sz="1100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 err="1">
                <a:latin typeface="Consolas" panose="020B0609020204030204" pitchFamily="49" charset="0"/>
              </a:rPr>
              <a:t>db.Account</a:t>
            </a: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latin typeface="Consolas" panose="020B0609020204030204" pitchFamily="49" charset="0"/>
              </a:rPr>
              <a:t>  .Where(a =&gt; </a:t>
            </a:r>
            <a:r>
              <a:rPr lang="en-US" sz="1100" dirty="0" err="1">
                <a:latin typeface="Consolas" panose="020B0609020204030204" pitchFamily="49" charset="0"/>
              </a:rPr>
              <a:t>a.Id</a:t>
            </a:r>
            <a:r>
              <a:rPr lang="en-US" sz="1100" dirty="0">
                <a:latin typeface="Consolas" panose="020B0609020204030204" pitchFamily="49" charset="0"/>
              </a:rPr>
              <a:t> == </a:t>
            </a:r>
            <a:r>
              <a:rPr lang="en-US" sz="1100" dirty="0" err="1">
                <a:latin typeface="Consolas" panose="020B0609020204030204" pitchFamily="49" charset="0"/>
              </a:rPr>
              <a:t>sourceId</a:t>
            </a:r>
            <a:r>
              <a:rPr lang="en-US" sz="11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latin typeface="Consolas" panose="020B0609020204030204" pitchFamily="49" charset="0"/>
              </a:rPr>
              <a:t>  .Set(a =&gt; </a:t>
            </a:r>
            <a:r>
              <a:rPr lang="en-US" sz="1100" dirty="0" err="1">
                <a:latin typeface="Consolas" panose="020B0609020204030204" pitchFamily="49" charset="0"/>
              </a:rPr>
              <a:t>a.Balance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  <a:r>
              <a:rPr lang="en-US" sz="1100" dirty="0" err="1">
                <a:latin typeface="Consolas" panose="020B0609020204030204" pitchFamily="49" charset="0"/>
              </a:rPr>
              <a:t>a.Balance</a:t>
            </a:r>
            <a:r>
              <a:rPr lang="en-US" sz="1100" dirty="0">
                <a:latin typeface="Consolas" panose="020B0609020204030204" pitchFamily="49" charset="0"/>
              </a:rPr>
              <a:t> – amount)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latin typeface="Consolas" panose="020B0609020204030204" pitchFamily="49" charset="0"/>
              </a:rPr>
              <a:t>  .Update();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 err="1">
                <a:latin typeface="Consolas" panose="020B0609020204030204" pitchFamily="49" charset="0"/>
              </a:rPr>
              <a:t>db.Account</a:t>
            </a: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latin typeface="Consolas" panose="020B0609020204030204" pitchFamily="49" charset="0"/>
              </a:rPr>
              <a:t>  .Where(a =&gt; </a:t>
            </a:r>
            <a:r>
              <a:rPr lang="en-US" sz="1100" dirty="0" err="1">
                <a:latin typeface="Consolas" panose="020B0609020204030204" pitchFamily="49" charset="0"/>
              </a:rPr>
              <a:t>a.Id</a:t>
            </a:r>
            <a:r>
              <a:rPr lang="en-US" sz="1100" dirty="0">
                <a:latin typeface="Consolas" panose="020B0609020204030204" pitchFamily="49" charset="0"/>
              </a:rPr>
              <a:t> == </a:t>
            </a:r>
            <a:r>
              <a:rPr lang="en-US" sz="1100" dirty="0" err="1">
                <a:latin typeface="Consolas" panose="020B0609020204030204" pitchFamily="49" charset="0"/>
              </a:rPr>
              <a:t>sourceId</a:t>
            </a:r>
            <a:r>
              <a:rPr lang="en-US" sz="11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latin typeface="Consolas" panose="020B0609020204030204" pitchFamily="49" charset="0"/>
              </a:rPr>
              <a:t>  .Set(a =&gt; </a:t>
            </a:r>
            <a:r>
              <a:rPr lang="en-US" sz="1100" dirty="0" err="1">
                <a:latin typeface="Consolas" panose="020B0609020204030204" pitchFamily="49" charset="0"/>
              </a:rPr>
              <a:t>a.Balance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  <a:r>
              <a:rPr lang="en-US" sz="1100" dirty="0" err="1">
                <a:latin typeface="Consolas" panose="020B0609020204030204" pitchFamily="49" charset="0"/>
              </a:rPr>
              <a:t>a.Balance</a:t>
            </a:r>
            <a:r>
              <a:rPr lang="en-US" sz="1100" dirty="0">
                <a:latin typeface="Consolas" panose="020B0609020204030204" pitchFamily="49" charset="0"/>
              </a:rPr>
              <a:t> – amount)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latin typeface="Consolas" panose="020B0609020204030204" pitchFamily="49" charset="0"/>
              </a:rPr>
              <a:t>  .Update();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 err="1">
                <a:latin typeface="Consolas" panose="020B0609020204030204" pitchFamily="49" charset="0"/>
              </a:rPr>
              <a:t>tr.Commit</a:t>
            </a:r>
            <a:r>
              <a:rPr lang="en-US" sz="1100" dirty="0"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E2E247-DC4D-0D8A-F7CA-D96BE5B366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3"/>
            <a:ext cx="3933130" cy="2570161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Account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source =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DSL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.using(configuration)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selectFrom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(ACCOUNT)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.where(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ACCOUNT.ID.eq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sourceId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))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fetchOne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account.decreaseBalance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(amount);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account.store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();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// This store call operates on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             // the "attached" configuration.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CFC0137-AB27-DF00-2D80-BDA8C1E584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JOOQ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BF01D51-EDEE-2904-5B84-34AD2FE7C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5" y="716531"/>
            <a:ext cx="8541939" cy="369332"/>
          </a:xfrm>
        </p:spPr>
        <p:txBody>
          <a:bodyPr>
            <a:normAutofit/>
          </a:bodyPr>
          <a:lstStyle/>
          <a:p>
            <a:r>
              <a:rPr lang="ru-RU" dirty="0"/>
              <a:t>Современные подходы к </a:t>
            </a:r>
            <a:r>
              <a:rPr lang="en-US" dirty="0"/>
              <a:t>ORM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3235EA34-6486-2896-C5FF-0D5B9B0F82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2433"/>
            <a:ext cx="24046" cy="92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6938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4CB31-7B3A-0A38-504D-E9B4188EC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1350AE-32DD-3C4C-F9C5-D3AB39D68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1C531-6683-DF00-E8BD-D4530A534B9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dirty="0"/>
              <a:t>библиотека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B9CBBC-69BD-EB25-EA3D-CA766A06F8C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1801811"/>
            <a:ext cx="4217852" cy="1922065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IQueryable</a:t>
            </a:r>
            <a:r>
              <a:rPr lang="en-US" sz="1100" dirty="0">
                <a:latin typeface="Consolas" panose="020B0609020204030204" pitchFamily="49" charset="0"/>
              </a:rPr>
              <a:t>&lt;</a:t>
            </a:r>
            <a:r>
              <a:rPr lang="en-US" sz="1100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100" dirty="0">
                <a:latin typeface="Consolas" panose="020B0609020204030204" pitchFamily="49" charset="0"/>
              </a:rPr>
              <a:t>&gt; </a:t>
            </a:r>
            <a:r>
              <a:rPr lang="en-US" sz="1100" dirty="0" err="1">
                <a:latin typeface="Consolas" panose="020B0609020204030204" pitchFamily="49" charset="0"/>
              </a:rPr>
              <a:t>CheckPermissions</a:t>
            </a:r>
            <a:r>
              <a:rPr lang="en-US" sz="1100" dirty="0">
                <a:latin typeface="Consolas" panose="020B0609020204030204" pitchFamily="49" charset="0"/>
              </a:rPr>
              <a:t>&lt;</a:t>
            </a:r>
            <a:r>
              <a:rPr lang="en-US" sz="1100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100" dirty="0">
                <a:latin typeface="Consolas" panose="020B0609020204030204" pitchFamily="49" charset="0"/>
              </a:rPr>
              <a:t>&gt;(</a:t>
            </a:r>
            <a:br>
              <a:rPr lang="en-US" sz="1100" dirty="0">
                <a:latin typeface="Consolas" panose="020B0609020204030204" pitchFamily="49" charset="0"/>
              </a:rPr>
            </a:br>
            <a:r>
              <a:rPr lang="en-US" sz="1100" dirty="0">
                <a:latin typeface="Consolas" panose="020B0609020204030204" pitchFamily="49" charset="0"/>
              </a:rPr>
              <a:t>  </a:t>
            </a:r>
            <a:r>
              <a:rPr lang="en-US" sz="1100" b="1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IQueryable</a:t>
            </a:r>
            <a:r>
              <a:rPr lang="en-US" sz="1100" dirty="0">
                <a:latin typeface="Consolas" panose="020B0609020204030204" pitchFamily="49" charset="0"/>
              </a:rPr>
              <a:t>&lt;</a:t>
            </a:r>
            <a:r>
              <a:rPr lang="en-US" sz="1100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100" dirty="0">
                <a:latin typeface="Consolas" panose="020B0609020204030204" pitchFamily="49" charset="0"/>
              </a:rPr>
              <a:t>&gt; objects, </a:t>
            </a:r>
            <a:r>
              <a:rPr lang="en-US" sz="1100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User</a:t>
            </a:r>
            <a:r>
              <a:rPr lang="en-US" sz="1100" dirty="0">
                <a:latin typeface="Consolas" panose="020B0609020204030204" pitchFamily="49" charset="0"/>
              </a:rPr>
              <a:t> user) </a:t>
            </a:r>
            <a:br>
              <a:rPr lang="en-US" sz="1100" dirty="0">
                <a:latin typeface="Consolas" panose="020B0609020204030204" pitchFamily="49" charset="0"/>
              </a:rPr>
            </a:b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where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100" dirty="0">
                <a:latin typeface="Consolas" panose="020B0609020204030204" pitchFamily="49" charset="0"/>
              </a:rPr>
              <a:t>: </a:t>
            </a:r>
            <a:r>
              <a:rPr lang="en-US" sz="1100" b="1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ISecurable</a:t>
            </a:r>
            <a:br>
              <a:rPr lang="en-US" sz="1100" dirty="0">
                <a:latin typeface="Consolas" panose="020B0609020204030204" pitchFamily="49" charset="0"/>
              </a:rPr>
            </a:br>
            <a:r>
              <a:rPr lang="en-US" sz="1100" dirty="0">
                <a:latin typeface="Consolas" panose="020B0609020204030204" pitchFamily="49" charset="0"/>
              </a:rPr>
              <a:t>  =&gt; </a:t>
            </a:r>
            <a:br>
              <a:rPr lang="en-US" sz="1100" dirty="0">
                <a:latin typeface="Consolas" panose="020B0609020204030204" pitchFamily="49" charset="0"/>
              </a:rPr>
            </a:br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sz="1100" dirty="0">
                <a:latin typeface="Consolas" panose="020B0609020204030204" pitchFamily="49" charset="0"/>
              </a:rPr>
              <a:t> obj </a:t>
            </a: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sz="1100" dirty="0">
                <a:latin typeface="Consolas" panose="020B0609020204030204" pitchFamily="49" charset="0"/>
              </a:rPr>
              <a:t> objects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where</a:t>
            </a:r>
            <a:r>
              <a:rPr lang="en-US" sz="1100" dirty="0">
                <a:latin typeface="Consolas" panose="020B0609020204030204" pitchFamily="49" charset="0"/>
              </a:rPr>
              <a:t> (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      </a:t>
            </a: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sz="1100" dirty="0">
                <a:latin typeface="Consolas" panose="020B0609020204030204" pitchFamily="49" charset="0"/>
              </a:rPr>
              <a:t> p </a:t>
            </a: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db.Permissions</a:t>
            </a:r>
            <a:br>
              <a:rPr lang="en-US" sz="1100" dirty="0">
                <a:latin typeface="Consolas" panose="020B0609020204030204" pitchFamily="49" charset="0"/>
              </a:rPr>
            </a:br>
            <a:r>
              <a:rPr lang="en-US" sz="1100" dirty="0">
                <a:latin typeface="Consolas" panose="020B0609020204030204" pitchFamily="49" charset="0"/>
              </a:rPr>
              <a:t>      </a:t>
            </a: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where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p.UserId</a:t>
            </a:r>
            <a:r>
              <a:rPr lang="en-US" sz="1100" dirty="0">
                <a:latin typeface="Consolas" panose="020B0609020204030204" pitchFamily="49" charset="0"/>
              </a:rPr>
              <a:t> == </a:t>
            </a:r>
            <a:r>
              <a:rPr lang="en-US" sz="1100" dirty="0" err="1">
                <a:latin typeface="Consolas" panose="020B0609020204030204" pitchFamily="49" charset="0"/>
              </a:rPr>
              <a:t>user.Id</a:t>
            </a:r>
            <a:br>
              <a:rPr lang="en-US" sz="1100" dirty="0">
                <a:latin typeface="Consolas" panose="020B0609020204030204" pitchFamily="49" charset="0"/>
              </a:rPr>
            </a:br>
            <a:r>
              <a:rPr lang="en-US" sz="1100" dirty="0">
                <a:latin typeface="Consolas" panose="020B0609020204030204" pitchFamily="49" charset="0"/>
              </a:rPr>
              <a:t>      </a:t>
            </a: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select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p.ObjId</a:t>
            </a:r>
            <a:r>
              <a:rPr lang="en-US" sz="1100" dirty="0">
                <a:latin typeface="Consolas" panose="020B0609020204030204" pitchFamily="49" charset="0"/>
              </a:rPr>
              <a:t>).Contains(obj.id)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   select</a:t>
            </a:r>
            <a:r>
              <a:rPr lang="en-US" sz="1100" dirty="0">
                <a:latin typeface="Consolas" panose="020B0609020204030204" pitchFamily="49" charset="0"/>
              </a:rPr>
              <a:t> obj;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D7B74F-B020-5ACC-540A-69B256FB41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3"/>
            <a:ext cx="3933130" cy="1922065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var</a:t>
            </a:r>
            <a:r>
              <a:rPr kumimoji="0" lang="en-US" altLang="en-US" sz="110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10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outOfStock</a:t>
            </a:r>
            <a:r>
              <a:rPr kumimoji="0" lang="en-US" altLang="en-US" sz="110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br>
              <a:rPr kumimoji="0" lang="en-US" altLang="en-US" sz="110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altLang="en-US" sz="11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from</a:t>
            </a:r>
            <a:r>
              <a:rPr kumimoji="0" lang="en-US" altLang="en-US" sz="110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p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in</a:t>
            </a:r>
            <a:r>
              <a:rPr kumimoji="0" lang="en-US" altLang="en-US" sz="110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10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db.Product</a:t>
            </a:r>
            <a:br>
              <a:rPr kumimoji="0" lang="en-US" altLang="en-US" sz="110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kumimoji="0" lang="en-US" altLang="en-US" sz="110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where</a:t>
            </a:r>
            <a:r>
              <a:rPr kumimoji="0" lang="en-US" altLang="en-US" sz="110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10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p.UnitsInStock</a:t>
            </a:r>
            <a:r>
              <a:rPr kumimoji="0" lang="en-US" altLang="en-US" sz="110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==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kumimoji="0" lang="en-US" altLang="en-US" sz="110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br>
              <a:rPr kumimoji="0" lang="en-US" altLang="en-US" sz="110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kumimoji="0" lang="en-US" altLang="en-US" sz="110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select</a:t>
            </a:r>
            <a:r>
              <a:rPr kumimoji="0" lang="en-US" altLang="en-US" sz="110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p;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kumimoji="0" lang="en-US" altLang="en-US" sz="110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(!</a:t>
            </a:r>
            <a:r>
              <a:rPr kumimoji="0" lang="en-US" altLang="en-US" sz="110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currentUser.IsInRole</a:t>
            </a:r>
            <a:r>
              <a:rPr kumimoji="0" lang="en-US" altLang="en-US" sz="110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110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"Admin"</a:t>
            </a:r>
            <a:r>
              <a:rPr kumimoji="0" lang="en-US" altLang="en-US" sz="110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))</a:t>
            </a:r>
            <a:br>
              <a:rPr kumimoji="0" lang="en-US" altLang="en-US" sz="110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kumimoji="0" lang="en-US" altLang="en-US" sz="110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kumimoji="0" lang="en-US" altLang="en-US" sz="110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outOfStock</a:t>
            </a:r>
            <a:r>
              <a:rPr kumimoji="0" lang="en-US" altLang="en-US" sz="110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kumimoji="0" lang="en-US" altLang="en-US" sz="110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outOfStock</a:t>
            </a:r>
            <a:br>
              <a:rPr kumimoji="0" lang="en-US" altLang="en-US" sz="110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altLang="en-US" sz="11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ru-RU" altLang="en-US" sz="1100" dirty="0"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kumimoji="0" lang="en-US" altLang="en-US" sz="110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CheckPermissions</a:t>
            </a:r>
            <a:r>
              <a:rPr kumimoji="0" lang="en-US" altLang="en-US" sz="110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110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currentUser</a:t>
            </a:r>
            <a:r>
              <a:rPr kumimoji="0" lang="en-US" altLang="en-US" sz="110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outOfStock</a:t>
            </a:r>
            <a:br>
              <a:rPr kumimoji="0" lang="en-US" altLang="en-US" sz="110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altLang="en-US" sz="11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kumimoji="0" lang="en-US" altLang="en-US" sz="110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.Set(p =&gt; </a:t>
            </a:r>
            <a:r>
              <a:rPr kumimoji="0" lang="en-US" altLang="en-US" sz="110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p.Discontinued</a:t>
            </a:r>
            <a:r>
              <a:rPr kumimoji="0" lang="en-US" altLang="en-US" sz="110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true</a:t>
            </a:r>
            <a:r>
              <a:rPr kumimoji="0" lang="en-US" altLang="en-US" sz="110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110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kumimoji="0" lang="en-US" altLang="en-US" sz="110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.Update();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i="0" u="none" strike="noStrike" cap="none" normalizeH="0" baseline="0" dirty="0">
              <a:ln>
                <a:noFill/>
              </a:ln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F68622-68E8-BDB3-5D31-80BB0F56B50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Прикладной код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2A6114B-2E22-CB63-2107-3CF8464B7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5" y="716531"/>
            <a:ext cx="8541939" cy="369332"/>
          </a:xfrm>
        </p:spPr>
        <p:txBody>
          <a:bodyPr>
            <a:normAutofit/>
          </a:bodyPr>
          <a:lstStyle/>
          <a:p>
            <a:r>
              <a:rPr lang="ru-RU" dirty="0"/>
              <a:t>Преимущества </a:t>
            </a:r>
            <a:r>
              <a:rPr lang="ru-RU" dirty="0" err="1"/>
              <a:t>типобезопасного</a:t>
            </a:r>
            <a:r>
              <a:rPr lang="ru-RU" dirty="0"/>
              <a:t> порождения </a:t>
            </a:r>
            <a:r>
              <a:rPr lang="en-US" dirty="0"/>
              <a:t>SQL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A95FCBA5-5CB6-A88E-09BB-D4A69019D9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2433"/>
            <a:ext cx="24046" cy="92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77550CA6-B44F-AE3E-BB8F-6BCD49C52A83}"/>
              </a:ext>
            </a:extLst>
          </p:cNvPr>
          <p:cNvSpPr txBox="1">
            <a:spLocks/>
          </p:cNvSpPr>
          <p:nvPr/>
        </p:nvSpPr>
        <p:spPr>
          <a:xfrm>
            <a:off x="350838" y="3867895"/>
            <a:ext cx="7677546" cy="78795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solidFill>
                  <a:schemeClr val="accent6"/>
                </a:solidFill>
                <a:latin typeface="Consolas" panose="020B0609020204030204" pitchFamily="49" charset="0"/>
              </a:rPr>
              <a:t>UPDATE</a:t>
            </a:r>
            <a:r>
              <a:rPr lang="en-US" sz="1100" dirty="0">
                <a:latin typeface="Consolas" panose="020B0609020204030204" pitchFamily="49" charset="0"/>
              </a:rPr>
              <a:t> products </a:t>
            </a:r>
            <a:r>
              <a:rPr lang="en-US" sz="1100" dirty="0">
                <a:solidFill>
                  <a:schemeClr val="accent6"/>
                </a:solidFill>
                <a:latin typeface="Consolas" panose="020B0609020204030204" pitchFamily="49" charset="0"/>
              </a:rPr>
              <a:t>SET</a:t>
            </a:r>
            <a:r>
              <a:rPr lang="en-US" sz="1100" dirty="0">
                <a:latin typeface="Consolas" panose="020B0609020204030204" pitchFamily="49" charset="0"/>
              </a:rPr>
              <a:t> discontinued </a:t>
            </a:r>
            <a:r>
              <a:rPr lang="en-US" sz="1100" dirty="0">
                <a:solidFill>
                  <a:schemeClr val="accent5"/>
                </a:solidFill>
                <a:latin typeface="Consolas" panose="020B0609020204030204" pitchFamily="49" charset="0"/>
              </a:rPr>
              <a:t>=</a:t>
            </a:r>
            <a:r>
              <a:rPr lang="en-US" sz="1100" dirty="0">
                <a:latin typeface="Consolas" panose="020B0609020204030204" pitchFamily="49" charset="0"/>
              </a:rPr>
              <a:t> 1 </a:t>
            </a:r>
            <a:r>
              <a:rPr lang="en-US" sz="1100" dirty="0">
                <a:solidFill>
                  <a:schemeClr val="accent6"/>
                </a:solidFill>
                <a:latin typeface="Consolas" panose="020B0609020204030204" pitchFamily="49" charset="0"/>
              </a:rPr>
              <a:t>WHERE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unitsInStock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chemeClr val="accent5"/>
                </a:solidFill>
                <a:latin typeface="Consolas" panose="020B0609020204030204" pitchFamily="49" charset="0"/>
              </a:rPr>
              <a:t>=</a:t>
            </a:r>
            <a:r>
              <a:rPr lang="en-US" sz="1100" dirty="0">
                <a:latin typeface="Consolas" panose="020B0609020204030204" pitchFamily="49" charset="0"/>
              </a:rPr>
              <a:t> 0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solidFill>
                  <a:schemeClr val="accent6"/>
                </a:solidFill>
                <a:latin typeface="Consolas" panose="020B0609020204030204" pitchFamily="49" charset="0"/>
              </a:rPr>
              <a:t>UPDATE</a:t>
            </a:r>
            <a:r>
              <a:rPr lang="en-US" sz="1100" dirty="0">
                <a:latin typeface="Consolas" panose="020B0609020204030204" pitchFamily="49" charset="0"/>
              </a:rPr>
              <a:t> products </a:t>
            </a:r>
            <a:r>
              <a:rPr lang="en-US" sz="1100" dirty="0">
                <a:solidFill>
                  <a:schemeClr val="accent6"/>
                </a:solidFill>
                <a:latin typeface="Consolas" panose="020B0609020204030204" pitchFamily="49" charset="0"/>
              </a:rPr>
              <a:t>SET</a:t>
            </a:r>
            <a:r>
              <a:rPr lang="en-US" sz="1100" dirty="0">
                <a:latin typeface="Consolas" panose="020B0609020204030204" pitchFamily="49" charset="0"/>
              </a:rPr>
              <a:t> discontinued </a:t>
            </a:r>
            <a:r>
              <a:rPr lang="en-US" sz="1100" dirty="0">
                <a:solidFill>
                  <a:schemeClr val="accent5"/>
                </a:solidFill>
                <a:latin typeface="Consolas" panose="020B0609020204030204" pitchFamily="49" charset="0"/>
              </a:rPr>
              <a:t>=</a:t>
            </a:r>
            <a:r>
              <a:rPr lang="en-US" sz="1100" dirty="0">
                <a:latin typeface="Consolas" panose="020B0609020204030204" pitchFamily="49" charset="0"/>
              </a:rPr>
              <a:t> 1 </a:t>
            </a:r>
            <a:r>
              <a:rPr lang="en-US" sz="1100" dirty="0">
                <a:solidFill>
                  <a:schemeClr val="accent6"/>
                </a:solidFill>
                <a:latin typeface="Consolas" panose="020B0609020204030204" pitchFamily="49" charset="0"/>
              </a:rPr>
              <a:t>WHERE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unitsInStock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chemeClr val="accent5"/>
                </a:solidFill>
                <a:latin typeface="Consolas" panose="020B0609020204030204" pitchFamily="49" charset="0"/>
              </a:rPr>
              <a:t>=</a:t>
            </a:r>
            <a:r>
              <a:rPr lang="en-US" sz="1100" dirty="0">
                <a:latin typeface="Consolas" panose="020B0609020204030204" pitchFamily="49" charset="0"/>
              </a:rPr>
              <a:t> 0 </a:t>
            </a:r>
            <a:br>
              <a:rPr lang="en-US" sz="1100" dirty="0">
                <a:latin typeface="Consolas" panose="020B0609020204030204" pitchFamily="49" charset="0"/>
              </a:rPr>
            </a:br>
            <a:r>
              <a:rPr lang="en-US" sz="1100" dirty="0">
                <a:latin typeface="Consolas" panose="020B0609020204030204" pitchFamily="49" charset="0"/>
              </a:rPr>
              <a:t>  </a:t>
            </a:r>
            <a:r>
              <a:rPr lang="en-US" sz="1100" b="1" dirty="0">
                <a:solidFill>
                  <a:schemeClr val="accent6"/>
                </a:solidFill>
                <a:latin typeface="Consolas" panose="020B0609020204030204" pitchFamily="49" charset="0"/>
              </a:rPr>
              <a:t>AND</a:t>
            </a:r>
            <a:r>
              <a:rPr lang="en-US" sz="1100" b="1" dirty="0">
                <a:latin typeface="Consolas" panose="020B0609020204030204" pitchFamily="49" charset="0"/>
              </a:rPr>
              <a:t> id </a:t>
            </a:r>
            <a:r>
              <a:rPr lang="en-US" sz="1100" b="1" dirty="0">
                <a:solidFill>
                  <a:schemeClr val="accent6"/>
                </a:solidFill>
                <a:latin typeface="Consolas" panose="020B0609020204030204" pitchFamily="49" charset="0"/>
              </a:rPr>
              <a:t>IN</a:t>
            </a:r>
            <a:r>
              <a:rPr lang="en-US" sz="1100" b="1" dirty="0">
                <a:latin typeface="Consolas" panose="020B0609020204030204" pitchFamily="49" charset="0"/>
              </a:rPr>
              <a:t> </a:t>
            </a:r>
            <a:r>
              <a:rPr lang="en-US" sz="1100" b="1" dirty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en-US" sz="1100" b="1" dirty="0">
                <a:solidFill>
                  <a:schemeClr val="accent6"/>
                </a:solidFill>
                <a:latin typeface="Consolas" panose="020B0609020204030204" pitchFamily="49" charset="0"/>
              </a:rPr>
              <a:t>SELECT</a:t>
            </a:r>
            <a:r>
              <a:rPr lang="en-US" sz="1100" b="1" dirty="0">
                <a:latin typeface="Consolas" panose="020B0609020204030204" pitchFamily="49" charset="0"/>
              </a:rPr>
              <a:t> </a:t>
            </a:r>
            <a:r>
              <a:rPr lang="en-US" sz="1100" b="1" dirty="0" err="1">
                <a:latin typeface="Consolas" panose="020B0609020204030204" pitchFamily="49" charset="0"/>
              </a:rPr>
              <a:t>objectID</a:t>
            </a:r>
            <a:r>
              <a:rPr lang="en-US" sz="1100" b="1" dirty="0">
                <a:latin typeface="Consolas" panose="020B0609020204030204" pitchFamily="49" charset="0"/>
              </a:rPr>
              <a:t> </a:t>
            </a:r>
            <a:r>
              <a:rPr lang="en-US" sz="1100" b="1" dirty="0">
                <a:solidFill>
                  <a:schemeClr val="accent6"/>
                </a:solidFill>
                <a:latin typeface="Consolas" panose="020B0609020204030204" pitchFamily="49" charset="0"/>
              </a:rPr>
              <a:t>FROM</a:t>
            </a:r>
            <a:r>
              <a:rPr lang="en-US" sz="1100" b="1" dirty="0">
                <a:latin typeface="Consolas" panose="020B0609020204030204" pitchFamily="49" charset="0"/>
              </a:rPr>
              <a:t> permissions </a:t>
            </a:r>
            <a:r>
              <a:rPr lang="en-US" sz="1100" b="1" dirty="0">
                <a:solidFill>
                  <a:schemeClr val="accent6"/>
                </a:solidFill>
                <a:latin typeface="Consolas" panose="020B0609020204030204" pitchFamily="49" charset="0"/>
              </a:rPr>
              <a:t>WHERE</a:t>
            </a:r>
            <a:r>
              <a:rPr lang="en-US" sz="1100" b="1" dirty="0">
                <a:latin typeface="Consolas" panose="020B0609020204030204" pitchFamily="49" charset="0"/>
              </a:rPr>
              <a:t> </a:t>
            </a:r>
            <a:r>
              <a:rPr lang="en-US" sz="1100" b="1" dirty="0" err="1">
                <a:latin typeface="Consolas" panose="020B0609020204030204" pitchFamily="49" charset="0"/>
              </a:rPr>
              <a:t>userId</a:t>
            </a:r>
            <a:r>
              <a:rPr lang="en-US" sz="1100" b="1" dirty="0">
                <a:latin typeface="Consolas" panose="020B0609020204030204" pitchFamily="49" charset="0"/>
              </a:rPr>
              <a:t> = 34568</a:t>
            </a:r>
            <a:r>
              <a:rPr lang="en-US" sz="1100" b="1" dirty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88339973"/>
      </p:ext>
    </p:extLst>
  </p:cSld>
  <p:clrMapOvr>
    <a:masterClrMapping/>
  </p:clrMapOvr>
</p:sld>
</file>

<file path=ppt/theme/theme1.xml><?xml version="1.0" encoding="utf-8"?>
<a:theme xmlns:a="http://schemas.openxmlformats.org/drawingml/2006/main" name="NSU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SU">
      <a:majorFont>
        <a:latin typeface="Acrom Bold"/>
        <a:ea typeface=""/>
        <a:cs typeface=""/>
      </a:majorFont>
      <a:minorFont>
        <a:latin typeface="Acro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SU Captio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SU">
      <a:majorFont>
        <a:latin typeface="Acrom Bold"/>
        <a:ea typeface=""/>
        <a:cs typeface=""/>
      </a:majorFont>
      <a:minorFont>
        <a:latin typeface="Acro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17950</TotalTime>
  <Words>1360</Words>
  <Application>Microsoft Office PowerPoint</Application>
  <PresentationFormat>On-screen Show (16:9)</PresentationFormat>
  <Paragraphs>144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Acrom Bold</vt:lpstr>
      <vt:lpstr>Wingdings 2</vt:lpstr>
      <vt:lpstr>var(--ff-mono)</vt:lpstr>
      <vt:lpstr>Acrom ExtraBold</vt:lpstr>
      <vt:lpstr>Consolas</vt:lpstr>
      <vt:lpstr>Arial</vt:lpstr>
      <vt:lpstr>Calibri</vt:lpstr>
      <vt:lpstr>Acrom</vt:lpstr>
      <vt:lpstr>NSU Content</vt:lpstr>
      <vt:lpstr>NSU Captions</vt:lpstr>
      <vt:lpstr>БАЗЫ ДАННЫХ</vt:lpstr>
      <vt:lpstr>Обработка данных</vt:lpstr>
      <vt:lpstr>Пример: Перевод Денег. Попытка 1: Хранимая процедура</vt:lpstr>
      <vt:lpstr>Пример: Перевод Денег. Попытка 2: JDBC</vt:lpstr>
      <vt:lpstr>Пример: Перевод Денег. Попытка 3: ORM (Hibernate)</vt:lpstr>
      <vt:lpstr>Пример: Перевод Денег. Попытка 4: Улучшенный ORM</vt:lpstr>
      <vt:lpstr>Пример: Перевод Денег. “Улучшенный“ ORM глазами РСУБД</vt:lpstr>
      <vt:lpstr>Ограничения номинативной типизации: Проекции</vt:lpstr>
      <vt:lpstr>Современные подходы к ORM</vt:lpstr>
      <vt:lpstr>Преимущества типобезопасного порождения SQL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Master</dc:creator>
  <cp:lastModifiedBy>Anton Zlygostev</cp:lastModifiedBy>
  <cp:revision>866</cp:revision>
  <dcterms:created xsi:type="dcterms:W3CDTF">2016-08-15T04:55:12Z</dcterms:created>
  <dcterms:modified xsi:type="dcterms:W3CDTF">2024-12-05T02:00:57Z</dcterms:modified>
</cp:coreProperties>
</file>