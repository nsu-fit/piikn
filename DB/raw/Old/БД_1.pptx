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41" r:id="rId1"/>
  </p:sldMasterIdLst>
  <p:notesMasterIdLst>
    <p:notesMasterId r:id="rId42"/>
  </p:notesMasterIdLst>
  <p:handoutMasterIdLst>
    <p:handoutMasterId r:id="rId43"/>
  </p:handoutMasterIdLst>
  <p:sldIdLst>
    <p:sldId id="308" r:id="rId2"/>
    <p:sldId id="282" r:id="rId3"/>
    <p:sldId id="257" r:id="rId4"/>
    <p:sldId id="318" r:id="rId5"/>
    <p:sldId id="258" r:id="rId6"/>
    <p:sldId id="311" r:id="rId7"/>
    <p:sldId id="316" r:id="rId8"/>
    <p:sldId id="315" r:id="rId9"/>
    <p:sldId id="285" r:id="rId10"/>
    <p:sldId id="309" r:id="rId11"/>
    <p:sldId id="310" r:id="rId12"/>
    <p:sldId id="259" r:id="rId13"/>
    <p:sldId id="290" r:id="rId14"/>
    <p:sldId id="289" r:id="rId15"/>
    <p:sldId id="288" r:id="rId16"/>
    <p:sldId id="313" r:id="rId17"/>
    <p:sldId id="291" r:id="rId18"/>
    <p:sldId id="292" r:id="rId19"/>
    <p:sldId id="293" r:id="rId20"/>
    <p:sldId id="294" r:id="rId21"/>
    <p:sldId id="286" r:id="rId22"/>
    <p:sldId id="317" r:id="rId23"/>
    <p:sldId id="261" r:id="rId24"/>
    <p:sldId id="295" r:id="rId25"/>
    <p:sldId id="278" r:id="rId26"/>
    <p:sldId id="297" r:id="rId27"/>
    <p:sldId id="314" r:id="rId28"/>
    <p:sldId id="296" r:id="rId29"/>
    <p:sldId id="298" r:id="rId30"/>
    <p:sldId id="299" r:id="rId31"/>
    <p:sldId id="281" r:id="rId32"/>
    <p:sldId id="260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09" autoAdjust="0"/>
    <p:restoredTop sz="69167" autoAdjust="0"/>
  </p:normalViewPr>
  <p:slideViewPr>
    <p:cSldViewPr>
      <p:cViewPr varScale="1">
        <p:scale>
          <a:sx n="105" d="100"/>
          <a:sy n="105" d="100"/>
        </p:scale>
        <p:origin x="-46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56" d="100"/>
          <a:sy n="56" d="100"/>
        </p:scale>
        <p:origin x="-2082" y="-78"/>
      </p:cViewPr>
      <p:guideLst>
        <p:guide orient="horz" pos="2880"/>
        <p:guide pos="2160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D56A5-BF30-4575-8268-1E7415F5A578}" type="datetimeFigureOut">
              <a:rPr lang="ru-RU" smtClean="0"/>
              <a:pPr/>
              <a:t>04.09.2019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0264B-36AD-4700-B107-39076BF15A1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5186789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C12CE-EDA9-4C82-B887-284CE92CAA76}" type="datetimeFigureOut">
              <a:rPr lang="ru-RU" smtClean="0"/>
              <a:pPr/>
              <a:t>04.09.2019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2AFFB-E5BA-42D3-9EB5-6BB6BD9519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893729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ru.wikipedia.org/wiki/%D0%9F%D1%80%D0%B5%D0%B4%D0%BC%D0%B5%D1%82%D0%BD%D0%B0%D1%8F_%D0%BE%D0%B1%D0%BB%D0%B0%D1%81%D1%82%D1%8C" TargetMode="External"/><Relationship Id="rId3" Type="http://schemas.openxmlformats.org/officeDocument/2006/relationships/hyperlink" Target="http://ru.wikipedia.org/wiki/%D0%A1%D1%83%D0%B1%D1%8A%D0%B5%D0%BA%D1%82_(%D1%84%D0%B8%D0%BB%D0%BE%D1%81%D0%BE%D1%84%D0%B8%D1%8F)" TargetMode="External"/><Relationship Id="rId7" Type="http://schemas.openxmlformats.org/officeDocument/2006/relationships/hyperlink" Target="http://ru.wikipedia.org/wiki/%D0%94%D0%B0%D0%BD%D0%BD%D1%8B%D0%B5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ru.wikipedia.org/wiki/%D0%9C%D0%BE%D0%BD%D0%BE%D0%B3%D1%80%D0%B0%D1%84%D0%B8%D1%8F" TargetMode="External"/><Relationship Id="rId5" Type="http://schemas.openxmlformats.org/officeDocument/2006/relationships/hyperlink" Target="http://ru.wikipedia.org/wiki/%D0%91%D0%B0%D0%B7%D0%B0_%D0%B4%D0%B0%D0%BD%D0%BD%D1%8B%D1%85" TargetMode="External"/><Relationship Id="rId10" Type="http://schemas.openxmlformats.org/officeDocument/2006/relationships/hyperlink" Target="http://www.morepc.ru/informatisation/iso2381-1.html" TargetMode="External"/><Relationship Id="rId4" Type="http://schemas.openxmlformats.org/officeDocument/2006/relationships/hyperlink" Target="http://ru.wikipedia.org/wiki/%D0%A1%D1%82%D0%B0%D0%BD%D0%B4%D0%B0%D1%80%D1%82" TargetMode="External"/><Relationship Id="rId9" Type="http://schemas.openxmlformats.org/officeDocument/2006/relationships/hyperlink" Target="http://ru.wikipedia.org/wiki/%D0%9F%D0%BE%D1%82%D1%80%D0%B5%D0%B1%D0%BD%D0%BE%D1%81%D1%82%D1%8C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8%D0%BD%D1%84%D0%BE%D1%80%D0%BC%D0%B0%D1%82%D0%B8%D0%BA%D0%B0" TargetMode="External"/><Relationship Id="rId7" Type="http://schemas.openxmlformats.org/officeDocument/2006/relationships/hyperlink" Target="http://ru.wikipedia.org/wiki/%D0%9D%D0%B0%D0%B1%D0%BB%D1%8E%D0%B4%D0%B5%D0%BD%D0%B8%D0%B5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ru.wikipedia.org/wiki/%D0%94%D0%B0%D0%BD%D0%BD%D1%8B%D0%B5" TargetMode="External"/><Relationship Id="rId5" Type="http://schemas.openxmlformats.org/officeDocument/2006/relationships/hyperlink" Target="http://ru.wikipedia.org/wiki/%D0%9D%D0%BE%D1%81%D0%B8%D1%82%D0%B5%D0%BB%D1%8C_%D0%B8%D0%BD%D1%84%D0%BE%D1%80%D0%BC%D0%B0%D1%86%D0%B8%D0%B8" TargetMode="External"/><Relationship Id="rId4" Type="http://schemas.openxmlformats.org/officeDocument/2006/relationships/hyperlink" Target="http://ru.wikipedia.org/wiki/%D0%98%D0%BD%D1%84%D0%BE%D1%80%D0%BC%D0%B0%D1%86%D0%B8%D1%8F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ebcitation.org/67iJDiuHA" TargetMode="External"/><Relationship Id="rId13" Type="http://schemas.openxmlformats.org/officeDocument/2006/relationships/hyperlink" Target="http://ru.wikipedia.org/w/index.php?title=POET&amp;action=edit&amp;redlink=1" TargetMode="External"/><Relationship Id="rId18" Type="http://schemas.openxmlformats.org/officeDocument/2006/relationships/hyperlink" Target="http://www.sofwareag.com/" TargetMode="External"/><Relationship Id="rId26" Type="http://schemas.openxmlformats.org/officeDocument/2006/relationships/hyperlink" Target="http://ru.wikipedia.org/wiki/%D0%A1%D0%A3%D0%91%D0%94" TargetMode="External"/><Relationship Id="rId3" Type="http://schemas.openxmlformats.org/officeDocument/2006/relationships/hyperlink" Target="http://ru.wikipedia.org/wiki/%D0%94%D0%B0%D0%BD%D0%BD%D1%8B%D0%B5" TargetMode="External"/><Relationship Id="rId21" Type="http://schemas.openxmlformats.org/officeDocument/2006/relationships/hyperlink" Target="http://www.osp.ru/dbms/1995/02/source/adabas.htm" TargetMode="External"/><Relationship Id="rId7" Type="http://schemas.openxmlformats.org/officeDocument/2006/relationships/hyperlink" Target="http://inteltec.ru/publish/articles/objtech/objcond.shtml" TargetMode="External"/><Relationship Id="rId12" Type="http://schemas.openxmlformats.org/officeDocument/2006/relationships/hyperlink" Target="http://ru.wikipedia.org/w/index.php?title=Versant&amp;action=edit&amp;redlink=1" TargetMode="External"/><Relationship Id="rId17" Type="http://schemas.openxmlformats.org/officeDocument/2006/relationships/hyperlink" Target="http://ru.wikipedia.org/w/index.php?title=ObjectStore_PSE&amp;action=edit&amp;redlink=1" TargetMode="External"/><Relationship Id="rId25" Type="http://schemas.openxmlformats.org/officeDocument/2006/relationships/hyperlink" Target="http://www.osp.ru/pcworld/1997/03/source/69.htm" TargetMode="External"/><Relationship Id="rId2" Type="http://schemas.openxmlformats.org/officeDocument/2006/relationships/slide" Target="../slides/slide36.xml"/><Relationship Id="rId16" Type="http://schemas.openxmlformats.org/officeDocument/2006/relationships/hyperlink" Target="http://ru.wikipedia.org/wiki/Visual_Basic" TargetMode="External"/><Relationship Id="rId20" Type="http://schemas.openxmlformats.org/officeDocument/2006/relationships/hyperlink" Target="http://www.vmark.com/" TargetMode="External"/><Relationship Id="rId29" Type="http://schemas.openxmlformats.org/officeDocument/2006/relationships/hyperlink" Target="http://ru.wikipedia.org/wiki/%D0%A0%D0%B5%D0%BB%D1%8F%D1%86%D0%B8%D0%BE%D0%BD%D0%BD%D0%B0%D1%8F_%D0%BC%D0%BE%D0%B4%D0%B5%D0%BB%D1%8C_%D0%B4%D0%B0%D0%BD%D0%BD%D1%8B%D1%85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ru.wikipedia.org/w/index.php?title=%D0%9E%D0%B1%D1%8A%D0%B5%D0%BA%D1%82%D0%BD%D1%8B%D0%B5_%D0%B1%D0%B0%D0%B7%D1%8B_%D0%B4%D0%B0%D0%BD%D0%BD%D1%8B%D1%85&amp;action=edit&amp;section=1" TargetMode="External"/><Relationship Id="rId11" Type="http://schemas.openxmlformats.org/officeDocument/2006/relationships/hyperlink" Target="http://ru.wikipedia.org/w/index.php?title=Jasmine&amp;action=edit&amp;redlink=1" TargetMode="External"/><Relationship Id="rId24" Type="http://schemas.openxmlformats.org/officeDocument/2006/relationships/hyperlink" Target="http://www.osp.ru/dbms/1996/03/source/66.htm" TargetMode="External"/><Relationship Id="rId32" Type="http://schemas.openxmlformats.org/officeDocument/2006/relationships/hyperlink" Target="http://ru.wikipedia.org/wiki/MUMPS" TargetMode="External"/><Relationship Id="rId5" Type="http://schemas.openxmlformats.org/officeDocument/2006/relationships/hyperlink" Target="http://ru.wikipedia.org/w/index.php?title=%D0%9E%D0%B1%D1%8A%D0%B5%D0%BA%D1%82%D0%BD%D1%8B%D0%B5_%D0%B1%D0%B0%D0%B7%D1%8B_%D0%B4%D0%B0%D0%BD%D0%BD%D1%8B%D1%85&amp;veaction=edit&amp;section=1" TargetMode="External"/><Relationship Id="rId15" Type="http://schemas.openxmlformats.org/officeDocument/2006/relationships/hyperlink" Target="http://ru.wikipedia.org/wiki/Java" TargetMode="External"/><Relationship Id="rId23" Type="http://schemas.openxmlformats.org/officeDocument/2006/relationships/hyperlink" Target="http://www.osp.ru/dbms/1995/02/source/universe.htm" TargetMode="External"/><Relationship Id="rId28" Type="http://schemas.openxmlformats.org/officeDocument/2006/relationships/hyperlink" Target="http://ru.wikipedia.org/wiki/%D0%9E%D0%B1%D1%8A%D0%B5%D0%BA%D1%82%D0%BD%D0%BE-%D0%BE%D1%80%D0%B8%D0%B5%D0%BD%D1%82%D0%B8%D1%80%D0%BE%D0%B2%D0%B0%D0%BD%D0%BD%D0%B0%D1%8F_%D0%A1%D0%A3%D0%91%D0%94" TargetMode="External"/><Relationship Id="rId10" Type="http://schemas.openxmlformats.org/officeDocument/2006/relationships/hyperlink" Target="http://ru.wikipedia.org/w/index.php?title=%D0%9E%D0%B1%D1%8A%D0%B5%D0%BA%D1%82%D0%BD%D1%8B%D0%B5_%D0%B1%D0%B0%D0%B7%D1%8B_%D0%B4%D0%B0%D0%BD%D0%BD%D1%8B%D1%85&amp;action=edit&amp;section=2" TargetMode="External"/><Relationship Id="rId19" Type="http://schemas.openxmlformats.org/officeDocument/2006/relationships/hyperlink" Target="http://www.picksys.com/" TargetMode="External"/><Relationship Id="rId31" Type="http://schemas.openxmlformats.org/officeDocument/2006/relationships/hyperlink" Target="http://en.wikipedia.org/wiki/InterSystems" TargetMode="External"/><Relationship Id="rId4" Type="http://schemas.openxmlformats.org/officeDocument/2006/relationships/hyperlink" Target="http://ru.wikipedia.org/wiki/%D0%91%D0%B0%D0%B7%D0%B0_%D0%B4%D0%B0%D0%BD%D0%BD%D1%8B%D1%85" TargetMode="External"/><Relationship Id="rId9" Type="http://schemas.openxmlformats.org/officeDocument/2006/relationships/hyperlink" Target="http://ru.wikipedia.org/w/index.php?title=%D0%9E%D0%B1%D1%8A%D0%B5%D0%BA%D1%82%D0%BD%D1%8B%D0%B5_%D0%B1%D0%B0%D0%B7%D1%8B_%D0%B4%D0%B0%D0%BD%D0%BD%D1%8B%D1%85&amp;veaction=edit&amp;section=2" TargetMode="External"/><Relationship Id="rId14" Type="http://schemas.openxmlformats.org/officeDocument/2006/relationships/hyperlink" Target="http://ru.wikipedia.org/wiki/C++" TargetMode="External"/><Relationship Id="rId22" Type="http://schemas.openxmlformats.org/officeDocument/2006/relationships/hyperlink" Target="http://www.osp.ru/dbms/1997/02/source/36.htm" TargetMode="External"/><Relationship Id="rId27" Type="http://schemas.openxmlformats.org/officeDocument/2006/relationships/hyperlink" Target="http://ru.wikipedia.org/wiki/%D0%92%D0%B5%D0%B1-%D0%BF%D1%80%D0%B8%D0%BB%D0%BE%D0%B6%D0%B5%D0%BD%D0%B8%D0%B5" TargetMode="External"/><Relationship Id="rId30" Type="http://schemas.openxmlformats.org/officeDocument/2006/relationships/hyperlink" Target="http://ru.wikipedia.org/w/index.php?title=InterSystems&amp;action=edit&amp;redlink=1" TargetMode="Externa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52685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будем использовать некоторые базовые понятия: база данных, данные, предметная область, СУБД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36375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литературе предлагается множество определений понятия «база данных», отражающих скорее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Субъект (философия)"/>
              </a:rPr>
              <a:t>субъективное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мнение тех или иных авторов, однако общепризнанная единая формулировка отсутствует.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Определения из международных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Стандарт"/>
              </a:rPr>
              <a:t>стандартов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совокупность данных, хранимых в соответствии со схемой данных, манипулирование которыми выполняют в соответствии с правилами средств моделирования данных.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[1]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совокупность данных, организованных в соответствии с концептуальной структурой, описывающей характеристики этих данных и взаимоотношения между ними, причём такое собрание данных, которое поддерживает одну или более областей применения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[2]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Определения из авторитетных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Монография"/>
              </a:rPr>
              <a:t>монографий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организованная в соответствии с определёнными правилами и поддерживаемая в памяти компьютера совокупность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Данные"/>
              </a:rPr>
              <a:t>данных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характеризующая актуальное состояние некоторой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Предметная область"/>
              </a:rPr>
              <a:t>предметной области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используемая для удовлетворения информационных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Потребность"/>
              </a:rPr>
              <a:t>потребностей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пользователей.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[3]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некоторый набор перманентных (постоянно хранимых) данных, используемых прикладными программными системами какого-либо предприятия.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[4]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совместно используемый набор логически связанных данных (и описание этих данных), предназначенный для удовлетворения информационных потребностей организации.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[5]</a:t>
            </a:r>
            <a:endParaRPr lang="ru-RU" sz="1200" b="0" i="0" u="none" strike="noStrike" kern="1200" baseline="300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===============================================================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1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1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1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2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ГОСТ Р ИСО МЭК ТО 10032-2007: Эталонная модель управления данными (идентичен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ISO/IEC TR 10032:2003 Information technology — Reference model of data management)</a:t>
            </a:r>
          </a:p>
          <a:p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/>
              </a:rPr>
              <a:t>ISO/IEC 2382-1:1993. Information technology — Vocabulary — Part 1: Fundamental terms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1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1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1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2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Когаловский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М. Р., 2002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4.</a:t>
            </a:r>
            <a:r>
              <a:rPr lang="ru-RU" sz="1200" b="0" i="0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Дейт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К. Дж., 2005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5.↑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Коннолли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Т.,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Бегг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К., 2003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36375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Информатика"/>
              </a:rPr>
              <a:t>информатике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данные — это результат фиксации, отображения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Информация"/>
              </a:rPr>
              <a:t>информации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каком-либо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Носитель информации"/>
              </a:rPr>
              <a:t>материальном носителе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есть зарегистрированное на носителе представление сведений независимо от того, дошли ли эти сведения до какого-нибудь приёмника и интересуют ли они его.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[1]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 — это и текст книги или письма, и картина художника, и ДНК.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Данные, являющиеся результатом фиксации некоторой информации, сами могут выступать как источник информации. Данные, извлекаемые из информации, могут подвергаться обработке, и результаты обработки фиксируются в виде новых данных.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могут рассматриваться как записанные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Наблюдение"/>
              </a:rPr>
              <a:t>наблюдения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которые не используются, а пока хранятся.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Информация, отображаемая данными, может быть непонятна приемнику (шифрованный текст, текст на неизвестном языке и пр.).</a:t>
            </a:r>
          </a:p>
          <a:p>
            <a:endParaRPr lang="ru-RU" dirty="0" smtClean="0"/>
          </a:p>
          <a:p>
            <a:r>
              <a:rPr lang="ru-RU" dirty="0" smtClean="0"/>
              <a:t>СУБД - 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36375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37513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636285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636285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800571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118108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14009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14009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91774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91774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742179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74217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742179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Объектные базы данных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модель работы с объектными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Данные"/>
              </a:rPr>
              <a:t>данными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Такая модель баз данных, несмотря на то, что она существует уже много лет, считается новой. И её создание открывает большие перспективы, в связи с тем, что использование объектной модели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База данных"/>
              </a:rPr>
              <a:t>баз данных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легко воспринимается пользователем, так как создается высокий уровень абстракции…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Объектная модель идеально подходит для трактовки такого рода объектных данных[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Редактировать раздел «Объектная модель идеально подходит для трактовки такого рода объектных данных»"/>
              </a:rPr>
              <a:t>править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|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Редактировать раздел «Объектная модель идеально подходит для трактовки такого рода объектных данных»"/>
              </a:rPr>
              <a:t>править исходный текст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Изображение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Музыка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Видео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разного вида текст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Современные объектные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базы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Источник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Проверено 4 октября 2011.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Архивировано из первоисточника 17 мая 2012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.[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Редактировать раздел «Современные объектные базыИсточник. Проверено 4 октября 2011. Архивировано из первоисточника 17 мая 2012.»"/>
              </a:rPr>
              <a:t>править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|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Редактировать раздел «Современные объектные базыИсточник. Проверено 4 октября 2011. Архивировано из первоисточника 17 мая 2012.»"/>
              </a:rPr>
              <a:t>править исходный текст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Jasmine (страница отсутствует)"/>
              </a:rPr>
              <a:t>Jasmine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(компания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Одна из известнейших объектных баз</a:t>
            </a:r>
          </a:p>
          <a:p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Versant (страница отсутствует)"/>
              </a:rPr>
              <a:t>Versant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(разработка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Versant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Technologies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использовалась в основном для разработки телекоммуникаций</a:t>
            </a:r>
          </a:p>
          <a:p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POET (страница отсутствует)"/>
              </a:rPr>
              <a:t>POET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(компания POET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компактная объектная база данных. Которая поддерживает программные интерфейсы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4" tooltip="C++"/>
              </a:rPr>
              <a:t>C++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5" tooltip="Java"/>
              </a:rPr>
              <a:t>Java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6" tooltip="Visual Basic"/>
              </a:rPr>
              <a:t>Visual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6" tooltip="Visual Basic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6" tooltip="Visual Basic"/>
              </a:rPr>
              <a:t>Basic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7" tooltip="ObjectStore PSE (страница отсутствует)"/>
              </a:rPr>
              <a:t>ObjectStore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7" tooltip="ObjectStore PSE (страница отсутствует)"/>
              </a:rPr>
              <a:t> PSE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(разработка компании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ObjectDesign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Модули объектов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5" tooltip="Java"/>
              </a:rPr>
              <a:t>Java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Постреляционная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 представляет собой расширенную реляционную модель, в которой отменено требование атомарности атрибутов. Поэтому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постреляционную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называют "не первой нормальной формой" (NF2) или "многомерной базой данных". Она использует трехмерные структуры, позволяя хранить в полях таблицы другие таблицы. Тем самым расширяются возможности по описанию сложных объектов реального мира. В качестве языка запросов используется несколько расширенный SQL, позволяющий извлекать сложные объекты из одной таблицы без операций соединения.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Существует несколько коммерческих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постреляционных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СУБД, более подробные сведения о них можно получить на веб-серверах фирм-производителей. Пожалуй, самыми известными из них являются системы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8"/>
              </a:rPr>
              <a:t>Adabas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9"/>
              </a:rPr>
              <a:t>Pick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0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Литература: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1"/>
              </a:rPr>
              <a:t>Т.В. Грачева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1"/>
              </a:rPr>
              <a:t>ADABAS -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1"/>
              </a:rPr>
              <a:t>основа технологий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1"/>
              </a:rPr>
              <a:t>SOFTWARE AG.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1"/>
              </a:rPr>
              <a:t>СУБД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1"/>
              </a:rPr>
              <a:t>N 2 1995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2"/>
              </a:rPr>
              <a:t>Л.Л. Винокуров, Д.В. Леонтьев, А.Ф.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2"/>
              </a:rPr>
              <a:t>Гершельман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2"/>
              </a:rPr>
              <a:t> СУБД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2"/>
              </a:rPr>
              <a:t>ADABAS -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2"/>
              </a:rPr>
              <a:t>основа универсального сервера баз данных. СУБД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2"/>
              </a:rPr>
              <a:t>N2, 1997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3"/>
              </a:rPr>
              <a:t>Т.Г. Лаврентьева, И.Г.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3"/>
              </a:rPr>
              <a:t>Шабаев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3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3"/>
              </a:rPr>
              <a:t>UNIVERSE -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3"/>
              </a:rPr>
              <a:t>Развитие реляционных стандартов. СУБД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3"/>
              </a:rPr>
              <a:t>N 2 1995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4"/>
              </a:rPr>
              <a:t>Е.К. Ким, И.Г.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4"/>
              </a:rPr>
              <a:t>Шабаев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4"/>
              </a:rPr>
              <a:t>, В.А. Бычков Проектирование трехмерных баз данных в СУБД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4"/>
              </a:rPr>
              <a:t>uniVerse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4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4"/>
              </a:rPr>
              <a:t>СУБД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4"/>
              </a:rPr>
              <a:t>N 3 1996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5"/>
              </a:rPr>
              <a:t>Д.Рамодин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5"/>
              </a:rPr>
              <a:t> Многомерный мир базы данных. Мир ПК,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5"/>
              </a:rPr>
              <a:t>N 3, 1997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Caché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Кашэ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промышленная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6" tooltip="СУБД"/>
              </a:rPr>
              <a:t>СУБД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интегрированная с технологией разработки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7" tooltip="Веб-приложение"/>
              </a:rPr>
              <a:t>веб-приложений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Единая архитектура данных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Caché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позволяет разработчикам использовать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8" tooltip="Объектно-ориентированная СУБД"/>
              </a:rPr>
              <a:t>объектный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9" tooltip="Реляционная модель данных"/>
              </a:rPr>
              <a:t>реляционный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прямой доступ к одним и тем же данным, хранение которых обеспечивается ориентированным на транзакции многомерным ядром СУБД. Разработчик — компания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0" tooltip="InterSystems (страница отсутствует)"/>
              </a:rPr>
              <a:t>InterSystems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1" tooltip="en:InterSystem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Caché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существует встроенный язык программирования COS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Caché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основанный на языке программирования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2" tooltip="MUMPS"/>
              </a:rPr>
              <a:t>MUMPS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74217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742179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742179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742179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2AFFB-E5BA-42D3-9EB5-6BB6BD951930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74217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521E6-6163-496B-B53E-1AB0DE0B8E0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9A64B-8E7D-4EAF-ADFE-26E7E9AF7B1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6AAB53-1223-48F3-918F-097F75A2129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B7D60-7E4A-4B16-936B-A47008E7046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61608-ABD5-4241-832B-DA83000618B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613F14-3A6E-4411-A537-7C01DE10C33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E5057-C62E-4A63-88DA-CE13C3EA69D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6F925-F507-4025-A108-12E6510EBF5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D1A781-A666-40F5-B859-41C35A0A8C5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F41A9-8E25-4B35-9ED4-623E653972C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r>
              <a:rPr lang="ru-RU" noProof="0" smtClean="0"/>
              <a:t>Вставка таблицы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737E2-ECF6-4750-A118-4025939CEDE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4B2737E2-ECF6-4750-A118-4025939CEDE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2" r:id="rId1"/>
    <p:sldLayoutId id="2147484143" r:id="rId2"/>
    <p:sldLayoutId id="2147484144" r:id="rId3"/>
    <p:sldLayoutId id="2147484145" r:id="rId4"/>
    <p:sldLayoutId id="2147484146" r:id="rId5"/>
    <p:sldLayoutId id="2147484147" r:id="rId6"/>
    <p:sldLayoutId id="2147484148" r:id="rId7"/>
    <p:sldLayoutId id="2147484149" r:id="rId8"/>
    <p:sldLayoutId id="2147484150" r:id="rId9"/>
    <p:sldLayoutId id="2147484151" r:id="rId10"/>
    <p:sldLayoutId id="2147484152" r:id="rId11"/>
    <p:sldLayoutId id="2147484153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biblioclub.ru/index.php?page=main_ub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sp.ru/os/archive/" TargetMode="External"/><Relationship Id="rId2" Type="http://schemas.openxmlformats.org/officeDocument/2006/relationships/hyperlink" Target="http://citforum.ru/database/advanced_intro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1%D0%B0%D0%B7%D0%B0_%D0%B4%D0%B0%D0%BD%D0%BD%D1%8B%D1%8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Базы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Пищик Борис Николаевич</a:t>
            </a:r>
            <a:endParaRPr lang="en-US" dirty="0">
              <a:solidFill>
                <a:schemeClr val="bg2"/>
              </a:solidFill>
            </a:endParaRP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en-US" sz="3200" dirty="0" smtClean="0">
                <a:solidFill>
                  <a:schemeClr val="bg2"/>
                </a:solidFill>
              </a:rPr>
              <a:t>b.pishchik@nsu.ru</a:t>
            </a:r>
            <a:endParaRPr lang="ru-RU" sz="3200" dirty="0">
              <a:solidFill>
                <a:schemeClr val="bg2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97867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6675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smtClean="0"/>
              <a:t>Введение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8630" y="1052736"/>
            <a:ext cx="8712968" cy="5616624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Структура курса, литература</a:t>
            </a:r>
          </a:p>
          <a:p>
            <a:r>
              <a:rPr lang="ru-RU" sz="2800" dirty="0" smtClean="0"/>
              <a:t>Базы данных в современном мире</a:t>
            </a:r>
          </a:p>
          <a:p>
            <a:r>
              <a:rPr lang="ru-RU" sz="2800" dirty="0" smtClean="0"/>
              <a:t>Базовые определения</a:t>
            </a:r>
          </a:p>
          <a:p>
            <a:r>
              <a:rPr lang="ru-RU" sz="2800" dirty="0" smtClean="0"/>
              <a:t>Типовые функции СУБД</a:t>
            </a:r>
          </a:p>
          <a:p>
            <a:r>
              <a:rPr lang="ru-RU" sz="2800" dirty="0" smtClean="0"/>
              <a:t>Пример базы данных</a:t>
            </a:r>
          </a:p>
          <a:p>
            <a:r>
              <a:rPr lang="ru-RU" sz="2800" dirty="0" smtClean="0"/>
              <a:t>Основные свойства подхода баз данных</a:t>
            </a:r>
          </a:p>
          <a:p>
            <a:r>
              <a:rPr lang="ru-RU" sz="2800" dirty="0" smtClean="0"/>
              <a:t>Пользователи баз данных</a:t>
            </a:r>
          </a:p>
          <a:p>
            <a:r>
              <a:rPr lang="ru-RU" sz="2800" dirty="0" smtClean="0"/>
              <a:t>Преимущества подхода баз данных</a:t>
            </a:r>
          </a:p>
          <a:p>
            <a:r>
              <a:rPr lang="ru-RU" sz="2800" dirty="0" smtClean="0"/>
              <a:t>Когда базы данных не нужно использовать</a:t>
            </a: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>
              <a:defRPr/>
            </a:pPr>
            <a:fld id="{EC81DC93-3EA9-4CDA-BBF1-B2CF1316C53F}" type="slidenum">
              <a:rPr lang="ru-RU" b="0" smtClean="0"/>
              <a:pPr algn="r">
                <a:defRPr/>
              </a:pPr>
              <a:t>2</a:t>
            </a:fld>
            <a:endParaRPr lang="ru-RU" b="0" dirty="0"/>
          </a:p>
        </p:txBody>
      </p:sp>
    </p:spTree>
    <p:extLst>
      <p:ext uri="{BB962C8B-B14F-4D97-AF65-F5344CB8AC3E}">
        <p14:creationId xmlns="" xmlns:p14="http://schemas.microsoft.com/office/powerpoint/2010/main" val="3805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6535" y="188640"/>
            <a:ext cx="8229600" cy="811213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ru-RU" sz="3600" dirty="0" smtClean="0"/>
              <a:t>Темы курса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31540" y="1088740"/>
            <a:ext cx="8337612" cy="5220580"/>
          </a:xfrm>
        </p:spPr>
        <p:txBody>
          <a:bodyPr/>
          <a:lstStyle/>
          <a:p>
            <a:pPr eaLnBrk="1" hangingPunct="1"/>
            <a:r>
              <a:rPr lang="ru-RU" sz="2800" dirty="0" smtClean="0"/>
              <a:t>Теория баз данных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Иерархическая, сетевая модели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Реляционная модель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Объектная модель</a:t>
            </a:r>
          </a:p>
          <a:p>
            <a:pPr eaLnBrk="1" hangingPunct="1"/>
            <a:r>
              <a:rPr lang="ru-RU" sz="2800" dirty="0" smtClean="0"/>
              <a:t>Системное программирование баз данных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Структуры хранения данных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Средства обеспечения целостности, безопасности</a:t>
            </a:r>
          </a:p>
          <a:p>
            <a:pPr eaLnBrk="1" hangingPunct="1"/>
            <a:r>
              <a:rPr lang="ru-RU" sz="2800" dirty="0" smtClean="0"/>
              <a:t>Прикладное программирование с базами данных</a:t>
            </a:r>
          </a:p>
          <a:p>
            <a:pPr eaLnBrk="1" hangingPunct="1"/>
            <a:r>
              <a:rPr lang="ru-RU" sz="2800" dirty="0" smtClean="0"/>
              <a:t>Администрирование баз данных</a:t>
            </a:r>
          </a:p>
          <a:p>
            <a:pPr marL="1828800" lvl="4" indent="0" eaLnBrk="1" hangingPunct="1">
              <a:buNone/>
            </a:pPr>
            <a:endParaRPr lang="ru-RU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>
              <a:defRPr/>
            </a:pPr>
            <a:fld id="{EC81DC93-3EA9-4CDA-BBF1-B2CF1316C53F}" type="slidenum">
              <a:rPr lang="ru-RU" smtClean="0"/>
              <a:pPr algn="r">
                <a:defRPr/>
              </a:pPr>
              <a:t>3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76545" y="53625"/>
            <a:ext cx="8229600" cy="630070"/>
          </a:xfrm>
        </p:spPr>
        <p:txBody>
          <a:bodyPr>
            <a:normAutofit fontScale="90000"/>
          </a:bodyPr>
          <a:lstStyle/>
          <a:p>
            <a:pPr marL="0" indent="0" algn="ctr" eaLnBrk="1" hangingPunct="1">
              <a:buNone/>
            </a:pPr>
            <a:r>
              <a:rPr lang="ru-RU" sz="3600" dirty="0" smtClean="0"/>
              <a:t>Структура курса и аттестация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296524" y="638690"/>
            <a:ext cx="8685965" cy="607567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sz="2600" b="1" dirty="0" smtClean="0"/>
              <a:t>Лекции</a:t>
            </a:r>
            <a:r>
              <a:rPr lang="ru-RU" sz="2400" dirty="0" smtClean="0"/>
              <a:t>				Экзамен </a:t>
            </a:r>
            <a:r>
              <a:rPr lang="en-US" sz="2400" dirty="0" smtClean="0"/>
              <a:t>(</a:t>
            </a:r>
            <a:r>
              <a:rPr lang="ru-RU" sz="2400" dirty="0" smtClean="0"/>
              <a:t>весна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"/>
            </a:pPr>
            <a:r>
              <a:rPr lang="ru-RU" sz="2400" dirty="0" smtClean="0"/>
              <a:t>1 семестр - 3 теста (100) во время контрольных недель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"/>
            </a:pPr>
            <a:r>
              <a:rPr lang="ru-RU" sz="2400" dirty="0" smtClean="0"/>
              <a:t>2 семестр - 3 теста (100) во время контрольных недель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"/>
            </a:pPr>
            <a:r>
              <a:rPr lang="ru-RU" sz="2400" dirty="0" smtClean="0"/>
              <a:t>На тестах можно пользоваться </a:t>
            </a:r>
            <a:r>
              <a:rPr lang="ru-RU" sz="2400" b="1" u="sng" dirty="0" smtClean="0"/>
              <a:t>только</a:t>
            </a:r>
            <a:r>
              <a:rPr lang="ru-RU" sz="2400" u="sng" dirty="0" smtClean="0"/>
              <a:t> </a:t>
            </a:r>
            <a:r>
              <a:rPr lang="ru-RU" sz="2400" b="1" u="sng" dirty="0" smtClean="0"/>
              <a:t>собственными записями на бумажных носителях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"/>
            </a:pPr>
            <a:r>
              <a:rPr lang="ru-RU" sz="2400" dirty="0" smtClean="0"/>
              <a:t>Общая сумма баллов по тестам + оценка за семинары – рекомендуемая оценка к экзамену.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ru-RU" sz="2600" b="1" dirty="0" smtClean="0"/>
              <a:t>Практика</a:t>
            </a:r>
            <a:r>
              <a:rPr lang="ru-RU" sz="2400" dirty="0" smtClean="0"/>
              <a:t>				</a:t>
            </a:r>
            <a:r>
              <a:rPr lang="ru-RU" sz="2400" dirty="0" err="1" smtClean="0"/>
              <a:t>Диф</a:t>
            </a:r>
            <a:r>
              <a:rPr lang="ru-RU" sz="2400" dirty="0" smtClean="0"/>
              <a:t>.</a:t>
            </a:r>
            <a:r>
              <a:rPr lang="en-US" sz="2400" dirty="0" smtClean="0"/>
              <a:t> </a:t>
            </a:r>
            <a:r>
              <a:rPr lang="ru-RU" sz="2400" dirty="0" smtClean="0"/>
              <a:t>зачет</a:t>
            </a:r>
            <a:r>
              <a:rPr lang="en-US" sz="2400" dirty="0" smtClean="0"/>
              <a:t> (</a:t>
            </a:r>
            <a:r>
              <a:rPr lang="ru-RU" sz="2400" dirty="0" smtClean="0"/>
              <a:t>зима</a:t>
            </a:r>
            <a:r>
              <a:rPr lang="en-US" sz="2400" dirty="0" smtClean="0"/>
              <a:t>)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					Допуск</a:t>
            </a:r>
            <a:r>
              <a:rPr lang="en-US" sz="2400" dirty="0" smtClean="0"/>
              <a:t> (</a:t>
            </a:r>
            <a:r>
              <a:rPr lang="ru-RU" sz="2400" dirty="0" smtClean="0"/>
              <a:t>весна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pPr>
              <a:lnSpc>
                <a:spcPct val="120000"/>
              </a:lnSpc>
              <a:buNone/>
            </a:pPr>
            <a:r>
              <a:rPr lang="ru-RU" sz="2400" i="1" dirty="0" smtClean="0"/>
              <a:t>Локальные БД (сентябрь-декабрь). 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"/>
            </a:pPr>
            <a:r>
              <a:rPr lang="ru-RU" sz="2400" dirty="0" smtClean="0"/>
              <a:t>Задание на </a:t>
            </a:r>
            <a:r>
              <a:rPr lang="en-US" sz="2400" dirty="0" smtClean="0"/>
              <a:t>MS Access</a:t>
            </a:r>
            <a:r>
              <a:rPr lang="ru-RU" sz="2400" dirty="0" smtClean="0"/>
              <a:t>,1 контрольная неделя</a:t>
            </a:r>
            <a:endParaRPr lang="en-US" sz="2400" dirty="0" smtClean="0"/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"/>
            </a:pPr>
            <a:r>
              <a:rPr lang="en-US" sz="2400" dirty="0" smtClean="0"/>
              <a:t>SQL </a:t>
            </a:r>
            <a:r>
              <a:rPr lang="ru-RU" sz="2400" dirty="0" smtClean="0"/>
              <a:t>тестирование, зачетная неделя</a:t>
            </a:r>
          </a:p>
          <a:p>
            <a:pPr>
              <a:lnSpc>
                <a:spcPct val="120000"/>
              </a:lnSpc>
              <a:buNone/>
            </a:pPr>
            <a:r>
              <a:rPr lang="ru-RU" sz="2400" i="1" dirty="0" smtClean="0"/>
              <a:t>Клиент-сервер (февраль-май). 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</a:pPr>
            <a:r>
              <a:rPr lang="ru-RU" sz="2400" dirty="0" smtClean="0"/>
              <a:t>Разработка структуры БД приложения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</a:pPr>
            <a:r>
              <a:rPr lang="ru-RU" sz="2400" dirty="0" smtClean="0"/>
              <a:t>Разработка приложения в архитектуре КЛИЕНТ-СЕРВЕР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>
              <a:defRPr/>
            </a:pPr>
            <a:fld id="{EC81DC93-3EA9-4CDA-BBF1-B2CF1316C53F}" type="slidenum">
              <a:rPr lang="ru-RU" smtClean="0"/>
              <a:pPr algn="r">
                <a:defRPr/>
              </a:pPr>
              <a:t>4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ru-RU" sz="3600" dirty="0" smtClean="0"/>
              <a:t>Основная литература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86535" y="1178751"/>
            <a:ext cx="8550949" cy="5535614"/>
          </a:xfrm>
        </p:spPr>
        <p:txBody>
          <a:bodyPr>
            <a:normAutofit/>
          </a:bodyPr>
          <a:lstStyle/>
          <a:p>
            <a:pPr lvl="0"/>
            <a:r>
              <a:rPr lang="ru-RU" sz="2800" dirty="0" smtClean="0"/>
              <a:t>Гущин А.Н. Базы данных: учебник. М.: </a:t>
            </a:r>
            <a:r>
              <a:rPr lang="ru-RU" sz="2800" dirty="0" err="1" smtClean="0"/>
              <a:t>Директ-Медиа</a:t>
            </a:r>
            <a:r>
              <a:rPr lang="ru-RU" sz="2800" dirty="0" smtClean="0"/>
              <a:t>. 2014, 266 с. ISBN: 978-5-4458-5147-9</a:t>
            </a:r>
            <a:endParaRPr lang="ru-RU" sz="2800" b="1" dirty="0" smtClean="0"/>
          </a:p>
          <a:p>
            <a:pPr lvl="0"/>
            <a:r>
              <a:rPr lang="ru-RU" sz="2800" dirty="0" err="1" smtClean="0"/>
              <a:t>Ревунков</a:t>
            </a:r>
            <a:r>
              <a:rPr lang="ru-RU" sz="2800" dirty="0" smtClean="0"/>
              <a:t> Г.И. Базы и банки данных. М.: МГТУ им. Н.Э. Баумана, 2011, 68 с.</a:t>
            </a:r>
            <a:endParaRPr lang="ru-RU" sz="2800" b="1" dirty="0" smtClean="0"/>
          </a:p>
          <a:p>
            <a:pPr lvl="0"/>
            <a:r>
              <a:rPr lang="ru-RU" sz="2800" dirty="0" err="1" smtClean="0"/>
              <a:t>Шнырев</a:t>
            </a:r>
            <a:r>
              <a:rPr lang="ru-RU" sz="2800" dirty="0" smtClean="0"/>
              <a:t> С.Л. Базы данных: учебное пособие. М.:МИФИ, 2111, 224 с.</a:t>
            </a:r>
            <a:endParaRPr lang="ru-RU" sz="2800" b="1" dirty="0" smtClean="0"/>
          </a:p>
          <a:p>
            <a:pPr>
              <a:buNone/>
            </a:pPr>
            <a:endParaRPr lang="ru-RU" sz="2800" b="1" dirty="0" smtClean="0"/>
          </a:p>
          <a:p>
            <a:r>
              <a:rPr lang="ru-RU" sz="2800" dirty="0" smtClean="0"/>
              <a:t>Литература доступна с сайта </a:t>
            </a:r>
            <a:r>
              <a:rPr lang="ru-RU" sz="2800" u="sng" dirty="0" smtClean="0">
                <a:hlinkClick r:id="rId2"/>
              </a:rPr>
              <a:t>http://biblioclub.ru/index.php?page=main_ub</a:t>
            </a:r>
            <a:r>
              <a:rPr lang="ru-RU" sz="2800" dirty="0" smtClean="0"/>
              <a:t> (</a:t>
            </a:r>
            <a:r>
              <a:rPr lang="ru-RU" sz="2800" dirty="0" smtClean="0">
                <a:hlinkClick r:id="rId2" tooltip="Университетская библиотека ONLINE"/>
              </a:rPr>
              <a:t>Университетская библиотека ONLINE</a:t>
            </a:r>
            <a:r>
              <a:rPr lang="ru-RU" sz="2800" dirty="0" smtClean="0"/>
              <a:t>) в электронном виде.</a:t>
            </a:r>
            <a:endParaRPr lang="ru-RU" sz="28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460432" y="6165305"/>
            <a:ext cx="460648" cy="360040"/>
          </a:xfrm>
        </p:spPr>
        <p:txBody>
          <a:bodyPr/>
          <a:lstStyle/>
          <a:p>
            <a:pPr algn="r">
              <a:defRPr/>
            </a:pPr>
            <a:fld id="{EC81DC93-3EA9-4CDA-BBF1-B2CF1316C53F}" type="slidenum">
              <a:rPr lang="ru-RU" smtClean="0"/>
              <a:pPr algn="r"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ru-RU" sz="3600" dirty="0" smtClean="0"/>
              <a:t>Дополнительная литература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40768"/>
            <a:ext cx="8424936" cy="5112568"/>
          </a:xfrm>
        </p:spPr>
        <p:txBody>
          <a:bodyPr>
            <a:normAutofit fontScale="92500" lnSpcReduction="20000"/>
          </a:bodyPr>
          <a:lstStyle/>
          <a:p>
            <a:pPr marL="609600" indent="-609600" eaLnBrk="1" hangingPunct="1"/>
            <a:r>
              <a:rPr lang="ru-RU" sz="2800" dirty="0" smtClean="0"/>
              <a:t>Г. Гарсия –Молина, Дж. Ульман, Дж. </a:t>
            </a:r>
            <a:r>
              <a:rPr lang="ru-RU" sz="2800" dirty="0" err="1" smtClean="0"/>
              <a:t>Уидом</a:t>
            </a:r>
            <a:r>
              <a:rPr lang="ru-RU" sz="2800" dirty="0" smtClean="0"/>
              <a:t>, Системы баз данных, М, С-П, Киев 2003г.</a:t>
            </a:r>
          </a:p>
          <a:p>
            <a:pPr marL="609600" indent="-609600" eaLnBrk="1" hangingPunct="1"/>
            <a:r>
              <a:rPr lang="ru-RU" sz="2800" dirty="0" smtClean="0"/>
              <a:t>Дж. Ульман, Основы систем баз данных, М., Финансы и статистика, 1983.</a:t>
            </a:r>
          </a:p>
          <a:p>
            <a:pPr marL="609600" indent="-609600" eaLnBrk="1" hangingPunct="1"/>
            <a:r>
              <a:rPr lang="ru-RU" sz="2800" dirty="0" smtClean="0"/>
              <a:t>К. Дж. </a:t>
            </a:r>
            <a:r>
              <a:rPr lang="ru-RU" sz="2800" dirty="0" err="1" smtClean="0"/>
              <a:t>Дейт</a:t>
            </a:r>
            <a:r>
              <a:rPr lang="ru-RU" sz="2800" dirty="0" smtClean="0"/>
              <a:t>, Введение в системы баз данных, восьмое издание, Москва-Санкт-Петербург-Киев, Изд. дом “Вильямс”, 2005.</a:t>
            </a:r>
          </a:p>
          <a:p>
            <a:pPr marL="609600" indent="-609600" eaLnBrk="1" hangingPunct="1"/>
            <a:r>
              <a:rPr lang="ru-RU" sz="2800" dirty="0" smtClean="0"/>
              <a:t>М. </a:t>
            </a:r>
            <a:r>
              <a:rPr lang="ru-RU" sz="2800" dirty="0" err="1" smtClean="0"/>
              <a:t>Грабер</a:t>
            </a:r>
            <a:r>
              <a:rPr lang="ru-RU" sz="2800" dirty="0" smtClean="0"/>
              <a:t>. SQL, M.: Лори, 2001.</a:t>
            </a:r>
          </a:p>
          <a:p>
            <a:pPr marL="609600" indent="-609600"/>
            <a:r>
              <a:rPr lang="ru-RU" sz="2800" dirty="0" smtClean="0"/>
              <a:t>С. Кузнецов Базы данных. Вводный курс</a:t>
            </a:r>
          </a:p>
          <a:p>
            <a:pPr marL="609600" indent="-609600">
              <a:buNone/>
            </a:pPr>
            <a:r>
              <a:rPr lang="ru-RU" sz="2800" dirty="0" smtClean="0"/>
              <a:t>	</a:t>
            </a:r>
            <a:r>
              <a:rPr lang="en-US" sz="2800" dirty="0" smtClean="0">
                <a:hlinkClick r:id="rId2"/>
              </a:rPr>
              <a:t>http://citforum.ru/database/advanced_intro/</a:t>
            </a:r>
            <a:r>
              <a:rPr lang="ru-RU" sz="2800" dirty="0" smtClean="0"/>
              <a:t> </a:t>
            </a:r>
          </a:p>
          <a:p>
            <a:pPr marL="609600" indent="-609600"/>
            <a:r>
              <a:rPr lang="ru-RU" sz="2800" dirty="0" smtClean="0"/>
              <a:t>Электронная версия журнала «Открытые системы» </a:t>
            </a:r>
            <a:r>
              <a:rPr lang="ru-RU" sz="2800" dirty="0" smtClean="0">
                <a:hlinkClick r:id="rId3"/>
              </a:rPr>
              <a:t>http://www.osp.ru/os/archive/</a:t>
            </a:r>
            <a:endParaRPr lang="ru-RU" sz="2800" dirty="0" smtClean="0"/>
          </a:p>
          <a:p>
            <a:pPr marL="609600" indent="-609600"/>
            <a:r>
              <a:rPr lang="ru-RU" sz="2800" dirty="0" smtClean="0">
                <a:solidFill>
                  <a:srgbClr val="000099"/>
                </a:solidFill>
              </a:rPr>
              <a:t>Доступ к электронным версиям </a:t>
            </a:r>
            <a:r>
              <a:rPr lang="en-US" sz="2800" dirty="0" smtClean="0"/>
              <a:t>https://yadi.sk/d/rluMyYuaoqG3z</a:t>
            </a:r>
            <a:endParaRPr lang="ru-RU" sz="2800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460432" y="6165305"/>
            <a:ext cx="460648" cy="360040"/>
          </a:xfrm>
        </p:spPr>
        <p:txBody>
          <a:bodyPr/>
          <a:lstStyle/>
          <a:p>
            <a:pPr algn="r">
              <a:defRPr/>
            </a:pPr>
            <a:fld id="{EC81DC93-3EA9-4CDA-BBF1-B2CF1316C53F}" type="slidenum">
              <a:rPr lang="ru-RU" smtClean="0"/>
              <a:pPr algn="r"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6675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 smtClean="0">
                <a:solidFill>
                  <a:schemeClr val="bg2"/>
                </a:solidFill>
              </a:rPr>
              <a:t>Приложения и структуры данных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44408" y="6165305"/>
            <a:ext cx="676672" cy="360040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  <p:sp>
        <p:nvSpPr>
          <p:cNvPr id="6" name="Объект 2"/>
          <p:cNvSpPr txBox="1">
            <a:spLocks/>
          </p:cNvSpPr>
          <p:nvPr/>
        </p:nvSpPr>
        <p:spPr bwMode="auto">
          <a:xfrm>
            <a:off x="251520" y="908720"/>
            <a:ext cx="8892480" cy="5580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Приложения, использующие слабо структурированную информацию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Вычислительные программы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Программы, реализующие сложные алгоритмы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Приложения, использующие структурированную текстовую и числовую информацию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Банковские системы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Системы управления предприятием (бухгалтерия, кадры, снабжение и т.п.)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Системы продажи билетов (</a:t>
            </a:r>
            <a:r>
              <a:rPr kumimoji="0" lang="ru-RU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жд</a:t>
            </a: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, авиа, авто и т.д.)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Информационные системы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Приложения, использующие различные типы информации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Системы автоматизации проектирования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Геоинформационные</a:t>
            </a: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 системы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Мультимедийные</a:t>
            </a: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 информационные системы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Системы реального времени (АСУТП, УС, ВС)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itchFamily="2" charset="2"/>
              <a:buChar char="v"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Хранилища данных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6945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6675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 smtClean="0">
                <a:solidFill>
                  <a:schemeClr val="bg2"/>
                </a:solidFill>
              </a:rPr>
              <a:t>Базы данных в современном мире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7" y="1124744"/>
            <a:ext cx="8703967" cy="545460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ru-RU" sz="2800" dirty="0" smtClean="0">
                <a:solidFill>
                  <a:srgbClr val="000099"/>
                </a:solidFill>
              </a:rPr>
              <a:t>Современные технологии баз данных – один из определяющих факторов успеха в любой отрасли деловой активности</a:t>
            </a: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ru-RU" sz="2800" dirty="0" smtClean="0">
                <a:solidFill>
                  <a:srgbClr val="000099"/>
                </a:solidFill>
              </a:rPr>
              <a:t>Технологии обеспечивают бизнес структурам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</a:pPr>
            <a:r>
              <a:rPr lang="ru-RU" sz="2400" dirty="0" smtClean="0">
                <a:solidFill>
                  <a:srgbClr val="000099"/>
                </a:solidFill>
              </a:rPr>
              <a:t>хранение корпоративной информации,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</a:pPr>
            <a:r>
              <a:rPr lang="ru-RU" sz="2400" dirty="0" smtClean="0">
                <a:solidFill>
                  <a:srgbClr val="000099"/>
                </a:solidFill>
              </a:rPr>
              <a:t>предоставление данных для пользователей и клиентов </a:t>
            </a:r>
            <a:r>
              <a:rPr lang="en-US" sz="2400" dirty="0" smtClean="0">
                <a:solidFill>
                  <a:srgbClr val="000099"/>
                </a:solidFill>
              </a:rPr>
              <a:t>WWW</a:t>
            </a:r>
            <a:r>
              <a:rPr lang="ru-RU" sz="2400" dirty="0" smtClean="0">
                <a:solidFill>
                  <a:srgbClr val="000099"/>
                </a:solidFill>
              </a:rPr>
              <a:t>,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</a:pPr>
            <a:r>
              <a:rPr lang="ru-RU" sz="2400" dirty="0" smtClean="0">
                <a:solidFill>
                  <a:srgbClr val="000099"/>
                </a:solidFill>
              </a:rPr>
              <a:t>поддержку многих корпоративных бизнес процессов</a:t>
            </a: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ru-RU" sz="2800" dirty="0" smtClean="0">
                <a:solidFill>
                  <a:srgbClr val="000099"/>
                </a:solidFill>
              </a:rPr>
              <a:t>Базы данных – основа многих научных проектов. Они позволяют накапливать информацию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800" dirty="0" smtClean="0"/>
              <a:t>По астрономии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800" dirty="0" smtClean="0"/>
              <a:t>По генотипу человека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800" dirty="0" smtClean="0"/>
              <a:t>По биохимии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800" dirty="0" smtClean="0"/>
              <a:t>И т.д.</a:t>
            </a:r>
          </a:p>
          <a:p>
            <a:pPr marL="342900" lvl="1" indent="-342900">
              <a:lnSpc>
                <a:spcPct val="120000"/>
              </a:lnSpc>
              <a:buClr>
                <a:srgbClr val="C00000"/>
              </a:buClr>
              <a:buSzPct val="75000"/>
              <a:buFont typeface="Wingdings" pitchFamily="2" charset="2"/>
              <a:buChar char="n"/>
            </a:pPr>
            <a:r>
              <a:rPr lang="ru-RU" sz="2900" dirty="0" smtClean="0">
                <a:solidFill>
                  <a:srgbClr val="000099"/>
                </a:solidFill>
                <a:ea typeface="+mn-ea"/>
              </a:rPr>
              <a:t>Так что такое базы данных и какие функции они выполняют ?</a:t>
            </a:r>
          </a:p>
          <a:p>
            <a:pPr>
              <a:lnSpc>
                <a:spcPct val="120000"/>
              </a:lnSpc>
              <a:buClr>
                <a:srgbClr val="C00000"/>
              </a:buClr>
            </a:pPr>
            <a:endParaRPr lang="ru-RU" dirty="0">
              <a:solidFill>
                <a:srgbClr val="000099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622450" y="6165304"/>
            <a:ext cx="298630" cy="414045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66945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6675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 smtClean="0">
                <a:solidFill>
                  <a:schemeClr val="bg2"/>
                </a:solidFill>
              </a:rPr>
              <a:t>Базовые определения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50900"/>
            <a:ext cx="8964488" cy="5746452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C00000"/>
              </a:buClr>
            </a:pPr>
            <a:r>
              <a:rPr lang="ru-RU" sz="2800" dirty="0" smtClean="0">
                <a:solidFill>
                  <a:srgbClr val="000099"/>
                </a:solidFill>
              </a:rPr>
              <a:t>База данных</a:t>
            </a:r>
          </a:p>
          <a:p>
            <a:pPr lvl="1"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600" dirty="0" smtClean="0"/>
              <a:t>Набор связанных данных</a:t>
            </a:r>
          </a:p>
          <a:p>
            <a:pPr>
              <a:buClr>
                <a:srgbClr val="C00000"/>
              </a:buClr>
            </a:pPr>
            <a:r>
              <a:rPr lang="ru-RU" sz="2800" dirty="0" smtClean="0">
                <a:solidFill>
                  <a:srgbClr val="000099"/>
                </a:solidFill>
              </a:rPr>
              <a:t>Данные</a:t>
            </a:r>
          </a:p>
          <a:p>
            <a:pPr lvl="1"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600" dirty="0" smtClean="0"/>
              <a:t>Представление фактов или идей в  формализованном виде, пригодном для обработки в некотором информационном процессе</a:t>
            </a:r>
          </a:p>
          <a:p>
            <a:pPr>
              <a:buClr>
                <a:srgbClr val="C00000"/>
              </a:buClr>
            </a:pPr>
            <a:r>
              <a:rPr lang="ru-RU" sz="2800" dirty="0" smtClean="0">
                <a:solidFill>
                  <a:srgbClr val="000099"/>
                </a:solidFill>
              </a:rPr>
              <a:t>Предметная область</a:t>
            </a:r>
            <a:endParaRPr lang="ru-RU" sz="2800" dirty="0">
              <a:solidFill>
                <a:srgbClr val="000099"/>
              </a:solidFill>
            </a:endParaRPr>
          </a:p>
          <a:p>
            <a:pPr lvl="1"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600" dirty="0"/>
              <a:t>Ч</a:t>
            </a:r>
            <a:r>
              <a:rPr lang="ru-RU" sz="2600" dirty="0" smtClean="0"/>
              <a:t>асть</a:t>
            </a:r>
            <a:r>
              <a:rPr lang="ru-RU" sz="2600" dirty="0"/>
              <a:t> реального </a:t>
            </a:r>
            <a:r>
              <a:rPr lang="ru-RU" sz="2600" dirty="0" smtClean="0"/>
              <a:t>мира, для которой создается информационная система</a:t>
            </a:r>
          </a:p>
          <a:p>
            <a:pPr>
              <a:buClr>
                <a:srgbClr val="C00000"/>
              </a:buClr>
            </a:pPr>
            <a:r>
              <a:rPr lang="ru-RU" sz="2800" dirty="0">
                <a:solidFill>
                  <a:srgbClr val="000099"/>
                </a:solidFill>
              </a:rPr>
              <a:t>Система управления базой </a:t>
            </a:r>
            <a:r>
              <a:rPr lang="ru-RU" sz="2800" dirty="0" smtClean="0">
                <a:solidFill>
                  <a:srgbClr val="000099"/>
                </a:solidFill>
              </a:rPr>
              <a:t>данных (СУБД-</a:t>
            </a:r>
            <a:r>
              <a:rPr lang="en-US" sz="2800" dirty="0" smtClean="0">
                <a:solidFill>
                  <a:schemeClr val="bg2"/>
                </a:solidFill>
              </a:rPr>
              <a:t>Database Management System</a:t>
            </a:r>
            <a:r>
              <a:rPr lang="ru-RU" sz="2800" dirty="0" smtClean="0">
                <a:solidFill>
                  <a:srgbClr val="000099"/>
                </a:solidFill>
              </a:rPr>
              <a:t>)</a:t>
            </a:r>
            <a:endParaRPr lang="ru-RU" sz="2800" dirty="0">
              <a:solidFill>
                <a:srgbClr val="000099"/>
              </a:solidFill>
            </a:endParaRPr>
          </a:p>
          <a:p>
            <a:pPr lvl="1"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600" dirty="0" smtClean="0"/>
              <a:t>Пакет программ, обеспечивающих средства создания и манипулирования базой данных на ЭВМ</a:t>
            </a:r>
          </a:p>
          <a:p>
            <a:pPr marL="342900" lvl="1" indent="-342900">
              <a:buClr>
                <a:srgbClr val="C00000"/>
              </a:buClr>
              <a:buSzPct val="75000"/>
              <a:buFont typeface="Wingdings" pitchFamily="2" charset="2"/>
              <a:buChar char="n"/>
            </a:pPr>
            <a:r>
              <a:rPr lang="ru-RU" dirty="0" smtClean="0">
                <a:solidFill>
                  <a:srgbClr val="000099"/>
                </a:solidFill>
                <a:ea typeface="+mn-ea"/>
              </a:rPr>
              <a:t>Система базы данных (</a:t>
            </a:r>
            <a:r>
              <a:rPr lang="en-US" dirty="0" smtClean="0">
                <a:solidFill>
                  <a:schemeClr val="bg2"/>
                </a:solidFill>
              </a:rPr>
              <a:t>Database System</a:t>
            </a:r>
            <a:r>
              <a:rPr lang="ru-RU" dirty="0" smtClean="0">
                <a:solidFill>
                  <a:srgbClr val="000099"/>
                </a:solidFill>
                <a:ea typeface="+mn-ea"/>
              </a:rPr>
              <a:t>)</a:t>
            </a:r>
          </a:p>
          <a:p>
            <a:pPr lvl="1"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600" dirty="0" smtClean="0"/>
              <a:t>Пакет программ СУБД вместе с данными. Иногда  в систему базы данных включают и приложения. </a:t>
            </a:r>
            <a:endParaRPr lang="ru-RU" dirty="0">
              <a:solidFill>
                <a:srgbClr val="000099"/>
              </a:solidFill>
              <a:ea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388424" y="6165305"/>
            <a:ext cx="532656" cy="360040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1610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39700"/>
            <a:ext cx="8229600" cy="6675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dirty="0" smtClean="0">
                <a:solidFill>
                  <a:schemeClr val="bg2"/>
                </a:solidFill>
              </a:rPr>
              <a:t>Определения термина «База данных»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717550"/>
            <a:ext cx="9144000" cy="614045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ru-RU" sz="3300" b="1" kern="1200" dirty="0" smtClean="0"/>
              <a:t>База данных</a:t>
            </a:r>
            <a:r>
              <a:rPr lang="ru-RU" sz="3300" kern="1200" dirty="0" smtClean="0"/>
              <a:t> — совокупность данных, хранимых в соответствии со схемой данных, манипулирование которыми выполняют в соответствии с правилами средств моделирования данных.</a:t>
            </a:r>
            <a:r>
              <a:rPr lang="ru-RU" sz="3300" kern="1200" baseline="30000" dirty="0" smtClean="0">
                <a:hlinkClick r:id="rId3"/>
              </a:rPr>
              <a:t>[1]</a:t>
            </a:r>
            <a:endParaRPr lang="ru-RU" sz="3300" kern="1200" dirty="0" smtClean="0"/>
          </a:p>
          <a:p>
            <a:pPr>
              <a:lnSpc>
                <a:spcPct val="120000"/>
              </a:lnSpc>
            </a:pPr>
            <a:r>
              <a:rPr lang="ru-RU" sz="3300" b="1" kern="1200" dirty="0" smtClean="0"/>
              <a:t>База данных</a:t>
            </a:r>
            <a:r>
              <a:rPr lang="ru-RU" sz="3300" kern="1200" dirty="0" smtClean="0"/>
              <a:t> — совокупность данных, организованных в соответствии с концептуальной структурой, описывающей характеристики этих данных и взаимоотношения между ними, причём такое собрание данных, которое поддерживает одну или более областей применения</a:t>
            </a:r>
            <a:r>
              <a:rPr lang="ru-RU" sz="3300" kern="1200" baseline="30000" dirty="0" smtClean="0">
                <a:hlinkClick r:id="rId3"/>
              </a:rPr>
              <a:t>[2]</a:t>
            </a:r>
            <a:r>
              <a:rPr lang="ru-RU" sz="3300" kern="1200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ru-RU" sz="3300" b="1" kern="1200" dirty="0" smtClean="0"/>
              <a:t>База данных</a:t>
            </a:r>
            <a:r>
              <a:rPr lang="ru-RU" sz="3300" kern="1200" dirty="0" smtClean="0"/>
              <a:t> — организованная в соответствии с определёнными правилами и поддерживаемая в памяти компьютера совокупность данных, характеризующая актуальное состояние некоторой предметной области и используемая для удовлетворения информационных потребностей пользователей.</a:t>
            </a:r>
            <a:r>
              <a:rPr lang="ru-RU" sz="3300" kern="1200" baseline="30000" dirty="0" smtClean="0">
                <a:hlinkClick r:id="rId3"/>
              </a:rPr>
              <a:t>[3]</a:t>
            </a:r>
            <a:endParaRPr lang="ru-RU" sz="3300" kern="1200" dirty="0" smtClean="0"/>
          </a:p>
          <a:p>
            <a:pPr>
              <a:lnSpc>
                <a:spcPct val="120000"/>
              </a:lnSpc>
            </a:pPr>
            <a:r>
              <a:rPr lang="ru-RU" sz="3300" b="1" kern="1200" dirty="0" smtClean="0"/>
              <a:t>База данных</a:t>
            </a:r>
            <a:r>
              <a:rPr lang="ru-RU" sz="3300" kern="1200" dirty="0" smtClean="0"/>
              <a:t> — некоторый набор перманентных (постоянно хранимых) данных, используемых прикладными программными системами какого-либо предприятия.</a:t>
            </a:r>
            <a:r>
              <a:rPr lang="ru-RU" sz="3300" kern="1200" baseline="30000" dirty="0" smtClean="0">
                <a:hlinkClick r:id="rId3"/>
              </a:rPr>
              <a:t>[4]</a:t>
            </a:r>
            <a:endParaRPr lang="ru-RU" sz="3300" kern="1200" dirty="0" smtClean="0"/>
          </a:p>
          <a:p>
            <a:pPr>
              <a:lnSpc>
                <a:spcPct val="120000"/>
              </a:lnSpc>
            </a:pPr>
            <a:r>
              <a:rPr lang="ru-RU" sz="3300" b="1" kern="1200" dirty="0" smtClean="0"/>
              <a:t>База данных</a:t>
            </a:r>
            <a:r>
              <a:rPr lang="ru-RU" sz="3300" kern="1200" dirty="0" smtClean="0"/>
              <a:t> — совместно используемый набор логически связанных данных (и описание этих данных), предназначенный для удовлетворения информационных потребностей организации</a:t>
            </a:r>
            <a:r>
              <a:rPr lang="ru-RU" sz="2800" kern="1200" dirty="0" smtClean="0"/>
              <a:t>.</a:t>
            </a:r>
            <a:r>
              <a:rPr lang="ru-RU" sz="2800" kern="1200" baseline="30000" dirty="0" smtClean="0">
                <a:hlinkClick r:id="rId3"/>
              </a:rPr>
              <a:t>[5]</a:t>
            </a:r>
            <a:endParaRPr lang="ru-RU" sz="2800" kern="1200" baseline="30000" dirty="0" smtClean="0"/>
          </a:p>
          <a:p>
            <a:pPr>
              <a:lnSpc>
                <a:spcPct val="120000"/>
              </a:lnSpc>
            </a:pPr>
            <a:r>
              <a:rPr lang="ru-RU" sz="2800" kern="1200" baseline="30000" dirty="0" smtClean="0"/>
              <a:t>===============================================================</a:t>
            </a:r>
            <a:endParaRPr lang="ru-RU" sz="2800" kern="12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800" kern="1200" dirty="0" smtClean="0"/>
              <a:t>1.  ГОСТ Р ИСО МЭК ТО 10032-2007: Эталонная модель управления данными (идентичен </a:t>
            </a:r>
            <a:r>
              <a:rPr lang="en-US" sz="2800" kern="1200" dirty="0" smtClean="0"/>
              <a:t>ISO/IEC TR 10032:2003 Information technology — Reference model of data management)</a:t>
            </a:r>
          </a:p>
          <a:p>
            <a:pPr>
              <a:lnSpc>
                <a:spcPct val="120000"/>
              </a:lnSpc>
            </a:pPr>
            <a:r>
              <a:rPr lang="ru-RU" sz="2800" kern="1200" dirty="0" smtClean="0"/>
              <a:t>2. </a:t>
            </a:r>
            <a:r>
              <a:rPr lang="en-US" sz="2800" kern="1200" dirty="0" smtClean="0"/>
              <a:t> ISO/IEC 2382-1:1993. Information technology — Vocabulary — Part 1: Fundamental terms</a:t>
            </a:r>
          </a:p>
          <a:p>
            <a:pPr>
              <a:lnSpc>
                <a:spcPct val="120000"/>
              </a:lnSpc>
            </a:pPr>
            <a:r>
              <a:rPr lang="ru-RU" sz="2800" kern="1200" dirty="0" smtClean="0"/>
              <a:t>3.</a:t>
            </a:r>
            <a:r>
              <a:rPr lang="en-US" sz="2800" kern="1200" dirty="0" smtClean="0"/>
              <a:t> </a:t>
            </a:r>
            <a:r>
              <a:rPr lang="ru-RU" sz="2500" kern="1200" dirty="0" err="1" smtClean="0"/>
              <a:t>Когаловский</a:t>
            </a:r>
            <a:r>
              <a:rPr lang="ru-RU" sz="2500" kern="1200" dirty="0" smtClean="0"/>
              <a:t> М. Р.,</a:t>
            </a:r>
            <a:r>
              <a:rPr lang="ru-RU" sz="2500" dirty="0" smtClean="0"/>
              <a:t> Энциклопедия технологий баз данных. — М.: Финансы и статистика, 2002. — 800 с.</a:t>
            </a:r>
            <a:endParaRPr lang="ru-RU" sz="2500" kern="1200" dirty="0" smtClean="0"/>
          </a:p>
          <a:p>
            <a:pPr>
              <a:lnSpc>
                <a:spcPct val="120000"/>
              </a:lnSpc>
            </a:pPr>
            <a:r>
              <a:rPr lang="ru-RU" sz="2800" kern="1200" dirty="0" smtClean="0"/>
              <a:t>4. </a:t>
            </a:r>
            <a:r>
              <a:rPr lang="ru-RU" sz="2500" kern="1200" dirty="0" err="1" smtClean="0"/>
              <a:t>Дейт</a:t>
            </a:r>
            <a:r>
              <a:rPr lang="ru-RU" sz="2500" kern="1200" dirty="0" smtClean="0"/>
              <a:t> К. Дж., Введение в системы баз данных </a:t>
            </a:r>
            <a:r>
              <a:rPr lang="en-US" sz="2500" kern="1200" dirty="0" smtClean="0"/>
              <a:t> — 8-</a:t>
            </a:r>
            <a:r>
              <a:rPr lang="ru-RU" sz="2500" kern="1200" dirty="0" smtClean="0"/>
              <a:t>е изд. — М.: Вильямс, 2005. — 1328 с.</a:t>
            </a:r>
            <a:endParaRPr lang="ru-RU" sz="2500" kern="1200" dirty="0" smtClean="0">
              <a:hlinkClick r:id="rId3"/>
            </a:endParaRPr>
          </a:p>
          <a:p>
            <a:pPr>
              <a:lnSpc>
                <a:spcPct val="120000"/>
              </a:lnSpc>
            </a:pPr>
            <a:r>
              <a:rPr lang="ru-RU" sz="2800" kern="1200" dirty="0" smtClean="0"/>
              <a:t>5. </a:t>
            </a:r>
            <a:r>
              <a:rPr lang="ru-RU" sz="2500" kern="1200" dirty="0" err="1" smtClean="0"/>
              <a:t>Коннолли</a:t>
            </a:r>
            <a:r>
              <a:rPr lang="ru-RU" sz="2500" kern="1200" dirty="0" smtClean="0"/>
              <a:t> Т., </a:t>
            </a:r>
            <a:r>
              <a:rPr lang="ru-RU" sz="2500" kern="1200" dirty="0" err="1" smtClean="0"/>
              <a:t>Бегг</a:t>
            </a:r>
            <a:r>
              <a:rPr lang="ru-RU" sz="2500" kern="1200" dirty="0" smtClean="0"/>
              <a:t> К., Базы данных. Проектирование, реализация и сопровождение. Теория и практика</a:t>
            </a:r>
            <a:r>
              <a:rPr lang="en-US" sz="2500" kern="1200" dirty="0" smtClean="0"/>
              <a:t>— 3-</a:t>
            </a:r>
            <a:r>
              <a:rPr lang="ru-RU" sz="2500" kern="1200" dirty="0" smtClean="0"/>
              <a:t>е изд. — М.: Вильямс, 2003. — 1436 с.</a:t>
            </a:r>
            <a:endParaRPr lang="ru-RU" sz="2500" kern="1200" dirty="0" smtClean="0">
              <a:hlinkClick r:id="rId3"/>
            </a:endParaRPr>
          </a:p>
          <a:p>
            <a:pPr>
              <a:lnSpc>
                <a:spcPct val="120000"/>
              </a:lnSpc>
            </a:pPr>
            <a:endParaRPr lang="ru-RU" sz="2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307415" y="6354325"/>
            <a:ext cx="532656" cy="360040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10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1610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82550"/>
            <a:ext cx="8229600" cy="6675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Базовые определения</a:t>
            </a:r>
            <a:r>
              <a:rPr lang="ru-RU" sz="2800" dirty="0" smtClean="0">
                <a:solidFill>
                  <a:schemeClr val="bg2"/>
                </a:solidFill>
              </a:rPr>
              <a:t>: данные и информация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413665"/>
            <a:ext cx="9144000" cy="65786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ru-RU" dirty="0" smtClean="0"/>
              <a:t>Термин </a:t>
            </a:r>
            <a:r>
              <a:rPr lang="ru-RU" b="1" dirty="0" smtClean="0">
                <a:solidFill>
                  <a:srgbClr val="FF0000"/>
                </a:solidFill>
              </a:rPr>
              <a:t>данные</a:t>
            </a:r>
            <a:r>
              <a:rPr lang="ru-RU" dirty="0" smtClean="0"/>
              <a:t> происходит от слова </a:t>
            </a:r>
            <a:r>
              <a:rPr lang="ru-RU" dirty="0" err="1" smtClean="0"/>
              <a:t>data</a:t>
            </a:r>
            <a:r>
              <a:rPr lang="ru-RU" dirty="0" smtClean="0"/>
              <a:t> - факт, а информация (</a:t>
            </a:r>
            <a:r>
              <a:rPr lang="ru-RU" dirty="0" err="1" smtClean="0"/>
              <a:t>informatio</a:t>
            </a:r>
            <a:r>
              <a:rPr lang="ru-RU" dirty="0" smtClean="0"/>
              <a:t>) означает разъяснение, изложение, т.е. сведения или сообщение.</a:t>
            </a: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ru-RU" b="1" dirty="0" smtClean="0"/>
              <a:t>Данные </a:t>
            </a:r>
            <a:r>
              <a:rPr lang="ru-RU" dirty="0" smtClean="0"/>
              <a:t>- это совокупность сведений, зафиксированных на определенном носителе в форме, пригодной для постоянного хранения, передачи и обработки. </a:t>
            </a:r>
            <a:r>
              <a:rPr lang="ru-RU" kern="1200" dirty="0" smtClean="0"/>
              <a:t>Данные — это и текст книги или письма, и картина художника, и ДНК. </a:t>
            </a:r>
            <a:r>
              <a:rPr lang="ru-RU" dirty="0" smtClean="0"/>
              <a:t>Преобразование и обработка данных позволяет получить информацию.</a:t>
            </a: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ru-RU" b="1" dirty="0" smtClean="0"/>
              <a:t>Информация</a:t>
            </a:r>
            <a:r>
              <a:rPr lang="ru-RU" dirty="0" smtClean="0"/>
              <a:t> - это результат преобразования и анализа данных.</a:t>
            </a: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ru-RU" dirty="0" smtClean="0"/>
              <a:t>Отличие информации от данных состоит в том, что 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</a:pPr>
            <a:r>
              <a:rPr lang="ru-RU" sz="3200" b="1" i="1" dirty="0" smtClean="0">
                <a:latin typeface="Times New Roman" pitchFamily="18" charset="0"/>
                <a:cs typeface="Times New Roman" pitchFamily="18" charset="0"/>
              </a:rPr>
              <a:t>данные - это фиксированные сведения о событиях и явлениях,</a:t>
            </a:r>
            <a:r>
              <a:rPr lang="ru-RU" dirty="0" smtClean="0"/>
              <a:t> которые хранятся на определенных носителях, 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</a:pPr>
            <a:r>
              <a:rPr lang="ru-RU" sz="3200" b="1" i="1" dirty="0" smtClean="0">
                <a:latin typeface="Times New Roman" pitchFamily="18" charset="0"/>
                <a:cs typeface="Times New Roman" pitchFamily="18" charset="0"/>
              </a:rPr>
              <a:t>информация появляется в результате обработки данных при решении конкретных задач.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Например, в базах данных хранятся различные данные, а по определенному запросу система управления базой данных выдает требуемую информацию.</a:t>
            </a: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ru-RU" dirty="0" smtClean="0">
                <a:cs typeface="Times New Roman" pitchFamily="18" charset="0"/>
              </a:rPr>
              <a:t>Существуют и другие определения информации, например, </a:t>
            </a:r>
            <a:r>
              <a:rPr lang="ru-RU" dirty="0" smtClean="0">
                <a:solidFill>
                  <a:srgbClr val="000099"/>
                </a:solidFill>
                <a:cs typeface="Times New Roman" pitchFamily="18" charset="0"/>
              </a:rPr>
              <a:t>информация </a:t>
            </a:r>
            <a:r>
              <a:rPr lang="ru-RU" dirty="0" smtClean="0">
                <a:cs typeface="Times New Roman" pitchFamily="18" charset="0"/>
              </a:rPr>
              <a:t>– это сведения об объектах и явлениях окружающей среды, их параметрах, свойствах и состоянии, которые </a:t>
            </a:r>
            <a:r>
              <a:rPr lang="ru-RU" i="1" dirty="0" smtClean="0">
                <a:solidFill>
                  <a:srgbClr val="000099"/>
                </a:solidFill>
                <a:cs typeface="Times New Roman" pitchFamily="18" charset="0"/>
              </a:rPr>
              <a:t>уменьшают имеющуюся о них степень неопределенности, неполноты</a:t>
            </a:r>
            <a:r>
              <a:rPr lang="ru-RU" dirty="0" smtClean="0">
                <a:cs typeface="Times New Roman" pitchFamily="18" charset="0"/>
              </a:rPr>
              <a:t> знаний.</a:t>
            </a:r>
            <a:endParaRPr lang="ru-RU" sz="3000" dirty="0"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388424" y="6165305"/>
            <a:ext cx="532656" cy="360040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1610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98630"/>
            <a:ext cx="8229600" cy="667544"/>
          </a:xfrm>
        </p:spPr>
        <p:txBody>
          <a:bodyPr>
            <a:normAutofit fontScale="90000"/>
          </a:bodyPr>
          <a:lstStyle/>
          <a:p>
            <a:pPr marL="0" indent="0" algn="ctr" eaLnBrk="1" hangingPunct="1">
              <a:buNone/>
            </a:pPr>
            <a:r>
              <a:rPr lang="ru-RU" sz="3600" dirty="0" smtClean="0">
                <a:solidFill>
                  <a:schemeClr val="bg2"/>
                </a:solidFill>
              </a:rPr>
              <a:t>Система управления базами данных(СУБД). Типовые функции</a:t>
            </a:r>
            <a:endParaRPr lang="ru-RU" sz="3600" dirty="0" smtClean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980728"/>
            <a:ext cx="8964488" cy="5877272"/>
          </a:xfrm>
        </p:spPr>
        <p:txBody>
          <a:bodyPr>
            <a:normAutofit/>
          </a:bodyPr>
          <a:lstStyle/>
          <a:p>
            <a:pPr eaLnBrk="1" hangingPunct="1">
              <a:buNone/>
            </a:pPr>
            <a:r>
              <a:rPr lang="ru-RU" sz="2800" b="1" dirty="0" smtClean="0">
                <a:solidFill>
                  <a:srgbClr val="7030A0"/>
                </a:solidFill>
              </a:rPr>
              <a:t>Мощь баз данных заключена в СУБД, которые реализуют следующие основные функции:</a:t>
            </a:r>
          </a:p>
          <a:p>
            <a:pPr eaLnBrk="1" hangingPunct="1"/>
            <a:r>
              <a:rPr lang="ru-RU" sz="2800" b="1" dirty="0" smtClean="0">
                <a:solidFill>
                  <a:srgbClr val="000099"/>
                </a:solidFill>
              </a:rPr>
              <a:t>Определение  конкретной базы данных: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>
                <a:solidFill>
                  <a:srgbClr val="000099"/>
                </a:solidFill>
              </a:rPr>
              <a:t>типов данных,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>
                <a:solidFill>
                  <a:srgbClr val="000099"/>
                </a:solidFill>
              </a:rPr>
              <a:t>структур данных,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>
                <a:solidFill>
                  <a:srgbClr val="000099"/>
                </a:solidFill>
              </a:rPr>
              <a:t>ограничений целостности</a:t>
            </a:r>
          </a:p>
          <a:p>
            <a:pPr eaLnBrk="1" hangingPunct="1"/>
            <a:r>
              <a:rPr lang="ru-RU" sz="2800" b="1" dirty="0" smtClean="0">
                <a:solidFill>
                  <a:srgbClr val="000099"/>
                </a:solidFill>
              </a:rPr>
              <a:t>Создание или Загрузка начального содержимого  базы данных </a:t>
            </a:r>
            <a:r>
              <a:rPr lang="ru-RU" sz="2800" dirty="0" smtClean="0">
                <a:solidFill>
                  <a:srgbClr val="000099"/>
                </a:solidFill>
              </a:rPr>
              <a:t>на внешних носителях</a:t>
            </a:r>
            <a:r>
              <a:rPr lang="ru-RU" sz="2800" dirty="0" smtClean="0"/>
              <a:t>.</a:t>
            </a:r>
          </a:p>
          <a:p>
            <a:pPr eaLnBrk="1" hangingPunct="1"/>
            <a:r>
              <a:rPr lang="ru-RU" sz="2800" b="1" dirty="0" smtClean="0">
                <a:solidFill>
                  <a:srgbClr val="000099"/>
                </a:solidFill>
              </a:rPr>
              <a:t>Манипулирование базой данных:</a:t>
            </a:r>
          </a:p>
          <a:p>
            <a:pPr lvl="1"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200" b="1" dirty="0" smtClean="0"/>
              <a:t>Извлечение данных</a:t>
            </a:r>
            <a:r>
              <a:rPr lang="ru-RU" sz="2200" b="1" i="1" dirty="0" smtClean="0"/>
              <a:t>: </a:t>
            </a:r>
            <a:r>
              <a:rPr lang="ru-RU" sz="2200" dirty="0" smtClean="0"/>
              <a:t>поиск по запросам, создание отчетов</a:t>
            </a:r>
          </a:p>
          <a:p>
            <a:pPr lvl="1"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2200" b="1" dirty="0" smtClean="0"/>
              <a:t>Модификация данных</a:t>
            </a:r>
            <a:r>
              <a:rPr lang="ru-RU" sz="2200" dirty="0" smtClean="0"/>
              <a:t>: вставка, удаление и обновление содержимого баз данных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028384" y="6165304"/>
            <a:ext cx="892696" cy="432048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12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88640"/>
            <a:ext cx="8229600" cy="667544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ru-RU" sz="3600" dirty="0" smtClean="0">
                <a:solidFill>
                  <a:schemeClr val="bg2"/>
                </a:solidFill>
              </a:rPr>
              <a:t>Типовые функции </a:t>
            </a:r>
            <a:r>
              <a:rPr lang="ru-RU" sz="3600" dirty="0" smtClean="0">
                <a:solidFill>
                  <a:schemeClr val="bg2"/>
                </a:solidFill>
              </a:rPr>
              <a:t>СУБД.</a:t>
            </a:r>
            <a:endParaRPr lang="ru-RU" sz="3600" dirty="0" smtClean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0" y="1295763"/>
            <a:ext cx="9144000" cy="5328592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rgbClr val="000099"/>
                </a:solidFill>
              </a:rPr>
              <a:t>Управление одновременным доступом к БД многих пользователей</a:t>
            </a:r>
            <a:endParaRPr lang="ru-RU" sz="2800" dirty="0" smtClean="0">
              <a:solidFill>
                <a:srgbClr val="000099"/>
              </a:solidFill>
            </a:endParaRPr>
          </a:p>
          <a:p>
            <a:r>
              <a:rPr lang="ru-RU" sz="2800" b="1" dirty="0" smtClean="0">
                <a:solidFill>
                  <a:schemeClr val="bg2"/>
                </a:solidFill>
              </a:rPr>
              <a:t>Управление внешней памятью</a:t>
            </a:r>
          </a:p>
          <a:p>
            <a:r>
              <a:rPr lang="ru-RU" sz="2800" b="1" dirty="0" smtClean="0">
                <a:solidFill>
                  <a:schemeClr val="bg2"/>
                </a:solidFill>
              </a:rPr>
              <a:t>Управление целостностью данных</a:t>
            </a:r>
          </a:p>
          <a:p>
            <a:pPr lvl="1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dirty="0" smtClean="0"/>
              <a:t>Физическая целостность</a:t>
            </a:r>
          </a:p>
          <a:p>
            <a:pPr lvl="1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dirty="0" smtClean="0"/>
              <a:t>Логическая целостность</a:t>
            </a:r>
          </a:p>
          <a:p>
            <a:r>
              <a:rPr lang="ru-RU" sz="2800" b="1" dirty="0" smtClean="0">
                <a:solidFill>
                  <a:schemeClr val="bg2"/>
                </a:solidFill>
              </a:rPr>
              <a:t>Управление защитой от несанкционированного доступа к базе данных</a:t>
            </a:r>
          </a:p>
          <a:p>
            <a:pPr marL="45720" indent="0" eaLnBrk="1" hangingPunct="1">
              <a:lnSpc>
                <a:spcPct val="150000"/>
              </a:lnSpc>
              <a:buNone/>
            </a:pPr>
            <a:endParaRPr lang="ru-RU" sz="2800" dirty="0" smtClean="0">
              <a:solidFill>
                <a:srgbClr val="000099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028384" y="6165305"/>
            <a:ext cx="892696" cy="360040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13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03675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8697913" cy="792163"/>
          </a:xfrm>
          <a:noFill/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ru-RU" sz="3600" dirty="0" smtClean="0">
                <a:solidFill>
                  <a:schemeClr val="bg2"/>
                </a:solidFill>
              </a:rPr>
              <a:t>Пример концептуальной модели БД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296525" y="1088740"/>
            <a:ext cx="8847475" cy="550861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SzPct val="100000"/>
              <a:buFont typeface="Wingdings" pitchFamily="2" charset="2"/>
              <a:buChar char="q"/>
            </a:pPr>
            <a:r>
              <a:rPr lang="ru-RU" sz="3900" b="1" dirty="0" smtClean="0">
                <a:solidFill>
                  <a:srgbClr val="7030A0"/>
                </a:solidFill>
              </a:rPr>
              <a:t> Предметная область</a:t>
            </a:r>
          </a:p>
          <a:p>
            <a:pPr lvl="1">
              <a:lnSpc>
                <a:spcPct val="9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3700" b="1" dirty="0" smtClean="0"/>
              <a:t> </a:t>
            </a:r>
            <a:r>
              <a:rPr lang="ru-RU" sz="3700" dirty="0" smtClean="0"/>
              <a:t>Часть </a:t>
            </a:r>
            <a:r>
              <a:rPr lang="ru-RU" sz="3700" dirty="0" err="1" smtClean="0"/>
              <a:t>УНИВЕРСИТЕТа</a:t>
            </a:r>
            <a:endParaRPr lang="ru-RU" sz="3700" dirty="0" smtClean="0"/>
          </a:p>
          <a:p>
            <a:pPr>
              <a:lnSpc>
                <a:spcPct val="90000"/>
              </a:lnSpc>
              <a:buSzPct val="100000"/>
              <a:buFont typeface="Wingdings" pitchFamily="2" charset="2"/>
              <a:buChar char="q"/>
            </a:pPr>
            <a:r>
              <a:rPr lang="ru-RU" sz="3900" b="1" dirty="0" smtClean="0">
                <a:solidFill>
                  <a:srgbClr val="7030A0"/>
                </a:solidFill>
              </a:rPr>
              <a:t> Некоторые сущности предметной области</a:t>
            </a:r>
            <a:endParaRPr lang="ru-RU" sz="3900" b="1" dirty="0">
              <a:solidFill>
                <a:srgbClr val="7030A0"/>
              </a:solidFill>
            </a:endParaRP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3600" dirty="0"/>
              <a:t>СТУДЕНТЫ</a:t>
            </a: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3600" dirty="0" smtClean="0"/>
              <a:t>КУРСЫ</a:t>
            </a: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3700" dirty="0" smtClean="0"/>
              <a:t>ПРЕПОДАВАТЕЛИ</a:t>
            </a: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3700" dirty="0" smtClean="0"/>
              <a:t>ФАКУЛЬТЕТЫ</a:t>
            </a:r>
          </a:p>
          <a:p>
            <a:pPr eaLnBrk="1" hangingPunct="1">
              <a:lnSpc>
                <a:spcPct val="90000"/>
              </a:lnSpc>
            </a:pPr>
            <a:endParaRPr lang="ru-RU" sz="3600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38689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8697913" cy="792163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>
                <a:solidFill>
                  <a:schemeClr val="bg2"/>
                </a:solidFill>
              </a:rPr>
              <a:t>Пример </a:t>
            </a:r>
            <a:r>
              <a:rPr lang="ru-RU" sz="3600" dirty="0" smtClean="0">
                <a:solidFill>
                  <a:schemeClr val="bg2"/>
                </a:solidFill>
              </a:rPr>
              <a:t>концептуальной модели БД 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998730"/>
            <a:ext cx="8964488" cy="5544616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SzPct val="80000"/>
              <a:buFont typeface="Wingdings" pitchFamily="2" charset="2"/>
              <a:buChar char="q"/>
            </a:pPr>
            <a:r>
              <a:rPr lang="ru-RU" sz="3900" b="1" dirty="0" smtClean="0">
                <a:solidFill>
                  <a:srgbClr val="7030A0"/>
                </a:solidFill>
              </a:rPr>
              <a:t> </a:t>
            </a:r>
            <a:r>
              <a:rPr lang="ru-RU" sz="3900" dirty="0" smtClean="0">
                <a:solidFill>
                  <a:srgbClr val="7030A0"/>
                </a:solidFill>
              </a:rPr>
              <a:t>Некоторые связи в предметной области</a:t>
            </a:r>
          </a:p>
          <a:p>
            <a:pPr lvl="1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3200" dirty="0" smtClean="0"/>
              <a:t>СТУДЕНТЫ изучают КУРСЫ</a:t>
            </a:r>
          </a:p>
          <a:p>
            <a:pPr lvl="1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3200" dirty="0" smtClean="0"/>
              <a:t>ПРЕПОДАВАТЕЛИ читают КУРСЫ</a:t>
            </a:r>
          </a:p>
          <a:p>
            <a:pPr lvl="1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3200" dirty="0" smtClean="0"/>
              <a:t>КУРСЫ имеют </a:t>
            </a:r>
            <a:r>
              <a:rPr lang="ru-RU" sz="3200" i="1" dirty="0" smtClean="0"/>
              <a:t>предварительные</a:t>
            </a:r>
            <a:r>
              <a:rPr lang="ru-RU" sz="3200" dirty="0" smtClean="0"/>
              <a:t> КУРСЫ</a:t>
            </a:r>
          </a:p>
          <a:p>
            <a:pPr lvl="1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3200" dirty="0"/>
              <a:t>КУРСЫ </a:t>
            </a:r>
            <a:r>
              <a:rPr lang="ru-RU" sz="3200" dirty="0" smtClean="0"/>
              <a:t>читаются на ФАКУЛЬТЕТАХ</a:t>
            </a:r>
          </a:p>
          <a:p>
            <a:pPr lvl="1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v"/>
            </a:pPr>
            <a:r>
              <a:rPr lang="ru-RU" sz="3200" dirty="0" smtClean="0"/>
              <a:t>СТУДЕНТЫ обучаются на </a:t>
            </a:r>
            <a:r>
              <a:rPr lang="ru-RU" sz="3600" dirty="0" smtClean="0"/>
              <a:t>ФАКУЛЬТЕТАХ</a:t>
            </a:r>
          </a:p>
          <a:p>
            <a:pPr marL="0" lvl="1" indent="0">
              <a:lnSpc>
                <a:spcPct val="110000"/>
              </a:lnSpc>
              <a:buClr>
                <a:schemeClr val="bg2"/>
              </a:buClr>
              <a:buSzPct val="80000"/>
              <a:buFont typeface="Wingdings" pitchFamily="2" charset="2"/>
              <a:buChar char="q"/>
            </a:pPr>
            <a:r>
              <a:rPr lang="ru-RU" sz="3900" b="1" dirty="0" smtClean="0">
                <a:solidFill>
                  <a:srgbClr val="7030A0"/>
                </a:solidFill>
              </a:rPr>
              <a:t> </a:t>
            </a:r>
            <a:r>
              <a:rPr lang="ru-RU" sz="3200" dirty="0" smtClean="0">
                <a:solidFill>
                  <a:srgbClr val="7030A0"/>
                </a:solidFill>
              </a:rPr>
              <a:t>Отношения </a:t>
            </a:r>
            <a:r>
              <a:rPr lang="en-US" sz="3200" dirty="0" smtClean="0">
                <a:solidFill>
                  <a:srgbClr val="7030A0"/>
                </a:solidFill>
              </a:rPr>
              <a:t> </a:t>
            </a:r>
            <a:r>
              <a:rPr lang="ru-RU" sz="3200" dirty="0" smtClean="0">
                <a:solidFill>
                  <a:srgbClr val="7030A0"/>
                </a:solidFill>
              </a:rPr>
              <a:t>проектируются в </a:t>
            </a:r>
            <a:r>
              <a:rPr lang="ru-RU" sz="3200" u="sng" dirty="0" smtClean="0">
                <a:solidFill>
                  <a:srgbClr val="7030A0"/>
                </a:solidFill>
              </a:rPr>
              <a:t>концептуальной</a:t>
            </a:r>
            <a:r>
              <a:rPr lang="ru-RU" sz="3200" dirty="0" smtClean="0">
                <a:solidFill>
                  <a:srgbClr val="7030A0"/>
                </a:solidFill>
              </a:rPr>
              <a:t> </a:t>
            </a:r>
            <a:r>
              <a:rPr lang="en-US" sz="3200" dirty="0" smtClean="0">
                <a:solidFill>
                  <a:srgbClr val="7030A0"/>
                </a:solidFill>
              </a:rPr>
              <a:t>ER-</a:t>
            </a:r>
            <a:r>
              <a:rPr lang="ru-RU" sz="3200" dirty="0" smtClean="0">
                <a:solidFill>
                  <a:srgbClr val="7030A0"/>
                </a:solidFill>
              </a:rPr>
              <a:t>модели</a:t>
            </a:r>
            <a:endParaRPr lang="ru-RU" sz="3200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7264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/>
          <p:cNvSpPr>
            <a:spLocks noGrp="1"/>
          </p:cNvSpPr>
          <p:nvPr>
            <p:ph type="title"/>
          </p:nvPr>
        </p:nvSpPr>
        <p:spPr>
          <a:xfrm>
            <a:off x="250825" y="179388"/>
            <a:ext cx="8607425" cy="657225"/>
          </a:xfrm>
        </p:spPr>
        <p:txBody>
          <a:bodyPr/>
          <a:lstStyle/>
          <a:p>
            <a:pPr algn="ctr" eaLnBrk="1" hangingPunct="1"/>
            <a:r>
              <a:rPr lang="ru-RU" sz="3200" dirty="0" smtClean="0"/>
              <a:t>Построение</a:t>
            </a:r>
            <a:r>
              <a:rPr lang="en-US" sz="3200" dirty="0" smtClean="0"/>
              <a:t> ER </a:t>
            </a:r>
            <a:r>
              <a:rPr lang="ru-RU" sz="3200" dirty="0" smtClean="0"/>
              <a:t>модели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1844675"/>
            <a:ext cx="2160588" cy="52322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dirty="0" smtClean="0"/>
              <a:t>студент</a:t>
            </a:r>
            <a:endParaRPr lang="ru-RU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971550" y="4365625"/>
            <a:ext cx="2160588" cy="52322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dirty="0" smtClean="0"/>
              <a:t>курс</a:t>
            </a:r>
            <a:endParaRPr lang="ru-RU" sz="2800" dirty="0"/>
          </a:p>
        </p:txBody>
      </p:sp>
      <p:sp>
        <p:nvSpPr>
          <p:cNvPr id="2" name="TextBox 3"/>
          <p:cNvSpPr txBox="1"/>
          <p:nvPr/>
        </p:nvSpPr>
        <p:spPr>
          <a:xfrm>
            <a:off x="5922150" y="2663914"/>
            <a:ext cx="2385265" cy="495055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2400" dirty="0" smtClean="0"/>
              <a:t>преподаватель</a:t>
            </a:r>
          </a:p>
        </p:txBody>
      </p:sp>
      <p:grpSp>
        <p:nvGrpSpPr>
          <p:cNvPr id="5" name="Группа 14"/>
          <p:cNvGrpSpPr>
            <a:grpSpLocks/>
          </p:cNvGrpSpPr>
          <p:nvPr/>
        </p:nvGrpSpPr>
        <p:grpSpPr bwMode="auto">
          <a:xfrm>
            <a:off x="1116013" y="2420938"/>
            <a:ext cx="1943100" cy="1944687"/>
            <a:chOff x="1116013" y="2420938"/>
            <a:chExt cx="1943100" cy="1944687"/>
          </a:xfrm>
        </p:grpSpPr>
        <p:sp>
          <p:nvSpPr>
            <p:cNvPr id="12350" name="Text Box 20"/>
            <p:cNvSpPr txBox="1">
              <a:spLocks noChangeArrowheads="1"/>
            </p:cNvSpPr>
            <p:nvPr/>
          </p:nvSpPr>
          <p:spPr bwMode="auto">
            <a:xfrm>
              <a:off x="1331913" y="3158970"/>
              <a:ext cx="152558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2000" b="1" dirty="0" smtClean="0">
                  <a:solidFill>
                    <a:srgbClr val="7030A0"/>
                  </a:solidFill>
                </a:rPr>
                <a:t>изучает</a:t>
              </a:r>
              <a:endParaRPr lang="ru-RU" sz="2000" b="1" dirty="0">
                <a:solidFill>
                  <a:srgbClr val="7030A0"/>
                </a:solidFill>
              </a:endParaRPr>
            </a:p>
          </p:txBody>
        </p:sp>
        <p:grpSp>
          <p:nvGrpSpPr>
            <p:cNvPr id="6" name="Группа 13"/>
            <p:cNvGrpSpPr>
              <a:grpSpLocks/>
            </p:cNvGrpSpPr>
            <p:nvPr/>
          </p:nvGrpSpPr>
          <p:grpSpPr bwMode="auto">
            <a:xfrm>
              <a:off x="1116013" y="2420938"/>
              <a:ext cx="1943100" cy="1944687"/>
              <a:chOff x="1116013" y="2420938"/>
              <a:chExt cx="1943100" cy="1944687"/>
            </a:xfrm>
          </p:grpSpPr>
          <p:sp>
            <p:nvSpPr>
              <p:cNvPr id="8" name="Ромб 7"/>
              <p:cNvSpPr/>
              <p:nvPr/>
            </p:nvSpPr>
            <p:spPr>
              <a:xfrm>
                <a:off x="1116013" y="2997200"/>
                <a:ext cx="1943100" cy="792163"/>
              </a:xfrm>
              <a:prstGeom prst="diamond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12353" name="Line 23"/>
              <p:cNvSpPr>
                <a:spLocks noChangeShapeType="1"/>
              </p:cNvSpPr>
              <p:nvPr/>
            </p:nvSpPr>
            <p:spPr bwMode="auto">
              <a:xfrm flipV="1">
                <a:off x="2051050" y="2420938"/>
                <a:ext cx="0" cy="5762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354" name="Line 24"/>
              <p:cNvSpPr>
                <a:spLocks noChangeShapeType="1"/>
              </p:cNvSpPr>
              <p:nvPr/>
            </p:nvSpPr>
            <p:spPr bwMode="auto">
              <a:xfrm flipH="1">
                <a:off x="2051050" y="3789363"/>
                <a:ext cx="0" cy="5762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355" name="Line 25"/>
              <p:cNvSpPr>
                <a:spLocks noChangeShapeType="1"/>
              </p:cNvSpPr>
              <p:nvPr/>
            </p:nvSpPr>
            <p:spPr bwMode="auto">
              <a:xfrm>
                <a:off x="2051050" y="3789363"/>
                <a:ext cx="0" cy="431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grpSp>
        <p:nvGrpSpPr>
          <p:cNvPr id="7" name="Группа 20"/>
          <p:cNvGrpSpPr>
            <a:grpSpLocks/>
          </p:cNvGrpSpPr>
          <p:nvPr/>
        </p:nvGrpSpPr>
        <p:grpSpPr bwMode="auto">
          <a:xfrm>
            <a:off x="3132138" y="3158969"/>
            <a:ext cx="5040262" cy="1827278"/>
            <a:chOff x="3132138" y="3158969"/>
            <a:chExt cx="5040262" cy="1827278"/>
          </a:xfrm>
        </p:grpSpPr>
        <p:sp>
          <p:nvSpPr>
            <p:cNvPr id="3" name="Ромб 7"/>
            <p:cNvSpPr/>
            <p:nvPr/>
          </p:nvSpPr>
          <p:spPr>
            <a:xfrm>
              <a:off x="6083250" y="4194085"/>
              <a:ext cx="2089150" cy="792162"/>
            </a:xfrm>
            <a:prstGeom prst="diamond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346" name="Text Box 21"/>
            <p:cNvSpPr txBox="1">
              <a:spLocks noChangeArrowheads="1"/>
            </p:cNvSpPr>
            <p:nvPr/>
          </p:nvSpPr>
          <p:spPr bwMode="auto">
            <a:xfrm>
              <a:off x="6417205" y="4374105"/>
              <a:ext cx="143986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2000" b="1" dirty="0" smtClean="0">
                  <a:solidFill>
                    <a:srgbClr val="C00000"/>
                  </a:solidFill>
                </a:rPr>
                <a:t>читает</a:t>
              </a:r>
              <a:endParaRPr lang="ru-RU" sz="2000" b="1" dirty="0">
                <a:solidFill>
                  <a:srgbClr val="C00000"/>
                </a:solidFill>
              </a:endParaRPr>
            </a:p>
          </p:txBody>
        </p:sp>
        <p:sp>
          <p:nvSpPr>
            <p:cNvPr id="12347" name="Line 24"/>
            <p:cNvSpPr>
              <a:spLocks noChangeShapeType="1"/>
            </p:cNvSpPr>
            <p:nvPr/>
          </p:nvSpPr>
          <p:spPr bwMode="auto">
            <a:xfrm flipH="1" flipV="1">
              <a:off x="3132138" y="4597400"/>
              <a:ext cx="3015037" cy="17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ru-RU"/>
            </a:p>
          </p:txBody>
        </p:sp>
        <p:cxnSp>
          <p:nvCxnSpPr>
            <p:cNvPr id="37" name="Прямая со стрелкой 36"/>
            <p:cNvCxnSpPr>
              <a:stCxn id="3" idx="0"/>
              <a:endCxn id="2" idx="2"/>
            </p:cNvCxnSpPr>
            <p:nvPr/>
          </p:nvCxnSpPr>
          <p:spPr>
            <a:xfrm flipH="1" flipV="1">
              <a:off x="7114783" y="3158969"/>
              <a:ext cx="13042" cy="10351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49" name="Line 24"/>
            <p:cNvSpPr>
              <a:spLocks noChangeShapeType="1"/>
            </p:cNvSpPr>
            <p:nvPr/>
          </p:nvSpPr>
          <p:spPr bwMode="auto">
            <a:xfrm flipH="1" flipV="1">
              <a:off x="3284538" y="4597400"/>
              <a:ext cx="2862637" cy="17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2" name="Группа 6"/>
          <p:cNvGrpSpPr>
            <a:grpSpLocks/>
          </p:cNvGrpSpPr>
          <p:nvPr/>
        </p:nvGrpSpPr>
        <p:grpSpPr bwMode="auto">
          <a:xfrm>
            <a:off x="251520" y="908720"/>
            <a:ext cx="1463119" cy="945105"/>
            <a:chOff x="500063" y="1000125"/>
            <a:chExt cx="1560807" cy="1043267"/>
          </a:xfrm>
        </p:grpSpPr>
        <p:sp>
          <p:nvSpPr>
            <p:cNvPr id="23" name="Скругленный прямоугольник 22"/>
            <p:cNvSpPr/>
            <p:nvPr/>
          </p:nvSpPr>
          <p:spPr>
            <a:xfrm>
              <a:off x="500063" y="1000125"/>
              <a:ext cx="1428750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333" name="TextBox 5"/>
            <p:cNvSpPr txBox="1">
              <a:spLocks noChangeArrowheads="1"/>
            </p:cNvSpPr>
            <p:nvPr/>
          </p:nvSpPr>
          <p:spPr bwMode="auto">
            <a:xfrm>
              <a:off x="524555" y="1099484"/>
              <a:ext cx="1536315" cy="407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dirty="0" smtClean="0"/>
                <a:t>ФИО</a:t>
              </a:r>
              <a:endParaRPr lang="ru-RU" dirty="0"/>
            </a:p>
          </p:txBody>
        </p:sp>
        <p:cxnSp>
          <p:nvCxnSpPr>
            <p:cNvPr id="93" name="Прямая соединительная линия 92"/>
            <p:cNvCxnSpPr>
              <a:stCxn id="23" idx="2"/>
            </p:cNvCxnSpPr>
            <p:nvPr/>
          </p:nvCxnSpPr>
          <p:spPr>
            <a:xfrm>
              <a:off x="1214438" y="1679575"/>
              <a:ext cx="485871" cy="3638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Группа 5"/>
          <p:cNvGrpSpPr>
            <a:grpSpLocks/>
          </p:cNvGrpSpPr>
          <p:nvPr/>
        </p:nvGrpSpPr>
        <p:grpSpPr bwMode="auto">
          <a:xfrm>
            <a:off x="1601670" y="908719"/>
            <a:ext cx="1800200" cy="935956"/>
            <a:chOff x="2496333" y="928688"/>
            <a:chExt cx="1582737" cy="952475"/>
          </a:xfrm>
        </p:grpSpPr>
        <p:sp>
          <p:nvSpPr>
            <p:cNvPr id="12329" name="TextBox 6"/>
            <p:cNvSpPr txBox="1">
              <a:spLocks noChangeArrowheads="1"/>
            </p:cNvSpPr>
            <p:nvPr/>
          </p:nvSpPr>
          <p:spPr bwMode="auto">
            <a:xfrm>
              <a:off x="2496333" y="1043735"/>
              <a:ext cx="1582737" cy="375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ru-RU" dirty="0" err="1" smtClean="0"/>
                <a:t>Ном_студента</a:t>
              </a:r>
              <a:endParaRPr lang="ru-RU" dirty="0"/>
            </a:p>
          </p:txBody>
        </p:sp>
        <p:sp>
          <p:nvSpPr>
            <p:cNvPr id="24" name="Скругленный прямоугольник 23"/>
            <p:cNvSpPr/>
            <p:nvPr/>
          </p:nvSpPr>
          <p:spPr>
            <a:xfrm>
              <a:off x="2571750" y="928688"/>
              <a:ext cx="1428750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94" name="Прямая соединительная линия 93"/>
            <p:cNvCxnSpPr>
              <a:stCxn id="24" idx="2"/>
              <a:endCxn id="4" idx="0"/>
            </p:cNvCxnSpPr>
            <p:nvPr/>
          </p:nvCxnSpPr>
          <p:spPr>
            <a:xfrm flipH="1">
              <a:off x="2892126" y="1608138"/>
              <a:ext cx="393999" cy="2730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Группа 9"/>
          <p:cNvGrpSpPr>
            <a:grpSpLocks/>
          </p:cNvGrpSpPr>
          <p:nvPr/>
        </p:nvGrpSpPr>
        <p:grpSpPr bwMode="auto">
          <a:xfrm>
            <a:off x="214313" y="4869160"/>
            <a:ext cx="1297347" cy="1239540"/>
            <a:chOff x="214313" y="4869160"/>
            <a:chExt cx="1297347" cy="1239540"/>
          </a:xfrm>
        </p:grpSpPr>
        <p:sp>
          <p:nvSpPr>
            <p:cNvPr id="12326" name="TextBox 9"/>
            <p:cNvSpPr txBox="1">
              <a:spLocks noChangeArrowheads="1"/>
            </p:cNvSpPr>
            <p:nvPr/>
          </p:nvSpPr>
          <p:spPr bwMode="auto">
            <a:xfrm>
              <a:off x="250825" y="5445125"/>
              <a:ext cx="1152525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ru-RU" dirty="0" smtClean="0"/>
                <a:t>Имя</a:t>
              </a:r>
              <a:br>
                <a:rPr lang="ru-RU" dirty="0" smtClean="0"/>
              </a:br>
              <a:r>
                <a:rPr lang="ru-RU" dirty="0" err="1" smtClean="0"/>
                <a:t>_курса</a:t>
              </a:r>
              <a:endParaRPr lang="ru-RU" dirty="0"/>
            </a:p>
          </p:txBody>
        </p:sp>
        <p:sp>
          <p:nvSpPr>
            <p:cNvPr id="25" name="Скругленный прямоугольник 24"/>
            <p:cNvSpPr/>
            <p:nvPr/>
          </p:nvSpPr>
          <p:spPr>
            <a:xfrm>
              <a:off x="214313" y="5429250"/>
              <a:ext cx="1214437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96" name="Прямая соединительная линия 95"/>
            <p:cNvCxnSpPr>
              <a:endCxn id="25" idx="0"/>
            </p:cNvCxnSpPr>
            <p:nvPr/>
          </p:nvCxnSpPr>
          <p:spPr>
            <a:xfrm flipH="1">
              <a:off x="821532" y="4869160"/>
              <a:ext cx="690128" cy="5600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Группа 10"/>
          <p:cNvGrpSpPr>
            <a:grpSpLocks/>
          </p:cNvGrpSpPr>
          <p:nvPr/>
        </p:nvGrpSpPr>
        <p:grpSpPr bwMode="auto">
          <a:xfrm>
            <a:off x="1500188" y="4869160"/>
            <a:ext cx="1214437" cy="1239540"/>
            <a:chOff x="1500188" y="4869160"/>
            <a:chExt cx="1214437" cy="1239540"/>
          </a:xfrm>
        </p:grpSpPr>
        <p:sp>
          <p:nvSpPr>
            <p:cNvPr id="12323" name="Rectangle 10"/>
            <p:cNvSpPr>
              <a:spLocks noChangeArrowheads="1"/>
            </p:cNvSpPr>
            <p:nvPr/>
          </p:nvSpPr>
          <p:spPr bwMode="auto">
            <a:xfrm>
              <a:off x="1653629" y="5445125"/>
              <a:ext cx="901209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ru-RU" dirty="0" smtClean="0"/>
                <a:t>Номер</a:t>
              </a:r>
              <a:br>
                <a:rPr lang="ru-RU" dirty="0" smtClean="0"/>
              </a:br>
              <a:r>
                <a:rPr lang="ru-RU" dirty="0" err="1" smtClean="0"/>
                <a:t>_курса</a:t>
              </a:r>
              <a:endParaRPr lang="ru-RU" dirty="0"/>
            </a:p>
          </p:txBody>
        </p:sp>
        <p:sp>
          <p:nvSpPr>
            <p:cNvPr id="26" name="Скругленный прямоугольник 25"/>
            <p:cNvSpPr/>
            <p:nvPr/>
          </p:nvSpPr>
          <p:spPr>
            <a:xfrm>
              <a:off x="1500188" y="5429250"/>
              <a:ext cx="1214437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97" name="Прямая соединительная линия 96"/>
            <p:cNvCxnSpPr>
              <a:endCxn id="26" idx="0"/>
            </p:cNvCxnSpPr>
            <p:nvPr/>
          </p:nvCxnSpPr>
          <p:spPr>
            <a:xfrm>
              <a:off x="1736685" y="4869160"/>
              <a:ext cx="370722" cy="5600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Группа 11"/>
          <p:cNvGrpSpPr>
            <a:grpSpLocks/>
          </p:cNvGrpSpPr>
          <p:nvPr/>
        </p:nvGrpSpPr>
        <p:grpSpPr bwMode="auto">
          <a:xfrm>
            <a:off x="2276745" y="4869160"/>
            <a:ext cx="1837047" cy="1239540"/>
            <a:chOff x="2276745" y="4869160"/>
            <a:chExt cx="1837047" cy="1239540"/>
          </a:xfrm>
        </p:grpSpPr>
        <p:sp>
          <p:nvSpPr>
            <p:cNvPr id="12320" name="TextBox 26"/>
            <p:cNvSpPr txBox="1">
              <a:spLocks noChangeArrowheads="1"/>
            </p:cNvSpPr>
            <p:nvPr/>
          </p:nvSpPr>
          <p:spPr bwMode="auto">
            <a:xfrm>
              <a:off x="2816805" y="5589763"/>
              <a:ext cx="1296987" cy="359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6000" tIns="36000" rIns="36000" bIns="36000">
              <a:spAutoFit/>
            </a:bodyPr>
            <a:lstStyle/>
            <a:p>
              <a:pPr algn="ctr"/>
              <a:r>
                <a:rPr lang="ru-RU" dirty="0" err="1" smtClean="0"/>
                <a:t>Кредит_ед</a:t>
              </a:r>
              <a:endParaRPr lang="ru-RU" dirty="0"/>
            </a:p>
          </p:txBody>
        </p:sp>
        <p:sp>
          <p:nvSpPr>
            <p:cNvPr id="27" name="Скругленный прямоугольник 26"/>
            <p:cNvSpPr/>
            <p:nvPr/>
          </p:nvSpPr>
          <p:spPr>
            <a:xfrm>
              <a:off x="2857500" y="5429250"/>
              <a:ext cx="1214438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100" name="Прямая соединительная линия 99"/>
            <p:cNvCxnSpPr>
              <a:endCxn id="27" idx="0"/>
            </p:cNvCxnSpPr>
            <p:nvPr/>
          </p:nvCxnSpPr>
          <p:spPr>
            <a:xfrm>
              <a:off x="2276745" y="4869160"/>
              <a:ext cx="1187974" cy="5600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Группа 12"/>
          <p:cNvGrpSpPr>
            <a:grpSpLocks/>
          </p:cNvGrpSpPr>
          <p:nvPr/>
        </p:nvGrpSpPr>
        <p:grpSpPr bwMode="auto">
          <a:xfrm>
            <a:off x="2771800" y="4869160"/>
            <a:ext cx="2671015" cy="1239540"/>
            <a:chOff x="2771800" y="4869160"/>
            <a:chExt cx="2671015" cy="1239540"/>
          </a:xfrm>
        </p:grpSpPr>
        <p:sp>
          <p:nvSpPr>
            <p:cNvPr id="12317" name="TextBox 23"/>
            <p:cNvSpPr txBox="1">
              <a:spLocks noChangeArrowheads="1"/>
            </p:cNvSpPr>
            <p:nvPr/>
          </p:nvSpPr>
          <p:spPr bwMode="auto">
            <a:xfrm>
              <a:off x="4166955" y="5589240"/>
              <a:ext cx="127586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dirty="0" smtClean="0"/>
                <a:t>Факультет</a:t>
              </a:r>
              <a:endParaRPr lang="ru-RU" dirty="0"/>
            </a:p>
          </p:txBody>
        </p:sp>
        <p:sp>
          <p:nvSpPr>
            <p:cNvPr id="29" name="Скругленный прямоугольник 28"/>
            <p:cNvSpPr/>
            <p:nvPr/>
          </p:nvSpPr>
          <p:spPr>
            <a:xfrm>
              <a:off x="4214813" y="5429250"/>
              <a:ext cx="1214437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103" name="Прямая соединительная линия 102"/>
            <p:cNvCxnSpPr>
              <a:endCxn id="29" idx="0"/>
            </p:cNvCxnSpPr>
            <p:nvPr/>
          </p:nvCxnSpPr>
          <p:spPr>
            <a:xfrm>
              <a:off x="2771800" y="4869160"/>
              <a:ext cx="2050232" cy="5600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07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653A369-B959-4245-A1B6-6AA497202BAA}" type="slidenum">
              <a:rPr lang="ru-RU" smtClean="0"/>
              <a:pPr/>
              <a:t>16</a:t>
            </a:fld>
            <a:endParaRPr lang="ru-RU" smtClean="0"/>
          </a:p>
        </p:txBody>
      </p:sp>
      <p:grpSp>
        <p:nvGrpSpPr>
          <p:cNvPr id="78" name="Группа 5"/>
          <p:cNvGrpSpPr>
            <a:grpSpLocks/>
          </p:cNvGrpSpPr>
          <p:nvPr/>
        </p:nvGrpSpPr>
        <p:grpSpPr bwMode="auto">
          <a:xfrm>
            <a:off x="2906815" y="908720"/>
            <a:ext cx="1980220" cy="945105"/>
            <a:chOff x="2059282" y="928688"/>
            <a:chExt cx="1980220" cy="945105"/>
          </a:xfrm>
        </p:grpSpPr>
        <p:sp>
          <p:nvSpPr>
            <p:cNvPr id="79" name="TextBox 6"/>
            <p:cNvSpPr txBox="1">
              <a:spLocks noChangeArrowheads="1"/>
            </p:cNvSpPr>
            <p:nvPr/>
          </p:nvSpPr>
          <p:spPr bwMode="auto">
            <a:xfrm>
              <a:off x="2456765" y="1043735"/>
              <a:ext cx="158273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ru-RU" dirty="0" smtClean="0"/>
                <a:t>Факультет</a:t>
              </a:r>
              <a:endParaRPr lang="ru-RU" dirty="0"/>
            </a:p>
          </p:txBody>
        </p:sp>
        <p:sp>
          <p:nvSpPr>
            <p:cNvPr id="80" name="Скругленный прямоугольник 79"/>
            <p:cNvSpPr/>
            <p:nvPr/>
          </p:nvSpPr>
          <p:spPr>
            <a:xfrm>
              <a:off x="2571750" y="928688"/>
              <a:ext cx="1428750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81" name="Прямая соединительная линия 80"/>
            <p:cNvCxnSpPr>
              <a:stCxn id="80" idx="2"/>
            </p:cNvCxnSpPr>
            <p:nvPr/>
          </p:nvCxnSpPr>
          <p:spPr>
            <a:xfrm flipH="1">
              <a:off x="2059282" y="1608138"/>
              <a:ext cx="1226843" cy="2656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>
          <a:xfrm>
            <a:off x="251520" y="29587"/>
            <a:ext cx="8697913" cy="792163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>
                <a:solidFill>
                  <a:schemeClr val="bg2"/>
                </a:solidFill>
              </a:rPr>
              <a:t>Пример </a:t>
            </a:r>
            <a:r>
              <a:rPr lang="ru-RU" sz="3600" dirty="0" smtClean="0">
                <a:solidFill>
                  <a:schemeClr val="bg2"/>
                </a:solidFill>
              </a:rPr>
              <a:t>простой БД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08726519"/>
              </p:ext>
            </p:extLst>
          </p:nvPr>
        </p:nvGraphicFramePr>
        <p:xfrm>
          <a:off x="637000" y="821750"/>
          <a:ext cx="7284040" cy="18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722"/>
                <a:gridCol w="1708388"/>
                <a:gridCol w="1507698"/>
                <a:gridCol w="1518232"/>
              </a:tblGrid>
              <a:tr h="367685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Имя_курса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Номер_курса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Кредит_ед</a:t>
                      </a:r>
                      <a:endParaRPr lang="ru-RU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Факультет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685">
                <a:tc>
                  <a:txBody>
                    <a:bodyPr/>
                    <a:lstStyle/>
                    <a:p>
                      <a:r>
                        <a:rPr lang="ru-RU" dirty="0" smtClean="0"/>
                        <a:t>Мат. анализ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CS</a:t>
                      </a:r>
                      <a:r>
                        <a:rPr lang="ru-RU" dirty="0" smtClean="0"/>
                        <a:t>0810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ФИТ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685">
                <a:tc>
                  <a:txBody>
                    <a:bodyPr/>
                    <a:lstStyle/>
                    <a:p>
                      <a:r>
                        <a:rPr lang="ru-RU" dirty="0" smtClean="0"/>
                        <a:t>Мат. анализ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MATH</a:t>
                      </a:r>
                      <a:r>
                        <a:rPr lang="ru-RU" dirty="0" smtClean="0"/>
                        <a:t>0200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ММФ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05">
                <a:tc>
                  <a:txBody>
                    <a:bodyPr/>
                    <a:lstStyle/>
                    <a:p>
                      <a:r>
                        <a:rPr lang="ru-RU" dirty="0" smtClean="0"/>
                        <a:t>Структуры данных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CS</a:t>
                      </a:r>
                      <a:r>
                        <a:rPr lang="ru-RU" dirty="0" smtClean="0"/>
                        <a:t>0805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ФИТ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685">
                <a:tc>
                  <a:txBody>
                    <a:bodyPr/>
                    <a:lstStyle/>
                    <a:p>
                      <a:r>
                        <a:rPr lang="ru-RU" dirty="0" smtClean="0"/>
                        <a:t>Базы</a:t>
                      </a:r>
                      <a:r>
                        <a:rPr lang="ru-RU" baseline="0" dirty="0" smtClean="0"/>
                        <a:t> данных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CS</a:t>
                      </a:r>
                      <a:r>
                        <a:rPr lang="ru-RU" dirty="0" smtClean="0"/>
                        <a:t>0802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ФИТ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552" y="45241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КУРСЫ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471042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ОЦЕНКИ</a:t>
            </a:r>
            <a:endParaRPr lang="ru-RU" b="1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091886124"/>
              </p:ext>
            </p:extLst>
          </p:nvPr>
        </p:nvGraphicFramePr>
        <p:xfrm>
          <a:off x="1309336" y="4893053"/>
          <a:ext cx="5278888" cy="1912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774"/>
                <a:gridCol w="1766839"/>
                <a:gridCol w="1247275"/>
              </a:tblGrid>
              <a:tr h="449590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Ном_студента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Номер_курса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Оценка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67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Arial"/>
                        </a:rPr>
                        <a:t>1000021</a:t>
                      </a:r>
                      <a:endParaRPr lang="ru-RU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CS</a:t>
                      </a:r>
                      <a:r>
                        <a:rPr lang="ru-RU" dirty="0" smtClean="0"/>
                        <a:t>0810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679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1200005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MATH</a:t>
                      </a:r>
                      <a:r>
                        <a:rPr lang="ru-RU" dirty="0" smtClean="0"/>
                        <a:t>0200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67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+mn-lt"/>
                        </a:rPr>
                        <a:t>1000022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CS</a:t>
                      </a:r>
                      <a:r>
                        <a:rPr lang="ru-RU" dirty="0" smtClean="0"/>
                        <a:t>0805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67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+mn-lt"/>
                        </a:rPr>
                        <a:t>1000023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CS</a:t>
                      </a:r>
                      <a:r>
                        <a:rPr lang="ru-RU" dirty="0" smtClean="0"/>
                        <a:t>0802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23554065"/>
              </p:ext>
            </p:extLst>
          </p:nvPr>
        </p:nvGraphicFramePr>
        <p:xfrm>
          <a:off x="1835695" y="2731958"/>
          <a:ext cx="6878425" cy="2005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409"/>
                <a:gridCol w="1800200"/>
                <a:gridCol w="1405816"/>
              </a:tblGrid>
              <a:tr h="314127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ФИО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Ном_</a:t>
                      </a:r>
                      <a:r>
                        <a:rPr lang="en-US" dirty="0" smtClean="0"/>
                        <a:t>c</a:t>
                      </a:r>
                      <a:r>
                        <a:rPr lang="ru-RU" dirty="0" err="1" smtClean="0"/>
                        <a:t>тудента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Факультет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434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 Иван Иванович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Arial"/>
                        </a:rPr>
                        <a:t>1000021</a:t>
                      </a:r>
                      <a:endParaRPr lang="ru-RU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ФИТ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434"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Петров Петр Петрович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1200005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ММФ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080">
                <a:tc>
                  <a:txBody>
                    <a:bodyPr/>
                    <a:lstStyle/>
                    <a:p>
                      <a:r>
                        <a:rPr lang="ru-RU" dirty="0" smtClean="0"/>
                        <a:t>Васильев</a:t>
                      </a:r>
                      <a:r>
                        <a:rPr lang="ru-RU" baseline="0" dirty="0" smtClean="0"/>
                        <a:t> Василий Васильевич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+mn-lt"/>
                        </a:rPr>
                        <a:t>1000022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ФИТ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434">
                <a:tc>
                  <a:txBody>
                    <a:bodyPr/>
                    <a:lstStyle/>
                    <a:p>
                      <a:r>
                        <a:rPr lang="ru-RU" dirty="0" smtClean="0"/>
                        <a:t>Антонов Антон Антонович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+mn-lt"/>
                        </a:rPr>
                        <a:t>1000023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ФИТ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1884" y="28420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СТУДЕНТЫ</a:t>
            </a:r>
            <a:endParaRPr lang="ru-RU" b="1" dirty="0"/>
          </a:p>
        </p:txBody>
      </p:sp>
    </p:spTree>
    <p:extLst>
      <p:ext uri="{BB962C8B-B14F-4D97-AF65-F5344CB8AC3E}">
        <p14:creationId xmlns="" xmlns:p14="http://schemas.microsoft.com/office/powerpoint/2010/main" val="377645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196752"/>
            <a:ext cx="8640960" cy="530912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sz="3900" b="1" dirty="0" err="1" smtClean="0">
                <a:solidFill>
                  <a:srgbClr val="000099"/>
                </a:solidFill>
              </a:rPr>
              <a:t>Самоописание</a:t>
            </a:r>
            <a:r>
              <a:rPr lang="ru-RU" sz="3900" b="1" dirty="0" smtClean="0">
                <a:solidFill>
                  <a:srgbClr val="000099"/>
                </a:solidFill>
              </a:rPr>
              <a:t> систем баз данных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4000" dirty="0"/>
              <a:t>Каталог баз содержит описание конкретных баз данных ( структур данных, типов и ограничений целостности и т.д.)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4000" dirty="0"/>
              <a:t>Описание называется </a:t>
            </a:r>
            <a:r>
              <a:rPr lang="ru-RU" sz="4000" dirty="0" err="1" smtClean="0"/>
              <a:t>МЕТАДАННЫМи</a:t>
            </a:r>
            <a:endParaRPr lang="ru-RU" sz="4000" dirty="0"/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4000" dirty="0"/>
              <a:t>Посредством </a:t>
            </a:r>
            <a:r>
              <a:rPr lang="ru-RU" sz="4000" dirty="0" smtClean="0"/>
              <a:t>МЕТАДАННЫХ </a:t>
            </a:r>
            <a:r>
              <a:rPr lang="ru-RU" sz="4000" dirty="0"/>
              <a:t>СУБД обеспечивает доступ приложений к БД</a:t>
            </a:r>
          </a:p>
          <a:p>
            <a:pPr>
              <a:lnSpc>
                <a:spcPct val="120000"/>
              </a:lnSpc>
            </a:pPr>
            <a:r>
              <a:rPr lang="ru-RU" sz="3900" b="1" dirty="0" smtClean="0">
                <a:solidFill>
                  <a:srgbClr val="000099"/>
                </a:solidFill>
              </a:rPr>
              <a:t>Независимость данных от программ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4000" dirty="0"/>
              <a:t>Позволяет изменять структуру данных и организацию данных во внешней памяти без изменения кода доступа к данным из программ</a:t>
            </a:r>
          </a:p>
          <a:p>
            <a:pPr>
              <a:lnSpc>
                <a:spcPct val="120000"/>
              </a:lnSpc>
            </a:pPr>
            <a:endParaRPr lang="ru-RU" sz="3900" b="1" dirty="0" smtClean="0">
              <a:solidFill>
                <a:srgbClr val="000099"/>
              </a:solidFill>
            </a:endParaRPr>
          </a:p>
          <a:p>
            <a:pPr marL="365760" lvl="1" indent="0">
              <a:lnSpc>
                <a:spcPct val="120000"/>
              </a:lnSpc>
              <a:buClr>
                <a:srgbClr val="000099"/>
              </a:buClr>
              <a:buSzPct val="100000"/>
              <a:buNone/>
            </a:pPr>
            <a:endParaRPr lang="ru-RU" sz="4000" b="1" dirty="0">
              <a:solidFill>
                <a:srgbClr val="000099"/>
              </a:solidFill>
            </a:endParaRPr>
          </a:p>
          <a:p>
            <a:pPr marL="365760" lvl="1" indent="0">
              <a:lnSpc>
                <a:spcPct val="120000"/>
              </a:lnSpc>
              <a:buClr>
                <a:srgbClr val="000099"/>
              </a:buClr>
              <a:buSzPct val="100000"/>
              <a:buNone/>
            </a:pPr>
            <a:endParaRPr lang="ru-RU" sz="4000" dirty="0" smtClean="0">
              <a:solidFill>
                <a:srgbClr val="C00000"/>
              </a:solidFill>
            </a:endParaRPr>
          </a:p>
          <a:p>
            <a:pPr marL="45720" indent="0">
              <a:lnSpc>
                <a:spcPct val="120000"/>
              </a:lnSpc>
              <a:buNone/>
            </a:pPr>
            <a:endParaRPr lang="ru-RU" sz="2600" b="1" dirty="0">
              <a:solidFill>
                <a:srgbClr val="000099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>
              <a:defRPr/>
            </a:pPr>
            <a:fld id="{EC81DC93-3EA9-4CDA-BBF1-B2CF1316C53F}" type="slidenum">
              <a:rPr lang="ru-RU" smtClean="0"/>
              <a:pPr algn="r">
                <a:defRPr/>
              </a:pPr>
              <a:t>18</a:t>
            </a:fld>
            <a:endParaRPr lang="ru-RU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188640"/>
            <a:ext cx="8568952" cy="936104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Georgia" pitchFamily="18" charset="0"/>
              <a:buNone/>
            </a:pPr>
            <a:r>
              <a:rPr lang="ru-RU" sz="4000" b="0" dirty="0" smtClean="0">
                <a:solidFill>
                  <a:schemeClr val="bg2"/>
                </a:solidFill>
              </a:rPr>
              <a:t>Подход баз данных. 1</a:t>
            </a:r>
          </a:p>
        </p:txBody>
      </p:sp>
    </p:spTree>
    <p:extLst>
      <p:ext uri="{BB962C8B-B14F-4D97-AF65-F5344CB8AC3E}">
        <p14:creationId xmlns="" xmlns:p14="http://schemas.microsoft.com/office/powerpoint/2010/main" val="126034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>
          <a:xfrm>
            <a:off x="251520" y="29587"/>
            <a:ext cx="8697913" cy="792163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>
                <a:solidFill>
                  <a:srgbClr val="C00000"/>
                </a:solidFill>
              </a:rPr>
              <a:t>Пример </a:t>
            </a:r>
            <a:r>
              <a:rPr lang="ru-RU" sz="3600" dirty="0" smtClean="0">
                <a:solidFill>
                  <a:srgbClr val="C00000"/>
                </a:solidFill>
              </a:rPr>
              <a:t>фрагмента каталога БД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>
              <a:defRPr/>
            </a:pPr>
            <a:fld id="{EC81DC93-3EA9-4CDA-BBF1-B2CF1316C53F}" type="slidenum">
              <a:rPr lang="ru-RU" smtClean="0"/>
              <a:pPr algn="r">
                <a:defRPr/>
              </a:pPr>
              <a:t>19</a:t>
            </a:fld>
            <a:endParaRPr lang="ru-RU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98299561"/>
              </p:ext>
            </p:extLst>
          </p:nvPr>
        </p:nvGraphicFramePr>
        <p:xfrm>
          <a:off x="2195736" y="826776"/>
          <a:ext cx="4258110" cy="18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722"/>
                <a:gridCol w="1708388"/>
              </a:tblGrid>
              <a:tr h="367685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Имя_отношения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Кол_колонок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685">
                <a:tc>
                  <a:txBody>
                    <a:bodyPr/>
                    <a:lstStyle/>
                    <a:p>
                      <a:r>
                        <a:rPr lang="ru-RU" dirty="0" smtClean="0"/>
                        <a:t>СТУДЕНТ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67685">
                <a:tc>
                  <a:txBody>
                    <a:bodyPr/>
                    <a:lstStyle/>
                    <a:p>
                      <a:r>
                        <a:rPr lang="ru-RU" dirty="0" smtClean="0"/>
                        <a:t>КУРСЫ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337105">
                <a:tc>
                  <a:txBody>
                    <a:bodyPr/>
                    <a:lstStyle/>
                    <a:p>
                      <a:r>
                        <a:rPr lang="ru-RU" dirty="0" smtClean="0"/>
                        <a:t>ОЦЕНКИ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685">
                <a:tc>
                  <a:txBody>
                    <a:bodyPr/>
                    <a:lstStyle/>
                    <a:p>
                      <a:r>
                        <a:rPr lang="ru-RU" dirty="0" smtClean="0"/>
                        <a:t>ПРЕПОДАВАТЕЛИ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3568" y="806808"/>
            <a:ext cx="199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ОТНОШЕНИЯ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61564" y="249555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КОЛОНКИ</a:t>
            </a:r>
            <a:endParaRPr lang="ru-RU" b="1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014185413"/>
              </p:ext>
            </p:extLst>
          </p:nvPr>
        </p:nvGraphicFramePr>
        <p:xfrm>
          <a:off x="827585" y="3028950"/>
          <a:ext cx="7478217" cy="3389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497"/>
                <a:gridCol w="2323329"/>
                <a:gridCol w="1815101"/>
                <a:gridCol w="1597290"/>
              </a:tblGrid>
              <a:tr h="451485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Ном_колонки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Имя</a:t>
                      </a:r>
                      <a:r>
                        <a:rPr lang="ru-RU" baseline="0" dirty="0" err="1" smtClean="0"/>
                        <a:t>_колонки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Тип_данных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Отношение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3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Arial"/>
                        </a:rPr>
                        <a:t>1</a:t>
                      </a:r>
                      <a:endParaRPr lang="ru-RU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Arial"/>
                        </a:rPr>
                        <a:t>ФИО</a:t>
                      </a:r>
                      <a:endParaRPr lang="ru-RU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CHAR(30)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СТУДЕНТ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67302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/>
                        <a:t>Ном_студента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CHAR(4)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СТУДЕНТ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673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+mn-lt"/>
                        </a:rPr>
                        <a:t>3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+mn-lt"/>
                        </a:rPr>
                        <a:t>Факультет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CHAR(3)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СТУДЕНТ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673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+mn-lt"/>
                        </a:rPr>
                        <a:t>4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err="1" smtClean="0">
                          <a:effectLst/>
                          <a:latin typeface="+mn-lt"/>
                        </a:rPr>
                        <a:t>Имя_курса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CHAR(</a:t>
                      </a:r>
                      <a:r>
                        <a:rPr lang="ru-RU" dirty="0" smtClean="0"/>
                        <a:t>20</a:t>
                      </a:r>
                      <a:r>
                        <a:rPr lang="en-US" dirty="0" smtClean="0"/>
                        <a:t>)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КУРСЫ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3673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+mn-lt"/>
                        </a:rPr>
                        <a:t>5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err="1" smtClean="0">
                          <a:effectLst/>
                          <a:latin typeface="+mn-lt"/>
                        </a:rPr>
                        <a:t>Номер_курса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CHAR(</a:t>
                      </a:r>
                      <a:r>
                        <a:rPr lang="ru-RU" dirty="0" smtClean="0"/>
                        <a:t>8</a:t>
                      </a:r>
                      <a:r>
                        <a:rPr lang="en-US" dirty="0" smtClean="0"/>
                        <a:t>)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КУРСЫ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3673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+mn-lt"/>
                        </a:rPr>
                        <a:t>6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err="1" smtClean="0">
                          <a:effectLst/>
                          <a:latin typeface="+mn-lt"/>
                        </a:rPr>
                        <a:t>Кредит_ед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NUMBER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КУРСЫ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3673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smtClean="0">
                          <a:effectLst/>
                          <a:latin typeface="+mn-lt"/>
                        </a:rPr>
                        <a:t>7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 smtClean="0">
                          <a:effectLst/>
                          <a:latin typeface="+mn-lt"/>
                        </a:rPr>
                        <a:t>Время чтения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TIME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КУРСЫ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3673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smtClean="0">
                          <a:effectLst/>
                          <a:latin typeface="+mn-lt"/>
                        </a:rPr>
                        <a:t>8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smtClean="0">
                          <a:effectLst/>
                          <a:latin typeface="+mn-lt"/>
                        </a:rPr>
                        <a:t>…</a:t>
                      </a:r>
                      <a:endParaRPr lang="ru-RU" sz="1800" b="0" i="0" u="none" strike="noStrike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ОЦЕНКИ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41412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196752"/>
            <a:ext cx="8560122" cy="5388198"/>
          </a:xfrm>
        </p:spPr>
        <p:txBody>
          <a:bodyPr>
            <a:normAutofit fontScale="70000" lnSpcReduction="20000"/>
          </a:bodyPr>
          <a:lstStyle/>
          <a:p>
            <a:pPr eaLnBrk="1" hangingPunct="1"/>
            <a:r>
              <a:rPr lang="ru-RU" sz="3900" b="1" dirty="0" smtClean="0">
                <a:solidFill>
                  <a:srgbClr val="000099"/>
                </a:solidFill>
              </a:rPr>
              <a:t>Абстракция данных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4000" b="1" dirty="0" smtClean="0"/>
              <a:t>Модель данных </a:t>
            </a:r>
            <a:r>
              <a:rPr lang="ru-RU" sz="4000" i="1" dirty="0" smtClean="0"/>
              <a:t>скрывает детали реализации</a:t>
            </a:r>
            <a:r>
              <a:rPr lang="ru-RU" sz="4000" dirty="0" smtClean="0"/>
              <a:t> и предоставляет пользователю </a:t>
            </a:r>
            <a:r>
              <a:rPr lang="ru-RU" sz="4000" u="sng" dirty="0" smtClean="0"/>
              <a:t>концептуальный уровень</a:t>
            </a:r>
            <a:endParaRPr lang="ru-RU" sz="4000" u="sng" dirty="0"/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4000" dirty="0" smtClean="0"/>
              <a:t>Программы обращаются к </a:t>
            </a:r>
            <a:r>
              <a:rPr lang="ru-RU" sz="4000" b="1" dirty="0" smtClean="0"/>
              <a:t>модели данных</a:t>
            </a:r>
            <a:r>
              <a:rPr lang="ru-RU" sz="4000" dirty="0" smtClean="0"/>
              <a:t>, а не к конкретному размещению данных на внешней памяти</a:t>
            </a:r>
            <a:endParaRPr lang="ru-RU" sz="4000" dirty="0"/>
          </a:p>
          <a:p>
            <a:pPr>
              <a:lnSpc>
                <a:spcPct val="120000"/>
              </a:lnSpc>
            </a:pPr>
            <a:r>
              <a:rPr lang="ru-RU" sz="3900" b="1" dirty="0" smtClean="0">
                <a:solidFill>
                  <a:srgbClr val="000099"/>
                </a:solidFill>
              </a:rPr>
              <a:t>Многоаспектный взгляд на данные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4000" dirty="0" smtClean="0"/>
              <a:t>Каждый пользователь может работать </a:t>
            </a:r>
            <a:r>
              <a:rPr lang="ru-RU" sz="4000" b="1" dirty="0"/>
              <a:t>только </a:t>
            </a:r>
            <a:r>
              <a:rPr lang="ru-RU" sz="4000" b="1" dirty="0" smtClean="0"/>
              <a:t>с теми данными </a:t>
            </a:r>
            <a:r>
              <a:rPr lang="ru-RU" sz="4000" dirty="0" smtClean="0"/>
              <a:t>в БД, которые его интересуют. </a:t>
            </a:r>
            <a:endParaRPr lang="ru-RU" sz="4000" dirty="0"/>
          </a:p>
          <a:p>
            <a:endParaRPr lang="ru-RU" sz="3900" b="1" dirty="0" smtClean="0">
              <a:solidFill>
                <a:srgbClr val="000099"/>
              </a:solidFill>
            </a:endParaRPr>
          </a:p>
          <a:p>
            <a:pPr marL="365760" lvl="1" indent="0">
              <a:buClr>
                <a:srgbClr val="000099"/>
              </a:buClr>
              <a:buSzPct val="100000"/>
              <a:buNone/>
            </a:pPr>
            <a:endParaRPr lang="ru-RU" sz="4000" b="1" dirty="0">
              <a:solidFill>
                <a:srgbClr val="000099"/>
              </a:solidFill>
            </a:endParaRPr>
          </a:p>
          <a:p>
            <a:pPr marL="365760" lvl="1" indent="0">
              <a:buClr>
                <a:srgbClr val="000099"/>
              </a:buClr>
              <a:buSzPct val="100000"/>
              <a:buNone/>
            </a:pPr>
            <a:endParaRPr lang="ru-RU" sz="4000" dirty="0" smtClean="0">
              <a:solidFill>
                <a:srgbClr val="C00000"/>
              </a:solidFill>
            </a:endParaRPr>
          </a:p>
          <a:p>
            <a:pPr marL="45720" indent="0">
              <a:buNone/>
            </a:pPr>
            <a:endParaRPr lang="ru-RU" sz="2600" b="1" dirty="0">
              <a:solidFill>
                <a:srgbClr val="000099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388424" y="6165305"/>
            <a:ext cx="532656" cy="360040"/>
          </a:xfrm>
        </p:spPr>
        <p:txBody>
          <a:bodyPr/>
          <a:lstStyle/>
          <a:p>
            <a:pPr algn="r">
              <a:defRPr/>
            </a:pPr>
            <a:fld id="{EC81DC93-3EA9-4CDA-BBF1-B2CF1316C53F}" type="slidenum">
              <a:rPr lang="ru-RU" smtClean="0"/>
              <a:pPr algn="r">
                <a:defRPr/>
              </a:pPr>
              <a:t>20</a:t>
            </a:fld>
            <a:endParaRPr lang="ru-RU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188640"/>
            <a:ext cx="8568952" cy="792088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Georgia" pitchFamily="18" charset="0"/>
              <a:buNone/>
            </a:pPr>
            <a:r>
              <a:rPr lang="ru-RU" sz="4000" b="0" dirty="0" smtClean="0">
                <a:solidFill>
                  <a:schemeClr val="bg2"/>
                </a:solidFill>
              </a:rPr>
              <a:t>Подход баз данных. 2</a:t>
            </a:r>
          </a:p>
        </p:txBody>
      </p:sp>
    </p:spTree>
    <p:extLst>
      <p:ext uri="{BB962C8B-B14F-4D97-AF65-F5344CB8AC3E}">
        <p14:creationId xmlns="" xmlns:p14="http://schemas.microsoft.com/office/powerpoint/2010/main" val="105743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435486" y="638812"/>
            <a:ext cx="6368762" cy="60305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890870" y="1988840"/>
            <a:ext cx="5337314" cy="28083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460432" y="6340476"/>
            <a:ext cx="460648" cy="328884"/>
          </a:xfrm>
        </p:spPr>
        <p:txBody>
          <a:bodyPr/>
          <a:lstStyle/>
          <a:p>
            <a:pPr>
              <a:defRPr/>
            </a:pPr>
            <a:fld id="{01613F14-3A6E-4411-A537-7C01DE10C33F}" type="slidenum">
              <a:rPr lang="ru-RU" smtClean="0"/>
              <a:pPr>
                <a:defRPr/>
              </a:pPr>
              <a:t>21</a:t>
            </a:fld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33749" y="664624"/>
            <a:ext cx="255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Система баз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9611" y="2420888"/>
            <a:ext cx="3372469" cy="646331"/>
          </a:xfrm>
          <a:prstGeom prst="rect">
            <a:avLst/>
          </a:prstGeom>
          <a:solidFill>
            <a:schemeClr val="bg1"/>
          </a:solidFill>
          <a:ln w="25400">
            <a:solidFill>
              <a:srgbClr val="000099"/>
            </a:solidFill>
          </a:ln>
          <a:effectLst>
            <a:glow>
              <a:schemeClr val="bg1"/>
            </a:glow>
            <a:softEdge rad="0"/>
          </a:effectLst>
          <a:scene3d>
            <a:camera prst="orthographicFront"/>
            <a:lightRig rig="threePt" dir="t"/>
          </a:scene3d>
          <a:sp3d>
            <a:extrusionClr>
              <a:schemeClr val="bg1"/>
            </a:extrusionClr>
          </a:sp3d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Компоненты для выполнения запросов / программ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581067" y="1244774"/>
            <a:ext cx="3927037" cy="369332"/>
          </a:xfrm>
          <a:prstGeom prst="rect">
            <a:avLst/>
          </a:prstGeom>
          <a:solidFill>
            <a:schemeClr val="bg1"/>
          </a:solidFill>
          <a:ln w="25400">
            <a:solidFill>
              <a:srgbClr val="000099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Прикладные программы / Запросы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919611" y="3862789"/>
            <a:ext cx="3372469" cy="646331"/>
          </a:xfrm>
          <a:prstGeom prst="rect">
            <a:avLst/>
          </a:prstGeom>
          <a:solidFill>
            <a:schemeClr val="bg1"/>
          </a:solidFill>
          <a:ln w="25400">
            <a:solidFill>
              <a:srgbClr val="000099"/>
            </a:solidFill>
          </a:ln>
          <a:effectLst>
            <a:glow>
              <a:schemeClr val="bg1"/>
            </a:glow>
            <a:softEdge rad="0"/>
          </a:effectLst>
          <a:scene3d>
            <a:camera prst="orthographicFront"/>
            <a:lightRig rig="threePt" dir="t"/>
          </a:scene3d>
          <a:sp3d>
            <a:extrusionClr>
              <a:schemeClr val="bg1"/>
            </a:extrusionClr>
          </a:sp3d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Компоненты доступа к хранимым данным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1132316" y="5085184"/>
            <a:ext cx="2160241" cy="1440160"/>
            <a:chOff x="1475656" y="5085184"/>
            <a:chExt cx="2160241" cy="1440160"/>
          </a:xfrm>
        </p:grpSpPr>
        <p:sp>
          <p:nvSpPr>
            <p:cNvPr id="10" name="Блок-схема: магнитный диск 9"/>
            <p:cNvSpPr/>
            <p:nvPr/>
          </p:nvSpPr>
          <p:spPr>
            <a:xfrm>
              <a:off x="1475656" y="5085184"/>
              <a:ext cx="2160241" cy="1440160"/>
            </a:xfrm>
            <a:prstGeom prst="flowChartMagneticDisk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75657" y="5517232"/>
              <a:ext cx="21155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Определения данных </a:t>
              </a:r>
              <a:br>
                <a:rPr lang="ru-RU" dirty="0" smtClean="0"/>
              </a:br>
              <a:r>
                <a:rPr lang="ru-RU" dirty="0" smtClean="0"/>
                <a:t>(мета данные)</a:t>
              </a:r>
              <a:endParaRPr lang="ru-RU" dirty="0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3833917" y="5066093"/>
            <a:ext cx="2160241" cy="1440160"/>
            <a:chOff x="4594126" y="5085184"/>
            <a:chExt cx="2160241" cy="1440160"/>
          </a:xfrm>
        </p:grpSpPr>
        <p:sp>
          <p:nvSpPr>
            <p:cNvPr id="12" name="Блок-схема: магнитный диск 11"/>
            <p:cNvSpPr/>
            <p:nvPr/>
          </p:nvSpPr>
          <p:spPr>
            <a:xfrm>
              <a:off x="4594126" y="5085184"/>
              <a:ext cx="2160241" cy="1440160"/>
            </a:xfrm>
            <a:prstGeom prst="flowChartMagneticDisk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38797" y="5531772"/>
              <a:ext cx="21155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Хранимые данных </a:t>
              </a:r>
              <a:br>
                <a:rPr lang="ru-RU" dirty="0" smtClean="0"/>
              </a:br>
              <a:r>
                <a:rPr lang="ru-RU" dirty="0" smtClean="0"/>
                <a:t>(базы данных)</a:t>
              </a:r>
              <a:endParaRPr lang="ru-RU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32317" y="2031829"/>
            <a:ext cx="168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ПО СУБД</a:t>
            </a:r>
            <a:endParaRPr lang="ru-RU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804248" y="4917067"/>
            <a:ext cx="233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Схема системы БД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1536038" y="110945"/>
            <a:ext cx="404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Пользователи  / программисты</a:t>
            </a:r>
          </a:p>
        </p:txBody>
      </p:sp>
      <p:cxnSp>
        <p:nvCxnSpPr>
          <p:cNvPr id="24" name="Прямая со стрелкой 23"/>
          <p:cNvCxnSpPr/>
          <p:nvPr/>
        </p:nvCxnSpPr>
        <p:spPr>
          <a:xfrm flipH="1">
            <a:off x="3560615" y="476672"/>
            <a:ext cx="6547" cy="605961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H="1">
            <a:off x="3568532" y="1685859"/>
            <a:ext cx="3273" cy="6059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H="1">
            <a:off x="3560615" y="3184820"/>
            <a:ext cx="3273" cy="6059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flipH="1">
            <a:off x="2190103" y="4523447"/>
            <a:ext cx="877272" cy="859953"/>
          </a:xfrm>
          <a:prstGeom prst="straightConnector1">
            <a:avLst/>
          </a:prstGeom>
          <a:ln w="381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/>
          <p:nvPr/>
        </p:nvCxnSpPr>
        <p:spPr>
          <a:xfrm>
            <a:off x="4169829" y="4550612"/>
            <a:ext cx="744208" cy="832788"/>
          </a:xfrm>
          <a:prstGeom prst="straightConnector1">
            <a:avLst/>
          </a:prstGeom>
          <a:ln w="381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88571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7" grpId="0" animBg="1"/>
      <p:bldP spid="4" grpId="0"/>
      <p:bldP spid="5" grpId="0" animBg="1"/>
      <p:bldP spid="7" grpId="0" animBg="1"/>
      <p:bldP spid="9" grpId="0" animBg="1"/>
      <p:bldP spid="20" grpId="0"/>
      <p:bldP spid="21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Скругленный прямоугольник 42"/>
          <p:cNvSpPr/>
          <p:nvPr/>
        </p:nvSpPr>
        <p:spPr>
          <a:xfrm>
            <a:off x="926594" y="1943835"/>
            <a:ext cx="5985665" cy="4590510"/>
          </a:xfrm>
          <a:prstGeom prst="roundRect">
            <a:avLst/>
          </a:prstGeom>
          <a:solidFill>
            <a:schemeClr val="bg2">
              <a:lumMod val="20000"/>
              <a:lumOff val="80000"/>
              <a:alpha val="22000"/>
            </a:schemeClr>
          </a:solidFill>
          <a:effectLst>
            <a:outerShdw blurRad="50800" dist="50800" dir="5400000" algn="ctr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3137980" y="1628736"/>
            <a:ext cx="180020" cy="840682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23528" y="188640"/>
            <a:ext cx="8640960" cy="792088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dirty="0" smtClean="0">
                <a:solidFill>
                  <a:schemeClr val="bg2"/>
                </a:solidFill>
              </a:rPr>
              <a:t>3 уровня архитектуры системы БД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143936" y="6165305"/>
            <a:ext cx="777143" cy="312712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22</a:t>
            </a:fld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259632" y="1210874"/>
            <a:ext cx="1296144" cy="369332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П</a:t>
            </a:r>
            <a:r>
              <a:rPr lang="ru-RU" baseline="-25000" dirty="0" smtClean="0"/>
              <a:t>1</a:t>
            </a:r>
            <a:r>
              <a:rPr lang="en-US" dirty="0" smtClean="0"/>
              <a:t> </a:t>
            </a:r>
            <a:r>
              <a:rPr lang="ru-RU" dirty="0" smtClean="0"/>
              <a:t>-</a:t>
            </a:r>
            <a:r>
              <a:rPr lang="en-US" dirty="0" smtClean="0"/>
              <a:t> Java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699792" y="1234079"/>
            <a:ext cx="1152128" cy="369332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П</a:t>
            </a:r>
            <a:r>
              <a:rPr lang="en-US" baseline="-25000" dirty="0" smtClean="0"/>
              <a:t>2</a:t>
            </a:r>
            <a:r>
              <a:rPr lang="ru-RU" baseline="-25000" dirty="0" smtClean="0"/>
              <a:t> </a:t>
            </a:r>
            <a:r>
              <a:rPr lang="ru-RU" dirty="0" smtClean="0"/>
              <a:t>-</a:t>
            </a:r>
            <a:r>
              <a:rPr lang="en-US" dirty="0" smtClean="0"/>
              <a:t> C++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076056" y="1221935"/>
            <a:ext cx="1152128" cy="369332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П</a:t>
            </a:r>
            <a:r>
              <a:rPr lang="en-US" baseline="-25000" dirty="0" smtClean="0"/>
              <a:t>k</a:t>
            </a:r>
            <a:r>
              <a:rPr lang="ru-RU" baseline="-25000" dirty="0" smtClean="0"/>
              <a:t> </a:t>
            </a:r>
            <a:r>
              <a:rPr lang="ru-RU" dirty="0" smtClean="0"/>
              <a:t>-</a:t>
            </a:r>
            <a:r>
              <a:rPr lang="en-US" dirty="0" smtClean="0"/>
              <a:t> PHP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120263" y="1221935"/>
            <a:ext cx="576064" cy="38147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…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020272" y="1210874"/>
            <a:ext cx="1728192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Пользователи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2564904"/>
            <a:ext cx="5472608" cy="830997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Концептуальная схема </a:t>
            </a:r>
            <a:br>
              <a:rPr lang="ru-RU" sz="2400" dirty="0" smtClean="0"/>
            </a:br>
            <a:r>
              <a:rPr lang="ru-RU" sz="2400" dirty="0" smtClean="0"/>
              <a:t>(описания данных, словарь данных)</a:t>
            </a:r>
            <a:endParaRPr lang="ru-RU" sz="2400" dirty="0"/>
          </a:p>
        </p:txBody>
      </p:sp>
      <p:grpSp>
        <p:nvGrpSpPr>
          <p:cNvPr id="4" name="Группа 13"/>
          <p:cNvGrpSpPr/>
          <p:nvPr/>
        </p:nvGrpSpPr>
        <p:grpSpPr>
          <a:xfrm>
            <a:off x="1115616" y="4036422"/>
            <a:ext cx="5472608" cy="904746"/>
            <a:chOff x="1403648" y="3667090"/>
            <a:chExt cx="4790417" cy="904746"/>
          </a:xfrm>
        </p:grpSpPr>
        <p:sp>
          <p:nvSpPr>
            <p:cNvPr id="11" name="TextBox 10"/>
            <p:cNvSpPr txBox="1"/>
            <p:nvPr/>
          </p:nvSpPr>
          <p:spPr>
            <a:xfrm>
              <a:off x="1403648" y="3667090"/>
              <a:ext cx="4790417" cy="461665"/>
            </a:xfrm>
            <a:prstGeom prst="rect">
              <a:avLst/>
            </a:prstGeom>
            <a:noFill/>
            <a:ln w="19050"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Ядро системы</a:t>
              </a:r>
              <a:endParaRPr lang="ru-RU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03648" y="4110171"/>
              <a:ext cx="4790417" cy="461665"/>
            </a:xfrm>
            <a:prstGeom prst="rect">
              <a:avLst/>
            </a:prstGeom>
            <a:noFill/>
            <a:ln w="19050"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Система управления данными</a:t>
              </a:r>
              <a:endParaRPr lang="ru-RU" sz="2400" dirty="0"/>
            </a:p>
          </p:txBody>
        </p:sp>
      </p:grpSp>
      <p:sp>
        <p:nvSpPr>
          <p:cNvPr id="13" name="Блок-схема: магнитный диск 12"/>
          <p:cNvSpPr/>
          <p:nvPr/>
        </p:nvSpPr>
        <p:spPr>
          <a:xfrm>
            <a:off x="1259632" y="5525616"/>
            <a:ext cx="864096" cy="864096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659337" y="5525616"/>
            <a:ext cx="864096" cy="864096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Блок-схема: магнитный диск 15"/>
          <p:cNvSpPr/>
          <p:nvPr/>
        </p:nvSpPr>
        <p:spPr>
          <a:xfrm>
            <a:off x="5076056" y="5525616"/>
            <a:ext cx="864096" cy="864096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3898426" y="5708575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/>
              <a:t>…</a:t>
            </a:r>
            <a:endParaRPr lang="ru-RU" sz="4400" dirty="0"/>
          </a:p>
        </p:txBody>
      </p:sp>
      <p:cxnSp>
        <p:nvCxnSpPr>
          <p:cNvPr id="19" name="Прямая со стрелкой 18"/>
          <p:cNvCxnSpPr>
            <a:stCxn id="5" idx="2"/>
          </p:cNvCxnSpPr>
          <p:nvPr/>
        </p:nvCxnSpPr>
        <p:spPr>
          <a:xfrm>
            <a:off x="1907704" y="1580206"/>
            <a:ext cx="216024" cy="889212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Левая фигурная скобка 19"/>
          <p:cNvSpPr/>
          <p:nvPr/>
        </p:nvSpPr>
        <p:spPr>
          <a:xfrm>
            <a:off x="448876" y="2564904"/>
            <a:ext cx="540000" cy="83099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Левая фигурная скобка 20"/>
          <p:cNvSpPr/>
          <p:nvPr/>
        </p:nvSpPr>
        <p:spPr>
          <a:xfrm>
            <a:off x="448876" y="3613212"/>
            <a:ext cx="540000" cy="27765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Левая фигурная скобка 21"/>
          <p:cNvSpPr/>
          <p:nvPr/>
        </p:nvSpPr>
        <p:spPr>
          <a:xfrm>
            <a:off x="506076" y="1164707"/>
            <a:ext cx="540000" cy="83099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7362310" y="2708920"/>
            <a:ext cx="756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C00000"/>
                </a:solidFill>
              </a:rPr>
              <a:t>С</a:t>
            </a:r>
          </a:p>
          <a:p>
            <a:r>
              <a:rPr lang="ru-RU" sz="3600" dirty="0" smtClean="0">
                <a:solidFill>
                  <a:srgbClr val="C00000"/>
                </a:solidFill>
              </a:rPr>
              <a:t>У</a:t>
            </a:r>
          </a:p>
          <a:p>
            <a:r>
              <a:rPr lang="ru-RU" sz="3600" dirty="0" smtClean="0">
                <a:solidFill>
                  <a:srgbClr val="C00000"/>
                </a:solidFill>
              </a:rPr>
              <a:t>Б</a:t>
            </a:r>
          </a:p>
          <a:p>
            <a:r>
              <a:rPr lang="ru-RU" sz="3600" dirty="0" smtClean="0">
                <a:solidFill>
                  <a:srgbClr val="C00000"/>
                </a:solidFill>
              </a:rPr>
              <a:t>Д</a:t>
            </a:r>
            <a:endParaRPr lang="ru-RU" sz="3600" dirty="0">
              <a:solidFill>
                <a:srgbClr val="C00000"/>
              </a:solidFill>
            </a:endParaRPr>
          </a:p>
        </p:txBody>
      </p:sp>
      <p:cxnSp>
        <p:nvCxnSpPr>
          <p:cNvPr id="26" name="Прямая со стрелкой 25"/>
          <p:cNvCxnSpPr/>
          <p:nvPr/>
        </p:nvCxnSpPr>
        <p:spPr>
          <a:xfrm flipH="1">
            <a:off x="5364088" y="1603411"/>
            <a:ext cx="262620" cy="817477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10" idx="2"/>
          </p:cNvCxnSpPr>
          <p:nvPr/>
        </p:nvCxnSpPr>
        <p:spPr>
          <a:xfrm flipH="1">
            <a:off x="3850693" y="3395901"/>
            <a:ext cx="1227" cy="640521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 flipH="1">
            <a:off x="1705363" y="5001462"/>
            <a:ext cx="310354" cy="645460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3091385" y="4987015"/>
            <a:ext cx="260926" cy="659907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>
            <a:off x="5285727" y="4941168"/>
            <a:ext cx="209671" cy="705754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886" y="766389"/>
            <a:ext cx="461665" cy="130471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ru-RU" dirty="0"/>
              <a:t>В</a:t>
            </a:r>
            <a:r>
              <a:rPr lang="ru-RU" dirty="0" smtClean="0"/>
              <a:t>нешний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1319" y="4498087"/>
            <a:ext cx="461665" cy="160723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ru-RU" dirty="0"/>
              <a:t>В</a:t>
            </a:r>
            <a:r>
              <a:rPr lang="ru-RU" dirty="0" smtClean="0"/>
              <a:t>нутренний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70886" y="2237205"/>
            <a:ext cx="461665" cy="211920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ru-RU" dirty="0" smtClean="0"/>
              <a:t>Концептуальный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1115616" y="3559607"/>
            <a:ext cx="5189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Отображения «Концептуальный-внутренний»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59632" y="1956774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Отображения «Внешний-Концептуальный»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55741" y="5108981"/>
            <a:ext cx="5189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Отображения «Логический-физический»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9961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5" grpId="0" animBg="1"/>
      <p:bldP spid="6" grpId="0" animBg="1"/>
      <p:bldP spid="7" grpId="0" animBg="1"/>
      <p:bldP spid="8" grpId="0"/>
      <p:bldP spid="9" grpId="0"/>
      <p:bldP spid="10" grpId="0" animBg="1"/>
      <p:bldP spid="13" grpId="0" animBg="1"/>
      <p:bldP spid="15" grpId="0" animBg="1"/>
      <p:bldP spid="16" grpId="0" animBg="1"/>
      <p:bldP spid="17" grpId="0"/>
      <p:bldP spid="20" grpId="0" animBg="1"/>
      <p:bldP spid="21" grpId="0" animBg="1"/>
      <p:bldP spid="22" grpId="0" animBg="1"/>
      <p:bldP spid="23" grpId="0"/>
      <p:bldP spid="44" grpId="0"/>
      <p:bldP spid="45" grpId="0"/>
      <p:bldP spid="71" grpId="0"/>
      <p:bldP spid="40" grpId="0"/>
      <p:bldP spid="18" grpId="0"/>
      <p:bldP spid="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8697913" cy="792163"/>
          </a:xfrm>
          <a:noFill/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ru-RU" sz="4000" dirty="0" smtClean="0">
                <a:solidFill>
                  <a:schemeClr val="bg2"/>
                </a:solidFill>
              </a:rPr>
              <a:t>Независимость данных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60523" y="1052735"/>
            <a:ext cx="8983477" cy="5661629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sz="3900" dirty="0" smtClean="0"/>
              <a:t>На 2-ух уровнях: логическом и физическом</a:t>
            </a:r>
          </a:p>
          <a:p>
            <a:pPr eaLnBrk="1" hangingPunct="1">
              <a:lnSpc>
                <a:spcPct val="120000"/>
              </a:lnSpc>
            </a:pPr>
            <a:r>
              <a:rPr lang="ru-RU" sz="3900" u="sng" dirty="0" smtClean="0"/>
              <a:t>Физический уровень</a:t>
            </a:r>
            <a:r>
              <a:rPr lang="ru-RU" sz="3900" dirty="0" smtClean="0"/>
              <a:t>: невосприимчивость приложений к изменениям в физическом представлении данных и в методах доступа к данных 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ru-RU" sz="3700" dirty="0" smtClean="0"/>
              <a:t>Изменение реализации на внутреннем уровне – последовательный, индексный, В-дерево</a:t>
            </a:r>
            <a:endParaRPr lang="en-US" sz="3700" dirty="0" smtClean="0"/>
          </a:p>
          <a:p>
            <a:pPr>
              <a:lnSpc>
                <a:spcPct val="120000"/>
              </a:lnSpc>
            </a:pPr>
            <a:r>
              <a:rPr lang="ru-RU" sz="3900" u="sng" dirty="0" smtClean="0"/>
              <a:t>Логический уровень: </a:t>
            </a:r>
            <a:r>
              <a:rPr lang="ru-RU" sz="3900" dirty="0" smtClean="0"/>
              <a:t>отсутствие </a:t>
            </a:r>
            <a:r>
              <a:rPr lang="ru-RU" sz="3900" dirty="0"/>
              <a:t>влияния изменений в логической структуре базы данных на работу </a:t>
            </a:r>
            <a:r>
              <a:rPr lang="ru-RU" sz="3900" dirty="0" smtClean="0"/>
              <a:t>пользователей и </a:t>
            </a:r>
            <a:r>
              <a:rPr lang="ru-RU" sz="3900" dirty="0"/>
              <a:t>пользовательских </a:t>
            </a:r>
            <a:r>
              <a:rPr lang="ru-RU" sz="3900" dirty="0" smtClean="0"/>
              <a:t>программ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ru-RU" sz="3700" dirty="0" smtClean="0"/>
              <a:t>Добавление таблиц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ru-RU" sz="3700" dirty="0" smtClean="0"/>
              <a:t>Добавление полей в таблицах БД,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ru-RU" sz="3700" dirty="0" smtClean="0"/>
              <a:t>Изменение типов данных,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ru-RU" sz="3700" dirty="0" smtClean="0"/>
              <a:t>Формирование представлений (виртуальных таблиц)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172400" y="6237312"/>
            <a:ext cx="820688" cy="360040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23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93379" y="930324"/>
            <a:ext cx="8568952" cy="5832648"/>
          </a:xfrm>
        </p:spPr>
        <p:txBody>
          <a:bodyPr>
            <a:normAutofit fontScale="62500" lnSpcReduction="20000"/>
          </a:bodyPr>
          <a:lstStyle/>
          <a:p>
            <a:r>
              <a:rPr lang="ru-RU" sz="3900" b="1" dirty="0" smtClean="0">
                <a:solidFill>
                  <a:srgbClr val="000099"/>
                </a:solidFill>
              </a:rPr>
              <a:t>Мультидоступ доступ к данным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4000" dirty="0" smtClean="0"/>
              <a:t>Допускается</a:t>
            </a:r>
            <a:r>
              <a:rPr lang="ru-RU" sz="4000" b="1" dirty="0" smtClean="0"/>
              <a:t> одновременный доступ </a:t>
            </a:r>
            <a:r>
              <a:rPr lang="ru-RU" sz="4000" dirty="0" smtClean="0"/>
              <a:t>нескольких пользователей к извлечению, изменению и добавлению данных</a:t>
            </a:r>
            <a:endParaRPr lang="ru-RU" sz="4000" dirty="0"/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4000" dirty="0" smtClean="0"/>
              <a:t>Управление совместным доступом гарантирует, что </a:t>
            </a:r>
            <a:r>
              <a:rPr lang="ru-RU" sz="4000" b="1" dirty="0" smtClean="0"/>
              <a:t>ТРАНЗАКЦИЯ</a:t>
            </a:r>
            <a:r>
              <a:rPr lang="ru-RU" sz="4000" dirty="0" smtClean="0"/>
              <a:t> либо успешно завершится, либо будет завершена без изменения содержимого БД</a:t>
            </a:r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4000" dirty="0" smtClean="0"/>
              <a:t>Система управления транзакциями гарантирует, что данные из БД после всех </a:t>
            </a:r>
            <a:r>
              <a:rPr lang="ru-RU" sz="4000" b="1" dirty="0" smtClean="0"/>
              <a:t>ЗАВЕРШЕННЫХ транзакций</a:t>
            </a:r>
            <a:r>
              <a:rPr lang="ru-RU" sz="4000" dirty="0" smtClean="0"/>
              <a:t> будут сохранены в БД </a:t>
            </a:r>
            <a:endParaRPr lang="ru-RU" sz="4000" dirty="0"/>
          </a:p>
          <a:p>
            <a:pPr lvl="1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en-US" sz="4000" dirty="0" smtClean="0"/>
              <a:t>OLTP (Online Transaction Processing) </a:t>
            </a:r>
            <a:r>
              <a:rPr lang="ru-RU" sz="4000" dirty="0" smtClean="0"/>
              <a:t>позволяет приложениям обрабатывать сотни транзакций в секунду.</a:t>
            </a:r>
          </a:p>
          <a:p>
            <a:pPr marL="45720" indent="0">
              <a:buNone/>
            </a:pPr>
            <a:endParaRPr lang="ru-RU" sz="2600" b="1" dirty="0">
              <a:solidFill>
                <a:srgbClr val="000099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388424" y="6165305"/>
            <a:ext cx="532656" cy="360040"/>
          </a:xfrm>
        </p:spPr>
        <p:txBody>
          <a:bodyPr/>
          <a:lstStyle/>
          <a:p>
            <a:pPr algn="r">
              <a:defRPr/>
            </a:pPr>
            <a:fld id="{EC81DC93-3EA9-4CDA-BBF1-B2CF1316C53F}" type="slidenum">
              <a:rPr lang="ru-RU" smtClean="0"/>
              <a:pPr algn="r">
                <a:defRPr/>
              </a:pPr>
              <a:t>24</a:t>
            </a:fld>
            <a:endParaRPr lang="ru-RU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93379" y="138236"/>
            <a:ext cx="8568952" cy="792088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Georgia" pitchFamily="18" charset="0"/>
              <a:buNone/>
            </a:pPr>
            <a:r>
              <a:rPr lang="ru-RU" sz="4200" b="0" dirty="0" smtClean="0">
                <a:solidFill>
                  <a:schemeClr val="bg2"/>
                </a:solidFill>
              </a:rPr>
              <a:t>Подход баз данных. 3</a:t>
            </a:r>
            <a:endParaRPr lang="ru-RU" sz="3300" b="0" dirty="0" smtClean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3758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6480720" cy="648072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ru-RU" sz="3600" b="1" dirty="0" smtClean="0">
                <a:solidFill>
                  <a:schemeClr val="bg2"/>
                </a:solidFill>
              </a:rPr>
              <a:t>Пользователи БД</a:t>
            </a:r>
          </a:p>
        </p:txBody>
      </p:sp>
      <p:sp>
        <p:nvSpPr>
          <p:cNvPr id="25603" name="Объект 2"/>
          <p:cNvSpPr>
            <a:spLocks noGrp="1"/>
          </p:cNvSpPr>
          <p:nvPr>
            <p:ph idx="1"/>
          </p:nvPr>
        </p:nvSpPr>
        <p:spPr>
          <a:xfrm>
            <a:off x="206515" y="818710"/>
            <a:ext cx="8937485" cy="5634626"/>
          </a:xfrm>
        </p:spPr>
        <p:txBody>
          <a:bodyPr>
            <a:normAutofit/>
          </a:bodyPr>
          <a:lstStyle/>
          <a:p>
            <a:pPr marL="45720" indent="0">
              <a:spcBef>
                <a:spcPts val="900"/>
              </a:spcBef>
              <a:spcAft>
                <a:spcPts val="600"/>
              </a:spcAft>
              <a:buNone/>
            </a:pPr>
            <a:r>
              <a:rPr lang="ru-RU" sz="3500" dirty="0" smtClean="0">
                <a:solidFill>
                  <a:srgbClr val="000099"/>
                </a:solidFill>
              </a:rPr>
              <a:t>Пользователей можно разделить на </a:t>
            </a:r>
            <a:r>
              <a:rPr lang="ru-RU" sz="3600" dirty="0" smtClean="0">
                <a:solidFill>
                  <a:srgbClr val="000099"/>
                </a:solidFill>
              </a:rPr>
              <a:t>:</a:t>
            </a:r>
          </a:p>
          <a:p>
            <a:pPr>
              <a:spcBef>
                <a:spcPts val="900"/>
              </a:spcBef>
              <a:spcAft>
                <a:spcPts val="600"/>
              </a:spcAft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3400" dirty="0" smtClean="0"/>
              <a:t>Тех</a:t>
            </a:r>
            <a:r>
              <a:rPr lang="ru-RU" sz="3400" dirty="0"/>
              <a:t>, кто активно использует содержимое баз данных </a:t>
            </a:r>
            <a:r>
              <a:rPr lang="ru-RU" sz="3400" dirty="0" smtClean="0"/>
              <a:t>или создает</a:t>
            </a:r>
            <a:r>
              <a:rPr lang="ru-RU" sz="3400" dirty="0"/>
              <a:t>, разрабатывает приложения с базами </a:t>
            </a:r>
            <a:r>
              <a:rPr lang="ru-RU" sz="3400" dirty="0" smtClean="0"/>
              <a:t>данных </a:t>
            </a:r>
            <a:br>
              <a:rPr lang="ru-RU" sz="3400" dirty="0" smtClean="0"/>
            </a:br>
            <a:r>
              <a:rPr lang="ru-RU" sz="3400" dirty="0" smtClean="0"/>
              <a:t>(</a:t>
            </a:r>
            <a:r>
              <a:rPr lang="ru-RU" sz="3400" b="1" dirty="0" smtClean="0"/>
              <a:t>Актеры на </a:t>
            </a:r>
            <a:r>
              <a:rPr lang="ru-RU" sz="3400" b="1" dirty="0" smtClean="0"/>
              <a:t>сцене</a:t>
            </a:r>
            <a:r>
              <a:rPr lang="ru-RU" sz="3400" dirty="0" smtClean="0"/>
              <a:t>)</a:t>
            </a:r>
            <a:endParaRPr lang="ru-RU" sz="3400" dirty="0" smtClean="0"/>
          </a:p>
          <a:p>
            <a:pPr>
              <a:spcBef>
                <a:spcPts val="900"/>
              </a:spcBef>
              <a:spcAft>
                <a:spcPts val="600"/>
              </a:spcAft>
              <a:buClr>
                <a:srgbClr val="000099"/>
              </a:buClr>
              <a:buSzPct val="100000"/>
              <a:buFont typeface="Wingdings" pitchFamily="2" charset="2"/>
              <a:buChar char="v"/>
            </a:pPr>
            <a:r>
              <a:rPr lang="ru-RU" sz="3400" dirty="0"/>
              <a:t>Тех, кто создает </a:t>
            </a:r>
            <a:r>
              <a:rPr lang="ru-RU" sz="3400" dirty="0" smtClean="0"/>
              <a:t>СУБД и инструменты </a:t>
            </a:r>
            <a:r>
              <a:rPr lang="ru-RU" sz="3400" dirty="0"/>
              <a:t>для создания баз данных и </a:t>
            </a:r>
            <a:r>
              <a:rPr lang="ru-RU" sz="3400" dirty="0" smtClean="0"/>
              <a:t>приложений </a:t>
            </a:r>
            <a:br>
              <a:rPr lang="ru-RU" sz="3400" dirty="0" smtClean="0"/>
            </a:br>
            <a:r>
              <a:rPr lang="ru-RU" sz="3400" dirty="0" smtClean="0"/>
              <a:t>(</a:t>
            </a:r>
            <a:r>
              <a:rPr lang="ru-RU" sz="3400" b="1" dirty="0" smtClean="0"/>
              <a:t>Рабочие за сценой – системные программисты</a:t>
            </a:r>
            <a:r>
              <a:rPr lang="ru-RU" sz="3400" dirty="0" smtClean="0"/>
              <a:t>)</a:t>
            </a:r>
            <a:endParaRPr lang="ru-RU" sz="34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/>
          <p:cNvSpPr>
            <a:spLocks noGrp="1"/>
          </p:cNvSpPr>
          <p:nvPr>
            <p:ph type="title"/>
          </p:nvPr>
        </p:nvSpPr>
        <p:spPr>
          <a:xfrm>
            <a:off x="656565" y="143635"/>
            <a:ext cx="8235915" cy="720080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Пользователи БД (</a:t>
            </a:r>
            <a:r>
              <a:rPr lang="ru-RU" sz="3200" dirty="0" smtClean="0">
                <a:solidFill>
                  <a:srgbClr val="000099"/>
                </a:solidFill>
              </a:rPr>
              <a:t>Актеры на сцене</a:t>
            </a:r>
            <a:r>
              <a:rPr lang="ru-RU" sz="3200" dirty="0" smtClean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25603" name="Объект 2"/>
          <p:cNvSpPr>
            <a:spLocks noGrp="1"/>
          </p:cNvSpPr>
          <p:nvPr>
            <p:ph idx="1"/>
          </p:nvPr>
        </p:nvSpPr>
        <p:spPr>
          <a:xfrm>
            <a:off x="389023" y="764704"/>
            <a:ext cx="8748464" cy="5877272"/>
          </a:xfrm>
        </p:spPr>
        <p:txBody>
          <a:bodyPr>
            <a:normAutofit/>
          </a:bodyPr>
          <a:lstStyle/>
          <a:p>
            <a:pPr lvl="1">
              <a:buClr>
                <a:srgbClr val="000099"/>
              </a:buClr>
              <a:buSzPct val="90000"/>
              <a:buFont typeface="Wingdings" pitchFamily="2" charset="2"/>
              <a:buChar char="q"/>
            </a:pPr>
            <a:r>
              <a:rPr lang="ru-RU" sz="2400" b="1" dirty="0" smtClean="0">
                <a:solidFill>
                  <a:srgbClr val="C00000"/>
                </a:solidFill>
              </a:rPr>
              <a:t>Администраторы </a:t>
            </a:r>
            <a:r>
              <a:rPr lang="ru-RU" sz="2400" b="1" dirty="0">
                <a:solidFill>
                  <a:srgbClr val="C00000"/>
                </a:solidFill>
              </a:rPr>
              <a:t>баз </a:t>
            </a:r>
            <a:r>
              <a:rPr lang="ru-RU" sz="2400" b="1" dirty="0" smtClean="0">
                <a:solidFill>
                  <a:srgbClr val="C00000"/>
                </a:solidFill>
              </a:rPr>
              <a:t>данных</a:t>
            </a:r>
            <a:r>
              <a:rPr lang="ru-RU" sz="2400" dirty="0" smtClean="0">
                <a:solidFill>
                  <a:srgbClr val="C00000"/>
                </a:solidFill>
              </a:rPr>
              <a:t>, ответственные </a:t>
            </a:r>
          </a:p>
          <a:p>
            <a:pPr lvl="2">
              <a:buSzPct val="100000"/>
              <a:buFont typeface="Wingdings" pitchFamily="2" charset="2"/>
              <a:buChar char="ü"/>
            </a:pPr>
            <a:r>
              <a:rPr lang="ru-RU" sz="2200" b="1" dirty="0" smtClean="0">
                <a:solidFill>
                  <a:srgbClr val="000099"/>
                </a:solidFill>
              </a:rPr>
              <a:t> </a:t>
            </a:r>
            <a:r>
              <a:rPr lang="ru-RU" sz="2200" dirty="0" smtClean="0">
                <a:solidFill>
                  <a:srgbClr val="000099"/>
                </a:solidFill>
              </a:rPr>
              <a:t>за разрешение доступа к </a:t>
            </a:r>
            <a:r>
              <a:rPr lang="ru-RU" sz="2200" dirty="0">
                <a:solidFill>
                  <a:srgbClr val="000099"/>
                </a:solidFill>
              </a:rPr>
              <a:t>БД </a:t>
            </a:r>
            <a:endParaRPr lang="ru-RU" sz="2200" dirty="0" smtClean="0">
              <a:solidFill>
                <a:srgbClr val="000099"/>
              </a:solidFill>
            </a:endParaRPr>
          </a:p>
          <a:p>
            <a:pPr lvl="2">
              <a:buSzPct val="100000"/>
              <a:buFont typeface="Wingdings" pitchFamily="2" charset="2"/>
              <a:buChar char="ü"/>
            </a:pPr>
            <a:r>
              <a:rPr lang="ru-RU" sz="2200" dirty="0" smtClean="0">
                <a:solidFill>
                  <a:srgbClr val="000099"/>
                </a:solidFill>
              </a:rPr>
              <a:t> за </a:t>
            </a:r>
            <a:r>
              <a:rPr lang="ru-RU" sz="2200" dirty="0">
                <a:solidFill>
                  <a:srgbClr val="000099"/>
                </a:solidFill>
              </a:rPr>
              <a:t>координацию и контроль ее использования, </a:t>
            </a:r>
            <a:endParaRPr lang="ru-RU" sz="2200" dirty="0" smtClean="0">
              <a:solidFill>
                <a:srgbClr val="000099"/>
              </a:solidFill>
            </a:endParaRPr>
          </a:p>
          <a:p>
            <a:pPr lvl="2">
              <a:buSzPct val="100000"/>
              <a:buFont typeface="Wingdings" pitchFamily="2" charset="2"/>
              <a:buChar char="ü"/>
            </a:pPr>
            <a:r>
              <a:rPr lang="ru-RU" sz="2200" dirty="0" smtClean="0">
                <a:solidFill>
                  <a:srgbClr val="000099"/>
                </a:solidFill>
              </a:rPr>
              <a:t> приобретение </a:t>
            </a:r>
            <a:r>
              <a:rPr lang="ru-RU" sz="2200" dirty="0">
                <a:solidFill>
                  <a:srgbClr val="000099"/>
                </a:solidFill>
              </a:rPr>
              <a:t>программного обеспечения и аппаратных ресурсов, </a:t>
            </a:r>
            <a:endParaRPr lang="ru-RU" sz="2200" dirty="0" smtClean="0">
              <a:solidFill>
                <a:srgbClr val="000099"/>
              </a:solidFill>
            </a:endParaRPr>
          </a:p>
          <a:p>
            <a:pPr lvl="2">
              <a:buSzPct val="100000"/>
              <a:buFont typeface="Wingdings" pitchFamily="2" charset="2"/>
              <a:buChar char="ü"/>
            </a:pPr>
            <a:r>
              <a:rPr lang="ru-RU" sz="2200" dirty="0" smtClean="0">
                <a:solidFill>
                  <a:srgbClr val="000099"/>
                </a:solidFill>
              </a:rPr>
              <a:t> за  контроль использования ПО и аппаратуры и мониторинг </a:t>
            </a:r>
            <a:r>
              <a:rPr lang="ru-RU" sz="2200" dirty="0">
                <a:solidFill>
                  <a:srgbClr val="000099"/>
                </a:solidFill>
              </a:rPr>
              <a:t>эффективности </a:t>
            </a:r>
            <a:r>
              <a:rPr lang="ru-RU" sz="2200" dirty="0" smtClean="0">
                <a:solidFill>
                  <a:srgbClr val="000099"/>
                </a:solidFill>
              </a:rPr>
              <a:t>работы системы БД</a:t>
            </a:r>
            <a:endParaRPr lang="ru-RU" sz="2200" dirty="0">
              <a:solidFill>
                <a:srgbClr val="000099"/>
              </a:solidFill>
            </a:endParaRPr>
          </a:p>
          <a:p>
            <a:pPr lvl="1">
              <a:buClr>
                <a:srgbClr val="000099"/>
              </a:buClr>
              <a:buSzPct val="90000"/>
              <a:buFont typeface="Wingdings" pitchFamily="2" charset="2"/>
              <a:buChar char="q"/>
            </a:pPr>
            <a:r>
              <a:rPr lang="ru-RU" sz="2400" dirty="0" smtClean="0">
                <a:solidFill>
                  <a:srgbClr val="C00000"/>
                </a:solidFill>
              </a:rPr>
              <a:t> </a:t>
            </a:r>
            <a:r>
              <a:rPr lang="ru-RU" sz="2400" b="1" dirty="0" smtClean="0">
                <a:solidFill>
                  <a:srgbClr val="C00000"/>
                </a:solidFill>
              </a:rPr>
              <a:t>Проектировщики </a:t>
            </a:r>
            <a:r>
              <a:rPr lang="ru-RU" sz="2400" b="1" dirty="0">
                <a:solidFill>
                  <a:srgbClr val="C00000"/>
                </a:solidFill>
              </a:rPr>
              <a:t>баз данных, </a:t>
            </a:r>
            <a:r>
              <a:rPr lang="ru-RU" sz="2400" dirty="0" smtClean="0">
                <a:solidFill>
                  <a:srgbClr val="C00000"/>
                </a:solidFill>
              </a:rPr>
              <a:t>ответственные </a:t>
            </a:r>
            <a:r>
              <a:rPr lang="ru-RU" sz="2400" dirty="0">
                <a:solidFill>
                  <a:srgbClr val="C00000"/>
                </a:solidFill>
              </a:rPr>
              <a:t>за определение</a:t>
            </a:r>
            <a:r>
              <a:rPr lang="ru-RU" sz="2400" dirty="0" smtClean="0">
                <a:solidFill>
                  <a:srgbClr val="C00000"/>
                </a:solidFill>
              </a:rPr>
              <a:t> </a:t>
            </a:r>
            <a:endParaRPr lang="ru-RU" sz="2400" dirty="0">
              <a:solidFill>
                <a:srgbClr val="C00000"/>
              </a:solidFill>
            </a:endParaRPr>
          </a:p>
          <a:p>
            <a:pPr lvl="2">
              <a:buFont typeface="Wingdings" pitchFamily="2" charset="2"/>
              <a:buChar char="ü"/>
            </a:pPr>
            <a:r>
              <a:rPr lang="ru-RU" sz="2200" dirty="0" smtClean="0">
                <a:solidFill>
                  <a:srgbClr val="000099"/>
                </a:solidFill>
              </a:rPr>
              <a:t> содержания базы данных, </a:t>
            </a:r>
          </a:p>
          <a:p>
            <a:pPr lvl="2">
              <a:buFont typeface="Wingdings" pitchFamily="2" charset="2"/>
              <a:buChar char="ü"/>
            </a:pPr>
            <a:r>
              <a:rPr lang="ru-RU" sz="2200" dirty="0" smtClean="0">
                <a:solidFill>
                  <a:srgbClr val="000099"/>
                </a:solidFill>
              </a:rPr>
              <a:t> структуры элементов базы данных, </a:t>
            </a:r>
          </a:p>
          <a:p>
            <a:pPr lvl="2">
              <a:buFont typeface="Wingdings" pitchFamily="2" charset="2"/>
              <a:buChar char="ü"/>
            </a:pPr>
            <a:r>
              <a:rPr lang="ru-RU" sz="2200" dirty="0" smtClean="0">
                <a:solidFill>
                  <a:srgbClr val="000099"/>
                </a:solidFill>
              </a:rPr>
              <a:t> ограничений </a:t>
            </a:r>
            <a:r>
              <a:rPr lang="ru-RU" sz="2200" dirty="0">
                <a:solidFill>
                  <a:srgbClr val="000099"/>
                </a:solidFill>
              </a:rPr>
              <a:t>и функции или операции над базой </a:t>
            </a:r>
            <a:r>
              <a:rPr lang="ru-RU" sz="2200" dirty="0" smtClean="0">
                <a:solidFill>
                  <a:srgbClr val="000099"/>
                </a:solidFill>
              </a:rPr>
              <a:t>данных.</a:t>
            </a:r>
          </a:p>
          <a:p>
            <a:pPr marL="640080" lvl="2" indent="0">
              <a:buNone/>
            </a:pPr>
            <a:r>
              <a:rPr lang="ru-RU" sz="2200" dirty="0" smtClean="0">
                <a:solidFill>
                  <a:srgbClr val="000099"/>
                </a:solidFill>
              </a:rPr>
              <a:t>Они </a:t>
            </a:r>
            <a:r>
              <a:rPr lang="ru-RU" sz="2200" dirty="0">
                <a:solidFill>
                  <a:srgbClr val="000099"/>
                </a:solidFill>
              </a:rPr>
              <a:t>должны общаться с конечными пользователями и понимать их потребности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5"/>
            <a:ext cx="676672" cy="288032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26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65923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/>
          <p:cNvSpPr>
            <a:spLocks noGrp="1"/>
          </p:cNvSpPr>
          <p:nvPr>
            <p:ph type="title"/>
          </p:nvPr>
        </p:nvSpPr>
        <p:spPr>
          <a:xfrm>
            <a:off x="656565" y="143635"/>
            <a:ext cx="8235915" cy="720080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Пользователи БД (</a:t>
            </a:r>
            <a:r>
              <a:rPr lang="ru-RU" sz="3200" dirty="0" smtClean="0">
                <a:solidFill>
                  <a:srgbClr val="000099"/>
                </a:solidFill>
              </a:rPr>
              <a:t>Актеры на сцене</a:t>
            </a:r>
            <a:r>
              <a:rPr lang="ru-RU" sz="3200" dirty="0" smtClean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25603" name="Объект 2"/>
          <p:cNvSpPr>
            <a:spLocks noGrp="1"/>
          </p:cNvSpPr>
          <p:nvPr>
            <p:ph idx="1"/>
          </p:nvPr>
        </p:nvSpPr>
        <p:spPr>
          <a:xfrm>
            <a:off x="386535" y="908720"/>
            <a:ext cx="8458452" cy="5499611"/>
          </a:xfrm>
        </p:spPr>
        <p:txBody>
          <a:bodyPr>
            <a:normAutofit/>
          </a:bodyPr>
          <a:lstStyle/>
          <a:p>
            <a:pPr lvl="1">
              <a:buClr>
                <a:srgbClr val="000099"/>
              </a:buClr>
              <a:buSzPct val="90000"/>
              <a:buFont typeface="Wingdings" pitchFamily="2" charset="2"/>
              <a:buChar char="q"/>
            </a:pPr>
            <a:endParaRPr lang="ru-RU" sz="2400" b="1" dirty="0" smtClean="0">
              <a:solidFill>
                <a:srgbClr val="C00000"/>
              </a:solidFill>
            </a:endParaRPr>
          </a:p>
          <a:p>
            <a:pPr lvl="1">
              <a:buClr>
                <a:srgbClr val="000099"/>
              </a:buClr>
              <a:buSzPct val="90000"/>
              <a:buFont typeface="Wingdings" pitchFamily="2" charset="2"/>
              <a:buChar char="q"/>
            </a:pPr>
            <a:r>
              <a:rPr lang="ru-RU" sz="2400" b="1" dirty="0" smtClean="0">
                <a:solidFill>
                  <a:srgbClr val="C00000"/>
                </a:solidFill>
              </a:rPr>
              <a:t>Прикладные программисты, </a:t>
            </a:r>
            <a:endParaRPr lang="ru-RU" sz="2400" dirty="0">
              <a:solidFill>
                <a:srgbClr val="C00000"/>
              </a:solidFill>
            </a:endParaRPr>
          </a:p>
          <a:p>
            <a:pPr lvl="2">
              <a:buFont typeface="Wingdings" pitchFamily="2" charset="2"/>
              <a:buChar char="ü"/>
            </a:pPr>
            <a:r>
              <a:rPr lang="ru-RU" sz="2200" dirty="0" smtClean="0">
                <a:solidFill>
                  <a:srgbClr val="000099"/>
                </a:solidFill>
              </a:rPr>
              <a:t> вместе с проектировщиками БД разрабатывают структуры элементов базы данных </a:t>
            </a:r>
          </a:p>
          <a:p>
            <a:pPr lvl="2">
              <a:buFont typeface="Wingdings" pitchFamily="2" charset="2"/>
              <a:buChar char="ü"/>
            </a:pPr>
            <a:r>
              <a:rPr lang="ru-RU" sz="2200" dirty="0" smtClean="0">
                <a:solidFill>
                  <a:srgbClr val="000099"/>
                </a:solidFill>
              </a:rPr>
              <a:t>разрабатывают прикладные программы (информационные системы), использующие базы данных </a:t>
            </a:r>
          </a:p>
          <a:p>
            <a:pPr lvl="3">
              <a:buClr>
                <a:schemeClr val="accent1">
                  <a:lumMod val="50000"/>
                </a:schemeClr>
              </a:buClr>
              <a:buFont typeface="Wingdings" pitchFamily="2" charset="2"/>
              <a:buChar char="Ø"/>
            </a:pPr>
            <a:r>
              <a:rPr lang="ru-RU" sz="1800" dirty="0" smtClean="0">
                <a:solidFill>
                  <a:srgbClr val="000099"/>
                </a:solidFill>
              </a:rPr>
              <a:t>проектируют </a:t>
            </a:r>
          </a:p>
          <a:p>
            <a:pPr lvl="3">
              <a:buClr>
                <a:schemeClr val="accent1">
                  <a:lumMod val="50000"/>
                </a:schemeClr>
              </a:buClr>
              <a:buFont typeface="Wingdings" pitchFamily="2" charset="2"/>
              <a:buChar char="Ø"/>
            </a:pPr>
            <a:r>
              <a:rPr lang="ru-RU" sz="1800" dirty="0" smtClean="0">
                <a:solidFill>
                  <a:srgbClr val="000099"/>
                </a:solidFill>
              </a:rPr>
              <a:t>программируют (кодируют)</a:t>
            </a:r>
          </a:p>
          <a:p>
            <a:pPr lvl="3">
              <a:buClr>
                <a:schemeClr val="accent1">
                  <a:lumMod val="50000"/>
                </a:schemeClr>
              </a:buClr>
              <a:buFont typeface="Wingdings" pitchFamily="2" charset="2"/>
              <a:buChar char="Ø"/>
            </a:pPr>
            <a:r>
              <a:rPr lang="ru-RU" sz="1800" dirty="0" smtClean="0">
                <a:solidFill>
                  <a:srgbClr val="000099"/>
                </a:solidFill>
              </a:rPr>
              <a:t>ведут отладку </a:t>
            </a:r>
          </a:p>
          <a:p>
            <a:pPr lvl="2">
              <a:buNone/>
            </a:pPr>
            <a:endParaRPr lang="ru-RU" sz="2200" dirty="0" smtClean="0">
              <a:solidFill>
                <a:srgbClr val="000099"/>
              </a:solidFill>
            </a:endParaRPr>
          </a:p>
          <a:p>
            <a:pPr marL="640080" lvl="2" indent="0">
              <a:buNone/>
            </a:pPr>
            <a:r>
              <a:rPr lang="ru-RU" sz="2200" dirty="0" smtClean="0">
                <a:solidFill>
                  <a:srgbClr val="000099"/>
                </a:solidFill>
              </a:rPr>
              <a:t>Они </a:t>
            </a:r>
            <a:r>
              <a:rPr lang="ru-RU" sz="2200" dirty="0">
                <a:solidFill>
                  <a:srgbClr val="000099"/>
                </a:solidFill>
              </a:rPr>
              <a:t>должны общаться с </a:t>
            </a:r>
            <a:r>
              <a:rPr lang="ru-RU" sz="2200" dirty="0" smtClean="0">
                <a:solidFill>
                  <a:srgbClr val="000099"/>
                </a:solidFill>
              </a:rPr>
              <a:t>заказчиками прикладных систем, конечными пользователями и </a:t>
            </a:r>
            <a:r>
              <a:rPr lang="ru-RU" sz="2200" dirty="0">
                <a:solidFill>
                  <a:srgbClr val="000099"/>
                </a:solidFill>
              </a:rPr>
              <a:t>понимать их </a:t>
            </a:r>
            <a:r>
              <a:rPr lang="ru-RU" sz="2200" dirty="0" smtClean="0">
                <a:solidFill>
                  <a:srgbClr val="000099"/>
                </a:solidFill>
              </a:rPr>
              <a:t>потребности. </a:t>
            </a:r>
            <a:endParaRPr lang="ru-RU" sz="2200" dirty="0">
              <a:solidFill>
                <a:srgbClr val="000099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5"/>
            <a:ext cx="676672" cy="288032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27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65923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712968" cy="792088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dirty="0">
                <a:solidFill>
                  <a:schemeClr val="bg2"/>
                </a:solidFill>
              </a:rPr>
              <a:t>Пользователи БД </a:t>
            </a:r>
            <a:r>
              <a:rPr lang="ru-RU" sz="3600" b="0" dirty="0">
                <a:solidFill>
                  <a:schemeClr val="bg2"/>
                </a:solidFill>
              </a:rPr>
              <a:t>(актеры на сцене)</a:t>
            </a:r>
            <a:endParaRPr lang="ru-RU" sz="3600" dirty="0" smtClean="0">
              <a:solidFill>
                <a:schemeClr val="bg2"/>
              </a:solidFill>
            </a:endParaRPr>
          </a:p>
        </p:txBody>
      </p:sp>
      <p:sp>
        <p:nvSpPr>
          <p:cNvPr id="25603" name="Объект 2"/>
          <p:cNvSpPr>
            <a:spLocks noGrp="1"/>
          </p:cNvSpPr>
          <p:nvPr>
            <p:ph idx="1"/>
          </p:nvPr>
        </p:nvSpPr>
        <p:spPr>
          <a:xfrm>
            <a:off x="-1" y="980728"/>
            <a:ext cx="8937485" cy="5598622"/>
          </a:xfrm>
        </p:spPr>
        <p:txBody>
          <a:bodyPr>
            <a:normAutofit/>
          </a:bodyPr>
          <a:lstStyle/>
          <a:p>
            <a:pPr lvl="1">
              <a:buClr>
                <a:srgbClr val="000099"/>
              </a:buClr>
              <a:buSzPct val="90000"/>
              <a:buFont typeface="Wingdings" pitchFamily="2" charset="2"/>
              <a:buChar char="q"/>
            </a:pPr>
            <a:r>
              <a:rPr lang="ru-RU" sz="2400" dirty="0" smtClean="0">
                <a:solidFill>
                  <a:srgbClr val="C00000"/>
                </a:solidFill>
              </a:rPr>
              <a:t> </a:t>
            </a:r>
            <a:r>
              <a:rPr lang="ru-RU" sz="2400" b="1" dirty="0" smtClean="0">
                <a:solidFill>
                  <a:srgbClr val="C00000"/>
                </a:solidFill>
              </a:rPr>
              <a:t>Конечные пользователи</a:t>
            </a:r>
            <a:r>
              <a:rPr lang="ru-RU" sz="2400" dirty="0">
                <a:solidFill>
                  <a:srgbClr val="C00000"/>
                </a:solidFill>
              </a:rPr>
              <a:t>.</a:t>
            </a:r>
            <a:r>
              <a:rPr lang="ru-RU" sz="2400" dirty="0" smtClean="0">
                <a:solidFill>
                  <a:srgbClr val="C00000"/>
                </a:solidFill>
              </a:rPr>
              <a:t> </a:t>
            </a:r>
            <a:r>
              <a:rPr lang="ru-RU" sz="2400" dirty="0">
                <a:solidFill>
                  <a:srgbClr val="000099"/>
                </a:solidFill>
              </a:rPr>
              <a:t>Они используют данные для запросов, отчетов и некоторые из них </a:t>
            </a:r>
            <a:r>
              <a:rPr lang="ru-RU" sz="2400" dirty="0" smtClean="0">
                <a:solidFill>
                  <a:srgbClr val="000099"/>
                </a:solidFill>
              </a:rPr>
              <a:t>обновляют содержимое баз данных</a:t>
            </a:r>
            <a:r>
              <a:rPr lang="ru-RU" sz="2400" dirty="0" smtClean="0">
                <a:solidFill>
                  <a:srgbClr val="C00000"/>
                </a:solidFill>
              </a:rPr>
              <a:t>. </a:t>
            </a:r>
          </a:p>
          <a:p>
            <a:pPr marL="365760" lvl="1" indent="0">
              <a:buClr>
                <a:srgbClr val="000099"/>
              </a:buClr>
              <a:buSzPct val="100000"/>
              <a:buNone/>
            </a:pPr>
            <a:r>
              <a:rPr lang="ru-RU" sz="2400" dirty="0" smtClean="0">
                <a:solidFill>
                  <a:srgbClr val="C00000"/>
                </a:solidFill>
              </a:rPr>
              <a:t> Конечные </a:t>
            </a:r>
            <a:r>
              <a:rPr lang="ru-RU" sz="2400" dirty="0">
                <a:solidFill>
                  <a:srgbClr val="C00000"/>
                </a:solidFill>
              </a:rPr>
              <a:t>пользователи могут быть разделены на:</a:t>
            </a:r>
          </a:p>
          <a:p>
            <a:pPr lvl="2">
              <a:buClr>
                <a:srgbClr val="C00000"/>
              </a:buClr>
              <a:buSzPct val="100000"/>
              <a:buFont typeface="Wingdings" pitchFamily="2" charset="2"/>
              <a:buChar char="v"/>
            </a:pPr>
            <a:r>
              <a:rPr lang="ru-RU" sz="2400" b="1" u="sng" dirty="0" smtClean="0">
                <a:solidFill>
                  <a:srgbClr val="000099"/>
                </a:solidFill>
              </a:rPr>
              <a:t>Параметрические</a:t>
            </a:r>
            <a:r>
              <a:rPr lang="ru-RU" sz="2200" dirty="0" smtClean="0">
                <a:solidFill>
                  <a:srgbClr val="000099"/>
                </a:solidFill>
              </a:rPr>
              <a:t>: </a:t>
            </a:r>
            <a:r>
              <a:rPr lang="ru-RU" sz="2200" dirty="0">
                <a:solidFill>
                  <a:srgbClr val="000099"/>
                </a:solidFill>
              </a:rPr>
              <a:t>они составляют значительную </a:t>
            </a:r>
            <a:r>
              <a:rPr lang="ru-RU" sz="2200" dirty="0" smtClean="0">
                <a:solidFill>
                  <a:srgbClr val="000099"/>
                </a:solidFill>
              </a:rPr>
              <a:t>часть всех конечных пользователей.</a:t>
            </a:r>
            <a:endParaRPr lang="ru-RU" sz="2200" dirty="0">
              <a:solidFill>
                <a:srgbClr val="000099"/>
              </a:solidFill>
            </a:endParaRPr>
          </a:p>
          <a:p>
            <a:pPr lvl="3"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ru-RU" sz="2400" dirty="0"/>
              <a:t>Они используют ранее четко определенные функции в виде </a:t>
            </a:r>
            <a:r>
              <a:rPr lang="ru-RU" sz="2400" dirty="0" smtClean="0"/>
              <a:t>«стандартных операций</a:t>
            </a:r>
            <a:r>
              <a:rPr lang="ru-RU" sz="2400" dirty="0"/>
              <a:t>" в базе данных.</a:t>
            </a:r>
          </a:p>
          <a:p>
            <a:pPr lvl="3"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ru-RU" sz="2400" dirty="0" smtClean="0"/>
              <a:t>Примеры: кассиры банка </a:t>
            </a:r>
            <a:r>
              <a:rPr lang="ru-RU" sz="2400" dirty="0"/>
              <a:t>или </a:t>
            </a:r>
            <a:r>
              <a:rPr lang="ru-RU" sz="2400" dirty="0" smtClean="0"/>
              <a:t>в ж/д или авиа кассе, который делают однотипную работу в течение всего рабочего дня</a:t>
            </a:r>
            <a:endParaRPr lang="ru-RU" sz="24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4"/>
            <a:ext cx="676672" cy="432048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28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33698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92088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dirty="0" smtClean="0">
                <a:solidFill>
                  <a:schemeClr val="bg2"/>
                </a:solidFill>
              </a:rPr>
              <a:t>Пользователи БД </a:t>
            </a:r>
            <a:r>
              <a:rPr lang="ru-RU" sz="3600" b="0" dirty="0" smtClean="0">
                <a:solidFill>
                  <a:schemeClr val="bg2"/>
                </a:solidFill>
              </a:rPr>
              <a:t>(</a:t>
            </a:r>
            <a:r>
              <a:rPr lang="ru-RU" sz="3200" b="0" dirty="0" smtClean="0">
                <a:solidFill>
                  <a:schemeClr val="bg2"/>
                </a:solidFill>
              </a:rPr>
              <a:t>конечные пользователи</a:t>
            </a:r>
            <a:r>
              <a:rPr lang="ru-RU" sz="3600" b="0" dirty="0" smtClean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25603" name="Объект 2"/>
          <p:cNvSpPr>
            <a:spLocks noGrp="1"/>
          </p:cNvSpPr>
          <p:nvPr>
            <p:ph idx="1"/>
          </p:nvPr>
        </p:nvSpPr>
        <p:spPr>
          <a:xfrm>
            <a:off x="251520" y="773705"/>
            <a:ext cx="8640960" cy="5760640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120000"/>
              </a:lnSpc>
              <a:buClr>
                <a:srgbClr val="C00000"/>
              </a:buClr>
              <a:buSzPct val="100000"/>
              <a:buFont typeface="Wingdings" pitchFamily="2" charset="2"/>
              <a:buChar char="v"/>
            </a:pPr>
            <a:r>
              <a:rPr lang="ru-RU" b="1" u="sng" dirty="0" smtClean="0">
                <a:solidFill>
                  <a:srgbClr val="000099"/>
                </a:solidFill>
              </a:rPr>
              <a:t>Сложные</a:t>
            </a:r>
            <a:r>
              <a:rPr lang="ru-RU" b="1" u="sng" dirty="0">
                <a:solidFill>
                  <a:srgbClr val="000099"/>
                </a:solidFill>
              </a:rPr>
              <a:t>:</a:t>
            </a:r>
          </a:p>
          <a:p>
            <a:pPr lvl="2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ru-RU" sz="2800" dirty="0" smtClean="0"/>
              <a:t>Это бизнес-аналитики, ученые, инженеры, другие специалисты, хорошо знакомые </a:t>
            </a:r>
            <a:r>
              <a:rPr lang="ru-RU" sz="2800" dirty="0"/>
              <a:t>с возможностями системы.</a:t>
            </a:r>
          </a:p>
          <a:p>
            <a:pPr lvl="2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ru-RU" sz="2800" dirty="0"/>
              <a:t>Многие </a:t>
            </a:r>
            <a:r>
              <a:rPr lang="ru-RU" sz="2800" dirty="0" smtClean="0"/>
              <a:t>используют программные пакеты, </a:t>
            </a:r>
            <a:r>
              <a:rPr lang="ru-RU" sz="2800" dirty="0"/>
              <a:t>которые </a:t>
            </a:r>
            <a:r>
              <a:rPr lang="ru-RU" sz="2800" dirty="0" smtClean="0"/>
              <a:t>взаимодействуют с базой </a:t>
            </a:r>
            <a:r>
              <a:rPr lang="ru-RU" sz="2800" dirty="0"/>
              <a:t>данных</a:t>
            </a:r>
            <a:r>
              <a:rPr lang="ru-RU" sz="2800" dirty="0">
                <a:solidFill>
                  <a:srgbClr val="C00000"/>
                </a:solidFill>
              </a:rPr>
              <a:t>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SzPct val="100000"/>
              <a:buFont typeface="Wingdings" pitchFamily="2" charset="2"/>
              <a:buChar char="v"/>
            </a:pPr>
            <a:r>
              <a:rPr lang="ru-RU" b="1" u="sng" dirty="0">
                <a:solidFill>
                  <a:srgbClr val="000099"/>
                </a:solidFill>
              </a:rPr>
              <a:t>Автономные:</a:t>
            </a:r>
          </a:p>
          <a:p>
            <a:pPr lvl="2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ru-RU" sz="2800" dirty="0" smtClean="0"/>
              <a:t>Это пользователи, которые ведут </a:t>
            </a:r>
            <a:r>
              <a:rPr lang="ru-RU" sz="2800" dirty="0"/>
              <a:t>личную </a:t>
            </a:r>
            <a:r>
              <a:rPr lang="ru-RU" sz="2800" dirty="0" smtClean="0"/>
              <a:t>базу </a:t>
            </a:r>
            <a:r>
              <a:rPr lang="ru-RU" sz="2800" dirty="0"/>
              <a:t>данных с помощью готовых </a:t>
            </a:r>
            <a:r>
              <a:rPr lang="ru-RU" sz="2800" dirty="0" smtClean="0"/>
              <a:t>пакетов </a:t>
            </a:r>
            <a:r>
              <a:rPr lang="ru-RU" sz="2800" dirty="0"/>
              <a:t>приложений.</a:t>
            </a:r>
          </a:p>
          <a:p>
            <a:pPr lvl="2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ru-RU" sz="2800" dirty="0"/>
              <a:t>Примером может служить </a:t>
            </a:r>
            <a:r>
              <a:rPr lang="ru-RU" sz="2800" dirty="0" smtClean="0"/>
              <a:t>программа исчисления налога </a:t>
            </a:r>
            <a:r>
              <a:rPr lang="ru-RU" sz="2800" dirty="0"/>
              <a:t>на </a:t>
            </a:r>
            <a:r>
              <a:rPr lang="ru-RU" sz="2800" dirty="0" smtClean="0"/>
              <a:t>пользователей, </a:t>
            </a:r>
            <a:r>
              <a:rPr lang="ru-RU" sz="2800" dirty="0"/>
              <a:t>которая создает свою собственную внутреннюю базу данных.</a:t>
            </a:r>
          </a:p>
          <a:p>
            <a:pPr lvl="2">
              <a:lnSpc>
                <a:spcPct val="12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ru-RU" sz="2800" dirty="0"/>
              <a:t>Другим примером является пользователь, который </a:t>
            </a:r>
            <a:r>
              <a:rPr lang="ru-RU" sz="2800" dirty="0" smtClean="0"/>
              <a:t>ведет свою адресную книгу</a:t>
            </a:r>
            <a:endParaRPr lang="ru-RU" sz="28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4"/>
            <a:ext cx="676672" cy="432048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29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67027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057226"/>
            <a:ext cx="8352928" cy="5616624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ru-RU" sz="3800" b="1" dirty="0" smtClean="0">
                <a:solidFill>
                  <a:srgbClr val="000099"/>
                </a:solidFill>
              </a:rPr>
              <a:t>Управление избыточностью в данных, разработке и сопровождении</a:t>
            </a:r>
            <a:endParaRPr lang="ru-RU" sz="3800" b="1" dirty="0">
              <a:solidFill>
                <a:srgbClr val="000099"/>
              </a:solidFill>
            </a:endParaRP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3100" dirty="0" smtClean="0">
                <a:solidFill>
                  <a:srgbClr val="C00000"/>
                </a:solidFill>
              </a:rPr>
              <a:t> </a:t>
            </a:r>
            <a:r>
              <a:rPr lang="ru-RU" sz="3600" dirty="0" smtClean="0">
                <a:solidFill>
                  <a:srgbClr val="C00000"/>
                </a:solidFill>
              </a:rPr>
              <a:t>Устранение </a:t>
            </a:r>
            <a:r>
              <a:rPr lang="ru-RU" sz="3600" dirty="0">
                <a:solidFill>
                  <a:srgbClr val="C00000"/>
                </a:solidFill>
              </a:rPr>
              <a:t>избыточности информативных данных</a:t>
            </a:r>
          </a:p>
          <a:p>
            <a:pPr lvl="2">
              <a:buFont typeface="Wingdings" pitchFamily="2" charset="2"/>
              <a:buChar char="ü"/>
            </a:pPr>
            <a:r>
              <a:rPr lang="ru-RU" sz="3600" dirty="0" smtClean="0">
                <a:solidFill>
                  <a:srgbClr val="000099"/>
                </a:solidFill>
              </a:rPr>
              <a:t> Аномалии </a:t>
            </a:r>
            <a:r>
              <a:rPr lang="ru-RU" sz="3600" dirty="0">
                <a:solidFill>
                  <a:srgbClr val="000099"/>
                </a:solidFill>
              </a:rPr>
              <a:t>вставки, </a:t>
            </a:r>
          </a:p>
          <a:p>
            <a:pPr lvl="2">
              <a:buFont typeface="Wingdings" pitchFamily="2" charset="2"/>
              <a:buChar char="ü"/>
            </a:pPr>
            <a:r>
              <a:rPr lang="ru-RU" sz="3600" dirty="0" smtClean="0">
                <a:solidFill>
                  <a:srgbClr val="000099"/>
                </a:solidFill>
              </a:rPr>
              <a:t> Аномалии </a:t>
            </a:r>
            <a:r>
              <a:rPr lang="ru-RU" sz="3600" dirty="0">
                <a:solidFill>
                  <a:srgbClr val="000099"/>
                </a:solidFill>
              </a:rPr>
              <a:t>удаления, </a:t>
            </a:r>
          </a:p>
          <a:p>
            <a:pPr lvl="2">
              <a:buFont typeface="Wingdings" pitchFamily="2" charset="2"/>
              <a:buChar char="ü"/>
            </a:pPr>
            <a:r>
              <a:rPr lang="ru-RU" sz="3600" dirty="0" smtClean="0">
                <a:solidFill>
                  <a:srgbClr val="000099"/>
                </a:solidFill>
              </a:rPr>
              <a:t> Аномалии </a:t>
            </a:r>
            <a:r>
              <a:rPr lang="ru-RU" sz="3600" dirty="0">
                <a:solidFill>
                  <a:srgbClr val="000099"/>
                </a:solidFill>
              </a:rPr>
              <a:t>редактирования</a:t>
            </a: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3600" dirty="0" smtClean="0">
                <a:solidFill>
                  <a:srgbClr val="C00000"/>
                </a:solidFill>
              </a:rPr>
              <a:t> Управляемая</a:t>
            </a:r>
            <a:r>
              <a:rPr lang="ru-RU" sz="3600" dirty="0" smtClean="0"/>
              <a:t> </a:t>
            </a:r>
            <a:r>
              <a:rPr lang="ru-RU" sz="3600" dirty="0">
                <a:solidFill>
                  <a:srgbClr val="C00000"/>
                </a:solidFill>
              </a:rPr>
              <a:t>избыточность</a:t>
            </a:r>
          </a:p>
          <a:p>
            <a:pPr lvl="2">
              <a:buFont typeface="Wingdings" pitchFamily="2" charset="2"/>
              <a:buChar char="ü"/>
            </a:pPr>
            <a:r>
              <a:rPr lang="ru-RU" sz="3600" dirty="0" smtClean="0">
                <a:solidFill>
                  <a:srgbClr val="000099"/>
                </a:solidFill>
              </a:rPr>
              <a:t> Индексирование</a:t>
            </a:r>
            <a:endParaRPr lang="ru-RU" sz="3600" dirty="0">
              <a:solidFill>
                <a:srgbClr val="000099"/>
              </a:solidFill>
            </a:endParaRPr>
          </a:p>
          <a:p>
            <a:pPr lvl="2">
              <a:buFont typeface="Wingdings" pitchFamily="2" charset="2"/>
              <a:buChar char="ü"/>
            </a:pPr>
            <a:r>
              <a:rPr lang="ru-RU" sz="3600" dirty="0" smtClean="0">
                <a:solidFill>
                  <a:srgbClr val="000099"/>
                </a:solidFill>
              </a:rPr>
              <a:t> Репликации </a:t>
            </a:r>
            <a:endParaRPr lang="ru-RU" sz="3600" dirty="0">
              <a:solidFill>
                <a:srgbClr val="000099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ru-RU" sz="3800" b="1" dirty="0" smtClean="0">
                <a:solidFill>
                  <a:srgbClr val="000099"/>
                </a:solidFill>
              </a:rPr>
              <a:t>Обеспечение </a:t>
            </a:r>
            <a:r>
              <a:rPr lang="ru-RU" sz="3800" b="1" dirty="0">
                <a:solidFill>
                  <a:srgbClr val="000099"/>
                </a:solidFill>
              </a:rPr>
              <a:t>целостности </a:t>
            </a:r>
            <a:r>
              <a:rPr lang="ru-RU" sz="3800" b="1" dirty="0" smtClean="0">
                <a:solidFill>
                  <a:srgbClr val="000099"/>
                </a:solidFill>
              </a:rPr>
              <a:t>данных</a:t>
            </a: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3000" b="1" dirty="0" smtClean="0">
                <a:solidFill>
                  <a:srgbClr val="C00000"/>
                </a:solidFill>
              </a:rPr>
              <a:t> </a:t>
            </a:r>
            <a:r>
              <a:rPr lang="ru-RU" sz="3600" dirty="0">
                <a:solidFill>
                  <a:srgbClr val="C00000"/>
                </a:solidFill>
              </a:rPr>
              <a:t>Логическая </a:t>
            </a:r>
            <a:r>
              <a:rPr lang="ru-RU" sz="3600" dirty="0" smtClean="0">
                <a:solidFill>
                  <a:srgbClr val="C00000"/>
                </a:solidFill>
              </a:rPr>
              <a:t>(ограничения на уровне описания данных)</a:t>
            </a:r>
            <a:endParaRPr lang="ru-RU" sz="3600" dirty="0">
              <a:solidFill>
                <a:srgbClr val="C00000"/>
              </a:solidFill>
            </a:endParaRP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3600" dirty="0" smtClean="0">
                <a:solidFill>
                  <a:srgbClr val="C00000"/>
                </a:solidFill>
              </a:rPr>
              <a:t> Физическая (</a:t>
            </a:r>
            <a:r>
              <a:rPr lang="en-US" sz="3600" dirty="0" smtClean="0">
                <a:solidFill>
                  <a:srgbClr val="C00000"/>
                </a:solidFill>
              </a:rPr>
              <a:t>backup, recovery</a:t>
            </a:r>
            <a:r>
              <a:rPr lang="ru-RU" sz="3600" b="1" dirty="0" smtClean="0">
                <a:solidFill>
                  <a:srgbClr val="C00000"/>
                </a:solidFill>
              </a:rPr>
              <a:t>)</a:t>
            </a:r>
            <a:endParaRPr lang="ru-RU" sz="3600" b="1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ru-RU" sz="4400" b="1" dirty="0">
                <a:solidFill>
                  <a:srgbClr val="000099"/>
                </a:solidFill>
              </a:rPr>
              <a:t>Обеспечение независимости данных</a:t>
            </a:r>
          </a:p>
          <a:p>
            <a:pPr lvl="1">
              <a:buClr>
                <a:srgbClr val="000099"/>
              </a:buClr>
              <a:buSzPct val="110000"/>
              <a:buFont typeface="Wingdings" pitchFamily="2" charset="2"/>
              <a:buChar char="q"/>
            </a:pPr>
            <a:r>
              <a:rPr lang="ru-RU" sz="2900" b="1" dirty="0" smtClean="0">
                <a:solidFill>
                  <a:srgbClr val="C00000"/>
                </a:solidFill>
              </a:rPr>
              <a:t>  </a:t>
            </a:r>
            <a:r>
              <a:rPr lang="ru-RU" sz="3600" dirty="0" smtClean="0">
                <a:solidFill>
                  <a:srgbClr val="C00000"/>
                </a:solidFill>
              </a:rPr>
              <a:t>Модель представления</a:t>
            </a:r>
          </a:p>
          <a:p>
            <a:pPr lvl="1">
              <a:buClr>
                <a:srgbClr val="000099"/>
              </a:buClr>
              <a:buSzPct val="90000"/>
              <a:buFont typeface="Wingdings" pitchFamily="2" charset="2"/>
              <a:buChar char="q"/>
            </a:pPr>
            <a:r>
              <a:rPr lang="ru-RU" sz="3600" dirty="0">
                <a:solidFill>
                  <a:srgbClr val="C00000"/>
                </a:solidFill>
              </a:rPr>
              <a:t> Модель хранения</a:t>
            </a:r>
          </a:p>
          <a:p>
            <a:endParaRPr lang="ru-RU" sz="2900" dirty="0">
              <a:solidFill>
                <a:srgbClr val="C00000"/>
              </a:solidFill>
            </a:endParaRPr>
          </a:p>
          <a:p>
            <a:pPr marL="45720" indent="0">
              <a:buNone/>
            </a:pPr>
            <a:endParaRPr lang="ru-RU" sz="2600" b="1" dirty="0">
              <a:solidFill>
                <a:srgbClr val="000099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188640"/>
            <a:ext cx="8568952" cy="936104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Georgia" pitchFamily="18" charset="0"/>
              <a:buNone/>
            </a:pPr>
            <a:r>
              <a:rPr lang="ru-RU" sz="4200" b="0" dirty="0" smtClean="0">
                <a:solidFill>
                  <a:srgbClr val="C00000"/>
                </a:solidFill>
              </a:rPr>
              <a:t>Преимущества системы баз данных</a:t>
            </a:r>
            <a:endParaRPr lang="ru-RU" sz="3300" b="0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6383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76545" y="188640"/>
            <a:ext cx="8229600" cy="668338"/>
          </a:xfrm>
        </p:spPr>
        <p:txBody>
          <a:bodyPr/>
          <a:lstStyle/>
          <a:p>
            <a:pPr algn="ctr"/>
            <a:r>
              <a:rPr lang="ru-RU" sz="3600" dirty="0" smtClean="0"/>
              <a:t>Пример (избыточность)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088740"/>
            <a:ext cx="8892480" cy="5580619"/>
          </a:xfrm>
        </p:spPr>
        <p:txBody>
          <a:bodyPr/>
          <a:lstStyle/>
          <a:p>
            <a:pPr lvl="1">
              <a:spcBef>
                <a:spcPts val="1800"/>
              </a:spcBef>
              <a:buNone/>
            </a:pPr>
            <a:r>
              <a:rPr lang="ru-RU" sz="2400" b="1" u="sng" dirty="0" smtClean="0"/>
              <a:t>АС Бухгалтерия</a:t>
            </a:r>
            <a:r>
              <a:rPr lang="ru-RU" sz="2400" dirty="0" smtClean="0"/>
              <a:t> :</a:t>
            </a:r>
          </a:p>
          <a:p>
            <a:pPr marL="0" lvl="1">
              <a:buNone/>
            </a:pPr>
            <a:r>
              <a:rPr lang="ru-RU" sz="2400" i="1" dirty="0" err="1" smtClean="0"/>
              <a:t>Расч_лист</a:t>
            </a:r>
            <a:r>
              <a:rPr lang="ru-RU" sz="2400" i="1" dirty="0" smtClean="0"/>
              <a:t>(</a:t>
            </a:r>
            <a:r>
              <a:rPr lang="ru-RU" sz="2400" i="1" dirty="0" err="1" smtClean="0">
                <a:solidFill>
                  <a:srgbClr val="FF0000"/>
                </a:solidFill>
              </a:rPr>
              <a:t>таб_ном</a:t>
            </a:r>
            <a:r>
              <a:rPr lang="ru-RU" sz="2400" i="1" dirty="0" smtClean="0"/>
              <a:t>, </a:t>
            </a:r>
            <a:r>
              <a:rPr lang="ru-RU" sz="2400" i="1" dirty="0" smtClean="0">
                <a:solidFill>
                  <a:srgbClr val="000099"/>
                </a:solidFill>
              </a:rPr>
              <a:t>ФИО</a:t>
            </a:r>
            <a:r>
              <a:rPr lang="ru-RU" sz="2400" i="1" dirty="0" smtClean="0"/>
              <a:t>, </a:t>
            </a:r>
            <a:r>
              <a:rPr lang="ru-RU" sz="2400" i="1" dirty="0" smtClean="0">
                <a:solidFill>
                  <a:srgbClr val="00B050"/>
                </a:solidFill>
              </a:rPr>
              <a:t>отдел, </a:t>
            </a:r>
            <a:r>
              <a:rPr lang="ru-RU" sz="2400" i="1" dirty="0" smtClean="0"/>
              <a:t>оклад, вид, </a:t>
            </a:r>
            <a:r>
              <a:rPr lang="ru-RU" sz="2400" i="1" dirty="0" err="1" smtClean="0"/>
              <a:t>отраб_вр</a:t>
            </a:r>
            <a:r>
              <a:rPr lang="ru-RU" sz="2400" i="1" dirty="0" smtClean="0"/>
              <a:t>)</a:t>
            </a:r>
          </a:p>
          <a:p>
            <a:pPr lvl="1">
              <a:spcBef>
                <a:spcPts val="1800"/>
              </a:spcBef>
              <a:buNone/>
            </a:pPr>
            <a:r>
              <a:rPr lang="ru-RU" sz="2400" b="1" u="sng" dirty="0" smtClean="0"/>
              <a:t>АС Отдел кадров :</a:t>
            </a:r>
          </a:p>
          <a:p>
            <a:pPr marL="0" lvl="1" eaLnBrk="1" hangingPunct="1">
              <a:buFont typeface="Wingdings" pitchFamily="2" charset="2"/>
              <a:buNone/>
            </a:pPr>
            <a:r>
              <a:rPr lang="ru-RU" sz="2400" i="1" dirty="0" smtClean="0"/>
              <a:t>Сотрудник(</a:t>
            </a:r>
            <a:r>
              <a:rPr lang="ru-RU" sz="2400" i="1" dirty="0" err="1" smtClean="0">
                <a:solidFill>
                  <a:srgbClr val="FF0000"/>
                </a:solidFill>
              </a:rPr>
              <a:t>таб_ном</a:t>
            </a:r>
            <a:r>
              <a:rPr lang="ru-RU" sz="2400" i="1" dirty="0" smtClean="0"/>
              <a:t>, </a:t>
            </a:r>
            <a:r>
              <a:rPr lang="ru-RU" sz="2400" i="1" dirty="0" smtClean="0">
                <a:solidFill>
                  <a:srgbClr val="000099"/>
                </a:solidFill>
              </a:rPr>
              <a:t>ФИО</a:t>
            </a:r>
            <a:r>
              <a:rPr lang="ru-RU" sz="2400" i="1" dirty="0" smtClean="0"/>
              <a:t>, </a:t>
            </a:r>
            <a:r>
              <a:rPr lang="ru-RU" sz="2400" i="1" dirty="0" smtClean="0">
                <a:solidFill>
                  <a:srgbClr val="00B050"/>
                </a:solidFill>
              </a:rPr>
              <a:t>отдел</a:t>
            </a:r>
            <a:r>
              <a:rPr lang="ru-RU" sz="2400" i="1" dirty="0" smtClean="0"/>
              <a:t>),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ru-RU" sz="2400" i="1" dirty="0" smtClean="0"/>
              <a:t>где отдел идентифицируется названием отдела</a:t>
            </a:r>
          </a:p>
          <a:p>
            <a:pPr>
              <a:buFont typeface="Wingdings" pitchFamily="2" charset="2"/>
              <a:buNone/>
            </a:pPr>
            <a:r>
              <a:rPr lang="ru-RU" sz="2400" u="sng" dirty="0" smtClean="0">
                <a:solidFill>
                  <a:srgbClr val="00B0F0"/>
                </a:solidFill>
              </a:rPr>
              <a:t>Вводим</a:t>
            </a:r>
          </a:p>
          <a:p>
            <a:pPr>
              <a:buNone/>
            </a:pPr>
            <a:r>
              <a:rPr lang="ru-RU" sz="2800" dirty="0" smtClean="0"/>
              <a:t>Отдел (</a:t>
            </a:r>
            <a:r>
              <a:rPr lang="ru-RU" sz="2800" u="sng" dirty="0" err="1" smtClean="0">
                <a:solidFill>
                  <a:srgbClr val="7030A0"/>
                </a:solidFill>
              </a:rPr>
              <a:t>ном_отдела</a:t>
            </a:r>
            <a:r>
              <a:rPr lang="ru-RU" sz="2800" dirty="0" smtClean="0">
                <a:solidFill>
                  <a:srgbClr val="7030A0"/>
                </a:solidFill>
              </a:rPr>
              <a:t>,</a:t>
            </a:r>
            <a:r>
              <a:rPr lang="ru-RU" sz="2800" dirty="0" smtClean="0"/>
              <a:t> </a:t>
            </a:r>
            <a:r>
              <a:rPr lang="ru-RU" sz="2800" dirty="0" err="1" smtClean="0"/>
              <a:t>назв_отдела</a:t>
            </a:r>
            <a:r>
              <a:rPr lang="ru-RU" sz="2800" dirty="0" smtClean="0"/>
              <a:t>)</a:t>
            </a:r>
          </a:p>
          <a:p>
            <a:pPr>
              <a:buFont typeface="Wingdings" pitchFamily="2" charset="2"/>
              <a:buNone/>
            </a:pPr>
            <a:r>
              <a:rPr lang="ru-RU" sz="2400" u="sng" dirty="0" smtClean="0">
                <a:solidFill>
                  <a:srgbClr val="00B0F0"/>
                </a:solidFill>
              </a:rPr>
              <a:t>И меняем схему БД</a:t>
            </a:r>
            <a:endParaRPr lang="ru-RU" sz="2400" dirty="0" smtClean="0">
              <a:solidFill>
                <a:srgbClr val="00B0F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ru-RU" sz="2800" dirty="0" smtClean="0"/>
              <a:t>Сотрудник (</a:t>
            </a:r>
            <a:r>
              <a:rPr lang="ru-RU" sz="2800" u="sng" dirty="0" err="1" smtClean="0">
                <a:solidFill>
                  <a:srgbClr val="FF0000"/>
                </a:solidFill>
              </a:rPr>
              <a:t>таб_ном</a:t>
            </a:r>
            <a:r>
              <a:rPr lang="ru-RU" sz="2800" dirty="0" smtClean="0"/>
              <a:t>, ФИО, </a:t>
            </a:r>
            <a:r>
              <a:rPr lang="ru-RU" sz="2800" dirty="0" err="1" smtClean="0">
                <a:solidFill>
                  <a:srgbClr val="7030A0"/>
                </a:solidFill>
              </a:rPr>
              <a:t>ном_отдела</a:t>
            </a:r>
            <a:r>
              <a:rPr lang="ru-RU" sz="2800" dirty="0" smtClean="0"/>
              <a:t>)</a:t>
            </a:r>
          </a:p>
          <a:p>
            <a:pPr>
              <a:buNone/>
            </a:pPr>
            <a:r>
              <a:rPr lang="ru-RU" sz="2800" dirty="0" err="1" smtClean="0"/>
              <a:t>Расч_лист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 smtClean="0"/>
              <a:t>(</a:t>
            </a:r>
            <a:r>
              <a:rPr lang="ru-RU" sz="2800" u="sng" dirty="0" err="1" smtClean="0">
                <a:solidFill>
                  <a:srgbClr val="FF0000"/>
                </a:solidFill>
              </a:rPr>
              <a:t>таб_ном</a:t>
            </a:r>
            <a:r>
              <a:rPr lang="ru-RU" sz="2800" dirty="0" smtClean="0"/>
              <a:t>, </a:t>
            </a:r>
            <a:r>
              <a:rPr lang="ru-RU" sz="2800" dirty="0" err="1" smtClean="0">
                <a:solidFill>
                  <a:srgbClr val="7030A0"/>
                </a:solidFill>
              </a:rPr>
              <a:t>ном_отдела</a:t>
            </a:r>
            <a:r>
              <a:rPr lang="ru-RU" sz="2800" dirty="0" smtClean="0">
                <a:solidFill>
                  <a:srgbClr val="7030A0"/>
                </a:solidFill>
              </a:rPr>
              <a:t>, </a:t>
            </a:r>
            <a:r>
              <a:rPr lang="ru-RU" sz="2800" dirty="0" smtClean="0"/>
              <a:t>оклад, вид, </a:t>
            </a:r>
            <a:r>
              <a:rPr lang="ru-RU" sz="2800" dirty="0" err="1" smtClean="0"/>
              <a:t>отраб_время</a:t>
            </a:r>
            <a:r>
              <a:rPr lang="ru-RU" sz="2800" dirty="0" smtClean="0"/>
              <a:t>)</a:t>
            </a:r>
          </a:p>
          <a:p>
            <a:pPr>
              <a:buNone/>
            </a:pPr>
            <a:endParaRPr lang="ru-RU" sz="2800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196752"/>
            <a:ext cx="8784976" cy="525658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v"/>
            </a:pPr>
            <a:r>
              <a:rPr lang="ru-RU" sz="2400" b="1" dirty="0" smtClean="0">
                <a:solidFill>
                  <a:srgbClr val="000099"/>
                </a:solidFill>
              </a:rPr>
              <a:t> </a:t>
            </a:r>
            <a:r>
              <a:rPr lang="ru-RU" sz="3200" dirty="0" smtClean="0">
                <a:solidFill>
                  <a:srgbClr val="000099"/>
                </a:solidFill>
              </a:rPr>
              <a:t>Общий доступ </a:t>
            </a:r>
            <a:r>
              <a:rPr lang="ru-RU" sz="3200" dirty="0">
                <a:solidFill>
                  <a:srgbClr val="000099"/>
                </a:solidFill>
              </a:rPr>
              <a:t>к данным </a:t>
            </a:r>
            <a:r>
              <a:rPr lang="ru-RU" sz="3200" dirty="0" smtClean="0">
                <a:solidFill>
                  <a:srgbClr val="000099"/>
                </a:solidFill>
              </a:rPr>
              <a:t>для  пользователям  </a:t>
            </a:r>
          </a:p>
          <a:p>
            <a:pPr lvl="1">
              <a:lnSpc>
                <a:spcPct val="110000"/>
              </a:lnSpc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300" dirty="0" smtClean="0">
                <a:solidFill>
                  <a:srgbClr val="000099"/>
                </a:solidFill>
              </a:rPr>
              <a:t> </a:t>
            </a:r>
            <a:r>
              <a:rPr lang="ru-RU" sz="2800" dirty="0" smtClean="0">
                <a:solidFill>
                  <a:srgbClr val="C00000"/>
                </a:solidFill>
              </a:rPr>
              <a:t>Новые приложения, разные интерфейсы для разных пользователей</a:t>
            </a:r>
          </a:p>
          <a:p>
            <a:pPr lvl="1">
              <a:lnSpc>
                <a:spcPct val="110000"/>
              </a:lnSpc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800" dirty="0" smtClean="0">
                <a:solidFill>
                  <a:srgbClr val="C00000"/>
                </a:solidFill>
              </a:rPr>
              <a:t> Представление сложных связей между данными</a:t>
            </a:r>
            <a:endParaRPr lang="ru-RU" sz="2800" dirty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  <a:buFont typeface="Wingdings" pitchFamily="2" charset="2"/>
              <a:buChar char="v"/>
            </a:pPr>
            <a:r>
              <a:rPr lang="ru-RU" sz="3200" dirty="0">
                <a:solidFill>
                  <a:srgbClr val="000099"/>
                </a:solidFill>
              </a:rPr>
              <a:t>Обеспечение </a:t>
            </a:r>
            <a:r>
              <a:rPr lang="ru-RU" sz="3200" dirty="0" smtClean="0">
                <a:solidFill>
                  <a:srgbClr val="000099"/>
                </a:solidFill>
              </a:rPr>
              <a:t>мультидоступа (корректность выполнения запросов)</a:t>
            </a:r>
          </a:p>
          <a:p>
            <a:pPr>
              <a:lnSpc>
                <a:spcPct val="110000"/>
              </a:lnSpc>
              <a:buFont typeface="Wingdings" pitchFamily="2" charset="2"/>
              <a:buChar char="v"/>
            </a:pPr>
            <a:r>
              <a:rPr lang="ru-RU" sz="3200" dirty="0" smtClean="0">
                <a:solidFill>
                  <a:srgbClr val="000099"/>
                </a:solidFill>
              </a:rPr>
              <a:t>Обеспечение безопасности (ограничение </a:t>
            </a:r>
            <a:r>
              <a:rPr lang="ru-RU" sz="3200" dirty="0">
                <a:solidFill>
                  <a:srgbClr val="000099"/>
                </a:solidFill>
              </a:rPr>
              <a:t>неавторизованного </a:t>
            </a:r>
            <a:r>
              <a:rPr lang="ru-RU" sz="3200" dirty="0" smtClean="0">
                <a:solidFill>
                  <a:srgbClr val="000099"/>
                </a:solidFill>
              </a:rPr>
              <a:t>доступа)</a:t>
            </a:r>
          </a:p>
          <a:p>
            <a:pPr>
              <a:lnSpc>
                <a:spcPct val="110000"/>
              </a:lnSpc>
              <a:buFont typeface="Wingdings" pitchFamily="2" charset="2"/>
              <a:buChar char="v"/>
            </a:pPr>
            <a:r>
              <a:rPr lang="ru-RU" sz="3200" dirty="0" smtClean="0">
                <a:solidFill>
                  <a:srgbClr val="000099"/>
                </a:solidFill>
              </a:rPr>
              <a:t> Действия над данными </a:t>
            </a:r>
            <a:r>
              <a:rPr lang="ru-RU" sz="3200" dirty="0">
                <a:solidFill>
                  <a:srgbClr val="000099"/>
                </a:solidFill>
              </a:rPr>
              <a:t>с помощью </a:t>
            </a:r>
            <a:r>
              <a:rPr lang="ru-RU" sz="3200" dirty="0" smtClean="0">
                <a:solidFill>
                  <a:srgbClr val="000099"/>
                </a:solidFill>
              </a:rPr>
              <a:t>дедуктивных </a:t>
            </a:r>
            <a:r>
              <a:rPr lang="ru-RU" sz="3200" dirty="0">
                <a:solidFill>
                  <a:srgbClr val="000099"/>
                </a:solidFill>
              </a:rPr>
              <a:t>и активных </a:t>
            </a:r>
            <a:r>
              <a:rPr lang="ru-RU" sz="3200" dirty="0" smtClean="0">
                <a:solidFill>
                  <a:srgbClr val="000099"/>
                </a:solidFill>
              </a:rPr>
              <a:t>правил</a:t>
            </a:r>
            <a:endParaRPr lang="ru-RU" sz="3200" dirty="0">
              <a:solidFill>
                <a:srgbClr val="000099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321990"/>
            <a:ext cx="8568952" cy="79561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Georgia" pitchFamily="18" charset="0"/>
              <a:buNone/>
            </a:pPr>
            <a:r>
              <a:rPr lang="ru-RU" sz="4200" b="0" dirty="0" smtClean="0">
                <a:solidFill>
                  <a:schemeClr val="bg2"/>
                </a:solidFill>
              </a:rPr>
              <a:t>Преимущества системы баз данных</a:t>
            </a:r>
            <a:endParaRPr lang="ru-RU" sz="3300" b="0" dirty="0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196752"/>
            <a:ext cx="8731696" cy="538819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ru-RU" sz="2800" dirty="0" smtClean="0">
                <a:solidFill>
                  <a:srgbClr val="000099"/>
                </a:solidFill>
              </a:rPr>
              <a:t>Потенциал </a:t>
            </a:r>
            <a:r>
              <a:rPr lang="ru-RU" sz="2800" dirty="0">
                <a:solidFill>
                  <a:srgbClr val="000099"/>
                </a:solidFill>
              </a:rPr>
              <a:t>для обеспечения соблюдения стандартов:</a:t>
            </a: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600" dirty="0">
                <a:solidFill>
                  <a:srgbClr val="C00000"/>
                </a:solidFill>
              </a:rPr>
              <a:t> </a:t>
            </a:r>
            <a:r>
              <a:rPr lang="ru-RU" sz="2400" dirty="0" smtClean="0"/>
              <a:t>Очень </a:t>
            </a:r>
            <a:r>
              <a:rPr lang="ru-RU" sz="2400" dirty="0"/>
              <a:t>важно для успеха приложений баз данных в крупных организациях.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Стандарты применяются </a:t>
            </a:r>
            <a:r>
              <a:rPr lang="ru-RU" sz="2400" dirty="0"/>
              <a:t>к данным, </a:t>
            </a:r>
            <a:r>
              <a:rPr lang="ru-RU" sz="2400" dirty="0" smtClean="0"/>
              <a:t>именам </a:t>
            </a:r>
            <a:r>
              <a:rPr lang="ru-RU" sz="2400" dirty="0"/>
              <a:t>элементов, </a:t>
            </a:r>
            <a:r>
              <a:rPr lang="ru-RU" sz="2400" dirty="0" smtClean="0"/>
              <a:t>форматам </a:t>
            </a:r>
            <a:r>
              <a:rPr lang="ru-RU" sz="2400" dirty="0"/>
              <a:t>отображения, </a:t>
            </a:r>
            <a:r>
              <a:rPr lang="ru-RU" sz="2400" dirty="0" smtClean="0"/>
              <a:t>экранным формам, структурам отчетов, </a:t>
            </a:r>
            <a:r>
              <a:rPr lang="ru-RU" sz="2400" dirty="0"/>
              <a:t>мета-данные (описание данных), макеты веб-страниц и т.д.</a:t>
            </a:r>
          </a:p>
          <a:p>
            <a:pPr>
              <a:buFont typeface="Wingdings" pitchFamily="2" charset="2"/>
              <a:buChar char="v"/>
            </a:pPr>
            <a:r>
              <a:rPr lang="ru-RU" sz="2800" dirty="0">
                <a:solidFill>
                  <a:srgbClr val="000099"/>
                </a:solidFill>
              </a:rPr>
              <a:t>Сокращение времени разработки приложений:</a:t>
            </a:r>
          </a:p>
          <a:p>
            <a:pPr lvl="1">
              <a:buClr>
                <a:srgbClr val="000099"/>
              </a:buClr>
              <a:buFont typeface="Wingdings" pitchFamily="2" charset="2"/>
              <a:buChar char="q"/>
            </a:pPr>
            <a:r>
              <a:rPr lang="ru-RU" sz="2400" dirty="0"/>
              <a:t>Время добавления каждого нового приложения снижается</a:t>
            </a:r>
            <a:r>
              <a:rPr lang="ru-RU" sz="2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188640"/>
            <a:ext cx="8568952" cy="936104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Georgia" pitchFamily="18" charset="0"/>
              <a:buNone/>
            </a:pPr>
            <a:r>
              <a:rPr lang="ru-RU" sz="4200" b="0" dirty="0" smtClean="0">
                <a:solidFill>
                  <a:schemeClr val="bg2"/>
                </a:solidFill>
              </a:rPr>
              <a:t>Преимущества системы баз данных</a:t>
            </a:r>
            <a:endParaRPr lang="ru-RU" sz="3300" b="0" dirty="0" smtClean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233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196752"/>
            <a:ext cx="8784976" cy="532859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ru-RU" sz="2800" dirty="0">
                <a:solidFill>
                  <a:srgbClr val="000099"/>
                </a:solidFill>
              </a:rPr>
              <a:t>Гибкость при изменении структуры данных:</a:t>
            </a: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400" dirty="0"/>
              <a:t>Структура базы данных может развиваться </a:t>
            </a:r>
            <a:r>
              <a:rPr lang="ru-RU" sz="2400" dirty="0" smtClean="0"/>
              <a:t>под </a:t>
            </a:r>
            <a:r>
              <a:rPr lang="ru-RU" sz="2400" dirty="0"/>
              <a:t>новые </a:t>
            </a:r>
            <a:r>
              <a:rPr lang="ru-RU" sz="2400" dirty="0" smtClean="0"/>
              <a:t>требования</a:t>
            </a:r>
            <a:r>
              <a:rPr lang="ru-RU" sz="2600" dirty="0" smtClean="0"/>
              <a:t>.</a:t>
            </a:r>
            <a:endParaRPr lang="ru-RU" sz="2600" dirty="0"/>
          </a:p>
          <a:p>
            <a:pPr>
              <a:buFont typeface="Wingdings" pitchFamily="2" charset="2"/>
              <a:buChar char="v"/>
            </a:pPr>
            <a:r>
              <a:rPr lang="ru-RU" sz="2800" dirty="0" smtClean="0">
                <a:solidFill>
                  <a:srgbClr val="000099"/>
                </a:solidFill>
              </a:rPr>
              <a:t> Доступность текущего состояния информации</a:t>
            </a:r>
            <a:r>
              <a:rPr lang="ru-RU" sz="2800" dirty="0">
                <a:solidFill>
                  <a:srgbClr val="000099"/>
                </a:solidFill>
              </a:rPr>
              <a:t>:</a:t>
            </a: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600" dirty="0" smtClean="0">
                <a:solidFill>
                  <a:srgbClr val="C00000"/>
                </a:solidFill>
              </a:rPr>
              <a:t> </a:t>
            </a:r>
            <a:r>
              <a:rPr lang="ru-RU" sz="2400" dirty="0" smtClean="0"/>
              <a:t>Важно </a:t>
            </a:r>
            <a:r>
              <a:rPr lang="ru-RU" sz="2400" dirty="0"/>
              <a:t>для </a:t>
            </a:r>
            <a:r>
              <a:rPr lang="ru-RU" sz="2400" dirty="0" smtClean="0"/>
              <a:t>он-</a:t>
            </a:r>
            <a:r>
              <a:rPr lang="ru-RU" sz="2400" dirty="0" err="1" smtClean="0"/>
              <a:t>лайн</a:t>
            </a:r>
            <a:r>
              <a:rPr lang="ru-RU" sz="2400" dirty="0" smtClean="0"/>
              <a:t> систем таких организаций как </a:t>
            </a:r>
            <a:r>
              <a:rPr lang="ru-RU" sz="2400" dirty="0"/>
              <a:t>авиакомпании, </a:t>
            </a:r>
            <a:r>
              <a:rPr lang="ru-RU" sz="2400" dirty="0" smtClean="0"/>
              <a:t>железнодорожные перевозки, гостиницы и т.д</a:t>
            </a:r>
            <a:r>
              <a:rPr lang="ru-RU" sz="2600" dirty="0" smtClean="0">
                <a:solidFill>
                  <a:srgbClr val="C00000"/>
                </a:solidFill>
              </a:rPr>
              <a:t>.</a:t>
            </a:r>
            <a:endParaRPr lang="ru-RU" sz="2600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ru-RU" sz="2800" dirty="0">
                <a:solidFill>
                  <a:srgbClr val="000099"/>
                </a:solidFill>
              </a:rPr>
              <a:t>Эффект масштаба:</a:t>
            </a: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400" dirty="0" smtClean="0">
                <a:solidFill>
                  <a:srgbClr val="C00000"/>
                </a:solidFill>
              </a:rPr>
              <a:t> </a:t>
            </a:r>
            <a:r>
              <a:rPr lang="ru-RU" sz="2400" dirty="0" smtClean="0"/>
              <a:t>Расточительное </a:t>
            </a:r>
            <a:r>
              <a:rPr lang="ru-RU" sz="2400" dirty="0"/>
              <a:t>дублирование ресурсов и персонала можно избежать за счет консолидации данных и приложений между департаментами</a:t>
            </a:r>
            <a:r>
              <a:rPr lang="ru-RU" sz="2600" dirty="0">
                <a:solidFill>
                  <a:srgbClr val="000099"/>
                </a:solidFill>
              </a:rPr>
              <a:t>.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4"/>
            <a:ext cx="676672" cy="504056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34</a:t>
            </a:fld>
            <a:endParaRPr lang="ru-RU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188640"/>
            <a:ext cx="8568952" cy="936104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 fontScale="77500" lnSpcReduction="20000"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Georgia" pitchFamily="18" charset="0"/>
              <a:buNone/>
            </a:pPr>
            <a:r>
              <a:rPr lang="ru-RU" sz="4200" b="0" dirty="0" smtClean="0">
                <a:solidFill>
                  <a:schemeClr val="bg2"/>
                </a:solidFill>
                <a:latin typeface="+mn-lt"/>
              </a:rPr>
              <a:t>Дополнительные последствия использования системы баз данных</a:t>
            </a:r>
            <a:endParaRPr lang="ru-RU" sz="3300" b="0" dirty="0" smtClean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844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196752"/>
            <a:ext cx="8784976" cy="532859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ru-RU" sz="2800" dirty="0" smtClean="0">
                <a:solidFill>
                  <a:srgbClr val="000099"/>
                </a:solidFill>
              </a:rPr>
              <a:t>Ранние приложения с базами данных</a:t>
            </a:r>
            <a:endParaRPr lang="ru-RU" sz="2800" dirty="0">
              <a:solidFill>
                <a:srgbClr val="000099"/>
              </a:solidFill>
            </a:endParaRPr>
          </a:p>
          <a:p>
            <a:pPr lvl="1" indent="-324000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/>
              <a:t>Иерархические и сетевые модели появились в середине 1960-х и преобладали до 70-х годов 20 столетия</a:t>
            </a:r>
          </a:p>
          <a:p>
            <a:pPr lvl="1" indent="-324000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/>
              <a:t>Большое количество работающих систем во всем мире все еще используют эти модели, особенно иерархическую</a:t>
            </a:r>
            <a:endParaRPr lang="ru-RU" sz="2600" dirty="0"/>
          </a:p>
          <a:p>
            <a:pPr>
              <a:buFont typeface="Wingdings" pitchFamily="2" charset="2"/>
              <a:buChar char="v"/>
            </a:pPr>
            <a:r>
              <a:rPr lang="ru-RU" sz="2800" dirty="0" smtClean="0">
                <a:solidFill>
                  <a:srgbClr val="000099"/>
                </a:solidFill>
              </a:rPr>
              <a:t> Реляционная модель данных:</a:t>
            </a:r>
            <a:endParaRPr lang="ru-RU" sz="2800" dirty="0">
              <a:solidFill>
                <a:srgbClr val="000099"/>
              </a:solidFill>
            </a:endParaRPr>
          </a:p>
          <a:p>
            <a:pPr lvl="1" indent="-324000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>
                <a:solidFill>
                  <a:srgbClr val="C00000"/>
                </a:solidFill>
              </a:rPr>
              <a:t> </a:t>
            </a:r>
            <a:r>
              <a:rPr lang="ru-RU" sz="2600" dirty="0" smtClean="0"/>
              <a:t>Модель введена в 1970. Она была исследована и реализована в </a:t>
            </a:r>
            <a:r>
              <a:rPr lang="en-US" sz="2600" dirty="0" smtClean="0"/>
              <a:t>IBM</a:t>
            </a:r>
            <a:r>
              <a:rPr lang="ru-RU" sz="2600" dirty="0" smtClean="0"/>
              <a:t> </a:t>
            </a:r>
            <a:r>
              <a:rPr lang="en-US" sz="2600" dirty="0" err="1" smtClean="0"/>
              <a:t>Reseach</a:t>
            </a:r>
            <a:r>
              <a:rPr lang="en-US" sz="2600" dirty="0" smtClean="0"/>
              <a:t> </a:t>
            </a:r>
            <a:r>
              <a:rPr lang="ru-RU" sz="2600" dirty="0" smtClean="0"/>
              <a:t>и  университетах</a:t>
            </a:r>
          </a:p>
          <a:p>
            <a:pPr lvl="1" indent="-324000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/>
              <a:t>Реляционные СУБД появились в начале 1980-х</a:t>
            </a:r>
            <a:endParaRPr lang="ru-RU" sz="2600" dirty="0"/>
          </a:p>
          <a:p>
            <a:pPr marL="45720" indent="0">
              <a:buNone/>
            </a:pP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4"/>
            <a:ext cx="676672" cy="504056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35</a:t>
            </a:fld>
            <a:endParaRPr lang="ru-RU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14698" y="406400"/>
            <a:ext cx="8568952" cy="57336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Georgia" pitchFamily="18" charset="0"/>
              <a:buNone/>
            </a:pPr>
            <a:r>
              <a:rPr lang="ru-RU" sz="3200" b="0" dirty="0" smtClean="0">
                <a:solidFill>
                  <a:schemeClr val="bg2"/>
                </a:solidFill>
                <a:latin typeface="+mn-lt"/>
              </a:rPr>
              <a:t>История развития технологий баз данных. 1</a:t>
            </a:r>
          </a:p>
        </p:txBody>
      </p:sp>
    </p:spTree>
    <p:extLst>
      <p:ext uri="{BB962C8B-B14F-4D97-AF65-F5344CB8AC3E}">
        <p14:creationId xmlns="" xmlns:p14="http://schemas.microsoft.com/office/powerpoint/2010/main" val="396873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8100" y="828143"/>
            <a:ext cx="9036496" cy="620130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v"/>
            </a:pPr>
            <a:r>
              <a:rPr lang="ru-RU" sz="2800" dirty="0" smtClean="0">
                <a:solidFill>
                  <a:srgbClr val="000099"/>
                </a:solidFill>
              </a:rPr>
              <a:t>Объектно-ориентированные</a:t>
            </a:r>
            <a:r>
              <a:rPr lang="en-US" sz="2800" dirty="0" smtClean="0">
                <a:solidFill>
                  <a:srgbClr val="000099"/>
                </a:solidFill>
              </a:rPr>
              <a:t> </a:t>
            </a:r>
            <a:r>
              <a:rPr lang="ru-RU" sz="2800" dirty="0" smtClean="0">
                <a:solidFill>
                  <a:srgbClr val="000099"/>
                </a:solidFill>
              </a:rPr>
              <a:t> 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ru-RU" sz="2200" dirty="0" smtClean="0"/>
              <a:t>Объектно-ориентированной </a:t>
            </a:r>
            <a:r>
              <a:rPr lang="ru-RU" sz="2200" dirty="0"/>
              <a:t>системы управления базами данных (ООСУБД) </a:t>
            </a:r>
            <a:r>
              <a:rPr lang="ru-RU" sz="2200" dirty="0" smtClean="0"/>
              <a:t>появились в </a:t>
            </a:r>
            <a:r>
              <a:rPr lang="ru-RU" sz="2200" dirty="0"/>
              <a:t>конце 1980-х и начале 1990-х, чтобы удовлетворить необходимость комплексной переработки данных в CAD и других </a:t>
            </a:r>
            <a:r>
              <a:rPr lang="ru-RU" sz="2200" dirty="0" smtClean="0"/>
              <a:t>приложений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SzPct val="100000"/>
              <a:buFont typeface="Wingdings" pitchFamily="2" charset="2"/>
              <a:buChar char="q"/>
            </a:pPr>
            <a:r>
              <a:rPr lang="ru-RU" sz="2600" dirty="0" smtClean="0"/>
              <a:t> (</a:t>
            </a:r>
            <a:r>
              <a:rPr lang="ru-RU" sz="2800" b="1" dirty="0" err="1" smtClean="0"/>
              <a:t>Jasmine</a:t>
            </a:r>
            <a:r>
              <a:rPr lang="en-US" sz="2800" b="1" dirty="0"/>
              <a:t>,</a:t>
            </a:r>
            <a:r>
              <a:rPr lang="ru-RU" sz="2800" b="1" dirty="0"/>
              <a:t> </a:t>
            </a:r>
            <a:r>
              <a:rPr lang="ru-RU" sz="2800" b="1" dirty="0" err="1" smtClean="0"/>
              <a:t>Versant</a:t>
            </a:r>
            <a:r>
              <a:rPr lang="en-US" sz="2800" b="1" dirty="0" smtClean="0"/>
              <a:t>, </a:t>
            </a:r>
            <a:r>
              <a:rPr lang="ru-RU" sz="2800" b="1" dirty="0" smtClean="0"/>
              <a:t>POET</a:t>
            </a:r>
            <a:r>
              <a:rPr lang="en-US" sz="2800" b="1" dirty="0" smtClean="0"/>
              <a:t>, </a:t>
            </a:r>
            <a:r>
              <a:rPr lang="ru-RU" sz="2800" b="1" dirty="0" err="1"/>
              <a:t>ObjectStore</a:t>
            </a:r>
            <a:r>
              <a:rPr lang="ru-RU" sz="2800" b="1" dirty="0"/>
              <a:t> </a:t>
            </a:r>
            <a:r>
              <a:rPr lang="ru-RU" sz="2800" b="1" dirty="0" smtClean="0"/>
              <a:t>PSE</a:t>
            </a:r>
            <a:r>
              <a:rPr lang="en-US" sz="2800" dirty="0" smtClean="0"/>
              <a:t>)</a:t>
            </a:r>
            <a:r>
              <a:rPr lang="ru-RU" sz="2800" dirty="0" smtClean="0"/>
              <a:t>. </a:t>
            </a:r>
            <a:r>
              <a:rPr lang="ru-RU" sz="2400" dirty="0" smtClean="0">
                <a:solidFill>
                  <a:srgbClr val="000099"/>
                </a:solidFill>
              </a:rPr>
              <a:t>Их </a:t>
            </a:r>
            <a:r>
              <a:rPr lang="ru-RU" sz="2400" dirty="0">
                <a:solidFill>
                  <a:srgbClr val="000099"/>
                </a:solidFill>
              </a:rPr>
              <a:t>использование не </a:t>
            </a:r>
            <a:r>
              <a:rPr lang="ru-RU" sz="2400" dirty="0" smtClean="0">
                <a:solidFill>
                  <a:srgbClr val="000099"/>
                </a:solidFill>
              </a:rPr>
              <a:t>было масштабным</a:t>
            </a:r>
            <a:r>
              <a:rPr lang="ru-RU" sz="2400" dirty="0" smtClean="0">
                <a:solidFill>
                  <a:srgbClr val="C00000"/>
                </a:solidFill>
              </a:rPr>
              <a:t>.</a:t>
            </a:r>
            <a:endParaRPr lang="ru-RU" sz="2400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  <a:buClr>
                <a:srgbClr val="C00000"/>
              </a:buClr>
              <a:buSzPct val="100000"/>
              <a:buFont typeface="Wingdings" pitchFamily="2" charset="2"/>
              <a:buChar char="q"/>
            </a:pPr>
            <a:r>
              <a:rPr lang="en-US" sz="2400" b="1" dirty="0" err="1"/>
              <a:t>Caché</a:t>
            </a:r>
            <a:r>
              <a:rPr lang="en-US" sz="2400" b="1" dirty="0"/>
              <a:t> </a:t>
            </a:r>
            <a:r>
              <a:rPr lang="ru-RU" sz="2400" b="1" dirty="0" smtClean="0"/>
              <a:t> - </a:t>
            </a:r>
            <a:r>
              <a:rPr lang="ru-RU" sz="2600" dirty="0" smtClean="0"/>
              <a:t>объектная СУБД с </a:t>
            </a:r>
            <a:r>
              <a:rPr lang="en-US" sz="2600" dirty="0" smtClean="0"/>
              <a:t>API (</a:t>
            </a:r>
            <a:r>
              <a:rPr lang="ru-RU" sz="2600" dirty="0" smtClean="0"/>
              <a:t>объектный, </a:t>
            </a:r>
            <a:r>
              <a:rPr lang="en-US" sz="2600" dirty="0" smtClean="0"/>
              <a:t>SQL</a:t>
            </a:r>
            <a:r>
              <a:rPr lang="ru-RU" sz="2600" dirty="0" smtClean="0"/>
              <a:t>, прямой к структурам хранения)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v"/>
            </a:pPr>
            <a:r>
              <a:rPr lang="ru-RU" dirty="0" smtClean="0">
                <a:solidFill>
                  <a:srgbClr val="000099"/>
                </a:solidFill>
                <a:ea typeface="+mn-ea"/>
              </a:rPr>
              <a:t>Объектно-реляционные </a:t>
            </a:r>
            <a:endParaRPr lang="en-US" dirty="0">
              <a:solidFill>
                <a:srgbClr val="000099"/>
              </a:solidFill>
              <a:ea typeface="+mn-ea"/>
            </a:endParaRPr>
          </a:p>
          <a:p>
            <a:pPr lvl="1">
              <a:lnSpc>
                <a:spcPct val="120000"/>
              </a:lnSpc>
              <a:buClr>
                <a:srgbClr val="C00000"/>
              </a:buClr>
              <a:buSzPct val="100000"/>
              <a:buFont typeface="Wingdings" pitchFamily="2" charset="2"/>
              <a:buChar char="q"/>
            </a:pPr>
            <a:r>
              <a:rPr lang="ru-RU" sz="2600" dirty="0" smtClean="0"/>
              <a:t>Многие </a:t>
            </a:r>
            <a:r>
              <a:rPr lang="ru-RU" sz="2600" dirty="0"/>
              <a:t>реляционные СУБД включили концепции объекта базы данных, что привело к новой </a:t>
            </a:r>
            <a:r>
              <a:rPr lang="ru-RU" sz="2600" dirty="0" smtClean="0"/>
              <a:t>категории</a:t>
            </a:r>
            <a:br>
              <a:rPr lang="ru-RU" sz="2600" dirty="0" smtClean="0"/>
            </a:br>
            <a:r>
              <a:rPr lang="ru-RU" sz="2600" dirty="0" smtClean="0"/>
              <a:t> (</a:t>
            </a:r>
            <a:r>
              <a:rPr lang="en-US" sz="2800" b="1" dirty="0"/>
              <a:t>Oracle , IBM Informix </a:t>
            </a:r>
            <a:r>
              <a:rPr lang="ru-RU" sz="2800" b="1" dirty="0"/>
              <a:t>и </a:t>
            </a:r>
            <a:r>
              <a:rPr lang="en-US" sz="2800" b="1" dirty="0" smtClean="0"/>
              <a:t>DB 2</a:t>
            </a:r>
            <a:r>
              <a:rPr lang="ru-RU" sz="2800" b="1" dirty="0" smtClean="0"/>
              <a:t>, </a:t>
            </a:r>
            <a:r>
              <a:rPr lang="en-US" sz="2800" b="1" dirty="0" err="1" smtClean="0"/>
              <a:t>Postgres</a:t>
            </a:r>
            <a:r>
              <a:rPr lang="ru-RU" sz="2600" dirty="0" smtClean="0"/>
              <a:t>)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v"/>
            </a:pPr>
            <a:r>
              <a:rPr lang="ru-RU" dirty="0" err="1" smtClean="0">
                <a:solidFill>
                  <a:srgbClr val="000099"/>
                </a:solidFill>
                <a:ea typeface="+mn-ea"/>
              </a:rPr>
              <a:t>Постреляционные</a:t>
            </a:r>
            <a:endParaRPr lang="ru-RU" dirty="0">
              <a:solidFill>
                <a:srgbClr val="000099"/>
              </a:solidFill>
              <a:ea typeface="+mn-ea"/>
            </a:endParaRPr>
          </a:p>
          <a:p>
            <a:pPr lvl="1">
              <a:lnSpc>
                <a:spcPct val="120000"/>
              </a:lnSpc>
              <a:buClr>
                <a:srgbClr val="C00000"/>
              </a:buClr>
              <a:buSzPct val="100000"/>
              <a:buFont typeface="Wingdings" pitchFamily="2" charset="2"/>
              <a:buChar char="q"/>
            </a:pPr>
            <a:r>
              <a:rPr lang="ru-RU" sz="2600" dirty="0" err="1" smtClean="0"/>
              <a:t>Постреляционные</a:t>
            </a:r>
            <a:r>
              <a:rPr lang="ru-RU" sz="2600" dirty="0" smtClean="0"/>
              <a:t> СУБД (</a:t>
            </a:r>
            <a:r>
              <a:rPr lang="en-US" sz="2800" dirty="0"/>
              <a:t> </a:t>
            </a:r>
            <a:r>
              <a:rPr lang="en-US" sz="2800" b="1" dirty="0" err="1" smtClean="0"/>
              <a:t>Adabas</a:t>
            </a:r>
            <a:r>
              <a:rPr lang="ru-RU" sz="2800" b="1" dirty="0" smtClean="0"/>
              <a:t>,</a:t>
            </a:r>
            <a:r>
              <a:rPr lang="en-US" sz="2800" b="1" dirty="0"/>
              <a:t> Pick </a:t>
            </a:r>
            <a:r>
              <a:rPr lang="ru-RU" sz="2800" b="1" dirty="0"/>
              <a:t>и </a:t>
            </a:r>
            <a:r>
              <a:rPr lang="en-US" sz="2800" b="1" dirty="0" smtClean="0"/>
              <a:t>Universe</a:t>
            </a:r>
            <a:r>
              <a:rPr lang="ru-RU" sz="2800" dirty="0" smtClean="0"/>
              <a:t>)</a:t>
            </a:r>
            <a:endParaRPr lang="ru-RU" sz="2600" dirty="0"/>
          </a:p>
          <a:p>
            <a:pPr lvl="1">
              <a:lnSpc>
                <a:spcPct val="120000"/>
              </a:lnSpc>
              <a:buClr>
                <a:srgbClr val="C00000"/>
              </a:buClr>
              <a:buSzPct val="100000"/>
              <a:buFont typeface="Wingdings" pitchFamily="2" charset="2"/>
              <a:buChar char="q"/>
            </a:pPr>
            <a:r>
              <a:rPr lang="ru-RU" sz="2600" dirty="0" smtClean="0"/>
              <a:t>В расширенных реляционных СУБД появились </a:t>
            </a:r>
            <a:r>
              <a:rPr lang="ru-RU" sz="2600" dirty="0"/>
              <a:t>дополнительные возможности </a:t>
            </a:r>
            <a:r>
              <a:rPr lang="ru-RU" sz="2600" dirty="0" smtClean="0"/>
              <a:t> работы (например</a:t>
            </a:r>
            <a:r>
              <a:rPr lang="ru-RU" sz="2600" dirty="0"/>
              <a:t>, </a:t>
            </a:r>
            <a:r>
              <a:rPr lang="ru-RU" sz="2600" dirty="0" smtClean="0"/>
              <a:t>с мультимедийными данными, </a:t>
            </a:r>
            <a:r>
              <a:rPr lang="ru-RU" sz="2600" dirty="0"/>
              <a:t>XML и </a:t>
            </a:r>
            <a:r>
              <a:rPr lang="ru-RU" sz="2600" dirty="0" smtClean="0"/>
              <a:t>другими типами данных)</a:t>
            </a:r>
            <a:endParaRPr lang="en-US" sz="2600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4"/>
            <a:ext cx="676672" cy="504056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36</a:t>
            </a:fld>
            <a:endParaRPr lang="ru-RU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188640"/>
            <a:ext cx="8568952" cy="46805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Georgia" pitchFamily="18" charset="0"/>
              <a:buNone/>
            </a:pPr>
            <a:r>
              <a:rPr lang="ru-RU" sz="3200" b="0" dirty="0" smtClean="0">
                <a:solidFill>
                  <a:schemeClr val="bg2"/>
                </a:solidFill>
                <a:latin typeface="+mn-lt"/>
              </a:rPr>
              <a:t>История развития технологий баз данных. 2</a:t>
            </a:r>
          </a:p>
        </p:txBody>
      </p:sp>
    </p:spTree>
    <p:extLst>
      <p:ext uri="{BB962C8B-B14F-4D97-AF65-F5344CB8AC3E}">
        <p14:creationId xmlns="" xmlns:p14="http://schemas.microsoft.com/office/powerpoint/2010/main" val="350968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196752"/>
            <a:ext cx="9036496" cy="566124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ru-RU" sz="2800" dirty="0" smtClean="0">
                <a:solidFill>
                  <a:srgbClr val="000099"/>
                </a:solidFill>
              </a:rPr>
              <a:t>Данные в </a:t>
            </a:r>
            <a:r>
              <a:rPr lang="en-US" sz="2800" dirty="0" smtClean="0">
                <a:solidFill>
                  <a:srgbClr val="000099"/>
                </a:solidFill>
              </a:rPr>
              <a:t>WEB</a:t>
            </a:r>
            <a:endParaRPr lang="ru-RU" sz="2800" dirty="0">
              <a:solidFill>
                <a:srgbClr val="000099"/>
              </a:solidFill>
            </a:endParaRPr>
          </a:p>
          <a:p>
            <a:pPr lvl="1" indent="-324000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/>
              <a:t>Веб содержит данные в HTML (язык гипертекстовой разметки) со ссылками между страницами.</a:t>
            </a:r>
          </a:p>
          <a:p>
            <a:pPr lvl="1" indent="-324000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/>
              <a:t>Это породило новый набор </a:t>
            </a:r>
            <a:r>
              <a:rPr lang="ru-RU" sz="2600" dirty="0" smtClean="0"/>
              <a:t>приложений </a:t>
            </a:r>
            <a:r>
              <a:rPr lang="en-US" sz="2600" dirty="0" smtClean="0"/>
              <a:t>(</a:t>
            </a:r>
            <a:r>
              <a:rPr lang="ru-RU" sz="2600" dirty="0" smtClean="0"/>
              <a:t>например, электронная торговля), которые  используют </a:t>
            </a:r>
            <a:r>
              <a:rPr lang="ru-RU" sz="2600" dirty="0"/>
              <a:t>новые стандарты, такие как XML (расширенный язык разметки).</a:t>
            </a:r>
          </a:p>
          <a:p>
            <a:pPr lvl="1" indent="-324000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en-US" sz="2800" dirty="0"/>
              <a:t>Script programming languages</a:t>
            </a:r>
            <a:r>
              <a:rPr lang="ru-RU" sz="2600" dirty="0" smtClean="0"/>
              <a:t>,</a:t>
            </a:r>
            <a:r>
              <a:rPr lang="en-US" sz="2600" dirty="0" smtClean="0"/>
              <a:t> </a:t>
            </a:r>
            <a:r>
              <a:rPr lang="ru-RU" sz="2600" dirty="0" smtClean="0"/>
              <a:t>такие </a:t>
            </a:r>
            <a:r>
              <a:rPr lang="ru-RU" sz="2600" dirty="0"/>
              <a:t>как PHP и </a:t>
            </a:r>
            <a:r>
              <a:rPr lang="ru-RU" sz="2600" dirty="0" err="1"/>
              <a:t>JavaScript</a:t>
            </a:r>
            <a:r>
              <a:rPr lang="ru-RU" sz="2600" dirty="0"/>
              <a:t> </a:t>
            </a:r>
            <a:r>
              <a:rPr lang="ru-RU" sz="2600" dirty="0" smtClean="0"/>
              <a:t>позволя</a:t>
            </a:r>
            <a:r>
              <a:rPr lang="ru-RU" sz="2600" dirty="0"/>
              <a:t>ю</a:t>
            </a:r>
            <a:r>
              <a:rPr lang="ru-RU" sz="2600" dirty="0" smtClean="0"/>
              <a:t>т </a:t>
            </a:r>
            <a:r>
              <a:rPr lang="ru-RU" sz="2600" dirty="0"/>
              <a:t>генерировать динамические веб-страницы, которые частично </a:t>
            </a:r>
            <a:r>
              <a:rPr lang="ru-RU" sz="2600" dirty="0" smtClean="0"/>
              <a:t>наполняются данными </a:t>
            </a:r>
            <a:r>
              <a:rPr lang="ru-RU" sz="2600" dirty="0"/>
              <a:t>из базы </a:t>
            </a:r>
            <a:r>
              <a:rPr lang="ru-RU" sz="2600" dirty="0" smtClean="0"/>
              <a:t>данных</a:t>
            </a:r>
          </a:p>
          <a:p>
            <a:pPr lvl="2">
              <a:buClr>
                <a:srgbClr val="C00000"/>
              </a:buClr>
              <a:buSzPct val="100000"/>
              <a:buFont typeface="Wingdings" pitchFamily="2" charset="2"/>
              <a:buChar char="ü"/>
            </a:pP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smtClean="0">
                <a:solidFill>
                  <a:srgbClr val="000099"/>
                </a:solidFill>
              </a:rPr>
              <a:t>Это позволяет делать обновления баз данных из </a:t>
            </a:r>
            <a:r>
              <a:rPr lang="en-US" sz="2400" dirty="0" smtClean="0">
                <a:solidFill>
                  <a:srgbClr val="000099"/>
                </a:solidFill>
              </a:rPr>
              <a:t>WEB</a:t>
            </a:r>
            <a:endParaRPr lang="ru-RU" sz="2400" dirty="0">
              <a:solidFill>
                <a:srgbClr val="000099"/>
              </a:solidFill>
            </a:endParaRPr>
          </a:p>
          <a:p>
            <a:pPr lvl="1" indent="-324000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800" dirty="0"/>
              <a:t>Системы интегрированные с технологией разработки </a:t>
            </a:r>
            <a:r>
              <a:rPr lang="en-US" sz="2800" dirty="0"/>
              <a:t>WEB</a:t>
            </a:r>
            <a:r>
              <a:rPr lang="ru-RU" sz="2800" dirty="0"/>
              <a:t> </a:t>
            </a:r>
            <a:r>
              <a:rPr lang="ru-RU" sz="2800" dirty="0" smtClean="0"/>
              <a:t>приложений </a:t>
            </a:r>
            <a:r>
              <a:rPr lang="ru-RU" sz="2800" dirty="0"/>
              <a:t>(</a:t>
            </a:r>
            <a:r>
              <a:rPr lang="en-US" sz="2800" dirty="0"/>
              <a:t>Cache)</a:t>
            </a:r>
            <a:endParaRPr lang="ru-RU" sz="28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4"/>
            <a:ext cx="676672" cy="504056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37</a:t>
            </a:fld>
            <a:endParaRPr lang="ru-RU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61950"/>
            <a:ext cx="8856476" cy="57785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Georgia" pitchFamily="18" charset="0"/>
              <a:buNone/>
            </a:pPr>
            <a:r>
              <a:rPr lang="ru-RU" sz="3200" b="0" dirty="0" smtClean="0">
                <a:solidFill>
                  <a:schemeClr val="bg2"/>
                </a:solidFill>
                <a:latin typeface="+mn-lt"/>
              </a:rPr>
              <a:t>История развития технологий баз данных. 3</a:t>
            </a:r>
          </a:p>
        </p:txBody>
      </p:sp>
    </p:spTree>
    <p:extLst>
      <p:ext uri="{BB962C8B-B14F-4D97-AF65-F5344CB8AC3E}">
        <p14:creationId xmlns="" xmlns:p14="http://schemas.microsoft.com/office/powerpoint/2010/main" val="173298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0" y="957660"/>
            <a:ext cx="9144000" cy="576064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v"/>
            </a:pPr>
            <a:r>
              <a:rPr lang="ru-RU" sz="2800" dirty="0" smtClean="0">
                <a:solidFill>
                  <a:srgbClr val="000099"/>
                </a:solidFill>
              </a:rPr>
              <a:t>В СУБД добавляются новые функции для работы в следующих областях:</a:t>
            </a:r>
            <a:endParaRPr lang="ru-RU" sz="2800" dirty="0">
              <a:solidFill>
                <a:srgbClr val="000099"/>
              </a:solidFill>
            </a:endParaRPr>
          </a:p>
          <a:p>
            <a:pPr lvl="1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>
                <a:solidFill>
                  <a:srgbClr val="C00000"/>
                </a:solidFill>
              </a:rPr>
              <a:t> </a:t>
            </a:r>
            <a:r>
              <a:rPr lang="ru-RU" sz="2600" dirty="0" smtClean="0">
                <a:solidFill>
                  <a:schemeClr val="bg2"/>
                </a:solidFill>
              </a:rPr>
              <a:t>Приложения в научных исследованиях</a:t>
            </a:r>
            <a:endParaRPr lang="ru-RU" sz="2600" dirty="0">
              <a:solidFill>
                <a:schemeClr val="bg2"/>
              </a:solidFill>
            </a:endParaRPr>
          </a:p>
          <a:p>
            <a:pPr lvl="1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>
                <a:solidFill>
                  <a:schemeClr val="bg2"/>
                </a:solidFill>
              </a:rPr>
              <a:t> XML </a:t>
            </a:r>
            <a:r>
              <a:rPr lang="ru-RU" sz="2600" dirty="0">
                <a:solidFill>
                  <a:schemeClr val="bg2"/>
                </a:solidFill>
              </a:rPr>
              <a:t>(</a:t>
            </a:r>
            <a:r>
              <a:rPr lang="ru-RU" sz="2600" dirty="0" err="1">
                <a:solidFill>
                  <a:schemeClr val="bg2"/>
                </a:solidFill>
              </a:rPr>
              <a:t>Extensible</a:t>
            </a:r>
            <a:r>
              <a:rPr lang="ru-RU" sz="2600" dirty="0">
                <a:solidFill>
                  <a:schemeClr val="bg2"/>
                </a:solidFill>
              </a:rPr>
              <a:t> </a:t>
            </a:r>
            <a:r>
              <a:rPr lang="ru-RU" sz="2600" dirty="0" err="1">
                <a:solidFill>
                  <a:schemeClr val="bg2"/>
                </a:solidFill>
              </a:rPr>
              <a:t>Markup</a:t>
            </a:r>
            <a:r>
              <a:rPr lang="ru-RU" sz="2600" dirty="0">
                <a:solidFill>
                  <a:schemeClr val="bg2"/>
                </a:solidFill>
              </a:rPr>
              <a:t> </a:t>
            </a:r>
            <a:r>
              <a:rPr lang="ru-RU" sz="2600" dirty="0" err="1">
                <a:solidFill>
                  <a:schemeClr val="bg2"/>
                </a:solidFill>
              </a:rPr>
              <a:t>Language</a:t>
            </a:r>
            <a:r>
              <a:rPr lang="ru-RU" sz="2600" dirty="0">
                <a:solidFill>
                  <a:schemeClr val="bg2"/>
                </a:solidFill>
              </a:rPr>
              <a:t>)</a:t>
            </a:r>
          </a:p>
          <a:p>
            <a:pPr lvl="1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>
                <a:solidFill>
                  <a:schemeClr val="bg2"/>
                </a:solidFill>
              </a:rPr>
              <a:t> Хранение </a:t>
            </a:r>
            <a:r>
              <a:rPr lang="ru-RU" sz="2600" dirty="0">
                <a:solidFill>
                  <a:schemeClr val="bg2"/>
                </a:solidFill>
              </a:rPr>
              <a:t>и </a:t>
            </a:r>
            <a:r>
              <a:rPr lang="ru-RU" sz="2600" dirty="0" smtClean="0">
                <a:solidFill>
                  <a:schemeClr val="bg2"/>
                </a:solidFill>
              </a:rPr>
              <a:t>манипулирование изображениями</a:t>
            </a:r>
            <a:endParaRPr lang="ru-RU" sz="2600" dirty="0">
              <a:solidFill>
                <a:schemeClr val="bg2"/>
              </a:solidFill>
            </a:endParaRPr>
          </a:p>
          <a:p>
            <a:pPr lvl="1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>
                <a:solidFill>
                  <a:schemeClr val="bg2"/>
                </a:solidFill>
              </a:rPr>
              <a:t> Управления аудио </a:t>
            </a:r>
            <a:r>
              <a:rPr lang="ru-RU" sz="2600" dirty="0">
                <a:solidFill>
                  <a:schemeClr val="bg2"/>
                </a:solidFill>
              </a:rPr>
              <a:t>и видео </a:t>
            </a:r>
            <a:r>
              <a:rPr lang="ru-RU" sz="2600" dirty="0" smtClean="0">
                <a:solidFill>
                  <a:schemeClr val="bg2"/>
                </a:solidFill>
              </a:rPr>
              <a:t>данными</a:t>
            </a:r>
          </a:p>
          <a:p>
            <a:pPr lvl="1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>
                <a:solidFill>
                  <a:schemeClr val="bg2"/>
                </a:solidFill>
              </a:rPr>
              <a:t> Хранилища </a:t>
            </a:r>
            <a:r>
              <a:rPr lang="ru-RU" sz="2600" dirty="0">
                <a:solidFill>
                  <a:schemeClr val="bg2"/>
                </a:solidFill>
              </a:rPr>
              <a:t>данных и </a:t>
            </a:r>
            <a:r>
              <a:rPr lang="ru-RU" sz="2600" dirty="0" smtClean="0">
                <a:solidFill>
                  <a:schemeClr val="bg2"/>
                </a:solidFill>
              </a:rPr>
              <a:t>интеллектуальный анализ </a:t>
            </a:r>
            <a:r>
              <a:rPr lang="ru-RU" sz="2600" dirty="0">
                <a:solidFill>
                  <a:schemeClr val="bg2"/>
                </a:solidFill>
              </a:rPr>
              <a:t>данных</a:t>
            </a:r>
          </a:p>
          <a:p>
            <a:pPr lvl="1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>
                <a:solidFill>
                  <a:schemeClr val="bg2"/>
                </a:solidFill>
              </a:rPr>
              <a:t> Управление </a:t>
            </a:r>
            <a:r>
              <a:rPr lang="ru-RU" sz="2600" dirty="0">
                <a:solidFill>
                  <a:schemeClr val="bg2"/>
                </a:solidFill>
              </a:rPr>
              <a:t>пространственными данными</a:t>
            </a:r>
          </a:p>
          <a:p>
            <a:pPr lvl="1">
              <a:buClr>
                <a:srgbClr val="C00000"/>
              </a:buClr>
              <a:buSzPct val="90000"/>
              <a:buFont typeface="Wingdings" pitchFamily="2" charset="2"/>
              <a:buChar char="q"/>
            </a:pPr>
            <a:r>
              <a:rPr lang="ru-RU" sz="2600" dirty="0" smtClean="0">
                <a:solidFill>
                  <a:schemeClr val="bg2"/>
                </a:solidFill>
              </a:rPr>
              <a:t> Управление временными рядами </a:t>
            </a:r>
            <a:r>
              <a:rPr lang="ru-RU" sz="2600" dirty="0">
                <a:solidFill>
                  <a:schemeClr val="bg2"/>
                </a:solidFill>
              </a:rPr>
              <a:t>и </a:t>
            </a:r>
            <a:r>
              <a:rPr lang="ru-RU" sz="2600" dirty="0" smtClean="0">
                <a:solidFill>
                  <a:schemeClr val="bg2"/>
                </a:solidFill>
              </a:rPr>
              <a:t>исторические данные</a:t>
            </a:r>
          </a:p>
          <a:p>
            <a:pPr marL="365760" lvl="1" indent="0">
              <a:buClr>
                <a:srgbClr val="000099"/>
              </a:buClr>
              <a:buSzPct val="100000"/>
              <a:buNone/>
            </a:pPr>
            <a:r>
              <a:rPr lang="ru-RU" sz="2400" dirty="0" smtClean="0">
                <a:solidFill>
                  <a:srgbClr val="000099"/>
                </a:solidFill>
              </a:rPr>
              <a:t>Все это </a:t>
            </a:r>
            <a:r>
              <a:rPr lang="ru-RU" sz="2400" dirty="0">
                <a:solidFill>
                  <a:srgbClr val="000099"/>
                </a:solidFill>
              </a:rPr>
              <a:t>порождает новые исследования и </a:t>
            </a:r>
            <a:r>
              <a:rPr lang="ru-RU" sz="2400" dirty="0" smtClean="0">
                <a:solidFill>
                  <a:srgbClr val="000099"/>
                </a:solidFill>
              </a:rPr>
              <a:t>разработки: введение </a:t>
            </a:r>
            <a:r>
              <a:rPr lang="ru-RU" sz="2400" dirty="0">
                <a:solidFill>
                  <a:srgbClr val="000099"/>
                </a:solidFill>
              </a:rPr>
              <a:t>новых типов данных, сложных структур данных, </a:t>
            </a:r>
            <a:r>
              <a:rPr lang="ru-RU" sz="2400" dirty="0" smtClean="0">
                <a:solidFill>
                  <a:srgbClr val="000099"/>
                </a:solidFill>
              </a:rPr>
              <a:t>новых операций </a:t>
            </a:r>
            <a:r>
              <a:rPr lang="ru-RU" sz="2400" dirty="0">
                <a:solidFill>
                  <a:srgbClr val="000099"/>
                </a:solidFill>
              </a:rPr>
              <a:t>и </a:t>
            </a:r>
            <a:r>
              <a:rPr lang="ru-RU" sz="2400" dirty="0" smtClean="0">
                <a:solidFill>
                  <a:srgbClr val="000099"/>
                </a:solidFill>
              </a:rPr>
              <a:t>новых схем хранения </a:t>
            </a:r>
            <a:r>
              <a:rPr lang="ru-RU" sz="2400" dirty="0">
                <a:solidFill>
                  <a:srgbClr val="000099"/>
                </a:solidFill>
              </a:rPr>
              <a:t>и индексации </a:t>
            </a:r>
            <a:r>
              <a:rPr lang="ru-RU" sz="2400" dirty="0" smtClean="0">
                <a:solidFill>
                  <a:srgbClr val="000099"/>
                </a:solidFill>
              </a:rPr>
              <a:t>в </a:t>
            </a:r>
            <a:r>
              <a:rPr lang="ru-RU" sz="2400" dirty="0">
                <a:solidFill>
                  <a:srgbClr val="000099"/>
                </a:solidFill>
              </a:rPr>
              <a:t>системах баз данных</a:t>
            </a:r>
            <a:endParaRPr lang="ru-RU" sz="2400" dirty="0" smtClean="0">
              <a:solidFill>
                <a:srgbClr val="000099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4"/>
            <a:ext cx="676672" cy="504056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38</a:t>
            </a:fld>
            <a:endParaRPr lang="ru-RU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321990"/>
            <a:ext cx="8820472" cy="57336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 fontScale="77500" lnSpcReduction="20000"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ru-RU" sz="4200" b="0" dirty="0">
                <a:solidFill>
                  <a:schemeClr val="bg2"/>
                </a:solidFill>
                <a:latin typeface="+mn-lt"/>
              </a:rPr>
              <a:t>Расширение возможностей базы </a:t>
            </a:r>
            <a:r>
              <a:rPr lang="ru-RU" sz="4200" b="0" dirty="0" smtClean="0">
                <a:solidFill>
                  <a:schemeClr val="bg2"/>
                </a:solidFill>
                <a:latin typeface="+mn-lt"/>
              </a:rPr>
              <a:t>данных</a:t>
            </a:r>
            <a:endParaRPr lang="ru-RU" sz="3300" b="0" dirty="0" smtClean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8295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0" y="1124744"/>
            <a:ext cx="9144000" cy="5104606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ru-RU" sz="3200" dirty="0" smtClean="0">
                <a:solidFill>
                  <a:srgbClr val="000099"/>
                </a:solidFill>
              </a:rPr>
              <a:t>Когда полнофункциональная (как определено выше) СУБД может оказаться не эффективной</a:t>
            </a:r>
            <a:r>
              <a:rPr lang="ru-RU" sz="2800" dirty="0" smtClean="0">
                <a:solidFill>
                  <a:srgbClr val="000099"/>
                </a:solidFill>
              </a:rPr>
              <a:t>:</a:t>
            </a:r>
          </a:p>
          <a:p>
            <a:pPr lvl="1">
              <a:spcBef>
                <a:spcPts val="1200"/>
              </a:spcBef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600" dirty="0" smtClean="0">
                <a:solidFill>
                  <a:srgbClr val="C00000"/>
                </a:solidFill>
              </a:rPr>
              <a:t> </a:t>
            </a:r>
            <a:r>
              <a:rPr lang="ru-RU" sz="2800" dirty="0" smtClean="0">
                <a:solidFill>
                  <a:srgbClr val="C00000"/>
                </a:solidFill>
              </a:rPr>
              <a:t>Если </a:t>
            </a:r>
            <a:r>
              <a:rPr lang="ru-RU" sz="2800" u="sng" dirty="0" smtClean="0">
                <a:solidFill>
                  <a:srgbClr val="C00000"/>
                </a:solidFill>
              </a:rPr>
              <a:t>данные и приложения просты</a:t>
            </a:r>
            <a:r>
              <a:rPr lang="ru-RU" sz="2800" dirty="0" smtClean="0">
                <a:solidFill>
                  <a:srgbClr val="C00000"/>
                </a:solidFill>
              </a:rPr>
              <a:t>, четко определены, и предполагается, что </a:t>
            </a:r>
            <a:r>
              <a:rPr lang="ru-RU" sz="2800" u="sng" dirty="0" smtClean="0">
                <a:solidFill>
                  <a:srgbClr val="C00000"/>
                </a:solidFill>
              </a:rPr>
              <a:t>не будут меняться со временем</a:t>
            </a:r>
            <a:r>
              <a:rPr lang="ru-RU" sz="2800" dirty="0" smtClean="0">
                <a:solidFill>
                  <a:srgbClr val="C00000"/>
                </a:solidFill>
              </a:rPr>
              <a:t>.</a:t>
            </a:r>
          </a:p>
          <a:p>
            <a:pPr lvl="1">
              <a:spcBef>
                <a:spcPts val="1200"/>
              </a:spcBef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800" dirty="0" smtClean="0">
                <a:solidFill>
                  <a:srgbClr val="C00000"/>
                </a:solidFill>
              </a:rPr>
              <a:t> Если существуют </a:t>
            </a:r>
            <a:r>
              <a:rPr lang="ru-RU" sz="2800" u="sng" dirty="0" smtClean="0">
                <a:solidFill>
                  <a:srgbClr val="C00000"/>
                </a:solidFill>
              </a:rPr>
              <a:t>жесткие требований к реальному времени</a:t>
            </a:r>
            <a:r>
              <a:rPr lang="ru-RU" sz="2800" dirty="0" smtClean="0">
                <a:solidFill>
                  <a:srgbClr val="C00000"/>
                </a:solidFill>
              </a:rPr>
              <a:t>, которые не могут быть выполнены из-за накладных СУБД.</a:t>
            </a:r>
          </a:p>
          <a:p>
            <a:pPr lvl="1">
              <a:spcBef>
                <a:spcPts val="1200"/>
              </a:spcBef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800" dirty="0" smtClean="0">
                <a:solidFill>
                  <a:srgbClr val="C00000"/>
                </a:solidFill>
              </a:rPr>
              <a:t> Если </a:t>
            </a:r>
            <a:r>
              <a:rPr lang="ru-RU" sz="2800" u="sng" dirty="0" smtClean="0">
                <a:solidFill>
                  <a:srgbClr val="C00000"/>
                </a:solidFill>
              </a:rPr>
              <a:t>не требуется </a:t>
            </a:r>
            <a:r>
              <a:rPr lang="ru-RU" sz="2800" dirty="0" smtClean="0">
                <a:solidFill>
                  <a:srgbClr val="C00000"/>
                </a:solidFill>
              </a:rPr>
              <a:t>мультидоступ пользователей к данным.</a:t>
            </a:r>
            <a:endParaRPr lang="ru-RU" sz="2800" dirty="0">
              <a:solidFill>
                <a:srgbClr val="C0000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4"/>
            <a:ext cx="676672" cy="504056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39</a:t>
            </a:fld>
            <a:endParaRPr lang="ru-RU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228600"/>
            <a:ext cx="9144000" cy="69252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ru-RU" sz="3200" b="0" dirty="0">
                <a:solidFill>
                  <a:srgbClr val="C00000"/>
                </a:solidFill>
                <a:latin typeface="+mn-lt"/>
              </a:rPr>
              <a:t>Когда не </a:t>
            </a:r>
            <a:r>
              <a:rPr lang="ru-RU" sz="3200" b="0" dirty="0" smtClean="0">
                <a:solidFill>
                  <a:srgbClr val="C00000"/>
                </a:solidFill>
                <a:latin typeface="+mn-lt"/>
              </a:rPr>
              <a:t>эффективно использование СУБД ?</a:t>
            </a:r>
          </a:p>
        </p:txBody>
      </p:sp>
    </p:spTree>
    <p:extLst>
      <p:ext uri="{BB962C8B-B14F-4D97-AF65-F5344CB8AC3E}">
        <p14:creationId xmlns="" xmlns:p14="http://schemas.microsoft.com/office/powerpoint/2010/main" val="340309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0" y="1340768"/>
            <a:ext cx="8892480" cy="3600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ru-RU" sz="3200" dirty="0" smtClean="0">
                <a:solidFill>
                  <a:srgbClr val="000099"/>
                </a:solidFill>
              </a:rPr>
              <a:t>Когда нет необходимой СУБД</a:t>
            </a: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600" dirty="0" smtClean="0">
                <a:solidFill>
                  <a:srgbClr val="C00000"/>
                </a:solidFill>
              </a:rPr>
              <a:t> </a:t>
            </a:r>
            <a:r>
              <a:rPr lang="ru-RU" sz="2800" dirty="0" smtClean="0">
                <a:solidFill>
                  <a:srgbClr val="C00000"/>
                </a:solidFill>
              </a:rPr>
              <a:t>СУБД не может </a:t>
            </a:r>
            <a:r>
              <a:rPr lang="ru-RU" sz="2800" dirty="0">
                <a:solidFill>
                  <a:srgbClr val="C00000"/>
                </a:solidFill>
              </a:rPr>
              <a:t>обрабатывать </a:t>
            </a:r>
            <a:r>
              <a:rPr lang="ru-RU" sz="2800" dirty="0" smtClean="0">
                <a:solidFill>
                  <a:srgbClr val="C00000"/>
                </a:solidFill>
              </a:rPr>
              <a:t>сложные данные </a:t>
            </a:r>
            <a:r>
              <a:rPr lang="ru-RU" sz="2800" dirty="0">
                <a:solidFill>
                  <a:srgbClr val="C00000"/>
                </a:solidFill>
              </a:rPr>
              <a:t>из-за ограничений </a:t>
            </a:r>
            <a:r>
              <a:rPr lang="ru-RU" sz="2800" dirty="0" smtClean="0">
                <a:solidFill>
                  <a:srgbClr val="C00000"/>
                </a:solidFill>
              </a:rPr>
              <a:t>модели.</a:t>
            </a:r>
            <a:endParaRPr lang="ru-RU" sz="2800" dirty="0">
              <a:solidFill>
                <a:srgbClr val="C00000"/>
              </a:solidFill>
            </a:endParaRPr>
          </a:p>
          <a:p>
            <a:pPr lvl="1">
              <a:buClr>
                <a:srgbClr val="000099"/>
              </a:buClr>
              <a:buSzPct val="100000"/>
              <a:buFont typeface="Wingdings" pitchFamily="2" charset="2"/>
              <a:buChar char="q"/>
            </a:pPr>
            <a:r>
              <a:rPr lang="ru-RU" sz="2800" dirty="0">
                <a:solidFill>
                  <a:srgbClr val="C00000"/>
                </a:solidFill>
              </a:rPr>
              <a:t> </a:t>
            </a:r>
            <a:r>
              <a:rPr lang="ru-RU" sz="2800" dirty="0" smtClean="0">
                <a:solidFill>
                  <a:srgbClr val="C00000"/>
                </a:solidFill>
              </a:rPr>
              <a:t>Пользователям нужны специальные операции </a:t>
            </a:r>
            <a:r>
              <a:rPr lang="ru-RU" sz="2800" dirty="0">
                <a:solidFill>
                  <a:srgbClr val="C00000"/>
                </a:solidFill>
              </a:rPr>
              <a:t>не </a:t>
            </a:r>
            <a:r>
              <a:rPr lang="ru-RU" sz="2800" dirty="0" smtClean="0">
                <a:solidFill>
                  <a:srgbClr val="C00000"/>
                </a:solidFill>
              </a:rPr>
              <a:t>поддерживаемые </a:t>
            </a:r>
            <a:r>
              <a:rPr lang="ru-RU" sz="2800" dirty="0">
                <a:solidFill>
                  <a:srgbClr val="C00000"/>
                </a:solidFill>
              </a:rPr>
              <a:t>СУБД</a:t>
            </a:r>
            <a:r>
              <a:rPr lang="ru-RU" sz="2600" dirty="0" smtClean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44408" y="6165304"/>
            <a:ext cx="676672" cy="504056"/>
          </a:xfrm>
        </p:spPr>
        <p:txBody>
          <a:bodyPr/>
          <a:lstStyle/>
          <a:p>
            <a:pPr>
              <a:defRPr/>
            </a:pPr>
            <a:fld id="{EC81DC93-3EA9-4CDA-BBF1-B2CF1316C53F}" type="slidenum">
              <a:rPr lang="ru-RU" smtClean="0"/>
              <a:pPr>
                <a:defRPr/>
              </a:pPr>
              <a:t>40</a:t>
            </a:fld>
            <a:endParaRPr lang="ru-RU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425078"/>
            <a:ext cx="9144000" cy="69252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rm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ru-RU" sz="3200" b="0" dirty="0">
                <a:solidFill>
                  <a:srgbClr val="C00000"/>
                </a:solidFill>
                <a:latin typeface="+mn-lt"/>
              </a:rPr>
              <a:t>Когда не </a:t>
            </a:r>
            <a:r>
              <a:rPr lang="ru-RU" sz="3200" b="0" dirty="0" smtClean="0">
                <a:solidFill>
                  <a:srgbClr val="C00000"/>
                </a:solidFill>
                <a:latin typeface="+mn-lt"/>
              </a:rPr>
              <a:t>эффективно использование СУБД ?</a:t>
            </a:r>
          </a:p>
        </p:txBody>
      </p:sp>
    </p:spTree>
    <p:extLst>
      <p:ext uri="{BB962C8B-B14F-4D97-AF65-F5344CB8AC3E}">
        <p14:creationId xmlns="" xmlns:p14="http://schemas.microsoft.com/office/powerpoint/2010/main" val="297899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1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10383</TotalTime>
  <Words>2090</Words>
  <Application>Microsoft Office PowerPoint</Application>
  <PresentationFormat>Экран (4:3)</PresentationFormat>
  <Paragraphs>556</Paragraphs>
  <Slides>40</Slides>
  <Notes>24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1" baseType="lpstr">
      <vt:lpstr>Тема1</vt:lpstr>
      <vt:lpstr>Базы данных</vt:lpstr>
      <vt:lpstr>Введение</vt:lpstr>
      <vt:lpstr>Темы курса</vt:lpstr>
      <vt:lpstr>Структура курса и аттестация</vt:lpstr>
      <vt:lpstr>Основная литература</vt:lpstr>
      <vt:lpstr>Дополнительная литература</vt:lpstr>
      <vt:lpstr>Приложения и структуры данных</vt:lpstr>
      <vt:lpstr>Базы данных в современном мире</vt:lpstr>
      <vt:lpstr>Базовые определения</vt:lpstr>
      <vt:lpstr>Определения термина «База данных»</vt:lpstr>
      <vt:lpstr>Базовые определения: данные и информация</vt:lpstr>
      <vt:lpstr>Система управления базами данных(СУБД). Типовые функции</vt:lpstr>
      <vt:lpstr>Типовые функции СУБД.</vt:lpstr>
      <vt:lpstr>Пример концептуальной модели БД</vt:lpstr>
      <vt:lpstr>Пример концептуальной модели БД </vt:lpstr>
      <vt:lpstr>Построение ER модели </vt:lpstr>
      <vt:lpstr>Пример простой БД</vt:lpstr>
      <vt:lpstr>Слайд 18</vt:lpstr>
      <vt:lpstr>Пример фрагмента каталога БД</vt:lpstr>
      <vt:lpstr>Слайд 20</vt:lpstr>
      <vt:lpstr>Слайд 21</vt:lpstr>
      <vt:lpstr>3 уровня архитектуры системы БД</vt:lpstr>
      <vt:lpstr>Независимость данных</vt:lpstr>
      <vt:lpstr>Слайд 24</vt:lpstr>
      <vt:lpstr>Пользователи БД</vt:lpstr>
      <vt:lpstr>Пользователи БД (Актеры на сцене)</vt:lpstr>
      <vt:lpstr>Пользователи БД (Актеры на сцене)</vt:lpstr>
      <vt:lpstr>Пользователи БД (актеры на сцене)</vt:lpstr>
      <vt:lpstr>Пользователи БД (конечные пользователи)</vt:lpstr>
      <vt:lpstr>Слайд 30</vt:lpstr>
      <vt:lpstr>Пример (избыточность)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Базы данных</dc:title>
  <dc:creator>Борис</dc:creator>
  <cp:lastModifiedBy>User</cp:lastModifiedBy>
  <cp:revision>223</cp:revision>
  <dcterms:created xsi:type="dcterms:W3CDTF">2012-09-07T02:07:35Z</dcterms:created>
  <dcterms:modified xsi:type="dcterms:W3CDTF">2019-09-04T10:22:18Z</dcterms:modified>
</cp:coreProperties>
</file>