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7"/>
  </p:notesMasterIdLst>
  <p:sldIdLst>
    <p:sldId id="256" r:id="rId2"/>
    <p:sldId id="257" r:id="rId3"/>
    <p:sldId id="258" r:id="rId4"/>
    <p:sldId id="283" r:id="rId5"/>
    <p:sldId id="271" r:id="rId6"/>
    <p:sldId id="259" r:id="rId7"/>
    <p:sldId id="287" r:id="rId8"/>
    <p:sldId id="272" r:id="rId9"/>
    <p:sldId id="288" r:id="rId10"/>
    <p:sldId id="273" r:id="rId11"/>
    <p:sldId id="274" r:id="rId12"/>
    <p:sldId id="285" r:id="rId13"/>
    <p:sldId id="289" r:id="rId14"/>
    <p:sldId id="284" r:id="rId15"/>
    <p:sldId id="277" r:id="rId16"/>
    <p:sldId id="279" r:id="rId17"/>
    <p:sldId id="275" r:id="rId18"/>
    <p:sldId id="276" r:id="rId19"/>
    <p:sldId id="278" r:id="rId20"/>
    <p:sldId id="280" r:id="rId21"/>
    <p:sldId id="281" r:id="rId22"/>
    <p:sldId id="282" r:id="rId23"/>
    <p:sldId id="286" r:id="rId24"/>
    <p:sldId id="290" r:id="rId25"/>
    <p:sldId id="291" r:id="rId26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DE411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81" autoAdjust="0"/>
    <p:restoredTop sz="94660"/>
  </p:normalViewPr>
  <p:slideViewPr>
    <p:cSldViewPr showGuides="1">
      <p:cViewPr varScale="1">
        <p:scale>
          <a:sx n="146" d="100"/>
          <a:sy n="146" d="100"/>
        </p:scale>
        <p:origin x="-139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0E45D-9B40-41D3-AE8F-732B7D3873D2}" type="datetimeFigureOut">
              <a:rPr lang="ru-RU" smtClean="0"/>
              <a:pPr/>
              <a:t>26.09.2019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6504E-3874-4E50-9762-3E1C7578DE4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6436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5855A-415A-427A-AC0A-17C5AA35CF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70B2-522E-4B34-AAAE-1F199E26408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33F315-05B0-4C38-846E-47A1FDD828F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E750A-48A9-4EE4-8911-90A0299BAC1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17162-7891-4FDA-996F-43BAF943440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80CE1F-951C-4B99-9F84-EA803FD45C8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938573-9ED2-4A75-9496-02D75D7B685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85BB-BF2C-49E2-B9D3-ECCCC90EDA1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4EA40-AEE0-4E9E-B088-C87C6837BE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7AB17-CCFD-43BE-A29A-E858690473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B6DB3-E5D2-440E-810D-FCA5186E58A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4929C-9F9D-4E8D-AC55-81EF3B287A3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5CAD05F8-57F9-496C-8E27-09DCD2B0DF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7375" y="2214563"/>
            <a:ext cx="7134225" cy="18240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dirty="0" smtClean="0"/>
              <a:t>Теория проектирования реляционных баз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6565" y="4239090"/>
            <a:ext cx="8370930" cy="225025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ru-RU" dirty="0" smtClean="0"/>
              <a:t>Дж.Ульман</a:t>
            </a:r>
          </a:p>
          <a:p>
            <a:pPr eaLnBrk="1" hangingPunct="1"/>
            <a:r>
              <a:rPr lang="ru-RU" dirty="0" smtClean="0"/>
              <a:t>   Основы систем баз данных. Глава 5</a:t>
            </a:r>
          </a:p>
          <a:p>
            <a:pPr eaLnBrk="1" hangingPunct="1"/>
            <a:r>
              <a:rPr lang="ru-RU" dirty="0" smtClean="0"/>
              <a:t>К. Дж. </a:t>
            </a:r>
            <a:r>
              <a:rPr lang="ru-RU" dirty="0" err="1" smtClean="0"/>
              <a:t>Дейт</a:t>
            </a:r>
            <a:r>
              <a:rPr lang="ru-RU" dirty="0" smtClean="0"/>
              <a:t> </a:t>
            </a:r>
            <a:br>
              <a:rPr lang="ru-RU" dirty="0" smtClean="0"/>
            </a:br>
            <a:r>
              <a:rPr lang="ru-RU" dirty="0" smtClean="0"/>
              <a:t>   Введение в системы баз данных. </a:t>
            </a:r>
            <a:br>
              <a:rPr lang="ru-RU" dirty="0" smtClean="0"/>
            </a:br>
            <a:r>
              <a:rPr lang="ru-RU" dirty="0" smtClean="0"/>
              <a:t>            </a:t>
            </a:r>
            <a:r>
              <a:rPr lang="ru-RU" smtClean="0"/>
              <a:t>Главы: 11,12,13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56565" y="143635"/>
            <a:ext cx="7777162" cy="648369"/>
          </a:xfrm>
        </p:spPr>
        <p:txBody>
          <a:bodyPr/>
          <a:lstStyle/>
          <a:p>
            <a:pPr algn="ctr" eaLnBrk="1" hangingPunct="1"/>
            <a:r>
              <a:rPr lang="ru-RU" sz="3200" dirty="0" smtClean="0">
                <a:solidFill>
                  <a:schemeClr val="bg2"/>
                </a:solidFill>
              </a:rPr>
              <a:t>Проблемы проектирования - аномалии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18710"/>
            <a:ext cx="9144000" cy="567063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3600" dirty="0" smtClean="0"/>
              <a:t>Поставщики(</a:t>
            </a:r>
            <a:r>
              <a:rPr lang="ru-RU" sz="2800" u="sng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назв_пост</a:t>
            </a:r>
            <a:r>
              <a:rPr lang="ru-RU" sz="2800" dirty="0" err="1" smtClean="0"/>
              <a:t>,адрес_пост,</a:t>
            </a:r>
            <a:r>
              <a:rPr lang="ru-RU" sz="2800" u="sng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товар</a:t>
            </a:r>
            <a:r>
              <a:rPr lang="ru-RU" sz="2800" dirty="0" err="1" smtClean="0"/>
              <a:t>,цена</a:t>
            </a:r>
            <a:r>
              <a:rPr lang="ru-RU" sz="3600" dirty="0" smtClean="0"/>
              <a:t>)</a:t>
            </a:r>
          </a:p>
          <a:p>
            <a:pPr algn="ctr" eaLnBrk="1" hangingPunct="1">
              <a:buNone/>
              <a:defRPr/>
            </a:pPr>
            <a:r>
              <a:rPr lang="ru-RU" sz="3600" dirty="0" smtClean="0"/>
              <a:t>АНОМАЛИИ</a:t>
            </a:r>
            <a:endParaRPr lang="ru-RU" sz="3600" dirty="0"/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2800" b="1" dirty="0" smtClean="0"/>
              <a:t>Избыточность</a:t>
            </a:r>
            <a:r>
              <a:rPr lang="ru-RU" sz="2800" dirty="0" smtClean="0"/>
              <a:t> (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повторяется АДРЕС</a:t>
            </a:r>
            <a:r>
              <a:rPr lang="ru-RU" sz="2800" dirty="0" smtClean="0"/>
              <a:t>)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2800" b="1" dirty="0" smtClean="0"/>
              <a:t>Включение</a:t>
            </a:r>
            <a:r>
              <a:rPr lang="ru-RU" sz="2800" dirty="0" smtClean="0"/>
              <a:t>  </a:t>
            </a:r>
            <a:br>
              <a:rPr lang="ru-RU" sz="2800" dirty="0" smtClean="0"/>
            </a:br>
            <a:r>
              <a:rPr lang="ru-RU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Н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ельзя 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вставить ПОСТАВЩИКА, если нет </a:t>
            </a:r>
            <a:r>
              <a:rPr lang="ru-RU" sz="2000" b="1" i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поставляемого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товара (</a:t>
            </a:r>
            <a:r>
              <a:rPr lang="ru-RU" sz="2000" dirty="0" smtClean="0">
                <a:solidFill>
                  <a:srgbClr val="C00000"/>
                </a:solidFill>
              </a:rPr>
              <a:t>ключ не может содержать значение </a:t>
            </a:r>
            <a:r>
              <a:rPr lang="en-US" sz="2000" dirty="0" smtClean="0">
                <a:solidFill>
                  <a:srgbClr val="C00000"/>
                </a:solidFill>
              </a:rPr>
              <a:t>NULL</a:t>
            </a:r>
            <a:r>
              <a:rPr lang="en-US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)</a:t>
            </a:r>
            <a:endParaRPr lang="ru-RU" sz="2800" dirty="0" smtClean="0"/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2800" b="1" dirty="0" smtClean="0"/>
              <a:t>Удаление 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>(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если удалить все </a:t>
            </a:r>
            <a:r>
              <a:rPr lang="ru-RU" sz="24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ТОВАРы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, то и поставщика НЕ БУДЕТ</a:t>
            </a:r>
            <a:r>
              <a:rPr lang="ru-RU" sz="2800" dirty="0" smtClean="0"/>
              <a:t>)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2800" b="1" dirty="0" smtClean="0"/>
              <a:t>Обновление</a:t>
            </a:r>
            <a:r>
              <a:rPr lang="ru-RU" sz="2800" dirty="0" smtClean="0"/>
              <a:t> (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НУЖНО следить за тем, чтобы обновление было проведено на всех кортежах БД).</a:t>
            </a:r>
            <a:b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ru-RU" sz="2400" dirty="0" smtClean="0"/>
              <a:t>Например, при  изменении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адреса </a:t>
            </a:r>
            <a:r>
              <a:rPr lang="ru-RU" sz="2400" dirty="0" smtClean="0"/>
              <a:t>у некоторого поставщика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необходимо изменить значение поля «</a:t>
            </a:r>
            <a:r>
              <a:rPr lang="ru-RU" sz="2400" dirty="0" err="1" smtClean="0"/>
              <a:t>адрес_пост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» для всех кортежей </a:t>
            </a:r>
            <a:r>
              <a:rPr lang="ru-RU" sz="2400" dirty="0" smtClean="0"/>
              <a:t>этого поставщика в БД</a:t>
            </a:r>
            <a:r>
              <a:rPr lang="ru-RU" sz="2800" dirty="0" smtClean="0"/>
              <a:t>)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endParaRPr lang="ru-RU" sz="3600" dirty="0" smtClean="0"/>
          </a:p>
          <a:p>
            <a:pPr eaLnBrk="1" hangingPunct="1">
              <a:defRPr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595313"/>
          </a:xfrm>
        </p:spPr>
        <p:txBody>
          <a:bodyPr/>
          <a:lstStyle/>
          <a:p>
            <a:pPr algn="ctr" eaLnBrk="1" hangingPunct="1"/>
            <a:r>
              <a:rPr lang="ru-RU" sz="3600" dirty="0" smtClean="0">
                <a:solidFill>
                  <a:schemeClr val="bg2"/>
                </a:solidFill>
              </a:rPr>
              <a:t>Ограничения на отношения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09" y="908050"/>
            <a:ext cx="8982491" cy="585132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v"/>
              <a:defRPr/>
            </a:pPr>
            <a:r>
              <a:rPr lang="ru-RU" sz="2900" dirty="0" smtClean="0">
                <a:latin typeface="Times New Roman" pitchFamily="18" charset="0"/>
                <a:cs typeface="Times New Roman" pitchFamily="18" charset="0"/>
              </a:rPr>
              <a:t>Отношения могут </a:t>
            </a:r>
            <a:r>
              <a:rPr lang="ru-RU" sz="2900" i="1" dirty="0" smtClean="0">
                <a:latin typeface="Times New Roman" pitchFamily="18" charset="0"/>
                <a:cs typeface="Times New Roman" pitchFamily="18" charset="0"/>
              </a:rPr>
              <a:t>различными способами </a:t>
            </a:r>
            <a:r>
              <a:rPr lang="ru-RU" sz="2900" dirty="0" smtClean="0">
                <a:latin typeface="Times New Roman" pitchFamily="18" charset="0"/>
                <a:cs typeface="Times New Roman" pitchFamily="18" charset="0"/>
              </a:rPr>
              <a:t>использоваться для моделирования «реального мира»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  <a:defRPr/>
            </a:pPr>
            <a:r>
              <a:rPr lang="ru-RU" sz="2900" dirty="0" smtClean="0">
                <a:latin typeface="Times New Roman" pitchFamily="18" charset="0"/>
                <a:cs typeface="Times New Roman" pitchFamily="18" charset="0"/>
              </a:rPr>
              <a:t>Каждый кортеж отношения может, например, представлять НЕКОТОРЫЙ ОБЪЕКТ или СВЯЗЬ между объектами.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  <a:defRPr/>
            </a:pPr>
            <a:r>
              <a:rPr lang="ru-RU" sz="2900" dirty="0" smtClean="0">
                <a:latin typeface="Times New Roman" pitchFamily="18" charset="0"/>
                <a:cs typeface="Times New Roman" pitchFamily="18" charset="0"/>
              </a:rPr>
              <a:t>Из фактов о реальном мире следует, что </a:t>
            </a:r>
            <a:r>
              <a:rPr lang="ru-RU" sz="2900" b="1" dirty="0" smtClean="0">
                <a:latin typeface="Times New Roman" pitchFamily="18" charset="0"/>
                <a:cs typeface="Times New Roman" pitchFamily="18" charset="0"/>
              </a:rPr>
              <a:t>НЕ КАЖДОЕ конечное множество кортежей </a:t>
            </a:r>
            <a:r>
              <a:rPr lang="ru-RU" sz="2900" dirty="0" smtClean="0">
                <a:latin typeface="Times New Roman" pitchFamily="18" charset="0"/>
                <a:cs typeface="Times New Roman" pitchFamily="18" charset="0"/>
              </a:rPr>
              <a:t>может быть </a:t>
            </a:r>
            <a:r>
              <a:rPr lang="ru-RU" sz="2900" b="1" dirty="0" smtClean="0">
                <a:latin typeface="Times New Roman" pitchFamily="18" charset="0"/>
                <a:cs typeface="Times New Roman" pitchFamily="18" charset="0"/>
              </a:rPr>
              <a:t>текущим значением отношения</a:t>
            </a:r>
            <a:r>
              <a:rPr lang="ru-RU" sz="2900" dirty="0" smtClean="0">
                <a:latin typeface="Times New Roman" pitchFamily="18" charset="0"/>
                <a:cs typeface="Times New Roman" pitchFamily="18" charset="0"/>
              </a:rPr>
              <a:t>, даже если бы они имели правильную арность и были выбраны из правильных доменов.</a:t>
            </a:r>
          </a:p>
          <a:p>
            <a:pPr eaLnBrk="1" hangingPunct="1">
              <a:lnSpc>
                <a:spcPct val="110000"/>
              </a:lnSpc>
              <a:buNone/>
              <a:defRPr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Персонал (фамилия, дата рождения,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ном_пасп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 отдел,  должность)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		     Иванов	       13.09.1990                5001793549           1	          м.н.с.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		     Петров            09.</a:t>
            </a:r>
            <a:r>
              <a:rPr lang="ru-RU" sz="19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.1980                </a:t>
            </a:r>
            <a:r>
              <a:rPr lang="ru-RU" sz="19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500284334</a:t>
            </a: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ru-RU" sz="1900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	          с.н.с.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Отделы (код, название)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		   </a:t>
            </a: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1     операционных систем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		    2     баз данных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  <a:defRPr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Существует 2 вида ограничений на отношения:</a:t>
            </a:r>
            <a:endParaRPr lang="en-US" sz="2800" u="sng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"/>
              <a:defRPr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Ограничения, которые зависят от семантики элементов домена («дата рождения», «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ном_пасп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»  и  т.п.)</a:t>
            </a:r>
          </a:p>
          <a:p>
            <a:pPr lvl="1" eaLnBrk="1" hangingPunct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"/>
              <a:defRPr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Ограничения , которые накладываются  в  виде равенства или неравенства значений атрибутов,  например, «отдел»  (Персонал)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        «код»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(Отделы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или вообще  в виде некоторой  </a:t>
            </a:r>
            <a:r>
              <a:rPr lang="ru-RU" sz="2600" b="1" u="sng" dirty="0" smtClean="0">
                <a:latin typeface="Times New Roman" pitchFamily="18" charset="0"/>
                <a:cs typeface="Times New Roman" pitchFamily="18" charset="0"/>
              </a:rPr>
              <a:t>функциональной зависимости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7902370" y="6248400"/>
            <a:ext cx="784430" cy="457200"/>
          </a:xfrm>
        </p:spPr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  <p:sp>
        <p:nvSpPr>
          <p:cNvPr id="5" name="Двойная стрелка влево/вправо 4"/>
          <p:cNvSpPr/>
          <p:nvPr/>
        </p:nvSpPr>
        <p:spPr>
          <a:xfrm flipV="1">
            <a:off x="6216650" y="5829300"/>
            <a:ext cx="810090" cy="4571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595313"/>
          </a:xfrm>
        </p:spPr>
        <p:txBody>
          <a:bodyPr/>
          <a:lstStyle/>
          <a:p>
            <a:pPr algn="ctr" eaLnBrk="1" hangingPunct="1"/>
            <a:r>
              <a:rPr lang="ru-RU" sz="3600" smtClean="0">
                <a:solidFill>
                  <a:schemeClr val="bg2"/>
                </a:solidFill>
              </a:rPr>
              <a:t>Функциональные зависимости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515" y="908050"/>
            <a:ext cx="8937485" cy="576131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800" dirty="0" smtClean="0"/>
              <a:t>Пусть </a:t>
            </a:r>
            <a:r>
              <a:rPr lang="en-US" sz="2800" dirty="0" smtClean="0"/>
              <a:t>R(A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 A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,…,A</a:t>
            </a:r>
            <a:r>
              <a:rPr lang="en-US" sz="2800" baseline="-25000" dirty="0" smtClean="0"/>
              <a:t>n</a:t>
            </a:r>
            <a:r>
              <a:rPr lang="en-US" sz="2800" dirty="0" smtClean="0"/>
              <a:t>)</a:t>
            </a:r>
            <a:r>
              <a:rPr lang="ru-RU" sz="2800" dirty="0" smtClean="0"/>
              <a:t> - отношение</a:t>
            </a:r>
            <a:r>
              <a:rPr lang="en-US" sz="2800" dirty="0" smtClean="0"/>
              <a:t>,</a:t>
            </a:r>
            <a:endParaRPr lang="ru-RU" sz="2800" dirty="0" smtClean="0"/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800" dirty="0" smtClean="0"/>
              <a:t>   </a:t>
            </a:r>
            <a:r>
              <a:rPr lang="en-US" sz="2800" dirty="0" smtClean="0"/>
              <a:t>X,</a:t>
            </a:r>
            <a:r>
              <a:rPr lang="ru-RU" sz="2800" dirty="0" smtClean="0"/>
              <a:t> </a:t>
            </a:r>
            <a:r>
              <a:rPr lang="en-US" sz="2800" dirty="0" smtClean="0"/>
              <a:t>Y  </a:t>
            </a:r>
            <a:r>
              <a:rPr lang="ru-RU" sz="2800" dirty="0" smtClean="0"/>
              <a:t>являются подмножествами   </a:t>
            </a:r>
            <a:r>
              <a:rPr lang="en-US" sz="2800" dirty="0" smtClean="0"/>
              <a:t>{A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 A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,…,A</a:t>
            </a:r>
            <a:r>
              <a:rPr lang="en-US" sz="2800" baseline="-25000" dirty="0" smtClean="0"/>
              <a:t>n</a:t>
            </a:r>
            <a:r>
              <a:rPr lang="en-US" sz="2800" dirty="0" smtClean="0"/>
              <a:t>}</a:t>
            </a:r>
            <a:r>
              <a:rPr lang="ru-RU" sz="2800" baseline="-25000" dirty="0" smtClean="0"/>
              <a:t> </a:t>
            </a:r>
            <a:r>
              <a:rPr lang="ru-RU" sz="2800" dirty="0" smtClean="0"/>
              <a:t>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800" u="sng" dirty="0" smtClean="0"/>
              <a:t>Определение</a:t>
            </a:r>
            <a:endParaRPr lang="en-US" sz="2800" u="sng" dirty="0" smtClean="0"/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400" dirty="0" smtClean="0"/>
              <a:t>Множество атрибутов </a:t>
            </a:r>
            <a:r>
              <a:rPr lang="en-US" sz="2400" dirty="0" smtClean="0"/>
              <a:t>Y </a:t>
            </a:r>
            <a:r>
              <a:rPr lang="ru-RU" sz="2400" dirty="0" smtClean="0"/>
              <a:t>функционально зависит от </a:t>
            </a:r>
            <a:r>
              <a:rPr lang="en-US" sz="2400" dirty="0" smtClean="0"/>
              <a:t>X</a:t>
            </a:r>
            <a:r>
              <a:rPr lang="ru-RU" sz="2400" dirty="0" smtClean="0"/>
              <a:t> на </a:t>
            </a:r>
            <a:r>
              <a:rPr lang="en-US" sz="2800" dirty="0" smtClean="0"/>
              <a:t>R</a:t>
            </a:r>
            <a:r>
              <a:rPr lang="ru-RU" sz="2800" dirty="0" smtClean="0"/>
              <a:t>,   </a:t>
            </a:r>
            <a:br>
              <a:rPr lang="ru-RU" sz="2800" dirty="0" smtClean="0"/>
            </a:br>
            <a:r>
              <a:rPr lang="ru-RU" sz="2800" dirty="0" smtClean="0"/>
              <a:t>		</a:t>
            </a:r>
            <a:r>
              <a:rPr lang="en-US" sz="2800" dirty="0" smtClean="0"/>
              <a:t>(</a:t>
            </a:r>
            <a:r>
              <a:rPr lang="ru-RU" sz="2800" dirty="0" smtClean="0"/>
              <a:t>Х</a:t>
            </a:r>
            <a:r>
              <a:rPr lang="en-US" sz="2800" dirty="0" smtClean="0"/>
              <a:t> </a:t>
            </a:r>
            <a:r>
              <a:rPr lang="ru-RU" sz="2800" dirty="0" smtClean="0">
                <a:sym typeface="Symbol"/>
              </a:rPr>
              <a:t></a:t>
            </a:r>
            <a:r>
              <a:rPr lang="en-US" sz="2800" dirty="0" smtClean="0"/>
              <a:t> Y)</a:t>
            </a:r>
            <a:endParaRPr lang="ru-RU" sz="2800" dirty="0" smtClean="0"/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400" dirty="0" smtClean="0"/>
              <a:t>если в отношении </a:t>
            </a:r>
            <a:r>
              <a:rPr lang="en-US" sz="2400" dirty="0" smtClean="0"/>
              <a:t>R</a:t>
            </a:r>
            <a:r>
              <a:rPr lang="ru-RU" sz="2400" dirty="0" smtClean="0"/>
              <a:t>  </a:t>
            </a:r>
            <a:r>
              <a:rPr lang="ru-RU" sz="2400" dirty="0" smtClean="0">
                <a:solidFill>
                  <a:schemeClr val="bg2"/>
                </a:solidFill>
              </a:rPr>
              <a:t>не могут содержаться</a:t>
            </a:r>
            <a:r>
              <a:rPr lang="ru-RU" sz="2400" dirty="0" smtClean="0"/>
              <a:t>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400" dirty="0" smtClean="0"/>
              <a:t>	</a:t>
            </a:r>
            <a:r>
              <a:rPr lang="en-US" sz="2400" dirty="0" smtClean="0"/>
              <a:t>2 </a:t>
            </a:r>
            <a:r>
              <a:rPr lang="ru-RU" sz="2400" dirty="0" smtClean="0"/>
              <a:t>кортежа, компоненты которых</a:t>
            </a:r>
          </a:p>
          <a:p>
            <a:pPr lvl="2" indent="-342900" eaLnBrk="1" hangingPunct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000" dirty="0" smtClean="0"/>
              <a:t>совпадают по всем атрибутам из Х,</a:t>
            </a:r>
          </a:p>
          <a:p>
            <a:pPr lvl="2" indent="-342900" eaLnBrk="1" hangingPunct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000" dirty="0" smtClean="0"/>
              <a:t>но не совпадают по одному или более атрибутам из </a:t>
            </a:r>
            <a:r>
              <a:rPr lang="en-US" sz="2000" dirty="0" smtClean="0"/>
              <a:t>Y</a:t>
            </a:r>
            <a:endParaRPr lang="ru-RU" sz="2000" dirty="0" smtClean="0"/>
          </a:p>
          <a:p>
            <a:pPr marL="0" indent="0" eaLnBrk="1" hangingPunct="1">
              <a:buNone/>
              <a:defRPr/>
            </a:pPr>
            <a:r>
              <a:rPr lang="ru-RU" sz="2400" dirty="0" smtClean="0"/>
              <a:t>То есть </a:t>
            </a:r>
            <a:r>
              <a:rPr lang="ru-RU" sz="2400" b="1" dirty="0" smtClean="0">
                <a:sym typeface="Symbol"/>
              </a:rPr>
              <a:t>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,r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,r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 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 R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,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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)=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)  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)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) ) </a:t>
            </a:r>
            <a:r>
              <a:rPr lang="ru-RU" sz="2400" dirty="0" smtClean="0">
                <a:cs typeface="Times New Roman" pitchFamily="18" charset="0"/>
                <a:sym typeface="Symbol"/>
              </a:rPr>
              <a:t>или</a:t>
            </a:r>
          </a:p>
          <a:p>
            <a:pPr marL="0" indent="0" eaLnBrk="1" hangingPunct="1">
              <a:buNone/>
              <a:defRPr/>
            </a:pPr>
            <a:r>
              <a:rPr lang="ru-RU" sz="2400" b="1" dirty="0" smtClean="0">
                <a:cs typeface="Times New Roman" pitchFamily="18" charset="0"/>
                <a:sym typeface="Symbol"/>
              </a:rPr>
              <a:t>               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,r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,r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 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 R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,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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)=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)  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) =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)) </a:t>
            </a:r>
            <a:endParaRPr lang="ru-RU" sz="2400" b="1" dirty="0" smtClean="0"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400" dirty="0" smtClean="0"/>
              <a:t>Функциональные зависимости отражают 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ru-RU" sz="2000" dirty="0" smtClean="0">
                <a:solidFill>
                  <a:srgbClr val="C00000"/>
                </a:solidFill>
              </a:rPr>
              <a:t>а) зависимость </a:t>
            </a:r>
            <a:r>
              <a:rPr lang="ru-RU" sz="2000" dirty="0" err="1" smtClean="0">
                <a:solidFill>
                  <a:srgbClr val="C00000"/>
                </a:solidFill>
              </a:rPr>
              <a:t>неключевых</a:t>
            </a:r>
            <a:r>
              <a:rPr lang="ru-RU" sz="2000" dirty="0" smtClean="0">
                <a:solidFill>
                  <a:srgbClr val="C00000"/>
                </a:solidFill>
              </a:rPr>
              <a:t> </a:t>
            </a:r>
            <a:r>
              <a:rPr lang="ru-RU" sz="2000" dirty="0" smtClean="0">
                <a:solidFill>
                  <a:srgbClr val="C00000"/>
                </a:solidFill>
              </a:rPr>
              <a:t>атрибутов от КЛЮЧА,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ru-RU" sz="2000" dirty="0" smtClean="0">
                <a:solidFill>
                  <a:srgbClr val="C00000"/>
                </a:solidFill>
              </a:rPr>
              <a:t>б) отношение </a:t>
            </a:r>
            <a:r>
              <a:rPr lang="en-US" sz="2000" dirty="0" smtClean="0">
                <a:solidFill>
                  <a:srgbClr val="C00000"/>
                </a:solidFill>
              </a:rPr>
              <a:t>N</a:t>
            </a:r>
            <a:r>
              <a:rPr lang="ru-RU" sz="2000" dirty="0" smtClean="0">
                <a:solidFill>
                  <a:srgbClr val="C00000"/>
                </a:solidFill>
              </a:rPr>
              <a:t>:1 разных групп объектов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ru-RU" sz="2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082390" y="6248400"/>
            <a:ext cx="604410" cy="457200"/>
          </a:xfrm>
        </p:spPr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74" y="1000108"/>
            <a:ext cx="8526476" cy="567374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dirty="0" smtClean="0"/>
              <a:t>Пусть </a:t>
            </a:r>
            <a:r>
              <a:rPr lang="en-US" sz="2400" dirty="0" smtClean="0"/>
              <a:t>R </a:t>
            </a:r>
            <a:r>
              <a:rPr lang="ru-RU" sz="2400" dirty="0" smtClean="0"/>
              <a:t>- схема отношения, а  </a:t>
            </a:r>
            <a:r>
              <a:rPr lang="en-US" sz="2400" dirty="0" smtClean="0"/>
              <a:t>A, B, C –</a:t>
            </a:r>
            <a:r>
              <a:rPr lang="ru-RU" sz="2400" dirty="0" smtClean="0"/>
              <a:t> некоторые атрибуты.</a:t>
            </a:r>
          </a:p>
          <a:p>
            <a:pPr>
              <a:lnSpc>
                <a:spcPct val="120000"/>
              </a:lnSpc>
              <a:buNone/>
            </a:pPr>
            <a:r>
              <a:rPr lang="ru-RU" sz="2400" dirty="0" smtClean="0"/>
              <a:t>Пусть известно, что ФЗ </a:t>
            </a:r>
            <a:r>
              <a:rPr lang="en-US" sz="2400" dirty="0" smtClean="0">
                <a:solidFill>
                  <a:srgbClr val="FF0000"/>
                </a:solidFill>
              </a:rPr>
              <a:t>A 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 smtClean="0">
                <a:solidFill>
                  <a:srgbClr val="FF0000"/>
                </a:solidFill>
              </a:rPr>
              <a:t> B </a:t>
            </a:r>
            <a:r>
              <a:rPr lang="ru-RU" sz="2400" dirty="0" smtClean="0"/>
              <a:t>и </a:t>
            </a:r>
            <a:r>
              <a:rPr lang="en-US" sz="2400" dirty="0" smtClean="0">
                <a:solidFill>
                  <a:srgbClr val="FF0000"/>
                </a:solidFill>
              </a:rPr>
              <a:t>B 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 smtClean="0">
                <a:solidFill>
                  <a:srgbClr val="FF0000"/>
                </a:solidFill>
              </a:rPr>
              <a:t> C</a:t>
            </a:r>
            <a:r>
              <a:rPr lang="ru-RU" sz="2400" dirty="0" smtClean="0">
                <a:solidFill>
                  <a:srgbClr val="FF0000"/>
                </a:solidFill>
              </a:rPr>
              <a:t> </a:t>
            </a:r>
            <a:r>
              <a:rPr lang="ru-RU" sz="2400" dirty="0" smtClean="0"/>
              <a:t>выполняются на </a:t>
            </a:r>
            <a:r>
              <a:rPr lang="en-US" sz="2400" dirty="0" smtClean="0"/>
              <a:t>R</a:t>
            </a:r>
            <a:r>
              <a:rPr lang="ru-RU" sz="2400" dirty="0" smtClean="0"/>
              <a:t>.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Можно утверждать, что тогда </a:t>
            </a:r>
            <a:r>
              <a:rPr lang="en-US" sz="2400" dirty="0" smtClean="0">
                <a:solidFill>
                  <a:srgbClr val="FF0000"/>
                </a:solidFill>
              </a:rPr>
              <a:t>A -&gt; C</a:t>
            </a:r>
            <a:r>
              <a:rPr lang="ru-RU" sz="2400" dirty="0" smtClean="0"/>
              <a:t>.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u="sng" dirty="0" smtClean="0"/>
              <a:t>Доказательство от противного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>
              <a:lnSpc>
                <a:spcPct val="120000"/>
              </a:lnSpc>
              <a:buNone/>
            </a:pPr>
            <a:r>
              <a:rPr lang="ru-RU" sz="2400" dirty="0" smtClean="0"/>
              <a:t>Пусть </a:t>
            </a:r>
            <a:r>
              <a:rPr lang="en-US" sz="2400" dirty="0" smtClean="0"/>
              <a:t>(a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,b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,c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)  </a:t>
            </a:r>
            <a:r>
              <a:rPr lang="ru-RU" sz="2400" dirty="0" smtClean="0"/>
              <a:t>и </a:t>
            </a:r>
            <a:r>
              <a:rPr lang="en-US" sz="2400" dirty="0" smtClean="0"/>
              <a:t>(a</a:t>
            </a:r>
            <a:r>
              <a:rPr lang="ru-RU" sz="2400" baseline="-25000" dirty="0" smtClean="0"/>
              <a:t>2</a:t>
            </a:r>
            <a:r>
              <a:rPr lang="en-US" sz="2400" dirty="0" smtClean="0"/>
              <a:t>,b</a:t>
            </a:r>
            <a:r>
              <a:rPr lang="ru-RU" sz="2400" baseline="-25000" dirty="0" smtClean="0"/>
              <a:t>2</a:t>
            </a:r>
            <a:r>
              <a:rPr lang="en-US" sz="2400" dirty="0" smtClean="0"/>
              <a:t>,c</a:t>
            </a:r>
            <a:r>
              <a:rPr lang="ru-RU" sz="2400" baseline="-25000" dirty="0" smtClean="0"/>
              <a:t>2</a:t>
            </a:r>
            <a:r>
              <a:rPr lang="en-US" sz="2400" dirty="0" smtClean="0"/>
              <a:t>) </a:t>
            </a:r>
            <a:r>
              <a:rPr lang="ru-RU" sz="2400" dirty="0" smtClean="0"/>
              <a:t>кортежи, в которых </a:t>
            </a:r>
            <a:r>
              <a:rPr lang="en-US" sz="2400" dirty="0" smtClean="0"/>
              <a:t>a</a:t>
            </a:r>
            <a:r>
              <a:rPr lang="en-US" sz="2400" baseline="-25000" dirty="0" smtClean="0"/>
              <a:t>1</a:t>
            </a:r>
            <a:r>
              <a:rPr lang="ru-RU" sz="2400" baseline="-25000" dirty="0" smtClean="0"/>
              <a:t> </a:t>
            </a:r>
            <a:r>
              <a:rPr lang="ru-RU" sz="2400" dirty="0" smtClean="0"/>
              <a:t>= </a:t>
            </a:r>
            <a:r>
              <a:rPr lang="en-US" sz="2400" dirty="0" smtClean="0"/>
              <a:t>a</a:t>
            </a:r>
            <a:r>
              <a:rPr lang="ru-RU" sz="2400" baseline="-25000" dirty="0" smtClean="0"/>
              <a:t>2</a:t>
            </a:r>
            <a:r>
              <a:rPr lang="ru-RU" sz="2400" dirty="0" smtClean="0"/>
              <a:t>.</a:t>
            </a:r>
          </a:p>
          <a:p>
            <a:pPr>
              <a:lnSpc>
                <a:spcPct val="120000"/>
              </a:lnSpc>
              <a:buNone/>
            </a:pPr>
            <a:r>
              <a:rPr lang="ru-RU" sz="2400" dirty="0" smtClean="0"/>
              <a:t>Предположим, что при этом </a:t>
            </a:r>
            <a:r>
              <a:rPr lang="en-US" sz="2400" dirty="0" smtClean="0"/>
              <a:t>c</a:t>
            </a:r>
            <a:r>
              <a:rPr lang="en-US" sz="2400" baseline="-25000" dirty="0" smtClean="0"/>
              <a:t>1</a:t>
            </a:r>
            <a:r>
              <a:rPr lang="ru-RU" sz="2400" baseline="-25000" dirty="0" smtClean="0"/>
              <a:t> </a:t>
            </a:r>
            <a:r>
              <a:rPr lang="ru-RU" sz="2400" dirty="0" smtClean="0"/>
              <a:t>≠ </a:t>
            </a:r>
            <a:r>
              <a:rPr lang="en-US" sz="2400" dirty="0"/>
              <a:t>c</a:t>
            </a:r>
            <a:r>
              <a:rPr lang="ru-RU" sz="2400" baseline="-25000" dirty="0" smtClean="0"/>
              <a:t>2</a:t>
            </a:r>
            <a:r>
              <a:rPr lang="ru-RU" sz="2400" dirty="0" smtClean="0"/>
              <a:t> . </a:t>
            </a:r>
          </a:p>
          <a:p>
            <a:pPr>
              <a:lnSpc>
                <a:spcPct val="120000"/>
              </a:lnSpc>
              <a:buNone/>
            </a:pPr>
            <a:r>
              <a:rPr lang="ru-RU" sz="2400" dirty="0" smtClean="0"/>
              <a:t>Но тогда, если </a:t>
            </a:r>
            <a:r>
              <a:rPr lang="en-US" sz="2400" dirty="0" smtClean="0"/>
              <a:t>b</a:t>
            </a:r>
            <a:r>
              <a:rPr lang="en-US" sz="2400" baseline="-25000" dirty="0" smtClean="0"/>
              <a:t>1</a:t>
            </a:r>
            <a:r>
              <a:rPr lang="ru-RU" sz="2400" dirty="0"/>
              <a:t> ≠</a:t>
            </a:r>
            <a:r>
              <a:rPr lang="ru-RU" sz="2400" dirty="0" smtClean="0"/>
              <a:t> </a:t>
            </a:r>
            <a:r>
              <a:rPr lang="en-US" sz="2400" dirty="0"/>
              <a:t>b</a:t>
            </a:r>
            <a:r>
              <a:rPr lang="ru-RU" sz="2400" baseline="-25000" dirty="0" smtClean="0"/>
              <a:t>2 </a:t>
            </a:r>
            <a:r>
              <a:rPr lang="ru-RU" sz="2400" dirty="0" smtClean="0"/>
              <a:t>, то возникает противоречие с ФЗ </a:t>
            </a: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B</a:t>
            </a:r>
            <a:r>
              <a:rPr lang="ru-RU" sz="2400" dirty="0" smtClean="0"/>
              <a:t>. </a:t>
            </a:r>
          </a:p>
          <a:p>
            <a:pPr>
              <a:lnSpc>
                <a:spcPct val="120000"/>
              </a:lnSpc>
              <a:buNone/>
            </a:pPr>
            <a:r>
              <a:rPr lang="en-US" sz="2400" dirty="0" smtClean="0"/>
              <a:t>	</a:t>
            </a:r>
            <a:r>
              <a:rPr lang="ru-RU" sz="2400" dirty="0" smtClean="0"/>
              <a:t>А если </a:t>
            </a:r>
            <a:r>
              <a:rPr lang="en-US" sz="2400" dirty="0" smtClean="0"/>
              <a:t>b</a:t>
            </a:r>
            <a:r>
              <a:rPr lang="en-US" sz="2400" baseline="-25000" dirty="0" smtClean="0"/>
              <a:t>1</a:t>
            </a:r>
            <a:r>
              <a:rPr lang="ru-RU" sz="2400" dirty="0" smtClean="0"/>
              <a:t>= </a:t>
            </a:r>
            <a:r>
              <a:rPr lang="en-US" sz="2400" dirty="0" smtClean="0"/>
              <a:t>b</a:t>
            </a:r>
            <a:r>
              <a:rPr lang="ru-RU" sz="2400" baseline="-25000" dirty="0" smtClean="0"/>
              <a:t>2</a:t>
            </a:r>
            <a:r>
              <a:rPr lang="ru-RU" sz="2400" dirty="0"/>
              <a:t> и при этом </a:t>
            </a:r>
            <a:r>
              <a:rPr lang="en-US" sz="2400" dirty="0"/>
              <a:t>c</a:t>
            </a:r>
            <a:r>
              <a:rPr lang="en-US" sz="2400" baseline="-25000" dirty="0"/>
              <a:t>1</a:t>
            </a:r>
            <a:r>
              <a:rPr lang="ru-RU" sz="2400" baseline="-25000" dirty="0"/>
              <a:t> </a:t>
            </a:r>
            <a:r>
              <a:rPr lang="ru-RU" sz="2400" dirty="0"/>
              <a:t>≠ </a:t>
            </a:r>
            <a:r>
              <a:rPr lang="en-US" sz="2400" dirty="0"/>
              <a:t>c</a:t>
            </a:r>
            <a:r>
              <a:rPr lang="ru-RU" sz="2400" baseline="-25000" dirty="0" smtClean="0"/>
              <a:t>2</a:t>
            </a:r>
            <a:r>
              <a:rPr lang="ru-RU" sz="2400" dirty="0" smtClean="0"/>
              <a:t> ,то </a:t>
            </a:r>
            <a:r>
              <a:rPr lang="ru-RU" sz="2400" dirty="0"/>
              <a:t>возникает противоречие </a:t>
            </a:r>
            <a:r>
              <a:rPr lang="ru-RU" sz="2400" dirty="0" smtClean="0"/>
              <a:t>с </a:t>
            </a:r>
            <a:r>
              <a:rPr lang="en-US" sz="2400" dirty="0" smtClean="0">
                <a:solidFill>
                  <a:srgbClr val="FF0000"/>
                </a:solidFill>
              </a:rPr>
              <a:t>B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 smtClean="0">
                <a:solidFill>
                  <a:srgbClr val="FF0000"/>
                </a:solidFill>
              </a:rPr>
              <a:t>C</a:t>
            </a:r>
            <a:r>
              <a:rPr lang="ru-RU" sz="2400" dirty="0" smtClean="0"/>
              <a:t>. </a:t>
            </a:r>
          </a:p>
          <a:p>
            <a:pPr>
              <a:lnSpc>
                <a:spcPct val="120000"/>
              </a:lnSpc>
              <a:buNone/>
            </a:pPr>
            <a:r>
              <a:rPr lang="en-US" sz="2400" dirty="0" smtClean="0"/>
              <a:t>		</a:t>
            </a:r>
            <a:r>
              <a:rPr lang="ru-RU" sz="2400" dirty="0" smtClean="0"/>
              <a:t>И, </a:t>
            </a:r>
            <a:r>
              <a:rPr lang="ru-RU" sz="2400" u="sng" dirty="0" smtClean="0"/>
              <a:t>следовательно</a:t>
            </a:r>
            <a:r>
              <a:rPr lang="ru-RU" sz="2400" dirty="0" smtClean="0"/>
              <a:t>, </a:t>
            </a:r>
            <a:r>
              <a:rPr lang="en-US" sz="2400" dirty="0" smtClean="0"/>
              <a:t>c</a:t>
            </a:r>
            <a:r>
              <a:rPr lang="en-US" sz="2400" baseline="-25000" dirty="0" smtClean="0"/>
              <a:t>1 </a:t>
            </a:r>
            <a:r>
              <a:rPr lang="ru-RU" sz="2400" dirty="0" smtClean="0"/>
              <a:t>=</a:t>
            </a:r>
            <a:r>
              <a:rPr lang="en-US" sz="2400" dirty="0" smtClean="0"/>
              <a:t>c</a:t>
            </a:r>
            <a:r>
              <a:rPr lang="ru-RU" sz="2400" baseline="-25000" dirty="0" smtClean="0"/>
              <a:t>2 </a:t>
            </a:r>
            <a:r>
              <a:rPr lang="ru-RU" sz="2400" dirty="0" smtClean="0"/>
              <a:t>.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endParaRPr lang="ru-RU" sz="2000" dirty="0" smtClean="0"/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dirty="0" smtClean="0"/>
              <a:t>Пусть </a:t>
            </a:r>
            <a:r>
              <a:rPr lang="en-US" sz="2400" dirty="0" smtClean="0"/>
              <a:t>F</a:t>
            </a:r>
            <a:r>
              <a:rPr lang="ru-RU" sz="2400" dirty="0" smtClean="0"/>
              <a:t>- множество ФЗ в </a:t>
            </a:r>
            <a:r>
              <a:rPr lang="en-US" sz="2400" dirty="0" smtClean="0"/>
              <a:t>R. </a:t>
            </a:r>
            <a:endParaRPr lang="ru-RU" sz="2400" dirty="0" smtClean="0"/>
          </a:p>
          <a:p>
            <a:pPr>
              <a:lnSpc>
                <a:spcPct val="120000"/>
              </a:lnSpc>
              <a:buNone/>
            </a:pPr>
            <a:r>
              <a:rPr lang="ru-RU" sz="2400" dirty="0" smtClean="0"/>
              <a:t>Функциональная зависимость </a:t>
            </a:r>
            <a:r>
              <a:rPr lang="en-US" sz="2400" dirty="0" smtClean="0"/>
              <a:t>X </a:t>
            </a:r>
            <a:r>
              <a:rPr lang="en-US" sz="2400" dirty="0" smtClean="0">
                <a:sym typeface="Symbol"/>
              </a:rPr>
              <a:t></a:t>
            </a:r>
            <a:r>
              <a:rPr lang="en-US" sz="2400" dirty="0" smtClean="0"/>
              <a:t> Y </a:t>
            </a:r>
            <a:r>
              <a:rPr lang="ru-RU" sz="2400" dirty="0" smtClean="0"/>
              <a:t>логически следует из </a:t>
            </a:r>
            <a:r>
              <a:rPr lang="en-US" sz="2400" dirty="0" smtClean="0"/>
              <a:t>F, </a:t>
            </a:r>
            <a:r>
              <a:rPr lang="ru-RU" sz="2400" dirty="0" smtClean="0"/>
              <a:t>если для каждого</a:t>
            </a:r>
            <a:r>
              <a:rPr lang="en-US" sz="2400" dirty="0" smtClean="0"/>
              <a:t> </a:t>
            </a:r>
            <a:r>
              <a:rPr lang="ru-RU" sz="2400" dirty="0" smtClean="0"/>
              <a:t>отношения</a:t>
            </a:r>
            <a:r>
              <a:rPr lang="ru-RU" sz="2400" b="1" i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i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r </a:t>
            </a:r>
            <a:r>
              <a:rPr lang="ru-RU" sz="2400" dirty="0" smtClean="0"/>
              <a:t>со схемой </a:t>
            </a:r>
            <a:r>
              <a:rPr lang="en-US" sz="2400" dirty="0" smtClean="0"/>
              <a:t>R</a:t>
            </a:r>
            <a:r>
              <a:rPr lang="ru-RU" sz="2400" dirty="0" smtClean="0"/>
              <a:t>, на котором выполняются зависимости </a:t>
            </a:r>
            <a:r>
              <a:rPr lang="en-US" sz="2400" dirty="0" smtClean="0"/>
              <a:t>F </a:t>
            </a:r>
            <a:r>
              <a:rPr lang="ru-RU" sz="2400" dirty="0" smtClean="0"/>
              <a:t>выполняется и </a:t>
            </a:r>
            <a:r>
              <a:rPr lang="en-US" sz="2400" dirty="0" smtClean="0"/>
              <a:t>X -&gt; Y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 smtClean="0"/>
              <a:t>F</a:t>
            </a:r>
            <a:r>
              <a:rPr lang="en-US" sz="2400" baseline="30000" dirty="0" smtClean="0"/>
              <a:t>+ </a:t>
            </a:r>
            <a:r>
              <a:rPr lang="ru-RU" sz="2400" dirty="0" smtClean="0"/>
              <a:t> - замыкание </a:t>
            </a:r>
            <a:r>
              <a:rPr lang="en-US" sz="2400" dirty="0" smtClean="0"/>
              <a:t>F – </a:t>
            </a:r>
            <a:r>
              <a:rPr lang="ru-RU" sz="2400" dirty="0" smtClean="0"/>
              <a:t>множество функциональных зависимостей, которые логически следуют из </a:t>
            </a:r>
            <a:r>
              <a:rPr lang="en-US" sz="2400" dirty="0" smtClean="0"/>
              <a:t>F.</a:t>
            </a:r>
            <a:endParaRPr lang="ru-RU" sz="2400" dirty="0" smtClean="0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0" y="357166"/>
            <a:ext cx="9387570" cy="4801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Логические следствия </a:t>
            </a:r>
            <a:r>
              <a:rPr lang="en-US" dirty="0" smtClean="0">
                <a:solidFill>
                  <a:schemeClr val="bg2"/>
                </a:solidFill>
              </a:rPr>
              <a:t> </a:t>
            </a:r>
            <a:r>
              <a:rPr lang="ru-RU" dirty="0" smtClean="0">
                <a:solidFill>
                  <a:schemeClr val="bg2"/>
                </a:solidFill>
              </a:rPr>
              <a:t>функциональных зависимостей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1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17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8218488" cy="307975"/>
          </a:xfrm>
        </p:spPr>
        <p:txBody>
          <a:bodyPr/>
          <a:lstStyle/>
          <a:p>
            <a:pPr algn="ctr" eaLnBrk="1" hangingPunct="1"/>
            <a:r>
              <a:rPr lang="ru-RU" sz="3600" smtClean="0">
                <a:solidFill>
                  <a:schemeClr val="bg2"/>
                </a:solidFill>
              </a:rPr>
              <a:t>Примеры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510" y="765175"/>
            <a:ext cx="8804690" cy="59039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ru-RU" sz="2400" dirty="0" smtClean="0"/>
              <a:t>Функциональные зависимости декларируются при проектировании БД (один раз)</a:t>
            </a:r>
            <a:r>
              <a:rPr lang="en-US" sz="2400" dirty="0" smtClean="0"/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ru-RU" sz="2400" dirty="0" smtClean="0"/>
              <a:t>Необходим анализ семантики атрибутов (эксперт).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u-RU" sz="3600" dirty="0" smtClean="0"/>
              <a:t>База КООПЕРАТИВ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u-RU" dirty="0" smtClean="0"/>
              <a:t>Члены (</a:t>
            </a:r>
            <a:r>
              <a:rPr lang="ru-RU" sz="2800" u="sng" dirty="0" smtClean="0"/>
              <a:t>фамилия,</a:t>
            </a:r>
            <a:r>
              <a:rPr lang="ru-RU" sz="2800" dirty="0" smtClean="0"/>
              <a:t> адрес, баланс</a:t>
            </a:r>
            <a:r>
              <a:rPr lang="ru-RU" dirty="0" smtClean="0"/>
              <a:t>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u-RU" dirty="0" smtClean="0"/>
              <a:t>Заказы (</a:t>
            </a:r>
            <a:r>
              <a:rPr lang="ru-RU" sz="2800" u="sng" dirty="0" smtClean="0"/>
              <a:t>фамилия, товар</a:t>
            </a:r>
            <a:r>
              <a:rPr lang="ru-RU" sz="2800" dirty="0" smtClean="0"/>
              <a:t>, количество</a:t>
            </a:r>
            <a:r>
              <a:rPr lang="ru-RU" dirty="0" smtClean="0"/>
              <a:t>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u-RU" dirty="0" smtClean="0"/>
              <a:t>Поставщики (</a:t>
            </a:r>
            <a:r>
              <a:rPr lang="ru-RU" sz="2800" u="sng" dirty="0" err="1" smtClean="0"/>
              <a:t>назв_пост</a:t>
            </a:r>
            <a:r>
              <a:rPr lang="ru-RU" sz="2800" dirty="0" smtClean="0"/>
              <a:t>, </a:t>
            </a:r>
            <a:r>
              <a:rPr lang="ru-RU" sz="2800" dirty="0" err="1" smtClean="0"/>
              <a:t>адрес_пост</a:t>
            </a:r>
            <a:r>
              <a:rPr lang="ru-RU" sz="2800" dirty="0" smtClean="0"/>
              <a:t>, </a:t>
            </a:r>
            <a:r>
              <a:rPr lang="ru-RU" sz="2800" u="sng" dirty="0" smtClean="0"/>
              <a:t>товар</a:t>
            </a:r>
            <a:r>
              <a:rPr lang="ru-RU" sz="2800" dirty="0" smtClean="0"/>
              <a:t>, цена</a:t>
            </a:r>
            <a:r>
              <a:rPr lang="ru-RU" dirty="0" smtClean="0"/>
              <a:t>)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u-RU" u="sng" dirty="0" smtClean="0">
                <a:solidFill>
                  <a:srgbClr val="002060"/>
                </a:solidFill>
              </a:rPr>
              <a:t>Определяем ФЗ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ru-RU" sz="2800" dirty="0" smtClean="0"/>
              <a:t>В «Заказы»</a:t>
            </a:r>
            <a:r>
              <a:rPr lang="ru-RU" dirty="0" smtClean="0"/>
              <a:t>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</a:rPr>
              <a:t>фамилия, товар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sym typeface="Symbol"/>
              </a:rPr>
              <a:t>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</a:rPr>
              <a:t>количество</a:t>
            </a:r>
            <a:endParaRPr lang="en-US" sz="28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ru-RU" sz="2800" dirty="0" smtClean="0"/>
              <a:t>В «Поставщики» </a:t>
            </a:r>
            <a:r>
              <a:rPr lang="ru-RU" sz="2800" dirty="0" err="1" smtClean="0">
                <a:solidFill>
                  <a:schemeClr val="accent1">
                    <a:lumMod val="50000"/>
                  </a:schemeClr>
                </a:solidFill>
              </a:rPr>
              <a:t>назв_пост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</a:rPr>
              <a:t>, товар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sym typeface="Symbol"/>
              </a:rPr>
              <a:t></a:t>
            </a:r>
            <a:r>
              <a:rPr lang="en-US" sz="2800" dirty="0" smtClean="0">
                <a:sym typeface="Symbol"/>
              </a:rPr>
              <a:t>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</a:rPr>
              <a:t>цена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ru-RU" sz="2800" dirty="0" smtClean="0">
                <a:solidFill>
                  <a:srgbClr val="1818FF"/>
                </a:solidFill>
              </a:rPr>
              <a:t>				</a:t>
            </a:r>
            <a:r>
              <a:rPr lang="ru-RU" sz="2800" dirty="0" err="1" smtClean="0">
                <a:solidFill>
                  <a:schemeClr val="accent1">
                    <a:lumMod val="50000"/>
                  </a:schemeClr>
                </a:solidFill>
              </a:rPr>
              <a:t>назв_пост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sym typeface="Symbol"/>
              </a:rPr>
              <a:t>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  <a:sym typeface="Symbol"/>
              </a:rPr>
              <a:t> </a:t>
            </a:r>
            <a:r>
              <a:rPr lang="ru-RU" sz="2800" dirty="0" err="1" smtClean="0">
                <a:solidFill>
                  <a:schemeClr val="accent1">
                    <a:lumMod val="50000"/>
                  </a:schemeClr>
                </a:solidFill>
              </a:rPr>
              <a:t>адрес_пост</a:t>
            </a:r>
            <a:endParaRPr lang="ru-RU" sz="28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u-RU" sz="2800" u="sng" dirty="0" smtClean="0">
                <a:solidFill>
                  <a:srgbClr val="002060"/>
                </a:solidFill>
              </a:rPr>
              <a:t>Можно вывести зависимость</a:t>
            </a:r>
          </a:p>
          <a:p>
            <a:pPr algn="ctr" eaLnBrk="1" hangingPunct="1">
              <a:lnSpc>
                <a:spcPct val="80000"/>
              </a:lnSpc>
              <a:buNone/>
              <a:defRPr/>
            </a:pPr>
            <a:r>
              <a:rPr lang="ru-RU" sz="2800" dirty="0" err="1" smtClean="0">
                <a:solidFill>
                  <a:schemeClr val="accent1">
                    <a:lumMod val="50000"/>
                  </a:schemeClr>
                </a:solidFill>
              </a:rPr>
              <a:t>назв_пост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</a:rPr>
              <a:t>, товар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sym typeface="Symbol"/>
              </a:rPr>
              <a:t>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800" dirty="0" err="1" smtClean="0">
                <a:solidFill>
                  <a:schemeClr val="accent1">
                    <a:lumMod val="50000"/>
                  </a:schemeClr>
                </a:solidFill>
              </a:rPr>
              <a:t>адрес_пост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</a:rPr>
              <a:t>,</a:t>
            </a:r>
            <a:r>
              <a:rPr lang="en-US" sz="2800" dirty="0" smtClean="0">
                <a:sym typeface="Symbol"/>
              </a:rPr>
              <a:t> </a:t>
            </a:r>
            <a:r>
              <a:rPr lang="ru-RU" sz="2800" dirty="0" smtClean="0">
                <a:solidFill>
                  <a:schemeClr val="accent1">
                    <a:lumMod val="50000"/>
                  </a:schemeClr>
                </a:solidFill>
              </a:rPr>
              <a:t>цена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7404" y="6248400"/>
            <a:ext cx="469395" cy="420960"/>
          </a:xfrm>
        </p:spPr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74" y="1000108"/>
            <a:ext cx="8429652" cy="552451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dirty="0" smtClean="0"/>
              <a:t>Пусть </a:t>
            </a:r>
            <a:r>
              <a:rPr lang="en-US" sz="2400" dirty="0" smtClean="0"/>
              <a:t>R </a:t>
            </a:r>
            <a:r>
              <a:rPr lang="ru-RU" sz="2400" dirty="0" smtClean="0"/>
              <a:t>- схема отношения, а  </a:t>
            </a:r>
            <a:r>
              <a:rPr lang="en-US" sz="2400" dirty="0" smtClean="0"/>
              <a:t>A, B, C –</a:t>
            </a:r>
            <a:r>
              <a:rPr lang="ru-RU" sz="2400" dirty="0" smtClean="0"/>
              <a:t> атрибуты.</a:t>
            </a:r>
          </a:p>
          <a:p>
            <a:pPr>
              <a:lnSpc>
                <a:spcPct val="120000"/>
              </a:lnSpc>
              <a:buNone/>
            </a:pPr>
            <a:r>
              <a:rPr lang="ru-RU" sz="2400" dirty="0" smtClean="0"/>
              <a:t>Пусть известно, что на </a:t>
            </a:r>
            <a:r>
              <a:rPr lang="en-US" sz="2400" dirty="0" smtClean="0"/>
              <a:t>R </a:t>
            </a:r>
            <a:r>
              <a:rPr lang="ru-RU" sz="2400" dirty="0" smtClean="0"/>
              <a:t>выполняются функциональные зависимости </a:t>
            </a:r>
            <a:r>
              <a:rPr lang="en-US" sz="2400" dirty="0" smtClean="0">
                <a:solidFill>
                  <a:srgbClr val="FF0000"/>
                </a:solidFill>
              </a:rPr>
              <a:t>A 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 smtClean="0">
                <a:solidFill>
                  <a:srgbClr val="FF0000"/>
                </a:solidFill>
              </a:rPr>
              <a:t> B </a:t>
            </a:r>
            <a:r>
              <a:rPr lang="ru-RU" sz="2400" dirty="0" smtClean="0"/>
              <a:t>и </a:t>
            </a:r>
            <a:r>
              <a:rPr lang="en-US" sz="2400" dirty="0" smtClean="0">
                <a:solidFill>
                  <a:srgbClr val="FF0000"/>
                </a:solidFill>
              </a:rPr>
              <a:t>B 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 smtClean="0">
                <a:solidFill>
                  <a:srgbClr val="FF0000"/>
                </a:solidFill>
              </a:rPr>
              <a:t> C</a:t>
            </a:r>
            <a:r>
              <a:rPr lang="ru-RU" sz="2400" dirty="0" smtClean="0"/>
              <a:t>.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dirty="0" smtClean="0"/>
              <a:t>Тогда замыкание </a:t>
            </a:r>
            <a:r>
              <a:rPr lang="en-US" sz="2400" dirty="0" smtClean="0"/>
              <a:t>F</a:t>
            </a:r>
            <a:r>
              <a:rPr lang="en-US" sz="2400" baseline="30000" dirty="0" smtClean="0"/>
              <a:t>+</a:t>
            </a:r>
            <a:r>
              <a:rPr lang="en-US" sz="2400" dirty="0" smtClean="0"/>
              <a:t> </a:t>
            </a:r>
            <a:r>
              <a:rPr lang="ru-RU" sz="2400" dirty="0" smtClean="0"/>
              <a:t>состоит из всех зависимостей </a:t>
            </a:r>
            <a:r>
              <a:rPr lang="en-US" sz="2400" dirty="0" smtClean="0"/>
              <a:t>X -&gt; Y</a:t>
            </a:r>
            <a:r>
              <a:rPr lang="ru-RU" sz="2400" dirty="0" smtClean="0"/>
              <a:t>, таких что выполняется одно из следующих условий: 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X </a:t>
            </a:r>
            <a:r>
              <a:rPr lang="ru-RU" sz="2400" dirty="0" smtClean="0"/>
              <a:t>содержит </a:t>
            </a:r>
            <a:r>
              <a:rPr lang="en-US" sz="2400" dirty="0" smtClean="0"/>
              <a:t>A</a:t>
            </a:r>
            <a:r>
              <a:rPr lang="ru-RU" sz="2400" dirty="0" smtClean="0"/>
              <a:t>, например, </a:t>
            </a:r>
            <a:r>
              <a:rPr lang="en-US" sz="2400" dirty="0" smtClean="0"/>
              <a:t>ABC-&gt;AB, AB-&gt;BC </a:t>
            </a:r>
            <a:r>
              <a:rPr lang="ru-RU" sz="2400" dirty="0" smtClean="0"/>
              <a:t>или </a:t>
            </a:r>
            <a:r>
              <a:rPr lang="en-US" sz="2400" dirty="0" smtClean="0"/>
              <a:t>A-&gt;C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X </a:t>
            </a:r>
            <a:r>
              <a:rPr lang="ru-RU" sz="2400" dirty="0" smtClean="0"/>
              <a:t>содержит </a:t>
            </a:r>
            <a:r>
              <a:rPr lang="en-US" sz="2400" dirty="0" smtClean="0"/>
              <a:t>B</a:t>
            </a:r>
            <a:r>
              <a:rPr lang="ru-RU" sz="2400" dirty="0" smtClean="0"/>
              <a:t>, но не </a:t>
            </a:r>
            <a:r>
              <a:rPr lang="en-US" sz="2400" dirty="0" smtClean="0"/>
              <a:t>A, </a:t>
            </a:r>
            <a:r>
              <a:rPr lang="ru-RU" sz="2400" dirty="0" smtClean="0"/>
              <a:t>и </a:t>
            </a:r>
            <a:r>
              <a:rPr lang="en-US" sz="2400" dirty="0" smtClean="0"/>
              <a:t>Y </a:t>
            </a:r>
            <a:r>
              <a:rPr lang="ru-RU" sz="2400" dirty="0" smtClean="0"/>
              <a:t>не содержит </a:t>
            </a:r>
            <a:r>
              <a:rPr lang="en-US" sz="2400" dirty="0" smtClean="0"/>
              <a:t>A, </a:t>
            </a:r>
            <a:r>
              <a:rPr lang="ru-RU" sz="2400" dirty="0" smtClean="0"/>
              <a:t>например</a:t>
            </a:r>
            <a:r>
              <a:rPr lang="en-US" sz="2400" dirty="0" smtClean="0"/>
              <a:t>,</a:t>
            </a:r>
            <a:br>
              <a:rPr lang="en-US" sz="2400" dirty="0" smtClean="0"/>
            </a:br>
            <a:r>
              <a:rPr lang="ru-RU" sz="2400" dirty="0" smtClean="0"/>
              <a:t> </a:t>
            </a:r>
            <a:r>
              <a:rPr lang="en-US" sz="2400" dirty="0" smtClean="0"/>
              <a:t>BC</a:t>
            </a:r>
            <a:r>
              <a:rPr lang="en-US" sz="2400" dirty="0" smtClean="0">
                <a:sym typeface="Symbol"/>
              </a:rPr>
              <a:t></a:t>
            </a:r>
            <a:r>
              <a:rPr lang="en-US" sz="2400" dirty="0" smtClean="0"/>
              <a:t>B, B</a:t>
            </a:r>
            <a:r>
              <a:rPr lang="en-US" sz="2400" dirty="0" smtClean="0">
                <a:sym typeface="Symbol"/>
              </a:rPr>
              <a:t>  </a:t>
            </a:r>
            <a:r>
              <a:rPr lang="en-US" sz="2400" dirty="0" smtClean="0"/>
              <a:t>C</a:t>
            </a:r>
            <a:r>
              <a:rPr lang="ru-RU" sz="2400" dirty="0" smtClean="0"/>
              <a:t> или </a:t>
            </a:r>
            <a:r>
              <a:rPr lang="en-US" sz="2400" dirty="0" smtClean="0"/>
              <a:t>B</a:t>
            </a:r>
            <a:r>
              <a:rPr lang="en-US" sz="2400" dirty="0" smtClean="0">
                <a:sym typeface="Symbol"/>
              </a:rPr>
              <a:t>  </a:t>
            </a:r>
            <a:r>
              <a:rPr lang="en-US" sz="2400" dirty="0" smtClean="0"/>
              <a:t>Ø.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X</a:t>
            </a:r>
            <a:r>
              <a:rPr lang="en-US" sz="2400" dirty="0" smtClean="0">
                <a:sym typeface="Symbol"/>
              </a:rPr>
              <a:t>  </a:t>
            </a:r>
            <a:r>
              <a:rPr lang="en-US" sz="2400" dirty="0" smtClean="0"/>
              <a:t>Y  </a:t>
            </a:r>
            <a:r>
              <a:rPr lang="en-US" sz="2400" dirty="0" smtClean="0">
                <a:cs typeface="Times New Roman"/>
              </a:rPr>
              <a:t>− </a:t>
            </a:r>
            <a:r>
              <a:rPr lang="ru-RU" sz="2400" dirty="0" smtClean="0">
                <a:cs typeface="Times New Roman"/>
              </a:rPr>
              <a:t>одна из двух зависимостей: </a:t>
            </a:r>
            <a:r>
              <a:rPr lang="en-US" sz="2400" dirty="0" smtClean="0">
                <a:cs typeface="Times New Roman"/>
              </a:rPr>
              <a:t>C</a:t>
            </a:r>
            <a:r>
              <a:rPr lang="en-US" sz="2400" dirty="0" smtClean="0">
                <a:sym typeface="Symbol"/>
              </a:rPr>
              <a:t></a:t>
            </a:r>
            <a:r>
              <a:rPr lang="en-US" sz="2400" dirty="0" smtClean="0">
                <a:cs typeface="Times New Roman"/>
              </a:rPr>
              <a:t>C </a:t>
            </a:r>
            <a:r>
              <a:rPr lang="ru-RU" sz="2400" dirty="0" smtClean="0">
                <a:cs typeface="Times New Roman"/>
              </a:rPr>
              <a:t>или  С</a:t>
            </a:r>
            <a:r>
              <a:rPr lang="en-US" sz="2400" dirty="0" smtClean="0">
                <a:sym typeface="Symbol"/>
              </a:rPr>
              <a:t></a:t>
            </a:r>
            <a:r>
              <a:rPr lang="en-US" sz="2400" dirty="0" smtClean="0"/>
              <a:t>Ø</a:t>
            </a:r>
            <a:endParaRPr lang="ru-RU" sz="2400" dirty="0" smtClean="0"/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endParaRPr lang="ru-RU" sz="2000" dirty="0" smtClean="0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438150" y="317500"/>
            <a:ext cx="8001000" cy="488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normAutofit/>
          </a:bodyPr>
          <a:lstStyle/>
          <a:p>
            <a:pPr algn="ctr"/>
            <a:r>
              <a:rPr lang="ru-RU" sz="2400" dirty="0" smtClean="0">
                <a:solidFill>
                  <a:schemeClr val="bg2"/>
                </a:solidFill>
              </a:rPr>
              <a:t>Пример замыкания</a:t>
            </a:r>
            <a:r>
              <a:rPr lang="en-US" sz="2400" dirty="0" smtClean="0">
                <a:solidFill>
                  <a:schemeClr val="bg2"/>
                </a:solidFill>
              </a:rPr>
              <a:t> </a:t>
            </a:r>
            <a:r>
              <a:rPr lang="ru-RU" sz="2400" dirty="0" smtClean="0">
                <a:solidFill>
                  <a:schemeClr val="bg2"/>
                </a:solidFill>
              </a:rPr>
              <a:t>функциональных зависимостей</a:t>
            </a:r>
            <a:endParaRPr lang="ru-RU" sz="2400" dirty="0">
              <a:solidFill>
                <a:schemeClr val="bg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27050" y="0"/>
            <a:ext cx="8229600" cy="884238"/>
          </a:xfrm>
        </p:spPr>
        <p:txBody>
          <a:bodyPr/>
          <a:lstStyle/>
          <a:p>
            <a:pPr algn="ctr"/>
            <a:r>
              <a:rPr lang="ru-RU" smtClean="0">
                <a:solidFill>
                  <a:schemeClr val="bg2"/>
                </a:solidFill>
              </a:rPr>
              <a:t>Ключи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550" y="1028700"/>
            <a:ext cx="8929718" cy="5192907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ru-RU" dirty="0" smtClean="0"/>
              <a:t>Пусть </a:t>
            </a:r>
            <a:r>
              <a:rPr lang="en-US" dirty="0" smtClean="0"/>
              <a:t>R(A</a:t>
            </a:r>
            <a:r>
              <a:rPr lang="en-US" baseline="-25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en-US" dirty="0" smtClean="0"/>
              <a:t>)</a:t>
            </a:r>
            <a:r>
              <a:rPr lang="ru-RU" dirty="0" smtClean="0"/>
              <a:t> - отношение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smtClean="0"/>
              <a:t>F – </a:t>
            </a:r>
            <a:r>
              <a:rPr lang="ru-RU" dirty="0" smtClean="0"/>
              <a:t>ФЗ,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ru-RU" dirty="0" smtClean="0"/>
              <a:t> а  </a:t>
            </a:r>
            <a:r>
              <a:rPr lang="en-US" dirty="0" smtClean="0"/>
              <a:t>X</a:t>
            </a:r>
            <a:r>
              <a:rPr lang="ru-RU" dirty="0" smtClean="0"/>
              <a:t> подмножество   </a:t>
            </a:r>
            <a:r>
              <a:rPr lang="en-US" dirty="0" smtClean="0"/>
              <a:t>{A</a:t>
            </a:r>
            <a:r>
              <a:rPr lang="en-US" baseline="-25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ru-RU" baseline="-25000" dirty="0" smtClean="0"/>
              <a:t> </a:t>
            </a:r>
            <a:r>
              <a:rPr lang="en-US" dirty="0" smtClean="0"/>
              <a:t>}</a:t>
            </a:r>
            <a:r>
              <a:rPr lang="ru-RU" dirty="0" smtClean="0"/>
              <a:t>.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ru-RU" dirty="0" smtClean="0"/>
              <a:t>       </a:t>
            </a:r>
            <a:r>
              <a:rPr lang="ru-RU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Х</a:t>
            </a:r>
            <a:r>
              <a:rPr lang="ru-RU" dirty="0" smtClean="0"/>
              <a:t> называется </a:t>
            </a:r>
            <a:r>
              <a:rPr lang="ru-RU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ключом</a:t>
            </a:r>
            <a:r>
              <a:rPr lang="ru-RU" dirty="0" smtClean="0"/>
              <a:t>, если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ru-RU" sz="2400" dirty="0" smtClean="0"/>
              <a:t>Х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</a:t>
            </a:r>
            <a:r>
              <a:rPr lang="en-US" sz="2400" dirty="0" smtClean="0"/>
              <a:t> A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 A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,…,A</a:t>
            </a:r>
            <a:r>
              <a:rPr lang="en-US" sz="2400" baseline="-25000" dirty="0" smtClean="0"/>
              <a:t>n</a:t>
            </a:r>
            <a:r>
              <a:rPr lang="ru-RU" sz="2400" baseline="-25000" dirty="0" smtClean="0"/>
              <a:t>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принадлежит</a:t>
            </a:r>
            <a:r>
              <a:rPr lang="ru-RU" sz="2400" dirty="0" smtClean="0"/>
              <a:t> </a:t>
            </a:r>
            <a:r>
              <a:rPr lang="en-US" sz="2400" dirty="0" smtClean="0"/>
              <a:t>F</a:t>
            </a:r>
            <a:r>
              <a:rPr lang="en-US" sz="2400" baseline="30000" dirty="0" smtClean="0"/>
              <a:t>+</a:t>
            </a:r>
            <a:r>
              <a:rPr lang="ru-RU" sz="2400" dirty="0" smtClean="0"/>
              <a:t>,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ru-RU" sz="2400" dirty="0" smtClean="0"/>
              <a:t>Ни для какого собственного подмножества </a:t>
            </a:r>
            <a:r>
              <a:rPr lang="en-US" sz="2400" dirty="0" smtClean="0"/>
              <a:t>Y </a:t>
            </a:r>
            <a:r>
              <a:rPr lang="en-US" sz="2400" b="1" dirty="0" smtClean="0">
                <a:sym typeface="Symbol"/>
              </a:rPr>
              <a:t></a:t>
            </a:r>
            <a:r>
              <a:rPr lang="ru-RU" sz="2400" dirty="0" smtClean="0">
                <a:sym typeface="Symbol"/>
              </a:rPr>
              <a:t> </a:t>
            </a:r>
            <a:r>
              <a:rPr lang="en-US" sz="2400" dirty="0" smtClean="0"/>
              <a:t>X,</a:t>
            </a:r>
          </a:p>
          <a:p>
            <a:pPr marL="609600" indent="-609600">
              <a:buNone/>
              <a:defRPr/>
            </a:pPr>
            <a:r>
              <a:rPr lang="en-US" sz="2400" dirty="0" smtClean="0"/>
              <a:t>     Y </a:t>
            </a:r>
            <a:r>
              <a:rPr lang="en-US" sz="2400" dirty="0" smtClean="0">
                <a:sym typeface="Symbol"/>
              </a:rPr>
              <a:t></a:t>
            </a:r>
            <a:r>
              <a:rPr lang="en-US" sz="2400" dirty="0" smtClean="0"/>
              <a:t> A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 A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,…,A</a:t>
            </a:r>
            <a:r>
              <a:rPr lang="en-US" sz="2400" baseline="-25000" dirty="0" smtClean="0"/>
              <a:t>n 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не принадлежит </a:t>
            </a:r>
            <a:r>
              <a:rPr lang="en-US" sz="2400" dirty="0" smtClean="0"/>
              <a:t>F</a:t>
            </a:r>
            <a:r>
              <a:rPr lang="en-US" sz="2400" baseline="30000" dirty="0" smtClean="0"/>
              <a:t>+</a:t>
            </a:r>
            <a:r>
              <a:rPr lang="ru-RU" sz="2400" dirty="0" smtClean="0"/>
              <a:t>.</a:t>
            </a:r>
            <a:r>
              <a:rPr lang="ru-RU" sz="2400" baseline="30000" dirty="0" smtClean="0"/>
              <a:t> </a:t>
            </a:r>
          </a:p>
          <a:p>
            <a:pPr marL="609600" indent="-609600">
              <a:buNone/>
              <a:defRPr/>
            </a:pPr>
            <a:endParaRPr lang="ru-RU" baseline="30000" dirty="0" smtClean="0"/>
          </a:p>
          <a:p>
            <a:pPr marL="0" indent="-609600">
              <a:buNone/>
              <a:defRPr/>
            </a:pPr>
            <a:r>
              <a:rPr lang="ru-RU" sz="2800" dirty="0" smtClean="0"/>
              <a:t>Множество атрибутов, содержащее ключ в качестве подмножества, называется </a:t>
            </a:r>
            <a:r>
              <a:rPr lang="ru-RU" sz="2800" u="sng" dirty="0" err="1" smtClean="0">
                <a:solidFill>
                  <a:schemeClr val="accent1">
                    <a:lumMod val="50000"/>
                  </a:schemeClr>
                </a:solidFill>
              </a:rPr>
              <a:t>суперключем</a:t>
            </a:r>
            <a:r>
              <a:rPr lang="ru-RU" sz="2800" dirty="0" smtClean="0"/>
              <a:t> .</a:t>
            </a:r>
          </a:p>
          <a:p>
            <a:pPr marL="0" indent="-609600">
              <a:buNone/>
              <a:defRPr/>
            </a:pPr>
            <a:r>
              <a:rPr lang="ru-RU" sz="2800" dirty="0" smtClean="0"/>
              <a:t>Иногда используется термин </a:t>
            </a:r>
            <a:r>
              <a:rPr lang="ru-RU" sz="2800" u="sng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возможный ключ</a:t>
            </a:r>
          </a:p>
          <a:p>
            <a:pPr marL="609600" indent="-609600">
              <a:buNone/>
              <a:defRPr/>
            </a:pPr>
            <a:endParaRPr lang="ru-RU" baseline="30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496525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Пример. Ключи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088740"/>
            <a:ext cx="8929718" cy="5490610"/>
          </a:xfrm>
        </p:spPr>
        <p:txBody>
          <a:bodyPr>
            <a:normAutofit fontScale="62500" lnSpcReduction="20000"/>
          </a:bodyPr>
          <a:lstStyle/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2800" dirty="0" smtClean="0"/>
              <a:t>В </a:t>
            </a:r>
            <a:r>
              <a:rPr lang="ru-RU" sz="2800" u="sng" dirty="0" smtClean="0"/>
              <a:t>примере</a:t>
            </a:r>
            <a:r>
              <a:rPr lang="ru-RU" sz="2800" dirty="0" smtClean="0"/>
              <a:t> на с. 7 только атрибут </a:t>
            </a:r>
            <a:r>
              <a:rPr lang="en-US" sz="2800" dirty="0" smtClean="0"/>
              <a:t>A </a:t>
            </a:r>
            <a:r>
              <a:rPr lang="ru-RU" sz="2800" dirty="0" smtClean="0"/>
              <a:t>является ключом, так как только </a:t>
            </a:r>
            <a:r>
              <a:rPr lang="en-US" sz="2800" dirty="0" smtClean="0"/>
              <a:t>A</a:t>
            </a:r>
            <a:r>
              <a:rPr lang="en-US" sz="2800" dirty="0" smtClean="0">
                <a:sym typeface="Symbol"/>
              </a:rPr>
              <a:t>  </a:t>
            </a:r>
            <a:r>
              <a:rPr lang="en-US" sz="2800" dirty="0" smtClean="0"/>
              <a:t>ABC</a:t>
            </a:r>
            <a:r>
              <a:rPr lang="ru-RU" sz="2800" dirty="0" smtClean="0"/>
              <a:t> и никакое подмножество </a:t>
            </a:r>
            <a:r>
              <a:rPr lang="en-US" sz="2800" dirty="0" smtClean="0"/>
              <a:t>A </a:t>
            </a:r>
            <a:r>
              <a:rPr lang="ru-RU" sz="2800" dirty="0" smtClean="0"/>
              <a:t>не определяет функционально </a:t>
            </a:r>
            <a:r>
              <a:rPr lang="en-US" sz="2800" dirty="0" smtClean="0"/>
              <a:t>ABC.</a:t>
            </a:r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800" u="sng" dirty="0" smtClean="0"/>
              <a:t>Другой пример</a:t>
            </a:r>
            <a:r>
              <a:rPr lang="ru-RU" sz="2800" dirty="0" smtClean="0"/>
              <a:t> </a:t>
            </a:r>
            <a:r>
              <a:rPr lang="en-US" sz="2800" dirty="0" smtClean="0"/>
              <a:t>R</a:t>
            </a:r>
            <a:r>
              <a:rPr lang="ru-RU" sz="2800" dirty="0" smtClean="0"/>
              <a:t> </a:t>
            </a:r>
            <a:r>
              <a:rPr lang="en-US" sz="2800" dirty="0" smtClean="0"/>
              <a:t>(</a:t>
            </a:r>
            <a:r>
              <a:rPr lang="ru-RU" sz="2800" dirty="0" smtClean="0"/>
              <a:t>Город, Адрес, Индекс), где Адрес – название улицы, номер дома, номер квартиры, Индекс – почтовый индекс отделения связи</a:t>
            </a:r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800" dirty="0" smtClean="0"/>
              <a:t>Если имеем ФЗ: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 smtClean="0"/>
              <a:t>	Город, Адрес </a:t>
            </a:r>
            <a:r>
              <a:rPr lang="en-US" sz="2800" dirty="0" smtClean="0">
                <a:sym typeface="Symbol"/>
              </a:rPr>
              <a:t> </a:t>
            </a:r>
            <a:r>
              <a:rPr lang="ru-RU" sz="2800" dirty="0" smtClean="0"/>
              <a:t>Индекс</a:t>
            </a:r>
            <a:endParaRPr lang="en-US" sz="2800" dirty="0" smtClean="0"/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 smtClean="0"/>
              <a:t>	Индекс </a:t>
            </a:r>
            <a:r>
              <a:rPr lang="en-US" sz="2800" dirty="0" smtClean="0">
                <a:sym typeface="Symbol"/>
              </a:rPr>
              <a:t> </a:t>
            </a:r>
            <a:r>
              <a:rPr lang="ru-RU" sz="2800" dirty="0" smtClean="0"/>
              <a:t>Город</a:t>
            </a:r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800" dirty="0" smtClean="0"/>
              <a:t>То можно проверить, что </a:t>
            </a:r>
            <a:r>
              <a:rPr lang="en-US" sz="2800" dirty="0" smtClean="0"/>
              <a:t>{</a:t>
            </a:r>
            <a:r>
              <a:rPr lang="ru-RU" sz="2800" dirty="0" smtClean="0"/>
              <a:t>Город, Адрес</a:t>
            </a:r>
            <a:r>
              <a:rPr lang="en-US" sz="2800" dirty="0" smtClean="0"/>
              <a:t>}</a:t>
            </a:r>
            <a:r>
              <a:rPr lang="ru-RU" sz="2800" dirty="0" smtClean="0"/>
              <a:t> и</a:t>
            </a:r>
            <a:r>
              <a:rPr lang="en-US" sz="2800" dirty="0" smtClean="0"/>
              <a:t> {</a:t>
            </a:r>
            <a:r>
              <a:rPr lang="ru-RU" sz="2800" dirty="0" smtClean="0"/>
              <a:t>Адрес, Индекс</a:t>
            </a:r>
            <a:r>
              <a:rPr lang="en-US" sz="2800" dirty="0" smtClean="0"/>
              <a:t>}</a:t>
            </a:r>
            <a:r>
              <a:rPr lang="ru-RU" sz="2800" dirty="0" smtClean="0"/>
              <a:t> одновременно являются ключами.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 smtClean="0"/>
              <a:t>Из определения ключа 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 smtClean="0"/>
              <a:t>1. должны иметь место следующие ФЗ: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 smtClean="0"/>
              <a:t>	</a:t>
            </a:r>
            <a:r>
              <a:rPr lang="en-US" sz="2800" dirty="0" smtClean="0"/>
              <a:t>{</a:t>
            </a:r>
            <a:r>
              <a:rPr lang="ru-RU" sz="2800" dirty="0" smtClean="0"/>
              <a:t>Город, Адрес</a:t>
            </a:r>
            <a:r>
              <a:rPr lang="en-US" sz="2800" dirty="0" smtClean="0"/>
              <a:t>}</a:t>
            </a:r>
            <a:r>
              <a:rPr lang="ru-RU" sz="2800" dirty="0" smtClean="0"/>
              <a:t> </a:t>
            </a:r>
            <a:r>
              <a:rPr lang="en-US" sz="2800" dirty="0" smtClean="0">
                <a:sym typeface="Symbol"/>
              </a:rPr>
              <a:t></a:t>
            </a:r>
            <a:r>
              <a:rPr lang="ru-RU" sz="2800" dirty="0" smtClean="0">
                <a:sym typeface="Symbol"/>
              </a:rPr>
              <a:t> </a:t>
            </a:r>
            <a:r>
              <a:rPr lang="en-US" sz="2800" dirty="0" smtClean="0">
                <a:sym typeface="Symbol"/>
              </a:rPr>
              <a:t>{</a:t>
            </a:r>
            <a:r>
              <a:rPr lang="ru-RU" sz="2800" dirty="0" smtClean="0"/>
              <a:t>Город, Адрес, Индекс</a:t>
            </a:r>
            <a:r>
              <a:rPr lang="en-US" sz="2800" dirty="0" smtClean="0"/>
              <a:t>}</a:t>
            </a:r>
            <a:r>
              <a:rPr lang="ru-RU" sz="2800" dirty="0" smtClean="0">
                <a:sym typeface="Symbol"/>
              </a:rPr>
              <a:t> 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 smtClean="0"/>
              <a:t>	</a:t>
            </a:r>
            <a:r>
              <a:rPr lang="en-US" sz="2800" dirty="0" smtClean="0"/>
              <a:t>{</a:t>
            </a:r>
            <a:r>
              <a:rPr lang="ru-RU" sz="2800" dirty="0" smtClean="0"/>
              <a:t>Адрес, Индекс</a:t>
            </a:r>
            <a:r>
              <a:rPr lang="en-US" sz="2800" dirty="0" smtClean="0"/>
              <a:t>}</a:t>
            </a:r>
            <a:r>
              <a:rPr lang="ru-RU" sz="2800" dirty="0" smtClean="0"/>
              <a:t> </a:t>
            </a:r>
            <a:r>
              <a:rPr lang="en-US" sz="2800" dirty="0" smtClean="0">
                <a:sym typeface="Symbol"/>
              </a:rPr>
              <a:t></a:t>
            </a:r>
            <a:r>
              <a:rPr lang="ru-RU" sz="2800" dirty="0" smtClean="0">
                <a:sym typeface="Symbol"/>
              </a:rPr>
              <a:t> </a:t>
            </a:r>
            <a:r>
              <a:rPr lang="en-US" sz="2800" dirty="0" smtClean="0">
                <a:sym typeface="Symbol"/>
              </a:rPr>
              <a:t>{</a:t>
            </a:r>
            <a:r>
              <a:rPr lang="ru-RU" sz="2800" dirty="0" smtClean="0"/>
              <a:t>Город, Адрес, Индекс</a:t>
            </a:r>
            <a:r>
              <a:rPr lang="en-US" sz="2800" dirty="0" smtClean="0"/>
              <a:t>}</a:t>
            </a:r>
            <a:endParaRPr lang="ru-RU" sz="2800" dirty="0" smtClean="0"/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 smtClean="0">
                <a:sym typeface="Symbol"/>
              </a:rPr>
              <a:t>2. ни один из атрибутов </a:t>
            </a:r>
            <a:r>
              <a:rPr lang="en-US" sz="2800" dirty="0" smtClean="0"/>
              <a:t>{</a:t>
            </a:r>
            <a:r>
              <a:rPr lang="ru-RU" sz="2800" dirty="0" smtClean="0"/>
              <a:t>Адрес</a:t>
            </a:r>
            <a:r>
              <a:rPr lang="en-US" sz="2800" dirty="0" smtClean="0"/>
              <a:t>}, {</a:t>
            </a:r>
            <a:r>
              <a:rPr lang="ru-RU" sz="2800" dirty="0" smtClean="0"/>
              <a:t>Город</a:t>
            </a:r>
            <a:r>
              <a:rPr lang="en-US" sz="2800" dirty="0" smtClean="0"/>
              <a:t>}, {</a:t>
            </a:r>
            <a:r>
              <a:rPr lang="ru-RU" sz="2800" dirty="0" smtClean="0"/>
              <a:t>Индекс</a:t>
            </a:r>
            <a:r>
              <a:rPr lang="en-US" sz="2800" dirty="0" smtClean="0"/>
              <a:t>} </a:t>
            </a:r>
            <a:r>
              <a:rPr lang="ru-RU" sz="2800" dirty="0" smtClean="0">
                <a:sym typeface="Symbol"/>
              </a:rPr>
              <a:t> отдельно не определяет кортеж в отношении.</a:t>
            </a:r>
            <a:endParaRPr lang="ru-RU" sz="2800" dirty="0" smtClean="0"/>
          </a:p>
          <a:p>
            <a:pPr marL="0" indent="-609600">
              <a:lnSpc>
                <a:spcPct val="120000"/>
              </a:lnSpc>
              <a:buNone/>
              <a:defRPr/>
            </a:pPr>
            <a:endParaRPr lang="ru-RU" sz="2800" dirty="0" smtClean="0"/>
          </a:p>
          <a:p>
            <a:pPr marL="0" indent="-609600">
              <a:lnSpc>
                <a:spcPct val="120000"/>
              </a:lnSpc>
              <a:buNone/>
              <a:defRPr/>
            </a:pPr>
            <a:r>
              <a:rPr lang="ru-RU" sz="2800" dirty="0" smtClean="0"/>
              <a:t>Проверить это самостоятельно и уметь показать, как это получается !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endParaRPr lang="ru-RU" sz="2800" baseline="30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397425" y="6219310"/>
            <a:ext cx="513420" cy="457200"/>
          </a:xfrm>
        </p:spPr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9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739775"/>
          </a:xfrm>
        </p:spPr>
        <p:txBody>
          <a:bodyPr/>
          <a:lstStyle/>
          <a:p>
            <a:r>
              <a:rPr lang="ru-RU" sz="3200" dirty="0" smtClean="0">
                <a:solidFill>
                  <a:schemeClr val="bg2"/>
                </a:solidFill>
              </a:rPr>
              <a:t>Аксиомы функциональных зависимостей</a:t>
            </a:r>
          </a:p>
        </p:txBody>
      </p:sp>
      <p:sp>
        <p:nvSpPr>
          <p:cNvPr id="9219" name="Объект 2"/>
          <p:cNvSpPr>
            <a:spLocks noGrp="1"/>
          </p:cNvSpPr>
          <p:nvPr>
            <p:ph idx="1"/>
          </p:nvPr>
        </p:nvSpPr>
        <p:spPr>
          <a:xfrm>
            <a:off x="296525" y="953725"/>
            <a:ext cx="8505945" cy="576000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 smtClean="0"/>
              <a:t>Чтобы определить ключи, нужно вычислить </a:t>
            </a:r>
            <a:r>
              <a:rPr lang="en-US" dirty="0" smtClean="0"/>
              <a:t>F</a:t>
            </a:r>
            <a:r>
              <a:rPr lang="en-US" baseline="30000" dirty="0" smtClean="0"/>
              <a:t>+</a:t>
            </a:r>
            <a:r>
              <a:rPr lang="ru-RU" baseline="30000" dirty="0" smtClean="0"/>
              <a:t> </a:t>
            </a:r>
            <a:r>
              <a:rPr lang="ru-RU" dirty="0" smtClean="0"/>
              <a:t>из </a:t>
            </a:r>
            <a:r>
              <a:rPr lang="en-US" dirty="0" smtClean="0"/>
              <a:t>F</a:t>
            </a:r>
            <a:r>
              <a:rPr lang="ru-RU" dirty="0" smtClean="0"/>
              <a:t> или, по крайней мере, для всякой функциональной зависимости знать содержится ли она  в </a:t>
            </a:r>
            <a:r>
              <a:rPr lang="en-US" dirty="0" smtClean="0"/>
              <a:t>F</a:t>
            </a:r>
            <a:r>
              <a:rPr lang="en-US" baseline="30000" dirty="0" smtClean="0"/>
              <a:t>+ </a:t>
            </a:r>
            <a:r>
              <a:rPr lang="en-US" dirty="0" smtClean="0"/>
              <a:t>!</a:t>
            </a:r>
            <a:endParaRPr lang="ru-RU" dirty="0" smtClean="0"/>
          </a:p>
          <a:p>
            <a:pPr marL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 smtClean="0"/>
              <a:t>Для этого нужно иметь правила, которые указывают, как из одной или более зависимостей выводить другие.</a:t>
            </a:r>
            <a:endParaRPr lang="en-US" dirty="0" smtClean="0"/>
          </a:p>
          <a:p>
            <a:pPr marL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 smtClean="0"/>
              <a:t>На самом деле можно задать </a:t>
            </a:r>
            <a:r>
              <a:rPr lang="ru-RU" b="1" dirty="0" smtClean="0"/>
              <a:t>полное множество правил </a:t>
            </a:r>
            <a:r>
              <a:rPr lang="ru-RU" dirty="0" smtClean="0"/>
              <a:t>для вывода</a:t>
            </a:r>
            <a:br>
              <a:rPr lang="ru-RU" dirty="0" smtClean="0"/>
            </a:br>
            <a:r>
              <a:rPr lang="ru-RU" dirty="0" smtClean="0"/>
              <a:t> из </a:t>
            </a:r>
            <a:r>
              <a:rPr lang="en-US" dirty="0" smtClean="0"/>
              <a:t>F </a:t>
            </a:r>
            <a:r>
              <a:rPr lang="ru-RU" dirty="0" smtClean="0"/>
              <a:t>множество </a:t>
            </a:r>
            <a:r>
              <a:rPr lang="en-US" dirty="0" smtClean="0"/>
              <a:t>F</a:t>
            </a:r>
            <a:r>
              <a:rPr lang="en-US" baseline="30000" dirty="0" smtClean="0"/>
              <a:t>+</a:t>
            </a:r>
          </a:p>
          <a:p>
            <a:pPr>
              <a:lnSpc>
                <a:spcPct val="120000"/>
              </a:lnSpc>
              <a:buNone/>
            </a:pPr>
            <a:r>
              <a:rPr lang="ru-RU" b="1" dirty="0" smtClean="0"/>
              <a:t>  </a:t>
            </a:r>
          </a:p>
          <a:p>
            <a:pPr>
              <a:lnSpc>
                <a:spcPct val="120000"/>
              </a:lnSpc>
              <a:buNone/>
            </a:pPr>
            <a:r>
              <a:rPr lang="ru-RU" b="1" dirty="0" smtClean="0"/>
              <a:t>Аксиомы АРМСТРОНГА</a:t>
            </a:r>
          </a:p>
          <a:p>
            <a:pPr indent="0">
              <a:lnSpc>
                <a:spcPct val="120000"/>
              </a:lnSpc>
              <a:buNone/>
            </a:pPr>
            <a:r>
              <a:rPr lang="ru-RU" dirty="0" smtClean="0"/>
              <a:t>Пусть дана схема некоторого отношения </a:t>
            </a:r>
            <a:r>
              <a:rPr lang="en-US" b="1" dirty="0" smtClean="0"/>
              <a:t>R</a:t>
            </a:r>
            <a:r>
              <a:rPr lang="ru-RU" dirty="0" smtClean="0"/>
              <a:t> с множеством атрибутов </a:t>
            </a:r>
            <a:r>
              <a:rPr lang="en-US" b="1" dirty="0" smtClean="0"/>
              <a:t>U </a:t>
            </a:r>
            <a:r>
              <a:rPr lang="ru-RU" dirty="0" smtClean="0"/>
              <a:t>и множеством функциональных зависимостей</a:t>
            </a:r>
            <a:r>
              <a:rPr lang="en-US" dirty="0" smtClean="0"/>
              <a:t> </a:t>
            </a:r>
            <a:r>
              <a:rPr lang="en-US" b="1" dirty="0" smtClean="0"/>
              <a:t>F</a:t>
            </a:r>
            <a:r>
              <a:rPr lang="ru-RU" dirty="0" smtClean="0"/>
              <a:t>, связывающих только атрибуты из </a:t>
            </a:r>
            <a:r>
              <a:rPr lang="en-US" b="1" dirty="0" smtClean="0"/>
              <a:t>U</a:t>
            </a:r>
            <a:endParaRPr lang="ru-RU" b="1" dirty="0" smtClean="0"/>
          </a:p>
          <a:p>
            <a:endParaRPr lang="ru-RU" dirty="0" smtClean="0"/>
          </a:p>
          <a:p>
            <a:r>
              <a:rPr lang="ru-RU" dirty="0" smtClean="0"/>
              <a:t>А1. </a:t>
            </a:r>
            <a:r>
              <a:rPr lang="ru-RU" dirty="0" err="1" smtClean="0"/>
              <a:t>Рефлексивность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en-US" dirty="0" smtClean="0"/>
              <a:t>Y</a:t>
            </a:r>
            <a:r>
              <a:rPr lang="en-US" sz="4000" b="1" dirty="0" smtClean="0">
                <a:sym typeface="Symbol"/>
              </a:rPr>
              <a:t></a:t>
            </a:r>
            <a:r>
              <a:rPr lang="ru-RU" b="1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X </a:t>
            </a:r>
            <a:r>
              <a:rPr lang="en-US" b="1" dirty="0" smtClean="0">
                <a:sym typeface="Symbol"/>
              </a:rPr>
              <a:t></a:t>
            </a:r>
            <a:r>
              <a:rPr lang="ru-RU" b="1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U , </a:t>
            </a:r>
            <a:r>
              <a:rPr lang="ru-RU" dirty="0" smtClean="0">
                <a:sym typeface="Symbol"/>
              </a:rPr>
              <a:t>то </a:t>
            </a:r>
            <a:r>
              <a:rPr lang="ru-RU" dirty="0" smtClean="0"/>
              <a:t>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</a:t>
            </a:r>
            <a:r>
              <a:rPr lang="ru-RU" dirty="0" smtClean="0"/>
              <a:t> логически следует из </a:t>
            </a:r>
            <a:r>
              <a:rPr lang="en-US" dirty="0" smtClean="0"/>
              <a:t>F. 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ru-RU" dirty="0" smtClean="0"/>
              <a:t>Правило дает </a:t>
            </a:r>
            <a:r>
              <a:rPr lang="ru-RU" b="1" i="1" dirty="0" smtClean="0"/>
              <a:t>тривиальные зависимости</a:t>
            </a:r>
            <a:r>
              <a:rPr lang="ru-RU" dirty="0" smtClean="0"/>
              <a:t>, то есть зависимости правая часть которых содержится в левой. И по сути не зависит от </a:t>
            </a:r>
            <a:r>
              <a:rPr lang="en-US" dirty="0" smtClean="0"/>
              <a:t>F</a:t>
            </a:r>
            <a:endParaRPr lang="ru-RU" dirty="0" smtClean="0"/>
          </a:p>
          <a:p>
            <a:r>
              <a:rPr lang="ru-RU" dirty="0" smtClean="0"/>
              <a:t>А2. Пополнение.</a:t>
            </a:r>
          </a:p>
          <a:p>
            <a:pPr>
              <a:buNone/>
            </a:pPr>
            <a:r>
              <a:rPr lang="ru-RU" dirty="0" smtClean="0"/>
              <a:t>Если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 </a:t>
            </a:r>
            <a:r>
              <a:rPr lang="ru-RU" dirty="0" smtClean="0"/>
              <a:t>и </a:t>
            </a:r>
            <a:r>
              <a:rPr lang="en-US" dirty="0" smtClean="0"/>
              <a:t>Z </a:t>
            </a:r>
            <a:r>
              <a:rPr lang="en-US" sz="4000" dirty="0" smtClean="0">
                <a:sym typeface="Symbol"/>
              </a:rPr>
              <a:t></a:t>
            </a:r>
            <a:r>
              <a:rPr lang="ru-RU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U </a:t>
            </a:r>
            <a:r>
              <a:rPr lang="ru-RU" dirty="0" smtClean="0"/>
              <a:t>, то Х</a:t>
            </a:r>
            <a:r>
              <a:rPr lang="en-US" dirty="0" smtClean="0"/>
              <a:t>Z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YZ </a:t>
            </a:r>
            <a:r>
              <a:rPr lang="ru-RU" dirty="0" smtClean="0"/>
              <a:t>логически следует из </a:t>
            </a:r>
            <a:r>
              <a:rPr lang="en-US" dirty="0" smtClean="0"/>
              <a:t>F</a:t>
            </a:r>
            <a:r>
              <a:rPr lang="ru-RU" dirty="0" smtClean="0"/>
              <a:t>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Важно </a:t>
            </a:r>
            <a:r>
              <a:rPr lang="ru-RU" dirty="0" smtClean="0"/>
              <a:t>помнить, что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 </a:t>
            </a:r>
            <a:r>
              <a:rPr lang="ru-RU" b="1" dirty="0" smtClean="0"/>
              <a:t>либо принадлежит </a:t>
            </a:r>
            <a:r>
              <a:rPr lang="en-US" dirty="0" smtClean="0"/>
              <a:t>F</a:t>
            </a:r>
            <a:r>
              <a:rPr lang="ru-RU" dirty="0" smtClean="0"/>
              <a:t>, либо </a:t>
            </a:r>
            <a:r>
              <a:rPr lang="ru-RU" b="1" dirty="0" smtClean="0"/>
              <a:t>может быть выведена </a:t>
            </a:r>
            <a:r>
              <a:rPr lang="ru-RU" dirty="0" smtClean="0"/>
              <a:t>из принадлежащих </a:t>
            </a:r>
            <a:r>
              <a:rPr lang="en-US" dirty="0" smtClean="0"/>
              <a:t>F </a:t>
            </a:r>
            <a:r>
              <a:rPr lang="ru-RU" dirty="0" smtClean="0"/>
              <a:t>зависимостей.</a:t>
            </a:r>
          </a:p>
          <a:p>
            <a:r>
              <a:rPr lang="ru-RU" dirty="0" smtClean="0"/>
              <a:t>А</a:t>
            </a:r>
            <a:r>
              <a:rPr lang="en-US" dirty="0" smtClean="0"/>
              <a:t>3</a:t>
            </a:r>
            <a:r>
              <a:rPr lang="ru-RU" dirty="0" smtClean="0"/>
              <a:t>. Транзитивность.</a:t>
            </a:r>
          </a:p>
          <a:p>
            <a:pPr>
              <a:buNone/>
            </a:pPr>
            <a:r>
              <a:rPr lang="ru-RU" dirty="0" smtClean="0"/>
              <a:t>Если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 </a:t>
            </a:r>
            <a:r>
              <a:rPr lang="ru-RU" dirty="0" smtClean="0"/>
              <a:t>и </a:t>
            </a:r>
            <a:r>
              <a:rPr lang="en-US" dirty="0" smtClean="0"/>
              <a:t>Y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Z </a:t>
            </a:r>
            <a:r>
              <a:rPr lang="ru-RU" dirty="0" smtClean="0"/>
              <a:t>, то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Z </a:t>
            </a:r>
            <a:r>
              <a:rPr lang="ru-RU" dirty="0" smtClean="0"/>
              <a:t>логически следует из </a:t>
            </a:r>
            <a:r>
              <a:rPr lang="en-US" dirty="0" smtClean="0"/>
              <a:t>F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7050" y="184150"/>
            <a:ext cx="8229600" cy="614346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Надежность и полнота аксиом (1)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550" y="673100"/>
            <a:ext cx="8937485" cy="5994286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 smtClean="0"/>
              <a:t>Мы определили аксиомы (правила ) вывода из одних функциональных зависимостей - другие. </a:t>
            </a:r>
          </a:p>
          <a:p>
            <a:pPr>
              <a:lnSpc>
                <a:spcPct val="120000"/>
              </a:lnSpc>
              <a:buNone/>
            </a:pPr>
            <a:r>
              <a:rPr lang="ru-RU" dirty="0" smtClean="0"/>
              <a:t>Эти аксиомы (правила) являются </a:t>
            </a:r>
            <a:r>
              <a:rPr lang="ru-RU" u="sng" dirty="0" smtClean="0"/>
              <a:t>надежными</a:t>
            </a:r>
            <a:r>
              <a:rPr lang="ru-RU" dirty="0" smtClean="0"/>
              <a:t> и </a:t>
            </a:r>
            <a:r>
              <a:rPr lang="ru-RU" u="sng" dirty="0" smtClean="0"/>
              <a:t>полными</a:t>
            </a:r>
            <a:r>
              <a:rPr lang="ru-RU" dirty="0" smtClean="0"/>
              <a:t>.  </a:t>
            </a:r>
          </a:p>
          <a:p>
            <a:pPr indent="0">
              <a:lnSpc>
                <a:spcPct val="120000"/>
              </a:lnSpc>
              <a:buNone/>
            </a:pPr>
            <a:r>
              <a:rPr lang="ru-RU" dirty="0" smtClean="0"/>
              <a:t>Аксиомы являются </a:t>
            </a:r>
            <a:r>
              <a:rPr lang="ru-RU" b="1" dirty="0" smtClean="0"/>
              <a:t>Надежными,</a:t>
            </a:r>
            <a:r>
              <a:rPr lang="ru-RU" dirty="0" smtClean="0"/>
              <a:t> то есть </a:t>
            </a:r>
            <a:r>
              <a:rPr lang="ru-RU" u="sng" dirty="0" smtClean="0"/>
              <a:t>приводят только к истинным заключениям</a:t>
            </a:r>
            <a:r>
              <a:rPr lang="ru-RU" dirty="0" smtClean="0"/>
              <a:t>. То есть все зависимости, которые выводятся с помощью аксиом принадлежат </a:t>
            </a:r>
            <a:r>
              <a:rPr lang="en-US" dirty="0" smtClean="0"/>
              <a:t>F</a:t>
            </a:r>
            <a:r>
              <a:rPr lang="en-US" baseline="30000" dirty="0" smtClean="0"/>
              <a:t>+</a:t>
            </a:r>
            <a:r>
              <a:rPr lang="en-US" dirty="0" smtClean="0"/>
              <a:t>.</a:t>
            </a:r>
            <a:endParaRPr lang="ru-RU" dirty="0" smtClean="0"/>
          </a:p>
          <a:p>
            <a:pPr>
              <a:lnSpc>
                <a:spcPct val="120000"/>
              </a:lnSpc>
              <a:buNone/>
            </a:pPr>
            <a:r>
              <a:rPr lang="ru-RU" b="1" dirty="0" smtClean="0"/>
              <a:t>Полными</a:t>
            </a:r>
            <a:r>
              <a:rPr lang="ru-RU" dirty="0" smtClean="0"/>
              <a:t> они являются потому, что любая функциональная зависимость из </a:t>
            </a:r>
            <a:r>
              <a:rPr lang="en-US" dirty="0" smtClean="0"/>
              <a:t>F</a:t>
            </a:r>
            <a:r>
              <a:rPr lang="en-US" baseline="30000" dirty="0" smtClean="0"/>
              <a:t>+</a:t>
            </a:r>
            <a:r>
              <a:rPr lang="ru-RU" baseline="30000" dirty="0" smtClean="0"/>
              <a:t> </a:t>
            </a:r>
            <a:r>
              <a:rPr lang="ru-RU" dirty="0" smtClean="0"/>
              <a:t>может  выведена из </a:t>
            </a:r>
            <a:r>
              <a:rPr lang="en-US" dirty="0" smtClean="0"/>
              <a:t>F</a:t>
            </a:r>
            <a:r>
              <a:rPr lang="ru-RU" dirty="0" smtClean="0"/>
              <a:t> с помощью этих аксиом.</a:t>
            </a:r>
          </a:p>
          <a:p>
            <a:pPr>
              <a:lnSpc>
                <a:spcPct val="120000"/>
              </a:lnSpc>
              <a:buNone/>
            </a:pPr>
            <a:endParaRPr lang="ru-RU" u="sng" dirty="0" smtClean="0"/>
          </a:p>
          <a:p>
            <a:pPr>
              <a:lnSpc>
                <a:spcPct val="120000"/>
              </a:lnSpc>
              <a:buNone/>
            </a:pPr>
            <a:r>
              <a:rPr lang="ru-RU" u="sng" dirty="0" smtClean="0"/>
              <a:t>Лемма 1.</a:t>
            </a:r>
            <a:r>
              <a:rPr lang="ru-RU" dirty="0" smtClean="0"/>
              <a:t> Аксиомы АРМСТРОНГА являются </a:t>
            </a:r>
            <a:r>
              <a:rPr lang="ru-RU" b="1" u="sng" dirty="0" smtClean="0"/>
              <a:t>надежными</a:t>
            </a:r>
            <a:r>
              <a:rPr lang="ru-RU" dirty="0" smtClean="0"/>
              <a:t>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Если зависимость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</a:t>
            </a:r>
            <a:r>
              <a:rPr lang="ru-RU" dirty="0" smtClean="0"/>
              <a:t> выведена из </a:t>
            </a:r>
            <a:r>
              <a:rPr lang="en-US" dirty="0" smtClean="0"/>
              <a:t>F</a:t>
            </a:r>
            <a:r>
              <a:rPr lang="ru-RU" dirty="0" smtClean="0"/>
              <a:t> с помощью этих аксиом, то она </a:t>
            </a:r>
            <a:r>
              <a:rPr lang="ru-RU" b="1" dirty="0" smtClean="0"/>
              <a:t>справедлива в любом отношении</a:t>
            </a:r>
            <a:r>
              <a:rPr lang="ru-RU" dirty="0" smtClean="0"/>
              <a:t>, в котором справедливы зависимости </a:t>
            </a:r>
            <a:r>
              <a:rPr lang="en-US" dirty="0" smtClean="0"/>
              <a:t>F.</a:t>
            </a: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u="sng" dirty="0" smtClean="0"/>
              <a:t>Доказательство</a:t>
            </a:r>
            <a:r>
              <a:rPr lang="ru-RU" dirty="0" smtClean="0"/>
              <a:t>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b="1" dirty="0" smtClean="0"/>
              <a:t>Аксиома А1 </a:t>
            </a:r>
            <a:r>
              <a:rPr lang="en-US" dirty="0" smtClean="0"/>
              <a:t>(</a:t>
            </a:r>
            <a:r>
              <a:rPr lang="ru-RU" dirty="0" smtClean="0"/>
              <a:t>Если </a:t>
            </a:r>
            <a:r>
              <a:rPr lang="en-US" dirty="0" smtClean="0"/>
              <a:t>Y</a:t>
            </a:r>
            <a:r>
              <a:rPr lang="en-US" sz="4000" b="1" dirty="0" smtClean="0">
                <a:sym typeface="Symbol"/>
              </a:rPr>
              <a:t></a:t>
            </a:r>
            <a:r>
              <a:rPr lang="ru-RU" b="1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X </a:t>
            </a:r>
            <a:r>
              <a:rPr lang="en-US" b="1" dirty="0" smtClean="0">
                <a:sym typeface="Symbol"/>
              </a:rPr>
              <a:t></a:t>
            </a:r>
            <a:r>
              <a:rPr lang="ru-RU" b="1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U , </a:t>
            </a:r>
            <a:r>
              <a:rPr lang="ru-RU" dirty="0" smtClean="0">
                <a:sym typeface="Symbol"/>
              </a:rPr>
              <a:t>то </a:t>
            </a:r>
            <a:r>
              <a:rPr lang="ru-RU" dirty="0" smtClean="0"/>
              <a:t>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</a:t>
            </a:r>
            <a:r>
              <a:rPr lang="ru-RU" dirty="0" smtClean="0"/>
              <a:t>) очевидно является надежной. Мы не можем иметь отношение </a:t>
            </a:r>
            <a:r>
              <a:rPr lang="en-US" dirty="0" smtClean="0"/>
              <a:t>R</a:t>
            </a:r>
            <a:r>
              <a:rPr lang="ru-RU" dirty="0" smtClean="0"/>
              <a:t>, в котором 2 кортежа совпадают по </a:t>
            </a:r>
            <a:r>
              <a:rPr lang="en-US" dirty="0" smtClean="0"/>
              <a:t>X</a:t>
            </a:r>
            <a:r>
              <a:rPr lang="ru-RU" dirty="0" smtClean="0"/>
              <a:t>, но не совпадают по некоторому подмножеству </a:t>
            </a:r>
            <a:r>
              <a:rPr lang="en-US" dirty="0" smtClean="0"/>
              <a:t>X.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/>
              <a:t>Для доказательства надежности </a:t>
            </a:r>
            <a:r>
              <a:rPr lang="ru-RU" b="1" dirty="0" smtClean="0"/>
              <a:t>аксиомы А2 </a:t>
            </a:r>
            <a:r>
              <a:rPr lang="ru-RU" dirty="0" smtClean="0"/>
              <a:t>(Если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 </a:t>
            </a:r>
            <a:r>
              <a:rPr lang="ru-RU" dirty="0" smtClean="0"/>
              <a:t>и </a:t>
            </a:r>
            <a:r>
              <a:rPr lang="en-US" dirty="0" smtClean="0"/>
              <a:t>Z </a:t>
            </a:r>
            <a:r>
              <a:rPr lang="en-US" sz="4000" dirty="0" smtClean="0">
                <a:sym typeface="Symbol"/>
              </a:rPr>
              <a:t></a:t>
            </a:r>
            <a:r>
              <a:rPr lang="ru-RU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U </a:t>
            </a:r>
            <a:r>
              <a:rPr lang="ru-RU" dirty="0" smtClean="0"/>
              <a:t>, то Х</a:t>
            </a:r>
            <a:r>
              <a:rPr lang="en-US" dirty="0" smtClean="0"/>
              <a:t>Z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YZ</a:t>
            </a:r>
            <a:r>
              <a:rPr lang="ru-RU" dirty="0" smtClean="0"/>
              <a:t> ) предположим, что существуют 2 кортежа </a:t>
            </a:r>
            <a:r>
              <a:rPr lang="en-US" i="1" dirty="0" smtClean="0"/>
              <a:t>t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i="1" dirty="0" smtClean="0"/>
              <a:t>u</a:t>
            </a:r>
            <a:r>
              <a:rPr lang="ru-RU" i="1" dirty="0" smtClean="0"/>
              <a:t>, </a:t>
            </a:r>
            <a:r>
              <a:rPr lang="ru-RU" dirty="0" smtClean="0"/>
              <a:t>которые совпадают по </a:t>
            </a:r>
            <a:r>
              <a:rPr lang="en-US" dirty="0" smtClean="0"/>
              <a:t>XZ </a:t>
            </a:r>
            <a:r>
              <a:rPr lang="ru-RU" dirty="0" smtClean="0"/>
              <a:t>и не совпадают по </a:t>
            </a:r>
            <a:r>
              <a:rPr lang="en-US" dirty="0" smtClean="0"/>
              <a:t>YZ.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/>
              <a:t>Но так как они не могут не совпадать по </a:t>
            </a:r>
            <a:r>
              <a:rPr lang="en-US" dirty="0" smtClean="0"/>
              <a:t>Z</a:t>
            </a:r>
            <a:r>
              <a:rPr lang="ru-RU" dirty="0" smtClean="0"/>
              <a:t>, то значит они не совпадают по </a:t>
            </a:r>
            <a:r>
              <a:rPr lang="en-US" dirty="0" smtClean="0"/>
              <a:t>Y</a:t>
            </a:r>
            <a:r>
              <a:rPr lang="ru-RU" dirty="0" smtClean="0"/>
              <a:t>, что противоречит тому факту, что </a:t>
            </a:r>
            <a:r>
              <a:rPr lang="ru-RU" dirty="0"/>
              <a:t>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</a:t>
            </a:r>
            <a:r>
              <a:rPr lang="ru-RU" dirty="0"/>
              <a:t> </a:t>
            </a:r>
            <a:r>
              <a:rPr lang="ru-RU" dirty="0" smtClean="0"/>
              <a:t>справедлива для </a:t>
            </a:r>
            <a:r>
              <a:rPr lang="en-US" dirty="0" smtClean="0"/>
              <a:t>R.</a:t>
            </a: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/>
              <a:t>Доказательство надежности </a:t>
            </a:r>
            <a:r>
              <a:rPr lang="ru-RU" b="1" dirty="0" smtClean="0"/>
              <a:t>аксиомы А3 </a:t>
            </a:r>
            <a:r>
              <a:rPr lang="ru-RU" dirty="0" smtClean="0"/>
              <a:t>(Если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 </a:t>
            </a:r>
            <a:r>
              <a:rPr lang="ru-RU" dirty="0" smtClean="0"/>
              <a:t>и </a:t>
            </a:r>
            <a:r>
              <a:rPr lang="en-US" dirty="0" smtClean="0"/>
              <a:t>Y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Z </a:t>
            </a:r>
            <a:r>
              <a:rPr lang="ru-RU" dirty="0" smtClean="0"/>
              <a:t>, то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Z </a:t>
            </a:r>
            <a:r>
              <a:rPr lang="ru-RU" dirty="0" smtClean="0"/>
              <a:t>) можно воспользоваться методом от противного, как мы это сделали раньше.</a:t>
            </a:r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14346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Надежность и полнота аксиом (2)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4250"/>
            <a:ext cx="9144000" cy="5516584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ru-RU" b="1" u="sng" dirty="0" smtClean="0"/>
              <a:t>Лемма 2</a:t>
            </a:r>
            <a:r>
              <a:rPr lang="ru-RU" dirty="0" smtClean="0"/>
              <a:t>. Справедливы следующие правила</a:t>
            </a:r>
            <a:r>
              <a:rPr lang="en-US" dirty="0" smtClean="0"/>
              <a:t>.</a:t>
            </a:r>
          </a:p>
          <a:p>
            <a:pPr marL="514350" indent="-514350">
              <a:lnSpc>
                <a:spcPct val="120000"/>
              </a:lnSpc>
              <a:buNone/>
            </a:pPr>
            <a:r>
              <a:rPr lang="en-US" dirty="0" smtClean="0"/>
              <a:t>1. </a:t>
            </a:r>
            <a:r>
              <a:rPr lang="ru-RU" dirty="0" smtClean="0"/>
              <a:t>Правило </a:t>
            </a:r>
            <a:r>
              <a:rPr lang="ru-RU" b="1" dirty="0" smtClean="0"/>
              <a:t>объединения</a:t>
            </a:r>
            <a:r>
              <a:rPr lang="ru-RU" dirty="0" smtClean="0"/>
              <a:t>. Если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 </a:t>
            </a:r>
            <a:r>
              <a:rPr lang="ru-RU" dirty="0" smtClean="0"/>
              <a:t>и </a:t>
            </a:r>
            <a:r>
              <a:rPr lang="en-US" dirty="0" smtClean="0"/>
              <a:t>X </a:t>
            </a:r>
            <a:r>
              <a:rPr lang="en-US" dirty="0" smtClean="0">
                <a:sym typeface="Symbol"/>
              </a:rPr>
              <a:t></a:t>
            </a:r>
            <a:r>
              <a:rPr lang="ru-RU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Z </a:t>
            </a:r>
            <a:r>
              <a:rPr lang="ru-RU" dirty="0" smtClean="0"/>
              <a:t>, то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YZ.</a:t>
            </a:r>
            <a:endParaRPr lang="ru-RU" dirty="0" smtClean="0"/>
          </a:p>
          <a:p>
            <a:pPr marL="514350" indent="-514350">
              <a:lnSpc>
                <a:spcPct val="120000"/>
              </a:lnSpc>
              <a:buNone/>
            </a:pPr>
            <a:r>
              <a:rPr lang="ru-RU" u="sng" dirty="0" smtClean="0"/>
              <a:t>Доказательство. </a:t>
            </a:r>
            <a:r>
              <a:rPr lang="ru-RU" dirty="0" smtClean="0"/>
              <a:t>Пополнение Х</a:t>
            </a:r>
            <a:r>
              <a:rPr lang="en-US" dirty="0" smtClean="0"/>
              <a:t>X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YX, YX </a:t>
            </a:r>
            <a:r>
              <a:rPr lang="en-US" dirty="0" smtClean="0">
                <a:sym typeface="Symbol"/>
              </a:rPr>
              <a:t></a:t>
            </a:r>
            <a:r>
              <a:rPr lang="ru-RU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YZ. </a:t>
            </a:r>
            <a:r>
              <a:rPr lang="ru-RU" dirty="0" smtClean="0">
                <a:sym typeface="Symbol"/>
              </a:rPr>
              <a:t>Транзитивность.</a:t>
            </a:r>
            <a:endParaRPr lang="ru-RU" dirty="0" smtClean="0"/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2. Правило </a:t>
            </a:r>
            <a:r>
              <a:rPr lang="ru-RU" b="1" dirty="0" err="1" smtClean="0"/>
              <a:t>псевдотранзитивности</a:t>
            </a:r>
            <a:r>
              <a:rPr lang="en-US" b="1" dirty="0" smtClean="0"/>
              <a:t>.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				</a:t>
            </a:r>
            <a:r>
              <a:rPr lang="ru-RU" dirty="0" smtClean="0"/>
              <a:t>Если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 </a:t>
            </a:r>
            <a:r>
              <a:rPr lang="ru-RU" dirty="0" smtClean="0"/>
              <a:t>и </a:t>
            </a:r>
            <a:r>
              <a:rPr lang="en-US" dirty="0" smtClean="0"/>
              <a:t>WY </a:t>
            </a:r>
            <a:r>
              <a:rPr lang="en-US" dirty="0" smtClean="0">
                <a:sym typeface="Symbol"/>
              </a:rPr>
              <a:t></a:t>
            </a:r>
            <a:r>
              <a:rPr lang="ru-RU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Z </a:t>
            </a:r>
            <a:r>
              <a:rPr lang="ru-RU" dirty="0" smtClean="0"/>
              <a:t>, то </a:t>
            </a:r>
            <a:r>
              <a:rPr lang="en-US" dirty="0" smtClean="0"/>
              <a:t>W</a:t>
            </a:r>
            <a:r>
              <a:rPr lang="ru-RU" dirty="0" smtClean="0"/>
              <a:t>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Z</a:t>
            </a: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3. Правило </a:t>
            </a:r>
            <a:r>
              <a:rPr lang="ru-RU" b="1" dirty="0" smtClean="0"/>
              <a:t>декомпозиции</a:t>
            </a:r>
            <a:r>
              <a:rPr lang="en-US" dirty="0" smtClean="0"/>
              <a:t>. </a:t>
            </a:r>
            <a:r>
              <a:rPr lang="ru-RU" dirty="0" smtClean="0"/>
              <a:t>Если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 </a:t>
            </a:r>
            <a:r>
              <a:rPr lang="ru-RU" dirty="0" smtClean="0"/>
              <a:t>и </a:t>
            </a:r>
            <a:r>
              <a:rPr lang="en-US" dirty="0" smtClean="0"/>
              <a:t>Z </a:t>
            </a:r>
            <a:r>
              <a:rPr lang="en-US" sz="4000" dirty="0" smtClean="0">
                <a:sym typeface="Symbol"/>
              </a:rPr>
              <a:t></a:t>
            </a:r>
            <a:r>
              <a:rPr lang="ru-RU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Y </a:t>
            </a:r>
            <a:r>
              <a:rPr lang="ru-RU" dirty="0" smtClean="0"/>
              <a:t>, то 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Z</a:t>
            </a: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Правила объединения и декомпозиции порождают </a:t>
            </a:r>
            <a:r>
              <a:rPr lang="ru-RU" b="1" dirty="0" smtClean="0"/>
              <a:t>важное следствие</a:t>
            </a:r>
            <a:r>
              <a:rPr lang="ru-RU" dirty="0" smtClean="0"/>
              <a:t>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если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, … А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– атрибуты, то зависимость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А</a:t>
            </a:r>
            <a:r>
              <a:rPr lang="ru-RU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, … А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справедлива, если и только если зависимость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А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справедлива </a:t>
            </a:r>
            <a:r>
              <a:rPr lang="ru-RU" u="sng" dirty="0" smtClean="0"/>
              <a:t>для каждого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/>
              <a:t>Перед обсуждением полноты аксиом определим </a:t>
            </a:r>
            <a:r>
              <a:rPr lang="ru-RU" u="sng" dirty="0" smtClean="0"/>
              <a:t>замыкание множества атрибутов</a:t>
            </a:r>
            <a:r>
              <a:rPr lang="ru-RU" dirty="0" smtClean="0"/>
              <a:t> относительно множества функциональных зависимостей.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/>
              <a:t>Пусть </a:t>
            </a:r>
            <a:r>
              <a:rPr lang="en-US" i="1" dirty="0" smtClean="0"/>
              <a:t>F</a:t>
            </a:r>
            <a:r>
              <a:rPr lang="en-US" dirty="0" smtClean="0"/>
              <a:t> – </a:t>
            </a:r>
            <a:r>
              <a:rPr lang="ru-RU" dirty="0" smtClean="0"/>
              <a:t>множество ФЗ на множестве атрибутов </a:t>
            </a:r>
            <a:r>
              <a:rPr lang="en-US" i="1" dirty="0" smtClean="0"/>
              <a:t>U</a:t>
            </a:r>
            <a:r>
              <a:rPr lang="ru-RU" i="1" dirty="0" smtClean="0"/>
              <a:t> </a:t>
            </a:r>
            <a:r>
              <a:rPr lang="ru-RU" dirty="0" smtClean="0"/>
              <a:t>и пусть </a:t>
            </a:r>
            <a:r>
              <a:rPr lang="en-US" dirty="0" smtClean="0"/>
              <a:t>X </a:t>
            </a:r>
            <a:r>
              <a:rPr lang="en-US" dirty="0" smtClean="0">
                <a:sym typeface="Symbol"/>
              </a:rPr>
              <a:t></a:t>
            </a:r>
            <a:r>
              <a:rPr lang="ru-RU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U. </a:t>
            </a:r>
            <a:r>
              <a:rPr lang="ru-RU" dirty="0" smtClean="0">
                <a:sym typeface="Symbol"/>
              </a:rPr>
              <a:t/>
            </a:r>
            <a:br>
              <a:rPr lang="ru-RU" dirty="0" smtClean="0">
                <a:sym typeface="Symbol"/>
              </a:rPr>
            </a:br>
            <a:r>
              <a:rPr lang="ru-RU" dirty="0" smtClean="0">
                <a:sym typeface="Symbol"/>
              </a:rPr>
              <a:t>  Тогда </a:t>
            </a:r>
            <a:r>
              <a:rPr lang="en-US" b="1" dirty="0" smtClean="0">
                <a:sym typeface="Symbol"/>
              </a:rPr>
              <a:t>X</a:t>
            </a:r>
            <a:r>
              <a:rPr lang="en-US" b="1" baseline="30000" dirty="0" smtClean="0">
                <a:sym typeface="Symbol"/>
              </a:rPr>
              <a:t>+ </a:t>
            </a:r>
            <a:r>
              <a:rPr lang="ru-RU" b="1" dirty="0" smtClean="0">
                <a:sym typeface="Symbol"/>
              </a:rPr>
              <a:t>,замыкание </a:t>
            </a:r>
            <a:r>
              <a:rPr lang="en-US" b="1" dirty="0" smtClean="0">
                <a:sym typeface="Symbol"/>
              </a:rPr>
              <a:t>X</a:t>
            </a:r>
            <a:r>
              <a:rPr lang="en-US" dirty="0" smtClean="0">
                <a:sym typeface="Symbol"/>
              </a:rPr>
              <a:t> </a:t>
            </a:r>
            <a:r>
              <a:rPr lang="ru-RU" b="1" dirty="0" smtClean="0">
                <a:sym typeface="Symbol"/>
              </a:rPr>
              <a:t>относительно </a:t>
            </a:r>
            <a:r>
              <a:rPr lang="en-US" b="1" dirty="0" smtClean="0">
                <a:sym typeface="Symbol"/>
              </a:rPr>
              <a:t>F</a:t>
            </a:r>
            <a:r>
              <a:rPr lang="ru-RU" dirty="0" smtClean="0">
                <a:sym typeface="Symbol"/>
              </a:rPr>
              <a:t> есть </a:t>
            </a:r>
            <a:r>
              <a:rPr lang="ru-RU" b="1" dirty="0" smtClean="0">
                <a:sym typeface="Symbol"/>
              </a:rPr>
              <a:t>множество атрибутов А</a:t>
            </a:r>
            <a:r>
              <a:rPr lang="ru-RU" dirty="0" smtClean="0">
                <a:sym typeface="Symbol"/>
              </a:rPr>
              <a:t>, таких, что  зависимость </a:t>
            </a:r>
            <a:r>
              <a:rPr lang="ru-RU" dirty="0" smtClean="0"/>
              <a:t>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</a:t>
            </a:r>
            <a:r>
              <a:rPr lang="ru-RU" dirty="0" smtClean="0"/>
              <a:t>А может быть выведена </a:t>
            </a:r>
            <a:r>
              <a:rPr lang="en-US" dirty="0" smtClean="0"/>
              <a:t> </a:t>
            </a:r>
            <a:r>
              <a:rPr lang="ru-RU" dirty="0" smtClean="0"/>
              <a:t>из </a:t>
            </a:r>
            <a:r>
              <a:rPr lang="en-US" dirty="0" smtClean="0"/>
              <a:t>F</a:t>
            </a:r>
            <a:r>
              <a:rPr lang="ru-RU" dirty="0" smtClean="0"/>
              <a:t> по аксиомам </a:t>
            </a:r>
            <a:r>
              <a:rPr lang="ru-RU" dirty="0" err="1" smtClean="0"/>
              <a:t>Армстронга</a:t>
            </a:r>
            <a:r>
              <a:rPr lang="ru-RU" dirty="0" smtClean="0"/>
              <a:t> </a:t>
            </a:r>
            <a:r>
              <a:rPr lang="ru-RU" dirty="0" smtClean="0">
                <a:sym typeface="Symbol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>
                <a:sym typeface="Symbol"/>
              </a:rPr>
              <a:t>Главное свойство замыкания заключается в том, что оно позволяет сразу определить, выводится ли зависимость </a:t>
            </a:r>
            <a:r>
              <a:rPr lang="ru-RU" dirty="0" smtClean="0"/>
              <a:t>Х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Y </a:t>
            </a:r>
            <a:r>
              <a:rPr lang="ru-RU" dirty="0" smtClean="0"/>
              <a:t> из </a:t>
            </a:r>
            <a:r>
              <a:rPr lang="en-US" dirty="0" smtClean="0"/>
              <a:t>F </a:t>
            </a:r>
            <a:r>
              <a:rPr lang="ru-RU" dirty="0" smtClean="0"/>
              <a:t>по аксиомам </a:t>
            </a:r>
            <a:r>
              <a:rPr lang="ru-RU" dirty="0" err="1" smtClean="0"/>
              <a:t>Армстронга</a:t>
            </a:r>
            <a:r>
              <a:rPr lang="ru-RU" dirty="0" smtClean="0"/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Надежность и полнота аксиом (3)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18710"/>
            <a:ext cx="9144000" cy="603929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b="1" u="sng" dirty="0" smtClean="0"/>
              <a:t>Лемма </a:t>
            </a:r>
            <a:r>
              <a:rPr lang="en-US" b="1" u="sng" dirty="0" smtClean="0"/>
              <a:t>3</a:t>
            </a: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Функциональная зависимость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следует из аксиом </a:t>
            </a:r>
            <a:r>
              <a:rPr lang="ru-RU" dirty="0" err="1" smtClean="0"/>
              <a:t>Армстронга</a:t>
            </a:r>
            <a:r>
              <a:rPr lang="ru-RU" dirty="0" smtClean="0"/>
              <a:t>, если и только если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ru-RU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u="sng" dirty="0" smtClean="0">
                <a:sym typeface="Symbol"/>
              </a:rPr>
              <a:t>Доказательство.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sz="2900" dirty="0" smtClean="0">
                <a:sym typeface="Symbol"/>
              </a:rPr>
              <a:t>Пусть</a:t>
            </a:r>
            <a:r>
              <a:rPr lang="ru-RU" dirty="0" smtClean="0">
                <a:sym typeface="Symbol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ru-RU" dirty="0" smtClean="0">
                <a:sym typeface="Symbol"/>
              </a:rPr>
              <a:t> есть </a:t>
            </a:r>
            <a:r>
              <a:rPr lang="ru-RU" sz="2900" dirty="0" smtClean="0">
                <a:sym typeface="Symbol"/>
              </a:rPr>
              <a:t>множество атрибутов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, … А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. </a:t>
            </a:r>
            <a:r>
              <a:rPr lang="ru-RU" dirty="0" smtClean="0">
                <a:cs typeface="Times New Roman" pitchFamily="18" charset="0"/>
              </a:rPr>
              <a:t>И кроме того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ru-RU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smtClean="0">
                <a:sym typeface="Symbol"/>
              </a:rPr>
              <a:t>. </a:t>
            </a:r>
            <a:r>
              <a:rPr lang="ru-RU" b="1" dirty="0" smtClean="0">
                <a:sym typeface="Symbol"/>
              </a:rPr>
              <a:t>Покажем</a:t>
            </a:r>
            <a:r>
              <a:rPr lang="ru-RU" dirty="0" smtClean="0">
                <a:sym typeface="Symbol"/>
              </a:rPr>
              <a:t>, что в этом случае </a:t>
            </a:r>
            <a:r>
              <a:rPr lang="ru-RU" dirty="0" smtClean="0"/>
              <a:t>Х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Y</a:t>
            </a:r>
            <a:r>
              <a:rPr lang="ru-RU" dirty="0" smtClean="0"/>
              <a:t> </a:t>
            </a:r>
            <a:r>
              <a:rPr lang="ru-RU" b="1" dirty="0" smtClean="0"/>
              <a:t>выводится с помощью аксиом </a:t>
            </a:r>
            <a:r>
              <a:rPr lang="ru-RU" b="1" dirty="0" err="1" smtClean="0"/>
              <a:t>Армстронга</a:t>
            </a:r>
            <a:r>
              <a:rPr lang="ru-RU" b="1" dirty="0" smtClean="0"/>
              <a:t>.</a:t>
            </a:r>
          </a:p>
          <a:p>
            <a:pPr marL="40005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>
                <a:sym typeface="Symbol"/>
              </a:rPr>
              <a:t>По определению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ru-RU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dirty="0" smtClean="0">
                <a:sym typeface="Symbol"/>
              </a:rPr>
              <a:t>функциональные зависимости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X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А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dirty="0" smtClean="0">
                <a:sym typeface="Symbol"/>
              </a:rPr>
              <a:t>выводятся </a:t>
            </a:r>
            <a:r>
              <a:rPr lang="ru-RU" dirty="0" smtClean="0"/>
              <a:t>для каждого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с помощью аксиом </a:t>
            </a:r>
            <a:r>
              <a:rPr lang="ru-RU" dirty="0" err="1" smtClean="0"/>
              <a:t>Армстронга</a:t>
            </a:r>
            <a:r>
              <a:rPr lang="en-US" dirty="0" smtClean="0"/>
              <a:t>.</a:t>
            </a:r>
            <a:r>
              <a:rPr lang="ru-RU" dirty="0" smtClean="0"/>
              <a:t> </a:t>
            </a:r>
          </a:p>
          <a:p>
            <a:pPr marL="40005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/>
              <a:t>Из правила объединения (п.1 лемма 2) следует, что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выводится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>с помощью аксиом </a:t>
            </a:r>
            <a:r>
              <a:rPr lang="ru-RU" dirty="0" err="1" smtClean="0"/>
              <a:t>Армстронга</a:t>
            </a:r>
            <a:r>
              <a:rPr lang="en-US" dirty="0" smtClean="0"/>
              <a:t>.</a:t>
            </a: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b="1" dirty="0" smtClean="0">
                <a:cs typeface="Times New Roman" pitchFamily="18" charset="0"/>
                <a:sym typeface="Symbol"/>
              </a:rPr>
              <a:t>Наоборот</a:t>
            </a:r>
            <a:r>
              <a:rPr lang="ru-RU" dirty="0" smtClean="0">
                <a:cs typeface="Times New Roman" pitchFamily="18" charset="0"/>
                <a:sym typeface="Symbol"/>
              </a:rPr>
              <a:t>, предположим, что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cs typeface="Times New Roman" pitchFamily="18" charset="0"/>
              </a:rPr>
              <a:t>следует из </a:t>
            </a:r>
            <a:r>
              <a:rPr lang="ru-RU" dirty="0" smtClean="0"/>
              <a:t>аксиом </a:t>
            </a:r>
            <a:r>
              <a:rPr lang="ru-RU" dirty="0" err="1" smtClean="0"/>
              <a:t>Армстронга</a:t>
            </a:r>
            <a:r>
              <a:rPr lang="en-US" dirty="0" smtClean="0"/>
              <a:t>.</a:t>
            </a:r>
            <a:r>
              <a:rPr lang="ru-RU" dirty="0" smtClean="0"/>
              <a:t> </a:t>
            </a:r>
            <a:endParaRPr lang="en-US" dirty="0" smtClean="0"/>
          </a:p>
          <a:p>
            <a:pPr marL="40005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/>
              <a:t>Тогда для каждого</a:t>
            </a:r>
            <a:r>
              <a:rPr lang="en-US" dirty="0" smtClean="0"/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А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  <a:r>
              <a:rPr lang="ru-RU" dirty="0" smtClean="0"/>
              <a:t>из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 smtClean="0"/>
              <a:t> </a:t>
            </a:r>
            <a:r>
              <a:rPr lang="ru-RU" dirty="0" smtClean="0"/>
              <a:t>по правилу декомпозиции (п.3 Лемма 2) имеет место зависимость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X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А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endParaRPr lang="ru-RU" i="1" baseline="-250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40005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 smtClean="0">
                <a:cs typeface="Times New Roman" pitchFamily="18" charset="0"/>
                <a:sym typeface="Symbol"/>
              </a:rPr>
              <a:t>Поэтому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ru-RU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  <a:endParaRPr lang="ru-RU" dirty="0" smtClean="0">
              <a:cs typeface="Times New Roman" pitchFamily="18" charset="0"/>
              <a:sym typeface="Symbol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>
              <a:sym typeface="Symbol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9359"/>
            <a:ext cx="8229600" cy="614346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Теорема надежности и полноты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6515" y="762000"/>
            <a:ext cx="8721585" cy="591185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b="1" u="sng" dirty="0" smtClean="0"/>
              <a:t>Теорема.</a:t>
            </a:r>
            <a:r>
              <a:rPr lang="ru-RU" sz="3400" b="1" dirty="0" smtClean="0"/>
              <a:t> </a:t>
            </a:r>
            <a:r>
              <a:rPr lang="ru-RU" sz="3400" dirty="0" smtClean="0"/>
              <a:t>Аксиомы АРМСТРОНГА являются надежными и полными.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u="sng" dirty="0" smtClean="0"/>
              <a:t>В лемме 1</a:t>
            </a:r>
            <a:r>
              <a:rPr lang="ru-RU" sz="3400" dirty="0" smtClean="0"/>
              <a:t> показано, что аксиомы АРМСТРОНГА являются надежными.</a:t>
            </a:r>
            <a:endParaRPr lang="ru-RU" sz="3400" b="1" u="sng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dirty="0" smtClean="0"/>
              <a:t>Доказательство полноты ведется от противного. Самостоятельно разобрать доказательство. (Ульман. Стр. 159)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dirty="0" smtClean="0"/>
              <a:t>Следствия: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ClrTx/>
              <a:buSzPct val="80000"/>
              <a:buFont typeface="+mj-lt"/>
              <a:buAutoNum type="arabicPeriod"/>
            </a:pPr>
            <a:r>
              <a:rPr lang="en-US" sz="3400" dirty="0" smtClean="0"/>
              <a:t>X</a:t>
            </a:r>
            <a:r>
              <a:rPr lang="en-US" sz="3400" baseline="30000" dirty="0" smtClean="0"/>
              <a:t>+</a:t>
            </a:r>
            <a:r>
              <a:rPr lang="ru-RU" sz="3400" dirty="0" smtClean="0"/>
              <a:t>- множество атрибутов А, таких, что Х</a:t>
            </a:r>
            <a:r>
              <a:rPr lang="en-US" sz="3400" dirty="0" smtClean="0">
                <a:sym typeface="Symbol"/>
              </a:rPr>
              <a:t></a:t>
            </a:r>
            <a:r>
              <a:rPr lang="ru-RU" sz="3400" dirty="0" smtClean="0"/>
              <a:t>А логически следует их </a:t>
            </a:r>
            <a:r>
              <a:rPr lang="en-US" sz="3400" dirty="0" smtClean="0"/>
              <a:t>F (</a:t>
            </a:r>
            <a:r>
              <a:rPr lang="ru-RU" sz="3400" dirty="0" smtClean="0"/>
              <a:t>а также по аксиомам </a:t>
            </a:r>
            <a:r>
              <a:rPr lang="ru-RU" sz="3400" dirty="0" err="1" smtClean="0"/>
              <a:t>Армстронга</a:t>
            </a:r>
            <a:r>
              <a:rPr lang="ru-RU" sz="3400" dirty="0" smtClean="0"/>
              <a:t>)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ClrTx/>
              <a:buSzPct val="80000"/>
              <a:buFont typeface="+mj-lt"/>
              <a:buAutoNum type="arabicPeriod"/>
            </a:pPr>
            <a:r>
              <a:rPr lang="en-US" sz="3400" dirty="0" smtClean="0"/>
              <a:t>F</a:t>
            </a:r>
            <a:r>
              <a:rPr lang="en-US" sz="3400" baseline="30000" dirty="0" smtClean="0"/>
              <a:t>+ </a:t>
            </a:r>
            <a:r>
              <a:rPr lang="en-US" sz="3400" dirty="0" smtClean="0"/>
              <a:t>- </a:t>
            </a:r>
            <a:r>
              <a:rPr lang="ru-RU" sz="3400" dirty="0" smtClean="0"/>
              <a:t>множество зависимостей, следующих из </a:t>
            </a:r>
            <a:r>
              <a:rPr lang="en-US" sz="3400" dirty="0" smtClean="0"/>
              <a:t>F</a:t>
            </a:r>
            <a:r>
              <a:rPr lang="ru-RU" sz="3400" dirty="0" smtClean="0"/>
              <a:t> по аксиомам </a:t>
            </a:r>
            <a:r>
              <a:rPr lang="ru-RU" sz="3400" dirty="0" err="1" smtClean="0"/>
              <a:t>Армстронга</a:t>
            </a:r>
            <a:r>
              <a:rPr lang="ru-RU" sz="3400" dirty="0" smtClean="0"/>
              <a:t> (вместо логически следующих из </a:t>
            </a:r>
            <a:r>
              <a:rPr lang="en-US" sz="3400" dirty="0" smtClean="0"/>
              <a:t>F)</a:t>
            </a:r>
            <a:endParaRPr lang="ru-RU" sz="3400" dirty="0" smtClean="0"/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None/>
            </a:pPr>
            <a:r>
              <a:rPr lang="ru-RU" sz="3400" dirty="0" smtClean="0"/>
              <a:t>У нас появляется </a:t>
            </a:r>
            <a:r>
              <a:rPr lang="ru-RU" sz="3400" u="sng" dirty="0" smtClean="0"/>
              <a:t>конструктивный алгоритм</a:t>
            </a:r>
            <a:r>
              <a:rPr lang="ru-RU" sz="3400" dirty="0" smtClean="0"/>
              <a:t>, позволяющий проверять является ли ФЗ</a:t>
            </a:r>
            <a:r>
              <a:rPr lang="en-US" sz="3400" dirty="0" smtClean="0"/>
              <a:t> </a:t>
            </a:r>
            <a:r>
              <a:rPr lang="ru-RU" sz="3400" dirty="0" smtClean="0"/>
              <a:t>Х</a:t>
            </a:r>
            <a:r>
              <a:rPr lang="en-US" sz="3400" dirty="0" smtClean="0">
                <a:sym typeface="Symbol"/>
              </a:rPr>
              <a:t>Y</a:t>
            </a:r>
            <a:r>
              <a:rPr lang="ru-RU" sz="3400" dirty="0" smtClean="0">
                <a:sym typeface="Symbol"/>
              </a:rPr>
              <a:t> логически выводимой ( </a:t>
            </a:r>
            <a:r>
              <a:rPr lang="ru-RU" sz="3400" dirty="0" err="1" smtClean="0">
                <a:sym typeface="Symbol"/>
              </a:rPr>
              <a:t>выводимой</a:t>
            </a:r>
            <a:r>
              <a:rPr lang="ru-RU" sz="3400" dirty="0" smtClean="0">
                <a:sym typeface="Symbol"/>
              </a:rPr>
              <a:t> по аксиомам </a:t>
            </a:r>
            <a:r>
              <a:rPr lang="ru-RU" sz="3400" dirty="0" err="1" smtClean="0">
                <a:sym typeface="Symbol"/>
              </a:rPr>
              <a:t>Армстронга</a:t>
            </a:r>
            <a:r>
              <a:rPr lang="ru-RU" sz="3400" dirty="0" smtClean="0">
                <a:sym typeface="Symbol"/>
              </a:rPr>
              <a:t> ) из множества функциональных зависимостей </a:t>
            </a:r>
            <a:r>
              <a:rPr lang="en-US" sz="3400" dirty="0" smtClean="0">
                <a:sym typeface="Symbol"/>
              </a:rPr>
              <a:t>F</a:t>
            </a:r>
            <a:r>
              <a:rPr lang="ru-RU" sz="3400" dirty="0" smtClean="0">
                <a:sym typeface="Symbol"/>
              </a:rPr>
              <a:t> уже определенных на отношении </a:t>
            </a:r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None/>
            </a:pPr>
            <a:r>
              <a:rPr lang="ru-RU" sz="3400" dirty="0" smtClean="0">
                <a:solidFill>
                  <a:schemeClr val="accent1">
                    <a:lumMod val="50000"/>
                  </a:schemeClr>
                </a:solidFill>
              </a:rPr>
              <a:t>Таким образом, </a:t>
            </a:r>
            <a:r>
              <a:rPr lang="ru-RU" sz="3400" b="1" dirty="0" smtClean="0">
                <a:solidFill>
                  <a:schemeClr val="accent1">
                    <a:lumMod val="50000"/>
                  </a:schemeClr>
                </a:solidFill>
              </a:rPr>
              <a:t>можно проверить является </a:t>
            </a:r>
            <a:r>
              <a:rPr lang="ru-RU" sz="3400" dirty="0" smtClean="0">
                <a:solidFill>
                  <a:schemeClr val="accent1">
                    <a:lumMod val="50000"/>
                  </a:schemeClr>
                </a:solidFill>
              </a:rPr>
              <a:t>ли некоторый набор атрибутов </a:t>
            </a:r>
            <a:r>
              <a:rPr lang="ru-RU" sz="3400" b="1" dirty="0" smtClean="0">
                <a:solidFill>
                  <a:schemeClr val="accent1">
                    <a:lumMod val="50000"/>
                  </a:schemeClr>
                </a:solidFill>
              </a:rPr>
              <a:t>ключом</a:t>
            </a:r>
            <a:r>
              <a:rPr lang="en-US" sz="3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3400" b="1" dirty="0" smtClean="0">
                <a:solidFill>
                  <a:schemeClr val="accent1">
                    <a:lumMod val="50000"/>
                  </a:schemeClr>
                </a:solidFill>
              </a:rPr>
              <a:t>отношения</a:t>
            </a:r>
            <a:r>
              <a:rPr lang="ru-RU" sz="3400" dirty="0" smtClean="0">
                <a:solidFill>
                  <a:schemeClr val="accent1">
                    <a:lumMod val="50000"/>
                  </a:schemeClr>
                </a:solidFill>
              </a:rPr>
              <a:t>, или находится ли отношение в </a:t>
            </a:r>
            <a:r>
              <a:rPr lang="ru-RU" sz="3400" b="1" dirty="0" smtClean="0">
                <a:solidFill>
                  <a:schemeClr val="accent1">
                    <a:lumMod val="50000"/>
                  </a:schemeClr>
                </a:solidFill>
              </a:rPr>
              <a:t>нормальной форме.</a:t>
            </a:r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FontTx/>
              <a:buChar char="-"/>
            </a:pPr>
            <a:endParaRPr lang="ru-RU" dirty="0" smtClean="0"/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FontTx/>
              <a:buChar char="-"/>
            </a:pPr>
            <a:endParaRPr lang="ru-RU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 smtClean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928670"/>
            <a:ext cx="8715436" cy="5500726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Декомпозиция отношений – разбиение  отношения на несколько других.</a:t>
            </a:r>
          </a:p>
          <a:p>
            <a:pPr>
              <a:buNone/>
            </a:pPr>
            <a:r>
              <a:rPr lang="en-US" sz="2800" dirty="0" smtClean="0"/>
              <a:t>R (</a:t>
            </a:r>
            <a:r>
              <a:rPr lang="ru-RU" sz="2800" dirty="0" smtClean="0"/>
              <a:t>А</a:t>
            </a:r>
            <a:r>
              <a:rPr lang="ru-RU" sz="2800" baseline="-25000" dirty="0" smtClean="0"/>
              <a:t>1</a:t>
            </a:r>
            <a:r>
              <a:rPr lang="ru-RU" sz="2800" dirty="0" smtClean="0"/>
              <a:t>, А</a:t>
            </a:r>
            <a:r>
              <a:rPr lang="ru-RU" sz="2800" baseline="-25000" dirty="0" smtClean="0"/>
              <a:t>2</a:t>
            </a:r>
            <a:r>
              <a:rPr lang="ru-RU" sz="2800" dirty="0" smtClean="0"/>
              <a:t>, </a:t>
            </a:r>
            <a:r>
              <a:rPr lang="en-US" sz="2800" dirty="0" smtClean="0"/>
              <a:t>… A</a:t>
            </a:r>
            <a:r>
              <a:rPr lang="en-US" sz="2800" baseline="-25000" dirty="0" smtClean="0"/>
              <a:t>n </a:t>
            </a:r>
            <a:r>
              <a:rPr lang="en-US" sz="2800" dirty="0" smtClean="0"/>
              <a:t>)</a:t>
            </a:r>
            <a:r>
              <a:rPr lang="ru-RU" sz="2800" dirty="0" smtClean="0"/>
              <a:t> разбивается на </a:t>
            </a:r>
            <a:r>
              <a:rPr lang="en-US" sz="2800" dirty="0" smtClean="0"/>
              <a:t> 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>         </a:t>
            </a:r>
            <a:r>
              <a:rPr lang="en-US" sz="2800" dirty="0" smtClean="0"/>
              <a:t>S (</a:t>
            </a:r>
            <a:r>
              <a:rPr lang="en-US" sz="2800" dirty="0" smtClean="0">
                <a:sym typeface="Symbol"/>
              </a:rPr>
              <a:t>B</a:t>
            </a:r>
            <a:r>
              <a:rPr lang="en-US" sz="2800" baseline="-25000" dirty="0" smtClean="0">
                <a:sym typeface="Symbol"/>
              </a:rPr>
              <a:t>1</a:t>
            </a:r>
            <a:r>
              <a:rPr lang="en-US" sz="2800" dirty="0" smtClean="0">
                <a:sym typeface="Symbol"/>
              </a:rPr>
              <a:t>,B</a:t>
            </a:r>
            <a:r>
              <a:rPr lang="en-US" sz="2800" baseline="-25000" dirty="0" smtClean="0">
                <a:sym typeface="Symbol"/>
              </a:rPr>
              <a:t>2</a:t>
            </a:r>
            <a:r>
              <a:rPr lang="en-US" sz="2800" dirty="0" smtClean="0">
                <a:sym typeface="Symbol"/>
              </a:rPr>
              <a:t>, …</a:t>
            </a:r>
            <a:r>
              <a:rPr lang="en-US" sz="2800" dirty="0" err="1" smtClean="0">
                <a:sym typeface="Symbol"/>
              </a:rPr>
              <a:t>B</a:t>
            </a:r>
            <a:r>
              <a:rPr lang="en-US" sz="2800" baseline="-25000" dirty="0" err="1" smtClean="0">
                <a:sym typeface="Symbol"/>
              </a:rPr>
              <a:t>m</a:t>
            </a:r>
            <a:r>
              <a:rPr lang="en-US" sz="2800" baseline="-25000" dirty="0" smtClean="0">
                <a:sym typeface="Symbol"/>
              </a:rPr>
              <a:t> </a:t>
            </a:r>
            <a:r>
              <a:rPr lang="en-US" sz="2800" dirty="0" smtClean="0">
                <a:sym typeface="Symbol"/>
              </a:rPr>
              <a:t>) </a:t>
            </a:r>
            <a:r>
              <a:rPr lang="ru-RU" sz="2800" dirty="0" smtClean="0">
                <a:sym typeface="Symbol"/>
              </a:rPr>
              <a:t>и </a:t>
            </a:r>
            <a:r>
              <a:rPr lang="en-US" sz="2800" dirty="0" smtClean="0">
                <a:sym typeface="Symbol"/>
              </a:rPr>
              <a:t>T(C</a:t>
            </a:r>
            <a:r>
              <a:rPr lang="en-US" sz="2800" baseline="-25000" dirty="0" smtClean="0">
                <a:sym typeface="Symbol"/>
              </a:rPr>
              <a:t>1</a:t>
            </a:r>
            <a:r>
              <a:rPr lang="en-US" sz="2800" dirty="0" smtClean="0">
                <a:sym typeface="Symbol"/>
              </a:rPr>
              <a:t>,C</a:t>
            </a:r>
            <a:r>
              <a:rPr lang="en-US" sz="2800" baseline="-25000" dirty="0" smtClean="0">
                <a:sym typeface="Symbol"/>
              </a:rPr>
              <a:t>2</a:t>
            </a:r>
            <a:r>
              <a:rPr lang="en-US" sz="2800" dirty="0" smtClean="0">
                <a:sym typeface="Symbol"/>
              </a:rPr>
              <a:t>, …C</a:t>
            </a:r>
            <a:r>
              <a:rPr lang="en-US" sz="2800" baseline="-25000" dirty="0" smtClean="0">
                <a:sym typeface="Symbol"/>
              </a:rPr>
              <a:t>k </a:t>
            </a:r>
            <a:r>
              <a:rPr lang="en-US" sz="2800" dirty="0" smtClean="0">
                <a:sym typeface="Symbol"/>
              </a:rPr>
              <a:t>)</a:t>
            </a:r>
            <a:r>
              <a:rPr lang="ru-RU" sz="2800" dirty="0" smtClean="0">
                <a:sym typeface="Symbol"/>
              </a:rPr>
              <a:t> если:</a:t>
            </a:r>
            <a:endParaRPr lang="en-US" sz="2800" dirty="0" smtClean="0">
              <a:sym typeface="Symbol"/>
            </a:endParaRPr>
          </a:p>
          <a:p>
            <a:pPr marL="514350" indent="-514350">
              <a:buClrTx/>
              <a:buSzPct val="80000"/>
              <a:buAutoNum type="arabicPeriod"/>
            </a:pPr>
            <a:r>
              <a:rPr lang="en-US" sz="2800" dirty="0" smtClean="0"/>
              <a:t>{</a:t>
            </a:r>
            <a:r>
              <a:rPr lang="ru-RU" sz="2800" dirty="0" smtClean="0"/>
              <a:t>А</a:t>
            </a:r>
            <a:r>
              <a:rPr lang="ru-RU" sz="2800" baseline="-25000" dirty="0" smtClean="0"/>
              <a:t>1</a:t>
            </a:r>
            <a:r>
              <a:rPr lang="ru-RU" sz="2800" dirty="0" smtClean="0"/>
              <a:t>, А</a:t>
            </a:r>
            <a:r>
              <a:rPr lang="ru-RU" sz="2800" baseline="-25000" dirty="0" smtClean="0"/>
              <a:t>2</a:t>
            </a:r>
            <a:r>
              <a:rPr lang="ru-RU" sz="2800" dirty="0" smtClean="0"/>
              <a:t>, </a:t>
            </a:r>
            <a:r>
              <a:rPr lang="en-US" sz="2800" dirty="0" smtClean="0"/>
              <a:t>… A</a:t>
            </a:r>
            <a:r>
              <a:rPr lang="en-US" sz="2800" baseline="-25000" dirty="0" smtClean="0"/>
              <a:t>n </a:t>
            </a:r>
            <a:r>
              <a:rPr lang="en-US" sz="2800" dirty="0" smtClean="0"/>
              <a:t>} = {</a:t>
            </a:r>
            <a:r>
              <a:rPr lang="en-US" sz="2800" dirty="0" smtClean="0">
                <a:sym typeface="Symbol"/>
              </a:rPr>
              <a:t>B</a:t>
            </a:r>
            <a:r>
              <a:rPr lang="en-US" sz="2800" baseline="-25000" dirty="0" smtClean="0">
                <a:sym typeface="Symbol"/>
              </a:rPr>
              <a:t>1</a:t>
            </a:r>
            <a:r>
              <a:rPr lang="en-US" sz="2800" dirty="0" smtClean="0">
                <a:sym typeface="Symbol"/>
              </a:rPr>
              <a:t>,B</a:t>
            </a:r>
            <a:r>
              <a:rPr lang="en-US" sz="2800" baseline="-25000" dirty="0" smtClean="0">
                <a:sym typeface="Symbol"/>
              </a:rPr>
              <a:t>2</a:t>
            </a:r>
            <a:r>
              <a:rPr lang="en-US" sz="2800" dirty="0" smtClean="0">
                <a:sym typeface="Symbol"/>
              </a:rPr>
              <a:t>, …</a:t>
            </a:r>
            <a:r>
              <a:rPr lang="en-US" sz="2800" dirty="0" err="1" smtClean="0">
                <a:sym typeface="Symbol"/>
              </a:rPr>
              <a:t>B</a:t>
            </a:r>
            <a:r>
              <a:rPr lang="en-US" sz="2800" baseline="-25000" dirty="0" err="1" smtClean="0">
                <a:sym typeface="Symbol"/>
              </a:rPr>
              <a:t>m</a:t>
            </a:r>
            <a:r>
              <a:rPr lang="en-US" sz="2800" baseline="-25000" dirty="0" smtClean="0">
                <a:sym typeface="Symbol"/>
              </a:rPr>
              <a:t> </a:t>
            </a:r>
            <a:r>
              <a:rPr lang="en-US" sz="2800" dirty="0" smtClean="0">
                <a:sym typeface="Symbol"/>
              </a:rPr>
              <a:t>} </a:t>
            </a:r>
            <a:r>
              <a:rPr lang="en-US" sz="2800" b="1" dirty="0" smtClean="0">
                <a:sym typeface="Symbol"/>
              </a:rPr>
              <a:t></a:t>
            </a:r>
            <a:r>
              <a:rPr lang="en-US" sz="2800" dirty="0" smtClean="0">
                <a:sym typeface="Symbol"/>
              </a:rPr>
              <a:t> {C</a:t>
            </a:r>
            <a:r>
              <a:rPr lang="en-US" sz="2800" baseline="-25000" dirty="0" smtClean="0">
                <a:sym typeface="Symbol"/>
              </a:rPr>
              <a:t>1</a:t>
            </a:r>
            <a:r>
              <a:rPr lang="en-US" sz="2800" dirty="0" smtClean="0">
                <a:sym typeface="Symbol"/>
              </a:rPr>
              <a:t>,C</a:t>
            </a:r>
            <a:r>
              <a:rPr lang="en-US" sz="2800" baseline="-25000" dirty="0" smtClean="0">
                <a:sym typeface="Symbol"/>
              </a:rPr>
              <a:t>2</a:t>
            </a:r>
            <a:r>
              <a:rPr lang="en-US" sz="2800" dirty="0" smtClean="0">
                <a:sym typeface="Symbol"/>
              </a:rPr>
              <a:t>, …C</a:t>
            </a:r>
            <a:r>
              <a:rPr lang="en-US" sz="2800" baseline="-25000" dirty="0" smtClean="0">
                <a:sym typeface="Symbol"/>
              </a:rPr>
              <a:t>k </a:t>
            </a:r>
            <a:r>
              <a:rPr lang="en-US" sz="2800" dirty="0" smtClean="0">
                <a:sym typeface="Symbol"/>
              </a:rPr>
              <a:t>}</a:t>
            </a:r>
          </a:p>
          <a:p>
            <a:pPr marL="514350" indent="-514350">
              <a:buClrTx/>
              <a:buSzPct val="80000"/>
              <a:buAutoNum type="arabicPeriod"/>
            </a:pPr>
            <a:r>
              <a:rPr lang="ru-RU" sz="2800" dirty="0" smtClean="0"/>
              <a:t>Кортежи </a:t>
            </a:r>
            <a:r>
              <a:rPr lang="en-US" sz="2800" dirty="0" smtClean="0"/>
              <a:t>S </a:t>
            </a:r>
            <a:r>
              <a:rPr lang="ru-RU" sz="2800" dirty="0" smtClean="0"/>
              <a:t>являются проекцией кортежей</a:t>
            </a:r>
            <a:r>
              <a:rPr lang="en-US" sz="2800" dirty="0" smtClean="0"/>
              <a:t> R </a:t>
            </a:r>
            <a:r>
              <a:rPr lang="ru-RU" sz="2800" dirty="0" smtClean="0"/>
              <a:t>на атрибуты </a:t>
            </a:r>
            <a:r>
              <a:rPr lang="en-US" sz="2800" dirty="0" smtClean="0">
                <a:sym typeface="Symbol"/>
              </a:rPr>
              <a:t>B</a:t>
            </a:r>
            <a:r>
              <a:rPr lang="en-US" sz="2800" baseline="-25000" dirty="0" smtClean="0">
                <a:sym typeface="Symbol"/>
              </a:rPr>
              <a:t>1</a:t>
            </a:r>
            <a:r>
              <a:rPr lang="en-US" sz="2800" dirty="0" smtClean="0">
                <a:sym typeface="Symbol"/>
              </a:rPr>
              <a:t>,B</a:t>
            </a:r>
            <a:r>
              <a:rPr lang="en-US" sz="2800" baseline="-25000" dirty="0" smtClean="0">
                <a:sym typeface="Symbol"/>
              </a:rPr>
              <a:t>2</a:t>
            </a:r>
            <a:r>
              <a:rPr lang="en-US" sz="2800" dirty="0" smtClean="0">
                <a:sym typeface="Symbol"/>
              </a:rPr>
              <a:t>, …</a:t>
            </a:r>
            <a:r>
              <a:rPr lang="en-US" sz="2800" dirty="0" err="1" smtClean="0">
                <a:sym typeface="Symbol"/>
              </a:rPr>
              <a:t>B</a:t>
            </a:r>
            <a:r>
              <a:rPr lang="en-US" sz="2800" baseline="-25000" dirty="0" err="1" smtClean="0">
                <a:sym typeface="Symbol"/>
              </a:rPr>
              <a:t>m</a:t>
            </a:r>
            <a:r>
              <a:rPr lang="en-US" sz="2800" baseline="-25000" dirty="0" smtClean="0">
                <a:sym typeface="Symbol"/>
              </a:rPr>
              <a:t> </a:t>
            </a:r>
            <a:r>
              <a:rPr lang="ru-RU" sz="2800" baseline="-25000" dirty="0" smtClean="0">
                <a:sym typeface="Symbol"/>
              </a:rPr>
              <a:t>    </a:t>
            </a:r>
          </a:p>
          <a:p>
            <a:pPr marL="514350" indent="-514350">
              <a:buClrTx/>
              <a:buSzPct val="80000"/>
              <a:buFont typeface="Wingdings" pitchFamily="2" charset="2"/>
              <a:buAutoNum type="arabicPeriod"/>
            </a:pPr>
            <a:r>
              <a:rPr lang="ru-RU" sz="2800" dirty="0" smtClean="0"/>
              <a:t>Кортежи </a:t>
            </a:r>
            <a:r>
              <a:rPr lang="en-US" sz="2800" dirty="0" smtClean="0"/>
              <a:t>T </a:t>
            </a:r>
            <a:r>
              <a:rPr lang="ru-RU" sz="2800" dirty="0" smtClean="0"/>
              <a:t>являются проекцией кортежей</a:t>
            </a:r>
            <a:r>
              <a:rPr lang="en-US" sz="2800" dirty="0" smtClean="0"/>
              <a:t> R </a:t>
            </a:r>
            <a:r>
              <a:rPr lang="ru-RU" sz="2800" dirty="0" smtClean="0"/>
              <a:t>на атрибуты </a:t>
            </a:r>
            <a:r>
              <a:rPr lang="en-US" sz="2800" dirty="0" smtClean="0">
                <a:sym typeface="Symbol"/>
              </a:rPr>
              <a:t>C</a:t>
            </a:r>
            <a:r>
              <a:rPr lang="en-US" sz="2800" baseline="-25000" dirty="0" smtClean="0">
                <a:sym typeface="Symbol"/>
              </a:rPr>
              <a:t>1</a:t>
            </a:r>
            <a:r>
              <a:rPr lang="en-US" sz="2800" dirty="0" smtClean="0">
                <a:sym typeface="Symbol"/>
              </a:rPr>
              <a:t>,C</a:t>
            </a:r>
            <a:r>
              <a:rPr lang="en-US" sz="2800" baseline="-25000" dirty="0" smtClean="0">
                <a:sym typeface="Symbol"/>
              </a:rPr>
              <a:t>2</a:t>
            </a:r>
            <a:r>
              <a:rPr lang="en-US" sz="2800" dirty="0" smtClean="0">
                <a:sym typeface="Symbol"/>
              </a:rPr>
              <a:t>, …C</a:t>
            </a:r>
            <a:r>
              <a:rPr lang="en-US" sz="2800" baseline="-25000" dirty="0" smtClean="0">
                <a:sym typeface="Symbol"/>
              </a:rPr>
              <a:t>k </a:t>
            </a:r>
            <a:endParaRPr lang="ru-RU" sz="2800" baseline="-25000" dirty="0" smtClean="0">
              <a:sym typeface="Symbol"/>
            </a:endParaRPr>
          </a:p>
          <a:p>
            <a:pPr marL="514350" indent="-514350">
              <a:buClrTx/>
              <a:buSzPct val="80000"/>
              <a:buFont typeface="Wingdings" pitchFamily="2" charset="2"/>
              <a:buAutoNum type="arabicPeriod"/>
            </a:pPr>
            <a:r>
              <a:rPr lang="ru-RU" sz="2800" dirty="0" smtClean="0">
                <a:sym typeface="Symbol"/>
              </a:rPr>
              <a:t>При этом необходимо, чтобы </a:t>
            </a:r>
            <a:endParaRPr lang="en-US" sz="2800" dirty="0" smtClean="0">
              <a:sym typeface="Symbol"/>
            </a:endParaRPr>
          </a:p>
          <a:p>
            <a:pPr marL="514350" indent="-514350">
              <a:buClrTx/>
              <a:buSzPct val="80000"/>
              <a:buNone/>
            </a:pPr>
            <a:r>
              <a:rPr lang="en-US" sz="2800" dirty="0" smtClean="0"/>
              <a:t>R (</a:t>
            </a:r>
            <a:r>
              <a:rPr lang="ru-RU" sz="2800" dirty="0" smtClean="0"/>
              <a:t>А</a:t>
            </a:r>
            <a:r>
              <a:rPr lang="ru-RU" sz="2800" baseline="-25000" dirty="0" smtClean="0"/>
              <a:t>1</a:t>
            </a:r>
            <a:r>
              <a:rPr lang="ru-RU" sz="2800" dirty="0" smtClean="0"/>
              <a:t>, А</a:t>
            </a:r>
            <a:r>
              <a:rPr lang="ru-RU" sz="2800" baseline="-25000" dirty="0" smtClean="0"/>
              <a:t>2</a:t>
            </a:r>
            <a:r>
              <a:rPr lang="ru-RU" sz="2800" dirty="0" smtClean="0"/>
              <a:t>, </a:t>
            </a:r>
            <a:r>
              <a:rPr lang="en-US" sz="2800" dirty="0" smtClean="0"/>
              <a:t>… A</a:t>
            </a:r>
            <a:r>
              <a:rPr lang="en-US" sz="2800" baseline="-25000" dirty="0" smtClean="0"/>
              <a:t>n </a:t>
            </a:r>
            <a:r>
              <a:rPr lang="en-US" sz="2800" dirty="0" smtClean="0"/>
              <a:t>)</a:t>
            </a:r>
            <a:r>
              <a:rPr lang="ru-RU" sz="2800" dirty="0" smtClean="0"/>
              <a:t> </a:t>
            </a:r>
            <a:r>
              <a:rPr lang="en-US" sz="2800" dirty="0" smtClean="0"/>
              <a:t>= S (</a:t>
            </a:r>
            <a:r>
              <a:rPr lang="en-US" sz="2800" dirty="0" smtClean="0">
                <a:sym typeface="Symbol"/>
              </a:rPr>
              <a:t>B</a:t>
            </a:r>
            <a:r>
              <a:rPr lang="en-US" sz="2800" baseline="-25000" dirty="0" smtClean="0">
                <a:sym typeface="Symbol"/>
              </a:rPr>
              <a:t>1</a:t>
            </a:r>
            <a:r>
              <a:rPr lang="en-US" sz="2800" dirty="0" smtClean="0">
                <a:sym typeface="Symbol"/>
              </a:rPr>
              <a:t>,B</a:t>
            </a:r>
            <a:r>
              <a:rPr lang="en-US" sz="2800" baseline="-25000" dirty="0" smtClean="0">
                <a:sym typeface="Symbol"/>
              </a:rPr>
              <a:t>2</a:t>
            </a:r>
            <a:r>
              <a:rPr lang="en-US" sz="2800" dirty="0" smtClean="0">
                <a:sym typeface="Symbol"/>
              </a:rPr>
              <a:t>, …</a:t>
            </a:r>
            <a:r>
              <a:rPr lang="en-US" sz="2800" dirty="0" err="1" smtClean="0">
                <a:sym typeface="Symbol"/>
              </a:rPr>
              <a:t>B</a:t>
            </a:r>
            <a:r>
              <a:rPr lang="en-US" sz="2800" baseline="-25000" dirty="0" err="1" smtClean="0">
                <a:sym typeface="Symbol"/>
              </a:rPr>
              <a:t>m</a:t>
            </a:r>
            <a:r>
              <a:rPr lang="en-US" sz="2800" baseline="-25000" dirty="0" smtClean="0">
                <a:sym typeface="Symbol"/>
              </a:rPr>
              <a:t> </a:t>
            </a:r>
            <a:r>
              <a:rPr lang="en-US" sz="2800" dirty="0" smtClean="0">
                <a:sym typeface="Symbol"/>
              </a:rPr>
              <a:t>)     </a:t>
            </a:r>
            <a:r>
              <a:rPr lang="en-US" sz="2800" dirty="0" smtClean="0">
                <a:sym typeface="Symbol"/>
              </a:rPr>
              <a:t> T(C</a:t>
            </a:r>
            <a:r>
              <a:rPr lang="en-US" sz="2800" baseline="-25000" dirty="0" smtClean="0">
                <a:sym typeface="Symbol"/>
              </a:rPr>
              <a:t>1</a:t>
            </a:r>
            <a:r>
              <a:rPr lang="en-US" sz="2800" dirty="0" smtClean="0">
                <a:sym typeface="Symbol"/>
              </a:rPr>
              <a:t>,C</a:t>
            </a:r>
            <a:r>
              <a:rPr lang="en-US" sz="2800" baseline="-25000" dirty="0" smtClean="0">
                <a:sym typeface="Symbol"/>
              </a:rPr>
              <a:t>2</a:t>
            </a:r>
            <a:r>
              <a:rPr lang="en-US" sz="2800" dirty="0" smtClean="0">
                <a:sym typeface="Symbol"/>
              </a:rPr>
              <a:t>, …C</a:t>
            </a:r>
            <a:r>
              <a:rPr lang="en-US" sz="2800" baseline="-25000" dirty="0" smtClean="0">
                <a:sym typeface="Symbol"/>
              </a:rPr>
              <a:t>k </a:t>
            </a:r>
            <a:r>
              <a:rPr lang="en-US" sz="2800" dirty="0" smtClean="0">
                <a:sym typeface="Symbol"/>
              </a:rPr>
              <a:t>)</a:t>
            </a:r>
            <a:r>
              <a:rPr lang="ru-RU" sz="2800" dirty="0" smtClean="0">
                <a:sym typeface="Symbol"/>
              </a:rPr>
              <a:t> </a:t>
            </a:r>
          </a:p>
          <a:p>
            <a:pPr marL="514350" indent="-514350">
              <a:buClrTx/>
              <a:buSzPct val="80000"/>
              <a:buNone/>
            </a:pPr>
            <a:endParaRPr lang="ru-RU" sz="2800" dirty="0" smtClean="0"/>
          </a:p>
          <a:p>
            <a:pPr marL="514350" indent="-514350">
              <a:buClrTx/>
              <a:buSzPct val="80000"/>
              <a:buAutoNum type="arabicPeriod"/>
            </a:pPr>
            <a:endParaRPr lang="ru-RU" sz="28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defRPr/>
            </a:pPr>
            <a:r>
              <a:rPr lang="ru-RU" sz="3200" dirty="0" smtClean="0">
                <a:solidFill>
                  <a:schemeClr val="bg2"/>
                </a:solidFill>
              </a:rPr>
              <a:t>Декомпозиция отношений</a:t>
            </a:r>
            <a:endParaRPr kumimoji="0" lang="ru-RU" sz="3200" b="0" i="0" u="none" strike="noStrike" kern="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5832140" y="6039290"/>
            <a:ext cx="442745" cy="224840"/>
            <a:chOff x="1763688" y="1412776"/>
            <a:chExt cx="442745" cy="224840"/>
          </a:xfrm>
        </p:grpSpPr>
        <p:sp>
          <p:nvSpPr>
            <p:cNvPr id="7" name="Равнобедренный треугольник 6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Равнобедренный треугольник 7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47147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Декомпозиция отношения «Проекты»</a:t>
            </a:r>
            <a:endParaRPr lang="ru-RU" sz="3600" dirty="0">
              <a:solidFill>
                <a:schemeClr val="bg2"/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85720" y="785794"/>
          <a:ext cx="8572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92882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71451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968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dirty="0" smtClean="0">
                          <a:sym typeface="Symbol"/>
                        </a:rPr>
                        <a:t>N</a:t>
                      </a:r>
                      <a:r>
                        <a:rPr lang="ru-RU" sz="1400" b="0" u="none" dirty="0" err="1" smtClean="0">
                          <a:sym typeface="Symbol"/>
                        </a:rPr>
                        <a:t>_проекта</a:t>
                      </a:r>
                      <a:endParaRPr lang="ru-RU" sz="1400" b="0" u="non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dirty="0" smtClean="0">
                          <a:sym typeface="Symbol"/>
                        </a:rPr>
                        <a:t>N</a:t>
                      </a:r>
                      <a:r>
                        <a:rPr lang="ru-RU" sz="1400" b="0" u="none" dirty="0" err="1" smtClean="0">
                          <a:sym typeface="Symbol"/>
                        </a:rPr>
                        <a:t>_сотр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dirty="0" smtClean="0">
                          <a:sym typeface="Symbol"/>
                        </a:rPr>
                        <a:t>N_</a:t>
                      </a:r>
                      <a:r>
                        <a:rPr lang="ru-RU" sz="1400" b="0" u="none" dirty="0" err="1" smtClean="0">
                          <a:sym typeface="Symbol"/>
                        </a:rPr>
                        <a:t>эт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 smtClean="0">
                          <a:sym typeface="Symbol"/>
                        </a:rPr>
                        <a:t>Дата_нач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 smtClean="0">
                          <a:sym typeface="Symbol"/>
                        </a:rPr>
                        <a:t>Дата_кон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 smtClean="0">
                          <a:sym typeface="Symbol"/>
                        </a:rPr>
                        <a:t>Назв_проекта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ym typeface="Symbol"/>
                        </a:rPr>
                        <a:t>N_</a:t>
                      </a:r>
                      <a:r>
                        <a:rPr lang="ru-RU" sz="1400" b="0" dirty="0" smtClean="0">
                          <a:sym typeface="Symbol"/>
                        </a:rPr>
                        <a:t>отдела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 smtClean="0">
                          <a:sym typeface="Symbol"/>
                        </a:rPr>
                        <a:t>Назв_отдела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250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12-08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1104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1.01.2012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31.03.2012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Лексический анализ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Разработки</a:t>
                      </a:r>
                      <a:r>
                        <a:rPr lang="ru-RU" sz="1600" baseline="0" dirty="0" smtClean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250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12-08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1105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1.01.2012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31.03.2012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Лексический анализ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Разработки</a:t>
                      </a:r>
                      <a:r>
                        <a:rPr lang="ru-RU" sz="1600" baseline="0" dirty="0" smtClean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250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12-09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1106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1.04.2012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30.06.2012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Синтаксический</a:t>
                      </a:r>
                      <a:r>
                        <a:rPr lang="ru-RU" sz="1600" baseline="0" dirty="0" smtClean="0"/>
                        <a:t> </a:t>
                      </a:r>
                      <a:r>
                        <a:rPr lang="ru-RU" sz="1600" dirty="0" smtClean="0"/>
                        <a:t> анализ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Разработки</a:t>
                      </a:r>
                      <a:r>
                        <a:rPr lang="ru-RU" sz="1600" baseline="0" dirty="0" smtClean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250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12-09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1107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1.04.2012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30.06.2012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Синтаксический</a:t>
                      </a:r>
                      <a:r>
                        <a:rPr lang="ru-RU" sz="1600" baseline="0" dirty="0" smtClean="0"/>
                        <a:t> </a:t>
                      </a:r>
                      <a:r>
                        <a:rPr lang="ru-RU" sz="1600" dirty="0" smtClean="0"/>
                        <a:t> анализ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Разработки</a:t>
                      </a:r>
                      <a:r>
                        <a:rPr lang="ru-RU" sz="1600" baseline="0" dirty="0" smtClean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643702" y="3786190"/>
          <a:ext cx="228601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716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u="none" dirty="0" smtClean="0">
                          <a:sym typeface="Symbol"/>
                        </a:rPr>
                        <a:t>N</a:t>
                      </a:r>
                      <a:r>
                        <a:rPr lang="ru-RU" sz="1400" b="0" u="none" dirty="0" err="1" smtClean="0">
                          <a:sym typeface="Symbol"/>
                        </a:rPr>
                        <a:t>_проекта</a:t>
                      </a:r>
                      <a:endParaRPr lang="ru-RU" sz="1400" b="0" u="non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 err="1" smtClean="0">
                          <a:sym typeface="Symbol"/>
                        </a:rPr>
                        <a:t>Назв_проекта</a:t>
                      </a:r>
                      <a:endParaRPr lang="ru-RU" sz="1400" b="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12-08</a:t>
                      </a:r>
                      <a:endParaRPr lang="ru-RU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Лексический анализ</a:t>
                      </a:r>
                      <a:endParaRPr lang="ru-RU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12-09</a:t>
                      </a:r>
                      <a:endParaRPr lang="ru-RU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Синтаксический</a:t>
                      </a:r>
                      <a:r>
                        <a:rPr lang="ru-RU" sz="1600" baseline="0" dirty="0" smtClean="0"/>
                        <a:t> </a:t>
                      </a:r>
                      <a:r>
                        <a:rPr lang="ru-RU" sz="1600" dirty="0" smtClean="0"/>
                        <a:t> анализ</a:t>
                      </a:r>
                      <a:endParaRPr lang="ru-RU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8" name="Содержимое 3"/>
          <p:cNvGraphicFramePr>
            <a:graphicFrameLocks/>
          </p:cNvGraphicFramePr>
          <p:nvPr/>
        </p:nvGraphicFramePr>
        <p:xfrm>
          <a:off x="214282" y="3786190"/>
          <a:ext cx="6143669" cy="288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6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06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986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793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9224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78595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r>
                        <a:rPr lang="en-US" sz="1200" b="0" u="none" dirty="0" smtClean="0">
                          <a:sym typeface="Symbol"/>
                        </a:rPr>
                        <a:t>N</a:t>
                      </a:r>
                      <a:r>
                        <a:rPr lang="ru-RU" sz="1200" b="0" u="none" dirty="0" err="1" smtClean="0">
                          <a:sym typeface="Symbol"/>
                        </a:rPr>
                        <a:t>_проекта</a:t>
                      </a:r>
                      <a:endParaRPr lang="ru-RU" sz="1200" b="0" u="non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dirty="0" smtClean="0">
                          <a:sym typeface="Symbol"/>
                        </a:rPr>
                        <a:t>N</a:t>
                      </a:r>
                      <a:r>
                        <a:rPr lang="ru-RU" sz="1200" b="0" u="none" dirty="0" err="1" smtClean="0">
                          <a:sym typeface="Symbol"/>
                        </a:rPr>
                        <a:t>_сотр</a:t>
                      </a:r>
                      <a:endParaRPr lang="ru-RU" sz="1200" b="0" u="none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dirty="0" smtClean="0">
                          <a:sym typeface="Symbol"/>
                        </a:rPr>
                        <a:t>N_</a:t>
                      </a:r>
                      <a:r>
                        <a:rPr lang="ru-RU" sz="1200" b="0" u="none" dirty="0" err="1" smtClean="0">
                          <a:sym typeface="Symbol"/>
                        </a:rPr>
                        <a:t>эт</a:t>
                      </a:r>
                      <a:endParaRPr lang="ru-RU" sz="1200" b="0" u="none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 err="1" smtClean="0">
                          <a:sym typeface="Symbol"/>
                        </a:rPr>
                        <a:t>Дата_нач</a:t>
                      </a:r>
                      <a:endParaRPr lang="ru-RU" sz="1200" b="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 err="1" smtClean="0">
                          <a:sym typeface="Symbol"/>
                        </a:rPr>
                        <a:t>Дата_кон</a:t>
                      </a:r>
                      <a:endParaRPr lang="ru-RU" sz="1200" b="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sym typeface="Symbol"/>
                        </a:rPr>
                        <a:t>N_</a:t>
                      </a:r>
                      <a:r>
                        <a:rPr lang="ru-RU" sz="1200" b="0" dirty="0" smtClean="0">
                          <a:sym typeface="Symbol"/>
                        </a:rPr>
                        <a:t>отдела</a:t>
                      </a:r>
                      <a:endParaRPr lang="ru-RU" sz="1200" b="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 err="1" smtClean="0">
                          <a:sym typeface="Symbol"/>
                        </a:rPr>
                        <a:t>Назв_отдела</a:t>
                      </a:r>
                      <a:endParaRPr lang="ru-RU" sz="1200" b="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0832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12-08</a:t>
                      </a:r>
                      <a:endParaRPr lang="ru-RU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1104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1.01.2012</a:t>
                      </a:r>
                      <a:endParaRPr lang="ru-RU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31.03.2012</a:t>
                      </a:r>
                      <a:endParaRPr lang="ru-RU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Разработки</a:t>
                      </a:r>
                      <a:r>
                        <a:rPr lang="ru-RU" sz="1600" baseline="0" dirty="0" smtClean="0"/>
                        <a:t> компиляторов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0832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12-08</a:t>
                      </a:r>
                      <a:endParaRPr lang="ru-RU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1105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1.01.2012</a:t>
                      </a:r>
                      <a:endParaRPr lang="ru-RU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31.03.2012</a:t>
                      </a:r>
                      <a:endParaRPr lang="ru-RU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Разработки</a:t>
                      </a:r>
                      <a:r>
                        <a:rPr lang="ru-RU" sz="1600" baseline="0" dirty="0" smtClean="0"/>
                        <a:t> компиляторов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0832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12-09</a:t>
                      </a:r>
                      <a:endParaRPr lang="ru-RU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1106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1.04.2012</a:t>
                      </a:r>
                      <a:endParaRPr lang="ru-RU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30.06.2012</a:t>
                      </a:r>
                      <a:endParaRPr lang="ru-RU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Разработки</a:t>
                      </a:r>
                      <a:r>
                        <a:rPr lang="ru-RU" sz="1600" baseline="0" dirty="0" smtClean="0"/>
                        <a:t> компиляторов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70832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12-09</a:t>
                      </a:r>
                      <a:endParaRPr lang="ru-RU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1107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1.04.2012</a:t>
                      </a:r>
                      <a:endParaRPr lang="ru-RU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30.06.2012</a:t>
                      </a:r>
                      <a:endParaRPr lang="ru-RU" sz="12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Разработки</a:t>
                      </a:r>
                      <a:r>
                        <a:rPr lang="ru-RU" sz="1600" baseline="0" dirty="0" smtClean="0"/>
                        <a:t> компиляторов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685784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Нормальные формы отношений (1)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rmAutofit fontScale="92500"/>
          </a:bodyPr>
          <a:lstStyle/>
          <a:p>
            <a:r>
              <a:rPr lang="ru-RU" sz="2400" b="1" dirty="0" smtClean="0"/>
              <a:t>Отношение </a:t>
            </a:r>
            <a:r>
              <a:rPr lang="en-US" sz="2400" b="1" dirty="0" smtClean="0"/>
              <a:t>R </a:t>
            </a:r>
            <a:r>
              <a:rPr lang="ru-RU" sz="2400" b="1" dirty="0" smtClean="0"/>
              <a:t>находится в 1</a:t>
            </a:r>
            <a:r>
              <a:rPr lang="en-US" sz="2400" b="1" dirty="0" smtClean="0"/>
              <a:t> </a:t>
            </a:r>
            <a:r>
              <a:rPr lang="ru-RU" sz="2400" b="1" dirty="0" smtClean="0"/>
              <a:t>НФ</a:t>
            </a:r>
            <a:r>
              <a:rPr lang="ru-RU" sz="2400" dirty="0" smtClean="0"/>
              <a:t>, если все атрибуты </a:t>
            </a:r>
            <a:r>
              <a:rPr lang="en-US" sz="2400" dirty="0" smtClean="0"/>
              <a:t>R </a:t>
            </a:r>
            <a:r>
              <a:rPr lang="ru-RU" sz="2400" dirty="0" smtClean="0"/>
              <a:t>определены на простых доменах. </a:t>
            </a:r>
            <a:br>
              <a:rPr lang="ru-RU" sz="2400" dirty="0" smtClean="0"/>
            </a:br>
            <a:r>
              <a:rPr lang="ru-RU" sz="2400" u="sng" dirty="0" smtClean="0"/>
              <a:t>Выполняется по определению</a:t>
            </a:r>
            <a:r>
              <a:rPr lang="ru-RU" sz="2400" dirty="0" smtClean="0"/>
              <a:t>.</a:t>
            </a:r>
          </a:p>
          <a:p>
            <a:r>
              <a:rPr lang="ru-RU" sz="2400" b="1" dirty="0" smtClean="0"/>
              <a:t>Отношение </a:t>
            </a:r>
            <a:r>
              <a:rPr lang="en-US" sz="2400" b="1" dirty="0" smtClean="0"/>
              <a:t>R </a:t>
            </a:r>
            <a:r>
              <a:rPr lang="ru-RU" sz="2400" b="1" dirty="0" smtClean="0"/>
              <a:t>находится в 2</a:t>
            </a:r>
            <a:r>
              <a:rPr lang="en-US" sz="2400" b="1" dirty="0" smtClean="0"/>
              <a:t> </a:t>
            </a:r>
            <a:r>
              <a:rPr lang="ru-RU" sz="2400" b="1" dirty="0" smtClean="0"/>
              <a:t>НФ</a:t>
            </a:r>
            <a:r>
              <a:rPr lang="ru-RU" sz="2400" dirty="0" smtClean="0"/>
              <a:t>, если оно находится в 1</a:t>
            </a:r>
            <a:r>
              <a:rPr lang="en-US" sz="2400" dirty="0" smtClean="0"/>
              <a:t> </a:t>
            </a:r>
            <a:r>
              <a:rPr lang="ru-RU" sz="2400" dirty="0" smtClean="0"/>
              <a:t>НФ и все </a:t>
            </a:r>
            <a:r>
              <a:rPr lang="ru-RU" sz="2400" dirty="0" err="1" smtClean="0"/>
              <a:t>неключевые</a:t>
            </a:r>
            <a:r>
              <a:rPr lang="ru-RU" sz="2400" dirty="0" smtClean="0"/>
              <a:t> атрибуты </a:t>
            </a:r>
            <a:r>
              <a:rPr lang="en-US" sz="2400" dirty="0" smtClean="0"/>
              <a:t>R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функционально полно зависят </a:t>
            </a:r>
            <a:r>
              <a:rPr lang="ru-RU" sz="2400" dirty="0" smtClean="0"/>
              <a:t>от ключа.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ru-RU" sz="2200" dirty="0" smtClean="0"/>
              <a:t>Множество атрибутов </a:t>
            </a:r>
            <a:r>
              <a:rPr lang="en-US" sz="2200" dirty="0" smtClean="0"/>
              <a:t>X</a:t>
            </a:r>
            <a:r>
              <a:rPr lang="ru-RU" sz="2200" dirty="0" smtClean="0"/>
              <a:t> </a:t>
            </a:r>
            <a:r>
              <a:rPr lang="ru-RU" sz="2200" dirty="0" smtClean="0">
                <a:solidFill>
                  <a:schemeClr val="accent1">
                    <a:lumMod val="50000"/>
                  </a:schemeClr>
                </a:solidFill>
              </a:rPr>
              <a:t>функционально полно зависит </a:t>
            </a:r>
            <a:r>
              <a:rPr lang="ru-RU" sz="2200" dirty="0" smtClean="0"/>
              <a:t>от ключа</a:t>
            </a:r>
            <a:r>
              <a:rPr lang="en-US" sz="2200" dirty="0" smtClean="0"/>
              <a:t> K</a:t>
            </a:r>
            <a:r>
              <a:rPr lang="ru-RU" sz="2200" dirty="0" smtClean="0"/>
              <a:t>, если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 smtClean="0"/>
              <a:t>имеется зависимость </a:t>
            </a:r>
            <a:r>
              <a:rPr lang="en-US" sz="2000" dirty="0" smtClean="0"/>
              <a:t>K </a:t>
            </a:r>
            <a:r>
              <a:rPr lang="en-US" sz="2000" dirty="0" smtClean="0">
                <a:sym typeface="Symbol"/>
              </a:rPr>
              <a:t></a:t>
            </a:r>
            <a:r>
              <a:rPr lang="ru-RU" sz="2000" dirty="0" smtClean="0">
                <a:sym typeface="Symbol"/>
              </a:rPr>
              <a:t> </a:t>
            </a:r>
            <a:r>
              <a:rPr lang="en-US" sz="2000" dirty="0" smtClean="0">
                <a:sym typeface="Symbol"/>
              </a:rPr>
              <a:t>X </a:t>
            </a:r>
            <a:r>
              <a:rPr lang="ru-RU" sz="2000" dirty="0" smtClean="0">
                <a:sym typeface="Symbol"/>
              </a:rPr>
              <a:t>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 smtClean="0">
                <a:sym typeface="Symbol"/>
              </a:rPr>
              <a:t> </a:t>
            </a:r>
            <a:r>
              <a:rPr lang="ru-RU" sz="2000" b="1" dirty="0" smtClean="0">
                <a:sym typeface="Symbol"/>
              </a:rPr>
              <a:t></a:t>
            </a:r>
            <a:r>
              <a:rPr lang="ru-RU" sz="2000" dirty="0" smtClean="0">
                <a:sym typeface="Symbol"/>
              </a:rPr>
              <a:t>  </a:t>
            </a:r>
            <a:r>
              <a:rPr lang="en-US" sz="2000" dirty="0" smtClean="0">
                <a:sym typeface="Symbol"/>
              </a:rPr>
              <a:t>Z</a:t>
            </a:r>
            <a:r>
              <a:rPr lang="ru-RU" sz="2000" dirty="0" smtClean="0">
                <a:sym typeface="Symbol"/>
              </a:rPr>
              <a:t> </a:t>
            </a:r>
            <a:r>
              <a:rPr lang="en-US" sz="2000" b="1" dirty="0" smtClean="0">
                <a:sym typeface="Symbol"/>
              </a:rPr>
              <a:t></a:t>
            </a:r>
            <a:r>
              <a:rPr lang="ru-RU" sz="2000" b="1" dirty="0" smtClean="0">
                <a:sym typeface="Symbol"/>
              </a:rPr>
              <a:t> </a:t>
            </a:r>
            <a:r>
              <a:rPr lang="en-US" sz="2000" dirty="0" smtClean="0"/>
              <a:t>K</a:t>
            </a:r>
            <a:r>
              <a:rPr lang="ru-RU" sz="2000" dirty="0" smtClean="0">
                <a:sym typeface="Symbol"/>
              </a:rPr>
              <a:t>, что </a:t>
            </a:r>
            <a:r>
              <a:rPr lang="en-US" sz="2000" dirty="0" smtClean="0">
                <a:sym typeface="Symbol"/>
              </a:rPr>
              <a:t>Z </a:t>
            </a:r>
            <a:r>
              <a:rPr lang="ru-RU" sz="2000" dirty="0" smtClean="0">
                <a:sym typeface="Symbol"/>
              </a:rPr>
              <a:t> </a:t>
            </a:r>
            <a:r>
              <a:rPr lang="en-US" sz="2000" dirty="0" smtClean="0">
                <a:sym typeface="Symbol"/>
              </a:rPr>
              <a:t>X</a:t>
            </a:r>
            <a:endParaRPr lang="ru-RU" sz="2000" dirty="0" smtClean="0">
              <a:sym typeface="Symbol"/>
            </a:endParaRPr>
          </a:p>
          <a:p>
            <a:pPr>
              <a:spcBef>
                <a:spcPts val="600"/>
              </a:spcBef>
              <a:buNone/>
            </a:pPr>
            <a:r>
              <a:rPr lang="ru-RU" sz="1800" b="1" dirty="0" smtClean="0">
                <a:sym typeface="Symbol"/>
              </a:rPr>
              <a:t>Проект(</a:t>
            </a:r>
            <a:r>
              <a:rPr lang="en-US" sz="1800" b="1" u="sng" dirty="0" smtClean="0">
                <a:sym typeface="Symbol"/>
              </a:rPr>
              <a:t>N</a:t>
            </a:r>
            <a:r>
              <a:rPr lang="ru-RU" sz="1800" b="1" u="sng" dirty="0" err="1" smtClean="0">
                <a:sym typeface="Symbol"/>
              </a:rPr>
              <a:t>_проекта</a:t>
            </a:r>
            <a:r>
              <a:rPr lang="ru-RU" sz="1800" b="1" u="sng" dirty="0" smtClean="0">
                <a:sym typeface="Symbol"/>
              </a:rPr>
              <a:t>, </a:t>
            </a:r>
            <a:r>
              <a:rPr lang="en-US" sz="1800" b="1" u="sng" dirty="0" smtClean="0">
                <a:sym typeface="Symbol"/>
              </a:rPr>
              <a:t>N</a:t>
            </a:r>
            <a:r>
              <a:rPr lang="ru-RU" sz="1800" b="1" u="sng" dirty="0" err="1" smtClean="0">
                <a:sym typeface="Symbol"/>
              </a:rPr>
              <a:t>_сотр</a:t>
            </a:r>
            <a:r>
              <a:rPr lang="ru-RU" sz="1800" b="1" u="sng" dirty="0" smtClean="0">
                <a:sym typeface="Symbol"/>
              </a:rPr>
              <a:t>, </a:t>
            </a:r>
            <a:r>
              <a:rPr lang="en-US" sz="1800" b="1" u="sng" dirty="0" smtClean="0">
                <a:sym typeface="Symbol"/>
              </a:rPr>
              <a:t>N_</a:t>
            </a:r>
            <a:r>
              <a:rPr lang="ru-RU" sz="1800" b="1" u="sng" dirty="0" err="1" smtClean="0">
                <a:sym typeface="Symbol"/>
              </a:rPr>
              <a:t>эт</a:t>
            </a:r>
            <a:r>
              <a:rPr lang="ru-RU" sz="1800" b="1" dirty="0" smtClean="0">
                <a:sym typeface="Symbol"/>
              </a:rPr>
              <a:t>, </a:t>
            </a:r>
            <a:br>
              <a:rPr lang="ru-RU" sz="1800" b="1" dirty="0" smtClean="0">
                <a:sym typeface="Symbol"/>
              </a:rPr>
            </a:br>
            <a:r>
              <a:rPr lang="ru-RU" sz="1800" b="1" dirty="0" smtClean="0">
                <a:sym typeface="Symbol"/>
              </a:rPr>
              <a:t>		</a:t>
            </a:r>
            <a:r>
              <a:rPr lang="ru-RU" sz="1800" b="1" dirty="0" err="1" smtClean="0">
                <a:sym typeface="Symbol"/>
              </a:rPr>
              <a:t>Дата_нач</a:t>
            </a:r>
            <a:r>
              <a:rPr lang="ru-RU" sz="1800" b="1" dirty="0" smtClean="0">
                <a:sym typeface="Symbol"/>
              </a:rPr>
              <a:t>, </a:t>
            </a:r>
            <a:r>
              <a:rPr lang="ru-RU" sz="1800" b="1" dirty="0" err="1" smtClean="0">
                <a:sym typeface="Symbol"/>
              </a:rPr>
              <a:t>Дата_кон</a:t>
            </a:r>
            <a:r>
              <a:rPr lang="ru-RU" sz="1800" b="1" dirty="0" smtClean="0">
                <a:sym typeface="Symbol"/>
              </a:rPr>
              <a:t>, </a:t>
            </a:r>
            <a:r>
              <a:rPr lang="ru-RU" sz="1800" b="1" dirty="0" err="1" smtClean="0">
                <a:sym typeface="Symbol"/>
              </a:rPr>
              <a:t>Назв_проекта</a:t>
            </a:r>
            <a:r>
              <a:rPr lang="ru-RU" sz="1800" b="1" dirty="0" smtClean="0">
                <a:sym typeface="Symbol"/>
              </a:rPr>
              <a:t>, </a:t>
            </a:r>
            <a:r>
              <a:rPr lang="en-US" sz="1800" b="1" dirty="0" smtClean="0">
                <a:sym typeface="Symbol"/>
              </a:rPr>
              <a:t>N_</a:t>
            </a:r>
            <a:r>
              <a:rPr lang="ru-RU" sz="1800" b="1" dirty="0" smtClean="0">
                <a:sym typeface="Symbol"/>
              </a:rPr>
              <a:t>отдела, </a:t>
            </a:r>
            <a:r>
              <a:rPr lang="ru-RU" sz="1800" b="1" dirty="0" err="1" smtClean="0">
                <a:sym typeface="Symbol"/>
              </a:rPr>
              <a:t>Назв_отдела</a:t>
            </a:r>
            <a:r>
              <a:rPr lang="ru-RU" sz="1800" b="1" dirty="0" smtClean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ym typeface="Symbol"/>
              </a:rPr>
              <a:t>ФЗ:</a:t>
            </a:r>
          </a:p>
          <a:p>
            <a:pPr>
              <a:spcBef>
                <a:spcPts val="0"/>
              </a:spcBef>
              <a:buNone/>
            </a:pPr>
            <a:r>
              <a:rPr lang="ru-RU" sz="1600" b="1" dirty="0" smtClean="0">
                <a:sym typeface="Symbol"/>
              </a:rPr>
              <a:t>1. </a:t>
            </a:r>
            <a:r>
              <a:rPr lang="en-US" sz="1600" b="1" dirty="0" smtClean="0">
                <a:sym typeface="Symbol"/>
              </a:rPr>
              <a:t>N</a:t>
            </a:r>
            <a:r>
              <a:rPr lang="ru-RU" sz="1600" b="1" dirty="0" err="1" smtClean="0">
                <a:sym typeface="Symbol"/>
              </a:rPr>
              <a:t>_проекта</a:t>
            </a:r>
            <a:r>
              <a:rPr lang="ru-RU" sz="1600" b="1" dirty="0" smtClean="0">
                <a:sym typeface="Symbol"/>
              </a:rPr>
              <a:t>, </a:t>
            </a:r>
            <a:r>
              <a:rPr lang="en-US" sz="1600" b="1" dirty="0" smtClean="0">
                <a:sym typeface="Symbol"/>
              </a:rPr>
              <a:t>N</a:t>
            </a:r>
            <a:r>
              <a:rPr lang="ru-RU" sz="1600" b="1" dirty="0" err="1" smtClean="0">
                <a:sym typeface="Symbol"/>
              </a:rPr>
              <a:t>_сотр</a:t>
            </a:r>
            <a:r>
              <a:rPr lang="ru-RU" sz="1600" b="1" dirty="0" smtClean="0">
                <a:sym typeface="Symbol"/>
              </a:rPr>
              <a:t>, </a:t>
            </a:r>
            <a:r>
              <a:rPr lang="en-US" sz="1600" b="1" dirty="0" smtClean="0">
                <a:sym typeface="Symbol"/>
              </a:rPr>
              <a:t>N_</a:t>
            </a:r>
            <a:r>
              <a:rPr lang="ru-RU" sz="1600" b="1" dirty="0" err="1" smtClean="0">
                <a:sym typeface="Symbol"/>
              </a:rPr>
              <a:t>эт</a:t>
            </a:r>
            <a:r>
              <a:rPr lang="ru-RU" sz="1600" b="1" dirty="0" smtClean="0">
                <a:sym typeface="Symbol"/>
              </a:rPr>
              <a:t> </a:t>
            </a:r>
            <a:r>
              <a:rPr lang="en-US" sz="1600" dirty="0" smtClean="0">
                <a:sym typeface="Symbol"/>
              </a:rPr>
              <a:t></a:t>
            </a:r>
            <a:r>
              <a:rPr lang="ru-RU" sz="1600" dirty="0" smtClean="0">
                <a:sym typeface="Symbol"/>
              </a:rPr>
              <a:t> </a:t>
            </a:r>
            <a:r>
              <a:rPr lang="ru-RU" sz="1600" b="1" dirty="0" err="1" smtClean="0">
                <a:sym typeface="Symbol"/>
              </a:rPr>
              <a:t>Дата_нач</a:t>
            </a:r>
            <a:r>
              <a:rPr lang="ru-RU" sz="1600" b="1" dirty="0" smtClean="0">
                <a:sym typeface="Symbol"/>
              </a:rPr>
              <a:t>, </a:t>
            </a:r>
            <a:r>
              <a:rPr lang="ru-RU" sz="1600" b="1" dirty="0" err="1" smtClean="0">
                <a:sym typeface="Symbol"/>
              </a:rPr>
              <a:t>Дата_кон</a:t>
            </a:r>
            <a:r>
              <a:rPr lang="ru-RU" sz="1600" b="1" dirty="0" smtClean="0">
                <a:sym typeface="Symbol"/>
              </a:rPr>
              <a:t>, </a:t>
            </a:r>
            <a:r>
              <a:rPr lang="ru-RU" sz="1600" b="1" dirty="0" err="1" smtClean="0">
                <a:sym typeface="Symbol"/>
              </a:rPr>
              <a:t>Назв_проекта</a:t>
            </a:r>
            <a:r>
              <a:rPr lang="ru-RU" sz="1600" b="1" dirty="0" smtClean="0">
                <a:sym typeface="Symbol"/>
              </a:rPr>
              <a:t>, </a:t>
            </a:r>
            <a:r>
              <a:rPr lang="en-US" sz="1600" b="1" dirty="0" smtClean="0">
                <a:sym typeface="Symbol"/>
              </a:rPr>
              <a:t>N_</a:t>
            </a:r>
            <a:r>
              <a:rPr lang="ru-RU" sz="1600" b="1" dirty="0" smtClean="0">
                <a:sym typeface="Symbol"/>
              </a:rPr>
              <a:t>отдела, </a:t>
            </a:r>
            <a:r>
              <a:rPr lang="ru-RU" sz="1600" b="1" dirty="0" err="1" smtClean="0">
                <a:sym typeface="Symbol"/>
              </a:rPr>
              <a:t>Назв_отдела</a:t>
            </a:r>
            <a:endParaRPr lang="ru-RU" sz="16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600" b="1" dirty="0" smtClean="0">
                <a:solidFill>
                  <a:srgbClr val="C00000"/>
                </a:solidFill>
                <a:sym typeface="Symbol"/>
              </a:rPr>
              <a:t>2. </a:t>
            </a:r>
            <a:r>
              <a:rPr lang="en-US" sz="1600" b="1" dirty="0" smtClean="0">
                <a:solidFill>
                  <a:srgbClr val="C00000"/>
                </a:solidFill>
                <a:sym typeface="Symbol"/>
              </a:rPr>
              <a:t>N</a:t>
            </a:r>
            <a:r>
              <a:rPr lang="ru-RU" sz="1600" b="1" dirty="0" smtClean="0">
                <a:solidFill>
                  <a:srgbClr val="C00000"/>
                </a:solidFill>
                <a:sym typeface="Symbol"/>
              </a:rPr>
              <a:t>_проекта  				      </a:t>
            </a:r>
            <a:r>
              <a:rPr lang="ru-RU" sz="1600" b="1" dirty="0" err="1" smtClean="0">
                <a:solidFill>
                  <a:srgbClr val="C00000"/>
                </a:solidFill>
                <a:sym typeface="Symbol"/>
              </a:rPr>
              <a:t>Назв_проекта</a:t>
            </a:r>
            <a:r>
              <a:rPr lang="ru-RU" sz="1600" b="1" dirty="0" smtClean="0">
                <a:solidFill>
                  <a:srgbClr val="C00000"/>
                </a:solidFill>
                <a:sym typeface="Symbol"/>
              </a:rPr>
              <a:t>     %</a:t>
            </a:r>
            <a:r>
              <a:rPr lang="ru-RU" sz="1600" dirty="0" smtClean="0">
                <a:solidFill>
                  <a:srgbClr val="C00000"/>
                </a:solidFill>
                <a:sym typeface="Symbol"/>
              </a:rPr>
              <a:t>нарушает 2 НФ</a:t>
            </a:r>
            <a:r>
              <a:rPr lang="ru-RU" sz="1600" b="1" dirty="0" smtClean="0">
                <a:solidFill>
                  <a:srgbClr val="C00000"/>
                </a:solidFill>
                <a:sym typeface="Symbol"/>
              </a:rPr>
              <a:t>%</a:t>
            </a:r>
          </a:p>
          <a:p>
            <a:pPr>
              <a:spcBef>
                <a:spcPts val="0"/>
              </a:spcBef>
              <a:buNone/>
            </a:pPr>
            <a:endParaRPr lang="ru-RU" sz="16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2400" dirty="0" smtClean="0">
                <a:sym typeface="Symbol"/>
              </a:rPr>
              <a:t>	Нарушение </a:t>
            </a:r>
            <a:r>
              <a:rPr lang="ru-RU" sz="2400" dirty="0" smtClean="0"/>
              <a:t>2</a:t>
            </a:r>
            <a:r>
              <a:rPr lang="en-US" sz="2400" dirty="0" smtClean="0"/>
              <a:t> </a:t>
            </a:r>
            <a:r>
              <a:rPr lang="ru-RU" sz="2400" dirty="0" smtClean="0"/>
              <a:t>НФ  </a:t>
            </a:r>
            <a:r>
              <a:rPr lang="ru-RU" sz="2400" b="1" dirty="0" smtClean="0"/>
              <a:t>НЕ ВОЗМОЖНО</a:t>
            </a:r>
            <a:r>
              <a:rPr lang="ru-RU" sz="2400" dirty="0" smtClean="0"/>
              <a:t>, если </a:t>
            </a: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ключ</a:t>
            </a:r>
            <a:r>
              <a:rPr lang="ru-RU" sz="2400" dirty="0" smtClean="0"/>
              <a:t> состоит из </a:t>
            </a:r>
            <a:br>
              <a:rPr lang="ru-RU" sz="2400" dirty="0" smtClean="0"/>
            </a:br>
            <a:r>
              <a:rPr lang="ru-RU" sz="2400" dirty="0" smtClean="0">
                <a:solidFill>
                  <a:schemeClr val="accent1">
                    <a:lumMod val="50000"/>
                  </a:schemeClr>
                </a:solidFill>
              </a:rPr>
              <a:t>одного атрибута</a:t>
            </a:r>
            <a:endParaRPr lang="ru-RU" sz="2400" dirty="0" smtClean="0">
              <a:solidFill>
                <a:schemeClr val="accent1">
                  <a:lumMod val="50000"/>
                </a:schemeClr>
              </a:solidFill>
              <a:sym typeface="Symbol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1421650" y="5724255"/>
            <a:ext cx="3420380" cy="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643602"/>
          </a:xfrm>
          <a:ln w="19050">
            <a:noFill/>
          </a:ln>
        </p:spPr>
        <p:txBody>
          <a:bodyPr>
            <a:normAutofit/>
          </a:bodyPr>
          <a:lstStyle/>
          <a:p>
            <a:r>
              <a:rPr lang="ru-RU" b="1" dirty="0" smtClean="0"/>
              <a:t>Отношение </a:t>
            </a:r>
            <a:r>
              <a:rPr lang="en-US" b="1" dirty="0" smtClean="0"/>
              <a:t>R </a:t>
            </a:r>
            <a:r>
              <a:rPr lang="ru-RU" b="1" dirty="0" smtClean="0"/>
              <a:t>находится в 3</a:t>
            </a:r>
            <a:r>
              <a:rPr lang="en-US" b="1" dirty="0" smtClean="0"/>
              <a:t> </a:t>
            </a:r>
            <a:r>
              <a:rPr lang="ru-RU" b="1" dirty="0" smtClean="0"/>
              <a:t>НФ</a:t>
            </a:r>
            <a:r>
              <a:rPr lang="ru-RU" dirty="0" smtClean="0"/>
              <a:t>, если оно находится в 2</a:t>
            </a:r>
            <a:r>
              <a:rPr lang="en-US" dirty="0" smtClean="0"/>
              <a:t> </a:t>
            </a:r>
            <a:r>
              <a:rPr lang="ru-RU" dirty="0" smtClean="0"/>
              <a:t>НФ и все </a:t>
            </a:r>
            <a:r>
              <a:rPr lang="ru-RU" dirty="0" err="1" smtClean="0"/>
              <a:t>неключевые</a:t>
            </a:r>
            <a:r>
              <a:rPr lang="ru-RU" dirty="0" smtClean="0"/>
              <a:t> атрибуты </a:t>
            </a:r>
            <a:r>
              <a:rPr lang="en-US" dirty="0" smtClean="0"/>
              <a:t>R </a:t>
            </a:r>
            <a:r>
              <a:rPr lang="ru-RU" dirty="0" err="1" smtClean="0">
                <a:solidFill>
                  <a:schemeClr val="accent1">
                    <a:lumMod val="50000"/>
                  </a:schemeClr>
                </a:solidFill>
              </a:rPr>
              <a:t>нетранзитивно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</a:rPr>
              <a:t> зависят </a:t>
            </a:r>
            <a:r>
              <a:rPr lang="ru-RU" dirty="0" smtClean="0"/>
              <a:t>от ключа.</a:t>
            </a:r>
          </a:p>
          <a:p>
            <a:pPr>
              <a:spcBef>
                <a:spcPts val="60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600"/>
              </a:spcBef>
              <a:buNone/>
            </a:pPr>
            <a:r>
              <a:rPr lang="ru-RU" sz="1800" b="1" dirty="0" smtClean="0">
                <a:sym typeface="Symbol"/>
              </a:rPr>
              <a:t>Проект(</a:t>
            </a:r>
            <a:r>
              <a:rPr lang="en-US" sz="1800" b="1" u="sng" dirty="0" smtClean="0">
                <a:sym typeface="Symbol"/>
              </a:rPr>
              <a:t>N</a:t>
            </a:r>
            <a:r>
              <a:rPr lang="ru-RU" sz="1800" b="1" u="sng" dirty="0" err="1" smtClean="0">
                <a:sym typeface="Symbol"/>
              </a:rPr>
              <a:t>_проекта</a:t>
            </a:r>
            <a:r>
              <a:rPr lang="ru-RU" sz="1800" b="1" u="sng" dirty="0" smtClean="0">
                <a:sym typeface="Symbol"/>
              </a:rPr>
              <a:t>, </a:t>
            </a:r>
            <a:r>
              <a:rPr lang="en-US" sz="1800" b="1" u="sng" dirty="0" smtClean="0">
                <a:sym typeface="Symbol"/>
              </a:rPr>
              <a:t>N</a:t>
            </a:r>
            <a:r>
              <a:rPr lang="ru-RU" sz="1800" b="1" u="sng" dirty="0" err="1" smtClean="0">
                <a:sym typeface="Symbol"/>
              </a:rPr>
              <a:t>_сотр</a:t>
            </a:r>
            <a:r>
              <a:rPr lang="ru-RU" sz="1800" b="1" u="sng" dirty="0" smtClean="0">
                <a:sym typeface="Symbol"/>
              </a:rPr>
              <a:t>, </a:t>
            </a:r>
            <a:r>
              <a:rPr lang="en-US" sz="1800" b="1" u="sng" dirty="0" smtClean="0">
                <a:sym typeface="Symbol"/>
              </a:rPr>
              <a:t>N_</a:t>
            </a:r>
            <a:r>
              <a:rPr lang="ru-RU" sz="1800" b="1" u="sng" dirty="0" err="1" smtClean="0">
                <a:sym typeface="Symbol"/>
              </a:rPr>
              <a:t>эт</a:t>
            </a:r>
            <a:r>
              <a:rPr lang="ru-RU" sz="1800" b="1" dirty="0" smtClean="0">
                <a:sym typeface="Symbol"/>
              </a:rPr>
              <a:t>, </a:t>
            </a:r>
            <a:br>
              <a:rPr lang="ru-RU" sz="1800" b="1" dirty="0" smtClean="0">
                <a:sym typeface="Symbol"/>
              </a:rPr>
            </a:br>
            <a:r>
              <a:rPr lang="ru-RU" sz="1800" b="1" dirty="0" smtClean="0">
                <a:sym typeface="Symbol"/>
              </a:rPr>
              <a:t>		</a:t>
            </a:r>
            <a:r>
              <a:rPr lang="ru-RU" sz="1800" b="1" dirty="0" err="1" smtClean="0">
                <a:sym typeface="Symbol"/>
              </a:rPr>
              <a:t>Дата_нач</a:t>
            </a:r>
            <a:r>
              <a:rPr lang="ru-RU" sz="1800" b="1" dirty="0" smtClean="0">
                <a:sym typeface="Symbol"/>
              </a:rPr>
              <a:t>, </a:t>
            </a:r>
            <a:r>
              <a:rPr lang="ru-RU" sz="1800" b="1" dirty="0" err="1" smtClean="0">
                <a:sym typeface="Symbol"/>
              </a:rPr>
              <a:t>Дата_кон</a:t>
            </a:r>
            <a:r>
              <a:rPr lang="ru-RU" sz="1800" b="1" dirty="0" smtClean="0">
                <a:sym typeface="Symbol"/>
              </a:rPr>
              <a:t>, </a:t>
            </a:r>
            <a:r>
              <a:rPr lang="ru-RU" sz="1800" b="1" dirty="0" err="1" smtClean="0">
                <a:sym typeface="Symbol"/>
              </a:rPr>
              <a:t>Назв_проекта</a:t>
            </a:r>
            <a:r>
              <a:rPr lang="ru-RU" sz="1800" b="1" dirty="0" smtClean="0">
                <a:sym typeface="Symbol"/>
              </a:rPr>
              <a:t>, </a:t>
            </a:r>
            <a:r>
              <a:rPr lang="en-US" sz="1800" b="1" dirty="0" smtClean="0">
                <a:sym typeface="Symbol"/>
              </a:rPr>
              <a:t>N_</a:t>
            </a:r>
            <a:r>
              <a:rPr lang="ru-RU" sz="1800" b="1" dirty="0" smtClean="0">
                <a:sym typeface="Symbol"/>
              </a:rPr>
              <a:t>отдела, </a:t>
            </a:r>
            <a:r>
              <a:rPr lang="ru-RU" sz="1800" b="1" dirty="0" err="1" smtClean="0">
                <a:sym typeface="Symbol"/>
              </a:rPr>
              <a:t>Назв_отдела</a:t>
            </a:r>
            <a:r>
              <a:rPr lang="ru-RU" sz="1800" b="1" dirty="0" smtClean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ru-RU" sz="20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2000" b="1" dirty="0" smtClean="0">
                <a:sym typeface="Symbol"/>
              </a:rPr>
              <a:t>ФЗ: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ym typeface="Symbol"/>
              </a:rPr>
              <a:t>N</a:t>
            </a:r>
            <a:r>
              <a:rPr lang="ru-RU" sz="1600" b="1" dirty="0" err="1" smtClean="0">
                <a:sym typeface="Symbol"/>
              </a:rPr>
              <a:t>_проекта</a:t>
            </a:r>
            <a:r>
              <a:rPr lang="ru-RU" sz="1600" b="1" dirty="0" smtClean="0">
                <a:sym typeface="Symbol"/>
              </a:rPr>
              <a:t>, </a:t>
            </a:r>
            <a:r>
              <a:rPr lang="en-US" sz="1600" b="1" dirty="0" smtClean="0">
                <a:sym typeface="Symbol"/>
              </a:rPr>
              <a:t>N</a:t>
            </a:r>
            <a:r>
              <a:rPr lang="ru-RU" sz="1600" b="1" dirty="0" err="1" smtClean="0">
                <a:sym typeface="Symbol"/>
              </a:rPr>
              <a:t>_сотр</a:t>
            </a:r>
            <a:r>
              <a:rPr lang="ru-RU" sz="1600" b="1" dirty="0" smtClean="0">
                <a:sym typeface="Symbol"/>
              </a:rPr>
              <a:t>, </a:t>
            </a:r>
            <a:r>
              <a:rPr lang="en-US" sz="1600" b="1" dirty="0" smtClean="0">
                <a:sym typeface="Symbol"/>
              </a:rPr>
              <a:t>N_</a:t>
            </a:r>
            <a:r>
              <a:rPr lang="ru-RU" sz="1600" b="1" dirty="0" err="1" smtClean="0">
                <a:sym typeface="Symbol"/>
              </a:rPr>
              <a:t>эт</a:t>
            </a:r>
            <a:r>
              <a:rPr lang="ru-RU" sz="1600" b="1" dirty="0" smtClean="0">
                <a:sym typeface="Symbol"/>
              </a:rPr>
              <a:t>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  <a:sym typeface="Symbol"/>
              </a:rPr>
              <a:t></a:t>
            </a:r>
            <a:r>
              <a:rPr lang="ru-RU" sz="1600" dirty="0" smtClean="0">
                <a:sym typeface="Symbol"/>
              </a:rPr>
              <a:t> </a:t>
            </a:r>
            <a:r>
              <a:rPr lang="ru-RU" sz="1600" b="1" dirty="0" err="1" smtClean="0">
                <a:sym typeface="Symbol"/>
              </a:rPr>
              <a:t>Дата_нач</a:t>
            </a:r>
            <a:r>
              <a:rPr lang="ru-RU" sz="1600" b="1" dirty="0" smtClean="0">
                <a:sym typeface="Symbol"/>
              </a:rPr>
              <a:t>, </a:t>
            </a:r>
            <a:r>
              <a:rPr lang="ru-RU" sz="1600" b="1" dirty="0" err="1" smtClean="0">
                <a:sym typeface="Symbol"/>
              </a:rPr>
              <a:t>Дата_кон</a:t>
            </a:r>
            <a:r>
              <a:rPr lang="ru-RU" sz="1600" b="1" dirty="0" smtClean="0">
                <a:sym typeface="Symbol"/>
              </a:rPr>
              <a:t>, </a:t>
            </a:r>
            <a:r>
              <a:rPr lang="ru-RU" sz="1600" b="1" dirty="0" err="1" smtClean="0">
                <a:sym typeface="Symbol"/>
              </a:rPr>
              <a:t>Назв_проекта</a:t>
            </a:r>
            <a:r>
              <a:rPr lang="ru-RU" sz="1600" b="1" dirty="0" smtClean="0">
                <a:sym typeface="Symbol"/>
              </a:rPr>
              <a:t>, </a:t>
            </a:r>
            <a:r>
              <a:rPr lang="en-US" sz="1600" b="1" dirty="0" smtClean="0">
                <a:sym typeface="Symbol"/>
              </a:rPr>
              <a:t>N_</a:t>
            </a:r>
            <a:r>
              <a:rPr lang="ru-RU" sz="1600" b="1" dirty="0" smtClean="0">
                <a:sym typeface="Symbol"/>
              </a:rPr>
              <a:t>отдела, </a:t>
            </a:r>
            <a:r>
              <a:rPr lang="ru-RU" sz="1600" b="1" dirty="0" err="1" smtClean="0">
                <a:sym typeface="Symbol"/>
              </a:rPr>
              <a:t>Назв_отдела</a:t>
            </a:r>
            <a:endParaRPr lang="ru-RU" sz="16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ym typeface="Symbol"/>
              </a:rPr>
              <a:t>N</a:t>
            </a:r>
            <a:r>
              <a:rPr lang="ru-RU" sz="1600" b="1" dirty="0" err="1" smtClean="0">
                <a:sym typeface="Symbol"/>
              </a:rPr>
              <a:t>_проекта</a:t>
            </a:r>
            <a:r>
              <a:rPr lang="ru-RU" sz="1600" b="1" dirty="0" smtClean="0">
                <a:sym typeface="Symbol"/>
              </a:rPr>
              <a:t>   </a:t>
            </a:r>
            <a:r>
              <a:rPr lang="en-US" sz="1600" b="1" dirty="0" smtClean="0">
                <a:sym typeface="Symbol"/>
              </a:rPr>
              <a:t></a:t>
            </a:r>
            <a:r>
              <a:rPr lang="ru-RU" sz="1600" dirty="0" smtClean="0">
                <a:sym typeface="Symbol"/>
              </a:rPr>
              <a:t>  </a:t>
            </a:r>
            <a:r>
              <a:rPr lang="ru-RU" sz="1600" b="1" dirty="0" err="1" smtClean="0">
                <a:sym typeface="Symbol"/>
              </a:rPr>
              <a:t>Назв_проекта</a:t>
            </a:r>
            <a:endParaRPr lang="ru-RU" sz="16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ym typeface="Symbol"/>
              </a:rPr>
              <a:t>N_</a:t>
            </a:r>
            <a:r>
              <a:rPr lang="ru-RU" sz="1600" b="1" dirty="0" smtClean="0">
                <a:sym typeface="Symbol"/>
              </a:rPr>
              <a:t>отдела     </a:t>
            </a:r>
            <a:r>
              <a:rPr lang="en-US" sz="1600" b="1" dirty="0" smtClean="0">
                <a:sym typeface="Symbol"/>
              </a:rPr>
              <a:t></a:t>
            </a:r>
            <a:r>
              <a:rPr lang="ru-RU" sz="1600" dirty="0" smtClean="0">
                <a:sym typeface="Symbol"/>
              </a:rPr>
              <a:t>  </a:t>
            </a:r>
            <a:r>
              <a:rPr lang="ru-RU" sz="1600" b="1" dirty="0" err="1" smtClean="0">
                <a:sym typeface="Symbol"/>
              </a:rPr>
              <a:t>Назв_отдела</a:t>
            </a:r>
            <a:endParaRPr lang="ru-RU" sz="1600" b="1" dirty="0" smtClean="0">
              <a:sym typeface="Symbol"/>
            </a:endParaRPr>
          </a:p>
          <a:p>
            <a:pPr>
              <a:spcBef>
                <a:spcPts val="600"/>
              </a:spcBef>
              <a:buNone/>
            </a:pPr>
            <a:endParaRPr lang="ru-RU" sz="2400" u="sng" dirty="0" smtClean="0">
              <a:sym typeface="Symbol"/>
            </a:endParaRPr>
          </a:p>
          <a:p>
            <a:pPr>
              <a:spcBef>
                <a:spcPts val="600"/>
              </a:spcBef>
              <a:buNone/>
            </a:pPr>
            <a:r>
              <a:rPr lang="ru-RU" sz="2400" u="sng" dirty="0" smtClean="0">
                <a:sym typeface="Symbol"/>
              </a:rPr>
              <a:t>Транзитивность</a:t>
            </a:r>
          </a:p>
          <a:p>
            <a:pPr>
              <a:buNone/>
            </a:pPr>
            <a:r>
              <a:rPr lang="en-US" sz="2400" b="1" dirty="0" smtClean="0">
                <a:sym typeface="Symbol"/>
              </a:rPr>
              <a:t>N</a:t>
            </a:r>
            <a:r>
              <a:rPr lang="ru-RU" sz="2400" b="1" dirty="0" err="1" smtClean="0">
                <a:sym typeface="Symbol"/>
              </a:rPr>
              <a:t>_проекта</a:t>
            </a:r>
            <a:r>
              <a:rPr lang="ru-RU" sz="2400" b="1" dirty="0" smtClean="0">
                <a:sym typeface="Symbol"/>
              </a:rPr>
              <a:t>, </a:t>
            </a:r>
            <a:r>
              <a:rPr lang="en-US" sz="2400" b="1" dirty="0" smtClean="0">
                <a:sym typeface="Symbol"/>
              </a:rPr>
              <a:t>N</a:t>
            </a:r>
            <a:r>
              <a:rPr lang="ru-RU" sz="2400" b="1" dirty="0" err="1" smtClean="0">
                <a:sym typeface="Symbol"/>
              </a:rPr>
              <a:t>_сотр</a:t>
            </a:r>
            <a:r>
              <a:rPr lang="ru-RU" sz="2400" b="1" dirty="0" smtClean="0">
                <a:sym typeface="Symbol"/>
              </a:rPr>
              <a:t>, </a:t>
            </a:r>
            <a:r>
              <a:rPr lang="en-US" sz="2400" b="1" dirty="0" smtClean="0">
                <a:sym typeface="Symbol"/>
              </a:rPr>
              <a:t>N_</a:t>
            </a:r>
            <a:r>
              <a:rPr lang="ru-RU" sz="2400" b="1" dirty="0" err="1" smtClean="0">
                <a:sym typeface="Symbol"/>
              </a:rPr>
              <a:t>эт</a:t>
            </a:r>
            <a:r>
              <a:rPr lang="en-US" sz="2400" dirty="0" smtClean="0">
                <a:sym typeface="Symbol"/>
              </a:rPr>
              <a:t> </a:t>
            </a:r>
            <a:r>
              <a:rPr lang="ru-RU" sz="2400" dirty="0" smtClean="0">
                <a:sym typeface="Symbol"/>
              </a:rPr>
              <a:t>     </a:t>
            </a:r>
            <a:r>
              <a:rPr lang="en-US" sz="2400" b="1" dirty="0" smtClean="0">
                <a:sym typeface="Symbol"/>
              </a:rPr>
              <a:t>N_</a:t>
            </a:r>
            <a:r>
              <a:rPr lang="ru-RU" sz="2400" b="1" dirty="0" smtClean="0">
                <a:sym typeface="Symbol"/>
              </a:rPr>
              <a:t>отдела     </a:t>
            </a:r>
            <a:r>
              <a:rPr lang="ru-RU" sz="2400" dirty="0" smtClean="0">
                <a:sym typeface="Symbol"/>
              </a:rPr>
              <a:t> </a:t>
            </a:r>
            <a:r>
              <a:rPr lang="ru-RU" sz="2400" b="1" dirty="0" err="1" smtClean="0">
                <a:sym typeface="Symbol"/>
              </a:rPr>
              <a:t>Назв_отдела</a:t>
            </a:r>
            <a:endParaRPr lang="ru-RU" sz="24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Нормальные формы отношений (2)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3941930" y="5994285"/>
            <a:ext cx="315035" cy="0"/>
          </a:xfrm>
          <a:prstGeom prst="straightConnector1">
            <a:avLst/>
          </a:pr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5877145" y="5994285"/>
            <a:ext cx="315035" cy="0"/>
          </a:xfrm>
          <a:prstGeom prst="straightConnector1">
            <a:avLst/>
          </a:pr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66792"/>
            <a:ext cx="9144000" cy="5434042"/>
          </a:xfrm>
        </p:spPr>
        <p:txBody>
          <a:bodyPr/>
          <a:lstStyle/>
          <a:p>
            <a:r>
              <a:rPr lang="ru-RU" sz="2400" u="sng" dirty="0" smtClean="0"/>
              <a:t>Тривиальные ФЗ</a:t>
            </a:r>
            <a:r>
              <a:rPr lang="ru-RU" sz="2400" dirty="0" smtClean="0"/>
              <a:t>. Говорят, что функциональная зависимость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400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А</a:t>
            </a:r>
            <a:r>
              <a:rPr lang="ru-RU" sz="24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… A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B </a:t>
            </a:r>
            <a:r>
              <a:rPr lang="ru-RU" sz="2400" dirty="0" smtClean="0">
                <a:sym typeface="Symbol"/>
              </a:rPr>
              <a:t>является </a:t>
            </a:r>
            <a:r>
              <a:rPr lang="ru-RU" sz="2400" dirty="0" smtClean="0"/>
              <a:t>тривиальной, если атрибут </a:t>
            </a:r>
            <a:r>
              <a:rPr lang="en-US" sz="2400" dirty="0" smtClean="0">
                <a:sym typeface="Symbol"/>
              </a:rPr>
              <a:t>B </a:t>
            </a:r>
            <a:r>
              <a:rPr lang="ru-RU" sz="2400" dirty="0" smtClean="0">
                <a:sym typeface="Symbol"/>
              </a:rPr>
              <a:t>совпадает с любым из атрибутов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2400" b="1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r>
              <a:rPr lang="ru-RU" sz="2400" u="sng" dirty="0" smtClean="0"/>
              <a:t>Нетривиальные ФЗ</a:t>
            </a:r>
            <a:r>
              <a:rPr lang="ru-RU" sz="2400" dirty="0" smtClean="0"/>
              <a:t>.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400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А</a:t>
            </a:r>
            <a:r>
              <a:rPr lang="ru-RU" sz="24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… A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,B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, …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en-US" sz="2400" b="1" i="1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US" sz="2400" b="1" i="1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k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400" dirty="0" smtClean="0">
                <a:sym typeface="Symbol"/>
              </a:rPr>
              <a:t>называется нетривиальной, если по меньшей мере один из атрибутов </a:t>
            </a:r>
            <a:r>
              <a:rPr lang="en-US" sz="2400" dirty="0" smtClean="0">
                <a:sym typeface="Symbol"/>
              </a:rPr>
              <a:t>B</a:t>
            </a:r>
            <a:r>
              <a:rPr lang="en-US" sz="2400" baseline="-25000" dirty="0" smtClean="0">
                <a:sym typeface="Symbol"/>
              </a:rPr>
              <a:t>i</a:t>
            </a:r>
            <a:r>
              <a:rPr lang="ru-RU" sz="2400" dirty="0" smtClean="0">
                <a:sym typeface="Symbol"/>
              </a:rPr>
              <a:t> не является элементом множества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400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sz="24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sz="2400" b="1" i="1" baseline="-25000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400" dirty="0" smtClean="0"/>
          </a:p>
          <a:p>
            <a:r>
              <a:rPr lang="ru-RU" sz="2800" dirty="0" smtClean="0"/>
              <a:t>Отношение </a:t>
            </a:r>
            <a:r>
              <a:rPr lang="en-US" sz="2800" dirty="0" smtClean="0"/>
              <a:t>R </a:t>
            </a:r>
            <a:r>
              <a:rPr lang="ru-RU" sz="2800" dirty="0" smtClean="0"/>
              <a:t>удовлетворяет </a:t>
            </a:r>
            <a:r>
              <a:rPr lang="en-US" sz="2800" dirty="0" smtClean="0">
                <a:solidFill>
                  <a:schemeClr val="bg2"/>
                </a:solidFill>
              </a:rPr>
              <a:t>BCNF</a:t>
            </a:r>
            <a:r>
              <a:rPr lang="ru-RU" sz="2800" dirty="0" smtClean="0"/>
              <a:t>, т. и т. т., когда для любой нетривиальной зависимости </a:t>
            </a:r>
            <a:r>
              <a:rPr lang="en-US" sz="2800" dirty="0" smtClean="0"/>
              <a:t>R </a:t>
            </a:r>
            <a:r>
              <a:rPr lang="ru-RU" sz="2800" dirty="0" smtClean="0"/>
              <a:t>вида</a:t>
            </a:r>
            <a:br>
              <a:rPr lang="ru-RU" sz="2800" dirty="0" smtClean="0"/>
            </a:b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800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8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… A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B 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 smtClean="0">
                <a:sym typeface="Symbol"/>
              </a:rPr>
              <a:t>множество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800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sz="2800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sz="2800" b="1" i="1" baseline="-25000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/>
              <a:t>образует </a:t>
            </a:r>
            <a:r>
              <a:rPr lang="ru-RU" sz="2800" dirty="0" err="1" smtClean="0"/>
              <a:t>суперключ</a:t>
            </a:r>
            <a:r>
              <a:rPr lang="ru-RU" sz="2800" dirty="0" smtClean="0"/>
              <a:t> для </a:t>
            </a:r>
            <a:r>
              <a:rPr lang="en-US" sz="2800" dirty="0" smtClean="0"/>
              <a:t>R.</a:t>
            </a:r>
            <a:endParaRPr lang="ru-RU" sz="2800" dirty="0" smtClean="0"/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Нормальная формы </a:t>
            </a:r>
            <a:r>
              <a:rPr kumimoji="0" lang="ru-RU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Бойса-Кодда</a:t>
            </a:r>
            <a:r>
              <a:rPr kumimoji="0" lang="ru-RU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BCNF)</a:t>
            </a:r>
            <a:endParaRPr kumimoji="0" lang="ru-RU" sz="3200" b="0" i="0" u="none" strike="noStrike" kern="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42908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Приведение к нормальным формам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6515" y="773705"/>
            <a:ext cx="8937485" cy="589565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Поиск в исходном отношении </a:t>
            </a:r>
            <a:r>
              <a:rPr lang="en-US" dirty="0" smtClean="0"/>
              <a:t>R </a:t>
            </a:r>
            <a:r>
              <a:rPr lang="ru-RU" dirty="0" smtClean="0"/>
              <a:t>нетривиальных функциональных зависимостей  А</a:t>
            </a:r>
            <a:r>
              <a:rPr lang="ru-RU" baseline="-25000" dirty="0" smtClean="0"/>
              <a:t>1</a:t>
            </a:r>
            <a:r>
              <a:rPr lang="ru-RU" dirty="0" smtClean="0"/>
              <a:t> А</a:t>
            </a:r>
            <a:r>
              <a:rPr lang="ru-RU" baseline="-25000" dirty="0" smtClean="0"/>
              <a:t>2</a:t>
            </a:r>
            <a:r>
              <a:rPr lang="ru-RU" dirty="0" smtClean="0"/>
              <a:t> </a:t>
            </a:r>
            <a:r>
              <a:rPr lang="en-US" dirty="0" smtClean="0"/>
              <a:t>… A</a:t>
            </a:r>
            <a:r>
              <a:rPr lang="en-US" baseline="-25000" dirty="0" smtClean="0"/>
              <a:t>n </a:t>
            </a:r>
            <a:r>
              <a:rPr lang="en-US" dirty="0" smtClean="0">
                <a:sym typeface="Symbol"/>
              </a:rPr>
              <a:t></a:t>
            </a:r>
            <a:r>
              <a:rPr lang="ru-RU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B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 smtClean="0">
                <a:sym typeface="Symbol"/>
              </a:rPr>
              <a:t>,B</a:t>
            </a:r>
            <a:r>
              <a:rPr lang="en-US" baseline="-25000" dirty="0" smtClean="0">
                <a:sym typeface="Symbol"/>
              </a:rPr>
              <a:t>2</a:t>
            </a:r>
            <a:r>
              <a:rPr lang="en-US" dirty="0" smtClean="0">
                <a:sym typeface="Symbol"/>
              </a:rPr>
              <a:t>, …</a:t>
            </a:r>
            <a:r>
              <a:rPr lang="en-US" dirty="0" err="1" smtClean="0">
                <a:sym typeface="Symbol"/>
              </a:rPr>
              <a:t>B</a:t>
            </a:r>
            <a:r>
              <a:rPr lang="en-US" baseline="-25000" dirty="0" err="1" smtClean="0">
                <a:sym typeface="Symbol"/>
              </a:rPr>
              <a:t>k</a:t>
            </a:r>
            <a:r>
              <a:rPr lang="ru-RU" baseline="-25000" dirty="0" smtClean="0">
                <a:sym typeface="Symbol"/>
              </a:rPr>
              <a:t> </a:t>
            </a:r>
            <a:r>
              <a:rPr lang="ru-RU" dirty="0" smtClean="0">
                <a:sym typeface="Symbol"/>
              </a:rPr>
              <a:t>,</a:t>
            </a:r>
            <a:r>
              <a:rPr lang="ru-RU" baseline="-25000" dirty="0" smtClean="0">
                <a:sym typeface="Symbol"/>
              </a:rPr>
              <a:t>  </a:t>
            </a:r>
            <a:r>
              <a:rPr lang="ru-RU" dirty="0" smtClean="0"/>
              <a:t>нарушающих НФ.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Разбиение отношения </a:t>
            </a:r>
            <a:r>
              <a:rPr lang="en-US" dirty="0" smtClean="0"/>
              <a:t>R </a:t>
            </a:r>
            <a:r>
              <a:rPr lang="ru-RU" dirty="0" smtClean="0"/>
              <a:t>на 2 отношения, например, </a:t>
            </a:r>
            <a:r>
              <a:rPr lang="en-US" dirty="0" smtClean="0"/>
              <a:t>T </a:t>
            </a:r>
            <a:r>
              <a:rPr lang="ru-RU" dirty="0" smtClean="0"/>
              <a:t>и </a:t>
            </a:r>
            <a:r>
              <a:rPr lang="en-US" dirty="0" smtClean="0"/>
              <a:t>S</a:t>
            </a:r>
            <a:endParaRPr lang="ru-RU" dirty="0" smtClean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 smtClean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 smtClean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smtClean="0"/>
              <a:t>Причем </a:t>
            </a:r>
            <a:r>
              <a:rPr lang="en-US" dirty="0" smtClean="0"/>
              <a:t>R </a:t>
            </a:r>
            <a:r>
              <a:rPr lang="ru-RU" dirty="0" smtClean="0"/>
              <a:t>будет состоять из атрибутов, образующих нетривиальную ФЗ, </a:t>
            </a:r>
            <a:r>
              <a:rPr lang="en-US" dirty="0" smtClean="0"/>
              <a:t>S –</a:t>
            </a:r>
            <a:r>
              <a:rPr lang="ru-RU" dirty="0" smtClean="0"/>
              <a:t> из атрибутов отношения </a:t>
            </a:r>
            <a:r>
              <a:rPr lang="en-US" dirty="0" smtClean="0"/>
              <a:t>R</a:t>
            </a:r>
            <a:r>
              <a:rPr lang="ru-RU" dirty="0" smtClean="0"/>
              <a:t>, входящих в ключ  и не вошедших в отношение </a:t>
            </a:r>
            <a:r>
              <a:rPr lang="en-US" smtClean="0"/>
              <a:t>R.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dirty="0" smtClean="0"/>
              <a:t>Исходное отношение должно восстанавливаться из 2-ух получившихся отношений с помощью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</a:rPr>
              <a:t>НАТУРАЛЬНОГО СОЕДИНЕНИЯ </a:t>
            </a:r>
          </a:p>
        </p:txBody>
      </p:sp>
      <p:grpSp>
        <p:nvGrpSpPr>
          <p:cNvPr id="10" name="Группа 9"/>
          <p:cNvGrpSpPr/>
          <p:nvPr/>
        </p:nvGrpSpPr>
        <p:grpSpPr>
          <a:xfrm>
            <a:off x="1241630" y="2348880"/>
            <a:ext cx="6615735" cy="1665185"/>
            <a:chOff x="1571604" y="3643314"/>
            <a:chExt cx="6786610" cy="2214578"/>
          </a:xfrm>
        </p:grpSpPr>
        <p:sp>
          <p:nvSpPr>
            <p:cNvPr id="4" name="Овал 3"/>
            <p:cNvSpPr/>
            <p:nvPr/>
          </p:nvSpPr>
          <p:spPr>
            <a:xfrm>
              <a:off x="3857620" y="3643314"/>
              <a:ext cx="4500594" cy="22145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571604" y="3643314"/>
              <a:ext cx="4857784" cy="22145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ru-RU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00826" y="4572007"/>
              <a:ext cx="1643074" cy="532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dirty="0" smtClean="0">
                  <a:sym typeface="Symbol"/>
                </a:rPr>
                <a:t>B</a:t>
              </a:r>
              <a:r>
                <a:rPr lang="en-US" sz="2000" baseline="-25000" dirty="0" smtClean="0">
                  <a:sym typeface="Symbol"/>
                </a:rPr>
                <a:t>1</a:t>
              </a:r>
              <a:r>
                <a:rPr lang="en-US" sz="2000" dirty="0" smtClean="0">
                  <a:sym typeface="Symbol"/>
                </a:rPr>
                <a:t>,B</a:t>
              </a:r>
              <a:r>
                <a:rPr lang="en-US" sz="2000" baseline="-25000" dirty="0" smtClean="0">
                  <a:sym typeface="Symbol"/>
                </a:rPr>
                <a:t>2</a:t>
              </a:r>
              <a:r>
                <a:rPr lang="en-US" sz="2000" dirty="0" smtClean="0">
                  <a:sym typeface="Symbol"/>
                </a:rPr>
                <a:t>, …</a:t>
              </a:r>
              <a:r>
                <a:rPr lang="en-US" sz="2000" dirty="0" err="1" smtClean="0">
                  <a:sym typeface="Symbol"/>
                </a:rPr>
                <a:t>B</a:t>
              </a:r>
              <a:r>
                <a:rPr lang="en-US" sz="2000" baseline="-25000" dirty="0" err="1" smtClean="0">
                  <a:sym typeface="Symbol"/>
                </a:rPr>
                <a:t>k</a:t>
              </a:r>
              <a:r>
                <a:rPr lang="en-US" sz="2000" baseline="-25000" dirty="0" smtClean="0">
                  <a:sym typeface="Symbol"/>
                </a:rPr>
                <a:t> </a:t>
              </a:r>
              <a:endParaRPr lang="ru-RU" sz="20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14810" y="4572007"/>
              <a:ext cx="1643074" cy="532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2000" dirty="0" smtClean="0"/>
                <a:t>А</a:t>
              </a:r>
              <a:r>
                <a:rPr lang="ru-RU" sz="2000" baseline="-25000" dirty="0" smtClean="0"/>
                <a:t>1</a:t>
              </a:r>
              <a:r>
                <a:rPr lang="ru-RU" sz="2000" dirty="0" smtClean="0"/>
                <a:t> А</a:t>
              </a:r>
              <a:r>
                <a:rPr lang="ru-RU" sz="2000" baseline="-25000" dirty="0" smtClean="0"/>
                <a:t>2</a:t>
              </a:r>
              <a:r>
                <a:rPr lang="ru-RU" sz="2000" dirty="0" smtClean="0"/>
                <a:t> </a:t>
              </a:r>
              <a:r>
                <a:rPr lang="en-US" sz="2000" dirty="0" smtClean="0"/>
                <a:t>… A</a:t>
              </a:r>
              <a:r>
                <a:rPr lang="en-US" sz="2000" baseline="-25000" dirty="0" smtClean="0"/>
                <a:t>n </a:t>
              </a:r>
              <a:endParaRPr lang="ru-RU" sz="2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92843" y="4381507"/>
              <a:ext cx="1707123" cy="941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2000" dirty="0" smtClean="0"/>
                <a:t>Другие атрибуты</a:t>
              </a:r>
              <a:endParaRPr lang="ru-RU" sz="2000" dirty="0"/>
            </a:p>
          </p:txBody>
        </p:sp>
      </p:grp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42917"/>
            <a:ext cx="9144000" cy="6071447"/>
          </a:xfrm>
          <a:ln>
            <a:solidFill>
              <a:srgbClr val="008000"/>
            </a:solidFill>
          </a:ln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ru-RU" sz="1800" b="1" dirty="0" smtClean="0">
                <a:sym typeface="Symbol"/>
              </a:rPr>
              <a:t>Проекты(</a:t>
            </a:r>
            <a:r>
              <a:rPr lang="en-US" sz="1400" b="1" u="sng" dirty="0" smtClean="0">
                <a:solidFill>
                  <a:srgbClr val="0070C0"/>
                </a:solidFill>
                <a:sym typeface="Symbol"/>
              </a:rPr>
              <a:t>N</a:t>
            </a:r>
            <a:r>
              <a:rPr lang="ru-RU" sz="1400" b="1" u="sng" dirty="0" err="1" smtClean="0">
                <a:solidFill>
                  <a:srgbClr val="0070C0"/>
                </a:solidFill>
                <a:sym typeface="Symbol"/>
              </a:rPr>
              <a:t>_проекта</a:t>
            </a:r>
            <a:r>
              <a:rPr lang="ru-RU" sz="1400" b="1" u="sng" dirty="0" smtClean="0">
                <a:solidFill>
                  <a:srgbClr val="0070C0"/>
                </a:solidFill>
                <a:sym typeface="Symbol"/>
              </a:rPr>
              <a:t>, </a:t>
            </a:r>
            <a:r>
              <a:rPr lang="en-US" sz="1400" b="1" u="sng" dirty="0" smtClean="0">
                <a:solidFill>
                  <a:srgbClr val="0070C0"/>
                </a:solidFill>
                <a:sym typeface="Symbol"/>
              </a:rPr>
              <a:t>N</a:t>
            </a:r>
            <a:r>
              <a:rPr lang="ru-RU" sz="1400" b="1" u="sng" dirty="0" err="1" smtClean="0">
                <a:solidFill>
                  <a:srgbClr val="0070C0"/>
                </a:solidFill>
                <a:sym typeface="Symbol"/>
              </a:rPr>
              <a:t>_сотр</a:t>
            </a:r>
            <a:r>
              <a:rPr lang="ru-RU" sz="1400" b="1" u="sng" dirty="0" smtClean="0">
                <a:solidFill>
                  <a:srgbClr val="0070C0"/>
                </a:solidFill>
                <a:sym typeface="Symbol"/>
              </a:rPr>
              <a:t>, </a:t>
            </a:r>
            <a:r>
              <a:rPr lang="en-US" sz="1400" b="1" u="sng" dirty="0" smtClean="0">
                <a:solidFill>
                  <a:srgbClr val="0070C0"/>
                </a:solidFill>
                <a:sym typeface="Symbol"/>
              </a:rPr>
              <a:t>N_</a:t>
            </a:r>
            <a:r>
              <a:rPr lang="ru-RU" sz="1400" b="1" u="sng" dirty="0" err="1" smtClean="0">
                <a:solidFill>
                  <a:srgbClr val="0070C0"/>
                </a:solidFill>
                <a:sym typeface="Symbol"/>
              </a:rPr>
              <a:t>эт</a:t>
            </a:r>
            <a:r>
              <a:rPr lang="ru-RU" sz="1400" b="1" dirty="0" smtClean="0">
                <a:sym typeface="Symbol"/>
              </a:rPr>
              <a:t>, </a:t>
            </a:r>
            <a:r>
              <a:rPr lang="ru-RU" sz="1400" b="1" dirty="0" err="1" smtClean="0">
                <a:sym typeface="Symbol"/>
              </a:rPr>
              <a:t>Дата_нач</a:t>
            </a:r>
            <a:r>
              <a:rPr lang="ru-RU" sz="1400" b="1" dirty="0" smtClean="0">
                <a:sym typeface="Symbol"/>
              </a:rPr>
              <a:t>, </a:t>
            </a:r>
            <a:r>
              <a:rPr lang="ru-RU" sz="1400" b="1" dirty="0" err="1" smtClean="0">
                <a:sym typeface="Symbol"/>
              </a:rPr>
              <a:t>Дата_кон</a:t>
            </a:r>
            <a:r>
              <a:rPr lang="ru-RU" sz="1400" b="1" dirty="0" smtClean="0">
                <a:sym typeface="Symbol"/>
              </a:rPr>
              <a:t>, </a:t>
            </a:r>
            <a:r>
              <a:rPr lang="ru-RU" sz="1400" b="1" dirty="0" err="1" smtClean="0">
                <a:sym typeface="Symbol"/>
              </a:rPr>
              <a:t>Назв_проекта</a:t>
            </a:r>
            <a:r>
              <a:rPr lang="ru-RU" sz="1400" b="1" dirty="0" smtClean="0">
                <a:sym typeface="Symbol"/>
              </a:rPr>
              <a:t>, </a:t>
            </a:r>
            <a:r>
              <a:rPr lang="en-US" sz="1400" b="1" dirty="0" smtClean="0">
                <a:sym typeface="Symbol"/>
              </a:rPr>
              <a:t>N_</a:t>
            </a:r>
            <a:r>
              <a:rPr lang="ru-RU" sz="1400" b="1" dirty="0" smtClean="0">
                <a:sym typeface="Symbol"/>
              </a:rPr>
              <a:t>отдела, </a:t>
            </a:r>
            <a:r>
              <a:rPr lang="ru-RU" sz="1400" b="1" dirty="0" err="1" smtClean="0">
                <a:sym typeface="Symbol"/>
              </a:rPr>
              <a:t>Назв_отдела</a:t>
            </a:r>
            <a:r>
              <a:rPr lang="ru-RU" sz="1800" b="1" dirty="0" smtClean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ym typeface="Symbol"/>
              </a:rPr>
              <a:t>ФЗ:</a:t>
            </a:r>
          </a:p>
          <a:p>
            <a:pPr>
              <a:spcBef>
                <a:spcPts val="0"/>
              </a:spcBef>
              <a:buNone/>
            </a:pPr>
            <a:r>
              <a:rPr lang="ru-RU" sz="1600" b="1" dirty="0" smtClean="0">
                <a:solidFill>
                  <a:srgbClr val="0070C0"/>
                </a:solidFill>
                <a:sym typeface="Symbol"/>
              </a:rPr>
              <a:t>1. </a:t>
            </a:r>
            <a:r>
              <a:rPr lang="en-US" sz="1600" b="1" dirty="0" smtClean="0">
                <a:solidFill>
                  <a:srgbClr val="0070C0"/>
                </a:solidFill>
                <a:sym typeface="Symbol"/>
              </a:rPr>
              <a:t>N</a:t>
            </a:r>
            <a:r>
              <a:rPr lang="ru-RU" sz="1600" b="1" dirty="0" err="1" smtClean="0">
                <a:solidFill>
                  <a:srgbClr val="0070C0"/>
                </a:solidFill>
                <a:sym typeface="Symbol"/>
              </a:rPr>
              <a:t>_проекта</a:t>
            </a:r>
            <a:r>
              <a:rPr lang="ru-RU" sz="1600" b="1" dirty="0" smtClean="0">
                <a:solidFill>
                  <a:srgbClr val="0070C0"/>
                </a:solidFill>
                <a:sym typeface="Symbol"/>
              </a:rPr>
              <a:t>, </a:t>
            </a:r>
            <a:r>
              <a:rPr lang="en-US" sz="1600" b="1" dirty="0" smtClean="0">
                <a:solidFill>
                  <a:srgbClr val="0070C0"/>
                </a:solidFill>
                <a:sym typeface="Symbol"/>
              </a:rPr>
              <a:t>N</a:t>
            </a:r>
            <a:r>
              <a:rPr lang="ru-RU" sz="1600" b="1" dirty="0" err="1" smtClean="0">
                <a:solidFill>
                  <a:srgbClr val="0070C0"/>
                </a:solidFill>
                <a:sym typeface="Symbol"/>
              </a:rPr>
              <a:t>_сотр</a:t>
            </a:r>
            <a:r>
              <a:rPr lang="ru-RU" sz="1600" b="1" dirty="0" smtClean="0">
                <a:solidFill>
                  <a:srgbClr val="0070C0"/>
                </a:solidFill>
                <a:sym typeface="Symbol"/>
              </a:rPr>
              <a:t>, </a:t>
            </a:r>
            <a:r>
              <a:rPr lang="en-US" sz="1600" b="1" dirty="0" smtClean="0">
                <a:solidFill>
                  <a:srgbClr val="0070C0"/>
                </a:solidFill>
                <a:sym typeface="Symbol"/>
              </a:rPr>
              <a:t>N_</a:t>
            </a:r>
            <a:r>
              <a:rPr lang="ru-RU" sz="1600" b="1" dirty="0" err="1" smtClean="0">
                <a:solidFill>
                  <a:srgbClr val="0070C0"/>
                </a:solidFill>
                <a:sym typeface="Symbol"/>
              </a:rPr>
              <a:t>эт</a:t>
            </a:r>
            <a:r>
              <a:rPr lang="ru-RU" sz="1600" b="1" dirty="0" smtClean="0">
                <a:solidFill>
                  <a:srgbClr val="0070C0"/>
                </a:solidFill>
                <a:sym typeface="Symbo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</a:t>
            </a:r>
            <a:r>
              <a:rPr lang="ru-RU" sz="1800" dirty="0" smtClean="0">
                <a:sym typeface="Symbol"/>
              </a:rPr>
              <a:t> 	</a:t>
            </a:r>
            <a:r>
              <a:rPr lang="ru-RU" sz="1400" b="1" dirty="0" err="1" smtClean="0">
                <a:sym typeface="Symbol"/>
              </a:rPr>
              <a:t>Дата_нач</a:t>
            </a:r>
            <a:r>
              <a:rPr lang="ru-RU" sz="1400" b="1" dirty="0" smtClean="0">
                <a:sym typeface="Symbol"/>
              </a:rPr>
              <a:t>, </a:t>
            </a:r>
            <a:r>
              <a:rPr lang="ru-RU" sz="1400" b="1" dirty="0" err="1" smtClean="0">
                <a:sym typeface="Symbol"/>
              </a:rPr>
              <a:t>Дата_кон</a:t>
            </a:r>
            <a:r>
              <a:rPr lang="ru-RU" sz="1400" b="1" dirty="0" smtClean="0">
                <a:sym typeface="Symbol"/>
              </a:rPr>
              <a:t>, </a:t>
            </a:r>
            <a:r>
              <a:rPr lang="ru-RU" sz="1400" b="1" dirty="0" err="1" smtClean="0">
                <a:sym typeface="Symbol"/>
              </a:rPr>
              <a:t>Назв_проекта</a:t>
            </a:r>
            <a:r>
              <a:rPr lang="ru-RU" sz="1400" b="1" dirty="0" smtClean="0">
                <a:sym typeface="Symbol"/>
              </a:rPr>
              <a:t>, </a:t>
            </a:r>
            <a:r>
              <a:rPr lang="en-US" sz="1400" b="1" dirty="0" smtClean="0">
                <a:sym typeface="Symbol"/>
              </a:rPr>
              <a:t>N_</a:t>
            </a:r>
            <a:r>
              <a:rPr lang="ru-RU" sz="1400" b="1" dirty="0" smtClean="0">
                <a:sym typeface="Symbol"/>
              </a:rPr>
              <a:t>отдела, </a:t>
            </a:r>
            <a:r>
              <a:rPr lang="ru-RU" sz="1400" b="1" dirty="0" err="1" smtClean="0">
                <a:sym typeface="Symbol"/>
              </a:rPr>
              <a:t>Назв_отдела</a:t>
            </a:r>
            <a:endParaRPr lang="ru-RU" sz="14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olidFill>
                  <a:srgbClr val="3333FF"/>
                </a:solidFill>
                <a:sym typeface="Symbol"/>
              </a:rPr>
              <a:t>2. </a:t>
            </a:r>
            <a:r>
              <a:rPr lang="en-US" sz="1800" b="1" dirty="0" smtClean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dirty="0" err="1" smtClean="0">
                <a:solidFill>
                  <a:srgbClr val="3333FF"/>
                </a:solidFill>
                <a:sym typeface="Symbol"/>
              </a:rPr>
              <a:t>_проекта</a:t>
            </a:r>
            <a:r>
              <a:rPr lang="ru-RU" sz="1800" b="1" dirty="0" smtClean="0">
                <a:solidFill>
                  <a:srgbClr val="3333FF"/>
                </a:solidFill>
                <a:sym typeface="Symbol"/>
              </a:rPr>
              <a:t> 		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</a:t>
            </a:r>
            <a:r>
              <a:rPr lang="ru-RU" sz="1800" dirty="0" smtClean="0">
                <a:solidFill>
                  <a:srgbClr val="3333FF"/>
                </a:solidFill>
                <a:sym typeface="Symbol"/>
              </a:rPr>
              <a:t> 	</a:t>
            </a:r>
            <a:r>
              <a:rPr lang="ru-RU" sz="1800" b="1" dirty="0" err="1" smtClean="0">
                <a:solidFill>
                  <a:srgbClr val="3333FF"/>
                </a:solidFill>
                <a:sym typeface="Symbol"/>
              </a:rPr>
              <a:t>Назв_проекта</a:t>
            </a:r>
            <a:r>
              <a:rPr lang="ru-RU" sz="1800" b="1" dirty="0" smtClean="0">
                <a:solidFill>
                  <a:srgbClr val="3333FF"/>
                </a:solidFill>
                <a:sym typeface="Symbol"/>
              </a:rPr>
              <a:t>, </a:t>
            </a:r>
            <a:r>
              <a:rPr lang="ru-RU" sz="1800" b="1" dirty="0" err="1" smtClean="0">
                <a:solidFill>
                  <a:srgbClr val="3333FF"/>
                </a:solidFill>
                <a:sym typeface="Symbol"/>
              </a:rPr>
              <a:t>Дата_нач</a:t>
            </a:r>
            <a:r>
              <a:rPr lang="ru-RU" sz="1800" b="1" dirty="0" smtClean="0">
                <a:solidFill>
                  <a:srgbClr val="3333FF"/>
                </a:solidFill>
                <a:sym typeface="Symbol"/>
              </a:rPr>
              <a:t>, </a:t>
            </a:r>
            <a:r>
              <a:rPr lang="ru-RU" sz="1800" b="1" dirty="0" err="1" smtClean="0">
                <a:solidFill>
                  <a:srgbClr val="3333FF"/>
                </a:solidFill>
                <a:sym typeface="Symbol"/>
              </a:rPr>
              <a:t>Дата_кон</a:t>
            </a:r>
            <a:endParaRPr lang="ru-RU" sz="1800" b="1" dirty="0" smtClean="0">
              <a:solidFill>
                <a:srgbClr val="3333FF"/>
              </a:solidFill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olidFill>
                  <a:srgbClr val="008000"/>
                </a:solidFill>
                <a:sym typeface="Symbol"/>
              </a:rPr>
              <a:t>3. </a:t>
            </a:r>
            <a:r>
              <a:rPr lang="en-US" sz="1800" b="1" dirty="0" smtClean="0">
                <a:solidFill>
                  <a:srgbClr val="008000"/>
                </a:solidFill>
                <a:sym typeface="Symbol"/>
              </a:rPr>
              <a:t>N_</a:t>
            </a:r>
            <a:r>
              <a:rPr lang="ru-RU" sz="1800" b="1" dirty="0" smtClean="0">
                <a:solidFill>
                  <a:srgbClr val="008000"/>
                </a:solidFill>
                <a:sym typeface="Symbol"/>
              </a:rPr>
              <a:t>отдела</a:t>
            </a:r>
            <a:r>
              <a:rPr lang="en-US" sz="1800" dirty="0" smtClean="0">
                <a:solidFill>
                  <a:srgbClr val="008000"/>
                </a:solidFill>
                <a:sym typeface="Symbol"/>
              </a:rPr>
              <a:t> </a:t>
            </a:r>
            <a:r>
              <a:rPr lang="ru-RU" sz="1800" dirty="0" smtClean="0">
                <a:solidFill>
                  <a:srgbClr val="00B050"/>
                </a:solidFill>
                <a:sym typeface="Symbol"/>
              </a:rPr>
              <a:t>		</a:t>
            </a:r>
            <a:r>
              <a:rPr lang="en-US" sz="2400" dirty="0" smtClean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1800" dirty="0" smtClean="0">
                <a:solidFill>
                  <a:srgbClr val="00B050"/>
                </a:solidFill>
                <a:sym typeface="Symbol"/>
              </a:rPr>
              <a:t> </a:t>
            </a:r>
            <a:r>
              <a:rPr lang="ru-RU" sz="1800" dirty="0" smtClean="0">
                <a:solidFill>
                  <a:srgbClr val="00B050"/>
                </a:solidFill>
                <a:sym typeface="Symbol"/>
              </a:rPr>
              <a:t>	</a:t>
            </a:r>
            <a:r>
              <a:rPr lang="ru-RU" sz="1800" b="1" dirty="0" err="1" smtClean="0">
                <a:solidFill>
                  <a:srgbClr val="008000"/>
                </a:solidFill>
                <a:sym typeface="Symbol"/>
              </a:rPr>
              <a:t>Назв_отдела</a:t>
            </a:r>
            <a:endParaRPr lang="ru-RU" sz="1800" b="1" dirty="0" smtClean="0">
              <a:solidFill>
                <a:srgbClr val="008000"/>
              </a:solidFill>
              <a:sym typeface="Symbol"/>
            </a:endParaRPr>
          </a:p>
          <a:p>
            <a:pPr>
              <a:spcBef>
                <a:spcPts val="60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600"/>
              </a:spcBef>
              <a:buNone/>
            </a:pPr>
            <a:r>
              <a:rPr lang="ru-RU" sz="1800" b="1" dirty="0" smtClean="0">
                <a:sym typeface="Symbol"/>
              </a:rPr>
              <a:t>Проекты(</a:t>
            </a:r>
            <a:r>
              <a:rPr lang="en-US" sz="1400" b="1" u="heavy" dirty="0" smtClean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400" b="1" u="heavy" dirty="0" err="1" smtClean="0">
                <a:solidFill>
                  <a:srgbClr val="3333FF"/>
                </a:solidFill>
                <a:sym typeface="Symbol"/>
              </a:rPr>
              <a:t>_проекта</a:t>
            </a:r>
            <a:r>
              <a:rPr lang="ru-RU" sz="1400" b="1" u="heavy" dirty="0" smtClean="0">
                <a:solidFill>
                  <a:srgbClr val="3333FF"/>
                </a:solidFill>
                <a:sym typeface="Symbol"/>
              </a:rPr>
              <a:t>, </a:t>
            </a:r>
            <a:r>
              <a:rPr lang="en-US" sz="1400" b="1" u="heavy" dirty="0" smtClean="0">
                <a:sym typeface="Symbol"/>
              </a:rPr>
              <a:t>N</a:t>
            </a:r>
            <a:r>
              <a:rPr lang="ru-RU" sz="1400" b="1" u="heavy" dirty="0" err="1" smtClean="0">
                <a:sym typeface="Symbol"/>
              </a:rPr>
              <a:t>_сотр</a:t>
            </a:r>
            <a:r>
              <a:rPr lang="ru-RU" sz="1400" b="1" u="heavy" dirty="0" smtClean="0">
                <a:sym typeface="Symbol"/>
              </a:rPr>
              <a:t>, </a:t>
            </a:r>
            <a:r>
              <a:rPr lang="en-US" sz="1400" b="1" u="heavy" dirty="0" smtClean="0">
                <a:sym typeface="Symbol"/>
              </a:rPr>
              <a:t>N_</a:t>
            </a:r>
            <a:r>
              <a:rPr lang="ru-RU" sz="1400" b="1" u="heavy" dirty="0" err="1" smtClean="0">
                <a:sym typeface="Symbol"/>
              </a:rPr>
              <a:t>эт</a:t>
            </a:r>
            <a:r>
              <a:rPr lang="ru-RU" sz="1400" b="1" dirty="0" smtClean="0">
                <a:sym typeface="Symbol"/>
              </a:rPr>
              <a:t>, </a:t>
            </a:r>
            <a:r>
              <a:rPr lang="ru-RU" sz="1400" b="1" dirty="0" err="1" smtClean="0">
                <a:solidFill>
                  <a:srgbClr val="3333FF"/>
                </a:solidFill>
                <a:sym typeface="Symbol"/>
              </a:rPr>
              <a:t>Дата_нач</a:t>
            </a:r>
            <a:r>
              <a:rPr lang="ru-RU" sz="1400" b="1" dirty="0" smtClean="0">
                <a:sym typeface="Symbol"/>
              </a:rPr>
              <a:t>, </a:t>
            </a:r>
            <a:r>
              <a:rPr lang="ru-RU" sz="1400" b="1" dirty="0" err="1" smtClean="0">
                <a:solidFill>
                  <a:srgbClr val="3333FF"/>
                </a:solidFill>
                <a:sym typeface="Symbol"/>
              </a:rPr>
              <a:t>Дата_кон</a:t>
            </a:r>
            <a:r>
              <a:rPr lang="ru-RU" sz="1400" b="1" dirty="0" smtClean="0">
                <a:sym typeface="Symbol"/>
              </a:rPr>
              <a:t>, </a:t>
            </a:r>
            <a:r>
              <a:rPr lang="ru-RU" sz="1400" b="1" dirty="0" err="1" smtClean="0">
                <a:solidFill>
                  <a:srgbClr val="3333FF"/>
                </a:solidFill>
                <a:sym typeface="Symbol"/>
              </a:rPr>
              <a:t>Назв_проекта</a:t>
            </a:r>
            <a:r>
              <a:rPr lang="ru-RU" sz="1400" b="1" dirty="0" smtClean="0">
                <a:sym typeface="Symbol"/>
              </a:rPr>
              <a:t>, </a:t>
            </a:r>
            <a:r>
              <a:rPr lang="en-US" sz="1400" b="1" dirty="0" smtClean="0">
                <a:sym typeface="Symbol"/>
              </a:rPr>
              <a:t>N_</a:t>
            </a:r>
            <a:r>
              <a:rPr lang="ru-RU" sz="1400" b="1" dirty="0" smtClean="0">
                <a:sym typeface="Symbol"/>
              </a:rPr>
              <a:t>отдела, </a:t>
            </a:r>
            <a:r>
              <a:rPr lang="ru-RU" sz="1400" b="1" dirty="0" err="1" smtClean="0">
                <a:sym typeface="Symbol"/>
              </a:rPr>
              <a:t>Назв_отдела</a:t>
            </a:r>
            <a:r>
              <a:rPr lang="ru-RU" sz="1800" b="1" dirty="0" smtClean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 smtClean="0">
                <a:sym typeface="Symbol"/>
              </a:rPr>
              <a:t>1. По ФЗ </a:t>
            </a:r>
            <a:r>
              <a:rPr lang="ru-RU" sz="1800" b="1" spc="-50" dirty="0" smtClean="0">
                <a:solidFill>
                  <a:schemeClr val="accent1">
                    <a:lumMod val="50000"/>
                  </a:schemeClr>
                </a:solidFill>
                <a:sym typeface="Symbol"/>
              </a:rPr>
              <a:t>2 </a:t>
            </a:r>
            <a:r>
              <a:rPr lang="ru-RU" sz="1800" spc="-50" dirty="0" smtClean="0">
                <a:sym typeface="Symbol"/>
              </a:rPr>
              <a:t>разбиваем отношение </a:t>
            </a:r>
            <a:r>
              <a:rPr lang="ru-RU" sz="1800" b="1" spc="-50" dirty="0" smtClean="0">
                <a:sym typeface="Symbol"/>
              </a:rPr>
              <a:t>ПРОЕКТЫ </a:t>
            </a:r>
            <a:r>
              <a:rPr lang="ru-RU" sz="1800" spc="-50" dirty="0" smtClean="0">
                <a:sym typeface="Symbol"/>
              </a:rPr>
              <a:t>на 2 отношения</a:t>
            </a:r>
            <a:r>
              <a:rPr lang="ru-RU" sz="1800" b="1" spc="-50" dirty="0" smtClean="0">
                <a:sym typeface="Symbol"/>
              </a:rPr>
              <a:t> </a:t>
            </a:r>
            <a:r>
              <a:rPr lang="ru-RU" sz="1800" b="1" dirty="0" smtClean="0">
                <a:sym typeface="Symbol"/>
              </a:rPr>
              <a:t>(</a:t>
            </a:r>
            <a:r>
              <a:rPr lang="ru-RU" sz="1800" b="1" dirty="0" smtClean="0">
                <a:solidFill>
                  <a:srgbClr val="FF0000"/>
                </a:solidFill>
                <a:sym typeface="Symbol"/>
              </a:rPr>
              <a:t>приводим  к  </a:t>
            </a:r>
            <a:r>
              <a:rPr lang="en-US" sz="1800" b="1" dirty="0" smtClean="0">
                <a:solidFill>
                  <a:srgbClr val="FF0000"/>
                </a:solidFill>
                <a:sym typeface="Symbol"/>
              </a:rPr>
              <a:t>II </a:t>
            </a:r>
            <a:r>
              <a:rPr lang="ru-RU" sz="1800" b="1" dirty="0" smtClean="0">
                <a:solidFill>
                  <a:srgbClr val="FF0000"/>
                </a:solidFill>
                <a:sym typeface="Symbol"/>
              </a:rPr>
              <a:t>НФ</a:t>
            </a:r>
            <a:r>
              <a:rPr lang="ru-RU" sz="1800" b="1" dirty="0" smtClean="0">
                <a:sym typeface="Symbol"/>
              </a:rPr>
              <a:t>):</a:t>
            </a:r>
          </a:p>
          <a:p>
            <a:pPr>
              <a:spcBef>
                <a:spcPts val="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Проекты (</a:t>
            </a:r>
            <a:r>
              <a:rPr lang="en-US" sz="1800" b="1" u="sng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N</a:t>
            </a:r>
            <a:r>
              <a:rPr lang="ru-RU" sz="1800" b="1" u="sng" dirty="0" err="1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_проекта</a:t>
            </a: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Назв_проекта</a:t>
            </a: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Дата_нач</a:t>
            </a: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Дата_кон</a:t>
            </a: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Участие </a:t>
            </a:r>
            <a:r>
              <a:rPr lang="ru-RU" sz="1800" b="1" dirty="0" smtClean="0">
                <a:sym typeface="Symbol"/>
              </a:rPr>
              <a:t>(</a:t>
            </a:r>
            <a:r>
              <a:rPr lang="en-US" sz="1700" b="1" u="sng" dirty="0" smtClean="0">
                <a:sym typeface="Symbol"/>
              </a:rPr>
              <a:t>N</a:t>
            </a:r>
            <a:r>
              <a:rPr lang="ru-RU" sz="1700" b="1" u="sng" dirty="0" err="1" smtClean="0">
                <a:sym typeface="Symbol"/>
              </a:rPr>
              <a:t>_проекта</a:t>
            </a:r>
            <a:r>
              <a:rPr lang="ru-RU" sz="1700" b="1" u="sng" dirty="0" smtClean="0">
                <a:sym typeface="Symbol"/>
              </a:rPr>
              <a:t>, </a:t>
            </a:r>
            <a:r>
              <a:rPr lang="en-US" sz="1700" b="1" u="sng" dirty="0" smtClean="0">
                <a:sym typeface="Symbol"/>
              </a:rPr>
              <a:t>N</a:t>
            </a:r>
            <a:r>
              <a:rPr lang="ru-RU" sz="1700" b="1" u="sng" dirty="0" err="1" smtClean="0">
                <a:sym typeface="Symbol"/>
              </a:rPr>
              <a:t>_сотр</a:t>
            </a:r>
            <a:r>
              <a:rPr lang="ru-RU" sz="1700" b="1" u="sng" dirty="0" smtClean="0">
                <a:sym typeface="Symbol"/>
              </a:rPr>
              <a:t>, </a:t>
            </a:r>
            <a:r>
              <a:rPr lang="en-US" sz="1700" b="1" u="sng" dirty="0" smtClean="0">
                <a:sym typeface="Symbol"/>
              </a:rPr>
              <a:t>N_</a:t>
            </a:r>
            <a:r>
              <a:rPr lang="ru-RU" sz="1700" b="1" u="sng" dirty="0" err="1" smtClean="0">
                <a:sym typeface="Symbol"/>
              </a:rPr>
              <a:t>эт</a:t>
            </a:r>
            <a:r>
              <a:rPr lang="ru-RU" sz="1700" b="1" dirty="0" smtClean="0">
                <a:sym typeface="Symbol"/>
              </a:rPr>
              <a:t>, </a:t>
            </a:r>
            <a:r>
              <a:rPr lang="en-US" sz="1700" b="1" dirty="0" smtClean="0">
                <a:solidFill>
                  <a:srgbClr val="008000"/>
                </a:solidFill>
                <a:sym typeface="Symbol"/>
              </a:rPr>
              <a:t>N_</a:t>
            </a:r>
            <a:r>
              <a:rPr lang="ru-RU" sz="1700" b="1" dirty="0" smtClean="0">
                <a:solidFill>
                  <a:srgbClr val="008000"/>
                </a:solidFill>
                <a:sym typeface="Symbol"/>
              </a:rPr>
              <a:t>отдела</a:t>
            </a:r>
            <a:r>
              <a:rPr lang="ru-RU" sz="1700" b="1" dirty="0" smtClean="0">
                <a:sym typeface="Symbol"/>
              </a:rPr>
              <a:t>, </a:t>
            </a:r>
            <a:r>
              <a:rPr lang="ru-RU" sz="1700" b="1" dirty="0" err="1" smtClean="0">
                <a:solidFill>
                  <a:srgbClr val="008000"/>
                </a:solidFill>
                <a:sym typeface="Symbol"/>
              </a:rPr>
              <a:t>Назв_отдела</a:t>
            </a:r>
            <a:r>
              <a:rPr lang="ru-RU" sz="1700" b="1" dirty="0" smtClean="0">
                <a:sym typeface="Symbol"/>
              </a:rPr>
              <a:t> </a:t>
            </a:r>
            <a:r>
              <a:rPr lang="ru-RU" sz="1800" b="1" dirty="0" smtClean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 smtClean="0">
                <a:sym typeface="Symbol"/>
              </a:rPr>
              <a:t>2. По ФЗ </a:t>
            </a:r>
            <a:r>
              <a:rPr lang="ru-RU" sz="1800" b="1" spc="-50" dirty="0" smtClean="0">
                <a:solidFill>
                  <a:srgbClr val="008000"/>
                </a:solidFill>
                <a:sym typeface="Symbol"/>
              </a:rPr>
              <a:t>3 </a:t>
            </a:r>
            <a:r>
              <a:rPr lang="ru-RU" sz="1800" spc="-50" dirty="0" smtClean="0">
                <a:sym typeface="Symbol"/>
              </a:rPr>
              <a:t>разбиваем отношение </a:t>
            </a:r>
            <a:r>
              <a:rPr lang="ru-RU" sz="1800" b="1" spc="-50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УЧАСТИЕ</a:t>
            </a:r>
            <a:r>
              <a:rPr lang="ru-RU" sz="1800" b="1" spc="-50" dirty="0" smtClean="0">
                <a:sym typeface="Symbol"/>
              </a:rPr>
              <a:t> </a:t>
            </a:r>
            <a:r>
              <a:rPr lang="ru-RU" sz="1800" spc="-50" dirty="0" smtClean="0">
                <a:sym typeface="Symbol"/>
              </a:rPr>
              <a:t>на 2 отношения </a:t>
            </a:r>
            <a:r>
              <a:rPr lang="ru-RU" sz="1800" b="1" dirty="0" smtClean="0">
                <a:sym typeface="Symbol"/>
              </a:rPr>
              <a:t>(</a:t>
            </a:r>
            <a:r>
              <a:rPr lang="ru-RU" sz="1800" b="1" dirty="0" smtClean="0">
                <a:solidFill>
                  <a:srgbClr val="FF0000"/>
                </a:solidFill>
                <a:sym typeface="Symbol"/>
              </a:rPr>
              <a:t>приводим  к  </a:t>
            </a:r>
            <a:r>
              <a:rPr lang="en-US" sz="1800" b="1" dirty="0" smtClean="0">
                <a:solidFill>
                  <a:srgbClr val="FF0000"/>
                </a:solidFill>
                <a:sym typeface="Symbol"/>
              </a:rPr>
              <a:t>III </a:t>
            </a:r>
            <a:r>
              <a:rPr lang="ru-RU" sz="1800" b="1" dirty="0" smtClean="0">
                <a:solidFill>
                  <a:srgbClr val="FF0000"/>
                </a:solidFill>
                <a:sym typeface="Symbol"/>
              </a:rPr>
              <a:t>НФ</a:t>
            </a:r>
            <a:r>
              <a:rPr lang="ru-RU" sz="1800" b="1" dirty="0" smtClean="0">
                <a:sym typeface="Symbol"/>
              </a:rPr>
              <a:t>):</a:t>
            </a:r>
          </a:p>
          <a:p>
            <a:pPr>
              <a:spcBef>
                <a:spcPts val="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Проекты (</a:t>
            </a:r>
            <a:r>
              <a:rPr lang="en-US" sz="1800" b="1" u="sng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N</a:t>
            </a:r>
            <a:r>
              <a:rPr lang="ru-RU" sz="1800" b="1" u="sng" dirty="0" err="1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_проекта</a:t>
            </a: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Назв_проекта</a:t>
            </a: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 , </a:t>
            </a:r>
            <a:r>
              <a:rPr lang="ru-RU" sz="1800" b="1" dirty="0" err="1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Дата_нач</a:t>
            </a: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Дата_кон</a:t>
            </a:r>
            <a:r>
              <a:rPr lang="ru-RU" sz="1800" b="1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olidFill>
                  <a:srgbClr val="008000"/>
                </a:solidFill>
                <a:sym typeface="Symbol"/>
              </a:rPr>
              <a:t>Отделы (</a:t>
            </a:r>
            <a:r>
              <a:rPr lang="en-US" sz="1800" b="1" u="sng" dirty="0" smtClean="0">
                <a:solidFill>
                  <a:srgbClr val="008000"/>
                </a:solidFill>
                <a:sym typeface="Symbol"/>
              </a:rPr>
              <a:t>N_</a:t>
            </a:r>
            <a:r>
              <a:rPr lang="ru-RU" sz="1800" b="1" u="sng" dirty="0" smtClean="0">
                <a:solidFill>
                  <a:srgbClr val="008000"/>
                </a:solidFill>
                <a:sym typeface="Symbol"/>
              </a:rPr>
              <a:t>отдела</a:t>
            </a:r>
            <a:r>
              <a:rPr lang="ru-RU" sz="1800" b="1" dirty="0" smtClean="0">
                <a:solidFill>
                  <a:srgbClr val="008000"/>
                </a:solidFill>
                <a:sym typeface="Symbol"/>
              </a:rPr>
              <a:t>, </a:t>
            </a:r>
            <a:r>
              <a:rPr lang="ru-RU" sz="1800" b="1" dirty="0" err="1" smtClean="0">
                <a:solidFill>
                  <a:srgbClr val="008000"/>
                </a:solidFill>
                <a:sym typeface="Symbol"/>
              </a:rPr>
              <a:t>Назв_отдела</a:t>
            </a:r>
            <a:r>
              <a:rPr lang="ru-RU" sz="1800" b="1" dirty="0" smtClean="0">
                <a:solidFill>
                  <a:srgbClr val="008000"/>
                </a:solidFill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ym typeface="Symbol"/>
              </a:rPr>
              <a:t>Сотрудники-проекты (</a:t>
            </a:r>
            <a:r>
              <a:rPr lang="en-US" sz="1800" b="1" u="sng" dirty="0" smtClean="0">
                <a:sym typeface="Symbol"/>
              </a:rPr>
              <a:t>N</a:t>
            </a:r>
            <a:r>
              <a:rPr lang="ru-RU" sz="1800" b="1" u="sng" dirty="0" err="1" smtClean="0">
                <a:sym typeface="Symbol"/>
              </a:rPr>
              <a:t>_проекта</a:t>
            </a:r>
            <a:r>
              <a:rPr lang="ru-RU" sz="1800" b="1" u="sng" dirty="0" smtClean="0">
                <a:sym typeface="Symbol"/>
              </a:rPr>
              <a:t>,</a:t>
            </a:r>
            <a:r>
              <a:rPr lang="en-US" sz="1800" b="1" u="sng" dirty="0" smtClean="0">
                <a:sym typeface="Symbol"/>
              </a:rPr>
              <a:t>N</a:t>
            </a:r>
            <a:r>
              <a:rPr lang="ru-RU" sz="1800" b="1" u="sng" dirty="0" err="1" smtClean="0">
                <a:sym typeface="Symbol"/>
              </a:rPr>
              <a:t>_сотр</a:t>
            </a:r>
            <a:r>
              <a:rPr lang="ru-RU" sz="1800" b="1" u="sng" dirty="0" smtClean="0">
                <a:sym typeface="Symbol"/>
              </a:rPr>
              <a:t>, </a:t>
            </a:r>
            <a:r>
              <a:rPr lang="en-US" sz="1800" b="1" u="sng" dirty="0" smtClean="0">
                <a:sym typeface="Symbol"/>
              </a:rPr>
              <a:t>N_</a:t>
            </a:r>
            <a:r>
              <a:rPr lang="ru-RU" sz="1800" b="1" u="sng" dirty="0" err="1" smtClean="0">
                <a:sym typeface="Symbol"/>
              </a:rPr>
              <a:t>эт</a:t>
            </a:r>
            <a:r>
              <a:rPr lang="ru-RU" sz="1800" b="1" dirty="0" smtClean="0">
                <a:sym typeface="Symbol"/>
              </a:rPr>
              <a:t>, </a:t>
            </a:r>
            <a:r>
              <a:rPr lang="en-US" sz="1800" b="1" dirty="0" smtClean="0">
                <a:sym typeface="Symbol"/>
              </a:rPr>
              <a:t>N_</a:t>
            </a:r>
            <a:r>
              <a:rPr lang="ru-RU" sz="1800" b="1" dirty="0" smtClean="0">
                <a:sym typeface="Symbol"/>
              </a:rPr>
              <a:t>отдела)</a:t>
            </a:r>
            <a:endParaRPr lang="en-US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endParaRPr lang="ru-RU" sz="2800" b="1" dirty="0" smtClean="0">
              <a:sym typeface="Symbol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774456" y="214290"/>
            <a:ext cx="3595087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2"/>
                </a:solidFill>
              </a:rPr>
              <a:t>Отношение проекты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  <p:sp>
        <p:nvSpPr>
          <p:cNvPr id="6" name="Выгнутая вверх стрелка 5"/>
          <p:cNvSpPr/>
          <p:nvPr/>
        </p:nvSpPr>
        <p:spPr>
          <a:xfrm>
            <a:off x="1961710" y="2663915"/>
            <a:ext cx="2880320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Выгнутая вниз стрелка 7"/>
          <p:cNvSpPr/>
          <p:nvPr/>
        </p:nvSpPr>
        <p:spPr>
          <a:xfrm>
            <a:off x="4166955" y="4689140"/>
            <a:ext cx="2025225" cy="225025"/>
          </a:xfrm>
          <a:prstGeom prst="curvedUpArrow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71700" y="6377869"/>
            <a:ext cx="198022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ВСЕ 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1" name="Правая фигурная скобка 10"/>
          <p:cNvSpPr/>
          <p:nvPr/>
        </p:nvSpPr>
        <p:spPr>
          <a:xfrm rot="16200000">
            <a:off x="4662010" y="1988840"/>
            <a:ext cx="270032" cy="1980220"/>
          </a:xfrm>
          <a:prstGeom prst="rightBrac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784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Схема БД в нормальной форме</a:t>
            </a:r>
            <a:endParaRPr lang="ru-RU" sz="3600" dirty="0">
              <a:solidFill>
                <a:schemeClr val="bg2"/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386535" y="3834045"/>
          <a:ext cx="4120891" cy="2135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8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60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45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15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75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dirty="0" smtClean="0">
                          <a:sym typeface="Symbol"/>
                        </a:rPr>
                        <a:t>N</a:t>
                      </a:r>
                      <a:r>
                        <a:rPr lang="ru-RU" sz="1400" b="0" u="none" dirty="0" err="1" smtClean="0">
                          <a:sym typeface="Symbol"/>
                        </a:rPr>
                        <a:t>_проекта</a:t>
                      </a:r>
                      <a:endParaRPr lang="ru-RU" sz="1400" b="0" u="non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dirty="0" smtClean="0">
                          <a:sym typeface="Symbol"/>
                        </a:rPr>
                        <a:t>N</a:t>
                      </a:r>
                      <a:r>
                        <a:rPr lang="ru-RU" sz="1400" b="0" u="none" dirty="0" err="1" smtClean="0">
                          <a:sym typeface="Symbol"/>
                        </a:rPr>
                        <a:t>_сотр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dirty="0" smtClean="0">
                          <a:sym typeface="Symbol"/>
                        </a:rPr>
                        <a:t>N_</a:t>
                      </a:r>
                      <a:r>
                        <a:rPr lang="ru-RU" sz="1400" b="0" u="none" dirty="0" err="1" smtClean="0">
                          <a:sym typeface="Symbol"/>
                        </a:rPr>
                        <a:t>эт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ym typeface="Symbol"/>
                        </a:rPr>
                        <a:t>N_</a:t>
                      </a:r>
                      <a:r>
                        <a:rPr lang="ru-RU" sz="1400" b="0" dirty="0" smtClean="0">
                          <a:sym typeface="Symbol"/>
                        </a:rPr>
                        <a:t>отдела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5012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12-08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1104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5012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12-08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1105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5012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12-09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1106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5012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12-09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1107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887035" y="3879050"/>
          <a:ext cx="4071966" cy="1000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614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6637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ym typeface="Symbol"/>
                        </a:rPr>
                        <a:t>N_</a:t>
                      </a:r>
                      <a:r>
                        <a:rPr lang="ru-RU" sz="1400" b="0" dirty="0" smtClean="0">
                          <a:sym typeface="Symbol"/>
                        </a:rPr>
                        <a:t>отдела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 smtClean="0">
                          <a:sym typeface="Symbol"/>
                        </a:rPr>
                        <a:t>Назв_отдела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375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5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Разработки</a:t>
                      </a:r>
                      <a:r>
                        <a:rPr lang="ru-RU" sz="1600" baseline="0" dirty="0" smtClean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66555" y="1628800"/>
          <a:ext cx="7335816" cy="1485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1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153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751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751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450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dirty="0" smtClean="0">
                          <a:sym typeface="Symbol"/>
                        </a:rPr>
                        <a:t>N</a:t>
                      </a:r>
                      <a:r>
                        <a:rPr lang="ru-RU" sz="1400" b="0" u="none" dirty="0" err="1" smtClean="0">
                          <a:sym typeface="Symbol"/>
                        </a:rPr>
                        <a:t>_проекта</a:t>
                      </a:r>
                      <a:endParaRPr lang="ru-RU" sz="1400" b="0" u="none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err="1" smtClean="0">
                          <a:sym typeface="Symbol"/>
                        </a:rPr>
                        <a:t>Назв_проекта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err="1" smtClean="0">
                          <a:sym typeface="Symbol"/>
                        </a:rPr>
                        <a:t>Дата_нач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err="1" smtClean="0">
                          <a:sym typeface="Symbol"/>
                        </a:rPr>
                        <a:t>Дата_кон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123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12-08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Лексический анализ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1.01.2012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31.03.2012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8879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12-09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Синтаксический</a:t>
                      </a:r>
                      <a:r>
                        <a:rPr lang="ru-RU" sz="1600" baseline="0" dirty="0" smtClean="0"/>
                        <a:t> </a:t>
                      </a:r>
                      <a:r>
                        <a:rPr lang="ru-RU" sz="1600" dirty="0" smtClean="0"/>
                        <a:t> анализ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1.04.2012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30.06.2012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42917"/>
            <a:ext cx="9072500" cy="5981437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ru-RU" sz="1800" b="1" dirty="0" smtClean="0">
                <a:sym typeface="Symbol"/>
              </a:rPr>
              <a:t>Сессия (</a:t>
            </a:r>
            <a:r>
              <a:rPr lang="en-US" sz="1800" b="1" u="sng" dirty="0" smtClean="0">
                <a:sym typeface="Symbol"/>
              </a:rPr>
              <a:t>N</a:t>
            </a:r>
            <a:r>
              <a:rPr lang="ru-RU" sz="1800" b="1" u="sng" dirty="0" smtClean="0">
                <a:sym typeface="Symbol"/>
              </a:rPr>
              <a:t>_</a:t>
            </a:r>
            <a:r>
              <a:rPr lang="ru-RU" sz="1800" b="1" u="sng" dirty="0" err="1" smtClean="0">
                <a:sym typeface="Symbol"/>
              </a:rPr>
              <a:t>зач</a:t>
            </a:r>
            <a:r>
              <a:rPr lang="ru-RU" sz="1800" b="1" u="sng" dirty="0" smtClean="0">
                <a:sym typeface="Symbol"/>
              </a:rPr>
              <a:t>, </a:t>
            </a:r>
            <a:r>
              <a:rPr lang="en-US" sz="1800" b="1" u="sng" dirty="0" smtClean="0">
                <a:sym typeface="Symbol"/>
              </a:rPr>
              <a:t>N</a:t>
            </a:r>
            <a:r>
              <a:rPr lang="ru-RU" sz="1800" b="1" u="sng" dirty="0" smtClean="0">
                <a:sym typeface="Symbol"/>
              </a:rPr>
              <a:t>_пред</a:t>
            </a:r>
            <a:r>
              <a:rPr lang="ru-RU" sz="1800" b="1" dirty="0" smtClean="0">
                <a:sym typeface="Symbol"/>
              </a:rPr>
              <a:t>, Фам, Имя, </a:t>
            </a:r>
            <a:r>
              <a:rPr lang="ru-RU" sz="1800" b="1" dirty="0" err="1" smtClean="0">
                <a:sym typeface="Symbol"/>
              </a:rPr>
              <a:t>Отч</a:t>
            </a:r>
            <a:r>
              <a:rPr lang="ru-RU" sz="1800" b="1" dirty="0" smtClean="0">
                <a:sym typeface="Symbol"/>
              </a:rPr>
              <a:t>, </a:t>
            </a:r>
            <a:r>
              <a:rPr lang="ru-RU" sz="1800" b="1" dirty="0" err="1" smtClean="0">
                <a:sym typeface="Symbol"/>
              </a:rPr>
              <a:t>Назв_предмета</a:t>
            </a:r>
            <a:r>
              <a:rPr lang="ru-RU" sz="1800" b="1" dirty="0" smtClean="0">
                <a:sym typeface="Symbol"/>
              </a:rPr>
              <a:t>, Дата, Оценка)</a:t>
            </a:r>
          </a:p>
          <a:p>
            <a:pPr>
              <a:spcBef>
                <a:spcPts val="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ym typeface="Symbol"/>
              </a:rPr>
              <a:t>ФЗ: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>
                <a:sym typeface="Symbol"/>
              </a:rPr>
              <a:t>_</a:t>
            </a:r>
            <a:r>
              <a:rPr lang="ru-RU" sz="1800" b="1" u="sng" dirty="0" err="1">
                <a:sym typeface="Symbol"/>
              </a:rPr>
              <a:t>зач</a:t>
            </a:r>
            <a:r>
              <a:rPr lang="ru-RU" sz="1800" b="1" u="sng" dirty="0"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>
                <a:sym typeface="Symbol"/>
              </a:rPr>
              <a:t>_пред </a:t>
            </a:r>
            <a:r>
              <a:rPr lang="en-US" sz="1800" dirty="0" smtClean="0">
                <a:sym typeface="Symbol"/>
              </a:rPr>
              <a:t></a:t>
            </a:r>
            <a:r>
              <a:rPr lang="ru-RU" sz="1800" dirty="0" smtClean="0">
                <a:sym typeface="Symbol"/>
              </a:rPr>
              <a:t> </a:t>
            </a:r>
            <a:r>
              <a:rPr lang="ru-RU" sz="1800" b="1" dirty="0">
                <a:sym typeface="Symbol"/>
              </a:rPr>
              <a:t>Фам, Имя, </a:t>
            </a:r>
            <a:r>
              <a:rPr lang="ru-RU" sz="1800" b="1" dirty="0" err="1">
                <a:sym typeface="Symbol"/>
              </a:rPr>
              <a:t>Отч</a:t>
            </a:r>
            <a:r>
              <a:rPr lang="ru-RU" sz="1800" b="1" dirty="0">
                <a:sym typeface="Symbol"/>
              </a:rPr>
              <a:t>, </a:t>
            </a:r>
            <a:r>
              <a:rPr lang="ru-RU" sz="1800" b="1" dirty="0" err="1" smtClean="0">
                <a:sym typeface="Symbol"/>
              </a:rPr>
              <a:t>Назв_предмета</a:t>
            </a:r>
            <a:r>
              <a:rPr lang="ru-RU" sz="1800" b="1" dirty="0">
                <a:sym typeface="Symbol"/>
              </a:rPr>
              <a:t>, Дата, Оценка</a:t>
            </a:r>
            <a:endParaRPr lang="ru-RU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dirty="0" smtClean="0">
                <a:solidFill>
                  <a:srgbClr val="3333FF"/>
                </a:solidFill>
                <a:sym typeface="Symbol"/>
              </a:rPr>
              <a:t>_</a:t>
            </a:r>
            <a:r>
              <a:rPr lang="ru-RU" sz="1800" b="1" dirty="0" err="1" smtClean="0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1800" b="1" dirty="0" smtClean="0">
                <a:solidFill>
                  <a:srgbClr val="3333FF"/>
                </a:solidFill>
                <a:sym typeface="Symbol"/>
              </a:rPr>
              <a:t> </a:t>
            </a:r>
            <a:r>
              <a:rPr lang="en-US" sz="1800" dirty="0" smtClean="0">
                <a:solidFill>
                  <a:srgbClr val="3333FF"/>
                </a:solidFill>
                <a:sym typeface="Symbol"/>
              </a:rPr>
              <a:t></a:t>
            </a:r>
            <a:r>
              <a:rPr lang="ru-RU" sz="1800" dirty="0" smtClean="0">
                <a:solidFill>
                  <a:srgbClr val="3333FF"/>
                </a:solidFill>
                <a:sym typeface="Symbol"/>
              </a:rPr>
              <a:t> 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Фам, Имя, 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Отч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 </a:t>
            </a:r>
            <a:endParaRPr lang="ru-RU" sz="1800" b="1" dirty="0" smtClean="0">
              <a:solidFill>
                <a:srgbClr val="3333FF"/>
              </a:solidFill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solidFill>
                  <a:srgbClr val="00B050"/>
                </a:solidFill>
                <a:sym typeface="Symbol"/>
              </a:rPr>
              <a:t>N_</a:t>
            </a:r>
            <a:r>
              <a:rPr lang="ru-RU" sz="1800" b="1" dirty="0" smtClean="0">
                <a:solidFill>
                  <a:srgbClr val="00B050"/>
                </a:solidFill>
                <a:sym typeface="Symbol"/>
              </a:rPr>
              <a:t>пред</a:t>
            </a:r>
            <a:r>
              <a:rPr lang="en-US" sz="1800" dirty="0" smtClean="0">
                <a:solidFill>
                  <a:srgbClr val="00B050"/>
                </a:solidFill>
                <a:sym typeface="Symbol"/>
              </a:rPr>
              <a:t>  </a:t>
            </a:r>
            <a:r>
              <a:rPr lang="ru-RU" sz="1800" b="1" dirty="0" err="1" smtClean="0">
                <a:solidFill>
                  <a:srgbClr val="00B050"/>
                </a:solidFill>
                <a:sym typeface="Symbol"/>
              </a:rPr>
              <a:t>Назв_предмета</a:t>
            </a:r>
            <a:endParaRPr lang="ru-RU" sz="1800" b="1" dirty="0" smtClean="0">
              <a:solidFill>
                <a:srgbClr val="00B050"/>
              </a:solidFill>
              <a:sym typeface="Symbol"/>
            </a:endParaRPr>
          </a:p>
          <a:p>
            <a:pPr>
              <a:spcBef>
                <a:spcPts val="0"/>
              </a:spcBef>
              <a:buNone/>
            </a:pPr>
            <a:endParaRPr lang="ru-RU" sz="2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 smtClean="0">
                <a:sym typeface="Symbol"/>
              </a:rPr>
              <a:t>По ФЗ </a:t>
            </a:r>
            <a:r>
              <a:rPr lang="en-US" sz="1800" b="1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 </a:t>
            </a:r>
            <a:r>
              <a:rPr lang="en-US" sz="1800" dirty="0">
                <a:solidFill>
                  <a:srgbClr val="3333FF"/>
                </a:solidFill>
                <a:sym typeface="Symbol"/>
              </a:rPr>
              <a:t></a:t>
            </a:r>
            <a:r>
              <a:rPr lang="ru-RU" sz="1800" dirty="0">
                <a:solidFill>
                  <a:srgbClr val="3333FF"/>
                </a:solidFill>
                <a:sym typeface="Symbol"/>
              </a:rPr>
              <a:t> 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Фам, Имя, 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Отч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ru-RU" sz="1800" spc="-50" dirty="0" smtClean="0">
                <a:sym typeface="Symbol"/>
              </a:rPr>
              <a:t>разбиваем отношение </a:t>
            </a:r>
            <a:r>
              <a:rPr lang="ru-RU" sz="1800" b="1" spc="-50" dirty="0" smtClean="0">
                <a:sym typeface="Symbol"/>
              </a:rPr>
              <a:t>Сессия </a:t>
            </a:r>
            <a:r>
              <a:rPr lang="ru-RU" sz="1800" spc="-50" dirty="0" smtClean="0">
                <a:sym typeface="Symbol"/>
              </a:rPr>
              <a:t>на 2 отношения</a:t>
            </a:r>
            <a:r>
              <a:rPr lang="ru-RU" sz="1800" b="1" spc="-50" dirty="0" smtClean="0">
                <a:sym typeface="Symbol"/>
              </a:rPr>
              <a:t> </a:t>
            </a:r>
            <a:r>
              <a:rPr lang="ru-RU" sz="1800" b="1" dirty="0" smtClean="0">
                <a:sym typeface="Symbol"/>
              </a:rPr>
              <a:t>( </a:t>
            </a:r>
            <a:r>
              <a:rPr lang="ru-RU" sz="1800" b="1" dirty="0" smtClean="0">
                <a:solidFill>
                  <a:srgbClr val="FF0000"/>
                </a:solidFill>
                <a:sym typeface="Symbol"/>
              </a:rPr>
              <a:t>первый шаг к  </a:t>
            </a:r>
            <a:r>
              <a:rPr lang="en-US" sz="1800" b="1" dirty="0" smtClean="0">
                <a:solidFill>
                  <a:srgbClr val="FF0000"/>
                </a:solidFill>
                <a:sym typeface="Symbol"/>
              </a:rPr>
              <a:t>II </a:t>
            </a:r>
            <a:r>
              <a:rPr lang="ru-RU" sz="1800" b="1" dirty="0" smtClean="0">
                <a:solidFill>
                  <a:srgbClr val="FF0000"/>
                </a:solidFill>
                <a:sym typeface="Symbol"/>
              </a:rPr>
              <a:t>НФ</a:t>
            </a:r>
            <a:r>
              <a:rPr lang="ru-RU" sz="1800" b="1" dirty="0" smtClean="0">
                <a:sym typeface="Symbol"/>
              </a:rPr>
              <a:t>):</a:t>
            </a:r>
          </a:p>
          <a:p>
            <a:pPr>
              <a:spcBef>
                <a:spcPts val="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ym typeface="Symbol"/>
              </a:rPr>
              <a:t>Студент (</a:t>
            </a:r>
            <a:r>
              <a:rPr lang="en-US" sz="1800" b="1" u="sng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u="sng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1800" b="1" u="sng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1800" b="1" dirty="0" smtClean="0">
                <a:solidFill>
                  <a:srgbClr val="3333FF"/>
                </a:solidFill>
                <a:sym typeface="Symbol"/>
              </a:rPr>
              <a:t>, 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Фам, Имя, 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Отч</a:t>
            </a:r>
            <a:r>
              <a:rPr lang="ru-RU" sz="1800" b="1" dirty="0" smtClean="0"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 smtClean="0">
                <a:sym typeface="Symbol"/>
              </a:rPr>
              <a:t>Сессия (</a:t>
            </a:r>
            <a:r>
              <a:rPr lang="en-US" sz="1800" b="1" u="sng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u="sng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1800" b="1" u="sng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1800" b="1" u="sng" dirty="0">
                <a:solidFill>
                  <a:srgbClr val="3333FF"/>
                </a:solidFill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>
                <a:sym typeface="Symbol"/>
              </a:rPr>
              <a:t>_пред</a:t>
            </a:r>
            <a:r>
              <a:rPr lang="ru-RU" sz="1800" b="1" dirty="0">
                <a:sym typeface="Symbol"/>
              </a:rPr>
              <a:t>, </a:t>
            </a:r>
            <a:r>
              <a:rPr lang="ru-RU" sz="1800" b="1" dirty="0" err="1" smtClean="0">
                <a:sym typeface="Symbol"/>
              </a:rPr>
              <a:t>Назв_предмета</a:t>
            </a:r>
            <a:r>
              <a:rPr lang="ru-RU" sz="1800" b="1" dirty="0">
                <a:sym typeface="Symbol"/>
              </a:rPr>
              <a:t>, Дата, Оценка</a:t>
            </a:r>
            <a:r>
              <a:rPr lang="ru-RU" sz="1800" b="1" dirty="0" smtClean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ru-RU" sz="18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 smtClean="0">
                <a:sym typeface="Symbol"/>
              </a:rPr>
              <a:t>По ФЗ </a:t>
            </a:r>
            <a:r>
              <a:rPr lang="en-US" sz="1800" b="1" dirty="0">
                <a:solidFill>
                  <a:srgbClr val="00B050"/>
                </a:solidFill>
                <a:sym typeface="Symbol"/>
              </a:rPr>
              <a:t>N_</a:t>
            </a:r>
            <a:r>
              <a:rPr lang="ru-RU" sz="1800" b="1" dirty="0">
                <a:solidFill>
                  <a:srgbClr val="00B050"/>
                </a:solidFill>
                <a:sym typeface="Symbol"/>
              </a:rPr>
              <a:t>пред</a:t>
            </a:r>
            <a:r>
              <a:rPr lang="en-US" sz="1800" dirty="0">
                <a:solidFill>
                  <a:srgbClr val="00B050"/>
                </a:solidFill>
                <a:sym typeface="Symbol"/>
              </a:rPr>
              <a:t>  </a:t>
            </a:r>
            <a:r>
              <a:rPr lang="ru-RU" sz="1800" b="1" dirty="0" err="1">
                <a:solidFill>
                  <a:srgbClr val="00B050"/>
                </a:solidFill>
                <a:sym typeface="Symbol"/>
              </a:rPr>
              <a:t>Назв_предмета</a:t>
            </a:r>
            <a:endParaRPr lang="ru-RU" sz="1800" b="1" dirty="0">
              <a:solidFill>
                <a:srgbClr val="00B050"/>
              </a:solidFill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 smtClean="0">
                <a:sym typeface="Symbol"/>
              </a:rPr>
              <a:t>разбиваем отношение </a:t>
            </a:r>
            <a:r>
              <a:rPr lang="ru-RU" sz="1800" b="1" spc="-50" dirty="0" smtClean="0">
                <a:sym typeface="Symbol"/>
              </a:rPr>
              <a:t>Сессия </a:t>
            </a:r>
            <a:r>
              <a:rPr lang="ru-RU" sz="1800" spc="-50" dirty="0" smtClean="0">
                <a:sym typeface="Symbol"/>
              </a:rPr>
              <a:t>на 2 отношения </a:t>
            </a:r>
            <a:r>
              <a:rPr lang="ru-RU" sz="1800" b="1" dirty="0" smtClean="0">
                <a:sym typeface="Symbol"/>
              </a:rPr>
              <a:t>(</a:t>
            </a:r>
            <a:r>
              <a:rPr lang="ru-RU" sz="1800" b="1" dirty="0" smtClean="0">
                <a:solidFill>
                  <a:srgbClr val="FF0000"/>
                </a:solidFill>
                <a:sym typeface="Symbol"/>
              </a:rPr>
              <a:t>второй шаг  к  </a:t>
            </a:r>
            <a:r>
              <a:rPr lang="en-US" sz="1800" b="1" dirty="0" smtClean="0">
                <a:solidFill>
                  <a:srgbClr val="FF0000"/>
                </a:solidFill>
                <a:sym typeface="Symbol"/>
              </a:rPr>
              <a:t>II </a:t>
            </a:r>
            <a:r>
              <a:rPr lang="ru-RU" sz="1800" b="1" dirty="0" smtClean="0">
                <a:solidFill>
                  <a:srgbClr val="FF0000"/>
                </a:solidFill>
                <a:sym typeface="Symbol"/>
              </a:rPr>
              <a:t>НФ</a:t>
            </a:r>
            <a:r>
              <a:rPr lang="ru-RU" sz="1800" b="1" dirty="0" smtClean="0">
                <a:sym typeface="Symbol"/>
              </a:rPr>
              <a:t>):</a:t>
            </a:r>
          </a:p>
          <a:p>
            <a:pPr algn="ctr">
              <a:spcBef>
                <a:spcPts val="0"/>
              </a:spcBef>
              <a:buNone/>
            </a:pPr>
            <a:endParaRPr lang="ru-RU" sz="2000" b="1" u="sng" dirty="0" smtClean="0">
              <a:solidFill>
                <a:schemeClr val="bg2"/>
              </a:solidFill>
              <a:sym typeface="Symbol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2000" b="1" u="sng" dirty="0" smtClean="0">
                <a:solidFill>
                  <a:schemeClr val="bg2"/>
                </a:solidFill>
                <a:sym typeface="Symbol"/>
              </a:rPr>
              <a:t>Итоговая схема ( </a:t>
            </a:r>
            <a:r>
              <a:rPr lang="ru-RU" sz="2000" b="1" u="sng" dirty="0" smtClean="0">
                <a:solidFill>
                  <a:srgbClr val="FF0000"/>
                </a:solidFill>
                <a:sym typeface="Symbol"/>
              </a:rPr>
              <a:t>в </a:t>
            </a:r>
            <a:r>
              <a:rPr lang="en-US" sz="2000" b="1" u="sng" dirty="0" smtClean="0">
                <a:solidFill>
                  <a:srgbClr val="FF0000"/>
                </a:solidFill>
                <a:sym typeface="Symbol"/>
              </a:rPr>
              <a:t>III </a:t>
            </a:r>
            <a:r>
              <a:rPr lang="ru-RU" sz="2000" b="1" u="sng" dirty="0" smtClean="0">
                <a:solidFill>
                  <a:srgbClr val="FF0000"/>
                </a:solidFill>
                <a:sym typeface="Symbol"/>
              </a:rPr>
              <a:t>НФ </a:t>
            </a:r>
            <a:r>
              <a:rPr lang="ru-RU" sz="2000" b="1" u="sng" dirty="0" smtClean="0">
                <a:solidFill>
                  <a:schemeClr val="bg2"/>
                </a:solidFill>
                <a:sym typeface="Symbol"/>
              </a:rPr>
              <a:t>) </a:t>
            </a:r>
            <a:r>
              <a:rPr lang="ru-RU" sz="2000" b="1" u="sng" dirty="0" smtClean="0">
                <a:solidFill>
                  <a:srgbClr val="FF0000"/>
                </a:solidFill>
                <a:sym typeface="Symbol"/>
              </a:rPr>
              <a:t>почему ?</a:t>
            </a:r>
          </a:p>
          <a:p>
            <a:pPr>
              <a:spcBef>
                <a:spcPts val="0"/>
              </a:spcBef>
              <a:buNone/>
            </a:pPr>
            <a:r>
              <a:rPr lang="ru-RU" sz="2000" b="1" dirty="0">
                <a:sym typeface="Symbol"/>
              </a:rPr>
              <a:t>Студент (</a:t>
            </a:r>
            <a:r>
              <a:rPr lang="en-US" sz="2000" b="1" u="sng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2000" b="1" u="sng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2000" b="1" u="sng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2000" b="1" dirty="0">
                <a:solidFill>
                  <a:srgbClr val="3333FF"/>
                </a:solidFill>
                <a:sym typeface="Symbol"/>
              </a:rPr>
              <a:t>, Фам, Имя, </a:t>
            </a:r>
            <a:r>
              <a:rPr lang="ru-RU" sz="2000" b="1" dirty="0" err="1">
                <a:solidFill>
                  <a:srgbClr val="3333FF"/>
                </a:solidFill>
                <a:sym typeface="Symbol"/>
              </a:rPr>
              <a:t>Отч</a:t>
            </a:r>
            <a:r>
              <a:rPr lang="ru-RU" sz="2000" b="1" dirty="0"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2000" b="1" dirty="0" smtClean="0">
                <a:sym typeface="Symbol"/>
              </a:rPr>
              <a:t>Предмет (</a:t>
            </a:r>
            <a:r>
              <a:rPr lang="en-US" sz="2000" b="1" u="sng" dirty="0">
                <a:solidFill>
                  <a:srgbClr val="008000"/>
                </a:solidFill>
                <a:sym typeface="Symbol"/>
              </a:rPr>
              <a:t>N</a:t>
            </a:r>
            <a:r>
              <a:rPr lang="ru-RU" sz="2000" b="1" u="sng" dirty="0">
                <a:solidFill>
                  <a:srgbClr val="008000"/>
                </a:solidFill>
                <a:sym typeface="Symbol"/>
              </a:rPr>
              <a:t>_пред</a:t>
            </a:r>
            <a:r>
              <a:rPr lang="ru-RU" sz="2000" b="1" dirty="0">
                <a:solidFill>
                  <a:srgbClr val="008000"/>
                </a:solidFill>
                <a:sym typeface="Symbol"/>
              </a:rPr>
              <a:t>, </a:t>
            </a:r>
            <a:r>
              <a:rPr lang="ru-RU" sz="2000" b="1" dirty="0" err="1">
                <a:solidFill>
                  <a:srgbClr val="008000"/>
                </a:solidFill>
                <a:sym typeface="Symbol"/>
              </a:rPr>
              <a:t>Назв_предмета</a:t>
            </a:r>
            <a:r>
              <a:rPr lang="ru-RU" sz="2000" b="1" dirty="0">
                <a:sym typeface="Symbol"/>
              </a:rPr>
              <a:t>)</a:t>
            </a:r>
            <a:endParaRPr lang="en-US" sz="2000" b="1" dirty="0" smtClean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2000" b="1" dirty="0">
                <a:sym typeface="Symbol"/>
              </a:rPr>
              <a:t>Сессия (</a:t>
            </a:r>
            <a:r>
              <a:rPr lang="en-US" sz="2000" b="1" u="sng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2000" b="1" u="sng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2000" b="1" u="sng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2000" b="1" u="sng" dirty="0">
                <a:solidFill>
                  <a:srgbClr val="3333FF"/>
                </a:solidFill>
                <a:sym typeface="Symbol"/>
              </a:rPr>
              <a:t>, </a:t>
            </a:r>
            <a:r>
              <a:rPr lang="en-US" sz="2000" b="1" u="sng" dirty="0">
                <a:solidFill>
                  <a:srgbClr val="008000"/>
                </a:solidFill>
                <a:sym typeface="Symbol"/>
              </a:rPr>
              <a:t>N</a:t>
            </a:r>
            <a:r>
              <a:rPr lang="ru-RU" sz="2000" b="1" u="sng" dirty="0">
                <a:solidFill>
                  <a:srgbClr val="008000"/>
                </a:solidFill>
                <a:sym typeface="Symbol"/>
              </a:rPr>
              <a:t>_пред</a:t>
            </a:r>
            <a:r>
              <a:rPr lang="ru-RU" sz="2000" b="1" dirty="0">
                <a:sym typeface="Symbol"/>
              </a:rPr>
              <a:t>, </a:t>
            </a:r>
            <a:r>
              <a:rPr lang="ru-RU" sz="2000" b="1" dirty="0" smtClean="0">
                <a:sym typeface="Symbol"/>
              </a:rPr>
              <a:t>Дата</a:t>
            </a:r>
            <a:r>
              <a:rPr lang="ru-RU" sz="2000" b="1" dirty="0">
                <a:sym typeface="Symbol"/>
              </a:rPr>
              <a:t>, Оценка)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774456" y="214290"/>
            <a:ext cx="3429144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2"/>
                </a:solidFill>
              </a:rPr>
              <a:t>Отношение Сессия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4442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1530" y="953726"/>
            <a:ext cx="8190910" cy="1260139"/>
          </a:xfrm>
        </p:spPr>
        <p:txBody>
          <a:bodyPr>
            <a:noAutofit/>
          </a:bodyPr>
          <a:lstStyle/>
          <a:p>
            <a:r>
              <a:rPr lang="ru-RU" sz="1600" dirty="0" smtClean="0"/>
              <a:t>Эта форма используется при нормализации для имеющихся многозначных зависимостей</a:t>
            </a:r>
            <a:endParaRPr lang="en-US" sz="1600" b="1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dirty="0" smtClean="0"/>
              <a:t>В отношении </a:t>
            </a:r>
            <a:r>
              <a:rPr lang="ru-RU" sz="1600" dirty="0" err="1" smtClean="0"/>
              <a:t>СтудСС</a:t>
            </a:r>
            <a:r>
              <a:rPr lang="ru-RU" sz="1600" dirty="0" smtClean="0"/>
              <a:t> (</a:t>
            </a:r>
            <a:r>
              <a:rPr lang="ru-RU" sz="1600" dirty="0" err="1" smtClean="0"/>
              <a:t>студенты-спец-спорт</a:t>
            </a:r>
            <a:r>
              <a:rPr lang="ru-RU" sz="1600" dirty="0" smtClean="0"/>
              <a:t>)</a:t>
            </a:r>
            <a:r>
              <a:rPr lang="en-US" sz="1600" dirty="0" smtClean="0"/>
              <a:t> </a:t>
            </a:r>
            <a:r>
              <a:rPr lang="ru-RU" sz="1600" dirty="0" smtClean="0"/>
              <a:t>имеются многозначные зависимости  </a:t>
            </a:r>
            <a:r>
              <a:rPr lang="en-US" sz="1600" dirty="0" err="1" smtClean="0"/>
              <a:t>StudID</a:t>
            </a:r>
            <a:r>
              <a:rPr lang="en-US" sz="1600" dirty="0" smtClean="0"/>
              <a:t> -&gt;&gt; </a:t>
            </a:r>
            <a:r>
              <a:rPr lang="ru-RU" sz="1600" dirty="0" smtClean="0"/>
              <a:t>Специальность, </a:t>
            </a:r>
            <a:r>
              <a:rPr lang="en-US" sz="1600" dirty="0" err="1" smtClean="0"/>
              <a:t>StudID</a:t>
            </a:r>
            <a:r>
              <a:rPr lang="en-US" sz="1600" dirty="0" smtClean="0"/>
              <a:t> -&gt;&gt; </a:t>
            </a:r>
            <a:r>
              <a:rPr lang="ru-RU" sz="1600" dirty="0" smtClean="0"/>
              <a:t>Спорт</a:t>
            </a:r>
          </a:p>
          <a:p>
            <a:endParaRPr lang="ru-RU" sz="16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Четвертая</a:t>
            </a:r>
            <a:r>
              <a:rPr kumimoji="0" lang="ru-RU" sz="3200" b="0" i="0" u="none" strike="noStrike" kern="0" cap="none" spc="0" normalizeH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н</a:t>
            </a:r>
            <a:r>
              <a:rPr kumimoji="0" lang="ru-RU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ормальная форма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6565" y="2168860"/>
            <a:ext cx="7290810" cy="2061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86535" y="4644135"/>
            <a:ext cx="7785865" cy="203132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1600" dirty="0" smtClean="0"/>
              <a:t>В отношении </a:t>
            </a:r>
            <a:r>
              <a:rPr lang="en-US" sz="1600" dirty="0" smtClean="0"/>
              <a:t>R(A,B,C) </a:t>
            </a:r>
            <a:r>
              <a:rPr lang="ru-RU" sz="1600" dirty="0" smtClean="0"/>
              <a:t>существует многозначная зависимость </a:t>
            </a:r>
            <a:r>
              <a:rPr lang="en-US" sz="1600" dirty="0" smtClean="0"/>
              <a:t>A-&gt;&gt;B</a:t>
            </a:r>
            <a:r>
              <a:rPr lang="ru-RU" sz="1600" dirty="0" smtClean="0"/>
              <a:t>, тогда и только тогда, когда множество значений </a:t>
            </a:r>
            <a:r>
              <a:rPr lang="en-US" sz="1600" dirty="0" smtClean="0"/>
              <a:t>B</a:t>
            </a:r>
            <a:r>
              <a:rPr lang="ru-RU" sz="1600" dirty="0" smtClean="0"/>
              <a:t>, соответствующее паре значений А и С, зависит только от А и не зависит от С. Можно доказать, что в этом случае выполняется А</a:t>
            </a:r>
            <a:r>
              <a:rPr lang="en-US" sz="1600" dirty="0" smtClean="0"/>
              <a:t>-&gt;&gt;C</a:t>
            </a:r>
            <a:r>
              <a:rPr lang="ru-RU" sz="1600" dirty="0" smtClean="0"/>
              <a:t>. То есть можно написать </a:t>
            </a:r>
            <a:r>
              <a:rPr lang="en-US" sz="1600" dirty="0" smtClean="0"/>
              <a:t>A-&gt;&gt;B|C</a:t>
            </a:r>
            <a:r>
              <a:rPr lang="ru-RU" sz="1600" dirty="0" smtClean="0"/>
              <a:t> </a:t>
            </a:r>
          </a:p>
          <a:p>
            <a:r>
              <a:rPr lang="ru-RU" sz="1600" dirty="0" smtClean="0"/>
              <a:t>Отношение находится в </a:t>
            </a:r>
            <a:r>
              <a:rPr lang="ru-RU" sz="1600" b="1" i="1" dirty="0" smtClean="0"/>
              <a:t>четвертной нормальной форме </a:t>
            </a:r>
            <a:r>
              <a:rPr lang="ru-RU" sz="1600" dirty="0" smtClean="0"/>
              <a:t>(</a:t>
            </a:r>
            <a:r>
              <a:rPr lang="en-US" sz="1600" dirty="0" smtClean="0"/>
              <a:t>4</a:t>
            </a:r>
            <a:r>
              <a:rPr lang="ru-RU" sz="1600" dirty="0" smtClean="0"/>
              <a:t> НФ), тогда и только тогда, когда в случае существования нетривиальной многозначной зависимости </a:t>
            </a:r>
            <a:r>
              <a:rPr lang="en-US" sz="1600" dirty="0" smtClean="0"/>
              <a:t>A-&gt;&gt;B </a:t>
            </a:r>
            <a:r>
              <a:rPr lang="ru-RU" sz="1600" dirty="0" smtClean="0"/>
              <a:t>все остальные </a:t>
            </a:r>
            <a:r>
              <a:rPr lang="ru-RU" sz="1600" dirty="0" err="1" smtClean="0"/>
              <a:t>артибуты</a:t>
            </a:r>
            <a:r>
              <a:rPr lang="ru-RU" sz="1600" dirty="0" smtClean="0"/>
              <a:t> </a:t>
            </a:r>
            <a:r>
              <a:rPr lang="en-US" sz="1600" dirty="0" smtClean="0"/>
              <a:t>R</a:t>
            </a:r>
            <a:r>
              <a:rPr lang="ru-RU" sz="1600" dirty="0" smtClean="0"/>
              <a:t> функционально зависят от А.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1530" y="953725"/>
            <a:ext cx="8190910" cy="1710190"/>
          </a:xfrm>
        </p:spPr>
        <p:txBody>
          <a:bodyPr>
            <a:noAutofit/>
          </a:bodyPr>
          <a:lstStyle/>
          <a:p>
            <a:r>
              <a:rPr lang="ru-RU" sz="1600" dirty="0" smtClean="0"/>
              <a:t>Для приведения к 4НФ можно воспользоваться теоремой </a:t>
            </a:r>
            <a:r>
              <a:rPr lang="ru-RU" sz="1600" dirty="0" err="1" smtClean="0"/>
              <a:t>Фейгина</a:t>
            </a:r>
            <a:r>
              <a:rPr lang="ru-RU" sz="1600" dirty="0" smtClean="0"/>
              <a:t>:</a:t>
            </a:r>
            <a:endParaRPr lang="en-US" sz="1600" b="1" i="1" dirty="0" smtClean="0">
              <a:latin typeface="Times New Roman" pitchFamily="18" charset="0"/>
              <a:cs typeface="Times New Roman" pitchFamily="18" charset="0"/>
            </a:endParaRPr>
          </a:p>
          <a:p>
            <a:pPr indent="0">
              <a:buNone/>
            </a:pPr>
            <a:r>
              <a:rPr lang="ru-RU" sz="1600" dirty="0" smtClean="0"/>
              <a:t>Пусть А,В,С являются атрибутами отношения </a:t>
            </a:r>
            <a:r>
              <a:rPr lang="en-US" sz="1600" dirty="0" smtClean="0"/>
              <a:t>R (A,B,C)</a:t>
            </a:r>
            <a:r>
              <a:rPr lang="ru-RU" sz="1600" dirty="0" smtClean="0"/>
              <a:t>.</a:t>
            </a:r>
            <a:r>
              <a:rPr lang="en-US" sz="1600" dirty="0" smtClean="0"/>
              <a:t> </a:t>
            </a:r>
            <a:r>
              <a:rPr lang="ru-RU" sz="1600" dirty="0" smtClean="0"/>
              <a:t>Отношение </a:t>
            </a:r>
            <a:r>
              <a:rPr lang="en-US" sz="1600" dirty="0" smtClean="0"/>
              <a:t>R</a:t>
            </a:r>
            <a:r>
              <a:rPr lang="ru-RU" sz="1600" dirty="0" smtClean="0"/>
              <a:t> будет равно натуральному соединению своих проекций </a:t>
            </a:r>
            <a:r>
              <a:rPr lang="el-GR" sz="1600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(R)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cs typeface="Times New Roman" pitchFamily="18" charset="0"/>
              </a:rPr>
              <a:t>и </a:t>
            </a:r>
            <a:r>
              <a:rPr lang="el-GR" sz="1600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(R)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/>
              <a:t>тогда и только тогда, когда для </a:t>
            </a:r>
            <a:r>
              <a:rPr lang="en-US" sz="1600" dirty="0" smtClean="0"/>
              <a:t>R </a:t>
            </a:r>
            <a:r>
              <a:rPr lang="ru-RU" sz="1600" dirty="0" smtClean="0"/>
              <a:t>выполняется многозначная зависимость </a:t>
            </a:r>
            <a:r>
              <a:rPr lang="en-US" sz="1600" dirty="0" smtClean="0"/>
              <a:t>A-&gt;&gt;B|C</a:t>
            </a:r>
            <a:r>
              <a:rPr lang="ru-RU" sz="1600" dirty="0" smtClean="0"/>
              <a:t>.</a:t>
            </a:r>
          </a:p>
          <a:p>
            <a:r>
              <a:rPr lang="ru-RU" sz="1600" dirty="0" smtClean="0"/>
              <a:t>Выше приведенное отношение </a:t>
            </a:r>
            <a:r>
              <a:rPr lang="en-US" sz="1600" dirty="0" smtClean="0"/>
              <a:t>R</a:t>
            </a:r>
            <a:r>
              <a:rPr lang="ru-RU" sz="1600" dirty="0" smtClean="0"/>
              <a:t> приводится к 4НФ </a:t>
            </a:r>
            <a:r>
              <a:rPr lang="ru-RU" sz="1600" dirty="0" err="1" smtClean="0"/>
              <a:t>разбинием</a:t>
            </a:r>
            <a:r>
              <a:rPr lang="ru-RU" sz="1600" dirty="0" smtClean="0"/>
              <a:t> на следующих 2 отношения: </a:t>
            </a:r>
          </a:p>
          <a:p>
            <a:pPr indent="0">
              <a:buNone/>
            </a:pP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16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Четвертая</a:t>
            </a:r>
            <a:r>
              <a:rPr kumimoji="0" lang="ru-RU" sz="3200" b="0" i="0" u="none" strike="noStrike" kern="0" cap="none" spc="0" normalizeH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н</a:t>
            </a:r>
            <a:r>
              <a:rPr kumimoji="0" lang="ru-RU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ормальная форма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6585" y="2933945"/>
            <a:ext cx="6582692" cy="167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4734145"/>
            <a:ext cx="6173627" cy="1841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2757</TotalTime>
  <Words>1951</Words>
  <Application>Microsoft Office PowerPoint</Application>
  <PresentationFormat>Экран (4:3)</PresentationFormat>
  <Paragraphs>410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Пиксел</vt:lpstr>
      <vt:lpstr>Теория проектирования реляционных баз данных</vt:lpstr>
      <vt:lpstr>Проблемы проектирования - аномалии </vt:lpstr>
      <vt:lpstr>Ограничения на отношения</vt:lpstr>
      <vt:lpstr>Функциональные зависимости</vt:lpstr>
      <vt:lpstr>Слайд 5</vt:lpstr>
      <vt:lpstr>Примеры</vt:lpstr>
      <vt:lpstr>Слайд 7</vt:lpstr>
      <vt:lpstr>Ключи</vt:lpstr>
      <vt:lpstr>Пример. Ключи</vt:lpstr>
      <vt:lpstr>Аксиомы функциональных зависимостей</vt:lpstr>
      <vt:lpstr>Надежность и полнота аксиом (1) </vt:lpstr>
      <vt:lpstr>Надежность и полнота аксиом (2)</vt:lpstr>
      <vt:lpstr>Надежность и полнота аксиом (3)</vt:lpstr>
      <vt:lpstr>Теорема надежности и полноты</vt:lpstr>
      <vt:lpstr>Слайд 15</vt:lpstr>
      <vt:lpstr>Декомпозиция отношения «Проекты»</vt:lpstr>
      <vt:lpstr>Нормальные формы отношений (1)</vt:lpstr>
      <vt:lpstr>Слайд 18</vt:lpstr>
      <vt:lpstr>Слайд 19</vt:lpstr>
      <vt:lpstr>Приведение к нормальным формам</vt:lpstr>
      <vt:lpstr>Слайд 21</vt:lpstr>
      <vt:lpstr>Схема БД в нормальной форме</vt:lpstr>
      <vt:lpstr>Слайд 23</vt:lpstr>
      <vt:lpstr>Слайд 24</vt:lpstr>
      <vt:lpstr>Слайд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User</cp:lastModifiedBy>
  <cp:revision>258</cp:revision>
  <dcterms:created xsi:type="dcterms:W3CDTF">2012-10-04T16:47:37Z</dcterms:created>
  <dcterms:modified xsi:type="dcterms:W3CDTF">2019-09-26T03:34:02Z</dcterms:modified>
</cp:coreProperties>
</file>