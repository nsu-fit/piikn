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5"/>
  </p:notesMasterIdLst>
  <p:sldIdLst>
    <p:sldId id="256" r:id="rId2"/>
    <p:sldId id="273" r:id="rId3"/>
    <p:sldId id="274" r:id="rId4"/>
    <p:sldId id="275" r:id="rId5"/>
    <p:sldId id="277" r:id="rId6"/>
    <p:sldId id="257" r:id="rId7"/>
    <p:sldId id="258" r:id="rId8"/>
    <p:sldId id="259" r:id="rId9"/>
    <p:sldId id="298" r:id="rId10"/>
    <p:sldId id="272" r:id="rId11"/>
    <p:sldId id="278" r:id="rId12"/>
    <p:sldId id="280" r:id="rId13"/>
    <p:sldId id="286" r:id="rId14"/>
    <p:sldId id="296" r:id="rId15"/>
    <p:sldId id="276" r:id="rId16"/>
    <p:sldId id="281" r:id="rId17"/>
    <p:sldId id="282" r:id="rId18"/>
    <p:sldId id="283" r:id="rId19"/>
    <p:sldId id="284" r:id="rId20"/>
    <p:sldId id="295" r:id="rId21"/>
    <p:sldId id="287" r:id="rId22"/>
    <p:sldId id="303" r:id="rId23"/>
    <p:sldId id="300" r:id="rId24"/>
    <p:sldId id="299" r:id="rId25"/>
    <p:sldId id="301" r:id="rId26"/>
    <p:sldId id="288" r:id="rId27"/>
    <p:sldId id="302" r:id="rId28"/>
    <p:sldId id="290" r:id="rId29"/>
    <p:sldId id="291" r:id="rId30"/>
    <p:sldId id="292" r:id="rId31"/>
    <p:sldId id="293" r:id="rId32"/>
    <p:sldId id="294" r:id="rId33"/>
    <p:sldId id="297" r:id="rId34"/>
  </p:sldIdLst>
  <p:sldSz cx="9144000" cy="6858000" type="screen4x3"/>
  <p:notesSz cx="6858000" cy="9144000"/>
  <p:defaultTextStyle>
    <a:defPPr>
      <a:defRPr lang="ru-RU"/>
    </a:defPPr>
    <a:lvl1pPr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008000"/>
    <a:srgbClr val="DE4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8" d="100"/>
          <a:sy n="68" d="100"/>
        </p:scale>
        <p:origin x="121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C735E6D8-50E8-4660-900F-954496AF9666}" type="datetimeFigureOut">
              <a:rPr lang="ru-RU"/>
              <a:pPr>
                <a:defRPr/>
              </a:pPr>
              <a:t>21.11.2019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150F566A-A76C-4521-B664-85EED0FF637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693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0F566A-A76C-4521-B664-85EED0FF6372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noProof="0" smtClean="0"/>
              <a:t>Образец заголовка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noProof="0" smtClean="0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792A8D-ABD6-4348-8128-CAEFBBFD44F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1294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A9B869-4E60-4380-980A-5E4A47DE41E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1822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EBD117-905A-4603-B843-19CB0ED92E2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9267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A92008-49CE-4626-AF1C-26174ECE754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473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E46D63-5256-4EE1-B4F9-06DC7013116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7623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4F8C2-6272-4023-AFFE-6A880DE0E1E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197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17FA5-39CC-403C-A84F-B8339E343D3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965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D97E1-9162-476E-B4DE-B7F9E34AB6A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541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F07DF2-946D-4C29-A073-ADA2654E5F7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340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6107FE-72DE-4047-BDCF-A649BF5E061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517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75DCF0-22C4-4319-BFE5-FEAB0069C75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7488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ru-RU" noProof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C67E18-56AB-422F-B78F-B2FFC8AE8DE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842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EF8BA2DF-1BDE-4573-B5EA-832CA5A97EC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lang="ru-RU" altLang="ru-RU" smtClean="0"/>
              <a:t>Ранние модели </a:t>
            </a:r>
            <a:br>
              <a:rPr lang="ru-RU" altLang="ru-RU" smtClean="0"/>
            </a:br>
            <a:r>
              <a:rPr lang="ru-RU" altLang="ru-RU" smtClean="0"/>
              <a:t>баз данных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28750" y="4797425"/>
            <a:ext cx="7562850" cy="889000"/>
          </a:xfrm>
        </p:spPr>
        <p:txBody>
          <a:bodyPr/>
          <a:lstStyle/>
          <a:p>
            <a:r>
              <a:rPr lang="ru-RU" altLang="ru-RU" sz="2400" dirty="0" smtClean="0"/>
              <a:t>К. </a:t>
            </a:r>
            <a:r>
              <a:rPr lang="ru-RU" altLang="ru-RU" sz="2400" dirty="0" err="1" smtClean="0"/>
              <a:t>Дейт</a:t>
            </a:r>
            <a:r>
              <a:rPr lang="ru-RU" altLang="ru-RU" sz="2400" dirty="0" smtClean="0"/>
              <a:t>. Введение в системы баз данных. Часть 3.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358775" y="142875"/>
            <a:ext cx="8785225" cy="576263"/>
          </a:xfrm>
        </p:spPr>
        <p:txBody>
          <a:bodyPr/>
          <a:lstStyle/>
          <a:p>
            <a:pPr algn="ctr"/>
            <a:r>
              <a:rPr lang="ru-RU" altLang="ru-RU" smtClean="0">
                <a:solidFill>
                  <a:schemeClr val="bg2"/>
                </a:solidFill>
              </a:rPr>
              <a:t>Иерархическая модель </a:t>
            </a:r>
          </a:p>
        </p:txBody>
      </p:sp>
      <p:sp>
        <p:nvSpPr>
          <p:cNvPr id="4099" name="Объект 2"/>
          <p:cNvSpPr>
            <a:spLocks noGrp="1"/>
          </p:cNvSpPr>
          <p:nvPr>
            <p:ph idx="1"/>
          </p:nvPr>
        </p:nvSpPr>
        <p:spPr>
          <a:xfrm>
            <a:off x="33338" y="785813"/>
            <a:ext cx="9110662" cy="5857875"/>
          </a:xfrm>
        </p:spPr>
        <p:txBody>
          <a:bodyPr/>
          <a:lstStyle/>
          <a:p>
            <a:pPr>
              <a:defRPr/>
            </a:pPr>
            <a:r>
              <a:rPr lang="ru-RU" sz="2800" dirty="0">
                <a:solidFill>
                  <a:schemeClr val="accent1">
                    <a:lumMod val="75000"/>
                  </a:schemeClr>
                </a:solidFill>
              </a:rPr>
              <a:t>Иерархическая модель данных </a:t>
            </a:r>
            <a:r>
              <a:rPr lang="ru-RU" sz="2800" dirty="0"/>
              <a:t>является наиболее простой среди всех </a:t>
            </a:r>
            <a:r>
              <a:rPr lang="ru-RU" sz="2800" dirty="0" err="1"/>
              <a:t>даталогических</a:t>
            </a:r>
            <a:r>
              <a:rPr lang="ru-RU" sz="2800" dirty="0"/>
              <a:t> моделей</a:t>
            </a:r>
            <a:r>
              <a:rPr lang="ru-RU" sz="2800" dirty="0" smtClean="0"/>
              <a:t>.</a:t>
            </a:r>
          </a:p>
          <a:p>
            <a:pPr>
              <a:defRPr/>
            </a:pPr>
            <a:r>
              <a:rPr lang="ru-RU" sz="2800" dirty="0" smtClean="0"/>
              <a:t> </a:t>
            </a:r>
            <a:r>
              <a:rPr lang="ru-RU" sz="2800" dirty="0"/>
              <a:t>Исторически она появилась первой среди всех </a:t>
            </a:r>
            <a:r>
              <a:rPr lang="ru-RU" sz="2800" dirty="0" err="1"/>
              <a:t>даталогических</a:t>
            </a:r>
            <a:r>
              <a:rPr lang="ru-RU" sz="2800" dirty="0"/>
              <a:t> </a:t>
            </a:r>
            <a:r>
              <a:rPr lang="ru-RU" sz="2800" dirty="0" smtClean="0"/>
              <a:t>моделей баз данных.</a:t>
            </a:r>
          </a:p>
          <a:p>
            <a:pPr>
              <a:defRPr/>
            </a:pPr>
            <a:r>
              <a:rPr lang="ru-RU" sz="2800" dirty="0" smtClean="0"/>
              <a:t>Эту </a:t>
            </a:r>
            <a:r>
              <a:rPr lang="ru-RU" sz="2800" dirty="0"/>
              <a:t>модель </a:t>
            </a:r>
            <a:r>
              <a:rPr lang="ru-RU" sz="2800" dirty="0" smtClean="0"/>
              <a:t>поддерживает</a:t>
            </a:r>
            <a:r>
              <a:rPr lang="en-US" sz="2800" dirty="0" smtClean="0"/>
              <a:t> </a:t>
            </a:r>
            <a:r>
              <a:rPr lang="ru-RU" sz="2800" dirty="0" smtClean="0"/>
              <a:t>СУБД </a:t>
            </a:r>
            <a:r>
              <a:rPr lang="en-US" sz="2800" dirty="0" smtClean="0"/>
              <a:t> </a:t>
            </a:r>
            <a:r>
              <a:rPr lang="ru-RU" sz="2800" b="1" dirty="0" smtClean="0">
                <a:solidFill>
                  <a:schemeClr val="accent1">
                    <a:lumMod val="75000"/>
                  </a:schemeClr>
                </a:solidFill>
              </a:rPr>
              <a:t>IMS</a:t>
            </a:r>
            <a:r>
              <a:rPr lang="ru-RU" sz="2800" dirty="0" smtClean="0"/>
              <a:t> (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</a:rPr>
              <a:t>Information Management System</a:t>
            </a:r>
            <a:r>
              <a:rPr lang="en-US" sz="2800" dirty="0" smtClean="0"/>
              <a:t>)</a:t>
            </a:r>
            <a:r>
              <a:rPr lang="ru-RU" sz="2800" dirty="0" smtClean="0"/>
              <a:t> фирмы IBM (1968)</a:t>
            </a:r>
            <a:r>
              <a:rPr lang="en-US" sz="2800" dirty="0" smtClean="0"/>
              <a:t> -</a:t>
            </a:r>
            <a:r>
              <a:rPr lang="ru-RU" sz="2800" dirty="0" smtClean="0"/>
              <a:t> </a:t>
            </a:r>
            <a:r>
              <a:rPr lang="ru-RU" sz="2800" dirty="0"/>
              <a:t>первая из зарегистрированных промышленных </a:t>
            </a:r>
            <a:r>
              <a:rPr lang="ru-RU" sz="2800" dirty="0" smtClean="0"/>
              <a:t>СУБД</a:t>
            </a:r>
          </a:p>
          <a:p>
            <a:pPr>
              <a:defRPr/>
            </a:pPr>
            <a:r>
              <a:rPr lang="ru-RU" sz="2800" dirty="0"/>
              <a:t>С конца </a:t>
            </a:r>
            <a:r>
              <a:rPr lang="ru-RU" sz="2800" dirty="0" smtClean="0"/>
              <a:t>1990-х СУБД IMS </a:t>
            </a:r>
            <a:r>
              <a:rPr lang="ru-RU" sz="2800" dirty="0"/>
              <a:t>поддерживает </a:t>
            </a:r>
            <a:endParaRPr lang="ru-RU" sz="2800" dirty="0" smtClean="0"/>
          </a:p>
          <a:p>
            <a:pPr lvl="1"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sz="2400" dirty="0" smtClean="0"/>
              <a:t>доступ </a:t>
            </a:r>
            <a:r>
              <a:rPr lang="ru-RU" sz="2400" dirty="0"/>
              <a:t>на </a:t>
            </a:r>
            <a:r>
              <a:rPr lang="ru-RU" sz="2400" dirty="0">
                <a:solidFill>
                  <a:schemeClr val="bg2"/>
                </a:solidFill>
              </a:rPr>
              <a:t>языке программирования </a:t>
            </a:r>
            <a:r>
              <a:rPr lang="ru-RU" sz="2400" dirty="0" err="1">
                <a:solidFill>
                  <a:schemeClr val="bg2"/>
                </a:solidFill>
              </a:rPr>
              <a:t>Java</a:t>
            </a:r>
            <a:r>
              <a:rPr lang="ru-RU" sz="2400" dirty="0"/>
              <a:t>, </a:t>
            </a:r>
            <a:endParaRPr lang="ru-RU" sz="2400" dirty="0" smtClean="0"/>
          </a:p>
          <a:p>
            <a:pPr lvl="1"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sz="2400" dirty="0" smtClean="0"/>
              <a:t>интерфейсы</a:t>
            </a:r>
            <a:r>
              <a:rPr lang="ru-RU" sz="2400" dirty="0"/>
              <a:t> </a:t>
            </a:r>
            <a:r>
              <a:rPr lang="ru-RU" sz="2400" dirty="0" smtClean="0">
                <a:solidFill>
                  <a:schemeClr val="bg2"/>
                </a:solidFill>
              </a:rPr>
              <a:t>JDBC</a:t>
            </a:r>
            <a:r>
              <a:rPr lang="ru-RU" sz="2400" dirty="0" smtClean="0"/>
              <a:t>, 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sz="2400" dirty="0" smtClean="0"/>
              <a:t>обработку</a:t>
            </a:r>
            <a:r>
              <a:rPr lang="ru-RU" sz="2400" dirty="0"/>
              <a:t> </a:t>
            </a:r>
            <a:r>
              <a:rPr lang="ru-RU" sz="2400" dirty="0">
                <a:solidFill>
                  <a:schemeClr val="bg2"/>
                </a:solidFill>
              </a:rPr>
              <a:t>XML</a:t>
            </a:r>
            <a:r>
              <a:rPr lang="ru-RU" sz="2400" dirty="0"/>
              <a:t>, </a:t>
            </a:r>
            <a:endParaRPr lang="ru-RU" sz="2400" dirty="0" smtClean="0"/>
          </a:p>
          <a:p>
            <a:pPr lvl="1"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sz="2400" dirty="0" smtClean="0"/>
              <a:t>а с 2000-х</a:t>
            </a:r>
            <a:r>
              <a:rPr lang="ru-RU" sz="2400" dirty="0"/>
              <a:t> — поддерживаются </a:t>
            </a:r>
            <a:r>
              <a:rPr lang="ru-RU" sz="2400" dirty="0">
                <a:solidFill>
                  <a:schemeClr val="bg2"/>
                </a:solidFill>
              </a:rPr>
              <a:t>веб-службы</a:t>
            </a:r>
            <a:r>
              <a:rPr lang="ru-RU" sz="2400" dirty="0"/>
              <a:t>.</a:t>
            </a:r>
          </a:p>
          <a:p>
            <a:pPr marL="609600" indent="-609600">
              <a:buFont typeface="Wingdings" pitchFamily="2" charset="2"/>
              <a:buNone/>
              <a:defRPr/>
            </a:pPr>
            <a:endParaRPr lang="ru-RU" sz="2800" dirty="0" smtClean="0"/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6107D0A-A05A-43B6-B2A8-A5A0752DC352}" type="slidenum">
              <a:rPr lang="ru-RU" altLang="ru-RU" sz="1200" smtClean="0">
                <a:latin typeface="Arial Black" pitchFamily="34" charset="0"/>
              </a:rPr>
              <a:pPr eaLnBrk="1" hangingPunct="1"/>
              <a:t>2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Заголовок 1"/>
          <p:cNvSpPr>
            <a:spLocks noGrp="1"/>
          </p:cNvSpPr>
          <p:nvPr>
            <p:ph type="title"/>
          </p:nvPr>
        </p:nvSpPr>
        <p:spPr>
          <a:xfrm>
            <a:off x="468313" y="209550"/>
            <a:ext cx="8229600" cy="504825"/>
          </a:xfrm>
        </p:spPr>
        <p:txBody>
          <a:bodyPr/>
          <a:lstStyle/>
          <a:p>
            <a:pPr algn="ctr"/>
            <a:r>
              <a:rPr lang="ru-RU" altLang="ru-RU" sz="4000" smtClean="0">
                <a:solidFill>
                  <a:schemeClr val="bg2"/>
                </a:solidFill>
              </a:rPr>
              <a:t>Модель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388" y="857250"/>
            <a:ext cx="8964612" cy="5786438"/>
          </a:xfrm>
        </p:spPr>
        <p:txBody>
          <a:bodyPr>
            <a:normAutofit fontScale="92500" lnSpcReduction="10000"/>
          </a:bodyPr>
          <a:lstStyle/>
          <a:p>
            <a:r>
              <a:rPr lang="ru-RU" altLang="ru-RU" sz="2800" dirty="0" smtClean="0"/>
              <a:t>В реальном мире очень многие структуры образуют иерархии.</a:t>
            </a:r>
          </a:p>
          <a:p>
            <a:r>
              <a:rPr lang="ru-RU" altLang="ru-RU" sz="2800" dirty="0" smtClean="0"/>
              <a:t>Один объект выступает как родительский, а с ним может быть связано множество подчиненных объектов. </a:t>
            </a:r>
          </a:p>
          <a:p>
            <a:r>
              <a:rPr lang="ru-RU" altLang="ru-RU" sz="2800" dirty="0" smtClean="0"/>
              <a:t>Иерархия проста и естественна в отображении взаимосвязи между классами объектов.</a:t>
            </a:r>
          </a:p>
          <a:p>
            <a:r>
              <a:rPr lang="ru-RU" altLang="ru-RU" sz="2800" dirty="0" smtClean="0"/>
              <a:t>Основными информационными единицами в иерархической модели являются: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b="1" i="1" dirty="0" smtClean="0">
                <a:latin typeface="Times New Roman" pitchFamily="18" charset="0"/>
                <a:cs typeface="Times New Roman" pitchFamily="18" charset="0"/>
              </a:rPr>
              <a:t>Поле (элемент данных)</a:t>
            </a:r>
            <a:endParaRPr lang="ru-RU" altLang="ru-RU" dirty="0" smtClean="0"/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b="1" i="1" dirty="0" smtClean="0">
                <a:latin typeface="Times New Roman" pitchFamily="18" charset="0"/>
                <a:cs typeface="Times New Roman" pitchFamily="18" charset="0"/>
              </a:rPr>
              <a:t>Сегмент (запись)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b="1" i="1" dirty="0" smtClean="0">
                <a:latin typeface="Times New Roman" pitchFamily="18" charset="0"/>
                <a:cs typeface="Times New Roman" pitchFamily="18" charset="0"/>
              </a:rPr>
              <a:t>Групповое отношение (дерево – физическая база данных)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b="1" i="1" dirty="0" smtClean="0">
                <a:latin typeface="Times New Roman" pitchFamily="18" charset="0"/>
                <a:cs typeface="Times New Roman" pitchFamily="18" charset="0"/>
              </a:rPr>
              <a:t>Схема иерархической БД (совокупность деревьев)</a:t>
            </a:r>
          </a:p>
        </p:txBody>
      </p:sp>
      <p:sp>
        <p:nvSpPr>
          <p:cNvPr id="5124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71150D0-99B4-40F5-9BB2-A706B452630E}" type="slidenum">
              <a:rPr lang="ru-RU" altLang="ru-RU" sz="1200" smtClean="0">
                <a:latin typeface="Arial Black" pitchFamily="34" charset="0"/>
              </a:rPr>
              <a:pPr eaLnBrk="1" hangingPunct="1"/>
              <a:t>3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595313"/>
          </a:xfrm>
        </p:spPr>
        <p:txBody>
          <a:bodyPr/>
          <a:lstStyle/>
          <a:p>
            <a:pPr algn="ctr"/>
            <a:r>
              <a:rPr lang="ru-RU" altLang="ru-RU" sz="3600" dirty="0" smtClean="0">
                <a:solidFill>
                  <a:schemeClr val="bg2"/>
                </a:solidFill>
              </a:rPr>
              <a:t>Поле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2875" y="1071563"/>
            <a:ext cx="9001125" cy="5643562"/>
          </a:xfrm>
        </p:spPr>
        <p:txBody>
          <a:bodyPr>
            <a:normAutofit fontScale="85000" lnSpcReduction="20000"/>
          </a:bodyPr>
          <a:lstStyle/>
          <a:p>
            <a:pPr marL="0" indent="-61200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b="1" i="1" u="sng" dirty="0" smtClean="0">
                <a:latin typeface="Times New Roman" pitchFamily="18" charset="0"/>
                <a:cs typeface="Times New Roman" pitchFamily="18" charset="0"/>
              </a:rPr>
              <a:t>Поле </a:t>
            </a:r>
            <a:r>
              <a:rPr lang="ru-RU" b="1" i="1" u="sng" dirty="0">
                <a:latin typeface="Times New Roman" pitchFamily="18" charset="0"/>
                <a:cs typeface="Times New Roman" pitchFamily="18" charset="0"/>
              </a:rPr>
              <a:t>данных </a:t>
            </a:r>
            <a:r>
              <a:rPr lang="ru-RU" sz="2800" dirty="0"/>
              <a:t>определяется как </a:t>
            </a:r>
            <a:r>
              <a:rPr lang="ru-RU" sz="2800" dirty="0">
                <a:solidFill>
                  <a:schemeClr val="bg2"/>
                </a:solidFill>
              </a:rPr>
              <a:t>минимальная, неделимая единица </a:t>
            </a:r>
            <a:r>
              <a:rPr lang="ru-RU" sz="2800" dirty="0" smtClean="0">
                <a:solidFill>
                  <a:schemeClr val="bg2"/>
                </a:solidFill>
              </a:rPr>
              <a:t>(элемент) данных</a:t>
            </a:r>
            <a:r>
              <a:rPr lang="ru-RU" sz="2800" dirty="0">
                <a:solidFill>
                  <a:schemeClr val="bg2"/>
                </a:solidFill>
              </a:rPr>
              <a:t>, доступная пользователю </a:t>
            </a:r>
            <a:r>
              <a:rPr lang="ru-RU" sz="2800" dirty="0"/>
              <a:t>с помощью СУБД</a:t>
            </a:r>
            <a:r>
              <a:rPr lang="ru-RU" sz="2800" dirty="0" smtClean="0"/>
              <a:t>.</a:t>
            </a:r>
          </a:p>
          <a:p>
            <a:pPr marL="432000" indent="-457200">
              <a:lnSpc>
                <a:spcPct val="120000"/>
              </a:lnSpc>
              <a:buClr>
                <a:srgbClr val="C00000"/>
              </a:buClr>
              <a:buNone/>
              <a:defRPr/>
            </a:pPr>
            <a:r>
              <a:rPr lang="ru-RU" sz="2400" dirty="0" smtClean="0"/>
              <a:t>Например</a:t>
            </a:r>
            <a:r>
              <a:rPr lang="ru-RU" sz="2400" dirty="0"/>
              <a:t>, </a:t>
            </a:r>
            <a:r>
              <a:rPr lang="ru-RU" sz="2400" dirty="0" smtClean="0"/>
              <a:t>адрес клиента: </a:t>
            </a:r>
          </a:p>
          <a:p>
            <a:pPr marL="432000" indent="-457200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sz="2400" dirty="0" smtClean="0">
                <a:solidFill>
                  <a:schemeClr val="bg2"/>
                </a:solidFill>
              </a:rPr>
              <a:t>город, улица, дом, квартира, </a:t>
            </a:r>
            <a:r>
              <a:rPr lang="ru-RU" sz="2400" dirty="0" smtClean="0"/>
              <a:t>можно принять за </a:t>
            </a:r>
            <a:r>
              <a:rPr lang="ru-RU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ru-RU" sz="2400" dirty="0" smtClean="0"/>
              <a:t> </a:t>
            </a:r>
            <a:r>
              <a:rPr lang="ru-RU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элемент данных</a:t>
            </a:r>
            <a:r>
              <a:rPr lang="ru-RU" sz="2400" dirty="0" smtClean="0"/>
              <a:t> (будет храниться полностью, а пользователь сможет получить его </a:t>
            </a:r>
            <a:r>
              <a:rPr lang="ru-RU" sz="2400" b="1" dirty="0" smtClean="0">
                <a:solidFill>
                  <a:schemeClr val="bg2"/>
                </a:solidFill>
              </a:rPr>
              <a:t>только как полную строку </a:t>
            </a:r>
            <a:r>
              <a:rPr lang="ru-RU" sz="2400" dirty="0" smtClean="0"/>
              <a:t>символов из БД, например просто печатать)</a:t>
            </a:r>
          </a:p>
          <a:p>
            <a:pPr marL="0" indent="-288000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sz="2400" dirty="0" smtClean="0"/>
              <a:t>либо отдельно хранить </a:t>
            </a:r>
            <a:r>
              <a:rPr lang="ru-RU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ru-RU" sz="2400" dirty="0" smtClean="0"/>
              <a:t> </a:t>
            </a:r>
            <a:r>
              <a:rPr lang="ru-RU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элемента данных </a:t>
            </a:r>
            <a:r>
              <a:rPr lang="ru-RU" sz="2400" dirty="0" smtClean="0"/>
              <a:t>(если в задачах требуется анализ частей адреса, например, город, где находится клиент)</a:t>
            </a:r>
            <a:r>
              <a:rPr lang="ru-RU" sz="2400" b="1" dirty="0" smtClean="0"/>
              <a:t>:</a:t>
            </a:r>
            <a:endParaRPr lang="ru-RU" sz="2400" dirty="0" smtClean="0"/>
          </a:p>
          <a:p>
            <a:pPr marL="540000" lvl="1" indent="-360000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ü"/>
              <a:defRPr/>
            </a:pPr>
            <a:r>
              <a:rPr lang="ru-RU" sz="2000" dirty="0" smtClean="0">
                <a:solidFill>
                  <a:schemeClr val="bg2"/>
                </a:solidFill>
              </a:rPr>
              <a:t>Город</a:t>
            </a:r>
          </a:p>
          <a:p>
            <a:pPr marL="540000" lvl="1" indent="-360000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ü"/>
              <a:defRPr/>
            </a:pPr>
            <a:r>
              <a:rPr lang="ru-RU" sz="2000" dirty="0" smtClean="0">
                <a:solidFill>
                  <a:schemeClr val="bg2"/>
                </a:solidFill>
              </a:rPr>
              <a:t>Улица</a:t>
            </a:r>
          </a:p>
          <a:p>
            <a:pPr marL="540000" lvl="1" indent="-360000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ü"/>
              <a:defRPr/>
            </a:pPr>
            <a:r>
              <a:rPr lang="ru-RU" sz="2000" dirty="0" smtClean="0">
                <a:solidFill>
                  <a:schemeClr val="bg2"/>
                </a:solidFill>
              </a:rPr>
              <a:t>Дом</a:t>
            </a:r>
          </a:p>
          <a:p>
            <a:pPr marL="540000" lvl="1" indent="-360000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ü"/>
              <a:defRPr/>
            </a:pPr>
            <a:r>
              <a:rPr lang="ru-RU" sz="2000" dirty="0" smtClean="0">
                <a:solidFill>
                  <a:schemeClr val="bg2"/>
                </a:solidFill>
              </a:rPr>
              <a:t>Квартира</a:t>
            </a:r>
          </a:p>
          <a:p>
            <a:pPr marL="432000" indent="-457200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sz="2400" dirty="0" smtClean="0"/>
              <a:t>Поле характеризуется размером отведенного пространства и типом значения</a:t>
            </a:r>
          </a:p>
          <a:p>
            <a:pPr marL="0" indent="0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endParaRPr lang="ru-RU" sz="2400" dirty="0" smtClean="0"/>
          </a:p>
          <a:p>
            <a:pPr marL="0" indent="0">
              <a:lnSpc>
                <a:spcPct val="120000"/>
              </a:lnSpc>
              <a:buFont typeface="Wingdings" pitchFamily="2" charset="2"/>
              <a:buNone/>
              <a:defRPr/>
            </a:pPr>
            <a:endParaRPr lang="ru-RU" dirty="0" smtClean="0"/>
          </a:p>
        </p:txBody>
      </p:sp>
      <p:sp>
        <p:nvSpPr>
          <p:cNvPr id="6148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AA7B7E5-A4A3-4EDC-A6CB-A0019FCF27C5}" type="slidenum">
              <a:rPr lang="ru-RU" altLang="ru-RU" sz="1200" smtClean="0">
                <a:latin typeface="Arial Black" pitchFamily="34" charset="0"/>
              </a:rPr>
              <a:pPr eaLnBrk="1" hangingPunct="1"/>
              <a:t>4</a:t>
            </a:fld>
            <a:endParaRPr lang="ru-RU" altLang="ru-RU" sz="1200" dirty="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33687" y="143635"/>
            <a:ext cx="8713788" cy="523875"/>
          </a:xfrm>
        </p:spPr>
        <p:txBody>
          <a:bodyPr/>
          <a:lstStyle/>
          <a:p>
            <a:pPr algn="ctr" eaLnBrk="1" hangingPunct="1"/>
            <a:r>
              <a:rPr lang="ru-RU" altLang="ru-RU" sz="3600" dirty="0" smtClean="0">
                <a:solidFill>
                  <a:schemeClr val="bg2"/>
                </a:solidFill>
                <a:latin typeface="+mn-lt"/>
              </a:rPr>
              <a:t>Сегмент данных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" y="728700"/>
            <a:ext cx="9144000" cy="6084294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ru-RU" altLang="ru-RU" b="1" i="1" u="sng" dirty="0" smtClean="0">
                <a:cs typeface="Times New Roman" pitchFamily="18" charset="0"/>
              </a:rPr>
              <a:t>Сегмент</a:t>
            </a:r>
            <a:r>
              <a:rPr lang="ru-RU" altLang="ru-RU" b="1" i="1" dirty="0" smtClean="0">
                <a:cs typeface="Times New Roman" pitchFamily="18" charset="0"/>
              </a:rPr>
              <a:t> </a:t>
            </a:r>
            <a:r>
              <a:rPr lang="ru-RU" altLang="ru-RU" sz="2800" dirty="0" smtClean="0">
                <a:cs typeface="Times New Roman" pitchFamily="18" charset="0"/>
              </a:rPr>
              <a:t>в терминологии Американской Ассоциации по базам данных DBTG (</a:t>
            </a:r>
            <a:r>
              <a:rPr lang="ru-RU" altLang="ru-RU" sz="2800" dirty="0" err="1" smtClean="0">
                <a:cs typeface="Times New Roman" pitchFamily="18" charset="0"/>
              </a:rPr>
              <a:t>Data</a:t>
            </a:r>
            <a:r>
              <a:rPr lang="ru-RU" altLang="ru-RU" sz="2800" dirty="0" smtClean="0">
                <a:cs typeface="Times New Roman" pitchFamily="18" charset="0"/>
              </a:rPr>
              <a:t> </a:t>
            </a:r>
            <a:r>
              <a:rPr lang="ru-RU" altLang="ru-RU" sz="2800" dirty="0" err="1" smtClean="0">
                <a:cs typeface="Times New Roman" pitchFamily="18" charset="0"/>
              </a:rPr>
              <a:t>Base</a:t>
            </a:r>
            <a:r>
              <a:rPr lang="ru-RU" altLang="ru-RU" sz="2800" dirty="0" smtClean="0">
                <a:cs typeface="Times New Roman" pitchFamily="18" charset="0"/>
              </a:rPr>
              <a:t> </a:t>
            </a:r>
            <a:r>
              <a:rPr lang="ru-RU" altLang="ru-RU" sz="2800" dirty="0" err="1" smtClean="0">
                <a:cs typeface="Times New Roman" pitchFamily="18" charset="0"/>
              </a:rPr>
              <a:t>Task</a:t>
            </a:r>
            <a:r>
              <a:rPr lang="ru-RU" altLang="ru-RU" sz="2800" dirty="0" smtClean="0">
                <a:cs typeface="Times New Roman" pitchFamily="18" charset="0"/>
              </a:rPr>
              <a:t> </a:t>
            </a:r>
            <a:r>
              <a:rPr lang="ru-RU" altLang="ru-RU" sz="2800" dirty="0" err="1" smtClean="0">
                <a:cs typeface="Times New Roman" pitchFamily="18" charset="0"/>
              </a:rPr>
              <a:t>Group</a:t>
            </a:r>
            <a:r>
              <a:rPr lang="ru-RU" altLang="ru-RU" sz="2800" dirty="0" smtClean="0">
                <a:cs typeface="Times New Roman" pitchFamily="18" charset="0"/>
              </a:rPr>
              <a:t>) называется </a:t>
            </a:r>
            <a:r>
              <a:rPr lang="ru-RU" altLang="ru-RU" sz="2800" i="1" u="sng" dirty="0" smtClean="0">
                <a:solidFill>
                  <a:schemeClr val="accent5">
                    <a:lumMod val="50000"/>
                  </a:schemeClr>
                </a:solidFill>
                <a:cs typeface="Times New Roman" pitchFamily="18" charset="0"/>
              </a:rPr>
              <a:t>записью</a:t>
            </a:r>
            <a:r>
              <a:rPr lang="ru-RU" altLang="ru-RU" sz="2800" dirty="0" smtClean="0">
                <a:cs typeface="Times New Roman" pitchFamily="18" charset="0"/>
              </a:rPr>
              <a:t>, при этом в рамках иерархической модели определяются два понятия: </a:t>
            </a:r>
            <a:r>
              <a:rPr lang="ru-RU" altLang="ru-RU" b="1" i="1" dirty="0" smtClean="0">
                <a:cs typeface="Times New Roman" pitchFamily="18" charset="0"/>
              </a:rPr>
              <a:t>тип сегмента </a:t>
            </a:r>
            <a:r>
              <a:rPr lang="ru-RU" altLang="ru-RU" dirty="0" smtClean="0">
                <a:cs typeface="Times New Roman" pitchFamily="18" charset="0"/>
              </a:rPr>
              <a:t>и</a:t>
            </a:r>
            <a:r>
              <a:rPr lang="ru-RU" altLang="ru-RU" b="1" dirty="0" smtClean="0">
                <a:cs typeface="Times New Roman" pitchFamily="18" charset="0"/>
              </a:rPr>
              <a:t> </a:t>
            </a:r>
            <a:r>
              <a:rPr lang="ru-RU" altLang="ru-RU" b="1" i="1" dirty="0" smtClean="0">
                <a:cs typeface="Times New Roman" pitchFamily="18" charset="0"/>
              </a:rPr>
              <a:t>экземпляр сегмента</a:t>
            </a:r>
            <a:r>
              <a:rPr lang="ru-RU" altLang="ru-RU" sz="2800" dirty="0" smtClean="0">
                <a:cs typeface="Times New Roman" pitchFamily="18" charset="0"/>
              </a:rPr>
              <a:t>.</a:t>
            </a:r>
            <a:endParaRPr lang="ru-RU" altLang="ru-RU" sz="2800" i="1" dirty="0" smtClean="0">
              <a:cs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ru-RU" altLang="ru-RU" b="1" i="1" dirty="0" smtClean="0">
                <a:cs typeface="Times New Roman" pitchFamily="18" charset="0"/>
              </a:rPr>
              <a:t>Тип сегмента (тип записи) </a:t>
            </a:r>
            <a:r>
              <a:rPr lang="ru-RU" altLang="ru-RU" sz="2800" i="1" dirty="0" smtClean="0"/>
              <a:t>— </a:t>
            </a:r>
            <a:r>
              <a:rPr lang="ru-RU" altLang="ru-RU" sz="2800" dirty="0" smtClean="0"/>
              <a:t>это </a:t>
            </a:r>
            <a:r>
              <a:rPr lang="ru-RU" altLang="ru-RU" sz="3100" b="1" dirty="0" smtClean="0">
                <a:solidFill>
                  <a:schemeClr val="bg2"/>
                </a:solidFill>
              </a:rPr>
              <a:t>поименованная совокупность типов полей (элементов данных)</a:t>
            </a:r>
            <a:r>
              <a:rPr lang="ru-RU" altLang="ru-RU" sz="2800" dirty="0" smtClean="0"/>
              <a:t>, в него входящих.</a:t>
            </a:r>
          </a:p>
          <a:p>
            <a:pPr>
              <a:lnSpc>
                <a:spcPct val="120000"/>
              </a:lnSpc>
            </a:pPr>
            <a:r>
              <a:rPr lang="ru-RU" altLang="ru-RU" b="1" i="1" dirty="0" smtClean="0">
                <a:cs typeface="Times New Roman" pitchFamily="18" charset="0"/>
              </a:rPr>
              <a:t>Экземпляр сегмента </a:t>
            </a:r>
            <a:r>
              <a:rPr lang="ru-RU" altLang="ru-RU" sz="2800" dirty="0" smtClean="0"/>
              <a:t>образуется из </a:t>
            </a:r>
            <a:r>
              <a:rPr lang="ru-RU" altLang="ru-RU" sz="2800" b="1" dirty="0" smtClean="0"/>
              <a:t>конкретных значений </a:t>
            </a:r>
            <a:r>
              <a:rPr lang="ru-RU" altLang="ru-RU" sz="2800" b="1" i="1" dirty="0" smtClean="0">
                <a:cs typeface="Times New Roman" pitchFamily="18" charset="0"/>
              </a:rPr>
              <a:t>полей (элементов данных)</a:t>
            </a:r>
            <a:r>
              <a:rPr lang="ru-RU" altLang="ru-RU" sz="2800" dirty="0" smtClean="0"/>
              <a:t>, в него входящих. </a:t>
            </a:r>
          </a:p>
          <a:p>
            <a:pPr>
              <a:lnSpc>
                <a:spcPct val="120000"/>
              </a:lnSpc>
            </a:pPr>
            <a:r>
              <a:rPr lang="ru-RU" sz="2800" dirty="0" smtClean="0">
                <a:cs typeface="Times New Roman" pitchFamily="18" charset="0"/>
              </a:rPr>
              <a:t>Каждый </a:t>
            </a:r>
            <a:r>
              <a:rPr lang="ru-RU" sz="2800" b="1" i="1" dirty="0" smtClean="0">
                <a:cs typeface="Times New Roman" pitchFamily="18" charset="0"/>
              </a:rPr>
              <a:t>тип сегмента </a:t>
            </a:r>
            <a:r>
              <a:rPr lang="ru-RU" sz="2800" dirty="0" smtClean="0">
                <a:cs typeface="Times New Roman" pitchFamily="18" charset="0"/>
              </a:rPr>
              <a:t>в рамках иерархической модели образует некоторый набор однородных </a:t>
            </a:r>
            <a:r>
              <a:rPr lang="ru-RU" altLang="ru-RU" sz="2800" b="1" dirty="0" smtClean="0">
                <a:cs typeface="Times New Roman" pitchFamily="18" charset="0"/>
              </a:rPr>
              <a:t> </a:t>
            </a:r>
            <a:r>
              <a:rPr lang="ru-RU" altLang="ru-RU" sz="2800" b="1" i="1" dirty="0" smtClean="0">
                <a:cs typeface="Times New Roman" pitchFamily="18" charset="0"/>
              </a:rPr>
              <a:t>экземпляров сегмента</a:t>
            </a:r>
            <a:r>
              <a:rPr lang="ru-RU" sz="2800" dirty="0" smtClean="0">
                <a:cs typeface="Times New Roman" pitchFamily="18" charset="0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ru-RU" sz="2800" dirty="0" smtClean="0">
                <a:cs typeface="Times New Roman" pitchFamily="18" charset="0"/>
              </a:rPr>
              <a:t>Для возможности различия отдельных </a:t>
            </a:r>
            <a:r>
              <a:rPr lang="ru-RU" sz="2800" b="1" i="1" dirty="0" smtClean="0">
                <a:cs typeface="Times New Roman" pitchFamily="18" charset="0"/>
              </a:rPr>
              <a:t>экземпляров</a:t>
            </a:r>
            <a:r>
              <a:rPr lang="ru-RU" sz="2800" dirty="0" smtClean="0">
                <a:cs typeface="Times New Roman" pitchFamily="18" charset="0"/>
              </a:rPr>
              <a:t> в данном наборе каждый тип сегмента должен иметь </a:t>
            </a:r>
            <a:r>
              <a:rPr lang="ru-RU" sz="2800" b="1" dirty="0" smtClean="0">
                <a:cs typeface="Times New Roman" pitchFamily="18" charset="0"/>
              </a:rPr>
              <a:t>ключ или набор ключевых атрибутов</a:t>
            </a:r>
            <a:r>
              <a:rPr lang="ru-RU" sz="2800" dirty="0" smtClean="0">
                <a:cs typeface="Times New Roman" pitchFamily="18" charset="0"/>
              </a:rPr>
              <a:t> (полей, элементов данных). </a:t>
            </a:r>
          </a:p>
          <a:p>
            <a:pPr>
              <a:lnSpc>
                <a:spcPct val="120000"/>
              </a:lnSpc>
            </a:pPr>
            <a:r>
              <a:rPr lang="ru-RU" sz="2800" b="1" i="1" u="sng" dirty="0" smtClean="0">
                <a:cs typeface="Times New Roman" pitchFamily="18" charset="0"/>
              </a:rPr>
              <a:t>Ключом</a:t>
            </a:r>
            <a:r>
              <a:rPr lang="ru-RU" sz="2800" dirty="0" smtClean="0">
                <a:cs typeface="Times New Roman" pitchFamily="18" charset="0"/>
              </a:rPr>
              <a:t> называется набор полей, </a:t>
            </a:r>
            <a:r>
              <a:rPr lang="ru-RU" sz="2800" u="sng" dirty="0" smtClean="0">
                <a:cs typeface="Times New Roman" pitchFamily="18" charset="0"/>
              </a:rPr>
              <a:t>однозначно идентифицирующих экземпляр сегмента. </a:t>
            </a:r>
            <a:endParaRPr lang="ru-RU" altLang="ru-RU" sz="2800" u="sng" dirty="0" smtClean="0">
              <a:cs typeface="Times New Roman" pitchFamily="18" charset="0"/>
            </a:endParaRPr>
          </a:p>
        </p:txBody>
      </p:sp>
      <p:sp>
        <p:nvSpPr>
          <p:cNvPr id="7172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7605CE5D-0F49-40C0-BF6C-EE875B1CF165}" type="slidenum">
              <a:rPr lang="ru-RU" altLang="ru-RU" sz="1200" smtClean="0">
                <a:latin typeface="Arial Black" pitchFamily="34" charset="0"/>
              </a:rPr>
              <a:pPr eaLnBrk="1" hangingPunct="1"/>
              <a:t>5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30212" y="0"/>
            <a:ext cx="8713788" cy="720725"/>
          </a:xfrm>
        </p:spPr>
        <p:txBody>
          <a:bodyPr/>
          <a:lstStyle/>
          <a:p>
            <a:pPr algn="ctr" eaLnBrk="1" hangingPunct="1"/>
            <a:r>
              <a:rPr lang="ru-RU" altLang="ru-RU" sz="3600" dirty="0" smtClean="0">
                <a:solidFill>
                  <a:schemeClr val="bg2"/>
                </a:solidFill>
              </a:rPr>
              <a:t>Графический вид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496" y="818710"/>
            <a:ext cx="9108504" cy="4221467"/>
          </a:xfrm>
        </p:spPr>
        <p:txBody>
          <a:bodyPr>
            <a:noAutofit/>
          </a:bodyPr>
          <a:lstStyle/>
          <a:p>
            <a:pPr marL="609600" indent="-609600"/>
            <a:r>
              <a:rPr lang="ru-RU" altLang="ru-RU" sz="1800" dirty="0" smtClean="0"/>
              <a:t>Сегменты объединяются в групповое отношение, изображаемое в виде </a:t>
            </a:r>
            <a:r>
              <a:rPr lang="ru-RU" altLang="ru-RU" sz="1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ориентированного графа.</a:t>
            </a:r>
            <a:r>
              <a:rPr lang="ru-RU" altLang="ru-RU" sz="1800" dirty="0" smtClean="0"/>
              <a:t>  Такое изображение называется </a:t>
            </a:r>
            <a:r>
              <a:rPr lang="ru-RU" altLang="ru-RU" sz="1800" u="sng" dirty="0" smtClean="0"/>
              <a:t>диаграммой </a:t>
            </a:r>
            <a:r>
              <a:rPr lang="ru-RU" altLang="ru-RU" sz="1800" u="sng" dirty="0" err="1" smtClean="0"/>
              <a:t>Бахмана</a:t>
            </a:r>
            <a:r>
              <a:rPr lang="ru-RU" altLang="ru-RU" sz="1800" dirty="0" smtClean="0"/>
              <a:t>.</a:t>
            </a:r>
          </a:p>
          <a:p>
            <a:pPr marL="609600" indent="-609600"/>
            <a:r>
              <a:rPr lang="ru-RU" sz="1800" dirty="0" smtClean="0"/>
              <a:t>Направленные </a:t>
            </a:r>
            <a:r>
              <a:rPr lang="ru-RU" sz="1800" dirty="0"/>
              <a:t>ребра графа </a:t>
            </a:r>
            <a:r>
              <a:rPr lang="ru-RU" sz="1800" dirty="0" smtClean="0"/>
              <a:t>отражают </a:t>
            </a:r>
            <a:r>
              <a:rPr lang="ru-RU" sz="1800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иерархические связи </a:t>
            </a:r>
            <a:r>
              <a:rPr lang="ru-RU" sz="1800" dirty="0"/>
              <a:t>между </a:t>
            </a:r>
            <a:r>
              <a:rPr lang="ru-RU" sz="1800" dirty="0" smtClean="0"/>
              <a:t>сегментами.</a:t>
            </a:r>
          </a:p>
          <a:p>
            <a:pPr marL="609600" indent="-609600"/>
            <a:r>
              <a:rPr lang="ru-RU" sz="1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Тип сегмента</a:t>
            </a:r>
            <a:r>
              <a:rPr lang="ru-RU" sz="1800" dirty="0" smtClean="0"/>
              <a:t>, из которого выходит ребро графа, называется </a:t>
            </a:r>
            <a:r>
              <a:rPr lang="ru-RU" sz="1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логически исходным.  </a:t>
            </a:r>
          </a:p>
          <a:p>
            <a:pPr marL="609600" indent="-609600"/>
            <a:r>
              <a:rPr lang="ru-RU" sz="1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Тип сегмента, </a:t>
            </a:r>
            <a:r>
              <a:rPr lang="ru-RU" sz="1800" dirty="0" smtClean="0"/>
              <a:t>в который входит ребро графа, называется </a:t>
            </a:r>
            <a:r>
              <a:rPr lang="ru-RU" sz="1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логически подчиненным</a:t>
            </a:r>
            <a:r>
              <a:rPr lang="ru-RU" sz="1800" dirty="0" smtClean="0"/>
              <a:t>. </a:t>
            </a:r>
          </a:p>
          <a:p>
            <a:pPr marL="609600" indent="-609600"/>
            <a:r>
              <a:rPr lang="ru-RU" sz="1800" dirty="0" smtClean="0"/>
              <a:t>Иногда </a:t>
            </a:r>
            <a:r>
              <a:rPr lang="ru-RU" sz="1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исходные сегменты </a:t>
            </a:r>
            <a:r>
              <a:rPr lang="ru-RU" sz="1800" dirty="0" smtClean="0"/>
              <a:t>называют </a:t>
            </a:r>
            <a:r>
              <a:rPr lang="ru-RU" sz="1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сегментами-предками</a:t>
            </a:r>
            <a:r>
              <a:rPr lang="ru-RU" sz="1800" dirty="0" smtClean="0"/>
              <a:t>, а подчиненные сегменты называют </a:t>
            </a:r>
            <a:r>
              <a:rPr lang="ru-RU" sz="1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сегментами-потомками</a:t>
            </a:r>
            <a:r>
              <a:rPr lang="ru-RU" sz="1800" dirty="0" smtClean="0"/>
              <a:t>.</a:t>
            </a:r>
          </a:p>
          <a:p>
            <a:pPr marL="609600" indent="-609600"/>
            <a:r>
              <a:rPr lang="ru-RU" sz="1800" dirty="0" smtClean="0">
                <a:solidFill>
                  <a:schemeClr val="accent5">
                    <a:lumMod val="50000"/>
                  </a:schemeClr>
                </a:solidFill>
              </a:rPr>
              <a:t>Тип группового отношения </a:t>
            </a:r>
            <a:r>
              <a:rPr lang="ru-RU" sz="1800" dirty="0" smtClean="0"/>
              <a:t>определяется </a:t>
            </a:r>
            <a:r>
              <a:rPr lang="ru-RU" sz="1800" u="sng" dirty="0" smtClean="0"/>
              <a:t>именем</a:t>
            </a:r>
            <a:r>
              <a:rPr lang="ru-RU" sz="1800" dirty="0" smtClean="0"/>
              <a:t> и может состоять из </a:t>
            </a:r>
            <a:r>
              <a:rPr lang="ru-RU" sz="1800" u="sng" dirty="0" smtClean="0">
                <a:solidFill>
                  <a:schemeClr val="accent5">
                    <a:lumMod val="50000"/>
                  </a:schemeClr>
                </a:solidFill>
              </a:rPr>
              <a:t>одного типа </a:t>
            </a:r>
            <a:r>
              <a:rPr lang="ru-RU" sz="1800" i="1" dirty="0" smtClean="0"/>
              <a:t>логически исходного сегмента </a:t>
            </a:r>
            <a:r>
              <a:rPr lang="ru-RU" sz="1800" dirty="0" smtClean="0"/>
              <a:t>и </a:t>
            </a:r>
            <a:r>
              <a:rPr lang="ru-RU" sz="1800" u="sng" dirty="0" smtClean="0">
                <a:solidFill>
                  <a:schemeClr val="accent5">
                    <a:lumMod val="50000"/>
                  </a:schemeClr>
                </a:solidFill>
              </a:rPr>
              <a:t>множества (возможно пустого) </a:t>
            </a:r>
            <a:r>
              <a:rPr lang="ru-RU" sz="1800" i="1" dirty="0" smtClean="0"/>
              <a:t>логически подчиненных сегментов.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4940572"/>
            <a:ext cx="8181975" cy="172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8B491E16-8341-488B-AA35-44B26D2B1766}" type="slidenum">
              <a:rPr lang="ru-RU" altLang="ru-RU" sz="1200" smtClean="0">
                <a:latin typeface="Arial Black" pitchFamily="34" charset="0"/>
              </a:rPr>
              <a:pPr eaLnBrk="1" hangingPunct="1"/>
              <a:t>6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 txBox="1">
            <a:spLocks noChangeArrowheads="1"/>
          </p:cNvSpPr>
          <p:nvPr/>
        </p:nvSpPr>
        <p:spPr bwMode="auto">
          <a:xfrm>
            <a:off x="358775" y="260350"/>
            <a:ext cx="84248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ru-RU" altLang="ru-RU" sz="3200" dirty="0" smtClean="0">
                <a:solidFill>
                  <a:schemeClr val="bg2"/>
                </a:solidFill>
              </a:rPr>
              <a:t>Свойства физической базы </a:t>
            </a:r>
            <a:r>
              <a:rPr lang="ru-RU" altLang="ru-RU" sz="3200" dirty="0">
                <a:solidFill>
                  <a:schemeClr val="bg2"/>
                </a:solidFill>
              </a:rPr>
              <a:t>данных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323850" y="1125538"/>
            <a:ext cx="8496300" cy="54476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400" i="1" u="sng" dirty="0"/>
              <a:t>Схема иерархической БД </a:t>
            </a:r>
            <a:r>
              <a:rPr lang="ru-RU" sz="2400" dirty="0"/>
              <a:t>представляет собой </a:t>
            </a:r>
            <a:r>
              <a:rPr lang="ru-RU" sz="2400" dirty="0">
                <a:solidFill>
                  <a:srgbClr val="C00000"/>
                </a:solidFill>
              </a:rPr>
              <a:t>совокупность отдельных </a:t>
            </a:r>
            <a:r>
              <a:rPr lang="ru-RU" sz="2400" dirty="0" smtClean="0">
                <a:solidFill>
                  <a:srgbClr val="C00000"/>
                </a:solidFill>
              </a:rPr>
              <a:t>деревьев</a:t>
            </a:r>
            <a:endParaRPr lang="ru-RU" sz="2400" dirty="0"/>
          </a:p>
          <a:p>
            <a:pPr>
              <a:defRPr/>
            </a:pPr>
            <a:r>
              <a:rPr lang="ru-RU" sz="2400" dirty="0" smtClean="0"/>
              <a:t>Каждое </a:t>
            </a:r>
            <a:r>
              <a:rPr lang="ru-RU" sz="2400" dirty="0"/>
              <a:t>дерево в рамках модели называется </a:t>
            </a:r>
            <a:r>
              <a:rPr lang="ru-RU" sz="2400" i="1" dirty="0">
                <a:solidFill>
                  <a:srgbClr val="C00000"/>
                </a:solidFill>
              </a:rPr>
              <a:t>физической базой данных</a:t>
            </a:r>
            <a:r>
              <a:rPr lang="ru-RU" sz="2400" dirty="0"/>
              <a:t>. </a:t>
            </a:r>
            <a:endParaRPr lang="ru-RU" sz="2400" dirty="0" smtClean="0"/>
          </a:p>
          <a:p>
            <a:pPr>
              <a:defRPr/>
            </a:pPr>
            <a:r>
              <a:rPr lang="ru-RU" sz="2400" dirty="0" smtClean="0"/>
              <a:t>Каждая </a:t>
            </a:r>
            <a:r>
              <a:rPr lang="ru-RU" sz="2400" dirty="0"/>
              <a:t>физическая БД удовлетворяет следующим иерархическим ограничениям:</a:t>
            </a:r>
          </a:p>
          <a:p>
            <a:pPr marL="342900" indent="-342900">
              <a:buFont typeface="Wingdings" pitchFamily="2" charset="2"/>
              <a:buChar char="v"/>
              <a:defRPr/>
            </a:pPr>
            <a:r>
              <a:rPr lang="ru-RU" sz="2400" dirty="0"/>
              <a:t>в каждой физической БД </a:t>
            </a:r>
            <a:r>
              <a:rPr lang="ru-RU" sz="2400" i="1" u="sng" dirty="0"/>
              <a:t>существует один корневой сегмент</a:t>
            </a:r>
            <a:r>
              <a:rPr lang="ru-RU" sz="2400" dirty="0"/>
              <a:t>, то есть сегмент, у которого нет логически исходного (родительского) типа сегмента;</a:t>
            </a:r>
          </a:p>
          <a:p>
            <a:pPr marL="342900" indent="-342900">
              <a:buFont typeface="Wingdings" pitchFamily="2" charset="2"/>
              <a:buChar char="v"/>
              <a:defRPr/>
            </a:pPr>
            <a:r>
              <a:rPr lang="ru-RU" sz="2400" dirty="0"/>
              <a:t>каждый логически исходный сегмент может быть связан </a:t>
            </a:r>
            <a:r>
              <a:rPr lang="ru-RU" sz="2400" i="1" u="sng" dirty="0"/>
              <a:t>с произвольным числом </a:t>
            </a:r>
            <a:r>
              <a:rPr lang="ru-RU" sz="2400" dirty="0"/>
              <a:t>логически </a:t>
            </a:r>
            <a:r>
              <a:rPr lang="ru-RU" sz="2400" i="1" u="sng" dirty="0"/>
              <a:t>подчиненных</a:t>
            </a:r>
            <a:r>
              <a:rPr lang="ru-RU" sz="2400" dirty="0"/>
              <a:t> сегментов;</a:t>
            </a:r>
          </a:p>
          <a:p>
            <a:pPr marL="342900" indent="-342900">
              <a:buFont typeface="Wingdings" pitchFamily="2" charset="2"/>
              <a:buChar char="v"/>
              <a:defRPr/>
            </a:pPr>
            <a:r>
              <a:rPr lang="ru-RU" sz="2400" dirty="0"/>
              <a:t>каждый логически подчиненный сегмент может быть связан </a:t>
            </a:r>
            <a:r>
              <a:rPr lang="ru-RU" sz="2400" i="1" u="sng" dirty="0"/>
              <a:t>только с одним</a:t>
            </a:r>
            <a:r>
              <a:rPr lang="ru-RU" sz="2400" dirty="0"/>
              <a:t> логически </a:t>
            </a:r>
            <a:r>
              <a:rPr lang="ru-RU" sz="2400" i="1" u="sng" dirty="0"/>
              <a:t>исходным</a:t>
            </a:r>
            <a:r>
              <a:rPr lang="ru-RU" sz="2400" dirty="0"/>
              <a:t> (родительским ) сегментом.</a:t>
            </a:r>
          </a:p>
        </p:txBody>
      </p:sp>
      <p:sp>
        <p:nvSpPr>
          <p:cNvPr id="922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EBF896-A8F6-47B8-B8FB-250B27B1D7F1}" type="slidenum">
              <a:rPr lang="ru-RU" altLang="ru-RU" sz="1200" smtClean="0">
                <a:latin typeface="Arial Black" pitchFamily="34" charset="0"/>
              </a:rPr>
              <a:pPr eaLnBrk="1" hangingPunct="1"/>
              <a:t>7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60648"/>
            <a:ext cx="7848600" cy="574675"/>
          </a:xfrm>
        </p:spPr>
        <p:txBody>
          <a:bodyPr/>
          <a:lstStyle/>
          <a:p>
            <a:pPr algn="ctr" eaLnBrk="1" hangingPunct="1"/>
            <a:r>
              <a:rPr lang="ru-RU" altLang="ru-RU" sz="3200" dirty="0" smtClean="0">
                <a:solidFill>
                  <a:schemeClr val="bg2"/>
                </a:solidFill>
              </a:rPr>
              <a:t>Обобщенный вид дерева</a:t>
            </a:r>
          </a:p>
        </p:txBody>
      </p:sp>
      <p:pic>
        <p:nvPicPr>
          <p:cNvPr id="12291" name="Picture 33" descr="Пример структуры иерархического дерева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133600"/>
            <a:ext cx="3024187" cy="229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TextBox 1"/>
          <p:cNvSpPr txBox="1">
            <a:spLocks noChangeArrowheads="1"/>
          </p:cNvSpPr>
          <p:nvPr/>
        </p:nvSpPr>
        <p:spPr bwMode="auto">
          <a:xfrm>
            <a:off x="393578" y="908720"/>
            <a:ext cx="8640763" cy="1255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dirty="0" smtClean="0"/>
              <a:t>Различие </a:t>
            </a:r>
            <a:r>
              <a:rPr lang="ru-RU" dirty="0"/>
              <a:t>между сегментом и типом сегмента </a:t>
            </a:r>
            <a:r>
              <a:rPr lang="ru-RU" dirty="0" smtClean="0"/>
              <a:t> </a:t>
            </a:r>
            <a:r>
              <a:rPr lang="ru-RU" dirty="0"/>
              <a:t>такое же, как между 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типом переменной </a:t>
            </a:r>
            <a:r>
              <a:rPr lang="ru-RU" dirty="0"/>
              <a:t>и 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самой переменной</a:t>
            </a:r>
            <a:endParaRPr lang="ru-RU" altLang="ru-RU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293" name="Picture 34" descr="Пример двух экземпляров данного дерева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2133600"/>
            <a:ext cx="4884738" cy="357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4" name="TextBox 2"/>
          <p:cNvSpPr txBox="1">
            <a:spLocks noChangeArrowheads="1"/>
          </p:cNvSpPr>
          <p:nvPr/>
        </p:nvSpPr>
        <p:spPr bwMode="auto">
          <a:xfrm>
            <a:off x="4171950" y="5873750"/>
            <a:ext cx="4464546" cy="485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altLang="ru-RU" dirty="0" smtClean="0"/>
              <a:t>2 экземпляра сегмента</a:t>
            </a:r>
            <a:endParaRPr lang="ru-RU" altLang="ru-RU" dirty="0"/>
          </a:p>
        </p:txBody>
      </p:sp>
      <p:sp>
        <p:nvSpPr>
          <p:cNvPr id="12295" name="Номер слайда 6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7EB0168-E9CD-4338-B79D-96694C9264F8}" type="slidenum">
              <a:rPr lang="ru-RU" altLang="ru-RU" sz="1200" smtClean="0">
                <a:latin typeface="Arial Black" pitchFamily="34" charset="0"/>
              </a:rPr>
              <a:pPr eaLnBrk="1" hangingPunct="1"/>
              <a:t>8</a:t>
            </a:fld>
            <a:endParaRPr lang="ru-RU" altLang="ru-RU" sz="1200" smtClean="0">
              <a:latin typeface="Arial Black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9552" y="4725144"/>
            <a:ext cx="2592288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Структура сегмента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/>
      <p:bldP spid="12294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66555" y="278650"/>
            <a:ext cx="7848600" cy="574675"/>
          </a:xfrm>
        </p:spPr>
        <p:txBody>
          <a:bodyPr/>
          <a:lstStyle/>
          <a:p>
            <a:pPr algn="ctr" eaLnBrk="1" hangingPunct="1"/>
            <a:r>
              <a:rPr lang="ru-RU" altLang="ru-RU" sz="3200" dirty="0" smtClean="0">
                <a:solidFill>
                  <a:schemeClr val="bg2"/>
                </a:solidFill>
              </a:rPr>
              <a:t>Модель данных. Близнецы</a:t>
            </a:r>
          </a:p>
        </p:txBody>
      </p:sp>
      <p:pic>
        <p:nvPicPr>
          <p:cNvPr id="12293" name="Picture 34" descr="Пример двух экземпляров данного дерева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695" y="2843935"/>
            <a:ext cx="4884738" cy="357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Номер слайда 6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7EB0168-E9CD-4338-B79D-96694C9264F8}" type="slidenum">
              <a:rPr lang="ru-RU" altLang="ru-RU" sz="1200" smtClean="0">
                <a:latin typeface="Arial Black" pitchFamily="34" charset="0"/>
              </a:rPr>
              <a:pPr eaLnBrk="1" hangingPunct="1"/>
              <a:t>9</a:t>
            </a:fld>
            <a:endParaRPr lang="ru-RU" altLang="ru-RU" sz="1200" smtClean="0">
              <a:latin typeface="Arial Black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06515" y="908720"/>
            <a:ext cx="8820980" cy="2025225"/>
          </a:xfrm>
          <a:prstGeom prst="rect">
            <a:avLst/>
          </a:prstGeom>
        </p:spPr>
        <p:txBody>
          <a:bodyPr wrap="square">
            <a:normAutofit fontScale="70000" lnSpcReduction="20000"/>
          </a:bodyPr>
          <a:lstStyle/>
          <a:p>
            <a:pPr marL="360000" indent="-360000">
              <a:lnSpc>
                <a:spcPct val="120000"/>
              </a:lnSpc>
              <a:buFont typeface="Wingdings" pitchFamily="2" charset="2"/>
              <a:buChar char="n"/>
            </a:pPr>
            <a:r>
              <a:rPr lang="ru-RU" altLang="ru-RU" dirty="0" smtClean="0"/>
              <a:t>Экземпляры-потомки </a:t>
            </a:r>
            <a:r>
              <a:rPr lang="ru-RU" altLang="ru-RU" b="1" dirty="0" smtClean="0"/>
              <a:t>одного типа</a:t>
            </a:r>
            <a:r>
              <a:rPr lang="ru-RU" altLang="ru-RU" dirty="0" smtClean="0"/>
              <a:t>, связанные с </a:t>
            </a:r>
            <a:r>
              <a:rPr lang="ru-RU" altLang="ru-RU" b="1" dirty="0" smtClean="0"/>
              <a:t>одним экземпляром сегмента-предка</a:t>
            </a:r>
            <a:r>
              <a:rPr lang="ru-RU" altLang="ru-RU" dirty="0" smtClean="0"/>
              <a:t>, называют "близнецами". </a:t>
            </a:r>
          </a:p>
          <a:p>
            <a:pPr marL="360000" indent="-360000">
              <a:lnSpc>
                <a:spcPct val="120000"/>
              </a:lnSpc>
              <a:buFont typeface="Wingdings" pitchFamily="2" charset="2"/>
              <a:buChar char="n"/>
            </a:pPr>
            <a:r>
              <a:rPr lang="ru-RU" altLang="ru-RU" dirty="0" smtClean="0"/>
              <a:t>Так, в примере экземпляры b1, b2 и b3 являются "близнецами", но экземпляры b4 и </a:t>
            </a:r>
            <a:r>
              <a:rPr lang="en-US" altLang="ru-RU" dirty="0" smtClean="0"/>
              <a:t>b5 </a:t>
            </a:r>
            <a:r>
              <a:rPr lang="ru-RU" altLang="ru-RU" dirty="0" smtClean="0"/>
              <a:t>подчинены другому экземпляру родительского сегмента (</a:t>
            </a:r>
            <a:r>
              <a:rPr lang="en-US" altLang="ru-RU" dirty="0" smtClean="0"/>
              <a:t>a</a:t>
            </a:r>
            <a:r>
              <a:rPr lang="en-US" altLang="ru-RU" baseline="-25000" dirty="0" smtClean="0"/>
              <a:t>2</a:t>
            </a:r>
            <a:r>
              <a:rPr lang="en-US" altLang="ru-RU" dirty="0" smtClean="0"/>
              <a:t>)</a:t>
            </a:r>
            <a:r>
              <a:rPr lang="ru-RU" altLang="ru-RU" dirty="0" smtClean="0"/>
              <a:t>, и они не являются "близнецами" по отношению к экземплярам b1, b2 и b3. </a:t>
            </a:r>
            <a:endParaRPr lang="ru-RU" alt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115889"/>
            <a:ext cx="8229600" cy="648816"/>
          </a:xfrm>
        </p:spPr>
        <p:txBody>
          <a:bodyPr/>
          <a:lstStyle/>
          <a:p>
            <a:pPr algn="ctr"/>
            <a:r>
              <a:rPr lang="ru-RU" altLang="ru-RU" sz="3600" dirty="0" smtClean="0">
                <a:solidFill>
                  <a:schemeClr val="bg2"/>
                </a:solidFill>
              </a:rPr>
              <a:t>Модель данных. Физическая запись</a:t>
            </a:r>
          </a:p>
        </p:txBody>
      </p:sp>
      <p:sp>
        <p:nvSpPr>
          <p:cNvPr id="13315" name="Объект 2"/>
          <p:cNvSpPr>
            <a:spLocks/>
          </p:cNvSpPr>
          <p:nvPr/>
        </p:nvSpPr>
        <p:spPr bwMode="auto">
          <a:xfrm>
            <a:off x="0" y="764704"/>
            <a:ext cx="9144000" cy="590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lnSpc>
                <a:spcPct val="100000"/>
              </a:lnSpc>
              <a:buFont typeface="Wingdings" pitchFamily="2" charset="2"/>
              <a:buChar char="n"/>
            </a:pPr>
            <a:r>
              <a:rPr lang="ru-RU" altLang="ru-RU" sz="20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Набор </a:t>
            </a:r>
            <a:r>
              <a:rPr lang="ru-RU" altLang="ru-RU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всех экземпляров сегментов</a:t>
            </a:r>
            <a:r>
              <a:rPr lang="ru-RU" altLang="ru-RU" sz="2000" dirty="0"/>
              <a:t>, подчиненных</a:t>
            </a:r>
            <a:r>
              <a:rPr lang="ru-RU" altLang="ru-RU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одному экземпляру корневого сегмента</a:t>
            </a:r>
            <a:r>
              <a:rPr lang="ru-RU" altLang="ru-RU" sz="2000" dirty="0"/>
              <a:t>, называется </a:t>
            </a:r>
            <a:r>
              <a:rPr lang="ru-RU" altLang="ru-RU" sz="2000" i="1" dirty="0">
                <a:solidFill>
                  <a:srgbClr val="C00000"/>
                </a:solidFill>
              </a:rPr>
              <a:t>физической записью</a:t>
            </a:r>
            <a:r>
              <a:rPr lang="ru-RU" altLang="ru-RU" sz="2000" dirty="0"/>
              <a:t>. </a:t>
            </a:r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r>
              <a:rPr lang="ru-RU" altLang="ru-RU" sz="2000" dirty="0"/>
              <a:t>Количество экземпляров-потомков может быть разным для разных экземпляров родительских сегментов, поэтому в общем случае физические записи имеют разную длину. </a:t>
            </a:r>
            <a:endParaRPr lang="ru-RU" altLang="ru-RU" sz="2000" dirty="0" smtClean="0"/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r>
              <a:rPr lang="ru-RU" altLang="ru-RU" sz="2000" dirty="0" smtClean="0"/>
              <a:t>Используя </a:t>
            </a:r>
            <a:r>
              <a:rPr lang="ru-RU" altLang="ru-RU" sz="2000" dirty="0"/>
              <a:t>принцип линейной записи иерархических </a:t>
            </a:r>
            <a:r>
              <a:rPr lang="ru-RU" altLang="ru-RU" sz="2000" dirty="0" smtClean="0"/>
              <a:t>графы, (пример) можно </a:t>
            </a:r>
            <a:r>
              <a:rPr lang="ru-RU" altLang="ru-RU" sz="2000" dirty="0"/>
              <a:t>представить в виде двух записей</a:t>
            </a:r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endParaRPr lang="ru-RU" altLang="ru-RU" sz="2000" dirty="0" smtClean="0"/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endParaRPr lang="ru-RU" altLang="ru-RU" sz="2000" dirty="0" smtClean="0"/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endParaRPr lang="ru-RU" altLang="ru-RU" sz="2000" dirty="0" smtClean="0"/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endParaRPr lang="ru-RU" altLang="ru-RU" sz="2000" dirty="0" smtClean="0"/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endParaRPr lang="ru-RU" altLang="ru-RU" sz="2000" dirty="0" smtClean="0"/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endParaRPr lang="ru-RU" altLang="ru-RU" sz="2000" dirty="0" smtClean="0"/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endParaRPr lang="ru-RU" altLang="ru-RU" sz="2000" dirty="0" smtClean="0"/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endParaRPr lang="ru-RU" altLang="ru-RU" sz="2000" dirty="0" smtClean="0"/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r>
              <a:rPr lang="ru-RU" altLang="ru-RU" sz="2000" dirty="0" smtClean="0"/>
              <a:t>Как </a:t>
            </a:r>
            <a:r>
              <a:rPr lang="ru-RU" altLang="ru-RU" sz="2000" dirty="0"/>
              <a:t>видно из примера, физические записи в иерархической модели различаются по длине и структуре.</a:t>
            </a:r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endParaRPr lang="ru-RU" altLang="ru-RU" sz="2000" dirty="0"/>
          </a:p>
          <a:p>
            <a:pPr>
              <a:lnSpc>
                <a:spcPct val="100000"/>
              </a:lnSpc>
            </a:pPr>
            <a:endParaRPr lang="ru-RU" altLang="ru-RU" dirty="0" smtClean="0"/>
          </a:p>
          <a:p>
            <a:pPr>
              <a:lnSpc>
                <a:spcPct val="100000"/>
              </a:lnSpc>
            </a:pPr>
            <a:endParaRPr lang="ru-RU" altLang="ru-RU" dirty="0" smtClean="0"/>
          </a:p>
          <a:p>
            <a:pPr>
              <a:lnSpc>
                <a:spcPct val="100000"/>
              </a:lnSpc>
            </a:pPr>
            <a:endParaRPr lang="ru-RU" alt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716736"/>
              </p:ext>
            </p:extLst>
          </p:nvPr>
        </p:nvGraphicFramePr>
        <p:xfrm>
          <a:off x="431540" y="5310067"/>
          <a:ext cx="8229600" cy="594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4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а</a:t>
                      </a:r>
                      <a:r>
                        <a:rPr lang="ru-RU" sz="2400" baseline="-25000" dirty="0">
                          <a:effectLst/>
                        </a:rPr>
                        <a:t>1</a:t>
                      </a:r>
                      <a:r>
                        <a:rPr lang="ru-RU" sz="2400" dirty="0">
                          <a:effectLst/>
                        </a:rPr>
                        <a:t> b</a:t>
                      </a:r>
                      <a:r>
                        <a:rPr lang="ru-RU" sz="2400" baseline="-25000" dirty="0">
                          <a:effectLst/>
                        </a:rPr>
                        <a:t>1</a:t>
                      </a:r>
                      <a:r>
                        <a:rPr lang="ru-RU" sz="2400" dirty="0">
                          <a:effectLst/>
                        </a:rPr>
                        <a:t> b</a:t>
                      </a:r>
                      <a:r>
                        <a:rPr lang="ru-RU" sz="2400" baseline="-25000" dirty="0">
                          <a:effectLst/>
                        </a:rPr>
                        <a:t>2</a:t>
                      </a:r>
                      <a:r>
                        <a:rPr lang="ru-RU" sz="2400" dirty="0">
                          <a:effectLst/>
                        </a:rPr>
                        <a:t> b</a:t>
                      </a:r>
                      <a:r>
                        <a:rPr lang="ru-RU" sz="2400" baseline="-25000" dirty="0">
                          <a:effectLst/>
                        </a:rPr>
                        <a:t>3</a:t>
                      </a:r>
                      <a:r>
                        <a:rPr lang="ru-RU" sz="2400" dirty="0">
                          <a:effectLst/>
                        </a:rPr>
                        <a:t> c</a:t>
                      </a:r>
                      <a:r>
                        <a:rPr lang="ru-RU" sz="2400" baseline="-25000" dirty="0">
                          <a:effectLst/>
                        </a:rPr>
                        <a:t>1</a:t>
                      </a:r>
                      <a:r>
                        <a:rPr lang="ru-RU" sz="2400" dirty="0">
                          <a:effectLst/>
                        </a:rPr>
                        <a:t> d</a:t>
                      </a:r>
                      <a:r>
                        <a:rPr lang="ru-RU" sz="2400" baseline="-25000" dirty="0">
                          <a:effectLst/>
                        </a:rPr>
                        <a:t>1</a:t>
                      </a:r>
                      <a:r>
                        <a:rPr lang="ru-RU" sz="2400" dirty="0">
                          <a:effectLst/>
                        </a:rPr>
                        <a:t> d</a:t>
                      </a:r>
                      <a:r>
                        <a:rPr lang="ru-RU" sz="2400" baseline="-25000" dirty="0">
                          <a:effectLst/>
                        </a:rPr>
                        <a:t>2</a:t>
                      </a:r>
                      <a:r>
                        <a:rPr lang="ru-RU" sz="2400" dirty="0">
                          <a:effectLst/>
                        </a:rPr>
                        <a:t> e</a:t>
                      </a:r>
                      <a:r>
                        <a:rPr lang="ru-RU" sz="2400" baseline="-25000" dirty="0">
                          <a:effectLst/>
                        </a:rPr>
                        <a:t>1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12" marB="19012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400" dirty="0">
                          <a:effectLst/>
                        </a:rPr>
                        <a:t>a</a:t>
                      </a:r>
                      <a:r>
                        <a:rPr lang="pt-BR" sz="2400" baseline="-25000" dirty="0">
                          <a:effectLst/>
                        </a:rPr>
                        <a:t>2</a:t>
                      </a:r>
                      <a:r>
                        <a:rPr lang="pt-BR" sz="2400" dirty="0">
                          <a:effectLst/>
                        </a:rPr>
                        <a:t> b</a:t>
                      </a:r>
                      <a:r>
                        <a:rPr lang="pt-BR" sz="2400" baseline="-25000" dirty="0">
                          <a:effectLst/>
                        </a:rPr>
                        <a:t>4</a:t>
                      </a:r>
                      <a:r>
                        <a:rPr lang="pt-BR" sz="2400" dirty="0">
                          <a:effectLst/>
                        </a:rPr>
                        <a:t> b</a:t>
                      </a:r>
                      <a:r>
                        <a:rPr lang="pt-BR" sz="2400" baseline="-25000" dirty="0">
                          <a:effectLst/>
                        </a:rPr>
                        <a:t>5</a:t>
                      </a:r>
                      <a:r>
                        <a:rPr lang="pt-BR" sz="2400" dirty="0">
                          <a:effectLst/>
                        </a:rPr>
                        <a:t> c</a:t>
                      </a:r>
                      <a:r>
                        <a:rPr lang="pt-BR" sz="2400" baseline="-25000" dirty="0">
                          <a:effectLst/>
                        </a:rPr>
                        <a:t>2</a:t>
                      </a:r>
                      <a:r>
                        <a:rPr lang="pt-BR" sz="2400" dirty="0">
                          <a:effectLst/>
                        </a:rPr>
                        <a:t> c</a:t>
                      </a:r>
                      <a:r>
                        <a:rPr lang="pt-BR" sz="2400" baseline="-25000" dirty="0">
                          <a:effectLst/>
                        </a:rPr>
                        <a:t>3</a:t>
                      </a:r>
                      <a:r>
                        <a:rPr lang="pt-BR" sz="2400" dirty="0">
                          <a:effectLst/>
                        </a:rPr>
                        <a:t> d</a:t>
                      </a:r>
                      <a:r>
                        <a:rPr lang="pt-BR" sz="2400" baseline="-25000" dirty="0">
                          <a:effectLst/>
                        </a:rPr>
                        <a:t>3</a:t>
                      </a:r>
                      <a:r>
                        <a:rPr lang="pt-BR" sz="2400" dirty="0">
                          <a:effectLst/>
                        </a:rPr>
                        <a:t> d</a:t>
                      </a:r>
                      <a:r>
                        <a:rPr lang="pt-BR" sz="2400" baseline="-25000" dirty="0">
                          <a:effectLst/>
                        </a:rPr>
                        <a:t>4</a:t>
                      </a:r>
                      <a:r>
                        <a:rPr lang="pt-BR" sz="2400" dirty="0">
                          <a:effectLst/>
                        </a:rPr>
                        <a:t> e</a:t>
                      </a:r>
                      <a:r>
                        <a:rPr lang="pt-BR" sz="2400" baseline="-25000" dirty="0">
                          <a:effectLst/>
                        </a:rPr>
                        <a:t>2</a:t>
                      </a:r>
                      <a:r>
                        <a:rPr lang="pt-BR" sz="2400" dirty="0">
                          <a:effectLst/>
                        </a:rPr>
                        <a:t> e</a:t>
                      </a:r>
                      <a:r>
                        <a:rPr lang="pt-BR" sz="2400" baseline="-25000" dirty="0">
                          <a:effectLst/>
                        </a:rPr>
                        <a:t>3</a:t>
                      </a:r>
                      <a:r>
                        <a:rPr lang="pt-BR" sz="2400" dirty="0">
                          <a:effectLst/>
                        </a:rPr>
                        <a:t> e</a:t>
                      </a:r>
                      <a:r>
                        <a:rPr lang="pt-BR" sz="2400" baseline="-25000" dirty="0">
                          <a:effectLst/>
                        </a:rPr>
                        <a:t>4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12" marB="1901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2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Запись 1</a:t>
                      </a:r>
                      <a:endParaRPr lang="ru-RU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12" marB="19012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Запись 2</a:t>
                      </a:r>
                      <a:endParaRPr lang="ru-RU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12" marB="190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327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960E1CB4-B52B-43B7-8F6F-489804C226DB}" type="slidenum">
              <a:rPr lang="ru-RU" altLang="ru-RU" sz="1200" smtClean="0">
                <a:latin typeface="Arial Black" pitchFamily="34" charset="0"/>
              </a:rPr>
              <a:pPr eaLnBrk="1" hangingPunct="1"/>
              <a:t>10</a:t>
            </a:fld>
            <a:endParaRPr lang="ru-RU" altLang="ru-RU" sz="1200" smtClean="0">
              <a:latin typeface="Arial Black" pitchFamily="34" charset="0"/>
            </a:endParaRPr>
          </a:p>
        </p:txBody>
      </p:sp>
      <p:pic>
        <p:nvPicPr>
          <p:cNvPr id="6" name="Picture 34" descr="Пример двух экземпляров данного дерева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750" y="3113965"/>
            <a:ext cx="2880320" cy="211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Grp="1" noChangeArrowheads="1"/>
          </p:cNvSpPr>
          <p:nvPr>
            <p:ph type="title"/>
          </p:nvPr>
        </p:nvSpPr>
        <p:spPr>
          <a:xfrm>
            <a:off x="498475" y="260350"/>
            <a:ext cx="8218488" cy="523875"/>
          </a:xfrm>
          <a:noFill/>
        </p:spPr>
        <p:txBody>
          <a:bodyPr/>
          <a:lstStyle/>
          <a:p>
            <a:pPr algn="ctr"/>
            <a:r>
              <a:rPr lang="ru-RU" altLang="ru-RU" sz="3200" smtClean="0">
                <a:solidFill>
                  <a:schemeClr val="bg2"/>
                </a:solidFill>
              </a:rPr>
              <a:t>Пример схемы базы данных</a:t>
            </a:r>
          </a:p>
        </p:txBody>
      </p:sp>
      <p:sp>
        <p:nvSpPr>
          <p:cNvPr id="10243" name="TextBox 1"/>
          <p:cNvSpPr txBox="1">
            <a:spLocks noChangeArrowheads="1"/>
          </p:cNvSpPr>
          <p:nvPr/>
        </p:nvSpPr>
        <p:spPr bwMode="auto">
          <a:xfrm>
            <a:off x="642938" y="4643438"/>
            <a:ext cx="7715250" cy="192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ru-RU" altLang="ru-RU"/>
              <a:t>Типы сегментов</a:t>
            </a:r>
          </a:p>
          <a:p>
            <a:pPr eaLnBrk="1" hangingPunct="1">
              <a:lnSpc>
                <a:spcPct val="100000"/>
              </a:lnSpc>
            </a:pPr>
            <a:r>
              <a:rPr lang="ru-RU" altLang="ru-RU" sz="2400">
                <a:solidFill>
                  <a:srgbClr val="C00000"/>
                </a:solidFill>
              </a:rPr>
              <a:t>Курс,</a:t>
            </a:r>
            <a:r>
              <a:rPr lang="ru-RU" altLang="ru-RU"/>
              <a:t>	</a:t>
            </a:r>
          </a:p>
          <a:p>
            <a:pPr eaLnBrk="1" hangingPunct="1">
              <a:lnSpc>
                <a:spcPct val="100000"/>
              </a:lnSpc>
            </a:pPr>
            <a:r>
              <a:rPr lang="ru-RU" altLang="ru-RU" sz="2400">
                <a:solidFill>
                  <a:srgbClr val="C00000"/>
                </a:solidFill>
              </a:rPr>
              <a:t>Пред_курс, Цикл</a:t>
            </a:r>
            <a:r>
              <a:rPr lang="en-US" altLang="ru-RU" sz="2400">
                <a:solidFill>
                  <a:srgbClr val="C00000"/>
                </a:solidFill>
              </a:rPr>
              <a:t>_</a:t>
            </a:r>
            <a:r>
              <a:rPr lang="ru-RU" altLang="ru-RU" sz="2400">
                <a:solidFill>
                  <a:srgbClr val="C00000"/>
                </a:solidFill>
              </a:rPr>
              <a:t>занятий </a:t>
            </a:r>
            <a:endParaRPr lang="en-US" altLang="ru-RU" sz="2400"/>
          </a:p>
          <a:p>
            <a:pPr eaLnBrk="1" hangingPunct="1">
              <a:lnSpc>
                <a:spcPct val="100000"/>
              </a:lnSpc>
            </a:pPr>
            <a:r>
              <a:rPr lang="ru-RU" altLang="ru-RU" sz="2400">
                <a:solidFill>
                  <a:srgbClr val="C00000"/>
                </a:solidFill>
              </a:rPr>
              <a:t>Преподаватель, Студент</a:t>
            </a:r>
          </a:p>
        </p:txBody>
      </p:sp>
      <p:sp>
        <p:nvSpPr>
          <p:cNvPr id="10244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99DD7FE8-4007-4E10-9A5F-FA723F4E05FD}" type="slidenum">
              <a:rPr lang="ru-RU" altLang="ru-RU" sz="1200" smtClean="0">
                <a:latin typeface="Arial Black" pitchFamily="34" charset="0"/>
              </a:rPr>
              <a:pPr eaLnBrk="1" hangingPunct="1"/>
              <a:t>11</a:t>
            </a:fld>
            <a:endParaRPr lang="ru-RU" altLang="ru-RU" sz="1200" smtClean="0">
              <a:latin typeface="Arial Black" pitchFamily="34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2143125" y="1236663"/>
          <a:ext cx="3857624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8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COURSE#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TITLE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DESCRIPTION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255" name="TextBox 6"/>
          <p:cNvSpPr txBox="1">
            <a:spLocks noChangeArrowheads="1"/>
          </p:cNvSpPr>
          <p:nvPr/>
        </p:nvSpPr>
        <p:spPr bwMode="auto">
          <a:xfrm>
            <a:off x="1961710" y="908720"/>
            <a:ext cx="13566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altLang="ru-RU" sz="2000" dirty="0" smtClean="0">
                <a:solidFill>
                  <a:srgbClr val="C00000"/>
                </a:solidFill>
              </a:rPr>
              <a:t>Курс (1)</a:t>
            </a:r>
            <a:endParaRPr lang="ru-RU" altLang="ru-RU" sz="2000" dirty="0">
              <a:solidFill>
                <a:srgbClr val="C00000"/>
              </a:solidFill>
            </a:endParaRP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5857875" y="4143375"/>
          <a:ext cx="2928938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1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EMP#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NAME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GRADE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3857625" y="2451100"/>
          <a:ext cx="3857625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4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8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DATE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LOCATION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FORMAT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809625" y="2451100"/>
          <a:ext cx="2119313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COURSE#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54" marR="91454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TITLE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54" marR="91454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2786063" y="4143375"/>
          <a:ext cx="2119312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EMP#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54" marR="91454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NAME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54" marR="91454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292" name="TextBox 12"/>
          <p:cNvSpPr txBox="1">
            <a:spLocks noChangeArrowheads="1"/>
          </p:cNvSpPr>
          <p:nvPr/>
        </p:nvSpPr>
        <p:spPr bwMode="auto">
          <a:xfrm>
            <a:off x="500063" y="2071688"/>
            <a:ext cx="1857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altLang="ru-RU" sz="2000" dirty="0" err="1" smtClean="0">
                <a:solidFill>
                  <a:srgbClr val="C00000"/>
                </a:solidFill>
              </a:rPr>
              <a:t>Пред_курс</a:t>
            </a:r>
            <a:r>
              <a:rPr lang="ru-RU" altLang="ru-RU" sz="2000" dirty="0" smtClean="0">
                <a:solidFill>
                  <a:srgbClr val="C00000"/>
                </a:solidFill>
              </a:rPr>
              <a:t> (2)</a:t>
            </a:r>
            <a:endParaRPr lang="ru-RU" altLang="ru-RU" sz="2000" dirty="0">
              <a:solidFill>
                <a:srgbClr val="C00000"/>
              </a:solidFill>
            </a:endParaRPr>
          </a:p>
        </p:txBody>
      </p:sp>
      <p:sp>
        <p:nvSpPr>
          <p:cNvPr id="10293" name="TextBox 13"/>
          <p:cNvSpPr txBox="1">
            <a:spLocks noChangeArrowheads="1"/>
          </p:cNvSpPr>
          <p:nvPr/>
        </p:nvSpPr>
        <p:spPr bwMode="auto">
          <a:xfrm>
            <a:off x="6215063" y="2058988"/>
            <a:ext cx="2407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altLang="ru-RU" sz="2000" dirty="0">
                <a:solidFill>
                  <a:srgbClr val="C00000"/>
                </a:solidFill>
              </a:rPr>
              <a:t>Цикл</a:t>
            </a:r>
            <a:r>
              <a:rPr lang="en-US" altLang="ru-RU" sz="2000" dirty="0">
                <a:solidFill>
                  <a:srgbClr val="C00000"/>
                </a:solidFill>
              </a:rPr>
              <a:t>_</a:t>
            </a:r>
            <a:r>
              <a:rPr lang="ru-RU" altLang="ru-RU" sz="2000" dirty="0" smtClean="0">
                <a:solidFill>
                  <a:srgbClr val="C00000"/>
                </a:solidFill>
              </a:rPr>
              <a:t>занятий (3)</a:t>
            </a:r>
            <a:endParaRPr lang="ru-RU" altLang="ru-RU" sz="2000" dirty="0">
              <a:solidFill>
                <a:srgbClr val="C00000"/>
              </a:solidFill>
            </a:endParaRPr>
          </a:p>
        </p:txBody>
      </p:sp>
      <p:sp>
        <p:nvSpPr>
          <p:cNvPr id="10294" name="TextBox 14"/>
          <p:cNvSpPr txBox="1">
            <a:spLocks noChangeArrowheads="1"/>
          </p:cNvSpPr>
          <p:nvPr/>
        </p:nvSpPr>
        <p:spPr bwMode="auto">
          <a:xfrm>
            <a:off x="1643063" y="3773488"/>
            <a:ext cx="24788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altLang="ru-RU" sz="2000" dirty="0" smtClean="0">
                <a:solidFill>
                  <a:srgbClr val="C00000"/>
                </a:solidFill>
              </a:rPr>
              <a:t>Преподаватель (4)</a:t>
            </a:r>
            <a:endParaRPr lang="ru-RU" altLang="ru-RU" sz="2000" dirty="0">
              <a:solidFill>
                <a:srgbClr val="C00000"/>
              </a:solidFill>
            </a:endParaRPr>
          </a:p>
        </p:txBody>
      </p:sp>
      <p:sp>
        <p:nvSpPr>
          <p:cNvPr id="10295" name="TextBox 15"/>
          <p:cNvSpPr txBox="1">
            <a:spLocks noChangeArrowheads="1"/>
          </p:cNvSpPr>
          <p:nvPr/>
        </p:nvSpPr>
        <p:spPr bwMode="auto">
          <a:xfrm>
            <a:off x="7452319" y="3699030"/>
            <a:ext cx="15751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altLang="ru-RU" sz="2000" dirty="0" smtClean="0">
                <a:solidFill>
                  <a:srgbClr val="C00000"/>
                </a:solidFill>
              </a:rPr>
              <a:t>Студент (5)</a:t>
            </a:r>
            <a:endParaRPr lang="ru-RU" altLang="ru-RU" sz="2000" dirty="0">
              <a:solidFill>
                <a:srgbClr val="C00000"/>
              </a:solidFill>
            </a:endParaRP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 rot="5400000">
            <a:off x="3643312" y="1785938"/>
            <a:ext cx="42862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 rot="5400000">
            <a:off x="5572919" y="2213769"/>
            <a:ext cx="428625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rot="5400000">
            <a:off x="1785144" y="2213769"/>
            <a:ext cx="428625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rot="5400000">
            <a:off x="5465763" y="3106738"/>
            <a:ext cx="642937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 rot="5400000">
            <a:off x="6930231" y="3785394"/>
            <a:ext cx="714375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 rot="5400000">
            <a:off x="3500437" y="3786188"/>
            <a:ext cx="7143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>
            <a:off x="2000250" y="2000250"/>
            <a:ext cx="3786188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>
            <a:off x="3857625" y="3429000"/>
            <a:ext cx="34290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Grp="1" noChangeArrowheads="1"/>
          </p:cNvSpPr>
          <p:nvPr>
            <p:ph type="title"/>
          </p:nvPr>
        </p:nvSpPr>
        <p:spPr>
          <a:xfrm>
            <a:off x="498475" y="260350"/>
            <a:ext cx="8218488" cy="523875"/>
          </a:xfrm>
          <a:noFill/>
        </p:spPr>
        <p:txBody>
          <a:bodyPr/>
          <a:lstStyle/>
          <a:p>
            <a:pPr algn="ctr" eaLnBrk="1" hangingPunct="1"/>
            <a:r>
              <a:rPr lang="ru-RU" altLang="ru-RU" sz="3200" dirty="0" smtClean="0">
                <a:solidFill>
                  <a:schemeClr val="bg2"/>
                </a:solidFill>
              </a:rPr>
              <a:t>Пример экземпляра дерева</a:t>
            </a:r>
            <a:endParaRPr lang="ru-RU" altLang="ru-RU" sz="3200" dirty="0">
              <a:solidFill>
                <a:schemeClr val="bg2"/>
              </a:solidFill>
            </a:endParaRPr>
          </a:p>
        </p:txBody>
      </p:sp>
      <p:sp>
        <p:nvSpPr>
          <p:cNvPr id="10244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99DD7FE8-4007-4E10-9A5F-FA723F4E05FD}" type="slidenum">
              <a:rPr lang="ru-RU" altLang="ru-RU" sz="1200" smtClean="0">
                <a:latin typeface="Arial Black" pitchFamily="34" charset="0"/>
              </a:rPr>
              <a:pPr eaLnBrk="1" hangingPunct="1"/>
              <a:t>12</a:t>
            </a:fld>
            <a:endParaRPr lang="ru-RU" altLang="ru-RU" sz="1200" smtClean="0">
              <a:latin typeface="Arial Black" pitchFamily="34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88311"/>
              </p:ext>
            </p:extLst>
          </p:nvPr>
        </p:nvGraphicFramePr>
        <p:xfrm>
          <a:off x="2143125" y="1236663"/>
          <a:ext cx="3857624" cy="365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2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>
                          <a:solidFill>
                            <a:schemeClr val="bg2"/>
                          </a:solidFill>
                        </a:rPr>
                        <a:t>М23</a:t>
                      </a:r>
                      <a:endParaRPr lang="ru-RU" sz="18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>
                          <a:solidFill>
                            <a:schemeClr val="bg2"/>
                          </a:solidFill>
                        </a:rPr>
                        <a:t>ГИДРОДИНАМИКА</a:t>
                      </a:r>
                      <a:endParaRPr lang="ru-RU" sz="18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… 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255" name="TextBox 6"/>
          <p:cNvSpPr txBox="1">
            <a:spLocks noChangeArrowheads="1"/>
          </p:cNvSpPr>
          <p:nvPr/>
        </p:nvSpPr>
        <p:spPr bwMode="auto">
          <a:xfrm>
            <a:off x="2000250" y="915988"/>
            <a:ext cx="857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altLang="ru-RU" sz="2000">
                <a:solidFill>
                  <a:srgbClr val="C00000"/>
                </a:solidFill>
              </a:rPr>
              <a:t>Курс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155306"/>
              </p:ext>
            </p:extLst>
          </p:nvPr>
        </p:nvGraphicFramePr>
        <p:xfrm>
          <a:off x="755576" y="2348880"/>
          <a:ext cx="2322215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М19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54" marR="91454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МЕХАНИКА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54" marR="91454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636528"/>
              </p:ext>
            </p:extLst>
          </p:nvPr>
        </p:nvGraphicFramePr>
        <p:xfrm>
          <a:off x="251520" y="5445224"/>
          <a:ext cx="2605979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328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120915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54" marR="91454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КУЛИКОВ В.И.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54" marR="91454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292" name="TextBox 12"/>
          <p:cNvSpPr txBox="1">
            <a:spLocks noChangeArrowheads="1"/>
          </p:cNvSpPr>
          <p:nvPr/>
        </p:nvSpPr>
        <p:spPr bwMode="auto">
          <a:xfrm>
            <a:off x="323528" y="1978993"/>
            <a:ext cx="1857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altLang="ru-RU" sz="2000" dirty="0" err="1">
                <a:solidFill>
                  <a:srgbClr val="C00000"/>
                </a:solidFill>
              </a:rPr>
              <a:t>Пред_курс</a:t>
            </a:r>
            <a:endParaRPr lang="ru-RU" altLang="ru-RU" sz="2000" dirty="0">
              <a:solidFill>
                <a:srgbClr val="C00000"/>
              </a:solidFill>
            </a:endParaRPr>
          </a:p>
        </p:txBody>
      </p:sp>
      <p:sp>
        <p:nvSpPr>
          <p:cNvPr id="10293" name="TextBox 13"/>
          <p:cNvSpPr txBox="1">
            <a:spLocks noChangeArrowheads="1"/>
          </p:cNvSpPr>
          <p:nvPr/>
        </p:nvSpPr>
        <p:spPr bwMode="auto">
          <a:xfrm>
            <a:off x="6215063" y="2058988"/>
            <a:ext cx="1857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altLang="ru-RU" sz="2000">
                <a:solidFill>
                  <a:srgbClr val="C00000"/>
                </a:solidFill>
              </a:rPr>
              <a:t>Цикл</a:t>
            </a:r>
            <a:r>
              <a:rPr lang="en-US" altLang="ru-RU" sz="2000">
                <a:solidFill>
                  <a:srgbClr val="C00000"/>
                </a:solidFill>
              </a:rPr>
              <a:t>_</a:t>
            </a:r>
            <a:r>
              <a:rPr lang="ru-RU" altLang="ru-RU" sz="2000">
                <a:solidFill>
                  <a:srgbClr val="C00000"/>
                </a:solidFill>
              </a:rPr>
              <a:t>занятий</a:t>
            </a:r>
          </a:p>
        </p:txBody>
      </p:sp>
      <p:sp>
        <p:nvSpPr>
          <p:cNvPr id="10294" name="TextBox 14"/>
          <p:cNvSpPr txBox="1">
            <a:spLocks noChangeArrowheads="1"/>
          </p:cNvSpPr>
          <p:nvPr/>
        </p:nvSpPr>
        <p:spPr bwMode="auto">
          <a:xfrm>
            <a:off x="52041" y="5075337"/>
            <a:ext cx="20716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altLang="ru-RU" sz="2000" dirty="0">
                <a:solidFill>
                  <a:srgbClr val="C00000"/>
                </a:solidFill>
              </a:rPr>
              <a:t>Преподаватель</a:t>
            </a:r>
          </a:p>
        </p:txBody>
      </p:sp>
      <p:sp>
        <p:nvSpPr>
          <p:cNvPr id="10295" name="TextBox 15"/>
          <p:cNvSpPr txBox="1">
            <a:spLocks noChangeArrowheads="1"/>
          </p:cNvSpPr>
          <p:nvPr/>
        </p:nvSpPr>
        <p:spPr bwMode="auto">
          <a:xfrm>
            <a:off x="7465219" y="5028116"/>
            <a:ext cx="12144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altLang="ru-RU" sz="2000" dirty="0">
                <a:solidFill>
                  <a:srgbClr val="C00000"/>
                </a:solidFill>
              </a:rPr>
              <a:t>Студент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 rot="5400000">
            <a:off x="3643312" y="1785938"/>
            <a:ext cx="42862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5788026" y="2000250"/>
            <a:ext cx="11849" cy="4286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rot="5400000">
            <a:off x="1785144" y="2213769"/>
            <a:ext cx="428625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flipH="1">
            <a:off x="4258960" y="4930163"/>
            <a:ext cx="1588" cy="26795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1835696" y="5205352"/>
            <a:ext cx="0" cy="23216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5799875" y="3212976"/>
            <a:ext cx="0" cy="30115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>
            <a:off x="2000250" y="2000250"/>
            <a:ext cx="3786188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>
            <a:off x="1835696" y="5205352"/>
            <a:ext cx="417646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Таблица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290624"/>
              </p:ext>
            </p:extLst>
          </p:nvPr>
        </p:nvGraphicFramePr>
        <p:xfrm>
          <a:off x="467544" y="2924944"/>
          <a:ext cx="2376264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М16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54" marR="91454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МАТ. АНАЛИЗ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54" marR="91454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79512" y="2420888"/>
            <a:ext cx="572464" cy="480131"/>
          </a:xfrm>
          <a:prstGeom prst="rect">
            <a:avLst/>
          </a:prstGeom>
          <a:noFill/>
          <a:scene3d>
            <a:camera prst="orthographicFront">
              <a:rot lat="0" lon="0" rev="19800000"/>
            </a:camera>
            <a:lightRig rig="threePt" dir="t"/>
          </a:scene3d>
        </p:spPr>
        <p:txBody>
          <a:bodyPr vert="vert270" wrap="square" rtlCol="0">
            <a:spAutoFit/>
            <a:scene3d>
              <a:camera prst="orthographicFront">
                <a:rot lat="0" lon="0" rev="1800000"/>
              </a:camera>
              <a:lightRig rig="threePt" dir="t"/>
            </a:scene3d>
          </a:bodyPr>
          <a:lstStyle/>
          <a:p>
            <a:r>
              <a:rPr lang="ru-RU" dirty="0" smtClean="0"/>
              <a:t>…</a:t>
            </a:r>
            <a:endParaRPr lang="ru-RU" dirty="0"/>
          </a:p>
        </p:txBody>
      </p:sp>
      <p:graphicFrame>
        <p:nvGraphicFramePr>
          <p:cNvPr id="30" name="Таблица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749650"/>
              </p:ext>
            </p:extLst>
          </p:nvPr>
        </p:nvGraphicFramePr>
        <p:xfrm>
          <a:off x="3563888" y="2852936"/>
          <a:ext cx="4790306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15.03.2012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ТОМСК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ЭКЗАМЕН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Таблица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685245"/>
              </p:ext>
            </p:extLst>
          </p:nvPr>
        </p:nvGraphicFramePr>
        <p:xfrm>
          <a:off x="2123728" y="4605974"/>
          <a:ext cx="4790306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20.06.2012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КЕМЕРОВО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ЭКЗАМЕН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Таблица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033912"/>
              </p:ext>
            </p:extLst>
          </p:nvPr>
        </p:nvGraphicFramePr>
        <p:xfrm>
          <a:off x="5747518" y="3717032"/>
          <a:ext cx="3216970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7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810301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Петров</a:t>
                      </a:r>
                      <a:r>
                        <a:rPr lang="ru-RU" sz="1600" baseline="0" dirty="0" smtClean="0">
                          <a:solidFill>
                            <a:schemeClr val="bg2"/>
                          </a:solidFill>
                        </a:rPr>
                        <a:t> А. А.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 smtClean="0">
                          <a:solidFill>
                            <a:schemeClr val="bg2"/>
                          </a:solidFill>
                        </a:rPr>
                        <a:t>отл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Таблица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99127"/>
              </p:ext>
            </p:extLst>
          </p:nvPr>
        </p:nvGraphicFramePr>
        <p:xfrm>
          <a:off x="4539932" y="5470070"/>
          <a:ext cx="3216970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7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910201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Петров</a:t>
                      </a:r>
                      <a:r>
                        <a:rPr lang="ru-RU" sz="1600" baseline="0" dirty="0" smtClean="0">
                          <a:solidFill>
                            <a:schemeClr val="bg2"/>
                          </a:solidFill>
                        </a:rPr>
                        <a:t> А. А.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 smtClean="0">
                          <a:solidFill>
                            <a:schemeClr val="bg2"/>
                          </a:solidFill>
                        </a:rPr>
                        <a:t>отл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Таблица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230313"/>
              </p:ext>
            </p:extLst>
          </p:nvPr>
        </p:nvGraphicFramePr>
        <p:xfrm>
          <a:off x="4177953" y="5830110"/>
          <a:ext cx="3216970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7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910202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Ветров</a:t>
                      </a:r>
                      <a:r>
                        <a:rPr lang="ru-RU" sz="1600" baseline="0" dirty="0" smtClean="0">
                          <a:solidFill>
                            <a:schemeClr val="bg2"/>
                          </a:solidFill>
                        </a:rPr>
                        <a:t> А. А.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хор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Таблица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975846"/>
              </p:ext>
            </p:extLst>
          </p:nvPr>
        </p:nvGraphicFramePr>
        <p:xfrm>
          <a:off x="3851920" y="6334166"/>
          <a:ext cx="3216970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7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910203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Кедров</a:t>
                      </a:r>
                      <a:r>
                        <a:rPr lang="ru-RU" sz="1600" baseline="0" dirty="0" smtClean="0">
                          <a:solidFill>
                            <a:schemeClr val="bg2"/>
                          </a:solidFill>
                        </a:rPr>
                        <a:t> А. А.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 smtClean="0">
                          <a:solidFill>
                            <a:schemeClr val="bg2"/>
                          </a:solidFill>
                        </a:rPr>
                        <a:t>удовл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0" name="Прямая соединительная линия 39"/>
          <p:cNvCxnSpPr/>
          <p:nvPr/>
        </p:nvCxnSpPr>
        <p:spPr>
          <a:xfrm>
            <a:off x="6012160" y="5213060"/>
            <a:ext cx="0" cy="23216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635896" y="5829189"/>
            <a:ext cx="572464" cy="480131"/>
          </a:xfrm>
          <a:prstGeom prst="rect">
            <a:avLst/>
          </a:prstGeom>
          <a:noFill/>
          <a:scene3d>
            <a:camera prst="orthographicFront">
              <a:rot lat="0" lon="0" rev="19800000"/>
            </a:camera>
            <a:lightRig rig="threePt" dir="t"/>
          </a:scene3d>
        </p:spPr>
        <p:txBody>
          <a:bodyPr vert="vert270" wrap="square" rtlCol="0">
            <a:spAutoFit/>
            <a:scene3d>
              <a:camera prst="orthographicFront">
                <a:rot lat="0" lon="0" rev="1800000"/>
              </a:camera>
              <a:lightRig rig="threePt" dir="t"/>
            </a:scene3d>
          </a:bodyPr>
          <a:lstStyle/>
          <a:p>
            <a:r>
              <a:rPr lang="ru-RU" dirty="0" smtClean="0"/>
              <a:t>…</a:t>
            </a:r>
            <a:endParaRPr lang="ru-RU" dirty="0"/>
          </a:p>
        </p:txBody>
      </p:sp>
      <p:cxnSp>
        <p:nvCxnSpPr>
          <p:cNvPr id="44" name="Прямая соединительная линия 43"/>
          <p:cNvCxnSpPr/>
          <p:nvPr/>
        </p:nvCxnSpPr>
        <p:spPr>
          <a:xfrm>
            <a:off x="3635896" y="3501008"/>
            <a:ext cx="381642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/>
          <p:nvPr/>
        </p:nvCxnSpPr>
        <p:spPr>
          <a:xfrm>
            <a:off x="7452320" y="3501008"/>
            <a:ext cx="0" cy="23216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Таблица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620022"/>
              </p:ext>
            </p:extLst>
          </p:nvPr>
        </p:nvGraphicFramePr>
        <p:xfrm>
          <a:off x="2038029" y="3717032"/>
          <a:ext cx="2605979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328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220918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54" marR="91454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МАЗУРОВ С.П.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54" marR="91454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" name="Таблица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537433"/>
              </p:ext>
            </p:extLst>
          </p:nvPr>
        </p:nvGraphicFramePr>
        <p:xfrm>
          <a:off x="5387478" y="4149080"/>
          <a:ext cx="3216970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7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81030</a:t>
                      </a:r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Петров</a:t>
                      </a:r>
                      <a:r>
                        <a:rPr lang="ru-RU" sz="1600" baseline="0" dirty="0" smtClean="0">
                          <a:solidFill>
                            <a:schemeClr val="bg2"/>
                          </a:solidFill>
                        </a:rPr>
                        <a:t> А. А.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хор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" name="Прямая соединительная линия 51"/>
          <p:cNvCxnSpPr/>
          <p:nvPr/>
        </p:nvCxnSpPr>
        <p:spPr>
          <a:xfrm>
            <a:off x="3635896" y="3501008"/>
            <a:ext cx="0" cy="23216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15"/>
          <p:cNvSpPr txBox="1">
            <a:spLocks noChangeArrowheads="1"/>
          </p:cNvSpPr>
          <p:nvPr/>
        </p:nvSpPr>
        <p:spPr bwMode="auto">
          <a:xfrm>
            <a:off x="7750051" y="3284984"/>
            <a:ext cx="12144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altLang="ru-RU" sz="2000" dirty="0">
                <a:solidFill>
                  <a:srgbClr val="C00000"/>
                </a:solidFill>
              </a:rPr>
              <a:t>Студент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23672" y="3717032"/>
            <a:ext cx="572464" cy="480131"/>
          </a:xfrm>
          <a:prstGeom prst="rect">
            <a:avLst/>
          </a:prstGeom>
          <a:noFill/>
          <a:scene3d>
            <a:camera prst="orthographicFront">
              <a:rot lat="0" lon="0" rev="19800000"/>
            </a:camera>
            <a:lightRig rig="threePt" dir="t"/>
          </a:scene3d>
        </p:spPr>
        <p:txBody>
          <a:bodyPr vert="vert270" wrap="square" rtlCol="0">
            <a:spAutoFit/>
            <a:scene3d>
              <a:camera prst="orthographicFront">
                <a:rot lat="0" lon="0" rev="1800000"/>
              </a:camera>
              <a:lightRig rig="threePt" dir="t"/>
            </a:scene3d>
          </a:bodyPr>
          <a:lstStyle/>
          <a:p>
            <a:r>
              <a:rPr lang="ru-RU" dirty="0" smtClean="0"/>
              <a:t>…</a:t>
            </a:r>
            <a:endParaRPr lang="ru-RU" dirty="0"/>
          </a:p>
        </p:txBody>
      </p:sp>
      <p:sp>
        <p:nvSpPr>
          <p:cNvPr id="55" name="TextBox 54"/>
          <p:cNvSpPr txBox="1"/>
          <p:nvPr/>
        </p:nvSpPr>
        <p:spPr>
          <a:xfrm>
            <a:off x="3419872" y="2372805"/>
            <a:ext cx="572464" cy="480131"/>
          </a:xfrm>
          <a:prstGeom prst="rect">
            <a:avLst/>
          </a:prstGeom>
          <a:noFill/>
          <a:scene3d>
            <a:camera prst="orthographicFront">
              <a:rot lat="0" lon="0" rev="19800000"/>
            </a:camera>
            <a:lightRig rig="threePt" dir="t"/>
          </a:scene3d>
        </p:spPr>
        <p:txBody>
          <a:bodyPr vert="vert270" wrap="square" rtlCol="0">
            <a:spAutoFit/>
            <a:scene3d>
              <a:camera prst="orthographicFront">
                <a:rot lat="0" lon="0" rev="1800000"/>
              </a:camera>
              <a:lightRig rig="threePt" dir="t"/>
            </a:scene3d>
          </a:bodyPr>
          <a:lstStyle/>
          <a:p>
            <a:r>
              <a:rPr lang="ru-RU" dirty="0" smtClean="0"/>
              <a:t>…</a:t>
            </a:r>
            <a:endParaRPr lang="ru-RU" dirty="0"/>
          </a:p>
        </p:txBody>
      </p:sp>
      <p:sp>
        <p:nvSpPr>
          <p:cNvPr id="56" name="TextBox 14"/>
          <p:cNvSpPr txBox="1">
            <a:spLocks noChangeArrowheads="1"/>
          </p:cNvSpPr>
          <p:nvPr/>
        </p:nvSpPr>
        <p:spPr bwMode="auto">
          <a:xfrm>
            <a:off x="1636217" y="3429000"/>
            <a:ext cx="20716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altLang="ru-RU" sz="2000" dirty="0">
                <a:solidFill>
                  <a:srgbClr val="C00000"/>
                </a:solidFill>
              </a:rPr>
              <a:t>Преподаватель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068373"/>
              </p:ext>
            </p:extLst>
          </p:nvPr>
        </p:nvGraphicFramePr>
        <p:xfrm>
          <a:off x="3923928" y="2348880"/>
          <a:ext cx="4790306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12.01.2012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НОВОСИБИРСК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ЭКЗАМЕН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4982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260648"/>
            <a:ext cx="8748712" cy="503907"/>
          </a:xfrm>
        </p:spPr>
        <p:txBody>
          <a:bodyPr/>
          <a:lstStyle/>
          <a:p>
            <a:pPr algn="ctr"/>
            <a:r>
              <a:rPr lang="ru-RU" altLang="ru-RU" sz="3600" dirty="0" smtClean="0">
                <a:solidFill>
                  <a:schemeClr val="bg2"/>
                </a:solidFill>
              </a:rPr>
              <a:t>Иерархический порядок</a:t>
            </a:r>
            <a:endParaRPr lang="ru-RU" sz="3600" dirty="0">
              <a:solidFill>
                <a:schemeClr val="bg2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7950" y="836712"/>
            <a:ext cx="8919545" cy="5905401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lvl="1" indent="-342900">
              <a:lnSpc>
                <a:spcPct val="11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altLang="ru-RU" sz="2400" dirty="0" smtClean="0"/>
              <a:t>Для однозначной идентификации экземпляров сегментов(записей) применяется следующая схема:</a:t>
            </a:r>
            <a:endParaRPr lang="ru-RU" sz="2400" dirty="0" smtClean="0"/>
          </a:p>
          <a:p>
            <a:pPr marL="742950" lvl="2" indent="-342900">
              <a:lnSpc>
                <a:spcPct val="110000"/>
              </a:lnSpc>
              <a:buClr>
                <a:srgbClr val="C00000"/>
              </a:buClr>
              <a:buSzPct val="75000"/>
              <a:buFont typeface="Wingdings" pitchFamily="2" charset="2"/>
              <a:buChar char="v"/>
            </a:pPr>
            <a:r>
              <a:rPr lang="ru-RU" sz="2000" dirty="0" smtClean="0"/>
              <a:t>Корневая запись каждого дерева обязательно содержит </a:t>
            </a:r>
            <a:r>
              <a:rPr lang="ru-RU" sz="2000" dirty="0" smtClean="0">
                <a:solidFill>
                  <a:schemeClr val="accent5">
                    <a:lumMod val="50000"/>
                  </a:schemeClr>
                </a:solidFill>
              </a:rPr>
              <a:t>ключ с уникальными значениями.</a:t>
            </a:r>
          </a:p>
          <a:p>
            <a:pPr marL="742950" lvl="2" indent="-342900">
              <a:lnSpc>
                <a:spcPct val="110000"/>
              </a:lnSpc>
              <a:buClr>
                <a:srgbClr val="C00000"/>
              </a:buClr>
              <a:buSzPct val="75000"/>
              <a:buFont typeface="Wingdings" pitchFamily="2" charset="2"/>
              <a:buChar char="v"/>
            </a:pPr>
            <a:r>
              <a:rPr lang="ru-RU" sz="2000" dirty="0" smtClean="0"/>
              <a:t>Ключи некорневых записей должны быть </a:t>
            </a:r>
            <a:r>
              <a:rPr lang="ru-RU" sz="2000" dirty="0" smtClean="0">
                <a:solidFill>
                  <a:schemeClr val="accent5">
                    <a:lumMod val="50000"/>
                  </a:schemeClr>
                </a:solidFill>
              </a:rPr>
              <a:t>уникальны только среди «близнецов»</a:t>
            </a:r>
          </a:p>
          <a:p>
            <a:pPr marL="742950" lvl="2" indent="-342900">
              <a:lnSpc>
                <a:spcPct val="110000"/>
              </a:lnSpc>
              <a:buClr>
                <a:srgbClr val="C00000"/>
              </a:buClr>
              <a:buSzPct val="75000"/>
              <a:buFont typeface="Wingdings" pitchFamily="2" charset="2"/>
              <a:buChar char="v"/>
            </a:pPr>
            <a:r>
              <a:rPr lang="ru-RU" sz="2000" dirty="0" smtClean="0"/>
              <a:t>Каждая запись  идентифицируется </a:t>
            </a:r>
            <a:r>
              <a:rPr lang="ru-RU" sz="2000" dirty="0" smtClean="0">
                <a:solidFill>
                  <a:schemeClr val="accent5">
                    <a:lumMod val="50000"/>
                  </a:schemeClr>
                </a:solidFill>
              </a:rPr>
              <a:t>полным составным ключом </a:t>
            </a:r>
            <a:r>
              <a:rPr lang="ru-RU" sz="2000" dirty="0" smtClean="0"/>
              <a:t>– совокупность ключей начиная от корневой записи и далее вниз по иерархическому пути</a:t>
            </a:r>
          </a:p>
          <a:p>
            <a:pPr marL="342900" lvl="1" indent="-342900">
              <a:lnSpc>
                <a:spcPct val="11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sz="2400" dirty="0" smtClean="0"/>
              <a:t>Важность этого понятия обусловлена тем, что базы данных хранятся в иерархическом порядке</a:t>
            </a:r>
          </a:p>
          <a:p>
            <a:pPr marL="342900" lvl="1" indent="-342900">
              <a:lnSpc>
                <a:spcPct val="11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sz="2400" dirty="0" smtClean="0"/>
              <a:t>Некоторые операции модификации определяются в терминах этого порядка</a:t>
            </a:r>
          </a:p>
          <a:p>
            <a:pPr marL="342900" lvl="1" indent="-342900">
              <a:lnSpc>
                <a:spcPct val="11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altLang="ru-RU" sz="2400" dirty="0" smtClean="0"/>
              <a:t>Иерархический порядок в </a:t>
            </a:r>
            <a:r>
              <a:rPr lang="en-US" altLang="ru-RU" sz="2400" dirty="0" smtClean="0"/>
              <a:t>IMS</a:t>
            </a:r>
            <a:r>
              <a:rPr lang="ru-RU" altLang="ru-RU" sz="2400" dirty="0" smtClean="0"/>
              <a:t> – порядок, определенный возрастающим значением </a:t>
            </a:r>
            <a:r>
              <a:rPr lang="ru-RU" sz="2400" dirty="0" smtClean="0"/>
              <a:t>ключа иерархического упорядочения.</a:t>
            </a:r>
          </a:p>
          <a:p>
            <a:pPr marL="342900" lvl="1" indent="-342900">
              <a:lnSpc>
                <a:spcPct val="11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sz="2400" dirty="0" smtClean="0"/>
              <a:t>Для каждого экземпляра сегмента </a:t>
            </a:r>
            <a:r>
              <a:rPr lang="ru-RU" altLang="ru-RU" sz="2400" dirty="0" smtClean="0"/>
              <a:t>в </a:t>
            </a:r>
            <a:r>
              <a:rPr lang="en-US" altLang="ru-RU" sz="2400" dirty="0" smtClean="0"/>
              <a:t>IMS</a:t>
            </a:r>
            <a:r>
              <a:rPr lang="ru-RU" altLang="ru-RU" sz="2400" dirty="0" smtClean="0"/>
              <a:t> </a:t>
            </a:r>
            <a:r>
              <a:rPr lang="ru-RU" sz="2400" dirty="0" smtClean="0"/>
              <a:t>определяется </a:t>
            </a:r>
            <a:r>
              <a:rPr lang="ru-RU" sz="2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«значение ключа иерархического упорядочения», с</a:t>
            </a:r>
            <a:r>
              <a:rPr lang="ru-RU" sz="2400" dirty="0" smtClean="0"/>
              <a:t>остоящего из кода сегмента и значения ключа поля упорядочения сегмента</a:t>
            </a:r>
            <a:endParaRPr lang="ru-RU" sz="2000" dirty="0" smtClean="0"/>
          </a:p>
          <a:p>
            <a:pPr marL="342900" lvl="1" indent="-342900">
              <a:lnSpc>
                <a:spcPct val="11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endParaRPr lang="ru-RU" sz="2400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342900" lvl="1" indent="-342900">
              <a:lnSpc>
                <a:spcPct val="11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endParaRPr lang="ru-RU" sz="2400" dirty="0" smtClean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13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528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Grp="1" noChangeArrowheads="1"/>
          </p:cNvSpPr>
          <p:nvPr>
            <p:ph type="title"/>
          </p:nvPr>
        </p:nvSpPr>
        <p:spPr>
          <a:xfrm>
            <a:off x="521550" y="50800"/>
            <a:ext cx="8218488" cy="523875"/>
          </a:xfrm>
          <a:noFill/>
        </p:spPr>
        <p:txBody>
          <a:bodyPr/>
          <a:lstStyle/>
          <a:p>
            <a:pPr algn="ctr" eaLnBrk="1" hangingPunct="1"/>
            <a:r>
              <a:rPr lang="ru-RU" altLang="ru-RU" sz="3200" dirty="0" smtClean="0">
                <a:solidFill>
                  <a:schemeClr val="bg2"/>
                </a:solidFill>
              </a:rPr>
              <a:t>Иерархический порядок</a:t>
            </a:r>
            <a:endParaRPr lang="ru-RU" altLang="ru-RU" sz="3200" dirty="0">
              <a:solidFill>
                <a:schemeClr val="bg2"/>
              </a:solidFill>
            </a:endParaRPr>
          </a:p>
        </p:txBody>
      </p:sp>
      <p:sp>
        <p:nvSpPr>
          <p:cNvPr id="10244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99DD7FE8-4007-4E10-9A5F-FA723F4E05FD}" type="slidenum">
              <a:rPr lang="ru-RU" altLang="ru-RU" sz="1200" smtClean="0">
                <a:latin typeface="Arial Black" pitchFamily="34" charset="0"/>
              </a:rPr>
              <a:pPr eaLnBrk="1" hangingPunct="1"/>
              <a:t>14</a:t>
            </a:fld>
            <a:endParaRPr lang="ru-RU" altLang="ru-RU" sz="1200" smtClean="0">
              <a:latin typeface="Arial Black" pitchFamily="34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88311"/>
              </p:ext>
            </p:extLst>
          </p:nvPr>
        </p:nvGraphicFramePr>
        <p:xfrm>
          <a:off x="2143125" y="1236663"/>
          <a:ext cx="3857624" cy="365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2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>
                          <a:solidFill>
                            <a:schemeClr val="bg2"/>
                          </a:solidFill>
                        </a:rPr>
                        <a:t>М23</a:t>
                      </a:r>
                      <a:endParaRPr lang="ru-RU" sz="18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>
                          <a:solidFill>
                            <a:schemeClr val="bg2"/>
                          </a:solidFill>
                        </a:rPr>
                        <a:t>ГИДРОДИНАМИКА</a:t>
                      </a:r>
                      <a:endParaRPr lang="ru-RU" sz="18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… 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255" name="TextBox 6"/>
          <p:cNvSpPr txBox="1">
            <a:spLocks noChangeArrowheads="1"/>
          </p:cNvSpPr>
          <p:nvPr/>
        </p:nvSpPr>
        <p:spPr bwMode="auto">
          <a:xfrm>
            <a:off x="2000250" y="915988"/>
            <a:ext cx="12827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altLang="ru-RU" sz="2000" dirty="0" smtClean="0">
                <a:solidFill>
                  <a:srgbClr val="C00000"/>
                </a:solidFill>
              </a:rPr>
              <a:t>(1) Курс</a:t>
            </a:r>
            <a:endParaRPr lang="ru-RU" altLang="ru-RU" sz="2000" dirty="0">
              <a:solidFill>
                <a:srgbClr val="C00000"/>
              </a:solidFill>
            </a:endParaRP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155306"/>
              </p:ext>
            </p:extLst>
          </p:nvPr>
        </p:nvGraphicFramePr>
        <p:xfrm>
          <a:off x="755576" y="2348880"/>
          <a:ext cx="2322215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М19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54" marR="91454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МЕХАНИКА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54" marR="91454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636528"/>
              </p:ext>
            </p:extLst>
          </p:nvPr>
        </p:nvGraphicFramePr>
        <p:xfrm>
          <a:off x="251520" y="5445224"/>
          <a:ext cx="2605979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328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120915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54" marR="91454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КУЛИКОВ В.И.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54" marR="91454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292" name="TextBox 12"/>
          <p:cNvSpPr txBox="1">
            <a:spLocks noChangeArrowheads="1"/>
          </p:cNvSpPr>
          <p:nvPr/>
        </p:nvSpPr>
        <p:spPr bwMode="auto">
          <a:xfrm>
            <a:off x="323528" y="1917700"/>
            <a:ext cx="1857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altLang="ru-RU" sz="2000" dirty="0" smtClean="0">
                <a:solidFill>
                  <a:srgbClr val="C00000"/>
                </a:solidFill>
              </a:rPr>
              <a:t>(2) </a:t>
            </a:r>
            <a:r>
              <a:rPr lang="ru-RU" altLang="ru-RU" sz="2000" dirty="0" err="1" smtClean="0">
                <a:solidFill>
                  <a:srgbClr val="C00000"/>
                </a:solidFill>
              </a:rPr>
              <a:t>Пред_курс</a:t>
            </a:r>
            <a:endParaRPr lang="ru-RU" altLang="ru-RU" sz="2000" dirty="0">
              <a:solidFill>
                <a:srgbClr val="C00000"/>
              </a:solidFill>
            </a:endParaRPr>
          </a:p>
        </p:txBody>
      </p:sp>
      <p:sp>
        <p:nvSpPr>
          <p:cNvPr id="10293" name="TextBox 13"/>
          <p:cNvSpPr txBox="1">
            <a:spLocks noChangeArrowheads="1"/>
          </p:cNvSpPr>
          <p:nvPr/>
        </p:nvSpPr>
        <p:spPr bwMode="auto">
          <a:xfrm>
            <a:off x="6215063" y="1873250"/>
            <a:ext cx="23574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altLang="ru-RU" sz="2000" dirty="0" smtClean="0">
                <a:solidFill>
                  <a:srgbClr val="C00000"/>
                </a:solidFill>
              </a:rPr>
              <a:t>(3)Цикл</a:t>
            </a:r>
            <a:r>
              <a:rPr lang="en-US" altLang="ru-RU" sz="2000" dirty="0">
                <a:solidFill>
                  <a:srgbClr val="C00000"/>
                </a:solidFill>
              </a:rPr>
              <a:t>_</a:t>
            </a:r>
            <a:r>
              <a:rPr lang="ru-RU" altLang="ru-RU" sz="2000" dirty="0">
                <a:solidFill>
                  <a:srgbClr val="C00000"/>
                </a:solidFill>
              </a:rPr>
              <a:t>занятий</a:t>
            </a:r>
          </a:p>
        </p:txBody>
      </p:sp>
      <p:sp>
        <p:nvSpPr>
          <p:cNvPr id="10294" name="TextBox 14"/>
          <p:cNvSpPr txBox="1">
            <a:spLocks noChangeArrowheads="1"/>
          </p:cNvSpPr>
          <p:nvPr/>
        </p:nvSpPr>
        <p:spPr bwMode="auto">
          <a:xfrm>
            <a:off x="52041" y="5075337"/>
            <a:ext cx="20716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altLang="ru-RU" sz="2000" dirty="0">
                <a:solidFill>
                  <a:srgbClr val="C00000"/>
                </a:solidFill>
              </a:rPr>
              <a:t>Преподаватель</a:t>
            </a:r>
          </a:p>
        </p:txBody>
      </p:sp>
      <p:sp>
        <p:nvSpPr>
          <p:cNvPr id="10295" name="TextBox 15"/>
          <p:cNvSpPr txBox="1">
            <a:spLocks noChangeArrowheads="1"/>
          </p:cNvSpPr>
          <p:nvPr/>
        </p:nvSpPr>
        <p:spPr bwMode="auto">
          <a:xfrm>
            <a:off x="6216650" y="5059362"/>
            <a:ext cx="1733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altLang="ru-RU" sz="2000" dirty="0" smtClean="0">
                <a:solidFill>
                  <a:srgbClr val="C00000"/>
                </a:solidFill>
              </a:rPr>
              <a:t>(5) Студент</a:t>
            </a:r>
            <a:endParaRPr lang="ru-RU" altLang="ru-RU" sz="2000" dirty="0">
              <a:solidFill>
                <a:srgbClr val="C00000"/>
              </a:solidFill>
            </a:endParaRP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 rot="5400000">
            <a:off x="3643312" y="1785938"/>
            <a:ext cx="42862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5788026" y="2000250"/>
            <a:ext cx="11849" cy="4286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rot="5400000">
            <a:off x="1785144" y="2213769"/>
            <a:ext cx="428625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flipH="1">
            <a:off x="4258960" y="4930163"/>
            <a:ext cx="1588" cy="26795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1835696" y="5205352"/>
            <a:ext cx="0" cy="23216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5799875" y="3212976"/>
            <a:ext cx="0" cy="30115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>
            <a:off x="2000250" y="2000250"/>
            <a:ext cx="3786188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>
            <a:off x="1835696" y="5205352"/>
            <a:ext cx="417646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Таблица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290624"/>
              </p:ext>
            </p:extLst>
          </p:nvPr>
        </p:nvGraphicFramePr>
        <p:xfrm>
          <a:off x="467544" y="2924944"/>
          <a:ext cx="2376264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М16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54" marR="91454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МАТ. АНАЛИЗ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54" marR="91454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79512" y="2420888"/>
            <a:ext cx="572464" cy="480131"/>
          </a:xfrm>
          <a:prstGeom prst="rect">
            <a:avLst/>
          </a:prstGeom>
          <a:noFill/>
          <a:scene3d>
            <a:camera prst="orthographicFront">
              <a:rot lat="0" lon="0" rev="19800000"/>
            </a:camera>
            <a:lightRig rig="threePt" dir="t"/>
          </a:scene3d>
        </p:spPr>
        <p:txBody>
          <a:bodyPr vert="vert270" wrap="square" rtlCol="0">
            <a:spAutoFit/>
            <a:scene3d>
              <a:camera prst="orthographicFront">
                <a:rot lat="0" lon="0" rev="1800000"/>
              </a:camera>
              <a:lightRig rig="threePt" dir="t"/>
            </a:scene3d>
          </a:bodyPr>
          <a:lstStyle/>
          <a:p>
            <a:r>
              <a:rPr lang="ru-RU" dirty="0" smtClean="0"/>
              <a:t>…</a:t>
            </a:r>
            <a:endParaRPr lang="ru-RU" dirty="0"/>
          </a:p>
        </p:txBody>
      </p:sp>
      <p:graphicFrame>
        <p:nvGraphicFramePr>
          <p:cNvPr id="30" name="Таблица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749650"/>
              </p:ext>
            </p:extLst>
          </p:nvPr>
        </p:nvGraphicFramePr>
        <p:xfrm>
          <a:off x="3563888" y="2852936"/>
          <a:ext cx="4790306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15032012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ТОМСК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ЭКЗАМЕН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Таблица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685245"/>
              </p:ext>
            </p:extLst>
          </p:nvPr>
        </p:nvGraphicFramePr>
        <p:xfrm>
          <a:off x="2123728" y="4605974"/>
          <a:ext cx="4790306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20062012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КЕМЕРОВО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ЭКЗАМЕН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Таблица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033912"/>
              </p:ext>
            </p:extLst>
          </p:nvPr>
        </p:nvGraphicFramePr>
        <p:xfrm>
          <a:off x="5747518" y="3717032"/>
          <a:ext cx="3216970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7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810301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Петров</a:t>
                      </a:r>
                      <a:r>
                        <a:rPr lang="ru-RU" sz="1600" baseline="0" dirty="0" smtClean="0">
                          <a:solidFill>
                            <a:schemeClr val="bg2"/>
                          </a:solidFill>
                        </a:rPr>
                        <a:t> А. А.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 smtClean="0">
                          <a:solidFill>
                            <a:schemeClr val="bg2"/>
                          </a:solidFill>
                        </a:rPr>
                        <a:t>отл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Таблица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99127"/>
              </p:ext>
            </p:extLst>
          </p:nvPr>
        </p:nvGraphicFramePr>
        <p:xfrm>
          <a:off x="4539932" y="5470070"/>
          <a:ext cx="3216970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7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910201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Петров</a:t>
                      </a:r>
                      <a:r>
                        <a:rPr lang="ru-RU" sz="1600" baseline="0" dirty="0" smtClean="0">
                          <a:solidFill>
                            <a:schemeClr val="bg2"/>
                          </a:solidFill>
                        </a:rPr>
                        <a:t> А. А.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 smtClean="0">
                          <a:solidFill>
                            <a:schemeClr val="bg2"/>
                          </a:solidFill>
                        </a:rPr>
                        <a:t>отл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Таблица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230313"/>
              </p:ext>
            </p:extLst>
          </p:nvPr>
        </p:nvGraphicFramePr>
        <p:xfrm>
          <a:off x="4177953" y="5830110"/>
          <a:ext cx="3216970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7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910202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Ветров</a:t>
                      </a:r>
                      <a:r>
                        <a:rPr lang="ru-RU" sz="1600" baseline="0" dirty="0" smtClean="0">
                          <a:solidFill>
                            <a:schemeClr val="bg2"/>
                          </a:solidFill>
                        </a:rPr>
                        <a:t> А. А.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хор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Таблица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975846"/>
              </p:ext>
            </p:extLst>
          </p:nvPr>
        </p:nvGraphicFramePr>
        <p:xfrm>
          <a:off x="3851920" y="6334166"/>
          <a:ext cx="3216970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7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910203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Кедров</a:t>
                      </a:r>
                      <a:r>
                        <a:rPr lang="ru-RU" sz="1600" baseline="0" dirty="0" smtClean="0">
                          <a:solidFill>
                            <a:schemeClr val="bg2"/>
                          </a:solidFill>
                        </a:rPr>
                        <a:t> А. А.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 smtClean="0">
                          <a:solidFill>
                            <a:schemeClr val="bg2"/>
                          </a:solidFill>
                        </a:rPr>
                        <a:t>удовл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0" name="Прямая соединительная линия 39"/>
          <p:cNvCxnSpPr/>
          <p:nvPr/>
        </p:nvCxnSpPr>
        <p:spPr>
          <a:xfrm>
            <a:off x="6012160" y="5213060"/>
            <a:ext cx="0" cy="23216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635896" y="5829189"/>
            <a:ext cx="572464" cy="480131"/>
          </a:xfrm>
          <a:prstGeom prst="rect">
            <a:avLst/>
          </a:prstGeom>
          <a:noFill/>
          <a:scene3d>
            <a:camera prst="orthographicFront">
              <a:rot lat="0" lon="0" rev="19800000"/>
            </a:camera>
            <a:lightRig rig="threePt" dir="t"/>
          </a:scene3d>
        </p:spPr>
        <p:txBody>
          <a:bodyPr vert="vert270" wrap="square" rtlCol="0">
            <a:spAutoFit/>
            <a:scene3d>
              <a:camera prst="orthographicFront">
                <a:rot lat="0" lon="0" rev="1800000"/>
              </a:camera>
              <a:lightRig rig="threePt" dir="t"/>
            </a:scene3d>
          </a:bodyPr>
          <a:lstStyle/>
          <a:p>
            <a:r>
              <a:rPr lang="ru-RU" dirty="0" smtClean="0"/>
              <a:t>…</a:t>
            </a:r>
            <a:endParaRPr lang="ru-RU" dirty="0"/>
          </a:p>
        </p:txBody>
      </p:sp>
      <p:cxnSp>
        <p:nvCxnSpPr>
          <p:cNvPr id="44" name="Прямая соединительная линия 43"/>
          <p:cNvCxnSpPr/>
          <p:nvPr/>
        </p:nvCxnSpPr>
        <p:spPr>
          <a:xfrm>
            <a:off x="3635896" y="3501008"/>
            <a:ext cx="381642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/>
          <p:nvPr/>
        </p:nvCxnSpPr>
        <p:spPr>
          <a:xfrm>
            <a:off x="7452320" y="3501008"/>
            <a:ext cx="0" cy="23216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Таблица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620022"/>
              </p:ext>
            </p:extLst>
          </p:nvPr>
        </p:nvGraphicFramePr>
        <p:xfrm>
          <a:off x="2038029" y="3717032"/>
          <a:ext cx="2605979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328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220918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54" marR="91454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МАЗУРОВ С.П.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54" marR="91454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" name="Таблица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967085"/>
              </p:ext>
            </p:extLst>
          </p:nvPr>
        </p:nvGraphicFramePr>
        <p:xfrm>
          <a:off x="5387478" y="4149080"/>
          <a:ext cx="3216970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7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810301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Петров</a:t>
                      </a:r>
                      <a:r>
                        <a:rPr lang="ru-RU" sz="1600" baseline="0" dirty="0" smtClean="0">
                          <a:solidFill>
                            <a:schemeClr val="bg2"/>
                          </a:solidFill>
                        </a:rPr>
                        <a:t> А. А.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хор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" name="Прямая соединительная линия 51"/>
          <p:cNvCxnSpPr/>
          <p:nvPr/>
        </p:nvCxnSpPr>
        <p:spPr>
          <a:xfrm>
            <a:off x="3635896" y="3501008"/>
            <a:ext cx="0" cy="23216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15"/>
          <p:cNvSpPr txBox="1">
            <a:spLocks noChangeArrowheads="1"/>
          </p:cNvSpPr>
          <p:nvPr/>
        </p:nvSpPr>
        <p:spPr bwMode="auto">
          <a:xfrm>
            <a:off x="7683500" y="3325812"/>
            <a:ext cx="1460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altLang="ru-RU" sz="2000" dirty="0" smtClean="0">
                <a:solidFill>
                  <a:srgbClr val="C00000"/>
                </a:solidFill>
              </a:rPr>
              <a:t>(5)Студент</a:t>
            </a:r>
            <a:endParaRPr lang="ru-RU" altLang="ru-RU" sz="2000" dirty="0">
              <a:solidFill>
                <a:srgbClr val="C0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223672" y="3717032"/>
            <a:ext cx="572464" cy="480131"/>
          </a:xfrm>
          <a:prstGeom prst="rect">
            <a:avLst/>
          </a:prstGeom>
          <a:noFill/>
          <a:scene3d>
            <a:camera prst="orthographicFront">
              <a:rot lat="0" lon="0" rev="19800000"/>
            </a:camera>
            <a:lightRig rig="threePt" dir="t"/>
          </a:scene3d>
        </p:spPr>
        <p:txBody>
          <a:bodyPr vert="vert270" wrap="square" rtlCol="0">
            <a:spAutoFit/>
            <a:scene3d>
              <a:camera prst="orthographicFront">
                <a:rot lat="0" lon="0" rev="1800000"/>
              </a:camera>
              <a:lightRig rig="threePt" dir="t"/>
            </a:scene3d>
          </a:bodyPr>
          <a:lstStyle/>
          <a:p>
            <a:r>
              <a:rPr lang="ru-RU" dirty="0" smtClean="0"/>
              <a:t>…</a:t>
            </a:r>
            <a:endParaRPr lang="ru-RU" dirty="0"/>
          </a:p>
        </p:txBody>
      </p:sp>
      <p:sp>
        <p:nvSpPr>
          <p:cNvPr id="55" name="TextBox 54"/>
          <p:cNvSpPr txBox="1"/>
          <p:nvPr/>
        </p:nvSpPr>
        <p:spPr>
          <a:xfrm>
            <a:off x="3419872" y="2372805"/>
            <a:ext cx="572464" cy="480131"/>
          </a:xfrm>
          <a:prstGeom prst="rect">
            <a:avLst/>
          </a:prstGeom>
          <a:noFill/>
          <a:scene3d>
            <a:camera prst="orthographicFront">
              <a:rot lat="0" lon="0" rev="19800000"/>
            </a:camera>
            <a:lightRig rig="threePt" dir="t"/>
          </a:scene3d>
        </p:spPr>
        <p:txBody>
          <a:bodyPr vert="vert270" wrap="square" rtlCol="0">
            <a:spAutoFit/>
            <a:scene3d>
              <a:camera prst="orthographicFront">
                <a:rot lat="0" lon="0" rev="1800000"/>
              </a:camera>
              <a:lightRig rig="threePt" dir="t"/>
            </a:scene3d>
          </a:bodyPr>
          <a:lstStyle/>
          <a:p>
            <a:r>
              <a:rPr lang="ru-RU" dirty="0" smtClean="0"/>
              <a:t>…</a:t>
            </a:r>
            <a:endParaRPr lang="ru-RU" dirty="0"/>
          </a:p>
        </p:txBody>
      </p:sp>
      <p:sp>
        <p:nvSpPr>
          <p:cNvPr id="56" name="TextBox 14"/>
          <p:cNvSpPr txBox="1">
            <a:spLocks noChangeArrowheads="1"/>
          </p:cNvSpPr>
          <p:nvPr/>
        </p:nvSpPr>
        <p:spPr bwMode="auto">
          <a:xfrm>
            <a:off x="1238250" y="3340100"/>
            <a:ext cx="24696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altLang="ru-RU" sz="2000" dirty="0" smtClean="0">
                <a:solidFill>
                  <a:srgbClr val="C00000"/>
                </a:solidFill>
              </a:rPr>
              <a:t>(4) Преподаватель</a:t>
            </a:r>
            <a:endParaRPr lang="ru-RU" altLang="ru-RU" sz="2000" dirty="0">
              <a:solidFill>
                <a:srgbClr val="C00000"/>
              </a:solidFill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068373"/>
              </p:ext>
            </p:extLst>
          </p:nvPr>
        </p:nvGraphicFramePr>
        <p:xfrm>
          <a:off x="3923928" y="2348880"/>
          <a:ext cx="4790306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12012012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НОВОСИБИРСК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2"/>
                          </a:solidFill>
                        </a:rPr>
                        <a:t>ЭКЗАМЕН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386535" y="628650"/>
            <a:ext cx="6795755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 smtClean="0"/>
              <a:t>Для студента </a:t>
            </a:r>
            <a:r>
              <a:rPr lang="en-US" sz="1600" b="1" dirty="0" smtClean="0"/>
              <a:t>“</a:t>
            </a:r>
            <a:r>
              <a:rPr lang="ru-RU" sz="1600" b="1" dirty="0" smtClean="0"/>
              <a:t>Ветров</a:t>
            </a:r>
            <a:r>
              <a:rPr lang="en-US" sz="1600" b="1" dirty="0" smtClean="0"/>
              <a:t> </a:t>
            </a:r>
            <a:r>
              <a:rPr lang="ru-RU" sz="1600" b="1" dirty="0" smtClean="0"/>
              <a:t>А.А.</a:t>
            </a:r>
            <a:r>
              <a:rPr lang="en-US" sz="1600" dirty="0" smtClean="0"/>
              <a:t>” – </a:t>
            </a:r>
            <a:r>
              <a:rPr lang="en-US" sz="1600" b="1" dirty="0" smtClean="0">
                <a:solidFill>
                  <a:srgbClr val="FF0000"/>
                </a:solidFill>
              </a:rPr>
              <a:t>1</a:t>
            </a:r>
            <a:r>
              <a:rPr lang="ru-RU" sz="1600" b="1" dirty="0" smtClean="0">
                <a:solidFill>
                  <a:schemeClr val="bg2"/>
                </a:solidFill>
              </a:rPr>
              <a:t>М23</a:t>
            </a:r>
            <a:r>
              <a:rPr lang="ru-RU" sz="1600" b="1" dirty="0" smtClean="0">
                <a:solidFill>
                  <a:srgbClr val="FF0000"/>
                </a:solidFill>
              </a:rPr>
              <a:t>3</a:t>
            </a:r>
            <a:r>
              <a:rPr lang="ru-RU" sz="16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20062012</a:t>
            </a:r>
            <a:r>
              <a:rPr lang="ru-RU" sz="1600" b="1" dirty="0" smtClean="0">
                <a:solidFill>
                  <a:srgbClr val="FF0000"/>
                </a:solidFill>
              </a:rPr>
              <a:t>5</a:t>
            </a:r>
            <a:r>
              <a:rPr lang="ru-RU" sz="1600" b="1" dirty="0" smtClean="0">
                <a:solidFill>
                  <a:schemeClr val="bg2"/>
                </a:solidFill>
              </a:rPr>
              <a:t>910202</a:t>
            </a:r>
            <a:endParaRPr lang="ru-RU" sz="1600" b="1" dirty="0">
              <a:solidFill>
                <a:schemeClr val="bg2"/>
              </a:solidFill>
            </a:endParaRPr>
          </a:p>
        </p:txBody>
      </p:sp>
      <p:sp>
        <p:nvSpPr>
          <p:cNvPr id="42" name="TextBox 13"/>
          <p:cNvSpPr txBox="1">
            <a:spLocks noChangeArrowheads="1"/>
          </p:cNvSpPr>
          <p:nvPr/>
        </p:nvSpPr>
        <p:spPr bwMode="auto">
          <a:xfrm>
            <a:off x="2660650" y="4215368"/>
            <a:ext cx="23574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altLang="ru-RU" sz="2000" dirty="0" smtClean="0">
                <a:solidFill>
                  <a:srgbClr val="C00000"/>
                </a:solidFill>
              </a:rPr>
              <a:t>(3)Цикл</a:t>
            </a:r>
            <a:r>
              <a:rPr lang="en-US" altLang="ru-RU" sz="2000" dirty="0">
                <a:solidFill>
                  <a:srgbClr val="C00000"/>
                </a:solidFill>
              </a:rPr>
              <a:t>_</a:t>
            </a:r>
            <a:r>
              <a:rPr lang="ru-RU" altLang="ru-RU" sz="2000" dirty="0">
                <a:solidFill>
                  <a:srgbClr val="C00000"/>
                </a:solidFill>
              </a:rPr>
              <a:t>занятий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23588" y="2273300"/>
            <a:ext cx="1181862" cy="1689100"/>
          </a:xfrm>
          <a:prstGeom prst="rect">
            <a:avLst/>
          </a:prstGeom>
          <a:noFill/>
          <a:scene3d>
            <a:camera prst="orthographicFront">
              <a:rot lat="0" lon="0" rev="19800000"/>
            </a:camera>
            <a:lightRig rig="threePt" dir="t"/>
          </a:scene3d>
        </p:spPr>
        <p:txBody>
          <a:bodyPr vert="vert270" wrap="square" rtlCol="0">
            <a:spAutoFit/>
            <a:scene3d>
              <a:camera prst="orthographicFront">
                <a:rot lat="0" lon="0" rev="1800000"/>
              </a:camera>
              <a:lightRig rig="threePt" dir="t"/>
            </a:scene3d>
          </a:bodyPr>
          <a:lstStyle/>
          <a:p>
            <a:r>
              <a:rPr lang="ru-RU" sz="7200" spc="1000" dirty="0" smtClean="0"/>
              <a:t>…</a:t>
            </a:r>
            <a:endParaRPr lang="ru-RU" sz="7200" spc="1000" dirty="0"/>
          </a:p>
        </p:txBody>
      </p:sp>
    </p:spTree>
    <p:extLst>
      <p:ext uri="{BB962C8B-B14F-4D97-AF65-F5344CB8AC3E}">
        <p14:creationId xmlns:p14="http://schemas.microsoft.com/office/powerpoint/2010/main" val="624982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206515" y="143635"/>
            <a:ext cx="8748712" cy="720725"/>
          </a:xfrm>
        </p:spPr>
        <p:txBody>
          <a:bodyPr/>
          <a:lstStyle/>
          <a:p>
            <a:r>
              <a:rPr lang="ru-RU" altLang="ru-RU" sz="2800" dirty="0" smtClean="0">
                <a:solidFill>
                  <a:schemeClr val="bg2"/>
                </a:solidFill>
              </a:rPr>
              <a:t>Язык описания данных иерархической модели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7950" y="863716"/>
            <a:ext cx="9036050" cy="587839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>
              <a:defRPr/>
            </a:pPr>
            <a:r>
              <a:rPr lang="ru-RU" sz="2000" dirty="0"/>
              <a:t>В рамках иерархической модели выделяют языковые средства описания данных </a:t>
            </a:r>
            <a:r>
              <a:rPr lang="ru-RU" sz="2000" dirty="0" smtClean="0"/>
              <a:t>(</a:t>
            </a:r>
            <a:r>
              <a:rPr lang="ru-RU" sz="2000" dirty="0"/>
              <a:t>DDL, </a:t>
            </a:r>
            <a:r>
              <a:rPr lang="ru-RU" sz="2000" dirty="0" err="1"/>
              <a:t>Data</a:t>
            </a:r>
            <a:r>
              <a:rPr lang="ru-RU" sz="2000" dirty="0"/>
              <a:t> </a:t>
            </a:r>
            <a:r>
              <a:rPr lang="ru-RU" sz="2000" dirty="0" err="1"/>
              <a:t>Definition</a:t>
            </a:r>
            <a:r>
              <a:rPr lang="ru-RU" sz="2000" dirty="0"/>
              <a:t> </a:t>
            </a:r>
            <a:r>
              <a:rPr lang="ru-RU" sz="2000" dirty="0" err="1"/>
              <a:t>Language</a:t>
            </a:r>
            <a:r>
              <a:rPr lang="ru-RU" sz="2000" dirty="0"/>
              <a:t>) и средства манипулирования данными (DML, </a:t>
            </a:r>
            <a:r>
              <a:rPr lang="ru-RU" sz="2000" dirty="0" err="1"/>
              <a:t>Data</a:t>
            </a:r>
            <a:r>
              <a:rPr lang="ru-RU" sz="2000" dirty="0"/>
              <a:t> </a:t>
            </a:r>
            <a:r>
              <a:rPr lang="ru-RU" sz="2000" dirty="0" err="1"/>
              <a:t>Manipulation</a:t>
            </a:r>
            <a:r>
              <a:rPr lang="ru-RU" sz="2000" dirty="0"/>
              <a:t> </a:t>
            </a:r>
            <a:r>
              <a:rPr lang="ru-RU" sz="2000" dirty="0" err="1"/>
              <a:t>Language</a:t>
            </a:r>
            <a:r>
              <a:rPr lang="ru-RU" sz="2000" dirty="0"/>
              <a:t>).</a:t>
            </a:r>
          </a:p>
          <a:p>
            <a:pPr marL="609600" indent="-609600">
              <a:defRPr/>
            </a:pPr>
            <a:r>
              <a:rPr lang="ru-RU" sz="2000" dirty="0"/>
              <a:t>Каждая физическая база описывается набором операторов, определяющих как ее логическую структуру, так и структуру хранения БД. </a:t>
            </a:r>
            <a:endParaRPr lang="ru-RU" sz="2000" dirty="0" smtClean="0"/>
          </a:p>
          <a:p>
            <a:pPr marL="609600" indent="-609600">
              <a:defRPr/>
            </a:pPr>
            <a:r>
              <a:rPr lang="ru-RU" sz="2000" dirty="0" smtClean="0"/>
              <a:t>Описание </a:t>
            </a:r>
            <a:r>
              <a:rPr lang="ru-RU" sz="2000" dirty="0"/>
              <a:t>начинается с оператора DBD (</a:t>
            </a:r>
            <a:r>
              <a:rPr lang="ru-RU" sz="2000" dirty="0" err="1"/>
              <a:t>Data</a:t>
            </a:r>
            <a:r>
              <a:rPr lang="ru-RU" sz="2000" dirty="0"/>
              <a:t> </a:t>
            </a:r>
            <a:r>
              <a:rPr lang="ru-RU" sz="2000" dirty="0" err="1"/>
              <a:t>Base</a:t>
            </a:r>
            <a:r>
              <a:rPr lang="ru-RU" sz="2000" dirty="0"/>
              <a:t> </a:t>
            </a:r>
            <a:r>
              <a:rPr lang="ru-RU" sz="2000" dirty="0" err="1"/>
              <a:t>Definition</a:t>
            </a:r>
            <a:r>
              <a:rPr lang="ru-RU" sz="2000" dirty="0"/>
              <a:t>):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000" dirty="0" smtClean="0">
                <a:solidFill>
                  <a:srgbClr val="C00000"/>
                </a:solidFill>
              </a:rPr>
              <a:t>            DBD </a:t>
            </a:r>
            <a:r>
              <a:rPr lang="ru-RU" sz="2000" dirty="0" err="1">
                <a:solidFill>
                  <a:srgbClr val="C00000"/>
                </a:solidFill>
              </a:rPr>
              <a:t>Name</a:t>
            </a:r>
            <a:r>
              <a:rPr lang="ru-RU" sz="2000" dirty="0">
                <a:solidFill>
                  <a:srgbClr val="C00000"/>
                </a:solidFill>
              </a:rPr>
              <a:t> = &lt; имя БД&gt;, ACCESS = &lt; способ доступа&gt;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000" i="1" u="sng" dirty="0" smtClean="0"/>
              <a:t>Способ </a:t>
            </a:r>
            <a:r>
              <a:rPr lang="ru-RU" sz="2000" i="1" u="sng" dirty="0"/>
              <a:t>доступа </a:t>
            </a:r>
            <a:r>
              <a:rPr lang="ru-RU" sz="2000" dirty="0"/>
              <a:t>определяет способ организации взаимосвязи физических записей. </a:t>
            </a:r>
            <a:endParaRPr lang="ru-RU" sz="2000" dirty="0" smtClean="0"/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000" dirty="0" smtClean="0"/>
              <a:t>Определено </a:t>
            </a:r>
            <a:r>
              <a:rPr lang="ru-RU" sz="2000" dirty="0"/>
              <a:t>5 способов доступа: </a:t>
            </a:r>
            <a:endParaRPr lang="ru-RU" sz="2000" dirty="0" smtClean="0"/>
          </a:p>
          <a:p>
            <a:pPr>
              <a:buFont typeface="Wingdings" pitchFamily="2" charset="2"/>
              <a:buChar char="v"/>
              <a:defRPr/>
            </a:pPr>
            <a:r>
              <a:rPr lang="ru-RU" sz="1800" i="1" dirty="0" smtClean="0"/>
              <a:t>HSAM </a:t>
            </a:r>
            <a:r>
              <a:rPr lang="ru-RU" sz="1800" i="1" dirty="0"/>
              <a:t>— </a:t>
            </a:r>
            <a:r>
              <a:rPr lang="ru-RU" sz="1800" i="1" dirty="0" err="1"/>
              <a:t>hierarchical</a:t>
            </a:r>
            <a:r>
              <a:rPr lang="ru-RU" sz="1800" i="1" dirty="0"/>
              <a:t> </a:t>
            </a:r>
            <a:r>
              <a:rPr lang="ru-RU" sz="1800" i="1" dirty="0" err="1"/>
              <a:t>sequential</a:t>
            </a:r>
            <a:r>
              <a:rPr lang="ru-RU" sz="1800" i="1" dirty="0"/>
              <a:t> </a:t>
            </a:r>
            <a:r>
              <a:rPr lang="ru-RU" sz="1800" i="1" dirty="0" err="1"/>
              <a:t>access</a:t>
            </a:r>
            <a:r>
              <a:rPr lang="ru-RU" sz="1800" i="1" dirty="0"/>
              <a:t> </a:t>
            </a:r>
            <a:r>
              <a:rPr lang="ru-RU" sz="1800" i="1" dirty="0" err="1"/>
              <a:t>method</a:t>
            </a:r>
            <a:r>
              <a:rPr lang="ru-RU" sz="1800" i="1" dirty="0"/>
              <a:t> </a:t>
            </a:r>
            <a:r>
              <a:rPr lang="ru-RU" sz="1800" dirty="0"/>
              <a:t>(иерархически последовательный метод), </a:t>
            </a:r>
            <a:endParaRPr lang="ru-RU" sz="1800" dirty="0" smtClean="0"/>
          </a:p>
          <a:p>
            <a:pPr>
              <a:buFont typeface="Wingdings" pitchFamily="2" charset="2"/>
              <a:buChar char="v"/>
              <a:defRPr/>
            </a:pPr>
            <a:r>
              <a:rPr lang="ru-RU" sz="1800" i="1" dirty="0" smtClean="0"/>
              <a:t>HISAM </a:t>
            </a:r>
            <a:r>
              <a:rPr lang="ru-RU" sz="1800" i="1" dirty="0"/>
              <a:t>— </a:t>
            </a:r>
            <a:r>
              <a:rPr lang="ru-RU" sz="1800" i="1" dirty="0" err="1"/>
              <a:t>hierarchical</a:t>
            </a:r>
            <a:r>
              <a:rPr lang="ru-RU" sz="1800" i="1" dirty="0"/>
              <a:t> </a:t>
            </a:r>
            <a:r>
              <a:rPr lang="ru-RU" sz="1800" i="1" dirty="0" err="1"/>
              <a:t>index</a:t>
            </a:r>
            <a:r>
              <a:rPr lang="ru-RU" sz="1800" i="1" dirty="0"/>
              <a:t> </a:t>
            </a:r>
            <a:r>
              <a:rPr lang="ru-RU" sz="1800" i="1" dirty="0" err="1"/>
              <a:t>sequential</a:t>
            </a:r>
            <a:r>
              <a:rPr lang="ru-RU" sz="1800" i="1" dirty="0"/>
              <a:t> </a:t>
            </a:r>
            <a:r>
              <a:rPr lang="ru-RU" sz="1800" i="1" dirty="0" err="1"/>
              <a:t>access</a:t>
            </a:r>
            <a:r>
              <a:rPr lang="ru-RU" sz="1800" i="1" dirty="0"/>
              <a:t> </a:t>
            </a:r>
            <a:r>
              <a:rPr lang="ru-RU" sz="1800" i="1" dirty="0" err="1"/>
              <a:t>method</a:t>
            </a:r>
            <a:r>
              <a:rPr lang="ru-RU" sz="1800" i="1" dirty="0"/>
              <a:t> </a:t>
            </a:r>
            <a:r>
              <a:rPr lang="ru-RU" sz="1800" dirty="0"/>
              <a:t>(иерархически индексно-последовательный метод), </a:t>
            </a:r>
            <a:endParaRPr lang="ru-RU" sz="1800" dirty="0" smtClean="0"/>
          </a:p>
          <a:p>
            <a:pPr>
              <a:buFont typeface="Wingdings" pitchFamily="2" charset="2"/>
              <a:buChar char="v"/>
              <a:defRPr/>
            </a:pPr>
            <a:r>
              <a:rPr lang="ru-RU" sz="1800" i="1" dirty="0" smtClean="0"/>
              <a:t>HDAM </a:t>
            </a:r>
            <a:r>
              <a:rPr lang="ru-RU" sz="1800" i="1" dirty="0"/>
              <a:t>— </a:t>
            </a:r>
            <a:r>
              <a:rPr lang="ru-RU" sz="1800" i="1" dirty="0" err="1"/>
              <a:t>hierarchical</a:t>
            </a:r>
            <a:r>
              <a:rPr lang="ru-RU" sz="1800" i="1" dirty="0"/>
              <a:t> </a:t>
            </a:r>
            <a:r>
              <a:rPr lang="ru-RU" sz="1800" i="1" dirty="0" err="1"/>
              <a:t>direct</a:t>
            </a:r>
            <a:r>
              <a:rPr lang="ru-RU" sz="1800" i="1" dirty="0"/>
              <a:t> </a:t>
            </a:r>
            <a:r>
              <a:rPr lang="ru-RU" sz="1800" i="1" dirty="0" err="1"/>
              <a:t>access</a:t>
            </a:r>
            <a:r>
              <a:rPr lang="ru-RU" sz="1800" i="1" dirty="0"/>
              <a:t> </a:t>
            </a:r>
            <a:r>
              <a:rPr lang="ru-RU" sz="1800" i="1" dirty="0" err="1"/>
              <a:t>method</a:t>
            </a:r>
            <a:r>
              <a:rPr lang="ru-RU" sz="1800" i="1" dirty="0"/>
              <a:t> </a:t>
            </a:r>
            <a:r>
              <a:rPr lang="ru-RU" sz="1800" dirty="0"/>
              <a:t>(иерархически прямой метод), </a:t>
            </a:r>
            <a:endParaRPr lang="ru-RU" sz="1800" dirty="0" smtClean="0"/>
          </a:p>
          <a:p>
            <a:pPr>
              <a:buFont typeface="Wingdings" pitchFamily="2" charset="2"/>
              <a:buChar char="v"/>
              <a:defRPr/>
            </a:pPr>
            <a:r>
              <a:rPr lang="ru-RU" sz="1800" i="1" dirty="0" smtClean="0"/>
              <a:t>HIDAM </a:t>
            </a:r>
            <a:r>
              <a:rPr lang="ru-RU" sz="1800" i="1" dirty="0"/>
              <a:t>— </a:t>
            </a:r>
            <a:r>
              <a:rPr lang="ru-RU" sz="1800" i="1" dirty="0" err="1"/>
              <a:t>hierarchical</a:t>
            </a:r>
            <a:r>
              <a:rPr lang="ru-RU" sz="1800" i="1" dirty="0"/>
              <a:t> </a:t>
            </a:r>
            <a:r>
              <a:rPr lang="ru-RU" sz="1800" i="1" dirty="0" err="1"/>
              <a:t>index</a:t>
            </a:r>
            <a:r>
              <a:rPr lang="ru-RU" sz="1800" i="1" dirty="0"/>
              <a:t> </a:t>
            </a:r>
            <a:r>
              <a:rPr lang="ru-RU" sz="1800" i="1" dirty="0" err="1"/>
              <a:t>direct</a:t>
            </a:r>
            <a:r>
              <a:rPr lang="ru-RU" sz="1800" i="1" dirty="0"/>
              <a:t> </a:t>
            </a:r>
            <a:r>
              <a:rPr lang="ru-RU" sz="1800" i="1" dirty="0" err="1"/>
              <a:t>access</a:t>
            </a:r>
            <a:r>
              <a:rPr lang="ru-RU" sz="1800" i="1" dirty="0"/>
              <a:t> </a:t>
            </a:r>
            <a:r>
              <a:rPr lang="ru-RU" sz="1800" i="1" dirty="0" err="1"/>
              <a:t>method</a:t>
            </a:r>
            <a:r>
              <a:rPr lang="ru-RU" sz="1800" i="1" dirty="0"/>
              <a:t> </a:t>
            </a:r>
            <a:r>
              <a:rPr lang="ru-RU" sz="1800" dirty="0"/>
              <a:t>(иерархически индексно-прямой метод), </a:t>
            </a:r>
            <a:endParaRPr lang="ru-RU" sz="1800" dirty="0" smtClean="0"/>
          </a:p>
          <a:p>
            <a:pPr>
              <a:buFont typeface="Wingdings" pitchFamily="2" charset="2"/>
              <a:buChar char="v"/>
              <a:defRPr/>
            </a:pPr>
            <a:r>
              <a:rPr lang="ru-RU" sz="1800" i="1" dirty="0" smtClean="0"/>
              <a:t>INDEX </a:t>
            </a:r>
            <a:r>
              <a:rPr lang="ru-RU" sz="1800" i="1" dirty="0"/>
              <a:t>— </a:t>
            </a:r>
            <a:r>
              <a:rPr lang="ru-RU" sz="1800" dirty="0"/>
              <a:t>индексный метод.</a:t>
            </a:r>
          </a:p>
          <a:p>
            <a:pPr marL="609600" indent="-609600">
              <a:defRPr/>
            </a:pPr>
            <a:endParaRPr lang="ru-RU" sz="2800" dirty="0" smtClean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15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188640"/>
            <a:ext cx="8748712" cy="503907"/>
          </a:xfrm>
        </p:spPr>
        <p:txBody>
          <a:bodyPr/>
          <a:lstStyle/>
          <a:p>
            <a:pPr algn="ctr"/>
            <a:r>
              <a:rPr lang="ru-RU" altLang="ru-RU" sz="3600" dirty="0" smtClean="0">
                <a:solidFill>
                  <a:schemeClr val="bg2"/>
                </a:solidFill>
              </a:rPr>
              <a:t>ЯОД. Описание хранения данных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7950" y="908720"/>
            <a:ext cx="9036050" cy="583339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ru-RU" sz="2400" dirty="0"/>
              <a:t>Далее идет описание наборов данных, предназначенных для хранения БД: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ru-RU" sz="2000" dirty="0"/>
              <a:t>DATA SET DD1 = &lt; имя оператора, определяющего хранимый набор данных&gt;, </a:t>
            </a:r>
            <a:endParaRPr lang="ru-RU" sz="2000" dirty="0" smtClean="0"/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ru-RU" sz="2000" dirty="0" smtClean="0"/>
              <a:t>DEVICE </a:t>
            </a:r>
            <a:r>
              <a:rPr lang="ru-RU" sz="2000" dirty="0"/>
              <a:t>=&lt; устройство хранения БД&gt;, </a:t>
            </a:r>
            <a:endParaRPr lang="ru-RU" sz="2000" dirty="0" smtClean="0"/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ru-RU" sz="2000" dirty="0" smtClean="0"/>
              <a:t>[</a:t>
            </a:r>
            <a:r>
              <a:rPr lang="ru-RU" sz="2000" dirty="0"/>
              <a:t>OVFLW = &lt; имя области переполнения&gt;] </a:t>
            </a:r>
            <a:endParaRPr lang="ru-RU" sz="2000" dirty="0" smtClean="0"/>
          </a:p>
          <a:p>
            <a:r>
              <a:rPr lang="ru-RU" sz="2400" dirty="0" smtClean="0"/>
              <a:t>Так </a:t>
            </a:r>
            <a:r>
              <a:rPr lang="ru-RU" sz="2400" dirty="0"/>
              <a:t>как физические записи имеют разную длину, то при модификации </a:t>
            </a:r>
            <a:r>
              <a:rPr lang="ru-RU" sz="2400" dirty="0" smtClean="0"/>
              <a:t>размер записи </a:t>
            </a:r>
            <a:r>
              <a:rPr lang="ru-RU" sz="2400" dirty="0"/>
              <a:t>может увеличиться и </a:t>
            </a:r>
            <a:r>
              <a:rPr lang="ru-RU" sz="2400" dirty="0" smtClean="0"/>
              <a:t>превысить </a:t>
            </a:r>
            <a:r>
              <a:rPr lang="ru-RU" sz="2400" dirty="0"/>
              <a:t>исходную длину записи до модификации. </a:t>
            </a:r>
            <a:endParaRPr lang="ru-RU" sz="2400" dirty="0" smtClean="0"/>
          </a:p>
          <a:p>
            <a:r>
              <a:rPr lang="ru-RU" sz="2400" dirty="0" smtClean="0"/>
              <a:t>В </a:t>
            </a:r>
            <a:r>
              <a:rPr lang="ru-RU" sz="2400" dirty="0"/>
              <a:t>этом случае при определенных методах хранения может понадобиться </a:t>
            </a:r>
            <a:r>
              <a:rPr lang="ru-RU" sz="2400" dirty="0">
                <a:solidFill>
                  <a:srgbClr val="3333FF"/>
                </a:solidFill>
              </a:rPr>
              <a:t>дополнительное</a:t>
            </a:r>
            <a:r>
              <a:rPr lang="ru-RU" sz="2400" dirty="0"/>
              <a:t> </a:t>
            </a:r>
            <a:r>
              <a:rPr lang="ru-RU" sz="2400" dirty="0">
                <a:solidFill>
                  <a:srgbClr val="3333FF"/>
                </a:solidFill>
              </a:rPr>
              <a:t>пространство</a:t>
            </a:r>
            <a:r>
              <a:rPr lang="ru-RU" sz="2400" dirty="0"/>
              <a:t> хранения, где и будут размещены дополнительные данные. </a:t>
            </a:r>
            <a:endParaRPr lang="ru-RU" sz="2400" dirty="0" smtClean="0"/>
          </a:p>
          <a:p>
            <a:r>
              <a:rPr lang="ru-RU" sz="2400" dirty="0" smtClean="0"/>
              <a:t>Это </a:t>
            </a:r>
            <a:r>
              <a:rPr lang="ru-RU" sz="2400" dirty="0"/>
              <a:t>пространство и называется </a:t>
            </a:r>
            <a:r>
              <a:rPr lang="ru-RU" sz="2400" dirty="0">
                <a:solidFill>
                  <a:srgbClr val="3333FF"/>
                </a:solidFill>
              </a:rPr>
              <a:t>областью переполнения</a:t>
            </a:r>
            <a:r>
              <a:rPr lang="ru-RU" sz="2400" dirty="0" smtClean="0"/>
              <a:t>.</a:t>
            </a:r>
          </a:p>
          <a:p>
            <a:r>
              <a:rPr lang="ru-RU" sz="2400" dirty="0"/>
              <a:t>После описания всей физической БД идет описание типов сегментов, ее составляющих, в соответствии с иерархией.</a:t>
            </a:r>
          </a:p>
          <a:p>
            <a:pPr marL="609600" indent="-609600">
              <a:defRPr/>
            </a:pPr>
            <a:endParaRPr lang="ru-RU" sz="2400" dirty="0" smtClean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16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21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188640"/>
            <a:ext cx="8748712" cy="720725"/>
          </a:xfrm>
        </p:spPr>
        <p:txBody>
          <a:bodyPr/>
          <a:lstStyle/>
          <a:p>
            <a:pPr algn="ctr"/>
            <a:r>
              <a:rPr lang="ru-RU" altLang="ru-RU" sz="3600" dirty="0" smtClean="0">
                <a:solidFill>
                  <a:schemeClr val="bg2"/>
                </a:solidFill>
              </a:rPr>
              <a:t>Описание сегментов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7950" y="953726"/>
            <a:ext cx="9036050" cy="578838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ru-RU" sz="2400" dirty="0"/>
              <a:t>Описание сегментов всегда начинается с описания корневого сегмента. </a:t>
            </a:r>
            <a:endParaRPr lang="ru-RU" sz="2400" dirty="0" smtClean="0"/>
          </a:p>
          <a:p>
            <a:r>
              <a:rPr lang="ru-RU" sz="2400" dirty="0" smtClean="0"/>
              <a:t>Общая </a:t>
            </a:r>
            <a:r>
              <a:rPr lang="ru-RU" sz="2400" dirty="0"/>
              <a:t>схема описания типа сегмента такова: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ru-RU" sz="2000" dirty="0"/>
              <a:t>SEGM NAME = &lt; имя сегмента&gt;,   </a:t>
            </a:r>
            <a:endParaRPr lang="ru-RU" sz="2000" dirty="0" smtClean="0"/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ru-RU" sz="2000" dirty="0" smtClean="0"/>
              <a:t>BYTES </a:t>
            </a:r>
            <a:r>
              <a:rPr lang="ru-RU" sz="2000" dirty="0"/>
              <a:t>=&lt; размер в байтах&gt;,  </a:t>
            </a:r>
            <a:endParaRPr lang="ru-RU" sz="2000" dirty="0" smtClean="0"/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ru-RU" sz="2000" dirty="0" smtClean="0"/>
              <a:t>FREQ </a:t>
            </a:r>
            <a:r>
              <a:rPr lang="ru-RU" sz="2000" dirty="0"/>
              <a:t>= &lt;средняя частота реализаций сегмента под одним исходным&gt;   </a:t>
            </a:r>
            <a:endParaRPr lang="ru-RU" sz="2000" dirty="0" smtClean="0"/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ru-RU" sz="2000" dirty="0" smtClean="0"/>
              <a:t>PARENT </a:t>
            </a:r>
            <a:r>
              <a:rPr lang="ru-RU" sz="2000" dirty="0"/>
              <a:t>= &lt;имя родительского сегмента&gt; </a:t>
            </a:r>
            <a:endParaRPr lang="ru-RU" sz="2000" dirty="0" smtClean="0"/>
          </a:p>
          <a:p>
            <a:r>
              <a:rPr lang="ru-RU" sz="2400" dirty="0" smtClean="0"/>
              <a:t>Параметр </a:t>
            </a:r>
            <a:r>
              <a:rPr lang="ru-RU" sz="2400" dirty="0"/>
              <a:t>FREQ определяет среднее количество экземпляров данного сегмента, связанных с одним экземпляром родительского сегмента. </a:t>
            </a:r>
            <a:endParaRPr lang="ru-RU" sz="2400" dirty="0" smtClean="0"/>
          </a:p>
          <a:p>
            <a:r>
              <a:rPr lang="ru-RU" sz="2400" dirty="0" smtClean="0"/>
              <a:t>Для </a:t>
            </a:r>
            <a:r>
              <a:rPr lang="ru-RU" sz="2400" dirty="0"/>
              <a:t>корневого сегмента это число возможных экземпляров корневого сегмента.</a:t>
            </a:r>
          </a:p>
          <a:p>
            <a:r>
              <a:rPr lang="ru-RU" sz="2400" dirty="0"/>
              <a:t>Для корневого сегмента параметр PARENT равен 0 (нулю).</a:t>
            </a:r>
          </a:p>
          <a:p>
            <a:pPr marL="609600" indent="-609600">
              <a:defRPr/>
            </a:pPr>
            <a:endParaRPr lang="ru-RU" sz="2400" dirty="0" smtClean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17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223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260648"/>
            <a:ext cx="8748712" cy="503907"/>
          </a:xfrm>
        </p:spPr>
        <p:txBody>
          <a:bodyPr/>
          <a:lstStyle/>
          <a:p>
            <a:pPr algn="ctr"/>
            <a:r>
              <a:rPr lang="ru-RU" altLang="ru-RU" sz="3600" dirty="0" smtClean="0">
                <a:solidFill>
                  <a:schemeClr val="bg2"/>
                </a:solidFill>
              </a:rPr>
              <a:t>Описание полей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7950" y="836712"/>
            <a:ext cx="9036050" cy="590540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ru-RU" sz="2400" dirty="0"/>
              <a:t>Далее для каждого сегмента дается описание полей :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ru-RU" sz="2000" dirty="0"/>
              <a:t>FIELD NAME = {(&lt;имя поля&gt; [, SEQ],{U | M}) | &lt;имя поля&gt; </a:t>
            </a:r>
            <a:r>
              <a:rPr lang="ru-RU" sz="2000" dirty="0" smtClean="0"/>
              <a:t>},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ru-RU" sz="2000" dirty="0" smtClean="0"/>
              <a:t>START </a:t>
            </a:r>
            <a:r>
              <a:rPr lang="ru-RU" sz="2000" dirty="0"/>
              <a:t>= &lt; номер байта, с которого начинается значения поля &gt;,    </a:t>
            </a:r>
            <a:endParaRPr lang="ru-RU" sz="2000" dirty="0" smtClean="0"/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ru-RU" sz="2000" dirty="0" smtClean="0"/>
              <a:t>BYTES </a:t>
            </a:r>
            <a:r>
              <a:rPr lang="ru-RU" sz="2000" dirty="0"/>
              <a:t>= &lt;размер поля в байтах&gt;,    </a:t>
            </a:r>
            <a:endParaRPr lang="ru-RU" sz="2000" dirty="0" smtClean="0"/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ru-RU" sz="2000" dirty="0" smtClean="0"/>
              <a:t>TYPE </a:t>
            </a:r>
            <a:r>
              <a:rPr lang="ru-RU" sz="2000" dirty="0"/>
              <a:t>= {X | P | C} </a:t>
            </a:r>
            <a:endParaRPr lang="ru-RU" sz="2000" dirty="0" smtClean="0"/>
          </a:p>
          <a:p>
            <a:r>
              <a:rPr lang="ru-RU" sz="2400" dirty="0" smtClean="0"/>
              <a:t>Признак </a:t>
            </a:r>
            <a:r>
              <a:rPr lang="ru-RU" sz="2400" dirty="0">
                <a:solidFill>
                  <a:srgbClr val="3333FF"/>
                </a:solidFill>
              </a:rPr>
              <a:t>SEQ</a:t>
            </a:r>
            <a:r>
              <a:rPr lang="ru-RU" sz="2400" dirty="0"/>
              <a:t> — задается для ключевого поля, если экземпляры данного сегмента </a:t>
            </a:r>
            <a:r>
              <a:rPr lang="ru-RU" sz="2400" dirty="0">
                <a:solidFill>
                  <a:srgbClr val="3333FF"/>
                </a:solidFill>
              </a:rPr>
              <a:t>физически упорядочены </a:t>
            </a:r>
            <a:r>
              <a:rPr lang="ru-RU" sz="2400" dirty="0"/>
              <a:t>в соответствии со значениями данного поля.</a:t>
            </a:r>
          </a:p>
          <a:p>
            <a:r>
              <a:rPr lang="ru-RU" sz="2400" dirty="0"/>
              <a:t>Параметр </a:t>
            </a:r>
            <a:r>
              <a:rPr lang="ru-RU" sz="2400" dirty="0" smtClean="0">
                <a:solidFill>
                  <a:srgbClr val="3333FF"/>
                </a:solidFill>
              </a:rPr>
              <a:t>U</a:t>
            </a:r>
            <a:r>
              <a:rPr lang="ru-RU" sz="2400" dirty="0" smtClean="0"/>
              <a:t> </a:t>
            </a:r>
            <a:r>
              <a:rPr lang="ru-RU" sz="2400" dirty="0"/>
              <a:t>задается, если значения ключевого поля </a:t>
            </a:r>
            <a:r>
              <a:rPr lang="ru-RU" sz="2400" dirty="0">
                <a:solidFill>
                  <a:srgbClr val="3333FF"/>
                </a:solidFill>
              </a:rPr>
              <a:t>уникальны</a:t>
            </a:r>
            <a:r>
              <a:rPr lang="ru-RU" sz="2400" dirty="0"/>
              <a:t> для всех экземпляров данного сегмента, </a:t>
            </a:r>
            <a:r>
              <a:rPr lang="ru-RU" sz="2400" dirty="0">
                <a:solidFill>
                  <a:srgbClr val="3333FF"/>
                </a:solidFill>
              </a:rPr>
              <a:t>M</a:t>
            </a:r>
            <a:r>
              <a:rPr lang="ru-RU" sz="2400" dirty="0"/>
              <a:t> — в противном случае. </a:t>
            </a:r>
            <a:endParaRPr lang="ru-RU" sz="2400" dirty="0" smtClean="0"/>
          </a:p>
          <a:p>
            <a:r>
              <a:rPr lang="ru-RU" sz="2400" dirty="0" smtClean="0"/>
              <a:t>Если </a:t>
            </a:r>
            <a:r>
              <a:rPr lang="ru-RU" sz="2400" dirty="0"/>
              <a:t>поле является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ключевым</a:t>
            </a:r>
            <a:r>
              <a:rPr lang="ru-RU" sz="2400" dirty="0"/>
              <a:t>, то его описание задается в круглых скобках, в противном случае имя поля задается без скобок. </a:t>
            </a:r>
            <a:endParaRPr lang="ru-RU" sz="2400" dirty="0" smtClean="0"/>
          </a:p>
          <a:p>
            <a:r>
              <a:rPr lang="ru-RU" sz="2400" dirty="0" smtClean="0"/>
              <a:t>Параметр </a:t>
            </a:r>
            <a:r>
              <a:rPr lang="ru-RU" sz="2400" dirty="0"/>
              <a:t>TYPE определяет тип данных. </a:t>
            </a:r>
            <a:endParaRPr lang="ru-RU" sz="2400" dirty="0" smtClean="0"/>
          </a:p>
          <a:p>
            <a:r>
              <a:rPr lang="ru-RU" sz="2400" dirty="0" smtClean="0"/>
              <a:t>Для </a:t>
            </a:r>
            <a:r>
              <a:rPr lang="ru-RU" sz="2400" dirty="0"/>
              <a:t>ранних иерархических моделей были определены только три типа данных: X — шестнадцатеричный, P —упакованный десятичный, C — символьный.</a:t>
            </a: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18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0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260648"/>
            <a:ext cx="8748712" cy="503907"/>
          </a:xfrm>
        </p:spPr>
        <p:txBody>
          <a:bodyPr/>
          <a:lstStyle/>
          <a:p>
            <a:pPr algn="ctr"/>
            <a:r>
              <a:rPr lang="ru-RU" altLang="ru-RU" sz="3600" dirty="0" smtClean="0">
                <a:solidFill>
                  <a:schemeClr val="bg2"/>
                </a:solidFill>
              </a:rPr>
              <a:t>Завершение описания БД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7950" y="836712"/>
            <a:ext cx="9036050" cy="59054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ru-RU" sz="2400" dirty="0"/>
              <a:t>Заканчивается описание схемы вызовом процедуры генерации: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ru-RU" sz="2400" dirty="0"/>
              <a:t>DBDGEN— указывает на конец последовательности управляющих операторов описания БД;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ru-RU" sz="2400" dirty="0"/>
              <a:t>FINISH— устанавливает ненулевой код завершения при обнаружении ошибки;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ru-RU" sz="2400" dirty="0"/>
              <a:t>END— конец.</a:t>
            </a:r>
          </a:p>
          <a:p>
            <a:r>
              <a:rPr lang="ru-RU" sz="2400" dirty="0"/>
              <a:t>В системе может быть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несколько физических БД </a:t>
            </a:r>
            <a:r>
              <a:rPr lang="ru-RU" sz="2400" dirty="0"/>
              <a:t>(ФБД), </a:t>
            </a:r>
            <a:endParaRPr lang="ru-RU" sz="2400" dirty="0" smtClean="0"/>
          </a:p>
          <a:p>
            <a:r>
              <a:rPr lang="ru-RU" sz="2400" dirty="0" smtClean="0"/>
              <a:t>Каждая </a:t>
            </a:r>
            <a:r>
              <a:rPr lang="ru-RU" sz="2400" dirty="0"/>
              <a:t>из них описывается отдельно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своим DBD </a:t>
            </a:r>
            <a:r>
              <a:rPr lang="ru-RU" sz="2400" dirty="0"/>
              <a:t>и ей присваивается уникальное имя. </a:t>
            </a:r>
            <a:endParaRPr lang="ru-RU" sz="2400" dirty="0" smtClean="0"/>
          </a:p>
          <a:p>
            <a:r>
              <a:rPr lang="ru-RU" sz="2400" dirty="0" smtClean="0"/>
              <a:t>Каждая </a:t>
            </a:r>
            <a:r>
              <a:rPr lang="ru-RU" sz="2400" dirty="0"/>
              <a:t>ФБД содержит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только один корневой сегмент</a:t>
            </a:r>
            <a:r>
              <a:rPr lang="ru-RU" sz="2400" dirty="0" smtClean="0"/>
              <a:t>.</a:t>
            </a:r>
          </a:p>
          <a:p>
            <a:r>
              <a:rPr lang="ru-RU" sz="2400" dirty="0" smtClean="0"/>
              <a:t>Совокупность </a:t>
            </a:r>
            <a:r>
              <a:rPr lang="ru-RU" sz="2400" dirty="0"/>
              <a:t>ФБД образует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концептуальную модель </a:t>
            </a:r>
            <a:r>
              <a:rPr lang="ru-RU" sz="2400" dirty="0"/>
              <a:t>данных.</a:t>
            </a: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19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489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44624"/>
            <a:ext cx="8748712" cy="503907"/>
          </a:xfrm>
        </p:spPr>
        <p:txBody>
          <a:bodyPr/>
          <a:lstStyle/>
          <a:p>
            <a:pPr algn="ctr">
              <a:lnSpc>
                <a:spcPct val="80000"/>
              </a:lnSpc>
            </a:pPr>
            <a:r>
              <a:rPr lang="ru-RU" altLang="ru-RU" sz="3600" dirty="0" smtClean="0">
                <a:solidFill>
                  <a:schemeClr val="bg2"/>
                </a:solidFill>
              </a:rPr>
              <a:t>Пример описания БД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7950" y="692696"/>
            <a:ext cx="9036050" cy="5904656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DBD	NAME=</a:t>
            </a:r>
            <a:r>
              <a:rPr lang="ru-RU" sz="2400" dirty="0" smtClean="0"/>
              <a:t>ОБУЧЕНИЕ</a:t>
            </a:r>
            <a:endParaRPr lang="ru-RU" sz="2400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>
                <a:solidFill>
                  <a:srgbClr val="FF0000"/>
                </a:solidFill>
              </a:rPr>
              <a:t>SEGM</a:t>
            </a:r>
            <a:r>
              <a:rPr lang="en-US" sz="2400" dirty="0"/>
              <a:t>	</a:t>
            </a:r>
            <a:r>
              <a:rPr lang="en-US" sz="2400" dirty="0" smtClean="0"/>
              <a:t>NAME=</a:t>
            </a:r>
            <a:r>
              <a:rPr lang="ru-RU" sz="2400" dirty="0" smtClean="0">
                <a:solidFill>
                  <a:srgbClr val="FF0000"/>
                </a:solidFill>
              </a:rPr>
              <a:t>Курс</a:t>
            </a:r>
            <a:r>
              <a:rPr lang="ru-RU" sz="2400" dirty="0" smtClean="0"/>
              <a:t>,</a:t>
            </a:r>
            <a:r>
              <a:rPr lang="en-US" sz="2400" dirty="0" smtClean="0"/>
              <a:t>BYTES=256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FIELD</a:t>
            </a:r>
            <a:r>
              <a:rPr lang="en-US" sz="2400" dirty="0"/>
              <a:t>	</a:t>
            </a:r>
            <a:r>
              <a:rPr lang="en-US" sz="2400" dirty="0" smtClean="0"/>
              <a:t>NAME=</a:t>
            </a:r>
            <a:r>
              <a:rPr lang="en-US" sz="2400" dirty="0" smtClean="0">
                <a:solidFill>
                  <a:srgbClr val="00B0F0"/>
                </a:solidFill>
              </a:rPr>
              <a:t>(</a:t>
            </a:r>
            <a:r>
              <a:rPr lang="en-US" sz="2400" dirty="0">
                <a:solidFill>
                  <a:schemeClr val="bg2"/>
                </a:solidFill>
              </a:rPr>
              <a:t>COURSE</a:t>
            </a:r>
            <a:r>
              <a:rPr lang="en-US" sz="2400" dirty="0" smtClean="0">
                <a:solidFill>
                  <a:schemeClr val="bg2"/>
                </a:solidFill>
              </a:rPr>
              <a:t>#</a:t>
            </a:r>
            <a:r>
              <a:rPr lang="ru-RU" sz="2400" dirty="0" smtClean="0"/>
              <a:t>,</a:t>
            </a:r>
            <a:r>
              <a:rPr lang="en-US" sz="2400" dirty="0" smtClean="0"/>
              <a:t>SEQ</a:t>
            </a:r>
            <a:r>
              <a:rPr lang="en-US" sz="2400" dirty="0" smtClean="0">
                <a:solidFill>
                  <a:srgbClr val="00B0F0"/>
                </a:solidFill>
              </a:rPr>
              <a:t>)</a:t>
            </a:r>
            <a:r>
              <a:rPr lang="en-US" sz="2400" dirty="0" smtClean="0"/>
              <a:t>,BYTES=3,START=1 </a:t>
            </a:r>
            <a:r>
              <a:rPr lang="ru-RU" sz="2400" dirty="0" smtClean="0"/>
              <a:t>        </a:t>
            </a:r>
            <a:r>
              <a:rPr lang="en-US" sz="2400" dirty="0" smtClean="0">
                <a:solidFill>
                  <a:srgbClr val="00B0F0"/>
                </a:solidFill>
              </a:rPr>
              <a:t>%</a:t>
            </a:r>
            <a:r>
              <a:rPr lang="ru-RU" sz="2400" dirty="0" smtClean="0">
                <a:solidFill>
                  <a:srgbClr val="00B0F0"/>
                </a:solidFill>
              </a:rPr>
              <a:t> ключ</a:t>
            </a:r>
            <a:endParaRPr lang="en-US" sz="2400" dirty="0" smtClean="0">
              <a:solidFill>
                <a:srgbClr val="00B0F0"/>
              </a:solidFill>
            </a:endParaRP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dirty="0"/>
              <a:t>FIELD	</a:t>
            </a:r>
            <a:r>
              <a:rPr lang="en-US" sz="2400" dirty="0" smtClean="0"/>
              <a:t>NAME=</a:t>
            </a:r>
            <a:r>
              <a:rPr lang="en-US" sz="2400" dirty="0" smtClean="0">
                <a:solidFill>
                  <a:schemeClr val="bg2"/>
                </a:solidFill>
              </a:rPr>
              <a:t>TITLE</a:t>
            </a:r>
            <a:r>
              <a:rPr lang="ru-RU" sz="2400" dirty="0" smtClean="0"/>
              <a:t>,</a:t>
            </a:r>
            <a:r>
              <a:rPr lang="en-US" sz="2400" dirty="0" smtClean="0"/>
              <a:t>BYTES=33,START=</a:t>
            </a:r>
            <a:r>
              <a:rPr lang="ru-RU" sz="2400" dirty="0" smtClean="0"/>
              <a:t>4</a:t>
            </a:r>
            <a:endParaRPr lang="en-US" sz="2400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dirty="0"/>
              <a:t>FIELD	</a:t>
            </a:r>
            <a:r>
              <a:rPr lang="en-US" sz="2400" dirty="0" smtClean="0"/>
              <a:t>NAME=</a:t>
            </a:r>
            <a:r>
              <a:rPr lang="en-US" sz="2400" dirty="0" smtClean="0">
                <a:solidFill>
                  <a:schemeClr val="bg2"/>
                </a:solidFill>
              </a:rPr>
              <a:t>DESCRIPTION</a:t>
            </a:r>
            <a:r>
              <a:rPr lang="ru-RU" sz="2400" dirty="0" smtClean="0"/>
              <a:t>,</a:t>
            </a:r>
            <a:r>
              <a:rPr lang="en-US" sz="2400" dirty="0" smtClean="0"/>
              <a:t>BYTES=220,START=</a:t>
            </a:r>
            <a:r>
              <a:rPr lang="ru-RU" sz="2400" dirty="0" smtClean="0"/>
              <a:t>37</a:t>
            </a:r>
            <a:endParaRPr lang="en-US" sz="2400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>
                <a:solidFill>
                  <a:srgbClr val="FF0000"/>
                </a:solidFill>
              </a:rPr>
              <a:t>SEGM</a:t>
            </a:r>
            <a:r>
              <a:rPr lang="en-US" sz="2400" dirty="0" smtClean="0"/>
              <a:t>	NAME=</a:t>
            </a:r>
            <a:r>
              <a:rPr lang="ru-RU" sz="2400" dirty="0" err="1" smtClean="0">
                <a:solidFill>
                  <a:srgbClr val="FF0000"/>
                </a:solidFill>
              </a:rPr>
              <a:t>Пред_курс</a:t>
            </a:r>
            <a:r>
              <a:rPr lang="ru-RU" sz="2400" dirty="0" smtClean="0"/>
              <a:t>,</a:t>
            </a:r>
            <a:r>
              <a:rPr lang="en-US" sz="2400" dirty="0" smtClean="0"/>
              <a:t>PARENT=</a:t>
            </a:r>
            <a:r>
              <a:rPr lang="ru-RU" sz="2400" dirty="0" smtClean="0">
                <a:solidFill>
                  <a:srgbClr val="008000"/>
                </a:solidFill>
              </a:rPr>
              <a:t>Курс</a:t>
            </a:r>
            <a:r>
              <a:rPr lang="ru-RU" sz="2400" dirty="0" smtClean="0"/>
              <a:t>,</a:t>
            </a:r>
            <a:r>
              <a:rPr lang="en-US" sz="2400" dirty="0" smtClean="0"/>
              <a:t>BYTES=</a:t>
            </a:r>
            <a:r>
              <a:rPr lang="ru-RU" sz="2400" dirty="0" smtClean="0"/>
              <a:t>3</a:t>
            </a:r>
            <a:r>
              <a:rPr lang="en-US" sz="2400" dirty="0" smtClean="0"/>
              <a:t>6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FIELD	NAME=</a:t>
            </a:r>
            <a:r>
              <a:rPr lang="en-US" sz="2400" dirty="0" smtClean="0">
                <a:solidFill>
                  <a:srgbClr val="00B0F0"/>
                </a:solidFill>
              </a:rPr>
              <a:t>(</a:t>
            </a:r>
            <a:r>
              <a:rPr lang="en-US" sz="2400" dirty="0" smtClean="0">
                <a:solidFill>
                  <a:schemeClr val="bg2"/>
                </a:solidFill>
              </a:rPr>
              <a:t>COURSE#</a:t>
            </a:r>
            <a:r>
              <a:rPr lang="ru-RU" sz="2400" dirty="0" smtClean="0"/>
              <a:t>,</a:t>
            </a:r>
            <a:r>
              <a:rPr lang="en-US" sz="2400" dirty="0" smtClean="0"/>
              <a:t>SEQ</a:t>
            </a:r>
            <a:r>
              <a:rPr lang="en-US" sz="2400" dirty="0" smtClean="0">
                <a:solidFill>
                  <a:srgbClr val="00B0F0"/>
                </a:solidFill>
              </a:rPr>
              <a:t>)</a:t>
            </a:r>
            <a:r>
              <a:rPr lang="en-US" sz="2400" dirty="0" smtClean="0"/>
              <a:t>,BYTES=3,START=1</a:t>
            </a:r>
            <a:r>
              <a:rPr lang="ru-RU" sz="2400" dirty="0" smtClean="0"/>
              <a:t>         </a:t>
            </a:r>
            <a:r>
              <a:rPr lang="en-US" sz="2400" dirty="0" smtClean="0">
                <a:solidFill>
                  <a:srgbClr val="00B0F0"/>
                </a:solidFill>
              </a:rPr>
              <a:t>%</a:t>
            </a:r>
            <a:r>
              <a:rPr lang="ru-RU" sz="2400" dirty="0" smtClean="0">
                <a:solidFill>
                  <a:srgbClr val="00B0F0"/>
                </a:solidFill>
              </a:rPr>
              <a:t> ключ</a:t>
            </a:r>
            <a:endParaRPr lang="en-US" sz="2400" dirty="0" smtClean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FIELD</a:t>
            </a:r>
            <a:r>
              <a:rPr lang="en-US" sz="2400" dirty="0"/>
              <a:t>	NAME=</a:t>
            </a:r>
            <a:r>
              <a:rPr lang="en-US" sz="2400" dirty="0">
                <a:solidFill>
                  <a:schemeClr val="bg2"/>
                </a:solidFill>
              </a:rPr>
              <a:t>TITLE</a:t>
            </a:r>
            <a:r>
              <a:rPr lang="ru-RU" sz="2400" dirty="0"/>
              <a:t>,</a:t>
            </a:r>
            <a:r>
              <a:rPr lang="en-US" sz="2400" dirty="0" smtClean="0"/>
              <a:t>BYTES=33,START=</a:t>
            </a:r>
            <a:r>
              <a:rPr lang="ru-RU" sz="2400" dirty="0" smtClean="0"/>
              <a:t>4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SEGM</a:t>
            </a:r>
            <a:r>
              <a:rPr lang="en-US" sz="2400" dirty="0"/>
              <a:t>	</a:t>
            </a:r>
            <a:r>
              <a:rPr lang="en-US" sz="2400" dirty="0" smtClean="0"/>
              <a:t>NAME=</a:t>
            </a:r>
            <a:r>
              <a:rPr lang="ru-RU" sz="2400" dirty="0" err="1" smtClean="0">
                <a:solidFill>
                  <a:srgbClr val="FF0000"/>
                </a:solidFill>
              </a:rPr>
              <a:t>Цикл_занятий</a:t>
            </a:r>
            <a:r>
              <a:rPr lang="ru-RU" sz="2400" dirty="0" smtClean="0"/>
              <a:t>,</a:t>
            </a:r>
            <a:r>
              <a:rPr lang="en-US" sz="2400" dirty="0" smtClean="0"/>
              <a:t> </a:t>
            </a:r>
            <a:r>
              <a:rPr lang="en-US" sz="2400" dirty="0"/>
              <a:t>PARENT=</a:t>
            </a:r>
            <a:r>
              <a:rPr lang="ru-RU" sz="2400" dirty="0" smtClean="0">
                <a:solidFill>
                  <a:srgbClr val="008000"/>
                </a:solidFill>
              </a:rPr>
              <a:t>Курс</a:t>
            </a:r>
            <a:r>
              <a:rPr lang="ru-RU" sz="2400" dirty="0" smtClean="0"/>
              <a:t>,</a:t>
            </a:r>
            <a:r>
              <a:rPr lang="en-US" sz="2400" dirty="0" smtClean="0"/>
              <a:t>BYTES=</a:t>
            </a:r>
            <a:r>
              <a:rPr lang="ru-RU" sz="2400" dirty="0" smtClean="0"/>
              <a:t>20</a:t>
            </a:r>
            <a:endParaRPr lang="en-US" sz="2400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FIELD</a:t>
            </a:r>
            <a:r>
              <a:rPr lang="en-US" sz="2400" dirty="0"/>
              <a:t>	NAME</a:t>
            </a:r>
            <a:r>
              <a:rPr lang="en-US" sz="2400" dirty="0" smtClean="0"/>
              <a:t>=</a:t>
            </a:r>
            <a:r>
              <a:rPr lang="en-US" sz="2400" dirty="0" smtClean="0">
                <a:solidFill>
                  <a:srgbClr val="00B0F0"/>
                </a:solidFill>
              </a:rPr>
              <a:t>(</a:t>
            </a:r>
            <a:r>
              <a:rPr lang="en-US" sz="2400" dirty="0" smtClean="0">
                <a:solidFill>
                  <a:schemeClr val="bg2"/>
                </a:solidFill>
              </a:rPr>
              <a:t>DATE</a:t>
            </a:r>
            <a:r>
              <a:rPr lang="ru-RU" sz="2400" dirty="0" smtClean="0"/>
              <a:t>,</a:t>
            </a:r>
            <a:r>
              <a:rPr lang="en-US" sz="2400" dirty="0" smtClean="0"/>
              <a:t>SEQ,M</a:t>
            </a:r>
            <a:r>
              <a:rPr lang="en-US" sz="2400" dirty="0" smtClean="0">
                <a:solidFill>
                  <a:srgbClr val="00B0F0"/>
                </a:solidFill>
              </a:rPr>
              <a:t>)</a:t>
            </a:r>
            <a:r>
              <a:rPr lang="en-US" sz="2400" dirty="0" smtClean="0"/>
              <a:t>,BYTES=6,START=1</a:t>
            </a:r>
            <a:r>
              <a:rPr lang="ru-RU" sz="2400" dirty="0" smtClean="0"/>
              <a:t>             </a:t>
            </a:r>
            <a:r>
              <a:rPr lang="en-US" sz="2400" dirty="0" smtClean="0">
                <a:solidFill>
                  <a:srgbClr val="00B0F0"/>
                </a:solidFill>
              </a:rPr>
              <a:t>%</a:t>
            </a:r>
            <a:r>
              <a:rPr lang="ru-RU" sz="2400" dirty="0" smtClean="0">
                <a:solidFill>
                  <a:srgbClr val="00B0F0"/>
                </a:solidFill>
              </a:rPr>
              <a:t> ключ</a:t>
            </a:r>
            <a:endParaRPr lang="en-US" sz="2400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dirty="0"/>
              <a:t>FIELD	</a:t>
            </a:r>
            <a:r>
              <a:rPr lang="en-US" sz="2400" dirty="0" smtClean="0"/>
              <a:t>NAME=</a:t>
            </a:r>
            <a:r>
              <a:rPr lang="en-US" sz="2400" dirty="0" smtClean="0">
                <a:solidFill>
                  <a:schemeClr val="bg2"/>
                </a:solidFill>
              </a:rPr>
              <a:t>LOCATION</a:t>
            </a:r>
            <a:r>
              <a:rPr lang="ru-RU" sz="2400" dirty="0" smtClean="0"/>
              <a:t>,</a:t>
            </a:r>
            <a:r>
              <a:rPr lang="en-US" sz="2400" dirty="0" smtClean="0"/>
              <a:t>BYTES=12,START=7</a:t>
            </a:r>
            <a:endParaRPr lang="en-US" sz="2400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dirty="0"/>
              <a:t>FIELD	</a:t>
            </a:r>
            <a:r>
              <a:rPr lang="en-US" sz="2400" dirty="0" smtClean="0"/>
              <a:t>NAME=</a:t>
            </a:r>
            <a:r>
              <a:rPr lang="en-US" sz="2400" dirty="0" smtClean="0">
                <a:solidFill>
                  <a:schemeClr val="bg2"/>
                </a:solidFill>
              </a:rPr>
              <a:t>FORMAT</a:t>
            </a:r>
            <a:r>
              <a:rPr lang="ru-RU" sz="2400" dirty="0" smtClean="0"/>
              <a:t>,</a:t>
            </a:r>
            <a:r>
              <a:rPr lang="en-US" sz="2400" dirty="0" smtClean="0"/>
              <a:t>BYTES=2,START=19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SEGM</a:t>
            </a:r>
            <a:r>
              <a:rPr lang="en-US" sz="2400" dirty="0"/>
              <a:t>	NAME=</a:t>
            </a:r>
            <a:r>
              <a:rPr lang="ru-RU" sz="2400" dirty="0" smtClean="0">
                <a:solidFill>
                  <a:srgbClr val="FF0000"/>
                </a:solidFill>
              </a:rPr>
              <a:t>Преподаватель</a:t>
            </a:r>
            <a:r>
              <a:rPr lang="ru-RU" sz="2400" dirty="0" smtClean="0"/>
              <a:t>,</a:t>
            </a:r>
            <a:r>
              <a:rPr lang="en-US" sz="2400" dirty="0" smtClean="0"/>
              <a:t>PARENT=</a:t>
            </a:r>
            <a:r>
              <a:rPr lang="ru-RU" sz="2400" dirty="0" err="1" smtClean="0">
                <a:solidFill>
                  <a:srgbClr val="008000"/>
                </a:solidFill>
              </a:rPr>
              <a:t>Цикл_занятий</a:t>
            </a:r>
            <a:r>
              <a:rPr lang="ru-RU" sz="2400" dirty="0" smtClean="0"/>
              <a:t>,</a:t>
            </a:r>
            <a:r>
              <a:rPr lang="en-US" sz="2400" dirty="0" smtClean="0"/>
              <a:t>BYTES=</a:t>
            </a:r>
            <a:r>
              <a:rPr lang="ru-RU" sz="2400" dirty="0" smtClean="0"/>
              <a:t>24</a:t>
            </a:r>
            <a:endParaRPr lang="en-US" sz="2400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dirty="0"/>
              <a:t>FIELD	NAME</a:t>
            </a:r>
            <a:r>
              <a:rPr lang="en-US" sz="2400" dirty="0" smtClean="0"/>
              <a:t>=</a:t>
            </a:r>
            <a:r>
              <a:rPr lang="en-US" sz="2400" dirty="0" smtClean="0">
                <a:solidFill>
                  <a:srgbClr val="00B0F0"/>
                </a:solidFill>
              </a:rPr>
              <a:t>(</a:t>
            </a:r>
            <a:r>
              <a:rPr lang="en-US" sz="2400" dirty="0" smtClean="0">
                <a:solidFill>
                  <a:schemeClr val="bg2"/>
                </a:solidFill>
              </a:rPr>
              <a:t>EMP#</a:t>
            </a:r>
            <a:r>
              <a:rPr lang="ru-RU" sz="2400" dirty="0"/>
              <a:t>,</a:t>
            </a:r>
            <a:r>
              <a:rPr lang="en-US" sz="2400" dirty="0"/>
              <a:t>SEQ</a:t>
            </a:r>
            <a:r>
              <a:rPr lang="en-US" sz="2400" dirty="0">
                <a:solidFill>
                  <a:srgbClr val="00B0F0"/>
                </a:solidFill>
              </a:rPr>
              <a:t>)</a:t>
            </a:r>
            <a:r>
              <a:rPr lang="en-US" sz="2400" dirty="0"/>
              <a:t>,</a:t>
            </a:r>
            <a:r>
              <a:rPr lang="en-US" sz="2400" dirty="0" smtClean="0"/>
              <a:t>BYTES=6,START=1</a:t>
            </a:r>
            <a:r>
              <a:rPr lang="en-US" sz="2400" dirty="0" smtClean="0">
                <a:solidFill>
                  <a:srgbClr val="00B0F0"/>
                </a:solidFill>
              </a:rPr>
              <a:t> </a:t>
            </a:r>
            <a:r>
              <a:rPr lang="ru-RU" sz="2400" dirty="0" smtClean="0">
                <a:solidFill>
                  <a:srgbClr val="00B0F0"/>
                </a:solidFill>
              </a:rPr>
              <a:t>                </a:t>
            </a:r>
            <a:r>
              <a:rPr lang="en-US" sz="2400" dirty="0" smtClean="0">
                <a:solidFill>
                  <a:srgbClr val="00B0F0"/>
                </a:solidFill>
              </a:rPr>
              <a:t>%</a:t>
            </a:r>
            <a:r>
              <a:rPr lang="ru-RU" sz="2400" dirty="0" smtClean="0">
                <a:solidFill>
                  <a:srgbClr val="00B0F0"/>
                </a:solidFill>
              </a:rPr>
              <a:t> ключ</a:t>
            </a:r>
            <a:endParaRPr lang="en-US" sz="2400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dirty="0"/>
              <a:t>FIELD	</a:t>
            </a:r>
            <a:r>
              <a:rPr lang="en-US" sz="2400" dirty="0" smtClean="0"/>
              <a:t>NAME=</a:t>
            </a:r>
            <a:r>
              <a:rPr lang="en-US" sz="2400" dirty="0" smtClean="0">
                <a:solidFill>
                  <a:schemeClr val="bg2"/>
                </a:solidFill>
              </a:rPr>
              <a:t>NAME</a:t>
            </a:r>
            <a:r>
              <a:rPr lang="ru-RU" sz="2400" dirty="0" smtClean="0"/>
              <a:t>,</a:t>
            </a:r>
            <a:r>
              <a:rPr lang="en-US" sz="2400" dirty="0" smtClean="0"/>
              <a:t>BYTES=18,START=7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SEGM</a:t>
            </a:r>
            <a:r>
              <a:rPr lang="en-US" sz="2400" dirty="0"/>
              <a:t>	</a:t>
            </a:r>
            <a:r>
              <a:rPr lang="en-US" sz="2400" dirty="0" smtClean="0"/>
              <a:t>NAME=</a:t>
            </a:r>
            <a:r>
              <a:rPr lang="ru-RU" sz="2400" dirty="0" smtClean="0">
                <a:solidFill>
                  <a:srgbClr val="FF0000"/>
                </a:solidFill>
              </a:rPr>
              <a:t>Студент</a:t>
            </a:r>
            <a:r>
              <a:rPr lang="ru-RU" sz="2400" dirty="0" smtClean="0"/>
              <a:t>,</a:t>
            </a:r>
            <a:r>
              <a:rPr lang="en-US" sz="2400" dirty="0" smtClean="0"/>
              <a:t> PARENT=</a:t>
            </a:r>
            <a:r>
              <a:rPr lang="ru-RU" sz="2400" dirty="0" err="1">
                <a:solidFill>
                  <a:srgbClr val="008000"/>
                </a:solidFill>
              </a:rPr>
              <a:t>Цикл_занятий</a:t>
            </a:r>
            <a:r>
              <a:rPr lang="ru-RU" sz="2400" dirty="0" smtClean="0"/>
              <a:t>,</a:t>
            </a:r>
            <a:r>
              <a:rPr lang="en-US" sz="2400" dirty="0"/>
              <a:t>BYTES=</a:t>
            </a:r>
            <a:r>
              <a:rPr lang="ru-RU" sz="2400" dirty="0" smtClean="0"/>
              <a:t>25</a:t>
            </a:r>
            <a:endParaRPr lang="en-US" sz="2400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dirty="0"/>
              <a:t>FIELD	</a:t>
            </a:r>
            <a:r>
              <a:rPr lang="en-US" sz="2400" dirty="0" smtClean="0"/>
              <a:t>NAME=</a:t>
            </a:r>
            <a:r>
              <a:rPr lang="en-US" sz="2400" dirty="0" smtClean="0">
                <a:solidFill>
                  <a:srgbClr val="00B0F0"/>
                </a:solidFill>
              </a:rPr>
              <a:t>(</a:t>
            </a:r>
            <a:r>
              <a:rPr lang="en-US" sz="2400" dirty="0">
                <a:solidFill>
                  <a:schemeClr val="bg2"/>
                </a:solidFill>
              </a:rPr>
              <a:t>EMP#</a:t>
            </a:r>
            <a:r>
              <a:rPr lang="ru-RU" sz="2400" dirty="0"/>
              <a:t>,</a:t>
            </a:r>
            <a:r>
              <a:rPr lang="en-US" sz="2400" dirty="0"/>
              <a:t>SEQ</a:t>
            </a:r>
            <a:r>
              <a:rPr lang="en-US" sz="2400" dirty="0">
                <a:solidFill>
                  <a:srgbClr val="00B0F0"/>
                </a:solidFill>
              </a:rPr>
              <a:t>)</a:t>
            </a:r>
            <a:r>
              <a:rPr lang="en-US" sz="2400" dirty="0"/>
              <a:t>,</a:t>
            </a:r>
            <a:r>
              <a:rPr lang="en-US" sz="2400" dirty="0" smtClean="0"/>
              <a:t>BYTES=6,START=1</a:t>
            </a:r>
            <a:r>
              <a:rPr lang="en-US" sz="2400" dirty="0" smtClean="0">
                <a:solidFill>
                  <a:srgbClr val="00B0F0"/>
                </a:solidFill>
              </a:rPr>
              <a:t> </a:t>
            </a:r>
            <a:r>
              <a:rPr lang="ru-RU" sz="2400" dirty="0" smtClean="0">
                <a:solidFill>
                  <a:srgbClr val="00B0F0"/>
                </a:solidFill>
              </a:rPr>
              <a:t>               </a:t>
            </a:r>
            <a:r>
              <a:rPr lang="en-US" sz="2400" dirty="0" smtClean="0">
                <a:solidFill>
                  <a:srgbClr val="00B0F0"/>
                </a:solidFill>
              </a:rPr>
              <a:t>%</a:t>
            </a:r>
            <a:r>
              <a:rPr lang="ru-RU" sz="2400" dirty="0" smtClean="0">
                <a:solidFill>
                  <a:srgbClr val="00B0F0"/>
                </a:solidFill>
              </a:rPr>
              <a:t> ключ</a:t>
            </a:r>
            <a:endParaRPr lang="en-US" sz="2400" dirty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dirty="0"/>
              <a:t>FIELD	</a:t>
            </a:r>
            <a:r>
              <a:rPr lang="en-US" sz="2400" dirty="0" smtClean="0"/>
              <a:t>NAME=</a:t>
            </a:r>
            <a:r>
              <a:rPr lang="en-US" sz="2400" dirty="0" smtClean="0">
                <a:solidFill>
                  <a:schemeClr val="bg2"/>
                </a:solidFill>
              </a:rPr>
              <a:t>NAME</a:t>
            </a:r>
            <a:r>
              <a:rPr lang="ru-RU" sz="2400" dirty="0"/>
              <a:t>,</a:t>
            </a:r>
            <a:r>
              <a:rPr lang="en-US" sz="2400" dirty="0"/>
              <a:t>BYTES=18,START=7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dirty="0"/>
              <a:t>FIELD	</a:t>
            </a:r>
            <a:r>
              <a:rPr lang="en-US" sz="2400" dirty="0" smtClean="0"/>
              <a:t>NAME=</a:t>
            </a:r>
            <a:r>
              <a:rPr lang="en-US" sz="2400" dirty="0" smtClean="0">
                <a:solidFill>
                  <a:schemeClr val="bg2"/>
                </a:solidFill>
              </a:rPr>
              <a:t>GRADE</a:t>
            </a:r>
            <a:r>
              <a:rPr lang="ru-RU" sz="2400" dirty="0" smtClean="0"/>
              <a:t>,</a:t>
            </a:r>
            <a:r>
              <a:rPr lang="en-US" sz="2400" dirty="0" smtClean="0"/>
              <a:t>BYTES=1,START=25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 smtClean="0"/>
              <a:t>DBDGEN</a:t>
            </a:r>
            <a:endParaRPr lang="en-US" sz="2400" dirty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028384" y="6248399"/>
            <a:ext cx="658416" cy="493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20</a:t>
            </a:fld>
            <a:endParaRPr lang="ru-RU" altLang="ru-RU" sz="1200" dirty="0" smtClean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679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251520" y="188640"/>
            <a:ext cx="8748712" cy="503907"/>
          </a:xfrm>
        </p:spPr>
        <p:txBody>
          <a:bodyPr/>
          <a:lstStyle/>
          <a:p>
            <a:pPr algn="ctr"/>
            <a:r>
              <a:rPr lang="ru-RU" sz="3200" dirty="0" smtClean="0">
                <a:solidFill>
                  <a:schemeClr val="bg2"/>
                </a:solidFill>
              </a:rPr>
              <a:t>Внешние модели</a:t>
            </a:r>
            <a:endParaRPr lang="ru-RU" sz="3200" dirty="0">
              <a:solidFill>
                <a:schemeClr val="bg2"/>
              </a:solidFill>
            </a:endParaRP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21</a:t>
            </a:fld>
            <a:endParaRPr lang="ru-RU" altLang="ru-RU" sz="1200" smtClean="0">
              <a:latin typeface="Arial Black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6515" y="728700"/>
            <a:ext cx="8802470" cy="571563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marL="342900" indent="-342900" eaLnBrk="0" hangingPunct="0">
              <a:lnSpc>
                <a:spcPct val="100000"/>
              </a:lnSpc>
              <a:buFont typeface="Wingdings" pitchFamily="2" charset="2"/>
              <a:buChar char="n"/>
            </a:pPr>
            <a:r>
              <a:rPr lang="ru-RU" sz="2400" dirty="0" smtClean="0">
                <a:latin typeface="+mn-lt"/>
                <a:cs typeface="+mn-cs"/>
              </a:rPr>
              <a:t>При работе с иерархической моделью каждая программа, пользователь или приложение определяет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+mn-cs"/>
              </a:rPr>
              <a:t> свою внешнюю модель</a:t>
            </a:r>
            <a:r>
              <a:rPr lang="ru-RU" sz="2400" dirty="0" smtClean="0">
                <a:latin typeface="+mn-lt"/>
                <a:cs typeface="+mn-cs"/>
              </a:rPr>
              <a:t>. </a:t>
            </a:r>
          </a:p>
          <a:p>
            <a:pPr marL="342900" indent="-342900" eaLnBrk="0" hangingPunct="0">
              <a:lnSpc>
                <a:spcPct val="100000"/>
              </a:lnSpc>
              <a:buFont typeface="Wingdings" pitchFamily="2" charset="2"/>
              <a:buChar char="n"/>
            </a:pPr>
            <a:r>
              <a:rPr lang="ru-RU" sz="2400" dirty="0" smtClean="0">
                <a:latin typeface="+mn-lt"/>
                <a:cs typeface="+mn-cs"/>
              </a:rPr>
              <a:t>Внешняя модель представляет собой 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+mn-cs"/>
              </a:rPr>
              <a:t>совокупность поддеревьев для физических баз данных</a:t>
            </a:r>
            <a:r>
              <a:rPr lang="ru-RU" sz="2400" dirty="0" smtClean="0">
                <a:latin typeface="+mn-lt"/>
                <a:cs typeface="+mn-cs"/>
              </a:rPr>
              <a:t>, с которыми работает данный пользователь. </a:t>
            </a:r>
          </a:p>
          <a:p>
            <a:pPr marL="342900" indent="-342900" eaLnBrk="0" hangingPunct="0">
              <a:lnSpc>
                <a:spcPct val="100000"/>
              </a:lnSpc>
              <a:buFont typeface="Wingdings" pitchFamily="2" charset="2"/>
              <a:buChar char="n"/>
            </a:pPr>
            <a:r>
              <a:rPr lang="ru-RU" sz="2400" dirty="0" smtClean="0">
                <a:latin typeface="+mn-lt"/>
                <a:cs typeface="+mn-cs"/>
              </a:rPr>
              <a:t>Каждый подграф внешней модели в обязательном порядке должен содержать 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+mn-cs"/>
              </a:rPr>
              <a:t>корневой тип сегмента </a:t>
            </a:r>
            <a:r>
              <a:rPr lang="ru-RU" sz="2400" dirty="0" smtClean="0">
                <a:latin typeface="+mn-lt"/>
                <a:cs typeface="+mn-cs"/>
              </a:rPr>
              <a:t>соответствующей физической базы данных концептуальной модели.</a:t>
            </a:r>
          </a:p>
          <a:p>
            <a:pPr marL="342900" indent="-342900" eaLnBrk="0" hangingPunct="0">
              <a:lnSpc>
                <a:spcPct val="100000"/>
              </a:lnSpc>
              <a:buFont typeface="Wingdings" pitchFamily="2" charset="2"/>
              <a:buChar char="n"/>
            </a:pPr>
            <a:r>
              <a:rPr lang="ru-RU" sz="2400" dirty="0" smtClean="0">
                <a:latin typeface="+mn-lt"/>
                <a:cs typeface="+mn-cs"/>
              </a:rPr>
              <a:t>Представление внешней модели называется 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+mn-cs"/>
              </a:rPr>
              <a:t>логической базой данных </a:t>
            </a:r>
            <a:r>
              <a:rPr lang="ru-RU" sz="2400" dirty="0" smtClean="0">
                <a:latin typeface="+mn-lt"/>
                <a:cs typeface="+mn-cs"/>
              </a:rPr>
              <a:t>и определяется </a:t>
            </a:r>
            <a:r>
              <a:rPr lang="ru-RU" sz="2400" dirty="0" smtClean="0">
                <a:solidFill>
                  <a:srgbClr val="C00000"/>
                </a:solidFill>
                <a:latin typeface="+mn-lt"/>
                <a:cs typeface="+mn-cs"/>
              </a:rPr>
              <a:t>совокупностью блоков связи данного приложения</a:t>
            </a:r>
            <a:r>
              <a:rPr lang="ru-RU" sz="2400" dirty="0" smtClean="0">
                <a:latin typeface="+mn-lt"/>
                <a:cs typeface="+mn-cs"/>
              </a:rPr>
              <a:t> (</a:t>
            </a:r>
            <a:r>
              <a:rPr lang="ru-RU" sz="2400" dirty="0" smtClean="0"/>
              <a:t>PCB, </a:t>
            </a:r>
            <a:r>
              <a:rPr lang="ru-RU" sz="2400" dirty="0" err="1" smtClean="0"/>
              <a:t>program</a:t>
            </a:r>
            <a:r>
              <a:rPr lang="ru-RU" sz="2400" dirty="0" smtClean="0"/>
              <a:t> </a:t>
            </a:r>
            <a:r>
              <a:rPr lang="ru-RU" sz="2400" dirty="0" err="1" smtClean="0"/>
              <a:t>communication</a:t>
            </a:r>
            <a:r>
              <a:rPr lang="ru-RU" sz="2400" dirty="0" smtClean="0"/>
              <a:t> </a:t>
            </a:r>
            <a:r>
              <a:rPr lang="ru-RU" sz="2400" dirty="0" err="1" smtClean="0"/>
              <a:t>block</a:t>
            </a:r>
            <a:r>
              <a:rPr lang="ru-RU" sz="2400" dirty="0" smtClean="0"/>
              <a:t> </a:t>
            </a:r>
            <a:r>
              <a:rPr lang="ru-RU" sz="2400" dirty="0" smtClean="0">
                <a:latin typeface="+mn-lt"/>
                <a:cs typeface="+mn-cs"/>
              </a:rPr>
              <a:t>) с физическими БД, входящими в концептуальную схему БД. </a:t>
            </a:r>
          </a:p>
        </p:txBody>
      </p:sp>
    </p:spTree>
    <p:extLst>
      <p:ext uri="{BB962C8B-B14F-4D97-AF65-F5344CB8AC3E}">
        <p14:creationId xmlns:p14="http://schemas.microsoft.com/office/powerpoint/2010/main" val="2487009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Grp="1" noChangeArrowheads="1"/>
          </p:cNvSpPr>
          <p:nvPr>
            <p:ph type="title"/>
          </p:nvPr>
        </p:nvSpPr>
        <p:spPr>
          <a:xfrm>
            <a:off x="498475" y="260350"/>
            <a:ext cx="8218488" cy="523875"/>
          </a:xfrm>
          <a:noFill/>
        </p:spPr>
        <p:txBody>
          <a:bodyPr/>
          <a:lstStyle/>
          <a:p>
            <a:pPr algn="ctr"/>
            <a:r>
              <a:rPr lang="ru-RU" altLang="ru-RU" sz="3200" dirty="0" smtClean="0">
                <a:solidFill>
                  <a:schemeClr val="bg2"/>
                </a:solidFill>
              </a:rPr>
              <a:t>Примеры внешних моделей</a:t>
            </a:r>
          </a:p>
        </p:txBody>
      </p:sp>
      <p:sp>
        <p:nvSpPr>
          <p:cNvPr id="10243" name="TextBox 1"/>
          <p:cNvSpPr txBox="1">
            <a:spLocks noChangeArrowheads="1"/>
          </p:cNvSpPr>
          <p:nvPr/>
        </p:nvSpPr>
        <p:spPr bwMode="auto">
          <a:xfrm>
            <a:off x="642938" y="4643438"/>
            <a:ext cx="8249542" cy="104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ru-RU" altLang="ru-RU" dirty="0" smtClean="0"/>
              <a:t>        Модель 			Модель</a:t>
            </a:r>
          </a:p>
          <a:p>
            <a:pPr eaLnBrk="1" hangingPunct="1">
              <a:lnSpc>
                <a:spcPct val="100000"/>
              </a:lnSpc>
            </a:pPr>
            <a:r>
              <a:rPr lang="ru-RU" altLang="ru-RU" dirty="0" smtClean="0"/>
              <a:t>«Изучаемые курсы»	«Преподаватели курсов»</a:t>
            </a:r>
            <a:endParaRPr lang="ru-RU" altLang="ru-RU" dirty="0"/>
          </a:p>
        </p:txBody>
      </p:sp>
      <p:sp>
        <p:nvSpPr>
          <p:cNvPr id="10244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99DD7FE8-4007-4E10-9A5F-FA723F4E05FD}" type="slidenum">
              <a:rPr lang="ru-RU" altLang="ru-RU" sz="1200" smtClean="0">
                <a:latin typeface="Arial Black" pitchFamily="34" charset="0"/>
              </a:rPr>
              <a:pPr eaLnBrk="1" hangingPunct="1"/>
              <a:t>22</a:t>
            </a:fld>
            <a:endParaRPr lang="ru-RU" altLang="ru-RU" sz="1200" smtClean="0">
              <a:latin typeface="Arial Black" pitchFamily="34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251520" y="2373726"/>
          <a:ext cx="3857624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8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COURSE#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TITLE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DESCRIPTION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255" name="TextBox 6"/>
          <p:cNvSpPr txBox="1">
            <a:spLocks noChangeArrowheads="1"/>
          </p:cNvSpPr>
          <p:nvPr/>
        </p:nvSpPr>
        <p:spPr bwMode="auto">
          <a:xfrm>
            <a:off x="431540" y="1934543"/>
            <a:ext cx="13566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altLang="ru-RU" sz="2000" dirty="0" smtClean="0">
                <a:solidFill>
                  <a:srgbClr val="C00000"/>
                </a:solidFill>
              </a:rPr>
              <a:t>Курс (1)</a:t>
            </a:r>
            <a:endParaRPr lang="ru-RU" altLang="ru-RU" sz="2000" dirty="0">
              <a:solidFill>
                <a:srgbClr val="C00000"/>
              </a:solidFill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4539800" y="2451100"/>
          <a:ext cx="3857625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4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8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DATE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LOCATION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FORMAT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1061610" y="3453846"/>
          <a:ext cx="2119313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COURSE#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54" marR="91454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TITLE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54" marR="91454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5333008" y="3498851"/>
          <a:ext cx="2119312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EMP#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54" marR="91454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NAME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54" marR="91454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292" name="TextBox 12"/>
          <p:cNvSpPr txBox="1">
            <a:spLocks noChangeArrowheads="1"/>
          </p:cNvSpPr>
          <p:nvPr/>
        </p:nvSpPr>
        <p:spPr bwMode="auto">
          <a:xfrm>
            <a:off x="251520" y="3014108"/>
            <a:ext cx="1857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altLang="ru-RU" sz="2000" dirty="0" err="1" smtClean="0">
                <a:solidFill>
                  <a:srgbClr val="C00000"/>
                </a:solidFill>
              </a:rPr>
              <a:t>Пред_курс</a:t>
            </a:r>
            <a:r>
              <a:rPr lang="ru-RU" altLang="ru-RU" sz="2000" dirty="0" smtClean="0">
                <a:solidFill>
                  <a:srgbClr val="C00000"/>
                </a:solidFill>
              </a:rPr>
              <a:t> (2)</a:t>
            </a:r>
            <a:endParaRPr lang="ru-RU" altLang="ru-RU" sz="2000" dirty="0">
              <a:solidFill>
                <a:srgbClr val="C00000"/>
              </a:solidFill>
            </a:endParaRPr>
          </a:p>
        </p:txBody>
      </p:sp>
      <p:sp>
        <p:nvSpPr>
          <p:cNvPr id="10293" name="TextBox 13"/>
          <p:cNvSpPr txBox="1">
            <a:spLocks noChangeArrowheads="1"/>
          </p:cNvSpPr>
          <p:nvPr/>
        </p:nvSpPr>
        <p:spPr bwMode="auto">
          <a:xfrm>
            <a:off x="6530098" y="2058988"/>
            <a:ext cx="2407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altLang="ru-RU" sz="2000" dirty="0">
                <a:solidFill>
                  <a:srgbClr val="C00000"/>
                </a:solidFill>
              </a:rPr>
              <a:t>Цикл</a:t>
            </a:r>
            <a:r>
              <a:rPr lang="en-US" altLang="ru-RU" sz="2000" dirty="0">
                <a:solidFill>
                  <a:srgbClr val="C00000"/>
                </a:solidFill>
              </a:rPr>
              <a:t>_</a:t>
            </a:r>
            <a:r>
              <a:rPr lang="ru-RU" altLang="ru-RU" sz="2000" dirty="0" smtClean="0">
                <a:solidFill>
                  <a:srgbClr val="C00000"/>
                </a:solidFill>
              </a:rPr>
              <a:t>занятий (3)</a:t>
            </a:r>
            <a:endParaRPr lang="ru-RU" altLang="ru-RU" sz="2000" dirty="0">
              <a:solidFill>
                <a:srgbClr val="C00000"/>
              </a:solidFill>
            </a:endParaRPr>
          </a:p>
        </p:txBody>
      </p:sp>
      <p:sp>
        <p:nvSpPr>
          <p:cNvPr id="10294" name="TextBox 14"/>
          <p:cNvSpPr txBox="1">
            <a:spLocks noChangeArrowheads="1"/>
          </p:cNvSpPr>
          <p:nvPr/>
        </p:nvSpPr>
        <p:spPr bwMode="auto">
          <a:xfrm>
            <a:off x="6548608" y="3059668"/>
            <a:ext cx="24788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altLang="ru-RU" sz="2000" dirty="0" smtClean="0">
                <a:solidFill>
                  <a:srgbClr val="C00000"/>
                </a:solidFill>
              </a:rPr>
              <a:t>Преподаватель (4)</a:t>
            </a:r>
            <a:endParaRPr lang="ru-RU" altLang="ru-RU" sz="2000" dirty="0">
              <a:solidFill>
                <a:srgbClr val="C00000"/>
              </a:solidFill>
            </a:endParaRP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 flipH="1">
            <a:off x="6370614" y="1808820"/>
            <a:ext cx="1586" cy="62005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2231740" y="2753925"/>
            <a:ext cx="1" cy="69865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rot="5400000">
            <a:off x="6096530" y="3106738"/>
            <a:ext cx="642937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Таблица 27"/>
          <p:cNvGraphicFramePr>
            <a:graphicFrameLocks noGrp="1"/>
          </p:cNvGraphicFramePr>
          <p:nvPr/>
        </p:nvGraphicFramePr>
        <p:xfrm>
          <a:off x="4481990" y="1448780"/>
          <a:ext cx="3857624" cy="33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8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COURSE#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TITLE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bg2"/>
                          </a:solidFill>
                        </a:rPr>
                        <a:t>DESCRIPTION</a:t>
                      </a:r>
                      <a:endParaRPr lang="ru-RU" sz="16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677" marB="456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TextBox 6"/>
          <p:cNvSpPr txBox="1">
            <a:spLocks noChangeArrowheads="1"/>
          </p:cNvSpPr>
          <p:nvPr/>
        </p:nvSpPr>
        <p:spPr bwMode="auto">
          <a:xfrm>
            <a:off x="6905795" y="1043735"/>
            <a:ext cx="13566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altLang="ru-RU" sz="2000" dirty="0" smtClean="0">
                <a:solidFill>
                  <a:srgbClr val="C00000"/>
                </a:solidFill>
              </a:rPr>
              <a:t>Курс (1)</a:t>
            </a:r>
            <a:endParaRPr lang="ru-RU" altLang="ru-RU" sz="20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251520" y="188640"/>
            <a:ext cx="8748712" cy="503907"/>
          </a:xfrm>
        </p:spPr>
        <p:txBody>
          <a:bodyPr/>
          <a:lstStyle/>
          <a:p>
            <a:pPr algn="ctr"/>
            <a:r>
              <a:rPr lang="ru-RU" sz="3200" dirty="0" smtClean="0">
                <a:solidFill>
                  <a:schemeClr val="bg2"/>
                </a:solidFill>
              </a:rPr>
              <a:t>Внешние модели. Описание</a:t>
            </a:r>
            <a:endParaRPr lang="ru-RU" sz="3200" dirty="0">
              <a:solidFill>
                <a:schemeClr val="bg2"/>
              </a:solidFill>
            </a:endParaRP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23</a:t>
            </a:fld>
            <a:endParaRPr lang="ru-RU" altLang="ru-RU" sz="1200" smtClean="0">
              <a:latin typeface="Arial Black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6515" y="728700"/>
            <a:ext cx="8802470" cy="5895655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pPr marL="342900" indent="-342900" eaLnBrk="0" hangingPunct="0">
              <a:lnSpc>
                <a:spcPct val="100000"/>
              </a:lnSpc>
              <a:buFont typeface="Wingdings" pitchFamily="2" charset="2"/>
              <a:buChar char="n"/>
            </a:pPr>
            <a:r>
              <a:rPr lang="ru-RU" sz="2400" dirty="0" smtClean="0">
                <a:latin typeface="+mn-lt"/>
                <a:cs typeface="+mn-cs"/>
              </a:rPr>
              <a:t>Блок связи — PCB, </a:t>
            </a:r>
            <a:r>
              <a:rPr lang="ru-RU" sz="2400" dirty="0" err="1" smtClean="0">
                <a:latin typeface="+mn-lt"/>
                <a:cs typeface="+mn-cs"/>
              </a:rPr>
              <a:t>program</a:t>
            </a:r>
            <a:r>
              <a:rPr lang="ru-RU" sz="2400" dirty="0" smtClean="0">
                <a:latin typeface="+mn-lt"/>
                <a:cs typeface="+mn-cs"/>
              </a:rPr>
              <a:t> </a:t>
            </a:r>
            <a:r>
              <a:rPr lang="ru-RU" sz="2400" dirty="0" err="1" smtClean="0">
                <a:latin typeface="+mn-lt"/>
                <a:cs typeface="+mn-cs"/>
              </a:rPr>
              <a:t>communication</a:t>
            </a:r>
            <a:r>
              <a:rPr lang="ru-RU" sz="2400" dirty="0" smtClean="0">
                <a:latin typeface="+mn-lt"/>
                <a:cs typeface="+mn-cs"/>
              </a:rPr>
              <a:t> </a:t>
            </a:r>
            <a:r>
              <a:rPr lang="ru-RU" sz="2400" dirty="0" err="1" smtClean="0">
                <a:latin typeface="+mn-lt"/>
                <a:cs typeface="+mn-cs"/>
              </a:rPr>
              <a:t>block</a:t>
            </a:r>
            <a:r>
              <a:rPr lang="ru-RU" sz="2400" dirty="0" smtClean="0">
                <a:latin typeface="+mn-lt"/>
                <a:cs typeface="+mn-cs"/>
              </a:rPr>
              <a:t> — описывает связь с одной физической БД по следующим правилам:</a:t>
            </a:r>
          </a:p>
          <a:p>
            <a:pPr marL="800100" lvl="1" indent="-342900" eaLnBrk="0" hangingPunct="0">
              <a:lnSpc>
                <a:spcPct val="100000"/>
              </a:lnSpc>
            </a:pPr>
            <a:endParaRPr lang="ru-RU" sz="2400" dirty="0" smtClean="0"/>
          </a:p>
          <a:p>
            <a:pPr marL="800100" lvl="1" indent="-342900" eaLnBrk="0" hangingPunct="0">
              <a:lnSpc>
                <a:spcPct val="100000"/>
              </a:lnSpc>
            </a:pPr>
            <a:r>
              <a:rPr lang="ru-RU" sz="2400" dirty="0" smtClean="0"/>
              <a:t>DBD NAME = &lt; имя логической БД (подсхемы)&gt; , </a:t>
            </a:r>
          </a:p>
          <a:p>
            <a:pPr marL="800100" lvl="1" indent="-342900" eaLnBrk="0" hangingPunct="0">
              <a:lnSpc>
                <a:spcPct val="100000"/>
              </a:lnSpc>
            </a:pPr>
            <a:r>
              <a:rPr lang="en-US" sz="2400" dirty="0" smtClean="0"/>
              <a:t>ACCESS = LOGICAL</a:t>
            </a:r>
            <a:endParaRPr lang="ru-RU" sz="2400" dirty="0" smtClean="0"/>
          </a:p>
          <a:p>
            <a:pPr marL="800100" lvl="1" indent="-342900" eaLnBrk="0" hangingPunct="0">
              <a:lnSpc>
                <a:spcPct val="100000"/>
              </a:lnSpc>
            </a:pPr>
            <a:r>
              <a:rPr lang="en-US" sz="2400" dirty="0" smtClean="0"/>
              <a:t>DATA SET = LOGICAL.</a:t>
            </a:r>
            <a:r>
              <a:rPr lang="ru-RU" sz="2400" dirty="0" smtClean="0"/>
              <a:t>SEGM </a:t>
            </a:r>
          </a:p>
          <a:p>
            <a:pPr marL="800100" lvl="1" indent="-342900" eaLnBrk="0" hangingPunct="0">
              <a:lnSpc>
                <a:spcPct val="100000"/>
              </a:lnSpc>
            </a:pPr>
            <a:r>
              <a:rPr lang="ru-RU" sz="2400" dirty="0" smtClean="0"/>
              <a:t>NAME = &lt;имя сегмента в подсхеме&gt;, </a:t>
            </a:r>
          </a:p>
          <a:p>
            <a:pPr marL="800100" lvl="1" indent="-342900" eaLnBrk="0" hangingPunct="0">
              <a:lnSpc>
                <a:spcPct val="100000"/>
              </a:lnSpc>
            </a:pPr>
            <a:r>
              <a:rPr lang="ru-RU" sz="2400" dirty="0" smtClean="0"/>
              <a:t>PARENT =&lt;имя родительского сегмента в подсхеме&gt;,</a:t>
            </a:r>
          </a:p>
          <a:p>
            <a:pPr marL="800100" lvl="1" indent="-342900" eaLnBrk="0" hangingPunct="0">
              <a:lnSpc>
                <a:spcPct val="100000"/>
              </a:lnSpc>
            </a:pPr>
            <a:r>
              <a:rPr lang="ru-RU" sz="2400" dirty="0" smtClean="0"/>
              <a:t>SOURCE =(Имя соответствующего сегмента ФБД, имя ФБД)</a:t>
            </a:r>
          </a:p>
          <a:p>
            <a:pPr marL="800100" lvl="1" indent="-342900" eaLnBrk="0" hangingPunct="0">
              <a:lnSpc>
                <a:spcPct val="100000"/>
              </a:lnSpc>
            </a:pPr>
            <a:r>
              <a:rPr lang="ru-RU" sz="2400" dirty="0" smtClean="0"/>
              <a:t>...</a:t>
            </a:r>
          </a:p>
          <a:p>
            <a:pPr marL="800100" lvl="1" indent="-342900" eaLnBrk="0" hangingPunct="0">
              <a:lnSpc>
                <a:spcPct val="100000"/>
              </a:lnSpc>
            </a:pPr>
            <a:r>
              <a:rPr lang="ru-RU" sz="2400" dirty="0" smtClean="0"/>
              <a:t>DBDGEN</a:t>
            </a:r>
          </a:p>
          <a:p>
            <a:pPr marL="800100" lvl="1" indent="-342900" eaLnBrk="0" hangingPunct="0">
              <a:lnSpc>
                <a:spcPct val="100000"/>
              </a:lnSpc>
            </a:pPr>
            <a:r>
              <a:rPr lang="ru-RU" sz="2400" dirty="0" smtClean="0"/>
              <a:t>FINISH</a:t>
            </a:r>
          </a:p>
          <a:p>
            <a:pPr marL="800100" lvl="1" indent="-342900" eaLnBrk="0" hangingPunct="0">
              <a:lnSpc>
                <a:spcPct val="100000"/>
              </a:lnSpc>
            </a:pPr>
            <a:r>
              <a:rPr lang="ru-RU" sz="2400" dirty="0" smtClean="0"/>
              <a:t>END</a:t>
            </a:r>
          </a:p>
          <a:p>
            <a:pPr marL="342900" indent="-342900" eaLnBrk="0" hangingPunct="0">
              <a:lnSpc>
                <a:spcPct val="100000"/>
              </a:lnSpc>
              <a:buFont typeface="Wingdings" pitchFamily="2" charset="2"/>
              <a:buChar char="n"/>
            </a:pPr>
            <a:r>
              <a:rPr lang="ru-RU" sz="2400" dirty="0" smtClean="0"/>
              <a:t>Совокупность блоков PCB образует полное внешнее представление данного приложения, называемое "блоком спецификации программ" ( </a:t>
            </a:r>
            <a:r>
              <a:rPr lang="ru-RU" sz="2400" i="1" dirty="0" smtClean="0"/>
              <a:t>PSB</a:t>
            </a:r>
            <a:r>
              <a:rPr lang="ru-RU" sz="2400" dirty="0" smtClean="0"/>
              <a:t>, </a:t>
            </a:r>
            <a:r>
              <a:rPr lang="ru-RU" sz="2400" i="1" dirty="0" err="1" smtClean="0"/>
              <a:t>program</a:t>
            </a:r>
            <a:r>
              <a:rPr lang="ru-RU" sz="2400" i="1" dirty="0" smtClean="0"/>
              <a:t> </a:t>
            </a:r>
            <a:r>
              <a:rPr lang="ru-RU" sz="2400" i="1" dirty="0" err="1" smtClean="0"/>
              <a:t>specification</a:t>
            </a:r>
            <a:r>
              <a:rPr lang="ru-RU" sz="2400" i="1" dirty="0" smtClean="0"/>
              <a:t> </a:t>
            </a:r>
            <a:r>
              <a:rPr lang="ru-RU" sz="2400" i="1" dirty="0" err="1" smtClean="0"/>
              <a:t>block</a:t>
            </a:r>
            <a:r>
              <a:rPr lang="ru-RU" sz="2400" dirty="0" smtClean="0"/>
              <a:t> ).</a:t>
            </a:r>
          </a:p>
          <a:p>
            <a:pPr marL="342900" indent="-342900" eaLnBrk="0" hangingPunct="0">
              <a:lnSpc>
                <a:spcPct val="100000"/>
              </a:lnSpc>
              <a:buFont typeface="Wingdings" pitchFamily="2" charset="2"/>
              <a:buChar char="n"/>
            </a:pPr>
            <a:endParaRPr lang="ru-RU" sz="2400" dirty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7009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251520" y="188640"/>
            <a:ext cx="8748712" cy="503907"/>
          </a:xfrm>
        </p:spPr>
        <p:txBody>
          <a:bodyPr/>
          <a:lstStyle/>
          <a:p>
            <a:pPr algn="ctr"/>
            <a:r>
              <a:rPr lang="ru-RU" sz="2400" dirty="0" smtClean="0">
                <a:solidFill>
                  <a:schemeClr val="bg2"/>
                </a:solidFill>
              </a:rPr>
              <a:t>Пример иерархической БД. Физическая БД «Филиалы»</a:t>
            </a:r>
            <a:endParaRPr lang="ru-RU" sz="2400" dirty="0">
              <a:solidFill>
                <a:schemeClr val="bg2"/>
              </a:solidFill>
            </a:endParaRP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24</a:t>
            </a:fld>
            <a:endParaRPr lang="ru-RU" altLang="ru-RU" sz="1200" smtClean="0">
              <a:latin typeface="Arial Black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728699"/>
            <a:ext cx="9144000" cy="594066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ctr" eaLnBrk="0" hangingPunct="0">
              <a:lnSpc>
                <a:spcPct val="110000"/>
              </a:lnSpc>
            </a:pPr>
            <a:r>
              <a:rPr lang="ru-RU" sz="1600" dirty="0" smtClean="0"/>
              <a:t>Пусть организация </a:t>
            </a:r>
            <a:r>
              <a:rPr lang="ru-RU" sz="1600" dirty="0"/>
              <a:t>занимается производством и продажей </a:t>
            </a:r>
            <a:r>
              <a:rPr lang="ru-RU" sz="1600" dirty="0" smtClean="0"/>
              <a:t>компьютеров </a:t>
            </a:r>
          </a:p>
          <a:p>
            <a:pPr marL="342900" indent="-342900" eaLnBrk="0" hangingPunct="0">
              <a:lnSpc>
                <a:spcPct val="110000"/>
              </a:lnSpc>
              <a:buFont typeface="Wingdings" pitchFamily="2" charset="2"/>
              <a:buChar char="n"/>
            </a:pPr>
            <a:r>
              <a:rPr lang="ru-RU" sz="1600" dirty="0" smtClean="0"/>
              <a:t>В </a:t>
            </a:r>
            <a:r>
              <a:rPr lang="ru-RU" sz="1600" dirty="0"/>
              <a:t>рамках производства </a:t>
            </a:r>
            <a:r>
              <a:rPr lang="ru-RU" sz="1600" dirty="0" smtClean="0"/>
              <a:t>комплектуются </a:t>
            </a:r>
            <a:r>
              <a:rPr lang="ru-RU" sz="1600" dirty="0"/>
              <a:t>компьютеры из готовых деталей по индивидуальным заказам. </a:t>
            </a:r>
            <a:endParaRPr lang="ru-RU" sz="1600" dirty="0" smtClean="0"/>
          </a:p>
          <a:p>
            <a:pPr marL="342900" indent="-342900" eaLnBrk="0" hangingPunct="0">
              <a:lnSpc>
                <a:spcPct val="110000"/>
              </a:lnSpc>
              <a:buFont typeface="Wingdings" pitchFamily="2" charset="2"/>
              <a:buChar char="n"/>
            </a:pPr>
            <a:r>
              <a:rPr lang="ru-RU" sz="1600" dirty="0" smtClean="0"/>
              <a:t>Существует </a:t>
            </a:r>
            <a:r>
              <a:rPr lang="ru-RU" sz="1600" dirty="0"/>
              <a:t>несколько базовых моделей, которые </a:t>
            </a:r>
            <a:r>
              <a:rPr lang="ru-RU" sz="1600" dirty="0" smtClean="0"/>
              <a:t>продаются без </a:t>
            </a:r>
            <a:r>
              <a:rPr lang="ru-RU" sz="1600" dirty="0"/>
              <a:t>предварительных заказов по наличию на складе. </a:t>
            </a:r>
            <a:endParaRPr lang="ru-RU" sz="1600" dirty="0" smtClean="0"/>
          </a:p>
          <a:p>
            <a:pPr marL="342900" indent="-342900" eaLnBrk="0" hangingPunct="0">
              <a:lnSpc>
                <a:spcPct val="110000"/>
              </a:lnSpc>
              <a:buFont typeface="Wingdings" pitchFamily="2" charset="2"/>
              <a:buChar char="n"/>
            </a:pPr>
            <a:r>
              <a:rPr lang="ru-RU" sz="1600" dirty="0" smtClean="0"/>
              <a:t>В </a:t>
            </a:r>
            <a:r>
              <a:rPr lang="ru-RU" sz="1600" dirty="0"/>
              <a:t>организации существуют несколько филиалов </a:t>
            </a:r>
            <a:r>
              <a:rPr lang="ru-RU" sz="1600" dirty="0" smtClean="0"/>
              <a:t>и </a:t>
            </a:r>
            <a:r>
              <a:rPr lang="ru-RU" sz="1600" dirty="0"/>
              <a:t>несколько складов, на которых хранятся комплектующие. </a:t>
            </a:r>
            <a:endParaRPr lang="ru-RU" sz="1600" dirty="0" smtClean="0"/>
          </a:p>
          <a:p>
            <a:pPr marL="342900" indent="-342900" eaLnBrk="0" hangingPunct="0">
              <a:lnSpc>
                <a:spcPct val="110000"/>
              </a:lnSpc>
              <a:buFont typeface="Wingdings" pitchFamily="2" charset="2"/>
              <a:buChar char="n"/>
            </a:pPr>
            <a:r>
              <a:rPr lang="ru-RU" sz="1600" dirty="0" smtClean="0"/>
              <a:t>Необходимо </a:t>
            </a:r>
            <a:r>
              <a:rPr lang="ru-RU" sz="1600" dirty="0"/>
              <a:t>вести учет продаваемой продукции</a:t>
            </a:r>
            <a:r>
              <a:rPr lang="ru-RU" sz="1600" dirty="0" smtClean="0"/>
              <a:t>.</a:t>
            </a:r>
          </a:p>
          <a:p>
            <a:pPr marL="342900" indent="-342900" algn="ctr" eaLnBrk="0" hangingPunct="0">
              <a:lnSpc>
                <a:spcPct val="110000"/>
              </a:lnSpc>
            </a:pPr>
            <a:r>
              <a:rPr lang="ru-RU" sz="1600" dirty="0" smtClean="0"/>
              <a:t>Какие задачи решаются в ходе разработки приложения?</a:t>
            </a:r>
          </a:p>
          <a:p>
            <a:pPr marL="342900" lvl="0" indent="-342900" eaLnBrk="0" hangingPunct="0">
              <a:lnSpc>
                <a:spcPct val="110000"/>
              </a:lnSpc>
              <a:buFont typeface="Wingdings" pitchFamily="2" charset="2"/>
              <a:buChar char="n"/>
            </a:pPr>
            <a:r>
              <a:rPr lang="ru-RU" sz="1600" dirty="0" smtClean="0"/>
              <a:t>При приеме заказа выясняется </a:t>
            </a:r>
            <a:r>
              <a:rPr lang="ru-RU" sz="16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какую модель заказывает заказчик</a:t>
            </a:r>
            <a:r>
              <a:rPr lang="ru-RU" sz="1600" dirty="0" smtClean="0"/>
              <a:t>: типичную или индивидуальную комплектацию.</a:t>
            </a:r>
          </a:p>
          <a:p>
            <a:pPr marL="342900" lvl="0" indent="-342900" eaLnBrk="0" hangingPunct="0">
              <a:lnSpc>
                <a:spcPct val="110000"/>
              </a:lnSpc>
              <a:buFont typeface="Wingdings" pitchFamily="2" charset="2"/>
              <a:buChar char="n"/>
            </a:pPr>
            <a:r>
              <a:rPr lang="ru-RU" sz="1600" dirty="0" smtClean="0"/>
              <a:t>Если заказывается типичная модель, то выясняется</a:t>
            </a:r>
            <a:r>
              <a:rPr lang="ru-RU" sz="1600" dirty="0" smtClean="0">
                <a:solidFill>
                  <a:schemeClr val="accent1">
                    <a:lumMod val="50000"/>
                  </a:schemeClr>
                </a:solidFill>
              </a:rPr>
              <a:t>, какая модель и есть ли она в наличии.</a:t>
            </a:r>
          </a:p>
          <a:p>
            <a:pPr marL="342900" lvl="0" indent="-342900" eaLnBrk="0" hangingPunct="0">
              <a:lnSpc>
                <a:spcPct val="110000"/>
              </a:lnSpc>
              <a:buFont typeface="Wingdings" pitchFamily="2" charset="2"/>
              <a:buChar char="n"/>
            </a:pPr>
            <a:r>
              <a:rPr lang="ru-RU" sz="1600" dirty="0" smtClean="0"/>
              <a:t>Если модель есть, то </a:t>
            </a:r>
            <a:r>
              <a:rPr lang="ru-RU" sz="1600" dirty="0" smtClean="0">
                <a:solidFill>
                  <a:schemeClr val="accent1">
                    <a:lumMod val="50000"/>
                  </a:schemeClr>
                </a:solidFill>
              </a:rPr>
              <a:t>надо уменьшить количество </a:t>
            </a:r>
            <a:r>
              <a:rPr lang="ru-RU" sz="1600" dirty="0" smtClean="0"/>
              <a:t>компьютеров данной модели в данном филиале на покупаемое количество. На этом будем считать заказ выполненным, однако при оформлении заказа может потребоваться задание полной спецификации покупаемого изделия.</a:t>
            </a:r>
          </a:p>
          <a:p>
            <a:pPr marL="342900" lvl="0" indent="-342900" eaLnBrk="0" hangingPunct="0">
              <a:lnSpc>
                <a:spcPct val="110000"/>
              </a:lnSpc>
              <a:buFont typeface="Wingdings" pitchFamily="2" charset="2"/>
              <a:buChar char="n"/>
            </a:pPr>
            <a:r>
              <a:rPr lang="ru-RU" sz="1600" dirty="0" smtClean="0"/>
              <a:t>Если заказывается индивидуальная модель, то требуется </a:t>
            </a:r>
            <a:r>
              <a:rPr lang="ru-RU" sz="1600" dirty="0" smtClean="0">
                <a:solidFill>
                  <a:schemeClr val="accent1">
                    <a:lumMod val="50000"/>
                  </a:schemeClr>
                </a:solidFill>
              </a:rPr>
              <a:t>описать весь состав новой модели</a:t>
            </a:r>
            <a:r>
              <a:rPr lang="ru-RU" sz="1600" dirty="0" smtClean="0"/>
              <a:t>.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ü"/>
            </a:pPr>
            <a:endParaRPr lang="ru-RU" sz="1600" dirty="0"/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ü"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487009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251520" y="188640"/>
            <a:ext cx="8748712" cy="503907"/>
          </a:xfrm>
        </p:spPr>
        <p:txBody>
          <a:bodyPr/>
          <a:lstStyle/>
          <a:p>
            <a:pPr algn="ctr"/>
            <a:r>
              <a:rPr lang="ru-RU" sz="2400" dirty="0" smtClean="0">
                <a:solidFill>
                  <a:schemeClr val="bg2"/>
                </a:solidFill>
              </a:rPr>
              <a:t>Пример иерархической БД. Физическая БД «Филиалы»</a:t>
            </a:r>
            <a:endParaRPr lang="ru-RU" sz="2400" dirty="0">
              <a:solidFill>
                <a:schemeClr val="bg2"/>
              </a:solidFill>
            </a:endParaRP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25</a:t>
            </a:fld>
            <a:endParaRPr lang="ru-RU" altLang="ru-RU" sz="1200" smtClean="0">
              <a:latin typeface="Arial Black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19" y="683696"/>
            <a:ext cx="8685965" cy="594066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lvl="0" eaLnBrk="0" hangingPunct="0">
              <a:lnSpc>
                <a:spcPct val="110000"/>
              </a:lnSpc>
            </a:pPr>
            <a:r>
              <a:rPr lang="ru-RU" sz="2200" dirty="0" smtClean="0">
                <a:latin typeface="+mn-lt"/>
                <a:cs typeface="+mn-cs"/>
              </a:rPr>
              <a:t>Структура данных для такого приложения может содержать следующие сегменты.</a:t>
            </a:r>
          </a:p>
        </p:txBody>
      </p:sp>
      <p:pic>
        <p:nvPicPr>
          <p:cNvPr id="5" name="Picture 2" descr="Физическая БД &quot;Филиалы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898830"/>
            <a:ext cx="8469114" cy="4500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7009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251520" y="188640"/>
            <a:ext cx="8748712" cy="503907"/>
          </a:xfrm>
        </p:spPr>
        <p:txBody>
          <a:bodyPr/>
          <a:lstStyle/>
          <a:p>
            <a:pPr algn="ctr"/>
            <a:r>
              <a:rPr lang="ru-RU" sz="3200" dirty="0" smtClean="0">
                <a:solidFill>
                  <a:schemeClr val="bg2"/>
                </a:solidFill>
              </a:rPr>
              <a:t>Пример иерархической БД</a:t>
            </a:r>
            <a:endParaRPr lang="ru-RU" sz="3200" dirty="0">
              <a:solidFill>
                <a:schemeClr val="bg2"/>
              </a:solidFill>
            </a:endParaRP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26</a:t>
            </a:fld>
            <a:endParaRPr lang="ru-RU" altLang="ru-RU" sz="1200" smtClean="0">
              <a:latin typeface="Arial Black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23528" y="836713"/>
            <a:ext cx="8136904" cy="936103"/>
          </a:xfrm>
          <a:prstGeom prst="rect">
            <a:avLst/>
          </a:prstGeom>
        </p:spPr>
        <p:txBody>
          <a:bodyPr wrap="square"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Для того чтобы можно было бы принимать </a:t>
            </a:r>
            <a:r>
              <a:rPr lang="ru-RU" dirty="0">
                <a:solidFill>
                  <a:schemeClr val="bg2"/>
                </a:solidFill>
              </a:rPr>
              <a:t>заказы на индивидуальные модели</a:t>
            </a:r>
            <a:r>
              <a:rPr lang="ru-RU" dirty="0"/>
              <a:t>, нам понадобится информация о наличии конкретных деталей на складе, в этом случае нам необходимо второе дерево — Склады </a:t>
            </a:r>
          </a:p>
        </p:txBody>
      </p:sp>
      <p:pic>
        <p:nvPicPr>
          <p:cNvPr id="29698" name="Picture 2" descr="Физическая модель &quot;Склады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772816"/>
            <a:ext cx="4211740" cy="4748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5066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260648"/>
            <a:ext cx="8748712" cy="503907"/>
          </a:xfrm>
        </p:spPr>
        <p:txBody>
          <a:bodyPr/>
          <a:lstStyle/>
          <a:p>
            <a:pPr algn="ctr"/>
            <a:r>
              <a:rPr lang="ru-RU" sz="2800" dirty="0" smtClean="0">
                <a:solidFill>
                  <a:schemeClr val="bg2"/>
                </a:solidFill>
              </a:rPr>
              <a:t>Язык манипулирования данными в ИБД</a:t>
            </a:r>
            <a:endParaRPr lang="ru-RU" sz="2800" dirty="0">
              <a:solidFill>
                <a:schemeClr val="bg2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7950" y="836712"/>
            <a:ext cx="9036050" cy="59054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endParaRPr lang="ru-RU" sz="2400" b="1" dirty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27</a:t>
            </a:fld>
            <a:endParaRPr lang="ru-RU" altLang="ru-RU" sz="1200" smtClean="0">
              <a:latin typeface="Arial Black" pitchFamily="34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5496" y="836712"/>
            <a:ext cx="9036050" cy="590540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ru-RU" sz="2400" dirty="0" smtClean="0"/>
              <a:t>Основной единицей манипулирования в ИМД является сегмент (запись). </a:t>
            </a:r>
          </a:p>
          <a:p>
            <a:r>
              <a:rPr lang="ru-RU" sz="2400" dirty="0" smtClean="0"/>
              <a:t>Все операторы в языке </a:t>
            </a:r>
            <a:r>
              <a:rPr lang="ru-RU" sz="2400" smtClean="0"/>
              <a:t>манипулирования можно </a:t>
            </a:r>
            <a:r>
              <a:rPr lang="ru-RU" sz="2400" dirty="0" smtClean="0"/>
              <a:t>разделить на 3 группы</a:t>
            </a:r>
            <a:r>
              <a:rPr lang="en-US" sz="2400" dirty="0" smtClean="0"/>
              <a:t>: </a:t>
            </a:r>
            <a:endParaRPr lang="ru-RU" sz="2400" dirty="0" smtClean="0"/>
          </a:p>
          <a:p>
            <a:pPr marL="0" indent="0">
              <a:buNone/>
            </a:pP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		поиск, поиск с удержанием, модификация</a:t>
            </a:r>
            <a:endParaRPr lang="ru-RU" sz="2400" dirty="0" smtClean="0"/>
          </a:p>
          <a:p>
            <a:r>
              <a:rPr lang="ru-RU" sz="2400" dirty="0" smtClean="0"/>
              <a:t>Для </a:t>
            </a:r>
            <a:r>
              <a:rPr lang="ru-RU" sz="2400" dirty="0"/>
              <a:t>доступа к базе данных у пользователя должна быть сформирована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специальная среда окружения</a:t>
            </a:r>
            <a:r>
              <a:rPr lang="ru-RU" sz="2400" dirty="0"/>
              <a:t>, поддерживающая </a:t>
            </a:r>
            <a:r>
              <a:rPr lang="ru-RU" sz="2400" dirty="0" smtClean="0"/>
              <a:t>навигационные </a:t>
            </a:r>
            <a:r>
              <a:rPr lang="ru-RU" sz="2400" dirty="0"/>
              <a:t>операции. </a:t>
            </a:r>
            <a:endParaRPr lang="ru-RU" sz="2400" dirty="0" smtClean="0"/>
          </a:p>
          <a:p>
            <a:r>
              <a:rPr lang="ru-RU" sz="2400" dirty="0" smtClean="0"/>
              <a:t>Для </a:t>
            </a:r>
            <a:r>
              <a:rPr lang="ru-RU" sz="2400" dirty="0"/>
              <a:t>этого в ней должны храниться: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ru-RU" sz="2000" dirty="0"/>
              <a:t>шаблоны всех записей логических баз данных, доступных пользователю;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ru-RU" sz="2000" dirty="0"/>
              <a:t>указатели на текущий экземпляр сегмента данного типа — для всех типов сегментов.</a:t>
            </a:r>
          </a:p>
          <a:p>
            <a:r>
              <a:rPr lang="ru-RU" sz="2400" dirty="0"/>
              <a:t>Язык манипулирования данными в иерархической модели поддерживает в явном виде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навигационные операции</a:t>
            </a:r>
            <a:r>
              <a:rPr lang="ru-RU" sz="2400" dirty="0"/>
              <a:t>. </a:t>
            </a:r>
            <a:endParaRPr lang="ru-RU" sz="2400" dirty="0" smtClean="0"/>
          </a:p>
          <a:p>
            <a:r>
              <a:rPr lang="ru-RU" sz="2400" dirty="0" smtClean="0"/>
              <a:t>Эти </a:t>
            </a:r>
            <a:r>
              <a:rPr lang="ru-RU" sz="2400" dirty="0"/>
              <a:t>операции связаны с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перемещением указателя</a:t>
            </a:r>
            <a:r>
              <a:rPr lang="ru-RU" sz="2400" dirty="0"/>
              <a:t>, который определяет текущий экземпляр конкретного </a:t>
            </a:r>
            <a:r>
              <a:rPr lang="ru-RU" sz="2400" dirty="0" smtClean="0"/>
              <a:t>сегмента.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7819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260648"/>
            <a:ext cx="8748712" cy="503907"/>
          </a:xfrm>
        </p:spPr>
        <p:txBody>
          <a:bodyPr/>
          <a:lstStyle/>
          <a:p>
            <a:pPr algn="ctr"/>
            <a:r>
              <a:rPr lang="ru-RU" sz="2800" dirty="0">
                <a:solidFill>
                  <a:schemeClr val="bg2"/>
                </a:solidFill>
              </a:rPr>
              <a:t>Операторы поиска </a:t>
            </a:r>
            <a:r>
              <a:rPr lang="ru-RU" sz="2800" dirty="0" smtClean="0">
                <a:solidFill>
                  <a:schemeClr val="bg2"/>
                </a:solidFill>
              </a:rPr>
              <a:t>данных</a:t>
            </a:r>
            <a:r>
              <a:rPr lang="en-US" sz="2800" dirty="0" smtClean="0">
                <a:solidFill>
                  <a:schemeClr val="bg2"/>
                </a:solidFill>
              </a:rPr>
              <a:t> (</a:t>
            </a:r>
            <a:r>
              <a:rPr lang="ru-RU" sz="2800" dirty="0" smtClean="0">
                <a:solidFill>
                  <a:srgbClr val="FF0000"/>
                </a:solidFill>
              </a:rPr>
              <a:t>GET UNIQUE </a:t>
            </a:r>
            <a:r>
              <a:rPr lang="en-US" sz="2800" dirty="0" smtClean="0">
                <a:solidFill>
                  <a:schemeClr val="bg2"/>
                </a:solidFill>
              </a:rPr>
              <a:t>)</a:t>
            </a:r>
            <a:endParaRPr lang="ru-RU" sz="2800" b="1" dirty="0">
              <a:solidFill>
                <a:schemeClr val="bg2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7950" y="836712"/>
            <a:ext cx="9036050" cy="59054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endParaRPr lang="ru-RU" sz="2400" b="1" dirty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28</a:t>
            </a:fld>
            <a:endParaRPr lang="ru-RU" altLang="ru-RU" sz="1200" smtClean="0">
              <a:latin typeface="Arial Black" pitchFamily="34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5496" y="836712"/>
            <a:ext cx="9036050" cy="590540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ru-RU" sz="2400" dirty="0">
                <a:solidFill>
                  <a:schemeClr val="bg2"/>
                </a:solidFill>
              </a:rPr>
              <a:t>Первую группу составляют операторы поиска </a:t>
            </a:r>
            <a:r>
              <a:rPr lang="ru-RU" sz="2400" dirty="0" smtClean="0">
                <a:solidFill>
                  <a:schemeClr val="bg2"/>
                </a:solidFill>
              </a:rPr>
              <a:t>данных</a:t>
            </a:r>
          </a:p>
          <a:p>
            <a:r>
              <a:rPr lang="ru-RU" sz="2400" b="1" dirty="0"/>
              <a:t>Синтаксис</a:t>
            </a:r>
            <a:r>
              <a:rPr lang="ru-RU" sz="2400" dirty="0"/>
              <a:t>:</a:t>
            </a:r>
          </a:p>
          <a:p>
            <a:r>
              <a:rPr lang="ru-RU" sz="2400" dirty="0">
                <a:solidFill>
                  <a:srgbClr val="FF0000"/>
                </a:solidFill>
              </a:rPr>
              <a:t>GET UNIQUE </a:t>
            </a:r>
            <a:r>
              <a:rPr lang="ru-RU" sz="2400" dirty="0"/>
              <a:t>&lt;имя сегмента&gt; </a:t>
            </a:r>
            <a:r>
              <a:rPr lang="ru-RU" sz="2400" dirty="0">
                <a:solidFill>
                  <a:srgbClr val="FF0000"/>
                </a:solidFill>
              </a:rPr>
              <a:t>WHERE</a:t>
            </a:r>
            <a:r>
              <a:rPr lang="ru-RU" sz="2400" dirty="0"/>
              <a:t> &lt;список поиска&gt;; </a:t>
            </a:r>
            <a:endParaRPr lang="ru-RU" sz="2400" dirty="0" smtClean="0"/>
          </a:p>
          <a:p>
            <a:pPr lvl="1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ru-RU" sz="2000" dirty="0" smtClean="0"/>
              <a:t>список </a:t>
            </a:r>
            <a:r>
              <a:rPr lang="ru-RU" sz="2000" dirty="0"/>
              <a:t>поиска состоит из последовательности условий вида</a:t>
            </a:r>
            <a:r>
              <a:rPr lang="ru-RU" sz="2000" dirty="0" smtClean="0"/>
              <a:t>:</a:t>
            </a:r>
            <a:r>
              <a:rPr lang="en-US" sz="2000" dirty="0" smtClean="0"/>
              <a:t> </a:t>
            </a:r>
            <a:br>
              <a:rPr lang="en-US" sz="2000" dirty="0" smtClean="0"/>
            </a:br>
            <a:r>
              <a:rPr lang="ru-RU" sz="2000" dirty="0" smtClean="0"/>
              <a:t>&lt;</a:t>
            </a:r>
            <a:r>
              <a:rPr lang="ru-RU" sz="2000" dirty="0"/>
              <a:t>имя сегмента&gt;.&lt;имя поля&gt;</a:t>
            </a:r>
            <a:r>
              <a:rPr lang="ru-RU" sz="2000" b="1" dirty="0"/>
              <a:t>ОС</a:t>
            </a:r>
            <a:r>
              <a:rPr lang="ru-RU" sz="2000" dirty="0"/>
              <a:t> &lt;</a:t>
            </a:r>
            <a:r>
              <a:rPr lang="ru-RU" sz="2000" dirty="0" err="1" smtClean="0"/>
              <a:t>constant</a:t>
            </a:r>
            <a:r>
              <a:rPr lang="en-US" sz="2000" dirty="0" smtClean="0"/>
              <a:t>&gt;</a:t>
            </a:r>
            <a:r>
              <a:rPr lang="ru-RU" sz="2000" dirty="0" smtClean="0"/>
              <a:t> </a:t>
            </a:r>
            <a:r>
              <a:rPr lang="ru-RU" sz="2000" dirty="0"/>
              <a:t>или </a:t>
            </a:r>
            <a:r>
              <a:rPr lang="en-US" sz="2000" dirty="0" smtClean="0"/>
              <a:t>&lt;</a:t>
            </a:r>
            <a:r>
              <a:rPr lang="ru-RU" sz="2000" dirty="0" smtClean="0"/>
              <a:t>имя </a:t>
            </a:r>
            <a:r>
              <a:rPr lang="ru-RU" sz="2000" dirty="0"/>
              <a:t>другого поля данного </a:t>
            </a:r>
            <a:r>
              <a:rPr lang="ru-RU" sz="2000" dirty="0" smtClean="0"/>
              <a:t>сегмента</a:t>
            </a:r>
            <a:r>
              <a:rPr lang="en-US" sz="2000" dirty="0" smtClean="0"/>
              <a:t>&gt;</a:t>
            </a:r>
            <a:r>
              <a:rPr lang="ru-RU" sz="2000" dirty="0" smtClean="0"/>
              <a:t> </a:t>
            </a:r>
            <a:r>
              <a:rPr lang="ru-RU" sz="2000" dirty="0"/>
              <a:t>или </a:t>
            </a:r>
            <a:r>
              <a:rPr lang="en-US" sz="2000" dirty="0" smtClean="0"/>
              <a:t>&lt;</a:t>
            </a:r>
            <a:r>
              <a:rPr lang="ru-RU" sz="2000" dirty="0" smtClean="0"/>
              <a:t>имя </a:t>
            </a:r>
            <a:r>
              <a:rPr lang="ru-RU" sz="2000" dirty="0"/>
              <a:t>переменной</a:t>
            </a:r>
            <a:r>
              <a:rPr lang="ru-RU" sz="2000" dirty="0" smtClean="0"/>
              <a:t>&gt;</a:t>
            </a:r>
            <a:endParaRPr lang="ru-RU" sz="2000" dirty="0"/>
          </a:p>
          <a:p>
            <a:pPr lvl="1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ru-RU" sz="2000" b="1" dirty="0"/>
              <a:t>ОС </a:t>
            </a:r>
            <a:r>
              <a:rPr lang="ru-RU" sz="2000" dirty="0"/>
              <a:t>— операция сравнения;</a:t>
            </a:r>
          </a:p>
          <a:p>
            <a:pPr lvl="1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ru-RU" sz="2000" dirty="0"/>
              <a:t>условия могут быть соединены логическими </a:t>
            </a:r>
            <a:r>
              <a:rPr lang="ru-RU" sz="2000" dirty="0" smtClean="0"/>
              <a:t>операциями</a:t>
            </a:r>
            <a:r>
              <a:rPr lang="en-US" sz="2000" dirty="0" smtClean="0"/>
              <a:t> </a:t>
            </a:r>
            <a:r>
              <a:rPr lang="ru-RU" sz="2000" dirty="0" smtClean="0"/>
              <a:t>{</a:t>
            </a:r>
            <a:r>
              <a:rPr lang="en-US" sz="2000" dirty="0" smtClean="0"/>
              <a:t> </a:t>
            </a:r>
            <a:r>
              <a:rPr lang="ru-RU" sz="2000" dirty="0" smtClean="0"/>
              <a:t>&amp;</a:t>
            </a:r>
            <a:r>
              <a:rPr lang="en-US" sz="2000" dirty="0" smtClean="0"/>
              <a:t> </a:t>
            </a:r>
            <a:r>
              <a:rPr lang="ru-RU" sz="2000" dirty="0" smtClean="0"/>
              <a:t>,</a:t>
            </a:r>
            <a:r>
              <a:rPr lang="en-US" sz="2000" dirty="0" smtClean="0"/>
              <a:t> V </a:t>
            </a:r>
            <a:r>
              <a:rPr lang="ru-RU" sz="2000" dirty="0" smtClean="0"/>
              <a:t>}.</a:t>
            </a:r>
            <a:endParaRPr lang="ru-RU" sz="2000" dirty="0"/>
          </a:p>
          <a:p>
            <a:r>
              <a:rPr lang="ru-RU" sz="2400" b="1" dirty="0"/>
              <a:t>Назначение</a:t>
            </a:r>
            <a:r>
              <a:rPr lang="ru-RU" sz="2400" dirty="0"/>
              <a:t>:</a:t>
            </a:r>
          </a:p>
          <a:p>
            <a:pPr marL="0" indent="0">
              <a:buNone/>
            </a:pPr>
            <a:r>
              <a:rPr lang="en-US" sz="2400" dirty="0" smtClean="0"/>
              <a:t>	</a:t>
            </a:r>
            <a:r>
              <a:rPr lang="ru-RU" sz="2400" dirty="0" smtClean="0"/>
              <a:t>Получить </a:t>
            </a:r>
            <a:r>
              <a:rPr lang="ru-RU" sz="2400" dirty="0"/>
              <a:t>единственное значение.</a:t>
            </a:r>
          </a:p>
          <a:p>
            <a:r>
              <a:rPr lang="ru-RU" sz="2400" b="1" dirty="0"/>
              <a:t>Пример</a:t>
            </a:r>
            <a:r>
              <a:rPr lang="ru-RU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</a:t>
            </a:r>
            <a:r>
              <a:rPr lang="ru-RU" sz="2400" dirty="0" smtClean="0"/>
              <a:t>Найти </a:t>
            </a:r>
            <a:r>
              <a:rPr lang="ru-RU" sz="2400" dirty="0"/>
              <a:t>типовую модель стоимостью не более $600, которая </a:t>
            </a:r>
            <a:r>
              <a:rPr lang="en-US" sz="2400" dirty="0" smtClean="0"/>
              <a:t>  c</a:t>
            </a:r>
            <a:r>
              <a:rPr lang="ru-RU" sz="2400" dirty="0" err="1" smtClean="0"/>
              <a:t>уществует</a:t>
            </a:r>
            <a:r>
              <a:rPr lang="ru-RU" sz="2400" dirty="0" smtClean="0"/>
              <a:t> </a:t>
            </a:r>
            <a:r>
              <a:rPr lang="ru-RU" sz="2400" dirty="0"/>
              <a:t>не менее чем в 10 экземплярах.</a:t>
            </a:r>
          </a:p>
          <a:p>
            <a:pPr marL="0" indent="0">
              <a:buNone/>
            </a:pPr>
            <a:r>
              <a:rPr lang="en-US" sz="2400" dirty="0" smtClean="0"/>
              <a:t>	</a:t>
            </a:r>
            <a:r>
              <a:rPr lang="ru-RU" sz="2400" dirty="0" smtClean="0">
                <a:solidFill>
                  <a:srgbClr val="FF0000"/>
                </a:solidFill>
              </a:rPr>
              <a:t>GET </a:t>
            </a:r>
            <a:r>
              <a:rPr lang="ru-RU" sz="2400" dirty="0">
                <a:solidFill>
                  <a:srgbClr val="FF0000"/>
                </a:solidFill>
              </a:rPr>
              <a:t>UNIQUE </a:t>
            </a:r>
            <a:r>
              <a:rPr lang="ru-RU" sz="2400" dirty="0"/>
              <a:t>ТИПОВЫЕ МОДЕЛИ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</a:t>
            </a:r>
            <a:r>
              <a:rPr lang="ru-RU" sz="2400" dirty="0" smtClean="0">
                <a:solidFill>
                  <a:srgbClr val="FF0000"/>
                </a:solidFill>
              </a:rPr>
              <a:t>WHERE</a:t>
            </a:r>
            <a:r>
              <a:rPr lang="ru-RU" sz="2400" dirty="0" smtClean="0"/>
              <a:t> </a:t>
            </a:r>
            <a:r>
              <a:rPr lang="ru-RU" sz="2400" dirty="0"/>
              <a:t>Типовые </a:t>
            </a:r>
            <a:r>
              <a:rPr lang="ru-RU" sz="2400" dirty="0" err="1"/>
              <a:t>модели.Стоимость</a:t>
            </a:r>
            <a:r>
              <a:rPr lang="ru-RU" sz="2400" dirty="0"/>
              <a:t> &lt;= $600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		</a:t>
            </a:r>
            <a:r>
              <a:rPr lang="ru-RU" sz="2400" dirty="0" smtClean="0">
                <a:solidFill>
                  <a:srgbClr val="FF0000"/>
                </a:solidFill>
              </a:rPr>
              <a:t>AND </a:t>
            </a:r>
            <a:r>
              <a:rPr lang="ru-RU" sz="2400" dirty="0"/>
              <a:t>Типовые </a:t>
            </a:r>
            <a:r>
              <a:rPr lang="ru-RU" sz="2400" dirty="0" err="1"/>
              <a:t>модели.Количество</a:t>
            </a:r>
            <a:r>
              <a:rPr lang="ru-RU" sz="2400" dirty="0"/>
              <a:t> на складе &gt;= 10</a:t>
            </a:r>
          </a:p>
          <a:p>
            <a:r>
              <a:rPr lang="ru-RU" sz="2400" dirty="0"/>
              <a:t>Данная команда всегда ищет с начала БД и останавливается, найдя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первый экземпляр сегмента</a:t>
            </a:r>
            <a:r>
              <a:rPr lang="ru-RU" sz="2400" dirty="0"/>
              <a:t>, удовлетворяющий условиям поиска.</a:t>
            </a:r>
          </a:p>
          <a:p>
            <a:endParaRPr lang="ru-RU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6783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260648"/>
            <a:ext cx="8748712" cy="503907"/>
          </a:xfrm>
        </p:spPr>
        <p:txBody>
          <a:bodyPr/>
          <a:lstStyle/>
          <a:p>
            <a:pPr algn="ctr"/>
            <a:r>
              <a:rPr lang="ru-RU" sz="2800" dirty="0">
                <a:solidFill>
                  <a:schemeClr val="bg2"/>
                </a:solidFill>
              </a:rPr>
              <a:t>Операторы поиска </a:t>
            </a:r>
            <a:r>
              <a:rPr lang="ru-RU" sz="2800" dirty="0" smtClean="0">
                <a:solidFill>
                  <a:schemeClr val="bg2"/>
                </a:solidFill>
              </a:rPr>
              <a:t>данных</a:t>
            </a:r>
            <a:r>
              <a:rPr lang="en-US" sz="2800" dirty="0" smtClean="0">
                <a:solidFill>
                  <a:schemeClr val="bg2"/>
                </a:solidFill>
              </a:rPr>
              <a:t> (</a:t>
            </a:r>
            <a:r>
              <a:rPr lang="ru-RU" sz="2800" dirty="0" smtClean="0">
                <a:solidFill>
                  <a:srgbClr val="FF0000"/>
                </a:solidFill>
              </a:rPr>
              <a:t>GET NEXT</a:t>
            </a:r>
            <a:r>
              <a:rPr lang="en-US" sz="2800" dirty="0" smtClean="0">
                <a:solidFill>
                  <a:schemeClr val="bg2"/>
                </a:solidFill>
              </a:rPr>
              <a:t>)</a:t>
            </a:r>
            <a:endParaRPr lang="ru-RU" sz="2800" b="1" dirty="0">
              <a:solidFill>
                <a:schemeClr val="bg2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7950" y="836712"/>
            <a:ext cx="9036050" cy="59054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endParaRPr lang="ru-RU" sz="2400" b="1" dirty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29</a:t>
            </a:fld>
            <a:endParaRPr lang="ru-RU" altLang="ru-RU" sz="1200" smtClean="0">
              <a:latin typeface="Arial Black" pitchFamily="34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5496" y="836712"/>
            <a:ext cx="9036050" cy="5905401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ru-RU" sz="2400" b="1" dirty="0"/>
              <a:t>Синтаксис</a:t>
            </a:r>
            <a:r>
              <a:rPr lang="ru-RU" sz="2400" dirty="0"/>
              <a:t>:</a:t>
            </a:r>
          </a:p>
          <a:p>
            <a:r>
              <a:rPr lang="ru-RU" sz="2400" dirty="0"/>
              <a:t>GET NEXT &lt;имя сегмента&gt; WHERE &lt;список аргументов поиска&gt; </a:t>
            </a:r>
            <a:endParaRPr lang="en-US" sz="2400" dirty="0" smtClean="0"/>
          </a:p>
          <a:p>
            <a:r>
              <a:rPr lang="ru-RU" sz="2400" b="1" dirty="0" smtClean="0"/>
              <a:t>Назначение</a:t>
            </a:r>
            <a:r>
              <a:rPr lang="ru-RU" sz="2400" dirty="0"/>
              <a:t>:</a:t>
            </a:r>
          </a:p>
          <a:p>
            <a:pPr marL="0" indent="0">
              <a:buNone/>
            </a:pPr>
            <a:r>
              <a:rPr lang="ru-RU" sz="2400" dirty="0"/>
              <a:t>Получить следующий экземпляр сегмента для тех же условий.</a:t>
            </a:r>
          </a:p>
          <a:p>
            <a:r>
              <a:rPr lang="ru-RU" sz="2400" b="1" dirty="0"/>
              <a:t>Пример</a:t>
            </a:r>
            <a:r>
              <a:rPr lang="ru-RU" sz="2400" dirty="0"/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400" dirty="0"/>
              <a:t>Напечатать полный список заказов стоимостью не менее $500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pPr marL="0" indent="0">
              <a:lnSpc>
                <a:spcPct val="100000"/>
              </a:lnSpc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>
                <a:solidFill>
                  <a:srgbClr val="FF0000"/>
                </a:solidFill>
              </a:rPr>
              <a:t>GET UNIQUE </a:t>
            </a:r>
            <a:r>
              <a:rPr lang="ru-RU" sz="2400" dirty="0"/>
              <a:t>ИНДИВИДУАЛЬНЫЕ МОДЕЛИ </a:t>
            </a:r>
            <a:endParaRPr lang="en-US" sz="2400" dirty="0" smtClean="0"/>
          </a:p>
          <a:p>
            <a:pPr marL="0" indent="0">
              <a:buNone/>
            </a:pPr>
            <a:r>
              <a:rPr lang="ru-RU" sz="2400" dirty="0" smtClean="0">
                <a:solidFill>
                  <a:srgbClr val="FF0000"/>
                </a:solidFill>
              </a:rPr>
              <a:t>WHERE</a:t>
            </a:r>
            <a:r>
              <a:rPr lang="ru-RU" sz="2400" dirty="0" smtClean="0"/>
              <a:t> </a:t>
            </a:r>
            <a:r>
              <a:rPr lang="ru-RU" sz="2400" dirty="0"/>
              <a:t>Индивидуальные </a:t>
            </a:r>
            <a:r>
              <a:rPr lang="ru-RU" sz="2400" dirty="0" err="1"/>
              <a:t>модели.Стоимость</a:t>
            </a:r>
            <a:r>
              <a:rPr lang="ru-RU" sz="2400" dirty="0"/>
              <a:t> &gt;= $</a:t>
            </a:r>
            <a:r>
              <a:rPr lang="ru-RU" sz="2400" dirty="0" smtClean="0"/>
              <a:t>500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	</a:t>
            </a:r>
            <a:r>
              <a:rPr lang="ru-RU" sz="2400" dirty="0" smtClean="0">
                <a:solidFill>
                  <a:srgbClr val="FF0000"/>
                </a:solidFill>
              </a:rPr>
              <a:t>WHILE </a:t>
            </a:r>
            <a:r>
              <a:rPr lang="ru-RU" sz="2400" dirty="0">
                <a:solidFill>
                  <a:srgbClr val="FF0000"/>
                </a:solidFill>
              </a:rPr>
              <a:t>NOT FAIL </a:t>
            </a:r>
            <a:r>
              <a:rPr lang="ru-RU" sz="2400" dirty="0"/>
              <a:t>(пока не конец поиска) </a:t>
            </a:r>
            <a:r>
              <a:rPr lang="ru-RU" sz="2400" dirty="0" smtClean="0">
                <a:solidFill>
                  <a:srgbClr val="FF0000"/>
                </a:solidFill>
              </a:rPr>
              <a:t>DO</a:t>
            </a:r>
            <a:r>
              <a:rPr lang="ru-RU" sz="2400" dirty="0" smtClean="0"/>
              <a:t>  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</a:t>
            </a:r>
            <a:r>
              <a:rPr lang="ru-RU" sz="2400" dirty="0" smtClean="0">
                <a:solidFill>
                  <a:srgbClr val="FF0000"/>
                </a:solidFill>
              </a:rPr>
              <a:t>PRINT</a:t>
            </a:r>
            <a:r>
              <a:rPr lang="ru-RU" sz="2400" dirty="0" smtClean="0"/>
              <a:t> </a:t>
            </a:r>
            <a:r>
              <a:rPr lang="ru-RU" sz="2400" dirty="0"/>
              <a:t>№ заказа, Стоимость, Количество  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</a:t>
            </a:r>
            <a:r>
              <a:rPr lang="ru-RU" sz="2400" dirty="0" smtClean="0">
                <a:solidFill>
                  <a:srgbClr val="FF0000"/>
                </a:solidFill>
              </a:rPr>
              <a:t>GET </a:t>
            </a:r>
            <a:r>
              <a:rPr lang="ru-RU" sz="2400" dirty="0">
                <a:solidFill>
                  <a:srgbClr val="FF0000"/>
                </a:solidFill>
              </a:rPr>
              <a:t>NEXT </a:t>
            </a:r>
            <a:r>
              <a:rPr lang="ru-RU" sz="2400" dirty="0"/>
              <a:t>ИНДИВИДУАЛЬНЫЕ МОДЕЛИ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smtClean="0">
                <a:solidFill>
                  <a:srgbClr val="FF0000"/>
                </a:solidFill>
              </a:rPr>
              <a:t>		</a:t>
            </a:r>
            <a:r>
              <a:rPr lang="ru-RU" sz="2400" smtClean="0">
                <a:solidFill>
                  <a:srgbClr val="FF0000"/>
                </a:solidFill>
              </a:rPr>
              <a:t>WHERE</a:t>
            </a:r>
            <a:r>
              <a:rPr lang="ru-RU" sz="2400" smtClean="0"/>
              <a:t> </a:t>
            </a:r>
            <a:r>
              <a:rPr lang="ru-RU" sz="2400" dirty="0"/>
              <a:t>Индивидуальные </a:t>
            </a:r>
            <a:r>
              <a:rPr lang="ru-RU" sz="2400" dirty="0" err="1"/>
              <a:t>модели.Стоимость</a:t>
            </a:r>
            <a:r>
              <a:rPr lang="ru-RU" sz="2400" dirty="0"/>
              <a:t> &gt;= $500</a:t>
            </a:r>
            <a:endParaRPr lang="en-US" sz="2400" dirty="0"/>
          </a:p>
          <a:p>
            <a:pPr marL="0" indent="0"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	</a:t>
            </a:r>
            <a:r>
              <a:rPr lang="ru-RU" sz="2400" dirty="0" smtClean="0">
                <a:solidFill>
                  <a:srgbClr val="FF0000"/>
                </a:solidFill>
              </a:rPr>
              <a:t>END</a:t>
            </a:r>
            <a:endParaRPr lang="ru-RU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38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188640"/>
            <a:ext cx="8748712" cy="503907"/>
          </a:xfrm>
        </p:spPr>
        <p:txBody>
          <a:bodyPr/>
          <a:lstStyle/>
          <a:p>
            <a:pPr algn="ctr"/>
            <a:r>
              <a:rPr lang="ru-RU" sz="2400" dirty="0">
                <a:solidFill>
                  <a:schemeClr val="bg2"/>
                </a:solidFill>
              </a:rPr>
              <a:t>Операторы поиска </a:t>
            </a:r>
            <a:r>
              <a:rPr lang="ru-RU" sz="2400" dirty="0" smtClean="0">
                <a:solidFill>
                  <a:schemeClr val="bg2"/>
                </a:solidFill>
              </a:rPr>
              <a:t>данных</a:t>
            </a:r>
            <a:r>
              <a:rPr lang="en-US" sz="2400" dirty="0" smtClean="0">
                <a:solidFill>
                  <a:schemeClr val="bg2"/>
                </a:solidFill>
              </a:rPr>
              <a:t> (</a:t>
            </a:r>
            <a:r>
              <a:rPr lang="ru-RU" sz="2400" dirty="0" smtClean="0">
                <a:solidFill>
                  <a:srgbClr val="FF0000"/>
                </a:solidFill>
              </a:rPr>
              <a:t>GET NEXT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ru-RU" sz="2400" dirty="0">
                <a:solidFill>
                  <a:srgbClr val="FF0000"/>
                </a:solidFill>
              </a:rPr>
              <a:t>WITHIN PARENT </a:t>
            </a:r>
            <a:r>
              <a:rPr lang="en-US" sz="2400" dirty="0" smtClean="0">
                <a:solidFill>
                  <a:schemeClr val="bg2"/>
                </a:solidFill>
              </a:rPr>
              <a:t>)</a:t>
            </a:r>
            <a:endParaRPr lang="ru-RU" sz="2400" b="1" dirty="0">
              <a:solidFill>
                <a:schemeClr val="bg2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7950" y="836712"/>
            <a:ext cx="9036050" cy="59054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endParaRPr lang="ru-RU" sz="2400" b="1" dirty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30</a:t>
            </a:fld>
            <a:endParaRPr lang="ru-RU" altLang="ru-RU" sz="1200" smtClean="0">
              <a:latin typeface="Arial Black" pitchFamily="34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5496" y="836712"/>
            <a:ext cx="9036050" cy="590540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ru-RU" sz="2400" b="1" dirty="0"/>
              <a:t>Синтаксис</a:t>
            </a:r>
            <a:r>
              <a:rPr lang="ru-RU" sz="2400" dirty="0"/>
              <a:t>: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FF0000"/>
                </a:solidFill>
              </a:rPr>
              <a:t>GET NEXT </a:t>
            </a:r>
            <a:r>
              <a:rPr lang="ru-RU" sz="2000" dirty="0"/>
              <a:t>&lt;имя сегмента&gt; </a:t>
            </a:r>
            <a:r>
              <a:rPr lang="ru-RU" sz="2000" dirty="0">
                <a:solidFill>
                  <a:srgbClr val="FF0000"/>
                </a:solidFill>
              </a:rPr>
              <a:t>WITHIN PARENT </a:t>
            </a:r>
            <a:r>
              <a:rPr lang="ru-RU" sz="2000" dirty="0"/>
              <a:t>[ </a:t>
            </a:r>
            <a:r>
              <a:rPr lang="ru-RU" sz="2000" dirty="0" err="1"/>
              <a:t>where</a:t>
            </a:r>
            <a:r>
              <a:rPr lang="ru-RU" sz="2000" dirty="0"/>
              <a:t> &lt;</a:t>
            </a:r>
            <a:r>
              <a:rPr lang="ru-RU" sz="2000" dirty="0" err="1"/>
              <a:t>дополн.условия</a:t>
            </a:r>
            <a:r>
              <a:rPr lang="ru-RU" sz="2000" dirty="0"/>
              <a:t>&gt;] </a:t>
            </a:r>
            <a:endParaRPr lang="en-US" sz="2000" dirty="0" smtClean="0"/>
          </a:p>
          <a:p>
            <a:r>
              <a:rPr lang="ru-RU" sz="2400" b="1" dirty="0" smtClean="0"/>
              <a:t>Назначение</a:t>
            </a:r>
            <a:r>
              <a:rPr lang="ru-RU" sz="2400" dirty="0"/>
              <a:t>:</a:t>
            </a:r>
          </a:p>
          <a:p>
            <a:pPr marL="0" indent="0">
              <a:buNone/>
            </a:pPr>
            <a:r>
              <a:rPr lang="ru-RU" sz="2400" dirty="0"/>
              <a:t>Получить следующий для того же исходного.</a:t>
            </a:r>
          </a:p>
          <a:p>
            <a:r>
              <a:rPr lang="ru-RU" sz="2400" b="1" dirty="0"/>
              <a:t>Пример</a:t>
            </a:r>
            <a:r>
              <a:rPr lang="ru-RU" sz="2400" dirty="0"/>
              <a:t>:</a:t>
            </a:r>
          </a:p>
          <a:p>
            <a:pPr marL="0" indent="0">
              <a:buNone/>
            </a:pPr>
            <a:r>
              <a:rPr lang="ru-RU" sz="2400" dirty="0"/>
              <a:t>Получить перечень винчестеров, имеющихся на складе номер 1, в количестве не менее 10 с объемом 10 Гбайт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GET UNIQUE </a:t>
            </a:r>
            <a:r>
              <a:rPr lang="ru-RU" sz="2400" dirty="0"/>
              <a:t>СКЛАД</a:t>
            </a:r>
            <a:r>
              <a:rPr lang="en-US" sz="2400" dirty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WHERE</a:t>
            </a:r>
            <a:r>
              <a:rPr lang="en-US" sz="2400" dirty="0" smtClean="0"/>
              <a:t> </a:t>
            </a:r>
            <a:r>
              <a:rPr lang="ru-RU" sz="2400" dirty="0"/>
              <a:t>Склад</a:t>
            </a:r>
            <a:r>
              <a:rPr lang="en-US" sz="2400" dirty="0"/>
              <a:t>.</a:t>
            </a:r>
            <a:r>
              <a:rPr lang="ru-RU" sz="2400" dirty="0"/>
              <a:t>Номер</a:t>
            </a:r>
            <a:r>
              <a:rPr lang="en-US" sz="2400" dirty="0"/>
              <a:t> = </a:t>
            </a:r>
            <a:r>
              <a:rPr lang="en-US" sz="2400" dirty="0" smtClean="0"/>
              <a:t>1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GET </a:t>
            </a:r>
            <a:r>
              <a:rPr lang="en-US" sz="2400" dirty="0">
                <a:solidFill>
                  <a:srgbClr val="FF0000"/>
                </a:solidFill>
              </a:rPr>
              <a:t>NEXT </a:t>
            </a:r>
            <a:r>
              <a:rPr lang="ru-RU" sz="2400" dirty="0"/>
              <a:t>ИЗДЕЛИЕ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WITHIN PARENT    </a:t>
            </a:r>
            <a:endParaRPr lang="en-US" sz="24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</a:t>
            </a:r>
            <a:r>
              <a:rPr lang="en-US" sz="2400" dirty="0" smtClean="0">
                <a:solidFill>
                  <a:srgbClr val="FF0000"/>
                </a:solidFill>
              </a:rPr>
              <a:t>WHERE</a:t>
            </a:r>
            <a:r>
              <a:rPr lang="en-US" sz="2400" dirty="0" smtClean="0"/>
              <a:t> </a:t>
            </a:r>
            <a:r>
              <a:rPr lang="ru-RU" sz="2400" dirty="0"/>
              <a:t>Изделие</a:t>
            </a:r>
            <a:r>
              <a:rPr lang="en-US" sz="2400" dirty="0"/>
              <a:t>.</a:t>
            </a:r>
            <a:r>
              <a:rPr lang="ru-RU" sz="2400" dirty="0"/>
              <a:t>Наименование</a:t>
            </a:r>
            <a:r>
              <a:rPr lang="en-US" sz="2400" dirty="0"/>
              <a:t> = "</a:t>
            </a:r>
            <a:r>
              <a:rPr lang="ru-RU" sz="2400" dirty="0" smtClean="0"/>
              <a:t>Винчестер</a:t>
            </a:r>
            <a:r>
              <a:rPr lang="en-US" sz="2400" dirty="0" smtClean="0"/>
              <a:t>“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GET </a:t>
            </a:r>
            <a:r>
              <a:rPr lang="en-US" sz="2400" dirty="0">
                <a:solidFill>
                  <a:srgbClr val="FF0000"/>
                </a:solidFill>
              </a:rPr>
              <a:t>NEXT </a:t>
            </a:r>
            <a:r>
              <a:rPr lang="ru-RU" sz="2400" dirty="0"/>
              <a:t>ХАРАКТЕРИСТИКИ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WITHIN PARENT   </a:t>
            </a:r>
            <a:endParaRPr lang="en-US" sz="24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 WHERE </a:t>
            </a:r>
            <a:r>
              <a:rPr lang="ru-RU" sz="2400" dirty="0"/>
              <a:t>ХАРАКТЕРИСТИКИ</a:t>
            </a:r>
            <a:r>
              <a:rPr lang="en-US" sz="2400" dirty="0"/>
              <a:t>.</a:t>
            </a:r>
            <a:r>
              <a:rPr lang="ru-RU" sz="2400" dirty="0"/>
              <a:t>Параметр</a:t>
            </a:r>
            <a:r>
              <a:rPr lang="en-US" sz="2400" dirty="0"/>
              <a:t> = 10 AND   </a:t>
            </a:r>
            <a:r>
              <a:rPr lang="en-US" sz="2400" dirty="0" smtClean="0"/>
              <a:t>     	</a:t>
            </a:r>
            <a:r>
              <a:rPr lang="ru-RU" sz="2400" dirty="0" err="1" smtClean="0"/>
              <a:t>ХАРАКТЕРИСТИКИ.Единицы</a:t>
            </a:r>
            <a:r>
              <a:rPr lang="ru-RU" sz="2400" dirty="0" smtClean="0"/>
              <a:t> </a:t>
            </a:r>
            <a:r>
              <a:rPr lang="ru-RU" sz="2400" dirty="0"/>
              <a:t>Измерения = Гб AND   </a:t>
            </a:r>
            <a:r>
              <a:rPr lang="en-US" sz="2400" dirty="0" smtClean="0"/>
              <a:t>	</a:t>
            </a:r>
            <a:r>
              <a:rPr lang="ru-RU" sz="2400" dirty="0" err="1" smtClean="0"/>
              <a:t>ХАРАКТЕРИСТИКИ.Величина</a:t>
            </a:r>
            <a:r>
              <a:rPr lang="ru-RU" sz="2400" dirty="0" smtClean="0"/>
              <a:t> </a:t>
            </a:r>
            <a:r>
              <a:rPr lang="ru-RU" sz="2400" dirty="0"/>
              <a:t>&gt; </a:t>
            </a:r>
            <a:r>
              <a:rPr lang="ru-RU" sz="2400" dirty="0" smtClean="0"/>
              <a:t>10</a:t>
            </a:r>
            <a:endParaRPr lang="en-US" sz="2400" dirty="0" smtClean="0"/>
          </a:p>
          <a:p>
            <a:pPr marL="0" indent="0">
              <a:buNone/>
            </a:pPr>
            <a:r>
              <a:rPr lang="ru-RU" sz="2400" dirty="0" smtClean="0">
                <a:solidFill>
                  <a:srgbClr val="FF0000"/>
                </a:solidFill>
              </a:rPr>
              <a:t>	WHILE </a:t>
            </a:r>
            <a:r>
              <a:rPr lang="ru-RU" sz="2400" dirty="0">
                <a:solidFill>
                  <a:srgbClr val="FF0000"/>
                </a:solidFill>
              </a:rPr>
              <a:t>NOT FAIL </a:t>
            </a:r>
            <a:r>
              <a:rPr lang="ru-RU" sz="2400" dirty="0"/>
              <a:t>(пока поиск не завершен) DO  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	</a:t>
            </a:r>
            <a:r>
              <a:rPr lang="ru-RU" sz="2400" dirty="0" smtClean="0">
                <a:solidFill>
                  <a:srgbClr val="FF0000"/>
                </a:solidFill>
              </a:rPr>
              <a:t>	GET </a:t>
            </a:r>
            <a:r>
              <a:rPr lang="ru-RU" sz="2400" dirty="0">
                <a:solidFill>
                  <a:srgbClr val="FF0000"/>
                </a:solidFill>
              </a:rPr>
              <a:t>NEXT WITHIN </a:t>
            </a:r>
            <a:r>
              <a:rPr lang="ru-RU" sz="2400" dirty="0" smtClean="0">
                <a:solidFill>
                  <a:srgbClr val="FF0000"/>
                </a:solidFill>
              </a:rPr>
              <a:t>PARENT</a:t>
            </a:r>
            <a:endParaRPr lang="en-US" sz="24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rgbClr val="FF0000"/>
                </a:solidFill>
              </a:rPr>
              <a:t>	</a:t>
            </a:r>
            <a:r>
              <a:rPr lang="en-US" sz="2400" dirty="0" smtClean="0">
                <a:solidFill>
                  <a:srgbClr val="FF0000"/>
                </a:solidFill>
              </a:rPr>
              <a:t>END</a:t>
            </a:r>
            <a:endParaRPr lang="ru-RU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562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188640"/>
            <a:ext cx="8748712" cy="503907"/>
          </a:xfrm>
        </p:spPr>
        <p:txBody>
          <a:bodyPr/>
          <a:lstStyle/>
          <a:p>
            <a:r>
              <a:rPr lang="ru-RU" sz="2400" dirty="0">
                <a:solidFill>
                  <a:schemeClr val="bg2"/>
                </a:solidFill>
              </a:rPr>
              <a:t>Операторы поиска данных с возможностью модификации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975" y="728699"/>
            <a:ext cx="9036050" cy="59054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endParaRPr lang="ru-RU" sz="2400" b="1" dirty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31</a:t>
            </a:fld>
            <a:endParaRPr lang="ru-RU" altLang="ru-RU" sz="1200" smtClean="0">
              <a:latin typeface="Arial Black" pitchFamily="34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5496" y="620688"/>
            <a:ext cx="9036050" cy="6121425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Найти и удержать единственный экземпляр сегмента</a:t>
            </a:r>
            <a:r>
              <a:rPr lang="ru-RU" sz="2400" dirty="0"/>
              <a:t>. </a:t>
            </a:r>
            <a:endParaRPr lang="en-US" sz="2400" dirty="0" smtClean="0"/>
          </a:p>
          <a:p>
            <a:pPr marL="360000" lvl="0" indent="0">
              <a:lnSpc>
                <a:spcPct val="120000"/>
              </a:lnSpc>
              <a:buNone/>
            </a:pPr>
            <a:r>
              <a:rPr lang="ru-RU" sz="2400" dirty="0" smtClean="0"/>
              <a:t>Операция </a:t>
            </a:r>
            <a:r>
              <a:rPr lang="ru-RU" sz="2400" dirty="0"/>
              <a:t>подобна </a:t>
            </a:r>
            <a:r>
              <a:rPr lang="ru-RU" sz="2400" dirty="0" smtClean="0"/>
              <a:t>операции </a:t>
            </a:r>
            <a:r>
              <a:rPr lang="ru-RU" sz="2400" dirty="0"/>
              <a:t>поиска </a:t>
            </a:r>
            <a:r>
              <a:rPr lang="ru-RU" sz="2400" b="1" dirty="0"/>
              <a:t>GET UNIQUE</a:t>
            </a:r>
            <a:r>
              <a:rPr lang="ru-RU" sz="2400" dirty="0"/>
              <a:t>, единственным отличием этой операции является то, что после выполнения этой операции над найденным экземпляром сегмента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допустимы операции модификации </a:t>
            </a:r>
            <a:r>
              <a:rPr lang="ru-RU" sz="2400" dirty="0"/>
              <a:t>(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изменения</a:t>
            </a:r>
            <a:r>
              <a:rPr lang="ru-RU" sz="2400" dirty="0"/>
              <a:t>) данных.</a:t>
            </a:r>
          </a:p>
          <a:p>
            <a:pPr marL="360000" indent="0">
              <a:lnSpc>
                <a:spcPct val="120000"/>
              </a:lnSpc>
              <a:buNone/>
            </a:pPr>
            <a:r>
              <a:rPr lang="ru-RU" sz="2500" b="1" dirty="0"/>
              <a:t>Синтаксис</a:t>
            </a:r>
            <a:r>
              <a:rPr lang="en-US" sz="2500" b="1" dirty="0"/>
              <a:t>:</a:t>
            </a:r>
            <a:endParaRPr lang="ru-RU" sz="2500" b="1" dirty="0"/>
          </a:p>
          <a:p>
            <a:pPr marL="0" lvl="0" indent="0">
              <a:lnSpc>
                <a:spcPct val="120000"/>
              </a:lnSpc>
              <a:buNone/>
            </a:pPr>
            <a:r>
              <a:rPr lang="ru-RU" sz="2400" dirty="0" smtClean="0">
                <a:solidFill>
                  <a:srgbClr val="FF0000"/>
                </a:solidFill>
              </a:rPr>
              <a:t>	</a:t>
            </a:r>
            <a:r>
              <a:rPr lang="en-US" sz="2400" dirty="0" smtClean="0">
                <a:solidFill>
                  <a:srgbClr val="FF0000"/>
                </a:solidFill>
              </a:rPr>
              <a:t>GET </a:t>
            </a:r>
            <a:r>
              <a:rPr lang="en-US" sz="2400" dirty="0">
                <a:solidFill>
                  <a:srgbClr val="FF0000"/>
                </a:solidFill>
              </a:rPr>
              <a:t>HOLD UNIQUE </a:t>
            </a:r>
            <a:r>
              <a:rPr lang="en-US" sz="2400" dirty="0"/>
              <a:t>&lt;</a:t>
            </a:r>
            <a:r>
              <a:rPr lang="ru-RU" sz="2400" dirty="0"/>
              <a:t>имя сегмента</a:t>
            </a:r>
            <a:r>
              <a:rPr lang="en-US" sz="2400" dirty="0"/>
              <a:t>&gt; </a:t>
            </a:r>
            <a:r>
              <a:rPr lang="ru-RU" sz="2400" dirty="0"/>
              <a:t>WHERE &lt;список поиска</a:t>
            </a:r>
            <a:r>
              <a:rPr lang="ru-RU" sz="2400" dirty="0" smtClean="0"/>
              <a:t>&gt;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ru-RU" sz="25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Найти и удержать следующий с теми же условиями поиска. </a:t>
            </a:r>
          </a:p>
          <a:p>
            <a:pPr marL="360000" indent="0">
              <a:lnSpc>
                <a:spcPct val="120000"/>
              </a:lnSpc>
              <a:buNone/>
            </a:pPr>
            <a:r>
              <a:rPr lang="ru-RU" sz="2500" dirty="0" smtClean="0"/>
              <a:t>Эта </a:t>
            </a:r>
            <a:r>
              <a:rPr lang="ru-RU" sz="2500" dirty="0"/>
              <a:t>операция </a:t>
            </a:r>
            <a:r>
              <a:rPr lang="ru-RU" sz="2500" dirty="0" smtClean="0"/>
              <a:t>является аналогом операции </a:t>
            </a:r>
            <a:r>
              <a:rPr lang="ru-RU" sz="2500" dirty="0"/>
              <a:t>поиска GET NEXT с возможностью выполнения последующей модификации данных.</a:t>
            </a:r>
          </a:p>
          <a:p>
            <a:pPr marL="360000" indent="0">
              <a:lnSpc>
                <a:spcPct val="120000"/>
              </a:lnSpc>
              <a:buNone/>
            </a:pPr>
            <a:r>
              <a:rPr lang="ru-RU" sz="2500" b="1" dirty="0"/>
              <a:t>Синтаксис</a:t>
            </a:r>
            <a:r>
              <a:rPr lang="en-US" sz="2500" b="1" dirty="0"/>
              <a:t>:</a:t>
            </a:r>
            <a:endParaRPr lang="ru-RU" sz="2500" b="1" dirty="0"/>
          </a:p>
          <a:p>
            <a:pPr marL="0" lvl="0" indent="0">
              <a:lnSpc>
                <a:spcPct val="120000"/>
              </a:lnSpc>
              <a:buNone/>
            </a:pPr>
            <a:r>
              <a:rPr lang="ru-RU" sz="2400" dirty="0" smtClean="0">
                <a:solidFill>
                  <a:srgbClr val="FF0000"/>
                </a:solidFill>
              </a:rPr>
              <a:t>	GET </a:t>
            </a:r>
            <a:r>
              <a:rPr lang="ru-RU" sz="2400" dirty="0">
                <a:solidFill>
                  <a:srgbClr val="FF0000"/>
                </a:solidFill>
              </a:rPr>
              <a:t>HOLD NEXT </a:t>
            </a:r>
            <a:r>
              <a:rPr lang="ru-RU" sz="2400" dirty="0"/>
              <a:t>[WHERE дополнительные условия&gt;] </a:t>
            </a:r>
            <a:endParaRPr lang="ru-RU" sz="2400" dirty="0" smtClean="0"/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ru-RU" sz="25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Получить и удержать следующий для того же родителя. </a:t>
            </a:r>
          </a:p>
          <a:p>
            <a:pPr marL="360000" lvl="0" indent="0">
              <a:lnSpc>
                <a:spcPct val="120000"/>
              </a:lnSpc>
              <a:buNone/>
            </a:pPr>
            <a:r>
              <a:rPr lang="ru-RU" sz="2500" dirty="0"/>
              <a:t>Эта операция является аналогом операции </a:t>
            </a:r>
            <a:r>
              <a:rPr lang="ru-RU" sz="2600" dirty="0" smtClean="0"/>
              <a:t>GET NEXT</a:t>
            </a:r>
            <a:r>
              <a:rPr lang="en-US" sz="2600" dirty="0" smtClean="0"/>
              <a:t> </a:t>
            </a:r>
            <a:r>
              <a:rPr lang="ru-RU" sz="2600" dirty="0" smtClean="0"/>
              <a:t>WITHIN PARENT</a:t>
            </a:r>
            <a:r>
              <a:rPr lang="ru-RU" sz="2800" dirty="0" smtClean="0">
                <a:solidFill>
                  <a:srgbClr val="FF0000"/>
                </a:solidFill>
              </a:rPr>
              <a:t> </a:t>
            </a:r>
            <a:r>
              <a:rPr lang="ru-RU" sz="2500" dirty="0" smtClean="0"/>
              <a:t>, </a:t>
            </a:r>
            <a:r>
              <a:rPr lang="ru-RU" sz="2500" dirty="0"/>
              <a:t>но разрешает выполнение операций модификации данных после себя.</a:t>
            </a:r>
          </a:p>
          <a:p>
            <a:pPr marL="360000" indent="0">
              <a:lnSpc>
                <a:spcPct val="120000"/>
              </a:lnSpc>
              <a:buNone/>
            </a:pPr>
            <a:r>
              <a:rPr lang="ru-RU" sz="2400" b="1" dirty="0"/>
              <a:t>Синтаксис</a:t>
            </a:r>
            <a:r>
              <a:rPr lang="en-US" sz="2400" b="1" dirty="0"/>
              <a:t>:</a:t>
            </a:r>
            <a:endParaRPr lang="ru-RU" sz="2400" b="1" dirty="0"/>
          </a:p>
          <a:p>
            <a:pPr marL="0" indent="0">
              <a:lnSpc>
                <a:spcPct val="120000"/>
              </a:lnSpc>
              <a:buNone/>
            </a:pPr>
            <a:r>
              <a:rPr lang="ru-RU" sz="2400" dirty="0" smtClean="0">
                <a:solidFill>
                  <a:srgbClr val="FF0000"/>
                </a:solidFill>
              </a:rPr>
              <a:t>	</a:t>
            </a:r>
            <a:r>
              <a:rPr lang="en-US" sz="2400" dirty="0" smtClean="0">
                <a:solidFill>
                  <a:srgbClr val="FF0000"/>
                </a:solidFill>
              </a:rPr>
              <a:t>GET </a:t>
            </a:r>
            <a:r>
              <a:rPr lang="en-US" sz="2400" dirty="0">
                <a:solidFill>
                  <a:srgbClr val="FF0000"/>
                </a:solidFill>
              </a:rPr>
              <a:t>HOLD NEXT WITHIN PARENT </a:t>
            </a:r>
            <a:r>
              <a:rPr lang="en-US" sz="2400" dirty="0"/>
              <a:t>[ where &lt;</a:t>
            </a:r>
            <a:r>
              <a:rPr lang="ru-RU" sz="2400" dirty="0" err="1"/>
              <a:t>дополн</a:t>
            </a:r>
            <a:r>
              <a:rPr lang="en-US" sz="2400" dirty="0"/>
              <a:t>.</a:t>
            </a:r>
            <a:r>
              <a:rPr lang="ru-RU" sz="2400" dirty="0"/>
              <a:t>условия</a:t>
            </a:r>
            <a:r>
              <a:rPr lang="en-US" sz="2400" dirty="0"/>
              <a:t>&gt;]</a:t>
            </a:r>
            <a:endParaRPr lang="ru-RU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457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188640"/>
            <a:ext cx="8748712" cy="503907"/>
          </a:xfrm>
        </p:spPr>
        <p:txBody>
          <a:bodyPr/>
          <a:lstStyle/>
          <a:p>
            <a:pPr algn="ctr"/>
            <a:r>
              <a:rPr lang="ru-RU" sz="2400" dirty="0">
                <a:solidFill>
                  <a:schemeClr val="bg2"/>
                </a:solidFill>
              </a:rPr>
              <a:t>Операторы модификации данных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975" y="728699"/>
            <a:ext cx="9036050" cy="59054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endParaRPr lang="ru-RU" sz="2400" b="1" dirty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32</a:t>
            </a:fld>
            <a:endParaRPr lang="ru-RU" altLang="ru-RU" sz="1200" smtClean="0">
              <a:latin typeface="Arial Black" pitchFamily="34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5496" y="620688"/>
            <a:ext cx="9108504" cy="640876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10000"/>
              </a:lnSpc>
              <a:buNone/>
            </a:pPr>
            <a:r>
              <a:rPr lang="ru-RU" sz="2000" b="1" dirty="0" smtClean="0"/>
              <a:t>Ввести новый экземпляр сегмента</a:t>
            </a:r>
            <a:endParaRPr lang="ru-RU" sz="2000" dirty="0" smtClean="0"/>
          </a:p>
          <a:p>
            <a:pPr>
              <a:lnSpc>
                <a:spcPct val="110000"/>
              </a:lnSpc>
            </a:pPr>
            <a:r>
              <a:rPr lang="ru-RU" sz="2000" dirty="0" smtClean="0">
                <a:solidFill>
                  <a:srgbClr val="FF0000"/>
                </a:solidFill>
              </a:rPr>
              <a:t>INSERT &lt;имя сегмента&gt; </a:t>
            </a:r>
          </a:p>
          <a:p>
            <a:pPr lvl="1">
              <a:lnSpc>
                <a:spcPct val="11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1800" dirty="0" smtClean="0"/>
              <a:t>Команда позволяет ввести новый экземпляр сегмента, имя которого определено в параметре команды. </a:t>
            </a:r>
          </a:p>
          <a:p>
            <a:pPr lvl="1">
              <a:lnSpc>
                <a:spcPct val="11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1800" dirty="0" smtClean="0"/>
              <a:t>Если мы вводим данные в сегмент, который является </a:t>
            </a:r>
            <a:r>
              <a:rPr lang="ru-RU" sz="1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подчиненным некоторому родительскому экземпляру сегмента</a:t>
            </a:r>
            <a:r>
              <a:rPr lang="ru-RU" sz="1800" dirty="0" smtClean="0"/>
              <a:t>, то он будет внесен в БД и физически подключен к тому экземпляру родительского сегмента, который в данный момент является текущим.</a:t>
            </a:r>
          </a:p>
          <a:p>
            <a:pPr lvl="0">
              <a:lnSpc>
                <a:spcPct val="110000"/>
              </a:lnSpc>
              <a:buNone/>
            </a:pPr>
            <a:r>
              <a:rPr lang="ru-RU" sz="2000" b="1" dirty="0" smtClean="0"/>
              <a:t>Удалить</a:t>
            </a:r>
            <a:endParaRPr lang="ru-RU" sz="2000" b="1" dirty="0"/>
          </a:p>
          <a:p>
            <a:pPr>
              <a:lnSpc>
                <a:spcPct val="110000"/>
              </a:lnSpc>
            </a:pPr>
            <a:r>
              <a:rPr lang="ru-RU" sz="2000" dirty="0" smtClean="0">
                <a:solidFill>
                  <a:srgbClr val="FF0000"/>
                </a:solidFill>
              </a:rPr>
              <a:t>DELETE</a:t>
            </a:r>
            <a:r>
              <a:rPr lang="ru-RU" sz="2000" dirty="0" smtClean="0"/>
              <a:t> </a:t>
            </a:r>
          </a:p>
          <a:p>
            <a:pPr lvl="1">
              <a:lnSpc>
                <a:spcPct val="11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1800" dirty="0" smtClean="0"/>
              <a:t>Команда </a:t>
            </a:r>
            <a:r>
              <a:rPr lang="ru-RU" sz="1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не имеет параметров</a:t>
            </a:r>
            <a:r>
              <a:rPr lang="ru-RU" sz="1800" dirty="0"/>
              <a:t>. </a:t>
            </a:r>
            <a:endParaRPr lang="ru-RU" sz="1800" dirty="0" smtClean="0"/>
          </a:p>
          <a:p>
            <a:pPr lvl="1">
              <a:lnSpc>
                <a:spcPct val="11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1800" dirty="0" smtClean="0"/>
              <a:t>Операции </a:t>
            </a:r>
            <a:r>
              <a:rPr lang="ru-RU" sz="1800" dirty="0"/>
              <a:t>модификации действуют </a:t>
            </a:r>
            <a:r>
              <a:rPr lang="ru-RU" sz="1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на экземпляр сегмента, найденный командами поиска с удержанием</a:t>
            </a:r>
            <a:r>
              <a:rPr lang="ru-RU" sz="1800" dirty="0"/>
              <a:t>. </a:t>
            </a:r>
            <a:endParaRPr lang="ru-RU" sz="1800" dirty="0" smtClean="0"/>
          </a:p>
          <a:p>
            <a:pPr lvl="1">
              <a:lnSpc>
                <a:spcPct val="11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1800" dirty="0" smtClean="0"/>
              <a:t>А </a:t>
            </a:r>
            <a:r>
              <a:rPr lang="ru-RU" sz="1800" dirty="0"/>
              <a:t>он </a:t>
            </a:r>
            <a:r>
              <a:rPr lang="ru-RU" sz="1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всегда единственны</a:t>
            </a:r>
            <a:r>
              <a:rPr lang="ru-RU" sz="1800" dirty="0"/>
              <a:t>й текущий </a:t>
            </a:r>
            <a:r>
              <a:rPr lang="ru-RU" sz="1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найденный и удерживаемый для модификации</a:t>
            </a:r>
            <a:r>
              <a:rPr lang="ru-RU" sz="1800" dirty="0"/>
              <a:t> экземпляр конкретного сегмента. </a:t>
            </a:r>
            <a:endParaRPr lang="ru-RU" sz="1800" dirty="0" smtClean="0"/>
          </a:p>
          <a:p>
            <a:pPr lvl="1">
              <a:lnSpc>
                <a:spcPct val="11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1800" dirty="0" smtClean="0"/>
              <a:t>Поэтому </a:t>
            </a:r>
            <a:r>
              <a:rPr lang="ru-RU" sz="1800" dirty="0"/>
              <a:t>при выполнении команды удаления будет удален именно этот экземпляр сегмента</a:t>
            </a:r>
            <a:r>
              <a:rPr lang="ru-RU" sz="1800" dirty="0" smtClean="0"/>
              <a:t>.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544815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188640"/>
            <a:ext cx="8748712" cy="503907"/>
          </a:xfrm>
        </p:spPr>
        <p:txBody>
          <a:bodyPr/>
          <a:lstStyle/>
          <a:p>
            <a:pPr algn="ctr"/>
            <a:r>
              <a:rPr lang="ru-RU" sz="2400" dirty="0">
                <a:solidFill>
                  <a:schemeClr val="bg2"/>
                </a:solidFill>
              </a:rPr>
              <a:t>Операторы модификации данных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975" y="728699"/>
            <a:ext cx="9036050" cy="59054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endParaRPr lang="ru-RU" sz="2400" b="1" dirty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33</a:t>
            </a:fld>
            <a:endParaRPr lang="ru-RU" altLang="ru-RU" sz="1200" smtClean="0">
              <a:latin typeface="Arial Black" pitchFamily="34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5496" y="620688"/>
            <a:ext cx="9036050" cy="612142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0">
              <a:buNone/>
            </a:pPr>
            <a:r>
              <a:rPr lang="ru-RU" sz="2000" b="1" dirty="0" smtClean="0"/>
              <a:t>Обновить</a:t>
            </a:r>
            <a:endParaRPr lang="ru-RU" sz="2000" b="1" dirty="0"/>
          </a:p>
          <a:p>
            <a:r>
              <a:rPr lang="ru-RU" sz="2000" dirty="0" smtClean="0">
                <a:solidFill>
                  <a:srgbClr val="FF0000"/>
                </a:solidFill>
              </a:rPr>
              <a:t>UPDATE</a:t>
            </a:r>
            <a:r>
              <a:rPr lang="ru-RU" sz="2000" dirty="0" smtClean="0"/>
              <a:t> </a:t>
            </a:r>
          </a:p>
          <a:p>
            <a:r>
              <a:rPr lang="ru-RU" sz="2000" dirty="0" smtClean="0"/>
              <a:t>В команде </a:t>
            </a:r>
            <a:r>
              <a:rPr lang="ru-RU" sz="2000" dirty="0"/>
              <a:t>не </a:t>
            </a:r>
            <a:r>
              <a:rPr lang="ru-RU" sz="2000" dirty="0" smtClean="0"/>
              <a:t>задаются параметры. </a:t>
            </a:r>
          </a:p>
          <a:p>
            <a:r>
              <a:rPr lang="ru-RU" sz="2000" dirty="0" smtClean="0"/>
              <a:t>СУБД </a:t>
            </a:r>
            <a:r>
              <a:rPr lang="ru-RU" sz="2000" dirty="0"/>
              <a:t>берет данные из </a:t>
            </a:r>
            <a:r>
              <a:rPr lang="ru-RU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рабочей области пользователя</a:t>
            </a:r>
            <a:r>
              <a:rPr lang="ru-RU" sz="2000" dirty="0"/>
              <a:t>, где в шаблонах записей соответствующих внутренних переменных находятся значения полей каждого сегмента внешней модели, с которой работает данный пользователь. </a:t>
            </a:r>
            <a:endParaRPr lang="ru-RU" sz="2000" dirty="0" smtClean="0"/>
          </a:p>
          <a:p>
            <a:r>
              <a:rPr lang="ru-RU" sz="2000" dirty="0" smtClean="0"/>
              <a:t>Именно </a:t>
            </a:r>
            <a:r>
              <a:rPr lang="ru-RU" sz="2000" dirty="0"/>
              <a:t>этими значениями и обновляется текущий экземпляр сегмента</a:t>
            </a:r>
            <a:r>
              <a:rPr lang="ru-RU" sz="2000" dirty="0" smtClean="0"/>
              <a:t>.</a:t>
            </a:r>
          </a:p>
          <a:p>
            <a:r>
              <a:rPr lang="ru-RU" sz="2000" dirty="0" smtClean="0"/>
              <a:t>Значит</a:t>
            </a:r>
            <a:r>
              <a:rPr lang="ru-RU" sz="2000" dirty="0"/>
              <a:t>, </a:t>
            </a:r>
            <a:r>
              <a:rPr lang="ru-RU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перед тем как выполнить операции модификации UPDATE, необходимо присвоить соответствующим переменным новые значения</a:t>
            </a:r>
            <a:r>
              <a:rPr lang="ru-RU" sz="2000" dirty="0" smtClean="0"/>
              <a:t>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544815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2362</TotalTime>
  <Words>2503</Words>
  <Application>Microsoft Office PowerPoint</Application>
  <PresentationFormat>Экран (4:3)</PresentationFormat>
  <Paragraphs>452</Paragraphs>
  <Slides>33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9" baseType="lpstr">
      <vt:lpstr>Arial</vt:lpstr>
      <vt:lpstr>Arial Black</vt:lpstr>
      <vt:lpstr>Calibri</vt:lpstr>
      <vt:lpstr>Times New Roman</vt:lpstr>
      <vt:lpstr>Wingdings</vt:lpstr>
      <vt:lpstr>Пиксел</vt:lpstr>
      <vt:lpstr>Ранние модели  баз данных</vt:lpstr>
      <vt:lpstr>Иерархическая модель </vt:lpstr>
      <vt:lpstr>Модель данных</vt:lpstr>
      <vt:lpstr>Поле данных</vt:lpstr>
      <vt:lpstr>Сегмент данных</vt:lpstr>
      <vt:lpstr>Графический вид</vt:lpstr>
      <vt:lpstr>Презентация PowerPoint</vt:lpstr>
      <vt:lpstr>Обобщенный вид дерева</vt:lpstr>
      <vt:lpstr>Модель данных. Близнецы</vt:lpstr>
      <vt:lpstr>Модель данных. Физическая запись</vt:lpstr>
      <vt:lpstr>Пример схемы базы данных</vt:lpstr>
      <vt:lpstr>Пример экземпляра дерева</vt:lpstr>
      <vt:lpstr>Иерархический порядок</vt:lpstr>
      <vt:lpstr>Иерархический порядок</vt:lpstr>
      <vt:lpstr>Язык описания данных иерархической модели</vt:lpstr>
      <vt:lpstr>ЯОД. Описание хранения данных</vt:lpstr>
      <vt:lpstr>Описание сегментов</vt:lpstr>
      <vt:lpstr>Описание полей</vt:lpstr>
      <vt:lpstr>Завершение описания БД</vt:lpstr>
      <vt:lpstr>Пример описания БД</vt:lpstr>
      <vt:lpstr>Внешние модели</vt:lpstr>
      <vt:lpstr>Примеры внешних моделей</vt:lpstr>
      <vt:lpstr>Внешние модели. Описание</vt:lpstr>
      <vt:lpstr>Пример иерархической БД. Физическая БД «Филиалы»</vt:lpstr>
      <vt:lpstr>Пример иерархической БД. Физическая БД «Филиалы»</vt:lpstr>
      <vt:lpstr>Пример иерархической БД</vt:lpstr>
      <vt:lpstr>Язык манипулирования данными в ИБД</vt:lpstr>
      <vt:lpstr>Операторы поиска данных (GET UNIQUE )</vt:lpstr>
      <vt:lpstr>Операторы поиска данных (GET NEXT)</vt:lpstr>
      <vt:lpstr>Операторы поиска данных (GET NEXT WITHIN PARENT )</vt:lpstr>
      <vt:lpstr>Операторы поиска данных с возможностью модификации</vt:lpstr>
      <vt:lpstr>Операторы модификации данных</vt:lpstr>
      <vt:lpstr>Операторы модификации данных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Реляционная модель</dc:title>
  <dc:creator>Борис</dc:creator>
  <cp:lastModifiedBy>Def</cp:lastModifiedBy>
  <cp:revision>175</cp:revision>
  <dcterms:created xsi:type="dcterms:W3CDTF">2012-10-04T16:47:37Z</dcterms:created>
  <dcterms:modified xsi:type="dcterms:W3CDTF">2019-11-21T06:20:40Z</dcterms:modified>
</cp:coreProperties>
</file>