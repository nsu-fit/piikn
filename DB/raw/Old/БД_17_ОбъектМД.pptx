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32"/>
  </p:notesMasterIdLst>
  <p:sldIdLst>
    <p:sldId id="256" r:id="rId2"/>
    <p:sldId id="257" r:id="rId3"/>
    <p:sldId id="285" r:id="rId4"/>
    <p:sldId id="286" r:id="rId5"/>
    <p:sldId id="287" r:id="rId6"/>
    <p:sldId id="266" r:id="rId7"/>
    <p:sldId id="284" r:id="rId8"/>
    <p:sldId id="269" r:id="rId9"/>
    <p:sldId id="283" r:id="rId10"/>
    <p:sldId id="268" r:id="rId11"/>
    <p:sldId id="267" r:id="rId12"/>
    <p:sldId id="258" r:id="rId13"/>
    <p:sldId id="289" r:id="rId14"/>
    <p:sldId id="290" r:id="rId15"/>
    <p:sldId id="259" r:id="rId16"/>
    <p:sldId id="262" r:id="rId17"/>
    <p:sldId id="263" r:id="rId18"/>
    <p:sldId id="264" r:id="rId19"/>
    <p:sldId id="272" r:id="rId20"/>
    <p:sldId id="273" r:id="rId21"/>
    <p:sldId id="261" r:id="rId22"/>
    <p:sldId id="270" r:id="rId23"/>
    <p:sldId id="275" r:id="rId24"/>
    <p:sldId id="274" r:id="rId25"/>
    <p:sldId id="276" r:id="rId26"/>
    <p:sldId id="271" r:id="rId27"/>
    <p:sldId id="279" r:id="rId28"/>
    <p:sldId id="260" r:id="rId29"/>
    <p:sldId id="280" r:id="rId30"/>
    <p:sldId id="282" r:id="rId31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0"/>
      </p:ext>
    </p:extLst>
  </p:showPr>
  <p:clrMru>
    <a:srgbClr val="9900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38" autoAdjust="0"/>
    <p:restoredTop sz="62665" autoAdjust="0"/>
  </p:normalViewPr>
  <p:slideViewPr>
    <p:cSldViewPr showGuides="1">
      <p:cViewPr varScale="1">
        <p:scale>
          <a:sx n="81" d="100"/>
          <a:sy n="81" d="100"/>
        </p:scale>
        <p:origin x="-78" y="-2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95D22BF-934C-434E-AE80-27B15794891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7293667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/index.php?title=%D0%A0%D0%B0%D1%81%D0%BF%D1%80%D0%B5%D0%B4%D0%B5%D0%BB%D1%91%D0%BD%D0%BD%D1%8B%D0%B5_%D0%BF%D1%80%D0%B8%D0%BB%D0%BE%D0%B6%D0%B5%D0%BD%D0%B8%D1%8F&amp;action=edit&amp;redlink=1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www.odmg.org/" TargetMode="External"/><Relationship Id="rId5" Type="http://schemas.openxmlformats.org/officeDocument/2006/relationships/hyperlink" Target="https://ru.wikipedia.org/wiki/%D0%98%D0%BD%D1%84%D0%BE%D1%80%D0%BC%D0%B0%D1%86%D0%B8%D0%BE%D0%BD%D0%BD%D1%8B%D0%B5_%D1%82%D0%B5%D1%85%D0%BD%D0%BE%D0%BB%D0%BE%D0%B3%D0%B8%D0%B8" TargetMode="External"/><Relationship Id="rId4" Type="http://schemas.openxmlformats.org/officeDocument/2006/relationships/hyperlink" Target="https://ru.wikipedia.org/wiki/Object_Management_Group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dmg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6B892FD-C95D-4870-98A4-14F06357C006}" type="slidenum">
              <a:rPr lang="ru-RU" altLang="ru-RU" smtClean="0"/>
              <a:pPr eaLnBrk="1" hangingPunct="1">
                <a:spcBef>
                  <a:spcPct val="0"/>
                </a:spcBef>
              </a:pPr>
              <a:t>2</a:t>
            </a:fld>
            <a:endParaRPr lang="ru-RU" altLang="ru-RU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-RU" altLang="ru-RU" sz="800" dirty="0" smtClean="0"/>
              <a:t>В 80-е гг. практически установилась безраздельная монополия реляционных систем баз данных. Однако еще в середине 70-х гг. начали рождаться новые идеи, которые привели впоследствии к формированию объектного подхода в технологиях баз данных.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dirty="0" smtClean="0"/>
              <a:t>Получил распространение созданный еще в 1972 г. в компании </a:t>
            </a:r>
            <a:r>
              <a:rPr lang="en-US" altLang="ru-RU" sz="800" dirty="0" smtClean="0"/>
              <a:t>Xerox PARC</a:t>
            </a:r>
            <a:r>
              <a:rPr lang="ru-RU" altLang="ru-RU" sz="800" dirty="0" smtClean="0"/>
              <a:t> объектный язык </a:t>
            </a:r>
            <a:r>
              <a:rPr lang="en-US" altLang="ru-RU" sz="800" dirty="0" smtClean="0"/>
              <a:t>Smalltalk</a:t>
            </a:r>
            <a:r>
              <a:rPr lang="ru-RU" altLang="ru-RU" sz="800" dirty="0" smtClean="0"/>
              <a:t>.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dirty="0" smtClean="0"/>
              <a:t>А после опубликования в 1983 г. Б. </a:t>
            </a:r>
            <a:r>
              <a:rPr lang="ru-RU" altLang="ru-RU" sz="800" dirty="0" err="1" smtClean="0"/>
              <a:t>Строустрапом</a:t>
            </a:r>
            <a:r>
              <a:rPr lang="ru-RU" altLang="ru-RU" sz="800" dirty="0" smtClean="0"/>
              <a:t> (В. </a:t>
            </a:r>
            <a:r>
              <a:rPr lang="en-US" altLang="ru-RU" sz="800" dirty="0" err="1" smtClean="0"/>
              <a:t>Stroustrup</a:t>
            </a:r>
            <a:r>
              <a:rPr lang="ru-RU" altLang="ru-RU" sz="800" dirty="0" smtClean="0"/>
              <a:t>) в </a:t>
            </a:r>
            <a:r>
              <a:rPr lang="en-US" altLang="ru-RU" sz="800" dirty="0" smtClean="0"/>
              <a:t>AT</a:t>
            </a:r>
            <a:r>
              <a:rPr lang="ru-RU" altLang="ru-RU" sz="800" dirty="0" smtClean="0"/>
              <a:t>&amp;</a:t>
            </a:r>
            <a:r>
              <a:rPr lang="en-US" altLang="ru-RU" sz="800" dirty="0" smtClean="0"/>
              <a:t>T Bell Laboratories</a:t>
            </a:r>
            <a:r>
              <a:rPr lang="ru-RU" altLang="ru-RU" sz="800" dirty="0" smtClean="0"/>
              <a:t> языка C++, объектного расширения уже к тому времени весьма популярного языка С, и систем программирования, реализующих этот язык на платформе ПК, программирование в объектной парадигме стало массовым явлением.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dirty="0" smtClean="0"/>
              <a:t>Эта ситуация в значительной мере пробудила интерес к воплощению объектной парадигмы в технологиях баз данных. Проблема состояла прежде всего в том, что возникла необходимость в обеспечении эффективной </a:t>
            </a:r>
            <a:r>
              <a:rPr lang="ru-RU" altLang="ru-RU" sz="800" i="1" dirty="0" smtClean="0"/>
              <a:t>среды хранения объектных данных</a:t>
            </a:r>
            <a:r>
              <a:rPr lang="ru-RU" altLang="ru-RU" sz="800" dirty="0" smtClean="0"/>
              <a:t> для поддержки многочисленных прикладных программных систем, реализованных средствами объектных языков. Эту функцию было естественно возложить на СУБД, основанных на </a:t>
            </a:r>
            <a:r>
              <a:rPr lang="ru-RU" altLang="ru-RU" sz="800" i="1" dirty="0" smtClean="0"/>
              <a:t>объектных моделях данных</a:t>
            </a:r>
            <a:r>
              <a:rPr lang="ru-RU" altLang="ru-RU" sz="800" dirty="0" smtClean="0"/>
              <a:t> и обладающие интерфейсами прикладного программирования (</a:t>
            </a:r>
            <a:r>
              <a:rPr lang="en-US" altLang="ru-RU" sz="800" dirty="0" smtClean="0"/>
              <a:t>API</a:t>
            </a:r>
            <a:r>
              <a:rPr lang="ru-RU" altLang="ru-RU" sz="800" dirty="0" smtClean="0"/>
              <a:t>) для объектных языков.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dirty="0" smtClean="0"/>
              <a:t>Вместе с тем попытки применения объектных СУБД наиболее притязательными пользователями были связаны также со сложившимся к этому времени пониманием неэффективности использования реляционных систем в целом ряде нетрадиционных приложений.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dirty="0" smtClean="0"/>
              <a:t>Многие из таких приложений нуждались в более богатых по сравнению с предоставляемыми реляционными СУБД средствах моделирования предметной области с более развитыми системой типов и возможностями структурирования данных, обеспечивающих во многих случаях более естественное отображение семантики предметной области в базах данных.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dirty="0" smtClean="0"/>
              <a:t>Наконец, создание СУБД, основанных на объектной парадигме моделирования данных, позволяло </a:t>
            </a:r>
            <a:r>
              <a:rPr lang="ru-RU" altLang="ru-RU" sz="800" b="1" dirty="0" smtClean="0"/>
              <a:t>преодолеть</a:t>
            </a:r>
            <a:r>
              <a:rPr lang="ru-RU" altLang="ru-RU" sz="800" dirty="0" smtClean="0"/>
              <a:t> </a:t>
            </a:r>
            <a:r>
              <a:rPr lang="ru-RU" altLang="ru-RU" sz="800" b="1" dirty="0" smtClean="0"/>
              <a:t>несоответствие типов данных, которые предусмотрены в языке прикладного программирования и в модели данных</a:t>
            </a:r>
            <a:r>
              <a:rPr lang="ru-RU" altLang="ru-RU" sz="800" dirty="0" smtClean="0"/>
              <a:t>, поддерживаемой СУБД.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dirty="0" smtClean="0"/>
              <a:t>Эта проблема, пожалуй, не возникала лишь для приложений СУБД типа </a:t>
            </a:r>
            <a:r>
              <a:rPr lang="en-US" altLang="ru-RU" sz="800" dirty="0" smtClean="0"/>
              <a:t>CODASYL</a:t>
            </a:r>
            <a:r>
              <a:rPr lang="ru-RU" altLang="ru-RU" sz="800" dirty="0" smtClean="0"/>
              <a:t>, реализованных в языке </a:t>
            </a:r>
            <a:r>
              <a:rPr lang="en-US" altLang="ru-RU" sz="800" dirty="0" smtClean="0"/>
              <a:t>COBOL</a:t>
            </a:r>
            <a:r>
              <a:rPr lang="ru-RU" altLang="ru-RU" sz="800" dirty="0" smtClean="0"/>
              <a:t>, поскольку запись базы данных в модели данных </a:t>
            </a:r>
            <a:r>
              <a:rPr lang="en-US" altLang="ru-RU" sz="800" dirty="0" smtClean="0"/>
              <a:t>CODASYL</a:t>
            </a:r>
            <a:r>
              <a:rPr lang="ru-RU" altLang="ru-RU" sz="800" dirty="0" smtClean="0"/>
              <a:t> строилась но образу и подобию записи в этом языке программирования.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dirty="0" smtClean="0"/>
              <a:t>Дополнительный стимул развитию объектных технологий баз данных и развертыванию индустрии объектных СУБД придала публикация в</a:t>
            </a:r>
            <a:r>
              <a:rPr lang="ru-RU" altLang="ru-RU" sz="800" b="1" dirty="0" smtClean="0"/>
              <a:t> 1989-1990 </a:t>
            </a:r>
            <a:r>
              <a:rPr lang="ru-RU" altLang="ru-RU" sz="800" dirty="0" smtClean="0"/>
              <a:t>гг. двух программных документов, подготовленных группами известных специалистов в области баз данных.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dirty="0" smtClean="0"/>
              <a:t>В </a:t>
            </a:r>
            <a:r>
              <a:rPr lang="ru-RU" altLang="ru-RU" sz="800" b="1" dirty="0" smtClean="0"/>
              <a:t>первом из них — Манифесте объектно-ориентированных баз данных </a:t>
            </a:r>
            <a:r>
              <a:rPr lang="ru-RU" altLang="ru-RU" sz="800" dirty="0" smtClean="0"/>
              <a:t>— были сформулированы важнейшие требования к СУБД рассматриваемого класса и высказывалось мнение о целесообразности непосредственного, с "чистого листа", а не эволюционного перехода к новым объектным технологиям.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b="1" dirty="0" smtClean="0"/>
              <a:t>Второй документ, названный Манифестом систем баз данных третьего поколения</a:t>
            </a:r>
            <a:r>
              <a:rPr lang="ru-RU" altLang="ru-RU" sz="800" dirty="0" smtClean="0"/>
              <a:t>, опубликован годом позднее. В нем подчеркивается, что доминирующие в разработках приложений реляционные СУБД не удовлетворяют потребностям многих важных нетрадиционных сфер применения, и нужны новые подходы к управлению данными. Однако в отличие от первого документа в этом документе декларируется необходимость обеспечения </a:t>
            </a:r>
            <a:r>
              <a:rPr lang="ru-RU" altLang="ru-RU" sz="800" i="1" dirty="0" smtClean="0"/>
              <a:t>преемственности</a:t>
            </a:r>
            <a:r>
              <a:rPr lang="ru-RU" altLang="ru-RU" sz="800" dirty="0" smtClean="0"/>
              <a:t> с существующими реляционными технологиями и эволюционного пути их развития, в частности, за счет под­держки возможностей объектного подхода в реляционных СУБД.</a:t>
            </a:r>
          </a:p>
          <a:p>
            <a:pPr eaLnBrk="1" hangingPunct="1">
              <a:lnSpc>
                <a:spcPct val="80000"/>
              </a:lnSpc>
            </a:pPr>
            <a:endParaRPr lang="ru-RU" altLang="ru-RU" sz="800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D745E31-B2C1-45CF-850A-BB6B3797823D}" type="slidenum">
              <a:rPr lang="ru-RU" altLang="ru-RU" smtClean="0"/>
              <a:pPr eaLnBrk="1" hangingPunct="1">
                <a:spcBef>
                  <a:spcPct val="0"/>
                </a:spcBef>
              </a:pPr>
              <a:t>3</a:t>
            </a:fld>
            <a:endParaRPr lang="ru-RU" altLang="ru-RU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ru-RU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Объектная технология расширяет традиционную методику разработки приложений </a:t>
            </a:r>
            <a:r>
              <a:rPr lang="ru-RU" sz="1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новым моделированием данных и методами программирования.</a:t>
            </a:r>
            <a:r>
              <a:rPr lang="ru-RU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Для </a:t>
            </a:r>
            <a:r>
              <a:rPr lang="ru-RU" sz="1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повторного использования кода и улучшения сохранения целостности данных </a:t>
            </a:r>
            <a:r>
              <a:rPr lang="ru-RU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в объектном программировании </a:t>
            </a:r>
            <a:r>
              <a:rPr lang="ru-RU" sz="1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данные и код для их обработки организованы в объекты</a:t>
            </a:r>
            <a:r>
              <a:rPr lang="ru-RU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. Таким образом, практически полностью снимаются ограничения на типы данных.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Если данные состоят из </a:t>
            </a:r>
            <a:r>
              <a:rPr lang="ru-RU" sz="1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коротких, простых полей фиксированной длины </a:t>
            </a:r>
            <a:r>
              <a:rPr lang="ru-RU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(имя, адрес, баланс банковского счета), то </a:t>
            </a:r>
            <a:r>
              <a:rPr lang="ru-RU" sz="1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лучшим решением будет применение реляционной базы данных</a:t>
            </a:r>
            <a:r>
              <a:rPr lang="ru-RU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. 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Если, однако, данные содержат </a:t>
            </a:r>
            <a:r>
              <a:rPr lang="ru-RU" sz="1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вложенную структуру, динамически изменяемый размер, определяемые пользователем произвольные структуры (мультимедиа, например), </a:t>
            </a:r>
            <a:r>
              <a:rPr lang="ru-RU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представление их </a:t>
            </a:r>
            <a:r>
              <a:rPr lang="ru-RU" sz="1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в табличной форме будет, как минимум, непростым</a:t>
            </a:r>
            <a:r>
              <a:rPr lang="ru-RU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. 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В то же время в ООСУБД каждая определенная пользователем структура – это объект, непосредственно управляемый базой данных.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Применение объектной модели предпочтительнее для баз данных с большим количеством сложных связей: перекрестных ссылок, ссылок, связывающих несколько объектов с несколькими (</a:t>
            </a:r>
            <a:r>
              <a:rPr lang="ru-RU" sz="120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many-to-many</a:t>
            </a:r>
            <a:r>
              <a:rPr lang="ru-RU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</a:t>
            </a:r>
            <a:r>
              <a:rPr lang="ru-RU" sz="120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relationships</a:t>
            </a:r>
            <a:r>
              <a:rPr lang="ru-RU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) двунаправленными ссылками.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В объектно-ориентированных базах данных, в отличие от реляционных, хранятся не записи, а объекты. </a:t>
            </a:r>
          </a:p>
          <a:p>
            <a:r>
              <a:rPr lang="ru-RU" sz="120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ОО-подход</a:t>
            </a:r>
            <a:r>
              <a:rPr lang="ru-RU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представляет более совершенные средства для отображения реального мира, чем реляционная модель: естественное представление данных. 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В реляционной модели все отношения принадлежат одному уровню, именно это осложняет преобразование иерархических связей модели "сущность-связь" в реляционную модель. </a:t>
            </a:r>
          </a:p>
          <a:p>
            <a:r>
              <a:rPr lang="ru-RU" sz="120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ОО-модель</a:t>
            </a:r>
            <a:r>
              <a:rPr lang="ru-RU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можно рассматривать послойно, на разных уровнях абстракции. 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Объектные СУБД реализуют весь набор функций, присущих системам управления базами данных плюс возможности объектного программирования.</a:t>
            </a:r>
            <a:endParaRPr lang="ru-RU" sz="1200" kern="1200" dirty="0">
              <a:solidFill>
                <a:schemeClr val="tx1"/>
              </a:solidFill>
              <a:latin typeface="Arial" charset="0"/>
              <a:ea typeface="+mn-ea"/>
              <a:cs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D745E31-B2C1-45CF-850A-BB6B3797823D}" type="slidenum">
              <a:rPr lang="ru-RU" altLang="ru-RU" smtClean="0"/>
              <a:pPr eaLnBrk="1" hangingPunct="1">
                <a:spcBef>
                  <a:spcPct val="0"/>
                </a:spcBef>
              </a:pPr>
              <a:t>4</a:t>
            </a:fld>
            <a:endParaRPr lang="ru-RU" altLang="ru-RU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ru-RU" altLang="ru-RU" sz="800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D745E31-B2C1-45CF-850A-BB6B3797823D}" type="slidenum">
              <a:rPr lang="ru-RU" altLang="ru-RU" smtClean="0"/>
              <a:pPr eaLnBrk="1" hangingPunct="1">
                <a:spcBef>
                  <a:spcPct val="0"/>
                </a:spcBef>
              </a:pPr>
              <a:t>5</a:t>
            </a:fld>
            <a:endParaRPr lang="ru-RU" altLang="ru-RU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ru-RU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В то же время, </a:t>
            </a:r>
            <a:r>
              <a:rPr lang="ru-RU" sz="120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ОО-модели</a:t>
            </a:r>
            <a:r>
              <a:rPr lang="ru-RU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присущ и ряд недостатков: </a:t>
            </a:r>
          </a:p>
          <a:p>
            <a:pPr lvl="1">
              <a:buFont typeface="Arial" pitchFamily="34" charset="0"/>
              <a:buChar char="•"/>
            </a:pPr>
            <a:r>
              <a:rPr lang="ru-RU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отсутствуют мощные непроцедурные средства извлечения объектов из базы. Все запросы приходится писать на процедурных языках, проблема их оптимизации возлагается на программиста. </a:t>
            </a:r>
          </a:p>
          <a:p>
            <a:pPr lvl="1">
              <a:buFont typeface="Arial" pitchFamily="34" charset="0"/>
              <a:buChar char="•"/>
            </a:pPr>
            <a:r>
              <a:rPr lang="ru-RU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вместо чисто декларативных ограничений целостности (типа явного объявления первичных и внешних ключей реляционных таблиц с помощью ключевых слов PRIMARY KEY и REFERENCES) или </a:t>
            </a:r>
            <a:r>
              <a:rPr lang="ru-RU" sz="120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полудекларативных</a:t>
            </a:r>
            <a:r>
              <a:rPr lang="ru-RU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триггеров для обеспечения внутренней целостности приходится писать процедурный код. 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Очевидно, что оба эти недостатка связаны с отсутствием развитых средств манипулирования данными. 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Эта задача решается двумя способами </a:t>
            </a:r>
          </a:p>
          <a:p>
            <a:pPr>
              <a:buFontTx/>
              <a:buChar char="-"/>
            </a:pPr>
            <a:r>
              <a:rPr lang="ru-RU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расширение </a:t>
            </a:r>
            <a:r>
              <a:rPr lang="ru-RU" sz="120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ОО-языков</a:t>
            </a:r>
            <a:r>
              <a:rPr lang="ru-RU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в сторону управления данными (стандарт ODMG), </a:t>
            </a:r>
          </a:p>
          <a:p>
            <a:pPr>
              <a:buFontTx/>
              <a:buChar char="-"/>
            </a:pPr>
            <a:r>
              <a:rPr lang="ru-RU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либо добавление объектных свойств в реляционные СУБД.</a:t>
            </a:r>
          </a:p>
          <a:p>
            <a:pPr eaLnBrk="1" hangingPunct="1">
              <a:lnSpc>
                <a:spcPct val="80000"/>
              </a:lnSpc>
            </a:pPr>
            <a:endParaRPr lang="ru-RU" altLang="ru-RU" sz="800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ru-RU" altLang="ru-RU" dirty="0" smtClean="0"/>
              <a:t>Развитие производства ряда коммерческих объектно-ориентированных СУБД выдвинуло на повестку дня в начале 90-х гг. вопрос </a:t>
            </a:r>
            <a:r>
              <a:rPr lang="ru-RU" altLang="ru-RU" b="1" dirty="0" smtClean="0"/>
              <a:t>о необходимости стандартизации модели данных и языковых средств</a:t>
            </a:r>
            <a:r>
              <a:rPr lang="ru-RU" altLang="ru-RU" dirty="0" smtClean="0"/>
              <a:t> для таких систем с тем, чтобы обеспечить </a:t>
            </a:r>
            <a:r>
              <a:rPr lang="ru-RU" altLang="ru-RU" b="1" dirty="0" smtClean="0"/>
              <a:t>переносимость приложений между средами различных объектных СУБД</a:t>
            </a:r>
            <a:r>
              <a:rPr lang="ru-RU" altLang="ru-RU" dirty="0" smtClean="0"/>
              <a:t>, а также их </a:t>
            </a:r>
            <a:r>
              <a:rPr lang="ru-RU" altLang="ru-RU" dirty="0" err="1" smtClean="0"/>
              <a:t>интероперабельность</a:t>
            </a:r>
            <a:r>
              <a:rPr lang="ru-RU" altLang="ru-RU" dirty="0" smtClean="0"/>
              <a:t>. </a:t>
            </a:r>
          </a:p>
          <a:p>
            <a:r>
              <a:rPr lang="ru-RU" altLang="ru-RU" dirty="0" smtClean="0"/>
              <a:t>Именно с целью организации практической деятельности по созданию стандартов для объектных систем баз данных в июне 1991 г. был учрежден индустриальный консорциум </a:t>
            </a:r>
            <a:r>
              <a:rPr lang="en-US" altLang="ru-RU" dirty="0" smtClean="0"/>
              <a:t>Object Database Management Group</a:t>
            </a:r>
            <a:r>
              <a:rPr lang="ru-RU" altLang="ru-RU" dirty="0" smtClean="0"/>
              <a:t> (</a:t>
            </a:r>
            <a:r>
              <a:rPr lang="en-US" altLang="ru-RU" dirty="0" smtClean="0"/>
              <a:t>ODMG</a:t>
            </a:r>
            <a:r>
              <a:rPr lang="ru-RU" altLang="ru-RU" dirty="0" smtClean="0"/>
              <a:t>), который объединил всех ведущих поставщиков объектных СУБД и стал "законодателем мод" в этой области.</a:t>
            </a:r>
          </a:p>
          <a:p>
            <a:r>
              <a:rPr lang="ru-RU" altLang="ru-RU" dirty="0" smtClean="0"/>
              <a:t>В качестве исходной платформы для разработки своего стандарта объект­ных СУБД консорциум ODMG использовал:</a:t>
            </a:r>
          </a:p>
          <a:p>
            <a:r>
              <a:rPr lang="ru-RU" altLang="ru-RU" dirty="0" smtClean="0"/>
              <a:t>• Манифест систем объектно-ориентированных баз данных, в котором бы­ли определены основные свойства ООСУБД;</a:t>
            </a:r>
          </a:p>
          <a:p>
            <a:r>
              <a:rPr lang="ru-RU" altLang="ru-RU" dirty="0" smtClean="0"/>
              <a:t>• объектную модель и язык определения интерфейсов (</a:t>
            </a:r>
            <a:r>
              <a:rPr lang="en-US" altLang="ru-RU" dirty="0" smtClean="0"/>
              <a:t>IDL</a:t>
            </a:r>
            <a:r>
              <a:rPr lang="ru-RU" altLang="ru-RU" dirty="0" smtClean="0"/>
              <a:t>) стандарта OMG </a:t>
            </a:r>
            <a:r>
              <a:rPr lang="en-US" altLang="ru-RU" dirty="0" smtClean="0"/>
              <a:t>CORBA</a:t>
            </a:r>
            <a:r>
              <a:rPr lang="ru-RU" altLang="ru-RU" dirty="0" smtClean="0"/>
              <a:t> 1.0, обеспечивающего создание распределенных неоднородных </a:t>
            </a:r>
            <a:r>
              <a:rPr lang="ru-RU" altLang="ru-RU" dirty="0" err="1" smtClean="0"/>
              <a:t>интероперабельных</a:t>
            </a:r>
            <a:r>
              <a:rPr lang="ru-RU" altLang="ru-RU" dirty="0" smtClean="0"/>
              <a:t> объектных сред;</a:t>
            </a:r>
          </a:p>
          <a:p>
            <a:r>
              <a:rPr lang="ru-RU" altLang="ru-RU" dirty="0" smtClean="0"/>
              <a:t>• проект стандарта </a:t>
            </a:r>
            <a:r>
              <a:rPr lang="en-US" altLang="ru-RU" dirty="0" smtClean="0"/>
              <a:t>SQL</a:t>
            </a:r>
            <a:r>
              <a:rPr lang="ru-RU" altLang="ru-RU" dirty="0" smtClean="0"/>
              <a:t>2 (в этот период завершались работы над </a:t>
            </a:r>
            <a:r>
              <a:rPr lang="en-US" altLang="ru-RU" dirty="0" smtClean="0"/>
              <a:t>SQL</a:t>
            </a:r>
            <a:r>
              <a:rPr lang="ru-RU" altLang="ru-RU" dirty="0" smtClean="0"/>
              <a:t>-92).</a:t>
            </a:r>
          </a:p>
          <a:p>
            <a:pPr eaLnBrk="1" hangingPunct="1">
              <a:lnSpc>
                <a:spcPct val="80000"/>
              </a:lnSpc>
            </a:pPr>
            <a:r>
              <a:rPr lang="ru-RU" sz="1200" b="0" i="1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Common</a:t>
            </a:r>
            <a:r>
              <a:rPr lang="ru-RU" sz="1200" b="0" i="1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</a:t>
            </a:r>
            <a:r>
              <a:rPr lang="ru-RU" sz="1200" b="0" i="1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Object</a:t>
            </a:r>
            <a:r>
              <a:rPr lang="ru-RU" sz="1200" b="0" i="1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</a:t>
            </a:r>
            <a:r>
              <a:rPr lang="ru-RU" sz="1200" b="0" i="1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Request</a:t>
            </a:r>
            <a:r>
              <a:rPr lang="ru-RU" sz="1200" b="0" i="1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</a:t>
            </a:r>
            <a:r>
              <a:rPr lang="ru-RU" sz="1200" b="0" i="1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Broker</a:t>
            </a:r>
            <a:r>
              <a:rPr lang="ru-RU" sz="1200" b="0" i="1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</a:t>
            </a:r>
            <a:r>
              <a:rPr lang="ru-RU" sz="1200" b="0" i="1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Architecture</a:t>
            </a:r>
            <a:r>
              <a:rPr lang="ru-RU" sz="1200" b="0" i="0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 — общая архитектура брокера объектных запросов; типовая архитектура опосредованных запросов к объектам) — технологический стандарт написания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  <a:hlinkClick r:id="rId3" tooltip="Распределённые приложения (страница отсутствует)"/>
              </a:rPr>
              <a:t>распределённых приложений</a:t>
            </a:r>
            <a:r>
              <a:rPr lang="ru-RU" sz="1200" b="0" i="0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, продвигаемый консорциумом (рабочей группой)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  <a:hlinkClick r:id="rId4" tooltip="Object Management Group"/>
              </a:rPr>
              <a:t>OMG</a:t>
            </a:r>
            <a:r>
              <a:rPr lang="ru-RU" sz="1200" b="0" i="0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 и соответствующая ему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  <a:hlinkClick r:id="rId5" tooltip="Информационные технологии"/>
              </a:rPr>
              <a:t>информационная технология</a:t>
            </a:r>
            <a:r>
              <a:rPr lang="ru-RU" sz="1200" b="0" i="0" kern="120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.</a:t>
            </a:r>
            <a:endParaRPr lang="ru-RU" altLang="ru-RU" dirty="0" smtClean="0">
              <a:hlinkClick r:id="rId6"/>
            </a:endParaRPr>
          </a:p>
          <a:p>
            <a:pPr eaLnBrk="1" hangingPunct="1">
              <a:lnSpc>
                <a:spcPct val="80000"/>
              </a:lnSpc>
            </a:pPr>
            <a:r>
              <a:rPr lang="ru-RU" altLang="ru-RU" dirty="0" smtClean="0"/>
              <a:t>Главные требования к разрабатываемому </a:t>
            </a:r>
            <a:r>
              <a:rPr lang="en-US" altLang="ru-RU" dirty="0" smtClean="0"/>
              <a:t>ODMG</a:t>
            </a:r>
            <a:r>
              <a:rPr lang="ru-RU" altLang="ru-RU" dirty="0" smtClean="0"/>
              <a:t> стандарту заключались в обеспечении </a:t>
            </a:r>
            <a:r>
              <a:rPr lang="ru-RU" altLang="ru-RU" i="1" dirty="0" smtClean="0"/>
              <a:t>переносимости приложений</a:t>
            </a:r>
            <a:r>
              <a:rPr lang="ru-RU" altLang="ru-RU" dirty="0" smtClean="0"/>
              <a:t> между средами различных ООСУБД и </a:t>
            </a:r>
            <a:r>
              <a:rPr lang="ru-RU" altLang="ru-RU" i="1" dirty="0" err="1" smtClean="0"/>
              <a:t>интероперабелъности</a:t>
            </a:r>
            <a:r>
              <a:rPr lang="ru-RU" altLang="ru-RU" i="1" dirty="0" smtClean="0"/>
              <a:t> с архитектурой</a:t>
            </a:r>
            <a:r>
              <a:rPr lang="ru-RU" altLang="ru-RU" dirty="0" smtClean="0"/>
              <a:t> </a:t>
            </a:r>
            <a:r>
              <a:rPr lang="en-US" altLang="ru-RU" dirty="0" smtClean="0"/>
              <a:t>CORBA</a:t>
            </a:r>
            <a:r>
              <a:rPr lang="ru-RU" altLang="ru-RU" dirty="0" smtClean="0"/>
              <a:t>.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dirty="0" smtClean="0"/>
              <a:t>В </a:t>
            </a:r>
            <a:r>
              <a:rPr lang="ru-RU" altLang="ru-RU" b="1" dirty="0" smtClean="0"/>
              <a:t>августе 1993 г</a:t>
            </a:r>
            <a:r>
              <a:rPr lang="ru-RU" altLang="ru-RU" dirty="0" smtClean="0"/>
              <a:t>. консорциум опубликовал </a:t>
            </a:r>
            <a:r>
              <a:rPr lang="ru-RU" altLang="ru-RU" b="1" dirty="0" smtClean="0"/>
              <a:t>первую версию стандарта — </a:t>
            </a:r>
            <a:r>
              <a:rPr lang="en-US" altLang="ru-RU" b="1" dirty="0" smtClean="0"/>
              <a:t>ODMG</a:t>
            </a:r>
            <a:r>
              <a:rPr lang="ru-RU" altLang="ru-RU" b="1" dirty="0" smtClean="0"/>
              <a:t>-93 </a:t>
            </a:r>
            <a:r>
              <a:rPr lang="en-US" altLang="ru-RU" dirty="0" smtClean="0"/>
              <a:t>Release</a:t>
            </a:r>
            <a:r>
              <a:rPr lang="ru-RU" altLang="ru-RU" dirty="0" smtClean="0"/>
              <a:t> 1.0.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dirty="0" smtClean="0"/>
              <a:t>В ней содержались спецификации объектной модели, языка определения объектов, объектного языка запросов и связывания для объектных языков программирования </a:t>
            </a:r>
            <a:r>
              <a:rPr lang="en-US" altLang="ru-RU" dirty="0" smtClean="0"/>
              <a:t>Smalltalk</a:t>
            </a:r>
            <a:r>
              <a:rPr lang="ru-RU" altLang="ru-RU" dirty="0" smtClean="0"/>
              <a:t> и C++. При этом объектная модель ODMG представляла собой расширение модели-ядра стандарта </a:t>
            </a:r>
            <a:r>
              <a:rPr lang="en-US" altLang="ru-RU" dirty="0" smtClean="0"/>
              <a:t>OMG</a:t>
            </a:r>
            <a:r>
              <a:rPr lang="ru-RU" altLang="ru-RU" dirty="0" smtClean="0"/>
              <a:t> CORBA, а язык определения объектов </a:t>
            </a:r>
            <a:r>
              <a:rPr lang="en-US" altLang="ru-RU" dirty="0" smtClean="0"/>
              <a:t>ODL</a:t>
            </a:r>
            <a:r>
              <a:rPr lang="ru-RU" altLang="ru-RU" dirty="0" smtClean="0"/>
              <a:t> — соответственно расширение языка определения интерфейсов </a:t>
            </a:r>
            <a:r>
              <a:rPr lang="en-US" altLang="ru-RU" dirty="0" smtClean="0"/>
              <a:t>OMG IDL</a:t>
            </a:r>
            <a:r>
              <a:rPr lang="ru-RU" altLang="ru-RU" dirty="0" smtClean="0"/>
              <a:t>, Благодаря этому обеспечивалась естественная возможность интеграции систем баз данных, основанных на стандарте ODMG, в среду объектных технологий CORBA. Язык запросов </a:t>
            </a:r>
            <a:r>
              <a:rPr lang="en-US" altLang="ru-RU" dirty="0" smtClean="0"/>
              <a:t>OQL</a:t>
            </a:r>
            <a:r>
              <a:rPr lang="ru-RU" altLang="ru-RU" dirty="0" smtClean="0"/>
              <a:t> в стандарте явился результатом адаптации неко­торого фрагмента языка </a:t>
            </a:r>
            <a:r>
              <a:rPr lang="en-US" altLang="ru-RU" dirty="0" smtClean="0"/>
              <a:t>SQL</a:t>
            </a:r>
            <a:r>
              <a:rPr lang="ru-RU" altLang="ru-RU" dirty="0" smtClean="0"/>
              <a:t> к объектной модели ODMG.</a:t>
            </a:r>
          </a:p>
          <a:p>
            <a:r>
              <a:rPr lang="ru-RU" altLang="ru-RU" dirty="0" smtClean="0"/>
              <a:t>С их появлением спецификации ODMG-93 сразу же приобрели статус </a:t>
            </a:r>
            <a:r>
              <a:rPr lang="ru-RU" altLang="ru-RU" i="1" dirty="0" smtClean="0"/>
              <a:t>стандарта де-факто,</a:t>
            </a:r>
            <a:r>
              <a:rPr lang="ru-RU" altLang="ru-RU" dirty="0" smtClean="0"/>
              <a:t> поскольку в их создании участвовали все ведущие произ­водители объектных СУБД, которые поддерживали этот стандарт собственны­ми программными продуктами.</a:t>
            </a:r>
          </a:p>
          <a:p>
            <a:r>
              <a:rPr lang="ru-RU" altLang="ru-RU" dirty="0" smtClean="0"/>
              <a:t>В последующие годы появились промежуточная версия стандарта ODMG </a:t>
            </a:r>
            <a:r>
              <a:rPr lang="en-US" altLang="ru-RU" dirty="0" smtClean="0"/>
              <a:t>Release</a:t>
            </a:r>
            <a:r>
              <a:rPr lang="ru-RU" altLang="ru-RU" dirty="0" smtClean="0"/>
              <a:t> 1.1 (февраль 1994 г.) и одобренная в ноябре 1995 г. версия ODMG </a:t>
            </a:r>
            <a:r>
              <a:rPr lang="en-US" altLang="ru-RU" dirty="0" smtClean="0"/>
              <a:t>Release</a:t>
            </a:r>
            <a:r>
              <a:rPr lang="ru-RU" altLang="ru-RU" dirty="0" smtClean="0"/>
              <a:t> 1.2.</a:t>
            </a:r>
          </a:p>
          <a:p>
            <a:endParaRPr lang="ru-RU" altLang="ru-RU" dirty="0" smtClean="0"/>
          </a:p>
          <a:p>
            <a:r>
              <a:rPr lang="ru-RU" altLang="ru-RU" dirty="0" smtClean="0"/>
              <a:t>Следующая существенно дополненная с функциональной точки зрения версия стандарта — ODMG 2.0 была принята в июле 1997 г. К сожалению, в результате заключительного редактирования в ней появился ряд некорректностей, связанных с описанием базовой объектной модели стандарта, которые привели к ее рассогласованию с языковыми спецификациями. Это не помешало, однако, некоторым поставщикам объектных СУБД активно реализовать ряд програм­мных продуктов СУБД, основанных на данной версии стандарта.</a:t>
            </a:r>
          </a:p>
          <a:p>
            <a:pPr eaLnBrk="1" hangingPunct="1">
              <a:lnSpc>
                <a:spcPct val="80000"/>
              </a:lnSpc>
            </a:pPr>
            <a:endParaRPr lang="ru-RU" altLang="ru-RU" dirty="0" smtClean="0"/>
          </a:p>
          <a:p>
            <a:pPr eaLnBrk="1" hangingPunct="1">
              <a:lnSpc>
                <a:spcPct val="80000"/>
              </a:lnSpc>
            </a:pPr>
            <a:endParaRPr lang="ru-RU" altLang="ru-RU" dirty="0" smtClean="0">
              <a:hlinkClick r:id="rId6"/>
            </a:endParaRPr>
          </a:p>
        </p:txBody>
      </p:sp>
      <p:sp>
        <p:nvSpPr>
          <p:cNvPr id="32772" name="Номер слайда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B467A826-D347-4C98-ABE0-C5A692CCF9BC}" type="slidenum">
              <a:rPr lang="ru-RU" altLang="ru-RU" smtClean="0"/>
              <a:pPr eaLnBrk="1" hangingPunct="1"/>
              <a:t>6</a:t>
            </a:fld>
            <a:endParaRPr lang="ru-RU" altLang="ru-RU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ru-RU" altLang="ru-RU" dirty="0" smtClean="0"/>
              <a:t>Завершив этап своей деятельности, связанной с созданием версии стандарта ODMG 2.0, консорциум существенно изменил стратегию и содержание работ. В пресс-релизе от 27 апреля 1998 г. ODMG объявила о расширении сферы своей деятельности. </a:t>
            </a:r>
            <a:endParaRPr lang="en-US" altLang="ru-RU" dirty="0" smtClean="0"/>
          </a:p>
          <a:p>
            <a:r>
              <a:rPr lang="ru-RU" altLang="ru-RU" dirty="0" smtClean="0"/>
              <a:t>Наряду с поддержкой и развитием имеющегося стандарта предполагалось сосредоточить усилия на разработке спецификаций стандартов </a:t>
            </a:r>
            <a:r>
              <a:rPr lang="ru-RU" altLang="ru-RU" i="1" dirty="0" smtClean="0"/>
              <a:t>«универсального хранения объектов»</a:t>
            </a:r>
            <a:r>
              <a:rPr lang="ru-RU" altLang="ru-RU" dirty="0" smtClean="0"/>
              <a:t> для различных объектных языков программирования. </a:t>
            </a:r>
            <a:endParaRPr lang="en-US" altLang="ru-RU" dirty="0" smtClean="0"/>
          </a:p>
          <a:p>
            <a:r>
              <a:rPr lang="ru-RU" altLang="ru-RU" dirty="0" smtClean="0"/>
              <a:t>По мнению руководства ODMG, неотложная необходимость в этом вызвана, прежде всего, появлением и широким распространением языка </a:t>
            </a:r>
            <a:r>
              <a:rPr lang="en-US" altLang="ru-RU" dirty="0" smtClean="0"/>
              <a:t>Java</a:t>
            </a:r>
            <a:r>
              <a:rPr lang="ru-RU" altLang="ru-RU" dirty="0" smtClean="0"/>
              <a:t>. </a:t>
            </a:r>
            <a:endParaRPr lang="en-US" altLang="ru-RU" dirty="0" smtClean="0"/>
          </a:p>
          <a:p>
            <a:r>
              <a:rPr lang="ru-RU" altLang="ru-RU" dirty="0" smtClean="0"/>
              <a:t>Создание и использование таких стандартов позволили бы исключить потребность в средствах отображения объектов языков программирования в различные форматы хранения, облегчить перенос приложений из среды одного про­дукта, соответствующего стандарту ODMG, в среду другого такого же продукта.</a:t>
            </a:r>
          </a:p>
          <a:p>
            <a:r>
              <a:rPr lang="ru-RU" altLang="ru-RU" dirty="0" smtClean="0"/>
              <a:t>Стремясь подчеркнуть, что новая поставленная задача будет весьма значимой в деятельности ODMG и что она важна не только в рамках систем баз данных, консорциум </a:t>
            </a:r>
            <a:r>
              <a:rPr lang="en-US" altLang="ru-RU" dirty="0" smtClean="0"/>
              <a:t>Object </a:t>
            </a:r>
            <a:r>
              <a:rPr lang="en-US" altLang="ru-RU" i="1" u="sng" dirty="0" smtClean="0"/>
              <a:t>Database</a:t>
            </a:r>
            <a:r>
              <a:rPr lang="en-US" altLang="ru-RU" dirty="0" smtClean="0"/>
              <a:t> Management Group</a:t>
            </a:r>
            <a:r>
              <a:rPr lang="ru-RU" altLang="ru-RU" dirty="0" smtClean="0"/>
              <a:t> объявил об изменении своего названия. Теперь (с апреля 1998 г.) аббревиатура ODMG расшифровывается как </a:t>
            </a:r>
            <a:r>
              <a:rPr lang="en-US" altLang="ru-RU" dirty="0" smtClean="0"/>
              <a:t>Object </a:t>
            </a:r>
            <a:r>
              <a:rPr lang="en-US" altLang="ru-RU" i="1" u="sng" dirty="0" smtClean="0"/>
              <a:t>Data </a:t>
            </a:r>
            <a:r>
              <a:rPr lang="en-US" altLang="ru-RU" dirty="0" smtClean="0"/>
              <a:t>Management Group</a:t>
            </a:r>
            <a:r>
              <a:rPr lang="ru-RU" altLang="ru-RU" dirty="0" smtClean="0"/>
              <a:t>.</a:t>
            </a:r>
          </a:p>
          <a:p>
            <a:r>
              <a:rPr lang="ru-RU" altLang="ru-RU" dirty="0" smtClean="0"/>
              <a:t>Для реализации своих намерений в указанном направлении ODMG начал в 1998 г. тесно сотрудничать с компаниями </a:t>
            </a:r>
            <a:r>
              <a:rPr lang="en-US" altLang="ru-RU" dirty="0" smtClean="0"/>
              <a:t>Sun</a:t>
            </a:r>
            <a:r>
              <a:rPr lang="ru-RU" altLang="ru-RU" dirty="0" smtClean="0"/>
              <a:t>, </a:t>
            </a:r>
            <a:r>
              <a:rPr lang="en-US" altLang="ru-RU" dirty="0" smtClean="0"/>
              <a:t>Novell</a:t>
            </a:r>
            <a:r>
              <a:rPr lang="ru-RU" altLang="ru-RU" dirty="0" smtClean="0"/>
              <a:t> и </a:t>
            </a:r>
            <a:r>
              <a:rPr lang="en-US" altLang="ru-RU" dirty="0" smtClean="0"/>
              <a:t>Secant Technologies</a:t>
            </a:r>
            <a:r>
              <a:rPr lang="ru-RU" altLang="ru-RU" dirty="0" smtClean="0"/>
              <a:t> с целью выработки спецификаций сервиса </a:t>
            </a:r>
            <a:r>
              <a:rPr lang="en-US" altLang="ru-RU" dirty="0" smtClean="0"/>
              <a:t>OMG</a:t>
            </a:r>
            <a:r>
              <a:rPr lang="ru-RU" altLang="ru-RU" dirty="0" smtClean="0"/>
              <a:t> долговременно хранимых объ­ектов версии 2 (</a:t>
            </a:r>
            <a:r>
              <a:rPr lang="en-US" altLang="ru-RU" dirty="0" smtClean="0"/>
              <a:t>OMG Persistent State Service</a:t>
            </a:r>
            <a:r>
              <a:rPr lang="ru-RU" altLang="ru-RU" dirty="0" smtClean="0"/>
              <a:t> 2.0). Эти спецификации были представлены в OMG в качестве претендента на новый стандарт одного из 16 объектных сервисов, входящих в состав разработанной консорциу­мом архитектуры </a:t>
            </a:r>
            <a:r>
              <a:rPr lang="en-US" altLang="ru-RU" dirty="0" smtClean="0"/>
              <a:t>CORBA</a:t>
            </a:r>
            <a:r>
              <a:rPr lang="ru-RU" altLang="ru-RU" dirty="0" smtClean="0"/>
              <a:t>.</a:t>
            </a:r>
          </a:p>
          <a:p>
            <a:r>
              <a:rPr lang="ru-RU" altLang="ru-RU" dirty="0" smtClean="0"/>
              <a:t>В составе </a:t>
            </a:r>
            <a:r>
              <a:rPr lang="en-US" altLang="ru-RU" dirty="0" smtClean="0"/>
              <a:t>ODMG</a:t>
            </a:r>
            <a:r>
              <a:rPr lang="ru-RU" altLang="ru-RU" dirty="0" smtClean="0"/>
              <a:t> были учреждены три новые рабочие группы. </a:t>
            </a:r>
          </a:p>
          <a:p>
            <a:r>
              <a:rPr lang="ru-RU" altLang="ru-RU" b="1" dirty="0" smtClean="0"/>
              <a:t>Одна</a:t>
            </a:r>
            <a:r>
              <a:rPr lang="ru-RU" altLang="ru-RU" dirty="0" smtClean="0"/>
              <a:t> из них должна была обеспечить </a:t>
            </a:r>
            <a:r>
              <a:rPr lang="ru-RU" altLang="ru-RU" b="1" dirty="0" smtClean="0"/>
              <a:t>интеграцию спецификаций сервиса долговременного хранения объектов </a:t>
            </a:r>
            <a:r>
              <a:rPr lang="ru-RU" altLang="ru-RU" dirty="0" smtClean="0"/>
              <a:t>будущего стандарта ODMG с разрабатываемой компанией </a:t>
            </a:r>
            <a:r>
              <a:rPr lang="en-US" altLang="ru-RU" dirty="0" smtClean="0"/>
              <a:t>Sun</a:t>
            </a:r>
            <a:r>
              <a:rPr lang="ru-RU" altLang="ru-RU" dirty="0" smtClean="0"/>
              <a:t> новой спецификацией ее компонентной модели </a:t>
            </a:r>
            <a:r>
              <a:rPr lang="en-US" altLang="ru-RU" dirty="0" smtClean="0"/>
              <a:t>Enterprise JavaBeans</a:t>
            </a:r>
            <a:r>
              <a:rPr lang="ru-RU" altLang="ru-RU" dirty="0" smtClean="0"/>
              <a:t> (</a:t>
            </a:r>
            <a:r>
              <a:rPr lang="en-US" altLang="ru-RU" dirty="0" smtClean="0"/>
              <a:t>EJB</a:t>
            </a:r>
            <a:r>
              <a:rPr lang="ru-RU" altLang="ru-RU" dirty="0" smtClean="0"/>
              <a:t> 2.0). </a:t>
            </a:r>
          </a:p>
          <a:p>
            <a:r>
              <a:rPr lang="ru-RU" altLang="ru-RU" dirty="0" smtClean="0"/>
              <a:t>На </a:t>
            </a:r>
            <a:r>
              <a:rPr lang="ru-RU" altLang="ru-RU" b="1" dirty="0" smtClean="0"/>
              <a:t>две другие </a:t>
            </a:r>
            <a:r>
              <a:rPr lang="ru-RU" altLang="ru-RU" dirty="0" smtClean="0"/>
              <a:t>рабочие группы возлагались </a:t>
            </a:r>
            <a:r>
              <a:rPr lang="ru-RU" altLang="ru-RU" b="1" dirty="0" smtClean="0"/>
              <a:t>задачи разработки стандартного отображения между объектной и реляционной моделями </a:t>
            </a:r>
            <a:r>
              <a:rPr lang="ru-RU" altLang="ru-RU" dirty="0" smtClean="0"/>
              <a:t>данных, а также </a:t>
            </a:r>
            <a:r>
              <a:rPr lang="ru-RU" altLang="ru-RU" b="1" dirty="0" smtClean="0"/>
              <a:t>связывания для среды, основанной на новом языке разметки </a:t>
            </a:r>
            <a:r>
              <a:rPr lang="en-US" altLang="ru-RU" b="1" dirty="0" smtClean="0"/>
              <a:t>XML</a:t>
            </a:r>
            <a:r>
              <a:rPr lang="ru-RU" altLang="ru-RU" dirty="0" smtClean="0"/>
              <a:t>. </a:t>
            </a:r>
          </a:p>
          <a:p>
            <a:r>
              <a:rPr lang="ru-RU" altLang="ru-RU" dirty="0" smtClean="0"/>
              <a:t>Начались также работы по созданию средств сертификации для реализации предложенной ODMG спецификации связывания для </a:t>
            </a:r>
            <a:r>
              <a:rPr lang="en-US" altLang="ru-RU" dirty="0" smtClean="0"/>
              <a:t>Java</a:t>
            </a:r>
            <a:r>
              <a:rPr lang="ru-RU" altLang="ru-RU" dirty="0" smtClean="0"/>
              <a:t>, которые предпола­галось включить в следующую версию стандарта.</a:t>
            </a:r>
          </a:p>
          <a:p>
            <a:r>
              <a:rPr lang="ru-RU" altLang="ru-RU" dirty="0" smtClean="0"/>
              <a:t>Важно заметить, что ODMG предложила сообществу </a:t>
            </a:r>
            <a:r>
              <a:rPr lang="en-US" altLang="ru-RU" dirty="0" smtClean="0"/>
              <a:t>Java</a:t>
            </a:r>
            <a:r>
              <a:rPr lang="ru-RU" altLang="ru-RU" dirty="0" smtClean="0"/>
              <a:t> использовать спе­цификации связывания </a:t>
            </a:r>
            <a:r>
              <a:rPr lang="en-US" altLang="ru-RU" dirty="0" smtClean="0"/>
              <a:t>Java</a:t>
            </a:r>
            <a:r>
              <a:rPr lang="ru-RU" altLang="ru-RU" dirty="0" smtClean="0"/>
              <a:t> из стандарта ODMG как основу начавшегося про­цесса разработки спецификаций </a:t>
            </a:r>
            <a:r>
              <a:rPr lang="en-US" altLang="ru-RU" dirty="0" smtClean="0"/>
              <a:t>Java Data Object Specification</a:t>
            </a:r>
            <a:r>
              <a:rPr lang="ru-RU" altLang="ru-RU" dirty="0" smtClean="0"/>
              <a:t> (</a:t>
            </a:r>
            <a:r>
              <a:rPr lang="en-US" altLang="ru-RU" dirty="0" smtClean="0"/>
              <a:t>JDO</a:t>
            </a:r>
            <a:r>
              <a:rPr lang="ru-RU" altLang="ru-RU" dirty="0" smtClean="0"/>
              <a:t>). </a:t>
            </a:r>
          </a:p>
          <a:p>
            <a:r>
              <a:rPr lang="ru-RU" altLang="ru-RU" dirty="0" smtClean="0"/>
              <a:t>Речь идет о создании для </a:t>
            </a:r>
            <a:r>
              <a:rPr lang="en-US" altLang="ru-RU" dirty="0" smtClean="0"/>
              <a:t>Java</a:t>
            </a:r>
            <a:r>
              <a:rPr lang="ru-RU" altLang="ru-RU" dirty="0" smtClean="0"/>
              <a:t> спецификаций нового </a:t>
            </a:r>
            <a:r>
              <a:rPr lang="en-US" altLang="ru-RU" dirty="0" smtClean="0"/>
              <a:t>API</a:t>
            </a:r>
            <a:r>
              <a:rPr lang="ru-RU" altLang="ru-RU" dirty="0" smtClean="0"/>
              <a:t> высокого уровня, который позволял бы программисту полностью обходиться средствами </a:t>
            </a:r>
            <a:r>
              <a:rPr lang="en-US" altLang="ru-RU" dirty="0" smtClean="0"/>
              <a:t>Java</a:t>
            </a:r>
            <a:r>
              <a:rPr lang="ru-RU" altLang="ru-RU" dirty="0" smtClean="0"/>
              <a:t> и не обращаться к механизмам других языков, например к </a:t>
            </a:r>
            <a:r>
              <a:rPr lang="en-US" altLang="ru-RU" dirty="0" smtClean="0"/>
              <a:t>SQL</a:t>
            </a:r>
            <a:r>
              <a:rPr lang="ru-RU" altLang="ru-RU" dirty="0" smtClean="0"/>
              <a:t>, в случае использования части 1 </a:t>
            </a:r>
            <a:r>
              <a:rPr lang="en-US" altLang="ru-RU" dirty="0" smtClean="0"/>
              <a:t>SQLJ</a:t>
            </a:r>
            <a:r>
              <a:rPr lang="ru-RU" altLang="ru-RU" dirty="0" smtClean="0"/>
              <a:t>. При этом предполагается обеспечить </a:t>
            </a:r>
            <a:r>
              <a:rPr lang="ru-RU" altLang="ru-RU" i="1" dirty="0" smtClean="0"/>
              <a:t>прозрачность</a:t>
            </a:r>
            <a:r>
              <a:rPr lang="ru-RU" altLang="ru-RU" dirty="0" smtClean="0"/>
              <a:t> обращений к базе данных для доступа к долговременно хранимым объектам, </a:t>
            </a:r>
            <a:r>
              <a:rPr lang="ru-RU" altLang="ru-RU" i="1" dirty="0" smtClean="0"/>
              <a:t>транзакционную семантику</a:t>
            </a:r>
            <a:r>
              <a:rPr lang="ru-RU" altLang="ru-RU" dirty="0" smtClean="0"/>
              <a:t> для обработки объектов такого рода, а также интерпретацию данных </a:t>
            </a:r>
            <a:r>
              <a:rPr lang="ru-RU" altLang="ru-RU" i="1" dirty="0" smtClean="0"/>
              <a:t>реляционных баз данных как объектов </a:t>
            </a:r>
            <a:r>
              <a:rPr lang="en-US" altLang="ru-RU" i="1" dirty="0" smtClean="0"/>
              <a:t>Java</a:t>
            </a:r>
            <a:r>
              <a:rPr lang="ru-RU" altLang="ru-RU" dirty="0" smtClean="0"/>
              <a:t> и другие возможности.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dirty="0" smtClean="0"/>
              <a:t>Развивая новые направления своей расширенной сферы деятельности, ODMG вместе с тем продолжал работу над следующей версией поддерживаемо­го консорциумом стандарта — ODMG 3.0. Работа была завершена в конце 1999 г., а в январе 2000 г. этот стандарт был опубликован издательством </a:t>
            </a:r>
            <a:r>
              <a:rPr lang="en-US" altLang="ru-RU" dirty="0" smtClean="0"/>
              <a:t>Morgan Kaufmann Publishers</a:t>
            </a:r>
            <a:r>
              <a:rPr lang="ru-RU" altLang="ru-RU" dirty="0" smtClean="0"/>
              <a:t> под названием </a:t>
            </a:r>
            <a:r>
              <a:rPr lang="en-US" altLang="ru-RU" i="1" dirty="0" smtClean="0"/>
              <a:t>The Object Data Standard</a:t>
            </a:r>
            <a:r>
              <a:rPr lang="ru-RU" altLang="ru-RU" i="1" dirty="0" smtClean="0"/>
              <a:t>: </a:t>
            </a:r>
            <a:r>
              <a:rPr lang="en-US" altLang="ru-RU" i="1" dirty="0" smtClean="0"/>
              <a:t>ODMG</a:t>
            </a:r>
            <a:r>
              <a:rPr lang="ru-RU" altLang="ru-RU" i="1" dirty="0" smtClean="0"/>
              <a:t> 3.0</a:t>
            </a:r>
            <a:r>
              <a:rPr lang="ru-RU" altLang="ru-RU" dirty="0" smtClean="0"/>
              <a:t>. Это название в большей мере соответствует новой миссии ODMG, чем прежнее </a:t>
            </a:r>
            <a:r>
              <a:rPr lang="ru-RU" altLang="ru-RU" i="1" dirty="0" smtClean="0"/>
              <a:t>(</a:t>
            </a:r>
            <a:r>
              <a:rPr lang="en-US" altLang="ru-RU" i="1" dirty="0" smtClean="0"/>
              <a:t>Object Database Standard</a:t>
            </a:r>
            <a:r>
              <a:rPr lang="ru-RU" altLang="ru-RU" i="1" dirty="0" smtClean="0"/>
              <a:t>).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dirty="0" smtClean="0"/>
              <a:t>В отличие от предыдущих версий стандарта ODMG не публиковала проект ODMG 3.0 на своем </a:t>
            </a:r>
            <a:r>
              <a:rPr lang="ru-RU" altLang="ru-RU" dirty="0" err="1" smtClean="0"/>
              <a:t>Web</a:t>
            </a:r>
            <a:r>
              <a:rPr lang="ru-RU" altLang="ru-RU" dirty="0" smtClean="0"/>
              <a:t>-сайте для свободного предварительного ознакомления с ним заинтересованных специалистов.</a:t>
            </a:r>
          </a:p>
          <a:p>
            <a:pPr eaLnBrk="1" hangingPunct="1">
              <a:lnSpc>
                <a:spcPct val="80000"/>
              </a:lnSpc>
            </a:pPr>
            <a:endParaRPr lang="ru-RU" altLang="ru-RU" dirty="0" smtClean="0"/>
          </a:p>
          <a:p>
            <a:pPr eaLnBrk="1" hangingPunct="1">
              <a:lnSpc>
                <a:spcPct val="80000"/>
              </a:lnSpc>
            </a:pPr>
            <a:endParaRPr lang="ru-RU" altLang="ru-RU" dirty="0" smtClean="0">
              <a:hlinkClick r:id="rId3"/>
            </a:endParaRPr>
          </a:p>
        </p:txBody>
      </p:sp>
      <p:sp>
        <p:nvSpPr>
          <p:cNvPr id="33796" name="Номер слайда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F16DA9A6-CA26-4B03-9E28-8E4DB8E76C7D}" type="slidenum">
              <a:rPr lang="ru-RU" altLang="ru-RU" smtClean="0"/>
              <a:pPr eaLnBrk="1" hangingPunct="1"/>
              <a:t>7</a:t>
            </a:fld>
            <a:endParaRPr lang="ru-RU" altLang="ru-RU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Далее рассматриваются опубликованные ODMG версии стандартов для объектных баз данных. Перед этим необходимо коснуться важного вопроса о подходе ODMG к оценке соответствия программных продуктов стандартам консорциума.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Нужно здесь отметить, что ODMG решает этот вопрос нетрадиционным образом. Во-первых, предлагается дифференцированно оценивать соответствие продуктов отдельным компонентам стандарта. При этом различаются два понятия — «</a:t>
            </a:r>
            <a:r>
              <a:rPr lang="ru-RU" sz="1200" i="1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ODMG х-сертифицированный»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(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ODMG </a:t>
            </a:r>
            <a:r>
              <a:rPr lang="en-US" sz="1200" i="1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x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-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certified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) продукт и </a:t>
            </a:r>
            <a:r>
              <a:rPr lang="ru-RU" sz="1200" i="1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«ODMG х-соответствующий»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(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ODMG </a:t>
            </a:r>
            <a:r>
              <a:rPr lang="en-US" sz="1200" i="1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x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-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compliant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) продукт, где </a:t>
            </a:r>
            <a:r>
              <a:rPr lang="ru-RU" sz="1200" i="1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х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означает один из компонентов стандарта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ODMG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(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ODL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,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OQL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, связывание для языков C++,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Smalltalk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и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Java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). Первое понятие означает, что рассматриваемый программный продукт удовлетворяет всему набору разработанных ODMG тестов сертификации для компонента </a:t>
            </a:r>
            <a:r>
              <a:rPr lang="ru-RU" sz="1200" i="1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х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рассматриваемого стандарта. </a:t>
            </a:r>
            <a:endParaRPr lang="en-US" sz="120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Arial" charset="0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Вторая характе­ристика понимается для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ODL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и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OQL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как синоним </a:t>
            </a:r>
            <a:r>
              <a:rPr lang="ru-RU" sz="1200" i="1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х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-сертифицированности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продукта. </a:t>
            </a:r>
            <a:endParaRPr lang="en-US" sz="120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Arial" charset="0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Что же касается компонентов стандарта, определяющих связывания для языков программирования, то в этом случае для присваивания продукту харак­теристики "</a:t>
            </a:r>
            <a:r>
              <a:rPr lang="en-US" sz="1200" i="1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ODMG</a:t>
            </a:r>
            <a:r>
              <a:rPr lang="ru-RU" sz="1200" i="1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х-соответствующий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" достаточно, чтобы тестам удовлетворяло хотя бы подмножество спецификаций связывания (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ODL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,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OML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или OQL) для этого языка программирования.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Наряду с указанными выше оценками соответствия стандарту ODMG пред­лагается также использовать характеристику </a:t>
            </a:r>
            <a:r>
              <a:rPr lang="ru-RU" sz="1200" i="1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"ODMG-соответствующий"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для продуктов, которые являются "</a:t>
            </a:r>
            <a:r>
              <a:rPr lang="ru-RU" sz="1200" i="1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ODMG х-соответствующими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" для одного или более компонентов </a:t>
            </a:r>
            <a:r>
              <a:rPr lang="ru-RU" sz="1200" i="1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х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стандарта консорциума.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Заметим, что никакой информации о существе указанных тестов, способе их</a:t>
            </a:r>
            <a:r>
              <a:rPr lang="ru-RU" sz="1200" b="1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получения и о процедуре сертификации ODMG не сообщает.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5D22BF-934C-434E-AE80-27B157948910}" type="slidenum">
              <a:rPr lang="ru-RU" smtClean="0"/>
              <a:pPr>
                <a:defRPr/>
              </a:pPr>
              <a:t>8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0427912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u-RU" altLang="ru-RU" dirty="0" smtClean="0"/>
              <a:t>Стандарт на хранение объектов ODMG 2.0 разработан на основе трех существующих стандартов: управление базами данных (SQL), объекты (стандарты OMG - </a:t>
            </a:r>
            <a:r>
              <a:rPr lang="ru-RU" altLang="ru-RU" dirty="0" err="1" smtClean="0"/>
              <a:t>Object</a:t>
            </a:r>
            <a:r>
              <a:rPr lang="ru-RU" altLang="ru-RU" dirty="0" smtClean="0"/>
              <a:t> </a:t>
            </a:r>
            <a:r>
              <a:rPr lang="ru-RU" altLang="ru-RU" dirty="0" err="1" smtClean="0"/>
              <a:t>Management</a:t>
            </a:r>
            <a:r>
              <a:rPr lang="ru-RU" altLang="ru-RU" dirty="0" smtClean="0"/>
              <a:t> </a:t>
            </a:r>
            <a:r>
              <a:rPr lang="ru-RU" altLang="ru-RU" dirty="0" err="1" smtClean="0"/>
              <a:t>Group</a:t>
            </a:r>
            <a:r>
              <a:rPr lang="ru-RU" altLang="ru-RU" dirty="0" smtClean="0"/>
              <a:t>) и стандарты на объектно-ориентированные языки программирования (C++, </a:t>
            </a:r>
            <a:r>
              <a:rPr lang="ru-RU" altLang="ru-RU" dirty="0" err="1" smtClean="0"/>
              <a:t>Smalltalk</a:t>
            </a:r>
            <a:r>
              <a:rPr lang="ru-RU" altLang="ru-RU" dirty="0" smtClean="0"/>
              <a:t>, </a:t>
            </a:r>
            <a:r>
              <a:rPr lang="ru-RU" altLang="ru-RU" dirty="0" err="1" smtClean="0"/>
              <a:t>Java</a:t>
            </a:r>
            <a:r>
              <a:rPr lang="ru-RU" altLang="ru-RU" dirty="0" smtClean="0"/>
              <a:t>).</a:t>
            </a:r>
          </a:p>
          <a:p>
            <a:pPr eaLnBrk="1" hangingPunct="1"/>
            <a:r>
              <a:rPr lang="ru-RU" altLang="ru-RU" b="1" dirty="0" smtClean="0"/>
              <a:t>Объектная модель</a:t>
            </a:r>
            <a:r>
              <a:rPr lang="ru-RU" altLang="ru-RU" dirty="0" smtClean="0"/>
              <a:t> - унифицированная основа всего стандарта. Она расширяет объектную модель консорциума OMG (см. параграф 6.3.1) за счет введения таких свойств как связи и транзакции для обеспечения функциональности, требуемой при взаимодействии с базами данных. </a:t>
            </a:r>
          </a:p>
          <a:p>
            <a:pPr eaLnBrk="1" hangingPunct="1"/>
            <a:r>
              <a:rPr lang="ru-RU" altLang="ru-RU" dirty="0" smtClean="0"/>
              <a:t>Ключевые концепции объектной модели ODMG: </a:t>
            </a:r>
          </a:p>
          <a:p>
            <a:pPr eaLnBrk="1" hangingPunct="1"/>
            <a:r>
              <a:rPr lang="ru-RU" altLang="ru-RU" dirty="0" smtClean="0"/>
              <a:t>- наделение объектов такими свойствами как атрибуты и связи </a:t>
            </a:r>
          </a:p>
          <a:p>
            <a:pPr eaLnBrk="1" hangingPunct="1"/>
            <a:r>
              <a:rPr lang="ru-RU" altLang="ru-RU" dirty="0" smtClean="0"/>
              <a:t>- методы объектов (поведение) </a:t>
            </a:r>
          </a:p>
          <a:p>
            <a:pPr eaLnBrk="1" hangingPunct="1"/>
            <a:r>
              <a:rPr lang="ru-RU" altLang="ru-RU" dirty="0" smtClean="0"/>
              <a:t>- множественное наследование </a:t>
            </a:r>
          </a:p>
          <a:p>
            <a:pPr eaLnBrk="1" hangingPunct="1"/>
            <a:r>
              <a:rPr lang="ru-RU" altLang="ru-RU" dirty="0" smtClean="0"/>
              <a:t>- идентификаторы объектов (ключи) </a:t>
            </a:r>
          </a:p>
          <a:p>
            <a:pPr eaLnBrk="1" hangingPunct="1"/>
            <a:r>
              <a:rPr lang="ru-RU" altLang="ru-RU" dirty="0" smtClean="0"/>
              <a:t>- определение таких совокупностей объектов как списки, наборы, массивы и т.д. </a:t>
            </a:r>
          </a:p>
          <a:p>
            <a:pPr eaLnBrk="1" hangingPunct="1"/>
            <a:r>
              <a:rPr lang="ru-RU" altLang="ru-RU" dirty="0" smtClean="0"/>
              <a:t>- блокировка объектов и изоляция доступа </a:t>
            </a:r>
          </a:p>
          <a:p>
            <a:pPr eaLnBrk="1" hangingPunct="1"/>
            <a:r>
              <a:rPr lang="ru-RU" altLang="ru-RU" dirty="0" smtClean="0"/>
              <a:t>- операции над базой данных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5D22BF-934C-434E-AE80-27B157948910}" type="slidenum">
              <a:rPr lang="ru-RU" smtClean="0"/>
              <a:pPr>
                <a:defRPr/>
              </a:pPr>
              <a:t>10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4279462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u-RU" altLang="ru-RU" dirty="0" smtClean="0"/>
              <a:t>Стандарт на хранение объектов ODMG 2.0 разработан на основе трех существующих стандартов: управление базами данных (SQL), объекты (стандарты OMG - </a:t>
            </a:r>
            <a:r>
              <a:rPr lang="ru-RU" altLang="ru-RU" dirty="0" err="1" smtClean="0"/>
              <a:t>Object</a:t>
            </a:r>
            <a:r>
              <a:rPr lang="ru-RU" altLang="ru-RU" dirty="0" smtClean="0"/>
              <a:t> </a:t>
            </a:r>
            <a:r>
              <a:rPr lang="ru-RU" altLang="ru-RU" dirty="0" err="1" smtClean="0"/>
              <a:t>Management</a:t>
            </a:r>
            <a:r>
              <a:rPr lang="ru-RU" altLang="ru-RU" dirty="0" smtClean="0"/>
              <a:t> </a:t>
            </a:r>
            <a:r>
              <a:rPr lang="ru-RU" altLang="ru-RU" dirty="0" err="1" smtClean="0"/>
              <a:t>Group</a:t>
            </a:r>
            <a:r>
              <a:rPr lang="ru-RU" altLang="ru-RU" dirty="0" smtClean="0"/>
              <a:t>) и стандарты на объектно-ориентированные языки программирования (C++, </a:t>
            </a:r>
            <a:r>
              <a:rPr lang="ru-RU" altLang="ru-RU" dirty="0" err="1" smtClean="0"/>
              <a:t>Smalltalk</a:t>
            </a:r>
            <a:r>
              <a:rPr lang="ru-RU" altLang="ru-RU" dirty="0" smtClean="0"/>
              <a:t>, </a:t>
            </a:r>
            <a:r>
              <a:rPr lang="ru-RU" altLang="ru-RU" dirty="0" err="1" smtClean="0"/>
              <a:t>Java</a:t>
            </a:r>
            <a:r>
              <a:rPr lang="ru-RU" altLang="ru-RU" dirty="0" smtClean="0"/>
              <a:t>).</a:t>
            </a:r>
          </a:p>
          <a:p>
            <a:pPr eaLnBrk="1" hangingPunct="1"/>
            <a:r>
              <a:rPr lang="ru-RU" altLang="ru-RU" b="1" dirty="0" smtClean="0"/>
              <a:t>Объектная модель</a:t>
            </a:r>
            <a:r>
              <a:rPr lang="ru-RU" altLang="ru-RU" dirty="0" smtClean="0"/>
              <a:t> - унифицированная основа всего стандарта. Она расширяет объектную модель консорциума OMG (см. параграф 6.3.1) за счет введения таких свойств как связи и транзакции для обеспечения функциональности, требуемой при взаимодействии с базами данных. </a:t>
            </a:r>
          </a:p>
          <a:p>
            <a:pPr eaLnBrk="1" hangingPunct="1"/>
            <a:r>
              <a:rPr lang="ru-RU" altLang="ru-RU" dirty="0" smtClean="0"/>
              <a:t>Ключевые концепции объектной модели ODMG: </a:t>
            </a:r>
          </a:p>
          <a:p>
            <a:pPr eaLnBrk="1" hangingPunct="1"/>
            <a:r>
              <a:rPr lang="ru-RU" altLang="ru-RU" dirty="0" smtClean="0"/>
              <a:t>- наделение объектов такими свойствами как атрибуты и связи </a:t>
            </a:r>
          </a:p>
          <a:p>
            <a:pPr eaLnBrk="1" hangingPunct="1"/>
            <a:r>
              <a:rPr lang="ru-RU" altLang="ru-RU" dirty="0" smtClean="0"/>
              <a:t>- методы объектов (поведение) </a:t>
            </a:r>
          </a:p>
          <a:p>
            <a:pPr eaLnBrk="1" hangingPunct="1"/>
            <a:r>
              <a:rPr lang="ru-RU" altLang="ru-RU" dirty="0" smtClean="0"/>
              <a:t>- множественное наследование </a:t>
            </a:r>
          </a:p>
          <a:p>
            <a:pPr eaLnBrk="1" hangingPunct="1"/>
            <a:r>
              <a:rPr lang="ru-RU" altLang="ru-RU" dirty="0" smtClean="0"/>
              <a:t>- идентификаторы объектов (ключи) </a:t>
            </a:r>
          </a:p>
          <a:p>
            <a:pPr eaLnBrk="1" hangingPunct="1"/>
            <a:r>
              <a:rPr lang="ru-RU" altLang="ru-RU" dirty="0" smtClean="0"/>
              <a:t>- определение таких совокупностей объектов как списки, наборы, массивы и т.д. </a:t>
            </a:r>
          </a:p>
          <a:p>
            <a:pPr eaLnBrk="1" hangingPunct="1"/>
            <a:r>
              <a:rPr lang="ru-RU" altLang="ru-RU" dirty="0" smtClean="0"/>
              <a:t>- блокировка объектов и изоляция доступа </a:t>
            </a:r>
          </a:p>
          <a:p>
            <a:pPr eaLnBrk="1" hangingPunct="1"/>
            <a:r>
              <a:rPr lang="ru-RU" altLang="ru-RU" dirty="0" smtClean="0"/>
              <a:t>- операции над базой данных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5D22BF-934C-434E-AE80-27B157948910}" type="slidenum">
              <a:rPr lang="ru-RU" smtClean="0"/>
              <a:pPr>
                <a:defRPr/>
              </a:pPr>
              <a:t>11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4030393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499DBFF-667C-4720-9AEA-DB65F765B9E0}" type="slidenum">
              <a:rPr lang="ru-RU" altLang="ru-RU" smtClean="0"/>
              <a:pPr eaLnBrk="1" hangingPunct="1">
                <a:spcBef>
                  <a:spcPct val="0"/>
                </a:spcBef>
              </a:pPr>
              <a:t>12</a:t>
            </a:fld>
            <a:endParaRPr lang="ru-RU" altLang="ru-RU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 dirty="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499DBFF-667C-4720-9AEA-DB65F765B9E0}" type="slidenum">
              <a:rPr lang="ru-RU" altLang="ru-RU" smtClean="0"/>
              <a:pPr eaLnBrk="1" hangingPunct="1">
                <a:spcBef>
                  <a:spcPct val="0"/>
                </a:spcBef>
              </a:pPr>
              <a:t>13</a:t>
            </a:fld>
            <a:endParaRPr lang="ru-RU" altLang="ru-RU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 dirty="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499DBFF-667C-4720-9AEA-DB65F765B9E0}" type="slidenum">
              <a:rPr lang="ru-RU" altLang="ru-RU" smtClean="0"/>
              <a:pPr eaLnBrk="1" hangingPunct="1">
                <a:spcBef>
                  <a:spcPct val="0"/>
                </a:spcBef>
              </a:pPr>
              <a:t>14</a:t>
            </a:fld>
            <a:endParaRPr lang="ru-RU" altLang="ru-RU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 dirty="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6EAF172-8C88-424D-9268-D5399F331222}" type="slidenum">
              <a:rPr lang="ru-RU" altLang="ru-RU" smtClean="0"/>
              <a:pPr eaLnBrk="1" hangingPunct="1">
                <a:spcBef>
                  <a:spcPct val="0"/>
                </a:spcBef>
              </a:pPr>
              <a:t>15</a:t>
            </a:fld>
            <a:endParaRPr lang="ru-RU" altLang="ru-RU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ru-RU" altLang="ru-RU" b="1" smtClean="0"/>
              <a:t>Язык описания объектов</a:t>
            </a:r>
            <a:r>
              <a:rPr lang="ru-RU" altLang="ru-RU" smtClean="0"/>
              <a:t> (ODL - Object Defifnition Language) - средство определения схемы базы данных (по аналогии с DDL в реляционных СУБД). ODL является расширением IDL (Interface Definition Language - язык описания интерфейсов) модели OMG и предоставляет средства для определения объектных типов, их атрибутов, связей и методов. ODL создает слой абстрактных описаний так, что схема базы данных становится независима как от языка программирования, так и от СУБД. ODL рассматривает только описание объектных типов данных, не вдаваясь в детали реализации их методов. Это позволяет переносить схему БД между различными ODMG-совместимыми СУБД и языками программирования, а также транслировать ее в другие DDL. 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78E8FC4-C389-46E9-874B-5286E9175F9A}" type="slidenum">
              <a:rPr lang="ru-RU" altLang="ru-RU" smtClean="0"/>
              <a:pPr eaLnBrk="1" hangingPunct="1">
                <a:spcBef>
                  <a:spcPct val="0"/>
                </a:spcBef>
              </a:pPr>
              <a:t>16</a:t>
            </a:fld>
            <a:endParaRPr lang="ru-RU" altLang="ru-RU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r>
              <a:rPr lang="ru-RU" altLang="ru-RU" smtClean="0"/>
              <a:t>Язык </a:t>
            </a:r>
            <a:r>
              <a:rPr lang="en-US" altLang="ru-RU" smtClean="0"/>
              <a:t>ODL </a:t>
            </a:r>
            <a:r>
              <a:rPr lang="ru-RU" altLang="ru-RU" smtClean="0"/>
              <a:t>предлагает в распоряжение проектировщика баз данных систему определения типов, аналогичную тем, которые реализованы в С и других традиционных языках программирования. Система основана на наборе существующих </a:t>
            </a:r>
            <a:r>
              <a:rPr lang="ru-RU" altLang="ru-RU" i="1" smtClean="0"/>
              <a:t>базовых типов </a:t>
            </a:r>
            <a:r>
              <a:rPr lang="ru-RU" altLang="ru-RU" smtClean="0"/>
              <a:t>(</a:t>
            </a:r>
            <a:r>
              <a:rPr lang="en-US" altLang="ru-RU" smtClean="0"/>
              <a:t>basic types</a:t>
            </a:r>
            <a:r>
              <a:rPr lang="ru-RU" altLang="ru-RU" smtClean="0"/>
              <a:t>) и предусматривает возможность использования некоторых рекурсивных правил, позволяющих создавать сложные типы из более простых. К категории базовых относятся типы </a:t>
            </a:r>
            <a:r>
              <a:rPr lang="en-US" altLang="ru-RU" smtClean="0"/>
              <a:t>ODL</a:t>
            </a:r>
            <a:r>
              <a:rPr lang="ru-RU" altLang="ru-RU" smtClean="0"/>
              <a:t>, указанные ниже.</a:t>
            </a:r>
            <a:endParaRPr lang="ru-RU" altLang="ru-RU" i="1" smtClean="0"/>
          </a:p>
          <a:p>
            <a:pPr marL="228600" indent="-228600" eaLnBrk="1" hangingPunct="1"/>
            <a:r>
              <a:rPr lang="ru-RU" altLang="ru-RU" i="1" smtClean="0"/>
              <a:t>Атомарные типы </a:t>
            </a:r>
            <a:r>
              <a:rPr lang="ru-RU" altLang="ru-RU" smtClean="0"/>
              <a:t>(</a:t>
            </a:r>
            <a:r>
              <a:rPr lang="en-US" altLang="ru-RU" smtClean="0"/>
              <a:t>atomic types</a:t>
            </a:r>
            <a:r>
              <a:rPr lang="ru-RU" altLang="ru-RU" smtClean="0"/>
              <a:t>): </a:t>
            </a:r>
            <a:r>
              <a:rPr lang="en-US" altLang="ru-RU" smtClean="0"/>
              <a:t>integer </a:t>
            </a:r>
            <a:r>
              <a:rPr lang="ru-RU" altLang="ru-RU" smtClean="0"/>
              <a:t>(целое число), </a:t>
            </a:r>
            <a:r>
              <a:rPr lang="en-US" altLang="ru-RU" smtClean="0"/>
              <a:t>float </a:t>
            </a:r>
            <a:r>
              <a:rPr lang="ru-RU" altLang="ru-RU" smtClean="0"/>
              <a:t>(вещественное число с плавающей запятой), </a:t>
            </a:r>
            <a:r>
              <a:rPr lang="en-US" altLang="ru-RU" smtClean="0"/>
              <a:t>character </a:t>
            </a:r>
            <a:r>
              <a:rPr lang="ru-RU" altLang="ru-RU" smtClean="0"/>
              <a:t>(символ), </a:t>
            </a:r>
            <a:r>
              <a:rPr lang="en-US" altLang="ru-RU" smtClean="0"/>
              <a:t>string </a:t>
            </a:r>
            <a:r>
              <a:rPr lang="ru-RU" altLang="ru-RU" smtClean="0"/>
              <a:t>(строка символов) </a:t>
            </a:r>
            <a:r>
              <a:rPr lang="en-US" altLang="ru-RU" smtClean="0"/>
              <a:t>boolean </a:t>
            </a:r>
            <a:r>
              <a:rPr lang="ru-RU" altLang="ru-RU" smtClean="0"/>
              <a:t>(бинарное логическое значение) и </a:t>
            </a:r>
            <a:r>
              <a:rPr lang="ru-RU" altLang="ru-RU" i="1" smtClean="0"/>
              <a:t>перечислимые типы </a:t>
            </a:r>
            <a:r>
              <a:rPr lang="ru-RU" altLang="ru-RU" smtClean="0"/>
              <a:t>(</a:t>
            </a:r>
            <a:r>
              <a:rPr lang="en-US" altLang="ru-RU" smtClean="0"/>
              <a:t>enumerations</a:t>
            </a:r>
            <a:r>
              <a:rPr lang="ru-RU" altLang="ru-RU" smtClean="0"/>
              <a:t>). Последние представляют собой списки имен, обозначающих абстрактные зна­чения. Примером перечислимого типа может служить тип </a:t>
            </a:r>
            <a:r>
              <a:rPr lang="en-US" altLang="ru-RU" smtClean="0"/>
              <a:t>Film</a:t>
            </a:r>
            <a:r>
              <a:rPr lang="ru-RU" altLang="ru-RU" smtClean="0"/>
              <a:t>, объявление которого приведено в строке 5 на рис. 4.3 (см. с. 157).</a:t>
            </a:r>
            <a:endParaRPr lang="ru-RU" altLang="ru-RU" i="1" smtClean="0"/>
          </a:p>
          <a:p>
            <a:pPr marL="228600" indent="-228600" eaLnBrk="1" hangingPunct="1"/>
            <a:r>
              <a:rPr lang="ru-RU" altLang="ru-RU" i="1" smtClean="0"/>
              <a:t>Классы </a:t>
            </a:r>
            <a:r>
              <a:rPr lang="ru-RU" altLang="ru-RU" smtClean="0"/>
              <a:t>(</a:t>
            </a:r>
            <a:r>
              <a:rPr lang="en-US" altLang="ru-RU" smtClean="0"/>
              <a:t>classes</a:t>
            </a:r>
            <a:r>
              <a:rPr lang="ru-RU" altLang="ru-RU" smtClean="0"/>
              <a:t>), такие как </a:t>
            </a:r>
            <a:r>
              <a:rPr lang="en-US" altLang="ru-RU" smtClean="0"/>
              <a:t>Movie </a:t>
            </a:r>
            <a:r>
              <a:rPr lang="ru-RU" altLang="ru-RU" smtClean="0"/>
              <a:t>или </a:t>
            </a:r>
            <a:r>
              <a:rPr lang="en-US" altLang="ru-RU" smtClean="0"/>
              <a:t>star</a:t>
            </a:r>
            <a:r>
              <a:rPr lang="ru-RU" altLang="ru-RU" smtClean="0"/>
              <a:t>, — типы, по существу являющиеся структурами, которые содержат компоненты для каждого атрибута или связи, представленных в объявлении класса.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D062B91-B47F-4F60-99B3-1006C0D172BA}" type="slidenum">
              <a:rPr lang="ru-RU" altLang="ru-RU" smtClean="0"/>
              <a:pPr eaLnBrk="1" hangingPunct="1">
                <a:spcBef>
                  <a:spcPct val="0"/>
                </a:spcBef>
              </a:pPr>
              <a:t>17</a:t>
            </a:fld>
            <a:endParaRPr lang="ru-RU" altLang="ru-RU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>
              <a:lnSpc>
                <a:spcPct val="90000"/>
              </a:lnSpc>
            </a:pPr>
            <a:r>
              <a:rPr lang="en-US" altLang="ru-RU" i="1" dirty="0" smtClean="0"/>
              <a:t>Set </a:t>
            </a:r>
            <a:r>
              <a:rPr lang="ru-RU" altLang="ru-RU" dirty="0" smtClean="0"/>
              <a:t>(множество). Пусть Т — произвольный тип; тогда выражение </a:t>
            </a:r>
            <a:r>
              <a:rPr lang="en-US" altLang="ru-RU" dirty="0" smtClean="0"/>
              <a:t>set</a:t>
            </a:r>
            <a:r>
              <a:rPr lang="ru-RU" altLang="ru-RU" dirty="0" smtClean="0"/>
              <a:t>&lt;</a:t>
            </a:r>
            <a:r>
              <a:rPr lang="en-US" altLang="ru-RU" dirty="0" smtClean="0"/>
              <a:t>T</a:t>
            </a:r>
            <a:r>
              <a:rPr lang="ru-RU" altLang="ru-RU" dirty="0" smtClean="0"/>
              <a:t>&gt; представляет тип, значениями которого являются конечные множества элементов типа Т. Примеры объявлений этого типа содержатся в строках 6, 11 и 15 рис. 4.3.</a:t>
            </a:r>
            <a:endParaRPr lang="en-US" altLang="ru-RU" i="1" dirty="0" smtClean="0"/>
          </a:p>
          <a:p>
            <a:pPr marL="228600" indent="-228600" eaLnBrk="1" hangingPunct="1">
              <a:lnSpc>
                <a:spcPct val="90000"/>
              </a:lnSpc>
            </a:pPr>
            <a:r>
              <a:rPr lang="en-US" altLang="ru-RU" i="1" dirty="0" smtClean="0"/>
              <a:t>Bag </a:t>
            </a:r>
            <a:r>
              <a:rPr lang="ru-RU" altLang="ru-RU" dirty="0" smtClean="0"/>
              <a:t>(мультимножество). Пусть </a:t>
            </a:r>
            <a:r>
              <a:rPr lang="ru-RU" altLang="ru-RU" i="1" dirty="0" smtClean="0"/>
              <a:t>Т </a:t>
            </a:r>
            <a:r>
              <a:rPr lang="ru-RU" altLang="ru-RU" dirty="0" smtClean="0"/>
              <a:t>— произвольный тип; тогда выражение </a:t>
            </a:r>
            <a:r>
              <a:rPr lang="en-US" altLang="ru-RU" dirty="0" smtClean="0"/>
              <a:t>Bag</a:t>
            </a:r>
            <a:r>
              <a:rPr lang="ru-RU" altLang="ru-RU" dirty="0" smtClean="0"/>
              <a:t>&lt;</a:t>
            </a:r>
            <a:r>
              <a:rPr lang="en-US" altLang="ru-RU" dirty="0" smtClean="0"/>
              <a:t>T</a:t>
            </a:r>
            <a:r>
              <a:rPr lang="ru-RU" altLang="ru-RU" dirty="0" smtClean="0"/>
              <a:t>&gt; представляет тип, значениями которого являются конечные мультимножества элементов типа </a:t>
            </a:r>
            <a:r>
              <a:rPr lang="ru-RU" altLang="ru-RU" i="1" dirty="0" smtClean="0"/>
              <a:t>Т. </a:t>
            </a:r>
            <a:r>
              <a:rPr lang="ru-RU" altLang="ru-RU" dirty="0" smtClean="0"/>
              <a:t>Мультимножество допускает возможность включения одина­ковых элементов. Например, {</a:t>
            </a:r>
            <a:r>
              <a:rPr lang="en-US" altLang="ru-RU" dirty="0" smtClean="0"/>
              <a:t>1,</a:t>
            </a:r>
            <a:r>
              <a:rPr lang="ru-RU" altLang="ru-RU" dirty="0" smtClean="0"/>
              <a:t>2,1} представляет собой мультимножество, но не множество, поскольку элемент 1 присутствует дважды.</a:t>
            </a:r>
            <a:endParaRPr lang="en-US" altLang="ru-RU" i="1" dirty="0" smtClean="0"/>
          </a:p>
          <a:p>
            <a:pPr marL="228600" indent="-228600" eaLnBrk="1" hangingPunct="1">
              <a:lnSpc>
                <a:spcPct val="90000"/>
              </a:lnSpc>
            </a:pPr>
            <a:r>
              <a:rPr lang="en-US" altLang="ru-RU" i="1" dirty="0" smtClean="0"/>
              <a:t>List </a:t>
            </a:r>
            <a:r>
              <a:rPr lang="ru-RU" altLang="ru-RU" dirty="0" smtClean="0"/>
              <a:t>(список). Пусть </a:t>
            </a:r>
            <a:r>
              <a:rPr lang="ru-RU" altLang="ru-RU" i="1" dirty="0" smtClean="0"/>
              <a:t>Т </a:t>
            </a:r>
            <a:r>
              <a:rPr lang="ru-RU" altLang="ru-RU" dirty="0" smtClean="0"/>
              <a:t>- произвольный тип; тогда выражение </a:t>
            </a:r>
            <a:r>
              <a:rPr lang="en-US" altLang="ru-RU" dirty="0" smtClean="0"/>
              <a:t>List</a:t>
            </a:r>
            <a:r>
              <a:rPr lang="ru-RU" altLang="ru-RU" dirty="0" smtClean="0"/>
              <a:t>&lt;</a:t>
            </a:r>
            <a:r>
              <a:rPr lang="en-US" altLang="ru-RU" dirty="0" smtClean="0"/>
              <a:t>T</a:t>
            </a:r>
            <a:r>
              <a:rPr lang="ru-RU" altLang="ru-RU" dirty="0" smtClean="0"/>
              <a:t>&gt; представляет тип, значениями которого являются конечные списки, состоящие из нулевого или любого другого количества элементов типа </a:t>
            </a:r>
            <a:r>
              <a:rPr lang="ru-RU" altLang="ru-RU" i="1" dirty="0" smtClean="0"/>
              <a:t>Т. </a:t>
            </a:r>
            <a:r>
              <a:rPr lang="ru-RU" altLang="ru-RU" dirty="0" smtClean="0"/>
              <a:t>Для обозначения типа </a:t>
            </a:r>
            <a:r>
              <a:rPr lang="en-US" altLang="ru-RU" dirty="0" smtClean="0"/>
              <a:t>List</a:t>
            </a:r>
            <a:r>
              <a:rPr lang="ru-RU" altLang="ru-RU" dirty="0" smtClean="0"/>
              <a:t>&lt;</a:t>
            </a:r>
            <a:r>
              <a:rPr lang="en-US" altLang="ru-RU" dirty="0" smtClean="0"/>
              <a:t>char</a:t>
            </a:r>
            <a:r>
              <a:rPr lang="ru-RU" altLang="ru-RU" dirty="0" smtClean="0"/>
              <a:t>&gt; существует сокращенная форма записи - </a:t>
            </a:r>
            <a:r>
              <a:rPr lang="en-US" altLang="ru-RU" dirty="0" smtClean="0"/>
              <a:t>string</a:t>
            </a:r>
            <a:r>
              <a:rPr lang="ru-RU" altLang="ru-RU" dirty="0" smtClean="0"/>
              <a:t>.</a:t>
            </a:r>
            <a:endParaRPr lang="en-US" altLang="ru-RU" i="1" dirty="0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77491FA-9568-44C2-B542-C9944A35275E}" type="slidenum">
              <a:rPr lang="ru-RU" altLang="ru-RU" smtClean="0"/>
              <a:pPr eaLnBrk="1" hangingPunct="1">
                <a:spcBef>
                  <a:spcPct val="0"/>
                </a:spcBef>
              </a:pPr>
              <a:t>18</a:t>
            </a:fld>
            <a:endParaRPr lang="ru-RU" altLang="ru-RU" smtClean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ru-RU" i="1" smtClean="0"/>
              <a:t>Array </a:t>
            </a:r>
            <a:r>
              <a:rPr lang="ru-RU" altLang="ru-RU" smtClean="0"/>
              <a:t>(массив). Пусть </a:t>
            </a:r>
            <a:r>
              <a:rPr lang="ru-RU" altLang="ru-RU" i="1" smtClean="0"/>
              <a:t>Т- </a:t>
            </a:r>
            <a:r>
              <a:rPr lang="ru-RU" altLang="ru-RU" smtClean="0"/>
              <a:t>произвольный тип и </a:t>
            </a:r>
            <a:r>
              <a:rPr lang="en-US" altLang="ru-RU" i="1" smtClean="0"/>
              <a:t>i</a:t>
            </a:r>
            <a:r>
              <a:rPr lang="ru-RU" altLang="ru-RU" smtClean="0"/>
              <a:t> - целое число; тогда А</a:t>
            </a:r>
            <a:r>
              <a:rPr lang="en-US" altLang="ru-RU" smtClean="0"/>
              <a:t>rr</a:t>
            </a:r>
            <a:r>
              <a:rPr lang="ru-RU" altLang="ru-RU" smtClean="0"/>
              <a:t>ау&lt;</a:t>
            </a:r>
            <a:r>
              <a:rPr lang="en-US" altLang="ru-RU" smtClean="0"/>
              <a:t>T</a:t>
            </a:r>
            <a:r>
              <a:rPr lang="ru-RU" altLang="ru-RU" smtClean="0"/>
              <a:t>,</a:t>
            </a:r>
            <a:r>
              <a:rPr lang="en-US" altLang="ru-RU" smtClean="0"/>
              <a:t>i</a:t>
            </a:r>
            <a:r>
              <a:rPr lang="ru-RU" altLang="ru-RU" smtClean="0"/>
              <a:t>&gt; представляет тип, значениями которого являются массивы из </a:t>
            </a:r>
            <a:r>
              <a:rPr lang="en-US" altLang="ru-RU" i="1" smtClean="0"/>
              <a:t>i </a:t>
            </a:r>
            <a:r>
              <a:rPr lang="ru-RU" altLang="ru-RU" smtClean="0"/>
              <a:t>элементов типа </a:t>
            </a:r>
            <a:r>
              <a:rPr lang="en-US" altLang="ru-RU" smtClean="0"/>
              <a:t>T</a:t>
            </a:r>
            <a:r>
              <a:rPr lang="ru-RU" altLang="ru-RU" smtClean="0"/>
              <a:t>. Например, выражение </a:t>
            </a:r>
            <a:r>
              <a:rPr lang="en-US" altLang="ru-RU" smtClean="0"/>
              <a:t>Array</a:t>
            </a:r>
            <a:r>
              <a:rPr lang="ru-RU" altLang="ru-RU" smtClean="0"/>
              <a:t>&lt;</a:t>
            </a:r>
            <a:r>
              <a:rPr lang="en-US" altLang="ru-RU" smtClean="0"/>
              <a:t>char</a:t>
            </a:r>
            <a:r>
              <a:rPr lang="ru-RU" altLang="ru-RU" smtClean="0"/>
              <a:t>, 10 &gt; обозначает строки, состоящие из 10 символов.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ru-RU" i="1" smtClean="0"/>
              <a:t>Dictionary </a:t>
            </a:r>
            <a:r>
              <a:rPr lang="ru-RU" altLang="ru-RU" smtClean="0"/>
              <a:t>(словарь). Пусть </a:t>
            </a:r>
            <a:r>
              <a:rPr lang="en-US" altLang="ru-RU" smtClean="0"/>
              <a:t>T </a:t>
            </a:r>
            <a:r>
              <a:rPr lang="ru-RU" altLang="ru-RU" smtClean="0"/>
              <a:t>и </a:t>
            </a:r>
            <a:r>
              <a:rPr lang="en-US" altLang="ru-RU" i="1" smtClean="0"/>
              <a:t>S </a:t>
            </a:r>
            <a:r>
              <a:rPr lang="ru-RU" altLang="ru-RU" smtClean="0"/>
              <a:t>- произвольные  типы; тогда </a:t>
            </a:r>
            <a:r>
              <a:rPr lang="en-US" altLang="ru-RU" smtClean="0"/>
              <a:t>Dictionary</a:t>
            </a:r>
            <a:r>
              <a:rPr lang="ru-RU" altLang="ru-RU" smtClean="0"/>
              <a:t>&lt; </a:t>
            </a:r>
            <a:r>
              <a:rPr lang="en-US" altLang="ru-RU" smtClean="0"/>
              <a:t>T</a:t>
            </a:r>
            <a:r>
              <a:rPr lang="ru-RU" altLang="ru-RU" smtClean="0"/>
              <a:t>,</a:t>
            </a:r>
            <a:r>
              <a:rPr lang="en-US" altLang="ru-RU" smtClean="0"/>
              <a:t>S</a:t>
            </a:r>
            <a:r>
              <a:rPr lang="ru-RU" altLang="ru-RU" smtClean="0"/>
              <a:t>&gt; представляет тип, значениями которого являются конечные множества пар вида </a:t>
            </a:r>
            <a:r>
              <a:rPr lang="ru-RU" altLang="ru-RU" i="1" smtClean="0"/>
              <a:t>ключ/значения</a:t>
            </a:r>
            <a:r>
              <a:rPr lang="ru-RU" altLang="ru-RU" smtClean="0"/>
              <a:t> (ключи относятся к типу Т, а значения – типу </a:t>
            </a:r>
            <a:r>
              <a:rPr lang="en-US" altLang="ru-RU" smtClean="0"/>
              <a:t>S</a:t>
            </a:r>
            <a:r>
              <a:rPr lang="ru-RU" altLang="ru-RU" smtClean="0"/>
              <a:t>).</a:t>
            </a:r>
            <a:r>
              <a:rPr lang="en-US" altLang="ru-RU" smtClean="0"/>
              <a:t> </a:t>
            </a:r>
            <a:r>
              <a:rPr lang="ru-RU" altLang="ru-RU" smtClean="0"/>
              <a:t>Словарь не должен содержать двух пар </a:t>
            </a:r>
            <a:r>
              <a:rPr lang="ru-RU" altLang="ru-RU" b="1" smtClean="0"/>
              <a:t>с </a:t>
            </a:r>
            <a:r>
              <a:rPr lang="ru-RU" altLang="ru-RU" smtClean="0"/>
              <a:t>одинаковым ключом. Словарь реализуются таким образом, чтобы операция поиска значения типа </a:t>
            </a:r>
            <a:r>
              <a:rPr lang="en-US" altLang="ru-RU" smtClean="0"/>
              <a:t>S </a:t>
            </a:r>
            <a:r>
              <a:rPr lang="ru-RU" altLang="ru-RU" smtClean="0"/>
              <a:t>по </a:t>
            </a:r>
            <a:r>
              <a:rPr lang="ru-RU" altLang="ru-RU" i="1" smtClean="0"/>
              <a:t>задан</a:t>
            </a:r>
            <a:r>
              <a:rPr lang="ru-RU" altLang="ru-RU" smtClean="0"/>
              <a:t>ному ключу типа Т выполнялась эффективно.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mtClean="0"/>
              <a:t> </a:t>
            </a:r>
            <a:r>
              <a:rPr lang="en-US" altLang="ru-RU" i="1" smtClean="0"/>
              <a:t>Structure</a:t>
            </a:r>
            <a:r>
              <a:rPr lang="en-US" altLang="ru-RU" smtClean="0"/>
              <a:t> </a:t>
            </a:r>
            <a:r>
              <a:rPr lang="ru-RU" altLang="ru-RU" smtClean="0"/>
              <a:t>(структура). Пусть </a:t>
            </a:r>
            <a:r>
              <a:rPr lang="en-US" altLang="ru-RU" smtClean="0"/>
              <a:t>T</a:t>
            </a:r>
            <a:r>
              <a:rPr lang="en-US" altLang="ru-RU" baseline="-15000" smtClean="0"/>
              <a:t>1,</a:t>
            </a:r>
            <a:r>
              <a:rPr lang="ru-RU" altLang="ru-RU" smtClean="0"/>
              <a:t> </a:t>
            </a:r>
            <a:r>
              <a:rPr lang="en-US" altLang="ru-RU" smtClean="0"/>
              <a:t>T</a:t>
            </a:r>
            <a:r>
              <a:rPr lang="en-US" altLang="ru-RU" baseline="-25000" smtClean="0"/>
              <a:t>2</a:t>
            </a:r>
            <a:r>
              <a:rPr lang="en-US" altLang="ru-RU" baseline="-15000" smtClean="0"/>
              <a:t>,</a:t>
            </a:r>
            <a:r>
              <a:rPr lang="ru-RU" altLang="ru-RU" smtClean="0"/>
              <a:t> </a:t>
            </a:r>
            <a:r>
              <a:rPr lang="en-US" altLang="ru-RU" smtClean="0"/>
              <a:t>…</a:t>
            </a:r>
            <a:r>
              <a:rPr lang="ru-RU" altLang="ru-RU" smtClean="0"/>
              <a:t>Т</a:t>
            </a:r>
            <a:r>
              <a:rPr lang="en-US" altLang="ru-RU" baseline="-10000" smtClean="0"/>
              <a:t>n</a:t>
            </a:r>
            <a:r>
              <a:rPr lang="ru-RU" altLang="ru-RU" i="1" smtClean="0"/>
              <a:t> </a:t>
            </a:r>
            <a:r>
              <a:rPr lang="ru-RU" altLang="ru-RU" smtClean="0"/>
              <a:t>- произвольные типы, а </a:t>
            </a:r>
            <a:r>
              <a:rPr lang="en-US" altLang="ru-RU" smtClean="0"/>
              <a:t>F</a:t>
            </a:r>
            <a:r>
              <a:rPr lang="en-US" altLang="ru-RU" baseline="-25000" smtClean="0"/>
              <a:t>1</a:t>
            </a:r>
            <a:r>
              <a:rPr lang="en-US" altLang="ru-RU" smtClean="0"/>
              <a:t>, F</a:t>
            </a:r>
            <a:r>
              <a:rPr lang="en-US" altLang="ru-RU" baseline="-25000" smtClean="0"/>
              <a:t>2</a:t>
            </a:r>
            <a:r>
              <a:rPr lang="en-US" altLang="ru-RU" smtClean="0"/>
              <a:t>, …, F</a:t>
            </a:r>
            <a:r>
              <a:rPr lang="en-US" altLang="ru-RU" baseline="-25000" smtClean="0"/>
              <a:t>n</a:t>
            </a:r>
            <a:r>
              <a:rPr lang="ru-RU" altLang="ru-RU" smtClean="0"/>
              <a:t> наименования полей; тогда выражение</a:t>
            </a:r>
          </a:p>
          <a:p>
            <a:pPr eaLnBrk="1" hangingPunct="1">
              <a:lnSpc>
                <a:spcPct val="90000"/>
              </a:lnSpc>
            </a:pPr>
            <a:r>
              <a:rPr lang="en-US" altLang="ru-RU" smtClean="0"/>
              <a:t>Structure </a:t>
            </a:r>
            <a:r>
              <a:rPr lang="ru-RU" altLang="ru-RU" smtClean="0"/>
              <a:t>N  </a:t>
            </a:r>
            <a:r>
              <a:rPr lang="en-US" altLang="ru-RU" smtClean="0"/>
              <a:t>{T</a:t>
            </a:r>
            <a:r>
              <a:rPr lang="en-US" altLang="ru-RU" baseline="-25000" smtClean="0"/>
              <a:t>i</a:t>
            </a:r>
            <a:r>
              <a:rPr lang="en-US" altLang="ru-RU" smtClean="0"/>
              <a:t>  F</a:t>
            </a:r>
            <a:r>
              <a:rPr lang="en-US" altLang="ru-RU" baseline="-25000" smtClean="0"/>
              <a:t>i</a:t>
            </a:r>
            <a:r>
              <a:rPr lang="ru-RU" altLang="ru-RU" baseline="-25000" smtClean="0"/>
              <a:t> </a:t>
            </a:r>
            <a:r>
              <a:rPr lang="ru-RU" altLang="ru-RU" smtClean="0"/>
              <a:t>,</a:t>
            </a:r>
            <a:r>
              <a:rPr lang="en-US" altLang="ru-RU" smtClean="0"/>
              <a:t> </a:t>
            </a:r>
            <a:r>
              <a:rPr lang="ru-RU" altLang="ru-RU" smtClean="0"/>
              <a:t>Т</a:t>
            </a:r>
            <a:r>
              <a:rPr lang="ru-RU" altLang="ru-RU" baseline="-25000" smtClean="0"/>
              <a:t>2</a:t>
            </a:r>
            <a:r>
              <a:rPr lang="ru-RU" altLang="ru-RU" smtClean="0"/>
              <a:t> </a:t>
            </a:r>
            <a:r>
              <a:rPr lang="en-US" altLang="ru-RU" smtClean="0"/>
              <a:t>F</a:t>
            </a:r>
            <a:r>
              <a:rPr lang="en-US" altLang="ru-RU" baseline="-25000" smtClean="0"/>
              <a:t>2</a:t>
            </a:r>
            <a:r>
              <a:rPr lang="en-US" altLang="ru-RU" smtClean="0"/>
              <a:t>, … </a:t>
            </a:r>
            <a:r>
              <a:rPr lang="ru-RU" altLang="ru-RU" smtClean="0"/>
              <a:t>Т</a:t>
            </a:r>
            <a:r>
              <a:rPr lang="en-US" altLang="ru-RU" sz="1400" baseline="-25000" smtClean="0"/>
              <a:t>n</a:t>
            </a:r>
            <a:r>
              <a:rPr lang="ru-RU" altLang="ru-RU" smtClean="0"/>
              <a:t> </a:t>
            </a:r>
            <a:r>
              <a:rPr lang="en-US" altLang="ru-RU" smtClean="0"/>
              <a:t>F</a:t>
            </a:r>
            <a:r>
              <a:rPr lang="en-US" altLang="ru-RU" baseline="-25000" smtClean="0"/>
              <a:t>n</a:t>
            </a:r>
            <a:r>
              <a:rPr lang="en-US" altLang="ru-RU" smtClean="0"/>
              <a:t>} </a:t>
            </a:r>
            <a:r>
              <a:rPr lang="ru-RU" altLang="ru-RU" smtClean="0"/>
              <a:t>представляет тип с именем </a:t>
            </a:r>
            <a:r>
              <a:rPr lang="en-US" altLang="ru-RU" smtClean="0"/>
              <a:t>N, </a:t>
            </a:r>
            <a:r>
              <a:rPr lang="ru-RU" altLang="ru-RU" smtClean="0"/>
              <a:t>элементами которого являются структуры, состоящие из </a:t>
            </a:r>
            <a:r>
              <a:rPr lang="ru-RU" altLang="ru-RU" i="1" smtClean="0"/>
              <a:t>п </a:t>
            </a:r>
            <a:r>
              <a:rPr lang="ru-RU" altLang="ru-RU" smtClean="0"/>
              <a:t>полей. Поле с номером </a:t>
            </a:r>
            <a:r>
              <a:rPr lang="en-US" altLang="ru-RU" i="1" smtClean="0"/>
              <a:t>i</a:t>
            </a:r>
            <a:r>
              <a:rPr lang="ru-RU" altLang="ru-RU" smtClean="0"/>
              <a:t> обозначается как </a:t>
            </a:r>
            <a:r>
              <a:rPr lang="en-US" altLang="ru-RU" i="1" smtClean="0"/>
              <a:t>Fi </a:t>
            </a:r>
            <a:r>
              <a:rPr lang="ru-RU" altLang="ru-RU" smtClean="0"/>
              <a:t>и относится к типу </a:t>
            </a:r>
            <a:r>
              <a:rPr lang="en-US" altLang="ru-RU" i="1" smtClean="0"/>
              <a:t>T.</a:t>
            </a:r>
            <a:r>
              <a:rPr lang="ru-RU" altLang="ru-RU" i="1" smtClean="0"/>
              <a:t> </a:t>
            </a:r>
            <a:r>
              <a:rPr lang="ru-RU" altLang="ru-RU" smtClean="0"/>
              <a:t>Например, строка 10 рис. 4.3 (см. с. 157) содержит объявление структуры </a:t>
            </a:r>
            <a:r>
              <a:rPr lang="en-US" altLang="ru-RU" smtClean="0"/>
              <a:t>Addr </a:t>
            </a:r>
            <a:r>
              <a:rPr lang="ru-RU" altLang="ru-RU" smtClean="0"/>
              <a:t>с двумя полями типа </a:t>
            </a:r>
            <a:r>
              <a:rPr lang="en-US" altLang="ru-RU" smtClean="0"/>
              <a:t>string, </a:t>
            </a:r>
            <a:r>
              <a:rPr lang="ru-RU" altLang="ru-RU" smtClean="0"/>
              <a:t>названными как </a:t>
            </a:r>
            <a:r>
              <a:rPr lang="en-US" altLang="ru-RU" smtClean="0"/>
              <a:t>street </a:t>
            </a:r>
            <a:r>
              <a:rPr lang="ru-RU" altLang="ru-RU" smtClean="0"/>
              <a:t>и </a:t>
            </a:r>
            <a:r>
              <a:rPr lang="en-US" altLang="ru-RU" smtClean="0"/>
              <a:t>city.</a:t>
            </a:r>
            <a:endParaRPr lang="ru-RU" altLang="ru-RU" smtClean="0"/>
          </a:p>
          <a:p>
            <a:pPr eaLnBrk="1" hangingPunct="1">
              <a:lnSpc>
                <a:spcPct val="90000"/>
              </a:lnSpc>
            </a:pPr>
            <a:r>
              <a:rPr lang="ru-RU" altLang="ru-RU" smtClean="0"/>
              <a:t>Пять типов — </a:t>
            </a:r>
            <a:r>
              <a:rPr lang="en-US" altLang="ru-RU" smtClean="0"/>
              <a:t>Set, Bag, List, Array </a:t>
            </a:r>
            <a:r>
              <a:rPr lang="ru-RU" altLang="ru-RU" smtClean="0"/>
              <a:t>и </a:t>
            </a:r>
            <a:r>
              <a:rPr lang="en-US" altLang="ru-RU" smtClean="0"/>
              <a:t>Dictionary </a:t>
            </a:r>
            <a:r>
              <a:rPr lang="ru-RU" altLang="ru-RU" smtClean="0"/>
              <a:t>— называют </a:t>
            </a:r>
            <a:r>
              <a:rPr lang="ru-RU" altLang="ru-RU" i="1" smtClean="0"/>
              <a:t>типами коллекций </a:t>
            </a:r>
            <a:r>
              <a:rPr lang="en-US" altLang="ru-RU" smtClean="0"/>
              <a:t>(collection types). 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mtClean="0"/>
              <a:t>Существует несколько правил относительно того, какие типы могут быть поставлены в соответствие атрибутам, а какие — связям.</a:t>
            </a:r>
          </a:p>
          <a:p>
            <a:pPr eaLnBrk="1" hangingPunct="1">
              <a:lnSpc>
                <a:spcPct val="90000"/>
              </a:lnSpc>
            </a:pPr>
            <a:endParaRPr lang="ru-RU" altLang="ru-RU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687A806-573B-4673-A4E7-6D8C2CA611EC}" type="slidenum">
              <a:rPr lang="ru-RU" altLang="ru-RU" smtClean="0"/>
              <a:pPr eaLnBrk="1" hangingPunct="1">
                <a:spcBef>
                  <a:spcPct val="0"/>
                </a:spcBef>
              </a:pPr>
              <a:t>28</a:t>
            </a:fld>
            <a:endParaRPr lang="ru-RU" altLang="ru-RU" smtClean="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ru-RU" altLang="ru-RU" b="1" dirty="0" smtClean="0"/>
              <a:t>Язык объектных запросов</a:t>
            </a:r>
            <a:r>
              <a:rPr lang="ru-RU" altLang="ru-RU" dirty="0" smtClean="0"/>
              <a:t> (OQL - </a:t>
            </a:r>
            <a:r>
              <a:rPr lang="ru-RU" altLang="ru-RU" dirty="0" err="1" smtClean="0"/>
              <a:t>Object</a:t>
            </a:r>
            <a:r>
              <a:rPr lang="ru-RU" altLang="ru-RU" dirty="0" smtClean="0"/>
              <a:t> </a:t>
            </a:r>
            <a:r>
              <a:rPr lang="ru-RU" altLang="ru-RU" dirty="0" err="1" smtClean="0"/>
              <a:t>Query</a:t>
            </a:r>
            <a:r>
              <a:rPr lang="ru-RU" altLang="ru-RU" dirty="0" smtClean="0"/>
              <a:t> </a:t>
            </a:r>
            <a:r>
              <a:rPr lang="ru-RU" altLang="ru-RU" dirty="0" err="1" smtClean="0"/>
              <a:t>Language</a:t>
            </a:r>
            <a:r>
              <a:rPr lang="ru-RU" altLang="ru-RU" dirty="0" smtClean="0"/>
              <a:t>) - SQL - подобный декларативный язык, который предоставляет эффективные средства для извлечения объектов из базы данных, включая высокоуровневые примитивы для наборов объектов и объектных структур. Синтаксис оператора SELECT, определенный SQL-92, является подмножеством OQL, это гарантирует, что SELECT-утверждения, выполняемые над реляционными таблицами, сохранят работоспособность и с наборами объектов ODMG. </a:t>
            </a:r>
          </a:p>
          <a:p>
            <a:pPr eaLnBrk="1" hangingPunct="1"/>
            <a:r>
              <a:rPr lang="ru-RU" altLang="ru-RU" dirty="0" smtClean="0"/>
              <a:t>OQL-запросы могут вызываться из </a:t>
            </a:r>
            <a:r>
              <a:rPr lang="ru-RU" altLang="ru-RU" dirty="0" err="1" smtClean="0"/>
              <a:t>ОО-языка</a:t>
            </a:r>
            <a:r>
              <a:rPr lang="ru-RU" altLang="ru-RU" dirty="0" smtClean="0"/>
              <a:t>, точно также из OQL-запросов могут делаться обращения к процедурам, написанным на OO-языке. OQL предоставляет средства обеспечения целостности объектов (вызов объектных методов и использование собственных операторов изменения данных). </a:t>
            </a:r>
          </a:p>
          <a:p>
            <a:pPr eaLnBrk="1" hangingPunct="1"/>
            <a:r>
              <a:rPr lang="ru-RU" altLang="ru-RU" b="1" dirty="0" smtClean="0"/>
              <a:t>Связывание с </a:t>
            </a:r>
            <a:r>
              <a:rPr lang="ru-RU" altLang="ru-RU" b="1" dirty="0" err="1" smtClean="0"/>
              <a:t>ОО-языками</a:t>
            </a:r>
            <a:r>
              <a:rPr lang="ru-RU" altLang="ru-RU" dirty="0" smtClean="0"/>
              <a:t>. Стандарт связывания с C++, </a:t>
            </a:r>
            <a:r>
              <a:rPr lang="ru-RU" altLang="ru-RU" dirty="0" err="1" smtClean="0"/>
              <a:t>Smalltalk</a:t>
            </a:r>
            <a:r>
              <a:rPr lang="ru-RU" altLang="ru-RU" dirty="0" smtClean="0"/>
              <a:t> и </a:t>
            </a:r>
            <a:r>
              <a:rPr lang="ru-RU" altLang="ru-RU" dirty="0" err="1" smtClean="0"/>
              <a:t>Java</a:t>
            </a:r>
            <a:r>
              <a:rPr lang="ru-RU" altLang="ru-RU" dirty="0" smtClean="0"/>
              <a:t> определяет </a:t>
            </a:r>
            <a:r>
              <a:rPr lang="ru-RU" altLang="ru-RU" dirty="0" err="1" smtClean="0"/>
              <a:t>Object</a:t>
            </a:r>
            <a:r>
              <a:rPr lang="ru-RU" altLang="ru-RU" dirty="0" smtClean="0"/>
              <a:t> </a:t>
            </a:r>
            <a:r>
              <a:rPr lang="ru-RU" altLang="ru-RU" dirty="0" err="1" smtClean="0"/>
              <a:t>Manipulation</a:t>
            </a:r>
            <a:r>
              <a:rPr lang="ru-RU" altLang="ru-RU" dirty="0" smtClean="0"/>
              <a:t> </a:t>
            </a:r>
            <a:r>
              <a:rPr lang="ru-RU" altLang="ru-RU" dirty="0" err="1" smtClean="0"/>
              <a:t>Language</a:t>
            </a:r>
            <a:r>
              <a:rPr lang="ru-RU" altLang="ru-RU" dirty="0" smtClean="0"/>
              <a:t> (OML) - язык манипулирования объектами 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5D22BF-934C-434E-AE80-27B157948910}" type="slidenum">
              <a:rPr lang="ru-RU" smtClean="0"/>
              <a:pPr>
                <a:defRPr/>
              </a:pPr>
              <a:t>29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65834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ru-RU" altLang="ru-RU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28691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8692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CD0CB1-CA64-4308-A5C7-BCE416CE320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122402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F492C0-24D0-4BEF-A770-6A3DBA872AF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925382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F60F43-225C-49E2-8B60-AE49B97A8DE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29913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B54745-5052-4ED2-BC4A-CBF5C142DC4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178349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20A578-C233-40B6-B842-0C0E6F49DDE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754920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A6ACCE-82A1-4791-81CF-10C0105F640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38849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B31984-3783-411E-8782-11F13A3C8B8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178326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6927A4-336F-4A9A-AFD0-850B36C7DA5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010138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86CF9-4067-452B-BEBB-09DB3BC2230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884041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A30791-4026-4547-965E-64396C26E0C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597859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ABCDA1-7FEC-4E9E-9033-5BA9669537E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450724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F9BF5D79-4319-4B4C-A2DF-4CC96A89A0C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ru-RU" altLang="ru-RU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ru-RU" altLang="ru-RU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ru-RU" altLang="ru-RU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заголовка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</a:p>
        </p:txBody>
      </p:sp>
      <p:sp>
        <p:nvSpPr>
          <p:cNvPr id="27664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2971800"/>
            <a:ext cx="8534400" cy="1600200"/>
          </a:xfrm>
        </p:spPr>
        <p:txBody>
          <a:bodyPr/>
          <a:lstStyle/>
          <a:p>
            <a:pPr algn="ctr" eaLnBrk="1" hangingPunct="1"/>
            <a:r>
              <a:rPr lang="ru-RU" altLang="ru-RU" sz="4000" dirty="0" smtClean="0"/>
              <a:t>Объектная модель базы данных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4648200"/>
            <a:ext cx="8610600" cy="1524000"/>
          </a:xfrm>
        </p:spPr>
        <p:txBody>
          <a:bodyPr/>
          <a:lstStyle/>
          <a:p>
            <a:pPr eaLnBrk="1" hangingPunct="1"/>
            <a:r>
              <a:rPr lang="ru-RU" sz="3200" dirty="0" smtClean="0"/>
              <a:t>Г. Гарсия –Молина, Дж. Ульман, Дж. </a:t>
            </a:r>
            <a:r>
              <a:rPr lang="ru-RU" sz="3200" dirty="0" err="1" smtClean="0"/>
              <a:t>Уидом</a:t>
            </a:r>
            <a:r>
              <a:rPr lang="ru-RU" sz="3200" dirty="0" smtClean="0"/>
              <a:t> </a:t>
            </a:r>
          </a:p>
          <a:p>
            <a:pPr eaLnBrk="1" hangingPunct="1"/>
            <a:r>
              <a:rPr lang="ru-RU" sz="3600" dirty="0" smtClean="0"/>
              <a:t>	Системы баз данных. Глава 4</a:t>
            </a:r>
            <a:endParaRPr lang="ru-RU" altLang="ru-RU" dirty="0" smtClean="0"/>
          </a:p>
        </p:txBody>
      </p:sp>
      <p:sp>
        <p:nvSpPr>
          <p:cNvPr id="3076" name="Номер слайда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8ECD702-E887-4ABE-9AC9-049363992063}" type="slidenum">
              <a:rPr lang="ru-RU" altLang="ru-RU" smtClean="0">
                <a:latin typeface="Arial Black" pitchFamily="34" charset="0"/>
              </a:rPr>
              <a:pPr eaLnBrk="1" hangingPunct="1"/>
              <a:t>1</a:t>
            </a:fld>
            <a:endParaRPr lang="ru-RU" altLang="ru-RU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7158038" cy="762000"/>
          </a:xfrm>
        </p:spPr>
        <p:txBody>
          <a:bodyPr/>
          <a:lstStyle/>
          <a:p>
            <a:pPr algn="ctr" eaLnBrk="1" hangingPunct="1"/>
            <a:r>
              <a:rPr lang="ru-RU" altLang="ru-RU" dirty="0" smtClean="0">
                <a:solidFill>
                  <a:schemeClr val="bg2"/>
                </a:solidFill>
              </a:rPr>
              <a:t>Предпосылки ООБД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686800" cy="5867400"/>
          </a:xfrm>
        </p:spPr>
        <p:txBody>
          <a:bodyPr>
            <a:normAutofit fontScale="700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ru-RU" altLang="ru-RU" sz="2800" dirty="0" smtClean="0"/>
              <a:t>Практически безраздельная монополия реляционных систем баз данных в 80-е гг. </a:t>
            </a:r>
          </a:p>
          <a:p>
            <a:pPr eaLnBrk="1" hangingPunct="1">
              <a:lnSpc>
                <a:spcPct val="120000"/>
              </a:lnSpc>
            </a:pPr>
            <a:r>
              <a:rPr lang="ru-RU" altLang="ru-RU" sz="2800" dirty="0" smtClean="0"/>
              <a:t>Распространенность ООП и ООЯП после 1983г. – опубликование языка С++ и появление систем программирования, реализующих язык. </a:t>
            </a:r>
            <a:r>
              <a:rPr lang="ru-RU" altLang="ru-RU" sz="2800" smtClean="0"/>
              <a:t>Необходимость </a:t>
            </a:r>
            <a:r>
              <a:rPr lang="ru-RU" altLang="ru-RU" sz="2800" dirty="0" smtClean="0"/>
              <a:t>в обеспечении эффективной </a:t>
            </a:r>
            <a:r>
              <a:rPr lang="ru-RU" altLang="ru-RU" sz="2800" i="1" dirty="0" smtClean="0"/>
              <a:t>среды хранения объектных данных</a:t>
            </a:r>
            <a:r>
              <a:rPr lang="ru-RU" altLang="ru-RU" sz="2800" dirty="0" smtClean="0"/>
              <a:t> для поддержки многочисленных прикладных программных систем, реализованных средствами объектных языков. </a:t>
            </a:r>
          </a:p>
          <a:p>
            <a:pPr eaLnBrk="1" hangingPunct="1">
              <a:lnSpc>
                <a:spcPct val="120000"/>
              </a:lnSpc>
            </a:pPr>
            <a:r>
              <a:rPr lang="ru-RU" altLang="ru-RU" sz="2800" dirty="0" smtClean="0"/>
              <a:t>Ограниченность типов данных реляционной модели данных для нетрадиционных для того времени приложений</a:t>
            </a:r>
          </a:p>
          <a:p>
            <a:pPr eaLnBrk="1" hangingPunct="1">
              <a:lnSpc>
                <a:spcPct val="120000"/>
              </a:lnSpc>
            </a:pPr>
            <a:r>
              <a:rPr lang="ru-RU" altLang="ru-RU" sz="2800" dirty="0" smtClean="0"/>
              <a:t>Несоответствие типов данных ООЯП и типов данных СУБД (реляционной модели)</a:t>
            </a:r>
          </a:p>
          <a:p>
            <a:pPr eaLnBrk="1" hangingPunct="1">
              <a:lnSpc>
                <a:spcPct val="120000"/>
              </a:lnSpc>
            </a:pPr>
            <a:r>
              <a:rPr lang="ru-RU" altLang="ru-RU" sz="2800" dirty="0" smtClean="0"/>
              <a:t>Манифест объектно-ориентированных баз данных (с чистого листа) 1989</a:t>
            </a:r>
          </a:p>
          <a:p>
            <a:pPr eaLnBrk="1" hangingPunct="1">
              <a:lnSpc>
                <a:spcPct val="120000"/>
              </a:lnSpc>
            </a:pPr>
            <a:r>
              <a:rPr lang="ru-RU" altLang="ru-RU" sz="2800" dirty="0" smtClean="0"/>
              <a:t>Манифест систем баз данных третьего поколения (преемственность) 1990</a:t>
            </a:r>
          </a:p>
        </p:txBody>
      </p:sp>
      <p:sp>
        <p:nvSpPr>
          <p:cNvPr id="4100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B9A7AC8-6824-41AC-813F-46E5FD754FD4}" type="slidenum">
              <a:rPr lang="ru-RU" altLang="ru-RU" smtClean="0">
                <a:latin typeface="Arial Black" pitchFamily="34" charset="0"/>
              </a:rPr>
              <a:pPr eaLnBrk="1" hangingPunct="1"/>
              <a:t>2</a:t>
            </a:fld>
            <a:endParaRPr lang="ru-RU" altLang="ru-RU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7158038" cy="838200"/>
          </a:xfrm>
        </p:spPr>
        <p:txBody>
          <a:bodyPr/>
          <a:lstStyle/>
          <a:p>
            <a:pPr algn="ctr" eaLnBrk="1" hangingPunct="1"/>
            <a:r>
              <a:rPr lang="ru-RU" altLang="ru-RU" smtClean="0">
                <a:solidFill>
                  <a:schemeClr val="bg2"/>
                </a:solidFill>
              </a:rPr>
              <a:t>За и против ООБД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38200"/>
            <a:ext cx="9144000" cy="6019800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ru-RU" sz="2400" b="1" dirty="0"/>
              <a:t>Преимущества объектно-ориентированных баз данных:</a:t>
            </a:r>
            <a:endParaRPr lang="ru-RU" sz="2400" dirty="0"/>
          </a:p>
          <a:p>
            <a:pPr>
              <a:lnSpc>
                <a:spcPct val="120000"/>
              </a:lnSpc>
              <a:defRPr/>
            </a:pPr>
            <a:r>
              <a:rPr lang="ru-RU" sz="2400" dirty="0" smtClean="0"/>
              <a:t>Применение объектной модели предпочтительнее для баз данных с большим количеством сложных связей: перекрестных ссылок, ссылок, связывающих несколько объектов с несколькими (</a:t>
            </a:r>
            <a:r>
              <a:rPr lang="ru-RU" sz="2400" dirty="0" err="1" smtClean="0"/>
              <a:t>many-to-many</a:t>
            </a:r>
            <a:r>
              <a:rPr lang="ru-RU" sz="2400" dirty="0" smtClean="0"/>
              <a:t> </a:t>
            </a:r>
            <a:r>
              <a:rPr lang="ru-RU" sz="2400" dirty="0" err="1" smtClean="0"/>
              <a:t>relationships</a:t>
            </a:r>
            <a:r>
              <a:rPr lang="ru-RU" sz="2400" dirty="0" smtClean="0"/>
              <a:t>) двунаправленными ссылками</a:t>
            </a:r>
          </a:p>
          <a:p>
            <a:pPr>
              <a:lnSpc>
                <a:spcPct val="120000"/>
              </a:lnSpc>
              <a:defRPr/>
            </a:pPr>
            <a:r>
              <a:rPr lang="ru-RU" sz="2400" dirty="0" smtClean="0"/>
              <a:t>В </a:t>
            </a:r>
            <a:r>
              <a:rPr lang="ru-RU" sz="2400" dirty="0"/>
              <a:t>отличие от </a:t>
            </a:r>
            <a:r>
              <a:rPr lang="ru-RU" sz="2400" dirty="0" smtClean="0"/>
              <a:t>реляционной модели, в ООБД хранятся </a:t>
            </a:r>
            <a:r>
              <a:rPr lang="ru-RU" sz="2400" dirty="0"/>
              <a:t>не записи, а объекты. ОО-подход представляет более </a:t>
            </a:r>
            <a:r>
              <a:rPr lang="ru-RU" sz="2400" dirty="0" smtClean="0"/>
              <a:t>развитые </a:t>
            </a:r>
            <a:r>
              <a:rPr lang="ru-RU" sz="2400" dirty="0"/>
              <a:t>средства для отображения реального мира, чем реляционная </a:t>
            </a:r>
            <a:r>
              <a:rPr lang="ru-RU" sz="2400" dirty="0" smtClean="0"/>
              <a:t>модель</a:t>
            </a:r>
          </a:p>
          <a:p>
            <a:pPr>
              <a:lnSpc>
                <a:spcPct val="120000"/>
              </a:lnSpc>
              <a:defRPr/>
            </a:pPr>
            <a:r>
              <a:rPr lang="ru-RU" sz="2400" kern="1200" dirty="0" smtClean="0">
                <a:latin typeface="Arial" charset="0"/>
                <a:cs typeface="Arial" charset="0"/>
              </a:rPr>
              <a:t>В реляционной модели все отношения принадлежат одному уровню. </a:t>
            </a:r>
            <a:r>
              <a:rPr lang="ru-RU" sz="2400" dirty="0" err="1" smtClean="0"/>
              <a:t>ОО-модель</a:t>
            </a:r>
            <a:r>
              <a:rPr lang="ru-RU" sz="2400" dirty="0" smtClean="0"/>
              <a:t> </a:t>
            </a:r>
            <a:r>
              <a:rPr lang="ru-RU" sz="2400" dirty="0"/>
              <a:t>можно рассматривать послойно, на разных уровнях абстракции.</a:t>
            </a:r>
          </a:p>
          <a:p>
            <a:pPr>
              <a:lnSpc>
                <a:spcPct val="120000"/>
              </a:lnSpc>
              <a:defRPr/>
            </a:pPr>
            <a:r>
              <a:rPr lang="ru-RU" sz="2400" dirty="0"/>
              <a:t>И</a:t>
            </a:r>
            <a:r>
              <a:rPr lang="ru-RU" sz="2400" dirty="0" smtClean="0"/>
              <a:t>меется </a:t>
            </a:r>
            <a:r>
              <a:rPr lang="ru-RU" sz="2400" dirty="0"/>
              <a:t>возможность определения новых типов данных и операций с ними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sp>
        <p:nvSpPr>
          <p:cNvPr id="5124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D5E60CA-124C-4C2D-AA76-F3E5CD71CA1F}" type="slidenum">
              <a:rPr lang="ru-RU" altLang="ru-RU" smtClean="0">
                <a:latin typeface="Arial Black" pitchFamily="34" charset="0"/>
              </a:rPr>
              <a:pPr eaLnBrk="1" hangingPunct="1"/>
              <a:t>3</a:t>
            </a:fld>
            <a:endParaRPr lang="ru-RU" altLang="ru-RU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6553200" y="5410200"/>
            <a:ext cx="11430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7158038" cy="838200"/>
          </a:xfrm>
        </p:spPr>
        <p:txBody>
          <a:bodyPr/>
          <a:lstStyle/>
          <a:p>
            <a:pPr algn="ctr" eaLnBrk="1" hangingPunct="1"/>
            <a:r>
              <a:rPr lang="ru-RU" altLang="ru-RU" smtClean="0">
                <a:solidFill>
                  <a:schemeClr val="bg2"/>
                </a:solidFill>
              </a:rPr>
              <a:t>За и против ООБД</a:t>
            </a:r>
          </a:p>
        </p:txBody>
      </p:sp>
      <p:sp>
        <p:nvSpPr>
          <p:cNvPr id="5124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D5E60CA-124C-4C2D-AA76-F3E5CD71CA1F}" type="slidenum">
              <a:rPr lang="ru-RU" altLang="ru-RU" smtClean="0">
                <a:latin typeface="Arial Black" pitchFamily="34" charset="0"/>
              </a:rPr>
              <a:pPr eaLnBrk="1" hangingPunct="1"/>
              <a:t>4</a:t>
            </a:fld>
            <a:endParaRPr lang="ru-RU" altLang="ru-RU" smtClean="0">
              <a:latin typeface="Arial Black" pitchFamily="34" charset="0"/>
            </a:endParaRPr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049" name="Object 1"/>
          <p:cNvGraphicFramePr>
            <a:graphicFrameLocks noChangeAspect="1"/>
          </p:cNvGraphicFramePr>
          <p:nvPr/>
        </p:nvGraphicFramePr>
        <p:xfrm>
          <a:off x="838200" y="1447800"/>
          <a:ext cx="7391400" cy="5011321"/>
        </p:xfrm>
        <a:graphic>
          <a:graphicData uri="http://schemas.openxmlformats.org/presentationml/2006/ole">
            <p:oleObj spid="_x0000_s2049" name="Точечный рисунок" r:id="rId4" imgW="6180952" imgH="4191585" progId="PBrush">
              <p:embed/>
            </p:oleObj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1000" y="762000"/>
            <a:ext cx="8458200" cy="685799"/>
          </a:xfrm>
          <a:prstGeom prst="rect">
            <a:avLst/>
          </a:prstGeom>
          <a:noFill/>
        </p:spPr>
        <p:txBody>
          <a:bodyPr wrap="square" rtlCol="0">
            <a:normAutofit fontScale="92500"/>
          </a:bodyPr>
          <a:lstStyle/>
          <a:p>
            <a:r>
              <a:rPr lang="ru-RU" dirty="0" smtClean="0"/>
              <a:t>Объектные СУБД реализуют весь набор функций, присущих системам управления базами данных плюс возможности объектного программирования.</a:t>
            </a:r>
          </a:p>
          <a:p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6629400" y="5334000"/>
            <a:ext cx="990600" cy="533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7158038" cy="838200"/>
          </a:xfrm>
        </p:spPr>
        <p:txBody>
          <a:bodyPr/>
          <a:lstStyle/>
          <a:p>
            <a:pPr algn="ctr" eaLnBrk="1" hangingPunct="1"/>
            <a:r>
              <a:rPr lang="ru-RU" altLang="ru-RU" smtClean="0">
                <a:solidFill>
                  <a:schemeClr val="bg2"/>
                </a:solidFill>
              </a:rPr>
              <a:t>За и против ООБД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838200"/>
            <a:ext cx="8839200" cy="571500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ru-RU" sz="2400" b="1" dirty="0" smtClean="0"/>
              <a:t>Недостатки объектно-ориентированных баз данных:</a:t>
            </a:r>
            <a:endParaRPr lang="ru-RU" sz="2400" dirty="0" smtClean="0"/>
          </a:p>
          <a:p>
            <a:pPr>
              <a:lnSpc>
                <a:spcPct val="120000"/>
              </a:lnSpc>
              <a:defRPr/>
            </a:pPr>
            <a:r>
              <a:rPr lang="ru-RU" sz="2000" dirty="0" smtClean="0"/>
              <a:t>отсутствуют мощные непроцедурные средства извлечения объектов из базы. Все запросы пишутся на процедурных языках, проблема их оптимизации возлагается на программиста.</a:t>
            </a:r>
          </a:p>
          <a:p>
            <a:pPr>
              <a:lnSpc>
                <a:spcPct val="120000"/>
              </a:lnSpc>
              <a:defRPr/>
            </a:pPr>
            <a:r>
              <a:rPr lang="ru-RU" sz="2000" dirty="0" smtClean="0"/>
              <a:t>вместо декларативных ограничений целостности (типа явного объявления первичных и внешних ключей реляционных таблиц (PRIMARY KEY и REFERENCES) или </a:t>
            </a:r>
            <a:r>
              <a:rPr lang="ru-RU" sz="2000" dirty="0" err="1" smtClean="0"/>
              <a:t>полудекларативных</a:t>
            </a:r>
            <a:r>
              <a:rPr lang="ru-RU" sz="2000" dirty="0" smtClean="0"/>
              <a:t> триггеров для обеспечения внутренней целостности приходится </a:t>
            </a:r>
            <a:r>
              <a:rPr lang="ru-RU" sz="2000" b="1" dirty="0" smtClean="0"/>
              <a:t>писать процедурный код</a:t>
            </a:r>
            <a:r>
              <a:rPr lang="ru-RU" sz="2000" dirty="0" smtClean="0"/>
              <a:t>.</a:t>
            </a:r>
          </a:p>
          <a:p>
            <a:pPr>
              <a:lnSpc>
                <a:spcPct val="120000"/>
              </a:lnSpc>
              <a:buNone/>
              <a:defRPr/>
            </a:pPr>
            <a:r>
              <a:rPr lang="ru-RU" sz="2000" b="1" dirty="0" smtClean="0"/>
              <a:t>Очевидно, что оба эти недостатка связаны с отсутствием развитых средств манипулирования данными. </a:t>
            </a:r>
          </a:p>
          <a:p>
            <a:pPr>
              <a:lnSpc>
                <a:spcPct val="120000"/>
              </a:lnSpc>
              <a:buNone/>
              <a:defRPr/>
            </a:pPr>
            <a:r>
              <a:rPr lang="ru-RU" sz="2000" b="1" dirty="0" smtClean="0"/>
              <a:t>Эта задача решается двумя способами</a:t>
            </a:r>
          </a:p>
          <a:p>
            <a:pPr>
              <a:lnSpc>
                <a:spcPct val="120000"/>
              </a:lnSpc>
              <a:defRPr/>
            </a:pPr>
            <a:r>
              <a:rPr lang="ru-RU" sz="2000" dirty="0" smtClean="0"/>
              <a:t>Расширение </a:t>
            </a:r>
            <a:r>
              <a:rPr lang="ru-RU" sz="2000" dirty="0" err="1" smtClean="0"/>
              <a:t>ОО-языков</a:t>
            </a:r>
            <a:r>
              <a:rPr lang="ru-RU" sz="2000" dirty="0" smtClean="0"/>
              <a:t> в сторону управления данными (стандарт ODMG)</a:t>
            </a:r>
          </a:p>
          <a:p>
            <a:pPr>
              <a:lnSpc>
                <a:spcPct val="120000"/>
              </a:lnSpc>
              <a:defRPr/>
            </a:pPr>
            <a:r>
              <a:rPr lang="ru-RU" sz="2000" dirty="0" smtClean="0"/>
              <a:t>Добавление объектных свойств в реляционные СУБД (SQL-3, а также так называемые объектно-реляционных СУБД).</a:t>
            </a:r>
            <a:endParaRPr lang="ru-RU" sz="2000" dirty="0"/>
          </a:p>
        </p:txBody>
      </p:sp>
      <p:sp>
        <p:nvSpPr>
          <p:cNvPr id="5124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D5E60CA-124C-4C2D-AA76-F3E5CD71CA1F}" type="slidenum">
              <a:rPr lang="ru-RU" altLang="ru-RU" smtClean="0">
                <a:latin typeface="Arial Black" pitchFamily="34" charset="0"/>
              </a:rPr>
              <a:pPr eaLnBrk="1" hangingPunct="1"/>
              <a:t>5</a:t>
            </a:fld>
            <a:endParaRPr lang="ru-RU" altLang="ru-RU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7620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ru-RU" altLang="ru-RU" sz="2800" dirty="0" smtClean="0">
                <a:solidFill>
                  <a:schemeClr val="accent5">
                    <a:lumMod val="50000"/>
                  </a:schemeClr>
                </a:solidFill>
              </a:rPr>
              <a:t>Консорциум</a:t>
            </a:r>
            <a:r>
              <a:rPr lang="ru-RU" altLang="ru-RU" sz="2800" dirty="0" smtClean="0">
                <a:solidFill>
                  <a:schemeClr val="bg1"/>
                </a:solidFill>
              </a:rPr>
              <a:t> </a:t>
            </a:r>
            <a:r>
              <a:rPr lang="en-US" altLang="ru-RU" sz="2800" dirty="0" smtClean="0">
                <a:solidFill>
                  <a:schemeClr val="accent1">
                    <a:lumMod val="50000"/>
                  </a:schemeClr>
                </a:solidFill>
              </a:rPr>
              <a:t>Object </a:t>
            </a:r>
            <a:r>
              <a:rPr lang="en-US" altLang="ru-RU" sz="2800" b="1" u="sng" dirty="0" smtClean="0">
                <a:solidFill>
                  <a:schemeClr val="accent1">
                    <a:lumMod val="50000"/>
                  </a:schemeClr>
                </a:solidFill>
              </a:rPr>
              <a:t>Database</a:t>
            </a:r>
            <a:r>
              <a:rPr lang="en-US" altLang="ru-RU" sz="2800" dirty="0" smtClean="0">
                <a:solidFill>
                  <a:schemeClr val="accent1">
                    <a:lumMod val="50000"/>
                  </a:schemeClr>
                </a:solidFill>
              </a:rPr>
              <a:t> Management Group (ODMG)</a:t>
            </a:r>
            <a:endParaRPr lang="ru-RU" altLang="ru-RU" sz="2800" dirty="0" smtClean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762000"/>
            <a:ext cx="8915400" cy="6172200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en-US" altLang="ru-RU" sz="2400" dirty="0" smtClean="0"/>
              <a:t>ODMG </a:t>
            </a:r>
            <a:r>
              <a:rPr lang="ru-RU" sz="2400" kern="1200" dirty="0" smtClean="0"/>
              <a:t>объединил всех ведущих поставщиков объектных СУБД  с целью </a:t>
            </a:r>
            <a:r>
              <a:rPr lang="ru-RU" altLang="ru-RU" sz="2400" dirty="0" smtClean="0"/>
              <a:t>разработки стандартов ОСУБД </a:t>
            </a:r>
            <a:r>
              <a:rPr lang="en-US" altLang="ru-RU" sz="2400" dirty="0" smtClean="0">
                <a:solidFill>
                  <a:schemeClr val="bg2"/>
                </a:solidFill>
              </a:rPr>
              <a:t>( </a:t>
            </a:r>
            <a:r>
              <a:rPr lang="ru-RU" altLang="ru-RU" sz="2400" dirty="0" smtClean="0">
                <a:solidFill>
                  <a:schemeClr val="bg2"/>
                </a:solidFill>
              </a:rPr>
              <a:t>июнь1991)</a:t>
            </a:r>
            <a:endParaRPr lang="ru-RU" altLang="ru-RU" sz="2400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 smtClean="0"/>
              <a:t>Исходная платформа: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ru-RU" altLang="ru-RU" sz="2000" dirty="0" smtClean="0"/>
              <a:t>Манифест объектно-ориентированных баз данных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ru-RU" altLang="ru-RU" sz="2000" dirty="0" smtClean="0"/>
              <a:t>Объектная модель и язык определения интерфейсов стандарта </a:t>
            </a:r>
            <a:r>
              <a:rPr lang="en-US" sz="2000" kern="1200" dirty="0" smtClean="0">
                <a:latin typeface="Arial" charset="0"/>
                <a:cs typeface="Arial" charset="0"/>
              </a:rPr>
              <a:t>OMG </a:t>
            </a:r>
            <a:r>
              <a:rPr lang="en-US" altLang="ru-RU" sz="2000" dirty="0" smtClean="0"/>
              <a:t>CORBA (Object Management Group </a:t>
            </a:r>
            <a:r>
              <a:rPr lang="ru-RU" sz="2000" kern="1200" dirty="0" err="1" smtClean="0">
                <a:latin typeface="Arial" charset="0"/>
                <a:cs typeface="Arial" charset="0"/>
              </a:rPr>
              <a:t>Common</a:t>
            </a:r>
            <a:r>
              <a:rPr lang="ru-RU" sz="2000" kern="1200" dirty="0" smtClean="0">
                <a:latin typeface="Arial" charset="0"/>
                <a:cs typeface="Arial" charset="0"/>
              </a:rPr>
              <a:t> </a:t>
            </a:r>
            <a:r>
              <a:rPr lang="ru-RU" sz="2000" kern="1200" dirty="0" err="1" smtClean="0">
                <a:latin typeface="Arial" charset="0"/>
                <a:cs typeface="Arial" charset="0"/>
              </a:rPr>
              <a:t>Object</a:t>
            </a:r>
            <a:r>
              <a:rPr lang="ru-RU" sz="2000" kern="1200" dirty="0" smtClean="0">
                <a:latin typeface="Arial" charset="0"/>
                <a:cs typeface="Arial" charset="0"/>
              </a:rPr>
              <a:t> </a:t>
            </a:r>
            <a:r>
              <a:rPr lang="ru-RU" sz="2000" kern="1200" dirty="0" err="1" smtClean="0">
                <a:latin typeface="Arial" charset="0"/>
                <a:cs typeface="Arial" charset="0"/>
              </a:rPr>
              <a:t>Request</a:t>
            </a:r>
            <a:r>
              <a:rPr lang="ru-RU" sz="2000" kern="1200" dirty="0" smtClean="0">
                <a:latin typeface="Arial" charset="0"/>
                <a:cs typeface="Arial" charset="0"/>
              </a:rPr>
              <a:t> </a:t>
            </a:r>
            <a:r>
              <a:rPr lang="ru-RU" sz="2000" kern="1200" dirty="0" err="1" smtClean="0">
                <a:latin typeface="Arial" charset="0"/>
                <a:cs typeface="Arial" charset="0"/>
              </a:rPr>
              <a:t>Broker</a:t>
            </a:r>
            <a:r>
              <a:rPr lang="ru-RU" sz="2000" kern="1200" dirty="0" smtClean="0">
                <a:latin typeface="Arial" charset="0"/>
                <a:cs typeface="Arial" charset="0"/>
              </a:rPr>
              <a:t> </a:t>
            </a:r>
            <a:r>
              <a:rPr lang="ru-RU" sz="2000" kern="1200" dirty="0" err="1" smtClean="0">
                <a:latin typeface="Arial" charset="0"/>
                <a:cs typeface="Arial" charset="0"/>
              </a:rPr>
              <a:t>Architecture</a:t>
            </a:r>
            <a:r>
              <a:rPr lang="en-US" sz="2000" kern="1200" dirty="0" smtClean="0">
                <a:latin typeface="Arial" charset="0"/>
                <a:cs typeface="Arial" charset="0"/>
              </a:rPr>
              <a:t> </a:t>
            </a:r>
            <a:r>
              <a:rPr lang="en-US" altLang="ru-RU" sz="2000" dirty="0" smtClean="0"/>
              <a:t>)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ru-RU" altLang="ru-RU" sz="2000" dirty="0" smtClean="0"/>
              <a:t>Проект стандарта </a:t>
            </a:r>
            <a:r>
              <a:rPr lang="en-US" altLang="ru-RU" sz="2000" dirty="0" smtClean="0"/>
              <a:t>SQL-92</a:t>
            </a:r>
            <a:endParaRPr lang="ru-RU" altLang="ru-RU" sz="2000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 smtClean="0"/>
              <a:t>Задача</a:t>
            </a:r>
            <a:r>
              <a:rPr lang="en-US" altLang="ru-RU" sz="2400" dirty="0" smtClean="0"/>
              <a:t> </a:t>
            </a:r>
            <a:r>
              <a:rPr lang="ru-RU" altLang="ru-RU" sz="2400" dirty="0" smtClean="0"/>
              <a:t>стандарта: переносимость приложений между различными ОСУБД, согласование с архитектурой </a:t>
            </a:r>
            <a:r>
              <a:rPr lang="en-US" altLang="ru-RU" sz="2400" dirty="0" smtClean="0"/>
              <a:t>CORBA</a:t>
            </a:r>
            <a:endParaRPr lang="ru-RU" altLang="ru-RU" sz="2400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 smtClean="0"/>
              <a:t>1993(</a:t>
            </a:r>
            <a:r>
              <a:rPr lang="ru-RU" altLang="ru-RU" sz="2400" dirty="0" err="1" smtClean="0"/>
              <a:t>авг</a:t>
            </a:r>
            <a:r>
              <a:rPr lang="ru-RU" altLang="ru-RU" sz="2400" dirty="0" smtClean="0"/>
              <a:t>) – первая  версия стандарта </a:t>
            </a:r>
            <a:r>
              <a:rPr lang="en-US" altLang="ru-RU" sz="2400" dirty="0" smtClean="0"/>
              <a:t>ODMG-93</a:t>
            </a:r>
            <a:r>
              <a:rPr lang="ru-RU" altLang="ru-RU" sz="2400" dirty="0" smtClean="0"/>
              <a:t> (стандарт де факто) содержала </a:t>
            </a:r>
            <a:r>
              <a:rPr lang="ru-RU" sz="2400" kern="1200" dirty="0" smtClean="0"/>
              <a:t>спецификации </a:t>
            </a:r>
            <a:r>
              <a:rPr lang="ru-RU" altLang="ru-RU" sz="2400" dirty="0" smtClean="0"/>
              <a:t>:</a:t>
            </a: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sz="2000" kern="1200" dirty="0" smtClean="0">
                <a:ea typeface="+mn-ea"/>
              </a:rPr>
              <a:t>объектной модели </a:t>
            </a:r>
            <a:r>
              <a:rPr lang="ru-RU" sz="2000" kern="1200" dirty="0" smtClean="0"/>
              <a:t>— расширение </a:t>
            </a:r>
            <a:r>
              <a:rPr lang="ru-RU" sz="2000" kern="1200" dirty="0"/>
              <a:t>модели-ядра стандарта </a:t>
            </a:r>
            <a:r>
              <a:rPr lang="en-US" sz="2000" kern="1200" dirty="0"/>
              <a:t>OMG</a:t>
            </a:r>
            <a:r>
              <a:rPr lang="ru-RU" sz="2000" kern="1200" dirty="0"/>
              <a:t> CORBA</a:t>
            </a:r>
            <a:r>
              <a:rPr lang="ru-RU" sz="2000" kern="1200" dirty="0" smtClean="0">
                <a:ea typeface="+mn-ea"/>
              </a:rPr>
              <a:t>, </a:t>
            </a: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sz="2000" kern="1200" dirty="0" smtClean="0">
                <a:ea typeface="+mn-ea"/>
              </a:rPr>
              <a:t>языка определения объектов </a:t>
            </a:r>
            <a:r>
              <a:rPr lang="en-US" sz="2000" b="1" kern="1200" dirty="0">
                <a:solidFill>
                  <a:srgbClr val="FF0000"/>
                </a:solidFill>
              </a:rPr>
              <a:t>ODL</a:t>
            </a:r>
            <a:r>
              <a:rPr lang="ru-RU" sz="2000" kern="1200" dirty="0"/>
              <a:t> </a:t>
            </a:r>
            <a:r>
              <a:rPr lang="ru-RU" sz="2000" kern="1200" dirty="0" smtClean="0"/>
              <a:t>— расширение </a:t>
            </a:r>
            <a:r>
              <a:rPr lang="ru-RU" sz="2000" kern="1200" dirty="0"/>
              <a:t>языка определения интерфейсов </a:t>
            </a:r>
            <a:r>
              <a:rPr lang="en-US" sz="2000" kern="1200" dirty="0"/>
              <a:t>OMG IDL</a:t>
            </a:r>
            <a:r>
              <a:rPr lang="ru-RU" sz="2000" kern="1200" dirty="0" smtClean="0">
                <a:ea typeface="+mn-ea"/>
              </a:rPr>
              <a:t>, </a:t>
            </a: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sz="2000" kern="1200" dirty="0" smtClean="0">
                <a:ea typeface="+mn-ea"/>
              </a:rPr>
              <a:t>объектного языка запросов</a:t>
            </a:r>
            <a:r>
              <a:rPr lang="ru-RU" sz="2000" b="1" kern="1200" dirty="0" smtClean="0">
                <a:solidFill>
                  <a:srgbClr val="FF0000"/>
                </a:solidFill>
                <a:ea typeface="+mn-ea"/>
              </a:rPr>
              <a:t> </a:t>
            </a:r>
            <a:r>
              <a:rPr lang="en-US" sz="2000" b="1" kern="1200" dirty="0" smtClean="0">
                <a:solidFill>
                  <a:srgbClr val="FF0000"/>
                </a:solidFill>
                <a:ea typeface="+mn-ea"/>
              </a:rPr>
              <a:t>OQL</a:t>
            </a:r>
            <a:r>
              <a:rPr lang="ru-RU" sz="2000" b="1" kern="1200" dirty="0" smtClean="0">
                <a:solidFill>
                  <a:srgbClr val="FF0000"/>
                </a:solidFill>
                <a:ea typeface="+mn-ea"/>
              </a:rPr>
              <a:t> </a:t>
            </a:r>
            <a:r>
              <a:rPr lang="ru-RU" sz="2000" kern="1200" dirty="0" smtClean="0"/>
              <a:t>— адаптация некоторого </a:t>
            </a:r>
            <a:r>
              <a:rPr lang="ru-RU" sz="2000" kern="1200" dirty="0"/>
              <a:t>фрагмента языка </a:t>
            </a:r>
            <a:r>
              <a:rPr lang="en-US" sz="2000" kern="1200" dirty="0"/>
              <a:t>SQL</a:t>
            </a:r>
            <a:r>
              <a:rPr lang="ru-RU" sz="2000" kern="1200" dirty="0"/>
              <a:t> к объектной модели ODMG.</a:t>
            </a:r>
            <a:r>
              <a:rPr lang="ru-RU" sz="2000" kern="1200" dirty="0" smtClean="0">
                <a:ea typeface="+mn-ea"/>
              </a:rPr>
              <a:t>, </a:t>
            </a:r>
            <a:endParaRPr lang="ru-RU" sz="2000" kern="1200" dirty="0"/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sz="2000" kern="1200" dirty="0" smtClean="0">
                <a:ea typeface="+mn-ea"/>
              </a:rPr>
              <a:t>связывания для объектных языков программирования </a:t>
            </a:r>
            <a:r>
              <a:rPr lang="en-US" sz="2000" kern="1200" dirty="0" smtClean="0">
                <a:ea typeface="+mn-ea"/>
              </a:rPr>
              <a:t>Smalltalk</a:t>
            </a:r>
            <a:r>
              <a:rPr lang="ru-RU" sz="2000" kern="1200" dirty="0" smtClean="0">
                <a:ea typeface="+mn-ea"/>
              </a:rPr>
              <a:t> и C++. 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sz="2400" dirty="0" smtClean="0"/>
              <a:t>Таким образом обеспечивалась </a:t>
            </a:r>
            <a:r>
              <a:rPr lang="ru-RU" sz="2400" dirty="0"/>
              <a:t>естественная возможность интеграции систем баз данных, основанных на стандарте ODMG, в среду объектных технологий </a:t>
            </a:r>
            <a:r>
              <a:rPr lang="ru-RU" sz="2400" dirty="0" smtClean="0"/>
              <a:t>CORBA</a:t>
            </a:r>
            <a:endParaRPr lang="ru-RU" altLang="ru-RU" sz="2400" dirty="0"/>
          </a:p>
        </p:txBody>
      </p:sp>
      <p:sp>
        <p:nvSpPr>
          <p:cNvPr id="6148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001000" y="6248400"/>
            <a:ext cx="685800" cy="45720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55683A9-8EA6-427B-8752-4E4A773C2B1B}" type="slidenum">
              <a:rPr lang="ru-RU" altLang="ru-RU" smtClean="0">
                <a:latin typeface="Arial Black" pitchFamily="34" charset="0"/>
              </a:rPr>
              <a:pPr eaLnBrk="1" hangingPunct="1"/>
              <a:t>6</a:t>
            </a:fld>
            <a:endParaRPr lang="ru-RU" altLang="ru-RU" dirty="0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6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6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6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60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60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60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458200" cy="838200"/>
          </a:xfrm>
        </p:spPr>
        <p:txBody>
          <a:bodyPr/>
          <a:lstStyle/>
          <a:p>
            <a:pPr algn="ctr" eaLnBrk="1" hangingPunct="1"/>
            <a:r>
              <a:rPr lang="ru-RU" altLang="ru-RU" sz="3200" dirty="0" smtClean="0">
                <a:solidFill>
                  <a:schemeClr val="accent5">
                    <a:lumMod val="50000"/>
                  </a:schemeClr>
                </a:solidFill>
              </a:rPr>
              <a:t>Стандарты </a:t>
            </a:r>
            <a:r>
              <a:rPr lang="en-US" altLang="ru-RU" sz="3200" dirty="0" smtClean="0">
                <a:solidFill>
                  <a:schemeClr val="accent5">
                    <a:lumMod val="50000"/>
                  </a:schemeClr>
                </a:solidFill>
              </a:rPr>
              <a:t>Object </a:t>
            </a:r>
            <a:r>
              <a:rPr lang="en-US" altLang="ru-RU" sz="3200" b="1" u="sng" dirty="0" smtClean="0">
                <a:solidFill>
                  <a:schemeClr val="accent5">
                    <a:lumMod val="50000"/>
                  </a:schemeClr>
                </a:solidFill>
              </a:rPr>
              <a:t>Data</a:t>
            </a:r>
            <a:r>
              <a:rPr lang="en-US" altLang="ru-RU" sz="3200" dirty="0" smtClean="0">
                <a:solidFill>
                  <a:schemeClr val="accent5">
                    <a:lumMod val="50000"/>
                  </a:schemeClr>
                </a:solidFill>
              </a:rPr>
              <a:t> Management Group </a:t>
            </a:r>
            <a:endParaRPr lang="ru-RU" altLang="ru-RU" sz="3200" dirty="0" smtClean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914400"/>
            <a:ext cx="8991600" cy="5791200"/>
          </a:xfrm>
        </p:spPr>
        <p:txBody>
          <a:bodyPr>
            <a:normAutofit fontScale="700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 smtClean="0"/>
              <a:t>1997(июль) – </a:t>
            </a:r>
            <a:r>
              <a:rPr lang="ru-RU" sz="2400" i="1" kern="1200" dirty="0" smtClean="0">
                <a:solidFill>
                  <a:schemeClr val="bg2"/>
                </a:solidFill>
              </a:rPr>
              <a:t>существенно дополненная </a:t>
            </a:r>
            <a:r>
              <a:rPr lang="ru-RU" sz="2400" kern="1200" dirty="0" smtClean="0">
                <a:solidFill>
                  <a:schemeClr val="bg2"/>
                </a:solidFill>
              </a:rPr>
              <a:t>с </a:t>
            </a:r>
            <a:r>
              <a:rPr lang="ru-RU" sz="2400" kern="1200" spc="-60" dirty="0" smtClean="0">
                <a:solidFill>
                  <a:schemeClr val="bg2"/>
                </a:solidFill>
              </a:rPr>
              <a:t>функциональной</a:t>
            </a:r>
            <a:r>
              <a:rPr lang="ru-RU" sz="2400" kern="1200" dirty="0" smtClean="0">
                <a:solidFill>
                  <a:schemeClr val="bg2"/>
                </a:solidFill>
              </a:rPr>
              <a:t> </a:t>
            </a:r>
            <a:r>
              <a:rPr lang="ru-RU" sz="2400" kern="1200" dirty="0" smtClean="0"/>
              <a:t>точки зрения версия стандарта</a:t>
            </a:r>
            <a:r>
              <a:rPr lang="ru-RU" altLang="ru-RU" sz="2400" dirty="0" smtClean="0"/>
              <a:t> </a:t>
            </a:r>
            <a:r>
              <a:rPr lang="en-US" altLang="ru-RU" sz="2400" dirty="0" smtClean="0"/>
              <a:t>ODMG</a:t>
            </a:r>
            <a:r>
              <a:rPr lang="ru-RU" altLang="ru-RU" sz="2400" dirty="0" smtClean="0"/>
              <a:t> 2.0. </a:t>
            </a:r>
            <a:br>
              <a:rPr lang="ru-RU" altLang="ru-RU" sz="2400" dirty="0" smtClean="0"/>
            </a:br>
            <a:r>
              <a:rPr lang="ru-RU" altLang="ru-RU" sz="2400" kern="1200" dirty="0" smtClean="0"/>
              <a:t>В</a:t>
            </a:r>
            <a:r>
              <a:rPr lang="ru-RU" sz="2400" kern="1200" dirty="0" smtClean="0"/>
              <a:t> результате заключительного редактирования в ней появился </a:t>
            </a:r>
            <a:r>
              <a:rPr lang="ru-RU" sz="2400" b="1" i="1" kern="1200" dirty="0" smtClean="0"/>
              <a:t>ряд некорректностей</a:t>
            </a:r>
            <a:r>
              <a:rPr lang="ru-RU" sz="2400" kern="1200" dirty="0" smtClean="0"/>
              <a:t>, связанных с описанием </a:t>
            </a:r>
            <a:r>
              <a:rPr lang="ru-RU" sz="2400" b="1" kern="1200" dirty="0" smtClean="0"/>
              <a:t>базовой объектной модели</a:t>
            </a:r>
            <a:r>
              <a:rPr lang="ru-RU" sz="2400" kern="1200" dirty="0" smtClean="0"/>
              <a:t> стандарта, которые привели к ее рассогласованию с языковыми спецификациями</a:t>
            </a:r>
            <a:endParaRPr lang="ru-RU" altLang="ru-RU" sz="2400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 smtClean="0"/>
              <a:t>С апреля 1998г, изменено название </a:t>
            </a:r>
            <a:r>
              <a:rPr lang="en-US" altLang="ru-RU" sz="2400" dirty="0" smtClean="0"/>
              <a:t>Object </a:t>
            </a:r>
            <a:r>
              <a:rPr lang="en-US" altLang="ru-RU" sz="2400" b="1" u="sng" dirty="0" smtClean="0"/>
              <a:t>Data</a:t>
            </a:r>
            <a:r>
              <a:rPr lang="en-US" altLang="ru-RU" sz="2400" dirty="0" smtClean="0"/>
              <a:t> Management Group (ODMG)</a:t>
            </a:r>
            <a:r>
              <a:rPr lang="ru-RU" altLang="ru-RU" sz="2400" dirty="0" smtClean="0"/>
              <a:t> </a:t>
            </a:r>
            <a:r>
              <a:rPr lang="ru-RU" altLang="ru-RU" sz="2400" b="1" dirty="0" smtClean="0"/>
              <a:t>стандарт универсального хранения объектов (</a:t>
            </a:r>
            <a:r>
              <a:rPr lang="ru-RU" altLang="ru-RU" sz="2400" dirty="0" smtClean="0"/>
              <a:t>изменение стратегии </a:t>
            </a:r>
            <a:r>
              <a:rPr lang="ru-RU" altLang="ru-RU" sz="2400" dirty="0"/>
              <a:t>и </a:t>
            </a:r>
            <a:r>
              <a:rPr lang="ru-RU" altLang="ru-RU" sz="2400" dirty="0" smtClean="0"/>
              <a:t>содержания </a:t>
            </a:r>
            <a:r>
              <a:rPr lang="ru-RU" altLang="ru-RU" sz="2400" dirty="0"/>
              <a:t>работ</a:t>
            </a:r>
            <a:r>
              <a:rPr lang="ru-RU" altLang="ru-RU" sz="2400" b="1" dirty="0" smtClean="0"/>
              <a:t>)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 smtClean="0"/>
              <a:t>Сотрудничество с </a:t>
            </a:r>
            <a:r>
              <a:rPr lang="en-US" altLang="ru-RU" sz="2400" dirty="0"/>
              <a:t>Sun</a:t>
            </a:r>
            <a:r>
              <a:rPr lang="ru-RU" altLang="ru-RU" sz="2400" dirty="0"/>
              <a:t>, </a:t>
            </a:r>
            <a:r>
              <a:rPr lang="en-US" altLang="ru-RU" sz="2400" dirty="0"/>
              <a:t>Novell</a:t>
            </a:r>
            <a:r>
              <a:rPr lang="ru-RU" altLang="ru-RU" sz="2400" dirty="0"/>
              <a:t> и </a:t>
            </a:r>
            <a:r>
              <a:rPr lang="en-US" altLang="ru-RU" sz="2400" dirty="0"/>
              <a:t>Secant Technologies</a:t>
            </a:r>
            <a:r>
              <a:rPr lang="ru-RU" altLang="ru-RU" sz="2400" dirty="0"/>
              <a:t> </a:t>
            </a:r>
            <a:r>
              <a:rPr lang="ru-RU" altLang="ru-RU" sz="2400" dirty="0" smtClean="0"/>
              <a:t>для </a:t>
            </a:r>
            <a:r>
              <a:rPr lang="ru-RU" altLang="ru-RU" sz="2400" dirty="0"/>
              <a:t>выработки </a:t>
            </a:r>
            <a:r>
              <a:rPr lang="ru-RU" altLang="ru-RU" sz="2400" b="1" dirty="0"/>
              <a:t>спецификаций сервиса </a:t>
            </a:r>
            <a:r>
              <a:rPr lang="en-US" altLang="ru-RU" sz="2400" b="1" dirty="0"/>
              <a:t>OMG</a:t>
            </a:r>
            <a:r>
              <a:rPr lang="ru-RU" altLang="ru-RU" sz="2400" b="1" dirty="0"/>
              <a:t> долговременно хранимых </a:t>
            </a:r>
            <a:r>
              <a:rPr lang="ru-RU" altLang="ru-RU" sz="2400" b="1" dirty="0" smtClean="0"/>
              <a:t>объектов </a:t>
            </a:r>
            <a:r>
              <a:rPr lang="ru-RU" altLang="ru-RU" sz="2400" dirty="0"/>
              <a:t>версии </a:t>
            </a:r>
            <a:r>
              <a:rPr lang="ru-RU" altLang="ru-RU" sz="2400" dirty="0" smtClean="0"/>
              <a:t>2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/>
              <a:t>ODMG предложила сообществу </a:t>
            </a:r>
            <a:r>
              <a:rPr lang="en-US" altLang="ru-RU" sz="2400" dirty="0"/>
              <a:t>Java</a:t>
            </a:r>
            <a:r>
              <a:rPr lang="ru-RU" altLang="ru-RU" sz="2400" dirty="0"/>
              <a:t> </a:t>
            </a:r>
            <a:r>
              <a:rPr lang="ru-RU" altLang="ru-RU" sz="2400" b="1" dirty="0"/>
              <a:t>использовать </a:t>
            </a:r>
            <a:r>
              <a:rPr lang="ru-RU" altLang="ru-RU" sz="2400" b="1" dirty="0" smtClean="0"/>
              <a:t>спецификации </a:t>
            </a:r>
            <a:r>
              <a:rPr lang="ru-RU" altLang="ru-RU" sz="2400" b="1" dirty="0"/>
              <a:t>связывания </a:t>
            </a:r>
            <a:r>
              <a:rPr lang="en-US" altLang="ru-RU" sz="2400" b="1" dirty="0"/>
              <a:t>Java</a:t>
            </a:r>
            <a:r>
              <a:rPr lang="ru-RU" altLang="ru-RU" sz="2400" b="1" dirty="0"/>
              <a:t> из стандарта ODMG </a:t>
            </a:r>
            <a:r>
              <a:rPr lang="ru-RU" altLang="ru-RU" sz="2400" dirty="0"/>
              <a:t>как основу начавшегося </a:t>
            </a:r>
            <a:r>
              <a:rPr lang="ru-RU" altLang="ru-RU" sz="2400" dirty="0" smtClean="0"/>
              <a:t>процесса </a:t>
            </a:r>
            <a:r>
              <a:rPr lang="ru-RU" altLang="ru-RU" sz="2400" dirty="0"/>
              <a:t>разработки спецификаций </a:t>
            </a:r>
            <a:r>
              <a:rPr lang="en-US" altLang="ru-RU" sz="2400" dirty="0"/>
              <a:t>Java Data Object Specification</a:t>
            </a:r>
            <a:r>
              <a:rPr lang="ru-RU" altLang="ru-RU" sz="2400" dirty="0"/>
              <a:t> (</a:t>
            </a:r>
            <a:r>
              <a:rPr lang="en-US" altLang="ru-RU" sz="2400" dirty="0"/>
              <a:t>JDO</a:t>
            </a:r>
            <a:r>
              <a:rPr lang="ru-RU" altLang="ru-RU" sz="2400" dirty="0" smtClean="0"/>
              <a:t>).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 smtClean="0"/>
              <a:t>Предполагалось </a:t>
            </a:r>
            <a:r>
              <a:rPr lang="ru-RU" altLang="ru-RU" sz="2400" dirty="0"/>
              <a:t>обеспечить </a:t>
            </a:r>
            <a:r>
              <a:rPr lang="ru-RU" altLang="ru-RU" sz="2400" b="1" i="1" dirty="0"/>
              <a:t>прозрачность</a:t>
            </a:r>
            <a:r>
              <a:rPr lang="ru-RU" altLang="ru-RU" sz="2400" b="1" dirty="0"/>
              <a:t> обращений к базе данных </a:t>
            </a:r>
            <a:r>
              <a:rPr lang="ru-RU" altLang="ru-RU" sz="2400" dirty="0"/>
              <a:t>для доступа к долговременно хранимым объектам, </a:t>
            </a:r>
            <a:r>
              <a:rPr lang="ru-RU" altLang="ru-RU" sz="2400" b="1" i="1" dirty="0"/>
              <a:t>транзакционную семантику</a:t>
            </a:r>
            <a:r>
              <a:rPr lang="ru-RU" altLang="ru-RU" sz="2400" dirty="0"/>
              <a:t> для обработки объектов такого рода, а также </a:t>
            </a:r>
            <a:r>
              <a:rPr lang="ru-RU" altLang="ru-RU" sz="2400" b="1" dirty="0"/>
              <a:t>интерпретацию данных </a:t>
            </a:r>
            <a:r>
              <a:rPr lang="ru-RU" altLang="ru-RU" sz="2400" b="1" i="1" dirty="0"/>
              <a:t>реляционных баз данных как объектов </a:t>
            </a:r>
            <a:r>
              <a:rPr lang="en-US" altLang="ru-RU" sz="2400" b="1" i="1" dirty="0"/>
              <a:t>Java</a:t>
            </a:r>
            <a:r>
              <a:rPr lang="ru-RU" altLang="ru-RU" sz="2400" dirty="0"/>
              <a:t> и другие возможности</a:t>
            </a:r>
            <a:endParaRPr lang="ru-RU" altLang="ru-RU" sz="2400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 smtClean="0"/>
              <a:t>Январь 2000.</a:t>
            </a:r>
            <a:br>
              <a:rPr lang="ru-RU" altLang="ru-RU" sz="2400" dirty="0" smtClean="0"/>
            </a:br>
            <a:r>
              <a:rPr lang="en-US" altLang="ru-RU" sz="2400" dirty="0" smtClean="0"/>
              <a:t>The </a:t>
            </a:r>
            <a:r>
              <a:rPr lang="en-US" altLang="ru-RU" sz="2400" b="1" dirty="0" smtClean="0"/>
              <a:t>Object </a:t>
            </a:r>
            <a:r>
              <a:rPr lang="en-US" altLang="ru-RU" sz="2400" b="1" u="sng" dirty="0" smtClean="0">
                <a:solidFill>
                  <a:schemeClr val="bg2"/>
                </a:solidFill>
              </a:rPr>
              <a:t>Data</a:t>
            </a:r>
            <a:r>
              <a:rPr lang="en-US" altLang="ru-RU" sz="2400" b="1" dirty="0" smtClean="0"/>
              <a:t> Standard: ODMG 3.0</a:t>
            </a:r>
            <a:r>
              <a:rPr lang="ru-RU" altLang="ru-RU" sz="2400" dirty="0" smtClean="0"/>
              <a:t>. </a:t>
            </a:r>
            <a:r>
              <a:rPr lang="ru-RU" altLang="ru-RU" sz="2400" kern="1200" dirty="0"/>
              <a:t>О</a:t>
            </a:r>
            <a:r>
              <a:rPr lang="ru-RU" sz="2400" kern="1200" dirty="0" smtClean="0"/>
              <a:t>публикован издательством </a:t>
            </a:r>
            <a:r>
              <a:rPr lang="en-US" sz="2400" kern="1200" dirty="0" smtClean="0"/>
              <a:t>Morgan Kaufmann Publishers</a:t>
            </a:r>
            <a:r>
              <a:rPr lang="ru-RU" sz="2400" kern="1200" dirty="0" smtClean="0"/>
              <a:t>.</a:t>
            </a:r>
            <a:r>
              <a:rPr lang="ru-RU" altLang="ru-RU" sz="2400" dirty="0" smtClean="0"/>
              <a:t> </a:t>
            </a:r>
          </a:p>
        </p:txBody>
      </p:sp>
      <p:sp>
        <p:nvSpPr>
          <p:cNvPr id="7172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F32C9B71-5192-4AD5-B4A6-904D24153D21}" type="slidenum">
              <a:rPr lang="ru-RU" altLang="ru-RU" smtClean="0">
                <a:latin typeface="Arial Black" pitchFamily="34" charset="0"/>
              </a:rPr>
              <a:pPr eaLnBrk="1" hangingPunct="1"/>
              <a:t>7</a:t>
            </a:fld>
            <a:endParaRPr lang="ru-RU" altLang="ru-RU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/>
          <a:lstStyle/>
          <a:p>
            <a:pPr algn="ctr" eaLnBrk="1" hangingPunct="1"/>
            <a:r>
              <a:rPr lang="en-US" altLang="ru-RU" sz="3600" smtClean="0">
                <a:solidFill>
                  <a:srgbClr val="C00000"/>
                </a:solidFill>
              </a:rPr>
              <a:t>ODMG</a:t>
            </a:r>
            <a:r>
              <a:rPr lang="ru-RU" altLang="ru-RU" sz="3600" smtClean="0">
                <a:solidFill>
                  <a:srgbClr val="C00000"/>
                </a:solidFill>
              </a:rPr>
              <a:t>-соответствие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762000"/>
            <a:ext cx="9144000" cy="60960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ru-RU" altLang="ru-RU" sz="1600" dirty="0" smtClean="0"/>
              <a:t>Предлагается дифференцированно оценивать соответствие продуктов отдельным компонентам стандарта</a:t>
            </a:r>
            <a:endParaRPr lang="en-US" altLang="ru-RU" sz="1600" dirty="0" smtClean="0"/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ru-RU" altLang="ru-RU" sz="1600" dirty="0" smtClean="0"/>
              <a:t>СУ</a:t>
            </a:r>
            <a:r>
              <a:rPr lang="en-US" altLang="ru-RU" sz="1600" dirty="0" smtClean="0"/>
              <a:t>O</a:t>
            </a:r>
            <a:r>
              <a:rPr lang="ru-RU" altLang="ru-RU" sz="1600" dirty="0" smtClean="0"/>
              <a:t>БД может быть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ru-RU" sz="1600" dirty="0" smtClean="0"/>
              <a:t>ODMG </a:t>
            </a:r>
            <a:r>
              <a:rPr lang="en-US" altLang="ru-RU" sz="1600" b="1" dirty="0" smtClean="0"/>
              <a:t>x</a:t>
            </a:r>
            <a:r>
              <a:rPr lang="ru-RU" altLang="ru-RU" sz="1600" b="1" dirty="0" smtClean="0"/>
              <a:t>-сертифицированной </a:t>
            </a:r>
            <a:r>
              <a:rPr lang="ru-RU" sz="1600" dirty="0" smtClean="0"/>
              <a:t>(</a:t>
            </a:r>
            <a:r>
              <a:rPr lang="en-US" sz="1600" dirty="0"/>
              <a:t>ODMG </a:t>
            </a:r>
            <a:r>
              <a:rPr lang="en-US" sz="1600" i="1" dirty="0"/>
              <a:t>x</a:t>
            </a:r>
            <a:r>
              <a:rPr lang="ru-RU" sz="1600" dirty="0"/>
              <a:t>-</a:t>
            </a:r>
            <a:r>
              <a:rPr lang="en-US" sz="1600" dirty="0"/>
              <a:t>certified</a:t>
            </a:r>
            <a:r>
              <a:rPr lang="ru-RU" sz="1600" dirty="0" smtClean="0"/>
              <a:t>)</a:t>
            </a:r>
            <a:r>
              <a:rPr lang="en-US" altLang="ru-RU" sz="1600" dirty="0" smtClean="0"/>
              <a:t>,</a:t>
            </a:r>
            <a:r>
              <a:rPr lang="ru-RU" altLang="ru-RU" sz="1600" dirty="0" smtClean="0"/>
              <a:t> </a:t>
            </a:r>
            <a:r>
              <a:rPr lang="ru-RU" sz="1600" dirty="0"/>
              <a:t>удовлетворяет </a:t>
            </a:r>
            <a:r>
              <a:rPr lang="ru-RU" sz="1600" b="1" dirty="0"/>
              <a:t>всему набору разработанных ODMG тестов </a:t>
            </a:r>
            <a:r>
              <a:rPr lang="ru-RU" sz="1600" dirty="0"/>
              <a:t>сертификации для компонента </a:t>
            </a:r>
            <a:r>
              <a:rPr lang="ru-RU" sz="1600" i="1" dirty="0"/>
              <a:t>х</a:t>
            </a:r>
            <a:r>
              <a:rPr lang="ru-RU" sz="1600" dirty="0"/>
              <a:t> рассматриваемого стандарта</a:t>
            </a:r>
            <a:endParaRPr lang="ru-RU" altLang="ru-RU" sz="1600" dirty="0" smtClean="0"/>
          </a:p>
          <a:p>
            <a:pPr eaLnBrk="1" hangingPunct="1">
              <a:lnSpc>
                <a:spcPct val="120000"/>
              </a:lnSpc>
            </a:pPr>
            <a:r>
              <a:rPr lang="en-US" altLang="ru-RU" sz="1600" dirty="0" smtClean="0"/>
              <a:t>ODMG</a:t>
            </a:r>
            <a:r>
              <a:rPr lang="ru-RU" altLang="ru-RU" sz="1600" dirty="0" smtClean="0"/>
              <a:t> </a:t>
            </a:r>
            <a:r>
              <a:rPr lang="en-US" altLang="ru-RU" sz="1600" b="1" dirty="0" smtClean="0"/>
              <a:t>x</a:t>
            </a:r>
            <a:r>
              <a:rPr lang="ru-RU" altLang="ru-RU" sz="1600" b="1" dirty="0" smtClean="0"/>
              <a:t>-соответствующей </a:t>
            </a:r>
            <a:r>
              <a:rPr lang="ru-RU" sz="1600" dirty="0"/>
              <a:t>(</a:t>
            </a:r>
            <a:r>
              <a:rPr lang="en-US" sz="1600" dirty="0"/>
              <a:t>ODMG </a:t>
            </a:r>
            <a:r>
              <a:rPr lang="en-US" sz="1600" i="1" dirty="0"/>
              <a:t>x</a:t>
            </a:r>
            <a:r>
              <a:rPr lang="ru-RU" sz="1600" dirty="0"/>
              <a:t>-</a:t>
            </a:r>
            <a:r>
              <a:rPr lang="en-US" sz="1600" dirty="0"/>
              <a:t>compliant</a:t>
            </a:r>
            <a:r>
              <a:rPr lang="ru-RU" sz="1600" dirty="0"/>
              <a:t>)</a:t>
            </a:r>
            <a:r>
              <a:rPr lang="en-US" altLang="ru-RU" sz="1600" dirty="0" smtClean="0"/>
              <a:t>,</a:t>
            </a:r>
            <a:r>
              <a:rPr lang="ru-RU" sz="1600" dirty="0"/>
              <a:t> для </a:t>
            </a:r>
            <a:r>
              <a:rPr lang="en-US" sz="1600" dirty="0"/>
              <a:t>ODL</a:t>
            </a:r>
            <a:r>
              <a:rPr lang="ru-RU" sz="1600" dirty="0"/>
              <a:t> и </a:t>
            </a:r>
            <a:r>
              <a:rPr lang="en-US" sz="1600" dirty="0"/>
              <a:t>OQL</a:t>
            </a:r>
            <a:r>
              <a:rPr lang="ru-RU" sz="1600" dirty="0"/>
              <a:t> </a:t>
            </a:r>
            <a:r>
              <a:rPr lang="ru-RU" sz="1600" dirty="0" smtClean="0"/>
              <a:t>это </a:t>
            </a:r>
            <a:r>
              <a:rPr lang="ru-RU" sz="1600" dirty="0"/>
              <a:t>синоним </a:t>
            </a:r>
            <a:r>
              <a:rPr lang="ru-RU" sz="1600" i="1" dirty="0"/>
              <a:t>х</a:t>
            </a:r>
            <a:r>
              <a:rPr lang="ru-RU" sz="1600" dirty="0"/>
              <a:t>-</a:t>
            </a:r>
            <a:r>
              <a:rPr lang="ru-RU" sz="1600" dirty="0" err="1"/>
              <a:t>сертифицированности</a:t>
            </a:r>
            <a:r>
              <a:rPr lang="ru-RU" sz="1600" dirty="0"/>
              <a:t> </a:t>
            </a:r>
            <a:endParaRPr lang="en-US" altLang="ru-RU" sz="1600" dirty="0" smtClean="0"/>
          </a:p>
          <a:p>
            <a:pPr eaLnBrk="1" hangingPunct="1">
              <a:lnSpc>
                <a:spcPct val="120000"/>
              </a:lnSpc>
            </a:pPr>
            <a:r>
              <a:rPr lang="en-US" altLang="ru-RU" sz="1600" dirty="0" smtClean="0"/>
              <a:t> x</a:t>
            </a:r>
            <a:r>
              <a:rPr lang="ru-RU" altLang="ru-RU" sz="1600" dirty="0" smtClean="0"/>
              <a:t> означает один из компонентов стандарта </a:t>
            </a:r>
            <a:r>
              <a:rPr lang="en-US" altLang="ru-RU" sz="1600" dirty="0" smtClean="0"/>
              <a:t>ODMG</a:t>
            </a:r>
            <a:r>
              <a:rPr lang="ru-RU" altLang="ru-RU" sz="1600" dirty="0" smtClean="0"/>
              <a:t>:</a:t>
            </a:r>
          </a:p>
          <a:p>
            <a:pPr lvl="1" eaLnBrk="1" hangingPunct="1">
              <a:lnSpc>
                <a:spcPct val="120000"/>
              </a:lnSpc>
            </a:pPr>
            <a:r>
              <a:rPr lang="ru-RU" altLang="ru-RU" sz="1600" dirty="0" smtClean="0"/>
              <a:t>Язык </a:t>
            </a:r>
            <a:r>
              <a:rPr lang="en-US" altLang="ru-RU" sz="1600" dirty="0" smtClean="0"/>
              <a:t>ODL, </a:t>
            </a:r>
            <a:endParaRPr lang="ru-RU" altLang="ru-RU" sz="1600" dirty="0" smtClean="0"/>
          </a:p>
          <a:p>
            <a:pPr lvl="1" eaLnBrk="1" hangingPunct="1">
              <a:lnSpc>
                <a:spcPct val="120000"/>
              </a:lnSpc>
            </a:pPr>
            <a:r>
              <a:rPr lang="ru-RU" altLang="ru-RU" sz="1600" dirty="0" smtClean="0"/>
              <a:t>Язык </a:t>
            </a:r>
            <a:r>
              <a:rPr lang="en-US" altLang="ru-RU" sz="1600" dirty="0" smtClean="0"/>
              <a:t>OQL,</a:t>
            </a:r>
            <a:endParaRPr lang="ru-RU" altLang="ru-RU" sz="1600" dirty="0" smtClean="0"/>
          </a:p>
          <a:p>
            <a:pPr lvl="1" eaLnBrk="1" hangingPunct="1">
              <a:lnSpc>
                <a:spcPct val="120000"/>
              </a:lnSpc>
            </a:pPr>
            <a:r>
              <a:rPr lang="ru-RU" altLang="ru-RU" sz="1600" dirty="0" smtClean="0"/>
              <a:t>Связывание для С++</a:t>
            </a:r>
            <a:r>
              <a:rPr lang="en-US" altLang="ru-RU" sz="1600" dirty="0" smtClean="0"/>
              <a:t>, </a:t>
            </a:r>
            <a:r>
              <a:rPr lang="en-US" altLang="ru-RU" sz="1600" dirty="0" err="1" smtClean="0"/>
              <a:t>Smaltalk</a:t>
            </a:r>
            <a:r>
              <a:rPr lang="en-US" altLang="ru-RU" sz="1600" dirty="0" smtClean="0"/>
              <a:t>, Java)</a:t>
            </a:r>
            <a:endParaRPr lang="ru-RU" altLang="ru-RU" sz="1600" dirty="0" smtClean="0"/>
          </a:p>
          <a:p>
            <a:pPr eaLnBrk="1" hangingPunct="1">
              <a:lnSpc>
                <a:spcPct val="120000"/>
              </a:lnSpc>
            </a:pPr>
            <a:r>
              <a:rPr lang="en-US" altLang="ru-RU" sz="1600" dirty="0" smtClean="0"/>
              <a:t>ODMG</a:t>
            </a:r>
            <a:r>
              <a:rPr lang="ru-RU" altLang="ru-RU" sz="1600" dirty="0" smtClean="0"/>
              <a:t>-соответствующей, если продукт </a:t>
            </a:r>
            <a:r>
              <a:rPr lang="ru-RU" sz="1600" dirty="0" smtClean="0"/>
              <a:t>являются </a:t>
            </a:r>
            <a:r>
              <a:rPr lang="ru-RU" sz="1600" dirty="0"/>
              <a:t>"</a:t>
            </a:r>
            <a:r>
              <a:rPr lang="ru-RU" sz="1600" i="1" dirty="0"/>
              <a:t>ODMG х-соответствующими</a:t>
            </a:r>
            <a:r>
              <a:rPr lang="ru-RU" sz="1600" dirty="0"/>
              <a:t>" для одного или более компонентов </a:t>
            </a:r>
            <a:r>
              <a:rPr lang="ru-RU" sz="1600" i="1" dirty="0"/>
              <a:t>х</a:t>
            </a:r>
            <a:r>
              <a:rPr lang="ru-RU" sz="1600" dirty="0"/>
              <a:t> стандарта консорциума</a:t>
            </a:r>
            <a:r>
              <a:rPr lang="ru-RU" sz="1600" dirty="0" smtClean="0"/>
              <a:t>.</a:t>
            </a:r>
            <a:endParaRPr lang="ru-RU" altLang="ru-RU" sz="1600" dirty="0" smtClean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ru-RU" sz="1600" dirty="0" smtClean="0"/>
              <a:t>ODMG</a:t>
            </a:r>
            <a:r>
              <a:rPr lang="ru-RU" altLang="ru-RU" sz="1600" dirty="0" smtClean="0"/>
              <a:t>-соответствующие системы: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ru-RU" sz="1600" dirty="0" smtClean="0"/>
              <a:t>Jasmine (Computer Associates),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ru-RU" sz="1600" dirty="0" smtClean="0"/>
              <a:t>TITANIUM (Micro Data Base Systems)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ru-RU" sz="1600" dirty="0" smtClean="0"/>
              <a:t>Orient (Orient Inc.), POET (Poet Inc.), Versant (Versant Inc.)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ru-RU" sz="1600" dirty="0" err="1" smtClean="0"/>
              <a:t>JavaBlend</a:t>
            </a:r>
            <a:r>
              <a:rPr lang="en-US" altLang="ru-RU" sz="1600" dirty="0" smtClean="0"/>
              <a:t> ( Sun Microsystems-Oracle)</a:t>
            </a:r>
            <a:endParaRPr lang="ru-RU" altLang="ru-RU" sz="1600" dirty="0" smtClean="0"/>
          </a:p>
        </p:txBody>
      </p:sp>
      <p:sp>
        <p:nvSpPr>
          <p:cNvPr id="8196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735792ED-04A8-4FAC-9BB5-A4A09FA8B503}" type="slidenum">
              <a:rPr lang="ru-RU" altLang="ru-RU" smtClean="0">
                <a:latin typeface="Arial Black" pitchFamily="34" charset="0"/>
              </a:rPr>
              <a:pPr eaLnBrk="1" hangingPunct="1"/>
              <a:t>8</a:t>
            </a:fld>
            <a:endParaRPr lang="ru-RU" altLang="ru-RU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685800"/>
          </a:xfrm>
        </p:spPr>
        <p:txBody>
          <a:bodyPr/>
          <a:lstStyle/>
          <a:p>
            <a:pPr algn="ctr" eaLnBrk="1" hangingPunct="1"/>
            <a:r>
              <a:rPr lang="ru-RU" altLang="ru-RU" sz="3200" smtClean="0">
                <a:solidFill>
                  <a:schemeClr val="bg2"/>
                </a:solidFill>
              </a:rPr>
              <a:t>Структура СУОБД</a:t>
            </a:r>
          </a:p>
        </p:txBody>
      </p:sp>
      <p:sp>
        <p:nvSpPr>
          <p:cNvPr id="9219" name="TextBox 4"/>
          <p:cNvSpPr txBox="1">
            <a:spLocks noChangeArrowheads="1"/>
          </p:cNvSpPr>
          <p:nvPr/>
        </p:nvSpPr>
        <p:spPr bwMode="auto">
          <a:xfrm>
            <a:off x="914400" y="1143000"/>
            <a:ext cx="2819400" cy="9906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b="1"/>
              <a:t>Определения на </a:t>
            </a:r>
            <a:r>
              <a:rPr lang="en-US" altLang="ru-RU" sz="1800" b="1"/>
              <a:t>ODL</a:t>
            </a:r>
            <a:r>
              <a:rPr lang="ru-RU" altLang="ru-RU" sz="1800" b="1"/>
              <a:t> или на ЯП</a:t>
            </a:r>
            <a:r>
              <a:rPr lang="en-US" altLang="ru-RU" sz="1800" b="1"/>
              <a:t> ODL</a:t>
            </a:r>
            <a:endParaRPr lang="ru-RU" altLang="ru-RU" sz="1800" b="1"/>
          </a:p>
        </p:txBody>
      </p:sp>
      <p:sp>
        <p:nvSpPr>
          <p:cNvPr id="9220" name="TextBox 5"/>
          <p:cNvSpPr txBox="1">
            <a:spLocks noChangeArrowheads="1"/>
          </p:cNvSpPr>
          <p:nvPr/>
        </p:nvSpPr>
        <p:spPr bwMode="auto">
          <a:xfrm>
            <a:off x="5181600" y="1143000"/>
            <a:ext cx="3048000" cy="92392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b="1"/>
              <a:t>Исходный текст программы на </a:t>
            </a:r>
            <a:r>
              <a:rPr lang="en-US" altLang="ru-RU" sz="1800" b="1"/>
              <a:t>[</a:t>
            </a:r>
            <a:r>
              <a:rPr lang="ru-RU" altLang="ru-RU" sz="1800" b="1"/>
              <a:t>расширенном</a:t>
            </a:r>
            <a:r>
              <a:rPr lang="en-US" altLang="ru-RU" sz="1800" b="1"/>
              <a:t>]</a:t>
            </a:r>
            <a:r>
              <a:rPr lang="ru-RU" altLang="ru-RU" sz="1800" b="1"/>
              <a:t> ЯП</a:t>
            </a:r>
          </a:p>
        </p:txBody>
      </p:sp>
      <p:grpSp>
        <p:nvGrpSpPr>
          <p:cNvPr id="9221" name="Группа 8"/>
          <p:cNvGrpSpPr>
            <a:grpSpLocks/>
          </p:cNvGrpSpPr>
          <p:nvPr/>
        </p:nvGrpSpPr>
        <p:grpSpPr bwMode="auto">
          <a:xfrm>
            <a:off x="914400" y="2438400"/>
            <a:ext cx="2667000" cy="762000"/>
            <a:chOff x="914400" y="2438400"/>
            <a:chExt cx="2667000" cy="762000"/>
          </a:xfrm>
        </p:grpSpPr>
        <p:sp>
          <p:nvSpPr>
            <p:cNvPr id="7" name="Овал 6"/>
            <p:cNvSpPr/>
            <p:nvPr/>
          </p:nvSpPr>
          <p:spPr>
            <a:xfrm>
              <a:off x="914400" y="2438400"/>
              <a:ext cx="26670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9246" name="TextBox 7"/>
            <p:cNvSpPr txBox="1">
              <a:spLocks noChangeArrowheads="1"/>
            </p:cNvSpPr>
            <p:nvPr/>
          </p:nvSpPr>
          <p:spPr bwMode="auto">
            <a:xfrm>
              <a:off x="1371600" y="2514600"/>
              <a:ext cx="18288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ru-RU" altLang="ru-RU" sz="1800" b="1"/>
                <a:t>Процессор</a:t>
              </a:r>
              <a:r>
                <a:rPr lang="ru-RU" altLang="ru-RU" sz="1800"/>
                <a:t> </a:t>
              </a:r>
              <a:r>
                <a:rPr lang="ru-RU" altLang="ru-RU" sz="1800" b="1"/>
                <a:t>определений</a:t>
              </a:r>
            </a:p>
          </p:txBody>
        </p:sp>
      </p:grpSp>
      <p:grpSp>
        <p:nvGrpSpPr>
          <p:cNvPr id="9222" name="Группа 9"/>
          <p:cNvGrpSpPr>
            <a:grpSpLocks/>
          </p:cNvGrpSpPr>
          <p:nvPr/>
        </p:nvGrpSpPr>
        <p:grpSpPr bwMode="auto">
          <a:xfrm>
            <a:off x="5181600" y="3124200"/>
            <a:ext cx="2971800" cy="609600"/>
            <a:chOff x="914400" y="2438400"/>
            <a:chExt cx="2667000" cy="762000"/>
          </a:xfrm>
        </p:grpSpPr>
        <p:sp>
          <p:nvSpPr>
            <p:cNvPr id="11" name="Овал 10"/>
            <p:cNvSpPr/>
            <p:nvPr/>
          </p:nvSpPr>
          <p:spPr>
            <a:xfrm>
              <a:off x="914400" y="2438400"/>
              <a:ext cx="26670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9244" name="TextBox 11"/>
            <p:cNvSpPr txBox="1">
              <a:spLocks noChangeArrowheads="1"/>
            </p:cNvSpPr>
            <p:nvPr/>
          </p:nvSpPr>
          <p:spPr bwMode="auto">
            <a:xfrm>
              <a:off x="1143000" y="2590800"/>
              <a:ext cx="2057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ru-RU" altLang="ru-RU" sz="1800" b="1"/>
                <a:t>Компилятор ЯП</a:t>
              </a:r>
            </a:p>
          </p:txBody>
        </p:sp>
      </p:grpSp>
      <p:grpSp>
        <p:nvGrpSpPr>
          <p:cNvPr id="9223" name="Группа 12"/>
          <p:cNvGrpSpPr>
            <a:grpSpLocks/>
          </p:cNvGrpSpPr>
          <p:nvPr/>
        </p:nvGrpSpPr>
        <p:grpSpPr bwMode="auto">
          <a:xfrm>
            <a:off x="5181600" y="4953000"/>
            <a:ext cx="3048000" cy="533400"/>
            <a:chOff x="914400" y="2438400"/>
            <a:chExt cx="2667000" cy="762000"/>
          </a:xfrm>
        </p:grpSpPr>
        <p:sp>
          <p:nvSpPr>
            <p:cNvPr id="14" name="Овал 13"/>
            <p:cNvSpPr/>
            <p:nvPr/>
          </p:nvSpPr>
          <p:spPr>
            <a:xfrm>
              <a:off x="914400" y="2438400"/>
              <a:ext cx="26670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9242" name="TextBox 14"/>
            <p:cNvSpPr txBox="1">
              <a:spLocks noChangeArrowheads="1"/>
            </p:cNvSpPr>
            <p:nvPr/>
          </p:nvSpPr>
          <p:spPr bwMode="auto">
            <a:xfrm>
              <a:off x="1219200" y="2590800"/>
              <a:ext cx="2286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ru-RU" altLang="ru-RU" sz="1800" b="1"/>
                <a:t>Редактор связей</a:t>
              </a:r>
            </a:p>
          </p:txBody>
        </p:sp>
      </p:grpSp>
      <p:sp>
        <p:nvSpPr>
          <p:cNvPr id="9224" name="TextBox 15"/>
          <p:cNvSpPr txBox="1">
            <a:spLocks noChangeArrowheads="1"/>
          </p:cNvSpPr>
          <p:nvPr/>
        </p:nvSpPr>
        <p:spPr bwMode="auto">
          <a:xfrm>
            <a:off x="5181600" y="4038600"/>
            <a:ext cx="3048000" cy="6096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b="1"/>
              <a:t>Бинарный код программы</a:t>
            </a:r>
          </a:p>
        </p:txBody>
      </p:sp>
      <p:sp>
        <p:nvSpPr>
          <p:cNvPr id="9225" name="TextBox 16"/>
          <p:cNvSpPr txBox="1">
            <a:spLocks noChangeArrowheads="1"/>
          </p:cNvSpPr>
          <p:nvPr/>
        </p:nvSpPr>
        <p:spPr bwMode="auto">
          <a:xfrm>
            <a:off x="5257800" y="5867400"/>
            <a:ext cx="2971800" cy="6096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b="1"/>
              <a:t>Исполняемая программа</a:t>
            </a:r>
          </a:p>
        </p:txBody>
      </p:sp>
      <p:sp>
        <p:nvSpPr>
          <p:cNvPr id="9226" name="TextBox 17"/>
          <p:cNvSpPr txBox="1">
            <a:spLocks noChangeArrowheads="1"/>
          </p:cNvSpPr>
          <p:nvPr/>
        </p:nvSpPr>
        <p:spPr bwMode="auto">
          <a:xfrm>
            <a:off x="3429000" y="4191000"/>
            <a:ext cx="1371600" cy="7620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b="1"/>
              <a:t>СУОБД </a:t>
            </a:r>
            <a:r>
              <a:rPr lang="en-US" altLang="ru-RU" sz="1800" b="1"/>
              <a:t>runtime</a:t>
            </a:r>
            <a:endParaRPr lang="ru-RU" altLang="ru-RU" sz="1800" b="1"/>
          </a:p>
        </p:txBody>
      </p:sp>
      <p:sp>
        <p:nvSpPr>
          <p:cNvPr id="19" name="Блок-схема: магнитный диск 18"/>
          <p:cNvSpPr/>
          <p:nvPr/>
        </p:nvSpPr>
        <p:spPr>
          <a:xfrm>
            <a:off x="1447800" y="5486400"/>
            <a:ext cx="1676400" cy="1143000"/>
          </a:xfrm>
          <a:prstGeom prst="flowChartMagneticDis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228" name="TextBox 19"/>
          <p:cNvSpPr txBox="1">
            <a:spLocks noChangeArrowheads="1"/>
          </p:cNvSpPr>
          <p:nvPr/>
        </p:nvSpPr>
        <p:spPr bwMode="auto">
          <a:xfrm>
            <a:off x="1600200" y="5943600"/>
            <a:ext cx="1295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b="1"/>
              <a:t>База данных</a:t>
            </a:r>
          </a:p>
        </p:txBody>
      </p:sp>
      <p:sp>
        <p:nvSpPr>
          <p:cNvPr id="21" name="Стрелка вниз 20"/>
          <p:cNvSpPr/>
          <p:nvPr/>
        </p:nvSpPr>
        <p:spPr>
          <a:xfrm>
            <a:off x="2209800" y="2133600"/>
            <a:ext cx="46038" cy="381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2" name="Стрелка вниз 21"/>
          <p:cNvSpPr/>
          <p:nvPr/>
        </p:nvSpPr>
        <p:spPr>
          <a:xfrm>
            <a:off x="2209800" y="3200400"/>
            <a:ext cx="46038" cy="2438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3" name="Стрелка вниз 22"/>
          <p:cNvSpPr/>
          <p:nvPr/>
        </p:nvSpPr>
        <p:spPr>
          <a:xfrm>
            <a:off x="6629400" y="2057400"/>
            <a:ext cx="46038" cy="1066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4" name="Стрелка вниз 23"/>
          <p:cNvSpPr/>
          <p:nvPr/>
        </p:nvSpPr>
        <p:spPr>
          <a:xfrm>
            <a:off x="6629400" y="3733800"/>
            <a:ext cx="46038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5" name="Стрелка вниз 24"/>
          <p:cNvSpPr/>
          <p:nvPr/>
        </p:nvSpPr>
        <p:spPr>
          <a:xfrm>
            <a:off x="6629400" y="4724400"/>
            <a:ext cx="46038" cy="228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6" name="Стрелка вниз 25"/>
          <p:cNvSpPr/>
          <p:nvPr/>
        </p:nvSpPr>
        <p:spPr>
          <a:xfrm>
            <a:off x="6629400" y="5486400"/>
            <a:ext cx="46038" cy="381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9" name="Стрелка углом вверх 28"/>
          <p:cNvSpPr/>
          <p:nvPr/>
        </p:nvSpPr>
        <p:spPr>
          <a:xfrm rot="5400000">
            <a:off x="3695700" y="1943100"/>
            <a:ext cx="228600" cy="2743200"/>
          </a:xfrm>
          <a:prstGeom prst="bentUpArrow">
            <a:avLst>
              <a:gd name="adj1" fmla="val 3182"/>
              <a:gd name="adj2" fmla="val 15649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0" name="Стрелка вниз 29"/>
          <p:cNvSpPr/>
          <p:nvPr/>
        </p:nvSpPr>
        <p:spPr>
          <a:xfrm rot="18694921">
            <a:off x="4963319" y="4853782"/>
            <a:ext cx="57150" cy="4619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2" name="Двойная стрелка влево/вправо 31"/>
          <p:cNvSpPr/>
          <p:nvPr/>
        </p:nvSpPr>
        <p:spPr>
          <a:xfrm>
            <a:off x="3124200" y="6096000"/>
            <a:ext cx="2057400" cy="1524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238" name="TextBox 32"/>
          <p:cNvSpPr txBox="1">
            <a:spLocks noChangeArrowheads="1"/>
          </p:cNvSpPr>
          <p:nvPr/>
        </p:nvSpPr>
        <p:spPr bwMode="auto">
          <a:xfrm>
            <a:off x="3200400" y="5715000"/>
            <a:ext cx="2133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600" b="1"/>
              <a:t>Доступ  к данным</a:t>
            </a:r>
          </a:p>
        </p:txBody>
      </p:sp>
      <p:sp>
        <p:nvSpPr>
          <p:cNvPr id="9239" name="TextBox 30"/>
          <p:cNvSpPr txBox="1">
            <a:spLocks noChangeArrowheads="1"/>
          </p:cNvSpPr>
          <p:nvPr/>
        </p:nvSpPr>
        <p:spPr bwMode="auto">
          <a:xfrm>
            <a:off x="1295400" y="4267200"/>
            <a:ext cx="1828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b="1"/>
              <a:t>Метаданные</a:t>
            </a:r>
          </a:p>
        </p:txBody>
      </p:sp>
      <p:sp>
        <p:nvSpPr>
          <p:cNvPr id="9240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21764520-C02E-4D5C-86D2-98310984C2D8}" type="slidenum">
              <a:rPr lang="ru-RU" altLang="ru-RU" smtClean="0">
                <a:latin typeface="Arial Black" pitchFamily="34" charset="0"/>
              </a:rPr>
              <a:pPr eaLnBrk="1" hangingPunct="1"/>
              <a:t>9</a:t>
            </a:fld>
            <a:endParaRPr lang="ru-RU" altLang="ru-RU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90600"/>
          </a:xfrm>
        </p:spPr>
        <p:txBody>
          <a:bodyPr/>
          <a:lstStyle/>
          <a:p>
            <a:pPr eaLnBrk="1" hangingPunct="1"/>
            <a:r>
              <a:rPr lang="ru-RU" sz="3600" dirty="0">
                <a:solidFill>
                  <a:schemeClr val="bg2"/>
                </a:solidFill>
              </a:rPr>
              <a:t>К</a:t>
            </a:r>
            <a:r>
              <a:rPr lang="ru-RU" sz="3600" dirty="0" smtClean="0">
                <a:solidFill>
                  <a:schemeClr val="bg2"/>
                </a:solidFill>
              </a:rPr>
              <a:t>онцепции </a:t>
            </a:r>
            <a:r>
              <a:rPr lang="ru-RU" sz="3600" dirty="0">
                <a:solidFill>
                  <a:schemeClr val="bg2"/>
                </a:solidFill>
              </a:rPr>
              <a:t>объектной модели ODMG</a:t>
            </a:r>
            <a:endParaRPr lang="ru-RU" altLang="ru-RU" sz="3600" dirty="0" smtClean="0">
              <a:solidFill>
                <a:schemeClr val="bg2"/>
              </a:solidFill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14400"/>
            <a:ext cx="8610600" cy="57150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ru-RU" altLang="ru-RU" sz="2400" dirty="0" smtClean="0"/>
              <a:t>Стандарт </a:t>
            </a:r>
            <a:r>
              <a:rPr lang="ru-RU" altLang="ru-RU" sz="2400" b="1" dirty="0" smtClean="0"/>
              <a:t>на хранение объектов </a:t>
            </a:r>
            <a:r>
              <a:rPr lang="ru-RU" altLang="ru-RU" sz="2400" dirty="0" smtClean="0"/>
              <a:t>ODMG 2.0 разработан на основе трех существующих стандартов: </a:t>
            </a:r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sz="2400" dirty="0" smtClean="0"/>
              <a:t>управление базами данных (SQL), </a:t>
            </a:r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sz="2400" dirty="0" smtClean="0"/>
              <a:t>объекты (стандарты OMG - </a:t>
            </a:r>
            <a:r>
              <a:rPr lang="ru-RU" altLang="ru-RU" sz="2400" dirty="0" err="1" smtClean="0"/>
              <a:t>Object</a:t>
            </a:r>
            <a:r>
              <a:rPr lang="ru-RU" altLang="ru-RU" sz="2400" dirty="0" smtClean="0"/>
              <a:t> </a:t>
            </a:r>
            <a:r>
              <a:rPr lang="ru-RU" altLang="ru-RU" sz="2400" dirty="0" err="1" smtClean="0"/>
              <a:t>Management</a:t>
            </a:r>
            <a:r>
              <a:rPr lang="ru-RU" altLang="ru-RU" sz="2400" dirty="0" smtClean="0"/>
              <a:t> </a:t>
            </a:r>
            <a:r>
              <a:rPr lang="ru-RU" altLang="ru-RU" sz="2400" dirty="0" err="1" smtClean="0"/>
              <a:t>Group</a:t>
            </a:r>
            <a:r>
              <a:rPr lang="ru-RU" altLang="ru-RU" sz="2400" dirty="0" smtClean="0"/>
              <a:t>) и </a:t>
            </a:r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sz="2400" dirty="0" smtClean="0"/>
              <a:t>стандарты на объектно-ориентированные языки программирования (C++, </a:t>
            </a:r>
            <a:r>
              <a:rPr lang="ru-RU" altLang="ru-RU" sz="2400" dirty="0" err="1" smtClean="0"/>
              <a:t>Smalltalk</a:t>
            </a:r>
            <a:r>
              <a:rPr lang="ru-RU" altLang="ru-RU" sz="2400" dirty="0" smtClean="0"/>
              <a:t>, </a:t>
            </a:r>
            <a:r>
              <a:rPr lang="ru-RU" altLang="ru-RU" sz="2400" dirty="0" err="1" smtClean="0"/>
              <a:t>Java</a:t>
            </a:r>
            <a:r>
              <a:rPr lang="ru-RU" altLang="ru-RU" sz="2400" dirty="0" smtClean="0"/>
              <a:t>).</a:t>
            </a:r>
          </a:p>
          <a:p>
            <a:pPr eaLnBrk="1" hangingPunct="1"/>
            <a:r>
              <a:rPr lang="ru-RU" altLang="ru-RU" sz="2400" dirty="0" smtClean="0"/>
              <a:t>Ключевые </a:t>
            </a:r>
            <a:r>
              <a:rPr lang="ru-RU" altLang="ru-RU" sz="2400" b="1" dirty="0" smtClean="0"/>
              <a:t>концепции объектной модели </a:t>
            </a:r>
            <a:r>
              <a:rPr lang="ru-RU" altLang="ru-RU" sz="2400" dirty="0" smtClean="0"/>
              <a:t>ODMG: </a:t>
            </a:r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sz="2400" dirty="0" smtClean="0"/>
              <a:t>наделение объектов такими свойствами как атрибуты и связи </a:t>
            </a:r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sz="2400" dirty="0" smtClean="0"/>
              <a:t>методы объектов (поведение) </a:t>
            </a:r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sz="2400" dirty="0" smtClean="0"/>
              <a:t>множественное наследование </a:t>
            </a:r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sz="2400" dirty="0" smtClean="0"/>
              <a:t>идентификаторы объектов (ключи) </a:t>
            </a:r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sz="2400" dirty="0" smtClean="0"/>
              <a:t>определение таких совокупностей объектов как списки, наборы, массивы и т.д. </a:t>
            </a:r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sz="2400" dirty="0" smtClean="0"/>
              <a:t>блокировка объектов и изоляция доступа </a:t>
            </a:r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sz="2400" dirty="0" smtClean="0"/>
              <a:t>операции над базой данных </a:t>
            </a:r>
          </a:p>
        </p:txBody>
      </p:sp>
      <p:sp>
        <p:nvSpPr>
          <p:cNvPr id="12292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4FC79BB8-FE49-4B64-89D3-3C3F7D9B2EF1}" type="slidenum">
              <a:rPr lang="ru-RU" altLang="ru-RU" smtClean="0">
                <a:latin typeface="Arial Black" pitchFamily="34" charset="0"/>
              </a:rPr>
              <a:pPr eaLnBrk="1" hangingPunct="1"/>
              <a:t>10</a:t>
            </a:fld>
            <a:endParaRPr lang="ru-RU" altLang="ru-RU" smtClean="0">
              <a:latin typeface="Arial Black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8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8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/>
      <p:bldP spid="4813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838200"/>
          </a:xfrm>
        </p:spPr>
        <p:txBody>
          <a:bodyPr/>
          <a:lstStyle/>
          <a:p>
            <a:pPr eaLnBrk="1" hangingPunct="1"/>
            <a:r>
              <a:rPr lang="ru-RU" altLang="ru-RU" dirty="0" smtClean="0">
                <a:solidFill>
                  <a:schemeClr val="bg2"/>
                </a:solidFill>
              </a:rPr>
              <a:t>Компоненты стандарта </a:t>
            </a:r>
            <a:r>
              <a:rPr lang="en-US" altLang="ru-RU" dirty="0" smtClean="0">
                <a:solidFill>
                  <a:schemeClr val="bg2"/>
                </a:solidFill>
              </a:rPr>
              <a:t>ODMG</a:t>
            </a:r>
            <a:endParaRPr lang="ru-RU" altLang="ru-RU" dirty="0" smtClean="0">
              <a:solidFill>
                <a:schemeClr val="bg2"/>
              </a:solidFill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305800" cy="5334000"/>
          </a:xfrm>
        </p:spPr>
        <p:txBody>
          <a:bodyPr/>
          <a:lstStyle/>
          <a:p>
            <a:pPr eaLnBrk="1" hangingPunct="1"/>
            <a:r>
              <a:rPr lang="ru-RU" altLang="ru-RU" dirty="0" smtClean="0">
                <a:solidFill>
                  <a:srgbClr val="FF0000"/>
                </a:solidFill>
              </a:rPr>
              <a:t>Объектная модель</a:t>
            </a:r>
            <a:r>
              <a:rPr lang="ru-RU" altLang="ru-RU" dirty="0" smtClean="0"/>
              <a:t>, </a:t>
            </a:r>
            <a:r>
              <a:rPr lang="ru-RU" dirty="0" smtClean="0"/>
              <a:t>которую </a:t>
            </a:r>
            <a:r>
              <a:rPr lang="ru-RU" dirty="0"/>
              <a:t>должны поддерживать ООСУБД</a:t>
            </a:r>
            <a:endParaRPr lang="ru-RU" altLang="ru-RU" dirty="0" smtClean="0"/>
          </a:p>
          <a:p>
            <a:pPr eaLnBrk="1" hangingPunct="1"/>
            <a:r>
              <a:rPr lang="ru-RU" altLang="ru-RU" dirty="0" smtClean="0">
                <a:solidFill>
                  <a:srgbClr val="FF0000"/>
                </a:solidFill>
              </a:rPr>
              <a:t>Язык определения объектов </a:t>
            </a:r>
            <a:r>
              <a:rPr lang="en-US" altLang="ru-RU" dirty="0" smtClean="0">
                <a:solidFill>
                  <a:srgbClr val="FF0000"/>
                </a:solidFill>
              </a:rPr>
              <a:t>ODL</a:t>
            </a:r>
            <a:r>
              <a:rPr lang="ru-RU" altLang="ru-RU" dirty="0" smtClean="0"/>
              <a:t>, </a:t>
            </a:r>
            <a:r>
              <a:rPr lang="ru-RU" dirty="0"/>
              <a:t>опирающийся на эту модель </a:t>
            </a:r>
            <a:endParaRPr lang="ru-RU" altLang="ru-RU" dirty="0" smtClean="0"/>
          </a:p>
          <a:p>
            <a:pPr eaLnBrk="1" hangingPunct="1"/>
            <a:r>
              <a:rPr lang="ru-RU" altLang="ru-RU" dirty="0" smtClean="0">
                <a:solidFill>
                  <a:srgbClr val="FF0000"/>
                </a:solidFill>
              </a:rPr>
              <a:t>Объектный язык запросов </a:t>
            </a:r>
            <a:r>
              <a:rPr lang="en-US" altLang="ru-RU" dirty="0" smtClean="0">
                <a:solidFill>
                  <a:srgbClr val="FF0000"/>
                </a:solidFill>
              </a:rPr>
              <a:t>OQL </a:t>
            </a:r>
            <a:r>
              <a:rPr lang="ru-RU" altLang="ru-RU" dirty="0" smtClean="0"/>
              <a:t>(</a:t>
            </a:r>
            <a:r>
              <a:rPr lang="en-US" altLang="ru-RU" dirty="0" err="1" smtClean="0"/>
              <a:t>SQL&amp;Object</a:t>
            </a:r>
            <a:r>
              <a:rPr lang="en-US" altLang="ru-RU" dirty="0" smtClean="0"/>
              <a:t> Model)</a:t>
            </a:r>
          </a:p>
          <a:p>
            <a:pPr eaLnBrk="1" hangingPunct="1"/>
            <a:r>
              <a:rPr lang="ru-RU" altLang="ru-RU" dirty="0" smtClean="0">
                <a:solidFill>
                  <a:srgbClr val="FF0000"/>
                </a:solidFill>
              </a:rPr>
              <a:t>Язык манипулирования данными </a:t>
            </a:r>
            <a:r>
              <a:rPr lang="en-US" altLang="ru-RU" dirty="0" smtClean="0">
                <a:solidFill>
                  <a:srgbClr val="FF0000"/>
                </a:solidFill>
              </a:rPr>
              <a:t>(OML) </a:t>
            </a:r>
            <a:r>
              <a:rPr lang="en-US" altLang="ru-RU" dirty="0" smtClean="0"/>
              <a:t>– </a:t>
            </a:r>
            <a:r>
              <a:rPr lang="ru-RU" altLang="ru-RU" dirty="0" smtClean="0"/>
              <a:t>отображение объектной модели </a:t>
            </a:r>
            <a:r>
              <a:rPr lang="en-US" altLang="ru-RU" dirty="0" smtClean="0"/>
              <a:t>ODMG</a:t>
            </a:r>
            <a:r>
              <a:rPr lang="ru-RU" altLang="ru-RU" dirty="0" smtClean="0"/>
              <a:t> в ООЯП (</a:t>
            </a:r>
            <a:r>
              <a:rPr lang="en-US" altLang="ru-RU" dirty="0" smtClean="0"/>
              <a:t>Smalltalk, C++)</a:t>
            </a:r>
            <a:r>
              <a:rPr lang="ru-RU" altLang="ru-RU" dirty="0" smtClean="0"/>
              <a:t> – часто называют связыванием с ЯП </a:t>
            </a:r>
          </a:p>
        </p:txBody>
      </p:sp>
      <p:sp>
        <p:nvSpPr>
          <p:cNvPr id="10244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95B6BB9E-6C05-4DCA-BBB7-092CB0F6EA21}" type="slidenum">
              <a:rPr lang="ru-RU" altLang="ru-RU" smtClean="0">
                <a:latin typeface="Arial Black" pitchFamily="34" charset="0"/>
              </a:rPr>
              <a:pPr eaLnBrk="1" hangingPunct="1"/>
              <a:t>11</a:t>
            </a:fld>
            <a:endParaRPr lang="ru-RU" altLang="ru-RU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-76200" y="228600"/>
            <a:ext cx="9296400" cy="609600"/>
          </a:xfrm>
        </p:spPr>
        <p:txBody>
          <a:bodyPr/>
          <a:lstStyle/>
          <a:p>
            <a:pPr algn="ctr" eaLnBrk="1" hangingPunct="1"/>
            <a:r>
              <a:rPr lang="ru-RU" altLang="ru-RU" sz="2800" dirty="0" smtClean="0">
                <a:solidFill>
                  <a:schemeClr val="bg2"/>
                </a:solidFill>
              </a:rPr>
              <a:t>Объектная модель </a:t>
            </a:r>
            <a:r>
              <a:rPr lang="en-US" altLang="ru-RU" sz="2800" dirty="0" smtClean="0">
                <a:solidFill>
                  <a:schemeClr val="bg2"/>
                </a:solidFill>
              </a:rPr>
              <a:t>ODMG</a:t>
            </a:r>
            <a:endParaRPr lang="ru-RU" altLang="ru-RU" sz="2800" dirty="0" smtClean="0">
              <a:solidFill>
                <a:schemeClr val="bg2"/>
              </a:solidFill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38200"/>
            <a:ext cx="8991600" cy="6019800"/>
          </a:xfrm>
        </p:spPr>
        <p:txBody>
          <a:bodyPr wrap="square">
            <a:normAutofit fontScale="775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ru-RU" altLang="ru-RU" sz="2400" b="1" dirty="0"/>
              <a:t>Объектная модель</a:t>
            </a:r>
            <a:r>
              <a:rPr lang="ru-RU" altLang="ru-RU" sz="2400" dirty="0"/>
              <a:t> - унифицированная основа всего стандарта. </a:t>
            </a:r>
            <a:endParaRPr lang="ru-RU" altLang="ru-RU" sz="2400" dirty="0" smtClean="0"/>
          </a:p>
          <a:p>
            <a:pPr eaLnBrk="1" hangingPunct="1">
              <a:lnSpc>
                <a:spcPct val="120000"/>
              </a:lnSpc>
            </a:pPr>
            <a:r>
              <a:rPr lang="ru-RU" altLang="ru-RU" sz="2400" dirty="0" smtClean="0"/>
              <a:t>Она </a:t>
            </a:r>
            <a:r>
              <a:rPr lang="ru-RU" altLang="ru-RU" sz="2400" dirty="0"/>
              <a:t>расширяет объектную модель консорциума OMG </a:t>
            </a:r>
            <a:r>
              <a:rPr lang="ru-RU" altLang="ru-RU" sz="2400" dirty="0" smtClean="0"/>
              <a:t>за </a:t>
            </a:r>
            <a:r>
              <a:rPr lang="ru-RU" altLang="ru-RU" sz="2400" dirty="0"/>
              <a:t>счет введения таких свойств как </a:t>
            </a:r>
            <a:r>
              <a:rPr lang="ru-RU" altLang="ru-RU" sz="2400" b="1" i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связи</a:t>
            </a:r>
            <a:r>
              <a:rPr lang="ru-RU" altLang="ru-RU" sz="2400" i="1" dirty="0">
                <a:solidFill>
                  <a:schemeClr val="bg2"/>
                </a:solidFill>
              </a:rPr>
              <a:t> и </a:t>
            </a:r>
            <a:r>
              <a:rPr lang="ru-RU" altLang="ru-RU" sz="2400" dirty="0" smtClean="0"/>
              <a:t>понятия </a:t>
            </a:r>
            <a:r>
              <a:rPr lang="ru-RU" altLang="ru-RU" sz="2400" b="1" i="1" dirty="0" smtClean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транзакции</a:t>
            </a:r>
            <a:r>
              <a:rPr lang="ru-RU" altLang="ru-RU" sz="2400" i="1" dirty="0" smtClean="0">
                <a:solidFill>
                  <a:schemeClr val="bg2"/>
                </a:solidFill>
              </a:rPr>
              <a:t> </a:t>
            </a:r>
            <a:r>
              <a:rPr lang="ru-RU" altLang="ru-RU" sz="2400" dirty="0"/>
              <a:t>для обеспечения функциональности, требуемой при взаимодействии с базами данных. </a:t>
            </a:r>
            <a:endParaRPr lang="ru-RU" altLang="ru-RU" sz="2400" dirty="0" smtClean="0"/>
          </a:p>
          <a:p>
            <a:pPr eaLnBrk="1" hangingPunct="1">
              <a:lnSpc>
                <a:spcPct val="120000"/>
              </a:lnSpc>
            </a:pPr>
            <a:r>
              <a:rPr lang="ru-RU" altLang="ru-RU" sz="2400" dirty="0" smtClean="0"/>
              <a:t>Модель определяет 2 вида примитивов моделирования: </a:t>
            </a:r>
            <a:r>
              <a:rPr lang="en-US" altLang="ru-RU" sz="2400" dirty="0" smtClean="0"/>
              <a:t/>
            </a:r>
            <a:br>
              <a:rPr lang="en-US" altLang="ru-RU" sz="2400" dirty="0" smtClean="0"/>
            </a:br>
            <a:r>
              <a:rPr lang="ru-RU" altLang="ru-RU" sz="2400" b="1" i="1" dirty="0" smtClean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объекты, литералы </a:t>
            </a:r>
            <a:r>
              <a:rPr lang="ru-RU" altLang="ru-RU" sz="2400" dirty="0" smtClean="0"/>
              <a:t>(изменчивые и неизменчивые типы)</a:t>
            </a:r>
          </a:p>
          <a:p>
            <a:pPr eaLnBrk="1" hangingPunct="1">
              <a:lnSpc>
                <a:spcPct val="120000"/>
              </a:lnSpc>
            </a:pPr>
            <a:r>
              <a:rPr lang="ru-RU" altLang="ru-RU" sz="2400" dirty="0" smtClean="0"/>
              <a:t>Примитивы</a:t>
            </a:r>
            <a:r>
              <a:rPr lang="en-US" altLang="ru-RU" sz="2400" dirty="0" smtClean="0"/>
              <a:t> </a:t>
            </a:r>
            <a:r>
              <a:rPr lang="ru-RU" altLang="ru-RU" sz="2400" dirty="0" smtClean="0"/>
              <a:t>обоих видов могут быть: </a:t>
            </a:r>
            <a:r>
              <a:rPr lang="ru-RU" altLang="ru-RU" sz="2400" b="1" i="1" dirty="0" smtClean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атомарные, коллекции</a:t>
            </a:r>
          </a:p>
          <a:p>
            <a:pPr eaLnBrk="1" hangingPunct="1">
              <a:lnSpc>
                <a:spcPct val="120000"/>
              </a:lnSpc>
            </a:pPr>
            <a:r>
              <a:rPr lang="ru-RU" altLang="ru-RU" sz="2400" dirty="0" smtClean="0"/>
              <a:t>Каждый объект имеет </a:t>
            </a:r>
            <a:r>
              <a:rPr lang="ru-RU" altLang="ru-RU" sz="2400" b="1" i="1" dirty="0" smtClean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уникальный идентификатор</a:t>
            </a:r>
          </a:p>
          <a:p>
            <a:pPr eaLnBrk="1" hangingPunct="1">
              <a:lnSpc>
                <a:spcPct val="120000"/>
              </a:lnSpc>
            </a:pPr>
            <a:r>
              <a:rPr lang="ru-RU" altLang="ru-RU" sz="2400" dirty="0" smtClean="0"/>
              <a:t>Литералы </a:t>
            </a:r>
            <a:r>
              <a:rPr lang="ru-RU" altLang="ru-RU" sz="2400" b="1" i="1" dirty="0" smtClean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не имеют уникального идентификатора</a:t>
            </a:r>
            <a:r>
              <a:rPr lang="ru-RU" altLang="ru-RU" sz="2400" dirty="0" smtClean="0"/>
              <a:t>, т.е. </a:t>
            </a:r>
            <a:r>
              <a:rPr lang="ru-RU" altLang="ru-RU" sz="2400" dirty="0" err="1" smtClean="0"/>
              <a:t>самоидентифицируемы</a:t>
            </a:r>
            <a:endParaRPr lang="ru-RU" altLang="ru-RU" sz="2400" dirty="0" smtClean="0"/>
          </a:p>
          <a:p>
            <a:pPr eaLnBrk="1" hangingPunct="1">
              <a:lnSpc>
                <a:spcPct val="120000"/>
              </a:lnSpc>
            </a:pPr>
            <a:r>
              <a:rPr lang="ru-RU" altLang="ru-RU" sz="2400" dirty="0" smtClean="0"/>
              <a:t>Объекты и литералы обладают </a:t>
            </a:r>
            <a:r>
              <a:rPr lang="ru-RU" altLang="ru-RU" sz="2400" b="1" i="1" dirty="0" smtClean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типами</a:t>
            </a:r>
          </a:p>
          <a:p>
            <a:pPr eaLnBrk="1" hangingPunct="1">
              <a:lnSpc>
                <a:spcPct val="120000"/>
              </a:lnSpc>
            </a:pPr>
            <a:r>
              <a:rPr lang="ru-RU" altLang="ru-RU" sz="2400" dirty="0" smtClean="0"/>
              <a:t>Между </a:t>
            </a:r>
            <a:r>
              <a:rPr lang="ru-RU" altLang="ru-RU" sz="2400" b="1" i="1" dirty="0" smtClean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типами</a:t>
            </a:r>
            <a:r>
              <a:rPr lang="ru-RU" altLang="ru-RU" sz="2400" dirty="0" smtClean="0"/>
              <a:t> могут устанавливаться </a:t>
            </a:r>
            <a:r>
              <a:rPr lang="ru-RU" altLang="ru-RU" sz="2400" b="1" i="1" dirty="0" smtClean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бинарные</a:t>
            </a:r>
            <a:r>
              <a:rPr lang="ru-RU" altLang="ru-RU" sz="2400" dirty="0" smtClean="0"/>
              <a:t> </a:t>
            </a:r>
            <a:r>
              <a:rPr lang="ru-RU" altLang="ru-RU" sz="2400" b="1" i="1" dirty="0" smtClean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связи</a:t>
            </a:r>
          </a:p>
          <a:p>
            <a:pPr eaLnBrk="1" hangingPunct="1">
              <a:lnSpc>
                <a:spcPct val="120000"/>
              </a:lnSpc>
            </a:pPr>
            <a:r>
              <a:rPr lang="ru-RU" sz="2400" dirty="0" smtClean="0"/>
              <a:t>Состояние элементов данного типа определяется соответствующими им </a:t>
            </a:r>
            <a:r>
              <a:rPr lang="ru-RU" altLang="ru-RU" sz="2500" b="1" i="1" dirty="0" smtClean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значениями его свойств </a:t>
            </a:r>
            <a:r>
              <a:rPr lang="ru-RU" sz="2400" dirty="0" smtClean="0"/>
              <a:t>(общих для всего типа) </a:t>
            </a:r>
            <a:r>
              <a:rPr lang="ru-RU" altLang="ru-RU" sz="2500" b="1" i="1" dirty="0" smtClean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— атрибутов или бинарных связей </a:t>
            </a:r>
            <a:r>
              <a:rPr lang="ru-RU" sz="2400" i="1" dirty="0" smtClean="0"/>
              <a:t>с</a:t>
            </a:r>
            <a:r>
              <a:rPr lang="ru-RU" sz="2400" dirty="0" smtClean="0"/>
              <a:t> экземплярами других типов. </a:t>
            </a:r>
          </a:p>
          <a:p>
            <a:pPr eaLnBrk="1" hangingPunct="1">
              <a:lnSpc>
                <a:spcPct val="120000"/>
              </a:lnSpc>
            </a:pPr>
            <a:r>
              <a:rPr lang="ru-RU" sz="2400" dirty="0" smtClean="0"/>
              <a:t>Поведение экземпляров типа определяется </a:t>
            </a:r>
            <a:r>
              <a:rPr lang="ru-RU" altLang="ru-RU" sz="2500" b="1" i="1" dirty="0" smtClean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набором операций</a:t>
            </a:r>
            <a:r>
              <a:rPr lang="ru-RU" sz="2400" i="1" dirty="0" smtClean="0"/>
              <a:t>,</a:t>
            </a:r>
            <a:r>
              <a:rPr lang="ru-RU" sz="2400" dirty="0" smtClean="0"/>
              <a:t> задаваемых их сигнатурами, и этот набор также является общим для всех экземпляров данного типа. </a:t>
            </a:r>
            <a:endParaRPr lang="ru-RU" altLang="ru-RU" sz="2400" b="1" i="1" dirty="0" smtClean="0">
              <a:solidFill>
                <a:schemeClr val="bg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268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001000" y="6248400"/>
            <a:ext cx="685800" cy="45720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870780E0-22E5-45F9-8078-2EED36CBF9F2}" type="slidenum">
              <a:rPr lang="ru-RU" altLang="ru-RU" smtClean="0">
                <a:latin typeface="Arial Black" pitchFamily="34" charset="0"/>
              </a:rPr>
              <a:pPr eaLnBrk="1" hangingPunct="1"/>
              <a:t>12</a:t>
            </a:fld>
            <a:endParaRPr lang="ru-RU" altLang="ru-RU" dirty="0" smtClean="0">
              <a:latin typeface="Arial Black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/>
      <p:bldP spid="3174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-76200" y="228600"/>
            <a:ext cx="9296400" cy="609600"/>
          </a:xfrm>
        </p:spPr>
        <p:txBody>
          <a:bodyPr/>
          <a:lstStyle/>
          <a:p>
            <a:pPr algn="ctr" eaLnBrk="1" hangingPunct="1"/>
            <a:r>
              <a:rPr lang="ru-RU" altLang="ru-RU" sz="2800" dirty="0" smtClean="0">
                <a:solidFill>
                  <a:schemeClr val="bg2"/>
                </a:solidFill>
              </a:rPr>
              <a:t>Объектная модель </a:t>
            </a:r>
            <a:r>
              <a:rPr lang="en-US" altLang="ru-RU" sz="2800" dirty="0" smtClean="0">
                <a:solidFill>
                  <a:schemeClr val="bg2"/>
                </a:solidFill>
              </a:rPr>
              <a:t>ODMG</a:t>
            </a:r>
            <a:endParaRPr lang="ru-RU" altLang="ru-RU" sz="2800" dirty="0" smtClean="0">
              <a:solidFill>
                <a:schemeClr val="bg2"/>
              </a:solidFill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38200"/>
            <a:ext cx="8991600" cy="6019800"/>
          </a:xfrm>
        </p:spPr>
        <p:txBody>
          <a:bodyPr wrap="square">
            <a:normAutofit fontScale="85000"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ru-RU" sz="2400" dirty="0" smtClean="0"/>
              <a:t>Типы в объектной модели </a:t>
            </a:r>
            <a:r>
              <a:rPr lang="en-US" sz="2400" dirty="0" smtClean="0"/>
              <a:t>ODMG</a:t>
            </a:r>
            <a:r>
              <a:rPr lang="ru-RU" sz="2400" dirty="0" smtClean="0"/>
              <a:t> сами являются </a:t>
            </a:r>
            <a:r>
              <a:rPr lang="ru-RU" sz="2400" b="1" i="1" dirty="0" smtClean="0">
                <a:solidFill>
                  <a:schemeClr val="bg2"/>
                </a:solidFill>
                <a:cs typeface="Times New Roman" pitchFamily="18" charset="0"/>
              </a:rPr>
              <a:t>объектами </a:t>
            </a:r>
            <a:r>
              <a:rPr lang="ru-RU" sz="2400" dirty="0" smtClean="0"/>
              <a:t>и имеют собственные свойства</a:t>
            </a:r>
            <a:r>
              <a:rPr lang="ru-RU" sz="2400" dirty="0" smtClean="0">
                <a:solidFill>
                  <a:schemeClr val="bg2"/>
                </a:solidFill>
                <a:cs typeface="Times New Roman" pitchFamily="18" charset="0"/>
              </a:rPr>
              <a:t>:</a:t>
            </a:r>
          </a:p>
          <a:p>
            <a:pPr lvl="1" eaLnBrk="1" hangingPunct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000" i="1" dirty="0" smtClean="0"/>
              <a:t>список </a:t>
            </a:r>
            <a:r>
              <a:rPr lang="ru-RU" sz="2000" i="1" dirty="0" err="1" smtClean="0"/>
              <a:t>супертипов</a:t>
            </a:r>
            <a:r>
              <a:rPr lang="ru-RU" sz="2000" dirty="0" smtClean="0"/>
              <a:t>  данного типа, </a:t>
            </a:r>
          </a:p>
          <a:p>
            <a:pPr lvl="1" eaLnBrk="1" hangingPunct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000" i="1" dirty="0" smtClean="0"/>
              <a:t>экстент —</a:t>
            </a:r>
            <a:r>
              <a:rPr lang="ru-RU" sz="2000" dirty="0" smtClean="0"/>
              <a:t> множество экземпляров данного типа в базе данных, </a:t>
            </a:r>
          </a:p>
          <a:p>
            <a:pPr lvl="1" eaLnBrk="1" hangingPunct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000" i="1" dirty="0" smtClean="0"/>
              <a:t>ключ — </a:t>
            </a:r>
            <a:r>
              <a:rPr lang="ru-RU" sz="2000" dirty="0" smtClean="0"/>
              <a:t>факультативное свойство, обеспечивающее возможность идентификации экземпляров типа значениями заданного набора свойств объекта</a:t>
            </a:r>
            <a:endParaRPr lang="ru-RU" sz="3000" b="1" i="1" dirty="0" smtClean="0">
              <a:solidFill>
                <a:schemeClr val="bg2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 eaLnBrk="1" hangingPunct="1">
              <a:lnSpc>
                <a:spcPct val="12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sz="2400" dirty="0" smtClean="0">
                <a:ea typeface="+mn-ea"/>
              </a:rPr>
              <a:t>В модели </a:t>
            </a:r>
            <a:r>
              <a:rPr lang="en-US" altLang="ru-RU" sz="2400" dirty="0" smtClean="0">
                <a:ea typeface="+mn-ea"/>
              </a:rPr>
              <a:t>ODMG </a:t>
            </a:r>
            <a:r>
              <a:rPr lang="ru-RU" sz="2400" dirty="0" smtClean="0">
                <a:ea typeface="+mn-ea"/>
              </a:rPr>
              <a:t>предусматриваются 2 вида объектных типов:</a:t>
            </a:r>
          </a:p>
          <a:p>
            <a:pPr lvl="1" eaLnBrk="1" hangingPunct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100" i="1" dirty="0" smtClean="0"/>
              <a:t>типы-интерфейсы, абстрактными типами (они не могут порождать экземпляров), </a:t>
            </a:r>
          </a:p>
          <a:p>
            <a:pPr lvl="1" eaLnBrk="1" hangingPunct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100" i="1" dirty="0" smtClean="0"/>
              <a:t>типы-классы, которые могут порождать экземпляры. </a:t>
            </a:r>
          </a:p>
          <a:p>
            <a:pPr marL="342900" lvl="1" indent="-342900" eaLnBrk="1" hangingPunct="1">
              <a:lnSpc>
                <a:spcPct val="12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sz="2400" dirty="0" smtClean="0">
                <a:ea typeface="+mn-ea"/>
              </a:rPr>
              <a:t>Между классами может устанавливаться транзитивное бинарное отношение простого наследования, обозначаемого в синтаксисе языка определения объектов (</a:t>
            </a:r>
            <a:r>
              <a:rPr lang="en-US" sz="2400" dirty="0" smtClean="0">
                <a:ea typeface="+mn-ea"/>
              </a:rPr>
              <a:t>ODL</a:t>
            </a:r>
            <a:r>
              <a:rPr lang="ru-RU" sz="2400" dirty="0" smtClean="0">
                <a:ea typeface="+mn-ea"/>
              </a:rPr>
              <a:t>) ключевым словом </a:t>
            </a:r>
            <a:r>
              <a:rPr lang="en-US" sz="2400" dirty="0" smtClean="0">
                <a:ea typeface="+mn-ea"/>
              </a:rPr>
              <a:t>EXTENDS</a:t>
            </a:r>
            <a:r>
              <a:rPr lang="ru-RU" sz="2400" dirty="0" smtClean="0">
                <a:ea typeface="+mn-ea"/>
              </a:rPr>
              <a:t>. </a:t>
            </a:r>
          </a:p>
          <a:p>
            <a:pPr marL="342900" lvl="1" indent="-342900" eaLnBrk="1" hangingPunct="1">
              <a:lnSpc>
                <a:spcPct val="12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sz="2400" dirty="0" smtClean="0">
                <a:ea typeface="+mn-ea"/>
              </a:rPr>
              <a:t>Свойства типов-интерфейсов могут наследоваться другими интерфейсами и классами. </a:t>
            </a:r>
          </a:p>
          <a:p>
            <a:pPr marL="342900" lvl="1" indent="-342900" eaLnBrk="1" hangingPunct="1">
              <a:lnSpc>
                <a:spcPct val="12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sz="2400" dirty="0" smtClean="0">
                <a:ea typeface="+mn-ea"/>
              </a:rPr>
              <a:t>Интерфейсы не могут наследовать от классов</a:t>
            </a:r>
          </a:p>
        </p:txBody>
      </p:sp>
      <p:sp>
        <p:nvSpPr>
          <p:cNvPr id="11268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870780E0-22E5-45F9-8078-2EED36CBF9F2}" type="slidenum">
              <a:rPr lang="ru-RU" altLang="ru-RU" smtClean="0">
                <a:latin typeface="Arial Black" pitchFamily="34" charset="0"/>
              </a:rPr>
              <a:pPr eaLnBrk="1" hangingPunct="1"/>
              <a:t>13</a:t>
            </a:fld>
            <a:endParaRPr lang="ru-RU" altLang="ru-RU" smtClean="0">
              <a:latin typeface="Arial Black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/>
      <p:bldP spid="3174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-76200" y="228600"/>
            <a:ext cx="9296400" cy="609600"/>
          </a:xfrm>
        </p:spPr>
        <p:txBody>
          <a:bodyPr/>
          <a:lstStyle/>
          <a:p>
            <a:pPr algn="ctr" eaLnBrk="1" hangingPunct="1"/>
            <a:r>
              <a:rPr lang="ru-RU" altLang="ru-RU" sz="2800" dirty="0" smtClean="0">
                <a:solidFill>
                  <a:schemeClr val="bg2"/>
                </a:solidFill>
              </a:rPr>
              <a:t>Объектная модель </a:t>
            </a:r>
            <a:r>
              <a:rPr lang="en-US" altLang="ru-RU" sz="2800" dirty="0" smtClean="0">
                <a:solidFill>
                  <a:schemeClr val="bg2"/>
                </a:solidFill>
              </a:rPr>
              <a:t>ODMG</a:t>
            </a:r>
            <a:endParaRPr lang="ru-RU" altLang="ru-RU" sz="2800" dirty="0" smtClean="0">
              <a:solidFill>
                <a:schemeClr val="bg2"/>
              </a:solidFill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38200"/>
            <a:ext cx="8991600" cy="6019800"/>
          </a:xfrm>
        </p:spPr>
        <p:txBody>
          <a:bodyPr wrap="square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2400" dirty="0" smtClean="0"/>
              <a:t>В стандарте ODMG 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 smtClean="0"/>
              <a:t>определение типа-интерфейса представляет собой спецификацию только поведения объектного типа.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 smtClean="0"/>
              <a:t>определение типа-класса специфицирует не только поведение, но и состояние объектного типа. 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 smtClean="0"/>
              <a:t>определение литерала специфицирует лишь состояние литерального типа.</a:t>
            </a:r>
          </a:p>
          <a:p>
            <a:pPr eaLnBrk="1" hangingPunct="1">
              <a:lnSpc>
                <a:spcPct val="120000"/>
              </a:lnSpc>
            </a:pPr>
            <a:r>
              <a:rPr lang="ru-RU" sz="2400" dirty="0" smtClean="0"/>
              <a:t>Для интерфейса может иметься несколько реализации. </a:t>
            </a:r>
          </a:p>
          <a:p>
            <a:pPr marL="342900" lvl="1" indent="-342900" eaLnBrk="1" hangingPunct="1">
              <a:lnSpc>
                <a:spcPct val="12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endParaRPr lang="ru-RU" sz="2400" dirty="0" smtClean="0">
              <a:ea typeface="+mn-ea"/>
            </a:endParaRPr>
          </a:p>
        </p:txBody>
      </p:sp>
      <p:sp>
        <p:nvSpPr>
          <p:cNvPr id="11268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870780E0-22E5-45F9-8078-2EED36CBF9F2}" type="slidenum">
              <a:rPr lang="ru-RU" altLang="ru-RU" smtClean="0">
                <a:latin typeface="Arial Black" pitchFamily="34" charset="0"/>
              </a:rPr>
              <a:pPr eaLnBrk="1" hangingPunct="1"/>
              <a:t>14</a:t>
            </a:fld>
            <a:endParaRPr lang="ru-RU" altLang="ru-RU" dirty="0" smtClean="0">
              <a:latin typeface="Arial Black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/>
      <p:bldP spid="31747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382000" cy="762000"/>
          </a:xfrm>
        </p:spPr>
        <p:txBody>
          <a:bodyPr/>
          <a:lstStyle/>
          <a:p>
            <a:pPr algn="ctr" eaLnBrk="1" hangingPunct="1"/>
            <a:r>
              <a:rPr lang="ru-RU" altLang="ru-RU" sz="3600" dirty="0" smtClean="0">
                <a:solidFill>
                  <a:schemeClr val="bg2"/>
                </a:solidFill>
              </a:rPr>
              <a:t>Язык описания объектов</a:t>
            </a:r>
            <a:r>
              <a:rPr lang="en-US" altLang="ru-RU" sz="3600" dirty="0" smtClean="0">
                <a:solidFill>
                  <a:schemeClr val="bg2"/>
                </a:solidFill>
              </a:rPr>
              <a:t> </a:t>
            </a:r>
            <a:r>
              <a:rPr lang="ru-RU" altLang="ru-RU" sz="3600" dirty="0" smtClean="0">
                <a:solidFill>
                  <a:schemeClr val="bg2"/>
                </a:solidFill>
              </a:rPr>
              <a:t>(</a:t>
            </a:r>
            <a:r>
              <a:rPr lang="en-US" altLang="ru-RU" sz="3600" dirty="0" smtClean="0">
                <a:solidFill>
                  <a:schemeClr val="bg2"/>
                </a:solidFill>
              </a:rPr>
              <a:t>ODL</a:t>
            </a:r>
            <a:r>
              <a:rPr lang="ru-RU" altLang="ru-RU" sz="3600" dirty="0" smtClean="0">
                <a:solidFill>
                  <a:schemeClr val="bg2"/>
                </a:solidFill>
              </a:rPr>
              <a:t>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14400"/>
            <a:ext cx="9144000" cy="5715000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lang="ru-RU" altLang="ru-RU" sz="2800" dirty="0" smtClean="0"/>
              <a:t>ODL  (</a:t>
            </a:r>
            <a:r>
              <a:rPr lang="ru-RU" altLang="ru-RU" sz="2800" dirty="0" err="1" smtClean="0">
                <a:latin typeface="Times New Roman" pitchFamily="18" charset="0"/>
                <a:cs typeface="Times New Roman" pitchFamily="18" charset="0"/>
              </a:rPr>
              <a:t>Object</a:t>
            </a:r>
            <a:r>
              <a:rPr lang="ru-RU" alt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800" dirty="0" err="1" smtClean="0">
                <a:latin typeface="Times New Roman" pitchFamily="18" charset="0"/>
                <a:cs typeface="Times New Roman" pitchFamily="18" charset="0"/>
              </a:rPr>
              <a:t>Defifnition</a:t>
            </a:r>
            <a:r>
              <a:rPr lang="ru-RU" alt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800" dirty="0" err="1" smtClean="0">
                <a:latin typeface="Times New Roman" pitchFamily="18" charset="0"/>
                <a:cs typeface="Times New Roman" pitchFamily="18" charset="0"/>
              </a:rPr>
              <a:t>Language</a:t>
            </a:r>
            <a:r>
              <a:rPr lang="ru-RU" alt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800" i="1" dirty="0" smtClean="0">
                <a:latin typeface="Times New Roman" pitchFamily="18" charset="0"/>
                <a:cs typeface="Times New Roman" pitchFamily="18" charset="0"/>
              </a:rPr>
              <a:t>– язык определения объектов</a:t>
            </a:r>
            <a:r>
              <a:rPr lang="ru-RU" altLang="ru-RU" sz="2800" dirty="0" smtClean="0"/>
              <a:t>) - средство определения схемы базы данных</a:t>
            </a:r>
            <a:endParaRPr lang="en-US" altLang="ru-RU" sz="2800" dirty="0" smtClean="0"/>
          </a:p>
          <a:p>
            <a:pPr eaLnBrk="1" hangingPunct="1">
              <a:lnSpc>
                <a:spcPct val="110000"/>
              </a:lnSpc>
            </a:pPr>
            <a:r>
              <a:rPr lang="ru-RU" altLang="ru-RU" sz="2800" dirty="0" smtClean="0"/>
              <a:t>ODL является расширением IDL (</a:t>
            </a:r>
            <a:r>
              <a:rPr lang="ru-RU" altLang="ru-RU" sz="2800" dirty="0" err="1" smtClean="0">
                <a:latin typeface="Times New Roman" pitchFamily="18" charset="0"/>
                <a:cs typeface="Times New Roman" pitchFamily="18" charset="0"/>
              </a:rPr>
              <a:t>Interface</a:t>
            </a:r>
            <a:r>
              <a:rPr lang="ru-RU" alt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800" dirty="0" err="1" smtClean="0">
                <a:latin typeface="Times New Roman" pitchFamily="18" charset="0"/>
                <a:cs typeface="Times New Roman" pitchFamily="18" charset="0"/>
              </a:rPr>
              <a:t>Definition</a:t>
            </a:r>
            <a:r>
              <a:rPr lang="ru-RU" alt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800" dirty="0" err="1" smtClean="0">
                <a:latin typeface="Times New Roman" pitchFamily="18" charset="0"/>
                <a:cs typeface="Times New Roman" pitchFamily="18" charset="0"/>
              </a:rPr>
              <a:t>Language</a:t>
            </a:r>
            <a:r>
              <a:rPr lang="ru-RU" altLang="ru-RU" sz="2800" dirty="0" smtClean="0">
                <a:latin typeface="Times New Roman" pitchFamily="18" charset="0"/>
                <a:cs typeface="Times New Roman" pitchFamily="18" charset="0"/>
              </a:rPr>
              <a:t>  - </a:t>
            </a:r>
            <a:r>
              <a:rPr lang="ru-RU" altLang="ru-RU" sz="2800" i="1" dirty="0" smtClean="0">
                <a:latin typeface="Times New Roman" pitchFamily="18" charset="0"/>
                <a:cs typeface="Times New Roman" pitchFamily="18" charset="0"/>
              </a:rPr>
              <a:t>язык определения интерфейсов</a:t>
            </a:r>
            <a:r>
              <a:rPr lang="en-US" altLang="ru-RU" sz="2800" dirty="0" smtClean="0"/>
              <a:t>) </a:t>
            </a:r>
            <a:r>
              <a:rPr lang="ru-RU" altLang="ru-RU" sz="2800" dirty="0" smtClean="0"/>
              <a:t>модели OMG </a:t>
            </a:r>
            <a:endParaRPr lang="en-US" altLang="ru-RU" sz="2800" dirty="0" smtClean="0"/>
          </a:p>
          <a:p>
            <a:pPr eaLnBrk="1" hangingPunct="1">
              <a:lnSpc>
                <a:spcPct val="110000"/>
              </a:lnSpc>
            </a:pPr>
            <a:r>
              <a:rPr lang="en-US" altLang="ru-RU" sz="2800" dirty="0" smtClean="0"/>
              <a:t>ODL </a:t>
            </a:r>
            <a:r>
              <a:rPr lang="ru-RU" altLang="ru-RU" sz="2800" dirty="0" smtClean="0"/>
              <a:t>предоставляет средства для определения </a:t>
            </a:r>
            <a:r>
              <a:rPr lang="ru-RU" altLang="ru-RU" sz="2800" u="sng" dirty="0" smtClean="0"/>
              <a:t>объектных типов</a:t>
            </a:r>
            <a:r>
              <a:rPr lang="ru-RU" altLang="ru-RU" sz="2800" dirty="0" smtClean="0"/>
              <a:t>, их </a:t>
            </a:r>
            <a:r>
              <a:rPr lang="ru-RU" altLang="ru-RU" sz="2800" i="1" dirty="0" smtClean="0"/>
              <a:t>атрибутов</a:t>
            </a:r>
            <a:r>
              <a:rPr lang="ru-RU" altLang="ru-RU" sz="2800" dirty="0" smtClean="0"/>
              <a:t>, </a:t>
            </a:r>
            <a:r>
              <a:rPr lang="ru-RU" altLang="ru-RU" sz="2800" i="1" dirty="0" smtClean="0"/>
              <a:t>связей</a:t>
            </a:r>
            <a:r>
              <a:rPr lang="ru-RU" altLang="ru-RU" sz="2800" dirty="0" smtClean="0"/>
              <a:t> и </a:t>
            </a:r>
            <a:r>
              <a:rPr lang="ru-RU" altLang="ru-RU" sz="2800" i="1" dirty="0" smtClean="0"/>
              <a:t>методов</a:t>
            </a:r>
            <a:endParaRPr lang="en-US" altLang="ru-RU" sz="2800" i="1" dirty="0" smtClean="0"/>
          </a:p>
          <a:p>
            <a:pPr eaLnBrk="1" hangingPunct="1">
              <a:lnSpc>
                <a:spcPct val="110000"/>
              </a:lnSpc>
            </a:pPr>
            <a:r>
              <a:rPr lang="ru-RU" altLang="ru-RU" sz="2800" dirty="0" smtClean="0"/>
              <a:t>ODL создает слой </a:t>
            </a:r>
            <a:r>
              <a:rPr lang="ru-RU" altLang="ru-RU" sz="2800" i="1" dirty="0" smtClean="0">
                <a:solidFill>
                  <a:schemeClr val="accent5">
                    <a:lumMod val="50000"/>
                  </a:schemeClr>
                </a:solidFill>
              </a:rPr>
              <a:t>абстрактных описаний </a:t>
            </a:r>
            <a:r>
              <a:rPr lang="ru-RU" altLang="ru-RU" sz="2800" dirty="0" smtClean="0"/>
              <a:t>так, что </a:t>
            </a:r>
            <a:r>
              <a:rPr lang="ru-RU" altLang="ru-RU" sz="2800" b="1" dirty="0" smtClean="0"/>
              <a:t>схема базы данных</a:t>
            </a:r>
            <a:r>
              <a:rPr lang="ru-RU" altLang="ru-RU" sz="2800" dirty="0" smtClean="0"/>
              <a:t> становится </a:t>
            </a:r>
            <a:r>
              <a:rPr lang="ru-RU" altLang="ru-RU" sz="2800" b="1" dirty="0" smtClean="0"/>
              <a:t>независима</a:t>
            </a:r>
            <a:r>
              <a:rPr lang="ru-RU" altLang="ru-RU" sz="2800" dirty="0" smtClean="0"/>
              <a:t> как от </a:t>
            </a:r>
            <a:r>
              <a:rPr lang="ru-RU" altLang="ru-RU" sz="2800" b="1" dirty="0" smtClean="0"/>
              <a:t>языка программирования</a:t>
            </a:r>
            <a:r>
              <a:rPr lang="en-US" altLang="ru-RU" sz="2800" b="1" dirty="0" smtClean="0"/>
              <a:t>,</a:t>
            </a:r>
            <a:r>
              <a:rPr lang="ru-RU" altLang="ru-RU" sz="2800" b="1" dirty="0" smtClean="0"/>
              <a:t> </a:t>
            </a:r>
            <a:r>
              <a:rPr lang="ru-RU" altLang="ru-RU" sz="2800" dirty="0" smtClean="0"/>
              <a:t>так и от </a:t>
            </a:r>
            <a:r>
              <a:rPr lang="ru-RU" altLang="ru-RU" sz="2800" b="1" dirty="0" smtClean="0"/>
              <a:t>СУБД</a:t>
            </a:r>
          </a:p>
          <a:p>
            <a:pPr eaLnBrk="1" hangingPunct="1">
              <a:lnSpc>
                <a:spcPct val="110000"/>
              </a:lnSpc>
            </a:pPr>
            <a:r>
              <a:rPr lang="ru-RU" altLang="ru-RU" sz="2800" dirty="0" smtClean="0"/>
              <a:t>ODL рассматривает </a:t>
            </a:r>
            <a:r>
              <a:rPr lang="ru-RU" altLang="ru-RU" sz="2800" i="1" dirty="0">
                <a:solidFill>
                  <a:schemeClr val="accent5">
                    <a:lumMod val="50000"/>
                  </a:schemeClr>
                </a:solidFill>
              </a:rPr>
              <a:t>только описание объектных типов </a:t>
            </a:r>
            <a:r>
              <a:rPr lang="ru-RU" altLang="ru-RU" sz="2800" dirty="0" smtClean="0"/>
              <a:t>данных, не вдаваясь в детали реализации их методов</a:t>
            </a:r>
          </a:p>
          <a:p>
            <a:pPr eaLnBrk="1" hangingPunct="1">
              <a:lnSpc>
                <a:spcPct val="110000"/>
              </a:lnSpc>
            </a:pPr>
            <a:r>
              <a:rPr lang="ru-RU" sz="2800" dirty="0"/>
              <a:t>Это позволяет </a:t>
            </a:r>
            <a:r>
              <a:rPr lang="ru-RU" sz="2800" i="1" dirty="0">
                <a:solidFill>
                  <a:schemeClr val="accent5">
                    <a:lumMod val="50000"/>
                  </a:schemeClr>
                </a:solidFill>
              </a:rPr>
              <a:t>переносить схему БД </a:t>
            </a:r>
            <a:r>
              <a:rPr lang="ru-RU" sz="2800" dirty="0"/>
              <a:t>между различными ODMG-совместимыми СУБД и языками программирования, а также транслировать ее в другие DDL. </a:t>
            </a:r>
            <a:endParaRPr lang="ru-RU" altLang="ru-RU" sz="2800" dirty="0" smtClean="0"/>
          </a:p>
        </p:txBody>
      </p:sp>
      <p:sp>
        <p:nvSpPr>
          <p:cNvPr id="13316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31BD1D85-B717-4CB3-A324-1380D410ADA2}" type="slidenum">
              <a:rPr lang="ru-RU" altLang="ru-RU" smtClean="0">
                <a:latin typeface="Arial Black" pitchFamily="34" charset="0"/>
              </a:rPr>
              <a:pPr eaLnBrk="1" hangingPunct="1"/>
              <a:t>15</a:t>
            </a:fld>
            <a:endParaRPr lang="ru-RU" altLang="ru-RU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533400"/>
          </a:xfrm>
        </p:spPr>
        <p:txBody>
          <a:bodyPr/>
          <a:lstStyle/>
          <a:p>
            <a:pPr algn="ctr" eaLnBrk="1" hangingPunct="1"/>
            <a:r>
              <a:rPr lang="ru-RU" altLang="ru-RU" sz="3200" dirty="0" smtClean="0">
                <a:solidFill>
                  <a:schemeClr val="bg2"/>
                </a:solidFill>
              </a:rPr>
              <a:t>Типы данных в </a:t>
            </a:r>
            <a:r>
              <a:rPr lang="en-US" altLang="ru-RU" sz="3200" dirty="0" smtClean="0">
                <a:solidFill>
                  <a:schemeClr val="bg2"/>
                </a:solidFill>
              </a:rPr>
              <a:t>ODL</a:t>
            </a:r>
            <a:r>
              <a:rPr lang="ru-RU" altLang="ru-RU" sz="3200" dirty="0" smtClean="0">
                <a:solidFill>
                  <a:schemeClr val="bg2"/>
                </a:solidFill>
              </a:rPr>
              <a:t> (базовые)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562600"/>
          </a:xfrm>
        </p:spPr>
        <p:txBody>
          <a:bodyPr/>
          <a:lstStyle/>
          <a:p>
            <a:pPr eaLnBrk="1" hangingPunct="1"/>
            <a:r>
              <a:rPr lang="ru-RU" altLang="ru-RU" b="1" i="1" dirty="0" smtClean="0"/>
              <a:t>Атомарные типы</a:t>
            </a:r>
            <a:r>
              <a:rPr lang="ru-RU" altLang="ru-RU" i="1" dirty="0" smtClean="0"/>
              <a:t> </a:t>
            </a:r>
            <a:r>
              <a:rPr lang="ru-RU" altLang="ru-RU" dirty="0" smtClean="0"/>
              <a:t>(</a:t>
            </a:r>
            <a:r>
              <a:rPr lang="en-US" altLang="ru-RU" dirty="0" smtClean="0"/>
              <a:t>atomic types</a:t>
            </a:r>
            <a:r>
              <a:rPr lang="ru-RU" altLang="ru-RU" dirty="0" smtClean="0"/>
              <a:t>): </a:t>
            </a:r>
            <a:endParaRPr lang="en-US" altLang="ru-RU" dirty="0" smtClean="0"/>
          </a:p>
          <a:p>
            <a:pPr lvl="1" eaLnBrk="1" hangingPunct="1"/>
            <a:r>
              <a:rPr lang="en-US" altLang="ru-RU" dirty="0" smtClean="0"/>
              <a:t>integer </a:t>
            </a:r>
            <a:r>
              <a:rPr lang="ru-RU" altLang="ru-RU" dirty="0" smtClean="0"/>
              <a:t>(целое число), </a:t>
            </a:r>
            <a:endParaRPr lang="en-US" altLang="ru-RU" dirty="0" smtClean="0"/>
          </a:p>
          <a:p>
            <a:pPr lvl="1" eaLnBrk="1" hangingPunct="1"/>
            <a:r>
              <a:rPr lang="en-US" altLang="ru-RU" dirty="0" smtClean="0"/>
              <a:t>float </a:t>
            </a:r>
            <a:r>
              <a:rPr lang="ru-RU" altLang="ru-RU" dirty="0" smtClean="0"/>
              <a:t>(вещественное число с плавающей запятой), </a:t>
            </a:r>
            <a:endParaRPr lang="en-US" altLang="ru-RU" dirty="0" smtClean="0"/>
          </a:p>
          <a:p>
            <a:pPr lvl="1" eaLnBrk="1" hangingPunct="1"/>
            <a:r>
              <a:rPr lang="en-US" altLang="ru-RU" dirty="0" smtClean="0"/>
              <a:t>character </a:t>
            </a:r>
            <a:r>
              <a:rPr lang="ru-RU" altLang="ru-RU" dirty="0" smtClean="0"/>
              <a:t>(символ), </a:t>
            </a:r>
            <a:endParaRPr lang="en-US" altLang="ru-RU" dirty="0" smtClean="0"/>
          </a:p>
          <a:p>
            <a:pPr lvl="1" eaLnBrk="1" hangingPunct="1"/>
            <a:r>
              <a:rPr lang="en-US" altLang="ru-RU" dirty="0" smtClean="0"/>
              <a:t>string </a:t>
            </a:r>
            <a:r>
              <a:rPr lang="ru-RU" altLang="ru-RU" dirty="0" smtClean="0"/>
              <a:t>(строка символов)</a:t>
            </a:r>
            <a:r>
              <a:rPr lang="en-US" altLang="ru-RU" dirty="0" smtClean="0"/>
              <a:t>,</a:t>
            </a:r>
            <a:r>
              <a:rPr lang="ru-RU" altLang="ru-RU" dirty="0" smtClean="0"/>
              <a:t> </a:t>
            </a:r>
            <a:endParaRPr lang="en-US" altLang="ru-RU" dirty="0" smtClean="0"/>
          </a:p>
          <a:p>
            <a:pPr lvl="1" eaLnBrk="1" hangingPunct="1"/>
            <a:r>
              <a:rPr lang="en-US" altLang="ru-RU" dirty="0" err="1" smtClean="0"/>
              <a:t>boolean</a:t>
            </a:r>
            <a:r>
              <a:rPr lang="en-US" altLang="ru-RU" dirty="0" smtClean="0"/>
              <a:t> </a:t>
            </a:r>
            <a:r>
              <a:rPr lang="ru-RU" altLang="ru-RU" dirty="0" smtClean="0"/>
              <a:t>(бинарное логическое значение)</a:t>
            </a:r>
            <a:r>
              <a:rPr lang="en-US" altLang="ru-RU" dirty="0" smtClean="0"/>
              <a:t>,</a:t>
            </a:r>
            <a:r>
              <a:rPr lang="ru-RU" altLang="ru-RU" dirty="0" smtClean="0"/>
              <a:t> </a:t>
            </a:r>
            <a:endParaRPr lang="en-US" altLang="ru-RU" dirty="0" smtClean="0"/>
          </a:p>
          <a:p>
            <a:pPr lvl="1" eaLnBrk="1" hangingPunct="1"/>
            <a:r>
              <a:rPr lang="en-US" altLang="ru-RU" dirty="0" smtClean="0"/>
              <a:t>enumerations</a:t>
            </a:r>
            <a:r>
              <a:rPr lang="ru-RU" altLang="ru-RU" i="1" dirty="0" smtClean="0"/>
              <a:t> </a:t>
            </a:r>
            <a:r>
              <a:rPr lang="ru-RU" altLang="ru-RU" dirty="0" smtClean="0"/>
              <a:t>(перечислимые типы</a:t>
            </a:r>
            <a:r>
              <a:rPr lang="ru-RU" altLang="ru-RU" i="1" dirty="0" smtClean="0"/>
              <a:t> </a:t>
            </a:r>
            <a:r>
              <a:rPr lang="ru-RU" altLang="ru-RU" dirty="0" smtClean="0"/>
              <a:t>).</a:t>
            </a:r>
            <a:endParaRPr lang="en-US" altLang="ru-RU" dirty="0" smtClean="0"/>
          </a:p>
          <a:p>
            <a:pPr eaLnBrk="1" hangingPunct="1"/>
            <a:r>
              <a:rPr lang="ru-RU" altLang="ru-RU" b="1" i="1" dirty="0" smtClean="0"/>
              <a:t>Классы</a:t>
            </a:r>
            <a:r>
              <a:rPr lang="ru-RU" altLang="ru-RU" i="1" dirty="0" smtClean="0"/>
              <a:t> </a:t>
            </a:r>
            <a:r>
              <a:rPr lang="ru-RU" altLang="ru-RU" dirty="0" smtClean="0"/>
              <a:t>(</a:t>
            </a:r>
            <a:r>
              <a:rPr lang="en-US" altLang="ru-RU" dirty="0" smtClean="0"/>
              <a:t>classes</a:t>
            </a:r>
            <a:r>
              <a:rPr lang="ru-RU" altLang="ru-RU" dirty="0" smtClean="0"/>
              <a:t>)</a:t>
            </a:r>
            <a:r>
              <a:rPr lang="en-US" altLang="ru-RU" dirty="0" smtClean="0"/>
              <a:t> – </a:t>
            </a:r>
            <a:r>
              <a:rPr lang="ru-RU" altLang="ru-RU" dirty="0" smtClean="0"/>
              <a:t>структуры, </a:t>
            </a:r>
            <a:r>
              <a:rPr lang="ru-RU" altLang="ru-RU" sz="2800" dirty="0" smtClean="0"/>
              <a:t>содержащие </a:t>
            </a:r>
            <a:r>
              <a:rPr lang="ru-RU" altLang="ru-RU" sz="2800" b="1" dirty="0" smtClean="0"/>
              <a:t>компоненты</a:t>
            </a:r>
            <a:r>
              <a:rPr lang="ru-RU" altLang="ru-RU" sz="2800" dirty="0" smtClean="0"/>
              <a:t> для каждого </a:t>
            </a:r>
            <a:r>
              <a:rPr lang="ru-RU" altLang="ru-RU" sz="2800" b="1" dirty="0" smtClean="0"/>
              <a:t>атрибута </a:t>
            </a:r>
            <a:r>
              <a:rPr lang="ru-RU" altLang="ru-RU" sz="2800" dirty="0" smtClean="0"/>
              <a:t>или </a:t>
            </a:r>
            <a:r>
              <a:rPr lang="ru-RU" altLang="ru-RU" sz="2800" b="1" dirty="0" smtClean="0"/>
              <a:t>связи</a:t>
            </a:r>
          </a:p>
        </p:txBody>
      </p:sp>
      <p:sp>
        <p:nvSpPr>
          <p:cNvPr id="14340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F8BECF09-96E6-4C73-82C8-891D3B8C07DD}" type="slidenum">
              <a:rPr lang="ru-RU" altLang="ru-RU" smtClean="0">
                <a:latin typeface="Arial Black" pitchFamily="34" charset="0"/>
              </a:rPr>
              <a:pPr eaLnBrk="1" hangingPunct="1"/>
              <a:t>16</a:t>
            </a:fld>
            <a:endParaRPr lang="ru-RU" altLang="ru-RU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228600"/>
            <a:ext cx="6934200" cy="609600"/>
          </a:xfrm>
        </p:spPr>
        <p:txBody>
          <a:bodyPr/>
          <a:lstStyle/>
          <a:p>
            <a:pPr algn="ctr" eaLnBrk="1" hangingPunct="1"/>
            <a:r>
              <a:rPr lang="ru-RU" altLang="ru-RU" sz="3200" dirty="0" smtClean="0">
                <a:solidFill>
                  <a:schemeClr val="bg2"/>
                </a:solidFill>
              </a:rPr>
              <a:t>Типы данных в </a:t>
            </a:r>
            <a:r>
              <a:rPr lang="en-US" altLang="ru-RU" sz="3200" dirty="0" smtClean="0">
                <a:solidFill>
                  <a:schemeClr val="bg2"/>
                </a:solidFill>
              </a:rPr>
              <a:t>ODL</a:t>
            </a:r>
            <a:r>
              <a:rPr lang="ru-RU" altLang="ru-RU" sz="3200" dirty="0" smtClean="0">
                <a:solidFill>
                  <a:schemeClr val="bg2"/>
                </a:solidFill>
              </a:rPr>
              <a:t> (структурные)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914400"/>
            <a:ext cx="8915400" cy="5791200"/>
          </a:xfrm>
        </p:spPr>
        <p:txBody>
          <a:bodyPr>
            <a:normAutofit fontScale="92500"/>
          </a:bodyPr>
          <a:lstStyle/>
          <a:p>
            <a:pPr marL="609600" indent="-609600" eaLnBrk="1" hangingPunct="1"/>
            <a:r>
              <a:rPr lang="en-US" altLang="ru-RU" sz="2400" b="1" i="1" dirty="0" smtClean="0"/>
              <a:t>Set </a:t>
            </a:r>
            <a:r>
              <a:rPr lang="ru-RU" altLang="ru-RU" sz="2400" b="1" dirty="0" smtClean="0"/>
              <a:t>(множество).</a:t>
            </a:r>
            <a:r>
              <a:rPr lang="ru-RU" altLang="ru-RU" sz="2400" dirty="0" smtClean="0"/>
              <a:t> Пусть </a:t>
            </a:r>
            <a:r>
              <a:rPr lang="ru-RU" altLang="ru-RU" sz="2400" b="1" dirty="0" smtClean="0"/>
              <a:t>Т</a:t>
            </a:r>
            <a:r>
              <a:rPr lang="ru-RU" altLang="ru-RU" sz="2400" dirty="0" smtClean="0"/>
              <a:t>— произвольный тип; </a:t>
            </a:r>
            <a:r>
              <a:rPr lang="en-US" altLang="ru-RU" sz="2400" dirty="0" smtClean="0"/>
              <a:t/>
            </a:r>
            <a:br>
              <a:rPr lang="en-US" altLang="ru-RU" sz="2400" dirty="0" smtClean="0"/>
            </a:br>
            <a:r>
              <a:rPr lang="ru-RU" altLang="ru-RU" sz="2400" dirty="0" smtClean="0"/>
              <a:t>тогда выражение </a:t>
            </a:r>
            <a:r>
              <a:rPr lang="en-US" altLang="ru-RU" sz="2400" b="1" dirty="0" smtClean="0"/>
              <a:t>Set</a:t>
            </a:r>
            <a:r>
              <a:rPr lang="ru-RU" altLang="ru-RU" sz="2400" b="1" dirty="0" smtClean="0"/>
              <a:t>&lt;</a:t>
            </a:r>
            <a:r>
              <a:rPr lang="en-US" altLang="ru-RU" sz="2400" b="1" dirty="0" smtClean="0"/>
              <a:t>T</a:t>
            </a:r>
            <a:r>
              <a:rPr lang="ru-RU" altLang="ru-RU" sz="2400" b="1" dirty="0" smtClean="0"/>
              <a:t>&gt;</a:t>
            </a:r>
            <a:r>
              <a:rPr lang="ru-RU" altLang="ru-RU" sz="2400" dirty="0" smtClean="0"/>
              <a:t> представляет тип, значениями которого являются </a:t>
            </a:r>
            <a:r>
              <a:rPr lang="ru-RU" altLang="ru-RU" sz="2400" b="1" dirty="0" smtClean="0"/>
              <a:t>конечные множества элементов типа Т</a:t>
            </a:r>
            <a:r>
              <a:rPr lang="ru-RU" altLang="ru-RU" sz="2400" dirty="0" smtClean="0"/>
              <a:t>. </a:t>
            </a:r>
          </a:p>
          <a:p>
            <a:pPr marL="609600" indent="-609600" eaLnBrk="1" hangingPunct="1"/>
            <a:r>
              <a:rPr lang="en-US" altLang="ru-RU" sz="2400" b="1" i="1" dirty="0" smtClean="0"/>
              <a:t>Bag </a:t>
            </a:r>
            <a:r>
              <a:rPr lang="ru-RU" altLang="ru-RU" sz="2400" b="1" dirty="0" smtClean="0"/>
              <a:t>(мультимножество).</a:t>
            </a:r>
            <a:r>
              <a:rPr lang="ru-RU" altLang="ru-RU" sz="2400" dirty="0" smtClean="0"/>
              <a:t> Пусть </a:t>
            </a:r>
            <a:r>
              <a:rPr lang="ru-RU" altLang="ru-RU" sz="2400" b="1" dirty="0" smtClean="0"/>
              <a:t>Т</a:t>
            </a:r>
            <a:r>
              <a:rPr lang="ru-RU" altLang="ru-RU" sz="2400" i="1" dirty="0" smtClean="0"/>
              <a:t> </a:t>
            </a:r>
            <a:r>
              <a:rPr lang="ru-RU" altLang="ru-RU" sz="2400" dirty="0" smtClean="0"/>
              <a:t>— произвольный тип; </a:t>
            </a:r>
            <a:r>
              <a:rPr lang="en-US" altLang="ru-RU" sz="2400" dirty="0" smtClean="0"/>
              <a:t/>
            </a:r>
            <a:br>
              <a:rPr lang="en-US" altLang="ru-RU" sz="2400" dirty="0" smtClean="0"/>
            </a:br>
            <a:r>
              <a:rPr lang="ru-RU" altLang="ru-RU" sz="2400" dirty="0" smtClean="0"/>
              <a:t>тогда выражение </a:t>
            </a:r>
            <a:r>
              <a:rPr lang="en-US" altLang="ru-RU" sz="2400" b="1" dirty="0" smtClean="0"/>
              <a:t>Bag&lt;T&gt;</a:t>
            </a:r>
            <a:r>
              <a:rPr lang="ru-RU" altLang="ru-RU" sz="2400" dirty="0" smtClean="0"/>
              <a:t> представляет тип, значениями которого являются </a:t>
            </a:r>
            <a:r>
              <a:rPr lang="ru-RU" altLang="ru-RU" sz="2400" b="1" dirty="0" smtClean="0"/>
              <a:t>конечные мультимножества элементов типа</a:t>
            </a:r>
            <a:r>
              <a:rPr lang="ru-RU" altLang="ru-RU" sz="2400" dirty="0" smtClean="0"/>
              <a:t> </a:t>
            </a:r>
            <a:r>
              <a:rPr lang="ru-RU" altLang="ru-RU" sz="2400" b="1" dirty="0" smtClean="0"/>
              <a:t>Т</a:t>
            </a:r>
            <a:r>
              <a:rPr lang="ru-RU" altLang="ru-RU" sz="2400" i="1" dirty="0" smtClean="0"/>
              <a:t>. </a:t>
            </a:r>
            <a:r>
              <a:rPr lang="ru-RU" altLang="ru-RU" sz="2400" dirty="0" smtClean="0"/>
              <a:t>Мультимножество допускает возможность включения одинаковых элементов. </a:t>
            </a:r>
            <a:r>
              <a:rPr lang="en-US" altLang="ru-RU" sz="2400" dirty="0" smtClean="0"/>
              <a:t/>
            </a:r>
            <a:br>
              <a:rPr lang="en-US" altLang="ru-RU" sz="2400" dirty="0" smtClean="0"/>
            </a:br>
            <a:r>
              <a:rPr lang="ru-RU" altLang="ru-RU" sz="2400" dirty="0" smtClean="0"/>
              <a:t>Например, </a:t>
            </a:r>
            <a:r>
              <a:rPr lang="ru-RU" altLang="ru-RU" sz="2400" b="1" dirty="0" smtClean="0"/>
              <a:t>{1</a:t>
            </a:r>
            <a:r>
              <a:rPr lang="en-US" altLang="ru-RU" sz="2400" b="1" dirty="0" smtClean="0"/>
              <a:t>,</a:t>
            </a:r>
            <a:r>
              <a:rPr lang="ru-RU" altLang="ru-RU" sz="2400" b="1" dirty="0" smtClean="0"/>
              <a:t>2,1}</a:t>
            </a:r>
            <a:r>
              <a:rPr lang="ru-RU" altLang="ru-RU" sz="2400" dirty="0" smtClean="0"/>
              <a:t> представляет собой мультимножество, но не множество, поскольку элемент </a:t>
            </a:r>
            <a:r>
              <a:rPr lang="ru-RU" altLang="ru-RU" sz="2400" b="1" dirty="0" smtClean="0"/>
              <a:t>1</a:t>
            </a:r>
            <a:r>
              <a:rPr lang="ru-RU" altLang="ru-RU" sz="2400" dirty="0" smtClean="0"/>
              <a:t> присутствует </a:t>
            </a:r>
            <a:r>
              <a:rPr lang="ru-RU" altLang="ru-RU" sz="2400" b="1" dirty="0" smtClean="0"/>
              <a:t>дважды</a:t>
            </a:r>
            <a:r>
              <a:rPr lang="ru-RU" altLang="ru-RU" sz="2400" dirty="0" smtClean="0"/>
              <a:t>.</a:t>
            </a:r>
            <a:endParaRPr lang="en-US" altLang="ru-RU" sz="2400" i="1" dirty="0" smtClean="0"/>
          </a:p>
          <a:p>
            <a:pPr marL="609600" indent="-609600" eaLnBrk="1" hangingPunct="1"/>
            <a:r>
              <a:rPr lang="en-US" altLang="ru-RU" sz="2400" b="1" i="1" dirty="0" smtClean="0"/>
              <a:t>List </a:t>
            </a:r>
            <a:r>
              <a:rPr lang="ru-RU" altLang="ru-RU" sz="2400" b="1" dirty="0" smtClean="0"/>
              <a:t>(список</a:t>
            </a:r>
            <a:r>
              <a:rPr lang="ru-RU" altLang="ru-RU" sz="2400" dirty="0" smtClean="0"/>
              <a:t>). Пусть </a:t>
            </a:r>
            <a:r>
              <a:rPr lang="ru-RU" altLang="ru-RU" sz="2400" b="1" dirty="0" smtClean="0"/>
              <a:t>Т</a:t>
            </a:r>
            <a:r>
              <a:rPr lang="ru-RU" altLang="ru-RU" sz="2400" i="1" dirty="0" smtClean="0"/>
              <a:t> </a:t>
            </a:r>
            <a:r>
              <a:rPr lang="ru-RU" altLang="ru-RU" sz="2400" dirty="0" smtClean="0"/>
              <a:t>- произвольный тип; </a:t>
            </a:r>
            <a:r>
              <a:rPr lang="en-US" altLang="ru-RU" sz="2400" dirty="0" smtClean="0"/>
              <a:t/>
            </a:r>
            <a:br>
              <a:rPr lang="en-US" altLang="ru-RU" sz="2400" dirty="0" smtClean="0"/>
            </a:br>
            <a:r>
              <a:rPr lang="ru-RU" altLang="ru-RU" sz="2400" dirty="0" smtClean="0"/>
              <a:t>тогда выражение </a:t>
            </a:r>
            <a:r>
              <a:rPr lang="en-US" altLang="ru-RU" sz="2400" b="1" dirty="0" smtClean="0"/>
              <a:t>List</a:t>
            </a:r>
            <a:r>
              <a:rPr lang="ru-RU" altLang="ru-RU" sz="2400" b="1" dirty="0" smtClean="0"/>
              <a:t>&lt;</a:t>
            </a:r>
            <a:r>
              <a:rPr lang="en-US" altLang="ru-RU" sz="2400" b="1" dirty="0" smtClean="0"/>
              <a:t>T</a:t>
            </a:r>
            <a:r>
              <a:rPr lang="ru-RU" altLang="ru-RU" sz="2400" b="1" dirty="0" smtClean="0"/>
              <a:t>&gt;</a:t>
            </a:r>
            <a:r>
              <a:rPr lang="ru-RU" altLang="ru-RU" sz="2400" dirty="0" smtClean="0"/>
              <a:t> </a:t>
            </a:r>
            <a:r>
              <a:rPr lang="ru-RU" altLang="ru-RU" sz="2400" dirty="0" smtClean="0"/>
              <a:t>представляет </a:t>
            </a:r>
            <a:r>
              <a:rPr lang="ru-RU" altLang="ru-RU" sz="2400" dirty="0" smtClean="0"/>
              <a:t>тип, значениями которого являются конечные списки, состоящие из нулевого или любого другого количества элементов типа </a:t>
            </a:r>
            <a:r>
              <a:rPr lang="ru-RU" altLang="ru-RU" sz="2400" i="1" dirty="0" smtClean="0"/>
              <a:t>Т.</a:t>
            </a:r>
            <a:br>
              <a:rPr lang="ru-RU" altLang="ru-RU" sz="2400" i="1" dirty="0" smtClean="0"/>
            </a:br>
            <a:r>
              <a:rPr lang="ru-RU" altLang="ru-RU" sz="2400" i="1" dirty="0" smtClean="0"/>
              <a:t> </a:t>
            </a:r>
            <a:r>
              <a:rPr lang="ru-RU" altLang="ru-RU" sz="2400" dirty="0" smtClean="0"/>
              <a:t>Для обозначения типа </a:t>
            </a:r>
            <a:r>
              <a:rPr lang="en-US" altLang="ru-RU" sz="2400" b="1" dirty="0" smtClean="0"/>
              <a:t>List</a:t>
            </a:r>
            <a:r>
              <a:rPr lang="ru-RU" altLang="ru-RU" sz="2400" b="1" dirty="0" smtClean="0"/>
              <a:t>&lt;</a:t>
            </a:r>
            <a:r>
              <a:rPr lang="en-US" altLang="ru-RU" sz="2400" b="1" dirty="0" smtClean="0"/>
              <a:t>char</a:t>
            </a:r>
            <a:r>
              <a:rPr lang="ru-RU" altLang="ru-RU" sz="2400" b="1" dirty="0" smtClean="0"/>
              <a:t>&gt;</a:t>
            </a:r>
            <a:r>
              <a:rPr lang="ru-RU" altLang="ru-RU" sz="2400" dirty="0" smtClean="0"/>
              <a:t> существует сокращенная форма записи - </a:t>
            </a:r>
            <a:r>
              <a:rPr lang="en-US" altLang="ru-RU" sz="2400" b="1" dirty="0" smtClean="0"/>
              <a:t>string</a:t>
            </a:r>
            <a:r>
              <a:rPr lang="ru-RU" altLang="ru-RU" sz="2400" dirty="0" smtClean="0"/>
              <a:t>.</a:t>
            </a:r>
          </a:p>
        </p:txBody>
      </p:sp>
      <p:sp>
        <p:nvSpPr>
          <p:cNvPr id="15364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B26E758-454C-4DD6-95AC-E8A2317B9002}" type="slidenum">
              <a:rPr lang="ru-RU" altLang="ru-RU" smtClean="0">
                <a:latin typeface="Arial Black" pitchFamily="34" charset="0"/>
              </a:rPr>
              <a:pPr eaLnBrk="1" hangingPunct="1"/>
              <a:t>17</a:t>
            </a:fld>
            <a:endParaRPr lang="ru-RU" altLang="ru-RU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763000" cy="609600"/>
          </a:xfrm>
        </p:spPr>
        <p:txBody>
          <a:bodyPr/>
          <a:lstStyle/>
          <a:p>
            <a:pPr algn="ctr" eaLnBrk="1" hangingPunct="1"/>
            <a:r>
              <a:rPr lang="ru-RU" altLang="ru-RU" sz="3200" dirty="0" smtClean="0">
                <a:solidFill>
                  <a:schemeClr val="bg2"/>
                </a:solidFill>
              </a:rPr>
              <a:t>Типы данных в </a:t>
            </a:r>
            <a:r>
              <a:rPr lang="en-US" altLang="ru-RU" sz="3200" dirty="0" smtClean="0">
                <a:solidFill>
                  <a:schemeClr val="bg2"/>
                </a:solidFill>
              </a:rPr>
              <a:t>ODL</a:t>
            </a:r>
            <a:r>
              <a:rPr lang="ru-RU" altLang="ru-RU" sz="3200" dirty="0" smtClean="0">
                <a:solidFill>
                  <a:schemeClr val="bg2"/>
                </a:solidFill>
              </a:rPr>
              <a:t> (структурные)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638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ru-RU" sz="2400" b="1" i="1" dirty="0" smtClean="0"/>
              <a:t>Array </a:t>
            </a:r>
            <a:r>
              <a:rPr lang="ru-RU" altLang="ru-RU" sz="2400" b="1" dirty="0" smtClean="0"/>
              <a:t>(массив).</a:t>
            </a:r>
            <a:r>
              <a:rPr lang="ru-RU" altLang="ru-RU" sz="2400" dirty="0" smtClean="0"/>
              <a:t> Пусть </a:t>
            </a:r>
            <a:r>
              <a:rPr lang="ru-RU" altLang="ru-RU" sz="2400" i="1" dirty="0" smtClean="0"/>
              <a:t>Т- </a:t>
            </a:r>
            <a:r>
              <a:rPr lang="ru-RU" altLang="ru-RU" sz="2400" dirty="0" smtClean="0"/>
              <a:t>произвольный тип и </a:t>
            </a:r>
            <a:r>
              <a:rPr lang="en-US" altLang="ru-RU" sz="2400" i="1" dirty="0" err="1" smtClean="0"/>
              <a:t>i</a:t>
            </a:r>
            <a:r>
              <a:rPr lang="ru-RU" altLang="ru-RU" sz="2400" dirty="0" smtClean="0"/>
              <a:t> - целое число; тогда А</a:t>
            </a:r>
            <a:r>
              <a:rPr lang="en-US" altLang="ru-RU" sz="2400" dirty="0" err="1" smtClean="0"/>
              <a:t>rr</a:t>
            </a:r>
            <a:r>
              <a:rPr lang="ru-RU" altLang="ru-RU" sz="2400" dirty="0" smtClean="0"/>
              <a:t>ау&lt;</a:t>
            </a:r>
            <a:r>
              <a:rPr lang="en-US" altLang="ru-RU" sz="2400" dirty="0" smtClean="0"/>
              <a:t>T</a:t>
            </a:r>
            <a:r>
              <a:rPr lang="ru-RU" altLang="ru-RU" sz="2400" dirty="0" smtClean="0"/>
              <a:t>,</a:t>
            </a:r>
            <a:r>
              <a:rPr lang="en-US" altLang="ru-RU" sz="2400" dirty="0" err="1" smtClean="0"/>
              <a:t>i</a:t>
            </a:r>
            <a:r>
              <a:rPr lang="ru-RU" altLang="ru-RU" sz="2400" dirty="0" smtClean="0"/>
              <a:t>&gt; представляет тип, значениями которого являются массивы из </a:t>
            </a:r>
            <a:r>
              <a:rPr lang="en-US" altLang="ru-RU" sz="2400" i="1" dirty="0" err="1" smtClean="0"/>
              <a:t>i</a:t>
            </a:r>
            <a:r>
              <a:rPr lang="en-US" altLang="ru-RU" sz="2400" i="1" dirty="0" smtClean="0"/>
              <a:t> </a:t>
            </a:r>
            <a:r>
              <a:rPr lang="ru-RU" altLang="ru-RU" sz="2400" dirty="0" smtClean="0"/>
              <a:t>элементов типа </a:t>
            </a:r>
            <a:r>
              <a:rPr lang="en-US" altLang="ru-RU" sz="2400" dirty="0" smtClean="0"/>
              <a:t>T</a:t>
            </a:r>
            <a:r>
              <a:rPr lang="ru-RU" altLang="ru-RU" sz="2400" dirty="0" smtClean="0"/>
              <a:t>. Например, выражение </a:t>
            </a:r>
            <a:r>
              <a:rPr lang="en-US" altLang="ru-RU" sz="2400" dirty="0" smtClean="0"/>
              <a:t>Array</a:t>
            </a:r>
            <a:r>
              <a:rPr lang="ru-RU" altLang="ru-RU" sz="2400" dirty="0" smtClean="0"/>
              <a:t>&lt;</a:t>
            </a:r>
            <a:r>
              <a:rPr lang="en-US" altLang="ru-RU" sz="2400" dirty="0" smtClean="0"/>
              <a:t>char</a:t>
            </a:r>
            <a:r>
              <a:rPr lang="ru-RU" altLang="ru-RU" sz="2400" dirty="0" smtClean="0"/>
              <a:t>, 10 &gt; обозначает строки, состоящие из 10 символов.</a:t>
            </a:r>
          </a:p>
          <a:p>
            <a:pPr eaLnBrk="1" hangingPunct="1"/>
            <a:r>
              <a:rPr lang="en-US" altLang="ru-RU" sz="2400" b="1" i="1" dirty="0" smtClean="0"/>
              <a:t>Dictionary </a:t>
            </a:r>
            <a:r>
              <a:rPr lang="ru-RU" altLang="ru-RU" sz="2400" b="1" dirty="0" smtClean="0"/>
              <a:t>(словарь).</a:t>
            </a:r>
            <a:r>
              <a:rPr lang="ru-RU" altLang="ru-RU" sz="2400" dirty="0" smtClean="0"/>
              <a:t> Пусть </a:t>
            </a:r>
            <a:r>
              <a:rPr lang="en-US" altLang="ru-RU" sz="2400" dirty="0" smtClean="0"/>
              <a:t>T </a:t>
            </a:r>
            <a:r>
              <a:rPr lang="ru-RU" altLang="ru-RU" sz="2400" dirty="0" smtClean="0"/>
              <a:t>и </a:t>
            </a:r>
            <a:r>
              <a:rPr lang="en-US" altLang="ru-RU" sz="2400" i="1" dirty="0" smtClean="0"/>
              <a:t>S </a:t>
            </a:r>
            <a:r>
              <a:rPr lang="ru-RU" altLang="ru-RU" sz="2400" dirty="0" smtClean="0"/>
              <a:t>- произвольные  типы; тогда </a:t>
            </a:r>
            <a:r>
              <a:rPr lang="en-US" altLang="ru-RU" sz="2400" dirty="0" smtClean="0"/>
              <a:t>Dictionary</a:t>
            </a:r>
            <a:r>
              <a:rPr lang="ru-RU" altLang="ru-RU" sz="2400" dirty="0" smtClean="0"/>
              <a:t>&lt; </a:t>
            </a:r>
            <a:r>
              <a:rPr lang="en-US" altLang="ru-RU" sz="2400" dirty="0" smtClean="0"/>
              <a:t>T</a:t>
            </a:r>
            <a:r>
              <a:rPr lang="ru-RU" altLang="ru-RU" sz="2400" dirty="0" smtClean="0"/>
              <a:t>,</a:t>
            </a:r>
            <a:r>
              <a:rPr lang="en-US" altLang="ru-RU" sz="2400" dirty="0" smtClean="0"/>
              <a:t>S</a:t>
            </a:r>
            <a:r>
              <a:rPr lang="ru-RU" altLang="ru-RU" sz="2400" dirty="0" smtClean="0"/>
              <a:t>&gt; представляет тип, значениями которого являются конечные множества пар вида </a:t>
            </a:r>
            <a:r>
              <a:rPr lang="ru-RU" altLang="ru-RU" sz="2400" b="1" i="1" dirty="0" smtClean="0"/>
              <a:t>ключ/значения</a:t>
            </a:r>
            <a:r>
              <a:rPr lang="ru-RU" altLang="ru-RU" sz="2400" i="1" dirty="0" smtClean="0"/>
              <a:t> </a:t>
            </a:r>
            <a:r>
              <a:rPr lang="ru-RU" altLang="ru-RU" sz="2400" dirty="0" smtClean="0"/>
              <a:t>(</a:t>
            </a:r>
            <a:r>
              <a:rPr lang="ru-RU" altLang="ru-RU" sz="2000" b="1" dirty="0" smtClean="0"/>
              <a:t>ключи</a:t>
            </a:r>
            <a:r>
              <a:rPr lang="ru-RU" altLang="ru-RU" sz="2000" dirty="0" smtClean="0"/>
              <a:t> относятся к </a:t>
            </a:r>
            <a:r>
              <a:rPr lang="ru-RU" altLang="ru-RU" sz="2000" b="1" dirty="0" smtClean="0"/>
              <a:t>типу Т</a:t>
            </a:r>
            <a:r>
              <a:rPr lang="ru-RU" altLang="ru-RU" sz="2000" dirty="0" smtClean="0"/>
              <a:t>, а </a:t>
            </a:r>
            <a:r>
              <a:rPr lang="ru-RU" altLang="ru-RU" sz="2000" b="1" dirty="0" smtClean="0"/>
              <a:t>значения </a:t>
            </a:r>
            <a:r>
              <a:rPr lang="ru-RU" altLang="ru-RU" sz="2000" dirty="0" smtClean="0"/>
              <a:t>– </a:t>
            </a:r>
            <a:r>
              <a:rPr lang="ru-RU" altLang="ru-RU" sz="2000" b="1" dirty="0" smtClean="0"/>
              <a:t>типу </a:t>
            </a:r>
            <a:r>
              <a:rPr lang="en-US" altLang="ru-RU" sz="2000" b="1" dirty="0" smtClean="0"/>
              <a:t>S</a:t>
            </a:r>
            <a:r>
              <a:rPr lang="ru-RU" altLang="ru-RU" sz="2400" dirty="0" smtClean="0"/>
              <a:t>).</a:t>
            </a:r>
          </a:p>
          <a:p>
            <a:pPr eaLnBrk="1" hangingPunct="1"/>
            <a:r>
              <a:rPr lang="en-US" altLang="ru-RU" sz="2400" b="1" i="1" dirty="0" smtClean="0"/>
              <a:t>Structure</a:t>
            </a:r>
            <a:r>
              <a:rPr lang="en-US" altLang="ru-RU" sz="2400" b="1" dirty="0" smtClean="0"/>
              <a:t> </a:t>
            </a:r>
            <a:r>
              <a:rPr lang="ru-RU" altLang="ru-RU" sz="2400" b="1" dirty="0" smtClean="0"/>
              <a:t>(структура).</a:t>
            </a:r>
            <a:r>
              <a:rPr lang="en-US" altLang="ru-RU" sz="2400" dirty="0" smtClean="0"/>
              <a:t/>
            </a:r>
            <a:br>
              <a:rPr lang="en-US" altLang="ru-RU" sz="2400" dirty="0" smtClean="0"/>
            </a:br>
            <a:r>
              <a:rPr lang="en-US" altLang="ru-RU" sz="2400" dirty="0" smtClean="0"/>
              <a:t> Structure </a:t>
            </a:r>
            <a:r>
              <a:rPr lang="ru-RU" altLang="ru-RU" sz="2400" dirty="0" smtClean="0"/>
              <a:t>N  </a:t>
            </a:r>
            <a:r>
              <a:rPr lang="en-US" altLang="ru-RU" sz="2400" dirty="0" smtClean="0"/>
              <a:t>{T</a:t>
            </a:r>
            <a:r>
              <a:rPr lang="en-US" altLang="ru-RU" sz="2400" baseline="-25000" dirty="0" smtClean="0"/>
              <a:t>i</a:t>
            </a:r>
            <a:r>
              <a:rPr lang="en-US" altLang="ru-RU" sz="2400" dirty="0" smtClean="0"/>
              <a:t>  F</a:t>
            </a:r>
            <a:r>
              <a:rPr lang="en-US" altLang="ru-RU" sz="2400" baseline="-25000" dirty="0" smtClean="0"/>
              <a:t>i</a:t>
            </a:r>
            <a:r>
              <a:rPr lang="ru-RU" altLang="ru-RU" sz="2400" baseline="-25000" dirty="0" smtClean="0"/>
              <a:t> </a:t>
            </a:r>
            <a:r>
              <a:rPr lang="ru-RU" altLang="ru-RU" sz="2400" dirty="0" smtClean="0"/>
              <a:t>,</a:t>
            </a:r>
            <a:r>
              <a:rPr lang="en-US" altLang="ru-RU" sz="2400" dirty="0" smtClean="0"/>
              <a:t> </a:t>
            </a:r>
            <a:r>
              <a:rPr lang="ru-RU" altLang="ru-RU" sz="2400" dirty="0" smtClean="0"/>
              <a:t>Т</a:t>
            </a:r>
            <a:r>
              <a:rPr lang="ru-RU" altLang="ru-RU" sz="2400" baseline="-25000" dirty="0" smtClean="0"/>
              <a:t>2</a:t>
            </a:r>
            <a:r>
              <a:rPr lang="ru-RU" altLang="ru-RU" sz="2400" dirty="0" smtClean="0"/>
              <a:t> </a:t>
            </a:r>
            <a:r>
              <a:rPr lang="en-US" altLang="ru-RU" sz="2400" dirty="0" smtClean="0"/>
              <a:t>F</a:t>
            </a:r>
            <a:r>
              <a:rPr lang="en-US" altLang="ru-RU" sz="2400" baseline="-25000" dirty="0" smtClean="0"/>
              <a:t>2</a:t>
            </a:r>
            <a:r>
              <a:rPr lang="en-US" altLang="ru-RU" sz="2400" dirty="0" smtClean="0"/>
              <a:t>, … </a:t>
            </a:r>
            <a:r>
              <a:rPr lang="ru-RU" altLang="ru-RU" sz="2400" dirty="0" smtClean="0"/>
              <a:t>Т</a:t>
            </a:r>
            <a:r>
              <a:rPr lang="en-US" altLang="ru-RU" sz="2800" baseline="-25000" dirty="0" smtClean="0"/>
              <a:t>n</a:t>
            </a:r>
            <a:r>
              <a:rPr lang="ru-RU" altLang="ru-RU" sz="2400" dirty="0" smtClean="0"/>
              <a:t> </a:t>
            </a:r>
            <a:r>
              <a:rPr lang="en-US" altLang="ru-RU" sz="2400" dirty="0" err="1" smtClean="0"/>
              <a:t>F</a:t>
            </a:r>
            <a:r>
              <a:rPr lang="en-US" altLang="ru-RU" sz="2400" baseline="-25000" dirty="0" err="1" smtClean="0"/>
              <a:t>n</a:t>
            </a:r>
            <a:r>
              <a:rPr lang="en-US" altLang="ru-RU" sz="2400" dirty="0" smtClean="0"/>
              <a:t>} </a:t>
            </a:r>
            <a:br>
              <a:rPr lang="en-US" altLang="ru-RU" sz="2400" dirty="0" smtClean="0"/>
            </a:br>
            <a:r>
              <a:rPr lang="en-US" altLang="ru-RU" sz="2400" dirty="0" smtClean="0"/>
              <a:t> T</a:t>
            </a:r>
            <a:r>
              <a:rPr lang="en-US" altLang="ru-RU" sz="2400" baseline="-15000" dirty="0" smtClean="0"/>
              <a:t>1,</a:t>
            </a:r>
            <a:r>
              <a:rPr lang="ru-RU" altLang="ru-RU" sz="2400" dirty="0" smtClean="0"/>
              <a:t> </a:t>
            </a:r>
            <a:r>
              <a:rPr lang="en-US" altLang="ru-RU" sz="2400" dirty="0" smtClean="0"/>
              <a:t>T</a:t>
            </a:r>
            <a:r>
              <a:rPr lang="en-US" altLang="ru-RU" sz="2400" baseline="-25000" dirty="0" smtClean="0"/>
              <a:t>2</a:t>
            </a:r>
            <a:r>
              <a:rPr lang="en-US" altLang="ru-RU" sz="2400" baseline="-15000" dirty="0" smtClean="0"/>
              <a:t>,</a:t>
            </a:r>
            <a:r>
              <a:rPr lang="ru-RU" altLang="ru-RU" sz="2400" dirty="0" smtClean="0"/>
              <a:t> </a:t>
            </a:r>
            <a:r>
              <a:rPr lang="en-US" altLang="ru-RU" sz="2400" dirty="0" smtClean="0"/>
              <a:t>…</a:t>
            </a:r>
            <a:r>
              <a:rPr lang="ru-RU" altLang="ru-RU" sz="2400" dirty="0" smtClean="0"/>
              <a:t>Т</a:t>
            </a:r>
            <a:r>
              <a:rPr lang="en-US" altLang="ru-RU" sz="2400" baseline="-10000" dirty="0" smtClean="0"/>
              <a:t>n</a:t>
            </a:r>
            <a:r>
              <a:rPr lang="ru-RU" altLang="ru-RU" sz="2400" i="1" dirty="0" smtClean="0"/>
              <a:t> </a:t>
            </a:r>
            <a:r>
              <a:rPr lang="ru-RU" altLang="ru-RU" sz="2400" dirty="0" smtClean="0"/>
              <a:t>- произвольные типы, </a:t>
            </a:r>
            <a:r>
              <a:rPr lang="en-US" altLang="ru-RU" sz="2400" dirty="0" smtClean="0"/>
              <a:t/>
            </a:r>
            <a:br>
              <a:rPr lang="en-US" altLang="ru-RU" sz="2400" dirty="0" smtClean="0"/>
            </a:br>
            <a:r>
              <a:rPr lang="ru-RU" altLang="ru-RU" sz="2400" dirty="0" smtClean="0"/>
              <a:t> </a:t>
            </a:r>
            <a:r>
              <a:rPr lang="en-US" altLang="ru-RU" sz="2400" dirty="0" smtClean="0"/>
              <a:t>F</a:t>
            </a:r>
            <a:r>
              <a:rPr lang="en-US" altLang="ru-RU" sz="2400" baseline="-25000" dirty="0" smtClean="0"/>
              <a:t>1</a:t>
            </a:r>
            <a:r>
              <a:rPr lang="en-US" altLang="ru-RU" sz="2400" dirty="0" smtClean="0"/>
              <a:t>, F</a:t>
            </a:r>
            <a:r>
              <a:rPr lang="en-US" altLang="ru-RU" sz="2400" baseline="-25000" dirty="0" smtClean="0"/>
              <a:t>2</a:t>
            </a:r>
            <a:r>
              <a:rPr lang="en-US" altLang="ru-RU" sz="2400" dirty="0" smtClean="0"/>
              <a:t>, …, </a:t>
            </a:r>
            <a:r>
              <a:rPr lang="en-US" altLang="ru-RU" sz="2400" dirty="0" err="1" smtClean="0"/>
              <a:t>F</a:t>
            </a:r>
            <a:r>
              <a:rPr lang="en-US" altLang="ru-RU" sz="2400" baseline="-25000" dirty="0" err="1" smtClean="0"/>
              <a:t>n</a:t>
            </a:r>
            <a:r>
              <a:rPr lang="ru-RU" altLang="ru-RU" sz="2400" dirty="0" smtClean="0"/>
              <a:t> наименования полей</a:t>
            </a:r>
            <a:r>
              <a:rPr lang="en-US" altLang="ru-RU" sz="2400" dirty="0" smtClean="0"/>
              <a:t>.</a:t>
            </a:r>
            <a:endParaRPr lang="ru-RU" altLang="ru-RU" sz="2400" dirty="0" smtClean="0"/>
          </a:p>
        </p:txBody>
      </p:sp>
      <p:sp>
        <p:nvSpPr>
          <p:cNvPr id="16388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1AA7D0E-CA1A-4F78-B950-9A4A5C7B0A87}" type="slidenum">
              <a:rPr lang="ru-RU" altLang="ru-RU" smtClean="0">
                <a:latin typeface="Arial Black" pitchFamily="34" charset="0"/>
              </a:rPr>
              <a:pPr eaLnBrk="1" hangingPunct="1"/>
              <a:t>18</a:t>
            </a:fld>
            <a:endParaRPr lang="ru-RU" altLang="ru-RU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304800"/>
            <a:ext cx="5715000" cy="685800"/>
          </a:xfrm>
        </p:spPr>
        <p:txBody>
          <a:bodyPr/>
          <a:lstStyle/>
          <a:p>
            <a:pPr algn="ctr" eaLnBrk="1" hangingPunct="1"/>
            <a:r>
              <a:rPr lang="en-US" altLang="ru-RU" sz="3200" smtClean="0"/>
              <a:t>ER </a:t>
            </a:r>
            <a:r>
              <a:rPr lang="ru-RU" altLang="ru-RU" sz="3200" smtClean="0"/>
              <a:t>диаграмма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2895600"/>
            <a:ext cx="1295400" cy="457200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ru-RU" sz="2400" smtClean="0"/>
              <a:t>Movies</a:t>
            </a:r>
            <a:endParaRPr lang="ru-RU" altLang="ru-RU" sz="2400" smtClean="0"/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6553200" y="2133600"/>
            <a:ext cx="990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400"/>
              <a:t>Stars</a:t>
            </a:r>
            <a:endParaRPr lang="ru-RU" altLang="ru-RU" sz="2400"/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6324600" y="3962400"/>
            <a:ext cx="1371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400"/>
              <a:t>Studios</a:t>
            </a:r>
            <a:endParaRPr lang="ru-RU" altLang="ru-RU" sz="2400"/>
          </a:p>
        </p:txBody>
      </p:sp>
      <p:sp>
        <p:nvSpPr>
          <p:cNvPr id="17414" name="Oval 6"/>
          <p:cNvSpPr>
            <a:spLocks noChangeArrowheads="1"/>
          </p:cNvSpPr>
          <p:nvPr/>
        </p:nvSpPr>
        <p:spPr bwMode="auto">
          <a:xfrm>
            <a:off x="533400" y="1905000"/>
            <a:ext cx="762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609600" y="19050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 u="sng" dirty="0">
                <a:latin typeface="Times New Roman" pitchFamily="18" charset="0"/>
              </a:rPr>
              <a:t>title</a:t>
            </a:r>
            <a:endParaRPr lang="ru-RU" altLang="ru-RU" sz="2000" u="sng" dirty="0">
              <a:latin typeface="Times New Roman" pitchFamily="18" charset="0"/>
            </a:endParaRPr>
          </a:p>
        </p:txBody>
      </p:sp>
      <p:sp>
        <p:nvSpPr>
          <p:cNvPr id="17416" name="Line 8"/>
          <p:cNvSpPr>
            <a:spLocks noChangeShapeType="1"/>
          </p:cNvSpPr>
          <p:nvPr/>
        </p:nvSpPr>
        <p:spPr bwMode="auto">
          <a:xfrm>
            <a:off x="1143000" y="2286000"/>
            <a:ext cx="152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417" name="Text Box 9"/>
          <p:cNvSpPr txBox="1">
            <a:spLocks noChangeArrowheads="1"/>
          </p:cNvSpPr>
          <p:nvPr/>
        </p:nvSpPr>
        <p:spPr bwMode="auto">
          <a:xfrm>
            <a:off x="2209800" y="19050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 u="sng">
                <a:latin typeface="Times New Roman" pitchFamily="18" charset="0"/>
              </a:rPr>
              <a:t>year</a:t>
            </a:r>
            <a:endParaRPr lang="ru-RU" altLang="ru-RU" sz="2000" u="sng">
              <a:latin typeface="Times New Roman" pitchFamily="18" charset="0"/>
            </a:endParaRPr>
          </a:p>
        </p:txBody>
      </p:sp>
      <p:sp>
        <p:nvSpPr>
          <p:cNvPr id="17418" name="Oval 10"/>
          <p:cNvSpPr>
            <a:spLocks noChangeArrowheads="1"/>
          </p:cNvSpPr>
          <p:nvPr/>
        </p:nvSpPr>
        <p:spPr bwMode="auto">
          <a:xfrm>
            <a:off x="2133600" y="1905000"/>
            <a:ext cx="762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17419" name="Line 11"/>
          <p:cNvSpPr>
            <a:spLocks noChangeShapeType="1"/>
          </p:cNvSpPr>
          <p:nvPr/>
        </p:nvSpPr>
        <p:spPr bwMode="auto">
          <a:xfrm flipH="1">
            <a:off x="2133600" y="228600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420" name="Oval 12"/>
          <p:cNvSpPr>
            <a:spLocks noChangeArrowheads="1"/>
          </p:cNvSpPr>
          <p:nvPr/>
        </p:nvSpPr>
        <p:spPr bwMode="auto">
          <a:xfrm>
            <a:off x="381000" y="3886200"/>
            <a:ext cx="1143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17421" name="Oval 13"/>
          <p:cNvSpPr>
            <a:spLocks noChangeArrowheads="1"/>
          </p:cNvSpPr>
          <p:nvPr/>
        </p:nvSpPr>
        <p:spPr bwMode="auto">
          <a:xfrm>
            <a:off x="1752600" y="3886200"/>
            <a:ext cx="1524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17422" name="Text Box 14"/>
          <p:cNvSpPr txBox="1">
            <a:spLocks noChangeArrowheads="1"/>
          </p:cNvSpPr>
          <p:nvPr/>
        </p:nvSpPr>
        <p:spPr bwMode="auto">
          <a:xfrm>
            <a:off x="609600" y="38862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>
                <a:latin typeface="Times New Roman" pitchFamily="18" charset="0"/>
              </a:rPr>
              <a:t>length</a:t>
            </a:r>
            <a:endParaRPr lang="ru-RU" altLang="ru-RU" sz="2000">
              <a:latin typeface="Times New Roman" pitchFamily="18" charset="0"/>
            </a:endParaRPr>
          </a:p>
        </p:txBody>
      </p:sp>
      <p:sp>
        <p:nvSpPr>
          <p:cNvPr id="17423" name="Text Box 15"/>
          <p:cNvSpPr txBox="1">
            <a:spLocks noChangeArrowheads="1"/>
          </p:cNvSpPr>
          <p:nvPr/>
        </p:nvSpPr>
        <p:spPr bwMode="auto">
          <a:xfrm>
            <a:off x="1981200" y="3886200"/>
            <a:ext cx="1219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>
                <a:latin typeface="Times New Roman" pitchFamily="18" charset="0"/>
              </a:rPr>
              <a:t>filmType</a:t>
            </a:r>
            <a:endParaRPr lang="ru-RU" altLang="ru-RU" sz="2000">
              <a:latin typeface="Times New Roman" pitchFamily="18" charset="0"/>
            </a:endParaRPr>
          </a:p>
        </p:txBody>
      </p:sp>
      <p:sp>
        <p:nvSpPr>
          <p:cNvPr id="17424" name="Line 16"/>
          <p:cNvSpPr>
            <a:spLocks noChangeShapeType="1"/>
          </p:cNvSpPr>
          <p:nvPr/>
        </p:nvSpPr>
        <p:spPr bwMode="auto">
          <a:xfrm flipV="1">
            <a:off x="1066800" y="33528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425" name="Line 17"/>
          <p:cNvSpPr>
            <a:spLocks noChangeShapeType="1"/>
          </p:cNvSpPr>
          <p:nvPr/>
        </p:nvSpPr>
        <p:spPr bwMode="auto">
          <a:xfrm flipH="1" flipV="1">
            <a:off x="1981200" y="3352800"/>
            <a:ext cx="152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426" name="AutoShape 18"/>
          <p:cNvSpPr>
            <a:spLocks noChangeArrowheads="1"/>
          </p:cNvSpPr>
          <p:nvPr/>
        </p:nvSpPr>
        <p:spPr bwMode="auto">
          <a:xfrm>
            <a:off x="4343400" y="3733800"/>
            <a:ext cx="1219200" cy="7620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17427" name="AutoShape 19"/>
          <p:cNvSpPr>
            <a:spLocks noChangeArrowheads="1"/>
          </p:cNvSpPr>
          <p:nvPr/>
        </p:nvSpPr>
        <p:spPr bwMode="auto">
          <a:xfrm>
            <a:off x="4114800" y="1981200"/>
            <a:ext cx="1219200" cy="7620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17428" name="Line 20"/>
          <p:cNvSpPr>
            <a:spLocks noChangeShapeType="1"/>
          </p:cNvSpPr>
          <p:nvPr/>
        </p:nvSpPr>
        <p:spPr bwMode="auto">
          <a:xfrm>
            <a:off x="2286000" y="3200400"/>
            <a:ext cx="2057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429" name="Line 21"/>
          <p:cNvSpPr>
            <a:spLocks noChangeShapeType="1"/>
          </p:cNvSpPr>
          <p:nvPr/>
        </p:nvSpPr>
        <p:spPr bwMode="auto">
          <a:xfrm>
            <a:off x="5562600" y="4114800"/>
            <a:ext cx="762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430" name="Text Box 22"/>
          <p:cNvSpPr txBox="1">
            <a:spLocks noChangeArrowheads="1"/>
          </p:cNvSpPr>
          <p:nvPr/>
        </p:nvSpPr>
        <p:spPr bwMode="auto">
          <a:xfrm>
            <a:off x="4572000" y="3962400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>
                <a:latin typeface="Times New Roman" pitchFamily="18" charset="0"/>
              </a:rPr>
              <a:t>Owns</a:t>
            </a:r>
            <a:endParaRPr lang="ru-RU" altLang="ru-RU" sz="2000">
              <a:latin typeface="Times New Roman" pitchFamily="18" charset="0"/>
            </a:endParaRPr>
          </a:p>
        </p:txBody>
      </p:sp>
      <p:sp>
        <p:nvSpPr>
          <p:cNvPr id="17431" name="Line 23"/>
          <p:cNvSpPr>
            <a:spLocks noChangeShapeType="1"/>
          </p:cNvSpPr>
          <p:nvPr/>
        </p:nvSpPr>
        <p:spPr bwMode="auto">
          <a:xfrm flipV="1">
            <a:off x="2286000" y="2362200"/>
            <a:ext cx="1828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432" name="Line 24"/>
          <p:cNvSpPr>
            <a:spLocks noChangeShapeType="1"/>
          </p:cNvSpPr>
          <p:nvPr/>
        </p:nvSpPr>
        <p:spPr bwMode="auto">
          <a:xfrm>
            <a:off x="5334000" y="23622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433" name="Text Box 25"/>
          <p:cNvSpPr txBox="1">
            <a:spLocks noChangeArrowheads="1"/>
          </p:cNvSpPr>
          <p:nvPr/>
        </p:nvSpPr>
        <p:spPr bwMode="auto">
          <a:xfrm>
            <a:off x="4267200" y="22098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>
                <a:latin typeface="Times New Roman" pitchFamily="18" charset="0"/>
              </a:rPr>
              <a:t>Star-in</a:t>
            </a:r>
            <a:endParaRPr lang="ru-RU" altLang="ru-RU" sz="2000">
              <a:latin typeface="Times New Roman" pitchFamily="18" charset="0"/>
            </a:endParaRPr>
          </a:p>
        </p:txBody>
      </p:sp>
      <p:sp>
        <p:nvSpPr>
          <p:cNvPr id="17434" name="Oval 26"/>
          <p:cNvSpPr>
            <a:spLocks noChangeArrowheads="1"/>
          </p:cNvSpPr>
          <p:nvPr/>
        </p:nvSpPr>
        <p:spPr bwMode="auto">
          <a:xfrm>
            <a:off x="6553200" y="3352800"/>
            <a:ext cx="9144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17435" name="Text Box 27"/>
          <p:cNvSpPr txBox="1">
            <a:spLocks noChangeArrowheads="1"/>
          </p:cNvSpPr>
          <p:nvPr/>
        </p:nvSpPr>
        <p:spPr bwMode="auto">
          <a:xfrm>
            <a:off x="6705600" y="32766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 u="sng">
                <a:latin typeface="Times New Roman" pitchFamily="18" charset="0"/>
              </a:rPr>
              <a:t>name</a:t>
            </a:r>
            <a:endParaRPr lang="ru-RU" altLang="ru-RU" sz="2000" u="sng">
              <a:latin typeface="Times New Roman" pitchFamily="18" charset="0"/>
            </a:endParaRPr>
          </a:p>
        </p:txBody>
      </p:sp>
      <p:sp>
        <p:nvSpPr>
          <p:cNvPr id="17436" name="Oval 28"/>
          <p:cNvSpPr>
            <a:spLocks noChangeArrowheads="1"/>
          </p:cNvSpPr>
          <p:nvPr/>
        </p:nvSpPr>
        <p:spPr bwMode="auto">
          <a:xfrm>
            <a:off x="5943600" y="1447800"/>
            <a:ext cx="9144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17437" name="Text Box 29"/>
          <p:cNvSpPr txBox="1">
            <a:spLocks noChangeArrowheads="1"/>
          </p:cNvSpPr>
          <p:nvPr/>
        </p:nvSpPr>
        <p:spPr bwMode="auto">
          <a:xfrm>
            <a:off x="6019800" y="13716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 u="sng">
                <a:latin typeface="Times New Roman" pitchFamily="18" charset="0"/>
              </a:rPr>
              <a:t>name</a:t>
            </a:r>
            <a:endParaRPr lang="ru-RU" altLang="ru-RU" sz="2000" u="sng">
              <a:latin typeface="Times New Roman" pitchFamily="18" charset="0"/>
            </a:endParaRPr>
          </a:p>
        </p:txBody>
      </p:sp>
      <p:sp>
        <p:nvSpPr>
          <p:cNvPr id="17438" name="Oval 30"/>
          <p:cNvSpPr>
            <a:spLocks noChangeArrowheads="1"/>
          </p:cNvSpPr>
          <p:nvPr/>
        </p:nvSpPr>
        <p:spPr bwMode="auto">
          <a:xfrm>
            <a:off x="7315200" y="1447800"/>
            <a:ext cx="1066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17439" name="Text Box 31"/>
          <p:cNvSpPr txBox="1">
            <a:spLocks noChangeArrowheads="1"/>
          </p:cNvSpPr>
          <p:nvPr/>
        </p:nvSpPr>
        <p:spPr bwMode="auto">
          <a:xfrm>
            <a:off x="7391400" y="1447800"/>
            <a:ext cx="99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>
                <a:latin typeface="Times New Roman" pitchFamily="18" charset="0"/>
              </a:rPr>
              <a:t>address</a:t>
            </a:r>
            <a:endParaRPr lang="ru-RU" altLang="ru-RU" sz="2000">
              <a:latin typeface="Times New Roman" pitchFamily="18" charset="0"/>
            </a:endParaRPr>
          </a:p>
        </p:txBody>
      </p:sp>
      <p:sp>
        <p:nvSpPr>
          <p:cNvPr id="17440" name="Line 32"/>
          <p:cNvSpPr>
            <a:spLocks noChangeShapeType="1"/>
          </p:cNvSpPr>
          <p:nvPr/>
        </p:nvSpPr>
        <p:spPr bwMode="auto">
          <a:xfrm flipH="1" flipV="1">
            <a:off x="6477000" y="18288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441" name="Line 33"/>
          <p:cNvSpPr>
            <a:spLocks noChangeShapeType="1"/>
          </p:cNvSpPr>
          <p:nvPr/>
        </p:nvSpPr>
        <p:spPr bwMode="auto">
          <a:xfrm flipV="1">
            <a:off x="7315200" y="18288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442" name="Line 34"/>
          <p:cNvSpPr>
            <a:spLocks noChangeShapeType="1"/>
          </p:cNvSpPr>
          <p:nvPr/>
        </p:nvSpPr>
        <p:spPr bwMode="auto">
          <a:xfrm flipV="1">
            <a:off x="7010400" y="3733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443" name="Text Box 35"/>
          <p:cNvSpPr txBox="1">
            <a:spLocks noChangeArrowheads="1"/>
          </p:cNvSpPr>
          <p:nvPr/>
        </p:nvSpPr>
        <p:spPr bwMode="auto">
          <a:xfrm>
            <a:off x="6553200" y="4724400"/>
            <a:ext cx="99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>
                <a:latin typeface="Times New Roman" pitchFamily="18" charset="0"/>
              </a:rPr>
              <a:t>address</a:t>
            </a:r>
            <a:endParaRPr lang="ru-RU" altLang="ru-RU" sz="2000">
              <a:latin typeface="Times New Roman" pitchFamily="18" charset="0"/>
            </a:endParaRPr>
          </a:p>
        </p:txBody>
      </p:sp>
      <p:sp>
        <p:nvSpPr>
          <p:cNvPr id="17444" name="Oval 36"/>
          <p:cNvSpPr>
            <a:spLocks noChangeArrowheads="1"/>
          </p:cNvSpPr>
          <p:nvPr/>
        </p:nvSpPr>
        <p:spPr bwMode="auto">
          <a:xfrm>
            <a:off x="6477000" y="4724400"/>
            <a:ext cx="1066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17445" name="Line 37"/>
          <p:cNvSpPr>
            <a:spLocks noChangeShapeType="1"/>
          </p:cNvSpPr>
          <p:nvPr/>
        </p:nvSpPr>
        <p:spPr bwMode="auto">
          <a:xfrm flipH="1" flipV="1">
            <a:off x="7010400" y="4419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446" name="Text Box 38"/>
          <p:cNvSpPr txBox="1">
            <a:spLocks noChangeArrowheads="1"/>
          </p:cNvSpPr>
          <p:nvPr/>
        </p:nvSpPr>
        <p:spPr bwMode="auto">
          <a:xfrm>
            <a:off x="1371600" y="5715000"/>
            <a:ext cx="6477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2800"/>
              <a:t>БД «Фильмы-актеры-студии»</a:t>
            </a:r>
          </a:p>
        </p:txBody>
      </p:sp>
      <p:sp>
        <p:nvSpPr>
          <p:cNvPr id="17447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F67AA916-B06C-4FC1-990B-9F2F8072A5C8}" type="slidenum">
              <a:rPr lang="ru-RU" altLang="ru-RU" smtClean="0">
                <a:latin typeface="Arial Black" pitchFamily="34" charset="0"/>
              </a:rPr>
              <a:pPr eaLnBrk="1" hangingPunct="1"/>
              <a:t>19</a:t>
            </a:fld>
            <a:endParaRPr lang="ru-RU" altLang="ru-RU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4"/>
          <p:cNvSpPr>
            <a:spLocks noChangeArrowheads="1"/>
          </p:cNvSpPr>
          <p:nvPr/>
        </p:nvSpPr>
        <p:spPr bwMode="auto">
          <a:xfrm>
            <a:off x="152400" y="1752600"/>
            <a:ext cx="88392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ru-RU" sz="2800" dirty="0"/>
              <a:t>class </a:t>
            </a:r>
            <a:r>
              <a:rPr lang="en-US" altLang="ru-RU" sz="2800" b="1" dirty="0"/>
              <a:t>Movie</a:t>
            </a:r>
            <a:r>
              <a:rPr lang="en-US" altLang="ru-RU" sz="2800" dirty="0"/>
              <a:t> { </a:t>
            </a:r>
            <a:br>
              <a:rPr lang="en-US" altLang="ru-RU" sz="2800" dirty="0"/>
            </a:br>
            <a:r>
              <a:rPr lang="en-US" altLang="ru-RU" sz="2800" dirty="0"/>
              <a:t>   attribute string </a:t>
            </a:r>
            <a:r>
              <a:rPr lang="en-US" altLang="ru-RU" sz="2800" b="1" dirty="0"/>
              <a:t>title</a:t>
            </a:r>
            <a:r>
              <a:rPr lang="en-US" altLang="ru-RU" sz="2800" dirty="0"/>
              <a:t>;</a:t>
            </a:r>
            <a:br>
              <a:rPr lang="en-US" altLang="ru-RU" sz="2800" dirty="0"/>
            </a:br>
            <a:r>
              <a:rPr lang="en-US" altLang="ru-RU" sz="2800" dirty="0"/>
              <a:t>   attribute integer </a:t>
            </a:r>
            <a:r>
              <a:rPr lang="en-US" altLang="ru-RU" sz="2800" b="1" dirty="0"/>
              <a:t>year</a:t>
            </a:r>
            <a:r>
              <a:rPr lang="en-US" altLang="ru-RU" sz="2800" dirty="0"/>
              <a:t>;</a:t>
            </a:r>
            <a:br>
              <a:rPr lang="en-US" altLang="ru-RU" sz="2800" dirty="0"/>
            </a:br>
            <a:r>
              <a:rPr lang="en-US" altLang="ru-RU" sz="2800" dirty="0"/>
              <a:t>   attribute integer </a:t>
            </a:r>
            <a:r>
              <a:rPr lang="en-US" altLang="ru-RU" sz="2800" b="1" dirty="0"/>
              <a:t>length</a:t>
            </a:r>
            <a:r>
              <a:rPr lang="en-US" altLang="ru-RU" sz="2800" dirty="0"/>
              <a:t>;</a:t>
            </a:r>
            <a:br>
              <a:rPr lang="en-US" altLang="ru-RU" sz="2800" dirty="0"/>
            </a:br>
            <a:r>
              <a:rPr lang="en-US" altLang="ru-RU" sz="2800" dirty="0"/>
              <a:t>   attribute </a:t>
            </a:r>
            <a:r>
              <a:rPr lang="en-US" altLang="ru-RU" sz="2800" dirty="0" err="1"/>
              <a:t>enum</a:t>
            </a:r>
            <a:r>
              <a:rPr lang="en-US" altLang="ru-RU" sz="2800" dirty="0"/>
              <a:t> Film {color, </a:t>
            </a:r>
            <a:r>
              <a:rPr lang="en-US" altLang="ru-RU" sz="2800" dirty="0" err="1"/>
              <a:t>blackAndWhite</a:t>
            </a:r>
            <a:r>
              <a:rPr lang="en-US" altLang="ru-RU" sz="2800" dirty="0"/>
              <a:t>} </a:t>
            </a:r>
            <a:r>
              <a:rPr lang="en-US" altLang="ru-RU" sz="2800" b="1" dirty="0" err="1"/>
              <a:t>filmType</a:t>
            </a:r>
            <a:r>
              <a:rPr lang="en-US" altLang="ru-RU" sz="2800" dirty="0"/>
              <a:t>;</a:t>
            </a:r>
            <a:br>
              <a:rPr lang="en-US" altLang="ru-RU" sz="2800" dirty="0"/>
            </a:br>
            <a:r>
              <a:rPr lang="en-US" altLang="ru-RU" sz="2800" dirty="0"/>
              <a:t>     };</a:t>
            </a:r>
            <a:endParaRPr lang="ru-RU" altLang="ru-RU" sz="2800" dirty="0"/>
          </a:p>
        </p:txBody>
      </p:sp>
      <p:sp>
        <p:nvSpPr>
          <p:cNvPr id="18436" name="Text Box 5"/>
          <p:cNvSpPr txBox="1">
            <a:spLocks noChangeArrowheads="1"/>
          </p:cNvSpPr>
          <p:nvPr/>
        </p:nvSpPr>
        <p:spPr bwMode="auto">
          <a:xfrm>
            <a:off x="304800" y="457200"/>
            <a:ext cx="8305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/>
              <a:t>Объявление класса </a:t>
            </a:r>
            <a:r>
              <a:rPr lang="en-US" altLang="ru-RU">
                <a:solidFill>
                  <a:schemeClr val="bg2"/>
                </a:solidFill>
              </a:rPr>
              <a:t>Movie</a:t>
            </a:r>
            <a:r>
              <a:rPr lang="en-US" altLang="ru-RU"/>
              <a:t> </a:t>
            </a:r>
            <a:r>
              <a:rPr lang="ru-RU" altLang="ru-RU"/>
              <a:t>на языке </a:t>
            </a:r>
            <a:r>
              <a:rPr lang="en-US" altLang="ru-RU"/>
              <a:t>ODL</a:t>
            </a:r>
            <a:r>
              <a:rPr lang="ru-RU" altLang="ru-RU"/>
              <a:t/>
            </a:r>
            <a:br>
              <a:rPr lang="ru-RU" altLang="ru-RU"/>
            </a:br>
            <a:r>
              <a:rPr lang="ru-RU" altLang="ru-RU"/>
              <a:t>(атрибуты)</a:t>
            </a:r>
          </a:p>
        </p:txBody>
      </p:sp>
      <p:sp>
        <p:nvSpPr>
          <p:cNvPr id="18437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92E42921-0471-4388-ADCB-3EBEC11CEC90}" type="slidenum">
              <a:rPr lang="ru-RU" altLang="ru-RU" smtClean="0">
                <a:latin typeface="Arial Black" pitchFamily="34" charset="0"/>
              </a:rPr>
              <a:pPr eaLnBrk="1" hangingPunct="1"/>
              <a:t>20</a:t>
            </a:fld>
            <a:endParaRPr lang="ru-RU" altLang="ru-RU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600200"/>
            <a:ext cx="8991600" cy="48768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ru-RU" sz="2800" dirty="0" smtClean="0"/>
              <a:t>class </a:t>
            </a:r>
            <a:r>
              <a:rPr lang="en-US" altLang="ru-RU" sz="2800" b="1" dirty="0" smtClean="0"/>
              <a:t>Movie</a:t>
            </a:r>
            <a:r>
              <a:rPr lang="en-US" altLang="ru-RU" sz="2800" dirty="0" smtClean="0"/>
              <a:t/>
            </a:r>
            <a:br>
              <a:rPr lang="en-US" altLang="ru-RU" sz="2800" dirty="0" smtClean="0"/>
            </a:br>
            <a:r>
              <a:rPr lang="en-US" altLang="ru-RU" sz="2800" dirty="0" smtClean="0"/>
              <a:t>(</a:t>
            </a:r>
            <a:r>
              <a:rPr lang="en-US" altLang="ru-RU" sz="2800" dirty="0" smtClean="0">
                <a:solidFill>
                  <a:schemeClr val="bg2"/>
                </a:solidFill>
              </a:rPr>
              <a:t>extent Movies</a:t>
            </a:r>
            <a:r>
              <a:rPr lang="en-US" altLang="ru-RU" sz="2800" dirty="0" smtClean="0"/>
              <a:t> </a:t>
            </a:r>
            <a:r>
              <a:rPr lang="en-US" altLang="ru-RU" sz="2800" dirty="0" smtClean="0">
                <a:solidFill>
                  <a:srgbClr val="990000"/>
                </a:solidFill>
              </a:rPr>
              <a:t>key(title, year)</a:t>
            </a:r>
            <a:r>
              <a:rPr lang="en-US" altLang="ru-RU" sz="2800" dirty="0" smtClean="0"/>
              <a:t> )</a:t>
            </a:r>
            <a:br>
              <a:rPr lang="en-US" altLang="ru-RU" sz="2800" dirty="0" smtClean="0"/>
            </a:br>
            <a:r>
              <a:rPr lang="en-US" altLang="ru-RU" sz="2800" dirty="0" smtClean="0"/>
              <a:t>{</a:t>
            </a:r>
            <a:br>
              <a:rPr lang="en-US" altLang="ru-RU" sz="2800" dirty="0" smtClean="0"/>
            </a:br>
            <a:r>
              <a:rPr lang="en-US" altLang="ru-RU" sz="2800" dirty="0" smtClean="0"/>
              <a:t>   attribute string </a:t>
            </a:r>
            <a:r>
              <a:rPr lang="en-US" altLang="ru-RU" sz="2800" b="1" dirty="0" smtClean="0"/>
              <a:t>title</a:t>
            </a:r>
            <a:r>
              <a:rPr lang="en-US" altLang="ru-RU" sz="2800" dirty="0" smtClean="0"/>
              <a:t>;</a:t>
            </a:r>
            <a:br>
              <a:rPr lang="en-US" altLang="ru-RU" sz="2800" dirty="0" smtClean="0"/>
            </a:br>
            <a:r>
              <a:rPr lang="en-US" altLang="ru-RU" sz="2800" dirty="0" smtClean="0"/>
              <a:t>   attribute integer </a:t>
            </a:r>
            <a:r>
              <a:rPr lang="en-US" altLang="ru-RU" sz="2800" b="1" dirty="0" smtClean="0"/>
              <a:t>year</a:t>
            </a:r>
            <a:r>
              <a:rPr lang="en-US" altLang="ru-RU" sz="2800" dirty="0" smtClean="0"/>
              <a:t>;</a:t>
            </a:r>
            <a:br>
              <a:rPr lang="en-US" altLang="ru-RU" sz="2800" dirty="0" smtClean="0"/>
            </a:br>
            <a:r>
              <a:rPr lang="en-US" altLang="ru-RU" sz="2800" dirty="0" smtClean="0"/>
              <a:t>   attribute integer </a:t>
            </a:r>
            <a:r>
              <a:rPr lang="en-US" altLang="ru-RU" sz="2800" b="1" dirty="0" smtClean="0"/>
              <a:t>length</a:t>
            </a:r>
            <a:r>
              <a:rPr lang="en-US" altLang="ru-RU" sz="2800" dirty="0" smtClean="0"/>
              <a:t>;</a:t>
            </a:r>
            <a:br>
              <a:rPr lang="en-US" altLang="ru-RU" sz="2800" dirty="0" smtClean="0"/>
            </a:br>
            <a:r>
              <a:rPr lang="en-US" altLang="ru-RU" sz="2800" dirty="0" smtClean="0"/>
              <a:t>   attribute </a:t>
            </a:r>
            <a:r>
              <a:rPr lang="en-US" altLang="ru-RU" sz="2800" dirty="0" err="1" smtClean="0"/>
              <a:t>enum</a:t>
            </a:r>
            <a:r>
              <a:rPr lang="en-US" altLang="ru-RU" sz="2800" dirty="0" smtClean="0"/>
              <a:t> Film {color, </a:t>
            </a:r>
            <a:r>
              <a:rPr lang="en-US" altLang="ru-RU" sz="2800" dirty="0" err="1" smtClean="0"/>
              <a:t>blackAndWhite</a:t>
            </a:r>
            <a:r>
              <a:rPr lang="en-US" altLang="ru-RU" sz="2800" dirty="0" smtClean="0"/>
              <a:t>}</a:t>
            </a:r>
            <a:r>
              <a:rPr lang="ru-RU" altLang="ru-RU" sz="2800" dirty="0" smtClean="0"/>
              <a:t> </a:t>
            </a:r>
            <a:r>
              <a:rPr lang="en-US" altLang="ru-RU" sz="2800" b="1" dirty="0" err="1" smtClean="0"/>
              <a:t>filmType</a:t>
            </a:r>
            <a:r>
              <a:rPr lang="en-US" altLang="ru-RU" sz="2800" dirty="0" smtClean="0"/>
              <a:t>;</a:t>
            </a:r>
            <a:br>
              <a:rPr lang="en-US" altLang="ru-RU" sz="2800" dirty="0" smtClean="0"/>
            </a:br>
            <a:r>
              <a:rPr lang="en-US" altLang="ru-RU" sz="2800" dirty="0" smtClean="0"/>
              <a:t>};</a:t>
            </a:r>
            <a:endParaRPr lang="ru-RU" altLang="ru-RU" sz="2800" dirty="0" smtClean="0"/>
          </a:p>
        </p:txBody>
      </p:sp>
      <p:sp>
        <p:nvSpPr>
          <p:cNvPr id="19459" name="Text Box 4"/>
          <p:cNvSpPr txBox="1">
            <a:spLocks noChangeArrowheads="1"/>
          </p:cNvSpPr>
          <p:nvPr/>
        </p:nvSpPr>
        <p:spPr bwMode="auto">
          <a:xfrm>
            <a:off x="457200" y="196850"/>
            <a:ext cx="8305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2800" dirty="0">
                <a:solidFill>
                  <a:schemeClr val="accent5">
                    <a:lumMod val="50000"/>
                  </a:schemeClr>
                </a:solidFill>
              </a:rPr>
              <a:t>Объявление класса </a:t>
            </a:r>
            <a:r>
              <a:rPr lang="en-US" altLang="ru-RU" sz="2800" dirty="0">
                <a:solidFill>
                  <a:schemeClr val="accent5">
                    <a:lumMod val="50000"/>
                  </a:schemeClr>
                </a:solidFill>
              </a:rPr>
              <a:t>Movie </a:t>
            </a:r>
            <a:r>
              <a:rPr lang="ru-RU" altLang="ru-RU" sz="2800" dirty="0">
                <a:solidFill>
                  <a:schemeClr val="accent5">
                    <a:lumMod val="50000"/>
                  </a:schemeClr>
                </a:solidFill>
              </a:rPr>
              <a:t>на языке </a:t>
            </a:r>
            <a:r>
              <a:rPr lang="en-US" altLang="ru-RU" sz="2800" dirty="0">
                <a:solidFill>
                  <a:schemeClr val="accent5">
                    <a:lumMod val="50000"/>
                  </a:schemeClr>
                </a:solidFill>
              </a:rPr>
              <a:t>ODL </a:t>
            </a:r>
            <a:r>
              <a:rPr lang="ru-RU" altLang="ru-RU" sz="2800" dirty="0">
                <a:solidFill>
                  <a:schemeClr val="accent5">
                    <a:lumMod val="50000"/>
                  </a:schemeClr>
                </a:solidFill>
              </a:rPr>
              <a:t/>
            </a:r>
            <a:br>
              <a:rPr lang="ru-RU" altLang="ru-RU" sz="2800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ru-RU" altLang="ru-RU" sz="2800" dirty="0">
                <a:solidFill>
                  <a:schemeClr val="accent5">
                    <a:lumMod val="50000"/>
                  </a:schemeClr>
                </a:solidFill>
              </a:rPr>
              <a:t>(экземпляр класса, ключ)</a:t>
            </a:r>
          </a:p>
        </p:txBody>
      </p:sp>
      <p:sp>
        <p:nvSpPr>
          <p:cNvPr id="19460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DB4504DC-FAF8-4E36-A897-A9254C77CCB0}" type="slidenum">
              <a:rPr lang="ru-RU" altLang="ru-RU" smtClean="0">
                <a:latin typeface="Arial Black" pitchFamily="34" charset="0"/>
              </a:rPr>
              <a:pPr eaLnBrk="1" hangingPunct="1"/>
              <a:t>21</a:t>
            </a:fld>
            <a:endParaRPr lang="ru-RU" altLang="ru-RU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8229600" cy="609600"/>
          </a:xfrm>
        </p:spPr>
        <p:txBody>
          <a:bodyPr/>
          <a:lstStyle/>
          <a:p>
            <a:pPr algn="ctr" eaLnBrk="1" hangingPunct="1"/>
            <a:r>
              <a:rPr lang="ru-RU" altLang="ru-RU" sz="3200" dirty="0" smtClean="0">
                <a:solidFill>
                  <a:schemeClr val="accent5">
                    <a:lumMod val="50000"/>
                  </a:schemeClr>
                </a:solidFill>
              </a:rPr>
              <a:t>Объявление класса </a:t>
            </a:r>
            <a:r>
              <a:rPr lang="en-US" altLang="ru-RU" sz="3200" dirty="0" smtClean="0">
                <a:solidFill>
                  <a:schemeClr val="accent5">
                    <a:lumMod val="50000"/>
                  </a:schemeClr>
                </a:solidFill>
              </a:rPr>
              <a:t>Star </a:t>
            </a:r>
            <a:r>
              <a:rPr lang="en-US" altLang="ru-RU" sz="2400" dirty="0" smtClean="0">
                <a:solidFill>
                  <a:schemeClr val="accent5">
                    <a:lumMod val="50000"/>
                  </a:schemeClr>
                </a:solidFill>
              </a:rPr>
              <a:t>(</a:t>
            </a:r>
            <a:r>
              <a:rPr lang="ru-RU" altLang="ru-RU" sz="2400" dirty="0" smtClean="0">
                <a:solidFill>
                  <a:schemeClr val="accent5">
                    <a:lumMod val="50000"/>
                  </a:schemeClr>
                </a:solidFill>
              </a:rPr>
              <a:t>структурные типы</a:t>
            </a:r>
            <a:r>
              <a:rPr lang="en-US" altLang="ru-RU" sz="2400" dirty="0" smtClean="0">
                <a:solidFill>
                  <a:schemeClr val="accent5">
                    <a:lumMod val="50000"/>
                  </a:schemeClr>
                </a:solidFill>
              </a:rPr>
              <a:t>)</a:t>
            </a:r>
            <a:endParaRPr lang="ru-RU" altLang="ru-RU" sz="2400" dirty="0" smtClean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838200"/>
            <a:ext cx="8382000" cy="5715000"/>
          </a:xfrm>
        </p:spPr>
        <p:txBody>
          <a:bodyPr/>
          <a:lstStyle/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 smtClean="0"/>
              <a:t>class Star </a:t>
            </a:r>
            <a:endParaRPr lang="ru-RU" altLang="ru-RU" sz="2400" dirty="0" smtClean="0"/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 smtClean="0"/>
              <a:t>(extent Stars key name )</a:t>
            </a:r>
            <a:endParaRPr lang="ru-RU" altLang="ru-RU" sz="2400" dirty="0" smtClean="0"/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 smtClean="0"/>
              <a:t>{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 smtClean="0"/>
              <a:t>attribute string </a:t>
            </a:r>
            <a:r>
              <a:rPr lang="en-US" altLang="ru-RU" sz="2400" b="1" dirty="0" smtClean="0"/>
              <a:t>name</a:t>
            </a:r>
            <a:r>
              <a:rPr lang="en-US" altLang="ru-RU" sz="2400" dirty="0" smtClean="0"/>
              <a:t>;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 smtClean="0"/>
              <a:t>attribute </a:t>
            </a:r>
            <a:r>
              <a:rPr lang="en-US" altLang="ru-RU" sz="2400" dirty="0" err="1" smtClean="0">
                <a:solidFill>
                  <a:schemeClr val="bg2"/>
                </a:solidFill>
              </a:rPr>
              <a:t>Struct</a:t>
            </a:r>
            <a:r>
              <a:rPr lang="en-US" altLang="ru-RU" sz="2400" dirty="0" smtClean="0"/>
              <a:t> </a:t>
            </a:r>
            <a:r>
              <a:rPr lang="en-US" altLang="ru-RU" sz="2400" dirty="0" err="1" smtClean="0"/>
              <a:t>Addr</a:t>
            </a:r>
            <a:endParaRPr lang="en-US" altLang="ru-RU" sz="2400" dirty="0" smtClean="0"/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 smtClean="0"/>
              <a:t>		{string street, string city} </a:t>
            </a:r>
            <a:r>
              <a:rPr lang="en-US" altLang="ru-RU" sz="2400" dirty="0" smtClean="0">
                <a:solidFill>
                  <a:schemeClr val="bg2"/>
                </a:solidFill>
              </a:rPr>
              <a:t>address</a:t>
            </a:r>
            <a:r>
              <a:rPr lang="en-US" altLang="ru-RU" sz="2400" dirty="0" smtClean="0"/>
              <a:t>; 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 smtClean="0"/>
              <a:t>}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b="1" dirty="0" smtClean="0"/>
              <a:t>=======================================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 smtClean="0"/>
              <a:t>class Star </a:t>
            </a:r>
            <a:endParaRPr lang="ru-RU" altLang="ru-RU" sz="2400" dirty="0" smtClean="0"/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 smtClean="0"/>
              <a:t>(extent Stars key name )</a:t>
            </a:r>
            <a:endParaRPr lang="ru-RU" altLang="ru-RU" sz="2400" dirty="0" smtClean="0"/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 smtClean="0"/>
              <a:t>{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 smtClean="0"/>
              <a:t>attribute string name;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 smtClean="0"/>
              <a:t>attribute </a:t>
            </a:r>
            <a:r>
              <a:rPr lang="en-US" altLang="ru-RU" sz="2400" dirty="0" smtClean="0">
                <a:solidFill>
                  <a:schemeClr val="bg2"/>
                </a:solidFill>
              </a:rPr>
              <a:t>Set</a:t>
            </a:r>
            <a:r>
              <a:rPr lang="en-US" altLang="ru-RU" sz="2400" dirty="0" smtClean="0"/>
              <a:t> &lt;</a:t>
            </a:r>
            <a:r>
              <a:rPr lang="en-US" altLang="ru-RU" sz="2400" dirty="0" err="1" smtClean="0"/>
              <a:t>Struct</a:t>
            </a:r>
            <a:r>
              <a:rPr lang="en-US" altLang="ru-RU" sz="2400" dirty="0" smtClean="0"/>
              <a:t> </a:t>
            </a:r>
            <a:r>
              <a:rPr lang="en-US" altLang="ru-RU" sz="2400" dirty="0" err="1" smtClean="0"/>
              <a:t>Addr</a:t>
            </a:r>
            <a:r>
              <a:rPr lang="en-US" altLang="ru-RU" sz="2400" dirty="0" smtClean="0"/>
              <a:t> {string street, string city}&gt; </a:t>
            </a:r>
            <a:r>
              <a:rPr lang="en-US" altLang="ru-RU" sz="2400" dirty="0" smtClean="0">
                <a:solidFill>
                  <a:schemeClr val="bg2"/>
                </a:solidFill>
              </a:rPr>
              <a:t>address</a:t>
            </a:r>
            <a:r>
              <a:rPr lang="en-US" altLang="ru-RU" sz="2400" dirty="0" smtClean="0"/>
              <a:t>; 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 smtClean="0"/>
              <a:t>attribute Date birthdate;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 smtClean="0"/>
              <a:t>}</a:t>
            </a:r>
            <a:endParaRPr lang="ru-RU" altLang="ru-RU" sz="2400" dirty="0" smtClean="0"/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endParaRPr lang="ru-RU" altLang="ru-RU" sz="2400" dirty="0" smtClean="0"/>
          </a:p>
        </p:txBody>
      </p:sp>
      <p:sp>
        <p:nvSpPr>
          <p:cNvPr id="20484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4CA1AB0-5322-4694-9F24-27B48D221738}" type="slidenum">
              <a:rPr lang="ru-RU" altLang="ru-RU" smtClean="0">
                <a:latin typeface="Arial Black" pitchFamily="34" charset="0"/>
              </a:rPr>
              <a:pPr eaLnBrk="1" hangingPunct="1"/>
              <a:t>22</a:t>
            </a:fld>
            <a:endParaRPr lang="ru-RU" altLang="ru-RU" smtClean="0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304800"/>
            <a:ext cx="5715000" cy="685800"/>
          </a:xfrm>
        </p:spPr>
        <p:txBody>
          <a:bodyPr/>
          <a:lstStyle/>
          <a:p>
            <a:pPr algn="ctr" eaLnBrk="1" hangingPunct="1"/>
            <a:r>
              <a:rPr lang="en-US" altLang="ru-RU" sz="3600" smtClean="0">
                <a:solidFill>
                  <a:schemeClr val="bg2"/>
                </a:solidFill>
              </a:rPr>
              <a:t>ER </a:t>
            </a:r>
            <a:r>
              <a:rPr lang="ru-RU" altLang="ru-RU" sz="3600" smtClean="0">
                <a:solidFill>
                  <a:schemeClr val="bg2"/>
                </a:solidFill>
              </a:rPr>
              <a:t>диаграмма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2895600"/>
            <a:ext cx="1295400" cy="457200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ru-RU" sz="2400" smtClean="0"/>
              <a:t>Movies</a:t>
            </a:r>
            <a:endParaRPr lang="ru-RU" altLang="ru-RU" sz="2400" smtClean="0"/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6553200" y="2133600"/>
            <a:ext cx="990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400"/>
              <a:t>Stars</a:t>
            </a:r>
            <a:endParaRPr lang="ru-RU" altLang="ru-RU" sz="2400"/>
          </a:p>
        </p:txBody>
      </p:sp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6324600" y="3962400"/>
            <a:ext cx="1371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400"/>
              <a:t>Studios</a:t>
            </a:r>
            <a:endParaRPr lang="ru-RU" altLang="ru-RU" sz="2400"/>
          </a:p>
        </p:txBody>
      </p:sp>
      <p:sp>
        <p:nvSpPr>
          <p:cNvPr id="21510" name="Oval 6"/>
          <p:cNvSpPr>
            <a:spLocks noChangeArrowheads="1"/>
          </p:cNvSpPr>
          <p:nvPr/>
        </p:nvSpPr>
        <p:spPr bwMode="auto">
          <a:xfrm>
            <a:off x="533400" y="1905000"/>
            <a:ext cx="762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609600" y="19050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 u="sng">
                <a:latin typeface="Times New Roman" pitchFamily="18" charset="0"/>
              </a:rPr>
              <a:t>title</a:t>
            </a:r>
            <a:endParaRPr lang="ru-RU" altLang="ru-RU" sz="2000" u="sng">
              <a:latin typeface="Times New Roman" pitchFamily="18" charset="0"/>
            </a:endParaRPr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>
            <a:off x="1143000" y="2286000"/>
            <a:ext cx="152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1513" name="Text Box 9"/>
          <p:cNvSpPr txBox="1">
            <a:spLocks noChangeArrowheads="1"/>
          </p:cNvSpPr>
          <p:nvPr/>
        </p:nvSpPr>
        <p:spPr bwMode="auto">
          <a:xfrm>
            <a:off x="2209800" y="19050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 u="sng">
                <a:latin typeface="Times New Roman" pitchFamily="18" charset="0"/>
              </a:rPr>
              <a:t>year</a:t>
            </a:r>
            <a:endParaRPr lang="ru-RU" altLang="ru-RU" sz="2000" u="sng">
              <a:latin typeface="Times New Roman" pitchFamily="18" charset="0"/>
            </a:endParaRPr>
          </a:p>
        </p:txBody>
      </p:sp>
      <p:sp>
        <p:nvSpPr>
          <p:cNvPr id="21514" name="Oval 10"/>
          <p:cNvSpPr>
            <a:spLocks noChangeArrowheads="1"/>
          </p:cNvSpPr>
          <p:nvPr/>
        </p:nvSpPr>
        <p:spPr bwMode="auto">
          <a:xfrm>
            <a:off x="2133600" y="1905000"/>
            <a:ext cx="762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21515" name="Line 11"/>
          <p:cNvSpPr>
            <a:spLocks noChangeShapeType="1"/>
          </p:cNvSpPr>
          <p:nvPr/>
        </p:nvSpPr>
        <p:spPr bwMode="auto">
          <a:xfrm flipH="1">
            <a:off x="2133600" y="228600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1516" name="Oval 12"/>
          <p:cNvSpPr>
            <a:spLocks noChangeArrowheads="1"/>
          </p:cNvSpPr>
          <p:nvPr/>
        </p:nvSpPr>
        <p:spPr bwMode="auto">
          <a:xfrm>
            <a:off x="381000" y="3886200"/>
            <a:ext cx="1143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21517" name="Oval 13"/>
          <p:cNvSpPr>
            <a:spLocks noChangeArrowheads="1"/>
          </p:cNvSpPr>
          <p:nvPr/>
        </p:nvSpPr>
        <p:spPr bwMode="auto">
          <a:xfrm>
            <a:off x="1752600" y="3886200"/>
            <a:ext cx="1524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21518" name="Text Box 14"/>
          <p:cNvSpPr txBox="1">
            <a:spLocks noChangeArrowheads="1"/>
          </p:cNvSpPr>
          <p:nvPr/>
        </p:nvSpPr>
        <p:spPr bwMode="auto">
          <a:xfrm>
            <a:off x="609600" y="38862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>
                <a:latin typeface="Times New Roman" pitchFamily="18" charset="0"/>
              </a:rPr>
              <a:t>length</a:t>
            </a:r>
            <a:endParaRPr lang="ru-RU" altLang="ru-RU" sz="2000">
              <a:latin typeface="Times New Roman" pitchFamily="18" charset="0"/>
            </a:endParaRPr>
          </a:p>
        </p:txBody>
      </p:sp>
      <p:sp>
        <p:nvSpPr>
          <p:cNvPr id="21519" name="Text Box 15"/>
          <p:cNvSpPr txBox="1">
            <a:spLocks noChangeArrowheads="1"/>
          </p:cNvSpPr>
          <p:nvPr/>
        </p:nvSpPr>
        <p:spPr bwMode="auto">
          <a:xfrm>
            <a:off x="1981200" y="3886200"/>
            <a:ext cx="1219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>
                <a:latin typeface="Times New Roman" pitchFamily="18" charset="0"/>
              </a:rPr>
              <a:t>filmType</a:t>
            </a:r>
            <a:endParaRPr lang="ru-RU" altLang="ru-RU" sz="2000">
              <a:latin typeface="Times New Roman" pitchFamily="18" charset="0"/>
            </a:endParaRPr>
          </a:p>
        </p:txBody>
      </p:sp>
      <p:sp>
        <p:nvSpPr>
          <p:cNvPr id="21520" name="Line 16"/>
          <p:cNvSpPr>
            <a:spLocks noChangeShapeType="1"/>
          </p:cNvSpPr>
          <p:nvPr/>
        </p:nvSpPr>
        <p:spPr bwMode="auto">
          <a:xfrm flipV="1">
            <a:off x="1066800" y="33528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1521" name="Line 17"/>
          <p:cNvSpPr>
            <a:spLocks noChangeShapeType="1"/>
          </p:cNvSpPr>
          <p:nvPr/>
        </p:nvSpPr>
        <p:spPr bwMode="auto">
          <a:xfrm flipH="1" flipV="1">
            <a:off x="1981200" y="3352800"/>
            <a:ext cx="152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1522" name="AutoShape 18"/>
          <p:cNvSpPr>
            <a:spLocks noChangeArrowheads="1"/>
          </p:cNvSpPr>
          <p:nvPr/>
        </p:nvSpPr>
        <p:spPr bwMode="auto">
          <a:xfrm>
            <a:off x="4343400" y="3733800"/>
            <a:ext cx="1219200" cy="7620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21523" name="AutoShape 19"/>
          <p:cNvSpPr>
            <a:spLocks noChangeArrowheads="1"/>
          </p:cNvSpPr>
          <p:nvPr/>
        </p:nvSpPr>
        <p:spPr bwMode="auto">
          <a:xfrm>
            <a:off x="4114800" y="1981200"/>
            <a:ext cx="1219200" cy="7620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21524" name="Line 20"/>
          <p:cNvSpPr>
            <a:spLocks noChangeShapeType="1"/>
          </p:cNvSpPr>
          <p:nvPr/>
        </p:nvSpPr>
        <p:spPr bwMode="auto">
          <a:xfrm>
            <a:off x="2286000" y="3200400"/>
            <a:ext cx="2057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1525" name="Line 21"/>
          <p:cNvSpPr>
            <a:spLocks noChangeShapeType="1"/>
          </p:cNvSpPr>
          <p:nvPr/>
        </p:nvSpPr>
        <p:spPr bwMode="auto">
          <a:xfrm>
            <a:off x="5562600" y="4114800"/>
            <a:ext cx="762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1526" name="Text Box 22"/>
          <p:cNvSpPr txBox="1">
            <a:spLocks noChangeArrowheads="1"/>
          </p:cNvSpPr>
          <p:nvPr/>
        </p:nvSpPr>
        <p:spPr bwMode="auto">
          <a:xfrm>
            <a:off x="4572000" y="3962400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>
                <a:latin typeface="Times New Roman" pitchFamily="18" charset="0"/>
              </a:rPr>
              <a:t>Owns</a:t>
            </a:r>
            <a:endParaRPr lang="ru-RU" altLang="ru-RU" sz="2000">
              <a:latin typeface="Times New Roman" pitchFamily="18" charset="0"/>
            </a:endParaRPr>
          </a:p>
        </p:txBody>
      </p:sp>
      <p:sp>
        <p:nvSpPr>
          <p:cNvPr id="21527" name="Line 23"/>
          <p:cNvSpPr>
            <a:spLocks noChangeShapeType="1"/>
          </p:cNvSpPr>
          <p:nvPr/>
        </p:nvSpPr>
        <p:spPr bwMode="auto">
          <a:xfrm flipV="1">
            <a:off x="2286000" y="2362200"/>
            <a:ext cx="1828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1528" name="Line 24"/>
          <p:cNvSpPr>
            <a:spLocks noChangeShapeType="1"/>
          </p:cNvSpPr>
          <p:nvPr/>
        </p:nvSpPr>
        <p:spPr bwMode="auto">
          <a:xfrm>
            <a:off x="5334000" y="23622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1529" name="Text Box 25"/>
          <p:cNvSpPr txBox="1">
            <a:spLocks noChangeArrowheads="1"/>
          </p:cNvSpPr>
          <p:nvPr/>
        </p:nvSpPr>
        <p:spPr bwMode="auto">
          <a:xfrm>
            <a:off x="4267200" y="22098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>
                <a:latin typeface="Times New Roman" pitchFamily="18" charset="0"/>
              </a:rPr>
              <a:t>Star-in</a:t>
            </a:r>
            <a:endParaRPr lang="ru-RU" altLang="ru-RU" sz="2000">
              <a:latin typeface="Times New Roman" pitchFamily="18" charset="0"/>
            </a:endParaRPr>
          </a:p>
        </p:txBody>
      </p:sp>
      <p:sp>
        <p:nvSpPr>
          <p:cNvPr id="21530" name="Oval 26"/>
          <p:cNvSpPr>
            <a:spLocks noChangeArrowheads="1"/>
          </p:cNvSpPr>
          <p:nvPr/>
        </p:nvSpPr>
        <p:spPr bwMode="auto">
          <a:xfrm>
            <a:off x="6553200" y="3352800"/>
            <a:ext cx="9144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21531" name="Text Box 27"/>
          <p:cNvSpPr txBox="1">
            <a:spLocks noChangeArrowheads="1"/>
          </p:cNvSpPr>
          <p:nvPr/>
        </p:nvSpPr>
        <p:spPr bwMode="auto">
          <a:xfrm>
            <a:off x="6705600" y="32766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 u="sng">
                <a:latin typeface="Times New Roman" pitchFamily="18" charset="0"/>
              </a:rPr>
              <a:t>name</a:t>
            </a:r>
            <a:endParaRPr lang="ru-RU" altLang="ru-RU" sz="2000" u="sng">
              <a:latin typeface="Times New Roman" pitchFamily="18" charset="0"/>
            </a:endParaRPr>
          </a:p>
        </p:txBody>
      </p:sp>
      <p:sp>
        <p:nvSpPr>
          <p:cNvPr id="21532" name="Oval 28"/>
          <p:cNvSpPr>
            <a:spLocks noChangeArrowheads="1"/>
          </p:cNvSpPr>
          <p:nvPr/>
        </p:nvSpPr>
        <p:spPr bwMode="auto">
          <a:xfrm>
            <a:off x="5943600" y="1447800"/>
            <a:ext cx="9144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21533" name="Text Box 29"/>
          <p:cNvSpPr txBox="1">
            <a:spLocks noChangeArrowheads="1"/>
          </p:cNvSpPr>
          <p:nvPr/>
        </p:nvSpPr>
        <p:spPr bwMode="auto">
          <a:xfrm>
            <a:off x="6019800" y="13716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 u="sng">
                <a:latin typeface="Times New Roman" pitchFamily="18" charset="0"/>
              </a:rPr>
              <a:t>name</a:t>
            </a:r>
            <a:endParaRPr lang="ru-RU" altLang="ru-RU" sz="2000" u="sng">
              <a:latin typeface="Times New Roman" pitchFamily="18" charset="0"/>
            </a:endParaRPr>
          </a:p>
        </p:txBody>
      </p:sp>
      <p:sp>
        <p:nvSpPr>
          <p:cNvPr id="21534" name="Oval 30"/>
          <p:cNvSpPr>
            <a:spLocks noChangeArrowheads="1"/>
          </p:cNvSpPr>
          <p:nvPr/>
        </p:nvSpPr>
        <p:spPr bwMode="auto">
          <a:xfrm>
            <a:off x="7315200" y="1447800"/>
            <a:ext cx="1066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21535" name="Text Box 31"/>
          <p:cNvSpPr txBox="1">
            <a:spLocks noChangeArrowheads="1"/>
          </p:cNvSpPr>
          <p:nvPr/>
        </p:nvSpPr>
        <p:spPr bwMode="auto">
          <a:xfrm>
            <a:off x="7391400" y="1447800"/>
            <a:ext cx="99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>
                <a:latin typeface="Times New Roman" pitchFamily="18" charset="0"/>
              </a:rPr>
              <a:t>address</a:t>
            </a:r>
            <a:endParaRPr lang="ru-RU" altLang="ru-RU" sz="2000">
              <a:latin typeface="Times New Roman" pitchFamily="18" charset="0"/>
            </a:endParaRPr>
          </a:p>
        </p:txBody>
      </p:sp>
      <p:sp>
        <p:nvSpPr>
          <p:cNvPr id="21536" name="Line 32"/>
          <p:cNvSpPr>
            <a:spLocks noChangeShapeType="1"/>
          </p:cNvSpPr>
          <p:nvPr/>
        </p:nvSpPr>
        <p:spPr bwMode="auto">
          <a:xfrm flipH="1" flipV="1">
            <a:off x="6477000" y="18288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1537" name="Line 33"/>
          <p:cNvSpPr>
            <a:spLocks noChangeShapeType="1"/>
          </p:cNvSpPr>
          <p:nvPr/>
        </p:nvSpPr>
        <p:spPr bwMode="auto">
          <a:xfrm flipV="1">
            <a:off x="7315200" y="18288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1538" name="Line 34"/>
          <p:cNvSpPr>
            <a:spLocks noChangeShapeType="1"/>
          </p:cNvSpPr>
          <p:nvPr/>
        </p:nvSpPr>
        <p:spPr bwMode="auto">
          <a:xfrm flipV="1">
            <a:off x="7010400" y="3733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1539" name="Text Box 35"/>
          <p:cNvSpPr txBox="1">
            <a:spLocks noChangeArrowheads="1"/>
          </p:cNvSpPr>
          <p:nvPr/>
        </p:nvSpPr>
        <p:spPr bwMode="auto">
          <a:xfrm>
            <a:off x="6553200" y="4724400"/>
            <a:ext cx="99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>
                <a:latin typeface="Times New Roman" pitchFamily="18" charset="0"/>
              </a:rPr>
              <a:t>address</a:t>
            </a:r>
            <a:endParaRPr lang="ru-RU" altLang="ru-RU" sz="2000">
              <a:latin typeface="Times New Roman" pitchFamily="18" charset="0"/>
            </a:endParaRPr>
          </a:p>
        </p:txBody>
      </p:sp>
      <p:sp>
        <p:nvSpPr>
          <p:cNvPr id="21540" name="Oval 36"/>
          <p:cNvSpPr>
            <a:spLocks noChangeArrowheads="1"/>
          </p:cNvSpPr>
          <p:nvPr/>
        </p:nvSpPr>
        <p:spPr bwMode="auto">
          <a:xfrm>
            <a:off x="6477000" y="4724400"/>
            <a:ext cx="1066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21541" name="Line 37"/>
          <p:cNvSpPr>
            <a:spLocks noChangeShapeType="1"/>
          </p:cNvSpPr>
          <p:nvPr/>
        </p:nvSpPr>
        <p:spPr bwMode="auto">
          <a:xfrm flipH="1" flipV="1">
            <a:off x="7010400" y="4419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1542" name="Text Box 38"/>
          <p:cNvSpPr txBox="1">
            <a:spLocks noChangeArrowheads="1"/>
          </p:cNvSpPr>
          <p:nvPr/>
        </p:nvSpPr>
        <p:spPr bwMode="auto">
          <a:xfrm>
            <a:off x="1371600" y="5715000"/>
            <a:ext cx="6477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2800"/>
              <a:t>БД «Фильмы-актеры-студии»</a:t>
            </a:r>
          </a:p>
        </p:txBody>
      </p:sp>
      <p:sp>
        <p:nvSpPr>
          <p:cNvPr id="21543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772178A2-94F6-4BD5-ABCD-91B239CC7926}" type="slidenum">
              <a:rPr lang="ru-RU" altLang="ru-RU" smtClean="0">
                <a:latin typeface="Arial Black" pitchFamily="34" charset="0"/>
              </a:rPr>
              <a:pPr eaLnBrk="1" hangingPunct="1"/>
              <a:t>23</a:t>
            </a:fld>
            <a:endParaRPr lang="ru-RU" altLang="ru-RU" smtClean="0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153400" cy="533400"/>
          </a:xfrm>
        </p:spPr>
        <p:txBody>
          <a:bodyPr/>
          <a:lstStyle/>
          <a:p>
            <a:pPr algn="ctr" eaLnBrk="1" hangingPunct="1"/>
            <a:r>
              <a:rPr lang="ru-RU" altLang="ru-RU" sz="3600" smtClean="0">
                <a:solidFill>
                  <a:schemeClr val="bg2"/>
                </a:solidFill>
              </a:rPr>
              <a:t>Объявление связей</a:t>
            </a:r>
            <a:r>
              <a:rPr lang="en-US" altLang="ru-RU" sz="3600" smtClean="0">
                <a:solidFill>
                  <a:schemeClr val="bg2"/>
                </a:solidFill>
              </a:rPr>
              <a:t> (n:m, 1:m, m:1)</a:t>
            </a:r>
            <a:endParaRPr lang="ru-RU" altLang="ru-RU" sz="3600" smtClean="0">
              <a:solidFill>
                <a:schemeClr val="bg2"/>
              </a:solidFill>
            </a:endParaRPr>
          </a:p>
        </p:txBody>
      </p:sp>
      <p:sp>
        <p:nvSpPr>
          <p:cNvPr id="22531" name="Rectangle 4"/>
          <p:cNvSpPr>
            <a:spLocks noChangeArrowheads="1"/>
          </p:cNvSpPr>
          <p:nvPr/>
        </p:nvSpPr>
        <p:spPr bwMode="auto">
          <a:xfrm>
            <a:off x="304800" y="990600"/>
            <a:ext cx="88392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u-RU" sz="2800" dirty="0"/>
              <a:t>class Movie</a:t>
            </a:r>
            <a:br>
              <a:rPr lang="en-US" altLang="ru-RU" sz="2800" dirty="0"/>
            </a:br>
            <a:r>
              <a:rPr lang="en-US" altLang="ru-RU" sz="2800" dirty="0"/>
              <a:t>(extent Movies key(title, year) )</a:t>
            </a:r>
            <a:br>
              <a:rPr lang="en-US" altLang="ru-RU" sz="2800" dirty="0"/>
            </a:br>
            <a:r>
              <a:rPr lang="en-US" altLang="ru-RU" sz="2800" dirty="0"/>
              <a:t>{</a:t>
            </a:r>
            <a:br>
              <a:rPr lang="en-US" altLang="ru-RU" sz="2800" dirty="0"/>
            </a:br>
            <a:r>
              <a:rPr lang="en-US" altLang="ru-RU" sz="2800" dirty="0"/>
              <a:t>   attribute string title;</a:t>
            </a:r>
            <a:br>
              <a:rPr lang="en-US" altLang="ru-RU" sz="2800" dirty="0"/>
            </a:br>
            <a:r>
              <a:rPr lang="en-US" altLang="ru-RU" sz="2800" dirty="0"/>
              <a:t>   attribute integer year;</a:t>
            </a:r>
            <a:br>
              <a:rPr lang="en-US" altLang="ru-RU" sz="2800" dirty="0"/>
            </a:br>
            <a:r>
              <a:rPr lang="en-US" altLang="ru-RU" sz="2800" dirty="0"/>
              <a:t>   attribute integer length;</a:t>
            </a:r>
            <a:br>
              <a:rPr lang="en-US" altLang="ru-RU" sz="2800" dirty="0"/>
            </a:br>
            <a:r>
              <a:rPr lang="en-US" altLang="ru-RU" sz="2800" dirty="0"/>
              <a:t>   attribute </a:t>
            </a:r>
            <a:r>
              <a:rPr lang="en-US" altLang="ru-RU" sz="2800" dirty="0" err="1"/>
              <a:t>enum</a:t>
            </a:r>
            <a:r>
              <a:rPr lang="en-US" altLang="ru-RU" sz="2800" dirty="0"/>
              <a:t> Film {color, </a:t>
            </a:r>
            <a:r>
              <a:rPr lang="en-US" altLang="ru-RU" sz="2800" dirty="0" err="1"/>
              <a:t>blackAndWhite</a:t>
            </a:r>
            <a:r>
              <a:rPr lang="en-US" altLang="ru-RU" sz="2800" dirty="0"/>
              <a:t>} </a:t>
            </a:r>
            <a:r>
              <a:rPr lang="en-US" altLang="ru-RU" sz="2800" dirty="0" err="1"/>
              <a:t>filmType</a:t>
            </a:r>
            <a:r>
              <a:rPr lang="en-US" altLang="ru-RU" sz="2800" dirty="0"/>
              <a:t>;</a:t>
            </a:r>
            <a:br>
              <a:rPr lang="en-US" altLang="ru-RU" sz="2800" dirty="0"/>
            </a:br>
            <a:r>
              <a:rPr lang="en-US" altLang="ru-RU" sz="2800" dirty="0"/>
              <a:t>     </a:t>
            </a:r>
            <a:r>
              <a:rPr lang="en-US" altLang="ru-RU" sz="2800" dirty="0">
                <a:solidFill>
                  <a:schemeClr val="bg2"/>
                </a:solidFill>
              </a:rPr>
              <a:t>relationship </a:t>
            </a:r>
            <a:r>
              <a:rPr lang="en-US" altLang="ru-RU" sz="2800" dirty="0"/>
              <a:t>Set&lt;Star&gt; </a:t>
            </a:r>
            <a:r>
              <a:rPr lang="en-US" altLang="ru-RU" sz="2800" dirty="0" err="1">
                <a:solidFill>
                  <a:schemeClr val="bg2"/>
                </a:solidFill>
              </a:rPr>
              <a:t>starsOf</a:t>
            </a:r>
            <a:r>
              <a:rPr lang="en-US" altLang="ru-RU" sz="2800" dirty="0">
                <a:solidFill>
                  <a:schemeClr val="bg2"/>
                </a:solidFill>
              </a:rPr>
              <a:t>           %(n:m)</a:t>
            </a:r>
            <a:r>
              <a:rPr lang="en-US" altLang="ru-RU" sz="2800" dirty="0"/>
              <a:t/>
            </a:r>
            <a:br>
              <a:rPr lang="en-US" altLang="ru-RU" sz="2800" dirty="0"/>
            </a:br>
            <a:r>
              <a:rPr lang="en-US" altLang="ru-RU" sz="2800" dirty="0"/>
              <a:t>       </a:t>
            </a:r>
            <a:r>
              <a:rPr lang="ru-RU" altLang="ru-RU" sz="2800" dirty="0"/>
              <a:t>		</a:t>
            </a:r>
            <a:r>
              <a:rPr lang="en-US" altLang="ru-RU" sz="2800" dirty="0">
                <a:solidFill>
                  <a:srgbClr val="990000"/>
                </a:solidFill>
              </a:rPr>
              <a:t>inverse</a:t>
            </a:r>
            <a:r>
              <a:rPr lang="en-US" altLang="ru-RU" sz="2800" dirty="0"/>
              <a:t> Star::</a:t>
            </a:r>
            <a:r>
              <a:rPr lang="en-US" altLang="ru-RU" sz="2800" dirty="0" err="1">
                <a:solidFill>
                  <a:srgbClr val="990000"/>
                </a:solidFill>
              </a:rPr>
              <a:t>starredln</a:t>
            </a:r>
            <a:r>
              <a:rPr lang="en-US" altLang="ru-RU" sz="2800" dirty="0"/>
              <a:t>;</a:t>
            </a:r>
            <a:br>
              <a:rPr lang="en-US" altLang="ru-RU" sz="2800" dirty="0"/>
            </a:br>
            <a:r>
              <a:rPr lang="en-US" altLang="ru-RU" sz="2800" dirty="0"/>
              <a:t>     </a:t>
            </a:r>
            <a:r>
              <a:rPr lang="en-US" altLang="ru-RU" sz="2800" dirty="0">
                <a:solidFill>
                  <a:schemeClr val="bg2"/>
                </a:solidFill>
              </a:rPr>
              <a:t>relationship</a:t>
            </a:r>
            <a:r>
              <a:rPr lang="en-US" altLang="ru-RU" sz="2800" dirty="0"/>
              <a:t> Studio </a:t>
            </a:r>
            <a:r>
              <a:rPr lang="en-US" altLang="ru-RU" sz="2800" dirty="0" err="1">
                <a:solidFill>
                  <a:schemeClr val="bg2"/>
                </a:solidFill>
              </a:rPr>
              <a:t>ownedBy</a:t>
            </a:r>
            <a:r>
              <a:rPr lang="en-US" altLang="ru-RU" sz="2800" dirty="0"/>
              <a:t>              </a:t>
            </a:r>
            <a:r>
              <a:rPr lang="en-US" altLang="ru-RU" sz="2800" dirty="0">
                <a:solidFill>
                  <a:schemeClr val="bg2"/>
                </a:solidFill>
              </a:rPr>
              <a:t>%(m:1)</a:t>
            </a:r>
            <a:r>
              <a:rPr lang="en-US" altLang="ru-RU" sz="2800" dirty="0"/>
              <a:t>      </a:t>
            </a:r>
            <a:r>
              <a:rPr lang="ru-RU" altLang="ru-RU" sz="2800" dirty="0"/>
              <a:t>		</a:t>
            </a:r>
            <a:r>
              <a:rPr lang="en-US" altLang="ru-RU" sz="2800" dirty="0"/>
              <a:t>	</a:t>
            </a:r>
            <a:r>
              <a:rPr lang="en-US" altLang="ru-RU" sz="2800" dirty="0">
                <a:solidFill>
                  <a:srgbClr val="990000"/>
                </a:solidFill>
              </a:rPr>
              <a:t>inverse</a:t>
            </a:r>
            <a:r>
              <a:rPr lang="en-US" altLang="ru-RU" sz="2800" dirty="0"/>
              <a:t> Studio::</a:t>
            </a:r>
            <a:r>
              <a:rPr lang="en-US" altLang="ru-RU" sz="2800" dirty="0">
                <a:solidFill>
                  <a:srgbClr val="990000"/>
                </a:solidFill>
              </a:rPr>
              <a:t>owns</a:t>
            </a:r>
            <a:r>
              <a:rPr lang="en-US" altLang="ru-RU" sz="2800" dirty="0"/>
              <a:t>;</a:t>
            </a:r>
            <a:br>
              <a:rPr lang="en-US" altLang="ru-RU" sz="2800" dirty="0"/>
            </a:br>
            <a:r>
              <a:rPr lang="en-US" altLang="ru-RU" sz="2800" dirty="0"/>
              <a:t>};</a:t>
            </a:r>
            <a:endParaRPr lang="ru-RU" altLang="ru-RU" sz="2800" dirty="0"/>
          </a:p>
        </p:txBody>
      </p:sp>
      <p:sp>
        <p:nvSpPr>
          <p:cNvPr id="22532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1954EB0F-22D4-4D36-A7B7-F58FD63808CB}" type="slidenum">
              <a:rPr lang="ru-RU" altLang="ru-RU" smtClean="0">
                <a:latin typeface="Arial Black" pitchFamily="34" charset="0"/>
              </a:rPr>
              <a:pPr eaLnBrk="1" hangingPunct="1"/>
              <a:t>24</a:t>
            </a:fld>
            <a:endParaRPr lang="ru-RU" altLang="ru-RU" smtClean="0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752600"/>
            <a:ext cx="8229600" cy="3886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ru-RU" sz="2800" dirty="0" smtClean="0"/>
              <a:t>class Star </a:t>
            </a:r>
            <a:endParaRPr lang="ru-RU" altLang="ru-RU" sz="2800" dirty="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ru-RU" sz="2800" dirty="0" smtClean="0"/>
              <a:t>(extent Stars key name )</a:t>
            </a:r>
            <a:endParaRPr lang="ru-RU" altLang="ru-RU" sz="2800" dirty="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ru-RU" sz="2800" dirty="0" smtClean="0"/>
              <a:t>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ru-RU" sz="2800" dirty="0" smtClean="0"/>
              <a:t>attribute string name;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ru-RU" sz="2800" dirty="0" smtClean="0"/>
              <a:t>attribute </a:t>
            </a:r>
            <a:r>
              <a:rPr lang="en-US" altLang="ru-RU" sz="2800" dirty="0" err="1" smtClean="0"/>
              <a:t>Struct</a:t>
            </a:r>
            <a:r>
              <a:rPr lang="en-US" altLang="ru-RU" sz="2800" dirty="0" smtClean="0"/>
              <a:t> </a:t>
            </a:r>
            <a:r>
              <a:rPr lang="en-US" altLang="ru-RU" sz="2800" dirty="0" err="1" smtClean="0"/>
              <a:t>Addr</a:t>
            </a:r>
            <a:endParaRPr lang="en-US" altLang="ru-RU" sz="2800" dirty="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ru-RU" sz="2800" dirty="0" smtClean="0"/>
              <a:t>		{string street, string city} address;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ru-RU" sz="2800" dirty="0" smtClean="0">
                <a:solidFill>
                  <a:schemeClr val="bg2"/>
                </a:solidFill>
              </a:rPr>
              <a:t>relationship</a:t>
            </a:r>
            <a:r>
              <a:rPr lang="en-US" altLang="ru-RU" sz="2800" dirty="0" smtClean="0"/>
              <a:t> Set&lt;Movie&gt; </a:t>
            </a:r>
            <a:r>
              <a:rPr lang="en-US" altLang="ru-RU" sz="2800" dirty="0" err="1" smtClean="0">
                <a:solidFill>
                  <a:schemeClr val="bg2"/>
                </a:solidFill>
              </a:rPr>
              <a:t>starredln</a:t>
            </a:r>
            <a:r>
              <a:rPr lang="en-US" altLang="ru-RU" sz="2800" dirty="0" smtClean="0">
                <a:solidFill>
                  <a:schemeClr val="bg2"/>
                </a:solidFill>
              </a:rPr>
              <a:t>    %(n:m)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ru-RU" altLang="ru-RU" sz="2800" dirty="0" smtClean="0">
                <a:solidFill>
                  <a:srgbClr val="990000"/>
                </a:solidFill>
              </a:rPr>
              <a:t>		</a:t>
            </a:r>
            <a:r>
              <a:rPr lang="en-US" altLang="ru-RU" sz="2800" dirty="0" smtClean="0">
                <a:solidFill>
                  <a:srgbClr val="990000"/>
                </a:solidFill>
              </a:rPr>
              <a:t>inverse</a:t>
            </a:r>
            <a:r>
              <a:rPr lang="en-US" altLang="ru-RU" sz="2800" dirty="0" smtClean="0"/>
              <a:t> Movie: :</a:t>
            </a:r>
            <a:r>
              <a:rPr lang="en-US" altLang="ru-RU" sz="2800" dirty="0" err="1" smtClean="0">
                <a:solidFill>
                  <a:srgbClr val="990000"/>
                </a:solidFill>
              </a:rPr>
              <a:t>starsOf</a:t>
            </a:r>
            <a:r>
              <a:rPr lang="en-US" altLang="ru-RU" sz="2800" dirty="0" smtClean="0">
                <a:solidFill>
                  <a:srgbClr val="990000"/>
                </a:solidFill>
              </a:rPr>
              <a:t>;</a:t>
            </a:r>
            <a:endParaRPr lang="ru-RU" altLang="ru-RU" sz="2800" dirty="0" smtClean="0">
              <a:solidFill>
                <a:srgbClr val="99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ru-RU" sz="2800" dirty="0" smtClean="0"/>
              <a:t>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ru-RU" altLang="ru-RU" sz="2800" dirty="0" smtClean="0"/>
          </a:p>
        </p:txBody>
      </p:sp>
      <p:sp>
        <p:nvSpPr>
          <p:cNvPr id="23555" name="Прямоугольник 5"/>
          <p:cNvSpPr>
            <a:spLocks noChangeArrowheads="1"/>
          </p:cNvSpPr>
          <p:nvPr/>
        </p:nvSpPr>
        <p:spPr bwMode="auto">
          <a:xfrm>
            <a:off x="1657350" y="457200"/>
            <a:ext cx="58293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3600">
                <a:solidFill>
                  <a:schemeClr val="bg2"/>
                </a:solidFill>
              </a:rPr>
              <a:t>Объявление связей (2)</a:t>
            </a:r>
            <a:r>
              <a:rPr lang="en-US" altLang="ru-RU" sz="3600">
                <a:solidFill>
                  <a:schemeClr val="bg2"/>
                </a:solidFill>
              </a:rPr>
              <a:t> </a:t>
            </a:r>
            <a:endParaRPr lang="ru-RU" altLang="ru-RU" sz="3600"/>
          </a:p>
        </p:txBody>
      </p:sp>
      <p:sp>
        <p:nvSpPr>
          <p:cNvPr id="23556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1E7454C-8A79-4D23-8D89-0665416881DC}" type="slidenum">
              <a:rPr lang="ru-RU" altLang="ru-RU" smtClean="0">
                <a:latin typeface="Arial Black" pitchFamily="34" charset="0"/>
              </a:rPr>
              <a:pPr eaLnBrk="1" hangingPunct="1"/>
              <a:t>25</a:t>
            </a:fld>
            <a:endParaRPr lang="ru-RU" altLang="ru-RU" smtClean="0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8229600" cy="3886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ru-RU" sz="2800" smtClean="0"/>
              <a:t>class Studio </a:t>
            </a:r>
            <a:endParaRPr lang="ru-RU" altLang="ru-RU" sz="280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ru-RU" altLang="ru-RU" sz="2800" smtClean="0"/>
              <a:t>(</a:t>
            </a:r>
            <a:r>
              <a:rPr lang="en-US" altLang="ru-RU" sz="2800" smtClean="0"/>
              <a:t>extent Studios key name)</a:t>
            </a:r>
            <a:endParaRPr lang="ru-RU" altLang="ru-RU" sz="280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ru-RU" sz="2800" smtClean="0"/>
              <a:t>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ru-RU" sz="2800" smtClean="0"/>
              <a:t>attribute string name;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ru-RU" sz="2800" smtClean="0"/>
              <a:t>attribute string address;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ru-RU" sz="2800" smtClean="0"/>
              <a:t> </a:t>
            </a:r>
            <a:r>
              <a:rPr lang="ru-RU" altLang="ru-RU" sz="2800" smtClean="0"/>
              <a:t>	</a:t>
            </a:r>
            <a:r>
              <a:rPr lang="en-US" altLang="ru-RU" sz="2800" smtClean="0">
                <a:solidFill>
                  <a:schemeClr val="bg2"/>
                </a:solidFill>
              </a:rPr>
              <a:t>relationship</a:t>
            </a:r>
            <a:r>
              <a:rPr lang="en-US" altLang="ru-RU" sz="2800" smtClean="0"/>
              <a:t> Set&lt;Movie&gt; </a:t>
            </a:r>
            <a:r>
              <a:rPr lang="en-US" altLang="ru-RU" sz="2800" smtClean="0">
                <a:solidFill>
                  <a:schemeClr val="bg2"/>
                </a:solidFill>
              </a:rPr>
              <a:t>owns    %(1:m)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ru-RU" sz="2800" smtClean="0"/>
              <a:t> </a:t>
            </a:r>
            <a:r>
              <a:rPr lang="ru-RU" altLang="ru-RU" sz="2800" smtClean="0"/>
              <a:t>		</a:t>
            </a:r>
            <a:r>
              <a:rPr lang="en-US" altLang="ru-RU" sz="2800" smtClean="0">
                <a:solidFill>
                  <a:srgbClr val="990000"/>
                </a:solidFill>
              </a:rPr>
              <a:t>inverse </a:t>
            </a:r>
            <a:r>
              <a:rPr lang="en-US" altLang="ru-RU" sz="2800" smtClean="0"/>
              <a:t>Movie::</a:t>
            </a:r>
            <a:r>
              <a:rPr lang="en-US" altLang="ru-RU" sz="2800" smtClean="0">
                <a:solidFill>
                  <a:srgbClr val="990000"/>
                </a:solidFill>
              </a:rPr>
              <a:t>ownedBy</a:t>
            </a:r>
            <a:r>
              <a:rPr lang="en-US" altLang="ru-RU" sz="2800" smtClean="0"/>
              <a:t>;</a:t>
            </a:r>
            <a:r>
              <a:rPr lang="ru-RU" altLang="ru-RU" sz="2800" smtClean="0"/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ru-RU" sz="2800" smtClean="0"/>
              <a:t>}</a:t>
            </a:r>
            <a:endParaRPr lang="ru-RU" altLang="ru-RU" sz="2800" smtClean="0"/>
          </a:p>
        </p:txBody>
      </p:sp>
      <p:sp>
        <p:nvSpPr>
          <p:cNvPr id="24579" name="Прямоугольник 5"/>
          <p:cNvSpPr>
            <a:spLocks noChangeArrowheads="1"/>
          </p:cNvSpPr>
          <p:nvPr/>
        </p:nvSpPr>
        <p:spPr bwMode="auto">
          <a:xfrm>
            <a:off x="1657350" y="457200"/>
            <a:ext cx="58293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3600">
                <a:solidFill>
                  <a:schemeClr val="bg2"/>
                </a:solidFill>
              </a:rPr>
              <a:t>Объявление связей (3)</a:t>
            </a:r>
            <a:r>
              <a:rPr lang="en-US" altLang="ru-RU" sz="3600">
                <a:solidFill>
                  <a:schemeClr val="bg2"/>
                </a:solidFill>
              </a:rPr>
              <a:t> </a:t>
            </a:r>
            <a:endParaRPr lang="ru-RU" altLang="ru-RU" sz="3600"/>
          </a:p>
        </p:txBody>
      </p:sp>
      <p:sp>
        <p:nvSpPr>
          <p:cNvPr id="24580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71473619-E139-4336-A52C-1C4DFDBFA276}" type="slidenum">
              <a:rPr lang="ru-RU" altLang="ru-RU" smtClean="0">
                <a:latin typeface="Arial Black" pitchFamily="34" charset="0"/>
              </a:rPr>
              <a:pPr eaLnBrk="1" hangingPunct="1"/>
              <a:t>26</a:t>
            </a:fld>
            <a:endParaRPr lang="ru-RU" altLang="ru-RU" smtClean="0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228600"/>
            <a:ext cx="8305800" cy="838200"/>
          </a:xfrm>
        </p:spPr>
        <p:txBody>
          <a:bodyPr/>
          <a:lstStyle/>
          <a:p>
            <a:pPr algn="ctr" eaLnBrk="1" hangingPunct="1"/>
            <a:r>
              <a:rPr lang="ru-RU" altLang="ru-RU" sz="2800" smtClean="0">
                <a:solidFill>
                  <a:schemeClr val="bg2"/>
                </a:solidFill>
              </a:rPr>
              <a:t>Полное объявление класса </a:t>
            </a:r>
            <a:r>
              <a:rPr lang="en-US" altLang="ru-RU" sz="2800" smtClean="0">
                <a:solidFill>
                  <a:srgbClr val="C00000"/>
                </a:solidFill>
              </a:rPr>
              <a:t>Movie</a:t>
            </a:r>
            <a:r>
              <a:rPr lang="en-US" altLang="ru-RU" sz="2800" smtClean="0">
                <a:solidFill>
                  <a:schemeClr val="bg2"/>
                </a:solidFill>
              </a:rPr>
              <a:t> </a:t>
            </a:r>
            <a:r>
              <a:rPr lang="ru-RU" altLang="ru-RU" sz="2800" smtClean="0">
                <a:solidFill>
                  <a:schemeClr val="bg2"/>
                </a:solidFill>
              </a:rPr>
              <a:t>на языке </a:t>
            </a:r>
            <a:r>
              <a:rPr lang="en-US" altLang="ru-RU" sz="2800" smtClean="0">
                <a:solidFill>
                  <a:schemeClr val="bg2"/>
                </a:solidFill>
              </a:rPr>
              <a:t>ODL</a:t>
            </a:r>
            <a:endParaRPr lang="ru-RU" altLang="ru-RU" sz="4000" smtClean="0">
              <a:solidFill>
                <a:schemeClr val="bg2"/>
              </a:solidFill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715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ru-RU" altLang="ru-RU" sz="2400" smtClean="0"/>
              <a:t>class Movie </a:t>
            </a:r>
            <a:r>
              <a:rPr lang="en-US" altLang="ru-RU" sz="2400" smtClean="0"/>
              <a:t>(extent Movies key(title, year) )</a:t>
            </a:r>
            <a:r>
              <a:rPr lang="ru-RU" altLang="ru-RU" sz="2400" smtClean="0"/>
              <a:t>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ru-RU" altLang="ru-RU" sz="2400" smtClean="0"/>
              <a:t>attribute string title;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ru-RU" altLang="ru-RU" sz="2400" smtClean="0"/>
              <a:t>attribute integer year;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ru-RU" altLang="ru-RU" sz="2400" smtClean="0"/>
              <a:t>attribute integer length;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ru-RU" altLang="ru-RU" sz="2400" smtClean="0"/>
              <a:t>attribute enum Film {color, blackAndWhite} filmType;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ru-RU" altLang="ru-RU" sz="2400" smtClean="0"/>
              <a:t>relationship Set&lt;Star&gt; starsOf</a:t>
            </a:r>
            <a:endParaRPr lang="en-US" altLang="ru-RU" sz="240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ru-RU" sz="2400" smtClean="0"/>
              <a:t>			inverse Star::starredln;</a:t>
            </a:r>
            <a:endParaRPr lang="ru-RU" altLang="ru-RU" sz="240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ru-RU" altLang="ru-RU" sz="2400" smtClean="0"/>
              <a:t>relationship Studio ownedBy</a:t>
            </a:r>
            <a:endParaRPr lang="en-US" altLang="ru-RU" sz="240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ru-RU" sz="2400" smtClean="0"/>
              <a:t>			inverse Studio::owns;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ru-RU" sz="2400" smtClean="0">
                <a:solidFill>
                  <a:schemeClr val="bg2"/>
                </a:solidFill>
              </a:rPr>
              <a:t>float lengthlnHours ( )</a:t>
            </a:r>
            <a:r>
              <a:rPr lang="en-US" altLang="ru-RU" sz="2400" smtClean="0"/>
              <a:t> </a:t>
            </a:r>
            <a:r>
              <a:rPr lang="en-US" altLang="ru-RU" sz="2400" smtClean="0">
                <a:solidFill>
                  <a:srgbClr val="990000"/>
                </a:solidFill>
              </a:rPr>
              <a:t>raises (noLengthFound)</a:t>
            </a:r>
            <a:r>
              <a:rPr lang="en-US" altLang="ru-RU" sz="2400" smtClean="0"/>
              <a:t> 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ru-RU" sz="2400" smtClean="0">
                <a:solidFill>
                  <a:schemeClr val="bg2"/>
                </a:solidFill>
              </a:rPr>
              <a:t>void starNames(out Set&lt;String&gt;)</a:t>
            </a:r>
            <a:r>
              <a:rPr lang="en-US" altLang="ru-RU" sz="2400" smtClean="0"/>
              <a:t> 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ru-RU" sz="2400" smtClean="0">
                <a:solidFill>
                  <a:schemeClr val="bg2"/>
                </a:solidFill>
              </a:rPr>
              <a:t>void otherMovies (in Star, out Set&lt;Movie&gt;)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ru-RU" sz="2400" smtClean="0"/>
              <a:t>			</a:t>
            </a:r>
            <a:r>
              <a:rPr lang="ru-RU" altLang="ru-RU" sz="2400" smtClean="0">
                <a:solidFill>
                  <a:srgbClr val="990000"/>
                </a:solidFill>
              </a:rPr>
              <a:t>raises(noSuchStar);</a:t>
            </a:r>
            <a:endParaRPr lang="en-US" altLang="ru-RU" sz="2400" smtClean="0">
              <a:solidFill>
                <a:srgbClr val="990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ru-RU" sz="2400" smtClean="0"/>
              <a:t>};</a:t>
            </a:r>
            <a:r>
              <a:rPr lang="ru-RU" altLang="ru-RU" sz="2400" smtClean="0"/>
              <a:t> </a:t>
            </a:r>
          </a:p>
        </p:txBody>
      </p:sp>
      <p:sp>
        <p:nvSpPr>
          <p:cNvPr id="25604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E8188E8-5433-40AC-9D09-1C50E742634A}" type="slidenum">
              <a:rPr lang="ru-RU" altLang="ru-RU" smtClean="0">
                <a:latin typeface="Arial Black" pitchFamily="34" charset="0"/>
              </a:rPr>
              <a:pPr eaLnBrk="1" hangingPunct="1"/>
              <a:t>27</a:t>
            </a:fld>
            <a:endParaRPr lang="ru-RU" altLang="ru-RU" smtClean="0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534400" cy="914400"/>
          </a:xfrm>
        </p:spPr>
        <p:txBody>
          <a:bodyPr/>
          <a:lstStyle/>
          <a:p>
            <a:pPr algn="ctr" eaLnBrk="1" hangingPunct="1"/>
            <a:r>
              <a:rPr lang="ru-RU" altLang="ru-RU" sz="4000" smtClean="0">
                <a:solidFill>
                  <a:schemeClr val="bg2"/>
                </a:solidFill>
              </a:rPr>
              <a:t>Язык объектных запросов (OQL</a:t>
            </a:r>
            <a:r>
              <a:rPr lang="ru-RU" altLang="ru-RU" sz="4000" smtClean="0"/>
              <a:t>)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900" y="1485900"/>
            <a:ext cx="8458200" cy="3886200"/>
          </a:xfrm>
        </p:spPr>
        <p:txBody>
          <a:bodyPr/>
          <a:lstStyle/>
          <a:p>
            <a:pPr eaLnBrk="1" hangingPunct="1"/>
            <a:r>
              <a:rPr lang="ru-RU" altLang="ru-RU" sz="2800" smtClean="0"/>
              <a:t>Object Query Language - SQL - подобный декларативный язык</a:t>
            </a:r>
          </a:p>
          <a:p>
            <a:pPr eaLnBrk="1" hangingPunct="1"/>
            <a:r>
              <a:rPr lang="ru-RU" altLang="ru-RU" sz="2800" smtClean="0"/>
              <a:t>SELECT, определенный SQL-92, является подмножеством OQL</a:t>
            </a:r>
          </a:p>
          <a:p>
            <a:pPr eaLnBrk="1" hangingPunct="1"/>
            <a:r>
              <a:rPr lang="ru-RU" altLang="ru-RU" sz="2800" smtClean="0"/>
              <a:t>OQL-запросы могут вызываться из ОО-языка</a:t>
            </a:r>
          </a:p>
          <a:p>
            <a:pPr eaLnBrk="1" hangingPunct="1"/>
            <a:r>
              <a:rPr lang="ru-RU" altLang="ru-RU" sz="2800" smtClean="0"/>
              <a:t>из OQL-запросов могут делаться обращения к процедурам, написанным на OO-языке</a:t>
            </a:r>
          </a:p>
        </p:txBody>
      </p:sp>
      <p:sp>
        <p:nvSpPr>
          <p:cNvPr id="26628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56974B41-77A3-4AB0-85D2-C2A46F9B8901}" type="slidenum">
              <a:rPr lang="ru-RU" altLang="ru-RU" smtClean="0">
                <a:latin typeface="Arial Black" pitchFamily="34" charset="0"/>
              </a:rPr>
              <a:pPr eaLnBrk="1" hangingPunct="1"/>
              <a:t>28</a:t>
            </a:fld>
            <a:endParaRPr lang="ru-RU" altLang="ru-RU" smtClean="0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14400"/>
          </a:xfrm>
        </p:spPr>
        <p:txBody>
          <a:bodyPr/>
          <a:lstStyle/>
          <a:p>
            <a:pPr algn="ctr" eaLnBrk="1" hangingPunct="1"/>
            <a:r>
              <a:rPr lang="ru-RU" altLang="ru-RU" smtClean="0">
                <a:solidFill>
                  <a:schemeClr val="bg2"/>
                </a:solidFill>
              </a:rPr>
              <a:t>Запросы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229600" cy="3886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ru-RU" altLang="ru-RU" dirty="0" smtClean="0"/>
              <a:t>Найти названия фильмов с длительностью больше 1,6 часа</a:t>
            </a:r>
          </a:p>
          <a:p>
            <a:pPr eaLnBrk="1" hangingPunct="1">
              <a:buFont typeface="Wingdings" pitchFamily="2" charset="2"/>
              <a:buNone/>
            </a:pPr>
            <a:endParaRPr lang="ru-RU" altLang="ru-RU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altLang="ru-RU" dirty="0" smtClean="0"/>
              <a:t>Select </a:t>
            </a:r>
            <a:r>
              <a:rPr lang="ru-RU" altLang="ru-RU" dirty="0" smtClean="0"/>
              <a:t>	</a:t>
            </a:r>
            <a:r>
              <a:rPr lang="en-US" altLang="ru-RU" dirty="0" smtClean="0"/>
              <a:t>DISTINCT </a:t>
            </a:r>
            <a:r>
              <a:rPr lang="en-US" altLang="ru-RU" i="1" dirty="0" err="1" smtClean="0">
                <a:solidFill>
                  <a:schemeClr val="accent5">
                    <a:lumMod val="50000"/>
                  </a:schemeClr>
                </a:solidFill>
              </a:rPr>
              <a:t>m</a:t>
            </a:r>
            <a:r>
              <a:rPr lang="en-US" altLang="ru-RU" dirty="0" err="1" smtClean="0"/>
              <a:t>.title</a:t>
            </a:r>
            <a:endParaRPr lang="en-US" altLang="ru-RU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altLang="ru-RU" dirty="0" smtClean="0"/>
              <a:t>From </a:t>
            </a:r>
            <a:r>
              <a:rPr lang="ru-RU" altLang="ru-RU" dirty="0" smtClean="0"/>
              <a:t>	</a:t>
            </a:r>
            <a:r>
              <a:rPr lang="en-US" altLang="ru-RU" dirty="0" smtClean="0"/>
              <a:t>Movies  </a:t>
            </a:r>
            <a:r>
              <a:rPr lang="en-US" altLang="ru-RU" i="1" dirty="0" smtClean="0">
                <a:solidFill>
                  <a:schemeClr val="accent5">
                    <a:lumMod val="50000"/>
                  </a:schemeClr>
                </a:solidFill>
              </a:rPr>
              <a:t>m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ru-RU" dirty="0" smtClean="0"/>
              <a:t>Where </a:t>
            </a:r>
            <a:r>
              <a:rPr lang="ru-RU" altLang="ru-RU" dirty="0" smtClean="0"/>
              <a:t>	</a:t>
            </a:r>
            <a:r>
              <a:rPr lang="en-US" altLang="ru-RU" i="1" dirty="0" err="1" smtClean="0">
                <a:solidFill>
                  <a:schemeClr val="accent5">
                    <a:lumMod val="50000"/>
                  </a:schemeClr>
                </a:solidFill>
              </a:rPr>
              <a:t>m</a:t>
            </a:r>
            <a:r>
              <a:rPr lang="en-US" altLang="ru-RU" dirty="0" err="1" smtClean="0"/>
              <a:t>.length</a:t>
            </a:r>
            <a:r>
              <a:rPr lang="en-US" altLang="ru-RU" dirty="0" smtClean="0"/>
              <a:t> &gt; 1,</a:t>
            </a:r>
            <a:r>
              <a:rPr lang="ru-RU" altLang="ru-RU" dirty="0" smtClean="0"/>
              <a:t>6</a:t>
            </a:r>
          </a:p>
        </p:txBody>
      </p:sp>
      <p:sp>
        <p:nvSpPr>
          <p:cNvPr id="27652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66ABF6D-62E1-4E3B-91E0-E808DAEE9D7F}" type="slidenum">
              <a:rPr lang="ru-RU" altLang="ru-RU" smtClean="0">
                <a:latin typeface="Arial Black" pitchFamily="34" charset="0"/>
              </a:rPr>
              <a:pPr eaLnBrk="1" hangingPunct="1"/>
              <a:t>29</a:t>
            </a:fld>
            <a:endParaRPr lang="ru-RU" altLang="ru-RU" smtClean="0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19200"/>
            <a:ext cx="8229600" cy="1371600"/>
          </a:xfrm>
        </p:spPr>
        <p:txBody>
          <a:bodyPr/>
          <a:lstStyle/>
          <a:p>
            <a:pPr eaLnBrk="1" hangingPunct="1"/>
            <a:r>
              <a:rPr lang="ru-RU" altLang="ru-RU" sz="2800" smtClean="0"/>
              <a:t>Найти названия фильмов с участием актера </a:t>
            </a:r>
            <a:r>
              <a:rPr lang="en-US" altLang="ru-RU" sz="2800" smtClean="0"/>
              <a:t>“Chan”</a:t>
            </a:r>
            <a:r>
              <a:rPr lang="ru-RU" altLang="ru-RU" sz="2800" smtClean="0"/>
              <a:t> и производством на студии </a:t>
            </a:r>
            <a:r>
              <a:rPr lang="en-US" altLang="ru-RU" sz="2800" smtClean="0"/>
              <a:t>“mosfilm</a:t>
            </a:r>
            <a:r>
              <a:rPr lang="en-US" altLang="ru-RU" sz="4000" smtClean="0"/>
              <a:t>”</a:t>
            </a:r>
            <a:endParaRPr lang="ru-RU" altLang="ru-RU" sz="4000" smtClean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743200"/>
            <a:ext cx="8458200" cy="35052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None/>
            </a:pPr>
            <a:r>
              <a:rPr lang="en-US" altLang="ru-RU" dirty="0" smtClean="0"/>
              <a:t>SELECT </a:t>
            </a:r>
            <a:r>
              <a:rPr lang="ru-RU" altLang="ru-RU" dirty="0" smtClean="0"/>
              <a:t>	</a:t>
            </a:r>
            <a:r>
              <a:rPr lang="en-US" altLang="ru-RU" i="1" dirty="0"/>
              <a:t> </a:t>
            </a:r>
            <a:r>
              <a:rPr lang="en-US" altLang="ru-RU" i="1" dirty="0" err="1"/>
              <a:t>m</a:t>
            </a:r>
            <a:r>
              <a:rPr lang="en-US" altLang="ru-RU" dirty="0" err="1" smtClean="0"/>
              <a:t>.title</a:t>
            </a:r>
            <a:endParaRPr lang="en-US" altLang="ru-RU" dirty="0" smtClean="0"/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ru-RU" dirty="0" smtClean="0"/>
              <a:t>FROM </a:t>
            </a:r>
            <a:r>
              <a:rPr lang="ru-RU" altLang="ru-RU" dirty="0" smtClean="0"/>
              <a:t>	</a:t>
            </a:r>
            <a:r>
              <a:rPr lang="en-US" altLang="ru-RU" dirty="0" smtClean="0"/>
              <a:t>Movies </a:t>
            </a:r>
            <a:r>
              <a:rPr lang="en-US" altLang="ru-RU" i="1" dirty="0" smtClean="0">
                <a:solidFill>
                  <a:schemeClr val="accent5">
                    <a:lumMod val="50000"/>
                  </a:schemeClr>
                </a:solidFill>
              </a:rPr>
              <a:t>m</a:t>
            </a:r>
            <a:r>
              <a:rPr lang="en-US" altLang="ru-RU" dirty="0" smtClean="0"/>
              <a:t>, Studios </a:t>
            </a:r>
            <a:r>
              <a:rPr lang="en-US" altLang="ru-RU" i="1" dirty="0" smtClean="0">
                <a:solidFill>
                  <a:schemeClr val="accent5">
                    <a:lumMod val="50000"/>
                  </a:schemeClr>
                </a:solidFill>
              </a:rPr>
              <a:t>s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ru-RU" dirty="0" smtClean="0"/>
              <a:t>WHERE</a:t>
            </a:r>
            <a:r>
              <a:rPr lang="en-US" altLang="ru-RU" i="1" dirty="0" smtClean="0"/>
              <a:t> </a:t>
            </a:r>
            <a:r>
              <a:rPr lang="ru-RU" altLang="ru-RU" i="1" dirty="0" smtClean="0"/>
              <a:t>	</a:t>
            </a:r>
            <a:r>
              <a:rPr lang="en-US" altLang="ru-RU" dirty="0" smtClean="0"/>
              <a:t>“Chan” in</a:t>
            </a:r>
            <a:r>
              <a:rPr lang="en-US" altLang="ru-RU" i="1" dirty="0" smtClean="0"/>
              <a:t> </a:t>
            </a:r>
            <a:r>
              <a:rPr lang="en-US" altLang="ru-RU" i="1" dirty="0" err="1" smtClean="0">
                <a:solidFill>
                  <a:schemeClr val="accent5">
                    <a:lumMod val="50000"/>
                  </a:schemeClr>
                </a:solidFill>
              </a:rPr>
              <a:t>m</a:t>
            </a:r>
            <a:r>
              <a:rPr lang="en-US" altLang="ru-RU" i="1" dirty="0" err="1" smtClean="0"/>
              <a:t>.</a:t>
            </a:r>
            <a:r>
              <a:rPr lang="en-US" altLang="ru-RU" dirty="0" err="1" smtClean="0"/>
              <a:t>Starsof</a:t>
            </a:r>
            <a:r>
              <a:rPr lang="en-US" altLang="ru-RU" dirty="0" smtClean="0"/>
              <a:t> </a:t>
            </a:r>
            <a:r>
              <a:rPr lang="ru-RU" altLang="ru-RU" dirty="0" smtClean="0"/>
              <a:t/>
            </a:r>
            <a:br>
              <a:rPr lang="ru-RU" altLang="ru-RU" dirty="0" smtClean="0"/>
            </a:br>
            <a:r>
              <a:rPr lang="ru-RU" altLang="ru-RU" dirty="0" smtClean="0"/>
              <a:t>		</a:t>
            </a:r>
            <a:r>
              <a:rPr lang="en-US" altLang="ru-RU" dirty="0" smtClean="0"/>
              <a:t>and </a:t>
            </a:r>
            <a:r>
              <a:rPr lang="en-US" altLang="ru-RU" i="1" dirty="0" smtClean="0">
                <a:solidFill>
                  <a:schemeClr val="accent5">
                    <a:lumMod val="50000"/>
                  </a:schemeClr>
                </a:solidFill>
              </a:rPr>
              <a:t>s</a:t>
            </a:r>
            <a:r>
              <a:rPr lang="en-US" altLang="ru-RU" dirty="0" smtClean="0"/>
              <a:t>.name = “</a:t>
            </a:r>
            <a:r>
              <a:rPr lang="en-US" altLang="ru-RU" dirty="0" err="1" smtClean="0"/>
              <a:t>mosfilm</a:t>
            </a:r>
            <a:r>
              <a:rPr lang="en-US" altLang="ru-RU" dirty="0" smtClean="0"/>
              <a:t>”</a:t>
            </a:r>
            <a:r>
              <a:rPr lang="en-US" altLang="ru-RU" i="1" dirty="0" smtClean="0"/>
              <a:t> </a:t>
            </a:r>
            <a:endParaRPr lang="ru-RU" altLang="ru-RU" i="1" dirty="0" smtClean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304800"/>
            <a:ext cx="8229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sz="4400" kern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Запросы</a:t>
            </a:r>
            <a:endParaRPr lang="ru-RU" sz="4400" kern="0" dirty="0">
              <a:solidFill>
                <a:schemeClr val="bg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677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1D3DF0BE-86BE-419D-A361-37E331B6D829}" type="slidenum">
              <a:rPr lang="ru-RU" altLang="ru-RU" smtClean="0">
                <a:latin typeface="Arial Black" pitchFamily="34" charset="0"/>
              </a:rPr>
              <a:pPr eaLnBrk="1" hangingPunct="1"/>
              <a:t>30</a:t>
            </a:fld>
            <a:endParaRPr lang="ru-RU" altLang="ru-RU" smtClean="0">
              <a:latin typeface="Arial Black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3091</TotalTime>
  <Words>4459</Words>
  <Application>Microsoft Office PowerPoint</Application>
  <PresentationFormat>Экран (4:3)</PresentationFormat>
  <Paragraphs>392</Paragraphs>
  <Slides>30</Slides>
  <Notes>18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2" baseType="lpstr">
      <vt:lpstr>Пиксел</vt:lpstr>
      <vt:lpstr>Точечный рисунок</vt:lpstr>
      <vt:lpstr>Объектная модель базы данных</vt:lpstr>
      <vt:lpstr>Предпосылки ООБД</vt:lpstr>
      <vt:lpstr>За и против ООБД</vt:lpstr>
      <vt:lpstr>За и против ООБД</vt:lpstr>
      <vt:lpstr>За и против ООБД</vt:lpstr>
      <vt:lpstr>Консорциум Object Database Management Group (ODMG)</vt:lpstr>
      <vt:lpstr>Стандарты Object Data Management Group </vt:lpstr>
      <vt:lpstr>ODMG-соответствие</vt:lpstr>
      <vt:lpstr>Структура СУОБД</vt:lpstr>
      <vt:lpstr>Концепции объектной модели ODMG</vt:lpstr>
      <vt:lpstr>Компоненты стандарта ODMG</vt:lpstr>
      <vt:lpstr>Объектная модель ODMG</vt:lpstr>
      <vt:lpstr>Объектная модель ODMG</vt:lpstr>
      <vt:lpstr>Объектная модель ODMG</vt:lpstr>
      <vt:lpstr>Язык описания объектов (ODL)</vt:lpstr>
      <vt:lpstr>Типы данных в ODL (базовые)</vt:lpstr>
      <vt:lpstr>Типы данных в ODL (структурные)</vt:lpstr>
      <vt:lpstr>Типы данных в ODL (структурные)</vt:lpstr>
      <vt:lpstr>ER диаграмма</vt:lpstr>
      <vt:lpstr>Слайд 20</vt:lpstr>
      <vt:lpstr>class Movie (extent Movies key(title, year) ) {    attribute string title;    attribute integer year;    attribute integer length;    attribute enum Film {color, blackAndWhite} filmType; };</vt:lpstr>
      <vt:lpstr>Объявление класса Star (структурные типы)</vt:lpstr>
      <vt:lpstr>ER диаграмма</vt:lpstr>
      <vt:lpstr>Объявление связей (n:m, 1:m, m:1)</vt:lpstr>
      <vt:lpstr>Слайд 25</vt:lpstr>
      <vt:lpstr>Слайд 26</vt:lpstr>
      <vt:lpstr>Полное объявление класса Movie на языке ODL</vt:lpstr>
      <vt:lpstr>Язык объектных запросов (OQL)</vt:lpstr>
      <vt:lpstr>Запросы</vt:lpstr>
      <vt:lpstr>Найти названия фильмов с участием актера “Chan” и производством на студии “mosfilm”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Vista</dc:creator>
  <cp:lastModifiedBy>User</cp:lastModifiedBy>
  <cp:revision>98</cp:revision>
  <cp:lastPrinted>1601-01-01T00:00:00Z</cp:lastPrinted>
  <dcterms:created xsi:type="dcterms:W3CDTF">2010-05-11T09:25:46Z</dcterms:created>
  <dcterms:modified xsi:type="dcterms:W3CDTF">2019-12-23T06:35:37Z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