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DE411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7" autoAdjust="0"/>
    <p:restoredTop sz="94684" autoAdjust="0"/>
  </p:normalViewPr>
  <p:slideViewPr>
    <p:cSldViewPr showGuides="1">
      <p:cViewPr varScale="1">
        <p:scale>
          <a:sx n="146" d="100"/>
          <a:sy n="146" d="100"/>
        </p:scale>
        <p:origin x="-90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08"/>
    </p:cViewPr>
  </p:sorterViewPr>
  <p:notesViewPr>
    <p:cSldViewPr>
      <p:cViewPr varScale="1">
        <p:scale>
          <a:sx n="60" d="100"/>
          <a:sy n="60" d="100"/>
        </p:scale>
        <p:origin x="-942" y="-84"/>
      </p:cViewPr>
      <p:guideLst>
        <p:guide orient="horz" pos="2880"/>
        <p:guide pos="216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628D1-01D7-474B-BA3B-AD1B431331D5}" type="datetimeFigureOut">
              <a:rPr lang="ru-RU" smtClean="0"/>
              <a:pPr/>
              <a:t>02.10.2019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3C88C-B42E-436B-BE09-01978B7AF45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5977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8243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8243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824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8243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8243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8243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66F0C-A621-441B-8EC7-E0B13391CF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764A1-BCDA-4256-B3C0-C1DB20A690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1E7DD-D83A-4381-B3E3-D51B760A84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11446-FA0D-405C-9A92-8527083ED4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C3326-291B-456C-B5B5-15E879F7B8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662DF-3430-4E26-9650-87CC4873DF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C8169-50A5-42F1-9A00-2D84471CF5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E068-6B69-42D7-9478-D3F359FE318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C3297-0D14-4C5E-AECF-75988C1C03C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4A121-60DE-499B-9F2F-3287A6E689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86664-0290-4A45-89B6-38548BCDFE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D8EF2-C025-4BC5-9ED0-A773274CD3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80EF11EF-C12A-497E-88E3-CCEE442576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28860" y="1828800"/>
            <a:ext cx="6562740" cy="2209800"/>
          </a:xfrm>
        </p:spPr>
        <p:txBody>
          <a:bodyPr/>
          <a:lstStyle/>
          <a:p>
            <a:pPr eaLnBrk="1" hangingPunct="1"/>
            <a:r>
              <a:rPr lang="ru-RU" dirty="0" smtClean="0"/>
              <a:t>Реляционная модель данных. Часть 2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Дж.Ульман</a:t>
            </a:r>
          </a:p>
          <a:p>
            <a:pPr eaLnBrk="1" hangingPunct="1"/>
            <a:r>
              <a:rPr lang="ru-RU" dirty="0" smtClean="0"/>
              <a:t>Основы систем баз данных</a:t>
            </a:r>
          </a:p>
          <a:p>
            <a:pPr eaLnBrk="1" hangingPunct="1"/>
            <a:r>
              <a:rPr lang="ru-RU" dirty="0" smtClean="0"/>
              <a:t>Глава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1"/>
            <a:ext cx="7416800" cy="811196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Реляционное исчисление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357298"/>
            <a:ext cx="8786842" cy="4572032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200000"/>
              </a:lnSpc>
              <a:buFont typeface="Wingdings" pitchFamily="2" charset="2"/>
              <a:buChar char="v"/>
              <a:defRPr/>
            </a:pPr>
            <a:r>
              <a:rPr lang="ru-RU" sz="4100" dirty="0" smtClean="0"/>
              <a:t>Реляционное исчисление на кортежах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Char char="v"/>
              <a:defRPr/>
            </a:pPr>
            <a:r>
              <a:rPr lang="ru-RU" sz="4100" dirty="0" smtClean="0"/>
              <a:t>Реляционное исчисление на доменах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4100" dirty="0" smtClean="0"/>
              <a:t> 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3800" dirty="0" smtClean="0"/>
              <a:t>В основе лежат понятия математической логики </a:t>
            </a:r>
            <a:r>
              <a:rPr lang="ru-RU" sz="3800" smtClean="0"/>
              <a:t>– исчисление </a:t>
            </a:r>
            <a:r>
              <a:rPr lang="ru-RU" sz="3800" dirty="0" smtClean="0"/>
              <a:t>предикатов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endParaRPr lang="ru-RU" sz="3600" dirty="0"/>
          </a:p>
          <a:p>
            <a:pPr eaLnBrk="1" hangingPunct="1">
              <a:buFont typeface="Wingdings" pitchFamily="2" charset="2"/>
              <a:buChar char="v"/>
              <a:defRPr/>
            </a:pPr>
            <a:endParaRPr lang="ru-RU" sz="3600" dirty="0" smtClean="0"/>
          </a:p>
          <a:p>
            <a:pPr eaLnBrk="1" hangingPunct="1">
              <a:defRPr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111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Реляционное исчисление на кортежах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071546"/>
            <a:ext cx="8597930" cy="5572164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sz="2400" dirty="0" smtClean="0"/>
              <a:t>Выражения реляционного исчисления на кортежах имеют вид: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endParaRPr lang="ru-RU" sz="28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dirty="0" smtClean="0"/>
              <a:t>где</a:t>
            </a:r>
            <a:r>
              <a:rPr lang="ru-RU" sz="2800" dirty="0" smtClean="0"/>
              <a:t> </a:t>
            </a:r>
            <a:r>
              <a:rPr lang="en-US" sz="28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ru-RU" sz="2800" dirty="0" smtClean="0"/>
              <a:t>– </a:t>
            </a:r>
            <a:r>
              <a:rPr lang="ru-RU" sz="2400" dirty="0" smtClean="0"/>
              <a:t>переменная кортеж некоторой фиксированной длины, </a:t>
            </a:r>
            <a:br>
              <a:rPr lang="ru-RU" sz="2400" dirty="0" smtClean="0"/>
            </a:br>
            <a:r>
              <a:rPr lang="ru-RU" sz="2400" dirty="0" smtClean="0"/>
              <a:t>    а </a:t>
            </a:r>
            <a:r>
              <a:rPr lang="el-GR" sz="2400" b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dirty="0" smtClean="0">
                <a:solidFill>
                  <a:schemeClr val="bg2"/>
                </a:solidFill>
                <a:cs typeface="Times New Roman"/>
              </a:rPr>
              <a:t> </a:t>
            </a:r>
            <a:r>
              <a:rPr lang="ru-RU" sz="2400" dirty="0" smtClean="0">
                <a:cs typeface="Times New Roman"/>
              </a:rPr>
              <a:t>– формула, построенная из атомов и совокупности операторов.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b="1" dirty="0" smtClean="0">
                <a:cs typeface="Times New Roman"/>
              </a:rPr>
              <a:t>Семантика выражения </a:t>
            </a:r>
            <a:r>
              <a:rPr lang="ru-RU" sz="2400" dirty="0" smtClean="0">
                <a:cs typeface="Times New Roman"/>
              </a:rPr>
              <a:t>– множество кортежей </a:t>
            </a:r>
            <a:r>
              <a:rPr lang="en-US" sz="24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400" dirty="0" smtClean="0">
                <a:cs typeface="Times New Roman"/>
              </a:rPr>
              <a:t>, удовлетворяющих формулу </a:t>
            </a:r>
            <a:r>
              <a:rPr lang="el-GR" sz="2400" b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b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.</a:t>
            </a:r>
            <a:endParaRPr lang="ru-RU" sz="2400" dirty="0" smtClean="0">
              <a:cs typeface="Times New Roman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ru-RU" sz="2400" dirty="0" smtClean="0">
              <a:cs typeface="Times New Roman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i="1" u="sng" dirty="0" smtClean="0">
                <a:cs typeface="Times New Roman"/>
              </a:rPr>
              <a:t>Атомы</a:t>
            </a:r>
            <a:r>
              <a:rPr lang="ru-RU" sz="2400" dirty="0" smtClean="0">
                <a:cs typeface="Times New Roman"/>
              </a:rPr>
              <a:t> формул </a:t>
            </a:r>
            <a:r>
              <a:rPr lang="el-GR" sz="2400" dirty="0" smtClean="0">
                <a:cs typeface="Times New Roman"/>
              </a:rPr>
              <a:t>φ</a:t>
            </a:r>
            <a:r>
              <a:rPr lang="ru-RU" sz="2400" dirty="0" smtClean="0">
                <a:cs typeface="Times New Roman"/>
              </a:rPr>
              <a:t> могут быть 3 типов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ru-RU" sz="2400" dirty="0" smtClean="0">
              <a:cs typeface="Times New Roman"/>
            </a:endParaRPr>
          </a:p>
          <a:p>
            <a:pPr marL="457200" indent="-457200" eaLnBrk="1" hangingPunct="1">
              <a:lnSpc>
                <a:spcPct val="9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(s)</a:t>
            </a:r>
            <a:r>
              <a:rPr lang="ru-RU" sz="2400" dirty="0" smtClean="0">
                <a:cs typeface="Times New Roman"/>
              </a:rPr>
              <a:t>, где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solidFill>
                  <a:schemeClr val="bg2"/>
                </a:solidFill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– </a:t>
            </a:r>
            <a:r>
              <a:rPr lang="ru-RU" sz="2400" dirty="0" smtClean="0">
                <a:cs typeface="Times New Roman"/>
              </a:rPr>
              <a:t>имя отношения, а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cs typeface="Times New Roman"/>
              </a:rPr>
              <a:t> – </a:t>
            </a:r>
            <a:r>
              <a:rPr lang="ru-RU" sz="2400" dirty="0" smtClean="0">
                <a:cs typeface="Times New Roman"/>
              </a:rPr>
              <a:t>переменная-кортеж</a:t>
            </a:r>
            <a:r>
              <a:rPr lang="en-US" sz="2400" dirty="0" smtClean="0">
                <a:cs typeface="Times New Roman"/>
              </a:rPr>
              <a:t>. </a:t>
            </a:r>
            <a:r>
              <a:rPr lang="ru-RU" sz="2400" dirty="0" smtClean="0">
                <a:cs typeface="Times New Roman"/>
              </a:rPr>
              <a:t>Этот атом означает, что </a:t>
            </a:r>
            <a:r>
              <a:rPr lang="en-US" sz="26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solidFill>
                  <a:schemeClr val="bg2"/>
                </a:solidFill>
                <a:cs typeface="Times New Roman"/>
              </a:rPr>
              <a:t> </a:t>
            </a:r>
            <a:r>
              <a:rPr lang="ru-RU" sz="2400" dirty="0" smtClean="0">
                <a:cs typeface="Times New Roman"/>
              </a:rPr>
              <a:t>есть кортеж в отношении </a:t>
            </a:r>
            <a:r>
              <a:rPr lang="en-US" sz="26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pPr marL="457200" indent="-457200" eaLnBrk="1" hangingPunct="1">
              <a:lnSpc>
                <a:spcPct val="11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sz="26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u[</a:t>
            </a:r>
            <a:r>
              <a:rPr lang="en-US" sz="2600" i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j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]</a:t>
            </a:r>
            <a:r>
              <a:rPr lang="ru-RU" sz="2400" dirty="0" smtClean="0">
                <a:cs typeface="Times New Roman"/>
              </a:rPr>
              <a:t>, где 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cs typeface="Times New Roman"/>
              </a:rPr>
              <a:t> </a:t>
            </a:r>
            <a:r>
              <a:rPr lang="ru-RU" sz="2400" dirty="0" smtClean="0">
                <a:cs typeface="Times New Roman"/>
              </a:rPr>
              <a:t>и </a:t>
            </a:r>
            <a:r>
              <a:rPr 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400" dirty="0" smtClean="0">
                <a:cs typeface="Times New Roman"/>
              </a:rPr>
              <a:t> </a:t>
            </a:r>
            <a:r>
              <a:rPr lang="ru-RU" sz="2400" dirty="0" smtClean="0">
                <a:cs typeface="Times New Roman"/>
              </a:rPr>
              <a:t>являются переменными-кортежами, </a:t>
            </a:r>
            <a:br>
              <a:rPr lang="ru-RU" sz="2400" dirty="0" smtClean="0">
                <a:cs typeface="Times New Roman"/>
              </a:rPr>
            </a:br>
            <a:r>
              <a:rPr lang="ru-RU" sz="2400" dirty="0" smtClean="0">
                <a:cs typeface="Times New Roman"/>
              </a:rPr>
              <a:t>а </a:t>
            </a:r>
            <a:r>
              <a:rPr lang="el-GR" sz="2400" dirty="0" smtClean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000" dirty="0" smtClean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cs typeface="Times New Roman"/>
              </a:rPr>
              <a:t>– </a:t>
            </a:r>
            <a:r>
              <a:rPr lang="ru-RU" sz="2400" dirty="0" smtClean="0">
                <a:cs typeface="Times New Roman"/>
              </a:rPr>
              <a:t>арифметический оператор сравнения ( </a:t>
            </a:r>
            <a:r>
              <a:rPr lang="en-US" sz="2400" dirty="0" smtClean="0">
                <a:cs typeface="Times New Roman"/>
              </a:rPr>
              <a:t>&lt;, &gt;, = </a:t>
            </a:r>
            <a:r>
              <a:rPr lang="ru-RU" sz="2400" dirty="0" smtClean="0">
                <a:cs typeface="Times New Roman"/>
              </a:rPr>
              <a:t> и т.д.) Этот атом означает, что </a:t>
            </a:r>
            <a:r>
              <a:rPr lang="en-US" sz="26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6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26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ый</a:t>
            </a:r>
            <a:r>
              <a:rPr lang="ru-RU" sz="26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cs typeface="Times New Roman" pitchFamily="18" charset="0"/>
              </a:rPr>
              <a:t>компонент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6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cs typeface="Times New Roman" pitchFamily="18" charset="0"/>
              </a:rPr>
              <a:t>находится</a:t>
            </a:r>
            <a:r>
              <a:rPr lang="ru-RU" sz="24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cs typeface="Times New Roman" pitchFamily="18" charset="0"/>
              </a:rPr>
              <a:t>в отношении </a:t>
            </a:r>
            <a:r>
              <a:rPr lang="el-GR" sz="2800" dirty="0" smtClean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000" dirty="0" smtClean="0">
                <a:solidFill>
                  <a:schemeClr val="bg2"/>
                </a:solidFill>
                <a:latin typeface="Times New Roman"/>
                <a:cs typeface="Times New Roman"/>
              </a:rPr>
              <a:t>  </a:t>
            </a:r>
            <a:r>
              <a:rPr lang="ru-RU" sz="2400" dirty="0" smtClean="0">
                <a:cs typeface="Times New Roman"/>
              </a:rPr>
              <a:t>с </a:t>
            </a:r>
            <a:r>
              <a:rPr lang="en-US" sz="2400" i="1" dirty="0" err="1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400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2400" i="1" dirty="0" err="1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ым</a:t>
            </a:r>
            <a:r>
              <a:rPr lang="ru-RU" sz="2400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cs typeface="Times New Roman" pitchFamily="18" charset="0"/>
              </a:rPr>
              <a:t>компонентом </a:t>
            </a:r>
            <a:r>
              <a:rPr lang="en-US" sz="2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</a:t>
            </a:r>
          </a:p>
          <a:p>
            <a:pPr marL="457200" indent="-457200" eaLnBrk="1" hangingPunct="1">
              <a:lnSpc>
                <a:spcPct val="9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sz="24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ru-RU" sz="2800" dirty="0" smtClean="0">
                <a:solidFill>
                  <a:schemeClr val="bg2"/>
                </a:solidFill>
                <a:latin typeface="Times New Roman"/>
                <a:cs typeface="Times New Roman"/>
              </a:rPr>
              <a:t>, </a:t>
            </a:r>
            <a:r>
              <a:rPr lang="ru-RU" sz="2400" dirty="0" smtClean="0">
                <a:cs typeface="Times New Roman"/>
              </a:rPr>
              <a:t>где 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el-GR" sz="2400" dirty="0" smtClean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 smtClean="0">
                <a:solidFill>
                  <a:schemeClr val="bg2"/>
                </a:solidFill>
                <a:latin typeface="Times New Roman"/>
                <a:cs typeface="Times New Roman"/>
              </a:rPr>
              <a:t>– </a:t>
            </a:r>
            <a:r>
              <a:rPr lang="ru-RU" sz="2400" dirty="0" smtClean="0">
                <a:cs typeface="Times New Roman"/>
              </a:rPr>
              <a:t>константа </a:t>
            </a:r>
          </a:p>
          <a:p>
            <a:pPr marL="457200" indent="-457200" eaLnBrk="1" hangingPunct="1">
              <a:lnSpc>
                <a:spcPct val="90000"/>
              </a:lnSpc>
              <a:buClrTx/>
              <a:buSzPct val="90000"/>
              <a:buAutoNum type="arabicPeriod"/>
            </a:pPr>
            <a:endParaRPr lang="en-US" sz="2400" dirty="0" smtClean="0">
              <a:cs typeface="Times New Roman"/>
            </a:endParaRPr>
          </a:p>
          <a:p>
            <a:pPr marL="457200" indent="-457200" eaLnBrk="1" hangingPunct="1">
              <a:lnSpc>
                <a:spcPct val="90000"/>
              </a:lnSpc>
              <a:buClrTx/>
              <a:buSzPct val="90000"/>
              <a:buAutoNum type="arabicPeriod"/>
            </a:pPr>
            <a:endParaRPr lang="ru-RU" sz="2400" dirty="0" smtClean="0">
              <a:solidFill>
                <a:schemeClr val="bg2"/>
              </a:solidFill>
              <a:cs typeface="Times New Roman"/>
            </a:endParaRPr>
          </a:p>
          <a:p>
            <a:pPr marL="457200" indent="-457200" eaLnBrk="1" hangingPunct="1">
              <a:lnSpc>
                <a:spcPct val="90000"/>
              </a:lnSpc>
              <a:buNone/>
            </a:pPr>
            <a:endParaRPr lang="ru-RU" sz="2400" dirty="0" smtClean="0"/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ru-RU" sz="2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0350" y="806450"/>
            <a:ext cx="8669368" cy="5867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dirty="0" smtClean="0"/>
              <a:t>В  </a:t>
            </a:r>
            <a:r>
              <a:rPr lang="ru-RU" sz="3100" dirty="0" smtClean="0"/>
              <a:t>выражениях РИК переменные-кортежи могут быть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</a:rPr>
              <a:t>свободными</a:t>
            </a:r>
            <a:r>
              <a:rPr lang="ru-RU" sz="3100" dirty="0" smtClean="0"/>
              <a:t> или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</a:rPr>
              <a:t>связанными</a:t>
            </a:r>
            <a:r>
              <a:rPr lang="ru-RU" sz="3100" dirty="0" smtClean="0"/>
              <a:t>.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3100" dirty="0" smtClean="0"/>
              <a:t>Переменная связана, если в формуле ей предшествует квантор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</a:t>
            </a:r>
            <a:r>
              <a:rPr lang="ru-RU" sz="3100" dirty="0" smtClean="0">
                <a:cs typeface="Times New Roman"/>
                <a:sym typeface="Symbol"/>
              </a:rPr>
              <a:t> или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ru-RU" sz="3100" b="1" dirty="0" smtClean="0">
                <a:cs typeface="Times New Roman"/>
                <a:sym typeface="Symbol"/>
              </a:rPr>
              <a:t>.</a:t>
            </a:r>
            <a:endParaRPr lang="ru-RU" sz="3100" b="1" dirty="0" smtClean="0"/>
          </a:p>
          <a:p>
            <a:pPr>
              <a:lnSpc>
                <a:spcPct val="120000"/>
              </a:lnSpc>
              <a:buNone/>
            </a:pPr>
            <a:r>
              <a:rPr lang="ru-RU" sz="3100" u="sng" dirty="0" smtClean="0"/>
              <a:t>Формулы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Каждый атом есть формула. Все вхождения переменных-кортежей в атоме являются свободными в этой формуле.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Если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latin typeface="Times New Roman"/>
                <a:cs typeface="Times New Roman"/>
              </a:rPr>
              <a:t>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 smtClean="0">
                <a:cs typeface="Times New Roman"/>
              </a:rPr>
              <a:t>– формулы, то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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,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 </a:t>
            </a:r>
            <a:r>
              <a:rPr lang="ru-RU" sz="3100" dirty="0" smtClean="0">
                <a:cs typeface="Times New Roman"/>
              </a:rPr>
              <a:t>–</a:t>
            </a:r>
            <a:r>
              <a:rPr lang="ru-RU" sz="3100" dirty="0" smtClean="0"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cs typeface="Times New Roman"/>
              </a:rPr>
              <a:t>также формулы. П</a:t>
            </a:r>
            <a:r>
              <a:rPr lang="ru-RU" sz="3100" dirty="0" smtClean="0"/>
              <a:t>еременные-кортежи являются свободными или связанными в построенных формулах точно так же какими он были в исходных формулах.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Если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latin typeface="Times New Roman"/>
                <a:cs typeface="Times New Roman"/>
              </a:rPr>
              <a:t>– </a:t>
            </a:r>
            <a:r>
              <a:rPr lang="ru-RU" sz="3100" dirty="0" smtClean="0">
                <a:cs typeface="Times New Roman"/>
              </a:rPr>
              <a:t>формула, то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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 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cs typeface="Times New Roman"/>
              </a:rPr>
              <a:t>также формула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Если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latin typeface="Times New Roman"/>
                <a:cs typeface="Times New Roman"/>
              </a:rPr>
              <a:t>– </a:t>
            </a:r>
            <a:r>
              <a:rPr lang="ru-RU" sz="3100" dirty="0" smtClean="0">
                <a:cs typeface="Times New Roman"/>
              </a:rPr>
              <a:t>формула, то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 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cs typeface="Times New Roman"/>
              </a:rPr>
              <a:t>также формула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>
                <a:cs typeface="Times New Roman"/>
              </a:rPr>
              <a:t>В формулах могут быть скобки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>
                <a:cs typeface="Times New Roman"/>
              </a:rPr>
              <a:t>Ничто иное не является формулой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35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Реляционное исчисление на кортежах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0685" y="1043735"/>
            <a:ext cx="8686800" cy="5429288"/>
          </a:xfrm>
        </p:spPr>
        <p:txBody>
          <a:bodyPr>
            <a:normAutofit fontScale="92500"/>
          </a:bodyPr>
          <a:lstStyle/>
          <a:p>
            <a:r>
              <a:rPr lang="ru-RU" sz="2800" dirty="0" smtClean="0">
                <a:latin typeface="+mj-lt"/>
              </a:rPr>
              <a:t>Выражение РИК есть выражение вида</a:t>
            </a:r>
          </a:p>
          <a:p>
            <a:pPr algn="ctr">
              <a:buNone/>
            </a:pP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ru-RU" sz="2800" dirty="0" smtClean="0">
                <a:cs typeface="Times New Roman" pitchFamily="18" charset="0"/>
              </a:rPr>
              <a:t>где </a:t>
            </a:r>
            <a:r>
              <a:rPr lang="en-US" sz="3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ru-RU" sz="2800" dirty="0" smtClean="0">
                <a:cs typeface="Times New Roman" pitchFamily="18" charset="0"/>
              </a:rPr>
              <a:t>единственная переменная-кортеж в формуле </a:t>
            </a:r>
            <a:r>
              <a:rPr lang="el-GR" sz="3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ru-RU" u="sng" dirty="0" smtClean="0">
                <a:cs typeface="Times New Roman" pitchFamily="18" charset="0"/>
              </a:rPr>
              <a:t>Примеры выражений РИК для отношений</a:t>
            </a:r>
          </a:p>
          <a:p>
            <a:pPr>
              <a:buNone/>
            </a:pPr>
            <a:r>
              <a:rPr lang="ru-RU" dirty="0" smtClean="0">
                <a:cs typeface="Times New Roman" pitchFamily="18" charset="0"/>
              </a:rPr>
              <a:t>Если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R (t)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 smtClean="0">
                <a:cs typeface="Times New Roman" pitchFamily="18" charset="0"/>
              </a:rPr>
              <a:t>множество кортежей отношения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cs typeface="Times New Roman" pitchFamily="18" charset="0"/>
              </a:rPr>
              <a:t>R</a:t>
            </a:r>
            <a:r>
              <a:rPr lang="ru-RU" dirty="0" smtClean="0">
                <a:cs typeface="Times New Roman" pitchFamily="18" charset="0"/>
              </a:rPr>
              <a:t>, </a:t>
            </a:r>
            <a:br>
              <a:rPr lang="ru-RU" dirty="0" smtClean="0">
                <a:cs typeface="Times New Roman" pitchFamily="18" charset="0"/>
              </a:rPr>
            </a:br>
            <a:r>
              <a:rPr lang="ru-RU" sz="2600" dirty="0" smtClean="0">
                <a:cs typeface="Times New Roman" pitchFamily="18" charset="0"/>
              </a:rPr>
              <a:t>а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S (t) }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 smtClean="0">
                <a:cs typeface="Times New Roman" pitchFamily="18" charset="0"/>
              </a:rPr>
              <a:t>множество кортежей отношения </a:t>
            </a:r>
            <a:r>
              <a:rPr lang="en-US" sz="2800" dirty="0" smtClean="0">
                <a:cs typeface="Times New Roman" pitchFamily="18" charset="0"/>
              </a:rPr>
              <a:t>S</a:t>
            </a:r>
            <a:r>
              <a:rPr lang="ru-RU" sz="2800" dirty="0" smtClean="0">
                <a:cs typeface="Times New Roman" pitchFamily="18" charset="0"/>
              </a:rPr>
              <a:t>, </a:t>
            </a:r>
            <a:r>
              <a:rPr lang="ru-RU" sz="2600" dirty="0" smtClean="0">
                <a:cs typeface="Times New Roman" pitchFamily="18" charset="0"/>
              </a:rPr>
              <a:t>то</a:t>
            </a:r>
          </a:p>
          <a:p>
            <a:r>
              <a:rPr lang="ru-RU" dirty="0" smtClean="0">
                <a:cs typeface="Times New Roman" pitchFamily="18" charset="0"/>
              </a:rPr>
              <a:t>Объединение </a:t>
            </a:r>
            <a:r>
              <a:rPr lang="en-US" dirty="0" smtClean="0">
                <a:cs typeface="Times New Roman" pitchFamily="18" charset="0"/>
              </a:rPr>
              <a:t>R </a:t>
            </a:r>
            <a:r>
              <a:rPr lang="ru-RU" b="1" dirty="0" smtClean="0">
                <a:cs typeface="Times New Roman" pitchFamily="18" charset="0"/>
                <a:sym typeface="Symbol"/>
              </a:rPr>
              <a:t></a:t>
            </a:r>
            <a:r>
              <a:rPr lang="ru-RU" dirty="0" smtClean="0">
                <a:cs typeface="Times New Roman" pitchFamily="18" charset="0"/>
              </a:rPr>
              <a:t> </a:t>
            </a:r>
            <a:r>
              <a:rPr lang="en-US" dirty="0" smtClean="0">
                <a:cs typeface="Times New Roman" pitchFamily="18" charset="0"/>
              </a:rPr>
              <a:t>S </a:t>
            </a:r>
            <a:r>
              <a:rPr lang="ru-RU" dirty="0" smtClean="0">
                <a:cs typeface="Times New Roman" pitchFamily="18" charset="0"/>
              </a:rPr>
              <a:t>выражается как</a:t>
            </a:r>
            <a:br>
              <a:rPr lang="ru-RU" dirty="0" smtClean="0">
                <a:cs typeface="Times New Roman" pitchFamily="18" charset="0"/>
              </a:rPr>
            </a:br>
            <a:r>
              <a:rPr lang="en-US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R (t)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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 (t) }</a:t>
            </a:r>
          </a:p>
          <a:p>
            <a:r>
              <a:rPr lang="ru-RU" dirty="0" smtClean="0">
                <a:cs typeface="Times New Roman" pitchFamily="18" charset="0"/>
              </a:rPr>
              <a:t>Разность </a:t>
            </a:r>
            <a:r>
              <a:rPr lang="en-US" dirty="0" smtClean="0">
                <a:cs typeface="Times New Roman" pitchFamily="18" charset="0"/>
              </a:rPr>
              <a:t>R </a:t>
            </a:r>
            <a:r>
              <a:rPr lang="ru-RU" dirty="0" smtClean="0">
                <a:cs typeface="Times New Roman" pitchFamily="18" charset="0"/>
                <a:sym typeface="Symbol"/>
              </a:rPr>
              <a:t>\</a:t>
            </a:r>
            <a:r>
              <a:rPr lang="ru-RU" dirty="0" smtClean="0">
                <a:cs typeface="Times New Roman" pitchFamily="18" charset="0"/>
              </a:rPr>
              <a:t> </a:t>
            </a:r>
            <a:r>
              <a:rPr lang="en-US" dirty="0" smtClean="0">
                <a:cs typeface="Times New Roman" pitchFamily="18" charset="0"/>
              </a:rPr>
              <a:t>S </a:t>
            </a:r>
            <a:r>
              <a:rPr lang="ru-RU" dirty="0" smtClean="0">
                <a:cs typeface="Times New Roman" pitchFamily="18" charset="0"/>
              </a:rPr>
              <a:t>выражается как</a:t>
            </a:r>
            <a:br>
              <a:rPr lang="ru-RU" dirty="0" smtClean="0">
                <a:cs typeface="Times New Roman" pitchFamily="18" charset="0"/>
              </a:rPr>
            </a:br>
            <a:r>
              <a:rPr lang="en-US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R (t)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 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 (t) }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111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Реляционное исчисление на кортежах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17600"/>
            <a:ext cx="9144000" cy="54229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2800" dirty="0" smtClean="0"/>
              <a:t>Ранее определенное РИК может представлять </a:t>
            </a:r>
            <a:r>
              <a:rPr lang="ru-RU" sz="2800" b="1" dirty="0" smtClean="0"/>
              <a:t>бесконечные</a:t>
            </a:r>
            <a:r>
              <a:rPr lang="ru-RU" sz="2800" dirty="0" smtClean="0"/>
              <a:t> отношения.</a:t>
            </a:r>
          </a:p>
          <a:p>
            <a:pPr>
              <a:spcBef>
                <a:spcPts val="1200"/>
              </a:spcBef>
            </a:pPr>
            <a:r>
              <a:rPr lang="ru-RU" sz="2800" dirty="0" smtClean="0"/>
              <a:t>Пример </a:t>
            </a:r>
            <a:r>
              <a:rPr lang="en-US" sz="28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 (t)}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ru-RU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cs typeface="Times New Roman" pitchFamily="18" charset="0"/>
              </a:rPr>
              <a:t>Означает множество кортежей длины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800" dirty="0" smtClean="0">
                <a:cs typeface="Times New Roman" pitchFamily="18" charset="0"/>
              </a:rPr>
              <a:t>, но не принадлежащих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800" dirty="0" smtClean="0">
                <a:cs typeface="Times New Roman" pitchFamily="18" charset="0"/>
              </a:rPr>
              <a:t> . </a:t>
            </a:r>
            <a:br>
              <a:rPr lang="ru-RU" sz="2800" dirty="0" smtClean="0">
                <a:cs typeface="Times New Roman" pitchFamily="18" charset="0"/>
              </a:rPr>
            </a:br>
            <a:r>
              <a:rPr lang="ru-RU" sz="2800" dirty="0" smtClean="0">
                <a:cs typeface="Times New Roman" pitchFamily="18" charset="0"/>
              </a:rPr>
              <a:t>Так как НЕ ВОЗМОЖНО перечислить все такие кортежи (над каким доменом?) рассматривают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безопасные </a:t>
            </a:r>
            <a:r>
              <a:rPr lang="ru-RU" sz="2800" dirty="0" smtClean="0">
                <a:cs typeface="Times New Roman" pitchFamily="18" charset="0"/>
              </a:rPr>
              <a:t>выражения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r>
              <a:rPr lang="ru-RU" dirty="0" smtClean="0">
                <a:cs typeface="Times New Roman" pitchFamily="18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ru-RU" sz="2800" dirty="0" smtClean="0"/>
              <a:t>Для таких выражений можно продемонстрировать, что каждый компонент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800" dirty="0" smtClean="0"/>
              <a:t>, удовлетворяющий </a:t>
            </a:r>
            <a:r>
              <a:rPr lang="el-GR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 smtClean="0">
                <a:cs typeface="Times New Roman" pitchFamily="18" charset="0"/>
              </a:rPr>
              <a:t>принадлежит конечному множеству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endParaRPr lang="ru-RU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635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Ограничение реляционного исчисления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00108"/>
            <a:ext cx="9143999" cy="574126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4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400" dirty="0" smtClean="0">
                <a:cs typeface="Times New Roman" pitchFamily="18" charset="0"/>
              </a:rPr>
              <a:t>определяется как </a:t>
            </a:r>
            <a:r>
              <a:rPr lang="ru-RU" sz="3400" dirty="0" smtClean="0">
                <a:solidFill>
                  <a:srgbClr val="C00000"/>
                </a:solidFill>
                <a:cs typeface="Times New Roman" pitchFamily="18" charset="0"/>
              </a:rPr>
              <a:t>множество</a:t>
            </a:r>
            <a:r>
              <a:rPr lang="ru-RU" sz="3400" dirty="0" smtClean="0">
                <a:cs typeface="Times New Roman" pitchFamily="18" charset="0"/>
              </a:rPr>
              <a:t> всех </a:t>
            </a:r>
            <a:r>
              <a:rPr lang="ru-RU" sz="3400" dirty="0" smtClean="0">
                <a:solidFill>
                  <a:srgbClr val="C00000"/>
                </a:solidFill>
                <a:cs typeface="Times New Roman" pitchFamily="18" charset="0"/>
              </a:rPr>
              <a:t>символов</a:t>
            </a:r>
            <a:r>
              <a:rPr lang="ru-RU" sz="3400" dirty="0" smtClean="0">
                <a:cs typeface="Times New Roman" pitchFamily="18" charset="0"/>
              </a:rPr>
              <a:t>,</a:t>
            </a:r>
            <a:r>
              <a:rPr lang="ru-RU" sz="3400" dirty="0" smtClean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ru-RU" sz="3400" dirty="0" smtClean="0">
                <a:cs typeface="Times New Roman" pitchFamily="18" charset="0"/>
              </a:rPr>
              <a:t>которые либо </a:t>
            </a:r>
            <a:r>
              <a:rPr lang="ru-RU" sz="3400" b="1" dirty="0" smtClean="0">
                <a:cs typeface="Times New Roman" pitchFamily="18" charset="0"/>
              </a:rPr>
              <a:t>явно упоминаются </a:t>
            </a:r>
            <a:r>
              <a:rPr lang="ru-RU" sz="3400" dirty="0" smtClean="0">
                <a:cs typeface="Times New Roman" pitchFamily="18" charset="0"/>
              </a:rPr>
              <a:t>в </a:t>
            </a:r>
            <a:r>
              <a:rPr lang="el-GR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400" dirty="0" smtClean="0">
                <a:cs typeface="Times New Roman" pitchFamily="18" charset="0"/>
              </a:rPr>
              <a:t>,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 smtClean="0">
                <a:cs typeface="Times New Roman" pitchFamily="18" charset="0"/>
              </a:rPr>
              <a:t>либо служат </a:t>
            </a:r>
            <a:r>
              <a:rPr lang="ru-RU" sz="3400" b="1" dirty="0" smtClean="0">
                <a:cs typeface="Times New Roman" pitchFamily="18" charset="0"/>
              </a:rPr>
              <a:t>компонентами кортежей отношений упоминаемых</a:t>
            </a:r>
            <a:r>
              <a:rPr lang="ru-RU" sz="3400" dirty="0" smtClean="0">
                <a:cs typeface="Times New Roman" pitchFamily="18" charset="0"/>
              </a:rPr>
              <a:t> в </a:t>
            </a:r>
            <a:r>
              <a:rPr lang="el-GR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400" dirty="0" smtClean="0">
              <a:solidFill>
                <a:schemeClr val="accent1">
                  <a:lumMod val="50000"/>
                </a:schemeClr>
              </a:solidFill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3400" dirty="0" smtClean="0">
                <a:cs typeface="Times New Roman" pitchFamily="18" charset="0"/>
              </a:rPr>
              <a:t>Заметим, что 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4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400" dirty="0" smtClean="0">
                <a:cs typeface="Times New Roman" pitchFamily="18" charset="0"/>
              </a:rPr>
              <a:t>определяется не в зависимости от вида </a:t>
            </a:r>
            <a:r>
              <a:rPr lang="el-GR" sz="4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400" dirty="0" smtClean="0">
                <a:cs typeface="Times New Roman" pitchFamily="18" charset="0"/>
              </a:rPr>
              <a:t>а как </a:t>
            </a:r>
            <a:r>
              <a:rPr lang="ru-RU" sz="3400" b="1" dirty="0" smtClean="0">
                <a:cs typeface="Times New Roman" pitchFamily="18" charset="0"/>
              </a:rPr>
              <a:t>функция  фактических отношений</a:t>
            </a:r>
            <a:r>
              <a:rPr lang="ru-RU" sz="3400" dirty="0" smtClean="0">
                <a:cs typeface="Times New Roman" pitchFamily="18" charset="0"/>
              </a:rPr>
              <a:t>, которые должны подставляться вместо переменных отношений в </a:t>
            </a:r>
            <a:r>
              <a:rPr lang="el-GR" sz="4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endParaRPr lang="ru-RU" sz="40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3400" dirty="0" smtClean="0">
                <a:cs typeface="Times New Roman" pitchFamily="18" charset="0"/>
              </a:rPr>
              <a:t>Так как все отношения – конечны, то и 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400" dirty="0" smtClean="0">
                <a:cs typeface="Times New Roman" pitchFamily="18" charset="0"/>
              </a:rPr>
              <a:t>- всегда </a:t>
            </a:r>
            <a:r>
              <a:rPr lang="ru-RU" sz="3400" b="1" dirty="0" smtClean="0">
                <a:cs typeface="Times New Roman" pitchFamily="18" charset="0"/>
              </a:rPr>
              <a:t>конечно</a:t>
            </a:r>
            <a:r>
              <a:rPr lang="ru-RU" sz="3400" dirty="0" smtClean="0"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ru-RU" u="sng" dirty="0" smtClean="0"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u="sng" dirty="0" smtClean="0">
                <a:cs typeface="Times New Roman" pitchFamily="18" charset="0"/>
              </a:rPr>
              <a:t>Пример</a:t>
            </a:r>
            <a:r>
              <a:rPr lang="ru-RU" dirty="0" smtClean="0">
                <a:cs typeface="Times New Roman" pitchFamily="18" charset="0"/>
              </a:rPr>
              <a:t> Пусть </a:t>
            </a:r>
            <a:r>
              <a:rPr lang="el-GR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имеет вид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t[1]=a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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R(t)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3100" dirty="0" smtClean="0">
                <a:cs typeface="Times New Roman" pitchFamily="18" charset="0"/>
                <a:sym typeface="Symbol"/>
              </a:rPr>
              <a:t>  где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R(A,B)</a:t>
            </a:r>
            <a:r>
              <a:rPr lang="en-US" sz="3100" dirty="0" smtClean="0">
                <a:cs typeface="Times New Roman" pitchFamily="18" charset="0"/>
                <a:sym typeface="Symbol"/>
              </a:rPr>
              <a:t> </a:t>
            </a:r>
            <a:r>
              <a:rPr lang="ru-RU" sz="3100" dirty="0" smtClean="0">
                <a:cs typeface="Times New Roman" pitchFamily="18" charset="0"/>
                <a:sym typeface="Symbol"/>
              </a:rPr>
              <a:t>– бинарное отношение,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 smtClean="0">
                <a:cs typeface="Times New Roman" pitchFamily="18" charset="0"/>
                <a:sym typeface="Symbol"/>
              </a:rPr>
              <a:t>  тогда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 </a:t>
            </a:r>
            <a:r>
              <a:rPr lang="ru-RU" dirty="0" smtClean="0">
                <a:cs typeface="Times New Roman" pitchFamily="18" charset="0"/>
                <a:sym typeface="Symbol"/>
              </a:rPr>
              <a:t>есть унарное отношение </a:t>
            </a:r>
            <a:r>
              <a:rPr lang="en-US" dirty="0" smtClean="0">
                <a:cs typeface="Times New Roman" pitchFamily="18" charset="0"/>
                <a:sym typeface="Symbol"/>
              </a:rPr>
              <a:t>  {a}  </a:t>
            </a:r>
            <a:r>
              <a:rPr lang="el-GR" dirty="0" smtClean="0">
                <a:latin typeface="Times New Roman"/>
                <a:cs typeface="Times New Roman"/>
                <a:sym typeface="Symbol"/>
              </a:rPr>
              <a:t>π</a:t>
            </a:r>
            <a:r>
              <a:rPr lang="en-US" baseline="-25000" dirty="0" smtClean="0">
                <a:latin typeface="Times New Roman"/>
                <a:cs typeface="Times New Roman"/>
                <a:sym typeface="Symbol"/>
              </a:rPr>
              <a:t>A</a:t>
            </a:r>
            <a:r>
              <a:rPr lang="en-US" dirty="0" smtClean="0">
                <a:latin typeface="Times New Roman"/>
                <a:cs typeface="Times New Roman"/>
                <a:sym typeface="Symbol"/>
              </a:rPr>
              <a:t>(R) </a:t>
            </a:r>
            <a:r>
              <a:rPr lang="en-US" dirty="0" smtClean="0">
                <a:cs typeface="Times New Roman" pitchFamily="18" charset="0"/>
                <a:sym typeface="Symbol"/>
              </a:rPr>
              <a:t> </a:t>
            </a:r>
            <a:r>
              <a:rPr lang="el-GR" dirty="0" smtClean="0">
                <a:latin typeface="Times New Roman"/>
                <a:cs typeface="Times New Roman"/>
                <a:sym typeface="Symbol"/>
              </a:rPr>
              <a:t>π</a:t>
            </a:r>
            <a:r>
              <a:rPr lang="en-US" baseline="-25000" dirty="0" smtClean="0">
                <a:latin typeface="Times New Roman"/>
                <a:cs typeface="Times New Roman"/>
                <a:sym typeface="Symbol"/>
              </a:rPr>
              <a:t>B</a:t>
            </a:r>
            <a:r>
              <a:rPr lang="en-US" dirty="0" smtClean="0">
                <a:latin typeface="Times New Roman"/>
                <a:cs typeface="Times New Roman"/>
                <a:sym typeface="Symbol"/>
              </a:rPr>
              <a:t>(R) </a:t>
            </a:r>
            <a:endParaRPr lang="ru-RU" dirty="0" smtClean="0">
              <a:cs typeface="Times New Roman" pitchFamily="18" charset="0"/>
              <a:sym typeface="Symbol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111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Ограничение реляционного исчисления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856984" cy="5544616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 smtClean="0"/>
              <a:t>Выражение </a:t>
            </a:r>
            <a:r>
              <a:rPr lang="ru-RU" dirty="0"/>
              <a:t>РИК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называется безопасным если удовлетворяются следующие условия:</a:t>
            </a: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 smtClean="0"/>
              <a:t>Всякий раз, когда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удовлетворяет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, </a:t>
            </a:r>
            <a:r>
              <a:rPr lang="ru-RU" dirty="0" smtClean="0">
                <a:solidFill>
                  <a:srgbClr val="C00000"/>
                </a:solidFill>
              </a:rPr>
              <a:t>каждый</a:t>
            </a:r>
            <a:r>
              <a:rPr lang="ru-RU" dirty="0" smtClean="0"/>
              <a:t> </a:t>
            </a:r>
            <a:r>
              <a:rPr lang="ru-RU" dirty="0" smtClean="0">
                <a:solidFill>
                  <a:srgbClr val="C00000"/>
                </a:solidFill>
              </a:rPr>
              <a:t>компонент</a:t>
            </a:r>
            <a:r>
              <a:rPr lang="ru-RU" dirty="0" smtClean="0"/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dirty="0" smtClean="0"/>
              <a:t> есть элемент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endParaRPr lang="ru-RU" dirty="0" smtClean="0">
              <a:solidFill>
                <a:schemeClr val="accent1">
                  <a:lumMod val="50000"/>
                </a:schemeClr>
              </a:solidFill>
              <a:cs typeface="Times New Roman" pitchFamily="18" charset="0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 smtClean="0">
                <a:cs typeface="Times New Roman" pitchFamily="18" charset="0"/>
              </a:rPr>
              <a:t>Для любого подвыражения </a:t>
            </a:r>
            <a:r>
              <a:rPr lang="el-GR" sz="3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cs typeface="Times New Roman" pitchFamily="18" charset="0"/>
              </a:rPr>
              <a:t>вида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 smtClean="0">
                <a:cs typeface="Times New Roman" pitchFamily="18" charset="0"/>
              </a:rPr>
              <a:t>каждый компонент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 smtClean="0">
                <a:cs typeface="Times New Roman" pitchFamily="18" charset="0"/>
              </a:rPr>
              <a:t> принадлежит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 smtClean="0">
                <a:cs typeface="Times New Roman" pitchFamily="18" charset="0"/>
              </a:rPr>
              <a:t>, если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 smtClean="0">
                <a:cs typeface="Times New Roman" pitchFamily="18" charset="0"/>
              </a:rPr>
              <a:t> удовлетворяет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endParaRPr lang="ru-RU" dirty="0" smtClean="0">
              <a:cs typeface="Times New Roman" pitchFamily="18" charset="0"/>
              <a:sym typeface="Symbol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 smtClean="0">
                <a:cs typeface="Times New Roman" pitchFamily="18" charset="0"/>
                <a:sym typeface="Symbol"/>
              </a:rPr>
              <a:t>Если д</a:t>
            </a:r>
            <a:r>
              <a:rPr lang="ru-RU" dirty="0" smtClean="0">
                <a:cs typeface="Times New Roman" pitchFamily="18" charset="0"/>
              </a:rPr>
              <a:t>ля </a:t>
            </a:r>
            <a:r>
              <a:rPr lang="ru-RU" dirty="0">
                <a:cs typeface="Times New Roman" pitchFamily="18" charset="0"/>
              </a:rPr>
              <a:t>любого подвыражения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cs typeface="Times New Roman" pitchFamily="18" charset="0"/>
              </a:rPr>
              <a:t>вида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 pitchFamily="18" charset="0"/>
              </a:rPr>
              <a:t>каждый компонент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не принадлежит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>
                <a:cs typeface="Times New Roman" pitchFamily="18" charset="0"/>
              </a:rPr>
              <a:t>, </a:t>
            </a:r>
            <a:r>
              <a:rPr lang="ru-RU" dirty="0" smtClean="0">
                <a:cs typeface="Times New Roman" pitchFamily="18" charset="0"/>
              </a:rPr>
              <a:t>то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>
                <a:cs typeface="Times New Roman" pitchFamily="18" charset="0"/>
              </a:rPr>
              <a:t> удовлетворяет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endParaRPr lang="ru-RU" sz="4000" dirty="0" smtClean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  <a:sym typeface="Symbol"/>
            </a:endParaRPr>
          </a:p>
          <a:p>
            <a:pPr marL="0" indent="0">
              <a:lnSpc>
                <a:spcPct val="120000"/>
              </a:lnSpc>
              <a:buClrTx/>
              <a:buNone/>
            </a:pPr>
            <a:r>
              <a:rPr lang="ru-RU" dirty="0" smtClean="0">
                <a:cs typeface="Times New Roman"/>
                <a:sym typeface="Symbol"/>
              </a:rPr>
              <a:t>Условия 2,3 позволяют устанавливать истинность формул вида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 smtClean="0">
                <a:cs typeface="Times New Roman"/>
              </a:rPr>
              <a:t>или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)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 smtClean="0">
                <a:cs typeface="Times New Roman"/>
              </a:rPr>
              <a:t>, рассматривая только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 smtClean="0">
                <a:cs typeface="Times New Roman"/>
              </a:rPr>
              <a:t>, составленные из принадлежащих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 smtClean="0">
                <a:cs typeface="Times New Roman"/>
              </a:rPr>
              <a:t> символов</a:t>
            </a:r>
            <a:endParaRPr lang="ru-RU" dirty="0">
              <a:cs typeface="Times New Roman"/>
              <a:sym typeface="Symbol"/>
            </a:endParaRPr>
          </a:p>
          <a:p>
            <a:pPr marL="0" indent="0">
              <a:lnSpc>
                <a:spcPct val="120000"/>
              </a:lnSpc>
              <a:buClrTx/>
              <a:buNone/>
            </a:pPr>
            <a:r>
              <a:rPr lang="ru-RU" u="sng" dirty="0" smtClean="0">
                <a:cs typeface="Times New Roman"/>
                <a:sym typeface="Symbol"/>
              </a:rPr>
              <a:t>Примеры </a:t>
            </a:r>
            <a:endParaRPr lang="ru-RU" u="sng" dirty="0" smtClean="0">
              <a:cs typeface="Times New Roman" pitchFamily="18" charset="0"/>
              <a:sym typeface="Symbol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>
                <a:cs typeface="Times New Roman"/>
                <a:sym typeface="Symbol"/>
              </a:rPr>
              <a:t>Любая формула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u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R(u)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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…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 smtClean="0">
                <a:cs typeface="Times New Roman"/>
              </a:rPr>
              <a:t>удовлетворяет условию 2</a:t>
            </a:r>
          </a:p>
          <a:p>
            <a:pPr marL="514350" indent="-514350">
              <a:lnSpc>
                <a:spcPct val="120000"/>
              </a:lnSpc>
              <a:buClrTx/>
              <a:buFont typeface="Wingdings" pitchFamily="2" charset="2"/>
              <a:buAutoNum type="arabicPeriod"/>
            </a:pPr>
            <a:r>
              <a:rPr lang="ru-RU" dirty="0">
                <a:cs typeface="Times New Roman"/>
                <a:sym typeface="Symbol"/>
              </a:rPr>
              <a:t>Любая </a:t>
            </a:r>
            <a:r>
              <a:rPr lang="ru-RU" dirty="0" smtClean="0">
                <a:cs typeface="Times New Roman"/>
                <a:sym typeface="Symbol"/>
              </a:rPr>
              <a:t>формула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R(u)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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…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/>
              </a:rPr>
              <a:t>удовлетворяет условию </a:t>
            </a:r>
            <a:r>
              <a:rPr lang="en-US" dirty="0" smtClean="0">
                <a:cs typeface="Times New Roman"/>
              </a:rPr>
              <a:t>3</a:t>
            </a:r>
          </a:p>
          <a:p>
            <a:pPr marL="514350" indent="-514350">
              <a:lnSpc>
                <a:spcPct val="120000"/>
              </a:lnSpc>
              <a:buClrTx/>
              <a:buFont typeface="Wingdings" pitchFamily="2" charset="2"/>
              <a:buAutoNum type="arabicPeriod"/>
            </a:pPr>
            <a:endParaRPr lang="ru-RU" dirty="0">
              <a:cs typeface="Times New Roman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endParaRPr lang="ru-RU" dirty="0">
              <a:cs typeface="Times New Roman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Безопасные выражения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5665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80728"/>
            <a:ext cx="8856984" cy="561662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ru-RU" sz="3000" dirty="0" smtClean="0"/>
              <a:t>Хотя условие 3 может показаться не интуитивным, заметим, что 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(u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3000" dirty="0" smtClean="0"/>
              <a:t>логически эквивалента 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(u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)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endParaRPr lang="ru-RU" sz="3000" dirty="0" smtClean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ru-RU" sz="3000" dirty="0"/>
              <a:t>Последняя </a:t>
            </a:r>
            <a:r>
              <a:rPr lang="ru-RU" sz="3000" dirty="0" smtClean="0"/>
              <a:t>не является безопасной т. и т. т. когда существует некоторое 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30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0</a:t>
            </a:r>
            <a:r>
              <a:rPr lang="ru-RU" sz="3000" dirty="0" smtClean="0">
                <a:sym typeface="Symbol"/>
              </a:rPr>
              <a:t>, для которого истинно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(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sz="30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0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)</a:t>
            </a:r>
            <a:r>
              <a:rPr lang="ru-RU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>
                <a:sym typeface="Symbol"/>
              </a:rPr>
              <a:t>и</a:t>
            </a:r>
            <a:r>
              <a:rPr lang="ru-RU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sz="30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0 </a:t>
            </a:r>
            <a:r>
              <a:rPr lang="ru-RU" sz="3000" dirty="0">
                <a:sym typeface="Symbol"/>
              </a:rPr>
              <a:t>не</a:t>
            </a:r>
            <a:r>
              <a:rPr lang="ru-RU" sz="30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 smtClean="0">
                <a:sym typeface="Symbol"/>
              </a:rPr>
              <a:t>принадлежит домену формулы 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ru-RU" sz="3000" dirty="0" smtClean="0">
                <a:sym typeface="Symbol"/>
              </a:rPr>
              <a:t>Так как домены 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 </a:t>
            </a:r>
            <a:r>
              <a:rPr lang="ru-RU" sz="3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>
                <a:sym typeface="Symbol"/>
              </a:rPr>
              <a:t>и 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 smtClean="0">
                <a:sym typeface="Symbol"/>
              </a:rPr>
              <a:t>совпадают, то условие 3 устанавливает, что формула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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u((u)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3000" dirty="0" smtClean="0"/>
              <a:t>безопасна, когда безопасна формула 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ru-RU" sz="30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endParaRPr lang="ru-RU" sz="30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endParaRPr lang="ru-RU" dirty="0"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Безопасные выражения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9346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515" y="895350"/>
            <a:ext cx="9144000" cy="5702002"/>
          </a:xfrm>
        </p:spPr>
        <p:txBody>
          <a:bodyPr lIns="36000" tIns="36000" rIns="36000" bIns="36000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u="sng" dirty="0" smtClean="0"/>
              <a:t>Теорема.</a:t>
            </a:r>
            <a:r>
              <a:rPr lang="ru-RU" dirty="0" smtClean="0"/>
              <a:t> Если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 smtClean="0"/>
              <a:t>– выражение реляционной алгебры, то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существует эквивалентное </a:t>
            </a:r>
            <a:r>
              <a:rPr lang="ru-RU" dirty="0" smtClean="0"/>
              <a:t>ему безопасное выражение в реляционном исчислении с переменными-кортежами.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u="sng" dirty="0" smtClean="0"/>
              <a:t>Доказательство.</a:t>
            </a:r>
            <a:r>
              <a:rPr lang="ru-RU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Индукция по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числу вхождений операторов</a:t>
            </a:r>
            <a:r>
              <a:rPr lang="ru-RU" dirty="0" smtClean="0"/>
              <a:t> в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/>
              <a:t>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u="sng" dirty="0" smtClean="0"/>
              <a:t>Базис.</a:t>
            </a:r>
            <a:r>
              <a:rPr lang="ru-RU" dirty="0" smtClean="0"/>
              <a:t> Нуль операторов.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Тогда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dirty="0" smtClean="0"/>
              <a:t> – либо постоянное выражение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t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…,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}, </a:t>
            </a:r>
            <a:r>
              <a:rPr lang="ru-RU" dirty="0" smtClean="0"/>
              <a:t>либо переменная </a:t>
            </a:r>
            <a:r>
              <a:rPr lang="en-US" dirty="0" smtClean="0"/>
              <a:t>R</a:t>
            </a:r>
            <a:r>
              <a:rPr lang="ru-RU" dirty="0" smtClean="0"/>
              <a:t>, обозначающая отношение.</a:t>
            </a:r>
            <a:endParaRPr lang="en-US" dirty="0" smtClean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В последнем случае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dirty="0" smtClean="0"/>
              <a:t> эквивалентно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)}</a:t>
            </a:r>
            <a:r>
              <a:rPr lang="ru-RU" dirty="0" smtClean="0">
                <a:cs typeface="Times New Roman" pitchFamily="18" charset="0"/>
              </a:rPr>
              <a:t>, которое безопасно.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>
                <a:cs typeface="Times New Roman" pitchFamily="18" charset="0"/>
              </a:rPr>
              <a:t>В первом случае Е эквивале</a:t>
            </a:r>
            <a:r>
              <a:rPr lang="ru-RU" dirty="0">
                <a:cs typeface="Times New Roman" pitchFamily="18" charset="0"/>
              </a:rPr>
              <a:t>н</a:t>
            </a:r>
            <a:r>
              <a:rPr lang="ru-RU" dirty="0" smtClean="0">
                <a:cs typeface="Times New Roman" pitchFamily="18" charset="0"/>
              </a:rPr>
              <a:t>тно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t=t</a:t>
            </a:r>
            <a:r>
              <a:rPr lang="en-US" i="1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t=t</a:t>
            </a:r>
            <a:r>
              <a:rPr lang="en-US" i="1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t=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}, </a:t>
            </a:r>
            <a:r>
              <a:rPr lang="ru-RU" dirty="0" smtClean="0"/>
              <a:t>где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t=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/>
              <a:t> </a:t>
            </a:r>
            <a:r>
              <a:rPr lang="en-US" dirty="0" smtClean="0"/>
              <a:t>– </a:t>
            </a:r>
            <a:r>
              <a:rPr lang="ru-RU" dirty="0" smtClean="0"/>
              <a:t>краткая запись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t[1]=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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t[2]=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[2]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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…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t[k]=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[k]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&lt;=</a:t>
            </a:r>
            <a:r>
              <a:rPr lang="en-US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&lt;=n</a:t>
            </a:r>
            <a:endParaRPr lang="ru-RU" i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85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11933"/>
            <a:ext cx="8856984" cy="585742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 smtClean="0"/>
              <a:t>Индукция.</a:t>
            </a:r>
            <a:r>
              <a:rPr lang="ru-RU" dirty="0" smtClean="0"/>
              <a:t> Предположим, что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 smtClean="0"/>
              <a:t>имеет не менее одного оператора и теорема истинна для выражений с числом вхождений операторов меньшим, чем в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Случай 1</a:t>
            </a:r>
            <a:r>
              <a:rPr lang="ru-RU" dirty="0" smtClean="0">
                <a:cs typeface="Times New Roman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Е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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 smtClean="0"/>
              <a:t>Пусть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3100" dirty="0" smtClean="0"/>
              <a:t>эквивалентно безопасному выражению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31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 smtClean="0"/>
              <a:t>Пусть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sz="3100" dirty="0"/>
              <a:t>эквивалентно безопасному выражению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31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 smtClean="0"/>
              <a:t>Тогда для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100" dirty="0"/>
              <a:t>строим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100" dirty="0" smtClean="0"/>
              <a:t>эквивалентное выражение</a:t>
            </a:r>
            <a:endParaRPr lang="en-US" sz="3100" dirty="0" smtClean="0"/>
          </a:p>
          <a:p>
            <a:pPr marL="0" indent="0" algn="ctr">
              <a:lnSpc>
                <a:spcPct val="110000"/>
              </a:lnSpc>
              <a:buNone/>
            </a:pP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)}</a:t>
            </a:r>
            <a:r>
              <a:rPr lang="ru-RU" sz="3100" dirty="0" smtClean="0">
                <a:cs typeface="Times New Roman" pitchFamily="18" charset="0"/>
                <a:sym typeface="Symbol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 smtClean="0">
                <a:cs typeface="Times New Roman" pitchFamily="18" charset="0"/>
                <a:sym typeface="Symbol"/>
              </a:rPr>
              <a:t>Если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100" dirty="0" smtClean="0">
                <a:sym typeface="Symbol"/>
              </a:rPr>
              <a:t>удовлетворяет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100" dirty="0" smtClean="0">
                <a:cs typeface="Times New Roman" pitchFamily="18" charset="0"/>
                <a:sym typeface="Symbol"/>
              </a:rPr>
              <a:t>, то каждый компонент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100" dirty="0">
                <a:sym typeface="Symbol"/>
              </a:rPr>
              <a:t>принадлежит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100" dirty="0" smtClean="0">
                <a:cs typeface="Times New Roman" pitchFamily="18" charset="0"/>
              </a:rPr>
              <a:t>или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 smtClean="0"/>
              <a:t>Так как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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 smtClean="0">
                <a:cs typeface="Times New Roman" pitchFamily="18" charset="0"/>
              </a:rPr>
              <a:t>, то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 </a:t>
            </a:r>
            <a:r>
              <a:rPr lang="ru-RU" sz="3100" dirty="0" smtClean="0">
                <a:cs typeface="Times New Roman" pitchFamily="18" charset="0"/>
              </a:rPr>
              <a:t>эквивалентно безопасному выражению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3100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7902370" y="6248400"/>
            <a:ext cx="784430" cy="375955"/>
          </a:xfrm>
        </p:spPr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0336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11934"/>
            <a:ext cx="8847983" cy="55873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Случай 2</a:t>
            </a:r>
            <a:r>
              <a:rPr lang="ru-RU" dirty="0" smtClean="0">
                <a:cs typeface="Times New Roman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Е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\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 smtClean="0"/>
              <a:t>Пусть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1 </a:t>
            </a:r>
            <a:r>
              <a:rPr lang="ru-RU" sz="2600" dirty="0" smtClean="0"/>
              <a:t>эквивалентно безопасному выражению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{t|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(t)}</a:t>
            </a:r>
            <a:endParaRPr lang="ru-RU" sz="2600" dirty="0" smtClean="0">
              <a:solidFill>
                <a:schemeClr val="accent1">
                  <a:lumMod val="50000"/>
                </a:schemeClr>
              </a:solidFill>
              <a:cs typeface="Times New Roman" pitchFamily="18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 smtClean="0"/>
              <a:t>Пусть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2 </a:t>
            </a:r>
            <a:r>
              <a:rPr lang="ru-RU" sz="2600" dirty="0"/>
              <a:t>эквивалентно безопасному выражению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{t|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(t)}</a:t>
            </a:r>
            <a:endParaRPr lang="ru-RU" sz="2600" dirty="0" smtClean="0">
              <a:solidFill>
                <a:schemeClr val="accent1">
                  <a:lumMod val="50000"/>
                </a:schemeClr>
              </a:solidFill>
              <a:cs typeface="Times New Roman" pitchFamily="18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6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 smtClean="0"/>
              <a:t>Тогда для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600" dirty="0"/>
              <a:t>строим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600" dirty="0" smtClean="0"/>
              <a:t>эквивалентное выражение </a:t>
            </a:r>
            <a:br>
              <a:rPr lang="ru-RU" sz="2600" dirty="0" smtClean="0"/>
            </a:br>
            <a:r>
              <a:rPr lang="ru-RU" sz="2600" dirty="0" smtClean="0"/>
              <a:t>                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{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t| 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 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)}</a:t>
            </a:r>
            <a:r>
              <a:rPr lang="ru-RU" sz="2600" dirty="0" smtClean="0">
                <a:cs typeface="Times New Roman" pitchFamily="18" charset="0"/>
                <a:sym typeface="Symbol"/>
              </a:rPr>
              <a:t>.</a:t>
            </a:r>
            <a:endParaRPr lang="en-US" sz="2600" dirty="0" smtClean="0">
              <a:cs typeface="Times New Roman" pitchFamily="18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 smtClean="0"/>
              <a:t>Так как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 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)=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DOM(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600" b="1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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DOM(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2600" dirty="0" smtClean="0">
                <a:cs typeface="Times New Roman" pitchFamily="18" charset="0"/>
              </a:rPr>
              <a:t>, то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 </a:t>
            </a:r>
            <a:r>
              <a:rPr lang="ru-RU" sz="2600" dirty="0" smtClean="0">
                <a:cs typeface="Times New Roman" pitchFamily="18" charset="0"/>
              </a:rPr>
              <a:t>эквивалентно безопасному выражению </a:t>
            </a:r>
            <a:br>
              <a:rPr lang="ru-RU" sz="2600" dirty="0" smtClean="0">
                <a:cs typeface="Times New Roman" pitchFamily="18" charset="0"/>
              </a:rPr>
            </a:br>
            <a:r>
              <a:rPr lang="ru-RU" sz="2600" dirty="0" smtClean="0">
                <a:cs typeface="Times New Roman" pitchFamily="18" charset="0"/>
              </a:rPr>
              <a:t>                 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{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t| 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 </a:t>
            </a:r>
            <a:r>
              <a:rPr lang="ru-RU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el-GR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ru-RU" sz="26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6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)}</a:t>
            </a: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0336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11933"/>
            <a:ext cx="8964488" cy="559521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Случай 3</a:t>
            </a:r>
            <a:r>
              <a:rPr lang="ru-RU" dirty="0" smtClean="0">
                <a:cs typeface="Times New Roman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= Е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1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x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2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sz="2400" dirty="0" smtClean="0"/>
              <a:t>Пусть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4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1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–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отношение степени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k </a:t>
            </a:r>
            <a:r>
              <a:rPr lang="en-US" sz="2400" dirty="0" smtClean="0">
                <a:cs typeface="Times New Roman" pitchFamily="18" charset="0"/>
              </a:rPr>
              <a:t> </a:t>
            </a:r>
            <a:r>
              <a:rPr lang="ru-RU" sz="2400" dirty="0" smtClean="0">
                <a:cs typeface="Times New Roman" pitchFamily="18" charset="0"/>
              </a:rPr>
              <a:t>и </a:t>
            </a:r>
            <a:r>
              <a:rPr lang="ru-RU" sz="2400" dirty="0" smtClean="0"/>
              <a:t>эквивалентно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безопасному выражению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28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buNone/>
            </a:pPr>
            <a:r>
              <a:rPr lang="ru-RU" sz="2400" dirty="0" smtClean="0"/>
              <a:t>Пусть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4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2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–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отношение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степени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s </a:t>
            </a:r>
            <a:r>
              <a:rPr lang="en-US" sz="2400" dirty="0" smtClean="0"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и </a:t>
            </a:r>
            <a:r>
              <a:rPr lang="ru-RU" sz="2400" dirty="0" smtClean="0"/>
              <a:t>эквивалентно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безопасному </a:t>
            </a:r>
            <a:r>
              <a:rPr lang="ru-RU" sz="2400" dirty="0"/>
              <a:t>выражению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28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28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/>
              <a:t>Тогда для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4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400" dirty="0" smtClean="0"/>
              <a:t>эквивалентно выражению </a:t>
            </a:r>
            <a:br>
              <a:rPr lang="ru-RU" sz="2400" dirty="0" smtClean="0"/>
            </a:b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=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ru-RU" sz="2400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aseline="30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k+s</a:t>
            </a:r>
            <a:r>
              <a:rPr lang="en-US" sz="2400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 </a:t>
            </a:r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4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(u)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 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24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 &amp; t[1]=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u[1]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&amp; …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&amp;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t[k]=u[k]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  &amp; t[k+1]=v[1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 &amp; … &amp;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t[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k+s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]=v[s] </a:t>
            </a:r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}</a:t>
            </a:r>
            <a:r>
              <a:rPr lang="ru-RU" sz="2400" dirty="0" smtClean="0">
                <a:cs typeface="Times New Roman" pitchFamily="18" charset="0"/>
                <a:sym typeface="Symbol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)=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DOM(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4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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DOM(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4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en-US" sz="2400" dirty="0" smtClean="0"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>
                <a:cs typeface="Times New Roman" pitchFamily="18" charset="0"/>
              </a:rPr>
              <a:t>Выражение </a:t>
            </a:r>
            <a:r>
              <a:rPr lang="el-GR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400" dirty="0" smtClean="0">
                <a:cs typeface="Times New Roman" pitchFamily="18" charset="0"/>
                <a:sym typeface="Symbol"/>
              </a:rPr>
              <a:t>безопасно, так как 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4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400" dirty="0" smtClean="0">
                <a:cs typeface="Times New Roman" pitchFamily="18" charset="0"/>
                <a:sym typeface="Symbol"/>
              </a:rPr>
              <a:t>ограничено значениями 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4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ru-RU" sz="2400" dirty="0" smtClean="0">
                <a:cs typeface="Times New Roman" pitchFamily="18" charset="0"/>
                <a:sym typeface="Symbol"/>
              </a:rPr>
              <a:t>если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≤ k, </a:t>
            </a:r>
            <a:r>
              <a:rPr lang="ru-RU" sz="2400" dirty="0" smtClean="0">
                <a:cs typeface="Times New Roman" pitchFamily="18" charset="0"/>
                <a:sym typeface="Symbol"/>
              </a:rPr>
              <a:t>и значениями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4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если 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 ˂ </a:t>
            </a:r>
            <a:r>
              <a:rPr lang="en-US" sz="24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≤ k </a:t>
            </a:r>
            <a:r>
              <a:rPr lang="ru-RU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s</a:t>
            </a:r>
            <a:endParaRPr lang="ru-RU" sz="2400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7136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1" y="811934"/>
            <a:ext cx="8622959" cy="540737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Случай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dirty="0" smtClean="0">
                <a:cs typeface="Times New Roman" pitchFamily="18" charset="0"/>
              </a:rPr>
              <a:t>.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 =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8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i="1" baseline="-5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i="1" baseline="-25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5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i="1" baseline="-25000" dirty="0" smtClean="0">
                <a:latin typeface="Times New Roman" pitchFamily="18" charset="0"/>
                <a:cs typeface="Times New Roman" pitchFamily="18" charset="0"/>
              </a:rPr>
              <a:t>, …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50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(</a:t>
            </a:r>
            <a:r>
              <a:rPr lang="en-US" dirty="0" smtClean="0">
                <a:solidFill>
                  <a:srgbClr val="3333FF"/>
                </a:solidFill>
                <a:cs typeface="Times New Roman" pitchFamily="18" charset="0"/>
              </a:rPr>
              <a:t>E</a:t>
            </a:r>
            <a:r>
              <a:rPr lang="en-US" baseline="-25000" dirty="0" smtClean="0">
                <a:solidFill>
                  <a:srgbClr val="3333FF"/>
                </a:solidFill>
                <a:cs typeface="Times New Roman" pitchFamily="18" charset="0"/>
              </a:rPr>
              <a:t> 1</a:t>
            </a:r>
            <a:r>
              <a:rPr lang="en-US" dirty="0" smtClean="0">
                <a:cs typeface="Times New Roman" pitchFamily="18" charset="0"/>
              </a:rPr>
              <a:t>)</a:t>
            </a:r>
            <a:r>
              <a:rPr lang="ru-RU" dirty="0" smtClean="0">
                <a:cs typeface="Times New Roman" pitchFamily="18" charset="0"/>
              </a:rPr>
              <a:t> </a:t>
            </a:r>
            <a:r>
              <a:rPr lang="ru-RU" dirty="0" smtClean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/>
              <a:t>Пусть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en-US" sz="2800" baseline="-25000" dirty="0" smtClean="0">
                <a:solidFill>
                  <a:srgbClr val="3333FF"/>
                </a:solidFill>
                <a:cs typeface="Times New Roman" pitchFamily="18" charset="0"/>
              </a:rPr>
              <a:t> 1</a:t>
            </a:r>
            <a:r>
              <a:rPr lang="ru-RU" sz="28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– </a:t>
            </a:r>
            <a:r>
              <a:rPr lang="ru-RU" sz="2800" dirty="0" smtClean="0">
                <a:cs typeface="Times New Roman" pitchFamily="18" charset="0"/>
              </a:rPr>
              <a:t>отношение степени </a:t>
            </a:r>
            <a:r>
              <a:rPr lang="en-US" sz="36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ru-RU" sz="2800" dirty="0" smtClean="0">
                <a:cs typeface="Times New Roman" pitchFamily="18" charset="0"/>
              </a:rPr>
              <a:t>и </a:t>
            </a:r>
            <a:r>
              <a:rPr lang="ru-RU" sz="2800" dirty="0" smtClean="0"/>
              <a:t>эквивалентно безопасному выражению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/>
              <a:t>Тогда для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8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800" dirty="0" smtClean="0"/>
              <a:t>эквивалентное выражение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n-US" sz="2400" dirty="0" smtClean="0"/>
              <a:t>  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=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ru-RU" sz="2800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k)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sz="28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 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(u)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&amp; t[1]=u[</a:t>
            </a:r>
            <a:r>
              <a:rPr lang="en-US" sz="2800" i="1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800" i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 &amp; …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&amp;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t[k]=u[</a:t>
            </a:r>
            <a:r>
              <a:rPr lang="en-US" sz="2800" i="1" dirty="0" err="1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25000" dirty="0" err="1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 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}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 smtClean="0">
                <a:cs typeface="Times New Roman" pitchFamily="18" charset="0"/>
                <a:sym typeface="Symbol"/>
              </a:rPr>
              <a:t>							</a:t>
            </a:r>
            <a:r>
              <a:rPr lang="ru-RU" sz="2800" dirty="0" smtClean="0">
                <a:cs typeface="Times New Roman" pitchFamily="18" charset="0"/>
                <a:sym typeface="Symbol"/>
              </a:rPr>
              <a:t>где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 ≤ 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)=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DOM(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).</a:t>
            </a:r>
            <a:endParaRPr lang="en-US" sz="2800" dirty="0" smtClean="0">
              <a:cs typeface="Times New Roman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>
                <a:cs typeface="Times New Roman" pitchFamily="18" charset="0"/>
              </a:rPr>
              <a:t>Выражение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безопасно, так как </a:t>
            </a:r>
            <a:r>
              <a:rPr lang="en-US" sz="28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8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en-US" sz="28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ограничено значениями </a:t>
            </a:r>
            <a:r>
              <a:rPr lang="en-US" sz="28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800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800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j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ru-RU" sz="2800" dirty="0" smtClean="0">
                <a:cs typeface="Times New Roman" pitchFamily="18" charset="0"/>
                <a:sym typeface="Symbol"/>
              </a:rPr>
              <a:t>если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j ≤ n</a:t>
            </a:r>
            <a:endParaRPr lang="ru-RU" sz="2800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473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11934"/>
            <a:ext cx="9027495" cy="540737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Случай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 smtClean="0">
                <a:cs typeface="Times New Roman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= </a:t>
            </a:r>
            <a:r>
              <a:rPr lang="el-GR" b="1" dirty="0" smtClean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b="1" i="1" baseline="-25000" dirty="0" smtClean="0">
                <a:solidFill>
                  <a:srgbClr val="FF0000"/>
                </a:solidFill>
                <a:cs typeface="Times New Roman" pitchFamily="18" charset="0"/>
              </a:rPr>
              <a:t>F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smtClean="0">
                <a:solidFill>
                  <a:srgbClr val="3333FF"/>
                </a:solidFill>
                <a:cs typeface="Times New Roman" pitchFamily="18" charset="0"/>
              </a:rPr>
              <a:t>E</a:t>
            </a:r>
            <a:r>
              <a:rPr lang="en-US" baseline="-25000" dirty="0" smtClean="0">
                <a:solidFill>
                  <a:srgbClr val="3333FF"/>
                </a:solidFill>
                <a:cs typeface="Times New Roman" pitchFamily="18" charset="0"/>
              </a:rPr>
              <a:t>1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/>
              <a:t>Пусть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8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1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– </a:t>
            </a:r>
            <a:r>
              <a:rPr lang="ru-RU" sz="2800" dirty="0" smtClean="0"/>
              <a:t>эквивалентно безопасному выражению</a:t>
            </a:r>
            <a:endParaRPr lang="en-US" sz="2800" dirty="0" smtClean="0"/>
          </a:p>
          <a:p>
            <a:pPr marL="0" indent="0">
              <a:lnSpc>
                <a:spcPct val="110000"/>
              </a:lnSpc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/>
              <a:t>Тогда для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Е</a:t>
            </a:r>
            <a:r>
              <a:rPr lang="ru-RU" sz="28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800" dirty="0" smtClean="0"/>
              <a:t>эквивалентно выражению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n-US" sz="2400" dirty="0" smtClean="0"/>
              <a:t>           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=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t|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&amp;</a:t>
            </a:r>
            <a:r>
              <a:rPr lang="en-US" sz="28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i="1" dirty="0" smtClean="0">
                <a:solidFill>
                  <a:srgbClr val="FF0000"/>
                </a:solidFill>
                <a:cs typeface="Times New Roman" pitchFamily="18" charset="0"/>
                <a:sym typeface="Symbol"/>
              </a:rPr>
              <a:t>F’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}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где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2800" i="1" dirty="0">
                <a:solidFill>
                  <a:srgbClr val="FF0000"/>
                </a:solidFill>
                <a:cs typeface="Times New Roman" pitchFamily="18" charset="0"/>
                <a:sym typeface="Symbol"/>
              </a:rPr>
              <a:t>F’ </a:t>
            </a:r>
            <a:r>
              <a:rPr lang="ru-RU" sz="2800" i="1" dirty="0" smtClean="0">
                <a:solidFill>
                  <a:srgbClr val="FF0000"/>
                </a:solidFill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есть </a:t>
            </a:r>
            <a:r>
              <a:rPr lang="en-US" sz="2800" i="1" dirty="0" smtClean="0">
                <a:solidFill>
                  <a:srgbClr val="FF0000"/>
                </a:solidFill>
                <a:cs typeface="Times New Roman" pitchFamily="18" charset="0"/>
                <a:sym typeface="Symbol"/>
              </a:rPr>
              <a:t>F</a:t>
            </a:r>
            <a:r>
              <a:rPr lang="ru-RU" sz="2800" i="1" dirty="0">
                <a:solidFill>
                  <a:srgbClr val="FF0000"/>
                </a:solidFill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,  (1)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>
                <a:cs typeface="Times New Roman" pitchFamily="18" charset="0"/>
                <a:sym typeface="Symbol"/>
              </a:rPr>
              <a:t> </a:t>
            </a:r>
            <a:r>
              <a:rPr lang="en-US" sz="2800" dirty="0" smtClean="0"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в которой каждый операнд обозначающий </a:t>
            </a:r>
            <a:r>
              <a:rPr lang="en-US" sz="2800" dirty="0" smtClean="0">
                <a:cs typeface="Times New Roman" pitchFamily="18" charset="0"/>
                <a:sym typeface="Symbol"/>
              </a:rPr>
              <a:t>   </a:t>
            </a:r>
            <a:r>
              <a:rPr lang="ru-RU" sz="2800" dirty="0" smtClean="0">
                <a:cs typeface="Times New Roman" pitchFamily="18" charset="0"/>
                <a:sym typeface="Symbol"/>
              </a:rPr>
              <a:t>компонент </a:t>
            </a:r>
            <a:r>
              <a:rPr lang="en-US" b="1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b="1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cs typeface="Times New Roman" pitchFamily="18" charset="0"/>
                <a:sym typeface="Symbol"/>
              </a:rPr>
              <a:t>заменяется на </a:t>
            </a:r>
            <a:r>
              <a:rPr lang="en-US" b="1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t[</a:t>
            </a:r>
            <a:r>
              <a:rPr lang="en-US" b="1" i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b="1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ru-RU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   </a:t>
            </a:r>
            <a:r>
              <a:rPr lang="ru-RU" sz="2800" dirty="0" smtClean="0">
                <a:cs typeface="Times New Roman" pitchFamily="18" charset="0"/>
              </a:rPr>
              <a:t>Можно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)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=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DOM(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(t)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.  </a:t>
            </a:r>
            <a:r>
              <a:rPr lang="ru-RU" sz="2800" dirty="0" smtClean="0">
                <a:cs typeface="Times New Roman" pitchFamily="18" charset="0"/>
              </a:rPr>
              <a:t>Выражение (1)</a:t>
            </a:r>
            <a:r>
              <a:rPr lang="ru-RU" sz="2800" dirty="0" smtClean="0">
                <a:cs typeface="Times New Roman" pitchFamily="18" charset="0"/>
                <a:sym typeface="Symbol"/>
              </a:rPr>
              <a:t> безопасно, так как каждый компонент кортежа </a:t>
            </a: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 </a:t>
            </a:r>
            <a:r>
              <a:rPr lang="ru-RU" sz="2800" dirty="0" smtClean="0">
                <a:cs typeface="Times New Roman" pitchFamily="18" charset="0"/>
                <a:sym typeface="Symbol"/>
              </a:rPr>
              <a:t>ограничивается символами, которые есть в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DOM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(t))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.</a:t>
            </a:r>
            <a:endParaRPr lang="en-US" sz="2800" dirty="0" smtClean="0">
              <a:cs typeface="Times New Roman" pitchFamily="18" charset="0"/>
              <a:sym typeface="Symbol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6249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715"/>
            <a:ext cx="9143999" cy="5994285"/>
          </a:xfrm>
        </p:spPr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600" dirty="0"/>
              <a:t>Выражения реляционного исчисления на </a:t>
            </a:r>
            <a:r>
              <a:rPr lang="ru-RU" sz="3600" dirty="0" smtClean="0"/>
              <a:t>доменах </a:t>
            </a:r>
            <a:r>
              <a:rPr lang="ru-RU" sz="3600" dirty="0"/>
              <a:t>имеют вид: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36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l-GR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6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sz="36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dirty="0" smtClean="0"/>
              <a:t>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bg2"/>
                </a:solidFill>
                <a:cs typeface="Times New Roman"/>
              </a:rPr>
              <a:t> </a:t>
            </a:r>
            <a:r>
              <a:rPr lang="ru-RU" dirty="0">
                <a:cs typeface="Times New Roman"/>
              </a:rPr>
              <a:t>– формула, построенная из атомов и совокупности </a:t>
            </a:r>
            <a:r>
              <a:rPr lang="ru-RU" dirty="0" smtClean="0">
                <a:cs typeface="Times New Roman"/>
              </a:rPr>
              <a:t>операторов, а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 smtClean="0">
                <a:cs typeface="Times New Roman" pitchFamily="18" charset="0"/>
              </a:rPr>
              <a:t>переменные, </a:t>
            </a:r>
            <a:r>
              <a:rPr lang="ru-RU" dirty="0" smtClean="0">
                <a:cs typeface="Times New Roman" pitchFamily="18" charset="0"/>
              </a:rPr>
              <a:t>определенные  на доменах отношений, входящих в формулу</a:t>
            </a:r>
            <a:endParaRPr lang="ru-RU" dirty="0">
              <a:cs typeface="Times New Roman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endParaRPr lang="ru-RU" dirty="0">
              <a:cs typeface="Times New Roman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i="1" u="sng" dirty="0">
                <a:cs typeface="Times New Roman"/>
              </a:rPr>
              <a:t>Атомы</a:t>
            </a:r>
            <a:r>
              <a:rPr lang="ru-RU" dirty="0">
                <a:cs typeface="Times New Roman"/>
              </a:rPr>
              <a:t> формул </a:t>
            </a:r>
            <a:r>
              <a:rPr lang="el-GR" sz="3300" dirty="0" smtClean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dirty="0" smtClean="0">
                <a:cs typeface="Times New Roman"/>
              </a:rPr>
              <a:t> </a:t>
            </a:r>
            <a:r>
              <a:rPr lang="ru-RU" dirty="0">
                <a:cs typeface="Times New Roman"/>
              </a:rPr>
              <a:t>могут </a:t>
            </a:r>
            <a:r>
              <a:rPr lang="ru-RU" dirty="0" smtClean="0">
                <a:cs typeface="Times New Roman"/>
              </a:rPr>
              <a:t>быть</a:t>
            </a:r>
            <a:endParaRPr lang="ru-RU" dirty="0">
              <a:cs typeface="Times New Roman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>
                <a:cs typeface="Times New Roman"/>
              </a:rPr>
              <a:t>, где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solidFill>
                  <a:schemeClr val="bg2"/>
                </a:solidFill>
                <a:cs typeface="Times New Roman"/>
              </a:rPr>
              <a:t> </a:t>
            </a:r>
            <a:r>
              <a:rPr lang="en-US" dirty="0">
                <a:cs typeface="Times New Roman"/>
              </a:rPr>
              <a:t>– </a:t>
            </a:r>
            <a:r>
              <a:rPr lang="en-US" dirty="0" smtClean="0">
                <a:cs typeface="Times New Roman"/>
              </a:rPr>
              <a:t>k</a:t>
            </a:r>
            <a:r>
              <a:rPr lang="ru-RU" dirty="0" smtClean="0">
                <a:cs typeface="Times New Roman"/>
              </a:rPr>
              <a:t>- </a:t>
            </a:r>
            <a:r>
              <a:rPr lang="ru-RU" dirty="0" err="1" smtClean="0">
                <a:cs typeface="Times New Roman"/>
              </a:rPr>
              <a:t>арное</a:t>
            </a:r>
            <a:r>
              <a:rPr lang="ru-RU" dirty="0" smtClean="0">
                <a:cs typeface="Times New Roman"/>
              </a:rPr>
              <a:t> отношение и каждое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cs typeface="Times New Roman"/>
              </a:rPr>
              <a:t> </a:t>
            </a:r>
            <a:r>
              <a:rPr lang="ru-RU" dirty="0" smtClean="0">
                <a:cs typeface="Times New Roman"/>
              </a:rPr>
              <a:t>есть константа или переменная на домене</a:t>
            </a:r>
            <a:r>
              <a:rPr lang="en-US" dirty="0" smtClean="0">
                <a:cs typeface="Times New Roman"/>
              </a:rPr>
              <a:t>. </a:t>
            </a:r>
            <a:endParaRPr lang="ru-RU" dirty="0" smtClean="0">
              <a:cs typeface="Times New Roman"/>
            </a:endParaRPr>
          </a:p>
          <a:p>
            <a:pPr marL="857250" lvl="1" indent="0" eaLnBrk="1" hangingPunct="1">
              <a:lnSpc>
                <a:spcPct val="120000"/>
              </a:lnSpc>
              <a:buClr>
                <a:schemeClr val="tx1"/>
              </a:buClr>
              <a:buSzPct val="90000"/>
              <a:buNone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(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ru-RU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указывает, что значения </a:t>
            </a:r>
            <a:r>
              <a:rPr lang="ru-RU" sz="29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900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9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cs typeface="Times New Roman" pitchFamily="18" charset="0"/>
              </a:rPr>
              <a:t>которые являются переменными должны быть выбраны так, чтобы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ru-RU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был кортежем в отношении </a:t>
            </a:r>
            <a:r>
              <a:rPr lang="en-US" dirty="0" smtClean="0">
                <a:cs typeface="Times New Roman" pitchFamily="18" charset="0"/>
              </a:rPr>
              <a:t>R</a:t>
            </a:r>
            <a:endParaRPr lang="ru-RU" dirty="0" smtClean="0">
              <a:cs typeface="Times New Roman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x</a:t>
            </a:r>
            <a:r>
              <a:rPr lang="el-GR" sz="36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y</a:t>
            </a:r>
            <a:r>
              <a:rPr lang="ru-RU" dirty="0" smtClean="0">
                <a:cs typeface="Times New Roman"/>
              </a:rPr>
              <a:t>, </a:t>
            </a:r>
            <a:r>
              <a:rPr lang="ru-RU" dirty="0">
                <a:cs typeface="Times New Roman"/>
              </a:rPr>
              <a:t>где </a:t>
            </a:r>
            <a:r>
              <a:rPr lang="en-US" dirty="0" smtClean="0">
                <a:cs typeface="Times New Roman"/>
              </a:rPr>
              <a:t>x </a:t>
            </a:r>
            <a:r>
              <a:rPr lang="ru-RU" dirty="0">
                <a:cs typeface="Times New Roman"/>
              </a:rPr>
              <a:t>и </a:t>
            </a:r>
            <a:r>
              <a:rPr lang="en-US" dirty="0" smtClean="0">
                <a:cs typeface="Times New Roman"/>
              </a:rPr>
              <a:t>y – </a:t>
            </a:r>
            <a:r>
              <a:rPr lang="ru-RU" dirty="0" smtClean="0">
                <a:cs typeface="Times New Roman"/>
              </a:rPr>
              <a:t>константы или переменные на доменах, </a:t>
            </a:r>
            <a:r>
              <a:rPr lang="ru-RU" dirty="0">
                <a:cs typeface="Times New Roman"/>
              </a:rPr>
              <a:t>а </a:t>
            </a:r>
            <a:r>
              <a:rPr lang="el-GR" dirty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80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800" dirty="0">
                <a:cs typeface="Times New Roman"/>
              </a:rPr>
              <a:t>– </a:t>
            </a:r>
            <a:r>
              <a:rPr lang="ru-RU" dirty="0">
                <a:cs typeface="Times New Roman"/>
              </a:rPr>
              <a:t>арифметический оператор сравнения ( </a:t>
            </a:r>
            <a:r>
              <a:rPr lang="en-US" dirty="0">
                <a:cs typeface="Times New Roman"/>
              </a:rPr>
              <a:t>&lt;, &gt;, = </a:t>
            </a:r>
            <a:r>
              <a:rPr lang="ru-RU" dirty="0">
                <a:cs typeface="Times New Roman"/>
              </a:rPr>
              <a:t> и т.д.) </a:t>
            </a:r>
            <a:endParaRPr lang="ru-RU" dirty="0" smtClean="0">
              <a:cs typeface="Times New Roman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Реляционное исчисление на доменах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01715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0350" y="806450"/>
            <a:ext cx="8669368" cy="5867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dirty="0" smtClean="0"/>
              <a:t>В  </a:t>
            </a:r>
            <a:r>
              <a:rPr lang="ru-RU" sz="3100" dirty="0" smtClean="0"/>
              <a:t>выражениях РИД </a:t>
            </a:r>
            <a:r>
              <a:rPr lang="ru-RU" sz="3100" dirty="0" smtClean="0"/>
              <a:t>переменные на доменах </a:t>
            </a:r>
            <a:r>
              <a:rPr lang="ru-RU" sz="3100" dirty="0" smtClean="0"/>
              <a:t>могут быть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</a:rPr>
              <a:t>свободными</a:t>
            </a:r>
            <a:r>
              <a:rPr lang="ru-RU" sz="3100" dirty="0" smtClean="0"/>
              <a:t> или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</a:rPr>
              <a:t>связанными</a:t>
            </a:r>
            <a:r>
              <a:rPr lang="ru-RU" sz="3100" dirty="0" smtClean="0"/>
              <a:t>.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3100" dirty="0" smtClean="0"/>
              <a:t>Переменная связана, если в формуле ей предшествует квантор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</a:t>
            </a:r>
            <a:r>
              <a:rPr lang="ru-RU" sz="3100" dirty="0" smtClean="0">
                <a:cs typeface="Times New Roman"/>
                <a:sym typeface="Symbol"/>
              </a:rPr>
              <a:t> или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ru-RU" sz="3100" b="1" dirty="0" smtClean="0">
                <a:cs typeface="Times New Roman"/>
                <a:sym typeface="Symbol"/>
              </a:rPr>
              <a:t>.</a:t>
            </a:r>
            <a:endParaRPr lang="ru-RU" sz="3100" b="1" dirty="0" smtClean="0"/>
          </a:p>
          <a:p>
            <a:pPr>
              <a:lnSpc>
                <a:spcPct val="120000"/>
              </a:lnSpc>
              <a:buNone/>
            </a:pPr>
            <a:r>
              <a:rPr lang="ru-RU" sz="3100" u="sng" dirty="0" smtClean="0"/>
              <a:t>Формулы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Каждый атом есть формула. Все вхождения </a:t>
            </a:r>
            <a:r>
              <a:rPr lang="ru-RU" sz="3100" dirty="0" smtClean="0"/>
              <a:t>переменных </a:t>
            </a:r>
            <a:r>
              <a:rPr lang="ru-RU" sz="3100" dirty="0" smtClean="0"/>
              <a:t>в атоме являются свободными в этой формуле.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Если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latin typeface="Times New Roman"/>
                <a:cs typeface="Times New Roman"/>
              </a:rPr>
              <a:t>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 smtClean="0">
                <a:cs typeface="Times New Roman"/>
              </a:rPr>
              <a:t>– формулы, то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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,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φ</a:t>
            </a:r>
            <a:r>
              <a:rPr lang="ru-RU" sz="31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 </a:t>
            </a:r>
            <a:r>
              <a:rPr lang="ru-RU" sz="3100" dirty="0" smtClean="0">
                <a:cs typeface="Times New Roman"/>
              </a:rPr>
              <a:t>–</a:t>
            </a:r>
            <a:r>
              <a:rPr lang="ru-RU" sz="3100" dirty="0" smtClean="0"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cs typeface="Times New Roman"/>
              </a:rPr>
              <a:t>также формулы. </a:t>
            </a:r>
            <a:r>
              <a:rPr lang="ru-RU" sz="3100" dirty="0" smtClean="0">
                <a:cs typeface="Times New Roman"/>
              </a:rPr>
              <a:t>П</a:t>
            </a:r>
            <a:r>
              <a:rPr lang="ru-RU" sz="3100" dirty="0" smtClean="0"/>
              <a:t>еременные </a:t>
            </a:r>
            <a:r>
              <a:rPr lang="ru-RU" sz="3100" dirty="0" smtClean="0"/>
              <a:t>являются свободными или связанными в построенных формулах точно так же какими он были в исходных формулах.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Если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latin typeface="Times New Roman"/>
                <a:cs typeface="Times New Roman"/>
              </a:rPr>
              <a:t>– </a:t>
            </a:r>
            <a:r>
              <a:rPr lang="ru-RU" sz="3100" dirty="0" smtClean="0">
                <a:cs typeface="Times New Roman"/>
              </a:rPr>
              <a:t>формула, то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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 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cs typeface="Times New Roman"/>
              </a:rPr>
              <a:t>также формула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/>
              <a:t>Если 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latin typeface="Times New Roman"/>
                <a:cs typeface="Times New Roman"/>
              </a:rPr>
              <a:t>– </a:t>
            </a:r>
            <a:r>
              <a:rPr lang="ru-RU" sz="3100" dirty="0" smtClean="0">
                <a:cs typeface="Times New Roman"/>
              </a:rPr>
              <a:t>формула, то </a:t>
            </a:r>
            <a:r>
              <a:rPr lang="ru-RU" sz="3100" b="1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 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 (</a:t>
            </a:r>
            <a:r>
              <a:rPr lang="el-GR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en-US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sz="31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 smtClean="0">
                <a:cs typeface="Times New Roman"/>
              </a:rPr>
              <a:t>также формула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>
                <a:cs typeface="Times New Roman"/>
              </a:rPr>
              <a:t>В формулах могут быть скобки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 smtClean="0">
                <a:cs typeface="Times New Roman"/>
              </a:rPr>
              <a:t>Ничто иное не является формулой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35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Реляционное исчисление на доменах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63715"/>
            <a:ext cx="9143999" cy="5535615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 smtClean="0"/>
              <a:t>Выражени</a:t>
            </a:r>
            <a:r>
              <a:rPr lang="ru-RU" sz="3300" dirty="0"/>
              <a:t>е</a:t>
            </a:r>
            <a:r>
              <a:rPr lang="ru-RU" sz="3300" dirty="0" smtClean="0"/>
              <a:t> </a:t>
            </a:r>
            <a:r>
              <a:rPr lang="ru-RU" sz="3300" dirty="0"/>
              <a:t>реляционного исчисления </a:t>
            </a:r>
            <a:r>
              <a:rPr lang="ru-RU" sz="3300" dirty="0" smtClean="0"/>
              <a:t>с переменными на доменах 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en-US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5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35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5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</a:t>
            </a:r>
            <a:r>
              <a:rPr lang="ru-RU" sz="35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5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35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5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35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5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5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5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5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500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)}</a:t>
            </a:r>
            <a:r>
              <a:rPr lang="ru-RU" sz="35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dirty="0" smtClean="0">
                <a:cs typeface="Times New Roman" pitchFamily="18" charset="0"/>
              </a:rPr>
              <a:t>является</a:t>
            </a:r>
            <a:r>
              <a:rPr lang="ru-RU" sz="3300" dirty="0" smtClean="0">
                <a:cs typeface="Times New Roman" pitchFamily="18" charset="0"/>
              </a:rPr>
              <a:t> </a:t>
            </a:r>
            <a:r>
              <a:rPr lang="ru-RU" sz="3300" dirty="0" smtClean="0">
                <a:solidFill>
                  <a:srgbClr val="C00000"/>
                </a:solidFill>
                <a:cs typeface="Times New Roman" pitchFamily="18" charset="0"/>
              </a:rPr>
              <a:t>безопасным,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3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dirty="0" smtClean="0">
                <a:cs typeface="Times New Roman" pitchFamily="18" charset="0"/>
              </a:rPr>
              <a:t>когда</a:t>
            </a:r>
            <a:endParaRPr lang="ru-RU" sz="3000" dirty="0">
              <a:cs typeface="Times New Roman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ru-RU" sz="3000" dirty="0">
                <a:cs typeface="Times New Roman" pitchFamily="18" charset="0"/>
              </a:rPr>
              <a:t>и</a:t>
            </a:r>
            <a:r>
              <a:rPr lang="ru-RU" sz="3000" dirty="0" smtClean="0">
                <a:cs typeface="Times New Roman" pitchFamily="18" charset="0"/>
              </a:rPr>
              <a:t>з истинности 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3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3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3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dirty="0" smtClean="0">
                <a:cs typeface="Times New Roman" pitchFamily="18" charset="0"/>
              </a:rPr>
              <a:t>следует, что 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3300" i="1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300" i="1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3000" dirty="0" smtClean="0">
                <a:cs typeface="Times New Roman" pitchFamily="18" charset="0"/>
              </a:rPr>
              <a:t>принадлежит 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DOM(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33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ru-RU" sz="3300" dirty="0">
                <a:cs typeface="Times New Roman"/>
              </a:rPr>
              <a:t>е</a:t>
            </a:r>
            <a:r>
              <a:rPr lang="ru-RU" sz="3300" dirty="0" smtClean="0">
                <a:cs typeface="Times New Roman"/>
              </a:rPr>
              <a:t>сли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3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u)) </a:t>
            </a:r>
            <a:r>
              <a:rPr lang="ru-RU" sz="3300" dirty="0" smtClean="0">
                <a:latin typeface="Times New Roman" pitchFamily="18" charset="0"/>
                <a:cs typeface="Times New Roman" pitchFamily="18" charset="0"/>
                <a:sym typeface="Symbol"/>
              </a:rPr>
              <a:t>– </a:t>
            </a:r>
            <a:r>
              <a:rPr lang="ru-RU" sz="3300" dirty="0" err="1" smtClean="0">
                <a:cs typeface="Times New Roman" pitchFamily="18" charset="0"/>
                <a:sym typeface="Symbol"/>
              </a:rPr>
              <a:t>подформула</a:t>
            </a:r>
            <a:r>
              <a:rPr lang="ru-RU" sz="33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300" dirty="0" smtClean="0">
                <a:cs typeface="Times New Roman" pitchFamily="18" charset="0"/>
              </a:rPr>
              <a:t>то из истинности 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300" dirty="0" smtClean="0">
                <a:cs typeface="Times New Roman" pitchFamily="18" charset="0"/>
                <a:sym typeface="Symbol"/>
              </a:rPr>
              <a:t>следует, что </a:t>
            </a:r>
            <a:r>
              <a:rPr lang="en-US" sz="42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3300" dirty="0" smtClean="0">
                <a:cs typeface="Times New Roman" pitchFamily="18" charset="0"/>
                <a:sym typeface="Symbol"/>
              </a:rPr>
              <a:t> принадлежит 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DOM(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Font typeface="Wingdings" pitchFamily="2" charset="2"/>
              <a:buAutoNum type="arabicPeriod"/>
            </a:pPr>
            <a:r>
              <a:rPr lang="ru-RU" sz="3300" dirty="0" smtClean="0">
                <a:cs typeface="Times New Roman"/>
              </a:rPr>
              <a:t>если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l-GR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u)) </a:t>
            </a:r>
            <a:r>
              <a:rPr lang="ru-RU" sz="3300" dirty="0">
                <a:latin typeface="Times New Roman" pitchFamily="18" charset="0"/>
                <a:cs typeface="Times New Roman" pitchFamily="18" charset="0"/>
                <a:sym typeface="Symbol"/>
              </a:rPr>
              <a:t>– </a:t>
            </a:r>
            <a:r>
              <a:rPr lang="ru-RU" sz="3300" dirty="0" err="1">
                <a:cs typeface="Times New Roman" pitchFamily="18" charset="0"/>
                <a:sym typeface="Symbol"/>
              </a:rPr>
              <a:t>подформула</a:t>
            </a:r>
            <a:r>
              <a:rPr lang="ru-RU" sz="33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300" dirty="0">
                <a:cs typeface="Times New Roman" pitchFamily="18" charset="0"/>
              </a:rPr>
              <a:t>то из истинности 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l-GR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33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</a:t>
            </a:r>
            <a:r>
              <a:rPr lang="ru-RU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300" dirty="0">
                <a:cs typeface="Times New Roman" pitchFamily="18" charset="0"/>
                <a:sym typeface="Symbol"/>
              </a:rPr>
              <a:t>следует, что </a:t>
            </a:r>
            <a:r>
              <a:rPr lang="en-US" sz="42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3300" dirty="0">
                <a:cs typeface="Times New Roman" pitchFamily="18" charset="0"/>
                <a:sym typeface="Symbol"/>
              </a:rPr>
              <a:t> принадлежит </a:t>
            </a: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DOM(</a:t>
            </a:r>
            <a:r>
              <a:rPr lang="el-GR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en-US" sz="33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endParaRPr lang="ru-RU" dirty="0" smtClean="0">
              <a:cs typeface="Times New Roman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Реляционное исчисление на доменах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8802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516" y="863715"/>
            <a:ext cx="8937484" cy="5535615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 smtClean="0"/>
              <a:t>Для каждого выражения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 |</a:t>
            </a:r>
            <a:r>
              <a:rPr lang="el-GR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(t)}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spc="200" dirty="0" smtClean="0"/>
              <a:t>РИК</a:t>
            </a:r>
            <a:r>
              <a:rPr lang="ru-RU" sz="3300" dirty="0" smtClean="0"/>
              <a:t>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 smtClean="0"/>
              <a:t>выражение РИД строится следующим образом</a:t>
            </a:r>
            <a:r>
              <a:rPr lang="en-US" sz="3300" dirty="0"/>
              <a:t>.</a:t>
            </a:r>
            <a:r>
              <a:rPr lang="ru-RU" sz="3300" dirty="0" smtClean="0"/>
              <a:t>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 smtClean="0">
                <a:cs typeface="Times New Roman" pitchFamily="18" charset="0"/>
              </a:rPr>
              <a:t>Если</a:t>
            </a:r>
            <a:r>
              <a:rPr lang="ru-RU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dirty="0" smtClean="0">
                <a:ea typeface="Tahoma" pitchFamily="34" charset="0"/>
                <a:cs typeface="Tahoma" pitchFamily="34" charset="0"/>
              </a:rPr>
              <a:t>имеет степень (арность) 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k,</a:t>
            </a:r>
            <a:r>
              <a:rPr lang="ru-RU" sz="36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dirty="0" smtClean="0">
                <a:cs typeface="Times New Roman" pitchFamily="18" charset="0"/>
              </a:rPr>
              <a:t>то </a:t>
            </a:r>
          </a:p>
          <a:p>
            <a:pPr marL="400050" lvl="1" indent="0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900" dirty="0" smtClean="0">
                <a:cs typeface="Times New Roman" pitchFamily="18" charset="0"/>
              </a:rPr>
              <a:t>введем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ru-RU" sz="2900" dirty="0" smtClean="0">
                <a:cs typeface="Times New Roman" pitchFamily="18" charset="0"/>
              </a:rPr>
              <a:t>новых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900" dirty="0" smtClean="0">
                <a:cs typeface="Times New Roman" pitchFamily="18" charset="0"/>
              </a:rPr>
              <a:t>переменных на доменах</a:t>
            </a:r>
            <a:r>
              <a:rPr lang="ru-RU" sz="2900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endParaRPr lang="ru-RU" baseline="-25000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900" dirty="0" smtClean="0">
                <a:cs typeface="Times New Roman" pitchFamily="18" charset="0"/>
              </a:rPr>
              <a:t>и заменим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 |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)}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900" dirty="0" smtClean="0">
                <a:cs typeface="Times New Roman" pitchFamily="18" charset="0"/>
              </a:rPr>
              <a:t>на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φ΄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}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где </a:t>
            </a: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Font typeface="Wingdings" pitchFamily="2" charset="2"/>
              <a:buAutoNum type="arabicParenR"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φ΄</a:t>
            </a:r>
            <a:r>
              <a:rPr lang="ru-RU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есть </a:t>
            </a:r>
            <a:r>
              <a:rPr lang="el-GR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, в которой </a:t>
            </a: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каждый атом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R(</a:t>
            </a:r>
            <a:r>
              <a:rPr lang="en-US" sz="36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заменен атомом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sz="36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каждое свободное вхождение </a:t>
            </a:r>
            <a:r>
              <a:rPr lang="en-US" sz="3600" i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t[</a:t>
            </a:r>
            <a:r>
              <a:rPr lang="en-US" sz="3600" i="1" dirty="0" err="1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i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36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переменной </a:t>
            </a:r>
            <a:r>
              <a:rPr lang="en-US" sz="3600" i="1" dirty="0" err="1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i="1" baseline="-25000" dirty="0" err="1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ru-RU" sz="3600" i="1" baseline="-25000" dirty="0" smtClean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AutoNum type="arabicParenR"/>
            </a:pPr>
            <a:r>
              <a:rPr lang="ru-RU" dirty="0" smtClean="0">
                <a:cs typeface="Times New Roman"/>
              </a:rPr>
              <a:t>Редукция РИД к РА в </a:t>
            </a:r>
            <a:r>
              <a:rPr lang="ru-RU" smtClean="0">
                <a:cs typeface="Times New Roman"/>
              </a:rPr>
              <a:t>Ульман стр. </a:t>
            </a:r>
            <a:r>
              <a:rPr lang="ru-RU" dirty="0" smtClean="0">
                <a:cs typeface="Times New Roman"/>
              </a:rPr>
              <a:t>109</a:t>
            </a:r>
            <a:endParaRPr lang="ru-RU" sz="3600" i="1" baseline="-25000" dirty="0" smtClean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 smtClean="0">
                <a:solidFill>
                  <a:schemeClr val="bg2"/>
                </a:solidFill>
              </a:rPr>
              <a:t>Редукция РИК к РИД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9631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2754</TotalTime>
  <Words>1248</Words>
  <Application>Microsoft Office PowerPoint</Application>
  <PresentationFormat>Экран (4:3)</PresentationFormat>
  <Paragraphs>173</Paragraphs>
  <Slides>19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Пиксел</vt:lpstr>
      <vt:lpstr>Реляционная модель данных. Часть 2</vt:lpstr>
      <vt:lpstr>Реляционное исчисление</vt:lpstr>
      <vt:lpstr>Реляционное исчисление на кортежах</vt:lpstr>
      <vt:lpstr>Реляционное исчисление на кортежах</vt:lpstr>
      <vt:lpstr>Реляционное исчисление на кортежах</vt:lpstr>
      <vt:lpstr>Ограничение реляционного исчисления</vt:lpstr>
      <vt:lpstr>Ограничение реляционного исчисления</vt:lpstr>
      <vt:lpstr>Безопасные выражения РИК</vt:lpstr>
      <vt:lpstr>Безопасные выражения РИК</vt:lpstr>
      <vt:lpstr>Редукция РА к РИК</vt:lpstr>
      <vt:lpstr>Редукция РА к РИК</vt:lpstr>
      <vt:lpstr>Редукция РА к РИК</vt:lpstr>
      <vt:lpstr>Редукция РА к РИК</vt:lpstr>
      <vt:lpstr>Редукция РА к РИК</vt:lpstr>
      <vt:lpstr>Редукция РА к РИК</vt:lpstr>
      <vt:lpstr>Реляционное исчисление на доменах</vt:lpstr>
      <vt:lpstr>Реляционное исчисление на доменах</vt:lpstr>
      <vt:lpstr>Реляционное исчисление на доменах</vt:lpstr>
      <vt:lpstr>Редукция РИК к РИД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User</cp:lastModifiedBy>
  <cp:revision>217</cp:revision>
  <dcterms:created xsi:type="dcterms:W3CDTF">2012-10-04T16:47:37Z</dcterms:created>
  <dcterms:modified xsi:type="dcterms:W3CDTF">2019-10-02T10:08:30Z</dcterms:modified>
</cp:coreProperties>
</file>