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32"/>
  </p:notesMasterIdLst>
  <p:sldIdLst>
    <p:sldId id="256" r:id="rId2"/>
    <p:sldId id="278" r:id="rId3"/>
    <p:sldId id="273" r:id="rId4"/>
    <p:sldId id="274" r:id="rId5"/>
    <p:sldId id="300" r:id="rId6"/>
    <p:sldId id="289" r:id="rId7"/>
    <p:sldId id="288" r:id="rId8"/>
    <p:sldId id="277" r:id="rId9"/>
    <p:sldId id="302" r:id="rId10"/>
    <p:sldId id="281" r:id="rId11"/>
    <p:sldId id="282" r:id="rId12"/>
    <p:sldId id="279" r:id="rId13"/>
    <p:sldId id="285" r:id="rId14"/>
    <p:sldId id="283" r:id="rId15"/>
    <p:sldId id="290" r:id="rId16"/>
    <p:sldId id="301" r:id="rId17"/>
    <p:sldId id="275" r:id="rId18"/>
    <p:sldId id="291" r:id="rId19"/>
    <p:sldId id="304" r:id="rId20"/>
    <p:sldId id="276" r:id="rId21"/>
    <p:sldId id="292" r:id="rId22"/>
    <p:sldId id="294" r:id="rId23"/>
    <p:sldId id="284" r:id="rId24"/>
    <p:sldId id="287" r:id="rId25"/>
    <p:sldId id="286" r:id="rId26"/>
    <p:sldId id="298" r:id="rId27"/>
    <p:sldId id="299" r:id="rId28"/>
    <p:sldId id="295" r:id="rId29"/>
    <p:sldId id="296" r:id="rId30"/>
    <p:sldId id="297" r:id="rId31"/>
  </p:sldIdLst>
  <p:sldSz cx="9144000" cy="6858000" type="screen4x3"/>
  <p:notesSz cx="6858000" cy="9144000"/>
  <p:defaultTextStyle>
    <a:defPPr>
      <a:defRPr lang="ru-RU"/>
    </a:defPPr>
    <a:lvl1pPr algn="l" rtl="0" eaLnBrk="0" fontAlgn="base" hangingPunct="0">
      <a:spcBef>
        <a:spcPct val="0"/>
      </a:spcBef>
      <a:spcAft>
        <a:spcPct val="0"/>
      </a:spcAft>
      <a:defRPr sz="2800" kern="1200">
        <a:solidFill>
          <a:schemeClr val="tx1"/>
        </a:solidFill>
        <a:latin typeface="Arial" charset="0"/>
        <a:ea typeface="+mn-ea"/>
        <a:cs typeface="Arial" charset="0"/>
      </a:defRPr>
    </a:lvl1pPr>
    <a:lvl2pPr marL="457200" algn="l" rtl="0" eaLnBrk="0" fontAlgn="base" hangingPunct="0">
      <a:spcBef>
        <a:spcPct val="0"/>
      </a:spcBef>
      <a:spcAft>
        <a:spcPct val="0"/>
      </a:spcAft>
      <a:defRPr sz="2800" kern="1200">
        <a:solidFill>
          <a:schemeClr val="tx1"/>
        </a:solidFill>
        <a:latin typeface="Arial" charset="0"/>
        <a:ea typeface="+mn-ea"/>
        <a:cs typeface="Arial" charset="0"/>
      </a:defRPr>
    </a:lvl2pPr>
    <a:lvl3pPr marL="914400" algn="l" rtl="0" eaLnBrk="0" fontAlgn="base" hangingPunct="0">
      <a:spcBef>
        <a:spcPct val="0"/>
      </a:spcBef>
      <a:spcAft>
        <a:spcPct val="0"/>
      </a:spcAft>
      <a:defRPr sz="2800" kern="1200">
        <a:solidFill>
          <a:schemeClr val="tx1"/>
        </a:solidFill>
        <a:latin typeface="Arial" charset="0"/>
        <a:ea typeface="+mn-ea"/>
        <a:cs typeface="Arial" charset="0"/>
      </a:defRPr>
    </a:lvl3pPr>
    <a:lvl4pPr marL="1371600" algn="l" rtl="0" eaLnBrk="0" fontAlgn="base" hangingPunct="0">
      <a:spcBef>
        <a:spcPct val="0"/>
      </a:spcBef>
      <a:spcAft>
        <a:spcPct val="0"/>
      </a:spcAft>
      <a:defRPr sz="2800" kern="1200">
        <a:solidFill>
          <a:schemeClr val="tx1"/>
        </a:solidFill>
        <a:latin typeface="Arial" charset="0"/>
        <a:ea typeface="+mn-ea"/>
        <a:cs typeface="Arial" charset="0"/>
      </a:defRPr>
    </a:lvl4pPr>
    <a:lvl5pPr marL="1828800" algn="l" rtl="0" eaLnBrk="0" fontAlgn="base" hangingPunct="0">
      <a:spcBef>
        <a:spcPct val="0"/>
      </a:spcBef>
      <a:spcAft>
        <a:spcPct val="0"/>
      </a:spcAft>
      <a:defRPr sz="2800" kern="1200">
        <a:solidFill>
          <a:schemeClr val="tx1"/>
        </a:solidFill>
        <a:latin typeface="Arial" charset="0"/>
        <a:ea typeface="+mn-ea"/>
        <a:cs typeface="Arial" charset="0"/>
      </a:defRPr>
    </a:lvl5pPr>
    <a:lvl6pPr marL="2286000" algn="l" defTabSz="914400" rtl="0" eaLnBrk="1" latinLnBrk="0" hangingPunct="1">
      <a:defRPr sz="2800" kern="1200">
        <a:solidFill>
          <a:schemeClr val="tx1"/>
        </a:solidFill>
        <a:latin typeface="Arial" charset="0"/>
        <a:ea typeface="+mn-ea"/>
        <a:cs typeface="Arial" charset="0"/>
      </a:defRPr>
    </a:lvl6pPr>
    <a:lvl7pPr marL="2743200" algn="l" defTabSz="914400" rtl="0" eaLnBrk="1" latinLnBrk="0" hangingPunct="1">
      <a:defRPr sz="2800" kern="1200">
        <a:solidFill>
          <a:schemeClr val="tx1"/>
        </a:solidFill>
        <a:latin typeface="Arial" charset="0"/>
        <a:ea typeface="+mn-ea"/>
        <a:cs typeface="Arial" charset="0"/>
      </a:defRPr>
    </a:lvl7pPr>
    <a:lvl8pPr marL="3200400" algn="l" defTabSz="914400" rtl="0" eaLnBrk="1" latinLnBrk="0" hangingPunct="1">
      <a:defRPr sz="2800" kern="1200">
        <a:solidFill>
          <a:schemeClr val="tx1"/>
        </a:solidFill>
        <a:latin typeface="Arial" charset="0"/>
        <a:ea typeface="+mn-ea"/>
        <a:cs typeface="Arial" charset="0"/>
      </a:defRPr>
    </a:lvl8pPr>
    <a:lvl9pPr marL="3657600" algn="l" defTabSz="914400" rtl="0" eaLnBrk="1" latinLnBrk="0" hangingPunct="1">
      <a:defRPr sz="2800"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D0F0"/>
    <a:srgbClr val="3333FF"/>
    <a:srgbClr val="008000"/>
    <a:srgbClr val="DE4110"/>
  </p:clrMru>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36" autoAdjust="0"/>
  </p:normalViewPr>
  <p:slideViewPr>
    <p:cSldViewPr>
      <p:cViewPr varScale="1">
        <p:scale>
          <a:sx n="118" d="100"/>
          <a:sy n="118" d="100"/>
        </p:scale>
        <p:origin x="-102" y="-714"/>
      </p:cViewPr>
      <p:guideLst>
        <p:guide orient="horz" pos="2160"/>
        <p:guide pos="2880"/>
      </p:guideLst>
    </p:cSldViewPr>
  </p:slideViewPr>
  <p:outlineViewPr>
    <p:cViewPr>
      <p:scale>
        <a:sx n="33" d="100"/>
        <a:sy n="33" d="100"/>
      </p:scale>
      <p:origin x="0" y="1161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lnSpc>
                <a:spcPct val="90000"/>
              </a:lnSpc>
              <a:spcBef>
                <a:spcPct val="20000"/>
              </a:spcBef>
              <a:buClr>
                <a:schemeClr val="bg2"/>
              </a:buClr>
              <a:buSzPct val="75000"/>
              <a:buFont typeface="Wingdings" panose="05000000000000000000" pitchFamily="2" charset="2"/>
              <a:buNone/>
              <a:defRPr sz="1200">
                <a:latin typeface="Arial" charset="0"/>
                <a:cs typeface="Arial" charset="0"/>
              </a:defRPr>
            </a:lvl1pPr>
          </a:lstStyle>
          <a:p>
            <a:pPr>
              <a:defRPr/>
            </a:pPr>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lnSpc>
                <a:spcPct val="90000"/>
              </a:lnSpc>
              <a:spcBef>
                <a:spcPct val="20000"/>
              </a:spcBef>
              <a:buClr>
                <a:schemeClr val="bg2"/>
              </a:buClr>
              <a:buSzPct val="75000"/>
              <a:buFont typeface="Wingdings" panose="05000000000000000000" pitchFamily="2" charset="2"/>
              <a:buNone/>
              <a:defRPr sz="1200">
                <a:latin typeface="Arial" charset="0"/>
                <a:cs typeface="Arial" charset="0"/>
              </a:defRPr>
            </a:lvl1pPr>
          </a:lstStyle>
          <a:p>
            <a:pPr>
              <a:defRPr/>
            </a:pPr>
            <a:fld id="{6E18B315-6861-4762-9BE5-FA865E35DD72}" type="datetimeFigureOut">
              <a:rPr lang="ru-RU"/>
              <a:pPr>
                <a:defRPr/>
              </a:pPr>
              <a:t>09.10.2019</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ru-RU" noProof="0" smtClean="0"/>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noProof="0" smtClean="0"/>
              <a:t>Образец текста</a:t>
            </a:r>
          </a:p>
          <a:p>
            <a:pPr lvl="1"/>
            <a:r>
              <a:rPr lang="ru-RU" noProof="0" smtClean="0"/>
              <a:t>Второй уровень</a:t>
            </a:r>
          </a:p>
          <a:p>
            <a:pPr lvl="2"/>
            <a:r>
              <a:rPr lang="ru-RU" noProof="0" smtClean="0"/>
              <a:t>Третий уровень</a:t>
            </a:r>
          </a:p>
          <a:p>
            <a:pPr lvl="3"/>
            <a:r>
              <a:rPr lang="ru-RU" noProof="0" smtClean="0"/>
              <a:t>Четвертый уровень</a:t>
            </a:r>
          </a:p>
          <a:p>
            <a:pPr lvl="4"/>
            <a:r>
              <a:rPr lang="ru-RU" noProof="0" smtClean="0"/>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lnSpc>
                <a:spcPct val="90000"/>
              </a:lnSpc>
              <a:spcBef>
                <a:spcPct val="20000"/>
              </a:spcBef>
              <a:buClr>
                <a:schemeClr val="bg2"/>
              </a:buClr>
              <a:buSzPct val="75000"/>
              <a:buFont typeface="Wingdings" panose="05000000000000000000" pitchFamily="2" charset="2"/>
              <a:buNone/>
              <a:defRPr sz="1200">
                <a:latin typeface="Arial" charset="0"/>
                <a:cs typeface="Arial" charset="0"/>
              </a:defRPr>
            </a:lvl1pPr>
          </a:lstStyle>
          <a:p>
            <a:pPr>
              <a:defRPr/>
            </a:pPr>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lnSpc>
                <a:spcPct val="90000"/>
              </a:lnSpc>
              <a:spcBef>
                <a:spcPct val="20000"/>
              </a:spcBef>
              <a:buClr>
                <a:schemeClr val="bg2"/>
              </a:buClr>
              <a:buSzPct val="75000"/>
              <a:buFont typeface="Wingdings" pitchFamily="2" charset="2"/>
              <a:buNone/>
              <a:defRPr sz="1200"/>
            </a:lvl1pPr>
          </a:lstStyle>
          <a:p>
            <a:pPr>
              <a:defRPr/>
            </a:pPr>
            <a:fld id="{08F3EDC6-1BAC-415B-B3AE-9942A734E133}" type="slidenum">
              <a:rPr lang="ru-RU" altLang="ru-RU"/>
              <a:pPr>
                <a:defRPr/>
              </a:pPr>
              <a:t>‹#›</a:t>
            </a:fld>
            <a:endParaRPr lang="ru-RU" altLang="ru-R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Образ слайда 1"/>
          <p:cNvSpPr>
            <a:spLocks noGrp="1" noRot="1" noChangeAspect="1" noTextEdit="1"/>
          </p:cNvSpPr>
          <p:nvPr>
            <p:ph type="sldImg"/>
          </p:nvPr>
        </p:nvSpPr>
        <p:spPr bwMode="auto">
          <a:noFill/>
          <a:ln>
            <a:solidFill>
              <a:srgbClr val="000000"/>
            </a:solidFill>
            <a:miter lim="800000"/>
            <a:headEnd/>
            <a:tailEnd/>
          </a:ln>
        </p:spPr>
      </p:sp>
      <p:sp>
        <p:nvSpPr>
          <p:cNvPr id="34819" name="Заметки 2"/>
          <p:cNvSpPr>
            <a:spLocks noGrp="1"/>
          </p:cNvSpPr>
          <p:nvPr>
            <p:ph type="body" idx="1"/>
          </p:nvPr>
        </p:nvSpPr>
        <p:spPr bwMode="auto">
          <a:noFill/>
        </p:spPr>
        <p:txBody>
          <a:bodyPr wrap="square" numCol="1" anchor="t" anchorCtr="0" compatLnSpc="1">
            <a:prstTxWarp prst="textNoShape">
              <a:avLst/>
            </a:prstTxWarp>
          </a:bodyPr>
          <a:lstStyle/>
          <a:p>
            <a:endParaRPr lang="ru-RU" smtClean="0"/>
          </a:p>
        </p:txBody>
      </p:sp>
      <p:sp>
        <p:nvSpPr>
          <p:cNvPr id="34820" name="Номер слайда 3"/>
          <p:cNvSpPr>
            <a:spLocks noGrp="1"/>
          </p:cNvSpPr>
          <p:nvPr>
            <p:ph type="sldNum" sz="quarter" idx="5"/>
          </p:nvPr>
        </p:nvSpPr>
        <p:spPr bwMode="auto">
          <a:noFill/>
          <a:ln>
            <a:miter lim="800000"/>
            <a:headEnd/>
            <a:tailEnd/>
          </a:ln>
        </p:spPr>
        <p:txBody>
          <a:bodyPr/>
          <a:lstStyle/>
          <a:p>
            <a:fld id="{F8AE2434-4872-4AC8-8EAA-97C3279BB212}" type="slidenum">
              <a:rPr lang="ru-RU" altLang="ru-RU" smtClean="0"/>
              <a:pPr/>
              <a:t>19</a:t>
            </a:fld>
            <a:endParaRPr lang="ru-RU" altLang="ru-RU"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p:spPr>
          <p:txBody>
            <a:bodyPr wrap="none" anchor="ct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algn="ctr" eaLnBrk="1" hangingPunct="1">
                <a:defRPr/>
              </a:pPr>
              <a:endParaRPr lang="ru-RU" altLang="ru-RU" sz="2400" smtClean="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ru-RU" noProof="0" smtClean="0"/>
              <a:t>Образец заголовка</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ru-RU" noProof="0" smtClean="0"/>
              <a:t>Образец подзаголовка</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ru-RU"/>
          </a:p>
        </p:txBody>
      </p:sp>
      <p:sp>
        <p:nvSpPr>
          <p:cNvPr id="19" name="Rectangle 17"/>
          <p:cNvSpPr>
            <a:spLocks noGrp="1" noChangeArrowheads="1"/>
          </p:cNvSpPr>
          <p:nvPr>
            <p:ph type="ftr" sz="quarter" idx="11"/>
          </p:nvPr>
        </p:nvSpPr>
        <p:spPr/>
        <p:txBody>
          <a:bodyPr/>
          <a:lstStyle>
            <a:lvl1pPr>
              <a:defRPr/>
            </a:lvl1pPr>
          </a:lstStyle>
          <a:p>
            <a:pPr>
              <a:defRPr/>
            </a:pPr>
            <a:endParaRPr lang="ru-RU"/>
          </a:p>
        </p:txBody>
      </p:sp>
      <p:sp>
        <p:nvSpPr>
          <p:cNvPr id="20" name="Rectangle 18"/>
          <p:cNvSpPr>
            <a:spLocks noGrp="1" noChangeArrowheads="1"/>
          </p:cNvSpPr>
          <p:nvPr>
            <p:ph type="sldNum" sz="quarter" idx="12"/>
          </p:nvPr>
        </p:nvSpPr>
        <p:spPr/>
        <p:txBody>
          <a:bodyPr/>
          <a:lstStyle>
            <a:lvl1pPr>
              <a:defRPr/>
            </a:lvl1pPr>
          </a:lstStyle>
          <a:p>
            <a:pPr>
              <a:defRPr/>
            </a:pPr>
            <a:fld id="{E66B959A-3BE5-4463-BE0C-D9AADAD159AF}" type="slidenum">
              <a:rPr lang="ru-RU" altLang="ru-RU"/>
              <a:pPr>
                <a:defRPr/>
              </a:pPr>
              <a:t>‹#›</a:t>
            </a:fld>
            <a:endParaRPr lang="ru-RU" alt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03B561E8-F9B6-45B6-9E09-856DDB05A2D6}" type="slidenum">
              <a:rPr lang="ru-RU" altLang="ru-RU"/>
              <a:pPr>
                <a:defRPr/>
              </a:pPr>
              <a:t>‹#›</a:t>
            </a:fld>
            <a:endParaRPr lang="ru-RU" alt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smtClean="0"/>
              <a:t>Образец текста</a:t>
            </a:r>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4A7ACC3B-4333-481B-B3F0-A1A763E0ED5C}" type="slidenum">
              <a:rPr lang="ru-RU" altLang="ru-RU"/>
              <a:pPr>
                <a:defRPr/>
              </a:pPr>
              <a:t>‹#›</a:t>
            </a:fld>
            <a:endParaRPr lang="ru-RU" alt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72E8B9E0-9BC8-4D02-9EE0-CFD1D84B7F34}" type="slidenum">
              <a:rPr lang="ru-RU" altLang="ru-RU"/>
              <a:pPr>
                <a:defRPr/>
              </a:pPr>
              <a:t>‹#›</a:t>
            </a:fld>
            <a:endParaRPr lang="ru-RU" alt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Rectangle 2"/>
          <p:cNvSpPr>
            <a:spLocks noGrp="1" noChangeArrowheads="1"/>
          </p:cNvSpPr>
          <p:nvPr>
            <p:ph type="ftr" sz="quarter" idx="10"/>
          </p:nvPr>
        </p:nvSpPr>
        <p:spPr>
          <a:ln/>
        </p:spPr>
        <p:txBody>
          <a:bodyPr/>
          <a:lstStyle>
            <a:lvl1pPr>
              <a:defRPr/>
            </a:lvl1pPr>
          </a:lstStyle>
          <a:p>
            <a:pPr>
              <a:defRPr/>
            </a:pPr>
            <a:endParaRPr lang="ru-RU"/>
          </a:p>
        </p:txBody>
      </p:sp>
      <p:sp>
        <p:nvSpPr>
          <p:cNvPr id="8" name="Rectangle 3"/>
          <p:cNvSpPr>
            <a:spLocks noGrp="1" noChangeArrowheads="1"/>
          </p:cNvSpPr>
          <p:nvPr>
            <p:ph type="sldNum" sz="quarter" idx="11"/>
          </p:nvPr>
        </p:nvSpPr>
        <p:spPr>
          <a:ln/>
        </p:spPr>
        <p:txBody>
          <a:bodyPr/>
          <a:lstStyle>
            <a:lvl1pPr>
              <a:defRPr/>
            </a:lvl1pPr>
          </a:lstStyle>
          <a:p>
            <a:pPr>
              <a:defRPr/>
            </a:pPr>
            <a:fld id="{84BCB1B4-DF8C-4CB6-ACCC-60157C35D3AD}" type="slidenum">
              <a:rPr lang="ru-RU" altLang="ru-RU"/>
              <a:pPr>
                <a:defRPr/>
              </a:pPr>
              <a:t>‹#›</a:t>
            </a:fld>
            <a:endParaRPr lang="ru-RU" altLang="ru-RU"/>
          </a:p>
        </p:txBody>
      </p:sp>
      <p:sp>
        <p:nvSpPr>
          <p:cNvPr id="9"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Rectangle 2"/>
          <p:cNvSpPr>
            <a:spLocks noGrp="1" noChangeArrowheads="1"/>
          </p:cNvSpPr>
          <p:nvPr>
            <p:ph type="ftr" sz="quarter" idx="10"/>
          </p:nvPr>
        </p:nvSpPr>
        <p:spPr>
          <a:ln/>
        </p:spPr>
        <p:txBody>
          <a:bodyPr/>
          <a:lstStyle>
            <a:lvl1pPr>
              <a:defRPr/>
            </a:lvl1pPr>
          </a:lstStyle>
          <a:p>
            <a:pPr>
              <a:defRPr/>
            </a:pPr>
            <a:endParaRPr lang="ru-RU"/>
          </a:p>
        </p:txBody>
      </p:sp>
      <p:sp>
        <p:nvSpPr>
          <p:cNvPr id="4" name="Rectangle 3"/>
          <p:cNvSpPr>
            <a:spLocks noGrp="1" noChangeArrowheads="1"/>
          </p:cNvSpPr>
          <p:nvPr>
            <p:ph type="sldNum" sz="quarter" idx="11"/>
          </p:nvPr>
        </p:nvSpPr>
        <p:spPr>
          <a:ln/>
        </p:spPr>
        <p:txBody>
          <a:bodyPr/>
          <a:lstStyle>
            <a:lvl1pPr>
              <a:defRPr/>
            </a:lvl1pPr>
          </a:lstStyle>
          <a:p>
            <a:pPr>
              <a:defRPr/>
            </a:pPr>
            <a:fld id="{A2029322-F4A4-426D-9BE5-E7AD70AAAB09}" type="slidenum">
              <a:rPr lang="ru-RU" altLang="ru-RU"/>
              <a:pPr>
                <a:defRPr/>
              </a:pPr>
              <a:t>‹#›</a:t>
            </a:fld>
            <a:endParaRPr lang="ru-RU" altLang="ru-RU"/>
          </a:p>
        </p:txBody>
      </p:sp>
      <p:sp>
        <p:nvSpPr>
          <p:cNvPr id="5"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ru-RU"/>
          </a:p>
        </p:txBody>
      </p:sp>
      <p:sp>
        <p:nvSpPr>
          <p:cNvPr id="3" name="Rectangle 3"/>
          <p:cNvSpPr>
            <a:spLocks noGrp="1" noChangeArrowheads="1"/>
          </p:cNvSpPr>
          <p:nvPr>
            <p:ph type="sldNum" sz="quarter" idx="11"/>
          </p:nvPr>
        </p:nvSpPr>
        <p:spPr>
          <a:ln/>
        </p:spPr>
        <p:txBody>
          <a:bodyPr/>
          <a:lstStyle>
            <a:lvl1pPr>
              <a:defRPr/>
            </a:lvl1pPr>
          </a:lstStyle>
          <a:p>
            <a:pPr>
              <a:defRPr/>
            </a:pPr>
            <a:fld id="{A8B5A306-A59C-4AE3-A8E5-84E04EB30601}" type="slidenum">
              <a:rPr lang="ru-RU" altLang="ru-RU"/>
              <a:pPr>
                <a:defRPr/>
              </a:pPr>
              <a:t>‹#›</a:t>
            </a:fld>
            <a:endParaRPr lang="ru-RU" altLang="ru-RU"/>
          </a:p>
        </p:txBody>
      </p:sp>
      <p:sp>
        <p:nvSpPr>
          <p:cNvPr id="4"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C2A1C684-49D7-4DED-9668-871938B3244B}" type="slidenum">
              <a:rPr lang="ru-RU" altLang="ru-RU"/>
              <a:pPr>
                <a:defRPr/>
              </a:pPr>
              <a:t>‹#›</a:t>
            </a:fld>
            <a:endParaRPr lang="ru-RU" alt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smtClean="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07357A63-4201-4C81-9743-AB70E552BDB5}" type="slidenum">
              <a:rPr lang="ru-RU" altLang="ru-RU"/>
              <a:pPr>
                <a:defRPr/>
              </a:pPr>
              <a:t>‹#›</a:t>
            </a:fld>
            <a:endParaRPr lang="ru-RU" alt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00F3E0A1-FF98-4DA2-AD2E-3906048047C4}" type="slidenum">
              <a:rPr lang="ru-RU" altLang="ru-RU"/>
              <a:pPr>
                <a:defRPr/>
              </a:pPr>
              <a:t>‹#›</a:t>
            </a:fld>
            <a:endParaRPr lang="ru-RU" alt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457200"/>
            <a:ext cx="2057400" cy="5410200"/>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457200"/>
            <a:ext cx="6019800" cy="54102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43F5BB04-5109-4F94-931A-C9E72AD58811}" type="slidenum">
              <a:rPr lang="ru-RU" altLang="ru-RU"/>
              <a:pPr>
                <a:defRPr/>
              </a:pPr>
              <a:t>‹#›</a:t>
            </a:fld>
            <a:endParaRPr lang="ru-RU" alt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1371600"/>
          </a:xfrm>
        </p:spPr>
        <p:txBody>
          <a:bodyPr/>
          <a:lstStyle/>
          <a:p>
            <a:r>
              <a:rPr lang="ru-RU" smtClean="0"/>
              <a:t>Образец заголовка</a:t>
            </a:r>
            <a:endParaRPr lang="ru-RU"/>
          </a:p>
        </p:txBody>
      </p:sp>
      <p:sp>
        <p:nvSpPr>
          <p:cNvPr id="3" name="Таблица 2"/>
          <p:cNvSpPr>
            <a:spLocks noGrp="1"/>
          </p:cNvSpPr>
          <p:nvPr>
            <p:ph type="tbl" idx="1"/>
          </p:nvPr>
        </p:nvSpPr>
        <p:spPr>
          <a:xfrm>
            <a:off x="457200" y="1981200"/>
            <a:ext cx="8229600" cy="3886200"/>
          </a:xfrm>
        </p:spPr>
        <p:txBody>
          <a:bodyPr/>
          <a:lstStyle/>
          <a:p>
            <a:pPr lvl="0"/>
            <a:endParaRPr lang="ru-RU" noProof="0" smtClean="0"/>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2C2EB3B3-5D6A-4F94-8BED-928A35716375}" type="slidenum">
              <a:rPr lang="ru-RU" altLang="ru-RU"/>
              <a:pPr>
                <a:defRPr/>
              </a:pPr>
              <a:t>‹#›</a:t>
            </a:fld>
            <a:endParaRPr lang="ru-RU" alt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ctr" eaLnBrk="1" hangingPunct="1">
              <a:lnSpc>
                <a:spcPct val="100000"/>
              </a:lnSpc>
              <a:spcBef>
                <a:spcPct val="0"/>
              </a:spcBef>
              <a:buClrTx/>
              <a:buSzTx/>
              <a:buFontTx/>
              <a:buNone/>
              <a:defRPr sz="1200">
                <a:latin typeface="Arial" charset="0"/>
                <a:cs typeface="Arial" charset="0"/>
              </a:defRPr>
            </a:lvl1pPr>
          </a:lstStyle>
          <a:p>
            <a:pPr>
              <a:defRPr/>
            </a:pPr>
            <a:endParaRPr lang="ru-RU"/>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a:latin typeface="Arial Black" pitchFamily="34" charset="0"/>
              </a:defRPr>
            </a:lvl1pPr>
          </a:lstStyle>
          <a:p>
            <a:pPr>
              <a:defRPr/>
            </a:pPr>
            <a:fld id="{C10EF93B-77E2-456A-B5D1-14604A487884}" type="slidenum">
              <a:rPr lang="ru-RU" altLang="ru-RU"/>
              <a:pPr>
                <a:defRPr/>
              </a:pPr>
              <a:t>‹#›</a:t>
            </a:fld>
            <a:endParaRPr lang="ru-RU" altLang="ru-RU"/>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p:spPr>
          <p:txBody>
            <a:bodyPr wrap="none" anchor="ct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algn="ctr" eaLnBrk="1" hangingPunct="1">
                <a:defRPr/>
              </a:pPr>
              <a:endParaRPr lang="ru-RU" altLang="ru-RU" sz="2400" smtClean="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1800" smtClean="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1800" smtClean="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1800" smtClean="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1800" smtClean="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2400" smtClean="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1800" smtClean="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defRPr/>
              </a:pPr>
              <a:endParaRPr lang="ru-RU" altLang="ru-RU" sz="1800" smtClean="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ltLang="ru-RU" smtClean="0"/>
              <a:t>Образец заголовка</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ltLang="ru-RU" smtClean="0"/>
              <a:t>Образец текста</a:t>
            </a:r>
          </a:p>
          <a:p>
            <a:pPr lvl="1"/>
            <a:r>
              <a:rPr lang="ru-RU" altLang="ru-RU" smtClean="0"/>
              <a:t>Второй уровень</a:t>
            </a:r>
          </a:p>
          <a:p>
            <a:pPr lvl="2"/>
            <a:r>
              <a:rPr lang="ru-RU" altLang="ru-RU" smtClean="0"/>
              <a:t>Третий уровень</a:t>
            </a:r>
          </a:p>
          <a:p>
            <a:pPr lvl="3"/>
            <a:r>
              <a:rPr lang="ru-RU" altLang="ru-RU" smtClean="0"/>
              <a:t>Четвертый уровень</a:t>
            </a:r>
          </a:p>
          <a:p>
            <a:pPr lvl="4"/>
            <a:r>
              <a:rPr lang="ru-RU" altLang="ru-RU" smtClean="0"/>
              <a:t>Пятый уровень</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ClrTx/>
              <a:buSzTx/>
              <a:buFontTx/>
              <a:buNone/>
              <a:defRPr sz="1200">
                <a:latin typeface="Arial" charset="0"/>
                <a:cs typeface="Arial" charset="0"/>
              </a:defRPr>
            </a:lvl1pPr>
          </a:lstStyle>
          <a:p>
            <a:pPr>
              <a:defRPr/>
            </a:pPr>
            <a:endParaRPr lang="ru-RU"/>
          </a:p>
        </p:txBody>
      </p:sp>
    </p:spTree>
  </p:cSld>
  <p:clrMap bg1="lt1" tx1="dk1" bg2="lt2" tx2="dk2" accent1="accent1" accent2="accent2" accent3="accent3" accent4="accent4" accent5="accent5" accent6="accent6" hlink="hlink" folHlink="folHlink"/>
  <p:sldLayoutIdLst>
    <p:sldLayoutId id="2147483947"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 id="2147483946" r:id="rId12"/>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11288" y="1844675"/>
            <a:ext cx="7732712" cy="2305050"/>
          </a:xfrm>
        </p:spPr>
        <p:txBody>
          <a:bodyPr/>
          <a:lstStyle/>
          <a:p>
            <a:pPr algn="ctr" eaLnBrk="1" hangingPunct="1">
              <a:spcAft>
                <a:spcPct val="150000"/>
              </a:spcAft>
              <a:defRPr/>
            </a:pPr>
            <a:r>
              <a:rPr lang="en-US" dirty="0" smtClean="0"/>
              <a:t>SQL-92</a:t>
            </a:r>
            <a:r>
              <a:rPr lang="ru-RU" dirty="0" smtClean="0"/>
              <a:t/>
            </a:r>
            <a:br>
              <a:rPr lang="ru-RU" dirty="0" smtClean="0"/>
            </a:br>
            <a:r>
              <a:rPr lang="ru-RU" sz="4000" dirty="0" smtClean="0">
                <a:latin typeface="+mn-lt"/>
              </a:rPr>
              <a:t>Манипулирование данными</a:t>
            </a:r>
          </a:p>
        </p:txBody>
      </p:sp>
      <p:sp>
        <p:nvSpPr>
          <p:cNvPr id="3075" name="Rectangle 3"/>
          <p:cNvSpPr>
            <a:spLocks noGrp="1" noChangeArrowheads="1"/>
          </p:cNvSpPr>
          <p:nvPr>
            <p:ph type="subTitle" idx="1"/>
          </p:nvPr>
        </p:nvSpPr>
        <p:spPr>
          <a:xfrm>
            <a:off x="1619250" y="4267200"/>
            <a:ext cx="7372350" cy="1752600"/>
          </a:xfrm>
        </p:spPr>
        <p:txBody>
          <a:bodyPr/>
          <a:lstStyle/>
          <a:p>
            <a:pPr eaLnBrk="1" hangingPunct="1"/>
            <a:r>
              <a:rPr lang="ru-RU" altLang="ru-RU" smtClean="0"/>
              <a:t>М. Грабер  </a:t>
            </a:r>
            <a:r>
              <a:rPr lang="en-US" altLang="ru-RU" smtClean="0"/>
              <a:t>SQL</a:t>
            </a:r>
            <a:r>
              <a:rPr lang="ru-RU" altLang="ru-RU" smtClean="0"/>
              <a:t>. Глава 6</a:t>
            </a:r>
          </a:p>
          <a:p>
            <a:pPr eaLnBrk="1" hangingPunct="1"/>
            <a:endParaRPr lang="ru-RU" altLang="ru-RU" smtClean="0"/>
          </a:p>
          <a:p>
            <a:pPr eaLnBrk="1" hangingPunct="1"/>
            <a:r>
              <a:rPr lang="en-US" altLang="ru-RU" sz="2800" smtClean="0"/>
              <a:t>http://www.sql.ru/docs/sql/u_sql/ch15.shtml</a:t>
            </a:r>
            <a:endParaRPr lang="ru-RU" altLang="ru-RU" sz="2800" smtClean="0"/>
          </a:p>
          <a:p>
            <a:pPr eaLnBrk="1" hangingPunct="1"/>
            <a:endParaRPr lang="ru-RU" altLang="ru-RU" smtClean="0"/>
          </a:p>
          <a:p>
            <a:pPr eaLnBrk="1" hangingPunct="1"/>
            <a:endParaRPr lang="ru-RU" altLang="ru-RU"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ctr"/>
            <a:r>
              <a:rPr lang="ru-RU" altLang="ru-RU" sz="4000" smtClean="0">
                <a:solidFill>
                  <a:schemeClr val="bg2"/>
                </a:solidFill>
              </a:rPr>
              <a:t>Операторы манипулирования</a:t>
            </a:r>
          </a:p>
        </p:txBody>
      </p:sp>
      <p:sp>
        <p:nvSpPr>
          <p:cNvPr id="39939" name="Rectangle 3"/>
          <p:cNvSpPr>
            <a:spLocks noGrp="1" noChangeArrowheads="1"/>
          </p:cNvSpPr>
          <p:nvPr>
            <p:ph type="body" idx="1"/>
          </p:nvPr>
        </p:nvSpPr>
        <p:spPr>
          <a:xfrm>
            <a:off x="179388" y="1981200"/>
            <a:ext cx="8507412" cy="3176588"/>
          </a:xfrm>
        </p:spPr>
        <p:txBody>
          <a:bodyPr/>
          <a:lstStyle/>
          <a:p>
            <a:pPr marL="609600" indent="-609600">
              <a:spcBef>
                <a:spcPts val="2400"/>
              </a:spcBef>
            </a:pPr>
            <a:r>
              <a:rPr lang="en-US" altLang="ru-RU" b="1" smtClean="0"/>
              <a:t>INSERT</a:t>
            </a:r>
            <a:r>
              <a:rPr lang="ru-RU" altLang="ru-RU" b="1" smtClean="0"/>
              <a:t> – </a:t>
            </a:r>
            <a:r>
              <a:rPr lang="ru-RU" altLang="ru-RU" sz="2800" smtClean="0"/>
              <a:t>ввод данных в таблицу БД</a:t>
            </a:r>
            <a:endParaRPr lang="en-US" altLang="ru-RU" sz="2800" smtClean="0"/>
          </a:p>
          <a:p>
            <a:pPr marL="609600" indent="-609600">
              <a:spcBef>
                <a:spcPts val="2400"/>
              </a:spcBef>
            </a:pPr>
            <a:r>
              <a:rPr lang="en-US" altLang="ru-RU" b="1" smtClean="0"/>
              <a:t>DELETE </a:t>
            </a:r>
            <a:r>
              <a:rPr lang="ru-RU" altLang="ru-RU" b="1" smtClean="0"/>
              <a:t>– </a:t>
            </a:r>
            <a:r>
              <a:rPr lang="ru-RU" altLang="ru-RU" sz="2800" smtClean="0"/>
              <a:t>удаление данных из таблицы БД</a:t>
            </a:r>
          </a:p>
          <a:p>
            <a:pPr marL="609600" indent="-609600">
              <a:spcBef>
                <a:spcPts val="2400"/>
              </a:spcBef>
            </a:pPr>
            <a:r>
              <a:rPr lang="en-US" altLang="ru-RU" b="1" smtClean="0"/>
              <a:t>UPDATE </a:t>
            </a:r>
            <a:r>
              <a:rPr lang="ru-RU" altLang="ru-RU" b="1" smtClean="0"/>
              <a:t>– </a:t>
            </a:r>
            <a:r>
              <a:rPr lang="ru-RU" altLang="ru-RU" sz="2800" smtClean="0"/>
              <a:t>изменение данных в таблице БД</a:t>
            </a:r>
          </a:p>
          <a:p>
            <a:pPr marL="609600" indent="-609600">
              <a:spcBef>
                <a:spcPts val="2400"/>
              </a:spcBef>
            </a:pPr>
            <a:r>
              <a:rPr lang="en-US" altLang="ru-RU" b="1" smtClean="0"/>
              <a:t>SELECT </a:t>
            </a:r>
            <a:r>
              <a:rPr lang="ru-RU" altLang="ru-RU" b="1" smtClean="0"/>
              <a:t>– поиск данных в БД</a:t>
            </a:r>
          </a:p>
          <a:p>
            <a:pPr marL="609600" indent="-609600">
              <a:spcBef>
                <a:spcPts val="2400"/>
              </a:spcBef>
            </a:pPr>
            <a:endParaRPr lang="ru-RU" altLang="ru-RU" smtClean="0"/>
          </a:p>
          <a:p>
            <a:pPr marL="609600" indent="-609600"/>
            <a:endParaRPr lang="ru-RU" altLang="ru-RU" sz="2800" smtClean="0"/>
          </a:p>
        </p:txBody>
      </p:sp>
      <p:sp>
        <p:nvSpPr>
          <p:cNvPr id="4100" name="Номер слайда 3"/>
          <p:cNvSpPr>
            <a:spLocks noGrp="1"/>
          </p:cNvSpPr>
          <p:nvPr>
            <p:ph type="sldNum" sz="quarter" idx="11"/>
          </p:nvPr>
        </p:nvSpPr>
        <p:spPr>
          <a:noFill/>
          <a:ln>
            <a:miter lim="800000"/>
            <a:headEnd/>
            <a:tailEnd/>
          </a:ln>
        </p:spPr>
        <p:txBody>
          <a:bodyPr/>
          <a:lstStyle/>
          <a:p>
            <a:fld id="{A64B8F54-D562-4DD4-8716-18BEC818701F}" type="slidenum">
              <a:rPr lang="ru-RU" altLang="ru-RU" smtClean="0"/>
              <a:pPr/>
              <a:t>2</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wipe(down)">
                                      <p:cBhvr>
                                        <p:cTn id="7" dur="500"/>
                                        <p:tgtEl>
                                          <p:spTgt spid="39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wipe(down)">
                                      <p:cBhvr>
                                        <p:cTn id="12" dur="500"/>
                                        <p:tgtEl>
                                          <p:spTgt spid="399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wipe(down)">
                                      <p:cBhvr>
                                        <p:cTn id="17" dur="500"/>
                                        <p:tgtEl>
                                          <p:spTgt spid="399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9939">
                                            <p:txEl>
                                              <p:pRg st="3" end="3"/>
                                            </p:txEl>
                                          </p:spTgt>
                                        </p:tgtEl>
                                        <p:attrNameLst>
                                          <p:attrName>style.visibility</p:attrName>
                                        </p:attrNameLst>
                                      </p:cBhvr>
                                      <p:to>
                                        <p:strVal val="visible"/>
                                      </p:to>
                                    </p:set>
                                    <p:animEffect transition="in" filter="wipe(down)">
                                      <p:cBhvr>
                                        <p:cTn id="22" dur="500"/>
                                        <p:tgtEl>
                                          <p:spTgt spid="39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Заголовок 1"/>
          <p:cNvSpPr>
            <a:spLocks noGrp="1"/>
          </p:cNvSpPr>
          <p:nvPr>
            <p:ph type="title"/>
          </p:nvPr>
        </p:nvSpPr>
        <p:spPr>
          <a:xfrm>
            <a:off x="179388" y="115888"/>
            <a:ext cx="8785225" cy="668337"/>
          </a:xfrm>
        </p:spPr>
        <p:txBody>
          <a:bodyPr/>
          <a:lstStyle/>
          <a:p>
            <a:pPr algn="ctr"/>
            <a:r>
              <a:rPr lang="ru-RU" altLang="ru-RU" sz="3600" smtClean="0">
                <a:solidFill>
                  <a:schemeClr val="bg2"/>
                </a:solidFill>
              </a:rPr>
              <a:t>Ввод данных в таблицы</a:t>
            </a:r>
            <a:endParaRPr lang="ru-RU" altLang="ru-RU" sz="3600" i="1" smtClean="0">
              <a:solidFill>
                <a:schemeClr val="bg2"/>
              </a:solidFill>
            </a:endParaRPr>
          </a:p>
        </p:txBody>
      </p:sp>
      <p:sp>
        <p:nvSpPr>
          <p:cNvPr id="3" name="Объект 2"/>
          <p:cNvSpPr>
            <a:spLocks noGrp="1"/>
          </p:cNvSpPr>
          <p:nvPr>
            <p:ph idx="1"/>
          </p:nvPr>
        </p:nvSpPr>
        <p:spPr>
          <a:xfrm>
            <a:off x="107504" y="836712"/>
            <a:ext cx="8946009" cy="5688632"/>
          </a:xfrm>
        </p:spPr>
        <p:txBody>
          <a:bodyPr>
            <a:normAutofit fontScale="92500" lnSpcReduction="20000"/>
          </a:bodyPr>
          <a:lstStyle/>
          <a:p>
            <a:pPr marL="0">
              <a:lnSpc>
                <a:spcPct val="110000"/>
              </a:lnSpc>
              <a:spcBef>
                <a:spcPts val="1200"/>
              </a:spcBef>
              <a:buFont typeface="Wingdings" pitchFamily="2" charset="2"/>
              <a:buNone/>
              <a:defRPr/>
            </a:pPr>
            <a:r>
              <a:rPr lang="ru-RU" altLang="ru-RU" sz="2800" dirty="0" smtClean="0"/>
              <a:t>Для ввода данных в таблицы базы данных </a:t>
            </a:r>
            <a:r>
              <a:rPr lang="ru-RU" altLang="ru-RU" sz="2800" dirty="0" smtClean="0"/>
              <a:t/>
            </a:r>
            <a:br>
              <a:rPr lang="ru-RU" altLang="ru-RU" sz="2800" dirty="0" smtClean="0"/>
            </a:br>
            <a:endParaRPr lang="ru-RU" altLang="ru-RU" sz="2800" dirty="0" smtClean="0"/>
          </a:p>
          <a:p>
            <a:pPr marL="0">
              <a:lnSpc>
                <a:spcPct val="110000"/>
              </a:lnSpc>
              <a:spcBef>
                <a:spcPts val="1200"/>
              </a:spcBef>
              <a:buFont typeface="Wingdings" pitchFamily="2" charset="2"/>
              <a:buNone/>
              <a:defRPr/>
            </a:pPr>
            <a:r>
              <a:rPr lang="ru-RU" altLang="ru-RU" sz="2600" dirty="0" smtClean="0"/>
              <a:t>а) используются 2 </a:t>
            </a:r>
            <a:r>
              <a:rPr lang="ru-RU" altLang="ru-RU" sz="2600" dirty="0" smtClean="0"/>
              <a:t>варианта оператора INSERT:</a:t>
            </a:r>
          </a:p>
          <a:p>
            <a:pPr>
              <a:lnSpc>
                <a:spcPct val="110000"/>
              </a:lnSpc>
              <a:buFont typeface="Wingdings" pitchFamily="2" charset="2"/>
              <a:buNone/>
              <a:defRPr/>
            </a:pPr>
            <a:r>
              <a:rPr lang="ru-RU" altLang="ru-RU" sz="2800" dirty="0" smtClean="0">
                <a:solidFill>
                  <a:schemeClr val="bg2"/>
                </a:solidFill>
              </a:rPr>
              <a:t>INSERT </a:t>
            </a:r>
            <a:r>
              <a:rPr lang="ru-RU" altLang="ru-RU" sz="2800" dirty="0" smtClean="0">
                <a:solidFill>
                  <a:schemeClr val="bg2"/>
                </a:solidFill>
              </a:rPr>
              <a:t>INTO</a:t>
            </a:r>
            <a:r>
              <a:rPr lang="ru-RU" altLang="ru-RU" sz="2800" dirty="0" smtClean="0"/>
              <a:t> </a:t>
            </a:r>
            <a:r>
              <a:rPr lang="en-US" altLang="ru-RU" sz="2800" dirty="0" smtClean="0"/>
              <a:t>&lt;</a:t>
            </a:r>
            <a:r>
              <a:rPr lang="ru-RU" altLang="ru-RU" sz="2800" dirty="0" err="1" smtClean="0"/>
              <a:t>имя-таблицы</a:t>
            </a:r>
            <a:r>
              <a:rPr lang="en-US" altLang="ru-RU" sz="2800" dirty="0" smtClean="0"/>
              <a:t>&gt;</a:t>
            </a:r>
            <a:r>
              <a:rPr lang="ru-RU" altLang="ru-RU" sz="2800" dirty="0" smtClean="0"/>
              <a:t> [( </a:t>
            </a:r>
            <a:r>
              <a:rPr lang="ru-RU" altLang="ru-RU" sz="2800" dirty="0" err="1" smtClean="0"/>
              <a:t>имя-колонки</a:t>
            </a:r>
            <a:r>
              <a:rPr lang="ru-RU" altLang="ru-RU" sz="2800" dirty="0" smtClean="0"/>
              <a:t>, ... )] </a:t>
            </a:r>
            <a:r>
              <a:rPr lang="en-US" altLang="ru-RU" sz="2800" dirty="0" smtClean="0"/>
              <a:t>                       	</a:t>
            </a:r>
            <a:r>
              <a:rPr lang="ru-RU" altLang="ru-RU" sz="2800" dirty="0" smtClean="0">
                <a:solidFill>
                  <a:schemeClr val="bg2"/>
                </a:solidFill>
              </a:rPr>
              <a:t>VALUES</a:t>
            </a:r>
            <a:r>
              <a:rPr lang="ru-RU" altLang="ru-RU" sz="2800" dirty="0" smtClean="0"/>
              <a:t> ( выражение | DEFAULT,...)</a:t>
            </a:r>
          </a:p>
          <a:p>
            <a:pPr>
              <a:lnSpc>
                <a:spcPct val="110000"/>
              </a:lnSpc>
              <a:buFont typeface="Wingdings" pitchFamily="2" charset="2"/>
              <a:buNone/>
              <a:defRPr/>
            </a:pPr>
            <a:r>
              <a:rPr lang="ru-RU" altLang="ru-RU" sz="2800" dirty="0" smtClean="0">
                <a:solidFill>
                  <a:schemeClr val="bg2"/>
                </a:solidFill>
              </a:rPr>
              <a:t>INSERT INTO</a:t>
            </a:r>
            <a:r>
              <a:rPr lang="ru-RU" altLang="ru-RU" sz="2800" dirty="0" smtClean="0"/>
              <a:t> </a:t>
            </a:r>
            <a:r>
              <a:rPr lang="en-US" altLang="ru-RU" sz="2800" dirty="0" smtClean="0"/>
              <a:t>&lt;</a:t>
            </a:r>
            <a:r>
              <a:rPr lang="ru-RU" altLang="ru-RU" sz="2800" dirty="0" err="1" smtClean="0"/>
              <a:t>имя-таблицы</a:t>
            </a:r>
            <a:r>
              <a:rPr lang="en-US" altLang="ru-RU" sz="2800" dirty="0" smtClean="0"/>
              <a:t>&gt;</a:t>
            </a:r>
            <a:r>
              <a:rPr lang="ru-RU" altLang="ru-RU" sz="2800" dirty="0" smtClean="0"/>
              <a:t> [( </a:t>
            </a:r>
            <a:r>
              <a:rPr lang="ru-RU" altLang="ru-RU" sz="2800" dirty="0" err="1" smtClean="0"/>
              <a:t>имя-колонки</a:t>
            </a:r>
            <a:r>
              <a:rPr lang="ru-RU" altLang="ru-RU" sz="2800" dirty="0" smtClean="0"/>
              <a:t>, ... )] </a:t>
            </a:r>
            <a:r>
              <a:rPr lang="en-US" altLang="ru-RU" sz="2800" dirty="0" smtClean="0"/>
              <a:t>	</a:t>
            </a:r>
            <a:r>
              <a:rPr lang="ru-RU" altLang="ru-RU" sz="2800" dirty="0" smtClean="0">
                <a:solidFill>
                  <a:schemeClr val="bg2"/>
                </a:solidFill>
              </a:rPr>
              <a:t>SELECT-оператор</a:t>
            </a:r>
          </a:p>
          <a:p>
            <a:pPr>
              <a:lnSpc>
                <a:spcPct val="110000"/>
              </a:lnSpc>
              <a:buFont typeface="Wingdings" pitchFamily="2" charset="2"/>
              <a:buNone/>
              <a:defRPr/>
            </a:pPr>
            <a:r>
              <a:rPr lang="en-US" altLang="ru-RU" sz="1900" dirty="0" smtClean="0"/>
              <a:t>&lt;</a:t>
            </a:r>
            <a:r>
              <a:rPr lang="ru-RU" altLang="ru-RU" sz="1900" dirty="0" err="1" smtClean="0"/>
              <a:t>имя-таблицы</a:t>
            </a:r>
            <a:r>
              <a:rPr lang="en-US" altLang="ru-RU" sz="1900" dirty="0" smtClean="0"/>
              <a:t>&gt;</a:t>
            </a:r>
            <a:r>
              <a:rPr lang="ru-RU" altLang="ru-RU" sz="1900" dirty="0" smtClean="0"/>
              <a:t> – имя базовой таблицы или обновляемого представления (</a:t>
            </a:r>
            <a:r>
              <a:rPr lang="en-US" altLang="ru-RU" sz="1900" dirty="0" smtClean="0"/>
              <a:t>VIEW)</a:t>
            </a:r>
            <a:endParaRPr lang="ru-RU" altLang="ru-RU" sz="1900" dirty="0" smtClean="0">
              <a:solidFill>
                <a:schemeClr val="bg2"/>
              </a:solidFill>
            </a:endParaRPr>
          </a:p>
          <a:p>
            <a:pPr>
              <a:lnSpc>
                <a:spcPct val="110000"/>
              </a:lnSpc>
              <a:spcBef>
                <a:spcPts val="1200"/>
              </a:spcBef>
              <a:buFont typeface="Wingdings" pitchFamily="2" charset="2"/>
              <a:buNone/>
              <a:defRPr/>
            </a:pPr>
            <a:r>
              <a:rPr lang="ru-RU" altLang="ru-RU" sz="2600" dirty="0" smtClean="0"/>
              <a:t>б) </a:t>
            </a:r>
            <a:r>
              <a:rPr lang="ru-RU" altLang="ru-RU" sz="2600" dirty="0" smtClean="0"/>
              <a:t>у</a:t>
            </a:r>
            <a:r>
              <a:rPr lang="ru-RU" altLang="ru-RU" sz="2600" dirty="0" smtClean="0"/>
              <a:t>тилиты СУБД </a:t>
            </a:r>
            <a:r>
              <a:rPr lang="ru-RU" altLang="ru-RU" sz="3000" dirty="0" smtClean="0">
                <a:solidFill>
                  <a:schemeClr val="bg2"/>
                </a:solidFill>
              </a:rPr>
              <a:t/>
            </a:r>
            <a:br>
              <a:rPr lang="ru-RU" altLang="ru-RU" sz="3000" dirty="0" smtClean="0">
                <a:solidFill>
                  <a:schemeClr val="bg2"/>
                </a:solidFill>
              </a:rPr>
            </a:br>
            <a:r>
              <a:rPr lang="en-US" altLang="ru-RU" dirty="0" smtClean="0">
                <a:solidFill>
                  <a:schemeClr val="bg2"/>
                </a:solidFill>
              </a:rPr>
              <a:t>Load/Unload </a:t>
            </a:r>
            <a:r>
              <a:rPr lang="en-US" altLang="ru-RU" dirty="0" smtClean="0">
                <a:solidFill>
                  <a:schemeClr val="bg2"/>
                </a:solidFill>
              </a:rPr>
              <a:t>Data </a:t>
            </a:r>
            <a:r>
              <a:rPr lang="en-US" altLang="ru-RU" dirty="0" smtClean="0">
                <a:solidFill>
                  <a:schemeClr val="bg2"/>
                </a:solidFill>
              </a:rPr>
              <a:t>Utilities</a:t>
            </a:r>
            <a:r>
              <a:rPr lang="ru-RU" altLang="ru-RU" dirty="0" smtClean="0">
                <a:solidFill>
                  <a:schemeClr val="bg2"/>
                </a:solidFill>
              </a:rPr>
              <a:t>, </a:t>
            </a:r>
            <a:r>
              <a:rPr lang="ru-RU" altLang="ru-RU" sz="2600" dirty="0" smtClean="0"/>
              <a:t>где в качестве параметров могут быть:</a:t>
            </a:r>
            <a:endParaRPr lang="en-US" altLang="ru-RU" sz="2600" dirty="0" smtClean="0"/>
          </a:p>
          <a:p>
            <a:pPr>
              <a:lnSpc>
                <a:spcPct val="110000"/>
              </a:lnSpc>
              <a:defRPr/>
            </a:pPr>
            <a:r>
              <a:rPr lang="ru-RU" altLang="ru-RU" sz="2000" dirty="0" err="1" smtClean="0"/>
              <a:t>Text</a:t>
            </a:r>
            <a:r>
              <a:rPr lang="ru-RU" altLang="ru-RU" sz="2000" dirty="0" smtClean="0"/>
              <a:t> </a:t>
            </a:r>
            <a:r>
              <a:rPr lang="ru-RU" altLang="ru-RU" sz="2000" dirty="0" err="1" smtClean="0"/>
              <a:t>file</a:t>
            </a:r>
            <a:r>
              <a:rPr lang="ru-RU" altLang="ru-RU" sz="2000" dirty="0" smtClean="0"/>
              <a:t> </a:t>
            </a:r>
            <a:r>
              <a:rPr lang="ru-RU" altLang="ru-RU" sz="2000" dirty="0" err="1" smtClean="0"/>
              <a:t>containing</a:t>
            </a:r>
            <a:r>
              <a:rPr lang="ru-RU" altLang="ru-RU" sz="2000" dirty="0" smtClean="0"/>
              <a:t> </a:t>
            </a:r>
            <a:r>
              <a:rPr lang="ru-RU" altLang="ru-RU" sz="2000" dirty="0" err="1" smtClean="0"/>
              <a:t>comma-delimited</a:t>
            </a:r>
            <a:r>
              <a:rPr lang="ru-RU" altLang="ru-RU" sz="2000" dirty="0" smtClean="0"/>
              <a:t> </a:t>
            </a:r>
            <a:r>
              <a:rPr lang="ru-RU" altLang="ru-RU" sz="2000" dirty="0" err="1" smtClean="0"/>
              <a:t>or</a:t>
            </a:r>
            <a:r>
              <a:rPr lang="ru-RU" altLang="ru-RU" sz="2000" dirty="0" smtClean="0"/>
              <a:t> </a:t>
            </a:r>
            <a:r>
              <a:rPr lang="ru-RU" altLang="ru-RU" sz="2000" dirty="0" err="1" smtClean="0"/>
              <a:t>tab-delimited</a:t>
            </a:r>
            <a:r>
              <a:rPr lang="ru-RU" altLang="ru-RU" sz="2000" dirty="0" smtClean="0"/>
              <a:t> </a:t>
            </a:r>
            <a:r>
              <a:rPr lang="ru-RU" altLang="ru-RU" sz="2000" dirty="0" err="1" smtClean="0"/>
              <a:t>data</a:t>
            </a:r>
            <a:endParaRPr lang="ru-RU" altLang="ru-RU" sz="2000" dirty="0" smtClean="0"/>
          </a:p>
          <a:p>
            <a:pPr>
              <a:lnSpc>
                <a:spcPct val="110000"/>
              </a:lnSpc>
              <a:defRPr/>
            </a:pPr>
            <a:r>
              <a:rPr lang="ru-RU" altLang="ru-RU" sz="2000" dirty="0" smtClean="0"/>
              <a:t>XML </a:t>
            </a:r>
            <a:r>
              <a:rPr lang="ru-RU" altLang="ru-RU" sz="2000" dirty="0" err="1" smtClean="0"/>
              <a:t>documents</a:t>
            </a:r>
            <a:endParaRPr lang="ru-RU" altLang="ru-RU" sz="2000" dirty="0" smtClean="0"/>
          </a:p>
          <a:p>
            <a:pPr>
              <a:lnSpc>
                <a:spcPct val="110000"/>
              </a:lnSpc>
              <a:defRPr/>
            </a:pPr>
            <a:r>
              <a:rPr lang="ru-RU" altLang="ru-RU" sz="2000" dirty="0" err="1" smtClean="0"/>
              <a:t>Spreadsheets</a:t>
            </a:r>
            <a:endParaRPr lang="en-US" altLang="ru-RU" sz="2000" dirty="0" smtClean="0">
              <a:solidFill>
                <a:schemeClr val="bg2"/>
              </a:solidFill>
            </a:endParaRPr>
          </a:p>
          <a:p>
            <a:pPr>
              <a:lnSpc>
                <a:spcPct val="110000"/>
              </a:lnSpc>
              <a:buFont typeface="Wingdings" pitchFamily="2" charset="2"/>
              <a:buNone/>
              <a:defRPr/>
            </a:pPr>
            <a:endParaRPr lang="ru-RU" altLang="ru-RU" sz="2800" dirty="0" smtClean="0">
              <a:solidFill>
                <a:schemeClr val="bg2"/>
              </a:solidFill>
            </a:endParaRPr>
          </a:p>
        </p:txBody>
      </p:sp>
      <p:sp>
        <p:nvSpPr>
          <p:cNvPr id="5124" name="Номер слайда 3"/>
          <p:cNvSpPr>
            <a:spLocks noGrp="1"/>
          </p:cNvSpPr>
          <p:nvPr>
            <p:ph type="sldNum" sz="quarter" idx="11"/>
          </p:nvPr>
        </p:nvSpPr>
        <p:spPr>
          <a:noFill/>
          <a:ln>
            <a:miter lim="800000"/>
            <a:headEnd/>
            <a:tailEnd/>
          </a:ln>
        </p:spPr>
        <p:txBody>
          <a:bodyPr/>
          <a:lstStyle/>
          <a:p>
            <a:fld id="{32AE58A8-90E6-4D05-AF93-39C8B2A289D9}" type="slidenum">
              <a:rPr lang="ru-RU" altLang="ru-RU" smtClean="0"/>
              <a:pPr/>
              <a:t>3</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1"/>
          <p:cNvSpPr>
            <a:spLocks noGrp="1"/>
          </p:cNvSpPr>
          <p:nvPr>
            <p:ph type="title"/>
          </p:nvPr>
        </p:nvSpPr>
        <p:spPr>
          <a:xfrm>
            <a:off x="539750" y="0"/>
            <a:ext cx="8229600" cy="576263"/>
          </a:xfrm>
        </p:spPr>
        <p:txBody>
          <a:bodyPr/>
          <a:lstStyle/>
          <a:p>
            <a:pPr algn="ctr"/>
            <a:r>
              <a:rPr lang="ru-RU" altLang="ru-RU" sz="4000" smtClean="0">
                <a:solidFill>
                  <a:schemeClr val="bg2"/>
                </a:solidFill>
              </a:rPr>
              <a:t>Пример</a:t>
            </a:r>
            <a:r>
              <a:rPr lang="ru-RU" altLang="ru-RU" sz="4000" smtClean="0"/>
              <a:t> </a:t>
            </a:r>
          </a:p>
        </p:txBody>
      </p:sp>
      <p:sp>
        <p:nvSpPr>
          <p:cNvPr id="3" name="Объект 2"/>
          <p:cNvSpPr>
            <a:spLocks noGrp="1"/>
          </p:cNvSpPr>
          <p:nvPr>
            <p:ph idx="1"/>
          </p:nvPr>
        </p:nvSpPr>
        <p:spPr>
          <a:xfrm>
            <a:off x="0" y="620713"/>
            <a:ext cx="9144000" cy="5976937"/>
          </a:xfrm>
        </p:spPr>
        <p:txBody>
          <a:bodyPr/>
          <a:lstStyle/>
          <a:p>
            <a:pPr marL="0" indent="0">
              <a:buClr>
                <a:srgbClr val="C00000"/>
              </a:buClr>
              <a:buFont typeface="Wingdings" pitchFamily="2" charset="2"/>
              <a:buNone/>
              <a:defRPr/>
            </a:pPr>
            <a:r>
              <a:rPr lang="ru-RU" altLang="ru-RU" sz="2400" dirty="0" smtClean="0">
                <a:solidFill>
                  <a:schemeClr val="bg2"/>
                </a:solidFill>
              </a:rPr>
              <a:t>Если необходимо ввести данные в таблицу</a:t>
            </a:r>
          </a:p>
          <a:p>
            <a:pPr marL="0" indent="0">
              <a:buFont typeface="Wingdings" pitchFamily="2" charset="2"/>
              <a:buNone/>
              <a:defRPr/>
            </a:pPr>
            <a:r>
              <a:rPr lang="ru-RU" altLang="ru-RU" sz="2400" dirty="0" smtClean="0"/>
              <a:t>  </a:t>
            </a:r>
            <a:r>
              <a:rPr lang="en-US" altLang="ru-RU" sz="2400" dirty="0" smtClean="0"/>
              <a:t>Salespeople</a:t>
            </a:r>
            <a:r>
              <a:rPr lang="ru-RU" altLang="ru-RU" sz="2400" dirty="0" smtClean="0"/>
              <a:t> </a:t>
            </a:r>
            <a:r>
              <a:rPr lang="en-US" altLang="ru-RU" sz="2400" dirty="0" smtClean="0"/>
              <a:t> (</a:t>
            </a:r>
            <a:r>
              <a:rPr lang="en-US" altLang="ru-RU" sz="2400" dirty="0" err="1" smtClean="0"/>
              <a:t>Snum</a:t>
            </a:r>
            <a:r>
              <a:rPr lang="en-US" altLang="ru-RU" sz="2400" dirty="0" smtClean="0"/>
              <a:t>,</a:t>
            </a:r>
            <a:r>
              <a:rPr lang="ru-RU" altLang="ru-RU" sz="2400" dirty="0" smtClean="0"/>
              <a:t> </a:t>
            </a:r>
            <a:r>
              <a:rPr lang="en-US" altLang="ru-RU" sz="2400" dirty="0" err="1" smtClean="0"/>
              <a:t>Sname</a:t>
            </a:r>
            <a:r>
              <a:rPr lang="en-US" altLang="ru-RU" sz="2400" dirty="0" smtClean="0"/>
              <a:t>,</a:t>
            </a:r>
            <a:r>
              <a:rPr lang="ru-RU" altLang="ru-RU" sz="2400" dirty="0" smtClean="0"/>
              <a:t> </a:t>
            </a:r>
            <a:r>
              <a:rPr lang="en-US" altLang="ru-RU" sz="2400" dirty="0" smtClean="0"/>
              <a:t>City,</a:t>
            </a:r>
            <a:r>
              <a:rPr lang="ru-RU" altLang="ru-RU" sz="2400" dirty="0" smtClean="0"/>
              <a:t> </a:t>
            </a:r>
            <a:r>
              <a:rPr lang="en-US" altLang="ru-RU" sz="2400" dirty="0" err="1" smtClean="0"/>
              <a:t>Comm</a:t>
            </a:r>
            <a:r>
              <a:rPr lang="en-US" altLang="ru-RU" sz="2400" dirty="0" smtClean="0"/>
              <a:t> )</a:t>
            </a:r>
            <a:r>
              <a:rPr lang="ru-RU" altLang="ru-RU" sz="2400" dirty="0" smtClean="0"/>
              <a:t>, </a:t>
            </a:r>
            <a:r>
              <a:rPr lang="ru-RU" altLang="ru-RU" sz="2000" dirty="0" smtClean="0"/>
              <a:t>то это можно сделать </a:t>
            </a:r>
          </a:p>
          <a:p>
            <a:pPr marL="342900" lvl="1" indent="-342900">
              <a:spcBef>
                <a:spcPts val="1800"/>
              </a:spcBef>
              <a:buClr>
                <a:srgbClr val="C00000"/>
              </a:buClr>
              <a:buSzPct val="75000"/>
              <a:buFont typeface="Wingdings" pitchFamily="2" charset="2"/>
              <a:buChar char="v"/>
              <a:defRPr/>
            </a:pPr>
            <a:r>
              <a:rPr lang="ru-RU" altLang="ru-RU" sz="2400" dirty="0">
                <a:solidFill>
                  <a:schemeClr val="bg2"/>
                </a:solidFill>
                <a:ea typeface="+mn-ea"/>
              </a:rPr>
              <a:t>несколькими способами оператором </a:t>
            </a:r>
            <a:r>
              <a:rPr lang="en-US" altLang="ru-RU" sz="2400" dirty="0">
                <a:solidFill>
                  <a:schemeClr val="bg2"/>
                </a:solidFill>
                <a:ea typeface="+mn-ea"/>
              </a:rPr>
              <a:t>INSERT</a:t>
            </a:r>
            <a:r>
              <a:rPr lang="ru-RU" altLang="ru-RU" sz="2400" dirty="0">
                <a:solidFill>
                  <a:schemeClr val="bg2"/>
                </a:solidFill>
                <a:ea typeface="+mn-ea"/>
              </a:rPr>
              <a:t>:</a:t>
            </a:r>
          </a:p>
          <a:p>
            <a:pPr marL="457200" indent="-457200">
              <a:spcBef>
                <a:spcPts val="1200"/>
              </a:spcBef>
              <a:buFont typeface="Wingdings" pitchFamily="2" charset="2"/>
              <a:buNone/>
              <a:defRPr/>
            </a:pPr>
            <a:r>
              <a:rPr lang="ru-RU" altLang="ru-RU" sz="1600" dirty="0" smtClean="0">
                <a:solidFill>
                  <a:schemeClr val="bg2"/>
                </a:solidFill>
              </a:rPr>
              <a:t>1. </a:t>
            </a:r>
            <a:r>
              <a:rPr lang="ru-RU" altLang="ru-RU" sz="2000" dirty="0" smtClean="0">
                <a:solidFill>
                  <a:schemeClr val="bg2"/>
                </a:solidFill>
              </a:rPr>
              <a:t>INSERT INTO</a:t>
            </a:r>
            <a:r>
              <a:rPr lang="ru-RU" altLang="ru-RU" sz="2000" dirty="0" smtClean="0"/>
              <a:t> </a:t>
            </a:r>
            <a:r>
              <a:rPr lang="en-US" altLang="ru-RU" sz="2000" dirty="0" smtClean="0"/>
              <a:t>Salespeople(</a:t>
            </a:r>
            <a:r>
              <a:rPr lang="en-US" altLang="ru-RU" sz="2000" dirty="0" err="1" smtClean="0"/>
              <a:t>Snum</a:t>
            </a:r>
            <a:r>
              <a:rPr lang="en-US" altLang="ru-RU" sz="2000" dirty="0" smtClean="0"/>
              <a:t>,</a:t>
            </a:r>
            <a:r>
              <a:rPr lang="ru-RU" altLang="ru-RU" sz="2000" dirty="0" smtClean="0"/>
              <a:t> </a:t>
            </a:r>
            <a:r>
              <a:rPr lang="en-US" altLang="ru-RU" sz="2000" dirty="0" err="1" smtClean="0"/>
              <a:t>Sname</a:t>
            </a:r>
            <a:r>
              <a:rPr lang="en-US" altLang="ru-RU" sz="2000" dirty="0" smtClean="0"/>
              <a:t>,</a:t>
            </a:r>
            <a:r>
              <a:rPr lang="ru-RU" altLang="ru-RU" sz="2000" dirty="0" smtClean="0"/>
              <a:t> </a:t>
            </a:r>
            <a:r>
              <a:rPr lang="en-US" altLang="ru-RU" sz="2000" dirty="0" smtClean="0"/>
              <a:t>City,</a:t>
            </a:r>
            <a:r>
              <a:rPr lang="ru-RU" altLang="ru-RU" sz="2000" dirty="0" smtClean="0"/>
              <a:t> </a:t>
            </a:r>
            <a:r>
              <a:rPr lang="en-US" altLang="ru-RU" sz="2000" dirty="0" err="1" smtClean="0"/>
              <a:t>Comm</a:t>
            </a:r>
            <a:r>
              <a:rPr lang="en-US" altLang="ru-RU" sz="2000" dirty="0" smtClean="0"/>
              <a:t> )</a:t>
            </a:r>
            <a:r>
              <a:rPr lang="ru-RU" altLang="ru-RU" sz="2000" dirty="0" smtClean="0"/>
              <a:t> 	</a:t>
            </a:r>
          </a:p>
          <a:p>
            <a:pPr marL="457200" indent="-457200">
              <a:spcBef>
                <a:spcPts val="1200"/>
              </a:spcBef>
              <a:buFont typeface="Wingdings" pitchFamily="2" charset="2"/>
              <a:buNone/>
              <a:defRPr/>
            </a:pPr>
            <a:r>
              <a:rPr lang="ru-RU" altLang="ru-RU" sz="2000" dirty="0" smtClean="0">
                <a:solidFill>
                  <a:schemeClr val="bg2"/>
                </a:solidFill>
              </a:rPr>
              <a:t>			VALUES</a:t>
            </a:r>
            <a:r>
              <a:rPr lang="ru-RU" altLang="ru-RU" sz="2000" dirty="0" smtClean="0"/>
              <a:t> ( </a:t>
            </a:r>
            <a:r>
              <a:rPr lang="en-US" altLang="ru-RU" sz="2000" dirty="0" smtClean="0"/>
              <a:t>1001</a:t>
            </a:r>
            <a:r>
              <a:rPr lang="ru-RU" altLang="ru-RU" sz="2000" dirty="0" smtClean="0"/>
              <a:t>,</a:t>
            </a:r>
            <a:r>
              <a:rPr lang="en-US" altLang="ru-RU" sz="2000" dirty="0" smtClean="0"/>
              <a:t> ‘</a:t>
            </a:r>
            <a:r>
              <a:rPr lang="ru-RU" altLang="ru-RU" sz="2000" dirty="0" smtClean="0"/>
              <a:t>Иванов</a:t>
            </a:r>
            <a:r>
              <a:rPr lang="en-US" altLang="ru-RU" sz="2000" dirty="0" smtClean="0"/>
              <a:t>’</a:t>
            </a:r>
            <a:r>
              <a:rPr lang="ru-RU" altLang="ru-RU" sz="2000" dirty="0" smtClean="0"/>
              <a:t>, </a:t>
            </a:r>
            <a:r>
              <a:rPr lang="en-US" altLang="ru-RU" sz="2000" dirty="0" smtClean="0"/>
              <a:t>‘</a:t>
            </a:r>
            <a:r>
              <a:rPr lang="ru-RU" altLang="ru-RU" sz="2000" dirty="0" smtClean="0"/>
              <a:t>Новосибирск</a:t>
            </a:r>
            <a:r>
              <a:rPr lang="en-US" altLang="ru-RU" sz="2000" dirty="0" smtClean="0"/>
              <a:t>’</a:t>
            </a:r>
            <a:r>
              <a:rPr lang="ru-RU" altLang="ru-RU" sz="2000" dirty="0" smtClean="0"/>
              <a:t>, 0.12)</a:t>
            </a:r>
          </a:p>
          <a:p>
            <a:pPr marL="0" indent="0">
              <a:spcBef>
                <a:spcPts val="1200"/>
              </a:spcBef>
              <a:buFont typeface="Wingdings" pitchFamily="2" charset="2"/>
              <a:buNone/>
              <a:defRPr/>
            </a:pPr>
            <a:r>
              <a:rPr lang="ru-RU" altLang="ru-RU" sz="1600" dirty="0">
                <a:solidFill>
                  <a:schemeClr val="bg2"/>
                </a:solidFill>
              </a:rPr>
              <a:t>2. </a:t>
            </a:r>
            <a:r>
              <a:rPr lang="ru-RU" altLang="ru-RU" sz="2000" dirty="0" smtClean="0">
                <a:solidFill>
                  <a:schemeClr val="bg2"/>
                </a:solidFill>
              </a:rPr>
              <a:t>INSERT INTO</a:t>
            </a:r>
            <a:r>
              <a:rPr lang="ru-RU" altLang="ru-RU" sz="2000" dirty="0" smtClean="0"/>
              <a:t> </a:t>
            </a:r>
            <a:r>
              <a:rPr lang="en-US" altLang="ru-RU" sz="2000" dirty="0" smtClean="0"/>
              <a:t>Salespeople</a:t>
            </a:r>
            <a:r>
              <a:rPr lang="ru-RU" altLang="ru-RU" sz="2000" dirty="0" smtClean="0"/>
              <a:t> </a:t>
            </a:r>
            <a:r>
              <a:rPr lang="en-US" altLang="ru-RU" sz="2000" dirty="0" smtClean="0"/>
              <a:t> </a:t>
            </a:r>
            <a:br>
              <a:rPr lang="en-US" altLang="ru-RU" sz="2000" dirty="0" smtClean="0"/>
            </a:br>
            <a:r>
              <a:rPr lang="en-US" altLang="ru-RU" sz="2000" dirty="0" smtClean="0"/>
              <a:t>		</a:t>
            </a:r>
            <a:r>
              <a:rPr lang="ru-RU" altLang="ru-RU" sz="2000" dirty="0" smtClean="0">
                <a:solidFill>
                  <a:schemeClr val="bg2"/>
                </a:solidFill>
              </a:rPr>
              <a:t>VALUES</a:t>
            </a:r>
            <a:r>
              <a:rPr lang="ru-RU" altLang="ru-RU" sz="2000" dirty="0" smtClean="0"/>
              <a:t> ( </a:t>
            </a:r>
            <a:r>
              <a:rPr lang="en-US" altLang="ru-RU" sz="2000" dirty="0" smtClean="0"/>
              <a:t>1001</a:t>
            </a:r>
            <a:r>
              <a:rPr lang="ru-RU" altLang="ru-RU" sz="2000" dirty="0" smtClean="0"/>
              <a:t>,</a:t>
            </a:r>
            <a:r>
              <a:rPr lang="en-US" altLang="ru-RU" sz="2000" dirty="0" smtClean="0"/>
              <a:t> ‘</a:t>
            </a:r>
            <a:r>
              <a:rPr lang="ru-RU" altLang="ru-RU" sz="2000" dirty="0" smtClean="0"/>
              <a:t>Иванов</a:t>
            </a:r>
            <a:r>
              <a:rPr lang="en-US" altLang="ru-RU" sz="2000" dirty="0" smtClean="0"/>
              <a:t>’</a:t>
            </a:r>
            <a:r>
              <a:rPr lang="ru-RU" altLang="ru-RU" sz="2000" dirty="0" smtClean="0"/>
              <a:t>, </a:t>
            </a:r>
            <a:r>
              <a:rPr lang="en-US" altLang="ru-RU" sz="2000" dirty="0" smtClean="0"/>
              <a:t>‘</a:t>
            </a:r>
            <a:r>
              <a:rPr lang="ru-RU" altLang="ru-RU" sz="2000" dirty="0" smtClean="0"/>
              <a:t>Новосибирск</a:t>
            </a:r>
            <a:r>
              <a:rPr lang="en-US" altLang="ru-RU" sz="2000" dirty="0" smtClean="0"/>
              <a:t>’</a:t>
            </a:r>
            <a:r>
              <a:rPr lang="ru-RU" altLang="ru-RU" sz="2000" dirty="0" smtClean="0"/>
              <a:t>, 0.12)</a:t>
            </a:r>
          </a:p>
          <a:p>
            <a:pPr marL="0" indent="0">
              <a:spcBef>
                <a:spcPts val="1200"/>
              </a:spcBef>
              <a:buFont typeface="Wingdings" pitchFamily="2" charset="2"/>
              <a:buNone/>
              <a:defRPr/>
            </a:pPr>
            <a:r>
              <a:rPr lang="ru-RU" altLang="ru-RU" sz="1600" dirty="0">
                <a:solidFill>
                  <a:schemeClr val="bg2"/>
                </a:solidFill>
              </a:rPr>
              <a:t>3. </a:t>
            </a:r>
            <a:r>
              <a:rPr lang="ru-RU" altLang="ru-RU" sz="2000" dirty="0" smtClean="0">
                <a:solidFill>
                  <a:schemeClr val="bg2"/>
                </a:solidFill>
              </a:rPr>
              <a:t>INSERT INTO</a:t>
            </a:r>
            <a:r>
              <a:rPr lang="ru-RU" altLang="ru-RU" sz="2000" dirty="0" smtClean="0"/>
              <a:t> </a:t>
            </a:r>
            <a:r>
              <a:rPr lang="en-US" altLang="ru-RU" sz="2000" dirty="0" smtClean="0"/>
              <a:t>Salespeople</a:t>
            </a:r>
            <a:r>
              <a:rPr lang="ru-RU" altLang="ru-RU" sz="2000" dirty="0" smtClean="0"/>
              <a:t> </a:t>
            </a:r>
            <a:r>
              <a:rPr lang="en-US" altLang="ru-RU" sz="2000" dirty="0" smtClean="0"/>
              <a:t> (</a:t>
            </a:r>
            <a:r>
              <a:rPr lang="en-US" altLang="ru-RU" sz="2000" b="1" dirty="0" err="1" smtClean="0">
                <a:solidFill>
                  <a:srgbClr val="008000"/>
                </a:solidFill>
              </a:rPr>
              <a:t>Snum</a:t>
            </a:r>
            <a:r>
              <a:rPr lang="en-US" altLang="ru-RU" sz="2000" b="1" dirty="0" smtClean="0">
                <a:solidFill>
                  <a:srgbClr val="008000"/>
                </a:solidFill>
              </a:rPr>
              <a:t>,</a:t>
            </a:r>
            <a:r>
              <a:rPr lang="ru-RU" altLang="ru-RU" sz="2000" b="1" dirty="0" smtClean="0">
                <a:solidFill>
                  <a:srgbClr val="008000"/>
                </a:solidFill>
              </a:rPr>
              <a:t> </a:t>
            </a:r>
            <a:r>
              <a:rPr lang="en-US" altLang="ru-RU" sz="2000" b="1" dirty="0" err="1" smtClean="0">
                <a:solidFill>
                  <a:srgbClr val="008000"/>
                </a:solidFill>
              </a:rPr>
              <a:t>Sname</a:t>
            </a:r>
            <a:r>
              <a:rPr lang="en-US" altLang="ru-RU" sz="2000" dirty="0" smtClean="0"/>
              <a:t>)</a:t>
            </a:r>
            <a:r>
              <a:rPr lang="ru-RU" altLang="ru-RU" sz="2000" dirty="0" smtClean="0"/>
              <a:t> </a:t>
            </a:r>
            <a:r>
              <a:rPr lang="ru-RU" altLang="ru-RU" sz="2000" dirty="0" smtClean="0">
                <a:solidFill>
                  <a:schemeClr val="bg2"/>
                </a:solidFill>
              </a:rPr>
              <a:t>VALUES</a:t>
            </a:r>
            <a:r>
              <a:rPr lang="ru-RU" altLang="ru-RU" sz="2000" dirty="0" smtClean="0"/>
              <a:t> ( </a:t>
            </a:r>
            <a:r>
              <a:rPr lang="en-US" altLang="ru-RU" sz="2000" b="1" dirty="0" smtClean="0">
                <a:solidFill>
                  <a:srgbClr val="008000"/>
                </a:solidFill>
              </a:rPr>
              <a:t>1001</a:t>
            </a:r>
            <a:r>
              <a:rPr lang="ru-RU" altLang="ru-RU" sz="2000" b="1" dirty="0" smtClean="0">
                <a:solidFill>
                  <a:srgbClr val="008000"/>
                </a:solidFill>
              </a:rPr>
              <a:t>,</a:t>
            </a:r>
            <a:r>
              <a:rPr lang="en-US" altLang="ru-RU" sz="2000" b="1" dirty="0" smtClean="0">
                <a:solidFill>
                  <a:srgbClr val="008000"/>
                </a:solidFill>
              </a:rPr>
              <a:t> ‘</a:t>
            </a:r>
            <a:r>
              <a:rPr lang="ru-RU" altLang="ru-RU" sz="2000" b="1" dirty="0" smtClean="0">
                <a:solidFill>
                  <a:srgbClr val="008000"/>
                </a:solidFill>
              </a:rPr>
              <a:t>Иванов</a:t>
            </a:r>
            <a:r>
              <a:rPr lang="en-US" altLang="ru-RU" sz="2000" b="1" dirty="0" smtClean="0">
                <a:solidFill>
                  <a:srgbClr val="008000"/>
                </a:solidFill>
              </a:rPr>
              <a:t>’</a:t>
            </a:r>
            <a:r>
              <a:rPr lang="ru-RU" altLang="ru-RU" sz="2000" dirty="0" smtClean="0"/>
              <a:t>)</a:t>
            </a:r>
          </a:p>
          <a:p>
            <a:pPr marL="0" indent="0">
              <a:spcBef>
                <a:spcPts val="1200"/>
              </a:spcBef>
              <a:buFont typeface="Wingdings" pitchFamily="2" charset="2"/>
              <a:buNone/>
              <a:defRPr/>
            </a:pPr>
            <a:r>
              <a:rPr lang="ru-RU" altLang="ru-RU" sz="1600" dirty="0" smtClean="0">
                <a:solidFill>
                  <a:schemeClr val="bg2"/>
                </a:solidFill>
              </a:rPr>
              <a:t>4. </a:t>
            </a:r>
            <a:r>
              <a:rPr lang="ru-RU" altLang="ru-RU" sz="2000" dirty="0" smtClean="0">
                <a:solidFill>
                  <a:schemeClr val="bg2"/>
                </a:solidFill>
              </a:rPr>
              <a:t>INSERT INTO</a:t>
            </a:r>
            <a:r>
              <a:rPr lang="ru-RU" altLang="ru-RU" sz="2000" dirty="0" smtClean="0"/>
              <a:t> </a:t>
            </a:r>
            <a:r>
              <a:rPr lang="en-US" altLang="ru-RU" sz="2000" dirty="0" smtClean="0"/>
              <a:t>Salespeople</a:t>
            </a:r>
            <a:r>
              <a:rPr lang="ru-RU" altLang="ru-RU" sz="2000" dirty="0" smtClean="0"/>
              <a:t> </a:t>
            </a:r>
            <a:r>
              <a:rPr lang="ru-RU" altLang="ru-RU" sz="2000" dirty="0" smtClean="0">
                <a:solidFill>
                  <a:schemeClr val="bg2"/>
                </a:solidFill>
              </a:rPr>
              <a:t>VALUES</a:t>
            </a:r>
            <a:r>
              <a:rPr lang="ru-RU" altLang="ru-RU" sz="2000" dirty="0" smtClean="0"/>
              <a:t> ( </a:t>
            </a:r>
            <a:r>
              <a:rPr lang="en-US" altLang="ru-RU" sz="2000" dirty="0" smtClean="0"/>
              <a:t>1001</a:t>
            </a:r>
            <a:r>
              <a:rPr lang="ru-RU" altLang="ru-RU" sz="2000" dirty="0" smtClean="0"/>
              <a:t>,</a:t>
            </a:r>
            <a:r>
              <a:rPr lang="en-US" altLang="ru-RU" sz="2000" dirty="0" smtClean="0"/>
              <a:t> ‘</a:t>
            </a:r>
            <a:r>
              <a:rPr lang="ru-RU" altLang="ru-RU" sz="2000" dirty="0" smtClean="0"/>
              <a:t>Иванов</a:t>
            </a:r>
            <a:r>
              <a:rPr lang="en-US" altLang="ru-RU" sz="2000" dirty="0" smtClean="0"/>
              <a:t>’</a:t>
            </a:r>
            <a:r>
              <a:rPr lang="ru-RU" altLang="ru-RU" sz="2000" b="1" dirty="0" smtClean="0"/>
              <a:t>,</a:t>
            </a:r>
            <a:r>
              <a:rPr lang="en-US" altLang="ru-RU" sz="2000" b="1" dirty="0" smtClean="0">
                <a:solidFill>
                  <a:srgbClr val="DE4110"/>
                </a:solidFill>
              </a:rPr>
              <a:t>NULL</a:t>
            </a:r>
            <a:r>
              <a:rPr lang="ru-RU" altLang="ru-RU" sz="2000" b="1" dirty="0" smtClean="0"/>
              <a:t>,</a:t>
            </a:r>
            <a:r>
              <a:rPr lang="ru-RU" altLang="ru-RU" sz="2000" dirty="0" smtClean="0"/>
              <a:t>)</a:t>
            </a:r>
            <a:r>
              <a:rPr lang="en-US" altLang="ru-RU" sz="2000" dirty="0" smtClean="0"/>
              <a:t> </a:t>
            </a:r>
            <a:r>
              <a:rPr lang="en-US" altLang="ru-RU" sz="2000" u="sng" dirty="0" smtClean="0"/>
              <a:t>NULL – </a:t>
            </a:r>
            <a:r>
              <a:rPr lang="ru-RU" altLang="ru-RU" sz="2000" u="sng" dirty="0" smtClean="0"/>
              <a:t>без </a:t>
            </a:r>
            <a:r>
              <a:rPr lang="en-US" altLang="ru-RU" sz="2000" u="sng" dirty="0" smtClean="0"/>
              <a:t>‘</a:t>
            </a:r>
            <a:r>
              <a:rPr lang="ru-RU" altLang="ru-RU" sz="2000" u="sng" dirty="0" smtClean="0"/>
              <a:t>,</a:t>
            </a:r>
            <a:r>
              <a:rPr lang="en-US" altLang="ru-RU" sz="2000" u="sng" dirty="0" smtClean="0"/>
              <a:t>’</a:t>
            </a:r>
            <a:r>
              <a:rPr lang="ru-RU" altLang="ru-RU" sz="2000" u="sng" dirty="0" smtClean="0"/>
              <a:t> </a:t>
            </a:r>
          </a:p>
          <a:p>
            <a:pPr marL="0" indent="0">
              <a:spcBef>
                <a:spcPts val="1200"/>
              </a:spcBef>
              <a:buFont typeface="Wingdings" pitchFamily="2" charset="2"/>
              <a:buNone/>
              <a:defRPr/>
            </a:pPr>
            <a:r>
              <a:rPr lang="ru-RU" altLang="ru-RU" sz="1600" dirty="0" smtClean="0">
                <a:solidFill>
                  <a:schemeClr val="bg2"/>
                </a:solidFill>
              </a:rPr>
              <a:t>5. </a:t>
            </a:r>
            <a:r>
              <a:rPr lang="ru-RU" altLang="ru-RU" sz="2000" dirty="0" smtClean="0">
                <a:solidFill>
                  <a:schemeClr val="bg2"/>
                </a:solidFill>
              </a:rPr>
              <a:t>INSERT INTO</a:t>
            </a:r>
            <a:r>
              <a:rPr lang="ru-RU" altLang="ru-RU" sz="2000" dirty="0" smtClean="0"/>
              <a:t> </a:t>
            </a:r>
            <a:r>
              <a:rPr lang="en-US" altLang="ru-RU" sz="2000" dirty="0" smtClean="0"/>
              <a:t>Salespeople</a:t>
            </a:r>
            <a:r>
              <a:rPr lang="ru-RU" altLang="ru-RU" sz="2000" dirty="0" smtClean="0"/>
              <a:t> </a:t>
            </a:r>
            <a:r>
              <a:rPr lang="en-US" altLang="ru-RU" sz="2000" dirty="0" smtClean="0"/>
              <a:t> </a:t>
            </a:r>
            <a:r>
              <a:rPr lang="ru-RU" altLang="ru-RU" sz="2000" dirty="0" smtClean="0">
                <a:solidFill>
                  <a:schemeClr val="bg2"/>
                </a:solidFill>
              </a:rPr>
              <a:t>VALUES</a:t>
            </a:r>
            <a:r>
              <a:rPr lang="ru-RU" altLang="ru-RU" sz="2000" dirty="0" smtClean="0"/>
              <a:t> ( </a:t>
            </a:r>
            <a:r>
              <a:rPr lang="en-US" altLang="ru-RU" sz="2000" dirty="0" smtClean="0"/>
              <a:t>1001</a:t>
            </a:r>
            <a:r>
              <a:rPr lang="ru-RU" altLang="ru-RU" sz="2000" dirty="0" smtClean="0"/>
              <a:t>,</a:t>
            </a:r>
            <a:r>
              <a:rPr lang="en-US" altLang="ru-RU" sz="2000" dirty="0" smtClean="0"/>
              <a:t> ‘</a:t>
            </a:r>
            <a:r>
              <a:rPr lang="ru-RU" altLang="ru-RU" sz="2000" dirty="0" smtClean="0"/>
              <a:t>Иванов</a:t>
            </a:r>
            <a:r>
              <a:rPr lang="en-US" altLang="ru-RU" sz="2000" dirty="0" smtClean="0"/>
              <a:t>’</a:t>
            </a:r>
            <a:r>
              <a:rPr lang="ru-RU" altLang="ru-RU" sz="2000" b="1" dirty="0" smtClean="0">
                <a:solidFill>
                  <a:srgbClr val="DE4110"/>
                </a:solidFill>
              </a:rPr>
              <a:t>, ,</a:t>
            </a:r>
            <a:r>
              <a:rPr lang="ru-RU" altLang="ru-RU" sz="2000" dirty="0" smtClean="0"/>
              <a:t>)</a:t>
            </a:r>
          </a:p>
          <a:p>
            <a:pPr marL="342900" lvl="1" indent="-342900">
              <a:spcBef>
                <a:spcPts val="1800"/>
              </a:spcBef>
              <a:buClr>
                <a:srgbClr val="C00000"/>
              </a:buClr>
              <a:buSzPct val="75000"/>
              <a:buFont typeface="Wingdings" pitchFamily="2" charset="2"/>
              <a:buChar char="v"/>
              <a:defRPr/>
            </a:pPr>
            <a:r>
              <a:rPr lang="ru-RU" altLang="ru-RU" sz="2400" dirty="0">
                <a:solidFill>
                  <a:schemeClr val="bg2"/>
                </a:solidFill>
                <a:ea typeface="+mn-ea"/>
              </a:rPr>
              <a:t>или системной утилитой, например,</a:t>
            </a:r>
          </a:p>
          <a:p>
            <a:pPr marL="0" indent="0">
              <a:buFont typeface="Wingdings" pitchFamily="2" charset="2"/>
              <a:buNone/>
              <a:defRPr/>
            </a:pPr>
            <a:r>
              <a:rPr lang="en-US" altLang="ru-RU" sz="2800" dirty="0" smtClean="0">
                <a:solidFill>
                  <a:schemeClr val="bg2"/>
                </a:solidFill>
              </a:rPr>
              <a:t>LOAD</a:t>
            </a:r>
            <a:r>
              <a:rPr lang="en-US" altLang="ru-RU" sz="2800" dirty="0" smtClean="0"/>
              <a:t>( </a:t>
            </a:r>
            <a:r>
              <a:rPr lang="ru-RU" altLang="ru-RU" sz="2800" dirty="0" smtClean="0"/>
              <a:t>файл</a:t>
            </a:r>
            <a:r>
              <a:rPr lang="en-US" altLang="ru-RU" sz="2800" dirty="0" smtClean="0"/>
              <a:t>, </a:t>
            </a:r>
            <a:r>
              <a:rPr lang="ru-RU" altLang="ru-RU" sz="2800" dirty="0" smtClean="0"/>
              <a:t>разделитель</a:t>
            </a:r>
            <a:r>
              <a:rPr lang="en-US" altLang="ru-RU" sz="2800" dirty="0" smtClean="0"/>
              <a:t>, [</a:t>
            </a:r>
            <a:r>
              <a:rPr lang="ru-RU" altLang="ru-RU" sz="2800" dirty="0" smtClean="0"/>
              <a:t>ФОРМАТ</a:t>
            </a:r>
            <a:r>
              <a:rPr lang="en-US" altLang="ru-RU" sz="2800" dirty="0" smtClean="0"/>
              <a:t>] ASCII)) </a:t>
            </a:r>
            <a:r>
              <a:rPr lang="ru-RU" altLang="ru-RU" sz="2800" dirty="0" smtClean="0"/>
              <a:t/>
            </a:r>
            <a:br>
              <a:rPr lang="ru-RU" altLang="ru-RU" sz="2800" dirty="0" smtClean="0"/>
            </a:br>
            <a:r>
              <a:rPr lang="ru-RU" altLang="ru-RU" sz="2800" dirty="0" smtClean="0"/>
              <a:t>	</a:t>
            </a:r>
            <a:r>
              <a:rPr lang="en-US" altLang="ru-RU" sz="2800" dirty="0" smtClean="0"/>
              <a:t>ASCII</a:t>
            </a:r>
            <a:r>
              <a:rPr lang="ru-RU" altLang="ru-RU" sz="2800" dirty="0" smtClean="0"/>
              <a:t> -</a:t>
            </a:r>
            <a:r>
              <a:rPr lang="en-US" altLang="ru-RU" sz="2400" dirty="0" smtClean="0"/>
              <a:t> </a:t>
            </a:r>
            <a:r>
              <a:rPr lang="en-US" altLang="ru-RU" sz="2000" dirty="0" smtClean="0">
                <a:solidFill>
                  <a:srgbClr val="3333FF"/>
                </a:solidFill>
              </a:rPr>
              <a:t>A</a:t>
            </a:r>
            <a:r>
              <a:rPr lang="en-US" altLang="ru-RU" sz="2000" dirty="0" smtClean="0"/>
              <a:t>merican </a:t>
            </a:r>
            <a:r>
              <a:rPr lang="en-US" altLang="ru-RU" sz="2000" dirty="0" smtClean="0">
                <a:solidFill>
                  <a:srgbClr val="3333FF"/>
                </a:solidFill>
              </a:rPr>
              <a:t>S</a:t>
            </a:r>
            <a:r>
              <a:rPr lang="en-US" altLang="ru-RU" sz="2000" dirty="0" smtClean="0"/>
              <a:t>tandard </a:t>
            </a:r>
            <a:r>
              <a:rPr lang="en-US" altLang="ru-RU" sz="2000" dirty="0" smtClean="0">
                <a:solidFill>
                  <a:srgbClr val="3333FF"/>
                </a:solidFill>
              </a:rPr>
              <a:t>C</a:t>
            </a:r>
            <a:r>
              <a:rPr lang="en-US" altLang="ru-RU" sz="2000" dirty="0" smtClean="0"/>
              <a:t>ode for </a:t>
            </a:r>
            <a:r>
              <a:rPr lang="en-US" altLang="ru-RU" sz="2000" dirty="0" smtClean="0">
                <a:solidFill>
                  <a:srgbClr val="3333FF"/>
                </a:solidFill>
              </a:rPr>
              <a:t>I</a:t>
            </a:r>
            <a:r>
              <a:rPr lang="en-US" altLang="ru-RU" sz="2000" dirty="0" smtClean="0"/>
              <a:t>nformation </a:t>
            </a:r>
            <a:r>
              <a:rPr lang="en-US" altLang="ru-RU" sz="2000" dirty="0" smtClean="0">
                <a:solidFill>
                  <a:srgbClr val="3333FF"/>
                </a:solidFill>
              </a:rPr>
              <a:t>I</a:t>
            </a:r>
            <a:r>
              <a:rPr lang="en-US" altLang="ru-RU" sz="2000" dirty="0" smtClean="0"/>
              <a:t>nterchange</a:t>
            </a:r>
            <a:endParaRPr lang="ru-RU" altLang="ru-RU" sz="2000" dirty="0" smtClean="0"/>
          </a:p>
        </p:txBody>
      </p:sp>
      <p:sp>
        <p:nvSpPr>
          <p:cNvPr id="6148" name="Номер слайда 3"/>
          <p:cNvSpPr>
            <a:spLocks noGrp="1"/>
          </p:cNvSpPr>
          <p:nvPr>
            <p:ph type="sldNum" sz="quarter" idx="11"/>
          </p:nvPr>
        </p:nvSpPr>
        <p:spPr>
          <a:noFill/>
          <a:ln>
            <a:miter lim="800000"/>
            <a:headEnd/>
            <a:tailEnd/>
          </a:ln>
        </p:spPr>
        <p:txBody>
          <a:bodyPr/>
          <a:lstStyle/>
          <a:p>
            <a:fld id="{F511C8B8-53BD-4E2A-A202-DD0911395171}" type="slidenum">
              <a:rPr lang="ru-RU" altLang="ru-RU" smtClean="0"/>
              <a:pPr/>
              <a:t>4</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down)">
                                      <p:cBhvr>
                                        <p:cTn id="30" dur="500"/>
                                        <p:tgtEl>
                                          <p:spTgt spid="3">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down)">
                                      <p:cBhvr>
                                        <p:cTn id="35" dur="500"/>
                                        <p:tgtEl>
                                          <p:spTgt spid="3">
                                            <p:txEl>
                                              <p:pRg st="6" end="6"/>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wipe(down)">
                                      <p:cBhvr>
                                        <p:cTn id="40" dur="500"/>
                                        <p:tgtEl>
                                          <p:spTgt spid="3">
                                            <p:txEl>
                                              <p:pRg st="7" end="7"/>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wipe(down)">
                                      <p:cBhvr>
                                        <p:cTn id="45" dur="500"/>
                                        <p:tgtEl>
                                          <p:spTgt spid="3">
                                            <p:txEl>
                                              <p:pRg st="8" end="8"/>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wipe(down)">
                                      <p:cBhvr>
                                        <p:cTn id="48" dur="500"/>
                                        <p:tgtEl>
                                          <p:spTgt spid="3">
                                            <p:txEl>
                                              <p:pRg st="9" end="9"/>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wipe(down)">
                                      <p:cBhvr>
                                        <p:cTn id="5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Заголовок 1"/>
          <p:cNvSpPr>
            <a:spLocks noGrp="1"/>
          </p:cNvSpPr>
          <p:nvPr>
            <p:ph type="title"/>
          </p:nvPr>
        </p:nvSpPr>
        <p:spPr>
          <a:xfrm>
            <a:off x="539750" y="0"/>
            <a:ext cx="8229600" cy="576263"/>
          </a:xfrm>
        </p:spPr>
        <p:txBody>
          <a:bodyPr/>
          <a:lstStyle/>
          <a:p>
            <a:pPr algn="ctr"/>
            <a:r>
              <a:rPr lang="ru-RU" altLang="ru-RU" sz="4000" smtClean="0">
                <a:solidFill>
                  <a:schemeClr val="bg2"/>
                </a:solidFill>
              </a:rPr>
              <a:t>Пример</a:t>
            </a:r>
            <a:r>
              <a:rPr lang="ru-RU" altLang="ru-RU" sz="4000" smtClean="0"/>
              <a:t> </a:t>
            </a:r>
          </a:p>
        </p:txBody>
      </p:sp>
      <p:sp>
        <p:nvSpPr>
          <p:cNvPr id="3" name="Объект 2"/>
          <p:cNvSpPr>
            <a:spLocks noGrp="1"/>
          </p:cNvSpPr>
          <p:nvPr>
            <p:ph idx="1"/>
          </p:nvPr>
        </p:nvSpPr>
        <p:spPr>
          <a:xfrm>
            <a:off x="0" y="620713"/>
            <a:ext cx="9144000" cy="5976937"/>
          </a:xfrm>
        </p:spPr>
        <p:txBody>
          <a:bodyPr>
            <a:normAutofit fontScale="92500" lnSpcReduction="20000"/>
          </a:bodyPr>
          <a:lstStyle/>
          <a:p>
            <a:pPr marL="457200" indent="-457200">
              <a:lnSpc>
                <a:spcPct val="110000"/>
              </a:lnSpc>
              <a:spcBef>
                <a:spcPts val="1200"/>
              </a:spcBef>
              <a:defRPr/>
            </a:pPr>
            <a:r>
              <a:rPr lang="ru-RU" altLang="ru-RU" sz="2000" dirty="0" smtClean="0"/>
              <a:t>Можно сделать вставку результата запроса</a:t>
            </a:r>
          </a:p>
          <a:p>
            <a:pPr marL="457200" indent="-457200">
              <a:lnSpc>
                <a:spcPct val="110000"/>
              </a:lnSpc>
              <a:spcBef>
                <a:spcPts val="1200"/>
              </a:spcBef>
              <a:buFont typeface="Wingdings" pitchFamily="2" charset="2"/>
              <a:buNone/>
              <a:defRPr/>
            </a:pPr>
            <a:r>
              <a:rPr lang="ru-RU" altLang="ru-RU" sz="2000" dirty="0" smtClean="0">
                <a:solidFill>
                  <a:schemeClr val="bg2"/>
                </a:solidFill>
              </a:rPr>
              <a:t>INSERT INTO</a:t>
            </a:r>
            <a:r>
              <a:rPr lang="ru-RU" altLang="ru-RU" sz="2000" dirty="0" smtClean="0"/>
              <a:t> </a:t>
            </a:r>
            <a:r>
              <a:rPr lang="en-US" altLang="ru-RU" sz="2000" dirty="0" err="1" smtClean="0"/>
              <a:t>Novosibirsk_Staff</a:t>
            </a:r>
            <a:endParaRPr lang="en-US" altLang="ru-RU" sz="2000" dirty="0" smtClean="0"/>
          </a:p>
          <a:p>
            <a:pPr marL="457200" indent="-457200">
              <a:lnSpc>
                <a:spcPct val="110000"/>
              </a:lnSpc>
              <a:spcBef>
                <a:spcPts val="1200"/>
              </a:spcBef>
              <a:buFont typeface="Wingdings" pitchFamily="2" charset="2"/>
              <a:buNone/>
              <a:defRPr/>
            </a:pPr>
            <a:r>
              <a:rPr lang="en-US" altLang="ru-RU" sz="2000" dirty="0" smtClean="0"/>
              <a:t>	SELECT *</a:t>
            </a:r>
          </a:p>
          <a:p>
            <a:pPr marL="457200" indent="-457200">
              <a:lnSpc>
                <a:spcPct val="110000"/>
              </a:lnSpc>
              <a:spcBef>
                <a:spcPts val="1200"/>
              </a:spcBef>
              <a:buFont typeface="Wingdings" pitchFamily="2" charset="2"/>
              <a:buNone/>
              <a:defRPr/>
            </a:pPr>
            <a:r>
              <a:rPr lang="en-US" altLang="ru-RU" sz="2000" dirty="0" smtClean="0"/>
              <a:t>	FROM Salespeople</a:t>
            </a:r>
          </a:p>
          <a:p>
            <a:pPr marL="457200" indent="-457200">
              <a:lnSpc>
                <a:spcPct val="110000"/>
              </a:lnSpc>
              <a:spcBef>
                <a:spcPts val="1200"/>
              </a:spcBef>
              <a:buFont typeface="Wingdings" pitchFamily="2" charset="2"/>
              <a:buNone/>
              <a:defRPr/>
            </a:pPr>
            <a:r>
              <a:rPr lang="en-US" altLang="ru-RU" sz="2000" dirty="0" smtClean="0"/>
              <a:t>	WHERE city = ‘</a:t>
            </a:r>
            <a:r>
              <a:rPr lang="ru-RU" altLang="ru-RU" sz="2000" dirty="0" smtClean="0"/>
              <a:t>Новосибирск</a:t>
            </a:r>
            <a:r>
              <a:rPr lang="en-US" altLang="ru-RU" sz="2000" dirty="0" smtClean="0"/>
              <a:t>’</a:t>
            </a:r>
          </a:p>
          <a:p>
            <a:pPr marL="457200" indent="-457200">
              <a:lnSpc>
                <a:spcPct val="110000"/>
              </a:lnSpc>
              <a:spcBef>
                <a:spcPts val="1200"/>
              </a:spcBef>
              <a:defRPr/>
            </a:pPr>
            <a:r>
              <a:rPr lang="en-US" altLang="ru-RU" sz="2000" dirty="0" err="1" smtClean="0"/>
              <a:t>Novosibirsk_Staff</a:t>
            </a:r>
            <a:r>
              <a:rPr lang="en-US" altLang="ru-RU" sz="2000" dirty="0" smtClean="0"/>
              <a:t> </a:t>
            </a:r>
            <a:r>
              <a:rPr lang="ru-RU" altLang="ru-RU" sz="2000" dirty="0" smtClean="0"/>
              <a:t>при этом независимая таблица</a:t>
            </a:r>
            <a:r>
              <a:rPr lang="en-US" altLang="ru-RU" sz="2000" dirty="0" smtClean="0"/>
              <a:t>.</a:t>
            </a:r>
            <a:r>
              <a:rPr lang="ru-RU" altLang="ru-RU" sz="2000" dirty="0" smtClean="0"/>
              <a:t> При каком условии оператор </a:t>
            </a:r>
            <a:r>
              <a:rPr lang="ru-RU" altLang="ru-RU" sz="2000" dirty="0" smtClean="0">
                <a:solidFill>
                  <a:schemeClr val="bg2"/>
                </a:solidFill>
              </a:rPr>
              <a:t>INSERT</a:t>
            </a:r>
            <a:r>
              <a:rPr lang="ru-RU" altLang="ru-RU" sz="2000" dirty="0" smtClean="0"/>
              <a:t> выполнится ?</a:t>
            </a:r>
          </a:p>
          <a:p>
            <a:pPr marL="457200" indent="-457200">
              <a:lnSpc>
                <a:spcPct val="110000"/>
              </a:lnSpc>
              <a:spcBef>
                <a:spcPts val="1200"/>
              </a:spcBef>
              <a:defRPr/>
            </a:pPr>
            <a:r>
              <a:rPr lang="ru-RU" altLang="ru-RU" sz="2000" dirty="0" smtClean="0"/>
              <a:t>Можно переместить из </a:t>
            </a:r>
            <a:r>
              <a:rPr lang="en-US" altLang="ru-RU" sz="2000" dirty="0" smtClean="0"/>
              <a:t>Salespeople </a:t>
            </a:r>
            <a:r>
              <a:rPr lang="ru-RU" altLang="ru-RU" sz="2000" dirty="0" smtClean="0"/>
              <a:t>в </a:t>
            </a:r>
            <a:r>
              <a:rPr lang="en-US" altLang="ru-RU" sz="2000" dirty="0" err="1" smtClean="0"/>
              <a:t>Novosibirsk_Staff</a:t>
            </a:r>
            <a:r>
              <a:rPr lang="en-US" altLang="ru-RU" sz="2000" dirty="0" smtClean="0"/>
              <a:t> </a:t>
            </a:r>
            <a:r>
              <a:rPr lang="ru-RU" altLang="ru-RU" sz="2000" dirty="0" smtClean="0"/>
              <a:t>отдельные столбцы,</a:t>
            </a:r>
            <a:r>
              <a:rPr lang="en-US" altLang="ru-RU" sz="2000" dirty="0" smtClean="0"/>
              <a:t> </a:t>
            </a:r>
            <a:r>
              <a:rPr lang="ru-RU" altLang="ru-RU" sz="2000" dirty="0" smtClean="0"/>
              <a:t>изменяя при этом значения столбцов, например </a:t>
            </a:r>
            <a:r>
              <a:rPr lang="en-US" altLang="ru-RU" sz="2000" dirty="0" smtClean="0"/>
              <a:t>comm.</a:t>
            </a:r>
          </a:p>
          <a:p>
            <a:pPr marL="457200" indent="-457200">
              <a:lnSpc>
                <a:spcPct val="110000"/>
              </a:lnSpc>
              <a:spcBef>
                <a:spcPts val="1200"/>
              </a:spcBef>
              <a:buFont typeface="Wingdings" pitchFamily="2" charset="2"/>
              <a:buNone/>
              <a:defRPr/>
            </a:pPr>
            <a:r>
              <a:rPr lang="ru-RU" altLang="ru-RU" sz="2000" dirty="0" smtClean="0">
                <a:solidFill>
                  <a:schemeClr val="bg2"/>
                </a:solidFill>
              </a:rPr>
              <a:t>INSERT INTO</a:t>
            </a:r>
            <a:r>
              <a:rPr lang="ru-RU" altLang="ru-RU" sz="2000" dirty="0" smtClean="0"/>
              <a:t> </a:t>
            </a:r>
            <a:r>
              <a:rPr lang="en-US" altLang="ru-RU" sz="2000" dirty="0" err="1" smtClean="0"/>
              <a:t>Novosibirsk_Staff</a:t>
            </a:r>
            <a:endParaRPr lang="en-US" altLang="ru-RU" sz="2000" dirty="0" smtClean="0"/>
          </a:p>
          <a:p>
            <a:pPr marL="457200" indent="-457200">
              <a:lnSpc>
                <a:spcPct val="110000"/>
              </a:lnSpc>
              <a:spcBef>
                <a:spcPts val="1200"/>
              </a:spcBef>
              <a:buFont typeface="Wingdings" pitchFamily="2" charset="2"/>
              <a:buNone/>
              <a:defRPr/>
            </a:pPr>
            <a:r>
              <a:rPr lang="en-US" altLang="ru-RU" sz="2000" dirty="0" smtClean="0"/>
              <a:t>	SELECT </a:t>
            </a:r>
            <a:r>
              <a:rPr lang="en-US" altLang="ru-RU" sz="2000" dirty="0" err="1" smtClean="0"/>
              <a:t>snum</a:t>
            </a:r>
            <a:r>
              <a:rPr lang="en-US" altLang="ru-RU" sz="2000" dirty="0" smtClean="0"/>
              <a:t>, </a:t>
            </a:r>
            <a:r>
              <a:rPr lang="en-US" altLang="ru-RU" sz="2000" dirty="0" err="1" smtClean="0"/>
              <a:t>sname</a:t>
            </a:r>
            <a:r>
              <a:rPr lang="en-US" altLang="ru-RU" sz="2000" dirty="0" smtClean="0"/>
              <a:t>, city, </a:t>
            </a:r>
            <a:r>
              <a:rPr lang="en-US" altLang="ru-RU" sz="2000" dirty="0" err="1" smtClean="0"/>
              <a:t>comm</a:t>
            </a:r>
            <a:r>
              <a:rPr lang="en-US" altLang="ru-RU" sz="2000" dirty="0" smtClean="0"/>
              <a:t>*1.1</a:t>
            </a:r>
          </a:p>
          <a:p>
            <a:pPr marL="457200" indent="-457200">
              <a:lnSpc>
                <a:spcPct val="110000"/>
              </a:lnSpc>
              <a:spcBef>
                <a:spcPts val="1200"/>
              </a:spcBef>
              <a:buFont typeface="Wingdings" pitchFamily="2" charset="2"/>
              <a:buNone/>
              <a:defRPr/>
            </a:pPr>
            <a:r>
              <a:rPr lang="en-US" altLang="ru-RU" sz="2000" dirty="0" smtClean="0"/>
              <a:t>	FROM Salespeople</a:t>
            </a:r>
          </a:p>
          <a:p>
            <a:pPr marL="457200" indent="-457200">
              <a:lnSpc>
                <a:spcPct val="110000"/>
              </a:lnSpc>
              <a:spcBef>
                <a:spcPts val="1200"/>
              </a:spcBef>
              <a:buFont typeface="Wingdings" pitchFamily="2" charset="2"/>
              <a:buNone/>
              <a:defRPr/>
            </a:pPr>
            <a:r>
              <a:rPr lang="en-US" altLang="ru-RU" sz="2000" dirty="0" smtClean="0"/>
              <a:t>	WHERE city = ‘</a:t>
            </a:r>
            <a:r>
              <a:rPr lang="ru-RU" altLang="ru-RU" sz="2000" dirty="0" smtClean="0"/>
              <a:t>Новосибирск</a:t>
            </a:r>
            <a:r>
              <a:rPr lang="en-US" altLang="ru-RU" sz="2000" dirty="0" smtClean="0"/>
              <a:t>’</a:t>
            </a:r>
          </a:p>
          <a:p>
            <a:pPr marL="457200" indent="-457200">
              <a:lnSpc>
                <a:spcPct val="110000"/>
              </a:lnSpc>
              <a:spcBef>
                <a:spcPts val="1200"/>
              </a:spcBef>
              <a:defRPr/>
            </a:pPr>
            <a:r>
              <a:rPr lang="ru-RU" altLang="ru-RU" sz="2000" dirty="0" smtClean="0"/>
              <a:t>При этом старые значения комиссионных по прежнему останутся в </a:t>
            </a:r>
            <a:r>
              <a:rPr lang="en-US" altLang="ru-RU" sz="2000" dirty="0" smtClean="0"/>
              <a:t>Salespeople</a:t>
            </a:r>
          </a:p>
          <a:p>
            <a:pPr marL="457200" indent="-457200">
              <a:lnSpc>
                <a:spcPct val="110000"/>
              </a:lnSpc>
              <a:spcBef>
                <a:spcPts val="1200"/>
              </a:spcBef>
              <a:buFont typeface="Wingdings" pitchFamily="2" charset="2"/>
              <a:buNone/>
              <a:defRPr/>
            </a:pPr>
            <a:endParaRPr lang="ru-RU" altLang="ru-RU" sz="2000" dirty="0" smtClean="0"/>
          </a:p>
        </p:txBody>
      </p:sp>
      <p:sp>
        <p:nvSpPr>
          <p:cNvPr id="7172" name="Номер слайда 3"/>
          <p:cNvSpPr>
            <a:spLocks noGrp="1"/>
          </p:cNvSpPr>
          <p:nvPr>
            <p:ph type="sldNum" sz="quarter" idx="11"/>
          </p:nvPr>
        </p:nvSpPr>
        <p:spPr>
          <a:noFill/>
          <a:ln>
            <a:miter lim="800000"/>
            <a:headEnd/>
            <a:tailEnd/>
          </a:ln>
        </p:spPr>
        <p:txBody>
          <a:bodyPr/>
          <a:lstStyle/>
          <a:p>
            <a:fld id="{E0C09334-CA74-4C39-B2B9-B7FAC9520923}" type="slidenum">
              <a:rPr lang="ru-RU" altLang="ru-RU" smtClean="0"/>
              <a:pPr/>
              <a:t>5</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down)">
                                      <p:cBhvr>
                                        <p:cTn id="57" dur="500"/>
                                        <p:tgtEl>
                                          <p:spTgt spid="3">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wipe(down)">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Заголовок 1"/>
          <p:cNvSpPr>
            <a:spLocks noGrp="1"/>
          </p:cNvSpPr>
          <p:nvPr>
            <p:ph type="title"/>
          </p:nvPr>
        </p:nvSpPr>
        <p:spPr>
          <a:xfrm>
            <a:off x="457200" y="0"/>
            <a:ext cx="8229600" cy="765175"/>
          </a:xfrm>
        </p:spPr>
        <p:txBody>
          <a:bodyPr/>
          <a:lstStyle/>
          <a:p>
            <a:pPr algn="ctr"/>
            <a:r>
              <a:rPr lang="en-US" altLang="ru-RU" smtClean="0">
                <a:solidFill>
                  <a:schemeClr val="bg2"/>
                </a:solidFill>
              </a:rPr>
              <a:t>DELETE</a:t>
            </a:r>
            <a:endParaRPr lang="ru-RU" altLang="ru-RU" smtClean="0"/>
          </a:p>
        </p:txBody>
      </p:sp>
      <p:sp>
        <p:nvSpPr>
          <p:cNvPr id="4" name="Rectangle 3"/>
          <p:cNvSpPr>
            <a:spLocks noGrp="1" noChangeArrowheads="1"/>
          </p:cNvSpPr>
          <p:nvPr>
            <p:ph idx="1"/>
          </p:nvPr>
        </p:nvSpPr>
        <p:spPr>
          <a:xfrm>
            <a:off x="395288" y="836613"/>
            <a:ext cx="8569325" cy="5761037"/>
          </a:xfrm>
        </p:spPr>
        <p:txBody>
          <a:bodyPr>
            <a:normAutofit fontScale="92500" lnSpcReduction="10000"/>
          </a:bodyPr>
          <a:lstStyle/>
          <a:p>
            <a:pPr marL="609600" indent="-609600">
              <a:buFont typeface="Wingdings" pitchFamily="2" charset="2"/>
              <a:buNone/>
              <a:defRPr/>
            </a:pPr>
            <a:r>
              <a:rPr lang="en-US" sz="2800" b="1" dirty="0" smtClean="0"/>
              <a:t>DELETE </a:t>
            </a:r>
            <a:r>
              <a:rPr lang="ru-RU" sz="2800" b="1" dirty="0" smtClean="0"/>
              <a:t>– </a:t>
            </a:r>
            <a:r>
              <a:rPr lang="ru-RU" sz="2800" dirty="0" smtClean="0"/>
              <a:t>удаление данных из таблицы БД</a:t>
            </a:r>
            <a:endParaRPr lang="en-US" sz="2800" dirty="0" smtClean="0"/>
          </a:p>
          <a:p>
            <a:pPr marL="609600" indent="-609600">
              <a:buFont typeface="Wingdings" pitchFamily="2" charset="2"/>
              <a:buNone/>
              <a:defRPr/>
            </a:pPr>
            <a:r>
              <a:rPr lang="ru-RU" sz="2800" dirty="0" smtClean="0">
                <a:solidFill>
                  <a:schemeClr val="bg2"/>
                </a:solidFill>
              </a:rPr>
              <a:t>Синтаксис оператора</a:t>
            </a:r>
            <a:endParaRPr lang="en-US" sz="2800" dirty="0" smtClean="0">
              <a:solidFill>
                <a:schemeClr val="bg2"/>
              </a:solidFill>
            </a:endParaRPr>
          </a:p>
          <a:p>
            <a:pPr>
              <a:buFont typeface="Wingdings" pitchFamily="2" charset="2"/>
              <a:buNone/>
              <a:defRPr/>
            </a:pPr>
            <a:r>
              <a:rPr lang="en-US" sz="2800" dirty="0" smtClean="0"/>
              <a:t>DELETE   FROM &lt;</a:t>
            </a:r>
            <a:r>
              <a:rPr lang="ru-RU" sz="2800" dirty="0" smtClean="0"/>
              <a:t>имя таблицы</a:t>
            </a:r>
            <a:r>
              <a:rPr lang="en-US" sz="2800" dirty="0" smtClean="0"/>
              <a:t>&gt;</a:t>
            </a:r>
            <a:br>
              <a:rPr lang="en-US" sz="2800" dirty="0" smtClean="0"/>
            </a:br>
            <a:r>
              <a:rPr lang="en-US" sz="2800" dirty="0" smtClean="0"/>
              <a:t>     	</a:t>
            </a:r>
            <a:r>
              <a:rPr lang="en-US" sz="2800" dirty="0" smtClean="0">
                <a:solidFill>
                  <a:schemeClr val="bg2"/>
                </a:solidFill>
              </a:rPr>
              <a:t>[ </a:t>
            </a:r>
            <a:r>
              <a:rPr lang="en-US" sz="2800" dirty="0" smtClean="0"/>
              <a:t>WHERE </a:t>
            </a:r>
            <a:r>
              <a:rPr lang="en-US" sz="2800" dirty="0" smtClean="0">
                <a:solidFill>
                  <a:srgbClr val="3333FF"/>
                </a:solidFill>
              </a:rPr>
              <a:t>&lt;</a:t>
            </a:r>
            <a:r>
              <a:rPr lang="ru-RU" sz="2800" dirty="0" smtClean="0">
                <a:solidFill>
                  <a:srgbClr val="3333FF"/>
                </a:solidFill>
              </a:rPr>
              <a:t>предикат</a:t>
            </a:r>
            <a:r>
              <a:rPr lang="en-US" sz="2800" dirty="0" smtClean="0">
                <a:solidFill>
                  <a:srgbClr val="3333FF"/>
                </a:solidFill>
              </a:rPr>
              <a:t>&gt;</a:t>
            </a:r>
            <a:r>
              <a:rPr lang="ru-RU" sz="2800" dirty="0" smtClean="0"/>
              <a:t>	</a:t>
            </a:r>
          </a:p>
          <a:p>
            <a:pPr marL="609600" indent="-609600">
              <a:buFont typeface="Wingdings" pitchFamily="2" charset="2"/>
              <a:buNone/>
              <a:defRPr/>
            </a:pPr>
            <a:r>
              <a:rPr lang="ru-RU" sz="2800" dirty="0" smtClean="0"/>
              <a:t>		 </a:t>
            </a:r>
            <a:r>
              <a:rPr lang="en-US" sz="2800" dirty="0" smtClean="0"/>
              <a:t>| WHERE </a:t>
            </a:r>
            <a:r>
              <a:rPr lang="en-US" sz="2800" dirty="0" smtClean="0">
                <a:solidFill>
                  <a:srgbClr val="3333FF"/>
                </a:solidFill>
              </a:rPr>
              <a:t>CURRENT OF &lt;</a:t>
            </a:r>
            <a:r>
              <a:rPr lang="ru-RU" sz="2800" dirty="0" smtClean="0">
                <a:solidFill>
                  <a:srgbClr val="3333FF"/>
                </a:solidFill>
              </a:rPr>
              <a:t>имя курсора</a:t>
            </a:r>
            <a:r>
              <a:rPr lang="en-US" sz="2800" dirty="0" smtClean="0">
                <a:solidFill>
                  <a:srgbClr val="3333FF"/>
                </a:solidFill>
              </a:rPr>
              <a:t>&gt;</a:t>
            </a:r>
            <a:r>
              <a:rPr lang="ru-RU" sz="2800" dirty="0" smtClean="0">
                <a:solidFill>
                  <a:srgbClr val="3333FF"/>
                </a:solidFill>
              </a:rPr>
              <a:t> </a:t>
            </a:r>
            <a:r>
              <a:rPr lang="en-US" sz="2800" dirty="0" smtClean="0">
                <a:solidFill>
                  <a:schemeClr val="bg2"/>
                </a:solidFill>
              </a:rPr>
              <a:t>]</a:t>
            </a:r>
            <a:endParaRPr lang="ru-RU" sz="2800" dirty="0" smtClean="0">
              <a:solidFill>
                <a:schemeClr val="bg2"/>
              </a:solidFill>
            </a:endParaRPr>
          </a:p>
          <a:p>
            <a:pPr marL="609600" indent="-609600">
              <a:buFont typeface="Wingdings" pitchFamily="2" charset="2"/>
              <a:buNone/>
              <a:defRPr/>
            </a:pPr>
            <a:endParaRPr lang="en-US" sz="2800" dirty="0" smtClean="0">
              <a:solidFill>
                <a:schemeClr val="bg2"/>
              </a:solidFill>
            </a:endParaRPr>
          </a:p>
          <a:p>
            <a:pPr>
              <a:buFont typeface="Wingdings" pitchFamily="2" charset="2"/>
              <a:buChar char="ü"/>
              <a:defRPr/>
            </a:pPr>
            <a:r>
              <a:rPr lang="en-US" dirty="0"/>
              <a:t>DELETE   FROM  </a:t>
            </a:r>
            <a:r>
              <a:rPr lang="en-US" altLang="ru-RU" dirty="0" smtClean="0"/>
              <a:t>Salespeople</a:t>
            </a:r>
          </a:p>
          <a:p>
            <a:pPr marL="0" indent="0">
              <a:buFont typeface="Wingdings" pitchFamily="2" charset="2"/>
              <a:buNone/>
              <a:defRPr/>
            </a:pPr>
            <a:r>
              <a:rPr lang="en-US" dirty="0" smtClean="0"/>
              <a:t>	</a:t>
            </a:r>
            <a:r>
              <a:rPr lang="ru-RU" dirty="0" smtClean="0"/>
              <a:t>	   </a:t>
            </a:r>
            <a:r>
              <a:rPr lang="en-US" dirty="0" smtClean="0"/>
              <a:t>WHERE </a:t>
            </a:r>
            <a:r>
              <a:rPr lang="en-US" dirty="0" err="1"/>
              <a:t>S</a:t>
            </a:r>
            <a:r>
              <a:rPr lang="en-US" dirty="0" err="1" smtClean="0"/>
              <a:t>name</a:t>
            </a:r>
            <a:r>
              <a:rPr lang="en-US" dirty="0" smtClean="0"/>
              <a:t> = ‘</a:t>
            </a:r>
            <a:r>
              <a:rPr lang="ru-RU" dirty="0" smtClean="0"/>
              <a:t>Иванов</a:t>
            </a:r>
            <a:r>
              <a:rPr lang="en-US" dirty="0" smtClean="0"/>
              <a:t>’;</a:t>
            </a:r>
          </a:p>
          <a:p>
            <a:pPr>
              <a:buFont typeface="Wingdings" pitchFamily="2" charset="2"/>
              <a:buChar char="ü"/>
              <a:defRPr/>
            </a:pPr>
            <a:r>
              <a:rPr lang="en-US" dirty="0" smtClean="0"/>
              <a:t>DELETE   </a:t>
            </a:r>
            <a:r>
              <a:rPr lang="en-US" dirty="0"/>
              <a:t>FROM  </a:t>
            </a:r>
            <a:r>
              <a:rPr lang="en-US" altLang="ru-RU" dirty="0"/>
              <a:t>Salespeople</a:t>
            </a:r>
          </a:p>
          <a:p>
            <a:pPr marL="0" indent="0">
              <a:buFont typeface="Wingdings" pitchFamily="2" charset="2"/>
              <a:buNone/>
              <a:defRPr/>
            </a:pPr>
            <a:r>
              <a:rPr lang="en-US" dirty="0"/>
              <a:t>	</a:t>
            </a:r>
            <a:r>
              <a:rPr lang="ru-RU" dirty="0" smtClean="0"/>
              <a:t>	   </a:t>
            </a:r>
            <a:r>
              <a:rPr lang="en-US" dirty="0" smtClean="0"/>
              <a:t>WHERE </a:t>
            </a:r>
            <a:r>
              <a:rPr lang="en-US" altLang="ru-RU" dirty="0" err="1"/>
              <a:t>Comm</a:t>
            </a:r>
            <a:r>
              <a:rPr lang="en-US" dirty="0" smtClean="0"/>
              <a:t> &lt; 0;</a:t>
            </a:r>
            <a:endParaRPr lang="en-US" dirty="0"/>
          </a:p>
          <a:p>
            <a:pPr marL="0" indent="0">
              <a:buFont typeface="Wingdings" pitchFamily="2" charset="2"/>
              <a:buNone/>
              <a:defRPr/>
            </a:pPr>
            <a:endParaRPr lang="ru-RU" dirty="0"/>
          </a:p>
          <a:p>
            <a:pPr>
              <a:buFont typeface="Wingdings" pitchFamily="2" charset="2"/>
              <a:buChar char="ü"/>
              <a:defRPr/>
            </a:pPr>
            <a:r>
              <a:rPr lang="en-US" dirty="0" smtClean="0"/>
              <a:t>DELETE   </a:t>
            </a:r>
            <a:r>
              <a:rPr lang="en-US" dirty="0"/>
              <a:t>FROM  </a:t>
            </a:r>
            <a:r>
              <a:rPr lang="en-US" altLang="ru-RU" dirty="0" smtClean="0"/>
              <a:t>Salespeople;</a:t>
            </a:r>
            <a:endParaRPr lang="en-US" altLang="ru-RU" dirty="0"/>
          </a:p>
          <a:p>
            <a:pPr marL="609600" indent="-609600">
              <a:buFont typeface="Wingdings" pitchFamily="2" charset="2"/>
              <a:buNone/>
              <a:defRPr/>
            </a:pPr>
            <a:endParaRPr lang="ru-RU" dirty="0" smtClean="0">
              <a:solidFill>
                <a:schemeClr val="bg2"/>
              </a:solidFill>
            </a:endParaRPr>
          </a:p>
        </p:txBody>
      </p:sp>
      <p:sp>
        <p:nvSpPr>
          <p:cNvPr id="8196" name="Номер слайда 4"/>
          <p:cNvSpPr>
            <a:spLocks noGrp="1"/>
          </p:cNvSpPr>
          <p:nvPr>
            <p:ph type="sldNum" sz="quarter" idx="11"/>
          </p:nvPr>
        </p:nvSpPr>
        <p:spPr>
          <a:noFill/>
          <a:ln>
            <a:miter lim="800000"/>
            <a:headEnd/>
            <a:tailEnd/>
          </a:ln>
        </p:spPr>
        <p:txBody>
          <a:bodyPr/>
          <a:lstStyle/>
          <a:p>
            <a:fld id="{F0CBB961-1596-46F9-B1A1-DEB09C163669}" type="slidenum">
              <a:rPr lang="ru-RU" altLang="ru-RU" smtClean="0"/>
              <a:pPr/>
              <a:t>6</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down)">
                                      <p:cBhvr>
                                        <p:cTn id="27" dur="500"/>
                                        <p:tgtEl>
                                          <p:spTgt spid="4">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wipe(down)">
                                      <p:cBhvr>
                                        <p:cTn id="32" dur="500"/>
                                        <p:tgtEl>
                                          <p:spTgt spid="4">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wipe(down)">
                                      <p:cBhvr>
                                        <p:cTn id="37" dur="500"/>
                                        <p:tgtEl>
                                          <p:spTgt spid="4">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wipe(down)">
                                      <p:cBhvr>
                                        <p:cTn id="42" dur="500"/>
                                        <p:tgtEl>
                                          <p:spTgt spid="4">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wipe(down)">
                                      <p:cBhvr>
                                        <p:cTn id="4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p:cNvSpPr>
            <a:spLocks noGrp="1"/>
          </p:cNvSpPr>
          <p:nvPr>
            <p:ph type="title"/>
          </p:nvPr>
        </p:nvSpPr>
        <p:spPr>
          <a:xfrm>
            <a:off x="457200" y="0"/>
            <a:ext cx="8229600" cy="900113"/>
          </a:xfrm>
        </p:spPr>
        <p:txBody>
          <a:bodyPr/>
          <a:lstStyle/>
          <a:p>
            <a:pPr algn="ctr"/>
            <a:r>
              <a:rPr lang="en-US" altLang="ru-RU" smtClean="0">
                <a:solidFill>
                  <a:schemeClr val="bg2"/>
                </a:solidFill>
              </a:rPr>
              <a:t>UPDATE</a:t>
            </a:r>
            <a:endParaRPr lang="ru-RU" altLang="ru-RU" smtClean="0"/>
          </a:p>
        </p:txBody>
      </p:sp>
      <p:sp>
        <p:nvSpPr>
          <p:cNvPr id="4" name="Rectangle 3"/>
          <p:cNvSpPr>
            <a:spLocks noGrp="1" noChangeArrowheads="1"/>
          </p:cNvSpPr>
          <p:nvPr>
            <p:ph idx="1"/>
          </p:nvPr>
        </p:nvSpPr>
        <p:spPr>
          <a:xfrm>
            <a:off x="457200" y="1071563"/>
            <a:ext cx="8578850" cy="5526087"/>
          </a:xfrm>
        </p:spPr>
        <p:txBody>
          <a:bodyPr>
            <a:normAutofit fontScale="92500" lnSpcReduction="20000"/>
          </a:bodyPr>
          <a:lstStyle/>
          <a:p>
            <a:pPr marL="609600" indent="-609600">
              <a:buFont typeface="Wingdings" pitchFamily="2" charset="2"/>
              <a:buNone/>
              <a:defRPr/>
            </a:pPr>
            <a:r>
              <a:rPr lang="en-US" altLang="ru-RU" sz="2800" b="1" dirty="0" smtClean="0"/>
              <a:t>UPDATE </a:t>
            </a:r>
            <a:r>
              <a:rPr lang="ru-RU" altLang="ru-RU" sz="2800" b="1" dirty="0" smtClean="0"/>
              <a:t>– </a:t>
            </a:r>
            <a:r>
              <a:rPr lang="ru-RU" altLang="ru-RU" sz="2800" dirty="0" smtClean="0"/>
              <a:t>изменение данных в таблице БД</a:t>
            </a:r>
            <a:endParaRPr lang="en-US" altLang="ru-RU" sz="2800" dirty="0" smtClean="0"/>
          </a:p>
          <a:p>
            <a:pPr marL="609600" indent="-609600">
              <a:buFont typeface="Wingdings" pitchFamily="2" charset="2"/>
              <a:buNone/>
              <a:defRPr/>
            </a:pPr>
            <a:r>
              <a:rPr lang="ru-RU" sz="2800" dirty="0" smtClean="0">
                <a:solidFill>
                  <a:schemeClr val="bg2"/>
                </a:solidFill>
              </a:rPr>
              <a:t>Синтаксис оператора</a:t>
            </a:r>
            <a:endParaRPr lang="en-US" sz="2800" dirty="0" smtClean="0">
              <a:solidFill>
                <a:schemeClr val="bg2"/>
              </a:solidFill>
            </a:endParaRPr>
          </a:p>
          <a:p>
            <a:pPr marL="609600" indent="-609600">
              <a:buFont typeface="Wingdings" pitchFamily="2" charset="2"/>
              <a:buNone/>
              <a:defRPr/>
            </a:pPr>
            <a:r>
              <a:rPr lang="en-US" altLang="ru-RU" sz="2800" dirty="0" smtClean="0"/>
              <a:t>UPDATE &lt;</a:t>
            </a:r>
            <a:r>
              <a:rPr lang="ru-RU" altLang="ru-RU" sz="2800" dirty="0" smtClean="0"/>
              <a:t>имя таблицы</a:t>
            </a:r>
            <a:r>
              <a:rPr lang="en-US" altLang="ru-RU" sz="2800" dirty="0" smtClean="0"/>
              <a:t>&gt;</a:t>
            </a:r>
            <a:endParaRPr lang="ru-RU" altLang="ru-RU" sz="2800" dirty="0" smtClean="0"/>
          </a:p>
          <a:p>
            <a:pPr marL="609600" indent="-609600">
              <a:buFont typeface="Wingdings" pitchFamily="2" charset="2"/>
              <a:buNone/>
              <a:defRPr/>
            </a:pPr>
            <a:r>
              <a:rPr lang="en-US" altLang="ru-RU" sz="2800" dirty="0" smtClean="0"/>
              <a:t>	SET</a:t>
            </a:r>
            <a:r>
              <a:rPr lang="ru-RU" altLang="ru-RU" sz="2800" dirty="0" smtClean="0"/>
              <a:t> </a:t>
            </a:r>
            <a:r>
              <a:rPr lang="en-US" altLang="ru-RU" sz="2800" dirty="0" smtClean="0"/>
              <a:t>&lt;</a:t>
            </a:r>
            <a:r>
              <a:rPr lang="ru-RU" altLang="ru-RU" sz="2400" dirty="0" smtClean="0"/>
              <a:t>имя столбца</a:t>
            </a:r>
            <a:r>
              <a:rPr lang="en-US" altLang="ru-RU" sz="2800" dirty="0" smtClean="0"/>
              <a:t>&gt; = </a:t>
            </a:r>
            <a:r>
              <a:rPr lang="en-US" altLang="ru-RU" sz="2800" dirty="0" smtClean="0">
                <a:solidFill>
                  <a:schemeClr val="bg2"/>
                </a:solidFill>
              </a:rPr>
              <a:t>{</a:t>
            </a:r>
            <a:r>
              <a:rPr lang="en-US" altLang="ru-RU" sz="2800" dirty="0" smtClean="0"/>
              <a:t>&lt;</a:t>
            </a:r>
            <a:r>
              <a:rPr lang="ru-RU" altLang="ru-RU" sz="2000" dirty="0" smtClean="0"/>
              <a:t>выражение для вычисления </a:t>
            </a:r>
            <a:r>
              <a:rPr lang="en-US" altLang="ru-RU" sz="2000" dirty="0" smtClean="0"/>
              <a:t>					       </a:t>
            </a:r>
            <a:r>
              <a:rPr lang="ru-RU" altLang="ru-RU" sz="2000" dirty="0" smtClean="0"/>
              <a:t>значения столбца</a:t>
            </a:r>
            <a:r>
              <a:rPr lang="en-US" altLang="ru-RU" sz="2800" dirty="0" smtClean="0"/>
              <a:t>&gt;</a:t>
            </a:r>
            <a:endParaRPr lang="ru-RU" altLang="ru-RU" sz="2800" dirty="0" smtClean="0"/>
          </a:p>
          <a:p>
            <a:pPr marL="609600" indent="-609600">
              <a:buFont typeface="Wingdings" pitchFamily="2" charset="2"/>
              <a:buNone/>
              <a:defRPr/>
            </a:pPr>
            <a:r>
              <a:rPr lang="ru-RU" altLang="ru-RU" sz="2800" dirty="0" smtClean="0"/>
              <a:t>				</a:t>
            </a:r>
            <a:r>
              <a:rPr lang="en-US" altLang="ru-RU" sz="2800" dirty="0" smtClean="0"/>
              <a:t>	    |  NULL</a:t>
            </a:r>
          </a:p>
          <a:p>
            <a:pPr marL="609600" indent="-609600">
              <a:buFont typeface="Wingdings" pitchFamily="2" charset="2"/>
              <a:buNone/>
              <a:defRPr/>
            </a:pPr>
            <a:r>
              <a:rPr lang="en-US" altLang="ru-RU" sz="2800" dirty="0" smtClean="0"/>
              <a:t>					    |  DEFAULT </a:t>
            </a:r>
            <a:r>
              <a:rPr lang="en-US" altLang="ru-RU" sz="2800" dirty="0" smtClean="0">
                <a:solidFill>
                  <a:schemeClr val="bg2"/>
                </a:solidFill>
              </a:rPr>
              <a:t>}</a:t>
            </a:r>
            <a:r>
              <a:rPr lang="en-US" altLang="ru-RU" sz="2800" dirty="0" smtClean="0"/>
              <a:t>, …</a:t>
            </a:r>
          </a:p>
          <a:p>
            <a:pPr marL="609600" indent="-609600">
              <a:buFont typeface="Wingdings" pitchFamily="2" charset="2"/>
              <a:buNone/>
              <a:defRPr/>
            </a:pPr>
            <a:r>
              <a:rPr lang="en-US" altLang="ru-RU" sz="2800" dirty="0" smtClean="0"/>
              <a:t>		</a:t>
            </a:r>
            <a:r>
              <a:rPr lang="en-US" altLang="ru-RU" sz="2800" dirty="0" smtClean="0">
                <a:solidFill>
                  <a:schemeClr val="bg2"/>
                </a:solidFill>
              </a:rPr>
              <a:t>[ </a:t>
            </a:r>
            <a:r>
              <a:rPr lang="ru-RU" altLang="ru-RU" sz="2800" dirty="0" smtClean="0">
                <a:solidFill>
                  <a:schemeClr val="bg2"/>
                </a:solidFill>
              </a:rPr>
              <a:t> </a:t>
            </a:r>
            <a:r>
              <a:rPr lang="en-US" altLang="ru-RU" sz="2800" dirty="0" smtClean="0"/>
              <a:t>WHERE </a:t>
            </a:r>
            <a:r>
              <a:rPr lang="en-US" altLang="ru-RU" sz="2800" dirty="0" smtClean="0">
                <a:solidFill>
                  <a:srgbClr val="3333FF"/>
                </a:solidFill>
              </a:rPr>
              <a:t>&lt;</a:t>
            </a:r>
            <a:r>
              <a:rPr lang="ru-RU" altLang="ru-RU" sz="2800" dirty="0" smtClean="0">
                <a:solidFill>
                  <a:srgbClr val="3333FF"/>
                </a:solidFill>
              </a:rPr>
              <a:t>предикат</a:t>
            </a:r>
            <a:r>
              <a:rPr lang="en-US" altLang="ru-RU" sz="2800" dirty="0" smtClean="0">
                <a:solidFill>
                  <a:srgbClr val="3333FF"/>
                </a:solidFill>
              </a:rPr>
              <a:t>&gt;</a:t>
            </a:r>
            <a:r>
              <a:rPr lang="ru-RU" altLang="ru-RU" sz="2800" dirty="0" smtClean="0"/>
              <a:t>	</a:t>
            </a:r>
          </a:p>
          <a:p>
            <a:pPr marL="609600" indent="-609600">
              <a:buFont typeface="Wingdings" pitchFamily="2" charset="2"/>
              <a:buNone/>
              <a:defRPr/>
            </a:pPr>
            <a:r>
              <a:rPr lang="ru-RU" altLang="ru-RU" sz="2800" dirty="0" smtClean="0"/>
              <a:t>		 </a:t>
            </a:r>
            <a:r>
              <a:rPr lang="en-US" altLang="ru-RU" sz="2800" dirty="0" smtClean="0"/>
              <a:t>| WHERE </a:t>
            </a:r>
            <a:r>
              <a:rPr lang="en-US" altLang="ru-RU" sz="2800" dirty="0" smtClean="0">
                <a:solidFill>
                  <a:srgbClr val="3333FF"/>
                </a:solidFill>
              </a:rPr>
              <a:t>CURRENT OF &lt;</a:t>
            </a:r>
            <a:r>
              <a:rPr lang="ru-RU" altLang="ru-RU" sz="2800" dirty="0" smtClean="0">
                <a:solidFill>
                  <a:srgbClr val="3333FF"/>
                </a:solidFill>
              </a:rPr>
              <a:t>имя курсора</a:t>
            </a:r>
            <a:r>
              <a:rPr lang="en-US" altLang="ru-RU" sz="2800" dirty="0" smtClean="0">
                <a:solidFill>
                  <a:srgbClr val="3333FF"/>
                </a:solidFill>
              </a:rPr>
              <a:t>&gt;</a:t>
            </a:r>
            <a:r>
              <a:rPr lang="ru-RU" altLang="ru-RU" sz="2800" dirty="0" smtClean="0">
                <a:solidFill>
                  <a:srgbClr val="3333FF"/>
                </a:solidFill>
              </a:rPr>
              <a:t> </a:t>
            </a:r>
            <a:r>
              <a:rPr lang="en-US" altLang="ru-RU" sz="2800" dirty="0" smtClean="0">
                <a:solidFill>
                  <a:schemeClr val="bg2"/>
                </a:solidFill>
              </a:rPr>
              <a:t>]</a:t>
            </a:r>
          </a:p>
          <a:p>
            <a:pPr marL="609600" indent="-609600">
              <a:spcBef>
                <a:spcPts val="1200"/>
              </a:spcBef>
              <a:buFont typeface="Wingdings" pitchFamily="2" charset="2"/>
              <a:buNone/>
              <a:defRPr/>
            </a:pPr>
            <a:r>
              <a:rPr lang="ru-RU" altLang="ru-RU" sz="2800" u="sng" dirty="0" smtClean="0">
                <a:solidFill>
                  <a:schemeClr val="bg2"/>
                </a:solidFill>
              </a:rPr>
              <a:t>Пример.</a:t>
            </a:r>
            <a:r>
              <a:rPr lang="ru-RU" altLang="ru-RU" sz="2800" dirty="0" smtClean="0">
                <a:solidFill>
                  <a:schemeClr val="bg2"/>
                </a:solidFill>
              </a:rPr>
              <a:t> Обновление группы строк</a:t>
            </a:r>
          </a:p>
          <a:p>
            <a:pPr marL="609600" indent="-609600">
              <a:spcBef>
                <a:spcPts val="1200"/>
              </a:spcBef>
              <a:buFont typeface="Wingdings" pitchFamily="2" charset="2"/>
              <a:buNone/>
              <a:defRPr/>
            </a:pPr>
            <a:r>
              <a:rPr lang="en-US" altLang="ru-RU" sz="2800" dirty="0" smtClean="0"/>
              <a:t>UPDATE</a:t>
            </a:r>
            <a:r>
              <a:rPr lang="ru-RU" altLang="ru-RU" sz="2800" dirty="0" smtClean="0"/>
              <a:t> </a:t>
            </a:r>
            <a:r>
              <a:rPr lang="en-US" altLang="ru-RU" sz="2800" dirty="0" smtClean="0"/>
              <a:t>Salespeople</a:t>
            </a:r>
          </a:p>
          <a:p>
            <a:pPr marL="609600" indent="-609600">
              <a:spcBef>
                <a:spcPts val="1200"/>
              </a:spcBef>
              <a:buFont typeface="Wingdings" pitchFamily="2" charset="2"/>
              <a:buNone/>
              <a:defRPr/>
            </a:pPr>
            <a:r>
              <a:rPr lang="en-US" altLang="ru-RU" sz="2800" dirty="0" smtClean="0"/>
              <a:t>SET </a:t>
            </a:r>
            <a:r>
              <a:rPr lang="en-US" altLang="ru-RU" sz="2800" dirty="0" err="1" smtClean="0"/>
              <a:t>Comm</a:t>
            </a:r>
            <a:r>
              <a:rPr lang="en-US" altLang="ru-RU" sz="2800" dirty="0" smtClean="0"/>
              <a:t> = </a:t>
            </a:r>
            <a:r>
              <a:rPr lang="en-US" altLang="ru-RU" sz="2800" dirty="0" err="1" smtClean="0"/>
              <a:t>Comm</a:t>
            </a:r>
            <a:r>
              <a:rPr lang="en-US" altLang="ru-RU" sz="2800" smtClean="0"/>
              <a:t>*1.1</a:t>
            </a:r>
            <a:endParaRPr lang="en-US" altLang="ru-RU" sz="2800" dirty="0" smtClean="0"/>
          </a:p>
          <a:p>
            <a:pPr marL="609600" indent="-609600">
              <a:spcBef>
                <a:spcPts val="1200"/>
              </a:spcBef>
              <a:buFont typeface="Wingdings" pitchFamily="2" charset="2"/>
              <a:buNone/>
              <a:defRPr/>
            </a:pPr>
            <a:r>
              <a:rPr lang="en-US" altLang="ru-RU" sz="2800" dirty="0" smtClean="0"/>
              <a:t>WHERE  City = ‘</a:t>
            </a:r>
            <a:r>
              <a:rPr lang="ru-RU" altLang="ru-RU" sz="2800" dirty="0" smtClean="0"/>
              <a:t>Новосибирск</a:t>
            </a:r>
            <a:r>
              <a:rPr lang="en-US" altLang="ru-RU" sz="2800" dirty="0" smtClean="0"/>
              <a:t>’;</a:t>
            </a:r>
          </a:p>
          <a:p>
            <a:pPr marL="609600" indent="-609600">
              <a:defRPr/>
            </a:pPr>
            <a:endParaRPr lang="ru-RU" altLang="ru-RU" dirty="0" smtClean="0">
              <a:solidFill>
                <a:schemeClr val="bg2"/>
              </a:solidFill>
            </a:endParaRPr>
          </a:p>
        </p:txBody>
      </p:sp>
      <p:sp>
        <p:nvSpPr>
          <p:cNvPr id="9220" name="Номер слайда 4"/>
          <p:cNvSpPr>
            <a:spLocks noGrp="1"/>
          </p:cNvSpPr>
          <p:nvPr>
            <p:ph type="sldNum" sz="quarter" idx="11"/>
          </p:nvPr>
        </p:nvSpPr>
        <p:spPr>
          <a:noFill/>
          <a:ln>
            <a:miter lim="800000"/>
            <a:headEnd/>
            <a:tailEnd/>
          </a:ln>
        </p:spPr>
        <p:txBody>
          <a:bodyPr/>
          <a:lstStyle/>
          <a:p>
            <a:fld id="{BF8B26B5-64C3-4708-9A1B-F68FC8BE80FB}" type="slidenum">
              <a:rPr lang="ru-RU" altLang="ru-RU" smtClean="0"/>
              <a:pPr/>
              <a:t>7</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down)">
                                      <p:cBhvr>
                                        <p:cTn id="32" dur="500"/>
                                        <p:tgtEl>
                                          <p:spTgt spid="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down)">
                                      <p:cBhvr>
                                        <p:cTn id="37" dur="500"/>
                                        <p:tgtEl>
                                          <p:spTgt spid="4">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down)">
                                      <p:cBhvr>
                                        <p:cTn id="42" dur="500"/>
                                        <p:tgtEl>
                                          <p:spTgt spid="4">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wipe(down)">
                                      <p:cBhvr>
                                        <p:cTn id="47" dur="500"/>
                                        <p:tgtEl>
                                          <p:spTgt spid="4">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wipe(down)">
                                      <p:cBhvr>
                                        <p:cTn id="52" dur="500"/>
                                        <p:tgtEl>
                                          <p:spTgt spid="4">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wipe(down)">
                                      <p:cBhvr>
                                        <p:cTn id="57" dur="500"/>
                                        <p:tgtEl>
                                          <p:spTgt spid="4">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wipe(down)">
                                      <p:cBhvr>
                                        <p:cTn id="62"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457200"/>
            <a:ext cx="8229600" cy="739775"/>
          </a:xfrm>
        </p:spPr>
        <p:txBody>
          <a:bodyPr/>
          <a:lstStyle/>
          <a:p>
            <a:pPr algn="ctr"/>
            <a:r>
              <a:rPr lang="ru-RU" altLang="ru-RU" sz="4000" smtClean="0">
                <a:solidFill>
                  <a:schemeClr val="bg2"/>
                </a:solidFill>
              </a:rPr>
              <a:t>Поиск данных в БД</a:t>
            </a:r>
          </a:p>
        </p:txBody>
      </p:sp>
      <p:sp>
        <p:nvSpPr>
          <p:cNvPr id="36867" name="Rectangle 3"/>
          <p:cNvSpPr>
            <a:spLocks noGrp="1" noChangeArrowheads="1"/>
          </p:cNvSpPr>
          <p:nvPr>
            <p:ph type="body" idx="1"/>
          </p:nvPr>
        </p:nvSpPr>
        <p:spPr>
          <a:xfrm>
            <a:off x="179388" y="1341438"/>
            <a:ext cx="8589962" cy="5111750"/>
          </a:xfrm>
        </p:spPr>
        <p:txBody>
          <a:bodyPr/>
          <a:lstStyle/>
          <a:p>
            <a:pPr marL="0" indent="0">
              <a:buFont typeface="Wingdings" pitchFamily="2" charset="2"/>
              <a:buNone/>
              <a:defRPr/>
            </a:pPr>
            <a:r>
              <a:rPr lang="en-US" b="1" dirty="0">
                <a:solidFill>
                  <a:schemeClr val="bg2">
                    <a:lumMod val="60000"/>
                    <a:lumOff val="40000"/>
                  </a:schemeClr>
                </a:solidFill>
              </a:rPr>
              <a:t>SELECT</a:t>
            </a:r>
            <a:r>
              <a:rPr lang="en-US" dirty="0"/>
              <a:t> </a:t>
            </a:r>
            <a:r>
              <a:rPr lang="en-US" dirty="0" smtClean="0"/>
              <a:t>[ALL | DISTINCT]&lt;</a:t>
            </a:r>
            <a:r>
              <a:rPr lang="ru-RU" dirty="0" smtClean="0"/>
              <a:t>целевой список</a:t>
            </a:r>
            <a:r>
              <a:rPr lang="en-US" dirty="0" smtClean="0"/>
              <a:t>&gt;</a:t>
            </a:r>
            <a:endParaRPr lang="ru-RU" dirty="0" smtClean="0"/>
          </a:p>
          <a:p>
            <a:pPr marL="0" indent="0">
              <a:buFont typeface="Wingdings" pitchFamily="2" charset="2"/>
              <a:buNone/>
              <a:defRPr/>
            </a:pPr>
            <a:r>
              <a:rPr lang="en-US" b="1" dirty="0">
                <a:solidFill>
                  <a:schemeClr val="bg2">
                    <a:lumMod val="60000"/>
                    <a:lumOff val="40000"/>
                  </a:schemeClr>
                </a:solidFill>
              </a:rPr>
              <a:t>FROM</a:t>
            </a:r>
            <a:r>
              <a:rPr lang="en-US" dirty="0"/>
              <a:t> </a:t>
            </a:r>
            <a:r>
              <a:rPr lang="en-US" dirty="0" smtClean="0"/>
              <a:t>&lt;</a:t>
            </a:r>
            <a:r>
              <a:rPr lang="ru-RU" dirty="0" smtClean="0"/>
              <a:t>выражение над таблицами</a:t>
            </a:r>
            <a:r>
              <a:rPr lang="en-US" dirty="0" smtClean="0"/>
              <a:t>&gt;</a:t>
            </a:r>
            <a:endParaRPr lang="ru-RU" dirty="0" smtClean="0"/>
          </a:p>
          <a:p>
            <a:pPr marL="0" indent="0">
              <a:buFont typeface="Wingdings" pitchFamily="2" charset="2"/>
              <a:buNone/>
              <a:defRPr/>
            </a:pPr>
            <a:r>
              <a:rPr lang="en-US" dirty="0"/>
              <a:t>     [</a:t>
            </a:r>
            <a:r>
              <a:rPr lang="en-US" b="1" dirty="0">
                <a:solidFill>
                  <a:srgbClr val="008000"/>
                </a:solidFill>
              </a:rPr>
              <a:t>WHERE</a:t>
            </a:r>
            <a:r>
              <a:rPr lang="en-US" dirty="0"/>
              <a:t> </a:t>
            </a:r>
            <a:r>
              <a:rPr lang="en-US" dirty="0" smtClean="0"/>
              <a:t>&lt;condition&gt;]</a:t>
            </a:r>
            <a:endParaRPr lang="ru-RU" dirty="0" smtClean="0"/>
          </a:p>
          <a:p>
            <a:pPr marL="0" indent="0">
              <a:buFont typeface="Wingdings" pitchFamily="2" charset="2"/>
              <a:buNone/>
              <a:defRPr/>
            </a:pPr>
            <a:r>
              <a:rPr lang="en-US" dirty="0"/>
              <a:t>     [</a:t>
            </a:r>
            <a:r>
              <a:rPr lang="en-US" b="1" dirty="0">
                <a:solidFill>
                  <a:srgbClr val="008000"/>
                </a:solidFill>
              </a:rPr>
              <a:t>GROUP BY</a:t>
            </a:r>
            <a:r>
              <a:rPr lang="en-US" dirty="0">
                <a:solidFill>
                  <a:srgbClr val="008000"/>
                </a:solidFill>
              </a:rPr>
              <a:t> </a:t>
            </a:r>
            <a:r>
              <a:rPr lang="en-US" dirty="0" smtClean="0"/>
              <a:t>&lt;</a:t>
            </a:r>
            <a:r>
              <a:rPr lang="ru-RU" dirty="0" smtClean="0"/>
              <a:t>список атрибутов</a:t>
            </a:r>
            <a:r>
              <a:rPr lang="en-US" dirty="0" smtClean="0"/>
              <a:t>&gt;]</a:t>
            </a:r>
          </a:p>
          <a:p>
            <a:pPr marL="914400" lvl="2" indent="0">
              <a:buFont typeface="Wingdings" pitchFamily="2" charset="2"/>
              <a:buNone/>
              <a:defRPr/>
            </a:pPr>
            <a:r>
              <a:rPr lang="en-US" dirty="0" smtClean="0"/>
              <a:t>  [</a:t>
            </a:r>
            <a:r>
              <a:rPr lang="en-US" dirty="0"/>
              <a:t>HAVING </a:t>
            </a:r>
            <a:r>
              <a:rPr lang="en-US" dirty="0" smtClean="0"/>
              <a:t>&lt;condition&gt;]</a:t>
            </a:r>
          </a:p>
          <a:p>
            <a:pPr marL="114300" indent="0">
              <a:buFont typeface="Wingdings" pitchFamily="2" charset="2"/>
              <a:buNone/>
              <a:defRPr/>
            </a:pPr>
            <a:r>
              <a:rPr lang="en-US" dirty="0" smtClean="0"/>
              <a:t>[{ UNION | INTERSECT | EXCEPT } [ALL]</a:t>
            </a:r>
          </a:p>
          <a:p>
            <a:pPr marL="114300" indent="0">
              <a:buFont typeface="Wingdings" pitchFamily="2" charset="2"/>
              <a:buNone/>
              <a:defRPr/>
            </a:pPr>
            <a:r>
              <a:rPr lang="en-US" dirty="0" smtClean="0"/>
              <a:t>&lt;</a:t>
            </a:r>
            <a:r>
              <a:rPr lang="en-US" dirty="0" err="1" smtClean="0"/>
              <a:t>SELECT_operator</a:t>
            </a:r>
            <a:r>
              <a:rPr lang="en-US" dirty="0" smtClean="0"/>
              <a:t> &gt;</a:t>
            </a:r>
          </a:p>
          <a:p>
            <a:pPr marL="114300" indent="0">
              <a:buFont typeface="Wingdings" pitchFamily="2" charset="2"/>
              <a:buNone/>
              <a:defRPr/>
            </a:pPr>
            <a:r>
              <a:rPr lang="en-US" dirty="0"/>
              <a:t>[</a:t>
            </a:r>
            <a:r>
              <a:rPr lang="en-US" b="1" dirty="0">
                <a:solidFill>
                  <a:srgbClr val="008000"/>
                </a:solidFill>
              </a:rPr>
              <a:t>ORDER BY</a:t>
            </a:r>
            <a:r>
              <a:rPr lang="en-US" dirty="0"/>
              <a:t>] </a:t>
            </a:r>
            <a:endParaRPr lang="ru-RU" dirty="0" smtClean="0"/>
          </a:p>
        </p:txBody>
      </p:sp>
      <p:sp>
        <p:nvSpPr>
          <p:cNvPr id="10244" name="Номер слайда 3"/>
          <p:cNvSpPr>
            <a:spLocks noGrp="1"/>
          </p:cNvSpPr>
          <p:nvPr>
            <p:ph type="sldNum" sz="quarter" idx="11"/>
          </p:nvPr>
        </p:nvSpPr>
        <p:spPr>
          <a:noFill/>
          <a:ln>
            <a:miter lim="800000"/>
            <a:headEnd/>
            <a:tailEnd/>
          </a:ln>
        </p:spPr>
        <p:txBody>
          <a:bodyPr/>
          <a:lstStyle/>
          <a:p>
            <a:fld id="{B25412DF-5497-41B0-BBFF-775D08246A8B}" type="slidenum">
              <a:rPr lang="ru-RU" altLang="ru-RU" smtClean="0"/>
              <a:pPr/>
              <a:t>8</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wipe(down)">
                                      <p:cBhvr>
                                        <p:cTn id="7" dur="500"/>
                                        <p:tgtEl>
                                          <p:spTgt spid="36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wipe(down)">
                                      <p:cBhvr>
                                        <p:cTn id="12" dur="500"/>
                                        <p:tgtEl>
                                          <p:spTgt spid="368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wipe(down)">
                                      <p:cBhvr>
                                        <p:cTn id="17" dur="500"/>
                                        <p:tgtEl>
                                          <p:spTgt spid="368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wipe(down)">
                                      <p:cBhvr>
                                        <p:cTn id="22" dur="500"/>
                                        <p:tgtEl>
                                          <p:spTgt spid="36867">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6867">
                                            <p:txEl>
                                              <p:pRg st="4" end="4"/>
                                            </p:txEl>
                                          </p:spTgt>
                                        </p:tgtEl>
                                        <p:attrNameLst>
                                          <p:attrName>style.visibility</p:attrName>
                                        </p:attrNameLst>
                                      </p:cBhvr>
                                      <p:to>
                                        <p:strVal val="visible"/>
                                      </p:to>
                                    </p:set>
                                    <p:animEffect transition="in" filter="wipe(down)">
                                      <p:cBhvr>
                                        <p:cTn id="25" dur="500"/>
                                        <p:tgtEl>
                                          <p:spTgt spid="36867">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6867">
                                            <p:txEl>
                                              <p:pRg st="5" end="5"/>
                                            </p:txEl>
                                          </p:spTgt>
                                        </p:tgtEl>
                                        <p:attrNameLst>
                                          <p:attrName>style.visibility</p:attrName>
                                        </p:attrNameLst>
                                      </p:cBhvr>
                                      <p:to>
                                        <p:strVal val="visible"/>
                                      </p:to>
                                    </p:set>
                                    <p:animEffect transition="in" filter="wipe(down)">
                                      <p:cBhvr>
                                        <p:cTn id="30" dur="500"/>
                                        <p:tgtEl>
                                          <p:spTgt spid="36867">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6867">
                                            <p:txEl>
                                              <p:pRg st="6" end="6"/>
                                            </p:txEl>
                                          </p:spTgt>
                                        </p:tgtEl>
                                        <p:attrNameLst>
                                          <p:attrName>style.visibility</p:attrName>
                                        </p:attrNameLst>
                                      </p:cBhvr>
                                      <p:to>
                                        <p:strVal val="visible"/>
                                      </p:to>
                                    </p:set>
                                    <p:animEffect transition="in" filter="wipe(down)">
                                      <p:cBhvr>
                                        <p:cTn id="35" dur="500"/>
                                        <p:tgtEl>
                                          <p:spTgt spid="36867">
                                            <p:txEl>
                                              <p:pRg st="6" end="6"/>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6867">
                                            <p:txEl>
                                              <p:pRg st="7" end="7"/>
                                            </p:txEl>
                                          </p:spTgt>
                                        </p:tgtEl>
                                        <p:attrNameLst>
                                          <p:attrName>style.visibility</p:attrName>
                                        </p:attrNameLst>
                                      </p:cBhvr>
                                      <p:to>
                                        <p:strVal val="visible"/>
                                      </p:to>
                                    </p:set>
                                    <p:animEffect transition="in" filter="wipe(down)">
                                      <p:cBhvr>
                                        <p:cTn id="40" dur="500"/>
                                        <p:tgtEl>
                                          <p:spTgt spid="368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79388" y="168275"/>
            <a:ext cx="8713787" cy="739775"/>
          </a:xfrm>
        </p:spPr>
        <p:txBody>
          <a:bodyPr>
            <a:normAutofit fontScale="90000"/>
          </a:bodyPr>
          <a:lstStyle/>
          <a:p>
            <a:pPr algn="ctr">
              <a:defRPr/>
            </a:pPr>
            <a:r>
              <a:rPr lang="ru-RU" altLang="ru-RU" sz="4000" dirty="0" smtClean="0">
                <a:solidFill>
                  <a:schemeClr val="bg2"/>
                </a:solidFill>
              </a:rPr>
              <a:t>Схема выполнения </a:t>
            </a:r>
            <a:r>
              <a:rPr lang="en-US" altLang="ru-RU" sz="4000" dirty="0" smtClean="0">
                <a:solidFill>
                  <a:schemeClr val="bg2"/>
                </a:solidFill>
              </a:rPr>
              <a:t>SELECT</a:t>
            </a:r>
            <a:r>
              <a:rPr lang="ru-RU" altLang="ru-RU" sz="4000" dirty="0" smtClean="0">
                <a:solidFill>
                  <a:schemeClr val="bg2"/>
                </a:solidFill>
              </a:rPr>
              <a:t> оператора</a:t>
            </a:r>
          </a:p>
        </p:txBody>
      </p:sp>
      <p:sp>
        <p:nvSpPr>
          <p:cNvPr id="36867" name="Rectangle 3"/>
          <p:cNvSpPr>
            <a:spLocks noGrp="1" noChangeArrowheads="1"/>
          </p:cNvSpPr>
          <p:nvPr>
            <p:ph type="body" idx="1"/>
          </p:nvPr>
        </p:nvSpPr>
        <p:spPr>
          <a:xfrm>
            <a:off x="179388" y="1341438"/>
            <a:ext cx="8589962" cy="5111750"/>
          </a:xfrm>
        </p:spPr>
        <p:txBody>
          <a:bodyPr/>
          <a:lstStyle/>
          <a:p>
            <a:pPr marL="514350" indent="-514350">
              <a:buFont typeface="Wingdings" pitchFamily="2" charset="2"/>
              <a:buAutoNum type="arabicPeriod"/>
              <a:defRPr/>
            </a:pPr>
            <a:r>
              <a:rPr lang="ru-RU" dirty="0" smtClean="0"/>
              <a:t>Выполняется раздел </a:t>
            </a:r>
            <a:r>
              <a:rPr lang="en-US" b="1" dirty="0" smtClean="0"/>
              <a:t>FROM</a:t>
            </a:r>
            <a:r>
              <a:rPr lang="en-US" b="1" dirty="0" smtClean="0">
                <a:solidFill>
                  <a:schemeClr val="bg2">
                    <a:lumMod val="60000"/>
                    <a:lumOff val="40000"/>
                  </a:schemeClr>
                </a:solidFill>
              </a:rPr>
              <a:t> </a:t>
            </a:r>
            <a:endParaRPr lang="ru-RU" b="1" dirty="0" smtClean="0">
              <a:solidFill>
                <a:schemeClr val="bg2">
                  <a:lumMod val="60000"/>
                  <a:lumOff val="40000"/>
                </a:schemeClr>
              </a:solidFill>
            </a:endParaRPr>
          </a:p>
          <a:p>
            <a:pPr marL="514350" indent="-514350">
              <a:buFont typeface="Wingdings" pitchFamily="2" charset="2"/>
              <a:buAutoNum type="arabicPeriod"/>
              <a:defRPr/>
            </a:pPr>
            <a:r>
              <a:rPr lang="ru-RU" dirty="0" smtClean="0"/>
              <a:t>Выполняется раздел </a:t>
            </a:r>
            <a:r>
              <a:rPr lang="en-US" b="1" dirty="0" smtClean="0"/>
              <a:t>WHERE</a:t>
            </a:r>
            <a:r>
              <a:rPr lang="en-US" b="1" dirty="0" smtClean="0">
                <a:solidFill>
                  <a:srgbClr val="008000"/>
                </a:solidFill>
              </a:rPr>
              <a:t> </a:t>
            </a:r>
            <a:r>
              <a:rPr lang="ru-RU" dirty="0" smtClean="0"/>
              <a:t>(если есть)</a:t>
            </a:r>
          </a:p>
          <a:p>
            <a:pPr marL="514350" indent="-514350">
              <a:buFont typeface="Wingdings" pitchFamily="2" charset="2"/>
              <a:buAutoNum type="arabicPeriod"/>
              <a:defRPr/>
            </a:pPr>
            <a:r>
              <a:rPr lang="ru-RU" dirty="0" smtClean="0"/>
              <a:t>Выполняется раздел </a:t>
            </a:r>
            <a:r>
              <a:rPr lang="en-US" b="1" dirty="0" smtClean="0"/>
              <a:t>GROUP BY </a:t>
            </a:r>
            <a:r>
              <a:rPr lang="ru-RU" dirty="0" smtClean="0"/>
              <a:t>(если есть)</a:t>
            </a:r>
          </a:p>
          <a:p>
            <a:pPr marL="514350" indent="-514350">
              <a:buFont typeface="Wingdings" pitchFamily="2" charset="2"/>
              <a:buAutoNum type="arabicPeriod"/>
              <a:defRPr/>
            </a:pPr>
            <a:r>
              <a:rPr lang="ru-RU" dirty="0" smtClean="0"/>
              <a:t>Выполняется раздел </a:t>
            </a:r>
            <a:r>
              <a:rPr lang="en-US" b="1" dirty="0" smtClean="0"/>
              <a:t>HAVING</a:t>
            </a:r>
            <a:r>
              <a:rPr lang="ru-RU" dirty="0" smtClean="0"/>
              <a:t>(если есть)</a:t>
            </a:r>
          </a:p>
          <a:p>
            <a:pPr marL="514350" indent="-514350">
              <a:buFont typeface="Wingdings" pitchFamily="2" charset="2"/>
              <a:buAutoNum type="arabicPeriod"/>
              <a:defRPr/>
            </a:pPr>
            <a:r>
              <a:rPr lang="ru-RU" dirty="0" smtClean="0"/>
              <a:t>Выполняются определения в разделе </a:t>
            </a:r>
            <a:r>
              <a:rPr lang="en-US" b="1" dirty="0" smtClean="0"/>
              <a:t>SELECT</a:t>
            </a:r>
          </a:p>
          <a:p>
            <a:pPr marL="514350" indent="-514350">
              <a:buFont typeface="Wingdings" pitchFamily="2" charset="2"/>
              <a:buAutoNum type="arabicPeriod"/>
              <a:defRPr/>
            </a:pPr>
            <a:r>
              <a:rPr lang="ru-RU" dirty="0" smtClean="0"/>
              <a:t>Выполняется раздел </a:t>
            </a:r>
            <a:r>
              <a:rPr lang="en-US" b="1" dirty="0" smtClean="0"/>
              <a:t>ORDER</a:t>
            </a:r>
            <a:r>
              <a:rPr lang="ru-RU" dirty="0" smtClean="0"/>
              <a:t>(если есть)</a:t>
            </a:r>
          </a:p>
          <a:p>
            <a:pPr marL="514350" indent="-514350">
              <a:buFont typeface="Wingdings" pitchFamily="2" charset="2"/>
              <a:buAutoNum type="arabicPeriod"/>
              <a:defRPr/>
            </a:pPr>
            <a:endParaRPr lang="ru-RU" b="1" dirty="0" smtClean="0"/>
          </a:p>
          <a:p>
            <a:pPr marL="514350" indent="-514350">
              <a:buFont typeface="Wingdings" pitchFamily="2" charset="2"/>
              <a:buAutoNum type="arabicPeriod"/>
              <a:defRPr/>
            </a:pPr>
            <a:endParaRPr lang="ru-RU" dirty="0" smtClean="0"/>
          </a:p>
          <a:p>
            <a:pPr marL="514350" indent="-514350">
              <a:buFont typeface="Wingdings" pitchFamily="2" charset="2"/>
              <a:buAutoNum type="arabicPeriod"/>
              <a:defRPr/>
            </a:pPr>
            <a:endParaRPr lang="ru-RU" dirty="0" smtClean="0"/>
          </a:p>
        </p:txBody>
      </p:sp>
      <p:sp>
        <p:nvSpPr>
          <p:cNvPr id="11268" name="Номер слайда 3"/>
          <p:cNvSpPr>
            <a:spLocks noGrp="1"/>
          </p:cNvSpPr>
          <p:nvPr>
            <p:ph type="sldNum" sz="quarter" idx="11"/>
          </p:nvPr>
        </p:nvSpPr>
        <p:spPr>
          <a:noFill/>
          <a:ln>
            <a:miter lim="800000"/>
            <a:headEnd/>
            <a:tailEnd/>
          </a:ln>
        </p:spPr>
        <p:txBody>
          <a:bodyPr/>
          <a:lstStyle/>
          <a:p>
            <a:fld id="{69D4129D-CC4B-42CA-A250-1008002A34B6}" type="slidenum">
              <a:rPr lang="ru-RU" altLang="ru-RU" smtClean="0"/>
              <a:pPr/>
              <a:t>9</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wipe(down)">
                                      <p:cBhvr>
                                        <p:cTn id="7" dur="500"/>
                                        <p:tgtEl>
                                          <p:spTgt spid="36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wipe(down)">
                                      <p:cBhvr>
                                        <p:cTn id="12" dur="500"/>
                                        <p:tgtEl>
                                          <p:spTgt spid="368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wipe(down)">
                                      <p:cBhvr>
                                        <p:cTn id="17" dur="500"/>
                                        <p:tgtEl>
                                          <p:spTgt spid="368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wipe(down)">
                                      <p:cBhvr>
                                        <p:cTn id="22" dur="500"/>
                                        <p:tgtEl>
                                          <p:spTgt spid="368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6867">
                                            <p:txEl>
                                              <p:pRg st="4" end="4"/>
                                            </p:txEl>
                                          </p:spTgt>
                                        </p:tgtEl>
                                        <p:attrNameLst>
                                          <p:attrName>style.visibility</p:attrName>
                                        </p:attrNameLst>
                                      </p:cBhvr>
                                      <p:to>
                                        <p:strVal val="visible"/>
                                      </p:to>
                                    </p:set>
                                    <p:animEffect transition="in" filter="wipe(down)">
                                      <p:cBhvr>
                                        <p:cTn id="27" dur="500"/>
                                        <p:tgtEl>
                                          <p:spTgt spid="368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6867">
                                            <p:txEl>
                                              <p:pRg st="5" end="5"/>
                                            </p:txEl>
                                          </p:spTgt>
                                        </p:tgtEl>
                                        <p:attrNameLst>
                                          <p:attrName>style.visibility</p:attrName>
                                        </p:attrNameLst>
                                      </p:cBhvr>
                                      <p:to>
                                        <p:strVal val="visible"/>
                                      </p:to>
                                    </p:set>
                                    <p:animEffect transition="in" filter="wipe(down)">
                                      <p:cBhvr>
                                        <p:cTn id="32" dur="500"/>
                                        <p:tgtEl>
                                          <p:spTgt spid="368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Заголовок 1"/>
          <p:cNvSpPr>
            <a:spLocks noGrp="1"/>
          </p:cNvSpPr>
          <p:nvPr>
            <p:ph type="title"/>
          </p:nvPr>
        </p:nvSpPr>
        <p:spPr>
          <a:xfrm>
            <a:off x="457200" y="457200"/>
            <a:ext cx="8229600" cy="884238"/>
          </a:xfrm>
        </p:spPr>
        <p:txBody>
          <a:bodyPr/>
          <a:lstStyle/>
          <a:p>
            <a:pPr algn="ctr"/>
            <a:r>
              <a:rPr lang="ru-RU" altLang="ru-RU" smtClean="0">
                <a:solidFill>
                  <a:schemeClr val="bg2"/>
                </a:solidFill>
              </a:rPr>
              <a:t>Семантика </a:t>
            </a:r>
            <a:r>
              <a:rPr lang="en-US" altLang="ru-RU" sz="4800" smtClean="0">
                <a:solidFill>
                  <a:schemeClr val="bg2"/>
                </a:solidFill>
              </a:rPr>
              <a:t>SELECT</a:t>
            </a:r>
            <a:endParaRPr lang="ru-RU" altLang="ru-RU" sz="4800" smtClean="0"/>
          </a:p>
        </p:txBody>
      </p:sp>
      <p:sp>
        <p:nvSpPr>
          <p:cNvPr id="3" name="Объект 2"/>
          <p:cNvSpPr>
            <a:spLocks noGrp="1"/>
          </p:cNvSpPr>
          <p:nvPr>
            <p:ph idx="1"/>
          </p:nvPr>
        </p:nvSpPr>
        <p:spPr>
          <a:xfrm>
            <a:off x="457200" y="1412875"/>
            <a:ext cx="8229600" cy="4968875"/>
          </a:xfrm>
        </p:spPr>
        <p:txBody>
          <a:bodyPr/>
          <a:lstStyle/>
          <a:p>
            <a:pPr marL="0" indent="0">
              <a:buFont typeface="Wingdings" pitchFamily="2" charset="2"/>
              <a:buNone/>
              <a:defRPr/>
            </a:pPr>
            <a:r>
              <a:rPr lang="ru-RU" dirty="0" smtClean="0"/>
              <a:t>Пусть </a:t>
            </a:r>
            <a:r>
              <a:rPr lang="en-US" dirty="0" smtClean="0"/>
              <a:t>R(A,B), S(C,D)</a:t>
            </a:r>
          </a:p>
          <a:p>
            <a:pPr marL="0" indent="0">
              <a:buFont typeface="Wingdings" pitchFamily="2" charset="2"/>
              <a:buNone/>
              <a:defRPr/>
            </a:pPr>
            <a:r>
              <a:rPr lang="en-US" dirty="0" smtClean="0">
                <a:solidFill>
                  <a:schemeClr val="bg2">
                    <a:lumMod val="60000"/>
                    <a:lumOff val="40000"/>
                  </a:schemeClr>
                </a:solidFill>
              </a:rPr>
              <a:t>SELECT</a:t>
            </a:r>
            <a:r>
              <a:rPr lang="en-US" dirty="0" smtClean="0"/>
              <a:t> 	A, D</a:t>
            </a:r>
          </a:p>
          <a:p>
            <a:pPr marL="0" indent="0">
              <a:buFont typeface="Wingdings" pitchFamily="2" charset="2"/>
              <a:buNone/>
              <a:defRPr/>
            </a:pPr>
            <a:r>
              <a:rPr lang="en-US" dirty="0" smtClean="0">
                <a:solidFill>
                  <a:schemeClr val="bg2">
                    <a:lumMod val="60000"/>
                    <a:lumOff val="40000"/>
                  </a:schemeClr>
                </a:solidFill>
              </a:rPr>
              <a:t>FROM</a:t>
            </a:r>
            <a:r>
              <a:rPr lang="en-US" dirty="0" smtClean="0"/>
              <a:t> 	R,S</a:t>
            </a:r>
          </a:p>
          <a:p>
            <a:pPr marL="0" indent="0">
              <a:buFont typeface="Wingdings" pitchFamily="2" charset="2"/>
              <a:buNone/>
              <a:defRPr/>
            </a:pPr>
            <a:r>
              <a:rPr lang="en-US" dirty="0" smtClean="0">
                <a:solidFill>
                  <a:schemeClr val="bg2">
                    <a:lumMod val="60000"/>
                    <a:lumOff val="40000"/>
                  </a:schemeClr>
                </a:solidFill>
              </a:rPr>
              <a:t>WHERE</a:t>
            </a:r>
            <a:r>
              <a:rPr lang="en-US" dirty="0" smtClean="0"/>
              <a:t> 	B=C and D&gt; 99</a:t>
            </a:r>
          </a:p>
          <a:p>
            <a:pPr marL="0" indent="0">
              <a:buFont typeface="Wingdings" pitchFamily="2" charset="2"/>
              <a:buNone/>
              <a:defRPr/>
            </a:pPr>
            <a:endParaRPr lang="en-US" dirty="0" smtClean="0"/>
          </a:p>
          <a:p>
            <a:pPr marL="514350" indent="-514350">
              <a:buFont typeface="Wingdings" pitchFamily="2" charset="2"/>
              <a:buAutoNum type="arabicPeriod"/>
              <a:defRPr/>
            </a:pPr>
            <a:r>
              <a:rPr lang="en-US" dirty="0" smtClean="0"/>
              <a:t>T</a:t>
            </a:r>
            <a:r>
              <a:rPr lang="en-US" baseline="-25000" dirty="0" smtClean="0"/>
              <a:t>1</a:t>
            </a:r>
            <a:r>
              <a:rPr lang="en-US" dirty="0" smtClean="0"/>
              <a:t>= R</a:t>
            </a:r>
            <a:r>
              <a:rPr lang="ru-RU" dirty="0" smtClean="0"/>
              <a:t> </a:t>
            </a:r>
            <a:r>
              <a:rPr lang="en-US" dirty="0" smtClean="0"/>
              <a:t>x</a:t>
            </a:r>
            <a:r>
              <a:rPr lang="ru-RU" dirty="0" smtClean="0"/>
              <a:t> </a:t>
            </a:r>
            <a:r>
              <a:rPr lang="en-US" dirty="0" smtClean="0"/>
              <a:t>S</a:t>
            </a:r>
            <a:r>
              <a:rPr lang="ru-RU" dirty="0" smtClean="0"/>
              <a:t> </a:t>
            </a:r>
            <a:r>
              <a:rPr lang="en-US" dirty="0" smtClean="0"/>
              <a:t>			</a:t>
            </a:r>
            <a:r>
              <a:rPr lang="ru-RU" dirty="0" smtClean="0">
                <a:solidFill>
                  <a:srgbClr val="008000"/>
                </a:solidFill>
              </a:rPr>
              <a:t>(фраза </a:t>
            </a:r>
            <a:r>
              <a:rPr lang="en-US" dirty="0" smtClean="0">
                <a:solidFill>
                  <a:srgbClr val="008000"/>
                </a:solidFill>
              </a:rPr>
              <a:t>FROM)</a:t>
            </a:r>
          </a:p>
          <a:p>
            <a:pPr marL="514350" indent="-514350">
              <a:spcBef>
                <a:spcPts val="1200"/>
              </a:spcBef>
              <a:buFont typeface="Wingdings" pitchFamily="2" charset="2"/>
              <a:buAutoNum type="arabicPeriod"/>
              <a:defRPr/>
            </a:pPr>
            <a:r>
              <a:rPr lang="en-US" dirty="0" smtClean="0"/>
              <a:t>T</a:t>
            </a:r>
            <a:r>
              <a:rPr lang="en-US" baseline="-25000" dirty="0" smtClean="0"/>
              <a:t>2</a:t>
            </a:r>
            <a:r>
              <a:rPr lang="en-US" dirty="0" smtClean="0"/>
              <a:t>=</a:t>
            </a:r>
            <a:r>
              <a:rPr lang="el-GR" dirty="0" smtClean="0"/>
              <a:t> Ϭ</a:t>
            </a:r>
            <a:r>
              <a:rPr lang="en-US" dirty="0" smtClean="0"/>
              <a:t> </a:t>
            </a:r>
            <a:r>
              <a:rPr lang="en-US" baseline="-25000" dirty="0" smtClean="0"/>
              <a:t>B=C and D&gt; 99</a:t>
            </a:r>
            <a:r>
              <a:rPr lang="ru-RU" baseline="-25000" dirty="0" smtClean="0"/>
              <a:t> </a:t>
            </a:r>
            <a:r>
              <a:rPr lang="ru-RU" dirty="0" smtClean="0"/>
              <a:t>(</a:t>
            </a:r>
            <a:r>
              <a:rPr lang="en-US" dirty="0" smtClean="0"/>
              <a:t>T</a:t>
            </a:r>
            <a:r>
              <a:rPr lang="en-US" baseline="-25000" dirty="0" smtClean="0"/>
              <a:t>1</a:t>
            </a:r>
            <a:r>
              <a:rPr lang="en-US" dirty="0" smtClean="0"/>
              <a:t>)  </a:t>
            </a:r>
            <a:r>
              <a:rPr lang="ru-RU" dirty="0" smtClean="0">
                <a:solidFill>
                  <a:srgbClr val="008000"/>
                </a:solidFill>
              </a:rPr>
              <a:t>(</a:t>
            </a:r>
            <a:r>
              <a:rPr lang="ru-RU" dirty="0">
                <a:solidFill>
                  <a:srgbClr val="008000"/>
                </a:solidFill>
              </a:rPr>
              <a:t>фраза </a:t>
            </a:r>
            <a:r>
              <a:rPr lang="en-US" dirty="0" smtClean="0">
                <a:solidFill>
                  <a:srgbClr val="008000"/>
                </a:solidFill>
              </a:rPr>
              <a:t>WHERE)</a:t>
            </a:r>
            <a:endParaRPr lang="en-US" dirty="0" smtClean="0"/>
          </a:p>
          <a:p>
            <a:pPr marL="514350" indent="-514350">
              <a:spcBef>
                <a:spcPts val="600"/>
              </a:spcBef>
              <a:buFont typeface="Wingdings" pitchFamily="2" charset="2"/>
              <a:buAutoNum type="arabicPeriod"/>
              <a:defRPr/>
            </a:pPr>
            <a:r>
              <a:rPr lang="en-US" dirty="0" smtClean="0"/>
              <a:t>T</a:t>
            </a:r>
            <a:r>
              <a:rPr lang="en-US" baseline="-25000" dirty="0" smtClean="0"/>
              <a:t>3</a:t>
            </a:r>
            <a:r>
              <a:rPr lang="en-US" dirty="0" smtClean="0"/>
              <a:t>= </a:t>
            </a:r>
            <a:r>
              <a:rPr lang="en-US" sz="4800" dirty="0" smtClean="0">
                <a:sym typeface="Symbol"/>
              </a:rPr>
              <a:t></a:t>
            </a:r>
            <a:r>
              <a:rPr lang="en-US" sz="2800" baseline="-25000" dirty="0" smtClean="0"/>
              <a:t>A,D</a:t>
            </a:r>
            <a:r>
              <a:rPr lang="en-US" dirty="0" smtClean="0"/>
              <a:t>(T</a:t>
            </a:r>
            <a:r>
              <a:rPr lang="en-US" baseline="-25000" dirty="0" smtClean="0"/>
              <a:t>2</a:t>
            </a:r>
            <a:r>
              <a:rPr lang="en-US" dirty="0" smtClean="0"/>
              <a:t>) 		</a:t>
            </a:r>
            <a:r>
              <a:rPr lang="ru-RU" dirty="0" smtClean="0">
                <a:solidFill>
                  <a:srgbClr val="008000"/>
                </a:solidFill>
              </a:rPr>
              <a:t>(</a:t>
            </a:r>
            <a:r>
              <a:rPr lang="ru-RU" dirty="0">
                <a:solidFill>
                  <a:srgbClr val="008000"/>
                </a:solidFill>
              </a:rPr>
              <a:t>фраза </a:t>
            </a:r>
            <a:r>
              <a:rPr lang="en-US" dirty="0" smtClean="0">
                <a:solidFill>
                  <a:srgbClr val="008000"/>
                </a:solidFill>
              </a:rPr>
              <a:t>SELECT)</a:t>
            </a:r>
            <a:endParaRPr lang="en-US" dirty="0"/>
          </a:p>
          <a:p>
            <a:pPr marL="0" indent="0">
              <a:spcBef>
                <a:spcPts val="600"/>
              </a:spcBef>
              <a:buFont typeface="Wingdings" pitchFamily="2" charset="2"/>
              <a:buNone/>
              <a:defRPr/>
            </a:pPr>
            <a:endParaRPr lang="ru-RU" dirty="0"/>
          </a:p>
        </p:txBody>
      </p:sp>
      <p:sp>
        <p:nvSpPr>
          <p:cNvPr id="12292" name="Номер слайда 3"/>
          <p:cNvSpPr>
            <a:spLocks noGrp="1"/>
          </p:cNvSpPr>
          <p:nvPr>
            <p:ph type="sldNum" sz="quarter" idx="11"/>
          </p:nvPr>
        </p:nvSpPr>
        <p:spPr>
          <a:noFill/>
          <a:ln>
            <a:miter lim="800000"/>
            <a:headEnd/>
            <a:tailEnd/>
          </a:ln>
        </p:spPr>
        <p:txBody>
          <a:bodyPr/>
          <a:lstStyle/>
          <a:p>
            <a:fld id="{F09EEFF1-F4CC-4250-97C3-D74690F735D5}" type="slidenum">
              <a:rPr lang="ru-RU" altLang="ru-RU" smtClean="0"/>
              <a:pPr/>
              <a:t>10</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Заголовок 1"/>
          <p:cNvSpPr>
            <a:spLocks noGrp="1"/>
          </p:cNvSpPr>
          <p:nvPr>
            <p:ph type="title"/>
          </p:nvPr>
        </p:nvSpPr>
        <p:spPr>
          <a:xfrm>
            <a:off x="1692275" y="188913"/>
            <a:ext cx="6119813" cy="811212"/>
          </a:xfrm>
        </p:spPr>
        <p:txBody>
          <a:bodyPr/>
          <a:lstStyle/>
          <a:p>
            <a:pPr algn="ctr"/>
            <a:r>
              <a:rPr lang="ru-RU" altLang="ru-RU" sz="4000" smtClean="0">
                <a:solidFill>
                  <a:schemeClr val="bg2"/>
                </a:solidFill>
              </a:rPr>
              <a:t>Фраза </a:t>
            </a:r>
            <a:r>
              <a:rPr lang="en-US" altLang="ru-RU" sz="4000" b="1" smtClean="0">
                <a:solidFill>
                  <a:schemeClr val="bg2"/>
                </a:solidFill>
              </a:rPr>
              <a:t>SELECT</a:t>
            </a:r>
            <a:endParaRPr lang="ru-RU" altLang="ru-RU" sz="4000" smtClean="0">
              <a:solidFill>
                <a:schemeClr val="bg2"/>
              </a:solidFill>
            </a:endParaRPr>
          </a:p>
        </p:txBody>
      </p:sp>
      <p:sp>
        <p:nvSpPr>
          <p:cNvPr id="11267" name="Объект 2"/>
          <p:cNvSpPr>
            <a:spLocks noGrp="1"/>
          </p:cNvSpPr>
          <p:nvPr>
            <p:ph idx="1"/>
          </p:nvPr>
        </p:nvSpPr>
        <p:spPr>
          <a:xfrm>
            <a:off x="179513" y="1052512"/>
            <a:ext cx="8964488" cy="5616847"/>
          </a:xfrm>
        </p:spPr>
        <p:txBody>
          <a:bodyPr>
            <a:normAutofit fontScale="55000" lnSpcReduction="20000"/>
          </a:bodyPr>
          <a:lstStyle/>
          <a:p>
            <a:pPr marL="0" indent="0">
              <a:buFont typeface="Wingdings" pitchFamily="2" charset="2"/>
              <a:buNone/>
              <a:defRPr/>
            </a:pPr>
            <a:r>
              <a:rPr lang="en-US" altLang="ru-RU" b="1" dirty="0" smtClean="0"/>
              <a:t>SELECT</a:t>
            </a:r>
            <a:r>
              <a:rPr lang="en-US" altLang="ru-RU" dirty="0" smtClean="0"/>
              <a:t> [DISTINCT]</a:t>
            </a:r>
            <a:br>
              <a:rPr lang="en-US" altLang="ru-RU" dirty="0" smtClean="0"/>
            </a:br>
            <a:r>
              <a:rPr lang="en-US" altLang="ru-RU" dirty="0" smtClean="0"/>
              <a:t>     </a:t>
            </a:r>
            <a:r>
              <a:rPr lang="en-US" altLang="ru-RU" sz="2400" dirty="0" smtClean="0"/>
              <a:t>{ {</a:t>
            </a:r>
            <a:r>
              <a:rPr lang="en-US" altLang="ru-RU" sz="2400" dirty="0" err="1" smtClean="0"/>
              <a:t>function_agregate</a:t>
            </a:r>
            <a:r>
              <a:rPr lang="en-US" altLang="ru-RU" sz="2400" dirty="0" smtClean="0"/>
              <a:t> | </a:t>
            </a:r>
            <a:r>
              <a:rPr lang="en-US" altLang="ru-RU" sz="2400" dirty="0" err="1" smtClean="0"/>
              <a:t>expr</a:t>
            </a:r>
            <a:r>
              <a:rPr lang="en-US" altLang="ru-RU" sz="2400" dirty="0" smtClean="0"/>
              <a:t> [AS </a:t>
            </a:r>
            <a:r>
              <a:rPr lang="en-US" altLang="ru-RU" sz="2400" dirty="0" err="1" smtClean="0"/>
              <a:t>new_field_name</a:t>
            </a:r>
            <a:r>
              <a:rPr lang="en-US" altLang="ru-RU" sz="2400" dirty="0" smtClean="0"/>
              <a:t>] } .,:</a:t>
            </a:r>
            <a:br>
              <a:rPr lang="en-US" altLang="ru-RU" sz="2400" dirty="0" smtClean="0"/>
            </a:br>
            <a:r>
              <a:rPr lang="en-US" altLang="ru-RU" dirty="0" smtClean="0"/>
              <a:t>     | </a:t>
            </a:r>
            <a:r>
              <a:rPr lang="en-US" altLang="ru-RU" sz="2800" dirty="0" smtClean="0"/>
              <a:t>specification</a:t>
            </a:r>
            <a:r>
              <a:rPr lang="en-US" altLang="ru-RU" dirty="0" smtClean="0"/>
              <a:t>.</a:t>
            </a:r>
            <a:r>
              <a:rPr lang="en-US" altLang="ru-RU" sz="4400" baseline="-18000" dirty="0" smtClean="0"/>
              <a:t>*</a:t>
            </a:r>
            <a:r>
              <a:rPr lang="en-US" altLang="ru-RU" dirty="0" smtClean="0"/>
              <a:t/>
            </a:r>
            <a:br>
              <a:rPr lang="en-US" altLang="ru-RU" dirty="0" smtClean="0"/>
            </a:br>
            <a:r>
              <a:rPr lang="en-US" altLang="ru-RU" dirty="0" smtClean="0"/>
              <a:t>     | </a:t>
            </a:r>
            <a:r>
              <a:rPr lang="en-US" altLang="ru-RU" sz="4400" baseline="-18000" dirty="0" smtClean="0"/>
              <a:t>*</a:t>
            </a:r>
            <a:r>
              <a:rPr lang="en-US" altLang="ru-RU" dirty="0" smtClean="0"/>
              <a:t/>
            </a:r>
            <a:br>
              <a:rPr lang="en-US" altLang="ru-RU" dirty="0" smtClean="0"/>
            </a:br>
            <a:r>
              <a:rPr lang="en-US" altLang="ru-RU" dirty="0" smtClean="0"/>
              <a:t>     [</a:t>
            </a:r>
            <a:r>
              <a:rPr lang="en-US" altLang="ru-RU" sz="2800" dirty="0" smtClean="0">
                <a:solidFill>
                  <a:srgbClr val="FF0000"/>
                </a:solidFill>
              </a:rPr>
              <a:t>INTO</a:t>
            </a:r>
            <a:r>
              <a:rPr lang="en-US" altLang="ru-RU" sz="2800" dirty="0" smtClean="0"/>
              <a:t> </a:t>
            </a:r>
            <a:r>
              <a:rPr lang="en-US" altLang="ru-RU" sz="2800" dirty="0" err="1" smtClean="0"/>
              <a:t>list_variable</a:t>
            </a:r>
            <a:r>
              <a:rPr lang="en-US" altLang="ru-RU" dirty="0" smtClean="0"/>
              <a:t>]</a:t>
            </a:r>
          </a:p>
          <a:p>
            <a:pPr marL="0" indent="0">
              <a:buFont typeface="Wingdings" pitchFamily="2" charset="2"/>
              <a:buNone/>
              <a:defRPr/>
            </a:pPr>
            <a:r>
              <a:rPr lang="ru-RU" altLang="ru-RU" dirty="0" smtClean="0"/>
              <a:t>Фраза </a:t>
            </a:r>
            <a:r>
              <a:rPr lang="ru-RU" altLang="ru-RU" b="1" dirty="0" smtClean="0">
                <a:solidFill>
                  <a:srgbClr val="FF0000"/>
                </a:solidFill>
              </a:rPr>
              <a:t>INTO</a:t>
            </a:r>
            <a:r>
              <a:rPr lang="ru-RU" altLang="ru-RU" dirty="0" smtClean="0"/>
              <a:t> используется только во </a:t>
            </a:r>
            <a:r>
              <a:rPr lang="ru-RU" altLang="ru-RU" dirty="0" smtClean="0">
                <a:solidFill>
                  <a:srgbClr val="FF0000"/>
                </a:solidFill>
              </a:rPr>
              <a:t>встроенном SQL</a:t>
            </a:r>
            <a:r>
              <a:rPr lang="ru-RU" altLang="ru-RU" dirty="0" smtClean="0"/>
              <a:t>, указывая переменные, в которые записывается результат </a:t>
            </a:r>
          </a:p>
          <a:p>
            <a:pPr marL="0" indent="0">
              <a:buFont typeface="Wingdings" pitchFamily="2" charset="2"/>
              <a:buNone/>
              <a:defRPr/>
            </a:pPr>
            <a:endParaRPr lang="ru-RU" altLang="ru-RU" u="sng" dirty="0" smtClean="0"/>
          </a:p>
          <a:p>
            <a:pPr marL="0" indent="0">
              <a:buFont typeface="Wingdings" pitchFamily="2" charset="2"/>
              <a:buNone/>
              <a:defRPr/>
            </a:pPr>
            <a:r>
              <a:rPr lang="ru-RU" altLang="ru-RU" u="sng" dirty="0" smtClean="0"/>
              <a:t>Примеры</a:t>
            </a:r>
          </a:p>
          <a:p>
            <a:pPr marL="0" indent="0">
              <a:buFont typeface="Wingdings" pitchFamily="2" charset="2"/>
              <a:buNone/>
              <a:defRPr/>
            </a:pPr>
            <a:r>
              <a:rPr lang="ru-RU" altLang="ru-RU" sz="2500" i="1" dirty="0" smtClean="0">
                <a:solidFill>
                  <a:srgbClr val="0070C0"/>
                </a:solidFill>
              </a:rPr>
              <a:t>Выбор всех столбцов</a:t>
            </a:r>
            <a:endParaRPr lang="en-US" altLang="ru-RU" sz="2500" i="1" dirty="0" smtClean="0">
              <a:solidFill>
                <a:srgbClr val="0070C0"/>
              </a:solidFill>
            </a:endParaRPr>
          </a:p>
          <a:p>
            <a:pPr marL="0" indent="0">
              <a:buNone/>
              <a:defRPr/>
            </a:pPr>
            <a:r>
              <a:rPr lang="en-US" altLang="ru-RU" b="1" dirty="0" smtClean="0"/>
              <a:t>SELECT </a:t>
            </a:r>
            <a:r>
              <a:rPr lang="ru-RU" altLang="ru-RU" b="1" dirty="0" smtClean="0"/>
              <a:t>*</a:t>
            </a:r>
            <a:endParaRPr lang="en-US" altLang="ru-RU" b="1" dirty="0" smtClean="0"/>
          </a:p>
          <a:p>
            <a:pPr marL="0" indent="0">
              <a:buNone/>
              <a:defRPr/>
            </a:pPr>
            <a:r>
              <a:rPr lang="en-US" altLang="ru-RU" dirty="0" smtClean="0"/>
              <a:t>FROM Salespeople</a:t>
            </a:r>
            <a:r>
              <a:rPr lang="ru-RU" altLang="ru-RU" dirty="0" smtClean="0"/>
              <a:t>;</a:t>
            </a:r>
          </a:p>
          <a:p>
            <a:pPr marL="0" indent="0">
              <a:buNone/>
              <a:defRPr/>
            </a:pPr>
            <a:endParaRPr lang="ru-RU" altLang="ru-RU" dirty="0" smtClean="0"/>
          </a:p>
          <a:p>
            <a:pPr marL="0" indent="0">
              <a:buNone/>
              <a:defRPr/>
            </a:pPr>
            <a:r>
              <a:rPr lang="ru-RU" altLang="ru-RU" sz="2500" i="1" dirty="0" smtClean="0">
                <a:solidFill>
                  <a:srgbClr val="0070C0"/>
                </a:solidFill>
              </a:rPr>
              <a:t>Выбор </a:t>
            </a:r>
            <a:r>
              <a:rPr lang="ru-RU" altLang="ru-RU" sz="2500" i="1" dirty="0" smtClean="0">
                <a:solidFill>
                  <a:srgbClr val="0070C0"/>
                </a:solidFill>
              </a:rPr>
              <a:t>выделенных столбцов</a:t>
            </a:r>
            <a:endParaRPr lang="en-US" altLang="ru-RU" sz="2500" i="1" dirty="0" smtClean="0">
              <a:solidFill>
                <a:srgbClr val="0070C0"/>
              </a:solidFill>
            </a:endParaRPr>
          </a:p>
          <a:p>
            <a:pPr marL="0" indent="0">
              <a:buFont typeface="Wingdings" pitchFamily="2" charset="2"/>
              <a:buNone/>
              <a:defRPr/>
            </a:pPr>
            <a:r>
              <a:rPr lang="en-US" altLang="ru-RU" b="1" dirty="0" smtClean="0"/>
              <a:t>SELECT </a:t>
            </a:r>
            <a:r>
              <a:rPr lang="en-US" altLang="ru-RU" b="1" dirty="0" smtClean="0">
                <a:solidFill>
                  <a:srgbClr val="3333FF"/>
                </a:solidFill>
              </a:rPr>
              <a:t>DISTINCT</a:t>
            </a:r>
            <a:r>
              <a:rPr lang="en-US" altLang="ru-RU" b="1" dirty="0" smtClean="0"/>
              <a:t> </a:t>
            </a:r>
            <a:r>
              <a:rPr lang="en-US" altLang="ru-RU" b="1" dirty="0" err="1" smtClean="0"/>
              <a:t>snum</a:t>
            </a:r>
            <a:endParaRPr lang="en-US" altLang="ru-RU" b="1" dirty="0" smtClean="0"/>
          </a:p>
          <a:p>
            <a:pPr marL="0" indent="0">
              <a:buFont typeface="Wingdings" pitchFamily="2" charset="2"/>
              <a:buNone/>
              <a:defRPr/>
            </a:pPr>
            <a:r>
              <a:rPr lang="en-US" altLang="ru-RU" dirty="0" smtClean="0"/>
              <a:t>FROM Orders</a:t>
            </a:r>
            <a:r>
              <a:rPr lang="ru-RU" altLang="ru-RU" dirty="0" smtClean="0"/>
              <a:t>;</a:t>
            </a:r>
          </a:p>
          <a:p>
            <a:pPr marL="0" indent="0">
              <a:buNone/>
              <a:defRPr/>
            </a:pPr>
            <a:endParaRPr lang="ru-RU" altLang="ru-RU" b="1" dirty="0" smtClean="0"/>
          </a:p>
          <a:p>
            <a:pPr marL="0" indent="0">
              <a:buNone/>
              <a:defRPr/>
            </a:pPr>
            <a:r>
              <a:rPr lang="ru-RU" altLang="ru-RU" sz="2500" i="1" dirty="0" smtClean="0">
                <a:solidFill>
                  <a:srgbClr val="0070C0"/>
                </a:solidFill>
              </a:rPr>
              <a:t>Использование агрегатных функций</a:t>
            </a:r>
          </a:p>
          <a:p>
            <a:pPr marL="0" indent="0">
              <a:buNone/>
              <a:defRPr/>
            </a:pPr>
            <a:r>
              <a:rPr lang="en-US" altLang="ru-RU" b="1" dirty="0" smtClean="0"/>
              <a:t>SELECT </a:t>
            </a:r>
            <a:r>
              <a:rPr lang="en-US" altLang="ru-RU" b="1" dirty="0" err="1" smtClean="0"/>
              <a:t>snum</a:t>
            </a:r>
            <a:r>
              <a:rPr lang="en-US" altLang="ru-RU" b="1" dirty="0" smtClean="0"/>
              <a:t>, max(amt) AS “</a:t>
            </a:r>
            <a:r>
              <a:rPr lang="ru-RU" altLang="ru-RU" b="1" dirty="0" smtClean="0"/>
              <a:t>Макс-количество</a:t>
            </a:r>
            <a:r>
              <a:rPr lang="en-US" altLang="ru-RU" b="1" dirty="0" smtClean="0"/>
              <a:t>”</a:t>
            </a:r>
          </a:p>
          <a:p>
            <a:pPr marL="0" indent="0">
              <a:buNone/>
              <a:defRPr/>
            </a:pPr>
            <a:r>
              <a:rPr lang="en-US" altLang="ru-RU" dirty="0" smtClean="0"/>
              <a:t>FROM Orders</a:t>
            </a:r>
            <a:endParaRPr lang="ru-RU" altLang="ru-RU" dirty="0" smtClean="0"/>
          </a:p>
          <a:p>
            <a:pPr marL="0" indent="0">
              <a:buNone/>
              <a:defRPr/>
            </a:pPr>
            <a:r>
              <a:rPr lang="en-US" altLang="ru-RU" dirty="0" smtClean="0"/>
              <a:t>GROUP BY </a:t>
            </a:r>
            <a:r>
              <a:rPr lang="en-US" altLang="ru-RU" dirty="0" err="1" smtClean="0"/>
              <a:t>snum</a:t>
            </a:r>
            <a:r>
              <a:rPr lang="ru-RU" altLang="ru-RU" dirty="0" smtClean="0"/>
              <a:t>;</a:t>
            </a:r>
          </a:p>
          <a:p>
            <a:pPr marL="0" indent="0">
              <a:buFont typeface="Wingdings" pitchFamily="2" charset="2"/>
              <a:buNone/>
              <a:defRPr/>
            </a:pPr>
            <a:endParaRPr lang="ru-RU" altLang="ru-RU" dirty="0" smtClean="0"/>
          </a:p>
          <a:p>
            <a:pPr marL="0" indent="0">
              <a:buFont typeface="Wingdings" pitchFamily="2" charset="2"/>
              <a:buNone/>
              <a:defRPr/>
            </a:pPr>
            <a:endParaRPr lang="ru-RU" altLang="ru-RU" dirty="0" smtClean="0"/>
          </a:p>
          <a:p>
            <a:pPr marL="0" indent="0">
              <a:buFont typeface="Wingdings" pitchFamily="2" charset="2"/>
              <a:buNone/>
              <a:defRPr/>
            </a:pPr>
            <a:endParaRPr lang="ru-RU" altLang="ru-RU" dirty="0" smtClean="0"/>
          </a:p>
          <a:p>
            <a:pPr marL="0" indent="0">
              <a:buFont typeface="Wingdings" pitchFamily="2" charset="2"/>
              <a:buNone/>
              <a:defRPr/>
            </a:pPr>
            <a:endParaRPr lang="ru-RU" altLang="ru-RU" dirty="0" smtClean="0"/>
          </a:p>
          <a:p>
            <a:pPr marL="0" indent="0">
              <a:buFont typeface="Wingdings" pitchFamily="2" charset="2"/>
              <a:buNone/>
              <a:defRPr/>
            </a:pPr>
            <a:endParaRPr lang="ru-RU" altLang="ru-RU" dirty="0" smtClean="0"/>
          </a:p>
          <a:p>
            <a:pPr marL="0" indent="0">
              <a:buFont typeface="Wingdings" pitchFamily="2" charset="2"/>
              <a:buNone/>
              <a:defRPr/>
            </a:pPr>
            <a:endParaRPr lang="ru-RU" altLang="ru-RU" dirty="0" smtClean="0"/>
          </a:p>
        </p:txBody>
      </p:sp>
      <p:sp>
        <p:nvSpPr>
          <p:cNvPr id="13316" name="Номер слайда 3"/>
          <p:cNvSpPr>
            <a:spLocks noGrp="1"/>
          </p:cNvSpPr>
          <p:nvPr>
            <p:ph type="sldNum" sz="quarter" idx="11"/>
          </p:nvPr>
        </p:nvSpPr>
        <p:spPr>
          <a:noFill/>
          <a:ln>
            <a:miter lim="800000"/>
            <a:headEnd/>
            <a:tailEnd/>
          </a:ln>
        </p:spPr>
        <p:txBody>
          <a:bodyPr/>
          <a:lstStyle/>
          <a:p>
            <a:fld id="{0022656B-0E15-46C5-A923-74CA88D87A55}" type="slidenum">
              <a:rPr lang="ru-RU" altLang="ru-RU" smtClean="0"/>
              <a:pPr/>
              <a:t>11</a:t>
            </a:fld>
            <a:endParaRPr lang="ru-RU" altLang="ru-RU" smtClean="0"/>
          </a:p>
        </p:txBody>
      </p:sp>
      <p:pic>
        <p:nvPicPr>
          <p:cNvPr id="11269" name="Picture 5" descr="D:\YandexDisk\Скриншоты\2017-11-01_15-57-54.png"/>
          <p:cNvPicPr>
            <a:picLocks noChangeAspect="1" noChangeArrowheads="1"/>
          </p:cNvPicPr>
          <p:nvPr/>
        </p:nvPicPr>
        <p:blipFill>
          <a:blip r:embed="rId2" cstate="print"/>
          <a:srcRect/>
          <a:stretch>
            <a:fillRect/>
          </a:stretch>
        </p:blipFill>
        <p:spPr bwMode="auto">
          <a:xfrm>
            <a:off x="3419872" y="3068960"/>
            <a:ext cx="5486400" cy="19621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fade">
                                      <p:cBhvr>
                                        <p:cTn id="7" dur="20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fade">
                                      <p:cBhvr>
                                        <p:cTn id="12" dur="20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7">
                                            <p:txEl>
                                              <p:pRg st="3" end="3"/>
                                            </p:txEl>
                                          </p:spTgt>
                                        </p:tgtEl>
                                        <p:attrNameLst>
                                          <p:attrName>style.visibility</p:attrName>
                                        </p:attrNameLst>
                                      </p:cBhvr>
                                      <p:to>
                                        <p:strVal val="visible"/>
                                      </p:to>
                                    </p:set>
                                    <p:animEffect transition="in" filter="fade">
                                      <p:cBhvr>
                                        <p:cTn id="17" dur="2000"/>
                                        <p:tgtEl>
                                          <p:spTgt spid="112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267">
                                            <p:txEl>
                                              <p:pRg st="4" end="4"/>
                                            </p:txEl>
                                          </p:spTgt>
                                        </p:tgtEl>
                                        <p:attrNameLst>
                                          <p:attrName>style.visibility</p:attrName>
                                        </p:attrNameLst>
                                      </p:cBhvr>
                                      <p:to>
                                        <p:strVal val="visible"/>
                                      </p:to>
                                    </p:set>
                                    <p:animEffect transition="in" filter="fade">
                                      <p:cBhvr>
                                        <p:cTn id="22" dur="2000"/>
                                        <p:tgtEl>
                                          <p:spTgt spid="11267">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267">
                                            <p:txEl>
                                              <p:pRg st="5" end="5"/>
                                            </p:txEl>
                                          </p:spTgt>
                                        </p:tgtEl>
                                        <p:attrNameLst>
                                          <p:attrName>style.visibility</p:attrName>
                                        </p:attrNameLst>
                                      </p:cBhvr>
                                      <p:to>
                                        <p:strVal val="visible"/>
                                      </p:to>
                                    </p:set>
                                    <p:animEffect transition="in" filter="fade">
                                      <p:cBhvr>
                                        <p:cTn id="25" dur="2000"/>
                                        <p:tgtEl>
                                          <p:spTgt spid="11267">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267">
                                            <p:txEl>
                                              <p:pRg st="6" end="6"/>
                                            </p:txEl>
                                          </p:spTgt>
                                        </p:tgtEl>
                                        <p:attrNameLst>
                                          <p:attrName>style.visibility</p:attrName>
                                        </p:attrNameLst>
                                      </p:cBhvr>
                                      <p:to>
                                        <p:strVal val="visible"/>
                                      </p:to>
                                    </p:set>
                                    <p:animEffect transition="in" filter="fade">
                                      <p:cBhvr>
                                        <p:cTn id="28" dur="2000"/>
                                        <p:tgtEl>
                                          <p:spTgt spid="11267">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1269"/>
                                        </p:tgtEl>
                                        <p:attrNameLst>
                                          <p:attrName>style.visibility</p:attrName>
                                        </p:attrNameLst>
                                      </p:cBhvr>
                                      <p:to>
                                        <p:strVal val="visible"/>
                                      </p:to>
                                    </p:set>
                                    <p:animEffect transition="in" filter="wipe(down)">
                                      <p:cBhvr>
                                        <p:cTn id="33" dur="500"/>
                                        <p:tgtEl>
                                          <p:spTgt spid="1126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267">
                                            <p:txEl>
                                              <p:pRg st="8" end="8"/>
                                            </p:txEl>
                                          </p:spTgt>
                                        </p:tgtEl>
                                        <p:attrNameLst>
                                          <p:attrName>style.visibility</p:attrName>
                                        </p:attrNameLst>
                                      </p:cBhvr>
                                      <p:to>
                                        <p:strVal val="visible"/>
                                      </p:to>
                                    </p:set>
                                    <p:animEffect transition="in" filter="fade">
                                      <p:cBhvr>
                                        <p:cTn id="38" dur="2000"/>
                                        <p:tgtEl>
                                          <p:spTgt spid="11267">
                                            <p:txEl>
                                              <p:pRg st="8" end="8"/>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267">
                                            <p:txEl>
                                              <p:pRg st="9" end="9"/>
                                            </p:txEl>
                                          </p:spTgt>
                                        </p:tgtEl>
                                        <p:attrNameLst>
                                          <p:attrName>style.visibility</p:attrName>
                                        </p:attrNameLst>
                                      </p:cBhvr>
                                      <p:to>
                                        <p:strVal val="visible"/>
                                      </p:to>
                                    </p:set>
                                    <p:animEffect transition="in" filter="fade">
                                      <p:cBhvr>
                                        <p:cTn id="41" dur="2000"/>
                                        <p:tgtEl>
                                          <p:spTgt spid="11267">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267">
                                            <p:txEl>
                                              <p:pRg st="10" end="10"/>
                                            </p:txEl>
                                          </p:spTgt>
                                        </p:tgtEl>
                                        <p:attrNameLst>
                                          <p:attrName>style.visibility</p:attrName>
                                        </p:attrNameLst>
                                      </p:cBhvr>
                                      <p:to>
                                        <p:strVal val="visible"/>
                                      </p:to>
                                    </p:set>
                                    <p:animEffect transition="in" filter="fade">
                                      <p:cBhvr>
                                        <p:cTn id="44" dur="2000"/>
                                        <p:tgtEl>
                                          <p:spTgt spid="11267">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1267">
                                            <p:txEl>
                                              <p:pRg st="12" end="12"/>
                                            </p:txEl>
                                          </p:spTgt>
                                        </p:tgtEl>
                                        <p:attrNameLst>
                                          <p:attrName>style.visibility</p:attrName>
                                        </p:attrNameLst>
                                      </p:cBhvr>
                                      <p:to>
                                        <p:strVal val="visible"/>
                                      </p:to>
                                    </p:set>
                                    <p:animEffect transition="in" filter="fade">
                                      <p:cBhvr>
                                        <p:cTn id="49" dur="2000"/>
                                        <p:tgtEl>
                                          <p:spTgt spid="11267">
                                            <p:txEl>
                                              <p:pRg st="12" end="1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1267">
                                            <p:txEl>
                                              <p:pRg st="13" end="13"/>
                                            </p:txEl>
                                          </p:spTgt>
                                        </p:tgtEl>
                                        <p:attrNameLst>
                                          <p:attrName>style.visibility</p:attrName>
                                        </p:attrNameLst>
                                      </p:cBhvr>
                                      <p:to>
                                        <p:strVal val="visible"/>
                                      </p:to>
                                    </p:set>
                                    <p:animEffect transition="in" filter="fade">
                                      <p:cBhvr>
                                        <p:cTn id="52" dur="2000"/>
                                        <p:tgtEl>
                                          <p:spTgt spid="11267">
                                            <p:txEl>
                                              <p:pRg st="13" end="13"/>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1267">
                                            <p:txEl>
                                              <p:pRg st="14" end="14"/>
                                            </p:txEl>
                                          </p:spTgt>
                                        </p:tgtEl>
                                        <p:attrNameLst>
                                          <p:attrName>style.visibility</p:attrName>
                                        </p:attrNameLst>
                                      </p:cBhvr>
                                      <p:to>
                                        <p:strVal val="visible"/>
                                      </p:to>
                                    </p:set>
                                    <p:animEffect transition="in" filter="fade">
                                      <p:cBhvr>
                                        <p:cTn id="55" dur="2000"/>
                                        <p:tgtEl>
                                          <p:spTgt spid="11267">
                                            <p:txEl>
                                              <p:pRg st="14" end="14"/>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1267">
                                            <p:txEl>
                                              <p:pRg st="15" end="15"/>
                                            </p:txEl>
                                          </p:spTgt>
                                        </p:tgtEl>
                                        <p:attrNameLst>
                                          <p:attrName>style.visibility</p:attrName>
                                        </p:attrNameLst>
                                      </p:cBhvr>
                                      <p:to>
                                        <p:strVal val="visible"/>
                                      </p:to>
                                    </p:set>
                                    <p:animEffect transition="in" filter="fade">
                                      <p:cBhvr>
                                        <p:cTn id="58" dur="2000"/>
                                        <p:tgtEl>
                                          <p:spTgt spid="1126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68313" y="333375"/>
            <a:ext cx="8229600" cy="738188"/>
          </a:xfrm>
        </p:spPr>
        <p:txBody>
          <a:bodyPr/>
          <a:lstStyle/>
          <a:p>
            <a:pPr algn="ctr"/>
            <a:r>
              <a:rPr lang="en-US" altLang="ru-RU" sz="4000" smtClean="0"/>
              <a:t>Orders (</a:t>
            </a:r>
            <a:r>
              <a:rPr lang="ru-RU" altLang="ru-RU" sz="4000" smtClean="0"/>
              <a:t>Заказы)</a:t>
            </a:r>
          </a:p>
        </p:txBody>
      </p:sp>
      <p:graphicFrame>
        <p:nvGraphicFramePr>
          <p:cNvPr id="41322" name="Group 362"/>
          <p:cNvGraphicFramePr>
            <a:graphicFrameLocks noGrp="1"/>
          </p:cNvGraphicFramePr>
          <p:nvPr>
            <p:ph idx="1"/>
          </p:nvPr>
        </p:nvGraphicFramePr>
        <p:xfrm>
          <a:off x="251520" y="1124744"/>
          <a:ext cx="8686800" cy="5048251"/>
        </p:xfrm>
        <a:graphic>
          <a:graphicData uri="http://schemas.openxmlformats.org/drawingml/2006/table">
            <a:tbl>
              <a:tblPr/>
              <a:tblGrid>
                <a:gridCol w="1737696">
                  <a:extLst>
                    <a:ext uri="{9D8B030D-6E8A-4147-A177-3AD203B41FA5}"/>
                  </a:extLst>
                </a:gridCol>
                <a:gridCol w="1736019">
                  <a:extLst>
                    <a:ext uri="{9D8B030D-6E8A-4147-A177-3AD203B41FA5}"/>
                  </a:extLst>
                </a:gridCol>
                <a:gridCol w="1737695">
                  <a:extLst>
                    <a:ext uri="{9D8B030D-6E8A-4147-A177-3AD203B41FA5}"/>
                  </a:extLst>
                </a:gridCol>
                <a:gridCol w="1736019">
                  <a:extLst>
                    <a:ext uri="{9D8B030D-6E8A-4147-A177-3AD203B41FA5}"/>
                  </a:extLst>
                </a:gridCol>
                <a:gridCol w="1739371">
                  <a:extLst>
                    <a:ext uri="{9D8B030D-6E8A-4147-A177-3AD203B41FA5}"/>
                  </a:extLst>
                </a:gridCol>
              </a:tblGrid>
              <a:tr h="537191">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err="1" smtClean="0">
                          <a:ln>
                            <a:noFill/>
                          </a:ln>
                          <a:solidFill>
                            <a:srgbClr val="3333FF"/>
                          </a:solidFill>
                          <a:effectLst/>
                          <a:latin typeface="Times New Roman" pitchFamily="18" charset="0"/>
                          <a:cs typeface="Times New Roman" pitchFamily="18" charset="0"/>
                        </a:rPr>
                        <a:t>Onum</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smtClean="0">
                          <a:ln>
                            <a:noFill/>
                          </a:ln>
                          <a:solidFill>
                            <a:srgbClr val="3333FF"/>
                          </a:solidFill>
                          <a:effectLst/>
                          <a:latin typeface="Times New Roman" pitchFamily="18" charset="0"/>
                          <a:cs typeface="Times New Roman" pitchFamily="18" charset="0"/>
                        </a:rPr>
                        <a:t>Amt</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err="1" smtClean="0">
                          <a:ln>
                            <a:noFill/>
                          </a:ln>
                          <a:solidFill>
                            <a:srgbClr val="3333FF"/>
                          </a:solidFill>
                          <a:effectLst/>
                          <a:latin typeface="Times New Roman" pitchFamily="18" charset="0"/>
                          <a:cs typeface="Times New Roman" pitchFamily="18" charset="0"/>
                        </a:rPr>
                        <a:t>Odate</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err="1" smtClean="0">
                          <a:ln>
                            <a:noFill/>
                          </a:ln>
                          <a:solidFill>
                            <a:srgbClr val="3333FF"/>
                          </a:solidFill>
                          <a:effectLst/>
                          <a:latin typeface="Times New Roman" pitchFamily="18" charset="0"/>
                          <a:cs typeface="Times New Roman" pitchFamily="18" charset="0"/>
                        </a:rPr>
                        <a:t>Cnum</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err="1" smtClean="0">
                          <a:ln>
                            <a:noFill/>
                          </a:ln>
                          <a:solidFill>
                            <a:srgbClr val="3333FF"/>
                          </a:solidFill>
                          <a:effectLst/>
                          <a:latin typeface="Times New Roman" pitchFamily="18" charset="0"/>
                          <a:cs typeface="Times New Roman" pitchFamily="18" charset="0"/>
                        </a:rPr>
                        <a:t>Snum</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009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3001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18.69</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2008</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1007</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2120">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3003</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767.19</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200</a:t>
                      </a: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009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3002</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1900.10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200</a:t>
                      </a: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7</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2120">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3005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5160.45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2003</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009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3006</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1098.16</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2008</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1007</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2120">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3009</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1713.23</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10/04/2000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2002</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1003</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009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3007</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75.75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10/04/2000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2004</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2120">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3008</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4723.00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10/05/2000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2006</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009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3010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1309.95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10/06/2000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2004</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452120">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3011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9891.88</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10/06/2000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2006</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bl>
          </a:graphicData>
        </a:graphic>
      </p:graphicFrame>
      <p:sp>
        <p:nvSpPr>
          <p:cNvPr id="14413" name="Номер слайда 3"/>
          <p:cNvSpPr>
            <a:spLocks noGrp="1"/>
          </p:cNvSpPr>
          <p:nvPr>
            <p:ph type="sldNum" sz="quarter" idx="11"/>
          </p:nvPr>
        </p:nvSpPr>
        <p:spPr>
          <a:noFill/>
          <a:ln>
            <a:miter lim="800000"/>
            <a:headEnd/>
            <a:tailEnd/>
          </a:ln>
        </p:spPr>
        <p:txBody>
          <a:bodyPr/>
          <a:lstStyle/>
          <a:p>
            <a:fld id="{29DD420E-6D7C-4C04-ABD9-86763A657356}" type="slidenum">
              <a:rPr lang="ru-RU" altLang="ru-RU" smtClean="0"/>
              <a:pPr/>
              <a:t>12</a:t>
            </a:fld>
            <a:endParaRPr lang="ru-RU" altLang="ru-RU"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Объект 2"/>
          <p:cNvSpPr>
            <a:spLocks noGrp="1"/>
          </p:cNvSpPr>
          <p:nvPr>
            <p:ph idx="1"/>
          </p:nvPr>
        </p:nvSpPr>
        <p:spPr>
          <a:xfrm>
            <a:off x="323850" y="1052513"/>
            <a:ext cx="8434388" cy="5689600"/>
          </a:xfrm>
        </p:spPr>
        <p:txBody>
          <a:bodyPr/>
          <a:lstStyle/>
          <a:p>
            <a:pPr marL="0" indent="0">
              <a:buFont typeface="Wingdings" pitchFamily="2" charset="2"/>
              <a:buNone/>
            </a:pPr>
            <a:r>
              <a:rPr lang="en-US" altLang="ru-RU" sz="2800" smtClean="0"/>
              <a:t>SELECT Snum             SELECT DISTINCT Snum</a:t>
            </a:r>
          </a:p>
          <a:p>
            <a:pPr marL="0" indent="0">
              <a:buFont typeface="Wingdings" pitchFamily="2" charset="2"/>
              <a:buNone/>
            </a:pPr>
            <a:r>
              <a:rPr lang="en-US" altLang="ru-RU" sz="2800" smtClean="0"/>
              <a:t>FROM   Orders;            FROM   Orders</a:t>
            </a:r>
          </a:p>
          <a:p>
            <a:pPr marL="0" indent="0">
              <a:buFont typeface="Wingdings" pitchFamily="2" charset="2"/>
              <a:buNone/>
            </a:pPr>
            <a:r>
              <a:rPr lang="en-US" altLang="ru-RU" sz="2800" smtClean="0"/>
              <a:t>				ORDER BY Snum;</a:t>
            </a:r>
          </a:p>
          <a:p>
            <a:pPr marL="0" indent="0">
              <a:buFont typeface="Wingdings" pitchFamily="2" charset="2"/>
              <a:buNone/>
            </a:pPr>
            <a:r>
              <a:rPr lang="en-US" altLang="ru-RU" smtClean="0"/>
              <a:t>    </a:t>
            </a:r>
          </a:p>
          <a:p>
            <a:pPr marL="0" indent="0">
              <a:buFont typeface="Wingdings" pitchFamily="2" charset="2"/>
              <a:buNone/>
            </a:pPr>
            <a:endParaRPr lang="ru-RU" altLang="ru-RU" smtClean="0"/>
          </a:p>
        </p:txBody>
      </p:sp>
      <p:sp>
        <p:nvSpPr>
          <p:cNvPr id="15363" name="Заголовок 1"/>
          <p:cNvSpPr>
            <a:spLocks noGrp="1"/>
          </p:cNvSpPr>
          <p:nvPr>
            <p:ph type="title"/>
          </p:nvPr>
        </p:nvSpPr>
        <p:spPr>
          <a:xfrm>
            <a:off x="468313" y="260350"/>
            <a:ext cx="8229600" cy="647700"/>
          </a:xfrm>
        </p:spPr>
        <p:txBody>
          <a:bodyPr/>
          <a:lstStyle/>
          <a:p>
            <a:pPr algn="ctr"/>
            <a:r>
              <a:rPr lang="ru-RU" altLang="ru-RU" smtClean="0">
                <a:solidFill>
                  <a:schemeClr val="bg2"/>
                </a:solidFill>
              </a:rPr>
              <a:t>Примеры</a:t>
            </a:r>
            <a:r>
              <a:rPr lang="en-US" altLang="ru-RU" smtClean="0">
                <a:solidFill>
                  <a:schemeClr val="bg2"/>
                </a:solidFill>
              </a:rPr>
              <a:t> (2)</a:t>
            </a:r>
            <a:endParaRPr lang="ru-RU" altLang="ru-RU" smtClean="0">
              <a:solidFill>
                <a:schemeClr val="bg2"/>
              </a:solidFill>
            </a:endParaRPr>
          </a:p>
        </p:txBody>
      </p:sp>
      <p:graphicFrame>
        <p:nvGraphicFramePr>
          <p:cNvPr id="6" name="Таблица 5"/>
          <p:cNvGraphicFramePr>
            <a:graphicFrameLocks noGrp="1"/>
          </p:cNvGraphicFramePr>
          <p:nvPr/>
        </p:nvGraphicFramePr>
        <p:xfrm>
          <a:off x="1258888" y="2276475"/>
          <a:ext cx="1295400" cy="4227510"/>
        </p:xfrm>
        <a:graphic>
          <a:graphicData uri="http://schemas.openxmlformats.org/drawingml/2006/table">
            <a:tbl>
              <a:tblPr firstRow="1" bandRow="1">
                <a:tableStyleId>{5C22544A-7EE6-4342-B048-85BDC9FD1C3A}</a:tableStyleId>
              </a:tblPr>
              <a:tblGrid>
                <a:gridCol w="1295400">
                  <a:extLst>
                    <a:ext uri="{9D8B030D-6E8A-4147-A177-3AD203B41FA5}"/>
                  </a:extLst>
                </a:gridCol>
              </a:tblGrid>
              <a:tr h="365750">
                <a:tc>
                  <a:txBody>
                    <a:bodyPr/>
                    <a:lstStyle/>
                    <a:p>
                      <a:pPr algn="ctr"/>
                      <a:r>
                        <a:rPr lang="en-US" sz="1800" dirty="0" err="1" smtClean="0"/>
                        <a:t>Snum</a:t>
                      </a:r>
                      <a:endParaRPr lang="ru-RU" sz="1800" dirty="0"/>
                    </a:p>
                  </a:txBody>
                  <a:tcPr marL="91388" marR="91388" marT="45715" marB="45715"/>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rgbClr val="00B0F0"/>
                          </a:solidFill>
                          <a:effectLst/>
                          <a:latin typeface="Times New Roman" pitchFamily="18" charset="0"/>
                          <a:cs typeface="Times New Roman" pitchFamily="18" charset="0"/>
                        </a:rPr>
                        <a:t>1007</a:t>
                      </a:r>
                      <a:endParaRPr kumimoji="0" lang="en-US" sz="1800" b="0" i="0" u="none" strike="noStrike" cap="none" normalizeH="0" baseline="0" dirty="0" smtClean="0">
                        <a:ln>
                          <a:noFill/>
                        </a:ln>
                        <a:solidFill>
                          <a:srgbClr val="00B0F0"/>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rgbClr val="92D050"/>
                          </a:solidFill>
                          <a:effectLst/>
                          <a:latin typeface="Times New Roman" pitchFamily="18" charset="0"/>
                          <a:cs typeface="Times New Roman" pitchFamily="18" charset="0"/>
                        </a:rPr>
                        <a:t>1001</a:t>
                      </a:r>
                      <a:endParaRPr kumimoji="0" lang="en-US" sz="1800" b="0" i="0" u="none" strike="noStrike" cap="none" normalizeH="0" baseline="0" dirty="0" smtClean="0">
                        <a:ln>
                          <a:noFill/>
                        </a:ln>
                        <a:solidFill>
                          <a:srgbClr val="92D050"/>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1800" b="0" i="0" u="none" strike="noStrike" cap="none" normalizeH="0" baseline="0" dirty="0" smtClean="0">
                        <a:ln>
                          <a:noFill/>
                        </a:ln>
                        <a:solidFill>
                          <a:schemeClr val="tx1"/>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rgbClr val="FF0000"/>
                          </a:solidFill>
                          <a:effectLst/>
                          <a:latin typeface="Times New Roman" pitchFamily="18" charset="0"/>
                          <a:cs typeface="Times New Roman" pitchFamily="18" charset="0"/>
                        </a:rPr>
                        <a:t>1002</a:t>
                      </a:r>
                      <a:endParaRPr kumimoji="0" lang="en-US" sz="1800" b="0" i="0" u="none" strike="noStrike" cap="none" normalizeH="0" baseline="0" dirty="0" smtClean="0">
                        <a:ln>
                          <a:noFill/>
                        </a:ln>
                        <a:solidFill>
                          <a:srgbClr val="FF0000"/>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rgbClr val="00B0F0"/>
                          </a:solidFill>
                          <a:effectLst/>
                          <a:latin typeface="Times New Roman" pitchFamily="18" charset="0"/>
                          <a:cs typeface="Times New Roman" pitchFamily="18" charset="0"/>
                        </a:rPr>
                        <a:t>1007</a:t>
                      </a:r>
                      <a:endParaRPr kumimoji="0" lang="en-US" sz="1800" b="0" i="0" u="none" strike="noStrike" cap="none" normalizeH="0" baseline="0" dirty="0" smtClean="0">
                        <a:ln>
                          <a:noFill/>
                        </a:ln>
                        <a:solidFill>
                          <a:srgbClr val="00B0F0"/>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1003</a:t>
                      </a:r>
                      <a:endParaRPr kumimoji="0" lang="en-US" sz="1800" b="0" i="0" u="none" strike="noStrike" cap="none" normalizeH="0" baseline="0" dirty="0" smtClean="0">
                        <a:ln>
                          <a:noFill/>
                        </a:ln>
                        <a:solidFill>
                          <a:schemeClr val="tx1"/>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rgbClr val="FF0000"/>
                          </a:solidFill>
                          <a:effectLst/>
                          <a:latin typeface="Times New Roman" pitchFamily="18" charset="0"/>
                          <a:cs typeface="Times New Roman" pitchFamily="18" charset="0"/>
                        </a:rPr>
                        <a:t>1002</a:t>
                      </a:r>
                      <a:endParaRPr kumimoji="0" lang="en-US" sz="1800" b="0" i="0" u="none" strike="noStrike" cap="none" normalizeH="0" baseline="0" dirty="0" smtClean="0">
                        <a:ln>
                          <a:noFill/>
                        </a:ln>
                        <a:solidFill>
                          <a:srgbClr val="FF0000"/>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rgbClr val="92D050"/>
                          </a:solidFill>
                          <a:effectLst/>
                          <a:latin typeface="Times New Roman" pitchFamily="18" charset="0"/>
                          <a:cs typeface="Times New Roman" pitchFamily="18" charset="0"/>
                        </a:rPr>
                        <a:t>1001</a:t>
                      </a:r>
                      <a:endParaRPr kumimoji="0" lang="en-US" sz="1800" b="0" i="0" u="none" strike="noStrike" cap="none" normalizeH="0" baseline="0" dirty="0" smtClean="0">
                        <a:ln>
                          <a:noFill/>
                        </a:ln>
                        <a:solidFill>
                          <a:srgbClr val="92D050"/>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rgbClr val="FF0000"/>
                          </a:solidFill>
                          <a:effectLst/>
                          <a:latin typeface="Times New Roman" pitchFamily="18" charset="0"/>
                          <a:cs typeface="Times New Roman" pitchFamily="18" charset="0"/>
                        </a:rPr>
                        <a:t>1002</a:t>
                      </a:r>
                      <a:endParaRPr kumimoji="0" lang="en-US" sz="1800" b="0" i="0" u="none" strike="noStrike" cap="none" normalizeH="0" baseline="0" dirty="0" smtClean="0">
                        <a:ln>
                          <a:noFill/>
                        </a:ln>
                        <a:solidFill>
                          <a:srgbClr val="FF0000"/>
                        </a:solidFill>
                        <a:effectLst/>
                        <a:latin typeface="Arial" charset="0"/>
                        <a:cs typeface="Arial" charset="0"/>
                      </a:endParaRPr>
                    </a:p>
                  </a:txBody>
                  <a:tcPr marL="91388" marR="91388" marT="45715" marB="45715" horzOverflow="overflow"/>
                </a:tc>
                <a:extLst>
                  <a:ext uri="{0D108BD9-81ED-4DB2-BD59-A6C34878D82A}"/>
                </a:extLst>
              </a:tr>
              <a:tr h="38617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rgbClr val="92D050"/>
                          </a:solidFill>
                          <a:effectLst/>
                          <a:latin typeface="Times New Roman" pitchFamily="18" charset="0"/>
                          <a:cs typeface="Times New Roman" pitchFamily="18" charset="0"/>
                        </a:rPr>
                        <a:t>1001</a:t>
                      </a:r>
                      <a:endParaRPr kumimoji="0" lang="en-US" sz="1800" b="0" i="0" u="none" strike="noStrike" cap="none" normalizeH="0" baseline="0" dirty="0" smtClean="0">
                        <a:ln>
                          <a:noFill/>
                        </a:ln>
                        <a:solidFill>
                          <a:srgbClr val="92D050"/>
                        </a:solidFill>
                        <a:effectLst/>
                        <a:latin typeface="Arial" charset="0"/>
                        <a:cs typeface="Arial" charset="0"/>
                      </a:endParaRPr>
                    </a:p>
                  </a:txBody>
                  <a:tcPr marL="91388" marR="91388" marT="45715" marB="45715" horzOverflow="overflow"/>
                </a:tc>
                <a:extLst>
                  <a:ext uri="{0D108BD9-81ED-4DB2-BD59-A6C34878D82A}"/>
                </a:extLst>
              </a:tr>
            </a:tbl>
          </a:graphicData>
        </a:graphic>
      </p:graphicFrame>
      <p:graphicFrame>
        <p:nvGraphicFramePr>
          <p:cNvPr id="7" name="Таблица 6"/>
          <p:cNvGraphicFramePr>
            <a:graphicFrameLocks noGrp="1"/>
          </p:cNvGraphicFramePr>
          <p:nvPr/>
        </p:nvGraphicFramePr>
        <p:xfrm>
          <a:off x="4716463" y="3284538"/>
          <a:ext cx="1319212" cy="2225676"/>
        </p:xfrm>
        <a:graphic>
          <a:graphicData uri="http://schemas.openxmlformats.org/drawingml/2006/table">
            <a:tbl>
              <a:tblPr firstRow="1" bandRow="1">
                <a:tableStyleId>{5C22544A-7EE6-4342-B048-85BDC9FD1C3A}</a:tableStyleId>
              </a:tblPr>
              <a:tblGrid>
                <a:gridCol w="1319212">
                  <a:extLst>
                    <a:ext uri="{9D8B030D-6E8A-4147-A177-3AD203B41FA5}"/>
                  </a:extLst>
                </a:gridCol>
              </a:tblGrid>
              <a:tr h="370946">
                <a:tc>
                  <a:txBody>
                    <a:bodyPr/>
                    <a:lstStyle/>
                    <a:p>
                      <a:pPr algn="ctr"/>
                      <a:r>
                        <a:rPr lang="en-US" sz="1800" dirty="0" err="1" smtClean="0"/>
                        <a:t>Snum</a:t>
                      </a:r>
                      <a:endParaRPr lang="ru-RU" sz="1800" dirty="0"/>
                    </a:p>
                  </a:txBody>
                  <a:tcPr marL="91399" marR="91399" marT="45712" marB="45712"/>
                </a:tc>
                <a:extLst>
                  <a:ext uri="{0D108BD9-81ED-4DB2-BD59-A6C34878D82A}"/>
                </a:extLst>
              </a:tr>
              <a:tr h="37094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800" b="0" i="0" u="none" strike="noStrike" cap="none" normalizeH="0" baseline="0" dirty="0" smtClean="0">
                        <a:ln>
                          <a:noFill/>
                        </a:ln>
                        <a:solidFill>
                          <a:schemeClr val="tx1"/>
                        </a:solidFill>
                        <a:effectLst/>
                        <a:latin typeface="Arial" charset="0"/>
                        <a:cs typeface="Arial" charset="0"/>
                      </a:endParaRPr>
                    </a:p>
                  </a:txBody>
                  <a:tcPr marL="91399" marR="91399" marT="45712" marB="45712" horzOverflow="overflow"/>
                </a:tc>
                <a:extLst>
                  <a:ext uri="{0D108BD9-81ED-4DB2-BD59-A6C34878D82A}"/>
                </a:extLst>
              </a:tr>
              <a:tr h="37094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800" b="0" i="0" u="none" strike="noStrike" cap="none" normalizeH="0" baseline="0" dirty="0" smtClean="0">
                        <a:ln>
                          <a:noFill/>
                        </a:ln>
                        <a:solidFill>
                          <a:schemeClr val="tx1"/>
                        </a:solidFill>
                        <a:effectLst/>
                        <a:latin typeface="Arial" charset="0"/>
                        <a:cs typeface="Arial" charset="0"/>
                      </a:endParaRPr>
                    </a:p>
                  </a:txBody>
                  <a:tcPr marL="91399" marR="91399" marT="45712" marB="45712" horzOverflow="overflow"/>
                </a:tc>
                <a:extLst>
                  <a:ext uri="{0D108BD9-81ED-4DB2-BD59-A6C34878D82A}"/>
                </a:extLst>
              </a:tr>
              <a:tr h="37094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1003</a:t>
                      </a:r>
                      <a:endParaRPr kumimoji="0" lang="en-US" sz="1800" b="0" i="0" u="none" strike="noStrike" cap="none" normalizeH="0" baseline="0" dirty="0" smtClean="0">
                        <a:ln>
                          <a:noFill/>
                        </a:ln>
                        <a:solidFill>
                          <a:schemeClr val="tx1"/>
                        </a:solidFill>
                        <a:effectLst/>
                        <a:latin typeface="Arial" charset="0"/>
                        <a:cs typeface="Arial" charset="0"/>
                      </a:endParaRPr>
                    </a:p>
                  </a:txBody>
                  <a:tcPr marL="91399" marR="91399" marT="45712" marB="45712" horzOverflow="overflow"/>
                </a:tc>
                <a:extLst>
                  <a:ext uri="{0D108BD9-81ED-4DB2-BD59-A6C34878D82A}"/>
                </a:extLst>
              </a:tr>
              <a:tr h="37094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1800" b="0" i="0" u="none" strike="noStrike" cap="none" normalizeH="0" baseline="0" dirty="0" smtClean="0">
                        <a:ln>
                          <a:noFill/>
                        </a:ln>
                        <a:solidFill>
                          <a:schemeClr val="tx1"/>
                        </a:solidFill>
                        <a:effectLst/>
                        <a:latin typeface="Arial" charset="0"/>
                        <a:cs typeface="Arial" charset="0"/>
                      </a:endParaRPr>
                    </a:p>
                  </a:txBody>
                  <a:tcPr marL="91399" marR="91399" marT="45712" marB="45712" horzOverflow="overflow"/>
                </a:tc>
                <a:extLst>
                  <a:ext uri="{0D108BD9-81ED-4DB2-BD59-A6C34878D82A}"/>
                </a:extLst>
              </a:tr>
              <a:tr h="370946">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1007</a:t>
                      </a:r>
                      <a:endParaRPr kumimoji="0" lang="en-US" sz="1800" b="0" i="0" u="none" strike="noStrike" cap="none" normalizeH="0" baseline="0" dirty="0" smtClean="0">
                        <a:ln>
                          <a:noFill/>
                        </a:ln>
                        <a:solidFill>
                          <a:schemeClr val="tx1"/>
                        </a:solidFill>
                        <a:effectLst/>
                        <a:latin typeface="Arial" charset="0"/>
                        <a:cs typeface="Arial" charset="0"/>
                      </a:endParaRPr>
                    </a:p>
                  </a:txBody>
                  <a:tcPr marL="91399" marR="91399" marT="45712" marB="45712" horzOverflow="overflow"/>
                </a:tc>
                <a:extLst>
                  <a:ext uri="{0D108BD9-81ED-4DB2-BD59-A6C34878D82A}"/>
                </a:extLst>
              </a:tr>
            </a:tbl>
          </a:graphicData>
        </a:graphic>
      </p:graphicFrame>
      <p:sp>
        <p:nvSpPr>
          <p:cNvPr id="15406" name="Номер слайда 7"/>
          <p:cNvSpPr>
            <a:spLocks noGrp="1"/>
          </p:cNvSpPr>
          <p:nvPr>
            <p:ph type="sldNum" sz="quarter" idx="11"/>
          </p:nvPr>
        </p:nvSpPr>
        <p:spPr>
          <a:noFill/>
          <a:ln>
            <a:miter lim="800000"/>
            <a:headEnd/>
            <a:tailEnd/>
          </a:ln>
        </p:spPr>
        <p:txBody>
          <a:bodyPr/>
          <a:lstStyle/>
          <a:p>
            <a:fld id="{9299DDB5-DAA5-47E0-95A2-3DC65CFCEC5B}" type="slidenum">
              <a:rPr lang="ru-RU" altLang="ru-RU" smtClean="0"/>
              <a:pPr/>
              <a:t>13</a:t>
            </a:fld>
            <a:endParaRPr lang="ru-RU" altLang="ru-RU"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Заголовок 1"/>
          <p:cNvSpPr>
            <a:spLocks noGrp="1"/>
          </p:cNvSpPr>
          <p:nvPr>
            <p:ph type="title"/>
          </p:nvPr>
        </p:nvSpPr>
        <p:spPr>
          <a:xfrm>
            <a:off x="457200" y="457200"/>
            <a:ext cx="8229600" cy="811213"/>
          </a:xfrm>
        </p:spPr>
        <p:txBody>
          <a:bodyPr/>
          <a:lstStyle/>
          <a:p>
            <a:pPr algn="ctr"/>
            <a:r>
              <a:rPr lang="ru-RU" altLang="ru-RU" sz="3600" smtClean="0">
                <a:solidFill>
                  <a:schemeClr val="bg2"/>
                </a:solidFill>
              </a:rPr>
              <a:t>Фраза </a:t>
            </a:r>
            <a:r>
              <a:rPr lang="en-US" altLang="ru-RU" sz="3600" b="1" smtClean="0">
                <a:solidFill>
                  <a:schemeClr val="bg2"/>
                </a:solidFill>
              </a:rPr>
              <a:t>FROM</a:t>
            </a:r>
            <a:endParaRPr lang="ru-RU" altLang="ru-RU" sz="3600" smtClean="0"/>
          </a:p>
        </p:txBody>
      </p:sp>
      <p:sp>
        <p:nvSpPr>
          <p:cNvPr id="16387" name="Объект 2"/>
          <p:cNvSpPr>
            <a:spLocks noGrp="1"/>
          </p:cNvSpPr>
          <p:nvPr>
            <p:ph idx="1"/>
          </p:nvPr>
        </p:nvSpPr>
        <p:spPr>
          <a:xfrm>
            <a:off x="0" y="1571625"/>
            <a:ext cx="9036050" cy="4229100"/>
          </a:xfrm>
        </p:spPr>
        <p:txBody>
          <a:bodyPr/>
          <a:lstStyle/>
          <a:p>
            <a:pPr marL="0" indent="0">
              <a:buFont typeface="Wingdings" pitchFamily="2" charset="2"/>
              <a:buNone/>
            </a:pPr>
            <a:r>
              <a:rPr lang="ru-RU" altLang="ru-RU" smtClean="0"/>
              <a:t>Фраза </a:t>
            </a:r>
            <a:r>
              <a:rPr lang="ru-RU" altLang="ru-RU" b="1" smtClean="0"/>
              <a:t>FROM</a:t>
            </a:r>
            <a:r>
              <a:rPr lang="ru-RU" altLang="ru-RU" smtClean="0"/>
              <a:t> определяет одну или несколько таблиц или подзапросов, используемых для извлечения данных</a:t>
            </a:r>
            <a:endParaRPr lang="en-US" altLang="ru-RU" smtClean="0"/>
          </a:p>
          <a:p>
            <a:pPr marL="0" indent="0">
              <a:buFont typeface="Wingdings" pitchFamily="2" charset="2"/>
              <a:buNone/>
            </a:pPr>
            <a:endParaRPr lang="en-US" altLang="ru-RU" b="1" smtClean="0"/>
          </a:p>
          <a:p>
            <a:pPr marL="0" indent="0">
              <a:buFont typeface="Wingdings" pitchFamily="2" charset="2"/>
              <a:buNone/>
            </a:pPr>
            <a:r>
              <a:rPr lang="en-US" altLang="ru-RU" b="1" smtClean="0"/>
              <a:t>FROM</a:t>
            </a:r>
            <a:r>
              <a:rPr lang="en-US" altLang="ru-RU" smtClean="0"/>
              <a:t> </a:t>
            </a:r>
            <a:r>
              <a:rPr lang="en-US" altLang="ru-RU" sz="2800" smtClean="0"/>
              <a:t>{{ </a:t>
            </a:r>
            <a:r>
              <a:rPr lang="ru-RU" altLang="ru-RU" sz="2800" smtClean="0"/>
              <a:t>имя</a:t>
            </a:r>
            <a:r>
              <a:rPr lang="en-US" altLang="ru-RU" sz="2800" smtClean="0"/>
              <a:t>_</a:t>
            </a:r>
            <a:r>
              <a:rPr lang="ru-RU" altLang="ru-RU" sz="2800" smtClean="0"/>
              <a:t>таблицы</a:t>
            </a:r>
            <a:r>
              <a:rPr lang="en-US" altLang="ru-RU" sz="2800" smtClean="0"/>
              <a:t> [AS] [table_alias] [(field .,:)]} </a:t>
            </a:r>
            <a:r>
              <a:rPr lang="en-US" altLang="ru-RU" smtClean="0"/>
              <a:t/>
            </a:r>
            <a:br>
              <a:rPr lang="en-US" altLang="ru-RU" smtClean="0"/>
            </a:br>
            <a:r>
              <a:rPr lang="en-US" altLang="ru-RU" smtClean="0"/>
              <a:t>               | </a:t>
            </a:r>
            <a:r>
              <a:rPr lang="en-US" altLang="ru-RU" sz="2800" smtClean="0"/>
              <a:t>{subquery [AS] subquery_alas [(field .,:)]} </a:t>
            </a:r>
            <a:br>
              <a:rPr lang="en-US" altLang="ru-RU" sz="2800" smtClean="0"/>
            </a:br>
            <a:r>
              <a:rPr lang="en-US" altLang="ru-RU" smtClean="0"/>
              <a:t>               | union_table </a:t>
            </a:r>
            <a:br>
              <a:rPr lang="en-US" altLang="ru-RU" smtClean="0"/>
            </a:br>
            <a:r>
              <a:rPr lang="en-US" altLang="ru-RU" smtClean="0"/>
              <a:t>               | constructor_of_table_value </a:t>
            </a:r>
            <a:br>
              <a:rPr lang="en-US" altLang="ru-RU" smtClean="0"/>
            </a:br>
            <a:r>
              <a:rPr lang="en-US" altLang="ru-RU" smtClean="0"/>
              <a:t>             }</a:t>
            </a:r>
            <a:endParaRPr lang="ru-RU" altLang="ru-RU" smtClean="0"/>
          </a:p>
        </p:txBody>
      </p:sp>
      <p:sp>
        <p:nvSpPr>
          <p:cNvPr id="16388" name="Номер слайда 3"/>
          <p:cNvSpPr>
            <a:spLocks noGrp="1"/>
          </p:cNvSpPr>
          <p:nvPr>
            <p:ph type="sldNum" sz="quarter" idx="11"/>
          </p:nvPr>
        </p:nvSpPr>
        <p:spPr>
          <a:noFill/>
          <a:ln>
            <a:miter lim="800000"/>
            <a:headEnd/>
            <a:tailEnd/>
          </a:ln>
        </p:spPr>
        <p:txBody>
          <a:bodyPr/>
          <a:lstStyle/>
          <a:p>
            <a:fld id="{F131740D-F20B-4300-A288-9F6235B3BE22}" type="slidenum">
              <a:rPr lang="ru-RU" altLang="ru-RU" smtClean="0"/>
              <a:pPr/>
              <a:t>14</a:t>
            </a:fld>
            <a:endParaRPr lang="ru-RU" altLang="ru-RU"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Заголовок 1"/>
          <p:cNvSpPr>
            <a:spLocks noGrp="1"/>
          </p:cNvSpPr>
          <p:nvPr>
            <p:ph type="title"/>
          </p:nvPr>
        </p:nvSpPr>
        <p:spPr>
          <a:xfrm>
            <a:off x="457200" y="285750"/>
            <a:ext cx="8229600" cy="811213"/>
          </a:xfrm>
        </p:spPr>
        <p:txBody>
          <a:bodyPr/>
          <a:lstStyle/>
          <a:p>
            <a:pPr algn="ctr"/>
            <a:r>
              <a:rPr lang="ru-RU" altLang="ru-RU" sz="3600" smtClean="0">
                <a:solidFill>
                  <a:schemeClr val="bg2"/>
                </a:solidFill>
              </a:rPr>
              <a:t>Фраза </a:t>
            </a:r>
            <a:r>
              <a:rPr lang="en-US" altLang="ru-RU" sz="3600" b="1" smtClean="0">
                <a:solidFill>
                  <a:schemeClr val="bg2"/>
                </a:solidFill>
              </a:rPr>
              <a:t>WHERE</a:t>
            </a:r>
            <a:r>
              <a:rPr lang="ru-RU" altLang="ru-RU" sz="3600" b="1" smtClean="0">
                <a:solidFill>
                  <a:schemeClr val="bg2"/>
                </a:solidFill>
              </a:rPr>
              <a:t> </a:t>
            </a:r>
            <a:r>
              <a:rPr lang="ru-RU" altLang="ru-RU" sz="3600" smtClean="0">
                <a:solidFill>
                  <a:schemeClr val="bg2"/>
                </a:solidFill>
              </a:rPr>
              <a:t>(1)</a:t>
            </a:r>
            <a:endParaRPr lang="ru-RU" altLang="ru-RU" sz="3600" smtClean="0"/>
          </a:p>
        </p:txBody>
      </p:sp>
      <p:sp>
        <p:nvSpPr>
          <p:cNvPr id="10243" name="Объект 2"/>
          <p:cNvSpPr>
            <a:spLocks noGrp="1"/>
          </p:cNvSpPr>
          <p:nvPr>
            <p:ph idx="1"/>
          </p:nvPr>
        </p:nvSpPr>
        <p:spPr>
          <a:xfrm>
            <a:off x="107950" y="1143000"/>
            <a:ext cx="9036050" cy="5715000"/>
          </a:xfrm>
        </p:spPr>
        <p:txBody>
          <a:bodyPr>
            <a:normAutofit fontScale="85000" lnSpcReduction="10000"/>
          </a:bodyPr>
          <a:lstStyle/>
          <a:p>
            <a:pPr marL="457200" indent="-457200">
              <a:defRPr/>
            </a:pPr>
            <a:r>
              <a:rPr lang="ru-RU" dirty="0" smtClean="0"/>
              <a:t>Фраза </a:t>
            </a:r>
            <a:r>
              <a:rPr lang="ru-RU" b="1" dirty="0" smtClean="0"/>
              <a:t>WHERE</a:t>
            </a:r>
            <a:r>
              <a:rPr lang="ru-RU" dirty="0" smtClean="0"/>
              <a:t> определяет условие, которому должны удовлетворять все строки, используемые для формирования результирующего набора</a:t>
            </a:r>
            <a:endParaRPr lang="en-US" dirty="0" smtClean="0"/>
          </a:p>
          <a:p>
            <a:pPr marL="0" indent="0">
              <a:buFont typeface="Wingdings" pitchFamily="2" charset="2"/>
              <a:buNone/>
              <a:defRPr/>
            </a:pPr>
            <a:endParaRPr lang="en-US" b="1" dirty="0" smtClean="0"/>
          </a:p>
          <a:p>
            <a:pPr marL="0" indent="0">
              <a:buFont typeface="Wingdings" pitchFamily="2" charset="2"/>
              <a:buNone/>
              <a:defRPr/>
            </a:pPr>
            <a:r>
              <a:rPr lang="en-US" b="1" dirty="0" smtClean="0"/>
              <a:t>WHERE</a:t>
            </a:r>
            <a:r>
              <a:rPr lang="en-US" dirty="0" smtClean="0"/>
              <a:t> </a:t>
            </a:r>
            <a:r>
              <a:rPr lang="en-US" dirty="0" smtClean="0">
                <a:solidFill>
                  <a:srgbClr val="FF0000"/>
                </a:solidFill>
              </a:rPr>
              <a:t>condition</a:t>
            </a:r>
          </a:p>
          <a:p>
            <a:pPr marL="0" indent="0">
              <a:buFont typeface="Wingdings" pitchFamily="2" charset="2"/>
              <a:buNone/>
              <a:defRPr/>
            </a:pPr>
            <a:r>
              <a:rPr lang="en-US" dirty="0" smtClean="0">
                <a:solidFill>
                  <a:srgbClr val="FF0000"/>
                </a:solidFill>
              </a:rPr>
              <a:t>Condition </a:t>
            </a:r>
            <a:r>
              <a:rPr lang="en-US" dirty="0" smtClean="0"/>
              <a:t>– </a:t>
            </a:r>
            <a:r>
              <a:rPr lang="ru-RU" dirty="0" smtClean="0"/>
              <a:t>логическая функция (предикат). </a:t>
            </a:r>
          </a:p>
          <a:p>
            <a:pPr marL="457200" indent="-457200">
              <a:defRPr/>
            </a:pPr>
            <a:r>
              <a:rPr lang="ru-RU" dirty="0" smtClean="0"/>
              <a:t>Предикат содержит одно или несколько выражений, выполняющих сравнения.</a:t>
            </a:r>
          </a:p>
          <a:p>
            <a:pPr marL="457200" indent="-457200">
              <a:defRPr/>
            </a:pPr>
            <a:r>
              <a:rPr lang="ru-RU" dirty="0" smtClean="0"/>
              <a:t>Применяется трехзначная логика: </a:t>
            </a:r>
            <a:r>
              <a:rPr lang="ru-RU" dirty="0" smtClean="0">
                <a:solidFill>
                  <a:srgbClr val="00B050"/>
                </a:solidFill>
              </a:rPr>
              <a:t>TRUE</a:t>
            </a:r>
            <a:r>
              <a:rPr lang="ru-RU" dirty="0" smtClean="0"/>
              <a:t>, </a:t>
            </a:r>
            <a:r>
              <a:rPr lang="ru-RU" dirty="0" smtClean="0">
                <a:solidFill>
                  <a:srgbClr val="C00000"/>
                </a:solidFill>
              </a:rPr>
              <a:t>FALSE</a:t>
            </a:r>
            <a:r>
              <a:rPr lang="ru-RU" dirty="0" smtClean="0"/>
              <a:t> или </a:t>
            </a:r>
            <a:r>
              <a:rPr lang="ru-RU" dirty="0" smtClean="0">
                <a:solidFill>
                  <a:srgbClr val="3333FF"/>
                </a:solidFill>
              </a:rPr>
              <a:t>UNKNOWN</a:t>
            </a:r>
            <a:r>
              <a:rPr lang="ru-RU" dirty="0" smtClean="0"/>
              <a:t>. </a:t>
            </a:r>
          </a:p>
          <a:p>
            <a:pPr marL="457200" indent="-457200">
              <a:defRPr/>
            </a:pPr>
            <a:r>
              <a:rPr lang="ru-RU" dirty="0" smtClean="0"/>
              <a:t>Значение </a:t>
            </a:r>
            <a:r>
              <a:rPr lang="ru-RU" dirty="0" smtClean="0">
                <a:solidFill>
                  <a:srgbClr val="3333FF"/>
                </a:solidFill>
              </a:rPr>
              <a:t>UNKNOWN</a:t>
            </a:r>
            <a:r>
              <a:rPr lang="ru-RU" dirty="0" smtClean="0"/>
              <a:t> получается </a:t>
            </a:r>
            <a:r>
              <a:rPr lang="ru-RU" i="1" u="sng" dirty="0" smtClean="0"/>
              <a:t>при сравнении значения </a:t>
            </a:r>
            <a:r>
              <a:rPr lang="ru-RU" dirty="0" smtClean="0">
                <a:solidFill>
                  <a:srgbClr val="FFC000"/>
                </a:solidFill>
              </a:rPr>
              <a:t>NULL</a:t>
            </a:r>
            <a:r>
              <a:rPr lang="ru-RU" dirty="0" smtClean="0"/>
              <a:t> </a:t>
            </a:r>
            <a:r>
              <a:rPr lang="ru-RU" i="1" u="sng" dirty="0" smtClean="0"/>
              <a:t>с любым другим значением, включая значение </a:t>
            </a:r>
            <a:r>
              <a:rPr lang="ru-RU" dirty="0" smtClean="0">
                <a:solidFill>
                  <a:srgbClr val="FFC000"/>
                </a:solidFill>
              </a:rPr>
              <a:t>NULL</a:t>
            </a:r>
            <a:r>
              <a:rPr lang="ru-RU" dirty="0" smtClean="0"/>
              <a:t>. </a:t>
            </a:r>
          </a:p>
        </p:txBody>
      </p:sp>
      <p:sp>
        <p:nvSpPr>
          <p:cNvPr id="17412" name="Номер слайда 3"/>
          <p:cNvSpPr>
            <a:spLocks noGrp="1"/>
          </p:cNvSpPr>
          <p:nvPr>
            <p:ph type="sldNum" sz="quarter" idx="11"/>
          </p:nvPr>
        </p:nvSpPr>
        <p:spPr>
          <a:noFill/>
          <a:ln>
            <a:miter lim="800000"/>
            <a:headEnd/>
            <a:tailEnd/>
          </a:ln>
        </p:spPr>
        <p:txBody>
          <a:bodyPr/>
          <a:lstStyle/>
          <a:p>
            <a:fld id="{3844EC7E-438B-406C-B7E0-CDC9B38B1412}" type="slidenum">
              <a:rPr lang="ru-RU" altLang="ru-RU" smtClean="0"/>
              <a:pPr/>
              <a:t>15</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Заголовок 1"/>
          <p:cNvSpPr>
            <a:spLocks noGrp="1"/>
          </p:cNvSpPr>
          <p:nvPr>
            <p:ph type="title"/>
          </p:nvPr>
        </p:nvSpPr>
        <p:spPr>
          <a:xfrm>
            <a:off x="457200" y="285750"/>
            <a:ext cx="8229600" cy="550863"/>
          </a:xfrm>
        </p:spPr>
        <p:txBody>
          <a:bodyPr/>
          <a:lstStyle/>
          <a:p>
            <a:pPr algn="ctr"/>
            <a:r>
              <a:rPr lang="ru-RU" altLang="ru-RU" sz="3600" smtClean="0">
                <a:solidFill>
                  <a:schemeClr val="bg2"/>
                </a:solidFill>
              </a:rPr>
              <a:t>Таблицы истинности</a:t>
            </a:r>
            <a:endParaRPr lang="ru-RU" altLang="ru-RU" sz="3600" smtClean="0"/>
          </a:p>
        </p:txBody>
      </p:sp>
      <p:sp>
        <p:nvSpPr>
          <p:cNvPr id="10243" name="Объект 2"/>
          <p:cNvSpPr>
            <a:spLocks noGrp="1"/>
          </p:cNvSpPr>
          <p:nvPr>
            <p:ph idx="1"/>
          </p:nvPr>
        </p:nvSpPr>
        <p:spPr>
          <a:xfrm>
            <a:off x="107950" y="1143000"/>
            <a:ext cx="9036050" cy="5715000"/>
          </a:xfrm>
        </p:spPr>
        <p:txBody>
          <a:bodyPr>
            <a:normAutofit/>
          </a:bodyPr>
          <a:lstStyle/>
          <a:p>
            <a:pPr marL="457200" indent="-457200">
              <a:defRPr/>
            </a:pPr>
            <a:r>
              <a:rPr lang="ru-RU" dirty="0" smtClean="0"/>
              <a:t>Оператор </a:t>
            </a:r>
            <a:r>
              <a:rPr lang="en-US" dirty="0" smtClean="0"/>
              <a:t>NOT</a:t>
            </a:r>
          </a:p>
          <a:p>
            <a:pPr marL="457200" indent="-457200">
              <a:defRPr/>
            </a:pPr>
            <a:endParaRPr lang="en-US" dirty="0" smtClean="0"/>
          </a:p>
          <a:p>
            <a:pPr marL="0" indent="0">
              <a:buFont typeface="Wingdings" pitchFamily="2" charset="2"/>
              <a:buNone/>
              <a:defRPr/>
            </a:pPr>
            <a:endParaRPr lang="en-US" b="1" dirty="0" smtClean="0"/>
          </a:p>
          <a:p>
            <a:pPr marL="457200" indent="-457200">
              <a:defRPr/>
            </a:pPr>
            <a:r>
              <a:rPr lang="ru-RU" dirty="0" smtClean="0"/>
              <a:t>Оператор </a:t>
            </a:r>
            <a:r>
              <a:rPr lang="en-US" dirty="0" smtClean="0"/>
              <a:t>OR</a:t>
            </a:r>
          </a:p>
          <a:p>
            <a:pPr marL="0" indent="0">
              <a:buFont typeface="Wingdings" pitchFamily="2" charset="2"/>
              <a:buNone/>
              <a:defRPr/>
            </a:pPr>
            <a:endParaRPr lang="en-US" b="1" dirty="0" smtClean="0"/>
          </a:p>
          <a:p>
            <a:pPr marL="457200" indent="-457200">
              <a:spcBef>
                <a:spcPts val="2400"/>
              </a:spcBef>
              <a:defRPr/>
            </a:pPr>
            <a:r>
              <a:rPr lang="ru-RU" dirty="0" smtClean="0"/>
              <a:t>Оператор </a:t>
            </a:r>
            <a:r>
              <a:rPr lang="en-US" dirty="0" smtClean="0"/>
              <a:t>AND</a:t>
            </a:r>
          </a:p>
          <a:p>
            <a:pPr marL="0" indent="0">
              <a:buFont typeface="Wingdings" pitchFamily="2" charset="2"/>
              <a:buNone/>
              <a:defRPr/>
            </a:pPr>
            <a:endParaRPr lang="en-US" b="1" dirty="0" smtClean="0"/>
          </a:p>
          <a:p>
            <a:pPr marL="0" indent="0">
              <a:buFont typeface="Wingdings" pitchFamily="2" charset="2"/>
              <a:buNone/>
              <a:defRPr/>
            </a:pPr>
            <a:endParaRPr lang="en-US" b="1" dirty="0" smtClean="0"/>
          </a:p>
        </p:txBody>
      </p:sp>
      <p:sp>
        <p:nvSpPr>
          <p:cNvPr id="18436" name="Номер слайда 3"/>
          <p:cNvSpPr>
            <a:spLocks noGrp="1"/>
          </p:cNvSpPr>
          <p:nvPr>
            <p:ph type="sldNum" sz="quarter" idx="11"/>
          </p:nvPr>
        </p:nvSpPr>
        <p:spPr>
          <a:noFill/>
          <a:ln>
            <a:miter lim="800000"/>
            <a:headEnd/>
            <a:tailEnd/>
          </a:ln>
        </p:spPr>
        <p:txBody>
          <a:bodyPr/>
          <a:lstStyle/>
          <a:p>
            <a:fld id="{A8243CDC-C182-4665-9FBE-BF1D36996161}" type="slidenum">
              <a:rPr lang="ru-RU" altLang="ru-RU" smtClean="0"/>
              <a:pPr/>
              <a:t>16</a:t>
            </a:fld>
            <a:endParaRPr lang="ru-RU" altLang="ru-RU" smtClean="0"/>
          </a:p>
        </p:txBody>
      </p:sp>
      <p:graphicFrame>
        <p:nvGraphicFramePr>
          <p:cNvPr id="5" name="Таблица 4"/>
          <p:cNvGraphicFramePr>
            <a:graphicFrameLocks noGrp="1"/>
          </p:cNvGraphicFramePr>
          <p:nvPr/>
        </p:nvGraphicFramePr>
        <p:xfrm>
          <a:off x="3779838" y="981075"/>
          <a:ext cx="4919662" cy="1462624"/>
        </p:xfrm>
        <a:graphic>
          <a:graphicData uri="http://schemas.openxmlformats.org/drawingml/2006/table">
            <a:tbl>
              <a:tblPr firstRow="1" bandRow="1">
                <a:tableStyleId>{5C22544A-7EE6-4342-B048-85BDC9FD1C3A}</a:tableStyleId>
              </a:tblPr>
              <a:tblGrid>
                <a:gridCol w="2459831">
                  <a:extLst>
                    <a:ext uri="{9D8B030D-6E8A-4147-A177-3AD203B41FA5}"/>
                  </a:extLst>
                </a:gridCol>
                <a:gridCol w="2459831">
                  <a:extLst>
                    <a:ext uri="{9D8B030D-6E8A-4147-A177-3AD203B41FA5}"/>
                  </a:extLst>
                </a:gridCol>
              </a:tblGrid>
              <a:tr h="365522">
                <a:tc>
                  <a:txBody>
                    <a:bodyPr/>
                    <a:lstStyle/>
                    <a:p>
                      <a:r>
                        <a:rPr lang="ru-RU" sz="1800" dirty="0" smtClean="0"/>
                        <a:t>Выражение</a:t>
                      </a:r>
                      <a:endParaRPr lang="ru-RU" sz="1800" dirty="0"/>
                    </a:p>
                  </a:txBody>
                  <a:tcPr marL="91430" marR="91430" marT="45668" marB="456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800" dirty="0" smtClean="0"/>
                        <a:t>Значение</a:t>
                      </a:r>
                      <a:endParaRPr lang="ru-RU" sz="1800" dirty="0"/>
                    </a:p>
                  </a:txBody>
                  <a:tcPr marL="91430" marR="91430" marT="45668" marB="456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365522">
                <a:tc>
                  <a:txBody>
                    <a:bodyPr/>
                    <a:lstStyle/>
                    <a:p>
                      <a:r>
                        <a:rPr lang="en-US" sz="1800" dirty="0" smtClean="0"/>
                        <a:t>NOT  TRUE</a:t>
                      </a:r>
                      <a:endParaRPr lang="ru-RU" sz="1800" dirty="0"/>
                    </a:p>
                  </a:txBody>
                  <a:tcPr marL="91430" marR="91430" marT="45668" marB="456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FALSE</a:t>
                      </a:r>
                      <a:endParaRPr lang="ru-RU" sz="1800" dirty="0" smtClean="0"/>
                    </a:p>
                  </a:txBody>
                  <a:tcPr marL="91430" marR="91430" marT="45668" marB="456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3655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NOT  FALSE</a:t>
                      </a:r>
                      <a:endParaRPr lang="ru-RU" sz="1800" dirty="0" smtClean="0"/>
                    </a:p>
                  </a:txBody>
                  <a:tcPr marL="91430" marR="91430" marT="45668" marB="456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TRUE</a:t>
                      </a:r>
                      <a:endParaRPr lang="ru-RU" sz="1800" dirty="0"/>
                    </a:p>
                  </a:txBody>
                  <a:tcPr marL="91430" marR="91430" marT="45668" marB="456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365522">
                <a:tc>
                  <a:txBody>
                    <a:bodyPr/>
                    <a:lstStyle/>
                    <a:p>
                      <a:r>
                        <a:rPr lang="en-US" sz="1800" dirty="0" smtClean="0"/>
                        <a:t>NOT UNKNOWN</a:t>
                      </a:r>
                      <a:endParaRPr lang="ru-RU" sz="1800" dirty="0"/>
                    </a:p>
                  </a:txBody>
                  <a:tcPr marL="91430" marR="91430" marT="45668" marB="456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UNKNOWN</a:t>
                      </a:r>
                      <a:endParaRPr lang="ru-RU" sz="1800" dirty="0"/>
                    </a:p>
                  </a:txBody>
                  <a:tcPr marL="91430" marR="91430" marT="45668" marB="4566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bl>
          </a:graphicData>
        </a:graphic>
      </p:graphicFrame>
      <p:graphicFrame>
        <p:nvGraphicFramePr>
          <p:cNvPr id="7" name="Таблица 6"/>
          <p:cNvGraphicFramePr>
            <a:graphicFrameLocks noGrp="1"/>
          </p:cNvGraphicFramePr>
          <p:nvPr/>
        </p:nvGraphicFramePr>
        <p:xfrm>
          <a:off x="3348038" y="2781300"/>
          <a:ext cx="5616576" cy="1524140"/>
        </p:xfrm>
        <a:graphic>
          <a:graphicData uri="http://schemas.openxmlformats.org/drawingml/2006/table">
            <a:tbl>
              <a:tblPr firstRow="1" bandRow="1">
                <a:tableStyleId>{5C22544A-7EE6-4342-B048-85BDC9FD1C3A}</a:tableStyleId>
              </a:tblPr>
              <a:tblGrid>
                <a:gridCol w="1512155">
                  <a:extLst>
                    <a:ext uri="{9D8B030D-6E8A-4147-A177-3AD203B41FA5}"/>
                  </a:extLst>
                </a:gridCol>
                <a:gridCol w="1296133">
                  <a:extLst>
                    <a:ext uri="{9D8B030D-6E8A-4147-A177-3AD203B41FA5}"/>
                  </a:extLst>
                </a:gridCol>
                <a:gridCol w="1404144">
                  <a:extLst>
                    <a:ext uri="{9D8B030D-6E8A-4147-A177-3AD203B41FA5}"/>
                  </a:extLst>
                </a:gridCol>
                <a:gridCol w="1404144">
                  <a:extLst>
                    <a:ext uri="{9D8B030D-6E8A-4147-A177-3AD203B41FA5}"/>
                  </a:extLst>
                </a:gridCol>
              </a:tblGrid>
              <a:tr h="426992">
                <a:tc>
                  <a:txBody>
                    <a:bodyPr/>
                    <a:lstStyle/>
                    <a:p>
                      <a:pPr algn="ctr"/>
                      <a:r>
                        <a:rPr lang="en-US" sz="1800" dirty="0" smtClean="0"/>
                        <a:t>OR</a:t>
                      </a:r>
                      <a:endParaRPr lang="ru-RU" sz="1800" dirty="0"/>
                    </a:p>
                  </a:txBody>
                  <a:tcPr marL="91439" marR="91439" marT="45698" marB="456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solidFill>
                            <a:schemeClr val="tx1"/>
                          </a:solidFill>
                        </a:rPr>
                        <a:t>TRUE</a:t>
                      </a:r>
                      <a:endParaRPr lang="ru-RU" sz="1800" dirty="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smtClean="0">
                          <a:solidFill>
                            <a:schemeClr val="tx1"/>
                          </a:solidFill>
                        </a:rPr>
                        <a:t>FALSE</a:t>
                      </a:r>
                      <a:endParaRPr lang="ru-RU" sz="1800" dirty="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UNKNOWN</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extLst>
              </a:tr>
              <a:tr h="3656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rPr>
                        <a:t>TRUE</a:t>
                      </a:r>
                      <a:endParaRPr lang="ru-RU" sz="1800" b="1"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smtClean="0">
                          <a:solidFill>
                            <a:schemeClr val="tx1"/>
                          </a:solidFill>
                        </a:rPr>
                        <a:t>TRUE</a:t>
                      </a:r>
                      <a:endParaRPr lang="ru-RU" sz="1800" dirty="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TRUE</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TRUE</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extLst>
              </a:tr>
              <a:tr h="3656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rPr>
                        <a:t>FALSE</a:t>
                      </a:r>
                      <a:endParaRPr lang="ru-RU" sz="1800" b="1"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TRUE</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FALSE</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UNKNOWN</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extLst>
              </a:tr>
              <a:tr h="3656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rPr>
                        <a:t>UNKNOWN</a:t>
                      </a:r>
                      <a:endParaRPr lang="ru-RU" sz="1800" b="1"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TRUE</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UNKNOWN</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UNKNOWN</a:t>
                      </a:r>
                      <a:endParaRPr lang="ru-RU" sz="1800" dirty="0" smtClean="0">
                        <a:solidFill>
                          <a:schemeClr val="tx1"/>
                        </a:solidFill>
                      </a:endParaRPr>
                    </a:p>
                  </a:txBody>
                  <a:tcPr marL="91439" marR="91439" marT="45698" marB="456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extLst>
              </a:tr>
            </a:tbl>
          </a:graphicData>
        </a:graphic>
      </p:graphicFrame>
      <p:graphicFrame>
        <p:nvGraphicFramePr>
          <p:cNvPr id="8" name="Таблица 7"/>
          <p:cNvGraphicFramePr>
            <a:graphicFrameLocks noGrp="1"/>
          </p:cNvGraphicFramePr>
          <p:nvPr/>
        </p:nvGraphicFramePr>
        <p:xfrm>
          <a:off x="1908175" y="5084763"/>
          <a:ext cx="6408738" cy="1525588"/>
        </p:xfrm>
        <a:graphic>
          <a:graphicData uri="http://schemas.openxmlformats.org/drawingml/2006/table">
            <a:tbl>
              <a:tblPr firstRow="1" bandRow="1">
                <a:tableStyleId>{5C22544A-7EE6-4342-B048-85BDC9FD1C3A}</a:tableStyleId>
              </a:tblPr>
              <a:tblGrid>
                <a:gridCol w="1725429">
                  <a:extLst>
                    <a:ext uri="{9D8B030D-6E8A-4147-A177-3AD203B41FA5}"/>
                  </a:extLst>
                </a:gridCol>
                <a:gridCol w="1597620">
                  <a:extLst>
                    <a:ext uri="{9D8B030D-6E8A-4147-A177-3AD203B41FA5}"/>
                  </a:extLst>
                </a:gridCol>
                <a:gridCol w="1483504">
                  <a:extLst>
                    <a:ext uri="{9D8B030D-6E8A-4147-A177-3AD203B41FA5}"/>
                  </a:extLst>
                </a:gridCol>
                <a:gridCol w="1602185">
                  <a:extLst>
                    <a:ext uri="{9D8B030D-6E8A-4147-A177-3AD203B41FA5}"/>
                  </a:extLst>
                </a:gridCol>
              </a:tblGrid>
              <a:tr h="427510">
                <a:tc>
                  <a:txBody>
                    <a:bodyPr/>
                    <a:lstStyle/>
                    <a:p>
                      <a:pPr algn="ctr"/>
                      <a:r>
                        <a:rPr lang="en-US" sz="1800" dirty="0" smtClean="0"/>
                        <a:t>AND</a:t>
                      </a:r>
                      <a:endParaRPr lang="ru-RU" sz="1800" dirty="0"/>
                    </a:p>
                  </a:txBody>
                  <a:tcPr marT="45753" marB="457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solidFill>
                            <a:schemeClr val="tx1"/>
                          </a:solidFill>
                        </a:rPr>
                        <a:t>TRUE</a:t>
                      </a:r>
                      <a:endParaRPr lang="ru-RU" sz="1800" dirty="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smtClean="0">
                          <a:solidFill>
                            <a:schemeClr val="tx1"/>
                          </a:solidFill>
                        </a:rPr>
                        <a:t>FALSE</a:t>
                      </a:r>
                      <a:endParaRPr lang="ru-RU" sz="1800" dirty="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UNKNOWN</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extLst>
              </a:tr>
              <a:tr h="36602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rPr>
                        <a:t>TRUE</a:t>
                      </a:r>
                      <a:endParaRPr lang="ru-RU" sz="1800" b="1"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smtClean="0">
                          <a:solidFill>
                            <a:schemeClr val="tx1"/>
                          </a:solidFill>
                        </a:rPr>
                        <a:t>TRUE</a:t>
                      </a:r>
                      <a:endParaRPr lang="ru-RU" sz="1800" dirty="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FALSE</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UNKNOWN</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extLst>
              </a:tr>
              <a:tr h="36602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rPr>
                        <a:t>FALSE</a:t>
                      </a:r>
                      <a:endParaRPr lang="ru-RU" sz="1800" b="1"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FALSE</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FALSE</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FALSE</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extLst>
              </a:tr>
              <a:tr h="36602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rPr>
                        <a:t>UNKNOWN</a:t>
                      </a:r>
                      <a:endParaRPr lang="ru-RU" sz="1800" b="1"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UNKNOWN</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FALSE</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UNKNOWN</a:t>
                      </a:r>
                      <a:endParaRPr lang="ru-RU" sz="1800" dirty="0" smtClean="0">
                        <a:solidFill>
                          <a:schemeClr val="tx1"/>
                        </a:solidFill>
                      </a:endParaRPr>
                    </a:p>
                  </a:txBody>
                  <a:tcPr marT="45753" marB="457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5" end="5"/>
                                            </p:txEl>
                                          </p:spTgt>
                                        </p:tgtEl>
                                        <p:attrNameLst>
                                          <p:attrName>style.visibility</p:attrName>
                                        </p:attrNameLst>
                                      </p:cBhvr>
                                      <p:to>
                                        <p:strVal val="visible"/>
                                      </p:to>
                                    </p:set>
                                  </p:childTnLst>
                                </p:cTn>
                              </p:par>
                              <p:par>
                                <p:cTn id="15" presetID="22" presetClass="entr" presetSubtype="1"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Заголовок 1"/>
          <p:cNvSpPr>
            <a:spLocks noGrp="1"/>
          </p:cNvSpPr>
          <p:nvPr>
            <p:ph type="title"/>
          </p:nvPr>
        </p:nvSpPr>
        <p:spPr>
          <a:xfrm>
            <a:off x="457200" y="457200"/>
            <a:ext cx="8229600" cy="955675"/>
          </a:xfrm>
        </p:spPr>
        <p:txBody>
          <a:bodyPr/>
          <a:lstStyle/>
          <a:p>
            <a:pPr algn="ctr"/>
            <a:r>
              <a:rPr lang="ru-RU" altLang="ru-RU" sz="3600" smtClean="0"/>
              <a:t>Примеры</a:t>
            </a:r>
            <a:br>
              <a:rPr lang="ru-RU" altLang="ru-RU" sz="3600" smtClean="0"/>
            </a:br>
            <a:r>
              <a:rPr lang="ru-RU" altLang="ru-RU" sz="3600" smtClean="0"/>
              <a:t>таблица </a:t>
            </a:r>
            <a:r>
              <a:rPr lang="ru-RU" altLang="ru-RU" sz="3600" smtClean="0">
                <a:solidFill>
                  <a:srgbClr val="3333FF"/>
                </a:solidFill>
              </a:rPr>
              <a:t>Salespeople </a:t>
            </a:r>
            <a:r>
              <a:rPr lang="ru-RU" altLang="ru-RU" sz="3600" smtClean="0"/>
              <a:t>(Продавцы)</a:t>
            </a:r>
          </a:p>
        </p:txBody>
      </p:sp>
      <p:graphicFrame>
        <p:nvGraphicFramePr>
          <p:cNvPr id="6302" name="Group 158"/>
          <p:cNvGraphicFramePr>
            <a:graphicFrameLocks noGrp="1"/>
          </p:cNvGraphicFramePr>
          <p:nvPr/>
        </p:nvGraphicFramePr>
        <p:xfrm>
          <a:off x="611188" y="1844675"/>
          <a:ext cx="7993062" cy="4321175"/>
        </p:xfrm>
        <a:graphic>
          <a:graphicData uri="http://schemas.openxmlformats.org/drawingml/2006/table">
            <a:tbl>
              <a:tblPr/>
              <a:tblGrid>
                <a:gridCol w="1998673">
                  <a:extLst>
                    <a:ext uri="{9D8B030D-6E8A-4147-A177-3AD203B41FA5}"/>
                  </a:extLst>
                </a:gridCol>
                <a:gridCol w="1998674">
                  <a:extLst>
                    <a:ext uri="{9D8B030D-6E8A-4147-A177-3AD203B41FA5}"/>
                  </a:extLst>
                </a:gridCol>
                <a:gridCol w="2249325">
                  <a:extLst>
                    <a:ext uri="{9D8B030D-6E8A-4147-A177-3AD203B41FA5}"/>
                  </a:extLst>
                </a:gridCol>
                <a:gridCol w="1746390">
                  <a:extLst>
                    <a:ext uri="{9D8B030D-6E8A-4147-A177-3AD203B41FA5}"/>
                  </a:extLst>
                </a:gridCol>
              </a:tblGrid>
              <a:tr h="719843">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8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Snum</a:t>
                      </a:r>
                      <a:endParaRPr kumimoji="0" lang="en-US" sz="28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8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Sname</a:t>
                      </a:r>
                      <a:endParaRPr kumimoji="0" lang="en-US" sz="28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800" b="1" i="0" u="none" strike="noStrike" cap="none" normalizeH="0" baseline="0" dirty="0" smtClean="0">
                          <a:ln>
                            <a:noFill/>
                          </a:ln>
                          <a:solidFill>
                            <a:schemeClr val="bg2">
                              <a:lumMod val="60000"/>
                              <a:lumOff val="40000"/>
                            </a:schemeClr>
                          </a:solidFill>
                          <a:effectLst/>
                          <a:latin typeface="Times New Roman" pitchFamily="18" charset="0"/>
                          <a:cs typeface="Times New Roman" pitchFamily="18" charset="0"/>
                        </a:rPr>
                        <a:t>City</a:t>
                      </a:r>
                      <a:endParaRPr kumimoji="0" lang="en-US" sz="28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8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Comm</a:t>
                      </a:r>
                      <a:endParaRPr kumimoji="0" lang="en-US" sz="28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19843">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Иванов</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0.12</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21960">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smtClean="0">
                          <a:ln>
                            <a:noFill/>
                          </a:ln>
                          <a:solidFill>
                            <a:schemeClr val="tx1"/>
                          </a:solidFill>
                          <a:effectLst/>
                          <a:latin typeface="Times New Roman" pitchFamily="18" charset="0"/>
                          <a:cs typeface="Times New Roman" pitchFamily="18" charset="0"/>
                        </a:rPr>
                        <a:t>1002</a:t>
                      </a:r>
                      <a:endParaRPr kumimoji="0" lang="en-US" sz="2400" b="0" i="0" u="none" strike="noStrike" cap="none" normalizeH="0" baseline="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Петров</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Кемерово</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0.13</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19843">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Сидоров</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0.11</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19843">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smtClean="0">
                          <a:ln>
                            <a:noFill/>
                          </a:ln>
                          <a:solidFill>
                            <a:schemeClr val="tx1"/>
                          </a:solidFill>
                          <a:effectLst/>
                          <a:latin typeface="Times New Roman" pitchFamily="18" charset="0"/>
                          <a:cs typeface="Times New Roman" pitchFamily="18" charset="0"/>
                        </a:rPr>
                        <a:t>1007</a:t>
                      </a:r>
                      <a:endParaRPr kumimoji="0" lang="en-US" sz="2400" b="0" i="0" u="none" strike="noStrike" cap="none" normalizeH="0" baseline="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smtClean="0">
                          <a:ln>
                            <a:noFill/>
                          </a:ln>
                          <a:solidFill>
                            <a:schemeClr val="tx1"/>
                          </a:solidFill>
                          <a:effectLst/>
                          <a:latin typeface="Times New Roman" pitchFamily="18" charset="0"/>
                          <a:cs typeface="Times New Roman" pitchFamily="18" charset="0"/>
                        </a:rPr>
                        <a:t>Голубев</a:t>
                      </a:r>
                      <a:endParaRPr kumimoji="0" lang="ru-RU" sz="2400" b="0" i="0" u="none" strike="noStrike" cap="none" normalizeH="0" baseline="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Омск</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0.15</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19843">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1003</a:t>
                      </a:r>
                      <a:endParaRPr kumimoji="0" lang="en-US"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Кузнецов</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Томск</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400" b="1" i="0" u="none" strike="noStrike" cap="none" normalizeH="0" baseline="0" dirty="0" smtClean="0">
                          <a:ln>
                            <a:noFill/>
                          </a:ln>
                          <a:solidFill>
                            <a:schemeClr val="tx1"/>
                          </a:solidFill>
                          <a:effectLst/>
                          <a:latin typeface="Times New Roman" pitchFamily="18" charset="0"/>
                          <a:cs typeface="Times New Roman" pitchFamily="18" charset="0"/>
                        </a:rPr>
                        <a:t>0.10</a:t>
                      </a:r>
                      <a:endParaRPr kumimoji="0" lang="ru-RU" sz="2400" b="0" i="0" u="none" strike="noStrike" cap="none" normalizeH="0" baseline="0" dirty="0" smtClean="0">
                        <a:ln>
                          <a:noFill/>
                        </a:ln>
                        <a:solidFill>
                          <a:schemeClr val="tx1"/>
                        </a:solidFill>
                        <a:effectLst/>
                        <a:latin typeface="Arial" charset="0"/>
                        <a:cs typeface="Arial" charset="0"/>
                      </a:endParaRPr>
                    </a:p>
                  </a:txBody>
                  <a:tcPr marL="91438" marR="91438"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19496" name="Номер слайда 3"/>
          <p:cNvSpPr>
            <a:spLocks noGrp="1"/>
          </p:cNvSpPr>
          <p:nvPr>
            <p:ph type="sldNum" sz="quarter" idx="11"/>
          </p:nvPr>
        </p:nvSpPr>
        <p:spPr>
          <a:noFill/>
          <a:ln>
            <a:miter lim="800000"/>
            <a:headEnd/>
            <a:tailEnd/>
          </a:ln>
        </p:spPr>
        <p:txBody>
          <a:bodyPr/>
          <a:lstStyle/>
          <a:p>
            <a:fld id="{435132D1-9C4C-4C72-82F7-1E89E00CE7CA}" type="slidenum">
              <a:rPr lang="ru-RU" altLang="ru-RU" smtClean="0"/>
              <a:pPr/>
              <a:t>17</a:t>
            </a:fld>
            <a:endParaRPr lang="ru-RU" altLang="ru-RU"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Заголовок 1"/>
          <p:cNvSpPr>
            <a:spLocks noGrp="1"/>
          </p:cNvSpPr>
          <p:nvPr>
            <p:ph type="title"/>
          </p:nvPr>
        </p:nvSpPr>
        <p:spPr>
          <a:xfrm>
            <a:off x="457200" y="214313"/>
            <a:ext cx="8229600" cy="406400"/>
          </a:xfrm>
        </p:spPr>
        <p:txBody>
          <a:bodyPr/>
          <a:lstStyle/>
          <a:p>
            <a:pPr algn="ctr"/>
            <a:r>
              <a:rPr lang="ru-RU" altLang="ru-RU" sz="3600" smtClean="0">
                <a:solidFill>
                  <a:schemeClr val="bg2"/>
                </a:solidFill>
              </a:rPr>
              <a:t>Фраза </a:t>
            </a:r>
            <a:r>
              <a:rPr lang="en-US" altLang="ru-RU" sz="3600" b="1" smtClean="0">
                <a:solidFill>
                  <a:schemeClr val="bg2"/>
                </a:solidFill>
              </a:rPr>
              <a:t>WHERE</a:t>
            </a:r>
            <a:r>
              <a:rPr lang="ru-RU" altLang="ru-RU" sz="3600" b="1" smtClean="0">
                <a:solidFill>
                  <a:schemeClr val="bg2"/>
                </a:solidFill>
              </a:rPr>
              <a:t> </a:t>
            </a:r>
            <a:r>
              <a:rPr lang="ru-RU" altLang="ru-RU" sz="3600" smtClean="0">
                <a:solidFill>
                  <a:schemeClr val="bg2"/>
                </a:solidFill>
              </a:rPr>
              <a:t>(2)</a:t>
            </a:r>
            <a:endParaRPr lang="ru-RU" altLang="ru-RU" sz="3600" smtClean="0"/>
          </a:p>
        </p:txBody>
      </p:sp>
      <p:sp>
        <p:nvSpPr>
          <p:cNvPr id="10243" name="Объект 2"/>
          <p:cNvSpPr>
            <a:spLocks noGrp="1"/>
          </p:cNvSpPr>
          <p:nvPr>
            <p:ph idx="1"/>
          </p:nvPr>
        </p:nvSpPr>
        <p:spPr>
          <a:xfrm>
            <a:off x="107950" y="620713"/>
            <a:ext cx="9036050" cy="6237287"/>
          </a:xfrm>
        </p:spPr>
        <p:txBody>
          <a:bodyPr>
            <a:normAutofit fontScale="92500" lnSpcReduction="20000"/>
          </a:bodyPr>
          <a:lstStyle/>
          <a:p>
            <a:pPr>
              <a:lnSpc>
                <a:spcPct val="120000"/>
              </a:lnSpc>
              <a:defRPr/>
            </a:pPr>
            <a:r>
              <a:rPr lang="ru-RU" sz="2400" dirty="0" smtClean="0"/>
              <a:t>В выражениях могут участвовать имена столбцов, функции агрегирования, переменные встроенного SQL, параметры модульного SQL. </a:t>
            </a:r>
          </a:p>
          <a:p>
            <a:pPr>
              <a:lnSpc>
                <a:spcPct val="120000"/>
              </a:lnSpc>
              <a:defRPr/>
            </a:pPr>
            <a:r>
              <a:rPr lang="ru-RU" sz="2400" dirty="0" smtClean="0"/>
              <a:t>Кроме стандартных операторов сравнения, таких как =, &lt;&gt;, &gt;, &lt;, &gt;=, &lt;= могут быть использованы следующие операторы: </a:t>
            </a:r>
          </a:p>
          <a:p>
            <a:pPr>
              <a:lnSpc>
                <a:spcPct val="120000"/>
              </a:lnSpc>
              <a:defRPr/>
            </a:pPr>
            <a:r>
              <a:rPr lang="ru-RU" sz="2400" b="1" dirty="0" smtClean="0"/>
              <a:t>BETWEEN</a:t>
            </a:r>
            <a:r>
              <a:rPr lang="ru-RU" sz="2400" dirty="0" smtClean="0"/>
              <a:t> - возвращает TRUE, если значение находится в указанном диапазоне. </a:t>
            </a:r>
          </a:p>
          <a:p>
            <a:pPr>
              <a:lnSpc>
                <a:spcPct val="120000"/>
              </a:lnSpc>
              <a:buFont typeface="Wingdings" pitchFamily="2" charset="2"/>
              <a:buNone/>
              <a:defRPr/>
            </a:pPr>
            <a:r>
              <a:rPr lang="ru-RU" sz="2400" dirty="0" smtClean="0"/>
              <a:t>	</a:t>
            </a:r>
            <a:r>
              <a:rPr lang="en-US" sz="2400" dirty="0" smtClean="0"/>
              <a:t>x </a:t>
            </a:r>
            <a:r>
              <a:rPr lang="en-US" sz="2400" b="1" dirty="0" smtClean="0"/>
              <a:t>BETWEEN</a:t>
            </a:r>
            <a:r>
              <a:rPr lang="en-US" sz="2400" dirty="0" smtClean="0"/>
              <a:t> y AND z </a:t>
            </a:r>
            <a:r>
              <a:rPr lang="ru-RU" sz="2400" dirty="0" smtClean="0"/>
              <a:t>	эквивалентно выражению (</a:t>
            </a:r>
            <a:r>
              <a:rPr lang="ru-RU" sz="2400" dirty="0" err="1" smtClean="0"/>
              <a:t>x</a:t>
            </a:r>
            <a:r>
              <a:rPr lang="ru-RU" sz="2400" dirty="0" smtClean="0"/>
              <a:t>&lt;</a:t>
            </a:r>
            <a:r>
              <a:rPr lang="ru-RU" sz="2400" dirty="0" err="1" smtClean="0"/>
              <a:t>=z</a:t>
            </a:r>
            <a:r>
              <a:rPr lang="ru-RU" sz="2400" dirty="0" smtClean="0"/>
              <a:t>) AND (</a:t>
            </a:r>
            <a:r>
              <a:rPr lang="ru-RU" sz="2400" dirty="0" err="1" smtClean="0"/>
              <a:t>x</a:t>
            </a:r>
            <a:r>
              <a:rPr lang="ru-RU" sz="2400" dirty="0" smtClean="0"/>
              <a:t>&gt;</a:t>
            </a:r>
            <a:r>
              <a:rPr lang="ru-RU" sz="2400" dirty="0" err="1" smtClean="0"/>
              <a:t>=y</a:t>
            </a:r>
            <a:r>
              <a:rPr lang="ru-RU" sz="2400" dirty="0" smtClean="0"/>
              <a:t>); </a:t>
            </a:r>
            <a:endParaRPr lang="en-US" sz="2400" dirty="0" smtClean="0"/>
          </a:p>
          <a:p>
            <a:pPr lvl="1">
              <a:lnSpc>
                <a:spcPct val="120000"/>
              </a:lnSpc>
              <a:buFont typeface="Wingdings" pitchFamily="2" charset="2"/>
              <a:buNone/>
              <a:defRPr/>
            </a:pPr>
            <a:r>
              <a:rPr lang="ru-RU" sz="2400" dirty="0" smtClean="0"/>
              <a:t>Например:</a:t>
            </a:r>
            <a:r>
              <a:rPr lang="en-US" sz="2400" dirty="0" smtClean="0"/>
              <a:t> </a:t>
            </a:r>
            <a:r>
              <a:rPr lang="en-US" sz="2000" dirty="0" smtClean="0"/>
              <a:t>SELECT </a:t>
            </a:r>
            <a:r>
              <a:rPr lang="en-US" sz="2000" dirty="0" err="1" smtClean="0"/>
              <a:t>Sname</a:t>
            </a:r>
            <a:r>
              <a:rPr lang="en-US" sz="2000" dirty="0" smtClean="0"/>
              <a:t>, City </a:t>
            </a:r>
          </a:p>
          <a:p>
            <a:pPr lvl="1">
              <a:lnSpc>
                <a:spcPct val="120000"/>
              </a:lnSpc>
              <a:buFont typeface="Wingdings" pitchFamily="2" charset="2"/>
              <a:buNone/>
              <a:defRPr/>
            </a:pPr>
            <a:r>
              <a:rPr lang="en-US" sz="2000" dirty="0" smtClean="0"/>
              <a:t>FROM Salespeople</a:t>
            </a:r>
          </a:p>
          <a:p>
            <a:pPr lvl="1">
              <a:lnSpc>
                <a:spcPct val="120000"/>
              </a:lnSpc>
              <a:buFont typeface="Wingdings" pitchFamily="2" charset="2"/>
              <a:buNone/>
              <a:defRPr/>
            </a:pPr>
            <a:r>
              <a:rPr lang="en-US" sz="2000" dirty="0" smtClean="0"/>
              <a:t>WHERE </a:t>
            </a:r>
            <a:r>
              <a:rPr lang="en-US" sz="2000" dirty="0" err="1" smtClean="0"/>
              <a:t>Comm</a:t>
            </a:r>
            <a:r>
              <a:rPr lang="en-US" sz="2000" dirty="0" smtClean="0"/>
              <a:t> BETWEEN 0,11 AND 0,13</a:t>
            </a:r>
            <a:endParaRPr lang="ru-RU" sz="2000" dirty="0" smtClean="0"/>
          </a:p>
          <a:p>
            <a:pPr>
              <a:lnSpc>
                <a:spcPct val="120000"/>
              </a:lnSpc>
              <a:defRPr/>
            </a:pPr>
            <a:r>
              <a:rPr lang="ru-RU" sz="2400" b="1" dirty="0" smtClean="0"/>
              <a:t>IN</a:t>
            </a:r>
            <a:r>
              <a:rPr lang="ru-RU" sz="2400" dirty="0" smtClean="0"/>
              <a:t> - совпадает с одним из перечисленных в списке. </a:t>
            </a:r>
            <a:br>
              <a:rPr lang="ru-RU" sz="2400" dirty="0" smtClean="0"/>
            </a:br>
            <a:r>
              <a:rPr lang="ru-RU" sz="2400" dirty="0" smtClean="0"/>
              <a:t>Например: </a:t>
            </a:r>
            <a:r>
              <a:rPr lang="en-US" sz="2400" dirty="0" smtClean="0"/>
              <a:t>x </a:t>
            </a:r>
            <a:r>
              <a:rPr lang="en-US" sz="2400" b="1" dirty="0" smtClean="0"/>
              <a:t>IN</a:t>
            </a:r>
            <a:r>
              <a:rPr lang="en-US" sz="2400" dirty="0" smtClean="0"/>
              <a:t> (</a:t>
            </a:r>
            <a:r>
              <a:rPr lang="en-US" sz="2400" dirty="0" err="1" smtClean="0"/>
              <a:t>a,b,c</a:t>
            </a:r>
            <a:r>
              <a:rPr lang="en-US" sz="2400" dirty="0" smtClean="0"/>
              <a:t>);</a:t>
            </a:r>
          </a:p>
          <a:p>
            <a:pPr lvl="1">
              <a:lnSpc>
                <a:spcPct val="120000"/>
              </a:lnSpc>
              <a:buFont typeface="Wingdings" pitchFamily="2" charset="2"/>
              <a:buNone/>
              <a:defRPr/>
            </a:pPr>
            <a:r>
              <a:rPr lang="en-US" sz="2000" dirty="0" smtClean="0"/>
              <a:t>SELECT *</a:t>
            </a:r>
          </a:p>
          <a:p>
            <a:pPr lvl="1">
              <a:lnSpc>
                <a:spcPct val="120000"/>
              </a:lnSpc>
              <a:buFont typeface="Wingdings" pitchFamily="2" charset="2"/>
              <a:buNone/>
              <a:defRPr/>
            </a:pPr>
            <a:r>
              <a:rPr lang="en-US" sz="2000" dirty="0" smtClean="0"/>
              <a:t>FROM Salespeople</a:t>
            </a:r>
          </a:p>
          <a:p>
            <a:pPr lvl="1">
              <a:lnSpc>
                <a:spcPct val="120000"/>
              </a:lnSpc>
              <a:buFont typeface="Wingdings" pitchFamily="2" charset="2"/>
              <a:buNone/>
              <a:defRPr/>
            </a:pPr>
            <a:r>
              <a:rPr lang="en-US" sz="2000" dirty="0" smtClean="0"/>
              <a:t>WHERE City IN (‘</a:t>
            </a:r>
            <a:r>
              <a:rPr lang="ru-RU" sz="2000" dirty="0" smtClean="0"/>
              <a:t>Новосибирск</a:t>
            </a:r>
            <a:r>
              <a:rPr lang="en-US" sz="2000" dirty="0" smtClean="0"/>
              <a:t>’</a:t>
            </a:r>
            <a:r>
              <a:rPr lang="ru-RU" sz="2000" dirty="0" smtClean="0"/>
              <a:t>, </a:t>
            </a:r>
            <a:r>
              <a:rPr lang="en-US" sz="2000" dirty="0" smtClean="0"/>
              <a:t>‘</a:t>
            </a:r>
            <a:r>
              <a:rPr lang="ru-RU" sz="2000" dirty="0" smtClean="0"/>
              <a:t>Томск</a:t>
            </a:r>
            <a:r>
              <a:rPr lang="en-US" sz="2000" dirty="0" smtClean="0"/>
              <a:t>’</a:t>
            </a:r>
            <a:r>
              <a:rPr lang="ru-RU" sz="2000" dirty="0" smtClean="0"/>
              <a:t>, </a:t>
            </a:r>
            <a:r>
              <a:rPr lang="en-US" sz="2000" dirty="0" smtClean="0"/>
              <a:t>‘</a:t>
            </a:r>
            <a:r>
              <a:rPr lang="ru-RU" sz="2000" dirty="0" smtClean="0"/>
              <a:t>Кемерово</a:t>
            </a:r>
            <a:r>
              <a:rPr lang="en-US" sz="2000" dirty="0" smtClean="0"/>
              <a:t>’</a:t>
            </a:r>
            <a:r>
              <a:rPr lang="ru-RU" sz="2000" dirty="0" smtClean="0"/>
              <a:t>)</a:t>
            </a:r>
          </a:p>
        </p:txBody>
      </p:sp>
      <p:sp>
        <p:nvSpPr>
          <p:cNvPr id="20484" name="Номер слайда 3"/>
          <p:cNvSpPr>
            <a:spLocks noGrp="1"/>
          </p:cNvSpPr>
          <p:nvPr>
            <p:ph type="sldNum" sz="quarter" idx="11"/>
          </p:nvPr>
        </p:nvSpPr>
        <p:spPr>
          <a:noFill/>
          <a:ln>
            <a:miter lim="800000"/>
            <a:headEnd/>
            <a:tailEnd/>
          </a:ln>
        </p:spPr>
        <p:txBody>
          <a:bodyPr/>
          <a:lstStyle/>
          <a:p>
            <a:fld id="{F3397AB4-CF30-40CC-9592-90B275B81EF6}" type="slidenum">
              <a:rPr lang="ru-RU" altLang="ru-RU" smtClean="0"/>
              <a:pPr/>
              <a:t>18</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243">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243">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243">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Заголовок 1"/>
          <p:cNvSpPr>
            <a:spLocks noGrp="1"/>
          </p:cNvSpPr>
          <p:nvPr>
            <p:ph type="title"/>
          </p:nvPr>
        </p:nvSpPr>
        <p:spPr>
          <a:xfrm>
            <a:off x="457200" y="214313"/>
            <a:ext cx="8229600" cy="406400"/>
          </a:xfrm>
        </p:spPr>
        <p:txBody>
          <a:bodyPr/>
          <a:lstStyle/>
          <a:p>
            <a:pPr algn="ctr"/>
            <a:r>
              <a:rPr lang="ru-RU" altLang="ru-RU" sz="3600" smtClean="0">
                <a:solidFill>
                  <a:schemeClr val="bg2"/>
                </a:solidFill>
              </a:rPr>
              <a:t>Фраза </a:t>
            </a:r>
            <a:r>
              <a:rPr lang="en-US" altLang="ru-RU" sz="3600" b="1" smtClean="0">
                <a:solidFill>
                  <a:schemeClr val="bg2"/>
                </a:solidFill>
              </a:rPr>
              <a:t>WHERE</a:t>
            </a:r>
            <a:r>
              <a:rPr lang="ru-RU" altLang="ru-RU" sz="3600" b="1" smtClean="0">
                <a:solidFill>
                  <a:schemeClr val="bg2"/>
                </a:solidFill>
              </a:rPr>
              <a:t> </a:t>
            </a:r>
            <a:r>
              <a:rPr lang="ru-RU" altLang="ru-RU" sz="3600" smtClean="0">
                <a:solidFill>
                  <a:schemeClr val="bg2"/>
                </a:solidFill>
              </a:rPr>
              <a:t>(3)</a:t>
            </a:r>
            <a:endParaRPr lang="ru-RU" altLang="ru-RU" sz="3600" smtClean="0"/>
          </a:p>
        </p:txBody>
      </p:sp>
      <p:sp>
        <p:nvSpPr>
          <p:cNvPr id="10243" name="Объект 2"/>
          <p:cNvSpPr>
            <a:spLocks noGrp="1"/>
          </p:cNvSpPr>
          <p:nvPr>
            <p:ph idx="1"/>
          </p:nvPr>
        </p:nvSpPr>
        <p:spPr>
          <a:xfrm>
            <a:off x="107950" y="620713"/>
            <a:ext cx="9036050" cy="6237287"/>
          </a:xfrm>
        </p:spPr>
        <p:txBody>
          <a:bodyPr>
            <a:normAutofit fontScale="92500" lnSpcReduction="10000"/>
          </a:bodyPr>
          <a:lstStyle/>
          <a:p>
            <a:pPr>
              <a:lnSpc>
                <a:spcPct val="120000"/>
              </a:lnSpc>
              <a:defRPr/>
            </a:pPr>
            <a:r>
              <a:rPr lang="ru-RU" sz="1600" b="1" dirty="0" smtClean="0"/>
              <a:t>LIKE</a:t>
            </a:r>
            <a:r>
              <a:rPr lang="ru-RU" sz="1600" dirty="0" smtClean="0"/>
              <a:t>::= &lt;Выражение для вычисления значения строки&gt; [NOT] LIKE &lt;Выражение для вычисления значения строки&gt; [ESCAPE &lt;символ&gt;] </a:t>
            </a:r>
          </a:p>
          <a:p>
            <a:pPr marL="0" indent="0" algn="just">
              <a:lnSpc>
                <a:spcPct val="120000"/>
              </a:lnSpc>
              <a:spcBef>
                <a:spcPts val="0"/>
              </a:spcBef>
              <a:buFont typeface="Wingdings" pitchFamily="2" charset="2"/>
              <a:buNone/>
              <a:defRPr/>
            </a:pPr>
            <a:r>
              <a:rPr lang="ru-RU" sz="1600" dirty="0" smtClean="0"/>
              <a:t>Предикат LIKE сравнивает </a:t>
            </a:r>
            <a:r>
              <a:rPr lang="ru-RU" sz="1600" b="1" dirty="0" smtClean="0"/>
              <a:t>строку, указанную в первом выражении</a:t>
            </a:r>
            <a:r>
              <a:rPr lang="ru-RU" sz="1600" dirty="0" smtClean="0"/>
              <a:t>, для вычисления значения строки, называемого проверяемым значением, </a:t>
            </a:r>
            <a:r>
              <a:rPr lang="ru-RU" sz="1600" b="1" dirty="0" smtClean="0"/>
              <a:t>с образцом, который определен во втором выражении </a:t>
            </a:r>
            <a:r>
              <a:rPr lang="ru-RU" sz="1600" dirty="0" smtClean="0"/>
              <a:t>для вычисления значения строки. В образце разрешается использовать два трафаретных символа.</a:t>
            </a:r>
          </a:p>
          <a:p>
            <a:pPr lvl="1">
              <a:lnSpc>
                <a:spcPct val="120000"/>
              </a:lnSpc>
              <a:buClr>
                <a:schemeClr val="bg2">
                  <a:lumMod val="60000"/>
                  <a:lumOff val="40000"/>
                </a:schemeClr>
              </a:buClr>
              <a:buFont typeface="Wingdings" pitchFamily="2" charset="2"/>
              <a:buChar char="Ø"/>
              <a:defRPr/>
            </a:pPr>
            <a:r>
              <a:rPr lang="ru-RU" sz="1600" dirty="0" smtClean="0"/>
              <a:t>символ % (процент) заменяет последовательность любых символов (число символов может быть </a:t>
            </a:r>
            <a:r>
              <a:rPr lang="ru-RU" sz="1600" b="1" dirty="0" smtClean="0"/>
              <a:t>от 0 и более</a:t>
            </a:r>
            <a:r>
              <a:rPr lang="ru-RU" sz="1600" dirty="0" smtClean="0"/>
              <a:t>) в проверяемом значении.</a:t>
            </a:r>
          </a:p>
          <a:p>
            <a:pPr lvl="1">
              <a:lnSpc>
                <a:spcPct val="120000"/>
              </a:lnSpc>
              <a:buClr>
                <a:schemeClr val="bg2">
                  <a:lumMod val="60000"/>
                  <a:lumOff val="40000"/>
                </a:schemeClr>
              </a:buClr>
              <a:buFont typeface="Wingdings" pitchFamily="2" charset="2"/>
              <a:buChar char="Ø"/>
              <a:defRPr/>
            </a:pPr>
            <a:r>
              <a:rPr lang="ru-RU" sz="1600" dirty="0" smtClean="0"/>
              <a:t>символ подчеркивания (_), который можно применять вместо </a:t>
            </a:r>
            <a:r>
              <a:rPr lang="ru-RU" sz="1600" b="1" dirty="0" smtClean="0"/>
              <a:t>любого единичного символа </a:t>
            </a:r>
            <a:r>
              <a:rPr lang="ru-RU" sz="1600" dirty="0" smtClean="0"/>
              <a:t>в проверяемом значении;</a:t>
            </a:r>
          </a:p>
          <a:p>
            <a:pPr>
              <a:lnSpc>
                <a:spcPct val="120000"/>
              </a:lnSpc>
              <a:buFont typeface="Wingdings" pitchFamily="2" charset="2"/>
              <a:buNone/>
              <a:defRPr/>
            </a:pPr>
            <a:r>
              <a:rPr lang="ru-RU" sz="1600" u="sng" dirty="0" smtClean="0"/>
              <a:t>Примеры.</a:t>
            </a:r>
          </a:p>
          <a:p>
            <a:pPr>
              <a:lnSpc>
                <a:spcPct val="120000"/>
              </a:lnSpc>
              <a:buFont typeface="Wingdings" pitchFamily="2" charset="2"/>
              <a:buChar char="v"/>
              <a:defRPr/>
            </a:pPr>
            <a:r>
              <a:rPr lang="ru-RU" sz="1600" dirty="0" err="1" smtClean="0"/>
              <a:t>x</a:t>
            </a:r>
            <a:r>
              <a:rPr lang="ru-RU" sz="1600" dirty="0" smtClean="0"/>
              <a:t> </a:t>
            </a:r>
            <a:r>
              <a:rPr lang="ru-RU" sz="1600" b="1" dirty="0" smtClean="0"/>
              <a:t>LIKE</a:t>
            </a:r>
            <a:r>
              <a:rPr lang="ru-RU" sz="1600" dirty="0" smtClean="0"/>
              <a:t> '</a:t>
            </a:r>
            <a:r>
              <a:rPr lang="ru-RU" sz="1600" dirty="0" err="1" smtClean="0"/>
              <a:t>abc%</a:t>
            </a:r>
            <a:r>
              <a:rPr lang="ru-RU" sz="1600" dirty="0" smtClean="0"/>
              <a:t>';  Образцу '</a:t>
            </a:r>
            <a:r>
              <a:rPr lang="ru-RU" sz="1600" dirty="0" err="1" smtClean="0"/>
              <a:t>abc%</a:t>
            </a:r>
            <a:r>
              <a:rPr lang="ru-RU" sz="1600" dirty="0" smtClean="0"/>
              <a:t>‘ соответствует любая строка </a:t>
            </a:r>
            <a:r>
              <a:rPr lang="ru-RU" sz="1600" dirty="0" err="1" smtClean="0"/>
              <a:t>х</a:t>
            </a:r>
            <a:r>
              <a:rPr lang="ru-RU" sz="1600" dirty="0" smtClean="0"/>
              <a:t>, начинающаяся на </a:t>
            </a:r>
            <a:r>
              <a:rPr lang="en-US" sz="1600" dirty="0" smtClean="0"/>
              <a:t>‘</a:t>
            </a:r>
            <a:r>
              <a:rPr lang="en-US" sz="1600" dirty="0" err="1" smtClean="0"/>
              <a:t>abc</a:t>
            </a:r>
            <a:r>
              <a:rPr lang="en-US" sz="1600" dirty="0" smtClean="0"/>
              <a:t>’</a:t>
            </a:r>
            <a:endParaRPr lang="ru-RU" sz="1600" dirty="0" smtClean="0"/>
          </a:p>
          <a:p>
            <a:pPr>
              <a:lnSpc>
                <a:spcPct val="120000"/>
              </a:lnSpc>
              <a:buFont typeface="Wingdings" pitchFamily="2" charset="2"/>
              <a:buChar char="v"/>
              <a:defRPr/>
            </a:pPr>
            <a:r>
              <a:rPr lang="ru-RU" sz="1600" dirty="0" smtClean="0"/>
              <a:t>Образцу  </a:t>
            </a:r>
            <a:r>
              <a:rPr lang="en-US" sz="1600" dirty="0" smtClean="0"/>
              <a:t>‘%put%’ </a:t>
            </a:r>
            <a:r>
              <a:rPr lang="ru-RU" sz="1600" b="1" dirty="0" smtClean="0"/>
              <a:t>соответствует</a:t>
            </a:r>
            <a:r>
              <a:rPr lang="ru-RU" sz="1600" dirty="0" smtClean="0"/>
              <a:t>  любая последовательность символов содержащая </a:t>
            </a:r>
            <a:r>
              <a:rPr lang="en-US" sz="1600" dirty="0" smtClean="0"/>
              <a:t>‘put’ </a:t>
            </a:r>
            <a:r>
              <a:rPr lang="ru-RU" sz="1600" dirty="0" smtClean="0"/>
              <a:t> в любой позиции.</a:t>
            </a:r>
            <a:endParaRPr lang="en-US" sz="1600" dirty="0" smtClean="0"/>
          </a:p>
          <a:p>
            <a:pPr>
              <a:lnSpc>
                <a:spcPct val="120000"/>
              </a:lnSpc>
              <a:buFont typeface="Wingdings" pitchFamily="2" charset="2"/>
              <a:buChar char="v"/>
              <a:defRPr/>
            </a:pPr>
            <a:r>
              <a:rPr lang="ru-RU" sz="1600" dirty="0" smtClean="0"/>
              <a:t>Образцу </a:t>
            </a:r>
            <a:r>
              <a:rPr lang="en-US" sz="1600" dirty="0" smtClean="0"/>
              <a:t>‘</a:t>
            </a:r>
            <a:r>
              <a:rPr lang="en-US" sz="1600" dirty="0" err="1" smtClean="0"/>
              <a:t>p_t</a:t>
            </a:r>
            <a:r>
              <a:rPr lang="en-US" sz="1600" dirty="0" smtClean="0"/>
              <a:t>’ </a:t>
            </a:r>
            <a:r>
              <a:rPr lang="ru-RU" sz="1600" b="1" dirty="0" smtClean="0"/>
              <a:t>соответствуют</a:t>
            </a:r>
            <a:r>
              <a:rPr lang="ru-RU" sz="1600" dirty="0" smtClean="0"/>
              <a:t> строки длины 3 с </a:t>
            </a:r>
            <a:r>
              <a:rPr lang="en-US" sz="1600" dirty="0" smtClean="0"/>
              <a:t>‘p’ </a:t>
            </a:r>
            <a:r>
              <a:rPr lang="ru-RU" sz="1600" dirty="0" smtClean="0"/>
              <a:t> в начале и </a:t>
            </a:r>
            <a:r>
              <a:rPr lang="en-US" sz="1600" dirty="0" smtClean="0"/>
              <a:t>‘t’ </a:t>
            </a:r>
            <a:r>
              <a:rPr lang="ru-RU" sz="1600" dirty="0" smtClean="0"/>
              <a:t> в конце</a:t>
            </a:r>
          </a:p>
          <a:p>
            <a:pPr>
              <a:lnSpc>
                <a:spcPct val="120000"/>
              </a:lnSpc>
              <a:defRPr/>
            </a:pPr>
            <a:r>
              <a:rPr lang="ru-RU" sz="1600" dirty="0" smtClean="0"/>
              <a:t>Если искомая строка содержит </a:t>
            </a:r>
            <a:r>
              <a:rPr lang="ru-RU" sz="1600" b="1" dirty="0" smtClean="0"/>
              <a:t>трафаретный символ, </a:t>
            </a:r>
            <a:r>
              <a:rPr lang="ru-RU" sz="1600" dirty="0" smtClean="0"/>
              <a:t>то следует задать </a:t>
            </a:r>
            <a:r>
              <a:rPr lang="ru-RU" sz="1600" b="1" dirty="0" smtClean="0"/>
              <a:t>управляющий символ </a:t>
            </a:r>
            <a:r>
              <a:rPr lang="ru-RU" sz="1600" dirty="0" smtClean="0"/>
              <a:t>в предложении</a:t>
            </a:r>
            <a:r>
              <a:rPr lang="ru-RU" sz="1600" b="1" dirty="0" smtClean="0"/>
              <a:t> ESCAPE. </a:t>
            </a:r>
            <a:endParaRPr lang="en-US" sz="1600" b="1" dirty="0" smtClean="0"/>
          </a:p>
          <a:p>
            <a:pPr marL="0" indent="0">
              <a:lnSpc>
                <a:spcPct val="120000"/>
              </a:lnSpc>
              <a:spcBef>
                <a:spcPts val="0"/>
              </a:spcBef>
              <a:buFont typeface="Wingdings" pitchFamily="2" charset="2"/>
              <a:buNone/>
              <a:defRPr/>
            </a:pPr>
            <a:r>
              <a:rPr lang="ru-RU" sz="1600" dirty="0" smtClean="0"/>
              <a:t>Пусть в некотором поле следует отыскать все значения, содержащие символ </a:t>
            </a:r>
            <a:r>
              <a:rPr lang="en-US" sz="1600" dirty="0" smtClean="0">
                <a:latin typeface="Courier" pitchFamily="49" charset="0"/>
              </a:rPr>
              <a:t>‘</a:t>
            </a:r>
            <a:r>
              <a:rPr lang="ru-RU" sz="1600" dirty="0" smtClean="0"/>
              <a:t>_</a:t>
            </a:r>
            <a:r>
              <a:rPr lang="en-US" sz="1600" dirty="0" smtClean="0">
                <a:latin typeface="Courier" pitchFamily="49" charset="0"/>
              </a:rPr>
              <a:t>’</a:t>
            </a:r>
            <a:r>
              <a:rPr lang="ru-RU" sz="1600" dirty="0" smtClean="0"/>
              <a:t>.</a:t>
            </a:r>
          </a:p>
          <a:p>
            <a:pPr marL="0" indent="0">
              <a:lnSpc>
                <a:spcPct val="120000"/>
              </a:lnSpc>
              <a:spcBef>
                <a:spcPts val="0"/>
              </a:spcBef>
              <a:buFont typeface="Wingdings" pitchFamily="2" charset="2"/>
              <a:buNone/>
              <a:defRPr/>
            </a:pPr>
            <a:r>
              <a:rPr lang="ru-RU" sz="1600" dirty="0" smtClean="0"/>
              <a:t>По шаблону </a:t>
            </a:r>
            <a:r>
              <a:rPr lang="en-US" sz="1600" dirty="0" smtClean="0">
                <a:latin typeface="Courier" pitchFamily="49" charset="0"/>
              </a:rPr>
              <a:t>‘%_%’</a:t>
            </a:r>
            <a:r>
              <a:rPr lang="ru-RU" sz="1600" dirty="0" smtClean="0"/>
              <a:t> будут выданы все записи таблицы.</a:t>
            </a:r>
          </a:p>
          <a:p>
            <a:pPr marL="0" indent="0">
              <a:lnSpc>
                <a:spcPct val="120000"/>
              </a:lnSpc>
              <a:spcBef>
                <a:spcPts val="0"/>
              </a:spcBef>
              <a:buFont typeface="Wingdings" pitchFamily="2" charset="2"/>
              <a:buNone/>
              <a:defRPr/>
            </a:pPr>
            <a:r>
              <a:rPr lang="ru-RU" sz="1600" dirty="0" smtClean="0"/>
              <a:t>В данном случае нужно писать следующий шаблон: </a:t>
            </a:r>
            <a:r>
              <a:rPr lang="en-US" sz="1600" dirty="0" smtClean="0">
                <a:latin typeface="Courier" pitchFamily="49" charset="0"/>
              </a:rPr>
              <a:t>‘%#_%’ ESCAPE ‘#’</a:t>
            </a:r>
            <a:endParaRPr lang="ru-RU" sz="1600" dirty="0" smtClean="0"/>
          </a:p>
          <a:p>
            <a:pPr>
              <a:lnSpc>
                <a:spcPct val="120000"/>
              </a:lnSpc>
              <a:defRPr/>
            </a:pPr>
            <a:r>
              <a:rPr lang="ru-RU" sz="1600" b="1" dirty="0" smtClean="0"/>
              <a:t>IS NULL - </a:t>
            </a:r>
            <a:r>
              <a:rPr lang="ru-RU" sz="1600" dirty="0" smtClean="0"/>
              <a:t>возвращает TRUE, если значение равно </a:t>
            </a:r>
            <a:r>
              <a:rPr lang="ru-RU" sz="1600" b="1" dirty="0" smtClean="0"/>
              <a:t>NULL. </a:t>
            </a:r>
            <a:r>
              <a:rPr lang="ru-RU" sz="1600" dirty="0" smtClean="0"/>
              <a:t>Этот предикат возвращает только значение</a:t>
            </a:r>
            <a:r>
              <a:rPr lang="ru-RU" sz="1600" b="1" dirty="0" smtClean="0"/>
              <a:t> TRUE </a:t>
            </a:r>
            <a:r>
              <a:rPr lang="ru-RU" sz="1600" dirty="0" smtClean="0"/>
              <a:t>или</a:t>
            </a:r>
            <a:r>
              <a:rPr lang="ru-RU" sz="1600" b="1" dirty="0" smtClean="0"/>
              <a:t> FALSE. </a:t>
            </a:r>
            <a:r>
              <a:rPr lang="ru-RU" sz="1600" dirty="0" smtClean="0"/>
              <a:t>Например</a:t>
            </a:r>
            <a:r>
              <a:rPr lang="ru-RU" sz="1600" b="1" dirty="0" smtClean="0"/>
              <a:t>: </a:t>
            </a:r>
            <a:r>
              <a:rPr lang="ru-RU" sz="1600" dirty="0" err="1" smtClean="0"/>
              <a:t>x</a:t>
            </a:r>
            <a:r>
              <a:rPr lang="ru-RU" sz="1600" b="1" dirty="0" smtClean="0"/>
              <a:t> IS NULL;</a:t>
            </a:r>
          </a:p>
        </p:txBody>
      </p:sp>
      <p:sp>
        <p:nvSpPr>
          <p:cNvPr id="21508" name="Номер слайда 3"/>
          <p:cNvSpPr>
            <a:spLocks noGrp="1"/>
          </p:cNvSpPr>
          <p:nvPr>
            <p:ph type="sldNum" sz="quarter" idx="11"/>
          </p:nvPr>
        </p:nvSpPr>
        <p:spPr>
          <a:noFill/>
          <a:ln>
            <a:miter lim="800000"/>
            <a:headEnd/>
            <a:tailEnd/>
          </a:ln>
        </p:spPr>
        <p:txBody>
          <a:bodyPr/>
          <a:lstStyle/>
          <a:p>
            <a:fld id="{967F4F89-60BA-48F9-BC4F-EC49D1813B9F}" type="slidenum">
              <a:rPr lang="ru-RU" altLang="ru-RU" smtClean="0"/>
              <a:pPr/>
              <a:t>19</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24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24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24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24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64"/>
          <p:cNvSpPr>
            <a:spLocks noGrp="1" noChangeArrowheads="1"/>
          </p:cNvSpPr>
          <p:nvPr>
            <p:ph type="title"/>
          </p:nvPr>
        </p:nvSpPr>
        <p:spPr>
          <a:xfrm>
            <a:off x="468313" y="620713"/>
            <a:ext cx="8229600" cy="1100137"/>
          </a:xfrm>
        </p:spPr>
        <p:txBody>
          <a:bodyPr/>
          <a:lstStyle/>
          <a:p>
            <a:pPr algn="ctr"/>
            <a:r>
              <a:rPr lang="en-US" altLang="ru-RU" sz="3600" smtClean="0"/>
              <a:t>Customers (</a:t>
            </a:r>
            <a:r>
              <a:rPr lang="ru-RU" altLang="ru-RU" sz="3600" smtClean="0"/>
              <a:t>Покупатели)</a:t>
            </a:r>
          </a:p>
        </p:txBody>
      </p:sp>
      <p:graphicFrame>
        <p:nvGraphicFramePr>
          <p:cNvPr id="35079" name="Group 263"/>
          <p:cNvGraphicFramePr>
            <a:graphicFrameLocks noGrp="1"/>
          </p:cNvGraphicFramePr>
          <p:nvPr>
            <p:ph idx="1"/>
          </p:nvPr>
        </p:nvGraphicFramePr>
        <p:xfrm>
          <a:off x="371475" y="1571625"/>
          <a:ext cx="8401052" cy="4448176"/>
        </p:xfrm>
        <a:graphic>
          <a:graphicData uri="http://schemas.openxmlformats.org/drawingml/2006/table">
            <a:tbl>
              <a:tblPr/>
              <a:tblGrid>
                <a:gridCol w="1680535">
                  <a:extLst>
                    <a:ext uri="{9D8B030D-6E8A-4147-A177-3AD203B41FA5}"/>
                  </a:extLst>
                </a:gridCol>
                <a:gridCol w="1678914">
                  <a:extLst>
                    <a:ext uri="{9D8B030D-6E8A-4147-A177-3AD203B41FA5}"/>
                  </a:extLst>
                </a:gridCol>
                <a:gridCol w="1680534">
                  <a:extLst>
                    <a:ext uri="{9D8B030D-6E8A-4147-A177-3AD203B41FA5}"/>
                  </a:extLst>
                </a:gridCol>
                <a:gridCol w="1678914">
                  <a:extLst>
                    <a:ext uri="{9D8B030D-6E8A-4147-A177-3AD203B41FA5}"/>
                  </a:extLst>
                </a:gridCol>
                <a:gridCol w="1682155">
                  <a:extLst>
                    <a:ext uri="{9D8B030D-6E8A-4147-A177-3AD203B41FA5}"/>
                  </a:extLst>
                </a:gridCol>
              </a:tblGrid>
              <a:tr h="55602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err="1" smtClean="0">
                          <a:ln>
                            <a:noFill/>
                          </a:ln>
                          <a:solidFill>
                            <a:srgbClr val="3333FF"/>
                          </a:solidFill>
                          <a:effectLst/>
                          <a:latin typeface="Times New Roman" pitchFamily="18" charset="0"/>
                          <a:cs typeface="Times New Roman" pitchFamily="18" charset="0"/>
                        </a:rPr>
                        <a:t>Cnum</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err="1" smtClean="0">
                          <a:ln>
                            <a:noFill/>
                          </a:ln>
                          <a:solidFill>
                            <a:srgbClr val="3333FF"/>
                          </a:solidFill>
                          <a:effectLst/>
                          <a:latin typeface="Times New Roman" pitchFamily="18" charset="0"/>
                          <a:cs typeface="Times New Roman" pitchFamily="18" charset="0"/>
                        </a:rPr>
                        <a:t>Cname</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smtClean="0">
                          <a:ln>
                            <a:noFill/>
                          </a:ln>
                          <a:solidFill>
                            <a:srgbClr val="3333FF"/>
                          </a:solidFill>
                          <a:effectLst/>
                          <a:latin typeface="Times New Roman" pitchFamily="18" charset="0"/>
                          <a:cs typeface="Times New Roman" pitchFamily="18" charset="0"/>
                        </a:rPr>
                        <a:t>City</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smtClean="0">
                          <a:ln>
                            <a:noFill/>
                          </a:ln>
                          <a:solidFill>
                            <a:srgbClr val="3333FF"/>
                          </a:solidFill>
                          <a:effectLst/>
                          <a:latin typeface="Times New Roman" pitchFamily="18" charset="0"/>
                          <a:cs typeface="Times New Roman" pitchFamily="18" charset="0"/>
                        </a:rPr>
                        <a:t>Rating</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400" b="1" i="0" u="none" strike="noStrike" cap="none" normalizeH="0" baseline="0" dirty="0" err="1" smtClean="0">
                          <a:ln>
                            <a:noFill/>
                          </a:ln>
                          <a:solidFill>
                            <a:srgbClr val="3333FF"/>
                          </a:solidFill>
                          <a:effectLst/>
                          <a:latin typeface="Times New Roman" pitchFamily="18" charset="0"/>
                          <a:cs typeface="Times New Roman" pitchFamily="18" charset="0"/>
                        </a:rPr>
                        <a:t>Snum</a:t>
                      </a:r>
                      <a:endParaRPr kumimoji="0" lang="en-US" sz="2400" b="0" i="0" u="none" strike="noStrike" cap="none" normalizeH="0" baseline="0" dirty="0" smtClean="0">
                        <a:ln>
                          <a:noFill/>
                        </a:ln>
                        <a:solidFill>
                          <a:srgbClr val="3333FF"/>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5602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Светин</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100</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5602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2002</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Казаков</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dirty="0" smtClean="0">
                          <a:ln>
                            <a:noFill/>
                          </a:ln>
                          <a:solidFill>
                            <a:schemeClr val="tx1"/>
                          </a:solidFill>
                          <a:effectLst/>
                          <a:latin typeface="Times New Roman" pitchFamily="18" charset="0"/>
                          <a:cs typeface="Times New Roman" pitchFamily="18" charset="0"/>
                        </a:rPr>
                        <a:t>Барнаул</a:t>
                      </a:r>
                      <a:endParaRPr kumimoji="0" lang="ru-RU"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200</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1003</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5602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2003</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dirty="0" smtClean="0">
                          <a:ln>
                            <a:noFill/>
                          </a:ln>
                          <a:solidFill>
                            <a:schemeClr val="tx1"/>
                          </a:solidFill>
                          <a:effectLst/>
                          <a:latin typeface="Times New Roman" pitchFamily="18" charset="0"/>
                          <a:cs typeface="Times New Roman" pitchFamily="18" charset="0"/>
                        </a:rPr>
                        <a:t>Руднев</a:t>
                      </a:r>
                      <a:endParaRPr kumimoji="0" lang="ru-RU"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dirty="0" smtClean="0">
                          <a:ln>
                            <a:noFill/>
                          </a:ln>
                          <a:solidFill>
                            <a:schemeClr val="tx1"/>
                          </a:solidFill>
                          <a:effectLst/>
                          <a:latin typeface="Times New Roman" pitchFamily="18" charset="0"/>
                          <a:cs typeface="Times New Roman" pitchFamily="18" charset="0"/>
                        </a:rPr>
                        <a:t>Кемерово</a:t>
                      </a:r>
                      <a:endParaRPr kumimoji="0" lang="ru-RU"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200</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1002</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5602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2004</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Ревякин</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Юрга</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300</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1002</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5602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2006</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Малыгин</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Новосибирск</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NULL</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5602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2008</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Коршунов</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Кемерово</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300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1007</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556022">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2007</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Синицын</a:t>
                      </a:r>
                      <a:endParaRPr kumimoji="0" lang="ru-RU"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800" b="1" i="0" u="none" strike="noStrike" cap="none" normalizeH="0" baseline="0" dirty="0" smtClean="0">
                          <a:ln>
                            <a:noFill/>
                          </a:ln>
                          <a:solidFill>
                            <a:schemeClr val="tx1"/>
                          </a:solidFill>
                          <a:effectLst/>
                          <a:latin typeface="Times New Roman" pitchFamily="18" charset="0"/>
                          <a:cs typeface="Times New Roman" pitchFamily="18" charset="0"/>
                        </a:rPr>
                        <a:t>Барнаул</a:t>
                      </a:r>
                      <a:endParaRPr kumimoji="0" lang="ru-RU"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100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22587" name="Номер слайда 3"/>
          <p:cNvSpPr>
            <a:spLocks noGrp="1"/>
          </p:cNvSpPr>
          <p:nvPr>
            <p:ph type="sldNum" sz="quarter" idx="11"/>
          </p:nvPr>
        </p:nvSpPr>
        <p:spPr>
          <a:noFill/>
          <a:ln>
            <a:miter lim="800000"/>
            <a:headEnd/>
            <a:tailEnd/>
          </a:ln>
        </p:spPr>
        <p:txBody>
          <a:bodyPr/>
          <a:lstStyle/>
          <a:p>
            <a:fld id="{0FC4F5EE-5207-4FFB-9DED-B0664E7F172F}" type="slidenum">
              <a:rPr lang="ru-RU" altLang="ru-RU" smtClean="0"/>
              <a:pPr/>
              <a:t>20</a:t>
            </a:fld>
            <a:endParaRPr lang="ru-RU" altLang="ru-RU"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Заголовок 1"/>
          <p:cNvSpPr>
            <a:spLocks noGrp="1"/>
          </p:cNvSpPr>
          <p:nvPr>
            <p:ph type="title"/>
          </p:nvPr>
        </p:nvSpPr>
        <p:spPr>
          <a:xfrm>
            <a:off x="457200" y="214313"/>
            <a:ext cx="8229600" cy="428625"/>
          </a:xfrm>
        </p:spPr>
        <p:txBody>
          <a:bodyPr/>
          <a:lstStyle/>
          <a:p>
            <a:pPr algn="ctr"/>
            <a:r>
              <a:rPr lang="ru-RU" altLang="ru-RU" sz="3600" smtClean="0">
                <a:solidFill>
                  <a:schemeClr val="bg2"/>
                </a:solidFill>
              </a:rPr>
              <a:t>Фраза </a:t>
            </a:r>
            <a:r>
              <a:rPr lang="en-US" altLang="ru-RU" sz="3600" b="1" smtClean="0">
                <a:solidFill>
                  <a:schemeClr val="bg2"/>
                </a:solidFill>
              </a:rPr>
              <a:t>WHERE</a:t>
            </a:r>
            <a:r>
              <a:rPr lang="ru-RU" altLang="ru-RU" sz="3600" b="1" smtClean="0">
                <a:solidFill>
                  <a:schemeClr val="bg2"/>
                </a:solidFill>
              </a:rPr>
              <a:t> </a:t>
            </a:r>
            <a:r>
              <a:rPr lang="ru-RU" altLang="ru-RU" sz="3600" smtClean="0">
                <a:solidFill>
                  <a:schemeClr val="bg2"/>
                </a:solidFill>
              </a:rPr>
              <a:t>(</a:t>
            </a:r>
            <a:r>
              <a:rPr lang="en-US" altLang="ru-RU" sz="3600" smtClean="0">
                <a:solidFill>
                  <a:schemeClr val="bg2"/>
                </a:solidFill>
              </a:rPr>
              <a:t>3</a:t>
            </a:r>
            <a:r>
              <a:rPr lang="ru-RU" altLang="ru-RU" sz="3600" smtClean="0">
                <a:solidFill>
                  <a:schemeClr val="bg2"/>
                </a:solidFill>
              </a:rPr>
              <a:t>)</a:t>
            </a:r>
            <a:endParaRPr lang="ru-RU" altLang="ru-RU" sz="3600" smtClean="0"/>
          </a:p>
        </p:txBody>
      </p:sp>
      <p:sp>
        <p:nvSpPr>
          <p:cNvPr id="13315" name="Объект 2"/>
          <p:cNvSpPr>
            <a:spLocks noGrp="1"/>
          </p:cNvSpPr>
          <p:nvPr>
            <p:ph idx="1"/>
          </p:nvPr>
        </p:nvSpPr>
        <p:spPr>
          <a:xfrm>
            <a:off x="214313" y="692150"/>
            <a:ext cx="8750300" cy="5773738"/>
          </a:xfrm>
        </p:spPr>
        <p:txBody>
          <a:bodyPr>
            <a:normAutofit fontScale="92500" lnSpcReduction="10000"/>
          </a:bodyPr>
          <a:lstStyle/>
          <a:p>
            <a:pPr>
              <a:lnSpc>
                <a:spcPct val="110000"/>
              </a:lnSpc>
              <a:defRPr/>
            </a:pPr>
            <a:r>
              <a:rPr lang="ru-RU" altLang="ru-RU" sz="2000" b="1" dirty="0" smtClean="0"/>
              <a:t>EXISTS</a:t>
            </a:r>
            <a:r>
              <a:rPr lang="ru-RU" altLang="ru-RU" sz="2000" dirty="0" smtClean="0"/>
              <a:t> - </a:t>
            </a:r>
            <a:r>
              <a:rPr lang="ru-RU" altLang="ru-RU" sz="2000" b="1" dirty="0" smtClean="0"/>
              <a:t>предикат существования</a:t>
            </a:r>
            <a:r>
              <a:rPr lang="ru-RU" altLang="ru-RU" sz="2000" dirty="0" smtClean="0"/>
              <a:t>, возвращающий значение TRUE, если указанный в нем подзапрос содержит хотя бы одну строку. Например: </a:t>
            </a:r>
          </a:p>
          <a:p>
            <a:pPr>
              <a:lnSpc>
                <a:spcPct val="110000"/>
              </a:lnSpc>
              <a:buFont typeface="Wingdings" pitchFamily="2" charset="2"/>
              <a:buNone/>
              <a:defRPr/>
            </a:pPr>
            <a:r>
              <a:rPr lang="en-US" altLang="ru-RU" sz="2000" dirty="0" smtClean="0"/>
              <a:t>SELECT * </a:t>
            </a:r>
          </a:p>
          <a:p>
            <a:pPr>
              <a:lnSpc>
                <a:spcPct val="110000"/>
              </a:lnSpc>
              <a:buFont typeface="Wingdings" pitchFamily="2" charset="2"/>
              <a:buNone/>
              <a:defRPr/>
            </a:pPr>
            <a:r>
              <a:rPr lang="en-US" altLang="ru-RU" sz="2000" dirty="0" smtClean="0"/>
              <a:t>FROM Customers </a:t>
            </a:r>
            <a:r>
              <a:rPr lang="en-US" altLang="ru-RU" sz="2000" dirty="0" err="1" smtClean="0"/>
              <a:t>t_out</a:t>
            </a:r>
            <a:endParaRPr lang="en-US" altLang="ru-RU" sz="2000" dirty="0" smtClean="0"/>
          </a:p>
          <a:p>
            <a:pPr>
              <a:lnSpc>
                <a:spcPct val="110000"/>
              </a:lnSpc>
              <a:buFont typeface="Wingdings" pitchFamily="2" charset="2"/>
              <a:buNone/>
              <a:defRPr/>
            </a:pPr>
            <a:r>
              <a:rPr lang="en-US" altLang="ru-RU" sz="2000" dirty="0" smtClean="0"/>
              <a:t>WHERE EXISTS (SELECT * </a:t>
            </a:r>
          </a:p>
          <a:p>
            <a:pPr>
              <a:lnSpc>
                <a:spcPct val="110000"/>
              </a:lnSpc>
              <a:buFont typeface="Wingdings" pitchFamily="2" charset="2"/>
              <a:buNone/>
              <a:defRPr/>
            </a:pPr>
            <a:r>
              <a:rPr lang="en-US" altLang="ru-RU" sz="2000" dirty="0" smtClean="0"/>
              <a:t>                              FROM Customers </a:t>
            </a:r>
            <a:r>
              <a:rPr lang="en-US" altLang="ru-RU" sz="2000" dirty="0" err="1" smtClean="0"/>
              <a:t>t_in</a:t>
            </a:r>
            <a:r>
              <a:rPr lang="en-US" altLang="ru-RU" sz="2000" dirty="0" smtClean="0"/>
              <a:t/>
            </a:r>
            <a:br>
              <a:rPr lang="en-US" altLang="ru-RU" sz="2000" dirty="0" smtClean="0"/>
            </a:br>
            <a:r>
              <a:rPr lang="en-US" altLang="ru-RU" sz="2000" dirty="0" smtClean="0"/>
              <a:t>                        WHERE </a:t>
            </a:r>
            <a:r>
              <a:rPr lang="en-US" altLang="ru-RU" sz="2000" dirty="0" err="1" smtClean="0"/>
              <a:t>t_in.snum</a:t>
            </a:r>
            <a:r>
              <a:rPr lang="en-US" altLang="ru-RU" sz="2000" dirty="0" smtClean="0"/>
              <a:t>= </a:t>
            </a:r>
            <a:r>
              <a:rPr lang="en-US" altLang="ru-RU" sz="2000" dirty="0" err="1" smtClean="0"/>
              <a:t>t_out.snum</a:t>
            </a:r>
            <a:r>
              <a:rPr lang="en-US" altLang="ru-RU" sz="2000" dirty="0" smtClean="0"/>
              <a:t>); </a:t>
            </a:r>
            <a:endParaRPr lang="ru-RU" altLang="ru-RU" sz="2000" dirty="0" smtClean="0"/>
          </a:p>
          <a:p>
            <a:pPr>
              <a:lnSpc>
                <a:spcPct val="110000"/>
              </a:lnSpc>
              <a:defRPr/>
            </a:pPr>
            <a:r>
              <a:rPr lang="ru-RU" altLang="ru-RU" sz="2000" b="1" dirty="0" smtClean="0"/>
              <a:t>UNIQUE</a:t>
            </a:r>
            <a:r>
              <a:rPr lang="ru-RU" altLang="ru-RU" sz="2000" dirty="0" smtClean="0"/>
              <a:t> - </a:t>
            </a:r>
            <a:r>
              <a:rPr lang="ru-RU" altLang="ru-RU" sz="2000" b="1" dirty="0" smtClean="0"/>
              <a:t>предикат уникальности</a:t>
            </a:r>
            <a:r>
              <a:rPr lang="ru-RU" altLang="ru-RU" sz="2000" dirty="0" smtClean="0"/>
              <a:t>, возвращающий значение TRUE, если указанный в нем подзапрос не содержит одинаковых строк; </a:t>
            </a:r>
          </a:p>
          <a:p>
            <a:pPr>
              <a:lnSpc>
                <a:spcPct val="110000"/>
              </a:lnSpc>
              <a:defRPr/>
            </a:pPr>
            <a:r>
              <a:rPr lang="ru-RU" altLang="ru-RU" sz="2000" b="1" dirty="0" smtClean="0"/>
              <a:t>MATCH</a:t>
            </a:r>
            <a:r>
              <a:rPr lang="ru-RU" altLang="ru-RU" sz="2000" dirty="0" smtClean="0"/>
              <a:t> - </a:t>
            </a:r>
            <a:r>
              <a:rPr lang="ru-RU" altLang="ru-RU" sz="2000" b="1" dirty="0" smtClean="0"/>
              <a:t>предикат совпадения</a:t>
            </a:r>
            <a:r>
              <a:rPr lang="ru-RU" altLang="ru-RU" sz="2000" dirty="0" smtClean="0"/>
              <a:t>, возвращающий значение TRUE, если при частичном совпадении (указана фраза PARTIAL) все значения сравниваемой строки равны NULL или существует хотя бы одна строка подзапроса, совпадающая с сравниваемой строкой. </a:t>
            </a:r>
          </a:p>
          <a:p>
            <a:pPr>
              <a:lnSpc>
                <a:spcPct val="110000"/>
              </a:lnSpc>
              <a:defRPr/>
            </a:pPr>
            <a:r>
              <a:rPr lang="ru-RU" altLang="ru-RU" sz="2000" b="1" dirty="0" smtClean="0"/>
              <a:t>OVERLAPS</a:t>
            </a:r>
            <a:r>
              <a:rPr lang="ru-RU" altLang="ru-RU" sz="2000" dirty="0" smtClean="0"/>
              <a:t> - </a:t>
            </a:r>
            <a:r>
              <a:rPr lang="ru-RU" altLang="ru-RU" sz="2000" b="1" dirty="0" smtClean="0"/>
              <a:t>предикат перекрытия</a:t>
            </a:r>
            <a:r>
              <a:rPr lang="ru-RU" altLang="ru-RU" sz="2000" dirty="0" smtClean="0"/>
              <a:t>, возвращающий значение TRUE, если сравниваемый период времени перекрывает другие указанные периоды. Тип сравниваемых данных может быть DATETIME или INTERVAL (допустим только для второго значения); </a:t>
            </a:r>
          </a:p>
        </p:txBody>
      </p:sp>
      <p:sp>
        <p:nvSpPr>
          <p:cNvPr id="23556" name="Номер слайда 4"/>
          <p:cNvSpPr>
            <a:spLocks noGrp="1"/>
          </p:cNvSpPr>
          <p:nvPr>
            <p:ph type="sldNum" sz="quarter" idx="11"/>
          </p:nvPr>
        </p:nvSpPr>
        <p:spPr>
          <a:noFill/>
          <a:ln>
            <a:miter lim="800000"/>
            <a:headEnd/>
            <a:tailEnd/>
          </a:ln>
        </p:spPr>
        <p:txBody>
          <a:bodyPr/>
          <a:lstStyle/>
          <a:p>
            <a:fld id="{F2F75002-6580-4CC9-966F-47C550EF0F82}" type="slidenum">
              <a:rPr lang="ru-RU" altLang="ru-RU" smtClean="0"/>
              <a:pPr/>
              <a:t>21</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Заголовок 1"/>
          <p:cNvSpPr>
            <a:spLocks noGrp="1"/>
          </p:cNvSpPr>
          <p:nvPr>
            <p:ph type="title"/>
          </p:nvPr>
        </p:nvSpPr>
        <p:spPr>
          <a:xfrm>
            <a:off x="457200" y="214313"/>
            <a:ext cx="8229600" cy="428625"/>
          </a:xfrm>
        </p:spPr>
        <p:txBody>
          <a:bodyPr/>
          <a:lstStyle/>
          <a:p>
            <a:pPr algn="ctr"/>
            <a:r>
              <a:rPr lang="ru-RU" altLang="ru-RU" sz="3600" smtClean="0">
                <a:solidFill>
                  <a:schemeClr val="bg2"/>
                </a:solidFill>
              </a:rPr>
              <a:t>Фраза </a:t>
            </a:r>
            <a:r>
              <a:rPr lang="en-US" altLang="ru-RU" sz="3600" b="1" smtClean="0">
                <a:solidFill>
                  <a:schemeClr val="bg2"/>
                </a:solidFill>
              </a:rPr>
              <a:t>WHERE</a:t>
            </a:r>
            <a:r>
              <a:rPr lang="ru-RU" altLang="ru-RU" sz="3600" b="1" smtClean="0">
                <a:solidFill>
                  <a:schemeClr val="bg2"/>
                </a:solidFill>
              </a:rPr>
              <a:t> </a:t>
            </a:r>
            <a:r>
              <a:rPr lang="ru-RU" altLang="ru-RU" sz="3600" smtClean="0">
                <a:solidFill>
                  <a:schemeClr val="bg2"/>
                </a:solidFill>
              </a:rPr>
              <a:t>(</a:t>
            </a:r>
            <a:r>
              <a:rPr lang="en-US" altLang="ru-RU" sz="3600" smtClean="0">
                <a:solidFill>
                  <a:schemeClr val="bg2"/>
                </a:solidFill>
              </a:rPr>
              <a:t>4</a:t>
            </a:r>
            <a:r>
              <a:rPr lang="ru-RU" altLang="ru-RU" sz="3600" smtClean="0">
                <a:solidFill>
                  <a:schemeClr val="bg2"/>
                </a:solidFill>
              </a:rPr>
              <a:t>)</a:t>
            </a:r>
            <a:endParaRPr lang="ru-RU" altLang="ru-RU" sz="3600" smtClean="0"/>
          </a:p>
        </p:txBody>
      </p:sp>
      <p:sp>
        <p:nvSpPr>
          <p:cNvPr id="24579" name="Объект 2"/>
          <p:cNvSpPr>
            <a:spLocks noGrp="1"/>
          </p:cNvSpPr>
          <p:nvPr>
            <p:ph idx="1"/>
          </p:nvPr>
        </p:nvSpPr>
        <p:spPr>
          <a:xfrm>
            <a:off x="0" y="677863"/>
            <a:ext cx="9036050" cy="5502275"/>
          </a:xfrm>
        </p:spPr>
        <p:txBody>
          <a:bodyPr/>
          <a:lstStyle/>
          <a:p>
            <a:r>
              <a:rPr lang="ru-RU" altLang="ru-RU" sz="2000" b="1" smtClean="0"/>
              <a:t>SOME, ANY</a:t>
            </a:r>
            <a:r>
              <a:rPr lang="ru-RU" altLang="ru-RU" sz="2000" smtClean="0"/>
              <a:t> или </a:t>
            </a:r>
            <a:r>
              <a:rPr lang="ru-RU" altLang="ru-RU" sz="2000" b="1" smtClean="0"/>
              <a:t>ALL</a:t>
            </a:r>
            <a:r>
              <a:rPr lang="ru-RU" altLang="ru-RU" sz="2000" smtClean="0"/>
              <a:t> - </a:t>
            </a:r>
            <a:r>
              <a:rPr lang="ru-RU" altLang="ru-RU" sz="2000" b="1" smtClean="0"/>
              <a:t>предикаты количественного сравнения</a:t>
            </a:r>
            <a:r>
              <a:rPr lang="ru-RU" altLang="ru-RU" sz="2000" smtClean="0"/>
              <a:t>, для которых существуют следующие правила: </a:t>
            </a:r>
          </a:p>
        </p:txBody>
      </p:sp>
      <p:graphicFrame>
        <p:nvGraphicFramePr>
          <p:cNvPr id="4" name="Таблица 3"/>
          <p:cNvGraphicFramePr>
            <a:graphicFrameLocks noGrp="1"/>
          </p:cNvGraphicFramePr>
          <p:nvPr/>
        </p:nvGraphicFramePr>
        <p:xfrm>
          <a:off x="642938" y="1571625"/>
          <a:ext cx="8143875" cy="4906964"/>
        </p:xfrm>
        <a:graphic>
          <a:graphicData uri="http://schemas.openxmlformats.org/drawingml/2006/table">
            <a:tbl>
              <a:tblPr firstRow="1" bandRow="1">
                <a:tableStyleId>{5C22544A-7EE6-4342-B048-85BDC9FD1C3A}</a:tableStyleId>
              </a:tblPr>
              <a:tblGrid>
                <a:gridCol w="3785627">
                  <a:extLst>
                    <a:ext uri="{9D8B030D-6E8A-4147-A177-3AD203B41FA5}"/>
                  </a:extLst>
                </a:gridCol>
                <a:gridCol w="1364960">
                  <a:extLst>
                    <a:ext uri="{9D8B030D-6E8A-4147-A177-3AD203B41FA5}"/>
                  </a:extLst>
                </a:gridCol>
                <a:gridCol w="1402285">
                  <a:extLst>
                    <a:ext uri="{9D8B030D-6E8A-4147-A177-3AD203B41FA5}"/>
                  </a:extLst>
                </a:gridCol>
                <a:gridCol w="1591003">
                  <a:extLst>
                    <a:ext uri="{9D8B030D-6E8A-4147-A177-3AD203B41FA5}"/>
                  </a:extLst>
                </a:gridCol>
              </a:tblGrid>
              <a:tr h="646144">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ru-RU" sz="1800" b="1" dirty="0" smtClean="0">
                          <a:solidFill>
                            <a:schemeClr val="tx1"/>
                          </a:solidFill>
                          <a:latin typeface="+mn-lt"/>
                          <a:ea typeface="+mn-ea"/>
                          <a:cs typeface="+mn-cs"/>
                        </a:rPr>
                        <a:t>Вариант сравнения</a:t>
                      </a:r>
                      <a:endParaRPr lang="ru-RU" sz="1800" dirty="0"/>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ru-RU" sz="1800" dirty="0" smtClean="0">
                          <a:solidFill>
                            <a:schemeClr val="tx1"/>
                          </a:solidFill>
                        </a:rPr>
                        <a:t>Предикат</a:t>
                      </a:r>
                      <a:endParaRPr lang="ru-RU" sz="1800" dirty="0">
                        <a:solidFill>
                          <a:schemeClr val="tx1"/>
                        </a:solidFill>
                      </a:endParaRPr>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ru-RU" dirty="0"/>
                    </a:p>
                  </a:txBody>
                  <a:tcPr/>
                </a:tc>
                <a:tc hMerge="1">
                  <a:txBody>
                    <a:bodyPr/>
                    <a:lstStyle/>
                    <a:p>
                      <a:endParaRPr lang="ru-RU" dirty="0"/>
                    </a:p>
                  </a:txBody>
                  <a:tcPr/>
                </a:tc>
                <a:extLst>
                  <a:ext uri="{0D108BD9-81ED-4DB2-BD59-A6C34878D82A}"/>
                </a:extLst>
              </a:tr>
              <a:tr h="559031">
                <a:tc vMerge="1">
                  <a:txBody>
                    <a:bodyPr/>
                    <a:lstStyle/>
                    <a:p>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smtClean="0">
                          <a:solidFill>
                            <a:schemeClr val="tx1"/>
                          </a:solidFill>
                          <a:latin typeface="+mn-lt"/>
                          <a:ea typeface="+mn-ea"/>
                          <a:cs typeface="+mn-cs"/>
                        </a:rPr>
                        <a:t>SOME</a:t>
                      </a:r>
                      <a:endParaRPr lang="ru-RU" sz="1800" dirty="0"/>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latin typeface="+mn-lt"/>
                          <a:ea typeface="+mn-ea"/>
                          <a:cs typeface="+mn-cs"/>
                        </a:rPr>
                        <a:t>ANY</a:t>
                      </a:r>
                      <a:endParaRPr lang="ru-RU" sz="1800" dirty="0" smtClean="0">
                        <a:solidFill>
                          <a:schemeClr val="tx1"/>
                        </a:solidFill>
                        <a:latin typeface="+mn-lt"/>
                        <a:ea typeface="+mn-ea"/>
                        <a:cs typeface="+mn-cs"/>
                      </a:endParaRPr>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latin typeface="+mn-lt"/>
                          <a:ea typeface="+mn-ea"/>
                          <a:cs typeface="+mn-cs"/>
                        </a:rPr>
                        <a:t>All</a:t>
                      </a:r>
                      <a:endParaRPr lang="ru-RU" sz="1800" dirty="0" smtClean="0">
                        <a:solidFill>
                          <a:schemeClr val="tx1"/>
                        </a:solidFill>
                        <a:latin typeface="+mn-lt"/>
                        <a:ea typeface="+mn-ea"/>
                        <a:cs typeface="+mn-cs"/>
                      </a:endParaRPr>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9649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400" dirty="0" smtClean="0">
                          <a:solidFill>
                            <a:schemeClr val="tx1"/>
                          </a:solidFill>
                          <a:latin typeface="+mn-lt"/>
                          <a:ea typeface="+mn-ea"/>
                          <a:cs typeface="+mn-cs"/>
                        </a:rPr>
                        <a:t>Результат сравнения конструктора значений строки с каждой строкой из набора строк, полученных как подзапрос, равен TRUE</a:t>
                      </a:r>
                      <a:endParaRPr lang="ru-RU" sz="1400" dirty="0"/>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TRUE</a:t>
                      </a:r>
                      <a:endParaRPr lang="ru-RU" sz="1800" dirty="0" smtClean="0">
                        <a:solidFill>
                          <a:schemeClr val="tx1"/>
                        </a:solidFill>
                        <a:latin typeface="+mn-lt"/>
                        <a:ea typeface="+mn-ea"/>
                        <a:cs typeface="+mn-cs"/>
                      </a:endParaRPr>
                    </a:p>
                    <a:p>
                      <a:pPr algn="ctr"/>
                      <a:endParaRPr lang="ru-RU" sz="1800" dirty="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TRUE</a:t>
                      </a:r>
                      <a:endParaRPr lang="ru-RU" sz="1800" dirty="0" smtClean="0">
                        <a:solidFill>
                          <a:schemeClr val="tx1"/>
                        </a:solidFill>
                        <a:latin typeface="+mn-lt"/>
                        <a:ea typeface="+mn-ea"/>
                        <a:cs typeface="+mn-cs"/>
                      </a:endParaRPr>
                    </a:p>
                    <a:p>
                      <a:pPr algn="ctr"/>
                      <a:endParaRPr lang="ru-RU" sz="1800" dirty="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TRUE</a:t>
                      </a:r>
                      <a:endParaRPr lang="ru-RU" sz="1800" dirty="0" smtClean="0">
                        <a:solidFill>
                          <a:schemeClr val="tx1"/>
                        </a:solidFill>
                        <a:latin typeface="+mn-lt"/>
                        <a:ea typeface="+mn-ea"/>
                        <a:cs typeface="+mn-cs"/>
                      </a:endParaRPr>
                    </a:p>
                    <a:p>
                      <a:pPr algn="ctr"/>
                      <a:endParaRPr lang="ru-RU" sz="1800" b="1" dirty="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643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400" kern="1200" dirty="0" smtClean="0">
                          <a:solidFill>
                            <a:schemeClr val="tx1"/>
                          </a:solidFill>
                          <a:latin typeface="+mn-lt"/>
                          <a:ea typeface="+mn-ea"/>
                          <a:cs typeface="+mn-cs"/>
                        </a:rPr>
                        <a:t>Результат выполнения подзапроса не содержит строк для сравнения</a:t>
                      </a:r>
                      <a:endParaRPr lang="ru-RU" sz="1400" dirty="0"/>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solidFill>
                            <a:schemeClr val="tx1"/>
                          </a:solidFill>
                          <a:latin typeface="+mn-lt"/>
                          <a:ea typeface="+mn-ea"/>
                          <a:cs typeface="+mn-cs"/>
                        </a:rPr>
                        <a:t>FALSE</a:t>
                      </a:r>
                      <a:endParaRPr lang="ru-RU" sz="1800" dirty="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solidFill>
                            <a:schemeClr val="tx1"/>
                          </a:solidFill>
                          <a:latin typeface="+mn-lt"/>
                          <a:ea typeface="+mn-ea"/>
                          <a:cs typeface="+mn-cs"/>
                        </a:rPr>
                        <a:t>FALSE</a:t>
                      </a:r>
                      <a:endParaRPr lang="ru-RU" sz="1800" dirty="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TRUE</a:t>
                      </a:r>
                      <a:endParaRPr lang="ru-RU" sz="1800" dirty="0" smtClean="0">
                        <a:solidFill>
                          <a:schemeClr val="tx1"/>
                        </a:solidFill>
                        <a:latin typeface="+mn-lt"/>
                        <a:ea typeface="+mn-ea"/>
                        <a:cs typeface="+mn-cs"/>
                      </a:endParaRPr>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9449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400" kern="1200" dirty="0" smtClean="0">
                          <a:solidFill>
                            <a:schemeClr val="tx1"/>
                          </a:solidFill>
                          <a:latin typeface="+mn-lt"/>
                          <a:ea typeface="+mn-ea"/>
                          <a:cs typeface="+mn-cs"/>
                        </a:rPr>
                        <a:t>Результат сравнения конструктора значений строки с каждой строкой из набора строк, полученных как подзапрос, равен FALSE</a:t>
                      </a:r>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FALSE</a:t>
                      </a:r>
                      <a:endParaRPr lang="ru-RU" sz="1800" dirty="0" smtClean="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FALSE</a:t>
                      </a:r>
                      <a:endParaRPr lang="ru-RU" sz="1800" dirty="0" smtClean="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FALSE</a:t>
                      </a:r>
                      <a:endParaRPr lang="ru-RU" sz="1800" dirty="0" smtClean="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r h="11486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400" kern="1200" dirty="0" smtClean="0">
                          <a:solidFill>
                            <a:schemeClr val="tx1"/>
                          </a:solidFill>
                          <a:latin typeface="+mn-lt"/>
                          <a:ea typeface="+mn-ea"/>
                          <a:cs typeface="+mn-cs"/>
                        </a:rPr>
                        <a:t>Хотя бы один из результатов сравнения конструктора значений строки со строкой из набора строк, полученных как подзапрос, равен TRUE</a:t>
                      </a:r>
                    </a:p>
                  </a:txBody>
                  <a:tcPr marL="91439" marR="91439"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TRUE</a:t>
                      </a:r>
                      <a:endParaRPr lang="ru-RU" sz="1800" dirty="0" smtClean="0">
                        <a:solidFill>
                          <a:schemeClr val="tx1"/>
                        </a:solidFill>
                        <a:latin typeface="+mn-lt"/>
                        <a:ea typeface="+mn-ea"/>
                        <a:cs typeface="+mn-cs"/>
                      </a:endParaRPr>
                    </a:p>
                    <a:p>
                      <a:pPr algn="ctr"/>
                      <a:endParaRPr lang="ru-RU" sz="1800" dirty="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latin typeface="+mn-lt"/>
                          <a:ea typeface="+mn-ea"/>
                          <a:cs typeface="+mn-cs"/>
                        </a:rPr>
                        <a:t>TRUE</a:t>
                      </a:r>
                      <a:endParaRPr lang="ru-RU" sz="1800" dirty="0" smtClean="0">
                        <a:solidFill>
                          <a:schemeClr val="tx1"/>
                        </a:solidFill>
                        <a:latin typeface="+mn-lt"/>
                        <a:ea typeface="+mn-ea"/>
                        <a:cs typeface="+mn-cs"/>
                      </a:endParaRPr>
                    </a:p>
                    <a:p>
                      <a:pPr algn="ctr"/>
                      <a:endParaRPr lang="ru-RU" sz="1800" dirty="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UNKNOWN</a:t>
                      </a:r>
                      <a:endParaRPr lang="ru-RU" sz="1800" dirty="0"/>
                    </a:p>
                  </a:txBody>
                  <a:tcPr marL="91439" marR="91439"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extLst>
              </a:tr>
            </a:tbl>
          </a:graphicData>
        </a:graphic>
      </p:graphicFrame>
      <p:sp>
        <p:nvSpPr>
          <p:cNvPr id="24614" name="Номер слайда 4"/>
          <p:cNvSpPr>
            <a:spLocks noGrp="1"/>
          </p:cNvSpPr>
          <p:nvPr>
            <p:ph type="sldNum" sz="quarter" idx="11"/>
          </p:nvPr>
        </p:nvSpPr>
        <p:spPr>
          <a:noFill/>
          <a:ln>
            <a:miter lim="800000"/>
            <a:headEnd/>
            <a:tailEnd/>
          </a:ln>
        </p:spPr>
        <p:txBody>
          <a:bodyPr/>
          <a:lstStyle/>
          <a:p>
            <a:fld id="{F62A02B2-D652-493B-81E8-5D44BD1E94C9}" type="slidenum">
              <a:rPr lang="ru-RU" altLang="ru-RU" smtClean="0"/>
              <a:pPr/>
              <a:t>22</a:t>
            </a:fld>
            <a:endParaRPr lang="ru-RU" altLang="ru-RU"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Заголовок 1"/>
          <p:cNvSpPr>
            <a:spLocks noGrp="1"/>
          </p:cNvSpPr>
          <p:nvPr>
            <p:ph type="title"/>
          </p:nvPr>
        </p:nvSpPr>
        <p:spPr>
          <a:xfrm>
            <a:off x="468313" y="0"/>
            <a:ext cx="8229600" cy="739775"/>
          </a:xfrm>
        </p:spPr>
        <p:txBody>
          <a:bodyPr/>
          <a:lstStyle/>
          <a:p>
            <a:pPr algn="ctr"/>
            <a:r>
              <a:rPr lang="ru-RU" altLang="ru-RU" smtClean="0">
                <a:solidFill>
                  <a:schemeClr val="bg2"/>
                </a:solidFill>
              </a:rPr>
              <a:t>Примеры</a:t>
            </a:r>
          </a:p>
        </p:txBody>
      </p:sp>
      <p:sp>
        <p:nvSpPr>
          <p:cNvPr id="24579" name="Объект 2"/>
          <p:cNvSpPr>
            <a:spLocks noGrp="1"/>
          </p:cNvSpPr>
          <p:nvPr>
            <p:ph idx="1"/>
          </p:nvPr>
        </p:nvSpPr>
        <p:spPr>
          <a:xfrm>
            <a:off x="250825" y="765175"/>
            <a:ext cx="8447088" cy="5832475"/>
          </a:xfrm>
        </p:spPr>
        <p:txBody>
          <a:bodyPr/>
          <a:lstStyle/>
          <a:p>
            <a:pPr marL="0" indent="0">
              <a:buFont typeface="Wingdings" pitchFamily="2" charset="2"/>
              <a:buNone/>
            </a:pPr>
            <a:r>
              <a:rPr lang="en-US" altLang="ru-RU" sz="2400" smtClean="0"/>
              <a:t>1. SELECT Snum, Sname</a:t>
            </a:r>
          </a:p>
          <a:p>
            <a:pPr marL="0" indent="0">
              <a:buFont typeface="Wingdings" pitchFamily="2" charset="2"/>
              <a:buNone/>
            </a:pPr>
            <a:r>
              <a:rPr lang="en-US" altLang="ru-RU" sz="2400" smtClean="0"/>
              <a:t>     FROM </a:t>
            </a:r>
            <a:r>
              <a:rPr lang="ru-RU" altLang="ru-RU" sz="2400" smtClean="0"/>
              <a:t>Salespeople</a:t>
            </a:r>
            <a:endParaRPr lang="en-US" altLang="ru-RU" sz="2400" smtClean="0"/>
          </a:p>
          <a:p>
            <a:pPr marL="0" indent="0">
              <a:buFont typeface="Wingdings" pitchFamily="2" charset="2"/>
              <a:buNone/>
            </a:pPr>
            <a:r>
              <a:rPr lang="en-US" altLang="ru-RU" sz="2400" smtClean="0"/>
              <a:t>     WHERE City=‘</a:t>
            </a:r>
            <a:r>
              <a:rPr lang="ru-RU" altLang="ru-RU" sz="2400" smtClean="0"/>
              <a:t>Новосибирск</a:t>
            </a:r>
            <a:r>
              <a:rPr lang="en-US" altLang="ru-RU" sz="2400" smtClean="0"/>
              <a:t>’;</a:t>
            </a:r>
          </a:p>
          <a:p>
            <a:pPr marL="0" indent="0">
              <a:buFont typeface="Wingdings" pitchFamily="2" charset="2"/>
              <a:buNone/>
            </a:pPr>
            <a:endParaRPr lang="en-US" altLang="ru-RU" smtClean="0"/>
          </a:p>
          <a:p>
            <a:pPr marL="0" indent="0">
              <a:buFont typeface="Wingdings" pitchFamily="2" charset="2"/>
              <a:buNone/>
            </a:pPr>
            <a:endParaRPr lang="en-US" altLang="ru-RU" smtClean="0"/>
          </a:p>
          <a:p>
            <a:pPr marL="0" indent="0">
              <a:buFont typeface="Wingdings" pitchFamily="2" charset="2"/>
              <a:buNone/>
            </a:pPr>
            <a:r>
              <a:rPr lang="en-US" altLang="ru-RU" sz="2600" smtClean="0"/>
              <a:t>2</a:t>
            </a:r>
            <a:r>
              <a:rPr lang="ru-RU" altLang="ru-RU" sz="2600" smtClean="0"/>
              <a:t>. </a:t>
            </a:r>
            <a:r>
              <a:rPr lang="en-US" altLang="ru-RU" sz="2600" smtClean="0"/>
              <a:t>SELECT </a:t>
            </a:r>
            <a:r>
              <a:rPr lang="ru-RU" altLang="ru-RU" sz="2600" smtClean="0"/>
              <a:t>С</a:t>
            </a:r>
            <a:r>
              <a:rPr lang="en-US" altLang="ru-RU" sz="2600" smtClean="0"/>
              <a:t>name</a:t>
            </a:r>
            <a:r>
              <a:rPr lang="ru-RU" altLang="ru-RU" sz="2600" smtClean="0"/>
              <a:t>, </a:t>
            </a:r>
            <a:r>
              <a:rPr lang="en-US" altLang="ru-RU" sz="2600" smtClean="0"/>
              <a:t>City</a:t>
            </a:r>
          </a:p>
          <a:p>
            <a:pPr marL="0" indent="0">
              <a:buFont typeface="Wingdings" pitchFamily="2" charset="2"/>
              <a:buNone/>
            </a:pPr>
            <a:r>
              <a:rPr lang="en-US" altLang="ru-RU" sz="2600" smtClean="0"/>
              <a:t>     FROM Customers</a:t>
            </a:r>
          </a:p>
          <a:p>
            <a:pPr marL="0" indent="0">
              <a:buFont typeface="Wingdings" pitchFamily="2" charset="2"/>
              <a:buNone/>
            </a:pPr>
            <a:r>
              <a:rPr lang="en-US" altLang="ru-RU" sz="2600" smtClean="0"/>
              <a:t>     WHERE Rating between 100 and 200 </a:t>
            </a:r>
          </a:p>
          <a:p>
            <a:pPr marL="0" indent="0">
              <a:buFont typeface="Wingdings" pitchFamily="2" charset="2"/>
              <a:buNone/>
            </a:pPr>
            <a:endParaRPr lang="en-US" altLang="ru-RU" smtClean="0"/>
          </a:p>
          <a:p>
            <a:pPr marL="0" indent="0">
              <a:buFont typeface="Wingdings" pitchFamily="2" charset="2"/>
              <a:buNone/>
            </a:pPr>
            <a:r>
              <a:rPr lang="en-US" altLang="ru-RU" smtClean="0"/>
              <a:t>	</a:t>
            </a:r>
          </a:p>
          <a:p>
            <a:pPr marL="0" indent="0">
              <a:buFont typeface="Wingdings" pitchFamily="2" charset="2"/>
              <a:buNone/>
            </a:pPr>
            <a:endParaRPr lang="ru-RU" altLang="ru-RU" smtClean="0"/>
          </a:p>
        </p:txBody>
      </p:sp>
      <p:graphicFrame>
        <p:nvGraphicFramePr>
          <p:cNvPr id="5" name="Таблица 4"/>
          <p:cNvGraphicFramePr>
            <a:graphicFrameLocks noGrp="1"/>
          </p:cNvGraphicFramePr>
          <p:nvPr/>
        </p:nvGraphicFramePr>
        <p:xfrm>
          <a:off x="684213" y="2133600"/>
          <a:ext cx="6096000" cy="1112838"/>
        </p:xfrm>
        <a:graphic>
          <a:graphicData uri="http://schemas.openxmlformats.org/drawingml/2006/table">
            <a:tbl>
              <a:tblPr firstRow="1" bandRow="1">
                <a:tableStyleId>{21E4AEA4-8DFA-4A89-87EB-49C32662AFE0}</a:tableStyleId>
              </a:tblPr>
              <a:tblGrid>
                <a:gridCol w="3048000">
                  <a:extLst>
                    <a:ext uri="{9D8B030D-6E8A-4147-A177-3AD203B41FA5}"/>
                  </a:extLst>
                </a:gridCol>
                <a:gridCol w="3048000">
                  <a:extLst>
                    <a:ext uri="{9D8B030D-6E8A-4147-A177-3AD203B41FA5}"/>
                  </a:extLst>
                </a:gridCol>
              </a:tblGrid>
              <a:tr h="370946">
                <a:tc>
                  <a:txBody>
                    <a:bodyPr/>
                    <a:lstStyle/>
                    <a:p>
                      <a:pPr algn="ctr"/>
                      <a:r>
                        <a:rPr lang="en-US" sz="1800" dirty="0" err="1" smtClean="0"/>
                        <a:t>Snum</a:t>
                      </a:r>
                      <a:endParaRPr lang="ru-RU" sz="1800" dirty="0"/>
                    </a:p>
                  </a:txBody>
                  <a:tcPr marT="45733" marB="4573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smtClean="0"/>
                        <a:t>Sname</a:t>
                      </a:r>
                      <a:endParaRPr lang="en-US" sz="1800" dirty="0" smtClean="0"/>
                    </a:p>
                  </a:txBody>
                  <a:tcPr marT="45733" marB="45733"/>
                </a:tc>
                <a:extLst>
                  <a:ext uri="{0D108BD9-81ED-4DB2-BD59-A6C34878D82A}"/>
                </a:extLst>
              </a:tr>
              <a:tr h="370946">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000" u="none" strike="noStrike" cap="none" normalizeH="0" baseline="0" dirty="0" smtClean="0">
                          <a:ln>
                            <a:noFill/>
                          </a:ln>
                          <a:effectLst/>
                        </a:rPr>
                        <a:t>1001</a:t>
                      </a:r>
                      <a:endParaRPr kumimoji="0" lang="en-US" sz="2000" b="0" i="0" u="none" strike="noStrike" cap="none" normalizeH="0" baseline="0" dirty="0" smtClean="0">
                        <a:ln>
                          <a:noFill/>
                        </a:ln>
                        <a:solidFill>
                          <a:schemeClr val="tx1"/>
                        </a:solidFill>
                        <a:effectLst/>
                        <a:latin typeface="Arial" charset="0"/>
                        <a:cs typeface="Arial" charset="0"/>
                      </a:endParaRPr>
                    </a:p>
                  </a:txBody>
                  <a:tcPr marT="45733" marB="45733" horzOverflow="overflow"/>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000" u="none" strike="noStrike" cap="none" normalizeH="0" baseline="0" dirty="0" smtClean="0">
                          <a:ln>
                            <a:noFill/>
                          </a:ln>
                          <a:effectLst/>
                        </a:rPr>
                        <a:t>Иванов</a:t>
                      </a:r>
                      <a:endParaRPr kumimoji="0" lang="ru-RU" sz="2000" b="0" i="0" u="none" strike="noStrike" cap="none" normalizeH="0" baseline="0" dirty="0" smtClean="0">
                        <a:ln>
                          <a:noFill/>
                        </a:ln>
                        <a:solidFill>
                          <a:schemeClr val="tx1"/>
                        </a:solidFill>
                        <a:effectLst/>
                        <a:latin typeface="Arial" charset="0"/>
                        <a:cs typeface="Arial" charset="0"/>
                      </a:endParaRPr>
                    </a:p>
                  </a:txBody>
                  <a:tcPr marT="45733" marB="45733" horzOverflow="overflow"/>
                </a:tc>
                <a:extLst>
                  <a:ext uri="{0D108BD9-81ED-4DB2-BD59-A6C34878D82A}"/>
                </a:extLst>
              </a:tr>
              <a:tr h="370946">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2000" u="none" strike="noStrike" cap="none" normalizeH="0" baseline="0" dirty="0" smtClean="0">
                          <a:ln>
                            <a:noFill/>
                          </a:ln>
                          <a:effectLst/>
                        </a:rPr>
                        <a:t>1004</a:t>
                      </a:r>
                      <a:endParaRPr kumimoji="0" lang="en-US" sz="2000" b="0" i="0" u="none" strike="noStrike" cap="none" normalizeH="0" baseline="0" dirty="0" smtClean="0">
                        <a:ln>
                          <a:noFill/>
                        </a:ln>
                        <a:solidFill>
                          <a:schemeClr val="tx1"/>
                        </a:solidFill>
                        <a:effectLst/>
                        <a:latin typeface="Arial" charset="0"/>
                        <a:cs typeface="Arial" charset="0"/>
                      </a:endParaRPr>
                    </a:p>
                  </a:txBody>
                  <a:tcPr marT="45733" marB="45733" horzOverflow="overflow"/>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000" u="none" strike="noStrike" cap="none" normalizeH="0" baseline="0" dirty="0" smtClean="0">
                          <a:ln>
                            <a:noFill/>
                          </a:ln>
                          <a:effectLst/>
                        </a:rPr>
                        <a:t>Сидоров</a:t>
                      </a:r>
                      <a:endParaRPr kumimoji="0" lang="ru-RU" sz="2000" b="0" i="0" u="none" strike="noStrike" cap="none" normalizeH="0" baseline="0" dirty="0" smtClean="0">
                        <a:ln>
                          <a:noFill/>
                        </a:ln>
                        <a:solidFill>
                          <a:schemeClr val="tx1"/>
                        </a:solidFill>
                        <a:effectLst/>
                        <a:latin typeface="Arial" charset="0"/>
                        <a:cs typeface="Arial" charset="0"/>
                      </a:endParaRPr>
                    </a:p>
                  </a:txBody>
                  <a:tcPr marT="45733" marB="45733" horzOverflow="overflow"/>
                </a:tc>
                <a:extLst>
                  <a:ext uri="{0D108BD9-81ED-4DB2-BD59-A6C34878D82A}"/>
                </a:extLst>
              </a:tr>
            </a:tbl>
          </a:graphicData>
        </a:graphic>
      </p:graphicFrame>
      <p:sp>
        <p:nvSpPr>
          <p:cNvPr id="25618" name="Номер слайда 5"/>
          <p:cNvSpPr>
            <a:spLocks noGrp="1"/>
          </p:cNvSpPr>
          <p:nvPr>
            <p:ph type="sldNum" sz="quarter" idx="11"/>
          </p:nvPr>
        </p:nvSpPr>
        <p:spPr>
          <a:noFill/>
          <a:ln>
            <a:miter lim="800000"/>
            <a:headEnd/>
            <a:tailEnd/>
          </a:ln>
        </p:spPr>
        <p:txBody>
          <a:bodyPr/>
          <a:lstStyle/>
          <a:p>
            <a:fld id="{8C6D2FA9-8E05-40C5-B2B8-C5F031C5A8E7}" type="slidenum">
              <a:rPr lang="ru-RU" altLang="ru-RU" smtClean="0"/>
              <a:pPr/>
              <a:t>23</a:t>
            </a:fld>
            <a:endParaRPr lang="ru-RU" altLang="ru-RU" smtClean="0"/>
          </a:p>
        </p:txBody>
      </p:sp>
      <p:graphicFrame>
        <p:nvGraphicFramePr>
          <p:cNvPr id="6" name="Таблица 5"/>
          <p:cNvGraphicFramePr>
            <a:graphicFrameLocks noGrp="1"/>
          </p:cNvGraphicFramePr>
          <p:nvPr/>
        </p:nvGraphicFramePr>
        <p:xfrm>
          <a:off x="827088" y="4797425"/>
          <a:ext cx="6096000" cy="1854200"/>
        </p:xfrm>
        <a:graphic>
          <a:graphicData uri="http://schemas.openxmlformats.org/drawingml/2006/table">
            <a:tbl>
              <a:tblPr firstRow="1" bandRow="1">
                <a:tableStyleId>{21E4AEA4-8DFA-4A89-87EB-49C32662AFE0}</a:tableStyleId>
              </a:tblPr>
              <a:tblGrid>
                <a:gridCol w="3048000">
                  <a:extLst>
                    <a:ext uri="{9D8B030D-6E8A-4147-A177-3AD203B41FA5}"/>
                  </a:extLst>
                </a:gridCol>
                <a:gridCol w="3048000">
                  <a:extLst>
                    <a:ext uri="{9D8B030D-6E8A-4147-A177-3AD203B41FA5}"/>
                  </a:extLst>
                </a:gridCol>
              </a:tblGrid>
              <a:tr h="370840">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800" b="1" i="0" u="none" strike="noStrike" cap="none" normalizeH="0" baseline="0" dirty="0" err="1" smtClean="0">
                          <a:ln>
                            <a:noFill/>
                          </a:ln>
                          <a:solidFill>
                            <a:schemeClr val="bg1"/>
                          </a:solidFill>
                          <a:effectLst/>
                          <a:latin typeface="+mn-lt"/>
                          <a:cs typeface="Times New Roman" pitchFamily="18" charset="0"/>
                        </a:rPr>
                        <a:t>Cname</a:t>
                      </a:r>
                      <a:endParaRPr kumimoji="0" lang="en-US" sz="1800" b="0" i="0" u="none" strike="noStrike" cap="none" normalizeH="0" baseline="0" dirty="0" smtClean="0">
                        <a:ln>
                          <a:noFill/>
                        </a:ln>
                        <a:solidFill>
                          <a:schemeClr val="bg1"/>
                        </a:solidFill>
                        <a:effectLst/>
                        <a:latin typeface="+mn-lt"/>
                        <a:cs typeface="Arial"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City</a:t>
                      </a:r>
                    </a:p>
                  </a:txBody>
                  <a:tcPr/>
                </a:tc>
                <a:extLst>
                  <a:ext uri="{0D108BD9-81ED-4DB2-BD59-A6C34878D82A}"/>
                </a:extLst>
              </a:tr>
              <a:tr h="370840">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000" b="0" i="0" u="none" strike="noStrike" cap="none" normalizeH="0" baseline="0" dirty="0" smtClean="0">
                          <a:ln>
                            <a:noFill/>
                          </a:ln>
                          <a:solidFill>
                            <a:schemeClr val="dk1"/>
                          </a:solidFill>
                          <a:effectLst/>
                          <a:latin typeface="+mn-lt"/>
                          <a:cs typeface="+mn-cs"/>
                        </a:rPr>
                        <a:t>Светин</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000" b="0" i="0" u="none" strike="noStrike" cap="none" normalizeH="0" baseline="0" dirty="0" smtClean="0">
                          <a:ln>
                            <a:noFill/>
                          </a:ln>
                          <a:solidFill>
                            <a:schemeClr val="tx1"/>
                          </a:solidFill>
                          <a:effectLst/>
                          <a:latin typeface="+mn-lt"/>
                          <a:cs typeface="Times New Roman" pitchFamily="18" charset="0"/>
                        </a:rPr>
                        <a:t>Новосибирск</a:t>
                      </a:r>
                      <a:endParaRPr kumimoji="0" lang="ru-RU" sz="2000" b="0" i="0" u="none" strike="noStrike" cap="none" normalizeH="0" baseline="0" dirty="0" smtClean="0">
                        <a:ln>
                          <a:noFill/>
                        </a:ln>
                        <a:solidFill>
                          <a:schemeClr val="tx1"/>
                        </a:solidFill>
                        <a:effectLst/>
                        <a:latin typeface="+mn-lt"/>
                        <a:cs typeface="Arial" charset="0"/>
                      </a:endParaRPr>
                    </a:p>
                  </a:txBody>
                  <a:tcPr horzOverflow="overflow"/>
                </a:tc>
                <a:extLst>
                  <a:ext uri="{0D108BD9-81ED-4DB2-BD59-A6C34878D82A}"/>
                </a:extLst>
              </a:tr>
              <a:tr h="370840">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000" u="none" strike="noStrike" cap="none" normalizeH="0" baseline="0" dirty="0" smtClean="0">
                          <a:ln>
                            <a:noFill/>
                          </a:ln>
                          <a:effectLst/>
                        </a:rPr>
                        <a:t>Казаков</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000" b="0" i="0" u="none" strike="noStrike" cap="none" normalizeH="0" baseline="0" dirty="0" smtClean="0">
                          <a:ln>
                            <a:noFill/>
                          </a:ln>
                          <a:solidFill>
                            <a:schemeClr val="tx1"/>
                          </a:solidFill>
                          <a:effectLst/>
                          <a:latin typeface="+mn-lt"/>
                          <a:cs typeface="Times New Roman" pitchFamily="18" charset="0"/>
                        </a:rPr>
                        <a:t>Барнаул</a:t>
                      </a:r>
                      <a:endParaRPr kumimoji="0" lang="ru-RU" sz="2000" b="0" i="0" u="none" strike="noStrike" cap="none" normalizeH="0" baseline="0" dirty="0" smtClean="0">
                        <a:ln>
                          <a:noFill/>
                        </a:ln>
                        <a:solidFill>
                          <a:schemeClr val="tx1"/>
                        </a:solidFill>
                        <a:effectLst/>
                        <a:latin typeface="+mn-lt"/>
                        <a:cs typeface="Arial" charset="0"/>
                      </a:endParaRPr>
                    </a:p>
                  </a:txBody>
                  <a:tcPr horzOverflow="overflow"/>
                </a:tc>
                <a:extLst>
                  <a:ext uri="{0D108BD9-81ED-4DB2-BD59-A6C34878D82A}"/>
                </a:extLst>
              </a:tr>
              <a:tr h="370840">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000" b="0" i="0" u="none" strike="noStrike" cap="none" normalizeH="0" baseline="0" dirty="0" smtClean="0">
                          <a:ln>
                            <a:noFill/>
                          </a:ln>
                          <a:solidFill>
                            <a:schemeClr val="tx1"/>
                          </a:solidFill>
                          <a:effectLst/>
                          <a:latin typeface="Arial" charset="0"/>
                          <a:cs typeface="Arial" charset="0"/>
                        </a:rPr>
                        <a:t>Руднев</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ru-RU" sz="2000" b="0" i="0" u="none" strike="noStrike" cap="none" normalizeH="0" baseline="0" dirty="0" smtClean="0">
                          <a:ln>
                            <a:noFill/>
                          </a:ln>
                          <a:solidFill>
                            <a:schemeClr val="tx1"/>
                          </a:solidFill>
                          <a:effectLst/>
                          <a:latin typeface="+mn-lt"/>
                          <a:cs typeface="Times New Roman" pitchFamily="18" charset="0"/>
                        </a:rPr>
                        <a:t>Кемерово</a:t>
                      </a:r>
                      <a:endParaRPr kumimoji="0" lang="ru-RU" sz="2000" b="0" i="0" u="none" strike="noStrike" cap="none" normalizeH="0" baseline="0" dirty="0" smtClean="0">
                        <a:ln>
                          <a:noFill/>
                        </a:ln>
                        <a:solidFill>
                          <a:schemeClr val="tx1"/>
                        </a:solidFill>
                        <a:effectLst/>
                        <a:latin typeface="+mn-lt"/>
                        <a:cs typeface="Arial" charset="0"/>
                      </a:endParaRPr>
                    </a:p>
                  </a:txBody>
                  <a:tcPr horzOverflow="overflow"/>
                </a:tc>
                <a:extLst>
                  <a:ext uri="{0D108BD9-81ED-4DB2-BD59-A6C34878D82A}"/>
                </a:extLst>
              </a:tr>
              <a:tr h="370840">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2000" b="0" i="0" u="none" strike="noStrike" cap="none" normalizeH="0" baseline="0" dirty="0" smtClean="0">
                          <a:ln>
                            <a:noFill/>
                          </a:ln>
                          <a:solidFill>
                            <a:schemeClr val="tx1"/>
                          </a:solidFill>
                          <a:effectLst/>
                          <a:latin typeface="Arial" charset="0"/>
                          <a:cs typeface="Arial" charset="0"/>
                        </a:rPr>
                        <a:t>Синицын</a:t>
                      </a:r>
                      <a:endParaRPr kumimoji="0" lang="en-US" sz="2000" b="0" i="0" u="none" strike="noStrike" cap="none" normalizeH="0" baseline="0" dirty="0" smtClean="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ru-RU" sz="2000" b="0" i="0" u="none" strike="noStrike" cap="none" normalizeH="0" baseline="0" dirty="0" smtClean="0">
                          <a:ln>
                            <a:noFill/>
                          </a:ln>
                          <a:solidFill>
                            <a:schemeClr val="tx1"/>
                          </a:solidFill>
                          <a:effectLst/>
                          <a:latin typeface="+mn-lt"/>
                          <a:cs typeface="Times New Roman" pitchFamily="18" charset="0"/>
                        </a:rPr>
                        <a:t>Барнаул</a:t>
                      </a:r>
                      <a:endParaRPr kumimoji="0" lang="ru-RU" sz="2000" b="0" i="0" u="none" strike="noStrike" cap="none" normalizeH="0" baseline="0" dirty="0" smtClean="0">
                        <a:ln>
                          <a:noFill/>
                        </a:ln>
                        <a:solidFill>
                          <a:schemeClr val="tx1"/>
                        </a:solidFill>
                        <a:effectLst/>
                        <a:latin typeface="+mn-lt"/>
                        <a:cs typeface="Arial" charset="0"/>
                      </a:endParaRPr>
                    </a:p>
                  </a:txBody>
                  <a:tcPr horzOverflow="overflow"/>
                </a:tc>
                <a:extLst>
                  <a:ext uri="{0D108BD9-81ED-4DB2-BD59-A6C34878D82A}"/>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fade">
                                      <p:cBhvr>
                                        <p:cTn id="7" dur="2000"/>
                                        <p:tgtEl>
                                          <p:spTgt spid="2457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579">
                                            <p:txEl>
                                              <p:pRg st="1" end="1"/>
                                            </p:txEl>
                                          </p:spTgt>
                                        </p:tgtEl>
                                        <p:attrNameLst>
                                          <p:attrName>style.visibility</p:attrName>
                                        </p:attrNameLst>
                                      </p:cBhvr>
                                      <p:to>
                                        <p:strVal val="visible"/>
                                      </p:to>
                                    </p:set>
                                    <p:animEffect transition="in" filter="fade">
                                      <p:cBhvr>
                                        <p:cTn id="10" dur="2000"/>
                                        <p:tgtEl>
                                          <p:spTgt spid="2457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Effect transition="in" filter="fade">
                                      <p:cBhvr>
                                        <p:cTn id="13" dur="2000"/>
                                        <p:tgtEl>
                                          <p:spTgt spid="2457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579">
                                            <p:txEl>
                                              <p:pRg st="5" end="5"/>
                                            </p:txEl>
                                          </p:spTgt>
                                        </p:tgtEl>
                                        <p:attrNameLst>
                                          <p:attrName>style.visibility</p:attrName>
                                        </p:attrNameLst>
                                      </p:cBhvr>
                                      <p:to>
                                        <p:strVal val="visible"/>
                                      </p:to>
                                    </p:set>
                                    <p:animEffect transition="in" filter="fade">
                                      <p:cBhvr>
                                        <p:cTn id="21" dur="2000"/>
                                        <p:tgtEl>
                                          <p:spTgt spid="24579">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579">
                                            <p:txEl>
                                              <p:pRg st="6" end="6"/>
                                            </p:txEl>
                                          </p:spTgt>
                                        </p:tgtEl>
                                        <p:attrNameLst>
                                          <p:attrName>style.visibility</p:attrName>
                                        </p:attrNameLst>
                                      </p:cBhvr>
                                      <p:to>
                                        <p:strVal val="visible"/>
                                      </p:to>
                                    </p:set>
                                    <p:animEffect transition="in" filter="fade">
                                      <p:cBhvr>
                                        <p:cTn id="24" dur="2000"/>
                                        <p:tgtEl>
                                          <p:spTgt spid="24579">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579">
                                            <p:txEl>
                                              <p:pRg st="7" end="7"/>
                                            </p:txEl>
                                          </p:spTgt>
                                        </p:tgtEl>
                                        <p:attrNameLst>
                                          <p:attrName>style.visibility</p:attrName>
                                        </p:attrNameLst>
                                      </p:cBhvr>
                                      <p:to>
                                        <p:strVal val="visible"/>
                                      </p:to>
                                    </p:set>
                                    <p:animEffect transition="in" filter="fade">
                                      <p:cBhvr>
                                        <p:cTn id="27" dur="2000"/>
                                        <p:tgtEl>
                                          <p:spTgt spid="24579">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4579">
                                            <p:txEl>
                                              <p:pRg st="9" end="9"/>
                                            </p:txEl>
                                          </p:spTgt>
                                        </p:tgtEl>
                                        <p:attrNameLst>
                                          <p:attrName>style.visibility</p:attrName>
                                        </p:attrNameLst>
                                      </p:cBhvr>
                                      <p:to>
                                        <p:strVal val="visible"/>
                                      </p:to>
                                    </p:set>
                                    <p:animEffect transition="in" filter="fade">
                                      <p:cBhvr>
                                        <p:cTn id="30" dur="2000"/>
                                        <p:tgtEl>
                                          <p:spTgt spid="24579">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up)">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Заголовок 1"/>
          <p:cNvSpPr>
            <a:spLocks noGrp="1"/>
          </p:cNvSpPr>
          <p:nvPr>
            <p:ph type="title"/>
          </p:nvPr>
        </p:nvSpPr>
        <p:spPr>
          <a:xfrm>
            <a:off x="395288" y="0"/>
            <a:ext cx="8229600" cy="739775"/>
          </a:xfrm>
        </p:spPr>
        <p:txBody>
          <a:bodyPr/>
          <a:lstStyle/>
          <a:p>
            <a:pPr algn="ctr"/>
            <a:r>
              <a:rPr lang="ru-RU" altLang="ru-RU" sz="4000" smtClean="0">
                <a:solidFill>
                  <a:schemeClr val="bg2"/>
                </a:solidFill>
              </a:rPr>
              <a:t>Агрегатные функции</a:t>
            </a:r>
          </a:p>
        </p:txBody>
      </p:sp>
      <p:sp>
        <p:nvSpPr>
          <p:cNvPr id="25603" name="Объект 2"/>
          <p:cNvSpPr>
            <a:spLocks noGrp="1"/>
          </p:cNvSpPr>
          <p:nvPr>
            <p:ph idx="1"/>
          </p:nvPr>
        </p:nvSpPr>
        <p:spPr>
          <a:xfrm>
            <a:off x="395288" y="620713"/>
            <a:ext cx="8497887" cy="6121400"/>
          </a:xfrm>
        </p:spPr>
        <p:txBody>
          <a:bodyPr>
            <a:normAutofit fontScale="92500" lnSpcReduction="10000"/>
          </a:bodyPr>
          <a:lstStyle/>
          <a:p>
            <a:pPr marL="0" indent="0">
              <a:lnSpc>
                <a:spcPct val="120000"/>
              </a:lnSpc>
              <a:buFont typeface="Wingdings" pitchFamily="2" charset="2"/>
              <a:buNone/>
              <a:defRPr/>
            </a:pPr>
            <a:r>
              <a:rPr lang="ru-RU" altLang="ru-RU" sz="1600" b="1" dirty="0" smtClean="0"/>
              <a:t>Агрегатные функции </a:t>
            </a:r>
            <a:r>
              <a:rPr lang="ru-RU" altLang="ru-RU" sz="1600" dirty="0" smtClean="0"/>
              <a:t>(еще называют функции множества) в качестве параметров имеют группу значений, указанных в запросе (или подзапросе) в предложении </a:t>
            </a:r>
            <a:r>
              <a:rPr lang="en-US" altLang="ru-RU" sz="1600" dirty="0" smtClean="0"/>
              <a:t>SELECT </a:t>
            </a:r>
            <a:r>
              <a:rPr lang="ru-RU" altLang="ru-RU" sz="1600" dirty="0" smtClean="0"/>
              <a:t>или </a:t>
            </a:r>
            <a:r>
              <a:rPr lang="en-US" altLang="ru-RU" sz="1600" dirty="0" smtClean="0"/>
              <a:t>HAVING </a:t>
            </a:r>
            <a:r>
              <a:rPr lang="ru-RU" altLang="ru-RU" sz="1600" dirty="0" smtClean="0"/>
              <a:t>и вычисляют единственное значение-результат</a:t>
            </a:r>
          </a:p>
          <a:p>
            <a:pPr marL="0" indent="0">
              <a:lnSpc>
                <a:spcPct val="120000"/>
              </a:lnSpc>
              <a:buFont typeface="Wingdings" pitchFamily="2" charset="2"/>
              <a:buNone/>
              <a:defRPr/>
            </a:pPr>
            <a:endParaRPr lang="ru-RU" altLang="ru-RU" sz="1600" b="1" dirty="0" smtClean="0"/>
          </a:p>
          <a:p>
            <a:pPr marL="0" indent="0">
              <a:lnSpc>
                <a:spcPct val="120000"/>
              </a:lnSpc>
              <a:buFont typeface="Wingdings" pitchFamily="2" charset="2"/>
              <a:buNone/>
              <a:defRPr/>
            </a:pPr>
            <a:r>
              <a:rPr lang="ru-RU" altLang="ru-RU" sz="1600" b="1" dirty="0" smtClean="0"/>
              <a:t>COUNT (*) </a:t>
            </a:r>
            <a:r>
              <a:rPr lang="ru-RU" altLang="ru-RU" sz="1600" dirty="0" smtClean="0"/>
              <a:t>функция подсчитывает количество строк , получаемых по запросу.  Не учитываются значения отдельных столбцов и результат не зависит от того указан ли параметр </a:t>
            </a:r>
            <a:r>
              <a:rPr lang="en-US" altLang="ru-RU" sz="1600" dirty="0" smtClean="0"/>
              <a:t>DISTINCT </a:t>
            </a:r>
            <a:r>
              <a:rPr lang="ru-RU" altLang="ru-RU" sz="1600" dirty="0" smtClean="0"/>
              <a:t>или имеются значения </a:t>
            </a:r>
            <a:r>
              <a:rPr lang="en-US" altLang="ru-RU" sz="1600" dirty="0" smtClean="0"/>
              <a:t>NULL</a:t>
            </a:r>
            <a:r>
              <a:rPr lang="ru-RU" altLang="ru-RU" sz="1600" dirty="0" smtClean="0"/>
              <a:t>.</a:t>
            </a:r>
            <a:endParaRPr lang="ru-RU" altLang="ru-RU" sz="1600" b="1" dirty="0" smtClean="0"/>
          </a:p>
          <a:p>
            <a:pPr marL="0" indent="0">
              <a:lnSpc>
                <a:spcPct val="120000"/>
              </a:lnSpc>
              <a:buFont typeface="Wingdings" pitchFamily="2" charset="2"/>
              <a:buNone/>
              <a:defRPr/>
            </a:pPr>
            <a:r>
              <a:rPr lang="ru-RU" altLang="ru-RU" sz="1600" b="1" dirty="0" smtClean="0"/>
              <a:t>COUNT</a:t>
            </a:r>
            <a:r>
              <a:rPr lang="ru-RU" altLang="ru-RU" sz="1600" dirty="0" smtClean="0"/>
              <a:t> - автоматически </a:t>
            </a:r>
            <a:r>
              <a:rPr lang="ru-RU" altLang="ru-RU" sz="1600" b="1" dirty="0" smtClean="0"/>
              <a:t>отбрасывает</a:t>
            </a:r>
            <a:r>
              <a:rPr lang="en-US" altLang="ru-RU" sz="1600" b="1" dirty="0" smtClean="0"/>
              <a:t> </a:t>
            </a:r>
            <a:r>
              <a:rPr lang="ru-RU" altLang="ru-RU" sz="1600" b="1" dirty="0" smtClean="0"/>
              <a:t>(игнорирует), как и все другие агрегатные функции значения </a:t>
            </a:r>
            <a:r>
              <a:rPr lang="en-US" altLang="ru-RU" sz="1600" b="1" dirty="0" smtClean="0"/>
              <a:t>NULL</a:t>
            </a:r>
            <a:r>
              <a:rPr lang="ru-RU" altLang="ru-RU" sz="1600" b="1" dirty="0" smtClean="0"/>
              <a:t> </a:t>
            </a:r>
            <a:r>
              <a:rPr lang="ru-RU" altLang="ru-RU" sz="1600" dirty="0" smtClean="0"/>
              <a:t>и выдает кол-во строк для </a:t>
            </a:r>
            <a:r>
              <a:rPr lang="ru-RU" altLang="ru-RU" sz="1600" dirty="0" err="1" smtClean="0"/>
              <a:t>не-NULL</a:t>
            </a:r>
            <a:r>
              <a:rPr lang="ru-RU" altLang="ru-RU" sz="1600" dirty="0" smtClean="0"/>
              <a:t> значения полей которые выбрал запрос. </a:t>
            </a:r>
            <a:endParaRPr lang="en-US" altLang="ru-RU" sz="1600" dirty="0" smtClean="0"/>
          </a:p>
          <a:p>
            <a:pPr marL="0" indent="0">
              <a:lnSpc>
                <a:spcPct val="120000"/>
              </a:lnSpc>
              <a:buFont typeface="Wingdings" pitchFamily="2" charset="2"/>
              <a:buNone/>
              <a:defRPr/>
            </a:pPr>
            <a:r>
              <a:rPr lang="ru-RU" altLang="ru-RU" sz="1600" b="1" dirty="0" smtClean="0"/>
              <a:t>AVG</a:t>
            </a:r>
            <a:r>
              <a:rPr lang="ru-RU" altLang="ru-RU" sz="1600" dirty="0" smtClean="0"/>
              <a:t> - вычисляет среднее арифметическое (среднее) значение  для указанных элементов. Можно использовать только для типов данных: </a:t>
            </a:r>
            <a:r>
              <a:rPr lang="en-US" altLang="ru-RU" sz="1600" dirty="0" smtClean="0"/>
              <a:t>NUMERIC (</a:t>
            </a:r>
            <a:r>
              <a:rPr lang="ru-RU" altLang="ru-RU" sz="1600" dirty="0" smtClean="0"/>
              <a:t>цифровой) и </a:t>
            </a:r>
            <a:r>
              <a:rPr lang="en-US" altLang="ru-RU" sz="1600" dirty="0" smtClean="0"/>
              <a:t> INTERVAL (</a:t>
            </a:r>
            <a:r>
              <a:rPr lang="ru-RU" altLang="ru-RU" sz="1600" dirty="0" smtClean="0"/>
              <a:t>интервал)</a:t>
            </a:r>
          </a:p>
          <a:p>
            <a:pPr marL="0" indent="0">
              <a:lnSpc>
                <a:spcPct val="120000"/>
              </a:lnSpc>
              <a:buFont typeface="Wingdings" pitchFamily="2" charset="2"/>
              <a:buNone/>
              <a:defRPr/>
            </a:pPr>
            <a:r>
              <a:rPr lang="ru-RU" altLang="ru-RU" sz="1600" b="1" dirty="0" smtClean="0"/>
              <a:t>SUM</a:t>
            </a:r>
            <a:r>
              <a:rPr lang="ru-RU" altLang="ru-RU" sz="1600" dirty="0" smtClean="0"/>
              <a:t> - выдает арифметическую сумму значений. Может использоваться для тех же типов, что и </a:t>
            </a:r>
            <a:r>
              <a:rPr lang="en-US" altLang="ru-RU" sz="1600" dirty="0" smtClean="0"/>
              <a:t>AVG</a:t>
            </a:r>
            <a:r>
              <a:rPr lang="ru-RU" altLang="ru-RU" sz="1600" dirty="0" smtClean="0"/>
              <a:t>.</a:t>
            </a:r>
            <a:endParaRPr lang="en-US" altLang="ru-RU" sz="1600" dirty="0" smtClean="0"/>
          </a:p>
          <a:p>
            <a:pPr marL="0" indent="0">
              <a:lnSpc>
                <a:spcPct val="120000"/>
              </a:lnSpc>
              <a:buFont typeface="Wingdings" pitchFamily="2" charset="2"/>
              <a:buNone/>
              <a:defRPr/>
            </a:pPr>
            <a:r>
              <a:rPr lang="ru-RU" altLang="ru-RU" sz="1600" b="1" dirty="0" smtClean="0"/>
              <a:t>MAX</a:t>
            </a:r>
            <a:r>
              <a:rPr lang="ru-RU" altLang="ru-RU" sz="1600" dirty="0" smtClean="0"/>
              <a:t> - возвращает наибольшее из всех значений, вычисленных на основе правила предикатов сравнения. Может использоваться для любых типов данных. </a:t>
            </a:r>
            <a:endParaRPr lang="en-US" altLang="ru-RU" sz="1600" dirty="0" smtClean="0"/>
          </a:p>
          <a:p>
            <a:pPr marL="0" indent="0">
              <a:lnSpc>
                <a:spcPct val="120000"/>
              </a:lnSpc>
              <a:buFont typeface="Wingdings" pitchFamily="2" charset="2"/>
              <a:buNone/>
              <a:defRPr/>
            </a:pPr>
            <a:r>
              <a:rPr lang="ru-RU" altLang="ru-RU" sz="1600" b="1" dirty="0" smtClean="0"/>
              <a:t>MIN</a:t>
            </a:r>
            <a:r>
              <a:rPr lang="ru-RU" altLang="ru-RU" sz="1600" dirty="0" smtClean="0"/>
              <a:t> - возвращает  наименьшее  из указанных значений.</a:t>
            </a:r>
          </a:p>
          <a:p>
            <a:pPr marL="0" indent="0">
              <a:lnSpc>
                <a:spcPct val="120000"/>
              </a:lnSpc>
              <a:buFont typeface="Wingdings" pitchFamily="2" charset="2"/>
              <a:buNone/>
              <a:defRPr/>
            </a:pPr>
            <a:r>
              <a:rPr lang="ru-RU" altLang="ru-RU" sz="1600" dirty="0" smtClean="0"/>
              <a:t>Агрегатные функции, включенные в предложение </a:t>
            </a:r>
            <a:r>
              <a:rPr lang="en-US" altLang="ru-RU" sz="1600" dirty="0" smtClean="0"/>
              <a:t>SELECT</a:t>
            </a:r>
            <a:r>
              <a:rPr lang="ru-RU" altLang="ru-RU" sz="1600" dirty="0" smtClean="0"/>
              <a:t>, не содержащее </a:t>
            </a:r>
            <a:r>
              <a:rPr lang="en-US" altLang="ru-RU" sz="1600" dirty="0" smtClean="0"/>
              <a:t>GROUP BY</a:t>
            </a:r>
            <a:r>
              <a:rPr lang="ru-RU" altLang="ru-RU" sz="1600" dirty="0" smtClean="0"/>
              <a:t> исполняются над всеми результирующими строками. </a:t>
            </a:r>
          </a:p>
          <a:p>
            <a:pPr marL="0" indent="0">
              <a:lnSpc>
                <a:spcPct val="120000"/>
              </a:lnSpc>
              <a:buFont typeface="Wingdings" pitchFamily="2" charset="2"/>
              <a:buNone/>
              <a:defRPr/>
            </a:pPr>
            <a:r>
              <a:rPr lang="ru-RU" altLang="ru-RU" sz="1600" dirty="0" smtClean="0"/>
              <a:t>Если запрос содержит </a:t>
            </a:r>
            <a:r>
              <a:rPr lang="en-US" altLang="ru-RU" sz="1600" dirty="0" smtClean="0"/>
              <a:t>GROUP BY</a:t>
            </a:r>
            <a:r>
              <a:rPr lang="ru-RU" altLang="ru-RU" sz="1600" dirty="0" smtClean="0"/>
              <a:t>, то агрегатные функции выполняются для каждой группы (набора строк имеющих одинаковое значение по столбцам входящим в группу) отдельно .</a:t>
            </a:r>
          </a:p>
        </p:txBody>
      </p:sp>
      <p:sp>
        <p:nvSpPr>
          <p:cNvPr id="26628" name="Номер слайда 3"/>
          <p:cNvSpPr>
            <a:spLocks noGrp="1"/>
          </p:cNvSpPr>
          <p:nvPr>
            <p:ph type="sldNum" sz="quarter" idx="11"/>
          </p:nvPr>
        </p:nvSpPr>
        <p:spPr>
          <a:xfrm>
            <a:off x="7885113" y="6248400"/>
            <a:ext cx="801687" cy="457200"/>
          </a:xfrm>
          <a:noFill/>
          <a:ln>
            <a:miter lim="800000"/>
            <a:headEnd/>
            <a:tailEnd/>
          </a:ln>
        </p:spPr>
        <p:txBody>
          <a:bodyPr/>
          <a:lstStyle/>
          <a:p>
            <a:r>
              <a:rPr lang="ru-RU" altLang="ru-RU" smtClean="0"/>
              <a:t> </a:t>
            </a:r>
            <a:fld id="{760AF1C3-64AE-4949-B131-87E3E7450B83}" type="slidenum">
              <a:rPr lang="ru-RU" altLang="ru-RU" smtClean="0"/>
              <a:pPr/>
              <a:t>24</a:t>
            </a:fld>
            <a:endParaRPr lang="ru-RU" altLang="ru-RU"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wipe(down)">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5603">
                                            <p:txEl>
                                              <p:pRg st="2" end="2"/>
                                            </p:txEl>
                                          </p:spTgt>
                                        </p:tgtEl>
                                        <p:attrNameLst>
                                          <p:attrName>style.visibility</p:attrName>
                                        </p:attrNameLst>
                                      </p:cBhvr>
                                      <p:to>
                                        <p:strVal val="visible"/>
                                      </p:to>
                                    </p:set>
                                    <p:animEffect transition="in" filter="wipe(down)">
                                      <p:cBhvr>
                                        <p:cTn id="12" dur="500"/>
                                        <p:tgtEl>
                                          <p:spTgt spid="2560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5603">
                                            <p:txEl>
                                              <p:pRg st="3" end="3"/>
                                            </p:txEl>
                                          </p:spTgt>
                                        </p:tgtEl>
                                        <p:attrNameLst>
                                          <p:attrName>style.visibility</p:attrName>
                                        </p:attrNameLst>
                                      </p:cBhvr>
                                      <p:to>
                                        <p:strVal val="visible"/>
                                      </p:to>
                                    </p:set>
                                    <p:animEffect transition="in" filter="wipe(down)">
                                      <p:cBhvr>
                                        <p:cTn id="17" dur="500"/>
                                        <p:tgtEl>
                                          <p:spTgt spid="2560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5603">
                                            <p:txEl>
                                              <p:pRg st="4" end="4"/>
                                            </p:txEl>
                                          </p:spTgt>
                                        </p:tgtEl>
                                        <p:attrNameLst>
                                          <p:attrName>style.visibility</p:attrName>
                                        </p:attrNameLst>
                                      </p:cBhvr>
                                      <p:to>
                                        <p:strVal val="visible"/>
                                      </p:to>
                                    </p:set>
                                    <p:animEffect transition="in" filter="wipe(down)">
                                      <p:cBhvr>
                                        <p:cTn id="22" dur="500"/>
                                        <p:tgtEl>
                                          <p:spTgt spid="2560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5603">
                                            <p:txEl>
                                              <p:pRg st="5" end="5"/>
                                            </p:txEl>
                                          </p:spTgt>
                                        </p:tgtEl>
                                        <p:attrNameLst>
                                          <p:attrName>style.visibility</p:attrName>
                                        </p:attrNameLst>
                                      </p:cBhvr>
                                      <p:to>
                                        <p:strVal val="visible"/>
                                      </p:to>
                                    </p:set>
                                    <p:animEffect transition="in" filter="wipe(down)">
                                      <p:cBhvr>
                                        <p:cTn id="27" dur="500"/>
                                        <p:tgtEl>
                                          <p:spTgt spid="2560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5603">
                                            <p:txEl>
                                              <p:pRg st="6" end="6"/>
                                            </p:txEl>
                                          </p:spTgt>
                                        </p:tgtEl>
                                        <p:attrNameLst>
                                          <p:attrName>style.visibility</p:attrName>
                                        </p:attrNameLst>
                                      </p:cBhvr>
                                      <p:to>
                                        <p:strVal val="visible"/>
                                      </p:to>
                                    </p:set>
                                    <p:animEffect transition="in" filter="wipe(down)">
                                      <p:cBhvr>
                                        <p:cTn id="32" dur="500"/>
                                        <p:tgtEl>
                                          <p:spTgt spid="2560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5603">
                                            <p:txEl>
                                              <p:pRg st="7" end="7"/>
                                            </p:txEl>
                                          </p:spTgt>
                                        </p:tgtEl>
                                        <p:attrNameLst>
                                          <p:attrName>style.visibility</p:attrName>
                                        </p:attrNameLst>
                                      </p:cBhvr>
                                      <p:to>
                                        <p:strVal val="visible"/>
                                      </p:to>
                                    </p:set>
                                    <p:animEffect transition="in" filter="wipe(down)">
                                      <p:cBhvr>
                                        <p:cTn id="37" dur="500"/>
                                        <p:tgtEl>
                                          <p:spTgt spid="2560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5603">
                                            <p:txEl>
                                              <p:pRg st="8" end="8"/>
                                            </p:txEl>
                                          </p:spTgt>
                                        </p:tgtEl>
                                        <p:attrNameLst>
                                          <p:attrName>style.visibility</p:attrName>
                                        </p:attrNameLst>
                                      </p:cBhvr>
                                      <p:to>
                                        <p:strVal val="visible"/>
                                      </p:to>
                                    </p:set>
                                    <p:animEffect transition="in" filter="wipe(down)">
                                      <p:cBhvr>
                                        <p:cTn id="42" dur="500"/>
                                        <p:tgtEl>
                                          <p:spTgt spid="2560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5603">
                                            <p:txEl>
                                              <p:pRg st="9" end="9"/>
                                            </p:txEl>
                                          </p:spTgt>
                                        </p:tgtEl>
                                        <p:attrNameLst>
                                          <p:attrName>style.visibility</p:attrName>
                                        </p:attrNameLst>
                                      </p:cBhvr>
                                      <p:to>
                                        <p:strVal val="visible"/>
                                      </p:to>
                                    </p:set>
                                    <p:animEffect transition="in" filter="wipe(down)">
                                      <p:cBhvr>
                                        <p:cTn id="47" dur="500"/>
                                        <p:tgtEl>
                                          <p:spTgt spid="256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Заголовок 1"/>
          <p:cNvSpPr>
            <a:spLocks noGrp="1"/>
          </p:cNvSpPr>
          <p:nvPr>
            <p:ph type="title"/>
          </p:nvPr>
        </p:nvSpPr>
        <p:spPr>
          <a:xfrm>
            <a:off x="457200" y="457200"/>
            <a:ext cx="8229600" cy="739775"/>
          </a:xfrm>
        </p:spPr>
        <p:txBody>
          <a:bodyPr/>
          <a:lstStyle/>
          <a:p>
            <a:pPr algn="ctr"/>
            <a:r>
              <a:rPr lang="ru-RU" altLang="ru-RU" sz="4000" smtClean="0">
                <a:solidFill>
                  <a:schemeClr val="bg2"/>
                </a:solidFill>
              </a:rPr>
              <a:t>Примеры</a:t>
            </a:r>
            <a:r>
              <a:rPr lang="en-US" altLang="ru-RU" sz="4000" smtClean="0">
                <a:solidFill>
                  <a:schemeClr val="bg2"/>
                </a:solidFill>
              </a:rPr>
              <a:t> (3)</a:t>
            </a:r>
            <a:endParaRPr lang="ru-RU" altLang="ru-RU" sz="4000" smtClean="0"/>
          </a:p>
        </p:txBody>
      </p:sp>
      <p:sp>
        <p:nvSpPr>
          <p:cNvPr id="27651" name="Объект 2"/>
          <p:cNvSpPr>
            <a:spLocks noGrp="1"/>
          </p:cNvSpPr>
          <p:nvPr>
            <p:ph idx="1"/>
          </p:nvPr>
        </p:nvSpPr>
        <p:spPr>
          <a:xfrm>
            <a:off x="457200" y="1268413"/>
            <a:ext cx="8218488" cy="4248150"/>
          </a:xfrm>
        </p:spPr>
        <p:txBody>
          <a:bodyPr/>
          <a:lstStyle/>
          <a:p>
            <a:pPr marL="0" indent="0">
              <a:buFont typeface="Wingdings" pitchFamily="2" charset="2"/>
              <a:buNone/>
            </a:pPr>
            <a:r>
              <a:rPr lang="en-US" altLang="ru-RU" smtClean="0"/>
              <a:t>SELECT sname, sum(amt)</a:t>
            </a:r>
          </a:p>
          <a:p>
            <a:pPr marL="0" indent="0">
              <a:buFont typeface="Wingdings" pitchFamily="2" charset="2"/>
              <a:buNone/>
            </a:pPr>
            <a:r>
              <a:rPr lang="en-US" altLang="ru-RU" smtClean="0"/>
              <a:t>FROM </a:t>
            </a:r>
            <a:r>
              <a:rPr lang="ru-RU" altLang="ru-RU" smtClean="0"/>
              <a:t>Salespeople</a:t>
            </a:r>
            <a:r>
              <a:rPr lang="en-US" altLang="ru-RU" smtClean="0"/>
              <a:t> S</a:t>
            </a:r>
            <a:r>
              <a:rPr lang="ru-RU" altLang="ru-RU" smtClean="0"/>
              <a:t>, </a:t>
            </a:r>
            <a:r>
              <a:rPr lang="en-US" altLang="ru-RU" smtClean="0"/>
              <a:t>Orders O</a:t>
            </a:r>
          </a:p>
          <a:p>
            <a:pPr marL="0" indent="0">
              <a:buFont typeface="Wingdings" pitchFamily="2" charset="2"/>
              <a:buNone/>
            </a:pPr>
            <a:r>
              <a:rPr lang="en-US" altLang="ru-RU" smtClean="0"/>
              <a:t>WHERE S.snum=O.snum  AND 		</a:t>
            </a:r>
            <a:r>
              <a:rPr lang="ru-RU" altLang="ru-RU" smtClean="0"/>
              <a:t>                 				</a:t>
            </a:r>
            <a:r>
              <a:rPr lang="en-US" altLang="ru-RU" smtClean="0"/>
              <a:t>S.City=‘</a:t>
            </a:r>
            <a:r>
              <a:rPr lang="ru-RU" altLang="ru-RU" smtClean="0"/>
              <a:t>Новосибирск</a:t>
            </a:r>
            <a:r>
              <a:rPr lang="en-US" altLang="ru-RU" smtClean="0"/>
              <a:t>’</a:t>
            </a:r>
          </a:p>
          <a:p>
            <a:pPr marL="0" indent="0">
              <a:buFont typeface="Wingdings" pitchFamily="2" charset="2"/>
              <a:buNone/>
            </a:pPr>
            <a:r>
              <a:rPr lang="en-US" altLang="ru-RU" smtClean="0"/>
              <a:t>GROUP BY sname;</a:t>
            </a:r>
          </a:p>
          <a:p>
            <a:pPr marL="0" indent="0"/>
            <a:endParaRPr lang="ru-RU" altLang="ru-RU" smtClean="0"/>
          </a:p>
        </p:txBody>
      </p:sp>
      <p:sp>
        <p:nvSpPr>
          <p:cNvPr id="27652" name="Номер слайда 3"/>
          <p:cNvSpPr>
            <a:spLocks noGrp="1"/>
          </p:cNvSpPr>
          <p:nvPr>
            <p:ph type="sldNum" sz="quarter" idx="11"/>
          </p:nvPr>
        </p:nvSpPr>
        <p:spPr>
          <a:noFill/>
          <a:ln>
            <a:miter lim="800000"/>
            <a:headEnd/>
            <a:tailEnd/>
          </a:ln>
        </p:spPr>
        <p:txBody>
          <a:bodyPr/>
          <a:lstStyle/>
          <a:p>
            <a:fld id="{7444AE7F-461C-449C-B464-9927EF8384BE}" type="slidenum">
              <a:rPr lang="ru-RU" altLang="ru-RU" smtClean="0"/>
              <a:pPr/>
              <a:t>25</a:t>
            </a:fld>
            <a:endParaRPr lang="ru-RU" altLang="ru-RU"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Заголовок 1"/>
          <p:cNvSpPr>
            <a:spLocks noGrp="1"/>
          </p:cNvSpPr>
          <p:nvPr>
            <p:ph type="title"/>
          </p:nvPr>
        </p:nvSpPr>
        <p:spPr>
          <a:xfrm>
            <a:off x="571500" y="0"/>
            <a:ext cx="8229600" cy="739775"/>
          </a:xfrm>
        </p:spPr>
        <p:txBody>
          <a:bodyPr/>
          <a:lstStyle/>
          <a:p>
            <a:pPr algn="ctr"/>
            <a:r>
              <a:rPr lang="ru-RU" altLang="ru-RU" sz="2400" smtClean="0">
                <a:solidFill>
                  <a:schemeClr val="bg2"/>
                </a:solidFill>
              </a:rPr>
              <a:t>Примеры</a:t>
            </a:r>
            <a:r>
              <a:rPr lang="en-US" altLang="ru-RU" sz="2400" smtClean="0">
                <a:solidFill>
                  <a:schemeClr val="bg2"/>
                </a:solidFill>
              </a:rPr>
              <a:t> (</a:t>
            </a:r>
            <a:r>
              <a:rPr lang="ru-RU" altLang="ru-RU" sz="2400" smtClean="0">
                <a:solidFill>
                  <a:schemeClr val="bg2"/>
                </a:solidFill>
              </a:rPr>
              <a:t>4</a:t>
            </a:r>
            <a:r>
              <a:rPr lang="en-US" altLang="ru-RU" sz="2400" smtClean="0">
                <a:solidFill>
                  <a:schemeClr val="bg2"/>
                </a:solidFill>
              </a:rPr>
              <a:t>)</a:t>
            </a:r>
            <a:endParaRPr lang="ru-RU" altLang="ru-RU" sz="2400" smtClean="0"/>
          </a:p>
        </p:txBody>
      </p:sp>
      <p:sp>
        <p:nvSpPr>
          <p:cNvPr id="27651" name="Объект 2"/>
          <p:cNvSpPr>
            <a:spLocks noGrp="1"/>
          </p:cNvSpPr>
          <p:nvPr>
            <p:ph idx="1"/>
          </p:nvPr>
        </p:nvSpPr>
        <p:spPr>
          <a:xfrm>
            <a:off x="5940425" y="908050"/>
            <a:ext cx="3132138" cy="1584325"/>
          </a:xfrm>
        </p:spPr>
        <p:txBody>
          <a:bodyPr>
            <a:normAutofit fontScale="47500" lnSpcReduction="20000"/>
          </a:bodyPr>
          <a:lstStyle/>
          <a:p>
            <a:pPr marL="0" indent="0">
              <a:buFont typeface="Wingdings" pitchFamily="2" charset="2"/>
              <a:buNone/>
              <a:defRPr/>
            </a:pPr>
            <a:r>
              <a:rPr lang="en-US" altLang="ru-RU" dirty="0" smtClean="0"/>
              <a:t>SELECT </a:t>
            </a:r>
            <a:r>
              <a:rPr lang="en-US" altLang="ru-RU" dirty="0" err="1" smtClean="0"/>
              <a:t>sname</a:t>
            </a:r>
            <a:r>
              <a:rPr lang="en-US" altLang="ru-RU" dirty="0" smtClean="0"/>
              <a:t>, sum(amt)</a:t>
            </a:r>
          </a:p>
          <a:p>
            <a:pPr marL="0" indent="0">
              <a:buFont typeface="Wingdings" pitchFamily="2" charset="2"/>
              <a:buNone/>
              <a:defRPr/>
            </a:pPr>
            <a:r>
              <a:rPr lang="en-US" altLang="ru-RU" dirty="0" smtClean="0"/>
              <a:t>FROM </a:t>
            </a:r>
            <a:r>
              <a:rPr lang="ru-RU" altLang="ru-RU" dirty="0" err="1" smtClean="0"/>
              <a:t>Salespeople</a:t>
            </a:r>
            <a:r>
              <a:rPr lang="en-US" altLang="ru-RU" dirty="0" smtClean="0"/>
              <a:t> S</a:t>
            </a:r>
            <a:r>
              <a:rPr lang="ru-RU" altLang="ru-RU" dirty="0" smtClean="0"/>
              <a:t>, </a:t>
            </a:r>
            <a:r>
              <a:rPr lang="en-US" altLang="ru-RU" dirty="0" smtClean="0"/>
              <a:t>Orders O</a:t>
            </a:r>
          </a:p>
          <a:p>
            <a:pPr marL="0" indent="0">
              <a:buFont typeface="Wingdings" pitchFamily="2" charset="2"/>
              <a:buNone/>
              <a:defRPr/>
            </a:pPr>
            <a:r>
              <a:rPr lang="en-US" altLang="ru-RU" dirty="0" smtClean="0"/>
              <a:t>WHERE </a:t>
            </a:r>
            <a:br>
              <a:rPr lang="en-US" altLang="ru-RU" dirty="0" smtClean="0"/>
            </a:br>
            <a:r>
              <a:rPr lang="en-US" altLang="ru-RU" dirty="0" smtClean="0"/>
              <a:t>	</a:t>
            </a:r>
            <a:r>
              <a:rPr lang="en-US" altLang="ru-RU" dirty="0" err="1" smtClean="0"/>
              <a:t>S.snum</a:t>
            </a:r>
            <a:r>
              <a:rPr lang="en-US" altLang="ru-RU" dirty="0" smtClean="0"/>
              <a:t>=</a:t>
            </a:r>
            <a:r>
              <a:rPr lang="en-US" altLang="ru-RU" dirty="0" err="1" smtClean="0"/>
              <a:t>O.snum</a:t>
            </a:r>
            <a:r>
              <a:rPr lang="en-US" altLang="ru-RU" dirty="0" smtClean="0"/>
              <a:t> and 				</a:t>
            </a:r>
            <a:r>
              <a:rPr lang="en-US" altLang="ru-RU" dirty="0" err="1" smtClean="0"/>
              <a:t>S.City</a:t>
            </a:r>
            <a:r>
              <a:rPr lang="en-US" altLang="ru-RU" dirty="0" smtClean="0"/>
              <a:t>=‘</a:t>
            </a:r>
            <a:r>
              <a:rPr lang="ru-RU" altLang="ru-RU" dirty="0" smtClean="0"/>
              <a:t>Новосибирск</a:t>
            </a:r>
            <a:r>
              <a:rPr lang="en-US" altLang="ru-RU" dirty="0" smtClean="0"/>
              <a:t>’</a:t>
            </a:r>
          </a:p>
          <a:p>
            <a:pPr marL="0" indent="0">
              <a:buFont typeface="Wingdings" pitchFamily="2" charset="2"/>
              <a:buNone/>
              <a:defRPr/>
            </a:pPr>
            <a:r>
              <a:rPr lang="en-US" altLang="ru-RU" dirty="0" smtClean="0"/>
              <a:t>GROUP by </a:t>
            </a:r>
            <a:r>
              <a:rPr lang="en-US" altLang="ru-RU" dirty="0" err="1" smtClean="0"/>
              <a:t>sname</a:t>
            </a:r>
            <a:r>
              <a:rPr lang="en-US" altLang="ru-RU" dirty="0" smtClean="0"/>
              <a:t>;</a:t>
            </a:r>
          </a:p>
          <a:p>
            <a:pPr marL="0" indent="0">
              <a:buFont typeface="Wingdings" pitchFamily="2" charset="2"/>
              <a:buNone/>
              <a:defRPr/>
            </a:pPr>
            <a:endParaRPr lang="ru-RU" altLang="ru-RU" dirty="0" smtClean="0"/>
          </a:p>
        </p:txBody>
      </p:sp>
      <p:sp>
        <p:nvSpPr>
          <p:cNvPr id="28676" name="Номер слайда 3"/>
          <p:cNvSpPr>
            <a:spLocks noGrp="1"/>
          </p:cNvSpPr>
          <p:nvPr>
            <p:ph type="sldNum" sz="quarter" idx="11"/>
          </p:nvPr>
        </p:nvSpPr>
        <p:spPr>
          <a:noFill/>
          <a:ln>
            <a:miter lim="800000"/>
            <a:headEnd/>
            <a:tailEnd/>
          </a:ln>
        </p:spPr>
        <p:txBody>
          <a:bodyPr/>
          <a:lstStyle/>
          <a:p>
            <a:fld id="{8BAE3677-CD40-443B-BD21-76B479AB164E}" type="slidenum">
              <a:rPr lang="ru-RU" altLang="ru-RU" smtClean="0"/>
              <a:pPr/>
              <a:t>26</a:t>
            </a:fld>
            <a:endParaRPr lang="ru-RU" altLang="ru-RU" smtClean="0"/>
          </a:p>
        </p:txBody>
      </p:sp>
      <p:graphicFrame>
        <p:nvGraphicFramePr>
          <p:cNvPr id="5" name="Group 362"/>
          <p:cNvGraphicFramePr>
            <a:graphicFrameLocks/>
          </p:cNvGraphicFramePr>
          <p:nvPr/>
        </p:nvGraphicFramePr>
        <p:xfrm>
          <a:off x="250825" y="3716338"/>
          <a:ext cx="5786438" cy="2732087"/>
        </p:xfrm>
        <a:graphic>
          <a:graphicData uri="http://schemas.openxmlformats.org/drawingml/2006/table">
            <a:tbl>
              <a:tblPr/>
              <a:tblGrid>
                <a:gridCol w="1157511">
                  <a:extLst>
                    <a:ext uri="{9D8B030D-6E8A-4147-A177-3AD203B41FA5}"/>
                  </a:extLst>
                </a:gridCol>
                <a:gridCol w="1156395">
                  <a:extLst>
                    <a:ext uri="{9D8B030D-6E8A-4147-A177-3AD203B41FA5}"/>
                  </a:extLst>
                </a:gridCol>
                <a:gridCol w="1157510">
                  <a:extLst>
                    <a:ext uri="{9D8B030D-6E8A-4147-A177-3AD203B41FA5}"/>
                  </a:extLst>
                </a:gridCol>
                <a:gridCol w="1156395">
                  <a:extLst>
                    <a:ext uri="{9D8B030D-6E8A-4147-A177-3AD203B41FA5}"/>
                  </a:extLst>
                </a:gridCol>
                <a:gridCol w="1158627">
                  <a:extLst>
                    <a:ext uri="{9D8B030D-6E8A-4147-A177-3AD203B41FA5}"/>
                  </a:extLst>
                </a:gridCol>
              </a:tblGrid>
              <a:tr h="305307">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err="1" smtClean="0">
                          <a:ln>
                            <a:noFill/>
                          </a:ln>
                          <a:solidFill>
                            <a:srgbClr val="3333FF"/>
                          </a:solidFill>
                          <a:effectLst/>
                          <a:latin typeface="Times New Roman" pitchFamily="18" charset="0"/>
                          <a:cs typeface="Times New Roman" pitchFamily="18" charset="0"/>
                        </a:rPr>
                        <a:t>Onum</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rgbClr val="3333FF"/>
                          </a:solidFill>
                          <a:effectLst/>
                          <a:latin typeface="Times New Roman" pitchFamily="18" charset="0"/>
                          <a:cs typeface="Times New Roman" pitchFamily="18" charset="0"/>
                        </a:rPr>
                        <a:t>Amt</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err="1" smtClean="0">
                          <a:ln>
                            <a:noFill/>
                          </a:ln>
                          <a:solidFill>
                            <a:srgbClr val="3333FF"/>
                          </a:solidFill>
                          <a:effectLst/>
                          <a:latin typeface="Times New Roman" pitchFamily="18" charset="0"/>
                          <a:cs typeface="Times New Roman" pitchFamily="18" charset="0"/>
                        </a:rPr>
                        <a:t>Odate</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err="1" smtClean="0">
                          <a:ln>
                            <a:noFill/>
                          </a:ln>
                          <a:solidFill>
                            <a:srgbClr val="3333FF"/>
                          </a:solidFill>
                          <a:effectLst/>
                          <a:latin typeface="Times New Roman" pitchFamily="18" charset="0"/>
                          <a:cs typeface="Times New Roman" pitchFamily="18" charset="0"/>
                        </a:rPr>
                        <a:t>Cnum</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err="1" smtClean="0">
                          <a:ln>
                            <a:noFill/>
                          </a:ln>
                          <a:solidFill>
                            <a:srgbClr val="3333FF"/>
                          </a:solidFill>
                          <a:effectLst/>
                          <a:latin typeface="Times New Roman" pitchFamily="18" charset="0"/>
                          <a:cs typeface="Times New Roman" pitchFamily="18" charset="0"/>
                        </a:rPr>
                        <a:t>Snum</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3001</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18.69</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2008</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1007</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3003</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767.19</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200" b="1" i="0" u="none" strike="noStrike" cap="none" normalizeH="0" baseline="0" smtClean="0">
                          <a:ln>
                            <a:noFill/>
                          </a:ln>
                          <a:solidFill>
                            <a:schemeClr val="tx1"/>
                          </a:solidFill>
                          <a:effectLst/>
                          <a:latin typeface="Times New Roman" pitchFamily="18" charset="0"/>
                          <a:cs typeface="Times New Roman" pitchFamily="18" charset="0"/>
                        </a:rPr>
                        <a:t>200</a:t>
                      </a: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3002</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1900.10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200" b="1" i="0" u="none" strike="noStrike" cap="none" normalizeH="0" baseline="0" smtClean="0">
                          <a:ln>
                            <a:noFill/>
                          </a:ln>
                          <a:solidFill>
                            <a:schemeClr val="tx1"/>
                          </a:solidFill>
                          <a:effectLst/>
                          <a:latin typeface="Times New Roman" pitchFamily="18" charset="0"/>
                          <a:cs typeface="Times New Roman" pitchFamily="18" charset="0"/>
                        </a:rPr>
                        <a:t>200</a:t>
                      </a: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7</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3005</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5160.45</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2003</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3006</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1098.16</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2008</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1007</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3009</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1713.23</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10/04/2000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2002</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1003</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3007</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75.75</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10/04/2000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2004</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3008</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4723.00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10/05/2000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2006</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3010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1309.95</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10/06/2000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2004</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3011</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9891.88</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10/06/2000</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2006</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extLst>
              </a:tr>
            </a:tbl>
          </a:graphicData>
        </a:graphic>
      </p:graphicFrame>
      <p:graphicFrame>
        <p:nvGraphicFramePr>
          <p:cNvPr id="7" name="Group 158"/>
          <p:cNvGraphicFramePr>
            <a:graphicFrameLocks noGrp="1"/>
          </p:cNvGraphicFramePr>
          <p:nvPr/>
        </p:nvGraphicFramePr>
        <p:xfrm>
          <a:off x="250825" y="836613"/>
          <a:ext cx="5643563" cy="2428875"/>
        </p:xfrm>
        <a:graphic>
          <a:graphicData uri="http://schemas.openxmlformats.org/drawingml/2006/table">
            <a:tbl>
              <a:tblPr/>
              <a:tblGrid>
                <a:gridCol w="1411178">
                  <a:extLst>
                    <a:ext uri="{9D8B030D-6E8A-4147-A177-3AD203B41FA5}"/>
                  </a:extLst>
                </a:gridCol>
                <a:gridCol w="1411179">
                  <a:extLst>
                    <a:ext uri="{9D8B030D-6E8A-4147-A177-3AD203B41FA5}"/>
                  </a:extLst>
                </a:gridCol>
                <a:gridCol w="1588153">
                  <a:extLst>
                    <a:ext uri="{9D8B030D-6E8A-4147-A177-3AD203B41FA5}"/>
                  </a:extLst>
                </a:gridCol>
                <a:gridCol w="1233052">
                  <a:extLst>
                    <a:ext uri="{9D8B030D-6E8A-4147-A177-3AD203B41FA5}"/>
                  </a:extLst>
                </a:gridCol>
              </a:tblGrid>
              <a:tr h="404614">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Snum</a:t>
                      </a:r>
                      <a:endParaRPr kumimoji="0" lang="en-US" sz="14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Sname</a:t>
                      </a:r>
                      <a:endParaRPr kumimoji="0" lang="en-US" sz="14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dirty="0" smtClean="0">
                          <a:ln>
                            <a:noFill/>
                          </a:ln>
                          <a:solidFill>
                            <a:schemeClr val="bg2">
                              <a:lumMod val="60000"/>
                              <a:lumOff val="40000"/>
                            </a:schemeClr>
                          </a:solidFill>
                          <a:effectLst/>
                          <a:latin typeface="Times New Roman" pitchFamily="18" charset="0"/>
                          <a:cs typeface="Times New Roman" pitchFamily="18" charset="0"/>
                        </a:rPr>
                        <a:t>City</a:t>
                      </a:r>
                      <a:endParaRPr kumimoji="0" lang="en-US" sz="14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Comm</a:t>
                      </a:r>
                      <a:endParaRPr kumimoji="0" lang="en-US" sz="14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04614">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Иванов</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0D0F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0.12</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extLst>
              </a:tr>
              <a:tr h="405805">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1002</a:t>
                      </a:r>
                      <a:endParaRPr kumimoji="0" lang="en-US" sz="1400" b="0" i="0" u="none" strike="noStrike" cap="none" normalizeH="0" baseline="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Петров</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Кемерово</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0.13</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04614">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Сидоров</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0D0F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0.11</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extLst>
              </a:tr>
              <a:tr h="404614">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smtClean="0">
                          <a:ln>
                            <a:noFill/>
                          </a:ln>
                          <a:solidFill>
                            <a:schemeClr val="tx1"/>
                          </a:solidFill>
                          <a:effectLst/>
                          <a:latin typeface="Times New Roman" pitchFamily="18" charset="0"/>
                          <a:cs typeface="Times New Roman" pitchFamily="18" charset="0"/>
                        </a:rPr>
                        <a:t>1007</a:t>
                      </a:r>
                      <a:endParaRPr kumimoji="0" lang="en-US" sz="1400" b="0" i="0" u="none" strike="noStrike" cap="none" normalizeH="0" baseline="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smtClean="0">
                          <a:ln>
                            <a:noFill/>
                          </a:ln>
                          <a:solidFill>
                            <a:schemeClr val="tx1"/>
                          </a:solidFill>
                          <a:effectLst/>
                          <a:latin typeface="Times New Roman" pitchFamily="18" charset="0"/>
                          <a:cs typeface="Times New Roman" pitchFamily="18" charset="0"/>
                        </a:rPr>
                        <a:t>Голубев</a:t>
                      </a:r>
                      <a:endParaRPr kumimoji="0" lang="ru-RU" sz="1400" b="0" i="0" u="none" strike="noStrike" cap="none" normalizeH="0" baseline="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Омск</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0.15</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404614">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1003</a:t>
                      </a:r>
                      <a:endParaRPr kumimoji="0" lang="en-US"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Кузнецов</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Томск</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0.10</a:t>
                      </a:r>
                      <a:endParaRPr kumimoji="0" lang="ru-RU" sz="1400" b="0" i="0" u="none" strike="noStrike" cap="none" normalizeH="0" baseline="0" dirty="0" smtClean="0">
                        <a:ln>
                          <a:noFill/>
                        </a:ln>
                        <a:solidFill>
                          <a:schemeClr val="tx1"/>
                        </a:solidFill>
                        <a:effectLst/>
                        <a:latin typeface="Arial" charset="0"/>
                        <a:cs typeface="Arial" charset="0"/>
                      </a:endParaRPr>
                    </a:p>
                  </a:txBody>
                  <a:tcPr marL="91437" marR="91437"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
        <p:nvSpPr>
          <p:cNvPr id="8" name="TextBox 7"/>
          <p:cNvSpPr txBox="1"/>
          <p:nvPr/>
        </p:nvSpPr>
        <p:spPr>
          <a:xfrm>
            <a:off x="395288" y="476250"/>
            <a:ext cx="2232025" cy="360363"/>
          </a:xfrm>
          <a:prstGeom prst="rect">
            <a:avLst/>
          </a:prstGeom>
          <a:noFill/>
        </p:spPr>
        <p:txBody>
          <a:bodyPr>
            <a:normAutofit fontScale="77500" lnSpcReduction="20000"/>
          </a:bodyPr>
          <a:lstStyle/>
          <a:p>
            <a:pPr>
              <a:defRPr/>
            </a:pPr>
            <a:r>
              <a:rPr lang="en-US" dirty="0"/>
              <a:t>Salespeople</a:t>
            </a:r>
            <a:endParaRPr lang="ru-RU" dirty="0"/>
          </a:p>
        </p:txBody>
      </p:sp>
      <p:sp>
        <p:nvSpPr>
          <p:cNvPr id="9" name="TextBox 8"/>
          <p:cNvSpPr txBox="1"/>
          <p:nvPr/>
        </p:nvSpPr>
        <p:spPr>
          <a:xfrm>
            <a:off x="250825" y="3357563"/>
            <a:ext cx="2233613" cy="358775"/>
          </a:xfrm>
          <a:prstGeom prst="rect">
            <a:avLst/>
          </a:prstGeom>
          <a:noFill/>
        </p:spPr>
        <p:txBody>
          <a:bodyPr>
            <a:normAutofit fontScale="70000" lnSpcReduction="20000"/>
          </a:bodyPr>
          <a:lstStyle/>
          <a:p>
            <a:pPr>
              <a:defRPr/>
            </a:pPr>
            <a:r>
              <a:rPr lang="en-US" dirty="0"/>
              <a:t>Orders</a:t>
            </a:r>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up)">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7651">
                                            <p:txEl>
                                              <p:pRg st="0" end="0"/>
                                            </p:txEl>
                                          </p:spTgt>
                                        </p:tgtEl>
                                        <p:attrNameLst>
                                          <p:attrName>style.visibility</p:attrName>
                                        </p:attrNameLst>
                                      </p:cBhvr>
                                      <p:to>
                                        <p:strVal val="visible"/>
                                      </p:to>
                                    </p:set>
                                    <p:animEffect transition="in" filter="fade">
                                      <p:cBhvr>
                                        <p:cTn id="26" dur="2000"/>
                                        <p:tgtEl>
                                          <p:spTgt spid="27651">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651">
                                            <p:txEl>
                                              <p:pRg st="1" end="1"/>
                                            </p:txEl>
                                          </p:spTgt>
                                        </p:tgtEl>
                                        <p:attrNameLst>
                                          <p:attrName>style.visibility</p:attrName>
                                        </p:attrNameLst>
                                      </p:cBhvr>
                                      <p:to>
                                        <p:strVal val="visible"/>
                                      </p:to>
                                    </p:set>
                                    <p:animEffect transition="in" filter="fade">
                                      <p:cBhvr>
                                        <p:cTn id="31" dur="2000"/>
                                        <p:tgtEl>
                                          <p:spTgt spid="27651">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7651">
                                            <p:txEl>
                                              <p:pRg st="2" end="2"/>
                                            </p:txEl>
                                          </p:spTgt>
                                        </p:tgtEl>
                                        <p:attrNameLst>
                                          <p:attrName>style.visibility</p:attrName>
                                        </p:attrNameLst>
                                      </p:cBhvr>
                                      <p:to>
                                        <p:strVal val="visible"/>
                                      </p:to>
                                    </p:set>
                                    <p:animEffect transition="in" filter="fade">
                                      <p:cBhvr>
                                        <p:cTn id="36" dur="2000"/>
                                        <p:tgtEl>
                                          <p:spTgt spid="27651">
                                            <p:txEl>
                                              <p:pRg st="2" end="2"/>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7651">
                                            <p:txEl>
                                              <p:pRg st="3" end="3"/>
                                            </p:txEl>
                                          </p:spTgt>
                                        </p:tgtEl>
                                        <p:attrNameLst>
                                          <p:attrName>style.visibility</p:attrName>
                                        </p:attrNameLst>
                                      </p:cBhvr>
                                      <p:to>
                                        <p:strVal val="visible"/>
                                      </p:to>
                                    </p:set>
                                    <p:animEffect transition="in" filter="fade">
                                      <p:cBhvr>
                                        <p:cTn id="41" dur="2000"/>
                                        <p:tgtEl>
                                          <p:spTgt spid="27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8" grpId="0" build="p"/>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Заголовок 1"/>
          <p:cNvSpPr>
            <a:spLocks noGrp="1"/>
          </p:cNvSpPr>
          <p:nvPr>
            <p:ph type="title"/>
          </p:nvPr>
        </p:nvSpPr>
        <p:spPr>
          <a:xfrm>
            <a:off x="571500" y="0"/>
            <a:ext cx="8229600" cy="739775"/>
          </a:xfrm>
        </p:spPr>
        <p:txBody>
          <a:bodyPr/>
          <a:lstStyle/>
          <a:p>
            <a:pPr algn="ctr"/>
            <a:r>
              <a:rPr lang="ru-RU" altLang="ru-RU" sz="2400" smtClean="0">
                <a:solidFill>
                  <a:schemeClr val="bg2"/>
                </a:solidFill>
              </a:rPr>
              <a:t>Примеры</a:t>
            </a:r>
            <a:r>
              <a:rPr lang="en-US" altLang="ru-RU" sz="2400" smtClean="0">
                <a:solidFill>
                  <a:schemeClr val="bg2"/>
                </a:solidFill>
              </a:rPr>
              <a:t> (</a:t>
            </a:r>
            <a:r>
              <a:rPr lang="ru-RU" altLang="ru-RU" sz="2400" smtClean="0">
                <a:solidFill>
                  <a:schemeClr val="bg2"/>
                </a:solidFill>
              </a:rPr>
              <a:t>4</a:t>
            </a:r>
            <a:r>
              <a:rPr lang="en-US" altLang="ru-RU" sz="2400" smtClean="0">
                <a:solidFill>
                  <a:schemeClr val="bg2"/>
                </a:solidFill>
              </a:rPr>
              <a:t>)</a:t>
            </a:r>
            <a:endParaRPr lang="ru-RU" altLang="ru-RU" sz="2400" smtClean="0"/>
          </a:p>
        </p:txBody>
      </p:sp>
      <p:sp>
        <p:nvSpPr>
          <p:cNvPr id="29699" name="Номер слайда 3"/>
          <p:cNvSpPr>
            <a:spLocks noGrp="1"/>
          </p:cNvSpPr>
          <p:nvPr>
            <p:ph type="sldNum" sz="quarter" idx="11"/>
          </p:nvPr>
        </p:nvSpPr>
        <p:spPr>
          <a:xfrm>
            <a:off x="8027988" y="6248400"/>
            <a:ext cx="658812" cy="457200"/>
          </a:xfrm>
          <a:noFill/>
          <a:ln>
            <a:miter lim="800000"/>
            <a:headEnd/>
            <a:tailEnd/>
          </a:ln>
        </p:spPr>
        <p:txBody>
          <a:bodyPr/>
          <a:lstStyle/>
          <a:p>
            <a:fld id="{BEE1FB1C-DBB9-418A-A655-761CB6B8AC54}" type="slidenum">
              <a:rPr lang="ru-RU" altLang="ru-RU" smtClean="0"/>
              <a:pPr/>
              <a:t>27</a:t>
            </a:fld>
            <a:endParaRPr lang="ru-RU" altLang="ru-RU" smtClean="0"/>
          </a:p>
        </p:txBody>
      </p:sp>
      <p:graphicFrame>
        <p:nvGraphicFramePr>
          <p:cNvPr id="5" name="Group 362"/>
          <p:cNvGraphicFramePr>
            <a:graphicFrameLocks/>
          </p:cNvGraphicFramePr>
          <p:nvPr/>
        </p:nvGraphicFramePr>
        <p:xfrm>
          <a:off x="153988" y="768350"/>
          <a:ext cx="5786437" cy="2732088"/>
        </p:xfrm>
        <a:graphic>
          <a:graphicData uri="http://schemas.openxmlformats.org/drawingml/2006/table">
            <a:tbl>
              <a:tblPr/>
              <a:tblGrid>
                <a:gridCol w="1157511">
                  <a:extLst>
                    <a:ext uri="{9D8B030D-6E8A-4147-A177-3AD203B41FA5}"/>
                  </a:extLst>
                </a:gridCol>
                <a:gridCol w="1156395">
                  <a:extLst>
                    <a:ext uri="{9D8B030D-6E8A-4147-A177-3AD203B41FA5}"/>
                  </a:extLst>
                </a:gridCol>
                <a:gridCol w="1157510">
                  <a:extLst>
                    <a:ext uri="{9D8B030D-6E8A-4147-A177-3AD203B41FA5}"/>
                  </a:extLst>
                </a:gridCol>
                <a:gridCol w="1156395">
                  <a:extLst>
                    <a:ext uri="{9D8B030D-6E8A-4147-A177-3AD203B41FA5}"/>
                  </a:extLst>
                </a:gridCol>
                <a:gridCol w="1158627">
                  <a:extLst>
                    <a:ext uri="{9D8B030D-6E8A-4147-A177-3AD203B41FA5}"/>
                  </a:extLst>
                </a:gridCol>
              </a:tblGrid>
              <a:tr h="305307">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err="1" smtClean="0">
                          <a:ln>
                            <a:noFill/>
                          </a:ln>
                          <a:solidFill>
                            <a:srgbClr val="3333FF"/>
                          </a:solidFill>
                          <a:effectLst/>
                          <a:latin typeface="Times New Roman" pitchFamily="18" charset="0"/>
                          <a:cs typeface="Times New Roman" pitchFamily="18" charset="0"/>
                        </a:rPr>
                        <a:t>Onum</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rgbClr val="3333FF"/>
                          </a:solidFill>
                          <a:effectLst/>
                          <a:latin typeface="Times New Roman" pitchFamily="18" charset="0"/>
                          <a:cs typeface="Times New Roman" pitchFamily="18" charset="0"/>
                        </a:rPr>
                        <a:t>Amt</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err="1" smtClean="0">
                          <a:ln>
                            <a:noFill/>
                          </a:ln>
                          <a:solidFill>
                            <a:srgbClr val="3333FF"/>
                          </a:solidFill>
                          <a:effectLst/>
                          <a:latin typeface="Times New Roman" pitchFamily="18" charset="0"/>
                          <a:cs typeface="Times New Roman" pitchFamily="18" charset="0"/>
                        </a:rPr>
                        <a:t>Odate</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err="1" smtClean="0">
                          <a:ln>
                            <a:noFill/>
                          </a:ln>
                          <a:solidFill>
                            <a:srgbClr val="3333FF"/>
                          </a:solidFill>
                          <a:effectLst/>
                          <a:latin typeface="Times New Roman" pitchFamily="18" charset="0"/>
                          <a:cs typeface="Times New Roman" pitchFamily="18" charset="0"/>
                        </a:rPr>
                        <a:t>Cnum</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err="1" smtClean="0">
                          <a:ln>
                            <a:noFill/>
                          </a:ln>
                          <a:solidFill>
                            <a:srgbClr val="3333FF"/>
                          </a:solidFill>
                          <a:effectLst/>
                          <a:latin typeface="Times New Roman" pitchFamily="18" charset="0"/>
                          <a:cs typeface="Times New Roman" pitchFamily="18" charset="0"/>
                        </a:rPr>
                        <a:t>Snum</a:t>
                      </a:r>
                      <a:endParaRPr kumimoji="0" lang="en-US" sz="1200" b="0" i="0" u="none" strike="noStrike" cap="none" normalizeH="0" baseline="0" dirty="0" smtClean="0">
                        <a:ln>
                          <a:noFill/>
                        </a:ln>
                        <a:solidFill>
                          <a:srgbClr val="3333FF"/>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3001</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18.69</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2008</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1007</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3003</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767.19</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200" b="1" i="0" u="none" strike="noStrike" cap="none" normalizeH="0" baseline="0" dirty="0" smtClean="0">
                          <a:ln>
                            <a:noFill/>
                          </a:ln>
                          <a:solidFill>
                            <a:schemeClr val="tx1"/>
                          </a:solidFill>
                          <a:effectLst/>
                          <a:latin typeface="Times New Roman" pitchFamily="18" charset="0"/>
                          <a:cs typeface="Times New Roman" pitchFamily="18" charset="0"/>
                        </a:rPr>
                        <a:t>200</a:t>
                      </a: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3002</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1900.10</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200" b="1" i="0" u="none" strike="noStrike" cap="none" normalizeH="0" baseline="0" dirty="0" smtClean="0">
                          <a:ln>
                            <a:noFill/>
                          </a:ln>
                          <a:solidFill>
                            <a:schemeClr val="tx1"/>
                          </a:solidFill>
                          <a:effectLst/>
                          <a:latin typeface="Times New Roman" pitchFamily="18" charset="0"/>
                          <a:cs typeface="Times New Roman" pitchFamily="18" charset="0"/>
                        </a:rPr>
                        <a:t>200</a:t>
                      </a: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7</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3005</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5160.45</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2003</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3006</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1098.16</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10/03/2000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2008</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1007</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3009</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1713.23</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10/04/2000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2002</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1003</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3007</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75.75</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10/04/2000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2004</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3008</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4723.00</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10/05/2000</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2006</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3010</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1309.95</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10/06/2000</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smtClean="0">
                          <a:ln>
                            <a:noFill/>
                          </a:ln>
                          <a:solidFill>
                            <a:schemeClr val="tx1"/>
                          </a:solidFill>
                          <a:effectLst/>
                          <a:latin typeface="Times New Roman" pitchFamily="18" charset="0"/>
                          <a:cs typeface="Times New Roman" pitchFamily="18" charset="0"/>
                        </a:rPr>
                        <a:t>2004</a:t>
                      </a:r>
                      <a:endParaRPr kumimoji="0" lang="en-US" sz="1200" b="0" i="0" u="none" strike="noStrike" cap="none" normalizeH="0" baseline="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1002</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242678">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3011</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9891.88</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10/06/2000</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2006</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2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200" b="0" i="0" u="none" strike="noStrike" cap="none" normalizeH="0" baseline="0" dirty="0" smtClean="0">
                        <a:ln>
                          <a:noFill/>
                        </a:ln>
                        <a:solidFill>
                          <a:schemeClr val="tx1"/>
                        </a:solidFill>
                        <a:effectLst/>
                        <a:latin typeface="Arial" charset="0"/>
                        <a:cs typeface="Arial" charset="0"/>
                      </a:endParaRPr>
                    </a:p>
                  </a:txBody>
                  <a:tcPr marL="36000" marR="36000" marT="35991" marB="3599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graphicFrame>
        <p:nvGraphicFramePr>
          <p:cNvPr id="7" name="Group 158"/>
          <p:cNvGraphicFramePr>
            <a:graphicFrameLocks noGrp="1"/>
          </p:cNvGraphicFramePr>
          <p:nvPr/>
        </p:nvGraphicFramePr>
        <p:xfrm>
          <a:off x="179388" y="3814763"/>
          <a:ext cx="5832475" cy="2422525"/>
        </p:xfrm>
        <a:graphic>
          <a:graphicData uri="http://schemas.openxmlformats.org/drawingml/2006/table">
            <a:tbl>
              <a:tblPr/>
              <a:tblGrid>
                <a:gridCol w="576188">
                  <a:extLst>
                    <a:ext uri="{9D8B030D-6E8A-4147-A177-3AD203B41FA5}"/>
                  </a:extLst>
                </a:gridCol>
                <a:gridCol w="720080">
                  <a:extLst>
                    <a:ext uri="{9D8B030D-6E8A-4147-A177-3AD203B41FA5}"/>
                  </a:extLst>
                </a:gridCol>
                <a:gridCol w="891023">
                  <a:extLst>
                    <a:ext uri="{9D8B030D-6E8A-4147-A177-3AD203B41FA5}"/>
                  </a:extLst>
                </a:gridCol>
                <a:gridCol w="729097">
                  <a:extLst>
                    <a:ext uri="{9D8B030D-6E8A-4147-A177-3AD203B41FA5}"/>
                  </a:extLst>
                </a:gridCol>
                <a:gridCol w="729097"/>
                <a:gridCol w="729097">
                  <a:extLst>
                    <a:ext uri="{9D8B030D-6E8A-4147-A177-3AD203B41FA5}"/>
                  </a:extLst>
                </a:gridCol>
                <a:gridCol w="729097"/>
                <a:gridCol w="729097"/>
              </a:tblGrid>
              <a:tr h="587598">
                <a:tc>
                  <a:txBody>
                    <a:bodyPr/>
                    <a:lstStyle/>
                    <a:p>
                      <a:pPr marL="0" marR="0" lvl="0" indent="0" algn="ctr" defTabSz="914400" rtl="0" eaLnBrk="0" fontAlgn="base" latinLnBrk="0" hangingPunct="0">
                        <a:lnSpc>
                          <a:spcPct val="100000"/>
                        </a:lnSpc>
                        <a:spcBef>
                          <a:spcPts val="0"/>
                        </a:spcBef>
                        <a:spcAft>
                          <a:spcPct val="0"/>
                        </a:spcAft>
                        <a:buClr>
                          <a:schemeClr val="bg2"/>
                        </a:buClr>
                        <a:buSzPct val="75000"/>
                        <a:buFont typeface="Wingdings" pitchFamily="2" charset="2"/>
                        <a:buNone/>
                        <a:tabLst/>
                      </a:pPr>
                      <a:r>
                        <a:rPr kumimoji="0" lang="en-US" sz="10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Snum</a:t>
                      </a:r>
                      <a:endParaRPr kumimoji="0" lang="en-US" sz="1000" b="0" i="0" u="none" strike="noStrike" cap="none" normalizeH="0" baseline="0" dirty="0" smtClean="0">
                        <a:ln>
                          <a:noFill/>
                        </a:ln>
                        <a:solidFill>
                          <a:schemeClr val="bg2">
                            <a:lumMod val="60000"/>
                            <a:lumOff val="40000"/>
                          </a:schemeClr>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0" fontAlgn="base" latinLnBrk="0" hangingPunct="0">
                        <a:lnSpc>
                          <a:spcPct val="100000"/>
                        </a:lnSpc>
                        <a:spcBef>
                          <a:spcPts val="0"/>
                        </a:spcBef>
                        <a:spcAft>
                          <a:spcPct val="0"/>
                        </a:spcAft>
                        <a:buClr>
                          <a:schemeClr val="bg2"/>
                        </a:buClr>
                        <a:buSzPct val="75000"/>
                        <a:buFont typeface="Wingdings" pitchFamily="2" charset="2"/>
                        <a:buNone/>
                        <a:tabLst/>
                      </a:pPr>
                      <a:r>
                        <a:rPr kumimoji="0" lang="en-US" sz="10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Sname</a:t>
                      </a:r>
                      <a:endParaRPr kumimoji="0" lang="en-US" sz="1000" b="0" i="0" u="none" strike="noStrike" cap="none" normalizeH="0" baseline="0" dirty="0" smtClean="0">
                        <a:ln>
                          <a:noFill/>
                        </a:ln>
                        <a:solidFill>
                          <a:schemeClr val="bg2">
                            <a:lumMod val="60000"/>
                            <a:lumOff val="40000"/>
                          </a:schemeClr>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0" fontAlgn="base" latinLnBrk="0" hangingPunct="0">
                        <a:lnSpc>
                          <a:spcPct val="100000"/>
                        </a:lnSpc>
                        <a:spcBef>
                          <a:spcPts val="0"/>
                        </a:spcBef>
                        <a:spcAft>
                          <a:spcPct val="0"/>
                        </a:spcAft>
                        <a:buClr>
                          <a:schemeClr val="bg2"/>
                        </a:buClr>
                        <a:buSzPct val="75000"/>
                        <a:buFont typeface="Wingdings" pitchFamily="2" charset="2"/>
                        <a:buNone/>
                        <a:tabLst/>
                      </a:pPr>
                      <a:r>
                        <a:rPr kumimoji="0" lang="en-US" sz="1000" b="1" i="0" u="none" strike="noStrike" cap="none" normalizeH="0" baseline="0" dirty="0" smtClean="0">
                          <a:ln>
                            <a:noFill/>
                          </a:ln>
                          <a:solidFill>
                            <a:schemeClr val="bg2">
                              <a:lumMod val="60000"/>
                              <a:lumOff val="40000"/>
                            </a:schemeClr>
                          </a:solidFill>
                          <a:effectLst/>
                          <a:latin typeface="Times New Roman" pitchFamily="18" charset="0"/>
                          <a:cs typeface="Times New Roman" pitchFamily="18" charset="0"/>
                        </a:rPr>
                        <a:t>City</a:t>
                      </a:r>
                      <a:endParaRPr kumimoji="0" lang="en-US" sz="1000" b="0" i="0" u="none" strike="noStrike" cap="none" normalizeH="0" baseline="0" dirty="0" smtClean="0">
                        <a:ln>
                          <a:noFill/>
                        </a:ln>
                        <a:solidFill>
                          <a:schemeClr val="bg2">
                            <a:lumMod val="60000"/>
                            <a:lumOff val="40000"/>
                          </a:schemeClr>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0" fontAlgn="base" latinLnBrk="0" hangingPunct="0">
                        <a:lnSpc>
                          <a:spcPct val="100000"/>
                        </a:lnSpc>
                        <a:spcBef>
                          <a:spcPts val="0"/>
                        </a:spcBef>
                        <a:spcAft>
                          <a:spcPct val="0"/>
                        </a:spcAft>
                        <a:buClr>
                          <a:schemeClr val="bg2"/>
                        </a:buClr>
                        <a:buSzPct val="75000"/>
                        <a:buFont typeface="Wingdings" pitchFamily="2" charset="2"/>
                        <a:buNone/>
                        <a:tabLst/>
                      </a:pPr>
                      <a:r>
                        <a:rPr kumimoji="0" lang="en-US" sz="10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Comm</a:t>
                      </a:r>
                      <a:endParaRPr kumimoji="0" lang="en-US" sz="1000" b="0" i="0" u="none" strike="noStrike" cap="none" normalizeH="0" baseline="0" dirty="0" smtClean="0">
                        <a:ln>
                          <a:noFill/>
                        </a:ln>
                        <a:solidFill>
                          <a:schemeClr val="bg2">
                            <a:lumMod val="60000"/>
                            <a:lumOff val="40000"/>
                          </a:schemeClr>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0" fontAlgn="base" latinLnBrk="0" hangingPunct="0">
                        <a:lnSpc>
                          <a:spcPct val="100000"/>
                        </a:lnSpc>
                        <a:spcBef>
                          <a:spcPts val="0"/>
                        </a:spcBef>
                        <a:spcAft>
                          <a:spcPct val="0"/>
                        </a:spcAft>
                        <a:buClr>
                          <a:schemeClr val="bg2"/>
                        </a:buClr>
                        <a:buSzPct val="75000"/>
                        <a:buFont typeface="Wingdings" pitchFamily="2" charset="2"/>
                        <a:buNone/>
                        <a:tabLst/>
                        <a:defRPr/>
                      </a:pPr>
                      <a:r>
                        <a:rPr kumimoji="0" lang="en-US" sz="1000" b="1" i="0" u="none" strike="noStrike" cap="none" normalizeH="0" baseline="0" dirty="0" err="1" smtClean="0">
                          <a:ln>
                            <a:noFill/>
                          </a:ln>
                          <a:solidFill>
                            <a:srgbClr val="3333FF"/>
                          </a:solidFill>
                          <a:effectLst/>
                          <a:latin typeface="Times New Roman" pitchFamily="18" charset="0"/>
                          <a:cs typeface="Times New Roman" pitchFamily="18" charset="0"/>
                        </a:rPr>
                        <a:t>Onum</a:t>
                      </a:r>
                      <a:endParaRPr kumimoji="0" lang="en-US" sz="1000" b="0" i="0" u="none" strike="noStrike" cap="none" normalizeH="0" baseline="0" dirty="0" smtClean="0">
                        <a:ln>
                          <a:noFill/>
                        </a:ln>
                        <a:solidFill>
                          <a:srgbClr val="3333FF"/>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0" fontAlgn="base" latinLnBrk="0" hangingPunct="0">
                        <a:lnSpc>
                          <a:spcPct val="100000"/>
                        </a:lnSpc>
                        <a:spcBef>
                          <a:spcPts val="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rgbClr val="3333FF"/>
                          </a:solidFill>
                          <a:effectLst/>
                          <a:latin typeface="Times New Roman" pitchFamily="18" charset="0"/>
                          <a:cs typeface="Times New Roman" pitchFamily="18" charset="0"/>
                        </a:rPr>
                        <a:t>Amt</a:t>
                      </a:r>
                      <a:endParaRPr kumimoji="0" lang="en-US" sz="1000" b="0" i="0" u="none" strike="noStrike" cap="none" normalizeH="0" baseline="0" dirty="0" smtClean="0">
                        <a:ln>
                          <a:noFill/>
                        </a:ln>
                        <a:solidFill>
                          <a:srgbClr val="3333FF"/>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0" fontAlgn="base" latinLnBrk="0" hangingPunct="0">
                        <a:lnSpc>
                          <a:spcPct val="100000"/>
                        </a:lnSpc>
                        <a:spcBef>
                          <a:spcPts val="0"/>
                        </a:spcBef>
                        <a:spcAft>
                          <a:spcPct val="0"/>
                        </a:spcAft>
                        <a:buClr>
                          <a:schemeClr val="bg2"/>
                        </a:buClr>
                        <a:buSzPct val="75000"/>
                        <a:buFont typeface="Wingdings" pitchFamily="2" charset="2"/>
                        <a:buNone/>
                        <a:tabLst/>
                        <a:defRPr/>
                      </a:pPr>
                      <a:r>
                        <a:rPr kumimoji="0" lang="en-US" sz="1000" b="1" i="0" u="none" strike="noStrike" cap="none" normalizeH="0" baseline="0" dirty="0" err="1" smtClean="0">
                          <a:ln>
                            <a:noFill/>
                          </a:ln>
                          <a:solidFill>
                            <a:srgbClr val="3333FF"/>
                          </a:solidFill>
                          <a:effectLst/>
                          <a:latin typeface="Times New Roman" pitchFamily="18" charset="0"/>
                          <a:cs typeface="Times New Roman" pitchFamily="18" charset="0"/>
                        </a:rPr>
                        <a:t>Odate</a:t>
                      </a:r>
                      <a:endParaRPr kumimoji="0" lang="en-US" sz="1000" b="0" i="0" u="none" strike="noStrike" cap="none" normalizeH="0" baseline="0" dirty="0" smtClean="0">
                        <a:ln>
                          <a:noFill/>
                        </a:ln>
                        <a:solidFill>
                          <a:srgbClr val="3333FF"/>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0" fontAlgn="base" latinLnBrk="0" hangingPunct="0">
                        <a:lnSpc>
                          <a:spcPct val="100000"/>
                        </a:lnSpc>
                        <a:spcBef>
                          <a:spcPts val="0"/>
                        </a:spcBef>
                        <a:spcAft>
                          <a:spcPct val="0"/>
                        </a:spcAft>
                        <a:buClr>
                          <a:schemeClr val="bg2"/>
                        </a:buClr>
                        <a:buSzPct val="75000"/>
                        <a:buFont typeface="Wingdings" pitchFamily="2" charset="2"/>
                        <a:buNone/>
                        <a:tabLst/>
                        <a:defRPr/>
                      </a:pPr>
                      <a:r>
                        <a:rPr kumimoji="0" lang="en-US" sz="1000" b="1" i="0" u="none" strike="noStrike" cap="none" normalizeH="0" baseline="0" dirty="0" err="1" smtClean="0">
                          <a:ln>
                            <a:noFill/>
                          </a:ln>
                          <a:solidFill>
                            <a:srgbClr val="3333FF"/>
                          </a:solidFill>
                          <a:effectLst/>
                          <a:latin typeface="Times New Roman" pitchFamily="18" charset="0"/>
                          <a:cs typeface="Times New Roman" pitchFamily="18" charset="0"/>
                        </a:rPr>
                        <a:t>Cnum</a:t>
                      </a:r>
                      <a:endParaRPr kumimoji="0" lang="en-US" sz="1000" b="0" i="0" u="none" strike="noStrike" cap="none" normalizeH="0" baseline="0" dirty="0" smtClean="0">
                        <a:ln>
                          <a:noFill/>
                        </a:ln>
                        <a:solidFill>
                          <a:srgbClr val="3333FF"/>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extLst>
              </a:tr>
              <a:tr h="587598">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Иванов</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0.12</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3003</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767.19</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10/03/2000</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200</a:t>
                      </a: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extLst>
              </a:tr>
              <a:tr h="427306">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Иванов</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0.12</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3008</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4723.00</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10/05/2000</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2006</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extLst>
              </a:tr>
              <a:tr h="427306">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1001</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Иванов</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0.12</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3011</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9891.88</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10/06/2000</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2006</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p>
                      <a:pPr marL="342900" marR="0" lvl="0" indent="-34290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extLst>
              </a:tr>
              <a:tr h="392741">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000" b="1" i="0" u="none" strike="noStrike" cap="none" normalizeH="0" baseline="0" dirty="0" smtClean="0">
                          <a:ln>
                            <a:noFill/>
                          </a:ln>
                          <a:solidFill>
                            <a:schemeClr val="tx1"/>
                          </a:solidFill>
                          <a:effectLst/>
                          <a:latin typeface="Times New Roman" pitchFamily="18" charset="0"/>
                          <a:cs typeface="Times New Roman" pitchFamily="18" charset="0"/>
                        </a:rPr>
                        <a:t>1004</a:t>
                      </a:r>
                      <a:endParaRPr kumimoji="0" lang="en-US"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Сидоров</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Новосибирск</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000" b="1" i="0" u="none" strike="noStrike" cap="none" normalizeH="0" baseline="0" dirty="0" smtClean="0">
                          <a:ln>
                            <a:noFill/>
                          </a:ln>
                          <a:solidFill>
                            <a:schemeClr val="tx1"/>
                          </a:solidFill>
                          <a:effectLst/>
                          <a:latin typeface="Times New Roman" pitchFamily="18" charset="0"/>
                          <a:cs typeface="Times New Roman" pitchFamily="18" charset="0"/>
                        </a:rPr>
                        <a:t>0.11</a:t>
                      </a:r>
                      <a:endParaRPr kumimoji="0" lang="ru-RU" sz="1000" b="0" i="0" u="none" strike="noStrike" cap="none" normalizeH="0" baseline="0" dirty="0" smtClean="0">
                        <a:ln>
                          <a:noFill/>
                        </a:ln>
                        <a:solidFill>
                          <a:schemeClr val="tx1"/>
                        </a:solidFill>
                        <a:effectLst/>
                        <a:latin typeface="Times New Roman" pitchFamily="18" charset="0"/>
                        <a:cs typeface="Times New Roman" pitchFamily="18" charset="0"/>
                      </a:endParaRP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000" b="1" i="0" u="none" strike="noStrike" kern="1200" cap="none" normalizeH="0" baseline="0" dirty="0" smtClean="0">
                          <a:ln>
                            <a:noFill/>
                          </a:ln>
                          <a:solidFill>
                            <a:schemeClr val="tx1"/>
                          </a:solidFill>
                          <a:effectLst/>
                          <a:latin typeface="Times New Roman" pitchFamily="18" charset="0"/>
                          <a:ea typeface="+mn-ea"/>
                          <a:cs typeface="Times New Roman" pitchFamily="18" charset="0"/>
                        </a:rPr>
                        <a:t>3002</a:t>
                      </a: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kern="1200" cap="none" normalizeH="0" baseline="0" dirty="0" smtClean="0">
                          <a:ln>
                            <a:noFill/>
                          </a:ln>
                          <a:solidFill>
                            <a:schemeClr val="tx1"/>
                          </a:solidFill>
                          <a:effectLst/>
                          <a:latin typeface="Times New Roman" pitchFamily="18" charset="0"/>
                          <a:ea typeface="+mn-ea"/>
                          <a:cs typeface="Times New Roman" pitchFamily="18" charset="0"/>
                        </a:rPr>
                        <a:t>1900.10</a:t>
                      </a: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000" b="1" i="0" u="none" strike="noStrike" kern="1200" cap="none" normalizeH="0" baseline="0" dirty="0" smtClean="0">
                          <a:ln>
                            <a:noFill/>
                          </a:ln>
                          <a:solidFill>
                            <a:schemeClr val="tx1"/>
                          </a:solidFill>
                          <a:effectLst/>
                          <a:latin typeface="Times New Roman" pitchFamily="18" charset="0"/>
                          <a:ea typeface="+mn-ea"/>
                          <a:cs typeface="Times New Roman" pitchFamily="18" charset="0"/>
                        </a:rPr>
                        <a:t>10/03/2000</a:t>
                      </a: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ru-RU" sz="1000" b="1" i="0" u="none" strike="noStrike" kern="1200" cap="none" normalizeH="0" baseline="0" dirty="0" smtClean="0">
                          <a:ln>
                            <a:noFill/>
                          </a:ln>
                          <a:solidFill>
                            <a:schemeClr val="tx1"/>
                          </a:solidFill>
                          <a:effectLst/>
                          <a:latin typeface="Times New Roman" pitchFamily="18" charset="0"/>
                          <a:ea typeface="+mn-ea"/>
                          <a:cs typeface="Times New Roman" pitchFamily="18" charset="0"/>
                        </a:rPr>
                        <a:t>200</a:t>
                      </a:r>
                      <a:r>
                        <a:rPr kumimoji="0" lang="en-US" sz="1000" b="1" i="0" u="none" strike="noStrike" kern="1200" cap="none" normalizeH="0" baseline="0" dirty="0" smtClean="0">
                          <a:ln>
                            <a:noFill/>
                          </a:ln>
                          <a:solidFill>
                            <a:schemeClr val="tx1"/>
                          </a:solidFill>
                          <a:effectLst/>
                          <a:latin typeface="Times New Roman" pitchFamily="18" charset="0"/>
                          <a:ea typeface="+mn-ea"/>
                          <a:cs typeface="Times New Roman" pitchFamily="18" charset="0"/>
                        </a:rPr>
                        <a:t>7</a:t>
                      </a:r>
                    </a:p>
                  </a:txBody>
                  <a:tcPr marL="36000" marR="36000" marT="36000" marB="360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extLst>
              </a:tr>
            </a:tbl>
          </a:graphicData>
        </a:graphic>
      </p:graphicFrame>
      <p:graphicFrame>
        <p:nvGraphicFramePr>
          <p:cNvPr id="8" name="Group 158"/>
          <p:cNvGraphicFramePr>
            <a:graphicFrameLocks noGrp="1"/>
          </p:cNvGraphicFramePr>
          <p:nvPr/>
        </p:nvGraphicFramePr>
        <p:xfrm>
          <a:off x="6300788" y="4365625"/>
          <a:ext cx="2225675" cy="1377950"/>
        </p:xfrm>
        <a:graphic>
          <a:graphicData uri="http://schemas.openxmlformats.org/drawingml/2006/table">
            <a:tbl>
              <a:tblPr/>
              <a:tblGrid>
                <a:gridCol w="1187803">
                  <a:extLst>
                    <a:ext uri="{9D8B030D-6E8A-4147-A177-3AD203B41FA5}"/>
                  </a:extLst>
                </a:gridCol>
                <a:gridCol w="1037872">
                  <a:extLst>
                    <a:ext uri="{9D8B030D-6E8A-4147-A177-3AD203B41FA5}"/>
                  </a:extLst>
                </a:gridCol>
              </a:tblGrid>
              <a:tr h="518055">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dirty="0" err="1" smtClean="0">
                          <a:ln>
                            <a:noFill/>
                          </a:ln>
                          <a:solidFill>
                            <a:schemeClr val="bg2">
                              <a:lumMod val="60000"/>
                              <a:lumOff val="40000"/>
                            </a:schemeClr>
                          </a:solidFill>
                          <a:effectLst/>
                          <a:latin typeface="Times New Roman" pitchFamily="18" charset="0"/>
                          <a:cs typeface="Times New Roman" pitchFamily="18" charset="0"/>
                        </a:rPr>
                        <a:t>Sname</a:t>
                      </a:r>
                      <a:endParaRPr kumimoji="0" lang="en-US" sz="14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64" marR="91464"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ru-RU" sz="1400" b="1" i="0" u="none" strike="noStrike" cap="none" normalizeH="0" baseline="0" dirty="0" smtClean="0">
                          <a:ln>
                            <a:noFill/>
                          </a:ln>
                          <a:solidFill>
                            <a:srgbClr val="3333FF"/>
                          </a:solidFill>
                          <a:effectLst/>
                          <a:latin typeface="Times New Roman" pitchFamily="18" charset="0"/>
                          <a:cs typeface="Times New Roman" pitchFamily="18" charset="0"/>
                        </a:rPr>
                        <a:t>Сумма</a:t>
                      </a:r>
                      <a:endParaRPr kumimoji="0" lang="en-US" sz="1400" b="0" i="0" u="none" strike="noStrike" cap="none" normalizeH="0" baseline="0" dirty="0" smtClean="0">
                        <a:ln>
                          <a:noFill/>
                        </a:ln>
                        <a:solidFill>
                          <a:srgbClr val="3333FF"/>
                        </a:solidFill>
                        <a:effectLst/>
                        <a:latin typeface="Arial" charset="0"/>
                        <a:cs typeface="Arial"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en-US" sz="1400" b="0" i="0" u="none" strike="noStrike" cap="none" normalizeH="0" baseline="0" dirty="0" smtClean="0">
                        <a:ln>
                          <a:noFill/>
                        </a:ln>
                        <a:solidFill>
                          <a:schemeClr val="bg2">
                            <a:lumMod val="60000"/>
                            <a:lumOff val="40000"/>
                          </a:schemeClr>
                        </a:solidFill>
                        <a:effectLst/>
                        <a:latin typeface="Arial" charset="0"/>
                        <a:cs typeface="Arial" charset="0"/>
                      </a:endParaRPr>
                    </a:p>
                  </a:txBody>
                  <a:tcPr marL="91464" marR="91464" marT="45705" marB="457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extLst>
              </a:tr>
              <a:tr h="518055">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Иванов</a:t>
                      </a:r>
                      <a:endParaRPr kumimoji="0" lang="ru-RU" sz="1400" b="0" i="0" u="none" strike="noStrike" cap="none" normalizeH="0" baseline="0" dirty="0" smtClean="0">
                        <a:ln>
                          <a:noFill/>
                        </a:ln>
                        <a:solidFill>
                          <a:schemeClr val="tx1"/>
                        </a:solidFill>
                        <a:effectLst/>
                        <a:latin typeface="Arial" charset="0"/>
                        <a:cs typeface="Arial" charset="0"/>
                      </a:endParaRPr>
                    </a:p>
                  </a:txBody>
                  <a:tcPr marL="91464" marR="91464"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ru-RU" sz="1400" b="1" i="0" u="none" strike="noStrike" cap="none" normalizeH="0" baseline="0" smtClean="0">
                          <a:ln>
                            <a:noFill/>
                          </a:ln>
                          <a:solidFill>
                            <a:schemeClr val="tx1"/>
                          </a:solidFill>
                          <a:effectLst/>
                          <a:latin typeface="Times New Roman" pitchFamily="18" charset="0"/>
                          <a:cs typeface="Times New Roman" pitchFamily="18" charset="0"/>
                        </a:rPr>
                        <a:t>15382.07</a:t>
                      </a:r>
                      <a:endParaRPr kumimoji="0" lang="en-US" sz="1400" b="0" i="0" u="none" strike="noStrike" cap="none" normalizeH="0" baseline="0" dirty="0" smtClean="0">
                        <a:ln>
                          <a:noFill/>
                        </a:ln>
                        <a:solidFill>
                          <a:schemeClr val="tx1"/>
                        </a:solidFill>
                        <a:effectLst/>
                        <a:latin typeface="Arial" charset="0"/>
                        <a:cs typeface="Arial" charset="0"/>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endParaRPr kumimoji="0" lang="ru-RU" sz="1400" b="0" i="0" u="none" strike="noStrike" cap="none" normalizeH="0" baseline="0" dirty="0" smtClean="0">
                        <a:ln>
                          <a:noFill/>
                        </a:ln>
                        <a:solidFill>
                          <a:schemeClr val="tx1"/>
                        </a:solidFill>
                        <a:effectLst/>
                        <a:latin typeface="Arial" charset="0"/>
                        <a:cs typeface="Arial" charset="0"/>
                      </a:endParaRPr>
                    </a:p>
                  </a:txBody>
                  <a:tcPr marL="91464" marR="91464" marT="45705" marB="457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extLst>
              </a:tr>
              <a:tr h="341841">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pPr>
                      <a:r>
                        <a:rPr kumimoji="0" lang="ru-RU" sz="1400" b="1" i="0" u="none" strike="noStrike" cap="none" normalizeH="0" baseline="0" dirty="0" smtClean="0">
                          <a:ln>
                            <a:noFill/>
                          </a:ln>
                          <a:solidFill>
                            <a:schemeClr val="tx1"/>
                          </a:solidFill>
                          <a:effectLst/>
                          <a:latin typeface="Times New Roman" pitchFamily="18" charset="0"/>
                          <a:cs typeface="Times New Roman" pitchFamily="18" charset="0"/>
                        </a:rPr>
                        <a:t>Сидоров</a:t>
                      </a:r>
                      <a:endParaRPr kumimoji="0" lang="ru-RU" sz="1400" b="0" i="0" u="none" strike="noStrike" cap="none" normalizeH="0" baseline="0" dirty="0" smtClean="0">
                        <a:ln>
                          <a:noFill/>
                        </a:ln>
                        <a:solidFill>
                          <a:schemeClr val="tx1"/>
                        </a:solidFill>
                        <a:effectLst/>
                        <a:latin typeface="Arial" charset="0"/>
                        <a:cs typeface="Arial" charset="0"/>
                      </a:endParaRPr>
                    </a:p>
                  </a:txBody>
                  <a:tcPr marL="91464" marR="91464"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itchFamily="2" charset="2"/>
                        <a:buNone/>
                        <a:tabLst/>
                        <a:defRPr/>
                      </a:pPr>
                      <a:r>
                        <a:rPr kumimoji="0" lang="en-US" sz="1400" b="1" i="0" u="none" strike="noStrike" cap="none" normalizeH="0" baseline="0" dirty="0" smtClean="0">
                          <a:ln>
                            <a:noFill/>
                          </a:ln>
                          <a:solidFill>
                            <a:schemeClr val="tx1"/>
                          </a:solidFill>
                          <a:effectLst/>
                          <a:latin typeface="Times New Roman" pitchFamily="18" charset="0"/>
                          <a:cs typeface="Times New Roman" pitchFamily="18" charset="0"/>
                        </a:rPr>
                        <a:t>1900.10</a:t>
                      </a:r>
                      <a:endParaRPr kumimoji="0" lang="en-US" sz="1400" b="0" i="0" u="none" strike="noStrike" cap="none" normalizeH="0" baseline="0" dirty="0" smtClean="0">
                        <a:ln>
                          <a:noFill/>
                        </a:ln>
                        <a:solidFill>
                          <a:schemeClr val="tx1"/>
                        </a:solidFill>
                        <a:effectLst/>
                        <a:latin typeface="Arial" charset="0"/>
                        <a:cs typeface="Arial" charset="0"/>
                      </a:endParaRPr>
                    </a:p>
                  </a:txBody>
                  <a:tcPr marL="91464" marR="91464" marT="45705" marB="4570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extLst>
              </a:tr>
            </a:tbl>
          </a:graphicData>
        </a:graphic>
      </p:graphicFrame>
      <p:sp>
        <p:nvSpPr>
          <p:cNvPr id="9" name="Объект 2"/>
          <p:cNvSpPr>
            <a:spLocks noGrp="1"/>
          </p:cNvSpPr>
          <p:nvPr>
            <p:ph idx="1"/>
          </p:nvPr>
        </p:nvSpPr>
        <p:spPr>
          <a:xfrm>
            <a:off x="5940425" y="908050"/>
            <a:ext cx="3132138" cy="1584325"/>
          </a:xfrm>
        </p:spPr>
        <p:txBody>
          <a:bodyPr>
            <a:normAutofit fontScale="40000" lnSpcReduction="20000"/>
          </a:bodyPr>
          <a:lstStyle/>
          <a:p>
            <a:pPr marL="0" indent="0">
              <a:buFont typeface="Wingdings" pitchFamily="2" charset="2"/>
              <a:buNone/>
              <a:defRPr/>
            </a:pPr>
            <a:r>
              <a:rPr lang="en-US" altLang="ru-RU" dirty="0" smtClean="0"/>
              <a:t>SELECT </a:t>
            </a:r>
            <a:r>
              <a:rPr lang="en-US" altLang="ru-RU" dirty="0" err="1"/>
              <a:t>S</a:t>
            </a:r>
            <a:r>
              <a:rPr lang="en-US" altLang="ru-RU" dirty="0" err="1" smtClean="0"/>
              <a:t>name</a:t>
            </a:r>
            <a:r>
              <a:rPr lang="en-US" altLang="ru-RU" dirty="0" smtClean="0"/>
              <a:t>, sum(</a:t>
            </a:r>
            <a:r>
              <a:rPr lang="en-US" altLang="ru-RU" dirty="0" err="1" smtClean="0"/>
              <a:t>amt</a:t>
            </a:r>
            <a:r>
              <a:rPr lang="en-US" altLang="ru-RU" dirty="0" smtClean="0"/>
              <a:t>) as ‘</a:t>
            </a:r>
            <a:r>
              <a:rPr lang="ru-RU" altLang="ru-RU" dirty="0" smtClean="0"/>
              <a:t>Сумма</a:t>
            </a:r>
            <a:r>
              <a:rPr lang="en-US" altLang="ru-RU" dirty="0" smtClean="0"/>
              <a:t>’</a:t>
            </a:r>
          </a:p>
          <a:p>
            <a:pPr marL="0" indent="0">
              <a:buFont typeface="Wingdings" pitchFamily="2" charset="2"/>
              <a:buNone/>
              <a:defRPr/>
            </a:pPr>
            <a:r>
              <a:rPr lang="en-US" altLang="ru-RU" dirty="0" smtClean="0"/>
              <a:t>FROM </a:t>
            </a:r>
            <a:r>
              <a:rPr lang="ru-RU" altLang="ru-RU" dirty="0" err="1" smtClean="0"/>
              <a:t>Salespeople</a:t>
            </a:r>
            <a:r>
              <a:rPr lang="en-US" altLang="ru-RU" dirty="0" smtClean="0"/>
              <a:t> S</a:t>
            </a:r>
            <a:r>
              <a:rPr lang="ru-RU" altLang="ru-RU" dirty="0" smtClean="0"/>
              <a:t>, </a:t>
            </a:r>
            <a:r>
              <a:rPr lang="en-US" altLang="ru-RU" dirty="0" smtClean="0"/>
              <a:t>Orders O</a:t>
            </a:r>
          </a:p>
          <a:p>
            <a:pPr marL="0" indent="0">
              <a:buFont typeface="Wingdings" pitchFamily="2" charset="2"/>
              <a:buNone/>
              <a:defRPr/>
            </a:pPr>
            <a:r>
              <a:rPr lang="en-US" altLang="ru-RU" dirty="0" smtClean="0"/>
              <a:t>WHERE </a:t>
            </a:r>
            <a:br>
              <a:rPr lang="en-US" altLang="ru-RU" dirty="0" smtClean="0"/>
            </a:br>
            <a:r>
              <a:rPr lang="en-US" altLang="ru-RU" dirty="0" smtClean="0"/>
              <a:t>	</a:t>
            </a:r>
            <a:r>
              <a:rPr lang="en-US" altLang="ru-RU" dirty="0" err="1" smtClean="0"/>
              <a:t>S.snum</a:t>
            </a:r>
            <a:r>
              <a:rPr lang="en-US" altLang="ru-RU" dirty="0" smtClean="0"/>
              <a:t>=</a:t>
            </a:r>
            <a:r>
              <a:rPr lang="en-US" altLang="ru-RU" dirty="0" err="1" smtClean="0"/>
              <a:t>O.snum</a:t>
            </a:r>
            <a:r>
              <a:rPr lang="en-US" altLang="ru-RU" dirty="0" smtClean="0"/>
              <a:t> and 				</a:t>
            </a:r>
            <a:r>
              <a:rPr lang="en-US" altLang="ru-RU" dirty="0" err="1" smtClean="0"/>
              <a:t>S.City</a:t>
            </a:r>
            <a:r>
              <a:rPr lang="en-US" altLang="ru-RU" dirty="0" smtClean="0"/>
              <a:t>=‘</a:t>
            </a:r>
            <a:r>
              <a:rPr lang="ru-RU" altLang="ru-RU" dirty="0" smtClean="0"/>
              <a:t>Новосибирск</a:t>
            </a:r>
            <a:r>
              <a:rPr lang="en-US" altLang="ru-RU" dirty="0" smtClean="0"/>
              <a:t>’</a:t>
            </a:r>
          </a:p>
          <a:p>
            <a:pPr marL="0" indent="0">
              <a:buFont typeface="Wingdings" pitchFamily="2" charset="2"/>
              <a:buNone/>
              <a:defRPr/>
            </a:pPr>
            <a:r>
              <a:rPr lang="en-US" altLang="ru-RU" dirty="0" smtClean="0"/>
              <a:t>GROUP by </a:t>
            </a:r>
            <a:r>
              <a:rPr lang="en-US" altLang="ru-RU" dirty="0" err="1" smtClean="0"/>
              <a:t>sname</a:t>
            </a:r>
            <a:r>
              <a:rPr lang="en-US" altLang="ru-RU" dirty="0" smtClean="0"/>
              <a:t>;</a:t>
            </a:r>
          </a:p>
          <a:p>
            <a:pPr marL="0" indent="0">
              <a:buFont typeface="Wingdings" pitchFamily="2" charset="2"/>
              <a:buNone/>
              <a:defRPr/>
            </a:pPr>
            <a:endParaRPr lang="ru-RU" altLang="ru-RU" dirty="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par>
                          <p:cTn id="8" fill="hold" nodeType="afterGroup">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fade">
                                      <p:cBhvr>
                                        <p:cTn id="11" dur="2000"/>
                                        <p:tgtEl>
                                          <p:spTgt spid="9">
                                            <p:txEl>
                                              <p:pRg st="1" end="1"/>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Effect transition="in" filter="fade">
                                      <p:cBhvr>
                                        <p:cTn id="14" dur="2000"/>
                                        <p:tgtEl>
                                          <p:spTgt spid="9">
                                            <p:txEl>
                                              <p:pRg st="2" end="2"/>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2000"/>
                                        <p:tgtEl>
                                          <p:spTgt spid="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up)">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Заголовок 1"/>
          <p:cNvSpPr>
            <a:spLocks noGrp="1"/>
          </p:cNvSpPr>
          <p:nvPr>
            <p:ph type="title"/>
          </p:nvPr>
        </p:nvSpPr>
        <p:spPr>
          <a:xfrm>
            <a:off x="457200" y="285750"/>
            <a:ext cx="8229600" cy="739775"/>
          </a:xfrm>
        </p:spPr>
        <p:txBody>
          <a:bodyPr/>
          <a:lstStyle/>
          <a:p>
            <a:pPr algn="ctr"/>
            <a:r>
              <a:rPr lang="ru-RU" altLang="ru-RU" sz="4000" smtClean="0">
                <a:solidFill>
                  <a:schemeClr val="bg2"/>
                </a:solidFill>
              </a:rPr>
              <a:t>Подзапросы</a:t>
            </a:r>
            <a:endParaRPr lang="ru-RU" altLang="ru-RU" sz="4000" smtClean="0"/>
          </a:p>
        </p:txBody>
      </p:sp>
      <p:sp>
        <p:nvSpPr>
          <p:cNvPr id="3" name="Объект 2"/>
          <p:cNvSpPr>
            <a:spLocks noGrp="1"/>
          </p:cNvSpPr>
          <p:nvPr>
            <p:ph idx="1"/>
          </p:nvPr>
        </p:nvSpPr>
        <p:spPr>
          <a:xfrm>
            <a:off x="285750" y="1071563"/>
            <a:ext cx="8401050" cy="5500687"/>
          </a:xfrm>
        </p:spPr>
        <p:txBody>
          <a:bodyPr>
            <a:normAutofit fontScale="62500" lnSpcReduction="20000"/>
          </a:bodyPr>
          <a:lstStyle/>
          <a:p>
            <a:pPr marL="0" indent="0">
              <a:buFont typeface="Wingdings" pitchFamily="2" charset="2"/>
              <a:buNone/>
              <a:defRPr/>
            </a:pPr>
            <a:r>
              <a:rPr lang="ru-RU" b="1" dirty="0" smtClean="0"/>
              <a:t>Подзапрос</a:t>
            </a:r>
            <a:r>
              <a:rPr lang="ru-RU" dirty="0" smtClean="0"/>
              <a:t> - позволяет строить сложные иерархии запросов, многократно выполняемые в процессе построения результирующего набора или выполнения одного из операторов изменения данных (DELETE, INSERT, UPDATE).</a:t>
            </a:r>
          </a:p>
          <a:p>
            <a:pPr>
              <a:buFont typeface="Wingdings" pitchFamily="2" charset="2"/>
              <a:buNone/>
              <a:defRPr/>
            </a:pPr>
            <a:r>
              <a:rPr lang="ru-RU" dirty="0" smtClean="0"/>
              <a:t>Подзапрос позволяет решать следующие задачи: </a:t>
            </a:r>
          </a:p>
          <a:p>
            <a:pPr>
              <a:defRPr/>
            </a:pPr>
            <a:r>
              <a:rPr lang="ru-RU" dirty="0" smtClean="0"/>
              <a:t>определять набор строк, добавляемый в таблицу на одно выполнение оператора INSERT; </a:t>
            </a:r>
          </a:p>
          <a:p>
            <a:pPr>
              <a:defRPr/>
            </a:pPr>
            <a:r>
              <a:rPr lang="ru-RU" dirty="0" smtClean="0"/>
              <a:t>определять данные, включаемые в представление, создаваемое оператором CREATE VIEW; </a:t>
            </a:r>
          </a:p>
          <a:p>
            <a:pPr>
              <a:defRPr/>
            </a:pPr>
            <a:r>
              <a:rPr lang="ru-RU" dirty="0" smtClean="0"/>
              <a:t>определять значения, модифицируемые оператором UPDATE; </a:t>
            </a:r>
          </a:p>
          <a:p>
            <a:pPr>
              <a:defRPr/>
            </a:pPr>
            <a:r>
              <a:rPr lang="ru-RU" dirty="0" smtClean="0"/>
              <a:t>указывать один или несколько значений во фразах WHERE и HAVING оператора SELECT; </a:t>
            </a:r>
          </a:p>
          <a:p>
            <a:pPr>
              <a:defRPr/>
            </a:pPr>
            <a:r>
              <a:rPr lang="ru-RU" dirty="0" smtClean="0"/>
              <a:t>определять во фразе FROM таблицу как результат выполнения подзапроса; </a:t>
            </a:r>
          </a:p>
          <a:p>
            <a:pPr>
              <a:defRPr/>
            </a:pPr>
            <a:r>
              <a:rPr lang="ru-RU" dirty="0" smtClean="0"/>
              <a:t>применять коррелированные подзапросы. Подзапрос называется коррелированным, если запрос, содержащийся в предикате, имеет ссылку на значение из таблицы (внешней к данному запросу), которая проверяется посредством данного предиката. </a:t>
            </a:r>
          </a:p>
          <a:p>
            <a:pPr marL="0" indent="0">
              <a:buFont typeface="Wingdings" pitchFamily="2" charset="2"/>
              <a:buNone/>
              <a:defRPr/>
            </a:pPr>
            <a:endParaRPr lang="ru-RU" dirty="0" smtClean="0"/>
          </a:p>
        </p:txBody>
      </p:sp>
      <p:sp>
        <p:nvSpPr>
          <p:cNvPr id="30724" name="Номер слайда 3"/>
          <p:cNvSpPr>
            <a:spLocks noGrp="1"/>
          </p:cNvSpPr>
          <p:nvPr>
            <p:ph type="sldNum" sz="quarter" idx="11"/>
          </p:nvPr>
        </p:nvSpPr>
        <p:spPr>
          <a:noFill/>
          <a:ln>
            <a:miter lim="800000"/>
            <a:headEnd/>
            <a:tailEnd/>
          </a:ln>
        </p:spPr>
        <p:txBody>
          <a:bodyPr/>
          <a:lstStyle/>
          <a:p>
            <a:fld id="{8D13760C-76BF-4FC0-ACDD-0E376B423DDD}" type="slidenum">
              <a:rPr lang="ru-RU" altLang="ru-RU" smtClean="0"/>
              <a:pPr/>
              <a:t>28</a:t>
            </a:fld>
            <a:endParaRPr lang="ru-RU" altLang="ru-RU"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Заголовок 1"/>
          <p:cNvSpPr>
            <a:spLocks noGrp="1"/>
          </p:cNvSpPr>
          <p:nvPr>
            <p:ph type="title"/>
          </p:nvPr>
        </p:nvSpPr>
        <p:spPr>
          <a:xfrm>
            <a:off x="457200" y="285750"/>
            <a:ext cx="8229600" cy="739775"/>
          </a:xfrm>
        </p:spPr>
        <p:txBody>
          <a:bodyPr/>
          <a:lstStyle/>
          <a:p>
            <a:pPr algn="ctr"/>
            <a:r>
              <a:rPr lang="ru-RU" altLang="ru-RU" sz="3600" smtClean="0">
                <a:solidFill>
                  <a:schemeClr val="bg2"/>
                </a:solidFill>
              </a:rPr>
              <a:t>Подзапросы (пример)</a:t>
            </a:r>
            <a:endParaRPr lang="ru-RU" altLang="ru-RU" sz="3600" smtClean="0"/>
          </a:p>
        </p:txBody>
      </p:sp>
      <p:sp>
        <p:nvSpPr>
          <p:cNvPr id="3" name="Объект 2"/>
          <p:cNvSpPr>
            <a:spLocks noGrp="1"/>
          </p:cNvSpPr>
          <p:nvPr>
            <p:ph idx="1"/>
          </p:nvPr>
        </p:nvSpPr>
        <p:spPr>
          <a:xfrm>
            <a:off x="214313" y="1071563"/>
            <a:ext cx="8701087" cy="5357812"/>
          </a:xfrm>
        </p:spPr>
        <p:txBody>
          <a:bodyPr>
            <a:normAutofit fontScale="92500"/>
          </a:bodyPr>
          <a:lstStyle/>
          <a:p>
            <a:pPr>
              <a:buFont typeface="Wingdings" pitchFamily="2" charset="2"/>
              <a:buNone/>
              <a:defRPr/>
            </a:pPr>
            <a:r>
              <a:rPr lang="en-US" dirty="0" smtClean="0"/>
              <a:t>SELECT * </a:t>
            </a:r>
            <a:endParaRPr lang="ru-RU" dirty="0" smtClean="0"/>
          </a:p>
          <a:p>
            <a:pPr>
              <a:buFont typeface="Wingdings" pitchFamily="2" charset="2"/>
              <a:buNone/>
              <a:defRPr/>
            </a:pPr>
            <a:r>
              <a:rPr lang="en-US" dirty="0" smtClean="0"/>
              <a:t>FROM </a:t>
            </a:r>
            <a:r>
              <a:rPr lang="en-US" dirty="0" smtClean="0">
                <a:solidFill>
                  <a:srgbClr val="FF0000"/>
                </a:solidFill>
              </a:rPr>
              <a:t>Customer</a:t>
            </a:r>
            <a:endParaRPr lang="ru-RU" dirty="0" smtClean="0">
              <a:solidFill>
                <a:srgbClr val="3333FF"/>
              </a:solidFill>
            </a:endParaRPr>
          </a:p>
          <a:p>
            <a:pPr>
              <a:buFont typeface="Wingdings" pitchFamily="2" charset="2"/>
              <a:buNone/>
              <a:defRPr/>
            </a:pPr>
            <a:r>
              <a:rPr lang="en-US" dirty="0" smtClean="0"/>
              <a:t>WHERE </a:t>
            </a:r>
            <a:r>
              <a:rPr lang="en-US" dirty="0" err="1" smtClean="0">
                <a:solidFill>
                  <a:srgbClr val="FF0000"/>
                </a:solidFill>
                <a:cs typeface="Times New Roman" pitchFamily="18" charset="0"/>
              </a:rPr>
              <a:t>Snum</a:t>
            </a:r>
            <a:r>
              <a:rPr lang="en-US" b="1" dirty="0" smtClean="0">
                <a:solidFill>
                  <a:schemeClr val="bg2">
                    <a:lumMod val="60000"/>
                    <a:lumOff val="40000"/>
                  </a:schemeClr>
                </a:solidFill>
                <a:latin typeface="Times New Roman" pitchFamily="18" charset="0"/>
                <a:cs typeface="Times New Roman" pitchFamily="18" charset="0"/>
              </a:rPr>
              <a:t> </a:t>
            </a:r>
            <a:r>
              <a:rPr lang="en-US" dirty="0" smtClean="0"/>
              <a:t>=(SELECT </a:t>
            </a:r>
            <a:r>
              <a:rPr lang="en-US" dirty="0" err="1" smtClean="0">
                <a:solidFill>
                  <a:srgbClr val="3333FF"/>
                </a:solidFill>
                <a:cs typeface="Times New Roman" pitchFamily="18" charset="0"/>
              </a:rPr>
              <a:t>Snum</a:t>
            </a:r>
            <a:r>
              <a:rPr lang="en-US" dirty="0" smtClean="0">
                <a:solidFill>
                  <a:srgbClr val="3333FF"/>
                </a:solidFill>
              </a:rPr>
              <a:t> </a:t>
            </a:r>
          </a:p>
          <a:p>
            <a:pPr>
              <a:buFont typeface="Wingdings" pitchFamily="2" charset="2"/>
              <a:buNone/>
              <a:defRPr/>
            </a:pPr>
            <a:r>
              <a:rPr lang="en-US" dirty="0" smtClean="0"/>
              <a:t>				  FROM </a:t>
            </a:r>
            <a:r>
              <a:rPr lang="en-US" dirty="0" smtClean="0">
                <a:solidFill>
                  <a:srgbClr val="3333FF"/>
                </a:solidFill>
              </a:rPr>
              <a:t>Salespeople </a:t>
            </a:r>
            <a:r>
              <a:rPr lang="en-US" dirty="0" smtClean="0"/>
              <a:t/>
            </a:r>
            <a:br>
              <a:rPr lang="en-US" dirty="0" smtClean="0"/>
            </a:br>
            <a:r>
              <a:rPr lang="en-US" dirty="0" smtClean="0"/>
              <a:t>                 	  WHERE </a:t>
            </a:r>
            <a:r>
              <a:rPr lang="en-US" dirty="0" smtClean="0">
                <a:solidFill>
                  <a:srgbClr val="3333FF"/>
                </a:solidFill>
              </a:rPr>
              <a:t>City</a:t>
            </a:r>
            <a:r>
              <a:rPr lang="en-US" dirty="0" smtClean="0"/>
              <a:t> =“</a:t>
            </a:r>
            <a:r>
              <a:rPr lang="ru-RU" dirty="0" smtClean="0"/>
              <a:t>Новосибирск</a:t>
            </a:r>
            <a:r>
              <a:rPr lang="en-US" dirty="0" smtClean="0"/>
              <a:t>”); </a:t>
            </a:r>
            <a:endParaRPr lang="ru-RU" dirty="0" smtClean="0"/>
          </a:p>
          <a:p>
            <a:pPr>
              <a:defRPr/>
            </a:pPr>
            <a:r>
              <a:rPr lang="ru-RU" sz="3000" dirty="0" smtClean="0"/>
              <a:t>В данном операторе подзапрос всегда должен возвращать единственное значение, которое будет проверяться в предикате. Если подзапрос вернет более одного значения, то СУБД выдаст сообщение об ошибке выполнения SQL-оператора. </a:t>
            </a:r>
          </a:p>
          <a:p>
            <a:pPr marL="0" indent="0">
              <a:buFont typeface="Wingdings" pitchFamily="2" charset="2"/>
              <a:buNone/>
              <a:defRPr/>
            </a:pPr>
            <a:endParaRPr lang="ru-RU" dirty="0" smtClean="0"/>
          </a:p>
        </p:txBody>
      </p:sp>
      <p:sp>
        <p:nvSpPr>
          <p:cNvPr id="31748" name="Номер слайда 3"/>
          <p:cNvSpPr>
            <a:spLocks noGrp="1"/>
          </p:cNvSpPr>
          <p:nvPr>
            <p:ph type="sldNum" sz="quarter" idx="11"/>
          </p:nvPr>
        </p:nvSpPr>
        <p:spPr>
          <a:noFill/>
          <a:ln>
            <a:miter lim="800000"/>
            <a:headEnd/>
            <a:tailEnd/>
          </a:ln>
        </p:spPr>
        <p:txBody>
          <a:bodyPr/>
          <a:lstStyle/>
          <a:p>
            <a:fld id="{329FC9D5-618A-45D9-AC15-53473064894C}" type="slidenum">
              <a:rPr lang="ru-RU" altLang="ru-RU" smtClean="0"/>
              <a:pPr/>
              <a:t>29</a:t>
            </a:fld>
            <a:endParaRPr lang="ru-RU" altLang="ru-RU"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Заголовок 1"/>
          <p:cNvSpPr>
            <a:spLocks noGrp="1"/>
          </p:cNvSpPr>
          <p:nvPr>
            <p:ph type="title"/>
          </p:nvPr>
        </p:nvSpPr>
        <p:spPr>
          <a:xfrm>
            <a:off x="457200" y="0"/>
            <a:ext cx="8229600" cy="739775"/>
          </a:xfrm>
        </p:spPr>
        <p:txBody>
          <a:bodyPr/>
          <a:lstStyle/>
          <a:p>
            <a:pPr algn="ctr"/>
            <a:r>
              <a:rPr lang="ru-RU" altLang="ru-RU" sz="3600" smtClean="0">
                <a:solidFill>
                  <a:schemeClr val="bg2"/>
                </a:solidFill>
              </a:rPr>
              <a:t>Подзапросы (примеры)</a:t>
            </a:r>
            <a:endParaRPr lang="ru-RU" altLang="ru-RU" sz="3600" smtClean="0"/>
          </a:p>
        </p:txBody>
      </p:sp>
      <p:sp>
        <p:nvSpPr>
          <p:cNvPr id="3" name="Объект 2"/>
          <p:cNvSpPr>
            <a:spLocks noGrp="1"/>
          </p:cNvSpPr>
          <p:nvPr>
            <p:ph idx="1"/>
          </p:nvPr>
        </p:nvSpPr>
        <p:spPr>
          <a:xfrm>
            <a:off x="214313" y="785813"/>
            <a:ext cx="8929687" cy="5857875"/>
          </a:xfrm>
        </p:spPr>
        <p:txBody>
          <a:bodyPr>
            <a:normAutofit fontScale="40000" lnSpcReduction="20000"/>
          </a:bodyPr>
          <a:lstStyle/>
          <a:p>
            <a:pPr>
              <a:defRPr/>
            </a:pPr>
            <a:r>
              <a:rPr lang="ru-RU" sz="4000" dirty="0" smtClean="0"/>
              <a:t>Стандарт определяет запись предиката в форме "</a:t>
            </a:r>
            <a:r>
              <a:rPr lang="ru-RU" sz="4000" dirty="0" smtClean="0">
                <a:solidFill>
                  <a:srgbClr val="3333FF"/>
                </a:solidFill>
              </a:rPr>
              <a:t>значение</a:t>
            </a:r>
            <a:r>
              <a:rPr lang="ru-RU" sz="4000" dirty="0" smtClean="0"/>
              <a:t> </a:t>
            </a:r>
            <a:r>
              <a:rPr lang="ru-RU" sz="4000" dirty="0" smtClean="0">
                <a:solidFill>
                  <a:srgbClr val="FF0000"/>
                </a:solidFill>
              </a:rPr>
              <a:t>оператор</a:t>
            </a:r>
            <a:r>
              <a:rPr lang="ru-RU" sz="4000" dirty="0" smtClean="0"/>
              <a:t> </a:t>
            </a:r>
            <a:r>
              <a:rPr lang="ru-RU" sz="4000" dirty="0" smtClean="0">
                <a:solidFill>
                  <a:srgbClr val="3333FF"/>
                </a:solidFill>
              </a:rPr>
              <a:t>подзапрос</a:t>
            </a:r>
            <a:r>
              <a:rPr lang="ru-RU" sz="4000" dirty="0" smtClean="0"/>
              <a:t>".</a:t>
            </a:r>
          </a:p>
          <a:p>
            <a:pPr>
              <a:buFont typeface="Wingdings" pitchFamily="2" charset="2"/>
              <a:buNone/>
              <a:defRPr/>
            </a:pPr>
            <a:r>
              <a:rPr lang="ru-RU" sz="4000" dirty="0" smtClean="0"/>
              <a:t>	Однако некоторые СУБД позволяют записывать предикат в форме, указывающей подзапрос слева от оператора сравнения.. Например</a:t>
            </a:r>
            <a:r>
              <a:rPr lang="en-US" sz="4000" dirty="0" smtClean="0"/>
              <a:t>: </a:t>
            </a:r>
            <a:endParaRPr lang="ru-RU" sz="4000" dirty="0" smtClean="0"/>
          </a:p>
          <a:p>
            <a:pPr>
              <a:buFont typeface="Wingdings" pitchFamily="2" charset="2"/>
              <a:buNone/>
              <a:defRPr/>
            </a:pPr>
            <a:r>
              <a:rPr lang="ru-RU" sz="4000" dirty="0" smtClean="0"/>
              <a:t>	</a:t>
            </a:r>
            <a:r>
              <a:rPr lang="en-US" sz="4000" dirty="0" smtClean="0"/>
              <a:t>SELECT * </a:t>
            </a:r>
            <a:endParaRPr lang="ru-RU" sz="4000" dirty="0" smtClean="0"/>
          </a:p>
          <a:p>
            <a:pPr>
              <a:buFont typeface="Wingdings" pitchFamily="2" charset="2"/>
              <a:buNone/>
              <a:defRPr/>
            </a:pPr>
            <a:r>
              <a:rPr lang="ru-RU" sz="4000" dirty="0" smtClean="0"/>
              <a:t>	</a:t>
            </a:r>
            <a:r>
              <a:rPr lang="en-US" sz="4000" dirty="0" smtClean="0"/>
              <a:t>FROM &lt;</a:t>
            </a:r>
            <a:r>
              <a:rPr lang="ru-RU" sz="4000" dirty="0" err="1" smtClean="0"/>
              <a:t>таб</a:t>
            </a:r>
            <a:r>
              <a:rPr lang="ru-RU" sz="4000" dirty="0" smtClean="0"/>
              <a:t> 1</a:t>
            </a:r>
            <a:r>
              <a:rPr lang="en-US" sz="4000" dirty="0" smtClean="0"/>
              <a:t>&gt; </a:t>
            </a:r>
            <a:endParaRPr lang="ru-RU" sz="4000" dirty="0" smtClean="0"/>
          </a:p>
          <a:p>
            <a:pPr>
              <a:buFont typeface="Wingdings" pitchFamily="2" charset="2"/>
              <a:buNone/>
              <a:defRPr/>
            </a:pPr>
            <a:r>
              <a:rPr lang="ru-RU" sz="4000" dirty="0" smtClean="0"/>
              <a:t>	</a:t>
            </a:r>
            <a:r>
              <a:rPr lang="en-US" sz="4000" dirty="0" smtClean="0"/>
              <a:t>WHERE</a:t>
            </a:r>
            <a:r>
              <a:rPr lang="ru-RU" sz="4000" dirty="0" smtClean="0"/>
              <a:t> </a:t>
            </a:r>
            <a:r>
              <a:rPr lang="en-US" sz="4000" dirty="0" smtClean="0"/>
              <a:t> </a:t>
            </a:r>
            <a:r>
              <a:rPr lang="en-US" sz="4000" b="1" dirty="0" smtClean="0">
                <a:solidFill>
                  <a:srgbClr val="00B050"/>
                </a:solidFill>
              </a:rPr>
              <a:t>(</a:t>
            </a:r>
            <a:r>
              <a:rPr lang="en-US" sz="4000" dirty="0" smtClean="0"/>
              <a:t>SELECT </a:t>
            </a:r>
            <a:r>
              <a:rPr lang="en-US" sz="4000" dirty="0" smtClean="0">
                <a:solidFill>
                  <a:srgbClr val="FF0000"/>
                </a:solidFill>
              </a:rPr>
              <a:t>&lt;</a:t>
            </a:r>
            <a:r>
              <a:rPr lang="ru-RU" sz="4000" dirty="0" smtClean="0">
                <a:solidFill>
                  <a:srgbClr val="FF0000"/>
                </a:solidFill>
              </a:rPr>
              <a:t>атр1</a:t>
            </a:r>
            <a:r>
              <a:rPr lang="en-US" sz="4000" dirty="0" smtClean="0">
                <a:solidFill>
                  <a:srgbClr val="FF0000"/>
                </a:solidFill>
              </a:rPr>
              <a:t>&gt; </a:t>
            </a:r>
            <a:r>
              <a:rPr lang="en-US" sz="4000" dirty="0" smtClean="0"/>
              <a:t>FROM &lt;</a:t>
            </a:r>
            <a:r>
              <a:rPr lang="ru-RU" sz="4000" dirty="0" err="1" smtClean="0"/>
              <a:t>таб</a:t>
            </a:r>
            <a:r>
              <a:rPr lang="ru-RU" sz="4000" dirty="0" smtClean="0"/>
              <a:t> 2</a:t>
            </a:r>
            <a:r>
              <a:rPr lang="en-US" sz="4000" dirty="0" smtClean="0"/>
              <a:t>&gt; WHERE &lt;</a:t>
            </a:r>
            <a:r>
              <a:rPr lang="ru-RU" sz="4000" dirty="0" smtClean="0"/>
              <a:t>атр2</a:t>
            </a:r>
            <a:r>
              <a:rPr lang="en-US" sz="4000" dirty="0" smtClean="0"/>
              <a:t>&gt; =&lt;</a:t>
            </a:r>
            <a:r>
              <a:rPr lang="ru-RU" sz="4000" dirty="0" err="1" smtClean="0"/>
              <a:t>знач</a:t>
            </a:r>
            <a:r>
              <a:rPr lang="en-US" sz="4000" dirty="0" smtClean="0"/>
              <a:t>&gt;</a:t>
            </a:r>
            <a:r>
              <a:rPr lang="en-US" sz="4000" b="1" dirty="0" smtClean="0">
                <a:solidFill>
                  <a:srgbClr val="00B050"/>
                </a:solidFill>
              </a:rPr>
              <a:t>)</a:t>
            </a:r>
            <a:r>
              <a:rPr lang="en-US" sz="4000" dirty="0" smtClean="0"/>
              <a:t> = </a:t>
            </a:r>
            <a:r>
              <a:rPr lang="en-US" sz="4000" dirty="0" smtClean="0">
                <a:solidFill>
                  <a:srgbClr val="FF0000"/>
                </a:solidFill>
              </a:rPr>
              <a:t>&lt;</a:t>
            </a:r>
            <a:r>
              <a:rPr lang="ru-RU" sz="4000" dirty="0" smtClean="0">
                <a:solidFill>
                  <a:srgbClr val="FF0000"/>
                </a:solidFill>
              </a:rPr>
              <a:t>атр1</a:t>
            </a:r>
            <a:r>
              <a:rPr lang="en-US" sz="4000" dirty="0" smtClean="0">
                <a:solidFill>
                  <a:srgbClr val="FF0000"/>
                </a:solidFill>
              </a:rPr>
              <a:t>&gt; </a:t>
            </a:r>
            <a:r>
              <a:rPr lang="en-US" sz="4000" dirty="0" smtClean="0"/>
              <a:t>; </a:t>
            </a:r>
            <a:endParaRPr lang="ru-RU" sz="4000" dirty="0" smtClean="0"/>
          </a:p>
          <a:p>
            <a:pPr>
              <a:defRPr/>
            </a:pPr>
            <a:r>
              <a:rPr lang="ru-RU" sz="4000" dirty="0" smtClean="0"/>
              <a:t>Очень часто с подзапросами используются агрегирующие функции, предоставляющие возможность сформулировать условие типа "больше, чем среднее по группе".</a:t>
            </a:r>
            <a:endParaRPr lang="en-US" sz="4000" dirty="0" smtClean="0"/>
          </a:p>
          <a:p>
            <a:pPr>
              <a:buFont typeface="Wingdings" pitchFamily="2" charset="2"/>
              <a:buNone/>
              <a:defRPr/>
            </a:pPr>
            <a:r>
              <a:rPr lang="ru-RU" sz="4000" dirty="0" smtClean="0"/>
              <a:t>	Например</a:t>
            </a:r>
            <a:r>
              <a:rPr lang="en-US" sz="4000" dirty="0" smtClean="0"/>
              <a:t>: </a:t>
            </a:r>
            <a:endParaRPr lang="ru-RU" sz="4000" dirty="0" smtClean="0"/>
          </a:p>
          <a:p>
            <a:pPr>
              <a:buFont typeface="Wingdings" pitchFamily="2" charset="2"/>
              <a:buNone/>
              <a:defRPr/>
            </a:pPr>
            <a:r>
              <a:rPr lang="ru-RU" sz="4000" dirty="0" smtClean="0"/>
              <a:t>	</a:t>
            </a:r>
            <a:r>
              <a:rPr lang="en-US" sz="4000" dirty="0" smtClean="0"/>
              <a:t>SELECT &lt;</a:t>
            </a:r>
            <a:r>
              <a:rPr lang="ru-RU" sz="4000" dirty="0" smtClean="0"/>
              <a:t>атр1</a:t>
            </a:r>
            <a:r>
              <a:rPr lang="en-US" sz="4000" dirty="0" smtClean="0"/>
              <a:t>&gt; </a:t>
            </a:r>
            <a:r>
              <a:rPr lang="en-US" sz="4000" dirty="0" smtClean="0">
                <a:solidFill>
                  <a:srgbClr val="FF0000"/>
                </a:solidFill>
              </a:rPr>
              <a:t>&lt;</a:t>
            </a:r>
            <a:r>
              <a:rPr lang="ru-RU" sz="4000" dirty="0" smtClean="0">
                <a:solidFill>
                  <a:srgbClr val="FF0000"/>
                </a:solidFill>
              </a:rPr>
              <a:t>атр2</a:t>
            </a:r>
            <a:r>
              <a:rPr lang="en-US" sz="4000" dirty="0" smtClean="0">
                <a:solidFill>
                  <a:srgbClr val="FF0000"/>
                </a:solidFill>
              </a:rPr>
              <a:t>&gt;</a:t>
            </a:r>
            <a:r>
              <a:rPr lang="en-US" sz="4000" dirty="0" smtClean="0"/>
              <a:t>&lt;</a:t>
            </a:r>
            <a:r>
              <a:rPr lang="ru-RU" sz="4000" dirty="0" smtClean="0"/>
              <a:t>атр3</a:t>
            </a:r>
            <a:r>
              <a:rPr lang="en-US" sz="4000" dirty="0" smtClean="0"/>
              <a:t>&gt; </a:t>
            </a:r>
            <a:endParaRPr lang="ru-RU" sz="4000" dirty="0" smtClean="0"/>
          </a:p>
          <a:p>
            <a:pPr>
              <a:buFont typeface="Wingdings" pitchFamily="2" charset="2"/>
              <a:buNone/>
              <a:defRPr/>
            </a:pPr>
            <a:r>
              <a:rPr lang="ru-RU" sz="4000" dirty="0" smtClean="0"/>
              <a:t>	</a:t>
            </a:r>
            <a:r>
              <a:rPr lang="en-US" sz="4000" dirty="0" smtClean="0"/>
              <a:t>FROM &lt;</a:t>
            </a:r>
            <a:r>
              <a:rPr lang="ru-RU" sz="4000" dirty="0" err="1" smtClean="0"/>
              <a:t>таб</a:t>
            </a:r>
            <a:r>
              <a:rPr lang="ru-RU" sz="4000" dirty="0" smtClean="0"/>
              <a:t> 1</a:t>
            </a:r>
            <a:r>
              <a:rPr lang="en-US" sz="4000" dirty="0" smtClean="0"/>
              <a:t>&gt;</a:t>
            </a:r>
            <a:endParaRPr lang="ru-RU" sz="4000" dirty="0" smtClean="0"/>
          </a:p>
          <a:p>
            <a:pPr>
              <a:buFont typeface="Wingdings" pitchFamily="2" charset="2"/>
              <a:buNone/>
              <a:defRPr/>
            </a:pPr>
            <a:r>
              <a:rPr lang="ru-RU" sz="4000" dirty="0" smtClean="0"/>
              <a:t>	</a:t>
            </a:r>
            <a:r>
              <a:rPr lang="en-US" sz="4000" dirty="0" smtClean="0"/>
              <a:t>WHERE </a:t>
            </a:r>
            <a:r>
              <a:rPr lang="en-US" sz="4000" dirty="0" smtClean="0">
                <a:solidFill>
                  <a:srgbClr val="FF0000"/>
                </a:solidFill>
              </a:rPr>
              <a:t>&lt;</a:t>
            </a:r>
            <a:r>
              <a:rPr lang="ru-RU" sz="4000" dirty="0" smtClean="0">
                <a:solidFill>
                  <a:srgbClr val="FF0000"/>
                </a:solidFill>
              </a:rPr>
              <a:t>атр2</a:t>
            </a:r>
            <a:r>
              <a:rPr lang="en-US" sz="4000" dirty="0" smtClean="0">
                <a:solidFill>
                  <a:srgbClr val="FF0000"/>
                </a:solidFill>
              </a:rPr>
              <a:t>&gt;</a:t>
            </a:r>
            <a:r>
              <a:rPr lang="ru-RU" sz="4000" dirty="0" smtClean="0"/>
              <a:t> </a:t>
            </a:r>
            <a:r>
              <a:rPr lang="en-US" sz="4000" b="1" dirty="0" smtClean="0"/>
              <a:t>&gt;</a:t>
            </a:r>
            <a:r>
              <a:rPr lang="en-US" sz="4000" dirty="0" smtClean="0"/>
              <a:t/>
            </a:r>
            <a:br>
              <a:rPr lang="en-US" sz="4000" dirty="0" smtClean="0"/>
            </a:br>
            <a:r>
              <a:rPr lang="en-US" sz="4000" dirty="0" smtClean="0"/>
              <a:t>                         (SELECT AVG(</a:t>
            </a:r>
            <a:r>
              <a:rPr lang="en-US" sz="4000" dirty="0" smtClean="0">
                <a:solidFill>
                  <a:srgbClr val="FF0000"/>
                </a:solidFill>
              </a:rPr>
              <a:t>&lt;</a:t>
            </a:r>
            <a:r>
              <a:rPr lang="ru-RU" sz="4000" dirty="0" smtClean="0">
                <a:solidFill>
                  <a:srgbClr val="FF0000"/>
                </a:solidFill>
              </a:rPr>
              <a:t>атр2</a:t>
            </a:r>
            <a:r>
              <a:rPr lang="en-US" sz="4000" dirty="0" smtClean="0">
                <a:solidFill>
                  <a:srgbClr val="FF0000"/>
                </a:solidFill>
              </a:rPr>
              <a:t>&gt;</a:t>
            </a:r>
            <a:r>
              <a:rPr lang="ru-RU" sz="4000" dirty="0" smtClean="0"/>
              <a:t> </a:t>
            </a:r>
            <a:r>
              <a:rPr lang="en-US" sz="4000" dirty="0" smtClean="0"/>
              <a:t>) FROM &lt;</a:t>
            </a:r>
            <a:r>
              <a:rPr lang="ru-RU" sz="4000" dirty="0" err="1" smtClean="0"/>
              <a:t>таб</a:t>
            </a:r>
            <a:r>
              <a:rPr lang="ru-RU" sz="4000" dirty="0" smtClean="0"/>
              <a:t> 1</a:t>
            </a:r>
            <a:r>
              <a:rPr lang="en-US" sz="4000" dirty="0" smtClean="0"/>
              <a:t>&gt;); </a:t>
            </a:r>
            <a:endParaRPr lang="ru-RU" sz="4000" dirty="0" smtClean="0"/>
          </a:p>
          <a:p>
            <a:pPr>
              <a:defRPr/>
            </a:pPr>
            <a:r>
              <a:rPr lang="ru-RU" sz="4000" dirty="0" smtClean="0"/>
              <a:t>Если результатом подзапроса становится группа строк (это случается всегда, когда условие не гарантирует уникальности значения проверяемого предикатом внутреннего запроса), то следует использовать оператор IN, осуществляющий выбор одного значения из указываемого множества. </a:t>
            </a:r>
          </a:p>
          <a:p>
            <a:pPr>
              <a:buFont typeface="Wingdings" pitchFamily="2" charset="2"/>
              <a:buNone/>
              <a:defRPr/>
            </a:pPr>
            <a:r>
              <a:rPr lang="ru-RU" sz="4000" dirty="0" smtClean="0"/>
              <a:t>	Например</a:t>
            </a:r>
            <a:r>
              <a:rPr lang="en-US" sz="4000" dirty="0" smtClean="0"/>
              <a:t>: </a:t>
            </a:r>
            <a:endParaRPr lang="ru-RU" sz="4000" dirty="0" smtClean="0"/>
          </a:p>
          <a:p>
            <a:pPr>
              <a:buFont typeface="Wingdings" pitchFamily="2" charset="2"/>
              <a:buNone/>
              <a:defRPr/>
            </a:pPr>
            <a:r>
              <a:rPr lang="ru-RU" sz="4000" dirty="0" smtClean="0"/>
              <a:t>	</a:t>
            </a:r>
            <a:r>
              <a:rPr lang="en-US" sz="4000" dirty="0" smtClean="0"/>
              <a:t>SELECT * </a:t>
            </a:r>
            <a:endParaRPr lang="ru-RU" sz="4000" dirty="0" smtClean="0"/>
          </a:p>
          <a:p>
            <a:pPr>
              <a:buFont typeface="Wingdings" pitchFamily="2" charset="2"/>
              <a:buNone/>
              <a:defRPr/>
            </a:pPr>
            <a:r>
              <a:rPr lang="ru-RU" sz="4000" dirty="0" smtClean="0"/>
              <a:t>	</a:t>
            </a:r>
            <a:r>
              <a:rPr lang="en-US" sz="4000" dirty="0" smtClean="0"/>
              <a:t>FROM &lt;</a:t>
            </a:r>
            <a:r>
              <a:rPr lang="ru-RU" sz="4000" dirty="0" err="1" smtClean="0"/>
              <a:t>таб</a:t>
            </a:r>
            <a:r>
              <a:rPr lang="ru-RU" sz="4000" dirty="0" smtClean="0"/>
              <a:t> 1</a:t>
            </a:r>
            <a:r>
              <a:rPr lang="en-US" sz="4000" dirty="0" smtClean="0"/>
              <a:t>&gt; </a:t>
            </a:r>
            <a:endParaRPr lang="ru-RU" sz="4000" dirty="0" smtClean="0"/>
          </a:p>
          <a:p>
            <a:pPr>
              <a:buFont typeface="Wingdings" pitchFamily="2" charset="2"/>
              <a:buNone/>
              <a:defRPr/>
            </a:pPr>
            <a:r>
              <a:rPr lang="ru-RU" sz="4000" dirty="0" smtClean="0"/>
              <a:t>	</a:t>
            </a:r>
            <a:r>
              <a:rPr lang="en-US" sz="4000" dirty="0" smtClean="0"/>
              <a:t>WHERE </a:t>
            </a:r>
            <a:r>
              <a:rPr lang="en-US" sz="4000" dirty="0" smtClean="0">
                <a:solidFill>
                  <a:srgbClr val="FF0000"/>
                </a:solidFill>
              </a:rPr>
              <a:t>&lt;</a:t>
            </a:r>
            <a:r>
              <a:rPr lang="ru-RU" sz="4000" dirty="0" smtClean="0">
                <a:solidFill>
                  <a:srgbClr val="FF0000"/>
                </a:solidFill>
              </a:rPr>
              <a:t>атр2</a:t>
            </a:r>
            <a:r>
              <a:rPr lang="en-US" sz="4000" dirty="0" smtClean="0">
                <a:solidFill>
                  <a:srgbClr val="FF0000"/>
                </a:solidFill>
              </a:rPr>
              <a:t>&gt;</a:t>
            </a:r>
            <a:r>
              <a:rPr lang="en-US" sz="4000" dirty="0" smtClean="0"/>
              <a:t> IN (SELECT </a:t>
            </a:r>
            <a:r>
              <a:rPr lang="en-US" sz="4000" dirty="0" smtClean="0">
                <a:solidFill>
                  <a:srgbClr val="FF0000"/>
                </a:solidFill>
              </a:rPr>
              <a:t>&lt;</a:t>
            </a:r>
            <a:r>
              <a:rPr lang="ru-RU" sz="4000" dirty="0" smtClean="0">
                <a:solidFill>
                  <a:srgbClr val="FF0000"/>
                </a:solidFill>
              </a:rPr>
              <a:t>атр2</a:t>
            </a:r>
            <a:r>
              <a:rPr lang="en-US" sz="4000" dirty="0" smtClean="0">
                <a:solidFill>
                  <a:srgbClr val="FF0000"/>
                </a:solidFill>
              </a:rPr>
              <a:t>&gt;</a:t>
            </a:r>
            <a:r>
              <a:rPr lang="en-US" sz="4000" dirty="0" smtClean="0"/>
              <a:t> FROM &lt;</a:t>
            </a:r>
            <a:r>
              <a:rPr lang="ru-RU" sz="4000" dirty="0" err="1" smtClean="0"/>
              <a:t>таб</a:t>
            </a:r>
            <a:r>
              <a:rPr lang="ru-RU" sz="4000" dirty="0" smtClean="0"/>
              <a:t> 2</a:t>
            </a:r>
            <a:r>
              <a:rPr lang="en-US" sz="4000" dirty="0" smtClean="0"/>
              <a:t>&gt; </a:t>
            </a:r>
            <a:br>
              <a:rPr lang="en-US" sz="4000" dirty="0" smtClean="0"/>
            </a:br>
            <a:r>
              <a:rPr lang="en-US" sz="4000" dirty="0" smtClean="0"/>
              <a:t>                              WHERE &lt;</a:t>
            </a:r>
            <a:r>
              <a:rPr lang="ru-RU" sz="4000" dirty="0" smtClean="0"/>
              <a:t>атр1</a:t>
            </a:r>
            <a:r>
              <a:rPr lang="en-US" sz="4000" dirty="0" smtClean="0"/>
              <a:t>&gt; =&lt;</a:t>
            </a:r>
            <a:r>
              <a:rPr lang="ru-RU" sz="4000" dirty="0" err="1" smtClean="0"/>
              <a:t>знач</a:t>
            </a:r>
            <a:r>
              <a:rPr lang="en-US" sz="4000" dirty="0" smtClean="0"/>
              <a:t>&gt;); </a:t>
            </a:r>
            <a:endParaRPr lang="ru-RU" sz="4000" dirty="0" smtClean="0"/>
          </a:p>
          <a:p>
            <a:pPr>
              <a:buFont typeface="Wingdings" pitchFamily="2" charset="2"/>
              <a:buNone/>
              <a:defRPr/>
            </a:pPr>
            <a:r>
              <a:rPr lang="ru-RU" sz="4000" dirty="0" smtClean="0"/>
              <a:t>	В этом случае предикат принимает значение TRUE, если хотя бы одно из значений возвращаемых подзапросом, удовлетворяет условию. </a:t>
            </a:r>
          </a:p>
          <a:p>
            <a:pPr marL="0" indent="0">
              <a:buFont typeface="Wingdings" pitchFamily="2" charset="2"/>
              <a:buNone/>
              <a:defRPr/>
            </a:pPr>
            <a:endParaRPr lang="ru-RU" dirty="0" smtClean="0"/>
          </a:p>
        </p:txBody>
      </p:sp>
      <p:sp>
        <p:nvSpPr>
          <p:cNvPr id="32772" name="Номер слайда 3"/>
          <p:cNvSpPr>
            <a:spLocks noGrp="1"/>
          </p:cNvSpPr>
          <p:nvPr>
            <p:ph type="sldNum" sz="quarter" idx="11"/>
          </p:nvPr>
        </p:nvSpPr>
        <p:spPr>
          <a:noFill/>
          <a:ln>
            <a:miter lim="800000"/>
            <a:headEnd/>
            <a:tailEnd/>
          </a:ln>
        </p:spPr>
        <p:txBody>
          <a:bodyPr/>
          <a:lstStyle/>
          <a:p>
            <a:fld id="{3B0A1FA4-068E-49F4-90F2-51E26FA045A9}" type="slidenum">
              <a:rPr lang="ru-RU" altLang="ru-RU" smtClean="0"/>
              <a:pPr/>
              <a:t>30</a:t>
            </a:fld>
            <a:endParaRPr lang="ru-RU" altLang="ru-RU"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Пиксел">
  <a:themeElements>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Пиксел">
      <a:majorFont>
        <a:latin typeface="Arial"/>
        <a:ea typeface=""/>
        <a:cs typeface="Arial"/>
      </a:majorFont>
      <a:minorFont>
        <a:latin typeface="Arial"/>
        <a:ea typeface=""/>
        <a:cs typeface="Arial"/>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иксел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Пиксел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Пиксел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Пиксел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Пиксел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Пиксел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Пиксел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Пиксел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Пиксел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Пиксел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Пиксел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1915</TotalTime>
  <Words>1280</Words>
  <Application>Microsoft Office PowerPoint</Application>
  <PresentationFormat>Экран (4:3)</PresentationFormat>
  <Paragraphs>674</Paragraphs>
  <Slides>30</Slides>
  <Notes>1</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30</vt:i4>
      </vt:variant>
    </vt:vector>
  </HeadingPairs>
  <TitlesOfParts>
    <vt:vector size="38" baseType="lpstr">
      <vt:lpstr>Arial</vt:lpstr>
      <vt:lpstr>Wingdings</vt:lpstr>
      <vt:lpstr>Calibri</vt:lpstr>
      <vt:lpstr>Arial Black</vt:lpstr>
      <vt:lpstr>Times New Roman</vt:lpstr>
      <vt:lpstr>Symbol</vt:lpstr>
      <vt:lpstr>Courier</vt:lpstr>
      <vt:lpstr>Пиксел</vt:lpstr>
      <vt:lpstr>SQL-92 Манипулирование данными</vt:lpstr>
      <vt:lpstr>Операторы манипулирования</vt:lpstr>
      <vt:lpstr>Ввод данных в таблицы</vt:lpstr>
      <vt:lpstr>Пример </vt:lpstr>
      <vt:lpstr>Пример </vt:lpstr>
      <vt:lpstr>DELETE</vt:lpstr>
      <vt:lpstr>UPDATE</vt:lpstr>
      <vt:lpstr>Поиск данных в БД</vt:lpstr>
      <vt:lpstr>Схема выполнения SELECT оператора</vt:lpstr>
      <vt:lpstr>Семантика SELECT</vt:lpstr>
      <vt:lpstr>Фраза SELECT</vt:lpstr>
      <vt:lpstr>Orders (Заказы)</vt:lpstr>
      <vt:lpstr>Примеры (2)</vt:lpstr>
      <vt:lpstr>Фраза FROM</vt:lpstr>
      <vt:lpstr>Фраза WHERE (1)</vt:lpstr>
      <vt:lpstr>Таблицы истинности</vt:lpstr>
      <vt:lpstr>Примеры таблица Salespeople (Продавцы)</vt:lpstr>
      <vt:lpstr>Фраза WHERE (2)</vt:lpstr>
      <vt:lpstr>Фраза WHERE (3)</vt:lpstr>
      <vt:lpstr>Customers (Покупатели)</vt:lpstr>
      <vt:lpstr>Фраза WHERE (3)</vt:lpstr>
      <vt:lpstr>Фраза WHERE (4)</vt:lpstr>
      <vt:lpstr>Примеры</vt:lpstr>
      <vt:lpstr>Агрегатные функции</vt:lpstr>
      <vt:lpstr>Примеры (3)</vt:lpstr>
      <vt:lpstr>Примеры (4)</vt:lpstr>
      <vt:lpstr>Примеры (4)</vt:lpstr>
      <vt:lpstr>Подзапросы</vt:lpstr>
      <vt:lpstr>Подзапросы (пример)</vt:lpstr>
      <vt:lpstr>Подзапросы (примеры)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Реляционная модель</dc:title>
  <dc:creator>Борис</dc:creator>
  <cp:lastModifiedBy>User</cp:lastModifiedBy>
  <cp:revision>162</cp:revision>
  <dcterms:created xsi:type="dcterms:W3CDTF">2012-10-04T16:47:37Z</dcterms:created>
  <dcterms:modified xsi:type="dcterms:W3CDTF">2019-10-09T12:02:53Z</dcterms:modified>
</cp:coreProperties>
</file>