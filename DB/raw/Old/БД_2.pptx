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6"/>
  </p:notesMasterIdLst>
  <p:sldIdLst>
    <p:sldId id="256" r:id="rId2"/>
    <p:sldId id="258" r:id="rId3"/>
    <p:sldId id="289" r:id="rId4"/>
    <p:sldId id="290" r:id="rId5"/>
    <p:sldId id="259" r:id="rId6"/>
    <p:sldId id="291" r:id="rId7"/>
    <p:sldId id="260" r:id="rId8"/>
    <p:sldId id="263" r:id="rId9"/>
    <p:sldId id="295" r:id="rId10"/>
    <p:sldId id="262" r:id="rId11"/>
    <p:sldId id="264" r:id="rId12"/>
    <p:sldId id="278" r:id="rId13"/>
    <p:sldId id="284" r:id="rId14"/>
    <p:sldId id="292" r:id="rId15"/>
    <p:sldId id="285" r:id="rId16"/>
    <p:sldId id="265" r:id="rId17"/>
    <p:sldId id="293" r:id="rId18"/>
    <p:sldId id="294" r:id="rId19"/>
    <p:sldId id="296" r:id="rId20"/>
    <p:sldId id="279" r:id="rId21"/>
    <p:sldId id="271" r:id="rId22"/>
    <p:sldId id="267" r:id="rId23"/>
    <p:sldId id="272" r:id="rId24"/>
    <p:sldId id="268" r:id="rId25"/>
    <p:sldId id="286" r:id="rId26"/>
    <p:sldId id="270" r:id="rId27"/>
    <p:sldId id="273" r:id="rId28"/>
    <p:sldId id="266" r:id="rId29"/>
    <p:sldId id="280" r:id="rId30"/>
    <p:sldId id="281" r:id="rId31"/>
    <p:sldId id="282" r:id="rId32"/>
    <p:sldId id="283" r:id="rId33"/>
    <p:sldId id="288" r:id="rId34"/>
    <p:sldId id="287" r:id="rId3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  <a:srgbClr val="FF0066"/>
    <a:srgbClr val="7E78E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581" autoAdjust="0"/>
  </p:normalViewPr>
  <p:slideViewPr>
    <p:cSldViewPr snapToGrid="0" snapToObjects="1" showGuides="1">
      <p:cViewPr varScale="1">
        <p:scale>
          <a:sx n="86" d="100"/>
          <a:sy n="86" d="100"/>
        </p:scale>
        <p:origin x="-66" y="-1116"/>
      </p:cViewPr>
      <p:guideLst>
        <p:guide orient="horz" pos="215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F096936-EC4C-486E-8D2A-CEFEF98164FD}" type="datetimeFigureOut">
              <a:rPr lang="ru-RU"/>
              <a:pPr>
                <a:defRPr/>
              </a:pPr>
              <a:t>12.09.2019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9A8769A-3119-4394-8041-45308BECBB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6770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A8769A-3119-4394-8041-45308BECBB16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81A0321-23B6-4A5B-8476-1E62FB33E065}" type="slidenum">
              <a:rPr lang="ru-RU" smtClean="0"/>
              <a:pPr/>
              <a:t>13</a:t>
            </a:fld>
            <a:endParaRPr 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81A0321-23B6-4A5B-8476-1E62FB33E065}" type="slidenum">
              <a:rPr lang="ru-RU" smtClean="0"/>
              <a:pPr/>
              <a:t>15</a:t>
            </a:fld>
            <a:endParaRPr 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C372B8-2017-4AB2-9336-94179F18274C}" type="slidenum">
              <a:rPr lang="ru-RU" smtClean="0"/>
              <a:pPr/>
              <a:t>23</a:t>
            </a:fld>
            <a:endParaRPr 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C372B8-2017-4AB2-9336-94179F18274C}" type="slidenum">
              <a:rPr lang="ru-RU" smtClean="0"/>
              <a:pPr/>
              <a:t>25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799CA-BF13-4E3A-A3DD-2CCA9FAA6D7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65B5E-B430-4789-96DC-0D7B7CB4F95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FD55C-A8BD-4A1A-A018-E4521CCB084E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8783D-A2B6-4C28-85EC-6125FED5C0FE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94131-676D-483E-96CA-0E00D4400F9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00043-7CE7-4D56-88C2-5A10BBB20CA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B1EFA-5C53-44E9-9D67-31CB387D810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CA489-5121-4FFE-8B2B-DB2390D61ED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EA098-6C30-4590-BD93-3BC42E327E7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FF222-A9AF-45C8-A058-B876F11D187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47D6A-DC7F-4EC3-BB7C-BCD68806675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39EB4A1-9026-4856-A0E3-3EF6FE1FC93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sz="4600" dirty="0" smtClean="0"/>
              <a:t>Семантическое моделирование </a:t>
            </a:r>
            <a:br>
              <a:rPr lang="ru-RU" sz="4600" dirty="0" smtClean="0"/>
            </a:br>
            <a:r>
              <a:rPr lang="ru-RU" sz="4600" dirty="0" smtClean="0"/>
              <a:t>предметной области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" y="4267200"/>
            <a:ext cx="9042399" cy="2119086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ru-RU" sz="2800" dirty="0" smtClean="0"/>
              <a:t>	</a:t>
            </a:r>
            <a:r>
              <a:rPr lang="ru-RU" sz="3300" b="1" dirty="0" smtClean="0"/>
              <a:t>Г. Гарсия-Молина, Дж. Ульман, Дж. </a:t>
            </a:r>
            <a:r>
              <a:rPr lang="ru-RU" sz="3300" b="1" dirty="0" err="1" smtClean="0"/>
              <a:t>Уидом</a:t>
            </a:r>
            <a:r>
              <a:rPr lang="ru-RU" sz="3300" b="1" dirty="0" smtClean="0"/>
              <a:t> </a:t>
            </a:r>
          </a:p>
          <a:p>
            <a:pPr eaLnBrk="1" hangingPunct="1"/>
            <a:r>
              <a:rPr lang="ru-RU" sz="3800" dirty="0" smtClean="0"/>
              <a:t>Системы баз данных, 2003г, глава 1</a:t>
            </a:r>
            <a:endParaRPr lang="en-US" sz="3800" dirty="0" smtClean="0"/>
          </a:p>
          <a:p>
            <a:pPr eaLnBrk="1" hangingPunct="1">
              <a:spcBef>
                <a:spcPts val="1200"/>
              </a:spcBef>
            </a:pPr>
            <a:r>
              <a:rPr lang="ru-RU" sz="3200" dirty="0" smtClean="0"/>
              <a:t>	</a:t>
            </a:r>
            <a:r>
              <a:rPr lang="ru-RU" sz="3300" b="1" dirty="0" smtClean="0"/>
              <a:t>М. </a:t>
            </a:r>
            <a:r>
              <a:rPr lang="ru-RU" sz="3300" b="1" dirty="0" err="1" smtClean="0"/>
              <a:t>Грабер</a:t>
            </a:r>
            <a:r>
              <a:rPr lang="ru-RU" sz="3300" b="1" dirty="0" smtClean="0"/>
              <a:t> </a:t>
            </a:r>
          </a:p>
          <a:p>
            <a:pPr eaLnBrk="1" hangingPunct="1"/>
            <a:r>
              <a:rPr lang="en-US" sz="3800" dirty="0" smtClean="0"/>
              <a:t>SQL</a:t>
            </a:r>
            <a:r>
              <a:rPr lang="ru-RU" sz="3800" dirty="0" smtClean="0"/>
              <a:t>, глава 19. Проектирование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ru-RU" sz="3200" smtClean="0">
                <a:solidFill>
                  <a:schemeClr val="bg2"/>
                </a:solidFill>
              </a:rPr>
              <a:t>Этапы разработки базы данных в информационной системе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 smtClean="0"/>
              <a:t>Проектирование базы данных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Логическое проектирование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Физическое проектирование</a:t>
            </a:r>
          </a:p>
          <a:p>
            <a:pPr eaLnBrk="1" hangingPunct="1">
              <a:lnSpc>
                <a:spcPct val="90000"/>
              </a:lnSpc>
            </a:pPr>
            <a:r>
              <a:rPr lang="ru-RU" dirty="0" smtClean="0"/>
              <a:t>Планирование базы данных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Аппаратных средств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Программных средств</a:t>
            </a:r>
          </a:p>
          <a:p>
            <a:pPr eaLnBrk="1" hangingPunct="1">
              <a:lnSpc>
                <a:spcPct val="90000"/>
              </a:lnSpc>
            </a:pPr>
            <a:r>
              <a:rPr lang="ru-RU" dirty="0" smtClean="0"/>
              <a:t>Реализация базы данных</a:t>
            </a:r>
          </a:p>
          <a:p>
            <a:pPr eaLnBrk="1" hangingPunct="1">
              <a:lnSpc>
                <a:spcPct val="90000"/>
              </a:lnSpc>
            </a:pPr>
            <a:r>
              <a:rPr lang="ru-RU" dirty="0" smtClean="0"/>
              <a:t>Сопровождение</a:t>
            </a:r>
          </a:p>
          <a:p>
            <a:pPr eaLnBrk="1" hangingPunct="1">
              <a:lnSpc>
                <a:spcPct val="90000"/>
              </a:lnSpc>
            </a:pPr>
            <a:r>
              <a:rPr lang="ru-RU" dirty="0" err="1" smtClean="0"/>
              <a:t>Реинжиниринг</a:t>
            </a:r>
            <a:endParaRPr lang="ru-RU" dirty="0" smtClean="0"/>
          </a:p>
        </p:txBody>
      </p:sp>
      <p:sp>
        <p:nvSpPr>
          <p:cNvPr id="4100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5E8E2D3-6B88-43C9-8C86-1C4CF28833BE}" type="slidenum">
              <a:rPr lang="ru-RU" smtClean="0"/>
              <a:pPr/>
              <a:t>2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Логическое проектирование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484313"/>
            <a:ext cx="8367215" cy="508174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ru-RU" dirty="0" smtClean="0"/>
              <a:t>Выделение понятий предметной области и описание информации, подлежащей моделированию</a:t>
            </a:r>
          </a:p>
          <a:p>
            <a:pPr eaLnBrk="1" hangingPunct="1">
              <a:lnSpc>
                <a:spcPct val="90000"/>
              </a:lnSpc>
            </a:pPr>
            <a:r>
              <a:rPr lang="ru-RU" dirty="0" smtClean="0"/>
              <a:t>Разработка </a:t>
            </a:r>
            <a:r>
              <a:rPr lang="ru-RU" dirty="0" smtClean="0"/>
              <a:t>с</a:t>
            </a:r>
            <a:r>
              <a:rPr lang="ru-RU" dirty="0" smtClean="0"/>
              <a:t>емантической или информационно-логической </a:t>
            </a:r>
            <a:r>
              <a:rPr lang="ru-RU" dirty="0" smtClean="0"/>
              <a:t>(инфологической) модели предметной области без привязки к </a:t>
            </a:r>
            <a:r>
              <a:rPr lang="ru-RU" dirty="0" smtClean="0"/>
              <a:t>СУБД. Построение концептуальной модели предметной области.</a:t>
            </a:r>
            <a:endParaRPr lang="ru-RU" dirty="0" smtClean="0"/>
          </a:p>
          <a:p>
            <a:pPr eaLnBrk="1" hangingPunct="1">
              <a:lnSpc>
                <a:spcPct val="90000"/>
              </a:lnSpc>
            </a:pPr>
            <a:r>
              <a:rPr lang="ru-RU" dirty="0" smtClean="0"/>
              <a:t>Преобразование инфологической модели </a:t>
            </a:r>
            <a:r>
              <a:rPr lang="ru-RU" dirty="0" smtClean="0"/>
              <a:t>данных </a:t>
            </a:r>
            <a:r>
              <a:rPr lang="ru-RU" dirty="0" smtClean="0"/>
              <a:t>в модель данных конкретной СУБД. Чаще всего в реляционную модель.</a:t>
            </a:r>
            <a:endParaRPr lang="ru-RU" dirty="0" smtClean="0"/>
          </a:p>
        </p:txBody>
      </p:sp>
      <p:sp>
        <p:nvSpPr>
          <p:cNvPr id="4100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5E8E2D3-6B88-43C9-8C86-1C4CF28833BE}" type="slidenum">
              <a:rPr lang="ru-RU" smtClean="0"/>
              <a:pPr/>
              <a:t>3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  <p:pic>
        <p:nvPicPr>
          <p:cNvPr id="1026" name="Picture 2" descr="D:\YandexDisk\Скриншоты\2019-09-12_09-53-1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72" y="666493"/>
            <a:ext cx="8686800" cy="55819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23875"/>
          </a:xfrm>
        </p:spPr>
        <p:txBody>
          <a:bodyPr/>
          <a:lstStyle/>
          <a:p>
            <a:pPr eaLnBrk="1" hangingPunct="1"/>
            <a:r>
              <a:rPr lang="ru-RU" sz="4000" dirty="0" smtClean="0">
                <a:solidFill>
                  <a:schemeClr val="bg2"/>
                </a:solidFill>
              </a:rPr>
              <a:t>Инфологическое проектирование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3391"/>
            <a:ext cx="9144000" cy="5382491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ru-RU" dirty="0" smtClean="0"/>
              <a:t>Модель «Сущность – Связь»,</a:t>
            </a:r>
            <a:br>
              <a:rPr lang="ru-RU" dirty="0" smtClean="0"/>
            </a:br>
            <a:r>
              <a:rPr lang="en-US" dirty="0" smtClean="0"/>
              <a:t>Entity Relationship</a:t>
            </a:r>
            <a:r>
              <a:rPr lang="ru-RU" dirty="0" smtClean="0"/>
              <a:t> </a:t>
            </a:r>
            <a:r>
              <a:rPr lang="en-US" dirty="0" smtClean="0"/>
              <a:t>Model (ERM)</a:t>
            </a:r>
            <a:r>
              <a:rPr lang="ru-RU" dirty="0" smtClean="0"/>
              <a:t>, </a:t>
            </a:r>
            <a:br>
              <a:rPr lang="ru-RU" dirty="0" smtClean="0"/>
            </a:br>
            <a:r>
              <a:rPr lang="ru-RU" dirty="0" smtClean="0"/>
              <a:t>	</a:t>
            </a:r>
            <a:r>
              <a:rPr lang="ru-RU" sz="2600" dirty="0" smtClean="0"/>
              <a:t>Питер </a:t>
            </a:r>
            <a:r>
              <a:rPr lang="ru-RU" sz="2600" dirty="0" err="1" smtClean="0"/>
              <a:t>Чен</a:t>
            </a:r>
            <a:r>
              <a:rPr lang="ru-RU" sz="2600" dirty="0" smtClean="0"/>
              <a:t> (Тайвань), 1976 г., профессор, университет штата Луизиана, США</a:t>
            </a:r>
          </a:p>
          <a:p>
            <a:pPr eaLnBrk="1" hangingPunct="1">
              <a:lnSpc>
                <a:spcPct val="110000"/>
              </a:lnSpc>
            </a:pPr>
            <a:r>
              <a:rPr lang="ru-RU" dirty="0" smtClean="0"/>
              <a:t>Реляционная модель данных</a:t>
            </a:r>
          </a:p>
          <a:p>
            <a:pPr eaLnBrk="1" hangingPunct="1">
              <a:lnSpc>
                <a:spcPct val="110000"/>
              </a:lnSpc>
            </a:pPr>
            <a:r>
              <a:rPr lang="en-US" dirty="0" smtClean="0"/>
              <a:t>Object Definition Language – </a:t>
            </a:r>
            <a:r>
              <a:rPr lang="ru-RU" dirty="0" smtClean="0"/>
              <a:t>стандарт средств описания объектно-ориентированных баз данных</a:t>
            </a:r>
          </a:p>
          <a:p>
            <a:pPr eaLnBrk="1" hangingPunct="1">
              <a:lnSpc>
                <a:spcPct val="110000"/>
              </a:lnSpc>
            </a:pPr>
            <a:r>
              <a:rPr lang="en-US" dirty="0" smtClean="0"/>
              <a:t>UML. </a:t>
            </a:r>
            <a:r>
              <a:rPr lang="ru-RU" dirty="0" smtClean="0"/>
              <a:t>Диаграммы классов</a:t>
            </a:r>
          </a:p>
          <a:p>
            <a:pPr eaLnBrk="1" hangingPunct="1">
              <a:lnSpc>
                <a:spcPct val="110000"/>
              </a:lnSpc>
            </a:pPr>
            <a:r>
              <a:rPr lang="ru-RU" dirty="0" err="1" smtClean="0"/>
              <a:t>Полуструктурированные</a:t>
            </a:r>
            <a:r>
              <a:rPr lang="ru-RU" dirty="0" smtClean="0"/>
              <a:t> данные (</a:t>
            </a:r>
            <a:r>
              <a:rPr lang="en-US" dirty="0" smtClean="0"/>
              <a:t>XML)</a:t>
            </a:r>
            <a:endParaRPr lang="ru-RU" dirty="0" smtClean="0"/>
          </a:p>
          <a:p>
            <a:pPr eaLnBrk="1" hangingPunct="1">
              <a:lnSpc>
                <a:spcPct val="110000"/>
              </a:lnSpc>
            </a:pPr>
            <a:r>
              <a:rPr lang="ru-RU" dirty="0" smtClean="0"/>
              <a:t>Семантические сети</a:t>
            </a:r>
            <a:endParaRPr lang="en-US" dirty="0" smtClean="0"/>
          </a:p>
          <a:p>
            <a:pPr eaLnBrk="1" hangingPunct="1">
              <a:lnSpc>
                <a:spcPct val="110000"/>
              </a:lnSpc>
            </a:pPr>
            <a:endParaRPr lang="ru-RU" dirty="0" smtClean="0"/>
          </a:p>
        </p:txBody>
      </p:sp>
      <p:sp>
        <p:nvSpPr>
          <p:cNvPr id="5124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F81685A-D532-4712-8960-9B90B45C045F}" type="slidenum">
              <a:rPr lang="ru-RU" smtClean="0"/>
              <a:pPr/>
              <a:t>5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03859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  <p:pic>
        <p:nvPicPr>
          <p:cNvPr id="2050" name="Picture 2" descr="D:\YandexDisk\Скриншоты\2019-09-12_09-56-4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560" y="457200"/>
            <a:ext cx="8520240" cy="60238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0862"/>
            <a:ext cx="8229600" cy="544512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chemeClr val="bg2"/>
                </a:solidFill>
              </a:rPr>
              <a:t>Модель «Сущность-связь»</a:t>
            </a:r>
            <a:endParaRPr lang="ru-RU" sz="2000" dirty="0" smtClean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755374"/>
            <a:ext cx="8229600" cy="56388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ru-RU" dirty="0" smtClean="0"/>
              <a:t>Основные компоненты </a:t>
            </a:r>
            <a:r>
              <a:rPr lang="en-US" dirty="0" smtClean="0"/>
              <a:t>ER </a:t>
            </a:r>
            <a:r>
              <a:rPr lang="ru-RU" dirty="0" smtClean="0"/>
              <a:t>модели</a:t>
            </a:r>
          </a:p>
          <a:p>
            <a:pPr lvl="1" eaLnBrk="1" hangingPunct="1"/>
            <a:r>
              <a:rPr lang="ru-RU" dirty="0" smtClean="0"/>
              <a:t>Множество сущностей</a:t>
            </a:r>
          </a:p>
          <a:p>
            <a:pPr lvl="1" eaLnBrk="1" hangingPunct="1"/>
            <a:r>
              <a:rPr lang="ru-RU" dirty="0" smtClean="0"/>
              <a:t>Атрибуты сущностей</a:t>
            </a:r>
          </a:p>
          <a:p>
            <a:pPr lvl="1" eaLnBrk="1" hangingPunct="1"/>
            <a:r>
              <a:rPr lang="ru-RU" dirty="0" smtClean="0"/>
              <a:t>Связи</a:t>
            </a:r>
          </a:p>
          <a:p>
            <a:pPr eaLnBrk="1" hangingPunct="1"/>
            <a:r>
              <a:rPr lang="ru-RU" dirty="0" smtClean="0"/>
              <a:t>Этапы проектирования </a:t>
            </a:r>
            <a:r>
              <a:rPr lang="en-US" dirty="0" smtClean="0"/>
              <a:t>ER </a:t>
            </a:r>
            <a:r>
              <a:rPr lang="ru-RU" dirty="0" smtClean="0"/>
              <a:t>модели</a:t>
            </a:r>
          </a:p>
          <a:p>
            <a:pPr lvl="1" eaLnBrk="1" hangingPunct="1"/>
            <a:r>
              <a:rPr lang="ru-RU" dirty="0" smtClean="0"/>
              <a:t>Выделение сущностей-объектов</a:t>
            </a:r>
          </a:p>
          <a:p>
            <a:pPr lvl="2" eaLnBrk="1" hangingPunct="1"/>
            <a:r>
              <a:rPr lang="ru-RU" dirty="0" smtClean="0"/>
              <a:t>Определение атрибутов сущностей</a:t>
            </a:r>
          </a:p>
          <a:p>
            <a:pPr lvl="2" eaLnBrk="1" hangingPunct="1"/>
            <a:r>
              <a:rPr lang="ru-RU" dirty="0" smtClean="0"/>
              <a:t>Выделение идентифицирующих атрибутов- ключей</a:t>
            </a:r>
          </a:p>
          <a:p>
            <a:pPr lvl="1" eaLnBrk="1" hangingPunct="1"/>
            <a:r>
              <a:rPr lang="ru-RU" dirty="0" smtClean="0"/>
              <a:t>Определение связей</a:t>
            </a:r>
          </a:p>
          <a:p>
            <a:pPr lvl="2" eaLnBrk="1" hangingPunct="1"/>
            <a:r>
              <a:rPr lang="ru-RU" dirty="0" smtClean="0"/>
              <a:t>Вид связи: 1:1, 1:</a:t>
            </a:r>
            <a:r>
              <a:rPr lang="en-US" dirty="0" smtClean="0"/>
              <a:t>m, n:m</a:t>
            </a:r>
          </a:p>
          <a:p>
            <a:pPr lvl="2" eaLnBrk="1" hangingPunct="1"/>
            <a:r>
              <a:rPr lang="ru-RU" dirty="0" smtClean="0"/>
              <a:t>Обязательность связей</a:t>
            </a:r>
          </a:p>
          <a:p>
            <a:pPr lvl="1" eaLnBrk="1" hangingPunct="1"/>
            <a:r>
              <a:rPr lang="ru-RU" dirty="0" smtClean="0"/>
              <a:t>Фиксация модели в виде </a:t>
            </a:r>
            <a:r>
              <a:rPr lang="en-US" dirty="0" smtClean="0"/>
              <a:t>ER-</a:t>
            </a:r>
            <a:r>
              <a:rPr lang="ru-RU" dirty="0" smtClean="0"/>
              <a:t>диаграммы</a:t>
            </a:r>
          </a:p>
          <a:p>
            <a:pPr lvl="2" eaLnBrk="1" hangingPunct="1"/>
            <a:endParaRPr lang="ru-RU" dirty="0" smtClean="0"/>
          </a:p>
        </p:txBody>
      </p:sp>
      <p:sp>
        <p:nvSpPr>
          <p:cNvPr id="6148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17D293E-BF33-40FD-A615-7A25F2FB3F32}" type="slidenum">
              <a:rPr lang="ru-RU" smtClean="0"/>
              <a:pPr/>
              <a:t>7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23875"/>
          </a:xfrm>
        </p:spPr>
        <p:txBody>
          <a:bodyPr/>
          <a:lstStyle/>
          <a:p>
            <a:pPr algn="ctr" eaLnBrk="1" hangingPunct="1"/>
            <a:r>
              <a:rPr lang="ru-RU" dirty="0" smtClean="0">
                <a:solidFill>
                  <a:schemeClr val="bg2"/>
                </a:solidFill>
              </a:rPr>
              <a:t>Сущность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188" y="1125538"/>
            <a:ext cx="8229600" cy="539908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ru-RU" dirty="0" smtClean="0"/>
              <a:t>Сущность – информационный объект, моделирующий объекты приложения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   </a:t>
            </a:r>
            <a:r>
              <a:rPr lang="ru-RU" sz="2800" dirty="0" smtClean="0"/>
              <a:t>Объект материального мира, явление, 	событие,  и т.д.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dirty="0" smtClean="0"/>
              <a:t>Примеры: Студент, Форум, Накладная, Ведомость</a:t>
            </a:r>
          </a:p>
          <a:p>
            <a:pPr eaLnBrk="1" hangingPunct="1">
              <a:defRPr/>
            </a:pPr>
            <a:r>
              <a:rPr lang="ru-RU" dirty="0" smtClean="0"/>
              <a:t>Сходство с понятием объект в ОМД</a:t>
            </a:r>
          </a:p>
          <a:p>
            <a:pPr eaLnBrk="1" hangingPunct="1">
              <a:defRPr/>
            </a:pPr>
            <a:r>
              <a:rPr lang="ru-RU" dirty="0" smtClean="0"/>
              <a:t>Сущность – статический объект, определяет структуры данных</a:t>
            </a:r>
          </a:p>
          <a:p>
            <a:pPr eaLnBrk="1" hangingPunct="1">
              <a:defRPr/>
            </a:pPr>
            <a:r>
              <a:rPr lang="ru-RU" dirty="0" smtClean="0"/>
              <a:t>Нет определения операций</a:t>
            </a:r>
          </a:p>
          <a:p>
            <a:pPr eaLnBrk="1" hangingPunct="1">
              <a:defRPr/>
            </a:pPr>
            <a:r>
              <a:rPr lang="ru-RU" dirty="0" smtClean="0"/>
              <a:t>Множество сущностей (класс)</a:t>
            </a: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A5E13D-CD8E-486B-91E3-ACB4EB9170C9}" type="slidenum">
              <a:rPr lang="ru-RU" smtClean="0"/>
              <a:pPr/>
              <a:t>8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750" y="252164"/>
            <a:ext cx="7915619" cy="611436"/>
          </a:xfrm>
        </p:spPr>
        <p:txBody>
          <a:bodyPr/>
          <a:lstStyle/>
          <a:p>
            <a:r>
              <a:rPr lang="ru-RU" dirty="0" smtClean="0">
                <a:solidFill>
                  <a:schemeClr val="bg2"/>
                </a:solidFill>
              </a:rPr>
              <a:t>Сущность. Пример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9</a:t>
            </a:fld>
            <a:endParaRPr lang="ru-RU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9750" y="1341438"/>
            <a:ext cx="475297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dirty="0"/>
              <a:t> На рисунке изображена сущность АЭРОПОРТ с примерными экземплярами «Шереметьево» и «</a:t>
            </a:r>
            <a:r>
              <a:rPr lang="ru-RU" dirty="0" err="1"/>
              <a:t>Хитроу</a:t>
            </a:r>
            <a:r>
              <a:rPr lang="ru-RU" dirty="0"/>
              <a:t>»</a:t>
            </a:r>
          </a:p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dirty="0"/>
              <a:t> Эта примитивная диаграмма, тем не менее, несет важную информацию </a:t>
            </a:r>
          </a:p>
        </p:txBody>
      </p:sp>
      <p:pic>
        <p:nvPicPr>
          <p:cNvPr id="6" name="Picture 5" descr="ER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863600"/>
            <a:ext cx="31242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7"/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2974553"/>
            <a:ext cx="8229600" cy="343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70000" lnSpcReduction="20000"/>
          </a:bodyPr>
          <a:lstStyle/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dirty="0"/>
              <a:t> Во-первых, она показывает, что в базе данных будут содержаться однотипные структуры данных (экземпляры сущности), описывающие аэропорты</a:t>
            </a:r>
          </a:p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dirty="0"/>
              <a:t> Во-вторых, поскольку в жизни существует несколько точек зрения на аэропорты, приведенные примеры аэропортов позволяют несколько сузить допустимый набор точек зрения</a:t>
            </a:r>
          </a:p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dirty="0"/>
              <a:t> В нашем случае приведены примеры международных аэропортов, так что, скорее всего, имеется точка зрения пассажира или пилота международных авиарейсов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pPr algn="ctr" eaLnBrk="1" hangingPunct="1"/>
            <a:r>
              <a:rPr lang="ru-RU" smtClean="0"/>
              <a:t>Атрибуты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9865" y="1157161"/>
            <a:ext cx="8346935" cy="5091239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ru-RU" dirty="0" smtClean="0"/>
              <a:t>Атрибут является </a:t>
            </a:r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</a:rPr>
              <a:t>свойством сущности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  сотрудник (</a:t>
            </a:r>
            <a:r>
              <a:rPr lang="ru-RU" dirty="0" err="1" smtClean="0"/>
              <a:t>таб_номер</a:t>
            </a:r>
            <a:r>
              <a:rPr lang="ru-RU" dirty="0" smtClean="0"/>
              <a:t>,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		фамилия,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		имя,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		отчество,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		</a:t>
            </a:r>
            <a:r>
              <a:rPr lang="ru-RU" dirty="0" err="1" smtClean="0"/>
              <a:t>код_должности</a:t>
            </a:r>
            <a:r>
              <a:rPr lang="ru-RU" dirty="0" smtClean="0"/>
              <a:t>,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		</a:t>
            </a:r>
            <a:r>
              <a:rPr lang="ru-RU" dirty="0" err="1" smtClean="0"/>
              <a:t>дата_приема</a:t>
            </a:r>
            <a:r>
              <a:rPr lang="ru-RU" dirty="0" smtClean="0"/>
              <a:t>,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dirty="0" smtClean="0"/>
              <a:t>			…) </a:t>
            </a:r>
          </a:p>
          <a:p>
            <a:pPr eaLnBrk="1" hangingPunct="1">
              <a:defRPr/>
            </a:pPr>
            <a:r>
              <a:rPr lang="ru-RU" dirty="0" smtClean="0"/>
              <a:t>Идентифицирующий атрибут - </a:t>
            </a:r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</a:rPr>
              <a:t>ключ</a:t>
            </a:r>
          </a:p>
          <a:p>
            <a:pPr eaLnBrk="1" hangingPunct="1">
              <a:defRPr/>
            </a:pPr>
            <a:r>
              <a:rPr lang="ru-RU" dirty="0" smtClean="0"/>
              <a:t>Именование атрибутов (наиболее точное </a:t>
            </a:r>
            <a:r>
              <a:rPr lang="ru-RU" b="1" dirty="0" smtClean="0">
                <a:solidFill>
                  <a:schemeClr val="accent5">
                    <a:lumMod val="50000"/>
                  </a:schemeClr>
                </a:solidFill>
              </a:rPr>
              <a:t>соответствие смыслу свойства</a:t>
            </a:r>
            <a:r>
              <a:rPr lang="ru-RU" dirty="0" smtClean="0"/>
              <a:t>)</a:t>
            </a:r>
          </a:p>
        </p:txBody>
      </p:sp>
      <p:sp>
        <p:nvSpPr>
          <p:cNvPr id="819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66A03EA-51B2-4D94-8DD4-C6BF87CAB6E2}" type="slidenum">
              <a:rPr lang="ru-RU" smtClean="0"/>
              <a:pPr/>
              <a:t>10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360363" y="58738"/>
            <a:ext cx="8229600" cy="735082"/>
          </a:xfrm>
        </p:spPr>
        <p:txBody>
          <a:bodyPr/>
          <a:lstStyle/>
          <a:p>
            <a:pPr algn="ctr" eaLnBrk="1" hangingPunct="1"/>
            <a:r>
              <a:rPr lang="ru-RU" dirty="0" smtClean="0">
                <a:solidFill>
                  <a:schemeClr val="bg2"/>
                </a:solidFill>
              </a:rPr>
              <a:t>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726" y="778215"/>
            <a:ext cx="8782260" cy="6004421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sz="2400" dirty="0" smtClean="0"/>
              <a:t>Связи – </a:t>
            </a:r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соединения (соотношения) </a:t>
            </a:r>
            <a:r>
              <a:rPr lang="ru-RU" sz="2400" dirty="0" smtClean="0"/>
              <a:t>между двумя или большим числом сущностей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2400" dirty="0" smtClean="0"/>
              <a:t>ER</a:t>
            </a:r>
            <a:r>
              <a:rPr lang="ru-RU" sz="2400" dirty="0" smtClean="0"/>
              <a:t> модель допускает наличие связей, включающей </a:t>
            </a:r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произвольное количество</a:t>
            </a:r>
            <a:r>
              <a:rPr lang="ru-RU" sz="2400" dirty="0" smtClean="0"/>
              <a:t> сущностей.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400" dirty="0" smtClean="0"/>
              <a:t>Наиболее распространена </a:t>
            </a:r>
            <a:r>
              <a:rPr lang="ru-RU" sz="2900" b="1" dirty="0" smtClean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бинарная связь </a:t>
            </a:r>
            <a:r>
              <a:rPr lang="ru-RU" sz="2400" dirty="0" smtClean="0"/>
              <a:t>между 2-мя множествами сущностей</a:t>
            </a:r>
          </a:p>
          <a:p>
            <a:pPr marL="0" indent="0" algn="ctr" eaLnBrk="1" hangingPunct="1">
              <a:lnSpc>
                <a:spcPct val="120000"/>
              </a:lnSpc>
              <a:buNone/>
              <a:defRPr/>
            </a:pPr>
            <a:endParaRPr lang="ru-RU" sz="2400" b="1" dirty="0"/>
          </a:p>
          <a:p>
            <a:pPr marL="0" indent="0" algn="ctr" eaLnBrk="1" hangingPunct="1">
              <a:lnSpc>
                <a:spcPct val="120000"/>
              </a:lnSpc>
              <a:buNone/>
              <a:defRPr/>
            </a:pPr>
            <a:r>
              <a:rPr lang="ru-RU" sz="2600" b="1" dirty="0" smtClean="0"/>
              <a:t>ТИПЫ связей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400" dirty="0" smtClean="0"/>
              <a:t>Если каждый член множества Е</a:t>
            </a:r>
            <a:r>
              <a:rPr lang="ru-RU" sz="2400" baseline="-25000" dirty="0" smtClean="0"/>
              <a:t>1 </a:t>
            </a:r>
            <a:r>
              <a:rPr lang="ru-RU" sz="2400" dirty="0" smtClean="0"/>
              <a:t>посредством связи </a:t>
            </a:r>
            <a:r>
              <a:rPr lang="en-US" sz="2400" dirty="0" smtClean="0"/>
              <a:t>R</a:t>
            </a:r>
            <a:r>
              <a:rPr lang="ru-RU" sz="2400" dirty="0" smtClean="0"/>
              <a:t> может быть соединен не более чем с одним членом Е</a:t>
            </a:r>
            <a:r>
              <a:rPr lang="ru-RU" sz="2400" baseline="-25000" dirty="0" smtClean="0"/>
              <a:t>2 </a:t>
            </a:r>
            <a:r>
              <a:rPr lang="ru-RU" sz="2400" dirty="0" smtClean="0"/>
              <a:t>, </a:t>
            </a:r>
            <a:br>
              <a:rPr lang="ru-RU" sz="2400" dirty="0" smtClean="0"/>
            </a:br>
            <a:r>
              <a:rPr lang="ru-RU" sz="2400" dirty="0" smtClean="0"/>
              <a:t>то </a:t>
            </a:r>
            <a:r>
              <a:rPr lang="en-US" sz="2400" dirty="0" smtClean="0"/>
              <a:t>R </a:t>
            </a:r>
            <a:r>
              <a:rPr lang="ru-RU" sz="2400" b="1" dirty="0" smtClean="0">
                <a:solidFill>
                  <a:schemeClr val="accent5">
                    <a:lumMod val="50000"/>
                  </a:schemeClr>
                </a:solidFill>
              </a:rPr>
              <a:t>связь типа М:1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dirty="0" smtClean="0"/>
              <a:t>	Сотрудник </a:t>
            </a:r>
            <a:r>
              <a:rPr lang="ru-RU" dirty="0" smtClean="0">
                <a:sym typeface="Wingdings" pitchFamily="2" charset="2"/>
              </a:rPr>
              <a:t>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ru-RU" dirty="0" smtClean="0">
                <a:sym typeface="Wingdings" pitchFamily="2" charset="2"/>
              </a:rPr>
              <a:t>Отдел, (</a:t>
            </a:r>
            <a:r>
              <a:rPr lang="en-US" dirty="0" smtClean="0">
                <a:sym typeface="Wingdings" pitchFamily="2" charset="2"/>
              </a:rPr>
              <a:t>m:1)</a:t>
            </a:r>
            <a:endParaRPr lang="ru-RU" dirty="0" smtClean="0"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ru-RU" sz="2400" dirty="0">
                <a:sym typeface="Wingdings" pitchFamily="2" charset="2"/>
              </a:rPr>
              <a:t>Если</a:t>
            </a:r>
            <a:r>
              <a:rPr lang="ru-RU" dirty="0" smtClean="0">
                <a:sym typeface="Wingdings" pitchFamily="2" charset="2"/>
              </a:rPr>
              <a:t> </a:t>
            </a:r>
            <a:r>
              <a:rPr lang="ru-RU" sz="2400" dirty="0" smtClean="0">
                <a:sym typeface="Wingdings" pitchFamily="2" charset="2"/>
              </a:rPr>
              <a:t>связь</a:t>
            </a:r>
            <a:r>
              <a:rPr lang="ru-RU" dirty="0" smtClean="0">
                <a:sym typeface="Wingdings" pitchFamily="2" charset="2"/>
              </a:rPr>
              <a:t> </a:t>
            </a:r>
            <a:r>
              <a:rPr lang="en-US" sz="2400" dirty="0" smtClean="0">
                <a:sym typeface="Wingdings" pitchFamily="2" charset="2"/>
              </a:rPr>
              <a:t>R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ru-RU" sz="2400" dirty="0" smtClean="0">
                <a:sym typeface="Wingdings" pitchFamily="2" charset="2"/>
              </a:rPr>
              <a:t>в обоих направлениях от </a:t>
            </a:r>
            <a:r>
              <a:rPr lang="ru-RU" sz="2400" dirty="0"/>
              <a:t> Е</a:t>
            </a:r>
            <a:r>
              <a:rPr lang="ru-RU" sz="2400" baseline="-25000" dirty="0"/>
              <a:t>1 </a:t>
            </a:r>
            <a:r>
              <a:rPr lang="ru-RU" sz="2400" dirty="0" smtClean="0"/>
              <a:t>к </a:t>
            </a:r>
            <a:r>
              <a:rPr lang="ru-RU" sz="2400" dirty="0"/>
              <a:t>Е</a:t>
            </a:r>
            <a:r>
              <a:rPr lang="ru-RU" sz="2400" baseline="-25000" dirty="0"/>
              <a:t>2 </a:t>
            </a:r>
            <a:r>
              <a:rPr lang="ru-RU" sz="2400" dirty="0" smtClean="0"/>
              <a:t>и от Е</a:t>
            </a:r>
            <a:r>
              <a:rPr lang="ru-RU" sz="2400" baseline="-25000" dirty="0" smtClean="0"/>
              <a:t>2 </a:t>
            </a:r>
            <a:r>
              <a:rPr lang="ru-RU" sz="2400" dirty="0"/>
              <a:t>к </a:t>
            </a:r>
            <a:r>
              <a:rPr lang="ru-RU" sz="2400" dirty="0" smtClean="0"/>
              <a:t>Е</a:t>
            </a:r>
            <a:r>
              <a:rPr lang="ru-RU" sz="2400" baseline="-25000" dirty="0" smtClean="0"/>
              <a:t>1 </a:t>
            </a:r>
            <a:r>
              <a:rPr lang="ru-RU" sz="2400" dirty="0" smtClean="0"/>
              <a:t>относится к типу М:1, то </a:t>
            </a:r>
            <a:r>
              <a:rPr lang="en-US" sz="2400" dirty="0">
                <a:sym typeface="Wingdings" pitchFamily="2" charset="2"/>
              </a:rPr>
              <a:t>R </a:t>
            </a:r>
            <a:r>
              <a:rPr lang="ru-RU" sz="2400" b="1" dirty="0" smtClean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связь типа 1:1</a:t>
            </a:r>
            <a:endParaRPr lang="ru-RU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600" dirty="0" smtClean="0">
                <a:sym typeface="Wingdings" pitchFamily="2" charset="2"/>
              </a:rPr>
              <a:t>	</a:t>
            </a:r>
            <a:r>
              <a:rPr lang="ru-RU" dirty="0" smtClean="0">
                <a:sym typeface="Wingdings" pitchFamily="2" charset="2"/>
              </a:rPr>
              <a:t>Человек </a:t>
            </a:r>
            <a:r>
              <a:rPr lang="en-US" dirty="0" smtClean="0">
                <a:sym typeface="Wingdings" pitchFamily="2" charset="2"/>
              </a:rPr>
              <a:t></a:t>
            </a:r>
            <a:r>
              <a:rPr lang="ru-RU" dirty="0" smtClean="0">
                <a:sym typeface="Wingdings" pitchFamily="2" charset="2"/>
              </a:rPr>
              <a:t>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ru-RU" dirty="0" smtClean="0">
                <a:sym typeface="Wingdings" pitchFamily="2" charset="2"/>
              </a:rPr>
              <a:t>Паспорт</a:t>
            </a:r>
            <a:r>
              <a:rPr lang="en-US" dirty="0" smtClean="0">
                <a:sym typeface="Wingdings" pitchFamily="2" charset="2"/>
              </a:rPr>
              <a:t>, </a:t>
            </a:r>
            <a:r>
              <a:rPr lang="ru-RU" dirty="0" smtClean="0">
                <a:sym typeface="Wingdings" pitchFamily="2" charset="2"/>
              </a:rPr>
              <a:t>полис страхования</a:t>
            </a:r>
            <a:endParaRPr lang="en-US" dirty="0" smtClean="0">
              <a:sym typeface="Wingdings" pitchFamily="2" charset="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dirty="0" smtClean="0">
                <a:sym typeface="Wingdings" pitchFamily="2" charset="2"/>
              </a:rPr>
              <a:t>	Компания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ru-RU" dirty="0">
                <a:sym typeface="Wingdings" pitchFamily="2" charset="2"/>
              </a:rPr>
              <a:t> П</a:t>
            </a:r>
            <a:r>
              <a:rPr lang="ru-RU" dirty="0" smtClean="0">
                <a:sym typeface="Wingdings" pitchFamily="2" charset="2"/>
              </a:rPr>
              <a:t>резидент, директор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2BFCCC9-E176-4C21-BDB0-56C6EDEBE514}" type="slidenum">
              <a:rPr lang="ru-RU" smtClean="0"/>
              <a:pPr/>
              <a:t>11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457200" y="203200"/>
            <a:ext cx="8229600" cy="766763"/>
          </a:xfrm>
        </p:spPr>
        <p:txBody>
          <a:bodyPr/>
          <a:lstStyle/>
          <a:p>
            <a:pPr algn="ctr"/>
            <a:r>
              <a:rPr lang="ru-RU" sz="3600" smtClean="0">
                <a:solidFill>
                  <a:schemeClr val="bg2"/>
                </a:solidFill>
              </a:rPr>
              <a:t>Связи (2)</a:t>
            </a:r>
            <a:endParaRPr lang="ru-RU" sz="3600" dirty="0" smtClean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00" y="969963"/>
            <a:ext cx="8826500" cy="5443537"/>
          </a:xfrm>
        </p:spPr>
        <p:txBody>
          <a:bodyPr>
            <a:normAutofit fontScale="4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sz="3000" dirty="0">
                <a:cs typeface="Times New Roman" pitchFamily="18" charset="0"/>
                <a:sym typeface="Wingdings" pitchFamily="2" charset="2"/>
              </a:rPr>
              <a:t>Если связь </a:t>
            </a:r>
            <a:r>
              <a:rPr lang="en-US" sz="3000" dirty="0">
                <a:cs typeface="Times New Roman" pitchFamily="18" charset="0"/>
                <a:sym typeface="Wingdings" pitchFamily="2" charset="2"/>
              </a:rPr>
              <a:t>R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ни в одном из направлений ни </a:t>
            </a:r>
            <a:r>
              <a:rPr lang="ru-RU" sz="3000" dirty="0">
                <a:cs typeface="Times New Roman" pitchFamily="18" charset="0"/>
                <a:sym typeface="Wingdings" pitchFamily="2" charset="2"/>
              </a:rPr>
              <a:t>от </a:t>
            </a:r>
            <a:r>
              <a:rPr lang="ru-RU" sz="3000" dirty="0">
                <a:cs typeface="Times New Roman" pitchFamily="18" charset="0"/>
              </a:rPr>
              <a:t> Е</a:t>
            </a:r>
            <a:r>
              <a:rPr lang="ru-RU" sz="3000" baseline="-25000" dirty="0">
                <a:cs typeface="Times New Roman" pitchFamily="18" charset="0"/>
              </a:rPr>
              <a:t>1 </a:t>
            </a:r>
            <a:r>
              <a:rPr lang="ru-RU" sz="3000" dirty="0">
                <a:cs typeface="Times New Roman" pitchFamily="18" charset="0"/>
              </a:rPr>
              <a:t>к Е</a:t>
            </a:r>
            <a:r>
              <a:rPr lang="ru-RU" sz="3000" baseline="-25000" dirty="0">
                <a:cs typeface="Times New Roman" pitchFamily="18" charset="0"/>
              </a:rPr>
              <a:t>2 </a:t>
            </a:r>
            <a:r>
              <a:rPr lang="ru-RU" sz="3000" dirty="0">
                <a:cs typeface="Times New Roman" pitchFamily="18" charset="0"/>
              </a:rPr>
              <a:t>и </a:t>
            </a:r>
            <a:r>
              <a:rPr lang="ru-RU" sz="3000" dirty="0" smtClean="0">
                <a:cs typeface="Times New Roman" pitchFamily="18" charset="0"/>
              </a:rPr>
              <a:t>ни от </a:t>
            </a:r>
            <a:r>
              <a:rPr lang="ru-RU" sz="3000" dirty="0">
                <a:cs typeface="Times New Roman" pitchFamily="18" charset="0"/>
              </a:rPr>
              <a:t>Е</a:t>
            </a:r>
            <a:r>
              <a:rPr lang="ru-RU" sz="3000" baseline="-25000" dirty="0">
                <a:cs typeface="Times New Roman" pitchFamily="18" charset="0"/>
              </a:rPr>
              <a:t>2 </a:t>
            </a:r>
            <a:r>
              <a:rPr lang="ru-RU" sz="3000" dirty="0">
                <a:cs typeface="Times New Roman" pitchFamily="18" charset="0"/>
              </a:rPr>
              <a:t>к Е</a:t>
            </a:r>
            <a:r>
              <a:rPr lang="ru-RU" sz="3000" baseline="-25000" dirty="0">
                <a:cs typeface="Times New Roman" pitchFamily="18" charset="0"/>
              </a:rPr>
              <a:t>1 </a:t>
            </a:r>
            <a:r>
              <a:rPr lang="ru-RU" sz="3000" dirty="0" smtClean="0">
                <a:cs typeface="Times New Roman" pitchFamily="18" charset="0"/>
              </a:rPr>
              <a:t>не относится </a:t>
            </a:r>
            <a:r>
              <a:rPr lang="ru-RU" sz="3000" dirty="0">
                <a:cs typeface="Times New Roman" pitchFamily="18" charset="0"/>
              </a:rPr>
              <a:t>к типу М:1, </a:t>
            </a:r>
            <a:r>
              <a:rPr lang="ru-RU" sz="3000" dirty="0" smtClean="0">
                <a:cs typeface="Times New Roman" pitchFamily="18" charset="0"/>
              </a:rPr>
              <a:t> то </a:t>
            </a:r>
            <a:r>
              <a:rPr lang="en-US" sz="3000" dirty="0">
                <a:cs typeface="Times New Roman" pitchFamily="18" charset="0"/>
                <a:sym typeface="Wingdings" pitchFamily="2" charset="2"/>
              </a:rPr>
              <a:t>R </a:t>
            </a:r>
            <a:r>
              <a:rPr lang="ru-RU" sz="3000" b="1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  <a:sym typeface="Wingdings" pitchFamily="2" charset="2"/>
              </a:rPr>
              <a:t>связь типа </a:t>
            </a:r>
            <a:r>
              <a:rPr lang="en-US" sz="3000" b="1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  <a:sym typeface="Wingdings" pitchFamily="2" charset="2"/>
              </a:rPr>
              <a:t>M</a:t>
            </a:r>
            <a:r>
              <a:rPr lang="ru-RU" sz="3000" b="1" dirty="0" smtClean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  <a:sym typeface="Wingdings" pitchFamily="2" charset="2"/>
              </a:rPr>
              <a:t>:</a:t>
            </a:r>
            <a:r>
              <a:rPr lang="en-US" sz="3000" b="1" dirty="0" smtClean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  <a:sym typeface="Wingdings" pitchFamily="2" charset="2"/>
              </a:rPr>
              <a:t>N</a:t>
            </a:r>
            <a:endParaRPr lang="ru-RU" sz="3000" b="1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1800" dirty="0" smtClean="0">
                <a:sym typeface="Wingdings" pitchFamily="2" charset="2"/>
              </a:rPr>
              <a:t>	</a:t>
            </a:r>
            <a:r>
              <a:rPr lang="ru-RU" sz="2900" dirty="0" smtClean="0">
                <a:sym typeface="Wingdings" pitchFamily="2" charset="2"/>
              </a:rPr>
              <a:t>Студент </a:t>
            </a:r>
            <a:r>
              <a:rPr lang="en-US" sz="2900" dirty="0" smtClean="0">
                <a:sym typeface="Wingdings" pitchFamily="2" charset="2"/>
              </a:rPr>
              <a:t> </a:t>
            </a:r>
            <a:r>
              <a:rPr lang="ru-RU" sz="2900" dirty="0" smtClean="0">
                <a:sym typeface="Wingdings" pitchFamily="2" charset="2"/>
              </a:rPr>
              <a:t>       </a:t>
            </a:r>
            <a:r>
              <a:rPr lang="en-US" sz="2900" dirty="0" smtClean="0">
                <a:sym typeface="Wingdings" pitchFamily="2" charset="2"/>
              </a:rPr>
              <a:t> </a:t>
            </a:r>
            <a:r>
              <a:rPr lang="ru-RU" sz="2900" dirty="0" smtClean="0">
                <a:sym typeface="Wingdings" pitchFamily="2" charset="2"/>
              </a:rPr>
              <a:t>Дисциплина</a:t>
            </a:r>
            <a:endParaRPr lang="ru-RU" sz="2900" dirty="0" smtClean="0">
              <a:sym typeface="Wingdings" pitchFamily="2" charset="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2900" dirty="0" smtClean="0">
                <a:sym typeface="Wingdings" pitchFamily="2" charset="2"/>
              </a:rPr>
              <a:t>	Студент </a:t>
            </a:r>
            <a:r>
              <a:rPr lang="en-US" sz="2900" dirty="0" smtClean="0">
                <a:sym typeface="Wingdings" pitchFamily="2" charset="2"/>
              </a:rPr>
              <a:t> </a:t>
            </a:r>
            <a:r>
              <a:rPr lang="ru-RU" sz="2900" dirty="0" smtClean="0">
                <a:sym typeface="Wingdings" pitchFamily="2" charset="2"/>
              </a:rPr>
              <a:t> </a:t>
            </a:r>
            <a:r>
              <a:rPr lang="ru-RU" sz="2900" dirty="0" smtClean="0">
                <a:sym typeface="Wingdings" pitchFamily="2" charset="2"/>
              </a:rPr>
              <a:t>      </a:t>
            </a:r>
            <a:r>
              <a:rPr lang="en-US" sz="2900" dirty="0" smtClean="0">
                <a:sym typeface="Wingdings" pitchFamily="2" charset="2"/>
              </a:rPr>
              <a:t> </a:t>
            </a:r>
            <a:r>
              <a:rPr lang="ru-RU" sz="2900" dirty="0" smtClean="0">
                <a:sym typeface="Wingdings" pitchFamily="2" charset="2"/>
              </a:rPr>
              <a:t>Преподаватель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Необязательные </a:t>
            </a:r>
            <a:r>
              <a:rPr lang="ru-RU" sz="3000" dirty="0">
                <a:cs typeface="Times New Roman" pitchFamily="18" charset="0"/>
                <a:sym typeface="Wingdings" pitchFamily="2" charset="2"/>
              </a:rPr>
              <a:t>связи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	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Пассажир </a:t>
            </a:r>
            <a:r>
              <a:rPr lang="en-US" sz="3000" dirty="0">
                <a:cs typeface="Times New Roman" pitchFamily="18" charset="0"/>
                <a:sym typeface="Wingdings" pitchFamily="2" charset="2"/>
              </a:rPr>
              <a:t></a:t>
            </a:r>
            <a:r>
              <a:rPr lang="ru-RU" sz="4200" dirty="0" smtClean="0">
                <a:cs typeface="Times New Roman" pitchFamily="18" charset="0"/>
                <a:sym typeface="Wingdings" pitchFamily="2" charset="2"/>
              </a:rPr>
              <a:t>…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        </a:t>
            </a:r>
            <a:r>
              <a:rPr lang="ru-RU" sz="2900" dirty="0" smtClean="0">
                <a:sym typeface="Wingdings" pitchFamily="2" charset="2"/>
              </a:rPr>
              <a:t></a:t>
            </a:r>
            <a:r>
              <a:rPr lang="en-US" sz="3000" dirty="0" smtClean="0">
                <a:cs typeface="Times New Roman" pitchFamily="18" charset="0"/>
                <a:sym typeface="Wingdings" pitchFamily="2" charset="2"/>
              </a:rPr>
              <a:t>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Билет</a:t>
            </a:r>
          </a:p>
          <a:p>
            <a:pPr>
              <a:buClr>
                <a:schemeClr val="accent1"/>
              </a:buClr>
              <a:buFont typeface="Wingdings" pitchFamily="2" charset="2"/>
              <a:buChar char="Ø"/>
            </a:pPr>
            <a:endParaRPr lang="ru-RU" sz="1600" dirty="0" smtClean="0"/>
          </a:p>
          <a:p>
            <a:pPr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sz="2900" dirty="0" smtClean="0"/>
              <a:t>Устная </a:t>
            </a:r>
            <a:r>
              <a:rPr lang="ru-RU" sz="2900" dirty="0" smtClean="0"/>
              <a:t>трактовка изображенной диаграммы состоит в следующем:</a:t>
            </a:r>
          </a:p>
          <a:p>
            <a:pPr>
              <a:buClr>
                <a:schemeClr val="accent2"/>
              </a:buClr>
              <a:buFont typeface="Wingdings" pitchFamily="2" charset="2"/>
              <a:buChar char="ü"/>
            </a:pPr>
            <a:r>
              <a:rPr lang="ru-RU" sz="2900" dirty="0" smtClean="0"/>
              <a:t> каждый </a:t>
            </a:r>
            <a:r>
              <a:rPr lang="ru-RU" sz="2900" dirty="0" smtClean="0"/>
              <a:t>БИЛЕТ </a:t>
            </a:r>
            <a:r>
              <a:rPr lang="ru-RU" sz="2900" dirty="0" smtClean="0"/>
              <a:t>предназначен для одного и только одного ПАССАЖИРА;</a:t>
            </a:r>
          </a:p>
          <a:p>
            <a:pPr>
              <a:buClr>
                <a:schemeClr val="accent2"/>
              </a:buClr>
              <a:buFont typeface="Wingdings" pitchFamily="2" charset="2"/>
              <a:buChar char="ü"/>
            </a:pPr>
            <a:r>
              <a:rPr lang="ru-RU" sz="2900" dirty="0" smtClean="0"/>
              <a:t> каждый ПАССАЖИР может иметь один или более БИЛЕТОВ 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ru-RU" sz="3000" dirty="0" smtClean="0">
              <a:cs typeface="Times New Roman" pitchFamily="18" charset="0"/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ru-RU" sz="3000" dirty="0">
                <a:cs typeface="Times New Roman" pitchFamily="18" charset="0"/>
                <a:sym typeface="Wingdings" pitchFamily="2" charset="2"/>
              </a:rPr>
              <a:t>Многосторонние связи – роли.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«Контракт» – связь между персоной, предприятием, проектом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Обычно многосторонние связи </a:t>
            </a:r>
            <a:r>
              <a:rPr lang="ru-RU" sz="3000" dirty="0">
                <a:cs typeface="Times New Roman" pitchFamily="18" charset="0"/>
                <a:sym typeface="Wingdings" pitchFamily="2" charset="2"/>
              </a:rPr>
              <a:t>преобразуют в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совокупность бинарных, образуя новые сущности  вместо атрибутов связи.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Сотрудники</a:t>
            </a:r>
            <a:r>
              <a:rPr lang="en-US" sz="30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      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    Контракты          Проекты</a:t>
            </a:r>
            <a:endParaRPr lang="en-US" sz="3000" dirty="0" smtClean="0">
              <a:cs typeface="Times New Roman" pitchFamily="18" charset="0"/>
              <a:sym typeface="Wingdings" pitchFamily="2" charset="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		    	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	         </a:t>
            </a:r>
            <a:endParaRPr lang="ru-RU" sz="3000" dirty="0" smtClean="0">
              <a:cs typeface="Times New Roman" pitchFamily="18" charset="0"/>
              <a:sym typeface="Wingdings" pitchFamily="2" charset="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                              Учреждения</a:t>
            </a:r>
            <a:endParaRPr lang="ru-RU" sz="3000" dirty="0" smtClean="0">
              <a:cs typeface="Times New Roman" pitchFamily="18" charset="0"/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Подклассы </a:t>
            </a:r>
            <a:r>
              <a:rPr lang="ru-RU" sz="3000" dirty="0">
                <a:cs typeface="Times New Roman" pitchFamily="18" charset="0"/>
                <a:sym typeface="Wingdings" pitchFamily="2" charset="2"/>
              </a:rPr>
              <a:t>– специальные множества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сущностей. </a:t>
            </a:r>
            <a:br>
              <a:rPr lang="ru-RU" sz="3000" dirty="0" smtClean="0">
                <a:cs typeface="Times New Roman" pitchFamily="18" charset="0"/>
                <a:sym typeface="Wingdings" pitchFamily="2" charset="2"/>
              </a:rPr>
            </a:b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Для соединения «полного» множества с его подклассами применяется связь «есть» ( </a:t>
            </a:r>
            <a:r>
              <a:rPr lang="en-US" sz="3000" i="1" dirty="0" smtClean="0">
                <a:cs typeface="Times New Roman" pitchFamily="18" charset="0"/>
                <a:sym typeface="Wingdings" pitchFamily="2" charset="2"/>
              </a:rPr>
              <a:t>IS</a:t>
            </a:r>
            <a:r>
              <a:rPr lang="en-US" sz="3000" dirty="0" smtClean="0">
                <a:cs typeface="Times New Roman" pitchFamily="18" charset="0"/>
                <a:sym typeface="Wingdings" pitchFamily="2" charset="2"/>
              </a:rPr>
              <a:t> </a:t>
            </a:r>
            <a:r>
              <a:rPr lang="ru-RU" sz="3000" dirty="0" smtClean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3000" dirty="0" smtClean="0">
                <a:cs typeface="Times New Roman" pitchFamily="18" charset="0"/>
                <a:sym typeface="Wingdings" pitchFamily="2" charset="2"/>
              </a:rPr>
              <a:t>A)</a:t>
            </a:r>
            <a:endParaRPr lang="ru-RU" sz="3000" dirty="0">
              <a:cs typeface="Times New Roman" pitchFamily="18" charset="0"/>
              <a:sym typeface="Wingdings" pitchFamily="2" charset="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dirty="0">
              <a:sym typeface="Wingdings" pitchFamily="2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DB4EDF-9623-493F-8462-69A3AE626291}" type="slidenum">
              <a:rPr lang="ru-RU" smtClean="0"/>
              <a:pPr/>
              <a:t>12</a:t>
            </a:fld>
            <a:endParaRPr lang="ru-RU" smtClean="0"/>
          </a:p>
        </p:txBody>
      </p:sp>
      <p:sp>
        <p:nvSpPr>
          <p:cNvPr id="2" name="Стрелка вниз 1"/>
          <p:cNvSpPr/>
          <p:nvPr/>
        </p:nvSpPr>
        <p:spPr>
          <a:xfrm>
            <a:off x="2233057" y="4906571"/>
            <a:ext cx="144000" cy="360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трелка влево 3"/>
          <p:cNvSpPr/>
          <p:nvPr/>
        </p:nvSpPr>
        <p:spPr>
          <a:xfrm>
            <a:off x="1388726" y="4665588"/>
            <a:ext cx="360000" cy="144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 вправо 4"/>
          <p:cNvSpPr/>
          <p:nvPr/>
        </p:nvSpPr>
        <p:spPr>
          <a:xfrm>
            <a:off x="2793824" y="4676605"/>
            <a:ext cx="360000" cy="14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640727" y="2445746"/>
            <a:ext cx="32207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318655" y="1597446"/>
            <a:ext cx="32207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2318655" y="1861851"/>
            <a:ext cx="32207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chemeClr val="bg2"/>
                </a:solidFill>
              </a:rPr>
              <a:t>Нотация</a:t>
            </a:r>
          </a:p>
        </p:txBody>
      </p:sp>
      <p:sp>
        <p:nvSpPr>
          <p:cNvPr id="11295" name="Номер слайда 2"/>
          <p:cNvSpPr>
            <a:spLocks noGrp="1"/>
          </p:cNvSpPr>
          <p:nvPr>
            <p:ph type="sldNum" sz="quarter" idx="11"/>
          </p:nvPr>
        </p:nvSpPr>
        <p:spPr>
          <a:xfrm>
            <a:off x="8624771" y="6413074"/>
            <a:ext cx="436679" cy="292526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D3AE9ED-9122-45EF-808F-4A98DF37DB10}" type="slidenum">
              <a:rPr lang="ru-RU" smtClean="0"/>
              <a:pPr/>
              <a:t>13</a:t>
            </a:fld>
            <a:endParaRPr lang="ru-RU" dirty="0" smtClean="0"/>
          </a:p>
        </p:txBody>
      </p:sp>
      <p:sp>
        <p:nvSpPr>
          <p:cNvPr id="48" name="TextBox 1"/>
          <p:cNvSpPr txBox="1">
            <a:spLocks noChangeArrowheads="1"/>
          </p:cNvSpPr>
          <p:nvPr/>
        </p:nvSpPr>
        <p:spPr bwMode="auto">
          <a:xfrm>
            <a:off x="3214997" y="1368532"/>
            <a:ext cx="2016125" cy="40011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dirty="0" smtClean="0"/>
              <a:t>Имя сущности</a:t>
            </a:r>
            <a:endParaRPr lang="ru-RU" sz="2000" dirty="0"/>
          </a:p>
        </p:txBody>
      </p:sp>
      <p:sp>
        <p:nvSpPr>
          <p:cNvPr id="49" name="TextBox 48"/>
          <p:cNvSpPr txBox="1"/>
          <p:nvPr/>
        </p:nvSpPr>
        <p:spPr>
          <a:xfrm>
            <a:off x="325181" y="1052513"/>
            <a:ext cx="22696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Сущности </a:t>
            </a:r>
            <a:r>
              <a:rPr lang="ru-RU" dirty="0" smtClean="0"/>
              <a:t> (тип сущности) изображаются </a:t>
            </a:r>
            <a:r>
              <a:rPr lang="ru-RU" dirty="0" smtClean="0"/>
              <a:t>прямоугольниками 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325181" y="2284717"/>
            <a:ext cx="2558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Свойства изображаются овалами 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227068" y="3313933"/>
            <a:ext cx="2558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Связи (тип связи) </a:t>
            </a:r>
            <a:r>
              <a:rPr lang="ru-RU" dirty="0" smtClean="0"/>
              <a:t>изображаются ромбами</a:t>
            </a:r>
            <a:endParaRPr lang="ru-RU" dirty="0"/>
          </a:p>
        </p:txBody>
      </p:sp>
      <p:sp>
        <p:nvSpPr>
          <p:cNvPr id="52" name="Скругленный прямоугольник 51"/>
          <p:cNvSpPr/>
          <p:nvPr/>
        </p:nvSpPr>
        <p:spPr>
          <a:xfrm>
            <a:off x="3598862" y="2178955"/>
            <a:ext cx="1368425" cy="679450"/>
          </a:xfrm>
          <a:prstGeom prst="roundRect">
            <a:avLst>
              <a:gd name="adj" fmla="val 4828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3" name="TextBox 12"/>
          <p:cNvSpPr txBox="1">
            <a:spLocks noChangeArrowheads="1"/>
          </p:cNvSpPr>
          <p:nvPr/>
        </p:nvSpPr>
        <p:spPr bwMode="auto">
          <a:xfrm>
            <a:off x="3542770" y="2179794"/>
            <a:ext cx="1447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dirty="0" smtClean="0"/>
              <a:t>Имя атрибута</a:t>
            </a:r>
            <a:endParaRPr lang="ru-RU" dirty="0"/>
          </a:p>
        </p:txBody>
      </p:sp>
      <p:grpSp>
        <p:nvGrpSpPr>
          <p:cNvPr id="54" name="Группа 53"/>
          <p:cNvGrpSpPr>
            <a:grpSpLocks/>
          </p:cNvGrpSpPr>
          <p:nvPr/>
        </p:nvGrpSpPr>
        <p:grpSpPr bwMode="auto">
          <a:xfrm>
            <a:off x="3432293" y="3148236"/>
            <a:ext cx="1655608" cy="1336675"/>
            <a:chOff x="1116013" y="2420938"/>
            <a:chExt cx="2057504" cy="1944687"/>
          </a:xfrm>
        </p:grpSpPr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1330685" y="3146961"/>
              <a:ext cx="1842832" cy="492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600" b="1" dirty="0" smtClean="0">
                  <a:solidFill>
                    <a:srgbClr val="7030A0"/>
                  </a:solidFill>
                </a:rPr>
                <a:t>Имя связи</a:t>
              </a:r>
              <a:endParaRPr lang="ru-RU" sz="1600" b="1" dirty="0">
                <a:solidFill>
                  <a:srgbClr val="7030A0"/>
                </a:solidFill>
              </a:endParaRPr>
            </a:p>
          </p:txBody>
        </p:sp>
        <p:grpSp>
          <p:nvGrpSpPr>
            <p:cNvPr id="56" name="Группа 13"/>
            <p:cNvGrpSpPr>
              <a:grpSpLocks/>
            </p:cNvGrpSpPr>
            <p:nvPr/>
          </p:nvGrpSpPr>
          <p:grpSpPr bwMode="auto">
            <a:xfrm>
              <a:off x="1116013" y="2420938"/>
              <a:ext cx="1943100" cy="1944687"/>
              <a:chOff x="1116013" y="2420938"/>
              <a:chExt cx="1943100" cy="1944687"/>
            </a:xfrm>
          </p:grpSpPr>
          <p:sp>
            <p:nvSpPr>
              <p:cNvPr id="57" name="Ромб 56"/>
              <p:cNvSpPr/>
              <p:nvPr/>
            </p:nvSpPr>
            <p:spPr>
              <a:xfrm>
                <a:off x="1116013" y="2997200"/>
                <a:ext cx="1943100" cy="792163"/>
              </a:xfrm>
              <a:prstGeom prst="diamond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58" name="Line 23"/>
              <p:cNvSpPr>
                <a:spLocks noChangeShapeType="1"/>
              </p:cNvSpPr>
              <p:nvPr/>
            </p:nvSpPr>
            <p:spPr bwMode="auto">
              <a:xfrm flipV="1">
                <a:off x="2051050" y="2420938"/>
                <a:ext cx="0" cy="5762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 flipH="1">
                <a:off x="2051050" y="3789363"/>
                <a:ext cx="0" cy="5762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0" name="Line 25"/>
              <p:cNvSpPr>
                <a:spLocks noChangeShapeType="1"/>
              </p:cNvSpPr>
              <p:nvPr/>
            </p:nvSpPr>
            <p:spPr bwMode="auto">
              <a:xfrm>
                <a:off x="2051050" y="3789363"/>
                <a:ext cx="0" cy="431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61" name="TextBox 60"/>
          <p:cNvSpPr txBox="1"/>
          <p:nvPr/>
        </p:nvSpPr>
        <p:spPr>
          <a:xfrm>
            <a:off x="227068" y="4682464"/>
            <a:ext cx="8180580" cy="175432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Пусть необходимо описать данные возникающие в процессе </a:t>
            </a:r>
            <a:r>
              <a:rPr lang="ru-RU" b="1" dirty="0" smtClean="0"/>
              <a:t>поставки материалов</a:t>
            </a:r>
            <a:r>
              <a:rPr lang="ru-RU" dirty="0" smtClean="0"/>
              <a:t> на склад.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Данные берутся из документов, сопровождающих поставки – </a:t>
            </a:r>
            <a:r>
              <a:rPr lang="ru-RU" b="1" dirty="0" smtClean="0"/>
              <a:t>накладных</a:t>
            </a:r>
            <a:r>
              <a:rPr lang="ru-RU" dirty="0" smtClean="0"/>
              <a:t>.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Пусть из накладных мы выяснили, что в процессе поставки следует зафиксировать следующую информацию о поставках: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8196" y="1136168"/>
            <a:ext cx="26794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Индекс поставки,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Индекс поставщика,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Адрес поставщика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Индекс товара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Название товара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Количество товара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Цена единицы товара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Шифр склада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dirty="0" smtClean="0"/>
              <a:t>Дата поставки</a:t>
            </a:r>
          </a:p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/>
      <p:bldP spid="50" grpId="0"/>
      <p:bldP spid="51" grpId="0"/>
      <p:bldP spid="52" grpId="0" animBg="1"/>
      <p:bldP spid="53" grpId="0"/>
      <p:bldP spid="61" grpId="0" build="p"/>
      <p:bldP spid="6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  <p:pic>
        <p:nvPicPr>
          <p:cNvPr id="3074" name="Picture 2" descr="D:\YandexDisk\Скриншоты\2019-09-12_10-02-2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535867"/>
            <a:ext cx="8411378" cy="58186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3200" dirty="0" smtClean="0">
                <a:solidFill>
                  <a:schemeClr val="bg2"/>
                </a:solidFill>
              </a:rPr>
              <a:t>Диаграмма </a:t>
            </a:r>
            <a:r>
              <a:rPr lang="en-US" sz="3200" dirty="0" smtClean="0">
                <a:solidFill>
                  <a:schemeClr val="bg2"/>
                </a:solidFill>
              </a:rPr>
              <a:t>ER-</a:t>
            </a:r>
            <a:r>
              <a:rPr lang="ru-RU" sz="3200" dirty="0" smtClean="0">
                <a:solidFill>
                  <a:schemeClr val="bg2"/>
                </a:solidFill>
              </a:rPr>
              <a:t>модели</a:t>
            </a:r>
            <a:r>
              <a:rPr lang="en-US" sz="3200" dirty="0" smtClean="0">
                <a:solidFill>
                  <a:schemeClr val="bg2"/>
                </a:solidFill>
              </a:rPr>
              <a:t>. </a:t>
            </a:r>
            <a:br>
              <a:rPr lang="en-US" sz="3200" dirty="0" smtClean="0">
                <a:solidFill>
                  <a:schemeClr val="bg2"/>
                </a:solidFill>
              </a:rPr>
            </a:br>
            <a:r>
              <a:rPr lang="en-US" sz="3200" dirty="0" smtClean="0">
                <a:solidFill>
                  <a:schemeClr val="bg2"/>
                </a:solidFill>
              </a:rPr>
              <a:t>(</a:t>
            </a:r>
            <a:r>
              <a:rPr lang="ru-RU" sz="3200" dirty="0" smtClean="0">
                <a:solidFill>
                  <a:schemeClr val="bg2"/>
                </a:solidFill>
              </a:rPr>
              <a:t>первое представление)</a:t>
            </a:r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>
          <a:xfrm>
            <a:off x="2024063" y="1536700"/>
            <a:ext cx="1547812" cy="636588"/>
          </a:xfrm>
          <a:prstGeom prst="roundRect">
            <a:avLst>
              <a:gd name="adj" fmla="val 50000"/>
            </a:avLst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spcCol="0" rtlCol="0" fromWordArt="0" anchor="ctr" forceAA="0">
            <a:noAutofit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endParaRPr lang="ru-RU" dirty="0" smtClean="0"/>
          </a:p>
        </p:txBody>
      </p:sp>
      <p:sp>
        <p:nvSpPr>
          <p:cNvPr id="10245" name="TextBox 12"/>
          <p:cNvSpPr txBox="1">
            <a:spLocks noChangeArrowheads="1"/>
          </p:cNvSpPr>
          <p:nvPr/>
        </p:nvSpPr>
        <p:spPr bwMode="auto">
          <a:xfrm>
            <a:off x="3851275" y="1484313"/>
            <a:ext cx="14478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 err="1"/>
              <a:t>Адрес_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поставщика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580063" y="1484313"/>
            <a:ext cx="1368425" cy="679450"/>
          </a:xfrm>
          <a:prstGeom prst="roundRect">
            <a:avLst>
              <a:gd name="adj" fmla="val 4195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7235825" y="1484313"/>
            <a:ext cx="1368425" cy="681037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7235825" y="2708275"/>
            <a:ext cx="1368425" cy="67945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7235825" y="3757613"/>
            <a:ext cx="1368425" cy="67945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256346" y="4868863"/>
            <a:ext cx="1368425" cy="681037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7207250" y="5876925"/>
            <a:ext cx="1368425" cy="681038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275" name="TextBox 1"/>
          <p:cNvSpPr txBox="1">
            <a:spLocks noChangeArrowheads="1"/>
          </p:cNvSpPr>
          <p:nvPr/>
        </p:nvSpPr>
        <p:spPr bwMode="auto">
          <a:xfrm>
            <a:off x="2914650" y="3271838"/>
            <a:ext cx="2016125" cy="5572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/>
              <a:t>поставка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87350" y="1536700"/>
            <a:ext cx="1368425" cy="661988"/>
          </a:xfrm>
          <a:prstGeom prst="roundRect">
            <a:avLst>
              <a:gd name="adj" fmla="val 4540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253" name="TextBox 6"/>
          <p:cNvSpPr txBox="1">
            <a:spLocks noChangeArrowheads="1"/>
          </p:cNvSpPr>
          <p:nvPr/>
        </p:nvSpPr>
        <p:spPr bwMode="auto">
          <a:xfrm>
            <a:off x="468313" y="1484313"/>
            <a:ext cx="1152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 err="1"/>
              <a:t>Индекс_поставки</a:t>
            </a:r>
            <a:endParaRPr lang="ru-RU" dirty="0"/>
          </a:p>
        </p:txBody>
      </p:sp>
      <p:sp>
        <p:nvSpPr>
          <p:cNvPr id="10254" name="TextBox 11"/>
          <p:cNvSpPr txBox="1">
            <a:spLocks noChangeArrowheads="1"/>
          </p:cNvSpPr>
          <p:nvPr/>
        </p:nvSpPr>
        <p:spPr bwMode="auto">
          <a:xfrm>
            <a:off x="2079296" y="1484313"/>
            <a:ext cx="146843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 err="1"/>
              <a:t>Индекс_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поставщика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881960" y="1484313"/>
            <a:ext cx="1368425" cy="679450"/>
          </a:xfrm>
          <a:prstGeom prst="roundRect">
            <a:avLst>
              <a:gd name="adj" fmla="val 4828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256" name="TextBox 21"/>
          <p:cNvSpPr txBox="1">
            <a:spLocks noChangeArrowheads="1"/>
          </p:cNvSpPr>
          <p:nvPr/>
        </p:nvSpPr>
        <p:spPr bwMode="auto">
          <a:xfrm>
            <a:off x="5651500" y="1484313"/>
            <a:ext cx="12239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Индекс_</a:t>
            </a:r>
            <a:br>
              <a:rPr lang="ru-RU"/>
            </a:br>
            <a:r>
              <a:rPr lang="ru-RU"/>
              <a:t>товара</a:t>
            </a:r>
          </a:p>
        </p:txBody>
      </p:sp>
      <p:sp>
        <p:nvSpPr>
          <p:cNvPr id="10257" name="TextBox 22"/>
          <p:cNvSpPr txBox="1">
            <a:spLocks noChangeArrowheads="1"/>
          </p:cNvSpPr>
          <p:nvPr/>
        </p:nvSpPr>
        <p:spPr bwMode="auto">
          <a:xfrm>
            <a:off x="7308850" y="1484313"/>
            <a:ext cx="1377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 err="1"/>
              <a:t>Название_товара</a:t>
            </a:r>
            <a:endParaRPr lang="ru-RU" dirty="0"/>
          </a:p>
        </p:txBody>
      </p:sp>
      <p:sp>
        <p:nvSpPr>
          <p:cNvPr id="10258" name="TextBox 23"/>
          <p:cNvSpPr txBox="1">
            <a:spLocks noChangeArrowheads="1"/>
          </p:cNvSpPr>
          <p:nvPr/>
        </p:nvSpPr>
        <p:spPr bwMode="auto">
          <a:xfrm>
            <a:off x="7308850" y="2708275"/>
            <a:ext cx="12795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Кол-во_</a:t>
            </a:r>
          </a:p>
          <a:p>
            <a:r>
              <a:rPr lang="ru-RU"/>
              <a:t>товара</a:t>
            </a:r>
          </a:p>
        </p:txBody>
      </p:sp>
      <p:sp>
        <p:nvSpPr>
          <p:cNvPr id="10259" name="TextBox 24"/>
          <p:cNvSpPr txBox="1">
            <a:spLocks noChangeArrowheads="1"/>
          </p:cNvSpPr>
          <p:nvPr/>
        </p:nvSpPr>
        <p:spPr bwMode="auto">
          <a:xfrm>
            <a:off x="7352428" y="3789363"/>
            <a:ext cx="118038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 err="1"/>
              <a:t>Цена_ед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_товара</a:t>
            </a:r>
            <a:endParaRPr lang="ru-RU" dirty="0"/>
          </a:p>
        </p:txBody>
      </p:sp>
      <p:sp>
        <p:nvSpPr>
          <p:cNvPr id="10260" name="TextBox 25"/>
          <p:cNvSpPr txBox="1">
            <a:spLocks noChangeArrowheads="1"/>
          </p:cNvSpPr>
          <p:nvPr/>
        </p:nvSpPr>
        <p:spPr bwMode="auto">
          <a:xfrm>
            <a:off x="7444483" y="4868863"/>
            <a:ext cx="11165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 err="1"/>
              <a:t>Шифр_</a:t>
            </a:r>
            <a:endParaRPr lang="ru-RU" dirty="0"/>
          </a:p>
          <a:p>
            <a:r>
              <a:rPr lang="ru-RU" dirty="0"/>
              <a:t>склада</a:t>
            </a:r>
          </a:p>
        </p:txBody>
      </p:sp>
      <p:sp>
        <p:nvSpPr>
          <p:cNvPr id="10261" name="TextBox 26"/>
          <p:cNvSpPr txBox="1">
            <a:spLocks noChangeArrowheads="1"/>
          </p:cNvSpPr>
          <p:nvPr/>
        </p:nvSpPr>
        <p:spPr bwMode="auto">
          <a:xfrm>
            <a:off x="7364701" y="5876925"/>
            <a:ext cx="121097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 err="1"/>
              <a:t>Дата_</a:t>
            </a:r>
            <a:endParaRPr lang="ru-RU" dirty="0"/>
          </a:p>
          <a:p>
            <a:r>
              <a:rPr lang="ru-RU" dirty="0"/>
              <a:t>поставки</a:t>
            </a:r>
          </a:p>
        </p:txBody>
      </p:sp>
      <p:cxnSp>
        <p:nvCxnSpPr>
          <p:cNvPr id="9" name="Прямая со стрелкой 8"/>
          <p:cNvCxnSpPr>
            <a:endCxn id="6" idx="2"/>
          </p:cNvCxnSpPr>
          <p:nvPr/>
        </p:nvCxnSpPr>
        <p:spPr>
          <a:xfrm flipH="1" flipV="1">
            <a:off x="1071563" y="2198688"/>
            <a:ext cx="2490788" cy="105410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endCxn id="11" idx="2"/>
          </p:cNvCxnSpPr>
          <p:nvPr/>
        </p:nvCxnSpPr>
        <p:spPr>
          <a:xfrm flipH="1" flipV="1">
            <a:off x="2797969" y="2173288"/>
            <a:ext cx="1026320" cy="109855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endCxn id="15" idx="2"/>
          </p:cNvCxnSpPr>
          <p:nvPr/>
        </p:nvCxnSpPr>
        <p:spPr>
          <a:xfrm flipV="1">
            <a:off x="4026423" y="2163763"/>
            <a:ext cx="539750" cy="1096962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endCxn id="16" idx="2"/>
          </p:cNvCxnSpPr>
          <p:nvPr/>
        </p:nvCxnSpPr>
        <p:spPr>
          <a:xfrm flipV="1">
            <a:off x="4165600" y="2163763"/>
            <a:ext cx="2098676" cy="109220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V="1">
            <a:off x="4911725" y="2168525"/>
            <a:ext cx="2989263" cy="1120775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18" idx="1"/>
          </p:cNvCxnSpPr>
          <p:nvPr/>
        </p:nvCxnSpPr>
        <p:spPr>
          <a:xfrm flipV="1">
            <a:off x="4932363" y="3048000"/>
            <a:ext cx="2303462" cy="379414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4932363" y="3500438"/>
            <a:ext cx="2303462" cy="60960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11275" idx="3"/>
            <a:endCxn id="20" idx="1"/>
          </p:cNvCxnSpPr>
          <p:nvPr/>
        </p:nvCxnSpPr>
        <p:spPr>
          <a:xfrm>
            <a:off x="4930775" y="3550444"/>
            <a:ext cx="2325571" cy="1658938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endCxn id="21" idx="1"/>
          </p:cNvCxnSpPr>
          <p:nvPr/>
        </p:nvCxnSpPr>
        <p:spPr>
          <a:xfrm>
            <a:off x="4932363" y="3573463"/>
            <a:ext cx="2274887" cy="26439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95" name="Номер слайда 2"/>
          <p:cNvSpPr>
            <a:spLocks noGrp="1"/>
          </p:cNvSpPr>
          <p:nvPr>
            <p:ph type="sldNum" sz="quarter" idx="11"/>
          </p:nvPr>
        </p:nvSpPr>
        <p:spPr>
          <a:xfrm>
            <a:off x="8624771" y="6413074"/>
            <a:ext cx="436679" cy="292526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D3AE9ED-9122-45EF-808F-4A98DF37DB10}" type="slidenum">
              <a:rPr lang="ru-RU" smtClean="0"/>
              <a:pPr/>
              <a:t>15</a:t>
            </a:fld>
            <a:endParaRPr lang="ru-RU" dirty="0" smtClean="0"/>
          </a:p>
        </p:txBody>
      </p:sp>
      <p:sp>
        <p:nvSpPr>
          <p:cNvPr id="47" name="TextBox 46"/>
          <p:cNvSpPr txBox="1"/>
          <p:nvPr/>
        </p:nvSpPr>
        <p:spPr>
          <a:xfrm>
            <a:off x="387350" y="3550444"/>
            <a:ext cx="2251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Индекс поставки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7350" y="3867452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Индекс поставщика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7350" y="4184460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Адрес поставщика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7350" y="4501468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Индекс товара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7350" y="4818476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Название товара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7350" y="5135484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Количество товара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7350" y="5452492"/>
            <a:ext cx="2630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Цена единицы товара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7350" y="5769500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Шифр склада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350" y="6086510"/>
            <a:ext cx="2329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Clr>
                <a:srgbClr val="7030A0"/>
              </a:buClr>
              <a:buSzPct val="80000"/>
              <a:buFont typeface="Wingdings" pitchFamily="2" charset="2"/>
              <a:buChar char="v"/>
            </a:pPr>
            <a:r>
              <a:rPr lang="ru-RU" sz="1600" dirty="0" smtClean="0"/>
              <a:t>Дата поставки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11275" grpId="0" animBg="1"/>
      <p:bldP spid="6" grpId="0" animBg="1"/>
      <p:bldP spid="10253" grpId="0"/>
      <p:bldP spid="15" grpId="0" animBg="1"/>
      <p:bldP spid="10256" grpId="0"/>
      <p:bldP spid="10257" grpId="0"/>
      <p:bldP spid="10258" grpId="0"/>
      <p:bldP spid="10259" grpId="0"/>
      <p:bldP spid="10260" grpId="0"/>
      <p:bldP spid="10261" grpId="0"/>
      <p:bldP spid="54" grpId="0" build="p"/>
      <p:bldP spid="56" grpId="0" build="p"/>
      <p:bldP spid="61" grpId="0" build="p"/>
      <p:bldP spid="62" grpId="0" build="p"/>
      <p:bldP spid="63" grpId="0" build="p"/>
      <p:bldP spid="64" grpId="0" build="p"/>
      <p:bldP spid="65" grpId="0" build="p"/>
      <p:bldP spid="6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250825" y="179388"/>
            <a:ext cx="8607425" cy="657225"/>
          </a:xfrm>
        </p:spPr>
        <p:txBody>
          <a:bodyPr/>
          <a:lstStyle/>
          <a:p>
            <a:pPr algn="ctr" eaLnBrk="1" hangingPunct="1"/>
            <a:r>
              <a:rPr lang="ru-RU" sz="3200" smtClean="0"/>
              <a:t>Модификация исходного представления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1844675"/>
            <a:ext cx="2160588" cy="547688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dirty="0"/>
              <a:t>поставщик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365625"/>
            <a:ext cx="2160588" cy="547688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dirty="0"/>
              <a:t>поставка</a:t>
            </a:r>
          </a:p>
        </p:txBody>
      </p:sp>
      <p:sp>
        <p:nvSpPr>
          <p:cNvPr id="2" name="TextBox 3"/>
          <p:cNvSpPr txBox="1"/>
          <p:nvPr/>
        </p:nvSpPr>
        <p:spPr>
          <a:xfrm>
            <a:off x="6715125" y="2357438"/>
            <a:ext cx="1439863" cy="52387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2800" smtClean="0"/>
              <a:t>товар</a:t>
            </a:r>
          </a:p>
        </p:txBody>
      </p:sp>
      <p:grpSp>
        <p:nvGrpSpPr>
          <p:cNvPr id="15" name="Группа 14"/>
          <p:cNvGrpSpPr>
            <a:grpSpLocks/>
          </p:cNvGrpSpPr>
          <p:nvPr/>
        </p:nvGrpSpPr>
        <p:grpSpPr bwMode="auto">
          <a:xfrm>
            <a:off x="1116013" y="2420938"/>
            <a:ext cx="1943100" cy="1944687"/>
            <a:chOff x="1116013" y="2420938"/>
            <a:chExt cx="1943100" cy="1944687"/>
          </a:xfrm>
        </p:grpSpPr>
        <p:sp>
          <p:nvSpPr>
            <p:cNvPr id="12350" name="Text Box 20"/>
            <p:cNvSpPr txBox="1">
              <a:spLocks noChangeArrowheads="1"/>
            </p:cNvSpPr>
            <p:nvPr/>
          </p:nvSpPr>
          <p:spPr bwMode="auto">
            <a:xfrm>
              <a:off x="1331913" y="3213100"/>
              <a:ext cx="1525587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b="1">
                  <a:solidFill>
                    <a:srgbClr val="7030A0"/>
                  </a:solidFill>
                </a:rPr>
                <a:t>поставляет</a:t>
              </a:r>
            </a:p>
          </p:txBody>
        </p:sp>
        <p:grpSp>
          <p:nvGrpSpPr>
            <p:cNvPr id="12351" name="Группа 13"/>
            <p:cNvGrpSpPr>
              <a:grpSpLocks/>
            </p:cNvGrpSpPr>
            <p:nvPr/>
          </p:nvGrpSpPr>
          <p:grpSpPr bwMode="auto">
            <a:xfrm>
              <a:off x="1116013" y="2420938"/>
              <a:ext cx="1943100" cy="1944687"/>
              <a:chOff x="1116013" y="2420938"/>
              <a:chExt cx="1943100" cy="1944687"/>
            </a:xfrm>
          </p:grpSpPr>
          <p:sp>
            <p:nvSpPr>
              <p:cNvPr id="8" name="Ромб 7"/>
              <p:cNvSpPr/>
              <p:nvPr/>
            </p:nvSpPr>
            <p:spPr>
              <a:xfrm>
                <a:off x="1116013" y="2997200"/>
                <a:ext cx="1943100" cy="792163"/>
              </a:xfrm>
              <a:prstGeom prst="diamond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12353" name="Line 23"/>
              <p:cNvSpPr>
                <a:spLocks noChangeShapeType="1"/>
              </p:cNvSpPr>
              <p:nvPr/>
            </p:nvSpPr>
            <p:spPr bwMode="auto">
              <a:xfrm flipV="1">
                <a:off x="2051050" y="2420938"/>
                <a:ext cx="0" cy="5762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354" name="Line 24"/>
              <p:cNvSpPr>
                <a:spLocks noChangeShapeType="1"/>
              </p:cNvSpPr>
              <p:nvPr/>
            </p:nvSpPr>
            <p:spPr bwMode="auto">
              <a:xfrm flipH="1">
                <a:off x="2051050" y="3789363"/>
                <a:ext cx="0" cy="5762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355" name="Line 25"/>
              <p:cNvSpPr>
                <a:spLocks noChangeShapeType="1"/>
              </p:cNvSpPr>
              <p:nvPr/>
            </p:nvSpPr>
            <p:spPr bwMode="auto">
              <a:xfrm>
                <a:off x="2051050" y="3789363"/>
                <a:ext cx="0" cy="431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21" name="Группа 20"/>
          <p:cNvGrpSpPr>
            <a:grpSpLocks/>
          </p:cNvGrpSpPr>
          <p:nvPr/>
        </p:nvGrpSpPr>
        <p:grpSpPr bwMode="auto">
          <a:xfrm>
            <a:off x="3132138" y="2881313"/>
            <a:ext cx="5346700" cy="2132012"/>
            <a:chOff x="3132138" y="2881313"/>
            <a:chExt cx="5346700" cy="2132012"/>
          </a:xfrm>
        </p:grpSpPr>
        <p:sp>
          <p:nvSpPr>
            <p:cNvPr id="3" name="Ромб 7"/>
            <p:cNvSpPr/>
            <p:nvPr/>
          </p:nvSpPr>
          <p:spPr>
            <a:xfrm>
              <a:off x="6389688" y="4221163"/>
              <a:ext cx="2089150" cy="792162"/>
            </a:xfrm>
            <a:prstGeom prst="diamon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346" name="Text Box 21"/>
            <p:cNvSpPr txBox="1">
              <a:spLocks noChangeArrowheads="1"/>
            </p:cNvSpPr>
            <p:nvPr/>
          </p:nvSpPr>
          <p:spPr bwMode="auto">
            <a:xfrm>
              <a:off x="6732588" y="4437063"/>
              <a:ext cx="1439862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b="1">
                  <a:solidFill>
                    <a:srgbClr val="C00000"/>
                  </a:solidFill>
                </a:rPr>
                <a:t>поставлен</a:t>
              </a:r>
            </a:p>
          </p:txBody>
        </p:sp>
        <p:sp>
          <p:nvSpPr>
            <p:cNvPr id="12347" name="Line 24"/>
            <p:cNvSpPr>
              <a:spLocks noChangeShapeType="1"/>
            </p:cNvSpPr>
            <p:nvPr/>
          </p:nvSpPr>
          <p:spPr bwMode="auto">
            <a:xfrm flipH="1" flipV="1">
              <a:off x="3132138" y="4597400"/>
              <a:ext cx="3225800" cy="460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37" name="Прямая со стрелкой 36"/>
            <p:cNvCxnSpPr>
              <a:endCxn id="2" idx="2"/>
            </p:cNvCxnSpPr>
            <p:nvPr/>
          </p:nvCxnSpPr>
          <p:spPr>
            <a:xfrm rot="5400000" flipH="1" flipV="1">
              <a:off x="6765132" y="3550444"/>
              <a:ext cx="1339850" cy="15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49" name="Line 24"/>
            <p:cNvSpPr>
              <a:spLocks noChangeShapeType="1"/>
            </p:cNvSpPr>
            <p:nvPr/>
          </p:nvSpPr>
          <p:spPr bwMode="auto">
            <a:xfrm flipH="1" flipV="1">
              <a:off x="3284538" y="4597400"/>
              <a:ext cx="3105150" cy="4603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4" name="Группа 33"/>
          <p:cNvGrpSpPr>
            <a:grpSpLocks/>
          </p:cNvGrpSpPr>
          <p:nvPr/>
        </p:nvGrpSpPr>
        <p:grpSpPr bwMode="auto">
          <a:xfrm>
            <a:off x="3132138" y="1844675"/>
            <a:ext cx="3582987" cy="792163"/>
            <a:chOff x="3132138" y="1844675"/>
            <a:chExt cx="3582987" cy="792163"/>
          </a:xfrm>
        </p:grpSpPr>
        <p:sp>
          <p:nvSpPr>
            <p:cNvPr id="50" name="Ромб 49"/>
            <p:cNvSpPr/>
            <p:nvPr/>
          </p:nvSpPr>
          <p:spPr>
            <a:xfrm>
              <a:off x="3852863" y="1844675"/>
              <a:ext cx="1943100" cy="792163"/>
            </a:xfrm>
            <a:prstGeom prst="diamon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341" name="Text Box 20"/>
            <p:cNvSpPr txBox="1">
              <a:spLocks noChangeArrowheads="1"/>
            </p:cNvSpPr>
            <p:nvPr/>
          </p:nvSpPr>
          <p:spPr bwMode="auto">
            <a:xfrm>
              <a:off x="4140200" y="1979613"/>
              <a:ext cx="1439863" cy="522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400" b="1">
                  <a:solidFill>
                    <a:srgbClr val="7030A0"/>
                  </a:solidFill>
                </a:rPr>
                <a:t>Может поставлять</a:t>
              </a:r>
            </a:p>
          </p:txBody>
        </p:sp>
        <p:cxnSp>
          <p:nvCxnSpPr>
            <p:cNvPr id="54" name="Соединительная линия уступом 53"/>
            <p:cNvCxnSpPr>
              <a:stCxn id="4" idx="3"/>
              <a:endCxn id="50" idx="1"/>
            </p:cNvCxnSpPr>
            <p:nvPr/>
          </p:nvCxnSpPr>
          <p:spPr>
            <a:xfrm>
              <a:off x="3132138" y="2119313"/>
              <a:ext cx="720725" cy="122237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Соединительная линия уступом 56"/>
            <p:cNvCxnSpPr/>
            <p:nvPr/>
          </p:nvCxnSpPr>
          <p:spPr>
            <a:xfrm>
              <a:off x="5795963" y="2255838"/>
              <a:ext cx="919162" cy="37782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58"/>
            <p:cNvCxnSpPr/>
            <p:nvPr/>
          </p:nvCxnSpPr>
          <p:spPr>
            <a:xfrm>
              <a:off x="6357938" y="2630488"/>
              <a:ext cx="26193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Группа 34"/>
          <p:cNvGrpSpPr>
            <a:grpSpLocks/>
          </p:cNvGrpSpPr>
          <p:nvPr/>
        </p:nvGrpSpPr>
        <p:grpSpPr bwMode="auto">
          <a:xfrm>
            <a:off x="3132138" y="2392363"/>
            <a:ext cx="3573462" cy="1612900"/>
            <a:chOff x="3132138" y="2392363"/>
            <a:chExt cx="3573462" cy="1612900"/>
          </a:xfrm>
        </p:grpSpPr>
        <p:sp>
          <p:nvSpPr>
            <p:cNvPr id="51" name="Ромб 50"/>
            <p:cNvSpPr/>
            <p:nvPr/>
          </p:nvSpPr>
          <p:spPr>
            <a:xfrm>
              <a:off x="4071938" y="3213100"/>
              <a:ext cx="1871662" cy="792163"/>
            </a:xfrm>
            <a:prstGeom prst="diamon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71" name="Соединительная линия уступом 70"/>
            <p:cNvCxnSpPr>
              <a:stCxn id="51" idx="3"/>
            </p:cNvCxnSpPr>
            <p:nvPr/>
          </p:nvCxnSpPr>
          <p:spPr>
            <a:xfrm flipV="1">
              <a:off x="5943600" y="2881313"/>
              <a:ext cx="762000" cy="72866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37" name="Text Box 20"/>
            <p:cNvSpPr txBox="1">
              <a:spLocks noChangeArrowheads="1"/>
            </p:cNvSpPr>
            <p:nvPr/>
          </p:nvSpPr>
          <p:spPr bwMode="auto">
            <a:xfrm>
              <a:off x="4286250" y="3317875"/>
              <a:ext cx="1439863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400" b="1">
                  <a:solidFill>
                    <a:srgbClr val="C00000"/>
                  </a:solidFill>
                </a:rPr>
                <a:t>Может поставляться</a:t>
              </a:r>
            </a:p>
          </p:txBody>
        </p:sp>
        <p:cxnSp>
          <p:nvCxnSpPr>
            <p:cNvPr id="76" name="Соединительная линия уступом 75"/>
            <p:cNvCxnSpPr/>
            <p:nvPr/>
          </p:nvCxnSpPr>
          <p:spPr>
            <a:xfrm rot="16200000" flipV="1">
              <a:off x="2990851" y="2533650"/>
              <a:ext cx="1217612" cy="935037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/>
            <p:nvPr/>
          </p:nvCxnSpPr>
          <p:spPr>
            <a:xfrm rot="5400000" flipH="1" flipV="1">
              <a:off x="3012282" y="2656681"/>
              <a:ext cx="241300" cy="15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Группа 6"/>
          <p:cNvGrpSpPr>
            <a:grpSpLocks/>
          </p:cNvGrpSpPr>
          <p:nvPr/>
        </p:nvGrpSpPr>
        <p:grpSpPr bwMode="auto">
          <a:xfrm>
            <a:off x="357188" y="928688"/>
            <a:ext cx="1584325" cy="915987"/>
            <a:chOff x="357188" y="928688"/>
            <a:chExt cx="1584325" cy="915987"/>
          </a:xfrm>
        </p:grpSpPr>
        <p:sp>
          <p:nvSpPr>
            <p:cNvPr id="23" name="Скругленный прямоугольник 22"/>
            <p:cNvSpPr/>
            <p:nvPr/>
          </p:nvSpPr>
          <p:spPr>
            <a:xfrm>
              <a:off x="500063" y="1000125"/>
              <a:ext cx="1428750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2333" name="TextBox 5"/>
            <p:cNvSpPr txBox="1">
              <a:spLocks noChangeArrowheads="1"/>
            </p:cNvSpPr>
            <p:nvPr/>
          </p:nvSpPr>
          <p:spPr bwMode="auto">
            <a:xfrm>
              <a:off x="357188" y="928688"/>
              <a:ext cx="1584325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/>
                <a:t>Индекс_</a:t>
              </a:r>
              <a:br>
                <a:rPr lang="ru-RU"/>
              </a:br>
              <a:r>
                <a:rPr lang="ru-RU"/>
                <a:t>поставщика</a:t>
              </a:r>
            </a:p>
          </p:txBody>
        </p:sp>
        <p:cxnSp>
          <p:nvCxnSpPr>
            <p:cNvPr id="93" name="Прямая соединительная линия 92"/>
            <p:cNvCxnSpPr>
              <a:stCxn id="23" idx="2"/>
            </p:cNvCxnSpPr>
            <p:nvPr/>
          </p:nvCxnSpPr>
          <p:spPr>
            <a:xfrm rot="16200000" flipH="1">
              <a:off x="1334294" y="1559719"/>
              <a:ext cx="165100" cy="40481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Группа 5"/>
          <p:cNvGrpSpPr>
            <a:grpSpLocks/>
          </p:cNvGrpSpPr>
          <p:nvPr/>
        </p:nvGrpSpPr>
        <p:grpSpPr bwMode="auto">
          <a:xfrm>
            <a:off x="2484438" y="908050"/>
            <a:ext cx="1582737" cy="936625"/>
            <a:chOff x="2484438" y="908050"/>
            <a:chExt cx="1582737" cy="936625"/>
          </a:xfrm>
        </p:grpSpPr>
        <p:sp>
          <p:nvSpPr>
            <p:cNvPr id="12329" name="TextBox 6"/>
            <p:cNvSpPr txBox="1">
              <a:spLocks noChangeArrowheads="1"/>
            </p:cNvSpPr>
            <p:nvPr/>
          </p:nvSpPr>
          <p:spPr bwMode="auto">
            <a:xfrm>
              <a:off x="2484438" y="908050"/>
              <a:ext cx="1582737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/>
                <a:t>Адрес_</a:t>
              </a:r>
              <a:br>
                <a:rPr lang="ru-RU"/>
              </a:br>
              <a:r>
                <a:rPr lang="ru-RU"/>
                <a:t>поставщика</a:t>
              </a:r>
            </a:p>
          </p:txBody>
        </p:sp>
        <p:sp>
          <p:nvSpPr>
            <p:cNvPr id="24" name="Скругленный прямоугольник 23"/>
            <p:cNvSpPr/>
            <p:nvPr/>
          </p:nvSpPr>
          <p:spPr>
            <a:xfrm>
              <a:off x="2571750" y="928688"/>
              <a:ext cx="1428750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94" name="Прямая соединительная линия 93"/>
            <p:cNvCxnSpPr/>
            <p:nvPr/>
          </p:nvCxnSpPr>
          <p:spPr>
            <a:xfrm rot="10800000" flipV="1">
              <a:off x="2857500" y="1608138"/>
              <a:ext cx="427038" cy="2365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Группа 9"/>
          <p:cNvGrpSpPr>
            <a:grpSpLocks/>
          </p:cNvGrpSpPr>
          <p:nvPr/>
        </p:nvGrpSpPr>
        <p:grpSpPr bwMode="auto">
          <a:xfrm>
            <a:off x="214313" y="4913313"/>
            <a:ext cx="1285875" cy="1195387"/>
            <a:chOff x="214313" y="4913313"/>
            <a:chExt cx="1285875" cy="1195387"/>
          </a:xfrm>
        </p:grpSpPr>
        <p:sp>
          <p:nvSpPr>
            <p:cNvPr id="12326" name="TextBox 9"/>
            <p:cNvSpPr txBox="1">
              <a:spLocks noChangeArrowheads="1"/>
            </p:cNvSpPr>
            <p:nvPr/>
          </p:nvSpPr>
          <p:spPr bwMode="auto">
            <a:xfrm>
              <a:off x="250825" y="5445125"/>
              <a:ext cx="1152525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/>
                <a:t>Индекс_поставки</a:t>
              </a:r>
            </a:p>
          </p:txBody>
        </p:sp>
        <p:sp>
          <p:nvSpPr>
            <p:cNvPr id="25" name="Скругленный прямоугольник 24"/>
            <p:cNvSpPr/>
            <p:nvPr/>
          </p:nvSpPr>
          <p:spPr>
            <a:xfrm>
              <a:off x="214313" y="5429250"/>
              <a:ext cx="1214437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96" name="Прямая соединительная линия 95"/>
            <p:cNvCxnSpPr/>
            <p:nvPr/>
          </p:nvCxnSpPr>
          <p:spPr>
            <a:xfrm rot="10800000" flipV="1">
              <a:off x="776288" y="4913313"/>
              <a:ext cx="723900" cy="5159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Группа 10"/>
          <p:cNvGrpSpPr>
            <a:grpSpLocks/>
          </p:cNvGrpSpPr>
          <p:nvPr/>
        </p:nvGrpSpPr>
        <p:grpSpPr bwMode="auto">
          <a:xfrm>
            <a:off x="1500188" y="4946650"/>
            <a:ext cx="1214437" cy="1162050"/>
            <a:chOff x="1500188" y="4946650"/>
            <a:chExt cx="1214437" cy="1162050"/>
          </a:xfrm>
        </p:grpSpPr>
        <p:sp>
          <p:nvSpPr>
            <p:cNvPr id="12323" name="Rectangle 10"/>
            <p:cNvSpPr>
              <a:spLocks noChangeArrowheads="1"/>
            </p:cNvSpPr>
            <p:nvPr/>
          </p:nvSpPr>
          <p:spPr bwMode="auto">
            <a:xfrm>
              <a:off x="1619250" y="5445125"/>
              <a:ext cx="969963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ru-RU"/>
                <a:t>Шифр_</a:t>
              </a:r>
              <a:br>
                <a:rPr lang="ru-RU"/>
              </a:br>
              <a:r>
                <a:rPr lang="ru-RU"/>
                <a:t>склада</a:t>
              </a:r>
            </a:p>
          </p:txBody>
        </p:sp>
        <p:sp>
          <p:nvSpPr>
            <p:cNvPr id="26" name="Скругленный прямоугольник 25"/>
            <p:cNvSpPr/>
            <p:nvPr/>
          </p:nvSpPr>
          <p:spPr>
            <a:xfrm>
              <a:off x="1500188" y="5429250"/>
              <a:ext cx="1214437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97" name="Прямая соединительная линия 96"/>
            <p:cNvCxnSpPr>
              <a:endCxn id="26" idx="0"/>
            </p:cNvCxnSpPr>
            <p:nvPr/>
          </p:nvCxnSpPr>
          <p:spPr>
            <a:xfrm rot="16200000" flipH="1">
              <a:off x="1728788" y="5051425"/>
              <a:ext cx="482600" cy="2730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Группа 11"/>
          <p:cNvGrpSpPr>
            <a:grpSpLocks/>
          </p:cNvGrpSpPr>
          <p:nvPr/>
        </p:nvGrpSpPr>
        <p:grpSpPr bwMode="auto">
          <a:xfrm>
            <a:off x="2259013" y="4913313"/>
            <a:ext cx="1881187" cy="1195387"/>
            <a:chOff x="2259013" y="4913313"/>
            <a:chExt cx="1881187" cy="1195387"/>
          </a:xfrm>
        </p:grpSpPr>
        <p:sp>
          <p:nvSpPr>
            <p:cNvPr id="12320" name="TextBox 26"/>
            <p:cNvSpPr txBox="1">
              <a:spLocks noChangeArrowheads="1"/>
            </p:cNvSpPr>
            <p:nvPr/>
          </p:nvSpPr>
          <p:spPr bwMode="auto">
            <a:xfrm>
              <a:off x="2843213" y="5445125"/>
              <a:ext cx="1296987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/>
                <a:t>Дата_</a:t>
              </a:r>
              <a:br>
                <a:rPr lang="ru-RU"/>
              </a:br>
              <a:r>
                <a:rPr lang="ru-RU"/>
                <a:t>поставки</a:t>
              </a:r>
            </a:p>
          </p:txBody>
        </p:sp>
        <p:sp>
          <p:nvSpPr>
            <p:cNvPr id="27" name="Скругленный прямоугольник 26"/>
            <p:cNvSpPr/>
            <p:nvPr/>
          </p:nvSpPr>
          <p:spPr>
            <a:xfrm>
              <a:off x="2857500" y="5429250"/>
              <a:ext cx="1214438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0" name="Прямая соединительная линия 99"/>
            <p:cNvCxnSpPr>
              <a:endCxn id="27" idx="0"/>
            </p:cNvCxnSpPr>
            <p:nvPr/>
          </p:nvCxnSpPr>
          <p:spPr>
            <a:xfrm>
              <a:off x="2259013" y="4913313"/>
              <a:ext cx="1204912" cy="5159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/>
          <p:cNvGrpSpPr>
            <a:grpSpLocks/>
          </p:cNvGrpSpPr>
          <p:nvPr/>
        </p:nvGrpSpPr>
        <p:grpSpPr bwMode="auto">
          <a:xfrm>
            <a:off x="2795588" y="4913313"/>
            <a:ext cx="2633662" cy="1195387"/>
            <a:chOff x="2795588" y="4913313"/>
            <a:chExt cx="2633662" cy="1195387"/>
          </a:xfrm>
        </p:grpSpPr>
        <p:sp>
          <p:nvSpPr>
            <p:cNvPr id="12317" name="TextBox 23"/>
            <p:cNvSpPr txBox="1">
              <a:spLocks noChangeArrowheads="1"/>
            </p:cNvSpPr>
            <p:nvPr/>
          </p:nvSpPr>
          <p:spPr bwMode="auto">
            <a:xfrm>
              <a:off x="4286250" y="5429250"/>
              <a:ext cx="10795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/>
                <a:t>Кол-во_</a:t>
              </a:r>
              <a:br>
                <a:rPr lang="ru-RU"/>
              </a:br>
              <a:r>
                <a:rPr lang="ru-RU"/>
                <a:t>товара</a:t>
              </a:r>
            </a:p>
          </p:txBody>
        </p:sp>
        <p:sp>
          <p:nvSpPr>
            <p:cNvPr id="29" name="Скругленный прямоугольник 28"/>
            <p:cNvSpPr/>
            <p:nvPr/>
          </p:nvSpPr>
          <p:spPr>
            <a:xfrm>
              <a:off x="4214813" y="5429250"/>
              <a:ext cx="1214437" cy="6794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3" name="Прямая соединительная линия 102"/>
            <p:cNvCxnSpPr>
              <a:endCxn id="29" idx="0"/>
            </p:cNvCxnSpPr>
            <p:nvPr/>
          </p:nvCxnSpPr>
          <p:spPr>
            <a:xfrm>
              <a:off x="2795588" y="4913313"/>
              <a:ext cx="2027237" cy="5159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/>
          <p:cNvGrpSpPr>
            <a:grpSpLocks/>
          </p:cNvGrpSpPr>
          <p:nvPr/>
        </p:nvGrpSpPr>
        <p:grpSpPr bwMode="auto">
          <a:xfrm>
            <a:off x="7883525" y="1428750"/>
            <a:ext cx="1054100" cy="928688"/>
            <a:chOff x="7883525" y="1428750"/>
            <a:chExt cx="1054100" cy="928688"/>
          </a:xfrm>
        </p:grpSpPr>
        <p:sp>
          <p:nvSpPr>
            <p:cNvPr id="12314" name="TextBox 24"/>
            <p:cNvSpPr txBox="1">
              <a:spLocks noChangeArrowheads="1"/>
            </p:cNvSpPr>
            <p:nvPr/>
          </p:nvSpPr>
          <p:spPr bwMode="auto">
            <a:xfrm>
              <a:off x="7929563" y="1500188"/>
              <a:ext cx="1008062" cy="517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 b="1"/>
                <a:t>Цена_ед</a:t>
              </a:r>
              <a:br>
                <a:rPr lang="ru-RU" sz="1400" b="1"/>
              </a:br>
              <a:r>
                <a:rPr lang="ru-RU" sz="1400" b="1"/>
                <a:t>_товара</a:t>
              </a:r>
            </a:p>
          </p:txBody>
        </p:sp>
        <p:sp>
          <p:nvSpPr>
            <p:cNvPr id="32" name="Скругленный прямоугольник 31"/>
            <p:cNvSpPr/>
            <p:nvPr/>
          </p:nvSpPr>
          <p:spPr>
            <a:xfrm>
              <a:off x="7929563" y="1428750"/>
              <a:ext cx="928687" cy="64293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5" name="Прямая соединительная линия 104"/>
            <p:cNvCxnSpPr/>
            <p:nvPr/>
          </p:nvCxnSpPr>
          <p:spPr>
            <a:xfrm flipH="1">
              <a:off x="7883525" y="2071688"/>
              <a:ext cx="427038" cy="2857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/>
          <p:cNvGrpSpPr>
            <a:grpSpLocks/>
          </p:cNvGrpSpPr>
          <p:nvPr/>
        </p:nvGrpSpPr>
        <p:grpSpPr bwMode="auto">
          <a:xfrm>
            <a:off x="5786438" y="1428750"/>
            <a:ext cx="1149350" cy="928688"/>
            <a:chOff x="5786438" y="1428750"/>
            <a:chExt cx="1149350" cy="928688"/>
          </a:xfrm>
        </p:grpSpPr>
        <p:sp>
          <p:nvSpPr>
            <p:cNvPr id="12311" name="TextBox 21"/>
            <p:cNvSpPr txBox="1">
              <a:spLocks noChangeArrowheads="1"/>
            </p:cNvSpPr>
            <p:nvPr/>
          </p:nvSpPr>
          <p:spPr bwMode="auto">
            <a:xfrm>
              <a:off x="5795963" y="1484313"/>
              <a:ext cx="936625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 sz="1400" b="1"/>
                <a:t>Индекс_</a:t>
              </a:r>
              <a:br>
                <a:rPr lang="ru-RU" sz="1400" b="1"/>
              </a:br>
              <a:r>
                <a:rPr lang="ru-RU" sz="1400" b="1"/>
                <a:t>товара</a:t>
              </a:r>
            </a:p>
          </p:txBody>
        </p:sp>
        <p:sp>
          <p:nvSpPr>
            <p:cNvPr id="30" name="Скругленный прямоугольник 29"/>
            <p:cNvSpPr/>
            <p:nvPr/>
          </p:nvSpPr>
          <p:spPr>
            <a:xfrm>
              <a:off x="5786438" y="1428750"/>
              <a:ext cx="928687" cy="64293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6" name="Прямая соединительная линия 105"/>
            <p:cNvCxnSpPr/>
            <p:nvPr/>
          </p:nvCxnSpPr>
          <p:spPr>
            <a:xfrm>
              <a:off x="6529388" y="2095500"/>
              <a:ext cx="406400" cy="26193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Группа 18"/>
          <p:cNvGrpSpPr>
            <a:grpSpLocks/>
          </p:cNvGrpSpPr>
          <p:nvPr/>
        </p:nvGrpSpPr>
        <p:grpSpPr bwMode="auto">
          <a:xfrm>
            <a:off x="6804025" y="1428750"/>
            <a:ext cx="1079500" cy="928688"/>
            <a:chOff x="6804025" y="1428750"/>
            <a:chExt cx="1079500" cy="928688"/>
          </a:xfrm>
        </p:grpSpPr>
        <p:sp>
          <p:nvSpPr>
            <p:cNvPr id="12308" name="TextBox 22"/>
            <p:cNvSpPr txBox="1">
              <a:spLocks noChangeArrowheads="1"/>
            </p:cNvSpPr>
            <p:nvPr/>
          </p:nvSpPr>
          <p:spPr bwMode="auto">
            <a:xfrm>
              <a:off x="6804025" y="1484313"/>
              <a:ext cx="1079500" cy="517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 b="1"/>
                <a:t>Название</a:t>
              </a:r>
              <a:br>
                <a:rPr lang="ru-RU" sz="1400" b="1"/>
              </a:br>
              <a:r>
                <a:rPr lang="ru-RU" sz="1400" b="1"/>
                <a:t>_товара</a:t>
              </a:r>
            </a:p>
          </p:txBody>
        </p:sp>
        <p:sp>
          <p:nvSpPr>
            <p:cNvPr id="31" name="Скругленный прямоугольник 30"/>
            <p:cNvSpPr/>
            <p:nvPr/>
          </p:nvSpPr>
          <p:spPr>
            <a:xfrm>
              <a:off x="6858000" y="1428750"/>
              <a:ext cx="928688" cy="64293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08" name="Прямая соединительная линия 107"/>
            <p:cNvCxnSpPr>
              <a:endCxn id="2" idx="0"/>
            </p:cNvCxnSpPr>
            <p:nvPr/>
          </p:nvCxnSpPr>
          <p:spPr>
            <a:xfrm rot="16200000" flipH="1">
              <a:off x="7265988" y="2187575"/>
              <a:ext cx="285750" cy="5397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07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653A369-B959-4245-A1B6-6AA497202BAA}" type="slidenum">
              <a:rPr lang="ru-RU" smtClean="0"/>
              <a:pPr/>
              <a:t>16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  <p:pic>
        <p:nvPicPr>
          <p:cNvPr id="4098" name="Picture 2" descr="D:\YandexDisk\Скриншоты\2019-09-12_10-05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388" y="457200"/>
            <a:ext cx="8642140" cy="57505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pic>
        <p:nvPicPr>
          <p:cNvPr id="5122" name="Picture 2" descr="D:\YandexDisk\Скриншоты\2019-09-12_10-07-0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872" y="457200"/>
            <a:ext cx="8422928" cy="58643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165B5E-B430-4789-96DC-0D7B7CB4F956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pic>
        <p:nvPicPr>
          <p:cNvPr id="6146" name="Picture 2" descr="D:\YandexDisk\Скриншоты\2019-09-12_10-33-4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882" y="577364"/>
            <a:ext cx="8757798" cy="50275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50913"/>
          </a:xfrm>
        </p:spPr>
        <p:txBody>
          <a:bodyPr/>
          <a:lstStyle/>
          <a:p>
            <a:r>
              <a:rPr lang="ru-RU" smtClean="0"/>
              <a:t>Этапы разработки </a:t>
            </a:r>
            <a:r>
              <a:rPr lang="en-US" smtClean="0"/>
              <a:t>ER</a:t>
            </a:r>
            <a:r>
              <a:rPr lang="ru-RU" smtClean="0"/>
              <a:t> модели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752975"/>
          </a:xfrm>
        </p:spPr>
        <p:txBody>
          <a:bodyPr/>
          <a:lstStyle/>
          <a:p>
            <a:r>
              <a:rPr lang="ru-RU" sz="2800" dirty="0" smtClean="0"/>
              <a:t>Разработка локальных представлений (частей информационной системы)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Формулирование сущностей (имена, содержание)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Выбор идентифицирующего атрибута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Спецификация связей (имена, типы)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Добавление описательных атрибутов</a:t>
            </a:r>
          </a:p>
          <a:p>
            <a:r>
              <a:rPr lang="ru-RU" sz="2800" dirty="0" smtClean="0"/>
              <a:t>Объединение представлений пользователей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Идентичность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Агрегация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Обобщение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20</a:t>
            </a:fld>
            <a:endParaRPr lang="ru-RU" smtClean="0"/>
          </a:p>
        </p:txBody>
      </p:sp>
    </p:spTree>
    <p:extLst>
      <p:ext uri="{BB962C8B-B14F-4D97-AF65-F5344CB8AC3E}">
        <p14:creationId xmlns="" xmlns:p14="http://schemas.microsoft.com/office/powerpoint/2010/main" val="248332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76288"/>
          </a:xfrm>
        </p:spPr>
        <p:txBody>
          <a:bodyPr/>
          <a:lstStyle/>
          <a:p>
            <a:pPr algn="ctr"/>
            <a:r>
              <a:rPr lang="ru-RU" sz="3600" smtClean="0">
                <a:solidFill>
                  <a:schemeClr val="bg2"/>
                </a:solidFill>
              </a:rPr>
              <a:t>Схема процесса объединения ЛП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79388" y="5229225"/>
            <a:ext cx="2016125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Модель локального представления </a:t>
            </a:r>
            <a:r>
              <a:rPr lang="ru-RU" sz="1400" b="1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2484438" y="5229225"/>
            <a:ext cx="19431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Модель локального представления </a:t>
            </a:r>
            <a:r>
              <a:rPr lang="ru-RU" sz="1400" b="1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4859338" y="5229225"/>
            <a:ext cx="19431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Модель локального представления </a:t>
            </a:r>
            <a:r>
              <a:rPr lang="en-US" sz="1400" b="1">
                <a:solidFill>
                  <a:schemeClr val="bg2"/>
                </a:solidFill>
              </a:rPr>
              <a:t>n-1</a:t>
            </a:r>
            <a:endParaRPr lang="ru-RU" sz="1400" b="1">
              <a:solidFill>
                <a:schemeClr val="bg2"/>
              </a:solidFill>
            </a:endParaRP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1331913" y="3500438"/>
            <a:ext cx="2016125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Модель локального представления </a:t>
            </a:r>
            <a:r>
              <a:rPr lang="ru-RU" sz="1400" b="1">
                <a:solidFill>
                  <a:schemeClr val="bg2"/>
                </a:solidFill>
              </a:rPr>
              <a:t>1 и 2</a:t>
            </a:r>
          </a:p>
        </p:txBody>
      </p:sp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5724525" y="3500438"/>
            <a:ext cx="2519363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Модель локального представления </a:t>
            </a:r>
            <a:r>
              <a:rPr lang="en-US" sz="1400" b="1">
                <a:solidFill>
                  <a:schemeClr val="bg2"/>
                </a:solidFill>
              </a:rPr>
              <a:t>n-</a:t>
            </a:r>
            <a:r>
              <a:rPr lang="ru-RU" sz="1400" b="1">
                <a:solidFill>
                  <a:schemeClr val="bg2"/>
                </a:solidFill>
              </a:rPr>
              <a:t>1</a:t>
            </a:r>
            <a:r>
              <a:rPr lang="en-US" sz="1400" b="1">
                <a:solidFill>
                  <a:schemeClr val="bg2"/>
                </a:solidFill>
              </a:rPr>
              <a:t> </a:t>
            </a:r>
            <a:r>
              <a:rPr lang="ru-RU" sz="1400" b="1">
                <a:solidFill>
                  <a:schemeClr val="bg2"/>
                </a:solidFill>
              </a:rPr>
              <a:t>и </a:t>
            </a:r>
            <a:r>
              <a:rPr lang="en-US" sz="1400" b="1">
                <a:solidFill>
                  <a:schemeClr val="bg2"/>
                </a:solidFill>
              </a:rPr>
              <a:t>n</a:t>
            </a:r>
            <a:endParaRPr lang="ru-RU" sz="1400" b="1">
              <a:solidFill>
                <a:schemeClr val="bg2"/>
              </a:solidFill>
            </a:endParaRPr>
          </a:p>
        </p:txBody>
      </p:sp>
      <p:sp>
        <p:nvSpPr>
          <p:cNvPr id="13320" name="Text Box 9"/>
          <p:cNvSpPr txBox="1">
            <a:spLocks noChangeArrowheads="1"/>
          </p:cNvSpPr>
          <p:nvPr/>
        </p:nvSpPr>
        <p:spPr bwMode="auto">
          <a:xfrm>
            <a:off x="2843213" y="1268413"/>
            <a:ext cx="3744912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Модель результирующего (</a:t>
            </a:r>
            <a:r>
              <a:rPr lang="ru-RU">
                <a:solidFill>
                  <a:schemeClr val="bg2"/>
                </a:solidFill>
              </a:rPr>
              <a:t>объединенного</a:t>
            </a:r>
            <a:r>
              <a:rPr lang="ru-RU"/>
              <a:t>) представления</a:t>
            </a:r>
            <a:r>
              <a:rPr lang="ru-RU" sz="1400"/>
              <a:t> </a:t>
            </a:r>
          </a:p>
        </p:txBody>
      </p:sp>
      <p:sp>
        <p:nvSpPr>
          <p:cNvPr id="13321" name="Text Box 10"/>
          <p:cNvSpPr txBox="1">
            <a:spLocks noChangeArrowheads="1"/>
          </p:cNvSpPr>
          <p:nvPr/>
        </p:nvSpPr>
        <p:spPr bwMode="auto">
          <a:xfrm>
            <a:off x="4356100" y="5300663"/>
            <a:ext cx="360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/>
              <a:t>…</a:t>
            </a:r>
          </a:p>
        </p:txBody>
      </p:sp>
      <p:sp>
        <p:nvSpPr>
          <p:cNvPr id="13322" name="Text Box 11"/>
          <p:cNvSpPr txBox="1">
            <a:spLocks noChangeArrowheads="1"/>
          </p:cNvSpPr>
          <p:nvPr/>
        </p:nvSpPr>
        <p:spPr bwMode="auto">
          <a:xfrm>
            <a:off x="7019925" y="5229225"/>
            <a:ext cx="19431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Модель локального представления </a:t>
            </a:r>
            <a:r>
              <a:rPr lang="en-US" sz="1400" b="1">
                <a:solidFill>
                  <a:schemeClr val="bg2"/>
                </a:solidFill>
              </a:rPr>
              <a:t>n</a:t>
            </a:r>
            <a:endParaRPr lang="ru-RU" sz="1400" b="1">
              <a:solidFill>
                <a:schemeClr val="bg2"/>
              </a:solidFill>
            </a:endParaRPr>
          </a:p>
        </p:txBody>
      </p:sp>
      <p:sp>
        <p:nvSpPr>
          <p:cNvPr id="13323" name="Line 12"/>
          <p:cNvSpPr>
            <a:spLocks noChangeShapeType="1"/>
          </p:cNvSpPr>
          <p:nvPr/>
        </p:nvSpPr>
        <p:spPr bwMode="auto">
          <a:xfrm flipV="1">
            <a:off x="1331913" y="4076700"/>
            <a:ext cx="647700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24" name="Line 13"/>
          <p:cNvSpPr>
            <a:spLocks noChangeShapeType="1"/>
          </p:cNvSpPr>
          <p:nvPr/>
        </p:nvSpPr>
        <p:spPr bwMode="auto">
          <a:xfrm flipH="1" flipV="1">
            <a:off x="2555875" y="4076700"/>
            <a:ext cx="792163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25" name="Line 14"/>
          <p:cNvSpPr>
            <a:spLocks noChangeShapeType="1"/>
          </p:cNvSpPr>
          <p:nvPr/>
        </p:nvSpPr>
        <p:spPr bwMode="auto">
          <a:xfrm flipV="1">
            <a:off x="5940425" y="4076700"/>
            <a:ext cx="647700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26" name="Line 15"/>
          <p:cNvSpPr>
            <a:spLocks noChangeShapeType="1"/>
          </p:cNvSpPr>
          <p:nvPr/>
        </p:nvSpPr>
        <p:spPr bwMode="auto">
          <a:xfrm flipH="1" flipV="1">
            <a:off x="7308850" y="4076700"/>
            <a:ext cx="792163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27" name="Line 16"/>
          <p:cNvSpPr>
            <a:spLocks noChangeShapeType="1"/>
          </p:cNvSpPr>
          <p:nvPr/>
        </p:nvSpPr>
        <p:spPr bwMode="auto">
          <a:xfrm flipV="1">
            <a:off x="2339975" y="1989138"/>
            <a:ext cx="1871663" cy="151130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28" name="Line 17"/>
          <p:cNvSpPr>
            <a:spLocks noChangeShapeType="1"/>
          </p:cNvSpPr>
          <p:nvPr/>
        </p:nvSpPr>
        <p:spPr bwMode="auto">
          <a:xfrm flipH="1" flipV="1">
            <a:off x="5076825" y="1989138"/>
            <a:ext cx="1943100" cy="1439862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353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2BA3273-5412-4E16-B308-B0985CFFF4EF}" type="slidenum">
              <a:rPr lang="ru-RU" smtClean="0"/>
              <a:pPr/>
              <a:t>21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3316" grpId="0" animBg="1"/>
      <p:bldP spid="13317" grpId="0" animBg="1"/>
      <p:bldP spid="13318" grpId="0" animBg="1"/>
      <p:bldP spid="13319" grpId="0" animBg="1"/>
      <p:bldP spid="13320" grpId="0" animBg="1"/>
      <p:bldP spid="13321" grpId="0"/>
      <p:bldP spid="13322" grpId="0" animBg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50850"/>
          </a:xfrm>
        </p:spPr>
        <p:txBody>
          <a:bodyPr/>
          <a:lstStyle/>
          <a:p>
            <a:pPr algn="ctr"/>
            <a:r>
              <a:rPr lang="ru-RU" sz="4000" smtClean="0">
                <a:solidFill>
                  <a:schemeClr val="bg2"/>
                </a:solidFill>
              </a:rPr>
              <a:t>Идентичность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040312"/>
          </a:xfrm>
        </p:spPr>
        <p:txBody>
          <a:bodyPr/>
          <a:lstStyle/>
          <a:p>
            <a:r>
              <a:rPr lang="ru-RU" smtClean="0"/>
              <a:t>Два или более элементов являются идентичными, если они имеют </a:t>
            </a:r>
            <a:r>
              <a:rPr lang="ru-RU" b="1" smtClean="0"/>
              <a:t>одинаковое семантическое значение</a:t>
            </a:r>
          </a:p>
          <a:p>
            <a:r>
              <a:rPr lang="ru-RU" smtClean="0"/>
              <a:t> В силу абстрагирования при выявлении сущностей идентичность элементов </a:t>
            </a:r>
            <a:r>
              <a:rPr lang="ru-RU" b="1" smtClean="0"/>
              <a:t>устанавливается экспертом</a:t>
            </a:r>
          </a:p>
          <a:p>
            <a:r>
              <a:rPr lang="ru-RU" smtClean="0"/>
              <a:t>Идентичность и подобие </a:t>
            </a:r>
          </a:p>
          <a:p>
            <a:r>
              <a:rPr lang="ru-RU" smtClean="0"/>
              <a:t>Персона, Служащий, Сотрудник, Работник, Персонал</a:t>
            </a:r>
          </a:p>
        </p:txBody>
      </p:sp>
      <p:sp>
        <p:nvSpPr>
          <p:cNvPr id="15364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DA15996-88D0-4D67-B7B8-8396995CA3E2}" type="slidenum">
              <a:rPr lang="ru-RU" smtClean="0"/>
              <a:pPr/>
              <a:t>22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1652519" y="908050"/>
            <a:ext cx="1223963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гарнитур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6300788" y="981075"/>
            <a:ext cx="1223962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гарнитур</a:t>
            </a:r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971550" y="404813"/>
            <a:ext cx="86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u="sng"/>
              <a:t>индекс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2555875" y="404813"/>
            <a:ext cx="719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/>
              <a:t>цена</a:t>
            </a:r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503238" y="2622550"/>
            <a:ext cx="647700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dirty="0"/>
              <a:t>стул</a:t>
            </a:r>
          </a:p>
        </p:txBody>
      </p:sp>
      <p:sp>
        <p:nvSpPr>
          <p:cNvPr id="18442" name="Text Box 13"/>
          <p:cNvSpPr txBox="1">
            <a:spLocks noChangeArrowheads="1"/>
          </p:cNvSpPr>
          <p:nvPr/>
        </p:nvSpPr>
        <p:spPr bwMode="auto">
          <a:xfrm>
            <a:off x="1936750" y="2622550"/>
            <a:ext cx="647700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/>
              <a:t>стол</a:t>
            </a:r>
          </a:p>
        </p:txBody>
      </p:sp>
      <p:sp>
        <p:nvSpPr>
          <p:cNvPr id="18443" name="Text Box 14"/>
          <p:cNvSpPr txBox="1">
            <a:spLocks noChangeArrowheads="1"/>
          </p:cNvSpPr>
          <p:nvPr/>
        </p:nvSpPr>
        <p:spPr bwMode="auto">
          <a:xfrm>
            <a:off x="3348038" y="2636838"/>
            <a:ext cx="720725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/>
              <a:t>шкаф</a:t>
            </a:r>
          </a:p>
        </p:txBody>
      </p:sp>
      <p:sp>
        <p:nvSpPr>
          <p:cNvPr id="18450" name="Text Box 21"/>
          <p:cNvSpPr txBox="1">
            <a:spLocks noChangeArrowheads="1"/>
          </p:cNvSpPr>
          <p:nvPr/>
        </p:nvSpPr>
        <p:spPr bwMode="auto">
          <a:xfrm>
            <a:off x="4572000" y="404813"/>
            <a:ext cx="10080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u="sng"/>
              <a:t>название</a:t>
            </a:r>
          </a:p>
        </p:txBody>
      </p:sp>
      <p:sp>
        <p:nvSpPr>
          <p:cNvPr id="18451" name="Text Box 22"/>
          <p:cNvSpPr txBox="1">
            <a:spLocks noChangeArrowheads="1"/>
          </p:cNvSpPr>
          <p:nvPr/>
        </p:nvSpPr>
        <p:spPr bwMode="auto">
          <a:xfrm>
            <a:off x="5867400" y="260350"/>
            <a:ext cx="14398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дата изготовления</a:t>
            </a:r>
          </a:p>
        </p:txBody>
      </p:sp>
      <p:sp>
        <p:nvSpPr>
          <p:cNvPr id="18452" name="Text Box 23"/>
          <p:cNvSpPr txBox="1">
            <a:spLocks noChangeArrowheads="1"/>
          </p:cNvSpPr>
          <p:nvPr/>
        </p:nvSpPr>
        <p:spPr bwMode="auto">
          <a:xfrm>
            <a:off x="7524750" y="260350"/>
            <a:ext cx="14398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гарантийный срок</a:t>
            </a:r>
          </a:p>
        </p:txBody>
      </p:sp>
      <p:sp>
        <p:nvSpPr>
          <p:cNvPr id="18459" name="AutoShape 31"/>
          <p:cNvSpPr>
            <a:spLocks noChangeArrowheads="1"/>
          </p:cNvSpPr>
          <p:nvPr/>
        </p:nvSpPr>
        <p:spPr bwMode="auto">
          <a:xfrm>
            <a:off x="1042988" y="404813"/>
            <a:ext cx="649287" cy="3603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0" name="AutoShape 32"/>
          <p:cNvSpPr>
            <a:spLocks noChangeArrowheads="1"/>
          </p:cNvSpPr>
          <p:nvPr/>
        </p:nvSpPr>
        <p:spPr bwMode="auto">
          <a:xfrm>
            <a:off x="2555875" y="404813"/>
            <a:ext cx="649288" cy="3603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1" name="AutoShape 33"/>
          <p:cNvSpPr>
            <a:spLocks noChangeArrowheads="1"/>
          </p:cNvSpPr>
          <p:nvPr/>
        </p:nvSpPr>
        <p:spPr bwMode="auto">
          <a:xfrm>
            <a:off x="4643438" y="333375"/>
            <a:ext cx="936625" cy="431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2" name="AutoShape 34"/>
          <p:cNvSpPr>
            <a:spLocks noChangeArrowheads="1"/>
          </p:cNvSpPr>
          <p:nvPr/>
        </p:nvSpPr>
        <p:spPr bwMode="auto">
          <a:xfrm>
            <a:off x="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3" name="AutoShape 35"/>
          <p:cNvSpPr>
            <a:spLocks noChangeArrowheads="1"/>
          </p:cNvSpPr>
          <p:nvPr/>
        </p:nvSpPr>
        <p:spPr bwMode="auto">
          <a:xfrm>
            <a:off x="7667625" y="333375"/>
            <a:ext cx="1152525" cy="431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4" name="AutoShape 36"/>
          <p:cNvSpPr>
            <a:spLocks noChangeArrowheads="1"/>
          </p:cNvSpPr>
          <p:nvPr/>
        </p:nvSpPr>
        <p:spPr bwMode="auto">
          <a:xfrm>
            <a:off x="5940425" y="333375"/>
            <a:ext cx="1368425" cy="431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5" name="AutoShape 37"/>
          <p:cNvSpPr>
            <a:spLocks noChangeArrowheads="1"/>
          </p:cNvSpPr>
          <p:nvPr/>
        </p:nvSpPr>
        <p:spPr bwMode="auto">
          <a:xfrm>
            <a:off x="75565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6" name="AutoShape 38"/>
          <p:cNvSpPr>
            <a:spLocks noChangeArrowheads="1"/>
          </p:cNvSpPr>
          <p:nvPr/>
        </p:nvSpPr>
        <p:spPr bwMode="auto">
          <a:xfrm>
            <a:off x="161925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7" name="AutoShape 39"/>
          <p:cNvSpPr>
            <a:spLocks noChangeArrowheads="1"/>
          </p:cNvSpPr>
          <p:nvPr/>
        </p:nvSpPr>
        <p:spPr bwMode="auto">
          <a:xfrm>
            <a:off x="2339975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8" name="AutoShape 40"/>
          <p:cNvSpPr>
            <a:spLocks noChangeArrowheads="1"/>
          </p:cNvSpPr>
          <p:nvPr/>
        </p:nvSpPr>
        <p:spPr bwMode="auto">
          <a:xfrm>
            <a:off x="3132138" y="3213100"/>
            <a:ext cx="649287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9" name="AutoShape 41"/>
          <p:cNvSpPr>
            <a:spLocks noChangeArrowheads="1"/>
          </p:cNvSpPr>
          <p:nvPr/>
        </p:nvSpPr>
        <p:spPr bwMode="auto">
          <a:xfrm>
            <a:off x="392430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76" name="Text Box 49"/>
          <p:cNvSpPr txBox="1">
            <a:spLocks noChangeArrowheads="1"/>
          </p:cNvSpPr>
          <p:nvPr/>
        </p:nvSpPr>
        <p:spPr bwMode="auto">
          <a:xfrm>
            <a:off x="971550" y="3573463"/>
            <a:ext cx="3024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 i="1">
                <a:solidFill>
                  <a:srgbClr val="996600"/>
                </a:solidFill>
              </a:rPr>
              <a:t>Представление 1</a:t>
            </a:r>
          </a:p>
        </p:txBody>
      </p:sp>
      <p:sp>
        <p:nvSpPr>
          <p:cNvPr id="18483" name="Text Box 61"/>
          <p:cNvSpPr txBox="1">
            <a:spLocks noChangeArrowheads="1"/>
          </p:cNvSpPr>
          <p:nvPr/>
        </p:nvSpPr>
        <p:spPr bwMode="auto">
          <a:xfrm>
            <a:off x="5580063" y="3573463"/>
            <a:ext cx="30241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 i="1">
                <a:solidFill>
                  <a:srgbClr val="996600"/>
                </a:solidFill>
              </a:rPr>
              <a:t>Представление 2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1619250" y="765175"/>
            <a:ext cx="215900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H="1">
            <a:off x="2627313" y="777875"/>
            <a:ext cx="217487" cy="130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>
            <a:stCxn id="18461" idx="2"/>
          </p:cNvCxnSpPr>
          <p:nvPr/>
        </p:nvCxnSpPr>
        <p:spPr>
          <a:xfrm>
            <a:off x="5111750" y="765175"/>
            <a:ext cx="1296988" cy="2159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>
            <a:stCxn id="18451" idx="2"/>
          </p:cNvCxnSpPr>
          <p:nvPr/>
        </p:nvCxnSpPr>
        <p:spPr>
          <a:xfrm>
            <a:off x="6588125" y="777875"/>
            <a:ext cx="166688" cy="17303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18452" idx="2"/>
          </p:cNvCxnSpPr>
          <p:nvPr/>
        </p:nvCxnSpPr>
        <p:spPr>
          <a:xfrm flipH="1">
            <a:off x="7164388" y="777875"/>
            <a:ext cx="1081087" cy="1920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/>
          <p:cNvGrpSpPr>
            <a:grpSpLocks/>
          </p:cNvGrpSpPr>
          <p:nvPr/>
        </p:nvGrpSpPr>
        <p:grpSpPr bwMode="auto">
          <a:xfrm>
            <a:off x="179388" y="1303338"/>
            <a:ext cx="1512887" cy="1319212"/>
            <a:chOff x="179388" y="1303338"/>
            <a:chExt cx="1512887" cy="1319212"/>
          </a:xfrm>
        </p:grpSpPr>
        <p:sp>
          <p:nvSpPr>
            <p:cNvPr id="19626" name="Text Box 8"/>
            <p:cNvSpPr txBox="1">
              <a:spLocks noChangeArrowheads="1"/>
            </p:cNvSpPr>
            <p:nvPr/>
          </p:nvSpPr>
          <p:spPr bwMode="auto">
            <a:xfrm>
              <a:off x="468313" y="1628775"/>
              <a:ext cx="792162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dirty="0"/>
                <a:t>Имеет в составе стулья</a:t>
              </a:r>
            </a:p>
          </p:txBody>
        </p:sp>
        <p:sp>
          <p:nvSpPr>
            <p:cNvPr id="19627" name="AutoShape 24"/>
            <p:cNvSpPr>
              <a:spLocks noChangeArrowheads="1"/>
            </p:cNvSpPr>
            <p:nvPr/>
          </p:nvSpPr>
          <p:spPr bwMode="auto">
            <a:xfrm>
              <a:off x="179388" y="1484313"/>
              <a:ext cx="1296987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 flipH="1">
              <a:off x="801688" y="1303338"/>
              <a:ext cx="890587" cy="188912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Прямая со стрелкой 89"/>
            <p:cNvCxnSpPr>
              <a:stCxn id="19627" idx="2"/>
              <a:endCxn id="18441" idx="0"/>
            </p:cNvCxnSpPr>
            <p:nvPr/>
          </p:nvCxnSpPr>
          <p:spPr>
            <a:xfrm flipH="1">
              <a:off x="827088" y="2347913"/>
              <a:ext cx="1587" cy="274637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Группа 3"/>
          <p:cNvGrpSpPr>
            <a:grpSpLocks/>
          </p:cNvGrpSpPr>
          <p:nvPr/>
        </p:nvGrpSpPr>
        <p:grpSpPr bwMode="auto">
          <a:xfrm>
            <a:off x="1619250" y="1303337"/>
            <a:ext cx="1296988" cy="1308101"/>
            <a:chOff x="1619250" y="1303337"/>
            <a:chExt cx="1296988" cy="1308101"/>
          </a:xfrm>
        </p:grpSpPr>
        <p:sp>
          <p:nvSpPr>
            <p:cNvPr id="19622" name="Text Box 9"/>
            <p:cNvSpPr txBox="1">
              <a:spLocks noChangeArrowheads="1"/>
            </p:cNvSpPr>
            <p:nvPr/>
          </p:nvSpPr>
          <p:spPr bwMode="auto">
            <a:xfrm>
              <a:off x="1908175" y="1628775"/>
              <a:ext cx="792163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/>
                <a:t>Имеет в составе столы</a:t>
              </a:r>
            </a:p>
          </p:txBody>
        </p:sp>
        <p:sp>
          <p:nvSpPr>
            <p:cNvPr id="19623" name="AutoShape 25"/>
            <p:cNvSpPr>
              <a:spLocks noChangeArrowheads="1"/>
            </p:cNvSpPr>
            <p:nvPr/>
          </p:nvSpPr>
          <p:spPr bwMode="auto">
            <a:xfrm>
              <a:off x="1619250" y="1484313"/>
              <a:ext cx="1296988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83" name="Прямая со стрелкой 82"/>
            <p:cNvCxnSpPr>
              <a:stCxn id="18434" idx="2"/>
              <a:endCxn id="19623" idx="0"/>
            </p:cNvCxnSpPr>
            <p:nvPr/>
          </p:nvCxnSpPr>
          <p:spPr>
            <a:xfrm rot="16200000" flipH="1">
              <a:off x="2175635" y="1392203"/>
              <a:ext cx="180975" cy="3243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Прямая со стрелкой 93"/>
            <p:cNvCxnSpPr/>
            <p:nvPr/>
          </p:nvCxnSpPr>
          <p:spPr>
            <a:xfrm flipH="1">
              <a:off x="2260600" y="2336800"/>
              <a:ext cx="0" cy="27463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Группа 5"/>
          <p:cNvGrpSpPr>
            <a:grpSpLocks/>
          </p:cNvGrpSpPr>
          <p:nvPr/>
        </p:nvGrpSpPr>
        <p:grpSpPr bwMode="auto">
          <a:xfrm>
            <a:off x="2844801" y="1303338"/>
            <a:ext cx="1439862" cy="1319212"/>
            <a:chOff x="2843965" y="1303338"/>
            <a:chExt cx="1440697" cy="1319212"/>
          </a:xfrm>
        </p:grpSpPr>
        <p:sp>
          <p:nvSpPr>
            <p:cNvPr id="19618" name="Text Box 10"/>
            <p:cNvSpPr txBox="1">
              <a:spLocks noChangeArrowheads="1"/>
            </p:cNvSpPr>
            <p:nvPr/>
          </p:nvSpPr>
          <p:spPr bwMode="auto">
            <a:xfrm>
              <a:off x="3276600" y="1615523"/>
              <a:ext cx="792163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dirty="0"/>
                <a:t>Имеет в составе шкафы</a:t>
              </a:r>
            </a:p>
          </p:txBody>
        </p:sp>
        <p:sp>
          <p:nvSpPr>
            <p:cNvPr id="19619" name="AutoShape 26"/>
            <p:cNvSpPr>
              <a:spLocks noChangeArrowheads="1"/>
            </p:cNvSpPr>
            <p:nvPr/>
          </p:nvSpPr>
          <p:spPr bwMode="auto">
            <a:xfrm>
              <a:off x="2987674" y="1457809"/>
              <a:ext cx="1296988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81" name="Прямая со стрелкой 80"/>
            <p:cNvCxnSpPr/>
            <p:nvPr/>
          </p:nvCxnSpPr>
          <p:spPr>
            <a:xfrm>
              <a:off x="2843965" y="1303338"/>
              <a:ext cx="792623" cy="154471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94"/>
            <p:cNvCxnSpPr/>
            <p:nvPr/>
          </p:nvCxnSpPr>
          <p:spPr>
            <a:xfrm flipH="1">
              <a:off x="3663106" y="2347913"/>
              <a:ext cx="0" cy="274637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Группа 6"/>
          <p:cNvGrpSpPr>
            <a:grpSpLocks/>
          </p:cNvGrpSpPr>
          <p:nvPr/>
        </p:nvGrpSpPr>
        <p:grpSpPr bwMode="auto">
          <a:xfrm>
            <a:off x="4789488" y="1389063"/>
            <a:ext cx="1538287" cy="1306512"/>
            <a:chOff x="4789488" y="1389063"/>
            <a:chExt cx="1538287" cy="1306512"/>
          </a:xfrm>
        </p:grpSpPr>
        <p:sp>
          <p:nvSpPr>
            <p:cNvPr id="19614" name="Text Box 15"/>
            <p:cNvSpPr txBox="1">
              <a:spLocks noChangeArrowheads="1"/>
            </p:cNvSpPr>
            <p:nvPr/>
          </p:nvSpPr>
          <p:spPr bwMode="auto">
            <a:xfrm>
              <a:off x="4979988" y="1670050"/>
              <a:ext cx="792162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стулья</a:t>
              </a:r>
            </a:p>
          </p:txBody>
        </p:sp>
        <p:sp>
          <p:nvSpPr>
            <p:cNvPr id="19615" name="AutoShape 27"/>
            <p:cNvSpPr>
              <a:spLocks noChangeArrowheads="1"/>
            </p:cNvSpPr>
            <p:nvPr/>
          </p:nvSpPr>
          <p:spPr bwMode="auto">
            <a:xfrm>
              <a:off x="4789488" y="1557338"/>
              <a:ext cx="1295400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96" name="Прямая со стрелкой 95"/>
            <p:cNvCxnSpPr/>
            <p:nvPr/>
          </p:nvCxnSpPr>
          <p:spPr>
            <a:xfrm flipH="1">
              <a:off x="5437188" y="2420938"/>
              <a:ext cx="0" cy="274637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 стрелкой 98"/>
            <p:cNvCxnSpPr/>
            <p:nvPr/>
          </p:nvCxnSpPr>
          <p:spPr>
            <a:xfrm flipH="1">
              <a:off x="5437188" y="1389063"/>
              <a:ext cx="890587" cy="190500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Группа 8"/>
          <p:cNvGrpSpPr>
            <a:grpSpLocks/>
          </p:cNvGrpSpPr>
          <p:nvPr/>
        </p:nvGrpSpPr>
        <p:grpSpPr bwMode="auto">
          <a:xfrm>
            <a:off x="6264275" y="1376362"/>
            <a:ext cx="1296988" cy="1301751"/>
            <a:chOff x="6264275" y="1376362"/>
            <a:chExt cx="1296988" cy="1301751"/>
          </a:xfrm>
        </p:grpSpPr>
        <p:sp>
          <p:nvSpPr>
            <p:cNvPr id="19610" name="Text Box 16"/>
            <p:cNvSpPr txBox="1">
              <a:spLocks noChangeArrowheads="1"/>
            </p:cNvSpPr>
            <p:nvPr/>
          </p:nvSpPr>
          <p:spPr bwMode="auto">
            <a:xfrm>
              <a:off x="6489700" y="1674813"/>
              <a:ext cx="792163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столы</a:t>
              </a:r>
            </a:p>
          </p:txBody>
        </p:sp>
        <p:sp>
          <p:nvSpPr>
            <p:cNvPr id="19611" name="AutoShape 28"/>
            <p:cNvSpPr>
              <a:spLocks noChangeArrowheads="1"/>
            </p:cNvSpPr>
            <p:nvPr/>
          </p:nvSpPr>
          <p:spPr bwMode="auto">
            <a:xfrm>
              <a:off x="6264275" y="1557338"/>
              <a:ext cx="1296988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97" name="Прямая со стрелкой 96"/>
            <p:cNvCxnSpPr/>
            <p:nvPr/>
          </p:nvCxnSpPr>
          <p:spPr>
            <a:xfrm flipH="1">
              <a:off x="6913563" y="2403475"/>
              <a:ext cx="0" cy="27463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/>
            <p:cNvCxnSpPr>
              <a:stCxn id="18435" idx="2"/>
            </p:cNvCxnSpPr>
            <p:nvPr/>
          </p:nvCxnSpPr>
          <p:spPr>
            <a:xfrm rot="16200000" flipH="1">
              <a:off x="6826406" y="1462726"/>
              <a:ext cx="180975" cy="824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/>
          <p:cNvGrpSpPr>
            <a:grpSpLocks/>
          </p:cNvGrpSpPr>
          <p:nvPr/>
        </p:nvGrpSpPr>
        <p:grpSpPr bwMode="auto">
          <a:xfrm>
            <a:off x="7543800" y="1376363"/>
            <a:ext cx="1420813" cy="1279525"/>
            <a:chOff x="7543800" y="1376363"/>
            <a:chExt cx="1420813" cy="1279525"/>
          </a:xfrm>
        </p:grpSpPr>
        <p:sp>
          <p:nvSpPr>
            <p:cNvPr id="19606" name="Text Box 17"/>
            <p:cNvSpPr txBox="1">
              <a:spLocks noChangeArrowheads="1"/>
            </p:cNvSpPr>
            <p:nvPr/>
          </p:nvSpPr>
          <p:spPr bwMode="auto">
            <a:xfrm>
              <a:off x="7885113" y="1700213"/>
              <a:ext cx="792162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полки</a:t>
              </a:r>
            </a:p>
          </p:txBody>
        </p:sp>
        <p:sp>
          <p:nvSpPr>
            <p:cNvPr id="19607" name="AutoShape 29"/>
            <p:cNvSpPr>
              <a:spLocks noChangeArrowheads="1"/>
            </p:cNvSpPr>
            <p:nvPr/>
          </p:nvSpPr>
          <p:spPr bwMode="auto">
            <a:xfrm>
              <a:off x="7667625" y="1557338"/>
              <a:ext cx="1296988" cy="846137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98" name="Прямая со стрелкой 97"/>
            <p:cNvCxnSpPr/>
            <p:nvPr/>
          </p:nvCxnSpPr>
          <p:spPr>
            <a:xfrm flipH="1">
              <a:off x="8312150" y="2381250"/>
              <a:ext cx="0" cy="27463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/>
            <p:cNvCxnSpPr>
              <a:endCxn id="19607" idx="0"/>
            </p:cNvCxnSpPr>
            <p:nvPr/>
          </p:nvCxnSpPr>
          <p:spPr>
            <a:xfrm>
              <a:off x="7543800" y="1376363"/>
              <a:ext cx="771525" cy="180975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15" name="Text Box 6"/>
          <p:cNvSpPr txBox="1">
            <a:spLocks noChangeArrowheads="1"/>
          </p:cNvSpPr>
          <p:nvPr/>
        </p:nvSpPr>
        <p:spPr bwMode="auto">
          <a:xfrm>
            <a:off x="87313" y="3298825"/>
            <a:ext cx="531812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 b="1" u="sng"/>
              <a:t>индекс</a:t>
            </a:r>
          </a:p>
        </p:txBody>
      </p:sp>
      <p:sp>
        <p:nvSpPr>
          <p:cNvPr id="18516" name="Text Box 6"/>
          <p:cNvSpPr txBox="1">
            <a:spLocks noChangeArrowheads="1"/>
          </p:cNvSpPr>
          <p:nvPr/>
        </p:nvSpPr>
        <p:spPr bwMode="auto">
          <a:xfrm>
            <a:off x="817563" y="3300413"/>
            <a:ext cx="503237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200" b="1"/>
              <a:t>цена</a:t>
            </a:r>
          </a:p>
        </p:txBody>
      </p:sp>
      <p:sp>
        <p:nvSpPr>
          <p:cNvPr id="18517" name="Text Box 6"/>
          <p:cNvSpPr txBox="1">
            <a:spLocks noChangeArrowheads="1"/>
          </p:cNvSpPr>
          <p:nvPr/>
        </p:nvSpPr>
        <p:spPr bwMode="auto">
          <a:xfrm>
            <a:off x="1657350" y="3300413"/>
            <a:ext cx="573088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 b="1" u="sng"/>
              <a:t>индекс</a:t>
            </a:r>
          </a:p>
        </p:txBody>
      </p:sp>
      <p:sp>
        <p:nvSpPr>
          <p:cNvPr id="18518" name="Text Box 6"/>
          <p:cNvSpPr txBox="1">
            <a:spLocks noChangeArrowheads="1"/>
          </p:cNvSpPr>
          <p:nvPr/>
        </p:nvSpPr>
        <p:spPr bwMode="auto">
          <a:xfrm>
            <a:off x="3173413" y="3300413"/>
            <a:ext cx="574675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 b="1" u="sng"/>
              <a:t>индекс</a:t>
            </a:r>
          </a:p>
        </p:txBody>
      </p:sp>
      <p:sp>
        <p:nvSpPr>
          <p:cNvPr id="18519" name="Text Box 6"/>
          <p:cNvSpPr txBox="1">
            <a:spLocks noChangeArrowheads="1"/>
          </p:cNvSpPr>
          <p:nvPr/>
        </p:nvSpPr>
        <p:spPr bwMode="auto">
          <a:xfrm>
            <a:off x="2413000" y="3298825"/>
            <a:ext cx="50323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200" b="1"/>
              <a:t>цена</a:t>
            </a:r>
          </a:p>
        </p:txBody>
      </p:sp>
      <p:sp>
        <p:nvSpPr>
          <p:cNvPr id="18520" name="Text Box 6"/>
          <p:cNvSpPr txBox="1">
            <a:spLocks noChangeArrowheads="1"/>
          </p:cNvSpPr>
          <p:nvPr/>
        </p:nvSpPr>
        <p:spPr bwMode="auto">
          <a:xfrm>
            <a:off x="3984625" y="3298825"/>
            <a:ext cx="50323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200" b="1"/>
              <a:t>цена</a:t>
            </a:r>
          </a:p>
        </p:txBody>
      </p:sp>
      <p:cxnSp>
        <p:nvCxnSpPr>
          <p:cNvPr id="128" name="Прямая соединительная линия 127"/>
          <p:cNvCxnSpPr>
            <a:stCxn id="18441" idx="2"/>
            <a:endCxn id="18465" idx="0"/>
          </p:cNvCxnSpPr>
          <p:nvPr/>
        </p:nvCxnSpPr>
        <p:spPr>
          <a:xfrm>
            <a:off x="827088" y="2955925"/>
            <a:ext cx="254000" cy="257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единительная линия 128"/>
          <p:cNvCxnSpPr>
            <a:endCxn id="18467" idx="0"/>
          </p:cNvCxnSpPr>
          <p:nvPr/>
        </p:nvCxnSpPr>
        <p:spPr>
          <a:xfrm>
            <a:off x="2382838" y="2968625"/>
            <a:ext cx="282575" cy="2444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единительная линия 129"/>
          <p:cNvCxnSpPr>
            <a:endCxn id="18469" idx="0"/>
          </p:cNvCxnSpPr>
          <p:nvPr/>
        </p:nvCxnSpPr>
        <p:spPr>
          <a:xfrm>
            <a:off x="3862388" y="2981325"/>
            <a:ext cx="387350" cy="2317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единительная линия 133"/>
          <p:cNvCxnSpPr>
            <a:endCxn id="18462" idx="0"/>
          </p:cNvCxnSpPr>
          <p:nvPr/>
        </p:nvCxnSpPr>
        <p:spPr>
          <a:xfrm flipH="1">
            <a:off x="325438" y="2955925"/>
            <a:ext cx="358775" cy="257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единительная линия 138"/>
          <p:cNvCxnSpPr/>
          <p:nvPr/>
        </p:nvCxnSpPr>
        <p:spPr>
          <a:xfrm flipH="1">
            <a:off x="1792288" y="2962275"/>
            <a:ext cx="360362" cy="257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единительная линия 139"/>
          <p:cNvCxnSpPr/>
          <p:nvPr/>
        </p:nvCxnSpPr>
        <p:spPr>
          <a:xfrm flipH="1">
            <a:off x="3313113" y="2968625"/>
            <a:ext cx="358775" cy="25082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/>
          <p:cNvGrpSpPr>
            <a:grpSpLocks/>
          </p:cNvGrpSpPr>
          <p:nvPr/>
        </p:nvGrpSpPr>
        <p:grpSpPr bwMode="auto">
          <a:xfrm>
            <a:off x="4787900" y="2678113"/>
            <a:ext cx="1370013" cy="895350"/>
            <a:chOff x="4787900" y="2678113"/>
            <a:chExt cx="1370013" cy="895350"/>
          </a:xfrm>
        </p:grpSpPr>
        <p:sp>
          <p:nvSpPr>
            <p:cNvPr id="19581" name="Text Box 18"/>
            <p:cNvSpPr txBox="1">
              <a:spLocks noChangeArrowheads="1"/>
            </p:cNvSpPr>
            <p:nvPr/>
          </p:nvSpPr>
          <p:spPr bwMode="auto">
            <a:xfrm>
              <a:off x="5113338" y="2678113"/>
              <a:ext cx="647700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стул</a:t>
              </a:r>
            </a:p>
          </p:txBody>
        </p:sp>
        <p:sp>
          <p:nvSpPr>
            <p:cNvPr id="19582" name="AutoShape 42"/>
            <p:cNvSpPr>
              <a:spLocks noChangeArrowheads="1"/>
            </p:cNvSpPr>
            <p:nvPr/>
          </p:nvSpPr>
          <p:spPr bwMode="auto">
            <a:xfrm>
              <a:off x="4787900" y="3213100"/>
              <a:ext cx="649288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83" name="AutoShape 43"/>
            <p:cNvSpPr>
              <a:spLocks noChangeArrowheads="1"/>
            </p:cNvSpPr>
            <p:nvPr/>
          </p:nvSpPr>
          <p:spPr bwMode="auto">
            <a:xfrm>
              <a:off x="5508625" y="3213100"/>
              <a:ext cx="649288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48" name="Прямая соединительная линия 147"/>
            <p:cNvCxnSpPr>
              <a:endCxn id="19582" idx="0"/>
            </p:cNvCxnSpPr>
            <p:nvPr/>
          </p:nvCxnSpPr>
          <p:spPr>
            <a:xfrm flipH="1">
              <a:off x="5113338" y="3024188"/>
              <a:ext cx="322262" cy="1889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Прямая соединительная линия 149"/>
            <p:cNvCxnSpPr>
              <a:endCxn id="19583" idx="0"/>
            </p:cNvCxnSpPr>
            <p:nvPr/>
          </p:nvCxnSpPr>
          <p:spPr>
            <a:xfrm>
              <a:off x="5567363" y="3011488"/>
              <a:ext cx="266700" cy="2016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86" name="Text Box 6"/>
            <p:cNvSpPr txBox="1">
              <a:spLocks noChangeArrowheads="1"/>
            </p:cNvSpPr>
            <p:nvPr/>
          </p:nvSpPr>
          <p:spPr bwMode="auto">
            <a:xfrm>
              <a:off x="4829175" y="3300413"/>
              <a:ext cx="574675" cy="185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87" name="Text Box 6"/>
            <p:cNvSpPr txBox="1">
              <a:spLocks noChangeArrowheads="1"/>
            </p:cNvSpPr>
            <p:nvPr/>
          </p:nvSpPr>
          <p:spPr bwMode="auto">
            <a:xfrm>
              <a:off x="5589588" y="3311525"/>
              <a:ext cx="503237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</p:grpSp>
      <p:grpSp>
        <p:nvGrpSpPr>
          <p:cNvPr id="10" name="Группа 9"/>
          <p:cNvGrpSpPr>
            <a:grpSpLocks/>
          </p:cNvGrpSpPr>
          <p:nvPr/>
        </p:nvGrpSpPr>
        <p:grpSpPr bwMode="auto">
          <a:xfrm>
            <a:off x="6227763" y="2655888"/>
            <a:ext cx="1370012" cy="917575"/>
            <a:chOff x="6227763" y="2655888"/>
            <a:chExt cx="1370012" cy="917575"/>
          </a:xfrm>
        </p:grpSpPr>
        <p:sp>
          <p:nvSpPr>
            <p:cNvPr id="19574" name="Text Box 19"/>
            <p:cNvSpPr txBox="1">
              <a:spLocks noChangeArrowheads="1"/>
            </p:cNvSpPr>
            <p:nvPr/>
          </p:nvSpPr>
          <p:spPr bwMode="auto">
            <a:xfrm>
              <a:off x="6589713" y="2655888"/>
              <a:ext cx="647700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стол</a:t>
              </a:r>
            </a:p>
          </p:txBody>
        </p:sp>
        <p:sp>
          <p:nvSpPr>
            <p:cNvPr id="19575" name="AutoShape 44"/>
            <p:cNvSpPr>
              <a:spLocks noChangeArrowheads="1"/>
            </p:cNvSpPr>
            <p:nvPr/>
          </p:nvSpPr>
          <p:spPr bwMode="auto">
            <a:xfrm>
              <a:off x="6227763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76" name="AutoShape 45"/>
            <p:cNvSpPr>
              <a:spLocks noChangeArrowheads="1"/>
            </p:cNvSpPr>
            <p:nvPr/>
          </p:nvSpPr>
          <p:spPr bwMode="auto">
            <a:xfrm>
              <a:off x="6948488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52" name="Прямая соединительная линия 151"/>
            <p:cNvCxnSpPr/>
            <p:nvPr/>
          </p:nvCxnSpPr>
          <p:spPr>
            <a:xfrm flipH="1">
              <a:off x="6581775" y="2989263"/>
              <a:ext cx="322263" cy="1889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/>
            <p:nvPr/>
          </p:nvCxnSpPr>
          <p:spPr>
            <a:xfrm>
              <a:off x="7007225" y="2989263"/>
              <a:ext cx="265113" cy="2016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79" name="Text Box 6"/>
            <p:cNvSpPr txBox="1">
              <a:spLocks noChangeArrowheads="1"/>
            </p:cNvSpPr>
            <p:nvPr/>
          </p:nvSpPr>
          <p:spPr bwMode="auto">
            <a:xfrm>
              <a:off x="6294438" y="3302000"/>
              <a:ext cx="574675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80" name="Text Box 6"/>
            <p:cNvSpPr txBox="1">
              <a:spLocks noChangeArrowheads="1"/>
            </p:cNvSpPr>
            <p:nvPr/>
          </p:nvSpPr>
          <p:spPr bwMode="auto">
            <a:xfrm>
              <a:off x="7007225" y="3313113"/>
              <a:ext cx="503238" cy="185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</p:grpSp>
      <p:grpSp>
        <p:nvGrpSpPr>
          <p:cNvPr id="14" name="Группа 13"/>
          <p:cNvGrpSpPr>
            <a:grpSpLocks/>
          </p:cNvGrpSpPr>
          <p:nvPr/>
        </p:nvGrpSpPr>
        <p:grpSpPr bwMode="auto">
          <a:xfrm>
            <a:off x="7704138" y="2646363"/>
            <a:ext cx="1439862" cy="927100"/>
            <a:chOff x="7704138" y="2646363"/>
            <a:chExt cx="1439862" cy="927100"/>
          </a:xfrm>
        </p:grpSpPr>
        <p:sp>
          <p:nvSpPr>
            <p:cNvPr id="19567" name="Text Box 20"/>
            <p:cNvSpPr txBox="1">
              <a:spLocks noChangeArrowheads="1"/>
            </p:cNvSpPr>
            <p:nvPr/>
          </p:nvSpPr>
          <p:spPr bwMode="auto">
            <a:xfrm>
              <a:off x="7931150" y="2646363"/>
              <a:ext cx="720725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полка</a:t>
              </a:r>
            </a:p>
          </p:txBody>
        </p:sp>
        <p:sp>
          <p:nvSpPr>
            <p:cNvPr id="19568" name="AutoShape 46"/>
            <p:cNvSpPr>
              <a:spLocks noChangeArrowheads="1"/>
            </p:cNvSpPr>
            <p:nvPr/>
          </p:nvSpPr>
          <p:spPr bwMode="auto">
            <a:xfrm>
              <a:off x="7704138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69" name="AutoShape 47"/>
            <p:cNvSpPr>
              <a:spLocks noChangeArrowheads="1"/>
            </p:cNvSpPr>
            <p:nvPr/>
          </p:nvSpPr>
          <p:spPr bwMode="auto">
            <a:xfrm>
              <a:off x="8494713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54" name="Прямая соединительная линия 153"/>
            <p:cNvCxnSpPr/>
            <p:nvPr/>
          </p:nvCxnSpPr>
          <p:spPr>
            <a:xfrm>
              <a:off x="8435975" y="2990850"/>
              <a:ext cx="266700" cy="201613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/>
            <p:nvPr/>
          </p:nvCxnSpPr>
          <p:spPr>
            <a:xfrm flipH="1">
              <a:off x="7929563" y="2990850"/>
              <a:ext cx="322262" cy="188913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72" name="Text Box 6"/>
            <p:cNvSpPr txBox="1">
              <a:spLocks noChangeArrowheads="1"/>
            </p:cNvSpPr>
            <p:nvPr/>
          </p:nvSpPr>
          <p:spPr bwMode="auto">
            <a:xfrm>
              <a:off x="7742238" y="3302000"/>
              <a:ext cx="573087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73" name="Text Box 6"/>
            <p:cNvSpPr txBox="1">
              <a:spLocks noChangeArrowheads="1"/>
            </p:cNvSpPr>
            <p:nvPr/>
          </p:nvSpPr>
          <p:spPr bwMode="auto">
            <a:xfrm>
              <a:off x="8569325" y="3322638"/>
              <a:ext cx="501650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</p:grpSp>
      <p:sp>
        <p:nvSpPr>
          <p:cNvPr id="19513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04250" y="5957888"/>
            <a:ext cx="490538" cy="41751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598FEAF-8353-4E28-840F-D2BE1ED3AC9C}" type="slidenum">
              <a:rPr lang="ru-RU" smtClean="0"/>
              <a:pPr/>
              <a:t>23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8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5" grpId="0" animBg="1"/>
      <p:bldP spid="18436" grpId="0"/>
      <p:bldP spid="18437" grpId="0"/>
      <p:bldP spid="18441" grpId="0" animBg="1"/>
      <p:bldP spid="18442" grpId="0" animBg="1"/>
      <p:bldP spid="18443" grpId="0" animBg="1"/>
      <p:bldP spid="18450" grpId="0"/>
      <p:bldP spid="18451" grpId="0"/>
      <p:bldP spid="18452" grpId="0"/>
      <p:bldP spid="18459" grpId="0" animBg="1"/>
      <p:bldP spid="18460" grpId="0" animBg="1"/>
      <p:bldP spid="18461" grpId="0" animBg="1"/>
      <p:bldP spid="18462" grpId="0" animBg="1"/>
      <p:bldP spid="18463" grpId="0" animBg="1"/>
      <p:bldP spid="18464" grpId="0" animBg="1"/>
      <p:bldP spid="18465" grpId="0" animBg="1"/>
      <p:bldP spid="18466" grpId="0" animBg="1"/>
      <p:bldP spid="18467" grpId="0" animBg="1"/>
      <p:bldP spid="18468" grpId="0" animBg="1"/>
      <p:bldP spid="18469" grpId="0" animBg="1"/>
      <p:bldP spid="18515" grpId="0"/>
      <p:bldP spid="18516" grpId="0"/>
      <p:bldP spid="18517" grpId="0"/>
      <p:bldP spid="18518" grpId="0"/>
      <p:bldP spid="18519" grpId="0"/>
      <p:bldP spid="185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algn="ctr"/>
            <a:r>
              <a:rPr lang="ru-RU" sz="4000" smtClean="0">
                <a:solidFill>
                  <a:schemeClr val="bg2"/>
                </a:solidFill>
              </a:rPr>
              <a:t>Агрегация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655" y="1065213"/>
            <a:ext cx="8800333" cy="5519694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Агрегация – декартово произведение сущностей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Новая сущность формируется на основе данных о частях объектах</a:t>
            </a:r>
          </a:p>
          <a:p>
            <a:pPr lvl="2">
              <a:lnSpc>
                <a:spcPct val="120000"/>
              </a:lnSpc>
            </a:pPr>
            <a:r>
              <a:rPr lang="ru-RU" dirty="0" smtClean="0"/>
              <a:t>Имя, Должность, </a:t>
            </a:r>
            <a:r>
              <a:rPr lang="ru-RU" dirty="0" err="1" smtClean="0"/>
              <a:t>Ном_отдела</a:t>
            </a:r>
            <a:r>
              <a:rPr lang="ru-RU" dirty="0" smtClean="0"/>
              <a:t> 		    </a:t>
            </a:r>
            <a:r>
              <a:rPr lang="ru-RU" dirty="0" smtClean="0">
                <a:solidFill>
                  <a:srgbClr val="FF0066"/>
                </a:solidFill>
              </a:rPr>
              <a:t>= Сотрудник</a:t>
            </a:r>
          </a:p>
          <a:p>
            <a:pPr lvl="2">
              <a:lnSpc>
                <a:spcPct val="120000"/>
              </a:lnSpc>
            </a:pPr>
            <a:r>
              <a:rPr lang="ru-RU" dirty="0" smtClean="0"/>
              <a:t>Имя, Паспорт, Дата приема 		    </a:t>
            </a:r>
            <a:r>
              <a:rPr lang="ru-RU" dirty="0" smtClean="0">
                <a:solidFill>
                  <a:srgbClr val="FF0066"/>
                </a:solidFill>
              </a:rPr>
              <a:t>= Сотрудник</a:t>
            </a:r>
          </a:p>
          <a:p>
            <a:pPr lvl="2">
              <a:lnSpc>
                <a:spcPct val="120000"/>
              </a:lnSpc>
            </a:pPr>
            <a:r>
              <a:rPr lang="ru-RU" dirty="0" smtClean="0"/>
              <a:t>Имя, </a:t>
            </a:r>
            <a:r>
              <a:rPr lang="ru-RU" dirty="0" err="1" smtClean="0"/>
              <a:t>Номер-страхового</a:t>
            </a:r>
            <a:r>
              <a:rPr lang="ru-RU" dirty="0" smtClean="0"/>
              <a:t> полиса, Адрес </a:t>
            </a:r>
            <a:r>
              <a:rPr lang="ru-RU" dirty="0" smtClean="0">
                <a:solidFill>
                  <a:srgbClr val="FF0066"/>
                </a:solidFill>
              </a:rPr>
              <a:t>= Сотрудник</a:t>
            </a:r>
          </a:p>
          <a:p>
            <a:pPr marL="0" lvl="2" indent="180000">
              <a:lnSpc>
                <a:spcPct val="120000"/>
              </a:lnSpc>
              <a:buNone/>
            </a:pPr>
            <a:endParaRPr lang="ru-RU" dirty="0" smtClean="0">
              <a:solidFill>
                <a:srgbClr val="FF0066"/>
              </a:solidFill>
            </a:endParaRPr>
          </a:p>
          <a:p>
            <a:pPr marL="0" lvl="2" indent="0">
              <a:lnSpc>
                <a:spcPct val="120000"/>
              </a:lnSpc>
              <a:buNone/>
            </a:pPr>
            <a:r>
              <a:rPr lang="ru-RU" dirty="0" smtClean="0">
                <a:solidFill>
                  <a:srgbClr val="7030A0"/>
                </a:solidFill>
              </a:rPr>
              <a:t>Имя, </a:t>
            </a:r>
            <a:r>
              <a:rPr lang="ru-RU" dirty="0" err="1" smtClean="0">
                <a:solidFill>
                  <a:srgbClr val="7030A0"/>
                </a:solidFill>
              </a:rPr>
              <a:t>Номер-страхового</a:t>
            </a:r>
            <a:r>
              <a:rPr lang="ru-RU" dirty="0" smtClean="0">
                <a:solidFill>
                  <a:srgbClr val="7030A0"/>
                </a:solidFill>
              </a:rPr>
              <a:t> полиса, Паспорт, Должность, </a:t>
            </a:r>
            <a:r>
              <a:rPr lang="ru-RU" dirty="0" err="1" smtClean="0">
                <a:solidFill>
                  <a:srgbClr val="7030A0"/>
                </a:solidFill>
              </a:rPr>
              <a:t>Ном_отдела</a:t>
            </a:r>
            <a:r>
              <a:rPr lang="ru-RU" dirty="0" smtClean="0">
                <a:solidFill>
                  <a:srgbClr val="7030A0"/>
                </a:solidFill>
              </a:rPr>
              <a:t>, Дата приема</a:t>
            </a:r>
            <a:r>
              <a:rPr lang="ru-RU" smtClean="0">
                <a:solidFill>
                  <a:srgbClr val="7030A0"/>
                </a:solidFill>
              </a:rPr>
              <a:t>, Адрес                   </a:t>
            </a:r>
            <a:r>
              <a:rPr lang="ru-RU" dirty="0" smtClean="0">
                <a:solidFill>
                  <a:srgbClr val="C00000"/>
                </a:solidFill>
              </a:rPr>
              <a:t>= СОТРУДНИК</a:t>
            </a:r>
          </a:p>
        </p:txBody>
      </p:sp>
      <p:sp>
        <p:nvSpPr>
          <p:cNvPr id="16388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A54D9FB-0D5F-439E-8DAE-AED32689DE2C}" type="slidenum">
              <a:rPr lang="ru-RU" smtClean="0"/>
              <a:pPr/>
              <a:t>24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1652519" y="908050"/>
            <a:ext cx="1223963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гарнитур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6300788" y="981075"/>
            <a:ext cx="1223962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гарнитур</a:t>
            </a:r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971550" y="404813"/>
            <a:ext cx="86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u="sng"/>
              <a:t>индекс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2555875" y="404813"/>
            <a:ext cx="719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/>
              <a:t>цена</a:t>
            </a:r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503238" y="2622550"/>
            <a:ext cx="647700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dirty="0"/>
              <a:t>стул</a:t>
            </a:r>
          </a:p>
        </p:txBody>
      </p:sp>
      <p:sp>
        <p:nvSpPr>
          <p:cNvPr id="18442" name="Text Box 13"/>
          <p:cNvSpPr txBox="1">
            <a:spLocks noChangeArrowheads="1"/>
          </p:cNvSpPr>
          <p:nvPr/>
        </p:nvSpPr>
        <p:spPr bwMode="auto">
          <a:xfrm>
            <a:off x="1936750" y="2622550"/>
            <a:ext cx="647700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/>
              <a:t>стол</a:t>
            </a:r>
          </a:p>
        </p:txBody>
      </p:sp>
      <p:sp>
        <p:nvSpPr>
          <p:cNvPr id="18443" name="Text Box 14"/>
          <p:cNvSpPr txBox="1">
            <a:spLocks noChangeArrowheads="1"/>
          </p:cNvSpPr>
          <p:nvPr/>
        </p:nvSpPr>
        <p:spPr bwMode="auto">
          <a:xfrm>
            <a:off x="3348038" y="2636838"/>
            <a:ext cx="720725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/>
              <a:t>шкаф</a:t>
            </a:r>
          </a:p>
        </p:txBody>
      </p:sp>
      <p:sp>
        <p:nvSpPr>
          <p:cNvPr id="18450" name="Text Box 21"/>
          <p:cNvSpPr txBox="1">
            <a:spLocks noChangeArrowheads="1"/>
          </p:cNvSpPr>
          <p:nvPr/>
        </p:nvSpPr>
        <p:spPr bwMode="auto">
          <a:xfrm>
            <a:off x="4572000" y="404813"/>
            <a:ext cx="10080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u="sng"/>
              <a:t>название</a:t>
            </a:r>
          </a:p>
        </p:txBody>
      </p:sp>
      <p:sp>
        <p:nvSpPr>
          <p:cNvPr id="18451" name="Text Box 22"/>
          <p:cNvSpPr txBox="1">
            <a:spLocks noChangeArrowheads="1"/>
          </p:cNvSpPr>
          <p:nvPr/>
        </p:nvSpPr>
        <p:spPr bwMode="auto">
          <a:xfrm>
            <a:off x="5867400" y="260350"/>
            <a:ext cx="14398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дата изготовления</a:t>
            </a:r>
          </a:p>
        </p:txBody>
      </p:sp>
      <p:sp>
        <p:nvSpPr>
          <p:cNvPr id="18452" name="Text Box 23"/>
          <p:cNvSpPr txBox="1">
            <a:spLocks noChangeArrowheads="1"/>
          </p:cNvSpPr>
          <p:nvPr/>
        </p:nvSpPr>
        <p:spPr bwMode="auto">
          <a:xfrm>
            <a:off x="7524750" y="260350"/>
            <a:ext cx="14398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гарантийный срок</a:t>
            </a:r>
          </a:p>
        </p:txBody>
      </p:sp>
      <p:sp>
        <p:nvSpPr>
          <p:cNvPr id="18459" name="AutoShape 31"/>
          <p:cNvSpPr>
            <a:spLocks noChangeArrowheads="1"/>
          </p:cNvSpPr>
          <p:nvPr/>
        </p:nvSpPr>
        <p:spPr bwMode="auto">
          <a:xfrm>
            <a:off x="1042988" y="404813"/>
            <a:ext cx="649287" cy="3603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0" name="AutoShape 32"/>
          <p:cNvSpPr>
            <a:spLocks noChangeArrowheads="1"/>
          </p:cNvSpPr>
          <p:nvPr/>
        </p:nvSpPr>
        <p:spPr bwMode="auto">
          <a:xfrm>
            <a:off x="2555875" y="404813"/>
            <a:ext cx="649288" cy="3603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1" name="AutoShape 33"/>
          <p:cNvSpPr>
            <a:spLocks noChangeArrowheads="1"/>
          </p:cNvSpPr>
          <p:nvPr/>
        </p:nvSpPr>
        <p:spPr bwMode="auto">
          <a:xfrm>
            <a:off x="4643438" y="333375"/>
            <a:ext cx="936625" cy="431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2" name="AutoShape 34"/>
          <p:cNvSpPr>
            <a:spLocks noChangeArrowheads="1"/>
          </p:cNvSpPr>
          <p:nvPr/>
        </p:nvSpPr>
        <p:spPr bwMode="auto">
          <a:xfrm>
            <a:off x="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3" name="AutoShape 35"/>
          <p:cNvSpPr>
            <a:spLocks noChangeArrowheads="1"/>
          </p:cNvSpPr>
          <p:nvPr/>
        </p:nvSpPr>
        <p:spPr bwMode="auto">
          <a:xfrm>
            <a:off x="7667625" y="333375"/>
            <a:ext cx="1152525" cy="431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4" name="AutoShape 36"/>
          <p:cNvSpPr>
            <a:spLocks noChangeArrowheads="1"/>
          </p:cNvSpPr>
          <p:nvPr/>
        </p:nvSpPr>
        <p:spPr bwMode="auto">
          <a:xfrm>
            <a:off x="5940425" y="333375"/>
            <a:ext cx="1368425" cy="431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5" name="AutoShape 37"/>
          <p:cNvSpPr>
            <a:spLocks noChangeArrowheads="1"/>
          </p:cNvSpPr>
          <p:nvPr/>
        </p:nvSpPr>
        <p:spPr bwMode="auto">
          <a:xfrm>
            <a:off x="75565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6" name="AutoShape 38"/>
          <p:cNvSpPr>
            <a:spLocks noChangeArrowheads="1"/>
          </p:cNvSpPr>
          <p:nvPr/>
        </p:nvSpPr>
        <p:spPr bwMode="auto">
          <a:xfrm>
            <a:off x="161925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7" name="AutoShape 39"/>
          <p:cNvSpPr>
            <a:spLocks noChangeArrowheads="1"/>
          </p:cNvSpPr>
          <p:nvPr/>
        </p:nvSpPr>
        <p:spPr bwMode="auto">
          <a:xfrm>
            <a:off x="2339975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8" name="AutoShape 40"/>
          <p:cNvSpPr>
            <a:spLocks noChangeArrowheads="1"/>
          </p:cNvSpPr>
          <p:nvPr/>
        </p:nvSpPr>
        <p:spPr bwMode="auto">
          <a:xfrm>
            <a:off x="3132138" y="3213100"/>
            <a:ext cx="649287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69" name="AutoShape 41"/>
          <p:cNvSpPr>
            <a:spLocks noChangeArrowheads="1"/>
          </p:cNvSpPr>
          <p:nvPr/>
        </p:nvSpPr>
        <p:spPr bwMode="auto">
          <a:xfrm>
            <a:off x="3924300" y="3213100"/>
            <a:ext cx="649288" cy="3603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476" name="Text Box 49"/>
          <p:cNvSpPr txBox="1">
            <a:spLocks noChangeArrowheads="1"/>
          </p:cNvSpPr>
          <p:nvPr/>
        </p:nvSpPr>
        <p:spPr bwMode="auto">
          <a:xfrm>
            <a:off x="971550" y="3573463"/>
            <a:ext cx="3024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 i="1">
                <a:solidFill>
                  <a:srgbClr val="996600"/>
                </a:solidFill>
              </a:rPr>
              <a:t>Представление 1</a:t>
            </a:r>
          </a:p>
        </p:txBody>
      </p:sp>
      <p:sp>
        <p:nvSpPr>
          <p:cNvPr id="18477" name="Text Box 51"/>
          <p:cNvSpPr txBox="1">
            <a:spLocks noChangeArrowheads="1"/>
          </p:cNvSpPr>
          <p:nvPr/>
        </p:nvSpPr>
        <p:spPr bwMode="auto">
          <a:xfrm>
            <a:off x="4284663" y="4581525"/>
            <a:ext cx="1223962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гарнитур</a:t>
            </a:r>
          </a:p>
        </p:txBody>
      </p:sp>
      <p:sp>
        <p:nvSpPr>
          <p:cNvPr id="18483" name="Text Box 61"/>
          <p:cNvSpPr txBox="1">
            <a:spLocks noChangeArrowheads="1"/>
          </p:cNvSpPr>
          <p:nvPr/>
        </p:nvSpPr>
        <p:spPr bwMode="auto">
          <a:xfrm>
            <a:off x="5580063" y="3573463"/>
            <a:ext cx="30241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 i="1">
                <a:solidFill>
                  <a:srgbClr val="996600"/>
                </a:solidFill>
              </a:rPr>
              <a:t>Представление 2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1619250" y="765175"/>
            <a:ext cx="215900" cy="142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H="1">
            <a:off x="2627313" y="777875"/>
            <a:ext cx="217487" cy="130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>
            <a:stCxn id="18461" idx="2"/>
          </p:cNvCxnSpPr>
          <p:nvPr/>
        </p:nvCxnSpPr>
        <p:spPr>
          <a:xfrm>
            <a:off x="5111750" y="765175"/>
            <a:ext cx="1296988" cy="2159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>
            <a:stCxn id="18451" idx="2"/>
          </p:cNvCxnSpPr>
          <p:nvPr/>
        </p:nvCxnSpPr>
        <p:spPr>
          <a:xfrm>
            <a:off x="6588125" y="777875"/>
            <a:ext cx="166688" cy="17303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18452" idx="2"/>
          </p:cNvCxnSpPr>
          <p:nvPr/>
        </p:nvCxnSpPr>
        <p:spPr>
          <a:xfrm flipH="1">
            <a:off x="7164388" y="777875"/>
            <a:ext cx="1081087" cy="1920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/>
          <p:cNvGrpSpPr>
            <a:grpSpLocks/>
          </p:cNvGrpSpPr>
          <p:nvPr/>
        </p:nvGrpSpPr>
        <p:grpSpPr bwMode="auto">
          <a:xfrm>
            <a:off x="179388" y="1303338"/>
            <a:ext cx="1512887" cy="1319212"/>
            <a:chOff x="179388" y="1303338"/>
            <a:chExt cx="1512887" cy="1319212"/>
          </a:xfrm>
        </p:grpSpPr>
        <p:sp>
          <p:nvSpPr>
            <p:cNvPr id="19626" name="Text Box 8"/>
            <p:cNvSpPr txBox="1">
              <a:spLocks noChangeArrowheads="1"/>
            </p:cNvSpPr>
            <p:nvPr/>
          </p:nvSpPr>
          <p:spPr bwMode="auto">
            <a:xfrm>
              <a:off x="468313" y="1628775"/>
              <a:ext cx="792162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dirty="0"/>
                <a:t>Имеет в составе стулья</a:t>
              </a:r>
            </a:p>
          </p:txBody>
        </p:sp>
        <p:sp>
          <p:nvSpPr>
            <p:cNvPr id="19627" name="AutoShape 24"/>
            <p:cNvSpPr>
              <a:spLocks noChangeArrowheads="1"/>
            </p:cNvSpPr>
            <p:nvPr/>
          </p:nvSpPr>
          <p:spPr bwMode="auto">
            <a:xfrm>
              <a:off x="179388" y="1484313"/>
              <a:ext cx="1296987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 flipH="1">
              <a:off x="801688" y="1303338"/>
              <a:ext cx="890587" cy="188912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Прямая со стрелкой 89"/>
            <p:cNvCxnSpPr>
              <a:stCxn id="19627" idx="2"/>
              <a:endCxn id="18441" idx="0"/>
            </p:cNvCxnSpPr>
            <p:nvPr/>
          </p:nvCxnSpPr>
          <p:spPr>
            <a:xfrm flipH="1">
              <a:off x="827088" y="2347913"/>
              <a:ext cx="1587" cy="274637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Группа 3"/>
          <p:cNvGrpSpPr>
            <a:grpSpLocks/>
          </p:cNvGrpSpPr>
          <p:nvPr/>
        </p:nvGrpSpPr>
        <p:grpSpPr bwMode="auto">
          <a:xfrm>
            <a:off x="1619250" y="1303337"/>
            <a:ext cx="1296988" cy="1308101"/>
            <a:chOff x="1619250" y="1303337"/>
            <a:chExt cx="1296988" cy="1308101"/>
          </a:xfrm>
        </p:grpSpPr>
        <p:sp>
          <p:nvSpPr>
            <p:cNvPr id="19622" name="Text Box 9"/>
            <p:cNvSpPr txBox="1">
              <a:spLocks noChangeArrowheads="1"/>
            </p:cNvSpPr>
            <p:nvPr/>
          </p:nvSpPr>
          <p:spPr bwMode="auto">
            <a:xfrm>
              <a:off x="1908175" y="1628775"/>
              <a:ext cx="792163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/>
                <a:t>Имеет в составе столы</a:t>
              </a:r>
            </a:p>
          </p:txBody>
        </p:sp>
        <p:sp>
          <p:nvSpPr>
            <p:cNvPr id="19623" name="AutoShape 25"/>
            <p:cNvSpPr>
              <a:spLocks noChangeArrowheads="1"/>
            </p:cNvSpPr>
            <p:nvPr/>
          </p:nvSpPr>
          <p:spPr bwMode="auto">
            <a:xfrm>
              <a:off x="1619250" y="1484313"/>
              <a:ext cx="1296988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83" name="Прямая со стрелкой 82"/>
            <p:cNvCxnSpPr>
              <a:stCxn id="18434" idx="2"/>
              <a:endCxn id="19623" idx="0"/>
            </p:cNvCxnSpPr>
            <p:nvPr/>
          </p:nvCxnSpPr>
          <p:spPr>
            <a:xfrm rot="16200000" flipH="1">
              <a:off x="2175635" y="1392203"/>
              <a:ext cx="180975" cy="3243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Прямая со стрелкой 93"/>
            <p:cNvCxnSpPr/>
            <p:nvPr/>
          </p:nvCxnSpPr>
          <p:spPr>
            <a:xfrm flipH="1">
              <a:off x="2260600" y="2336800"/>
              <a:ext cx="0" cy="27463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Группа 5"/>
          <p:cNvGrpSpPr>
            <a:grpSpLocks/>
          </p:cNvGrpSpPr>
          <p:nvPr/>
        </p:nvGrpSpPr>
        <p:grpSpPr bwMode="auto">
          <a:xfrm>
            <a:off x="2844801" y="1303338"/>
            <a:ext cx="1439862" cy="1319212"/>
            <a:chOff x="2843965" y="1303338"/>
            <a:chExt cx="1440697" cy="1319212"/>
          </a:xfrm>
        </p:grpSpPr>
        <p:sp>
          <p:nvSpPr>
            <p:cNvPr id="19618" name="Text Box 10"/>
            <p:cNvSpPr txBox="1">
              <a:spLocks noChangeArrowheads="1"/>
            </p:cNvSpPr>
            <p:nvPr/>
          </p:nvSpPr>
          <p:spPr bwMode="auto">
            <a:xfrm>
              <a:off x="3276600" y="1615523"/>
              <a:ext cx="792163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dirty="0"/>
                <a:t>Имеет в составе шкафы</a:t>
              </a:r>
            </a:p>
          </p:txBody>
        </p:sp>
        <p:sp>
          <p:nvSpPr>
            <p:cNvPr id="19619" name="AutoShape 26"/>
            <p:cNvSpPr>
              <a:spLocks noChangeArrowheads="1"/>
            </p:cNvSpPr>
            <p:nvPr/>
          </p:nvSpPr>
          <p:spPr bwMode="auto">
            <a:xfrm>
              <a:off x="2987674" y="1457809"/>
              <a:ext cx="1296988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81" name="Прямая со стрелкой 80"/>
            <p:cNvCxnSpPr/>
            <p:nvPr/>
          </p:nvCxnSpPr>
          <p:spPr>
            <a:xfrm>
              <a:off x="2843965" y="1303338"/>
              <a:ext cx="792623" cy="154471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94"/>
            <p:cNvCxnSpPr/>
            <p:nvPr/>
          </p:nvCxnSpPr>
          <p:spPr>
            <a:xfrm flipH="1">
              <a:off x="3663106" y="2347913"/>
              <a:ext cx="0" cy="274637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Группа 6"/>
          <p:cNvGrpSpPr>
            <a:grpSpLocks/>
          </p:cNvGrpSpPr>
          <p:nvPr/>
        </p:nvGrpSpPr>
        <p:grpSpPr bwMode="auto">
          <a:xfrm>
            <a:off x="4789488" y="1389063"/>
            <a:ext cx="1538287" cy="1306512"/>
            <a:chOff x="4789488" y="1389063"/>
            <a:chExt cx="1538287" cy="1306512"/>
          </a:xfrm>
        </p:grpSpPr>
        <p:sp>
          <p:nvSpPr>
            <p:cNvPr id="19614" name="Text Box 15"/>
            <p:cNvSpPr txBox="1">
              <a:spLocks noChangeArrowheads="1"/>
            </p:cNvSpPr>
            <p:nvPr/>
          </p:nvSpPr>
          <p:spPr bwMode="auto">
            <a:xfrm>
              <a:off x="4979988" y="1670050"/>
              <a:ext cx="792162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стулья</a:t>
              </a:r>
            </a:p>
          </p:txBody>
        </p:sp>
        <p:sp>
          <p:nvSpPr>
            <p:cNvPr id="19615" name="AutoShape 27"/>
            <p:cNvSpPr>
              <a:spLocks noChangeArrowheads="1"/>
            </p:cNvSpPr>
            <p:nvPr/>
          </p:nvSpPr>
          <p:spPr bwMode="auto">
            <a:xfrm>
              <a:off x="4789488" y="1557338"/>
              <a:ext cx="1295400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96" name="Прямая со стрелкой 95"/>
            <p:cNvCxnSpPr/>
            <p:nvPr/>
          </p:nvCxnSpPr>
          <p:spPr>
            <a:xfrm flipH="1">
              <a:off x="5437188" y="2420938"/>
              <a:ext cx="0" cy="274637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 стрелкой 98"/>
            <p:cNvCxnSpPr/>
            <p:nvPr/>
          </p:nvCxnSpPr>
          <p:spPr>
            <a:xfrm flipH="1">
              <a:off x="5437188" y="1389063"/>
              <a:ext cx="890587" cy="190500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Группа 8"/>
          <p:cNvGrpSpPr>
            <a:grpSpLocks/>
          </p:cNvGrpSpPr>
          <p:nvPr/>
        </p:nvGrpSpPr>
        <p:grpSpPr bwMode="auto">
          <a:xfrm>
            <a:off x="6264275" y="1376362"/>
            <a:ext cx="1296988" cy="1301751"/>
            <a:chOff x="6264275" y="1376362"/>
            <a:chExt cx="1296988" cy="1301751"/>
          </a:xfrm>
        </p:grpSpPr>
        <p:sp>
          <p:nvSpPr>
            <p:cNvPr id="19610" name="Text Box 16"/>
            <p:cNvSpPr txBox="1">
              <a:spLocks noChangeArrowheads="1"/>
            </p:cNvSpPr>
            <p:nvPr/>
          </p:nvSpPr>
          <p:spPr bwMode="auto">
            <a:xfrm>
              <a:off x="6489700" y="1674813"/>
              <a:ext cx="792163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столы</a:t>
              </a:r>
            </a:p>
          </p:txBody>
        </p:sp>
        <p:sp>
          <p:nvSpPr>
            <p:cNvPr id="19611" name="AutoShape 28"/>
            <p:cNvSpPr>
              <a:spLocks noChangeArrowheads="1"/>
            </p:cNvSpPr>
            <p:nvPr/>
          </p:nvSpPr>
          <p:spPr bwMode="auto">
            <a:xfrm>
              <a:off x="6264275" y="1557338"/>
              <a:ext cx="1296988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97" name="Прямая со стрелкой 96"/>
            <p:cNvCxnSpPr/>
            <p:nvPr/>
          </p:nvCxnSpPr>
          <p:spPr>
            <a:xfrm flipH="1">
              <a:off x="6913563" y="2403475"/>
              <a:ext cx="0" cy="27463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/>
            <p:cNvCxnSpPr>
              <a:stCxn id="18435" idx="2"/>
            </p:cNvCxnSpPr>
            <p:nvPr/>
          </p:nvCxnSpPr>
          <p:spPr>
            <a:xfrm rot="16200000" flipH="1">
              <a:off x="6826406" y="1462726"/>
              <a:ext cx="180975" cy="824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Группа 12"/>
          <p:cNvGrpSpPr>
            <a:grpSpLocks/>
          </p:cNvGrpSpPr>
          <p:nvPr/>
        </p:nvGrpSpPr>
        <p:grpSpPr bwMode="auto">
          <a:xfrm>
            <a:off x="7543800" y="1376363"/>
            <a:ext cx="1420813" cy="1279525"/>
            <a:chOff x="7543800" y="1376363"/>
            <a:chExt cx="1420813" cy="1279525"/>
          </a:xfrm>
        </p:grpSpPr>
        <p:sp>
          <p:nvSpPr>
            <p:cNvPr id="19606" name="Text Box 17"/>
            <p:cNvSpPr txBox="1">
              <a:spLocks noChangeArrowheads="1"/>
            </p:cNvSpPr>
            <p:nvPr/>
          </p:nvSpPr>
          <p:spPr bwMode="auto">
            <a:xfrm>
              <a:off x="7885113" y="1700213"/>
              <a:ext cx="792162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полки</a:t>
              </a:r>
            </a:p>
          </p:txBody>
        </p:sp>
        <p:sp>
          <p:nvSpPr>
            <p:cNvPr id="19607" name="AutoShape 29"/>
            <p:cNvSpPr>
              <a:spLocks noChangeArrowheads="1"/>
            </p:cNvSpPr>
            <p:nvPr/>
          </p:nvSpPr>
          <p:spPr bwMode="auto">
            <a:xfrm>
              <a:off x="7667625" y="1557338"/>
              <a:ext cx="1296988" cy="846137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98" name="Прямая со стрелкой 97"/>
            <p:cNvCxnSpPr/>
            <p:nvPr/>
          </p:nvCxnSpPr>
          <p:spPr>
            <a:xfrm flipH="1">
              <a:off x="8312150" y="2381250"/>
              <a:ext cx="0" cy="27463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 стрелкой 100"/>
            <p:cNvCxnSpPr>
              <a:endCxn id="19607" idx="0"/>
            </p:cNvCxnSpPr>
            <p:nvPr/>
          </p:nvCxnSpPr>
          <p:spPr>
            <a:xfrm>
              <a:off x="7543800" y="1376363"/>
              <a:ext cx="771525" cy="180975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Группа 43"/>
          <p:cNvGrpSpPr>
            <a:grpSpLocks/>
          </p:cNvGrpSpPr>
          <p:nvPr/>
        </p:nvGrpSpPr>
        <p:grpSpPr bwMode="auto">
          <a:xfrm>
            <a:off x="2124075" y="3933825"/>
            <a:ext cx="6624638" cy="671513"/>
            <a:chOff x="2124075" y="3933825"/>
            <a:chExt cx="6624638" cy="671513"/>
          </a:xfrm>
        </p:grpSpPr>
        <p:sp>
          <p:nvSpPr>
            <p:cNvPr id="19588" name="AutoShape 60"/>
            <p:cNvSpPr>
              <a:spLocks noChangeArrowheads="1"/>
            </p:cNvSpPr>
            <p:nvPr/>
          </p:nvSpPr>
          <p:spPr bwMode="auto">
            <a:xfrm>
              <a:off x="7308850" y="4005263"/>
              <a:ext cx="1368425" cy="4318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grpSp>
          <p:nvGrpSpPr>
            <p:cNvPr id="10" name="Группа 15"/>
            <p:cNvGrpSpPr>
              <a:grpSpLocks/>
            </p:cNvGrpSpPr>
            <p:nvPr/>
          </p:nvGrpSpPr>
          <p:grpSpPr bwMode="auto">
            <a:xfrm>
              <a:off x="2124075" y="3933825"/>
              <a:ext cx="6624638" cy="671513"/>
              <a:chOff x="2124075" y="3933825"/>
              <a:chExt cx="6624638" cy="671513"/>
            </a:xfrm>
          </p:grpSpPr>
          <p:grpSp>
            <p:nvGrpSpPr>
              <p:cNvPr id="11" name="Группа 61"/>
              <p:cNvGrpSpPr>
                <a:grpSpLocks/>
              </p:cNvGrpSpPr>
              <p:nvPr/>
            </p:nvGrpSpPr>
            <p:grpSpPr bwMode="auto">
              <a:xfrm>
                <a:off x="2124075" y="3933825"/>
                <a:ext cx="6624638" cy="517525"/>
                <a:chOff x="2124075" y="3933825"/>
                <a:chExt cx="6624638" cy="517525"/>
              </a:xfrm>
            </p:grpSpPr>
            <p:sp>
              <p:nvSpPr>
                <p:cNvPr id="19596" name="AutoShape 57"/>
                <p:cNvSpPr>
                  <a:spLocks noChangeArrowheads="1"/>
                </p:cNvSpPr>
                <p:nvPr/>
              </p:nvSpPr>
              <p:spPr bwMode="auto">
                <a:xfrm>
                  <a:off x="3276600" y="4005263"/>
                  <a:ext cx="649288" cy="360362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9597" name="AutoShape 59"/>
                <p:cNvSpPr>
                  <a:spLocks noChangeArrowheads="1"/>
                </p:cNvSpPr>
                <p:nvPr/>
              </p:nvSpPr>
              <p:spPr bwMode="auto">
                <a:xfrm>
                  <a:off x="5724525" y="4005263"/>
                  <a:ext cx="1368425" cy="4318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959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124075" y="4076700"/>
                  <a:ext cx="863600" cy="304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ru-RU" sz="1400" u="sng"/>
                    <a:t>индекс</a:t>
                  </a:r>
                </a:p>
              </p:txBody>
            </p:sp>
            <p:sp>
              <p:nvSpPr>
                <p:cNvPr id="19599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54055" y="4067274"/>
                  <a:ext cx="972343" cy="3077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ru-RU" sz="1400" u="sng"/>
                    <a:t>название</a:t>
                  </a:r>
                </a:p>
              </p:txBody>
            </p:sp>
            <p:grpSp>
              <p:nvGrpSpPr>
                <p:cNvPr id="12" name="Группа 60"/>
                <p:cNvGrpSpPr>
                  <a:grpSpLocks/>
                </p:cNvGrpSpPr>
                <p:nvPr/>
              </p:nvGrpSpPr>
              <p:grpSpPr bwMode="auto">
                <a:xfrm>
                  <a:off x="2195513" y="3933825"/>
                  <a:ext cx="6553200" cy="517525"/>
                  <a:chOff x="2195513" y="3933825"/>
                  <a:chExt cx="6553200" cy="517525"/>
                </a:xfrm>
              </p:grpSpPr>
              <p:sp>
                <p:nvSpPr>
                  <p:cNvPr id="19601" name="AutoShape 56"/>
                  <p:cNvSpPr>
                    <a:spLocks noChangeArrowheads="1"/>
                  </p:cNvSpPr>
                  <p:nvPr/>
                </p:nvSpPr>
                <p:spPr bwMode="auto">
                  <a:xfrm>
                    <a:off x="2195513" y="4005263"/>
                    <a:ext cx="649287" cy="360362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19602" name="AutoShape 58"/>
                  <p:cNvSpPr>
                    <a:spLocks noChangeArrowheads="1"/>
                  </p:cNvSpPr>
                  <p:nvPr/>
                </p:nvSpPr>
                <p:spPr bwMode="auto">
                  <a:xfrm>
                    <a:off x="4439314" y="3969543"/>
                    <a:ext cx="936625" cy="467519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19603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6600" y="4005263"/>
                    <a:ext cx="719138" cy="3048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ru-RU" sz="1400"/>
                      <a:t>цена</a:t>
                    </a:r>
                  </a:p>
                </p:txBody>
              </p:sp>
              <p:sp>
                <p:nvSpPr>
                  <p:cNvPr id="19604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24525" y="3933825"/>
                    <a:ext cx="1439863" cy="5175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ru-RU" sz="1400"/>
                      <a:t>дата изготовления</a:t>
                    </a:r>
                  </a:p>
                </p:txBody>
              </p:sp>
              <p:sp>
                <p:nvSpPr>
                  <p:cNvPr id="19605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08850" y="3933825"/>
                    <a:ext cx="1439863" cy="5175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ru-RU" sz="1400"/>
                      <a:t>гарантийный срок</a:t>
                    </a:r>
                  </a:p>
                </p:txBody>
              </p:sp>
            </p:grpSp>
          </p:grpSp>
          <p:cxnSp>
            <p:nvCxnSpPr>
              <p:cNvPr id="110" name="Прямая соединительная линия 109"/>
              <p:cNvCxnSpPr>
                <a:stCxn id="19598" idx="2"/>
              </p:cNvCxnSpPr>
              <p:nvPr/>
            </p:nvCxnSpPr>
            <p:spPr>
              <a:xfrm>
                <a:off x="2555875" y="4381500"/>
                <a:ext cx="1731963" cy="21272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Прямая соединительная линия 111"/>
              <p:cNvCxnSpPr>
                <a:stCxn id="19596" idx="2"/>
              </p:cNvCxnSpPr>
              <p:nvPr/>
            </p:nvCxnSpPr>
            <p:spPr>
              <a:xfrm>
                <a:off x="3602038" y="4365625"/>
                <a:ext cx="876300" cy="19367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Прямая соединительная линия 113"/>
              <p:cNvCxnSpPr>
                <a:stCxn id="19602" idx="2"/>
                <a:endCxn id="18477" idx="0"/>
              </p:cNvCxnSpPr>
              <p:nvPr/>
            </p:nvCxnSpPr>
            <p:spPr>
              <a:xfrm flipH="1">
                <a:off x="4897438" y="4437063"/>
                <a:ext cx="9525" cy="14446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Прямая соединительная линия 115"/>
              <p:cNvCxnSpPr>
                <a:stCxn id="19588" idx="2"/>
              </p:cNvCxnSpPr>
              <p:nvPr/>
            </p:nvCxnSpPr>
            <p:spPr>
              <a:xfrm flipH="1">
                <a:off x="5503863" y="4437063"/>
                <a:ext cx="2489200" cy="168275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Прямая соединительная линия 117"/>
              <p:cNvCxnSpPr>
                <a:stCxn id="19604" idx="2"/>
              </p:cNvCxnSpPr>
              <p:nvPr/>
            </p:nvCxnSpPr>
            <p:spPr>
              <a:xfrm flipH="1">
                <a:off x="5200650" y="4451350"/>
                <a:ext cx="1244600" cy="103188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515" name="Text Box 6"/>
          <p:cNvSpPr txBox="1">
            <a:spLocks noChangeArrowheads="1"/>
          </p:cNvSpPr>
          <p:nvPr/>
        </p:nvSpPr>
        <p:spPr bwMode="auto">
          <a:xfrm>
            <a:off x="87313" y="3298825"/>
            <a:ext cx="531812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 b="1" u="sng"/>
              <a:t>индекс</a:t>
            </a:r>
          </a:p>
        </p:txBody>
      </p:sp>
      <p:sp>
        <p:nvSpPr>
          <p:cNvPr id="18516" name="Text Box 6"/>
          <p:cNvSpPr txBox="1">
            <a:spLocks noChangeArrowheads="1"/>
          </p:cNvSpPr>
          <p:nvPr/>
        </p:nvSpPr>
        <p:spPr bwMode="auto">
          <a:xfrm>
            <a:off x="817563" y="3300413"/>
            <a:ext cx="503237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200" b="1"/>
              <a:t>цена</a:t>
            </a:r>
          </a:p>
        </p:txBody>
      </p:sp>
      <p:sp>
        <p:nvSpPr>
          <p:cNvPr id="18517" name="Text Box 6"/>
          <p:cNvSpPr txBox="1">
            <a:spLocks noChangeArrowheads="1"/>
          </p:cNvSpPr>
          <p:nvPr/>
        </p:nvSpPr>
        <p:spPr bwMode="auto">
          <a:xfrm>
            <a:off x="1657350" y="3300413"/>
            <a:ext cx="573088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 b="1" u="sng"/>
              <a:t>индекс</a:t>
            </a:r>
          </a:p>
        </p:txBody>
      </p:sp>
      <p:sp>
        <p:nvSpPr>
          <p:cNvPr id="18518" name="Text Box 6"/>
          <p:cNvSpPr txBox="1">
            <a:spLocks noChangeArrowheads="1"/>
          </p:cNvSpPr>
          <p:nvPr/>
        </p:nvSpPr>
        <p:spPr bwMode="auto">
          <a:xfrm>
            <a:off x="3173413" y="3300413"/>
            <a:ext cx="574675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 b="1" u="sng"/>
              <a:t>индекс</a:t>
            </a:r>
          </a:p>
        </p:txBody>
      </p:sp>
      <p:sp>
        <p:nvSpPr>
          <p:cNvPr id="18519" name="Text Box 6"/>
          <p:cNvSpPr txBox="1">
            <a:spLocks noChangeArrowheads="1"/>
          </p:cNvSpPr>
          <p:nvPr/>
        </p:nvSpPr>
        <p:spPr bwMode="auto">
          <a:xfrm>
            <a:off x="2413000" y="3298825"/>
            <a:ext cx="50323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200" b="1"/>
              <a:t>цена</a:t>
            </a:r>
          </a:p>
        </p:txBody>
      </p:sp>
      <p:sp>
        <p:nvSpPr>
          <p:cNvPr id="18520" name="Text Box 6"/>
          <p:cNvSpPr txBox="1">
            <a:spLocks noChangeArrowheads="1"/>
          </p:cNvSpPr>
          <p:nvPr/>
        </p:nvSpPr>
        <p:spPr bwMode="auto">
          <a:xfrm>
            <a:off x="3984625" y="3298825"/>
            <a:ext cx="50323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200" b="1"/>
              <a:t>цена</a:t>
            </a:r>
          </a:p>
        </p:txBody>
      </p:sp>
      <p:cxnSp>
        <p:nvCxnSpPr>
          <p:cNvPr id="128" name="Прямая соединительная линия 127"/>
          <p:cNvCxnSpPr>
            <a:stCxn id="18441" idx="2"/>
            <a:endCxn id="18465" idx="0"/>
          </p:cNvCxnSpPr>
          <p:nvPr/>
        </p:nvCxnSpPr>
        <p:spPr>
          <a:xfrm>
            <a:off x="827088" y="2955925"/>
            <a:ext cx="254000" cy="257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единительная линия 128"/>
          <p:cNvCxnSpPr>
            <a:endCxn id="18467" idx="0"/>
          </p:cNvCxnSpPr>
          <p:nvPr/>
        </p:nvCxnSpPr>
        <p:spPr>
          <a:xfrm>
            <a:off x="2382838" y="2968625"/>
            <a:ext cx="282575" cy="2444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единительная линия 129"/>
          <p:cNvCxnSpPr>
            <a:endCxn id="18469" idx="0"/>
          </p:cNvCxnSpPr>
          <p:nvPr/>
        </p:nvCxnSpPr>
        <p:spPr>
          <a:xfrm>
            <a:off x="3862388" y="2981325"/>
            <a:ext cx="387350" cy="2317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единительная линия 133"/>
          <p:cNvCxnSpPr>
            <a:endCxn id="18462" idx="0"/>
          </p:cNvCxnSpPr>
          <p:nvPr/>
        </p:nvCxnSpPr>
        <p:spPr>
          <a:xfrm flipH="1">
            <a:off x="325438" y="2955925"/>
            <a:ext cx="358775" cy="257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единительная линия 138"/>
          <p:cNvCxnSpPr/>
          <p:nvPr/>
        </p:nvCxnSpPr>
        <p:spPr>
          <a:xfrm flipH="1">
            <a:off x="1792288" y="2962275"/>
            <a:ext cx="360362" cy="2571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единительная линия 139"/>
          <p:cNvCxnSpPr/>
          <p:nvPr/>
        </p:nvCxnSpPr>
        <p:spPr>
          <a:xfrm flipH="1">
            <a:off x="3313113" y="2968625"/>
            <a:ext cx="358775" cy="25082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Группа 7"/>
          <p:cNvGrpSpPr>
            <a:grpSpLocks/>
          </p:cNvGrpSpPr>
          <p:nvPr/>
        </p:nvGrpSpPr>
        <p:grpSpPr bwMode="auto">
          <a:xfrm>
            <a:off x="4787900" y="2678113"/>
            <a:ext cx="1370013" cy="895350"/>
            <a:chOff x="4787900" y="2678113"/>
            <a:chExt cx="1370013" cy="895350"/>
          </a:xfrm>
        </p:grpSpPr>
        <p:sp>
          <p:nvSpPr>
            <p:cNvPr id="19581" name="Text Box 18"/>
            <p:cNvSpPr txBox="1">
              <a:spLocks noChangeArrowheads="1"/>
            </p:cNvSpPr>
            <p:nvPr/>
          </p:nvSpPr>
          <p:spPr bwMode="auto">
            <a:xfrm>
              <a:off x="5113338" y="2678113"/>
              <a:ext cx="647700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стул</a:t>
              </a:r>
            </a:p>
          </p:txBody>
        </p:sp>
        <p:sp>
          <p:nvSpPr>
            <p:cNvPr id="19582" name="AutoShape 42"/>
            <p:cNvSpPr>
              <a:spLocks noChangeArrowheads="1"/>
            </p:cNvSpPr>
            <p:nvPr/>
          </p:nvSpPr>
          <p:spPr bwMode="auto">
            <a:xfrm>
              <a:off x="4787900" y="3213100"/>
              <a:ext cx="649288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83" name="AutoShape 43"/>
            <p:cNvSpPr>
              <a:spLocks noChangeArrowheads="1"/>
            </p:cNvSpPr>
            <p:nvPr/>
          </p:nvSpPr>
          <p:spPr bwMode="auto">
            <a:xfrm>
              <a:off x="5508625" y="3213100"/>
              <a:ext cx="649288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48" name="Прямая соединительная линия 147"/>
            <p:cNvCxnSpPr>
              <a:endCxn id="19582" idx="0"/>
            </p:cNvCxnSpPr>
            <p:nvPr/>
          </p:nvCxnSpPr>
          <p:spPr>
            <a:xfrm flipH="1">
              <a:off x="5113338" y="3024188"/>
              <a:ext cx="322262" cy="1889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Прямая соединительная линия 149"/>
            <p:cNvCxnSpPr>
              <a:endCxn id="19583" idx="0"/>
            </p:cNvCxnSpPr>
            <p:nvPr/>
          </p:nvCxnSpPr>
          <p:spPr>
            <a:xfrm>
              <a:off x="5567363" y="3011488"/>
              <a:ext cx="266700" cy="2016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86" name="Text Box 6"/>
            <p:cNvSpPr txBox="1">
              <a:spLocks noChangeArrowheads="1"/>
            </p:cNvSpPr>
            <p:nvPr/>
          </p:nvSpPr>
          <p:spPr bwMode="auto">
            <a:xfrm>
              <a:off x="4829175" y="3300413"/>
              <a:ext cx="574675" cy="185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87" name="Text Box 6"/>
            <p:cNvSpPr txBox="1">
              <a:spLocks noChangeArrowheads="1"/>
            </p:cNvSpPr>
            <p:nvPr/>
          </p:nvSpPr>
          <p:spPr bwMode="auto">
            <a:xfrm>
              <a:off x="5589588" y="3311525"/>
              <a:ext cx="503237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</p:grpSp>
      <p:grpSp>
        <p:nvGrpSpPr>
          <p:cNvPr id="14" name="Группа 9"/>
          <p:cNvGrpSpPr>
            <a:grpSpLocks/>
          </p:cNvGrpSpPr>
          <p:nvPr/>
        </p:nvGrpSpPr>
        <p:grpSpPr bwMode="auto">
          <a:xfrm>
            <a:off x="6227763" y="2655888"/>
            <a:ext cx="1370012" cy="917575"/>
            <a:chOff x="6227763" y="2655888"/>
            <a:chExt cx="1370012" cy="917575"/>
          </a:xfrm>
        </p:grpSpPr>
        <p:sp>
          <p:nvSpPr>
            <p:cNvPr id="19574" name="Text Box 19"/>
            <p:cNvSpPr txBox="1">
              <a:spLocks noChangeArrowheads="1"/>
            </p:cNvSpPr>
            <p:nvPr/>
          </p:nvSpPr>
          <p:spPr bwMode="auto">
            <a:xfrm>
              <a:off x="6589713" y="2655888"/>
              <a:ext cx="647700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стол</a:t>
              </a:r>
            </a:p>
          </p:txBody>
        </p:sp>
        <p:sp>
          <p:nvSpPr>
            <p:cNvPr id="19575" name="AutoShape 44"/>
            <p:cNvSpPr>
              <a:spLocks noChangeArrowheads="1"/>
            </p:cNvSpPr>
            <p:nvPr/>
          </p:nvSpPr>
          <p:spPr bwMode="auto">
            <a:xfrm>
              <a:off x="6227763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76" name="AutoShape 45"/>
            <p:cNvSpPr>
              <a:spLocks noChangeArrowheads="1"/>
            </p:cNvSpPr>
            <p:nvPr/>
          </p:nvSpPr>
          <p:spPr bwMode="auto">
            <a:xfrm>
              <a:off x="6948488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52" name="Прямая соединительная линия 151"/>
            <p:cNvCxnSpPr/>
            <p:nvPr/>
          </p:nvCxnSpPr>
          <p:spPr>
            <a:xfrm flipH="1">
              <a:off x="6581775" y="2989263"/>
              <a:ext cx="322263" cy="1889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/>
            <p:nvPr/>
          </p:nvCxnSpPr>
          <p:spPr>
            <a:xfrm>
              <a:off x="7007225" y="2989263"/>
              <a:ext cx="265113" cy="2016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79" name="Text Box 6"/>
            <p:cNvSpPr txBox="1">
              <a:spLocks noChangeArrowheads="1"/>
            </p:cNvSpPr>
            <p:nvPr/>
          </p:nvSpPr>
          <p:spPr bwMode="auto">
            <a:xfrm>
              <a:off x="6294438" y="3302000"/>
              <a:ext cx="574675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80" name="Text Box 6"/>
            <p:cNvSpPr txBox="1">
              <a:spLocks noChangeArrowheads="1"/>
            </p:cNvSpPr>
            <p:nvPr/>
          </p:nvSpPr>
          <p:spPr bwMode="auto">
            <a:xfrm>
              <a:off x="7007225" y="3313113"/>
              <a:ext cx="503238" cy="185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</p:grpSp>
      <p:grpSp>
        <p:nvGrpSpPr>
          <p:cNvPr id="16" name="Группа 13"/>
          <p:cNvGrpSpPr>
            <a:grpSpLocks/>
          </p:cNvGrpSpPr>
          <p:nvPr/>
        </p:nvGrpSpPr>
        <p:grpSpPr bwMode="auto">
          <a:xfrm>
            <a:off x="7704138" y="2646363"/>
            <a:ext cx="1439862" cy="927100"/>
            <a:chOff x="7704138" y="2646363"/>
            <a:chExt cx="1439862" cy="927100"/>
          </a:xfrm>
        </p:grpSpPr>
        <p:sp>
          <p:nvSpPr>
            <p:cNvPr id="19567" name="Text Box 20"/>
            <p:cNvSpPr txBox="1">
              <a:spLocks noChangeArrowheads="1"/>
            </p:cNvSpPr>
            <p:nvPr/>
          </p:nvSpPr>
          <p:spPr bwMode="auto">
            <a:xfrm>
              <a:off x="7931150" y="2646363"/>
              <a:ext cx="720725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полка</a:t>
              </a:r>
            </a:p>
          </p:txBody>
        </p:sp>
        <p:sp>
          <p:nvSpPr>
            <p:cNvPr id="19568" name="AutoShape 46"/>
            <p:cNvSpPr>
              <a:spLocks noChangeArrowheads="1"/>
            </p:cNvSpPr>
            <p:nvPr/>
          </p:nvSpPr>
          <p:spPr bwMode="auto">
            <a:xfrm>
              <a:off x="7704138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69" name="AutoShape 47"/>
            <p:cNvSpPr>
              <a:spLocks noChangeArrowheads="1"/>
            </p:cNvSpPr>
            <p:nvPr/>
          </p:nvSpPr>
          <p:spPr bwMode="auto">
            <a:xfrm>
              <a:off x="8494713" y="3213100"/>
              <a:ext cx="649287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154" name="Прямая соединительная линия 153"/>
            <p:cNvCxnSpPr/>
            <p:nvPr/>
          </p:nvCxnSpPr>
          <p:spPr>
            <a:xfrm>
              <a:off x="8435975" y="2990850"/>
              <a:ext cx="266700" cy="201613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/>
            <p:nvPr/>
          </p:nvCxnSpPr>
          <p:spPr>
            <a:xfrm flipH="1">
              <a:off x="7929563" y="2990850"/>
              <a:ext cx="322262" cy="188913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72" name="Text Box 6"/>
            <p:cNvSpPr txBox="1">
              <a:spLocks noChangeArrowheads="1"/>
            </p:cNvSpPr>
            <p:nvPr/>
          </p:nvSpPr>
          <p:spPr bwMode="auto">
            <a:xfrm>
              <a:off x="7742238" y="3302000"/>
              <a:ext cx="573087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73" name="Text Box 6"/>
            <p:cNvSpPr txBox="1">
              <a:spLocks noChangeArrowheads="1"/>
            </p:cNvSpPr>
            <p:nvPr/>
          </p:nvSpPr>
          <p:spPr bwMode="auto">
            <a:xfrm>
              <a:off x="8569325" y="3322638"/>
              <a:ext cx="501650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</p:grpSp>
      <p:grpSp>
        <p:nvGrpSpPr>
          <p:cNvPr id="17" name="Группа 36"/>
          <p:cNvGrpSpPr>
            <a:grpSpLocks/>
          </p:cNvGrpSpPr>
          <p:nvPr/>
        </p:nvGrpSpPr>
        <p:grpSpPr bwMode="auto">
          <a:xfrm>
            <a:off x="214313" y="4976813"/>
            <a:ext cx="4035425" cy="1852612"/>
            <a:chOff x="214313" y="4976813"/>
            <a:chExt cx="4035425" cy="1852612"/>
          </a:xfrm>
        </p:grpSpPr>
        <p:sp>
          <p:nvSpPr>
            <p:cNvPr id="19556" name="AutoShape 52"/>
            <p:cNvSpPr>
              <a:spLocks noChangeArrowheads="1"/>
            </p:cNvSpPr>
            <p:nvPr/>
          </p:nvSpPr>
          <p:spPr bwMode="auto">
            <a:xfrm>
              <a:off x="753269" y="5087938"/>
              <a:ext cx="1296988" cy="782637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57" name="Text Box 11"/>
            <p:cNvSpPr txBox="1">
              <a:spLocks noChangeArrowheads="1"/>
            </p:cNvSpPr>
            <p:nvPr/>
          </p:nvSpPr>
          <p:spPr bwMode="auto">
            <a:xfrm>
              <a:off x="1077913" y="6067425"/>
              <a:ext cx="647700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стул</a:t>
              </a:r>
            </a:p>
          </p:txBody>
        </p:sp>
        <p:sp>
          <p:nvSpPr>
            <p:cNvPr id="19558" name="AutoShape 34"/>
            <p:cNvSpPr>
              <a:spLocks noChangeArrowheads="1"/>
            </p:cNvSpPr>
            <p:nvPr/>
          </p:nvSpPr>
          <p:spPr bwMode="auto">
            <a:xfrm>
              <a:off x="214313" y="6438900"/>
              <a:ext cx="650875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59" name="AutoShape 34"/>
            <p:cNvSpPr>
              <a:spLocks noChangeArrowheads="1"/>
            </p:cNvSpPr>
            <p:nvPr/>
          </p:nvSpPr>
          <p:spPr bwMode="auto">
            <a:xfrm>
              <a:off x="1022350" y="6469063"/>
              <a:ext cx="596900" cy="36036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60" name="AutoShape 34"/>
            <p:cNvSpPr>
              <a:spLocks noChangeArrowheads="1"/>
            </p:cNvSpPr>
            <p:nvPr/>
          </p:nvSpPr>
          <p:spPr bwMode="auto">
            <a:xfrm>
              <a:off x="1792288" y="6467475"/>
              <a:ext cx="542925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61" name="Text Box 8"/>
            <p:cNvSpPr txBox="1">
              <a:spLocks noChangeArrowheads="1"/>
            </p:cNvSpPr>
            <p:nvPr/>
          </p:nvSpPr>
          <p:spPr bwMode="auto">
            <a:xfrm>
              <a:off x="1082675" y="5159375"/>
              <a:ext cx="792163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/>
                <a:t>Имеет в составе стулья</a:t>
              </a:r>
            </a:p>
          </p:txBody>
        </p:sp>
        <p:sp>
          <p:nvSpPr>
            <p:cNvPr id="19562" name="Text Box 6"/>
            <p:cNvSpPr txBox="1">
              <a:spLocks noChangeArrowheads="1"/>
            </p:cNvSpPr>
            <p:nvPr/>
          </p:nvSpPr>
          <p:spPr bwMode="auto">
            <a:xfrm>
              <a:off x="295275" y="6526213"/>
              <a:ext cx="533400" cy="185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u="sng"/>
                <a:t>индекс</a:t>
              </a:r>
            </a:p>
          </p:txBody>
        </p:sp>
        <p:sp>
          <p:nvSpPr>
            <p:cNvPr id="19563" name="Text Box 6"/>
            <p:cNvSpPr txBox="1">
              <a:spLocks noChangeArrowheads="1"/>
            </p:cNvSpPr>
            <p:nvPr/>
          </p:nvSpPr>
          <p:spPr bwMode="auto">
            <a:xfrm>
              <a:off x="1068388" y="6554788"/>
              <a:ext cx="503237" cy="185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цена</a:t>
              </a:r>
            </a:p>
          </p:txBody>
        </p:sp>
        <p:sp>
          <p:nvSpPr>
            <p:cNvPr id="19564" name="Text Box 6"/>
            <p:cNvSpPr txBox="1">
              <a:spLocks noChangeArrowheads="1"/>
            </p:cNvSpPr>
            <p:nvPr/>
          </p:nvSpPr>
          <p:spPr bwMode="auto">
            <a:xfrm>
              <a:off x="1801813" y="6540500"/>
              <a:ext cx="503237" cy="18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/>
                <a:t>кол.</a:t>
              </a:r>
            </a:p>
          </p:txBody>
        </p:sp>
        <p:cxnSp>
          <p:nvCxnSpPr>
            <p:cNvPr id="177" name="Прямая со стрелкой 176"/>
            <p:cNvCxnSpPr/>
            <p:nvPr/>
          </p:nvCxnSpPr>
          <p:spPr>
            <a:xfrm flipH="1">
              <a:off x="1438275" y="4976813"/>
              <a:ext cx="2811463" cy="111125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Прямая со стрелкой 185"/>
            <p:cNvCxnSpPr>
              <a:stCxn id="19556" idx="2"/>
              <a:endCxn id="19557" idx="0"/>
            </p:cNvCxnSpPr>
            <p:nvPr/>
          </p:nvCxnSpPr>
          <p:spPr>
            <a:xfrm>
              <a:off x="1401763" y="5870575"/>
              <a:ext cx="0" cy="196850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40"/>
          <p:cNvGrpSpPr>
            <a:grpSpLocks/>
          </p:cNvGrpSpPr>
          <p:nvPr/>
        </p:nvGrpSpPr>
        <p:grpSpPr bwMode="auto">
          <a:xfrm>
            <a:off x="2773363" y="4967288"/>
            <a:ext cx="1943100" cy="1866900"/>
            <a:chOff x="2773760" y="4967288"/>
            <a:chExt cx="1943100" cy="1867475"/>
          </a:xfrm>
        </p:grpSpPr>
        <p:sp>
          <p:nvSpPr>
            <p:cNvPr id="19542" name="AutoShape 53"/>
            <p:cNvSpPr>
              <a:spLocks noChangeArrowheads="1"/>
            </p:cNvSpPr>
            <p:nvPr/>
          </p:nvSpPr>
          <p:spPr bwMode="auto">
            <a:xfrm>
              <a:off x="3094038" y="5118100"/>
              <a:ext cx="1296987" cy="752475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43" name="Text Box 13"/>
            <p:cNvSpPr txBox="1">
              <a:spLocks noChangeArrowheads="1"/>
            </p:cNvSpPr>
            <p:nvPr/>
          </p:nvSpPr>
          <p:spPr bwMode="auto">
            <a:xfrm>
              <a:off x="3424238" y="6067425"/>
              <a:ext cx="647700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стол</a:t>
              </a:r>
            </a:p>
          </p:txBody>
        </p:sp>
        <p:sp>
          <p:nvSpPr>
            <p:cNvPr id="19544" name="Text Box 9"/>
            <p:cNvSpPr txBox="1">
              <a:spLocks noChangeArrowheads="1"/>
            </p:cNvSpPr>
            <p:nvPr/>
          </p:nvSpPr>
          <p:spPr bwMode="auto">
            <a:xfrm>
              <a:off x="3408537" y="5174456"/>
              <a:ext cx="792163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/>
                <a:t>Имеет в составе столы</a:t>
              </a:r>
            </a:p>
          </p:txBody>
        </p:sp>
        <p:cxnSp>
          <p:nvCxnSpPr>
            <p:cNvPr id="180" name="Прямая со стрелкой 179"/>
            <p:cNvCxnSpPr/>
            <p:nvPr/>
          </p:nvCxnSpPr>
          <p:spPr>
            <a:xfrm flipH="1">
              <a:off x="3742135" y="4967288"/>
              <a:ext cx="549275" cy="150858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Прямая со стрелкой 187"/>
            <p:cNvCxnSpPr/>
            <p:nvPr/>
          </p:nvCxnSpPr>
          <p:spPr>
            <a:xfrm>
              <a:off x="3742135" y="5870853"/>
              <a:ext cx="6350" cy="196911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Группа 39"/>
            <p:cNvGrpSpPr>
              <a:grpSpLocks/>
            </p:cNvGrpSpPr>
            <p:nvPr/>
          </p:nvGrpSpPr>
          <p:grpSpPr bwMode="auto">
            <a:xfrm>
              <a:off x="2773760" y="6445567"/>
              <a:ext cx="1943100" cy="389196"/>
              <a:chOff x="2773760" y="6445567"/>
              <a:chExt cx="1943100" cy="389196"/>
            </a:xfrm>
          </p:grpSpPr>
          <p:grpSp>
            <p:nvGrpSpPr>
              <p:cNvPr id="20" name="Группа 59"/>
              <p:cNvGrpSpPr>
                <a:grpSpLocks/>
              </p:cNvGrpSpPr>
              <p:nvPr/>
            </p:nvGrpSpPr>
            <p:grpSpPr bwMode="auto">
              <a:xfrm>
                <a:off x="2773760" y="6445567"/>
                <a:ext cx="1943100" cy="389196"/>
                <a:chOff x="2915444" y="6468542"/>
                <a:chExt cx="1942816" cy="389458"/>
              </a:xfrm>
            </p:grpSpPr>
            <p:grpSp>
              <p:nvGrpSpPr>
                <p:cNvPr id="21" name="Группа 58"/>
                <p:cNvGrpSpPr>
                  <a:grpSpLocks/>
                </p:cNvGrpSpPr>
                <p:nvPr/>
              </p:nvGrpSpPr>
              <p:grpSpPr bwMode="auto">
                <a:xfrm>
                  <a:off x="2915444" y="6494785"/>
                  <a:ext cx="1333500" cy="363215"/>
                  <a:chOff x="2915444" y="6494785"/>
                  <a:chExt cx="1404938" cy="363215"/>
                </a:xfrm>
              </p:grpSpPr>
              <p:sp>
                <p:nvSpPr>
                  <p:cNvPr id="19554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2915444" y="6494785"/>
                    <a:ext cx="649288" cy="360363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19555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3671094" y="6497637"/>
                    <a:ext cx="649288" cy="360363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9553" name="AutoShape 34"/>
                <p:cNvSpPr>
                  <a:spLocks noChangeArrowheads="1"/>
                </p:cNvSpPr>
                <p:nvPr/>
              </p:nvSpPr>
              <p:spPr bwMode="auto">
                <a:xfrm>
                  <a:off x="4353356" y="6468542"/>
                  <a:ext cx="504904" cy="386606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</p:grpSp>
          <p:sp>
            <p:nvSpPr>
              <p:cNvPr id="19549" name="Text Box 6"/>
              <p:cNvSpPr txBox="1">
                <a:spLocks noChangeArrowheads="1"/>
              </p:cNvSpPr>
              <p:nvPr/>
            </p:nvSpPr>
            <p:spPr bwMode="auto">
              <a:xfrm>
                <a:off x="2798969" y="6565779"/>
                <a:ext cx="533400" cy="185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200" b="1" u="sng"/>
                  <a:t>индекс</a:t>
                </a:r>
              </a:p>
            </p:txBody>
          </p:sp>
          <p:sp>
            <p:nvSpPr>
              <p:cNvPr id="19550" name="Text Box 6"/>
              <p:cNvSpPr txBox="1">
                <a:spLocks noChangeArrowheads="1"/>
              </p:cNvSpPr>
              <p:nvPr/>
            </p:nvSpPr>
            <p:spPr bwMode="auto">
              <a:xfrm>
                <a:off x="3539616" y="6554787"/>
                <a:ext cx="503237" cy="185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1200" b="1"/>
                  <a:t>цена</a:t>
                </a:r>
              </a:p>
            </p:txBody>
          </p:sp>
          <p:sp>
            <p:nvSpPr>
              <p:cNvPr id="19551" name="Text Box 6"/>
              <p:cNvSpPr txBox="1">
                <a:spLocks noChangeArrowheads="1"/>
              </p:cNvSpPr>
              <p:nvPr/>
            </p:nvSpPr>
            <p:spPr bwMode="auto">
              <a:xfrm>
                <a:off x="4213623" y="6547544"/>
                <a:ext cx="503237" cy="184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1200" b="1"/>
                  <a:t>кол.</a:t>
                </a:r>
              </a:p>
            </p:txBody>
          </p:sp>
        </p:grpSp>
      </p:grpSp>
      <p:grpSp>
        <p:nvGrpSpPr>
          <p:cNvPr id="22" name="Группа 41"/>
          <p:cNvGrpSpPr>
            <a:grpSpLocks/>
          </p:cNvGrpSpPr>
          <p:nvPr/>
        </p:nvGrpSpPr>
        <p:grpSpPr bwMode="auto">
          <a:xfrm>
            <a:off x="5000625" y="4976813"/>
            <a:ext cx="1943100" cy="1860550"/>
            <a:chOff x="5000498" y="4976813"/>
            <a:chExt cx="1943100" cy="1860046"/>
          </a:xfrm>
        </p:grpSpPr>
        <p:sp>
          <p:nvSpPr>
            <p:cNvPr id="19528" name="AutoShape 54"/>
            <p:cNvSpPr>
              <a:spLocks noChangeArrowheads="1"/>
            </p:cNvSpPr>
            <p:nvPr/>
          </p:nvSpPr>
          <p:spPr bwMode="auto">
            <a:xfrm>
              <a:off x="5192713" y="5087938"/>
              <a:ext cx="1296987" cy="782637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29" name="Text Box 14"/>
            <p:cNvSpPr txBox="1">
              <a:spLocks noChangeArrowheads="1"/>
            </p:cNvSpPr>
            <p:nvPr/>
          </p:nvSpPr>
          <p:spPr bwMode="auto">
            <a:xfrm>
              <a:off x="5488781" y="6085413"/>
              <a:ext cx="720725" cy="333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шкаф</a:t>
              </a:r>
            </a:p>
          </p:txBody>
        </p:sp>
        <p:sp>
          <p:nvSpPr>
            <p:cNvPr id="19530" name="Text Box 10"/>
            <p:cNvSpPr txBox="1">
              <a:spLocks noChangeArrowheads="1"/>
            </p:cNvSpPr>
            <p:nvPr/>
          </p:nvSpPr>
          <p:spPr bwMode="auto">
            <a:xfrm>
              <a:off x="5461000" y="5150713"/>
              <a:ext cx="792163" cy="63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/>
                <a:t>Имеет в составе шкафы</a:t>
              </a:r>
            </a:p>
          </p:txBody>
        </p:sp>
        <p:cxnSp>
          <p:nvCxnSpPr>
            <p:cNvPr id="184" name="Прямая со стрелкой 183"/>
            <p:cNvCxnSpPr>
              <a:endCxn id="19528" idx="0"/>
            </p:cNvCxnSpPr>
            <p:nvPr/>
          </p:nvCxnSpPr>
          <p:spPr>
            <a:xfrm>
              <a:off x="5511673" y="4976813"/>
              <a:ext cx="330200" cy="111095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Прямая со стрелкой 188"/>
            <p:cNvCxnSpPr>
              <a:stCxn id="19528" idx="2"/>
              <a:endCxn id="19529" idx="0"/>
            </p:cNvCxnSpPr>
            <p:nvPr/>
          </p:nvCxnSpPr>
          <p:spPr>
            <a:xfrm>
              <a:off x="5841873" y="5870333"/>
              <a:ext cx="7938" cy="215842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Группа 195"/>
            <p:cNvGrpSpPr>
              <a:grpSpLocks/>
            </p:cNvGrpSpPr>
            <p:nvPr/>
          </p:nvGrpSpPr>
          <p:grpSpPr bwMode="auto">
            <a:xfrm>
              <a:off x="5000498" y="6447663"/>
              <a:ext cx="1943100" cy="389196"/>
              <a:chOff x="2773760" y="6445567"/>
              <a:chExt cx="1943100" cy="389196"/>
            </a:xfrm>
          </p:grpSpPr>
          <p:grpSp>
            <p:nvGrpSpPr>
              <p:cNvPr id="24" name="Группа 59"/>
              <p:cNvGrpSpPr>
                <a:grpSpLocks/>
              </p:cNvGrpSpPr>
              <p:nvPr/>
            </p:nvGrpSpPr>
            <p:grpSpPr bwMode="auto">
              <a:xfrm>
                <a:off x="2773760" y="6445567"/>
                <a:ext cx="1943100" cy="389196"/>
                <a:chOff x="2915444" y="6468542"/>
                <a:chExt cx="1942816" cy="389458"/>
              </a:xfrm>
            </p:grpSpPr>
            <p:grpSp>
              <p:nvGrpSpPr>
                <p:cNvPr id="25" name="Группа 58"/>
                <p:cNvGrpSpPr>
                  <a:grpSpLocks/>
                </p:cNvGrpSpPr>
                <p:nvPr/>
              </p:nvGrpSpPr>
              <p:grpSpPr bwMode="auto">
                <a:xfrm>
                  <a:off x="2915444" y="6494785"/>
                  <a:ext cx="1333500" cy="363215"/>
                  <a:chOff x="2915444" y="6494785"/>
                  <a:chExt cx="1404938" cy="363215"/>
                </a:xfrm>
              </p:grpSpPr>
              <p:sp>
                <p:nvSpPr>
                  <p:cNvPr id="19540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2915444" y="6494785"/>
                    <a:ext cx="649288" cy="360363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19541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3671094" y="6497637"/>
                    <a:ext cx="649288" cy="360363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9539" name="AutoShape 34"/>
                <p:cNvSpPr>
                  <a:spLocks noChangeArrowheads="1"/>
                </p:cNvSpPr>
                <p:nvPr/>
              </p:nvSpPr>
              <p:spPr bwMode="auto">
                <a:xfrm>
                  <a:off x="4353356" y="6468542"/>
                  <a:ext cx="504904" cy="386606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</p:grpSp>
          <p:sp>
            <p:nvSpPr>
              <p:cNvPr id="19535" name="Text Box 6"/>
              <p:cNvSpPr txBox="1">
                <a:spLocks noChangeArrowheads="1"/>
              </p:cNvSpPr>
              <p:nvPr/>
            </p:nvSpPr>
            <p:spPr bwMode="auto">
              <a:xfrm>
                <a:off x="2798969" y="6565779"/>
                <a:ext cx="533400" cy="185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200" b="1" u="sng"/>
                  <a:t>индекс</a:t>
                </a:r>
              </a:p>
            </p:txBody>
          </p:sp>
          <p:sp>
            <p:nvSpPr>
              <p:cNvPr id="19536" name="Text Box 6"/>
              <p:cNvSpPr txBox="1">
                <a:spLocks noChangeArrowheads="1"/>
              </p:cNvSpPr>
              <p:nvPr/>
            </p:nvSpPr>
            <p:spPr bwMode="auto">
              <a:xfrm>
                <a:off x="3539616" y="6554787"/>
                <a:ext cx="503237" cy="185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1200" b="1"/>
                  <a:t>цена</a:t>
                </a:r>
              </a:p>
            </p:txBody>
          </p:sp>
          <p:sp>
            <p:nvSpPr>
              <p:cNvPr id="19537" name="Text Box 6"/>
              <p:cNvSpPr txBox="1">
                <a:spLocks noChangeArrowheads="1"/>
              </p:cNvSpPr>
              <p:nvPr/>
            </p:nvSpPr>
            <p:spPr bwMode="auto">
              <a:xfrm>
                <a:off x="4213623" y="6547544"/>
                <a:ext cx="503237" cy="184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1200" b="1"/>
                  <a:t>кол.</a:t>
                </a:r>
              </a:p>
            </p:txBody>
          </p:sp>
        </p:grpSp>
      </p:grpSp>
      <p:grpSp>
        <p:nvGrpSpPr>
          <p:cNvPr id="26" name="Группа 42"/>
          <p:cNvGrpSpPr>
            <a:grpSpLocks/>
          </p:cNvGrpSpPr>
          <p:nvPr/>
        </p:nvGrpSpPr>
        <p:grpSpPr bwMode="auto">
          <a:xfrm>
            <a:off x="5540375" y="4967288"/>
            <a:ext cx="3522663" cy="1836737"/>
            <a:chOff x="5540375" y="4967288"/>
            <a:chExt cx="3521869" cy="1836964"/>
          </a:xfrm>
        </p:grpSpPr>
        <p:sp>
          <p:nvSpPr>
            <p:cNvPr id="19514" name="AutoShape 55"/>
            <p:cNvSpPr>
              <a:spLocks noChangeArrowheads="1"/>
            </p:cNvSpPr>
            <p:nvPr/>
          </p:nvSpPr>
          <p:spPr bwMode="auto">
            <a:xfrm>
              <a:off x="7451725" y="5084763"/>
              <a:ext cx="1296988" cy="785812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9515" name="Text Box 20"/>
            <p:cNvSpPr txBox="1">
              <a:spLocks noChangeArrowheads="1"/>
            </p:cNvSpPr>
            <p:nvPr/>
          </p:nvSpPr>
          <p:spPr bwMode="auto">
            <a:xfrm>
              <a:off x="7715250" y="6067425"/>
              <a:ext cx="750888" cy="3079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400"/>
                <a:t>полка</a:t>
              </a:r>
            </a:p>
          </p:txBody>
        </p:sp>
        <p:sp>
          <p:nvSpPr>
            <p:cNvPr id="19516" name="Text Box 17"/>
            <p:cNvSpPr txBox="1">
              <a:spLocks noChangeArrowheads="1"/>
            </p:cNvSpPr>
            <p:nvPr/>
          </p:nvSpPr>
          <p:spPr bwMode="auto">
            <a:xfrm>
              <a:off x="7727950" y="5197475"/>
              <a:ext cx="792163" cy="63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/>
                <a:t>Имеет в составе полки</a:t>
              </a:r>
            </a:p>
          </p:txBody>
        </p:sp>
        <p:cxnSp>
          <p:nvCxnSpPr>
            <p:cNvPr id="182" name="Прямая со стрелкой 181"/>
            <p:cNvCxnSpPr>
              <a:endCxn id="19514" idx="0"/>
            </p:cNvCxnSpPr>
            <p:nvPr/>
          </p:nvCxnSpPr>
          <p:spPr>
            <a:xfrm>
              <a:off x="5540375" y="4967288"/>
              <a:ext cx="2560061" cy="117490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Прямая со стрелкой 189"/>
            <p:cNvCxnSpPr/>
            <p:nvPr/>
          </p:nvCxnSpPr>
          <p:spPr>
            <a:xfrm>
              <a:off x="8090913" y="5870687"/>
              <a:ext cx="1587" cy="168296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Группа 204"/>
            <p:cNvGrpSpPr>
              <a:grpSpLocks/>
            </p:cNvGrpSpPr>
            <p:nvPr/>
          </p:nvGrpSpPr>
          <p:grpSpPr bwMode="auto">
            <a:xfrm>
              <a:off x="7119144" y="6415056"/>
              <a:ext cx="1943100" cy="389196"/>
              <a:chOff x="2773760" y="6445567"/>
              <a:chExt cx="1943100" cy="389196"/>
            </a:xfrm>
          </p:grpSpPr>
          <p:grpSp>
            <p:nvGrpSpPr>
              <p:cNvPr id="28" name="Группа 59"/>
              <p:cNvGrpSpPr>
                <a:grpSpLocks/>
              </p:cNvGrpSpPr>
              <p:nvPr/>
            </p:nvGrpSpPr>
            <p:grpSpPr bwMode="auto">
              <a:xfrm>
                <a:off x="2773760" y="6445567"/>
                <a:ext cx="1943100" cy="389196"/>
                <a:chOff x="2915444" y="6468542"/>
                <a:chExt cx="1942816" cy="389458"/>
              </a:xfrm>
            </p:grpSpPr>
            <p:grpSp>
              <p:nvGrpSpPr>
                <p:cNvPr id="29" name="Группа 58"/>
                <p:cNvGrpSpPr>
                  <a:grpSpLocks/>
                </p:cNvGrpSpPr>
                <p:nvPr/>
              </p:nvGrpSpPr>
              <p:grpSpPr bwMode="auto">
                <a:xfrm>
                  <a:off x="2915444" y="6494785"/>
                  <a:ext cx="1333500" cy="363215"/>
                  <a:chOff x="2915444" y="6494785"/>
                  <a:chExt cx="1404938" cy="363215"/>
                </a:xfrm>
              </p:grpSpPr>
              <p:sp>
                <p:nvSpPr>
                  <p:cNvPr id="19526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2915444" y="6494785"/>
                    <a:ext cx="649288" cy="360363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19527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3671094" y="6497637"/>
                    <a:ext cx="649288" cy="360363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19525" name="AutoShape 34"/>
                <p:cNvSpPr>
                  <a:spLocks noChangeArrowheads="1"/>
                </p:cNvSpPr>
                <p:nvPr/>
              </p:nvSpPr>
              <p:spPr bwMode="auto">
                <a:xfrm>
                  <a:off x="4353356" y="6468542"/>
                  <a:ext cx="504904" cy="386606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</p:grpSp>
          <p:sp>
            <p:nvSpPr>
              <p:cNvPr id="19521" name="Text Box 6"/>
              <p:cNvSpPr txBox="1">
                <a:spLocks noChangeArrowheads="1"/>
              </p:cNvSpPr>
              <p:nvPr/>
            </p:nvSpPr>
            <p:spPr bwMode="auto">
              <a:xfrm>
                <a:off x="2798969" y="6565779"/>
                <a:ext cx="533400" cy="185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200" b="1" u="sng"/>
                  <a:t>индекс</a:t>
                </a:r>
              </a:p>
            </p:txBody>
          </p:sp>
          <p:sp>
            <p:nvSpPr>
              <p:cNvPr id="19522" name="Text Box 6"/>
              <p:cNvSpPr txBox="1">
                <a:spLocks noChangeArrowheads="1"/>
              </p:cNvSpPr>
              <p:nvPr/>
            </p:nvSpPr>
            <p:spPr bwMode="auto">
              <a:xfrm>
                <a:off x="3539616" y="6554787"/>
                <a:ext cx="503237" cy="185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1200" b="1"/>
                  <a:t>цена</a:t>
                </a:r>
              </a:p>
            </p:txBody>
          </p:sp>
          <p:sp>
            <p:nvSpPr>
              <p:cNvPr id="19523" name="Text Box 6"/>
              <p:cNvSpPr txBox="1">
                <a:spLocks noChangeArrowheads="1"/>
              </p:cNvSpPr>
              <p:nvPr/>
            </p:nvSpPr>
            <p:spPr bwMode="auto">
              <a:xfrm>
                <a:off x="4213623" y="6547544"/>
                <a:ext cx="503237" cy="184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1200" b="1"/>
                  <a:t>кол.</a:t>
                </a:r>
              </a:p>
            </p:txBody>
          </p:sp>
        </p:grpSp>
      </p:grpSp>
      <p:sp>
        <p:nvSpPr>
          <p:cNvPr id="19513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04250" y="5957888"/>
            <a:ext cx="490538" cy="41751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598FEAF-8353-4E28-840F-D2BE1ED3AC9C}" type="slidenum">
              <a:rPr lang="ru-RU" smtClean="0"/>
              <a:pPr/>
              <a:t>25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8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5" grpId="0" animBg="1"/>
      <p:bldP spid="18436" grpId="0"/>
      <p:bldP spid="18437" grpId="0"/>
      <p:bldP spid="18441" grpId="0" animBg="1"/>
      <p:bldP spid="18442" grpId="0" animBg="1"/>
      <p:bldP spid="18443" grpId="0" animBg="1"/>
      <p:bldP spid="18450" grpId="0"/>
      <p:bldP spid="18451" grpId="0"/>
      <p:bldP spid="18452" grpId="0"/>
      <p:bldP spid="18459" grpId="0" animBg="1"/>
      <p:bldP spid="18460" grpId="0" animBg="1"/>
      <p:bldP spid="18461" grpId="0" animBg="1"/>
      <p:bldP spid="18462" grpId="0" animBg="1"/>
      <p:bldP spid="18463" grpId="0" animBg="1"/>
      <p:bldP spid="18464" grpId="0" animBg="1"/>
      <p:bldP spid="18465" grpId="0" animBg="1"/>
      <p:bldP spid="18466" grpId="0" animBg="1"/>
      <p:bldP spid="18467" grpId="0" animBg="1"/>
      <p:bldP spid="18468" grpId="0" animBg="1"/>
      <p:bldP spid="18469" grpId="0" animBg="1"/>
      <p:bldP spid="18477" grpId="0" animBg="1"/>
      <p:bldP spid="18515" grpId="0"/>
      <p:bldP spid="18516" grpId="0"/>
      <p:bldP spid="18517" grpId="0"/>
      <p:bldP spid="18518" grpId="0"/>
      <p:bldP spid="18519" grpId="0"/>
      <p:bldP spid="185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50850"/>
          </a:xfrm>
        </p:spPr>
        <p:txBody>
          <a:bodyPr/>
          <a:lstStyle/>
          <a:p>
            <a:pPr algn="ctr"/>
            <a:r>
              <a:rPr lang="ru-RU" sz="4000" smtClean="0">
                <a:solidFill>
                  <a:schemeClr val="bg2"/>
                </a:solidFill>
              </a:rPr>
              <a:t>Обобщение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125" y="1196975"/>
            <a:ext cx="8882063" cy="51847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800" dirty="0" smtClean="0"/>
              <a:t>Обобщение – это абстракция данных, позволяющая трактовать </a:t>
            </a:r>
            <a:r>
              <a:rPr lang="ru-RU" sz="2800" b="1" dirty="0" smtClean="0"/>
              <a:t>класс объектов</a:t>
            </a:r>
            <a:r>
              <a:rPr lang="ru-RU" sz="2800" dirty="0" smtClean="0"/>
              <a:t> как </a:t>
            </a:r>
            <a:r>
              <a:rPr lang="ru-RU" sz="2800" b="1" dirty="0" smtClean="0"/>
              <a:t>ОДИН объект</a:t>
            </a:r>
            <a:endParaRPr lang="en-US" sz="2800" b="1" dirty="0" smtClean="0"/>
          </a:p>
          <a:p>
            <a:pPr>
              <a:lnSpc>
                <a:spcPct val="90000"/>
              </a:lnSpc>
            </a:pPr>
            <a:r>
              <a:rPr lang="ru-RU" sz="2800" dirty="0" smtClean="0"/>
              <a:t>При агрегации </a:t>
            </a:r>
            <a:r>
              <a:rPr lang="ru-RU" sz="2800" b="1" dirty="0" smtClean="0"/>
              <a:t>части соединяются в целое</a:t>
            </a:r>
            <a:endParaRPr lang="ru-RU" sz="2800" dirty="0" smtClean="0"/>
          </a:p>
          <a:p>
            <a:pPr>
              <a:lnSpc>
                <a:spcPct val="90000"/>
              </a:lnSpc>
            </a:pPr>
            <a:r>
              <a:rPr lang="ru-RU" sz="2800" dirty="0" smtClean="0"/>
              <a:t>Обобщение фиксирует </a:t>
            </a:r>
            <a:r>
              <a:rPr lang="ru-RU" sz="2800" b="1" dirty="0" smtClean="0"/>
              <a:t>РОДО-ВИДОВЫЕ отношения</a:t>
            </a:r>
          </a:p>
          <a:p>
            <a:pPr>
              <a:lnSpc>
                <a:spcPct val="90000"/>
              </a:lnSpc>
            </a:pPr>
            <a:r>
              <a:rPr lang="ru-RU" sz="2800" b="1" dirty="0" smtClean="0"/>
              <a:t>ВИД</a:t>
            </a:r>
            <a:r>
              <a:rPr lang="ru-RU" sz="2800" dirty="0" smtClean="0"/>
              <a:t> есть </a:t>
            </a:r>
            <a:r>
              <a:rPr lang="ru-RU" sz="2800" b="1" dirty="0" smtClean="0"/>
              <a:t>РОД</a:t>
            </a:r>
            <a:r>
              <a:rPr lang="ru-RU" sz="2800" dirty="0" smtClean="0"/>
              <a:t> в совокупности с видовым отличием</a:t>
            </a:r>
          </a:p>
          <a:p>
            <a:pPr>
              <a:lnSpc>
                <a:spcPct val="90000"/>
              </a:lnSpc>
            </a:pPr>
            <a:endParaRPr lang="ru-RU" sz="2800" dirty="0" smtClean="0"/>
          </a:p>
          <a:p>
            <a:pPr>
              <a:lnSpc>
                <a:spcPct val="90000"/>
              </a:lnSpc>
            </a:pPr>
            <a:r>
              <a:rPr lang="ru-RU" sz="2000" dirty="0" smtClean="0"/>
              <a:t>Ваз 2109, Ваз 2101, Ваз 2107 = </a:t>
            </a:r>
            <a:r>
              <a:rPr lang="ru-RU" sz="2000" dirty="0" smtClean="0">
                <a:solidFill>
                  <a:srgbClr val="FF0066"/>
                </a:solidFill>
              </a:rPr>
              <a:t>Автомобили марки ВАЗ</a:t>
            </a:r>
          </a:p>
          <a:p>
            <a:pPr>
              <a:lnSpc>
                <a:spcPct val="90000"/>
              </a:lnSpc>
            </a:pPr>
            <a:r>
              <a:rPr lang="ru-RU" sz="2000" dirty="0" smtClean="0"/>
              <a:t>Автомобили марки ВАЗ, автомобили марки Хонда, … = </a:t>
            </a:r>
            <a:r>
              <a:rPr lang="ru-RU" sz="2000" dirty="0" smtClean="0">
                <a:solidFill>
                  <a:srgbClr val="FF0066"/>
                </a:solidFill>
              </a:rPr>
              <a:t>Автомобили</a:t>
            </a:r>
          </a:p>
          <a:p>
            <a:pPr>
              <a:lnSpc>
                <a:spcPct val="90000"/>
              </a:lnSpc>
            </a:pPr>
            <a:r>
              <a:rPr lang="ru-RU" sz="2000" dirty="0" smtClean="0"/>
              <a:t>Автомобиль, велосипед, мотоцикл, трактор = </a:t>
            </a:r>
            <a:r>
              <a:rPr lang="ru-RU" sz="2000" dirty="0" smtClean="0">
                <a:solidFill>
                  <a:srgbClr val="FF0066"/>
                </a:solidFill>
              </a:rPr>
              <a:t>Колесное средство передвижения </a:t>
            </a:r>
          </a:p>
        </p:txBody>
      </p:sp>
      <p:sp>
        <p:nvSpPr>
          <p:cNvPr id="1843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B9F7E90-FC76-4EBB-A556-A67983E9D0A5}" type="slidenum">
              <a:rPr lang="ru-RU" smtClean="0"/>
              <a:pPr/>
              <a:t>26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23875"/>
          </a:xfrm>
        </p:spPr>
        <p:txBody>
          <a:bodyPr/>
          <a:lstStyle/>
          <a:p>
            <a:pPr algn="ctr"/>
            <a:r>
              <a:rPr lang="ru-RU" sz="4000" smtClean="0"/>
              <a:t>Итоговая схема</a:t>
            </a:r>
          </a:p>
        </p:txBody>
      </p:sp>
      <p:sp>
        <p:nvSpPr>
          <p:cNvPr id="19459" name="Text Box 51"/>
          <p:cNvSpPr txBox="1">
            <a:spLocks noChangeArrowheads="1"/>
          </p:cNvSpPr>
          <p:nvPr/>
        </p:nvSpPr>
        <p:spPr bwMode="auto">
          <a:xfrm>
            <a:off x="3190875" y="2365375"/>
            <a:ext cx="1992313" cy="4619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/>
              <a:t>гарнитур</a:t>
            </a:r>
          </a:p>
        </p:txBody>
      </p:sp>
      <p:sp>
        <p:nvSpPr>
          <p:cNvPr id="19464" name="Text Box 22"/>
          <p:cNvSpPr txBox="1">
            <a:spLocks noChangeArrowheads="1"/>
          </p:cNvSpPr>
          <p:nvPr/>
        </p:nvSpPr>
        <p:spPr bwMode="auto">
          <a:xfrm>
            <a:off x="3324225" y="4465638"/>
            <a:ext cx="1582738" cy="3683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компонент</a:t>
            </a:r>
          </a:p>
        </p:txBody>
      </p:sp>
      <p:grpSp>
        <p:nvGrpSpPr>
          <p:cNvPr id="9" name="Группа 8"/>
          <p:cNvGrpSpPr>
            <a:grpSpLocks/>
          </p:cNvGrpSpPr>
          <p:nvPr/>
        </p:nvGrpSpPr>
        <p:grpSpPr bwMode="auto">
          <a:xfrm>
            <a:off x="3059113" y="2827338"/>
            <a:ext cx="2257425" cy="1646237"/>
            <a:chOff x="3059113" y="2827338"/>
            <a:chExt cx="2257425" cy="1646237"/>
          </a:xfrm>
        </p:grpSpPr>
        <p:sp>
          <p:nvSpPr>
            <p:cNvPr id="20519" name="AutoShape 52"/>
            <p:cNvSpPr>
              <a:spLocks noChangeArrowheads="1"/>
            </p:cNvSpPr>
            <p:nvPr/>
          </p:nvSpPr>
          <p:spPr bwMode="auto">
            <a:xfrm>
              <a:off x="3059113" y="3141663"/>
              <a:ext cx="2257425" cy="863600"/>
            </a:xfrm>
            <a:prstGeom prst="diamond">
              <a:avLst/>
            </a:prstGeom>
            <a:noFill/>
            <a:ln w="190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cxnSp>
          <p:nvCxnSpPr>
            <p:cNvPr id="36" name="Прямая со стрелкой 35"/>
            <p:cNvCxnSpPr/>
            <p:nvPr/>
          </p:nvCxnSpPr>
          <p:spPr>
            <a:xfrm flipH="1">
              <a:off x="4187825" y="4005263"/>
              <a:ext cx="0" cy="468312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>
              <a:stCxn id="19459" idx="2"/>
              <a:endCxn id="20519" idx="0"/>
            </p:cNvCxnSpPr>
            <p:nvPr/>
          </p:nvCxnSpPr>
          <p:spPr>
            <a:xfrm flipH="1">
              <a:off x="4187825" y="2827338"/>
              <a:ext cx="0" cy="314325"/>
            </a:xfrm>
            <a:prstGeom prst="straightConnector1">
              <a:avLst/>
            </a:prstGeom>
            <a:ln w="22225">
              <a:solidFill>
                <a:schemeClr val="bg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22" name="Text Box 9"/>
            <p:cNvSpPr txBox="1">
              <a:spLocks noChangeArrowheads="1"/>
            </p:cNvSpPr>
            <p:nvPr/>
          </p:nvSpPr>
          <p:spPr bwMode="auto">
            <a:xfrm>
              <a:off x="3516313" y="3341688"/>
              <a:ext cx="1487487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b="1">
                  <a:solidFill>
                    <a:srgbClr val="7030A0"/>
                  </a:solidFill>
                </a:rPr>
                <a:t>Имеет в составе компоненты</a:t>
              </a:r>
            </a:p>
          </p:txBody>
        </p:sp>
      </p:grpSp>
      <p:grpSp>
        <p:nvGrpSpPr>
          <p:cNvPr id="6" name="Группа 5"/>
          <p:cNvGrpSpPr>
            <a:grpSpLocks/>
          </p:cNvGrpSpPr>
          <p:nvPr/>
        </p:nvGrpSpPr>
        <p:grpSpPr bwMode="auto">
          <a:xfrm>
            <a:off x="1403350" y="1341438"/>
            <a:ext cx="6624638" cy="1023937"/>
            <a:chOff x="1403350" y="1341438"/>
            <a:chExt cx="6624638" cy="1023937"/>
          </a:xfrm>
        </p:grpSpPr>
        <p:grpSp>
          <p:nvGrpSpPr>
            <p:cNvPr id="20501" name="Группа 4"/>
            <p:cNvGrpSpPr>
              <a:grpSpLocks/>
            </p:cNvGrpSpPr>
            <p:nvPr/>
          </p:nvGrpSpPr>
          <p:grpSpPr bwMode="auto">
            <a:xfrm>
              <a:off x="1403350" y="1341438"/>
              <a:ext cx="6624638" cy="517525"/>
              <a:chOff x="1403350" y="1341438"/>
              <a:chExt cx="6624638" cy="517525"/>
            </a:xfrm>
          </p:grpSpPr>
          <p:grpSp>
            <p:nvGrpSpPr>
              <p:cNvPr id="20507" name="Группа 11"/>
              <p:cNvGrpSpPr>
                <a:grpSpLocks/>
              </p:cNvGrpSpPr>
              <p:nvPr/>
            </p:nvGrpSpPr>
            <p:grpSpPr bwMode="auto">
              <a:xfrm>
                <a:off x="1403350" y="1341438"/>
                <a:ext cx="6624638" cy="517525"/>
                <a:chOff x="2124075" y="3933825"/>
                <a:chExt cx="6624638" cy="517525"/>
              </a:xfrm>
            </p:grpSpPr>
            <p:sp>
              <p:nvSpPr>
                <p:cNvPr id="20509" name="AutoShape 57"/>
                <p:cNvSpPr>
                  <a:spLocks noChangeArrowheads="1"/>
                </p:cNvSpPr>
                <p:nvPr/>
              </p:nvSpPr>
              <p:spPr bwMode="auto">
                <a:xfrm>
                  <a:off x="3276600" y="4005263"/>
                  <a:ext cx="649288" cy="360362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0510" name="AutoShape 59"/>
                <p:cNvSpPr>
                  <a:spLocks noChangeArrowheads="1"/>
                </p:cNvSpPr>
                <p:nvPr/>
              </p:nvSpPr>
              <p:spPr bwMode="auto">
                <a:xfrm>
                  <a:off x="5724525" y="4005263"/>
                  <a:ext cx="1368425" cy="4318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0511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124075" y="4076700"/>
                  <a:ext cx="863600" cy="304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ru-RU" sz="1400" u="sng"/>
                    <a:t>индекс</a:t>
                  </a:r>
                </a:p>
              </p:txBody>
            </p:sp>
            <p:sp>
              <p:nvSpPr>
                <p:cNvPr id="2051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54055" y="4067274"/>
                  <a:ext cx="972343" cy="3077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ru-RU" sz="1400" u="sng"/>
                    <a:t>название</a:t>
                  </a:r>
                </a:p>
              </p:txBody>
            </p:sp>
            <p:grpSp>
              <p:nvGrpSpPr>
                <p:cNvPr id="20513" name="Группа 16"/>
                <p:cNvGrpSpPr>
                  <a:grpSpLocks/>
                </p:cNvGrpSpPr>
                <p:nvPr/>
              </p:nvGrpSpPr>
              <p:grpSpPr bwMode="auto">
                <a:xfrm>
                  <a:off x="2195513" y="3933825"/>
                  <a:ext cx="6553200" cy="517525"/>
                  <a:chOff x="2195513" y="3933825"/>
                  <a:chExt cx="6553200" cy="517525"/>
                </a:xfrm>
              </p:grpSpPr>
              <p:sp>
                <p:nvSpPr>
                  <p:cNvPr id="20514" name="AutoShape 56"/>
                  <p:cNvSpPr>
                    <a:spLocks noChangeArrowheads="1"/>
                  </p:cNvSpPr>
                  <p:nvPr/>
                </p:nvSpPr>
                <p:spPr bwMode="auto">
                  <a:xfrm>
                    <a:off x="2195513" y="4005263"/>
                    <a:ext cx="649287" cy="360362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20515" name="AutoShape 58"/>
                  <p:cNvSpPr>
                    <a:spLocks noChangeArrowheads="1"/>
                  </p:cNvSpPr>
                  <p:nvPr/>
                </p:nvSpPr>
                <p:spPr bwMode="auto">
                  <a:xfrm>
                    <a:off x="4439314" y="3969543"/>
                    <a:ext cx="936625" cy="467519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19050">
                    <a:solidFill>
                      <a:srgbClr val="8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ru-RU"/>
                  </a:p>
                </p:txBody>
              </p:sp>
              <p:sp>
                <p:nvSpPr>
                  <p:cNvPr id="20516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6600" y="4005263"/>
                    <a:ext cx="719138" cy="3048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ru-RU" sz="1400"/>
                      <a:t>цена</a:t>
                    </a:r>
                  </a:p>
                </p:txBody>
              </p:sp>
              <p:sp>
                <p:nvSpPr>
                  <p:cNvPr id="20517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24525" y="3933825"/>
                    <a:ext cx="1439863" cy="5175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ru-RU" sz="1400"/>
                      <a:t>дата изготовления</a:t>
                    </a:r>
                  </a:p>
                </p:txBody>
              </p:sp>
              <p:sp>
                <p:nvSpPr>
                  <p:cNvPr id="20518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08850" y="3933825"/>
                    <a:ext cx="1439863" cy="5175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ru-RU" sz="1400"/>
                      <a:t>гарантийный срок</a:t>
                    </a:r>
                  </a:p>
                </p:txBody>
              </p:sp>
            </p:grpSp>
          </p:grpSp>
          <p:sp>
            <p:nvSpPr>
              <p:cNvPr id="20508" name="AutoShape 35"/>
              <p:cNvSpPr>
                <a:spLocks noChangeArrowheads="1"/>
              </p:cNvSpPr>
              <p:nvPr/>
            </p:nvSpPr>
            <p:spPr bwMode="auto">
              <a:xfrm>
                <a:off x="6732588" y="1384300"/>
                <a:ext cx="1152525" cy="43180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cxnSp>
          <p:nvCxnSpPr>
            <p:cNvPr id="44" name="Прямая соединительная линия 43"/>
            <p:cNvCxnSpPr>
              <a:stCxn id="20511" idx="2"/>
            </p:cNvCxnSpPr>
            <p:nvPr/>
          </p:nvCxnSpPr>
          <p:spPr>
            <a:xfrm>
              <a:off x="1835150" y="1789113"/>
              <a:ext cx="1358900" cy="57626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/>
            <p:cNvCxnSpPr>
              <a:stCxn id="20509" idx="2"/>
            </p:cNvCxnSpPr>
            <p:nvPr/>
          </p:nvCxnSpPr>
          <p:spPr>
            <a:xfrm>
              <a:off x="2881313" y="1773238"/>
              <a:ext cx="838200" cy="59213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/>
            <p:cNvCxnSpPr>
              <a:stCxn id="20515" idx="2"/>
              <a:endCxn id="19459" idx="0"/>
            </p:cNvCxnSpPr>
            <p:nvPr/>
          </p:nvCxnSpPr>
          <p:spPr>
            <a:xfrm>
              <a:off x="4187825" y="1844675"/>
              <a:ext cx="0" cy="52070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flipH="1">
              <a:off x="4656138" y="1858963"/>
              <a:ext cx="1031875" cy="50641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/>
            <p:cNvCxnSpPr/>
            <p:nvPr/>
          </p:nvCxnSpPr>
          <p:spPr>
            <a:xfrm flipH="1">
              <a:off x="5183188" y="1817688"/>
              <a:ext cx="2125662" cy="5476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Группа 7"/>
          <p:cNvGrpSpPr>
            <a:grpSpLocks/>
          </p:cNvGrpSpPr>
          <p:nvPr/>
        </p:nvGrpSpPr>
        <p:grpSpPr bwMode="auto">
          <a:xfrm>
            <a:off x="1116013" y="4824413"/>
            <a:ext cx="6513512" cy="1023937"/>
            <a:chOff x="1116013" y="4824482"/>
            <a:chExt cx="6513512" cy="1023868"/>
          </a:xfrm>
        </p:grpSpPr>
        <p:sp>
          <p:nvSpPr>
            <p:cNvPr id="20489" name="AutoShape 38"/>
            <p:cNvSpPr>
              <a:spLocks noChangeArrowheads="1"/>
            </p:cNvSpPr>
            <p:nvPr/>
          </p:nvSpPr>
          <p:spPr bwMode="auto">
            <a:xfrm>
              <a:off x="1116013" y="5445125"/>
              <a:ext cx="1117600" cy="360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490" name="AutoShape 38"/>
            <p:cNvSpPr>
              <a:spLocks noChangeArrowheads="1"/>
            </p:cNvSpPr>
            <p:nvPr/>
          </p:nvSpPr>
          <p:spPr bwMode="auto">
            <a:xfrm>
              <a:off x="2881313" y="5481638"/>
              <a:ext cx="852487" cy="36036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491" name="AutoShape 38"/>
            <p:cNvSpPr>
              <a:spLocks noChangeArrowheads="1"/>
            </p:cNvSpPr>
            <p:nvPr/>
          </p:nvSpPr>
          <p:spPr bwMode="auto">
            <a:xfrm>
              <a:off x="4291013" y="5487988"/>
              <a:ext cx="1055687" cy="36036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492" name="AutoShape 38"/>
            <p:cNvSpPr>
              <a:spLocks noChangeArrowheads="1"/>
            </p:cNvSpPr>
            <p:nvPr/>
          </p:nvSpPr>
          <p:spPr bwMode="auto">
            <a:xfrm>
              <a:off x="5794375" y="5481638"/>
              <a:ext cx="1835150" cy="36036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493" name="Text Box 22"/>
            <p:cNvSpPr txBox="1">
              <a:spLocks noChangeArrowheads="1"/>
            </p:cNvSpPr>
            <p:nvPr/>
          </p:nvSpPr>
          <p:spPr bwMode="auto">
            <a:xfrm>
              <a:off x="1187450" y="5445125"/>
              <a:ext cx="97313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/>
                <a:t>индекс</a:t>
              </a:r>
            </a:p>
          </p:txBody>
        </p:sp>
        <p:sp>
          <p:nvSpPr>
            <p:cNvPr id="20494" name="Text Box 22"/>
            <p:cNvSpPr txBox="1">
              <a:spLocks noChangeArrowheads="1"/>
            </p:cNvSpPr>
            <p:nvPr/>
          </p:nvSpPr>
          <p:spPr bwMode="auto">
            <a:xfrm>
              <a:off x="2893814" y="5443608"/>
              <a:ext cx="762397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/>
                <a:t>цена</a:t>
              </a:r>
            </a:p>
          </p:txBody>
        </p:sp>
        <p:sp>
          <p:nvSpPr>
            <p:cNvPr id="20495" name="Text Box 22"/>
            <p:cNvSpPr txBox="1">
              <a:spLocks noChangeArrowheads="1"/>
            </p:cNvSpPr>
            <p:nvPr/>
          </p:nvSpPr>
          <p:spPr bwMode="auto">
            <a:xfrm>
              <a:off x="4286250" y="5465763"/>
              <a:ext cx="973138" cy="368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/>
                <a:t>кол-во</a:t>
              </a:r>
            </a:p>
          </p:txBody>
        </p:sp>
        <p:sp>
          <p:nvSpPr>
            <p:cNvPr id="20496" name="Text Box 22"/>
            <p:cNvSpPr txBox="1">
              <a:spLocks noChangeArrowheads="1"/>
            </p:cNvSpPr>
            <p:nvPr/>
          </p:nvSpPr>
          <p:spPr bwMode="auto">
            <a:xfrm>
              <a:off x="5821363" y="5445125"/>
              <a:ext cx="1792287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/>
                <a:t>наименование</a:t>
              </a:r>
            </a:p>
          </p:txBody>
        </p:sp>
        <p:cxnSp>
          <p:nvCxnSpPr>
            <p:cNvPr id="58" name="Прямая соединительная линия 57"/>
            <p:cNvCxnSpPr>
              <a:endCxn id="20496" idx="0"/>
            </p:cNvCxnSpPr>
            <p:nvPr/>
          </p:nvCxnSpPr>
          <p:spPr>
            <a:xfrm>
              <a:off x="4906963" y="4834006"/>
              <a:ext cx="1811337" cy="611146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>
              <a:endCxn id="20495" idx="0"/>
            </p:cNvCxnSpPr>
            <p:nvPr/>
          </p:nvCxnSpPr>
          <p:spPr>
            <a:xfrm>
              <a:off x="4356100" y="4834006"/>
              <a:ext cx="417513" cy="63178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>
              <a:endCxn id="20494" idx="0"/>
            </p:cNvCxnSpPr>
            <p:nvPr/>
          </p:nvCxnSpPr>
          <p:spPr>
            <a:xfrm flipH="1">
              <a:off x="3275013" y="4824482"/>
              <a:ext cx="657225" cy="619083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/>
          </p:nvCxnSpPr>
          <p:spPr>
            <a:xfrm flipH="1">
              <a:off x="1674813" y="4826069"/>
              <a:ext cx="1633537" cy="619083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88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24C991C-BCD7-48B0-BB3E-B9D133B1D2D6}" type="slidenum">
              <a:rPr lang="ru-RU" smtClean="0"/>
              <a:pPr/>
              <a:t>27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9" grpId="0" animBg="1"/>
      <p:bldP spid="1946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1"/>
            <a:ext cx="8229600" cy="736600"/>
          </a:xfrm>
        </p:spPr>
        <p:txBody>
          <a:bodyPr/>
          <a:lstStyle/>
          <a:p>
            <a:pPr algn="ctr"/>
            <a:r>
              <a:rPr lang="ru-RU" sz="3600" dirty="0" smtClean="0"/>
              <a:t>Принципы проектирования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1052514"/>
            <a:ext cx="8459787" cy="5195886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/>
              <a:t>Достоверность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Привлечение экспертов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Детальное изучение предметной области</a:t>
            </a:r>
          </a:p>
          <a:p>
            <a:r>
              <a:rPr lang="ru-RU" sz="2800" dirty="0" smtClean="0"/>
              <a:t>Отсутствие избыточности</a:t>
            </a:r>
          </a:p>
          <a:p>
            <a:r>
              <a:rPr lang="ru-RU" sz="2800" dirty="0" smtClean="0"/>
              <a:t>Простота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Включайте в проект только те структурные элементы, без которых нельзя обойтись</a:t>
            </a:r>
          </a:p>
          <a:p>
            <a:pPr marL="342900" lvl="1" indent="-3429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ea typeface="+mn-ea"/>
              </a:rPr>
              <a:t>Выбор </a:t>
            </a:r>
            <a:r>
              <a:rPr lang="ru-RU" dirty="0" smtClean="0">
                <a:ea typeface="+mn-ea"/>
              </a:rPr>
              <a:t>подходящих связей</a:t>
            </a:r>
          </a:p>
          <a:p>
            <a:pPr lvl="1">
              <a:buClr>
                <a:schemeClr val="hlink"/>
              </a:buClr>
              <a:buFont typeface="Wingdings" pitchFamily="2" charset="2"/>
              <a:buChar char="v"/>
            </a:pPr>
            <a:r>
              <a:rPr lang="ru-RU" sz="2400" dirty="0" smtClean="0"/>
              <a:t>Множества сущностей можно соединить разными связями. Если брать любые – возможна избыточность.</a:t>
            </a:r>
          </a:p>
          <a:p>
            <a:pPr marL="342900" lvl="1" indent="-3429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ea typeface="+mn-ea"/>
              </a:rPr>
              <a:t>Использование элементов адекватных типов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28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99" y="0"/>
            <a:ext cx="8229600" cy="736600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bg2"/>
                </a:solidFill>
              </a:rPr>
              <a:t>Структура СУБД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29</a:t>
            </a:fld>
            <a:endParaRPr lang="ru-RU" smtClean="0"/>
          </a:p>
        </p:txBody>
      </p:sp>
      <p:sp>
        <p:nvSpPr>
          <p:cNvPr id="6" name="TextBox 5"/>
          <p:cNvSpPr txBox="1"/>
          <p:nvPr/>
        </p:nvSpPr>
        <p:spPr>
          <a:xfrm>
            <a:off x="293905" y="605968"/>
            <a:ext cx="3233059" cy="384478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b="1" dirty="0" smtClean="0"/>
              <a:t>Пользователь</a:t>
            </a:r>
            <a:r>
              <a:rPr lang="en-US" b="1" dirty="0" smtClean="0"/>
              <a:t>/</a:t>
            </a:r>
            <a:r>
              <a:rPr lang="ru-RU" b="1" dirty="0" smtClean="0"/>
              <a:t>приложение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336723" y="556981"/>
            <a:ext cx="3497038" cy="38447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r>
              <a:rPr lang="ru-RU" b="1" dirty="0" smtClean="0"/>
              <a:t>Администратор базы данных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67441" y="1219052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lnSpcReduction="10000"/>
          </a:bodyPr>
          <a:lstStyle/>
          <a:p>
            <a:pPr algn="ctr"/>
            <a:r>
              <a:rPr lang="ru-RU" b="1" dirty="0" smtClean="0"/>
              <a:t>Компилятор запросов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67441" y="2133450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lnSpcReduction="10000"/>
          </a:bodyPr>
          <a:lstStyle/>
          <a:p>
            <a:pPr algn="ctr"/>
            <a:r>
              <a:rPr lang="ru-RU" b="1" dirty="0" smtClean="0"/>
              <a:t>Исполняющая машина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67441" y="3067812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lnSpcReduction="10000"/>
          </a:bodyPr>
          <a:lstStyle/>
          <a:p>
            <a:pPr algn="ctr"/>
            <a:r>
              <a:rPr lang="ru-RU" b="1" dirty="0" smtClean="0"/>
              <a:t>Менеджер ресурсов</a:t>
            </a:r>
            <a:endParaRPr lang="ru-R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67441" y="4011239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lnSpcReduction="10000"/>
          </a:bodyPr>
          <a:lstStyle/>
          <a:p>
            <a:pPr algn="ctr"/>
            <a:r>
              <a:rPr lang="ru-RU" b="1" dirty="0" smtClean="0"/>
              <a:t>Менеджер буферов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83770" y="4974623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lnSpcReduction="10000"/>
          </a:bodyPr>
          <a:lstStyle/>
          <a:p>
            <a:pPr algn="ctr"/>
            <a:r>
              <a:rPr lang="ru-RU" b="1" dirty="0" smtClean="0"/>
              <a:t>Менеджер хранения данных</a:t>
            </a:r>
            <a:endParaRPr lang="ru-RU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000505" y="1219052"/>
            <a:ext cx="1632857" cy="59886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b="1" dirty="0" smtClean="0"/>
              <a:t>Менеджер транзакций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804556" y="2565396"/>
            <a:ext cx="2160000" cy="792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fontScale="92500" lnSpcReduction="10000"/>
          </a:bodyPr>
          <a:lstStyle/>
          <a:p>
            <a:pPr algn="ctr"/>
            <a:r>
              <a:rPr lang="ru-RU" b="1" dirty="0" smtClean="0"/>
              <a:t>Менеджер протоколирования и восстановления</a:t>
            </a:r>
            <a:endParaRPr lang="ru-R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997772" y="5045545"/>
            <a:ext cx="1586596" cy="582238"/>
          </a:xfrm>
          <a:prstGeom prst="rect">
            <a:avLst/>
          </a:prstGeom>
          <a:noFill/>
          <a:ln w="101600" cmpd="dbl">
            <a:solidFill>
              <a:schemeClr val="tx1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b="1" dirty="0" smtClean="0"/>
              <a:t>Буферы</a:t>
            </a:r>
            <a:endParaRPr lang="ru-RU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531426" y="1224491"/>
            <a:ext cx="2160000" cy="576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 anchor="ctr">
            <a:normAutofit/>
          </a:bodyPr>
          <a:lstStyle/>
          <a:p>
            <a:pPr algn="ctr"/>
            <a:r>
              <a:rPr lang="ru-RU" b="1" dirty="0" smtClean="0"/>
              <a:t>Компилятор </a:t>
            </a:r>
            <a:r>
              <a:rPr lang="en-US" b="1" dirty="0" smtClean="0"/>
              <a:t>DDL</a:t>
            </a:r>
            <a:endParaRPr lang="ru-RU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645726" y="2523376"/>
            <a:ext cx="1730831" cy="6770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b="1" dirty="0" smtClean="0"/>
              <a:t>Планировщик заданий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724645" y="3807344"/>
            <a:ext cx="1586596" cy="582238"/>
          </a:xfrm>
          <a:prstGeom prst="rect">
            <a:avLst/>
          </a:prstGeom>
          <a:noFill/>
          <a:ln w="101600" cmpd="dbl">
            <a:solidFill>
              <a:schemeClr val="tx1"/>
            </a:solidFill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ru-RU" b="1" dirty="0" smtClean="0"/>
              <a:t>Таблицы блокировок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5400000">
            <a:off x="1727489" y="1080000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5400000">
            <a:off x="1716599" y="1934547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rot="5400000">
            <a:off x="1705709" y="2854410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rot="5400000">
            <a:off x="1694819" y="3806931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rot="5400000">
            <a:off x="1666726" y="4792385"/>
            <a:ext cx="410292" cy="1588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rot="5400000">
            <a:off x="1673039" y="5744631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/>
          <p:cNvGrpSpPr/>
          <p:nvPr/>
        </p:nvGrpSpPr>
        <p:grpSpPr>
          <a:xfrm>
            <a:off x="930738" y="5861957"/>
            <a:ext cx="1975758" cy="843643"/>
            <a:chOff x="930738" y="5861957"/>
            <a:chExt cx="1975758" cy="843643"/>
          </a:xfrm>
        </p:grpSpPr>
        <p:sp>
          <p:nvSpPr>
            <p:cNvPr id="14" name="Цилиндр 13"/>
            <p:cNvSpPr/>
            <p:nvPr/>
          </p:nvSpPr>
          <p:spPr>
            <a:xfrm>
              <a:off x="963389" y="5861957"/>
              <a:ext cx="1763487" cy="843643"/>
            </a:xfrm>
            <a:prstGeom prst="ca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30738" y="6248400"/>
              <a:ext cx="19757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Носитель данных</a:t>
              </a:r>
              <a:endParaRPr lang="ru-RU" sz="1600" dirty="0"/>
            </a:p>
          </p:txBody>
        </p:sp>
      </p:grpSp>
      <p:cxnSp>
        <p:nvCxnSpPr>
          <p:cNvPr id="30" name="Прямая со стрелкой 29"/>
          <p:cNvCxnSpPr>
            <a:endCxn id="13" idx="0"/>
          </p:cNvCxnSpPr>
          <p:nvPr/>
        </p:nvCxnSpPr>
        <p:spPr>
          <a:xfrm>
            <a:off x="1943568" y="924715"/>
            <a:ext cx="2873366" cy="29433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rot="5400000">
            <a:off x="4431867" y="2174828"/>
            <a:ext cx="775246" cy="589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endCxn id="18" idx="0"/>
          </p:cNvCxnSpPr>
          <p:nvPr/>
        </p:nvCxnSpPr>
        <p:spPr>
          <a:xfrm>
            <a:off x="5238749" y="1817914"/>
            <a:ext cx="2272393" cy="70546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10800000" flipV="1">
            <a:off x="2726876" y="1817914"/>
            <a:ext cx="4790160" cy="31553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Дуга 90"/>
          <p:cNvSpPr/>
          <p:nvPr/>
        </p:nvSpPr>
        <p:spPr>
          <a:xfrm rot="11136805">
            <a:off x="2890105" y="2225797"/>
            <a:ext cx="4297049" cy="1511466"/>
          </a:xfrm>
          <a:prstGeom prst="arc">
            <a:avLst>
              <a:gd name="adj1" fmla="val 10752409"/>
              <a:gd name="adj2" fmla="val 175755"/>
            </a:avLst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2" name="Прямая со стрелкой 91"/>
          <p:cNvCxnSpPr>
            <a:stCxn id="18" idx="2"/>
            <a:endCxn id="19" idx="0"/>
          </p:cNvCxnSpPr>
          <p:nvPr/>
        </p:nvCxnSpPr>
        <p:spPr>
          <a:xfrm rot="16200000" flipH="1">
            <a:off x="7211070" y="3500471"/>
            <a:ext cx="606944" cy="680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Скругленная соединительная линия 96"/>
          <p:cNvCxnSpPr>
            <a:endCxn id="16" idx="3"/>
          </p:cNvCxnSpPr>
          <p:nvPr/>
        </p:nvCxnSpPr>
        <p:spPr>
          <a:xfrm rot="5400000">
            <a:off x="5221090" y="2181193"/>
            <a:ext cx="3518749" cy="2792192"/>
          </a:xfrm>
          <a:prstGeom prst="curvedConnector2">
            <a:avLst/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972300" y="2019261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метаданные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4" name="Скругленная соединительная линия 96"/>
          <p:cNvCxnSpPr/>
          <p:nvPr/>
        </p:nvCxnSpPr>
        <p:spPr>
          <a:xfrm rot="16200000" flipH="1">
            <a:off x="2057413" y="2427377"/>
            <a:ext cx="3216697" cy="1812477"/>
          </a:xfrm>
          <a:prstGeom prst="curvedConnector3">
            <a:avLst>
              <a:gd name="adj1" fmla="val 50000"/>
            </a:avLst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кругленная соединительная линия 96"/>
          <p:cNvCxnSpPr/>
          <p:nvPr/>
        </p:nvCxnSpPr>
        <p:spPr>
          <a:xfrm rot="16200000" flipH="1">
            <a:off x="2155104" y="2987877"/>
            <a:ext cx="2368189" cy="1747145"/>
          </a:xfrm>
          <a:prstGeom prst="curvedConnector3">
            <a:avLst>
              <a:gd name="adj1" fmla="val 50000"/>
            </a:avLst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/>
          <p:cNvCxnSpPr>
            <a:stCxn id="15" idx="2"/>
          </p:cNvCxnSpPr>
          <p:nvPr/>
        </p:nvCxnSpPr>
        <p:spPr>
          <a:xfrm rot="16200000" flipH="1">
            <a:off x="4092272" y="4149679"/>
            <a:ext cx="1584569" cy="1"/>
          </a:xfrm>
          <a:prstGeom prst="straightConnector1">
            <a:avLst/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571999" y="3807344"/>
            <a:ext cx="1392557" cy="7423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Страницы протокола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927441" y="4018384"/>
            <a:ext cx="1392557" cy="742395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Данные, индексы, метаданные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654206" y="1823003"/>
            <a:ext cx="1745515" cy="7423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Метаданные, статистика</a:t>
            </a: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61248" y="892057"/>
            <a:ext cx="1126681" cy="338232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Запросы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63273" y="1806911"/>
            <a:ext cx="1556187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План запроса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52644" y="2710013"/>
            <a:ext cx="1556187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70000" lnSpcReduction="2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Запросы индексов файлов записей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52644" y="3629876"/>
            <a:ext cx="1708338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85000" lnSpcReduction="2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Страничные команды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495710" y="886259"/>
            <a:ext cx="1387048" cy="332793"/>
          </a:xfrm>
          <a:prstGeom prst="rect">
            <a:avLst/>
          </a:prstGeom>
          <a:noFill/>
        </p:spPr>
        <p:txBody>
          <a:bodyPr wrap="square" lIns="0" tIns="18000" rIns="0" bIns="18000" rtlCol="0" anchor="ctr">
            <a:normAutofit fontScale="85000" lnSpcReduction="10000"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Команды </a:t>
            </a:r>
            <a:r>
              <a:rPr lang="en-US" b="1" dirty="0" smtClean="0">
                <a:solidFill>
                  <a:srgbClr val="FF0000"/>
                </a:solidFill>
              </a:rPr>
              <a:t>DDL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133" name="Прямая со стрелкой 132"/>
          <p:cNvCxnSpPr/>
          <p:nvPr/>
        </p:nvCxnSpPr>
        <p:spPr>
          <a:xfrm rot="5400000">
            <a:off x="7252130" y="1052781"/>
            <a:ext cx="360000" cy="589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261248" y="4589345"/>
            <a:ext cx="1708338" cy="408184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fontScale="85000" lnSpcReduction="2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Чтение, запись страниц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304247" y="824049"/>
            <a:ext cx="2032476" cy="332793"/>
          </a:xfrm>
          <a:prstGeom prst="rect">
            <a:avLst/>
          </a:prstGeom>
          <a:noFill/>
        </p:spPr>
        <p:txBody>
          <a:bodyPr wrap="square" lIns="0" tIns="18000" rIns="0" bIns="18000" rtlCol="0" anchor="ctr">
            <a:normAutofit fontScale="85000" lnSpcReduction="10000"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Команды транзакций</a:t>
            </a:r>
            <a:endParaRPr lang="ru-R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1"/>
            <a:ext cx="8229600" cy="73660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Компоненты СУБД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2" y="1052514"/>
            <a:ext cx="8459787" cy="5195886"/>
          </a:xfrm>
        </p:spPr>
        <p:txBody>
          <a:bodyPr>
            <a:normAutofit fontScale="92500" lnSpcReduction="20000"/>
          </a:bodyPr>
          <a:lstStyle/>
          <a:p>
            <a:r>
              <a:rPr lang="ru-RU" sz="2800" b="1" dirty="0" smtClean="0"/>
              <a:t>Компилятор запросов</a:t>
            </a:r>
            <a:r>
              <a:rPr lang="ru-RU" sz="2800" dirty="0" smtClean="0"/>
              <a:t>. Транслирует запрос во внутренний формат системы – план запроса. Часто инструкции плана запроса представляют собой реализацию операций «реляционной алгебры»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Лексический анализатор. Преобразует запрос во внутреннюю древовидную структуру.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Препроцессор запросов: семантический анализ, функции преобразования дерева, построенного ЛА, в дерево алгебраических операций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Оптимизатор запросов. Преобразует запрос в наиболее эффективную последовательность фактических операций над данными</a:t>
            </a:r>
          </a:p>
          <a:p>
            <a:pPr marL="342900" lvl="1" indent="-3429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b="1" dirty="0" smtClean="0">
                <a:ea typeface="+mn-ea"/>
              </a:rPr>
              <a:t>Исполняющая машина. </a:t>
            </a:r>
            <a:r>
              <a:rPr lang="ru-RU" dirty="0" smtClean="0">
                <a:ea typeface="+mn-ea"/>
              </a:rPr>
              <a:t>Выполняет операции запроса. Взаимодействует с большинством других компонентов. Интерпретатор. 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30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1"/>
            <a:ext cx="8229600" cy="73660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Компоненты СУБД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32" y="1052514"/>
            <a:ext cx="8801099" cy="5653086"/>
          </a:xfrm>
        </p:spPr>
        <p:txBody>
          <a:bodyPr>
            <a:normAutofit fontScale="92500"/>
          </a:bodyPr>
          <a:lstStyle/>
          <a:p>
            <a:r>
              <a:rPr lang="ru-RU" sz="2800" b="1" dirty="0" smtClean="0"/>
              <a:t>Менеджер буферов </a:t>
            </a:r>
            <a:r>
              <a:rPr lang="ru-RU" sz="2800" dirty="0" smtClean="0"/>
              <a:t>ответственен за разбиение ОП на буферы – участки-страницы, куда помещается содержимое дисковых блоков</a:t>
            </a:r>
          </a:p>
          <a:p>
            <a:r>
              <a:rPr lang="ru-RU" sz="2800" dirty="0" smtClean="0"/>
              <a:t>Все компоненты СУБД, обращаются к данными через буфера и менеджера буферов или через исполняющую машину</a:t>
            </a:r>
          </a:p>
          <a:p>
            <a:r>
              <a:rPr lang="ru-RU" sz="2800" dirty="0" smtClean="0"/>
              <a:t>Данные могут быть следующих категорий: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Собственно данные – содержимое БД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Метаданные – описание логической структуры БД (схема БД)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Статистика – информация о свойствах данных (размер отношения, сведения о значениях в колонках и т.д.)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Индексы – структуры, повышающие скорость доступа к данным</a:t>
            </a:r>
          </a:p>
          <a:p>
            <a:endParaRPr lang="ru-RU" sz="2800" dirty="0" smtClean="0"/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31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1"/>
            <a:ext cx="8229600" cy="73660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Компоненты СУБД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32" y="1052514"/>
            <a:ext cx="8801099" cy="5195886"/>
          </a:xfrm>
        </p:spPr>
        <p:txBody>
          <a:bodyPr>
            <a:normAutofit fontScale="92500" lnSpcReduction="20000"/>
          </a:bodyPr>
          <a:lstStyle/>
          <a:p>
            <a:r>
              <a:rPr lang="ru-RU" sz="2800" b="1" dirty="0" smtClean="0"/>
              <a:t>Менеджер транзакций (МТ)</a:t>
            </a:r>
            <a:r>
              <a:rPr lang="ru-RU" sz="2800" dirty="0" smtClean="0"/>
              <a:t>. </a:t>
            </a:r>
          </a:p>
          <a:p>
            <a:r>
              <a:rPr lang="ru-RU" sz="2800" dirty="0" smtClean="0"/>
              <a:t>Запросы и другие команды группируются в транзакции</a:t>
            </a:r>
          </a:p>
          <a:p>
            <a:r>
              <a:rPr lang="ru-RU" sz="2800" dirty="0" smtClean="0"/>
              <a:t>МТ реализует выполнение транзакций так, чтобы они выполнялись 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атомарным образом 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изолировано.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сохраняя целостность БД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обладая свойством устойчивости. </a:t>
            </a:r>
          </a:p>
          <a:p>
            <a:r>
              <a:rPr lang="ru-RU" sz="2800" dirty="0" smtClean="0"/>
              <a:t>МТ состоит из: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Планировщика заданий: управление параллельными заданиями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 smtClean="0"/>
              <a:t>Менеджера протоколирования: протоколирование действий транзакций и восстановление после сбоев</a:t>
            </a:r>
          </a:p>
          <a:p>
            <a:r>
              <a:rPr lang="ru-RU" sz="2800" dirty="0" smtClean="0"/>
              <a:t>МТ разрешает проблемы взаимных блокировок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32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1"/>
            <a:ext cx="8229600" cy="73660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Компоненты СУБД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32" y="1052514"/>
            <a:ext cx="8801099" cy="5195886"/>
          </a:xfrm>
        </p:spPr>
        <p:txBody>
          <a:bodyPr>
            <a:normAutofit fontScale="92500" lnSpcReduction="10000"/>
          </a:bodyPr>
          <a:lstStyle/>
          <a:p>
            <a:r>
              <a:rPr lang="ru-RU" sz="2800" b="1" dirty="0" smtClean="0"/>
              <a:t>Менеджер протоколирования (МП)</a:t>
            </a:r>
            <a:r>
              <a:rPr lang="ru-RU" sz="2800" dirty="0" smtClean="0"/>
              <a:t>.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Для обеспечения устойчивости (</a:t>
            </a:r>
            <a:r>
              <a:rPr lang="en-US" sz="2400" dirty="0" smtClean="0"/>
              <a:t>Durability)</a:t>
            </a:r>
            <a:r>
              <a:rPr lang="ru-RU" sz="2400" dirty="0" smtClean="0"/>
              <a:t> транзакций каждое изменение в БД фиксируется в специальном системном журнале (файлах)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Информация протокола сначала сохраняется на буферах. </a:t>
            </a:r>
            <a:br>
              <a:rPr lang="ru-RU" sz="2400" dirty="0" smtClean="0"/>
            </a:br>
            <a:r>
              <a:rPr lang="ru-RU" sz="2400" dirty="0" smtClean="0"/>
              <a:t>Затем МП, взаимодействуя с менеджером буферов, периодически сбрасывает данные на диск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МП руководствуется одной из нескольких стратегий сохранения информации о транзакции (</a:t>
            </a:r>
            <a:r>
              <a:rPr lang="en-US" sz="2400" dirty="0" smtClean="0"/>
              <a:t>UNDO, REDO, UNDO/REDO) </a:t>
            </a:r>
            <a:r>
              <a:rPr lang="ru-RU" sz="2000" dirty="0" smtClean="0"/>
              <a:t>для исключения вредных последствий сбоев системы. </a:t>
            </a:r>
          </a:p>
          <a:p>
            <a:r>
              <a:rPr lang="ru-RU" sz="2800" b="1" dirty="0" smtClean="0"/>
              <a:t>Менеджер восстановления (МВ)</a:t>
            </a:r>
            <a:r>
              <a:rPr lang="ru-RU" sz="2800" dirty="0" smtClean="0"/>
              <a:t>.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МВ в случае сбоев системы способен считать протокол изменений в системном журнале и привести базу данных в некоторое целостное состояние</a:t>
            </a:r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33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1"/>
            <a:ext cx="8229600" cy="73660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Компоненты СУБД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32" y="1052514"/>
            <a:ext cx="8801099" cy="5195886"/>
          </a:xfrm>
        </p:spPr>
        <p:txBody>
          <a:bodyPr>
            <a:normAutofit fontScale="85000" lnSpcReduction="10000"/>
          </a:bodyPr>
          <a:lstStyle/>
          <a:p>
            <a:r>
              <a:rPr lang="ru-RU" sz="2800" b="1" dirty="0" smtClean="0"/>
              <a:t>Планировщик заданий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Транзакции обязаны выполняться в строгой изоляции друг от друга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В реальных системах могут действовать несколько процессов-транзакций одновременно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Планировщик заданий устанавливает блокировки на соответствующие фрагменты БД, которые препятствуют одновременному изменению данных несколькими транзакциями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 smtClean="0"/>
              <a:t> </a:t>
            </a:r>
            <a:r>
              <a:rPr lang="ru-RU" sz="2400" dirty="0" smtClean="0"/>
              <a:t>Признаки блокировки хранятся в таблице блокировок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Планировщик заданий воздействует на процесс выполнения запросов и других операций, запрещая исполняющей машине обращаться к заблокированным данным</a:t>
            </a:r>
          </a:p>
          <a:p>
            <a:r>
              <a:rPr lang="ru-RU" sz="2800" b="1" dirty="0" smtClean="0"/>
              <a:t>Разрешение взаимных блокировок</a:t>
            </a:r>
            <a:endParaRPr lang="ru-RU" sz="2800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МТ разрешает проблемы взаимных блокировок. Теоретически известны как минимум 3 способа разрешения проблемы </a:t>
            </a:r>
            <a:r>
              <a:rPr lang="en-US" sz="2400" dirty="0" smtClean="0"/>
              <a:t>DEALOCK</a:t>
            </a:r>
            <a:endParaRPr lang="ru-RU" sz="2400" dirty="0" smtClean="0"/>
          </a:p>
        </p:txBody>
      </p:sp>
      <p:sp>
        <p:nvSpPr>
          <p:cNvPr id="13316" name="Номер слайда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612963-D6F5-4ABB-AED0-6576D3967645}" type="slidenum">
              <a:rPr lang="ru-RU" smtClean="0"/>
              <a:pPr/>
              <a:t>34</a:t>
            </a:fld>
            <a:endParaRPr lang="ru-RU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1521</TotalTime>
  <Words>1357</Words>
  <Application>Microsoft Office PowerPoint</Application>
  <PresentationFormat>Экран (4:3)</PresentationFormat>
  <Paragraphs>416</Paragraphs>
  <Slides>34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5" baseType="lpstr">
      <vt:lpstr>Пиксел</vt:lpstr>
      <vt:lpstr>Семантическое моделирование  предметной области</vt:lpstr>
      <vt:lpstr>Этапы разработки базы данных в информационной системе</vt:lpstr>
      <vt:lpstr>Логическое проектирование</vt:lpstr>
      <vt:lpstr>Слайд 4</vt:lpstr>
      <vt:lpstr>Инфологическое проектирование</vt:lpstr>
      <vt:lpstr>Слайд 6</vt:lpstr>
      <vt:lpstr>Модель «Сущность-связь»</vt:lpstr>
      <vt:lpstr>Сущность</vt:lpstr>
      <vt:lpstr>Сущность. Пример</vt:lpstr>
      <vt:lpstr>Атрибуты</vt:lpstr>
      <vt:lpstr>Связи</vt:lpstr>
      <vt:lpstr>Связи (2)</vt:lpstr>
      <vt:lpstr>Нотация</vt:lpstr>
      <vt:lpstr>Слайд 14</vt:lpstr>
      <vt:lpstr>Диаграмма ER-модели.  (первое представление)</vt:lpstr>
      <vt:lpstr>Модификация исходного представления </vt:lpstr>
      <vt:lpstr>Слайд 17</vt:lpstr>
      <vt:lpstr>Слайд 18</vt:lpstr>
      <vt:lpstr>Слайд 19</vt:lpstr>
      <vt:lpstr>Этапы разработки ER модели</vt:lpstr>
      <vt:lpstr>Схема процесса объединения ЛП</vt:lpstr>
      <vt:lpstr>Идентичность</vt:lpstr>
      <vt:lpstr>Слайд 23</vt:lpstr>
      <vt:lpstr>Агрегация</vt:lpstr>
      <vt:lpstr>Слайд 25</vt:lpstr>
      <vt:lpstr>Обобщение</vt:lpstr>
      <vt:lpstr>Итоговая схема</vt:lpstr>
      <vt:lpstr>Принципы проектирования</vt:lpstr>
      <vt:lpstr>Структура СУБД</vt:lpstr>
      <vt:lpstr>Компоненты СУБД</vt:lpstr>
      <vt:lpstr>Компоненты СУБД</vt:lpstr>
      <vt:lpstr>Компоненты СУБД</vt:lpstr>
      <vt:lpstr>Компоненты СУБД</vt:lpstr>
      <vt:lpstr>Компоненты СУБД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 предметной области</dc:title>
  <dc:creator>Борис</dc:creator>
  <cp:lastModifiedBy>User</cp:lastModifiedBy>
  <cp:revision>128</cp:revision>
  <dcterms:created xsi:type="dcterms:W3CDTF">2012-09-14T02:19:47Z</dcterms:created>
  <dcterms:modified xsi:type="dcterms:W3CDTF">2019-09-12T03:36:30Z</dcterms:modified>
</cp:coreProperties>
</file>