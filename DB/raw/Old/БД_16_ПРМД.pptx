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26"/>
  </p:notesMasterIdLst>
  <p:sldIdLst>
    <p:sldId id="256" r:id="rId2"/>
    <p:sldId id="323" r:id="rId3"/>
    <p:sldId id="324" r:id="rId4"/>
    <p:sldId id="304" r:id="rId5"/>
    <p:sldId id="305" r:id="rId6"/>
    <p:sldId id="306" r:id="rId7"/>
    <p:sldId id="303" r:id="rId8"/>
    <p:sldId id="308" r:id="rId9"/>
    <p:sldId id="310" r:id="rId10"/>
    <p:sldId id="307" r:id="rId11"/>
    <p:sldId id="274" r:id="rId12"/>
    <p:sldId id="311" r:id="rId13"/>
    <p:sldId id="275" r:id="rId14"/>
    <p:sldId id="316" r:id="rId15"/>
    <p:sldId id="317" r:id="rId16"/>
    <p:sldId id="318" r:id="rId17"/>
    <p:sldId id="319" r:id="rId18"/>
    <p:sldId id="320" r:id="rId19"/>
    <p:sldId id="321" r:id="rId20"/>
    <p:sldId id="322" r:id="rId21"/>
    <p:sldId id="325" r:id="rId22"/>
    <p:sldId id="326" r:id="rId23"/>
    <p:sldId id="315" r:id="rId24"/>
    <p:sldId id="312" r:id="rId25"/>
  </p:sldIdLst>
  <p:sldSz cx="9144000" cy="6858000" type="screen4x3"/>
  <p:notesSz cx="6858000" cy="9144000"/>
  <p:defaultTextStyle>
    <a:defPPr>
      <a:defRPr lang="ru-RU"/>
    </a:defPPr>
    <a:lvl1pPr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3333FF"/>
    <a:srgbClr val="DE411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1" autoAdjust="0"/>
    <p:restoredTop sz="78756" autoAdjust="0"/>
  </p:normalViewPr>
  <p:slideViewPr>
    <p:cSldViewPr showGuides="1">
      <p:cViewPr varScale="1">
        <p:scale>
          <a:sx n="86" d="100"/>
          <a:sy n="86" d="100"/>
        </p:scale>
        <p:origin x="-84" y="-5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6492"/>
    </p:cViewPr>
  </p:sorterViewPr>
  <p:notesViewPr>
    <p:cSldViewPr showGuides="1">
      <p:cViewPr varScale="1">
        <p:scale>
          <a:sx n="63" d="100"/>
          <a:sy n="63" d="100"/>
        </p:scale>
        <p:origin x="-1392" y="-120"/>
      </p:cViewPr>
      <p:guideLst>
        <p:guide orient="horz" pos="2880"/>
        <p:guide pos="2160"/>
      </p:guideLst>
    </p:cSldViewPr>
  </p:notesViewPr>
  <p:gridSpacing cx="46085125" cy="4608512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C735E6D8-50E8-4660-900F-954496AF9666}" type="datetimeFigureOut">
              <a:rPr lang="ru-RU"/>
              <a:pPr>
                <a:defRPr/>
              </a:pPr>
              <a:t>04.12.2019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150F566A-A76C-4521-B664-85EED0FF637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725693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ru.bmstu.wiki/Linux" TargetMode="External"/><Relationship Id="rId13" Type="http://schemas.openxmlformats.org/officeDocument/2006/relationships/hyperlink" Target="https://ru.bmstu.wiki/%D0%98%D0%BD%D1%82%D0%B5%D1%80%D0%BF%D1%80%D0%B5%D1%82%D0%B0%D1%82%D0%BE%D1%80" TargetMode="External"/><Relationship Id="rId3" Type="http://schemas.openxmlformats.org/officeDocument/2006/relationships/hyperlink" Target="https://ru.bmstu.wiki/%D0%A1%D0%A3%D0%91%D0%94_(%D0%A1%D0%B8%D1%81%D1%82%D0%B5%D0%BC%D0%B0_%D0%A3%D0%BF%D1%80%D0%B0%D0%B2%D0%BB%D0%B5%D0%BD%D0%B8%D1%8F_%D0%91%D0%B0%D0%B7%D0%B0%D0%BC%D0%B8_%D0%94%D0%B0%D0%BD%D0%BD%D1%8B%D1%85)" TargetMode="External"/><Relationship Id="rId7" Type="http://schemas.openxmlformats.org/officeDocument/2006/relationships/hyperlink" Target="https://ru.bmstu.wiki/UNIX" TargetMode="External"/><Relationship Id="rId12" Type="http://schemas.openxmlformats.org/officeDocument/2006/relationships/hyperlink" Target="https://ru.bmstu.wiki/VM_(Virtual_Machine)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ru.bmstu.wiki/SQL_(Structured_Query_Language)" TargetMode="External"/><Relationship Id="rId11" Type="http://schemas.openxmlformats.org/officeDocument/2006/relationships/hyperlink" Target="https://ru.bmstu.wiki/IBM_(International_Business_Machines)" TargetMode="External"/><Relationship Id="rId5" Type="http://schemas.openxmlformats.org/officeDocument/2006/relationships/hyperlink" Target="https://ru.bmstu.wiki/%D0%90%D0%BD%D0%B3%D0%BB%D0%B8%D0%B9%D1%81%D0%BA%D0%B8%D0%B9_%D1%8F%D0%B7%D1%8B%D0%BA" TargetMode="External"/><Relationship Id="rId10" Type="http://schemas.openxmlformats.org/officeDocument/2006/relationships/hyperlink" Target="https://ru.bmstu.wiki/%D0%9E%D0%BF%D0%B5%D1%80%D0%B0%D1%86%D0%B8%D0%BE%D0%BD%D0%BD%D0%B0%D1%8F_%D1%81%D0%B8%D1%81%D1%82%D0%B5%D0%BC%D0%B0" TargetMode="External"/><Relationship Id="rId4" Type="http://schemas.openxmlformats.org/officeDocument/2006/relationships/hyperlink" Target="https://ru.bmstu.wiki/Rocket_U2" TargetMode="External"/><Relationship Id="rId9" Type="http://schemas.openxmlformats.org/officeDocument/2006/relationships/hyperlink" Target="https://ru.bmstu.wiki/Microsoft_Windows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sz="1200" b="1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Rocket</a:t>
            </a:r>
            <a:r>
              <a:rPr lang="ru-RU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U2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представляет из себя набор средств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 tooltip="СУБД (Система Управления Базами Данных)"/>
              </a:rPr>
              <a:t>управления базами данных (СУБД)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который принадлежит частной компании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Rocket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</a:t>
            </a:r>
            <a:r>
              <a:rPr lang="ru-RU" sz="1200" b="0" i="0" u="none" strike="noStrike" kern="1200" baseline="300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4"/>
              </a:rPr>
              <a:t>[Источник 1]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Данное решение включает две платформы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постреляционных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5" tooltip="Английский язык"/>
              </a:rPr>
              <a:t>англ.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r>
              <a:rPr lang="ru-RU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MultiValue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баз данных: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UniData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UniVerse</a:t>
            </a:r>
            <a:r>
              <a:rPr lang="ru-RU" sz="1200" b="0" i="0" u="none" strike="noStrike" kern="1200" baseline="300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4"/>
              </a:rPr>
              <a:t>[1]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—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постреляционные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(многомерные)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 tooltip="СУБД (Система Управления Базами Данных)"/>
              </a:rPr>
              <a:t>СУБД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предоставляющие возможность работы с сетями, иерархиями, массивами и другими типами данных, которые сложно смоделировать в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6" tooltip="SQL (Structured Query Language)"/>
              </a:rPr>
              <a:t>SQL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UniData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UniVerse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доступны для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7" tooltip="UNIX"/>
              </a:rPr>
              <a:t>Unix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8" tooltip="Linux"/>
              </a:rPr>
              <a:t>Linux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и 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9" tooltip="Microsoft Windows"/>
              </a:rPr>
              <a:t>Microsoft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9" tooltip="Microsoft Windows"/>
              </a:rPr>
              <a:t> </a:t>
            </a:r>
            <a:r>
              <a:rPr lang="ru-RU" sz="1200" b="0" i="0" u="none" strike="noStrike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9" tooltip="Microsoft Windows"/>
              </a:rPr>
              <a:t>Windows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b="0" i="0" u="none" strike="noStrike" kern="1200" baseline="300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4"/>
              </a:rPr>
              <a:t>[2]</a:t>
            </a:r>
            <a:r>
              <a:rPr lang="ru-RU" sz="1200" b="0" i="0" u="none" strike="noStrike" kern="1200" baseline="300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4"/>
              </a:rPr>
              <a:t>[3]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Оба этих продукта основаны на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10" tooltip="Операционная система"/>
              </a:rPr>
              <a:t>операционной системе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Pick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b="0" i="0" u="none" strike="noStrike" kern="1200" baseline="300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4"/>
              </a:rPr>
              <a:t>[4]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Кроме того, в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Rocket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U2 также входят следующие средства разработки: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SystemBuilder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/SB+, SB/XA, U2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Web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Development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Environtment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WebDE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UniObjects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wIntegrate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b="0" i="0" u="none" strike="noStrike" kern="1200" baseline="300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4"/>
              </a:rPr>
              <a:t>[1]</a:t>
            </a:r>
            <a:endParaRPr lang="ru-RU" sz="1200" b="0" i="0" u="none" strike="noStrike" kern="1200" baseline="300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Изначально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 tooltip="СУБД (Система Управления Базами Данных)"/>
              </a:rPr>
              <a:t>СУБД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UniVerse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была разработана компанией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VMark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а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UniData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компанией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Unidata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Corporations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Обе системы используются для разработки программного обеспечения для узкого круга пользователей (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5" tooltip="Английский язык"/>
              </a:rPr>
              <a:t>англ.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r>
              <a:rPr lang="ru-RU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vertical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development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и применяются в так называемых «вертикальных» (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5" tooltip="Английский язык"/>
              </a:rPr>
              <a:t>англ.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r>
              <a:rPr lang="ru-RU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vertical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applications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программных приложениях.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1997 году произошло слияние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Unidata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Corporation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VMark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Systems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 единую компанию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Ardent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</a:t>
            </a:r>
            <a:r>
              <a:rPr lang="ru-RU" sz="1200" b="0" i="0" u="none" strike="noStrike" kern="1200" baseline="300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4"/>
              </a:rPr>
              <a:t>[5]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а уже в марте 2000 года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Ardent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была приобретена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Informix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b="0" i="0" u="none" strike="noStrike" kern="1200" baseline="300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4"/>
              </a:rPr>
              <a:t>[5]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В апреле 2001 года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11" tooltip="IBM (International Business Machines)"/>
              </a:rPr>
              <a:t>IBM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приобретает у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Informix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r>
              <a:rPr lang="ru-RU" sz="1200" b="0" i="0" u="none" strike="noStrike" kern="1200" baseline="300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4"/>
              </a:rPr>
              <a:t>[6]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технологию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 tooltip="СУБД (Система Управления Базами Данных)"/>
              </a:rPr>
              <a:t>СУБД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бренд, планы для будущих разработок (внутренний проект под кодовым именем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Arrowhead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а также базу в 100 тыс. клиентов. Таким образом,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11" tooltip="IBM (International Business Machines)"/>
              </a:rPr>
              <a:t>IBM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сделала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UniVerse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UniData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частью своей продуктовой линейки DB2. Позднее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11" tooltip="IBM (International Business Machines)"/>
              </a:rPr>
              <a:t>IBM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под собственным лейблом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Information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Management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создает отдел по управлению информацией и данными на базе семейства IBM U2, которое включало в себя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UniData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UniVerse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вместе с другими инструментами разработки: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SystemBuilder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Extensible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Architecture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(SB/XA), U2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Web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Development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Environment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(U2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Web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DE) 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wIntegrate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октябре 2009 года было объявлено о покупке компанией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Rocket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у компании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11" tooltip="IBM (International Business Machines)"/>
              </a:rPr>
              <a:t>IBM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всей линейки продуктов U2, которая впоследствии была объединена под общим названием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Rocket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U2.</a:t>
            </a:r>
            <a:r>
              <a:rPr lang="ru-RU" sz="1200" b="0" i="0" u="none" strike="noStrike" kern="1200" baseline="300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4"/>
              </a:rPr>
              <a:t>[7]</a:t>
            </a:r>
            <a:r>
              <a:rPr lang="ru-RU" sz="1200" b="0" i="0" u="none" strike="noStrike" kern="1200" baseline="300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4"/>
              </a:rPr>
              <a:t>[8]</a:t>
            </a:r>
            <a:endParaRPr lang="ru-RU" sz="1200" b="0" i="0" u="none" strike="noStrike" kern="1200" baseline="300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Структура системы</a:t>
            </a:r>
            <a:r>
              <a:rPr lang="ru-RU" sz="1200" b="0" i="0" u="none" strike="noStrike" kern="1200" baseline="300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4"/>
              </a:rPr>
              <a:t>[Источник 2]</a:t>
            </a:r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 tooltip="СУБД (Система Управления Базами Данных)"/>
              </a:rPr>
              <a:t>СУБД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UniVerse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UniData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используют одни и те же технологии и очень похожи набором свойств и инструментов. Однако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UniData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построена по классической схеме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12" tooltip="VM (Virtual Machine)"/>
              </a:rPr>
              <a:t>виртуальной машины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а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UniVerse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как база данных, работающая со средствами базовой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10" tooltip="Операционная система"/>
              </a:rPr>
              <a:t>операционной системы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Кроме того, в отличие от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UniData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UniVerse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использует репликацию, а особенность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UniData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средства интеграции, предоставляющие возможность обращаться к другим базам данных, как к своим таблицам.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Поскольку эти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 tooltip="СУБД (Система Управления Базами Данных)"/>
              </a:rPr>
              <a:t>СУБД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очень похожи, то дальнейший их обзор будет вестись со ссылкой на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 tooltip="СУБД (Система Управления Базами Данных)"/>
              </a:rPr>
              <a:t>СУБД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UniVerse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UniVerse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включает в себя следующие компоненты: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четыре процессора интерактивных языков: командный процессор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UniVerse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ProVerb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UniVerse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Editor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и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ReVise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процессор процедурного языка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UniVerse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BASIC;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BASIC-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13" tooltip="Интерпретатор"/>
              </a:rPr>
              <a:t>интерпретатор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который выполняет скомпилированные BASIC-программы;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набор утилит и процессов, которые вызывают языковые процессоры и 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13" tooltip="Интерпретатор"/>
              </a:rPr>
              <a:t>интерпретатор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для выполнения их задач;</a:t>
            </a:r>
          </a:p>
          <a:p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RetrieVe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процессор запросов базы данных и генератор отчетов;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файловый обработчик (</a:t>
            </a:r>
            <a:r>
              <a:rPr lang="ru-RU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5" tooltip="Английский язык"/>
              </a:rPr>
              <a:t>англ.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r>
              <a:rPr lang="ru-RU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</a:t>
            </a:r>
            <a:r>
              <a:rPr lang="ru-RU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handler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ru-RU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UniVerse</a:t>
            </a:r>
            <a:r>
              <a:rPr lang="ru-RU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u="none" strike="noStrike" kern="1200" baseline="300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0F566A-A76C-4521-B664-85EED0FF6372}" type="slidenum">
              <a:rPr lang="ru-RU" smtClean="0"/>
              <a:pPr>
                <a:defRPr/>
              </a:pPr>
              <a:t>11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noProof="0" smtClean="0"/>
              <a:t>Образец заголовка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ru-RU" noProof="0" smtClean="0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792A8D-ABD6-4348-8128-CAEFBBFD44F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611294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A9B869-4E60-4380-980A-5E4A47DE41E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591822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EBD117-905A-4603-B843-19CB0ED92E2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939267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A92008-49CE-4626-AF1C-26174ECE754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314473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E46D63-5256-4EE1-B4F9-06DC7013116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767623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4F8C2-6272-4023-AFFE-6A880DE0E1E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12197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17FA5-39CC-403C-A84F-B8339E343D3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4159965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D97E1-9162-476E-B4DE-B7F9E34AB6A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417541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F07DF2-946D-4C29-A073-ADA2654E5F7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41340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6107FE-72DE-4047-BDCF-A649BF5E061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215172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75DCF0-22C4-4319-BFE5-FEAB0069C75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8474880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ru-RU" noProof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C67E18-56AB-422F-B78F-B2FFC8AE8DE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249842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EF8BA2DF-1BDE-4573-B5EA-832CA5A97EC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заголовка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citforum.ru/seminars/cbd2002/010.shtml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123728" y="1828800"/>
            <a:ext cx="6867872" cy="2209800"/>
          </a:xfrm>
        </p:spPr>
        <p:txBody>
          <a:bodyPr/>
          <a:lstStyle/>
          <a:p>
            <a:pPr algn="ctr" eaLnBrk="1" hangingPunct="1">
              <a:spcBef>
                <a:spcPts val="2400"/>
              </a:spcBef>
            </a:pPr>
            <a:r>
              <a:rPr lang="ru-RU" altLang="ru-RU" dirty="0" err="1" smtClean="0"/>
              <a:t>Постреляционная</a:t>
            </a:r>
            <a:r>
              <a:rPr lang="ru-RU" altLang="ru-RU" dirty="0" smtClean="0"/>
              <a:t> модель</a:t>
            </a:r>
            <a:br>
              <a:rPr lang="ru-RU" altLang="ru-RU" dirty="0" smtClean="0"/>
            </a:br>
            <a:r>
              <a:rPr lang="en-US" dirty="0" err="1"/>
              <a:t>MultiValue</a:t>
            </a:r>
            <a:r>
              <a:rPr lang="ru-RU" dirty="0"/>
              <a:t> СУБД</a:t>
            </a:r>
            <a:endParaRPr lang="ru-RU" altLang="ru-RU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19944" y="4540250"/>
            <a:ext cx="8130356" cy="2044700"/>
          </a:xfrm>
        </p:spPr>
        <p:txBody>
          <a:bodyPr/>
          <a:lstStyle/>
          <a:p>
            <a:r>
              <a:rPr lang="en-US" sz="2000" dirty="0">
                <a:hlinkClick r:id="rId2"/>
              </a:rPr>
              <a:t>http://citforum.ru/seminars/cbd2002/010.shtml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title"/>
          </p:nvPr>
        </p:nvSpPr>
        <p:spPr>
          <a:xfrm>
            <a:off x="1061610" y="-36385"/>
            <a:ext cx="6840760" cy="585065"/>
          </a:xfrm>
        </p:spPr>
        <p:txBody>
          <a:bodyPr/>
          <a:lstStyle/>
          <a:p>
            <a:pPr algn="ctr"/>
            <a:r>
              <a:rPr lang="ru-RU" sz="3600" dirty="0" err="1" smtClean="0">
                <a:solidFill>
                  <a:schemeClr val="bg2"/>
                </a:solidFill>
              </a:rPr>
              <a:t>Постреляционная</a:t>
            </a:r>
            <a:r>
              <a:rPr lang="ru-RU" sz="3600" dirty="0" smtClean="0">
                <a:solidFill>
                  <a:schemeClr val="bg2"/>
                </a:solidFill>
              </a:rPr>
              <a:t> модель</a:t>
            </a:r>
          </a:p>
        </p:txBody>
      </p:sp>
      <p:sp>
        <p:nvSpPr>
          <p:cNvPr id="4099" name="Объект 2"/>
          <p:cNvSpPr>
            <a:spLocks noGrp="1"/>
          </p:cNvSpPr>
          <p:nvPr>
            <p:ph idx="1"/>
          </p:nvPr>
        </p:nvSpPr>
        <p:spPr>
          <a:xfrm>
            <a:off x="18510" y="773704"/>
            <a:ext cx="9144000" cy="5670631"/>
          </a:xfrm>
        </p:spPr>
        <p:txBody>
          <a:bodyPr>
            <a:normAutofit fontScale="92500" lnSpcReduction="10000"/>
          </a:bodyPr>
          <a:lstStyle/>
          <a:p>
            <a:r>
              <a:rPr lang="ru-RU" sz="2400" dirty="0" smtClean="0"/>
              <a:t>Важным </a:t>
            </a:r>
            <a:r>
              <a:rPr lang="ru-RU" sz="2400" dirty="0"/>
              <a:t>аспектом традиционной реляционной модели данных является тот факт, что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элементы данных</a:t>
            </a:r>
            <a:r>
              <a:rPr lang="ru-RU" sz="2400" dirty="0"/>
              <a:t>, которые хранятся на пересечении строк и столбцов таблицы,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должны быть неделимы и единственны</a:t>
            </a:r>
            <a:r>
              <a:rPr lang="ru-RU" sz="2400" dirty="0"/>
              <a:t>. </a:t>
            </a:r>
          </a:p>
          <a:p>
            <a:r>
              <a:rPr lang="ru-RU" sz="2400" dirty="0"/>
              <a:t>Такое правило было заложено в основу реляционной алгебры при ее разработке как математической модели данных</a:t>
            </a:r>
            <a:r>
              <a:rPr lang="ru-RU" sz="2400" dirty="0" smtClean="0"/>
              <a:t>.</a:t>
            </a:r>
          </a:p>
          <a:p>
            <a:r>
              <a:rPr lang="ru-RU" sz="2400" dirty="0" err="1" smtClean="0"/>
              <a:t>Постреляционная</a:t>
            </a:r>
            <a:r>
              <a:rPr lang="ru-RU" sz="2400" dirty="0" smtClean="0"/>
              <a:t> модель представляет собой </a:t>
            </a:r>
            <a:r>
              <a:rPr lang="ru-RU" sz="2400" dirty="0" smtClean="0">
                <a:solidFill>
                  <a:srgbClr val="FF0000"/>
                </a:solidFill>
              </a:rPr>
              <a:t>расширенную реляционную модель</a:t>
            </a:r>
            <a:r>
              <a:rPr lang="ru-RU" sz="2400" dirty="0" smtClean="0"/>
              <a:t>, снимающую ограничение неделимости данных. </a:t>
            </a:r>
          </a:p>
          <a:p>
            <a:r>
              <a:rPr lang="ru-RU" sz="2400" dirty="0" smtClean="0"/>
              <a:t>Модель допускает многозначные поля – поля, значения которых состоят из множества </a:t>
            </a:r>
            <a:r>
              <a:rPr lang="ru-RU" sz="2400" dirty="0" err="1" smtClean="0"/>
              <a:t>подзначений</a:t>
            </a:r>
            <a:r>
              <a:rPr lang="ru-RU" sz="2400" dirty="0" smtClean="0"/>
              <a:t>. </a:t>
            </a:r>
          </a:p>
          <a:p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Набор значений многозначных полей </a:t>
            </a:r>
            <a:r>
              <a:rPr lang="ru-RU" sz="2400" dirty="0" smtClean="0"/>
              <a:t>считается </a:t>
            </a:r>
            <a:r>
              <a:rPr lang="ru-RU" sz="2400" dirty="0" smtClean="0">
                <a:solidFill>
                  <a:srgbClr val="C00000"/>
                </a:solidFill>
              </a:rPr>
              <a:t>самостоятельной таблицей</a:t>
            </a:r>
            <a:r>
              <a:rPr lang="ru-RU" sz="2400" dirty="0" smtClean="0"/>
              <a:t>, </a:t>
            </a:r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встроенной в основную таблицу</a:t>
            </a:r>
            <a:r>
              <a:rPr lang="ru-RU" sz="2400" dirty="0" smtClean="0"/>
              <a:t>.</a:t>
            </a:r>
          </a:p>
          <a:p>
            <a:r>
              <a:rPr lang="ru-RU" sz="2400" dirty="0" smtClean="0"/>
              <a:t>Таким образом, модель использует </a:t>
            </a:r>
            <a:r>
              <a:rPr lang="ru-RU" sz="2400" dirty="0" smtClean="0">
                <a:solidFill>
                  <a:srgbClr val="FF0000"/>
                </a:solidFill>
              </a:rPr>
              <a:t>трехмерные структуры</a:t>
            </a:r>
            <a:r>
              <a:rPr lang="ru-RU" sz="2400" dirty="0" smtClean="0"/>
              <a:t>, позволяя хранить </a:t>
            </a:r>
            <a:r>
              <a:rPr lang="ru-RU" sz="2400" dirty="0" smtClean="0">
                <a:solidFill>
                  <a:srgbClr val="3333FF"/>
                </a:solidFill>
              </a:rPr>
              <a:t>в полях </a:t>
            </a:r>
            <a:r>
              <a:rPr lang="ru-RU" sz="2400" dirty="0" smtClean="0"/>
              <a:t>таблицы </a:t>
            </a:r>
            <a:r>
              <a:rPr lang="ru-RU" sz="2400" i="1" dirty="0" smtClean="0">
                <a:solidFill>
                  <a:srgbClr val="3333FF"/>
                </a:solidFill>
              </a:rPr>
              <a:t>другие таблицы</a:t>
            </a:r>
            <a:r>
              <a:rPr lang="ru-RU" sz="2400" dirty="0" smtClean="0"/>
              <a:t>. Тем самым расширяются возможности по описанию </a:t>
            </a:r>
            <a:r>
              <a:rPr lang="ru-RU" sz="2400" dirty="0" smtClean="0">
                <a:solidFill>
                  <a:srgbClr val="FF0000"/>
                </a:solidFill>
              </a:rPr>
              <a:t>сложных объектов</a:t>
            </a:r>
            <a:r>
              <a:rPr lang="ru-RU" sz="2400" dirty="0" smtClean="0"/>
              <a:t> реального мира или </a:t>
            </a:r>
            <a:r>
              <a:rPr lang="ru-RU" sz="2400" dirty="0" smtClean="0">
                <a:solidFill>
                  <a:srgbClr val="FF0000"/>
                </a:solidFill>
              </a:rPr>
              <a:t>связей между объектами</a:t>
            </a:r>
            <a:r>
              <a:rPr lang="ru-RU" sz="2400" dirty="0" smtClean="0"/>
              <a:t>. 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endParaRPr lang="ru-RU" sz="2400" dirty="0" smtClean="0"/>
          </a:p>
          <a:p>
            <a:pPr marL="609600" indent="-609600">
              <a:buFont typeface="Wingdings" pitchFamily="2" charset="2"/>
              <a:buNone/>
              <a:defRPr/>
            </a:pPr>
            <a:endParaRPr lang="ru-RU" sz="2400" dirty="0" smtClean="0"/>
          </a:p>
        </p:txBody>
      </p:sp>
      <p:sp>
        <p:nvSpPr>
          <p:cNvPr id="410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6107D0A-A05A-43B6-B2A8-A5A0752DC352}" type="slidenum">
              <a:rPr lang="ru-RU" altLang="ru-RU" sz="1200" smtClean="0">
                <a:latin typeface="Arial Black" pitchFamily="34" charset="0"/>
              </a:rPr>
              <a:pPr eaLnBrk="1" hangingPunct="1"/>
              <a:t>2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title"/>
          </p:nvPr>
        </p:nvSpPr>
        <p:spPr>
          <a:xfrm>
            <a:off x="1061610" y="-36385"/>
            <a:ext cx="6840760" cy="585065"/>
          </a:xfrm>
        </p:spPr>
        <p:txBody>
          <a:bodyPr/>
          <a:lstStyle/>
          <a:p>
            <a:pPr algn="ctr"/>
            <a:r>
              <a:rPr lang="ru-RU" sz="3600" dirty="0" smtClean="0">
                <a:solidFill>
                  <a:schemeClr val="bg2"/>
                </a:solidFill>
              </a:rPr>
              <a:t>Бизнес объекты</a:t>
            </a:r>
          </a:p>
        </p:txBody>
      </p:sp>
      <p:sp>
        <p:nvSpPr>
          <p:cNvPr id="4099" name="Объект 2"/>
          <p:cNvSpPr>
            <a:spLocks noGrp="1"/>
          </p:cNvSpPr>
          <p:nvPr>
            <p:ph idx="1"/>
          </p:nvPr>
        </p:nvSpPr>
        <p:spPr>
          <a:xfrm>
            <a:off x="0" y="638690"/>
            <a:ext cx="9144000" cy="2565285"/>
          </a:xfrm>
        </p:spPr>
        <p:txBody>
          <a:bodyPr lIns="36000" tIns="36000" rIns="36000" bIns="36000"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ru-RU" sz="2000" dirty="0" smtClean="0"/>
              <a:t>Существует целый класс бизнес задач (так называемые учетно-аналитические задачи), в которых обращение к данным удобно вести по так называемым "</a:t>
            </a:r>
            <a:r>
              <a:rPr lang="ru-RU" sz="2000" dirty="0" err="1" smtClean="0">
                <a:solidFill>
                  <a:srgbClr val="3333FF"/>
                </a:solidFill>
              </a:rPr>
              <a:t>бизнес-объектам</a:t>
            </a:r>
            <a:r>
              <a:rPr lang="ru-RU" sz="2000" dirty="0" smtClean="0"/>
              <a:t>" - аналогам реальных документов.</a:t>
            </a:r>
          </a:p>
          <a:p>
            <a:pPr>
              <a:lnSpc>
                <a:spcPct val="120000"/>
              </a:lnSpc>
            </a:pPr>
            <a:r>
              <a:rPr lang="ru-RU" sz="2000" dirty="0" smtClean="0"/>
              <a:t>В Финансовой сфере примерами бизнес объектов могут служить </a:t>
            </a:r>
            <a:r>
              <a:rPr lang="ru-RU" sz="2000" dirty="0" smtClean="0">
                <a:solidFill>
                  <a:srgbClr val="3333FF"/>
                </a:solidFill>
              </a:rPr>
              <a:t>счета-фактуры</a:t>
            </a:r>
            <a:r>
              <a:rPr lang="ru-RU" sz="2000" dirty="0" smtClean="0"/>
              <a:t>, </a:t>
            </a:r>
            <a:r>
              <a:rPr lang="ru-RU" sz="2000" dirty="0" smtClean="0">
                <a:solidFill>
                  <a:srgbClr val="3333FF"/>
                </a:solidFill>
              </a:rPr>
              <a:t>мемориальные ордера</a:t>
            </a:r>
            <a:r>
              <a:rPr lang="ru-RU" sz="2000" dirty="0" smtClean="0"/>
              <a:t>, </a:t>
            </a:r>
            <a:r>
              <a:rPr lang="ru-RU" sz="2000" dirty="0" smtClean="0">
                <a:solidFill>
                  <a:srgbClr val="3333FF"/>
                </a:solidFill>
              </a:rPr>
              <a:t>накладные</a:t>
            </a:r>
            <a:r>
              <a:rPr lang="ru-RU" sz="2000" dirty="0" smtClean="0"/>
              <a:t>.</a:t>
            </a:r>
          </a:p>
          <a:p>
            <a:pPr>
              <a:lnSpc>
                <a:spcPct val="120000"/>
              </a:lnSpc>
            </a:pPr>
            <a:r>
              <a:rPr lang="ru-RU" sz="2000" dirty="0" smtClean="0"/>
              <a:t>С информационной точки зрения бизнес объекты представляют собой наборы информации, зачастую довольно сложные, содержащие повторяющиеся элементы, но связанные в единое целое. </a:t>
            </a:r>
          </a:p>
          <a:p>
            <a:pPr>
              <a:lnSpc>
                <a:spcPct val="120000"/>
              </a:lnSpc>
            </a:pPr>
            <a:r>
              <a:rPr lang="ru-RU" sz="2000" dirty="0" smtClean="0"/>
              <a:t>Бизнес объекты иерархичны по своей сути. 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Например</a:t>
            </a:r>
            <a:r>
              <a:rPr lang="ru-RU" sz="2000" dirty="0" smtClean="0"/>
              <a:t>, </a:t>
            </a:r>
            <a:r>
              <a:rPr lang="ru-RU" sz="2000" dirty="0" smtClean="0">
                <a:solidFill>
                  <a:srgbClr val="3333FF"/>
                </a:solidFill>
              </a:rPr>
              <a:t>строки товаров в счете-фактуре не могут </a:t>
            </a:r>
            <a:r>
              <a:rPr lang="ru-RU" sz="2000" dirty="0" smtClean="0">
                <a:solidFill>
                  <a:srgbClr val="3333FF"/>
                </a:solidFill>
              </a:rPr>
              <a:t>существовать отдельно</a:t>
            </a:r>
            <a:r>
              <a:rPr lang="ru-RU" sz="2000" dirty="0" smtClean="0"/>
              <a:t> </a:t>
            </a:r>
            <a:r>
              <a:rPr lang="ru-RU" sz="2000" dirty="0" smtClean="0"/>
              <a:t>и не имеют смысла без самого счета. </a:t>
            </a:r>
          </a:p>
          <a:p>
            <a:pPr marL="609600" indent="-609600">
              <a:lnSpc>
                <a:spcPct val="120000"/>
              </a:lnSpc>
              <a:buFont typeface="Wingdings" pitchFamily="2" charset="2"/>
              <a:buNone/>
              <a:defRPr/>
            </a:pPr>
            <a:endParaRPr lang="ru-RU" sz="2000" dirty="0" smtClean="0"/>
          </a:p>
        </p:txBody>
      </p:sp>
      <p:sp>
        <p:nvSpPr>
          <p:cNvPr id="410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6107D0A-A05A-43B6-B2A8-A5A0752DC352}" type="slidenum">
              <a:rPr lang="ru-RU" altLang="ru-RU" sz="1200" smtClean="0">
                <a:latin typeface="Arial Black" pitchFamily="34" charset="0"/>
              </a:rPr>
              <a:pPr eaLnBrk="1" hangingPunct="1"/>
              <a:t>3</a:t>
            </a:fld>
            <a:endParaRPr lang="ru-RU" altLang="ru-RU" sz="1200" smtClean="0">
              <a:latin typeface="Arial Black" pitchFamily="34" charset="0"/>
            </a:endParaRPr>
          </a:p>
        </p:txBody>
      </p:sp>
      <p:sp>
        <p:nvSpPr>
          <p:cNvPr id="6" name="Объект 2"/>
          <p:cNvSpPr txBox="1">
            <a:spLocks/>
          </p:cNvSpPr>
          <p:nvPr/>
        </p:nvSpPr>
        <p:spPr bwMode="auto">
          <a:xfrm>
            <a:off x="6012160" y="3474005"/>
            <a:ext cx="2925324" cy="315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rmAutofit/>
          </a:bodyPr>
          <a:lstStyle/>
          <a:p>
            <a:pPr marL="609600" indent="-609600" eaLnBrk="0" hangingPunct="0">
              <a:lnSpc>
                <a:spcPct val="120000"/>
              </a:lnSpc>
              <a:defRPr/>
            </a:pPr>
            <a:endParaRPr kumimoji="0" lang="ru-RU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6515" y="3789040"/>
            <a:ext cx="2655295" cy="28939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rmAutofit/>
          </a:bodyPr>
          <a:lstStyle/>
          <a:p>
            <a:pPr algn="ctr"/>
            <a:r>
              <a:rPr lang="ru-RU" sz="1400" b="1" u="sng" dirty="0" smtClean="0"/>
              <a:t>Счет фактура</a:t>
            </a:r>
          </a:p>
          <a:p>
            <a:r>
              <a:rPr lang="ru-RU" sz="1200" dirty="0" smtClean="0"/>
              <a:t>Номер </a:t>
            </a:r>
            <a:r>
              <a:rPr lang="ru-RU" sz="1200" u="sng" dirty="0" smtClean="0"/>
              <a:t>12-9-12</a:t>
            </a:r>
          </a:p>
          <a:p>
            <a:r>
              <a:rPr lang="ru-RU" sz="1200" dirty="0" smtClean="0"/>
              <a:t>Дата </a:t>
            </a:r>
            <a:r>
              <a:rPr lang="ru-RU" sz="1200" u="sng" dirty="0" smtClean="0"/>
              <a:t>12.04.2015 </a:t>
            </a:r>
          </a:p>
          <a:p>
            <a:r>
              <a:rPr lang="ru-RU" sz="1200" b="1" dirty="0" smtClean="0"/>
              <a:t>Наименование поставщика </a:t>
            </a:r>
          </a:p>
          <a:p>
            <a:r>
              <a:rPr lang="ru-RU" sz="1200" dirty="0" err="1" smtClean="0"/>
              <a:t>Бердский</a:t>
            </a:r>
            <a:r>
              <a:rPr lang="ru-RU" sz="1200" dirty="0" smtClean="0"/>
              <a:t> </a:t>
            </a:r>
            <a:r>
              <a:rPr lang="ru-RU" sz="1200" dirty="0" err="1" smtClean="0"/>
              <a:t>хлебокомбинат</a:t>
            </a:r>
            <a:r>
              <a:rPr lang="ru-RU" sz="1200" dirty="0" smtClean="0"/>
              <a:t> </a:t>
            </a:r>
          </a:p>
          <a:p>
            <a:r>
              <a:rPr lang="ru-RU" sz="1200" b="1" dirty="0" smtClean="0"/>
              <a:t>Наименование получателя</a:t>
            </a:r>
          </a:p>
          <a:p>
            <a:r>
              <a:rPr lang="ru-RU" sz="1200" dirty="0" smtClean="0"/>
              <a:t>ООО «Золотая роща»</a:t>
            </a:r>
          </a:p>
          <a:p>
            <a:endParaRPr lang="ru-RU" sz="1200" dirty="0" smtClean="0"/>
          </a:p>
          <a:p>
            <a:pPr marL="228600" indent="-228600">
              <a:buAutoNum type="arabicPeriod"/>
            </a:pPr>
            <a:r>
              <a:rPr lang="ru-RU" sz="1200" dirty="0" smtClean="0"/>
              <a:t>Хлеб 1 сорт    	100 </a:t>
            </a:r>
            <a:r>
              <a:rPr lang="ru-RU" sz="1200" dirty="0" err="1" smtClean="0"/>
              <a:t>шт</a:t>
            </a:r>
            <a:endParaRPr lang="ru-RU" sz="1200" dirty="0" smtClean="0"/>
          </a:p>
          <a:p>
            <a:pPr marL="228600" indent="-228600">
              <a:buAutoNum type="arabicPeriod"/>
            </a:pPr>
            <a:r>
              <a:rPr lang="ru-RU" sz="1200" dirty="0" smtClean="0"/>
              <a:t>Зефир </a:t>
            </a:r>
            <a:r>
              <a:rPr lang="ru-RU" sz="1200" dirty="0" err="1" smtClean="0"/>
              <a:t>в\ш</a:t>
            </a:r>
            <a:r>
              <a:rPr lang="ru-RU" sz="1200" dirty="0" smtClean="0"/>
              <a:t>       	200 </a:t>
            </a:r>
            <a:r>
              <a:rPr lang="ru-RU" sz="1200" dirty="0" err="1" smtClean="0"/>
              <a:t>кор</a:t>
            </a:r>
            <a:r>
              <a:rPr lang="ru-RU" sz="1200" dirty="0" smtClean="0"/>
              <a:t>.</a:t>
            </a:r>
          </a:p>
          <a:p>
            <a:pPr marL="228600" indent="-228600">
              <a:buAutoNum type="arabicPeriod"/>
            </a:pPr>
            <a:r>
              <a:rPr lang="ru-RU" sz="1200" dirty="0" smtClean="0"/>
              <a:t>Зефир «Ванильный»  50 кг</a:t>
            </a:r>
          </a:p>
          <a:p>
            <a:pPr marL="228600" indent="-228600">
              <a:buAutoNum type="arabicPeriod"/>
            </a:pPr>
            <a:r>
              <a:rPr lang="ru-RU" sz="1200" dirty="0" smtClean="0"/>
              <a:t>…..</a:t>
            </a:r>
            <a:endParaRPr lang="en-US" sz="1200" dirty="0" smtClean="0"/>
          </a:p>
          <a:p>
            <a:endParaRPr lang="ru-RU" sz="1200" b="1" dirty="0" smtClean="0"/>
          </a:p>
          <a:p>
            <a:endParaRPr lang="ru-RU" sz="1200" b="1" dirty="0" smtClean="0"/>
          </a:p>
          <a:p>
            <a:endParaRPr lang="ru-RU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656565" y="3383995"/>
            <a:ext cx="184520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i="1" dirty="0" smtClean="0">
                <a:latin typeface="Times New Roman" pitchFamily="18" charset="0"/>
                <a:cs typeface="Times New Roman" pitchFamily="18" charset="0"/>
              </a:rPr>
              <a:t>Бизнес-объект</a:t>
            </a:r>
            <a:endParaRPr lang="ru-RU" sz="18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86834" y="3699030"/>
            <a:ext cx="2430271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 smtClean="0">
                <a:latin typeface="+mn-lt"/>
                <a:cs typeface="Times New Roman" pitchFamily="18" charset="0"/>
              </a:rPr>
              <a:t>Таблица «Счета-фактуры</a:t>
            </a:r>
            <a:endParaRPr lang="ru-RU" sz="1200" i="1" dirty="0">
              <a:latin typeface="+mn-lt"/>
              <a:cs typeface="Times New Roman" pitchFamily="18" charset="0"/>
            </a:endParaRPr>
          </a:p>
        </p:txBody>
      </p:sp>
      <p:graphicFrame>
        <p:nvGraphicFramePr>
          <p:cNvPr id="14" name="Таблица 13"/>
          <p:cNvGraphicFramePr>
            <a:graphicFrameLocks noGrp="1"/>
          </p:cNvGraphicFramePr>
          <p:nvPr/>
        </p:nvGraphicFramePr>
        <p:xfrm>
          <a:off x="3105149" y="4010771"/>
          <a:ext cx="2907011" cy="1128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74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7507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4510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1009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02819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N</a:t>
                      </a:r>
                      <a:endParaRPr lang="ru-RU" sz="800" dirty="0"/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dirty="0" smtClean="0"/>
                        <a:t>Дата </a:t>
                      </a:r>
                      <a:endParaRPr lang="ru-RU" sz="800" dirty="0"/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dirty="0" err="1" smtClean="0"/>
                        <a:t>Наим</a:t>
                      </a:r>
                      <a:r>
                        <a:rPr lang="ru-RU" sz="800" dirty="0" smtClean="0"/>
                        <a:t> пост</a:t>
                      </a:r>
                      <a:endParaRPr lang="ru-RU" sz="800" dirty="0"/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dirty="0" err="1" smtClean="0"/>
                        <a:t>Наим</a:t>
                      </a:r>
                      <a:r>
                        <a:rPr lang="ru-RU" sz="800" dirty="0" smtClean="0"/>
                        <a:t> пол</a:t>
                      </a:r>
                      <a:endParaRPr lang="ru-RU" sz="800" dirty="0"/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86350">
                <a:tc>
                  <a:txBody>
                    <a:bodyPr/>
                    <a:lstStyle/>
                    <a:p>
                      <a:pPr algn="ctr"/>
                      <a:r>
                        <a:rPr lang="ru-RU" sz="800" u="sng" dirty="0" smtClean="0"/>
                        <a:t>12-9-12</a:t>
                      </a:r>
                      <a:endParaRPr lang="ru-RU" sz="800" dirty="0"/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u="sng" dirty="0" smtClean="0"/>
                        <a:t>12.04.2015 </a:t>
                      </a:r>
                      <a:endParaRPr lang="ru-RU" sz="800" dirty="0"/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dirty="0" err="1" smtClean="0"/>
                        <a:t>Бердский</a:t>
                      </a:r>
                      <a:r>
                        <a:rPr lang="ru-RU" sz="800" dirty="0" smtClean="0"/>
                        <a:t> </a:t>
                      </a:r>
                      <a:r>
                        <a:rPr lang="ru-RU" sz="800" dirty="0" err="1" smtClean="0"/>
                        <a:t>хлебокомбинат</a:t>
                      </a:r>
                      <a:r>
                        <a:rPr lang="ru-RU" sz="800" dirty="0" smtClean="0"/>
                        <a:t> </a:t>
                      </a:r>
                    </a:p>
                    <a:p>
                      <a:pPr algn="ctr"/>
                      <a:endParaRPr lang="ru-RU" sz="800" dirty="0"/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dirty="0" smtClean="0"/>
                        <a:t>ООО «Золотая роща»</a:t>
                      </a:r>
                    </a:p>
                    <a:p>
                      <a:pPr algn="ctr"/>
                      <a:endParaRPr lang="ru-RU" sz="800" dirty="0"/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86350">
                <a:tc>
                  <a:txBody>
                    <a:bodyPr/>
                    <a:lstStyle/>
                    <a:p>
                      <a:pPr algn="ctr"/>
                      <a:endParaRPr lang="ru-RU" sz="800"/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ru-RU" sz="800"/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ru-RU" sz="800"/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ru-RU" sz="800"/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86350">
                <a:tc>
                  <a:txBody>
                    <a:bodyPr/>
                    <a:lstStyle/>
                    <a:p>
                      <a:pPr algn="ctr"/>
                      <a:endParaRPr lang="ru-RU" sz="800" dirty="0"/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ru-RU" sz="800" dirty="0"/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ru-RU" sz="800" dirty="0"/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ru-RU" sz="800" dirty="0"/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Таблица 14"/>
          <p:cNvGraphicFramePr>
            <a:graphicFrameLocks noGrp="1"/>
          </p:cNvGraphicFramePr>
          <p:nvPr/>
        </p:nvGraphicFramePr>
        <p:xfrm>
          <a:off x="3086835" y="5589240"/>
          <a:ext cx="3015334" cy="884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77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40243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3007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9505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02819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/>
                        <a:t>N</a:t>
                      </a:r>
                      <a:endParaRPr lang="ru-RU" sz="800" dirty="0"/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dirty="0" smtClean="0"/>
                        <a:t>Наименование  товара</a:t>
                      </a:r>
                      <a:endParaRPr lang="ru-RU" sz="800" dirty="0"/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dirty="0" smtClean="0"/>
                        <a:t>Кол.</a:t>
                      </a:r>
                      <a:endParaRPr lang="ru-RU" sz="800" dirty="0"/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dirty="0" err="1" smtClean="0"/>
                        <a:t>Ед</a:t>
                      </a:r>
                      <a:r>
                        <a:rPr lang="ru-RU" sz="800" dirty="0" smtClean="0"/>
                        <a:t> .</a:t>
                      </a:r>
                      <a:r>
                        <a:rPr lang="ru-RU" sz="800" dirty="0" err="1" smtClean="0"/>
                        <a:t>изм</a:t>
                      </a:r>
                      <a:endParaRPr lang="ru-RU" sz="800" dirty="0"/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86350">
                <a:tc>
                  <a:txBody>
                    <a:bodyPr/>
                    <a:lstStyle/>
                    <a:p>
                      <a:pPr algn="ctr"/>
                      <a:r>
                        <a:rPr lang="ru-RU" sz="800" u="sng" dirty="0" smtClean="0"/>
                        <a:t>12-9-12</a:t>
                      </a:r>
                      <a:endParaRPr lang="ru-RU" sz="800" dirty="0"/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dirty="0" smtClean="0"/>
                        <a:t>Хлеб 1 сорт </a:t>
                      </a:r>
                      <a:endParaRPr lang="ru-RU" sz="800" dirty="0"/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dirty="0" smtClean="0"/>
                        <a:t>100</a:t>
                      </a:r>
                      <a:endParaRPr lang="ru-RU" sz="800" dirty="0"/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dirty="0" err="1" smtClean="0"/>
                        <a:t>шт</a:t>
                      </a:r>
                      <a:endParaRPr lang="ru-RU" sz="800" dirty="0"/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863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u="sng" dirty="0" smtClean="0"/>
                        <a:t>12-9-12</a:t>
                      </a:r>
                      <a:endParaRPr lang="ru-RU" sz="800" dirty="0" smtClean="0"/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dirty="0" smtClean="0"/>
                        <a:t>Зефир </a:t>
                      </a:r>
                      <a:r>
                        <a:rPr lang="ru-RU" sz="800" dirty="0" err="1" smtClean="0"/>
                        <a:t>в\ш</a:t>
                      </a:r>
                      <a:r>
                        <a:rPr lang="ru-RU" sz="800" dirty="0" smtClean="0"/>
                        <a:t> </a:t>
                      </a:r>
                      <a:endParaRPr lang="ru-RU" sz="800" dirty="0"/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dirty="0" smtClean="0"/>
                        <a:t>200.</a:t>
                      </a:r>
                      <a:endParaRPr lang="ru-RU" sz="800" dirty="0"/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dirty="0" err="1" smtClean="0"/>
                        <a:t>кор</a:t>
                      </a:r>
                      <a:endParaRPr lang="ru-RU" sz="800" dirty="0"/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863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800" u="sng" dirty="0" smtClean="0"/>
                        <a:t>12-9-12</a:t>
                      </a:r>
                      <a:endParaRPr lang="ru-RU" sz="800" dirty="0" smtClean="0"/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dirty="0" smtClean="0"/>
                        <a:t>Зефир «Ванильный» </a:t>
                      </a:r>
                      <a:endParaRPr lang="ru-RU" sz="800" dirty="0"/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dirty="0" smtClean="0"/>
                        <a:t>50</a:t>
                      </a:r>
                      <a:endParaRPr lang="ru-RU" sz="800" dirty="0"/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800" dirty="0" smtClean="0"/>
                        <a:t>кг</a:t>
                      </a:r>
                      <a:endParaRPr lang="ru-RU" sz="800" dirty="0"/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3131841" y="5274205"/>
            <a:ext cx="2790310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 smtClean="0">
                <a:latin typeface="+mn-lt"/>
                <a:cs typeface="Times New Roman" pitchFamily="18" charset="0"/>
              </a:rPr>
              <a:t>Таблица «Строки счетов-фактур»</a:t>
            </a:r>
            <a:endParaRPr lang="ru-RU" sz="1200" i="1" dirty="0">
              <a:latin typeface="+mn-lt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327400" y="3162300"/>
            <a:ext cx="262255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i="1" dirty="0" smtClean="0">
                <a:latin typeface="Times New Roman" pitchFamily="18" charset="0"/>
                <a:cs typeface="Times New Roman" pitchFamily="18" charset="0"/>
              </a:rPr>
              <a:t>Содержимое БД</a:t>
            </a:r>
            <a:br>
              <a:rPr lang="ru-RU" sz="1600" i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600" i="1" dirty="0" smtClean="0">
                <a:latin typeface="Times New Roman" pitchFamily="18" charset="0"/>
                <a:cs typeface="Times New Roman" pitchFamily="18" charset="0"/>
              </a:rPr>
              <a:t>(реляционная модель)</a:t>
            </a:r>
            <a:endParaRPr lang="ru-RU" sz="16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C:\Users\Администратор\Pictures\4_10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1078" y="4184650"/>
            <a:ext cx="2635223" cy="1600200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6261100" y="3206750"/>
            <a:ext cx="262255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i="1" dirty="0" smtClean="0">
                <a:latin typeface="Times New Roman" pitchFamily="18" charset="0"/>
                <a:cs typeface="Times New Roman" pitchFamily="18" charset="0"/>
              </a:rPr>
              <a:t>Содержимое БД</a:t>
            </a:r>
            <a:br>
              <a:rPr lang="ru-RU" sz="1600" i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600" i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1600" i="1" dirty="0" err="1" smtClean="0">
                <a:latin typeface="Times New Roman" pitchFamily="18" charset="0"/>
                <a:cs typeface="Times New Roman" pitchFamily="18" charset="0"/>
              </a:rPr>
              <a:t>постреляционная</a:t>
            </a:r>
            <a:r>
              <a:rPr lang="ru-RU" sz="1600" i="1" dirty="0" smtClean="0">
                <a:latin typeface="Times New Roman" pitchFamily="18" charset="0"/>
                <a:cs typeface="Times New Roman" pitchFamily="18" charset="0"/>
              </a:rPr>
              <a:t> модель)</a:t>
            </a:r>
            <a:endParaRPr lang="ru-RU" sz="1600" i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 rot="16200000" flipH="1">
            <a:off x="4527551" y="4984750"/>
            <a:ext cx="3244850" cy="4445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 rot="16200000" flipH="1">
            <a:off x="1371600" y="5029200"/>
            <a:ext cx="3244850" cy="4445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  <p:bldP spid="9" grpId="0" uiExpand="1" build="p" animBg="1"/>
      <p:bldP spid="10" grpId="0" build="p"/>
      <p:bldP spid="12" grpId="0"/>
      <p:bldP spid="16" grpId="0"/>
      <p:bldP spid="17" grpId="0" build="p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title"/>
          </p:nvPr>
        </p:nvSpPr>
        <p:spPr>
          <a:xfrm>
            <a:off x="438150" y="-36385"/>
            <a:ext cx="8401050" cy="585065"/>
          </a:xfrm>
        </p:spPr>
        <p:txBody>
          <a:bodyPr/>
          <a:lstStyle/>
          <a:p>
            <a:pPr algn="ctr"/>
            <a:r>
              <a:rPr lang="ru-RU" sz="3600" dirty="0" smtClean="0">
                <a:solidFill>
                  <a:schemeClr val="bg2"/>
                </a:solidFill>
              </a:rPr>
              <a:t>Не первая нормальная форма NF2</a:t>
            </a:r>
          </a:p>
        </p:txBody>
      </p:sp>
      <p:sp>
        <p:nvSpPr>
          <p:cNvPr id="4099" name="Объект 2"/>
          <p:cNvSpPr>
            <a:spLocks noGrp="1"/>
          </p:cNvSpPr>
          <p:nvPr>
            <p:ph idx="1"/>
          </p:nvPr>
        </p:nvSpPr>
        <p:spPr>
          <a:xfrm>
            <a:off x="56609" y="503675"/>
            <a:ext cx="9015891" cy="6032335"/>
          </a:xfrm>
        </p:spPr>
        <p:txBody>
          <a:bodyPr>
            <a:normAutofit lnSpcReduction="10000"/>
          </a:bodyPr>
          <a:lstStyle/>
          <a:p>
            <a:r>
              <a:rPr lang="ru-RU" sz="2400" b="1" dirty="0" smtClean="0"/>
              <a:t>Достоинством</a:t>
            </a:r>
            <a:r>
              <a:rPr lang="ru-RU" sz="2400" dirty="0"/>
              <a:t> </a:t>
            </a:r>
            <a:r>
              <a:rPr lang="ru-RU" sz="2400" dirty="0" err="1"/>
              <a:t>постреляционной</a:t>
            </a:r>
            <a:r>
              <a:rPr lang="ru-RU" sz="2400" dirty="0"/>
              <a:t> модели является возможность представления </a:t>
            </a:r>
            <a:r>
              <a:rPr lang="ru-RU" sz="2400" dirty="0">
                <a:solidFill>
                  <a:srgbClr val="FF0000"/>
                </a:solidFill>
              </a:rPr>
              <a:t>совокупности связанных реляционных таблиц </a:t>
            </a:r>
            <a:r>
              <a:rPr lang="ru-RU" sz="2400" dirty="0">
                <a:solidFill>
                  <a:srgbClr val="3333FF"/>
                </a:solidFill>
              </a:rPr>
              <a:t>одной </a:t>
            </a:r>
            <a:r>
              <a:rPr lang="ru-RU" sz="2400" dirty="0" err="1">
                <a:solidFill>
                  <a:srgbClr val="3333FF"/>
                </a:solidFill>
              </a:rPr>
              <a:t>постреляционной</a:t>
            </a:r>
            <a:r>
              <a:rPr lang="ru-RU" sz="2400" dirty="0">
                <a:solidFill>
                  <a:srgbClr val="3333FF"/>
                </a:solidFill>
              </a:rPr>
              <a:t> таблицей</a:t>
            </a:r>
            <a:r>
              <a:rPr lang="ru-RU" sz="2400" dirty="0"/>
              <a:t>. </a:t>
            </a:r>
          </a:p>
          <a:p>
            <a:r>
              <a:rPr lang="ru-RU" sz="2400" dirty="0"/>
              <a:t>Это обеспечивает высокую наглядность представления информации и повышение эффективности её хранения и обработки.</a:t>
            </a:r>
          </a:p>
          <a:p>
            <a:r>
              <a:rPr lang="ru-RU" sz="2400" b="1" dirty="0"/>
              <a:t>Недостатком</a:t>
            </a:r>
            <a:r>
              <a:rPr lang="ru-RU" sz="2400" dirty="0"/>
              <a:t> </a:t>
            </a:r>
            <a:r>
              <a:rPr lang="ru-RU" sz="2400" dirty="0" err="1"/>
              <a:t>постреляционной</a:t>
            </a:r>
            <a:r>
              <a:rPr lang="ru-RU" sz="2400" dirty="0"/>
              <a:t> модели является сложность решения проблемы обеспечения целостности и непротиворечивости хранимых данных</a:t>
            </a:r>
            <a:r>
              <a:rPr lang="ru-RU" sz="2400" dirty="0" smtClean="0"/>
              <a:t>.</a:t>
            </a:r>
          </a:p>
          <a:p>
            <a:r>
              <a:rPr lang="ru-RU" sz="2400" dirty="0" smtClean="0"/>
              <a:t>В основе проблемы лежат три вопроса: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ü"/>
            </a:pPr>
            <a:r>
              <a:rPr lang="ru-RU" sz="2400" dirty="0" smtClean="0"/>
              <a:t>работа с полями переменной длины и группами записей;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ü"/>
            </a:pPr>
            <a:r>
              <a:rPr lang="ru-RU" sz="2400" dirty="0" smtClean="0"/>
              <a:t>управление отношениями между таблицами и полями;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ü"/>
            </a:pPr>
            <a:r>
              <a:rPr lang="ru-RU" sz="2400" dirty="0" smtClean="0"/>
              <a:t>отражение подлинно семантического содержания реальных структур, которые будут моделированы базой данных.</a:t>
            </a:r>
          </a:p>
        </p:txBody>
      </p:sp>
      <p:sp>
        <p:nvSpPr>
          <p:cNvPr id="410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6107D0A-A05A-43B6-B2A8-A5A0752DC352}" type="slidenum">
              <a:rPr lang="ru-RU" altLang="ru-RU" sz="1200" smtClean="0">
                <a:latin typeface="Arial Black" pitchFamily="34" charset="0"/>
              </a:rPr>
              <a:pPr eaLnBrk="1" hangingPunct="1"/>
              <a:t>4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title"/>
          </p:nvPr>
        </p:nvSpPr>
        <p:spPr>
          <a:xfrm>
            <a:off x="371475" y="406400"/>
            <a:ext cx="8401050" cy="682340"/>
          </a:xfrm>
        </p:spPr>
        <p:txBody>
          <a:bodyPr/>
          <a:lstStyle/>
          <a:p>
            <a:pPr algn="ctr"/>
            <a:r>
              <a:rPr lang="ru-RU" sz="3600" dirty="0" smtClean="0">
                <a:solidFill>
                  <a:schemeClr val="bg2"/>
                </a:solidFill>
              </a:rPr>
              <a:t>Не первая нормальная форма </a:t>
            </a:r>
            <a:r>
              <a:rPr lang="en-US" sz="3600" dirty="0" smtClean="0">
                <a:solidFill>
                  <a:schemeClr val="bg2"/>
                </a:solidFill>
              </a:rPr>
              <a:t>(</a:t>
            </a:r>
            <a:r>
              <a:rPr lang="ru-RU" sz="3600" dirty="0" smtClean="0">
                <a:solidFill>
                  <a:schemeClr val="bg2"/>
                </a:solidFill>
              </a:rPr>
              <a:t>NF2</a:t>
            </a:r>
            <a:r>
              <a:rPr lang="en-US" sz="3600" dirty="0" smtClean="0">
                <a:solidFill>
                  <a:schemeClr val="bg2"/>
                </a:solidFill>
              </a:rPr>
              <a:t>)</a:t>
            </a:r>
            <a:endParaRPr lang="ru-RU" sz="3600" dirty="0" smtClean="0">
              <a:solidFill>
                <a:schemeClr val="bg2"/>
              </a:solidFill>
            </a:endParaRPr>
          </a:p>
        </p:txBody>
      </p:sp>
      <p:sp>
        <p:nvSpPr>
          <p:cNvPr id="4099" name="Объект 2"/>
          <p:cNvSpPr>
            <a:spLocks noGrp="1"/>
          </p:cNvSpPr>
          <p:nvPr>
            <p:ph idx="1"/>
          </p:nvPr>
        </p:nvSpPr>
        <p:spPr>
          <a:xfrm>
            <a:off x="38100" y="1133744"/>
            <a:ext cx="9105900" cy="5535615"/>
          </a:xfrm>
        </p:spPr>
        <p:txBody>
          <a:bodyPr>
            <a:normAutofit lnSpcReduction="10000"/>
          </a:bodyPr>
          <a:lstStyle/>
          <a:p>
            <a:r>
              <a:rPr lang="ru-RU" sz="2400" dirty="0" smtClean="0"/>
              <a:t>Многие методологии проектирования данных позволяют </a:t>
            </a:r>
            <a:r>
              <a:rPr lang="ru-RU" sz="2400" u="sng" dirty="0" smtClean="0"/>
              <a:t>определять</a:t>
            </a:r>
            <a:r>
              <a:rPr lang="ru-RU" sz="2400" dirty="0" smtClean="0"/>
              <a:t> многозначные поля и </a:t>
            </a:r>
            <a:r>
              <a:rPr lang="ru-RU" sz="2400" u="sng" dirty="0" smtClean="0"/>
              <a:t>затем удалять </a:t>
            </a:r>
            <a:r>
              <a:rPr lang="ru-RU" sz="2400" dirty="0" smtClean="0"/>
              <a:t>их в процессе нормализации. </a:t>
            </a:r>
          </a:p>
          <a:p>
            <a:r>
              <a:rPr lang="ru-RU" sz="2400" dirty="0" smtClean="0"/>
              <a:t>При этом таблицы преобразуются в первую нормальную форму или 1NF. </a:t>
            </a:r>
          </a:p>
          <a:p>
            <a:r>
              <a:rPr lang="ru-RU" sz="2400" dirty="0" smtClean="0"/>
              <a:t>Однако удаление многозначных полей не всегда способствует улучшению прикладных программ. </a:t>
            </a:r>
          </a:p>
          <a:p>
            <a:r>
              <a:rPr lang="ru-RU" sz="2400" dirty="0" smtClean="0"/>
              <a:t>При моделировании доступа </a:t>
            </a:r>
            <a:r>
              <a:rPr lang="ru-RU" sz="2400" dirty="0" smtClean="0">
                <a:solidFill>
                  <a:srgbClr val="3333FF"/>
                </a:solidFill>
              </a:rPr>
              <a:t>к произвольным полям первоначально не нормализованной таблицы</a:t>
            </a:r>
            <a:r>
              <a:rPr lang="ru-RU" sz="2400" dirty="0" smtClean="0"/>
              <a:t> для базы данных в 1NF придется </a:t>
            </a:r>
            <a:r>
              <a:rPr lang="ru-RU" sz="2400" dirty="0" smtClean="0">
                <a:solidFill>
                  <a:srgbClr val="3333FF"/>
                </a:solidFill>
              </a:rPr>
              <a:t>проделать операцию соединения (J</a:t>
            </a:r>
            <a:r>
              <a:rPr lang="en-US" sz="2400" dirty="0" smtClean="0">
                <a:solidFill>
                  <a:srgbClr val="3333FF"/>
                </a:solidFill>
              </a:rPr>
              <a:t>OIN</a:t>
            </a:r>
            <a:r>
              <a:rPr lang="ru-RU" sz="2400" dirty="0" smtClean="0">
                <a:solidFill>
                  <a:srgbClr val="3333FF"/>
                </a:solidFill>
              </a:rPr>
              <a:t>)</a:t>
            </a:r>
            <a:r>
              <a:rPr lang="ru-RU" sz="2400" dirty="0" smtClean="0"/>
              <a:t> каждый раз, когда нужно получить значения, хранящиеся </a:t>
            </a:r>
            <a:r>
              <a:rPr lang="en-US" sz="2400" dirty="0" smtClean="0"/>
              <a:t> </a:t>
            </a:r>
            <a:r>
              <a:rPr lang="ru-RU" sz="2400" dirty="0" smtClean="0">
                <a:solidFill>
                  <a:srgbClr val="3333FF"/>
                </a:solidFill>
              </a:rPr>
              <a:t>вследствие нормализации </a:t>
            </a:r>
            <a:r>
              <a:rPr lang="ru-RU" sz="2400" dirty="0" smtClean="0"/>
              <a:t>в другой таблице. </a:t>
            </a:r>
          </a:p>
          <a:p>
            <a:r>
              <a:rPr lang="ru-RU" sz="2400" dirty="0" smtClean="0"/>
              <a:t>В подобной ситуации </a:t>
            </a:r>
            <a:r>
              <a:rPr lang="ru-RU" sz="2400" dirty="0" smtClean="0">
                <a:solidFill>
                  <a:srgbClr val="3333FF"/>
                </a:solidFill>
              </a:rPr>
              <a:t>физическое хранение </a:t>
            </a:r>
            <a:r>
              <a:rPr lang="ru-RU" sz="2400" dirty="0" smtClean="0"/>
              <a:t>значений в многозначных полях может обеспечить более эффективный доступ к информации.</a:t>
            </a:r>
            <a:endParaRPr lang="en-US" sz="2400" dirty="0" smtClean="0"/>
          </a:p>
          <a:p>
            <a:pPr lvl="2">
              <a:lnSpc>
                <a:spcPct val="120000"/>
              </a:lnSpc>
              <a:buFont typeface="Wingdings" pitchFamily="2" charset="2"/>
              <a:buChar char="Ø"/>
            </a:pPr>
            <a:endParaRPr lang="ru-RU" dirty="0" smtClean="0"/>
          </a:p>
          <a:p>
            <a:pPr lvl="2">
              <a:lnSpc>
                <a:spcPct val="120000"/>
              </a:lnSpc>
              <a:buFont typeface="Wingdings" pitchFamily="2" charset="2"/>
              <a:buChar char="Ø"/>
            </a:pPr>
            <a:endParaRPr lang="ru-RU" dirty="0" smtClean="0"/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endParaRPr lang="ru-RU" sz="2400" dirty="0" smtClean="0"/>
          </a:p>
          <a:p>
            <a:pPr marL="609600" indent="-609600">
              <a:lnSpc>
                <a:spcPct val="120000"/>
              </a:lnSpc>
              <a:buFont typeface="Wingdings" pitchFamily="2" charset="2"/>
              <a:buNone/>
              <a:defRPr/>
            </a:pPr>
            <a:endParaRPr lang="ru-RU" sz="2400" dirty="0" smtClean="0"/>
          </a:p>
        </p:txBody>
      </p:sp>
      <p:sp>
        <p:nvSpPr>
          <p:cNvPr id="410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6107D0A-A05A-43B6-B2A8-A5A0752DC352}" type="slidenum">
              <a:rPr lang="ru-RU" altLang="ru-RU" sz="1200" smtClean="0">
                <a:latin typeface="Arial Black" pitchFamily="34" charset="0"/>
              </a:rPr>
              <a:pPr eaLnBrk="1" hangingPunct="1"/>
              <a:t>5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title"/>
          </p:nvPr>
        </p:nvSpPr>
        <p:spPr>
          <a:xfrm>
            <a:off x="438150" y="-36385"/>
            <a:ext cx="8401050" cy="585065"/>
          </a:xfrm>
        </p:spPr>
        <p:txBody>
          <a:bodyPr/>
          <a:lstStyle/>
          <a:p>
            <a:pPr algn="ctr"/>
            <a:r>
              <a:rPr lang="ru-RU" sz="3600" dirty="0" smtClean="0">
                <a:solidFill>
                  <a:schemeClr val="bg2"/>
                </a:solidFill>
              </a:rPr>
              <a:t>Пример</a:t>
            </a:r>
          </a:p>
        </p:txBody>
      </p:sp>
      <p:sp>
        <p:nvSpPr>
          <p:cNvPr id="4100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261350" y="6248400"/>
            <a:ext cx="425450" cy="457200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6107D0A-A05A-43B6-B2A8-A5A0752DC352}" type="slidenum">
              <a:rPr lang="ru-RU" altLang="ru-RU" sz="1200" smtClean="0">
                <a:latin typeface="Arial Black" pitchFamily="34" charset="0"/>
              </a:rPr>
              <a:pPr eaLnBrk="1" hangingPunct="1"/>
              <a:t>6</a:t>
            </a:fld>
            <a:endParaRPr lang="ru-RU" altLang="ru-RU" sz="1200" dirty="0" smtClean="0">
              <a:latin typeface="Arial Black" pitchFamily="34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386536" y="955802"/>
          <a:ext cx="4365484" cy="2538222"/>
        </p:xfrm>
        <a:graphic>
          <a:graphicData uri="http://schemas.openxmlformats.org/drawingml/2006/table">
            <a:tbl>
              <a:tblPr/>
              <a:tblGrid>
                <a:gridCol w="67507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451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48516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1009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5005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 smtClean="0">
                          <a:latin typeface="Calibri"/>
                          <a:ea typeface="Calibri"/>
                          <a:cs typeface="Times New Roman"/>
                        </a:rPr>
                        <a:t>Время</a:t>
                      </a:r>
                      <a:endParaRPr lang="ru-RU" sz="1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u="sng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Ном_накл</a:t>
                      </a:r>
                      <a:endParaRPr lang="ru-RU" sz="1400" u="sng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u="sng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Ном_покупателя</a:t>
                      </a:r>
                      <a:endParaRPr lang="ru-RU" sz="1400" u="sng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 smtClean="0">
                          <a:latin typeface="Times New Roman"/>
                          <a:ea typeface="Calibri"/>
                          <a:cs typeface="Times New Roman"/>
                        </a:rPr>
                        <a:t>Товар</a:t>
                      </a:r>
                      <a:endParaRPr lang="ru-RU" sz="1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Кол-во</a:t>
                      </a:r>
                      <a:endParaRPr lang="ru-RU" sz="1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b="1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alibri"/>
                          <a:ea typeface="Calibri"/>
                          <a:cs typeface="Times New Roman"/>
                        </a:rPr>
                        <a:t>10.12.14  12.1</a:t>
                      </a:r>
                      <a:endParaRPr lang="ru-RU" sz="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0373</a:t>
                      </a:r>
                      <a:endParaRPr lang="ru-RU" sz="1400" b="1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8723</a:t>
                      </a:r>
                      <a:endParaRPr lang="ru-RU" sz="14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Яблоки</a:t>
                      </a:r>
                      <a:endParaRPr lang="ru-RU" sz="14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1400" b="1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alibri"/>
                          <a:ea typeface="Calibri"/>
                          <a:cs typeface="Times New Roman"/>
                        </a:rPr>
                        <a:t>10.12.14  12.</a:t>
                      </a:r>
                      <a:r>
                        <a:rPr lang="ru-RU" sz="800" b="1" kern="12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800" b="1" kern="12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0373</a:t>
                      </a:r>
                      <a:endParaRPr lang="ru-RU" sz="14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8723</a:t>
                      </a:r>
                      <a:endParaRPr lang="ru-RU" sz="14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Груши</a:t>
                      </a:r>
                      <a:endParaRPr lang="ru-RU" sz="14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14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alibri"/>
                          <a:ea typeface="Calibri"/>
                          <a:cs typeface="Times New Roman"/>
                        </a:rPr>
                        <a:t>10.12.14  12.</a:t>
                      </a:r>
                      <a:r>
                        <a:rPr lang="ru-RU" sz="800" b="1" kern="12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800" b="1" kern="12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8374</a:t>
                      </a:r>
                      <a:endParaRPr lang="ru-RU" sz="1400" b="1" dirty="0">
                        <a:solidFill>
                          <a:srgbClr val="008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8232</a:t>
                      </a:r>
                      <a:endParaRPr lang="ru-RU" sz="1400" b="1" dirty="0">
                        <a:solidFill>
                          <a:srgbClr val="008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Лимонад</a:t>
                      </a:r>
                      <a:endParaRPr lang="ru-RU" sz="1400" b="1" dirty="0">
                        <a:solidFill>
                          <a:srgbClr val="008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1400" b="1">
                        <a:solidFill>
                          <a:srgbClr val="008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alibri"/>
                          <a:ea typeface="Calibri"/>
                          <a:cs typeface="Times New Roman"/>
                        </a:rPr>
                        <a:t>10.12.14  12.</a:t>
                      </a:r>
                      <a:r>
                        <a:rPr lang="ru-RU" sz="800" b="1" kern="12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alibri"/>
                          <a:ea typeface="Calibri"/>
                          <a:cs typeface="Times New Roman"/>
                        </a:rPr>
                        <a:t>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800" b="1" kern="12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8374</a:t>
                      </a:r>
                      <a:endParaRPr lang="ru-RU" sz="1400" b="1">
                        <a:solidFill>
                          <a:srgbClr val="008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8232</a:t>
                      </a:r>
                      <a:endParaRPr lang="ru-RU" sz="1400" b="1" dirty="0">
                        <a:solidFill>
                          <a:srgbClr val="008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Пиво</a:t>
                      </a:r>
                      <a:endParaRPr lang="ru-RU" sz="1400" b="1" dirty="0">
                        <a:solidFill>
                          <a:srgbClr val="008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lang="ru-RU" sz="1400" b="1">
                        <a:solidFill>
                          <a:srgbClr val="008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alibri"/>
                          <a:ea typeface="Calibri"/>
                          <a:cs typeface="Times New Roman"/>
                        </a:rPr>
                        <a:t>10.12.14  12.</a:t>
                      </a:r>
                      <a:r>
                        <a:rPr lang="ru-RU" sz="800" b="1" kern="12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alibri"/>
                          <a:ea typeface="Calibri"/>
                          <a:cs typeface="Times New Roman"/>
                        </a:rPr>
                        <a:t>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800" b="1" kern="12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8374</a:t>
                      </a:r>
                      <a:endParaRPr lang="ru-RU" sz="1400" b="1" dirty="0">
                        <a:solidFill>
                          <a:srgbClr val="008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8232</a:t>
                      </a:r>
                      <a:endParaRPr lang="ru-RU" sz="1400" b="1" dirty="0">
                        <a:solidFill>
                          <a:srgbClr val="008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Вафли</a:t>
                      </a:r>
                      <a:endParaRPr lang="ru-RU" sz="1400" b="1" dirty="0">
                        <a:solidFill>
                          <a:srgbClr val="008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1400" b="1" dirty="0">
                        <a:solidFill>
                          <a:srgbClr val="008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alibri"/>
                          <a:ea typeface="Calibri"/>
                          <a:cs typeface="Times New Roman"/>
                        </a:rPr>
                        <a:t>10.12.14  12.</a:t>
                      </a:r>
                      <a:r>
                        <a:rPr lang="ru-RU" sz="800" b="1" kern="12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alibri"/>
                          <a:ea typeface="Calibri"/>
                          <a:cs typeface="Times New Roman"/>
                        </a:rPr>
                        <a:t>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800" b="1" kern="1200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7364</a:t>
                      </a:r>
                      <a:endParaRPr lang="ru-RU" sz="1400" b="1" dirty="0">
                        <a:solidFill>
                          <a:srgbClr val="7030A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8723</a:t>
                      </a:r>
                      <a:endParaRPr lang="ru-RU" sz="1400" b="1" dirty="0">
                        <a:solidFill>
                          <a:srgbClr val="7030A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Йогурт</a:t>
                      </a:r>
                      <a:endParaRPr lang="ru-RU" sz="1400" b="1" dirty="0">
                        <a:solidFill>
                          <a:srgbClr val="7030A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1400" b="1" dirty="0">
                        <a:solidFill>
                          <a:srgbClr val="7030A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6102170" y="539750"/>
          <a:ext cx="2559230" cy="1327595"/>
        </p:xfrm>
        <a:graphic>
          <a:graphicData uri="http://schemas.openxmlformats.org/drawingml/2006/table">
            <a:tbl>
              <a:tblPr/>
              <a:tblGrid>
                <a:gridCol w="11251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4341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2005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u="sng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Ном_накл</a:t>
                      </a:r>
                      <a:endParaRPr lang="ru-RU" sz="1400" u="sng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u="sng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Ном_покупателя</a:t>
                      </a:r>
                      <a:endParaRPr lang="ru-RU" sz="1400" u="sng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7781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0373</a:t>
                      </a:r>
                      <a:endParaRPr lang="ru-RU" sz="14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8723</a:t>
                      </a:r>
                      <a:endParaRPr lang="ru-RU" sz="14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7781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8374</a:t>
                      </a:r>
                      <a:endParaRPr lang="ru-RU" sz="1400" b="1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8232</a:t>
                      </a:r>
                      <a:endParaRPr lang="ru-RU" sz="1400" b="1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7781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7364</a:t>
                      </a:r>
                      <a:endParaRPr lang="ru-RU" sz="1400" b="1">
                        <a:solidFill>
                          <a:srgbClr val="7030A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8723</a:t>
                      </a:r>
                      <a:endParaRPr lang="ru-RU" sz="1400" b="1" dirty="0">
                        <a:solidFill>
                          <a:srgbClr val="7030A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5381534" y="2006600"/>
          <a:ext cx="3324316" cy="2345567"/>
        </p:xfrm>
        <a:graphic>
          <a:graphicData uri="http://schemas.openxmlformats.org/drawingml/2006/table">
            <a:tbl>
              <a:tblPr/>
              <a:tblGrid>
                <a:gridCol w="94510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1705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3107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3107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3048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u="sng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Ном_накл</a:t>
                      </a:r>
                      <a:endParaRPr lang="ru-RU" sz="1400" u="sng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 smtClean="0">
                          <a:latin typeface="Calibri"/>
                          <a:ea typeface="Calibri"/>
                          <a:cs typeface="Times New Roman"/>
                        </a:rPr>
                        <a:t>Время</a:t>
                      </a:r>
                      <a:endParaRPr lang="ru-RU" sz="1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 smtClean="0">
                          <a:latin typeface="Times New Roman"/>
                          <a:ea typeface="Calibri"/>
                          <a:cs typeface="Times New Roman"/>
                        </a:rPr>
                        <a:t>Товар</a:t>
                      </a:r>
                      <a:endParaRPr lang="ru-RU" sz="1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Кол-во</a:t>
                      </a:r>
                      <a:endParaRPr lang="ru-RU" sz="1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929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3333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0373</a:t>
                      </a:r>
                      <a:endParaRPr lang="ru-RU" sz="1400" b="1" dirty="0">
                        <a:solidFill>
                          <a:srgbClr val="3333FF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800" b="1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alibri"/>
                          <a:ea typeface="Calibri"/>
                          <a:cs typeface="Times New Roman"/>
                        </a:rPr>
                        <a:t>10.12.14  12.1</a:t>
                      </a:r>
                      <a:endParaRPr lang="ru-RU" sz="800" b="1" dirty="0"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 smtClean="0">
                          <a:solidFill>
                            <a:srgbClr val="3333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Яблоки</a:t>
                      </a:r>
                      <a:endParaRPr lang="ru-RU" sz="1400" b="1" dirty="0">
                        <a:solidFill>
                          <a:srgbClr val="3333FF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3333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1400" b="1" dirty="0">
                        <a:solidFill>
                          <a:srgbClr val="3333FF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929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solidFill>
                            <a:srgbClr val="3333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0373</a:t>
                      </a:r>
                      <a:endParaRPr lang="ru-RU" sz="1400" b="1">
                        <a:solidFill>
                          <a:srgbClr val="3333FF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alibri"/>
                          <a:ea typeface="Calibri"/>
                          <a:cs typeface="Times New Roman"/>
                        </a:rPr>
                        <a:t>10.12.14  12.</a:t>
                      </a:r>
                      <a:r>
                        <a:rPr lang="ru-RU" sz="800" b="1" kern="12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 smtClean="0">
                          <a:solidFill>
                            <a:srgbClr val="3333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Груши</a:t>
                      </a:r>
                      <a:endParaRPr lang="ru-RU" sz="1400" b="1" dirty="0">
                        <a:solidFill>
                          <a:srgbClr val="3333FF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3333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1400" b="1" dirty="0">
                        <a:solidFill>
                          <a:srgbClr val="3333FF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929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8374</a:t>
                      </a:r>
                      <a:endParaRPr lang="ru-RU" sz="1400" b="1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alibri"/>
                          <a:ea typeface="Calibri"/>
                          <a:cs typeface="Times New Roman"/>
                        </a:rPr>
                        <a:t>10.12.14  12.</a:t>
                      </a:r>
                      <a:r>
                        <a:rPr lang="ru-RU" sz="800" b="1" kern="12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Лимонад</a:t>
                      </a:r>
                      <a:endParaRPr lang="ru-RU" sz="1400" b="1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1400" b="1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929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8374</a:t>
                      </a:r>
                      <a:endParaRPr lang="ru-RU" sz="1400" b="1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alibri"/>
                          <a:ea typeface="Calibri"/>
                          <a:cs typeface="Times New Roman"/>
                        </a:rPr>
                        <a:t>10.12.14  12.</a:t>
                      </a:r>
                      <a:r>
                        <a:rPr lang="ru-RU" sz="800" b="1" kern="12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alibri"/>
                          <a:ea typeface="Calibri"/>
                          <a:cs typeface="Times New Roman"/>
                        </a:rPr>
                        <a:t>5</a:t>
                      </a: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Пиво</a:t>
                      </a:r>
                      <a:endParaRPr lang="ru-RU" sz="1400" b="1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lang="ru-RU" sz="1400" b="1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929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8374</a:t>
                      </a:r>
                      <a:endParaRPr lang="ru-RU" sz="1400" b="1">
                        <a:solidFill>
                          <a:srgbClr val="00B05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alibri"/>
                          <a:ea typeface="Calibri"/>
                          <a:cs typeface="Times New Roman"/>
                        </a:rPr>
                        <a:t>10.12.14  12.</a:t>
                      </a:r>
                      <a:r>
                        <a:rPr lang="ru-RU" sz="800" b="1" kern="12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alibri"/>
                          <a:ea typeface="Calibri"/>
                          <a:cs typeface="Times New Roman"/>
                        </a:rPr>
                        <a:t>6</a:t>
                      </a: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Вафли</a:t>
                      </a:r>
                      <a:endParaRPr lang="ru-RU" sz="1400" b="1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00B05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1400" b="1" dirty="0">
                        <a:solidFill>
                          <a:srgbClr val="00B05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929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7364</a:t>
                      </a:r>
                      <a:endParaRPr lang="ru-RU" sz="1400" b="1">
                        <a:solidFill>
                          <a:srgbClr val="7030A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alibri"/>
                          <a:ea typeface="Calibri"/>
                          <a:cs typeface="Times New Roman"/>
                        </a:rPr>
                        <a:t>10.12.14  12.</a:t>
                      </a:r>
                      <a:r>
                        <a:rPr lang="ru-RU" sz="800" b="1" kern="1200" dirty="0" smtClean="0"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latin typeface="Calibri"/>
                          <a:ea typeface="Calibri"/>
                          <a:cs typeface="Times New Roman"/>
                        </a:rPr>
                        <a:t>7</a:t>
                      </a: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Йогурт</a:t>
                      </a:r>
                      <a:endParaRPr lang="ru-RU" sz="1400" b="1" dirty="0">
                        <a:solidFill>
                          <a:srgbClr val="7030A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1400" b="1" dirty="0">
                        <a:solidFill>
                          <a:srgbClr val="7030A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371600" y="539751"/>
            <a:ext cx="1689100" cy="266699"/>
          </a:xfrm>
          <a:prstGeom prst="rect">
            <a:avLst/>
          </a:prstGeom>
          <a:noFill/>
        </p:spPr>
        <p:txBody>
          <a:bodyPr wrap="square" rtlCol="0">
            <a:normAutofit fontScale="55000" lnSpcReduction="20000"/>
          </a:bodyPr>
          <a:lstStyle/>
          <a:p>
            <a:pPr algn="ctr"/>
            <a:r>
              <a:rPr lang="ru-RU" b="1" dirty="0" smtClean="0"/>
              <a:t>1-ая НФ</a:t>
            </a:r>
            <a:endParaRPr lang="ru-RU" b="1" dirty="0"/>
          </a:p>
        </p:txBody>
      </p:sp>
      <p:sp>
        <p:nvSpPr>
          <p:cNvPr id="9" name="TextBox 8"/>
          <p:cNvSpPr txBox="1"/>
          <p:nvPr/>
        </p:nvSpPr>
        <p:spPr>
          <a:xfrm>
            <a:off x="6305550" y="228600"/>
            <a:ext cx="1689100" cy="266699"/>
          </a:xfrm>
          <a:prstGeom prst="rect">
            <a:avLst/>
          </a:prstGeom>
          <a:noFill/>
        </p:spPr>
        <p:txBody>
          <a:bodyPr wrap="square" rtlCol="0">
            <a:normAutofit fontScale="55000" lnSpcReduction="20000"/>
          </a:bodyPr>
          <a:lstStyle/>
          <a:p>
            <a:pPr algn="ctr"/>
            <a:r>
              <a:rPr lang="ru-RU" b="1" dirty="0" smtClean="0"/>
              <a:t>2-ая НФ</a:t>
            </a:r>
            <a:endParaRPr lang="ru-RU" b="1" dirty="0"/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/>
        </p:nvGraphicFramePr>
        <p:xfrm>
          <a:off x="82550" y="4540250"/>
          <a:ext cx="5074515" cy="2117598"/>
        </p:xfrm>
        <a:graphic>
          <a:graphicData uri="http://schemas.openxmlformats.org/drawingml/2006/table">
            <a:tbl>
              <a:tblPr/>
              <a:tblGrid>
                <a:gridCol w="126862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45340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6237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99011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Ном_накл</a:t>
                      </a:r>
                      <a:endParaRPr lang="ru-RU" sz="1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Ном_покупателя</a:t>
                      </a:r>
                      <a:endParaRPr lang="ru-RU" sz="1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 smtClean="0">
                          <a:latin typeface="Times New Roman"/>
                          <a:ea typeface="Calibri"/>
                          <a:cs typeface="Times New Roman"/>
                        </a:rPr>
                        <a:t>Товар</a:t>
                      </a:r>
                      <a:endParaRPr lang="ru-RU" sz="1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Кол-во</a:t>
                      </a:r>
                      <a:endParaRPr lang="ru-RU" sz="14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3333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0373</a:t>
                      </a:r>
                      <a:endParaRPr lang="ru-RU" sz="1400" b="1" dirty="0">
                        <a:solidFill>
                          <a:srgbClr val="3333FF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solidFill>
                            <a:srgbClr val="3333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8723</a:t>
                      </a:r>
                      <a:endParaRPr lang="ru-RU" sz="1400" b="1">
                        <a:solidFill>
                          <a:srgbClr val="3333FF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 smtClean="0">
                          <a:solidFill>
                            <a:srgbClr val="3333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Яблоки</a:t>
                      </a:r>
                      <a:endParaRPr lang="ru-RU" sz="1400" b="1" dirty="0">
                        <a:solidFill>
                          <a:srgbClr val="3333FF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3333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1400" b="1" dirty="0">
                        <a:solidFill>
                          <a:srgbClr val="3333FF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3333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ru-RU" sz="1400" b="1" dirty="0">
                        <a:solidFill>
                          <a:srgbClr val="3333FF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3333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ru-RU" sz="1400" b="1" dirty="0">
                        <a:solidFill>
                          <a:srgbClr val="3333FF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 smtClean="0">
                          <a:solidFill>
                            <a:srgbClr val="3333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Груши</a:t>
                      </a:r>
                      <a:endParaRPr lang="ru-RU" sz="1400" b="1" dirty="0">
                        <a:solidFill>
                          <a:srgbClr val="3333FF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3333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1400" b="1" dirty="0">
                        <a:solidFill>
                          <a:srgbClr val="3333FF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8374</a:t>
                      </a:r>
                      <a:endParaRPr lang="ru-RU" sz="1400" b="1">
                        <a:solidFill>
                          <a:srgbClr val="008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8232</a:t>
                      </a:r>
                      <a:endParaRPr lang="ru-RU" sz="1400" b="1">
                        <a:solidFill>
                          <a:srgbClr val="008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Лимонад</a:t>
                      </a:r>
                      <a:endParaRPr lang="ru-RU" sz="1400" b="1" dirty="0">
                        <a:solidFill>
                          <a:srgbClr val="008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1400" b="1" dirty="0">
                        <a:solidFill>
                          <a:srgbClr val="008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ru-RU" sz="1400" b="1" dirty="0">
                        <a:solidFill>
                          <a:srgbClr val="008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ru-RU" sz="1400" b="1" dirty="0">
                        <a:solidFill>
                          <a:srgbClr val="008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Пиво</a:t>
                      </a:r>
                      <a:endParaRPr lang="ru-RU" sz="1400" b="1">
                        <a:solidFill>
                          <a:srgbClr val="008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lang="ru-RU" sz="1400" b="1" dirty="0">
                        <a:solidFill>
                          <a:srgbClr val="008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ru-RU" sz="1400" b="1" dirty="0">
                        <a:solidFill>
                          <a:srgbClr val="008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ru-RU" sz="1400" b="1" dirty="0">
                        <a:solidFill>
                          <a:srgbClr val="008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Вафли</a:t>
                      </a:r>
                      <a:endParaRPr lang="ru-RU" sz="1400" b="1" dirty="0">
                        <a:solidFill>
                          <a:srgbClr val="008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1400" b="1" dirty="0">
                        <a:solidFill>
                          <a:srgbClr val="008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7364</a:t>
                      </a:r>
                      <a:endParaRPr lang="ru-RU" sz="1400" b="1" dirty="0">
                        <a:solidFill>
                          <a:srgbClr val="7030A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8723</a:t>
                      </a:r>
                      <a:endParaRPr lang="ru-RU" sz="1400" b="1">
                        <a:solidFill>
                          <a:srgbClr val="7030A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Йогурт</a:t>
                      </a:r>
                      <a:endParaRPr lang="ru-RU" sz="1400" b="1">
                        <a:solidFill>
                          <a:srgbClr val="7030A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1400" b="1" dirty="0">
                        <a:solidFill>
                          <a:srgbClr val="7030A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49300" y="3917950"/>
            <a:ext cx="4133850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 smtClean="0"/>
              <a:t>Структура хранения данных в </a:t>
            </a:r>
            <a:r>
              <a:rPr lang="ru-RU" sz="1600" b="1" dirty="0" err="1" smtClean="0"/>
              <a:t>jBASE</a:t>
            </a:r>
            <a:r>
              <a:rPr lang="ru-RU" sz="1600" b="1" dirty="0" smtClean="0"/>
              <a:t> </a:t>
            </a:r>
            <a:endParaRPr lang="ru-RU" sz="16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382090" y="4518941"/>
            <a:ext cx="3717460" cy="188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sz="1100" b="1" i="1" u="sng" dirty="0" smtClean="0"/>
              <a:t>Реляционная СУБД:</a:t>
            </a:r>
          </a:p>
          <a:p>
            <a:r>
              <a:rPr lang="en-US" sz="1100" dirty="0" smtClean="0"/>
              <a:t>SELECT </a:t>
            </a:r>
            <a:r>
              <a:rPr lang="ru-RU" sz="1100" b="1" dirty="0" err="1" smtClean="0">
                <a:latin typeface="Times New Roman"/>
                <a:ea typeface="Times New Roman"/>
                <a:cs typeface="Times New Roman"/>
              </a:rPr>
              <a:t>Ном_накл</a:t>
            </a:r>
            <a:r>
              <a:rPr lang="en-US" sz="1100" dirty="0" smtClean="0"/>
              <a:t>, </a:t>
            </a:r>
            <a:r>
              <a:rPr lang="ru-RU" sz="1100" b="1" dirty="0" err="1" smtClean="0">
                <a:latin typeface="Times New Roman"/>
                <a:ea typeface="Times New Roman"/>
                <a:cs typeface="Times New Roman"/>
              </a:rPr>
              <a:t>Ном_покупателя</a:t>
            </a:r>
            <a:r>
              <a:rPr lang="en-US" sz="1100" dirty="0" smtClean="0"/>
              <a:t>, </a:t>
            </a:r>
            <a:r>
              <a:rPr lang="ru-RU" sz="1100" b="1" dirty="0" smtClean="0">
                <a:latin typeface="Times New Roman"/>
                <a:ea typeface="Calibri"/>
                <a:cs typeface="Times New Roman"/>
              </a:rPr>
              <a:t>Товар</a:t>
            </a:r>
            <a:r>
              <a:rPr lang="en-US" sz="1100" b="1" dirty="0" smtClean="0">
                <a:latin typeface="Times New Roman"/>
                <a:ea typeface="Calibri"/>
                <a:cs typeface="Times New Roman"/>
              </a:rPr>
              <a:t>,</a:t>
            </a:r>
            <a:r>
              <a:rPr lang="ru-RU" sz="1100" b="1" dirty="0" smtClean="0">
                <a:latin typeface="Times New Roman"/>
                <a:ea typeface="Times New Roman"/>
                <a:cs typeface="Times New Roman"/>
              </a:rPr>
              <a:t> Кол-во</a:t>
            </a:r>
            <a:endParaRPr lang="ru-RU" sz="1100" b="1" dirty="0" smtClean="0">
              <a:latin typeface="Calibri"/>
              <a:ea typeface="Calibri"/>
              <a:cs typeface="Times New Roman"/>
            </a:endParaRPr>
          </a:p>
          <a:p>
            <a:r>
              <a:rPr lang="en-US" sz="1100" dirty="0" smtClean="0"/>
              <a:t> FROM </a:t>
            </a:r>
            <a:r>
              <a:rPr lang="ru-RU" sz="1100" dirty="0" smtClean="0"/>
              <a:t>   </a:t>
            </a:r>
            <a:r>
              <a:rPr lang="en-US" sz="1100" b="1" dirty="0" smtClean="0"/>
              <a:t>INVOICES, INVOICE_ITEMS </a:t>
            </a:r>
          </a:p>
          <a:p>
            <a:r>
              <a:rPr lang="en-US" sz="1100" dirty="0" smtClean="0"/>
              <a:t>WHERE </a:t>
            </a:r>
            <a:r>
              <a:rPr lang="ru-RU" sz="1100" dirty="0" smtClean="0"/>
              <a:t>  </a:t>
            </a:r>
            <a:r>
              <a:rPr lang="en-US" sz="1100" b="1" dirty="0" smtClean="0"/>
              <a:t>INVOICES</a:t>
            </a:r>
            <a:r>
              <a:rPr lang="en-US" sz="1100" dirty="0" smtClean="0"/>
              <a:t>.</a:t>
            </a:r>
            <a:r>
              <a:rPr lang="ru-RU" sz="1100" b="1" dirty="0" err="1" smtClean="0">
                <a:latin typeface="Times New Roman"/>
                <a:ea typeface="Times New Roman"/>
                <a:cs typeface="Times New Roman"/>
              </a:rPr>
              <a:t>Ном_накл</a:t>
            </a:r>
            <a:endParaRPr lang="ru-RU" sz="1100" dirty="0" smtClean="0">
              <a:latin typeface="Calibri"/>
              <a:ea typeface="Calibri"/>
              <a:cs typeface="Times New Roman"/>
            </a:endParaRPr>
          </a:p>
          <a:p>
            <a:r>
              <a:rPr lang="ru-RU" sz="1100" dirty="0" smtClean="0"/>
              <a:t>	</a:t>
            </a:r>
            <a:r>
              <a:rPr lang="en-US" sz="1100" dirty="0" smtClean="0"/>
              <a:t> = </a:t>
            </a:r>
            <a:r>
              <a:rPr lang="en-US" sz="1100" b="1" dirty="0" smtClean="0"/>
              <a:t>INVOICE_ITEMS</a:t>
            </a:r>
            <a:r>
              <a:rPr lang="ru-RU" sz="1100" dirty="0" smtClean="0"/>
              <a:t>.</a:t>
            </a:r>
            <a:r>
              <a:rPr lang="ru-RU" sz="1100" b="1" dirty="0" err="1" smtClean="0">
                <a:latin typeface="Times New Roman"/>
                <a:ea typeface="Times New Roman"/>
                <a:cs typeface="Times New Roman"/>
              </a:rPr>
              <a:t>Ном_накл</a:t>
            </a:r>
            <a:r>
              <a:rPr lang="ru-RU" sz="1100" b="1" dirty="0" smtClean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100" dirty="0" smtClean="0"/>
              <a:t>; </a:t>
            </a:r>
            <a:endParaRPr lang="ru-RU" sz="1100" dirty="0" smtClean="0"/>
          </a:p>
          <a:p>
            <a:endParaRPr lang="ru-RU" sz="1100" dirty="0" smtClean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sz="1100" i="1" u="sng" dirty="0" err="1" smtClean="0"/>
              <a:t>Постреляционная</a:t>
            </a:r>
            <a:r>
              <a:rPr lang="ru-RU" sz="1100" i="1" u="sng" dirty="0" smtClean="0"/>
              <a:t> СУБД </a:t>
            </a:r>
            <a:r>
              <a:rPr lang="en-US" sz="1100" i="1" u="sng" dirty="0" err="1" smtClean="0"/>
              <a:t>UniVerse</a:t>
            </a:r>
            <a:r>
              <a:rPr lang="en-US" sz="1100" i="1" u="sng" dirty="0" smtClean="0"/>
              <a:t>:</a:t>
            </a:r>
          </a:p>
          <a:p>
            <a:r>
              <a:rPr lang="en-US" sz="1100" dirty="0" smtClean="0"/>
              <a:t>SELECT </a:t>
            </a:r>
            <a:r>
              <a:rPr lang="ru-RU" sz="1100" b="1" dirty="0" err="1" smtClean="0">
                <a:latin typeface="Times New Roman"/>
                <a:ea typeface="Times New Roman"/>
                <a:cs typeface="Times New Roman"/>
              </a:rPr>
              <a:t>Ном_накл</a:t>
            </a:r>
            <a:r>
              <a:rPr lang="en-US" sz="1100" dirty="0" smtClean="0"/>
              <a:t>, </a:t>
            </a:r>
            <a:r>
              <a:rPr lang="ru-RU" sz="1100" b="1" dirty="0" err="1" smtClean="0">
                <a:latin typeface="Times New Roman"/>
                <a:ea typeface="Times New Roman"/>
                <a:cs typeface="Times New Roman"/>
              </a:rPr>
              <a:t>Ном_покупателя</a:t>
            </a:r>
            <a:r>
              <a:rPr lang="en-US" sz="1100" dirty="0" smtClean="0"/>
              <a:t>, </a:t>
            </a:r>
            <a:r>
              <a:rPr lang="ru-RU" sz="1100" b="1" dirty="0" smtClean="0">
                <a:latin typeface="Times New Roman"/>
                <a:ea typeface="Calibri"/>
                <a:cs typeface="Times New Roman"/>
              </a:rPr>
              <a:t>Товар</a:t>
            </a:r>
            <a:r>
              <a:rPr lang="en-US" sz="1100" b="1" dirty="0" smtClean="0">
                <a:latin typeface="Times New Roman"/>
                <a:ea typeface="Calibri"/>
                <a:cs typeface="Times New Roman"/>
              </a:rPr>
              <a:t>,</a:t>
            </a:r>
            <a:r>
              <a:rPr lang="ru-RU" sz="1100" b="1" dirty="0" smtClean="0">
                <a:latin typeface="Times New Roman"/>
                <a:ea typeface="Times New Roman"/>
                <a:cs typeface="Times New Roman"/>
              </a:rPr>
              <a:t> Кол-во</a:t>
            </a:r>
            <a:endParaRPr lang="ru-RU" sz="1100" dirty="0" smtClean="0"/>
          </a:p>
          <a:p>
            <a:r>
              <a:rPr lang="en-US" sz="1100" dirty="0" smtClean="0"/>
              <a:t>FROM </a:t>
            </a:r>
            <a:r>
              <a:rPr lang="ru-RU" sz="1100" dirty="0" smtClean="0"/>
              <a:t>   </a:t>
            </a:r>
            <a:r>
              <a:rPr lang="en-US" sz="1100" b="1" dirty="0" smtClean="0"/>
              <a:t>INVOICES</a:t>
            </a:r>
            <a:r>
              <a:rPr lang="en-US" sz="1100" dirty="0" smtClean="0"/>
              <a:t>;</a:t>
            </a:r>
            <a:endParaRPr lang="ru-RU" sz="1100" dirty="0"/>
          </a:p>
        </p:txBody>
      </p:sp>
      <p:sp>
        <p:nvSpPr>
          <p:cNvPr id="14" name="TextBox 13"/>
          <p:cNvSpPr txBox="1"/>
          <p:nvPr/>
        </p:nvSpPr>
        <p:spPr>
          <a:xfrm>
            <a:off x="5149850" y="673100"/>
            <a:ext cx="1022350" cy="244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smtClean="0">
                <a:solidFill>
                  <a:srgbClr val="C00000"/>
                </a:solidFill>
              </a:rPr>
              <a:t> INVOICES</a:t>
            </a:r>
            <a:endParaRPr lang="ru-RU" sz="1100" b="1"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05350" y="1695450"/>
            <a:ext cx="1511300" cy="244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smtClean="0">
                <a:solidFill>
                  <a:srgbClr val="C00000"/>
                </a:solidFill>
              </a:rPr>
              <a:t>INVOICE_ITEMS</a:t>
            </a:r>
            <a:endParaRPr lang="ru-RU" sz="1100" b="1" dirty="0">
              <a:solidFill>
                <a:srgbClr val="C0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49250" y="673100"/>
            <a:ext cx="1511300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rgbClr val="C00000"/>
                </a:solidFill>
              </a:rPr>
              <a:t>INVOICES</a:t>
            </a:r>
            <a:endParaRPr lang="ru-RU" sz="1200" dirty="0"/>
          </a:p>
        </p:txBody>
      </p:sp>
      <p:sp>
        <p:nvSpPr>
          <p:cNvPr id="17" name="TextBox 16"/>
          <p:cNvSpPr txBox="1"/>
          <p:nvPr/>
        </p:nvSpPr>
        <p:spPr>
          <a:xfrm>
            <a:off x="304800" y="4229100"/>
            <a:ext cx="1511300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rgbClr val="C00000"/>
                </a:solidFill>
              </a:rPr>
              <a:t>INVOICES</a:t>
            </a:r>
            <a:endParaRPr lang="ru-RU" sz="12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title"/>
          </p:nvPr>
        </p:nvSpPr>
        <p:spPr>
          <a:xfrm>
            <a:off x="663780" y="139700"/>
            <a:ext cx="7508670" cy="540615"/>
          </a:xfrm>
        </p:spPr>
        <p:txBody>
          <a:bodyPr/>
          <a:lstStyle/>
          <a:p>
            <a:pPr algn="ctr"/>
            <a:r>
              <a:rPr lang="en-US" sz="3600" dirty="0" smtClean="0">
                <a:solidFill>
                  <a:schemeClr val="bg2"/>
                </a:solidFill>
              </a:rPr>
              <a:t>NF2</a:t>
            </a:r>
            <a:endParaRPr lang="ru-RU" sz="3600" dirty="0">
              <a:solidFill>
                <a:schemeClr val="bg2"/>
              </a:solidFill>
            </a:endParaRPr>
          </a:p>
        </p:txBody>
      </p:sp>
      <p:sp>
        <p:nvSpPr>
          <p:cNvPr id="4099" name="Объект 2"/>
          <p:cNvSpPr>
            <a:spLocks noGrp="1"/>
          </p:cNvSpPr>
          <p:nvPr>
            <p:ph idx="1"/>
          </p:nvPr>
        </p:nvSpPr>
        <p:spPr>
          <a:xfrm>
            <a:off x="71500" y="643180"/>
            <a:ext cx="8813976" cy="603067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ru-RU" sz="2400" dirty="0" smtClean="0"/>
              <a:t>О таблицах, содержащих многозначные поля, говорят, что они находятся в </a:t>
            </a:r>
            <a:r>
              <a:rPr lang="ru-RU" sz="2400" dirty="0" err="1" smtClean="0"/>
              <a:t>непервой</a:t>
            </a:r>
            <a:r>
              <a:rPr lang="ru-RU" sz="2400" dirty="0" smtClean="0"/>
              <a:t> нормальной форме</a:t>
            </a:r>
            <a:r>
              <a:rPr lang="en-US" sz="2400" dirty="0" smtClean="0"/>
              <a:t> (</a:t>
            </a:r>
            <a:r>
              <a:rPr lang="ru-RU" sz="2400" dirty="0" err="1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N</a:t>
            </a:r>
            <a:r>
              <a:rPr lang="ru-RU" sz="2400" dirty="0" err="1" smtClean="0"/>
              <a:t>on</a:t>
            </a:r>
            <a:r>
              <a:rPr lang="en-US" sz="2400" dirty="0" smtClean="0"/>
              <a:t> </a:t>
            </a:r>
            <a:r>
              <a:rPr lang="ru-RU" sz="2400" dirty="0" err="1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F</a:t>
            </a:r>
            <a:r>
              <a:rPr lang="ru-RU" sz="2400" dirty="0" err="1" smtClean="0"/>
              <a:t>irst</a:t>
            </a:r>
            <a:r>
              <a:rPr lang="en-US" sz="2400" dirty="0" smtClean="0"/>
              <a:t> </a:t>
            </a:r>
            <a:r>
              <a:rPr lang="ru-RU" sz="2400" dirty="0" err="1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N</a:t>
            </a:r>
            <a:r>
              <a:rPr lang="ru-RU" sz="2400" dirty="0" err="1" smtClean="0"/>
              <a:t>ormal</a:t>
            </a:r>
            <a:r>
              <a:rPr lang="en-US" sz="2400" dirty="0" smtClean="0"/>
              <a:t> </a:t>
            </a:r>
            <a:r>
              <a:rPr lang="ru-RU" sz="2400" dirty="0" err="1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F</a:t>
            </a:r>
            <a:r>
              <a:rPr lang="ru-RU" sz="2400" dirty="0" err="1" smtClean="0"/>
              <a:t>orm</a:t>
            </a:r>
            <a:r>
              <a:rPr lang="en-US" sz="2400" dirty="0" smtClean="0"/>
              <a:t> </a:t>
            </a:r>
            <a:r>
              <a:rPr lang="ru-RU" sz="2400" dirty="0" smtClean="0"/>
              <a:t>-</a:t>
            </a:r>
            <a:r>
              <a:rPr lang="en-US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NFNF</a:t>
            </a:r>
            <a:r>
              <a:rPr lang="en-US" sz="2400" dirty="0" smtClean="0"/>
              <a:t>)</a:t>
            </a:r>
            <a:r>
              <a:rPr lang="ru-RU" sz="2400" dirty="0" smtClean="0"/>
              <a:t> или </a:t>
            </a:r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NF2</a:t>
            </a:r>
            <a:endParaRPr lang="en-US" sz="2400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ru-RU" sz="2400" dirty="0" smtClean="0"/>
              <a:t>При условии, что </a:t>
            </a:r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вложенная таблица </a:t>
            </a:r>
            <a:r>
              <a:rPr lang="ru-RU" sz="2400" dirty="0" smtClean="0"/>
              <a:t>удовлетворяет общим критериям (например </a:t>
            </a:r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имеет уникальный ключ</a:t>
            </a:r>
            <a:r>
              <a:rPr lang="ru-RU" sz="2400" dirty="0" smtClean="0"/>
              <a:t>), естественным образом происходит </a:t>
            </a:r>
            <a:r>
              <a:rPr lang="ru-RU" sz="2400" u="sng" dirty="0" smtClean="0"/>
              <a:t>расширение операторов реляционной алгебры</a:t>
            </a:r>
            <a:r>
              <a:rPr lang="ru-RU" sz="2400" dirty="0" smtClean="0"/>
              <a:t>. </a:t>
            </a:r>
            <a:endParaRPr lang="en-US" sz="2400" dirty="0" smtClean="0"/>
          </a:p>
          <a:p>
            <a:pPr>
              <a:lnSpc>
                <a:spcPct val="120000"/>
              </a:lnSpc>
            </a:pPr>
            <a:r>
              <a:rPr lang="ru-RU" sz="2400" dirty="0" smtClean="0"/>
              <a:t>Так как </a:t>
            </a:r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многозначные поля </a:t>
            </a:r>
            <a:r>
              <a:rPr lang="ru-RU" sz="2400" dirty="0" smtClean="0"/>
              <a:t>подчиняются правилам, позволяющим обращаться с ними, как с таблицами, встроенными в другие таблицы, </a:t>
            </a:r>
            <a:r>
              <a:rPr lang="ru-RU" sz="2400" u="sng" dirty="0" smtClean="0"/>
              <a:t>форма NF2 не нарушает принципы реляционной алгебры</a:t>
            </a:r>
            <a:r>
              <a:rPr lang="ru-RU" sz="2400" dirty="0" smtClean="0"/>
              <a:t>.</a:t>
            </a:r>
          </a:p>
          <a:p>
            <a:pPr>
              <a:lnSpc>
                <a:spcPct val="120000"/>
              </a:lnSpc>
            </a:pPr>
            <a:r>
              <a:rPr lang="ru-RU" sz="2400" dirty="0" smtClean="0"/>
              <a:t>Расширенные операторы, которые работают с таблицами NF2, позволяют извлекать встроенные таблицы и рассматривать данные как информацию, поступившую из таблиц 1NF. </a:t>
            </a:r>
          </a:p>
          <a:p>
            <a:pPr>
              <a:lnSpc>
                <a:spcPct val="120000"/>
              </a:lnSpc>
            </a:pPr>
            <a:r>
              <a:rPr lang="ru-RU" sz="2400" dirty="0" smtClean="0"/>
              <a:t>Однако во многих случаях форма 1NF будет скорее исключением, а не правилом. </a:t>
            </a:r>
          </a:p>
          <a:p>
            <a:pPr>
              <a:lnSpc>
                <a:spcPct val="120000"/>
              </a:lnSpc>
            </a:pPr>
            <a:r>
              <a:rPr lang="ru-RU" sz="2400" dirty="0" smtClean="0"/>
              <a:t>В большинстве случаев гораздо </a:t>
            </a:r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более эффективно </a:t>
            </a:r>
            <a:r>
              <a:rPr lang="ru-RU" sz="2400" dirty="0" smtClean="0"/>
              <a:t>осуществлять </a:t>
            </a:r>
            <a:r>
              <a:rPr lang="ru-RU" sz="24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доступ к многозначным полям одновременно с остальными данными</a:t>
            </a:r>
            <a:r>
              <a:rPr lang="ru-RU" sz="2400" dirty="0" smtClean="0"/>
              <a:t>, зная, что их всегда можно извлечь и рассматривать как отдельную таблицу в тех случаях, когда это может понадобиться.</a:t>
            </a:r>
          </a:p>
          <a:p>
            <a:pPr>
              <a:lnSpc>
                <a:spcPct val="120000"/>
              </a:lnSpc>
            </a:pPr>
            <a:endParaRPr lang="ru-RU" sz="2200" dirty="0"/>
          </a:p>
          <a:p>
            <a:pPr lvl="2">
              <a:lnSpc>
                <a:spcPct val="120000"/>
              </a:lnSpc>
              <a:buFont typeface="Wingdings" pitchFamily="2" charset="2"/>
              <a:buChar char="Ø"/>
            </a:pPr>
            <a:endParaRPr lang="ru-RU" dirty="0" smtClean="0"/>
          </a:p>
          <a:p>
            <a:pPr lvl="2">
              <a:lnSpc>
                <a:spcPct val="120000"/>
              </a:lnSpc>
              <a:buFont typeface="Wingdings" pitchFamily="2" charset="2"/>
              <a:buChar char="Ø"/>
            </a:pPr>
            <a:endParaRPr lang="ru-RU" dirty="0" smtClean="0"/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endParaRPr lang="ru-RU" sz="2400" dirty="0" smtClean="0"/>
          </a:p>
          <a:p>
            <a:pPr marL="609600" indent="-609600">
              <a:lnSpc>
                <a:spcPct val="120000"/>
              </a:lnSpc>
              <a:buFont typeface="Wingdings" pitchFamily="2" charset="2"/>
              <a:buNone/>
              <a:defRPr/>
            </a:pPr>
            <a:endParaRPr lang="ru-RU" sz="2400" dirty="0" smtClean="0"/>
          </a:p>
        </p:txBody>
      </p:sp>
      <p:sp>
        <p:nvSpPr>
          <p:cNvPr id="410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6107D0A-A05A-43B6-B2A8-A5A0752DC352}" type="slidenum">
              <a:rPr lang="ru-RU" altLang="ru-RU" sz="1200" smtClean="0">
                <a:latin typeface="Arial Black" pitchFamily="34" charset="0"/>
              </a:rPr>
              <a:pPr eaLnBrk="1" hangingPunct="1"/>
              <a:t>7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title"/>
          </p:nvPr>
        </p:nvSpPr>
        <p:spPr>
          <a:xfrm>
            <a:off x="663780" y="139700"/>
            <a:ext cx="7508670" cy="540615"/>
          </a:xfrm>
        </p:spPr>
        <p:txBody>
          <a:bodyPr/>
          <a:lstStyle/>
          <a:p>
            <a:pPr algn="ctr"/>
            <a:r>
              <a:rPr lang="ru-RU" sz="3600" dirty="0" smtClean="0">
                <a:solidFill>
                  <a:schemeClr val="bg2"/>
                </a:solidFill>
              </a:rPr>
              <a:t>Структуры модели данных</a:t>
            </a:r>
            <a:endParaRPr lang="ru-RU" sz="3600" dirty="0">
              <a:solidFill>
                <a:schemeClr val="bg2"/>
              </a:solidFill>
            </a:endParaRPr>
          </a:p>
        </p:txBody>
      </p:sp>
      <p:sp>
        <p:nvSpPr>
          <p:cNvPr id="4099" name="Объект 2"/>
          <p:cNvSpPr>
            <a:spLocks noGrp="1"/>
          </p:cNvSpPr>
          <p:nvPr>
            <p:ph idx="1"/>
          </p:nvPr>
        </p:nvSpPr>
        <p:spPr>
          <a:xfrm>
            <a:off x="71500" y="643180"/>
            <a:ext cx="8813976" cy="6030670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ru-RU" sz="2000" dirty="0" smtClean="0"/>
              <a:t>Модель данных </a:t>
            </a:r>
            <a:r>
              <a:rPr lang="ru-RU" sz="2000" dirty="0" err="1" smtClean="0"/>
              <a:t>постреляционной</a:t>
            </a:r>
            <a:r>
              <a:rPr lang="ru-RU" sz="2000" dirty="0" smtClean="0"/>
              <a:t> СУБД </a:t>
            </a:r>
            <a:r>
              <a:rPr lang="ru-RU" sz="2000" dirty="0" err="1" smtClean="0"/>
              <a:t>jBASE</a:t>
            </a:r>
            <a:r>
              <a:rPr lang="ru-RU" sz="2000" dirty="0" smtClean="0"/>
              <a:t> поддерживает </a:t>
            </a:r>
            <a:r>
              <a:rPr lang="ru-RU" sz="20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ассоциированные многозначные поля</a:t>
            </a:r>
            <a:r>
              <a:rPr lang="ru-RU" sz="2000" dirty="0" smtClean="0"/>
              <a:t>, которые часто называют </a:t>
            </a:r>
            <a:r>
              <a:rPr lang="ru-RU" sz="20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множественными группами</a:t>
            </a:r>
            <a:r>
              <a:rPr lang="ru-RU" sz="2000" dirty="0" smtClean="0"/>
              <a:t>. </a:t>
            </a:r>
          </a:p>
          <a:p>
            <a:pPr>
              <a:lnSpc>
                <a:spcPct val="110000"/>
              </a:lnSpc>
            </a:pPr>
            <a:r>
              <a:rPr lang="ru-RU" sz="2000" dirty="0" smtClean="0"/>
              <a:t>Вы можете связать </a:t>
            </a:r>
            <a:r>
              <a:rPr lang="ru-RU" sz="20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несколько столбцов с множественными значениями </a:t>
            </a:r>
            <a:r>
              <a:rPr lang="ru-RU" sz="2000" dirty="0" smtClean="0"/>
              <a:t>в единое целое, называемое </a:t>
            </a:r>
            <a:r>
              <a:rPr lang="ru-RU" sz="20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ассоциацией</a:t>
            </a:r>
            <a:r>
              <a:rPr lang="ru-RU" sz="2000" dirty="0" smtClean="0"/>
              <a:t>. </a:t>
            </a:r>
          </a:p>
          <a:p>
            <a:pPr>
              <a:lnSpc>
                <a:spcPct val="110000"/>
              </a:lnSpc>
            </a:pPr>
            <a:r>
              <a:rPr lang="ru-RU" sz="2000" dirty="0" smtClean="0"/>
              <a:t>При этом в строке </a:t>
            </a:r>
            <a:r>
              <a:rPr lang="ru-RU" sz="20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первое значение одного столбца </a:t>
            </a:r>
            <a:r>
              <a:rPr lang="ru-RU" sz="2000" dirty="0" smtClean="0"/>
              <a:t>ассоциации соответствует </a:t>
            </a:r>
            <a:r>
              <a:rPr lang="ru-RU" sz="20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первым значениям всех других столбцов </a:t>
            </a:r>
            <a:r>
              <a:rPr lang="ru-RU" sz="2000" dirty="0" smtClean="0"/>
              <a:t>ассоциации, в такой же связи находятся все вторые значения столбцов и т.д.</a:t>
            </a:r>
          </a:p>
          <a:p>
            <a:pPr>
              <a:lnSpc>
                <a:spcPct val="110000"/>
              </a:lnSpc>
            </a:pPr>
            <a:r>
              <a:rPr lang="ru-RU" sz="2000" dirty="0" smtClean="0"/>
              <a:t>Многозначные поля и ассоциации не могут вкладываться друг в друга. </a:t>
            </a:r>
          </a:p>
          <a:p>
            <a:pPr>
              <a:lnSpc>
                <a:spcPct val="110000"/>
              </a:lnSpc>
            </a:pPr>
            <a:r>
              <a:rPr lang="ru-RU" sz="2000" dirty="0" smtClean="0"/>
              <a:t>Расширение синтаксиса SQL позволяет осуществлять доступ к множественным полям как расширению реляционной модели. </a:t>
            </a:r>
            <a:endParaRPr lang="ru-RU" sz="2000" dirty="0" smtClean="0"/>
          </a:p>
          <a:p>
            <a:pPr>
              <a:lnSpc>
                <a:spcPct val="110000"/>
              </a:lnSpc>
            </a:pPr>
            <a:r>
              <a:rPr lang="ru-RU" sz="2000" dirty="0" smtClean="0"/>
              <a:t>Можно </a:t>
            </a:r>
            <a:r>
              <a:rPr lang="ru-RU" sz="2000" dirty="0" smtClean="0"/>
              <a:t>применять также стандартный </a:t>
            </a:r>
            <a:r>
              <a:rPr lang="en-US" sz="2000" dirty="0" smtClean="0"/>
              <a:t>SQL</a:t>
            </a:r>
            <a:r>
              <a:rPr lang="ru-RU" sz="2000" dirty="0" smtClean="0"/>
              <a:t> или язык запросов СУБД </a:t>
            </a:r>
            <a:r>
              <a:rPr lang="ru-RU" sz="2000" dirty="0" err="1" smtClean="0"/>
              <a:t>jBASE</a:t>
            </a:r>
            <a:r>
              <a:rPr lang="ru-RU" sz="2000" dirty="0" smtClean="0"/>
              <a:t> - </a:t>
            </a:r>
            <a:r>
              <a:rPr lang="ru-RU" sz="2000" dirty="0" err="1" smtClean="0"/>
              <a:t>jQL</a:t>
            </a:r>
            <a:r>
              <a:rPr lang="ru-RU" sz="2000" dirty="0" smtClean="0"/>
              <a:t>. </a:t>
            </a:r>
          </a:p>
          <a:p>
            <a:pPr>
              <a:lnSpc>
                <a:spcPct val="110000"/>
              </a:lnSpc>
            </a:pPr>
            <a:r>
              <a:rPr lang="ru-RU" sz="2000" dirty="0" smtClean="0"/>
              <a:t>В целом многозначность полей является очень полезным свойством при создании коммерческих приложений, где информация нередко представлена в виде списков предметов.</a:t>
            </a:r>
          </a:p>
          <a:p>
            <a:pPr>
              <a:lnSpc>
                <a:spcPct val="110000"/>
              </a:lnSpc>
            </a:pPr>
            <a:endParaRPr lang="ru-RU" sz="2000" dirty="0"/>
          </a:p>
          <a:p>
            <a:pPr lvl="2">
              <a:lnSpc>
                <a:spcPct val="110000"/>
              </a:lnSpc>
              <a:buFont typeface="Wingdings" pitchFamily="2" charset="2"/>
              <a:buChar char="Ø"/>
            </a:pPr>
            <a:endParaRPr lang="ru-RU" sz="2000" dirty="0" smtClean="0"/>
          </a:p>
          <a:p>
            <a:pPr lvl="2">
              <a:lnSpc>
                <a:spcPct val="110000"/>
              </a:lnSpc>
              <a:buFont typeface="Wingdings" pitchFamily="2" charset="2"/>
              <a:buChar char="Ø"/>
            </a:pPr>
            <a:endParaRPr lang="ru-RU" sz="2000" dirty="0" smtClean="0"/>
          </a:p>
          <a:p>
            <a:pPr lvl="1">
              <a:lnSpc>
                <a:spcPct val="110000"/>
              </a:lnSpc>
              <a:buClr>
                <a:srgbClr val="C00000"/>
              </a:buClr>
              <a:buFont typeface="Wingdings" pitchFamily="2" charset="2"/>
              <a:buChar char="v"/>
            </a:pPr>
            <a:endParaRPr lang="ru-RU" sz="2000" dirty="0" smtClean="0"/>
          </a:p>
          <a:p>
            <a:pPr marL="609600" indent="-609600">
              <a:lnSpc>
                <a:spcPct val="110000"/>
              </a:lnSpc>
              <a:buFont typeface="Wingdings" pitchFamily="2" charset="2"/>
              <a:buNone/>
              <a:defRPr/>
            </a:pPr>
            <a:endParaRPr lang="ru-RU" sz="2000" dirty="0" smtClean="0"/>
          </a:p>
        </p:txBody>
      </p:sp>
      <p:sp>
        <p:nvSpPr>
          <p:cNvPr id="410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6107D0A-A05A-43B6-B2A8-A5A0752DC352}" type="slidenum">
              <a:rPr lang="ru-RU" altLang="ru-RU" sz="1200" smtClean="0">
                <a:latin typeface="Arial Black" pitchFamily="34" charset="0"/>
              </a:rPr>
              <a:pPr eaLnBrk="1" hangingPunct="1"/>
              <a:t>8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title"/>
          </p:nvPr>
        </p:nvSpPr>
        <p:spPr>
          <a:xfrm>
            <a:off x="663780" y="50800"/>
            <a:ext cx="7508670" cy="540615"/>
          </a:xfrm>
        </p:spPr>
        <p:txBody>
          <a:bodyPr/>
          <a:lstStyle/>
          <a:p>
            <a:pPr algn="ctr"/>
            <a:r>
              <a:rPr lang="ru-RU" sz="3600" dirty="0" smtClean="0">
                <a:solidFill>
                  <a:schemeClr val="bg2"/>
                </a:solidFill>
              </a:rPr>
              <a:t>Вложенные таблицы</a:t>
            </a:r>
          </a:p>
        </p:txBody>
      </p:sp>
      <p:sp>
        <p:nvSpPr>
          <p:cNvPr id="4099" name="Объект 2"/>
          <p:cNvSpPr>
            <a:spLocks noGrp="1"/>
          </p:cNvSpPr>
          <p:nvPr>
            <p:ph idx="1"/>
          </p:nvPr>
        </p:nvSpPr>
        <p:spPr>
          <a:xfrm>
            <a:off x="71500" y="732080"/>
            <a:ext cx="8901050" cy="598622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ru-RU" sz="2400" dirty="0" smtClean="0"/>
              <a:t>Использование вложенных таблиц отражает основную задачу - обеспечение пользователя простой логической структурой данных. </a:t>
            </a:r>
          </a:p>
          <a:p>
            <a:pPr>
              <a:lnSpc>
                <a:spcPct val="120000"/>
              </a:lnSpc>
            </a:pPr>
            <a:r>
              <a:rPr lang="ru-RU" sz="2400" dirty="0" smtClean="0"/>
              <a:t>Расширение реляционной базы данных предлагаемое фирмой IBM позволяет использовать вложенные таблицы как атрибуты с множественными значениями и связанные группы таких атрибутов.</a:t>
            </a:r>
          </a:p>
          <a:p>
            <a:pPr>
              <a:lnSpc>
                <a:spcPct val="120000"/>
              </a:lnSpc>
            </a:pPr>
            <a:r>
              <a:rPr lang="ru-RU" sz="2400" dirty="0" smtClean="0"/>
              <a:t> Для создания таблицы может быть использовано следующее SQL предложение:</a:t>
            </a:r>
          </a:p>
          <a:p>
            <a:pPr>
              <a:lnSpc>
                <a:spcPct val="120000"/>
              </a:lnSpc>
              <a:spcBef>
                <a:spcPts val="1200"/>
              </a:spcBef>
              <a:buNone/>
            </a:pPr>
            <a:r>
              <a:rPr lang="ru-RU" sz="2400" b="1" dirty="0" smtClean="0"/>
              <a:t>	</a:t>
            </a:r>
            <a:r>
              <a:rPr lang="en-US" sz="1900" b="1" dirty="0" smtClean="0"/>
              <a:t>CREATE TABLE </a:t>
            </a:r>
            <a:r>
              <a:rPr lang="ru-RU" sz="1900" b="1" dirty="0" smtClean="0"/>
              <a:t>Заказы</a:t>
            </a:r>
            <a:r>
              <a:rPr lang="en-US" sz="1900" b="1" dirty="0" smtClean="0"/>
              <a:t> </a:t>
            </a:r>
            <a:endParaRPr lang="ru-RU" sz="1900" dirty="0" smtClean="0"/>
          </a:p>
          <a:p>
            <a:pPr>
              <a:lnSpc>
                <a:spcPct val="120000"/>
              </a:lnSpc>
              <a:buNone/>
            </a:pPr>
            <a:r>
              <a:rPr lang="ru-RU" sz="1900" b="1" dirty="0" smtClean="0"/>
              <a:t>	</a:t>
            </a:r>
            <a:r>
              <a:rPr lang="en-US" sz="1900" b="1" dirty="0" smtClean="0"/>
              <a:t>(</a:t>
            </a:r>
            <a:r>
              <a:rPr lang="ru-RU" sz="1900" dirty="0" err="1" smtClean="0">
                <a:solidFill>
                  <a:schemeClr val="bg2"/>
                </a:solidFill>
              </a:rPr>
              <a:t>Ном_накл</a:t>
            </a:r>
            <a:r>
              <a:rPr lang="en-US" sz="1900" b="1" dirty="0" smtClean="0"/>
              <a:t> </a:t>
            </a:r>
            <a:r>
              <a:rPr lang="ru-RU" sz="1900" b="1" dirty="0" smtClean="0"/>
              <a:t>	   </a:t>
            </a:r>
            <a:r>
              <a:rPr lang="en-US" sz="1900" b="1" dirty="0" smtClean="0"/>
              <a:t>INT </a:t>
            </a:r>
            <a:r>
              <a:rPr lang="ru-RU" sz="1900" b="1" dirty="0" smtClean="0"/>
              <a:t> </a:t>
            </a:r>
            <a:r>
              <a:rPr lang="en-US" sz="1900" b="1" dirty="0" smtClean="0"/>
              <a:t>NOT NULL</a:t>
            </a:r>
            <a:r>
              <a:rPr lang="ru-RU" sz="1900" b="1" dirty="0" smtClean="0"/>
              <a:t> </a:t>
            </a:r>
            <a:r>
              <a:rPr lang="en-US" sz="1900" b="1" dirty="0" smtClean="0"/>
              <a:t> PRIMARY KEY,</a:t>
            </a:r>
            <a:endParaRPr lang="ru-RU" sz="1900" dirty="0" smtClean="0"/>
          </a:p>
          <a:p>
            <a:pPr>
              <a:lnSpc>
                <a:spcPct val="120000"/>
              </a:lnSpc>
              <a:buNone/>
            </a:pPr>
            <a:r>
              <a:rPr lang="ru-RU" sz="1900" b="1" dirty="0" smtClean="0"/>
              <a:t>	</a:t>
            </a:r>
            <a:r>
              <a:rPr lang="ru-RU" sz="1900" dirty="0" err="1" smtClean="0">
                <a:solidFill>
                  <a:schemeClr val="bg2"/>
                </a:solidFill>
                <a:ea typeface="Times New Roman"/>
                <a:cs typeface="Times New Roman"/>
              </a:rPr>
              <a:t>Ном_покупателя</a:t>
            </a:r>
            <a:r>
              <a:rPr lang="en-US" sz="1900" b="1" dirty="0" smtClean="0"/>
              <a:t> INT,</a:t>
            </a:r>
            <a:endParaRPr lang="ru-RU" sz="1900" dirty="0" smtClean="0"/>
          </a:p>
          <a:p>
            <a:pPr>
              <a:lnSpc>
                <a:spcPct val="120000"/>
              </a:lnSpc>
              <a:buNone/>
            </a:pPr>
            <a:r>
              <a:rPr lang="ru-RU" sz="1900" b="1" dirty="0" smtClean="0"/>
              <a:t>	</a:t>
            </a:r>
            <a:r>
              <a:rPr lang="ru-RU" sz="1900" dirty="0" smtClean="0">
                <a:solidFill>
                  <a:schemeClr val="bg2"/>
                </a:solidFill>
              </a:rPr>
              <a:t>Товар</a:t>
            </a:r>
            <a:r>
              <a:rPr lang="en-US" sz="1900" b="1" dirty="0" smtClean="0"/>
              <a:t> </a:t>
            </a:r>
            <a:r>
              <a:rPr lang="ru-RU" sz="1900" b="1" dirty="0" smtClean="0"/>
              <a:t>	  </a:t>
            </a:r>
            <a:r>
              <a:rPr lang="en-US" sz="1900" b="1" dirty="0" smtClean="0"/>
              <a:t>CHAR(25) MULTIVALUED NOT NULL,</a:t>
            </a:r>
            <a:endParaRPr lang="ru-RU" sz="1900" dirty="0" smtClean="0"/>
          </a:p>
          <a:p>
            <a:pPr>
              <a:lnSpc>
                <a:spcPct val="120000"/>
              </a:lnSpc>
              <a:buNone/>
            </a:pPr>
            <a:r>
              <a:rPr lang="ru-RU" sz="1900" b="1" dirty="0" smtClean="0"/>
              <a:t>	</a:t>
            </a:r>
            <a:r>
              <a:rPr lang="ru-RU" sz="1900" dirty="0" smtClean="0">
                <a:solidFill>
                  <a:schemeClr val="bg2"/>
                </a:solidFill>
              </a:rPr>
              <a:t>Кол-во</a:t>
            </a:r>
            <a:r>
              <a:rPr lang="en-US" sz="1900" b="1" dirty="0" smtClean="0"/>
              <a:t> </a:t>
            </a:r>
            <a:r>
              <a:rPr lang="ru-RU" sz="1900" b="1" dirty="0" smtClean="0"/>
              <a:t>	  </a:t>
            </a:r>
            <a:r>
              <a:rPr lang="en-US" sz="1900" b="1" dirty="0" smtClean="0"/>
              <a:t>INT </a:t>
            </a:r>
            <a:r>
              <a:rPr lang="ru-RU" sz="1900" b="1" dirty="0" smtClean="0"/>
              <a:t>	</a:t>
            </a:r>
            <a:r>
              <a:rPr lang="en-US" sz="1900" b="1" dirty="0" smtClean="0"/>
              <a:t>MULTIVALUED,</a:t>
            </a:r>
            <a:endParaRPr lang="ru-RU" sz="1900" dirty="0" smtClean="0"/>
          </a:p>
          <a:p>
            <a:pPr>
              <a:lnSpc>
                <a:spcPct val="120000"/>
              </a:lnSpc>
              <a:buNone/>
            </a:pPr>
            <a:r>
              <a:rPr lang="ru-RU" sz="1900" b="1" dirty="0" smtClean="0"/>
              <a:t>	</a:t>
            </a:r>
            <a:r>
              <a:rPr lang="en-US" sz="1900" b="1" dirty="0" smtClean="0"/>
              <a:t>ASSOC </a:t>
            </a:r>
            <a:r>
              <a:rPr lang="ru-RU" sz="1900" b="1" dirty="0" smtClean="0">
                <a:solidFill>
                  <a:srgbClr val="C00000"/>
                </a:solidFill>
              </a:rPr>
              <a:t>Поставка</a:t>
            </a:r>
            <a:r>
              <a:rPr lang="en-US" sz="1900" b="1" dirty="0" smtClean="0"/>
              <a:t> (</a:t>
            </a:r>
            <a:r>
              <a:rPr lang="ru-RU" sz="1900" dirty="0" smtClean="0">
                <a:solidFill>
                  <a:schemeClr val="bg2"/>
                </a:solidFill>
              </a:rPr>
              <a:t>Товар</a:t>
            </a:r>
            <a:r>
              <a:rPr lang="en-US" sz="1900" b="1" dirty="0" smtClean="0"/>
              <a:t>, </a:t>
            </a:r>
            <a:r>
              <a:rPr lang="ru-RU" sz="1900" dirty="0" smtClean="0">
                <a:solidFill>
                  <a:schemeClr val="bg2"/>
                </a:solidFill>
              </a:rPr>
              <a:t>Кол-во</a:t>
            </a:r>
            <a:r>
              <a:rPr lang="en-US" sz="1900" b="1" dirty="0" smtClean="0"/>
              <a:t>)</a:t>
            </a:r>
            <a:endParaRPr lang="ru-RU" sz="1900" b="1" dirty="0" smtClean="0"/>
          </a:p>
          <a:p>
            <a:pPr>
              <a:lnSpc>
                <a:spcPct val="120000"/>
              </a:lnSpc>
              <a:buNone/>
            </a:pPr>
            <a:r>
              <a:rPr lang="ru-RU" sz="1900" b="1" dirty="0" smtClean="0"/>
              <a:t>	</a:t>
            </a:r>
            <a:r>
              <a:rPr lang="en-US" sz="1900" b="1" dirty="0" smtClean="0"/>
              <a:t>);</a:t>
            </a:r>
            <a:endParaRPr lang="ru-RU" sz="1900" b="1" dirty="0" smtClean="0"/>
          </a:p>
          <a:p>
            <a:pPr>
              <a:lnSpc>
                <a:spcPct val="120000"/>
              </a:lnSpc>
              <a:buNone/>
            </a:pPr>
            <a:endParaRPr lang="ru-RU" sz="1900" dirty="0" smtClean="0"/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ru-RU" sz="2400" dirty="0" smtClean="0"/>
              <a:t>Атрибуты с множественными значениями определяются словом MULTIVALUED, а связанные группы - словом ASSOC. </a:t>
            </a:r>
          </a:p>
          <a:p>
            <a:pPr>
              <a:lnSpc>
                <a:spcPct val="120000"/>
              </a:lnSpc>
            </a:pPr>
            <a:r>
              <a:rPr lang="ru-RU" sz="2400" dirty="0" smtClean="0"/>
              <a:t>Если необходимо представление данных в первой нормальной форме, компонент </a:t>
            </a:r>
            <a:r>
              <a:rPr lang="ru-RU" sz="2400" dirty="0" err="1" smtClean="0"/>
              <a:t>Ardent</a:t>
            </a:r>
            <a:r>
              <a:rPr lang="ru-RU" sz="2400" dirty="0" smtClean="0"/>
              <a:t> предоставляет механизм для динамической нормализации данных </a:t>
            </a:r>
            <a:r>
              <a:rPr lang="ru-RU" sz="2400" dirty="0" smtClean="0"/>
              <a:t/>
            </a:r>
            <a:br>
              <a:rPr lang="ru-RU" sz="2400" dirty="0" smtClean="0"/>
            </a:br>
            <a:r>
              <a:rPr lang="ru-RU" sz="2400" dirty="0" smtClean="0"/>
              <a:t>(</a:t>
            </a:r>
            <a:r>
              <a:rPr lang="ru-RU" sz="2400" dirty="0" smtClean="0"/>
              <a:t>в процессе запросов). </a:t>
            </a:r>
          </a:p>
          <a:p>
            <a:pPr>
              <a:lnSpc>
                <a:spcPct val="120000"/>
              </a:lnSpc>
            </a:pPr>
            <a:r>
              <a:rPr lang="ru-RU" sz="2400" dirty="0" smtClean="0"/>
              <a:t>Для данной цели в языке SQL синтаксис расширен ключевым словом UNNEST.</a:t>
            </a:r>
          </a:p>
          <a:p>
            <a:pPr>
              <a:lnSpc>
                <a:spcPct val="120000"/>
              </a:lnSpc>
            </a:pPr>
            <a:endParaRPr lang="ru-RU" sz="2400" dirty="0"/>
          </a:p>
          <a:p>
            <a:pPr lvl="2">
              <a:lnSpc>
                <a:spcPct val="120000"/>
              </a:lnSpc>
              <a:buFont typeface="Wingdings" pitchFamily="2" charset="2"/>
              <a:buChar char="Ø"/>
            </a:pPr>
            <a:endParaRPr lang="ru-RU" dirty="0" smtClean="0"/>
          </a:p>
          <a:p>
            <a:pPr lvl="2">
              <a:lnSpc>
                <a:spcPct val="120000"/>
              </a:lnSpc>
              <a:buFont typeface="Wingdings" pitchFamily="2" charset="2"/>
              <a:buChar char="Ø"/>
            </a:pPr>
            <a:endParaRPr lang="ru-RU" dirty="0" smtClean="0"/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endParaRPr lang="ru-RU" sz="2400" dirty="0" smtClean="0"/>
          </a:p>
          <a:p>
            <a:pPr marL="609600" indent="-609600">
              <a:lnSpc>
                <a:spcPct val="120000"/>
              </a:lnSpc>
              <a:buFont typeface="Wingdings" pitchFamily="2" charset="2"/>
              <a:buNone/>
              <a:defRPr/>
            </a:pPr>
            <a:endParaRPr lang="ru-RU" sz="2400" dirty="0" smtClean="0"/>
          </a:p>
        </p:txBody>
      </p:sp>
      <p:sp>
        <p:nvSpPr>
          <p:cNvPr id="410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6107D0A-A05A-43B6-B2A8-A5A0752DC352}" type="slidenum">
              <a:rPr lang="ru-RU" altLang="ru-RU" sz="1200" smtClean="0">
                <a:latin typeface="Arial Black" pitchFamily="34" charset="0"/>
              </a:rPr>
              <a:pPr eaLnBrk="1" hangingPunct="1"/>
              <a:t>9</a:t>
            </a:fld>
            <a:endParaRPr lang="ru-RU" altLang="ru-RU" sz="1200" smtClean="0">
              <a:latin typeface="Arial Black" pitchFamily="34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5607115" y="2528900"/>
          <a:ext cx="3095960" cy="2107531"/>
        </p:xfrm>
        <a:graphic>
          <a:graphicData uri="http://schemas.openxmlformats.org/drawingml/2006/table">
            <a:tbl>
              <a:tblPr/>
              <a:tblGrid>
                <a:gridCol w="7557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7013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45005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533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Ном_накл</a:t>
                      </a:r>
                      <a:endParaRPr lang="ru-RU" sz="12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Ном_покупателя</a:t>
                      </a:r>
                      <a:endParaRPr lang="ru-RU" sz="12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 smtClean="0">
                          <a:latin typeface="Times New Roman"/>
                          <a:ea typeface="Calibri"/>
                          <a:cs typeface="Times New Roman"/>
                        </a:rPr>
                        <a:t>Товар</a:t>
                      </a:r>
                      <a:endParaRPr lang="ru-RU" sz="12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 smtClean="0">
                          <a:latin typeface="Times New Roman"/>
                          <a:ea typeface="Times New Roman"/>
                          <a:cs typeface="Times New Roman"/>
                        </a:rPr>
                        <a:t>Кол-во</a:t>
                      </a:r>
                      <a:endParaRPr lang="ru-RU" sz="12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031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3333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0373</a:t>
                      </a:r>
                      <a:endParaRPr lang="ru-RU" sz="1200" b="1" dirty="0">
                        <a:solidFill>
                          <a:srgbClr val="3333FF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3333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8723</a:t>
                      </a:r>
                      <a:endParaRPr lang="ru-RU" sz="1200" b="1" dirty="0">
                        <a:solidFill>
                          <a:srgbClr val="3333FF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 smtClean="0">
                          <a:solidFill>
                            <a:srgbClr val="3333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Яблоки</a:t>
                      </a:r>
                      <a:endParaRPr lang="ru-RU" sz="1200" b="1" dirty="0">
                        <a:solidFill>
                          <a:srgbClr val="3333FF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3333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ru-RU" sz="1200" b="1" dirty="0">
                        <a:solidFill>
                          <a:srgbClr val="3333FF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5031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3333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ru-RU" sz="1200" b="1" dirty="0">
                        <a:solidFill>
                          <a:srgbClr val="3333FF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3333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ru-RU" sz="1200" b="1" dirty="0">
                        <a:solidFill>
                          <a:srgbClr val="3333FF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 smtClean="0">
                          <a:solidFill>
                            <a:srgbClr val="3333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Груши</a:t>
                      </a:r>
                      <a:endParaRPr lang="ru-RU" sz="1200" b="1" dirty="0">
                        <a:solidFill>
                          <a:srgbClr val="3333FF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3333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1200" b="1" dirty="0">
                        <a:solidFill>
                          <a:srgbClr val="3333FF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9244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8374</a:t>
                      </a:r>
                      <a:endParaRPr lang="ru-RU" sz="1200" b="1" dirty="0">
                        <a:solidFill>
                          <a:srgbClr val="008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8232</a:t>
                      </a:r>
                      <a:endParaRPr lang="ru-RU" sz="1200" b="1" dirty="0">
                        <a:solidFill>
                          <a:srgbClr val="008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Лимонад</a:t>
                      </a:r>
                      <a:endParaRPr lang="ru-RU" sz="1200" b="1" dirty="0">
                        <a:solidFill>
                          <a:srgbClr val="008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1200" b="1" dirty="0">
                        <a:solidFill>
                          <a:srgbClr val="008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5031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ru-RU" sz="1200" b="1" dirty="0">
                        <a:solidFill>
                          <a:srgbClr val="008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ru-RU" sz="1200" b="1" dirty="0">
                        <a:solidFill>
                          <a:srgbClr val="008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Пиво</a:t>
                      </a:r>
                      <a:endParaRPr lang="ru-RU" sz="1200" b="1" dirty="0">
                        <a:solidFill>
                          <a:srgbClr val="008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lang="ru-RU" sz="1200" b="1" dirty="0">
                        <a:solidFill>
                          <a:srgbClr val="008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5031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ru-RU" sz="1200" b="1" dirty="0">
                        <a:solidFill>
                          <a:srgbClr val="008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ru-RU" sz="1200" b="1" dirty="0">
                        <a:solidFill>
                          <a:srgbClr val="008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Вафли</a:t>
                      </a:r>
                      <a:endParaRPr lang="ru-RU" sz="1200" b="1" dirty="0">
                        <a:solidFill>
                          <a:srgbClr val="008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008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1200" b="1" dirty="0">
                        <a:solidFill>
                          <a:srgbClr val="008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5031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7364</a:t>
                      </a:r>
                      <a:endParaRPr lang="ru-RU" sz="1200" b="1" dirty="0">
                        <a:solidFill>
                          <a:srgbClr val="7030A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8723</a:t>
                      </a:r>
                      <a:endParaRPr lang="ru-RU" sz="1200" b="1">
                        <a:solidFill>
                          <a:srgbClr val="7030A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Йогурт</a:t>
                      </a:r>
                      <a:endParaRPr lang="ru-RU" sz="1200" b="1">
                        <a:solidFill>
                          <a:srgbClr val="7030A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b="1" dirty="0">
                          <a:solidFill>
                            <a:srgbClr val="7030A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ru-RU" sz="1200" b="1" dirty="0">
                        <a:solidFill>
                          <a:srgbClr val="7030A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409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title"/>
          </p:nvPr>
        </p:nvSpPr>
        <p:spPr>
          <a:xfrm>
            <a:off x="260350" y="-36385"/>
            <a:ext cx="8623300" cy="585065"/>
          </a:xfrm>
        </p:spPr>
        <p:txBody>
          <a:bodyPr/>
          <a:lstStyle/>
          <a:p>
            <a:pPr algn="ctr"/>
            <a:r>
              <a:rPr lang="ru-RU" sz="3600" dirty="0" smtClean="0">
                <a:solidFill>
                  <a:schemeClr val="bg1"/>
                </a:solidFill>
              </a:rPr>
              <a:t>Вложенность</a:t>
            </a:r>
            <a:r>
              <a:rPr lang="ru-RU" sz="3600" dirty="0" smtClean="0">
                <a:solidFill>
                  <a:schemeClr val="bg2"/>
                </a:solidFill>
              </a:rPr>
              <a:t> реляционных отношений</a:t>
            </a:r>
          </a:p>
        </p:txBody>
      </p:sp>
      <p:sp>
        <p:nvSpPr>
          <p:cNvPr id="4099" name="Объект 2"/>
          <p:cNvSpPr>
            <a:spLocks noGrp="1"/>
          </p:cNvSpPr>
          <p:nvPr>
            <p:ph idx="1"/>
          </p:nvPr>
        </p:nvSpPr>
        <p:spPr>
          <a:xfrm>
            <a:off x="71500" y="643180"/>
            <a:ext cx="8812150" cy="5630620"/>
          </a:xfrm>
        </p:spPr>
        <p:txBody>
          <a:bodyPr>
            <a:normAutofit/>
          </a:bodyPr>
          <a:lstStyle/>
          <a:p>
            <a:r>
              <a:rPr lang="ru-RU" sz="2000" dirty="0" smtClean="0"/>
              <a:t>Иногда определение отношений связано с необходимостью поддержки связи и целостности данных. </a:t>
            </a:r>
          </a:p>
          <a:p>
            <a:r>
              <a:rPr lang="ru-RU" sz="2000" dirty="0" smtClean="0"/>
              <a:t>В случае использования </a:t>
            </a:r>
            <a:r>
              <a:rPr lang="ru-RU" sz="2000" b="1" dirty="0" smtClean="0"/>
              <a:t>вложенных таблиц </a:t>
            </a:r>
            <a:r>
              <a:rPr lang="ru-RU" sz="2000" b="1" dirty="0" smtClean="0">
                <a:solidFill>
                  <a:schemeClr val="bg2"/>
                </a:solidFill>
              </a:rPr>
              <a:t>ограничения целостности в них осуществляются автоматически</a:t>
            </a:r>
            <a:r>
              <a:rPr lang="ru-RU" sz="2000" dirty="0" smtClean="0"/>
              <a:t>, без дополнительных определений. </a:t>
            </a:r>
          </a:p>
          <a:p>
            <a:r>
              <a:rPr lang="ru-RU" sz="2000" dirty="0" smtClean="0"/>
              <a:t>В данной модели </a:t>
            </a:r>
            <a:r>
              <a:rPr lang="ru-RU" sz="2000" b="1" dirty="0" smtClean="0"/>
              <a:t>нет необходимости хранить внешние ключи во вложенной и в основной таблице</a:t>
            </a:r>
            <a:r>
              <a:rPr lang="ru-RU" sz="2000" dirty="0" smtClean="0"/>
              <a:t>, поскольку фактически одна таблица является частью другой и при выборке записей из основной таблицы, автоматически выбираются данные из вложенной.</a:t>
            </a:r>
          </a:p>
          <a:p>
            <a:r>
              <a:rPr lang="ru-RU" sz="2000" dirty="0" smtClean="0"/>
              <a:t>При удалении записи основной таблицы, естественно, удаляются все вложенные в эту запись таблицы. </a:t>
            </a:r>
          </a:p>
          <a:p>
            <a:r>
              <a:rPr lang="ru-RU" sz="2000" dirty="0" smtClean="0"/>
              <a:t>Появляется ряд дополнительных преимуществ. </a:t>
            </a:r>
            <a:r>
              <a:rPr lang="ru-RU" sz="2000" dirty="0" smtClean="0"/>
              <a:t/>
            </a:r>
            <a:br>
              <a:rPr lang="ru-RU" sz="2000" dirty="0" smtClean="0"/>
            </a:br>
            <a:r>
              <a:rPr lang="ru-RU" sz="2000" dirty="0" smtClean="0"/>
              <a:t>Так </a:t>
            </a:r>
            <a:r>
              <a:rPr lang="ru-RU" sz="2000" dirty="0" smtClean="0"/>
              <a:t>возможность хранить во вложенной таблице множество внешних ключей избавляет от необходимости использовать и поддерживать таблицы перекрестных ссылок для связей типа </a:t>
            </a:r>
            <a:r>
              <a:rPr lang="en-US" sz="2000" b="1" dirty="0" smtClean="0"/>
              <a:t>N</a:t>
            </a:r>
            <a:r>
              <a:rPr lang="ru-RU" sz="2000" b="1" dirty="0" smtClean="0"/>
              <a:t> </a:t>
            </a:r>
            <a:r>
              <a:rPr lang="en-US" sz="2000" b="1" dirty="0" smtClean="0"/>
              <a:t>: M</a:t>
            </a:r>
            <a:r>
              <a:rPr lang="ru-RU" sz="2000" dirty="0" smtClean="0"/>
              <a:t>.</a:t>
            </a:r>
          </a:p>
          <a:p>
            <a:r>
              <a:rPr lang="ru-RU" sz="2000" dirty="0" smtClean="0"/>
              <a:t> Это дает увеличение скорости операций на выборках из больших массивов данных.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v"/>
            </a:pPr>
            <a:endParaRPr lang="ru-RU" sz="2200" dirty="0"/>
          </a:p>
          <a:p>
            <a:pPr lvl="2">
              <a:buFont typeface="Wingdings" pitchFamily="2" charset="2"/>
              <a:buChar char="Ø"/>
            </a:pPr>
            <a:endParaRPr lang="ru-RU" dirty="0" smtClean="0"/>
          </a:p>
          <a:p>
            <a:pPr lvl="2">
              <a:buFont typeface="Wingdings" pitchFamily="2" charset="2"/>
              <a:buChar char="Ø"/>
            </a:pPr>
            <a:endParaRPr lang="ru-RU" dirty="0" smtClean="0"/>
          </a:p>
          <a:p>
            <a:pPr lvl="1">
              <a:buClr>
                <a:srgbClr val="C00000"/>
              </a:buClr>
              <a:buFont typeface="Wingdings" pitchFamily="2" charset="2"/>
              <a:buChar char="v"/>
            </a:pPr>
            <a:endParaRPr lang="ru-RU" sz="2400" dirty="0" smtClean="0"/>
          </a:p>
          <a:p>
            <a:pPr marL="609600" indent="-609600">
              <a:buFont typeface="Wingdings" pitchFamily="2" charset="2"/>
              <a:buNone/>
              <a:defRPr/>
            </a:pPr>
            <a:endParaRPr lang="ru-RU" sz="2400" dirty="0" smtClean="0"/>
          </a:p>
        </p:txBody>
      </p:sp>
      <p:sp>
        <p:nvSpPr>
          <p:cNvPr id="410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6107D0A-A05A-43B6-B2A8-A5A0752DC352}" type="slidenum">
              <a:rPr lang="ru-RU" altLang="ru-RU" sz="1200" smtClean="0">
                <a:latin typeface="Arial Black" pitchFamily="34" charset="0"/>
              </a:rPr>
              <a:pPr eaLnBrk="1" hangingPunct="1"/>
              <a:t>10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Заголовок 1"/>
          <p:cNvSpPr>
            <a:spLocks noGrp="1"/>
          </p:cNvSpPr>
          <p:nvPr>
            <p:ph type="title"/>
          </p:nvPr>
        </p:nvSpPr>
        <p:spPr>
          <a:xfrm>
            <a:off x="468313" y="209550"/>
            <a:ext cx="8229600" cy="504825"/>
          </a:xfrm>
        </p:spPr>
        <p:txBody>
          <a:bodyPr/>
          <a:lstStyle/>
          <a:p>
            <a:pPr algn="ctr"/>
            <a:r>
              <a:rPr lang="ru-RU" sz="4000" dirty="0" err="1" smtClean="0">
                <a:solidFill>
                  <a:schemeClr val="bg2"/>
                </a:solidFill>
              </a:rPr>
              <a:t>Multivalue</a:t>
            </a:r>
            <a:r>
              <a:rPr lang="ru-RU" sz="4000" dirty="0" smtClean="0">
                <a:solidFill>
                  <a:schemeClr val="bg2"/>
                </a:solidFill>
              </a:rPr>
              <a:t> СУБД</a:t>
            </a:r>
            <a:endParaRPr lang="ru-RU" altLang="ru-RU" sz="4000" dirty="0" smtClean="0">
              <a:solidFill>
                <a:schemeClr val="bg2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8900" y="990601"/>
            <a:ext cx="8848585" cy="414859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Название </a:t>
            </a:r>
            <a:r>
              <a:rPr lang="ru-RU" dirty="0" err="1"/>
              <a:t>Multivalue</a:t>
            </a:r>
            <a:r>
              <a:rPr lang="ru-RU" dirty="0"/>
              <a:t> закрепилось за этим классом СУБД сравнительно </a:t>
            </a:r>
            <a:r>
              <a:rPr lang="ru-RU" dirty="0" smtClean="0"/>
              <a:t>недавно.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Сейчас </a:t>
            </a:r>
            <a:r>
              <a:rPr lang="ru-RU" dirty="0"/>
              <a:t>в этот класс СУБД входят достаточно много продуктов разных фирм</a:t>
            </a:r>
            <a:r>
              <a:rPr lang="ru-RU" dirty="0" smtClean="0"/>
              <a:t>: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dirty="0" err="1"/>
              <a:t>jBASE</a:t>
            </a:r>
            <a:r>
              <a:rPr lang="ru-RU" dirty="0"/>
              <a:t>, </a:t>
            </a:r>
            <a:r>
              <a:rPr lang="en-US" dirty="0"/>
              <a:t>D</a:t>
            </a:r>
            <a:r>
              <a:rPr lang="ru-RU" dirty="0"/>
              <a:t>3, </a:t>
            </a:r>
            <a:r>
              <a:rPr lang="en-US" dirty="0" err="1"/>
              <a:t>mvBASE</a:t>
            </a:r>
            <a:r>
              <a:rPr lang="ru-RU" dirty="0"/>
              <a:t>, </a:t>
            </a:r>
            <a:r>
              <a:rPr lang="en-US" dirty="0" err="1"/>
              <a:t>UniVerse</a:t>
            </a:r>
            <a:r>
              <a:rPr lang="ru-RU" dirty="0"/>
              <a:t>, </a:t>
            </a:r>
            <a:r>
              <a:rPr lang="en-US" dirty="0" err="1"/>
              <a:t>UniVata</a:t>
            </a:r>
            <a:r>
              <a:rPr lang="ru-RU" dirty="0"/>
              <a:t>, </a:t>
            </a:r>
            <a:r>
              <a:rPr lang="en-US" dirty="0"/>
              <a:t>Prime</a:t>
            </a:r>
            <a:r>
              <a:rPr lang="ru-RU" dirty="0"/>
              <a:t>, </a:t>
            </a:r>
            <a:r>
              <a:rPr lang="en-US" dirty="0"/>
              <a:t>Reality</a:t>
            </a:r>
            <a:r>
              <a:rPr lang="ru-RU" dirty="0"/>
              <a:t>, </a:t>
            </a:r>
            <a:r>
              <a:rPr lang="en-US" dirty="0" err="1"/>
              <a:t>UltPlus</a:t>
            </a:r>
            <a:r>
              <a:rPr lang="ru-RU" dirty="0"/>
              <a:t>, </a:t>
            </a:r>
            <a:r>
              <a:rPr lang="en-US" dirty="0" err="1"/>
              <a:t>UniVision</a:t>
            </a:r>
            <a:r>
              <a:rPr lang="ru-RU" dirty="0"/>
              <a:t>, </a:t>
            </a:r>
            <a:r>
              <a:rPr lang="en-US" dirty="0" err="1"/>
              <a:t>eXpress</a:t>
            </a:r>
            <a:r>
              <a:rPr lang="ru-RU" dirty="0"/>
              <a:t>, </a:t>
            </a:r>
            <a:r>
              <a:rPr lang="en-US" dirty="0" err="1"/>
              <a:t>OpenInside</a:t>
            </a:r>
            <a:r>
              <a:rPr lang="ru-RU" dirty="0"/>
              <a:t>, </a:t>
            </a:r>
            <a:r>
              <a:rPr lang="en-US" dirty="0"/>
              <a:t>AREV</a:t>
            </a:r>
            <a:r>
              <a:rPr lang="ru-RU" dirty="0"/>
              <a:t>, </a:t>
            </a:r>
            <a:r>
              <a:rPr lang="en-US" dirty="0"/>
              <a:t>JOI</a:t>
            </a:r>
            <a:r>
              <a:rPr lang="ru-RU" dirty="0"/>
              <a:t>, </a:t>
            </a:r>
            <a:r>
              <a:rPr lang="en-US" dirty="0" err="1"/>
              <a:t>PcVerse</a:t>
            </a:r>
            <a:r>
              <a:rPr lang="ru-RU" dirty="0"/>
              <a:t> и </a:t>
            </a:r>
            <a:r>
              <a:rPr lang="ru-RU" dirty="0" smtClean="0"/>
              <a:t>другие</a:t>
            </a:r>
          </a:p>
          <a:p>
            <a:pPr marL="342900" lvl="1" indent="-342900">
              <a:lnSpc>
                <a:spcPct val="12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sz="3200" dirty="0" smtClean="0">
                <a:ea typeface="+mn-ea"/>
              </a:rPr>
              <a:t>Все </a:t>
            </a:r>
            <a:r>
              <a:rPr lang="ru-RU" sz="3200" dirty="0">
                <a:ea typeface="+mn-ea"/>
              </a:rPr>
              <a:t>они ведут свое происхождение от </a:t>
            </a:r>
            <a:r>
              <a:rPr lang="en-US" sz="3200" dirty="0">
                <a:ea typeface="+mn-ea"/>
              </a:rPr>
              <a:t>OS PICK</a:t>
            </a:r>
            <a:r>
              <a:rPr lang="ru-RU" sz="3200" dirty="0">
                <a:ea typeface="+mn-ea"/>
              </a:rPr>
              <a:t>  разработанной  в конце 60-х </a:t>
            </a:r>
            <a:r>
              <a:rPr lang="ru-RU" sz="3200" dirty="0" smtClean="0">
                <a:ea typeface="+mn-ea"/>
              </a:rPr>
              <a:t>годов.</a:t>
            </a:r>
          </a:p>
          <a:p>
            <a:pPr marL="342900" lvl="1" indent="-342900">
              <a:lnSpc>
                <a:spcPct val="12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sz="3200" dirty="0"/>
              <a:t>О</a:t>
            </a:r>
            <a:r>
              <a:rPr lang="ru-RU" sz="3200" dirty="0" smtClean="0"/>
              <a:t>сновными </a:t>
            </a:r>
            <a:r>
              <a:rPr lang="ru-RU" sz="3200" dirty="0"/>
              <a:t>игроками на </a:t>
            </a:r>
            <a:r>
              <a:rPr lang="ru-RU" sz="3200" dirty="0" smtClean="0"/>
              <a:t>современном рынке </a:t>
            </a:r>
            <a:r>
              <a:rPr lang="ru-RU" sz="3200" dirty="0"/>
              <a:t>PICK-подобных СУБД являются следующие компании</a:t>
            </a:r>
            <a:r>
              <a:rPr lang="ru-RU" sz="3200" dirty="0" smtClean="0"/>
              <a:t>:</a:t>
            </a:r>
          </a:p>
          <a:p>
            <a:pPr marL="342900" lvl="1" indent="-342900">
              <a:lnSpc>
                <a:spcPct val="12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endParaRPr lang="ru-RU" sz="3200" dirty="0">
              <a:ea typeface="+mn-ea"/>
            </a:endParaRPr>
          </a:p>
        </p:txBody>
      </p:sp>
      <p:sp>
        <p:nvSpPr>
          <p:cNvPr id="5124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622450" y="6444334"/>
            <a:ext cx="431541" cy="315035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71150D0-99B4-40F5-9BB2-A706B452630E}" type="slidenum">
              <a:rPr lang="ru-RU" altLang="ru-RU" sz="1200" smtClean="0">
                <a:latin typeface="Arial Black" pitchFamily="34" charset="0"/>
              </a:rPr>
              <a:pPr eaLnBrk="1" hangingPunct="1"/>
              <a:t>11</a:t>
            </a:fld>
            <a:endParaRPr lang="ru-RU" altLang="ru-RU" sz="1200" dirty="0" smtClean="0">
              <a:latin typeface="Arial Black" pitchFamily="34" charset="0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245888484"/>
              </p:ext>
            </p:extLst>
          </p:nvPr>
        </p:nvGraphicFramePr>
        <p:xfrm>
          <a:off x="206515" y="5046584"/>
          <a:ext cx="8409620" cy="168933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71069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69892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0507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 smtClean="0">
                          <a:solidFill>
                            <a:schemeClr val="bg2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Название фирмы</a:t>
                      </a:r>
                      <a:endParaRPr lang="ru-RU" sz="1800" b="1" dirty="0">
                        <a:solidFill>
                          <a:schemeClr val="bg2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 smtClean="0">
                          <a:solidFill>
                            <a:schemeClr val="bg2"/>
                          </a:solidFill>
                          <a:effectLst/>
                          <a:latin typeface="Calibri"/>
                          <a:ea typeface="Calibri"/>
                          <a:cs typeface="Times New Roman"/>
                        </a:rPr>
                        <a:t>Название СУБД</a:t>
                      </a:r>
                      <a:endParaRPr lang="ru-RU" sz="1800" b="1" dirty="0">
                        <a:solidFill>
                          <a:schemeClr val="bg2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66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bg2"/>
                          </a:solidFill>
                          <a:effectLst/>
                        </a:rPr>
                        <a:t>Raining Data - </a:t>
                      </a:r>
                      <a:r>
                        <a:rPr lang="ru-RU" sz="1800" b="1" dirty="0" smtClean="0">
                          <a:solidFill>
                            <a:schemeClr val="bg2"/>
                          </a:solidFill>
                          <a:effectLst/>
                        </a:rPr>
                        <a:t>бывшая</a:t>
                      </a:r>
                      <a:r>
                        <a:rPr lang="en-US" sz="1800" b="1" dirty="0" smtClean="0">
                          <a:solidFill>
                            <a:schemeClr val="bg2"/>
                          </a:solidFill>
                          <a:effectLst/>
                        </a:rPr>
                        <a:t> </a:t>
                      </a:r>
                      <a:r>
                        <a:rPr lang="en-US" sz="1800" b="1" dirty="0">
                          <a:solidFill>
                            <a:schemeClr val="bg2"/>
                          </a:solidFill>
                          <a:effectLst/>
                        </a:rPr>
                        <a:t>Pick Systems</a:t>
                      </a:r>
                      <a:endParaRPr lang="ru-RU" sz="1800" b="1" dirty="0">
                        <a:solidFill>
                          <a:schemeClr val="bg2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solidFill>
                            <a:schemeClr val="bg2"/>
                          </a:solidFill>
                          <a:effectLst/>
                        </a:rPr>
                        <a:t>D3</a:t>
                      </a:r>
                      <a:r>
                        <a:rPr lang="ru-RU" sz="1800" b="1" dirty="0" smtClean="0">
                          <a:solidFill>
                            <a:schemeClr val="bg2"/>
                          </a:solidFill>
                          <a:effectLst/>
                        </a:rPr>
                        <a:t>, </a:t>
                      </a:r>
                      <a:r>
                        <a:rPr lang="en-US" sz="1800" b="1" dirty="0" smtClean="0">
                          <a:solidFill>
                            <a:schemeClr val="bg2"/>
                          </a:solidFill>
                          <a:effectLst/>
                        </a:rPr>
                        <a:t>Native Pick</a:t>
                      </a:r>
                      <a:r>
                        <a:rPr lang="ru-RU" sz="1800" b="1" dirty="0" smtClean="0">
                          <a:solidFill>
                            <a:schemeClr val="bg2"/>
                          </a:solidFill>
                          <a:effectLst/>
                        </a:rPr>
                        <a:t>, </a:t>
                      </a:r>
                      <a:r>
                        <a:rPr lang="en-US" sz="1800" b="1" dirty="0" err="1" smtClean="0">
                          <a:solidFill>
                            <a:schemeClr val="bg2"/>
                          </a:solidFill>
                          <a:effectLst/>
                        </a:rPr>
                        <a:t>mv.BASE</a:t>
                      </a:r>
                      <a:endParaRPr lang="ru-RU" sz="1800" b="1" dirty="0">
                        <a:solidFill>
                          <a:schemeClr val="bg2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3105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200" dirty="0" smtClean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Rocket Software</a:t>
                      </a:r>
                      <a:endParaRPr lang="ru-RU" sz="1800" b="1" kern="1200" dirty="0">
                        <a:solidFill>
                          <a:schemeClr val="bg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kern="1200" dirty="0" smtClean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Rocket U2</a:t>
                      </a:r>
                      <a:r>
                        <a:rPr lang="ru-RU" sz="1800" b="1" kern="1200" dirty="0" smtClean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1" dirty="0" smtClean="0">
                          <a:solidFill>
                            <a:schemeClr val="bg2"/>
                          </a:solidFill>
                          <a:effectLst/>
                        </a:rPr>
                        <a:t>(</a:t>
                      </a:r>
                      <a:r>
                        <a:rPr lang="ru-RU" sz="1800" b="1" dirty="0" err="1">
                          <a:solidFill>
                            <a:schemeClr val="bg2"/>
                          </a:solidFill>
                          <a:effectLst/>
                        </a:rPr>
                        <a:t>UniVerse</a:t>
                      </a:r>
                      <a:r>
                        <a:rPr lang="ru-RU" sz="1800" b="1" dirty="0">
                          <a:solidFill>
                            <a:schemeClr val="bg2"/>
                          </a:solidFill>
                          <a:effectLst/>
                        </a:rPr>
                        <a:t> &amp; </a:t>
                      </a:r>
                      <a:r>
                        <a:rPr lang="ru-RU" sz="1800" b="1" dirty="0" err="1">
                          <a:solidFill>
                            <a:schemeClr val="bg2"/>
                          </a:solidFill>
                          <a:effectLst/>
                        </a:rPr>
                        <a:t>UniData</a:t>
                      </a:r>
                      <a:r>
                        <a:rPr lang="ru-RU" sz="1800" b="1" dirty="0">
                          <a:solidFill>
                            <a:schemeClr val="bg2"/>
                          </a:solidFill>
                          <a:effectLst/>
                        </a:rPr>
                        <a:t>)</a:t>
                      </a:r>
                      <a:endParaRPr lang="ru-RU" sz="1800" b="1" dirty="0">
                        <a:solidFill>
                          <a:schemeClr val="bg2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266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chemeClr val="bg2"/>
                          </a:solidFill>
                          <a:effectLst/>
                        </a:rPr>
                        <a:t>JBASE</a:t>
                      </a:r>
                      <a:endParaRPr lang="ru-RU" sz="1800" b="1" dirty="0">
                        <a:solidFill>
                          <a:schemeClr val="bg2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 err="1">
                          <a:solidFill>
                            <a:schemeClr val="bg2"/>
                          </a:solidFill>
                          <a:effectLst/>
                        </a:rPr>
                        <a:t>jBASE</a:t>
                      </a:r>
                      <a:endParaRPr lang="ru-RU" sz="1800" b="1" dirty="0">
                        <a:solidFill>
                          <a:schemeClr val="bg2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28575" marR="28575" marT="28575" marB="28575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title"/>
          </p:nvPr>
        </p:nvSpPr>
        <p:spPr>
          <a:xfrm>
            <a:off x="1061610" y="-36385"/>
            <a:ext cx="6840760" cy="585065"/>
          </a:xfrm>
        </p:spPr>
        <p:txBody>
          <a:bodyPr/>
          <a:lstStyle/>
          <a:p>
            <a:pPr algn="ctr"/>
            <a:r>
              <a:rPr lang="en-US" sz="3600" dirty="0" err="1">
                <a:solidFill>
                  <a:schemeClr val="bg2"/>
                </a:solidFill>
              </a:rPr>
              <a:t>Немного</a:t>
            </a:r>
            <a:r>
              <a:rPr lang="en-US" sz="3600" dirty="0">
                <a:solidFill>
                  <a:schemeClr val="bg2"/>
                </a:solidFill>
              </a:rPr>
              <a:t> </a:t>
            </a:r>
            <a:r>
              <a:rPr lang="en-US" sz="3600" dirty="0" err="1">
                <a:solidFill>
                  <a:schemeClr val="bg2"/>
                </a:solidFill>
              </a:rPr>
              <a:t>истории</a:t>
            </a:r>
            <a:endParaRPr lang="ru-RU" sz="3600" dirty="0">
              <a:solidFill>
                <a:schemeClr val="bg2"/>
              </a:solidFill>
            </a:endParaRPr>
          </a:p>
        </p:txBody>
      </p:sp>
      <p:sp>
        <p:nvSpPr>
          <p:cNvPr id="4099" name="Объект 2"/>
          <p:cNvSpPr>
            <a:spLocks noGrp="1"/>
          </p:cNvSpPr>
          <p:nvPr>
            <p:ph idx="1"/>
          </p:nvPr>
        </p:nvSpPr>
        <p:spPr>
          <a:xfrm>
            <a:off x="251520" y="638688"/>
            <a:ext cx="8633955" cy="5895657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30000"/>
              </a:lnSpc>
            </a:pPr>
            <a:r>
              <a:rPr lang="ru-RU" sz="2600" dirty="0"/>
              <a:t>В середине шестидесятых Дик Пик и Дан </a:t>
            </a:r>
            <a:r>
              <a:rPr lang="ru-RU" sz="2600" dirty="0" err="1"/>
              <a:t>Нелсон</a:t>
            </a:r>
            <a:r>
              <a:rPr lang="ru-RU" sz="2600" dirty="0"/>
              <a:t> (</a:t>
            </a:r>
            <a:r>
              <a:rPr lang="ru-RU" sz="2600" dirty="0" err="1"/>
              <a:t>Dick</a:t>
            </a:r>
            <a:r>
              <a:rPr lang="ru-RU" sz="2600" dirty="0"/>
              <a:t> </a:t>
            </a:r>
            <a:r>
              <a:rPr lang="ru-RU" sz="2600" dirty="0" err="1"/>
              <a:t>Pick</a:t>
            </a:r>
            <a:r>
              <a:rPr lang="ru-RU" sz="2600" dirty="0"/>
              <a:t> , </a:t>
            </a:r>
            <a:r>
              <a:rPr lang="ru-RU" sz="2600" dirty="0" err="1"/>
              <a:t>Don</a:t>
            </a:r>
            <a:r>
              <a:rPr lang="ru-RU" sz="2600" dirty="0"/>
              <a:t> </a:t>
            </a:r>
            <a:r>
              <a:rPr lang="ru-RU" sz="2600" dirty="0" err="1"/>
              <a:t>Nelson</a:t>
            </a:r>
            <a:r>
              <a:rPr lang="ru-RU" sz="2600" dirty="0"/>
              <a:t>) по заказу военного ведомства США  разработали систему  управления военными </a:t>
            </a:r>
            <a:r>
              <a:rPr lang="ru-RU" sz="2600" dirty="0" smtClean="0"/>
              <a:t>запасами.</a:t>
            </a:r>
          </a:p>
          <a:p>
            <a:pPr>
              <a:lnSpc>
                <a:spcPct val="130000"/>
              </a:lnSpc>
            </a:pPr>
            <a:r>
              <a:rPr lang="ru-RU" sz="2600" dirty="0"/>
              <a:t>Система предоставляла возможность делать запросы на естественном языке. </a:t>
            </a:r>
            <a:endParaRPr lang="ru-RU" sz="2600" dirty="0" smtClean="0"/>
          </a:p>
          <a:p>
            <a:pPr>
              <a:lnSpc>
                <a:spcPct val="130000"/>
              </a:lnSpc>
            </a:pPr>
            <a:r>
              <a:rPr lang="ru-RU" sz="2600" dirty="0" smtClean="0"/>
              <a:t>Проект </a:t>
            </a:r>
            <a:r>
              <a:rPr lang="ru-RU" sz="2600" dirty="0"/>
              <a:t>получил название GIRLS (</a:t>
            </a:r>
            <a:r>
              <a:rPr lang="ru-RU" sz="2600" dirty="0" err="1"/>
              <a:t>Generalized</a:t>
            </a:r>
            <a:r>
              <a:rPr lang="ru-RU" sz="2600" dirty="0"/>
              <a:t> </a:t>
            </a:r>
            <a:r>
              <a:rPr lang="ru-RU" sz="2600" dirty="0" err="1"/>
              <a:t>Information</a:t>
            </a:r>
            <a:r>
              <a:rPr lang="ru-RU" sz="2600" dirty="0"/>
              <a:t> </a:t>
            </a:r>
            <a:r>
              <a:rPr lang="ru-RU" sz="2600" dirty="0" err="1"/>
              <a:t>Retrieval</a:t>
            </a:r>
            <a:r>
              <a:rPr lang="ru-RU" sz="2600" dirty="0"/>
              <a:t> </a:t>
            </a:r>
            <a:r>
              <a:rPr lang="ru-RU" sz="2600" dirty="0" err="1"/>
              <a:t>Language</a:t>
            </a:r>
            <a:r>
              <a:rPr lang="ru-RU" sz="2600" dirty="0"/>
              <a:t> </a:t>
            </a:r>
            <a:r>
              <a:rPr lang="ru-RU" sz="2600" dirty="0" err="1"/>
              <a:t>and</a:t>
            </a:r>
            <a:r>
              <a:rPr lang="ru-RU" sz="2600" dirty="0"/>
              <a:t> </a:t>
            </a:r>
            <a:r>
              <a:rPr lang="ru-RU" sz="2600" dirty="0" err="1"/>
              <a:t>System</a:t>
            </a:r>
            <a:r>
              <a:rPr lang="ru-RU" sz="2600" dirty="0" smtClean="0"/>
              <a:t>). </a:t>
            </a:r>
          </a:p>
          <a:p>
            <a:pPr>
              <a:lnSpc>
                <a:spcPct val="130000"/>
              </a:lnSpc>
            </a:pPr>
            <a:r>
              <a:rPr lang="ru-RU" sz="2600" dirty="0" smtClean="0"/>
              <a:t>В дальнейшем это привело к созданию коммерческой версии системы – </a:t>
            </a:r>
            <a:r>
              <a:rPr lang="en-US" sz="2600" dirty="0" smtClean="0"/>
              <a:t>OS PICK </a:t>
            </a:r>
            <a:r>
              <a:rPr lang="ru-RU" sz="2600" dirty="0" smtClean="0"/>
              <a:t>(фамилии создателя и правообладателя - Дика Пика).</a:t>
            </a:r>
            <a:endParaRPr lang="ru-RU" sz="2600" dirty="0"/>
          </a:p>
          <a:p>
            <a:pPr>
              <a:lnSpc>
                <a:spcPct val="130000"/>
              </a:lnSpc>
            </a:pPr>
            <a:r>
              <a:rPr lang="ru-RU" sz="2600" dirty="0"/>
              <a:t>Она включала в себя функции операционной системы, </a:t>
            </a:r>
            <a:r>
              <a:rPr lang="ru-RU" sz="2600" dirty="0" smtClean="0"/>
              <a:t>СУБД </a:t>
            </a:r>
            <a:r>
              <a:rPr lang="ru-RU" sz="2600" dirty="0"/>
              <a:t>и средств разработки. </a:t>
            </a:r>
          </a:p>
          <a:p>
            <a:pPr>
              <a:lnSpc>
                <a:spcPct val="130000"/>
              </a:lnSpc>
            </a:pPr>
            <a:r>
              <a:rPr lang="ru-RU" sz="2600" dirty="0"/>
              <a:t>Система была написана на псевдо-ассемблере и транслировалась в исполняемые коды машин. </a:t>
            </a:r>
            <a:endParaRPr lang="ru-RU" sz="2600" dirty="0" smtClean="0"/>
          </a:p>
          <a:p>
            <a:pPr>
              <a:lnSpc>
                <a:spcPct val="130000"/>
              </a:lnSpc>
            </a:pPr>
            <a:r>
              <a:rPr lang="ru-RU" sz="2600" dirty="0" smtClean="0"/>
              <a:t>Благодаря </a:t>
            </a:r>
            <a:r>
              <a:rPr lang="ru-RU" sz="2600" dirty="0"/>
              <a:t>такой возможности OS PICK </a:t>
            </a:r>
            <a:r>
              <a:rPr lang="ru-RU" sz="2600" dirty="0" err="1"/>
              <a:t>портирована</a:t>
            </a:r>
            <a:r>
              <a:rPr lang="ru-RU" sz="2600" dirty="0"/>
              <a:t> более чем на 50 типов платформ в течение почти 20 лет</a:t>
            </a:r>
            <a:r>
              <a:rPr lang="ru-RU" sz="2600" dirty="0" smtClean="0"/>
              <a:t>.</a:t>
            </a:r>
          </a:p>
          <a:p>
            <a:pPr>
              <a:lnSpc>
                <a:spcPct val="130000"/>
              </a:lnSpc>
            </a:pPr>
            <a:r>
              <a:rPr lang="ru-RU" sz="2600" dirty="0"/>
              <a:t>П</a:t>
            </a:r>
            <a:r>
              <a:rPr lang="ru-RU" sz="2600" dirty="0" smtClean="0"/>
              <a:t>о </a:t>
            </a:r>
            <a:r>
              <a:rPr lang="ru-RU" sz="2600" dirty="0"/>
              <a:t>тогдашним временам в OS PICK были реализованы передовые технологии: </a:t>
            </a:r>
            <a:endParaRPr lang="ru-RU" sz="2600" dirty="0" smtClean="0"/>
          </a:p>
          <a:p>
            <a:pPr lvl="1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ru-RU" sz="2300" dirty="0" smtClean="0"/>
              <a:t>виртуальная </a:t>
            </a:r>
            <a:r>
              <a:rPr lang="ru-RU" sz="2300" dirty="0"/>
              <a:t>память, </a:t>
            </a:r>
            <a:endParaRPr lang="ru-RU" sz="2300" dirty="0" smtClean="0"/>
          </a:p>
          <a:p>
            <a:pPr lvl="1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ru-RU" sz="2300" dirty="0" smtClean="0"/>
              <a:t>естественный </a:t>
            </a:r>
            <a:r>
              <a:rPr lang="ru-RU" sz="2300" dirty="0"/>
              <a:t>язык запросов, </a:t>
            </a:r>
            <a:endParaRPr lang="ru-RU" sz="2300" dirty="0" smtClean="0"/>
          </a:p>
          <a:p>
            <a:pPr lvl="1">
              <a:lnSpc>
                <a:spcPct val="130000"/>
              </a:lnSpc>
              <a:spcBef>
                <a:spcPts val="0"/>
              </a:spcBef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ru-RU" sz="2300" dirty="0" smtClean="0"/>
              <a:t>произвольная </a:t>
            </a:r>
            <a:r>
              <a:rPr lang="ru-RU" sz="2300" dirty="0"/>
              <a:t>длина данных в структуре СУБД, (переменная длина записи и произвольная структура), </a:t>
            </a:r>
            <a:endParaRPr lang="ru-RU" sz="2300" dirty="0" smtClean="0"/>
          </a:p>
          <a:p>
            <a:pPr lvl="1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ru-RU" sz="2300" dirty="0" smtClean="0"/>
              <a:t>язык </a:t>
            </a:r>
            <a:r>
              <a:rPr lang="ru-RU" sz="2300" dirty="0"/>
              <a:t>BASIC с расширениями, ориентированными на обработку данных </a:t>
            </a:r>
            <a:endParaRPr lang="ru-RU" sz="2300" dirty="0" smtClean="0"/>
          </a:p>
          <a:p>
            <a:pPr lvl="1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ru-RU" sz="2200" dirty="0" smtClean="0"/>
              <a:t>самое </a:t>
            </a:r>
            <a:r>
              <a:rPr lang="ru-RU" sz="2200" dirty="0"/>
              <a:t>главное </a:t>
            </a:r>
            <a:r>
              <a:rPr lang="ru-RU" sz="2200" dirty="0" smtClean="0"/>
              <a:t>из-за </a:t>
            </a:r>
            <a:r>
              <a:rPr lang="ru-RU" sz="2200" dirty="0"/>
              <a:t>чего весь класс СУБД теперь именуется “</a:t>
            </a:r>
            <a:r>
              <a:rPr lang="ru-RU" sz="2200" dirty="0" err="1"/>
              <a:t>Multivalue</a:t>
            </a:r>
            <a:r>
              <a:rPr lang="ru-RU" sz="2200" dirty="0"/>
              <a:t>” – это возможность хранить и обрабатывать множество значений внутри поля записи данных</a:t>
            </a:r>
          </a:p>
          <a:p>
            <a:pPr lvl="2">
              <a:lnSpc>
                <a:spcPct val="130000"/>
              </a:lnSpc>
              <a:buFont typeface="Wingdings" pitchFamily="2" charset="2"/>
              <a:buChar char="Ø"/>
            </a:pPr>
            <a:endParaRPr lang="ru-RU" dirty="0" smtClean="0"/>
          </a:p>
          <a:p>
            <a:pPr lvl="2">
              <a:lnSpc>
                <a:spcPct val="130000"/>
              </a:lnSpc>
              <a:buFont typeface="Wingdings" pitchFamily="2" charset="2"/>
              <a:buChar char="Ø"/>
            </a:pPr>
            <a:endParaRPr lang="ru-RU" dirty="0" smtClean="0"/>
          </a:p>
          <a:p>
            <a:pPr lvl="1">
              <a:lnSpc>
                <a:spcPct val="130000"/>
              </a:lnSpc>
              <a:buClr>
                <a:srgbClr val="C00000"/>
              </a:buClr>
              <a:buFont typeface="Wingdings" pitchFamily="2" charset="2"/>
              <a:buChar char="v"/>
            </a:pPr>
            <a:endParaRPr lang="ru-RU" sz="2400" dirty="0" smtClean="0"/>
          </a:p>
          <a:p>
            <a:pPr marL="609600" indent="-609600">
              <a:lnSpc>
                <a:spcPct val="130000"/>
              </a:lnSpc>
              <a:buFont typeface="Wingdings" pitchFamily="2" charset="2"/>
              <a:buNone/>
              <a:defRPr/>
            </a:pPr>
            <a:endParaRPr lang="ru-RU" sz="2400" dirty="0" smtClean="0"/>
          </a:p>
        </p:txBody>
      </p:sp>
      <p:sp>
        <p:nvSpPr>
          <p:cNvPr id="4100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262410" y="6248400"/>
            <a:ext cx="424390" cy="457200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6107D0A-A05A-43B6-B2A8-A5A0752DC352}" type="slidenum">
              <a:rPr lang="ru-RU" altLang="ru-RU" sz="1200" smtClean="0">
                <a:latin typeface="Arial Black" pitchFamily="34" charset="0"/>
              </a:rPr>
              <a:pPr eaLnBrk="1" hangingPunct="1"/>
              <a:t>12</a:t>
            </a:fld>
            <a:endParaRPr lang="ru-RU" altLang="ru-RU" sz="1200" dirty="0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457200" y="-38100"/>
            <a:ext cx="8229600" cy="595313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Особенности </a:t>
            </a:r>
            <a:r>
              <a:rPr lang="en-US" sz="3600" dirty="0" err="1">
                <a:solidFill>
                  <a:schemeClr val="bg2"/>
                </a:solidFill>
              </a:rPr>
              <a:t>Multivalue</a:t>
            </a:r>
            <a:r>
              <a:rPr lang="ru-RU" sz="3600" dirty="0">
                <a:solidFill>
                  <a:schemeClr val="bg2"/>
                </a:solidFill>
              </a:rPr>
              <a:t> СУБД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2875" y="539750"/>
            <a:ext cx="8829675" cy="61849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Что же скрывается за термином «</a:t>
            </a:r>
            <a:r>
              <a:rPr lang="ru-RU" dirty="0" err="1"/>
              <a:t>Multivalue</a:t>
            </a:r>
            <a:r>
              <a:rPr lang="ru-RU" dirty="0"/>
              <a:t> СУБД»?</a:t>
            </a:r>
            <a:endParaRPr lang="ru-RU" dirty="0" smtClean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 smtClean="0"/>
              <a:t>Общими </a:t>
            </a:r>
            <a:r>
              <a:rPr lang="ru-RU" dirty="0"/>
              <a:t>чертами, отличающими группу СУБД называемых «</a:t>
            </a:r>
            <a:r>
              <a:rPr lang="ru-RU" dirty="0" err="1"/>
              <a:t>Multivalue</a:t>
            </a:r>
            <a:r>
              <a:rPr lang="ru-RU" dirty="0"/>
              <a:t>» является поддержка </a:t>
            </a:r>
            <a:r>
              <a:rPr lang="ru-RU" u="sng" dirty="0"/>
              <a:t>стандарта R83</a:t>
            </a:r>
            <a:r>
              <a:rPr lang="ru-RU" dirty="0"/>
              <a:t>. </a:t>
            </a:r>
            <a:endParaRPr lang="ru-RU" dirty="0" smtClean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 smtClean="0"/>
              <a:t>В </a:t>
            </a:r>
            <a:r>
              <a:rPr lang="ru-RU" dirty="0"/>
              <a:t>него </a:t>
            </a:r>
            <a:r>
              <a:rPr lang="ru-RU" dirty="0" smtClean="0"/>
              <a:t>входит </a:t>
            </a:r>
            <a:r>
              <a:rPr lang="ru-RU" b="1" dirty="0" smtClean="0">
                <a:solidFill>
                  <a:schemeClr val="bg2"/>
                </a:solidFill>
              </a:rPr>
              <a:t>естественный </a:t>
            </a:r>
            <a:r>
              <a:rPr lang="ru-RU" b="1" dirty="0">
                <a:solidFill>
                  <a:schemeClr val="bg2"/>
                </a:solidFill>
              </a:rPr>
              <a:t>язык </a:t>
            </a:r>
            <a:r>
              <a:rPr lang="ru-RU" b="1" dirty="0" smtClean="0">
                <a:solidFill>
                  <a:schemeClr val="bg2"/>
                </a:solidFill>
              </a:rPr>
              <a:t>запросов</a:t>
            </a:r>
            <a:r>
              <a:rPr lang="ru-RU" b="1" dirty="0" smtClean="0"/>
              <a:t>, </a:t>
            </a:r>
            <a:r>
              <a:rPr lang="ru-RU" dirty="0"/>
              <a:t>похожий по синтаксису на SQL, но </a:t>
            </a:r>
            <a:r>
              <a:rPr lang="ru-RU" dirty="0">
                <a:solidFill>
                  <a:schemeClr val="bg2"/>
                </a:solidFill>
              </a:rPr>
              <a:t>ориентированный на работу с многозначными полями</a:t>
            </a:r>
            <a:r>
              <a:rPr lang="ru-RU" dirty="0"/>
              <a:t>. </a:t>
            </a:r>
            <a:endParaRPr lang="ru-RU" dirty="0" smtClean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 smtClean="0"/>
              <a:t>С </a:t>
            </a:r>
            <a:r>
              <a:rPr lang="ru-RU" dirty="0"/>
              <a:t>помощью механизма синонимов язык может быть адаптирован к национальным языкам. </a:t>
            </a:r>
            <a:r>
              <a:rPr lang="ru-RU" b="1" dirty="0" smtClean="0"/>
              <a:t>		</a:t>
            </a:r>
          </a:p>
          <a:p>
            <a:pPr marL="0" indent="0">
              <a:buNone/>
            </a:pPr>
            <a:r>
              <a:rPr lang="ru-RU" dirty="0" smtClean="0"/>
              <a:t>Например, </a:t>
            </a:r>
            <a:r>
              <a:rPr lang="ru-RU" dirty="0"/>
              <a:t>запрос к базе </a:t>
            </a:r>
            <a:r>
              <a:rPr lang="ru-RU" dirty="0" smtClean="0"/>
              <a:t>данных</a:t>
            </a:r>
            <a:endParaRPr lang="ru-RU" dirty="0"/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ru-RU" dirty="0">
                <a:solidFill>
                  <a:schemeClr val="bg2"/>
                </a:solidFill>
              </a:rPr>
              <a:t> </a:t>
            </a:r>
            <a:r>
              <a:rPr lang="ru-RU" dirty="0" smtClean="0">
                <a:solidFill>
                  <a:schemeClr val="bg2"/>
                </a:solidFill>
              </a:rPr>
              <a:t>  </a:t>
            </a:r>
            <a:r>
              <a:rPr lang="en-US" dirty="0" smtClean="0">
                <a:solidFill>
                  <a:schemeClr val="bg2"/>
                </a:solidFill>
              </a:rPr>
              <a:t>LIST </a:t>
            </a:r>
            <a:r>
              <a:rPr lang="en-US" dirty="0">
                <a:solidFill>
                  <a:schemeClr val="bg2"/>
                </a:solidFill>
              </a:rPr>
              <a:t>CUSTOMERS BY NAME  WITH  ORDER_NO = “05467”</a:t>
            </a:r>
            <a:endParaRPr lang="ru-RU" b="1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ru-RU" dirty="0" smtClean="0"/>
              <a:t>Может </a:t>
            </a:r>
            <a:r>
              <a:rPr lang="ru-RU" dirty="0"/>
              <a:t>быть сформулирован </a:t>
            </a:r>
            <a:r>
              <a:rPr lang="ru-RU" i="1" dirty="0"/>
              <a:t>следующим образом</a:t>
            </a:r>
            <a:r>
              <a:rPr lang="ru-RU" dirty="0" smtClean="0"/>
              <a:t>: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ru-RU" dirty="0" smtClean="0"/>
              <a:t> </a:t>
            </a:r>
            <a:r>
              <a:rPr lang="ru-RU" dirty="0" smtClean="0">
                <a:solidFill>
                  <a:schemeClr val="bg2"/>
                </a:solidFill>
              </a:rPr>
              <a:t>ПОКАЗАТЬ </a:t>
            </a:r>
            <a:r>
              <a:rPr lang="ru-RU" dirty="0">
                <a:solidFill>
                  <a:schemeClr val="bg2"/>
                </a:solidFill>
              </a:rPr>
              <a:t>ЗАКАЗЧИКОВ ПО ФАМИЛИИ  С </a:t>
            </a:r>
            <a:r>
              <a:rPr lang="en-US" dirty="0">
                <a:solidFill>
                  <a:schemeClr val="bg2"/>
                </a:solidFill>
              </a:rPr>
              <a:t>N</a:t>
            </a:r>
            <a:r>
              <a:rPr lang="ru-RU" dirty="0">
                <a:solidFill>
                  <a:schemeClr val="bg2"/>
                </a:solidFill>
              </a:rPr>
              <a:t>_ЗАКАЗA = “05467</a:t>
            </a:r>
            <a:r>
              <a:rPr lang="ru-RU" dirty="0" smtClean="0">
                <a:solidFill>
                  <a:schemeClr val="bg2"/>
                </a:solidFill>
              </a:rPr>
              <a:t>”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В</a:t>
            </a:r>
            <a:r>
              <a:rPr lang="ru-RU" dirty="0" smtClean="0"/>
              <a:t> </a:t>
            </a:r>
            <a:r>
              <a:rPr lang="ru-RU" dirty="0"/>
              <a:t>стандарт </a:t>
            </a:r>
            <a:r>
              <a:rPr lang="ru-RU" dirty="0" smtClean="0"/>
              <a:t>R83, кроме языка запросов </a:t>
            </a:r>
            <a:r>
              <a:rPr lang="ru-RU" dirty="0"/>
              <a:t>входят </a:t>
            </a:r>
            <a:endParaRPr lang="ru-RU" dirty="0" smtClean="0"/>
          </a:p>
          <a:p>
            <a:pPr lvl="1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ru-RU" dirty="0" smtClean="0"/>
              <a:t>поддержка </a:t>
            </a:r>
            <a:r>
              <a:rPr lang="ru-RU" dirty="0"/>
              <a:t>динамических массивов, </a:t>
            </a:r>
            <a:endParaRPr lang="ru-RU" dirty="0" smtClean="0"/>
          </a:p>
          <a:p>
            <a:pPr lvl="1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ru-RU" dirty="0" smtClean="0"/>
              <a:t>определенный </a:t>
            </a:r>
            <a:r>
              <a:rPr lang="ru-RU" dirty="0"/>
              <a:t>набор операторов и функций языка BASIC , </a:t>
            </a:r>
            <a:endParaRPr lang="ru-RU" dirty="0" smtClean="0"/>
          </a:p>
          <a:p>
            <a:pPr lvl="1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ru-RU" dirty="0" smtClean="0"/>
              <a:t>поддержка </a:t>
            </a:r>
            <a:r>
              <a:rPr lang="ru-RU" dirty="0"/>
              <a:t>ссылочных словарей базы </a:t>
            </a:r>
            <a:r>
              <a:rPr lang="ru-RU" dirty="0" smtClean="0"/>
              <a:t>данных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ru-RU" dirty="0" smtClean="0"/>
              <a:t>набор </a:t>
            </a:r>
            <a:r>
              <a:rPr lang="ru-RU" dirty="0"/>
              <a:t>процедур и команд управления базой данных</a:t>
            </a:r>
          </a:p>
        </p:txBody>
      </p:sp>
      <p:sp>
        <p:nvSpPr>
          <p:cNvPr id="6148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AA7B7E5-A4A3-4EDC-A6CB-A0019FCF27C5}" type="slidenum">
              <a:rPr lang="ru-RU" altLang="ru-RU" sz="1200" smtClean="0">
                <a:latin typeface="Arial Black" pitchFamily="34" charset="0"/>
              </a:rPr>
              <a:pPr eaLnBrk="1" hangingPunct="1"/>
              <a:t>13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457200" y="-38100"/>
            <a:ext cx="8229600" cy="595313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Динамические массивы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2876" y="539751"/>
            <a:ext cx="8884619" cy="2394194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Для хранения и обработки информации в </a:t>
            </a:r>
            <a:r>
              <a:rPr lang="ru-RU" dirty="0" err="1"/>
              <a:t>Multivalue</a:t>
            </a:r>
            <a:r>
              <a:rPr lang="ru-RU" dirty="0"/>
              <a:t> СУБД используется механизм «динамических массивов» - это массивы неопределенной размерности. </a:t>
            </a:r>
            <a:endParaRPr lang="ru-RU" dirty="0" smtClean="0"/>
          </a:p>
          <a:p>
            <a:pPr>
              <a:lnSpc>
                <a:spcPct val="120000"/>
              </a:lnSpc>
            </a:pPr>
            <a:r>
              <a:rPr lang="ru-RU" dirty="0" smtClean="0"/>
              <a:t>Каждый </a:t>
            </a:r>
            <a:r>
              <a:rPr lang="ru-RU" dirty="0"/>
              <a:t>такой массив соответствует строке в базе </a:t>
            </a:r>
            <a:r>
              <a:rPr lang="ru-RU" dirty="0" smtClean="0"/>
              <a:t>данных. 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Элементы </a:t>
            </a:r>
            <a:r>
              <a:rPr lang="ru-RU" dirty="0"/>
              <a:t>его первой размерности соответствуют полям в таблице, элементы второй размерности значениям внутри полей, третьей – </a:t>
            </a:r>
            <a:r>
              <a:rPr lang="ru-RU" dirty="0" err="1"/>
              <a:t>подзначениям</a:t>
            </a:r>
            <a:r>
              <a:rPr lang="ru-RU" dirty="0"/>
              <a:t> внутри значений и т.д.</a:t>
            </a:r>
          </a:p>
        </p:txBody>
      </p:sp>
      <p:sp>
        <p:nvSpPr>
          <p:cNvPr id="6148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AA7B7E5-A4A3-4EDC-A6CB-A0019FCF27C5}" type="slidenum">
              <a:rPr lang="ru-RU" altLang="ru-RU" sz="1200" smtClean="0">
                <a:latin typeface="Arial Black" pitchFamily="34" charset="0"/>
              </a:rPr>
              <a:pPr eaLnBrk="1" hangingPunct="1"/>
              <a:t>14</a:t>
            </a:fld>
            <a:endParaRPr lang="ru-RU" altLang="ru-RU" sz="1200" smtClean="0">
              <a:latin typeface="Arial Black" pitchFamily="34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148838187"/>
              </p:ext>
            </p:extLst>
          </p:nvPr>
        </p:nvGraphicFramePr>
        <p:xfrm>
          <a:off x="791579" y="2933945"/>
          <a:ext cx="6705745" cy="73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608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34490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40027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ORDER&lt;5&gt; 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 Поле данных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ORDER&lt;5,3&gt; 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 Значение в поле данных</a:t>
                      </a:r>
                      <a:endParaRPr lang="ru-RU" sz="16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40027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ORDER&lt;5,3,1&gt; 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Подзначение</a:t>
                      </a:r>
                      <a:r>
                        <a:rPr lang="ru-RU" sz="1600" dirty="0">
                          <a:effectLst/>
                        </a:rPr>
                        <a:t> в значении</a:t>
                      </a:r>
                      <a:endParaRPr lang="ru-RU" sz="16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61511" y="3744035"/>
            <a:ext cx="8550949" cy="1620180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/>
          <a:p>
            <a:pPr marL="342900" indent="-342900" eaLnBrk="0" hangingPunct="0">
              <a:lnSpc>
                <a:spcPct val="100000"/>
              </a:lnSpc>
              <a:buFont typeface="Wingdings" pitchFamily="2" charset="2"/>
              <a:buChar char="n"/>
            </a:pPr>
            <a:r>
              <a:rPr lang="ru-RU" sz="2200" dirty="0">
                <a:latin typeface="+mn-lt"/>
                <a:cs typeface="+mn-cs"/>
              </a:rPr>
              <a:t>Системно динамически массив представляет собой строку неограниченной </a:t>
            </a:r>
            <a:r>
              <a:rPr lang="ru-RU" sz="2200" dirty="0" smtClean="0">
                <a:latin typeface="+mn-lt"/>
                <a:cs typeface="+mn-cs"/>
              </a:rPr>
              <a:t>длины</a:t>
            </a:r>
            <a:r>
              <a:rPr lang="ru-RU" sz="2200" dirty="0">
                <a:latin typeface="+mn-lt"/>
                <a:cs typeface="+mn-cs"/>
              </a:rPr>
              <a:t>, разделенную тегами – системными разделителями. </a:t>
            </a:r>
            <a:endParaRPr lang="ru-RU" sz="2200" dirty="0" smtClean="0">
              <a:latin typeface="+mn-lt"/>
              <a:cs typeface="+mn-cs"/>
            </a:endParaRPr>
          </a:p>
          <a:p>
            <a:pPr marL="342900" indent="-342900" eaLnBrk="0" hangingPunct="0">
              <a:lnSpc>
                <a:spcPct val="100000"/>
              </a:lnSpc>
              <a:buFont typeface="Wingdings" pitchFamily="2" charset="2"/>
              <a:buChar char="n"/>
            </a:pPr>
            <a:r>
              <a:rPr lang="ru-RU" sz="2200" dirty="0" smtClean="0">
                <a:latin typeface="+mn-lt"/>
                <a:cs typeface="+mn-cs"/>
              </a:rPr>
              <a:t>Поля </a:t>
            </a:r>
            <a:r>
              <a:rPr lang="ru-RU" sz="2200" dirty="0">
                <a:latin typeface="+mn-lt"/>
                <a:cs typeface="+mn-cs"/>
              </a:rPr>
              <a:t>внутри динамических массивов разделяются тегами полей, значения – тегами значений и т.д</a:t>
            </a:r>
            <a:r>
              <a:rPr lang="ru-RU" sz="2200" dirty="0" smtClean="0">
                <a:latin typeface="+mn-lt"/>
                <a:cs typeface="+mn-cs"/>
              </a:rPr>
              <a:t>.</a:t>
            </a:r>
            <a:endParaRPr lang="ru-RU" sz="2400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009626783"/>
              </p:ext>
            </p:extLst>
          </p:nvPr>
        </p:nvGraphicFramePr>
        <p:xfrm>
          <a:off x="836585" y="5364215"/>
          <a:ext cx="6750750" cy="9901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8431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36643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47528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@FM 	</a:t>
                      </a:r>
                      <a:endParaRPr lang="ru-RU" sz="1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 Разделитель полей</a:t>
                      </a:r>
                      <a:endParaRPr lang="ru-RU" sz="1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47528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@VM 	</a:t>
                      </a:r>
                      <a:endParaRPr lang="ru-RU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 Разделитель значений</a:t>
                      </a:r>
                      <a:endParaRPr lang="ru-RU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47528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@SVM </a:t>
                      </a:r>
                      <a:endParaRPr lang="ru-RU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 Разделитель подзначений</a:t>
                      </a:r>
                      <a:endParaRPr lang="ru-RU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47528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@TM 	</a:t>
                      </a:r>
                      <a:endParaRPr lang="ru-RU" sz="1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 Разделитель текста</a:t>
                      </a:r>
                      <a:endParaRPr lang="ru-RU" sz="1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009070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457200" y="223397"/>
            <a:ext cx="8229600" cy="595313"/>
          </a:xfrm>
        </p:spPr>
        <p:txBody>
          <a:bodyPr/>
          <a:lstStyle/>
          <a:p>
            <a:pPr algn="ctr"/>
            <a:r>
              <a:rPr lang="ru-RU" sz="3600" dirty="0" smtClean="0">
                <a:solidFill>
                  <a:schemeClr val="bg2"/>
                </a:solidFill>
              </a:rPr>
              <a:t>Эффект динамических массивов</a:t>
            </a:r>
            <a:endParaRPr lang="ru-RU" sz="3600" dirty="0">
              <a:solidFill>
                <a:schemeClr val="bg2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2876" y="1169821"/>
            <a:ext cx="8884619" cy="5094494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ru-RU" dirty="0"/>
              <a:t>Данный подход позволяет на уровне записи в базе данных организовывать сложные агрегированные объекты, такие как временные ряды, расчетные таблицы или многомерные ссылочные структуры (элементы </a:t>
            </a:r>
            <a:r>
              <a:rPr lang="ru-RU" dirty="0" err="1"/>
              <a:t>HyperCube</a:t>
            </a:r>
            <a:r>
              <a:rPr lang="ru-RU" dirty="0"/>
              <a:t>). </a:t>
            </a:r>
            <a:endParaRPr lang="ru-RU" dirty="0" smtClean="0"/>
          </a:p>
          <a:p>
            <a:pPr>
              <a:lnSpc>
                <a:spcPct val="110000"/>
              </a:lnSpc>
            </a:pPr>
            <a:r>
              <a:rPr lang="ru-RU" dirty="0" smtClean="0"/>
              <a:t>Кроме </a:t>
            </a:r>
            <a:r>
              <a:rPr lang="ru-RU" dirty="0"/>
              <a:t>того, поддержка множественных значений позволяет получить существенный выигрыш в производительности при запросах к базе данных.</a:t>
            </a:r>
          </a:p>
          <a:p>
            <a:pPr>
              <a:lnSpc>
                <a:spcPct val="110000"/>
              </a:lnSpc>
            </a:pPr>
            <a:r>
              <a:rPr lang="ru-RU" dirty="0"/>
              <a:t>Следствием поддержки динамических массивов являются возможности СУБД: неограниченный объем информации в строке БД и неограниченное количество полей в таблице.</a:t>
            </a:r>
          </a:p>
        </p:txBody>
      </p:sp>
      <p:sp>
        <p:nvSpPr>
          <p:cNvPr id="6148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AA7B7E5-A4A3-4EDC-A6CB-A0019FCF27C5}" type="slidenum">
              <a:rPr lang="ru-RU" altLang="ru-RU" sz="1200" smtClean="0">
                <a:latin typeface="Arial Black" pitchFamily="34" charset="0"/>
              </a:rPr>
              <a:pPr eaLnBrk="1" hangingPunct="1"/>
              <a:t>15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18948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457200" y="223397"/>
            <a:ext cx="8229600" cy="595313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Словари данных и типы данных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2876" y="1169821"/>
            <a:ext cx="8884619" cy="5094494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Неограниченное количество полей требует соответствующего механизма поддержки словарей. </a:t>
            </a:r>
            <a:endParaRPr lang="ru-RU" dirty="0" smtClean="0"/>
          </a:p>
          <a:p>
            <a:pPr>
              <a:lnSpc>
                <a:spcPct val="120000"/>
              </a:lnSpc>
            </a:pPr>
            <a:r>
              <a:rPr lang="ru-RU" dirty="0" smtClean="0"/>
              <a:t>В </a:t>
            </a:r>
            <a:r>
              <a:rPr lang="ru-RU" dirty="0" err="1"/>
              <a:t>Multivalue</a:t>
            </a:r>
            <a:r>
              <a:rPr lang="ru-RU" dirty="0"/>
              <a:t> СУБД каждой таблице или группе таблиц соответствует таблица словаря, записи которой определяют словарные входы в таблице БД </a:t>
            </a:r>
          </a:p>
          <a:p>
            <a:pPr>
              <a:lnSpc>
                <a:spcPct val="120000"/>
              </a:lnSpc>
            </a:pPr>
            <a:r>
              <a:rPr lang="ru-RU" dirty="0"/>
              <a:t>Словарные записи могут быть двух типов «фактические» и «вычисляемые</a:t>
            </a:r>
            <a:r>
              <a:rPr lang="ru-RU" dirty="0" smtClean="0"/>
              <a:t>».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Фактические </a:t>
            </a:r>
            <a:r>
              <a:rPr lang="ru-RU" dirty="0"/>
              <a:t>указывают на номер поля, а вычисляемые на программу или формулу вычисления данных.</a:t>
            </a:r>
          </a:p>
        </p:txBody>
      </p:sp>
      <p:sp>
        <p:nvSpPr>
          <p:cNvPr id="6148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AA7B7E5-A4A3-4EDC-A6CB-A0019FCF27C5}" type="slidenum">
              <a:rPr lang="ru-RU" altLang="ru-RU" sz="1200" smtClean="0">
                <a:latin typeface="Arial Black" pitchFamily="34" charset="0"/>
              </a:rPr>
              <a:pPr eaLnBrk="1" hangingPunct="1"/>
              <a:t>16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026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457200" y="143635"/>
            <a:ext cx="8229600" cy="595313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Словари данных и типы данных </a:t>
            </a:r>
          </a:p>
        </p:txBody>
      </p:sp>
      <p:sp>
        <p:nvSpPr>
          <p:cNvPr id="6148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AA7B7E5-A4A3-4EDC-A6CB-A0019FCF27C5}" type="slidenum">
              <a:rPr lang="ru-RU" altLang="ru-RU" sz="1200" smtClean="0">
                <a:latin typeface="Arial Black" pitchFamily="34" charset="0"/>
              </a:rPr>
              <a:pPr eaLnBrk="1" hangingPunct="1"/>
              <a:t>17</a:t>
            </a:fld>
            <a:endParaRPr lang="ru-RU" altLang="ru-RU" sz="1200" smtClean="0">
              <a:latin typeface="Arial Black" pitchFamily="34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386535" y="4194085"/>
            <a:ext cx="8460940" cy="2565285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В словарях описываются также и типы данных. </a:t>
            </a:r>
            <a:endParaRPr lang="ru-RU" dirty="0" smtClean="0"/>
          </a:p>
          <a:p>
            <a:r>
              <a:rPr lang="ru-RU" dirty="0" smtClean="0"/>
              <a:t>Системные </a:t>
            </a:r>
            <a:r>
              <a:rPr lang="ru-RU" dirty="0"/>
              <a:t>типы данных в </a:t>
            </a:r>
            <a:r>
              <a:rPr lang="ru-RU" dirty="0" err="1"/>
              <a:t>Multivalue</a:t>
            </a:r>
            <a:r>
              <a:rPr lang="ru-RU" dirty="0"/>
              <a:t> СУБД отсутствуют поэтому все типы данных являются пользовательскими за преобразование и проверку соответствия типов данных отвечают коды конверсии. </a:t>
            </a:r>
            <a:endParaRPr lang="ru-RU" dirty="0" smtClean="0"/>
          </a:p>
          <a:p>
            <a:r>
              <a:rPr lang="ru-RU" dirty="0" smtClean="0"/>
              <a:t>Существует </a:t>
            </a:r>
            <a:r>
              <a:rPr lang="ru-RU" dirty="0"/>
              <a:t>множество предопределенных (системных) кодов конверсии, а также возможность создавать пользовательские коды.</a:t>
            </a:r>
          </a:p>
        </p:txBody>
      </p:sp>
      <p:pic>
        <p:nvPicPr>
          <p:cNvPr id="2051" name="Picture 3" descr="C:\Users\Борис\Dropbox\Базы_Данных_лекции\Постреляционные СУБД\Рис_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550" y="818709"/>
            <a:ext cx="8325925" cy="340396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223458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457200" y="223397"/>
            <a:ext cx="8229600" cy="595313"/>
          </a:xfrm>
        </p:spPr>
        <p:txBody>
          <a:bodyPr/>
          <a:lstStyle/>
          <a:p>
            <a:pPr algn="ctr"/>
            <a:r>
              <a:rPr lang="ru-RU" sz="2800" dirty="0">
                <a:solidFill>
                  <a:schemeClr val="bg2"/>
                </a:solidFill>
              </a:rPr>
              <a:t>Особенности проектирования приложений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2876" y="953725"/>
            <a:ext cx="8884619" cy="5400600"/>
          </a:xfrm>
        </p:spPr>
        <p:txBody>
          <a:bodyPr>
            <a:normAutofit fontScale="85000" lnSpcReduction="10000"/>
          </a:bodyPr>
          <a:lstStyle/>
          <a:p>
            <a:r>
              <a:rPr lang="ru-RU" dirty="0" smtClean="0"/>
              <a:t>Приложения</a:t>
            </a:r>
            <a:r>
              <a:rPr lang="ru-RU" dirty="0"/>
              <a:t>, использующие </a:t>
            </a:r>
            <a:r>
              <a:rPr lang="ru-RU" dirty="0" err="1"/>
              <a:t>Multivalue</a:t>
            </a:r>
            <a:r>
              <a:rPr lang="ru-RU" dirty="0"/>
              <a:t> СУБД, характеризуют большая степень агрегирования данных в таблицах. </a:t>
            </a:r>
            <a:endParaRPr lang="ru-RU" dirty="0" smtClean="0"/>
          </a:p>
          <a:p>
            <a:r>
              <a:rPr lang="ru-RU" dirty="0" smtClean="0"/>
              <a:t>Вполне </a:t>
            </a:r>
            <a:r>
              <a:rPr lang="ru-RU" dirty="0"/>
              <a:t>естественно для них хранить все данные об объекте (например сотруднике) в одной записи и осуществлять выборку за одно обращение к базе данных. </a:t>
            </a:r>
            <a:endParaRPr lang="ru-RU" dirty="0" smtClean="0"/>
          </a:p>
          <a:p>
            <a:r>
              <a:rPr lang="ru-RU" dirty="0" smtClean="0"/>
              <a:t>Это </a:t>
            </a:r>
            <a:r>
              <a:rPr lang="ru-RU" dirty="0"/>
              <a:t>обеспечивает приложениям быструю реакцию на выполнение запроса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dirty="0"/>
              <a:t>Использование </a:t>
            </a:r>
            <a:r>
              <a:rPr lang="ru-RU" dirty="0" err="1"/>
              <a:t>постреляционной</a:t>
            </a:r>
            <a:r>
              <a:rPr lang="ru-RU" dirty="0"/>
              <a:t> модели данных значительно сокращает количество таблиц в системе, что удобно для проектирования </a:t>
            </a:r>
            <a:r>
              <a:rPr lang="ru-RU" dirty="0" smtClean="0"/>
              <a:t>сложных иерархических </a:t>
            </a:r>
            <a:r>
              <a:rPr lang="ru-RU" dirty="0"/>
              <a:t>приложений.</a:t>
            </a:r>
          </a:p>
        </p:txBody>
      </p:sp>
      <p:sp>
        <p:nvSpPr>
          <p:cNvPr id="6148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AA7B7E5-A4A3-4EDC-A6CB-A0019FCF27C5}" type="slidenum">
              <a:rPr lang="ru-RU" altLang="ru-RU" sz="1200" smtClean="0">
                <a:latin typeface="Arial Black" pitchFamily="34" charset="0"/>
              </a:rPr>
              <a:pPr eaLnBrk="1" hangingPunct="1"/>
              <a:t>18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13290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457200" y="223397"/>
            <a:ext cx="8229600" cy="595313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Эволюция архитектур </a:t>
            </a:r>
            <a:r>
              <a:rPr lang="en-US" sz="3200" dirty="0" err="1">
                <a:solidFill>
                  <a:schemeClr val="bg2"/>
                </a:solidFill>
              </a:rPr>
              <a:t>Multivalue</a:t>
            </a:r>
            <a:r>
              <a:rPr lang="ru-RU" sz="3200" dirty="0">
                <a:solidFill>
                  <a:schemeClr val="bg2"/>
                </a:solidFill>
              </a:rPr>
              <a:t> СУБД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2876" y="953724"/>
            <a:ext cx="8884619" cy="576064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ru-RU" sz="1800" dirty="0"/>
              <a:t>Вначале это были операционные системы со встроенными СУБД и средствами разработки, что обеспечивало высокую эффективность доступа к данным и соответственно высокую производительность систем. </a:t>
            </a:r>
            <a:endParaRPr lang="ru-RU" sz="1800" dirty="0" smtClean="0"/>
          </a:p>
          <a:p>
            <a:pPr>
              <a:lnSpc>
                <a:spcPct val="120000"/>
              </a:lnSpc>
            </a:pPr>
            <a:r>
              <a:rPr lang="ru-RU" sz="1800" dirty="0" smtClean="0"/>
              <a:t>Более </a:t>
            </a:r>
            <a:r>
              <a:rPr lang="ru-RU" sz="1800" dirty="0"/>
              <a:t>40 типов платформ различных производителей поддерживало OS PICK. Среди них были IBM, </a:t>
            </a:r>
            <a:r>
              <a:rPr lang="ru-RU" sz="1800" dirty="0" err="1"/>
              <a:t>Bull</a:t>
            </a:r>
            <a:r>
              <a:rPr lang="ru-RU" sz="1800" dirty="0"/>
              <a:t> </a:t>
            </a:r>
            <a:r>
              <a:rPr lang="ru-RU" sz="1800" dirty="0" err="1"/>
              <a:t>Microdata</a:t>
            </a:r>
            <a:r>
              <a:rPr lang="ru-RU" sz="1800" dirty="0"/>
              <a:t>, IN2, </a:t>
            </a:r>
            <a:r>
              <a:rPr lang="ru-RU" sz="1800" dirty="0" err="1"/>
              <a:t>McDonnald</a:t>
            </a:r>
            <a:r>
              <a:rPr lang="ru-RU" sz="1800" dirty="0"/>
              <a:t> </a:t>
            </a:r>
            <a:r>
              <a:rPr lang="ru-RU" sz="1800" dirty="0" err="1"/>
              <a:t>Duglas</a:t>
            </a:r>
            <a:r>
              <a:rPr lang="ru-RU" sz="1800" dirty="0"/>
              <a:t>, ADDS и другие.</a:t>
            </a:r>
          </a:p>
          <a:p>
            <a:pPr>
              <a:lnSpc>
                <a:spcPct val="120000"/>
              </a:lnSpc>
            </a:pPr>
            <a:r>
              <a:rPr lang="ru-RU" sz="1800" dirty="0" smtClean="0"/>
              <a:t>Следующее </a:t>
            </a:r>
            <a:r>
              <a:rPr lang="ru-RU" sz="1800" dirty="0"/>
              <a:t>поколение </a:t>
            </a:r>
            <a:r>
              <a:rPr lang="ru-RU" sz="1800" dirty="0" err="1"/>
              <a:t>Multivalue</a:t>
            </a:r>
            <a:r>
              <a:rPr lang="ru-RU" sz="1800" dirty="0"/>
              <a:t> СУБД, такие как </a:t>
            </a:r>
            <a:r>
              <a:rPr lang="ru-RU" sz="1800" dirty="0" err="1"/>
              <a:t>Advanced</a:t>
            </a:r>
            <a:r>
              <a:rPr lang="ru-RU" sz="1800" dirty="0"/>
              <a:t> </a:t>
            </a:r>
            <a:r>
              <a:rPr lang="ru-RU" sz="1800" dirty="0" err="1"/>
              <a:t>Pick</a:t>
            </a:r>
            <a:r>
              <a:rPr lang="ru-RU" sz="1800" dirty="0"/>
              <a:t>, </a:t>
            </a:r>
            <a:r>
              <a:rPr lang="ru-RU" sz="1800" dirty="0" err="1"/>
              <a:t>Pick</a:t>
            </a:r>
            <a:r>
              <a:rPr lang="ru-RU" sz="1800" dirty="0"/>
              <a:t> OA, </a:t>
            </a:r>
            <a:r>
              <a:rPr lang="ru-RU" sz="1800" dirty="0" err="1"/>
              <a:t>UltPlus</a:t>
            </a:r>
            <a:r>
              <a:rPr lang="ru-RU" sz="1800" dirty="0"/>
              <a:t> имели традиционную для современных СУБД архитектуру. </a:t>
            </a:r>
            <a:endParaRPr lang="ru-RU" sz="1800" dirty="0" smtClean="0"/>
          </a:p>
          <a:p>
            <a:pPr>
              <a:lnSpc>
                <a:spcPct val="120000"/>
              </a:lnSpc>
            </a:pPr>
            <a:r>
              <a:rPr lang="ru-RU" sz="1800" dirty="0" smtClean="0"/>
              <a:t>Сервер </a:t>
            </a:r>
            <a:r>
              <a:rPr lang="ru-RU" sz="1800" dirty="0"/>
              <a:t>СУБД представляет собой виртуальную машину баз данных, все основные процессоры которой написаны на псевдо-ассемблере. Все пользовательские процессы обращаются с запросами к серверу базы данных, который управляет виртуальной памятью, дисковым пространством.</a:t>
            </a:r>
          </a:p>
          <a:p>
            <a:pPr>
              <a:lnSpc>
                <a:spcPct val="120000"/>
              </a:lnSpc>
            </a:pPr>
            <a:r>
              <a:rPr lang="ru-RU" sz="1800" dirty="0"/>
              <a:t>Подобную архитектуру используют СУБД ORACLE, MS SQL. Она предоставляет широкие возможности для оптимизации запросов, реализации </a:t>
            </a:r>
            <a:r>
              <a:rPr lang="en-US" sz="1800" dirty="0" smtClean="0"/>
              <a:t>multithread</a:t>
            </a:r>
            <a:r>
              <a:rPr lang="ru-RU" sz="1800" dirty="0" smtClean="0"/>
              <a:t> </a:t>
            </a:r>
            <a:r>
              <a:rPr lang="ru-RU" sz="1800" dirty="0"/>
              <a:t>архитектуры для поддержания многопроцессорной архитектуры и т.п. </a:t>
            </a:r>
            <a:endParaRPr lang="en-US" sz="1800" dirty="0" smtClean="0"/>
          </a:p>
          <a:p>
            <a:pPr>
              <a:lnSpc>
                <a:spcPct val="120000"/>
              </a:lnSpc>
            </a:pPr>
            <a:r>
              <a:rPr lang="ru-RU" sz="1800" dirty="0" smtClean="0"/>
              <a:t>Для </a:t>
            </a:r>
            <a:r>
              <a:rPr lang="ru-RU" sz="1800" dirty="0"/>
              <a:t>хранения данных операционной системой выделяется только некое дисковое пространство (</a:t>
            </a:r>
            <a:r>
              <a:rPr lang="ru-RU" sz="1800" dirty="0" err="1"/>
              <a:t>Raw</a:t>
            </a:r>
            <a:r>
              <a:rPr lang="ru-RU" sz="1800" dirty="0"/>
              <a:t> </a:t>
            </a:r>
            <a:r>
              <a:rPr lang="ru-RU" sz="1800" dirty="0" err="1"/>
              <a:t>Disk</a:t>
            </a:r>
            <a:r>
              <a:rPr lang="ru-RU" sz="1800" dirty="0"/>
              <a:t>) и оперативная память. </a:t>
            </a:r>
            <a:endParaRPr lang="en-US" sz="1800" dirty="0" smtClean="0"/>
          </a:p>
          <a:p>
            <a:pPr>
              <a:lnSpc>
                <a:spcPct val="120000"/>
              </a:lnSpc>
            </a:pPr>
            <a:r>
              <a:rPr lang="ru-RU" sz="1800" dirty="0" smtClean="0"/>
              <a:t>Все </a:t>
            </a:r>
            <a:r>
              <a:rPr lang="ru-RU" sz="1800" dirty="0"/>
              <a:t>управление выделением и освобождением памяти, сборкой мусора, регистрацией пользователей, средствами защиты от несанкционированного доступа и другими подобными процессам занимается сервер базы данных. </a:t>
            </a:r>
          </a:p>
        </p:txBody>
      </p:sp>
      <p:sp>
        <p:nvSpPr>
          <p:cNvPr id="6148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AA7B7E5-A4A3-4EDC-A6CB-A0019FCF27C5}" type="slidenum">
              <a:rPr lang="ru-RU" altLang="ru-RU" sz="1200" smtClean="0">
                <a:latin typeface="Arial Black" pitchFamily="34" charset="0"/>
              </a:rPr>
              <a:pPr eaLnBrk="1" hangingPunct="1"/>
              <a:t>19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6913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457200" y="223397"/>
            <a:ext cx="8229600" cy="595313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Эволюция архитектур </a:t>
            </a:r>
            <a:r>
              <a:rPr lang="en-US" sz="3200" dirty="0" err="1">
                <a:solidFill>
                  <a:schemeClr val="bg2"/>
                </a:solidFill>
              </a:rPr>
              <a:t>Multivalue</a:t>
            </a:r>
            <a:r>
              <a:rPr lang="ru-RU" sz="3200" dirty="0">
                <a:solidFill>
                  <a:schemeClr val="bg2"/>
                </a:solidFill>
              </a:rPr>
              <a:t> СУБД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2876" y="863715"/>
            <a:ext cx="8884619" cy="5760641"/>
          </a:xfrm>
        </p:spPr>
        <p:txBody>
          <a:bodyPr>
            <a:normAutofit fontScale="92500" lnSpcReduction="10000"/>
          </a:bodyPr>
          <a:lstStyle/>
          <a:p>
            <a:r>
              <a:rPr lang="ru-RU" sz="1800" dirty="0"/>
              <a:t>Новое поколение СУБД (</a:t>
            </a:r>
            <a:r>
              <a:rPr lang="ru-RU" sz="1800" dirty="0" err="1"/>
              <a:t>jBASE</a:t>
            </a:r>
            <a:r>
              <a:rPr lang="ru-RU" sz="1800" dirty="0"/>
              <a:t> и </a:t>
            </a:r>
            <a:r>
              <a:rPr lang="ru-RU" sz="1800" dirty="0" err="1"/>
              <a:t>UniVerse</a:t>
            </a:r>
            <a:r>
              <a:rPr lang="ru-RU" sz="1800" dirty="0"/>
              <a:t>) все </a:t>
            </a:r>
            <a:r>
              <a:rPr lang="ru-RU" sz="1800" dirty="0" smtClean="0"/>
              <a:t>функции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Ø"/>
            </a:pPr>
            <a:r>
              <a:rPr lang="ru-RU" sz="1400" dirty="0" smtClean="0"/>
              <a:t>выделением и освобождение памяти, 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Ø"/>
            </a:pPr>
            <a:r>
              <a:rPr lang="ru-RU" sz="1400" dirty="0" smtClean="0"/>
              <a:t>сборка мусора, 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Ø"/>
            </a:pPr>
            <a:r>
              <a:rPr lang="ru-RU" sz="1400" dirty="0" smtClean="0"/>
              <a:t>регистрация пользователей, </a:t>
            </a:r>
          </a:p>
          <a:p>
            <a:pPr lvl="1">
              <a:buClr>
                <a:srgbClr val="C00000"/>
              </a:buClr>
              <a:buFont typeface="Wingdings" pitchFamily="2" charset="2"/>
              <a:buChar char="Ø"/>
            </a:pPr>
            <a:r>
              <a:rPr lang="ru-RU" sz="1400" dirty="0" smtClean="0"/>
              <a:t>средства защиты от несанкционированного доступа и другими подобными процессам</a:t>
            </a:r>
          </a:p>
          <a:p>
            <a:pPr>
              <a:buNone/>
            </a:pPr>
            <a:r>
              <a:rPr lang="ru-RU" sz="1800" dirty="0" smtClean="0"/>
              <a:t>	отдают </a:t>
            </a:r>
            <a:r>
              <a:rPr lang="ru-RU" sz="1800" dirty="0"/>
              <a:t>операционной системе под которой они функционируют, оставляя за собой функции выполнения запросов и обработки данных. </a:t>
            </a:r>
            <a:endParaRPr lang="en-US" sz="1800" dirty="0" smtClean="0"/>
          </a:p>
          <a:p>
            <a:r>
              <a:rPr lang="ru-RU" sz="1800" dirty="0" smtClean="0"/>
              <a:t>Фактически </a:t>
            </a:r>
            <a:r>
              <a:rPr lang="ru-RU" sz="1800" dirty="0"/>
              <a:t>все запросы выполняет сам пользовательский процесс, оставляя серверу базы данных </a:t>
            </a:r>
            <a:r>
              <a:rPr lang="ru-RU" sz="1800" b="1" dirty="0"/>
              <a:t>функции арбитра системных и пользовательских блокировок. </a:t>
            </a:r>
            <a:endParaRPr lang="en-US" sz="1800" b="1" dirty="0" smtClean="0"/>
          </a:p>
          <a:p>
            <a:r>
              <a:rPr lang="ru-RU" sz="1800" dirty="0" smtClean="0"/>
              <a:t>Таким </a:t>
            </a:r>
            <a:r>
              <a:rPr lang="ru-RU" sz="1800" dirty="0"/>
              <a:t>образом, для вызова пользовательского процесса система не выделяет первоначально больших ресурсов, производится только регистрация процесса в разделяемой памяти. </a:t>
            </a:r>
            <a:endParaRPr lang="en-US" sz="1800" dirty="0" smtClean="0"/>
          </a:p>
          <a:p>
            <a:r>
              <a:rPr lang="ru-RU" sz="1800" dirty="0" smtClean="0"/>
              <a:t>Такая </a:t>
            </a:r>
            <a:r>
              <a:rPr lang="ru-RU" sz="1800" dirty="0"/>
              <a:t>архитектура легковесных процессов, несмотря на кажущиеся недостатки, имеет большое количество </a:t>
            </a:r>
            <a:r>
              <a:rPr lang="ru-RU" sz="1800" dirty="0" smtClean="0"/>
              <a:t>преимуществ</a:t>
            </a:r>
            <a:r>
              <a:rPr lang="en-US" sz="1800" dirty="0" smtClean="0"/>
              <a:t>:</a:t>
            </a:r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ru-RU" sz="1400" dirty="0"/>
              <a:t>в</a:t>
            </a:r>
            <a:r>
              <a:rPr lang="ru-RU" sz="1400" dirty="0" smtClean="0"/>
              <a:t>озможность </a:t>
            </a:r>
            <a:r>
              <a:rPr lang="ru-RU" sz="1400" dirty="0"/>
              <a:t>построения распределенных систем в кластерах, </a:t>
            </a:r>
            <a:endParaRPr lang="en-US" sz="1400" dirty="0" smtClean="0"/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ru-RU" sz="1400" dirty="0" smtClean="0"/>
              <a:t>естественная </a:t>
            </a:r>
            <a:r>
              <a:rPr lang="ru-RU" sz="1400" dirty="0"/>
              <a:t>масштабируемость в SMP и MPP архитектурах, </a:t>
            </a:r>
            <a:endParaRPr lang="en-US" sz="1400" dirty="0" smtClean="0"/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ru-RU" sz="1400" dirty="0" smtClean="0"/>
              <a:t>простота </a:t>
            </a:r>
            <a:r>
              <a:rPr lang="ru-RU" sz="1400" dirty="0"/>
              <a:t>использования в WEB </a:t>
            </a:r>
            <a:r>
              <a:rPr lang="ru-RU" sz="1400" dirty="0" smtClean="0"/>
              <a:t>технологиях</a:t>
            </a:r>
            <a:r>
              <a:rPr lang="ru-RU" sz="1400" dirty="0"/>
              <a:t>.</a:t>
            </a:r>
            <a:endParaRPr lang="en-US" sz="1400" dirty="0" smtClean="0"/>
          </a:p>
          <a:p>
            <a:r>
              <a:rPr lang="ru-RU" sz="1800" dirty="0" smtClean="0"/>
              <a:t>Это позволило </a:t>
            </a:r>
            <a:r>
              <a:rPr lang="ru-RU" sz="1800" dirty="0"/>
              <a:t>разработчикам этих СУБД </a:t>
            </a:r>
            <a:r>
              <a:rPr lang="ru-RU" sz="1800" b="1" dirty="0"/>
              <a:t>сконцентрировать свое внимание на функциональности систем</a:t>
            </a:r>
            <a:r>
              <a:rPr lang="ru-RU" sz="1800" dirty="0"/>
              <a:t> и получить значительный выигрыш на рынке </a:t>
            </a:r>
            <a:r>
              <a:rPr lang="ru-RU" sz="1800" dirty="0" err="1"/>
              <a:t>Multivalue</a:t>
            </a:r>
            <a:r>
              <a:rPr lang="ru-RU" sz="1800" dirty="0"/>
              <a:t> систем. </a:t>
            </a:r>
            <a:endParaRPr lang="ru-RU" sz="1800" dirty="0" smtClean="0"/>
          </a:p>
          <a:p>
            <a:r>
              <a:rPr lang="ru-RU" sz="1800" dirty="0" smtClean="0"/>
              <a:t>Кроме </a:t>
            </a:r>
            <a:r>
              <a:rPr lang="ru-RU" sz="1800" dirty="0"/>
              <a:t>того, такой подход предоставляет наибольшую степень открытости систем и, соответственно, лучшие условия для интеграции.</a:t>
            </a:r>
          </a:p>
        </p:txBody>
      </p:sp>
      <p:sp>
        <p:nvSpPr>
          <p:cNvPr id="6148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AA7B7E5-A4A3-4EDC-A6CB-A0019FCF27C5}" type="slidenum">
              <a:rPr lang="ru-RU" altLang="ru-RU" sz="1200" smtClean="0">
                <a:latin typeface="Arial Black" pitchFamily="34" charset="0"/>
              </a:rPr>
              <a:pPr eaLnBrk="1" hangingPunct="1"/>
              <a:t>20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5347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title"/>
          </p:nvPr>
        </p:nvSpPr>
        <p:spPr>
          <a:xfrm>
            <a:off x="260350" y="-36385"/>
            <a:ext cx="8623300" cy="585065"/>
          </a:xfrm>
        </p:spPr>
        <p:txBody>
          <a:bodyPr/>
          <a:lstStyle/>
          <a:p>
            <a:pPr algn="ctr"/>
            <a:r>
              <a:rPr lang="en-US" sz="3600" dirty="0" smtClean="0">
                <a:solidFill>
                  <a:schemeClr val="bg2"/>
                </a:solidFill>
              </a:rPr>
              <a:t>The </a:t>
            </a:r>
            <a:r>
              <a:rPr lang="en-US" sz="3600" dirty="0" err="1" smtClean="0">
                <a:solidFill>
                  <a:schemeClr val="bg2"/>
                </a:solidFill>
              </a:rPr>
              <a:t>jBASE</a:t>
            </a:r>
            <a:r>
              <a:rPr lang="en-US" sz="3600" dirty="0" smtClean="0">
                <a:solidFill>
                  <a:schemeClr val="bg2"/>
                </a:solidFill>
              </a:rPr>
              <a:t> Query Language (</a:t>
            </a:r>
            <a:r>
              <a:rPr lang="en-US" sz="3600" dirty="0" err="1" smtClean="0">
                <a:solidFill>
                  <a:schemeClr val="bg2"/>
                </a:solidFill>
              </a:rPr>
              <a:t>jQL</a:t>
            </a:r>
            <a:r>
              <a:rPr lang="en-US" sz="3600" dirty="0" smtClean="0">
                <a:solidFill>
                  <a:schemeClr val="bg2"/>
                </a:solidFill>
              </a:rPr>
              <a:t>)</a:t>
            </a:r>
            <a:endParaRPr lang="ru-RU" sz="3600" dirty="0" smtClean="0">
              <a:solidFill>
                <a:schemeClr val="bg2"/>
              </a:solidFill>
            </a:endParaRPr>
          </a:p>
        </p:txBody>
      </p:sp>
      <p:sp>
        <p:nvSpPr>
          <p:cNvPr id="4099" name="Объект 2"/>
          <p:cNvSpPr>
            <a:spLocks noGrp="1"/>
          </p:cNvSpPr>
          <p:nvPr>
            <p:ph idx="1"/>
          </p:nvPr>
        </p:nvSpPr>
        <p:spPr>
          <a:xfrm>
            <a:off x="-6350" y="539750"/>
            <a:ext cx="9072500" cy="631825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100" dirty="0" err="1" smtClean="0">
                <a:solidFill>
                  <a:schemeClr val="bg2"/>
                </a:solidFill>
              </a:rPr>
              <a:t>jQL</a:t>
            </a:r>
            <a:r>
              <a:rPr lang="ru-RU" sz="2100" dirty="0" smtClean="0">
                <a:solidFill>
                  <a:schemeClr val="bg2"/>
                </a:solidFill>
              </a:rPr>
              <a:t> - мощное и простое в использовании средство, которое позволяет Вам получать данные от базы данных в структурированном порядке и представлять данные в гибком и понятном формате</a:t>
            </a:r>
            <a:r>
              <a:rPr lang="en-US" sz="2100" dirty="0" smtClean="0"/>
              <a:t>. 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100" dirty="0" smtClean="0"/>
              <a:t>Вы можете ввести </a:t>
            </a:r>
            <a:r>
              <a:rPr lang="ru-RU" sz="2100" dirty="0" err="1" smtClean="0"/>
              <a:t>jQL</a:t>
            </a:r>
            <a:r>
              <a:rPr lang="ru-RU" sz="2100" dirty="0" smtClean="0"/>
              <a:t> команды от своего терминала или встроить </a:t>
            </a:r>
            <a:r>
              <a:rPr lang="ru-RU" sz="2100" dirty="0" err="1" smtClean="0"/>
              <a:t>jQL</a:t>
            </a:r>
            <a:r>
              <a:rPr lang="ru-RU" sz="2100" dirty="0" smtClean="0"/>
              <a:t> команды в программы приложений, </a:t>
            </a:r>
            <a:r>
              <a:rPr lang="ru-RU" sz="2100" dirty="0" err="1" smtClean="0"/>
              <a:t>procs</a:t>
            </a:r>
            <a:r>
              <a:rPr lang="ru-RU" sz="2100" dirty="0" smtClean="0"/>
              <a:t> и абзацы, чтобы получить доступ к данным в </a:t>
            </a:r>
            <a:r>
              <a:rPr lang="ru-RU" sz="2100" dirty="0" err="1" smtClean="0"/>
              <a:t>jBASE</a:t>
            </a:r>
            <a:r>
              <a:rPr lang="ru-RU" sz="2100" dirty="0" smtClean="0"/>
              <a:t> файлах.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100" dirty="0" smtClean="0"/>
              <a:t>Язык характеризуется при помощи </a:t>
            </a:r>
            <a:r>
              <a:rPr lang="ru-RU" sz="2100" i="1" dirty="0" smtClean="0"/>
              <a:t>интуитивных команд</a:t>
            </a:r>
            <a:r>
              <a:rPr lang="ru-RU" sz="2100" dirty="0" smtClean="0"/>
              <a:t>, которые напоминают повседневные английские команды языка.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100" dirty="0" smtClean="0"/>
              <a:t>Например, для управления розничным отделом может потребоваться определенный набор чисел, который можно сформулировать в виде фразы: “Покажите мне объемы продаж на январь, сортированный в хронологическом порядке”.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100" dirty="0" err="1" smtClean="0"/>
              <a:t>jQL</a:t>
            </a:r>
            <a:r>
              <a:rPr lang="en-US" sz="2100" dirty="0" smtClean="0"/>
              <a:t> </a:t>
            </a:r>
            <a:r>
              <a:rPr lang="ru-RU" sz="2100" dirty="0" smtClean="0"/>
              <a:t>работает следующим образом</a:t>
            </a:r>
            <a:r>
              <a:rPr lang="en-US" sz="2100" dirty="0" smtClean="0"/>
              <a:t>: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100" dirty="0" smtClean="0"/>
              <a:t>		</a:t>
            </a:r>
            <a:r>
              <a:rPr lang="en-US" sz="2100" dirty="0" smtClean="0">
                <a:solidFill>
                  <a:schemeClr val="bg2"/>
                </a:solidFill>
              </a:rPr>
              <a:t>LIST</a:t>
            </a:r>
            <a:r>
              <a:rPr lang="en-US" sz="2100" dirty="0" smtClean="0"/>
              <a:t> </a:t>
            </a:r>
            <a:r>
              <a:rPr lang="en-US" sz="2100" dirty="0" smtClean="0">
                <a:solidFill>
                  <a:srgbClr val="00B050"/>
                </a:solidFill>
              </a:rPr>
              <a:t>SALES</a:t>
            </a:r>
            <a:r>
              <a:rPr lang="en-US" sz="2100" dirty="0" smtClean="0"/>
              <a:t> WITH MONTH = “JANUARY” BY DATE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100" dirty="0" smtClean="0"/>
              <a:t>При помощи </a:t>
            </a:r>
            <a:r>
              <a:rPr lang="ru-RU" sz="2100" dirty="0" err="1" smtClean="0"/>
              <a:t>jQL</a:t>
            </a:r>
            <a:r>
              <a:rPr lang="ru-RU" sz="2100" dirty="0" smtClean="0"/>
              <a:t> команды с файлом под названием ПРОДАЖИ и фильтром на данные такие как МЕСЯЦ и ДАТА, можно прямо из командной строки </a:t>
            </a:r>
            <a:r>
              <a:rPr lang="en-US" sz="2100" dirty="0" smtClean="0"/>
              <a:t>(&gt;) </a:t>
            </a:r>
            <a:r>
              <a:rPr lang="ru-RU" sz="2100" dirty="0" smtClean="0"/>
              <a:t>создать запрос.</a:t>
            </a:r>
            <a:endParaRPr lang="en-US" sz="2100" dirty="0" smtClean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100" dirty="0" smtClean="0"/>
              <a:t>Можно выдать информацию разным способом: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  <a:buFont typeface="Wingdings" pitchFamily="2" charset="2"/>
              <a:buChar char="ü"/>
            </a:pPr>
            <a:r>
              <a:rPr lang="ru-RU" sz="1700" dirty="0" smtClean="0"/>
              <a:t>Выдать на принтер или на экран</a:t>
            </a:r>
            <a:r>
              <a:rPr lang="en-US" sz="1700" dirty="0" smtClean="0"/>
              <a:t>; 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  <a:buFont typeface="Wingdings" pitchFamily="2" charset="2"/>
              <a:buChar char="ü"/>
            </a:pPr>
            <a:r>
              <a:rPr lang="ru-RU" sz="1700" dirty="0" smtClean="0"/>
              <a:t>Упорядочить набор по дате в возрастающем или убывающем порядке</a:t>
            </a:r>
            <a:r>
              <a:rPr lang="en-US" sz="1700" dirty="0" smtClean="0"/>
              <a:t>. </a:t>
            </a:r>
          </a:p>
          <a:p>
            <a:pPr marL="342900" lvl="1" indent="-342900">
              <a:lnSpc>
                <a:spcPct val="120000"/>
              </a:lnSpc>
              <a:spcBef>
                <a:spcPts val="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sz="2100" dirty="0" err="1" smtClean="0">
                <a:ea typeface="+mn-ea"/>
              </a:rPr>
              <a:t>jQL</a:t>
            </a:r>
            <a:r>
              <a:rPr lang="ru-RU" sz="2100" dirty="0" smtClean="0">
                <a:ea typeface="+mn-ea"/>
              </a:rPr>
              <a:t> содержит большой набор команд для перечисления, сортировки, выбора и управления представлением и является безопасным языком для конечных пользователей.</a:t>
            </a:r>
          </a:p>
          <a:p>
            <a:pPr marL="609600" indent="-609600">
              <a:lnSpc>
                <a:spcPct val="120000"/>
              </a:lnSpc>
              <a:spcBef>
                <a:spcPts val="0"/>
              </a:spcBef>
              <a:buFont typeface="Wingdings" pitchFamily="2" charset="2"/>
              <a:buNone/>
              <a:defRPr/>
            </a:pPr>
            <a:endParaRPr lang="ru-RU" sz="2400" dirty="0" smtClean="0"/>
          </a:p>
        </p:txBody>
      </p:sp>
      <p:sp>
        <p:nvSpPr>
          <p:cNvPr id="410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6107D0A-A05A-43B6-B2A8-A5A0752DC352}" type="slidenum">
              <a:rPr lang="ru-RU" altLang="ru-RU" sz="1200" smtClean="0">
                <a:latin typeface="Arial Black" pitchFamily="34" charset="0"/>
              </a:rPr>
              <a:pPr eaLnBrk="1" hangingPunct="1"/>
              <a:t>21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title"/>
          </p:nvPr>
        </p:nvSpPr>
        <p:spPr>
          <a:xfrm>
            <a:off x="260350" y="-36385"/>
            <a:ext cx="8623300" cy="585065"/>
          </a:xfrm>
        </p:spPr>
        <p:txBody>
          <a:bodyPr/>
          <a:lstStyle/>
          <a:p>
            <a:pPr algn="ctr"/>
            <a:r>
              <a:rPr lang="en-US" sz="3600" dirty="0" smtClean="0">
                <a:solidFill>
                  <a:schemeClr val="bg2"/>
                </a:solidFill>
              </a:rPr>
              <a:t>The </a:t>
            </a:r>
            <a:r>
              <a:rPr lang="en-US" sz="3600" dirty="0" err="1" smtClean="0">
                <a:solidFill>
                  <a:schemeClr val="bg2"/>
                </a:solidFill>
              </a:rPr>
              <a:t>jBASE</a:t>
            </a:r>
            <a:r>
              <a:rPr lang="en-US" sz="3600" dirty="0" smtClean="0">
                <a:solidFill>
                  <a:schemeClr val="bg2"/>
                </a:solidFill>
              </a:rPr>
              <a:t> Query Language (</a:t>
            </a:r>
            <a:r>
              <a:rPr lang="en-US" sz="3600" dirty="0" err="1" smtClean="0">
                <a:solidFill>
                  <a:schemeClr val="bg2"/>
                </a:solidFill>
              </a:rPr>
              <a:t>jQL</a:t>
            </a:r>
            <a:r>
              <a:rPr lang="en-US" sz="3600" dirty="0" smtClean="0">
                <a:solidFill>
                  <a:schemeClr val="bg2"/>
                </a:solidFill>
              </a:rPr>
              <a:t>)</a:t>
            </a:r>
            <a:endParaRPr lang="ru-RU" sz="3600" dirty="0" smtClean="0">
              <a:solidFill>
                <a:schemeClr val="bg2"/>
              </a:solidFill>
            </a:endParaRPr>
          </a:p>
        </p:txBody>
      </p:sp>
      <p:sp>
        <p:nvSpPr>
          <p:cNvPr id="4099" name="Объект 2"/>
          <p:cNvSpPr>
            <a:spLocks noGrp="1"/>
          </p:cNvSpPr>
          <p:nvPr>
            <p:ph idx="1"/>
          </p:nvPr>
        </p:nvSpPr>
        <p:spPr>
          <a:xfrm>
            <a:off x="71500" y="643180"/>
            <a:ext cx="8812150" cy="5630620"/>
          </a:xfrm>
        </p:spPr>
        <p:txBody>
          <a:bodyPr>
            <a:normAutofit/>
          </a:bodyPr>
          <a:lstStyle/>
          <a:p>
            <a:r>
              <a:rPr lang="ru-RU" sz="2000" dirty="0" smtClean="0"/>
              <a:t>Предложение </a:t>
            </a:r>
            <a:r>
              <a:rPr lang="ru-RU" sz="2000" dirty="0" err="1" smtClean="0"/>
              <a:t>jQL</a:t>
            </a:r>
            <a:r>
              <a:rPr lang="ru-RU" sz="2000" dirty="0" smtClean="0"/>
              <a:t> </a:t>
            </a:r>
            <a:r>
              <a:rPr lang="ru-RU" sz="2000" dirty="0" err="1" smtClean="0"/>
              <a:t>Command</a:t>
            </a:r>
            <a:r>
              <a:rPr lang="ru-RU" sz="2000" dirty="0" smtClean="0"/>
              <a:t> должно содержать по крайней мере </a:t>
            </a:r>
            <a:r>
              <a:rPr lang="ru-RU" sz="2000" b="1" u="sng" dirty="0" smtClean="0"/>
              <a:t>глагол</a:t>
            </a:r>
            <a:r>
              <a:rPr lang="ru-RU" sz="2000" b="1" dirty="0" smtClean="0"/>
              <a:t> </a:t>
            </a:r>
            <a:r>
              <a:rPr lang="ru-RU" sz="2000" dirty="0" smtClean="0"/>
              <a:t>и </a:t>
            </a:r>
            <a:r>
              <a:rPr lang="ru-RU" sz="2000" b="1" u="sng" dirty="0" smtClean="0"/>
              <a:t>имя файла</a:t>
            </a:r>
            <a:r>
              <a:rPr lang="ru-RU" sz="2000" dirty="0" smtClean="0"/>
              <a:t>.</a:t>
            </a:r>
          </a:p>
          <a:p>
            <a:r>
              <a:rPr lang="ru-RU" sz="2000" dirty="0" smtClean="0"/>
              <a:t>Глагол указывает, какой процесс выполнить, а имя файла указывает исходный источник данных.</a:t>
            </a:r>
          </a:p>
          <a:p>
            <a:r>
              <a:rPr lang="ru-RU" sz="2000" dirty="0" smtClean="0"/>
              <a:t>Можно добавить необязательные предложения для уточнения базовой команды.</a:t>
            </a:r>
          </a:p>
          <a:p>
            <a:r>
              <a:rPr lang="ru-RU" sz="2000" dirty="0" smtClean="0"/>
              <a:t>Можно использовать предложения для управления диапазоном допустимых ключей записи, определять критерии выбора и сортировки или указывать формат вывода и т. д.</a:t>
            </a:r>
          </a:p>
          <a:p>
            <a:r>
              <a:rPr lang="ru-RU" sz="2000" dirty="0" smtClean="0"/>
              <a:t>ПОМНИТЕ: требуется только глагол и имя файла. Следующий список суммирует каждый элемент в синтаксисе.</a:t>
            </a:r>
          </a:p>
          <a:p>
            <a:r>
              <a:rPr lang="en-US" sz="2000" b="1" dirty="0" smtClean="0"/>
              <a:t>COMMAND SYNTAX</a:t>
            </a:r>
          </a:p>
          <a:p>
            <a:pPr>
              <a:buNone/>
            </a:pPr>
            <a:r>
              <a:rPr lang="en-US" sz="2000" dirty="0" smtClean="0"/>
              <a:t>	</a:t>
            </a:r>
            <a:r>
              <a:rPr lang="en-US" sz="2000" dirty="0" err="1" smtClean="0"/>
              <a:t>jQL</a:t>
            </a:r>
            <a:r>
              <a:rPr lang="en-US" sz="2000" dirty="0" smtClean="0"/>
              <a:t>-verb {DICT} file-</a:t>
            </a:r>
            <a:r>
              <a:rPr lang="en-US" sz="2000" dirty="0" err="1" smtClean="0"/>
              <a:t>specifier</a:t>
            </a:r>
            <a:r>
              <a:rPr lang="en-US" sz="2000" dirty="0" smtClean="0"/>
              <a:t> {field-list} {record-list} {selection-criteria} 	{FROM #}{</a:t>
            </a:r>
            <a:r>
              <a:rPr lang="en-US" sz="2000" dirty="0" err="1" smtClean="0"/>
              <a:t>sortcriteria</a:t>
            </a:r>
            <a:r>
              <a:rPr lang="en-US" sz="2000" dirty="0" smtClean="0"/>
              <a:t>}</a:t>
            </a:r>
          </a:p>
          <a:p>
            <a:pPr>
              <a:buNone/>
            </a:pPr>
            <a:r>
              <a:rPr lang="en-US" sz="2000" dirty="0" smtClean="0"/>
              <a:t>		{USING file- </a:t>
            </a:r>
            <a:r>
              <a:rPr lang="en-US" sz="2000" dirty="0" err="1" smtClean="0"/>
              <a:t>specifier</a:t>
            </a:r>
            <a:r>
              <a:rPr lang="en-US" sz="2000" dirty="0" smtClean="0"/>
              <a:t>} {macro-call}{output-specification} </a:t>
            </a:r>
            <a:br>
              <a:rPr lang="en-US" sz="2000" dirty="0" smtClean="0"/>
            </a:br>
            <a:r>
              <a:rPr lang="en-US" sz="2000" dirty="0" smtClean="0"/>
              <a:t>		{format-specification} {output-limiter}{(options}</a:t>
            </a:r>
            <a:endParaRPr lang="ru-RU" dirty="0" smtClean="0"/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endParaRPr lang="ru-RU" sz="2400" dirty="0" smtClean="0"/>
          </a:p>
          <a:p>
            <a:pPr marL="609600" indent="-609600">
              <a:lnSpc>
                <a:spcPct val="120000"/>
              </a:lnSpc>
              <a:buFont typeface="Wingdings" pitchFamily="2" charset="2"/>
              <a:buNone/>
              <a:defRPr/>
            </a:pPr>
            <a:endParaRPr lang="ru-RU" sz="2400" dirty="0" smtClean="0"/>
          </a:p>
        </p:txBody>
      </p:sp>
      <p:sp>
        <p:nvSpPr>
          <p:cNvPr id="410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6107D0A-A05A-43B6-B2A8-A5A0752DC352}" type="slidenum">
              <a:rPr lang="ru-RU" altLang="ru-RU" sz="1200" smtClean="0">
                <a:latin typeface="Arial Black" pitchFamily="34" charset="0"/>
              </a:rPr>
              <a:pPr eaLnBrk="1" hangingPunct="1"/>
              <a:t>22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title"/>
          </p:nvPr>
        </p:nvSpPr>
        <p:spPr>
          <a:xfrm>
            <a:off x="260350" y="-36385"/>
            <a:ext cx="8623300" cy="585065"/>
          </a:xfrm>
        </p:spPr>
        <p:txBody>
          <a:bodyPr/>
          <a:lstStyle/>
          <a:p>
            <a:pPr algn="ctr"/>
            <a:r>
              <a:rPr lang="en-US" sz="3600" dirty="0" smtClean="0">
                <a:solidFill>
                  <a:schemeClr val="bg2"/>
                </a:solidFill>
              </a:rPr>
              <a:t>Entering a </a:t>
            </a:r>
            <a:r>
              <a:rPr lang="en-US" sz="3600" dirty="0" err="1" smtClean="0">
                <a:solidFill>
                  <a:schemeClr val="bg2"/>
                </a:solidFill>
              </a:rPr>
              <a:t>jQL</a:t>
            </a:r>
            <a:r>
              <a:rPr lang="en-US" sz="3600" dirty="0" smtClean="0">
                <a:solidFill>
                  <a:schemeClr val="bg2"/>
                </a:solidFill>
              </a:rPr>
              <a:t> Command Sentence</a:t>
            </a:r>
          </a:p>
        </p:txBody>
      </p:sp>
      <p:sp>
        <p:nvSpPr>
          <p:cNvPr id="4099" name="Объект 2"/>
          <p:cNvSpPr>
            <a:spLocks noGrp="1"/>
          </p:cNvSpPr>
          <p:nvPr>
            <p:ph idx="1"/>
          </p:nvPr>
        </p:nvSpPr>
        <p:spPr>
          <a:xfrm>
            <a:off x="71500" y="643180"/>
            <a:ext cx="8901050" cy="6030670"/>
          </a:xfrm>
        </p:spPr>
        <p:txBody>
          <a:bodyPr>
            <a:normAutofit fontScale="92500" lnSpcReduction="20000"/>
          </a:bodyPr>
          <a:lstStyle/>
          <a:p>
            <a:r>
              <a:rPr lang="ru-RU" sz="2000" dirty="0" smtClean="0"/>
              <a:t>Командное предложение </a:t>
            </a:r>
            <a:r>
              <a:rPr lang="ru-RU" sz="2000" dirty="0" err="1" smtClean="0"/>
              <a:t>jQL</a:t>
            </a:r>
            <a:r>
              <a:rPr lang="ru-RU" sz="2000" dirty="0" smtClean="0"/>
              <a:t> вводится в оболочку в ответ на командную строку (:) или приглашение </a:t>
            </a:r>
            <a:r>
              <a:rPr lang="ru-RU" sz="2000" dirty="0" err="1" smtClean="0"/>
              <a:t>select</a:t>
            </a:r>
            <a:r>
              <a:rPr lang="ru-RU" sz="2000" dirty="0" smtClean="0"/>
              <a:t> (&gt;).</a:t>
            </a:r>
          </a:p>
          <a:p>
            <a:r>
              <a:rPr lang="ru-RU" sz="2000" dirty="0" smtClean="0"/>
              <a:t>Каждое предложение должно начинаться с команды </a:t>
            </a:r>
            <a:r>
              <a:rPr lang="ru-RU" sz="2000" dirty="0" err="1" smtClean="0"/>
              <a:t>jQL</a:t>
            </a:r>
            <a:r>
              <a:rPr lang="ru-RU" sz="2000" dirty="0" smtClean="0"/>
              <a:t> и может иметь любую длину.</a:t>
            </a:r>
          </a:p>
          <a:p>
            <a:r>
              <a:rPr lang="ru-RU" sz="2000" dirty="0" smtClean="0"/>
              <a:t>Нажмите &lt;ENTER&gt;, чтобы отправить построенное предложение.</a:t>
            </a:r>
          </a:p>
          <a:p>
            <a:r>
              <a:rPr lang="ru-RU" sz="2000" dirty="0" smtClean="0"/>
              <a:t>Если вы введете недопустимую команду, система отклонит ее и отобразит соответствующее сообщение об ошибке.</a:t>
            </a:r>
            <a:r>
              <a:rPr lang="en-US" sz="2000" b="1" dirty="0" smtClean="0"/>
              <a:t>	</a:t>
            </a:r>
            <a:endParaRPr lang="ru-RU" sz="2000" b="1" dirty="0" smtClean="0"/>
          </a:p>
          <a:p>
            <a:pPr>
              <a:buNone/>
            </a:pPr>
            <a:r>
              <a:rPr lang="ru-RU" sz="2000" b="1" dirty="0" smtClean="0"/>
              <a:t>Пример</a:t>
            </a:r>
            <a:endParaRPr lang="en-US" sz="2000" b="1" dirty="0" smtClean="0"/>
          </a:p>
          <a:p>
            <a:pPr>
              <a:buNone/>
            </a:pPr>
            <a:r>
              <a:rPr lang="en-US" sz="2000" dirty="0" err="1" smtClean="0"/>
              <a:t>jsh</a:t>
            </a:r>
            <a:r>
              <a:rPr lang="en-US" sz="2000" dirty="0" smtClean="0"/>
              <a:t> ~ --&gt;</a:t>
            </a:r>
          </a:p>
          <a:p>
            <a:pPr>
              <a:buNone/>
            </a:pPr>
            <a:r>
              <a:rPr lang="ru-RU" sz="2000" dirty="0" smtClean="0"/>
              <a:t>     </a:t>
            </a:r>
            <a:r>
              <a:rPr lang="en-US" sz="2000" dirty="0" smtClean="0"/>
              <a:t>SORT </a:t>
            </a:r>
            <a:r>
              <a:rPr lang="en-US" sz="2000" dirty="0" err="1" smtClean="0"/>
              <a:t>jcustomers</a:t>
            </a:r>
            <a:r>
              <a:rPr lang="en-US" sz="2000" dirty="0" smtClean="0"/>
              <a:t> FIRSTNAME LASTNAME CITY STATE NUMUSERS</a:t>
            </a:r>
          </a:p>
          <a:p>
            <a:pPr>
              <a:buNone/>
            </a:pPr>
            <a:r>
              <a:rPr lang="en-US" sz="2000" dirty="0" smtClean="0"/>
              <a:t>	WITH FIRSTNAME = "TED" AND NUMUSERS &gt; “10” </a:t>
            </a:r>
            <a:endParaRPr lang="ru-RU" sz="2000" dirty="0" smtClean="0"/>
          </a:p>
          <a:p>
            <a:pPr>
              <a:buNone/>
            </a:pPr>
            <a:r>
              <a:rPr lang="ru-RU" sz="2000" dirty="0" smtClean="0"/>
              <a:t>       </a:t>
            </a:r>
            <a:r>
              <a:rPr lang="en-US" sz="2000" dirty="0" smtClean="0"/>
              <a:t>BY CITY DBL-SPC 	HDRSUPP </a:t>
            </a:r>
            <a:r>
              <a:rPr lang="en-US" sz="2000" smtClean="0"/>
              <a:t>(P)</a:t>
            </a:r>
            <a:endParaRPr lang="en-US" sz="2000" dirty="0" smtClean="0"/>
          </a:p>
          <a:p>
            <a:r>
              <a:rPr lang="ru-RU" sz="2000" dirty="0" smtClean="0"/>
              <a:t>Здесь глагол - </a:t>
            </a:r>
            <a:r>
              <a:rPr lang="en-US" sz="2000" dirty="0" smtClean="0">
                <a:solidFill>
                  <a:srgbClr val="3333FF"/>
                </a:solidFill>
              </a:rPr>
              <a:t>SORT</a:t>
            </a:r>
            <a:r>
              <a:rPr lang="en-US" sz="2000" dirty="0" smtClean="0"/>
              <a:t>. </a:t>
            </a:r>
          </a:p>
          <a:p>
            <a:r>
              <a:rPr lang="ru-RU" sz="2000" dirty="0" smtClean="0"/>
              <a:t>Имя файла - </a:t>
            </a:r>
            <a:r>
              <a:rPr lang="en-US" sz="2000" dirty="0" err="1" smtClean="0">
                <a:solidFill>
                  <a:srgbClr val="3333FF"/>
                </a:solidFill>
              </a:rPr>
              <a:t>jcustomers</a:t>
            </a:r>
            <a:r>
              <a:rPr lang="en-US" sz="2000" dirty="0" smtClean="0"/>
              <a:t>. </a:t>
            </a:r>
            <a:r>
              <a:rPr lang="ru-RU" sz="2000" dirty="0" smtClean="0"/>
              <a:t>Специфицированные поля: </a:t>
            </a:r>
            <a:r>
              <a:rPr lang="en-US" sz="2000" dirty="0" smtClean="0">
                <a:solidFill>
                  <a:srgbClr val="3333FF"/>
                </a:solidFill>
              </a:rPr>
              <a:t>FIRSTNAME, LASTNAME, CITY, STATE &amp; NUMUSERS</a:t>
            </a:r>
            <a:r>
              <a:rPr lang="en-US" sz="2000" dirty="0" smtClean="0"/>
              <a:t>. </a:t>
            </a:r>
          </a:p>
          <a:p>
            <a:r>
              <a:rPr lang="ru-RU" sz="2000" dirty="0" smtClean="0"/>
              <a:t>В критериях выбора указывается, что должны быть возвращены только записи с FIRSTNAME = TED и  с более чем 10 пользователями.</a:t>
            </a:r>
          </a:p>
          <a:p>
            <a:r>
              <a:rPr lang="ru-RU" sz="2000" dirty="0" smtClean="0"/>
              <a:t>Критерий сортировки говорит, что необходимо  упорядочить результаты по полю CITY.</a:t>
            </a:r>
          </a:p>
          <a:p>
            <a:r>
              <a:rPr lang="ru-RU" sz="2000" dirty="0" smtClean="0"/>
              <a:t>Спецификатор формата устанавливает, что вывод должен быть двойным, без заголовка.</a:t>
            </a:r>
          </a:p>
          <a:p>
            <a:r>
              <a:rPr lang="ru-RU" sz="2000" dirty="0" smtClean="0"/>
              <a:t>Параметр (P) отправляет весь вывод на принтер, а не на экран</a:t>
            </a:r>
          </a:p>
        </p:txBody>
      </p:sp>
      <p:sp>
        <p:nvSpPr>
          <p:cNvPr id="4100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083550" y="6273800"/>
            <a:ext cx="755650" cy="584200"/>
          </a:xfr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6107D0A-A05A-43B6-B2A8-A5A0752DC352}" type="slidenum">
              <a:rPr lang="ru-RU" altLang="ru-RU" sz="1200" smtClean="0">
                <a:latin typeface="Arial Black" pitchFamily="34" charset="0"/>
              </a:rPr>
              <a:pPr eaLnBrk="1" hangingPunct="1"/>
              <a:t>23</a:t>
            </a:fld>
            <a:endParaRPr lang="ru-RU" altLang="ru-RU" sz="1200" dirty="0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304800" y="-38100"/>
            <a:ext cx="8382000" cy="595313"/>
          </a:xfrm>
        </p:spPr>
        <p:txBody>
          <a:bodyPr/>
          <a:lstStyle/>
          <a:p>
            <a:pPr algn="ctr"/>
            <a:r>
              <a:rPr lang="ru-RU" sz="3600" dirty="0" smtClean="0">
                <a:solidFill>
                  <a:srgbClr val="00B0F0"/>
                </a:solidFill>
              </a:rPr>
              <a:t>Хранилища данных </a:t>
            </a:r>
            <a:r>
              <a:rPr lang="ru-RU" sz="3600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и</a:t>
            </a:r>
            <a:r>
              <a:rPr lang="ru-RU" sz="3600" dirty="0" smtClean="0">
                <a:solidFill>
                  <a:schemeClr val="bg2"/>
                </a:solidFill>
              </a:rPr>
              <a:t> </a:t>
            </a:r>
            <a:r>
              <a:rPr lang="en-US" sz="3600" dirty="0" err="1">
                <a:solidFill>
                  <a:schemeClr val="bg2"/>
                </a:solidFill>
              </a:rPr>
              <a:t>Multivalue</a:t>
            </a:r>
            <a:r>
              <a:rPr lang="ru-RU" sz="3600" dirty="0">
                <a:solidFill>
                  <a:schemeClr val="bg2"/>
                </a:solidFill>
              </a:rPr>
              <a:t> СУБД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2875" y="539750"/>
            <a:ext cx="8829675" cy="61849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 smtClean="0"/>
              <a:t>Возможность построения </a:t>
            </a:r>
            <a:r>
              <a:rPr lang="ru-RU" dirty="0" err="1" smtClean="0"/>
              <a:t>нереляционных</a:t>
            </a:r>
            <a:r>
              <a:rPr lang="ru-RU" dirty="0" smtClean="0"/>
              <a:t> моделей данных на основе </a:t>
            </a:r>
            <a:r>
              <a:rPr lang="ru-RU" dirty="0" err="1" smtClean="0"/>
              <a:t>Multivalue</a:t>
            </a:r>
            <a:r>
              <a:rPr lang="ru-RU" dirty="0" smtClean="0"/>
              <a:t> СУБД нашла реализацию в построении хранилищ данных. 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Фирма IBM предлагает продукт под названием MITS, который реализует хранилище данных на базе СУБД </a:t>
            </a:r>
            <a:r>
              <a:rPr lang="ru-RU" dirty="0" err="1" smtClean="0"/>
              <a:t>UniVerse</a:t>
            </a:r>
            <a:r>
              <a:rPr lang="ru-RU" dirty="0" smtClean="0"/>
              <a:t>. Это полноценный инструмент для построения систем принятия решений, реализующий </a:t>
            </a:r>
            <a:r>
              <a:rPr lang="ru-RU" dirty="0" err="1" smtClean="0"/>
              <a:t>Hypercub</a:t>
            </a:r>
            <a:r>
              <a:rPr lang="ru-RU" dirty="0" smtClean="0"/>
              <a:t> в качестве сервера хранилища включает также набор инструментов для построения, администрирования и управления хранилищем и набор средств </a:t>
            </a:r>
            <a:r>
              <a:rPr lang="ru-RU" dirty="0" err="1" smtClean="0"/>
              <a:t>Business</a:t>
            </a:r>
            <a:r>
              <a:rPr lang="ru-RU" dirty="0" smtClean="0"/>
              <a:t> </a:t>
            </a:r>
            <a:r>
              <a:rPr lang="ru-RU" dirty="0" err="1" smtClean="0"/>
              <a:t>Intelligence</a:t>
            </a:r>
            <a:r>
              <a:rPr lang="ru-RU" dirty="0" smtClean="0"/>
              <a:t> и интерфейсов для других OLAP средств.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Другим брендом в области хранилищ данных является продукт ETL </a:t>
            </a:r>
            <a:r>
              <a:rPr lang="ru-RU" dirty="0" err="1" smtClean="0"/>
              <a:t>DataStage</a:t>
            </a:r>
            <a:r>
              <a:rPr lang="ru-RU" dirty="0" smtClean="0"/>
              <a:t> фирмы </a:t>
            </a:r>
            <a:r>
              <a:rPr lang="ru-RU" dirty="0" err="1" smtClean="0"/>
              <a:t>Ascential</a:t>
            </a:r>
            <a:r>
              <a:rPr lang="ru-RU" dirty="0" smtClean="0"/>
              <a:t> </a:t>
            </a:r>
            <a:r>
              <a:rPr lang="ru-RU" dirty="0" err="1" smtClean="0"/>
              <a:t>Software</a:t>
            </a:r>
            <a:r>
              <a:rPr lang="ru-RU" dirty="0" smtClean="0"/>
              <a:t>, который реализован также на базе СУБД </a:t>
            </a:r>
            <a:r>
              <a:rPr lang="ru-RU" dirty="0" err="1" smtClean="0"/>
              <a:t>UniVerse</a:t>
            </a:r>
            <a:r>
              <a:rPr lang="ru-RU" dirty="0" smtClean="0"/>
              <a:t> и использует ее мощные возможности обработки данных для построения хранилищ данных из различных источников данных.</a:t>
            </a:r>
            <a:endParaRPr lang="ru-RU" dirty="0"/>
          </a:p>
        </p:txBody>
      </p:sp>
      <p:sp>
        <p:nvSpPr>
          <p:cNvPr id="6148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AA7B7E5-A4A3-4EDC-A6CB-A0019FCF27C5}" type="slidenum">
              <a:rPr lang="ru-RU" altLang="ru-RU" sz="1200" smtClean="0">
                <a:latin typeface="Arial Black" pitchFamily="34" charset="0"/>
              </a:rPr>
              <a:pPr eaLnBrk="1" hangingPunct="1"/>
              <a:t>24</a:t>
            </a:fld>
            <a:endParaRPr lang="ru-RU" altLang="ru-RU" sz="1200" smtClean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5212</TotalTime>
  <Words>2303</Words>
  <Application>Microsoft Office PowerPoint</Application>
  <PresentationFormat>Экран (4:3)</PresentationFormat>
  <Paragraphs>453</Paragraphs>
  <Slides>24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5" baseType="lpstr">
      <vt:lpstr>Пиксел</vt:lpstr>
      <vt:lpstr>Постреляционная модель MultiValue СУБД</vt:lpstr>
      <vt:lpstr>Постреляционная модель</vt:lpstr>
      <vt:lpstr>Бизнес объекты</vt:lpstr>
      <vt:lpstr>Не первая нормальная форма NF2</vt:lpstr>
      <vt:lpstr>Не первая нормальная форма (NF2)</vt:lpstr>
      <vt:lpstr>Пример</vt:lpstr>
      <vt:lpstr>NF2</vt:lpstr>
      <vt:lpstr>Структуры модели данных</vt:lpstr>
      <vt:lpstr>Вложенные таблицы</vt:lpstr>
      <vt:lpstr>Вложенность реляционных отношений</vt:lpstr>
      <vt:lpstr>Multivalue СУБД</vt:lpstr>
      <vt:lpstr>Немного истории</vt:lpstr>
      <vt:lpstr>Особенности Multivalue СУБД</vt:lpstr>
      <vt:lpstr>Динамические массивы</vt:lpstr>
      <vt:lpstr>Эффект динамических массивов</vt:lpstr>
      <vt:lpstr>Словари данных и типы данных </vt:lpstr>
      <vt:lpstr>Словари данных и типы данных </vt:lpstr>
      <vt:lpstr>Особенности проектирования приложений</vt:lpstr>
      <vt:lpstr>Эволюция архитектур Multivalue СУБД</vt:lpstr>
      <vt:lpstr>Эволюция архитектур Multivalue СУБД</vt:lpstr>
      <vt:lpstr>The jBASE Query Language (jQL)</vt:lpstr>
      <vt:lpstr>The jBASE Query Language (jQL)</vt:lpstr>
      <vt:lpstr>Entering a jQL Command Sentence</vt:lpstr>
      <vt:lpstr>Хранилища данных и Multivalue СУБД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Реляционная модель</dc:title>
  <dc:creator>Борис</dc:creator>
  <cp:lastModifiedBy>User</cp:lastModifiedBy>
  <cp:revision>267</cp:revision>
  <dcterms:created xsi:type="dcterms:W3CDTF">2012-10-04T16:47:37Z</dcterms:created>
  <dcterms:modified xsi:type="dcterms:W3CDTF">2019-12-05T12:00:47Z</dcterms:modified>
</cp:coreProperties>
</file>