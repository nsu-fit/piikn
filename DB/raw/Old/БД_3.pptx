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7"/>
  </p:notesMasterIdLst>
  <p:sldIdLst>
    <p:sldId id="256" r:id="rId2"/>
    <p:sldId id="271" r:id="rId3"/>
    <p:sldId id="257" r:id="rId4"/>
    <p:sldId id="258" r:id="rId5"/>
    <p:sldId id="272" r:id="rId6"/>
    <p:sldId id="259" r:id="rId7"/>
    <p:sldId id="260" r:id="rId8"/>
    <p:sldId id="261" r:id="rId9"/>
    <p:sldId id="275" r:id="rId10"/>
    <p:sldId id="274" r:id="rId11"/>
    <p:sldId id="262" r:id="rId12"/>
    <p:sldId id="263" r:id="rId13"/>
    <p:sldId id="264" r:id="rId14"/>
    <p:sldId id="265" r:id="rId15"/>
    <p:sldId id="277" r:id="rId16"/>
    <p:sldId id="280" r:id="rId17"/>
    <p:sldId id="266" r:id="rId18"/>
    <p:sldId id="267" r:id="rId19"/>
    <p:sldId id="268" r:id="rId20"/>
    <p:sldId id="278" r:id="rId21"/>
    <p:sldId id="269" r:id="rId22"/>
    <p:sldId id="270" r:id="rId23"/>
    <p:sldId id="276" r:id="rId24"/>
    <p:sldId id="279" r:id="rId25"/>
    <p:sldId id="273" r:id="rId2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33CC33"/>
    <a:srgbClr val="008000"/>
    <a:srgbClr val="DE411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0ABAA-1C2E-4D56-8A9D-B1BE436E171D}" type="datetimeFigureOut">
              <a:rPr lang="ru-RU" smtClean="0"/>
              <a:pPr/>
              <a:t>19.09.2019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01516-4D3F-45AE-8BF6-50E94A72C9F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85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EB413-2DB3-479E-B39C-08B8A120CE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AF3F-3F62-4C30-8190-5580BE7ED74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BC277-3F26-4EF8-BA22-85DD05C167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85A166-4A32-473A-A4BA-A0F66E8CCE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0E4B6-3B5D-4451-9A7A-87B137E9B68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288FFE-3A9E-4BC7-AA10-DC6A584BBB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1A994-6C55-4DE2-98E5-0DFF30A395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A9B82-4E85-4555-BA9A-2410E827B18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06529-A138-4577-AEBE-4E90440694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49E7D-CD70-4503-8383-44F5AF8721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D8F98-8CF8-4078-AF1F-0C614AC5316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B0FB5-67E8-478F-B0E5-575DC23C0C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212B2B0E-3712-482D-96C6-DA3E860C3D4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 dirty="0" smtClean="0"/>
              <a:t>Реляционная модель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ru-RU" sz="3600" dirty="0" smtClean="0"/>
              <a:t>Дж. Ульман, </a:t>
            </a:r>
          </a:p>
          <a:p>
            <a:pPr eaLnBrk="1" hangingPunct="1"/>
            <a:r>
              <a:rPr lang="ru-RU" sz="3600" dirty="0" smtClean="0"/>
              <a:t>Основы систем баз данных, 1983.</a:t>
            </a:r>
          </a:p>
          <a:p>
            <a:pPr eaLnBrk="1" hangingPunct="1"/>
            <a:r>
              <a:rPr lang="ru-RU" sz="3600" dirty="0" smtClean="0"/>
              <a:t>Глава 3</a:t>
            </a:r>
          </a:p>
          <a:p>
            <a:pPr eaLnBrk="1" hangingPunct="1"/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338" y="4293096"/>
            <a:ext cx="8641323" cy="2403869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Relational Model of Data for Large Shared Data</a:t>
            </a:r>
            <a:r>
              <a:rPr lang="ru-RU" sz="20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Banks</a:t>
            </a:r>
            <a:r>
              <a:rPr lang="ru-RU" sz="20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2000" b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1970</a:t>
            </a:r>
            <a:r>
              <a:rPr lang="ru-RU" sz="2000" smtClean="0"/>
              <a:t>, </a:t>
            </a:r>
            <a:r>
              <a:rPr lang="en-US" sz="2000" i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Communications of the ACM</a:t>
            </a:r>
            <a:r>
              <a:rPr lang="ru-RU" sz="2000" i="1" dirty="0" smtClean="0"/>
              <a:t> </a:t>
            </a:r>
            <a:r>
              <a:rPr lang="en-US" sz="20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</a:t>
            </a:r>
            <a:r>
              <a:rPr lang="en-US" sz="2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(6): 377–387</a:t>
            </a:r>
            <a:endParaRPr lang="ru-RU" sz="20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endParaRPr lang="ru-RU" sz="20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 </a:t>
            </a:r>
            <a:r>
              <a:rPr lang="ru-RU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1976</a:t>
            </a:r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Кодд получил почетное звание </a:t>
            </a:r>
            <a:r>
              <a:rPr lang="ru-RU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IBM </a:t>
            </a:r>
            <a:r>
              <a:rPr lang="ru-RU" sz="1800" b="1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Fellow</a:t>
            </a:r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 </a:t>
            </a:r>
            <a:r>
              <a:rPr lang="ru-RU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1981</a:t>
            </a:r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он получил  престижную </a:t>
            </a:r>
            <a:r>
              <a:rPr lang="ru-RU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премию Тьюринга</a:t>
            </a:r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</a:t>
            </a:r>
            <a:r>
              <a:rPr lang="ru-RU" sz="18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800" b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2002</a:t>
            </a:r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журнал </a:t>
            </a:r>
            <a:r>
              <a:rPr lang="ru-RU" sz="1800" b="1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Forbes</a:t>
            </a:r>
            <a:r>
              <a:rPr lang="ru-RU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поместил реляционную модель данных в список важнейших инноваций последних 85 лет.</a:t>
            </a: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10" y="214290"/>
            <a:ext cx="8245505" cy="2214578"/>
          </a:xfrm>
        </p:spPr>
        <p:txBody>
          <a:bodyPr/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История</a:t>
            </a:r>
            <a:br>
              <a:rPr lang="ru-RU" sz="4000" dirty="0" smtClean="0">
                <a:solidFill>
                  <a:schemeClr val="bg2"/>
                </a:solidFill>
              </a:rPr>
            </a:br>
            <a:r>
              <a:rPr lang="ru-RU" sz="4000" dirty="0" smtClean="0">
                <a:solidFill>
                  <a:schemeClr val="bg2"/>
                </a:solidFill>
              </a:rPr>
              <a:t>   </a:t>
            </a:r>
            <a:r>
              <a:rPr lang="ru-RU" sz="3600" b="1" dirty="0" smtClean="0"/>
              <a:t>Эдгар Франк Кодд</a:t>
            </a:r>
            <a:br>
              <a:rPr lang="ru-RU" sz="3600" b="1" dirty="0" smtClean="0"/>
            </a:br>
            <a:r>
              <a:rPr lang="en-US" sz="3600" i="0" dirty="0" smtClean="0"/>
              <a:t>Edgar Frank </a:t>
            </a:r>
            <a:r>
              <a:rPr lang="en-US" sz="3600" i="0" dirty="0" err="1" smtClean="0"/>
              <a:t>Codd</a:t>
            </a:r>
            <a:r>
              <a:rPr lang="ru-RU" sz="3600" i="0" dirty="0" smtClean="0"/>
              <a:t/>
            </a:r>
            <a:br>
              <a:rPr lang="ru-RU" sz="3600" i="0" dirty="0" smtClean="0"/>
            </a:br>
            <a:r>
              <a:rPr lang="ru-RU" sz="2400" dirty="0" smtClean="0"/>
              <a:t>1923 </a:t>
            </a:r>
            <a:r>
              <a:rPr lang="ru-RU" sz="2400" smtClean="0"/>
              <a:t>– 2003 </a:t>
            </a:r>
            <a:r>
              <a:rPr lang="ru-RU" sz="4000" dirty="0" smtClean="0"/>
              <a:t/>
            </a:r>
            <a:br>
              <a:rPr lang="ru-RU" sz="4000" dirty="0" smtClean="0"/>
            </a:br>
            <a:endParaRPr lang="ru-RU" sz="1400" dirty="0" smtClean="0">
              <a:solidFill>
                <a:schemeClr val="bg2"/>
              </a:solidFill>
            </a:endParaRP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500042"/>
            <a:ext cx="1357321" cy="192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520" y="2636033"/>
            <a:ext cx="8713331" cy="1466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Родился в </a:t>
            </a:r>
            <a:r>
              <a:rPr lang="ru-RU" dirty="0" err="1">
                <a:latin typeface="+mn-lt"/>
                <a:cs typeface="+mn-cs"/>
              </a:rPr>
              <a:t>Портланде</a:t>
            </a:r>
            <a:r>
              <a:rPr lang="ru-RU" dirty="0">
                <a:latin typeface="+mn-lt"/>
                <a:cs typeface="+mn-cs"/>
              </a:rPr>
              <a:t> (</a:t>
            </a:r>
            <a:r>
              <a:rPr lang="ru-RU" dirty="0" err="1">
                <a:latin typeface="+mn-lt"/>
                <a:cs typeface="+mn-cs"/>
              </a:rPr>
              <a:t>Дорсет</a:t>
            </a:r>
            <a:r>
              <a:rPr lang="ru-RU" dirty="0">
                <a:latin typeface="+mn-lt"/>
                <a:cs typeface="+mn-cs"/>
              </a:rPr>
              <a:t>) </a:t>
            </a:r>
            <a:r>
              <a:rPr lang="ru-RU" dirty="0" err="1">
                <a:latin typeface="+mn-lt"/>
                <a:cs typeface="+mn-cs"/>
              </a:rPr>
              <a:t>в</a:t>
            </a:r>
            <a:r>
              <a:rPr lang="ru-RU" dirty="0">
                <a:latin typeface="+mn-lt"/>
                <a:cs typeface="+mn-cs"/>
              </a:rPr>
              <a:t> Англии.</a:t>
            </a:r>
          </a:p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 Обучался математике и химии в Оксфордском </a:t>
            </a:r>
            <a:r>
              <a:rPr lang="ru-RU" dirty="0" smtClean="0">
                <a:latin typeface="+mn-lt"/>
                <a:cs typeface="+mn-cs"/>
              </a:rPr>
              <a:t>университете.</a:t>
            </a:r>
            <a:endParaRPr lang="ru-RU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>
                <a:latin typeface="+mn-lt"/>
                <a:cs typeface="+mn-cs"/>
              </a:rPr>
              <a:t>Работал </a:t>
            </a:r>
            <a:r>
              <a:rPr lang="ru-RU" dirty="0">
                <a:latin typeface="+mn-lt"/>
                <a:cs typeface="+mn-cs"/>
              </a:rPr>
              <a:t>в </a:t>
            </a:r>
            <a:r>
              <a:rPr lang="ru-RU" dirty="0" err="1">
                <a:latin typeface="+mn-lt"/>
                <a:cs typeface="+mn-cs"/>
              </a:rPr>
              <a:t>Альмаденском</a:t>
            </a:r>
            <a:r>
              <a:rPr lang="ru-RU" dirty="0">
                <a:latin typeface="+mn-lt"/>
                <a:cs typeface="+mn-cs"/>
              </a:rPr>
              <a:t> Исследовательском Центре </a:t>
            </a:r>
            <a:r>
              <a:rPr lang="ru-RU" dirty="0" smtClean="0">
                <a:latin typeface="+mn-lt"/>
                <a:cs typeface="+mn-cs"/>
              </a:rPr>
              <a:t>IBM,</a:t>
            </a:r>
            <a:r>
              <a:rPr lang="ru-RU" dirty="0"/>
              <a:t>  </a:t>
            </a:r>
            <a:r>
              <a:rPr lang="ru-RU" dirty="0" smtClean="0"/>
              <a:t>Сан-Хосе (Калифорния</a:t>
            </a:r>
            <a:r>
              <a:rPr lang="ru-RU" dirty="0"/>
              <a:t>),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57200"/>
            <a:ext cx="7416800" cy="955675"/>
          </a:xfrm>
        </p:spPr>
        <p:txBody>
          <a:bodyPr/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Аспекты модели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8229600" cy="4895850"/>
          </a:xfrm>
        </p:spPr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ru-RU" sz="3600" dirty="0" smtClean="0"/>
              <a:t>Структуры данных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ru-RU" sz="3600" dirty="0" smtClean="0"/>
              <a:t>Манипулирование данными</a:t>
            </a:r>
          </a:p>
          <a:p>
            <a:pPr lvl="1" eaLnBrk="1" hangingPunct="1">
              <a:buClr>
                <a:schemeClr val="hlink"/>
              </a:buClr>
              <a:buFont typeface="Wingdings" pitchFamily="2" charset="2"/>
              <a:buBlip>
                <a:blip r:embed="rId2"/>
              </a:buBlip>
            </a:pPr>
            <a:r>
              <a:rPr lang="ru-RU" sz="3200" dirty="0" smtClean="0"/>
              <a:t>Реляционная алгебра</a:t>
            </a:r>
          </a:p>
          <a:p>
            <a:pPr lvl="1" eaLnBrk="1" hangingPunct="1">
              <a:buClr>
                <a:schemeClr val="hlink"/>
              </a:buClr>
              <a:buFont typeface="Wingdings" pitchFamily="2" charset="2"/>
              <a:buBlip>
                <a:blip r:embed="rId2"/>
              </a:buBlip>
            </a:pPr>
            <a:r>
              <a:rPr lang="ru-RU" sz="3200" dirty="0" smtClean="0"/>
              <a:t>Реляционное исчисление</a:t>
            </a:r>
          </a:p>
          <a:p>
            <a:pPr lvl="2" eaLnBrk="1" hangingPunct="1">
              <a:buFont typeface="Wingdings" pitchFamily="2" charset="2"/>
              <a:buChar char="Ø"/>
            </a:pPr>
            <a:r>
              <a:rPr lang="ru-RU" sz="2800" dirty="0" smtClean="0"/>
              <a:t>на кортежах</a:t>
            </a:r>
          </a:p>
          <a:p>
            <a:pPr lvl="2" eaLnBrk="1" hangingPunct="1">
              <a:buFont typeface="Wingdings" pitchFamily="2" charset="2"/>
              <a:buChar char="Ø"/>
            </a:pPr>
            <a:r>
              <a:rPr lang="ru-RU" sz="2800" dirty="0" smtClean="0"/>
              <a:t>на доменах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ru-RU" sz="3600" dirty="0" smtClean="0"/>
              <a:t>Целостность данных</a:t>
            </a:r>
          </a:p>
          <a:p>
            <a:pPr eaLnBrk="1" hangingPunct="1"/>
            <a:endParaRPr lang="ru-RU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646"/>
            <a:ext cx="8229600" cy="540060"/>
          </a:xfrm>
        </p:spPr>
        <p:txBody>
          <a:bodyPr/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Структура данных  (1)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510" y="863715"/>
            <a:ext cx="8847983" cy="5616386"/>
          </a:xfrm>
        </p:spPr>
        <p:txBody>
          <a:bodyPr>
            <a:normAutofit fontScale="70000" lnSpcReduction="20000"/>
          </a:bodyPr>
          <a:lstStyle/>
          <a:p>
            <a:pPr marL="0" eaLnBrk="1" hangingPunct="1">
              <a:lnSpc>
                <a:spcPct val="120000"/>
              </a:lnSpc>
              <a:buNone/>
            </a:pPr>
            <a:r>
              <a:rPr lang="ru-RU" sz="2800" dirty="0" smtClean="0"/>
              <a:t>Основой структур данных в модели является теоретико-множественное понятие </a:t>
            </a:r>
            <a:r>
              <a:rPr lang="ru-RU" sz="2800" b="1" dirty="0" smtClean="0"/>
              <a:t>ОТНОШЕНИЯ</a:t>
            </a:r>
          </a:p>
          <a:p>
            <a:pPr eaLnBrk="1" hangingPunct="1">
              <a:lnSpc>
                <a:spcPct val="90000"/>
              </a:lnSpc>
              <a:buNone/>
            </a:pPr>
            <a:endParaRPr lang="ru-RU" sz="2800" b="1" dirty="0" smtClean="0"/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b="1" u="sng" dirty="0" smtClean="0"/>
              <a:t>Определение </a:t>
            </a:r>
            <a:r>
              <a:rPr lang="ru-RU" sz="2800" b="1" dirty="0" smtClean="0"/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Пусть даны </a:t>
            </a:r>
            <a:r>
              <a:rPr lang="en-US" sz="2800" dirty="0" smtClean="0"/>
              <a:t>D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D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… </a:t>
            </a:r>
            <a:r>
              <a:rPr lang="en-US" sz="2800" dirty="0" err="1" smtClean="0"/>
              <a:t>D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– </a:t>
            </a:r>
            <a:r>
              <a:rPr lang="ru-RU" sz="2800" dirty="0" smtClean="0"/>
              <a:t>множества</a:t>
            </a:r>
            <a:r>
              <a:rPr lang="ru-RU" sz="2800" dirty="0"/>
              <a:t> </a:t>
            </a:r>
            <a:r>
              <a:rPr lang="ru-RU" sz="2800" dirty="0" smtClean="0"/>
              <a:t>(домены).</a:t>
            </a:r>
          </a:p>
          <a:p>
            <a:pPr eaLnBrk="1" hangingPunct="1">
              <a:lnSpc>
                <a:spcPct val="120000"/>
              </a:lnSpc>
            </a:pPr>
            <a:r>
              <a:rPr lang="ru-RU" sz="2800" dirty="0" smtClean="0"/>
              <a:t>Декартово произведение </a:t>
            </a:r>
            <a:r>
              <a:rPr lang="en-US" sz="2800" dirty="0" smtClean="0"/>
              <a:t>D</a:t>
            </a:r>
            <a:r>
              <a:rPr lang="en-US" sz="2800" baseline="-25000" dirty="0" smtClean="0"/>
              <a:t>1 </a:t>
            </a:r>
            <a:r>
              <a:rPr lang="en-US" sz="2800" dirty="0"/>
              <a:t>x D</a:t>
            </a:r>
            <a:r>
              <a:rPr lang="en-US" sz="2800" baseline="-25000" dirty="0"/>
              <a:t>2</a:t>
            </a:r>
            <a:r>
              <a:rPr lang="en-US" sz="2800" dirty="0"/>
              <a:t> x … x</a:t>
            </a:r>
            <a:r>
              <a:rPr lang="ru-RU" sz="2800" dirty="0"/>
              <a:t> </a:t>
            </a:r>
            <a:r>
              <a:rPr lang="en-US" sz="2800" dirty="0" err="1"/>
              <a:t>D</a:t>
            </a:r>
            <a:r>
              <a:rPr lang="en-US" sz="2800" baseline="-25000" dirty="0" err="1"/>
              <a:t>n</a:t>
            </a:r>
            <a:r>
              <a:rPr lang="ru-RU" sz="2800" baseline="-25000" dirty="0"/>
              <a:t> </a:t>
            </a:r>
            <a:r>
              <a:rPr lang="ru-RU" sz="2800" dirty="0" smtClean="0"/>
              <a:t> состоит из множества кортежей </a:t>
            </a:r>
            <a:r>
              <a:rPr lang="en-US" sz="2800" dirty="0" smtClean="0"/>
              <a:t>{v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…</a:t>
            </a:r>
            <a:r>
              <a:rPr lang="ru-RU" sz="2800" dirty="0" smtClean="0"/>
              <a:t>,</a:t>
            </a:r>
            <a:r>
              <a:rPr lang="en-US" sz="2800" dirty="0" smtClean="0"/>
              <a:t> </a:t>
            </a:r>
            <a:r>
              <a:rPr lang="en-US" sz="2800" dirty="0" err="1" smtClean="0"/>
              <a:t>v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}</a:t>
            </a:r>
            <a:r>
              <a:rPr lang="ru-RU" sz="2800" dirty="0" smtClean="0"/>
              <a:t>, длины </a:t>
            </a:r>
            <a:r>
              <a:rPr lang="en-US" sz="2800" dirty="0" smtClean="0"/>
              <a:t>n, </a:t>
            </a:r>
            <a:r>
              <a:rPr lang="ru-RU" sz="2800" dirty="0" smtClean="0"/>
              <a:t>таких что </a:t>
            </a:r>
            <a:br>
              <a:rPr lang="ru-RU" sz="2800" dirty="0" smtClean="0"/>
            </a:br>
            <a:r>
              <a:rPr lang="en-US" sz="2800" dirty="0" smtClean="0"/>
              <a:t>v</a:t>
            </a:r>
            <a:r>
              <a:rPr lang="en-US" sz="2800" baseline="-25000" dirty="0" smtClean="0"/>
              <a:t>1</a:t>
            </a:r>
            <a:r>
              <a:rPr lang="ru-RU" sz="2800" baseline="-25000" dirty="0" smtClean="0"/>
              <a:t> </a:t>
            </a:r>
            <a:r>
              <a:rPr lang="el-GR" sz="2800" dirty="0" smtClean="0">
                <a:latin typeface="Times New Roman" pitchFamily="18" charset="0"/>
                <a:cs typeface="Times New Roman" pitchFamily="18" charset="0"/>
              </a:rPr>
              <a:t>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/>
              <a:t>D</a:t>
            </a:r>
            <a:r>
              <a:rPr lang="en-US" sz="2800" baseline="-25000" dirty="0" smtClean="0"/>
              <a:t>1</a:t>
            </a:r>
            <a:r>
              <a:rPr lang="ru-RU" sz="2800" dirty="0" smtClean="0"/>
              <a:t>,</a:t>
            </a:r>
            <a:r>
              <a:rPr lang="en-US" sz="2800" dirty="0"/>
              <a:t> </a:t>
            </a:r>
            <a:r>
              <a:rPr lang="en-US" sz="2800" dirty="0" smtClean="0"/>
              <a:t>v</a:t>
            </a:r>
            <a:r>
              <a:rPr lang="ru-RU" sz="2800" baseline="-25000" dirty="0" smtClean="0"/>
              <a:t>2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 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/>
              <a:t>D</a:t>
            </a:r>
            <a:r>
              <a:rPr lang="ru-RU" sz="2800" baseline="-25000" dirty="0" smtClean="0"/>
              <a:t>2</a:t>
            </a:r>
            <a:r>
              <a:rPr lang="ru-RU" sz="2800" dirty="0" smtClean="0"/>
              <a:t>, …</a:t>
            </a:r>
            <a:r>
              <a:rPr lang="en-US" sz="2800" dirty="0"/>
              <a:t> </a:t>
            </a:r>
            <a:r>
              <a:rPr lang="en-US" sz="2800" dirty="0" err="1" smtClean="0"/>
              <a:t>v</a:t>
            </a:r>
            <a:r>
              <a:rPr lang="en-US" sz="2800" baseline="-25000" dirty="0" err="1" smtClean="0"/>
              <a:t>n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 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/>
              <a:t>D</a:t>
            </a:r>
            <a:r>
              <a:rPr lang="en-US" sz="2800" baseline="-25000" dirty="0" err="1" smtClean="0"/>
              <a:t>n</a:t>
            </a:r>
            <a:endParaRPr lang="ru-RU" sz="2800" dirty="0"/>
          </a:p>
          <a:p>
            <a:pPr eaLnBrk="1" hangingPunct="1">
              <a:lnSpc>
                <a:spcPct val="120000"/>
              </a:lnSpc>
            </a:pPr>
            <a:r>
              <a:rPr lang="ru-RU" sz="2800" dirty="0" smtClean="0"/>
              <a:t>Отношением</a:t>
            </a:r>
            <a:r>
              <a:rPr lang="en-US" sz="2800" dirty="0" smtClean="0"/>
              <a:t> </a:t>
            </a:r>
            <a:r>
              <a:rPr lang="ru-RU" sz="2800" dirty="0" smtClean="0"/>
              <a:t>называется КОНЕЧНОЕ подмножество декартового произведения доменов </a:t>
            </a:r>
            <a:r>
              <a:rPr lang="en-US" sz="2800" dirty="0" smtClean="0"/>
              <a:t>D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x D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x </a:t>
            </a:r>
            <a:r>
              <a:rPr lang="en-US" sz="2800" dirty="0"/>
              <a:t>… </a:t>
            </a:r>
            <a:r>
              <a:rPr lang="en-US" sz="2800" dirty="0" err="1" smtClean="0"/>
              <a:t>xD</a:t>
            </a:r>
            <a:r>
              <a:rPr lang="en-US" sz="2800" baseline="-25000" dirty="0" err="1" smtClean="0"/>
              <a:t>n</a:t>
            </a:r>
            <a:endParaRPr lang="ru-RU" sz="2800" dirty="0"/>
          </a:p>
          <a:p>
            <a:pPr eaLnBrk="1" hangingPunct="1">
              <a:lnSpc>
                <a:spcPct val="120000"/>
              </a:lnSpc>
            </a:pPr>
            <a:r>
              <a:rPr lang="ru-RU" sz="2800" dirty="0" smtClean="0"/>
              <a:t>Запись вида </a:t>
            </a:r>
            <a:r>
              <a:rPr lang="en-US" sz="2800" dirty="0" smtClean="0"/>
              <a:t>R</a:t>
            </a:r>
            <a:r>
              <a:rPr lang="ru-RU" sz="2800" dirty="0" smtClean="0"/>
              <a:t> (А</a:t>
            </a:r>
            <a:r>
              <a:rPr lang="ru-RU" sz="2800" baseline="-25000" dirty="0" smtClean="0"/>
              <a:t>1</a:t>
            </a:r>
            <a:r>
              <a:rPr lang="ru-RU" sz="2800" dirty="0" smtClean="0"/>
              <a:t>:</a:t>
            </a:r>
            <a:r>
              <a:rPr lang="en-US" sz="2800" dirty="0" smtClean="0"/>
              <a:t>D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</a:t>
            </a:r>
            <a:r>
              <a:rPr lang="ru-RU" sz="2800" dirty="0"/>
              <a:t> </a:t>
            </a:r>
            <a:r>
              <a:rPr lang="ru-RU" sz="2800" dirty="0" smtClean="0"/>
              <a:t>А</a:t>
            </a:r>
            <a:r>
              <a:rPr lang="ru-RU" sz="2800" baseline="-25000" dirty="0" smtClean="0"/>
              <a:t>2</a:t>
            </a:r>
            <a:r>
              <a:rPr lang="ru-RU" sz="2800" dirty="0" smtClean="0"/>
              <a:t>:</a:t>
            </a:r>
            <a:r>
              <a:rPr lang="en-US" sz="2800" dirty="0" smtClean="0"/>
              <a:t>D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…</a:t>
            </a:r>
            <a:r>
              <a:rPr lang="ru-RU" sz="2800" dirty="0" smtClean="0"/>
              <a:t>,А</a:t>
            </a:r>
            <a:r>
              <a:rPr lang="en-US" sz="2800" baseline="-25000" dirty="0" smtClean="0"/>
              <a:t>k</a:t>
            </a:r>
            <a:r>
              <a:rPr lang="ru-RU" sz="2800" dirty="0" smtClean="0"/>
              <a:t>:</a:t>
            </a:r>
            <a:r>
              <a:rPr lang="en-US" sz="2800" dirty="0" err="1" smtClean="0"/>
              <a:t>D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 </a:t>
            </a:r>
            <a:r>
              <a:rPr lang="ru-RU" sz="2800" dirty="0" smtClean="0"/>
              <a:t>)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	</a:t>
            </a:r>
            <a:r>
              <a:rPr lang="ru-RU" sz="2800" dirty="0" smtClean="0"/>
              <a:t>или </a:t>
            </a:r>
            <a:r>
              <a:rPr lang="en-US" sz="2800" dirty="0"/>
              <a:t>R</a:t>
            </a:r>
            <a:r>
              <a:rPr lang="ru-RU" sz="2800" dirty="0"/>
              <a:t> (</a:t>
            </a:r>
            <a:r>
              <a:rPr lang="ru-RU" sz="2800" dirty="0" smtClean="0"/>
              <a:t>А</a:t>
            </a:r>
            <a:r>
              <a:rPr lang="ru-RU" sz="2800" baseline="-25000" dirty="0" smtClean="0"/>
              <a:t>1</a:t>
            </a:r>
            <a:r>
              <a:rPr lang="en-US" sz="2800" dirty="0" smtClean="0"/>
              <a:t>,</a:t>
            </a:r>
            <a:r>
              <a:rPr lang="ru-RU" sz="2800" dirty="0" smtClean="0"/>
              <a:t> А</a:t>
            </a:r>
            <a:r>
              <a:rPr lang="ru-RU" sz="2800" baseline="-25000" dirty="0" smtClean="0"/>
              <a:t>2</a:t>
            </a:r>
            <a:r>
              <a:rPr lang="en-US" sz="2800" dirty="0" smtClean="0"/>
              <a:t>, …</a:t>
            </a:r>
            <a:r>
              <a:rPr lang="ru-RU" sz="2800" dirty="0" smtClean="0"/>
              <a:t>,А</a:t>
            </a:r>
            <a:r>
              <a:rPr lang="en-US" sz="2800" baseline="-25000" dirty="0" smtClean="0"/>
              <a:t>k</a:t>
            </a:r>
            <a:r>
              <a:rPr lang="en-US" sz="2800" dirty="0" smtClean="0"/>
              <a:t> </a:t>
            </a:r>
            <a:r>
              <a:rPr lang="ru-RU" sz="2800" dirty="0" smtClean="0"/>
              <a:t>) называют </a:t>
            </a:r>
            <a:r>
              <a:rPr lang="ru-RU" sz="2800" b="1" dirty="0" smtClean="0"/>
              <a:t>схемой отношения ,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>где </a:t>
            </a:r>
            <a:r>
              <a:rPr lang="en-US" sz="2800" dirty="0" smtClean="0"/>
              <a:t>k ≥ n</a:t>
            </a:r>
            <a:r>
              <a:rPr lang="ru-RU" sz="2800" dirty="0" smtClean="0"/>
              <a:t>, </a:t>
            </a:r>
            <a:br>
              <a:rPr lang="ru-RU" sz="2800" dirty="0" smtClean="0"/>
            </a:br>
            <a:r>
              <a:rPr lang="en-US" sz="2400" dirty="0" smtClean="0"/>
              <a:t>R</a:t>
            </a:r>
            <a:r>
              <a:rPr lang="ru-RU" sz="2400" dirty="0" smtClean="0"/>
              <a:t> – имя  отношения, </a:t>
            </a:r>
            <a:br>
              <a:rPr lang="ru-RU" sz="2400" dirty="0" smtClean="0"/>
            </a:br>
            <a:r>
              <a:rPr lang="en-US" sz="2400" dirty="0" smtClean="0"/>
              <a:t>A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 </a:t>
            </a:r>
            <a:r>
              <a:rPr lang="ru-RU" sz="2400" dirty="0" smtClean="0"/>
              <a:t>– </a:t>
            </a:r>
            <a:r>
              <a:rPr lang="ru-RU" sz="2400" dirty="0"/>
              <a:t>имена </a:t>
            </a:r>
            <a:r>
              <a:rPr lang="ru-RU" sz="2400" dirty="0" smtClean="0"/>
              <a:t>атрибутов, </a:t>
            </a:r>
            <a:br>
              <a:rPr lang="ru-RU" sz="2400" dirty="0" smtClean="0"/>
            </a:br>
            <a:r>
              <a:rPr lang="en-US" sz="2400" dirty="0" err="1" smtClean="0"/>
              <a:t>D</a:t>
            </a:r>
            <a:r>
              <a:rPr lang="en-US" sz="2400" baseline="-25000" dirty="0" err="1" smtClean="0"/>
              <a:t>j</a:t>
            </a:r>
            <a:r>
              <a:rPr lang="en-US" sz="2400" baseline="-25000" dirty="0" smtClean="0"/>
              <a:t> </a:t>
            </a:r>
            <a:r>
              <a:rPr lang="ru-RU" sz="2400" dirty="0" smtClean="0"/>
              <a:t> - имена доменов</a:t>
            </a:r>
            <a:endParaRPr lang="ru-RU" sz="2400" b="1" dirty="0" smtClean="0"/>
          </a:p>
          <a:p>
            <a:pPr eaLnBrk="1" hangingPunct="1">
              <a:lnSpc>
                <a:spcPct val="120000"/>
              </a:lnSpc>
            </a:pPr>
            <a:r>
              <a:rPr lang="ru-RU" sz="2800" dirty="0" smtClean="0"/>
              <a:t>Все атрибуты </a:t>
            </a:r>
            <a:r>
              <a:rPr lang="en-US" sz="2800" dirty="0" smtClean="0"/>
              <a:t>A</a:t>
            </a:r>
            <a:r>
              <a:rPr lang="en-US" sz="2800" baseline="-25000" dirty="0" smtClean="0"/>
              <a:t>i</a:t>
            </a:r>
            <a:r>
              <a:rPr lang="en-US" sz="2800" dirty="0" smtClean="0"/>
              <a:t> </a:t>
            </a:r>
            <a:r>
              <a:rPr lang="ru-RU" sz="2800" dirty="0" smtClean="0"/>
              <a:t>в схеме отношения различны.</a:t>
            </a:r>
          </a:p>
          <a:p>
            <a:pPr eaLnBrk="1" hangingPunct="1">
              <a:lnSpc>
                <a:spcPct val="120000"/>
              </a:lnSpc>
            </a:pPr>
            <a:endParaRPr lang="ru-RU" sz="2400" b="1" dirty="0" smtClean="0"/>
          </a:p>
          <a:p>
            <a:pPr eaLnBrk="1" hangingPunct="1">
              <a:lnSpc>
                <a:spcPct val="120000"/>
              </a:lnSpc>
            </a:pPr>
            <a:endParaRPr lang="ru-RU" sz="2400" b="1" baseline="-250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17404" y="6248400"/>
            <a:ext cx="469395" cy="457200"/>
          </a:xfrm>
        </p:spPr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0010" y="1282226"/>
            <a:ext cx="9027495" cy="5297123"/>
          </a:xfrm>
        </p:spPr>
        <p:txBody>
          <a:bodyPr lIns="36000" tIns="36000" rIns="36000" bIns="36000">
            <a:normAutofit fontScale="92500"/>
          </a:bodyPr>
          <a:lstStyle/>
          <a:p>
            <a:pPr>
              <a:buNone/>
            </a:pPr>
            <a:r>
              <a:rPr lang="ru-RU" sz="2800" b="1" u="sng" dirty="0" smtClean="0"/>
              <a:t>Определение</a:t>
            </a:r>
            <a:r>
              <a:rPr lang="ru-RU" b="1" u="sng" dirty="0" smtClean="0"/>
              <a:t> 2</a:t>
            </a:r>
          </a:p>
          <a:p>
            <a:pPr eaLnBrk="1" hangingPunct="1"/>
            <a:r>
              <a:rPr lang="ru-RU" sz="2200" dirty="0" smtClean="0"/>
              <a:t>Пусть А</a:t>
            </a:r>
            <a:r>
              <a:rPr lang="ru-RU" sz="2200" baseline="-25000" dirty="0" smtClean="0"/>
              <a:t>1</a:t>
            </a:r>
            <a:r>
              <a:rPr lang="ru-RU" sz="2200" dirty="0" smtClean="0"/>
              <a:t>, А</a:t>
            </a:r>
            <a:r>
              <a:rPr lang="ru-RU" sz="2200" baseline="-25000" dirty="0" smtClean="0"/>
              <a:t>2</a:t>
            </a:r>
            <a:r>
              <a:rPr lang="ru-RU" sz="2200" dirty="0" smtClean="0"/>
              <a:t>,</a:t>
            </a:r>
            <a:r>
              <a:rPr lang="en-US" sz="2200" dirty="0" smtClean="0"/>
              <a:t> … A</a:t>
            </a:r>
            <a:r>
              <a:rPr lang="en-US" sz="2200" baseline="-25000" dirty="0" smtClean="0"/>
              <a:t>n</a:t>
            </a:r>
            <a:r>
              <a:rPr lang="en-US" sz="2200" dirty="0" smtClean="0"/>
              <a:t> –</a:t>
            </a:r>
            <a:r>
              <a:rPr lang="ru-RU" sz="2200" dirty="0" smtClean="0"/>
              <a:t> имена </a:t>
            </a:r>
            <a:r>
              <a:rPr lang="ru-RU" sz="2200" dirty="0"/>
              <a:t>атрибутов</a:t>
            </a:r>
            <a:r>
              <a:rPr lang="ru-RU" sz="2200" dirty="0" smtClean="0"/>
              <a:t>, </a:t>
            </a:r>
            <a:r>
              <a:rPr lang="en-US" sz="2200" dirty="0" smtClean="0"/>
              <a:t>D</a:t>
            </a:r>
            <a:r>
              <a:rPr lang="en-US" sz="2200" baseline="-25000" dirty="0" smtClean="0"/>
              <a:t>1</a:t>
            </a:r>
            <a:r>
              <a:rPr lang="en-US" sz="2200" dirty="0" smtClean="0"/>
              <a:t>, D</a:t>
            </a:r>
            <a:r>
              <a:rPr lang="en-US" sz="2200" baseline="-25000" dirty="0" smtClean="0"/>
              <a:t>2</a:t>
            </a:r>
            <a:r>
              <a:rPr lang="en-US" sz="2200" dirty="0" smtClean="0"/>
              <a:t>, … D</a:t>
            </a:r>
            <a:r>
              <a:rPr lang="en-US" sz="2200" baseline="-25000" dirty="0" smtClean="0"/>
              <a:t>m</a:t>
            </a:r>
            <a:r>
              <a:rPr lang="en-US" sz="2200" dirty="0" smtClean="0"/>
              <a:t> – </a:t>
            </a:r>
            <a:r>
              <a:rPr lang="ru-RU" sz="2200" dirty="0" smtClean="0"/>
              <a:t>имена доменов.</a:t>
            </a:r>
          </a:p>
          <a:p>
            <a:pPr eaLnBrk="1" hangingPunct="1"/>
            <a:r>
              <a:rPr lang="ru-RU" sz="2200" dirty="0" smtClean="0"/>
              <a:t>Конечное множество пар вида </a:t>
            </a:r>
            <a:r>
              <a:rPr lang="en-US" sz="2200" dirty="0" smtClean="0"/>
              <a:t>{&lt;</a:t>
            </a:r>
            <a:r>
              <a:rPr lang="en-US" sz="2200" dirty="0" err="1" smtClean="0"/>
              <a:t>A</a:t>
            </a:r>
            <a:r>
              <a:rPr lang="en-US" sz="2200" baseline="-25000" dirty="0" err="1" smtClean="0"/>
              <a:t>i</a:t>
            </a:r>
            <a:r>
              <a:rPr lang="en-US" sz="2200" dirty="0" err="1" smtClean="0"/>
              <a:t>,D</a:t>
            </a:r>
            <a:r>
              <a:rPr lang="en-US" sz="2200" baseline="-25000" dirty="0" err="1" smtClean="0"/>
              <a:t>j</a:t>
            </a:r>
            <a:r>
              <a:rPr lang="en-US" sz="2200" dirty="0" smtClean="0"/>
              <a:t>&gt;} </a:t>
            </a:r>
            <a:r>
              <a:rPr lang="ru-RU" sz="2200" dirty="0" smtClean="0"/>
              <a:t>называется схемой</a:t>
            </a:r>
            <a:r>
              <a:rPr lang="en-US" sz="2200" dirty="0" smtClean="0"/>
              <a:t> </a:t>
            </a:r>
            <a:r>
              <a:rPr lang="ru-RU" sz="2200" dirty="0" smtClean="0"/>
              <a:t>отношения,</a:t>
            </a:r>
            <a:r>
              <a:rPr lang="en-US" sz="2200" dirty="0" smtClean="0"/>
              <a:t> </a:t>
            </a:r>
            <a:r>
              <a:rPr lang="ru-RU" sz="2200" dirty="0" smtClean="0"/>
              <a:t>если А</a:t>
            </a:r>
            <a:r>
              <a:rPr lang="en-US" sz="2200" baseline="-25000" dirty="0" smtClean="0"/>
              <a:t>t</a:t>
            </a:r>
            <a:r>
              <a:rPr lang="ru-RU" sz="2200" dirty="0" smtClean="0"/>
              <a:t> ≠</a:t>
            </a:r>
            <a:r>
              <a:rPr lang="en-US" sz="2200" dirty="0" smtClean="0"/>
              <a:t> A</a:t>
            </a:r>
            <a:r>
              <a:rPr lang="en-US" sz="2200" baseline="-25000" dirty="0" smtClean="0"/>
              <a:t>s</a:t>
            </a:r>
            <a:r>
              <a:rPr lang="en-US" sz="2200" dirty="0" smtClean="0"/>
              <a:t> , </a:t>
            </a:r>
            <a:r>
              <a:rPr lang="ru-RU" sz="2200" dirty="0" smtClean="0"/>
              <a:t>при </a:t>
            </a:r>
            <a:r>
              <a:rPr lang="en-US" sz="2200" dirty="0" smtClean="0"/>
              <a:t>t </a:t>
            </a:r>
            <a:r>
              <a:rPr lang="ru-RU" sz="2200" dirty="0" smtClean="0"/>
              <a:t>≠</a:t>
            </a:r>
            <a:r>
              <a:rPr lang="en-US" sz="2200" dirty="0" smtClean="0"/>
              <a:t> s</a:t>
            </a:r>
            <a:r>
              <a:rPr lang="ru-RU" sz="2200" dirty="0" smtClean="0"/>
              <a:t>. Имена доменов для разных атрибутов могут совпадать. </a:t>
            </a:r>
            <a:endParaRPr lang="ru-RU" sz="2200" baseline="-25000" dirty="0" smtClean="0"/>
          </a:p>
          <a:p>
            <a:pPr eaLnBrk="1" hangingPunct="1"/>
            <a:r>
              <a:rPr lang="ru-RU" sz="2200" dirty="0" smtClean="0"/>
              <a:t>Множество пар </a:t>
            </a:r>
            <a:r>
              <a:rPr lang="en-US" sz="2200" dirty="0" smtClean="0"/>
              <a:t>&lt;</a:t>
            </a:r>
            <a:r>
              <a:rPr lang="en-US" sz="2200" dirty="0" err="1" smtClean="0"/>
              <a:t>A</a:t>
            </a:r>
            <a:r>
              <a:rPr lang="en-US" sz="2200" baseline="-25000" dirty="0" err="1" smtClean="0"/>
              <a:t>i</a:t>
            </a:r>
            <a:r>
              <a:rPr lang="en-US" sz="2200" dirty="0" err="1" smtClean="0"/>
              <a:t>,d</a:t>
            </a:r>
            <a:r>
              <a:rPr lang="en-US" sz="2200" baseline="-25000" dirty="0" err="1" smtClean="0"/>
              <a:t>j</a:t>
            </a:r>
            <a:r>
              <a:rPr lang="en-US" sz="2200" dirty="0" smtClean="0"/>
              <a:t>&gt;</a:t>
            </a:r>
            <a:r>
              <a:rPr lang="ru-RU" sz="2200" dirty="0" smtClean="0"/>
              <a:t> </a:t>
            </a:r>
            <a:r>
              <a:rPr lang="ru-RU" sz="2200" dirty="0"/>
              <a:t>называется кортежем </a:t>
            </a:r>
            <a:r>
              <a:rPr lang="ru-RU" sz="2200" dirty="0" smtClean="0"/>
              <a:t>отношения.</a:t>
            </a:r>
            <a:br>
              <a:rPr lang="ru-RU" sz="2200" dirty="0" smtClean="0"/>
            </a:br>
            <a:r>
              <a:rPr lang="ru-RU" sz="2200" dirty="0" smtClean="0"/>
              <a:t>где </a:t>
            </a:r>
            <a:r>
              <a:rPr lang="en-US" sz="2200" dirty="0" smtClean="0"/>
              <a:t>A</a:t>
            </a:r>
            <a:r>
              <a:rPr lang="en-US" sz="2200" baseline="-25000" dirty="0" smtClean="0"/>
              <a:t>i</a:t>
            </a:r>
            <a:r>
              <a:rPr lang="ru-RU" sz="2200" dirty="0" smtClean="0"/>
              <a:t>  – имя атрибута из А</a:t>
            </a:r>
            <a:r>
              <a:rPr lang="ru-RU" sz="2200" baseline="-25000" dirty="0" smtClean="0"/>
              <a:t>1</a:t>
            </a:r>
            <a:r>
              <a:rPr lang="ru-RU" sz="2200" dirty="0" smtClean="0"/>
              <a:t>, А</a:t>
            </a:r>
            <a:r>
              <a:rPr lang="ru-RU" sz="2200" baseline="-25000" dirty="0" smtClean="0"/>
              <a:t>2</a:t>
            </a:r>
            <a:r>
              <a:rPr lang="ru-RU" sz="2200" dirty="0" smtClean="0"/>
              <a:t>,</a:t>
            </a:r>
            <a:r>
              <a:rPr lang="en-US" sz="2200" dirty="0" smtClean="0"/>
              <a:t> … A</a:t>
            </a:r>
            <a:r>
              <a:rPr lang="en-US" sz="2200" baseline="-25000" dirty="0" smtClean="0"/>
              <a:t>n</a:t>
            </a:r>
            <a:r>
              <a:rPr lang="ru-RU" sz="2200" dirty="0" smtClean="0"/>
              <a:t>, а</a:t>
            </a:r>
            <a:r>
              <a:rPr lang="en-US" sz="2200" dirty="0" smtClean="0"/>
              <a:t> </a:t>
            </a:r>
            <a:r>
              <a:rPr lang="ru-RU" sz="2200" dirty="0" smtClean="0"/>
              <a:t>  </a:t>
            </a:r>
            <a:r>
              <a:rPr lang="en-US" sz="2200" dirty="0" err="1" smtClean="0"/>
              <a:t>d</a:t>
            </a:r>
            <a:r>
              <a:rPr lang="en-US" sz="2200" baseline="-25000" dirty="0" err="1" smtClean="0"/>
              <a:t>j</a:t>
            </a:r>
            <a:r>
              <a:rPr lang="en-US" sz="2200" dirty="0" smtClean="0"/>
              <a:t> </a:t>
            </a:r>
            <a:r>
              <a:rPr lang="ru-RU" sz="2200" dirty="0"/>
              <a:t> </a:t>
            </a:r>
            <a:r>
              <a:rPr lang="ru-RU" sz="2200" dirty="0" smtClean="0"/>
              <a:t>из </a:t>
            </a:r>
            <a:r>
              <a:rPr lang="en-US" sz="2200" dirty="0" err="1" smtClean="0"/>
              <a:t>D</a:t>
            </a:r>
            <a:r>
              <a:rPr lang="en-US" sz="2200" baseline="-25000" dirty="0" err="1" smtClean="0"/>
              <a:t>j</a:t>
            </a:r>
            <a:r>
              <a:rPr lang="en-US" sz="2200" dirty="0" smtClean="0"/>
              <a:t> </a:t>
            </a:r>
            <a:endParaRPr lang="ru-RU" sz="2200" dirty="0" smtClean="0"/>
          </a:p>
          <a:p>
            <a:pPr eaLnBrk="1" hangingPunct="1"/>
            <a:r>
              <a:rPr lang="ru-RU" sz="2200" dirty="0" smtClean="0"/>
              <a:t>Множество кортежей, соответствующих одной схеме отношения называется отношением</a:t>
            </a:r>
            <a:endParaRPr lang="en-US" sz="2200" dirty="0" smtClean="0"/>
          </a:p>
          <a:p>
            <a:pPr eaLnBrk="1" hangingPunct="1"/>
            <a:r>
              <a:rPr lang="ru-RU" sz="2200" dirty="0" smtClean="0"/>
              <a:t>Число атрибутов в отношении – </a:t>
            </a:r>
            <a:r>
              <a:rPr lang="ru-RU" sz="2200" b="1" dirty="0" smtClean="0"/>
              <a:t>степень отношения</a:t>
            </a:r>
          </a:p>
          <a:p>
            <a:pPr eaLnBrk="1" hangingPunct="1"/>
            <a:r>
              <a:rPr lang="ru-RU" sz="2200" dirty="0" smtClean="0"/>
              <a:t>Число кортежей в отношении – </a:t>
            </a:r>
            <a:r>
              <a:rPr lang="ru-RU" sz="2200" b="1" dirty="0" smtClean="0"/>
              <a:t>кардинальное число</a:t>
            </a:r>
            <a:r>
              <a:rPr lang="ru-RU" sz="2200" dirty="0" smtClean="0"/>
              <a:t> </a:t>
            </a:r>
          </a:p>
          <a:p>
            <a:pPr>
              <a:buNone/>
            </a:pPr>
            <a:r>
              <a:rPr lang="ru-RU" sz="2400" b="1" dirty="0" smtClean="0"/>
              <a:t>Примеры. </a:t>
            </a:r>
            <a:r>
              <a:rPr lang="ru-RU" sz="2400" dirty="0" smtClean="0"/>
              <a:t>Пусть </a:t>
            </a:r>
            <a:r>
              <a:rPr lang="en-US" sz="2400" dirty="0" smtClean="0"/>
              <a:t>n=2, D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=(0,1), D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=(</a:t>
            </a:r>
            <a:r>
              <a:rPr lang="en-US" sz="2400" dirty="0" err="1" smtClean="0"/>
              <a:t>a,b,c</a:t>
            </a:r>
            <a:r>
              <a:rPr lang="en-US" sz="2400" dirty="0" smtClean="0"/>
              <a:t>).</a:t>
            </a:r>
            <a:r>
              <a:rPr lang="ru-RU" sz="2400" dirty="0" smtClean="0"/>
              <a:t> </a:t>
            </a:r>
            <a:endParaRPr lang="en-US" sz="2400" dirty="0" smtClean="0"/>
          </a:p>
          <a:p>
            <a:pPr>
              <a:buNone/>
            </a:pPr>
            <a:r>
              <a:rPr lang="ru-RU" sz="2400" dirty="0" smtClean="0"/>
              <a:t>Тогда </a:t>
            </a:r>
            <a:r>
              <a:rPr lang="en-US" sz="2400" dirty="0" smtClean="0"/>
              <a:t> </a:t>
            </a:r>
            <a:r>
              <a:rPr lang="ru-RU" sz="2400" dirty="0" smtClean="0"/>
              <a:t>отношение </a:t>
            </a:r>
            <a:r>
              <a:rPr lang="en-US" sz="2400" dirty="0" smtClean="0"/>
              <a:t>R (A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 A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</a:t>
            </a:r>
            <a:r>
              <a:rPr lang="ru-RU" sz="2400" dirty="0" smtClean="0"/>
              <a:t>есть </a:t>
            </a:r>
            <a:r>
              <a:rPr lang="en-US" sz="2400" dirty="0" smtClean="0"/>
              <a:t>{ (0,a), (0,b), (0,c), (1,a), (1,b), (1,c) }</a:t>
            </a:r>
            <a:endParaRPr lang="ru-RU" sz="2400" baseline="-25000" dirty="0" smtClean="0"/>
          </a:p>
          <a:p>
            <a:pPr>
              <a:buNone/>
            </a:pPr>
            <a:endParaRPr lang="ru-RU" sz="2400" b="1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endParaRPr lang="ru-RU" b="1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Структура данных (2)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95250" cy="180975"/>
          </a:xfrm>
          <a:prstGeom prst="rect">
            <a:avLst/>
          </a:prstGeom>
          <a:noFill/>
        </p:spPr>
      </p:pic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95250" cy="180975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95250" cy="180975"/>
          </a:xfrm>
          <a:prstGeom prst="rect">
            <a:avLst/>
          </a:prstGeom>
          <a:noFill/>
        </p:spPr>
      </p:pic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548680"/>
            <a:ext cx="8218487" cy="307975"/>
          </a:xfrm>
        </p:spPr>
        <p:txBody>
          <a:bodyPr/>
          <a:lstStyle/>
          <a:p>
            <a:pPr algn="ctr" eaLnBrk="1" hangingPunct="1"/>
            <a:r>
              <a:rPr lang="ru-RU" sz="3600" dirty="0" smtClean="0">
                <a:solidFill>
                  <a:schemeClr val="bg2"/>
                </a:solidFill>
              </a:rPr>
              <a:t>Неформальные определения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4744"/>
            <a:ext cx="8640960" cy="547260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sz="2400" dirty="0"/>
              <a:t>Неформально</a:t>
            </a:r>
            <a:r>
              <a:rPr lang="en-US" sz="2400" dirty="0"/>
              <a:t>, </a:t>
            </a:r>
            <a:r>
              <a:rPr lang="ru-RU" sz="2400" b="1" dirty="0"/>
              <a:t>отношение</a:t>
            </a:r>
            <a:r>
              <a:rPr lang="en-US" sz="2400" dirty="0"/>
              <a:t> </a:t>
            </a:r>
            <a:r>
              <a:rPr lang="ru-RU" sz="2400" dirty="0"/>
              <a:t>- это </a:t>
            </a:r>
            <a:r>
              <a:rPr lang="ru-RU" sz="2400" b="1" i="1" dirty="0" smtClean="0"/>
              <a:t>двумерная</a:t>
            </a:r>
            <a:r>
              <a:rPr lang="ru-RU" sz="2400" dirty="0" smtClean="0"/>
              <a:t> </a:t>
            </a:r>
            <a:r>
              <a:rPr lang="ru-RU" sz="2400" b="1" i="1" dirty="0" smtClean="0"/>
              <a:t>таблица </a:t>
            </a:r>
            <a:r>
              <a:rPr lang="ru-RU" sz="2400" dirty="0"/>
              <a:t>данных, состоящая из </a:t>
            </a:r>
            <a:r>
              <a:rPr lang="ru-RU" sz="2400" b="1" dirty="0"/>
              <a:t>строк</a:t>
            </a:r>
            <a:r>
              <a:rPr lang="ru-RU" sz="2400" dirty="0"/>
              <a:t>, </a:t>
            </a:r>
            <a:r>
              <a:rPr lang="ru-RU" sz="2400" b="1" dirty="0"/>
              <a:t>столбцов</a:t>
            </a:r>
            <a:r>
              <a:rPr lang="en-US" sz="2400" dirty="0"/>
              <a:t>.</a:t>
            </a:r>
          </a:p>
          <a:p>
            <a:pPr eaLnBrk="1" hangingPunct="1">
              <a:defRPr/>
            </a:pPr>
            <a:r>
              <a:rPr lang="ru-RU" sz="2400" dirty="0"/>
              <a:t>Каждая строка содержит </a:t>
            </a:r>
            <a:r>
              <a:rPr lang="ru-RU" sz="2400" b="1" dirty="0"/>
              <a:t>набор элементов </a:t>
            </a:r>
            <a:r>
              <a:rPr lang="ru-RU" sz="2400" dirty="0" smtClean="0"/>
              <a:t>данных о некоторых </a:t>
            </a:r>
            <a:r>
              <a:rPr lang="ru-RU" sz="2400" b="1" dirty="0" smtClean="0"/>
              <a:t>сущностях </a:t>
            </a:r>
            <a:r>
              <a:rPr lang="ru-RU" sz="2400" b="1" dirty="0"/>
              <a:t>или </a:t>
            </a:r>
            <a:r>
              <a:rPr lang="ru-RU" sz="2400" b="1" dirty="0" smtClean="0"/>
              <a:t>связях</a:t>
            </a:r>
          </a:p>
          <a:p>
            <a:pPr lvl="1" eaLnBrk="1" hangingPunct="1">
              <a:buClr>
                <a:srgbClr val="DE4110"/>
              </a:buClr>
              <a:buFont typeface="Wingdings" pitchFamily="2" charset="2"/>
              <a:buChar char="Ø"/>
              <a:defRPr/>
            </a:pPr>
            <a:r>
              <a:rPr lang="ru-RU" sz="2000" dirty="0" smtClean="0"/>
              <a:t>В формальной модели строки называются кортежами</a:t>
            </a:r>
            <a:endParaRPr lang="ru-RU" sz="2400" b="1" dirty="0" smtClean="0"/>
          </a:p>
          <a:p>
            <a:pPr eaLnBrk="1" hangingPunct="1">
              <a:defRPr/>
            </a:pPr>
            <a:r>
              <a:rPr lang="ru-RU" sz="2400" dirty="0" smtClean="0"/>
              <a:t>Каждый столбец содержит данные некоторого атрибута</a:t>
            </a:r>
            <a:endParaRPr lang="ru-RU" sz="2400" dirty="0"/>
          </a:p>
          <a:p>
            <a:pPr eaLnBrk="1" hangingPunct="1">
              <a:defRPr/>
            </a:pPr>
            <a:r>
              <a:rPr lang="ru-RU" sz="2400" dirty="0" smtClean="0"/>
              <a:t>Каждый </a:t>
            </a:r>
            <a:r>
              <a:rPr lang="ru-RU" sz="2400" dirty="0"/>
              <a:t>столбец имеет </a:t>
            </a:r>
            <a:r>
              <a:rPr lang="ru-RU" sz="2400" b="1" dirty="0"/>
              <a:t>заголовок</a:t>
            </a:r>
            <a:r>
              <a:rPr lang="ru-RU" sz="2400" dirty="0"/>
              <a:t>, что позволяет судить о значении элементов данных в этом столбце </a:t>
            </a:r>
            <a:endParaRPr lang="en-US" sz="2400" dirty="0"/>
          </a:p>
          <a:p>
            <a:pPr lvl="1" eaLnBrk="1" hangingPunct="1">
              <a:buClr>
                <a:srgbClr val="DE4110"/>
              </a:buClr>
              <a:buFont typeface="Wingdings" pitchFamily="2" charset="2"/>
              <a:buChar char="Ø"/>
              <a:defRPr/>
            </a:pPr>
            <a:r>
              <a:rPr lang="ru-RU" sz="2000" dirty="0"/>
              <a:t>В формальной модели заголовок столбца, называется </a:t>
            </a:r>
            <a:r>
              <a:rPr lang="ru-RU" sz="2000" b="1" dirty="0"/>
              <a:t>именем атрибута</a:t>
            </a:r>
            <a:r>
              <a:rPr lang="ru-RU" sz="2000" dirty="0"/>
              <a:t> (или просто </a:t>
            </a:r>
            <a:r>
              <a:rPr lang="ru-RU" sz="2000" b="1" dirty="0"/>
              <a:t>атрибут</a:t>
            </a:r>
            <a:r>
              <a:rPr lang="ru-RU" sz="2000" dirty="0"/>
              <a:t>) </a:t>
            </a:r>
          </a:p>
          <a:p>
            <a:pPr marL="342900" lvl="1" indent="-342900" eaLnBrk="1" hangingPunct="1"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sz="2400" dirty="0"/>
              <a:t>Схема отношения – имя отношения с набором атрибутов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719138"/>
          </a:xfrm>
        </p:spPr>
        <p:txBody>
          <a:bodyPr/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Пример отношения</a:t>
            </a:r>
          </a:p>
        </p:txBody>
      </p:sp>
      <p:graphicFrame>
        <p:nvGraphicFramePr>
          <p:cNvPr id="9385" name="Group 169"/>
          <p:cNvGraphicFramePr>
            <a:graphicFrameLocks noGrp="1"/>
          </p:cNvGraphicFramePr>
          <p:nvPr>
            <p:ph idx="1"/>
          </p:nvPr>
        </p:nvGraphicFramePr>
        <p:xfrm>
          <a:off x="1258888" y="2636838"/>
          <a:ext cx="7527925" cy="3174048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Имя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№ студ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тел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адрес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возраст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балл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Иванов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090041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330-15-34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Терешковой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40 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Петров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090042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330-87-38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Ученых,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4.05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Сидоров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230-15-32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Морской,2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Голубев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090141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335-42-43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Правды,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Федоров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090142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231-48-32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Пирогова, 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4.50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Костин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090086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330-45-44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Мальцева,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4.90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373" name="Group 157"/>
          <p:cNvGraphicFramePr>
            <a:graphicFrameLocks noGrp="1"/>
          </p:cNvGraphicFramePr>
          <p:nvPr/>
        </p:nvGraphicFramePr>
        <p:xfrm>
          <a:off x="1116013" y="1989138"/>
          <a:ext cx="1584325" cy="45720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Студенты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31" name="Text Box 154"/>
          <p:cNvSpPr txBox="1">
            <a:spLocks noChangeArrowheads="1"/>
          </p:cNvSpPr>
          <p:nvPr/>
        </p:nvSpPr>
        <p:spPr bwMode="auto">
          <a:xfrm>
            <a:off x="900113" y="1268413"/>
            <a:ext cx="1873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/>
              <a:t>Имя отношения</a:t>
            </a:r>
          </a:p>
        </p:txBody>
      </p:sp>
      <p:sp>
        <p:nvSpPr>
          <p:cNvPr id="7232" name="Text Box 155"/>
          <p:cNvSpPr txBox="1">
            <a:spLocks noChangeArrowheads="1"/>
          </p:cNvSpPr>
          <p:nvPr/>
        </p:nvSpPr>
        <p:spPr bwMode="auto">
          <a:xfrm>
            <a:off x="4500563" y="1268413"/>
            <a:ext cx="1873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Атрибуты </a:t>
            </a:r>
          </a:p>
        </p:txBody>
      </p:sp>
      <p:sp>
        <p:nvSpPr>
          <p:cNvPr id="9372" name="Text Box 156"/>
          <p:cNvSpPr txBox="1">
            <a:spLocks noChangeArrowheads="1"/>
          </p:cNvSpPr>
          <p:nvPr/>
        </p:nvSpPr>
        <p:spPr bwMode="auto">
          <a:xfrm>
            <a:off x="176510" y="3351602"/>
            <a:ext cx="461665" cy="22320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vert270" anchor="b" anchorCtr="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/>
              <a:t>кортежи</a:t>
            </a:r>
          </a:p>
        </p:txBody>
      </p:sp>
      <p:sp>
        <p:nvSpPr>
          <p:cNvPr id="7234" name="Line 158"/>
          <p:cNvSpPr>
            <a:spLocks noChangeShapeType="1"/>
          </p:cNvSpPr>
          <p:nvPr/>
        </p:nvSpPr>
        <p:spPr bwMode="auto">
          <a:xfrm flipH="1">
            <a:off x="2411413" y="1628775"/>
            <a:ext cx="2305050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5" name="Line 159"/>
          <p:cNvSpPr>
            <a:spLocks noChangeShapeType="1"/>
          </p:cNvSpPr>
          <p:nvPr/>
        </p:nvSpPr>
        <p:spPr bwMode="auto">
          <a:xfrm flipH="1">
            <a:off x="3059113" y="1700213"/>
            <a:ext cx="1944687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6" name="Line 160"/>
          <p:cNvSpPr>
            <a:spLocks noChangeShapeType="1"/>
          </p:cNvSpPr>
          <p:nvPr/>
        </p:nvSpPr>
        <p:spPr bwMode="auto">
          <a:xfrm flipH="1">
            <a:off x="4067175" y="1700213"/>
            <a:ext cx="1152525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7" name="Line 161"/>
          <p:cNvSpPr>
            <a:spLocks noChangeShapeType="1"/>
          </p:cNvSpPr>
          <p:nvPr/>
        </p:nvSpPr>
        <p:spPr bwMode="auto">
          <a:xfrm>
            <a:off x="5508625" y="1700213"/>
            <a:ext cx="71438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8" name="Line 162"/>
          <p:cNvSpPr>
            <a:spLocks noChangeShapeType="1"/>
          </p:cNvSpPr>
          <p:nvPr/>
        </p:nvSpPr>
        <p:spPr bwMode="auto">
          <a:xfrm>
            <a:off x="5795963" y="1700213"/>
            <a:ext cx="1512887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9" name="Line 163"/>
          <p:cNvSpPr>
            <a:spLocks noChangeShapeType="1"/>
          </p:cNvSpPr>
          <p:nvPr/>
        </p:nvSpPr>
        <p:spPr bwMode="auto">
          <a:xfrm>
            <a:off x="6084888" y="1628775"/>
            <a:ext cx="2232025" cy="1008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0" name="Line 164"/>
          <p:cNvSpPr>
            <a:spLocks noChangeShapeType="1"/>
          </p:cNvSpPr>
          <p:nvPr/>
        </p:nvSpPr>
        <p:spPr bwMode="auto">
          <a:xfrm flipV="1">
            <a:off x="611188" y="3357563"/>
            <a:ext cx="576262" cy="719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1" name="Line 165"/>
          <p:cNvSpPr>
            <a:spLocks noChangeShapeType="1"/>
          </p:cNvSpPr>
          <p:nvPr/>
        </p:nvSpPr>
        <p:spPr bwMode="auto">
          <a:xfrm flipV="1">
            <a:off x="611188" y="3860800"/>
            <a:ext cx="649287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2" name="Line 166"/>
          <p:cNvSpPr>
            <a:spLocks noChangeShapeType="1"/>
          </p:cNvSpPr>
          <p:nvPr/>
        </p:nvSpPr>
        <p:spPr bwMode="auto">
          <a:xfrm flipV="1">
            <a:off x="611188" y="4292600"/>
            <a:ext cx="577850" cy="73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3" name="Line 167"/>
          <p:cNvSpPr>
            <a:spLocks noChangeShapeType="1"/>
          </p:cNvSpPr>
          <p:nvPr/>
        </p:nvSpPr>
        <p:spPr bwMode="auto">
          <a:xfrm>
            <a:off x="611188" y="4581525"/>
            <a:ext cx="650875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4" name="Line 170"/>
          <p:cNvSpPr>
            <a:spLocks noChangeShapeType="1"/>
          </p:cNvSpPr>
          <p:nvPr/>
        </p:nvSpPr>
        <p:spPr bwMode="auto">
          <a:xfrm>
            <a:off x="611188" y="4724400"/>
            <a:ext cx="579437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5" name="Line 171"/>
          <p:cNvSpPr>
            <a:spLocks noChangeShapeType="1"/>
          </p:cNvSpPr>
          <p:nvPr/>
        </p:nvSpPr>
        <p:spPr bwMode="auto">
          <a:xfrm>
            <a:off x="611188" y="4868863"/>
            <a:ext cx="579437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6" name="Line 172"/>
          <p:cNvSpPr>
            <a:spLocks noChangeShapeType="1"/>
          </p:cNvSpPr>
          <p:nvPr/>
        </p:nvSpPr>
        <p:spPr bwMode="auto">
          <a:xfrm>
            <a:off x="1835150" y="162877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7" name="TextBox 1"/>
          <p:cNvSpPr txBox="1">
            <a:spLocks noChangeArrowheads="1"/>
          </p:cNvSpPr>
          <p:nvPr/>
        </p:nvSpPr>
        <p:spPr bwMode="auto">
          <a:xfrm>
            <a:off x="250825" y="6165850"/>
            <a:ext cx="88931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Схема </a:t>
            </a:r>
            <a:r>
              <a:rPr lang="ru-RU" sz="2400" dirty="0"/>
              <a:t>- Студенты (имя, № студ, тел, адрес, возраст, балл)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0B0FB5-67E8-478F-B0E5-575DC23C0C01}" type="slidenum">
              <a:rPr lang="ru-RU" smtClean="0"/>
              <a:pPr>
                <a:defRPr/>
              </a:pPr>
              <a:t>7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379512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Основные понятия в РМД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124744"/>
            <a:ext cx="8469172" cy="5454606"/>
          </a:xfrm>
          <a:noFill/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ru-RU" sz="2800" dirty="0" smtClean="0"/>
              <a:t>Основные понятия в РМД: </a:t>
            </a:r>
            <a:endParaRPr lang="en-US" sz="2800" dirty="0" smtClean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отношение, </a:t>
            </a:r>
            <a:endParaRPr lang="en-US" sz="2400" dirty="0" smtClean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кортеж, </a:t>
            </a:r>
            <a:endParaRPr lang="en-US" sz="2400" dirty="0" smtClean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атрибут, </a:t>
            </a:r>
            <a:endParaRPr lang="en-US" sz="2400" dirty="0" smtClean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домен, </a:t>
            </a:r>
            <a:endParaRPr lang="en-US" sz="2400" dirty="0" smtClean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тип данных, </a:t>
            </a:r>
            <a:endParaRPr lang="en-US" sz="2400" dirty="0" smtClean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ключ</a:t>
            </a:r>
          </a:p>
          <a:p>
            <a:pPr eaLnBrk="1" hangingPunct="1"/>
            <a:r>
              <a:rPr lang="ru-RU" sz="2800" b="1" dirty="0" smtClean="0"/>
              <a:t>Тип данных БД </a:t>
            </a:r>
            <a:r>
              <a:rPr lang="ru-RU" sz="2800" dirty="0" smtClean="0"/>
              <a:t>полностью адекватен </a:t>
            </a:r>
            <a:br>
              <a:rPr lang="ru-RU" sz="2800" dirty="0" smtClean="0"/>
            </a:br>
            <a:r>
              <a:rPr lang="ru-RU" sz="2800" b="1" dirty="0" smtClean="0"/>
              <a:t>типу данных в языках программирования</a:t>
            </a:r>
          </a:p>
          <a:p>
            <a:pPr marL="0" indent="0" eaLnBrk="1" hangingPunct="1">
              <a:buNone/>
            </a:pPr>
            <a:r>
              <a:rPr lang="ru-RU" sz="2800" dirty="0"/>
              <a:t> </a:t>
            </a:r>
            <a:r>
              <a:rPr lang="ru-RU" sz="2800" dirty="0" smtClean="0"/>
              <a:t>   Обычно допускается хранение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символьных данных (строки),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числовых данных (целые и вещественные</a:t>
            </a:r>
            <a:r>
              <a:rPr lang="ru-RU" sz="2400" dirty="0" smtClean="0"/>
              <a:t>),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битовых строк,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даты, времени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с</a:t>
            </a:r>
            <a:r>
              <a:rPr lang="ru-RU" sz="2400" dirty="0" smtClean="0"/>
              <a:t>пециальные числовые данные (деньги)</a:t>
            </a:r>
          </a:p>
          <a:p>
            <a:pPr lvl="1" eaLnBrk="1" hangingPunct="1"/>
            <a:endParaRPr lang="ru-RU" sz="2400" dirty="0"/>
          </a:p>
          <a:p>
            <a:pPr lvl="1" eaLnBrk="1" hangingPunct="1">
              <a:buFont typeface="Wingdings" pitchFamily="2" charset="2"/>
              <a:buNone/>
            </a:pPr>
            <a:endParaRPr lang="en-US" sz="2300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84576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Домен – понятие специфичное для баз данных</a:t>
            </a:r>
          </a:p>
          <a:p>
            <a:r>
              <a:rPr lang="ru-RU" dirty="0" smtClean="0"/>
              <a:t>Домен задается </a:t>
            </a:r>
            <a:r>
              <a:rPr lang="ru-RU" b="1" dirty="0" smtClean="0"/>
              <a:t>базовым типом </a:t>
            </a:r>
            <a:r>
              <a:rPr lang="ru-RU" dirty="0" smtClean="0"/>
              <a:t>и логическим выражением, определяющим элементы домена</a:t>
            </a:r>
          </a:p>
          <a:p>
            <a:pPr>
              <a:buNone/>
            </a:pPr>
            <a:r>
              <a:rPr lang="ru-RU" u="sng" dirty="0" smtClean="0"/>
              <a:t>Пример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Домен ИМЕНА может базироваться на строковом типе, но содержать только те строки, которые НЕ начинаются на </a:t>
            </a:r>
          </a:p>
          <a:p>
            <a:pPr>
              <a:buNone/>
            </a:pPr>
            <a:r>
              <a:rPr lang="ru-RU" dirty="0" smtClean="0"/>
              <a:t>   Ъ или Ь знак</a:t>
            </a:r>
            <a:endParaRPr lang="ru-RU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379512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Домен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959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511" y="889195"/>
            <a:ext cx="8865984" cy="564515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dirty="0" smtClean="0"/>
              <a:t>Атрибут или множество атрибутов</a:t>
            </a:r>
            <a:r>
              <a:rPr lang="ru-RU" b="1" dirty="0" smtClean="0"/>
              <a:t>, </a:t>
            </a:r>
            <a:r>
              <a:rPr lang="ru-RU" b="1" i="1" spc="-50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однозначно определяющих кортеж в отношении</a:t>
            </a:r>
            <a:r>
              <a:rPr lang="ru-RU" dirty="0" smtClean="0"/>
              <a:t>, называется </a:t>
            </a:r>
            <a:r>
              <a:rPr lang="ru-RU" b="1" dirty="0" smtClean="0">
                <a:solidFill>
                  <a:schemeClr val="bg2"/>
                </a:solidFill>
              </a:rPr>
              <a:t>ключом отношения</a:t>
            </a:r>
            <a:r>
              <a:rPr lang="ru-RU" dirty="0" smtClean="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ru-RU" sz="3200" dirty="0" smtClean="0"/>
              <a:t>В </a:t>
            </a:r>
            <a:r>
              <a:rPr lang="ru-RU" sz="3200" dirty="0"/>
              <a:t>таблице Студент ключ - № студ. </a:t>
            </a:r>
            <a:r>
              <a:rPr lang="ru-RU" sz="3200" dirty="0" smtClean="0"/>
              <a:t>Билета</a:t>
            </a:r>
            <a:endParaRPr lang="en-US" sz="3200" dirty="0"/>
          </a:p>
          <a:p>
            <a:pPr eaLnBrk="1" hangingPunct="1">
              <a:lnSpc>
                <a:spcPct val="120000"/>
              </a:lnSpc>
            </a:pPr>
            <a:r>
              <a:rPr lang="ru-RU" dirty="0" smtClean="0"/>
              <a:t>Иногда </a:t>
            </a:r>
            <a:r>
              <a:rPr lang="ru-RU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идентификатор строки </a:t>
            </a:r>
            <a:r>
              <a:rPr lang="ru-RU" dirty="0"/>
              <a:t>или </a:t>
            </a:r>
            <a:r>
              <a:rPr lang="ru-RU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порядковое число </a:t>
            </a:r>
            <a:r>
              <a:rPr lang="ru-RU" dirty="0"/>
              <a:t>используются как </a:t>
            </a:r>
            <a:r>
              <a:rPr lang="ru-RU" b="1" dirty="0">
                <a:solidFill>
                  <a:schemeClr val="bg2"/>
                </a:solidFill>
              </a:rPr>
              <a:t>ключи</a:t>
            </a:r>
            <a:r>
              <a:rPr lang="ru-RU" dirty="0"/>
              <a:t> для идентификации строки в </a:t>
            </a:r>
            <a:r>
              <a:rPr lang="ru-RU" dirty="0" smtClean="0"/>
              <a:t>таблице</a:t>
            </a:r>
          </a:p>
          <a:p>
            <a:pPr lvl="1" eaLnBrk="1" hangingPunct="1">
              <a:lnSpc>
                <a:spcPct val="120000"/>
              </a:lnSpc>
            </a:pPr>
            <a:r>
              <a:rPr lang="ru-RU" sz="3200" dirty="0" smtClean="0"/>
              <a:t>Такой ключ называют </a:t>
            </a:r>
            <a:r>
              <a:rPr lang="ru-RU" sz="3200" b="1" dirty="0" smtClean="0">
                <a:solidFill>
                  <a:schemeClr val="bg2"/>
                </a:solidFill>
              </a:rPr>
              <a:t>искусственным </a:t>
            </a:r>
            <a:r>
              <a:rPr lang="ru-RU" sz="3200" b="1" dirty="0">
                <a:solidFill>
                  <a:schemeClr val="bg2"/>
                </a:solidFill>
              </a:rPr>
              <a:t>или </a:t>
            </a:r>
            <a:r>
              <a:rPr lang="ru-RU" sz="3200" b="1" dirty="0" smtClean="0">
                <a:solidFill>
                  <a:schemeClr val="bg2"/>
                </a:solidFill>
              </a:rPr>
              <a:t>суррогатным</a:t>
            </a:r>
            <a:r>
              <a:rPr lang="ru-RU" sz="3200" dirty="0" smtClean="0"/>
              <a:t> </a:t>
            </a:r>
            <a:r>
              <a:rPr lang="ru-RU" sz="3200" dirty="0"/>
              <a:t>ключ</a:t>
            </a:r>
            <a:endParaRPr lang="en-US" sz="3200" i="1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462756" y="361950"/>
            <a:ext cx="8218488" cy="379512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4000" dirty="0" smtClean="0">
                <a:solidFill>
                  <a:schemeClr val="bg2"/>
                </a:solidFill>
              </a:rPr>
              <a:t>Ключ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429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69"/>
          <p:cNvGraphicFramePr>
            <a:graphicFrameLocks/>
          </p:cNvGraphicFramePr>
          <p:nvPr/>
        </p:nvGraphicFramePr>
        <p:xfrm>
          <a:off x="1042988" y="2908300"/>
          <a:ext cx="7527925" cy="3046628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22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Имя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№ студ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тел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адрес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возраст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балл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7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Иванов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090041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330-15-34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Терешковой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40 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3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Петров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090042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330-87-38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Ученых,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4.05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3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Сидоров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230-15-32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Морской,2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49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Голубев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090141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335-42-43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Правды,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20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Федоров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090142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231-48-32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Пирогова, 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4.50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6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Костин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090086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330-45-44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Мальцева,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4.90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276" name="Text Box 155"/>
          <p:cNvSpPr txBox="1">
            <a:spLocks noChangeArrowheads="1"/>
          </p:cNvSpPr>
          <p:nvPr/>
        </p:nvSpPr>
        <p:spPr bwMode="auto">
          <a:xfrm>
            <a:off x="827088" y="2143125"/>
            <a:ext cx="1223962" cy="366713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Имена</a:t>
            </a:r>
            <a:r>
              <a:rPr lang="ru-RU" dirty="0"/>
              <a:t> </a:t>
            </a:r>
          </a:p>
        </p:txBody>
      </p:sp>
      <p:sp>
        <p:nvSpPr>
          <p:cNvPr id="9277" name="Text Box 155"/>
          <p:cNvSpPr txBox="1">
            <a:spLocks noChangeArrowheads="1"/>
          </p:cNvSpPr>
          <p:nvPr/>
        </p:nvSpPr>
        <p:spPr bwMode="auto">
          <a:xfrm>
            <a:off x="2268538" y="2143125"/>
            <a:ext cx="1223962" cy="366713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Ном-студ</a:t>
            </a:r>
            <a:r>
              <a:rPr lang="ru-RU" dirty="0"/>
              <a:t> </a:t>
            </a:r>
          </a:p>
        </p:txBody>
      </p:sp>
      <p:sp>
        <p:nvSpPr>
          <p:cNvPr id="9278" name="Text Box 155"/>
          <p:cNvSpPr txBox="1">
            <a:spLocks noChangeArrowheads="1"/>
          </p:cNvSpPr>
          <p:nvPr/>
        </p:nvSpPr>
        <p:spPr bwMode="auto">
          <a:xfrm>
            <a:off x="3609975" y="2143125"/>
            <a:ext cx="1223963" cy="368300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Телефон </a:t>
            </a:r>
            <a:r>
              <a:rPr lang="ru-RU" dirty="0"/>
              <a:t> </a:t>
            </a:r>
          </a:p>
        </p:txBody>
      </p:sp>
      <p:sp>
        <p:nvSpPr>
          <p:cNvPr id="9279" name="Text Box 155"/>
          <p:cNvSpPr txBox="1">
            <a:spLocks noChangeArrowheads="1"/>
          </p:cNvSpPr>
          <p:nvPr/>
        </p:nvSpPr>
        <p:spPr bwMode="auto">
          <a:xfrm>
            <a:off x="5076825" y="2143125"/>
            <a:ext cx="1223963" cy="368300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Адрес </a:t>
            </a:r>
            <a:r>
              <a:rPr lang="ru-RU" dirty="0"/>
              <a:t> </a:t>
            </a:r>
          </a:p>
        </p:txBody>
      </p:sp>
      <p:sp>
        <p:nvSpPr>
          <p:cNvPr id="9280" name="Text Box 155"/>
          <p:cNvSpPr txBox="1">
            <a:spLocks noChangeArrowheads="1"/>
          </p:cNvSpPr>
          <p:nvPr/>
        </p:nvSpPr>
        <p:spPr bwMode="auto">
          <a:xfrm>
            <a:off x="6516688" y="2147888"/>
            <a:ext cx="1223962" cy="369887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Возраст</a:t>
            </a:r>
            <a:r>
              <a:rPr lang="ru-RU" dirty="0"/>
              <a:t>  </a:t>
            </a:r>
          </a:p>
        </p:txBody>
      </p:sp>
      <p:sp>
        <p:nvSpPr>
          <p:cNvPr id="9281" name="Text Box 155"/>
          <p:cNvSpPr txBox="1">
            <a:spLocks noChangeArrowheads="1"/>
          </p:cNvSpPr>
          <p:nvPr/>
        </p:nvSpPr>
        <p:spPr bwMode="auto">
          <a:xfrm>
            <a:off x="7842250" y="2162175"/>
            <a:ext cx="1050925" cy="369888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Рейтинг</a:t>
            </a:r>
            <a:r>
              <a:rPr lang="ru-RU" dirty="0"/>
              <a:t>  </a:t>
            </a:r>
          </a:p>
        </p:txBody>
      </p:sp>
      <p:sp>
        <p:nvSpPr>
          <p:cNvPr id="12" name="Правая фигурная скобка 11"/>
          <p:cNvSpPr/>
          <p:nvPr/>
        </p:nvSpPr>
        <p:spPr>
          <a:xfrm rot="-5400000">
            <a:off x="4498975" y="-2127250"/>
            <a:ext cx="696913" cy="8208963"/>
          </a:xfrm>
          <a:prstGeom prst="righ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9283" name="Text Box 155"/>
          <p:cNvSpPr txBox="1">
            <a:spLocks noChangeArrowheads="1"/>
          </p:cNvSpPr>
          <p:nvPr/>
        </p:nvSpPr>
        <p:spPr bwMode="auto">
          <a:xfrm>
            <a:off x="4221163" y="1149350"/>
            <a:ext cx="1836737" cy="46196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>
                <a:solidFill>
                  <a:srgbClr val="C00000"/>
                </a:solidFill>
              </a:rPr>
              <a:t>Домены</a:t>
            </a:r>
            <a:r>
              <a:rPr lang="ru-RU" sz="2400" dirty="0"/>
              <a:t> </a:t>
            </a:r>
          </a:p>
        </p:txBody>
      </p:sp>
      <p:sp>
        <p:nvSpPr>
          <p:cNvPr id="9284" name="Text Box 155"/>
          <p:cNvSpPr txBox="1">
            <a:spLocks noChangeArrowheads="1"/>
          </p:cNvSpPr>
          <p:nvPr/>
        </p:nvSpPr>
        <p:spPr bwMode="auto">
          <a:xfrm>
            <a:off x="1243013" y="757238"/>
            <a:ext cx="1223962" cy="366712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Строки </a:t>
            </a:r>
          </a:p>
        </p:txBody>
      </p:sp>
      <p:sp>
        <p:nvSpPr>
          <p:cNvPr id="9285" name="Text Box 155"/>
          <p:cNvSpPr txBox="1">
            <a:spLocks noChangeArrowheads="1"/>
          </p:cNvSpPr>
          <p:nvPr/>
        </p:nvSpPr>
        <p:spPr bwMode="auto">
          <a:xfrm>
            <a:off x="3467100" y="738188"/>
            <a:ext cx="1223963" cy="366712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Целые  </a:t>
            </a:r>
          </a:p>
        </p:txBody>
      </p:sp>
      <p:sp>
        <p:nvSpPr>
          <p:cNvPr id="9286" name="Text Box 155"/>
          <p:cNvSpPr txBox="1">
            <a:spLocks noChangeArrowheads="1"/>
          </p:cNvSpPr>
          <p:nvPr/>
        </p:nvSpPr>
        <p:spPr bwMode="auto">
          <a:xfrm>
            <a:off x="6659563" y="692150"/>
            <a:ext cx="1944687" cy="3683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Вещественные  </a:t>
            </a:r>
          </a:p>
        </p:txBody>
      </p:sp>
      <p:sp>
        <p:nvSpPr>
          <p:cNvPr id="9287" name="Line 172"/>
          <p:cNvSpPr>
            <a:spLocks noChangeShapeType="1"/>
          </p:cNvSpPr>
          <p:nvPr/>
        </p:nvSpPr>
        <p:spPr bwMode="auto">
          <a:xfrm>
            <a:off x="1439863" y="2509838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88" name="Line 172"/>
          <p:cNvSpPr>
            <a:spLocks noChangeShapeType="1"/>
          </p:cNvSpPr>
          <p:nvPr/>
        </p:nvSpPr>
        <p:spPr bwMode="auto">
          <a:xfrm>
            <a:off x="2879725" y="25066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89" name="Line 172"/>
          <p:cNvSpPr>
            <a:spLocks noChangeShapeType="1"/>
          </p:cNvSpPr>
          <p:nvPr/>
        </p:nvSpPr>
        <p:spPr bwMode="auto">
          <a:xfrm>
            <a:off x="4140200" y="25066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90" name="Line 172"/>
          <p:cNvSpPr>
            <a:spLocks noChangeShapeType="1"/>
          </p:cNvSpPr>
          <p:nvPr/>
        </p:nvSpPr>
        <p:spPr bwMode="auto">
          <a:xfrm>
            <a:off x="5508625" y="251777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91" name="Line 172"/>
          <p:cNvSpPr>
            <a:spLocks noChangeShapeType="1"/>
          </p:cNvSpPr>
          <p:nvPr/>
        </p:nvSpPr>
        <p:spPr bwMode="auto">
          <a:xfrm>
            <a:off x="7019925" y="25066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92" name="Line 172"/>
          <p:cNvSpPr>
            <a:spLocks noChangeShapeType="1"/>
          </p:cNvSpPr>
          <p:nvPr/>
        </p:nvSpPr>
        <p:spPr bwMode="auto">
          <a:xfrm>
            <a:off x="8172450" y="251777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cxnSp>
        <p:nvCxnSpPr>
          <p:cNvPr id="24" name="Соединительная линия уступом 23"/>
          <p:cNvCxnSpPr>
            <a:endCxn id="9276" idx="0"/>
          </p:cNvCxnSpPr>
          <p:nvPr/>
        </p:nvCxnSpPr>
        <p:spPr>
          <a:xfrm rot="5400000">
            <a:off x="1171576" y="1460500"/>
            <a:ext cx="950912" cy="414337"/>
          </a:xfrm>
          <a:prstGeom prst="bentConnector3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/>
          <p:nvPr/>
        </p:nvCxnSpPr>
        <p:spPr>
          <a:xfrm rot="16200000" flipH="1">
            <a:off x="2528094" y="518319"/>
            <a:ext cx="1019175" cy="2366963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ная линия уступом 29"/>
          <p:cNvCxnSpPr>
            <a:endCxn id="9279" idx="0"/>
          </p:cNvCxnSpPr>
          <p:nvPr/>
        </p:nvCxnSpPr>
        <p:spPr>
          <a:xfrm>
            <a:off x="1854200" y="1844675"/>
            <a:ext cx="3833813" cy="298450"/>
          </a:xfrm>
          <a:prstGeom prst="bentConnector2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 flipV="1">
            <a:off x="1854200" y="1654175"/>
            <a:ext cx="0" cy="19050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43"/>
          <p:cNvCxnSpPr>
            <a:stCxn id="9286" idx="2"/>
            <a:endCxn id="9281" idx="0"/>
          </p:cNvCxnSpPr>
          <p:nvPr/>
        </p:nvCxnSpPr>
        <p:spPr>
          <a:xfrm rot="16200000" flipH="1">
            <a:off x="7449344" y="1243806"/>
            <a:ext cx="1101725" cy="735013"/>
          </a:xfrm>
          <a:prstGeom prst="bentConnector3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ная линия уступом 45"/>
          <p:cNvCxnSpPr>
            <a:stCxn id="9285" idx="2"/>
            <a:endCxn id="9277" idx="0"/>
          </p:cNvCxnSpPr>
          <p:nvPr/>
        </p:nvCxnSpPr>
        <p:spPr>
          <a:xfrm rot="5400000">
            <a:off x="2959894" y="1024731"/>
            <a:ext cx="1038225" cy="1198563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>
            <a:stCxn id="9285" idx="2"/>
            <a:endCxn id="9280" idx="0"/>
          </p:cNvCxnSpPr>
          <p:nvPr/>
        </p:nvCxnSpPr>
        <p:spPr>
          <a:xfrm rot="16200000" flipH="1">
            <a:off x="5081588" y="101600"/>
            <a:ext cx="1042988" cy="3049587"/>
          </a:xfrm>
          <a:prstGeom prst="bentConnector3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00" name="Text Box 155"/>
          <p:cNvSpPr txBox="1">
            <a:spLocks noChangeArrowheads="1"/>
          </p:cNvSpPr>
          <p:nvPr/>
        </p:nvSpPr>
        <p:spPr bwMode="auto">
          <a:xfrm>
            <a:off x="3914775" y="28575"/>
            <a:ext cx="1836738" cy="4603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>
                <a:solidFill>
                  <a:srgbClr val="0070C0"/>
                </a:solidFill>
              </a:rPr>
              <a:t>Типы</a:t>
            </a:r>
            <a:r>
              <a:rPr lang="ru-RU" sz="2400" dirty="0"/>
              <a:t> </a:t>
            </a:r>
          </a:p>
        </p:txBody>
      </p:sp>
      <p:sp>
        <p:nvSpPr>
          <p:cNvPr id="54" name="Правая фигурная скобка 53"/>
          <p:cNvSpPr/>
          <p:nvPr/>
        </p:nvSpPr>
        <p:spPr>
          <a:xfrm rot="-5400000">
            <a:off x="4658519" y="-3417094"/>
            <a:ext cx="463550" cy="8123238"/>
          </a:xfrm>
          <a:prstGeom prst="righ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179388" y="457200"/>
            <a:ext cx="8856662" cy="450850"/>
          </a:xfrm>
        </p:spPr>
        <p:txBody>
          <a:bodyPr/>
          <a:lstStyle/>
          <a:p>
            <a:pPr algn="ctr" eaLnBrk="1" hangingPunct="1"/>
            <a:r>
              <a:rPr lang="ru-RU" sz="3600" dirty="0" smtClean="0">
                <a:solidFill>
                  <a:schemeClr val="bg2"/>
                </a:solidFill>
              </a:rPr>
              <a:t>Фундаментальные свойства отношений</a:t>
            </a:r>
          </a:p>
        </p:txBody>
      </p:sp>
      <p:sp>
        <p:nvSpPr>
          <p:cNvPr id="10243" name="Объект 2"/>
          <p:cNvSpPr>
            <a:spLocks noGrp="1"/>
          </p:cNvSpPr>
          <p:nvPr>
            <p:ph idx="1"/>
          </p:nvPr>
        </p:nvSpPr>
        <p:spPr>
          <a:xfrm>
            <a:off x="539750" y="1493785"/>
            <a:ext cx="8208963" cy="4167240"/>
          </a:xfrm>
        </p:spPr>
        <p:txBody>
          <a:bodyPr/>
          <a:lstStyle/>
          <a:p>
            <a:pPr eaLnBrk="1" hangingPunct="1"/>
            <a:r>
              <a:rPr lang="ru-RU" dirty="0" smtClean="0"/>
              <a:t>Отсутствие кортежей дубликатов</a:t>
            </a:r>
          </a:p>
          <a:p>
            <a:pPr eaLnBrk="1" hangingPunct="1"/>
            <a:endParaRPr lang="ru-RU" dirty="0" smtClean="0"/>
          </a:p>
          <a:p>
            <a:pPr eaLnBrk="1" hangingPunct="1"/>
            <a:r>
              <a:rPr lang="ru-RU" dirty="0" smtClean="0"/>
              <a:t>Отсутствие упорядоченности кортежей</a:t>
            </a:r>
          </a:p>
          <a:p>
            <a:pPr eaLnBrk="1" hangingPunct="1"/>
            <a:endParaRPr lang="ru-RU" dirty="0" smtClean="0"/>
          </a:p>
          <a:p>
            <a:pPr eaLnBrk="1" hangingPunct="1"/>
            <a:r>
              <a:rPr lang="ru-RU" dirty="0" smtClean="0"/>
              <a:t>Отсутствие упорядоченности атрибутов</a:t>
            </a:r>
          </a:p>
          <a:p>
            <a:pPr eaLnBrk="1" hangingPunct="1"/>
            <a:endParaRPr lang="ru-RU" dirty="0" smtClean="0"/>
          </a:p>
          <a:p>
            <a:pPr eaLnBrk="1" hangingPunct="1"/>
            <a:r>
              <a:rPr lang="ru-RU" dirty="0" smtClean="0"/>
              <a:t>Атомарность значений атрибутов</a:t>
            </a:r>
          </a:p>
          <a:p>
            <a:pPr eaLnBrk="1" hangingPunct="1"/>
            <a:endParaRPr lang="ru-RU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12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8229600" cy="576262"/>
          </a:xfrm>
        </p:spPr>
        <p:txBody>
          <a:bodyPr/>
          <a:lstStyle/>
          <a:p>
            <a:pPr algn="ctr" eaLnBrk="1" hangingPunct="1"/>
            <a:r>
              <a:rPr lang="ru-RU" sz="3600" dirty="0" smtClean="0">
                <a:solidFill>
                  <a:srgbClr val="7030A0"/>
                </a:solidFill>
              </a:rPr>
              <a:t>Атомарность атрибутов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539750" y="765175"/>
          <a:ext cx="813690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817">
                <a:tc rowSpan="2">
                  <a:txBody>
                    <a:bodyPr/>
                    <a:lstStyle/>
                    <a:p>
                      <a:r>
                        <a:rPr lang="ru-RU" dirty="0" smtClean="0"/>
                        <a:t>Номер</a:t>
                      </a:r>
                      <a:r>
                        <a:rPr lang="ru-RU" baseline="0" dirty="0" smtClean="0"/>
                        <a:t> отдела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Отдел 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81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Сотр_номер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Сотр_имя</a:t>
                      </a:r>
                      <a:endParaRPr lang="ru-RU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Сотр_зарп</a:t>
                      </a:r>
                      <a:endParaRPr lang="ru-RU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17">
                <a:tc rowSpan="3">
                  <a:txBody>
                    <a:bodyPr/>
                    <a:lstStyle/>
                    <a:p>
                      <a:pPr algn="ctr"/>
                      <a:r>
                        <a:rPr lang="ru-RU" sz="2800" smtClean="0"/>
                        <a:t>310</a:t>
                      </a:r>
                      <a:endParaRPr lang="ru-RU" sz="28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2934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Иванов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112,00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81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2935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Петров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112,50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81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313</a:t>
                      </a:r>
                      <a:endParaRPr lang="ru-RU" sz="2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2937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Федоров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110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315</a:t>
                      </a:r>
                      <a:endParaRPr lang="ru-RU" sz="28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2938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Голубев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112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611188" y="4005263"/>
          <a:ext cx="8208912" cy="234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Сотр_номер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Сотр_имя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Сотр_зарп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Сотр_отд_номер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2934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Иванов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112,00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/>
                        <a:t>310</a:t>
                      </a:r>
                      <a:endParaRPr lang="ru-R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2935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Петров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112,50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310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2937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Федоров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110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313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2938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Голубев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112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315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21550" y="143635"/>
            <a:ext cx="8229600" cy="595313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Реляционная алгебра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" y="728699"/>
            <a:ext cx="9054307" cy="5895655"/>
          </a:xfrm>
        </p:spPr>
        <p:txBody>
          <a:bodyPr>
            <a:normAutofit fontScale="92500" lnSpcReduction="10000"/>
          </a:bodyPr>
          <a:lstStyle/>
          <a:p>
            <a:pPr marL="609600" indent="-609600"/>
            <a:r>
              <a:rPr lang="ru-RU" sz="2800" dirty="0" smtClean="0"/>
              <a:t>Теоретико-множественные операции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ru-RU" dirty="0" smtClean="0">
                <a:latin typeface="Times New Roman" pitchFamily="18" charset="0"/>
                <a:sym typeface="Symbol" pitchFamily="18" charset="2"/>
              </a:rPr>
              <a:t>Условия выполнения операций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 </a:t>
            </a:r>
            <a:endParaRPr lang="en-US" b="1" dirty="0" smtClean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bg2"/>
              </a:buClr>
              <a:buFont typeface="Wingdings" pitchFamily="2" charset="2"/>
              <a:buChar char="q"/>
            </a:pP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Объединение, пересечение, разность – </a:t>
            </a:r>
            <a:br>
              <a:rPr lang="ru-RU" b="1" dirty="0" smtClean="0">
                <a:latin typeface="Times New Roman" pitchFamily="18" charset="0"/>
                <a:sym typeface="Symbol" pitchFamily="18" charset="2"/>
              </a:rPr>
            </a:b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схемы отношений – одинаковы (кол. атрибутов одинаково, соответствующие атрибуты определены на одних и тех же доменах )</a:t>
            </a:r>
          </a:p>
          <a:p>
            <a:pPr marL="990600" lvl="1" indent="-533400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sz="2400" b="1" dirty="0" smtClean="0">
                <a:sym typeface="Symbol" pitchFamily="18" charset="2"/>
              </a:rPr>
              <a:t>R</a:t>
            </a:r>
            <a:r>
              <a:rPr lang="ru-RU" sz="2400" b="1" baseline="-25000" dirty="0" smtClean="0">
                <a:sym typeface="Symbol" pitchFamily="18" charset="2"/>
              </a:rPr>
              <a:t>1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А:цел, В:строк(10), С:вещ)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400" b="1" dirty="0" smtClean="0">
                <a:sym typeface="Symbol" pitchFamily="18" charset="2"/>
              </a:rPr>
              <a:t>S</a:t>
            </a:r>
            <a:r>
              <a:rPr lang="ru-RU" sz="2400" b="1" baseline="-25000" dirty="0" smtClean="0">
                <a:sym typeface="Symbol" pitchFamily="18" charset="2"/>
              </a:rPr>
              <a:t>1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А:цел, В:строк(10)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)</a:t>
            </a:r>
            <a:endParaRPr lang="ru-RU" sz="2400" dirty="0" smtClean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tx1"/>
              </a:buClr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              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6     , Петров , 12.83</a:t>
            </a:r>
            <a:r>
              <a:rPr lang="ru-RU" sz="2400" b="1" dirty="0" smtClean="0">
                <a:latin typeface="Times New Roman" pitchFamily="18" charset="0"/>
                <a:sym typeface="Symbol" pitchFamily="18" charset="2"/>
              </a:rPr>
              <a:t>                         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7     , Голубев</a:t>
            </a:r>
            <a:endParaRPr lang="en-US" sz="2400" b="1" dirty="0" smtClean="0">
              <a:solidFill>
                <a:srgbClr val="DE4110"/>
              </a:solidFill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tx1"/>
              </a:buClr>
              <a:buFont typeface="Wingdings" pitchFamily="2" charset="2"/>
              <a:buAutoNum type="arabicPeriod" startAt="2"/>
            </a:pPr>
            <a:r>
              <a:rPr lang="en-US" sz="2400" b="1" dirty="0" smtClean="0">
                <a:sym typeface="Symbol" pitchFamily="18" charset="2"/>
              </a:rPr>
              <a:t>R</a:t>
            </a:r>
            <a:r>
              <a:rPr lang="ru-RU" sz="2400" b="1" baseline="-25000" dirty="0" smtClean="0">
                <a:sym typeface="Symbol" pitchFamily="18" charset="2"/>
              </a:rPr>
              <a:t>2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А:вещ, С:вещ)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400" b="1" dirty="0" smtClean="0">
                <a:sym typeface="Symbol" pitchFamily="18" charset="2"/>
              </a:rPr>
              <a:t>S</a:t>
            </a:r>
            <a:r>
              <a:rPr lang="ru-RU" sz="2400" b="1" baseline="-25000" dirty="0" smtClean="0">
                <a:sym typeface="Symbol" pitchFamily="18" charset="2"/>
              </a:rPr>
              <a:t>2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А:цел, С:строк(10)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)</a:t>
            </a:r>
            <a:endParaRPr lang="ru-RU" sz="2400" dirty="0" smtClean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tx1"/>
              </a:buClr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      	         </a:t>
            </a:r>
            <a:r>
              <a:rPr lang="ru-RU" sz="2400" b="1" dirty="0" smtClean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2.87    , 3.12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				</a:t>
            </a:r>
            <a:r>
              <a:rPr lang="ru-RU" sz="2400" b="1" dirty="0" smtClean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10   , Сидоров</a:t>
            </a:r>
          </a:p>
          <a:p>
            <a:pPr marL="990600" lvl="1" indent="-533400">
              <a:buClr>
                <a:schemeClr val="tx1"/>
              </a:buClr>
              <a:buFont typeface="Wingdings" pitchFamily="2" charset="2"/>
              <a:buAutoNum type="arabicPeriod" startAt="3"/>
            </a:pPr>
            <a:r>
              <a:rPr lang="en-US" sz="2400" b="1" dirty="0" smtClean="0">
                <a:sym typeface="Symbol" pitchFamily="18" charset="2"/>
              </a:rPr>
              <a:t>R</a:t>
            </a:r>
            <a:r>
              <a:rPr lang="ru-RU" sz="2400" b="1" baseline="-25000" dirty="0" smtClean="0">
                <a:sym typeface="Symbol" pitchFamily="18" charset="2"/>
              </a:rPr>
              <a:t>3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А:цел, С:строк(10))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400" b="1" dirty="0" smtClean="0">
                <a:sym typeface="Symbol" pitchFamily="18" charset="2"/>
              </a:rPr>
              <a:t>S</a:t>
            </a:r>
            <a:r>
              <a:rPr lang="ru-RU" sz="2400" b="1" baseline="-25000" dirty="0" smtClean="0">
                <a:sym typeface="Symbol" pitchFamily="18" charset="2"/>
              </a:rPr>
              <a:t>3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В:цел, Е:строк(10)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)</a:t>
            </a:r>
            <a:endParaRPr lang="ru-RU" sz="2400" dirty="0" smtClean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tx1"/>
              </a:buClr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              </a:t>
            </a:r>
            <a:r>
              <a:rPr lang="ru-RU" sz="2400" b="1" dirty="0" smtClean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1010   , директор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			</a:t>
            </a:r>
            <a:r>
              <a:rPr lang="ru-RU" sz="2400" b="1" dirty="0" smtClean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2011, инженер</a:t>
            </a:r>
          </a:p>
          <a:p>
            <a:pPr marL="990600" lvl="1" indent="-533400">
              <a:buClr>
                <a:schemeClr val="bg2"/>
              </a:buClr>
              <a:buFont typeface="Wingdings" pitchFamily="2" charset="2"/>
              <a:buChar char="q"/>
            </a:pP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Декартово произведение –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нет ограничений</a:t>
            </a:r>
          </a:p>
          <a:p>
            <a:pPr marL="1371600" lvl="2" indent="-457200"/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R (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А,В,С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000" dirty="0" smtClean="0">
                <a:latin typeface="Times New Roman" pitchFamily="18" charset="0"/>
                <a:sym typeface="Symbol" pitchFamily="18" charset="2"/>
              </a:rPr>
              <a:t>Х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S(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E,D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) = T(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А,В,С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,E,D)</a:t>
            </a:r>
          </a:p>
          <a:p>
            <a:pPr marL="1371600" lvl="2" indent="-457200"/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R (</a:t>
            </a:r>
            <a:r>
              <a:rPr lang="ru-RU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А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,В,С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000" dirty="0" smtClean="0">
                <a:latin typeface="Times New Roman" pitchFamily="18" charset="0"/>
                <a:sym typeface="Symbol" pitchFamily="18" charset="2"/>
              </a:rPr>
              <a:t>Х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S(</a:t>
            </a:r>
            <a:r>
              <a:rPr lang="en-US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,D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) = T(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R.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А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,В,С</a:t>
            </a:r>
            <a:r>
              <a:rPr lang="en-US" smtClean="0">
                <a:latin typeface="Times New Roman" pitchFamily="18" charset="0"/>
                <a:sym typeface="Symbol" pitchFamily="18" charset="2"/>
              </a:rPr>
              <a:t>,</a:t>
            </a:r>
            <a:r>
              <a:rPr lang="en-US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S.A</a:t>
            </a:r>
            <a:r>
              <a:rPr lang="en-US" smtClean="0">
                <a:latin typeface="Times New Roman" pitchFamily="18" charset="0"/>
                <a:sym typeface="Symbol" pitchFamily="18" charset="2"/>
              </a:rPr>
              <a:t>,D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)</a:t>
            </a:r>
          </a:p>
          <a:p>
            <a:pPr marL="1371600" lvl="2" indent="-457200"/>
            <a:endParaRPr lang="ru-RU" dirty="0" smtClean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229600" cy="595313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Реляционная алгебра</a:t>
            </a:r>
            <a:r>
              <a:rPr lang="en-US" sz="3600" dirty="0" smtClean="0">
                <a:solidFill>
                  <a:schemeClr val="bg2"/>
                </a:solidFill>
              </a:rPr>
              <a:t> (</a:t>
            </a:r>
            <a:r>
              <a:rPr lang="ru-RU" sz="3600" dirty="0" smtClean="0">
                <a:solidFill>
                  <a:schemeClr val="bg2"/>
                </a:solidFill>
              </a:rPr>
              <a:t>продолжение)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81075"/>
            <a:ext cx="8641085" cy="5603875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ru-RU" dirty="0" smtClean="0"/>
              <a:t>Примеры</a:t>
            </a:r>
          </a:p>
          <a:p>
            <a:pPr marL="457200" lvl="1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dirty="0" smtClean="0">
                <a:latin typeface="Times New Roman" pitchFamily="18" charset="0"/>
                <a:sym typeface="Symbol" pitchFamily="18" charset="2"/>
              </a:rPr>
              <a:t>R (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А:цел</a:t>
            </a:r>
            <a:r>
              <a:rPr lang="ru-RU" smtClean="0">
                <a:latin typeface="Times New Roman" pitchFamily="18" charset="0"/>
                <a:sym typeface="Symbol" pitchFamily="18" charset="2"/>
              </a:rPr>
              <a:t>, В:строк(10)</a:t>
            </a:r>
            <a:r>
              <a:rPr lang="en-US" smtClean="0">
                <a:latin typeface="Times New Roman" pitchFamily="18" charset="0"/>
                <a:sym typeface="Symbol" pitchFamily="18" charset="2"/>
              </a:rPr>
              <a:t>  </a:t>
            </a:r>
            <a:r>
              <a:rPr lang="en-US" dirty="0" smtClean="0">
                <a:latin typeface="Times New Roman" pitchFamily="18" charset="0"/>
                <a:sym typeface="Symbol"/>
              </a:rPr>
              <a:t> 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А:цел</a:t>
            </a:r>
            <a:r>
              <a:rPr lang="ru-RU" smtClean="0">
                <a:latin typeface="Times New Roman" pitchFamily="18" charset="0"/>
                <a:sym typeface="Symbol" pitchFamily="18" charset="2"/>
              </a:rPr>
              <a:t>, В:строк(10)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) =</a:t>
            </a:r>
            <a:endParaRPr lang="ru-RU" dirty="0" smtClean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ru-RU" sz="2400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             </a:t>
            </a:r>
            <a:r>
              <a:rPr lang="ru-RU" sz="2400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6     , Петров </a:t>
            </a:r>
            <a:r>
              <a:rPr lang="en-US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	    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7     , Голубев</a:t>
            </a:r>
            <a:endParaRPr lang="en-US" sz="2400" b="1" dirty="0" smtClean="0">
              <a:solidFill>
                <a:srgbClr val="DE4110"/>
              </a:solidFill>
              <a:latin typeface="Times New Roman" pitchFamily="18" charset="0"/>
              <a:sym typeface="Symbol" pitchFamily="18" charset="2"/>
            </a:endParaRP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        </a:t>
            </a:r>
            <a:r>
              <a:rPr lang="ru-RU" sz="2400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7     </a:t>
            </a:r>
            <a:r>
              <a:rPr lang="ru-RU" sz="24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, </a:t>
            </a:r>
            <a:r>
              <a:rPr lang="ru-RU" sz="2400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Голубев</a:t>
            </a:r>
            <a:r>
              <a:rPr lang="en-US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	    9    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, Соколов</a:t>
            </a:r>
          </a:p>
          <a:p>
            <a:pPr marL="457200" lvl="1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    </a:t>
            </a:r>
            <a:r>
              <a:rPr lang="en-US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400" b="1" dirty="0" smtClean="0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А:цел</a:t>
            </a:r>
            <a:r>
              <a:rPr lang="ru-RU" sz="2400">
                <a:latin typeface="Times New Roman" pitchFamily="18" charset="0"/>
                <a:sym typeface="Symbol" pitchFamily="18" charset="2"/>
              </a:rPr>
              <a:t>, </a:t>
            </a:r>
            <a:r>
              <a:rPr lang="ru-RU" sz="2400" smtClean="0">
                <a:latin typeface="Times New Roman" pitchFamily="18" charset="0"/>
                <a:sym typeface="Symbol" pitchFamily="18" charset="2"/>
              </a:rPr>
              <a:t>В:строк(10)</a:t>
            </a:r>
            <a:r>
              <a:rPr lang="en-US" sz="240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400" dirty="0" smtClean="0">
                <a:latin typeface="Times New Roman" pitchFamily="18" charset="0"/>
                <a:sym typeface="Symbol" pitchFamily="18" charset="2"/>
              </a:rPr>
              <a:t>)</a:t>
            </a:r>
            <a:endParaRPr lang="en-US" sz="2400" dirty="0" smtClean="0">
              <a:latin typeface="Times New Roman" pitchFamily="18" charset="0"/>
              <a:sym typeface="Symbol" pitchFamily="18" charset="2"/>
            </a:endParaRP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ru-RU" sz="24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				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6     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, Петров </a:t>
            </a:r>
            <a:endParaRPr lang="en-US" sz="2400" b="1" dirty="0">
              <a:latin typeface="Times New Roman" pitchFamily="18" charset="0"/>
              <a:sym typeface="Symbol" pitchFamily="18" charset="2"/>
            </a:endParaRP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       </a:t>
            </a:r>
            <a:r>
              <a:rPr lang="en-US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		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7     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, 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Голубев</a:t>
            </a:r>
            <a:endParaRPr lang="en-US" sz="2400" b="1" dirty="0" smtClean="0">
              <a:solidFill>
                <a:srgbClr val="DE4110"/>
              </a:solidFill>
              <a:latin typeface="Times New Roman" pitchFamily="18" charset="0"/>
              <a:sym typeface="Symbol" pitchFamily="18" charset="2"/>
            </a:endParaRP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			9    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, </a:t>
            </a:r>
            <a:r>
              <a:rPr lang="ru-RU" sz="2400" b="1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Соколов</a:t>
            </a: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R (</a:t>
            </a:r>
            <a:r>
              <a:rPr lang="ru-RU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А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,В,С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000" dirty="0" smtClean="0">
                <a:latin typeface="Times New Roman" pitchFamily="18" charset="0"/>
                <a:sym typeface="Symbol" pitchFamily="18" charset="2"/>
              </a:rPr>
              <a:t>Х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S(</a:t>
            </a:r>
            <a:r>
              <a:rPr lang="en-US" dirty="0" smtClean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,D</a:t>
            </a:r>
            <a:r>
              <a:rPr lang="en-US" b="1" dirty="0" smtClean="0">
                <a:latin typeface="Times New Roman" pitchFamily="18" charset="0"/>
                <a:sym typeface="Symbol" pitchFamily="18" charset="2"/>
              </a:rPr>
              <a:t>) = T(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А</a:t>
            </a:r>
            <a:r>
              <a:rPr lang="en-US" baseline="-25000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1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,В,С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,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2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,D)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1   3  5           </a:t>
            </a:r>
            <a:r>
              <a:rPr lang="ru-RU" b="1" dirty="0" smtClean="0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rPr>
              <a:t>2  4             </a:t>
            </a:r>
            <a:r>
              <a:rPr lang="ru-RU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1    3   5   </a:t>
            </a:r>
            <a:r>
              <a:rPr lang="ru-RU" b="1" dirty="0" smtClean="0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rPr>
              <a:t>2   4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7   9  3           </a:t>
            </a:r>
            <a:r>
              <a:rPr lang="ru-RU" b="1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6  8             </a:t>
            </a:r>
            <a:r>
              <a:rPr lang="ru-RU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7    9   3   </a:t>
            </a:r>
            <a:r>
              <a:rPr lang="ru-RU" b="1" dirty="0" smtClean="0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rPr>
              <a:t>2   4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 smtClean="0">
                <a:latin typeface="Times New Roman" pitchFamily="18" charset="0"/>
                <a:sym typeface="Symbol" pitchFamily="18" charset="2"/>
              </a:rPr>
              <a:t>                       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3  7             </a:t>
            </a:r>
            <a:r>
              <a:rPr lang="ru-RU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1    3   5   </a:t>
            </a:r>
            <a:r>
              <a:rPr lang="ru-RU" b="1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6   8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 smtClean="0">
                <a:latin typeface="Times New Roman" pitchFamily="18" charset="0"/>
                <a:sym typeface="Symbol" pitchFamily="18" charset="2"/>
              </a:rPr>
              <a:t>				      </a:t>
            </a:r>
            <a:r>
              <a:rPr lang="ru-RU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7    9   3   </a:t>
            </a:r>
            <a:r>
              <a:rPr lang="ru-RU" b="1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6   8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 smtClean="0">
                <a:latin typeface="Times New Roman" pitchFamily="18" charset="0"/>
                <a:sym typeface="Symbol" pitchFamily="18" charset="2"/>
              </a:rPr>
              <a:t>				      </a:t>
            </a:r>
            <a:r>
              <a:rPr lang="ru-RU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1    3   5   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3   7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 smtClean="0">
                <a:latin typeface="Times New Roman" pitchFamily="18" charset="0"/>
                <a:sym typeface="Symbol" pitchFamily="18" charset="2"/>
              </a:rPr>
              <a:t>				      </a:t>
            </a:r>
            <a:r>
              <a:rPr lang="ru-RU" b="1" dirty="0" smtClean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7    9   3</a:t>
            </a:r>
            <a:r>
              <a:rPr lang="ru-RU" dirty="0" smtClean="0">
                <a:latin typeface="Times New Roman" pitchFamily="18" charset="0"/>
                <a:sym typeface="Symbol" pitchFamily="18" charset="2"/>
              </a:rPr>
              <a:t>   </a:t>
            </a:r>
            <a:r>
              <a:rPr lang="ru-RU" b="1" dirty="0" smtClean="0">
                <a:latin typeface="Times New Roman" pitchFamily="18" charset="0"/>
                <a:sym typeface="Symbol" pitchFamily="18" charset="2"/>
              </a:rPr>
              <a:t>3   7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305800" y="5962650"/>
            <a:ext cx="514350" cy="609600"/>
          </a:xfrm>
        </p:spPr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325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33" dur="500" autoRev="1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autoRev="1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autoRev="1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229600" cy="595313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Реляционная алгебра</a:t>
            </a:r>
            <a:r>
              <a:rPr lang="en-US" sz="3600" dirty="0" smtClean="0">
                <a:solidFill>
                  <a:schemeClr val="bg2"/>
                </a:solidFill>
              </a:rPr>
              <a:t> (</a:t>
            </a:r>
            <a:r>
              <a:rPr lang="ru-RU" sz="3600" dirty="0" smtClean="0">
                <a:solidFill>
                  <a:schemeClr val="bg2"/>
                </a:solidFill>
              </a:rPr>
              <a:t>продолжение)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81075"/>
            <a:ext cx="8641085" cy="5603875"/>
          </a:xfrm>
        </p:spPr>
        <p:txBody>
          <a:bodyPr/>
          <a:lstStyle/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>
                <a:solidFill>
                  <a:srgbClr val="FF0000"/>
                </a:solidFill>
                <a:sym typeface="Symbol" pitchFamily="18" charset="2"/>
              </a:rPr>
              <a:t>Какова степень и кардинальное число результатов следующих операций ?</a:t>
            </a: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dirty="0" smtClean="0">
              <a:sym typeface="Symbol" pitchFamily="18" charset="2"/>
            </a:endParaRP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>
                <a:sym typeface="Symbol" pitchFamily="18" charset="2"/>
              </a:rPr>
              <a:t>Объединение ?</a:t>
            </a: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>
                <a:sym typeface="Symbol" pitchFamily="18" charset="2"/>
              </a:rPr>
              <a:t>Пересечение ?</a:t>
            </a: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>
                <a:sym typeface="Symbol" pitchFamily="18" charset="2"/>
              </a:rPr>
              <a:t>Разность ?</a:t>
            </a: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>
                <a:sym typeface="Symbol" pitchFamily="18" charset="2"/>
              </a:rPr>
              <a:t>Декартово произведение ?</a:t>
            </a:r>
          </a:p>
          <a:p>
            <a:pPr marL="609600" indent="-609600">
              <a:lnSpc>
                <a:spcPct val="90000"/>
              </a:lnSpc>
            </a:pPr>
            <a:endParaRPr lang="ru-RU" sz="2000" dirty="0" smtClean="0">
              <a:solidFill>
                <a:srgbClr val="FF0000"/>
              </a:solidFill>
            </a:endParaRPr>
          </a:p>
          <a:p>
            <a:pPr marL="609600" indent="-609600">
              <a:lnSpc>
                <a:spcPct val="90000"/>
              </a:lnSpc>
            </a:pPr>
            <a:endParaRPr lang="ru-RU" sz="2000" dirty="0" smtClean="0">
              <a:solidFill>
                <a:srgbClr val="FF0000"/>
              </a:solidFill>
            </a:endParaRPr>
          </a:p>
          <a:p>
            <a:pPr marL="457200" lvl="1" indent="0">
              <a:lnSpc>
                <a:spcPct val="90000"/>
              </a:lnSpc>
              <a:buClr>
                <a:schemeClr val="tx1"/>
              </a:buClr>
              <a:buNone/>
            </a:pPr>
            <a:endParaRPr lang="ru-RU" sz="2400" b="1" dirty="0" smtClean="0">
              <a:solidFill>
                <a:srgbClr val="DE411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305800" y="5962650"/>
            <a:ext cx="514350" cy="609600"/>
          </a:xfrm>
        </p:spPr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325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524" y="1052512"/>
            <a:ext cx="8595955" cy="5526837"/>
          </a:xfrm>
        </p:spPr>
        <p:txBody>
          <a:bodyPr/>
          <a:lstStyle/>
          <a:p>
            <a:pPr marL="609600" lvl="1" indent="-609600"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200" dirty="0">
                <a:ea typeface="+mn-ea"/>
              </a:rPr>
              <a:t>Специальные операции</a:t>
            </a:r>
          </a:p>
          <a:p>
            <a:pPr marL="990600" lvl="1" indent="-533400"/>
            <a:r>
              <a:rPr lang="ru-RU" sz="3200" dirty="0" smtClean="0"/>
              <a:t>Селекция</a:t>
            </a:r>
            <a:endParaRPr lang="ru-RU" sz="3200" dirty="0"/>
          </a:p>
          <a:p>
            <a:pPr marL="990600" lvl="1" indent="-533400"/>
            <a:r>
              <a:rPr lang="ru-RU" sz="3200" dirty="0" smtClean="0"/>
              <a:t>Проекция</a:t>
            </a:r>
            <a:endParaRPr lang="en-US" sz="3200" dirty="0" smtClean="0"/>
          </a:p>
          <a:p>
            <a:pPr marL="990600" lvl="1" indent="-533400"/>
            <a:r>
              <a:rPr lang="ru-RU" sz="3200" dirty="0" smtClean="0"/>
              <a:t>Соединения </a:t>
            </a:r>
            <a:r>
              <a:rPr lang="en-US" sz="3200" dirty="0" smtClean="0"/>
              <a:t>(JOIN)</a:t>
            </a:r>
            <a:endParaRPr lang="ru-RU" sz="3200" dirty="0" smtClean="0"/>
          </a:p>
          <a:p>
            <a:pPr marL="1390650" lvl="2" indent="-533400"/>
            <a:r>
              <a:rPr lang="ru-RU" dirty="0" smtClean="0"/>
              <a:t>Эквисоединение</a:t>
            </a:r>
          </a:p>
          <a:p>
            <a:pPr marL="1390650" lvl="2" indent="-533400"/>
            <a:r>
              <a:rPr lang="ru-RU" dirty="0" smtClean="0"/>
              <a:t>Натуральное соединение (</a:t>
            </a:r>
            <a:r>
              <a:rPr lang="en-US" dirty="0" smtClean="0"/>
              <a:t>Natural JOIN)</a:t>
            </a:r>
          </a:p>
          <a:p>
            <a:pPr marL="1390650" lvl="2" indent="-533400"/>
            <a:r>
              <a:rPr lang="en-US" dirty="0" smtClean="0"/>
              <a:t>LEFT   OUTER  JOIN</a:t>
            </a:r>
          </a:p>
          <a:p>
            <a:pPr marL="1390650" lvl="2" indent="-533400"/>
            <a:r>
              <a:rPr lang="en-US" dirty="0" smtClean="0"/>
              <a:t>RIGHT OUTER  JOIN</a:t>
            </a:r>
          </a:p>
          <a:p>
            <a:pPr marL="1390650" lvl="2" indent="-533400"/>
            <a:r>
              <a:rPr lang="en-US" smtClean="0"/>
              <a:t>FULL   OUTER  JOIN</a:t>
            </a:r>
            <a:endParaRPr lang="en-US" dirty="0" smtClean="0"/>
          </a:p>
          <a:p>
            <a:pPr marL="990600" lvl="1" indent="-533400"/>
            <a:r>
              <a:rPr lang="ru-RU" sz="3200" dirty="0" smtClean="0"/>
              <a:t>Деление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595313"/>
          </a:xfrm>
          <a:noFill/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Реляционная алгебра (продолжение)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595313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Селекция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509" y="836711"/>
            <a:ext cx="7578843" cy="416746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Операция </a:t>
            </a:r>
            <a:r>
              <a:rPr lang="el-GR" sz="2600" b="1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sz="2600" b="1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R(A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 … 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порождает </a:t>
            </a:r>
            <a:br>
              <a:rPr lang="ru-RU" sz="2600" dirty="0">
                <a:latin typeface="Times New Roman" pitchFamily="18" charset="0"/>
                <a:cs typeface="Times New Roman" pitchFamily="18" charset="0"/>
              </a:rPr>
            </a:b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отношение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6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 … 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кортежи которого</a:t>
            </a:r>
          </a:p>
          <a:p>
            <a:pPr marL="0" indent="0">
              <a:buNone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1) п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ринадлежат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исходному отношению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600" b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en-US" sz="2600" b="1" baseline="-250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600" b="1" baseline="-250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 … </a:t>
            </a:r>
            <a:r>
              <a:rPr lang="en-US" sz="2600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b="1" baseline="-250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2) удовлетворяют логической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функции </a:t>
            </a:r>
            <a:r>
              <a:rPr lang="en-US" sz="26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, которая строится из</a:t>
            </a:r>
          </a:p>
          <a:p>
            <a:pPr lvl="2">
              <a:buFont typeface="Wingdings" pitchFamily="2" charset="2"/>
              <a:buNone/>
            </a:pPr>
            <a:r>
              <a:rPr lang="ru-RU" dirty="0" smtClean="0"/>
              <a:t>а)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операндов </a:t>
            </a:r>
          </a:p>
          <a:p>
            <a:pPr lvl="3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атрибутов отношения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констант</a:t>
            </a:r>
          </a:p>
          <a:p>
            <a:pPr lvl="2">
              <a:buFont typeface="Wingdings" pitchFamily="2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б) операторов сравнения: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&gt;,&lt;,=,≠,≤,≥, </a:t>
            </a:r>
          </a:p>
          <a:p>
            <a:pPr lvl="2">
              <a:buFont typeface="Wingdings" pitchFamily="2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логических операторов: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2">
              <a:buFont typeface="Wingdings" pitchFamily="2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г) скобок: (, 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18</a:t>
            </a:fld>
            <a:endParaRPr lang="ru-RU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6555" y="5139190"/>
            <a:ext cx="2232248" cy="1388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9600" kern="0" dirty="0" smtClean="0"/>
              <a:t>R (A, B, C, D)</a:t>
            </a:r>
          </a:p>
          <a:p>
            <a:pPr>
              <a:buFont typeface="Wingdings" pitchFamily="2" charset="2"/>
              <a:buNone/>
            </a:pPr>
            <a:r>
              <a:rPr lang="en-US" sz="9600" kern="0" dirty="0" smtClean="0"/>
              <a:t>	 1  3   5  7</a:t>
            </a:r>
          </a:p>
          <a:p>
            <a:pPr>
              <a:buNone/>
            </a:pPr>
            <a:r>
              <a:rPr lang="en-US" sz="9600" kern="0" dirty="0"/>
              <a:t>	 2  8   5  9 </a:t>
            </a:r>
            <a:endParaRPr lang="en-US" sz="9600" kern="0" dirty="0" smtClean="0"/>
          </a:p>
          <a:p>
            <a:pPr>
              <a:buNone/>
            </a:pPr>
            <a:r>
              <a:rPr lang="en-US" sz="9600" kern="0" dirty="0" smtClean="0"/>
              <a:t> 	 3  </a:t>
            </a:r>
            <a:r>
              <a:rPr lang="en-US" sz="9600" kern="0" dirty="0"/>
              <a:t>7 </a:t>
            </a:r>
            <a:r>
              <a:rPr lang="en-US" sz="9600" kern="0" dirty="0" smtClean="0"/>
              <a:t>  6  9</a:t>
            </a:r>
            <a:r>
              <a:rPr lang="en-US" kern="0" dirty="0" smtClean="0"/>
              <a:t>   	  			</a:t>
            </a:r>
            <a:endParaRPr lang="en-US" kern="0" dirty="0"/>
          </a:p>
        </p:txBody>
      </p:sp>
      <p:sp>
        <p:nvSpPr>
          <p:cNvPr id="4" name="TextBox 3"/>
          <p:cNvSpPr txBox="1"/>
          <p:nvPr/>
        </p:nvSpPr>
        <p:spPr>
          <a:xfrm>
            <a:off x="5742130" y="5049180"/>
            <a:ext cx="2277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kern="0" dirty="0" smtClean="0"/>
              <a:t>R</a:t>
            </a:r>
            <a:r>
              <a:rPr lang="en-US" sz="2400" kern="0" baseline="-25000" dirty="0" smtClean="0"/>
              <a:t>1</a:t>
            </a:r>
            <a:r>
              <a:rPr lang="en-US" sz="2400" kern="0" dirty="0" smtClean="0"/>
              <a:t> </a:t>
            </a:r>
            <a:r>
              <a:rPr lang="en-US" sz="2400" kern="0" dirty="0"/>
              <a:t>(</a:t>
            </a:r>
            <a:r>
              <a:rPr lang="en-US" sz="2400" kern="0" dirty="0">
                <a:solidFill>
                  <a:srgbClr val="FF0000"/>
                </a:solidFill>
              </a:rPr>
              <a:t>A</a:t>
            </a:r>
            <a:r>
              <a:rPr lang="en-US" sz="2400" kern="0" dirty="0"/>
              <a:t>, B, </a:t>
            </a:r>
            <a:r>
              <a:rPr lang="en-US" sz="2400" kern="0" dirty="0">
                <a:solidFill>
                  <a:srgbClr val="FF0000"/>
                </a:solidFill>
              </a:rPr>
              <a:t>C</a:t>
            </a:r>
            <a:r>
              <a:rPr lang="en-US" sz="2400" kern="0" dirty="0"/>
              <a:t>, D</a:t>
            </a:r>
            <a:r>
              <a:rPr lang="en-US" sz="2400" kern="0" dirty="0" smtClean="0"/>
              <a:t>)</a:t>
            </a:r>
          </a:p>
          <a:p>
            <a:r>
              <a:rPr lang="en-US" sz="2400" kern="0" dirty="0" smtClean="0"/>
              <a:t>     </a:t>
            </a:r>
            <a:r>
              <a:rPr lang="en-US" sz="2400" kern="0" dirty="0" smtClean="0">
                <a:solidFill>
                  <a:srgbClr val="FF0000"/>
                </a:solidFill>
              </a:rPr>
              <a:t>1  </a:t>
            </a:r>
            <a:r>
              <a:rPr lang="en-US" sz="2400" kern="0" dirty="0">
                <a:solidFill>
                  <a:srgbClr val="FF0000"/>
                </a:solidFill>
              </a:rPr>
              <a:t>3   5  7</a:t>
            </a:r>
          </a:p>
          <a:p>
            <a:r>
              <a:rPr lang="en-US" sz="2400" kern="0" dirty="0" smtClean="0"/>
              <a:t>     </a:t>
            </a:r>
            <a:r>
              <a:rPr lang="en-US" sz="2400" kern="0" dirty="0" smtClean="0">
                <a:solidFill>
                  <a:srgbClr val="FF0000"/>
                </a:solidFill>
              </a:rPr>
              <a:t>2  </a:t>
            </a:r>
            <a:r>
              <a:rPr lang="en-US" sz="2400" kern="0" dirty="0">
                <a:solidFill>
                  <a:srgbClr val="FF0000"/>
                </a:solidFill>
              </a:rPr>
              <a:t>8   5  </a:t>
            </a:r>
            <a:r>
              <a:rPr lang="en-US" sz="2400" kern="0" dirty="0" smtClean="0">
                <a:solidFill>
                  <a:srgbClr val="FF0000"/>
                </a:solidFill>
              </a:rPr>
              <a:t>9</a:t>
            </a:r>
          </a:p>
          <a:p>
            <a:endParaRPr lang="en-US" sz="2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2915816" y="5445224"/>
            <a:ext cx="2568128" cy="648070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el-GR" sz="3600" b="1" kern="0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sz="3200" b="1" kern="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A&lt;3 and C=5</a:t>
            </a:r>
            <a:r>
              <a:rPr lang="ru-RU" sz="32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b="1" kern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b="1" kern="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3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792999" y="2618910"/>
            <a:ext cx="20387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SELECT</a:t>
            </a:r>
            <a:endParaRPr lang="ru-RU" sz="2800" dirty="0"/>
          </a:p>
          <a:p>
            <a:r>
              <a:rPr lang="en-US" sz="2800" dirty="0" smtClean="0"/>
              <a:t>FROM    </a:t>
            </a:r>
            <a:r>
              <a:rPr lang="en-US" sz="28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  <a:p>
            <a:r>
              <a:rPr lang="en-US" sz="2800" dirty="0" smtClean="0"/>
              <a:t>WHERE 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endParaRPr lang="ru-RU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4317343"/>
            <a:ext cx="2376264" cy="216024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/>
              <a:t>R (</a:t>
            </a:r>
            <a:r>
              <a:rPr lang="en-US" sz="2400" dirty="0" smtClean="0">
                <a:solidFill>
                  <a:srgbClr val="FF0000"/>
                </a:solidFill>
              </a:rPr>
              <a:t>A</a:t>
            </a:r>
            <a:r>
              <a:rPr lang="en-US" sz="2400" dirty="0" smtClean="0"/>
              <a:t>, B, </a:t>
            </a:r>
            <a:r>
              <a:rPr lang="en-US" sz="2400" dirty="0" smtClean="0">
                <a:solidFill>
                  <a:srgbClr val="FF0000"/>
                </a:solidFill>
              </a:rPr>
              <a:t>C</a:t>
            </a:r>
            <a:r>
              <a:rPr lang="en-US" sz="2400" dirty="0" smtClean="0"/>
              <a:t>, D)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/>
              <a:t>	 1  3   5  </a:t>
            </a:r>
            <a:r>
              <a:rPr lang="ru-RU" sz="2400" dirty="0"/>
              <a:t>7</a:t>
            </a:r>
            <a:endParaRPr lang="ru-RU" sz="2400" dirty="0" smtClean="0"/>
          </a:p>
          <a:p>
            <a:pPr>
              <a:buNone/>
            </a:pPr>
            <a:r>
              <a:rPr lang="en-US" sz="2400" dirty="0" smtClean="0"/>
              <a:t>	 2  8   5  9	 </a:t>
            </a:r>
            <a:endParaRPr lang="ru-RU" sz="2400" dirty="0" smtClean="0"/>
          </a:p>
          <a:p>
            <a:pPr>
              <a:buNone/>
            </a:pPr>
            <a:r>
              <a:rPr lang="ru-RU" sz="2400" dirty="0"/>
              <a:t>	 </a:t>
            </a:r>
            <a:r>
              <a:rPr lang="en-US" sz="2400" dirty="0" smtClean="0"/>
              <a:t>3  7   6  9</a:t>
            </a: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	 1  8   5  4</a:t>
            </a:r>
            <a:endParaRPr lang="en-US" sz="2400" dirty="0"/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595313"/>
          </a:xfrm>
          <a:noFill/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Проекция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203848" y="4751132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36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36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36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R)</a:t>
            </a:r>
            <a:endParaRPr lang="ru-RU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5072980" y="4293096"/>
            <a:ext cx="17281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1) </a:t>
            </a:r>
            <a:r>
              <a:rPr lang="en-US" sz="2400" dirty="0" smtClean="0"/>
              <a:t>R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(A</a:t>
            </a:r>
            <a:r>
              <a:rPr lang="en-US" sz="2400" dirty="0"/>
              <a:t>, </a:t>
            </a:r>
            <a:r>
              <a:rPr lang="en-US" sz="2400" dirty="0" smtClean="0"/>
              <a:t>C)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      </a:t>
            </a:r>
            <a:r>
              <a:rPr lang="en-US" sz="2400" dirty="0" smtClean="0"/>
              <a:t>1  5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</a:t>
            </a:r>
            <a:r>
              <a:rPr lang="ru-RU" sz="2400" dirty="0" smtClean="0"/>
              <a:t>    </a:t>
            </a:r>
            <a:r>
              <a:rPr lang="en-US" sz="2400" dirty="0" smtClean="0"/>
              <a:t>2  5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</a:t>
            </a:r>
            <a:r>
              <a:rPr lang="ru-RU" sz="2400" dirty="0" smtClean="0"/>
              <a:t>    </a:t>
            </a:r>
            <a:r>
              <a:rPr lang="en-US" sz="2400" dirty="0" smtClean="0"/>
              <a:t>3  6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</a:t>
            </a:r>
            <a:r>
              <a:rPr lang="ru-RU" sz="2400" dirty="0" smtClean="0"/>
              <a:t>    </a:t>
            </a:r>
            <a:r>
              <a:rPr lang="en-US" sz="2400" dirty="0" smtClean="0">
                <a:solidFill>
                  <a:srgbClr val="3333FF"/>
                </a:solidFill>
              </a:rPr>
              <a:t>1  5</a:t>
            </a:r>
            <a:endParaRPr lang="ru-RU" dirty="0">
              <a:solidFill>
                <a:srgbClr val="3333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980729"/>
            <a:ext cx="8352928" cy="3312368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Пусть</a:t>
            </a:r>
            <a:r>
              <a:rPr lang="ru-RU" sz="24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R(A</a:t>
            </a:r>
            <a:r>
              <a:rPr lang="en-US" sz="2400" baseline="-250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baseline="-250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 … A</a:t>
            </a:r>
            <a:r>
              <a:rPr lang="en-US" sz="2400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отношение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4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Операция </a:t>
            </a:r>
            <a:r>
              <a:rPr lang="el-GR" sz="3600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3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baseline="-4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baseline="-6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baseline="-4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baseline="-6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…</a:t>
            </a:r>
            <a:r>
              <a:rPr lang="en-US" sz="30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baseline="-4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6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порождает отношение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</a:t>
            </a:r>
          </a:p>
          <a:p>
            <a:pPr algn="just">
              <a:lnSpc>
                <a:spcPct val="114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атрибутами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-4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-4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aseline="-4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400" baseline="-4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4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 отношения 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где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≤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следующим образом: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Каждый кортеж в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формируется из кортежа отношения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путем удаления не отмеченных в операции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baseline="-6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baseline="-6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2,</a:t>
            </a:r>
            <a:r>
              <a:rPr lang="ru-RU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…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4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6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значений атрибутов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 В получившемся отношении одинаковые кортежи удаляются.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006976" y="4293097"/>
            <a:ext cx="1872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</a:t>
            </a:r>
            <a:r>
              <a:rPr lang="ru-RU" sz="2400" dirty="0" smtClean="0"/>
              <a:t>)  </a:t>
            </a:r>
            <a:r>
              <a:rPr lang="en-US" sz="2400" dirty="0" smtClean="0"/>
              <a:t>R</a:t>
            </a:r>
            <a:r>
              <a:rPr lang="ru-RU" sz="2400" baseline="-25000" dirty="0" smtClean="0"/>
              <a:t>1</a:t>
            </a:r>
            <a:r>
              <a:rPr lang="en-US" sz="2400" baseline="30000" dirty="0" smtClean="0"/>
              <a:t>’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FF0000"/>
                </a:solidFill>
              </a:rPr>
              <a:t>A</a:t>
            </a:r>
            <a:r>
              <a:rPr lang="en-US" sz="2400" dirty="0"/>
              <a:t>, </a:t>
            </a:r>
            <a:r>
              <a:rPr lang="en-US" sz="2400" dirty="0" smtClean="0">
                <a:solidFill>
                  <a:srgbClr val="FF0000"/>
                </a:solidFill>
              </a:rPr>
              <a:t>C</a:t>
            </a:r>
            <a:r>
              <a:rPr lang="en-US" sz="2400" dirty="0" smtClean="0"/>
              <a:t>)</a:t>
            </a:r>
            <a:endParaRPr lang="en-US" sz="2400" dirty="0"/>
          </a:p>
          <a:p>
            <a:r>
              <a:rPr lang="en-US" sz="2400" dirty="0" smtClean="0"/>
              <a:t>      </a:t>
            </a:r>
            <a:r>
              <a:rPr lang="ru-RU" sz="2400" dirty="0" smtClean="0"/>
              <a:t>	</a:t>
            </a:r>
            <a:r>
              <a:rPr lang="en-US" sz="2400" dirty="0" smtClean="0"/>
              <a:t>1  5</a:t>
            </a:r>
          </a:p>
          <a:p>
            <a:r>
              <a:rPr lang="ru-RU" sz="2400" dirty="0" smtClean="0"/>
              <a:t>	</a:t>
            </a:r>
            <a:r>
              <a:rPr lang="en-US" sz="2400" dirty="0" smtClean="0"/>
              <a:t>2  5</a:t>
            </a:r>
          </a:p>
          <a:p>
            <a:r>
              <a:rPr lang="ru-RU" sz="2400" dirty="0" smtClean="0"/>
              <a:t>	</a:t>
            </a:r>
            <a:r>
              <a:rPr lang="en-US" sz="2400" dirty="0" smtClean="0"/>
              <a:t>3  6</a:t>
            </a:r>
          </a:p>
          <a:p>
            <a:r>
              <a:rPr lang="ru-RU" sz="2400" dirty="0" smtClean="0"/>
              <a:t>	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3" grpId="0"/>
      <p:bldP spid="8" grpId="0" build="p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90872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Соединения </a:t>
            </a:r>
            <a:r>
              <a:rPr lang="en-US" sz="3600" dirty="0" smtClean="0">
                <a:solidFill>
                  <a:schemeClr val="bg2"/>
                </a:solidFill>
              </a:rPr>
              <a:t>(JOIN)</a:t>
            </a:r>
            <a:endParaRPr lang="ru-RU" sz="3600" dirty="0" smtClean="0">
              <a:solidFill>
                <a:schemeClr val="bg2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908720"/>
            <a:ext cx="8590409" cy="5473030"/>
          </a:xfrm>
        </p:spPr>
        <p:txBody>
          <a:bodyPr/>
          <a:lstStyle/>
          <a:p>
            <a:pPr marL="1390650" lvl="2" indent="-533400">
              <a:lnSpc>
                <a:spcPct val="90000"/>
              </a:lnSpc>
            </a:pPr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Эквисоединение.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    </a:t>
            </a:r>
            <a:r>
              <a:rPr lang="en-US" baseline="-50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S =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(R x 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1390650" lvl="2" indent="-533400">
              <a:lnSpc>
                <a:spcPct val="90000"/>
              </a:lnSpc>
            </a:pPr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Натуральное 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соединение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Natural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JOIN, Inner JOIN)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Для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имеющих одинаковые атрибуты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    </a:t>
            </a:r>
            <a:r>
              <a:rPr lang="en-US" baseline="-50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S =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ru-RU" baseline="-25000" dirty="0" err="1" smtClean="0">
                <a:latin typeface="Times New Roman" pitchFamily="18" charset="0"/>
                <a:cs typeface="Times New Roman" pitchFamily="18" charset="0"/>
              </a:rPr>
              <a:t>атр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b="1" baseline="-25000" dirty="0" smtClean="0">
                <a:sym typeface="Symbol"/>
              </a:rPr>
              <a:t>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aseline="-25000" dirty="0" err="1">
                <a:latin typeface="Times New Roman" pitchFamily="18" charset="0"/>
                <a:cs typeface="Times New Roman" pitchFamily="18" charset="0"/>
              </a:rPr>
              <a:t>атр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dirty="0" smtClean="0">
                <a:sym typeface="Symbol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(R x 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где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вида</a:t>
            </a:r>
          </a:p>
          <a:p>
            <a:pPr marL="857250" lvl="2" indent="0">
              <a:lnSpc>
                <a:spcPct val="90000"/>
              </a:lnSpc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i="1" baseline="-10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40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=A</a:t>
            </a:r>
            <a:r>
              <a:rPr lang="en-US" sz="3200" i="1" baseline="-1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40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&amp;A</a:t>
            </a:r>
            <a:r>
              <a:rPr lang="en-US" sz="3200" i="1" baseline="-10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4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=A</a:t>
            </a:r>
            <a:r>
              <a:rPr lang="en-US" sz="3200" i="1" baseline="-1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4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&amp; …&amp;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i="1" baseline="-100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i="1" baseline="-40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i="1" baseline="-10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i="1" baseline="-40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baseline="-10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3200" baseline="-40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baseline="-10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3200" baseline="-40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одинаковые атрибуты из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1390650" lvl="2" indent="-533400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Left OUTER JOIN</a:t>
            </a:r>
          </a:p>
          <a:p>
            <a:pPr marL="1390650" lvl="2" indent="-533400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Right OUTER JOIN</a:t>
            </a:r>
          </a:p>
          <a:p>
            <a:pPr marL="1390650" lvl="2" indent="-533400"/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Full OUTER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JOIN</a:t>
            </a:r>
          </a:p>
          <a:p>
            <a:endParaRPr lang="ru-RU" dirty="0" smtClean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  <p:grpSp>
        <p:nvGrpSpPr>
          <p:cNvPr id="5" name="Группа 4"/>
          <p:cNvGrpSpPr/>
          <p:nvPr/>
        </p:nvGrpSpPr>
        <p:grpSpPr>
          <a:xfrm>
            <a:off x="1031270" y="1495912"/>
            <a:ext cx="442745" cy="224840"/>
            <a:chOff x="1763688" y="1412776"/>
            <a:chExt cx="442745" cy="224840"/>
          </a:xfrm>
        </p:grpSpPr>
        <p:sp>
          <p:nvSpPr>
            <p:cNvPr id="3" name="Равнобедренный треугольник 2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Равнобедренный треугольник 6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" name="Группа 8"/>
          <p:cNvGrpSpPr/>
          <p:nvPr/>
        </p:nvGrpSpPr>
        <p:grpSpPr>
          <a:xfrm>
            <a:off x="1093327" y="3149784"/>
            <a:ext cx="442745" cy="224840"/>
            <a:chOff x="1763688" y="1412776"/>
            <a:chExt cx="442745" cy="224840"/>
          </a:xfrm>
        </p:grpSpPr>
        <p:sp>
          <p:nvSpPr>
            <p:cNvPr id="10" name="Равнобедренный треугольник 9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Равнобедренный треугольник 10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Овал 3"/>
          <p:cNvSpPr/>
          <p:nvPr/>
        </p:nvSpPr>
        <p:spPr>
          <a:xfrm>
            <a:off x="5246216" y="4437112"/>
            <a:ext cx="720080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5724128" y="4437112"/>
            <a:ext cx="72008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7380312" y="5034408"/>
            <a:ext cx="720080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6876256" y="5034408"/>
            <a:ext cx="72008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5364088" y="5518348"/>
            <a:ext cx="720080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5935240" y="5518348"/>
            <a:ext cx="720080" cy="576064"/>
          </a:xfrm>
          <a:prstGeom prst="ellipse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5364088" y="5518348"/>
            <a:ext cx="72008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0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1"/>
            <a:ext cx="8229600" cy="648073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Примеры соединений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5" y="764704"/>
            <a:ext cx="8208912" cy="3168352"/>
          </a:xfrm>
        </p:spPr>
        <p:txBody>
          <a:bodyPr/>
          <a:lstStyle/>
          <a:p>
            <a:pPr marL="0" lvl="2" indent="0">
              <a:spcBef>
                <a:spcPts val="0"/>
              </a:spcBef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R(A, B, C)    S(B, D)  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sz="2800" baseline="-50000" dirty="0" smtClean="0">
                <a:latin typeface="Times New Roman" pitchFamily="18" charset="0"/>
                <a:cs typeface="Times New Roman" pitchFamily="18" charset="0"/>
              </a:rPr>
              <a:t>R.A=S.B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T(A, B, C, B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D)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1   3   4         3   1			    1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3   4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3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2   3   5         4   7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1   3   4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4   7</a:t>
            </a:r>
            <a:endParaRPr lang="en-US" sz="2800" dirty="0"/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4   2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2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3   5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3   1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				     2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3   5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4   7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				     4   2   2  3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				     4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2  4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7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609974" y="6237312"/>
            <a:ext cx="514400" cy="492968"/>
          </a:xfrm>
        </p:spPr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4692898" y="908080"/>
            <a:ext cx="442745" cy="224840"/>
            <a:chOff x="1763688" y="1412776"/>
            <a:chExt cx="442745" cy="224840"/>
          </a:xfrm>
        </p:grpSpPr>
        <p:sp>
          <p:nvSpPr>
            <p:cNvPr id="13" name="Равнобедренный треугольник 12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Равнобедренный треугольник 13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339752" y="2465584"/>
            <a:ext cx="3839775" cy="1251448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r>
              <a:rPr lang="en-US" sz="3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800" baseline="-5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S = T ( A, B, C, D)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                   1  3   4  1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2  3   5  1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Группа 14"/>
          <p:cNvGrpSpPr/>
          <p:nvPr/>
        </p:nvGrpSpPr>
        <p:grpSpPr>
          <a:xfrm>
            <a:off x="3090487" y="2615148"/>
            <a:ext cx="442745" cy="224840"/>
            <a:chOff x="1763688" y="1412776"/>
            <a:chExt cx="442745" cy="224840"/>
          </a:xfrm>
        </p:grpSpPr>
        <p:sp>
          <p:nvSpPr>
            <p:cNvPr id="16" name="Равнобедренный треугольник 15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Равнобедренный треугольник 16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10920" y="3717032"/>
            <a:ext cx="4511198" cy="1368152"/>
          </a:xfrm>
          <a:prstGeom prst="rect">
            <a:avLst/>
          </a:prstGeom>
          <a:noFill/>
        </p:spPr>
        <p:txBody>
          <a:bodyPr wrap="square" rtlCol="0">
            <a:normAutofit fontScale="85000" lnSpcReduction="20000"/>
          </a:bodyPr>
          <a:lstStyle/>
          <a:p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800" baseline="-5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3333FF"/>
                </a:solidFill>
                <a:latin typeface="+mj-lt"/>
                <a:cs typeface="Times New Roman" pitchFamily="18" charset="0"/>
              </a:rPr>
              <a:t>LOJ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 = T ( A, B, C, B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  D)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                   1  3   4  3      1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2  3   5  3      1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4  2   2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Null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51920" y="5013176"/>
            <a:ext cx="4752528" cy="1512168"/>
          </a:xfrm>
          <a:prstGeom prst="rect">
            <a:avLst/>
          </a:prstGeom>
          <a:noFill/>
        </p:spPr>
        <p:txBody>
          <a:bodyPr wrap="square" rtlCol="0">
            <a:normAutofit fontScale="77500" lnSpcReduction="20000"/>
          </a:bodyPr>
          <a:lstStyle/>
          <a:p>
            <a:r>
              <a:rPr lang="en-US" sz="3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800" baseline="-5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3333FF"/>
                </a:solidFill>
                <a:latin typeface="+mj-lt"/>
                <a:cs typeface="Times New Roman" pitchFamily="18" charset="0"/>
              </a:rPr>
              <a:t>F</a:t>
            </a:r>
            <a:r>
              <a:rPr lang="en-US" sz="2800" dirty="0" smtClean="0">
                <a:solidFill>
                  <a:srgbClr val="3333FF"/>
                </a:solidFill>
                <a:latin typeface="+mj-lt"/>
                <a:cs typeface="Times New Roman" pitchFamily="18" charset="0"/>
              </a:rPr>
              <a:t>OJ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 = T ( A,   B,   C,   B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  D)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                1     3     4     3      1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2     3     5     3      1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4     2     2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Null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Null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4       7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353052" cy="345616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Пусть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А:цел, В:цел,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С:цел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А:цел, В:цел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)</a:t>
            </a:r>
            <a:endParaRPr lang="ru-RU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sym typeface="Symbol" pitchFamily="18" charset="2"/>
              </a:rPr>
              <a:t>         R(A,B,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lang="en-US" dirty="0" smtClean="0">
                <a:latin typeface="Times New Roman" pitchFamily="18" charset="0"/>
                <a:sym typeface="Symbol" pitchFamily="18" charset="2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÷ S (A, B) =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T(C)</a:t>
            </a:r>
          </a:p>
          <a:p>
            <a:pPr>
              <a:buFont typeface="Wingdings" pitchFamily="2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Отношение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есть множество кортежей </a:t>
            </a:r>
            <a:r>
              <a:rPr lang="en-US" sz="39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длины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|R|-|S|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таких что </a:t>
            </a:r>
          </a:p>
          <a:p>
            <a:pPr>
              <a:buFont typeface="Wingdings" pitchFamily="2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для всех кортежей </a:t>
            </a:r>
            <a:r>
              <a:rPr lang="en-US" sz="39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длины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|S|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принадлежащих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endParaRPr lang="ru-RU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buFont typeface="Wingdings" pitchFamily="2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кортеж </a:t>
            </a:r>
            <a:r>
              <a:rPr lang="en-US" sz="3900" dirty="0" err="1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принадлежит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R.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450850"/>
          </a:xfrm>
          <a:noFill/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Деление</a:t>
            </a:r>
            <a:endParaRPr lang="ru-RU" sz="4000" dirty="0" smtClean="0">
              <a:solidFill>
                <a:schemeClr val="bg2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115616" y="4641224"/>
            <a:ext cx="3888432" cy="2028136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R(A, B, C)      S(A, B)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1  2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1  2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2  4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2  4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dirty="0" smtClean="0">
                <a:solidFill>
                  <a:srgbClr val="FF99CC"/>
                </a:solidFill>
                <a:latin typeface="Times New Roman" pitchFamily="18" charset="0"/>
                <a:cs typeface="Times New Roman" pitchFamily="18" charset="0"/>
              </a:rPr>
              <a:t>1  </a:t>
            </a:r>
            <a:r>
              <a:rPr lang="en-US" sz="3200" dirty="0">
                <a:solidFill>
                  <a:srgbClr val="FF99CC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dirty="0" smtClean="0">
                <a:solidFill>
                  <a:srgbClr val="FF99CC"/>
                </a:solidFill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en-US" sz="3200" dirty="0">
                <a:solidFill>
                  <a:srgbClr val="FF99CC"/>
                </a:solidFill>
                <a:latin typeface="Times New Roman" pitchFamily="18" charset="0"/>
                <a:cs typeface="Times New Roman" pitchFamily="18" charset="0"/>
              </a:rPr>
              <a:t>4  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3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32240" y="4554956"/>
            <a:ext cx="1008112" cy="1084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T(C)</a:t>
            </a:r>
          </a:p>
          <a:p>
            <a:r>
              <a:rPr lang="en-US" dirty="0" smtClean="0"/>
              <a:t>       </a:t>
            </a:r>
            <a:r>
              <a:rPr lang="en-US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ru-RU" sz="32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545" y="278650"/>
            <a:ext cx="8229600" cy="54006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Целостность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6515" y="863715"/>
            <a:ext cx="8775975" cy="517557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Целостность сущностей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Ключи 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Ссылочная целостность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Только сообщение о нарушении целостности</a:t>
            </a:r>
            <a:endParaRPr lang="en-US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Метод значений </a:t>
            </a:r>
            <a:r>
              <a:rPr lang="en-US" dirty="0" smtClean="0"/>
              <a:t>NULL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Каскадный метод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Метод значений по умолчанию</a:t>
            </a:r>
          </a:p>
          <a:p>
            <a:pPr lvl="1">
              <a:lnSpc>
                <a:spcPct val="120000"/>
              </a:lnSpc>
              <a:buNone/>
            </a:pPr>
            <a:r>
              <a:rPr lang="ru-RU" u="sng" dirty="0" smtClean="0"/>
              <a:t>Пример</a:t>
            </a:r>
            <a:r>
              <a:rPr lang="ru-RU" dirty="0" smtClean="0"/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возможно ли такое состояние таблиц в БД?</a:t>
            </a:r>
            <a:r>
              <a:rPr lang="ru-RU" u="sng" dirty="0" smtClean="0"/>
              <a:t>)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 smtClean="0"/>
              <a:t>Сотрудник (</a:t>
            </a:r>
            <a:r>
              <a:rPr lang="ru-RU" u="sng" dirty="0" smtClean="0"/>
              <a:t>ТН</a:t>
            </a:r>
            <a:r>
              <a:rPr lang="ru-RU" dirty="0" smtClean="0"/>
              <a:t>, ФИО, </a:t>
            </a:r>
            <a:r>
              <a:rPr lang="ru-RU" dirty="0" err="1" smtClean="0"/>
              <a:t>НомПасп</a:t>
            </a:r>
            <a:r>
              <a:rPr lang="ru-RU" dirty="0" smtClean="0"/>
              <a:t>, </a:t>
            </a:r>
            <a:r>
              <a:rPr lang="ru-RU" dirty="0" err="1" smtClean="0">
                <a:solidFill>
                  <a:schemeClr val="bg2"/>
                </a:solidFill>
              </a:rPr>
              <a:t>НомОтдела</a:t>
            </a:r>
            <a:r>
              <a:rPr lang="ru-RU" dirty="0" smtClean="0"/>
              <a:t>)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 smtClean="0"/>
              <a:t>Отдел (</a:t>
            </a:r>
            <a:r>
              <a:rPr lang="ru-RU" u="sng" dirty="0" err="1" smtClean="0"/>
              <a:t>НомОтдела</a:t>
            </a:r>
            <a:r>
              <a:rPr lang="ru-RU" dirty="0" smtClean="0"/>
              <a:t>, </a:t>
            </a:r>
            <a:r>
              <a:rPr lang="ru-RU" dirty="0" err="1" smtClean="0"/>
              <a:t>НазОтдела</a:t>
            </a:r>
            <a:r>
              <a:rPr lang="ru-RU" dirty="0" smtClean="0"/>
              <a:t>)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 err="1" smtClean="0"/>
              <a:t>Сотрудник.НомОтдела</a:t>
            </a:r>
            <a:r>
              <a:rPr lang="ru-RU" dirty="0" smtClean="0"/>
              <a:t>           </a:t>
            </a:r>
            <a:r>
              <a:rPr lang="ru-RU" dirty="0" err="1" smtClean="0"/>
              <a:t>Отдел.НомОтдела</a:t>
            </a:r>
            <a:endParaRPr lang="ru-RU" dirty="0" smtClean="0"/>
          </a:p>
          <a:p>
            <a:pPr lvl="1">
              <a:lnSpc>
                <a:spcPct val="120000"/>
              </a:lnSpc>
              <a:buNone/>
            </a:pPr>
            <a:endParaRPr lang="ru-RU" dirty="0" smtClean="0"/>
          </a:p>
          <a:p>
            <a:pPr lvl="1">
              <a:lnSpc>
                <a:spcPct val="120000"/>
              </a:lnSpc>
              <a:buNone/>
            </a:pPr>
            <a:r>
              <a:rPr lang="ru-RU" dirty="0" smtClean="0"/>
              <a:t>Сотрудник                 			Отдел</a:t>
            </a:r>
          </a:p>
          <a:p>
            <a:pPr>
              <a:lnSpc>
                <a:spcPct val="120000"/>
              </a:lnSpc>
            </a:pPr>
            <a:endParaRPr lang="ru-RU" dirty="0" smtClean="0"/>
          </a:p>
          <a:p>
            <a:pPr>
              <a:lnSpc>
                <a:spcPct val="120000"/>
              </a:lnSpc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23</a:t>
            </a:fld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3671900" y="4779150"/>
            <a:ext cx="405045" cy="0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76545" y="5814265"/>
          <a:ext cx="5130572" cy="675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ТН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ФИО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 smtClean="0"/>
                        <a:t>НомПасп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 smtClean="0"/>
                        <a:t>НомОтдела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1002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Иванов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5001593549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18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697125" y="5814265"/>
          <a:ext cx="2565286" cy="628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79">
                <a:tc>
                  <a:txBody>
                    <a:bodyPr/>
                    <a:lstStyle/>
                    <a:p>
                      <a:r>
                        <a:rPr lang="ru-RU" sz="1400" dirty="0" err="1" smtClean="0">
                          <a:solidFill>
                            <a:schemeClr val="bg2"/>
                          </a:solidFill>
                        </a:rPr>
                        <a:t>НомОтдела</a:t>
                      </a:r>
                      <a:endParaRPr lang="ru-RU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>
                          <a:solidFill>
                            <a:schemeClr val="bg2"/>
                          </a:solidFill>
                        </a:rPr>
                        <a:t>НазвОтдела</a:t>
                      </a:r>
                      <a:endParaRPr lang="ru-RU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94"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01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Отдел 1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89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545" y="278650"/>
            <a:ext cx="8229600" cy="54006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Целостность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63715"/>
            <a:ext cx="8640960" cy="1890210"/>
          </a:xfrm>
        </p:spPr>
        <p:txBody>
          <a:bodyPr>
            <a:normAutofit fontScale="70000" lnSpcReduction="20000"/>
          </a:bodyPr>
          <a:lstStyle/>
          <a:p>
            <a:pPr lvl="1">
              <a:lnSpc>
                <a:spcPct val="120000"/>
              </a:lnSpc>
              <a:buNone/>
            </a:pPr>
            <a:r>
              <a:rPr lang="ru-RU" u="sng" dirty="0" smtClean="0"/>
              <a:t>Пример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 smtClean="0"/>
              <a:t>Сотрудник(</a:t>
            </a:r>
            <a:r>
              <a:rPr lang="ru-RU" u="sng" dirty="0" smtClean="0"/>
              <a:t>ТН</a:t>
            </a:r>
            <a:r>
              <a:rPr lang="ru-RU" dirty="0" smtClean="0"/>
              <a:t>, ФИО, </a:t>
            </a:r>
            <a:r>
              <a:rPr lang="ru-RU" dirty="0" err="1" smtClean="0"/>
              <a:t>НомПасп</a:t>
            </a:r>
            <a:r>
              <a:rPr lang="ru-RU" dirty="0" smtClean="0"/>
              <a:t>, </a:t>
            </a:r>
            <a:r>
              <a:rPr lang="ru-RU" dirty="0" err="1" smtClean="0">
                <a:solidFill>
                  <a:schemeClr val="bg2"/>
                </a:solidFill>
              </a:rPr>
              <a:t>НомОтдела</a:t>
            </a:r>
            <a:r>
              <a:rPr lang="ru-RU" dirty="0" smtClean="0"/>
              <a:t>)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 smtClean="0"/>
              <a:t>Отдел(</a:t>
            </a:r>
            <a:r>
              <a:rPr lang="ru-RU" u="sng" dirty="0" err="1" smtClean="0"/>
              <a:t>НомОтдела</a:t>
            </a:r>
            <a:r>
              <a:rPr lang="ru-RU" dirty="0" smtClean="0"/>
              <a:t>, </a:t>
            </a:r>
            <a:r>
              <a:rPr lang="ru-RU" dirty="0" err="1" smtClean="0"/>
              <a:t>НазОтдела</a:t>
            </a:r>
            <a:r>
              <a:rPr lang="ru-RU" dirty="0" smtClean="0"/>
              <a:t>)</a:t>
            </a:r>
          </a:p>
          <a:p>
            <a:pPr lvl="1">
              <a:lnSpc>
                <a:spcPct val="120000"/>
              </a:lnSpc>
              <a:buNone/>
            </a:pPr>
            <a:endParaRPr lang="ru-RU" dirty="0" smtClean="0"/>
          </a:p>
          <a:p>
            <a:pPr lvl="1">
              <a:lnSpc>
                <a:spcPct val="120000"/>
              </a:lnSpc>
              <a:buNone/>
            </a:pPr>
            <a:r>
              <a:rPr lang="ru-RU" dirty="0" smtClean="0"/>
              <a:t>             Сотрудник                 		          Отдел</a:t>
            </a:r>
          </a:p>
          <a:p>
            <a:pPr>
              <a:lnSpc>
                <a:spcPct val="120000"/>
              </a:lnSpc>
            </a:pPr>
            <a:endParaRPr lang="ru-RU" dirty="0" smtClean="0"/>
          </a:p>
          <a:p>
            <a:pPr>
              <a:lnSpc>
                <a:spcPct val="120000"/>
              </a:lnSpc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24</a:t>
            </a:fld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4031940" y="3158970"/>
            <a:ext cx="405045" cy="0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61510" y="2753925"/>
          <a:ext cx="5130572" cy="1012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 smtClean="0"/>
                        <a:t>ТАбНомер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ФИО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 smtClean="0"/>
                        <a:t>НомПасп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 smtClean="0"/>
                        <a:t>НомОтдела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1002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Иванов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5001593549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01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1020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Голубев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5007123321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03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697125" y="2798930"/>
          <a:ext cx="2565286" cy="952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79">
                <a:tc>
                  <a:txBody>
                    <a:bodyPr/>
                    <a:lstStyle/>
                    <a:p>
                      <a:r>
                        <a:rPr lang="ru-RU" sz="1400" dirty="0" err="1" smtClean="0">
                          <a:solidFill>
                            <a:schemeClr val="bg2"/>
                          </a:solidFill>
                        </a:rPr>
                        <a:t>НомОтдела</a:t>
                      </a:r>
                      <a:endParaRPr lang="ru-RU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>
                          <a:solidFill>
                            <a:schemeClr val="bg2"/>
                          </a:solidFill>
                        </a:rPr>
                        <a:t>НазвОтдела</a:t>
                      </a:r>
                      <a:endParaRPr lang="ru-RU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94"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01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Отдел 1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94">
                <a:tc>
                  <a:txBody>
                    <a:bodyPr/>
                    <a:lstStyle/>
                    <a:p>
                      <a:pPr algn="ctr"/>
                      <a:r>
                        <a:rPr lang="ru-RU" sz="1400" smtClean="0"/>
                        <a:t>03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Отдел ИС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Объект 2"/>
          <p:cNvSpPr txBox="1">
            <a:spLocks/>
          </p:cNvSpPr>
          <p:nvPr/>
        </p:nvSpPr>
        <p:spPr bwMode="auto">
          <a:xfrm>
            <a:off x="161509" y="4194085"/>
            <a:ext cx="8775975" cy="2340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800" b="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Что будет ?</a:t>
            </a:r>
            <a:endParaRPr kumimoji="0" lang="en-US" sz="2800" b="0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+mj-lt"/>
              <a:buAutoNum type="arabicPeriod"/>
            </a:pPr>
            <a:r>
              <a:rPr lang="ru-RU" sz="2800" kern="0" dirty="0" smtClean="0">
                <a:latin typeface="+mn-lt"/>
                <a:cs typeface="+mn-cs"/>
              </a:rPr>
              <a:t>Вставить в </a:t>
            </a: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Сотрудник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 </a:t>
            </a: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строку </a:t>
            </a: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(</a:t>
            </a:r>
            <a:r>
              <a:rPr kumimoji="0" lang="en-US" sz="2800" b="0" i="0" u="sng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1005</a:t>
            </a: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, </a:t>
            </a:r>
            <a:r>
              <a:rPr lang="en-US" sz="2800" kern="0" dirty="0" smtClean="0">
                <a:latin typeface="+mn-lt"/>
                <a:cs typeface="+mn-cs"/>
              </a:rPr>
              <a:t>‘</a:t>
            </a: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Петров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’</a:t>
            </a: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, 5003374727, </a:t>
            </a: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cs typeface="+mn-cs"/>
              </a:rPr>
              <a:t>03</a:t>
            </a: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)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+mj-lt"/>
              <a:buAutoNum type="arabicPeriod"/>
            </a:pPr>
            <a:r>
              <a:rPr lang="ru-RU" sz="2800" kern="0" dirty="0" smtClean="0"/>
              <a:t>Вставить в Сотрудник</a:t>
            </a:r>
            <a:r>
              <a:rPr lang="en-US" sz="2800" kern="0" dirty="0" smtClean="0"/>
              <a:t> </a:t>
            </a:r>
            <a:r>
              <a:rPr lang="ru-RU" sz="2800" kern="0" dirty="0" smtClean="0"/>
              <a:t>строку </a:t>
            </a:r>
            <a:r>
              <a:rPr lang="ru-RU" sz="2800" kern="0" smtClean="0"/>
              <a:t>(</a:t>
            </a:r>
            <a:r>
              <a:rPr lang="en-US" sz="2800" u="sng" kern="0" smtClean="0"/>
              <a:t>10</a:t>
            </a:r>
            <a:r>
              <a:rPr lang="ru-RU" sz="2800" u="sng" kern="0" smtClean="0"/>
              <a:t>10</a:t>
            </a:r>
            <a:r>
              <a:rPr lang="ru-RU" sz="2800" kern="0" smtClean="0"/>
              <a:t>, </a:t>
            </a:r>
            <a:r>
              <a:rPr lang="en-US" sz="2800" kern="0" dirty="0" smtClean="0"/>
              <a:t>‘</a:t>
            </a:r>
            <a:r>
              <a:rPr lang="ru-RU" sz="2800" kern="0" dirty="0" smtClean="0"/>
              <a:t>Сидоров</a:t>
            </a:r>
            <a:r>
              <a:rPr lang="en-US" sz="2800" kern="0" dirty="0" smtClean="0"/>
              <a:t>’</a:t>
            </a:r>
            <a:r>
              <a:rPr lang="ru-RU" sz="2800" kern="0" smtClean="0"/>
              <a:t>, 5005374727, </a:t>
            </a:r>
            <a:r>
              <a:rPr lang="en-US" sz="2800" kern="0" smtClean="0">
                <a:solidFill>
                  <a:schemeClr val="bg2"/>
                </a:solidFill>
              </a:rPr>
              <a:t>0</a:t>
            </a:r>
            <a:r>
              <a:rPr lang="ru-RU" sz="2800" kern="0" smtClean="0">
                <a:solidFill>
                  <a:schemeClr val="bg2"/>
                </a:solidFill>
              </a:rPr>
              <a:t>5</a:t>
            </a:r>
            <a:r>
              <a:rPr lang="ru-RU" sz="2800" kern="0" dirty="0" smtClean="0"/>
              <a:t>)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+mj-lt"/>
              <a:buAutoNum type="arabicPeriod"/>
            </a:pPr>
            <a:r>
              <a:rPr lang="ru-RU" sz="2800" kern="0" dirty="0" smtClean="0"/>
              <a:t>Изменить в Сотрудник</a:t>
            </a:r>
            <a:r>
              <a:rPr lang="en-US" sz="2800" kern="0" dirty="0" smtClean="0"/>
              <a:t> </a:t>
            </a:r>
            <a:r>
              <a:rPr lang="ru-RU" sz="2800" kern="0" dirty="0" smtClean="0">
                <a:solidFill>
                  <a:srgbClr val="3333FF"/>
                </a:solidFill>
              </a:rPr>
              <a:t>строку где </a:t>
            </a:r>
            <a:r>
              <a:rPr lang="ru-RU" sz="2800" kern="0" smtClean="0">
                <a:solidFill>
                  <a:srgbClr val="3333FF"/>
                </a:solidFill>
              </a:rPr>
              <a:t>ТН=</a:t>
            </a:r>
            <a:r>
              <a:rPr lang="en-US" sz="2800" kern="0" smtClean="0">
                <a:solidFill>
                  <a:srgbClr val="3333FF"/>
                </a:solidFill>
              </a:rPr>
              <a:t>1005</a:t>
            </a:r>
            <a:r>
              <a:rPr lang="ru-RU" sz="2800" kern="0" smtClean="0">
                <a:solidFill>
                  <a:srgbClr val="3333FF"/>
                </a:solidFill>
              </a:rPr>
              <a:t> </a:t>
            </a:r>
            <a:r>
              <a:rPr lang="ru-RU" sz="2800" kern="0" dirty="0" err="1" smtClean="0"/>
              <a:t>НомОтдела</a:t>
            </a:r>
            <a:r>
              <a:rPr lang="ru-RU" sz="2800" kern="0" dirty="0" smtClean="0"/>
              <a:t> </a:t>
            </a:r>
            <a:r>
              <a:rPr lang="ru-RU" sz="2800" kern="0" smtClean="0"/>
              <a:t>на </a:t>
            </a:r>
            <a:r>
              <a:rPr lang="en-US" sz="2800" kern="0" smtClean="0">
                <a:solidFill>
                  <a:schemeClr val="bg2"/>
                </a:solidFill>
              </a:rPr>
              <a:t>0</a:t>
            </a:r>
            <a:r>
              <a:rPr lang="ru-RU" sz="2800" kern="0" smtClean="0">
                <a:solidFill>
                  <a:schemeClr val="bg2"/>
                </a:solidFill>
              </a:rPr>
              <a:t>1</a:t>
            </a:r>
            <a:endParaRPr lang="ru-RU" sz="2800" kern="0" dirty="0" smtClean="0">
              <a:solidFill>
                <a:schemeClr val="bg2"/>
              </a:solidFill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+mj-lt"/>
              <a:buAutoNum type="arabicPeriod"/>
            </a:pPr>
            <a:r>
              <a:rPr lang="ru-RU" sz="2800" kern="0" dirty="0" smtClean="0"/>
              <a:t>Вставить в Отдел </a:t>
            </a:r>
            <a:r>
              <a:rPr lang="ru-RU" sz="2800" kern="0" smtClean="0"/>
              <a:t>строку (02</a:t>
            </a:r>
            <a:r>
              <a:rPr lang="ru-RU" sz="2800" kern="0" dirty="0" smtClean="0"/>
              <a:t>, </a:t>
            </a:r>
            <a:r>
              <a:rPr lang="en-US" sz="2800" kern="0" dirty="0" smtClean="0"/>
              <a:t>’</a:t>
            </a:r>
            <a:r>
              <a:rPr lang="ru-RU" sz="2800" kern="0" dirty="0" smtClean="0"/>
              <a:t>Второй отдел</a:t>
            </a:r>
            <a:r>
              <a:rPr lang="en-US" sz="2800" kern="0" dirty="0" smtClean="0"/>
              <a:t>’</a:t>
            </a:r>
            <a:r>
              <a:rPr lang="ru-RU" sz="2800" kern="0" dirty="0" smtClean="0"/>
              <a:t>)</a:t>
            </a:r>
            <a:endParaRPr lang="ru-RU" sz="2800" kern="0" dirty="0" smtClean="0">
              <a:solidFill>
                <a:schemeClr val="bg2"/>
              </a:solidFill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AutoNum type="arabicPeriod"/>
            </a:pPr>
            <a:r>
              <a:rPr lang="ru-RU" sz="2800" kern="0" dirty="0" smtClean="0">
                <a:solidFill>
                  <a:schemeClr val="bg2"/>
                </a:solidFill>
              </a:rPr>
              <a:t>и …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AutoNum type="arabicPeriod"/>
            </a:pPr>
            <a:endParaRPr lang="ru-RU" sz="2800" kern="0" dirty="0" smtClean="0"/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  <a:tabLst/>
              <a:defRPr/>
            </a:pPr>
            <a:endParaRPr kumimoji="0" lang="ru-RU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ru-RU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89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052736"/>
            <a:ext cx="8424936" cy="2808312"/>
          </a:xfrm>
        </p:spPr>
        <p:txBody>
          <a:bodyPr lIns="36000" tIns="36000" rIns="36000" bIns="36000">
            <a:normAutofit fontScale="92500"/>
          </a:bodyPr>
          <a:lstStyle/>
          <a:p>
            <a:r>
              <a:rPr lang="ru-RU" sz="2600" dirty="0" smtClean="0"/>
              <a:t>Небольшой набор абстракций </a:t>
            </a:r>
            <a:br>
              <a:rPr lang="ru-RU" sz="2600" dirty="0" smtClean="0"/>
            </a:br>
            <a:r>
              <a:rPr lang="ru-RU" sz="2600" dirty="0" smtClean="0"/>
              <a:t> (</a:t>
            </a:r>
            <a:r>
              <a:rPr lang="ru-RU" sz="2600" dirty="0"/>
              <a:t>отношение, кортеж, атрибут, домен, тип данных, ключ</a:t>
            </a:r>
            <a:r>
              <a:rPr lang="ru-RU" sz="2600" dirty="0" smtClean="0"/>
              <a:t>)</a:t>
            </a:r>
          </a:p>
          <a:p>
            <a:r>
              <a:rPr lang="ru-RU" sz="2600" dirty="0" smtClean="0"/>
              <a:t>Наличие простого и мощного математического аппарата </a:t>
            </a:r>
            <a:br>
              <a:rPr lang="ru-RU" sz="2600" dirty="0" smtClean="0"/>
            </a:br>
            <a:r>
              <a:rPr lang="ru-RU" sz="2600" dirty="0" smtClean="0"/>
              <a:t>    (теория множеств, математическая логика)</a:t>
            </a:r>
          </a:p>
          <a:p>
            <a:r>
              <a:rPr lang="ru-RU" sz="2600" dirty="0" smtClean="0"/>
              <a:t>Возможность ненавигационного манипулирования данными (реляционное исчисление)</a:t>
            </a:r>
          </a:p>
          <a:p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57201"/>
            <a:ext cx="7416800" cy="523528"/>
          </a:xfrm>
        </p:spPr>
        <p:txBody>
          <a:bodyPr/>
          <a:lstStyle/>
          <a:p>
            <a:pPr algn="ctr" eaLnBrk="1" hangingPunct="1"/>
            <a:r>
              <a:rPr lang="ru-RU" sz="3200" dirty="0" smtClean="0">
                <a:solidFill>
                  <a:schemeClr val="bg2"/>
                </a:solidFill>
              </a:rPr>
              <a:t>Достоинства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672" y="3861048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Недостатки модели</a:t>
            </a:r>
            <a:endParaRPr lang="ru-RU" sz="3200" dirty="0">
              <a:solidFill>
                <a:schemeClr val="bg2"/>
              </a:solidFill>
            </a:endParaRPr>
          </a:p>
        </p:txBody>
      </p:sp>
      <p:sp>
        <p:nvSpPr>
          <p:cNvPr id="6" name="Объект 2"/>
          <p:cNvSpPr txBox="1">
            <a:spLocks/>
          </p:cNvSpPr>
          <p:nvPr/>
        </p:nvSpPr>
        <p:spPr bwMode="auto">
          <a:xfrm>
            <a:off x="571947" y="4517831"/>
            <a:ext cx="7744469" cy="1935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600" kern="0" dirty="0" smtClean="0"/>
              <a:t>Небольшой набор типов данных</a:t>
            </a:r>
          </a:p>
          <a:p>
            <a:r>
              <a:rPr lang="ru-RU" sz="2600" kern="0" dirty="0" smtClean="0"/>
              <a:t>Небольшой набор средств манипулирования</a:t>
            </a:r>
          </a:p>
          <a:p>
            <a:r>
              <a:rPr lang="ru-RU" sz="2600" kern="0" dirty="0" smtClean="0"/>
              <a:t>Отсутствие возможности отразить семантику объектов</a:t>
            </a:r>
            <a:endParaRPr lang="ru-RU" kern="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7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8763</TotalTime>
  <Words>1258</Words>
  <Application>Microsoft Office PowerPoint</Application>
  <PresentationFormat>Экран (4:3)</PresentationFormat>
  <Paragraphs>448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Symbol</vt:lpstr>
      <vt:lpstr>Times New Roman</vt:lpstr>
      <vt:lpstr>Wingdings</vt:lpstr>
      <vt:lpstr>Пиксел</vt:lpstr>
      <vt:lpstr>Реляционная модель данных</vt:lpstr>
      <vt:lpstr>История    Эдгар Франк Кодд Edgar Frank Codd 1923 – 2003  </vt:lpstr>
      <vt:lpstr>Аспекты модели</vt:lpstr>
      <vt:lpstr>Структура данных  (1)</vt:lpstr>
      <vt:lpstr>Структура данных (2)</vt:lpstr>
      <vt:lpstr>Неформальные определения</vt:lpstr>
      <vt:lpstr>Пример отношения</vt:lpstr>
      <vt:lpstr>Основные понятия в РМД</vt:lpstr>
      <vt:lpstr>Домен</vt:lpstr>
      <vt:lpstr>Ключ</vt:lpstr>
      <vt:lpstr>Презентация PowerPoint</vt:lpstr>
      <vt:lpstr>Фундаментальные свойства отношений</vt:lpstr>
      <vt:lpstr>Атомарность атрибутов</vt:lpstr>
      <vt:lpstr>Реляционная алгебра</vt:lpstr>
      <vt:lpstr>Реляционная алгебра (продолжение)</vt:lpstr>
      <vt:lpstr>Реляционная алгебра (продолжение)</vt:lpstr>
      <vt:lpstr>Реляционная алгебра (продолжение)</vt:lpstr>
      <vt:lpstr>Селекция</vt:lpstr>
      <vt:lpstr>Проекция</vt:lpstr>
      <vt:lpstr>Соединения (JOIN)</vt:lpstr>
      <vt:lpstr>Примеры соединений</vt:lpstr>
      <vt:lpstr>Деление</vt:lpstr>
      <vt:lpstr>Целостность</vt:lpstr>
      <vt:lpstr>Целостность</vt:lpstr>
      <vt:lpstr>Достоинства модели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Def</cp:lastModifiedBy>
  <cp:revision>123</cp:revision>
  <dcterms:created xsi:type="dcterms:W3CDTF">2012-10-04T16:47:37Z</dcterms:created>
  <dcterms:modified xsi:type="dcterms:W3CDTF">2019-09-19T03:45:20Z</dcterms:modified>
</cp:coreProperties>
</file>