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8"/>
  </p:notesMasterIdLst>
  <p:sldIdLst>
    <p:sldId id="256" r:id="rId2"/>
    <p:sldId id="273" r:id="rId3"/>
    <p:sldId id="276" r:id="rId4"/>
    <p:sldId id="274" r:id="rId5"/>
    <p:sldId id="275" r:id="rId6"/>
    <p:sldId id="259" r:id="rId7"/>
    <p:sldId id="282" r:id="rId8"/>
    <p:sldId id="257" r:id="rId9"/>
    <p:sldId id="286" r:id="rId10"/>
    <p:sldId id="258" r:id="rId11"/>
    <p:sldId id="278" r:id="rId12"/>
    <p:sldId id="283" r:id="rId13"/>
    <p:sldId id="277" r:id="rId14"/>
    <p:sldId id="281" r:id="rId15"/>
    <p:sldId id="271" r:id="rId16"/>
    <p:sldId id="261" r:id="rId17"/>
    <p:sldId id="272" r:id="rId18"/>
    <p:sldId id="262" r:id="rId19"/>
    <p:sldId id="285" r:id="rId20"/>
    <p:sldId id="284" r:id="rId21"/>
    <p:sldId id="264" r:id="rId22"/>
    <p:sldId id="265" r:id="rId23"/>
    <p:sldId id="266" r:id="rId24"/>
    <p:sldId id="267" r:id="rId25"/>
    <p:sldId id="268" r:id="rId26"/>
    <p:sldId id="269" r:id="rId27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33FF"/>
    <a:srgbClr val="DE411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94626" autoAdjust="0"/>
  </p:normalViewPr>
  <p:slideViewPr>
    <p:cSldViewPr>
      <p:cViewPr varScale="1">
        <p:scale>
          <a:sx n="146" d="100"/>
          <a:sy n="146" d="100"/>
        </p:scale>
        <p:origin x="-90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662" y="-102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59F35-7003-4CC1-B8CF-F115A18A7C7F}" type="datetimeFigureOut">
              <a:rPr lang="ru-RU" smtClean="0"/>
              <a:pPr/>
              <a:t>02.10.2019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A9172-A6D9-44C2-8D80-199B20AACF2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4662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Начальная страница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A9172-A6D9-44C2-8D80-199B20AACF2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A9172-A6D9-44C2-8D80-199B20AACF26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D0C63-2D32-49CF-97B3-F30266E76D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0697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C2694-874F-4CC5-9FE4-F16F3A164C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2215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C39A4-7E40-4AF5-B91D-28266994BFD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2823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37DB2-CFE1-4652-9191-A6033F6496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6489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725-57CE-4915-8A62-9CA8C20690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6986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4A76F-1B29-4FF0-95C3-F3A95A7EC9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5521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C8FE2-35F2-4E37-B93D-0403433160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7632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3F8DF-9536-47F4-B53F-4B4586661F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3305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329B9-0620-468D-BA12-5C505606E1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9631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EAD82-3E6B-4215-BCEB-1E7E361F413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819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ECBF1-6E93-4A15-9E53-A448CD4762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43615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5EA3C-5D94-41AA-9652-5EF80A8A1A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0022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8B54254-9089-48DC-A9FB-3DA0BEBB67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2593885"/>
            <a:ext cx="6019800" cy="1330170"/>
          </a:xfrm>
        </p:spPr>
        <p:txBody>
          <a:bodyPr/>
          <a:lstStyle/>
          <a:p>
            <a:pPr algn="ctr" eaLnBrk="1" hangingPunct="1"/>
            <a:r>
              <a:rPr lang="ru-RU" dirty="0" smtClean="0"/>
              <a:t>Стандарт </a:t>
            </a:r>
            <a:r>
              <a:rPr lang="en-US" dirty="0" smtClean="0"/>
              <a:t>SQL-92</a:t>
            </a:r>
            <a:br>
              <a:rPr lang="en-US" dirty="0" smtClean="0"/>
            </a:br>
            <a:endParaRPr lang="ru-RU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1610" y="4284095"/>
            <a:ext cx="7929990" cy="2025225"/>
          </a:xfrm>
        </p:spPr>
        <p:txBody>
          <a:bodyPr/>
          <a:lstStyle/>
          <a:p>
            <a:pPr eaLnBrk="1" hangingPunct="1"/>
            <a:r>
              <a:rPr lang="ru-RU" sz="2800" dirty="0" smtClean="0"/>
              <a:t>М. </a:t>
            </a:r>
            <a:r>
              <a:rPr lang="ru-RU" sz="2800" dirty="0" err="1" smtClean="0"/>
              <a:t>Грабер</a:t>
            </a:r>
            <a:r>
              <a:rPr lang="ru-RU" sz="2800" dirty="0" smtClean="0"/>
              <a:t>  </a:t>
            </a:r>
            <a:endParaRPr lang="en-US" sz="2800" dirty="0" smtClean="0"/>
          </a:p>
          <a:p>
            <a:pPr eaLnBrk="1" hangingPunct="1"/>
            <a:r>
              <a:rPr lang="en-US" sz="2800" b="1" dirty="0" smtClean="0"/>
              <a:t>- SQL</a:t>
            </a:r>
            <a:r>
              <a:rPr lang="ru-RU" sz="2800" b="1" dirty="0" smtClean="0"/>
              <a:t> </a:t>
            </a:r>
            <a:r>
              <a:rPr lang="ru-RU" sz="2800" dirty="0"/>
              <a:t>, M.: Лори, </a:t>
            </a:r>
            <a:r>
              <a:rPr lang="ru-RU" sz="2800" dirty="0" smtClean="0"/>
              <a:t>2001</a:t>
            </a:r>
          </a:p>
          <a:p>
            <a:pPr eaLnBrk="1" hangingPunct="1"/>
            <a:r>
              <a:rPr lang="en-US" sz="2800" b="1" dirty="0" smtClean="0"/>
              <a:t>- </a:t>
            </a:r>
            <a:r>
              <a:rPr lang="ru-RU" sz="2800" b="1" dirty="0" smtClean="0"/>
              <a:t>Понимание </a:t>
            </a:r>
            <a:r>
              <a:rPr lang="en-US" sz="2800" b="1" dirty="0" smtClean="0"/>
              <a:t>SQL</a:t>
            </a:r>
            <a:endParaRPr lang="ru-RU" sz="2800" b="1" dirty="0" smtClean="0"/>
          </a:p>
          <a:p>
            <a:pPr eaLnBrk="1" hangingPunct="1"/>
            <a:r>
              <a:rPr lang="en-US" sz="2800" dirty="0" smtClean="0"/>
              <a:t>http://www.sql.ru/docs/sql/u_sql/index.shtml </a:t>
            </a:r>
            <a:endParaRPr lang="ru-RU" sz="2800" dirty="0" smtClean="0"/>
          </a:p>
          <a:p>
            <a:pPr eaLnBrk="1" hangingPunct="1"/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9387" y="278650"/>
            <a:ext cx="8785225" cy="1371600"/>
          </a:xfrm>
        </p:spPr>
        <p:txBody>
          <a:bodyPr/>
          <a:lstStyle/>
          <a:p>
            <a:pPr algn="ctr"/>
            <a:r>
              <a:rPr lang="en-US" sz="4000" i="1" dirty="0" smtClean="0">
                <a:solidFill>
                  <a:schemeClr val="bg2"/>
                </a:solidFill>
              </a:rPr>
              <a:t>SQL</a:t>
            </a:r>
            <a:r>
              <a:rPr lang="en-US" sz="4000" dirty="0" smtClean="0">
                <a:solidFill>
                  <a:schemeClr val="bg2"/>
                </a:solidFill>
              </a:rPr>
              <a:t>- </a:t>
            </a:r>
            <a:r>
              <a:rPr lang="en-US" sz="4000" i="1" dirty="0">
                <a:solidFill>
                  <a:schemeClr val="bg2"/>
                </a:solidFill>
              </a:rPr>
              <a:t>Structured </a:t>
            </a:r>
            <a:r>
              <a:rPr lang="en-US" sz="4000" i="1" dirty="0" smtClean="0">
                <a:solidFill>
                  <a:schemeClr val="bg2"/>
                </a:solidFill>
              </a:rPr>
              <a:t>Query Language</a:t>
            </a:r>
            <a:r>
              <a:rPr lang="ru-RU" sz="4000" i="1" dirty="0" smtClean="0">
                <a:solidFill>
                  <a:schemeClr val="bg2"/>
                </a:solidFill>
              </a:rPr>
              <a:t/>
            </a:r>
            <a:br>
              <a:rPr lang="ru-RU" sz="4000" i="1" dirty="0" smtClean="0">
                <a:solidFill>
                  <a:schemeClr val="bg2"/>
                </a:solidFill>
              </a:rPr>
            </a:br>
            <a:r>
              <a:rPr lang="en-US" sz="3200" dirty="0">
                <a:solidFill>
                  <a:schemeClr val="bg2"/>
                </a:solidFill>
              </a:rPr>
              <a:t>SEQUEL- </a:t>
            </a:r>
            <a:r>
              <a:rPr lang="en-US" sz="3200" i="1" dirty="0">
                <a:solidFill>
                  <a:schemeClr val="bg2"/>
                </a:solidFill>
              </a:rPr>
              <a:t>Structured English Query Language</a:t>
            </a:r>
            <a:r>
              <a:rPr lang="en-US" sz="3200" i="1" dirty="0" smtClean="0">
                <a:solidFill>
                  <a:schemeClr val="bg2"/>
                </a:solidFill>
              </a:rPr>
              <a:t> </a:t>
            </a:r>
            <a:endParaRPr lang="ru-RU" sz="3200" dirty="0" smtClean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28800"/>
            <a:ext cx="8856984" cy="50405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ru-RU" sz="2800" dirty="0" smtClean="0"/>
              <a:t>SEQUEL </a:t>
            </a:r>
            <a:r>
              <a:rPr lang="ru-RU" sz="2800" dirty="0"/>
              <a:t>был разработан и частично реализован в рамках проекта экспериментальной реляционной СУБД </a:t>
            </a:r>
            <a:r>
              <a:rPr lang="ru-RU" sz="2800" dirty="0" err="1" smtClean="0"/>
              <a:t>System</a:t>
            </a:r>
            <a:r>
              <a:rPr lang="ru-RU" sz="2800" dirty="0" smtClean="0"/>
              <a:t> R</a:t>
            </a:r>
          </a:p>
          <a:p>
            <a:pPr>
              <a:lnSpc>
                <a:spcPct val="110000"/>
              </a:lnSpc>
              <a:defRPr/>
            </a:pPr>
            <a:r>
              <a:rPr lang="ru-RU" sz="2800" dirty="0" smtClean="0"/>
              <a:t>Проект </a:t>
            </a:r>
            <a:r>
              <a:rPr lang="ru-RU" sz="2800" dirty="0"/>
              <a:t>выполнялся с 1974 по 1979 гг. в научно-исследовательской лаборатории компании IBM в г. Сан-Хосе, </a:t>
            </a:r>
            <a:r>
              <a:rPr lang="ru-RU" sz="2800" dirty="0" smtClean="0"/>
              <a:t>Калифорния.</a:t>
            </a:r>
            <a:endParaRPr lang="ru-RU" sz="2800" dirty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2400" b="1" dirty="0" smtClean="0"/>
              <a:t>Дональд </a:t>
            </a:r>
            <a:r>
              <a:rPr lang="ru-RU" sz="2400" b="1" dirty="0" err="1"/>
              <a:t>Чэмбэрлин</a:t>
            </a:r>
            <a:r>
              <a:rPr lang="ru-RU" sz="2400" b="1" dirty="0"/>
              <a:t> (</a:t>
            </a:r>
            <a:r>
              <a:rPr lang="en-US" sz="2400" b="1" dirty="0"/>
              <a:t>Donald D. Chamberlin</a:t>
            </a:r>
            <a:r>
              <a:rPr lang="en-US" sz="2400" b="1" dirty="0" smtClean="0"/>
              <a:t>)</a:t>
            </a:r>
            <a:endParaRPr lang="ru-RU" sz="2400" b="1" dirty="0" smtClean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2400" b="1" dirty="0" err="1" smtClean="0"/>
              <a:t>Рэй</a:t>
            </a:r>
            <a:r>
              <a:rPr lang="ru-RU" sz="2400" b="1" dirty="0" smtClean="0"/>
              <a:t> </a:t>
            </a:r>
            <a:r>
              <a:rPr lang="ru-RU" sz="2400" b="1" dirty="0" err="1"/>
              <a:t>Бойс</a:t>
            </a:r>
            <a:r>
              <a:rPr lang="ru-RU" sz="2400" b="1" dirty="0"/>
              <a:t> (</a:t>
            </a:r>
            <a:r>
              <a:rPr lang="en-US" sz="2400" b="1" dirty="0"/>
              <a:t>Ray Boyce</a:t>
            </a:r>
            <a:r>
              <a:rPr lang="en-US" sz="2400" b="1" dirty="0" smtClean="0"/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ru-RU" sz="2800" dirty="0" smtClean="0"/>
              <a:t>Был еще </a:t>
            </a:r>
            <a:r>
              <a:rPr lang="en-US" sz="2800" dirty="0" smtClean="0"/>
              <a:t>QUEL</a:t>
            </a:r>
            <a:r>
              <a:rPr lang="ru-RU" sz="2800" dirty="0" smtClean="0"/>
              <a:t> для СУБД   </a:t>
            </a:r>
            <a:r>
              <a:rPr lang="en-US" sz="2800" dirty="0" smtClean="0"/>
              <a:t>INGRES</a:t>
            </a:r>
            <a:endParaRPr lang="ru-RU" sz="2800" dirty="0" smtClean="0"/>
          </a:p>
          <a:p>
            <a:pPr>
              <a:lnSpc>
                <a:spcPct val="110000"/>
              </a:lnSpc>
              <a:defRPr/>
            </a:pPr>
            <a:r>
              <a:rPr lang="ru-RU" sz="2800" dirty="0" smtClean="0"/>
              <a:t>в 1986 </a:t>
            </a:r>
            <a:r>
              <a:rPr lang="ru-RU" sz="2800" dirty="0"/>
              <a:t>году первый стандарт языка </a:t>
            </a:r>
            <a:r>
              <a:rPr lang="en-US" sz="2800" dirty="0"/>
              <a:t>SQL </a:t>
            </a:r>
            <a:r>
              <a:rPr lang="ru-RU" sz="2800" dirty="0"/>
              <a:t>был </a:t>
            </a:r>
            <a:r>
              <a:rPr lang="ru-RU" sz="2800" cap="small" dirty="0"/>
              <a:t>принят </a:t>
            </a:r>
            <a:r>
              <a:rPr lang="en-US" sz="2800" u="sng" dirty="0"/>
              <a:t>ANSI</a:t>
            </a:r>
            <a:r>
              <a:rPr lang="ru-RU" sz="2800" dirty="0"/>
              <a:t> (</a:t>
            </a:r>
            <a:r>
              <a:rPr lang="en-US" sz="2800" dirty="0"/>
              <a:t>American National Standards Institute</a:t>
            </a:r>
            <a:r>
              <a:rPr lang="ru-RU" sz="2800" dirty="0"/>
              <a:t>), официальным произношением стало [,</a:t>
            </a:r>
            <a:r>
              <a:rPr lang="en-US" sz="2800" dirty="0" err="1"/>
              <a:t>es</a:t>
            </a:r>
            <a:r>
              <a:rPr lang="en-US" sz="2800" dirty="0"/>
              <a:t> </a:t>
            </a:r>
            <a:r>
              <a:rPr lang="en-US" sz="2800" dirty="0" err="1"/>
              <a:t>kju</a:t>
            </a:r>
            <a:r>
              <a:rPr lang="ru-RU" sz="2800" dirty="0"/>
              <a:t>:' </a:t>
            </a:r>
            <a:r>
              <a:rPr lang="en-US" sz="2800" dirty="0"/>
              <a:t>el</a:t>
            </a:r>
            <a:r>
              <a:rPr lang="ru-RU" sz="2800" dirty="0"/>
              <a:t>] — </a:t>
            </a:r>
            <a:r>
              <a:rPr lang="ru-RU" sz="2800" i="1" dirty="0"/>
              <a:t>эс-кью-эл. </a:t>
            </a:r>
            <a:endParaRPr lang="en-US" sz="2800" i="1" dirty="0" smtClean="0"/>
          </a:p>
          <a:p>
            <a:pPr>
              <a:lnSpc>
                <a:spcPct val="110000"/>
              </a:lnSpc>
              <a:defRPr/>
            </a:pPr>
            <a:r>
              <a:rPr lang="ru-RU" sz="2800" dirty="0" smtClean="0"/>
              <a:t>Несмотря </a:t>
            </a:r>
            <a:r>
              <a:rPr lang="ru-RU" sz="2800" dirty="0"/>
              <a:t>на это, </a:t>
            </a:r>
            <a:r>
              <a:rPr lang="ru-RU" sz="2800" dirty="0" smtClean="0"/>
              <a:t>англоязычные </a:t>
            </a:r>
            <a:r>
              <a:rPr lang="ru-RU" sz="2800" dirty="0"/>
              <a:t>специалисты по прежнему часто называют </a:t>
            </a:r>
            <a:r>
              <a:rPr lang="en-US" sz="2800" dirty="0"/>
              <a:t>SQL </a:t>
            </a:r>
            <a:r>
              <a:rPr lang="ru-RU" sz="2800" i="1" dirty="0"/>
              <a:t>сиквел, </a:t>
            </a:r>
            <a:r>
              <a:rPr lang="ru-RU" sz="2800" dirty="0"/>
              <a:t>вместо </a:t>
            </a:r>
            <a:r>
              <a:rPr lang="ru-RU" sz="2800" i="1" dirty="0"/>
              <a:t>эс-кью-эл </a:t>
            </a:r>
            <a:r>
              <a:rPr lang="ru-RU" sz="2800" dirty="0" smtClean="0"/>
              <a:t>.</a:t>
            </a:r>
            <a:endParaRPr lang="en-US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545" y="323655"/>
            <a:ext cx="8229600" cy="523528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Стандарты</a:t>
            </a:r>
            <a:r>
              <a:rPr lang="en-US" sz="3600" dirty="0" smtClean="0">
                <a:solidFill>
                  <a:schemeClr val="bg2"/>
                </a:solidFill>
              </a:rPr>
              <a:t> SQL</a:t>
            </a:r>
            <a:endParaRPr lang="ru-RU" sz="36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77215182"/>
              </p:ext>
            </p:extLst>
          </p:nvPr>
        </p:nvGraphicFramePr>
        <p:xfrm>
          <a:off x="476545" y="953725"/>
          <a:ext cx="8460940" cy="5210855"/>
        </p:xfrm>
        <a:graphic>
          <a:graphicData uri="http://schemas.openxmlformats.org/drawingml/2006/table">
            <a:tbl>
              <a:tblPr/>
              <a:tblGrid>
                <a:gridCol w="675075"/>
                <a:gridCol w="945105"/>
                <a:gridCol w="990110"/>
                <a:gridCol w="5850650"/>
              </a:tblGrid>
              <a:tr h="43529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Год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Название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Иное название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Изменения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42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1986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SQL-86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  <a:latin typeface="+mn-lt"/>
                        </a:rPr>
                        <a:t>SQL-87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Первый вариант стандарта, принятый институтом ANSI и одобренный ISO в 1987 году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</a:t>
                      </a:r>
                      <a:r>
                        <a:rPr lang="en-US" sz="12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(American National Standards Institute/ </a:t>
                      </a:r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Organization for Standardization, ISO)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29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1989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SQL-89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  <a:latin typeface="+mn-lt"/>
                        </a:rPr>
                        <a:t>FIPS 127-1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Немного доработанный вариант предыдущего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стандарта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 (</a:t>
                      </a:r>
                      <a:r>
                        <a:rPr lang="en-US" sz="12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Federal Information Processing Standards)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</a:endParaRP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52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SQL-92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  <a:latin typeface="+mn-lt"/>
                        </a:rPr>
                        <a:t>SQL2,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/>
                      </a:r>
                      <a:br>
                        <a:rPr lang="ru-RU" sz="1200" dirty="0" smtClean="0">
                          <a:effectLst/>
                          <a:latin typeface="+mn-lt"/>
                        </a:rPr>
                      </a:br>
                      <a:r>
                        <a:rPr lang="en-US" sz="1200" dirty="0" smtClean="0">
                          <a:effectLst/>
                          <a:latin typeface="+mn-lt"/>
                        </a:rPr>
                        <a:t>FIPS 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127-2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Значительные изменения (ISO 9075); уровень </a:t>
                      </a:r>
                      <a:r>
                        <a:rPr lang="ru-RU" sz="1200" dirty="0" err="1">
                          <a:effectLst/>
                          <a:latin typeface="+mn-lt"/>
                        </a:rPr>
                        <a:t>Entry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+mn-lt"/>
                        </a:rPr>
                        <a:t>Level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 стандарта SQL-92 был принят как стандарт FIPS 127-2.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1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  <a:latin typeface="+mn-lt"/>
                        </a:rPr>
                        <a:t>1999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SQL:1999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  <a:latin typeface="+mn-lt"/>
                        </a:rPr>
                        <a:t>SQL3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Добавлена поддержка регулярных выражений, рекурсивных запросов, поддержка триггеров, базовые процедурные расширения, </a:t>
                      </a:r>
                      <a:r>
                        <a:rPr lang="ru-RU" sz="1200" dirty="0" err="1">
                          <a:effectLst/>
                          <a:latin typeface="+mn-lt"/>
                        </a:rPr>
                        <a:t>нескалярные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 типы данных и некоторые объектно-ориентированные возможности.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55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  <a:latin typeface="+mn-lt"/>
                        </a:rPr>
                        <a:t>2003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SQL:2003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</a:rPr>
                        <a:t> 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Введены расширения для работы с XML-данными, оконные функции (применяемые для работы с OLAP-базами данных), генераторы последовательностей и основанные на них типы данных.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427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  <a:latin typeface="+mn-lt"/>
                        </a:rPr>
                        <a:t>2006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SQL:2006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 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Функциональность работы с XML-данными значительно расширена. Появилась возможность совместно использовать в запросах SQL и </a:t>
                      </a:r>
                      <a:r>
                        <a:rPr lang="ru-RU" sz="1200" dirty="0" err="1">
                          <a:effectLst/>
                          <a:latin typeface="+mn-lt"/>
                        </a:rPr>
                        <a:t>XQuery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29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  <a:latin typeface="+mn-lt"/>
                        </a:rPr>
                        <a:t>2008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lt"/>
                        </a:rPr>
                        <a:t>SQL:2008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</a:rPr>
                        <a:t> 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Улучшены возможности оконных функций, устранены некоторые неоднозначности стандарта SQL:2003</a:t>
                      </a:r>
                    </a:p>
                  </a:txBody>
                  <a:tcPr marL="24289" marR="24289" marT="24289" marB="24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2011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SQL:2011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Реализована поддержка </a:t>
                      </a:r>
                      <a:r>
                        <a:rPr lang="ru-RU" sz="1200" u="none" strike="noStrike" dirty="0">
                          <a:solidFill>
                            <a:srgbClr val="0B0080"/>
                          </a:solidFill>
                          <a:latin typeface="+mn-lt"/>
                        </a:rPr>
                        <a:t>хронологических баз данных</a:t>
                      </a:r>
                      <a:r>
                        <a:rPr lang="ru-RU" sz="1200" dirty="0">
                          <a:latin typeface="+mn-lt"/>
                        </a:rPr>
                        <a:t> (PERIOD FOR), поддержка конструкции </a:t>
                      </a:r>
                      <a:r>
                        <a:rPr lang="ru-RU" sz="1200" dirty="0" smtClean="0">
                          <a:latin typeface="+mn-lt"/>
                        </a:rPr>
                        <a:t>FETCH.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SQL:2016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Защита на уровне строк, полиморфные табличные функции, JSON.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6643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511877" y="278650"/>
            <a:ext cx="8120245" cy="76655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2"/>
                </a:solidFill>
              </a:rPr>
              <a:t>Уровни соответствия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043735"/>
            <a:ext cx="8640960" cy="5355595"/>
          </a:xfrm>
        </p:spPr>
        <p:txBody>
          <a:bodyPr>
            <a:normAutofit fontScale="8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dirty="0"/>
              <a:t>В стандарте SQL92 было определено </a:t>
            </a:r>
            <a:r>
              <a:rPr lang="ru-RU" dirty="0" smtClean="0"/>
              <a:t>три </a:t>
            </a:r>
            <a:r>
              <a:rPr lang="ru-RU" dirty="0"/>
              <a:t>уровня соответствия: </a:t>
            </a:r>
          </a:p>
          <a:p>
            <a:pPr lvl="2">
              <a:spcBef>
                <a:spcPts val="120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itchFamily="2" charset="2"/>
              <a:buChar char="v"/>
              <a:defRPr/>
            </a:pPr>
            <a:r>
              <a:rPr lang="ru-RU" sz="3200" dirty="0" smtClean="0"/>
              <a:t> начальный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en-US" sz="3200" b="1" dirty="0"/>
              <a:t>Entry</a:t>
            </a:r>
            <a:r>
              <a:rPr lang="en-US" sz="3200" dirty="0" smtClean="0"/>
              <a:t>) </a:t>
            </a:r>
            <a:endParaRPr lang="ru-RU" sz="3200" dirty="0"/>
          </a:p>
          <a:p>
            <a:pPr lvl="2">
              <a:spcBef>
                <a:spcPts val="120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itchFamily="2" charset="2"/>
              <a:buChar char="v"/>
              <a:defRPr/>
            </a:pPr>
            <a:r>
              <a:rPr lang="ru-RU" sz="3200" dirty="0" smtClean="0"/>
              <a:t> промежуточный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en-US" sz="3200" b="1" dirty="0"/>
              <a:t>Intermediate</a:t>
            </a:r>
            <a:r>
              <a:rPr lang="en-US" sz="3200" dirty="0" smtClean="0"/>
              <a:t>)</a:t>
            </a:r>
            <a:endParaRPr lang="ru-RU" sz="3200" dirty="0"/>
          </a:p>
          <a:p>
            <a:pPr lvl="2">
              <a:spcBef>
                <a:spcPts val="120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itchFamily="2" charset="2"/>
              <a:buChar char="v"/>
              <a:defRPr/>
            </a:pPr>
            <a:r>
              <a:rPr lang="ru-RU" sz="3200" dirty="0" smtClean="0"/>
              <a:t> полный </a:t>
            </a:r>
            <a:r>
              <a:rPr lang="ru-RU" sz="3200" dirty="0"/>
              <a:t>(</a:t>
            </a:r>
            <a:r>
              <a:rPr lang="ru-RU" sz="3200" b="1" dirty="0" err="1"/>
              <a:t>Full</a:t>
            </a:r>
            <a:r>
              <a:rPr lang="ru-RU" sz="3200" smtClean="0"/>
              <a:t>)</a:t>
            </a:r>
            <a:endParaRPr lang="ru-RU" sz="3200" dirty="0"/>
          </a:p>
          <a:p>
            <a:pPr>
              <a:defRPr/>
            </a:pPr>
            <a:r>
              <a:rPr lang="ru-RU" dirty="0" smtClean="0"/>
              <a:t>с 1999 года </a:t>
            </a:r>
            <a:r>
              <a:rPr lang="ru-RU" dirty="0"/>
              <a:t>определяет большой список отдельных </a:t>
            </a:r>
            <a:r>
              <a:rPr lang="ru-RU" dirty="0" smtClean="0"/>
              <a:t>возможностей</a:t>
            </a:r>
          </a:p>
          <a:p>
            <a:pPr>
              <a:defRPr/>
            </a:pPr>
            <a:r>
              <a:rPr lang="ru-RU" dirty="0"/>
              <a:t>Большой подсписок этих возможностей </a:t>
            </a:r>
            <a:r>
              <a:rPr lang="ru-RU" dirty="0" smtClean="0"/>
              <a:t>представляет </a:t>
            </a:r>
            <a:r>
              <a:rPr lang="ru-RU" dirty="0"/>
              <a:t>собой "</a:t>
            </a:r>
            <a:r>
              <a:rPr lang="ru-RU" dirty="0" err="1"/>
              <a:t>Core</a:t>
            </a:r>
            <a:r>
              <a:rPr lang="ru-RU" dirty="0"/>
              <a:t>" (основные) </a:t>
            </a:r>
            <a:r>
              <a:rPr lang="ru-RU" dirty="0" smtClean="0"/>
              <a:t>возможности</a:t>
            </a:r>
          </a:p>
          <a:p>
            <a:pPr>
              <a:defRPr/>
            </a:pPr>
            <a:r>
              <a:rPr lang="ru-RU" dirty="0"/>
              <a:t>К</a:t>
            </a:r>
            <a:r>
              <a:rPr lang="ru-RU" dirty="0" smtClean="0"/>
              <a:t>аждая </a:t>
            </a:r>
            <a:r>
              <a:rPr lang="ru-RU" dirty="0"/>
              <a:t>из этих возможностей</a:t>
            </a:r>
            <a:r>
              <a:rPr lang="ru-RU" dirty="0" smtClean="0"/>
              <a:t> </a:t>
            </a:r>
            <a:r>
              <a:rPr lang="ru-RU" dirty="0"/>
              <a:t>должна поддерживаться совместимой со стандартом реализацией SQL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288032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Разновидности </a:t>
            </a:r>
            <a:r>
              <a:rPr lang="en-US" sz="3600" dirty="0">
                <a:solidFill>
                  <a:schemeClr val="bg2"/>
                </a:solidFill>
              </a:rPr>
              <a:t>SQL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47260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ru-RU" dirty="0"/>
              <a:t>И</a:t>
            </a:r>
            <a:r>
              <a:rPr lang="ru-RU" dirty="0" smtClean="0"/>
              <a:t>спользуются </a:t>
            </a:r>
            <a:r>
              <a:rPr lang="ru-RU" dirty="0"/>
              <a:t>следующие технологии (режимы) работы с базой данных на языке SQL</a:t>
            </a:r>
            <a:r>
              <a:rPr lang="ru-RU" dirty="0" smtClean="0"/>
              <a:t>: 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формирование непосредственно пользователем запроса на языке SQL в интерактивном режиме </a:t>
            </a:r>
            <a:r>
              <a:rPr lang="en-US" dirty="0" smtClean="0"/>
              <a:t>– </a:t>
            </a:r>
            <a:r>
              <a:rPr lang="ru-RU" b="1" dirty="0" smtClean="0"/>
              <a:t>интерактивный</a:t>
            </a:r>
            <a:r>
              <a:rPr lang="en-US" b="1" dirty="0" smtClean="0"/>
              <a:t> </a:t>
            </a:r>
            <a:r>
              <a:rPr lang="ru-RU" b="1" dirty="0" smtClean="0"/>
              <a:t> SQL</a:t>
            </a:r>
            <a:endParaRPr lang="en-US" dirty="0" smtClean="0"/>
          </a:p>
          <a:p>
            <a:pPr>
              <a:lnSpc>
                <a:spcPct val="120000"/>
              </a:lnSpc>
              <a:defRPr/>
            </a:pPr>
            <a:r>
              <a:rPr lang="ru-RU" dirty="0" smtClean="0"/>
              <a:t>формирование </a:t>
            </a:r>
            <a:r>
              <a:rPr lang="ru-RU" dirty="0"/>
              <a:t>запроса на языке SQL в прикладной </a:t>
            </a:r>
            <a:r>
              <a:rPr lang="ru-RU" dirty="0" smtClean="0"/>
              <a:t>программе </a:t>
            </a:r>
            <a:r>
              <a:rPr lang="ru-RU" dirty="0"/>
              <a:t>(программный или </a:t>
            </a:r>
            <a:r>
              <a:rPr lang="ru-RU" b="1" dirty="0"/>
              <a:t>встроенный SQL</a:t>
            </a:r>
            <a:r>
              <a:rPr lang="ru-RU" dirty="0"/>
              <a:t>) </a:t>
            </a:r>
            <a:endParaRPr lang="en-US" dirty="0" smtClean="0"/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статическое </a:t>
            </a:r>
            <a:r>
              <a:rPr lang="ru-RU" dirty="0"/>
              <a:t>формирование запроса </a:t>
            </a:r>
            <a:r>
              <a:rPr lang="ru-RU" dirty="0" smtClean="0"/>
              <a:t>(</a:t>
            </a:r>
            <a:r>
              <a:rPr lang="ru-RU" b="1" dirty="0" smtClean="0"/>
              <a:t>статический </a:t>
            </a:r>
            <a:r>
              <a:rPr lang="ru-RU" b="1" dirty="0"/>
              <a:t>SQL</a:t>
            </a:r>
            <a:r>
              <a:rPr lang="ru-RU" dirty="0"/>
              <a:t> </a:t>
            </a:r>
            <a:r>
              <a:rPr lang="ru-RU" dirty="0" smtClean="0"/>
              <a:t>);</a:t>
            </a:r>
            <a:endParaRPr lang="en-US" dirty="0" smtClean="0"/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динамическое </a:t>
            </a:r>
            <a:r>
              <a:rPr lang="ru-RU" dirty="0"/>
              <a:t>формирование запроса </a:t>
            </a:r>
            <a:r>
              <a:rPr lang="ru-RU" dirty="0" smtClean="0"/>
              <a:t>(</a:t>
            </a:r>
            <a:r>
              <a:rPr lang="ru-RU" b="1" dirty="0" smtClean="0"/>
              <a:t>динамический SQL</a:t>
            </a:r>
            <a:r>
              <a:rPr lang="ru-RU" dirty="0" smtClean="0"/>
              <a:t>);</a:t>
            </a:r>
            <a:endParaRPr lang="en-US" dirty="0" smtClean="0"/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dirty="0" smtClean="0"/>
              <a:t>формирование </a:t>
            </a:r>
            <a:r>
              <a:rPr lang="ru-RU" dirty="0"/>
              <a:t>запроса с помощью библиотек ( </a:t>
            </a:r>
            <a:r>
              <a:rPr lang="ru-RU" b="1" dirty="0"/>
              <a:t>API – интерфейсы вызова подпрограмм</a:t>
            </a:r>
            <a:r>
              <a:rPr lang="ru-RU" dirty="0"/>
              <a:t> 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0" y="6350"/>
            <a:ext cx="7264400" cy="574675"/>
          </a:xfrm>
        </p:spPr>
        <p:txBody>
          <a:bodyPr/>
          <a:lstStyle/>
          <a:p>
            <a:pPr algn="ctr" eaLnBrk="1" hangingPunct="1"/>
            <a:r>
              <a:rPr lang="ru-RU" sz="3200" dirty="0" smtClean="0">
                <a:solidFill>
                  <a:schemeClr val="bg2"/>
                </a:solidFill>
              </a:rPr>
              <a:t>Обозначения</a:t>
            </a:r>
            <a:r>
              <a:rPr lang="en-US" sz="3200" dirty="0" smtClean="0">
                <a:solidFill>
                  <a:schemeClr val="bg2"/>
                </a:solidFill>
              </a:rPr>
              <a:t> </a:t>
            </a:r>
            <a:endParaRPr lang="ru-RU" sz="3200" dirty="0" smtClean="0">
              <a:solidFill>
                <a:srgbClr val="FF0000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539750"/>
            <a:ext cx="8642350" cy="60579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sz="1600" dirty="0" smtClean="0"/>
              <a:t>Для описания правильных предложений языка </a:t>
            </a:r>
            <a:r>
              <a:rPr lang="en-US" sz="1600" dirty="0" smtClean="0"/>
              <a:t> SQL </a:t>
            </a:r>
            <a:r>
              <a:rPr lang="ru-RU" sz="1600" dirty="0" smtClean="0"/>
              <a:t>используются </a:t>
            </a:r>
          </a:p>
          <a:p>
            <a:pPr marL="0" indent="0">
              <a:buNone/>
              <a:defRPr/>
            </a:pPr>
            <a:r>
              <a:rPr lang="ru-RU" sz="1600" b="1" i="1" dirty="0" smtClean="0"/>
              <a:t>Стандартная форма Бэкуса-Наура</a:t>
            </a:r>
            <a:r>
              <a:rPr lang="en-US" sz="1600" b="1" i="1" dirty="0" smtClean="0"/>
              <a:t> </a:t>
            </a:r>
            <a:r>
              <a:rPr lang="en-US" sz="1600" dirty="0" smtClean="0"/>
              <a:t>(</a:t>
            </a:r>
            <a:r>
              <a:rPr lang="ru-RU" sz="1600" b="1" dirty="0" smtClean="0"/>
              <a:t>БНФ</a:t>
            </a:r>
            <a:r>
              <a:rPr lang="en-US" sz="1600" dirty="0" smtClean="0"/>
              <a:t>)</a:t>
            </a:r>
            <a:endParaRPr lang="ru-RU" sz="1600" dirty="0" smtClean="0"/>
          </a:p>
          <a:p>
            <a:pPr marL="457200" indent="-457200">
              <a:buFont typeface="Wingdings" pitchFamily="2" charset="2"/>
              <a:buAutoNum type="arabicPeriod"/>
              <a:defRPr/>
            </a:pPr>
            <a:r>
              <a:rPr lang="ru-RU" sz="1600" i="1" u="sng" dirty="0" smtClean="0"/>
              <a:t>Основные символы</a:t>
            </a:r>
            <a:r>
              <a:rPr lang="en-US" sz="1600" i="1" u="sng" dirty="0" smtClean="0"/>
              <a:t> </a:t>
            </a:r>
            <a:r>
              <a:rPr lang="ru-RU" sz="1600" i="1" u="sng" dirty="0" smtClean="0"/>
              <a:t> </a:t>
            </a:r>
            <a:r>
              <a:rPr lang="en-US" sz="1600" i="1" u="sng" dirty="0" smtClean="0"/>
              <a:t>(</a:t>
            </a:r>
            <a:r>
              <a:rPr lang="ru-RU" sz="1600" i="1" u="sng" dirty="0" smtClean="0"/>
              <a:t>терминальные символы)</a:t>
            </a:r>
          </a:p>
          <a:p>
            <a:pPr marL="857250" lvl="1" indent="-457200">
              <a:buClr>
                <a:schemeClr val="bg2"/>
              </a:buClr>
              <a:buFont typeface="Wingdings" pitchFamily="2" charset="2"/>
              <a:buChar char="v"/>
              <a:defRPr/>
            </a:pPr>
            <a:r>
              <a:rPr lang="ru-RU" sz="1600" dirty="0" smtClean="0"/>
              <a:t>Ключевые ( служебные )слова</a:t>
            </a:r>
          </a:p>
          <a:p>
            <a:pPr marL="857250" lvl="1" indent="-457200">
              <a:buClr>
                <a:schemeClr val="bg2"/>
              </a:buClr>
              <a:buFont typeface="Wingdings" pitchFamily="2" charset="2"/>
              <a:buChar char="v"/>
              <a:defRPr/>
            </a:pPr>
            <a:r>
              <a:rPr lang="ru-RU" sz="1600" dirty="0" smtClean="0"/>
              <a:t>Знаки операций</a:t>
            </a:r>
          </a:p>
          <a:p>
            <a:pPr marL="857250" lvl="1" indent="-457200">
              <a:buClr>
                <a:schemeClr val="bg2"/>
              </a:buClr>
              <a:buFont typeface="Wingdings" pitchFamily="2" charset="2"/>
              <a:buChar char="v"/>
              <a:defRPr/>
            </a:pPr>
            <a:r>
              <a:rPr lang="ru-RU" sz="1600" dirty="0" smtClean="0"/>
              <a:t>Круглые скобки</a:t>
            </a:r>
          </a:p>
          <a:p>
            <a:pPr marL="857250" lvl="1" indent="-457200">
              <a:buFont typeface="Wingdings" pitchFamily="2" charset="2"/>
              <a:buAutoNum type="arabicPeriod"/>
              <a:defRPr/>
            </a:pPr>
            <a:endParaRPr lang="ru-RU" sz="1600" dirty="0" smtClean="0"/>
          </a:p>
          <a:p>
            <a:pPr marL="457200" indent="-457200">
              <a:buFont typeface="Wingdings" pitchFamily="2" charset="2"/>
              <a:buAutoNum type="arabicPeriod"/>
              <a:defRPr/>
            </a:pPr>
            <a:r>
              <a:rPr lang="ru-RU" sz="1600" i="1" u="sng" dirty="0" smtClean="0"/>
              <a:t>Металингвистические переменные (нетерминальные символы)</a:t>
            </a:r>
          </a:p>
          <a:p>
            <a:pPr marL="857250" lvl="1" indent="-457200">
              <a:buClr>
                <a:schemeClr val="bg2"/>
              </a:buClr>
              <a:buFont typeface="Wingdings" pitchFamily="2" charset="2"/>
              <a:buChar char="v"/>
              <a:defRPr/>
            </a:pPr>
            <a:r>
              <a:rPr lang="ru-RU" sz="1600" dirty="0" smtClean="0"/>
              <a:t>их значениями являются цепочки основных символов</a:t>
            </a:r>
          </a:p>
          <a:p>
            <a:pPr marL="857250" lvl="1" indent="-457200">
              <a:buClr>
                <a:schemeClr val="bg2"/>
              </a:buClr>
              <a:buFont typeface="Wingdings" pitchFamily="2" charset="2"/>
              <a:buChar char="v"/>
              <a:defRPr/>
            </a:pPr>
            <a:r>
              <a:rPr lang="ru-RU" sz="1600" dirty="0" smtClean="0"/>
              <a:t>изображаются словами (русскими или английскими), заключенными в угловые скобки ( &lt;...&gt; )</a:t>
            </a:r>
          </a:p>
          <a:p>
            <a:pPr marL="457200" indent="-457200">
              <a:buFont typeface="Wingdings" pitchFamily="2" charset="2"/>
              <a:buAutoNum type="arabicPeriod"/>
              <a:defRPr/>
            </a:pPr>
            <a:r>
              <a:rPr lang="ru-RU" sz="1600" i="1" u="sng" dirty="0" smtClean="0"/>
              <a:t>Металингвистические связки</a:t>
            </a:r>
          </a:p>
          <a:p>
            <a:pPr marL="857250" lvl="1" indent="-457200">
              <a:buClr>
                <a:schemeClr val="bg2"/>
              </a:buClr>
              <a:buNone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::=</a:t>
            </a:r>
            <a:r>
              <a:rPr lang="ru-RU" sz="1600" b="1" dirty="0" smtClean="0"/>
              <a:t> </a:t>
            </a:r>
            <a:r>
              <a:rPr lang="en-US" sz="1600" dirty="0" smtClean="0"/>
              <a:t> </a:t>
            </a:r>
            <a:r>
              <a:rPr lang="ru-RU" sz="1600" dirty="0" smtClean="0"/>
              <a:t>	символ равенства по определению </a:t>
            </a:r>
          </a:p>
          <a:p>
            <a:pPr marL="857250" lvl="1" indent="-457200">
              <a:buClr>
                <a:schemeClr val="bg2"/>
              </a:buClr>
              <a:buNone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| </a:t>
            </a:r>
            <a:r>
              <a:rPr lang="ru-RU" sz="1600" dirty="0" smtClean="0"/>
              <a:t> 	вертикальная черта разделяет альтернативные элементы из списка</a:t>
            </a:r>
          </a:p>
          <a:p>
            <a:pPr marL="857250" lvl="1" indent="-457200">
              <a:buClr>
                <a:schemeClr val="bg2"/>
              </a:buClr>
              <a:buNone/>
              <a:defRPr/>
            </a:pPr>
            <a:r>
              <a:rPr lang="en-US" sz="1600" b="1" dirty="0" smtClean="0">
                <a:solidFill>
                  <a:srgbClr val="FF0000"/>
                </a:solidFill>
              </a:rPr>
              <a:t>[ ] </a:t>
            </a:r>
            <a:r>
              <a:rPr lang="ru-RU" sz="1600" b="1" dirty="0" smtClean="0">
                <a:solidFill>
                  <a:srgbClr val="FF0000"/>
                </a:solidFill>
              </a:rPr>
              <a:t> 	</a:t>
            </a:r>
            <a:r>
              <a:rPr lang="ru-RU" sz="1600" dirty="0" smtClean="0"/>
              <a:t>необязательные элементы заключаются в квадратные скобки</a:t>
            </a:r>
          </a:p>
          <a:p>
            <a:pPr marL="457200" indent="-457200">
              <a:buFont typeface="Wingdings" pitchFamily="2" charset="2"/>
              <a:buChar char="v"/>
              <a:defRPr/>
            </a:pPr>
            <a:endParaRPr lang="ru-RU" sz="1600" dirty="0" smtClean="0"/>
          </a:p>
          <a:p>
            <a:pPr marL="457200" indent="-457200">
              <a:buNone/>
              <a:defRPr/>
            </a:pPr>
            <a:r>
              <a:rPr lang="ru-RU" sz="1600" b="1" dirty="0" smtClean="0"/>
              <a:t>Примеры описания</a:t>
            </a:r>
          </a:p>
          <a:p>
            <a:pPr marL="0" indent="0">
              <a:buNone/>
              <a:defRPr/>
            </a:pPr>
            <a:r>
              <a:rPr lang="ru-RU" sz="1600" b="1" dirty="0" smtClean="0"/>
              <a:t>&lt;</a:t>
            </a:r>
            <a:r>
              <a:rPr lang="ru-RU" sz="1600" dirty="0" smtClean="0"/>
              <a:t>условный оператор IF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::=</a:t>
            </a:r>
            <a:r>
              <a:rPr lang="ru-RU" sz="1600" dirty="0" smtClean="0"/>
              <a:t> 	IF </a:t>
            </a:r>
            <a:r>
              <a:rPr lang="ru-RU" sz="1600" b="1" dirty="0" smtClean="0"/>
              <a:t>&lt;</a:t>
            </a:r>
            <a:r>
              <a:rPr lang="ru-RU" sz="1600" dirty="0" smtClean="0"/>
              <a:t>булево 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 THEN </a:t>
            </a:r>
            <a:r>
              <a:rPr lang="ru-RU" sz="1600" b="1" dirty="0" smtClean="0"/>
              <a:t>&lt;</a:t>
            </a:r>
            <a:r>
              <a:rPr lang="ru-RU" sz="1600" dirty="0" smtClean="0"/>
              <a:t>оператор</a:t>
            </a:r>
            <a:r>
              <a:rPr lang="ru-RU" sz="1600" b="1" dirty="0" smtClean="0"/>
              <a:t>&gt;</a:t>
            </a:r>
            <a:r>
              <a:rPr lang="ru-RU" sz="1600" dirty="0" smtClean="0"/>
              <a:t>  [ELSE </a:t>
            </a:r>
            <a:r>
              <a:rPr lang="ru-RU" sz="1600" b="1" dirty="0" smtClean="0"/>
              <a:t>&lt;</a:t>
            </a:r>
            <a:r>
              <a:rPr lang="ru-RU" sz="1600" dirty="0" smtClean="0"/>
              <a:t>оператор</a:t>
            </a:r>
            <a:r>
              <a:rPr lang="ru-RU" sz="1600" b="1" dirty="0" smtClean="0"/>
              <a:t>&gt;</a:t>
            </a:r>
            <a:r>
              <a:rPr lang="ru-RU" sz="1600" dirty="0" smtClean="0"/>
              <a:t>] </a:t>
            </a:r>
            <a:endParaRPr lang="en-US" sz="1600" dirty="0" smtClean="0"/>
          </a:p>
          <a:p>
            <a:pPr marL="0" indent="0">
              <a:buNone/>
              <a:defRPr/>
            </a:pPr>
            <a:r>
              <a:rPr lang="ru-RU" sz="1600" b="1" dirty="0" smtClean="0"/>
              <a:t>&lt;</a:t>
            </a:r>
            <a:r>
              <a:rPr lang="ru-RU" sz="1600" dirty="0" smtClean="0"/>
              <a:t>булево 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::=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булево 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логический оператор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булево выражение</a:t>
            </a:r>
            <a:r>
              <a:rPr lang="ru-RU" sz="1600" b="1" dirty="0" smtClean="0"/>
              <a:t>&gt;</a:t>
            </a:r>
            <a:endParaRPr lang="en-US" sz="1600" b="1" dirty="0" smtClean="0"/>
          </a:p>
          <a:p>
            <a:pPr marL="0" indent="0">
              <a:buNone/>
              <a:defRPr/>
            </a:pPr>
            <a:r>
              <a:rPr lang="ru-RU" sz="1600" b="1" dirty="0" smtClean="0"/>
              <a:t>		         |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арифметический оператор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</a:p>
          <a:p>
            <a:pPr marL="0" indent="0">
              <a:buNone/>
              <a:defRPr/>
            </a:pPr>
            <a:r>
              <a:rPr lang="ru-RU" sz="1600" b="1" dirty="0" smtClean="0"/>
              <a:t>&lt;</a:t>
            </a:r>
            <a:r>
              <a:rPr lang="ru-RU" sz="1600" dirty="0" smtClean="0"/>
              <a:t>логический оператор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::= </a:t>
            </a:r>
            <a:r>
              <a:rPr lang="en-US" sz="1600" b="1" dirty="0" smtClean="0"/>
              <a:t>AND | OR | NOT</a:t>
            </a:r>
            <a:endParaRPr lang="ru-RU" sz="1600" dirty="0" smtClean="0"/>
          </a:p>
          <a:p>
            <a:pPr marL="0" indent="0">
              <a:buNone/>
              <a:defRPr/>
            </a:pPr>
            <a:r>
              <a:rPr lang="ru-RU" sz="1600" b="1" dirty="0" smtClean="0"/>
              <a:t>&lt;</a:t>
            </a:r>
            <a:r>
              <a:rPr lang="ru-RU" sz="1600" dirty="0" smtClean="0"/>
              <a:t>арифметический оператор </a:t>
            </a:r>
            <a:r>
              <a:rPr lang="ru-RU" sz="1600" b="1" dirty="0" smtClean="0"/>
              <a:t>::=</a:t>
            </a:r>
            <a:r>
              <a:rPr lang="ru-RU" sz="1600" dirty="0" smtClean="0"/>
              <a:t> </a:t>
            </a:r>
            <a:r>
              <a:rPr lang="ru-RU" sz="1600" b="1" dirty="0" smtClean="0"/>
              <a:t>&lt; | &gt;</a:t>
            </a:r>
            <a:r>
              <a:rPr lang="ru-RU" sz="1600" dirty="0" smtClean="0"/>
              <a:t> </a:t>
            </a:r>
            <a:r>
              <a:rPr lang="ru-RU" sz="1600" b="1" dirty="0" smtClean="0"/>
              <a:t>|</a:t>
            </a:r>
            <a:r>
              <a:rPr lang="ru-RU" sz="1600" dirty="0" smtClean="0"/>
              <a:t> </a:t>
            </a:r>
            <a:r>
              <a:rPr lang="ru-RU" sz="1600" b="1" dirty="0" smtClean="0"/>
              <a:t>=</a:t>
            </a:r>
            <a:r>
              <a:rPr lang="ru-RU" sz="1600" dirty="0" smtClean="0"/>
              <a:t> </a:t>
            </a:r>
            <a:r>
              <a:rPr lang="en-US" sz="1600" dirty="0" smtClean="0"/>
              <a:t> | </a:t>
            </a:r>
            <a:endParaRPr lang="ru-RU" sz="1600" dirty="0" smtClean="0"/>
          </a:p>
          <a:p>
            <a:pPr marL="0" indent="0">
              <a:buNone/>
              <a:defRPr/>
            </a:pPr>
            <a:r>
              <a:rPr lang="ru-RU" sz="1600" b="1" dirty="0" smtClean="0"/>
              <a:t>&lt;</a:t>
            </a:r>
            <a:r>
              <a:rPr lang="ru-RU" sz="1600" dirty="0" smtClean="0"/>
              <a:t>выражение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::=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переменная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|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строка</a:t>
            </a:r>
            <a:r>
              <a:rPr lang="ru-RU" sz="1600" b="1" dirty="0" smtClean="0"/>
              <a:t>&gt;</a:t>
            </a:r>
            <a:r>
              <a:rPr lang="ru-RU" sz="1600" dirty="0" smtClean="0"/>
              <a:t> </a:t>
            </a:r>
            <a:r>
              <a:rPr lang="ru-RU" sz="1600" b="1" dirty="0" smtClean="0"/>
              <a:t>|</a:t>
            </a:r>
            <a:r>
              <a:rPr lang="ru-RU" sz="1600" dirty="0" smtClean="0"/>
              <a:t> </a:t>
            </a:r>
            <a:r>
              <a:rPr lang="ru-RU" sz="1600" b="1" dirty="0" smtClean="0"/>
              <a:t>&lt;</a:t>
            </a:r>
            <a:r>
              <a:rPr lang="ru-RU" sz="1600" dirty="0" smtClean="0"/>
              <a:t>символ</a:t>
            </a:r>
            <a:r>
              <a:rPr lang="ru-RU" sz="1600" b="1" dirty="0" smtClean="0"/>
              <a:t>&gt;</a:t>
            </a:r>
            <a:endParaRPr lang="en-US" sz="16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1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0" y="333375"/>
            <a:ext cx="7264400" cy="574675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Обозначения (2)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071547"/>
            <a:ext cx="8642350" cy="55261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1800" b="1" i="1" dirty="0" smtClean="0"/>
              <a:t>Графическое представление</a:t>
            </a:r>
            <a:r>
              <a:rPr lang="ru-RU" sz="1800" b="1" dirty="0" smtClean="0"/>
              <a:t> </a:t>
            </a:r>
            <a:r>
              <a:rPr lang="ru-RU" sz="1800" dirty="0" smtClean="0"/>
              <a:t>. </a:t>
            </a:r>
          </a:p>
          <a:p>
            <a:r>
              <a:rPr lang="ru-RU" sz="1800" dirty="0" smtClean="0"/>
              <a:t>Такое </a:t>
            </a:r>
            <a:r>
              <a:rPr lang="ru-RU" sz="1800" i="1" dirty="0" smtClean="0"/>
              <a:t>представление</a:t>
            </a:r>
            <a:r>
              <a:rPr lang="ru-RU" sz="1800" dirty="0" smtClean="0"/>
              <a:t> известно как синтаксические диаграммы (</a:t>
            </a:r>
            <a:r>
              <a:rPr lang="ru-RU" sz="1800" i="1" dirty="0" err="1" smtClean="0"/>
              <a:t>syntax</a:t>
            </a:r>
            <a:r>
              <a:rPr lang="ru-RU" sz="1800" dirty="0" smtClean="0"/>
              <a:t> </a:t>
            </a:r>
            <a:r>
              <a:rPr lang="ru-RU" sz="1800" dirty="0" err="1" smtClean="0"/>
              <a:t>diagrams</a:t>
            </a:r>
            <a:r>
              <a:rPr lang="ru-RU" sz="1800" dirty="0" smtClean="0"/>
              <a:t>) или синтаксические схемы (</a:t>
            </a:r>
            <a:r>
              <a:rPr lang="ru-RU" sz="1800" i="1" dirty="0" err="1" smtClean="0"/>
              <a:t>syntax</a:t>
            </a:r>
            <a:r>
              <a:rPr lang="ru-RU" sz="1800" dirty="0" smtClean="0"/>
              <a:t> </a:t>
            </a:r>
            <a:r>
              <a:rPr lang="ru-RU" sz="1800" dirty="0" err="1" smtClean="0"/>
              <a:t>charts</a:t>
            </a:r>
            <a:r>
              <a:rPr lang="ru-RU" sz="1800" dirty="0" smtClean="0"/>
              <a:t>). </a:t>
            </a:r>
          </a:p>
          <a:p>
            <a:r>
              <a:rPr lang="ru-RU" sz="1800" dirty="0" smtClean="0"/>
              <a:t>Они использовались для определения синтаксиса языков </a:t>
            </a:r>
            <a:r>
              <a:rPr lang="ru-RU" sz="1800" i="1" dirty="0" err="1" smtClean="0"/>
              <a:t>Pascal</a:t>
            </a:r>
            <a:r>
              <a:rPr lang="ru-RU" sz="1800" dirty="0" smtClean="0"/>
              <a:t>, Modula-2. Они имеют форму блок-схем (</a:t>
            </a:r>
            <a:r>
              <a:rPr lang="ru-RU" sz="1800" i="1" dirty="0" err="1" smtClean="0"/>
              <a:t>flow</a:t>
            </a:r>
            <a:r>
              <a:rPr lang="ru-RU" sz="1800" dirty="0" smtClean="0"/>
              <a:t> </a:t>
            </a:r>
            <a:r>
              <a:rPr lang="ru-RU" sz="1800" i="1" dirty="0" err="1" smtClean="0"/>
              <a:t>diagram</a:t>
            </a:r>
            <a:r>
              <a:rPr lang="ru-RU" sz="1800" dirty="0" smtClean="0"/>
              <a:t>).</a:t>
            </a:r>
          </a:p>
          <a:p>
            <a:pPr>
              <a:buNone/>
            </a:pPr>
            <a:r>
              <a:rPr lang="ru-RU" sz="1800" b="1" u="sng" dirty="0" smtClean="0"/>
              <a:t>Пример</a:t>
            </a:r>
            <a:r>
              <a:rPr lang="ru-RU" sz="1800" u="sng" dirty="0" smtClean="0"/>
              <a:t>.</a:t>
            </a:r>
            <a:r>
              <a:rPr lang="ru-RU" sz="1800" dirty="0" smtClean="0"/>
              <a:t> Описание идентификатора</a:t>
            </a:r>
          </a:p>
          <a:p>
            <a:endParaRPr lang="ru-RU" sz="1800" dirty="0"/>
          </a:p>
          <a:p>
            <a:endParaRPr lang="ru-RU" sz="1800" dirty="0" smtClean="0"/>
          </a:p>
          <a:p>
            <a:endParaRPr lang="ru-RU" sz="1800" dirty="0"/>
          </a:p>
          <a:p>
            <a:endParaRPr lang="ru-RU" sz="1800" dirty="0" smtClean="0"/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r>
              <a:rPr lang="ru-RU" sz="1800" b="1" dirty="0" smtClean="0"/>
              <a:t>Сравнить с записью в БНФ</a:t>
            </a:r>
            <a:endParaRPr lang="en-US" sz="1800" b="1" dirty="0" smtClean="0"/>
          </a:p>
          <a:p>
            <a:r>
              <a:rPr lang="ru-RU" sz="1800" b="1" dirty="0" smtClean="0"/>
              <a:t>&lt;</a:t>
            </a:r>
            <a:r>
              <a:rPr lang="en-US" sz="1800" dirty="0" smtClean="0"/>
              <a:t>Identifier</a:t>
            </a:r>
            <a:r>
              <a:rPr lang="ru-RU" sz="1800" b="1" dirty="0" smtClean="0"/>
              <a:t>&gt;</a:t>
            </a:r>
            <a:r>
              <a:rPr lang="ru-RU" sz="1800" dirty="0" smtClean="0"/>
              <a:t> </a:t>
            </a:r>
            <a:r>
              <a:rPr lang="ru-RU" sz="1800" b="1" dirty="0"/>
              <a:t>::=</a:t>
            </a:r>
            <a:r>
              <a:rPr lang="ru-RU" sz="1800" dirty="0"/>
              <a:t> </a:t>
            </a:r>
            <a:r>
              <a:rPr lang="ru-RU" sz="1800" b="1" dirty="0" smtClean="0"/>
              <a:t>&lt;</a:t>
            </a:r>
            <a:r>
              <a:rPr lang="en-US" sz="1800" dirty="0" smtClean="0"/>
              <a:t>Letter</a:t>
            </a:r>
            <a:r>
              <a:rPr lang="ru-RU" sz="1800" b="1" dirty="0" smtClean="0"/>
              <a:t>&gt;</a:t>
            </a:r>
            <a:r>
              <a:rPr lang="ru-RU" sz="1800" dirty="0" smtClean="0"/>
              <a:t> </a:t>
            </a:r>
            <a:r>
              <a:rPr lang="ru-RU" sz="1800" b="1" dirty="0" smtClean="0"/>
              <a:t>&lt;</a:t>
            </a:r>
            <a:r>
              <a:rPr lang="en-US" sz="1800" dirty="0"/>
              <a:t>S</a:t>
            </a:r>
            <a:r>
              <a:rPr lang="en-US" sz="1800" dirty="0" smtClean="0"/>
              <a:t>uffix</a:t>
            </a:r>
            <a:r>
              <a:rPr lang="ru-RU" sz="1800" b="1" dirty="0" smtClean="0"/>
              <a:t>&gt;</a:t>
            </a:r>
            <a:r>
              <a:rPr lang="ru-RU" sz="1800" dirty="0" smtClean="0"/>
              <a:t> </a:t>
            </a:r>
            <a:endParaRPr lang="en-US" sz="1800" dirty="0" smtClean="0"/>
          </a:p>
          <a:p>
            <a:r>
              <a:rPr lang="ru-RU" sz="1800" b="1" dirty="0" smtClean="0"/>
              <a:t>&lt;</a:t>
            </a:r>
            <a:r>
              <a:rPr lang="en-US" sz="1800" dirty="0"/>
              <a:t>Suffix</a:t>
            </a:r>
            <a:r>
              <a:rPr lang="ru-RU" sz="1800" b="1" dirty="0" smtClean="0"/>
              <a:t>&gt;</a:t>
            </a:r>
            <a:r>
              <a:rPr lang="en-US" sz="1800" b="1" dirty="0" smtClean="0"/>
              <a:t> </a:t>
            </a:r>
            <a:r>
              <a:rPr lang="ru-RU" sz="1800" b="1" dirty="0"/>
              <a:t>::=</a:t>
            </a:r>
            <a:r>
              <a:rPr lang="ru-RU" sz="1800" dirty="0"/>
              <a:t> </a:t>
            </a:r>
            <a:r>
              <a:rPr lang="ru-RU" sz="1800" b="1" dirty="0"/>
              <a:t>&lt;</a:t>
            </a:r>
            <a:r>
              <a:rPr lang="en-US" sz="1800" dirty="0"/>
              <a:t>Letter</a:t>
            </a:r>
            <a:r>
              <a:rPr lang="ru-RU" sz="1800" b="1" dirty="0"/>
              <a:t>&gt;</a:t>
            </a:r>
            <a:r>
              <a:rPr lang="ru-RU" sz="1800" dirty="0"/>
              <a:t> </a:t>
            </a:r>
            <a:r>
              <a:rPr lang="ru-RU" sz="1800" b="1" dirty="0"/>
              <a:t>&lt;</a:t>
            </a:r>
            <a:r>
              <a:rPr lang="en-US" sz="1800" dirty="0"/>
              <a:t>Suffix</a:t>
            </a:r>
            <a:r>
              <a:rPr lang="ru-RU" sz="1800" b="1" dirty="0"/>
              <a:t>&gt;</a:t>
            </a:r>
            <a:r>
              <a:rPr lang="ru-RU" sz="1800" dirty="0"/>
              <a:t> </a:t>
            </a:r>
            <a:r>
              <a:rPr lang="en-US" sz="1800" dirty="0"/>
              <a:t>| </a:t>
            </a:r>
            <a:r>
              <a:rPr lang="ru-RU" sz="1800" b="1" dirty="0"/>
              <a:t>&lt;</a:t>
            </a:r>
            <a:r>
              <a:rPr lang="en-US" sz="1800" dirty="0"/>
              <a:t>Digit</a:t>
            </a:r>
            <a:r>
              <a:rPr lang="ru-RU" sz="1800" b="1" dirty="0" smtClean="0"/>
              <a:t>&gt;&lt;</a:t>
            </a:r>
            <a:r>
              <a:rPr lang="en-US" sz="1800" dirty="0"/>
              <a:t>Suffix</a:t>
            </a:r>
            <a:r>
              <a:rPr lang="ru-RU" sz="1800" b="1" dirty="0" smtClean="0"/>
              <a:t>&gt;</a:t>
            </a:r>
            <a:r>
              <a:rPr lang="en-US" sz="1800" b="1" dirty="0" smtClean="0"/>
              <a:t>| </a:t>
            </a:r>
            <a:r>
              <a:rPr lang="ru-RU" sz="1800" b="1" dirty="0"/>
              <a:t>&lt;</a:t>
            </a:r>
            <a:r>
              <a:rPr lang="en-US" sz="1800" dirty="0"/>
              <a:t>Letter</a:t>
            </a:r>
            <a:r>
              <a:rPr lang="ru-RU" sz="1800" b="1" dirty="0"/>
              <a:t>&gt;</a:t>
            </a:r>
            <a:r>
              <a:rPr lang="ru-RU" sz="1800" dirty="0"/>
              <a:t> </a:t>
            </a:r>
            <a:r>
              <a:rPr lang="en-US" sz="1800" dirty="0" smtClean="0"/>
              <a:t>| </a:t>
            </a:r>
            <a:r>
              <a:rPr lang="ru-RU" sz="1800" b="1" dirty="0"/>
              <a:t>&lt;</a:t>
            </a:r>
            <a:r>
              <a:rPr lang="en-US" sz="1800" dirty="0"/>
              <a:t>Digit</a:t>
            </a:r>
            <a:r>
              <a:rPr lang="ru-RU" sz="1800" b="1" dirty="0" smtClean="0"/>
              <a:t>&gt;</a:t>
            </a:r>
            <a:endParaRPr lang="en-US" sz="1800" b="1" dirty="0" smtClean="0"/>
          </a:p>
          <a:p>
            <a:r>
              <a:rPr lang="ru-RU" sz="1800" b="1" dirty="0"/>
              <a:t>&lt;</a:t>
            </a:r>
            <a:r>
              <a:rPr lang="en-US" sz="1800" dirty="0"/>
              <a:t>Letter</a:t>
            </a:r>
            <a:r>
              <a:rPr lang="ru-RU" sz="1800" b="1" dirty="0" smtClean="0"/>
              <a:t>&gt;</a:t>
            </a:r>
            <a:r>
              <a:rPr lang="en-US" sz="1800" b="1" dirty="0" smtClean="0"/>
              <a:t> </a:t>
            </a:r>
            <a:r>
              <a:rPr lang="ru-RU" sz="1800" b="1" dirty="0" smtClean="0"/>
              <a:t>::=</a:t>
            </a:r>
            <a:r>
              <a:rPr lang="en-US" sz="1800" b="1" dirty="0" smtClean="0"/>
              <a:t> </a:t>
            </a:r>
            <a:r>
              <a:rPr lang="en-US" sz="1800" dirty="0" smtClean="0"/>
              <a:t>&lt;English Alphabet&gt;| &lt;Russian </a:t>
            </a:r>
            <a:r>
              <a:rPr lang="en-US" sz="1800" dirty="0"/>
              <a:t>Alphabet</a:t>
            </a:r>
            <a:r>
              <a:rPr lang="en-US" sz="1800" dirty="0" smtClean="0"/>
              <a:t>&gt; | &lt;Sings&gt;</a:t>
            </a:r>
          </a:p>
          <a:p>
            <a:r>
              <a:rPr lang="en-US" sz="1800" dirty="0"/>
              <a:t>&lt;English </a:t>
            </a:r>
            <a:r>
              <a:rPr lang="en-US" sz="1800" dirty="0" smtClean="0"/>
              <a:t>Alphabet&gt; </a:t>
            </a:r>
            <a:r>
              <a:rPr lang="ru-RU" sz="1800" b="1" dirty="0"/>
              <a:t>::=</a:t>
            </a:r>
            <a:r>
              <a:rPr lang="en-US" sz="1800" dirty="0" smtClean="0"/>
              <a:t> </a:t>
            </a:r>
            <a:r>
              <a:rPr lang="en-US" sz="1800" b="1" dirty="0" smtClean="0"/>
              <a:t>A|B|C|D|E|F|G|H|IJKLMNOPQRSTUVWXYZ</a:t>
            </a:r>
            <a:endParaRPr lang="en-US" sz="1800" b="1" dirty="0"/>
          </a:p>
          <a:p>
            <a:r>
              <a:rPr lang="en-US" sz="1800" dirty="0"/>
              <a:t>&lt;Sings</a:t>
            </a:r>
            <a:r>
              <a:rPr lang="en-US" sz="1800" dirty="0" smtClean="0"/>
              <a:t>&gt; </a:t>
            </a:r>
            <a:r>
              <a:rPr lang="ru-RU" sz="1800" b="1" dirty="0"/>
              <a:t>::=</a:t>
            </a:r>
            <a:endParaRPr lang="en-US" sz="1800" dirty="0"/>
          </a:p>
          <a:p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550" y="3071810"/>
            <a:ext cx="7245805" cy="1576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1540" y="115888"/>
            <a:ext cx="7740910" cy="720725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Пользователи, схемы и сеансы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9036050" cy="56165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ru-RU" sz="2400" dirty="0" smtClean="0"/>
              <a:t>Все данные содержатся в таблицах</a:t>
            </a:r>
          </a:p>
          <a:p>
            <a:pPr eaLnBrk="1" hangingPunct="1">
              <a:defRPr/>
            </a:pPr>
            <a:r>
              <a:rPr lang="ru-RU" sz="2400" dirty="0" smtClean="0"/>
              <a:t>Таблицы сгруппированы в СХЕМЫ</a:t>
            </a:r>
          </a:p>
          <a:p>
            <a:pPr eaLnBrk="1" hangingPunct="1">
              <a:defRPr/>
            </a:pPr>
            <a:r>
              <a:rPr lang="ru-RU" sz="2400" dirty="0" smtClean="0"/>
              <a:t>Схемы располагаются в КАТАЛОГАХ</a:t>
            </a:r>
          </a:p>
          <a:p>
            <a:pPr eaLnBrk="1" hangingPunct="1">
              <a:defRPr/>
            </a:pPr>
            <a:r>
              <a:rPr lang="ru-RU" sz="2400" dirty="0" smtClean="0"/>
              <a:t>В дальнейшем каталоги могут быть сгруппированы в КЛАСТЕРЫ</a:t>
            </a:r>
          </a:p>
          <a:p>
            <a:pPr eaLnBrk="1" hangingPunct="1">
              <a:defRPr/>
            </a:pPr>
            <a:r>
              <a:rPr lang="ru-RU" sz="2400" dirty="0" smtClean="0"/>
              <a:t>Согласно стандарту субъект, который создает </a:t>
            </a:r>
            <a:r>
              <a:rPr lang="en-US" sz="2400" dirty="0" smtClean="0"/>
              <a:t>SQL</a:t>
            </a:r>
            <a:r>
              <a:rPr lang="ru-RU" sz="2400" dirty="0" smtClean="0"/>
              <a:t>-операторы называется </a:t>
            </a:r>
            <a:r>
              <a:rPr lang="en-US" sz="2400" i="1" dirty="0" smtClean="0"/>
              <a:t>SQL</a:t>
            </a:r>
            <a:r>
              <a:rPr lang="ru-RU" sz="2400" i="1" dirty="0" smtClean="0"/>
              <a:t>-агент</a:t>
            </a:r>
          </a:p>
          <a:p>
            <a:pPr eaLnBrk="1" hangingPunct="1">
              <a:defRPr/>
            </a:pPr>
            <a:r>
              <a:rPr lang="en-US" sz="2400" i="1" dirty="0" smtClean="0"/>
              <a:t>SQL</a:t>
            </a:r>
            <a:r>
              <a:rPr lang="ru-RU" sz="2400" i="1" dirty="0" smtClean="0"/>
              <a:t>-агент </a:t>
            </a:r>
            <a:r>
              <a:rPr lang="ru-RU" sz="2400" dirty="0" smtClean="0"/>
              <a:t>связывается с идентификатором авторизации пользователя (</a:t>
            </a:r>
            <a:r>
              <a:rPr lang="en-US" sz="2400" dirty="0" smtClean="0"/>
              <a:t>Authorization ID)</a:t>
            </a:r>
            <a:r>
              <a:rPr lang="ru-RU" sz="2400" dirty="0" smtClean="0"/>
              <a:t>, имеющим группу привилегий.</a:t>
            </a:r>
          </a:p>
          <a:p>
            <a:pPr eaLnBrk="1" hangingPunct="1">
              <a:defRPr/>
            </a:pPr>
            <a:r>
              <a:rPr lang="en-US" sz="2400" dirty="0" smtClean="0"/>
              <a:t>Authorization ID</a:t>
            </a:r>
            <a:r>
              <a:rPr lang="ru-RU" sz="2400" dirty="0" smtClean="0"/>
              <a:t> устанавливает связь с СУБД</a:t>
            </a:r>
          </a:p>
          <a:p>
            <a:pPr eaLnBrk="1" hangingPunct="1">
              <a:defRPr/>
            </a:pPr>
            <a:r>
              <a:rPr lang="ru-RU" sz="2400" dirty="0" smtClean="0"/>
              <a:t>Установление такой связи определяет начало сеанса.</a:t>
            </a:r>
          </a:p>
          <a:p>
            <a:pPr eaLnBrk="1" hangingPunct="1">
              <a:defRPr/>
            </a:pPr>
            <a:r>
              <a:rPr lang="en-US" sz="2400" i="1" dirty="0" smtClean="0"/>
              <a:t>SQL</a:t>
            </a:r>
            <a:r>
              <a:rPr lang="ru-RU" sz="2400" i="1" dirty="0" smtClean="0"/>
              <a:t>-агенту </a:t>
            </a:r>
            <a:r>
              <a:rPr lang="ru-RU" sz="2400" dirty="0" smtClean="0"/>
              <a:t>разрешено в ряде случаев переключаться на другие соединения и сеансы в виде другого </a:t>
            </a:r>
            <a:r>
              <a:rPr lang="en-US" sz="2400" dirty="0" smtClean="0"/>
              <a:t>Authorization ID</a:t>
            </a:r>
            <a:endParaRPr lang="ru-RU" sz="2400" dirty="0" smtClean="0"/>
          </a:p>
          <a:p>
            <a:pPr eaLnBrk="1" hangingPunct="1">
              <a:defRPr/>
            </a:pPr>
            <a:r>
              <a:rPr lang="ru-RU" sz="2400" dirty="0" smtClean="0"/>
              <a:t>Тем не менее </a:t>
            </a:r>
            <a:r>
              <a:rPr lang="en-US" sz="2400" i="1" dirty="0" smtClean="0"/>
              <a:t>SQL</a:t>
            </a:r>
            <a:r>
              <a:rPr lang="ru-RU" sz="2400" i="1" dirty="0" smtClean="0"/>
              <a:t>-агент</a:t>
            </a:r>
            <a:r>
              <a:rPr lang="en-US" sz="2400" i="1" dirty="0" smtClean="0"/>
              <a:t> </a:t>
            </a:r>
            <a:r>
              <a:rPr lang="ru-RU" sz="2400" i="1" dirty="0" smtClean="0"/>
              <a:t>и </a:t>
            </a:r>
            <a:r>
              <a:rPr lang="en-US" sz="2400" dirty="0" smtClean="0"/>
              <a:t>Authorization ID</a:t>
            </a:r>
            <a:r>
              <a:rPr lang="ru-RU" sz="2400" dirty="0" smtClean="0"/>
              <a:t> – не синонимы. Переключения соединений определяются реализацией</a:t>
            </a:r>
          </a:p>
          <a:p>
            <a:pPr eaLnBrk="1" hangingPunct="1">
              <a:buNone/>
              <a:defRPr/>
            </a:pPr>
            <a:endParaRPr lang="ru-RU" sz="2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15888"/>
            <a:ext cx="7416800" cy="720725"/>
          </a:xfrm>
        </p:spPr>
        <p:txBody>
          <a:bodyPr/>
          <a:lstStyle/>
          <a:p>
            <a:pPr algn="ctr" eaLnBrk="1" hangingPunct="1"/>
            <a:r>
              <a:rPr lang="ru-RU" sz="4000" smtClean="0">
                <a:solidFill>
                  <a:schemeClr val="bg2"/>
                </a:solidFill>
              </a:rPr>
              <a:t>Создание схемы БД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9036050" cy="5616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ru-RU" sz="2400" dirty="0" smtClean="0"/>
              <a:t>Схемой называется именованный набор (множество) объектов БД, управляемых одним </a:t>
            </a:r>
            <a:r>
              <a:rPr lang="en-US" sz="2400" dirty="0" smtClean="0"/>
              <a:t>Authorization ID</a:t>
            </a:r>
            <a:r>
              <a:rPr lang="ru-RU" sz="2400" dirty="0" smtClean="0"/>
              <a:t>.</a:t>
            </a:r>
          </a:p>
          <a:p>
            <a:pPr marL="0" indent="0">
              <a:buNone/>
              <a:defRPr/>
            </a:pPr>
            <a:r>
              <a:rPr lang="ru-RU" sz="2400" dirty="0" smtClean="0"/>
              <a:t>Стандарт допускает работу с несколькими схемами и содержит операторы создания и исключения не только таблиц но и схем.</a:t>
            </a:r>
          </a:p>
          <a:p>
            <a:pPr marL="0" indent="0">
              <a:buNone/>
              <a:defRPr/>
            </a:pPr>
            <a:r>
              <a:rPr lang="ru-RU" sz="2400" dirty="0" smtClean="0"/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b="1" dirty="0" smtClean="0"/>
              <a:t>CREATE </a:t>
            </a:r>
            <a:r>
              <a:rPr lang="en-US" sz="2400" b="1" dirty="0"/>
              <a:t>SCHEMA</a:t>
            </a:r>
            <a:r>
              <a:rPr lang="ru-RU" sz="2400" dirty="0"/>
              <a:t>   &lt; предложение определяющее имя </a:t>
            </a:r>
            <a:r>
              <a:rPr lang="ru-RU" sz="2400" dirty="0" smtClean="0"/>
              <a:t>  								схемы</a:t>
            </a:r>
            <a:r>
              <a:rPr lang="ru-RU" sz="2400" dirty="0"/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[ DEFAULT CHARACTER SET &lt;</a:t>
            </a:r>
            <a:r>
              <a:rPr lang="ru-RU" sz="2400" dirty="0"/>
              <a:t>набор символов</a:t>
            </a:r>
            <a:r>
              <a:rPr lang="en-US" sz="2400" dirty="0"/>
              <a:t>&gt; ]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FF0000"/>
                </a:solidFill>
              </a:rPr>
              <a:t>[ </a:t>
            </a:r>
            <a:r>
              <a:rPr lang="en-US" sz="2400" dirty="0"/>
              <a:t>{ </a:t>
            </a:r>
            <a:r>
              <a:rPr lang="ru-RU" sz="2400" dirty="0" smtClean="0"/>
              <a:t>	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	</a:t>
            </a:r>
            <a:r>
              <a:rPr lang="ru-RU" sz="2400" dirty="0" smtClean="0"/>
              <a:t>оператор </a:t>
            </a:r>
            <a:r>
              <a:rPr lang="en-US" sz="2400" b="1" dirty="0"/>
              <a:t>CREATE DOMAIN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CREATE TABLE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CREATE VIEW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GRANT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 smtClean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CREATE ASSERTION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 smtClean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CREATE CHARACTER SET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	| </a:t>
            </a:r>
            <a:r>
              <a:rPr lang="ru-RU" sz="2400" dirty="0"/>
              <a:t>оператор </a:t>
            </a:r>
            <a:r>
              <a:rPr lang="en-US" sz="2400" b="1" dirty="0"/>
              <a:t>CREATE  COLLATION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	</a:t>
            </a:r>
            <a:r>
              <a:rPr lang="ru-RU" sz="2400" dirty="0"/>
              <a:t>| оператор </a:t>
            </a:r>
            <a:r>
              <a:rPr lang="en-US" sz="2400" b="1" dirty="0"/>
              <a:t>CREATE TRANSLATION</a:t>
            </a:r>
            <a:r>
              <a:rPr lang="ru-RU" sz="2400" dirty="0"/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			[ набор символов ] 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} </a:t>
            </a:r>
            <a:r>
              <a:rPr lang="ru-RU" sz="2400" dirty="0">
                <a:solidFill>
                  <a:srgbClr val="FF0000"/>
                </a:solidFill>
              </a:rPr>
              <a:t>] </a:t>
            </a:r>
            <a:r>
              <a:rPr lang="ru-RU" sz="2400" dirty="0"/>
              <a:t>… ;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endParaRPr lang="ru-RU" sz="2400" dirty="0" smtClean="0"/>
          </a:p>
          <a:p>
            <a:pPr eaLnBrk="1" hangingPunct="1">
              <a:defRPr/>
            </a:pPr>
            <a:endParaRPr lang="ru-RU" sz="2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888" y="1125538"/>
            <a:ext cx="8893175" cy="51847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ru-RU" sz="2400" smtClean="0"/>
              <a:t>&lt; предложение определяющее имя схемы&gt; ::= </a:t>
            </a:r>
            <a:r>
              <a:rPr lang="ru-RU" sz="2800" smtClean="0"/>
              <a:t>имя схемы</a:t>
            </a:r>
          </a:p>
          <a:p>
            <a:pPr marL="0" indent="0">
              <a:buFont typeface="Wingdings" pitchFamily="2" charset="2"/>
              <a:buNone/>
            </a:pPr>
            <a:r>
              <a:rPr lang="ru-RU" sz="2800" smtClean="0"/>
              <a:t>  </a:t>
            </a:r>
            <a:r>
              <a:rPr lang="ru-RU" sz="2400" smtClean="0"/>
              <a:t>| </a:t>
            </a:r>
            <a:r>
              <a:rPr lang="en-US" sz="2400" smtClean="0"/>
              <a:t>AUTHORIZATION </a:t>
            </a:r>
            <a:r>
              <a:rPr lang="ru-RU" sz="2400" smtClean="0"/>
              <a:t>идентификатор авторизации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smtClean="0"/>
              <a:t>  | имя схемы </a:t>
            </a:r>
            <a:r>
              <a:rPr lang="en-US" sz="2400" smtClean="0"/>
              <a:t>AUTHORIZATION</a:t>
            </a:r>
            <a:r>
              <a:rPr lang="ru-RU" sz="2400" smtClean="0"/>
              <a:t> идентификатор авторизации</a:t>
            </a:r>
          </a:p>
          <a:p>
            <a:pPr marL="0" indent="0">
              <a:buFont typeface="Wingdings" pitchFamily="2" charset="2"/>
              <a:buNone/>
            </a:pPr>
            <a:endParaRPr lang="ru-RU" sz="2400" smtClean="0"/>
          </a:p>
          <a:p>
            <a:pPr marL="0" indent="0">
              <a:buFont typeface="Wingdings" pitchFamily="2" charset="2"/>
              <a:buNone/>
            </a:pPr>
            <a:endParaRPr lang="ru-RU" sz="2400" smtClean="0"/>
          </a:p>
          <a:p>
            <a:pPr marL="0" indent="0">
              <a:buFont typeface="Wingdings" pitchFamily="2" charset="2"/>
              <a:buNone/>
            </a:pPr>
            <a:r>
              <a:rPr lang="ru-RU" sz="2400" i="1" u="sng" smtClean="0"/>
              <a:t>Пример</a:t>
            </a:r>
          </a:p>
          <a:p>
            <a:pPr marL="0" indent="0" algn="ctr">
              <a:buFont typeface="Wingdings" pitchFamily="2" charset="2"/>
              <a:buNone/>
            </a:pPr>
            <a:endParaRPr lang="ru-RU" sz="2400" smtClean="0"/>
          </a:p>
          <a:p>
            <a:pPr marL="0" indent="0">
              <a:buFont typeface="Wingdings" pitchFamily="2" charset="2"/>
              <a:buNone/>
            </a:pPr>
            <a:r>
              <a:rPr lang="en-US" sz="2400" b="1" i="1" smtClean="0"/>
              <a:t>CREATE SCHEMA   </a:t>
            </a:r>
            <a:r>
              <a:rPr lang="ru-RU" sz="2400" smtClean="0"/>
              <a:t>НГУ  </a:t>
            </a:r>
            <a:r>
              <a:rPr lang="en-US" sz="2400" b="1" i="1" smtClean="0"/>
              <a:t>AUTHORIZATION</a:t>
            </a:r>
            <a:r>
              <a:rPr lang="en-US" sz="2400" smtClean="0"/>
              <a:t> </a:t>
            </a:r>
            <a:r>
              <a:rPr lang="ru-RU" sz="2400" smtClean="0"/>
              <a:t>Иванов</a:t>
            </a:r>
          </a:p>
          <a:p>
            <a:pPr marL="0" indent="0">
              <a:buFont typeface="Wingdings" pitchFamily="2" charset="2"/>
              <a:buNone/>
            </a:pPr>
            <a:endParaRPr lang="ru-RU" sz="2400" smtClean="0"/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ru-RU" sz="2800" smtClean="0"/>
          </a:p>
        </p:txBody>
      </p:sp>
      <p:sp>
        <p:nvSpPr>
          <p:cNvPr id="8195" name="Rectangle 2"/>
          <p:cNvSpPr txBox="1">
            <a:spLocks noChangeArrowheads="1"/>
          </p:cNvSpPr>
          <p:nvPr/>
        </p:nvSpPr>
        <p:spPr bwMode="auto">
          <a:xfrm>
            <a:off x="684213" y="260350"/>
            <a:ext cx="74168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sz="4000">
                <a:solidFill>
                  <a:schemeClr val="bg2"/>
                </a:solidFill>
              </a:rPr>
              <a:t>Создание схемы БД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0" y="584200"/>
            <a:ext cx="8766590" cy="608516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Типы данных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DECIMAL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NUMERIC, INTEGER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и SMALLINT </a:t>
            </a:r>
            <a:r>
              <a:rPr lang="ru-RU" dirty="0" smtClean="0"/>
              <a:t>называются </a:t>
            </a:r>
            <a:r>
              <a:rPr lang="ru-RU" dirty="0"/>
              <a:t>типами данных точных чисел. </a:t>
            </a: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</a:rPr>
              <a:t>NUMERIC  </a:t>
            </a:r>
            <a:r>
              <a:rPr lang="en-US" sz="2900" dirty="0" smtClean="0"/>
              <a:t>[(</a:t>
            </a: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</a:t>
            </a:r>
            <a:r>
              <a:rPr lang="en-US" sz="2900" dirty="0" smtClean="0"/>
              <a:t>[,</a:t>
            </a:r>
            <a:r>
              <a:rPr lang="ru-RU" sz="2900" dirty="0" smtClean="0"/>
              <a:t> </a:t>
            </a: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масштаб</a:t>
            </a:r>
            <a:r>
              <a:rPr lang="en-US" sz="2900" dirty="0" smtClean="0"/>
              <a:t>])]</a:t>
            </a:r>
            <a:r>
              <a:rPr lang="ru-RU" sz="2900" dirty="0" smtClean="0"/>
              <a:t>, 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</a:rPr>
              <a:t>DECIMAL </a:t>
            </a:r>
            <a:r>
              <a:rPr lang="en-US" sz="2900" dirty="0" smtClean="0"/>
              <a:t>[(</a:t>
            </a: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</a:t>
            </a:r>
            <a:r>
              <a:rPr lang="en-US" sz="2900" dirty="0" smtClean="0"/>
              <a:t>[,</a:t>
            </a:r>
            <a:r>
              <a:rPr lang="ru-RU" sz="2900" dirty="0" smtClean="0"/>
              <a:t> </a:t>
            </a: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масштаб</a:t>
            </a:r>
            <a:r>
              <a:rPr lang="en-US" sz="2900" dirty="0" smtClean="0"/>
              <a:t>])] </a:t>
            </a:r>
            <a:r>
              <a:rPr lang="ru-RU" sz="2900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ru-RU" sz="2900" dirty="0" smtClean="0"/>
              <a:t/>
            </a:r>
            <a:br>
              <a:rPr lang="ru-RU" sz="2900" dirty="0" smtClean="0"/>
            </a:b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точность</a:t>
            </a:r>
            <a:r>
              <a:rPr lang="ru-RU" sz="2900" dirty="0" smtClean="0"/>
              <a:t> - количество отводимых под число символов (макс- 64, в </a:t>
            </a:r>
            <a:r>
              <a:rPr lang="en-US" sz="2900" dirty="0" err="1" smtClean="0"/>
              <a:t>MySQL</a:t>
            </a:r>
            <a:r>
              <a:rPr lang="en-US" sz="2900" dirty="0" smtClean="0"/>
              <a:t>)</a:t>
            </a:r>
            <a:r>
              <a:rPr lang="ru-RU" sz="2900" dirty="0" smtClean="0"/>
              <a:t/>
            </a:r>
            <a:br>
              <a:rPr lang="ru-RU" sz="2900" dirty="0" smtClean="0"/>
            </a:br>
            <a:r>
              <a:rPr lang="ru-RU" sz="2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масштаб</a:t>
            </a:r>
            <a:r>
              <a:rPr lang="ru-RU" sz="2900" dirty="0" smtClean="0"/>
              <a:t> - количество знаков после запятой (макс- 30 , в </a:t>
            </a:r>
            <a:r>
              <a:rPr lang="en-US" sz="2900" dirty="0" err="1" smtClean="0"/>
              <a:t>MySQL</a:t>
            </a:r>
            <a:r>
              <a:rPr lang="en-US" sz="2900" dirty="0" smtClean="0"/>
              <a:t>)</a:t>
            </a:r>
            <a:br>
              <a:rPr lang="en-US" sz="2900" dirty="0" smtClean="0"/>
            </a:b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</a:rPr>
              <a:t>DECIMAL </a:t>
            </a:r>
            <a:r>
              <a:rPr lang="ru-RU" sz="2900" dirty="0" smtClean="0"/>
              <a:t>отличается 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900" dirty="0" smtClean="0"/>
              <a:t>от </a:t>
            </a:r>
            <a:r>
              <a:rPr lang="en-US" sz="2900" dirty="0" smtClean="0">
                <a:solidFill>
                  <a:schemeClr val="accent1">
                    <a:lumMod val="75000"/>
                  </a:schemeClr>
                </a:solidFill>
              </a:rPr>
              <a:t>NUMERIC </a:t>
            </a:r>
            <a:r>
              <a:rPr lang="ru-RU" sz="2900" dirty="0" smtClean="0"/>
              <a:t>тем, что задает минимальную точность (реализована может быть больше)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2900" dirty="0" smtClean="0">
                <a:solidFill>
                  <a:schemeClr val="accent1">
                    <a:lumMod val="75000"/>
                  </a:schemeClr>
                </a:solidFill>
              </a:rPr>
              <a:t>INTEGER</a:t>
            </a:r>
            <a:r>
              <a:rPr lang="ru-RU" dirty="0" smtClean="0"/>
              <a:t> - хранит любое число в диапазоне от -2 147 683 648 до 2 147 683 648.</a:t>
            </a:r>
            <a:endParaRPr lang="en-US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2900" dirty="0" smtClean="0">
                <a:solidFill>
                  <a:schemeClr val="accent1">
                    <a:lumMod val="75000"/>
                  </a:schemeClr>
                </a:solidFill>
              </a:rPr>
              <a:t>SMALLINT</a:t>
            </a:r>
            <a:r>
              <a:rPr lang="ru-RU" sz="27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700" dirty="0" smtClean="0"/>
              <a:t>- хранит любое число в диапазоне от -32 768 до 32 767.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Типы </a:t>
            </a:r>
            <a:r>
              <a:rPr lang="ru-RU" dirty="0"/>
              <a:t>данных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FLOAT, REAL и DOUBLEPRECISION </a:t>
            </a:r>
            <a:r>
              <a:rPr lang="ru-RU" dirty="0" smtClean="0"/>
              <a:t>представляют собой запись в научном формате: мантисса-порядок.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FLOAT</a:t>
            </a:r>
            <a:r>
              <a:rPr lang="en-US" dirty="0" smtClean="0"/>
              <a:t> [(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</a:t>
            </a:r>
            <a:r>
              <a:rPr lang="ru-RU" dirty="0" smtClean="0"/>
              <a:t>)</a:t>
            </a:r>
            <a:r>
              <a:rPr lang="en-US" dirty="0" smtClean="0"/>
              <a:t>]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dirty="0" smtClean="0"/>
              <a:t>Вещественное число (с плавающей точкой). Специфицируются приблизительные числа с двоичной 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точностью</a:t>
            </a:r>
            <a:r>
              <a:rPr lang="ru-RU" dirty="0" smtClean="0"/>
              <a:t>. </a:t>
            </a:r>
            <a:br>
              <a:rPr lang="ru-RU" dirty="0" smtClean="0"/>
            </a:b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точность</a:t>
            </a:r>
            <a:r>
              <a:rPr lang="en-US" dirty="0" smtClean="0"/>
              <a:t> - </a:t>
            </a:r>
            <a:r>
              <a:rPr lang="ru-RU" dirty="0" smtClean="0"/>
              <a:t>это количество битов, используемых для хранения мантиссы числа при экспоненциальном представлении. Порядок определяется реализацией.</a:t>
            </a:r>
            <a:endParaRPr lang="en-US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ru-RU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REAL </a:t>
            </a:r>
            <a:r>
              <a:rPr lang="ru-RU" dirty="0" smtClean="0"/>
              <a:t>специфицирует тип данных с точностью, определенной в реализации.</a:t>
            </a:r>
            <a:endParaRPr lang="en-US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ru-RU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DOUBLE PRECISION </a:t>
            </a:r>
            <a:r>
              <a:rPr lang="ru-RU" dirty="0" smtClean="0"/>
              <a:t>специфицирует тип данных с точностью, определенной в реализации и большей, чем точность типа REAL.</a:t>
            </a:r>
            <a:endParaRPr lang="en-US" dirty="0" smtClean="0"/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300" dirty="0" smtClean="0">
                <a:ea typeface="+mn-ea"/>
              </a:rPr>
              <a:t>Имеется соответствие между типами данных </a:t>
            </a:r>
            <a:r>
              <a:rPr lang="en-US" sz="3300" dirty="0" smtClean="0">
                <a:ea typeface="+mn-ea"/>
              </a:rPr>
              <a:t>SQL </a:t>
            </a:r>
            <a:r>
              <a:rPr lang="ru-RU" sz="3300" dirty="0" smtClean="0">
                <a:ea typeface="+mn-ea"/>
              </a:rPr>
              <a:t>и типами данных языка С: </a:t>
            </a:r>
          </a:p>
          <a:p>
            <a:pPr marL="742950" lvl="2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900" dirty="0" smtClean="0">
                <a:ea typeface="+mn-ea"/>
              </a:rPr>
              <a:t>CHARACTER </a:t>
            </a:r>
            <a:r>
              <a:rPr lang="ru-RU" sz="2900" dirty="0" smtClean="0">
                <a:ea typeface="+mn-ea"/>
              </a:rPr>
              <a:t>соответствует строкам С;</a:t>
            </a:r>
          </a:p>
          <a:p>
            <a:pPr marL="742950" lvl="2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900" dirty="0" smtClean="0">
                <a:ea typeface="+mn-ea"/>
              </a:rPr>
              <a:t>INTEGER </a:t>
            </a:r>
            <a:r>
              <a:rPr lang="ru-RU" sz="2900" dirty="0" smtClean="0">
                <a:ea typeface="+mn-ea"/>
              </a:rPr>
              <a:t>соответствует </a:t>
            </a:r>
            <a:r>
              <a:rPr lang="en-US" sz="2900" dirty="0" smtClean="0">
                <a:ea typeface="+mn-ea"/>
              </a:rPr>
              <a:t>long; </a:t>
            </a:r>
            <a:endParaRPr lang="ru-RU" sz="2900" dirty="0" smtClean="0">
              <a:ea typeface="+mn-ea"/>
            </a:endParaRPr>
          </a:p>
          <a:p>
            <a:pPr marL="742950" lvl="2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900" dirty="0" smtClean="0">
                <a:ea typeface="+mn-ea"/>
              </a:rPr>
              <a:t>SMALLINT </a:t>
            </a:r>
            <a:r>
              <a:rPr lang="ru-RU" sz="2900" dirty="0" smtClean="0">
                <a:ea typeface="+mn-ea"/>
              </a:rPr>
              <a:t>соответствует </a:t>
            </a:r>
            <a:r>
              <a:rPr lang="en-US" sz="2900" dirty="0" smtClean="0">
                <a:ea typeface="+mn-ea"/>
              </a:rPr>
              <a:t>short; </a:t>
            </a:r>
            <a:endParaRPr lang="ru-RU" sz="2900" dirty="0" smtClean="0">
              <a:ea typeface="+mn-ea"/>
            </a:endParaRPr>
          </a:p>
          <a:p>
            <a:pPr marL="742950" lvl="2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900" dirty="0" smtClean="0">
                <a:ea typeface="+mn-ea"/>
              </a:rPr>
              <a:t>REAL </a:t>
            </a:r>
            <a:r>
              <a:rPr lang="ru-RU" sz="2900" dirty="0" smtClean="0">
                <a:ea typeface="+mn-ea"/>
              </a:rPr>
              <a:t>соответствует </a:t>
            </a:r>
            <a:r>
              <a:rPr lang="en-US" sz="2900" dirty="0" smtClean="0">
                <a:ea typeface="+mn-ea"/>
              </a:rPr>
              <a:t>float; </a:t>
            </a:r>
            <a:endParaRPr lang="ru-RU" sz="2900" dirty="0" smtClean="0">
              <a:ea typeface="+mn-ea"/>
            </a:endParaRPr>
          </a:p>
          <a:p>
            <a:pPr marL="742950" lvl="2" indent="-342900">
              <a:lnSpc>
                <a:spcPct val="120000"/>
              </a:lnSpc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900" dirty="0" smtClean="0">
                <a:ea typeface="+mn-ea"/>
              </a:rPr>
              <a:t>DOUBLE PRECISION </a:t>
            </a:r>
            <a:r>
              <a:rPr lang="ru-RU" sz="2900" dirty="0" smtClean="0">
                <a:ea typeface="+mn-ea"/>
              </a:rPr>
              <a:t>соответствует </a:t>
            </a:r>
            <a:r>
              <a:rPr lang="en-US" sz="2900" dirty="0" smtClean="0">
                <a:ea typeface="+mn-ea"/>
              </a:rPr>
              <a:t>double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50800"/>
            <a:ext cx="8229600" cy="523528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Числовые типы </a:t>
            </a:r>
            <a:r>
              <a:rPr lang="ru-RU" sz="3200" dirty="0">
                <a:solidFill>
                  <a:schemeClr val="bg2"/>
                </a:solidFill>
              </a:rPr>
              <a:t>данных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274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505" y="762000"/>
            <a:ext cx="8865985" cy="5822950"/>
          </a:xfrm>
        </p:spPr>
        <p:txBody>
          <a:bodyPr>
            <a:normAutofit fontScale="92500"/>
          </a:bodyPr>
          <a:lstStyle/>
          <a:p>
            <a:r>
              <a:rPr lang="ru-RU" sz="2600" dirty="0" smtClean="0"/>
              <a:t>Типы </a:t>
            </a:r>
            <a:r>
              <a:rPr lang="ru-RU" sz="2600" dirty="0"/>
              <a:t>данных </a:t>
            </a:r>
            <a:r>
              <a:rPr lang="ru-RU" sz="2600" dirty="0">
                <a:solidFill>
                  <a:schemeClr val="accent1">
                    <a:lumMod val="75000"/>
                  </a:schemeClr>
                </a:solidFill>
              </a:rPr>
              <a:t>DATE, TIME и TIMESTAMP </a:t>
            </a:r>
            <a:r>
              <a:rPr lang="ru-RU" sz="2600" dirty="0" smtClean="0"/>
              <a:t>называются </a:t>
            </a:r>
            <a:r>
              <a:rPr lang="ru-RU" sz="2600" dirty="0"/>
              <a:t>типами даты-времени. Значения типов даты-времени называются "дата-время</a:t>
            </a:r>
            <a:r>
              <a:rPr lang="ru-RU" sz="2600" dirty="0" smtClean="0"/>
              <a:t>".</a:t>
            </a:r>
          </a:p>
          <a:p>
            <a:r>
              <a:rPr lang="ru-RU" sz="2600" dirty="0" smtClean="0">
                <a:solidFill>
                  <a:schemeClr val="accent1">
                    <a:lumMod val="75000"/>
                  </a:schemeClr>
                </a:solidFill>
              </a:rPr>
              <a:t>DATE </a:t>
            </a:r>
            <a:r>
              <a:rPr lang="ru-RU" sz="2600" dirty="0" smtClean="0"/>
              <a:t>ХХХХ(год)</a:t>
            </a:r>
            <a:r>
              <a:rPr lang="en-US" sz="2600" dirty="0" smtClean="0"/>
              <a:t>,</a:t>
            </a:r>
            <a:r>
              <a:rPr lang="ru-RU" sz="2600" dirty="0" smtClean="0"/>
              <a:t>ХХ(месяц)</a:t>
            </a:r>
            <a:r>
              <a:rPr lang="en-US" sz="2600" dirty="0" smtClean="0"/>
              <a:t>,</a:t>
            </a:r>
            <a:r>
              <a:rPr lang="ru-RU" sz="2600" dirty="0" smtClean="0"/>
              <a:t>ХХ(день)</a:t>
            </a:r>
            <a:r>
              <a:rPr lang="en-US" sz="2600" dirty="0" smtClean="0"/>
              <a:t> </a:t>
            </a:r>
            <a:r>
              <a:rPr lang="en-US" sz="26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yyyy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-mm-</a:t>
            </a:r>
            <a:r>
              <a:rPr lang="en-US" sz="26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dd</a:t>
            </a:r>
            <a:r>
              <a:rPr lang="ru-RU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600" dirty="0" smtClean="0"/>
              <a:t>(10 позиций)</a:t>
            </a:r>
          </a:p>
          <a:p>
            <a:r>
              <a:rPr lang="ru-RU" sz="2600" dirty="0" smtClean="0">
                <a:solidFill>
                  <a:schemeClr val="accent1">
                    <a:lumMod val="75000"/>
                  </a:schemeClr>
                </a:solidFill>
              </a:rPr>
              <a:t>TIME</a:t>
            </a:r>
            <a:r>
              <a:rPr lang="en-US" sz="2600" dirty="0" smtClean="0"/>
              <a:t> [</a:t>
            </a:r>
            <a:r>
              <a:rPr lang="ru-RU" sz="2600" dirty="0" smtClean="0"/>
              <a:t>(</a:t>
            </a:r>
            <a:r>
              <a:rPr lang="ru-RU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</a:t>
            </a:r>
            <a:r>
              <a:rPr lang="ru-RU" sz="2600" dirty="0" smtClean="0"/>
              <a:t>)</a:t>
            </a:r>
            <a:r>
              <a:rPr lang="en-US" sz="2600" dirty="0" smtClean="0"/>
              <a:t>][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WITH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TIME ZONE</a:t>
            </a:r>
            <a:r>
              <a:rPr lang="en-US" sz="2600" dirty="0" smtClean="0"/>
              <a:t>]</a:t>
            </a:r>
            <a:r>
              <a:rPr lang="ru-RU" sz="2600" dirty="0" smtClean="0"/>
              <a:t> </a:t>
            </a:r>
            <a:r>
              <a:rPr lang="en-US" sz="2600" dirty="0" err="1" smtClean="0"/>
              <a:t>hh</a:t>
            </a:r>
            <a:r>
              <a:rPr lang="en-US" sz="2600" dirty="0" smtClean="0"/>
              <a:t>-mm-</a:t>
            </a:r>
            <a:r>
              <a:rPr lang="en-US" sz="2600" dirty="0" err="1" smtClean="0"/>
              <a:t>ss</a:t>
            </a:r>
            <a:r>
              <a:rPr lang="en-US" sz="2600" dirty="0" smtClean="0"/>
              <a:t> (8 </a:t>
            </a:r>
            <a:r>
              <a:rPr lang="ru-RU" sz="2600" dirty="0" smtClean="0"/>
              <a:t>позиций)</a:t>
            </a:r>
          </a:p>
          <a:p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TIMESTAMP</a:t>
            </a:r>
            <a:r>
              <a:rPr lang="en-US" sz="2600" dirty="0" smtClean="0"/>
              <a:t> [</a:t>
            </a:r>
            <a:r>
              <a:rPr lang="ru-RU" sz="2600" dirty="0" smtClean="0"/>
              <a:t>(</a:t>
            </a:r>
            <a:r>
              <a:rPr lang="ru-RU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точность</a:t>
            </a:r>
            <a:r>
              <a:rPr lang="ru-RU" sz="2600" dirty="0" smtClean="0"/>
              <a:t>)</a:t>
            </a:r>
            <a:r>
              <a:rPr lang="en-US" sz="2600" dirty="0" smtClean="0"/>
              <a:t>][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WITH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TIME ZONE</a:t>
            </a:r>
            <a:r>
              <a:rPr lang="en-US" sz="2600" dirty="0" smtClean="0"/>
              <a:t>]</a:t>
            </a:r>
            <a:r>
              <a:rPr lang="ru-RU" sz="2600" dirty="0" smtClean="0"/>
              <a:t> комбинация данных типа </a:t>
            </a:r>
            <a:r>
              <a:rPr lang="ru-RU" sz="2600" dirty="0" smtClean="0">
                <a:solidFill>
                  <a:schemeClr val="accent1">
                    <a:lumMod val="75000"/>
                  </a:schemeClr>
                </a:solidFill>
              </a:rPr>
              <a:t>DATE</a:t>
            </a:r>
            <a:r>
              <a:rPr lang="en-US" sz="26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600" dirty="0" smtClean="0"/>
              <a:t>и </a:t>
            </a:r>
            <a:r>
              <a:rPr lang="ru-RU" sz="2600" dirty="0" smtClean="0">
                <a:solidFill>
                  <a:schemeClr val="accent1">
                    <a:lumMod val="75000"/>
                  </a:schemeClr>
                </a:solidFill>
              </a:rPr>
              <a:t>TIME</a:t>
            </a:r>
            <a:r>
              <a:rPr lang="en-US" sz="2600" dirty="0" smtClean="0"/>
              <a:t> </a:t>
            </a:r>
            <a:endParaRPr lang="ru-RU" sz="2600" dirty="0" smtClean="0"/>
          </a:p>
          <a:p>
            <a:r>
              <a:rPr lang="ru-RU" sz="2600" dirty="0" smtClean="0"/>
              <a:t>Тип </a:t>
            </a:r>
            <a:r>
              <a:rPr lang="ru-RU" sz="2600" dirty="0"/>
              <a:t>данных </a:t>
            </a:r>
            <a:r>
              <a:rPr lang="ru-RU" sz="2600" dirty="0">
                <a:solidFill>
                  <a:schemeClr val="accent1">
                    <a:lumMod val="75000"/>
                  </a:schemeClr>
                </a:solidFill>
              </a:rPr>
              <a:t>INTERVAL</a:t>
            </a:r>
            <a:r>
              <a:rPr lang="ru-RU" sz="2600" dirty="0"/>
              <a:t> называется интервальным типом</a:t>
            </a:r>
            <a:r>
              <a:rPr lang="ru-RU" sz="2600" dirty="0" smtClean="0"/>
              <a:t>.</a:t>
            </a:r>
          </a:p>
          <a:p>
            <a:r>
              <a:rPr lang="ru-RU" sz="2600" dirty="0" smtClean="0"/>
              <a:t>Различают 2 типа интервалов: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dirty="0" smtClean="0"/>
              <a:t>Интервал </a:t>
            </a:r>
            <a:r>
              <a:rPr lang="en-US" dirty="0" smtClean="0"/>
              <a:t>YEAR</a:t>
            </a:r>
            <a:r>
              <a:rPr lang="ru-RU" dirty="0" smtClean="0"/>
              <a:t> – </a:t>
            </a:r>
            <a:r>
              <a:rPr lang="en-US" dirty="0" smtClean="0"/>
              <a:t>MONTH</a:t>
            </a:r>
            <a:r>
              <a:rPr lang="ru-RU" dirty="0" smtClean="0"/>
              <a:t> </a:t>
            </a:r>
            <a:r>
              <a:rPr lang="en-US" dirty="0" smtClean="0"/>
              <a:t>(YEAR, MONTH)</a:t>
            </a:r>
            <a:endParaRPr lang="ru-RU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dirty="0" smtClean="0"/>
              <a:t>Интервал </a:t>
            </a:r>
            <a:r>
              <a:rPr lang="en-US" dirty="0" smtClean="0"/>
              <a:t>DAY –TIME (DAY, HOUR, MINUTE, and SECOND)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184150"/>
            <a:ext cx="8229600" cy="52352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Типы </a:t>
            </a:r>
            <a:r>
              <a:rPr lang="ru-RU" sz="3600" dirty="0" smtClean="0">
                <a:solidFill>
                  <a:schemeClr val="bg2"/>
                </a:solidFill>
              </a:rPr>
              <a:t>данных для времени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274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23528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Строковые типы данных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6752"/>
            <a:ext cx="8445624" cy="5112568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Символьные </a:t>
            </a:r>
            <a:r>
              <a:rPr lang="ru-RU" b="1" dirty="0" smtClean="0"/>
              <a:t>строки. </a:t>
            </a:r>
            <a:r>
              <a:rPr lang="ru-RU" dirty="0"/>
              <a:t>Тип данных символьных строк может содержать строки постоянной (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CHARACTER</a:t>
            </a:r>
            <a:r>
              <a:rPr lang="ru-RU" dirty="0"/>
              <a:t>) или переменной (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CHARACTERVARYING</a:t>
            </a:r>
            <a:r>
              <a:rPr lang="ru-RU" dirty="0"/>
              <a:t>) длины. </a:t>
            </a:r>
            <a:endParaRPr lang="en-US" dirty="0" smtClean="0"/>
          </a:p>
          <a:p>
            <a:pPr lvl="1"/>
            <a:r>
              <a:rPr lang="ru-RU" dirty="0" smtClean="0"/>
              <a:t>Для </a:t>
            </a:r>
            <a:r>
              <a:rPr lang="ru-RU" dirty="0"/>
              <a:t>конкретного типа </a:t>
            </a:r>
            <a:r>
              <a:rPr lang="ru-RU" dirty="0" smtClean="0"/>
              <a:t>CHARACTER(</a:t>
            </a:r>
            <a:r>
              <a:rPr lang="en-US" dirty="0" smtClean="0"/>
              <a:t>N) </a:t>
            </a:r>
            <a:r>
              <a:rPr lang="ru-RU" dirty="0" smtClean="0"/>
              <a:t>указывается </a:t>
            </a:r>
            <a:r>
              <a:rPr lang="en-US" dirty="0" smtClean="0"/>
              <a:t>N – </a:t>
            </a:r>
            <a:r>
              <a:rPr lang="ru-RU" dirty="0" smtClean="0"/>
              <a:t>фиксированная длина </a:t>
            </a:r>
            <a:r>
              <a:rPr lang="ru-RU" dirty="0"/>
              <a:t>строк этого типа; </a:t>
            </a:r>
            <a:endParaRPr lang="en-US" dirty="0" smtClean="0"/>
          </a:p>
          <a:p>
            <a:pPr lvl="1"/>
            <a:r>
              <a:rPr lang="ru-RU" dirty="0"/>
              <a:t>В</a:t>
            </a:r>
            <a:r>
              <a:rPr lang="ru-RU" dirty="0" smtClean="0"/>
              <a:t> </a:t>
            </a:r>
            <a:r>
              <a:rPr lang="ru-RU" dirty="0"/>
              <a:t>случае </a:t>
            </a:r>
            <a:r>
              <a:rPr lang="ru-RU" dirty="0" smtClean="0"/>
              <a:t>CHARACTERVARYING (</a:t>
            </a:r>
            <a:r>
              <a:rPr lang="en-US" dirty="0" smtClean="0"/>
              <a:t>N), </a:t>
            </a:r>
            <a:br>
              <a:rPr lang="en-US" dirty="0" smtClean="0"/>
            </a:br>
            <a:r>
              <a:rPr lang="en-US" dirty="0" smtClean="0"/>
              <a:t>N</a:t>
            </a:r>
            <a:r>
              <a:rPr lang="ru-RU" dirty="0" smtClean="0"/>
              <a:t> </a:t>
            </a:r>
            <a:r>
              <a:rPr lang="ru-RU" dirty="0"/>
              <a:t>- максимальная длина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Битовые </a:t>
            </a:r>
            <a:r>
              <a:rPr lang="ru-RU" b="1" dirty="0" smtClean="0"/>
              <a:t>строки</a:t>
            </a:r>
            <a:r>
              <a:rPr lang="en-US" b="1" dirty="0" smtClean="0"/>
              <a:t>.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BIT(N)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BIT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VARYING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(N)</a:t>
            </a:r>
            <a:endParaRPr lang="ru-RU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9857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0" y="333375"/>
            <a:ext cx="7264400" cy="574675"/>
          </a:xfrm>
        </p:spPr>
        <p:txBody>
          <a:bodyPr/>
          <a:lstStyle/>
          <a:p>
            <a:pPr algn="ctr" eaLnBrk="1" hangingPunct="1"/>
            <a:r>
              <a:rPr lang="en-US" sz="3600" smtClean="0">
                <a:solidFill>
                  <a:schemeClr val="bg2"/>
                </a:solidFill>
              </a:rPr>
              <a:t>CREATE DOMAIN</a:t>
            </a:r>
            <a:endParaRPr lang="ru-RU" sz="3600" smtClean="0">
              <a:solidFill>
                <a:schemeClr val="bg2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268413"/>
            <a:ext cx="8642350" cy="532923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dirty="0"/>
              <a:t>оператор </a:t>
            </a:r>
            <a:r>
              <a:rPr lang="en-US" sz="2400" b="1" dirty="0"/>
              <a:t>CREATE DOMAIN </a:t>
            </a:r>
            <a:r>
              <a:rPr lang="en-US" sz="2400" b="1" dirty="0" smtClean="0"/>
              <a:t>:= </a:t>
            </a:r>
          </a:p>
          <a:p>
            <a:pPr marL="0" indent="0">
              <a:buNone/>
              <a:defRPr/>
            </a:pPr>
            <a:r>
              <a:rPr lang="en-US" sz="2400" b="1" dirty="0" smtClean="0"/>
              <a:t>CREATE </a:t>
            </a:r>
            <a:r>
              <a:rPr lang="en-US" sz="2400" b="1" dirty="0"/>
              <a:t>DOMAIN </a:t>
            </a:r>
            <a:r>
              <a:rPr lang="ru-RU" sz="2400" dirty="0" err="1"/>
              <a:t>имя_домена</a:t>
            </a:r>
            <a:r>
              <a:rPr lang="ru-RU" sz="2400" dirty="0"/>
              <a:t> [</a:t>
            </a:r>
            <a:r>
              <a:rPr lang="en-US" sz="2400" dirty="0"/>
              <a:t>AS</a:t>
            </a:r>
            <a:r>
              <a:rPr lang="ru-RU" sz="2400" dirty="0"/>
              <a:t>]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ТИП ДАННЫХ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[</a:t>
            </a:r>
            <a:r>
              <a:rPr lang="en-US" sz="2400" dirty="0"/>
              <a:t>DEFAULT </a:t>
            </a:r>
            <a:r>
              <a:rPr lang="ru-RU" sz="2400" dirty="0"/>
              <a:t>значение по умолчанию]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[&lt;</a:t>
            </a:r>
            <a:r>
              <a:rPr lang="ru-RU" sz="2400" dirty="0"/>
              <a:t>определение ограничения&gt; …]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[</a:t>
            </a:r>
            <a:r>
              <a:rPr lang="en-US" sz="2400" dirty="0"/>
              <a:t>COLLATE </a:t>
            </a:r>
            <a:r>
              <a:rPr lang="ru-RU" sz="2400" dirty="0"/>
              <a:t>имя сравнения]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i="1" u="sng" dirty="0"/>
              <a:t>Пример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b="1" dirty="0"/>
              <a:t>CREATE DOMAIN </a:t>
            </a:r>
            <a:r>
              <a:rPr lang="en-US" sz="2400" dirty="0" err="1"/>
              <a:t>id_nums</a:t>
            </a:r>
            <a:r>
              <a:rPr lang="en-US" sz="2400" dirty="0"/>
              <a:t> AS INTEGER CHECK( value &gt;0)</a:t>
            </a:r>
            <a:endParaRPr lang="ru-RU" sz="2400" dirty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4000" cy="5589587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8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en-US" sz="2800" dirty="0" smtClean="0"/>
              <a:t> TABLE</a:t>
            </a:r>
            <a:r>
              <a:rPr lang="ru-RU" sz="2800" dirty="0" smtClean="0"/>
              <a:t>, </a:t>
            </a:r>
            <a:r>
              <a:rPr lang="en-US" sz="28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ALTER</a:t>
            </a:r>
            <a:r>
              <a:rPr lang="en-US" sz="2800" dirty="0" smtClean="0"/>
              <a:t> TABLE</a:t>
            </a:r>
            <a:r>
              <a:rPr lang="ru-RU" sz="2800" dirty="0" smtClean="0"/>
              <a:t>, </a:t>
            </a:r>
            <a:r>
              <a:rPr lang="en-US" sz="28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DROP</a:t>
            </a:r>
            <a:r>
              <a:rPr lang="en-US" sz="2800" dirty="0" smtClean="0"/>
              <a:t> </a:t>
            </a:r>
            <a:r>
              <a:rPr lang="en-US" sz="2800" dirty="0"/>
              <a:t>TABLE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b="1" dirty="0" smtClean="0"/>
              <a:t>CREATE</a:t>
            </a:r>
            <a:r>
              <a:rPr lang="en-US" sz="2400" dirty="0" smtClean="0"/>
              <a:t> </a:t>
            </a:r>
            <a:r>
              <a:rPr lang="en-US" sz="2400" dirty="0"/>
              <a:t>[ {GLOBAL| LOCAL} TEMPORARY ] </a:t>
            </a:r>
            <a:r>
              <a:rPr lang="ru-RU" sz="2400" dirty="0" smtClean="0"/>
              <a:t>	</a:t>
            </a:r>
            <a:r>
              <a:rPr lang="en-US" sz="2400" b="1" dirty="0" smtClean="0"/>
              <a:t>TABLE</a:t>
            </a:r>
            <a:r>
              <a:rPr lang="en-US" sz="2400" dirty="0" smtClean="0"/>
              <a:t> </a:t>
            </a:r>
            <a:r>
              <a:rPr lang="ru-RU" sz="1800" dirty="0"/>
              <a:t>имя таблицы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/>
              <a:t> { &lt;</a:t>
            </a:r>
            <a:r>
              <a:rPr lang="ru-RU" sz="2400" dirty="0"/>
              <a:t>определение столбца</a:t>
            </a:r>
            <a:r>
              <a:rPr lang="en-US" sz="2400" dirty="0"/>
              <a:t>&gt;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 </a:t>
            </a:r>
            <a:r>
              <a:rPr lang="ru-RU" sz="2400" dirty="0" smtClean="0"/>
              <a:t> </a:t>
            </a:r>
            <a:r>
              <a:rPr lang="en-US" sz="2400" dirty="0" smtClean="0"/>
              <a:t>| </a:t>
            </a:r>
            <a:r>
              <a:rPr lang="en-US" sz="2400" dirty="0"/>
              <a:t>[&lt;</a:t>
            </a:r>
            <a:r>
              <a:rPr lang="ru-RU" sz="2400" dirty="0"/>
              <a:t>ограничение таблицы</a:t>
            </a:r>
            <a:r>
              <a:rPr lang="en-US" sz="2400" dirty="0"/>
              <a:t>&gt;] } , …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    </a:t>
            </a:r>
            <a:r>
              <a:rPr lang="en-US" sz="2400" dirty="0" smtClean="0"/>
              <a:t>[ </a:t>
            </a:r>
            <a:r>
              <a:rPr lang="en-US" sz="2400" dirty="0"/>
              <a:t>ON COMMIT {DELETE | PRESERVE } ROWS </a:t>
            </a:r>
            <a:r>
              <a:rPr lang="en-US" sz="2400" dirty="0" smtClean="0"/>
              <a:t>]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  <a:endParaRPr lang="ru-RU" sz="2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&lt;</a:t>
            </a:r>
            <a:r>
              <a:rPr lang="ru-RU" sz="2400" dirty="0"/>
              <a:t>определение столбца&gt;::=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имя </a:t>
            </a:r>
            <a:r>
              <a:rPr lang="ru-RU" sz="2400" dirty="0"/>
              <a:t>столбца { имя домена | тип данных [размер] }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	[ </a:t>
            </a:r>
            <a:r>
              <a:rPr lang="ru-RU" sz="2400" dirty="0"/>
              <a:t>&lt;ограничение столбца&gt; …]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		[</a:t>
            </a:r>
            <a:r>
              <a:rPr lang="en-US" sz="2400" dirty="0"/>
              <a:t>DEFAULT </a:t>
            </a:r>
            <a:r>
              <a:rPr lang="ru-RU" sz="2400" dirty="0"/>
              <a:t>значение по умолчанию]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	[</a:t>
            </a:r>
            <a:r>
              <a:rPr lang="en-US" sz="2400" dirty="0"/>
              <a:t>COLLATE </a:t>
            </a:r>
            <a:r>
              <a:rPr lang="ru-RU" sz="2400" dirty="0"/>
              <a:t>имя сравнения]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187450" y="333375"/>
            <a:ext cx="56181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Работа</a:t>
            </a:r>
            <a:r>
              <a:rPr lang="en-US" sz="3600">
                <a:solidFill>
                  <a:schemeClr val="bg2"/>
                </a:solidFill>
              </a:rPr>
              <a:t> с </a:t>
            </a:r>
            <a:r>
              <a:rPr lang="ru-RU" sz="3600">
                <a:solidFill>
                  <a:schemeClr val="bg2"/>
                </a:solidFill>
              </a:rPr>
              <a:t>таблицами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523875"/>
          </a:xfrm>
          <a:noFill/>
        </p:spPr>
        <p:txBody>
          <a:bodyPr/>
          <a:lstStyle/>
          <a:p>
            <a:pPr algn="ctr" eaLnBrk="1" hangingPunct="1"/>
            <a:r>
              <a:rPr lang="ru-RU" sz="3600" smtClean="0">
                <a:solidFill>
                  <a:schemeClr val="bg2"/>
                </a:solidFill>
              </a:rPr>
              <a:t>Ограничение столбца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400675"/>
          </a:xfrm>
          <a:noFill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ru-RU" sz="2400" dirty="0" smtClean="0"/>
              <a:t>&lt;ограничение столбца&gt;::=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dirty="0" smtClean="0"/>
              <a:t>	[</a:t>
            </a:r>
            <a:r>
              <a:rPr lang="en-US" sz="2400" dirty="0" smtClean="0"/>
              <a:t>CONSTRAINT</a:t>
            </a:r>
            <a:r>
              <a:rPr lang="ru-RU" sz="2400" dirty="0" smtClean="0"/>
              <a:t>  имя ограничения ]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dirty="0" smtClean="0"/>
              <a:t>	</a:t>
            </a:r>
            <a:r>
              <a:rPr lang="en-US" sz="2400" b="1" dirty="0" smtClean="0"/>
              <a:t>|</a:t>
            </a:r>
            <a:r>
              <a:rPr lang="ru-RU" sz="2400" b="1" dirty="0" smtClean="0"/>
              <a:t> </a:t>
            </a:r>
            <a:r>
              <a:rPr lang="ru-RU" sz="2400" dirty="0" smtClean="0"/>
              <a:t>{</a:t>
            </a:r>
            <a:r>
              <a:rPr lang="en-US" sz="2400" dirty="0" smtClean="0"/>
              <a:t>NOT NULL</a:t>
            </a:r>
            <a:r>
              <a:rPr lang="ru-RU" sz="2400" dirty="0" smtClean="0"/>
              <a:t>}</a:t>
            </a:r>
          </a:p>
          <a:p>
            <a:pPr marL="0" indent="0">
              <a:buFont typeface="Wingdings" pitchFamily="2" charset="2"/>
              <a:buNone/>
            </a:pPr>
            <a:r>
              <a:rPr lang="ru-RU" sz="2400" b="1" dirty="0" smtClean="0"/>
              <a:t>	</a:t>
            </a:r>
            <a:r>
              <a:rPr lang="en-US" sz="2400" b="1" dirty="0" smtClean="0"/>
              <a:t>| </a:t>
            </a:r>
            <a:r>
              <a:rPr lang="en-US" sz="2400" dirty="0" smtClean="0"/>
              <a:t>{ PRIMARY KEY }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ru-RU" sz="2400" b="1" dirty="0" smtClean="0"/>
              <a:t>	</a:t>
            </a:r>
            <a:r>
              <a:rPr lang="en-US" sz="2400" b="1" dirty="0" smtClean="0"/>
              <a:t>|</a:t>
            </a:r>
            <a:r>
              <a:rPr lang="en-US" sz="2400" dirty="0" smtClean="0"/>
              <a:t> {UNIQUE}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ru-RU" sz="2400" b="1" dirty="0" smtClean="0"/>
              <a:t>	</a:t>
            </a:r>
            <a:r>
              <a:rPr lang="en-US" sz="2400" b="1" dirty="0" smtClean="0"/>
              <a:t>|</a:t>
            </a:r>
            <a:r>
              <a:rPr lang="en-US" sz="2400" dirty="0" smtClean="0"/>
              <a:t> REFERENCES </a:t>
            </a:r>
            <a:r>
              <a:rPr lang="ru-RU" sz="2400" dirty="0" smtClean="0"/>
              <a:t>имя таблицы </a:t>
            </a:r>
            <a:r>
              <a:rPr lang="en-US" sz="2400" dirty="0" smtClean="0"/>
              <a:t>[ (</a:t>
            </a:r>
            <a:r>
              <a:rPr lang="ru-RU" sz="2400" dirty="0" smtClean="0"/>
              <a:t>имя столбца</a:t>
            </a:r>
            <a:r>
              <a:rPr lang="en-US" sz="2400" dirty="0" smtClean="0"/>
              <a:t>) ]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			</a:t>
            </a:r>
            <a:r>
              <a:rPr lang="en-US" sz="2400" dirty="0" smtClean="0"/>
              <a:t>[&lt;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ссылочная спецификация</a:t>
            </a:r>
            <a:r>
              <a:rPr lang="en-US" sz="2400" dirty="0" smtClean="0"/>
              <a:t>&gt;]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ru-RU" sz="2400" b="1" dirty="0" smtClean="0"/>
              <a:t>	</a:t>
            </a:r>
            <a:r>
              <a:rPr lang="en-US" sz="2400" b="1" dirty="0" smtClean="0"/>
              <a:t>|</a:t>
            </a:r>
            <a:r>
              <a:rPr lang="en-US" sz="2400" dirty="0" smtClean="0"/>
              <a:t> {CHECK </a:t>
            </a:r>
            <a:r>
              <a:rPr lang="ru-RU" sz="2400" dirty="0" smtClean="0"/>
              <a:t>предикат</a:t>
            </a:r>
            <a:r>
              <a:rPr lang="en-US" sz="2400" dirty="0" smtClean="0"/>
              <a:t>}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400" dirty="0" smtClean="0"/>
              <a:t>[ [ INITIALLY DEFERRED ] | INITIALLY IMMEDIATE]</a:t>
            </a:r>
            <a:endParaRPr lang="ru-RU" sz="24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400" dirty="0" smtClean="0"/>
              <a:t>[[NOT] DEFERRABLE ]</a:t>
            </a:r>
            <a:endParaRPr lang="ru-RU" sz="2400" dirty="0" smtClean="0"/>
          </a:p>
          <a:p>
            <a:pPr lvl="1" eaLnBrk="1" hangingPunct="1">
              <a:buFont typeface="Wingdings" pitchFamily="2" charset="2"/>
              <a:buNone/>
            </a:pPr>
            <a:endParaRPr lang="en-US" sz="23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8229600" cy="884237"/>
          </a:xfrm>
        </p:spPr>
        <p:txBody>
          <a:bodyPr/>
          <a:lstStyle/>
          <a:p>
            <a:pPr algn="ctr"/>
            <a:r>
              <a:rPr lang="ru-RU" sz="3600" smtClean="0">
                <a:solidFill>
                  <a:schemeClr val="bg2"/>
                </a:solidFill>
              </a:rPr>
              <a:t>Ограничение таблицы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713788" cy="568960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dirty="0" smtClean="0"/>
              <a:t>&lt;</a:t>
            </a:r>
            <a:r>
              <a:rPr lang="ru-RU" dirty="0" smtClean="0"/>
              <a:t>ограничение таблицы</a:t>
            </a:r>
            <a:r>
              <a:rPr lang="en-US" dirty="0" smtClean="0"/>
              <a:t>&gt; </a:t>
            </a:r>
            <a:r>
              <a:rPr lang="en-US" dirty="0"/>
              <a:t>::= 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dirty="0"/>
              <a:t>	</a:t>
            </a:r>
            <a:r>
              <a:rPr lang="en-US" sz="2800" dirty="0" smtClean="0"/>
              <a:t>[</a:t>
            </a:r>
            <a:r>
              <a:rPr lang="en-US" sz="2800" dirty="0"/>
              <a:t>CONSTRAINT  </a:t>
            </a:r>
            <a:r>
              <a:rPr lang="ru-RU" sz="2800" dirty="0"/>
              <a:t>имя ограничения</a:t>
            </a:r>
            <a:r>
              <a:rPr lang="en-US" sz="2800" dirty="0"/>
              <a:t> ]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dirty="0" smtClean="0"/>
              <a:t>	</a:t>
            </a:r>
            <a:r>
              <a:rPr lang="en-US" sz="2800" dirty="0" smtClean="0"/>
              <a:t>{ </a:t>
            </a:r>
            <a:r>
              <a:rPr lang="en-US" sz="2800" dirty="0"/>
              <a:t>PRIMARY KEY (</a:t>
            </a:r>
            <a:r>
              <a:rPr lang="ru-RU" sz="2800" dirty="0"/>
              <a:t>имя столбца</a:t>
            </a:r>
            <a:r>
              <a:rPr lang="en-US" sz="2800" dirty="0"/>
              <a:t>, … )}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b="1" dirty="0" smtClean="0"/>
              <a:t>	</a:t>
            </a:r>
            <a:r>
              <a:rPr lang="en-US" sz="2800" b="1" dirty="0" smtClean="0"/>
              <a:t>|</a:t>
            </a:r>
            <a:r>
              <a:rPr lang="en-US" sz="2800" dirty="0" smtClean="0"/>
              <a:t> </a:t>
            </a:r>
            <a:r>
              <a:rPr lang="en-US" sz="2800" dirty="0"/>
              <a:t>{UNIQUE (</a:t>
            </a:r>
            <a:r>
              <a:rPr lang="ru-RU" sz="2800" dirty="0"/>
              <a:t>имя столбца</a:t>
            </a:r>
            <a:r>
              <a:rPr lang="en-US" sz="2800" dirty="0"/>
              <a:t>, … )}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b="1" dirty="0" smtClean="0"/>
              <a:t>	</a:t>
            </a:r>
            <a:r>
              <a:rPr lang="en-US" sz="2800" b="1" dirty="0" smtClean="0"/>
              <a:t>|</a:t>
            </a:r>
            <a:r>
              <a:rPr lang="en-US" sz="2800" dirty="0" smtClean="0"/>
              <a:t> </a:t>
            </a:r>
            <a:r>
              <a:rPr lang="en-US" sz="2800" dirty="0"/>
              <a:t>FOREIGN KEY (</a:t>
            </a:r>
            <a:r>
              <a:rPr lang="ru-RU" sz="2800" dirty="0"/>
              <a:t>имя столбца</a:t>
            </a:r>
            <a:r>
              <a:rPr lang="en-US" sz="2800" dirty="0"/>
              <a:t>, … ) 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dirty="0"/>
              <a:t>REFERENCES </a:t>
            </a:r>
            <a:r>
              <a:rPr lang="ru-RU" sz="2800" dirty="0"/>
              <a:t>имя таблицы </a:t>
            </a:r>
            <a:r>
              <a:rPr lang="en-US" sz="2800" dirty="0"/>
              <a:t>[(</a:t>
            </a:r>
            <a:r>
              <a:rPr lang="ru-RU" sz="2800" dirty="0"/>
              <a:t>имя столбца</a:t>
            </a:r>
            <a:r>
              <a:rPr lang="en-US" sz="2800" dirty="0"/>
              <a:t>, … )]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dirty="0"/>
              <a:t>	</a:t>
            </a:r>
            <a:r>
              <a:rPr lang="ru-RU" sz="2800" dirty="0" smtClean="0"/>
              <a:t>		</a:t>
            </a:r>
            <a:r>
              <a:rPr lang="en-US" sz="2800" dirty="0" smtClean="0"/>
              <a:t>[&lt;</a:t>
            </a:r>
            <a:r>
              <a:rPr 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ссылочная спецификация</a:t>
            </a:r>
            <a:r>
              <a:rPr lang="en-US" sz="2800" dirty="0" smtClean="0"/>
              <a:t>&gt;]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b="1" dirty="0" smtClean="0"/>
              <a:t>	</a:t>
            </a:r>
            <a:r>
              <a:rPr lang="en-US" sz="2800" b="1" dirty="0" smtClean="0"/>
              <a:t>|</a:t>
            </a:r>
            <a:r>
              <a:rPr lang="en-US" sz="2800" dirty="0" smtClean="0"/>
              <a:t> </a:t>
            </a:r>
            <a:r>
              <a:rPr lang="en-US" sz="2800" dirty="0"/>
              <a:t>{CHECK </a:t>
            </a:r>
            <a:r>
              <a:rPr lang="ru-RU" sz="2800" dirty="0"/>
              <a:t>предикат</a:t>
            </a:r>
            <a:r>
              <a:rPr lang="en-US" sz="2800" dirty="0"/>
              <a:t>} [[NOT] DEFERRABLE ]</a:t>
            </a:r>
            <a:endParaRPr lang="ru-RU" sz="2800" dirty="0"/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baseline="30000" dirty="0" smtClean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827088" y="1484313"/>
            <a:ext cx="7273925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mtClean="0"/>
              <a:t>&lt;</a:t>
            </a:r>
            <a:r>
              <a:rPr lang="ru-RU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ссылочная спецификация</a:t>
            </a:r>
            <a:r>
              <a:rPr lang="en-US" smtClean="0"/>
              <a:t>&gt; </a:t>
            </a:r>
            <a:r>
              <a:rPr lang="en-US" dirty="0"/>
              <a:t>::=</a:t>
            </a:r>
            <a:endParaRPr lang="ru-RU" dirty="0"/>
          </a:p>
          <a:p>
            <a:r>
              <a:rPr lang="en-US" dirty="0"/>
              <a:t>[MATCH {FULL| PARTIAL}]</a:t>
            </a:r>
            <a:endParaRPr lang="ru-RU" dirty="0"/>
          </a:p>
          <a:p>
            <a:r>
              <a:rPr lang="en-US" dirty="0"/>
              <a:t>[ON UPDATE { CASCADE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SET NULL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SET DEFAULT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NO ACTION } ]</a:t>
            </a:r>
            <a:endParaRPr lang="ru-RU" dirty="0"/>
          </a:p>
          <a:p>
            <a:r>
              <a:rPr lang="en-US" dirty="0"/>
              <a:t>[ON DELETE { CASCADE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SET NULL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SET DEFAULT</a:t>
            </a:r>
            <a:endParaRPr lang="ru-RU" dirty="0"/>
          </a:p>
          <a:p>
            <a:r>
              <a:rPr lang="ru-RU" dirty="0"/>
              <a:t>		      </a:t>
            </a:r>
            <a:r>
              <a:rPr lang="en-US" dirty="0"/>
              <a:t>| NO ACTION } ]</a:t>
            </a:r>
            <a:endParaRPr lang="ru-RU" dirty="0"/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1835150" y="311150"/>
            <a:ext cx="61214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sz="3600">
                <a:solidFill>
                  <a:schemeClr val="bg2"/>
                </a:solidFill>
              </a:rPr>
              <a:t>Ссылочная спецификация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7050" y="317500"/>
            <a:ext cx="8229600" cy="527050"/>
          </a:xfrm>
        </p:spPr>
        <p:txBody>
          <a:bodyPr/>
          <a:lstStyle/>
          <a:p>
            <a:r>
              <a:rPr lang="ru-RU" dirty="0" smtClean="0">
                <a:solidFill>
                  <a:schemeClr val="bg2"/>
                </a:solidFill>
              </a:rPr>
              <a:t>Примеры на создание таблиц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28700"/>
            <a:ext cx="9144000" cy="56451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Пусть необходимо разработать информационную систему для торговли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В системе выделили следующие сущности: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ПРОДАВЦЫ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ПОКУПАТЕЛИ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ПОКУПКИ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О продавце нужно хранить данные о его </a:t>
            </a:r>
            <a:r>
              <a:rPr lang="ru-RU" b="1" dirty="0" smtClean="0"/>
              <a:t>имени</a:t>
            </a:r>
            <a:r>
              <a:rPr lang="ru-RU" dirty="0" smtClean="0"/>
              <a:t>, </a:t>
            </a:r>
            <a:r>
              <a:rPr lang="ru-RU" b="1" dirty="0" smtClean="0"/>
              <a:t>городе</a:t>
            </a:r>
            <a:r>
              <a:rPr lang="ru-RU" dirty="0" smtClean="0"/>
              <a:t> в котором он работает, </a:t>
            </a:r>
            <a:r>
              <a:rPr lang="ru-RU" b="1" dirty="0" smtClean="0"/>
              <a:t>уровень комиссионных </a:t>
            </a:r>
            <a:r>
              <a:rPr lang="ru-RU" dirty="0" smtClean="0"/>
              <a:t>(его активность)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О покупателе нужно хранить данные о его </a:t>
            </a:r>
            <a:r>
              <a:rPr lang="ru-RU" b="1" dirty="0" smtClean="0"/>
              <a:t>имени</a:t>
            </a:r>
            <a:r>
              <a:rPr lang="ru-RU" dirty="0" smtClean="0"/>
              <a:t>, </a:t>
            </a:r>
            <a:r>
              <a:rPr lang="ru-RU" b="1" dirty="0" smtClean="0"/>
              <a:t>городе</a:t>
            </a:r>
            <a:r>
              <a:rPr lang="ru-RU" dirty="0" smtClean="0"/>
              <a:t> в котором он проживает, его </a:t>
            </a:r>
            <a:r>
              <a:rPr lang="ru-RU" b="1" dirty="0" smtClean="0"/>
              <a:t>персональном рейтинге </a:t>
            </a:r>
            <a:r>
              <a:rPr lang="ru-RU" dirty="0" smtClean="0"/>
              <a:t>(его активность), </a:t>
            </a:r>
            <a:r>
              <a:rPr lang="ru-RU" b="1" dirty="0" smtClean="0"/>
              <a:t>данные о продавце</a:t>
            </a:r>
            <a:r>
              <a:rPr lang="ru-RU" dirty="0" smtClean="0"/>
              <a:t>, к которому он приписан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В информации о покупке отражается: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количество проданного товара,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дата покупки,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продавец,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покупатель совершившие куплю-продажу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>
          <a:xfrm>
            <a:off x="1835150" y="260350"/>
            <a:ext cx="5184775" cy="576263"/>
          </a:xfrm>
        </p:spPr>
        <p:txBody>
          <a:bodyPr/>
          <a:lstStyle/>
          <a:p>
            <a:pPr algn="ctr" eaLnBrk="1" hangingPunct="1"/>
            <a:r>
              <a:rPr lang="ru-RU" sz="3600" smtClean="0">
                <a:solidFill>
                  <a:schemeClr val="bg2"/>
                </a:solidFill>
              </a:rPr>
              <a:t>Пример (1)</a:t>
            </a:r>
            <a:endParaRPr lang="ru-RU" sz="3600" smtClean="0">
              <a:solidFill>
                <a:srgbClr val="7030A0"/>
              </a:solidFill>
            </a:endParaRPr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395288" y="1412875"/>
            <a:ext cx="8748712" cy="3455988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b="1" dirty="0" smtClean="0"/>
              <a:t>CREATE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ru-RU" dirty="0" smtClean="0"/>
              <a:t>   </a:t>
            </a:r>
            <a:r>
              <a:rPr lang="ru-RU" b="1" dirty="0" smtClean="0">
                <a:solidFill>
                  <a:schemeClr val="bg2"/>
                </a:solidFill>
              </a:rPr>
              <a:t>ПРОДАВЦЫ</a:t>
            </a:r>
            <a:endParaRPr lang="ru-RU" b="1" dirty="0">
              <a:solidFill>
                <a:schemeClr val="bg2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(</a:t>
            </a:r>
            <a:r>
              <a:rPr lang="en-US" dirty="0" err="1"/>
              <a:t>snum</a:t>
            </a:r>
            <a:r>
              <a:rPr lang="en-US" dirty="0"/>
              <a:t> INTEGER NOT NULL PRIMARY KEY,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 smtClean="0"/>
              <a:t>   </a:t>
            </a:r>
            <a:r>
              <a:rPr lang="en-US" dirty="0" err="1" smtClean="0"/>
              <a:t>Sname</a:t>
            </a:r>
            <a:r>
              <a:rPr lang="en-US" dirty="0" smtClean="0"/>
              <a:t> </a:t>
            </a:r>
            <a:r>
              <a:rPr lang="ru-RU" dirty="0" smtClean="0"/>
              <a:t>	</a:t>
            </a:r>
            <a:r>
              <a:rPr lang="en-US" dirty="0" smtClean="0"/>
              <a:t>CHAR(10</a:t>
            </a:r>
            <a:r>
              <a:rPr lang="en-US" dirty="0"/>
              <a:t>) </a:t>
            </a:r>
            <a:r>
              <a:rPr lang="ru-RU" dirty="0" smtClean="0"/>
              <a:t>	</a:t>
            </a:r>
            <a:r>
              <a:rPr lang="en-US" dirty="0" smtClean="0"/>
              <a:t>NOT </a:t>
            </a:r>
            <a:r>
              <a:rPr lang="en-US" dirty="0"/>
              <a:t>NULL,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City </a:t>
            </a:r>
            <a:r>
              <a:rPr lang="ru-RU" dirty="0" smtClean="0"/>
              <a:t>	</a:t>
            </a:r>
            <a:r>
              <a:rPr lang="en-US" dirty="0" smtClean="0"/>
              <a:t>CHAR(10),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</a:t>
            </a:r>
            <a:r>
              <a:rPr lang="en-US" dirty="0" err="1"/>
              <a:t>Comm</a:t>
            </a:r>
            <a:r>
              <a:rPr lang="en-US" dirty="0"/>
              <a:t> </a:t>
            </a:r>
            <a:r>
              <a:rPr lang="ru-RU" dirty="0" smtClean="0"/>
              <a:t>	</a:t>
            </a:r>
            <a:r>
              <a:rPr lang="en-US" dirty="0" smtClean="0"/>
              <a:t>DECIMAL   </a:t>
            </a:r>
            <a:r>
              <a:rPr lang="ru-RU" dirty="0" smtClean="0"/>
              <a:t>	</a:t>
            </a:r>
            <a:r>
              <a:rPr lang="en-US" dirty="0" smtClean="0"/>
              <a:t>CHECK(</a:t>
            </a:r>
            <a:r>
              <a:rPr lang="en-US" dirty="0" err="1" smtClean="0"/>
              <a:t>comm</a:t>
            </a:r>
            <a:r>
              <a:rPr lang="en-US" dirty="0" smtClean="0"/>
              <a:t> </a:t>
            </a:r>
            <a:r>
              <a:rPr lang="en-US" dirty="0"/>
              <a:t>&lt; 1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dirty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)</a:t>
            </a:r>
            <a:r>
              <a:rPr lang="en-US" dirty="0" smtClean="0"/>
              <a:t>;</a:t>
            </a:r>
            <a:endParaRPr lang="ru-RU" dirty="0"/>
          </a:p>
          <a:p>
            <a:pPr eaLnBrk="1" hangingPunct="1">
              <a:defRPr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388" y="836613"/>
            <a:ext cx="8856662" cy="5688012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b="1" dirty="0"/>
              <a:t>CREATE TABLE</a:t>
            </a:r>
            <a:r>
              <a:rPr lang="en-US" dirty="0"/>
              <a:t> </a:t>
            </a:r>
            <a:r>
              <a:rPr lang="ru-RU" dirty="0" smtClean="0"/>
              <a:t>    </a:t>
            </a:r>
            <a:r>
              <a:rPr lang="ru-RU" b="1" dirty="0" smtClean="0">
                <a:solidFill>
                  <a:schemeClr val="bg2"/>
                </a:solidFill>
              </a:rPr>
              <a:t>ПОКУПАТЕЛИ</a:t>
            </a:r>
            <a:endParaRPr lang="ru-RU" b="1" dirty="0">
              <a:solidFill>
                <a:schemeClr val="bg2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/>
              <a:t>cnum</a:t>
            </a:r>
            <a:r>
              <a:rPr lang="en-US" dirty="0"/>
              <a:t> INTEGER NOT NULL PRIMARY KEY,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</a:t>
            </a:r>
            <a:r>
              <a:rPr lang="en-US" dirty="0" err="1"/>
              <a:t>cname</a:t>
            </a:r>
            <a:r>
              <a:rPr lang="en-US" dirty="0"/>
              <a:t> </a:t>
            </a:r>
            <a:r>
              <a:rPr lang="ru-RU" dirty="0" smtClean="0"/>
              <a:t>	</a:t>
            </a:r>
            <a:r>
              <a:rPr lang="en-US" dirty="0" smtClean="0"/>
              <a:t>CHAR(10</a:t>
            </a:r>
            <a:r>
              <a:rPr lang="en-US" dirty="0"/>
              <a:t>) </a:t>
            </a:r>
            <a:r>
              <a:rPr lang="ru-RU" dirty="0" smtClean="0"/>
              <a:t>	</a:t>
            </a:r>
            <a:r>
              <a:rPr lang="en-US" dirty="0" smtClean="0"/>
              <a:t>NOT </a:t>
            </a:r>
            <a:r>
              <a:rPr lang="en-US" dirty="0"/>
              <a:t>NULL,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city </a:t>
            </a:r>
            <a:r>
              <a:rPr lang="ru-RU" dirty="0" smtClean="0"/>
              <a:t>	</a:t>
            </a:r>
            <a:r>
              <a:rPr lang="en-US" dirty="0" smtClean="0"/>
              <a:t>CHAR(10),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rating </a:t>
            </a:r>
            <a:r>
              <a:rPr lang="ru-RU" dirty="0" smtClean="0"/>
              <a:t>	</a:t>
            </a:r>
            <a:r>
              <a:rPr lang="en-US" dirty="0" smtClean="0"/>
              <a:t>INTEGER,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</a:t>
            </a:r>
            <a:r>
              <a:rPr lang="en-US" dirty="0" err="1"/>
              <a:t>snum</a:t>
            </a:r>
            <a:r>
              <a:rPr lang="en-US" dirty="0"/>
              <a:t> </a:t>
            </a:r>
            <a:r>
              <a:rPr lang="ru-RU" dirty="0" smtClean="0"/>
              <a:t>	</a:t>
            </a:r>
            <a:r>
              <a:rPr lang="en-US" dirty="0" smtClean="0"/>
              <a:t>INTEGER</a:t>
            </a:r>
            <a:r>
              <a:rPr lang="en-US" dirty="0"/>
              <a:t>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</a:t>
            </a:r>
            <a:r>
              <a:rPr lang="ru-RU" dirty="0" smtClean="0"/>
              <a:t> </a:t>
            </a:r>
            <a:r>
              <a:rPr lang="en-US" dirty="0" smtClean="0"/>
              <a:t>FOREIGN </a:t>
            </a:r>
            <a:r>
              <a:rPr lang="en-US" dirty="0"/>
              <a:t>KEY (</a:t>
            </a:r>
            <a:r>
              <a:rPr lang="en-US" dirty="0" err="1"/>
              <a:t>snum</a:t>
            </a:r>
            <a:r>
              <a:rPr lang="en-US" dirty="0"/>
              <a:t>) </a:t>
            </a:r>
            <a:r>
              <a:rPr lang="en-US" dirty="0" err="1"/>
              <a:t>CUSTtoSALES</a:t>
            </a:r>
            <a:r>
              <a:rPr lang="en-US" dirty="0"/>
              <a:t> </a:t>
            </a:r>
            <a:r>
              <a:rPr lang="ru-RU" dirty="0" smtClean="0"/>
              <a:t>			</a:t>
            </a:r>
            <a:r>
              <a:rPr lang="en-US" dirty="0" smtClean="0"/>
              <a:t>REFERENCES </a:t>
            </a:r>
            <a:r>
              <a:rPr lang="ru-RU" b="1" dirty="0" smtClean="0">
                <a:solidFill>
                  <a:schemeClr val="bg2"/>
                </a:solidFill>
              </a:rPr>
              <a:t>ПРОДАВЦЫ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dirty="0"/>
              <a:t> </a:t>
            </a:r>
            <a:r>
              <a:rPr lang="ru-RU" dirty="0" smtClean="0"/>
              <a:t>  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  <a:r>
              <a:rPr lang="en-US" dirty="0" smtClean="0"/>
              <a:t>;</a:t>
            </a:r>
            <a:endParaRPr lang="ru-RU" dirty="0"/>
          </a:p>
          <a:p>
            <a:pPr>
              <a:defRPr/>
            </a:pPr>
            <a:endParaRPr lang="ru-RU" dirty="0"/>
          </a:p>
        </p:txBody>
      </p:sp>
      <p:sp>
        <p:nvSpPr>
          <p:cNvPr id="15363" name="Заголовок 1"/>
          <p:cNvSpPr txBox="1">
            <a:spLocks/>
          </p:cNvSpPr>
          <p:nvPr/>
        </p:nvSpPr>
        <p:spPr bwMode="auto">
          <a:xfrm>
            <a:off x="1835150" y="260350"/>
            <a:ext cx="51847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sz="3600">
                <a:solidFill>
                  <a:schemeClr val="bg2"/>
                </a:solidFill>
              </a:rPr>
              <a:t>Пример (2)</a:t>
            </a:r>
            <a:endParaRPr lang="ru-RU" sz="3600">
              <a:solidFill>
                <a:srgbClr val="7030A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964613" cy="56880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b="1" dirty="0" smtClean="0"/>
              <a:t>CREATE TABLE</a:t>
            </a:r>
            <a:r>
              <a:rPr lang="en-US" dirty="0" smtClean="0"/>
              <a:t> </a:t>
            </a:r>
            <a:r>
              <a:rPr lang="ru-RU" dirty="0" smtClean="0"/>
              <a:t>   </a:t>
            </a:r>
            <a:r>
              <a:rPr lang="ru-RU" b="1" dirty="0" smtClean="0">
                <a:solidFill>
                  <a:schemeClr val="bg2"/>
                </a:solidFill>
              </a:rPr>
              <a:t>ПОКУПКИ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 smtClean="0"/>
              <a:t>  </a:t>
            </a:r>
            <a:r>
              <a:rPr lang="en-US" sz="2800" dirty="0" smtClean="0"/>
              <a:t>(</a:t>
            </a:r>
            <a:r>
              <a:rPr lang="en-US" sz="2800" dirty="0" err="1" smtClean="0"/>
              <a:t>onum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NOT NULL PRIMARY KEY,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  </a:t>
            </a:r>
            <a:r>
              <a:rPr lang="en-US" sz="2800" dirty="0" err="1" smtClean="0"/>
              <a:t>amt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DECIMAL,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  </a:t>
            </a:r>
            <a:r>
              <a:rPr lang="en-US" sz="2800" dirty="0" err="1" smtClean="0"/>
              <a:t>odate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DATE </a:t>
            </a:r>
            <a:r>
              <a:rPr lang="ru-RU" sz="2800" dirty="0" smtClean="0"/>
              <a:t>		</a:t>
            </a:r>
            <a:r>
              <a:rPr lang="en-US" sz="2800" dirty="0" smtClean="0"/>
              <a:t>NOT NULL,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  </a:t>
            </a:r>
            <a:r>
              <a:rPr lang="en-US" sz="2800" dirty="0" err="1" smtClean="0">
                <a:solidFill>
                  <a:srgbClr val="008000"/>
                </a:solidFill>
              </a:rPr>
              <a:t>cnum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</a:t>
            </a:r>
            <a:r>
              <a:rPr lang="ru-RU" sz="2800" dirty="0" smtClean="0"/>
              <a:t>	</a:t>
            </a:r>
            <a:r>
              <a:rPr lang="en-US" sz="2800" dirty="0" smtClean="0"/>
              <a:t>NOT NULL,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  </a:t>
            </a:r>
            <a:r>
              <a:rPr lang="en-US" sz="28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</a:t>
            </a:r>
            <a:r>
              <a:rPr lang="ru-RU" sz="2800" dirty="0" smtClean="0"/>
              <a:t>	</a:t>
            </a:r>
            <a:r>
              <a:rPr lang="en-US" sz="2800" dirty="0" smtClean="0"/>
              <a:t>NOT NULL,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FOREIGN KEY (</a:t>
            </a:r>
            <a:r>
              <a:rPr lang="en-US" sz="2800" dirty="0" err="1" smtClean="0">
                <a:solidFill>
                  <a:srgbClr val="008000"/>
                </a:solidFill>
              </a:rPr>
              <a:t>cnum</a:t>
            </a:r>
            <a:r>
              <a:rPr lang="en-US" sz="2800" dirty="0" smtClean="0"/>
              <a:t>) </a:t>
            </a:r>
            <a:r>
              <a:rPr lang="en-US" sz="2800" dirty="0" err="1" smtClean="0"/>
              <a:t>ORDtoCUST</a:t>
            </a:r>
            <a:r>
              <a:rPr lang="en-US" sz="2800" dirty="0" smtClean="0"/>
              <a:t>   </a:t>
            </a:r>
            <a:r>
              <a:rPr lang="ru-RU" sz="2800" dirty="0" smtClean="0"/>
              <a:t>				</a:t>
            </a:r>
            <a:r>
              <a:rPr lang="en-US" sz="2800" dirty="0" smtClean="0"/>
              <a:t>REFERENCES </a:t>
            </a:r>
            <a:r>
              <a:rPr lang="ru-RU" sz="2800" dirty="0" smtClean="0"/>
              <a:t> </a:t>
            </a:r>
            <a:r>
              <a:rPr lang="ru-RU" sz="2800" b="1" dirty="0" smtClean="0">
                <a:solidFill>
                  <a:schemeClr val="bg2"/>
                </a:solidFill>
              </a:rPr>
              <a:t>ПОКУПАТЕЛИ</a:t>
            </a:r>
            <a:r>
              <a:rPr lang="en-US" sz="2800" dirty="0" smtClean="0"/>
              <a:t>,</a:t>
            </a:r>
            <a:endParaRPr lang="ru-RU" sz="2800" dirty="0" smtClean="0"/>
          </a:p>
          <a:p>
            <a:pPr marL="0" indent="0">
              <a:buNone/>
            </a:pPr>
            <a:r>
              <a:rPr lang="en-US" sz="2800" dirty="0" smtClean="0"/>
              <a:t>FOREIGN </a:t>
            </a:r>
            <a:r>
              <a:rPr lang="en-US" sz="2800" dirty="0"/>
              <a:t>KEY (</a:t>
            </a:r>
            <a:r>
              <a:rPr 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snum</a:t>
            </a:r>
            <a:r>
              <a:rPr lang="en-US" sz="2800" dirty="0"/>
              <a:t>) </a:t>
            </a:r>
            <a:r>
              <a:rPr lang="en-US" sz="2800" dirty="0" err="1"/>
              <a:t>ORDtoSALES</a:t>
            </a:r>
            <a:r>
              <a:rPr lang="en-US" sz="2800" dirty="0"/>
              <a:t> </a:t>
            </a:r>
            <a:r>
              <a:rPr lang="ru-RU" sz="2800" dirty="0"/>
              <a:t>				</a:t>
            </a:r>
            <a:r>
              <a:rPr lang="en-US" sz="2800" dirty="0"/>
              <a:t>REFERENCES </a:t>
            </a:r>
            <a:r>
              <a:rPr lang="ru-RU" sz="2800" dirty="0" smtClean="0"/>
              <a:t> </a:t>
            </a:r>
            <a:r>
              <a:rPr lang="ru-RU" sz="2800" b="1" dirty="0" smtClean="0">
                <a:solidFill>
                  <a:schemeClr val="bg2"/>
                </a:solidFill>
              </a:rPr>
              <a:t>ПРОДАВЦЫ</a:t>
            </a:r>
            <a:endParaRPr lang="en-US" sz="2800" b="1" dirty="0" smtClean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);</a:t>
            </a:r>
            <a:endParaRPr lang="ru-RU" sz="2800" dirty="0" smtClean="0"/>
          </a:p>
          <a:p>
            <a:pPr marL="1371600" lvl="2" indent="-457200">
              <a:lnSpc>
                <a:spcPct val="90000"/>
              </a:lnSpc>
            </a:pPr>
            <a:endParaRPr lang="ru-RU" dirty="0" smtClean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6387" name="Заголовок 1"/>
          <p:cNvSpPr txBox="1">
            <a:spLocks/>
          </p:cNvSpPr>
          <p:nvPr/>
        </p:nvSpPr>
        <p:spPr bwMode="auto">
          <a:xfrm>
            <a:off x="1835150" y="260350"/>
            <a:ext cx="51847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sz="3600">
                <a:solidFill>
                  <a:schemeClr val="bg2"/>
                </a:solidFill>
              </a:rPr>
              <a:t>Пример (3-1)</a:t>
            </a:r>
            <a:endParaRPr lang="ru-RU" sz="3600">
              <a:solidFill>
                <a:srgbClr val="7030A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440530"/>
            <a:ext cx="9036050" cy="6417469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800" b="1" dirty="0" smtClean="0"/>
              <a:t>CREATE TABLE</a:t>
            </a:r>
            <a:r>
              <a:rPr lang="en-US" sz="2800" dirty="0" smtClean="0"/>
              <a:t> </a:t>
            </a:r>
            <a:r>
              <a:rPr lang="ru-RU" sz="2800" dirty="0" smtClean="0"/>
              <a:t>   </a:t>
            </a:r>
            <a:r>
              <a:rPr lang="ru-RU" sz="2800" b="1" dirty="0" smtClean="0">
                <a:solidFill>
                  <a:schemeClr val="bg2"/>
                </a:solidFill>
              </a:rPr>
              <a:t>ПОКУПКИ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(</a:t>
            </a:r>
            <a:r>
              <a:rPr lang="en-US" sz="2800" dirty="0" err="1" smtClean="0"/>
              <a:t>onum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NOT NULL PRIMARY KEY,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</a:t>
            </a:r>
            <a:r>
              <a:rPr lang="en-US" sz="2800" dirty="0" err="1" smtClean="0"/>
              <a:t>amt</a:t>
            </a:r>
            <a:r>
              <a:rPr lang="en-US" sz="2800" dirty="0" smtClean="0"/>
              <a:t> </a:t>
            </a:r>
            <a:r>
              <a:rPr lang="ru-RU" sz="2800" dirty="0" smtClean="0"/>
              <a:t>		</a:t>
            </a:r>
            <a:r>
              <a:rPr lang="en-US" sz="2800" dirty="0" smtClean="0"/>
              <a:t>DECIMAL,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</a:t>
            </a:r>
            <a:r>
              <a:rPr lang="en-US" sz="2800" dirty="0" err="1" smtClean="0"/>
              <a:t>odate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DATE NOT NULL,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</a:t>
            </a:r>
            <a:r>
              <a:rPr lang="en-US" sz="2800" dirty="0" err="1" smtClean="0"/>
              <a:t>cnum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NOT NULL REFERENCES </a:t>
            </a:r>
            <a:r>
              <a:rPr lang="ru-RU" sz="2800" dirty="0" smtClean="0"/>
              <a:t>							</a:t>
            </a:r>
            <a:r>
              <a:rPr lang="ru-RU" sz="2800" b="1" dirty="0" smtClean="0">
                <a:solidFill>
                  <a:schemeClr val="bg2"/>
                </a:solidFill>
              </a:rPr>
              <a:t>ПОКУПАТЕЛИ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pPr marL="0" indent="0">
              <a:buFont typeface="Wingdings" pitchFamily="2" charset="2"/>
              <a:buNone/>
            </a:pPr>
            <a:r>
              <a:rPr lang="ru-RU" sz="2800" dirty="0" smtClean="0"/>
              <a:t>		</a:t>
            </a:r>
            <a:r>
              <a:rPr lang="en-US" sz="2800" dirty="0" smtClean="0">
                <a:solidFill>
                  <a:srgbClr val="FF0000"/>
                </a:solidFill>
              </a:rPr>
              <a:t>ON UPDATE CASCADE      </a:t>
            </a:r>
            <a:endParaRPr lang="ru-RU" sz="2800" dirty="0" smtClean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ru-RU" sz="2800" dirty="0" smtClean="0">
                <a:solidFill>
                  <a:srgbClr val="FF0000"/>
                </a:solidFill>
              </a:rPr>
              <a:t>		</a:t>
            </a:r>
            <a:r>
              <a:rPr lang="en-US" sz="2800" dirty="0" smtClean="0">
                <a:solidFill>
                  <a:srgbClr val="FF0000"/>
                </a:solidFill>
              </a:rPr>
              <a:t>ON DELETE   CASCADE</a:t>
            </a: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,</a:t>
            </a:r>
            <a:endParaRPr lang="ru-RU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   </a:t>
            </a:r>
            <a:r>
              <a:rPr lang="en-US" sz="2800" dirty="0" err="1" smtClean="0"/>
              <a:t>snum</a:t>
            </a:r>
            <a:r>
              <a:rPr lang="en-US" sz="2800" dirty="0" smtClean="0"/>
              <a:t> </a:t>
            </a:r>
            <a:r>
              <a:rPr lang="ru-RU" sz="2800" dirty="0" smtClean="0"/>
              <a:t>	</a:t>
            </a:r>
            <a:r>
              <a:rPr lang="en-US" sz="2800" dirty="0" smtClean="0"/>
              <a:t>INTEGER NOT NULL  REFERENCES </a:t>
            </a:r>
            <a:r>
              <a:rPr lang="ru-RU" sz="2800" dirty="0" smtClean="0"/>
              <a:t>							</a:t>
            </a:r>
            <a:r>
              <a:rPr lang="ru-RU" sz="2800" b="1" dirty="0" smtClean="0">
                <a:solidFill>
                  <a:schemeClr val="bg2"/>
                </a:solidFill>
              </a:rPr>
              <a:t>ПРОДАВЦЫ</a:t>
            </a:r>
          </a:p>
          <a:p>
            <a:pPr marL="0" indent="0">
              <a:buFont typeface="Wingdings" pitchFamily="2" charset="2"/>
              <a:buNone/>
            </a:pPr>
            <a:r>
              <a:rPr lang="ru-RU" sz="2800" dirty="0" smtClean="0"/>
              <a:t>		</a:t>
            </a:r>
            <a:r>
              <a:rPr lang="en-US" sz="2800" dirty="0" smtClean="0">
                <a:solidFill>
                  <a:srgbClr val="FF0000"/>
                </a:solidFill>
              </a:rPr>
              <a:t>ON UPDATE CASCADE      </a:t>
            </a:r>
            <a:endParaRPr lang="ru-RU" sz="2800" dirty="0" smtClean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ru-RU" sz="2800" dirty="0" smtClean="0">
                <a:solidFill>
                  <a:srgbClr val="FF0000"/>
                </a:solidFill>
              </a:rPr>
              <a:t>		</a:t>
            </a:r>
            <a:r>
              <a:rPr lang="en-US" sz="2800" dirty="0" smtClean="0">
                <a:solidFill>
                  <a:srgbClr val="FF0000"/>
                </a:solidFill>
              </a:rPr>
              <a:t>ON DELETE  SET NULL </a:t>
            </a:r>
            <a:endParaRPr lang="ru-RU" sz="2800" dirty="0" smtClean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800" dirty="0" smtClean="0"/>
              <a:t>);</a:t>
            </a:r>
            <a:endParaRPr lang="ru-RU" sz="2800" dirty="0" smtClean="0"/>
          </a:p>
        </p:txBody>
      </p:sp>
      <p:sp>
        <p:nvSpPr>
          <p:cNvPr id="17411" name="Заголовок 1"/>
          <p:cNvSpPr txBox="1">
            <a:spLocks/>
          </p:cNvSpPr>
          <p:nvPr/>
        </p:nvSpPr>
        <p:spPr bwMode="auto">
          <a:xfrm>
            <a:off x="1835150" y="12212"/>
            <a:ext cx="5184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sz="3600" dirty="0">
                <a:solidFill>
                  <a:schemeClr val="bg2"/>
                </a:solidFill>
              </a:rPr>
              <a:t>Пример (3-2)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9144000" cy="511175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b="1" u="sng" dirty="0"/>
              <a:t>Рекурсия внешних ключей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endParaRPr lang="ru-RU" b="1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b="1" dirty="0" smtClean="0"/>
              <a:t>CREATE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ru-RU" dirty="0" smtClean="0"/>
              <a:t> </a:t>
            </a:r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СОТРУДНИКИ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  </a:t>
            </a:r>
            <a:r>
              <a:rPr lang="ru-RU" dirty="0" smtClean="0"/>
              <a:t>	</a:t>
            </a:r>
            <a:r>
              <a:rPr lang="en-US" dirty="0" smtClean="0"/>
              <a:t>INTEGER </a:t>
            </a:r>
            <a:r>
              <a:rPr lang="en-US" dirty="0"/>
              <a:t>NOT NULL PRIMARY KEY,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dirty="0" smtClean="0"/>
              <a:t> </a:t>
            </a:r>
            <a:r>
              <a:rPr lang="en-US" dirty="0" smtClean="0"/>
              <a:t>name </a:t>
            </a:r>
            <a:r>
              <a:rPr lang="ru-RU" dirty="0" smtClean="0"/>
              <a:t>	</a:t>
            </a:r>
            <a:r>
              <a:rPr lang="en-US" dirty="0" smtClean="0"/>
              <a:t>CHAR(10</a:t>
            </a:r>
            <a:r>
              <a:rPr lang="en-US" dirty="0"/>
              <a:t>) NOT NULL,</a:t>
            </a:r>
            <a:endParaRPr lang="ru-RU" dirty="0"/>
          </a:p>
          <a:p>
            <a:pPr marL="0" indent="0">
              <a:buNone/>
              <a:defRPr/>
            </a:pPr>
            <a:r>
              <a:rPr lang="en-US" dirty="0"/>
              <a:t>manager </a:t>
            </a:r>
            <a:r>
              <a:rPr lang="ru-RU" dirty="0" smtClean="0"/>
              <a:t>	</a:t>
            </a:r>
            <a:r>
              <a:rPr lang="en-US" dirty="0" smtClean="0"/>
              <a:t>INTEGER   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REFERENCES </a:t>
            </a:r>
            <a:r>
              <a:rPr lang="ru-RU" sz="28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СОТРУДНИКИ</a:t>
            </a:r>
            <a:endParaRPr lang="ru-RU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dirty="0" smtClean="0"/>
              <a:t> );</a:t>
            </a:r>
            <a:endParaRPr lang="ru-RU" sz="2800" dirty="0"/>
          </a:p>
          <a:p>
            <a:pPr>
              <a:buFont typeface="Wingdings" pitchFamily="2" charset="2"/>
              <a:buNone/>
              <a:defRPr/>
            </a:pPr>
            <a:endParaRPr lang="el-GR" dirty="0" smtClean="0"/>
          </a:p>
        </p:txBody>
      </p:sp>
      <p:sp>
        <p:nvSpPr>
          <p:cNvPr id="18435" name="Заголовок 1"/>
          <p:cNvSpPr txBox="1">
            <a:spLocks/>
          </p:cNvSpPr>
          <p:nvPr/>
        </p:nvSpPr>
        <p:spPr bwMode="auto">
          <a:xfrm>
            <a:off x="1835150" y="115888"/>
            <a:ext cx="5184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sz="3600">
                <a:solidFill>
                  <a:schemeClr val="bg2"/>
                </a:solidFill>
              </a:rPr>
              <a:t>Пример (4)</a:t>
            </a:r>
            <a:endParaRPr lang="ru-RU" sz="3600">
              <a:solidFill>
                <a:srgbClr val="7030A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400675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ALTER TABLE </a:t>
            </a:r>
            <a:r>
              <a:rPr lang="ru-RU" sz="2400" dirty="0"/>
              <a:t>имя таблицы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{ </a:t>
            </a:r>
            <a:r>
              <a:rPr lang="en-US" sz="2400" dirty="0"/>
              <a:t>ADD</a:t>
            </a:r>
            <a:r>
              <a:rPr lang="ru-RU" sz="2400" dirty="0"/>
              <a:t> [ </a:t>
            </a:r>
            <a:r>
              <a:rPr lang="en-US" sz="2400" dirty="0"/>
              <a:t>COLUMN</a:t>
            </a:r>
            <a:r>
              <a:rPr lang="ru-RU" sz="2400" dirty="0"/>
              <a:t>] имя столбца </a:t>
            </a:r>
            <a:r>
              <a:rPr lang="ru-RU" sz="2400" dirty="0" smtClean="0"/>
              <a:t>&lt;определение колонки&gt; </a:t>
            </a:r>
            <a:r>
              <a:rPr lang="ru-RU" sz="2400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| </a:t>
            </a:r>
            <a:r>
              <a:rPr lang="ru-RU" sz="2400" dirty="0"/>
              <a:t>{ </a:t>
            </a:r>
            <a:r>
              <a:rPr lang="en-US" sz="2400" dirty="0"/>
              <a:t>ALTER</a:t>
            </a:r>
            <a:r>
              <a:rPr lang="ru-RU" sz="2400" dirty="0"/>
              <a:t>  [</a:t>
            </a:r>
            <a:r>
              <a:rPr lang="en-US" sz="2400" dirty="0"/>
              <a:t>COLUMN</a:t>
            </a:r>
            <a:r>
              <a:rPr lang="ru-RU" sz="2400" dirty="0"/>
              <a:t>] } имя столбца </a:t>
            </a:r>
            <a:r>
              <a:rPr lang="ru-RU" sz="2400" dirty="0" smtClean="0"/>
              <a:t>&lt;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изменяющее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действие</a:t>
            </a:r>
            <a:r>
              <a:rPr lang="ru-RU" sz="2400" dirty="0"/>
              <a:t>&gt;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| </a:t>
            </a:r>
            <a:r>
              <a:rPr lang="ru-RU" sz="2400" dirty="0"/>
              <a:t>{ </a:t>
            </a:r>
            <a:r>
              <a:rPr lang="en-US" sz="2400" dirty="0"/>
              <a:t>DROP</a:t>
            </a:r>
            <a:r>
              <a:rPr lang="ru-RU" sz="2400" dirty="0"/>
              <a:t>  [</a:t>
            </a:r>
            <a:r>
              <a:rPr lang="en-US" sz="2400" dirty="0"/>
              <a:t>COLUMN</a:t>
            </a:r>
            <a:r>
              <a:rPr lang="ru-RU" sz="2400" dirty="0"/>
              <a:t>] имя столбца </a:t>
            </a:r>
            <a:r>
              <a:rPr lang="en-US" sz="2400" dirty="0"/>
              <a:t>RESTRICT</a:t>
            </a:r>
            <a:r>
              <a:rPr lang="ru-RU" sz="2400" dirty="0"/>
              <a:t> | </a:t>
            </a:r>
            <a:r>
              <a:rPr lang="en-US" sz="2400" dirty="0"/>
              <a:t>CASCADE </a:t>
            </a:r>
            <a:r>
              <a:rPr lang="ru-RU" sz="2400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| </a:t>
            </a:r>
            <a:r>
              <a:rPr lang="ru-RU" sz="2400" dirty="0"/>
              <a:t>{ </a:t>
            </a:r>
            <a:r>
              <a:rPr lang="en-US" sz="2400" dirty="0"/>
              <a:t>ADD</a:t>
            </a:r>
            <a:r>
              <a:rPr lang="ru-RU" sz="2400" dirty="0"/>
              <a:t> &lt;определение ограничения для таблицы&gt;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	| </a:t>
            </a:r>
            <a:r>
              <a:rPr lang="ru-RU" sz="2400" dirty="0"/>
              <a:t>{ </a:t>
            </a:r>
            <a:r>
              <a:rPr lang="en-US" sz="2400" dirty="0"/>
              <a:t>DROP</a:t>
            </a:r>
            <a:r>
              <a:rPr lang="ru-RU" sz="2400" dirty="0"/>
              <a:t>  </a:t>
            </a:r>
            <a:r>
              <a:rPr lang="en-US" sz="2400" dirty="0"/>
              <a:t>CONSTRAINT </a:t>
            </a:r>
            <a:r>
              <a:rPr lang="ru-RU" sz="2400" dirty="0"/>
              <a:t>имя ограничения </a:t>
            </a:r>
            <a:r>
              <a:rPr lang="en-US" sz="2400" dirty="0"/>
              <a:t>RESTRICT</a:t>
            </a:r>
            <a:r>
              <a:rPr lang="ru-RU" sz="2400" dirty="0"/>
              <a:t> | </a:t>
            </a:r>
            <a:r>
              <a:rPr lang="en-US" sz="2400" dirty="0"/>
              <a:t>CASCADE </a:t>
            </a:r>
            <a:r>
              <a:rPr lang="ru-RU" sz="2400" dirty="0" smtClean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2400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/>
              <a:t>&lt;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изменяющее действие</a:t>
            </a:r>
            <a:r>
              <a:rPr lang="ru-RU" sz="2400" b="1" dirty="0"/>
              <a:t>&gt; ::=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      { </a:t>
            </a:r>
            <a:r>
              <a:rPr lang="en-US" sz="2400" dirty="0"/>
              <a:t>SET DEFAULT </a:t>
            </a:r>
            <a:r>
              <a:rPr lang="ru-RU" sz="2400" dirty="0"/>
              <a:t>значение по умолчанию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400" dirty="0"/>
              <a:t>       | { </a:t>
            </a:r>
            <a:r>
              <a:rPr lang="en-US" sz="2400" dirty="0"/>
              <a:t>DROP DEFAULT </a:t>
            </a:r>
            <a:r>
              <a:rPr lang="ru-RU" sz="2400" dirty="0"/>
              <a:t>}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2400" dirty="0"/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	</a:t>
            </a:r>
            <a:endParaRPr lang="ru-RU" dirty="0" smtClean="0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595313"/>
          </a:xfrm>
          <a:noFill/>
        </p:spPr>
        <p:txBody>
          <a:bodyPr/>
          <a:lstStyle/>
          <a:p>
            <a:pPr algn="ctr"/>
            <a:r>
              <a:rPr lang="ru-RU" sz="3600" smtClean="0">
                <a:solidFill>
                  <a:schemeClr val="bg2"/>
                </a:solidFill>
              </a:rPr>
              <a:t>Изменение структуры таблицы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675688" cy="6264275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Пример</a:t>
            </a:r>
            <a:endParaRPr lang="en-US" sz="24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b="1" dirty="0" smtClean="0"/>
              <a:t>ALTER </a:t>
            </a:r>
            <a:r>
              <a:rPr lang="en-US" sz="2800" b="1" dirty="0"/>
              <a:t>TABLE </a:t>
            </a:r>
            <a:r>
              <a:rPr lang="ru-RU" sz="2800" b="1" dirty="0" smtClean="0"/>
              <a:t>  </a:t>
            </a:r>
            <a:r>
              <a:rPr lang="ru-RU" sz="2800" b="1" dirty="0" smtClean="0">
                <a:solidFill>
                  <a:schemeClr val="bg2"/>
                </a:solidFill>
              </a:rPr>
              <a:t>ПОКУПАТЕЛИ</a:t>
            </a:r>
            <a:r>
              <a:rPr lang="en-US" sz="2800" dirty="0" smtClean="0"/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dirty="0"/>
              <a:t>	</a:t>
            </a:r>
            <a:r>
              <a:rPr lang="en-US" sz="2800" dirty="0" smtClean="0"/>
              <a:t>ADD </a:t>
            </a:r>
            <a:r>
              <a:rPr lang="en-US" sz="2800" dirty="0"/>
              <a:t>country CHAR(10) DEFAULT = ‘RUSSIA’;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800" dirty="0" smtClean="0">
              <a:solidFill>
                <a:schemeClr val="bg2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ru-RU" dirty="0" smtClean="0">
                <a:solidFill>
                  <a:schemeClr val="bg2"/>
                </a:solidFill>
              </a:rPr>
              <a:t>Удаление таблицы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b="1" dirty="0" smtClean="0"/>
              <a:t>DROP</a:t>
            </a:r>
            <a:r>
              <a:rPr lang="en-US" sz="2800" dirty="0" smtClean="0"/>
              <a:t> </a:t>
            </a:r>
            <a:r>
              <a:rPr lang="en-US" sz="2800" b="1" dirty="0"/>
              <a:t>TABLE </a:t>
            </a:r>
            <a:r>
              <a:rPr lang="ru-RU" sz="2800" dirty="0"/>
              <a:t>имя таблицы</a:t>
            </a:r>
            <a:r>
              <a:rPr lang="en-US" sz="2800" dirty="0"/>
              <a:t> RESTRICT | CASCADE</a:t>
            </a:r>
            <a:endParaRPr lang="ru-RU" sz="2800" dirty="0"/>
          </a:p>
          <a:p>
            <a:pPr marL="0" indent="0">
              <a:buFont typeface="Wingdings" pitchFamily="2" charset="2"/>
              <a:buNone/>
              <a:defRPr/>
            </a:pPr>
            <a:endParaRPr lang="ru-RU" sz="2800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 smtClean="0"/>
              <a:t>RESTRICT </a:t>
            </a:r>
            <a:r>
              <a:rPr lang="ru-RU" sz="2400" dirty="0"/>
              <a:t>требует чтобы НЕ БЫЛО ссылок на удаляемую </a:t>
            </a:r>
            <a:r>
              <a:rPr lang="ru-RU" sz="2400" dirty="0" smtClean="0"/>
              <a:t>таблицу.</a:t>
            </a:r>
            <a:endParaRPr lang="ru-RU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CASCADE</a:t>
            </a:r>
            <a:r>
              <a:rPr lang="ru-RU" sz="2400" dirty="0"/>
              <a:t> удаляет ВСЕ ОБЪЕКТЫ, ссылающие на удаляемую таблицу.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Пример</a:t>
            </a: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b="1" dirty="0" smtClean="0"/>
              <a:t>DROP</a:t>
            </a:r>
            <a:r>
              <a:rPr lang="en-US" sz="2800" dirty="0" smtClean="0"/>
              <a:t> </a:t>
            </a:r>
            <a:r>
              <a:rPr lang="en-US" sz="2800" b="1" dirty="0" smtClean="0"/>
              <a:t>TABLE </a:t>
            </a:r>
            <a:r>
              <a:rPr lang="ru-RU" sz="2800" b="1" dirty="0" smtClean="0"/>
              <a:t> </a:t>
            </a:r>
            <a:r>
              <a:rPr lang="ru-RU" sz="2800" b="1" dirty="0" smtClean="0">
                <a:solidFill>
                  <a:schemeClr val="bg2"/>
                </a:solidFill>
              </a:rPr>
              <a:t>ПОКУПКИ</a:t>
            </a:r>
            <a:r>
              <a:rPr lang="ru-RU" sz="2800" dirty="0" smtClean="0"/>
              <a:t>  </a:t>
            </a:r>
            <a:r>
              <a:rPr lang="en-US" sz="2800" dirty="0" smtClean="0"/>
              <a:t>Restrict</a:t>
            </a:r>
            <a:endParaRPr lang="ru-RU" sz="28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C2694-874F-4CC5-9FE4-F16F3A164C5F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1846</TotalTime>
  <Words>1068</Words>
  <Application>Microsoft Office PowerPoint</Application>
  <PresentationFormat>Экран (4:3)</PresentationFormat>
  <Paragraphs>336</Paragraphs>
  <Slides>26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Пиксел</vt:lpstr>
      <vt:lpstr>Стандарт SQL-92 </vt:lpstr>
      <vt:lpstr>SQL- Structured Query Language SEQUEL- Structured English Query Language </vt:lpstr>
      <vt:lpstr>Стандарты SQL</vt:lpstr>
      <vt:lpstr>Уровни соответствия</vt:lpstr>
      <vt:lpstr>Разновидности SQL</vt:lpstr>
      <vt:lpstr>Обозначения </vt:lpstr>
      <vt:lpstr>Обозначения (2) </vt:lpstr>
      <vt:lpstr>Пользователи, схемы и сеансы</vt:lpstr>
      <vt:lpstr>Создание схемы БД</vt:lpstr>
      <vt:lpstr>Слайд 10</vt:lpstr>
      <vt:lpstr>Числовые типы данных</vt:lpstr>
      <vt:lpstr>Типы данных для времени</vt:lpstr>
      <vt:lpstr>Строковые типы данных</vt:lpstr>
      <vt:lpstr>CREATE DOMAIN</vt:lpstr>
      <vt:lpstr>Слайд 15</vt:lpstr>
      <vt:lpstr>Ограничение столбца</vt:lpstr>
      <vt:lpstr>Ограничение таблицы</vt:lpstr>
      <vt:lpstr>Слайд 18</vt:lpstr>
      <vt:lpstr>Примеры на создание таблиц</vt:lpstr>
      <vt:lpstr>Пример (1)</vt:lpstr>
      <vt:lpstr>Слайд 21</vt:lpstr>
      <vt:lpstr>Слайд 22</vt:lpstr>
      <vt:lpstr>Слайд 23</vt:lpstr>
      <vt:lpstr>Слайд 24</vt:lpstr>
      <vt:lpstr>Изменение структуры таблицы</vt:lpstr>
      <vt:lpstr>Слайд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User</cp:lastModifiedBy>
  <cp:revision>126</cp:revision>
  <dcterms:created xsi:type="dcterms:W3CDTF">2012-10-04T16:47:37Z</dcterms:created>
  <dcterms:modified xsi:type="dcterms:W3CDTF">2019-10-02T12:19:23Z</dcterms:modified>
</cp:coreProperties>
</file>