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25"/>
  </p:notesMasterIdLst>
  <p:sldIdLst>
    <p:sldId id="514" r:id="rId3"/>
    <p:sldId id="524" r:id="rId4"/>
    <p:sldId id="525" r:id="rId5"/>
    <p:sldId id="526" r:id="rId6"/>
    <p:sldId id="528" r:id="rId7"/>
    <p:sldId id="529" r:id="rId8"/>
    <p:sldId id="530" r:id="rId9"/>
    <p:sldId id="531" r:id="rId10"/>
    <p:sldId id="532" r:id="rId11"/>
    <p:sldId id="533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41" r:id="rId20"/>
    <p:sldId id="542" r:id="rId21"/>
    <p:sldId id="545" r:id="rId22"/>
    <p:sldId id="543" r:id="rId23"/>
    <p:sldId id="544" r:id="rId24"/>
  </p:sldIdLst>
  <p:sldSz cx="9144000" cy="5143500" type="screen16x9"/>
  <p:notesSz cx="6858000" cy="9144000"/>
  <p:embeddedFontLst>
    <p:embeddedFont>
      <p:font typeface="Acrom" panose="020B0604020202020204" charset="-52"/>
      <p:regular r:id="rId26"/>
    </p:embeddedFont>
    <p:embeddedFont>
      <p:font typeface="Acrom Bold" panose="020B0604020202020204" charset="-52"/>
      <p:bold r:id="rId27"/>
    </p:embeddedFont>
    <p:embeddedFont>
      <p:font typeface="Acrom ExtraBold" panose="020B0604020202020204" charset="-52"/>
      <p:bold r:id="rId28"/>
    </p:embeddedFont>
    <p:embeddedFont>
      <p:font typeface="Cascadia Code SemiLight" panose="020B0609020000020004" pitchFamily="49" charset="0"/>
      <p:regular r:id="rId29"/>
      <p:italic r:id="rId3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24"/>
            <p14:sldId id="525"/>
            <p14:sldId id="526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5"/>
            <p14:sldId id="543"/>
            <p14:sldId id="544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0F0F0"/>
    <a:srgbClr val="B8B8B8"/>
    <a:srgbClr val="FEFEFE"/>
    <a:srgbClr val="DBF2F3"/>
    <a:srgbClr val="D6D6FE"/>
    <a:srgbClr val="9292FB"/>
    <a:srgbClr val="C1F3FF"/>
    <a:srgbClr val="C20808"/>
    <a:srgbClr val="90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3" autoAdjust="0"/>
    <p:restoredTop sz="83051" autoAdjust="0"/>
  </p:normalViewPr>
  <p:slideViewPr>
    <p:cSldViewPr>
      <p:cViewPr>
        <p:scale>
          <a:sx n="150" d="100"/>
          <a:sy n="150" d="100"/>
        </p:scale>
        <p:origin x="420" y="-3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11.12.2024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60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55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143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75C7-68B7-C91D-D915-8A751BAE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140EB-4B50-FDDD-355E-1CEEB38D7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10F71-B58C-389C-01BA-6CACFE6A2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6EF65-5BB1-6415-6EEE-DAE8A8753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952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885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11.12.2024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11.12.2024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11.12.2024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11.12.2024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6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1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theme" Target="../theme/theme2.xml"/><Relationship Id="rId9" Type="http://schemas.microsoft.com/office/2007/relationships/hdphoto" Target="../media/hdphoto4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11.12.2024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zametkinapolyah.ru/zametki-o-mysql/chast-3-2-vidy-svyazej-mezhdu-tablicami-v-baze-dannyx-svyazi-v-relyacionnyx-bazax-dannyx-otnosheniya-kortezhi-atributy.html" TargetMode="External"/><Relationship Id="rId2" Type="http://schemas.openxmlformats.org/officeDocument/2006/relationships/hyperlink" Target="https://zametkinapolyah.ru/zametki-o-mysql/chast-5-sql-zaprosy-klyuchevye-slova-komandy-predlozheniya-i-sintaksis-yazyka-sq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ametkinapolyah.ru/zametki-o-mysql/chast-11-5-kaskadnaya-modifikacii-dannyx-v-bazax-dannyx-sqlite3.html" TargetMode="External"/><Relationship Id="rId5" Type="http://schemas.openxmlformats.org/officeDocument/2006/relationships/hyperlink" Target="https://zametkinapolyah.ru/zametki-o-mysql/chast-11-4-vneshnie-klyuchi-v-bazax-dannyx-sqlite-foreign-key-v-sqlite3.html" TargetMode="External"/><Relationship Id="rId4" Type="http://schemas.openxmlformats.org/officeDocument/2006/relationships/hyperlink" Target="https://zametkinapolyah.ru/zametki-o-mysql/chast-11-6-kaskadnoe-udaleniya-dannyx-v-bazax-dannyx-sqlite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sql-99.readthedocs.io/en/latest/chapters/24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servertutorial.net/sql-server-triggers/sql-server-instead-of-trigger/" TargetMode="External"/><Relationship Id="rId2" Type="http://schemas.openxmlformats.org/officeDocument/2006/relationships/hyperlink" Target="https://neon.tech/postgresql/postgresql-triggers/postgresql-instead-of-trigg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racletutorial.com/plsql-tutorial/oracle-instead-of-triggers/" TargetMode="External"/><Relationship Id="rId4" Type="http://schemas.openxmlformats.org/officeDocument/2006/relationships/hyperlink" Target="https://www.ibm.com/docs/en/i/7.3?topic=triggers-instead-sq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dirty="0"/>
              <a:t>Ограничения целостности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dirty="0"/>
              <a:t>Г. Гарсия –Молина, Дж. Ульман, Дж. </a:t>
            </a:r>
            <a:r>
              <a:rPr lang="ru-RU" dirty="0" err="1"/>
              <a:t>Уидом</a:t>
            </a:r>
            <a:r>
              <a:rPr lang="ru-RU" dirty="0"/>
              <a:t>, </a:t>
            </a:r>
            <a:br>
              <a:rPr lang="ru-RU" dirty="0"/>
            </a:br>
            <a:r>
              <a:rPr lang="ru-RU" b="1" dirty="0"/>
              <a:t>Системы баз данных</a:t>
            </a:r>
            <a:r>
              <a:rPr lang="ru-RU" dirty="0"/>
              <a:t>. </a:t>
            </a:r>
            <a:r>
              <a:rPr lang="ru-RU" dirty="0">
                <a:solidFill>
                  <a:schemeClr val="tx1"/>
                </a:solidFill>
                <a:highlight>
                  <a:srgbClr val="00FFFF"/>
                </a:highlight>
              </a:rPr>
              <a:t>Глава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0CD99-1778-4C3F-EDBD-64A9C5D565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Уровень таблицы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C85106-3CE3-1842-1A35-2696B2A86DC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4"/>
            <a:ext cx="4321175" cy="1584946"/>
          </a:xfrm>
        </p:spPr>
        <p:txBody>
          <a:bodyPr>
            <a:normAutofit fontScale="85000" lnSpcReduction="20000"/>
          </a:bodyPr>
          <a:lstStyle/>
          <a:p>
            <a:pPr marL="269875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Primary key</a:t>
            </a:r>
          </a:p>
          <a:p>
            <a:pPr marL="269875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Foreign key</a:t>
            </a:r>
          </a:p>
          <a:p>
            <a:pPr marL="269875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crom" panose="00000500000000000000" pitchFamily="50" charset="-52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Unique</a:t>
            </a:r>
          </a:p>
          <a:p>
            <a:pPr marL="269875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Check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FFEA75-0BA5-8895-ED9B-92D0877D6C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158494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Primary key</a:t>
            </a:r>
          </a:p>
          <a:p>
            <a:r>
              <a:rPr lang="en-US" dirty="0"/>
              <a:t>Foreign key</a:t>
            </a:r>
          </a:p>
          <a:p>
            <a:r>
              <a:rPr lang="en-US" dirty="0"/>
              <a:t>Not null</a:t>
            </a:r>
          </a:p>
          <a:p>
            <a:r>
              <a:rPr lang="en-US" dirty="0"/>
              <a:t>Unique</a:t>
            </a:r>
          </a:p>
          <a:p>
            <a:r>
              <a:rPr lang="en-US" dirty="0"/>
              <a:t>Check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251161-52B2-F2CC-2451-A3157D6660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Уровень колонки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75B13C-E74E-B464-6E4E-B02C80C6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целостности в РСУБД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3E458977-7FDF-221A-A7E6-6E0699609C3B}"/>
              </a:ext>
            </a:extLst>
          </p:cNvPr>
          <p:cNvSpPr txBox="1">
            <a:spLocks/>
          </p:cNvSpPr>
          <p:nvPr/>
        </p:nvSpPr>
        <p:spPr>
          <a:xfrm>
            <a:off x="350838" y="3724816"/>
            <a:ext cx="3933130" cy="383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latin typeface="Acrom Bold" panose="00000800000000000000" pitchFamily="50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Уровень базы данных ?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BFEE3D1-232C-AAE7-637D-F2330E5482CA}"/>
              </a:ext>
            </a:extLst>
          </p:cNvPr>
          <p:cNvSpPr txBox="1">
            <a:spLocks/>
          </p:cNvSpPr>
          <p:nvPr/>
        </p:nvSpPr>
        <p:spPr>
          <a:xfrm>
            <a:off x="350838" y="4107985"/>
            <a:ext cx="8164114" cy="383169"/>
          </a:xfrm>
          <a:prstGeom prst="rect">
            <a:avLst/>
          </a:prstGeom>
        </p:spPr>
        <p:txBody>
          <a:bodyPr vert="horz" lIns="91440" tIns="45720" rIns="91440" bIns="45720" numCol="2" spcCol="360000" rtlCol="0">
            <a:normAutofit/>
          </a:bodyPr>
          <a:lstStyle>
            <a:lvl1pPr marL="269875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538163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808038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7791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254125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/>
              <a:t>Assertion</a:t>
            </a:r>
          </a:p>
          <a:p>
            <a:r>
              <a:rPr lang="en-US" sz="1700" dirty="0"/>
              <a:t>Trigger</a:t>
            </a:r>
          </a:p>
        </p:txBody>
      </p:sp>
    </p:spTree>
    <p:extLst>
      <p:ext uri="{BB962C8B-B14F-4D97-AF65-F5344CB8AC3E}">
        <p14:creationId xmlns:p14="http://schemas.microsoft.com/office/powerpoint/2010/main" val="385952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8B4EBD-8965-F538-85FB-DA74517E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6C8706-65FB-E490-49A4-1174AC8856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dirty="0"/>
              <a:t>Объявляются с помощью конструкции, содержащей служебное слово </a:t>
            </a:r>
            <a:r>
              <a:rPr lang="en-US" dirty="0"/>
              <a:t>CREATE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/>
              <a:t>Состоит из следующих частей:</a:t>
            </a:r>
            <a:endParaRPr lang="en-US" dirty="0"/>
          </a:p>
          <a:p>
            <a:pPr lvl="1">
              <a:defRPr/>
            </a:pPr>
            <a:r>
              <a:rPr lang="ru-RU" dirty="0"/>
              <a:t>Ключевых слов 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 assertion</a:t>
            </a:r>
            <a:r>
              <a:rPr lang="en-US" cap="small" dirty="0"/>
              <a:t>;</a:t>
            </a:r>
          </a:p>
          <a:p>
            <a:pPr lvl="1">
              <a:defRPr/>
            </a:pPr>
            <a:r>
              <a:rPr lang="ru-RU" dirty="0"/>
              <a:t>названия </a:t>
            </a:r>
            <a:r>
              <a:rPr lang="ru-RU" i="1" dirty="0">
                <a:solidFill>
                  <a:srgbClr val="FF0000"/>
                </a:solidFill>
              </a:rPr>
              <a:t>А</a:t>
            </a:r>
            <a:r>
              <a:rPr lang="ru-RU" i="1" dirty="0"/>
              <a:t> </a:t>
            </a:r>
            <a:r>
              <a:rPr lang="ru-RU" dirty="0"/>
              <a:t>ограничения;</a:t>
            </a:r>
            <a:endParaRPr lang="en-US" dirty="0"/>
          </a:p>
          <a:p>
            <a:pPr lvl="1">
              <a:defRPr/>
            </a:pPr>
            <a:r>
              <a:rPr lang="ru-RU" dirty="0"/>
              <a:t>служебного слова 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check</a:t>
            </a:r>
            <a:r>
              <a:rPr lang="en-US" cap="small" dirty="0"/>
              <a:t>;</a:t>
            </a:r>
          </a:p>
          <a:p>
            <a:pPr lvl="1">
              <a:defRPr/>
            </a:pPr>
            <a:r>
              <a:rPr lang="ru-RU" dirty="0"/>
              <a:t>условия </a:t>
            </a:r>
            <a:r>
              <a:rPr lang="ru-RU" i="1" dirty="0">
                <a:solidFill>
                  <a:srgbClr val="FF0000"/>
                </a:solidFill>
              </a:rPr>
              <a:t>С</a:t>
            </a:r>
            <a:r>
              <a:rPr lang="ru-RU" i="1" dirty="0"/>
              <a:t>, </a:t>
            </a:r>
            <a:r>
              <a:rPr lang="ru-RU" dirty="0"/>
              <a:t>заключенного в круглые скобки.</a:t>
            </a:r>
          </a:p>
          <a:p>
            <a:pPr lvl="1">
              <a:defRPr/>
            </a:pP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1" indent="0">
              <a:buClr>
                <a:schemeClr val="bg2"/>
              </a:buClr>
              <a:buSzPct val="75000"/>
              <a:buNone/>
              <a:defRPr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 ASSERTION </a:t>
            </a:r>
            <a:r>
              <a:rPr lang="en-US" sz="320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CHECK</a:t>
            </a:r>
            <a:r>
              <a:rPr lang="en-US" sz="32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ru-RU" sz="320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С</a:t>
            </a:r>
            <a:r>
              <a:rPr lang="en-US" sz="320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  <a:r>
              <a:rPr lang="en-US" sz="32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  <a:endParaRPr lang="ru-RU" sz="32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4CF5A9-F026-9FD0-B9AB-E32D1E097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Assertions (1)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51541E2-70C6-3C80-6102-5A4EE4E9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63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EE41-8CB7-FDFA-A280-373E2597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B0120-B74F-B3F2-E4F7-0E353979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5DD6CD-3681-F72E-151C-A7935E4B8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000" dirty="0"/>
              <a:t>Условие </a:t>
            </a:r>
            <a:r>
              <a:rPr lang="ru-RU" sz="2000" i="1" dirty="0"/>
              <a:t>С </a:t>
            </a:r>
            <a:r>
              <a:rPr lang="ru-RU" sz="2000" dirty="0"/>
              <a:t>должно равняться </a:t>
            </a:r>
            <a:r>
              <a:rPr lang="en-US" sz="2000" cap="small" dirty="0">
                <a:solidFill>
                  <a:schemeClr val="accent4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true</a:t>
            </a:r>
            <a:r>
              <a:rPr lang="en-US" sz="2000" cap="small" dirty="0"/>
              <a:t> </a:t>
            </a:r>
            <a:r>
              <a:rPr lang="ru-RU" sz="2000" dirty="0"/>
              <a:t>в</a:t>
            </a:r>
            <a:r>
              <a:rPr lang="ru-RU" sz="2000" cap="small" dirty="0"/>
              <a:t> </a:t>
            </a:r>
            <a:r>
              <a:rPr lang="ru-RU" sz="2000" dirty="0">
                <a:solidFill>
                  <a:srgbClr val="C00000"/>
                </a:solidFill>
              </a:rPr>
              <a:t>момент выполнения команды над отношениями, упомянутыми в условии, </a:t>
            </a:r>
            <a:r>
              <a:rPr lang="ru-RU" sz="2000" dirty="0"/>
              <a:t>и обязано оставаться истинным в дальнейшем; 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Любая операция модификации базы данных, </a:t>
            </a:r>
            <a:r>
              <a:rPr lang="ru-RU" sz="2100" dirty="0">
                <a:solidFill>
                  <a:schemeClr val="accent1">
                    <a:lumMod val="75000"/>
                  </a:schemeClr>
                </a:solidFill>
              </a:rPr>
              <a:t>нарушающая условия</a:t>
            </a:r>
            <a:r>
              <a:rPr lang="ru-RU" sz="2000" dirty="0"/>
              <a:t>, подлежит </a:t>
            </a:r>
            <a:r>
              <a:rPr lang="ru-RU" sz="2000" dirty="0">
                <a:solidFill>
                  <a:srgbClr val="C00000"/>
                </a:solidFill>
              </a:rPr>
              <a:t>отмене</a:t>
            </a:r>
            <a:r>
              <a:rPr lang="ru-RU" sz="2000" dirty="0"/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Способы проверки ограничений </a:t>
            </a:r>
            <a:r>
              <a:rPr lang="en-US" sz="2000" b="1" cap="small" dirty="0"/>
              <a:t>check </a:t>
            </a:r>
            <a:r>
              <a:rPr lang="ru-RU" sz="2100" dirty="0">
                <a:solidFill>
                  <a:schemeClr val="accent1">
                    <a:lumMod val="75000"/>
                  </a:schemeClr>
                </a:solidFill>
              </a:rPr>
              <a:t>уровня таблицы (колонки)</a:t>
            </a:r>
            <a:r>
              <a:rPr lang="ru-RU" sz="2000" dirty="0">
                <a:solidFill>
                  <a:schemeClr val="bg2"/>
                </a:solidFill>
              </a:rPr>
              <a:t> </a:t>
            </a:r>
            <a:r>
              <a:rPr lang="ru-RU" sz="2000" dirty="0"/>
              <a:t>в операторе </a:t>
            </a:r>
            <a:r>
              <a:rPr lang="en-US" sz="2000" dirty="0"/>
              <a:t>CREATE TABLE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и ограничений общего вида</a:t>
            </a:r>
            <a:r>
              <a:rPr lang="ru-RU" sz="2000" dirty="0">
                <a:solidFill>
                  <a:schemeClr val="bg2"/>
                </a:solidFill>
              </a:rPr>
              <a:t>"</a:t>
            </a:r>
            <a:r>
              <a:rPr lang="ru-RU" sz="2000" dirty="0"/>
              <a:t> </a:t>
            </a:r>
            <a:r>
              <a:rPr lang="ru-RU" sz="2000" dirty="0">
                <a:solidFill>
                  <a:srgbClr val="FF0000"/>
                </a:solidFill>
              </a:rPr>
              <a:t>различаются</a:t>
            </a:r>
            <a:r>
              <a:rPr lang="ru-RU" sz="2000" dirty="0"/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</a:rPr>
              <a:t>Ограничение уровня таблицы (колонки) </a:t>
            </a:r>
            <a:r>
              <a:rPr lang="ru-RU" sz="2000" dirty="0"/>
              <a:t>определяет условие на</a:t>
            </a:r>
            <a:r>
              <a:rPr lang="ru-RU" sz="2000" dirty="0">
                <a:solidFill>
                  <a:srgbClr val="FF0000"/>
                </a:solidFill>
              </a:rPr>
              <a:t> атрибуты только того отношения</a:t>
            </a:r>
            <a:r>
              <a:rPr lang="ru-RU" sz="2000" dirty="0"/>
              <a:t>, к схеме которого относится само ограничение. Посредством </a:t>
            </a:r>
            <a:r>
              <a:rPr lang="ru-RU" sz="2000" dirty="0">
                <a:solidFill>
                  <a:srgbClr val="FF0000"/>
                </a:solidFill>
              </a:rPr>
              <a:t>подзапросов</a:t>
            </a:r>
            <a:r>
              <a:rPr lang="ru-RU" sz="2000" dirty="0"/>
              <a:t> в этих ограничениях могут адресоваться</a:t>
            </a:r>
            <a:r>
              <a:rPr lang="en-US" sz="2000" baseline="30000" dirty="0"/>
              <a:t>1</a:t>
            </a:r>
            <a:r>
              <a:rPr lang="ru-RU" sz="2000" dirty="0"/>
              <a:t> и </a:t>
            </a:r>
            <a:r>
              <a:rPr lang="ru-RU" sz="2000" dirty="0">
                <a:solidFill>
                  <a:srgbClr val="FF0000"/>
                </a:solidFill>
              </a:rPr>
              <a:t>другие отношения или кортежи других отношений</a:t>
            </a:r>
            <a:r>
              <a:rPr lang="ru-RU" sz="2000" dirty="0"/>
              <a:t>, но изменения </a:t>
            </a:r>
            <a:r>
              <a:rPr lang="ru-RU" sz="2000" dirty="0">
                <a:solidFill>
                  <a:srgbClr val="FF0000"/>
                </a:solidFill>
              </a:rPr>
              <a:t>в них </a:t>
            </a:r>
            <a:r>
              <a:rPr lang="ru-RU" sz="2000" dirty="0"/>
              <a:t>не вызовут проверки определяемого ограничения. </a:t>
            </a:r>
            <a:endParaRPr lang="en-US" sz="2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0C25D1-143F-A5BE-020D-0A5AC6F513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Assertions (2)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6656F5F-74CD-20EB-3664-BD3A4CFD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9991EEA-8C0A-C3E6-CACE-42FAADD3100A}"/>
              </a:ext>
            </a:extLst>
          </p:cNvPr>
          <p:cNvSpPr txBox="1">
            <a:spLocks/>
          </p:cNvSpPr>
          <p:nvPr/>
        </p:nvSpPr>
        <p:spPr>
          <a:xfrm>
            <a:off x="350837" y="4804468"/>
            <a:ext cx="8613651" cy="313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900" baseline="30000" dirty="0"/>
              <a:t>1</a:t>
            </a:r>
            <a:r>
              <a:rPr lang="en-US" sz="900" dirty="0"/>
              <a:t> </a:t>
            </a:r>
            <a:r>
              <a:rPr lang="ru-RU" sz="900" dirty="0"/>
              <a:t>не поддерживается ни в одной промышленной СУБД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3337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7543-7FE9-3758-452A-4BA156B2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93DE43-4E27-F662-F427-3280888A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4D75B5-3B0C-FD80-1CBA-99477A55A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01699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При создании ограничения «общего вида» подобных ограничений нет. В определении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Assertion</a:t>
            </a:r>
            <a:r>
              <a:rPr lang="ru-RU" dirty="0"/>
              <a:t> могут использоваться атрибуты любых отношений БД в выражении вида "</a:t>
            </a:r>
            <a:r>
              <a:rPr lang="en-US" dirty="0"/>
              <a:t>select</a:t>
            </a:r>
            <a:r>
              <a:rPr lang="ru-RU" dirty="0"/>
              <a:t>—</a:t>
            </a:r>
            <a:r>
              <a:rPr lang="en-US" dirty="0"/>
              <a:t>from</a:t>
            </a:r>
            <a:r>
              <a:rPr lang="ru-RU" dirty="0"/>
              <a:t>—</a:t>
            </a:r>
            <a:r>
              <a:rPr lang="en-US" cap="small" dirty="0"/>
              <a:t>w</a:t>
            </a:r>
            <a:r>
              <a:rPr lang="en-US" dirty="0"/>
              <a:t>here</a:t>
            </a:r>
            <a:r>
              <a:rPr lang="ru-RU" dirty="0"/>
              <a:t>".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Поскольку выражение в целом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должно относиться к булеву типу</a:t>
            </a:r>
            <a:r>
              <a:rPr lang="ru-RU" dirty="0"/>
              <a:t>, результат вычисления выражения некоторым образом агрегируется и приводится к единственной величине, способной принимать значения </a:t>
            </a:r>
            <a:r>
              <a:rPr lang="en-US" dirty="0"/>
              <a:t>TRUE </a:t>
            </a:r>
            <a:r>
              <a:rPr lang="ru-RU" dirty="0"/>
              <a:t>или </a:t>
            </a:r>
            <a:r>
              <a:rPr lang="en-US" cap="small" dirty="0"/>
              <a:t>FALSE</a:t>
            </a:r>
            <a:r>
              <a:rPr lang="ru-RU" cap="small" dirty="0"/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Assertion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b="1" dirty="0"/>
              <a:t>проверяется всякий раз, </a:t>
            </a:r>
            <a:r>
              <a:rPr lang="ru-RU" dirty="0"/>
              <a:t>когда выполняется </a:t>
            </a:r>
            <a:r>
              <a:rPr lang="ru-RU" b="1" dirty="0"/>
              <a:t>команда модификации </a:t>
            </a:r>
            <a:r>
              <a:rPr lang="ru-RU" dirty="0"/>
              <a:t>какого-либо отношения, указанного в его определении</a:t>
            </a:r>
            <a:r>
              <a:rPr lang="ru-RU" sz="2000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A8C76D-CC30-A29D-567E-C51EEAD16D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Assertions (3)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EDE39DF-6209-2A4F-1F8F-65DB0863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7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24D6-B470-1D29-3707-1A228F19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F18947-D46D-B018-0FF7-DA198F39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7F8BBC-C503-32B5-A95F-FBFD65582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3"/>
          </a:xfrm>
        </p:spPr>
        <p:txBody>
          <a:bodyPr numCol="2" spcCol="360000">
            <a:normAutofit fontScale="62500" lnSpcReduction="20000"/>
          </a:bodyPr>
          <a:lstStyle/>
          <a:p>
            <a:pPr marL="0" indent="4572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+mn-lt"/>
                <a:cs typeface="Arial" panose="020B0604020202020204" pitchFamily="34" charset="0"/>
              </a:rPr>
              <a:t>Пусть требуется реализовать ограничение "общего вида", согласно которому лицо </a:t>
            </a:r>
            <a:r>
              <a:rPr lang="ru-RU" sz="2000" dirty="0">
                <a:solidFill>
                  <a:srgbClr val="DE4110"/>
                </a:solidFill>
                <a:latin typeface="+mn-lt"/>
                <a:cs typeface="Arial" panose="020B0604020202020204" pitchFamily="34" charset="0"/>
              </a:rPr>
              <a:t>не может стать президентом 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киностудии, если оно не обладает совокупным годовым доходом в размере </a:t>
            </a:r>
            <a:r>
              <a:rPr lang="ru-RU" sz="2000" dirty="0">
                <a:solidFill>
                  <a:srgbClr val="DE4110"/>
                </a:solidFill>
                <a:latin typeface="+mn-lt"/>
                <a:cs typeface="Arial" panose="020B0604020202020204" pitchFamily="34" charset="0"/>
              </a:rPr>
              <a:t>как минимум 10 миллионов долларов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+mn-lt"/>
                <a:cs typeface="Arial" panose="020B0604020202020204" pitchFamily="34" charset="0"/>
              </a:rPr>
              <a:t>В ограничение вовлечены два отношения: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dirty="0" err="1">
                <a:latin typeface="+mn-lt"/>
                <a:cs typeface="Arial" panose="020B0604020202020204" pitchFamily="34" charset="0"/>
              </a:rPr>
              <a:t>MovieExec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(</a:t>
            </a:r>
            <a:r>
              <a:rPr lang="en-US" dirty="0">
                <a:latin typeface="+mn-lt"/>
                <a:cs typeface="Arial" panose="020B0604020202020204" pitchFamily="34" charset="0"/>
              </a:rPr>
              <a:t>id,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name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address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+mn-lt"/>
                <a:cs typeface="Arial" panose="020B0604020202020204" pitchFamily="34" charset="0"/>
              </a:rPr>
              <a:t>netWorth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)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 - кинопродюсеры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где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id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 – первичный ключ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+mn-lt"/>
                <a:cs typeface="Arial" panose="020B0604020202020204" pitchFamily="34" charset="0"/>
              </a:rPr>
              <a:t>netWorth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 – чистый капитал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Studio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(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name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address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+mn-lt"/>
                <a:cs typeface="Arial" panose="020B0604020202020204" pitchFamily="34" charset="0"/>
              </a:rPr>
              <a:t>pres_id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)</a:t>
            </a:r>
            <a:r>
              <a:rPr lang="ru-RU" dirty="0">
                <a:latin typeface="+mn-lt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- киностудии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,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 где </a:t>
            </a:r>
            <a:r>
              <a:rPr lang="en-US" sz="2000" dirty="0" err="1">
                <a:latin typeface="+mn-lt"/>
                <a:cs typeface="Arial" panose="020B0604020202020204" pitchFamily="34" charset="0"/>
              </a:rPr>
              <a:t>pres_id</a:t>
            </a:r>
            <a:r>
              <a:rPr lang="ru-RU" sz="2000" dirty="0">
                <a:latin typeface="+mn-lt"/>
                <a:cs typeface="Arial" panose="020B0604020202020204" pitchFamily="34" charset="0"/>
              </a:rPr>
              <a:t> – идентификатор президента киностудии</a:t>
            </a: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 ASSERTION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RichPres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CHECK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EXISTS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SELECT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*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b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</a:b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Studio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JOIN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ON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pres_id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= id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WHERE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&lt;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10000000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);</a:t>
            </a:r>
            <a:endParaRPr lang="en-US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F293AC6-A1F5-E8ED-87F3-3B0BA4917D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Assertions (</a:t>
            </a:r>
            <a:r>
              <a:rPr lang="ru-RU" dirty="0"/>
              <a:t>4</a:t>
            </a:r>
            <a:r>
              <a:rPr lang="en-US" dirty="0"/>
              <a:t>)</a:t>
            </a:r>
            <a:r>
              <a:rPr lang="ru-RU" dirty="0"/>
              <a:t>: Пример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5E16995-8EAA-6F21-D11A-B3B527DE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4DFC-1164-6908-CE36-A8B52ECF6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C4925-13C5-0359-1377-0652F39D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56FA9D-7013-FA92-6CB1-0C644F98AB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01699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400" dirty="0"/>
              <a:t>Ограничение общего вида можно заменить ограничениями CHECK уровня таблицы, объявленных в составе тех же отношений</a:t>
            </a:r>
            <a:endParaRPr lang="en-US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ru-RU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TABLE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Studio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name   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30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PRIMARY KEY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address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VARCHAR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255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),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pres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_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id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REFERENCES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CHECK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pres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_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id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NOT IN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SELECT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id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WHERE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&lt;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10000000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  <a:r>
              <a:rPr lang="en-US" sz="2000" b="1" dirty="0">
                <a:solidFill>
                  <a:srgbClr val="00B05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endParaRPr lang="ru-RU" sz="2000" b="1" dirty="0">
              <a:solidFill>
                <a:srgbClr val="00B05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EDAC34-549D-D891-23F8-EC786B589E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Альтернативы </a:t>
            </a:r>
            <a:r>
              <a:rPr lang="en-US" dirty="0" err="1"/>
              <a:t>AssertioN</a:t>
            </a:r>
            <a:r>
              <a:rPr lang="ru-RU" dirty="0"/>
              <a:t>: ограничения уровня таблицы (1)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AAD56DB-5189-D4D3-1CDD-E253DB78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61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02D9-B902-DEDA-F8E1-E9555A9F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8BEFCA-3911-6E72-5A26-838A383C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C8BB32-3245-B11D-2AAE-23D3B501A4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193658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400" dirty="0"/>
              <a:t>Стоит отметить, что ограничение, показанное выше, будет проверяться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только при изменении содержимого отношения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STUDIO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400" dirty="0"/>
              <a:t>Система не может выявить ситуацию, когда значение атрибута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netWorth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400" dirty="0"/>
              <a:t>кортежа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MovieExec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400" dirty="0"/>
              <a:t>с информацией о президенте какой-либо студии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снижается и становится меньше заветных 10 миллионов долларов.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ru-RU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400" dirty="0"/>
              <a:t> Чтобы получить решение, которое можно было бы считать полноценной альтернативой ограничению "общего вида", в</a:t>
            </a:r>
            <a:r>
              <a:rPr lang="ru-RU" sz="2400" i="1" dirty="0"/>
              <a:t> </a:t>
            </a:r>
            <a:r>
              <a:rPr lang="ru-RU" sz="2400" dirty="0"/>
              <a:t>составе отношения </a:t>
            </a:r>
            <a:r>
              <a:rPr lang="en-US" sz="2400" dirty="0" err="1"/>
              <a:t>MovieExec</a:t>
            </a:r>
            <a:r>
              <a:rPr lang="en-US" sz="2400" dirty="0"/>
              <a:t> </a:t>
            </a:r>
            <a:r>
              <a:rPr lang="ru-RU" sz="2400" dirty="0"/>
              <a:t>надлежит объявить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дополнительное ограничение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CHECK:</a:t>
            </a:r>
            <a:endParaRPr lang="ru-RU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TABLE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r>
              <a:rPr lang="ru-RU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id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PRIMARY KEY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</a:t>
            </a:r>
            <a:endParaRPr lang="ru-RU" sz="2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name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CHAR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30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),</a:t>
            </a:r>
            <a:endParaRPr lang="ru-RU" sz="2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address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VARCHAR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255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),</a:t>
            </a:r>
            <a:endParaRPr lang="ru-RU" sz="2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INT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CHECK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(id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SELECT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pres_id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Studio)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AND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&gt;=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10000000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OR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(id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NOT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SELECT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pres_id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Studio)))</a:t>
            </a:r>
            <a:r>
              <a:rPr lang="ru-RU" sz="2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662E854-226F-4B66-7EB3-8AEC479912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Альтернативы </a:t>
            </a:r>
            <a:r>
              <a:rPr lang="en-US" dirty="0" err="1"/>
              <a:t>AssertioN</a:t>
            </a:r>
            <a:r>
              <a:rPr lang="ru-RU" dirty="0"/>
              <a:t>: ограничения уровня таблицы (</a:t>
            </a:r>
            <a:r>
              <a:rPr lang="en-US" dirty="0"/>
              <a:t>2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C19732D-CC24-6EEF-8683-7ABBF9C15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57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7AC4-C054-C7BB-A0D0-15CBE75D9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CC3BC0-5FB8-8C51-0A35-41013AC0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5EFC03-E108-B200-08C1-92F7C496A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163183"/>
          </a:xfrm>
        </p:spPr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rgbClr val="DE4110"/>
              </a:buClr>
              <a:buNone/>
              <a:defRPr/>
            </a:pPr>
            <a:r>
              <a:rPr lang="ru-RU" sz="1600" b="1" dirty="0"/>
              <a:t>Триггер</a:t>
            </a:r>
            <a:r>
              <a:rPr lang="ru-RU" sz="1600" dirty="0"/>
              <a:t> – последовательность</a:t>
            </a:r>
            <a:r>
              <a:rPr lang="en-US" sz="1600" dirty="0"/>
              <a:t> </a:t>
            </a:r>
            <a:r>
              <a:rPr lang="ru-RU" sz="1600" dirty="0"/>
              <a:t> команд, поставленная в соответствие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определенному событию</a:t>
            </a:r>
            <a:r>
              <a:rPr lang="ru-RU" sz="1600" i="1" dirty="0">
                <a:solidFill>
                  <a:schemeClr val="bg2"/>
                </a:solidFill>
              </a:rPr>
              <a:t> </a:t>
            </a:r>
            <a:r>
              <a:rPr lang="ru-RU" sz="1600" dirty="0"/>
              <a:t>и выполняемая в ответ на это событие.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rgbClr val="DE4110"/>
              </a:buClr>
              <a:buNone/>
              <a:defRPr/>
            </a:pPr>
            <a:r>
              <a:rPr lang="ru-RU" sz="1600" dirty="0"/>
              <a:t>Под событием обычно понимается операция модификации содержимого таблиц базы данных. Некоторые СУБД позволяют привязывать триггеры к событиям модификации представлений, а также к изменениям метаданных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F93175-39DA-3213-C823-2551DF1F1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Альтернативы </a:t>
            </a:r>
            <a:r>
              <a:rPr lang="en-US" dirty="0" err="1"/>
              <a:t>AssertioN</a:t>
            </a:r>
            <a:r>
              <a:rPr lang="ru-RU" dirty="0"/>
              <a:t>: Триггеры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67060EE-516A-B94F-B121-90CCAF4E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уровня базы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2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64D78-55E1-ADC7-B24F-69C9D8BF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F96FB-FF04-747A-8456-3C3F63AC2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974454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ru-RU" sz="2000" b="1" i="0" dirty="0">
                <a:effectLst/>
              </a:rPr>
              <a:t>Функция согласования данных </a:t>
            </a:r>
            <a:br>
              <a:rPr lang="ru-RU" sz="2000" b="1" i="0" dirty="0">
                <a:effectLst/>
              </a:rPr>
            </a:br>
            <a:r>
              <a:rPr lang="ru-RU" sz="2000" dirty="0"/>
              <a:t>Т</a:t>
            </a:r>
            <a:r>
              <a:rPr lang="ru-RU" sz="2000" i="0" dirty="0">
                <a:effectLst/>
              </a:rPr>
              <a:t>р</a:t>
            </a:r>
            <a:r>
              <a:rPr lang="ru-RU" sz="2000" b="0" i="0" dirty="0">
                <a:effectLst/>
              </a:rPr>
              <a:t>иггеры используются для обеспечения целостности данных в базе данных. Мы можем связать триггер с той или иной </a:t>
            </a:r>
            <a:r>
              <a:rPr lang="ru-RU" sz="2000" b="0" i="0" u="none" strike="noStrike" dirty="0"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командой</a:t>
            </a:r>
            <a:r>
              <a:rPr lang="ru-RU" sz="2000" b="0" i="0" dirty="0">
                <a:effectLst/>
              </a:rPr>
              <a:t>, таким образом, чтобы триггер проверял </a:t>
            </a:r>
            <a:r>
              <a:rPr lang="ru-RU" sz="2000" b="0" i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связанные таблицы</a:t>
            </a:r>
            <a:r>
              <a:rPr lang="ru-RU" sz="2000" b="0" i="0" dirty="0">
                <a:effectLst/>
              </a:rPr>
              <a:t> на согласованность данных.</a:t>
            </a:r>
            <a:endParaRPr lang="ru-RU" sz="1800" b="0" i="0" dirty="0">
              <a:effectLst/>
            </a:endParaRPr>
          </a:p>
          <a:p>
            <a:pPr algn="l" fontAlgn="base">
              <a:lnSpc>
                <a:spcPct val="120000"/>
              </a:lnSpc>
              <a:buFont typeface="+mj-lt"/>
              <a:buAutoNum type="arabicPeriod"/>
            </a:pPr>
            <a:r>
              <a:rPr lang="ru-RU" sz="2000" b="1" i="0" dirty="0">
                <a:effectLst/>
              </a:rPr>
              <a:t>Функция очистки данных </a:t>
            </a:r>
            <a:br>
              <a:rPr lang="ru-RU" sz="2000" b="1" i="0" dirty="0">
                <a:effectLst/>
              </a:rPr>
            </a:br>
            <a:r>
              <a:rPr lang="ru-RU" sz="2000" b="0" i="0" dirty="0">
                <a:effectLst/>
              </a:rPr>
              <a:t>Данная функция является подмножество функции из пункта 1. При наличии связей по внешнему ключу может выполниться </a:t>
            </a:r>
            <a:r>
              <a:rPr lang="ru-RU" sz="2000" b="0" i="0" u="none" strike="noStrike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каскадное удаление данных</a:t>
            </a:r>
            <a:r>
              <a:rPr lang="ru-RU" sz="2000" u="none" strike="noStrike" dirty="0"/>
              <a:t> </a:t>
            </a:r>
            <a:r>
              <a:rPr lang="ru-RU" sz="2000" b="0" i="0" dirty="0">
                <a:effectLst/>
              </a:rPr>
              <a:t>из таблиц, связанных </a:t>
            </a:r>
            <a:r>
              <a:rPr lang="ru-RU" sz="2000" b="0" i="0" u="none" strike="noStrike" dirty="0"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ограничением внешнего ключа</a:t>
            </a:r>
            <a:r>
              <a:rPr lang="ru-RU" sz="2000" u="none" strike="noStrike" dirty="0"/>
              <a:t>.</a:t>
            </a:r>
            <a:br>
              <a:rPr lang="ru-RU" sz="2000" u="none" strike="noStrike" dirty="0"/>
            </a:br>
            <a:r>
              <a:rPr lang="ru-RU" sz="2000" b="0" i="0" dirty="0">
                <a:effectLst/>
              </a:rPr>
              <a:t>Но если данные об одном объекте хранятся в несвязанных таблицах, то могут </a:t>
            </a:r>
            <a:br>
              <a:rPr lang="ru-RU" sz="2000" b="0" i="0" dirty="0">
                <a:effectLst/>
              </a:rPr>
            </a:br>
            <a:r>
              <a:rPr lang="ru-RU" sz="2000" b="0" i="0" dirty="0">
                <a:effectLst/>
              </a:rPr>
              <a:t>использоваться триггеры. То же самое и про операции </a:t>
            </a:r>
            <a:r>
              <a:rPr lang="ru-RU" sz="2000" b="0" i="0" u="none" strike="noStrike" dirty="0"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каскадной модификации данных</a:t>
            </a:r>
            <a:r>
              <a:rPr lang="ru-RU" sz="2000" b="0" i="0" dirty="0">
                <a:effectLst/>
              </a:rPr>
              <a:t>.</a:t>
            </a:r>
          </a:p>
          <a:p>
            <a:pPr algn="l" fontAlgn="base">
              <a:lnSpc>
                <a:spcPct val="120000"/>
              </a:lnSpc>
              <a:buFont typeface="+mj-lt"/>
              <a:buAutoNum type="arabicPeriod"/>
            </a:pPr>
            <a:r>
              <a:rPr lang="ru-RU" sz="2400" b="1" i="0" dirty="0">
                <a:effectLst/>
              </a:rPr>
              <a:t>Функция журналирования для аудита </a:t>
            </a:r>
            <a:br>
              <a:rPr lang="ru-RU" sz="2400" b="1" i="0" dirty="0">
                <a:effectLst/>
              </a:rPr>
            </a:br>
            <a:r>
              <a:rPr lang="ru-RU" sz="2000" b="0" i="0" dirty="0">
                <a:effectLst/>
              </a:rPr>
              <a:t>Часто при помощи триггеров разработчики создают таблицы-журналы, в которых фиксируются различные изменения в базе данных. Обычно журналы создаются для фиксации изменений, которые вносят различные пользователи базы данных, таким образом можно отследить какой пользователь внес то или иное изменение в ту или иную таблицу базы данных</a:t>
            </a:r>
          </a:p>
          <a:p>
            <a:pPr algn="l" fontAlgn="base">
              <a:lnSpc>
                <a:spcPct val="120000"/>
              </a:lnSpc>
              <a:buFont typeface="+mj-lt"/>
              <a:buAutoNum type="arabicPeriod"/>
            </a:pPr>
            <a:r>
              <a:rPr lang="ru-RU" sz="2000" b="1" dirty="0"/>
              <a:t>Другие функции</a:t>
            </a:r>
            <a:br>
              <a:rPr lang="ru-RU" sz="2000" dirty="0"/>
            </a:br>
            <a:r>
              <a:rPr lang="ru-RU" sz="2000" dirty="0"/>
              <a:t>Используя хранимую процедуру в теле триггера можно делать аналитические или статистические расчеты</a:t>
            </a:r>
            <a:endParaRPr lang="ru-RU" sz="2000" b="0" i="0" dirty="0">
              <a:effectLst/>
            </a:endParaRP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F1ABE-350B-D29B-AA78-3038C497B9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Функции триггеров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3D3244-77A6-0765-FF41-DF024ED3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54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84C4-2C20-252E-C0D0-60456617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D6429-9552-1CCC-9080-832F7EA8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0D256-BEC3-530E-1B81-7B1CE61E49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830438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Триггеры еще называют </a:t>
            </a:r>
            <a:r>
              <a:rPr lang="ru-RU" b="1" dirty="0"/>
              <a:t>правилами</a:t>
            </a:r>
            <a:r>
              <a:rPr lang="ru-RU" dirty="0"/>
              <a:t> </a:t>
            </a:r>
            <a:br>
              <a:rPr lang="ru-RU" dirty="0"/>
            </a:br>
            <a:r>
              <a:rPr lang="ru-RU" i="1" dirty="0"/>
              <a:t>"событие —условие—действие" </a:t>
            </a:r>
            <a:br>
              <a:rPr lang="ru-RU" i="1" dirty="0"/>
            </a:br>
            <a:r>
              <a:rPr lang="en-US" dirty="0"/>
              <a:t>event</a:t>
            </a:r>
            <a:r>
              <a:rPr lang="ru-RU" i="1" dirty="0"/>
              <a:t> — </a:t>
            </a:r>
            <a:r>
              <a:rPr lang="en-US" dirty="0"/>
              <a:t>condition</a:t>
            </a:r>
            <a:r>
              <a:rPr lang="ru-RU" dirty="0"/>
              <a:t>—</a:t>
            </a:r>
            <a:r>
              <a:rPr lang="en-US" dirty="0"/>
              <a:t>action rules </a:t>
            </a:r>
            <a:r>
              <a:rPr lang="ru-RU" dirty="0"/>
              <a:t>или </a:t>
            </a:r>
            <a:r>
              <a:rPr lang="en-US" dirty="0"/>
              <a:t>ECA rules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Отличаются от других ограничений, рассмотренных выше, в трех аспектах.</a:t>
            </a:r>
          </a:p>
          <a:p>
            <a:pPr lvl="1">
              <a:lnSpc>
                <a:spcPct val="120000"/>
              </a:lnSpc>
              <a:defRPr/>
            </a:pPr>
            <a:r>
              <a:rPr lang="ru-RU" dirty="0">
                <a:ea typeface="+mn-ea"/>
              </a:rPr>
              <a:t>Триггер "срабатывает" только при наступлении определенного </a:t>
            </a:r>
            <a:r>
              <a:rPr lang="ru-RU" i="1" dirty="0">
                <a:ea typeface="+mn-ea"/>
              </a:rPr>
              <a:t>события </a:t>
            </a:r>
            <a:r>
              <a:rPr lang="ru-RU" dirty="0">
                <a:ea typeface="+mn-ea"/>
              </a:rPr>
              <a:t>(</a:t>
            </a:r>
            <a:r>
              <a:rPr lang="en-US" dirty="0">
                <a:ea typeface="+mn-ea"/>
              </a:rPr>
              <a:t>event</a:t>
            </a:r>
            <a:r>
              <a:rPr lang="ru-RU" dirty="0">
                <a:ea typeface="+mn-ea"/>
              </a:rPr>
              <a:t>), описание которого содержится в тексте триггера.</a:t>
            </a:r>
          </a:p>
          <a:p>
            <a:pPr lvl="1">
              <a:lnSpc>
                <a:spcPct val="120000"/>
              </a:lnSpc>
              <a:defRPr/>
            </a:pPr>
            <a:r>
              <a:rPr lang="ru-RU" dirty="0">
                <a:ea typeface="+mn-ea"/>
              </a:rPr>
              <a:t>Вместо того чтобы сразу отвергнуть операцию, вызвавшую его срабатывание, триггер выполняет проверку </a:t>
            </a:r>
            <a:r>
              <a:rPr lang="ru-RU" i="1" dirty="0">
                <a:ea typeface="+mn-ea"/>
              </a:rPr>
              <a:t>условия </a:t>
            </a:r>
            <a:r>
              <a:rPr lang="ru-RU" dirty="0">
                <a:ea typeface="+mn-ea"/>
              </a:rPr>
              <a:t>(</a:t>
            </a:r>
            <a:r>
              <a:rPr lang="en-US" dirty="0">
                <a:ea typeface="+mn-ea"/>
              </a:rPr>
              <a:t>condition</a:t>
            </a:r>
            <a:r>
              <a:rPr lang="ru-RU" dirty="0">
                <a:ea typeface="+mn-ea"/>
              </a:rPr>
              <a:t>). Если результат проверки равен значению </a:t>
            </a:r>
            <a:r>
              <a:rPr lang="en-US" b="1" cap="small" dirty="0">
                <a:ea typeface="+mn-ea"/>
              </a:rPr>
              <a:t>false</a:t>
            </a:r>
            <a:r>
              <a:rPr lang="en-US" cap="small" dirty="0">
                <a:ea typeface="+mn-ea"/>
              </a:rPr>
              <a:t>, </a:t>
            </a:r>
            <a:r>
              <a:rPr lang="ru-RU" dirty="0">
                <a:ea typeface="+mn-ea"/>
              </a:rPr>
              <a:t>работа триггера завершается.</a:t>
            </a:r>
          </a:p>
          <a:p>
            <a:pPr lvl="1">
              <a:lnSpc>
                <a:spcPct val="120000"/>
              </a:lnSpc>
              <a:defRPr/>
            </a:pPr>
            <a:r>
              <a:rPr lang="ru-RU" dirty="0">
                <a:ea typeface="+mn-ea"/>
              </a:rPr>
              <a:t>Если же условие, сформулированное в тексте триггера, справедливо (</a:t>
            </a:r>
            <a:r>
              <a:rPr lang="en-US" b="1" cap="small" dirty="0">
                <a:ea typeface="+mn-ea"/>
              </a:rPr>
              <a:t>TRUE</a:t>
            </a:r>
            <a:r>
              <a:rPr lang="en-US" dirty="0">
                <a:ea typeface="+mn-ea"/>
              </a:rPr>
              <a:t>)</a:t>
            </a:r>
            <a:r>
              <a:rPr lang="ru-RU" dirty="0">
                <a:ea typeface="+mn-ea"/>
              </a:rPr>
              <a:t>, СУБД выполняет </a:t>
            </a:r>
            <a:r>
              <a:rPr lang="ru-RU" i="1" dirty="0">
                <a:ea typeface="+mn-ea"/>
              </a:rPr>
              <a:t>действие </a:t>
            </a:r>
            <a:r>
              <a:rPr lang="ru-RU" dirty="0">
                <a:ea typeface="+mn-ea"/>
              </a:rPr>
              <a:t>(</a:t>
            </a:r>
            <a:r>
              <a:rPr lang="en-US" dirty="0">
                <a:ea typeface="+mn-ea"/>
              </a:rPr>
              <a:t>action</a:t>
            </a:r>
            <a:r>
              <a:rPr lang="ru-RU" dirty="0">
                <a:ea typeface="+mn-ea"/>
              </a:rPr>
              <a:t>), поставленное в соответствие событию.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DE234-2DF0-1684-A492-AC481FF011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Функции триггеров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4F9C47-2358-DAD6-C84E-2808FDB0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11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8387-AD8A-6654-147C-46657812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6D967B-2F16-61D7-D7CF-75CAF309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C485E-B1A4-278F-F318-722D84569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830438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К числу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допустимых событий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Event) </a:t>
            </a:r>
            <a:r>
              <a:rPr lang="ru-RU" dirty="0"/>
              <a:t>обычно относят операции </a:t>
            </a:r>
            <a:r>
              <a:rPr lang="en-US" dirty="0">
                <a:solidFill>
                  <a:srgbClr val="C00000"/>
                </a:solidFill>
              </a:rPr>
              <a:t>INSERT</a:t>
            </a:r>
            <a:r>
              <a:rPr lang="ru-RU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DELETE</a:t>
            </a:r>
            <a:r>
              <a:rPr lang="ru-RU" dirty="0">
                <a:solidFill>
                  <a:srgbClr val="C00000"/>
                </a:solidFill>
              </a:rPr>
              <a:t> и </a:t>
            </a:r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указанного отношения.</a:t>
            </a:r>
            <a:r>
              <a:rPr lang="ru-RU" dirty="0"/>
              <a:t> Во многих СУБД "событием", на которое способен отреагировать триггер, разрешено считать и факт завершения транзакции.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Под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действием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Action</a:t>
            </a:r>
            <a:r>
              <a:rPr lang="en-US" dirty="0"/>
              <a:t>) </a:t>
            </a:r>
            <a:r>
              <a:rPr lang="ru-RU" dirty="0"/>
              <a:t>понимается последовательность операций с базой данных, отвечающая логике соответствующего события. Оформляется как программный блок, хранящийся в базе данных</a:t>
            </a:r>
            <a:endParaRPr lang="en-US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Триггеры обычно определяются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на таблицах</a:t>
            </a:r>
            <a:r>
              <a:rPr lang="ru-RU" dirty="0"/>
              <a:t>, не на </a:t>
            </a:r>
            <a:r>
              <a:rPr lang="en-US" dirty="0"/>
              <a:t>VIEW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Тем не менее триггеры срабатывают, когда операции</a:t>
            </a:r>
            <a:r>
              <a:rPr lang="en-US" dirty="0"/>
              <a:t> </a:t>
            </a:r>
            <a:r>
              <a:rPr lang="ru-RU" dirty="0"/>
              <a:t>модификации исполняются через </a:t>
            </a:r>
            <a:r>
              <a:rPr lang="en-US" dirty="0"/>
              <a:t>VIEW</a:t>
            </a:r>
            <a:endParaRPr lang="ru-RU" dirty="0"/>
          </a:p>
          <a:p>
            <a:pPr lvl="1">
              <a:lnSpc>
                <a:spcPct val="120000"/>
              </a:lnSpc>
              <a:defRPr/>
            </a:pP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681EC-C2A8-D901-5A77-521D90A99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События, действия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C0276F-D5D2-2369-7A5A-20F21344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86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2574-039C-F4B5-9466-5E018393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54ED9C-CA54-66D9-535E-8E522603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97299-D83E-1E04-6B4C-6C9FD3C48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830438"/>
          </a:xfrm>
        </p:spPr>
        <p:txBody>
          <a:bodyPr numCol="1">
            <a:normAutofit/>
          </a:bodyPr>
          <a:lstStyle/>
          <a:p>
            <a:pPr>
              <a:defRPr/>
            </a:pPr>
            <a:r>
              <a:rPr lang="ru-RU" dirty="0"/>
              <a:t>В секции "действия" текста триггера разрешено использовать далеко не все команды </a:t>
            </a:r>
            <a:r>
              <a:rPr lang="en-US" dirty="0"/>
              <a:t>SQL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/>
              <a:t>Например, обычно нельзя применять команды</a:t>
            </a:r>
          </a:p>
          <a:p>
            <a:pPr lvl="1">
              <a:defRPr/>
            </a:pPr>
            <a:r>
              <a:rPr lang="ru-RU" dirty="0">
                <a:ea typeface="+mn-ea"/>
              </a:rPr>
              <a:t>управления транзакциями (подобные 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commit</a:t>
            </a:r>
            <a:r>
              <a:rPr lang="en-US" cap="small" dirty="0">
                <a:ea typeface="+mn-ea"/>
              </a:rPr>
              <a:t> </a:t>
            </a:r>
            <a:r>
              <a:rPr lang="ru-RU" dirty="0">
                <a:ea typeface="+mn-ea"/>
              </a:rPr>
              <a:t>и 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rollback</a:t>
            </a:r>
            <a:r>
              <a:rPr lang="ru-RU" cap="small" dirty="0">
                <a:ea typeface="+mn-ea"/>
              </a:rPr>
              <a:t>), </a:t>
            </a:r>
          </a:p>
          <a:p>
            <a:pPr lvl="1">
              <a:defRPr/>
            </a:pPr>
            <a:r>
              <a:rPr lang="ru-RU" dirty="0">
                <a:ea typeface="+mn-ea"/>
              </a:rPr>
              <a:t>организации соединения между клиентом и сервером базы данных (скажем, 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connect</a:t>
            </a:r>
            <a:r>
              <a:rPr lang="en-US" cap="small" dirty="0">
                <a:ea typeface="+mn-ea"/>
              </a:rPr>
              <a:t> </a:t>
            </a:r>
            <a:r>
              <a:rPr lang="ru-RU" dirty="0">
                <a:ea typeface="+mn-ea"/>
              </a:rPr>
              <a:t>и 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disconnect</a:t>
            </a:r>
            <a:r>
              <a:rPr lang="ru-RU" cap="small" dirty="0">
                <a:ea typeface="+mn-ea"/>
              </a:rPr>
              <a:t>), </a:t>
            </a:r>
          </a:p>
          <a:p>
            <a:pPr lvl="1">
              <a:defRPr/>
            </a:pPr>
            <a:r>
              <a:rPr lang="ru-RU" dirty="0">
                <a:ea typeface="+mn-ea"/>
              </a:rPr>
              <a:t>создания </a:t>
            </a:r>
            <a:r>
              <a:rPr lang="ru-RU" cap="small" dirty="0">
                <a:ea typeface="+mn-ea"/>
              </a:rPr>
              <a:t>(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create</a:t>
            </a:r>
            <a:r>
              <a:rPr lang="ru-RU" cap="small" dirty="0">
                <a:ea typeface="+mn-ea"/>
              </a:rPr>
              <a:t>), </a:t>
            </a:r>
            <a:r>
              <a:rPr lang="ru-RU" dirty="0">
                <a:ea typeface="+mn-ea"/>
              </a:rPr>
              <a:t>изменения </a:t>
            </a:r>
            <a:r>
              <a:rPr lang="ru-RU" cap="small" dirty="0">
                <a:ea typeface="+mn-ea"/>
              </a:rPr>
              <a:t>(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alter</a:t>
            </a:r>
            <a:r>
              <a:rPr lang="ru-RU" cap="small" dirty="0">
                <a:ea typeface="+mn-ea"/>
              </a:rPr>
              <a:t>) </a:t>
            </a:r>
            <a:r>
              <a:rPr lang="ru-RU" dirty="0">
                <a:ea typeface="+mn-ea"/>
              </a:rPr>
              <a:t>и удаления </a:t>
            </a:r>
            <a:r>
              <a:rPr lang="ru-RU" cap="small" dirty="0">
                <a:ea typeface="+mn-ea"/>
              </a:rPr>
              <a:t>(</a:t>
            </a:r>
            <a:r>
              <a:rPr lang="en-US" cap="small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drop</a:t>
            </a:r>
            <a:r>
              <a:rPr lang="ru-RU" cap="small" dirty="0">
                <a:ea typeface="+mn-ea"/>
              </a:rPr>
              <a:t>) </a:t>
            </a:r>
            <a:r>
              <a:rPr lang="ru-RU" dirty="0">
                <a:ea typeface="+mn-ea"/>
              </a:rPr>
              <a:t>элементов схемы, </a:t>
            </a:r>
          </a:p>
          <a:p>
            <a:pPr lvl="1">
              <a:defRPr/>
            </a:pPr>
            <a:r>
              <a:rPr lang="ru-RU" dirty="0">
                <a:ea typeface="+mn-ea"/>
              </a:rPr>
              <a:t>определения параметров сеанса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a typeface="+mn-ea"/>
              </a:rPr>
              <a:t>SET</a:t>
            </a:r>
            <a:r>
              <a:rPr lang="ru-RU" dirty="0">
                <a:ea typeface="+mn-ea"/>
              </a:rPr>
              <a:t>)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128AC-85B7-6E38-907B-E1B35DDC20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Ограничения секции «действия»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DC78FF-4C72-9418-FDEC-27D7AA96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02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AAE6-F7DA-AB54-095F-26AAF1BC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C0C4B-5C3E-BE37-74AA-E0D3D74A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C01B7-509E-CB2F-9391-CC2F405C52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830438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Действие может выполняться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до, после, либо вместо события </a:t>
            </a:r>
            <a:r>
              <a:rPr lang="ru-RU" dirty="0"/>
              <a:t>триггера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При выполнении действия триггер способен ссылаться как на прежние (</a:t>
            </a:r>
            <a:r>
              <a:rPr lang="ru-RU" dirty="0" err="1"/>
              <a:t>old</a:t>
            </a:r>
            <a:r>
              <a:rPr lang="ru-RU" dirty="0"/>
              <a:t>), так и на новые (</a:t>
            </a:r>
            <a:r>
              <a:rPr lang="ru-RU" dirty="0" err="1"/>
              <a:t>new</a:t>
            </a:r>
            <a:r>
              <a:rPr lang="ru-RU" dirty="0"/>
              <a:t>) значения компонентов кортежа, операция модификации которого рассматривается как событие, повлекшее срабатывание триггера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События обновления данных могут быть ограничены операциями над отдельным атрибутом или множеством атрибутов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Условие может задаваться с помощью предложения </a:t>
            </a:r>
            <a:r>
              <a:rPr lang="en-US" b="1" cap="small" dirty="0">
                <a:solidFill>
                  <a:schemeClr val="accent1">
                    <a:lumMod val="75000"/>
                  </a:schemeClr>
                </a:solidFill>
              </a:rPr>
              <a:t>when</a:t>
            </a:r>
            <a:r>
              <a:rPr lang="ru-RU" cap="small" dirty="0"/>
              <a:t>; </a:t>
            </a:r>
            <a:r>
              <a:rPr lang="ru-RU" dirty="0"/>
              <a:t>действие выполняется при наступлении события и только в том случае, если в этот момент условие оставалось справедливым.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Действие может выполняться в одном из двух возможных режимов:</a:t>
            </a:r>
          </a:p>
          <a:p>
            <a:pPr lvl="1">
              <a:lnSpc>
                <a:spcPct val="120000"/>
              </a:lnSpc>
              <a:defRPr/>
            </a:pPr>
            <a:r>
              <a:rPr lang="ru-RU" dirty="0"/>
              <a:t>уровень кортежа: </a:t>
            </a:r>
            <a:r>
              <a:rPr lang="ru-RU" dirty="0">
                <a:ea typeface="+mn-ea"/>
              </a:rPr>
              <a:t>один раз для каждого модифицируемого кортежа;</a:t>
            </a:r>
          </a:p>
          <a:p>
            <a:pPr lvl="1">
              <a:lnSpc>
                <a:spcPct val="120000"/>
              </a:lnSpc>
              <a:defRPr/>
            </a:pPr>
            <a:r>
              <a:rPr lang="ru-RU" dirty="0"/>
              <a:t>уровень команды: </a:t>
            </a:r>
            <a:r>
              <a:rPr lang="ru-RU" dirty="0">
                <a:ea typeface="+mn-ea"/>
              </a:rPr>
              <a:t>единожды для всех кортежей, которые подверглись изменению при выполнении одной операции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FE1A4-F5B4-7547-B288-D69D906A5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Условие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77AF01-C8EF-5EC8-5694-8430FD5B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167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17390-9881-198A-C92E-AF361614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6B79E-38D8-A073-FDDD-4B7DE6C920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4"/>
            <a:ext cx="8541643" cy="236004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numCol="2"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TRIGGER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&lt;Trigger name&gt;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BEFORE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|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AFTER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 &lt;trigger event&gt;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ON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&lt;Table name&gt;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REFERENCING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&lt;old or new values alias&gt;</a:t>
            </a: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...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&lt;triggered action&gt;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&lt;trigger event&gt; ::=</a:t>
            </a: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INSERT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|</a:t>
            </a: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DELETE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b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</a:b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|</a:t>
            </a: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UPDATE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OF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&lt;trigger Column list&gt;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&lt;trigger Column list&gt; ::= &lt;Column name&gt; </a:t>
            </a:r>
            <a:b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</a:b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[ {,&lt;Column name&gt;} ...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&lt;triggered action&gt; ::=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FOR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EACH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{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ROW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|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STATEMENT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 ]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WHEN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(search condition)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&lt;old or new values alias&gt; ::=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ROW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 old values &lt;Correlation name&gt; |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ROW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 new values &lt;Correlation name&gt; |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TABLE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 &lt;old values Table alias&gt; |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TABLE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[ </a:t>
            </a: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] &lt;new values Table alias&gt;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 &lt;old values Table alias&gt; ::= &lt;identifier&gt;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9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 &lt;new values Table alias&gt; ::= &lt;identifier&gt;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&lt;triggered SQL statement&gt; ::=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SQL statement |</a:t>
            </a:r>
            <a:r>
              <a:rPr lang="ru-RU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9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BEGIN ATOMIC {SQL statement;}... 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EFEA6-6CA5-93DF-4BAC-349121A73B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Синтаксис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20B305-ECB9-978B-C9A0-C82A9E7B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576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04C5C1-1FC7-566E-69C1-6AFEBB623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6FA5BE-2FA7-3C83-CDED-02CA8F4879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Триггеру доступны до трёх версий данных:</a:t>
            </a:r>
          </a:p>
          <a:p>
            <a:pPr lvl="1"/>
            <a:r>
              <a:rPr lang="en-US" dirty="0"/>
              <a:t>OLD –</a:t>
            </a:r>
            <a:r>
              <a:rPr lang="ru-RU" dirty="0"/>
              <a:t> версия данных до события, активировавшего триггер</a:t>
            </a:r>
          </a:p>
          <a:p>
            <a:pPr lvl="1"/>
            <a:r>
              <a:rPr lang="en-US" dirty="0"/>
              <a:t>NEW – </a:t>
            </a:r>
            <a:r>
              <a:rPr lang="ru-RU" dirty="0"/>
              <a:t>версия данных, которую СУБД намеревается сохранить после окончания события</a:t>
            </a:r>
          </a:p>
          <a:p>
            <a:pPr lvl="1"/>
            <a:r>
              <a:rPr lang="ru-RU" dirty="0"/>
              <a:t>Текущая версия – тоже, что и </a:t>
            </a:r>
            <a:r>
              <a:rPr lang="en-US" dirty="0"/>
              <a:t>OLD</a:t>
            </a:r>
            <a:r>
              <a:rPr lang="ru-RU" dirty="0"/>
              <a:t>, но возможны нюансы</a:t>
            </a:r>
          </a:p>
          <a:p>
            <a:r>
              <a:rPr lang="ru-RU" dirty="0"/>
              <a:t>Триггеры </a:t>
            </a:r>
            <a:r>
              <a:rPr lang="en-US" dirty="0"/>
              <a:t>FOR EACH ROW </a:t>
            </a:r>
            <a:r>
              <a:rPr lang="ru-RU" dirty="0"/>
              <a:t>вызываются для каждого кортежа</a:t>
            </a:r>
            <a:r>
              <a:rPr lang="en-US" dirty="0"/>
              <a:t> </a:t>
            </a:r>
            <a:r>
              <a:rPr lang="ru-RU" dirty="0"/>
              <a:t>и могут ссылаться на старый/новый кортеж, </a:t>
            </a:r>
            <a:r>
              <a:rPr lang="en-US" dirty="0"/>
              <a:t>FOR EACH STATEMENT </a:t>
            </a:r>
            <a:r>
              <a:rPr lang="ru-RU" dirty="0"/>
              <a:t>вызываются однократно для события и могут ссылаться на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таблицы </a:t>
            </a:r>
            <a:r>
              <a:rPr lang="ru-RU" dirty="0"/>
              <a:t>со старыми и новыми данными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59CF8-72E2-4976-5E5E-A4D612009F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Контекст исполнения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852938-4F89-BD07-7BFB-0604F329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98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6CF284-AB69-B1E0-D3FC-473D4508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21C8B-7E8A-7F3B-3317-20ADDAE39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4"/>
            <a:ext cx="8541643" cy="2665065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500" dirty="0"/>
              <a:t>Пусть необходимо создать триггер, реагирующий на событие обновления </a:t>
            </a:r>
            <a:r>
              <a:rPr lang="en-US" sz="2500" cap="small" dirty="0"/>
              <a:t>(update) </a:t>
            </a:r>
            <a:r>
              <a:rPr lang="ru-RU" sz="2500" dirty="0"/>
              <a:t>атрибута </a:t>
            </a:r>
            <a:r>
              <a:rPr lang="en-US" sz="2500" dirty="0" err="1"/>
              <a:t>netWorth</a:t>
            </a:r>
            <a:r>
              <a:rPr lang="en-US" sz="2500" dirty="0"/>
              <a:t> </a:t>
            </a:r>
            <a:r>
              <a:rPr lang="ru-RU" sz="2500" dirty="0"/>
              <a:t>кортежа отношения</a:t>
            </a:r>
            <a:r>
              <a:rPr lang="en-US" sz="2500" dirty="0"/>
              <a:t> </a:t>
            </a:r>
            <a:r>
              <a:rPr lang="ru-RU" sz="2500" dirty="0"/>
              <a:t> </a:t>
            </a:r>
            <a:r>
              <a:rPr lang="en-US" sz="2500" dirty="0" err="1"/>
              <a:t>MovieExec</a:t>
            </a:r>
            <a:r>
              <a:rPr lang="en-US" sz="2500" dirty="0"/>
              <a:t>(name, address, cert#, </a:t>
            </a:r>
            <a:r>
              <a:rPr lang="en-US" sz="2500" dirty="0" err="1"/>
              <a:t>netWorth</a:t>
            </a:r>
            <a:r>
              <a:rPr lang="en-US" sz="2500" dirty="0"/>
              <a:t>)</a:t>
            </a:r>
            <a:endParaRPr lang="ru-RU" sz="25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ru-RU" sz="2400" dirty="0"/>
              <a:t>Триггер обязан воспрепятствовать любой попытке снижения текущего значения </a:t>
            </a:r>
            <a:r>
              <a:rPr lang="en-US" sz="2400" dirty="0" err="1"/>
              <a:t>netWorth</a:t>
            </a:r>
            <a:r>
              <a:rPr lang="ru-RU" sz="2400" dirty="0"/>
              <a:t> (чистый доход)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TRIGGER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_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Trigger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AFTER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UPDATE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OF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ON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REFERENCING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ROW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OldTuple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</a:t>
            </a: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ROW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NewTuple</a:t>
            </a: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 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FOR EACH ROW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WHEN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OldTuple.netWorth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&gt;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NewTuple.netWorth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 </a:t>
            </a: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UPDATE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SET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= </a:t>
            </a:r>
            <a:r>
              <a:rPr lang="en-US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OldTuple.netWorth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WHERE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id = NewTuple.id;</a:t>
            </a: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5A388-A548-4046-5764-0366A1D7C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Пример триггера уровня кортежа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FE09F8-B668-5B74-70CA-383805C2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65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F18D4A-323E-3621-A0F0-D6CA9722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4E77A-18B8-E80C-D1A5-06694603C7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4"/>
            <a:ext cx="8541643" cy="2615183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/>
              <a:t>Предположим, что необходимо предотвратить возможность уменьшения </a:t>
            </a:r>
            <a:r>
              <a:rPr lang="ru-RU" sz="2000" i="1" dirty="0"/>
              <a:t>среднего</a:t>
            </a:r>
            <a:r>
              <a:rPr lang="ru-RU" sz="2000" dirty="0"/>
              <a:t> значения годового дохода руководящих лиц ниже отметки </a:t>
            </a:r>
            <a:r>
              <a:rPr lang="ru-RU" sz="2000" i="1" dirty="0"/>
              <a:t>в </a:t>
            </a:r>
            <a:r>
              <a:rPr lang="en-US" sz="2000" b="1" i="1" dirty="0">
                <a:cs typeface="Times New Roman" pitchFamily="18" charset="0"/>
              </a:rPr>
              <a:t>$</a:t>
            </a:r>
            <a:r>
              <a:rPr lang="ru-RU" sz="2000" b="1" i="1" dirty="0">
                <a:cs typeface="Times New Roman" pitchFamily="18" charset="0"/>
              </a:rPr>
              <a:t>500</a:t>
            </a:r>
            <a:r>
              <a:rPr lang="en-US" sz="2000" b="1" i="1" dirty="0">
                <a:cs typeface="Times New Roman" pitchFamily="18" charset="0"/>
              </a:rPr>
              <a:t>000</a:t>
            </a:r>
            <a:r>
              <a:rPr lang="ru-RU" sz="2000" dirty="0"/>
              <a:t>.  К такому результату способна привести </a:t>
            </a:r>
            <a:r>
              <a:rPr lang="ru-RU" sz="2000" b="1" i="1" dirty="0"/>
              <a:t>команда вставки </a:t>
            </a:r>
            <a:r>
              <a:rPr lang="ru-RU" sz="2000" dirty="0"/>
              <a:t>в отношение </a:t>
            </a:r>
            <a:r>
              <a:rPr lang="en-US" sz="2000" dirty="0" err="1"/>
              <a:t>MovieExec</a:t>
            </a:r>
            <a:r>
              <a:rPr lang="ru-RU" sz="2000" dirty="0"/>
              <a:t> нового кортежа, а также </a:t>
            </a:r>
            <a:r>
              <a:rPr lang="ru-RU" sz="2000" b="1" dirty="0"/>
              <a:t>удаления</a:t>
            </a:r>
            <a:r>
              <a:rPr lang="ru-RU" sz="2000" dirty="0"/>
              <a:t> любого существующего кортежа, либо </a:t>
            </a:r>
            <a:r>
              <a:rPr lang="ru-RU" sz="2000" b="1" dirty="0"/>
              <a:t>обновления</a:t>
            </a:r>
            <a:r>
              <a:rPr lang="ru-RU" sz="2000" dirty="0"/>
              <a:t> его компонента </a:t>
            </a:r>
            <a:r>
              <a:rPr lang="en-US" sz="2000" u="sng" dirty="0" err="1"/>
              <a:t>networth</a:t>
            </a:r>
            <a:r>
              <a:rPr lang="ru-RU" sz="2000" u="sng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2000" dirty="0"/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CREATE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TRIGGER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AvgNetWorthTrigger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AFTER UPDATE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OR INSERT OR DELETE OF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ON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REFERENCING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TABLE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OldStuff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,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TABLE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AS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NewStuff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WHEN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SELECT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AVG(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&lt;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500000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BEGIN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DELETE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WHERE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(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id, 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name, address,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netWorth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IN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NewStuff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INSERT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INTO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MovieExec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	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SELECT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ru-RU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*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OldStuff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);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END</a:t>
            </a:r>
            <a:r>
              <a:rPr lang="en-US" sz="20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;</a:t>
            </a:r>
            <a:endParaRPr lang="ru-RU" sz="20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F53E1-D3C7-2778-34AD-6098FFEEEE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Пример триггера уровня кортежа</a:t>
            </a:r>
            <a:r>
              <a:rPr lang="en-US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3CB258-D5B9-D2A5-C0D3-E0FFA467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515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8FCFD-AEF7-1265-9B97-E26C812E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F603A-98F9-06FC-9F34-0651200340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Все </a:t>
            </a:r>
            <a:r>
              <a:rPr lang="en-US" dirty="0"/>
              <a:t>before-</a:t>
            </a:r>
            <a:r>
              <a:rPr lang="ru-RU" dirty="0"/>
              <a:t>триггеры в порядке их определения</a:t>
            </a:r>
          </a:p>
          <a:p>
            <a:r>
              <a:rPr lang="ru-RU" dirty="0"/>
              <a:t>Основное действие (</a:t>
            </a:r>
            <a:r>
              <a:rPr lang="en-US" dirty="0"/>
              <a:t>INSERT/UPDATE/DELETE)</a:t>
            </a:r>
          </a:p>
          <a:p>
            <a:r>
              <a:rPr lang="ru-RU" dirty="0"/>
              <a:t>Все </a:t>
            </a:r>
            <a:r>
              <a:rPr lang="en-US" dirty="0"/>
              <a:t>after-</a:t>
            </a:r>
            <a:r>
              <a:rPr lang="ru-RU" dirty="0"/>
              <a:t>триггеры в порядке их определения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46513-B832-3914-F853-F31693DBB9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Порядок выполнения операций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604041-668F-1884-48D7-5C07FC06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21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9B7C8-5DFE-26BD-60F5-50DD071C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7DD06-C588-5287-6E37-042AE826DA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https://sql-99.readthedocs.io/en/latest/chapters/24.html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77A41-8CD1-0F1B-049D-A661D2CF86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Дополнительные примеры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E73BC0-F25E-33B6-CF94-443D47E0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4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DBFE80-E9D8-B6C7-46A8-E352BE69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266C4-1B02-3303-2AE9-40EB48238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Для представлений нет «основного» действия, которое бы СУБД выполняла в отсутствие триггеров. Выполнение команд </a:t>
            </a:r>
            <a:r>
              <a:rPr lang="en-US" dirty="0"/>
              <a:t>INSERT/UPDATE/DELETE </a:t>
            </a:r>
            <a:r>
              <a:rPr lang="ru-RU" dirty="0"/>
              <a:t>для </a:t>
            </a:r>
            <a:r>
              <a:rPr lang="en-US" dirty="0"/>
              <a:t>View </a:t>
            </a:r>
            <a:r>
              <a:rPr lang="ru-RU" dirty="0"/>
              <a:t>вызовет ошибку</a:t>
            </a:r>
          </a:p>
          <a:p>
            <a:r>
              <a:rPr lang="ru-RU" dirty="0"/>
              <a:t>Но в некоторых СУБД можно определить </a:t>
            </a:r>
            <a:r>
              <a:rPr lang="en-US" dirty="0"/>
              <a:t>INSTEAD OF</a:t>
            </a:r>
            <a:r>
              <a:rPr lang="ru-RU" dirty="0"/>
              <a:t> триггеры. </a:t>
            </a:r>
          </a:p>
          <a:p>
            <a:r>
              <a:rPr lang="ru-RU" dirty="0"/>
              <a:t>См примеры:</a:t>
            </a:r>
          </a:p>
          <a:p>
            <a:pPr lvl="1"/>
            <a:r>
              <a:rPr lang="en-US" dirty="0"/>
              <a:t>PostgreSQL: </a:t>
            </a:r>
            <a:r>
              <a:rPr lang="en-US" dirty="0">
                <a:hlinkClick r:id="rId2"/>
              </a:rPr>
              <a:t>https://neon.tech/postgresql/postgresql-triggers/postgresql-instead-of-triggers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Microsoft SQL Server: </a:t>
            </a:r>
            <a:r>
              <a:rPr lang="en-US" dirty="0">
                <a:hlinkClick r:id="rId3"/>
              </a:rPr>
              <a:t>https://www.sqlservertutorial.net/sql-server-triggers/sql-server-instead-of-trigger/</a:t>
            </a:r>
            <a:endParaRPr lang="en-US" dirty="0"/>
          </a:p>
          <a:p>
            <a:pPr lvl="1"/>
            <a:r>
              <a:rPr lang="en-US" dirty="0"/>
              <a:t>DB2: </a:t>
            </a:r>
            <a:r>
              <a:rPr lang="en-US" dirty="0">
                <a:hlinkClick r:id="rId4"/>
              </a:rPr>
              <a:t>https://www.ibm.com/docs/en/i/7.3?topic=triggers-instead-sql</a:t>
            </a:r>
            <a:endParaRPr lang="en-US" dirty="0"/>
          </a:p>
          <a:p>
            <a:pPr lvl="1"/>
            <a:r>
              <a:rPr lang="en-US" dirty="0"/>
              <a:t>Oracle: </a:t>
            </a:r>
            <a:r>
              <a:rPr lang="en-US" dirty="0">
                <a:hlinkClick r:id="rId5"/>
              </a:rPr>
              <a:t>https://www.oracletutorial.com/plsql-tutorial/oracle-instead-of-triggers/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6C178-1543-8295-6B81-BC82C6DEF8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Особенности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BFFB5F-6260-E74D-71A4-47DF0434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на представлениях (</a:t>
            </a:r>
            <a:r>
              <a:rPr lang="en-US" dirty="0"/>
              <a:t>view)</a:t>
            </a:r>
          </a:p>
        </p:txBody>
      </p:sp>
    </p:spTree>
    <p:extLst>
      <p:ext uri="{BB962C8B-B14F-4D97-AF65-F5344CB8AC3E}">
        <p14:creationId xmlns:p14="http://schemas.microsoft.com/office/powerpoint/2010/main" val="1466952586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18047</TotalTime>
  <Words>1947</Words>
  <Application>Microsoft Office PowerPoint</Application>
  <PresentationFormat>On-screen Show (16:9)</PresentationFormat>
  <Paragraphs>222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Acrom Bold</vt:lpstr>
      <vt:lpstr>Wingdings</vt:lpstr>
      <vt:lpstr>Times New Roman</vt:lpstr>
      <vt:lpstr>Acrom ExtraBold</vt:lpstr>
      <vt:lpstr>Cascadia Code SemiLight</vt:lpstr>
      <vt:lpstr>Acrom</vt:lpstr>
      <vt:lpstr>Calibri</vt:lpstr>
      <vt:lpstr>Arial</vt:lpstr>
      <vt:lpstr>NSU Content</vt:lpstr>
      <vt:lpstr>NSU Captions</vt:lpstr>
      <vt:lpstr>БАЗЫ ДАННЫХ</vt:lpstr>
      <vt:lpstr>PowerPoint Presentation</vt:lpstr>
      <vt:lpstr>Ограничения целостности в РСУБД</vt:lpstr>
      <vt:lpstr>Ограничения уровня базы данных</vt:lpstr>
      <vt:lpstr>Ограничения уровня базы данных</vt:lpstr>
      <vt:lpstr>Ограничения уровня базы данных</vt:lpstr>
      <vt:lpstr>Ограничения уровня базы данных</vt:lpstr>
      <vt:lpstr>Ограничения уровня базы данных</vt:lpstr>
      <vt:lpstr>Ограничения уровня базы данных</vt:lpstr>
      <vt:lpstr>Ограничения уровня базы данных</vt:lpstr>
      <vt:lpstr>Триггеры</vt:lpstr>
      <vt:lpstr>Триггеры</vt:lpstr>
      <vt:lpstr>Триггеры</vt:lpstr>
      <vt:lpstr>Триггеры</vt:lpstr>
      <vt:lpstr>Триггеры</vt:lpstr>
      <vt:lpstr>Триггеры</vt:lpstr>
      <vt:lpstr>Триггеры</vt:lpstr>
      <vt:lpstr>Триггеры</vt:lpstr>
      <vt:lpstr>триггеры</vt:lpstr>
      <vt:lpstr>Триггеры</vt:lpstr>
      <vt:lpstr>Триггеры</vt:lpstr>
      <vt:lpstr>Триггеры на представлениях (view)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875</cp:revision>
  <dcterms:created xsi:type="dcterms:W3CDTF">2016-08-15T04:55:12Z</dcterms:created>
  <dcterms:modified xsi:type="dcterms:W3CDTF">2024-12-11T15:07:33Z</dcterms:modified>
</cp:coreProperties>
</file>